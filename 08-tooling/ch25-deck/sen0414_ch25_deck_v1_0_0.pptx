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5-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4 threads as a multiple of the serial time</a:t>
            </a:r>
          </a:p>
        </c:rich>
      </c:tx>
      <c:layout/>
      <c:overlay val="0"/>
    </c:title>
    <c:autoTitleDeleted val="0"/>
    <c:plotArea>
      <c:layout/>
      <c:barChart>
        <c:barDir val="col"/>
        <c:grouping val="clustered"/>
        <c:varyColors val="0"/>
        <c:ser>
          <c:idx val="0"/>
          <c:order val="0"/>
          <c:tx>
            <c:strRef>
              <c:f>Sheet1!$B$1</c:f>
              <c:strCache>
                <c:ptCount val="1"/>
                <c:pt idx="0">
                  <c:v>ratio</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standard 3.14.6</c:v>
                  </c:pt>
                  <c:pt idx="1">
                    <c:v>free-threaded 3.14.6</c:v>
                  </c:pt>
                  <c:pt idx="2">
                    <c:v>3.13.14</c:v>
                  </c:pt>
                  <c:pt idx="3">
                    <c:v>3.12.13</c:v>
                  </c:pt>
                  <c:pt idx="4">
                    <c:v>3.11.15</c:v>
                  </c:pt>
                </c:lvl>
              </c:multiLvlStrCache>
            </c:multiLvlStrRef>
          </c:cat>
          <c:val>
            <c:numRef>
              <c:f>Sheet1!$B$2:$B$6</c:f>
              <c:numCache>
                <c:formatCode>General</c:formatCode>
                <c:ptCount val="5"/>
                <c:pt idx="0">
                  <c:v>1.13</c:v>
                </c:pt>
                <c:pt idx="1">
                  <c:v>0.4</c:v>
                </c:pt>
                <c:pt idx="2">
                  <c:v>1.16</c:v>
                </c:pt>
                <c:pt idx="3">
                  <c:v>1.19</c:v>
                </c:pt>
                <c:pt idx="4">
                  <c:v>0.94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8 sleeps of 0.5 s, seconds</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one after another</c:v>
                  </c:pt>
                  <c:pt idx="1">
                    <c:v>8 threads</c:v>
                  </c:pt>
                  <c:pt idx="2">
                    <c:v>a pool</c:v>
                  </c:pt>
                  <c:pt idx="3">
                    <c:v>asyncio</c:v>
                  </c:pt>
                </c:lvl>
              </c:multiLvlStrCache>
            </c:multiLvlStrRef>
          </c:cat>
          <c:val>
            <c:numRef>
              <c:f>Sheet1!$B$2:$B$5</c:f>
              <c:numCache>
                <c:formatCode>General</c:formatCode>
                <c:ptCount val="4"/>
                <c:pt idx="0">
                  <c:v>4.001</c:v>
                </c:pt>
                <c:pt idx="1">
                  <c:v>0.502</c:v>
                </c:pt>
                <c:pt idx="2">
                  <c:v>0.502</c:v>
                </c:pt>
                <c:pt idx="3">
                  <c:v>0.503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25 of this course is the Threads subject. It takes the multithreading material of chapter 17 of the 2nd edition of Automate the Boring Stuff with Python, which the 3rd edition dropped, and teaches it with Python 3.14.6, where threads, executors, the global interpreter lock and the free-threaded build have all moved on. The number 25 is the slot of this subject in the course and not a chapter number of either edition. The 2nd edition chapter was read on 14 October 2026. The research ran every listing that works offline, found three places where the chapter's prose or listing differs from what Python does, and added what the chapter leaves out: locks, events, semaphores, queues, pools, the global interpreter lock, processes and asyncio. Every output on the slides was printed by Python 3.14.6 with requests 2.34.2 and beautifulsoup4 4.15.0, the interpreter the console above reports. The programs that wait print only lists, names, errors and booleans and never a duration, because the machine had 2 CPUs and a duration measured again would be another number. The timings that the research measured once, on a quiet machine, are on slides marked Recorded. What could not be run is marked NOT EXECUTED on its slide: the free-threaded build of Python 3.13, a C extension that switches the lock back on, Windows and macOS, more than 2 CPUs and the real xkcd.com, which no program here ever contacted.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starting and joining threads: the seven uses of threads, starting a thread, the arguments of the target, the life of a Thread object, join and daemon threads. Then the XKCD downloader: the listing as printed, which never calls start(), and the listing with the line added, which skips every tenth comic. The third part is shared data, locks and queues: the lost update, locks, deadlock and events, semaphores, queues and thread-local data. The fourth is pools, the GIL and the race: results, errors and cancelling in an executor, the lock on and off, and the race with and without it. The fifth is speed, processes and asyncio: CPU-bound work on threads, waiting and starting a process, asyncio and the choice of a tool, and five interpreters with what did not run. The last part is a one-map summary and the resources. The ranges name the exact slides, so you can return to the part you need. All four stories are on slides, each with a link; the seven narrative diagrams of the chapter are drawn from the same specifications as the interactive page. Every output was printed by Python 3.14.6, the downloader ran against a local stand-in server,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spine of the chapter, and the deck answers it slide by slide. The listings that run offline print what the chapter says: a second thread prints its line last, the arguments of the target arrive through args and kwargs, and join() waits. Three things differ from the text. The chapter's prose writes the keyword dictionary with one space fewer than its listing and prints Cats&amp; Dogs&amp; Frogs. The downloader as printed never calls start(), so no request is made and join() raises RuntimeError. And with the missing line added, the downloader requests 125 of the 139 comic numbers its loop covers and never asks for 9, 19, 29 and every tenth number up to 139. What could only be read is the part that needs another machine: the free-threaded build of Python 3.13, a C extension that switches the global interpreter lock back on, Windows and macOS, more than 2 CPUs and the real xkcd.com. The second question is about size, and every size comes from a single run. Four threads that each ran counter += 1 one million times lost between 2,500,522 and 2,913,206 of 4,000,000 updates in each of 3 runs on the free-threaded 3.14.6 and none in 12 runs on the builds with the lock. Four CPU-bound tasks took 0.89 s one after another and 1.003 s on 4 threads on the standard build, and 1.292 s against 0.522 s on the free-threaded build; a pool of 2 processes took 0.667 s where one process took 0.963 s; starting a thread took 112 microseconds and starting a process 5.4 milliseconds. Each slide says where its figure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diagram lists what a program can ask of threads in this chapter: start a thread with a target, pass args and kwargs, wait with join(), guard a counter with a lock, hand items over with a queue, run functions on a pool with map(), and overlap waiting with asyncio.gather(). They are independent calls to the standard library, which is why the picture is a set of uses and not a sequence. The console runs under the interpreter of the deck: the global interpreter lock is on in this standard build, the build variable Py_GIL_DISABLED is 0, and the machine reports 2 CPUs, a number that the later slides rely on because every speed figure was taken on 2 CPUs. The card records what the research found on 14 October 2026 and this deck does not read again: the 2nd edition's chapter 17 page answered 200 with 103,558 bytes and its multithreading section holds 9 code paragraphs, and the page of the 3rd edition's chapter 19, which has the same title, answered 200 with no occurrence of the word thread while it still teaches the subprocess module. The chapter ends with practice questions 7 and 8 on threads. The number 25 of this deck is the slot of the subject in the course and not a chapter number of either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is the chapter's threadDemo.py with the nap shortened to half a second. The main thread prints Start of program., creates a Thread whose target is takeANap, calls start() and prints End of program.; the new thread sleeps and prints Wake up! last, which is the order the transcript shows, and it shows that two flows of control run at once. The second half of the program asks who is who: the main program runs in a thread named MainThread, a thread created later is named Thread-2 (f), because the number counts every thread made so far and the function name is added in brackets, and while it ran the program had 2 thread objects alive. A learner should predict the order of the three lines before running it. The research also timed a process of the same shape: it ended with return code 0 and lasted at least the nap of its second thread although the main thread had printed its last line within 0.2 s, so a Python program does not end until its last non-daemon thread has ended. That is the rule behind the join loop of the chapter's downloader and behind the daemon flag, which later slides take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Passing arguments to a thread is the same idea as calling a function: args is a list of positional arguments and kwargs a dictionary of keyword arguments, and the program shows both with print as the target. The first call uses the separator of the chapter's listing, a space, an ampersand and a space, and prints Cats &amp; Dogs &amp; Frogs. The second call uses the separator as the chapter's explanation writes it, an ampersand and a space, and prints Cats&amp; Dogs&amp; Frogs. The prose and the listing of the chapter differ by one character, which is a small case of why a course should run the text it teaches. The third call is the mistake the chapter warns about: writing target=print('Now', 'not later') calls print at once and passes its return value, None, as the target. The line appears from the main thread, nothing runs in a second thread, and the thread is not alive afterwards. The error is silent, since nothing fails, and only the place where the output appears gives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diagram follows one Thread object: it is created, start() runs the target in a new thread, and it has finished when the target returns. The program shows what follows from that. The default names are Thread-1 (f) and Thread-2 (f), and a thread given name='copier' keeps its name. A thread object is single use, so the second start() raised RuntimeError: threads can only be started once, which is why the chapter's loop makes a new Thread for each range. An exception raised in a thread does not reach the main thread. By default it is printed on standard error and the main thread goes on and ends with return code 0, which the research saw; here threading.excepthook is replaced so that the program can print what the hook received, ValueError('boom'), and the main thread printed main continues. A thread therefore needs its own try and except, or a Future that carries the error, which the pool slides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the chapter's rule in a picture: create a Thread with a target, call start(), let the main thread go on, and call join() to wait for the thread; if start() was never called before join(), join() raises RuntimeError instead. The program shows three behaviours. join(0.1) on a thread that sleeps 0.6 s returns after about 0.1 s with the value None and the thread still alive, so the caller must test is_alive() to know whether the thread finished; a join() with no timeout waits for the end, after which the thread is no longer alive; and join() on a thread that was never started raises RuntimeError: cannot join thread before it is started. The last message is the one the chapter's printed downloader produces, which the next slide shows. A join with a timeout turns the wait into a poll, which the chapter does not mention.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daemon thread is one the program does not wait for. The program runs the same small script twice in a new Python, once with daemon=True and once with daemon=False, and prints what each run printed: the daemon thread's late line never appeared, because the program ended when the main thread did, while the non-daemon thread kept the program alive until it printed. The threading documentation says that daemon threads are stopped abruptly at shutdown, so a daemon thread must not hold a file or a lock that needs a clean close. The last lines show that the flag is fixed when the thread starts: setting t.daemon after start() raised RuntimeError: cannot set daemon status of active thread. The card holds two findings of the research that this deck does not run again: a thread created by a daemon thread inherited the flag, and an exception in a thread went to standard error while the main thread ended with return code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multithreaded XKCD downloader, Step 2 and Step 3, run exactly as it is printed. The research ran the program against a local stand-in, an HTTP server on 127.0.0.1 that answers a page for every comic number with one image, so xkcd.com was never contacted. The program of this slide starts that server, writes the printed listing into a Python of its own, runs it in an empty folder and reports what the server saw: no comic page was requested, no file was saved, and the run ended with return code 1 and RuntimeError: cannot join thread before it is started. The loop of the printed listing creates a Thread for each block of comic numbers and appends it to a list, but nothing calls start(), and the prose of the chapter says that the loop does. The join loop that follows then meets a thread that was never started. The lines before the listing, the server and the folder, are not shown, nor are the lines that run it and report the result, because they are the machinery of the experiment and not the chapter's code. The fix is one line, and the next slide shows what it uncovers.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missing line added under the append, every thread starts and the program finishes, but the stand-in server saw 125 comic pages requested and 125 files saved, and 14 numbers never requested: 9, 19, 29 and so on up to 139. The cause is in the loop: each thread runs range(start, end) where end is the last number of its block, i + 9, and range stops one short, so every block of ten loses its last number. The first thread covers 1 to 8, because its start is moved from 0 to 1, and the other thirteen cover nine numbers each, which is 8 plus 13 times 9, 125. The picture is drawn by the program from the list of numbers the server saw: each row is one thread's block of ten numbers, teal marks a number that was requested, orange one that was not, and the grey cell at the top left is the number 0, which is not a comic. The orange column is the finding of the research that the printed listing skips every tenth comic. The program counts no clock and prints no duration. The research measured the speed of the repaired downloader against one thread doing the same 250 requests and found it at least 5 times faster when each request waits 0.05 s, which is the waiting that threads overlap and which the later slides record as numbers. The real xkcd.com was never contacted, which is why the card says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the Therac-25 says the computer-controlled radiation therapy machine was produced by Atomic Energy of Canada Limited in 1982 and was involved in at least six overdoses of radiation between 1985 and 1987. It says that concurrent programming errors, also known as race conditions, sometimes gave patients doses up to 250 times higher than normal, resulting in death or serious injury. A race is a result that depends on the order in which two flows of control reach a shared value. In this study two threads that read a shared counter, waited 0.05 s and wrote back the value plus one left it at 1 instead of 2 in all 3 runs, and with a lock around the read and the write it ended at 2. The account rests on these sources. Wikipedia, 'Therac-25' (Atomic Energy of Canada Limited, 1982, at least six overdoses 1985 to 1987, race conditions), read 2026-10-14; this study's leaves ForcedLostUpdate and LockFixesCounter. The program forces the race: each thread reads the counter, waits 0.05 s and writes back the value plus one, so both read 0 before either writes and the counter ends at 1 in all 3 runs; with a lock around the read and the write it ends at 2. The console shows why a race needs no pause to exist: counter += 1 in a function compiled to 5 steps on Python 3.14.6, a load of the global, a load of the small integer 1, the addition, the store of the global and, as the fifth, the load of None that the function returns, so a thread can be stopped between the read and the write. On the standard build the interpreter considers switching threads every 0.005 s by default, which is why such a race is rare there and why the research forced it with a pause. The photograph is a Therac-25 as it stood in use, a public domain file of Wikimedia Commons whose author is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lock protecting the counter: thread A acquires the lock, reads, adds one and writes the counter, thread B waits for the lock, A releases it, and the lock lets B read the value. The program shows four threads that each add 1 to a shared counter 100,000 times inside a with-lock block and end at exactly 400000, the total that a loop without a lock cannot promise. The with statement releases the lock even when the block raises, which the second line shows: after a ValueError inside the block the lock was free again. The last two lines show the difference between a plain Lock and an RLock: a thread that already holds a Lock and asks for it again with a 0.2 s timeout gets False, and without the timeout it would wait forever, while the same request on an RLock gets True. A function that takes a lock and calls another that takes the same lock needs an RLock or a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daemon threads of the program take the same two locks in opposite orders with a pause between the two acquisitions, so each holds one lock and waits for the other. After join(0.5) on both, both were still alive, which is the deadlock that Wikipedia describes as each member of a group waiting for another to release a resource, and the dining philosophers problem is its classic example. The threads are daemons so that the program can end, and a real program in this state would hang. The usual remedy is one global order for taking locks. The second half of the program is the simplest way for one thread to tell another that it may go on. An Event is a flag: the worker waits on it, the list of results is empty before set() is called, and it holds the worker's word right after, with nothing timed. A thread waiting without a timeout blocks until the flag is set, which is why the Event is the tool for wait until another thread says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the semaphore says the concept was invented by the Dutch computer scientist Edsger Dijkstra in 1962 or 1963, when he and his team were developing an operating system for the Electrologica X8, which became known as the THE multiprogramming system. A semaphore is a counter that lets a fixed number of flows of control pass at once. In this study six threads that each held a Semaphore of 2 for 0.1 s were inside the guarded block at most 2 at a time, against 6 without it, and a queue.Queue handed 5 numbers in order from a producer thread to a consumer thread. The account rests on these sources. Wikipedia, 'Semaphore (programming)' (Dijkstra, 1962 or 1963, THE multiprogramming system, Electrologica X8), read 2026-10-14; this study's leaves SemaphoreLimits and QueueHandsOver. The program counts how many of six threads are inside a guarded block at the same moment, and prints the largest number it saw: with a BoundedSemaphore of 2 it was 2, and with one of 6, which lets all of them in, it was 6. The counter that records the number inside is itself protected by a lock, because the demonstration must not suffer the race the previous slides show. A semaphore is a counter that lets a fixed number of threads pass at once, and a lock is the semaphore of 1. The research measured the same thing against no semaphore at all and found 6 inside. The photograph is a portrait of Edsger Dijkstra by Hamilton Richards, licensed CC BY-SA 3.0 on Wikimedia Commons and reduced for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producer-consumer pattern: the producer puts the numbers into the queue and then the marker None, the consumer takes the items in order, the queue hands over each item, and the consumer calls task_done() for each. The program's producer is the main thread and the consumer a thread of its own: the consumer received [0, 1, 2, 3, 4], in order, and stopped at the marker; the queue does its own locking, so no lock is written, and join() returns after 6 task_done() calls, 5 items and the marker. The queue removes the shared variable that the chapter warns about, because items are handed over and not shared. The chapter's own advice is to use only local variables in the target function. The console shows the other half of that advice: a value set on a threading.local() in one thread is absent in the main thread. The research also ran four threads that each summed their own list into a local variable and got the four expected totals, 0, 45, 190 and 435.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pool starts a fixed number of worker threads and runs submitted functions on them, returning Future objects. The left program runs three tasks that finish in the reverse order of their inputs: map returned [0, 1, 2], the order of the inputs, while as_completed yielded the results as they finished, [2, 1, 0]. A pool created with thread_name_prefix='dl' named its workers dl_0 and dl_1, which makes a log readable, and a pool created without max_workers had 6 workers on this machine of 2 CPUs; the documented rule since Python 3.13 is the smaller of 32 and the number of CPUs plus 4, and the program reads the private attribute _max_workers to print it. The right program shows how errors and waiting are carried by the Future: an exception raised in a task stays in its Future until result() is called, result(timeout=0.1) raised TimeoutError while the task was still not done, and shutdown(cancel_futures=True) cancelled the 4 queued tasks that had not started and let the one running finish, since a task that started cannot be cancelled. The with block of an executor waits for every task before it ends, which the research also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703 was written by Sam Gross, created on 9 January 2023 for Python 3.13, and resolved on 24 October 2023. The Steering Council accepted it with the proviso that the rollout be gradual and break as little as possible, and that the changes could be rolled back. The global interpreter lock lets one thread at a time run Python code, and the PEP made it optional. In this study the free-threaded 3.14.6 installed with uv reported the lock as off, and four CPU-bound tasks took 1.292 s serially and 0.522 s on 4 threads on 2 CPUs, while the standard build took 0.89 s serially and 1.003 s on 4 threads. The account rests on these sources. PEP 703 (Sam Gross; created 9 January 2023; resolution 24 October 2023), read 2026-10-14; this study's leaves FreeThreadedBuildRuns and FreeBuildScalesWithCores. The program asks the standard build and the free-threaded build the same question, sys._is_gil_enabled() and the build variable Py_GIL_DISABLED. The standard Python 3.14.6 answered True and 0, the free-threaded 3.14.6 installed with uv answered False and 1, and the environment variable PYTHON_GIL=1 and the option -X gil=1 both turned the lock on again, so one build can be run either way. The free-threaded build of Python 3.13, the first and experimental one, was not installed and was not run, and the study states its behaviour only from the documentation; the 3.13 build with the lock answered True. A C extension that does not declare support for free-threading makes the free-threaded build switch the lock back on, according to the free-threading guide; no such extension was built, so that behaviour is only read, and the card says both. The picture is a multithreaded process by Cburnett, licensed CC BY-SA 3.0 on Wikimedia Commons: two threads inside one process, sharing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the Northeast blackout of 2003 says the blackout began on 14 August 2003 and affected 55 million people. It says a software bug known as a race condition existed in General Electric Energy's Unix-based XA/21 energy management system and, once triggered, stalled the alarm system of FirstEnergy's control room for over an hour. A race that needs a rare timing is hard to see in tests. In this study four threads that each ran counter += 1 one million times lost no update in 12 runs on the GIL builds, but lost between 2,500,522 and 2,913,206 of 4,000,000 updates in each of 3 runs on the free-threaded build. The account rests on these sources. Wikipedia, 'Northeast blackout of 2003' (14 August 2003, 55 million people, a race condition in the XA/21 system), read 2026-10-14; this study's leaf RaceInTheRecord and ch25-page/timing_record_v1_0_0.json. The table is the research's record of a race that needs no pause. Four threads each ran counter += 1 one million times, so 4,000,000 was the expected total, and the table gives the updates lost in each of 3 runs: none on Python 3.14.6 with the lock, 3.13.14, 3.12.13 and 3.11.15, and 2,844,845, 2,500,522 and 2,913,206 on the free-threaded 3.14.6. The deck check computes every cell again from the record, and every figure is a single run on the machine of 2 CPUs on 14 October 2026, with the load average at 0.75. The lesson is the one of the story: a race that never shows can still be there, and a program that passes its tests on the builds with the lock can lose updates on the free-threaded build. The program is not run again on this slide, because a race of this kind depends on timing and the machine had another job running beside the deck. The map is the region of the 2003 blackout by Lokal_Profil, licensed CC BY-SA 2.5 on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divides the time of 4 threads by the time of the same 4 tasks run one after another, for each interpreter of the research, and the table beside it gives the seconds. On the standard Python 3.14.6 the serial run took 0.89 s and 4 threads took 1.003 s, a ratio of 1.13, because the global interpreter lock lets one thread run Python code at a time and the threads only add the cost of switching; on 3.13.14, 3.12.13 and 3.11.15 the 4 threads took at least 0.8 of the serial time, a ratio from 0.94 to 1.19, the same picture. On the free-threaded 3.14.6 the serial run took 1.292 s and 2 threads 0.553 s and 4 threads 0.522 s, a ratio of 0.40, so the work ran in parallel on the 2 CPUs. The free-threaded serial run was slower than the standard one, 1.292 s against 0.89 s, which is the single-thread cost of the build. Every figure is one run taken after the research waited for the one-minute load average to fall below 1.0, and the deck does not time the loop again. More than 2 CPUs and a run under load were not executed, so the slide makes no claim about how the speed-up grows with more 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shows what a process does not share. A child process that updated its copy of a dictionary left the parent's dictionary at {'n': 0}, while a thread that updated the same dictionary changed it to {'n': 99}; the research saw the same with a module variable. The default start method of multiprocessing on Linux was forkserver on Python 3.14.6, which the documentation says replaced fork in 3.14, and subprocess.Popen came back at once, before the child that slept a second had ended, with poll() still None, and wait() then returned the return code 0. The chart and the table are the research's record and are not measured again. Eight sleeps of 0.5 s took 4.001 s one after another and 0.502 s on 8 threads, 0.502 s in a pool and 0.503 s with asyncio on the standard build, and 0.503 s on 8 threads on the free-threaded build, so waiting overlaps on either build. Four CPU-bound tasks took 0.963 s one after another and 0.667 s on a pool of 2 processes, and starting a thread cost 112 microseconds against 5.4 milliseconds for a process on the standard build, and 382 microseconds against 8.6 milliseconds on the free-threaded build. A process therefore escapes the lock, at the price of memory that is not shared and a start that costs about 50 times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asyncio overlaps waiting on one thread by switching at every await. The program shows three things with times that are printed only as booleans: ten coroutines that each awaited asyncio.sleep(0.3) finished together in under 0.6 s on one thread; five coroutines that each called the blocking time.sleep(0.2) took at least 1 s, because one blocking call stops every other task on the loop; and asyncio.to_thread ran five such blocking calls in worker threads in under 0.6 s, with workers whose names begin asyncio while the loop itself stayed in MainThread. The flow chart is the choice that the whole chapter prepares: if the work waits, threads, a pool or asyncio overlap the waiting, and the timer could not tell them apart; if it computes, the free-threaded build runs threads in parallel and otherwise a pool of processes computes in parallel. The chart of the earlier slides recorded the times behind that choice, and the research also read the Rust and Go documents that frame the same choice in other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same probe run under five interpreters of the research, and the deck check runs it again and compares every cell. The GIL answer is True on 3.13.14 and 3.14.6 and False on the free-threaded 3.14.6, and the older 3.11.15 and 3.12.13 have no sys._is_gil_enabled() at all. Py_GIL_DISABLED is 1 only on the free-threaded build. The thread name is Thread-1 (f) on all five, a pool's map returns [1, 2] on all five, InterpreterPool exists from 3.14, and the default start method of multiprocessing is fork up to 3.13.14 and forkserver from 3.14. The card on the left counts the research: 74 sources, 25 findings, 64 executed leaves, 4 stories and 7 diagrams. The card on the right lists what was not run. The free-threaded build of Python 3.13 was not installed, only the free-threaded 3.14.6 was, so what the study says of 3.13 comes from the documentation. A C extension that re-enables the lock was not built, Windows and macOS were not available, the machine has 2 CPUs, no run was made under load, and the real xkcd.com was never contacted: a local stand-in server answered the downloader. Every timing of the deck is one run and not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branches are the route of the deck. Thread basics: start() runs the target in a new thread, args and kwargs pass the arguments, and the printed listing of the downloader never starts its threads. Join and daemon: join() waits for a thread, a daemon thread dies with the program, and the downloader with start() added skips every tenth comic. Shared data and locks: a lost update happens without a lock, a lock makes the update one step, and a queue hands items over. Executors and pools: map() keeps the order of the inputs, an exception waits in the Future until result() is called, and the default number of workers depends on the CPUs. GIL and free threading: the standard build keeps the lock on, waiting threads overlap on both builds, and the free-threaded build scaled with the cores in the one measurement on 2 CPUs. Threads versus other tools: a process does not share variables, asyncio overlaps waiting on one thread, and the default start method of multiprocessing is forkserver on Python 3.14.6. Environment and evidence: the study ran Python 3.14.6, every timing is a single run, and Windows and macOS were not executed. Together they answer the two questions of the chapter, what the threads of a program do and how much they cost, and the slides that say where the printed chapter differs from what ran answer the rest. The map is drawn from the same specification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this deck; the 3rd edition no longer has the chapter, and Appendix A is where the book installs third-party modules. The reference links are the documentation of threading, concurrent.futures and asyncio, the Python HOWTO on free threading and the community guide to free-threading. The four stories of the chapter are on slides with their own link, and their pages are the first group together with Dijkstra's page. The research package holds 74 sources in all. No photograph of a living person is used in the deck, and the four pictures of the stories are files of Wikimedia Commons with their credit under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programs of the deck need only Python and its standard library, and the downloader runs against an HTTP server of the program on 127.0.0.1. The rows were run again under Python 3.14.6 each time the deck was built, and the programs, and with them the picture they save, were run again by the check that compares the slides with the recording. What was not run is marked on its slide: the free-threaded build of Python 3.13, a C extension that re-enables the lock, Windows and macOS, more than 2 CPUs, runs under load and the real xkcd.com. The timings are Recorded, single runs of 14 October 2026 on a machine of 2 CPUs, and not benchmarks. What this chapter taught about checking what a program really does, rather than what its listing says, carries over to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hyperlink" Target="https://en.wikipedia.org/wiki/Therac-25"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hyperlink" Target="https://en.wikipedia.org/wiki/Semaphore_(programming)"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hyperlink" Target="https://peps.python.org/pep-0703/"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hyperlink" Target="https://en.wikipedia.org/wiki/Northeast_blackout_of_2003" TargetMode="Externa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en.wikipedia.org/wiki/Therac-25" TargetMode="External"/><Relationship Id="rId2" Type="http://schemas.openxmlformats.org/officeDocument/2006/relationships/hyperlink" Target="https://en.wikipedia.org/wiki/Semaphore_(programming)" TargetMode="External"/><Relationship Id="rId3" Type="http://schemas.openxmlformats.org/officeDocument/2006/relationships/hyperlink" Target="https://en.wikipedia.org/wiki/Northeast_blackout_of_2003" TargetMode="External"/><Relationship Id="rId4" Type="http://schemas.openxmlformats.org/officeDocument/2006/relationships/hyperlink" Target="https://peps.python.org/pep-0703/" TargetMode="External"/><Relationship Id="rId5" Type="http://schemas.openxmlformats.org/officeDocument/2006/relationships/hyperlink" Target="https://automatetheboringstuff.com/2e/chapter17/" TargetMode="External"/><Relationship Id="rId6" Type="http://schemas.openxmlformats.org/officeDocument/2006/relationships/hyperlink" Target="https://automatetheboringstuff.com/3e/" TargetMode="External"/><Relationship Id="rId7" Type="http://schemas.openxmlformats.org/officeDocument/2006/relationships/hyperlink" Target="https://automatetheboringstuff.com/2e/appendixa/" TargetMode="External"/><Relationship Id="rId8" Type="http://schemas.openxmlformats.org/officeDocument/2006/relationships/hyperlink" Target="https://docs.python.org/3.14/library/threading.html" TargetMode="External"/><Relationship Id="rId9" Type="http://schemas.openxmlformats.org/officeDocument/2006/relationships/hyperlink" Target="https://docs.python.org/3.14/library/concurrent.futures.html" TargetMode="External"/><Relationship Id="rId10" Type="http://schemas.openxmlformats.org/officeDocument/2006/relationships/hyperlink" Target="https://docs.python.org/3.14/library/asyncio.html" TargetMode="External"/><Relationship Id="rId11" Type="http://schemas.openxmlformats.org/officeDocument/2006/relationships/hyperlink" Target="https://docs.python.org/3.14/howto/free-threading-python.html" TargetMode="External"/><Relationship Id="rId12" Type="http://schemas.openxmlformats.org/officeDocument/2006/relationships/hyperlink" Target="https://py-free-threading.github.io/" TargetMode="External"/><Relationship Id="rId13" Type="http://schemas.openxmlformats.org/officeDocument/2006/relationships/hyperlink" Target="https://en.wikipedia.org/wiki/Edsger_W._Dijkstra" TargetMode="External"/><Relationship Id="rId14" Type="http://schemas.openxmlformats.org/officeDocument/2006/relationships/slideLayout" Target="../slideLayouts/slideLayout1.xml"/><Relationship Id="rId1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 25: Threads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Threads, locks, pools and the GIL: the multithreading the 3rd edition dropped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228600"/>
            <a:ext cx="4114800" cy="1600200"/>
          </a:xfrm>
          <a:prstGeom prst="roundRect">
            <a:avLst>
              <a:gd name="adj" fmla="val 5714"/>
            </a:avLst>
          </a:prstGeom>
          <a:solidFill>
            <a:srgbClr val="23272E"/>
          </a:solidFill>
          <a:ln w="12700">
            <a:solidFill>
              <a:srgbClr val="23272E"/>
            </a:solidFill>
            <a:prstDash val="solid"/>
          </a:ln>
        </p:spPr>
      </p:sp>
      <p:sp>
        <p:nvSpPr>
          <p:cNvPr id="12" name="Text 10"/>
          <p:cNvSpPr txBox="1"/>
          <p:nvPr/>
        </p:nvSpPr>
        <p:spPr>
          <a:xfrm>
            <a:off x="4754880" y="347472"/>
            <a:ext cx="3749040" cy="136245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platform, sys, threading</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platform.python_version()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'3.14.6'</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sys._is_gil_enabled()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threading.current_thread().name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'MainThread'</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threading.active_count()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a:t>
            </a:r>
            <a:endParaRPr lang="en-US" sz="800" dirty="0"/>
          </a:p>
        </p:txBody>
      </p:sp>
      <p:sp>
        <p:nvSpPr>
          <p:cNvPr id="13" name="Text 11"/>
          <p:cNvSpPr txBox="1"/>
          <p:nvPr/>
        </p:nvSpPr>
        <p:spPr>
          <a:xfrm>
            <a:off x="548640" y="3520440"/>
            <a:ext cx="8046720" cy="713232"/>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and every picture was either saved by a program that is run again to check it or is a credited file of Wikimedia Commons. Windows, macOS, more than 2 CPUs and the real xkcd.com were never used: the downloaders ask a local stand-in, and what could not be run is marked on its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Starting and joining threads (slides 4-9)</a:t>
            </a:r>
            <a:endParaRPr lang="en-US" sz="1150" dirty="0"/>
          </a:p>
        </p:txBody>
      </p:sp>
      <p:sp>
        <p:nvSpPr>
          <p:cNvPr id="9" name="Shape 7"/>
          <p:cNvSpPr/>
          <p:nvPr/>
        </p:nvSpPr>
        <p:spPr>
          <a:xfrm>
            <a:off x="457200" y="18577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77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118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XKCD downloader (slides 10-11)</a:t>
            </a:r>
            <a:endParaRPr lang="en-US" sz="1150" dirty="0"/>
          </a:p>
        </p:txBody>
      </p:sp>
      <p:sp>
        <p:nvSpPr>
          <p:cNvPr id="12" name="Shape 10"/>
          <p:cNvSpPr/>
          <p:nvPr/>
        </p:nvSpPr>
        <p:spPr>
          <a:xfrm>
            <a:off x="457200" y="239877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6220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Shared data, locks and queues (slides 12-16)</a:t>
            </a:r>
            <a:endParaRPr lang="en-US" sz="11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Pools, the GIL and the race (slides 17-19)</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Speed, processes and asyncio (slides 20-23)</a:t>
            </a:r>
            <a:endParaRPr lang="en-US" sz="1150" dirty="0"/>
          </a:p>
        </p:txBody>
      </p:sp>
      <p:sp>
        <p:nvSpPr>
          <p:cNvPr id="21" name="Shape 19"/>
          <p:cNvSpPr/>
          <p:nvPr/>
        </p:nvSpPr>
        <p:spPr>
          <a:xfrm>
            <a:off x="457200" y="40218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4021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852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 + 0</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4 on slides, 0 in the notes</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pictures: 4 credited photos, 1 saved by a program</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starting a thread to a map.</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Which parts of the 2nd edition's multithreading chapter can be shown to work, fail or differ from its prose on a 2-CPU machine with Python 3.14.6, and which statements about the GIL, the free-threaded build and other platforms can only be read from documentation?</a:t>
            </a:r>
            <a:endParaRPr lang="en-US" sz="11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How large are the differences in speed and in lost updates between the GIL build and the free-threaded build, between threads, processes and asyncio, and between Python 3.11 and 3.14, and on what recorded run and source?</a:t>
            </a:r>
            <a:endParaRPr lang="en-US" sz="1100" dirty="0"/>
          </a:p>
        </p:txBody>
      </p:sp>
      <p:sp>
        <p:nvSpPr>
          <p:cNvPr id="12" name="Shape 10"/>
          <p:cNvSpPr/>
          <p:nvPr/>
        </p:nvSpPr>
        <p:spPr>
          <a:xfrm>
            <a:off x="457200" y="3474720"/>
            <a:ext cx="143560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7 branches</a:t>
            </a:r>
            <a:endParaRPr lang="en-US" sz="1000" dirty="0"/>
          </a:p>
        </p:txBody>
      </p:sp>
      <p:sp>
        <p:nvSpPr>
          <p:cNvPr id="14" name="Shape 12"/>
          <p:cNvSpPr/>
          <p:nvPr/>
        </p:nvSpPr>
        <p:spPr>
          <a:xfrm>
            <a:off x="2093976" y="3474720"/>
            <a:ext cx="1330452"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093976" y="3474720"/>
            <a:ext cx="133045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91 topics</a:t>
            </a:r>
            <a:endParaRPr lang="en-US" sz="1000" dirty="0"/>
          </a:p>
        </p:txBody>
      </p:sp>
      <p:sp>
        <p:nvSpPr>
          <p:cNvPr id="16" name="Shape 14"/>
          <p:cNvSpPr/>
          <p:nvPr/>
        </p:nvSpPr>
        <p:spPr>
          <a:xfrm>
            <a:off x="3625596" y="3474720"/>
            <a:ext cx="196138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625596"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19 console rows</a:t>
            </a:r>
            <a:endParaRPr lang="en-US" sz="1000" dirty="0"/>
          </a:p>
        </p:txBody>
      </p:sp>
      <p:sp>
        <p:nvSpPr>
          <p:cNvPr id="18" name="Shape 16"/>
          <p:cNvSpPr/>
          <p:nvPr/>
        </p:nvSpPr>
        <p:spPr>
          <a:xfrm>
            <a:off x="5788152" y="3474720"/>
            <a:ext cx="196138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88152"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17 programs run</a:t>
            </a:r>
            <a:endParaRPr lang="en-US" sz="1000" dirty="0"/>
          </a:p>
        </p:txBody>
      </p:sp>
      <p:sp>
        <p:nvSpPr>
          <p:cNvPr id="20" name="Shape 18"/>
          <p:cNvSpPr/>
          <p:nvPr/>
        </p:nvSpPr>
        <p:spPr>
          <a:xfrm>
            <a:off x="457200" y="4059936"/>
            <a:ext cx="143560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7 diagrams</a:t>
            </a:r>
            <a:endParaRPr lang="en-US" sz="1000" dirty="0"/>
          </a:p>
        </p:txBody>
      </p:sp>
      <p:sp>
        <p:nvSpPr>
          <p:cNvPr id="22" name="Shape 20"/>
          <p:cNvSpPr/>
          <p:nvPr/>
        </p:nvSpPr>
        <p:spPr>
          <a:xfrm>
            <a:off x="2093976" y="4059936"/>
            <a:ext cx="1435608"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093976"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5 pictures</a:t>
            </a:r>
            <a:endParaRPr lang="en-US" sz="1000" dirty="0"/>
          </a:p>
        </p:txBody>
      </p:sp>
      <p:sp>
        <p:nvSpPr>
          <p:cNvPr id="24" name="Shape 22"/>
          <p:cNvSpPr/>
          <p:nvPr/>
        </p:nvSpPr>
        <p:spPr>
          <a:xfrm>
            <a:off x="3730752" y="4059936"/>
            <a:ext cx="1751076"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3730752" y="405993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 3.14.6</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ran, what only failed, and what was only read.</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program can do with threads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uses; the 2nd edition taught threads, the 3rd edition dropped them</a:t>
            </a:r>
            <a:endParaRPr lang="en-US" sz="1300" dirty="0"/>
          </a:p>
        </p:txBody>
      </p:sp>
      <p:sp>
        <p:nvSpPr>
          <p:cNvPr id="6" name="Shape 4"/>
          <p:cNvSpPr/>
          <p:nvPr/>
        </p:nvSpPr>
        <p:spPr>
          <a:xfrm>
            <a:off x="1188720" y="1536192"/>
            <a:ext cx="3474720" cy="2258568"/>
          </a:xfrm>
          <a:prstGeom prst="rect">
            <a:avLst/>
          </a:prstGeom>
          <a:solidFill>
            <a:srgbClr val="FBF8F2"/>
          </a:solidFill>
          <a:ln w="12700">
            <a:solidFill>
              <a:srgbClr val="6E655C"/>
            </a:solidFill>
            <a:prstDash val="solid"/>
          </a:ln>
        </p:spPr>
      </p:sp>
      <p:sp>
        <p:nvSpPr>
          <p:cNvPr id="7" name="Text 5"/>
          <p:cNvSpPr txBox="1"/>
          <p:nvPr/>
        </p:nvSpPr>
        <p:spPr>
          <a:xfrm>
            <a:off x="1261872" y="1298448"/>
            <a:ext cx="333756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THREADS</a:t>
            </a:r>
            <a:endParaRPr lang="en-US" sz="850" dirty="0"/>
          </a:p>
        </p:txBody>
      </p:sp>
      <p:sp>
        <p:nvSpPr>
          <p:cNvPr id="8" name="Shape 6"/>
          <p:cNvSpPr/>
          <p:nvPr/>
        </p:nvSpPr>
        <p:spPr>
          <a:xfrm>
            <a:off x="1325880" y="1636776"/>
            <a:ext cx="3200400" cy="256946"/>
          </a:xfrm>
          <a:prstGeom prst="ellipse">
            <a:avLst/>
          </a:prstGeom>
          <a:solidFill>
            <a:srgbClr val="F2ECE1"/>
          </a:solidFill>
          <a:ln w="15875">
            <a:solidFill>
              <a:srgbClr val="2F6D62"/>
            </a:solidFill>
            <a:prstDash val="solid"/>
          </a:ln>
        </p:spPr>
      </p:sp>
      <p:sp>
        <p:nvSpPr>
          <p:cNvPr id="9" name="Text 7"/>
          <p:cNvSpPr txBox="1"/>
          <p:nvPr/>
        </p:nvSpPr>
        <p:spPr>
          <a:xfrm>
            <a:off x="1581912" y="1694383"/>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Start a thread with a target</a:t>
            </a:r>
            <a:endParaRPr lang="en-US" sz="800" dirty="0"/>
          </a:p>
        </p:txBody>
      </p:sp>
      <p:sp>
        <p:nvSpPr>
          <p:cNvPr id="10" name="Shape 8"/>
          <p:cNvSpPr/>
          <p:nvPr/>
        </p:nvSpPr>
        <p:spPr>
          <a:xfrm>
            <a:off x="1325880" y="1948586"/>
            <a:ext cx="3200400" cy="256946"/>
          </a:xfrm>
          <a:prstGeom prst="ellipse">
            <a:avLst/>
          </a:prstGeom>
          <a:solidFill>
            <a:srgbClr val="F2ECE1"/>
          </a:solidFill>
          <a:ln w="15875">
            <a:solidFill>
              <a:srgbClr val="2F6D62"/>
            </a:solidFill>
            <a:prstDash val="solid"/>
          </a:ln>
        </p:spPr>
      </p:sp>
      <p:sp>
        <p:nvSpPr>
          <p:cNvPr id="11" name="Text 9"/>
          <p:cNvSpPr txBox="1"/>
          <p:nvPr/>
        </p:nvSpPr>
        <p:spPr>
          <a:xfrm>
            <a:off x="1581912" y="2007108"/>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Pass args and kwargs to the target</a:t>
            </a:r>
            <a:endParaRPr lang="en-US" sz="800" dirty="0"/>
          </a:p>
        </p:txBody>
      </p:sp>
      <p:sp>
        <p:nvSpPr>
          <p:cNvPr id="12" name="Shape 10"/>
          <p:cNvSpPr/>
          <p:nvPr/>
        </p:nvSpPr>
        <p:spPr>
          <a:xfrm>
            <a:off x="1325880" y="2261311"/>
            <a:ext cx="3200400" cy="256946"/>
          </a:xfrm>
          <a:prstGeom prst="ellipse">
            <a:avLst/>
          </a:prstGeom>
          <a:solidFill>
            <a:srgbClr val="F2ECE1"/>
          </a:solidFill>
          <a:ln w="15875">
            <a:solidFill>
              <a:srgbClr val="2F6D62"/>
            </a:solidFill>
            <a:prstDash val="solid"/>
          </a:ln>
        </p:spPr>
      </p:sp>
      <p:sp>
        <p:nvSpPr>
          <p:cNvPr id="13" name="Text 11"/>
          <p:cNvSpPr txBox="1"/>
          <p:nvPr/>
        </p:nvSpPr>
        <p:spPr>
          <a:xfrm>
            <a:off x="1581912" y="2318918"/>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for a thread with join()</a:t>
            </a:r>
            <a:endParaRPr lang="en-US" sz="800" dirty="0"/>
          </a:p>
        </p:txBody>
      </p:sp>
      <p:sp>
        <p:nvSpPr>
          <p:cNvPr id="14" name="Shape 12"/>
          <p:cNvSpPr/>
          <p:nvPr/>
        </p:nvSpPr>
        <p:spPr>
          <a:xfrm>
            <a:off x="1325880" y="2573122"/>
            <a:ext cx="3200400" cy="256946"/>
          </a:xfrm>
          <a:prstGeom prst="ellipse">
            <a:avLst/>
          </a:prstGeom>
          <a:solidFill>
            <a:srgbClr val="F2ECE1"/>
          </a:solidFill>
          <a:ln w="15875">
            <a:solidFill>
              <a:srgbClr val="2F6D62"/>
            </a:solidFill>
            <a:prstDash val="solid"/>
          </a:ln>
        </p:spPr>
      </p:sp>
      <p:sp>
        <p:nvSpPr>
          <p:cNvPr id="15" name="Text 13"/>
          <p:cNvSpPr txBox="1"/>
          <p:nvPr/>
        </p:nvSpPr>
        <p:spPr>
          <a:xfrm>
            <a:off x="1581912" y="2631643"/>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Guard a counter with a lock</a:t>
            </a:r>
            <a:endParaRPr lang="en-US" sz="800" dirty="0"/>
          </a:p>
        </p:txBody>
      </p:sp>
      <p:sp>
        <p:nvSpPr>
          <p:cNvPr id="16" name="Shape 14"/>
          <p:cNvSpPr/>
          <p:nvPr/>
        </p:nvSpPr>
        <p:spPr>
          <a:xfrm>
            <a:off x="1325880" y="2885846"/>
            <a:ext cx="3200400" cy="256946"/>
          </a:xfrm>
          <a:prstGeom prst="ellipse">
            <a:avLst/>
          </a:prstGeom>
          <a:solidFill>
            <a:srgbClr val="F2ECE1"/>
          </a:solidFill>
          <a:ln w="15875">
            <a:solidFill>
              <a:srgbClr val="2F6D62"/>
            </a:solidFill>
            <a:prstDash val="solid"/>
          </a:ln>
        </p:spPr>
      </p:sp>
      <p:sp>
        <p:nvSpPr>
          <p:cNvPr id="17" name="Text 15"/>
          <p:cNvSpPr txBox="1"/>
          <p:nvPr/>
        </p:nvSpPr>
        <p:spPr>
          <a:xfrm>
            <a:off x="1581912" y="2943454"/>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Hand items over with a queue</a:t>
            </a:r>
            <a:endParaRPr lang="en-US" sz="800" dirty="0"/>
          </a:p>
        </p:txBody>
      </p:sp>
      <p:sp>
        <p:nvSpPr>
          <p:cNvPr id="18" name="Shape 16"/>
          <p:cNvSpPr/>
          <p:nvPr/>
        </p:nvSpPr>
        <p:spPr>
          <a:xfrm>
            <a:off x="1325880" y="3197657"/>
            <a:ext cx="3200400" cy="256946"/>
          </a:xfrm>
          <a:prstGeom prst="ellipse">
            <a:avLst/>
          </a:prstGeom>
          <a:solidFill>
            <a:srgbClr val="F2ECE1"/>
          </a:solidFill>
          <a:ln w="15875">
            <a:solidFill>
              <a:srgbClr val="2F6D62"/>
            </a:solidFill>
            <a:prstDash val="solid"/>
          </a:ln>
        </p:spPr>
      </p:sp>
      <p:sp>
        <p:nvSpPr>
          <p:cNvPr id="19" name="Text 17"/>
          <p:cNvSpPr txBox="1"/>
          <p:nvPr/>
        </p:nvSpPr>
        <p:spPr>
          <a:xfrm>
            <a:off x="1581912" y="3256178"/>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Run functions on a pool with map()</a:t>
            </a:r>
            <a:endParaRPr lang="en-US" sz="800" dirty="0"/>
          </a:p>
        </p:txBody>
      </p:sp>
      <p:sp>
        <p:nvSpPr>
          <p:cNvPr id="20" name="Shape 18"/>
          <p:cNvSpPr/>
          <p:nvPr/>
        </p:nvSpPr>
        <p:spPr>
          <a:xfrm>
            <a:off x="1325880" y="3510382"/>
            <a:ext cx="3200400" cy="256946"/>
          </a:xfrm>
          <a:prstGeom prst="ellipse">
            <a:avLst/>
          </a:prstGeom>
          <a:solidFill>
            <a:srgbClr val="F2ECE1"/>
          </a:solidFill>
          <a:ln w="15875">
            <a:solidFill>
              <a:srgbClr val="2F6D62"/>
            </a:solidFill>
            <a:prstDash val="solid"/>
          </a:ln>
        </p:spPr>
      </p:sp>
      <p:sp>
        <p:nvSpPr>
          <p:cNvPr id="21" name="Text 19"/>
          <p:cNvSpPr txBox="1"/>
          <p:nvPr/>
        </p:nvSpPr>
        <p:spPr>
          <a:xfrm>
            <a:off x="1581912" y="3567989"/>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Overlap waiting with asyncio.gather()</a:t>
            </a:r>
            <a:endParaRPr lang="en-US" sz="800" dirty="0"/>
          </a:p>
        </p:txBody>
      </p:sp>
      <p:sp>
        <p:nvSpPr>
          <p:cNvPr id="22" name="Shape 20"/>
          <p:cNvSpPr/>
          <p:nvPr/>
        </p:nvSpPr>
        <p:spPr>
          <a:xfrm>
            <a:off x="676656" y="1897380"/>
            <a:ext cx="201168" cy="201168"/>
          </a:xfrm>
          <a:prstGeom prst="ellipse">
            <a:avLst/>
          </a:prstGeom>
          <a:solidFill>
            <a:srgbClr val="FFFFFF"/>
          </a:solidFill>
          <a:ln w="19050">
            <a:solidFill>
              <a:srgbClr val="2B2622"/>
            </a:solidFill>
            <a:prstDash val="solid"/>
          </a:ln>
        </p:spPr>
      </p:sp>
      <p:sp>
        <p:nvSpPr>
          <p:cNvPr id="23" name="Shape 21"/>
          <p:cNvSpPr/>
          <p:nvPr/>
        </p:nvSpPr>
        <p:spPr>
          <a:xfrm>
            <a:off x="777240" y="2098548"/>
            <a:ext cx="0" cy="347472"/>
          </a:xfrm>
          <a:prstGeom prst="line">
            <a:avLst/>
          </a:prstGeom>
          <a:noFill/>
          <a:ln w="19050">
            <a:solidFill>
              <a:srgbClr val="2B2622"/>
            </a:solidFill>
            <a:prstDash val="solid"/>
          </a:ln>
        </p:spPr>
      </p:sp>
      <p:sp>
        <p:nvSpPr>
          <p:cNvPr id="24" name="Shape 22"/>
          <p:cNvSpPr/>
          <p:nvPr/>
        </p:nvSpPr>
        <p:spPr>
          <a:xfrm>
            <a:off x="594360" y="2189988"/>
            <a:ext cx="365760" cy="0"/>
          </a:xfrm>
          <a:prstGeom prst="line">
            <a:avLst/>
          </a:prstGeom>
          <a:noFill/>
          <a:ln w="19050">
            <a:solidFill>
              <a:srgbClr val="2B2622"/>
            </a:solidFill>
            <a:prstDash val="solid"/>
          </a:ln>
        </p:spPr>
      </p:sp>
      <p:sp>
        <p:nvSpPr>
          <p:cNvPr id="25" name="Shape 23"/>
          <p:cNvSpPr/>
          <p:nvPr/>
        </p:nvSpPr>
        <p:spPr>
          <a:xfrm flipH="1">
            <a:off x="630936" y="2446020"/>
            <a:ext cx="146304" cy="228600"/>
          </a:xfrm>
          <a:prstGeom prst="line">
            <a:avLst/>
          </a:prstGeom>
          <a:noFill/>
          <a:ln w="19050">
            <a:solidFill>
              <a:srgbClr val="2B2622"/>
            </a:solidFill>
            <a:prstDash val="solid"/>
          </a:ln>
        </p:spPr>
      </p:sp>
      <p:sp>
        <p:nvSpPr>
          <p:cNvPr id="26" name="Shape 24"/>
          <p:cNvSpPr/>
          <p:nvPr/>
        </p:nvSpPr>
        <p:spPr>
          <a:xfrm>
            <a:off x="777240" y="2446020"/>
            <a:ext cx="146304" cy="228600"/>
          </a:xfrm>
          <a:prstGeom prst="line">
            <a:avLst/>
          </a:prstGeom>
          <a:noFill/>
          <a:ln w="19050">
            <a:solidFill>
              <a:srgbClr val="2B2622"/>
            </a:solidFill>
            <a:prstDash val="solid"/>
          </a:ln>
        </p:spPr>
      </p:sp>
      <p:sp>
        <p:nvSpPr>
          <p:cNvPr id="27" name="Text 25"/>
          <p:cNvSpPr txBox="1"/>
          <p:nvPr/>
        </p:nvSpPr>
        <p:spPr>
          <a:xfrm>
            <a:off x="457200" y="27203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8" name="Shape 26"/>
          <p:cNvSpPr/>
          <p:nvPr/>
        </p:nvSpPr>
        <p:spPr>
          <a:xfrm flipV="1">
            <a:off x="960120" y="1765706"/>
            <a:ext cx="365760" cy="497434"/>
          </a:xfrm>
          <a:prstGeom prst="line">
            <a:avLst/>
          </a:prstGeom>
          <a:noFill/>
          <a:ln w="12700">
            <a:solidFill>
              <a:srgbClr val="6E655C"/>
            </a:solidFill>
            <a:prstDash val="solid"/>
          </a:ln>
        </p:spPr>
      </p:sp>
      <p:sp>
        <p:nvSpPr>
          <p:cNvPr id="29" name="Shape 27"/>
          <p:cNvSpPr/>
          <p:nvPr/>
        </p:nvSpPr>
        <p:spPr>
          <a:xfrm flipV="1">
            <a:off x="960120" y="2077517"/>
            <a:ext cx="365760" cy="185623"/>
          </a:xfrm>
          <a:prstGeom prst="line">
            <a:avLst/>
          </a:prstGeom>
          <a:noFill/>
          <a:ln w="12700">
            <a:solidFill>
              <a:srgbClr val="6E655C"/>
            </a:solidFill>
            <a:prstDash val="solid"/>
          </a:ln>
        </p:spPr>
      </p:sp>
      <p:sp>
        <p:nvSpPr>
          <p:cNvPr id="30" name="Shape 28"/>
          <p:cNvSpPr/>
          <p:nvPr/>
        </p:nvSpPr>
        <p:spPr>
          <a:xfrm>
            <a:off x="960120" y="2263140"/>
            <a:ext cx="365760" cy="127102"/>
          </a:xfrm>
          <a:prstGeom prst="line">
            <a:avLst/>
          </a:prstGeom>
          <a:noFill/>
          <a:ln w="12700">
            <a:solidFill>
              <a:srgbClr val="6E655C"/>
            </a:solidFill>
            <a:prstDash val="solid"/>
          </a:ln>
        </p:spPr>
      </p:sp>
      <p:sp>
        <p:nvSpPr>
          <p:cNvPr id="31" name="Shape 29"/>
          <p:cNvSpPr/>
          <p:nvPr/>
        </p:nvSpPr>
        <p:spPr>
          <a:xfrm>
            <a:off x="960120" y="2263140"/>
            <a:ext cx="365760" cy="438912"/>
          </a:xfrm>
          <a:prstGeom prst="line">
            <a:avLst/>
          </a:prstGeom>
          <a:noFill/>
          <a:ln w="12700">
            <a:solidFill>
              <a:srgbClr val="6E655C"/>
            </a:solidFill>
            <a:prstDash val="solid"/>
          </a:ln>
        </p:spPr>
      </p:sp>
      <p:sp>
        <p:nvSpPr>
          <p:cNvPr id="32" name="Shape 30"/>
          <p:cNvSpPr/>
          <p:nvPr/>
        </p:nvSpPr>
        <p:spPr>
          <a:xfrm>
            <a:off x="960120" y="2263140"/>
            <a:ext cx="365760" cy="750722"/>
          </a:xfrm>
          <a:prstGeom prst="line">
            <a:avLst/>
          </a:prstGeom>
          <a:noFill/>
          <a:ln w="12700">
            <a:solidFill>
              <a:srgbClr val="6E655C"/>
            </a:solidFill>
            <a:prstDash val="solid"/>
          </a:ln>
        </p:spPr>
      </p:sp>
      <p:sp>
        <p:nvSpPr>
          <p:cNvPr id="33" name="Shape 31"/>
          <p:cNvSpPr/>
          <p:nvPr/>
        </p:nvSpPr>
        <p:spPr>
          <a:xfrm>
            <a:off x="960120" y="2263140"/>
            <a:ext cx="365760" cy="1063447"/>
          </a:xfrm>
          <a:prstGeom prst="line">
            <a:avLst/>
          </a:prstGeom>
          <a:noFill/>
          <a:ln w="12700">
            <a:solidFill>
              <a:srgbClr val="6E655C"/>
            </a:solidFill>
            <a:prstDash val="solid"/>
          </a:ln>
        </p:spPr>
      </p:sp>
      <p:sp>
        <p:nvSpPr>
          <p:cNvPr id="34" name="Shape 32"/>
          <p:cNvSpPr/>
          <p:nvPr/>
        </p:nvSpPr>
        <p:spPr>
          <a:xfrm>
            <a:off x="960120" y="2263140"/>
            <a:ext cx="365760" cy="1375258"/>
          </a:xfrm>
          <a:prstGeom prst="line">
            <a:avLst/>
          </a:prstGeom>
          <a:noFill/>
          <a:ln w="12700">
            <a:solidFill>
              <a:srgbClr val="6E655C"/>
            </a:solidFill>
            <a:prstDash val="solid"/>
          </a:ln>
        </p:spPr>
      </p:sp>
      <p:sp>
        <p:nvSpPr>
          <p:cNvPr id="35" name="Text 33"/>
          <p:cNvSpPr txBox="1"/>
          <p:nvPr/>
        </p:nvSpPr>
        <p:spPr>
          <a:xfrm>
            <a:off x="457200" y="3822192"/>
            <a:ext cx="42062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WhatAProgramCanDoWithThreads - SetOfUses pattern, 25 of 27 words grounded in the chapter's text</a:t>
            </a:r>
            <a:endParaRPr lang="en-US" sz="850" dirty="0"/>
          </a:p>
        </p:txBody>
      </p:sp>
      <p:sp>
        <p:nvSpPr>
          <p:cNvPr id="36" name="Shape 34"/>
          <p:cNvSpPr/>
          <p:nvPr/>
        </p:nvSpPr>
        <p:spPr>
          <a:xfrm>
            <a:off x="4846320" y="1325880"/>
            <a:ext cx="3840480" cy="1316736"/>
          </a:xfrm>
          <a:prstGeom prst="roundRect">
            <a:avLst>
              <a:gd name="adj" fmla="val 6944"/>
            </a:avLst>
          </a:prstGeom>
          <a:solidFill>
            <a:srgbClr val="23272E"/>
          </a:solidFill>
          <a:ln w="12700">
            <a:solidFill>
              <a:srgbClr val="23272E"/>
            </a:solidFill>
            <a:prstDash val="solid"/>
          </a:ln>
        </p:spPr>
      </p:sp>
      <p:sp>
        <p:nvSpPr>
          <p:cNvPr id="37" name="Text 35"/>
          <p:cNvSpPr txBox="1"/>
          <p:nvPr/>
        </p:nvSpPr>
        <p:spPr>
          <a:xfrm>
            <a:off x="5029200" y="1444752"/>
            <a:ext cx="3474720" cy="1078992"/>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os, sys, sysconfig</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sys._is_gil_enabled()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sysconfig.get_config_var('Py_GIL_DISABLED')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os.cpu_count()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a:t>
            </a:r>
            <a:endParaRPr lang="en-US" sz="800" dirty="0"/>
          </a:p>
        </p:txBody>
      </p:sp>
      <p:sp>
        <p:nvSpPr>
          <p:cNvPr id="38" name="Text 36"/>
          <p:cNvSpPr txBox="1"/>
          <p:nvPr/>
        </p:nvSpPr>
        <p:spPr>
          <a:xfrm>
            <a:off x="4846320" y="2660904"/>
            <a:ext cx="38404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row reads the clock or the network</a:t>
            </a:r>
            <a:endParaRPr lang="en-US" sz="900" dirty="0"/>
          </a:p>
        </p:txBody>
      </p:sp>
      <p:sp>
        <p:nvSpPr>
          <p:cNvPr id="39" name="Text 37"/>
          <p:cNvSpPr txBox="1"/>
          <p:nvPr/>
        </p:nvSpPr>
        <p:spPr>
          <a:xfrm>
            <a:off x="4846320" y="2953512"/>
            <a:ext cx="3840480" cy="594360"/>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Recorded 14 Oct 2026: the 2nd edition's chapter 17 page (200, 103,558 bytes) holds 9 code paragraphs on multithreading, and the 3rd edition's chapter 19, with the same title, has 0 occurrences of the word thread.</a:t>
            </a:r>
            <a:endParaRPr lang="en-US" sz="900" dirty="0"/>
          </a:p>
        </p:txBody>
      </p:sp>
      <p:sp>
        <p:nvSpPr>
          <p:cNvPr id="40" name="Text 38"/>
          <p:cNvSpPr txBox="1"/>
          <p:nvPr/>
        </p:nvSpPr>
        <p:spPr>
          <a:xfrm>
            <a:off x="4846320" y="3776472"/>
            <a:ext cx="384048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chapter teaches a Thread with a target, start(), args and kwargs, join(), and the XKCD downloader.</a:t>
            </a:r>
            <a:endParaRPr lang="en-US" sz="90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Threads let one program do several things at once.</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Starting a thread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new thread's line comes last, although start() was called before the main line</a:t>
            </a:r>
            <a:endParaRPr lang="en-US" sz="1300" dirty="0"/>
          </a:p>
        </p:txBody>
      </p:sp>
      <p:sp>
        <p:nvSpPr>
          <p:cNvPr id="6" name="Text 4"/>
          <p:cNvSpPr txBox="1"/>
          <p:nvPr/>
        </p:nvSpPr>
        <p:spPr>
          <a:xfrm>
            <a:off x="457200" y="1143000"/>
            <a:ext cx="403250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startCut_v1_0_0.py, lines 1 to 16 of 16</a:t>
            </a:r>
            <a:endParaRPr lang="en-US" sz="1000" dirty="0"/>
          </a:p>
        </p:txBody>
      </p:sp>
      <p:sp>
        <p:nvSpPr>
          <p:cNvPr id="7" name="Shape 5"/>
          <p:cNvSpPr/>
          <p:nvPr/>
        </p:nvSpPr>
        <p:spPr>
          <a:xfrm>
            <a:off x="457200" y="1417320"/>
            <a:ext cx="4032504" cy="3118104"/>
          </a:xfrm>
          <a:prstGeom prst="roundRect">
            <a:avLst>
              <a:gd name="adj" fmla="val 2933"/>
            </a:avLst>
          </a:prstGeom>
          <a:solidFill>
            <a:srgbClr val="23272E"/>
          </a:solidFill>
          <a:ln w="12700">
            <a:solidFill>
              <a:srgbClr val="23272E"/>
            </a:solidFill>
            <a:prstDash val="solid"/>
          </a:ln>
        </p:spPr>
      </p:sp>
      <p:sp>
        <p:nvSpPr>
          <p:cNvPr id="8" name="Text 6"/>
          <p:cNvSpPr txBox="1"/>
          <p:nvPr/>
        </p:nvSpPr>
        <p:spPr>
          <a:xfrm>
            <a:off x="640080" y="1536192"/>
            <a:ext cx="3666744" cy="2880360"/>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threading, time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t>
            </a:r>
            <a:r>
              <a:rPr lang="en-US" sz="800" dirty="0">
                <a:solidFill>
                  <a:srgbClr val="9ECBFF"/>
                </a:solidFill>
                <a:latin typeface="Courier New" pitchFamily="34" charset="0"/>
                <a:ea typeface="Courier New" pitchFamily="34" charset="-122"/>
                <a:cs typeface="Courier New" pitchFamily="34" charset="-120"/>
              </a:rPr>
              <a:t>'Start of program.'</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def</a:t>
            </a:r>
            <a:r>
              <a:rPr lang="en-US" sz="800" dirty="0">
                <a:solidFill>
                  <a:srgbClr val="E6EDF3"/>
                </a:solidFill>
                <a:latin typeface="Courier New" pitchFamily="34" charset="0"/>
                <a:ea typeface="Courier New" pitchFamily="34" charset="-122"/>
                <a:cs typeface="Courier New" pitchFamily="34" charset="-120"/>
              </a:rPr>
              <a:t> takeANap():</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time.sleep(</a:t>
            </a:r>
            <a:r>
              <a:rPr lang="en-US" sz="800" dirty="0">
                <a:solidFill>
                  <a:srgbClr val="FFD28A"/>
                </a:solidFill>
                <a:latin typeface="Courier New" pitchFamily="34" charset="0"/>
                <a:ea typeface="Courier New" pitchFamily="34" charset="-122"/>
                <a:cs typeface="Courier New" pitchFamily="34" charset="-120"/>
              </a:rPr>
              <a:t>0.5</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a:t>
            </a:r>
            <a:r>
              <a:rPr lang="en-US" sz="800" dirty="0">
                <a:solidFill>
                  <a:srgbClr val="9ECBFF"/>
                </a:solidFill>
                <a:latin typeface="Courier New" pitchFamily="34" charset="0"/>
                <a:ea typeface="Courier New" pitchFamily="34" charset="-122"/>
                <a:cs typeface="Courier New" pitchFamily="34" charset="-120"/>
              </a:rPr>
              <a:t>'Wake up!'</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threadObj = threading.Thread(target=takeANap)</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threadObj.start()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t>
            </a:r>
            <a:r>
              <a:rPr lang="en-US" sz="800" dirty="0">
                <a:solidFill>
                  <a:srgbClr val="9ECBFF"/>
                </a:solidFill>
                <a:latin typeface="Courier New" pitchFamily="34" charset="0"/>
                <a:ea typeface="Courier New" pitchFamily="34" charset="-122"/>
                <a:cs typeface="Courier New" pitchFamily="34" charset="-120"/>
              </a:rPr>
              <a:t>'End of program.'</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threadObj.join()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box = []</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def</a:t>
            </a:r>
            <a:r>
              <a:rPr lang="en-US" sz="800" dirty="0">
                <a:solidFill>
                  <a:srgbClr val="E6EDF3"/>
                </a:solidFill>
                <a:latin typeface="Courier New" pitchFamily="34" charset="0"/>
                <a:ea typeface="Courier New" pitchFamily="34" charset="-122"/>
                <a:cs typeface="Courier New" pitchFamily="34" charset="-120"/>
              </a:rPr>
              <a:t> f():</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me = threading.current_thread()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box.append((me.name, threading.active_count()))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 = threading.Thread(target=f); t.start(); t.join()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main = threading.current_thread()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print(main.name, main is threading.main_thread(), box[</a:t>
            </a:r>
            <a:r>
              <a:rPr lang="en-US" sz="800" dirty="0">
                <a:solidFill>
                  <a:srgbClr val="FFD28A"/>
                </a:solidFill>
                <a:latin typeface="Courier New" pitchFamily="34" charset="0"/>
                <a:ea typeface="Courier New" pitchFamily="34" charset="-122"/>
                <a:cs typeface="Courier New" pitchFamily="34" charset="-120"/>
              </a:rPr>
              <a:t>0</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Start of program.</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End of program.</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Wake up!</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MainThread True ('Thread-2 (f)', 2)</a:t>
            </a:r>
            <a:endParaRPr lang="en-US" sz="800" dirty="0"/>
          </a:p>
        </p:txBody>
      </p:sp>
      <p:sp>
        <p:nvSpPr>
          <p:cNvPr id="9" name="Text 7"/>
          <p:cNvSpPr txBox="1"/>
          <p:nvPr/>
        </p:nvSpPr>
        <p:spPr>
          <a:xfrm>
            <a:off x="4672584" y="1371600"/>
            <a:ext cx="4014216"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start() returns at once: the line Wake up! came after the line End of program, although the thread was started first.</a:t>
            </a:r>
            <a:endParaRPr lang="en-US" sz="900" dirty="0"/>
          </a:p>
        </p:txBody>
      </p:sp>
      <p:sp>
        <p:nvSpPr>
          <p:cNvPr id="10" name="Text 8"/>
          <p:cNvSpPr txBox="1"/>
          <p:nvPr/>
        </p:nvSpPr>
        <p:spPr>
          <a:xfrm>
            <a:off x="4672584" y="1746504"/>
            <a:ext cx="4014216"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main program is itself a thread, MainThread; each start() adds one more.</a:t>
            </a:r>
            <a:endParaRPr lang="en-US" sz="900" dirty="0"/>
          </a:p>
        </p:txBody>
      </p:sp>
      <p:sp>
        <p:nvSpPr>
          <p:cNvPr id="11" name="Text 9"/>
          <p:cNvSpPr txBox="1"/>
          <p:nvPr/>
        </p:nvSpPr>
        <p:spPr>
          <a:xfrm>
            <a:off x="4672584" y="2121408"/>
            <a:ext cx="4014216"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While the new thread ran, 2 Thread objects were alive: the main thread and itself.</a:t>
            </a:r>
            <a:endParaRPr lang="en-US" sz="900" dirty="0"/>
          </a:p>
        </p:txBody>
      </p:sp>
      <p:sp>
        <p:nvSpPr>
          <p:cNvPr id="12" name="Text 10"/>
          <p:cNvSpPr txBox="1"/>
          <p:nvPr/>
        </p:nvSpPr>
        <p:spPr>
          <a:xfrm>
            <a:off x="4672584" y="2496312"/>
            <a:ext cx="4014216"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program ended only after the last thread did; join() made the main thread wait.</a:t>
            </a:r>
            <a:endParaRPr lang="en-US" sz="9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start() returns at once; the new thread runs beside the main one.</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arguments of the target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args is a list, kwargs a dictionary; the chapter's prose and listing differ</a:t>
            </a:r>
            <a:endParaRPr lang="en-US" sz="1300" dirty="0"/>
          </a:p>
        </p:txBody>
      </p:sp>
      <p:sp>
        <p:nvSpPr>
          <p:cNvPr id="6" name="Text 4"/>
          <p:cNvSpPr txBox="1"/>
          <p:nvPr/>
        </p:nvSpPr>
        <p:spPr>
          <a:xfrm>
            <a:off x="457200" y="1143000"/>
            <a:ext cx="463600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argsCut_v1_0_0.py, lines 1 to 10 of 10</a:t>
            </a:r>
            <a:endParaRPr lang="en-US" sz="1000" dirty="0"/>
          </a:p>
        </p:txBody>
      </p:sp>
      <p:sp>
        <p:nvSpPr>
          <p:cNvPr id="7" name="Shape 5"/>
          <p:cNvSpPr/>
          <p:nvPr/>
        </p:nvSpPr>
        <p:spPr>
          <a:xfrm>
            <a:off x="457200" y="1417320"/>
            <a:ext cx="4636008" cy="2478024"/>
          </a:xfrm>
          <a:prstGeom prst="roundRect">
            <a:avLst>
              <a:gd name="adj" fmla="val 3690"/>
            </a:avLst>
          </a:prstGeom>
          <a:solidFill>
            <a:srgbClr val="23272E"/>
          </a:solidFill>
          <a:ln w="12700">
            <a:solidFill>
              <a:srgbClr val="23272E"/>
            </a:solidFill>
            <a:prstDash val="solid"/>
          </a:ln>
        </p:spPr>
      </p:sp>
      <p:sp>
        <p:nvSpPr>
          <p:cNvPr id="8" name="Text 6"/>
          <p:cNvSpPr txBox="1"/>
          <p:nvPr/>
        </p:nvSpPr>
        <p:spPr>
          <a:xfrm>
            <a:off x="640080" y="1536192"/>
            <a:ext cx="4270248" cy="2240280"/>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import</a:t>
            </a:r>
            <a:r>
              <a:rPr lang="en-US" sz="900" dirty="0">
                <a:solidFill>
                  <a:srgbClr val="E6EDF3"/>
                </a:solidFill>
                <a:latin typeface="Courier New" pitchFamily="34" charset="0"/>
                <a:ea typeface="Courier New" pitchFamily="34" charset="-122"/>
                <a:cs typeface="Courier New" pitchFamily="34" charset="-120"/>
              </a:rPr>
              <a:t> threading</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def</a:t>
            </a:r>
            <a:r>
              <a:rPr lang="en-US" sz="900" dirty="0">
                <a:solidFill>
                  <a:srgbClr val="E6EDF3"/>
                </a:solidFill>
                <a:latin typeface="Courier New" pitchFamily="34" charset="0"/>
                <a:ea typeface="Courier New" pitchFamily="34" charset="-122"/>
                <a:cs typeface="Courier New" pitchFamily="34" charset="-120"/>
              </a:rPr>
              <a:t> go(sep):</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t = threading.Thread(target=print, kwargs={</a:t>
            </a:r>
            <a:r>
              <a:rPr lang="en-US" sz="900" dirty="0">
                <a:solidFill>
                  <a:srgbClr val="9ECBFF"/>
                </a:solidFill>
                <a:latin typeface="Courier New" pitchFamily="34" charset="0"/>
                <a:ea typeface="Courier New" pitchFamily="34" charset="-122"/>
                <a:cs typeface="Courier New" pitchFamily="34" charset="-120"/>
              </a:rPr>
              <a:t>'sep'</a:t>
            </a:r>
            <a:r>
              <a:rPr lang="en-US" sz="900" dirty="0">
                <a:solidFill>
                  <a:srgbClr val="E6EDF3"/>
                </a:solidFill>
                <a:latin typeface="Courier New" pitchFamily="34" charset="0"/>
                <a:ea typeface="Courier New" pitchFamily="34" charset="-122"/>
                <a:cs typeface="Courier New" pitchFamily="34" charset="-120"/>
              </a:rPr>
              <a:t>: sep},</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args=[</a:t>
            </a:r>
            <a:r>
              <a:rPr lang="en-US" sz="900" dirty="0">
                <a:solidFill>
                  <a:srgbClr val="9ECBFF"/>
                </a:solidFill>
                <a:latin typeface="Courier New" pitchFamily="34" charset="0"/>
                <a:ea typeface="Courier New" pitchFamily="34" charset="-122"/>
                <a:cs typeface="Courier New" pitchFamily="34" charset="-120"/>
              </a:rPr>
              <a:t>'Cats'</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'Dogs'</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'Frogs'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t.start(); t.join()</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go(</a:t>
            </a:r>
            <a:r>
              <a:rPr lang="en-US" sz="900" dirty="0">
                <a:solidFill>
                  <a:srgbClr val="9ECBFF"/>
                </a:solidFill>
                <a:latin typeface="Courier New" pitchFamily="34" charset="0"/>
                <a:ea typeface="Courier New" pitchFamily="34" charset="-122"/>
                <a:cs typeface="Courier New" pitchFamily="34" charset="-120"/>
              </a:rPr>
              <a:t>' &amp; '</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go(</a:t>
            </a:r>
            <a:r>
              <a:rPr lang="en-US" sz="900" dirty="0">
                <a:solidFill>
                  <a:srgbClr val="9ECBFF"/>
                </a:solidFill>
                <a:latin typeface="Courier New" pitchFamily="34" charset="0"/>
                <a:ea typeface="Courier New" pitchFamily="34" charset="-122"/>
                <a:cs typeface="Courier New" pitchFamily="34" charset="-120"/>
              </a:rPr>
              <a:t>'&amp; '</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t = threading.Thread(target=print(</a:t>
            </a:r>
            <a:r>
              <a:rPr lang="en-US" sz="900" dirty="0">
                <a:solidFill>
                  <a:srgbClr val="9ECBFF"/>
                </a:solidFill>
                <a:latin typeface="Courier New" pitchFamily="34" charset="0"/>
                <a:ea typeface="Courier New" pitchFamily="34" charset="-122"/>
                <a:cs typeface="Courier New" pitchFamily="34" charset="-120"/>
              </a:rPr>
              <a:t>'Now'</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'not later'</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t.start(); t.join()</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a:t>
            </a:r>
            <a:r>
              <a:rPr lang="en-US" sz="900" dirty="0">
                <a:solidFill>
                  <a:srgbClr val="9ECBFF"/>
                </a:solidFill>
                <a:latin typeface="Courier New" pitchFamily="34" charset="0"/>
                <a:ea typeface="Courier New" pitchFamily="34" charset="-122"/>
                <a:cs typeface="Courier New" pitchFamily="34" charset="-120"/>
              </a:rPr>
              <a:t>'the thread had a target to run:'</a:t>
            </a:r>
            <a:r>
              <a:rPr lang="en-US" sz="900" dirty="0">
                <a:solidFill>
                  <a:srgbClr val="E6EDF3"/>
                </a:solidFill>
                <a:latin typeface="Courier New" pitchFamily="34" charset="0"/>
                <a:ea typeface="Courier New" pitchFamily="34" charset="-122"/>
                <a:cs typeface="Courier New" pitchFamily="34" charset="-120"/>
              </a:rPr>
              <a:t>, t.is_alive())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r>
              <a:rPr lang="en-US" sz="900" dirty="0">
                <a:solidFill>
                  <a:srgbClr val="7EE787"/>
                </a:solidFill>
                <a:latin typeface="Courier New" pitchFamily="34" charset="0"/>
                <a:ea typeface="Courier New" pitchFamily="34" charset="-122"/>
                <a:cs typeface="Courier New" pitchFamily="34" charset="-120"/>
              </a:rPr>
              <a:t>Cats &amp; Dogs &amp; Frogs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Cats&amp; Dogs&amp; Frogs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Now not later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the thread had a target to run: False</a:t>
            </a:r>
            <a:endParaRPr lang="en-US" sz="900" dirty="0"/>
          </a:p>
        </p:txBody>
      </p:sp>
      <p:sp>
        <p:nvSpPr>
          <p:cNvPr id="9" name="Text 7"/>
          <p:cNvSpPr txBox="1"/>
          <p:nvPr/>
        </p:nvSpPr>
        <p:spPr>
          <a:xfrm>
            <a:off x="5276088" y="1371600"/>
            <a:ext cx="3410712"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list becomes the positional arguments of the target and the dictionary its keyword arguments, as in an ordinary call.</a:t>
            </a:r>
            <a:endParaRPr lang="en-US" sz="900" dirty="0"/>
          </a:p>
        </p:txBody>
      </p:sp>
      <p:sp>
        <p:nvSpPr>
          <p:cNvPr id="10" name="Text 8"/>
          <p:cNvSpPr txBox="1"/>
          <p:nvPr/>
        </p:nvSpPr>
        <p:spPr>
          <a:xfrm>
            <a:off x="5276088" y="1892808"/>
            <a:ext cx="3410712"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chapter's listing has {'sep': ' &amp; '} and prints Cats &amp; Dogs &amp; Frogs; its prose writes {'sep': '&amp; '}, which prints Cats&amp; Dogs&amp; Frogs.</a:t>
            </a:r>
            <a:endParaRPr lang="en-US" sz="900" dirty="0"/>
          </a:p>
        </p:txBody>
      </p:sp>
      <p:sp>
        <p:nvSpPr>
          <p:cNvPr id="11" name="Text 9"/>
          <p:cNvSpPr txBox="1"/>
          <p:nvPr/>
        </p:nvSpPr>
        <p:spPr>
          <a:xfrm>
            <a:off x="5276088" y="2414016"/>
            <a:ext cx="3410712"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target=print('Now', 'not later') calls print at once, in the main thread, and hands the thread None: there was nothing for it to run.</a:t>
            </a:r>
            <a:endParaRPr lang="en-US" sz="9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Pass the function itself, with args and kwargs; never its call.</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life of a Thread object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Created, started once, finished; a name follows it and an error stays in it</a:t>
            </a:r>
            <a:endParaRPr lang="en-US" sz="1300" dirty="0"/>
          </a:p>
        </p:txBody>
      </p:sp>
      <p:sp>
        <p:nvSpPr>
          <p:cNvPr id="6" name="Shape 4"/>
          <p:cNvSpPr/>
          <p:nvPr/>
        </p:nvSpPr>
        <p:spPr>
          <a:xfrm>
            <a:off x="548640" y="1554480"/>
            <a:ext cx="1280160" cy="329184"/>
          </a:xfrm>
          <a:prstGeom prst="roundRect">
            <a:avLst>
              <a:gd name="adj" fmla="val 22222"/>
            </a:avLst>
          </a:prstGeom>
          <a:solidFill>
            <a:srgbClr val="2F6D62"/>
          </a:solidFill>
          <a:ln w="15875">
            <a:solidFill>
              <a:srgbClr val="2F6D62"/>
            </a:solidFill>
            <a:prstDash val="solid"/>
          </a:ln>
        </p:spPr>
      </p:sp>
      <p:sp>
        <p:nvSpPr>
          <p:cNvPr id="7" name="Text 5"/>
          <p:cNvSpPr txBox="1"/>
          <p:nvPr/>
        </p:nvSpPr>
        <p:spPr>
          <a:xfrm>
            <a:off x="603504" y="1587398"/>
            <a:ext cx="117043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thread object is created</a:t>
            </a:r>
            <a:endParaRPr lang="en-US" sz="800" dirty="0"/>
          </a:p>
        </p:txBody>
      </p:sp>
      <p:sp>
        <p:nvSpPr>
          <p:cNvPr id="8" name="Shape 6"/>
          <p:cNvSpPr/>
          <p:nvPr/>
        </p:nvSpPr>
        <p:spPr>
          <a:xfrm>
            <a:off x="548640" y="2258568"/>
            <a:ext cx="1280160" cy="329184"/>
          </a:xfrm>
          <a:prstGeom prst="roundRect">
            <a:avLst>
              <a:gd name="adj" fmla="val 22222"/>
            </a:avLst>
          </a:prstGeom>
          <a:solidFill>
            <a:srgbClr val="2F6D62"/>
          </a:solidFill>
          <a:ln w="15875">
            <a:solidFill>
              <a:srgbClr val="2F6D62"/>
            </a:solidFill>
            <a:prstDash val="solid"/>
          </a:ln>
        </p:spPr>
      </p:sp>
      <p:sp>
        <p:nvSpPr>
          <p:cNvPr id="9" name="Text 7"/>
          <p:cNvSpPr txBox="1"/>
          <p:nvPr/>
        </p:nvSpPr>
        <p:spPr>
          <a:xfrm>
            <a:off x="603504" y="2291486"/>
            <a:ext cx="117043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thread is running its target</a:t>
            </a:r>
            <a:endParaRPr lang="en-US" sz="800" dirty="0"/>
          </a:p>
        </p:txBody>
      </p:sp>
      <p:sp>
        <p:nvSpPr>
          <p:cNvPr id="10" name="Shape 8"/>
          <p:cNvSpPr/>
          <p:nvPr/>
        </p:nvSpPr>
        <p:spPr>
          <a:xfrm>
            <a:off x="548640" y="2962656"/>
            <a:ext cx="1280160" cy="329184"/>
          </a:xfrm>
          <a:prstGeom prst="roundRect">
            <a:avLst>
              <a:gd name="adj" fmla="val 22222"/>
            </a:avLst>
          </a:prstGeom>
          <a:solidFill>
            <a:srgbClr val="2F6D62"/>
          </a:solidFill>
          <a:ln w="15875">
            <a:solidFill>
              <a:srgbClr val="2F6D62"/>
            </a:solidFill>
            <a:prstDash val="solid"/>
          </a:ln>
        </p:spPr>
      </p:sp>
      <p:sp>
        <p:nvSpPr>
          <p:cNvPr id="11" name="Text 9"/>
          <p:cNvSpPr txBox="1"/>
          <p:nvPr/>
        </p:nvSpPr>
        <p:spPr>
          <a:xfrm>
            <a:off x="603504" y="2995574"/>
            <a:ext cx="117043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The thread has finished</a:t>
            </a:r>
            <a:endParaRPr lang="en-US" sz="800" dirty="0"/>
          </a:p>
        </p:txBody>
      </p:sp>
      <p:sp>
        <p:nvSpPr>
          <p:cNvPr id="12" name="Shape 10"/>
          <p:cNvSpPr/>
          <p:nvPr/>
        </p:nvSpPr>
        <p:spPr>
          <a:xfrm>
            <a:off x="1106424" y="1298448"/>
            <a:ext cx="164592" cy="164592"/>
          </a:xfrm>
          <a:prstGeom prst="ellipse">
            <a:avLst/>
          </a:prstGeom>
          <a:solidFill>
            <a:srgbClr val="2B2622"/>
          </a:solidFill>
          <a:ln w="15875">
            <a:solidFill>
              <a:srgbClr val="2B2622"/>
            </a:solidFill>
            <a:prstDash val="solid"/>
          </a:ln>
        </p:spPr>
      </p:sp>
      <p:sp>
        <p:nvSpPr>
          <p:cNvPr id="13" name="Shape 11"/>
          <p:cNvSpPr/>
          <p:nvPr/>
        </p:nvSpPr>
        <p:spPr>
          <a:xfrm>
            <a:off x="1188720" y="1463040"/>
            <a:ext cx="0" cy="91440"/>
          </a:xfrm>
          <a:prstGeom prst="line">
            <a:avLst/>
          </a:prstGeom>
          <a:noFill/>
          <a:ln w="15875">
            <a:solidFill>
              <a:srgbClr val="6E655C"/>
            </a:solidFill>
            <a:prstDash val="solid"/>
            <a:tailEnd type="triangle"/>
          </a:ln>
        </p:spPr>
      </p:sp>
      <p:sp>
        <p:nvSpPr>
          <p:cNvPr id="14" name="Shape 12"/>
          <p:cNvSpPr/>
          <p:nvPr/>
        </p:nvSpPr>
        <p:spPr>
          <a:xfrm>
            <a:off x="1188720" y="1883664"/>
            <a:ext cx="0" cy="374904"/>
          </a:xfrm>
          <a:prstGeom prst="line">
            <a:avLst/>
          </a:prstGeom>
          <a:noFill/>
          <a:ln w="22225">
            <a:solidFill>
              <a:srgbClr val="D97A14"/>
            </a:solidFill>
            <a:prstDash val="solid"/>
            <a:tailEnd type="triangle"/>
          </a:ln>
        </p:spPr>
      </p:sp>
      <p:sp>
        <p:nvSpPr>
          <p:cNvPr id="15" name="Shape 13"/>
          <p:cNvSpPr/>
          <p:nvPr/>
        </p:nvSpPr>
        <p:spPr>
          <a:xfrm>
            <a:off x="1207008" y="2071116"/>
            <a:ext cx="859536" cy="0"/>
          </a:xfrm>
          <a:prstGeom prst="line">
            <a:avLst/>
          </a:prstGeom>
          <a:noFill/>
          <a:ln w="9525">
            <a:solidFill>
              <a:srgbClr val="C9BFAE"/>
            </a:solidFill>
            <a:prstDash val="dash"/>
          </a:ln>
        </p:spPr>
      </p:sp>
      <p:sp>
        <p:nvSpPr>
          <p:cNvPr id="16" name="Text 14"/>
          <p:cNvSpPr txBox="1"/>
          <p:nvPr/>
        </p:nvSpPr>
        <p:spPr>
          <a:xfrm>
            <a:off x="2103120" y="1939442"/>
            <a:ext cx="13716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start() runs the target in a new thread</a:t>
            </a:r>
            <a:endParaRPr lang="en-US" sz="800" dirty="0"/>
          </a:p>
        </p:txBody>
      </p:sp>
      <p:sp>
        <p:nvSpPr>
          <p:cNvPr id="17" name="Shape 15"/>
          <p:cNvSpPr/>
          <p:nvPr/>
        </p:nvSpPr>
        <p:spPr>
          <a:xfrm>
            <a:off x="1188720" y="2587752"/>
            <a:ext cx="0" cy="374904"/>
          </a:xfrm>
          <a:prstGeom prst="line">
            <a:avLst/>
          </a:prstGeom>
          <a:noFill/>
          <a:ln w="22225">
            <a:solidFill>
              <a:srgbClr val="D97A14"/>
            </a:solidFill>
            <a:prstDash val="solid"/>
            <a:tailEnd type="triangle"/>
          </a:ln>
        </p:spPr>
      </p:sp>
      <p:sp>
        <p:nvSpPr>
          <p:cNvPr id="18" name="Shape 16"/>
          <p:cNvSpPr/>
          <p:nvPr/>
        </p:nvSpPr>
        <p:spPr>
          <a:xfrm>
            <a:off x="1207008" y="2775204"/>
            <a:ext cx="859536" cy="0"/>
          </a:xfrm>
          <a:prstGeom prst="line">
            <a:avLst/>
          </a:prstGeom>
          <a:noFill/>
          <a:ln w="9525">
            <a:solidFill>
              <a:srgbClr val="C9BFAE"/>
            </a:solidFill>
            <a:prstDash val="dash"/>
          </a:ln>
        </p:spPr>
      </p:sp>
      <p:sp>
        <p:nvSpPr>
          <p:cNvPr id="19" name="Text 17"/>
          <p:cNvSpPr txBox="1"/>
          <p:nvPr/>
        </p:nvSpPr>
        <p:spPr>
          <a:xfrm>
            <a:off x="2103120" y="2704795"/>
            <a:ext cx="1371600" cy="140818"/>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The target returns</a:t>
            </a:r>
            <a:endParaRPr lang="en-US" sz="800" dirty="0"/>
          </a:p>
        </p:txBody>
      </p:sp>
      <p:sp>
        <p:nvSpPr>
          <p:cNvPr id="20" name="Shape 18"/>
          <p:cNvSpPr/>
          <p:nvPr/>
        </p:nvSpPr>
        <p:spPr>
          <a:xfrm>
            <a:off x="1828800" y="3127248"/>
            <a:ext cx="365760" cy="0"/>
          </a:xfrm>
          <a:prstGeom prst="line">
            <a:avLst/>
          </a:prstGeom>
          <a:noFill/>
          <a:ln w="22225">
            <a:solidFill>
              <a:srgbClr val="D97A14"/>
            </a:solidFill>
            <a:prstDash val="solid"/>
            <a:tailEnd type="triangle"/>
          </a:ln>
        </p:spPr>
      </p:sp>
      <p:sp>
        <p:nvSpPr>
          <p:cNvPr id="21" name="Shape 19"/>
          <p:cNvSpPr/>
          <p:nvPr/>
        </p:nvSpPr>
        <p:spPr>
          <a:xfrm>
            <a:off x="2194560" y="2999232"/>
            <a:ext cx="256032" cy="256032"/>
          </a:xfrm>
          <a:prstGeom prst="ellipse">
            <a:avLst/>
          </a:prstGeom>
          <a:solidFill>
            <a:srgbClr val="FFFFFF"/>
          </a:solidFill>
          <a:ln w="25400">
            <a:solidFill>
              <a:srgbClr val="2B2622"/>
            </a:solidFill>
            <a:prstDash val="solid"/>
          </a:ln>
        </p:spPr>
      </p:sp>
      <p:sp>
        <p:nvSpPr>
          <p:cNvPr id="22" name="Shape 20"/>
          <p:cNvSpPr/>
          <p:nvPr/>
        </p:nvSpPr>
        <p:spPr>
          <a:xfrm>
            <a:off x="2249424" y="3054096"/>
            <a:ext cx="146304" cy="146304"/>
          </a:xfrm>
          <a:prstGeom prst="ellipse">
            <a:avLst/>
          </a:prstGeom>
          <a:solidFill>
            <a:srgbClr val="2B2622"/>
          </a:solidFill>
          <a:ln w="15875">
            <a:solidFill>
              <a:srgbClr val="2B2622"/>
            </a:solidFill>
            <a:prstDash val="solid"/>
          </a:ln>
        </p:spPr>
      </p:sp>
      <p:sp>
        <p:nvSpPr>
          <p:cNvPr id="23" name="Text 21"/>
          <p:cNvSpPr txBox="1"/>
          <p:nvPr/>
        </p:nvSpPr>
        <p:spPr>
          <a:xfrm>
            <a:off x="457200" y="3319272"/>
            <a:ext cx="27432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TheLifeOfAThread - LifeCycle pattern, 15 of 16 words grounded in the chapter's text</a:t>
            </a:r>
            <a:endParaRPr lang="en-US" sz="850" dirty="0"/>
          </a:p>
        </p:txBody>
      </p:sp>
      <p:sp>
        <p:nvSpPr>
          <p:cNvPr id="24" name="Text 22"/>
          <p:cNvSpPr txBox="1"/>
          <p:nvPr/>
        </p:nvSpPr>
        <p:spPr>
          <a:xfrm>
            <a:off x="4334256" y="1143000"/>
            <a:ext cx="43525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lifeCut_v1_0_0.py, lines 1 to 16 of 16</a:t>
            </a:r>
            <a:endParaRPr lang="en-US" sz="1000" dirty="0"/>
          </a:p>
        </p:txBody>
      </p:sp>
      <p:sp>
        <p:nvSpPr>
          <p:cNvPr id="25" name="Shape 23"/>
          <p:cNvSpPr/>
          <p:nvPr/>
        </p:nvSpPr>
        <p:spPr>
          <a:xfrm>
            <a:off x="4334256" y="1417320"/>
            <a:ext cx="4352544" cy="2962656"/>
          </a:xfrm>
          <a:prstGeom prst="roundRect">
            <a:avLst>
              <a:gd name="adj" fmla="val 3086"/>
            </a:avLst>
          </a:prstGeom>
          <a:solidFill>
            <a:srgbClr val="23272E"/>
          </a:solidFill>
          <a:ln w="12700">
            <a:solidFill>
              <a:srgbClr val="23272E"/>
            </a:solidFill>
            <a:prstDash val="solid"/>
          </a:ln>
        </p:spPr>
      </p:sp>
      <p:sp>
        <p:nvSpPr>
          <p:cNvPr id="26" name="Text 24"/>
          <p:cNvSpPr txBox="1"/>
          <p:nvPr/>
        </p:nvSpPr>
        <p:spPr>
          <a:xfrm>
            <a:off x="4517136" y="1536192"/>
            <a:ext cx="3986784" cy="2724912"/>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threading</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f(): pass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a = threading.Thread(target=f)</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b = threading.Thread(target=f)</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c = threading.Thread(target=f, name=</a:t>
            </a:r>
            <a:r>
              <a:rPr lang="en-US" sz="750" dirty="0">
                <a:solidFill>
                  <a:srgbClr val="9ECBFF"/>
                </a:solidFill>
                <a:latin typeface="Courier New" pitchFamily="34" charset="0"/>
                <a:ea typeface="Courier New" pitchFamily="34" charset="-122"/>
                <a:cs typeface="Courier New" pitchFamily="34" charset="-120"/>
              </a:rPr>
              <a:t>'copier'</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print(a.name, </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 b.name, </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 c.name)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a.start(); a.join()</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try: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a.start()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except RuntimeError as 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'RuntimeError:'</a:t>
            </a:r>
            <a:r>
              <a:rPr lang="en-US" sz="750" dirty="0">
                <a:solidFill>
                  <a:srgbClr val="E6EDF3"/>
                </a:solidFill>
                <a:latin typeface="Courier New" pitchFamily="34" charset="0"/>
                <a:ea typeface="Courier New" pitchFamily="34" charset="-122"/>
                <a:cs typeface="Courier New" pitchFamily="34" charset="-120"/>
              </a:rPr>
              <a:t>, e)</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boom():</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raise ValueError(</a:t>
            </a:r>
            <a:r>
              <a:rPr lang="en-US" sz="750" dirty="0">
                <a:solidFill>
                  <a:srgbClr val="9ECBFF"/>
                </a:solidFill>
                <a:latin typeface="Courier New" pitchFamily="34" charset="0"/>
                <a:ea typeface="Courier New" pitchFamily="34" charset="-122"/>
                <a:cs typeface="Courier New" pitchFamily="34" charset="-120"/>
              </a:rPr>
              <a:t>'boom'</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threading.excepthook = </a:t>
            </a:r>
            <a:r>
              <a:rPr lang="en-US" sz="750" b="1" dirty="0">
                <a:solidFill>
                  <a:srgbClr val="F2A860"/>
                </a:solidFill>
                <a:latin typeface="Courier New" pitchFamily="34" charset="0"/>
                <a:ea typeface="Courier New" pitchFamily="34" charset="-122"/>
                <a:cs typeface="Courier New" pitchFamily="34" charset="-120"/>
              </a:rPr>
              <a:t>lambda</a:t>
            </a:r>
            <a:r>
              <a:rPr lang="en-US" sz="750" dirty="0">
                <a:solidFill>
                  <a:srgbClr val="E6EDF3"/>
                </a:solidFill>
                <a:latin typeface="Courier New" pitchFamily="34" charset="0"/>
                <a:ea typeface="Courier New" pitchFamily="34" charset="-122"/>
                <a:cs typeface="Courier New" pitchFamily="34" charset="-120"/>
              </a:rPr>
              <a:t> a: print(</a:t>
            </a:r>
            <a:r>
              <a:rPr lang="en-US" sz="750" dirty="0">
                <a:solidFill>
                  <a:srgbClr val="9ECBFF"/>
                </a:solidFill>
                <a:latin typeface="Courier New" pitchFamily="34" charset="0"/>
                <a:ea typeface="Courier New" pitchFamily="34" charset="-122"/>
                <a:cs typeface="Courier New" pitchFamily="34" charset="-120"/>
              </a:rPr>
              <a:t>'hook:'</a:t>
            </a:r>
            <a:r>
              <a:rPr lang="en-US" sz="750" dirty="0">
                <a:solidFill>
                  <a:srgbClr val="E6EDF3"/>
                </a:solidFill>
                <a:latin typeface="Courier New" pitchFamily="34" charset="0"/>
                <a:ea typeface="Courier New" pitchFamily="34" charset="-122"/>
                <a:cs typeface="Courier New" pitchFamily="34" charset="-120"/>
              </a:rPr>
              <a:t>, repr(a.exc_value))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 = threading.Thread(target=boom); t.start(); t.join()</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'main continues'</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Thread-1 (f) | Thread-2 (f) | copier</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RuntimeError: threads can only be started once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hook: ValueError('boom')</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main continues</a:t>
            </a:r>
            <a:endParaRPr lang="en-US" sz="750" dirty="0"/>
          </a:p>
        </p:txBody>
      </p:sp>
      <p:sp>
        <p:nvSpPr>
          <p:cNvPr id="27" name="Text 25"/>
          <p:cNvSpPr txBox="1"/>
          <p:nvPr/>
        </p:nvSpPr>
        <p:spPr>
          <a:xfrm>
            <a:off x="457200" y="3712464"/>
            <a:ext cx="27432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Names count every thread made so far, Thread-1 (f), Thread-2 (f); name= chooses one.</a:t>
            </a:r>
            <a:endParaRPr lang="en-US" sz="850" dirty="0"/>
          </a:p>
        </p:txBody>
      </p:sp>
      <p:sp>
        <p:nvSpPr>
          <p:cNvPr id="28" name="Text 26"/>
          <p:cNvSpPr txBox="1"/>
          <p:nvPr/>
        </p:nvSpPr>
        <p:spPr>
          <a:xfrm>
            <a:off x="457200" y="4059936"/>
            <a:ext cx="27432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start() works once: a second call raised RuntimeError.</a:t>
            </a:r>
            <a:endParaRPr lang="en-US" sz="8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Thread object starts once; its errors stay in its own thread.</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join(): waiting for a thread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join() waits; join(0.1) only asks, and a thread never started cannot be joined</a:t>
            </a:r>
            <a:endParaRPr lang="en-US" sz="1300" dirty="0"/>
          </a:p>
        </p:txBody>
      </p:sp>
      <p:sp>
        <p:nvSpPr>
          <p:cNvPr id="6" name="Shape 4"/>
          <p:cNvSpPr/>
          <p:nvPr/>
        </p:nvSpPr>
        <p:spPr>
          <a:xfrm>
            <a:off x="502920" y="1376172"/>
            <a:ext cx="1417320" cy="365760"/>
          </a:xfrm>
          <a:prstGeom prst="roundRect">
            <a:avLst>
              <a:gd name="adj" fmla="val 20000"/>
            </a:avLst>
          </a:prstGeom>
          <a:solidFill>
            <a:srgbClr val="F2ECE1"/>
          </a:solidFill>
          <a:ln w="15875">
            <a:solidFill>
              <a:srgbClr val="2F6D62"/>
            </a:solidFill>
            <a:prstDash val="solid"/>
          </a:ln>
        </p:spPr>
      </p:sp>
      <p:sp>
        <p:nvSpPr>
          <p:cNvPr id="7" name="Text 5"/>
          <p:cNvSpPr txBox="1"/>
          <p:nvPr/>
        </p:nvSpPr>
        <p:spPr>
          <a:xfrm>
            <a:off x="566928" y="1427378"/>
            <a:ext cx="12893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Create a Thread object with a target</a:t>
            </a:r>
            <a:endParaRPr lang="en-US" sz="800" dirty="0"/>
          </a:p>
        </p:txBody>
      </p:sp>
      <p:sp>
        <p:nvSpPr>
          <p:cNvPr id="8" name="Shape 6"/>
          <p:cNvSpPr/>
          <p:nvPr/>
        </p:nvSpPr>
        <p:spPr>
          <a:xfrm>
            <a:off x="502920" y="1933956"/>
            <a:ext cx="1417320" cy="365760"/>
          </a:xfrm>
          <a:prstGeom prst="roundRect">
            <a:avLst>
              <a:gd name="adj" fmla="val 20000"/>
            </a:avLst>
          </a:prstGeom>
          <a:solidFill>
            <a:srgbClr val="F2ECE1"/>
          </a:solidFill>
          <a:ln w="15875">
            <a:solidFill>
              <a:srgbClr val="2F6D62"/>
            </a:solidFill>
            <a:prstDash val="solid"/>
          </a:ln>
        </p:spPr>
      </p:sp>
      <p:sp>
        <p:nvSpPr>
          <p:cNvPr id="9" name="Text 7"/>
          <p:cNvSpPr txBox="1"/>
          <p:nvPr/>
        </p:nvSpPr>
        <p:spPr>
          <a:xfrm>
            <a:off x="566928" y="1985162"/>
            <a:ext cx="12893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start() on the thread</a:t>
            </a:r>
            <a:endParaRPr lang="en-US" sz="800" dirty="0"/>
          </a:p>
        </p:txBody>
      </p:sp>
      <p:sp>
        <p:nvSpPr>
          <p:cNvPr id="10" name="Shape 8"/>
          <p:cNvSpPr/>
          <p:nvPr/>
        </p:nvSpPr>
        <p:spPr>
          <a:xfrm>
            <a:off x="502920" y="2491740"/>
            <a:ext cx="1417320" cy="365760"/>
          </a:xfrm>
          <a:prstGeom prst="roundRect">
            <a:avLst>
              <a:gd name="adj" fmla="val 20000"/>
            </a:avLst>
          </a:prstGeom>
          <a:solidFill>
            <a:srgbClr val="F2ECE1"/>
          </a:solidFill>
          <a:ln w="15875">
            <a:solidFill>
              <a:srgbClr val="2F6D62"/>
            </a:solidFill>
            <a:prstDash val="solid"/>
          </a:ln>
        </p:spPr>
      </p:sp>
      <p:sp>
        <p:nvSpPr>
          <p:cNvPr id="11" name="Text 9"/>
          <p:cNvSpPr txBox="1"/>
          <p:nvPr/>
        </p:nvSpPr>
        <p:spPr>
          <a:xfrm>
            <a:off x="566928" y="2604211"/>
            <a:ext cx="12893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The main thread goes on</a:t>
            </a:r>
            <a:endParaRPr lang="en-US" sz="800" dirty="0"/>
          </a:p>
        </p:txBody>
      </p:sp>
      <p:sp>
        <p:nvSpPr>
          <p:cNvPr id="12" name="Shape 10"/>
          <p:cNvSpPr/>
          <p:nvPr/>
        </p:nvSpPr>
        <p:spPr>
          <a:xfrm>
            <a:off x="502920" y="2994660"/>
            <a:ext cx="1417320" cy="475488"/>
          </a:xfrm>
          <a:prstGeom prst="hexagon">
            <a:avLst/>
          </a:prstGeom>
          <a:solidFill>
            <a:srgbClr val="D97A14"/>
          </a:solidFill>
          <a:ln w="15875">
            <a:solidFill>
              <a:srgbClr val="D97A14"/>
            </a:solidFill>
            <a:prstDash val="solid"/>
          </a:ln>
        </p:spPr>
      </p:sp>
      <p:sp>
        <p:nvSpPr>
          <p:cNvPr id="13" name="Text 11"/>
          <p:cNvSpPr txBox="1"/>
          <p:nvPr/>
        </p:nvSpPr>
        <p:spPr>
          <a:xfrm>
            <a:off x="658368" y="3100730"/>
            <a:ext cx="110642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Was start() called before join()?</a:t>
            </a:r>
            <a:endParaRPr lang="en-US" sz="800" dirty="0"/>
          </a:p>
        </p:txBody>
      </p:sp>
      <p:sp>
        <p:nvSpPr>
          <p:cNvPr id="14" name="Shape 12"/>
          <p:cNvSpPr/>
          <p:nvPr/>
        </p:nvSpPr>
        <p:spPr>
          <a:xfrm>
            <a:off x="502920" y="3607308"/>
            <a:ext cx="1417320" cy="365760"/>
          </a:xfrm>
          <a:prstGeom prst="roundRect">
            <a:avLst>
              <a:gd name="adj" fmla="val 20000"/>
            </a:avLst>
          </a:prstGeom>
          <a:solidFill>
            <a:srgbClr val="F2ECE1"/>
          </a:solidFill>
          <a:ln w="15875">
            <a:solidFill>
              <a:srgbClr val="2F6D62"/>
            </a:solidFill>
            <a:prstDash val="solid"/>
          </a:ln>
        </p:spPr>
      </p:sp>
      <p:sp>
        <p:nvSpPr>
          <p:cNvPr id="15" name="Text 13"/>
          <p:cNvSpPr txBox="1"/>
          <p:nvPr/>
        </p:nvSpPr>
        <p:spPr>
          <a:xfrm>
            <a:off x="566928" y="3658514"/>
            <a:ext cx="12893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join() raises RuntimeError</a:t>
            </a:r>
            <a:endParaRPr lang="en-US" sz="800" dirty="0"/>
          </a:p>
        </p:txBody>
      </p:sp>
      <p:sp>
        <p:nvSpPr>
          <p:cNvPr id="16" name="Shape 14"/>
          <p:cNvSpPr/>
          <p:nvPr/>
        </p:nvSpPr>
        <p:spPr>
          <a:xfrm>
            <a:off x="2377440" y="3049524"/>
            <a:ext cx="1417320" cy="365760"/>
          </a:xfrm>
          <a:prstGeom prst="roundRect">
            <a:avLst>
              <a:gd name="adj" fmla="val 20000"/>
            </a:avLst>
          </a:prstGeom>
          <a:solidFill>
            <a:srgbClr val="F2ECE1"/>
          </a:solidFill>
          <a:ln w="15875">
            <a:solidFill>
              <a:srgbClr val="2F6D62"/>
            </a:solidFill>
            <a:prstDash val="solid"/>
          </a:ln>
        </p:spPr>
      </p:sp>
      <p:sp>
        <p:nvSpPr>
          <p:cNvPr id="17" name="Text 15"/>
          <p:cNvSpPr txBox="1"/>
          <p:nvPr/>
        </p:nvSpPr>
        <p:spPr>
          <a:xfrm>
            <a:off x="2441448" y="3100730"/>
            <a:ext cx="12893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join() waits until the thread has finished</a:t>
            </a:r>
            <a:endParaRPr lang="en-US" sz="800" dirty="0"/>
          </a:p>
        </p:txBody>
      </p:sp>
      <p:sp>
        <p:nvSpPr>
          <p:cNvPr id="18" name="Shape 16"/>
          <p:cNvSpPr/>
          <p:nvPr/>
        </p:nvSpPr>
        <p:spPr>
          <a:xfrm>
            <a:off x="2994660" y="1467612"/>
            <a:ext cx="182880" cy="182880"/>
          </a:xfrm>
          <a:prstGeom prst="ellipse">
            <a:avLst/>
          </a:prstGeom>
          <a:solidFill>
            <a:srgbClr val="2B2622"/>
          </a:solidFill>
          <a:ln w="15875">
            <a:solidFill>
              <a:srgbClr val="2B2622"/>
            </a:solidFill>
            <a:prstDash val="solid"/>
          </a:ln>
        </p:spPr>
      </p:sp>
      <p:sp>
        <p:nvSpPr>
          <p:cNvPr id="19" name="Shape 17"/>
          <p:cNvSpPr/>
          <p:nvPr/>
        </p:nvSpPr>
        <p:spPr>
          <a:xfrm>
            <a:off x="2958084" y="3662172"/>
            <a:ext cx="256032" cy="256032"/>
          </a:xfrm>
          <a:prstGeom prst="ellipse">
            <a:avLst/>
          </a:prstGeom>
          <a:solidFill>
            <a:srgbClr val="FFFFFF"/>
          </a:solidFill>
          <a:ln w="25400">
            <a:solidFill>
              <a:srgbClr val="2B2622"/>
            </a:solidFill>
            <a:prstDash val="solid"/>
          </a:ln>
        </p:spPr>
      </p:sp>
      <p:sp>
        <p:nvSpPr>
          <p:cNvPr id="20" name="Shape 18"/>
          <p:cNvSpPr/>
          <p:nvPr/>
        </p:nvSpPr>
        <p:spPr>
          <a:xfrm>
            <a:off x="3012948" y="3717036"/>
            <a:ext cx="146304" cy="146304"/>
          </a:xfrm>
          <a:prstGeom prst="ellipse">
            <a:avLst/>
          </a:prstGeom>
          <a:solidFill>
            <a:srgbClr val="2B2622"/>
          </a:solidFill>
          <a:ln w="15875">
            <a:solidFill>
              <a:srgbClr val="2B2622"/>
            </a:solidFill>
            <a:prstDash val="solid"/>
          </a:ln>
        </p:spPr>
      </p:sp>
      <p:sp>
        <p:nvSpPr>
          <p:cNvPr id="21" name="Shape 19"/>
          <p:cNvSpPr/>
          <p:nvPr/>
        </p:nvSpPr>
        <p:spPr>
          <a:xfrm flipH="1">
            <a:off x="1920240" y="1559052"/>
            <a:ext cx="1074420" cy="0"/>
          </a:xfrm>
          <a:prstGeom prst="line">
            <a:avLst/>
          </a:prstGeom>
          <a:noFill/>
          <a:ln w="15875">
            <a:solidFill>
              <a:srgbClr val="6E655C"/>
            </a:solidFill>
            <a:prstDash val="solid"/>
            <a:tailEnd type="triangle"/>
          </a:ln>
        </p:spPr>
      </p:sp>
      <p:sp>
        <p:nvSpPr>
          <p:cNvPr id="22" name="Shape 20"/>
          <p:cNvSpPr/>
          <p:nvPr/>
        </p:nvSpPr>
        <p:spPr>
          <a:xfrm>
            <a:off x="1211580" y="1741932"/>
            <a:ext cx="0" cy="192024"/>
          </a:xfrm>
          <a:prstGeom prst="line">
            <a:avLst/>
          </a:prstGeom>
          <a:noFill/>
          <a:ln w="15875">
            <a:solidFill>
              <a:srgbClr val="6E655C"/>
            </a:solidFill>
            <a:prstDash val="solid"/>
            <a:tailEnd type="triangle"/>
          </a:ln>
        </p:spPr>
      </p:sp>
      <p:sp>
        <p:nvSpPr>
          <p:cNvPr id="23" name="Shape 21"/>
          <p:cNvSpPr/>
          <p:nvPr/>
        </p:nvSpPr>
        <p:spPr>
          <a:xfrm>
            <a:off x="1211580" y="2299716"/>
            <a:ext cx="0" cy="192024"/>
          </a:xfrm>
          <a:prstGeom prst="line">
            <a:avLst/>
          </a:prstGeom>
          <a:noFill/>
          <a:ln w="15875">
            <a:solidFill>
              <a:srgbClr val="6E655C"/>
            </a:solidFill>
            <a:prstDash val="solid"/>
            <a:tailEnd type="triangle"/>
          </a:ln>
        </p:spPr>
      </p:sp>
      <p:sp>
        <p:nvSpPr>
          <p:cNvPr id="24" name="Shape 22"/>
          <p:cNvSpPr/>
          <p:nvPr/>
        </p:nvSpPr>
        <p:spPr>
          <a:xfrm>
            <a:off x="1211580" y="2857500"/>
            <a:ext cx="0" cy="137160"/>
          </a:xfrm>
          <a:prstGeom prst="line">
            <a:avLst/>
          </a:prstGeom>
          <a:noFill/>
          <a:ln w="15875">
            <a:solidFill>
              <a:srgbClr val="6E655C"/>
            </a:solidFill>
            <a:prstDash val="solid"/>
            <a:tailEnd type="triangle"/>
          </a:ln>
        </p:spPr>
      </p:sp>
      <p:sp>
        <p:nvSpPr>
          <p:cNvPr id="25" name="Shape 23"/>
          <p:cNvSpPr/>
          <p:nvPr/>
        </p:nvSpPr>
        <p:spPr>
          <a:xfrm>
            <a:off x="1920240" y="3232404"/>
            <a:ext cx="457200" cy="0"/>
          </a:xfrm>
          <a:prstGeom prst="line">
            <a:avLst/>
          </a:prstGeom>
          <a:noFill/>
          <a:ln w="15875">
            <a:solidFill>
              <a:srgbClr val="6E655C"/>
            </a:solidFill>
            <a:prstDash val="solid"/>
            <a:tailEnd type="triangle"/>
          </a:ln>
        </p:spPr>
      </p:sp>
      <p:sp>
        <p:nvSpPr>
          <p:cNvPr id="26" name="Text 24"/>
          <p:cNvSpPr txBox="1"/>
          <p:nvPr/>
        </p:nvSpPr>
        <p:spPr>
          <a:xfrm>
            <a:off x="1965960" y="304952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1211580" y="3470148"/>
            <a:ext cx="0" cy="137160"/>
          </a:xfrm>
          <a:prstGeom prst="line">
            <a:avLst/>
          </a:prstGeom>
          <a:noFill/>
          <a:ln w="15875">
            <a:solidFill>
              <a:srgbClr val="6E655C"/>
            </a:solidFill>
            <a:prstDash val="solid"/>
            <a:tailEnd type="triangle"/>
          </a:ln>
        </p:spPr>
      </p:sp>
      <p:sp>
        <p:nvSpPr>
          <p:cNvPr id="28" name="Text 26"/>
          <p:cNvSpPr txBox="1"/>
          <p:nvPr/>
        </p:nvSpPr>
        <p:spPr>
          <a:xfrm>
            <a:off x="1266444" y="345643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9" name="Shape 27"/>
          <p:cNvSpPr/>
          <p:nvPr/>
        </p:nvSpPr>
        <p:spPr>
          <a:xfrm>
            <a:off x="3086100" y="3415284"/>
            <a:ext cx="0" cy="246888"/>
          </a:xfrm>
          <a:prstGeom prst="line">
            <a:avLst/>
          </a:prstGeom>
          <a:noFill/>
          <a:ln w="15875">
            <a:solidFill>
              <a:srgbClr val="6E655C"/>
            </a:solidFill>
            <a:prstDash val="solid"/>
            <a:tailEnd type="triangle"/>
          </a:ln>
        </p:spPr>
      </p:sp>
      <p:sp>
        <p:nvSpPr>
          <p:cNvPr id="30" name="Shape 28"/>
          <p:cNvSpPr/>
          <p:nvPr/>
        </p:nvSpPr>
        <p:spPr>
          <a:xfrm>
            <a:off x="1920240" y="3790188"/>
            <a:ext cx="1037844" cy="0"/>
          </a:xfrm>
          <a:prstGeom prst="line">
            <a:avLst/>
          </a:prstGeom>
          <a:noFill/>
          <a:ln w="15875">
            <a:solidFill>
              <a:srgbClr val="6E655C"/>
            </a:solidFill>
            <a:prstDash val="solid"/>
            <a:tailEnd type="triangle"/>
          </a:ln>
        </p:spPr>
      </p:sp>
      <p:sp>
        <p:nvSpPr>
          <p:cNvPr id="31" name="Text 29"/>
          <p:cNvSpPr txBox="1"/>
          <p:nvPr/>
        </p:nvSpPr>
        <p:spPr>
          <a:xfrm>
            <a:off x="457200" y="4096512"/>
            <a:ext cx="33832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StartingAndJoiningAThread - Workflow pattern, 23 of 24 words grounded in the chapter's text</a:t>
            </a:r>
            <a:endParaRPr lang="en-US" sz="850" dirty="0"/>
          </a:p>
        </p:txBody>
      </p:sp>
      <p:sp>
        <p:nvSpPr>
          <p:cNvPr id="32" name="Text 30"/>
          <p:cNvSpPr txBox="1"/>
          <p:nvPr/>
        </p:nvSpPr>
        <p:spPr>
          <a:xfrm>
            <a:off x="4334256" y="1143000"/>
            <a:ext cx="43525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joinCut_v1_0_0.py, lines 1 to 11 of 11</a:t>
            </a:r>
            <a:endParaRPr lang="en-US" sz="1000" dirty="0"/>
          </a:p>
        </p:txBody>
      </p:sp>
      <p:sp>
        <p:nvSpPr>
          <p:cNvPr id="33" name="Shape 31"/>
          <p:cNvSpPr/>
          <p:nvPr/>
        </p:nvSpPr>
        <p:spPr>
          <a:xfrm>
            <a:off x="4334256" y="1417320"/>
            <a:ext cx="4352544" cy="2267712"/>
          </a:xfrm>
          <a:prstGeom prst="roundRect">
            <a:avLst>
              <a:gd name="adj" fmla="val 4032"/>
            </a:avLst>
          </a:prstGeom>
          <a:solidFill>
            <a:srgbClr val="23272E"/>
          </a:solidFill>
          <a:ln w="12700">
            <a:solidFill>
              <a:srgbClr val="23272E"/>
            </a:solidFill>
            <a:prstDash val="solid"/>
          </a:ln>
        </p:spPr>
      </p:sp>
      <p:sp>
        <p:nvSpPr>
          <p:cNvPr id="34" name="Text 32"/>
          <p:cNvSpPr txBox="1"/>
          <p:nvPr/>
        </p:nvSpPr>
        <p:spPr>
          <a:xfrm>
            <a:off x="4517136" y="1536192"/>
            <a:ext cx="3986784" cy="2029968"/>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threading, time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 = threading.Thread(target=time.sleep, args=[</a:t>
            </a:r>
            <a:r>
              <a:rPr lang="en-US" sz="800" dirty="0">
                <a:solidFill>
                  <a:srgbClr val="FFD28A"/>
                </a:solidFill>
                <a:latin typeface="Courier New" pitchFamily="34" charset="0"/>
                <a:ea typeface="Courier New" pitchFamily="34" charset="-122"/>
                <a:cs typeface="Courier New" pitchFamily="34" charset="-120"/>
              </a:rPr>
              <a:t>0.6</a:t>
            </a:r>
            <a:r>
              <a:rPr lang="en-US" sz="800" dirty="0">
                <a:solidFill>
                  <a:srgbClr val="E6EDF3"/>
                </a:solidFill>
                <a:latin typeface="Courier New" pitchFamily="34" charset="0"/>
                <a:ea typeface="Courier New" pitchFamily="34" charset="-122"/>
                <a:cs typeface="Courier New" pitchFamily="34" charset="-120"/>
              </a:rPr>
              <a:t>]); t.start()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 = t.join(</a:t>
            </a:r>
            <a:r>
              <a:rPr lang="en-US" sz="800" dirty="0">
                <a:solidFill>
                  <a:srgbClr val="FFD28A"/>
                </a:solidFill>
                <a:latin typeface="Courier New" pitchFamily="34" charset="0"/>
                <a:ea typeface="Courier New" pitchFamily="34" charset="-122"/>
                <a:cs typeface="Courier New" pitchFamily="34" charset="-120"/>
              </a:rPr>
              <a:t>0.1</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t>
            </a:r>
            <a:r>
              <a:rPr lang="en-US" sz="800" dirty="0">
                <a:solidFill>
                  <a:srgbClr val="9ECBFF"/>
                </a:solidFill>
                <a:latin typeface="Courier New" pitchFamily="34" charset="0"/>
                <a:ea typeface="Courier New" pitchFamily="34" charset="-122"/>
                <a:cs typeface="Courier New" pitchFamily="34" charset="-120"/>
              </a:rPr>
              <a:t>'join(0.1) returned'</a:t>
            </a:r>
            <a:r>
              <a:rPr lang="en-US" sz="800" dirty="0">
                <a:solidFill>
                  <a:srgbClr val="E6EDF3"/>
                </a:solidFill>
                <a:latin typeface="Courier New" pitchFamily="34" charset="0"/>
                <a:ea typeface="Courier New" pitchFamily="34" charset="-122"/>
                <a:cs typeface="Courier New" pitchFamily="34" charset="-120"/>
              </a:rPr>
              <a:t>, r, </a:t>
            </a:r>
            <a:r>
              <a:rPr lang="en-US" sz="800" dirty="0">
                <a:solidFill>
                  <a:srgbClr val="9ECBFF"/>
                </a:solidFill>
                <a:latin typeface="Courier New" pitchFamily="34" charset="0"/>
                <a:ea typeface="Courier New" pitchFamily="34" charset="-122"/>
                <a:cs typeface="Courier New" pitchFamily="34" charset="-120"/>
              </a:rPr>
              <a:t>'| alive:'</a:t>
            </a:r>
            <a:r>
              <a:rPr lang="en-US" sz="800" dirty="0">
                <a:solidFill>
                  <a:srgbClr val="E6EDF3"/>
                </a:solidFill>
                <a:latin typeface="Courier New" pitchFamily="34" charset="0"/>
                <a:ea typeface="Courier New" pitchFamily="34" charset="-122"/>
                <a:cs typeface="Courier New" pitchFamily="34" charset="-120"/>
              </a:rPr>
              <a:t>, t.is_alive())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t.join()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t>
            </a:r>
            <a:r>
              <a:rPr lang="en-US" sz="800" dirty="0">
                <a:solidFill>
                  <a:srgbClr val="9ECBFF"/>
                </a:solidFill>
                <a:latin typeface="Courier New" pitchFamily="34" charset="0"/>
                <a:ea typeface="Courier New" pitchFamily="34" charset="-122"/>
                <a:cs typeface="Courier New" pitchFamily="34" charset="-120"/>
              </a:rPr>
              <a:t>'join() waited | alive:'</a:t>
            </a:r>
            <a:r>
              <a:rPr lang="en-US" sz="800" dirty="0">
                <a:solidFill>
                  <a:srgbClr val="E6EDF3"/>
                </a:solidFill>
                <a:latin typeface="Courier New" pitchFamily="34" charset="0"/>
                <a:ea typeface="Courier New" pitchFamily="34" charset="-122"/>
                <a:cs typeface="Courier New" pitchFamily="34" charset="-120"/>
              </a:rPr>
              <a:t>, t.is_alive())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u = threading.Thread(target=print)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try: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u.join()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except RuntimeError as 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a:t>
            </a:r>
            <a:r>
              <a:rPr lang="en-US" sz="800" dirty="0">
                <a:solidFill>
                  <a:srgbClr val="9ECBFF"/>
                </a:solidFill>
                <a:latin typeface="Courier New" pitchFamily="34" charset="0"/>
                <a:ea typeface="Courier New" pitchFamily="34" charset="-122"/>
                <a:cs typeface="Courier New" pitchFamily="34" charset="-120"/>
              </a:rPr>
              <a:t>'RuntimeError:'</a:t>
            </a:r>
            <a:r>
              <a:rPr lang="en-US" sz="800" dirty="0">
                <a:solidFill>
                  <a:srgbClr val="E6EDF3"/>
                </a:solidFill>
                <a:latin typeface="Courier New" pitchFamily="34" charset="0"/>
                <a:ea typeface="Courier New" pitchFamily="34" charset="-122"/>
                <a:cs typeface="Courier New" pitchFamily="34" charset="-120"/>
              </a:rPr>
              <a:t>, 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join(0.1) returned None | alive: True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join() waited | alive: False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RuntimeError: cannot join thread before it is started</a:t>
            </a:r>
            <a:endParaRPr lang="en-US" sz="800" dirty="0"/>
          </a:p>
        </p:txBody>
      </p:sp>
      <p:sp>
        <p:nvSpPr>
          <p:cNvPr id="35" name="Text 33"/>
          <p:cNvSpPr txBox="1"/>
          <p:nvPr/>
        </p:nvSpPr>
        <p:spPr>
          <a:xfrm>
            <a:off x="4334256" y="3776472"/>
            <a:ext cx="4352544"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join(timeout) always returns None: only is_alive() tells whether the thread has finished.</a:t>
            </a:r>
            <a:endParaRPr lang="en-US" sz="900" dirty="0"/>
          </a:p>
        </p:txBody>
      </p:sp>
      <p:sp>
        <p:nvSpPr>
          <p:cNvPr id="36" name="Text 34"/>
          <p:cNvSpPr txBox="1"/>
          <p:nvPr/>
        </p:nvSpPr>
        <p:spPr>
          <a:xfrm>
            <a:off x="4334256" y="4151376"/>
            <a:ext cx="4352544"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join() on a Thread that was never started raises RuntimeError, the error the chapter's printed downloader meets.</a:t>
            </a:r>
            <a:endParaRPr lang="en-US" sz="90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join() waits; with a timeout it only asks, and is_alive() answers.</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Daemon threads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daemon thread does not keep the program alive; the flag is fixed at start()</a:t>
            </a:r>
            <a:endParaRPr lang="en-US" sz="1300" dirty="0"/>
          </a:p>
        </p:txBody>
      </p:sp>
      <p:sp>
        <p:nvSpPr>
          <p:cNvPr id="6" name="Text 4"/>
          <p:cNvSpPr txBox="1"/>
          <p:nvPr/>
        </p:nvSpPr>
        <p:spPr>
          <a:xfrm>
            <a:off x="457200" y="1143000"/>
            <a:ext cx="410565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daemonCut_v1_0_0.py, lines 1 to 15 of 15</a:t>
            </a:r>
            <a:endParaRPr lang="en-US" sz="1000" dirty="0"/>
          </a:p>
        </p:txBody>
      </p:sp>
      <p:sp>
        <p:nvSpPr>
          <p:cNvPr id="7" name="Shape 5"/>
          <p:cNvSpPr/>
          <p:nvPr/>
        </p:nvSpPr>
        <p:spPr>
          <a:xfrm>
            <a:off x="457200" y="1417320"/>
            <a:ext cx="4105656" cy="2697480"/>
          </a:xfrm>
          <a:prstGeom prst="roundRect">
            <a:avLst>
              <a:gd name="adj" fmla="val 3390"/>
            </a:avLst>
          </a:prstGeom>
          <a:solidFill>
            <a:srgbClr val="23272E"/>
          </a:solidFill>
          <a:ln w="12700">
            <a:solidFill>
              <a:srgbClr val="23272E"/>
            </a:solidFill>
            <a:prstDash val="solid"/>
          </a:ln>
        </p:spPr>
      </p:sp>
      <p:sp>
        <p:nvSpPr>
          <p:cNvPr id="8" name="Text 6"/>
          <p:cNvSpPr txBox="1"/>
          <p:nvPr/>
        </p:nvSpPr>
        <p:spPr>
          <a:xfrm>
            <a:off x="640080" y="1536192"/>
            <a:ext cx="3739896" cy="2459736"/>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subprocess, sys, threading, time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tmpl = </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a:t>
            </a: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threading, time</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f():</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time.sleep(</a:t>
            </a:r>
            <a:r>
              <a:rPr lang="en-US" sz="750" dirty="0">
                <a:solidFill>
                  <a:srgbClr val="FFD28A"/>
                </a:solidFill>
                <a:latin typeface="Courier New" pitchFamily="34" charset="0"/>
                <a:ea typeface="Courier New" pitchFamily="34" charset="-122"/>
                <a:cs typeface="Courier New" pitchFamily="34" charset="-120"/>
              </a:rPr>
              <a:t>0.5</a:t>
            </a: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'late'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threading.Thread(target=f, daemon=%s).start()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'end'</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flag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True</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False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r = subprocess.run([sys.executable, </a:t>
            </a:r>
            <a:r>
              <a:rPr lang="en-US" sz="750" dirty="0">
                <a:solidFill>
                  <a:srgbClr val="9ECBFF"/>
                </a:solidFill>
                <a:latin typeface="Courier New" pitchFamily="34" charset="0"/>
                <a:ea typeface="Courier New" pitchFamily="34" charset="-122"/>
                <a:cs typeface="Courier New" pitchFamily="34" charset="-120"/>
              </a:rPr>
              <a:t>'-c'</a:t>
            </a:r>
            <a:r>
              <a:rPr lang="en-US" sz="750" dirty="0">
                <a:solidFill>
                  <a:srgbClr val="E6EDF3"/>
                </a:solidFill>
                <a:latin typeface="Courier New" pitchFamily="34" charset="0"/>
                <a:ea typeface="Courier New" pitchFamily="34" charset="-122"/>
                <a:cs typeface="Courier New" pitchFamily="34" charset="-120"/>
              </a:rPr>
              <a:t>, tmpl % flag],</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capture_output=</a:t>
            </a:r>
            <a:r>
              <a:rPr lang="en-US" sz="750" b="1" dirty="0">
                <a:solidFill>
                  <a:srgbClr val="F2A860"/>
                </a:solidFill>
                <a:latin typeface="Courier New" pitchFamily="34" charset="0"/>
                <a:ea typeface="Courier New" pitchFamily="34" charset="-122"/>
                <a:cs typeface="Courier New" pitchFamily="34" charset="-120"/>
              </a:rPr>
              <a:t>True</a:t>
            </a:r>
            <a:r>
              <a:rPr lang="en-US" sz="750" dirty="0">
                <a:solidFill>
                  <a:srgbClr val="E6EDF3"/>
                </a:solidFill>
                <a:latin typeface="Courier New" pitchFamily="34" charset="0"/>
                <a:ea typeface="Courier New" pitchFamily="34" charset="-122"/>
                <a:cs typeface="Courier New" pitchFamily="34" charset="-120"/>
              </a:rPr>
              <a:t>, text=</a:t>
            </a:r>
            <a:r>
              <a:rPr lang="en-US" sz="750" b="1" dirty="0">
                <a:solidFill>
                  <a:srgbClr val="F2A860"/>
                </a:solidFill>
                <a:latin typeface="Courier New" pitchFamily="34" charset="0"/>
                <a:ea typeface="Courier New" pitchFamily="34" charset="-122"/>
                <a:cs typeface="Courier New" pitchFamily="34" charset="-120"/>
              </a:rPr>
              <a:t>True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'daemon=%s prints'</a:t>
            </a:r>
            <a:r>
              <a:rPr lang="en-US" sz="750" dirty="0">
                <a:solidFill>
                  <a:srgbClr val="E6EDF3"/>
                </a:solidFill>
                <a:latin typeface="Courier New" pitchFamily="34" charset="0"/>
                <a:ea typeface="Courier New" pitchFamily="34" charset="-122"/>
                <a:cs typeface="Courier New" pitchFamily="34" charset="-120"/>
              </a:rPr>
              <a:t> % flag, r.stdout.split())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 = threading.Thread(target=time.sleep, args=[</a:t>
            </a:r>
            <a:r>
              <a:rPr lang="en-US" sz="750" dirty="0">
                <a:solidFill>
                  <a:srgbClr val="FFD28A"/>
                </a:solidFill>
                <a:latin typeface="Courier New" pitchFamily="34" charset="0"/>
                <a:ea typeface="Courier New" pitchFamily="34" charset="-122"/>
                <a:cs typeface="Courier New" pitchFamily="34" charset="-120"/>
              </a:rPr>
              <a:t>0.2</a:t>
            </a:r>
            <a:r>
              <a:rPr lang="en-US" sz="750" dirty="0">
                <a:solidFill>
                  <a:srgbClr val="E6EDF3"/>
                </a:solidFill>
                <a:latin typeface="Courier New" pitchFamily="34" charset="0"/>
                <a:ea typeface="Courier New" pitchFamily="34" charset="-122"/>
                <a:cs typeface="Courier New" pitchFamily="34" charset="-120"/>
              </a:rPr>
              <a:t>]); t.start()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try: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t.daemon = </a:t>
            </a:r>
            <a:r>
              <a:rPr lang="en-US" sz="750" b="1" dirty="0">
                <a:solidFill>
                  <a:srgbClr val="F2A860"/>
                </a:solidFill>
                <a:latin typeface="Courier New" pitchFamily="34" charset="0"/>
                <a:ea typeface="Courier New" pitchFamily="34" charset="-122"/>
                <a:cs typeface="Courier New" pitchFamily="34" charset="-120"/>
              </a:rPr>
              <a:t>True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except RuntimeError as 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'RuntimeError:'</a:t>
            </a:r>
            <a:r>
              <a:rPr lang="en-US" sz="750" dirty="0">
                <a:solidFill>
                  <a:srgbClr val="E6EDF3"/>
                </a:solidFill>
                <a:latin typeface="Courier New" pitchFamily="34" charset="0"/>
                <a:ea typeface="Courier New" pitchFamily="34" charset="-122"/>
                <a:cs typeface="Courier New" pitchFamily="34" charset="-120"/>
              </a:rPr>
              <a:t>, 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daemon=True prints ['end']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daemon=False prints ['end', 'late']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RuntimeError: cannot set daemon status of active thread</a:t>
            </a:r>
            <a:endParaRPr lang="en-US" sz="750" dirty="0"/>
          </a:p>
        </p:txBody>
      </p:sp>
      <p:sp>
        <p:nvSpPr>
          <p:cNvPr id="9" name="Text 7"/>
          <p:cNvSpPr txBox="1"/>
          <p:nvPr/>
        </p:nvSpPr>
        <p:spPr>
          <a:xfrm>
            <a:off x="4745736" y="1371600"/>
            <a:ext cx="3941064"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With daemon=True the late line was never printed, because the program ended first; with daemon=False it was printed.</a:t>
            </a:r>
            <a:endParaRPr lang="en-US" sz="900" dirty="0"/>
          </a:p>
        </p:txBody>
      </p:sp>
      <p:sp>
        <p:nvSpPr>
          <p:cNvPr id="10" name="Text 8"/>
          <p:cNvSpPr txBox="1"/>
          <p:nvPr/>
        </p:nvSpPr>
        <p:spPr>
          <a:xfrm>
            <a:off x="4745736" y="1755648"/>
            <a:ext cx="3941064"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Setting the flag after start() raised RuntimeError: the flag is fixed when the thread starts.</a:t>
            </a:r>
            <a:endParaRPr lang="en-US" sz="900" dirty="0"/>
          </a:p>
        </p:txBody>
      </p:sp>
      <p:sp>
        <p:nvSpPr>
          <p:cNvPr id="11" name="Text 9"/>
          <p:cNvSpPr txBox="1"/>
          <p:nvPr/>
        </p:nvSpPr>
        <p:spPr>
          <a:xfrm>
            <a:off x="4745736" y="2139696"/>
            <a:ext cx="3941064"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Recorded 14 Oct 2026: a thread inherited the daemon flag of the thread that created it (True), and an exception in a thread went to standard error while the main thread ended with return code 0.</a:t>
            </a:r>
            <a:endParaRPr lang="en-US" sz="9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daemon thread dies with the program; set the flag before start().</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downloader as printed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listing never calls start(): no request is made and join() raises</a:t>
            </a:r>
            <a:endParaRPr lang="en-US" sz="1300" dirty="0"/>
          </a:p>
        </p:txBody>
      </p:sp>
      <p:sp>
        <p:nvSpPr>
          <p:cNvPr id="6" name="Text 4"/>
          <p:cNvSpPr txBox="1"/>
          <p:nvPr/>
        </p:nvSpPr>
        <p:spPr>
          <a:xfrm>
            <a:off x="457200" y="1143000"/>
            <a:ext cx="47000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printedCut_v1_0_0.py, lines 37 to 47 of 56</a:t>
            </a:r>
            <a:endParaRPr lang="en-US" sz="1000" dirty="0"/>
          </a:p>
        </p:txBody>
      </p:sp>
      <p:sp>
        <p:nvSpPr>
          <p:cNvPr id="7" name="Shape 5"/>
          <p:cNvSpPr/>
          <p:nvPr/>
        </p:nvSpPr>
        <p:spPr>
          <a:xfrm>
            <a:off x="457200" y="1417320"/>
            <a:ext cx="4700016" cy="2048256"/>
          </a:xfrm>
          <a:prstGeom prst="roundRect">
            <a:avLst>
              <a:gd name="adj" fmla="val 4464"/>
            </a:avLst>
          </a:prstGeom>
          <a:solidFill>
            <a:srgbClr val="23272E"/>
          </a:solidFill>
          <a:ln w="12700">
            <a:solidFill>
              <a:srgbClr val="23272E"/>
            </a:solidFill>
            <a:prstDash val="solid"/>
          </a:ln>
        </p:spPr>
      </p:sp>
      <p:sp>
        <p:nvSpPr>
          <p:cNvPr id="8" name="Text 6"/>
          <p:cNvSpPr txBox="1"/>
          <p:nvPr/>
        </p:nvSpPr>
        <p:spPr>
          <a:xfrm>
            <a:off x="640080" y="1536192"/>
            <a:ext cx="4334256" cy="181051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downloadThreads =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140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start = 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end = i + </a:t>
            </a:r>
            <a:r>
              <a:rPr lang="en-US" sz="700" dirty="0">
                <a:solidFill>
                  <a:srgbClr val="FFD28A"/>
                </a:solidFill>
                <a:latin typeface="Courier New" pitchFamily="34" charset="0"/>
                <a:ea typeface="Courier New" pitchFamily="34" charset="-122"/>
                <a:cs typeface="Courier New" pitchFamily="34" charset="-120"/>
              </a:rPr>
              <a:t>9</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start ==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start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downloadThread = threading.Thread(target=downloadXkcd, args=(start, end))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downloadThreads.append(downloadThread)</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downloadThread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downloadThreads: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downloadThread.join()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'Done.'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comic pages requested: 0 | files saved: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return code: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RuntimeError: cannot join thread before it is started</a:t>
            </a:r>
            <a:endParaRPr lang="en-US" sz="700" dirty="0"/>
          </a:p>
        </p:txBody>
      </p:sp>
      <p:sp>
        <p:nvSpPr>
          <p:cNvPr id="9" name="Text 7"/>
          <p:cNvSpPr txBox="1"/>
          <p:nvPr/>
        </p:nvSpPr>
        <p:spPr>
          <a:xfrm>
            <a:off x="5340096" y="1371600"/>
            <a:ext cx="3346704" cy="685800"/>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Stand-in: the downloader asks a local stand-in, an HTTP server of this program on 127.0.0.1; xkcd.com is never contacted. Lines 1 to 36 (imports, the server and the folder) are not shown. Lines 48 to 56 (the run and the report) are not shown.</a:t>
            </a:r>
            <a:endParaRPr lang="en-US" sz="850" dirty="0"/>
          </a:p>
        </p:txBody>
      </p:sp>
      <p:sp>
        <p:nvSpPr>
          <p:cNvPr id="10" name="Text 8"/>
          <p:cNvSpPr txBox="1"/>
          <p:nvPr/>
        </p:nvSpPr>
        <p:spPr>
          <a:xfrm>
            <a:off x="5340096" y="2121408"/>
            <a:ext cx="3346704"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The loop of the chapter's Step 2 appends 14 Thread objects and nothing starts them; the prose says the loop calls start().</a:t>
            </a:r>
            <a:endParaRPr lang="en-US" sz="850" dirty="0"/>
          </a:p>
        </p:txBody>
      </p:sp>
      <p:sp>
        <p:nvSpPr>
          <p:cNvPr id="11" name="Text 9"/>
          <p:cNvSpPr txBox="1"/>
          <p:nvPr/>
        </p:nvSpPr>
        <p:spPr>
          <a:xfrm>
            <a:off x="5340096" y="2615184"/>
            <a:ext cx="3346704"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Step 3 then calls join() on a thread that was never started, and the program ends with return code 1.</a:t>
            </a:r>
            <a:endParaRPr lang="en-US" sz="8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listing as printed never starts a thread; join() raises.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downloader skips every tenth comic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With start() added it asks for 125 of 139 numbers; 9, 19, 29 on are never asked for</a:t>
            </a:r>
            <a:endParaRPr lang="en-US" sz="1300" dirty="0"/>
          </a:p>
        </p:txBody>
      </p:sp>
      <p:sp>
        <p:nvSpPr>
          <p:cNvPr id="6" name="Text 4"/>
          <p:cNvSpPr txBox="1"/>
          <p:nvPr/>
        </p:nvSpPr>
        <p:spPr>
          <a:xfrm>
            <a:off x="457200" y="1143000"/>
            <a:ext cx="47000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fixedCut_v1_0_0.py, lines 47 to 58 of 77</a:t>
            </a:r>
            <a:endParaRPr lang="en-US" sz="1000" dirty="0"/>
          </a:p>
        </p:txBody>
      </p:sp>
      <p:sp>
        <p:nvSpPr>
          <p:cNvPr id="7" name="Shape 5"/>
          <p:cNvSpPr/>
          <p:nvPr/>
        </p:nvSpPr>
        <p:spPr>
          <a:xfrm>
            <a:off x="457200" y="1417320"/>
            <a:ext cx="4700016" cy="2176272"/>
          </a:xfrm>
          <a:prstGeom prst="roundRect">
            <a:avLst>
              <a:gd name="adj" fmla="val 4202"/>
            </a:avLst>
          </a:prstGeom>
          <a:solidFill>
            <a:srgbClr val="23272E"/>
          </a:solidFill>
          <a:ln w="12700">
            <a:solidFill>
              <a:srgbClr val="23272E"/>
            </a:solidFill>
            <a:prstDash val="solid"/>
          </a:ln>
        </p:spPr>
      </p:sp>
      <p:sp>
        <p:nvSpPr>
          <p:cNvPr id="8" name="Text 6"/>
          <p:cNvSpPr txBox="1"/>
          <p:nvPr/>
        </p:nvSpPr>
        <p:spPr>
          <a:xfrm>
            <a:off x="640080" y="1536192"/>
            <a:ext cx="4334256"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downloadThreads =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140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start = 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end = i + </a:t>
            </a:r>
            <a:r>
              <a:rPr lang="en-US" sz="700" dirty="0">
                <a:solidFill>
                  <a:srgbClr val="FFD28A"/>
                </a:solidFill>
                <a:latin typeface="Courier New" pitchFamily="34" charset="0"/>
                <a:ea typeface="Courier New" pitchFamily="34" charset="-122"/>
                <a:cs typeface="Courier New" pitchFamily="34" charset="-120"/>
              </a:rPr>
              <a:t>9</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start ==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start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downloadThread = threading.Thread(target=downloadXkcd, args=(start, end))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downloadThreads.append(downloadThread)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downloadThread.start()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downloadThread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downloadThreads: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downloadThread.join()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'Done.'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comic pages requested: 125 | files saved: 125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never requested: 14 numbers, from 9 to 139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skipped.png: 1086 bytes, sha256 92c1cf3faef8</a:t>
            </a:r>
            <a:endParaRPr lang="en-US" sz="700" dirty="0"/>
          </a:p>
        </p:txBody>
      </p:sp>
      <p:pic>
        <p:nvPicPr>
          <p:cNvPr id="9" name="Image 0" descr="/home/claude/AdvancedProgrammingWithPython/08-tooling/ch25-deck/images/skipped.png">    </p:cNvPr>
          <p:cNvPicPr>
            <a:picLocks noChangeAspect="1"/>
          </p:cNvPicPr>
          <p:nvPr/>
        </p:nvPicPr>
        <p:blipFill>
          <a:blip r:embed="rId1"/>
          <a:srcRect l="0" r="0" t="0" b="0"/>
          <a:stretch/>
        </p:blipFill>
        <p:spPr>
          <a:xfrm>
            <a:off x="5294376" y="1371600"/>
            <a:ext cx="1325880" cy="1856232"/>
          </a:xfrm>
          <a:prstGeom prst="rect">
            <a:avLst/>
          </a:prstGeom>
        </p:spPr>
      </p:pic>
      <p:sp>
        <p:nvSpPr>
          <p:cNvPr id="10" name="Text 7"/>
          <p:cNvSpPr txBox="1"/>
          <p:nvPr/>
        </p:nvSpPr>
        <p:spPr>
          <a:xfrm>
            <a:off x="5294376" y="3255264"/>
            <a:ext cx="3392424"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skipped.png made by fixedCut_v1_0_0.py</a:t>
            </a:r>
            <a:endParaRPr lang="en-US" sz="800" dirty="0"/>
          </a:p>
        </p:txBody>
      </p:sp>
      <p:sp>
        <p:nvSpPr>
          <p:cNvPr id="11" name="Text 8"/>
          <p:cNvSpPr txBox="1"/>
          <p:nvPr/>
        </p:nvSpPr>
        <p:spPr>
          <a:xfrm>
            <a:off x="6729984" y="1371600"/>
            <a:ext cx="1956816" cy="102412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the downloader asks a local stand-in, an HTTP server of this program on 127.0.0.1; xkcd.com is never contacted. Lines 1 to 46 (imports, the server and the picture writer) are not shown. Lines 59 to 77 (the run and the report) are not shown.</a:t>
            </a:r>
            <a:endParaRPr lang="en-US" sz="800" dirty="0"/>
          </a:p>
        </p:txBody>
      </p:sp>
      <p:sp>
        <p:nvSpPr>
          <p:cNvPr id="12" name="Text 9"/>
          <p:cNvSpPr txBox="1"/>
          <p:nvPr/>
        </p:nvSpPr>
        <p:spPr>
          <a:xfrm>
            <a:off x="6729984" y="2450592"/>
            <a:ext cx="195681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Each thread runs range(start, end), and end is the last number of its block, so that number is skipped.</a:t>
            </a:r>
            <a:endParaRPr lang="en-US" sz="800" dirty="0"/>
          </a:p>
        </p:txBody>
      </p:sp>
      <p:sp>
        <p:nvSpPr>
          <p:cNvPr id="13" name="Text 10"/>
          <p:cNvSpPr txBox="1"/>
          <p:nvPr/>
        </p:nvSpPr>
        <p:spPr>
          <a:xfrm>
            <a:off x="6729984" y="2907792"/>
            <a:ext cx="1956816"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the real xkcd.com, which no program here contacted.</a:t>
            </a:r>
            <a:endParaRPr lang="en-US" sz="8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Range stops one short: every tenth comic is never requested.</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Lost updates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threads read 0 and both write 1; a counter += 1 is five steps, not one</a:t>
            </a:r>
            <a:endParaRPr lang="en-US" sz="1300" dirty="0"/>
          </a:p>
        </p:txBody>
      </p:sp>
      <p:sp>
        <p:nvSpPr>
          <p:cNvPr id="6" name="Text 4"/>
          <p:cNvSpPr txBox="1"/>
          <p:nvPr/>
        </p:nvSpPr>
        <p:spPr>
          <a:xfrm>
            <a:off x="457200" y="1143000"/>
            <a:ext cx="40873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lostCut_v1_0_0.py, lines 1 to 12 of 12</a:t>
            </a:r>
            <a:endParaRPr lang="en-US" sz="1000" dirty="0"/>
          </a:p>
        </p:txBody>
      </p:sp>
      <p:sp>
        <p:nvSpPr>
          <p:cNvPr id="7" name="Shape 5"/>
          <p:cNvSpPr/>
          <p:nvPr/>
        </p:nvSpPr>
        <p:spPr>
          <a:xfrm>
            <a:off x="457200" y="1417320"/>
            <a:ext cx="4087368" cy="2048256"/>
          </a:xfrm>
          <a:prstGeom prst="roundRect">
            <a:avLst>
              <a:gd name="adj" fmla="val 4464"/>
            </a:avLst>
          </a:prstGeom>
          <a:solidFill>
            <a:srgbClr val="23272E"/>
          </a:solidFill>
          <a:ln w="12700">
            <a:solidFill>
              <a:srgbClr val="23272E"/>
            </a:solidFill>
            <a:prstDash val="solid"/>
          </a:ln>
        </p:spPr>
      </p:sp>
      <p:sp>
        <p:nvSpPr>
          <p:cNvPr id="8" name="Text 6"/>
          <p:cNvSpPr txBox="1"/>
          <p:nvPr/>
        </p:nvSpPr>
        <p:spPr>
          <a:xfrm>
            <a:off x="640080" y="1536192"/>
            <a:ext cx="3721608" cy="1810512"/>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threading, time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trial(use_lock):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box =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lk = threading.Lock()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use_lock: lk.acquire()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v =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0.05</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v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use_lock: lk.release()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ts = [threading.Thread(target=f)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[t.start()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ts]; [t.join()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'two threads, no lock  :'</a:t>
            </a:r>
            <a:r>
              <a:rPr lang="en-US" sz="700" dirty="0">
                <a:solidFill>
                  <a:srgbClr val="E6EDF3"/>
                </a:solidFill>
                <a:latin typeface="Courier New" pitchFamily="34" charset="0"/>
                <a:ea typeface="Courier New" pitchFamily="34" charset="-122"/>
                <a:cs typeface="Courier New" pitchFamily="34" charset="-120"/>
              </a:rPr>
              <a:t>, [trial(</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'two threads, with lock:'</a:t>
            </a:r>
            <a:r>
              <a:rPr lang="en-US" sz="700" dirty="0">
                <a:solidFill>
                  <a:srgbClr val="E6EDF3"/>
                </a:solidFill>
                <a:latin typeface="Courier New" pitchFamily="34" charset="0"/>
                <a:ea typeface="Courier New" pitchFamily="34" charset="-122"/>
                <a:cs typeface="Courier New" pitchFamily="34" charset="-120"/>
              </a:rPr>
              <a:t>, [trial(</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two threads, no lock  : [1, 1,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two threads, with lock: [2, 2, 2]</a:t>
            </a:r>
            <a:endParaRPr lang="en-US" sz="700" dirty="0"/>
          </a:p>
        </p:txBody>
      </p:sp>
      <p:pic>
        <p:nvPicPr>
          <p:cNvPr id="9" name="Image 0" descr="/home/claude/AdvancedProgrammingWithPython/08-tooling/ch25-deck/photos/therac.png">    </p:cNvPr>
          <p:cNvPicPr>
            <a:picLocks noChangeAspect="1"/>
          </p:cNvPicPr>
          <p:nvPr/>
        </p:nvPicPr>
        <p:blipFill>
          <a:blip r:embed="rId1"/>
          <a:srcRect l="0" r="0" t="0" b="0"/>
          <a:stretch/>
        </p:blipFill>
        <p:spPr>
          <a:xfrm>
            <a:off x="4754880" y="1353312"/>
            <a:ext cx="950976" cy="1280160"/>
          </a:xfrm>
          <a:prstGeom prst="rect">
            <a:avLst/>
          </a:prstGeom>
        </p:spPr>
      </p:pic>
      <p:sp>
        <p:nvSpPr>
          <p:cNvPr id="10" name="Text 7"/>
          <p:cNvSpPr txBox="1"/>
          <p:nvPr/>
        </p:nvSpPr>
        <p:spPr>
          <a:xfrm>
            <a:off x="5815584" y="1353312"/>
            <a:ext cx="2871216" cy="612648"/>
          </a:xfrm>
          <a:prstGeom prst="rect">
            <a:avLst/>
          </a:prstGeom>
          <a:noFill/>
          <a:ln/>
        </p:spPr>
        <p:txBody>
          <a:bodyPr wrap="square" lIns="0" tIns="0" rIns="0" bIns="0" rtlCol="0" anchor="t"/>
          <a:lstStyle/>
          <a:p>
            <a:pPr indent="0" marL="0">
              <a:buNone/>
            </a:pPr>
            <a:r>
              <a:rPr lang="en-US" sz="750" i="1" dirty="0">
                <a:solidFill>
                  <a:srgbClr val="6E655C"/>
                </a:solidFill>
                <a:latin typeface="Calibri" pitchFamily="34" charset="0"/>
                <a:ea typeface="Calibri" pitchFamily="34" charset="-122"/>
                <a:cs typeface="Calibri" pitchFamily="34" charset="-120"/>
              </a:rPr>
              <a:t>photo therac.png: Therac 25, Unknown author (newspaper photograph), Public domain (as stated on Commons), Wikimedia Commons. A Therac-25 machine as it stood in use. Reduced copy: flattened on white, resized to 300 x 402 pixels.</a:t>
            </a:r>
            <a:endParaRPr lang="en-US" sz="750" dirty="0"/>
          </a:p>
        </p:txBody>
      </p:sp>
      <p:sp>
        <p:nvSpPr>
          <p:cNvPr id="11" name="Shape 8"/>
          <p:cNvSpPr/>
          <p:nvPr/>
        </p:nvSpPr>
        <p:spPr>
          <a:xfrm>
            <a:off x="4754880" y="2743200"/>
            <a:ext cx="3931920" cy="1216152"/>
          </a:xfrm>
          <a:prstGeom prst="roundRect">
            <a:avLst>
              <a:gd name="adj" fmla="val 7519"/>
            </a:avLst>
          </a:prstGeom>
          <a:solidFill>
            <a:srgbClr val="23272E"/>
          </a:solidFill>
          <a:ln w="12700">
            <a:solidFill>
              <a:srgbClr val="23272E"/>
            </a:solidFill>
            <a:prstDash val="solid"/>
          </a:ln>
        </p:spPr>
      </p:sp>
      <p:sp>
        <p:nvSpPr>
          <p:cNvPr id="12" name="Text 9"/>
          <p:cNvSpPr txBox="1"/>
          <p:nvPr/>
        </p:nvSpPr>
        <p:spPr>
          <a:xfrm>
            <a:off x="4937760" y="2862072"/>
            <a:ext cx="3566160" cy="978408"/>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import dis</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def inc(): global c; c += 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ops = [i.opname for i in dis.get_instructions(inc)][1:-1]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len(ops)</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ops[:4]</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['LOAD_GLOBAL', 'LOAD_SMALL_INT', 'BINARY_OP', 'STORE_GLOBAL']</a:t>
            </a:r>
            <a:endParaRPr lang="en-US" sz="710" dirty="0"/>
          </a:p>
        </p:txBody>
      </p:sp>
      <p:sp>
        <p:nvSpPr>
          <p:cNvPr id="13" name="Text 10"/>
          <p:cNvSpPr txBox="1"/>
          <p:nvPr/>
        </p:nvSpPr>
        <p:spPr>
          <a:xfrm>
            <a:off x="457200" y="3538728"/>
            <a:ext cx="41148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In all 3 runs the counter ended at 1 without a lock and at 2 with one, because both threads read 0 before either wrote.</a:t>
            </a:r>
            <a:endParaRPr lang="en-US" sz="900" dirty="0"/>
          </a:p>
        </p:txBody>
      </p:sp>
      <p:sp>
        <p:nvSpPr>
          <p:cNvPr id="14" name="Shape 11"/>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Atomic Energy of Canada Limited, which…</a:t>
            </a:r>
            <a:endParaRPr lang="en-US" sz="750" dirty="0"/>
          </a:p>
        </p:txBody>
      </p:sp>
      <p:sp>
        <p:nvSpPr>
          <p:cNvPr id="16" name="Shape 13"/>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Cancer centres in Georgia, Ontario, Wa…</a:t>
            </a:r>
            <a:endParaRPr lang="en-US" sz="750" dirty="0"/>
          </a:p>
        </p:txBody>
      </p:sp>
      <p:sp>
        <p:nvSpPr>
          <p:cNvPr id="18" name="Shape 15"/>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1985 to 1987</a:t>
            </a:r>
            <a:endParaRPr lang="en-US" sz="750" dirty="0"/>
          </a:p>
        </p:txBody>
      </p:sp>
      <p:sp>
        <p:nvSpPr>
          <p:cNvPr id="20" name="Shape 17"/>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threads, one counter, no lock: an update disappears.</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lock makes the read and the write one step; the with statement always releases it</a:t>
            </a:r>
            <a:endParaRPr lang="en-US" sz="1300" dirty="0"/>
          </a:p>
        </p:txBody>
      </p:sp>
      <p:sp>
        <p:nvSpPr>
          <p:cNvPr id="6" name="Text 4"/>
          <p:cNvSpPr txBox="1"/>
          <p:nvPr/>
        </p:nvSpPr>
        <p:spPr>
          <a:xfrm>
            <a:off x="457200" y="1143000"/>
            <a:ext cx="40873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lockCut_v1_0_0.py, lines 1 to 15 of 15</a:t>
            </a:r>
            <a:endParaRPr lang="en-US" sz="1000" dirty="0"/>
          </a:p>
        </p:txBody>
      </p:sp>
      <p:sp>
        <p:nvSpPr>
          <p:cNvPr id="7" name="Shape 5"/>
          <p:cNvSpPr/>
          <p:nvPr/>
        </p:nvSpPr>
        <p:spPr>
          <a:xfrm>
            <a:off x="457200" y="1417320"/>
            <a:ext cx="4087368"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3721608" cy="244144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threading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box =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lk = threading.Lock()</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100000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with lk: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ts = [threading.Thread(target=f)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[t.start()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ts]; [t.join()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'4 threads x 100000 with a lock:'</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with lk: raise ValueError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ValueError: pass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'locked after an error in the with block:'</a:t>
            </a:r>
            <a:r>
              <a:rPr lang="en-US" sz="700" dirty="0">
                <a:solidFill>
                  <a:srgbClr val="E6EDF3"/>
                </a:solidFill>
                <a:latin typeface="Courier New" pitchFamily="34" charset="0"/>
                <a:ea typeface="Courier New" pitchFamily="34" charset="-122"/>
                <a:cs typeface="Courier New" pitchFamily="34" charset="-120"/>
              </a:rPr>
              <a:t>, lk.locked())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rk = threading.RLock(); lk.acquire(); rk.acquire()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'second acquire of a Lock, 0.2 s:'</a:t>
            </a:r>
            <a:r>
              <a:rPr lang="en-US" sz="700" dirty="0">
                <a:solidFill>
                  <a:srgbClr val="E6EDF3"/>
                </a:solidFill>
                <a:latin typeface="Courier New" pitchFamily="34" charset="0"/>
                <a:ea typeface="Courier New" pitchFamily="34" charset="-122"/>
                <a:cs typeface="Courier New" pitchFamily="34" charset="-120"/>
              </a:rPr>
              <a:t>, lk.acquire(timeout=</a:t>
            </a:r>
            <a:r>
              <a:rPr lang="en-US" sz="700" dirty="0">
                <a:solidFill>
                  <a:srgbClr val="FFD28A"/>
                </a:solidFill>
                <a:latin typeface="Courier New" pitchFamily="34" charset="0"/>
                <a:ea typeface="Courier New" pitchFamily="34" charset="-122"/>
                <a:cs typeface="Courier New" pitchFamily="34" charset="-120"/>
              </a:rPr>
              <a:t>0.2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'second acquire of an RLock     :'</a:t>
            </a:r>
            <a:r>
              <a:rPr lang="en-US" sz="700" dirty="0">
                <a:solidFill>
                  <a:srgbClr val="E6EDF3"/>
                </a:solidFill>
                <a:latin typeface="Courier New" pitchFamily="34" charset="0"/>
                <a:ea typeface="Courier New" pitchFamily="34" charset="-122"/>
                <a:cs typeface="Courier New" pitchFamily="34" charset="-120"/>
              </a:rPr>
              <a:t>, rk.acquire(timeout=</a:t>
            </a:r>
            <a:r>
              <a:rPr lang="en-US" sz="700" dirty="0">
                <a:solidFill>
                  <a:srgbClr val="FFD28A"/>
                </a:solidFill>
                <a:latin typeface="Courier New" pitchFamily="34" charset="0"/>
                <a:ea typeface="Courier New" pitchFamily="34" charset="-122"/>
                <a:cs typeface="Courier New" pitchFamily="34" charset="-120"/>
              </a:rPr>
              <a:t>0.2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threads x 100000 with a lock: 400000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locked after an error in the with block: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second acquire of a Lock, 0.2 s: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second acquire of an RLock     : True</a:t>
            </a:r>
            <a:endParaRPr lang="en-US" sz="700" dirty="0"/>
          </a:p>
        </p:txBody>
      </p:sp>
      <p:sp>
        <p:nvSpPr>
          <p:cNvPr id="9" name="Shape 7"/>
          <p:cNvSpPr/>
          <p:nvPr/>
        </p:nvSpPr>
        <p:spPr>
          <a:xfrm>
            <a:off x="4709160" y="1280160"/>
            <a:ext cx="86868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4764024" y="1386230"/>
            <a:ext cx="75895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Thread A</a:t>
            </a:r>
            <a:endParaRPr lang="en-US" sz="1000" dirty="0"/>
          </a:p>
        </p:txBody>
      </p:sp>
      <p:sp>
        <p:nvSpPr>
          <p:cNvPr id="11" name="Shape 9"/>
          <p:cNvSpPr/>
          <p:nvPr/>
        </p:nvSpPr>
        <p:spPr>
          <a:xfrm>
            <a:off x="5143500" y="1664208"/>
            <a:ext cx="0" cy="1947672"/>
          </a:xfrm>
          <a:prstGeom prst="line">
            <a:avLst/>
          </a:prstGeom>
          <a:noFill/>
          <a:ln w="19050">
            <a:solidFill>
              <a:srgbClr val="DFD6C7"/>
            </a:solidFill>
            <a:prstDash val="dash"/>
          </a:ln>
        </p:spPr>
      </p:sp>
      <p:sp>
        <p:nvSpPr>
          <p:cNvPr id="12" name="Shape 10"/>
          <p:cNvSpPr/>
          <p:nvPr/>
        </p:nvSpPr>
        <p:spPr>
          <a:xfrm>
            <a:off x="6240780" y="1280160"/>
            <a:ext cx="86868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6295644" y="1386230"/>
            <a:ext cx="75895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lock</a:t>
            </a:r>
            <a:endParaRPr lang="en-US" sz="1000" dirty="0"/>
          </a:p>
        </p:txBody>
      </p:sp>
      <p:sp>
        <p:nvSpPr>
          <p:cNvPr id="14" name="Shape 12"/>
          <p:cNvSpPr/>
          <p:nvPr/>
        </p:nvSpPr>
        <p:spPr>
          <a:xfrm>
            <a:off x="6675120" y="1664208"/>
            <a:ext cx="0" cy="1947672"/>
          </a:xfrm>
          <a:prstGeom prst="line">
            <a:avLst/>
          </a:prstGeom>
          <a:noFill/>
          <a:ln w="19050">
            <a:solidFill>
              <a:srgbClr val="DFD6C7"/>
            </a:solidFill>
            <a:prstDash val="dash"/>
          </a:ln>
        </p:spPr>
      </p:sp>
      <p:sp>
        <p:nvSpPr>
          <p:cNvPr id="15" name="Shape 13"/>
          <p:cNvSpPr/>
          <p:nvPr/>
        </p:nvSpPr>
        <p:spPr>
          <a:xfrm>
            <a:off x="7772400" y="1280160"/>
            <a:ext cx="868680" cy="384048"/>
          </a:xfrm>
          <a:prstGeom prst="roundRect">
            <a:avLst>
              <a:gd name="adj" fmla="val 19048"/>
            </a:avLst>
          </a:prstGeom>
          <a:solidFill>
            <a:srgbClr val="2F6D62"/>
          </a:solidFill>
          <a:ln w="15875">
            <a:solidFill>
              <a:srgbClr val="2F6D62"/>
            </a:solidFill>
            <a:prstDash val="solid"/>
          </a:ln>
        </p:spPr>
      </p:sp>
      <p:sp>
        <p:nvSpPr>
          <p:cNvPr id="16" name="Text 14"/>
          <p:cNvSpPr txBox="1"/>
          <p:nvPr/>
        </p:nvSpPr>
        <p:spPr>
          <a:xfrm>
            <a:off x="7827264" y="1386230"/>
            <a:ext cx="75895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Thread B</a:t>
            </a:r>
            <a:endParaRPr lang="en-US" sz="1000" dirty="0"/>
          </a:p>
        </p:txBody>
      </p:sp>
      <p:sp>
        <p:nvSpPr>
          <p:cNvPr id="17" name="Shape 15"/>
          <p:cNvSpPr/>
          <p:nvPr/>
        </p:nvSpPr>
        <p:spPr>
          <a:xfrm>
            <a:off x="8206740" y="1664208"/>
            <a:ext cx="0" cy="1947672"/>
          </a:xfrm>
          <a:prstGeom prst="line">
            <a:avLst/>
          </a:prstGeom>
          <a:noFill/>
          <a:ln w="19050">
            <a:solidFill>
              <a:srgbClr val="DFD6C7"/>
            </a:solidFill>
            <a:prstDash val="dash"/>
          </a:ln>
        </p:spPr>
      </p:sp>
      <p:sp>
        <p:nvSpPr>
          <p:cNvPr id="18" name="Shape 16"/>
          <p:cNvSpPr/>
          <p:nvPr/>
        </p:nvSpPr>
        <p:spPr>
          <a:xfrm>
            <a:off x="5143500" y="2022653"/>
            <a:ext cx="1531620" cy="0"/>
          </a:xfrm>
          <a:prstGeom prst="line">
            <a:avLst/>
          </a:prstGeom>
          <a:noFill/>
          <a:ln w="22225">
            <a:solidFill>
              <a:srgbClr val="D97A14"/>
            </a:solidFill>
            <a:prstDash val="solid"/>
            <a:tailEnd type="triangle"/>
          </a:ln>
        </p:spPr>
      </p:sp>
      <p:sp>
        <p:nvSpPr>
          <p:cNvPr id="19" name="Text 17"/>
          <p:cNvSpPr txBox="1"/>
          <p:nvPr/>
        </p:nvSpPr>
        <p:spPr>
          <a:xfrm>
            <a:off x="5234940" y="1836115"/>
            <a:ext cx="134874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Acquires the lock</a:t>
            </a:r>
            <a:endParaRPr lang="en-US" sz="800" dirty="0"/>
          </a:p>
        </p:txBody>
      </p:sp>
      <p:sp>
        <p:nvSpPr>
          <p:cNvPr id="20" name="Shape 18"/>
          <p:cNvSpPr/>
          <p:nvPr/>
        </p:nvSpPr>
        <p:spPr>
          <a:xfrm>
            <a:off x="5253228" y="2172614"/>
            <a:ext cx="1645920" cy="319126"/>
          </a:xfrm>
          <a:prstGeom prst="rect">
            <a:avLst/>
          </a:prstGeom>
          <a:solidFill>
            <a:srgbClr val="FFF4E0"/>
          </a:solidFill>
          <a:ln w="12700">
            <a:solidFill>
              <a:srgbClr val="D97A14"/>
            </a:solidFill>
            <a:prstDash val="solid"/>
          </a:ln>
        </p:spPr>
      </p:sp>
      <p:sp>
        <p:nvSpPr>
          <p:cNvPr id="21" name="Text 19"/>
          <p:cNvSpPr txBox="1"/>
          <p:nvPr/>
        </p:nvSpPr>
        <p:spPr>
          <a:xfrm>
            <a:off x="5317236" y="2209190"/>
            <a:ext cx="1517904"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Reads, adds one and writes the counter</a:t>
            </a:r>
            <a:endParaRPr lang="en-US" sz="800" dirty="0"/>
          </a:p>
        </p:txBody>
      </p:sp>
      <p:sp>
        <p:nvSpPr>
          <p:cNvPr id="22" name="Shape 20"/>
          <p:cNvSpPr/>
          <p:nvPr/>
        </p:nvSpPr>
        <p:spPr>
          <a:xfrm flipH="1">
            <a:off x="6675120" y="2765146"/>
            <a:ext cx="1531620" cy="0"/>
          </a:xfrm>
          <a:prstGeom prst="line">
            <a:avLst/>
          </a:prstGeom>
          <a:noFill/>
          <a:ln w="22225">
            <a:solidFill>
              <a:srgbClr val="D97A14"/>
            </a:solidFill>
            <a:prstDash val="solid"/>
            <a:tailEnd type="triangle"/>
          </a:ln>
        </p:spPr>
      </p:sp>
      <p:sp>
        <p:nvSpPr>
          <p:cNvPr id="23" name="Text 21"/>
          <p:cNvSpPr txBox="1"/>
          <p:nvPr/>
        </p:nvSpPr>
        <p:spPr>
          <a:xfrm>
            <a:off x="6766560" y="2578608"/>
            <a:ext cx="134874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Waits for the lock</a:t>
            </a:r>
            <a:endParaRPr lang="en-US" sz="800" dirty="0"/>
          </a:p>
        </p:txBody>
      </p:sp>
      <p:sp>
        <p:nvSpPr>
          <p:cNvPr id="24" name="Shape 22"/>
          <p:cNvSpPr/>
          <p:nvPr/>
        </p:nvSpPr>
        <p:spPr>
          <a:xfrm>
            <a:off x="5143500" y="3136392"/>
            <a:ext cx="1531620" cy="0"/>
          </a:xfrm>
          <a:prstGeom prst="line">
            <a:avLst/>
          </a:prstGeom>
          <a:noFill/>
          <a:ln w="22225">
            <a:solidFill>
              <a:srgbClr val="D97A14"/>
            </a:solidFill>
            <a:prstDash val="solid"/>
            <a:tailEnd type="triangle"/>
          </a:ln>
        </p:spPr>
      </p:sp>
      <p:sp>
        <p:nvSpPr>
          <p:cNvPr id="25" name="Text 23"/>
          <p:cNvSpPr txBox="1"/>
          <p:nvPr/>
        </p:nvSpPr>
        <p:spPr>
          <a:xfrm>
            <a:off x="5234940" y="2949854"/>
            <a:ext cx="134874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Releases the lock</a:t>
            </a:r>
            <a:endParaRPr lang="en-US" sz="800" dirty="0"/>
          </a:p>
        </p:txBody>
      </p:sp>
      <p:sp>
        <p:nvSpPr>
          <p:cNvPr id="26" name="Shape 24"/>
          <p:cNvSpPr/>
          <p:nvPr/>
        </p:nvSpPr>
        <p:spPr>
          <a:xfrm>
            <a:off x="6675120" y="3507638"/>
            <a:ext cx="1531620" cy="0"/>
          </a:xfrm>
          <a:prstGeom prst="line">
            <a:avLst/>
          </a:prstGeom>
          <a:noFill/>
          <a:ln w="22225">
            <a:solidFill>
              <a:srgbClr val="6E655C"/>
            </a:solidFill>
            <a:prstDash val="dash"/>
            <a:tailEnd type="triangle"/>
          </a:ln>
        </p:spPr>
      </p:sp>
      <p:sp>
        <p:nvSpPr>
          <p:cNvPr id="27" name="Text 25"/>
          <p:cNvSpPr txBox="1"/>
          <p:nvPr/>
        </p:nvSpPr>
        <p:spPr>
          <a:xfrm>
            <a:off x="6766560" y="3197657"/>
            <a:ext cx="134874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Lets thread B read the value</a:t>
            </a:r>
            <a:endParaRPr lang="en-US" sz="800" dirty="0"/>
          </a:p>
        </p:txBody>
      </p:sp>
      <p:sp>
        <p:nvSpPr>
          <p:cNvPr id="28" name="Text 26"/>
          <p:cNvSpPr txBox="1"/>
          <p:nvPr/>
        </p:nvSpPr>
        <p:spPr>
          <a:xfrm>
            <a:off x="4663440" y="3639312"/>
            <a:ext cx="402336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diagram TwoThreadsAndALock - Interaction pattern, 16 of 17 words grounded in the chapter's text. A plain Lock cannot be taken twice by the same thread; an RLock can.</a:t>
            </a:r>
            <a:endParaRPr lang="en-US" sz="800" dirty="0"/>
          </a:p>
        </p:txBody>
      </p:sp>
      <p:sp>
        <p:nvSpPr>
          <p:cNvPr id="29" name="Text 27"/>
          <p:cNvSpPr txBox="1"/>
          <p:nvPr/>
        </p:nvSpPr>
        <p:spPr>
          <a:xfrm>
            <a:off x="4663440" y="4160520"/>
            <a:ext cx="402336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Four threads with a lock reached the exact 400000; the lock was free again after an error in the with block.</a:t>
            </a:r>
            <a:endParaRPr lang="en-US" sz="9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lock makes read and write one step for every thread that uses it.</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Deadlock and events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locks taken in opposite orders leave both threads waiting; an Event says go</a:t>
            </a:r>
            <a:endParaRPr lang="en-US" sz="1300" dirty="0"/>
          </a:p>
        </p:txBody>
      </p:sp>
      <p:sp>
        <p:nvSpPr>
          <p:cNvPr id="6" name="Text 4"/>
          <p:cNvSpPr txBox="1"/>
          <p:nvPr/>
        </p:nvSpPr>
        <p:spPr>
          <a:xfrm>
            <a:off x="457200" y="1143000"/>
            <a:ext cx="380390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deadCut_v1_0_0.py, lines 1 to 17 of 17</a:t>
            </a:r>
            <a:endParaRPr lang="en-US" sz="1000" dirty="0"/>
          </a:p>
        </p:txBody>
      </p:sp>
      <p:sp>
        <p:nvSpPr>
          <p:cNvPr id="7" name="Shape 5"/>
          <p:cNvSpPr/>
          <p:nvPr/>
        </p:nvSpPr>
        <p:spPr>
          <a:xfrm>
            <a:off x="457200" y="1417320"/>
            <a:ext cx="3803904" cy="2962656"/>
          </a:xfrm>
          <a:prstGeom prst="roundRect">
            <a:avLst>
              <a:gd name="adj" fmla="val 3086"/>
            </a:avLst>
          </a:prstGeom>
          <a:solidFill>
            <a:srgbClr val="23272E"/>
          </a:solidFill>
          <a:ln w="12700">
            <a:solidFill>
              <a:srgbClr val="23272E"/>
            </a:solidFill>
            <a:prstDash val="solid"/>
          </a:ln>
        </p:spPr>
      </p:sp>
      <p:sp>
        <p:nvSpPr>
          <p:cNvPr id="8" name="Text 6"/>
          <p:cNvSpPr txBox="1"/>
          <p:nvPr/>
        </p:nvSpPr>
        <p:spPr>
          <a:xfrm>
            <a:off x="640080" y="1536192"/>
            <a:ext cx="3438144" cy="2724912"/>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threading, time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a, b = threading.Lock(), threading.Lock()</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f(x, 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with x:</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time.sleep(</a:t>
            </a:r>
            <a:r>
              <a:rPr lang="en-US" sz="750" dirty="0">
                <a:solidFill>
                  <a:srgbClr val="FFD28A"/>
                </a:solidFill>
                <a:latin typeface="Courier New" pitchFamily="34" charset="0"/>
                <a:ea typeface="Courier New" pitchFamily="34" charset="-122"/>
                <a:cs typeface="Courier New" pitchFamily="34" charset="-120"/>
              </a:rPr>
              <a:t>0.1</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with y: pass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t1 = threading.Thread(target=f, args=(a, b), daemon=</a:t>
            </a:r>
            <a:r>
              <a:rPr lang="en-US" sz="750" b="1" dirty="0">
                <a:solidFill>
                  <a:srgbClr val="F2A860"/>
                </a:solidFill>
                <a:latin typeface="Courier New" pitchFamily="34" charset="0"/>
                <a:ea typeface="Courier New" pitchFamily="34" charset="-122"/>
                <a:cs typeface="Courier New" pitchFamily="34" charset="-120"/>
              </a:rPr>
              <a:t>True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t2 = threading.Thread(target=f, args=(b, a), daemon=</a:t>
            </a:r>
            <a:r>
              <a:rPr lang="en-US" sz="750" b="1" dirty="0">
                <a:solidFill>
                  <a:srgbClr val="F2A860"/>
                </a:solidFill>
                <a:latin typeface="Courier New" pitchFamily="34" charset="0"/>
                <a:ea typeface="Courier New" pitchFamily="34" charset="-122"/>
                <a:cs typeface="Courier New" pitchFamily="34" charset="-120"/>
              </a:rPr>
              <a:t>True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t1.start(); t2.start(); t1.join(</a:t>
            </a:r>
            <a:r>
              <a:rPr lang="en-US" sz="750" dirty="0">
                <a:solidFill>
                  <a:srgbClr val="FFD28A"/>
                </a:solidFill>
                <a:latin typeface="Courier New" pitchFamily="34" charset="0"/>
                <a:ea typeface="Courier New" pitchFamily="34" charset="-122"/>
                <a:cs typeface="Courier New" pitchFamily="34" charset="-120"/>
              </a:rPr>
              <a:t>0.5</a:t>
            </a:r>
            <a:r>
              <a:rPr lang="en-US" sz="750" dirty="0">
                <a:solidFill>
                  <a:srgbClr val="E6EDF3"/>
                </a:solidFill>
                <a:latin typeface="Courier New" pitchFamily="34" charset="0"/>
                <a:ea typeface="Courier New" pitchFamily="34" charset="-122"/>
                <a:cs typeface="Courier New" pitchFamily="34" charset="-120"/>
              </a:rPr>
              <a:t>); t2.join(</a:t>
            </a:r>
            <a:r>
              <a:rPr lang="en-US" sz="750" dirty="0">
                <a:solidFill>
                  <a:srgbClr val="FFD28A"/>
                </a:solidFill>
                <a:latin typeface="Courier New" pitchFamily="34" charset="0"/>
                <a:ea typeface="Courier New" pitchFamily="34" charset="-122"/>
                <a:cs typeface="Courier New" pitchFamily="34" charset="-120"/>
              </a:rPr>
              <a:t>0.5</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'alive after 0.5 s:'</a:t>
            </a:r>
            <a:r>
              <a:rPr lang="en-US" sz="750" dirty="0">
                <a:solidFill>
                  <a:srgbClr val="E6EDF3"/>
                </a:solidFill>
                <a:latin typeface="Courier New" pitchFamily="34" charset="0"/>
                <a:ea typeface="Courier New" pitchFamily="34" charset="-122"/>
                <a:cs typeface="Courier New" pitchFamily="34" charset="-120"/>
              </a:rPr>
              <a:t>, t1.is_alive(), t2.is_alive())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ev, got = threading.Event(), []</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wait():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ev.wait(); got.append(</a:t>
            </a:r>
            <a:r>
              <a:rPr lang="en-US" sz="750" dirty="0">
                <a:solidFill>
                  <a:srgbClr val="9ECBFF"/>
                </a:solidFill>
                <a:latin typeface="Courier New" pitchFamily="34" charset="0"/>
                <a:ea typeface="Courier New" pitchFamily="34" charset="-122"/>
                <a:cs typeface="Courier New" pitchFamily="34" charset="-120"/>
              </a:rPr>
              <a:t>'woke'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 = threading.Thread(target=wait)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w.start(); time.sleep(</a:t>
            </a:r>
            <a:r>
              <a:rPr lang="en-US" sz="750" dirty="0">
                <a:solidFill>
                  <a:srgbClr val="FFD28A"/>
                </a:solidFill>
                <a:latin typeface="Courier New" pitchFamily="34" charset="0"/>
                <a:ea typeface="Courier New" pitchFamily="34" charset="-122"/>
                <a:cs typeface="Courier New" pitchFamily="34" charset="-120"/>
              </a:rPr>
              <a:t>0.2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'before set():'</a:t>
            </a:r>
            <a:r>
              <a:rPr lang="en-US" sz="750" dirty="0">
                <a:solidFill>
                  <a:srgbClr val="E6EDF3"/>
                </a:solidFill>
                <a:latin typeface="Courier New" pitchFamily="34" charset="0"/>
                <a:ea typeface="Courier New" pitchFamily="34" charset="-122"/>
                <a:cs typeface="Courier New" pitchFamily="34" charset="-120"/>
              </a:rPr>
              <a:t>, got); ev.set(); w.join()</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'after set()  :'</a:t>
            </a:r>
            <a:r>
              <a:rPr lang="en-US" sz="750" dirty="0">
                <a:solidFill>
                  <a:srgbClr val="E6EDF3"/>
                </a:solidFill>
                <a:latin typeface="Courier New" pitchFamily="34" charset="0"/>
                <a:ea typeface="Courier New" pitchFamily="34" charset="-122"/>
                <a:cs typeface="Courier New" pitchFamily="34" charset="-120"/>
              </a:rPr>
              <a:t>, got)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alive after 0.5 s: True True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before set(): []</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after set()  : ['woke']</a:t>
            </a:r>
            <a:endParaRPr lang="en-US" sz="750" dirty="0"/>
          </a:p>
        </p:txBody>
      </p:sp>
      <p:sp>
        <p:nvSpPr>
          <p:cNvPr id="9" name="Text 7"/>
          <p:cNvSpPr txBox="1"/>
          <p:nvPr/>
        </p:nvSpPr>
        <p:spPr>
          <a:xfrm>
            <a:off x="4489704" y="1371600"/>
            <a:ext cx="4197096" cy="34747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Each thread took one lock, paused 0.1 s and asked for the other: after join(0.5) both were still alive, a deadlock.</a:t>
            </a:r>
            <a:endParaRPr lang="en-US" sz="1000" dirty="0"/>
          </a:p>
        </p:txBody>
      </p:sp>
      <p:sp>
        <p:nvSpPr>
          <p:cNvPr id="10" name="Text 8"/>
          <p:cNvSpPr txBox="1"/>
          <p:nvPr/>
        </p:nvSpPr>
        <p:spPr>
          <a:xfrm>
            <a:off x="4489704" y="1828800"/>
            <a:ext cx="4197096" cy="192024"/>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The usual remedy is one agreed order for taking locks.</a:t>
            </a:r>
            <a:endParaRPr lang="en-US" sz="1000" dirty="0"/>
          </a:p>
        </p:txBody>
      </p:sp>
      <p:sp>
        <p:nvSpPr>
          <p:cNvPr id="11" name="Text 9"/>
          <p:cNvSpPr txBox="1"/>
          <p:nvPr/>
        </p:nvSpPr>
        <p:spPr>
          <a:xfrm>
            <a:off x="4489704" y="2130552"/>
            <a:ext cx="4197096" cy="49377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A thread waiting on an Event stayed blocked until set() was called and then went on: the list was empty before and held 'woke' after.</a:t>
            </a:r>
            <a:endParaRPr lang="en-US" sz="10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Locks taken in opposite orders deadlock; an Event says go.</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Semaphores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Semaphore of 2 let at most 2 of 6 threads into the block at once</a:t>
            </a:r>
            <a:endParaRPr lang="en-US" sz="1300" dirty="0"/>
          </a:p>
        </p:txBody>
      </p:sp>
      <p:sp>
        <p:nvSpPr>
          <p:cNvPr id="6" name="Text 4"/>
          <p:cNvSpPr txBox="1"/>
          <p:nvPr/>
        </p:nvSpPr>
        <p:spPr>
          <a:xfrm>
            <a:off x="457200" y="1143000"/>
            <a:ext cx="380390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semCut_v1_0_0.py, lines 1 to 15 of 15</a:t>
            </a:r>
            <a:endParaRPr lang="en-US" sz="1000" dirty="0"/>
          </a:p>
        </p:txBody>
      </p:sp>
      <p:sp>
        <p:nvSpPr>
          <p:cNvPr id="7" name="Shape 5"/>
          <p:cNvSpPr/>
          <p:nvPr/>
        </p:nvSpPr>
        <p:spPr>
          <a:xfrm>
            <a:off x="457200" y="1417320"/>
            <a:ext cx="3803904" cy="2560320"/>
          </a:xfrm>
          <a:prstGeom prst="roundRect">
            <a:avLst>
              <a:gd name="adj" fmla="val 3571"/>
            </a:avLst>
          </a:prstGeom>
          <a:solidFill>
            <a:srgbClr val="23272E"/>
          </a:solidFill>
          <a:ln w="12700">
            <a:solidFill>
              <a:srgbClr val="23272E"/>
            </a:solidFill>
            <a:prstDash val="solid"/>
          </a:ln>
        </p:spPr>
      </p:sp>
      <p:sp>
        <p:nvSpPr>
          <p:cNvPr id="8" name="Text 6"/>
          <p:cNvSpPr txBox="1"/>
          <p:nvPr/>
        </p:nvSpPr>
        <p:spPr>
          <a:xfrm>
            <a:off x="640080" y="1536192"/>
            <a:ext cx="3438144" cy="2322576"/>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threading, time</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trial(limit):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cur, top, lk =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threading.Lock()</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sem = threading.BoundedSemaphore(limit)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f():</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with sem:</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with lk:</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cur[</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 top[</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 max(top[</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cur[</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time.sleep(</a:t>
            </a:r>
            <a:r>
              <a:rPr lang="en-US" sz="750" dirty="0">
                <a:solidFill>
                  <a:srgbClr val="FFD28A"/>
                </a:solidFill>
                <a:latin typeface="Courier New" pitchFamily="34" charset="0"/>
                <a:ea typeface="Courier New" pitchFamily="34" charset="-122"/>
                <a:cs typeface="Courier New" pitchFamily="34" charset="-120"/>
              </a:rPr>
              <a:t>0.1</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with lk: cur[</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1</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ts = [threading.Thread(target=f)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_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range(</a:t>
            </a:r>
            <a:r>
              <a:rPr lang="en-US" sz="750" dirty="0">
                <a:solidFill>
                  <a:srgbClr val="FFD28A"/>
                </a:solidFill>
                <a:latin typeface="Courier New" pitchFamily="34" charset="0"/>
                <a:ea typeface="Courier New" pitchFamily="34" charset="-122"/>
                <a:cs typeface="Courier New" pitchFamily="34" charset="-120"/>
              </a:rPr>
              <a:t>6</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[t.start()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t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ts]; [t.join()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t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ts]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return</a:t>
            </a:r>
            <a:r>
              <a:rPr lang="en-US" sz="750" dirty="0">
                <a:solidFill>
                  <a:srgbClr val="E6EDF3"/>
                </a:solidFill>
                <a:latin typeface="Courier New" pitchFamily="34" charset="0"/>
                <a:ea typeface="Courier New" pitchFamily="34" charset="-122"/>
                <a:cs typeface="Courier New" pitchFamily="34" charset="-120"/>
              </a:rPr>
              <a:t> top[</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'most threads inside, Semaphore(2):'</a:t>
            </a:r>
            <a:r>
              <a:rPr lang="en-US" sz="750" dirty="0">
                <a:solidFill>
                  <a:srgbClr val="E6EDF3"/>
                </a:solidFill>
                <a:latin typeface="Courier New" pitchFamily="34" charset="0"/>
                <a:ea typeface="Courier New" pitchFamily="34" charset="-122"/>
                <a:cs typeface="Courier New" pitchFamily="34" charset="-120"/>
              </a:rPr>
              <a:t>, trial(</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'most threads inside, Semaphore(6):'</a:t>
            </a:r>
            <a:r>
              <a:rPr lang="en-US" sz="750" dirty="0">
                <a:solidFill>
                  <a:srgbClr val="E6EDF3"/>
                </a:solidFill>
                <a:latin typeface="Courier New" pitchFamily="34" charset="0"/>
                <a:ea typeface="Courier New" pitchFamily="34" charset="-122"/>
                <a:cs typeface="Courier New" pitchFamily="34" charset="-120"/>
              </a:rPr>
              <a:t>, trial(</a:t>
            </a:r>
            <a:r>
              <a:rPr lang="en-US" sz="750" dirty="0">
                <a:solidFill>
                  <a:srgbClr val="FFD28A"/>
                </a:solidFill>
                <a:latin typeface="Courier New" pitchFamily="34" charset="0"/>
                <a:ea typeface="Courier New" pitchFamily="34" charset="-122"/>
                <a:cs typeface="Courier New" pitchFamily="34" charset="-120"/>
              </a:rPr>
              <a:t>6</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most threads inside, Semaphore(2): 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most threads inside, Semaphore(6): 6</a:t>
            </a:r>
            <a:endParaRPr lang="en-US" sz="750" dirty="0"/>
          </a:p>
        </p:txBody>
      </p:sp>
      <p:pic>
        <p:nvPicPr>
          <p:cNvPr id="9" name="Image 0" descr="/home/claude/AdvancedProgrammingWithPython/08-tooling/ch25-deck/photos/dijkstra.jpg">    </p:cNvPr>
          <p:cNvPicPr>
            <a:picLocks noChangeAspect="1"/>
          </p:cNvPicPr>
          <p:nvPr/>
        </p:nvPicPr>
        <p:blipFill>
          <a:blip r:embed="rId1"/>
          <a:srcRect l="0" r="0" t="0" b="0"/>
          <a:stretch/>
        </p:blipFill>
        <p:spPr>
          <a:xfrm>
            <a:off x="5029200" y="1353312"/>
            <a:ext cx="1097280" cy="1463040"/>
          </a:xfrm>
          <a:prstGeom prst="rect">
            <a:avLst/>
          </a:prstGeom>
        </p:spPr>
      </p:pic>
      <p:sp>
        <p:nvSpPr>
          <p:cNvPr id="10" name="Text 7"/>
          <p:cNvSpPr txBox="1"/>
          <p:nvPr/>
        </p:nvSpPr>
        <p:spPr>
          <a:xfrm>
            <a:off x="6236208" y="1353312"/>
            <a:ext cx="2450592" cy="612648"/>
          </a:xfrm>
          <a:prstGeom prst="rect">
            <a:avLst/>
          </a:prstGeom>
          <a:noFill/>
          <a:ln/>
        </p:spPr>
        <p:txBody>
          <a:bodyPr wrap="square" lIns="0" tIns="0" rIns="0" bIns="0" rtlCol="0" anchor="t"/>
          <a:lstStyle/>
          <a:p>
            <a:pPr indent="0" marL="0">
              <a:buNone/>
            </a:pPr>
            <a:r>
              <a:rPr lang="en-US" sz="750" i="1" dirty="0">
                <a:solidFill>
                  <a:srgbClr val="6E655C"/>
                </a:solidFill>
                <a:latin typeface="Calibri" pitchFamily="34" charset="0"/>
                <a:ea typeface="Calibri" pitchFamily="34" charset="-122"/>
                <a:cs typeface="Calibri" pitchFamily="34" charset="-120"/>
              </a:rPr>
              <a:t>photo dijkstra.jpg: Edsger Wybe Dijkstra, Hamilton Richards, CC BY-SA 3.0, Wikimedia Commons. Edsger Dijkstra. Reduced copy: flattened on white, resized to 300 x 400 pixels, saved as JPEG at quality 88.</a:t>
            </a:r>
            <a:endParaRPr lang="en-US" sz="750" dirty="0"/>
          </a:p>
        </p:txBody>
      </p:sp>
      <p:sp>
        <p:nvSpPr>
          <p:cNvPr id="11" name="Text 8"/>
          <p:cNvSpPr txBox="1"/>
          <p:nvPr/>
        </p:nvSpPr>
        <p:spPr>
          <a:xfrm>
            <a:off x="5029200" y="2907792"/>
            <a:ext cx="36576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Six threads each held the block for 0.1 s: at most 2 were inside with Semaphore(2), and all 6 with Semaphore(6).</a:t>
            </a:r>
            <a:endParaRPr lang="en-US" sz="900" dirty="0"/>
          </a:p>
        </p:txBody>
      </p:sp>
      <p:sp>
        <p:nvSpPr>
          <p:cNvPr id="12" name="Text 9"/>
          <p:cNvSpPr txBox="1"/>
          <p:nvPr/>
        </p:nvSpPr>
        <p:spPr>
          <a:xfrm>
            <a:off x="5029200" y="3273552"/>
            <a:ext cx="36576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A semaphore limits how many threads work at once, for example how many connections a downloader opens.</a:t>
            </a:r>
            <a:endParaRPr lang="en-US" sz="900" dirty="0"/>
          </a:p>
        </p:txBody>
      </p:sp>
      <p:sp>
        <p:nvSpPr>
          <p:cNvPr id="13" name="Shape 10"/>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4" name="Text 11"/>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Edsger Dijkstra, a Dutch computer scie…</a:t>
            </a:r>
            <a:endParaRPr lang="en-US" sz="750" dirty="0"/>
          </a:p>
        </p:txBody>
      </p:sp>
      <p:sp>
        <p:nvSpPr>
          <p:cNvPr id="15" name="Shape 12"/>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team developing the THE multiprogr…</a:t>
            </a:r>
            <a:endParaRPr lang="en-US" sz="750" dirty="0"/>
          </a:p>
        </p:txBody>
      </p:sp>
      <p:sp>
        <p:nvSpPr>
          <p:cNvPr id="17" name="Shape 14"/>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1962 or 1963</a:t>
            </a:r>
            <a:endParaRPr lang="en-US" sz="750" dirty="0"/>
          </a:p>
        </p:txBody>
      </p:sp>
      <p:sp>
        <p:nvSpPr>
          <p:cNvPr id="19" name="Shape 16"/>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20" name="Text 17"/>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semaphore limits how many threads work at once.</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Queues and thread-local data</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queue hands items over in order; a threading.local value stays in its thread</a:t>
            </a:r>
            <a:endParaRPr lang="en-US" sz="1300" dirty="0"/>
          </a:p>
        </p:txBody>
      </p:sp>
      <p:sp>
        <p:nvSpPr>
          <p:cNvPr id="6" name="Shape 4"/>
          <p:cNvSpPr/>
          <p:nvPr/>
        </p:nvSpPr>
        <p:spPr>
          <a:xfrm>
            <a:off x="502920" y="1280160"/>
            <a:ext cx="100584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0942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producer thread</a:t>
            </a:r>
            <a:endParaRPr lang="en-US" sz="1000" dirty="0"/>
          </a:p>
        </p:txBody>
      </p:sp>
      <p:sp>
        <p:nvSpPr>
          <p:cNvPr id="8" name="Shape 6"/>
          <p:cNvSpPr/>
          <p:nvPr/>
        </p:nvSpPr>
        <p:spPr>
          <a:xfrm>
            <a:off x="1005840" y="1664208"/>
            <a:ext cx="0" cy="2084832"/>
          </a:xfrm>
          <a:prstGeom prst="line">
            <a:avLst/>
          </a:prstGeom>
          <a:noFill/>
          <a:ln w="19050">
            <a:solidFill>
              <a:srgbClr val="DFD6C7"/>
            </a:solidFill>
            <a:prstDash val="dash"/>
          </a:ln>
        </p:spPr>
      </p:sp>
      <p:sp>
        <p:nvSpPr>
          <p:cNvPr id="9" name="Shape 7"/>
          <p:cNvSpPr/>
          <p:nvPr/>
        </p:nvSpPr>
        <p:spPr>
          <a:xfrm>
            <a:off x="2011680" y="1280160"/>
            <a:ext cx="100584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2066544" y="1386230"/>
            <a:ext cx="89611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queue</a:t>
            </a:r>
            <a:endParaRPr lang="en-US" sz="1000" dirty="0"/>
          </a:p>
        </p:txBody>
      </p:sp>
      <p:sp>
        <p:nvSpPr>
          <p:cNvPr id="11" name="Shape 9"/>
          <p:cNvSpPr/>
          <p:nvPr/>
        </p:nvSpPr>
        <p:spPr>
          <a:xfrm>
            <a:off x="2514600" y="1664208"/>
            <a:ext cx="0" cy="2084832"/>
          </a:xfrm>
          <a:prstGeom prst="line">
            <a:avLst/>
          </a:prstGeom>
          <a:noFill/>
          <a:ln w="19050">
            <a:solidFill>
              <a:srgbClr val="DFD6C7"/>
            </a:solidFill>
            <a:prstDash val="dash"/>
          </a:ln>
        </p:spPr>
      </p:sp>
      <p:sp>
        <p:nvSpPr>
          <p:cNvPr id="12" name="Shape 10"/>
          <p:cNvSpPr/>
          <p:nvPr/>
        </p:nvSpPr>
        <p:spPr>
          <a:xfrm>
            <a:off x="3520440" y="1280160"/>
            <a:ext cx="100584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3575304" y="130942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consumer thread</a:t>
            </a:r>
            <a:endParaRPr lang="en-US" sz="1000" dirty="0"/>
          </a:p>
        </p:txBody>
      </p:sp>
      <p:sp>
        <p:nvSpPr>
          <p:cNvPr id="14" name="Shape 12"/>
          <p:cNvSpPr/>
          <p:nvPr/>
        </p:nvSpPr>
        <p:spPr>
          <a:xfrm>
            <a:off x="4023360" y="1664208"/>
            <a:ext cx="0" cy="2084832"/>
          </a:xfrm>
          <a:prstGeom prst="line">
            <a:avLst/>
          </a:prstGeom>
          <a:noFill/>
          <a:ln w="19050">
            <a:solidFill>
              <a:srgbClr val="DFD6C7"/>
            </a:solidFill>
            <a:prstDash val="dash"/>
          </a:ln>
        </p:spPr>
      </p:sp>
      <p:sp>
        <p:nvSpPr>
          <p:cNvPr id="15" name="Shape 13"/>
          <p:cNvSpPr/>
          <p:nvPr/>
        </p:nvSpPr>
        <p:spPr>
          <a:xfrm>
            <a:off x="1005840" y="2042770"/>
            <a:ext cx="1508760" cy="0"/>
          </a:xfrm>
          <a:prstGeom prst="line">
            <a:avLst/>
          </a:prstGeom>
          <a:noFill/>
          <a:ln w="22225">
            <a:solidFill>
              <a:srgbClr val="D97A14"/>
            </a:solidFill>
            <a:prstDash val="solid"/>
            <a:tailEnd type="triangle"/>
          </a:ln>
        </p:spPr>
      </p:sp>
      <p:sp>
        <p:nvSpPr>
          <p:cNvPr id="16" name="Text 14"/>
          <p:cNvSpPr txBox="1"/>
          <p:nvPr/>
        </p:nvSpPr>
        <p:spPr>
          <a:xfrm>
            <a:off x="1097280" y="1732788"/>
            <a:ext cx="132588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Puts the numbers into the queue</a:t>
            </a:r>
            <a:endParaRPr lang="en-US" sz="800" dirty="0"/>
          </a:p>
        </p:txBody>
      </p:sp>
      <p:sp>
        <p:nvSpPr>
          <p:cNvPr id="17" name="Shape 15"/>
          <p:cNvSpPr/>
          <p:nvPr/>
        </p:nvSpPr>
        <p:spPr>
          <a:xfrm>
            <a:off x="1005840" y="2441448"/>
            <a:ext cx="1508760" cy="0"/>
          </a:xfrm>
          <a:prstGeom prst="line">
            <a:avLst/>
          </a:prstGeom>
          <a:noFill/>
          <a:ln w="22225">
            <a:solidFill>
              <a:srgbClr val="D97A14"/>
            </a:solidFill>
            <a:prstDash val="solid"/>
            <a:tailEnd type="triangle"/>
          </a:ln>
        </p:spPr>
      </p:sp>
      <p:sp>
        <p:nvSpPr>
          <p:cNvPr id="18" name="Text 16"/>
          <p:cNvSpPr txBox="1"/>
          <p:nvPr/>
        </p:nvSpPr>
        <p:spPr>
          <a:xfrm>
            <a:off x="1097280" y="2131466"/>
            <a:ext cx="132588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Puts the marker None into the queue</a:t>
            </a:r>
            <a:endParaRPr lang="en-US" sz="800" dirty="0"/>
          </a:p>
        </p:txBody>
      </p:sp>
      <p:sp>
        <p:nvSpPr>
          <p:cNvPr id="19" name="Shape 17"/>
          <p:cNvSpPr/>
          <p:nvPr/>
        </p:nvSpPr>
        <p:spPr>
          <a:xfrm flipH="1">
            <a:off x="2514600" y="2840126"/>
            <a:ext cx="1508760" cy="0"/>
          </a:xfrm>
          <a:prstGeom prst="line">
            <a:avLst/>
          </a:prstGeom>
          <a:noFill/>
          <a:ln w="22225">
            <a:solidFill>
              <a:srgbClr val="D97A14"/>
            </a:solidFill>
            <a:prstDash val="solid"/>
            <a:tailEnd type="triangle"/>
          </a:ln>
        </p:spPr>
      </p:sp>
      <p:sp>
        <p:nvSpPr>
          <p:cNvPr id="20" name="Text 18"/>
          <p:cNvSpPr txBox="1"/>
          <p:nvPr/>
        </p:nvSpPr>
        <p:spPr>
          <a:xfrm>
            <a:off x="2606040" y="2652674"/>
            <a:ext cx="13258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Takes the items in order</a:t>
            </a:r>
            <a:endParaRPr lang="en-US" sz="800" dirty="0"/>
          </a:p>
        </p:txBody>
      </p:sp>
      <p:sp>
        <p:nvSpPr>
          <p:cNvPr id="21" name="Shape 19"/>
          <p:cNvSpPr/>
          <p:nvPr/>
        </p:nvSpPr>
        <p:spPr>
          <a:xfrm>
            <a:off x="2514600" y="3238805"/>
            <a:ext cx="1508760" cy="0"/>
          </a:xfrm>
          <a:prstGeom prst="line">
            <a:avLst/>
          </a:prstGeom>
          <a:noFill/>
          <a:ln w="22225">
            <a:solidFill>
              <a:srgbClr val="6E655C"/>
            </a:solidFill>
            <a:prstDash val="dash"/>
            <a:tailEnd type="triangle"/>
          </a:ln>
        </p:spPr>
      </p:sp>
      <p:sp>
        <p:nvSpPr>
          <p:cNvPr id="22" name="Text 20"/>
          <p:cNvSpPr txBox="1"/>
          <p:nvPr/>
        </p:nvSpPr>
        <p:spPr>
          <a:xfrm>
            <a:off x="2606040" y="3051353"/>
            <a:ext cx="13258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Hands over each item</a:t>
            </a:r>
            <a:endParaRPr lang="en-US" sz="800" dirty="0"/>
          </a:p>
        </p:txBody>
      </p:sp>
      <p:sp>
        <p:nvSpPr>
          <p:cNvPr id="23" name="Shape 21"/>
          <p:cNvSpPr/>
          <p:nvPr/>
        </p:nvSpPr>
        <p:spPr>
          <a:xfrm flipH="1">
            <a:off x="2514600" y="3637483"/>
            <a:ext cx="1508760" cy="0"/>
          </a:xfrm>
          <a:prstGeom prst="line">
            <a:avLst/>
          </a:prstGeom>
          <a:noFill/>
          <a:ln w="22225">
            <a:solidFill>
              <a:srgbClr val="D97A14"/>
            </a:solidFill>
            <a:prstDash val="solid"/>
            <a:tailEnd type="triangle"/>
          </a:ln>
        </p:spPr>
      </p:sp>
      <p:sp>
        <p:nvSpPr>
          <p:cNvPr id="24" name="Text 22"/>
          <p:cNvSpPr txBox="1"/>
          <p:nvPr/>
        </p:nvSpPr>
        <p:spPr>
          <a:xfrm>
            <a:off x="2606040" y="3327502"/>
            <a:ext cx="132588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task_done() for each item</a:t>
            </a:r>
            <a:endParaRPr lang="en-US" sz="800" dirty="0"/>
          </a:p>
        </p:txBody>
      </p:sp>
      <p:sp>
        <p:nvSpPr>
          <p:cNvPr id="25" name="Text 23"/>
          <p:cNvSpPr txBox="1"/>
          <p:nvPr/>
        </p:nvSpPr>
        <p:spPr>
          <a:xfrm>
            <a:off x="457200" y="3776472"/>
            <a:ext cx="41148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TheProducerAndTheConsumer - Interaction pattern, 22 of 26 words grounded in the chapter's text</a:t>
            </a:r>
            <a:endParaRPr lang="en-US" sz="850" dirty="0"/>
          </a:p>
        </p:txBody>
      </p:sp>
      <p:sp>
        <p:nvSpPr>
          <p:cNvPr id="26" name="Text 24"/>
          <p:cNvSpPr txBox="1"/>
          <p:nvPr/>
        </p:nvSpPr>
        <p:spPr>
          <a:xfrm>
            <a:off x="4754880" y="1143000"/>
            <a:ext cx="32278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queueCut_v1_0_0.py, lines 1 to 10 of 10</a:t>
            </a:r>
            <a:endParaRPr lang="en-US" sz="1000" dirty="0"/>
          </a:p>
        </p:txBody>
      </p:sp>
      <p:sp>
        <p:nvSpPr>
          <p:cNvPr id="27" name="Shape 25"/>
          <p:cNvSpPr/>
          <p:nvPr/>
        </p:nvSpPr>
        <p:spPr>
          <a:xfrm>
            <a:off x="4754880" y="1417320"/>
            <a:ext cx="3227832" cy="1664208"/>
          </a:xfrm>
          <a:prstGeom prst="roundRect">
            <a:avLst>
              <a:gd name="adj" fmla="val 5495"/>
            </a:avLst>
          </a:prstGeom>
          <a:solidFill>
            <a:srgbClr val="23272E"/>
          </a:solidFill>
          <a:ln w="12700">
            <a:solidFill>
              <a:srgbClr val="23272E"/>
            </a:solidFill>
            <a:prstDash val="solid"/>
          </a:ln>
        </p:spPr>
      </p:sp>
      <p:sp>
        <p:nvSpPr>
          <p:cNvPr id="28" name="Text 26"/>
          <p:cNvSpPr txBox="1"/>
          <p:nvPr/>
        </p:nvSpPr>
        <p:spPr>
          <a:xfrm>
            <a:off x="4937760" y="1536192"/>
            <a:ext cx="2862072" cy="14264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threading, queue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q, got = queue.Queue(),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consumer():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(x := q.get()) is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got.append(x); q.task_done()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q.task_done()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threading.Thread(target=consumer); t.start()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q.put(i)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q.put(</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q.join(); t.join()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'consumer received'</a:t>
            </a:r>
            <a:r>
              <a:rPr lang="en-US" sz="700" dirty="0">
                <a:solidFill>
                  <a:srgbClr val="E6EDF3"/>
                </a:solidFill>
                <a:latin typeface="Courier New" pitchFamily="34" charset="0"/>
                <a:ea typeface="Courier New" pitchFamily="34" charset="-122"/>
                <a:cs typeface="Courier New" pitchFamily="34" charset="-120"/>
              </a:rPr>
              <a:t>, got)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consumer received [0, 1, 2, 3, 4]</a:t>
            </a:r>
            <a:endParaRPr lang="en-US" sz="700" dirty="0"/>
          </a:p>
        </p:txBody>
      </p:sp>
      <p:sp>
        <p:nvSpPr>
          <p:cNvPr id="29" name="Shape 27"/>
          <p:cNvSpPr/>
          <p:nvPr/>
        </p:nvSpPr>
        <p:spPr>
          <a:xfrm>
            <a:off x="4754880" y="3172968"/>
            <a:ext cx="3931920" cy="1152144"/>
          </a:xfrm>
          <a:prstGeom prst="roundRect">
            <a:avLst>
              <a:gd name="adj" fmla="val 7937"/>
            </a:avLst>
          </a:prstGeom>
          <a:solidFill>
            <a:srgbClr val="23272E"/>
          </a:solidFill>
          <a:ln w="12700">
            <a:solidFill>
              <a:srgbClr val="23272E"/>
            </a:solidFill>
            <a:prstDash val="solid"/>
          </a:ln>
        </p:spPr>
      </p:sp>
      <p:sp>
        <p:nvSpPr>
          <p:cNvPr id="30" name="Text 28"/>
          <p:cNvSpPr txBox="1"/>
          <p:nvPr/>
        </p:nvSpPr>
        <p:spPr>
          <a:xfrm>
            <a:off x="4937760" y="3291840"/>
            <a:ext cx="3566160" cy="914400"/>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import threading</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tl = threading.local()</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def put(): tl.x = 1</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t = threading.Thread(target=put); t.start(); t.join()</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hasattr(tl, 'x')</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False</a:t>
            </a:r>
            <a:endParaRPr lang="en-US" sz="780" dirty="0"/>
          </a:p>
        </p:txBody>
      </p:sp>
      <p:sp>
        <p:nvSpPr>
          <p:cNvPr id="31" name="Text 29"/>
          <p:cNvSpPr txBox="1"/>
          <p:nvPr/>
        </p:nvSpPr>
        <p:spPr>
          <a:xfrm>
            <a:off x="457200" y="4160520"/>
            <a:ext cx="41148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consumer received [0, 1, 2, 3, 4] in order and stopped at the marker None: items are handed over, not shared.</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queue hands items over, so nothing is shared.</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Pools: results, errors, cancelling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map keeps the order of the inputs; a Future carries its error to result()</a:t>
            </a:r>
            <a:endParaRPr lang="en-US" sz="1300" dirty="0"/>
          </a:p>
        </p:txBody>
      </p:sp>
      <p:sp>
        <p:nvSpPr>
          <p:cNvPr id="6" name="Text 4"/>
          <p:cNvSpPr txBox="1"/>
          <p:nvPr/>
        </p:nvSpPr>
        <p:spPr>
          <a:xfrm>
            <a:off x="457200" y="1143000"/>
            <a:ext cx="39684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poolCut_v1_0_0.py, lines 1 to 16 of 16</a:t>
            </a:r>
            <a:endParaRPr lang="en-US" sz="1000" dirty="0"/>
          </a:p>
        </p:txBody>
      </p:sp>
      <p:sp>
        <p:nvSpPr>
          <p:cNvPr id="7" name="Shape 5"/>
          <p:cNvSpPr/>
          <p:nvPr/>
        </p:nvSpPr>
        <p:spPr>
          <a:xfrm>
            <a:off x="457200" y="1417320"/>
            <a:ext cx="3968496"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3602736" cy="25694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os, time, threading</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concurrent.futures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ThreadPoolExecutor, as_completed</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f(n):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0.1</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 n));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ThreadPoolExecutor(</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as 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'map          :'</a:t>
            </a:r>
            <a:r>
              <a:rPr lang="en-US" sz="700" dirty="0">
                <a:solidFill>
                  <a:srgbClr val="E6EDF3"/>
                </a:solidFill>
                <a:latin typeface="Courier New" pitchFamily="34" charset="0"/>
                <a:ea typeface="Courier New" pitchFamily="34" charset="-122"/>
                <a:cs typeface="Courier New" pitchFamily="34" charset="-120"/>
              </a:rPr>
              <a:t>, list(ex.map(f,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fs = [ex.submit(f, n)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done = [fu.result()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fu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as_completed(fs)]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'as_completed :'</a:t>
            </a:r>
            <a:r>
              <a:rPr lang="en-US" sz="700" dirty="0">
                <a:solidFill>
                  <a:srgbClr val="E6EDF3"/>
                </a:solidFill>
                <a:latin typeface="Courier New" pitchFamily="34" charset="0"/>
                <a:ea typeface="Courier New" pitchFamily="34" charset="-122"/>
                <a:cs typeface="Courier New" pitchFamily="34" charset="-120"/>
              </a:rPr>
              <a:t>, done)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name(i):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0.05</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threading.current_thread().name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ThreadPoolExecutor(</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thread_name_prefix=</a:t>
            </a:r>
            <a:r>
              <a:rPr lang="en-US" sz="700" dirty="0">
                <a:solidFill>
                  <a:srgbClr val="9ECBFF"/>
                </a:solidFill>
                <a:latin typeface="Courier New" pitchFamily="34" charset="0"/>
                <a:ea typeface="Courier New" pitchFamily="34" charset="-122"/>
                <a:cs typeface="Courier New" pitchFamily="34" charset="-120"/>
              </a:rPr>
              <a:t>'dl'</a:t>
            </a:r>
            <a:r>
              <a:rPr lang="en-US" sz="700" dirty="0">
                <a:solidFill>
                  <a:srgbClr val="E6EDF3"/>
                </a:solidFill>
                <a:latin typeface="Courier New" pitchFamily="34" charset="0"/>
                <a:ea typeface="Courier New" pitchFamily="34" charset="-122"/>
                <a:cs typeface="Courier New" pitchFamily="34" charset="-120"/>
              </a:rPr>
              <a:t>) as 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'worker names :'</a:t>
            </a:r>
            <a:r>
              <a:rPr lang="en-US" sz="700" dirty="0">
                <a:solidFill>
                  <a:srgbClr val="E6EDF3"/>
                </a:solidFill>
                <a:latin typeface="Courier New" pitchFamily="34" charset="0"/>
                <a:ea typeface="Courier New" pitchFamily="34" charset="-122"/>
                <a:cs typeface="Courier New" pitchFamily="34" charset="-120"/>
              </a:rPr>
              <a:t>, sorted(set(ex.map(name, range(</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ThreadPoolExecutor() as 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 = ex._max_workers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'default max_workers on'</a:t>
            </a:r>
            <a:r>
              <a:rPr lang="en-US" sz="700" dirty="0">
                <a:solidFill>
                  <a:srgbClr val="E6EDF3"/>
                </a:solidFill>
                <a:latin typeface="Courier New" pitchFamily="34" charset="0"/>
                <a:ea typeface="Courier New" pitchFamily="34" charset="-122"/>
                <a:cs typeface="Courier New" pitchFamily="34" charset="-120"/>
              </a:rPr>
              <a:t>, os.cpu_count(), </a:t>
            </a:r>
            <a:r>
              <a:rPr lang="en-US" sz="700" dirty="0">
                <a:solidFill>
                  <a:srgbClr val="9ECBFF"/>
                </a:solidFill>
                <a:latin typeface="Courier New" pitchFamily="34" charset="0"/>
                <a:ea typeface="Courier New" pitchFamily="34" charset="-122"/>
                <a:cs typeface="Courier New" pitchFamily="34" charset="-120"/>
              </a:rPr>
              <a:t>'CPUs:'</a:t>
            </a:r>
            <a:r>
              <a:rPr lang="en-US" sz="700" dirty="0">
                <a:solidFill>
                  <a:srgbClr val="E6EDF3"/>
                </a:solidFill>
                <a:latin typeface="Courier New" pitchFamily="34" charset="0"/>
                <a:ea typeface="Courier New" pitchFamily="34" charset="-122"/>
                <a:cs typeface="Courier New" pitchFamily="34" charset="-120"/>
              </a:rPr>
              <a:t>, n)</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map          : [0, 1,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as_completed : [2, 1,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worker names : ['dl_0', 'dl_1']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default max_workers on 2 CPUs: 6</a:t>
            </a:r>
            <a:endParaRPr lang="en-US" sz="700" dirty="0"/>
          </a:p>
        </p:txBody>
      </p:sp>
      <p:sp>
        <p:nvSpPr>
          <p:cNvPr id="9" name="Text 7"/>
          <p:cNvSpPr txBox="1"/>
          <p:nvPr/>
        </p:nvSpPr>
        <p:spPr>
          <a:xfrm>
            <a:off x="4773168" y="1143000"/>
            <a:ext cx="39136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poolerrCut_v1_0_0.py, lines 1 to 17 of 17</a:t>
            </a:r>
            <a:endParaRPr lang="en-US" sz="1000" dirty="0"/>
          </a:p>
        </p:txBody>
      </p:sp>
      <p:sp>
        <p:nvSpPr>
          <p:cNvPr id="10" name="Shape 8"/>
          <p:cNvSpPr/>
          <p:nvPr/>
        </p:nvSpPr>
        <p:spPr>
          <a:xfrm>
            <a:off x="4773168" y="1417320"/>
            <a:ext cx="3913632" cy="2935224"/>
          </a:xfrm>
          <a:prstGeom prst="roundRect">
            <a:avLst>
              <a:gd name="adj" fmla="val 3115"/>
            </a:avLst>
          </a:prstGeom>
          <a:solidFill>
            <a:srgbClr val="23272E"/>
          </a:solidFill>
          <a:ln w="12700">
            <a:solidFill>
              <a:srgbClr val="23272E"/>
            </a:solidFill>
            <a:prstDash val="solid"/>
          </a:ln>
        </p:spPr>
      </p:sp>
      <p:sp>
        <p:nvSpPr>
          <p:cNvPr id="11" name="Text 9"/>
          <p:cNvSpPr txBox="1"/>
          <p:nvPr/>
        </p:nvSpPr>
        <p:spPr>
          <a:xfrm>
            <a:off x="4956048" y="1536192"/>
            <a:ext cx="3547872" cy="269748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time, concurrent.futures as cf</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bad(): raise ValueError(</a:t>
            </a:r>
            <a:r>
              <a:rPr lang="en-US" sz="700" dirty="0">
                <a:solidFill>
                  <a:srgbClr val="9ECBFF"/>
                </a:solidFill>
                <a:latin typeface="Courier New" pitchFamily="34" charset="0"/>
                <a:ea typeface="Courier New" pitchFamily="34" charset="-122"/>
                <a:cs typeface="Courier New" pitchFamily="34" charset="-120"/>
              </a:rPr>
              <a:t>'boom'</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cf.ThreadPoolExecutor(</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as 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fu = ex.submit(bad); time.sleep(</a:t>
            </a:r>
            <a:r>
              <a:rPr lang="en-US" sz="700" dirty="0">
                <a:solidFill>
                  <a:srgbClr val="FFD28A"/>
                </a:solidFill>
                <a:latin typeface="Courier New" pitchFamily="34" charset="0"/>
                <a:ea typeface="Courier New" pitchFamily="34" charset="-122"/>
                <a:cs typeface="Courier New" pitchFamily="34" charset="-120"/>
              </a:rPr>
              <a:t>0.1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'exception():'</a:t>
            </a:r>
            <a:r>
              <a:rPr lang="en-US" sz="700" dirty="0">
                <a:solidFill>
                  <a:srgbClr val="E6EDF3"/>
                </a:solidFill>
                <a:latin typeface="Courier New" pitchFamily="34" charset="0"/>
                <a:ea typeface="Courier New" pitchFamily="34" charset="-122"/>
                <a:cs typeface="Courier New" pitchFamily="34" charset="-120"/>
              </a:rPr>
              <a:t>, repr(fu.exception()))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 fu.result()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ValueError as e: print(</a:t>
            </a:r>
            <a:r>
              <a:rPr lang="en-US" sz="700" dirty="0">
                <a:solidFill>
                  <a:srgbClr val="9ECBFF"/>
                </a:solidFill>
                <a:latin typeface="Courier New" pitchFamily="34" charset="0"/>
                <a:ea typeface="Courier New" pitchFamily="34" charset="-122"/>
                <a:cs typeface="Courier New" pitchFamily="34" charset="-120"/>
              </a:rPr>
              <a:t>'result() raises:'</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slow = ex.submit(time.sleep, </a:t>
            </a:r>
            <a:r>
              <a:rPr lang="en-US" sz="700" dirty="0">
                <a:solidFill>
                  <a:srgbClr val="FFD28A"/>
                </a:solidFill>
                <a:latin typeface="Courier New" pitchFamily="34" charset="0"/>
                <a:ea typeface="Courier New" pitchFamily="34" charset="-122"/>
                <a:cs typeface="Courier New" pitchFamily="34" charset="-120"/>
              </a:rPr>
              <a:t>0.5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 slow.result(timeout=</a:t>
            </a:r>
            <a:r>
              <a:rPr lang="en-US" sz="700" dirty="0">
                <a:solidFill>
                  <a:srgbClr val="FFD28A"/>
                </a:solidFill>
                <a:latin typeface="Courier New" pitchFamily="34" charset="0"/>
                <a:ea typeface="Courier New" pitchFamily="34" charset="-122"/>
                <a:cs typeface="Courier New" pitchFamily="34" charset="-120"/>
              </a:rPr>
              <a:t>0.1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TimeoutError: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'timeout=0.1: TimeoutError | done:'</a:t>
            </a:r>
            <a:r>
              <a:rPr lang="en-US" sz="700" dirty="0">
                <a:solidFill>
                  <a:srgbClr val="E6EDF3"/>
                </a:solidFill>
                <a:latin typeface="Courier New" pitchFamily="34" charset="0"/>
                <a:ea typeface="Courier New" pitchFamily="34" charset="-122"/>
                <a:cs typeface="Courier New" pitchFamily="34" charset="-120"/>
              </a:rPr>
              <a:t>, slow.done())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 = cf.ThreadPoolExecutor(</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fs = [ex.submit(time.sleep, </a:t>
            </a:r>
            <a:r>
              <a:rPr lang="en-US" sz="700" dirty="0">
                <a:solidFill>
                  <a:srgbClr val="FFD28A"/>
                </a:solidFill>
                <a:latin typeface="Courier New" pitchFamily="34" charset="0"/>
                <a:ea typeface="Courier New" pitchFamily="34" charset="-122"/>
                <a:cs typeface="Courier New" pitchFamily="34" charset="-120"/>
              </a:rPr>
              <a:t>0.2</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time.sleep(</a:t>
            </a:r>
            <a:r>
              <a:rPr lang="en-US" sz="700" dirty="0">
                <a:solidFill>
                  <a:srgbClr val="FFD28A"/>
                </a:solidFill>
                <a:latin typeface="Courier New" pitchFamily="34" charset="0"/>
                <a:ea typeface="Courier New" pitchFamily="34" charset="-122"/>
                <a:cs typeface="Courier New" pitchFamily="34" charset="-120"/>
              </a:rPr>
              <a:t>0.05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ex.shutdown(wait=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cancel_futures=</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gone = sum(f.cancelled()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f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fs)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'cancelled'</a:t>
            </a:r>
            <a:r>
              <a:rPr lang="en-US" sz="700" dirty="0">
                <a:solidFill>
                  <a:srgbClr val="E6EDF3"/>
                </a:solidFill>
                <a:latin typeface="Courier New" pitchFamily="34" charset="0"/>
                <a:ea typeface="Courier New" pitchFamily="34" charset="-122"/>
                <a:cs typeface="Courier New" pitchFamily="34" charset="-120"/>
              </a:rPr>
              <a:t>, gone, </a:t>
            </a:r>
            <a:r>
              <a:rPr lang="en-US" sz="700" dirty="0">
                <a:solidFill>
                  <a:srgbClr val="9ECBFF"/>
                </a:solidFill>
                <a:latin typeface="Courier New" pitchFamily="34" charset="0"/>
                <a:ea typeface="Courier New" pitchFamily="34" charset="-122"/>
                <a:cs typeface="Courier New" pitchFamily="34" charset="-120"/>
              </a:rPr>
              <a:t>'of 5 | ran'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 gone)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exception(): ValueError('boom')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result() raises: boom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timeout=0.1: TimeoutError | done: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cancelled 4 of 5 | ran 1</a:t>
            </a:r>
            <a:endParaRPr lang="en-US" sz="700" dirty="0"/>
          </a:p>
        </p:txBody>
      </p:sp>
      <p:sp>
        <p:nvSpPr>
          <p:cNvPr id="12" name="Text 10"/>
          <p:cNvSpPr txBox="1"/>
          <p:nvPr/>
        </p:nvSpPr>
        <p:spPr>
          <a:xfrm>
            <a:off x="457200" y="4261104"/>
            <a:ext cx="402336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map kept the input order; as_completed yielded [2, 1, 0].</a:t>
            </a:r>
            <a:endParaRPr lang="en-US" sz="800" dirty="0"/>
          </a:p>
        </p:txBody>
      </p:sp>
      <p:sp>
        <p:nvSpPr>
          <p:cNvPr id="13" name="Text 11"/>
          <p:cNvSpPr txBox="1"/>
          <p:nvPr/>
        </p:nvSpPr>
        <p:spPr>
          <a:xfrm>
            <a:off x="4572000" y="4389120"/>
            <a:ext cx="411480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cancel_futures=True cancelled 4 of 5 queued tasks.</a:t>
            </a:r>
            <a:endParaRPr lang="en-US" sz="8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map keeps input order; a Future carries its error to result().</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GIL on, and off</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standard build has the lock; the free-threaded build can switch it off</a:t>
            </a:r>
            <a:endParaRPr lang="en-US" sz="1300" dirty="0"/>
          </a:p>
        </p:txBody>
      </p:sp>
      <p:sp>
        <p:nvSpPr>
          <p:cNvPr id="6" name="Text 4"/>
          <p:cNvSpPr txBox="1"/>
          <p:nvPr/>
        </p:nvSpPr>
        <p:spPr>
          <a:xfrm>
            <a:off x="457200" y="1143000"/>
            <a:ext cx="380390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gilCut_v1_0_0.py, lines 3 to 16 of 16</a:t>
            </a:r>
            <a:endParaRPr lang="en-US" sz="1000" dirty="0"/>
          </a:p>
        </p:txBody>
      </p:sp>
      <p:sp>
        <p:nvSpPr>
          <p:cNvPr id="7" name="Shape 5"/>
          <p:cNvSpPr/>
          <p:nvPr/>
        </p:nvSpPr>
        <p:spPr>
          <a:xfrm>
            <a:off x="457200" y="1417320"/>
            <a:ext cx="3803904"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3438144"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ask = (</a:t>
            </a:r>
            <a:r>
              <a:rPr lang="en-US" sz="700" dirty="0">
                <a:solidFill>
                  <a:srgbClr val="9ECBFF"/>
                </a:solidFill>
                <a:latin typeface="Courier New" pitchFamily="34" charset="0"/>
                <a:ea typeface="Courier New" pitchFamily="34" charset="-122"/>
                <a:cs typeface="Courier New" pitchFamily="34" charset="-120"/>
              </a:rPr>
              <a:t>'import sys, sysconfig; print(sys._is_gil_enabled(),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'sysconfig.get_config_var("Py_GIL_DISABLED"))'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run(exe, *flags, **env):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 = dict(os.environ, **env)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 = subprocess.run([exe, *flags,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 ask], text=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capture_output=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env=e)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r.stdout.strip()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flag = sysconfig.get_config_var(</a:t>
            </a:r>
            <a:r>
              <a:rPr lang="en-US" sz="700" dirty="0">
                <a:solidFill>
                  <a:srgbClr val="9ECBFF"/>
                </a:solidFill>
                <a:latin typeface="Courier New" pitchFamily="34" charset="0"/>
                <a:ea typeface="Courier New" pitchFamily="34" charset="-122"/>
                <a:cs typeface="Courier New" pitchFamily="34" charset="-120"/>
              </a:rPr>
              <a:t>'Py_GIL_DISABLED'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std = (sys._is_gil_enabled(), flag)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'GIL on?, Py_GIL_DISABLED'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'standard build      :'</a:t>
            </a:r>
            <a:r>
              <a:rPr lang="en-US" sz="700" dirty="0">
                <a:solidFill>
                  <a:srgbClr val="E6EDF3"/>
                </a:solidFill>
                <a:latin typeface="Courier New" pitchFamily="34" charset="0"/>
                <a:ea typeface="Courier New" pitchFamily="34" charset="-122"/>
                <a:cs typeface="Courier New" pitchFamily="34" charset="-120"/>
              </a:rPr>
              <a:t>, *std)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'free-threaded build :'</a:t>
            </a:r>
            <a:r>
              <a:rPr lang="en-US" sz="700" dirty="0">
                <a:solidFill>
                  <a:srgbClr val="E6EDF3"/>
                </a:solidFill>
                <a:latin typeface="Courier New" pitchFamily="34" charset="0"/>
                <a:ea typeface="Courier New" pitchFamily="34" charset="-122"/>
                <a:cs typeface="Courier New" pitchFamily="34" charset="-120"/>
              </a:rPr>
              <a:t>, run(FT))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  with PYTHON_GIL=1 :'</a:t>
            </a:r>
            <a:r>
              <a:rPr lang="en-US" sz="700" dirty="0">
                <a:solidFill>
                  <a:srgbClr val="E6EDF3"/>
                </a:solidFill>
                <a:latin typeface="Courier New" pitchFamily="34" charset="0"/>
                <a:ea typeface="Courier New" pitchFamily="34" charset="-122"/>
                <a:cs typeface="Courier New" pitchFamily="34" charset="-120"/>
              </a:rPr>
              <a:t>, run(FT, PYTHON_GIL=</a:t>
            </a:r>
            <a:r>
              <a:rPr lang="en-US" sz="700" dirty="0">
                <a:solidFill>
                  <a:srgbClr val="9ECBFF"/>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  with -X gil=1     :'</a:t>
            </a:r>
            <a:r>
              <a:rPr lang="en-US" sz="700" dirty="0">
                <a:solidFill>
                  <a:srgbClr val="E6EDF3"/>
                </a:solidFill>
                <a:latin typeface="Courier New" pitchFamily="34" charset="0"/>
                <a:ea typeface="Courier New" pitchFamily="34" charset="-122"/>
                <a:cs typeface="Courier New" pitchFamily="34" charset="-120"/>
              </a:rPr>
              <a:t>, run(FT, </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'gil=1'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GIL on?, Py_GIL_DISABLED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standard build      : True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free-threaded build : False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with PYTHON_GIL=1 : True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with -X gil=1     : True 1</a:t>
            </a:r>
            <a:endParaRPr lang="en-US" sz="700" dirty="0"/>
          </a:p>
        </p:txBody>
      </p:sp>
      <p:pic>
        <p:nvPicPr>
          <p:cNvPr id="9" name="Image 0" descr="/home/claude/AdvancedProgrammingWithPython/08-tooling/ch25-deck/photos/threads.png">    </p:cNvPr>
          <p:cNvPicPr>
            <a:picLocks noChangeAspect="1"/>
          </p:cNvPicPr>
          <p:nvPr/>
        </p:nvPicPr>
        <p:blipFill>
          <a:blip r:embed="rId1"/>
          <a:srcRect l="0" r="0" t="0" b="0"/>
          <a:stretch/>
        </p:blipFill>
        <p:spPr>
          <a:xfrm>
            <a:off x="4443984" y="1353312"/>
            <a:ext cx="1188720" cy="1124712"/>
          </a:xfrm>
          <a:prstGeom prst="rect">
            <a:avLst/>
          </a:prstGeom>
        </p:spPr>
      </p:pic>
      <p:sp>
        <p:nvSpPr>
          <p:cNvPr id="10" name="Text 7"/>
          <p:cNvSpPr txBox="1"/>
          <p:nvPr/>
        </p:nvSpPr>
        <p:spPr>
          <a:xfrm>
            <a:off x="5724144" y="1353312"/>
            <a:ext cx="2962656" cy="384048"/>
          </a:xfrm>
          <a:prstGeom prst="rect">
            <a:avLst/>
          </a:prstGeom>
          <a:noFill/>
          <a:ln/>
        </p:spPr>
        <p:txBody>
          <a:bodyPr wrap="square" lIns="0" tIns="0" rIns="0" bIns="0" rtlCol="0" anchor="t"/>
          <a:lstStyle/>
          <a:p>
            <a:pPr indent="0" marL="0">
              <a:buNone/>
            </a:pPr>
            <a:r>
              <a:rPr lang="en-US" sz="750" i="1" dirty="0">
                <a:solidFill>
                  <a:srgbClr val="6E655C"/>
                </a:solidFill>
                <a:latin typeface="Calibri" pitchFamily="34" charset="0"/>
                <a:ea typeface="Calibri" pitchFamily="34" charset="-122"/>
                <a:cs typeface="Calibri" pitchFamily="34" charset="-120"/>
              </a:rPr>
              <a:t>photo threads.png: Multithreaded process, Cburnett, CC BY-SA 3.0, Wikimedia Commons. A process with two threads. Reduced copy: flattened on white, resized to 300 x 284 pixels.</a:t>
            </a:r>
            <a:endParaRPr lang="en-US" sz="750" dirty="0"/>
          </a:p>
        </p:txBody>
      </p:sp>
      <p:sp>
        <p:nvSpPr>
          <p:cNvPr id="11" name="Text 8"/>
          <p:cNvSpPr txBox="1"/>
          <p:nvPr/>
        </p:nvSpPr>
        <p:spPr>
          <a:xfrm>
            <a:off x="4443984" y="2551176"/>
            <a:ext cx="4242816"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2 (imports and the path of the free-threaded interpreter) are not shown.</a:t>
            </a:r>
            <a:endParaRPr lang="en-US" sz="850" dirty="0"/>
          </a:p>
        </p:txBody>
      </p:sp>
      <p:sp>
        <p:nvSpPr>
          <p:cNvPr id="12" name="Text 9"/>
          <p:cNvSpPr txBox="1"/>
          <p:nvPr/>
        </p:nvSpPr>
        <p:spPr>
          <a:xfrm>
            <a:off x="4443984" y="2907792"/>
            <a:ext cx="4242816"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14 Oct 2026: the free-threading guide says a package with an extension module that does not declare support re-enables the lock.</a:t>
            </a:r>
            <a:endParaRPr lang="en-US" sz="850" dirty="0"/>
          </a:p>
        </p:txBody>
      </p:sp>
      <p:sp>
        <p:nvSpPr>
          <p:cNvPr id="13" name="Text 10"/>
          <p:cNvSpPr txBox="1"/>
          <p:nvPr/>
        </p:nvSpPr>
        <p:spPr>
          <a:xfrm>
            <a:off x="4443984" y="3264408"/>
            <a:ext cx="4242816"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here: the free-threaded build of Python 3.13, and a C extension that re-enables the lock: the second is only what the documentation says.</a:t>
            </a:r>
            <a:endParaRPr lang="en-US" sz="850" dirty="0"/>
          </a:p>
        </p:txBody>
      </p:sp>
      <p:sp>
        <p:nvSpPr>
          <p:cNvPr id="14" name="Shape 11"/>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Sam Gross, the author of PEP 703, and …</a:t>
            </a:r>
            <a:endParaRPr lang="en-US" sz="750" dirty="0"/>
          </a:p>
        </p:txBody>
      </p:sp>
      <p:sp>
        <p:nvSpPr>
          <p:cNvPr id="16" name="Shape 13"/>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Python Enhancement Proposals proce…</a:t>
            </a:r>
            <a:endParaRPr lang="en-US" sz="750" dirty="0"/>
          </a:p>
        </p:txBody>
      </p:sp>
      <p:sp>
        <p:nvSpPr>
          <p:cNvPr id="18" name="Shape 15"/>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9 January 2023 t…</a:t>
            </a:r>
            <a:endParaRPr lang="en-US" sz="750" dirty="0"/>
          </a:p>
        </p:txBody>
      </p:sp>
      <p:sp>
        <p:nvSpPr>
          <p:cNvPr id="20" name="Shape 17"/>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peps.python.org</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lock is on by default; the free-threaded build turns it off.</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race with and without the 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Updates lost out of 4,000,000, three runs per build; none was lost with the GIL</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572000" cy="914400"/>
        </p:xfrm>
        <a:graphic>
          <a:graphicData uri="http://schemas.openxmlformats.org/drawingml/2006/table">
            <a:tbl>
              <a:tblPr/>
              <a:tblGrid>
                <a:gridCol w="1554480"/>
                <a:gridCol w="1005840"/>
                <a:gridCol w="1005840"/>
                <a:gridCol w="10058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run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run 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run 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standard 3.14.6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free-threaded 3.14.6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2,844,845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2,500,522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2,913,206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3.13.14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3.12.13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3.11.15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pic>
        <p:nvPicPr>
          <p:cNvPr id="7" name="Image 0" descr="/home/claude/AdvancedProgrammingWithPython/08-tooling/ch25-deck/photos/blackout.png">    </p:cNvPr>
          <p:cNvPicPr>
            <a:picLocks noChangeAspect="1"/>
          </p:cNvPicPr>
          <p:nvPr/>
        </p:nvPicPr>
        <p:blipFill>
          <a:blip r:embed="rId1"/>
          <a:srcRect l="0" r="0" t="0" b="0"/>
          <a:stretch/>
        </p:blipFill>
        <p:spPr>
          <a:xfrm>
            <a:off x="5669280" y="1353312"/>
            <a:ext cx="1179576" cy="1371600"/>
          </a:xfrm>
          <a:prstGeom prst="rect">
            <a:avLst/>
          </a:prstGeom>
        </p:spPr>
      </p:pic>
      <p:sp>
        <p:nvSpPr>
          <p:cNvPr id="8" name="Text 4"/>
          <p:cNvSpPr txBox="1"/>
          <p:nvPr/>
        </p:nvSpPr>
        <p:spPr>
          <a:xfrm>
            <a:off x="6940296" y="1353312"/>
            <a:ext cx="1746504" cy="841248"/>
          </a:xfrm>
          <a:prstGeom prst="rect">
            <a:avLst/>
          </a:prstGeom>
          <a:noFill/>
          <a:ln/>
        </p:spPr>
        <p:txBody>
          <a:bodyPr wrap="square" lIns="0" tIns="0" rIns="0" bIns="0" rtlCol="0" anchor="t"/>
          <a:lstStyle/>
          <a:p>
            <a:pPr indent="0" marL="0">
              <a:buNone/>
            </a:pPr>
            <a:r>
              <a:rPr lang="en-US" sz="750" i="1" dirty="0">
                <a:solidFill>
                  <a:srgbClr val="6E655C"/>
                </a:solidFill>
                <a:latin typeface="Calibri" pitchFamily="34" charset="0"/>
                <a:ea typeface="Calibri" pitchFamily="34" charset="-122"/>
                <a:cs typeface="Calibri" pitchFamily="34" charset="-120"/>
              </a:rPr>
              <a:t>photo blackout.png: Map of North America, blackout 2003, Lokal_Profil, CC BY-SA 2.5, Wikimedia Commons. The region of the 2003 blackout in red. Reduced copy: flattened on white, resized to 300 x 349 pixels.</a:t>
            </a:r>
            <a:endParaRPr lang="en-US" sz="750" dirty="0"/>
          </a:p>
        </p:txBody>
      </p:sp>
      <p:sp>
        <p:nvSpPr>
          <p:cNvPr id="9" name="Text 5"/>
          <p:cNvSpPr txBox="1"/>
          <p:nvPr/>
        </p:nvSpPr>
        <p:spPr>
          <a:xfrm>
            <a:off x="457200" y="3017520"/>
            <a:ext cx="49377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14 Oct 2026: four threads each ran counter += 1 one million times; the table counts the updates lost in each of 3 runs, one run each on 2 CPUs, a load average of 0.75.</a:t>
            </a:r>
            <a:endParaRPr lang="en-US" sz="850" dirty="0"/>
          </a:p>
        </p:txBody>
      </p:sp>
      <p:sp>
        <p:nvSpPr>
          <p:cNvPr id="10" name="Text 6"/>
          <p:cNvSpPr txBox="1"/>
          <p:nvPr/>
        </p:nvSpPr>
        <p:spPr>
          <a:xfrm>
            <a:off x="457200" y="3364992"/>
            <a:ext cx="49377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None was lost in 12 runs on the four builds with the lock; 2,500,522 to 2,913,206 were lost in 3 runs on the free-threaded build.</a:t>
            </a:r>
            <a:endParaRPr lang="en-US" sz="850" dirty="0"/>
          </a:p>
        </p:txBody>
      </p:sp>
      <p:sp>
        <p:nvSpPr>
          <p:cNvPr id="11" name="Text 7"/>
          <p:cNvSpPr txBox="1"/>
          <p:nvPr/>
        </p:nvSpPr>
        <p:spPr>
          <a:xfrm>
            <a:off x="457200" y="3712464"/>
            <a:ext cx="493776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A run without a loss proves nothing: the lock only makes the race rare.</a:t>
            </a:r>
            <a:endParaRPr lang="en-US" sz="850" dirty="0"/>
          </a:p>
        </p:txBody>
      </p:sp>
      <p:sp>
        <p:nvSpPr>
          <p:cNvPr id="12" name="Shape 8"/>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3" name="Text 9"/>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FirstEnergy's control room operators, …</a:t>
            </a:r>
            <a:endParaRPr lang="en-US" sz="750" dirty="0"/>
          </a:p>
        </p:txBody>
      </p:sp>
      <p:sp>
        <p:nvSpPr>
          <p:cNvPr id="14" name="Shape 10"/>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5" name="Text 11"/>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northeastern United States and Ont…</a:t>
            </a:r>
            <a:endParaRPr lang="en-US" sz="750" dirty="0"/>
          </a:p>
        </p:txBody>
      </p:sp>
      <p:sp>
        <p:nvSpPr>
          <p:cNvPr id="16" name="Shape 12"/>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17" name="Text 13"/>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14 August 2003</a:t>
            </a:r>
            <a:endParaRPr lang="en-US" sz="750" dirty="0"/>
          </a:p>
        </p:txBody>
      </p:sp>
      <p:sp>
        <p:nvSpPr>
          <p:cNvPr id="18" name="Shape 14"/>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19" name="Text 15"/>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0"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lost update in a run proves nothing; lock anyway.</a:t>
            </a:r>
            <a:endParaRPr lang="en-US" sz="1350" dirty="0"/>
          </a:p>
        </p:txBody>
      </p:sp>
      <p:sp>
        <p:nvSpPr>
          <p:cNvPr id="22"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CPU-bound work on threads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Only the free-threaded build was faster on 4 threads; below 1 means faster than serial</a:t>
            </a:r>
            <a:endParaRPr lang="en-US" sz="1300" dirty="0"/>
          </a:p>
        </p:txBody>
      </p:sp>
      <p:graphicFrame>
        <p:nvGraphicFramePr>
          <p:cNvPr id="6" name="Chart 0" descr=""/>
          <p:cNvGraphicFramePr/>
          <p:nvPr/>
        </p:nvGraphicFramePr>
        <p:xfrm>
          <a:off x="457200" y="1280160"/>
          <a:ext cx="402336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663440" y="1325880"/>
          <a:ext cx="4023360" cy="914400"/>
        </p:xfrm>
        <a:graphic>
          <a:graphicData uri="http://schemas.openxmlformats.org/drawingml/2006/table">
            <a:tbl>
              <a:tblPr/>
              <a:tblGrid>
                <a:gridCol w="1463040"/>
                <a:gridCol w="822960"/>
                <a:gridCol w="868680"/>
                <a:gridCol w="868680"/>
              </a:tblGrid>
              <a:tr h="27432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build</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serial</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2 threads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4 threads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standard 3.14.6</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0.890</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1.003</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1.003</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free-threaded 3.14.6</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1.292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0.553</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0.522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3.13.14</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0.912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1.090</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1.060</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3.12.13</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0.873</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1.096</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1.041</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3.11.15</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1.125</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1.226</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1.062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8" name="Text 4"/>
          <p:cNvSpPr txBox="1"/>
          <p:nvPr/>
        </p:nvSpPr>
        <p:spPr>
          <a:xfrm>
            <a:off x="4663440" y="3063240"/>
            <a:ext cx="4023360"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14 Oct 2026: four CPU-bound tasks, one after another and on 2 and 4 threads, in seconds; one run each, 2 CPUs, a load average below 1.0 when it started.</a:t>
            </a:r>
            <a:endParaRPr lang="en-US" sz="850" dirty="0"/>
          </a:p>
        </p:txBody>
      </p:sp>
      <p:sp>
        <p:nvSpPr>
          <p:cNvPr id="9" name="Text 5"/>
          <p:cNvSpPr txBox="1"/>
          <p:nvPr/>
        </p:nvSpPr>
        <p:spPr>
          <a:xfrm>
            <a:off x="4663440" y="3547872"/>
            <a:ext cx="4023360"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On the standard 3.14.6 and on 3.13, 3.12 and 3.11 the 4 threads took at least 0.8 of the serial time, 0.94 to 1.19; the free-threaded 3.14.6 took 0.40.</a:t>
            </a:r>
            <a:endParaRPr lang="en-US" sz="850" dirty="0"/>
          </a:p>
        </p:txBody>
      </p:sp>
      <p:sp>
        <p:nvSpPr>
          <p:cNvPr id="10" name="Text 6"/>
          <p:cNvSpPr txBox="1"/>
          <p:nvPr/>
        </p:nvSpPr>
        <p:spPr>
          <a:xfrm>
            <a:off x="4663440" y="4032504"/>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The free-threaded serial run (1.292 s) was slower than the standard one (0.89 s): the single-thread cost of the build.</a:t>
            </a:r>
            <a:endParaRPr lang="en-US" sz="850" dirty="0"/>
          </a:p>
        </p:txBody>
      </p:sp>
      <p:sp>
        <p:nvSpPr>
          <p:cNvPr id="11" name="Text 7"/>
          <p:cNvSpPr txBox="1"/>
          <p:nvPr/>
        </p:nvSpPr>
        <p:spPr>
          <a:xfrm>
            <a:off x="457200" y="3840480"/>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here: more than 2 CPUs and a run under load; the speed-up of the free-threaded build was measured on 2 CPUs only.</a:t>
            </a:r>
            <a:endParaRPr lang="en-US" sz="850" dirty="0"/>
          </a:p>
        </p:txBody>
      </p:sp>
      <p:sp>
        <p:nvSpPr>
          <p:cNvPr id="12"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the free-threaded build sped up four CPU-bound tasks on 2 CPUs.</a:t>
            </a:r>
            <a:endParaRPr lang="en-US" sz="1350" dirty="0"/>
          </a:p>
        </p:txBody>
      </p:sp>
      <p:sp>
        <p:nvSpPr>
          <p:cNvPr id="14"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Waiting, processes and starting cost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Threads overlap waiting; a process does not share variables and costs more to start</a:t>
            </a:r>
            <a:endParaRPr lang="en-US" sz="1300" dirty="0"/>
          </a:p>
        </p:txBody>
      </p:sp>
      <p:sp>
        <p:nvSpPr>
          <p:cNvPr id="6" name="Text 4"/>
          <p:cNvSpPr txBox="1"/>
          <p:nvPr/>
        </p:nvSpPr>
        <p:spPr>
          <a:xfrm>
            <a:off x="457200" y="1143000"/>
            <a:ext cx="374904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procCut_v1_0_0.py, lines 3 to 18 of 18</a:t>
            </a:r>
            <a:endParaRPr lang="en-US" sz="1000" dirty="0"/>
          </a:p>
        </p:txBody>
      </p:sp>
      <p:sp>
        <p:nvSpPr>
          <p:cNvPr id="7" name="Shape 5"/>
          <p:cNvSpPr/>
          <p:nvPr/>
        </p:nvSpPr>
        <p:spPr>
          <a:xfrm>
            <a:off x="457200" y="1417320"/>
            <a:ext cx="3749040"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3383280" cy="2825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    d = {</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 = mp.Process(target=d.update, args=({</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p.start(); p.join()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 child process changed its copy :'</a:t>
            </a:r>
            <a:r>
              <a:rPr lang="en-US" sz="700" dirty="0">
                <a:solidFill>
                  <a:srgbClr val="E6EDF3"/>
                </a:solidFill>
                <a:latin typeface="Courier New" pitchFamily="34" charset="0"/>
                <a:ea typeface="Courier New" pitchFamily="34" charset="-122"/>
                <a:cs typeface="Courier New" pitchFamily="34" charset="-120"/>
              </a:rPr>
              <a:t>,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 = threading.Thread(target=d.update, args=({</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t.start(); t.join()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 thread changed the same object :'</a:t>
            </a:r>
            <a:r>
              <a:rPr lang="en-US" sz="700" dirty="0">
                <a:solidFill>
                  <a:srgbClr val="E6EDF3"/>
                </a:solidFill>
                <a:latin typeface="Courier New" pitchFamily="34" charset="0"/>
                <a:ea typeface="Courier New" pitchFamily="34" charset="-122"/>
                <a:cs typeface="Courier New" pitchFamily="34" charset="-120"/>
              </a:rPr>
              <a:t>,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'default start method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mp.get_start_method())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nap = </a:t>
            </a:r>
            <a:r>
              <a:rPr lang="en-US" sz="700" dirty="0">
                <a:solidFill>
                  <a:srgbClr val="9ECBFF"/>
                </a:solidFill>
                <a:latin typeface="Courier New" pitchFamily="34" charset="0"/>
                <a:ea typeface="Courier New" pitchFamily="34" charset="-122"/>
                <a:cs typeface="Courier New" pitchFamily="34" charset="-120"/>
              </a:rPr>
              <a:t>'import time; time.sleep(1)'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t0 = time.time()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k = subprocess.Popen([sys.executable,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 nap])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back = time.time() - t0 &lt; </a:t>
            </a:r>
            <a:r>
              <a:rPr lang="en-US" sz="700" dirty="0">
                <a:solidFill>
                  <a:srgbClr val="FFD28A"/>
                </a:solidFill>
                <a:latin typeface="Courier New" pitchFamily="34" charset="0"/>
                <a:ea typeface="Courier New" pitchFamily="34" charset="-122"/>
                <a:cs typeface="Courier New" pitchFamily="34" charset="-120"/>
              </a:rPr>
              <a:t>0.5</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'Popen came back at once          :'</a:t>
            </a:r>
            <a:r>
              <a:rPr lang="en-US" sz="700" dirty="0">
                <a:solidFill>
                  <a:srgbClr val="E6EDF3"/>
                </a:solidFill>
                <a:latin typeface="Courier New" pitchFamily="34" charset="0"/>
                <a:ea typeface="Courier New" pitchFamily="34" charset="-122"/>
                <a:cs typeface="Courier New" pitchFamily="34" charset="-120"/>
              </a:rPr>
              <a:t>, back)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'poll() while the child sleeps    :'</a:t>
            </a:r>
            <a:r>
              <a:rPr lang="en-US" sz="700" dirty="0">
                <a:solidFill>
                  <a:srgbClr val="E6EDF3"/>
                </a:solidFill>
                <a:latin typeface="Courier New" pitchFamily="34" charset="0"/>
                <a:ea typeface="Courier New" pitchFamily="34" charset="-122"/>
                <a:cs typeface="Courier New" pitchFamily="34" charset="-120"/>
              </a:rPr>
              <a:t>, k.poll())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'wait() returns the return code   :'</a:t>
            </a:r>
            <a:r>
              <a:rPr lang="en-US" sz="700" dirty="0">
                <a:solidFill>
                  <a:srgbClr val="E6EDF3"/>
                </a:solidFill>
                <a:latin typeface="Courier New" pitchFamily="34" charset="0"/>
                <a:ea typeface="Courier New" pitchFamily="34" charset="-122"/>
                <a:cs typeface="Courier New" pitchFamily="34" charset="-120"/>
              </a:rPr>
              <a:t>, k.wait())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a child process changed its copy : {'n':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thread changed the same object : {'n': 99}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default start method             : forkserver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Popen came back at once          :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poll() while the child sleeps    :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wait() returns the return code   : 0</a:t>
            </a:r>
            <a:endParaRPr lang="en-US" sz="700" dirty="0"/>
          </a:p>
        </p:txBody>
      </p:sp>
      <p:graphicFrame>
        <p:nvGraphicFramePr>
          <p:cNvPr id="9" name="Chart 0" descr=""/>
          <p:cNvGraphicFramePr/>
          <p:nvPr/>
        </p:nvGraphicFramePr>
        <p:xfrm>
          <a:off x="4389120" y="1234440"/>
          <a:ext cx="4297680" cy="1371600"/>
        </p:xfrm>
        <a:graphic xmlns:a="http://schemas.openxmlformats.org/drawingml/2006/main">
          <a:graphicData uri="http://schemas.openxmlformats.org/drawingml/2006/chart">
            <c:chart xmlns:c="http://schemas.openxmlformats.org/drawingml/2006/chart" r:id="rId1"/>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389120" y="2697480"/>
          <a:ext cx="4297680" cy="914400"/>
        </p:xfrm>
        <a:graphic>
          <a:graphicData uri="http://schemas.openxmlformats.org/drawingml/2006/table">
            <a:tbl>
              <a:tblPr/>
              <a:tblGrid>
                <a:gridCol w="1737360"/>
                <a:gridCol w="914400"/>
                <a:gridCol w="1645920"/>
              </a:tblGrid>
              <a:tr h="237744">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recorded run</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standard 3.14.6</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free-threaded 3.14.6</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 CPU tasks, serial</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0.963 s</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 CPU tasks, pool of 2 processes</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0.667 s</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one thread started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112 us</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382 us</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one process started</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5.4 ms</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8.6 ms</a:t>
                      </a:r>
                      <a:endParaRPr lang="en-US" sz="800" dirty="0">
                        <a:latin typeface="Calibri" charset="0"/>
                        <a:ea typeface="Calibri" charset="0"/>
                        <a:cs typeface="Calibri" charset="0"/>
                      </a:endParaRPr>
                    </a:p>
                  </a:txBody>
                  <a:tcPr marL="36576" marR="36576" marT="18288" marB="18288"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1" name="Text 7"/>
          <p:cNvSpPr txBox="1"/>
          <p:nvPr/>
        </p:nvSpPr>
        <p:spPr>
          <a:xfrm>
            <a:off x="4389120" y="3959352"/>
            <a:ext cx="429768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2 (imports and the main guard) are not shown. Recorded 14 Oct 2026: single runs of 2026-10-14 on 2 CPUs; the chart is the standard 3.14.6, whose waiting threads, pool and asyncio all took about 0.5 s.</a:t>
            </a:r>
            <a:endParaRPr lang="en-US" sz="800" dirty="0"/>
          </a:p>
        </p:txBody>
      </p:sp>
      <p:sp>
        <p:nvSpPr>
          <p:cNvPr id="12"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Waiting overlaps in threads; a process costs far more to start.</a:t>
            </a:r>
            <a:endParaRPr lang="en-US" sz="1350" dirty="0"/>
          </a:p>
        </p:txBody>
      </p:sp>
      <p:sp>
        <p:nvSpPr>
          <p:cNvPr id="14"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asyncio, and choosing a tool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asyncio overlaps waiting on one thread; a blocking call stalls every task on it</a:t>
            </a:r>
            <a:endParaRPr lang="en-US" sz="1300" dirty="0"/>
          </a:p>
        </p:txBody>
      </p:sp>
      <p:sp>
        <p:nvSpPr>
          <p:cNvPr id="6" name="Text 4"/>
          <p:cNvSpPr txBox="1"/>
          <p:nvPr/>
        </p:nvSpPr>
        <p:spPr>
          <a:xfrm>
            <a:off x="45720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asyncCut_v1_0_0.py, lines 1 to 17 of 17</a:t>
            </a:r>
            <a:endParaRPr lang="en-US" sz="1000" dirty="0"/>
          </a:p>
        </p:txBody>
      </p:sp>
      <p:sp>
        <p:nvSpPr>
          <p:cNvPr id="7" name="Shape 5"/>
          <p:cNvSpPr/>
          <p:nvPr/>
        </p:nvSpPr>
        <p:spPr>
          <a:xfrm>
            <a:off x="457200" y="1417320"/>
            <a:ext cx="4142232"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3776472" cy="269748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asyncio, threading, time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async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nap(): await asyncio.sleep(</a:t>
            </a:r>
            <a:r>
              <a:rPr lang="en-US" sz="700" dirty="0">
                <a:solidFill>
                  <a:srgbClr val="FFD28A"/>
                </a:solidFill>
                <a:latin typeface="Courier New" pitchFamily="34" charset="0"/>
                <a:ea typeface="Courier New" pitchFamily="34" charset="-122"/>
                <a:cs typeface="Courier New" pitchFamily="34" charset="-120"/>
              </a:rPr>
              <a:t>0.3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async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block(): time.sleep(</a:t>
            </a:r>
            <a:r>
              <a:rPr lang="en-US" sz="700" dirty="0">
                <a:solidFill>
                  <a:srgbClr val="FFD28A"/>
                </a:solidFill>
                <a:latin typeface="Courier New" pitchFamily="34" charset="0"/>
                <a:ea typeface="Courier New" pitchFamily="34" charset="-122"/>
                <a:cs typeface="Courier New" pitchFamily="34" charset="-120"/>
              </a:rPr>
              <a:t>0.2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took(f,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async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together():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await asyncio.gather(*[f()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t0 = time.time(); asyncio.run(together())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time.time() - 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'10 awaits of 0.3 s, under 0.6 s:'</a:t>
            </a:r>
            <a:r>
              <a:rPr lang="en-US" sz="700" dirty="0">
                <a:solidFill>
                  <a:srgbClr val="E6EDF3"/>
                </a:solidFill>
                <a:latin typeface="Courier New" pitchFamily="34" charset="0"/>
                <a:ea typeface="Courier New" pitchFamily="34" charset="-122"/>
                <a:cs typeface="Courier New" pitchFamily="34" charset="-120"/>
              </a:rPr>
              <a:t>, took(nap,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&lt; </a:t>
            </a:r>
            <a:r>
              <a:rPr lang="en-US" sz="700" dirty="0">
                <a:solidFill>
                  <a:srgbClr val="FFD28A"/>
                </a:solidFill>
                <a:latin typeface="Courier New" pitchFamily="34" charset="0"/>
                <a:ea typeface="Courier New" pitchFamily="34" charset="-122"/>
                <a:cs typeface="Courier New" pitchFamily="34" charset="-120"/>
              </a:rPr>
              <a:t>0.6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'5 blocking 0.2 s calls, over 1 s  :'</a:t>
            </a:r>
            <a:r>
              <a:rPr lang="en-US" sz="700" dirty="0">
                <a:solidFill>
                  <a:srgbClr val="E6EDF3"/>
                </a:solidFill>
                <a:latin typeface="Courier New" pitchFamily="34" charset="0"/>
                <a:ea typeface="Courier New" pitchFamily="34" charset="-122"/>
                <a:cs typeface="Courier New" pitchFamily="34" charset="-120"/>
              </a:rPr>
              <a:t>, took(block,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&gt;=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work():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time.sleep(</a:t>
            </a:r>
            <a:r>
              <a:rPr lang="en-US" sz="700" dirty="0">
                <a:solidFill>
                  <a:srgbClr val="FFD28A"/>
                </a:solidFill>
                <a:latin typeface="Courier New" pitchFamily="34" charset="0"/>
                <a:ea typeface="Courier New" pitchFamily="34" charset="-122"/>
                <a:cs typeface="Courier New" pitchFamily="34" charset="-120"/>
              </a:rPr>
              <a:t>0.2</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threading.current_thread().name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async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bridge():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await asyncio.gather(*map(asyncio.to_thread, [work]*</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t0 = time.time(); names = asyncio.run(bridge())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'same 5 on threads, under 0.6 s :'</a:t>
            </a:r>
            <a:r>
              <a:rPr lang="en-US" sz="700" dirty="0">
                <a:solidFill>
                  <a:srgbClr val="E6EDF3"/>
                </a:solidFill>
                <a:latin typeface="Courier New" pitchFamily="34" charset="0"/>
                <a:ea typeface="Courier New" pitchFamily="34" charset="-122"/>
                <a:cs typeface="Courier New" pitchFamily="34" charset="-120"/>
              </a:rPr>
              <a:t>, time.time() - t0 &lt; </a:t>
            </a:r>
            <a:r>
              <a:rPr lang="en-US" sz="700" dirty="0">
                <a:solidFill>
                  <a:srgbClr val="FFD28A"/>
                </a:solidFill>
                <a:latin typeface="Courier New" pitchFamily="34" charset="0"/>
                <a:ea typeface="Courier New" pitchFamily="34" charset="-122"/>
                <a:cs typeface="Courier New" pitchFamily="34" charset="-120"/>
              </a:rPr>
              <a:t>0.6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'worker names start with'</a:t>
            </a:r>
            <a:r>
              <a:rPr lang="en-US" sz="700" dirty="0">
                <a:solidFill>
                  <a:srgbClr val="E6EDF3"/>
                </a:solidFill>
                <a:latin typeface="Courier New" pitchFamily="34" charset="0"/>
                <a:ea typeface="Courier New" pitchFamily="34" charset="-122"/>
                <a:cs typeface="Courier New" pitchFamily="34" charset="-120"/>
              </a:rPr>
              <a:t>, {n[:</a:t>
            </a:r>
            <a:r>
              <a:rPr lang="en-US" sz="700" dirty="0">
                <a:solidFill>
                  <a:srgbClr val="FFD28A"/>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names})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10 awaits of 0.3 s, under 0.6 s: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5 blocking 0.2 s calls, over 1 s  :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same 5 on threads, under 0.6 s :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worker names start with {'asyncio'}</a:t>
            </a:r>
            <a:endParaRPr lang="en-US" sz="700" dirty="0"/>
          </a:p>
        </p:txBody>
      </p:sp>
      <p:sp>
        <p:nvSpPr>
          <p:cNvPr id="9" name="Shape 7"/>
          <p:cNvSpPr/>
          <p:nvPr/>
        </p:nvSpPr>
        <p:spPr>
          <a:xfrm>
            <a:off x="4663440" y="1983334"/>
            <a:ext cx="1325880" cy="548640"/>
          </a:xfrm>
          <a:prstGeom prst="hexagon">
            <a:avLst/>
          </a:prstGeom>
          <a:solidFill>
            <a:srgbClr val="D97A14"/>
          </a:solidFill>
          <a:ln w="15875">
            <a:solidFill>
              <a:srgbClr val="D97A14"/>
            </a:solidFill>
            <a:prstDash val="solid"/>
          </a:ln>
        </p:spPr>
      </p:sp>
      <p:sp>
        <p:nvSpPr>
          <p:cNvPr id="10" name="Text 8"/>
          <p:cNvSpPr txBox="1"/>
          <p:nvPr/>
        </p:nvSpPr>
        <p:spPr>
          <a:xfrm>
            <a:off x="4818888" y="2125066"/>
            <a:ext cx="101498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work waiting or computing?</a:t>
            </a:r>
            <a:endParaRPr lang="en-US" sz="800" dirty="0"/>
          </a:p>
        </p:txBody>
      </p:sp>
      <p:sp>
        <p:nvSpPr>
          <p:cNvPr id="11" name="Shape 9"/>
          <p:cNvSpPr/>
          <p:nvPr/>
        </p:nvSpPr>
        <p:spPr>
          <a:xfrm>
            <a:off x="7589520" y="2001622"/>
            <a:ext cx="1097280" cy="512064"/>
          </a:xfrm>
          <a:prstGeom prst="roundRect">
            <a:avLst>
              <a:gd name="adj" fmla="val 14286"/>
            </a:avLst>
          </a:prstGeom>
          <a:solidFill>
            <a:srgbClr val="F2ECE1"/>
          </a:solidFill>
          <a:ln w="15875">
            <a:solidFill>
              <a:srgbClr val="2F6D62"/>
            </a:solidFill>
            <a:prstDash val="solid"/>
          </a:ln>
        </p:spPr>
      </p:sp>
      <p:sp>
        <p:nvSpPr>
          <p:cNvPr id="12" name="Text 10"/>
          <p:cNvSpPr txBox="1"/>
          <p:nvPr/>
        </p:nvSpPr>
        <p:spPr>
          <a:xfrm>
            <a:off x="7653528" y="2063801"/>
            <a:ext cx="96926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Threads, a pool or asyncio overlap the waiting</a:t>
            </a:r>
            <a:endParaRPr lang="en-US" sz="800" dirty="0"/>
          </a:p>
        </p:txBody>
      </p:sp>
      <p:sp>
        <p:nvSpPr>
          <p:cNvPr id="13" name="Shape 11"/>
          <p:cNvSpPr/>
          <p:nvPr/>
        </p:nvSpPr>
        <p:spPr>
          <a:xfrm>
            <a:off x="4663440" y="2634386"/>
            <a:ext cx="1325880" cy="548640"/>
          </a:xfrm>
          <a:prstGeom prst="hexagon">
            <a:avLst/>
          </a:prstGeom>
          <a:solidFill>
            <a:srgbClr val="D97A14"/>
          </a:solidFill>
          <a:ln w="15875">
            <a:solidFill>
              <a:srgbClr val="D97A14"/>
            </a:solidFill>
            <a:prstDash val="solid"/>
          </a:ln>
        </p:spPr>
      </p:sp>
      <p:sp>
        <p:nvSpPr>
          <p:cNvPr id="14" name="Text 12"/>
          <p:cNvSpPr txBox="1"/>
          <p:nvPr/>
        </p:nvSpPr>
        <p:spPr>
          <a:xfrm>
            <a:off x="4818888" y="2715768"/>
            <a:ext cx="1014984" cy="386791"/>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free-threaded build running?</a:t>
            </a:r>
            <a:endParaRPr lang="en-US" sz="800" dirty="0"/>
          </a:p>
        </p:txBody>
      </p:sp>
      <p:sp>
        <p:nvSpPr>
          <p:cNvPr id="15" name="Shape 13"/>
          <p:cNvSpPr/>
          <p:nvPr/>
        </p:nvSpPr>
        <p:spPr>
          <a:xfrm>
            <a:off x="6309360" y="2652674"/>
            <a:ext cx="1188720" cy="512064"/>
          </a:xfrm>
          <a:prstGeom prst="roundRect">
            <a:avLst>
              <a:gd name="adj" fmla="val 14286"/>
            </a:avLst>
          </a:prstGeom>
          <a:solidFill>
            <a:srgbClr val="F2ECE1"/>
          </a:solidFill>
          <a:ln w="15875">
            <a:solidFill>
              <a:srgbClr val="2F6D62"/>
            </a:solidFill>
            <a:prstDash val="solid"/>
          </a:ln>
        </p:spPr>
      </p:sp>
      <p:sp>
        <p:nvSpPr>
          <p:cNvPr id="16" name="Text 14"/>
          <p:cNvSpPr txBox="1"/>
          <p:nvPr/>
        </p:nvSpPr>
        <p:spPr>
          <a:xfrm>
            <a:off x="6373368" y="2777033"/>
            <a:ext cx="10607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 pool of processes computes in parallel</a:t>
            </a:r>
            <a:endParaRPr lang="en-US" sz="800" dirty="0"/>
          </a:p>
        </p:txBody>
      </p:sp>
      <p:sp>
        <p:nvSpPr>
          <p:cNvPr id="17" name="Shape 15"/>
          <p:cNvSpPr/>
          <p:nvPr/>
        </p:nvSpPr>
        <p:spPr>
          <a:xfrm>
            <a:off x="4663440" y="3304642"/>
            <a:ext cx="1325880" cy="512064"/>
          </a:xfrm>
          <a:prstGeom prst="roundRect">
            <a:avLst>
              <a:gd name="adj" fmla="val 14286"/>
            </a:avLst>
          </a:prstGeom>
          <a:solidFill>
            <a:srgbClr val="F2ECE1"/>
          </a:solidFill>
          <a:ln w="15875">
            <a:solidFill>
              <a:srgbClr val="2F6D62"/>
            </a:solidFill>
            <a:prstDash val="solid"/>
          </a:ln>
        </p:spPr>
      </p:sp>
      <p:sp>
        <p:nvSpPr>
          <p:cNvPr id="18" name="Text 16"/>
          <p:cNvSpPr txBox="1"/>
          <p:nvPr/>
        </p:nvSpPr>
        <p:spPr>
          <a:xfrm>
            <a:off x="4727448" y="3366821"/>
            <a:ext cx="119786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Threads run in parallel on the free-threaded build</a:t>
            </a:r>
            <a:endParaRPr lang="en-US" sz="800" dirty="0"/>
          </a:p>
        </p:txBody>
      </p:sp>
      <p:sp>
        <p:nvSpPr>
          <p:cNvPr id="19" name="Shape 17"/>
          <p:cNvSpPr/>
          <p:nvPr/>
        </p:nvSpPr>
        <p:spPr>
          <a:xfrm>
            <a:off x="5234940" y="1514246"/>
            <a:ext cx="182880" cy="182880"/>
          </a:xfrm>
          <a:prstGeom prst="ellipse">
            <a:avLst/>
          </a:prstGeom>
          <a:solidFill>
            <a:srgbClr val="2B2622"/>
          </a:solidFill>
          <a:ln w="15875">
            <a:solidFill>
              <a:srgbClr val="2B2622"/>
            </a:solidFill>
            <a:prstDash val="solid"/>
          </a:ln>
        </p:spPr>
      </p:sp>
      <p:sp>
        <p:nvSpPr>
          <p:cNvPr id="20" name="Shape 18"/>
          <p:cNvSpPr/>
          <p:nvPr/>
        </p:nvSpPr>
        <p:spPr>
          <a:xfrm>
            <a:off x="8010144" y="3432658"/>
            <a:ext cx="256032" cy="256032"/>
          </a:xfrm>
          <a:prstGeom prst="ellipse">
            <a:avLst/>
          </a:prstGeom>
          <a:solidFill>
            <a:srgbClr val="FFFFFF"/>
          </a:solidFill>
          <a:ln w="25400">
            <a:solidFill>
              <a:srgbClr val="2B2622"/>
            </a:solidFill>
            <a:prstDash val="solid"/>
          </a:ln>
        </p:spPr>
      </p:sp>
      <p:sp>
        <p:nvSpPr>
          <p:cNvPr id="21" name="Shape 19"/>
          <p:cNvSpPr/>
          <p:nvPr/>
        </p:nvSpPr>
        <p:spPr>
          <a:xfrm>
            <a:off x="8065008" y="3487522"/>
            <a:ext cx="146304" cy="146304"/>
          </a:xfrm>
          <a:prstGeom prst="ellipse">
            <a:avLst/>
          </a:prstGeom>
          <a:solidFill>
            <a:srgbClr val="2B2622"/>
          </a:solidFill>
          <a:ln w="15875">
            <a:solidFill>
              <a:srgbClr val="2B2622"/>
            </a:solidFill>
            <a:prstDash val="solid"/>
          </a:ln>
        </p:spPr>
      </p:sp>
      <p:sp>
        <p:nvSpPr>
          <p:cNvPr id="22" name="Shape 20"/>
          <p:cNvSpPr/>
          <p:nvPr/>
        </p:nvSpPr>
        <p:spPr>
          <a:xfrm>
            <a:off x="5326380" y="1697126"/>
            <a:ext cx="0" cy="286207"/>
          </a:xfrm>
          <a:prstGeom prst="line">
            <a:avLst/>
          </a:prstGeom>
          <a:noFill/>
          <a:ln w="15875">
            <a:solidFill>
              <a:srgbClr val="6E655C"/>
            </a:solidFill>
            <a:prstDash val="solid"/>
            <a:tailEnd type="triangle"/>
          </a:ln>
        </p:spPr>
      </p:sp>
      <p:sp>
        <p:nvSpPr>
          <p:cNvPr id="23" name="Shape 21"/>
          <p:cNvSpPr/>
          <p:nvPr/>
        </p:nvSpPr>
        <p:spPr>
          <a:xfrm>
            <a:off x="5989320" y="2257654"/>
            <a:ext cx="1600200" cy="0"/>
          </a:xfrm>
          <a:prstGeom prst="line">
            <a:avLst/>
          </a:prstGeom>
          <a:noFill/>
          <a:ln w="15875">
            <a:solidFill>
              <a:srgbClr val="6E655C"/>
            </a:solidFill>
            <a:prstDash val="solid"/>
            <a:tailEnd type="triangle"/>
          </a:ln>
        </p:spPr>
      </p:sp>
      <p:sp>
        <p:nvSpPr>
          <p:cNvPr id="24" name="Text 22"/>
          <p:cNvSpPr txBox="1"/>
          <p:nvPr/>
        </p:nvSpPr>
        <p:spPr>
          <a:xfrm>
            <a:off x="6035040" y="2074774"/>
            <a:ext cx="345643"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waits</a:t>
            </a:r>
            <a:endParaRPr lang="en-US" sz="800" dirty="0"/>
          </a:p>
        </p:txBody>
      </p:sp>
      <p:sp>
        <p:nvSpPr>
          <p:cNvPr id="25" name="Shape 23"/>
          <p:cNvSpPr/>
          <p:nvPr/>
        </p:nvSpPr>
        <p:spPr>
          <a:xfrm>
            <a:off x="5326380" y="2531974"/>
            <a:ext cx="0" cy="102413"/>
          </a:xfrm>
          <a:prstGeom prst="line">
            <a:avLst/>
          </a:prstGeom>
          <a:noFill/>
          <a:ln w="15875">
            <a:solidFill>
              <a:srgbClr val="6E655C"/>
            </a:solidFill>
            <a:prstDash val="solid"/>
            <a:tailEnd type="triangle"/>
          </a:ln>
        </p:spPr>
      </p:sp>
      <p:sp>
        <p:nvSpPr>
          <p:cNvPr id="26" name="Text 24"/>
          <p:cNvSpPr txBox="1"/>
          <p:nvPr/>
        </p:nvSpPr>
        <p:spPr>
          <a:xfrm>
            <a:off x="5381244" y="2500884"/>
            <a:ext cx="497434"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computes</a:t>
            </a:r>
            <a:endParaRPr lang="en-US" sz="800" dirty="0"/>
          </a:p>
        </p:txBody>
      </p:sp>
      <p:sp>
        <p:nvSpPr>
          <p:cNvPr id="27" name="Shape 25"/>
          <p:cNvSpPr/>
          <p:nvPr/>
        </p:nvSpPr>
        <p:spPr>
          <a:xfrm>
            <a:off x="5326380" y="3183026"/>
            <a:ext cx="0" cy="121615"/>
          </a:xfrm>
          <a:prstGeom prst="line">
            <a:avLst/>
          </a:prstGeom>
          <a:noFill/>
          <a:ln w="15875">
            <a:solidFill>
              <a:srgbClr val="6E655C"/>
            </a:solidFill>
            <a:prstDash val="solid"/>
            <a:tailEnd type="triangle"/>
          </a:ln>
        </p:spPr>
      </p:sp>
      <p:sp>
        <p:nvSpPr>
          <p:cNvPr id="28" name="Text 26"/>
          <p:cNvSpPr txBox="1"/>
          <p:nvPr/>
        </p:nvSpPr>
        <p:spPr>
          <a:xfrm>
            <a:off x="5381244" y="316199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9" name="Shape 27"/>
          <p:cNvSpPr/>
          <p:nvPr/>
        </p:nvSpPr>
        <p:spPr>
          <a:xfrm>
            <a:off x="5989320" y="2908706"/>
            <a:ext cx="320040" cy="0"/>
          </a:xfrm>
          <a:prstGeom prst="line">
            <a:avLst/>
          </a:prstGeom>
          <a:noFill/>
          <a:ln w="15875">
            <a:solidFill>
              <a:srgbClr val="6E655C"/>
            </a:solidFill>
            <a:prstDash val="solid"/>
            <a:tailEnd type="triangle"/>
          </a:ln>
        </p:spPr>
      </p:sp>
      <p:sp>
        <p:nvSpPr>
          <p:cNvPr id="30" name="Text 28"/>
          <p:cNvSpPr txBox="1"/>
          <p:nvPr/>
        </p:nvSpPr>
        <p:spPr>
          <a:xfrm>
            <a:off x="6035040" y="2725826"/>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1" name="Shape 29"/>
          <p:cNvSpPr/>
          <p:nvPr/>
        </p:nvSpPr>
        <p:spPr>
          <a:xfrm>
            <a:off x="8138160" y="2513686"/>
            <a:ext cx="0" cy="918972"/>
          </a:xfrm>
          <a:prstGeom prst="line">
            <a:avLst/>
          </a:prstGeom>
          <a:noFill/>
          <a:ln w="15875">
            <a:solidFill>
              <a:srgbClr val="6E655C"/>
            </a:solidFill>
            <a:prstDash val="solid"/>
            <a:tailEnd type="triangle"/>
          </a:ln>
        </p:spPr>
      </p:sp>
      <p:sp>
        <p:nvSpPr>
          <p:cNvPr id="32" name="Shape 30"/>
          <p:cNvSpPr/>
          <p:nvPr/>
        </p:nvSpPr>
        <p:spPr>
          <a:xfrm>
            <a:off x="5989320" y="3560674"/>
            <a:ext cx="2020824" cy="0"/>
          </a:xfrm>
          <a:prstGeom prst="line">
            <a:avLst/>
          </a:prstGeom>
          <a:noFill/>
          <a:ln w="15875">
            <a:solidFill>
              <a:srgbClr val="6E655C"/>
            </a:solidFill>
            <a:prstDash val="solid"/>
            <a:tailEnd type="triangle"/>
          </a:ln>
        </p:spPr>
      </p:sp>
      <p:sp>
        <p:nvSpPr>
          <p:cNvPr id="33" name="Shape 31"/>
          <p:cNvSpPr/>
          <p:nvPr/>
        </p:nvSpPr>
        <p:spPr>
          <a:xfrm>
            <a:off x="6903720" y="3164738"/>
            <a:ext cx="0" cy="395935"/>
          </a:xfrm>
          <a:prstGeom prst="line">
            <a:avLst/>
          </a:prstGeom>
          <a:noFill/>
          <a:ln w="15875">
            <a:solidFill>
              <a:srgbClr val="6E655C"/>
            </a:solidFill>
            <a:prstDash val="solid"/>
          </a:ln>
        </p:spPr>
      </p:sp>
      <p:sp>
        <p:nvSpPr>
          <p:cNvPr id="34" name="Shape 32"/>
          <p:cNvSpPr/>
          <p:nvPr/>
        </p:nvSpPr>
        <p:spPr>
          <a:xfrm>
            <a:off x="6903720" y="3560674"/>
            <a:ext cx="1106424" cy="0"/>
          </a:xfrm>
          <a:prstGeom prst="line">
            <a:avLst/>
          </a:prstGeom>
          <a:noFill/>
          <a:ln w="15875">
            <a:solidFill>
              <a:srgbClr val="6E655C"/>
            </a:solidFill>
            <a:prstDash val="solid"/>
            <a:tailEnd type="triangle"/>
          </a:ln>
        </p:spPr>
      </p:sp>
      <p:sp>
        <p:nvSpPr>
          <p:cNvPr id="35" name="Text 33"/>
          <p:cNvSpPr txBox="1"/>
          <p:nvPr/>
        </p:nvSpPr>
        <p:spPr>
          <a:xfrm>
            <a:off x="4663440" y="3913632"/>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ChoosingBetweenTheTools - Workflow pattern, 20 of 22 words grounded in the chapter's text</a:t>
            </a:r>
            <a:endParaRPr lang="en-US" sz="850" dirty="0"/>
          </a:p>
        </p:txBody>
      </p:sp>
      <p:sp>
        <p:nvSpPr>
          <p:cNvPr id="36" name="Text 34"/>
          <p:cNvSpPr txBox="1"/>
          <p:nvPr/>
        </p:nvSpPr>
        <p:spPr>
          <a:xfrm>
            <a:off x="4663440" y="4224528"/>
            <a:ext cx="402336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A blocking time.sleep in a coroutine stops the whole loop; asyncio.to_thread runs it in a worker.</a:t>
            </a:r>
            <a:endParaRPr lang="en-US" sz="80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asyncio overlaps waiting on one thread; a blocking call stalls it.</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interpreters, and what did not run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one probe under five interpreters; below it, what was not run</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645920"/>
                <a:gridCol w="1188720"/>
                <a:gridCol w="1188720"/>
                <a:gridCol w="1188720"/>
                <a:gridCol w="1188720"/>
                <a:gridCol w="1828800"/>
              </a:tblGrid>
              <a:tr h="237744">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check</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3.11.15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3.12.13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3.13.14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3.14.6 free-threaded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Python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3.11.15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3.12.13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3.13.14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GIL 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 such call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 such call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True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True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False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Py_GIL_DISABLED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thread name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Thread-1 (f)</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Thread-1 (f)</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Thread-1 (f)</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Thread-1 (f)</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Thread-1 (f)</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pool map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 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 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 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 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 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InterpreterPool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False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False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False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True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True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7744">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start method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fork</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fork</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fork</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forkserver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forkserver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3383280"/>
            <a:ext cx="4023360" cy="1143000"/>
          </a:xfrm>
          <a:prstGeom prst="roundRect">
            <a:avLst>
              <a:gd name="adj" fmla="val 8000"/>
            </a:avLst>
          </a:prstGeom>
          <a:solidFill>
            <a:srgbClr val="F2ECE1"/>
          </a:solidFill>
          <a:ln w="12700">
            <a:solidFill>
              <a:srgbClr val="F2ECE1"/>
            </a:solidFill>
            <a:prstDash val="solid"/>
          </a:ln>
        </p:spPr>
      </p:sp>
      <p:sp>
        <p:nvSpPr>
          <p:cNvPr id="8" name="Text 5"/>
          <p:cNvSpPr txBox="1"/>
          <p:nvPr/>
        </p:nvSpPr>
        <p:spPr>
          <a:xfrm>
            <a:off x="640080" y="350215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Recorded 14 Oct 2026</a:t>
            </a:r>
            <a:endParaRPr lang="en-US" sz="1600" dirty="0"/>
          </a:p>
        </p:txBody>
      </p:sp>
      <p:sp>
        <p:nvSpPr>
          <p:cNvPr id="9" name="Text 6"/>
          <p:cNvSpPr txBox="1"/>
          <p:nvPr/>
        </p:nvSpPr>
        <p:spPr>
          <a:xfrm>
            <a:off x="640080" y="3886200"/>
            <a:ext cx="3657600" cy="502920"/>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The research package holds 74 sources, 25 findings, 64 executed leaves, 4 stories and 7 diagrams. Every figure of a timing is one run on 2 CPUs; the probe above ran the same program under five interpreters.</a:t>
            </a:r>
            <a:endParaRPr lang="en-US" sz="850" dirty="0"/>
          </a:p>
        </p:txBody>
      </p:sp>
      <p:sp>
        <p:nvSpPr>
          <p:cNvPr id="10" name="Shape 7"/>
          <p:cNvSpPr/>
          <p:nvPr/>
        </p:nvSpPr>
        <p:spPr>
          <a:xfrm>
            <a:off x="4663440" y="3383280"/>
            <a:ext cx="4023360" cy="1143000"/>
          </a:xfrm>
          <a:prstGeom prst="roundRect">
            <a:avLst>
              <a:gd name="adj" fmla="val 8000"/>
            </a:avLst>
          </a:prstGeom>
          <a:solidFill>
            <a:srgbClr val="F2ECE1"/>
          </a:solidFill>
          <a:ln w="12700">
            <a:solidFill>
              <a:srgbClr val="F2ECE1"/>
            </a:solidFill>
            <a:prstDash val="solid"/>
          </a:ln>
        </p:spPr>
      </p:sp>
      <p:sp>
        <p:nvSpPr>
          <p:cNvPr id="11" name="Text 8"/>
          <p:cNvSpPr txBox="1"/>
          <p:nvPr/>
        </p:nvSpPr>
        <p:spPr>
          <a:xfrm>
            <a:off x="4846320" y="350215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2" name="Text 9"/>
          <p:cNvSpPr txBox="1"/>
          <p:nvPr/>
        </p:nvSpPr>
        <p:spPr>
          <a:xfrm>
            <a:off x="4846320" y="3886200"/>
            <a:ext cx="3657600" cy="502920"/>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The free-threaded build of Python 3.13, a C extension that re-enables the lock, Windows and macOS, more than 2 CPUs, runs under load and the real xkcd.com (a local stand-in server was used).</a:t>
            </a:r>
            <a:endParaRPr lang="en-US" sz="8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interpreters agree on most rows; the rest was not run.</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branches; the slides of each branch hold the examples</a:t>
            </a:r>
            <a:endParaRPr lang="en-US" sz="1300" dirty="0"/>
          </a:p>
        </p:txBody>
      </p:sp>
      <p:sp>
        <p:nvSpPr>
          <p:cNvPr id="6" name="Shape 4"/>
          <p:cNvSpPr/>
          <p:nvPr/>
        </p:nvSpPr>
        <p:spPr>
          <a:xfrm>
            <a:off x="3657600" y="2217420"/>
            <a:ext cx="18288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730752" y="2564892"/>
            <a:ext cx="1682496" cy="35661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program runs several threads at once</a:t>
            </a:r>
            <a:endParaRPr lang="en-US" sz="1100" dirty="0"/>
          </a:p>
        </p:txBody>
      </p:sp>
      <p:sp>
        <p:nvSpPr>
          <p:cNvPr id="8" name="Shape 6"/>
          <p:cNvSpPr/>
          <p:nvPr/>
        </p:nvSpPr>
        <p:spPr>
          <a:xfrm>
            <a:off x="457200" y="1280160"/>
            <a:ext cx="2834640" cy="683971"/>
          </a:xfrm>
          <a:prstGeom prst="roundRect">
            <a:avLst>
              <a:gd name="adj" fmla="val 10695"/>
            </a:avLst>
          </a:prstGeom>
          <a:solidFill>
            <a:srgbClr val="F2ECE1"/>
          </a:solidFill>
          <a:ln w="15875">
            <a:solidFill>
              <a:srgbClr val="2F6D62"/>
            </a:solidFill>
            <a:prstDash val="solid"/>
          </a:ln>
        </p:spPr>
      </p:sp>
      <p:sp>
        <p:nvSpPr>
          <p:cNvPr id="9" name="Shape 7"/>
          <p:cNvSpPr/>
          <p:nvPr/>
        </p:nvSpPr>
        <p:spPr>
          <a:xfrm>
            <a:off x="3291840" y="1622146"/>
            <a:ext cx="365760" cy="1121054"/>
          </a:xfrm>
          <a:prstGeom prst="line">
            <a:avLst/>
          </a:prstGeom>
          <a:noFill/>
          <a:ln w="15875">
            <a:solidFill>
              <a:srgbClr val="C9BFAE"/>
            </a:solidFill>
            <a:prstDash val="solid"/>
          </a:ln>
        </p:spPr>
      </p:sp>
      <p:sp>
        <p:nvSpPr>
          <p:cNvPr id="10" name="Text 8"/>
          <p:cNvSpPr txBox="1"/>
          <p:nvPr/>
        </p:nvSpPr>
        <p:spPr>
          <a:xfrm>
            <a:off x="54864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Thread basics</a:t>
            </a:r>
            <a:endParaRPr lang="en-US" sz="1000" dirty="0"/>
          </a:p>
        </p:txBody>
      </p:sp>
      <p:sp>
        <p:nvSpPr>
          <p:cNvPr id="11" name="Text 9"/>
          <p:cNvSpPr txBox="1"/>
          <p:nvPr/>
        </p:nvSpPr>
        <p:spPr>
          <a:xfrm>
            <a:off x="54864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start() runs the target in a new thread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args and kwargs pass the arguments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printed listing never starts its threads</a:t>
            </a:r>
            <a:endParaRPr lang="en-US" sz="850" dirty="0"/>
          </a:p>
        </p:txBody>
      </p:sp>
      <p:sp>
        <p:nvSpPr>
          <p:cNvPr id="12" name="Shape 10"/>
          <p:cNvSpPr/>
          <p:nvPr/>
        </p:nvSpPr>
        <p:spPr>
          <a:xfrm>
            <a:off x="457200" y="2028139"/>
            <a:ext cx="2834640" cy="683971"/>
          </a:xfrm>
          <a:prstGeom prst="roundRect">
            <a:avLst>
              <a:gd name="adj" fmla="val 10695"/>
            </a:avLst>
          </a:prstGeom>
          <a:solidFill>
            <a:srgbClr val="F2ECE1"/>
          </a:solidFill>
          <a:ln w="15875">
            <a:solidFill>
              <a:srgbClr val="2F6D62"/>
            </a:solidFill>
            <a:prstDash val="solid"/>
          </a:ln>
        </p:spPr>
      </p:sp>
      <p:sp>
        <p:nvSpPr>
          <p:cNvPr id="13" name="Shape 11"/>
          <p:cNvSpPr/>
          <p:nvPr/>
        </p:nvSpPr>
        <p:spPr>
          <a:xfrm>
            <a:off x="3291840" y="2369210"/>
            <a:ext cx="365760" cy="373990"/>
          </a:xfrm>
          <a:prstGeom prst="line">
            <a:avLst/>
          </a:prstGeom>
          <a:noFill/>
          <a:ln w="15875">
            <a:solidFill>
              <a:srgbClr val="C9BFAE"/>
            </a:solidFill>
            <a:prstDash val="solid"/>
          </a:ln>
        </p:spPr>
      </p:sp>
      <p:sp>
        <p:nvSpPr>
          <p:cNvPr id="14" name="Text 12"/>
          <p:cNvSpPr txBox="1"/>
          <p:nvPr/>
        </p:nvSpPr>
        <p:spPr>
          <a:xfrm>
            <a:off x="548640" y="2073859"/>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Join and daemon</a:t>
            </a:r>
            <a:endParaRPr lang="en-US" sz="1000" dirty="0"/>
          </a:p>
        </p:txBody>
      </p:sp>
      <p:sp>
        <p:nvSpPr>
          <p:cNvPr id="15" name="Text 13"/>
          <p:cNvSpPr txBox="1"/>
          <p:nvPr/>
        </p:nvSpPr>
        <p:spPr>
          <a:xfrm>
            <a:off x="548640" y="2254910"/>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join() waits for a thread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daemon thread dies with the program</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downloader skips every tenth comic</a:t>
            </a:r>
            <a:endParaRPr lang="en-US" sz="850" dirty="0"/>
          </a:p>
        </p:txBody>
      </p:sp>
      <p:sp>
        <p:nvSpPr>
          <p:cNvPr id="16" name="Shape 14"/>
          <p:cNvSpPr/>
          <p:nvPr/>
        </p:nvSpPr>
        <p:spPr>
          <a:xfrm>
            <a:off x="457200" y="2775204"/>
            <a:ext cx="2834640" cy="683971"/>
          </a:xfrm>
          <a:prstGeom prst="roundRect">
            <a:avLst>
              <a:gd name="adj" fmla="val 10695"/>
            </a:avLst>
          </a:prstGeom>
          <a:solidFill>
            <a:srgbClr val="F2ECE1"/>
          </a:solidFill>
          <a:ln w="15875">
            <a:solidFill>
              <a:srgbClr val="2F6D62"/>
            </a:solidFill>
            <a:prstDash val="solid"/>
          </a:ln>
        </p:spPr>
      </p:sp>
      <p:sp>
        <p:nvSpPr>
          <p:cNvPr id="17" name="Shape 15"/>
          <p:cNvSpPr/>
          <p:nvPr/>
        </p:nvSpPr>
        <p:spPr>
          <a:xfrm flipV="1">
            <a:off x="3291840" y="2743200"/>
            <a:ext cx="365760" cy="373990"/>
          </a:xfrm>
          <a:prstGeom prst="line">
            <a:avLst/>
          </a:prstGeom>
          <a:noFill/>
          <a:ln w="15875">
            <a:solidFill>
              <a:srgbClr val="C9BFAE"/>
            </a:solidFill>
            <a:prstDash val="solid"/>
          </a:ln>
        </p:spPr>
      </p:sp>
      <p:sp>
        <p:nvSpPr>
          <p:cNvPr id="18" name="Text 16"/>
          <p:cNvSpPr txBox="1"/>
          <p:nvPr/>
        </p:nvSpPr>
        <p:spPr>
          <a:xfrm>
            <a:off x="548640" y="2820924"/>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Shared data and locks</a:t>
            </a:r>
            <a:endParaRPr lang="en-US" sz="1000" dirty="0"/>
          </a:p>
        </p:txBody>
      </p:sp>
      <p:sp>
        <p:nvSpPr>
          <p:cNvPr id="19" name="Text 17"/>
          <p:cNvSpPr txBox="1"/>
          <p:nvPr/>
        </p:nvSpPr>
        <p:spPr>
          <a:xfrm>
            <a:off x="548640" y="3001975"/>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lost update happens without a lock</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lock makes the update one step</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queue hands items over</a:t>
            </a:r>
            <a:endParaRPr lang="en-US" sz="850" dirty="0"/>
          </a:p>
        </p:txBody>
      </p:sp>
      <p:sp>
        <p:nvSpPr>
          <p:cNvPr id="20" name="Shape 18"/>
          <p:cNvSpPr/>
          <p:nvPr/>
        </p:nvSpPr>
        <p:spPr>
          <a:xfrm>
            <a:off x="457200" y="3523183"/>
            <a:ext cx="2834640" cy="683971"/>
          </a:xfrm>
          <a:prstGeom prst="roundRect">
            <a:avLst>
              <a:gd name="adj" fmla="val 10695"/>
            </a:avLst>
          </a:prstGeom>
          <a:solidFill>
            <a:srgbClr val="F2ECE1"/>
          </a:solidFill>
          <a:ln w="15875">
            <a:solidFill>
              <a:srgbClr val="2F6D62"/>
            </a:solidFill>
            <a:prstDash val="solid"/>
          </a:ln>
        </p:spPr>
      </p:sp>
      <p:sp>
        <p:nvSpPr>
          <p:cNvPr id="21" name="Shape 19"/>
          <p:cNvSpPr/>
          <p:nvPr/>
        </p:nvSpPr>
        <p:spPr>
          <a:xfrm flipV="1">
            <a:off x="3291840" y="2743200"/>
            <a:ext cx="365760" cy="1121054"/>
          </a:xfrm>
          <a:prstGeom prst="line">
            <a:avLst/>
          </a:prstGeom>
          <a:noFill/>
          <a:ln w="15875">
            <a:solidFill>
              <a:srgbClr val="C9BFAE"/>
            </a:solidFill>
            <a:prstDash val="solid"/>
          </a:ln>
        </p:spPr>
      </p:sp>
      <p:sp>
        <p:nvSpPr>
          <p:cNvPr id="22" name="Text 20"/>
          <p:cNvSpPr txBox="1"/>
          <p:nvPr/>
        </p:nvSpPr>
        <p:spPr>
          <a:xfrm>
            <a:off x="548640" y="3568903"/>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Executors and pools</a:t>
            </a:r>
            <a:endParaRPr lang="en-US" sz="1000" dirty="0"/>
          </a:p>
        </p:txBody>
      </p:sp>
      <p:sp>
        <p:nvSpPr>
          <p:cNvPr id="23" name="Text 21"/>
          <p:cNvSpPr txBox="1"/>
          <p:nvPr/>
        </p:nvSpPr>
        <p:spPr>
          <a:xfrm>
            <a:off x="548640" y="3749954"/>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map() keeps the order of the inputs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An exception waits in the Future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default workers depend on the CPUs</a:t>
            </a:r>
            <a:endParaRPr lang="en-US" sz="850" dirty="0"/>
          </a:p>
        </p:txBody>
      </p:sp>
      <p:sp>
        <p:nvSpPr>
          <p:cNvPr id="24" name="Shape 22"/>
          <p:cNvSpPr/>
          <p:nvPr/>
        </p:nvSpPr>
        <p:spPr>
          <a:xfrm>
            <a:off x="5852160" y="1280160"/>
            <a:ext cx="2834640" cy="683971"/>
          </a:xfrm>
          <a:prstGeom prst="roundRect">
            <a:avLst>
              <a:gd name="adj" fmla="val 10695"/>
            </a:avLst>
          </a:prstGeom>
          <a:solidFill>
            <a:srgbClr val="F2ECE1"/>
          </a:solidFill>
          <a:ln w="15875">
            <a:solidFill>
              <a:srgbClr val="2F6D62"/>
            </a:solidFill>
            <a:prstDash val="solid"/>
          </a:ln>
        </p:spPr>
      </p:sp>
      <p:sp>
        <p:nvSpPr>
          <p:cNvPr id="25" name="Shape 23"/>
          <p:cNvSpPr/>
          <p:nvPr/>
        </p:nvSpPr>
        <p:spPr>
          <a:xfrm flipH="1">
            <a:off x="5486400" y="1622146"/>
            <a:ext cx="365760" cy="1121054"/>
          </a:xfrm>
          <a:prstGeom prst="line">
            <a:avLst/>
          </a:prstGeom>
          <a:noFill/>
          <a:ln w="15875">
            <a:solidFill>
              <a:srgbClr val="C9BFAE"/>
            </a:solidFill>
            <a:prstDash val="solid"/>
          </a:ln>
        </p:spPr>
      </p:sp>
      <p:sp>
        <p:nvSpPr>
          <p:cNvPr id="26" name="Text 24"/>
          <p:cNvSpPr txBox="1"/>
          <p:nvPr/>
        </p:nvSpPr>
        <p:spPr>
          <a:xfrm>
            <a:off x="594360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GIL and free threading</a:t>
            </a:r>
            <a:endParaRPr lang="en-US" sz="1000" dirty="0"/>
          </a:p>
        </p:txBody>
      </p:sp>
      <p:sp>
        <p:nvSpPr>
          <p:cNvPr id="27" name="Text 25"/>
          <p:cNvSpPr txBox="1"/>
          <p:nvPr/>
        </p:nvSpPr>
        <p:spPr>
          <a:xfrm>
            <a:off x="594360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standard build keeps the lock on</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Waiting threads overlap on both builds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free-threaded build scales with cores</a:t>
            </a:r>
            <a:endParaRPr lang="en-US" sz="850" dirty="0"/>
          </a:p>
        </p:txBody>
      </p:sp>
      <p:sp>
        <p:nvSpPr>
          <p:cNvPr id="28" name="Shape 26"/>
          <p:cNvSpPr/>
          <p:nvPr/>
        </p:nvSpPr>
        <p:spPr>
          <a:xfrm>
            <a:off x="5852160" y="2028139"/>
            <a:ext cx="2834640" cy="683971"/>
          </a:xfrm>
          <a:prstGeom prst="roundRect">
            <a:avLst>
              <a:gd name="adj" fmla="val 10695"/>
            </a:avLst>
          </a:prstGeom>
          <a:solidFill>
            <a:srgbClr val="F2ECE1"/>
          </a:solidFill>
          <a:ln w="15875">
            <a:solidFill>
              <a:srgbClr val="2F6D62"/>
            </a:solidFill>
            <a:prstDash val="solid"/>
          </a:ln>
        </p:spPr>
      </p:sp>
      <p:sp>
        <p:nvSpPr>
          <p:cNvPr id="29" name="Shape 27"/>
          <p:cNvSpPr/>
          <p:nvPr/>
        </p:nvSpPr>
        <p:spPr>
          <a:xfrm flipH="1">
            <a:off x="5486400" y="2369210"/>
            <a:ext cx="365760" cy="373990"/>
          </a:xfrm>
          <a:prstGeom prst="line">
            <a:avLst/>
          </a:prstGeom>
          <a:noFill/>
          <a:ln w="15875">
            <a:solidFill>
              <a:srgbClr val="C9BFAE"/>
            </a:solidFill>
            <a:prstDash val="solid"/>
          </a:ln>
        </p:spPr>
      </p:sp>
      <p:sp>
        <p:nvSpPr>
          <p:cNvPr id="30" name="Text 28"/>
          <p:cNvSpPr txBox="1"/>
          <p:nvPr/>
        </p:nvSpPr>
        <p:spPr>
          <a:xfrm>
            <a:off x="5943600" y="2073859"/>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Threads versus other tools</a:t>
            </a:r>
            <a:endParaRPr lang="en-US" sz="1000" dirty="0"/>
          </a:p>
        </p:txBody>
      </p:sp>
      <p:sp>
        <p:nvSpPr>
          <p:cNvPr id="31" name="Text 29"/>
          <p:cNvSpPr txBox="1"/>
          <p:nvPr/>
        </p:nvSpPr>
        <p:spPr>
          <a:xfrm>
            <a:off x="5943600" y="2254910"/>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process does not share variables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asyncio overlaps waiting on one thread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default start method is forkserver</a:t>
            </a:r>
            <a:endParaRPr lang="en-US" sz="850" dirty="0"/>
          </a:p>
        </p:txBody>
      </p:sp>
      <p:sp>
        <p:nvSpPr>
          <p:cNvPr id="32" name="Shape 30"/>
          <p:cNvSpPr/>
          <p:nvPr/>
        </p:nvSpPr>
        <p:spPr>
          <a:xfrm>
            <a:off x="5852160" y="2775204"/>
            <a:ext cx="2834640" cy="683971"/>
          </a:xfrm>
          <a:prstGeom prst="roundRect">
            <a:avLst>
              <a:gd name="adj" fmla="val 10695"/>
            </a:avLst>
          </a:prstGeom>
          <a:solidFill>
            <a:srgbClr val="F2ECE1"/>
          </a:solidFill>
          <a:ln w="15875">
            <a:solidFill>
              <a:srgbClr val="2F6D62"/>
            </a:solidFill>
            <a:prstDash val="solid"/>
          </a:ln>
        </p:spPr>
      </p:sp>
      <p:sp>
        <p:nvSpPr>
          <p:cNvPr id="33" name="Shape 31"/>
          <p:cNvSpPr/>
          <p:nvPr/>
        </p:nvSpPr>
        <p:spPr>
          <a:xfrm flipH="1" flipV="1">
            <a:off x="5486400" y="2743200"/>
            <a:ext cx="365760" cy="373990"/>
          </a:xfrm>
          <a:prstGeom prst="line">
            <a:avLst/>
          </a:prstGeom>
          <a:noFill/>
          <a:ln w="15875">
            <a:solidFill>
              <a:srgbClr val="C9BFAE"/>
            </a:solidFill>
            <a:prstDash val="solid"/>
          </a:ln>
        </p:spPr>
      </p:sp>
      <p:sp>
        <p:nvSpPr>
          <p:cNvPr id="34" name="Text 32"/>
          <p:cNvSpPr txBox="1"/>
          <p:nvPr/>
        </p:nvSpPr>
        <p:spPr>
          <a:xfrm>
            <a:off x="5943600" y="2820924"/>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Environment and evidence</a:t>
            </a:r>
            <a:endParaRPr lang="en-US" sz="1000" dirty="0"/>
          </a:p>
        </p:txBody>
      </p:sp>
      <p:sp>
        <p:nvSpPr>
          <p:cNvPr id="35" name="Text 33"/>
          <p:cNvSpPr txBox="1"/>
          <p:nvPr/>
        </p:nvSpPr>
        <p:spPr>
          <a:xfrm>
            <a:off x="5943600" y="3001975"/>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study ran Python 3.14.6</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Every timing is a single run</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Windows and macOS were not executed</a:t>
            </a:r>
            <a:endParaRPr lang="en-US" sz="850" dirty="0"/>
          </a:p>
        </p:txBody>
      </p:sp>
      <p:sp>
        <p:nvSpPr>
          <p:cNvPr id="36" name="Text 34"/>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ThreadsAtAGlance - TopicAndParts pattern, 105 of 108 words grounded in the chapter's text</a:t>
            </a:r>
            <a:endParaRPr lang="en-US" sz="85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Stories</a:t>
            </a:r>
            <a:endParaRPr lang="en-US" sz="115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Therac-25 (Wikipedia)  </a:t>
            </a:r>
            <a:r>
              <a:rPr lang="en-US" sz="9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en.wikipedia.org/wiki/Therac-25</a:t>
            </a:r>
            <a:endParaRPr lang="en-US" sz="90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Semaphore (programming) (Wikipedia)  </a:t>
            </a:r>
            <a:r>
              <a:rPr lang="en-US" sz="9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en.wikipedia.org/wiki/Semaphore_(programming)</a:t>
            </a:r>
            <a:endParaRPr lang="en-US" sz="90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Northeast blackout of 2003 (Wikipedia)  </a:t>
            </a:r>
            <a:r>
              <a:rPr lang="en-US" sz="9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en.wikipedia.org/wiki/Northeast_blackout_of_2003</a:t>
            </a:r>
            <a:endParaRPr lang="en-US" sz="900" dirty="0"/>
          </a:p>
        </p:txBody>
      </p:sp>
      <p:sp>
        <p:nvSpPr>
          <p:cNvPr id="13" name="Shape 11"/>
          <p:cNvSpPr/>
          <p:nvPr/>
        </p:nvSpPr>
        <p:spPr>
          <a:xfrm>
            <a:off x="493776" y="2615184"/>
            <a:ext cx="82296" cy="82296"/>
          </a:xfrm>
          <a:prstGeom prst="ellipse">
            <a:avLst/>
          </a:prstGeom>
          <a:solidFill>
            <a:srgbClr val="D97A14"/>
          </a:solidFill>
          <a:ln w="12700">
            <a:solidFill>
              <a:srgbClr val="D97A14"/>
            </a:solidFill>
            <a:prstDash val="solid"/>
          </a:ln>
        </p:spPr>
      </p:sp>
      <p:sp>
        <p:nvSpPr>
          <p:cNvPr id="14" name="Text 12"/>
          <p:cNvSpPr txBox="1"/>
          <p:nvPr/>
        </p:nvSpPr>
        <p:spPr>
          <a:xfrm>
            <a:off x="658368" y="2542032"/>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PEP 703: making the GIL optional  </a:t>
            </a:r>
            <a:r>
              <a:rPr lang="en-US" sz="9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peps.python.org/pep-0703/</a:t>
            </a:r>
            <a:endParaRPr lang="en-US" sz="900" dirty="0"/>
          </a:p>
        </p:txBody>
      </p:sp>
      <p:sp>
        <p:nvSpPr>
          <p:cNvPr id="15" name="Text 13"/>
          <p:cNvSpPr txBox="1"/>
          <p:nvPr/>
        </p:nvSpPr>
        <p:spPr>
          <a:xfrm>
            <a:off x="457200" y="2944368"/>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Read</a:t>
            </a:r>
            <a:endParaRPr lang="en-US" sz="11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textbook, 2nd edition, chapter 17 - free online  </a:t>
            </a:r>
            <a:r>
              <a:rPr lang="en-US" sz="9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automatetheboringstuff.com/2e/chapter17/</a:t>
            </a:r>
            <a:endParaRPr lang="en-US" sz="90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3rd edition: table of contents  </a:t>
            </a:r>
            <a:r>
              <a:rPr lang="en-US" sz="9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automatetheboringstuff.com/3e/</a:t>
            </a:r>
            <a:endParaRPr lang="en-US" sz="90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Appendix A: installing third-party modules  </a:t>
            </a:r>
            <a:r>
              <a:rPr lang="en-US" sz="9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automatetheboringstuff.com/2e/appendixa/</a:t>
            </a:r>
            <a:endParaRPr lang="en-US" sz="90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Reference</a:t>
            </a:r>
            <a:endParaRPr lang="en-US" sz="115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threading (Python 3.14 documentation)  </a:t>
            </a:r>
            <a:r>
              <a:rPr lang="en-US" sz="9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docs.python.org/3.14/library/threading.html</a:t>
            </a:r>
            <a:endParaRPr lang="en-US" sz="90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concurrent.futures (Python 3.14 documentation)  </a:t>
            </a:r>
            <a:r>
              <a:rPr lang="en-US" sz="9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docs.python.org/3.14/library/concurrent.futures.html</a:t>
            </a:r>
            <a:endParaRPr lang="en-US" sz="900" dirty="0"/>
          </a:p>
        </p:txBody>
      </p:sp>
      <p:sp>
        <p:nvSpPr>
          <p:cNvPr id="27" name="Shape 25"/>
          <p:cNvSpPr/>
          <p:nvPr/>
        </p:nvSpPr>
        <p:spPr>
          <a:xfrm>
            <a:off x="4768596" y="2286000"/>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asyncio (Python 3.14 documentation)  </a:t>
            </a:r>
            <a:r>
              <a:rPr lang="en-US" sz="9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docs.python.org/3.14/library/asyncio.html</a:t>
            </a:r>
            <a:endParaRPr lang="en-US" sz="900" dirty="0"/>
          </a:p>
        </p:txBody>
      </p:sp>
      <p:sp>
        <p:nvSpPr>
          <p:cNvPr id="29" name="Shape 27"/>
          <p:cNvSpPr/>
          <p:nvPr/>
        </p:nvSpPr>
        <p:spPr>
          <a:xfrm>
            <a:off x="4768596" y="261518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Python support for free threading (HOWTO)  </a:t>
            </a:r>
            <a:r>
              <a:rPr lang="en-US" sz="9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docs.python.org/3.14/howto/free-threading-python.html</a:t>
            </a:r>
            <a:endParaRPr lang="en-US" sz="900" dirty="0"/>
          </a:p>
        </p:txBody>
      </p:sp>
      <p:sp>
        <p:nvSpPr>
          <p:cNvPr id="31" name="Shape 29"/>
          <p:cNvSpPr/>
          <p:nvPr/>
        </p:nvSpPr>
        <p:spPr>
          <a:xfrm>
            <a:off x="4768596" y="2944368"/>
            <a:ext cx="82296" cy="82296"/>
          </a:xfrm>
          <a:prstGeom prst="ellipse">
            <a:avLst/>
          </a:prstGeom>
          <a:solidFill>
            <a:srgbClr val="D97A14"/>
          </a:solidFill>
          <a:ln w="12700">
            <a:solidFill>
              <a:srgbClr val="D97A14"/>
            </a:solidFill>
            <a:prstDash val="solid"/>
          </a:ln>
        </p:spPr>
      </p:sp>
      <p:sp>
        <p:nvSpPr>
          <p:cNvPr id="32" name="Text 30"/>
          <p:cNvSpPr txBox="1"/>
          <p:nvPr/>
        </p:nvSpPr>
        <p:spPr>
          <a:xfrm>
            <a:off x="4933188" y="2871216"/>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Python Free-Threading Guide  </a:t>
            </a:r>
            <a:r>
              <a:rPr lang="en-US" sz="90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py-free-threading.github.io/</a:t>
            </a:r>
            <a:endParaRPr lang="en-US" sz="900" dirty="0"/>
          </a:p>
        </p:txBody>
      </p:sp>
      <p:sp>
        <p:nvSpPr>
          <p:cNvPr id="33" name="Shape 31"/>
          <p:cNvSpPr/>
          <p:nvPr/>
        </p:nvSpPr>
        <p:spPr>
          <a:xfrm>
            <a:off x="4768596" y="3273552"/>
            <a:ext cx="82296" cy="82296"/>
          </a:xfrm>
          <a:prstGeom prst="ellipse">
            <a:avLst/>
          </a:prstGeom>
          <a:solidFill>
            <a:srgbClr val="D97A14"/>
          </a:solidFill>
          <a:ln w="12700">
            <a:solidFill>
              <a:srgbClr val="D97A14"/>
            </a:solidFill>
            <a:prstDash val="solid"/>
          </a:ln>
        </p:spPr>
      </p:sp>
      <p:sp>
        <p:nvSpPr>
          <p:cNvPr id="34" name="Text 32"/>
          <p:cNvSpPr txBox="1"/>
          <p:nvPr/>
        </p:nvSpPr>
        <p:spPr>
          <a:xfrm>
            <a:off x="4933188" y="320040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Edsger W. Dijkstra (Wikipedia)  </a:t>
            </a:r>
            <a:r>
              <a:rPr lang="en-US" sz="900"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en.wikipedia.org/wiki/Edsger_W._Dijkstra</a:t>
            </a:r>
            <a:endParaRPr lang="en-US" sz="90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and history, all opened today.</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thread runs only after start(), and join() waits for it; the printed downloader never calls start().</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shared counter needs a lock; with the GIL a race is rare, not impossible.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Threads overlap waiting; only the free-threaded build sped up CPU-bound work.</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timing here is one run on 2 CPUs; Windows and macOS did not run.</a:t>
            </a:r>
            <a:endParaRPr lang="en-US" sz="1500" dirty="0"/>
          </a:p>
        </p:txBody>
      </p:sp>
      <p:sp>
        <p:nvSpPr>
          <p:cNvPr id="7" name="Shape 5"/>
          <p:cNvSpPr/>
          <p:nvPr/>
        </p:nvSpPr>
        <p:spPr>
          <a:xfrm>
            <a:off x="548640" y="3749040"/>
            <a:ext cx="1961388" cy="420624"/>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19 console rows</a:t>
            </a:r>
            <a:endParaRPr lang="en-US" sz="1000" dirty="0"/>
          </a:p>
        </p:txBody>
      </p:sp>
      <p:sp>
        <p:nvSpPr>
          <p:cNvPr id="9" name="Shape 7"/>
          <p:cNvSpPr/>
          <p:nvPr/>
        </p:nvSpPr>
        <p:spPr>
          <a:xfrm>
            <a:off x="2711196" y="3749040"/>
            <a:ext cx="1961388" cy="420624"/>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711196" y="374904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17 programs run</a:t>
            </a:r>
            <a:endParaRPr lang="en-US" sz="1000" dirty="0"/>
          </a:p>
        </p:txBody>
      </p:sp>
      <p:sp>
        <p:nvSpPr>
          <p:cNvPr id="11" name="Shape 9"/>
          <p:cNvSpPr/>
          <p:nvPr/>
        </p:nvSpPr>
        <p:spPr>
          <a:xfrm>
            <a:off x="4873752" y="3749040"/>
            <a:ext cx="1435608" cy="420624"/>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873752" y="374904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7 diagrams</a:t>
            </a:r>
            <a:endParaRPr lang="en-US" sz="1000" dirty="0"/>
          </a:p>
        </p:txBody>
      </p:sp>
      <p:sp>
        <p:nvSpPr>
          <p:cNvPr id="13" name="Shape 11"/>
          <p:cNvSpPr/>
          <p:nvPr/>
        </p:nvSpPr>
        <p:spPr>
          <a:xfrm>
            <a:off x="6510528" y="3749040"/>
            <a:ext cx="1435608" cy="420624"/>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510528" y="374904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5 pictures</a:t>
            </a:r>
            <a:endParaRPr lang="en-US" sz="10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thread to try.</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25 - Threads</dc:title>
  <dc:subject>PptxGenJS Presentation</dc:subject>
  <dc:creator>Yusuf Altunel</dc:creator>
  <cp:lastModifiedBy>Yusuf Altunel</cp:lastModifiedBy>
  <cp:revision>1</cp:revision>
  <dcterms:created xsi:type="dcterms:W3CDTF">2026-10-14T09:11:32Z</dcterms:created>
  <dcterms:modified xsi:type="dcterms:W3CDTF">2026-10-14T09:11:32Z</dcterms:modified>
  <cp:version>1.0.0</cp:version>
</cp:coreProperties>
</file>