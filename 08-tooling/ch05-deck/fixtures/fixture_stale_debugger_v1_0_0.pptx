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Chapter 5 of the book (Sweigart, 2025) is about bugs: how a program tells you it has met one, how you make it tell you sooner, and how you stop it in the middle and look. Every result on these slides was produced by running it under Python 3.14.4, and the debugger, the logging table and the exception climb you will see were recorded from real runs. The chapter page has the same diagrams, and its Lecture tab carries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the feeling everyone has had: the program does not crash, it just gives the wrong answer. Two of this chapter’s own programs do exactly that, a factorial that returns 0 and an adding program that prints 5342 when it should print 50. Click once for the missing error message, once for the question. Ask the room how they would look for the mistake before the slides give the standard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chapter, drawn from the chapter’s ontology; it is the same tree the interactive page uses. Error signalling covers raising exceptions and reading the traceback. Assertion covers assert and, importantly, when it is switched off. Logging covers setting it up, the levels and good practice. Debugger covers the controls and the standard library’s own debugger. Modern practice holds the three bugs the chapter’s programs contain. By the end you should be able to say which instrument a given problem calls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per instrument. Raise is for an error somebody else can handle: a caller passed a width of 1 to a function that draws boxes. Assert is for a belief of the programmer: if this list is sorted, the first item is not larger than the last, and if that is false the code is wrong and must stop. Logging is for a record: what did the program do, in what order, with which values. The debugger is for a question about state: what are the variables at exactly this line. The rest of the lecture takes them in that order and ends with three real bugs and the instrument that finds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is the book’s box_print (Sweigart, 2025), with the calls that trigger each message. It checks its own arguments and raises an Exception with a message when one is wrong: a symbol that is not one character, a width or a height that is not greater than 2. The loop at the bottom calls it with a good box, a width of 1 and a two-character symbol. Click once for the real output: the good box prints, then two lines that begin An exception happened. The except clause caught each exception, called it err and printed str(err), which is exactly the text given to raise. Click again for the sentence to remember. Ask: why is raising better here than printing an error message inside the function? The caller can decide what to do.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 on the left is the frames of a real traceback, taken from a run of the program on the right under Python 3.14.4. int(text) inside read_age cannot read the letters abc, so it raises ValueError. Nothing in read_age handles it, so the function is left; the same in load, and the same in process. Click through: each click is one more frame the exception leaves. Only the try around the call at the bottom has an except clause that matches, so it is caught there and execution continues with the print. The transcript is the proof: caught, then the message. This is why the chapter says a function should raise and let the caller who knows what to do handle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traceback is the same climb as the previous slide, printed by the interpreter when no handler exists. Teach students to read it from the bottom: the last line says what went wrong, in words. The lines above go backwards through the calls that led there, so the frame just above the last line is where the exception was raised. Each frame has its file, its line number, its function and the source line itself. The text on the slide was written by a real interpreter to standard error when the program ran, so it is exact, including the carets that appear under the failing expression from Python 3.11.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additions since the book’s tracebacks. First, from Python 3.11 the traceback underlines the part of the line that failed. In print(data[‘a’][‘b’][‘c’]) the value at ‘b’ is None, so the third subscript fails, and the carets sit under it; before 3.11 you had to work that out yourself (Galindo Salgado et al., 2021). Second, an exception can carry notes: the program catches a ValueError, adds a note saying which field was being read, and re-raises; the note is kept in __notes__ and printed under the traceback if nobody handles it (Hatfield-Dodds, 2021). Neither is in the book; both are worth a sentence.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first again. The list starts unsorted, is reversed instead of sorted, and the assert says the first item must not be larger than the last. Give them thirty seconds. Click once for the answer, once for the real run. Notice that an assert with no message raises AssertionError with an empty string as its message; the printed line shows repr(str(e)), which is two quotation marks with nothing between them. The try and except is here only so the slide can print what happened; the chapter’s advice is that in a real program you do not catch an AssertionError, you fix the code.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the chapter draws is the one to leave with. If the cause is outside your code, a missing file, bad input, a dropped connection, the program can do something sensible, so use exceptions and handle them. If the cause is a mistake in your code, there is nothing sensible to do except stop and fix it, and an assertion states the belief that turned out false. The reference defines the assert statement as equivalent to raising AssertionError only when a debug flag is set (Python Software Foundation, 2026), which is the subject of slide 12. Click through the two cards and then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bare assert tells you a check failed; adding a message tells you what the values were. The message is an expression after a comma and is evaluated only if the condition is false, so it costs nothing on the passing path. The line in the code card confirms that AssertionError is an ordinary exception class, a subclass of Exception, which is why an except Exception clause would catch it, and why the previous slide told you not to.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and a genuine trap. The reference says the assert statement is equivalent to if __debug__: if not expression: raise AssertionError, and that no code is generated for it when optimisation is requested, as with the -O option (Python Software Foundation, 2026). The program shows both: compiled normally the assert raises and prints the message; compiled with optimize=1 the same source runs straight through to the print. The code card shows __debug__ is True in a normal run. So an assert is a development aid; anything the program depends on for correctness under all conditions must not be one.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starts with print statements. They work, and they leave a mess: you must remember to remove them, and you cannot keep some and hide others. Logging solves exactly that problem. Click for the question and let the room suggest what it would need: a way to label how important a message is, and a single switch for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call from the book (Sweigart, 2025), with one change: the book’s format also prints the time, which is useful in real programs and makes a slide unrepeatable, so this deck leaves it out. Three parts: the level says which messages to show, the format says what each line looks like, and the destination is the screen unless you give a file name. Click the three parts of the format string one by one, then the real output of the program above: five calls, four lines, because the threshold was INFO. Say now that the missing line is the debug call, and that the next slides explain why.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five levels, lowest to highest importance: DEBUG for the detail you want while developing, INFO for confirmation that things work, WARNING for something unexpected, ERROR for a failure, CRITICAL for one that may stop the program. The numbers in the code card were produced by asking the logging module for them; they are 10, 20, 30, 40 and 50 (Python Software Foundation, 2026). One click: set the threshold to WARNING and the two lowest steps disappear. The threshold is a number, so the rule is simply: shown when the message’s number is at least the threshold’s.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is a simulation you can also run yourself on the page. Every cell is what a real subprocess printed: for each setting the same five logging calls were run under Python 3.14.4 and the output lines were read back. Click column by column. Column one has no basicConfig at all and shows a surprise, taken up next. Columns two to six are the five thresholds; watch the shown cells shrink as the threshold rises. The last column is the disable function, which silences everything at or below the level it is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commonest surprise for a beginner: they add logging.debug calls and see nothing. The reason is that a program with no configuration has the root logger at WARNING, which the code card reads back as 30. The box on the right is the exact standard error of a run with no setup: only the warning, error and critical lines appear, and with the logger’s name, root, in front (Python Software Foundation, 2026). Debug and info are dropped. Second click: the fix is the chapter’s own basicConfig call.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and a frequent puzzle in notebooks and tests, where something else has already configured logging. The program calls basicConfig with INFO, then again with DEBUG; the debug call after the second setup prints nothing, because the second call was ignored. The third call passes force=True, and now the debug message appears. The logging documentation says basicConfig does nothing if the root logger already has handlers configured unless force is given (Python Software Foundation, 2026).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writes to myProgramLog.txt; this program does the same in a temporary folder so it can be re-run anywhere, then reads the file back and prints it. Two messages were logged and both appear, because the threshold was DEBUG. Nothing was printed to the screen by the logging calls themselves: the record lives in the file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hook. Print calls have to be found and deleted; log calls are silenced by one line. In the real run, the critical message before the disable call appears, the two calls after it print nothing, and after logging.disable(logging.NOTSET) errors show again (Sweigart, 2025; Python Software Foundation, 2026). It is the same idea as the last column of the grid.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point the book does not make. The level here is INFO, so the debug calls are not emitted. In the first call the object is passed as an argument and the logging module only converts it to text if the message will be shown, so its __str__ ran zero times. In the second the f-string builds the text before the call, so the conversion ran once even though nothing was logged. For a cheap value it does not matter; for an expensive one it does, and the logging HOWTO’s own example makes that point (Python Software Foundation, 2026).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practice question 8 asks why logging is better than print for the same message, and its answer is about audience: log messages are for the programmer; messages the user should see, such as file not found or invalid input, use print (Sweigart, 2025). The three lines on the left are the practical consequences you have just seen: the calls stay, one setting switches them off, and each carries a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factorial with its logging calls, for n of 3 so the table stays short (Sweigart, 2025). Ask what they expect; most say 6. Click for the real run: the log shows i is 0, total is 0 on the first pass and total is still 0 on every pass after it, and the call returns 0. The debug lines are what make the bug visible without a debugger: you can see the first pass multiply by zero. Do not explain yet; the next slide traces it.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trace table is how you reason about a loop without running it. Click row by row. Pass one: i is 0, so total times 0 is 0. From then on total stays 0, whatever i is, because anything times zero is zero. The last row also shows the debug line that closes the function and the value that print shows. This trace was recorded by a line tracer on the program on the previous slide under Python 3.14.4; the page draws the same specification as a stepper.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program with range(1, n + 1). The log now shows i is 1 and total is 1, then 2, then 6, and the call prints 6. Notice how the logging calls stayed in place while the fix went in; when the program is finished you raise the threshold or call disable and they fall silent, rather than deleting them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Logging tells you what happened. Sometimes you need to ask what the state is right now, at one line, and then step forward and see. That is what a debugger is. The book’s chapter uses the debugger in the Mu editor (Sweigart, 2025); the controls have the same names in most editors, and the standard library has one of its own, which is the last part of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controls of the chapter’s debugger, one click each. Continue runs until it reaches a breakpoint or the end. Step In executes the next line and, if the line calls a function, goes inside it. Step Over executes the next line, running any function it calls at full speed without stopping inside. Step Out runs the rest of the current function and stops when it returns (Sweigart, 2025). Stop ends the program. Under each is the command of the standard library’s debugger, pdb, that does the same job: continue, step, next and return; the page’s simulator has all five buttons. Last click: the breakpoint, the line at which you ask the debugger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panels are frames from one recorded run of this program under Python 3.14.4: a line event stream, with the variables and the call stack at each stop. On the left the debugger has stopped before line 1, nothing has run and no variables exist. There is a breakpoint, the red dot, on line 7. Click: Continue runs the program until it reaches that line and stops there, with x already 5 because line 6 has run. This is the same simulator you get on the page, where you can set your own breakpoints by clicking a line number. If students want to see any of their own code stepped through, Python Tutor does that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frames from the recorded run. On the left the debugger is stopped at line 6, which calls add. Click once: Step In moves into add, so the call stack now has a third frame, and a and b are its variables. Click again: Step Over, from the same starting line, runs the whole call to add at full speed and stops on the next line of main, with x already 5 and the call stack unchanged. Use Step In when you suspect the function you are calling; Step Over when you trust it and want to move on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stepping control. The debugger is stopped at line 2, inside add, with a and b set and three frames on the call stack. Step Out runs the rest of add and stops as soon as it returns, here at line 7 of main, with the call stack back to two frames (Sweigart, 2025). It is the way back after a Step In that turned out to be uninteresting.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which uses an editor’s debugger, but this is the tool every Python installation has. Since Python 3.7 a call to breakpoint() pauses the program in the debugger at that line; it calls sys.breakpointhook, and setting the environment variable PYTHONBREAKPOINT to 0 makes the call do nothing, so you can leave one in and switch it off (Warsaw, 2017; Python Software Foundation, 2026). The third line of the code card shows the pdb commands that match the chapter’s controls, checked against the debugger class itself, and the last confirms the quit command that matches Stop. New in Python 3.14: the debugger can attach to a process that is already running, by its process identifier, using sys.remote_exec (Galindo Salgado, Wozniski and Stojanovic, 2024); the second line confirms that this build has it.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buggy adding program: input() returns strings, so adding first, second and third joins the text and prints The sum is 5342 (Sweigart, 2025). In the debugger’s variable pane the values would show with quotation marks, which is the clue that they are strings and not numbers. Click for the fix, int(input()) on each line, and the real run: the sum is 50. Both transcripts are real runs of these programs with the inputs 5, 3 and 42.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program in the chapter, cut down to the comparison that is wrong. random.randint(0, 1) gives an integer, the guess from input() is a string, and toss == guess compares the two, so it is always false. The seed is fixed, so the toss is heads in both runs: the run that guessed heads should have won, and it says Nope. The last line prints the two types. The other bugs in the practice program are for the students to find with the instruments of this chapter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the program runs and prints a wrong answer. Start by asking what you believe, and assert it. Add logging where you cannot tell what happened. Reach for the debugger when the state at one line is the question. Read every traceback from the bottom. Those four verbs are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click. Questions 1 to 3 revisit the assertion and logging material; question 4 the debugger controls from the book’s practice questions; question 5 the bug that ran through the chapter. The interactive page has a quiz with a reason for each wrong answer, so send them there before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03-materials/ch05/rdodi/sen0414_ch05_research_v1_0_0.ttl. Visual specifications: 08-tooling/ch05-deck/visuals_make_v1_0_0.py, output visuals_out_v1_0_0.json. The chapter page’s Resources tab lists the links that were opened and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the 3rd edition is Lists. Ask for questions, and remind them the page has the same simulations they saw today, and its Lecture tab has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ocs.python.org/3/library/traceback.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ocs.python.org/3/library/traceback.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peps.python.org/pep-0657/" TargetMode="External"/><Relationship Id="rId2" Type="http://schemas.openxmlformats.org/officeDocument/2006/relationships/hyperlink" Target="https://peps.python.org/pep-0678/"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ocs.python.org/3/using/cmdline.html" TargetMode="External"/><Relationship Id="rId2" Type="http://schemas.openxmlformats.org/officeDocument/2006/relationships/hyperlink" Target="https://docs.python.org/3/reference/simple_stmts.html"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cs.python.org/3/library/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docs.python.org/3/library/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pythontutor.com/" TargetMode="Externa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peps.python.org/pep-0553/" TargetMode="External"/><Relationship Id="rId2" Type="http://schemas.openxmlformats.org/officeDocument/2006/relationships/hyperlink" Target="https://peps.python.org/pep-0768/" TargetMode="External"/><Relationship Id="rId3" Type="http://schemas.openxmlformats.org/officeDocument/2006/relationships/hyperlink" Target="https://docs.python.org/3/library/pdb.html" TargetMode="External"/><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docs.python.org/3/tutorial/errors.html" TargetMode="Externa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5: Debugging</a:t>
            </a:r>
            <a:endParaRPr lang="en-US" sz="3800" dirty="0"/>
          </a:p>
        </p:txBody>
      </p:sp>
      <p:sp>
        <p:nvSpPr>
          <p:cNvPr id="5" name="x"/>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Four ways to find out what a program is really doing</a:t>
            </a:r>
            <a:endParaRPr lang="en-US" sz="1800" dirty="0"/>
          </a:p>
        </p:txBody>
      </p:sp>
      <p:sp>
        <p:nvSpPr>
          <p:cNvPr id="6" name="x"/>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5544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program runs. It prints an answer. The answer is wrong — and Python says nothing.</a:t>
            </a:r>
            <a:endParaRPr lang="en-US" sz="3000" dirty="0"/>
          </a:p>
        </p:txBody>
      </p:sp>
      <p:sp>
        <p:nvSpPr>
          <p:cNvPr id="3" name="say|b1"/>
          <p:cNvSpPr txBox="1"/>
          <p:nvPr/>
        </p:nvSpPr>
        <p:spPr>
          <a:xfrm>
            <a:off x="640080" y="2651760"/>
            <a:ext cx="7863840" cy="73152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No traceback. No red text. Just a number that should not be that number.</a:t>
            </a:r>
            <a:endParaRPr lang="en-US" sz="1800" dirty="0"/>
          </a:p>
        </p:txBody>
      </p:sp>
      <p:sp>
        <p:nvSpPr>
          <p:cNvPr id="4" name="say|b2"/>
          <p:cNvSpPr txBox="1"/>
          <p:nvPr/>
        </p:nvSpPr>
        <p:spPr>
          <a:xfrm>
            <a:off x="640080" y="3749040"/>
            <a:ext cx="786384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Where do you even start?</a:t>
            </a:r>
            <a:endParaRPr lang="en-US" sz="2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Four instruments, and what surrounds them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as the course’s own ontology draws it</a:t>
            </a:r>
            <a:endParaRPr lang="en-US" sz="1400" dirty="0"/>
          </a:p>
        </p:txBody>
      </p:sp>
      <p:sp>
        <p:nvSpPr>
          <p:cNvPr id="6" name="map1"/>
          <p:cNvSpPr/>
          <p:nvPr/>
        </p:nvSpPr>
        <p:spPr>
          <a:xfrm>
            <a:off x="365760" y="1325880"/>
            <a:ext cx="1572768" cy="566928"/>
          </a:xfrm>
          <a:prstGeom prst="roundRect">
            <a:avLst>
              <a:gd name="adj" fmla="val 12903"/>
            </a:avLst>
          </a:prstGeom>
          <a:solidFill>
            <a:srgbClr val="306998"/>
          </a:solidFill>
          <a:ln w="12700">
            <a:solidFill>
              <a:srgbClr val="306998"/>
            </a:solidFill>
            <a:prstDash val="solid"/>
          </a:ln>
        </p:spPr>
      </p:sp>
      <p:sp>
        <p:nvSpPr>
          <p:cNvPr id="7" name="map1t"/>
          <p:cNvSpPr txBox="1"/>
          <p:nvPr/>
        </p:nvSpPr>
        <p:spPr>
          <a:xfrm>
            <a:off x="365760"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Error signalling</a:t>
            </a:r>
            <a:endParaRPr lang="en-US" sz="1400" dirty="0"/>
          </a:p>
        </p:txBody>
      </p:sp>
      <p:sp>
        <p:nvSpPr>
          <p:cNvPr id="8" name="arrow"/>
          <p:cNvSpPr/>
          <p:nvPr/>
        </p:nvSpPr>
        <p:spPr>
          <a:xfrm>
            <a:off x="1152144" y="1892808"/>
            <a:ext cx="0" cy="146304"/>
          </a:xfrm>
          <a:prstGeom prst="line">
            <a:avLst/>
          </a:prstGeom>
          <a:noFill/>
          <a:ln w="12700">
            <a:solidFill>
              <a:srgbClr val="9AA8B8"/>
            </a:solidFill>
            <a:prstDash val="solid"/>
          </a:ln>
        </p:spPr>
      </p:sp>
      <p:sp>
        <p:nvSpPr>
          <p:cNvPr id="9" name="map2"/>
          <p:cNvSpPr/>
          <p:nvPr/>
        </p:nvSpPr>
        <p:spPr>
          <a:xfrm>
            <a:off x="411480" y="2039112"/>
            <a:ext cx="1481328" cy="457200"/>
          </a:xfrm>
          <a:prstGeom prst="roundRect">
            <a:avLst>
              <a:gd name="adj" fmla="val 12000"/>
            </a:avLst>
          </a:prstGeom>
          <a:solidFill>
            <a:srgbClr val="E3EEF8"/>
          </a:solidFill>
          <a:ln w="12700">
            <a:solidFill>
              <a:srgbClr val="306998"/>
            </a:solidFill>
            <a:prstDash val="solid"/>
          </a:ln>
        </p:spPr>
      </p:sp>
      <p:sp>
        <p:nvSpPr>
          <p:cNvPr id="10" name="map2t"/>
          <p:cNvSpPr txBox="1"/>
          <p:nvPr/>
        </p:nvSpPr>
        <p:spPr>
          <a:xfrm>
            <a:off x="438912"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Raising</a:t>
            </a:r>
            <a:endParaRPr lang="en-US" sz="1150" dirty="0"/>
          </a:p>
        </p:txBody>
      </p:sp>
      <p:sp>
        <p:nvSpPr>
          <p:cNvPr id="11" name="arrow"/>
          <p:cNvSpPr/>
          <p:nvPr/>
        </p:nvSpPr>
        <p:spPr>
          <a:xfrm>
            <a:off x="1152144" y="1892808"/>
            <a:ext cx="0" cy="713232"/>
          </a:xfrm>
          <a:prstGeom prst="line">
            <a:avLst/>
          </a:prstGeom>
          <a:noFill/>
          <a:ln w="12700">
            <a:solidFill>
              <a:srgbClr val="9AA8B8"/>
            </a:solidFill>
            <a:prstDash val="solid"/>
          </a:ln>
        </p:spPr>
      </p:sp>
      <p:sp>
        <p:nvSpPr>
          <p:cNvPr id="12" name="map2"/>
          <p:cNvSpPr/>
          <p:nvPr/>
        </p:nvSpPr>
        <p:spPr>
          <a:xfrm>
            <a:off x="411480" y="2606040"/>
            <a:ext cx="1481328" cy="457200"/>
          </a:xfrm>
          <a:prstGeom prst="roundRect">
            <a:avLst>
              <a:gd name="adj" fmla="val 12000"/>
            </a:avLst>
          </a:prstGeom>
          <a:solidFill>
            <a:srgbClr val="E3EEF8"/>
          </a:solidFill>
          <a:ln w="12700">
            <a:solidFill>
              <a:srgbClr val="306998"/>
            </a:solidFill>
            <a:prstDash val="solid"/>
          </a:ln>
        </p:spPr>
      </p:sp>
      <p:sp>
        <p:nvSpPr>
          <p:cNvPr id="13" name="map2t"/>
          <p:cNvSpPr txBox="1"/>
          <p:nvPr/>
        </p:nvSpPr>
        <p:spPr>
          <a:xfrm>
            <a:off x="438912"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Tracebacks</a:t>
            </a:r>
            <a:endParaRPr lang="en-US" sz="1150" dirty="0"/>
          </a:p>
        </p:txBody>
      </p:sp>
      <p:sp>
        <p:nvSpPr>
          <p:cNvPr id="14" name="map1"/>
          <p:cNvSpPr/>
          <p:nvPr/>
        </p:nvSpPr>
        <p:spPr>
          <a:xfrm>
            <a:off x="2075688" y="1325880"/>
            <a:ext cx="1572768" cy="566928"/>
          </a:xfrm>
          <a:prstGeom prst="roundRect">
            <a:avLst>
              <a:gd name="adj" fmla="val 12903"/>
            </a:avLst>
          </a:prstGeom>
          <a:solidFill>
            <a:srgbClr val="306998"/>
          </a:solidFill>
          <a:ln w="12700">
            <a:solidFill>
              <a:srgbClr val="306998"/>
            </a:solidFill>
            <a:prstDash val="solid"/>
          </a:ln>
        </p:spPr>
      </p:sp>
      <p:sp>
        <p:nvSpPr>
          <p:cNvPr id="15" name="map1t"/>
          <p:cNvSpPr txBox="1"/>
          <p:nvPr/>
        </p:nvSpPr>
        <p:spPr>
          <a:xfrm>
            <a:off x="2075688"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Assertion</a:t>
            </a:r>
            <a:endParaRPr lang="en-US" sz="1400" dirty="0"/>
          </a:p>
        </p:txBody>
      </p:sp>
      <p:sp>
        <p:nvSpPr>
          <p:cNvPr id="16" name="arrow"/>
          <p:cNvSpPr/>
          <p:nvPr/>
        </p:nvSpPr>
        <p:spPr>
          <a:xfrm>
            <a:off x="2862072" y="1892808"/>
            <a:ext cx="0" cy="146304"/>
          </a:xfrm>
          <a:prstGeom prst="line">
            <a:avLst/>
          </a:prstGeom>
          <a:noFill/>
          <a:ln w="12700">
            <a:solidFill>
              <a:srgbClr val="9AA8B8"/>
            </a:solidFill>
            <a:prstDash val="solid"/>
          </a:ln>
        </p:spPr>
      </p:sp>
      <p:sp>
        <p:nvSpPr>
          <p:cNvPr id="17" name="map2"/>
          <p:cNvSpPr/>
          <p:nvPr/>
        </p:nvSpPr>
        <p:spPr>
          <a:xfrm>
            <a:off x="2121408" y="2039112"/>
            <a:ext cx="1481328" cy="457200"/>
          </a:xfrm>
          <a:prstGeom prst="roundRect">
            <a:avLst>
              <a:gd name="adj" fmla="val 12000"/>
            </a:avLst>
          </a:prstGeom>
          <a:solidFill>
            <a:srgbClr val="E3EEF8"/>
          </a:solidFill>
          <a:ln w="12700">
            <a:solidFill>
              <a:srgbClr val="306998"/>
            </a:solidFill>
            <a:prstDash val="solid"/>
          </a:ln>
        </p:spPr>
      </p:sp>
      <p:sp>
        <p:nvSpPr>
          <p:cNvPr id="18" name="map2t"/>
          <p:cNvSpPr txBox="1"/>
          <p:nvPr/>
        </p:nvSpPr>
        <p:spPr>
          <a:xfrm>
            <a:off x="2148840"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Assert</a:t>
            </a:r>
            <a:endParaRPr lang="en-US" sz="1150" dirty="0"/>
          </a:p>
        </p:txBody>
      </p:sp>
      <p:sp>
        <p:nvSpPr>
          <p:cNvPr id="19" name="map1"/>
          <p:cNvSpPr/>
          <p:nvPr/>
        </p:nvSpPr>
        <p:spPr>
          <a:xfrm>
            <a:off x="3785616" y="1325880"/>
            <a:ext cx="1572768" cy="566928"/>
          </a:xfrm>
          <a:prstGeom prst="roundRect">
            <a:avLst>
              <a:gd name="adj" fmla="val 12903"/>
            </a:avLst>
          </a:prstGeom>
          <a:solidFill>
            <a:srgbClr val="306998"/>
          </a:solidFill>
          <a:ln w="12700">
            <a:solidFill>
              <a:srgbClr val="306998"/>
            </a:solidFill>
            <a:prstDash val="solid"/>
          </a:ln>
        </p:spPr>
      </p:sp>
      <p:sp>
        <p:nvSpPr>
          <p:cNvPr id="20" name="map1t"/>
          <p:cNvSpPr txBox="1"/>
          <p:nvPr/>
        </p:nvSpPr>
        <p:spPr>
          <a:xfrm>
            <a:off x="3785616"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Logging</a:t>
            </a:r>
            <a:endParaRPr lang="en-US" sz="1400" dirty="0"/>
          </a:p>
        </p:txBody>
      </p:sp>
      <p:sp>
        <p:nvSpPr>
          <p:cNvPr id="21" name="arrow"/>
          <p:cNvSpPr/>
          <p:nvPr/>
        </p:nvSpPr>
        <p:spPr>
          <a:xfrm>
            <a:off x="4572000" y="1892808"/>
            <a:ext cx="0" cy="146304"/>
          </a:xfrm>
          <a:prstGeom prst="line">
            <a:avLst/>
          </a:prstGeom>
          <a:noFill/>
          <a:ln w="12700">
            <a:solidFill>
              <a:srgbClr val="9AA8B8"/>
            </a:solidFill>
            <a:prstDash val="solid"/>
          </a:ln>
        </p:spPr>
      </p:sp>
      <p:sp>
        <p:nvSpPr>
          <p:cNvPr id="22" name="map2"/>
          <p:cNvSpPr/>
          <p:nvPr/>
        </p:nvSpPr>
        <p:spPr>
          <a:xfrm>
            <a:off x="3831336" y="2039112"/>
            <a:ext cx="1481328" cy="457200"/>
          </a:xfrm>
          <a:prstGeom prst="roundRect">
            <a:avLst>
              <a:gd name="adj" fmla="val 12000"/>
            </a:avLst>
          </a:prstGeom>
          <a:solidFill>
            <a:srgbClr val="E3EEF8"/>
          </a:solidFill>
          <a:ln w="12700">
            <a:solidFill>
              <a:srgbClr val="306998"/>
            </a:solidFill>
            <a:prstDash val="solid"/>
          </a:ln>
        </p:spPr>
      </p:sp>
      <p:sp>
        <p:nvSpPr>
          <p:cNvPr id="23" name="map2t"/>
          <p:cNvSpPr txBox="1"/>
          <p:nvPr/>
        </p:nvSpPr>
        <p:spPr>
          <a:xfrm>
            <a:off x="3858768"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Setup</a:t>
            </a:r>
            <a:endParaRPr lang="en-US" sz="1150" dirty="0"/>
          </a:p>
        </p:txBody>
      </p:sp>
      <p:sp>
        <p:nvSpPr>
          <p:cNvPr id="24" name="arrow"/>
          <p:cNvSpPr/>
          <p:nvPr/>
        </p:nvSpPr>
        <p:spPr>
          <a:xfrm>
            <a:off x="4572000" y="1892808"/>
            <a:ext cx="0" cy="713232"/>
          </a:xfrm>
          <a:prstGeom prst="line">
            <a:avLst/>
          </a:prstGeom>
          <a:noFill/>
          <a:ln w="12700">
            <a:solidFill>
              <a:srgbClr val="9AA8B8"/>
            </a:solidFill>
            <a:prstDash val="solid"/>
          </a:ln>
        </p:spPr>
      </p:sp>
      <p:sp>
        <p:nvSpPr>
          <p:cNvPr id="25" name="map2"/>
          <p:cNvSpPr/>
          <p:nvPr/>
        </p:nvSpPr>
        <p:spPr>
          <a:xfrm>
            <a:off x="3831336" y="2606040"/>
            <a:ext cx="1481328" cy="457200"/>
          </a:xfrm>
          <a:prstGeom prst="roundRect">
            <a:avLst>
              <a:gd name="adj" fmla="val 12000"/>
            </a:avLst>
          </a:prstGeom>
          <a:solidFill>
            <a:srgbClr val="E3EEF8"/>
          </a:solidFill>
          <a:ln w="12700">
            <a:solidFill>
              <a:srgbClr val="306998"/>
            </a:solidFill>
            <a:prstDash val="solid"/>
          </a:ln>
        </p:spPr>
      </p:sp>
      <p:sp>
        <p:nvSpPr>
          <p:cNvPr id="26" name="map2t"/>
          <p:cNvSpPr txBox="1"/>
          <p:nvPr/>
        </p:nvSpPr>
        <p:spPr>
          <a:xfrm>
            <a:off x="3858768"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Levels</a:t>
            </a:r>
            <a:endParaRPr lang="en-US" sz="1150" dirty="0"/>
          </a:p>
        </p:txBody>
      </p:sp>
      <p:sp>
        <p:nvSpPr>
          <p:cNvPr id="27" name="arrow"/>
          <p:cNvSpPr/>
          <p:nvPr/>
        </p:nvSpPr>
        <p:spPr>
          <a:xfrm>
            <a:off x="4572000" y="1892808"/>
            <a:ext cx="0" cy="1280160"/>
          </a:xfrm>
          <a:prstGeom prst="line">
            <a:avLst/>
          </a:prstGeom>
          <a:noFill/>
          <a:ln w="12700">
            <a:solidFill>
              <a:srgbClr val="9AA8B8"/>
            </a:solidFill>
            <a:prstDash val="solid"/>
          </a:ln>
        </p:spPr>
      </p:sp>
      <p:sp>
        <p:nvSpPr>
          <p:cNvPr id="28" name="map2"/>
          <p:cNvSpPr/>
          <p:nvPr/>
        </p:nvSpPr>
        <p:spPr>
          <a:xfrm>
            <a:off x="3831336" y="3172968"/>
            <a:ext cx="1481328" cy="457200"/>
          </a:xfrm>
          <a:prstGeom prst="roundRect">
            <a:avLst>
              <a:gd name="adj" fmla="val 12000"/>
            </a:avLst>
          </a:prstGeom>
          <a:solidFill>
            <a:srgbClr val="E3EEF8"/>
          </a:solidFill>
          <a:ln w="12700">
            <a:solidFill>
              <a:srgbClr val="306998"/>
            </a:solidFill>
            <a:prstDash val="solid"/>
          </a:ln>
        </p:spPr>
      </p:sp>
      <p:sp>
        <p:nvSpPr>
          <p:cNvPr id="29" name="map2t"/>
          <p:cNvSpPr txBox="1"/>
          <p:nvPr/>
        </p:nvSpPr>
        <p:spPr>
          <a:xfrm>
            <a:off x="3858768" y="3172968"/>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Practice</a:t>
            </a:r>
            <a:endParaRPr lang="en-US" sz="1150" dirty="0"/>
          </a:p>
        </p:txBody>
      </p:sp>
      <p:sp>
        <p:nvSpPr>
          <p:cNvPr id="30" name="map1"/>
          <p:cNvSpPr/>
          <p:nvPr/>
        </p:nvSpPr>
        <p:spPr>
          <a:xfrm>
            <a:off x="5495544" y="1325880"/>
            <a:ext cx="1572768" cy="566928"/>
          </a:xfrm>
          <a:prstGeom prst="roundRect">
            <a:avLst>
              <a:gd name="adj" fmla="val 12903"/>
            </a:avLst>
          </a:prstGeom>
          <a:solidFill>
            <a:srgbClr val="306998"/>
          </a:solidFill>
          <a:ln w="12700">
            <a:solidFill>
              <a:srgbClr val="306998"/>
            </a:solidFill>
            <a:prstDash val="solid"/>
          </a:ln>
        </p:spPr>
      </p:sp>
      <p:sp>
        <p:nvSpPr>
          <p:cNvPr id="31" name="map1t"/>
          <p:cNvSpPr txBox="1"/>
          <p:nvPr/>
        </p:nvSpPr>
        <p:spPr>
          <a:xfrm>
            <a:off x="5495544"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Debugger</a:t>
            </a:r>
            <a:endParaRPr lang="en-US" sz="1400" dirty="0"/>
          </a:p>
        </p:txBody>
      </p:sp>
      <p:sp>
        <p:nvSpPr>
          <p:cNvPr id="32" name="arrow"/>
          <p:cNvSpPr/>
          <p:nvPr/>
        </p:nvSpPr>
        <p:spPr>
          <a:xfrm>
            <a:off x="6281928" y="1892808"/>
            <a:ext cx="0" cy="146304"/>
          </a:xfrm>
          <a:prstGeom prst="line">
            <a:avLst/>
          </a:prstGeom>
          <a:noFill/>
          <a:ln w="12700">
            <a:solidFill>
              <a:srgbClr val="9AA8B8"/>
            </a:solidFill>
            <a:prstDash val="solid"/>
          </a:ln>
        </p:spPr>
      </p:sp>
      <p:sp>
        <p:nvSpPr>
          <p:cNvPr id="33" name="map2"/>
          <p:cNvSpPr/>
          <p:nvPr/>
        </p:nvSpPr>
        <p:spPr>
          <a:xfrm>
            <a:off x="5541264" y="2039112"/>
            <a:ext cx="1481328" cy="457200"/>
          </a:xfrm>
          <a:prstGeom prst="roundRect">
            <a:avLst>
              <a:gd name="adj" fmla="val 12000"/>
            </a:avLst>
          </a:prstGeom>
          <a:solidFill>
            <a:srgbClr val="E3EEF8"/>
          </a:solidFill>
          <a:ln w="12700">
            <a:solidFill>
              <a:srgbClr val="306998"/>
            </a:solidFill>
            <a:prstDash val="solid"/>
          </a:ln>
        </p:spPr>
      </p:sp>
      <p:sp>
        <p:nvSpPr>
          <p:cNvPr id="34" name="map2t"/>
          <p:cNvSpPr txBox="1"/>
          <p:nvPr/>
        </p:nvSpPr>
        <p:spPr>
          <a:xfrm>
            <a:off x="5568696"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Controls</a:t>
            </a:r>
            <a:endParaRPr lang="en-US" sz="1150" dirty="0"/>
          </a:p>
        </p:txBody>
      </p:sp>
      <p:sp>
        <p:nvSpPr>
          <p:cNvPr id="35" name="arrow"/>
          <p:cNvSpPr/>
          <p:nvPr/>
        </p:nvSpPr>
        <p:spPr>
          <a:xfrm>
            <a:off x="6281928" y="1892808"/>
            <a:ext cx="0" cy="713232"/>
          </a:xfrm>
          <a:prstGeom prst="line">
            <a:avLst/>
          </a:prstGeom>
          <a:noFill/>
          <a:ln w="12700">
            <a:solidFill>
              <a:srgbClr val="9AA8B8"/>
            </a:solidFill>
            <a:prstDash val="solid"/>
          </a:ln>
        </p:spPr>
      </p:sp>
      <p:sp>
        <p:nvSpPr>
          <p:cNvPr id="36" name="map2"/>
          <p:cNvSpPr/>
          <p:nvPr/>
        </p:nvSpPr>
        <p:spPr>
          <a:xfrm>
            <a:off x="5541264" y="2606040"/>
            <a:ext cx="1481328" cy="457200"/>
          </a:xfrm>
          <a:prstGeom prst="roundRect">
            <a:avLst>
              <a:gd name="adj" fmla="val 12000"/>
            </a:avLst>
          </a:prstGeom>
          <a:solidFill>
            <a:srgbClr val="E3EEF8"/>
          </a:solidFill>
          <a:ln w="12700">
            <a:solidFill>
              <a:srgbClr val="306998"/>
            </a:solidFill>
            <a:prstDash val="solid"/>
          </a:ln>
        </p:spPr>
      </p:sp>
      <p:sp>
        <p:nvSpPr>
          <p:cNvPr id="37" name="map2t"/>
          <p:cNvSpPr txBox="1"/>
          <p:nvPr/>
        </p:nvSpPr>
        <p:spPr>
          <a:xfrm>
            <a:off x="5568696"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Python debugger</a:t>
            </a:r>
            <a:endParaRPr lang="en-US" sz="1150" dirty="0"/>
          </a:p>
        </p:txBody>
      </p:sp>
      <p:sp>
        <p:nvSpPr>
          <p:cNvPr id="38" name="map1"/>
          <p:cNvSpPr/>
          <p:nvPr/>
        </p:nvSpPr>
        <p:spPr>
          <a:xfrm>
            <a:off x="7205472" y="1325880"/>
            <a:ext cx="1572768" cy="566928"/>
          </a:xfrm>
          <a:prstGeom prst="roundRect">
            <a:avLst>
              <a:gd name="adj" fmla="val 12903"/>
            </a:avLst>
          </a:prstGeom>
          <a:solidFill>
            <a:srgbClr val="306998"/>
          </a:solidFill>
          <a:ln w="12700">
            <a:solidFill>
              <a:srgbClr val="306998"/>
            </a:solidFill>
            <a:prstDash val="solid"/>
          </a:ln>
        </p:spPr>
      </p:sp>
      <p:sp>
        <p:nvSpPr>
          <p:cNvPr id="39" name="map1t"/>
          <p:cNvSpPr txBox="1"/>
          <p:nvPr/>
        </p:nvSpPr>
        <p:spPr>
          <a:xfrm>
            <a:off x="7205472"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Modern practice</a:t>
            </a:r>
            <a:endParaRPr lang="en-US" sz="1400" dirty="0"/>
          </a:p>
        </p:txBody>
      </p:sp>
      <p:sp>
        <p:nvSpPr>
          <p:cNvPr id="40" name="arrow"/>
          <p:cNvSpPr/>
          <p:nvPr/>
        </p:nvSpPr>
        <p:spPr>
          <a:xfrm>
            <a:off x="7991856" y="1892808"/>
            <a:ext cx="0" cy="146304"/>
          </a:xfrm>
          <a:prstGeom prst="line">
            <a:avLst/>
          </a:prstGeom>
          <a:noFill/>
          <a:ln w="12700">
            <a:solidFill>
              <a:srgbClr val="9AA8B8"/>
            </a:solidFill>
            <a:prstDash val="solid"/>
          </a:ln>
        </p:spPr>
      </p:sp>
      <p:sp>
        <p:nvSpPr>
          <p:cNvPr id="41" name="map2"/>
          <p:cNvSpPr/>
          <p:nvPr/>
        </p:nvSpPr>
        <p:spPr>
          <a:xfrm>
            <a:off x="7251192" y="2039112"/>
            <a:ext cx="1481328" cy="457200"/>
          </a:xfrm>
          <a:prstGeom prst="roundRect">
            <a:avLst>
              <a:gd name="adj" fmla="val 12000"/>
            </a:avLst>
          </a:prstGeom>
          <a:solidFill>
            <a:srgbClr val="E3EEF8"/>
          </a:solidFill>
          <a:ln w="12700">
            <a:solidFill>
              <a:srgbClr val="306998"/>
            </a:solidFill>
            <a:prstDash val="solid"/>
          </a:ln>
        </p:spPr>
      </p:sp>
      <p:sp>
        <p:nvSpPr>
          <p:cNvPr id="42" name="map2t"/>
          <p:cNvSpPr txBox="1"/>
          <p:nvPr/>
        </p:nvSpPr>
        <p:spPr>
          <a:xfrm>
            <a:off x="7278624"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Worked cases</a:t>
            </a:r>
            <a:endParaRPr lang="en-US" sz="1150" dirty="0"/>
          </a:p>
        </p:txBody>
      </p:sp>
      <p:sp>
        <p:nvSpPr>
          <p:cNvPr id="43" name="x"/>
          <p:cNvSpPr txBox="1"/>
          <p:nvPr/>
        </p:nvSpPr>
        <p:spPr>
          <a:xfrm>
            <a:off x="457200" y="4251960"/>
            <a:ext cx="8229600" cy="4572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Signal an error, check a belief, keep a record, or stop and look — and the modern additions that make each one better.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Each instrument answers a different question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Choose by the question, not by habit</a:t>
            </a:r>
            <a:endParaRPr lang="en-US" sz="1400" dirty="0"/>
          </a:p>
        </p:txBody>
      </p:sp>
      <p:sp>
        <p:nvSpPr>
          <p:cNvPr id="6" name="inst|b1"/>
          <p:cNvSpPr/>
          <p:nvPr/>
        </p:nvSpPr>
        <p:spPr>
          <a:xfrm>
            <a:off x="365760" y="1325880"/>
            <a:ext cx="2011680" cy="3017520"/>
          </a:xfrm>
          <a:prstGeom prst="roundRect">
            <a:avLst>
              <a:gd name="adj" fmla="val 4545"/>
            </a:avLst>
          </a:prstGeom>
          <a:solidFill>
            <a:srgbClr val="F1F4F8"/>
          </a:solidFill>
          <a:ln w="25400">
            <a:solidFill>
              <a:srgbClr val="306998"/>
            </a:solidFill>
            <a:prstDash val="solid"/>
          </a:ln>
        </p:spPr>
      </p:sp>
      <p:sp>
        <p:nvSpPr>
          <p:cNvPr id="7" name="instn|b1"/>
          <p:cNvSpPr txBox="1"/>
          <p:nvPr/>
        </p:nvSpPr>
        <p:spPr>
          <a:xfrm>
            <a:off x="502920" y="1417320"/>
            <a:ext cx="1737360" cy="502920"/>
          </a:xfrm>
          <a:prstGeom prst="rect">
            <a:avLst/>
          </a:prstGeom>
          <a:noFill/>
          <a:ln/>
        </p:spPr>
        <p:txBody>
          <a:bodyPr wrap="square" lIns="0" tIns="0" rIns="0" bIns="0" rtlCol="0" anchor="ctr"/>
          <a:lstStyle/>
          <a:p>
            <a:pPr indent="0" marL="0">
              <a:buNone/>
            </a:pPr>
            <a:r>
              <a:rPr lang="en-US" sz="2400" b="1" dirty="0">
                <a:solidFill>
                  <a:srgbClr val="306998"/>
                </a:solidFill>
                <a:latin typeface="Courier New" pitchFamily="34" charset="0"/>
                <a:ea typeface="Courier New" pitchFamily="34" charset="-122"/>
                <a:cs typeface="Courier New" pitchFamily="34" charset="-120"/>
              </a:rPr>
              <a:t>raise</a:t>
            </a:r>
            <a:endParaRPr lang="en-US" sz="2400" dirty="0"/>
          </a:p>
        </p:txBody>
      </p:sp>
      <p:sp>
        <p:nvSpPr>
          <p:cNvPr id="8" name="instq|b1"/>
          <p:cNvSpPr txBox="1"/>
          <p:nvPr/>
        </p:nvSpPr>
        <p:spPr>
          <a:xfrm>
            <a:off x="50292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Can the caller fix this?</a:t>
            </a:r>
            <a:endParaRPr lang="en-US" sz="1400" dirty="0"/>
          </a:p>
        </p:txBody>
      </p:sp>
      <p:sp>
        <p:nvSpPr>
          <p:cNvPr id="9" name="instd|b1"/>
          <p:cNvSpPr txBox="1"/>
          <p:nvPr/>
        </p:nvSpPr>
        <p:spPr>
          <a:xfrm>
            <a:off x="50292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Tell the caller</a:t>
            </a:r>
            <a:endParaRPr lang="en-US" sz="1600" dirty="0"/>
          </a:p>
        </p:txBody>
      </p:sp>
      <p:sp>
        <p:nvSpPr>
          <p:cNvPr id="10" name="instc|b1"/>
          <p:cNvSpPr txBox="1"/>
          <p:nvPr/>
        </p:nvSpPr>
        <p:spPr>
          <a:xfrm>
            <a:off x="50292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raise Exception(...)</a:t>
            </a:r>
            <a:endParaRPr lang="en-US" sz="1100" dirty="0"/>
          </a:p>
        </p:txBody>
      </p:sp>
      <p:sp>
        <p:nvSpPr>
          <p:cNvPr id="11" name="inst|b2"/>
          <p:cNvSpPr/>
          <p:nvPr/>
        </p:nvSpPr>
        <p:spPr>
          <a:xfrm>
            <a:off x="2514600" y="1325880"/>
            <a:ext cx="2011680" cy="3017520"/>
          </a:xfrm>
          <a:prstGeom prst="roundRect">
            <a:avLst>
              <a:gd name="adj" fmla="val 4545"/>
            </a:avLst>
          </a:prstGeom>
          <a:solidFill>
            <a:srgbClr val="F1F4F8"/>
          </a:solidFill>
          <a:ln w="25400">
            <a:solidFill>
              <a:srgbClr val="D64545"/>
            </a:solidFill>
            <a:prstDash val="solid"/>
          </a:ln>
        </p:spPr>
      </p:sp>
      <p:sp>
        <p:nvSpPr>
          <p:cNvPr id="12" name="instn|b2"/>
          <p:cNvSpPr txBox="1"/>
          <p:nvPr/>
        </p:nvSpPr>
        <p:spPr>
          <a:xfrm>
            <a:off x="2651760" y="1417320"/>
            <a:ext cx="1737360" cy="502920"/>
          </a:xfrm>
          <a:prstGeom prst="rect">
            <a:avLst/>
          </a:prstGeom>
          <a:noFill/>
          <a:ln/>
        </p:spPr>
        <p:txBody>
          <a:bodyPr wrap="square" lIns="0" tIns="0" rIns="0" bIns="0" rtlCol="0" anchor="ctr"/>
          <a:lstStyle/>
          <a:p>
            <a:pPr indent="0" marL="0">
              <a:buNone/>
            </a:pPr>
            <a:r>
              <a:rPr lang="en-US" sz="2400" b="1" dirty="0">
                <a:solidFill>
                  <a:srgbClr val="D64545"/>
                </a:solidFill>
                <a:latin typeface="Courier New" pitchFamily="34" charset="0"/>
                <a:ea typeface="Courier New" pitchFamily="34" charset="-122"/>
                <a:cs typeface="Courier New" pitchFamily="34" charset="-120"/>
              </a:rPr>
              <a:t>assert</a:t>
            </a:r>
            <a:endParaRPr lang="en-US" sz="2400" dirty="0"/>
          </a:p>
        </p:txBody>
      </p:sp>
      <p:sp>
        <p:nvSpPr>
          <p:cNvPr id="13" name="instq|b2"/>
          <p:cNvSpPr txBox="1"/>
          <p:nvPr/>
        </p:nvSpPr>
        <p:spPr>
          <a:xfrm>
            <a:off x="265176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Must this be true if my code is right?</a:t>
            </a:r>
            <a:endParaRPr lang="en-US" sz="1400" dirty="0"/>
          </a:p>
        </p:txBody>
      </p:sp>
      <p:sp>
        <p:nvSpPr>
          <p:cNvPr id="14" name="instd|b2"/>
          <p:cNvSpPr txBox="1"/>
          <p:nvPr/>
        </p:nvSpPr>
        <p:spPr>
          <a:xfrm>
            <a:off x="265176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Stop the program</a:t>
            </a:r>
            <a:endParaRPr lang="en-US" sz="1600" dirty="0"/>
          </a:p>
        </p:txBody>
      </p:sp>
      <p:sp>
        <p:nvSpPr>
          <p:cNvPr id="15" name="instc|b2"/>
          <p:cNvSpPr txBox="1"/>
          <p:nvPr/>
        </p:nvSpPr>
        <p:spPr>
          <a:xfrm>
            <a:off x="265176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assert x &gt; 0</a:t>
            </a:r>
            <a:endParaRPr lang="en-US" sz="1100" dirty="0"/>
          </a:p>
        </p:txBody>
      </p:sp>
      <p:sp>
        <p:nvSpPr>
          <p:cNvPr id="16" name="inst|b3"/>
          <p:cNvSpPr/>
          <p:nvPr/>
        </p:nvSpPr>
        <p:spPr>
          <a:xfrm>
            <a:off x="4663440" y="1325880"/>
            <a:ext cx="2011680" cy="3017520"/>
          </a:xfrm>
          <a:prstGeom prst="roundRect">
            <a:avLst>
              <a:gd name="adj" fmla="val 4545"/>
            </a:avLst>
          </a:prstGeom>
          <a:solidFill>
            <a:srgbClr val="F1F4F8"/>
          </a:solidFill>
          <a:ln w="25400">
            <a:solidFill>
              <a:srgbClr val="2E9E5B"/>
            </a:solidFill>
            <a:prstDash val="solid"/>
          </a:ln>
        </p:spPr>
      </p:sp>
      <p:sp>
        <p:nvSpPr>
          <p:cNvPr id="17" name="instn|b3"/>
          <p:cNvSpPr txBox="1"/>
          <p:nvPr/>
        </p:nvSpPr>
        <p:spPr>
          <a:xfrm>
            <a:off x="4800600" y="1417320"/>
            <a:ext cx="1737360" cy="502920"/>
          </a:xfrm>
          <a:prstGeom prst="rect">
            <a:avLst/>
          </a:prstGeom>
          <a:noFill/>
          <a:ln/>
        </p:spPr>
        <p:txBody>
          <a:bodyPr wrap="square" lIns="0" tIns="0" rIns="0" bIns="0" rtlCol="0" anchor="ctr"/>
          <a:lstStyle/>
          <a:p>
            <a:pPr indent="0" marL="0">
              <a:buNone/>
            </a:pPr>
            <a:r>
              <a:rPr lang="en-US" sz="2400" b="1" dirty="0">
                <a:solidFill>
                  <a:srgbClr val="2E9E5B"/>
                </a:solidFill>
                <a:latin typeface="Courier New" pitchFamily="34" charset="0"/>
                <a:ea typeface="Courier New" pitchFamily="34" charset="-122"/>
                <a:cs typeface="Courier New" pitchFamily="34" charset="-120"/>
              </a:rPr>
              <a:t>log</a:t>
            </a:r>
            <a:endParaRPr lang="en-US" sz="2400" dirty="0"/>
          </a:p>
        </p:txBody>
      </p:sp>
      <p:sp>
        <p:nvSpPr>
          <p:cNvPr id="18" name="instq|b3"/>
          <p:cNvSpPr txBox="1"/>
          <p:nvPr/>
        </p:nvSpPr>
        <p:spPr>
          <a:xfrm>
            <a:off x="480060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What did the program do?</a:t>
            </a:r>
            <a:endParaRPr lang="en-US" sz="1400" dirty="0"/>
          </a:p>
        </p:txBody>
      </p:sp>
      <p:sp>
        <p:nvSpPr>
          <p:cNvPr id="19" name="instd|b3"/>
          <p:cNvSpPr txBox="1"/>
          <p:nvPr/>
        </p:nvSpPr>
        <p:spPr>
          <a:xfrm>
            <a:off x="480060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Leave a record</a:t>
            </a:r>
            <a:endParaRPr lang="en-US" sz="1600" dirty="0"/>
          </a:p>
        </p:txBody>
      </p:sp>
      <p:sp>
        <p:nvSpPr>
          <p:cNvPr id="20" name="instc|b3"/>
          <p:cNvSpPr txBox="1"/>
          <p:nvPr/>
        </p:nvSpPr>
        <p:spPr>
          <a:xfrm>
            <a:off x="480060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logging.debug(...)</a:t>
            </a:r>
            <a:endParaRPr lang="en-US" sz="1100" dirty="0"/>
          </a:p>
        </p:txBody>
      </p:sp>
      <p:sp>
        <p:nvSpPr>
          <p:cNvPr id="21" name="inst|b4"/>
          <p:cNvSpPr/>
          <p:nvPr/>
        </p:nvSpPr>
        <p:spPr>
          <a:xfrm>
            <a:off x="6812280" y="1325880"/>
            <a:ext cx="2011680" cy="3017520"/>
          </a:xfrm>
          <a:prstGeom prst="roundRect">
            <a:avLst>
              <a:gd name="adj" fmla="val 4545"/>
            </a:avLst>
          </a:prstGeom>
          <a:solidFill>
            <a:srgbClr val="F1F4F8"/>
          </a:solidFill>
          <a:ln w="25400">
            <a:solidFill>
              <a:srgbClr val="B7791F"/>
            </a:solidFill>
            <a:prstDash val="solid"/>
          </a:ln>
        </p:spPr>
      </p:sp>
      <p:sp>
        <p:nvSpPr>
          <p:cNvPr id="22" name="instn|b4"/>
          <p:cNvSpPr txBox="1"/>
          <p:nvPr/>
        </p:nvSpPr>
        <p:spPr>
          <a:xfrm>
            <a:off x="6949440" y="1417320"/>
            <a:ext cx="1737360" cy="502920"/>
          </a:xfrm>
          <a:prstGeom prst="rect">
            <a:avLst/>
          </a:prstGeom>
          <a:noFill/>
          <a:ln/>
        </p:spPr>
        <p:txBody>
          <a:bodyPr wrap="square" lIns="0" tIns="0" rIns="0" bIns="0" rtlCol="0" anchor="ctr"/>
          <a:lstStyle/>
          <a:p>
            <a:pPr indent="0" marL="0">
              <a:buNone/>
            </a:pPr>
            <a:r>
              <a:rPr lang="en-US" sz="2400" b="1" dirty="0">
                <a:solidFill>
                  <a:srgbClr val="B7791F"/>
                </a:solidFill>
                <a:latin typeface="Courier New" pitchFamily="34" charset="0"/>
                <a:ea typeface="Courier New" pitchFamily="34" charset="-122"/>
                <a:cs typeface="Courier New" pitchFamily="34" charset="-120"/>
              </a:rPr>
              <a:t>step</a:t>
            </a:r>
            <a:endParaRPr lang="en-US" sz="2400" dirty="0"/>
          </a:p>
        </p:txBody>
      </p:sp>
      <p:sp>
        <p:nvSpPr>
          <p:cNvPr id="23" name="instq|b4"/>
          <p:cNvSpPr txBox="1"/>
          <p:nvPr/>
        </p:nvSpPr>
        <p:spPr>
          <a:xfrm>
            <a:off x="694944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What is the state at this line?</a:t>
            </a:r>
            <a:endParaRPr lang="en-US" sz="1400" dirty="0"/>
          </a:p>
        </p:txBody>
      </p:sp>
      <p:sp>
        <p:nvSpPr>
          <p:cNvPr id="24" name="instd|b4"/>
          <p:cNvSpPr txBox="1"/>
          <p:nvPr/>
        </p:nvSpPr>
        <p:spPr>
          <a:xfrm>
            <a:off x="694944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Pause and look</a:t>
            </a:r>
            <a:endParaRPr lang="en-US" sz="1600" dirty="0"/>
          </a:p>
        </p:txBody>
      </p:sp>
      <p:sp>
        <p:nvSpPr>
          <p:cNvPr id="25" name="instc|b4"/>
          <p:cNvSpPr txBox="1"/>
          <p:nvPr/>
        </p:nvSpPr>
        <p:spPr>
          <a:xfrm>
            <a:off x="694944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breakpoint()</a:t>
            </a:r>
            <a:endParaRPr lang="en-US" sz="1100" dirty="0"/>
          </a:p>
        </p:txBody>
      </p:sp>
      <p:sp>
        <p:nvSpPr>
          <p:cNvPr id="2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Debugging: the four subjects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Raise an exception when a call cannot be served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box_print(): three checks, three messages</a:t>
            </a:r>
            <a:endParaRPr lang="en-US" sz="1400" dirty="0"/>
          </a:p>
        </p:txBody>
      </p:sp>
      <p:sp>
        <p:nvSpPr>
          <p:cNvPr id="6" name="progbox"/>
          <p:cNvSpPr/>
          <p:nvPr/>
        </p:nvSpPr>
        <p:spPr>
          <a:xfrm>
            <a:off x="365760" y="1188720"/>
            <a:ext cx="5394960" cy="3291840"/>
          </a:xfrm>
          <a:prstGeom prst="roundRect">
            <a:avLst>
              <a:gd name="adj" fmla="val 2778"/>
            </a:avLst>
          </a:prstGeom>
          <a:solidFill>
            <a:srgbClr val="17202B"/>
          </a:solidFill>
          <a:ln w="12700">
            <a:solidFill>
              <a:srgbClr val="17202B"/>
            </a:solidFill>
            <a:prstDash val="solid"/>
          </a:ln>
        </p:spPr>
      </p:sp>
      <p:sp>
        <p:nvSpPr>
          <p:cNvPr id="7" name="prog"/>
          <p:cNvSpPr txBox="1"/>
          <p:nvPr/>
        </p:nvSpPr>
        <p:spPr>
          <a:xfrm>
            <a:off x="548640" y="1280160"/>
            <a:ext cx="5029200" cy="3108960"/>
          </a:xfrm>
          <a:prstGeom prst="rect">
            <a:avLst/>
          </a:prstGeom>
          <a:noFill/>
          <a:ln/>
        </p:spPr>
        <p:txBody>
          <a:bodyPr wrap="square" lIns="0" tIns="0" rIns="0" bIns="0" rtlCol="0" anchor="t"/>
          <a:lstStyle/>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def box_print(symbol, width, height):</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len(symbol) != 1:</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Exception('Symbol must be a single character string.')</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width &lt;=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Exception('Width must be greater than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height &lt;=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Exception('Height must be greater than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width)</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for i in range(height - 2):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 ' * (width - 2)) + symbol)</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width)</a:t>
            </a:r>
            <a:endParaRPr lang="en-US" sz="900" dirty="0"/>
          </a:p>
          <a:p>
            <a:pPr indent="0" marL="0">
              <a:spcAft>
                <a:spcPts val="100"/>
              </a:spcAft>
              <a:buNone/>
            </a:pP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for sym, w, h in (('*', 4, 4), ('x', 1, 3), ('ZZ', 3, 3)):</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try:</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box_print(sym, w, h)</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except Exception as err:</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print('An exception happened: ' + str(err))</a:t>
            </a:r>
            <a:endParaRPr lang="en-US" sz="900" dirty="0"/>
          </a:p>
        </p:txBody>
      </p:sp>
      <p:sp>
        <p:nvSpPr>
          <p:cNvPr id="8" name="transbox|b1"/>
          <p:cNvSpPr/>
          <p:nvPr/>
        </p:nvSpPr>
        <p:spPr>
          <a:xfrm>
            <a:off x="5943600" y="1188720"/>
            <a:ext cx="2834640" cy="1828800"/>
          </a:xfrm>
          <a:prstGeom prst="roundRect">
            <a:avLst>
              <a:gd name="adj" fmla="val 5000"/>
            </a:avLst>
          </a:prstGeom>
          <a:solidFill>
            <a:srgbClr val="F1F4F8"/>
          </a:solidFill>
          <a:ln w="12700">
            <a:solidFill>
              <a:srgbClr val="F1F4F8"/>
            </a:solidFill>
            <a:prstDash val="solid"/>
          </a:ln>
        </p:spPr>
      </p:sp>
      <p:sp>
        <p:nvSpPr>
          <p:cNvPr id="9" name="trans|b1"/>
          <p:cNvSpPr txBox="1"/>
          <p:nvPr/>
        </p:nvSpPr>
        <p:spPr>
          <a:xfrm>
            <a:off x="6080760" y="1261872"/>
            <a:ext cx="2560320" cy="168249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  *</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  *</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An exception happened: Width must be greater than 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An exception happened: Symbol must be a single character string.</a:t>
            </a:r>
            <a:endParaRPr lang="en-US" sz="1000" dirty="0"/>
          </a:p>
        </p:txBody>
      </p:sp>
      <p:sp>
        <p:nvSpPr>
          <p:cNvPr id="10" name="transcap|b1"/>
          <p:cNvSpPr txBox="1"/>
          <p:nvPr/>
        </p:nvSpPr>
        <p:spPr>
          <a:xfrm>
            <a:off x="5943600" y="304495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5943600" y="3200400"/>
            <a:ext cx="2834640" cy="137160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raise stops the function and hands an exception to the nearest matching except. The except clause names it (as err) and str(err) is the message written for raise.</a:t>
            </a:r>
            <a:endParaRPr lang="en-US" sz="125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Raise statement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exception climbs the stack until something handles 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Real frames from a real run: read_age fails, its callers do not catch it</a:t>
            </a:r>
            <a:endParaRPr lang="en-US" sz="1400" dirty="0"/>
          </a:p>
        </p:txBody>
      </p:sp>
      <p:sp>
        <p:nvSpPr>
          <p:cNvPr id="6" name="uwbox"/>
          <p:cNvSpPr/>
          <p:nvPr/>
        </p:nvSpPr>
        <p:spPr>
          <a:xfrm>
            <a:off x="365760" y="1554480"/>
            <a:ext cx="4572000" cy="548640"/>
          </a:xfrm>
          <a:prstGeom prst="roundRect">
            <a:avLst>
              <a:gd name="adj" fmla="val 13333"/>
            </a:avLst>
          </a:prstGeom>
          <a:solidFill>
            <a:srgbClr val="FBE1E1"/>
          </a:solidFill>
          <a:ln w="25400">
            <a:solidFill>
              <a:srgbClr val="D64545"/>
            </a:solidFill>
            <a:prstDash val="solid"/>
          </a:ln>
        </p:spPr>
      </p:sp>
      <p:sp>
        <p:nvSpPr>
          <p:cNvPr id="7" name="v:ExceptionUnwinding:f0"/>
          <p:cNvSpPr txBox="1"/>
          <p:nvPr/>
        </p:nvSpPr>
        <p:spPr>
          <a:xfrm>
            <a:off x="475488" y="1554480"/>
            <a:ext cx="4352544" cy="548640"/>
          </a:xfrm>
          <a:prstGeom prst="rect">
            <a:avLst/>
          </a:prstGeom>
          <a:noFill/>
          <a:ln/>
        </p:spPr>
        <p:txBody>
          <a:bodyPr wrap="square" lIns="0" tIns="0" rIns="0" bIns="0" rtlCol="0" anchor="ctr">
            <a:normAutofit/>
          </a:bodyPr>
          <a:lstStyle/>
          <a:p>
            <a:pPr indent="0" marL="0">
              <a:buNone/>
            </a:pPr>
            <a:r>
              <a:rPr lang="en-US" sz="1100" b="1" dirty="0">
                <a:solidFill>
                  <a:srgbClr val="D64545"/>
                </a:solidFill>
                <a:latin typeface="Courier New" pitchFamily="34" charset="0"/>
                <a:ea typeface="Courier New" pitchFamily="34" charset="-122"/>
                <a:cs typeface="Courier New" pitchFamily="34" charset="-120"/>
              </a:rPr>
              <a:t>read_age  ·  line 2  ·  return int(text)</a:t>
            </a:r>
            <a:endParaRPr lang="en-US" sz="1100" dirty="0"/>
          </a:p>
        </p:txBody>
      </p:sp>
      <p:sp>
        <p:nvSpPr>
          <p:cNvPr id="8" name="arrow|b2"/>
          <p:cNvSpPr/>
          <p:nvPr/>
        </p:nvSpPr>
        <p:spPr>
          <a:xfrm>
            <a:off x="2651760" y="2103120"/>
            <a:ext cx="0" cy="292608"/>
          </a:xfrm>
          <a:prstGeom prst="line">
            <a:avLst/>
          </a:prstGeom>
          <a:noFill/>
          <a:ln w="31750">
            <a:solidFill>
              <a:srgbClr val="D64545"/>
            </a:solidFill>
            <a:prstDash val="solid"/>
            <a:tailEnd type="triangle"/>
          </a:ln>
        </p:spPr>
      </p:sp>
      <p:sp>
        <p:nvSpPr>
          <p:cNvPr id="9" name="uwlab|b2"/>
          <p:cNvSpPr txBox="1"/>
          <p:nvPr/>
        </p:nvSpPr>
        <p:spPr>
          <a:xfrm>
            <a:off x="2761488" y="2103120"/>
            <a:ext cx="2176272" cy="292608"/>
          </a:xfrm>
          <a:prstGeom prst="rect">
            <a:avLst/>
          </a:prstGeom>
          <a:noFill/>
          <a:ln/>
        </p:spPr>
        <p:txBody>
          <a:bodyPr wrap="square" lIns="0" tIns="0" rIns="0" bIns="0" rtlCol="0" anchor="ctr"/>
          <a:lstStyle/>
          <a:p>
            <a:pPr indent="0" marL="0">
              <a:buNone/>
            </a:pPr>
            <a:r>
              <a:rPr lang="en-US" sz="1000" i="1" dirty="0">
                <a:solidFill>
                  <a:srgbClr val="D64545"/>
                </a:solidFill>
                <a:latin typeface="Calibri" pitchFamily="34" charset="0"/>
                <a:ea typeface="Calibri" pitchFamily="34" charset="-122"/>
                <a:cs typeface="Calibri" pitchFamily="34" charset="-120"/>
              </a:rPr>
              <a:t>no handler here — leave the function</a:t>
            </a:r>
            <a:endParaRPr lang="en-US" sz="1000" dirty="0"/>
          </a:p>
        </p:txBody>
      </p:sp>
      <p:sp>
        <p:nvSpPr>
          <p:cNvPr id="10" name="uwbox"/>
          <p:cNvSpPr/>
          <p:nvPr/>
        </p:nvSpPr>
        <p:spPr>
          <a:xfrm>
            <a:off x="365760" y="2395728"/>
            <a:ext cx="4572000" cy="548640"/>
          </a:xfrm>
          <a:prstGeom prst="roundRect">
            <a:avLst>
              <a:gd name="adj" fmla="val 13333"/>
            </a:avLst>
          </a:prstGeom>
          <a:solidFill>
            <a:srgbClr val="F1F4F8"/>
          </a:solidFill>
          <a:ln w="25400">
            <a:solidFill>
              <a:srgbClr val="9AA8B8"/>
            </a:solidFill>
            <a:prstDash val="solid"/>
          </a:ln>
        </p:spPr>
      </p:sp>
      <p:sp>
        <p:nvSpPr>
          <p:cNvPr id="11" name="v:ExceptionUnwinding:f1"/>
          <p:cNvSpPr txBox="1"/>
          <p:nvPr/>
        </p:nvSpPr>
        <p:spPr>
          <a:xfrm>
            <a:off x="475488" y="2395728"/>
            <a:ext cx="4352544" cy="548640"/>
          </a:xfrm>
          <a:prstGeom prst="rect">
            <a:avLst/>
          </a:prstGeom>
          <a:noFill/>
          <a:ln/>
        </p:spPr>
        <p:txBody>
          <a:bodyPr wrap="square" lIns="0" tIns="0" rIns="0" bIns="0" rtlCol="0" anchor="ctr">
            <a:normAutofit/>
          </a:bodyPr>
          <a:lstStyle/>
          <a:p>
            <a:pPr indent="0" marL="0">
              <a:buNone/>
            </a:pPr>
            <a:r>
              <a:rPr lang="en-US" sz="1100" dirty="0">
                <a:solidFill>
                  <a:srgbClr val="1F2933"/>
                </a:solidFill>
                <a:latin typeface="Courier New" pitchFamily="34" charset="0"/>
                <a:ea typeface="Courier New" pitchFamily="34" charset="-122"/>
                <a:cs typeface="Courier New" pitchFamily="34" charset="-120"/>
              </a:rPr>
              <a:t>load  ·  line 5  ·  return read_age(record['age'])</a:t>
            </a:r>
            <a:endParaRPr lang="en-US" sz="1100" dirty="0"/>
          </a:p>
        </p:txBody>
      </p:sp>
      <p:sp>
        <p:nvSpPr>
          <p:cNvPr id="12" name="arrow|b3"/>
          <p:cNvSpPr/>
          <p:nvPr/>
        </p:nvSpPr>
        <p:spPr>
          <a:xfrm>
            <a:off x="2651760" y="2944368"/>
            <a:ext cx="0" cy="292608"/>
          </a:xfrm>
          <a:prstGeom prst="line">
            <a:avLst/>
          </a:prstGeom>
          <a:noFill/>
          <a:ln w="31750">
            <a:solidFill>
              <a:srgbClr val="D64545"/>
            </a:solidFill>
            <a:prstDash val="solid"/>
            <a:tailEnd type="triangle"/>
          </a:ln>
        </p:spPr>
      </p:sp>
      <p:sp>
        <p:nvSpPr>
          <p:cNvPr id="13" name="uwlab|b3"/>
          <p:cNvSpPr txBox="1"/>
          <p:nvPr/>
        </p:nvSpPr>
        <p:spPr>
          <a:xfrm>
            <a:off x="2761488" y="2944368"/>
            <a:ext cx="2176272" cy="292608"/>
          </a:xfrm>
          <a:prstGeom prst="rect">
            <a:avLst/>
          </a:prstGeom>
          <a:noFill/>
          <a:ln/>
        </p:spPr>
        <p:txBody>
          <a:bodyPr wrap="square" lIns="0" tIns="0" rIns="0" bIns="0" rtlCol="0" anchor="ctr"/>
          <a:lstStyle/>
          <a:p>
            <a:pPr indent="0" marL="0">
              <a:buNone/>
            </a:pPr>
            <a:r>
              <a:rPr lang="en-US" sz="1000" i="1" dirty="0">
                <a:solidFill>
                  <a:srgbClr val="D64545"/>
                </a:solidFill>
                <a:latin typeface="Calibri" pitchFamily="34" charset="0"/>
                <a:ea typeface="Calibri" pitchFamily="34" charset="-122"/>
                <a:cs typeface="Calibri" pitchFamily="34" charset="-120"/>
              </a:rPr>
              <a:t>no handler here — leave the function</a:t>
            </a:r>
            <a:endParaRPr lang="en-US" sz="1000" dirty="0"/>
          </a:p>
        </p:txBody>
      </p:sp>
      <p:sp>
        <p:nvSpPr>
          <p:cNvPr id="14" name="uwbox"/>
          <p:cNvSpPr/>
          <p:nvPr/>
        </p:nvSpPr>
        <p:spPr>
          <a:xfrm>
            <a:off x="365760" y="3236976"/>
            <a:ext cx="4572000" cy="548640"/>
          </a:xfrm>
          <a:prstGeom prst="roundRect">
            <a:avLst>
              <a:gd name="adj" fmla="val 13333"/>
            </a:avLst>
          </a:prstGeom>
          <a:solidFill>
            <a:srgbClr val="F1F4F8"/>
          </a:solidFill>
          <a:ln w="25400">
            <a:solidFill>
              <a:srgbClr val="9AA8B8"/>
            </a:solidFill>
            <a:prstDash val="solid"/>
          </a:ln>
        </p:spPr>
      </p:sp>
      <p:sp>
        <p:nvSpPr>
          <p:cNvPr id="15" name="v:ExceptionUnwinding:f2"/>
          <p:cNvSpPr txBox="1"/>
          <p:nvPr/>
        </p:nvSpPr>
        <p:spPr>
          <a:xfrm>
            <a:off x="475488" y="3236976"/>
            <a:ext cx="4352544" cy="548640"/>
          </a:xfrm>
          <a:prstGeom prst="rect">
            <a:avLst/>
          </a:prstGeom>
          <a:noFill/>
          <a:ln/>
        </p:spPr>
        <p:txBody>
          <a:bodyPr wrap="square" lIns="0" tIns="0" rIns="0" bIns="0" rtlCol="0" anchor="ctr">
            <a:normAutofit/>
          </a:bodyPr>
          <a:lstStyle/>
          <a:p>
            <a:pPr indent="0" marL="0">
              <a:buNone/>
            </a:pPr>
            <a:r>
              <a:rPr lang="en-US" sz="1100" dirty="0">
                <a:solidFill>
                  <a:srgbClr val="1F2933"/>
                </a:solidFill>
                <a:latin typeface="Courier New" pitchFamily="34" charset="0"/>
                <a:ea typeface="Courier New" pitchFamily="34" charset="-122"/>
                <a:cs typeface="Courier New" pitchFamily="34" charset="-120"/>
              </a:rPr>
              <a:t>process  ·  line 8  ·  return [load(r) for r in records]</a:t>
            </a:r>
            <a:endParaRPr lang="en-US" sz="1100" dirty="0"/>
          </a:p>
        </p:txBody>
      </p:sp>
      <p:sp>
        <p:nvSpPr>
          <p:cNvPr id="16" name="arrow|b4"/>
          <p:cNvSpPr/>
          <p:nvPr/>
        </p:nvSpPr>
        <p:spPr>
          <a:xfrm>
            <a:off x="2651760" y="3785616"/>
            <a:ext cx="0" cy="292608"/>
          </a:xfrm>
          <a:prstGeom prst="line">
            <a:avLst/>
          </a:prstGeom>
          <a:noFill/>
          <a:ln w="31750">
            <a:solidFill>
              <a:srgbClr val="D64545"/>
            </a:solidFill>
            <a:prstDash val="solid"/>
            <a:tailEnd type="triangle"/>
          </a:ln>
        </p:spPr>
      </p:sp>
      <p:sp>
        <p:nvSpPr>
          <p:cNvPr id="17" name="uwlab|b4"/>
          <p:cNvSpPr txBox="1"/>
          <p:nvPr/>
        </p:nvSpPr>
        <p:spPr>
          <a:xfrm>
            <a:off x="2761488" y="3785616"/>
            <a:ext cx="2176272" cy="292608"/>
          </a:xfrm>
          <a:prstGeom prst="rect">
            <a:avLst/>
          </a:prstGeom>
          <a:noFill/>
          <a:ln/>
        </p:spPr>
        <p:txBody>
          <a:bodyPr wrap="square" lIns="0" tIns="0" rIns="0" bIns="0" rtlCol="0" anchor="ctr"/>
          <a:lstStyle/>
          <a:p>
            <a:pPr indent="0" marL="0">
              <a:buNone/>
            </a:pPr>
            <a:r>
              <a:rPr lang="en-US" sz="1000" i="1" dirty="0">
                <a:solidFill>
                  <a:srgbClr val="2E9E5B"/>
                </a:solidFill>
                <a:latin typeface="Calibri" pitchFamily="34" charset="0"/>
                <a:ea typeface="Calibri" pitchFamily="34" charset="-122"/>
                <a:cs typeface="Calibri" pitchFamily="34" charset="-120"/>
              </a:rPr>
              <a:t>a matching except clause: caught</a:t>
            </a:r>
            <a:endParaRPr lang="en-US" sz="1000" dirty="0"/>
          </a:p>
        </p:txBody>
      </p:sp>
      <p:sp>
        <p:nvSpPr>
          <p:cNvPr id="18" name="uwbox"/>
          <p:cNvSpPr/>
          <p:nvPr/>
        </p:nvSpPr>
        <p:spPr>
          <a:xfrm>
            <a:off x="365760" y="4078224"/>
            <a:ext cx="4572000" cy="548640"/>
          </a:xfrm>
          <a:prstGeom prst="roundRect">
            <a:avLst>
              <a:gd name="adj" fmla="val 13333"/>
            </a:avLst>
          </a:prstGeom>
          <a:solidFill>
            <a:srgbClr val="DDF3E6"/>
          </a:solidFill>
          <a:ln w="25400">
            <a:solidFill>
              <a:srgbClr val="2E9E5B"/>
            </a:solidFill>
            <a:prstDash val="solid"/>
          </a:ln>
        </p:spPr>
      </p:sp>
      <p:sp>
        <p:nvSpPr>
          <p:cNvPr id="19" name="v:ExceptionUnwinding:handler"/>
          <p:cNvSpPr txBox="1"/>
          <p:nvPr/>
        </p:nvSpPr>
        <p:spPr>
          <a:xfrm>
            <a:off x="475488" y="4078224"/>
            <a:ext cx="4352544" cy="54864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&lt;module&gt;  ·  line 12  ·  except ValueError as e:</a:t>
            </a:r>
            <a:endParaRPr lang="en-US" sz="1100" dirty="0"/>
          </a:p>
        </p:txBody>
      </p:sp>
      <p:sp>
        <p:nvSpPr>
          <p:cNvPr id="20" name="v:ExceptionUnwinding:exc|b1"/>
          <p:cNvSpPr txBox="1"/>
          <p:nvPr/>
        </p:nvSpPr>
        <p:spPr>
          <a:xfrm>
            <a:off x="3200400" y="1243584"/>
            <a:ext cx="1737360" cy="274320"/>
          </a:xfrm>
          <a:prstGeom prst="rect">
            <a:avLst/>
          </a:prstGeom>
          <a:noFill/>
          <a:ln/>
        </p:spPr>
        <p:txBody>
          <a:bodyPr wrap="square" lIns="0" tIns="0" rIns="0" bIns="0" rtlCol="0" anchor="ctr"/>
          <a:lstStyle/>
          <a:p>
            <a:pPr algn="r" indent="0" marL="0">
              <a:buNone/>
            </a:pPr>
            <a:r>
              <a:rPr lang="en-US" sz="1200" b="1" dirty="0">
                <a:solidFill>
                  <a:srgbClr val="D64545"/>
                </a:solidFill>
                <a:latin typeface="Courier New" pitchFamily="34" charset="0"/>
                <a:ea typeface="Courier New" pitchFamily="34" charset="-122"/>
                <a:cs typeface="Courier New" pitchFamily="34" charset="-120"/>
              </a:rPr>
              <a:t>raise ValueError</a:t>
            </a:r>
            <a:endParaRPr lang="en-US" sz="1200" dirty="0"/>
          </a:p>
        </p:txBody>
      </p:sp>
      <p:sp>
        <p:nvSpPr>
          <p:cNvPr id="21" name="progbox"/>
          <p:cNvSpPr/>
          <p:nvPr/>
        </p:nvSpPr>
        <p:spPr>
          <a:xfrm>
            <a:off x="5120640" y="1234440"/>
            <a:ext cx="3657600" cy="2377440"/>
          </a:xfrm>
          <a:prstGeom prst="roundRect">
            <a:avLst>
              <a:gd name="adj" fmla="val 3846"/>
            </a:avLst>
          </a:prstGeom>
          <a:solidFill>
            <a:srgbClr val="17202B"/>
          </a:solidFill>
          <a:ln w="12700">
            <a:solidFill>
              <a:srgbClr val="17202B"/>
            </a:solidFill>
            <a:prstDash val="solid"/>
          </a:ln>
        </p:spPr>
      </p:sp>
      <p:sp>
        <p:nvSpPr>
          <p:cNvPr id="22" name="prog"/>
          <p:cNvSpPr txBox="1"/>
          <p:nvPr/>
        </p:nvSpPr>
        <p:spPr>
          <a:xfrm>
            <a:off x="5303520" y="1325880"/>
            <a:ext cx="3291840" cy="219456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read_age(text):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int(text)</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load(record):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read_age(record['age'])</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process(records):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[load(r) for r in records]</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try:</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process([{'age': '41'}, {'age': 'abc'}])</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except ValueError as 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print('caught:', e)</a:t>
            </a:r>
            <a:endParaRPr lang="en-US" sz="1000" dirty="0"/>
          </a:p>
        </p:txBody>
      </p:sp>
      <p:sp>
        <p:nvSpPr>
          <p:cNvPr id="23" name="transbox|b5"/>
          <p:cNvSpPr/>
          <p:nvPr/>
        </p:nvSpPr>
        <p:spPr>
          <a:xfrm>
            <a:off x="5120640" y="3794760"/>
            <a:ext cx="3657600" cy="502920"/>
          </a:xfrm>
          <a:prstGeom prst="roundRect">
            <a:avLst>
              <a:gd name="adj" fmla="val 18182"/>
            </a:avLst>
          </a:prstGeom>
          <a:solidFill>
            <a:srgbClr val="F1F4F8"/>
          </a:solidFill>
          <a:ln w="12700">
            <a:solidFill>
              <a:srgbClr val="F1F4F8"/>
            </a:solidFill>
            <a:prstDash val="solid"/>
          </a:ln>
        </p:spPr>
      </p:sp>
      <p:sp>
        <p:nvSpPr>
          <p:cNvPr id="24" name="trans|b5"/>
          <p:cNvSpPr txBox="1"/>
          <p:nvPr/>
        </p:nvSpPr>
        <p:spPr>
          <a:xfrm>
            <a:off x="5257800" y="3867912"/>
            <a:ext cx="3383280" cy="35661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caught: invalid literal for int() with base 10: 'abc'</a:t>
            </a:r>
            <a:endParaRPr lang="en-US" sz="1050" dirty="0"/>
          </a:p>
        </p:txBody>
      </p:sp>
      <p:sp>
        <p:nvSpPr>
          <p:cNvPr id="25" name="transcap|b5"/>
          <p:cNvSpPr txBox="1"/>
          <p:nvPr/>
        </p:nvSpPr>
        <p:spPr>
          <a:xfrm>
            <a:off x="5120640" y="4325112"/>
            <a:ext cx="3657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2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Exception unwinding (drag the climb one frame at a time)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traceback.html" history="1" highlightClick="0" endSnd="0">
                  <a:extLst>
                    <a:ext uri="{A12FA001-AC4F-418D-AE19-62706E023703}">
                      <ahyp:hlinkClr xmlns:ahyp="http://schemas.microsoft.com/office/drawing/2018/hyperlinkcolor" val="tx"/>
                    </a:ext>
                  </a:extLst>
                </a:hlinkClick>
              </a:rPr>
              <a:t>traceback module</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childTnLst>
                          </p:cTn>
                        </p:par>
                      </p:childTnLst>
                    </p:cTn>
                  </p:par>
                  <p:par>
                    <p:cTn id="22" fill="hold">
                      <p:stCondLst>
                        <p:cond delay="indefinite"/>
                      </p:stCondLst>
                      <p:childTnLst>
                        <p:par>
                          <p:cTn id="23"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20" grpId="0" animBg="1"/>
      <p:bldP spid="24"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Read a traceback from the bottom up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climb, as Python prints it when nobody catches the error</a:t>
            </a:r>
            <a:endParaRPr lang="en-US" sz="1400" dirty="0"/>
          </a:p>
        </p:txBody>
      </p:sp>
      <p:sp>
        <p:nvSpPr>
          <p:cNvPr id="6" name="tbbox"/>
          <p:cNvSpPr/>
          <p:nvPr/>
        </p:nvSpPr>
        <p:spPr>
          <a:xfrm>
            <a:off x="365760" y="1234440"/>
            <a:ext cx="5394960" cy="3017520"/>
          </a:xfrm>
          <a:prstGeom prst="roundRect">
            <a:avLst>
              <a:gd name="adj" fmla="val 3030"/>
            </a:avLst>
          </a:prstGeom>
          <a:solidFill>
            <a:srgbClr val="17202B"/>
          </a:solidFill>
          <a:ln w="12700">
            <a:solidFill>
              <a:srgbClr val="17202B"/>
            </a:solidFill>
            <a:prstDash val="solid"/>
          </a:ln>
        </p:spPr>
      </p:sp>
      <p:sp>
        <p:nvSpPr>
          <p:cNvPr id="7" name="v:ExceptionUnwinding:tb"/>
          <p:cNvSpPr txBox="1"/>
          <p:nvPr/>
        </p:nvSpPr>
        <p:spPr>
          <a:xfrm>
            <a:off x="530352" y="1325880"/>
            <a:ext cx="5065776" cy="2834640"/>
          </a:xfrm>
          <a:prstGeom prst="rect">
            <a:avLst/>
          </a:prstGeom>
          <a:noFill/>
          <a:ln/>
        </p:spPr>
        <p:txBody>
          <a:bodyPr wrap="square" lIns="0" tIns="0" rIns="0" bIns="0" rtlCol="0" anchor="t"/>
          <a:lstStyle/>
          <a:p>
            <a:pPr indent="0" marL="0">
              <a:spcAft>
                <a:spcPts val="100"/>
              </a:spcAft>
              <a:buNone/>
            </a:pPr>
            <a:r>
              <a:rPr lang="en-US" sz="1050" dirty="0">
                <a:solidFill>
                  <a:srgbClr val="8FA3B8"/>
                </a:solidFill>
                <a:latin typeface="Courier New" pitchFamily="34" charset="0"/>
                <a:ea typeface="Courier New" pitchFamily="34" charset="-122"/>
                <a:cs typeface="Courier New" pitchFamily="34" charset="-120"/>
              </a:rPr>
              <a:t>Traceback (most recent call last):</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10, in &lt;module&gt;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process([{'age': '41'}, {'age': 'abc'}])</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8, in process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[load(r) for r in records]</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5, in load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read_age(record['age'])</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2, in read_age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int(text)</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ValueError: invalid literal for int() with base 10: 'abc'</a:t>
            </a:r>
            <a:endParaRPr lang="en-US" sz="1050" dirty="0"/>
          </a:p>
        </p:txBody>
      </p:sp>
      <p:sp>
        <p:nvSpPr>
          <p:cNvPr id="8" name="x"/>
          <p:cNvSpPr txBox="1"/>
          <p:nvPr/>
        </p:nvSpPr>
        <p:spPr>
          <a:xfrm>
            <a:off x="365760" y="4279392"/>
            <a:ext cx="5394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text a real interpreter wrote to standard error, under Python 3.14.4</a:t>
            </a:r>
            <a:endParaRPr lang="en-US" sz="900" dirty="0"/>
          </a:p>
        </p:txBody>
      </p:sp>
      <p:sp>
        <p:nvSpPr>
          <p:cNvPr id="9" name="card|b1"/>
          <p:cNvSpPr/>
          <p:nvPr/>
        </p:nvSpPr>
        <p:spPr>
          <a:xfrm>
            <a:off x="5943600" y="1234440"/>
            <a:ext cx="2834640" cy="932688"/>
          </a:xfrm>
          <a:prstGeom prst="roundRect">
            <a:avLst>
              <a:gd name="adj" fmla="val 9804"/>
            </a:avLst>
          </a:prstGeom>
          <a:solidFill>
            <a:srgbClr val="F1F4F8"/>
          </a:solidFill>
          <a:ln w="12700">
            <a:solidFill>
              <a:srgbClr val="F1F4F8"/>
            </a:solidFill>
            <a:prstDash val="solid"/>
          </a:ln>
        </p:spPr>
      </p:sp>
      <p:sp>
        <p:nvSpPr>
          <p:cNvPr id="10" name="cardhead|b1"/>
          <p:cNvSpPr txBox="1"/>
          <p:nvPr/>
        </p:nvSpPr>
        <p:spPr>
          <a:xfrm>
            <a:off x="6108192" y="1325880"/>
            <a:ext cx="250545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1  The last line</a:t>
            </a:r>
            <a:endParaRPr lang="en-US" sz="1500" dirty="0"/>
          </a:p>
        </p:txBody>
      </p:sp>
      <p:sp>
        <p:nvSpPr>
          <p:cNvPr id="11" name="cardbody|b1"/>
          <p:cNvSpPr txBox="1"/>
          <p:nvPr/>
        </p:nvSpPr>
        <p:spPr>
          <a:xfrm>
            <a:off x="6108192" y="1655064"/>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names the exception class and its message</a:t>
            </a:r>
            <a:endParaRPr lang="en-US" sz="1300" dirty="0"/>
          </a:p>
        </p:txBody>
      </p:sp>
      <p:sp>
        <p:nvSpPr>
          <p:cNvPr id="12" name="card|b2"/>
          <p:cNvSpPr/>
          <p:nvPr/>
        </p:nvSpPr>
        <p:spPr>
          <a:xfrm>
            <a:off x="5943600" y="2258568"/>
            <a:ext cx="2834640" cy="932688"/>
          </a:xfrm>
          <a:prstGeom prst="roundRect">
            <a:avLst>
              <a:gd name="adj" fmla="val 9804"/>
            </a:avLst>
          </a:prstGeom>
          <a:solidFill>
            <a:srgbClr val="F1F4F8"/>
          </a:solidFill>
          <a:ln w="12700">
            <a:solidFill>
              <a:srgbClr val="F1F4F8"/>
            </a:solidFill>
            <a:prstDash val="solid"/>
          </a:ln>
        </p:spPr>
      </p:sp>
      <p:sp>
        <p:nvSpPr>
          <p:cNvPr id="13" name="cardhead|b2"/>
          <p:cNvSpPr txBox="1"/>
          <p:nvPr/>
        </p:nvSpPr>
        <p:spPr>
          <a:xfrm>
            <a:off x="6108192" y="2350008"/>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2  Outermost first</a:t>
            </a:r>
            <a:endParaRPr lang="en-US" sz="1500" dirty="0"/>
          </a:p>
        </p:txBody>
      </p:sp>
      <p:sp>
        <p:nvSpPr>
          <p:cNvPr id="14" name="cardbody|b2"/>
          <p:cNvSpPr txBox="1"/>
          <p:nvPr/>
        </p:nvSpPr>
        <p:spPr>
          <a:xfrm>
            <a:off x="6108192" y="2679192"/>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frame that raised is the one just above the last line</a:t>
            </a:r>
            <a:endParaRPr lang="en-US" sz="1300" dirty="0"/>
          </a:p>
        </p:txBody>
      </p:sp>
      <p:sp>
        <p:nvSpPr>
          <p:cNvPr id="15" name="card|b3"/>
          <p:cNvSpPr/>
          <p:nvPr/>
        </p:nvSpPr>
        <p:spPr>
          <a:xfrm>
            <a:off x="5943600" y="3282696"/>
            <a:ext cx="2834640" cy="932688"/>
          </a:xfrm>
          <a:prstGeom prst="roundRect">
            <a:avLst>
              <a:gd name="adj" fmla="val 9804"/>
            </a:avLst>
          </a:prstGeom>
          <a:solidFill>
            <a:srgbClr val="F1F4F8"/>
          </a:solidFill>
          <a:ln w="12700">
            <a:solidFill>
              <a:srgbClr val="F1F4F8"/>
            </a:solidFill>
            <a:prstDash val="solid"/>
          </a:ln>
        </p:spPr>
      </p:sp>
      <p:sp>
        <p:nvSpPr>
          <p:cNvPr id="16" name="cardhead|b3"/>
          <p:cNvSpPr txBox="1"/>
          <p:nvPr/>
        </p:nvSpPr>
        <p:spPr>
          <a:xfrm>
            <a:off x="6108192" y="3374136"/>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3  Four parts a frame</a:t>
            </a:r>
            <a:endParaRPr lang="en-US" sz="1500" dirty="0"/>
          </a:p>
        </p:txBody>
      </p:sp>
      <p:sp>
        <p:nvSpPr>
          <p:cNvPr id="17" name="cardbody|b3"/>
          <p:cNvSpPr txBox="1"/>
          <p:nvPr/>
        </p:nvSpPr>
        <p:spPr>
          <a:xfrm>
            <a:off x="6108192" y="3703320"/>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file, line, function, and the source line itself</a:t>
            </a:r>
            <a:endParaRPr lang="en-US" sz="13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Traceback reading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traceback.html" history="1" highlightClick="0" endSnd="0">
                  <a:extLst>
                    <a:ext uri="{A12FA001-AC4F-418D-AE19-62706E023703}">
                      <ahyp:hlinkClr xmlns:ahyp="http://schemas.microsoft.com/office/drawing/2018/hyperlinkcolor" val="tx"/>
                    </a:ext>
                  </a:extLst>
                </a:hlinkClick>
              </a:rPr>
              <a:t>traceback module</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Since Python 3.11: carets in tracebacks, notes on exceptions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book’s tracebacks predate both</a:t>
            </a:r>
            <a:endParaRPr lang="en-US" sz="1400" dirty="0"/>
          </a:p>
        </p:txBody>
      </p:sp>
      <p:sp>
        <p:nvSpPr>
          <p:cNvPr id="6" name="h1"/>
          <p:cNvSpPr txBox="1"/>
          <p:nvPr/>
        </p:nvSpPr>
        <p:spPr>
          <a:xfrm>
            <a:off x="365760" y="1115568"/>
            <a:ext cx="4754880" cy="256032"/>
          </a:xfrm>
          <a:prstGeom prst="rect">
            <a:avLst/>
          </a:prstGeom>
          <a:noFill/>
          <a:ln/>
        </p:spPr>
        <p:txBody>
          <a:bodyPr wrap="square" lIns="0" tIns="0" rIns="0" bIns="0" rtlCol="0" anchor="ctr"/>
          <a:lstStyle/>
          <a:p>
            <a:pPr indent="0" marL="0">
              <a:buNone/>
            </a:pPr>
            <a:r>
              <a:rPr lang="en-US" sz="1300" b="1" dirty="0">
                <a:solidFill>
                  <a:srgbClr val="1E2A3A"/>
                </a:solidFill>
                <a:latin typeface="Calibri" pitchFamily="34" charset="0"/>
                <a:ea typeface="Calibri" pitchFamily="34" charset="-122"/>
                <a:cs typeface="Calibri" pitchFamily="34" charset="-120"/>
              </a:rPr>
              <a:t>Which subscript failed?</a:t>
            </a:r>
            <a:endParaRPr lang="en-US" sz="1300" dirty="0"/>
          </a:p>
        </p:txBody>
      </p:sp>
      <p:sp>
        <p:nvSpPr>
          <p:cNvPr id="7" name="tbbox"/>
          <p:cNvSpPr/>
          <p:nvPr/>
        </p:nvSpPr>
        <p:spPr>
          <a:xfrm>
            <a:off x="365760" y="1417320"/>
            <a:ext cx="4754880" cy="1280160"/>
          </a:xfrm>
          <a:prstGeom prst="roundRect">
            <a:avLst>
              <a:gd name="adj" fmla="val 7143"/>
            </a:avLst>
          </a:prstGeom>
          <a:solidFill>
            <a:srgbClr val="17202B"/>
          </a:solidFill>
          <a:ln w="12700">
            <a:solidFill>
              <a:srgbClr val="17202B"/>
            </a:solidFill>
            <a:prstDash val="solid"/>
          </a:ln>
        </p:spPr>
      </p:sp>
      <p:sp>
        <p:nvSpPr>
          <p:cNvPr id="8" name="v:FineGrainedLocations:text"/>
          <p:cNvSpPr txBox="1"/>
          <p:nvPr/>
        </p:nvSpPr>
        <p:spPr>
          <a:xfrm>
            <a:off x="530352" y="1508760"/>
            <a:ext cx="4425696" cy="1097280"/>
          </a:xfrm>
          <a:prstGeom prst="rect">
            <a:avLst/>
          </a:prstGeom>
          <a:noFill/>
          <a:ln/>
        </p:spPr>
        <p:txBody>
          <a:bodyPr wrap="square" lIns="0" tIns="0" rIns="0" bIns="0" rtlCol="0" anchor="t"/>
          <a:lstStyle/>
          <a:p>
            <a:pPr indent="0" marL="0">
              <a:spcAft>
                <a:spcPts val="100"/>
              </a:spcAft>
              <a:buNone/>
            </a:pPr>
            <a:r>
              <a:rPr lang="en-US" sz="1050" dirty="0">
                <a:solidFill>
                  <a:srgbClr val="8FA3B8"/>
                </a:solidFill>
                <a:latin typeface="Courier New" pitchFamily="34" charset="0"/>
                <a:ea typeface="Courier New" pitchFamily="34" charset="-122"/>
                <a:cs typeface="Courier New" pitchFamily="34" charset="-120"/>
              </a:rPr>
              <a:t>Traceback (most recent call last):</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2, in &lt;module&gt;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print(data['a']['b']['c'])</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TypeError: 'NoneType' object is not subscriptable</a:t>
            </a:r>
            <a:endParaRPr lang="en-US" sz="1050" dirty="0"/>
          </a:p>
        </p:txBody>
      </p:sp>
      <p:sp>
        <p:nvSpPr>
          <p:cNvPr id="9" name="x"/>
          <p:cNvSpPr txBox="1"/>
          <p:nvPr/>
        </p:nvSpPr>
        <p:spPr>
          <a:xfrm>
            <a:off x="365760" y="2724912"/>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text a real interpreter wrote to standard error, under Python 3.14.4</a:t>
            </a:r>
            <a:endParaRPr lang="en-US" sz="900" dirty="0"/>
          </a:p>
        </p:txBody>
      </p:sp>
      <p:sp>
        <p:nvSpPr>
          <p:cNvPr id="10" name="say|b1"/>
          <p:cNvSpPr txBox="1"/>
          <p:nvPr/>
        </p:nvSpPr>
        <p:spPr>
          <a:xfrm>
            <a:off x="365760" y="3063240"/>
            <a:ext cx="475488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tildes and carets mark the failing part of the line: the third subscript, on a value that is None (PEP 657).</a:t>
            </a:r>
            <a:endParaRPr lang="en-US" sz="1300" dirty="0"/>
          </a:p>
        </p:txBody>
      </p:sp>
      <p:sp>
        <p:nvSpPr>
          <p:cNvPr id="11" name="h2"/>
          <p:cNvSpPr txBox="1"/>
          <p:nvPr/>
        </p:nvSpPr>
        <p:spPr>
          <a:xfrm>
            <a:off x="5303520" y="1115568"/>
            <a:ext cx="3474720" cy="256032"/>
          </a:xfrm>
          <a:prstGeom prst="rect">
            <a:avLst/>
          </a:prstGeom>
          <a:noFill/>
          <a:ln/>
        </p:spPr>
        <p:txBody>
          <a:bodyPr wrap="square" lIns="0" tIns="0" rIns="0" bIns="0" rtlCol="0" anchor="ctr"/>
          <a:lstStyle/>
          <a:p>
            <a:pPr indent="0" marL="0">
              <a:buNone/>
            </a:pPr>
            <a:r>
              <a:rPr lang="en-US" sz="1300" b="1" dirty="0">
                <a:solidFill>
                  <a:srgbClr val="1E2A3A"/>
                </a:solidFill>
                <a:latin typeface="Calibri" pitchFamily="34" charset="0"/>
                <a:ea typeface="Calibri" pitchFamily="34" charset="-122"/>
                <a:cs typeface="Calibri" pitchFamily="34" charset="-120"/>
              </a:rPr>
              <a:t>Say where in the work it happened</a:t>
            </a:r>
            <a:endParaRPr lang="en-US" sz="1300" dirty="0"/>
          </a:p>
        </p:txBody>
      </p:sp>
      <p:sp>
        <p:nvSpPr>
          <p:cNvPr id="12" name="progbox"/>
          <p:cNvSpPr/>
          <p:nvPr/>
        </p:nvSpPr>
        <p:spPr>
          <a:xfrm>
            <a:off x="5303520" y="1417320"/>
            <a:ext cx="3474720" cy="1691640"/>
          </a:xfrm>
          <a:prstGeom prst="roundRect">
            <a:avLst>
              <a:gd name="adj" fmla="val 5405"/>
            </a:avLst>
          </a:prstGeom>
          <a:solidFill>
            <a:srgbClr val="17202B"/>
          </a:solidFill>
          <a:ln w="12700">
            <a:solidFill>
              <a:srgbClr val="17202B"/>
            </a:solidFill>
            <a:prstDash val="solid"/>
          </a:ln>
        </p:spPr>
      </p:sp>
      <p:sp>
        <p:nvSpPr>
          <p:cNvPr id="13" name="prog"/>
          <p:cNvSpPr txBox="1"/>
          <p:nvPr/>
        </p:nvSpPr>
        <p:spPr>
          <a:xfrm>
            <a:off x="5486400" y="1508760"/>
            <a:ext cx="3108960" cy="150876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try:</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try:</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int('x')</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except ValueError as 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e.add_note('while reading the age field')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raise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except ValueError as 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print(e.__notes__)</a:t>
            </a:r>
            <a:endParaRPr lang="en-US" sz="1050" dirty="0"/>
          </a:p>
        </p:txBody>
      </p:sp>
      <p:sp>
        <p:nvSpPr>
          <p:cNvPr id="14" name="transbox|b2"/>
          <p:cNvSpPr/>
          <p:nvPr/>
        </p:nvSpPr>
        <p:spPr>
          <a:xfrm>
            <a:off x="5303520" y="3246120"/>
            <a:ext cx="3474720" cy="502920"/>
          </a:xfrm>
          <a:prstGeom prst="roundRect">
            <a:avLst>
              <a:gd name="adj" fmla="val 18182"/>
            </a:avLst>
          </a:prstGeom>
          <a:solidFill>
            <a:srgbClr val="F1F4F8"/>
          </a:solidFill>
          <a:ln w="12700">
            <a:solidFill>
              <a:srgbClr val="F1F4F8"/>
            </a:solidFill>
            <a:prstDash val="solid"/>
          </a:ln>
        </p:spPr>
      </p:sp>
      <p:sp>
        <p:nvSpPr>
          <p:cNvPr id="15" name="trans|b2"/>
          <p:cNvSpPr txBox="1"/>
          <p:nvPr/>
        </p:nvSpPr>
        <p:spPr>
          <a:xfrm>
            <a:off x="5440680" y="3319272"/>
            <a:ext cx="3200400" cy="35661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['while reading the age field']</a:t>
            </a:r>
            <a:endParaRPr lang="en-US" sz="1100" dirty="0"/>
          </a:p>
        </p:txBody>
      </p:sp>
      <p:sp>
        <p:nvSpPr>
          <p:cNvPr id="16" name="transcap|b2"/>
          <p:cNvSpPr txBox="1"/>
          <p:nvPr/>
        </p:nvSpPr>
        <p:spPr>
          <a:xfrm>
            <a:off x="5303520" y="377647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7" name="say|b2"/>
          <p:cNvSpPr txBox="1"/>
          <p:nvPr/>
        </p:nvSpPr>
        <p:spPr>
          <a:xfrm>
            <a:off x="5303520" y="4023360"/>
            <a:ext cx="3474720" cy="5486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add_note attaches text to the exception; it is kept in __notes__ and printed after the traceback (PEP 678).</a:t>
            </a:r>
            <a:endParaRPr lang="en-US" sz="12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Fine-grained locations, Exception notes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peps.python.org/pep-0657/" history="1" highlightClick="0" endSnd="0">
                  <a:extLst>
                    <a:ext uri="{A12FA001-AC4F-418D-AE19-62706E023703}">
                      <ahyp:hlinkClr xmlns:ahyp="http://schemas.microsoft.com/office/drawing/2018/hyperlinkcolor" val="tx"/>
                    </a:ext>
                  </a:extLst>
                </a:hlinkClick>
              </a:rPr>
              <a:t>PEP 657</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peps.python.org/pep-0678/" history="1" highlightClick="0" endSnd="0">
                  <a:extLst>
                    <a:ext uri="{A12FA001-AC4F-418D-AE19-62706E023703}">
                      <ahyp:hlinkClr xmlns:ahyp="http://schemas.microsoft.com/office/drawing/2018/hyperlinkcolor" val="tx"/>
                    </a:ext>
                  </a:extLst>
                </a:hlinkClick>
              </a:rPr>
              <a:t>PEP 678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does the program say the list is sorted?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list has just been reversed</a:t>
            </a:r>
            <a:endParaRPr lang="en-US" sz="1400" dirty="0"/>
          </a:p>
        </p:txBody>
      </p:sp>
      <p:sp>
        <p:nvSpPr>
          <p:cNvPr id="6" name="progbox"/>
          <p:cNvSpPr/>
          <p:nvPr/>
        </p:nvSpPr>
        <p:spPr>
          <a:xfrm>
            <a:off x="365760" y="1280160"/>
            <a:ext cx="4754880" cy="1920240"/>
          </a:xfrm>
          <a:prstGeom prst="roundRect">
            <a:avLst>
              <a:gd name="adj" fmla="val 4762"/>
            </a:avLst>
          </a:prstGeom>
          <a:solidFill>
            <a:srgbClr val="17202B"/>
          </a:solidFill>
          <a:ln w="12700">
            <a:solidFill>
              <a:srgbClr val="17202B"/>
            </a:solidFill>
            <a:prstDash val="solid"/>
          </a:ln>
        </p:spPr>
      </p:sp>
      <p:sp>
        <p:nvSpPr>
          <p:cNvPr id="7" name="prog"/>
          <p:cNvSpPr txBox="1"/>
          <p:nvPr/>
        </p:nvSpPr>
        <p:spPr>
          <a:xfrm>
            <a:off x="548640" y="1371600"/>
            <a:ext cx="4389120" cy="173736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ages = [26, 57, 92, 54, 22, 15, 17, 80, 47, 73]</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ages.reverse()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try:</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assert ages[0] &lt;= ages[-1]</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print('the list is sorted')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except AssertionError as 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print(type(e).__name__, repr(str(e)))</a:t>
            </a:r>
            <a:endParaRPr lang="en-US" sz="1200" dirty="0"/>
          </a:p>
        </p:txBody>
      </p:sp>
      <p:sp>
        <p:nvSpPr>
          <p:cNvPr id="8" name="transbox|b2"/>
          <p:cNvSpPr/>
          <p:nvPr/>
        </p:nvSpPr>
        <p:spPr>
          <a:xfrm>
            <a:off x="5303520" y="1280160"/>
            <a:ext cx="3474720" cy="685800"/>
          </a:xfrm>
          <a:prstGeom prst="roundRect">
            <a:avLst>
              <a:gd name="adj" fmla="val 13333"/>
            </a:avLst>
          </a:prstGeom>
          <a:solidFill>
            <a:srgbClr val="F1F4F8"/>
          </a:solidFill>
          <a:ln w="12700">
            <a:solidFill>
              <a:srgbClr val="F1F4F8"/>
            </a:solidFill>
            <a:prstDash val="solid"/>
          </a:ln>
        </p:spPr>
      </p:sp>
      <p:sp>
        <p:nvSpPr>
          <p:cNvPr id="9" name="trans|b2"/>
          <p:cNvSpPr txBox="1"/>
          <p:nvPr/>
        </p:nvSpPr>
        <p:spPr>
          <a:xfrm>
            <a:off x="5440680" y="1353312"/>
            <a:ext cx="3200400" cy="53949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AssertionError ''</a:t>
            </a:r>
            <a:endParaRPr lang="en-US" sz="1400" dirty="0"/>
          </a:p>
        </p:txBody>
      </p:sp>
      <p:sp>
        <p:nvSpPr>
          <p:cNvPr id="10" name="transcap|b2"/>
          <p:cNvSpPr txBox="1"/>
          <p:nvPr/>
        </p:nvSpPr>
        <p:spPr>
          <a:xfrm>
            <a:off x="5303520" y="199339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
          <p:cNvSpPr txBox="1"/>
          <p:nvPr/>
        </p:nvSpPr>
        <p:spPr>
          <a:xfrm>
            <a:off x="365760" y="3429000"/>
            <a:ext cx="4754880" cy="822960"/>
          </a:xfrm>
          <a:prstGeom prst="rect">
            <a:avLst/>
          </a:prstGeom>
          <a:noFill/>
          <a:ln/>
        </p:spPr>
        <p:txBody>
          <a:bodyPr wrap="square" lIns="0" tIns="0" rIns="0" bIns="0" rtlCol="0" anchor="t"/>
          <a:lstStyle/>
          <a:p>
            <a:pPr indent="0" marL="0">
              <a:buNone/>
            </a:pPr>
            <a:r>
              <a:rPr lang="en-US" sz="1600" b="1" dirty="0">
                <a:solidFill>
                  <a:srgbClr val="1E2A3A"/>
                </a:solidFill>
                <a:latin typeface="Calibri" pitchFamily="34" charset="0"/>
                <a:ea typeface="Calibri" pitchFamily="34" charset="-122"/>
                <a:cs typeface="Calibri" pitchFamily="34" charset="-120"/>
              </a:rPr>
              <a:t>Before you click: what happens on the assert line, and what is printed? Write it down.</a:t>
            </a:r>
            <a:endParaRPr lang="en-US" sz="1600" dirty="0"/>
          </a:p>
        </p:txBody>
      </p:sp>
      <p:sp>
        <p:nvSpPr>
          <p:cNvPr id="12" name="ans|b1"/>
          <p:cNvSpPr/>
          <p:nvPr/>
        </p:nvSpPr>
        <p:spPr>
          <a:xfrm>
            <a:off x="5303520" y="2377440"/>
            <a:ext cx="3474720" cy="1417320"/>
          </a:xfrm>
          <a:prstGeom prst="roundRect">
            <a:avLst>
              <a:gd name="adj" fmla="val 6452"/>
            </a:avLst>
          </a:prstGeom>
          <a:solidFill>
            <a:srgbClr val="DDF3E6"/>
          </a:solidFill>
          <a:ln w="12700">
            <a:solidFill>
              <a:srgbClr val="2E9E5B"/>
            </a:solidFill>
            <a:prstDash val="solid"/>
          </a:ln>
        </p:spPr>
      </p:sp>
      <p:sp>
        <p:nvSpPr>
          <p:cNvPr id="13" name="anst|b1"/>
          <p:cNvSpPr txBox="1"/>
          <p:nvPr/>
        </p:nvSpPr>
        <p:spPr>
          <a:xfrm>
            <a:off x="5440680" y="2377440"/>
            <a:ext cx="3200400" cy="141732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The list is reversed, so the first item, 73, is larger than the last, 26. The condition is false: AssertionError, and the message is empty.</a:t>
            </a:r>
            <a:endParaRPr lang="en-US" sz="1300" dirty="0"/>
          </a:p>
        </p:txBody>
      </p:sp>
      <p:sp>
        <p:nvSpPr>
          <p:cNvPr id="1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statement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User errors are handled; programmer errors are asserted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Assertions are for programmer errors, not user errors — the chapter’s rule</a:t>
            </a:r>
            <a:endParaRPr lang="en-US" sz="1400" dirty="0"/>
          </a:p>
        </p:txBody>
      </p:sp>
      <p:sp>
        <p:nvSpPr>
          <p:cNvPr id="6" name="card|b1"/>
          <p:cNvSpPr/>
          <p:nvPr/>
        </p:nvSpPr>
        <p:spPr>
          <a:xfrm>
            <a:off x="365760" y="1325880"/>
            <a:ext cx="4114800" cy="2377440"/>
          </a:xfrm>
          <a:prstGeom prst="roundRect">
            <a:avLst>
              <a:gd name="adj" fmla="val 3846"/>
            </a:avLst>
          </a:prstGeom>
          <a:solidFill>
            <a:srgbClr val="F1F4F8"/>
          </a:solidFill>
          <a:ln w="12700">
            <a:solidFill>
              <a:srgbClr val="F1F4F8"/>
            </a:solidFill>
            <a:prstDash val="solid"/>
          </a:ln>
        </p:spPr>
      </p:sp>
      <p:sp>
        <p:nvSpPr>
          <p:cNvPr id="7" name="cardhead|b1"/>
          <p:cNvSpPr txBox="1"/>
          <p:nvPr/>
        </p:nvSpPr>
        <p:spPr>
          <a:xfrm>
            <a:off x="530352" y="1417320"/>
            <a:ext cx="37856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A user error → raise or if</a:t>
            </a:r>
            <a:endParaRPr lang="en-US" sz="1500" dirty="0"/>
          </a:p>
        </p:txBody>
      </p:sp>
      <p:sp>
        <p:nvSpPr>
          <p:cNvPr id="8" name="cardbody|b1"/>
          <p:cNvSpPr txBox="1"/>
          <p:nvPr/>
        </p:nvSpPr>
        <p:spPr>
          <a:xfrm>
            <a:off x="530352" y="1746504"/>
            <a:ext cx="3785616" cy="1874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file is not there. The person typed abc for their age. The network is down.</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The program can ask again, use a default, or tell the person. Something outside the code is wrong.</a:t>
            </a:r>
            <a:endParaRPr lang="en-US" sz="1300" dirty="0"/>
          </a:p>
        </p:txBody>
      </p:sp>
      <p:sp>
        <p:nvSpPr>
          <p:cNvPr id="9" name="card|b2"/>
          <p:cNvSpPr/>
          <p:nvPr/>
        </p:nvSpPr>
        <p:spPr>
          <a:xfrm>
            <a:off x="4663440" y="1325880"/>
            <a:ext cx="4114800" cy="2377440"/>
          </a:xfrm>
          <a:prstGeom prst="roundRect">
            <a:avLst>
              <a:gd name="adj" fmla="val 3846"/>
            </a:avLst>
          </a:prstGeom>
          <a:solidFill>
            <a:srgbClr val="F1F4F8"/>
          </a:solidFill>
          <a:ln w="12700">
            <a:solidFill>
              <a:srgbClr val="F1F4F8"/>
            </a:solidFill>
            <a:prstDash val="solid"/>
          </a:ln>
        </p:spPr>
      </p:sp>
      <p:sp>
        <p:nvSpPr>
          <p:cNvPr id="10" name="cardhead|b2"/>
          <p:cNvSpPr txBox="1"/>
          <p:nvPr/>
        </p:nvSpPr>
        <p:spPr>
          <a:xfrm>
            <a:off x="4828032" y="1417320"/>
            <a:ext cx="378561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A programmer error → assert</a:t>
            </a:r>
            <a:endParaRPr lang="en-US" sz="1500" dirty="0"/>
          </a:p>
        </p:txBody>
      </p:sp>
      <p:sp>
        <p:nvSpPr>
          <p:cNvPr id="11" name="cardbody|b2"/>
          <p:cNvSpPr txBox="1"/>
          <p:nvPr/>
        </p:nvSpPr>
        <p:spPr>
          <a:xfrm>
            <a:off x="4828032" y="1746504"/>
            <a:ext cx="3785616" cy="1874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list must be sorted here. The total must not be negative. This branch must be unreachable.</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If the check fails the code is wrong. Stop, do not carry on, and fix it.</a:t>
            </a:r>
            <a:endParaRPr lang="en-US" sz="1300" dirty="0"/>
          </a:p>
        </p:txBody>
      </p:sp>
      <p:sp>
        <p:nvSpPr>
          <p:cNvPr id="12" name="rule|b3"/>
          <p:cNvSpPr/>
          <p:nvPr/>
        </p:nvSpPr>
        <p:spPr>
          <a:xfrm>
            <a:off x="365760" y="3886200"/>
            <a:ext cx="8412480" cy="594360"/>
          </a:xfrm>
          <a:prstGeom prst="roundRect">
            <a:avLst>
              <a:gd name="adj" fmla="val 15385"/>
            </a:avLst>
          </a:prstGeom>
          <a:solidFill>
            <a:srgbClr val="FCEFD0"/>
          </a:solidFill>
          <a:ln w="12700">
            <a:solidFill>
              <a:srgbClr val="B7791F"/>
            </a:solidFill>
            <a:prstDash val="solid"/>
          </a:ln>
        </p:spPr>
      </p:sp>
      <p:sp>
        <p:nvSpPr>
          <p:cNvPr id="13" name="rulet|b3"/>
          <p:cNvSpPr txBox="1"/>
          <p:nvPr/>
        </p:nvSpPr>
        <p:spPr>
          <a:xfrm>
            <a:off x="548640" y="3886200"/>
            <a:ext cx="8046720" cy="594360"/>
          </a:xfrm>
          <a:prstGeom prst="rect">
            <a:avLst/>
          </a:prstGeom>
          <a:noFill/>
          <a:ln/>
        </p:spPr>
        <p:txBody>
          <a:bodyPr wrap="square" lIns="0" tIns="0" rIns="0" bIns="0" rtlCol="0" anchor="ctr"/>
          <a:lstStyle/>
          <a:p>
            <a:pPr indent="0" marL="0">
              <a:buNone/>
            </a:pPr>
            <a:r>
              <a:rPr lang="en-US" sz="1400" b="1" dirty="0">
                <a:solidFill>
                  <a:srgbClr val="B7791F"/>
                </a:solidFill>
                <a:latin typeface="Calibri" pitchFamily="34" charset="0"/>
                <a:ea typeface="Calibri" pitchFamily="34" charset="-122"/>
                <a:cs typeface="Calibri" pitchFamily="34" charset="-120"/>
              </a:rPr>
              <a:t>Do not catch AssertionError to keep going: an assertion that fails is a bug report, not a condition to recover from.</a:t>
            </a:r>
            <a:endParaRPr lang="en-US" sz="1400" dirty="0"/>
          </a:p>
        </p:txBody>
      </p:sp>
      <p:sp>
        <p:nvSpPr>
          <p:cNvPr id="1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versus raise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1" fill="hold">
                      <p:stCondLst>
                        <p:cond delay="indefinite"/>
                      </p:stCondLst>
                      <p:childTnLst>
                        <p:par>
                          <p:cTn id="32"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assertion can say why it failed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message is evaluated only when the condition is false</a:t>
            </a:r>
            <a:endParaRPr lang="en-US" sz="1400" dirty="0"/>
          </a:p>
        </p:txBody>
      </p:sp>
      <p:sp>
        <p:nvSpPr>
          <p:cNvPr id="6" name="progbox"/>
          <p:cNvSpPr/>
          <p:nvPr/>
        </p:nvSpPr>
        <p:spPr>
          <a:xfrm>
            <a:off x="365760" y="1280160"/>
            <a:ext cx="4754880" cy="1463040"/>
          </a:xfrm>
          <a:prstGeom prst="roundRect">
            <a:avLst>
              <a:gd name="adj" fmla="val 6250"/>
            </a:avLst>
          </a:prstGeom>
          <a:solidFill>
            <a:srgbClr val="17202B"/>
          </a:solidFill>
          <a:ln w="12700">
            <a:solidFill>
              <a:srgbClr val="17202B"/>
            </a:solidFill>
            <a:prstDash val="solid"/>
          </a:ln>
        </p:spPr>
      </p:sp>
      <p:sp>
        <p:nvSpPr>
          <p:cNvPr id="7" name="prog"/>
          <p:cNvSpPr txBox="1"/>
          <p:nvPr/>
        </p:nvSpPr>
        <p:spPr>
          <a:xfrm>
            <a:off x="548640" y="1371600"/>
            <a:ext cx="4389120" cy="1280160"/>
          </a:xfrm>
          <a:prstGeom prst="rect">
            <a:avLst/>
          </a:prstGeom>
          <a:noFill/>
          <a:ln/>
        </p:spPr>
        <p:txBody>
          <a:bodyPr wrap="square" lIns="0" tIns="0" rIns="0" bIns="0" rtlCol="0" anchor="t"/>
          <a:lstStyle/>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x = -1</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assert x &gt; 0, f'x must be positive, got {x}'</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except AssertionError as e:</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print(e)</a:t>
            </a:r>
            <a:endParaRPr lang="en-US" sz="1300" dirty="0"/>
          </a:p>
        </p:txBody>
      </p:sp>
      <p:sp>
        <p:nvSpPr>
          <p:cNvPr id="8" name="transbox|b1"/>
          <p:cNvSpPr/>
          <p:nvPr/>
        </p:nvSpPr>
        <p:spPr>
          <a:xfrm>
            <a:off x="5303520" y="1280160"/>
            <a:ext cx="3474720" cy="640080"/>
          </a:xfrm>
          <a:prstGeom prst="roundRect">
            <a:avLst>
              <a:gd name="adj" fmla="val 14286"/>
            </a:avLst>
          </a:prstGeom>
          <a:solidFill>
            <a:srgbClr val="F1F4F8"/>
          </a:solidFill>
          <a:ln w="12700">
            <a:solidFill>
              <a:srgbClr val="F1F4F8"/>
            </a:solidFill>
            <a:prstDash val="solid"/>
          </a:ln>
        </p:spPr>
      </p:sp>
      <p:sp>
        <p:nvSpPr>
          <p:cNvPr id="9" name="trans|b1"/>
          <p:cNvSpPr txBox="1"/>
          <p:nvPr/>
        </p:nvSpPr>
        <p:spPr>
          <a:xfrm>
            <a:off x="5440680" y="1353312"/>
            <a:ext cx="3200400" cy="49377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x must be positive, got -1</a:t>
            </a:r>
            <a:endParaRPr lang="en-US" sz="1400" dirty="0"/>
          </a:p>
        </p:txBody>
      </p:sp>
      <p:sp>
        <p:nvSpPr>
          <p:cNvPr id="10" name="transcap|b1"/>
          <p:cNvSpPr txBox="1"/>
          <p:nvPr/>
        </p:nvSpPr>
        <p:spPr>
          <a:xfrm>
            <a:off x="5303520" y="194767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x"/>
          <p:cNvSpPr/>
          <p:nvPr/>
        </p:nvSpPr>
        <p:spPr>
          <a:xfrm>
            <a:off x="365760" y="3017520"/>
            <a:ext cx="4754880" cy="822960"/>
          </a:xfrm>
          <a:prstGeom prst="roundRect">
            <a:avLst>
              <a:gd name="adj" fmla="val 11111"/>
            </a:avLst>
          </a:prstGeom>
          <a:solidFill>
            <a:srgbClr val="17202B"/>
          </a:solidFill>
          <a:ln w="12700">
            <a:solidFill>
              <a:srgbClr val="17202B"/>
            </a:solidFill>
            <a:prstDash val="solid"/>
          </a:ln>
        </p:spPr>
      </p:sp>
      <p:sp>
        <p:nvSpPr>
          <p:cNvPr id="12" name="codecard"/>
          <p:cNvSpPr txBox="1"/>
          <p:nvPr/>
        </p:nvSpPr>
        <p:spPr>
          <a:xfrm>
            <a:off x="548640" y="3127248"/>
            <a:ext cx="4389120" cy="60350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issubclass(AssertionError, Exception)</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True</a:t>
            </a:r>
            <a:endParaRPr lang="en-US" sz="1200" dirty="0"/>
          </a:p>
        </p:txBody>
      </p:sp>
      <p:sp>
        <p:nvSpPr>
          <p:cNvPr id="13" name="x"/>
          <p:cNvSpPr txBox="1"/>
          <p:nvPr/>
        </p:nvSpPr>
        <p:spPr>
          <a:xfrm>
            <a:off x="365760" y="3867912"/>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say|b2"/>
          <p:cNvSpPr txBox="1"/>
          <p:nvPr/>
        </p:nvSpPr>
        <p:spPr>
          <a:xfrm>
            <a:off x="5303520" y="2286000"/>
            <a:ext cx="3474720" cy="13716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AssertionError is a subclass of Exception. Everything after the comma becomes its message, so put the values there.</a:t>
            </a:r>
            <a:endParaRPr lang="en-US" sz="1400" dirty="0"/>
          </a:p>
        </p:txBody>
      </p:sp>
      <p:sp>
        <p:nvSpPr>
          <p:cNvPr id="1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message, Assertion failure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Hazard: python -O removes every assert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Never use one to check what the program must always check</a:t>
            </a:r>
            <a:endParaRPr lang="en-US" sz="1400" dirty="0"/>
          </a:p>
        </p:txBody>
      </p:sp>
      <p:sp>
        <p:nvSpPr>
          <p:cNvPr id="6" name="progbox"/>
          <p:cNvSpPr/>
          <p:nvPr/>
        </p:nvSpPr>
        <p:spPr>
          <a:xfrm>
            <a:off x="365760" y="1280160"/>
            <a:ext cx="5029200" cy="1691640"/>
          </a:xfrm>
          <a:prstGeom prst="roundRect">
            <a:avLst>
              <a:gd name="adj" fmla="val 5405"/>
            </a:avLst>
          </a:prstGeom>
          <a:solidFill>
            <a:srgbClr val="17202B"/>
          </a:solidFill>
          <a:ln w="12700">
            <a:solidFill>
              <a:srgbClr val="17202B"/>
            </a:solidFill>
            <a:prstDash val="solid"/>
          </a:ln>
        </p:spPr>
      </p:sp>
      <p:sp>
        <p:nvSpPr>
          <p:cNvPr id="7" name="prog"/>
          <p:cNvSpPr txBox="1"/>
          <p:nvPr/>
        </p:nvSpPr>
        <p:spPr>
          <a:xfrm>
            <a:off x="548640" y="1371600"/>
            <a:ext cx="4663440" cy="1508760"/>
          </a:xfrm>
          <a:prstGeom prst="rect">
            <a:avLst/>
          </a:prstGeom>
          <a:noFill/>
          <a:ln/>
        </p:spPr>
        <p:txBody>
          <a:bodyPr wrap="square" lIns="0" tIns="0" rIns="0" bIns="0" rtlCol="0" anchor="t"/>
          <a:lstStyle/>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src = "assert False, 'boom'\nprint('reached')"</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try:</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    exec(compile(src, 'x', 'exec'))</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except AssertionError as e:</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    print('normal run:', e)</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exec(compile(src, 'x', 'exec', optimize=1))</a:t>
            </a:r>
            <a:endParaRPr lang="en-US" sz="1150" dirty="0"/>
          </a:p>
        </p:txBody>
      </p:sp>
      <p:sp>
        <p:nvSpPr>
          <p:cNvPr id="8" name="transbox|b1"/>
          <p:cNvSpPr/>
          <p:nvPr/>
        </p:nvSpPr>
        <p:spPr>
          <a:xfrm>
            <a:off x="5577840" y="1280160"/>
            <a:ext cx="3200400" cy="777240"/>
          </a:xfrm>
          <a:prstGeom prst="roundRect">
            <a:avLst>
              <a:gd name="adj" fmla="val 11765"/>
            </a:avLst>
          </a:prstGeom>
          <a:solidFill>
            <a:srgbClr val="F1F4F8"/>
          </a:solidFill>
          <a:ln w="12700">
            <a:solidFill>
              <a:srgbClr val="F1F4F8"/>
            </a:solidFill>
            <a:prstDash val="solid"/>
          </a:ln>
        </p:spPr>
      </p:sp>
      <p:sp>
        <p:nvSpPr>
          <p:cNvPr id="9" name="trans|b1"/>
          <p:cNvSpPr txBox="1"/>
          <p:nvPr/>
        </p:nvSpPr>
        <p:spPr>
          <a:xfrm>
            <a:off x="5715000" y="1353312"/>
            <a:ext cx="2926080" cy="63093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normal run: boom</a:t>
            </a:r>
            <a:endParaRPr lang="en-US" sz="1300" dirty="0"/>
          </a:p>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reached</a:t>
            </a:r>
            <a:endParaRPr lang="en-US" sz="1300" dirty="0"/>
          </a:p>
        </p:txBody>
      </p:sp>
      <p:sp>
        <p:nvSpPr>
          <p:cNvPr id="10" name="transcap|b1"/>
          <p:cNvSpPr txBox="1"/>
          <p:nvPr/>
        </p:nvSpPr>
        <p:spPr>
          <a:xfrm>
            <a:off x="5577840" y="208483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x"/>
          <p:cNvSpPr/>
          <p:nvPr/>
        </p:nvSpPr>
        <p:spPr>
          <a:xfrm>
            <a:off x="5577840" y="2377440"/>
            <a:ext cx="3200400" cy="731520"/>
          </a:xfrm>
          <a:prstGeom prst="roundRect">
            <a:avLst>
              <a:gd name="adj" fmla="val 12500"/>
            </a:avLst>
          </a:prstGeom>
          <a:solidFill>
            <a:srgbClr val="17202B"/>
          </a:solidFill>
          <a:ln w="12700">
            <a:solidFill>
              <a:srgbClr val="17202B"/>
            </a:solidFill>
            <a:prstDash val="solid"/>
          </a:ln>
        </p:spPr>
      </p:sp>
      <p:sp>
        <p:nvSpPr>
          <p:cNvPr id="12" name="codecard"/>
          <p:cNvSpPr txBox="1"/>
          <p:nvPr/>
        </p:nvSpPr>
        <p:spPr>
          <a:xfrm>
            <a:off x="5760720" y="2487168"/>
            <a:ext cx="2834640" cy="512064"/>
          </a:xfrm>
          <a:prstGeom prst="rect">
            <a:avLst/>
          </a:prstGeom>
          <a:noFill/>
          <a:ln/>
        </p:spPr>
        <p:txBody>
          <a:bodyPr wrap="square" lIns="0" tIns="0" rIns="0" bIns="0" rtlCol="0" anchor="t"/>
          <a:lstStyle/>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__debug__</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True</a:t>
            </a:r>
            <a:endParaRPr lang="en-US" sz="1300" dirty="0"/>
          </a:p>
        </p:txBody>
      </p:sp>
      <p:sp>
        <p:nvSpPr>
          <p:cNvPr id="13" name="x"/>
          <p:cNvSpPr txBox="1"/>
          <p:nvPr/>
        </p:nvSpPr>
        <p:spPr>
          <a:xfrm>
            <a:off x="5577840" y="313639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haz|b2"/>
          <p:cNvSpPr/>
          <p:nvPr/>
        </p:nvSpPr>
        <p:spPr>
          <a:xfrm>
            <a:off x="365760" y="3337560"/>
            <a:ext cx="8412480" cy="1097280"/>
          </a:xfrm>
          <a:prstGeom prst="roundRect">
            <a:avLst>
              <a:gd name="adj" fmla="val 8333"/>
            </a:avLst>
          </a:prstGeom>
          <a:solidFill>
            <a:srgbClr val="FBE1E1"/>
          </a:solidFill>
          <a:ln w="25400">
            <a:solidFill>
              <a:srgbClr val="D64545"/>
            </a:solidFill>
            <a:prstDash val="solid"/>
          </a:ln>
        </p:spPr>
      </p:sp>
      <p:sp>
        <p:nvSpPr>
          <p:cNvPr id="15" name="hazt|b2"/>
          <p:cNvSpPr txBox="1"/>
          <p:nvPr/>
        </p:nvSpPr>
        <p:spPr>
          <a:xfrm>
            <a:off x="548640" y="3337560"/>
            <a:ext cx="8046720" cy="1097280"/>
          </a:xfrm>
          <a:prstGeom prst="rect">
            <a:avLst/>
          </a:prstGeom>
          <a:noFill/>
          <a:ln/>
        </p:spPr>
        <p:txBody>
          <a:bodyPr wrap="square" lIns="0" tIns="0" rIns="0" bIns="0" rtlCol="0" anchor="ctr"/>
          <a:lstStyle/>
          <a:p>
            <a:pPr indent="0" marL="0">
              <a:buNone/>
            </a:pPr>
            <a:r>
              <a:rPr lang="en-US" sz="1600" b="1" dirty="0">
                <a:solidFill>
                  <a:srgbClr val="D64545"/>
                </a:solidFill>
                <a:latin typeface="Cambria" pitchFamily="34" charset="0"/>
                <a:ea typeface="Cambria" pitchFamily="34" charset="-122"/>
                <a:cs typeface="Cambria" pitchFamily="34" charset="-120"/>
              </a:rPr>
              <a:t>Hazard  </a:t>
            </a:r>
            <a:pPr indent="0" marL="0">
              <a:buNone/>
            </a:pPr>
            <a:r>
              <a:rPr lang="en-US" sz="1400" dirty="0">
                <a:solidFill>
                  <a:srgbClr val="1F2933"/>
                </a:solidFill>
                <a:latin typeface="Calibri" pitchFamily="34" charset="0"/>
                <a:ea typeface="Calibri" pitchFamily="34" charset="-122"/>
                <a:cs typeface="Calibri" pitchFamily="34" charset="-120"/>
              </a:rPr>
              <a:t>Code compiled with optimisation contains no assert statements: the second run reached the print. Do not put user input, file contents or permissions behind an assert; use if and raise, which always run.</a:t>
            </a:r>
            <a:endParaRPr lang="en-US" sz="1300" dirty="0"/>
          </a:p>
        </p:txBody>
      </p:sp>
      <p:sp>
        <p:nvSpPr>
          <p:cNvPr id="1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Optimised mode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using/cmdline.html" history="1" highlightClick="0" endSnd="0">
                  <a:extLst>
                    <a:ext uri="{A12FA001-AC4F-418D-AE19-62706E023703}">
                      <ahyp:hlinkClr xmlns:ahyp="http://schemas.microsoft.com/office/drawing/2018/hyperlinkcolor" val="tx"/>
                    </a:ext>
                  </a:extLst>
                </a:hlinkClick>
              </a:rPr>
              <a:t>Command line: -O, PYTHONBREAKPOINT</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73736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You add print calls to see what is happening. Then you have to find them all again and delete them.</a:t>
            </a:r>
            <a:endParaRPr lang="en-US" sz="2800" dirty="0"/>
          </a:p>
        </p:txBody>
      </p:sp>
      <p:sp>
        <p:nvSpPr>
          <p:cNvPr id="3" name="say|b1"/>
          <p:cNvSpPr txBox="1"/>
          <p:nvPr/>
        </p:nvSpPr>
        <p:spPr>
          <a:xfrm>
            <a:off x="640080" y="283464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What if the messages could stay in the program, and one line decided which ones show?</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basicConfig chooses the threshold, the format and the place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call at the top of the program</a:t>
            </a:r>
            <a:endParaRPr lang="en-US" sz="1400" dirty="0"/>
          </a:p>
        </p:txBody>
      </p:sp>
      <p:sp>
        <p:nvSpPr>
          <p:cNvPr id="6" name="progbox"/>
          <p:cNvSpPr/>
          <p:nvPr/>
        </p:nvSpPr>
        <p:spPr>
          <a:xfrm>
            <a:off x="365760" y="1188720"/>
            <a:ext cx="8412480" cy="1508760"/>
          </a:xfrm>
          <a:prstGeom prst="roundRect">
            <a:avLst>
              <a:gd name="adj" fmla="val 6061"/>
            </a:avLst>
          </a:prstGeom>
          <a:solidFill>
            <a:srgbClr val="17202B"/>
          </a:solidFill>
          <a:ln w="12700">
            <a:solidFill>
              <a:srgbClr val="17202B"/>
            </a:solidFill>
            <a:prstDash val="solid"/>
          </a:ln>
        </p:spPr>
      </p:sp>
      <p:sp>
        <p:nvSpPr>
          <p:cNvPr id="7" name="prog"/>
          <p:cNvSpPr txBox="1"/>
          <p:nvPr/>
        </p:nvSpPr>
        <p:spPr>
          <a:xfrm>
            <a:off x="548640" y="1280160"/>
            <a:ext cx="8046720" cy="132588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 sys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logging.debug('debug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logging.info('info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logging.warning('warning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logging.error('error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logging.critical('critical message')</a:t>
            </a:r>
            <a:endParaRPr lang="en-US" sz="1050" dirty="0"/>
          </a:p>
        </p:txBody>
      </p:sp>
      <p:sp>
        <p:nvSpPr>
          <p:cNvPr id="8" name="fmtnote"/>
          <p:cNvSpPr txBox="1"/>
          <p:nvPr/>
        </p:nvSpPr>
        <p:spPr>
          <a:xfrm>
            <a:off x="365760" y="2834640"/>
            <a:ext cx="5120640" cy="457200"/>
          </a:xfrm>
          <a:prstGeom prst="rect">
            <a:avLst/>
          </a:prstGeom>
          <a:noFill/>
          <a:ln/>
        </p:spPr>
        <p:txBody>
          <a:bodyPr wrap="square" lIns="0" tIns="0" rIns="0" bIns="0" rtlCol="0" anchor="t"/>
          <a:lstStyle/>
          <a:p>
            <a:pPr indent="0" marL="0">
              <a:buNone/>
            </a:pPr>
            <a:r>
              <a:rPr lang="en-US" sz="1100" i="1" dirty="0">
                <a:solidFill>
                  <a:srgbClr val="5B6B7B"/>
                </a:solidFill>
                <a:latin typeface="Calibri" pitchFamily="34" charset="0"/>
                <a:ea typeface="Calibri" pitchFamily="34" charset="-122"/>
                <a:cs typeface="Calibri" pitchFamily="34" charset="-120"/>
              </a:rPr>
              <a:t>format='%(asctime)s - %(levelname)s - %(message)s'  is the chapter’s; here the time is left out so every run prints the same text</a:t>
            </a:r>
            <a:endParaRPr lang="en-US" sz="1100" dirty="0"/>
          </a:p>
        </p:txBody>
      </p:sp>
      <p:sp>
        <p:nvSpPr>
          <p:cNvPr id="9" name="fmt|b1"/>
          <p:cNvSpPr/>
          <p:nvPr/>
        </p:nvSpPr>
        <p:spPr>
          <a:xfrm>
            <a:off x="365760" y="3383280"/>
            <a:ext cx="1645920" cy="1051560"/>
          </a:xfrm>
          <a:prstGeom prst="roundRect">
            <a:avLst>
              <a:gd name="adj" fmla="val 6957"/>
            </a:avLst>
          </a:prstGeom>
          <a:solidFill>
            <a:srgbClr val="FCEFD0"/>
          </a:solidFill>
          <a:ln w="25400">
            <a:solidFill>
              <a:srgbClr val="B7791F"/>
            </a:solidFill>
            <a:prstDash val="solid"/>
          </a:ln>
        </p:spPr>
      </p:sp>
      <p:sp>
        <p:nvSpPr>
          <p:cNvPr id="10" name="fmtt|b1"/>
          <p:cNvSpPr txBox="1"/>
          <p:nvPr/>
        </p:nvSpPr>
        <p:spPr>
          <a:xfrm>
            <a:off x="411480" y="3383280"/>
            <a:ext cx="1554480" cy="1051560"/>
          </a:xfrm>
          <a:prstGeom prst="rect">
            <a:avLst/>
          </a:prstGeom>
          <a:noFill/>
          <a:ln/>
        </p:spPr>
        <p:txBody>
          <a:bodyPr wrap="square" lIns="0" tIns="0" rIns="0" bIns="0" rtlCol="0" anchor="ctr"/>
          <a:lstStyle/>
          <a:p>
            <a:pPr algn="ctr" indent="0" marL="0">
              <a:buNone/>
            </a:pPr>
            <a:r>
              <a:rPr lang="en-US" sz="1150" b="1" dirty="0">
                <a:solidFill>
                  <a:srgbClr val="B7791F"/>
                </a:solidFill>
                <a:latin typeface="Courier New" pitchFamily="34" charset="0"/>
                <a:ea typeface="Courier New" pitchFamily="34" charset="-122"/>
                <a:cs typeface="Courier New" pitchFamily="34" charset="-120"/>
              </a:rPr>
              <a:t>%(levelname)s</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how important</a:t>
            </a:r>
            <a:endParaRPr lang="en-US" sz="1300" dirty="0"/>
          </a:p>
        </p:txBody>
      </p:sp>
      <p:sp>
        <p:nvSpPr>
          <p:cNvPr id="11" name="fmt|b2"/>
          <p:cNvSpPr/>
          <p:nvPr/>
        </p:nvSpPr>
        <p:spPr>
          <a:xfrm>
            <a:off x="2103120" y="3383280"/>
            <a:ext cx="1645920" cy="1051560"/>
          </a:xfrm>
          <a:prstGeom prst="roundRect">
            <a:avLst>
              <a:gd name="adj" fmla="val 6957"/>
            </a:avLst>
          </a:prstGeom>
          <a:solidFill>
            <a:srgbClr val="F1F4F8"/>
          </a:solidFill>
          <a:ln w="25400">
            <a:solidFill>
              <a:srgbClr val="5B6B7B"/>
            </a:solidFill>
            <a:prstDash val="solid"/>
          </a:ln>
        </p:spPr>
      </p:sp>
      <p:sp>
        <p:nvSpPr>
          <p:cNvPr id="12" name="fmtt|b2"/>
          <p:cNvSpPr txBox="1"/>
          <p:nvPr/>
        </p:nvSpPr>
        <p:spPr>
          <a:xfrm>
            <a:off x="2148840" y="3383280"/>
            <a:ext cx="1554480" cy="1051560"/>
          </a:xfrm>
          <a:prstGeom prst="rect">
            <a:avLst/>
          </a:prstGeom>
          <a:noFill/>
          <a:ln/>
        </p:spPr>
        <p:txBody>
          <a:bodyPr wrap="square" lIns="0" tIns="0" rIns="0" bIns="0" rtlCol="0" anchor="ctr"/>
          <a:lstStyle/>
          <a:p>
            <a:pPr algn="ctr" indent="0" marL="0">
              <a:buNone/>
            </a:pPr>
            <a:r>
              <a:rPr lang="en-US" sz="1150" b="1" dirty="0">
                <a:solidFill>
                  <a:srgbClr val="5B6B7B"/>
                </a:solidFill>
                <a:latin typeface="Courier New" pitchFamily="34" charset="0"/>
                <a:ea typeface="Courier New" pitchFamily="34" charset="-122"/>
                <a:cs typeface="Courier New" pitchFamily="34" charset="-120"/>
              </a:rPr>
              <a:t>-</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a separator you choose</a:t>
            </a:r>
            <a:endParaRPr lang="en-US" sz="1300" dirty="0"/>
          </a:p>
        </p:txBody>
      </p:sp>
      <p:sp>
        <p:nvSpPr>
          <p:cNvPr id="13" name="fmt|b3"/>
          <p:cNvSpPr/>
          <p:nvPr/>
        </p:nvSpPr>
        <p:spPr>
          <a:xfrm>
            <a:off x="3840480" y="3383280"/>
            <a:ext cx="1645920" cy="1051560"/>
          </a:xfrm>
          <a:prstGeom prst="roundRect">
            <a:avLst>
              <a:gd name="adj" fmla="val 6957"/>
            </a:avLst>
          </a:prstGeom>
          <a:solidFill>
            <a:srgbClr val="DDF3E6"/>
          </a:solidFill>
          <a:ln w="25400">
            <a:solidFill>
              <a:srgbClr val="2E9E5B"/>
            </a:solidFill>
            <a:prstDash val="solid"/>
          </a:ln>
        </p:spPr>
      </p:sp>
      <p:sp>
        <p:nvSpPr>
          <p:cNvPr id="14" name="fmtt|b3"/>
          <p:cNvSpPr txBox="1"/>
          <p:nvPr/>
        </p:nvSpPr>
        <p:spPr>
          <a:xfrm>
            <a:off x="3886200" y="3383280"/>
            <a:ext cx="1554480" cy="1051560"/>
          </a:xfrm>
          <a:prstGeom prst="rect">
            <a:avLst/>
          </a:prstGeom>
          <a:noFill/>
          <a:ln/>
        </p:spPr>
        <p:txBody>
          <a:bodyPr wrap="square" lIns="0" tIns="0" rIns="0" bIns="0" rtlCol="0" anchor="ctr"/>
          <a:lstStyle/>
          <a:p>
            <a:pPr algn="ctr" indent="0" marL="0">
              <a:buNone/>
            </a:pPr>
            <a:r>
              <a:rPr lang="en-US" sz="1150" b="1" dirty="0">
                <a:solidFill>
                  <a:srgbClr val="2E9E5B"/>
                </a:solidFill>
                <a:latin typeface="Courier New" pitchFamily="34" charset="0"/>
                <a:ea typeface="Courier New" pitchFamily="34" charset="-122"/>
                <a:cs typeface="Courier New" pitchFamily="34" charset="-120"/>
              </a:rPr>
              <a:t>%(message)s</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what happened</a:t>
            </a:r>
            <a:endParaRPr lang="en-US" sz="1300" dirty="0"/>
          </a:p>
        </p:txBody>
      </p:sp>
      <p:sp>
        <p:nvSpPr>
          <p:cNvPr id="15" name="transbox|b4"/>
          <p:cNvSpPr/>
          <p:nvPr/>
        </p:nvSpPr>
        <p:spPr>
          <a:xfrm>
            <a:off x="5669280" y="2834640"/>
            <a:ext cx="3108960" cy="1280160"/>
          </a:xfrm>
          <a:prstGeom prst="roundRect">
            <a:avLst>
              <a:gd name="adj" fmla="val 7143"/>
            </a:avLst>
          </a:prstGeom>
          <a:solidFill>
            <a:srgbClr val="F1F4F8"/>
          </a:solidFill>
          <a:ln w="12700">
            <a:solidFill>
              <a:srgbClr val="F1F4F8"/>
            </a:solidFill>
            <a:prstDash val="solid"/>
          </a:ln>
        </p:spPr>
      </p:sp>
      <p:sp>
        <p:nvSpPr>
          <p:cNvPr id="16" name="trans|b4"/>
          <p:cNvSpPr txBox="1"/>
          <p:nvPr/>
        </p:nvSpPr>
        <p:spPr>
          <a:xfrm>
            <a:off x="5806440" y="2907792"/>
            <a:ext cx="2834640" cy="113385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INFO - info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WARNING - warning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ERROR - error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CRITICAL - critical message</a:t>
            </a:r>
            <a:endParaRPr lang="en-US" sz="1100" dirty="0"/>
          </a:p>
        </p:txBody>
      </p:sp>
      <p:sp>
        <p:nvSpPr>
          <p:cNvPr id="17" name="transcap|b4"/>
          <p:cNvSpPr txBox="1"/>
          <p:nvPr/>
        </p:nvSpPr>
        <p:spPr>
          <a:xfrm>
            <a:off x="5669280" y="4142232"/>
            <a:ext cx="3108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Basic config, Log format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6" fill="hold">
                      <p:stCondLst>
                        <p:cond delay="indefinite"/>
                      </p:stCondLst>
                      <p:childTnLst>
                        <p:par>
                          <p:cTn id="37"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Five levels, each with a number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message is shown when its level is at least the threshold</a:t>
            </a:r>
            <a:endParaRPr lang="en-US" sz="1400" dirty="0"/>
          </a:p>
        </p:txBody>
      </p:sp>
      <p:sp>
        <p:nvSpPr>
          <p:cNvPr id="6" name="stair"/>
          <p:cNvSpPr/>
          <p:nvPr/>
        </p:nvSpPr>
        <p:spPr>
          <a:xfrm>
            <a:off x="548640" y="2743200"/>
            <a:ext cx="1521562" cy="640080"/>
          </a:xfrm>
          <a:prstGeom prst="roundRect">
            <a:avLst>
              <a:gd name="adj" fmla="val 11429"/>
            </a:avLst>
          </a:prstGeom>
          <a:solidFill>
            <a:srgbClr val="E3EEF8"/>
          </a:solidFill>
          <a:ln w="25400">
            <a:solidFill>
              <a:srgbClr val="306998"/>
            </a:solidFill>
            <a:prstDash val="solid"/>
          </a:ln>
        </p:spPr>
      </p:sp>
      <p:sp>
        <p:nvSpPr>
          <p:cNvPr id="7" name="stairt"/>
          <p:cNvSpPr txBox="1"/>
          <p:nvPr/>
        </p:nvSpPr>
        <p:spPr>
          <a:xfrm>
            <a:off x="548640" y="2743200"/>
            <a:ext cx="1521562" cy="640080"/>
          </a:xfrm>
          <a:prstGeom prst="rect">
            <a:avLst/>
          </a:prstGeom>
          <a:noFill/>
          <a:ln/>
        </p:spPr>
        <p:txBody>
          <a:bodyPr wrap="square" lIns="0" tIns="0" rIns="0" bIns="0" rtlCol="0" anchor="ctr"/>
          <a:lstStyle/>
          <a:p>
            <a:pPr algn="ctr" indent="0" marL="0">
              <a:buNone/>
            </a:pPr>
            <a:r>
              <a:rPr lang="en-US" sz="1400" b="1" dirty="0">
                <a:solidFill>
                  <a:srgbClr val="306998"/>
                </a:solidFill>
                <a:latin typeface="Courier New" pitchFamily="34" charset="0"/>
                <a:ea typeface="Courier New" pitchFamily="34" charset="-122"/>
                <a:cs typeface="Courier New" pitchFamily="34" charset="-120"/>
              </a:rPr>
              <a:t>DEBUG</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10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logging.debug()</a:t>
            </a:r>
            <a:endParaRPr lang="en-US" sz="1300" dirty="0"/>
          </a:p>
        </p:txBody>
      </p:sp>
      <p:sp>
        <p:nvSpPr>
          <p:cNvPr id="8" name="stair"/>
          <p:cNvSpPr/>
          <p:nvPr/>
        </p:nvSpPr>
        <p:spPr>
          <a:xfrm>
            <a:off x="2179930" y="2414016"/>
            <a:ext cx="1521562" cy="969264"/>
          </a:xfrm>
          <a:prstGeom prst="roundRect">
            <a:avLst>
              <a:gd name="adj" fmla="val 7547"/>
            </a:avLst>
          </a:prstGeom>
          <a:solidFill>
            <a:srgbClr val="E3EEF8"/>
          </a:solidFill>
          <a:ln w="25400">
            <a:solidFill>
              <a:srgbClr val="306998"/>
            </a:solidFill>
            <a:prstDash val="solid"/>
          </a:ln>
        </p:spPr>
      </p:sp>
      <p:sp>
        <p:nvSpPr>
          <p:cNvPr id="9" name="stairt"/>
          <p:cNvSpPr txBox="1"/>
          <p:nvPr/>
        </p:nvSpPr>
        <p:spPr>
          <a:xfrm>
            <a:off x="2179930" y="2414016"/>
            <a:ext cx="1521562" cy="969264"/>
          </a:xfrm>
          <a:prstGeom prst="rect">
            <a:avLst/>
          </a:prstGeom>
          <a:noFill/>
          <a:ln/>
        </p:spPr>
        <p:txBody>
          <a:bodyPr wrap="square" lIns="0" tIns="0" rIns="0" bIns="0" rtlCol="0" anchor="ctr"/>
          <a:lstStyle/>
          <a:p>
            <a:pPr algn="ctr" indent="0" marL="0">
              <a:buNone/>
            </a:pPr>
            <a:r>
              <a:rPr lang="en-US" sz="1400" b="1" dirty="0">
                <a:solidFill>
                  <a:srgbClr val="306998"/>
                </a:solidFill>
                <a:latin typeface="Courier New" pitchFamily="34" charset="0"/>
                <a:ea typeface="Courier New" pitchFamily="34" charset="-122"/>
                <a:cs typeface="Courier New" pitchFamily="34" charset="-120"/>
              </a:rPr>
              <a:t>INFO</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20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logging.info()</a:t>
            </a:r>
            <a:endParaRPr lang="en-US" sz="1300" dirty="0"/>
          </a:p>
        </p:txBody>
      </p:sp>
      <p:sp>
        <p:nvSpPr>
          <p:cNvPr id="10" name="stair"/>
          <p:cNvSpPr/>
          <p:nvPr/>
        </p:nvSpPr>
        <p:spPr>
          <a:xfrm>
            <a:off x="3811219" y="2084832"/>
            <a:ext cx="1521562" cy="1298448"/>
          </a:xfrm>
          <a:prstGeom prst="roundRect">
            <a:avLst>
              <a:gd name="adj" fmla="val 5634"/>
            </a:avLst>
          </a:prstGeom>
          <a:solidFill>
            <a:srgbClr val="FCEFD0"/>
          </a:solidFill>
          <a:ln w="25400">
            <a:solidFill>
              <a:srgbClr val="B7791F"/>
            </a:solidFill>
            <a:prstDash val="solid"/>
          </a:ln>
        </p:spPr>
      </p:sp>
      <p:sp>
        <p:nvSpPr>
          <p:cNvPr id="11" name="stairt"/>
          <p:cNvSpPr txBox="1"/>
          <p:nvPr/>
        </p:nvSpPr>
        <p:spPr>
          <a:xfrm>
            <a:off x="3811219" y="2084832"/>
            <a:ext cx="1521562" cy="1298448"/>
          </a:xfrm>
          <a:prstGeom prst="rect">
            <a:avLst/>
          </a:prstGeom>
          <a:noFill/>
          <a:ln/>
        </p:spPr>
        <p:txBody>
          <a:bodyPr wrap="square" lIns="0" tIns="0" rIns="0" bIns="0" rtlCol="0" anchor="ctr"/>
          <a:lstStyle/>
          <a:p>
            <a:pPr algn="ctr" indent="0" marL="0">
              <a:buNone/>
            </a:pPr>
            <a:r>
              <a:rPr lang="en-US" sz="1400" b="1" dirty="0">
                <a:solidFill>
                  <a:srgbClr val="B7791F"/>
                </a:solidFill>
                <a:latin typeface="Courier New" pitchFamily="34" charset="0"/>
                <a:ea typeface="Courier New" pitchFamily="34" charset="-122"/>
                <a:cs typeface="Courier New" pitchFamily="34" charset="-120"/>
              </a:rPr>
              <a:t>WARNING</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30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logging.warning()</a:t>
            </a:r>
            <a:endParaRPr lang="en-US" sz="1300" dirty="0"/>
          </a:p>
        </p:txBody>
      </p:sp>
      <p:sp>
        <p:nvSpPr>
          <p:cNvPr id="12" name="stair"/>
          <p:cNvSpPr/>
          <p:nvPr/>
        </p:nvSpPr>
        <p:spPr>
          <a:xfrm>
            <a:off x="5442509" y="1755648"/>
            <a:ext cx="1521562" cy="1627632"/>
          </a:xfrm>
          <a:prstGeom prst="roundRect">
            <a:avLst>
              <a:gd name="adj" fmla="val 4808"/>
            </a:avLst>
          </a:prstGeom>
          <a:solidFill>
            <a:srgbClr val="FBE1E1"/>
          </a:solidFill>
          <a:ln w="25400">
            <a:solidFill>
              <a:srgbClr val="D64545"/>
            </a:solidFill>
            <a:prstDash val="solid"/>
          </a:ln>
        </p:spPr>
      </p:sp>
      <p:sp>
        <p:nvSpPr>
          <p:cNvPr id="13" name="stairt"/>
          <p:cNvSpPr txBox="1"/>
          <p:nvPr/>
        </p:nvSpPr>
        <p:spPr>
          <a:xfrm>
            <a:off x="5442509" y="1755648"/>
            <a:ext cx="1521562" cy="1627632"/>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ERROR</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40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logging.error()</a:t>
            </a:r>
            <a:endParaRPr lang="en-US" sz="1300" dirty="0"/>
          </a:p>
        </p:txBody>
      </p:sp>
      <p:sp>
        <p:nvSpPr>
          <p:cNvPr id="14" name="stair"/>
          <p:cNvSpPr/>
          <p:nvPr/>
        </p:nvSpPr>
        <p:spPr>
          <a:xfrm>
            <a:off x="7073798" y="1426464"/>
            <a:ext cx="1521562" cy="1956816"/>
          </a:xfrm>
          <a:prstGeom prst="roundRect">
            <a:avLst>
              <a:gd name="adj" fmla="val 4808"/>
            </a:avLst>
          </a:prstGeom>
          <a:solidFill>
            <a:srgbClr val="FBE1E1"/>
          </a:solidFill>
          <a:ln w="25400">
            <a:solidFill>
              <a:srgbClr val="D64545"/>
            </a:solidFill>
            <a:prstDash val="solid"/>
          </a:ln>
        </p:spPr>
      </p:sp>
      <p:sp>
        <p:nvSpPr>
          <p:cNvPr id="15" name="stairt"/>
          <p:cNvSpPr txBox="1"/>
          <p:nvPr/>
        </p:nvSpPr>
        <p:spPr>
          <a:xfrm>
            <a:off x="7073798" y="1426464"/>
            <a:ext cx="1521562" cy="1956816"/>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CRITICAL</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50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logging.critical()</a:t>
            </a:r>
            <a:endParaRPr lang="en-US" sz="1300" dirty="0"/>
          </a:p>
        </p:txBody>
      </p:sp>
      <p:sp>
        <p:nvSpPr>
          <p:cNvPr id="16" name="hide|b1"/>
          <p:cNvSpPr/>
          <p:nvPr/>
        </p:nvSpPr>
        <p:spPr>
          <a:xfrm>
            <a:off x="548640" y="2743200"/>
            <a:ext cx="1521562" cy="640080"/>
          </a:xfrm>
          <a:prstGeom prst="roundRect">
            <a:avLst>
              <a:gd name="adj" fmla="val 11429"/>
            </a:avLst>
          </a:prstGeom>
          <a:solidFill>
            <a:srgbClr val="DDE3EA"/>
          </a:solidFill>
          <a:ln w="12700">
            <a:solidFill>
              <a:srgbClr val="DDE3EA"/>
            </a:solidFill>
            <a:prstDash val="solid"/>
          </a:ln>
        </p:spPr>
      </p:sp>
      <p:sp>
        <p:nvSpPr>
          <p:cNvPr id="17" name="hidet|b1"/>
          <p:cNvSpPr txBox="1"/>
          <p:nvPr/>
        </p:nvSpPr>
        <p:spPr>
          <a:xfrm>
            <a:off x="548640" y="2743200"/>
            <a:ext cx="1521562" cy="274320"/>
          </a:xfrm>
          <a:prstGeom prst="rect">
            <a:avLst/>
          </a:prstGeom>
          <a:noFill/>
          <a:ln/>
        </p:spPr>
        <p:txBody>
          <a:bodyPr wrap="square" lIns="0" tIns="0" rIns="0" bIns="0" rtlCol="0" anchor="ctr"/>
          <a:lstStyle/>
          <a:p>
            <a:pPr algn="ctr" indent="0" marL="0">
              <a:buNone/>
            </a:pPr>
            <a:r>
              <a:rPr lang="en-US" sz="1100" b="1" dirty="0">
                <a:solidFill>
                  <a:srgbClr val="5B6B7B"/>
                </a:solidFill>
                <a:latin typeface="Calibri" pitchFamily="34" charset="0"/>
                <a:ea typeface="Calibri" pitchFamily="34" charset="-122"/>
                <a:cs typeface="Calibri" pitchFamily="34" charset="-120"/>
              </a:rPr>
              <a:t>hidden</a:t>
            </a:r>
            <a:endParaRPr lang="en-US" sz="1100" dirty="0"/>
          </a:p>
        </p:txBody>
      </p:sp>
      <p:sp>
        <p:nvSpPr>
          <p:cNvPr id="18" name="hide|b1"/>
          <p:cNvSpPr/>
          <p:nvPr/>
        </p:nvSpPr>
        <p:spPr>
          <a:xfrm>
            <a:off x="2179930" y="2414016"/>
            <a:ext cx="1521562" cy="969264"/>
          </a:xfrm>
          <a:prstGeom prst="roundRect">
            <a:avLst>
              <a:gd name="adj" fmla="val 7547"/>
            </a:avLst>
          </a:prstGeom>
          <a:solidFill>
            <a:srgbClr val="DDE3EA"/>
          </a:solidFill>
          <a:ln w="12700">
            <a:solidFill>
              <a:srgbClr val="DDE3EA"/>
            </a:solidFill>
            <a:prstDash val="solid"/>
          </a:ln>
        </p:spPr>
      </p:sp>
      <p:sp>
        <p:nvSpPr>
          <p:cNvPr id="19" name="hidet|b1"/>
          <p:cNvSpPr txBox="1"/>
          <p:nvPr/>
        </p:nvSpPr>
        <p:spPr>
          <a:xfrm>
            <a:off x="2179930" y="2414016"/>
            <a:ext cx="1521562" cy="274320"/>
          </a:xfrm>
          <a:prstGeom prst="rect">
            <a:avLst/>
          </a:prstGeom>
          <a:noFill/>
          <a:ln/>
        </p:spPr>
        <p:txBody>
          <a:bodyPr wrap="square" lIns="0" tIns="0" rIns="0" bIns="0" rtlCol="0" anchor="ctr"/>
          <a:lstStyle/>
          <a:p>
            <a:pPr algn="ctr" indent="0" marL="0">
              <a:buNone/>
            </a:pPr>
            <a:r>
              <a:rPr lang="en-US" sz="1100" b="1" dirty="0">
                <a:solidFill>
                  <a:srgbClr val="5B6B7B"/>
                </a:solidFill>
                <a:latin typeface="Calibri" pitchFamily="34" charset="0"/>
                <a:ea typeface="Calibri" pitchFamily="34" charset="-122"/>
                <a:cs typeface="Calibri" pitchFamily="34" charset="-120"/>
              </a:rPr>
              <a:t>hidden</a:t>
            </a:r>
            <a:endParaRPr lang="en-US" sz="1100" dirty="0"/>
          </a:p>
        </p:txBody>
      </p:sp>
      <p:sp>
        <p:nvSpPr>
          <p:cNvPr id="20" name="arrow|b1"/>
          <p:cNvSpPr/>
          <p:nvPr/>
        </p:nvSpPr>
        <p:spPr>
          <a:xfrm>
            <a:off x="502920" y="2029968"/>
            <a:ext cx="8138160" cy="0"/>
          </a:xfrm>
          <a:prstGeom prst="line">
            <a:avLst/>
          </a:prstGeom>
          <a:noFill/>
          <a:ln w="31750">
            <a:solidFill>
              <a:srgbClr val="D64545"/>
            </a:solidFill>
            <a:prstDash val="dash"/>
          </a:ln>
        </p:spPr>
      </p:sp>
      <p:sp>
        <p:nvSpPr>
          <p:cNvPr id="21" name="thr|b1"/>
          <p:cNvSpPr txBox="1"/>
          <p:nvPr/>
        </p:nvSpPr>
        <p:spPr>
          <a:xfrm>
            <a:off x="640080" y="1682496"/>
            <a:ext cx="7863840" cy="274320"/>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level=logging.WARNING: a message at or above the line is shown</a:t>
            </a:r>
            <a:endParaRPr lang="en-US" sz="1200" dirty="0"/>
          </a:p>
        </p:txBody>
      </p:sp>
      <p:sp>
        <p:nvSpPr>
          <p:cNvPr id="22" name="x"/>
          <p:cNvSpPr/>
          <p:nvPr/>
        </p:nvSpPr>
        <p:spPr>
          <a:xfrm>
            <a:off x="457200" y="3611880"/>
            <a:ext cx="8229600" cy="822960"/>
          </a:xfrm>
          <a:prstGeom prst="roundRect">
            <a:avLst>
              <a:gd name="adj" fmla="val 11111"/>
            </a:avLst>
          </a:prstGeom>
          <a:solidFill>
            <a:srgbClr val="17202B"/>
          </a:solidFill>
          <a:ln w="12700">
            <a:solidFill>
              <a:srgbClr val="17202B"/>
            </a:solidFill>
            <a:prstDash val="solid"/>
          </a:ln>
        </p:spPr>
      </p:sp>
      <p:sp>
        <p:nvSpPr>
          <p:cNvPr id="23" name="codecard"/>
          <p:cNvSpPr txBox="1"/>
          <p:nvPr/>
        </p:nvSpPr>
        <p:spPr>
          <a:xfrm>
            <a:off x="640080" y="3721608"/>
            <a:ext cx="7863840" cy="60350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[(n, getattr(__import__('logging'), n)) for n in ('DEBUG', 'INFO', 'WARNING', 'ERROR', 'CRITICAL')]</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[('DEBUG', 10), ('INFO', 20), ('WARNING', 30), ('ERROR', 40), ('CRITICAL', 50)]</a:t>
            </a:r>
            <a:endParaRPr lang="en-US" sz="1200" dirty="0"/>
          </a:p>
        </p:txBody>
      </p:sp>
      <p:sp>
        <p:nvSpPr>
          <p:cNvPr id="24" name="x"/>
          <p:cNvSpPr txBox="1"/>
          <p:nvPr/>
        </p:nvSpPr>
        <p:spPr>
          <a:xfrm>
            <a:off x="457200" y="446227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Logging levels, Level threshold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Choose a threshold, see what is shown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Each column is a real run of the same five calls</a:t>
            </a:r>
            <a:endParaRPr lang="en-US" sz="1400" dirty="0"/>
          </a:p>
        </p:txBody>
      </p:sp>
      <p:sp>
        <p:nvSpPr>
          <p:cNvPr id="6" name="v:LevelThreshold:m0"/>
          <p:cNvSpPr txBox="1"/>
          <p:nvPr/>
        </p:nvSpPr>
        <p:spPr>
          <a:xfrm>
            <a:off x="411480" y="16367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logging.debug('debug message')</a:t>
            </a:r>
            <a:endParaRPr lang="en-US" sz="900" dirty="0"/>
          </a:p>
        </p:txBody>
      </p:sp>
      <p:sp>
        <p:nvSpPr>
          <p:cNvPr id="7" name="v:LevelThreshold:m1"/>
          <p:cNvSpPr txBox="1"/>
          <p:nvPr/>
        </p:nvSpPr>
        <p:spPr>
          <a:xfrm>
            <a:off x="411480" y="20939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logging.info('info message')</a:t>
            </a:r>
            <a:endParaRPr lang="en-US" sz="900" dirty="0"/>
          </a:p>
        </p:txBody>
      </p:sp>
      <p:sp>
        <p:nvSpPr>
          <p:cNvPr id="8" name="v:LevelThreshold:m2"/>
          <p:cNvSpPr txBox="1"/>
          <p:nvPr/>
        </p:nvSpPr>
        <p:spPr>
          <a:xfrm>
            <a:off x="411480" y="25511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logging.warning('warning message')</a:t>
            </a:r>
            <a:endParaRPr lang="en-US" sz="900" dirty="0"/>
          </a:p>
        </p:txBody>
      </p:sp>
      <p:sp>
        <p:nvSpPr>
          <p:cNvPr id="9" name="v:LevelThreshold:m3"/>
          <p:cNvSpPr txBox="1"/>
          <p:nvPr/>
        </p:nvSpPr>
        <p:spPr>
          <a:xfrm>
            <a:off x="411480" y="30083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logging.error('error message')</a:t>
            </a:r>
            <a:endParaRPr lang="en-US" sz="900" dirty="0"/>
          </a:p>
        </p:txBody>
      </p:sp>
      <p:sp>
        <p:nvSpPr>
          <p:cNvPr id="10" name="v:LevelThreshold:m4"/>
          <p:cNvSpPr txBox="1"/>
          <p:nvPr/>
        </p:nvSpPr>
        <p:spPr>
          <a:xfrm>
            <a:off x="411480" y="34655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logging.critical('critical message')</a:t>
            </a:r>
            <a:endParaRPr lang="en-US" sz="900" dirty="0"/>
          </a:p>
        </p:txBody>
      </p:sp>
      <p:sp>
        <p:nvSpPr>
          <p:cNvPr id="11" name="lvhead|b1"/>
          <p:cNvSpPr/>
          <p:nvPr/>
        </p:nvSpPr>
        <p:spPr>
          <a:xfrm>
            <a:off x="2697480" y="1234440"/>
            <a:ext cx="832104" cy="365760"/>
          </a:xfrm>
          <a:prstGeom prst="rect">
            <a:avLst/>
          </a:prstGeom>
          <a:solidFill>
            <a:srgbClr val="1E2A3A"/>
          </a:solidFill>
          <a:ln w="12700">
            <a:solidFill>
              <a:srgbClr val="1E2A3A"/>
            </a:solidFill>
            <a:prstDash val="solid"/>
          </a:ln>
        </p:spPr>
      </p:sp>
      <p:sp>
        <p:nvSpPr>
          <p:cNvPr id="12" name="v:LevelThreshold:h0|b1"/>
          <p:cNvSpPr txBox="1"/>
          <p:nvPr/>
        </p:nvSpPr>
        <p:spPr>
          <a:xfrm>
            <a:off x="271576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no </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basicConfig</a:t>
            </a:r>
            <a:endParaRPr lang="en-US" sz="850" dirty="0"/>
          </a:p>
        </p:txBody>
      </p:sp>
      <p:sp>
        <p:nvSpPr>
          <p:cNvPr id="13" name="lvcellbox|b1"/>
          <p:cNvSpPr/>
          <p:nvPr/>
        </p:nvSpPr>
        <p:spPr>
          <a:xfrm>
            <a:off x="2697480" y="1636776"/>
            <a:ext cx="832104" cy="411480"/>
          </a:xfrm>
          <a:prstGeom prst="rect">
            <a:avLst/>
          </a:prstGeom>
          <a:solidFill>
            <a:srgbClr val="F1F4F8"/>
          </a:solidFill>
          <a:ln w="12700">
            <a:solidFill>
              <a:srgbClr val="F1F4F8"/>
            </a:solidFill>
            <a:prstDash val="solid"/>
          </a:ln>
        </p:spPr>
      </p:sp>
      <p:sp>
        <p:nvSpPr>
          <p:cNvPr id="14" name="v:LevelThreshold:c0r0|b1"/>
          <p:cNvSpPr txBox="1"/>
          <p:nvPr/>
        </p:nvSpPr>
        <p:spPr>
          <a:xfrm>
            <a:off x="269748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15" name="lvcellbox|b1"/>
          <p:cNvSpPr/>
          <p:nvPr/>
        </p:nvSpPr>
        <p:spPr>
          <a:xfrm>
            <a:off x="2697480" y="2093976"/>
            <a:ext cx="832104" cy="411480"/>
          </a:xfrm>
          <a:prstGeom prst="rect">
            <a:avLst/>
          </a:prstGeom>
          <a:solidFill>
            <a:srgbClr val="F1F4F8"/>
          </a:solidFill>
          <a:ln w="12700">
            <a:solidFill>
              <a:srgbClr val="F1F4F8"/>
            </a:solidFill>
            <a:prstDash val="solid"/>
          </a:ln>
        </p:spPr>
      </p:sp>
      <p:sp>
        <p:nvSpPr>
          <p:cNvPr id="16" name="v:LevelThreshold:c0r1|b1"/>
          <p:cNvSpPr txBox="1"/>
          <p:nvPr/>
        </p:nvSpPr>
        <p:spPr>
          <a:xfrm>
            <a:off x="269748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17" name="lvcellbox|b1"/>
          <p:cNvSpPr/>
          <p:nvPr/>
        </p:nvSpPr>
        <p:spPr>
          <a:xfrm>
            <a:off x="2697480" y="2551176"/>
            <a:ext cx="832104" cy="411480"/>
          </a:xfrm>
          <a:prstGeom prst="rect">
            <a:avLst/>
          </a:prstGeom>
          <a:solidFill>
            <a:srgbClr val="DDF3E6"/>
          </a:solidFill>
          <a:ln w="12700">
            <a:solidFill>
              <a:srgbClr val="2E9E5B"/>
            </a:solidFill>
            <a:prstDash val="solid"/>
          </a:ln>
        </p:spPr>
      </p:sp>
      <p:sp>
        <p:nvSpPr>
          <p:cNvPr id="18" name="v:LevelThreshold:c0r2|b1"/>
          <p:cNvSpPr txBox="1"/>
          <p:nvPr/>
        </p:nvSpPr>
        <p:spPr>
          <a:xfrm>
            <a:off x="269748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19" name="lvcellbox|b1"/>
          <p:cNvSpPr/>
          <p:nvPr/>
        </p:nvSpPr>
        <p:spPr>
          <a:xfrm>
            <a:off x="2697480" y="3008376"/>
            <a:ext cx="832104" cy="411480"/>
          </a:xfrm>
          <a:prstGeom prst="rect">
            <a:avLst/>
          </a:prstGeom>
          <a:solidFill>
            <a:srgbClr val="DDF3E6"/>
          </a:solidFill>
          <a:ln w="12700">
            <a:solidFill>
              <a:srgbClr val="2E9E5B"/>
            </a:solidFill>
            <a:prstDash val="solid"/>
          </a:ln>
        </p:spPr>
      </p:sp>
      <p:sp>
        <p:nvSpPr>
          <p:cNvPr id="20" name="v:LevelThreshold:c0r3|b1"/>
          <p:cNvSpPr txBox="1"/>
          <p:nvPr/>
        </p:nvSpPr>
        <p:spPr>
          <a:xfrm>
            <a:off x="269748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1" name="lvcellbox|b1"/>
          <p:cNvSpPr/>
          <p:nvPr/>
        </p:nvSpPr>
        <p:spPr>
          <a:xfrm>
            <a:off x="2697480" y="3465576"/>
            <a:ext cx="832104" cy="411480"/>
          </a:xfrm>
          <a:prstGeom prst="rect">
            <a:avLst/>
          </a:prstGeom>
          <a:solidFill>
            <a:srgbClr val="DDF3E6"/>
          </a:solidFill>
          <a:ln w="12700">
            <a:solidFill>
              <a:srgbClr val="2E9E5B"/>
            </a:solidFill>
            <a:prstDash val="solid"/>
          </a:ln>
        </p:spPr>
      </p:sp>
      <p:sp>
        <p:nvSpPr>
          <p:cNvPr id="22" name="v:LevelThreshold:c0r4|b1"/>
          <p:cNvSpPr txBox="1"/>
          <p:nvPr/>
        </p:nvSpPr>
        <p:spPr>
          <a:xfrm>
            <a:off x="269748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3" name="lvhead|b2"/>
          <p:cNvSpPr/>
          <p:nvPr/>
        </p:nvSpPr>
        <p:spPr>
          <a:xfrm>
            <a:off x="3566160" y="1234440"/>
            <a:ext cx="832104" cy="365760"/>
          </a:xfrm>
          <a:prstGeom prst="rect">
            <a:avLst/>
          </a:prstGeom>
          <a:solidFill>
            <a:srgbClr val="1E2A3A"/>
          </a:solidFill>
          <a:ln w="12700">
            <a:solidFill>
              <a:srgbClr val="1E2A3A"/>
            </a:solidFill>
            <a:prstDash val="solid"/>
          </a:ln>
        </p:spPr>
      </p:sp>
      <p:sp>
        <p:nvSpPr>
          <p:cNvPr id="24" name="v:LevelThreshold:h1|b2"/>
          <p:cNvSpPr txBox="1"/>
          <p:nvPr/>
        </p:nvSpPr>
        <p:spPr>
          <a:xfrm>
            <a:off x="358444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DEBUG</a:t>
            </a:r>
            <a:endParaRPr lang="en-US" sz="850" dirty="0"/>
          </a:p>
        </p:txBody>
      </p:sp>
      <p:sp>
        <p:nvSpPr>
          <p:cNvPr id="25" name="lvcellbox|b2"/>
          <p:cNvSpPr/>
          <p:nvPr/>
        </p:nvSpPr>
        <p:spPr>
          <a:xfrm>
            <a:off x="3566160" y="1636776"/>
            <a:ext cx="832104" cy="411480"/>
          </a:xfrm>
          <a:prstGeom prst="rect">
            <a:avLst/>
          </a:prstGeom>
          <a:solidFill>
            <a:srgbClr val="DDF3E6"/>
          </a:solidFill>
          <a:ln w="12700">
            <a:solidFill>
              <a:srgbClr val="2E9E5B"/>
            </a:solidFill>
            <a:prstDash val="solid"/>
          </a:ln>
        </p:spPr>
      </p:sp>
      <p:sp>
        <p:nvSpPr>
          <p:cNvPr id="26" name="v:LevelThreshold:c1r0|b2"/>
          <p:cNvSpPr txBox="1"/>
          <p:nvPr/>
        </p:nvSpPr>
        <p:spPr>
          <a:xfrm>
            <a:off x="3566160" y="16367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7" name="lvcellbox|b2"/>
          <p:cNvSpPr/>
          <p:nvPr/>
        </p:nvSpPr>
        <p:spPr>
          <a:xfrm>
            <a:off x="3566160" y="2093976"/>
            <a:ext cx="832104" cy="411480"/>
          </a:xfrm>
          <a:prstGeom prst="rect">
            <a:avLst/>
          </a:prstGeom>
          <a:solidFill>
            <a:srgbClr val="DDF3E6"/>
          </a:solidFill>
          <a:ln w="12700">
            <a:solidFill>
              <a:srgbClr val="2E9E5B"/>
            </a:solidFill>
            <a:prstDash val="solid"/>
          </a:ln>
        </p:spPr>
      </p:sp>
      <p:sp>
        <p:nvSpPr>
          <p:cNvPr id="28" name="v:LevelThreshold:c1r1|b2"/>
          <p:cNvSpPr txBox="1"/>
          <p:nvPr/>
        </p:nvSpPr>
        <p:spPr>
          <a:xfrm>
            <a:off x="3566160" y="20939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9" name="lvcellbox|b2"/>
          <p:cNvSpPr/>
          <p:nvPr/>
        </p:nvSpPr>
        <p:spPr>
          <a:xfrm>
            <a:off x="3566160" y="2551176"/>
            <a:ext cx="832104" cy="411480"/>
          </a:xfrm>
          <a:prstGeom prst="rect">
            <a:avLst/>
          </a:prstGeom>
          <a:solidFill>
            <a:srgbClr val="DDF3E6"/>
          </a:solidFill>
          <a:ln w="12700">
            <a:solidFill>
              <a:srgbClr val="2E9E5B"/>
            </a:solidFill>
            <a:prstDash val="solid"/>
          </a:ln>
        </p:spPr>
      </p:sp>
      <p:sp>
        <p:nvSpPr>
          <p:cNvPr id="30" name="v:LevelThreshold:c1r2|b2"/>
          <p:cNvSpPr txBox="1"/>
          <p:nvPr/>
        </p:nvSpPr>
        <p:spPr>
          <a:xfrm>
            <a:off x="356616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1" name="lvcellbox|b2"/>
          <p:cNvSpPr/>
          <p:nvPr/>
        </p:nvSpPr>
        <p:spPr>
          <a:xfrm>
            <a:off x="3566160" y="3008376"/>
            <a:ext cx="832104" cy="411480"/>
          </a:xfrm>
          <a:prstGeom prst="rect">
            <a:avLst/>
          </a:prstGeom>
          <a:solidFill>
            <a:srgbClr val="DDF3E6"/>
          </a:solidFill>
          <a:ln w="12700">
            <a:solidFill>
              <a:srgbClr val="2E9E5B"/>
            </a:solidFill>
            <a:prstDash val="solid"/>
          </a:ln>
        </p:spPr>
      </p:sp>
      <p:sp>
        <p:nvSpPr>
          <p:cNvPr id="32" name="v:LevelThreshold:c1r3|b2"/>
          <p:cNvSpPr txBox="1"/>
          <p:nvPr/>
        </p:nvSpPr>
        <p:spPr>
          <a:xfrm>
            <a:off x="356616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3" name="lvcellbox|b2"/>
          <p:cNvSpPr/>
          <p:nvPr/>
        </p:nvSpPr>
        <p:spPr>
          <a:xfrm>
            <a:off x="3566160" y="3465576"/>
            <a:ext cx="832104" cy="411480"/>
          </a:xfrm>
          <a:prstGeom prst="rect">
            <a:avLst/>
          </a:prstGeom>
          <a:solidFill>
            <a:srgbClr val="DDF3E6"/>
          </a:solidFill>
          <a:ln w="12700">
            <a:solidFill>
              <a:srgbClr val="2E9E5B"/>
            </a:solidFill>
            <a:prstDash val="solid"/>
          </a:ln>
        </p:spPr>
      </p:sp>
      <p:sp>
        <p:nvSpPr>
          <p:cNvPr id="34" name="v:LevelThreshold:c1r4|b2"/>
          <p:cNvSpPr txBox="1"/>
          <p:nvPr/>
        </p:nvSpPr>
        <p:spPr>
          <a:xfrm>
            <a:off x="356616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5" name="lvhead|b3"/>
          <p:cNvSpPr/>
          <p:nvPr/>
        </p:nvSpPr>
        <p:spPr>
          <a:xfrm>
            <a:off x="4434840" y="1234440"/>
            <a:ext cx="832104" cy="365760"/>
          </a:xfrm>
          <a:prstGeom prst="rect">
            <a:avLst/>
          </a:prstGeom>
          <a:solidFill>
            <a:srgbClr val="1E2A3A"/>
          </a:solidFill>
          <a:ln w="12700">
            <a:solidFill>
              <a:srgbClr val="1E2A3A"/>
            </a:solidFill>
            <a:prstDash val="solid"/>
          </a:ln>
        </p:spPr>
      </p:sp>
      <p:sp>
        <p:nvSpPr>
          <p:cNvPr id="36" name="v:LevelThreshold:h2|b3"/>
          <p:cNvSpPr txBox="1"/>
          <p:nvPr/>
        </p:nvSpPr>
        <p:spPr>
          <a:xfrm>
            <a:off x="445312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INFO</a:t>
            </a:r>
            <a:endParaRPr lang="en-US" sz="850" dirty="0"/>
          </a:p>
        </p:txBody>
      </p:sp>
      <p:sp>
        <p:nvSpPr>
          <p:cNvPr id="37" name="lvcellbox|b3"/>
          <p:cNvSpPr/>
          <p:nvPr/>
        </p:nvSpPr>
        <p:spPr>
          <a:xfrm>
            <a:off x="4434840" y="1636776"/>
            <a:ext cx="832104" cy="411480"/>
          </a:xfrm>
          <a:prstGeom prst="rect">
            <a:avLst/>
          </a:prstGeom>
          <a:solidFill>
            <a:srgbClr val="F1F4F8"/>
          </a:solidFill>
          <a:ln w="12700">
            <a:solidFill>
              <a:srgbClr val="F1F4F8"/>
            </a:solidFill>
            <a:prstDash val="solid"/>
          </a:ln>
        </p:spPr>
      </p:sp>
      <p:sp>
        <p:nvSpPr>
          <p:cNvPr id="38" name="v:LevelThreshold:c2r0|b3"/>
          <p:cNvSpPr txBox="1"/>
          <p:nvPr/>
        </p:nvSpPr>
        <p:spPr>
          <a:xfrm>
            <a:off x="443484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39" name="lvcellbox|b3"/>
          <p:cNvSpPr/>
          <p:nvPr/>
        </p:nvSpPr>
        <p:spPr>
          <a:xfrm>
            <a:off x="4434840" y="2093976"/>
            <a:ext cx="832104" cy="411480"/>
          </a:xfrm>
          <a:prstGeom prst="rect">
            <a:avLst/>
          </a:prstGeom>
          <a:solidFill>
            <a:srgbClr val="DDF3E6"/>
          </a:solidFill>
          <a:ln w="12700">
            <a:solidFill>
              <a:srgbClr val="2E9E5B"/>
            </a:solidFill>
            <a:prstDash val="solid"/>
          </a:ln>
        </p:spPr>
      </p:sp>
      <p:sp>
        <p:nvSpPr>
          <p:cNvPr id="40" name="v:LevelThreshold:c2r1|b3"/>
          <p:cNvSpPr txBox="1"/>
          <p:nvPr/>
        </p:nvSpPr>
        <p:spPr>
          <a:xfrm>
            <a:off x="4434840" y="20939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1" name="lvcellbox|b3"/>
          <p:cNvSpPr/>
          <p:nvPr/>
        </p:nvSpPr>
        <p:spPr>
          <a:xfrm>
            <a:off x="4434840" y="2551176"/>
            <a:ext cx="832104" cy="411480"/>
          </a:xfrm>
          <a:prstGeom prst="rect">
            <a:avLst/>
          </a:prstGeom>
          <a:solidFill>
            <a:srgbClr val="DDF3E6"/>
          </a:solidFill>
          <a:ln w="12700">
            <a:solidFill>
              <a:srgbClr val="2E9E5B"/>
            </a:solidFill>
            <a:prstDash val="solid"/>
          </a:ln>
        </p:spPr>
      </p:sp>
      <p:sp>
        <p:nvSpPr>
          <p:cNvPr id="42" name="v:LevelThreshold:c2r2|b3"/>
          <p:cNvSpPr txBox="1"/>
          <p:nvPr/>
        </p:nvSpPr>
        <p:spPr>
          <a:xfrm>
            <a:off x="443484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3" name="lvcellbox|b3"/>
          <p:cNvSpPr/>
          <p:nvPr/>
        </p:nvSpPr>
        <p:spPr>
          <a:xfrm>
            <a:off x="4434840" y="3008376"/>
            <a:ext cx="832104" cy="411480"/>
          </a:xfrm>
          <a:prstGeom prst="rect">
            <a:avLst/>
          </a:prstGeom>
          <a:solidFill>
            <a:srgbClr val="DDF3E6"/>
          </a:solidFill>
          <a:ln w="12700">
            <a:solidFill>
              <a:srgbClr val="2E9E5B"/>
            </a:solidFill>
            <a:prstDash val="solid"/>
          </a:ln>
        </p:spPr>
      </p:sp>
      <p:sp>
        <p:nvSpPr>
          <p:cNvPr id="44" name="v:LevelThreshold:c2r3|b3"/>
          <p:cNvSpPr txBox="1"/>
          <p:nvPr/>
        </p:nvSpPr>
        <p:spPr>
          <a:xfrm>
            <a:off x="443484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5" name="lvcellbox|b3"/>
          <p:cNvSpPr/>
          <p:nvPr/>
        </p:nvSpPr>
        <p:spPr>
          <a:xfrm>
            <a:off x="4434840" y="3465576"/>
            <a:ext cx="832104" cy="411480"/>
          </a:xfrm>
          <a:prstGeom prst="rect">
            <a:avLst/>
          </a:prstGeom>
          <a:solidFill>
            <a:srgbClr val="DDF3E6"/>
          </a:solidFill>
          <a:ln w="12700">
            <a:solidFill>
              <a:srgbClr val="2E9E5B"/>
            </a:solidFill>
            <a:prstDash val="solid"/>
          </a:ln>
        </p:spPr>
      </p:sp>
      <p:sp>
        <p:nvSpPr>
          <p:cNvPr id="46" name="v:LevelThreshold:c2r4|b3"/>
          <p:cNvSpPr txBox="1"/>
          <p:nvPr/>
        </p:nvSpPr>
        <p:spPr>
          <a:xfrm>
            <a:off x="443484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7" name="lvhead|b4"/>
          <p:cNvSpPr/>
          <p:nvPr/>
        </p:nvSpPr>
        <p:spPr>
          <a:xfrm>
            <a:off x="5303520" y="1234440"/>
            <a:ext cx="832104" cy="365760"/>
          </a:xfrm>
          <a:prstGeom prst="rect">
            <a:avLst/>
          </a:prstGeom>
          <a:solidFill>
            <a:srgbClr val="1E2A3A"/>
          </a:solidFill>
          <a:ln w="12700">
            <a:solidFill>
              <a:srgbClr val="1E2A3A"/>
            </a:solidFill>
            <a:prstDash val="solid"/>
          </a:ln>
        </p:spPr>
      </p:sp>
      <p:sp>
        <p:nvSpPr>
          <p:cNvPr id="48" name="v:LevelThreshold:h3|b4"/>
          <p:cNvSpPr txBox="1"/>
          <p:nvPr/>
        </p:nvSpPr>
        <p:spPr>
          <a:xfrm>
            <a:off x="532180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WARNING</a:t>
            </a:r>
            <a:endParaRPr lang="en-US" sz="850" dirty="0"/>
          </a:p>
        </p:txBody>
      </p:sp>
      <p:sp>
        <p:nvSpPr>
          <p:cNvPr id="49" name="lvcellbox|b4"/>
          <p:cNvSpPr/>
          <p:nvPr/>
        </p:nvSpPr>
        <p:spPr>
          <a:xfrm>
            <a:off x="5303520" y="1636776"/>
            <a:ext cx="832104" cy="411480"/>
          </a:xfrm>
          <a:prstGeom prst="rect">
            <a:avLst/>
          </a:prstGeom>
          <a:solidFill>
            <a:srgbClr val="F1F4F8"/>
          </a:solidFill>
          <a:ln w="12700">
            <a:solidFill>
              <a:srgbClr val="F1F4F8"/>
            </a:solidFill>
            <a:prstDash val="solid"/>
          </a:ln>
        </p:spPr>
      </p:sp>
      <p:sp>
        <p:nvSpPr>
          <p:cNvPr id="50" name="v:LevelThreshold:c3r0|b4"/>
          <p:cNvSpPr txBox="1"/>
          <p:nvPr/>
        </p:nvSpPr>
        <p:spPr>
          <a:xfrm>
            <a:off x="530352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51" name="lvcellbox|b4"/>
          <p:cNvSpPr/>
          <p:nvPr/>
        </p:nvSpPr>
        <p:spPr>
          <a:xfrm>
            <a:off x="5303520" y="2093976"/>
            <a:ext cx="832104" cy="411480"/>
          </a:xfrm>
          <a:prstGeom prst="rect">
            <a:avLst/>
          </a:prstGeom>
          <a:solidFill>
            <a:srgbClr val="F1F4F8"/>
          </a:solidFill>
          <a:ln w="12700">
            <a:solidFill>
              <a:srgbClr val="F1F4F8"/>
            </a:solidFill>
            <a:prstDash val="solid"/>
          </a:ln>
        </p:spPr>
      </p:sp>
      <p:sp>
        <p:nvSpPr>
          <p:cNvPr id="52" name="v:LevelThreshold:c3r1|b4"/>
          <p:cNvSpPr txBox="1"/>
          <p:nvPr/>
        </p:nvSpPr>
        <p:spPr>
          <a:xfrm>
            <a:off x="530352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53" name="lvcellbox|b4"/>
          <p:cNvSpPr/>
          <p:nvPr/>
        </p:nvSpPr>
        <p:spPr>
          <a:xfrm>
            <a:off x="5303520" y="2551176"/>
            <a:ext cx="832104" cy="411480"/>
          </a:xfrm>
          <a:prstGeom prst="rect">
            <a:avLst/>
          </a:prstGeom>
          <a:solidFill>
            <a:srgbClr val="DDF3E6"/>
          </a:solidFill>
          <a:ln w="12700">
            <a:solidFill>
              <a:srgbClr val="2E9E5B"/>
            </a:solidFill>
            <a:prstDash val="solid"/>
          </a:ln>
        </p:spPr>
      </p:sp>
      <p:sp>
        <p:nvSpPr>
          <p:cNvPr id="54" name="v:LevelThreshold:c3r2|b4"/>
          <p:cNvSpPr txBox="1"/>
          <p:nvPr/>
        </p:nvSpPr>
        <p:spPr>
          <a:xfrm>
            <a:off x="530352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5" name="lvcellbox|b4"/>
          <p:cNvSpPr/>
          <p:nvPr/>
        </p:nvSpPr>
        <p:spPr>
          <a:xfrm>
            <a:off x="5303520" y="3008376"/>
            <a:ext cx="832104" cy="411480"/>
          </a:xfrm>
          <a:prstGeom prst="rect">
            <a:avLst/>
          </a:prstGeom>
          <a:solidFill>
            <a:srgbClr val="DDF3E6"/>
          </a:solidFill>
          <a:ln w="12700">
            <a:solidFill>
              <a:srgbClr val="2E9E5B"/>
            </a:solidFill>
            <a:prstDash val="solid"/>
          </a:ln>
        </p:spPr>
      </p:sp>
      <p:sp>
        <p:nvSpPr>
          <p:cNvPr id="56" name="v:LevelThreshold:c3r3|b4"/>
          <p:cNvSpPr txBox="1"/>
          <p:nvPr/>
        </p:nvSpPr>
        <p:spPr>
          <a:xfrm>
            <a:off x="530352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7" name="lvcellbox|b4"/>
          <p:cNvSpPr/>
          <p:nvPr/>
        </p:nvSpPr>
        <p:spPr>
          <a:xfrm>
            <a:off x="5303520" y="3465576"/>
            <a:ext cx="832104" cy="411480"/>
          </a:xfrm>
          <a:prstGeom prst="rect">
            <a:avLst/>
          </a:prstGeom>
          <a:solidFill>
            <a:srgbClr val="DDF3E6"/>
          </a:solidFill>
          <a:ln w="12700">
            <a:solidFill>
              <a:srgbClr val="2E9E5B"/>
            </a:solidFill>
            <a:prstDash val="solid"/>
          </a:ln>
        </p:spPr>
      </p:sp>
      <p:sp>
        <p:nvSpPr>
          <p:cNvPr id="58" name="v:LevelThreshold:c3r4|b4"/>
          <p:cNvSpPr txBox="1"/>
          <p:nvPr/>
        </p:nvSpPr>
        <p:spPr>
          <a:xfrm>
            <a:off x="530352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9" name="lvhead|b5"/>
          <p:cNvSpPr/>
          <p:nvPr/>
        </p:nvSpPr>
        <p:spPr>
          <a:xfrm>
            <a:off x="6172200" y="1234440"/>
            <a:ext cx="832104" cy="365760"/>
          </a:xfrm>
          <a:prstGeom prst="rect">
            <a:avLst/>
          </a:prstGeom>
          <a:solidFill>
            <a:srgbClr val="1E2A3A"/>
          </a:solidFill>
          <a:ln w="12700">
            <a:solidFill>
              <a:srgbClr val="1E2A3A"/>
            </a:solidFill>
            <a:prstDash val="solid"/>
          </a:ln>
        </p:spPr>
      </p:sp>
      <p:sp>
        <p:nvSpPr>
          <p:cNvPr id="60" name="v:LevelThreshold:h4|b5"/>
          <p:cNvSpPr txBox="1"/>
          <p:nvPr/>
        </p:nvSpPr>
        <p:spPr>
          <a:xfrm>
            <a:off x="619048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ERROR</a:t>
            </a:r>
            <a:endParaRPr lang="en-US" sz="850" dirty="0"/>
          </a:p>
        </p:txBody>
      </p:sp>
      <p:sp>
        <p:nvSpPr>
          <p:cNvPr id="61" name="lvcellbox|b5"/>
          <p:cNvSpPr/>
          <p:nvPr/>
        </p:nvSpPr>
        <p:spPr>
          <a:xfrm>
            <a:off x="6172200" y="1636776"/>
            <a:ext cx="832104" cy="411480"/>
          </a:xfrm>
          <a:prstGeom prst="rect">
            <a:avLst/>
          </a:prstGeom>
          <a:solidFill>
            <a:srgbClr val="F1F4F8"/>
          </a:solidFill>
          <a:ln w="12700">
            <a:solidFill>
              <a:srgbClr val="F1F4F8"/>
            </a:solidFill>
            <a:prstDash val="solid"/>
          </a:ln>
        </p:spPr>
      </p:sp>
      <p:sp>
        <p:nvSpPr>
          <p:cNvPr id="62" name="v:LevelThreshold:c4r0|b5"/>
          <p:cNvSpPr txBox="1"/>
          <p:nvPr/>
        </p:nvSpPr>
        <p:spPr>
          <a:xfrm>
            <a:off x="617220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3" name="lvcellbox|b5"/>
          <p:cNvSpPr/>
          <p:nvPr/>
        </p:nvSpPr>
        <p:spPr>
          <a:xfrm>
            <a:off x="6172200" y="2093976"/>
            <a:ext cx="832104" cy="411480"/>
          </a:xfrm>
          <a:prstGeom prst="rect">
            <a:avLst/>
          </a:prstGeom>
          <a:solidFill>
            <a:srgbClr val="F1F4F8"/>
          </a:solidFill>
          <a:ln w="12700">
            <a:solidFill>
              <a:srgbClr val="F1F4F8"/>
            </a:solidFill>
            <a:prstDash val="solid"/>
          </a:ln>
        </p:spPr>
      </p:sp>
      <p:sp>
        <p:nvSpPr>
          <p:cNvPr id="64" name="v:LevelThreshold:c4r1|b5"/>
          <p:cNvSpPr txBox="1"/>
          <p:nvPr/>
        </p:nvSpPr>
        <p:spPr>
          <a:xfrm>
            <a:off x="617220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5" name="lvcellbox|b5"/>
          <p:cNvSpPr/>
          <p:nvPr/>
        </p:nvSpPr>
        <p:spPr>
          <a:xfrm>
            <a:off x="6172200" y="2551176"/>
            <a:ext cx="832104" cy="411480"/>
          </a:xfrm>
          <a:prstGeom prst="rect">
            <a:avLst/>
          </a:prstGeom>
          <a:solidFill>
            <a:srgbClr val="F1F4F8"/>
          </a:solidFill>
          <a:ln w="12700">
            <a:solidFill>
              <a:srgbClr val="F1F4F8"/>
            </a:solidFill>
            <a:prstDash val="solid"/>
          </a:ln>
        </p:spPr>
      </p:sp>
      <p:sp>
        <p:nvSpPr>
          <p:cNvPr id="66" name="v:LevelThreshold:c4r2|b5"/>
          <p:cNvSpPr txBox="1"/>
          <p:nvPr/>
        </p:nvSpPr>
        <p:spPr>
          <a:xfrm>
            <a:off x="617220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7" name="lvcellbox|b5"/>
          <p:cNvSpPr/>
          <p:nvPr/>
        </p:nvSpPr>
        <p:spPr>
          <a:xfrm>
            <a:off x="6172200" y="3008376"/>
            <a:ext cx="832104" cy="411480"/>
          </a:xfrm>
          <a:prstGeom prst="rect">
            <a:avLst/>
          </a:prstGeom>
          <a:solidFill>
            <a:srgbClr val="DDF3E6"/>
          </a:solidFill>
          <a:ln w="12700">
            <a:solidFill>
              <a:srgbClr val="2E9E5B"/>
            </a:solidFill>
            <a:prstDash val="solid"/>
          </a:ln>
        </p:spPr>
      </p:sp>
      <p:sp>
        <p:nvSpPr>
          <p:cNvPr id="68" name="v:LevelThreshold:c4r3|b5"/>
          <p:cNvSpPr txBox="1"/>
          <p:nvPr/>
        </p:nvSpPr>
        <p:spPr>
          <a:xfrm>
            <a:off x="617220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69" name="lvcellbox|b5"/>
          <p:cNvSpPr/>
          <p:nvPr/>
        </p:nvSpPr>
        <p:spPr>
          <a:xfrm>
            <a:off x="6172200" y="3465576"/>
            <a:ext cx="832104" cy="411480"/>
          </a:xfrm>
          <a:prstGeom prst="rect">
            <a:avLst/>
          </a:prstGeom>
          <a:solidFill>
            <a:srgbClr val="DDF3E6"/>
          </a:solidFill>
          <a:ln w="12700">
            <a:solidFill>
              <a:srgbClr val="2E9E5B"/>
            </a:solidFill>
            <a:prstDash val="solid"/>
          </a:ln>
        </p:spPr>
      </p:sp>
      <p:sp>
        <p:nvSpPr>
          <p:cNvPr id="70" name="v:LevelThreshold:c4r4|b5"/>
          <p:cNvSpPr txBox="1"/>
          <p:nvPr/>
        </p:nvSpPr>
        <p:spPr>
          <a:xfrm>
            <a:off x="617220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71" name="lvhead|b6"/>
          <p:cNvSpPr/>
          <p:nvPr/>
        </p:nvSpPr>
        <p:spPr>
          <a:xfrm>
            <a:off x="7040880" y="1234440"/>
            <a:ext cx="832104" cy="365760"/>
          </a:xfrm>
          <a:prstGeom prst="rect">
            <a:avLst/>
          </a:prstGeom>
          <a:solidFill>
            <a:srgbClr val="1E2A3A"/>
          </a:solidFill>
          <a:ln w="12700">
            <a:solidFill>
              <a:srgbClr val="1E2A3A"/>
            </a:solidFill>
            <a:prstDash val="solid"/>
          </a:ln>
        </p:spPr>
      </p:sp>
      <p:sp>
        <p:nvSpPr>
          <p:cNvPr id="72" name="v:LevelThreshold:h5|b6"/>
          <p:cNvSpPr txBox="1"/>
          <p:nvPr/>
        </p:nvSpPr>
        <p:spPr>
          <a:xfrm>
            <a:off x="705916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CRITICAL</a:t>
            </a:r>
            <a:endParaRPr lang="en-US" sz="850" dirty="0"/>
          </a:p>
        </p:txBody>
      </p:sp>
      <p:sp>
        <p:nvSpPr>
          <p:cNvPr id="73" name="lvcellbox|b6"/>
          <p:cNvSpPr/>
          <p:nvPr/>
        </p:nvSpPr>
        <p:spPr>
          <a:xfrm>
            <a:off x="7040880" y="1636776"/>
            <a:ext cx="832104" cy="411480"/>
          </a:xfrm>
          <a:prstGeom prst="rect">
            <a:avLst/>
          </a:prstGeom>
          <a:solidFill>
            <a:srgbClr val="F1F4F8"/>
          </a:solidFill>
          <a:ln w="12700">
            <a:solidFill>
              <a:srgbClr val="F1F4F8"/>
            </a:solidFill>
            <a:prstDash val="solid"/>
          </a:ln>
        </p:spPr>
      </p:sp>
      <p:sp>
        <p:nvSpPr>
          <p:cNvPr id="74" name="v:LevelThreshold:c5r0|b6"/>
          <p:cNvSpPr txBox="1"/>
          <p:nvPr/>
        </p:nvSpPr>
        <p:spPr>
          <a:xfrm>
            <a:off x="704088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5" name="lvcellbox|b6"/>
          <p:cNvSpPr/>
          <p:nvPr/>
        </p:nvSpPr>
        <p:spPr>
          <a:xfrm>
            <a:off x="7040880" y="2093976"/>
            <a:ext cx="832104" cy="411480"/>
          </a:xfrm>
          <a:prstGeom prst="rect">
            <a:avLst/>
          </a:prstGeom>
          <a:solidFill>
            <a:srgbClr val="F1F4F8"/>
          </a:solidFill>
          <a:ln w="12700">
            <a:solidFill>
              <a:srgbClr val="F1F4F8"/>
            </a:solidFill>
            <a:prstDash val="solid"/>
          </a:ln>
        </p:spPr>
      </p:sp>
      <p:sp>
        <p:nvSpPr>
          <p:cNvPr id="76" name="v:LevelThreshold:c5r1|b6"/>
          <p:cNvSpPr txBox="1"/>
          <p:nvPr/>
        </p:nvSpPr>
        <p:spPr>
          <a:xfrm>
            <a:off x="704088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7" name="lvcellbox|b6"/>
          <p:cNvSpPr/>
          <p:nvPr/>
        </p:nvSpPr>
        <p:spPr>
          <a:xfrm>
            <a:off x="7040880" y="2551176"/>
            <a:ext cx="832104" cy="411480"/>
          </a:xfrm>
          <a:prstGeom prst="rect">
            <a:avLst/>
          </a:prstGeom>
          <a:solidFill>
            <a:srgbClr val="F1F4F8"/>
          </a:solidFill>
          <a:ln w="12700">
            <a:solidFill>
              <a:srgbClr val="F1F4F8"/>
            </a:solidFill>
            <a:prstDash val="solid"/>
          </a:ln>
        </p:spPr>
      </p:sp>
      <p:sp>
        <p:nvSpPr>
          <p:cNvPr id="78" name="v:LevelThreshold:c5r2|b6"/>
          <p:cNvSpPr txBox="1"/>
          <p:nvPr/>
        </p:nvSpPr>
        <p:spPr>
          <a:xfrm>
            <a:off x="704088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9" name="lvcellbox|b6"/>
          <p:cNvSpPr/>
          <p:nvPr/>
        </p:nvSpPr>
        <p:spPr>
          <a:xfrm>
            <a:off x="7040880" y="3008376"/>
            <a:ext cx="832104" cy="411480"/>
          </a:xfrm>
          <a:prstGeom prst="rect">
            <a:avLst/>
          </a:prstGeom>
          <a:solidFill>
            <a:srgbClr val="F1F4F8"/>
          </a:solidFill>
          <a:ln w="12700">
            <a:solidFill>
              <a:srgbClr val="F1F4F8"/>
            </a:solidFill>
            <a:prstDash val="solid"/>
          </a:ln>
        </p:spPr>
      </p:sp>
      <p:sp>
        <p:nvSpPr>
          <p:cNvPr id="80" name="v:LevelThreshold:c5r3|b6"/>
          <p:cNvSpPr txBox="1"/>
          <p:nvPr/>
        </p:nvSpPr>
        <p:spPr>
          <a:xfrm>
            <a:off x="7040880" y="30083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1" name="lvcellbox|b6"/>
          <p:cNvSpPr/>
          <p:nvPr/>
        </p:nvSpPr>
        <p:spPr>
          <a:xfrm>
            <a:off x="7040880" y="3465576"/>
            <a:ext cx="832104" cy="411480"/>
          </a:xfrm>
          <a:prstGeom prst="rect">
            <a:avLst/>
          </a:prstGeom>
          <a:solidFill>
            <a:srgbClr val="DDF3E6"/>
          </a:solidFill>
          <a:ln w="12700">
            <a:solidFill>
              <a:srgbClr val="2E9E5B"/>
            </a:solidFill>
            <a:prstDash val="solid"/>
          </a:ln>
        </p:spPr>
      </p:sp>
      <p:sp>
        <p:nvSpPr>
          <p:cNvPr id="82" name="v:LevelThreshold:c5r4|b6"/>
          <p:cNvSpPr txBox="1"/>
          <p:nvPr/>
        </p:nvSpPr>
        <p:spPr>
          <a:xfrm>
            <a:off x="704088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83" name="lvhead|b7"/>
          <p:cNvSpPr/>
          <p:nvPr/>
        </p:nvSpPr>
        <p:spPr>
          <a:xfrm>
            <a:off x="7909560" y="1234440"/>
            <a:ext cx="832104" cy="365760"/>
          </a:xfrm>
          <a:prstGeom prst="rect">
            <a:avLst/>
          </a:prstGeom>
          <a:solidFill>
            <a:srgbClr val="1E2A3A"/>
          </a:solidFill>
          <a:ln w="12700">
            <a:solidFill>
              <a:srgbClr val="1E2A3A"/>
            </a:solidFill>
            <a:prstDash val="solid"/>
          </a:ln>
        </p:spPr>
      </p:sp>
      <p:sp>
        <p:nvSpPr>
          <p:cNvPr id="84" name="v:LevelThreshold:h6|b7"/>
          <p:cNvSpPr txBox="1"/>
          <p:nvPr/>
        </p:nvSpPr>
        <p:spPr>
          <a:xfrm>
            <a:off x="792784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disable</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(CRITICAL)</a:t>
            </a:r>
            <a:endParaRPr lang="en-US" sz="850" dirty="0"/>
          </a:p>
        </p:txBody>
      </p:sp>
      <p:sp>
        <p:nvSpPr>
          <p:cNvPr id="85" name="lvcellbox|b7"/>
          <p:cNvSpPr/>
          <p:nvPr/>
        </p:nvSpPr>
        <p:spPr>
          <a:xfrm>
            <a:off x="7909560" y="1636776"/>
            <a:ext cx="832104" cy="411480"/>
          </a:xfrm>
          <a:prstGeom prst="rect">
            <a:avLst/>
          </a:prstGeom>
          <a:solidFill>
            <a:srgbClr val="F1F4F8"/>
          </a:solidFill>
          <a:ln w="12700">
            <a:solidFill>
              <a:srgbClr val="F1F4F8"/>
            </a:solidFill>
            <a:prstDash val="solid"/>
          </a:ln>
        </p:spPr>
      </p:sp>
      <p:sp>
        <p:nvSpPr>
          <p:cNvPr id="86" name="v:LevelThreshold:c6r0|b7"/>
          <p:cNvSpPr txBox="1"/>
          <p:nvPr/>
        </p:nvSpPr>
        <p:spPr>
          <a:xfrm>
            <a:off x="790956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7" name="lvcellbox|b7"/>
          <p:cNvSpPr/>
          <p:nvPr/>
        </p:nvSpPr>
        <p:spPr>
          <a:xfrm>
            <a:off x="7909560" y="2093976"/>
            <a:ext cx="832104" cy="411480"/>
          </a:xfrm>
          <a:prstGeom prst="rect">
            <a:avLst/>
          </a:prstGeom>
          <a:solidFill>
            <a:srgbClr val="F1F4F8"/>
          </a:solidFill>
          <a:ln w="12700">
            <a:solidFill>
              <a:srgbClr val="F1F4F8"/>
            </a:solidFill>
            <a:prstDash val="solid"/>
          </a:ln>
        </p:spPr>
      </p:sp>
      <p:sp>
        <p:nvSpPr>
          <p:cNvPr id="88" name="v:LevelThreshold:c6r1|b7"/>
          <p:cNvSpPr txBox="1"/>
          <p:nvPr/>
        </p:nvSpPr>
        <p:spPr>
          <a:xfrm>
            <a:off x="790956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9" name="lvcellbox|b7"/>
          <p:cNvSpPr/>
          <p:nvPr/>
        </p:nvSpPr>
        <p:spPr>
          <a:xfrm>
            <a:off x="7909560" y="2551176"/>
            <a:ext cx="832104" cy="411480"/>
          </a:xfrm>
          <a:prstGeom prst="rect">
            <a:avLst/>
          </a:prstGeom>
          <a:solidFill>
            <a:srgbClr val="F1F4F8"/>
          </a:solidFill>
          <a:ln w="12700">
            <a:solidFill>
              <a:srgbClr val="F1F4F8"/>
            </a:solidFill>
            <a:prstDash val="solid"/>
          </a:ln>
        </p:spPr>
      </p:sp>
      <p:sp>
        <p:nvSpPr>
          <p:cNvPr id="90" name="v:LevelThreshold:c6r2|b7"/>
          <p:cNvSpPr txBox="1"/>
          <p:nvPr/>
        </p:nvSpPr>
        <p:spPr>
          <a:xfrm>
            <a:off x="790956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1" name="lvcellbox|b7"/>
          <p:cNvSpPr/>
          <p:nvPr/>
        </p:nvSpPr>
        <p:spPr>
          <a:xfrm>
            <a:off x="7909560" y="3008376"/>
            <a:ext cx="832104" cy="411480"/>
          </a:xfrm>
          <a:prstGeom prst="rect">
            <a:avLst/>
          </a:prstGeom>
          <a:solidFill>
            <a:srgbClr val="F1F4F8"/>
          </a:solidFill>
          <a:ln w="12700">
            <a:solidFill>
              <a:srgbClr val="F1F4F8"/>
            </a:solidFill>
            <a:prstDash val="solid"/>
          </a:ln>
        </p:spPr>
      </p:sp>
      <p:sp>
        <p:nvSpPr>
          <p:cNvPr id="92" name="v:LevelThreshold:c6r3|b7"/>
          <p:cNvSpPr txBox="1"/>
          <p:nvPr/>
        </p:nvSpPr>
        <p:spPr>
          <a:xfrm>
            <a:off x="7909560" y="30083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3" name="lvcellbox|b7"/>
          <p:cNvSpPr/>
          <p:nvPr/>
        </p:nvSpPr>
        <p:spPr>
          <a:xfrm>
            <a:off x="7909560" y="3465576"/>
            <a:ext cx="832104" cy="411480"/>
          </a:xfrm>
          <a:prstGeom prst="rect">
            <a:avLst/>
          </a:prstGeom>
          <a:solidFill>
            <a:srgbClr val="F1F4F8"/>
          </a:solidFill>
          <a:ln w="12700">
            <a:solidFill>
              <a:srgbClr val="F1F4F8"/>
            </a:solidFill>
            <a:prstDash val="solid"/>
          </a:ln>
        </p:spPr>
      </p:sp>
      <p:sp>
        <p:nvSpPr>
          <p:cNvPr id="94" name="v:LevelThreshold:c6r4|b7"/>
          <p:cNvSpPr txBox="1"/>
          <p:nvPr/>
        </p:nvSpPr>
        <p:spPr>
          <a:xfrm>
            <a:off x="7909560" y="34655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5" name="say"/>
          <p:cNvSpPr txBox="1"/>
          <p:nvPr/>
        </p:nvSpPr>
        <p:spPr>
          <a:xfrm>
            <a:off x="365760" y="4023360"/>
            <a:ext cx="8412480"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Raising the threshold hides the lower levels without deleting a single call. The first column is what happens with no setup at all; the last shows logging.disable(CRITICAL).</a:t>
            </a:r>
            <a:endParaRPr lang="en-US" sz="1300" dirty="0"/>
          </a:p>
        </p:txBody>
      </p:sp>
      <p:sp>
        <p:nvSpPr>
          <p:cNvPr id="9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9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9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Level threshold (choose the level yourself)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par>
                                <p:cTn id="15" presetID="10"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par>
                                <p:cTn id="21" presetID="10"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00"/>
                                        <p:tgtEl>
                                          <p:spTgt spid="20"/>
                                        </p:tgtEl>
                                      </p:cBhvr>
                                    </p:animEffect>
                                  </p:childTnLst>
                                </p:cTn>
                              </p:par>
                              <p:par>
                                <p:cTn id="33" presetID="10"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00"/>
                                        <p:tgtEl>
                                          <p:spTgt spid="22"/>
                                        </p:tgtEl>
                                      </p:cBhvr>
                                    </p:animEffect>
                                  </p:childTnLst>
                                </p:cTn>
                              </p:par>
                            </p:childTnLst>
                          </p:cTn>
                        </p:par>
                      </p:childTnLst>
                    </p:cTn>
                  </p:par>
                  <p:par>
                    <p:cTn id="77" fill="hold">
                      <p:stCondLst>
                        <p:cond delay="indefinite"/>
                      </p:stCondLst>
                      <p:childTnLst>
                        <p:par>
                          <p:cTn id="78"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400"/>
                                        <p:tgtEl>
                                          <p:spTgt spid="24"/>
                                        </p:tgtEl>
                                      </p:cBhvr>
                                    </p:animEffect>
                                  </p:childTnLst>
                                </p:cTn>
                              </p:par>
                              <p:par>
                                <p:cTn id="47" presetID="10"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4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00"/>
                                        <p:tgtEl>
                                          <p:spTgt spid="26"/>
                                        </p:tgtEl>
                                      </p:cBhvr>
                                    </p:animEffect>
                                  </p:childTnLst>
                                </p:cTn>
                              </p:par>
                              <p:par>
                                <p:cTn id="53" presetID="10"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00"/>
                                        <p:tgtEl>
                                          <p:spTgt spid="28"/>
                                        </p:tgtEl>
                                      </p:cBhvr>
                                    </p:animEffect>
                                  </p:childTnLst>
                                </p:cTn>
                              </p:par>
                              <p:par>
                                <p:cTn id="59" presetID="10" presetClass="entr" presetSubtype="0" fill="hold"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400"/>
                                        <p:tgtEl>
                                          <p:spTgt spid="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400"/>
                                        <p:tgtEl>
                                          <p:spTgt spid="30"/>
                                        </p:tgtEl>
                                      </p:cBhvr>
                                    </p:animEffect>
                                  </p:childTnLst>
                                </p:cTn>
                              </p:par>
                              <p:par>
                                <p:cTn id="65" presetID="10" presetClass="entr" presetSubtype="0" fill="hold"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400"/>
                                        <p:tgtEl>
                                          <p:spTgt spid="3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400"/>
                                        <p:tgtEl>
                                          <p:spTgt spid="32"/>
                                        </p:tgtEl>
                                      </p:cBhvr>
                                    </p:animEffect>
                                  </p:childTnLst>
                                </p:cTn>
                              </p:par>
                              <p:par>
                                <p:cTn id="71" presetID="10" presetClass="entr" presetSubtype="0"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400"/>
                                        <p:tgtEl>
                                          <p:spTgt spid="3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400"/>
                                        <p:tgtEl>
                                          <p:spTgt spid="34"/>
                                        </p:tgtEl>
                                      </p:cBhvr>
                                    </p:animEffect>
                                  </p:childTnLst>
                                </p:cTn>
                              </p:par>
                            </p:childTnLst>
                          </p:cTn>
                        </p:par>
                      </p:childTnLst>
                    </p:cTn>
                  </p:par>
                  <p:par>
                    <p:cTn id="115" fill="hold">
                      <p:stCondLst>
                        <p:cond delay="indefinite"/>
                      </p:stCondLst>
                      <p:childTnLst>
                        <p:par>
                          <p:cTn id="116"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400"/>
                                        <p:tgtEl>
                                          <p:spTgt spid="3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400"/>
                                        <p:tgtEl>
                                          <p:spTgt spid="36"/>
                                        </p:tgtEl>
                                      </p:cBhvr>
                                    </p:animEffect>
                                  </p:childTnLst>
                                </p:cTn>
                              </p:par>
                              <p:par>
                                <p:cTn id="85" presetID="10" presetClass="entr" presetSubtype="0" fill="hold" nodeType="with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400"/>
                                        <p:tgtEl>
                                          <p:spTgt spid="3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400"/>
                                        <p:tgtEl>
                                          <p:spTgt spid="38"/>
                                        </p:tgtEl>
                                      </p:cBhvr>
                                    </p:animEffect>
                                  </p:childTnLst>
                                </p:cTn>
                              </p:par>
                              <p:par>
                                <p:cTn id="91" presetID="10" presetClass="entr" presetSubtype="0" fill="hold" nodeType="with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400"/>
                                        <p:tgtEl>
                                          <p:spTgt spid="3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fade">
                                      <p:cBhvr>
                                        <p:cTn id="96" dur="400"/>
                                        <p:tgtEl>
                                          <p:spTgt spid="40"/>
                                        </p:tgtEl>
                                      </p:cBhvr>
                                    </p:animEffect>
                                  </p:childTnLst>
                                </p:cTn>
                              </p:par>
                              <p:par>
                                <p:cTn id="97" presetID="10" presetClass="entr" presetSubtype="0" fill="hold" nodeType="with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fade">
                                      <p:cBhvr>
                                        <p:cTn id="99" dur="400"/>
                                        <p:tgtEl>
                                          <p:spTgt spid="4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2"/>
                                        </p:tgtEl>
                                        <p:attrNameLst>
                                          <p:attrName>style.visibility</p:attrName>
                                        </p:attrNameLst>
                                      </p:cBhvr>
                                      <p:to>
                                        <p:strVal val="visible"/>
                                      </p:to>
                                    </p:set>
                                    <p:animEffect transition="in" filter="fade">
                                      <p:cBhvr>
                                        <p:cTn id="102" dur="400"/>
                                        <p:tgtEl>
                                          <p:spTgt spid="42"/>
                                        </p:tgtEl>
                                      </p:cBhvr>
                                    </p:animEffect>
                                  </p:childTnLst>
                                </p:cTn>
                              </p:par>
                              <p:par>
                                <p:cTn id="103" presetID="10" presetClass="entr" presetSubtype="0" fill="hold" nodeType="withEffect">
                                  <p:stCondLst>
                                    <p:cond delay="0"/>
                                  </p:stCondLst>
                                  <p:childTnLst>
                                    <p:set>
                                      <p:cBhvr>
                                        <p:cTn id="104" dur="1" fill="hold">
                                          <p:stCondLst>
                                            <p:cond delay="0"/>
                                          </p:stCondLst>
                                        </p:cTn>
                                        <p:tgtEl>
                                          <p:spTgt spid="43"/>
                                        </p:tgtEl>
                                        <p:attrNameLst>
                                          <p:attrName>style.visibility</p:attrName>
                                        </p:attrNameLst>
                                      </p:cBhvr>
                                      <p:to>
                                        <p:strVal val="visible"/>
                                      </p:to>
                                    </p:set>
                                    <p:animEffect transition="in" filter="fade">
                                      <p:cBhvr>
                                        <p:cTn id="105" dur="400"/>
                                        <p:tgtEl>
                                          <p:spTgt spid="43"/>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4"/>
                                        </p:tgtEl>
                                        <p:attrNameLst>
                                          <p:attrName>style.visibility</p:attrName>
                                        </p:attrNameLst>
                                      </p:cBhvr>
                                      <p:to>
                                        <p:strVal val="visible"/>
                                      </p:to>
                                    </p:set>
                                    <p:animEffect transition="in" filter="fade">
                                      <p:cBhvr>
                                        <p:cTn id="108" dur="400"/>
                                        <p:tgtEl>
                                          <p:spTgt spid="44"/>
                                        </p:tgtEl>
                                      </p:cBhvr>
                                    </p:animEffect>
                                  </p:childTnLst>
                                </p:cTn>
                              </p:par>
                              <p:par>
                                <p:cTn id="109" presetID="10" presetClass="entr" presetSubtype="0" fill="hold" nodeType="withEffect">
                                  <p:stCondLst>
                                    <p:cond delay="0"/>
                                  </p:stCondLst>
                                  <p:childTnLst>
                                    <p:set>
                                      <p:cBhvr>
                                        <p:cTn id="110" dur="1" fill="hold">
                                          <p:stCondLst>
                                            <p:cond delay="0"/>
                                          </p:stCondLst>
                                        </p:cTn>
                                        <p:tgtEl>
                                          <p:spTgt spid="45"/>
                                        </p:tgtEl>
                                        <p:attrNameLst>
                                          <p:attrName>style.visibility</p:attrName>
                                        </p:attrNameLst>
                                      </p:cBhvr>
                                      <p:to>
                                        <p:strVal val="visible"/>
                                      </p:to>
                                    </p:set>
                                    <p:animEffect transition="in" filter="fade">
                                      <p:cBhvr>
                                        <p:cTn id="111" dur="400"/>
                                        <p:tgtEl>
                                          <p:spTgt spid="45"/>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4" dur="400"/>
                                        <p:tgtEl>
                                          <p:spTgt spid="46"/>
                                        </p:tgtEl>
                                      </p:cBhvr>
                                    </p:animEffect>
                                  </p:childTnLst>
                                </p:cTn>
                              </p:par>
                            </p:childTnLst>
                          </p:cTn>
                        </p:par>
                      </p:childTnLst>
                    </p:cTn>
                  </p:par>
                  <p:par>
                    <p:cTn id="153" fill="hold">
                      <p:stCondLst>
                        <p:cond delay="indefinite"/>
                      </p:stCondLst>
                      <p:childTnLst>
                        <p:par>
                          <p:cTn id="154"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47"/>
                                        </p:tgtEl>
                                        <p:attrNameLst>
                                          <p:attrName>style.visibility</p:attrName>
                                        </p:attrNameLst>
                                      </p:cBhvr>
                                      <p:to>
                                        <p:strVal val="visible"/>
                                      </p:to>
                                    </p:set>
                                    <p:animEffect transition="in" filter="fade">
                                      <p:cBhvr>
                                        <p:cTn id="119" dur="400"/>
                                        <p:tgtEl>
                                          <p:spTgt spid="47"/>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fade">
                                      <p:cBhvr>
                                        <p:cTn id="122" dur="400"/>
                                        <p:tgtEl>
                                          <p:spTgt spid="48"/>
                                        </p:tgtEl>
                                      </p:cBhvr>
                                    </p:animEffect>
                                  </p:childTnLst>
                                </p:cTn>
                              </p:par>
                              <p:par>
                                <p:cTn id="123" presetID="10" presetClass="entr" presetSubtype="0" fill="hold" nodeType="withEffect">
                                  <p:stCondLst>
                                    <p:cond delay="0"/>
                                  </p:stCondLst>
                                  <p:childTnLst>
                                    <p:set>
                                      <p:cBhvr>
                                        <p:cTn id="124" dur="1" fill="hold">
                                          <p:stCondLst>
                                            <p:cond delay="0"/>
                                          </p:stCondLst>
                                        </p:cTn>
                                        <p:tgtEl>
                                          <p:spTgt spid="49"/>
                                        </p:tgtEl>
                                        <p:attrNameLst>
                                          <p:attrName>style.visibility</p:attrName>
                                        </p:attrNameLst>
                                      </p:cBhvr>
                                      <p:to>
                                        <p:strVal val="visible"/>
                                      </p:to>
                                    </p:set>
                                    <p:animEffect transition="in" filter="fade">
                                      <p:cBhvr>
                                        <p:cTn id="125" dur="400"/>
                                        <p:tgtEl>
                                          <p:spTgt spid="49"/>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0"/>
                                        </p:tgtEl>
                                        <p:attrNameLst>
                                          <p:attrName>style.visibility</p:attrName>
                                        </p:attrNameLst>
                                      </p:cBhvr>
                                      <p:to>
                                        <p:strVal val="visible"/>
                                      </p:to>
                                    </p:set>
                                    <p:animEffect transition="in" filter="fade">
                                      <p:cBhvr>
                                        <p:cTn id="128" dur="400"/>
                                        <p:tgtEl>
                                          <p:spTgt spid="50"/>
                                        </p:tgtEl>
                                      </p:cBhvr>
                                    </p:animEffect>
                                  </p:childTnLst>
                                </p:cTn>
                              </p:par>
                              <p:par>
                                <p:cTn id="129" presetID="10" presetClass="entr" presetSubtype="0" fill="hold" nodeType="withEffect">
                                  <p:stCondLst>
                                    <p:cond delay="0"/>
                                  </p:stCondLst>
                                  <p:childTnLst>
                                    <p:set>
                                      <p:cBhvr>
                                        <p:cTn id="130" dur="1" fill="hold">
                                          <p:stCondLst>
                                            <p:cond delay="0"/>
                                          </p:stCondLst>
                                        </p:cTn>
                                        <p:tgtEl>
                                          <p:spTgt spid="51"/>
                                        </p:tgtEl>
                                        <p:attrNameLst>
                                          <p:attrName>style.visibility</p:attrName>
                                        </p:attrNameLst>
                                      </p:cBhvr>
                                      <p:to>
                                        <p:strVal val="visible"/>
                                      </p:to>
                                    </p:set>
                                    <p:animEffect transition="in" filter="fade">
                                      <p:cBhvr>
                                        <p:cTn id="131" dur="400"/>
                                        <p:tgtEl>
                                          <p:spTgt spid="51"/>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2"/>
                                        </p:tgtEl>
                                        <p:attrNameLst>
                                          <p:attrName>style.visibility</p:attrName>
                                        </p:attrNameLst>
                                      </p:cBhvr>
                                      <p:to>
                                        <p:strVal val="visible"/>
                                      </p:to>
                                    </p:set>
                                    <p:animEffect transition="in" filter="fade">
                                      <p:cBhvr>
                                        <p:cTn id="134" dur="400"/>
                                        <p:tgtEl>
                                          <p:spTgt spid="52"/>
                                        </p:tgtEl>
                                      </p:cBhvr>
                                    </p:animEffect>
                                  </p:childTnLst>
                                </p:cTn>
                              </p:par>
                              <p:par>
                                <p:cTn id="135" presetID="10" presetClass="entr" presetSubtype="0" fill="hold" nodeType="withEffect">
                                  <p:stCondLst>
                                    <p:cond delay="0"/>
                                  </p:stCondLst>
                                  <p:childTnLst>
                                    <p:set>
                                      <p:cBhvr>
                                        <p:cTn id="136" dur="1" fill="hold">
                                          <p:stCondLst>
                                            <p:cond delay="0"/>
                                          </p:stCondLst>
                                        </p:cTn>
                                        <p:tgtEl>
                                          <p:spTgt spid="53"/>
                                        </p:tgtEl>
                                        <p:attrNameLst>
                                          <p:attrName>style.visibility</p:attrName>
                                        </p:attrNameLst>
                                      </p:cBhvr>
                                      <p:to>
                                        <p:strVal val="visible"/>
                                      </p:to>
                                    </p:set>
                                    <p:animEffect transition="in" filter="fade">
                                      <p:cBhvr>
                                        <p:cTn id="137" dur="400"/>
                                        <p:tgtEl>
                                          <p:spTgt spid="53"/>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4"/>
                                        </p:tgtEl>
                                        <p:attrNameLst>
                                          <p:attrName>style.visibility</p:attrName>
                                        </p:attrNameLst>
                                      </p:cBhvr>
                                      <p:to>
                                        <p:strVal val="visible"/>
                                      </p:to>
                                    </p:set>
                                    <p:animEffect transition="in" filter="fade">
                                      <p:cBhvr>
                                        <p:cTn id="140" dur="400"/>
                                        <p:tgtEl>
                                          <p:spTgt spid="54"/>
                                        </p:tgtEl>
                                      </p:cBhvr>
                                    </p:animEffect>
                                  </p:childTnLst>
                                </p:cTn>
                              </p:par>
                              <p:par>
                                <p:cTn id="141" presetID="10" presetClass="entr" presetSubtype="0" fill="hold" nodeType="withEffect">
                                  <p:stCondLst>
                                    <p:cond delay="0"/>
                                  </p:stCondLst>
                                  <p:childTnLst>
                                    <p:set>
                                      <p:cBhvr>
                                        <p:cTn id="142" dur="1" fill="hold">
                                          <p:stCondLst>
                                            <p:cond delay="0"/>
                                          </p:stCondLst>
                                        </p:cTn>
                                        <p:tgtEl>
                                          <p:spTgt spid="55"/>
                                        </p:tgtEl>
                                        <p:attrNameLst>
                                          <p:attrName>style.visibility</p:attrName>
                                        </p:attrNameLst>
                                      </p:cBhvr>
                                      <p:to>
                                        <p:strVal val="visible"/>
                                      </p:to>
                                    </p:set>
                                    <p:animEffect transition="in" filter="fade">
                                      <p:cBhvr>
                                        <p:cTn id="143" dur="400"/>
                                        <p:tgtEl>
                                          <p:spTgt spid="55"/>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400"/>
                                        <p:tgtEl>
                                          <p:spTgt spid="56"/>
                                        </p:tgtEl>
                                      </p:cBhvr>
                                    </p:animEffect>
                                  </p:childTnLst>
                                </p:cTn>
                              </p:par>
                              <p:par>
                                <p:cTn id="147" presetID="10" presetClass="entr" presetSubtype="0" fill="hold" nodeType="withEffect">
                                  <p:stCondLst>
                                    <p:cond delay="0"/>
                                  </p:stCondLst>
                                  <p:childTnLst>
                                    <p:set>
                                      <p:cBhvr>
                                        <p:cTn id="148" dur="1" fill="hold">
                                          <p:stCondLst>
                                            <p:cond delay="0"/>
                                          </p:stCondLst>
                                        </p:cTn>
                                        <p:tgtEl>
                                          <p:spTgt spid="57"/>
                                        </p:tgtEl>
                                        <p:attrNameLst>
                                          <p:attrName>style.visibility</p:attrName>
                                        </p:attrNameLst>
                                      </p:cBhvr>
                                      <p:to>
                                        <p:strVal val="visible"/>
                                      </p:to>
                                    </p:set>
                                    <p:animEffect transition="in" filter="fade">
                                      <p:cBhvr>
                                        <p:cTn id="149" dur="400"/>
                                        <p:tgtEl>
                                          <p:spTgt spid="57"/>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8"/>
                                        </p:tgtEl>
                                        <p:attrNameLst>
                                          <p:attrName>style.visibility</p:attrName>
                                        </p:attrNameLst>
                                      </p:cBhvr>
                                      <p:to>
                                        <p:strVal val="visible"/>
                                      </p:to>
                                    </p:set>
                                    <p:animEffect transition="in" filter="fade">
                                      <p:cBhvr>
                                        <p:cTn id="152" dur="400"/>
                                        <p:tgtEl>
                                          <p:spTgt spid="58"/>
                                        </p:tgtEl>
                                      </p:cBhvr>
                                    </p:animEffect>
                                  </p:childTnLst>
                                </p:cTn>
                              </p:par>
                            </p:childTnLst>
                          </p:cTn>
                        </p:par>
                      </p:childTnLst>
                    </p:cTn>
                  </p:par>
                  <p:par>
                    <p:cTn id="191" fill="hold">
                      <p:stCondLst>
                        <p:cond delay="indefinite"/>
                      </p:stCondLst>
                      <p:childTnLst>
                        <p:par>
                          <p:cTn id="192" fill="hold">
                            <p:stCondLst>
                              <p:cond delay="0"/>
                            </p:stCondLst>
                            <p:childTnLst>
                              <p:par>
                                <p:cTn id="155" presetID="10" presetClass="entr" presetSubtype="0" fill="hold" nodeType="clickEffect">
                                  <p:stCondLst>
                                    <p:cond delay="0"/>
                                  </p:stCondLst>
                                  <p:childTnLst>
                                    <p:set>
                                      <p:cBhvr>
                                        <p:cTn id="156" dur="1" fill="hold">
                                          <p:stCondLst>
                                            <p:cond delay="0"/>
                                          </p:stCondLst>
                                        </p:cTn>
                                        <p:tgtEl>
                                          <p:spTgt spid="59"/>
                                        </p:tgtEl>
                                        <p:attrNameLst>
                                          <p:attrName>style.visibility</p:attrName>
                                        </p:attrNameLst>
                                      </p:cBhvr>
                                      <p:to>
                                        <p:strVal val="visible"/>
                                      </p:to>
                                    </p:set>
                                    <p:animEffect transition="in" filter="fade">
                                      <p:cBhvr>
                                        <p:cTn id="157" dur="400"/>
                                        <p:tgtEl>
                                          <p:spTgt spid="59"/>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60"/>
                                        </p:tgtEl>
                                        <p:attrNameLst>
                                          <p:attrName>style.visibility</p:attrName>
                                        </p:attrNameLst>
                                      </p:cBhvr>
                                      <p:to>
                                        <p:strVal val="visible"/>
                                      </p:to>
                                    </p:set>
                                    <p:animEffect transition="in" filter="fade">
                                      <p:cBhvr>
                                        <p:cTn id="160" dur="400"/>
                                        <p:tgtEl>
                                          <p:spTgt spid="60"/>
                                        </p:tgtEl>
                                      </p:cBhvr>
                                    </p:animEffect>
                                  </p:childTnLst>
                                </p:cTn>
                              </p:par>
                              <p:par>
                                <p:cTn id="161" presetID="10" presetClass="entr" presetSubtype="0" fill="hold" nodeType="withEffect">
                                  <p:stCondLst>
                                    <p:cond delay="0"/>
                                  </p:stCondLst>
                                  <p:childTnLst>
                                    <p:set>
                                      <p:cBhvr>
                                        <p:cTn id="162" dur="1" fill="hold">
                                          <p:stCondLst>
                                            <p:cond delay="0"/>
                                          </p:stCondLst>
                                        </p:cTn>
                                        <p:tgtEl>
                                          <p:spTgt spid="61"/>
                                        </p:tgtEl>
                                        <p:attrNameLst>
                                          <p:attrName>style.visibility</p:attrName>
                                        </p:attrNameLst>
                                      </p:cBhvr>
                                      <p:to>
                                        <p:strVal val="visible"/>
                                      </p:to>
                                    </p:set>
                                    <p:animEffect transition="in" filter="fade">
                                      <p:cBhvr>
                                        <p:cTn id="163" dur="400"/>
                                        <p:tgtEl>
                                          <p:spTgt spid="61"/>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62"/>
                                        </p:tgtEl>
                                        <p:attrNameLst>
                                          <p:attrName>style.visibility</p:attrName>
                                        </p:attrNameLst>
                                      </p:cBhvr>
                                      <p:to>
                                        <p:strVal val="visible"/>
                                      </p:to>
                                    </p:set>
                                    <p:animEffect transition="in" filter="fade">
                                      <p:cBhvr>
                                        <p:cTn id="166" dur="400"/>
                                        <p:tgtEl>
                                          <p:spTgt spid="62"/>
                                        </p:tgtEl>
                                      </p:cBhvr>
                                    </p:animEffect>
                                  </p:childTnLst>
                                </p:cTn>
                              </p:par>
                              <p:par>
                                <p:cTn id="167" presetID="10" presetClass="entr" presetSubtype="0" fill="hold" nodeType="withEffect">
                                  <p:stCondLst>
                                    <p:cond delay="0"/>
                                  </p:stCondLst>
                                  <p:childTnLst>
                                    <p:set>
                                      <p:cBhvr>
                                        <p:cTn id="168" dur="1" fill="hold">
                                          <p:stCondLst>
                                            <p:cond delay="0"/>
                                          </p:stCondLst>
                                        </p:cTn>
                                        <p:tgtEl>
                                          <p:spTgt spid="63"/>
                                        </p:tgtEl>
                                        <p:attrNameLst>
                                          <p:attrName>style.visibility</p:attrName>
                                        </p:attrNameLst>
                                      </p:cBhvr>
                                      <p:to>
                                        <p:strVal val="visible"/>
                                      </p:to>
                                    </p:set>
                                    <p:animEffect transition="in" filter="fade">
                                      <p:cBhvr>
                                        <p:cTn id="169" dur="400"/>
                                        <p:tgtEl>
                                          <p:spTgt spid="63"/>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4"/>
                                        </p:tgtEl>
                                        <p:attrNameLst>
                                          <p:attrName>style.visibility</p:attrName>
                                        </p:attrNameLst>
                                      </p:cBhvr>
                                      <p:to>
                                        <p:strVal val="visible"/>
                                      </p:to>
                                    </p:set>
                                    <p:animEffect transition="in" filter="fade">
                                      <p:cBhvr>
                                        <p:cTn id="172" dur="400"/>
                                        <p:tgtEl>
                                          <p:spTgt spid="64"/>
                                        </p:tgtEl>
                                      </p:cBhvr>
                                    </p:animEffect>
                                  </p:childTnLst>
                                </p:cTn>
                              </p:par>
                              <p:par>
                                <p:cTn id="173" presetID="10" presetClass="entr" presetSubtype="0" fill="hold" nodeType="withEffect">
                                  <p:stCondLst>
                                    <p:cond delay="0"/>
                                  </p:stCondLst>
                                  <p:childTnLst>
                                    <p:set>
                                      <p:cBhvr>
                                        <p:cTn id="174" dur="1" fill="hold">
                                          <p:stCondLst>
                                            <p:cond delay="0"/>
                                          </p:stCondLst>
                                        </p:cTn>
                                        <p:tgtEl>
                                          <p:spTgt spid="65"/>
                                        </p:tgtEl>
                                        <p:attrNameLst>
                                          <p:attrName>style.visibility</p:attrName>
                                        </p:attrNameLst>
                                      </p:cBhvr>
                                      <p:to>
                                        <p:strVal val="visible"/>
                                      </p:to>
                                    </p:set>
                                    <p:animEffect transition="in" filter="fade">
                                      <p:cBhvr>
                                        <p:cTn id="175" dur="400"/>
                                        <p:tgtEl>
                                          <p:spTgt spid="65"/>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6"/>
                                        </p:tgtEl>
                                        <p:attrNameLst>
                                          <p:attrName>style.visibility</p:attrName>
                                        </p:attrNameLst>
                                      </p:cBhvr>
                                      <p:to>
                                        <p:strVal val="visible"/>
                                      </p:to>
                                    </p:set>
                                    <p:animEffect transition="in" filter="fade">
                                      <p:cBhvr>
                                        <p:cTn id="178" dur="400"/>
                                        <p:tgtEl>
                                          <p:spTgt spid="66"/>
                                        </p:tgtEl>
                                      </p:cBhvr>
                                    </p:animEffect>
                                  </p:childTnLst>
                                </p:cTn>
                              </p:par>
                              <p:par>
                                <p:cTn id="179" presetID="10" presetClass="entr" presetSubtype="0" fill="hold" nodeType="withEffect">
                                  <p:stCondLst>
                                    <p:cond delay="0"/>
                                  </p:stCondLst>
                                  <p:childTnLst>
                                    <p:set>
                                      <p:cBhvr>
                                        <p:cTn id="180" dur="1" fill="hold">
                                          <p:stCondLst>
                                            <p:cond delay="0"/>
                                          </p:stCondLst>
                                        </p:cTn>
                                        <p:tgtEl>
                                          <p:spTgt spid="67"/>
                                        </p:tgtEl>
                                        <p:attrNameLst>
                                          <p:attrName>style.visibility</p:attrName>
                                        </p:attrNameLst>
                                      </p:cBhvr>
                                      <p:to>
                                        <p:strVal val="visible"/>
                                      </p:to>
                                    </p:set>
                                    <p:animEffect transition="in" filter="fade">
                                      <p:cBhvr>
                                        <p:cTn id="181" dur="400"/>
                                        <p:tgtEl>
                                          <p:spTgt spid="67"/>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8"/>
                                        </p:tgtEl>
                                        <p:attrNameLst>
                                          <p:attrName>style.visibility</p:attrName>
                                        </p:attrNameLst>
                                      </p:cBhvr>
                                      <p:to>
                                        <p:strVal val="visible"/>
                                      </p:to>
                                    </p:set>
                                    <p:animEffect transition="in" filter="fade">
                                      <p:cBhvr>
                                        <p:cTn id="184" dur="400"/>
                                        <p:tgtEl>
                                          <p:spTgt spid="68"/>
                                        </p:tgtEl>
                                      </p:cBhvr>
                                    </p:animEffect>
                                  </p:childTnLst>
                                </p:cTn>
                              </p:par>
                              <p:par>
                                <p:cTn id="185" presetID="10" presetClass="entr" presetSubtype="0" fill="hold" nodeType="withEffect">
                                  <p:stCondLst>
                                    <p:cond delay="0"/>
                                  </p:stCondLst>
                                  <p:childTnLst>
                                    <p:set>
                                      <p:cBhvr>
                                        <p:cTn id="186" dur="1" fill="hold">
                                          <p:stCondLst>
                                            <p:cond delay="0"/>
                                          </p:stCondLst>
                                        </p:cTn>
                                        <p:tgtEl>
                                          <p:spTgt spid="69"/>
                                        </p:tgtEl>
                                        <p:attrNameLst>
                                          <p:attrName>style.visibility</p:attrName>
                                        </p:attrNameLst>
                                      </p:cBhvr>
                                      <p:to>
                                        <p:strVal val="visible"/>
                                      </p:to>
                                    </p:set>
                                    <p:animEffect transition="in" filter="fade">
                                      <p:cBhvr>
                                        <p:cTn id="187" dur="400"/>
                                        <p:tgtEl>
                                          <p:spTgt spid="69"/>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70"/>
                                        </p:tgtEl>
                                        <p:attrNameLst>
                                          <p:attrName>style.visibility</p:attrName>
                                        </p:attrNameLst>
                                      </p:cBhvr>
                                      <p:to>
                                        <p:strVal val="visible"/>
                                      </p:to>
                                    </p:set>
                                    <p:animEffect transition="in" filter="fade">
                                      <p:cBhvr>
                                        <p:cTn id="190" dur="400"/>
                                        <p:tgtEl>
                                          <p:spTgt spid="70"/>
                                        </p:tgtEl>
                                      </p:cBhvr>
                                    </p:animEffect>
                                  </p:childTnLst>
                                </p:cTn>
                              </p:par>
                            </p:childTnLst>
                          </p:cTn>
                        </p:par>
                      </p:childTnLst>
                    </p:cTn>
                  </p:par>
                  <p:par>
                    <p:cTn id="229" fill="hold">
                      <p:stCondLst>
                        <p:cond delay="indefinite"/>
                      </p:stCondLst>
                      <p:childTnLst>
                        <p:par>
                          <p:cTn id="230" fill="hold">
                            <p:stCondLst>
                              <p:cond delay="0"/>
                            </p:stCondLst>
                            <p:childTnLst>
                              <p:par>
                                <p:cTn id="193" presetID="10" presetClass="entr" presetSubtype="0" fill="hold" nodeType="clickEffect">
                                  <p:stCondLst>
                                    <p:cond delay="0"/>
                                  </p:stCondLst>
                                  <p:childTnLst>
                                    <p:set>
                                      <p:cBhvr>
                                        <p:cTn id="194" dur="1" fill="hold">
                                          <p:stCondLst>
                                            <p:cond delay="0"/>
                                          </p:stCondLst>
                                        </p:cTn>
                                        <p:tgtEl>
                                          <p:spTgt spid="71"/>
                                        </p:tgtEl>
                                        <p:attrNameLst>
                                          <p:attrName>style.visibility</p:attrName>
                                        </p:attrNameLst>
                                      </p:cBhvr>
                                      <p:to>
                                        <p:strVal val="visible"/>
                                      </p:to>
                                    </p:set>
                                    <p:animEffect transition="in" filter="fade">
                                      <p:cBhvr>
                                        <p:cTn id="195" dur="400"/>
                                        <p:tgtEl>
                                          <p:spTgt spid="71"/>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72"/>
                                        </p:tgtEl>
                                        <p:attrNameLst>
                                          <p:attrName>style.visibility</p:attrName>
                                        </p:attrNameLst>
                                      </p:cBhvr>
                                      <p:to>
                                        <p:strVal val="visible"/>
                                      </p:to>
                                    </p:set>
                                    <p:animEffect transition="in" filter="fade">
                                      <p:cBhvr>
                                        <p:cTn id="198" dur="400"/>
                                        <p:tgtEl>
                                          <p:spTgt spid="72"/>
                                        </p:tgtEl>
                                      </p:cBhvr>
                                    </p:animEffect>
                                  </p:childTnLst>
                                </p:cTn>
                              </p:par>
                              <p:par>
                                <p:cTn id="199" presetID="10" presetClass="entr" presetSubtype="0" fill="hold" nodeType="withEffect">
                                  <p:stCondLst>
                                    <p:cond delay="0"/>
                                  </p:stCondLst>
                                  <p:childTnLst>
                                    <p:set>
                                      <p:cBhvr>
                                        <p:cTn id="200" dur="1" fill="hold">
                                          <p:stCondLst>
                                            <p:cond delay="0"/>
                                          </p:stCondLst>
                                        </p:cTn>
                                        <p:tgtEl>
                                          <p:spTgt spid="73"/>
                                        </p:tgtEl>
                                        <p:attrNameLst>
                                          <p:attrName>style.visibility</p:attrName>
                                        </p:attrNameLst>
                                      </p:cBhvr>
                                      <p:to>
                                        <p:strVal val="visible"/>
                                      </p:to>
                                    </p:set>
                                    <p:animEffect transition="in" filter="fade">
                                      <p:cBhvr>
                                        <p:cTn id="201" dur="400"/>
                                        <p:tgtEl>
                                          <p:spTgt spid="73"/>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4"/>
                                        </p:tgtEl>
                                        <p:attrNameLst>
                                          <p:attrName>style.visibility</p:attrName>
                                        </p:attrNameLst>
                                      </p:cBhvr>
                                      <p:to>
                                        <p:strVal val="visible"/>
                                      </p:to>
                                    </p:set>
                                    <p:animEffect transition="in" filter="fade">
                                      <p:cBhvr>
                                        <p:cTn id="204" dur="400"/>
                                        <p:tgtEl>
                                          <p:spTgt spid="74"/>
                                        </p:tgtEl>
                                      </p:cBhvr>
                                    </p:animEffect>
                                  </p:childTnLst>
                                </p:cTn>
                              </p:par>
                              <p:par>
                                <p:cTn id="205" presetID="10" presetClass="entr" presetSubtype="0" fill="hold" nodeType="withEffect">
                                  <p:stCondLst>
                                    <p:cond delay="0"/>
                                  </p:stCondLst>
                                  <p:childTnLst>
                                    <p:set>
                                      <p:cBhvr>
                                        <p:cTn id="206" dur="1" fill="hold">
                                          <p:stCondLst>
                                            <p:cond delay="0"/>
                                          </p:stCondLst>
                                        </p:cTn>
                                        <p:tgtEl>
                                          <p:spTgt spid="75"/>
                                        </p:tgtEl>
                                        <p:attrNameLst>
                                          <p:attrName>style.visibility</p:attrName>
                                        </p:attrNameLst>
                                      </p:cBhvr>
                                      <p:to>
                                        <p:strVal val="visible"/>
                                      </p:to>
                                    </p:set>
                                    <p:animEffect transition="in" filter="fade">
                                      <p:cBhvr>
                                        <p:cTn id="207" dur="400"/>
                                        <p:tgtEl>
                                          <p:spTgt spid="75"/>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6"/>
                                        </p:tgtEl>
                                        <p:attrNameLst>
                                          <p:attrName>style.visibility</p:attrName>
                                        </p:attrNameLst>
                                      </p:cBhvr>
                                      <p:to>
                                        <p:strVal val="visible"/>
                                      </p:to>
                                    </p:set>
                                    <p:animEffect transition="in" filter="fade">
                                      <p:cBhvr>
                                        <p:cTn id="210" dur="400"/>
                                        <p:tgtEl>
                                          <p:spTgt spid="76"/>
                                        </p:tgtEl>
                                      </p:cBhvr>
                                    </p:animEffect>
                                  </p:childTnLst>
                                </p:cTn>
                              </p:par>
                              <p:par>
                                <p:cTn id="211" presetID="10" presetClass="entr" presetSubtype="0" fill="hold" nodeType="withEffect">
                                  <p:stCondLst>
                                    <p:cond delay="0"/>
                                  </p:stCondLst>
                                  <p:childTnLst>
                                    <p:set>
                                      <p:cBhvr>
                                        <p:cTn id="212" dur="1" fill="hold">
                                          <p:stCondLst>
                                            <p:cond delay="0"/>
                                          </p:stCondLst>
                                        </p:cTn>
                                        <p:tgtEl>
                                          <p:spTgt spid="77"/>
                                        </p:tgtEl>
                                        <p:attrNameLst>
                                          <p:attrName>style.visibility</p:attrName>
                                        </p:attrNameLst>
                                      </p:cBhvr>
                                      <p:to>
                                        <p:strVal val="visible"/>
                                      </p:to>
                                    </p:set>
                                    <p:animEffect transition="in" filter="fade">
                                      <p:cBhvr>
                                        <p:cTn id="213" dur="400"/>
                                        <p:tgtEl>
                                          <p:spTgt spid="77"/>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8"/>
                                        </p:tgtEl>
                                        <p:attrNameLst>
                                          <p:attrName>style.visibility</p:attrName>
                                        </p:attrNameLst>
                                      </p:cBhvr>
                                      <p:to>
                                        <p:strVal val="visible"/>
                                      </p:to>
                                    </p:set>
                                    <p:animEffect transition="in" filter="fade">
                                      <p:cBhvr>
                                        <p:cTn id="216" dur="400"/>
                                        <p:tgtEl>
                                          <p:spTgt spid="78"/>
                                        </p:tgtEl>
                                      </p:cBhvr>
                                    </p:animEffect>
                                  </p:childTnLst>
                                </p:cTn>
                              </p:par>
                              <p:par>
                                <p:cTn id="217" presetID="10" presetClass="entr" presetSubtype="0" fill="hold" nodeType="withEffect">
                                  <p:stCondLst>
                                    <p:cond delay="0"/>
                                  </p:stCondLst>
                                  <p:childTnLst>
                                    <p:set>
                                      <p:cBhvr>
                                        <p:cTn id="218" dur="1" fill="hold">
                                          <p:stCondLst>
                                            <p:cond delay="0"/>
                                          </p:stCondLst>
                                        </p:cTn>
                                        <p:tgtEl>
                                          <p:spTgt spid="79"/>
                                        </p:tgtEl>
                                        <p:attrNameLst>
                                          <p:attrName>style.visibility</p:attrName>
                                        </p:attrNameLst>
                                      </p:cBhvr>
                                      <p:to>
                                        <p:strVal val="visible"/>
                                      </p:to>
                                    </p:set>
                                    <p:animEffect transition="in" filter="fade">
                                      <p:cBhvr>
                                        <p:cTn id="219" dur="400"/>
                                        <p:tgtEl>
                                          <p:spTgt spid="79"/>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80"/>
                                        </p:tgtEl>
                                        <p:attrNameLst>
                                          <p:attrName>style.visibility</p:attrName>
                                        </p:attrNameLst>
                                      </p:cBhvr>
                                      <p:to>
                                        <p:strVal val="visible"/>
                                      </p:to>
                                    </p:set>
                                    <p:animEffect transition="in" filter="fade">
                                      <p:cBhvr>
                                        <p:cTn id="222" dur="400"/>
                                        <p:tgtEl>
                                          <p:spTgt spid="80"/>
                                        </p:tgtEl>
                                      </p:cBhvr>
                                    </p:animEffect>
                                  </p:childTnLst>
                                </p:cTn>
                              </p:par>
                              <p:par>
                                <p:cTn id="223" presetID="10" presetClass="entr" presetSubtype="0" fill="hold" nodeType="withEffect">
                                  <p:stCondLst>
                                    <p:cond delay="0"/>
                                  </p:stCondLst>
                                  <p:childTnLst>
                                    <p:set>
                                      <p:cBhvr>
                                        <p:cTn id="224" dur="1" fill="hold">
                                          <p:stCondLst>
                                            <p:cond delay="0"/>
                                          </p:stCondLst>
                                        </p:cTn>
                                        <p:tgtEl>
                                          <p:spTgt spid="81"/>
                                        </p:tgtEl>
                                        <p:attrNameLst>
                                          <p:attrName>style.visibility</p:attrName>
                                        </p:attrNameLst>
                                      </p:cBhvr>
                                      <p:to>
                                        <p:strVal val="visible"/>
                                      </p:to>
                                    </p:set>
                                    <p:animEffect transition="in" filter="fade">
                                      <p:cBhvr>
                                        <p:cTn id="225" dur="400"/>
                                        <p:tgtEl>
                                          <p:spTgt spid="81"/>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82"/>
                                        </p:tgtEl>
                                        <p:attrNameLst>
                                          <p:attrName>style.visibility</p:attrName>
                                        </p:attrNameLst>
                                      </p:cBhvr>
                                      <p:to>
                                        <p:strVal val="visible"/>
                                      </p:to>
                                    </p:set>
                                    <p:animEffect transition="in" filter="fade">
                                      <p:cBhvr>
                                        <p:cTn id="228" dur="400"/>
                                        <p:tgtEl>
                                          <p:spTgt spid="82"/>
                                        </p:tgtEl>
                                      </p:cBhvr>
                                    </p:animEffect>
                                  </p:childTnLst>
                                </p:cTn>
                              </p:par>
                            </p:childTnLst>
                          </p:cTn>
                        </p:par>
                      </p:childTnLst>
                    </p:cTn>
                  </p:par>
                  <p:par>
                    <p:cTn id="267" fill="hold">
                      <p:stCondLst>
                        <p:cond delay="indefinite"/>
                      </p:stCondLst>
                      <p:childTnLst>
                        <p:par>
                          <p:cTn id="268" fill="hold">
                            <p:stCondLst>
                              <p:cond delay="0"/>
                            </p:stCondLst>
                            <p:childTnLst>
                              <p:par>
                                <p:cTn id="231" presetID="10" presetClass="entr" presetSubtype="0" fill="hold" nodeType="clickEffect">
                                  <p:stCondLst>
                                    <p:cond delay="0"/>
                                  </p:stCondLst>
                                  <p:childTnLst>
                                    <p:set>
                                      <p:cBhvr>
                                        <p:cTn id="232" dur="1" fill="hold">
                                          <p:stCondLst>
                                            <p:cond delay="0"/>
                                          </p:stCondLst>
                                        </p:cTn>
                                        <p:tgtEl>
                                          <p:spTgt spid="83"/>
                                        </p:tgtEl>
                                        <p:attrNameLst>
                                          <p:attrName>style.visibility</p:attrName>
                                        </p:attrNameLst>
                                      </p:cBhvr>
                                      <p:to>
                                        <p:strVal val="visible"/>
                                      </p:to>
                                    </p:set>
                                    <p:animEffect transition="in" filter="fade">
                                      <p:cBhvr>
                                        <p:cTn id="233" dur="400"/>
                                        <p:tgtEl>
                                          <p:spTgt spid="83"/>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84"/>
                                        </p:tgtEl>
                                        <p:attrNameLst>
                                          <p:attrName>style.visibility</p:attrName>
                                        </p:attrNameLst>
                                      </p:cBhvr>
                                      <p:to>
                                        <p:strVal val="visible"/>
                                      </p:to>
                                    </p:set>
                                    <p:animEffect transition="in" filter="fade">
                                      <p:cBhvr>
                                        <p:cTn id="236" dur="400"/>
                                        <p:tgtEl>
                                          <p:spTgt spid="84"/>
                                        </p:tgtEl>
                                      </p:cBhvr>
                                    </p:animEffect>
                                  </p:childTnLst>
                                </p:cTn>
                              </p:par>
                              <p:par>
                                <p:cTn id="237" presetID="10" presetClass="entr" presetSubtype="0" fill="hold" nodeType="withEffect">
                                  <p:stCondLst>
                                    <p:cond delay="0"/>
                                  </p:stCondLst>
                                  <p:childTnLst>
                                    <p:set>
                                      <p:cBhvr>
                                        <p:cTn id="238" dur="1" fill="hold">
                                          <p:stCondLst>
                                            <p:cond delay="0"/>
                                          </p:stCondLst>
                                        </p:cTn>
                                        <p:tgtEl>
                                          <p:spTgt spid="85"/>
                                        </p:tgtEl>
                                        <p:attrNameLst>
                                          <p:attrName>style.visibility</p:attrName>
                                        </p:attrNameLst>
                                      </p:cBhvr>
                                      <p:to>
                                        <p:strVal val="visible"/>
                                      </p:to>
                                    </p:set>
                                    <p:animEffect transition="in" filter="fade">
                                      <p:cBhvr>
                                        <p:cTn id="239" dur="400"/>
                                        <p:tgtEl>
                                          <p:spTgt spid="85"/>
                                        </p:tgtEl>
                                      </p:cBhvr>
                                    </p:animEffect>
                                  </p:childTnLst>
                                </p:cTn>
                              </p:par>
                              <p:par>
                                <p:cTn id="240" presetID="10" presetClass="entr" presetSubtype="0" fill="hold" grpId="0" nodeType="withEffect">
                                  <p:stCondLst>
                                    <p:cond delay="0"/>
                                  </p:stCondLst>
                                  <p:childTnLst>
                                    <p:set>
                                      <p:cBhvr>
                                        <p:cTn id="241" dur="1" fill="hold">
                                          <p:stCondLst>
                                            <p:cond delay="0"/>
                                          </p:stCondLst>
                                        </p:cTn>
                                        <p:tgtEl>
                                          <p:spTgt spid="86"/>
                                        </p:tgtEl>
                                        <p:attrNameLst>
                                          <p:attrName>style.visibility</p:attrName>
                                        </p:attrNameLst>
                                      </p:cBhvr>
                                      <p:to>
                                        <p:strVal val="visible"/>
                                      </p:to>
                                    </p:set>
                                    <p:animEffect transition="in" filter="fade">
                                      <p:cBhvr>
                                        <p:cTn id="242" dur="400"/>
                                        <p:tgtEl>
                                          <p:spTgt spid="86"/>
                                        </p:tgtEl>
                                      </p:cBhvr>
                                    </p:animEffect>
                                  </p:childTnLst>
                                </p:cTn>
                              </p:par>
                              <p:par>
                                <p:cTn id="243" presetID="10" presetClass="entr" presetSubtype="0" fill="hold" nodeType="withEffect">
                                  <p:stCondLst>
                                    <p:cond delay="0"/>
                                  </p:stCondLst>
                                  <p:childTnLst>
                                    <p:set>
                                      <p:cBhvr>
                                        <p:cTn id="244" dur="1" fill="hold">
                                          <p:stCondLst>
                                            <p:cond delay="0"/>
                                          </p:stCondLst>
                                        </p:cTn>
                                        <p:tgtEl>
                                          <p:spTgt spid="87"/>
                                        </p:tgtEl>
                                        <p:attrNameLst>
                                          <p:attrName>style.visibility</p:attrName>
                                        </p:attrNameLst>
                                      </p:cBhvr>
                                      <p:to>
                                        <p:strVal val="visible"/>
                                      </p:to>
                                    </p:set>
                                    <p:animEffect transition="in" filter="fade">
                                      <p:cBhvr>
                                        <p:cTn id="245" dur="400"/>
                                        <p:tgtEl>
                                          <p:spTgt spid="87"/>
                                        </p:tgtEl>
                                      </p:cBhvr>
                                    </p:animEffect>
                                  </p:childTnLst>
                                </p:cTn>
                              </p:par>
                              <p:par>
                                <p:cTn id="246" presetID="10" presetClass="entr" presetSubtype="0" fill="hold" grpId="0" nodeType="withEffect">
                                  <p:stCondLst>
                                    <p:cond delay="0"/>
                                  </p:stCondLst>
                                  <p:childTnLst>
                                    <p:set>
                                      <p:cBhvr>
                                        <p:cTn id="247" dur="1" fill="hold">
                                          <p:stCondLst>
                                            <p:cond delay="0"/>
                                          </p:stCondLst>
                                        </p:cTn>
                                        <p:tgtEl>
                                          <p:spTgt spid="88"/>
                                        </p:tgtEl>
                                        <p:attrNameLst>
                                          <p:attrName>style.visibility</p:attrName>
                                        </p:attrNameLst>
                                      </p:cBhvr>
                                      <p:to>
                                        <p:strVal val="visible"/>
                                      </p:to>
                                    </p:set>
                                    <p:animEffect transition="in" filter="fade">
                                      <p:cBhvr>
                                        <p:cTn id="248" dur="400"/>
                                        <p:tgtEl>
                                          <p:spTgt spid="88"/>
                                        </p:tgtEl>
                                      </p:cBhvr>
                                    </p:animEffect>
                                  </p:childTnLst>
                                </p:cTn>
                              </p:par>
                              <p:par>
                                <p:cTn id="249" presetID="10" presetClass="entr" presetSubtype="0" fill="hold" nodeType="withEffect">
                                  <p:stCondLst>
                                    <p:cond delay="0"/>
                                  </p:stCondLst>
                                  <p:childTnLst>
                                    <p:set>
                                      <p:cBhvr>
                                        <p:cTn id="250" dur="1" fill="hold">
                                          <p:stCondLst>
                                            <p:cond delay="0"/>
                                          </p:stCondLst>
                                        </p:cTn>
                                        <p:tgtEl>
                                          <p:spTgt spid="89"/>
                                        </p:tgtEl>
                                        <p:attrNameLst>
                                          <p:attrName>style.visibility</p:attrName>
                                        </p:attrNameLst>
                                      </p:cBhvr>
                                      <p:to>
                                        <p:strVal val="visible"/>
                                      </p:to>
                                    </p:set>
                                    <p:animEffect transition="in" filter="fade">
                                      <p:cBhvr>
                                        <p:cTn id="251" dur="400"/>
                                        <p:tgtEl>
                                          <p:spTgt spid="89"/>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90"/>
                                        </p:tgtEl>
                                        <p:attrNameLst>
                                          <p:attrName>style.visibility</p:attrName>
                                        </p:attrNameLst>
                                      </p:cBhvr>
                                      <p:to>
                                        <p:strVal val="visible"/>
                                      </p:to>
                                    </p:set>
                                    <p:animEffect transition="in" filter="fade">
                                      <p:cBhvr>
                                        <p:cTn id="254" dur="400"/>
                                        <p:tgtEl>
                                          <p:spTgt spid="90"/>
                                        </p:tgtEl>
                                      </p:cBhvr>
                                    </p:animEffect>
                                  </p:childTnLst>
                                </p:cTn>
                              </p:par>
                              <p:par>
                                <p:cTn id="255" presetID="10" presetClass="entr" presetSubtype="0" fill="hold" nodeType="withEffect">
                                  <p:stCondLst>
                                    <p:cond delay="0"/>
                                  </p:stCondLst>
                                  <p:childTnLst>
                                    <p:set>
                                      <p:cBhvr>
                                        <p:cTn id="256" dur="1" fill="hold">
                                          <p:stCondLst>
                                            <p:cond delay="0"/>
                                          </p:stCondLst>
                                        </p:cTn>
                                        <p:tgtEl>
                                          <p:spTgt spid="91"/>
                                        </p:tgtEl>
                                        <p:attrNameLst>
                                          <p:attrName>style.visibility</p:attrName>
                                        </p:attrNameLst>
                                      </p:cBhvr>
                                      <p:to>
                                        <p:strVal val="visible"/>
                                      </p:to>
                                    </p:set>
                                    <p:animEffect transition="in" filter="fade">
                                      <p:cBhvr>
                                        <p:cTn id="257" dur="400"/>
                                        <p:tgtEl>
                                          <p:spTgt spid="91"/>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92"/>
                                        </p:tgtEl>
                                        <p:attrNameLst>
                                          <p:attrName>style.visibility</p:attrName>
                                        </p:attrNameLst>
                                      </p:cBhvr>
                                      <p:to>
                                        <p:strVal val="visible"/>
                                      </p:to>
                                    </p:set>
                                    <p:animEffect transition="in" filter="fade">
                                      <p:cBhvr>
                                        <p:cTn id="260" dur="400"/>
                                        <p:tgtEl>
                                          <p:spTgt spid="92"/>
                                        </p:tgtEl>
                                      </p:cBhvr>
                                    </p:animEffect>
                                  </p:childTnLst>
                                </p:cTn>
                              </p:par>
                              <p:par>
                                <p:cTn id="261" presetID="10" presetClass="entr" presetSubtype="0" fill="hold" nodeType="withEffect">
                                  <p:stCondLst>
                                    <p:cond delay="0"/>
                                  </p:stCondLst>
                                  <p:childTnLst>
                                    <p:set>
                                      <p:cBhvr>
                                        <p:cTn id="262" dur="1" fill="hold">
                                          <p:stCondLst>
                                            <p:cond delay="0"/>
                                          </p:stCondLst>
                                        </p:cTn>
                                        <p:tgtEl>
                                          <p:spTgt spid="93"/>
                                        </p:tgtEl>
                                        <p:attrNameLst>
                                          <p:attrName>style.visibility</p:attrName>
                                        </p:attrNameLst>
                                      </p:cBhvr>
                                      <p:to>
                                        <p:strVal val="visible"/>
                                      </p:to>
                                    </p:set>
                                    <p:animEffect transition="in" filter="fade">
                                      <p:cBhvr>
                                        <p:cTn id="263" dur="400"/>
                                        <p:tgtEl>
                                          <p:spTgt spid="93"/>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4"/>
                                        </p:tgtEl>
                                        <p:attrNameLst>
                                          <p:attrName>style.visibility</p:attrName>
                                        </p:attrNameLst>
                                      </p:cBhvr>
                                      <p:to>
                                        <p:strVal val="visible"/>
                                      </p:to>
                                    </p:set>
                                    <p:animEffect transition="in" filter="fade">
                                      <p:cBhvr>
                                        <p:cTn id="266"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P spid="36" grpId="0" animBg="1"/>
      <p:bldP spid="38" grpId="0" animBg="1"/>
      <p:bldP spid="40" grpId="0" animBg="1"/>
      <p:bldP spid="42" grpId="0" animBg="1"/>
      <p:bldP spid="44" grpId="0" animBg="1"/>
      <p:bldP spid="46" grpId="0" animBg="1"/>
      <p:bldP spid="48" grpId="0" animBg="1"/>
      <p:bldP spid="50" grpId="0" animBg="1"/>
      <p:bldP spid="52" grpId="0" animBg="1"/>
      <p:bldP spid="54" grpId="0" animBg="1"/>
      <p:bldP spid="56" grpId="0" animBg="1"/>
      <p:bldP spid="58" grpId="0" animBg="1"/>
      <p:bldP spid="60" grpId="0" animBg="1"/>
      <p:bldP spid="62" grpId="0" animBg="1"/>
      <p:bldP spid="64" grpId="0" animBg="1"/>
      <p:bldP spid="66" grpId="0" animBg="1"/>
      <p:bldP spid="68" grpId="0" animBg="1"/>
      <p:bldP spid="70" grpId="0" animBg="1"/>
      <p:bldP spid="72" grpId="0" animBg="1"/>
      <p:bldP spid="74" grpId="0" animBg="1"/>
      <p:bldP spid="76" grpId="0" animBg="1"/>
      <p:bldP spid="78" grpId="0" animBg="1"/>
      <p:bldP spid="80" grpId="0" animBg="1"/>
      <p:bldP spid="82" grpId="0" animBg="1"/>
      <p:bldP spid="84" grpId="0" animBg="1"/>
      <p:bldP spid="86" grpId="0" animBg="1"/>
      <p:bldP spid="88" grpId="0" animBg="1"/>
      <p:bldP spid="90" grpId="0" animBg="1"/>
      <p:bldP spid="92" grpId="0" animBg="1"/>
      <p:bldP spid="9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Why does logging.debug print nothing?</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Without any setup the threshold is WARNING</a:t>
            </a:r>
            <a:endParaRPr lang="en-US" sz="1400" dirty="0"/>
          </a:p>
        </p:txBody>
      </p:sp>
      <p:sp>
        <p:nvSpPr>
          <p:cNvPr id="6" name="x"/>
          <p:cNvSpPr/>
          <p:nvPr/>
        </p:nvSpPr>
        <p:spPr>
          <a:xfrm>
            <a:off x="365760" y="1188720"/>
            <a:ext cx="8412480" cy="777240"/>
          </a:xfrm>
          <a:prstGeom prst="roundRect">
            <a:avLst>
              <a:gd name="adj" fmla="val 11765"/>
            </a:avLst>
          </a:prstGeom>
          <a:solidFill>
            <a:srgbClr val="17202B"/>
          </a:solidFill>
          <a:ln w="12700">
            <a:solidFill>
              <a:srgbClr val="17202B"/>
            </a:solidFill>
            <a:prstDash val="solid"/>
          </a:ln>
        </p:spPr>
      </p:sp>
      <p:sp>
        <p:nvSpPr>
          <p:cNvPr id="7" name="codecard"/>
          <p:cNvSpPr txBox="1"/>
          <p:nvPr/>
        </p:nvSpPr>
        <p:spPr>
          <a:xfrm>
            <a:off x="548640" y="1298448"/>
            <a:ext cx="8046720" cy="55778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__import__('logging').getLogger().getEffectiveLevel()</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30</a:t>
            </a:r>
            <a:endParaRPr lang="en-US" sz="1200" dirty="0"/>
          </a:p>
        </p:txBody>
      </p:sp>
      <p:sp>
        <p:nvSpPr>
          <p:cNvPr id="8" name="x"/>
          <p:cNvSpPr txBox="1"/>
          <p:nvPr/>
        </p:nvSpPr>
        <p:spPr>
          <a:xfrm>
            <a:off x="365760" y="1993392"/>
            <a:ext cx="84124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ay"/>
          <p:cNvSpPr txBox="1"/>
          <p:nvPr/>
        </p:nvSpPr>
        <p:spPr>
          <a:xfrm>
            <a:off x="365760" y="2331720"/>
            <a:ext cx="4206240" cy="13716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root logger starts at WARNING, which is 30. Calls below it are dropped; the rest go to standard error, not the screen output of print.</a:t>
            </a:r>
            <a:endParaRPr lang="en-US" sz="1400" dirty="0"/>
          </a:p>
        </p:txBody>
      </p:sp>
      <p:sp>
        <p:nvSpPr>
          <p:cNvPr id="10" name="errcap"/>
          <p:cNvSpPr txBox="1"/>
          <p:nvPr/>
        </p:nvSpPr>
        <p:spPr>
          <a:xfrm>
            <a:off x="4754880" y="2194560"/>
            <a:ext cx="402336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What a program with no basicConfig writes to standard error</a:t>
            </a:r>
            <a:endParaRPr lang="en-US" sz="1200" dirty="0"/>
          </a:p>
        </p:txBody>
      </p:sp>
      <p:sp>
        <p:nvSpPr>
          <p:cNvPr id="11" name="errbox|b1"/>
          <p:cNvSpPr/>
          <p:nvPr/>
        </p:nvSpPr>
        <p:spPr>
          <a:xfrm>
            <a:off x="4754880" y="2487168"/>
            <a:ext cx="4023360" cy="914400"/>
          </a:xfrm>
          <a:prstGeom prst="roundRect">
            <a:avLst>
              <a:gd name="adj" fmla="val 10000"/>
            </a:avLst>
          </a:prstGeom>
          <a:solidFill>
            <a:srgbClr val="17202B"/>
          </a:solidFill>
          <a:ln w="12700">
            <a:solidFill>
              <a:srgbClr val="17202B"/>
            </a:solidFill>
            <a:prstDash val="solid"/>
          </a:ln>
        </p:spPr>
      </p:sp>
      <p:sp>
        <p:nvSpPr>
          <p:cNvPr id="12" name="v:LevelThreshold:o0|b1"/>
          <p:cNvSpPr txBox="1"/>
          <p:nvPr/>
        </p:nvSpPr>
        <p:spPr>
          <a:xfrm>
            <a:off x="4892040" y="2542032"/>
            <a:ext cx="3749040" cy="822960"/>
          </a:xfrm>
          <a:prstGeom prst="rect">
            <a:avLst/>
          </a:prstGeom>
          <a:noFill/>
          <a:ln/>
        </p:spPr>
        <p:txBody>
          <a:bodyPr wrap="square" lIns="0" tIns="0" rIns="0" bIns="0" rtlCol="0" anchor="t"/>
          <a:lstStyle/>
          <a:p>
            <a:pPr indent="0" marL="0">
              <a:buNone/>
            </a:pPr>
            <a:r>
              <a:rPr lang="en-US" sz="1100" dirty="0">
                <a:solidFill>
                  <a:srgbClr val="FF7B72"/>
                </a:solidFill>
                <a:latin typeface="Courier New" pitchFamily="34" charset="0"/>
                <a:ea typeface="Courier New" pitchFamily="34" charset="-122"/>
                <a:cs typeface="Courier New" pitchFamily="34" charset="-120"/>
              </a:rPr>
              <a:t>WARNING:root:warning message</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ERROR:root:error message</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CRITICAL:root:critical message</a:t>
            </a:r>
            <a:endParaRPr lang="en-US" sz="1100" dirty="0"/>
          </a:p>
        </p:txBody>
      </p:sp>
      <p:sp>
        <p:nvSpPr>
          <p:cNvPr id="13" name="drop|b2"/>
          <p:cNvSpPr txBox="1"/>
          <p:nvPr/>
        </p:nvSpPr>
        <p:spPr>
          <a:xfrm>
            <a:off x="4754880" y="3474720"/>
            <a:ext cx="4023360" cy="320040"/>
          </a:xfrm>
          <a:prstGeom prst="rect">
            <a:avLst/>
          </a:prstGeom>
          <a:noFill/>
          <a:ln/>
        </p:spPr>
        <p:txBody>
          <a:bodyPr wrap="square" lIns="0" tIns="0" rIns="0" bIns="0" rtlCol="0" anchor="ctr"/>
          <a:lstStyle/>
          <a:p>
            <a:pPr indent="0" marL="0">
              <a:buNone/>
            </a:pPr>
            <a:r>
              <a:rPr lang="en-US" sz="1400" b="1" dirty="0">
                <a:solidFill>
                  <a:srgbClr val="5B6B7B"/>
                </a:solidFill>
                <a:latin typeface="Calibri" pitchFamily="34" charset="0"/>
                <a:ea typeface="Calibri" pitchFamily="34" charset="-122"/>
                <a:cs typeface="Calibri" pitchFamily="34" charset="-120"/>
              </a:rPr>
              <a:t>debug and info: dropped</a:t>
            </a:r>
            <a:endParaRPr lang="en-US" sz="1400" dirty="0"/>
          </a:p>
        </p:txBody>
      </p:sp>
      <p:sp>
        <p:nvSpPr>
          <p:cNvPr id="14" name="tip|b2"/>
          <p:cNvSpPr/>
          <p:nvPr/>
        </p:nvSpPr>
        <p:spPr>
          <a:xfrm>
            <a:off x="365760" y="3931920"/>
            <a:ext cx="8412480" cy="594360"/>
          </a:xfrm>
          <a:prstGeom prst="roundRect">
            <a:avLst>
              <a:gd name="adj" fmla="val 15385"/>
            </a:avLst>
          </a:prstGeom>
          <a:solidFill>
            <a:srgbClr val="FCEFD0"/>
          </a:solidFill>
          <a:ln w="12700">
            <a:solidFill>
              <a:srgbClr val="B7791F"/>
            </a:solidFill>
            <a:prstDash val="solid"/>
          </a:ln>
        </p:spPr>
      </p:sp>
      <p:sp>
        <p:nvSpPr>
          <p:cNvPr id="15" name="tipt|b2"/>
          <p:cNvSpPr txBox="1"/>
          <p:nvPr/>
        </p:nvSpPr>
        <p:spPr>
          <a:xfrm>
            <a:off x="548640" y="3931920"/>
            <a:ext cx="8046720" cy="59436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The chapter’s call logging.basicConfig(level=logging.DEBUG, …) is what lowers the threshold so the debug lines appear.</a:t>
            </a:r>
            <a:endParaRPr lang="en-US" sz="1300" dirty="0"/>
          </a:p>
        </p:txBody>
      </p:sp>
      <p:sp>
        <p:nvSpPr>
          <p:cNvPr id="1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Default level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Hazard: a second basicConfig call is ignored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first call wins unless you pass force=True</a:t>
            </a:r>
            <a:endParaRPr lang="en-US" sz="1400" dirty="0"/>
          </a:p>
        </p:txBody>
      </p:sp>
      <p:sp>
        <p:nvSpPr>
          <p:cNvPr id="6" name="progbox"/>
          <p:cNvSpPr/>
          <p:nvPr/>
        </p:nvSpPr>
        <p:spPr>
          <a:xfrm>
            <a:off x="365760" y="1188720"/>
            <a:ext cx="8412480" cy="1828800"/>
          </a:xfrm>
          <a:prstGeom prst="roundRect">
            <a:avLst>
              <a:gd name="adj" fmla="val 5000"/>
            </a:avLst>
          </a:prstGeom>
          <a:solidFill>
            <a:srgbClr val="17202B"/>
          </a:solidFill>
          <a:ln w="12700">
            <a:solidFill>
              <a:srgbClr val="17202B"/>
            </a:solidFill>
            <a:prstDash val="solid"/>
          </a:ln>
        </p:spPr>
      </p:sp>
      <p:sp>
        <p:nvSpPr>
          <p:cNvPr id="7" name="prog"/>
          <p:cNvSpPr txBox="1"/>
          <p:nvPr/>
        </p:nvSpPr>
        <p:spPr>
          <a:xfrm>
            <a:off x="548640" y="1280160"/>
            <a:ext cx="8046720" cy="1645920"/>
          </a:xfrm>
          <a:prstGeom prst="rect">
            <a:avLst/>
          </a:prstGeom>
          <a:noFill/>
          <a:ln/>
        </p:spPr>
        <p:txBody>
          <a:bodyPr wrap="square" lIns="0" tIns="0" rIns="0" bIns="0" rtlCol="0" anchor="t"/>
          <a:lstStyle/>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import logging, sys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logging.debug('second call ignored')</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logging.info('first call rules')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 force=True)</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logging.debug('force=True replaces it')</a:t>
            </a:r>
            <a:endParaRPr lang="en-US" sz="950" dirty="0"/>
          </a:p>
        </p:txBody>
      </p:sp>
      <p:sp>
        <p:nvSpPr>
          <p:cNvPr id="8" name="transbox|b1"/>
          <p:cNvSpPr/>
          <p:nvPr/>
        </p:nvSpPr>
        <p:spPr>
          <a:xfrm>
            <a:off x="365760" y="324612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31927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INFO - first call rules</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DEBUG - force=True replaces it</a:t>
            </a:r>
            <a:endParaRPr lang="en-US" sz="1200" dirty="0"/>
          </a:p>
        </p:txBody>
      </p:sp>
      <p:sp>
        <p:nvSpPr>
          <p:cNvPr id="10" name="transcap|b1"/>
          <p:cNvSpPr txBox="1"/>
          <p:nvPr/>
        </p:nvSpPr>
        <p:spPr>
          <a:xfrm>
            <a:off x="365760" y="400507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haz|b2"/>
          <p:cNvSpPr/>
          <p:nvPr/>
        </p:nvSpPr>
        <p:spPr>
          <a:xfrm>
            <a:off x="4572000" y="3246120"/>
            <a:ext cx="4206240" cy="1188720"/>
          </a:xfrm>
          <a:prstGeom prst="roundRect">
            <a:avLst>
              <a:gd name="adj" fmla="val 7692"/>
            </a:avLst>
          </a:prstGeom>
          <a:solidFill>
            <a:srgbClr val="FBE1E1"/>
          </a:solidFill>
          <a:ln w="25400">
            <a:solidFill>
              <a:srgbClr val="D64545"/>
            </a:solidFill>
            <a:prstDash val="solid"/>
          </a:ln>
        </p:spPr>
      </p:sp>
      <p:sp>
        <p:nvSpPr>
          <p:cNvPr id="12" name="hazt|b2"/>
          <p:cNvSpPr txBox="1"/>
          <p:nvPr/>
        </p:nvSpPr>
        <p:spPr>
          <a:xfrm>
            <a:off x="4709160" y="3246120"/>
            <a:ext cx="3931920" cy="11887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basicConfig does nothing if the root logger already has handlers. Your DEBUG call vanished because an earlier call had set INFO. force=True replaces the old setup.</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Force reconfigure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Log to a file instead of the screen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Pass a file name to basicConfig</a:t>
            </a:r>
            <a:endParaRPr lang="en-US" sz="1400" dirty="0"/>
          </a:p>
        </p:txBody>
      </p:sp>
      <p:sp>
        <p:nvSpPr>
          <p:cNvPr id="6" name="progbox"/>
          <p:cNvSpPr/>
          <p:nvPr/>
        </p:nvSpPr>
        <p:spPr>
          <a:xfrm>
            <a:off x="365760" y="1188720"/>
            <a:ext cx="8412480" cy="1737360"/>
          </a:xfrm>
          <a:prstGeom prst="roundRect">
            <a:avLst>
              <a:gd name="adj" fmla="val 5263"/>
            </a:avLst>
          </a:prstGeom>
          <a:solidFill>
            <a:srgbClr val="17202B"/>
          </a:solidFill>
          <a:ln w="12700">
            <a:solidFill>
              <a:srgbClr val="17202B"/>
            </a:solidFill>
            <a:prstDash val="solid"/>
          </a:ln>
        </p:spPr>
      </p:sp>
      <p:sp>
        <p:nvSpPr>
          <p:cNvPr id="7" name="prog"/>
          <p:cNvSpPr txBox="1"/>
          <p:nvPr/>
        </p:nvSpPr>
        <p:spPr>
          <a:xfrm>
            <a:off x="548640" y="1280160"/>
            <a:ext cx="8046720" cy="155448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 os, tempfile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path = os.path.join(tempfile.mkdtemp(), 'myProgramLog.txt')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logging.basicConfig(filename=path, level=logging.DEBUG, format='%(levelname)s - %(message)s')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logging.debug('to the 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logging.critical('also to the 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print(open(path).read(), end='')</a:t>
            </a:r>
            <a:endParaRPr lang="en-US" sz="1050" dirty="0"/>
          </a:p>
        </p:txBody>
      </p:sp>
      <p:sp>
        <p:nvSpPr>
          <p:cNvPr id="8" name="transbox|b1"/>
          <p:cNvSpPr/>
          <p:nvPr/>
        </p:nvSpPr>
        <p:spPr>
          <a:xfrm>
            <a:off x="365760" y="315468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22783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DEBUG - to the file</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CRITICAL - also to the file</a:t>
            </a:r>
            <a:endParaRPr lang="en-US" sz="1200" dirty="0"/>
          </a:p>
        </p:txBody>
      </p:sp>
      <p:sp>
        <p:nvSpPr>
          <p:cNvPr id="10" name="transcap|b1"/>
          <p:cNvSpPr txBox="1"/>
          <p:nvPr/>
        </p:nvSpPr>
        <p:spPr>
          <a:xfrm>
            <a:off x="365760" y="391363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4572000" y="3154680"/>
            <a:ext cx="4206240"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file keeps the record after the program ends. The last line of the program reads it back so the deck can show what was written.</a:t>
            </a:r>
            <a:endParaRPr lang="en-US" sz="13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 to file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Switch every message off with one line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logging.disable silences a level and everything below it</a:t>
            </a:r>
            <a:endParaRPr lang="en-US" sz="1400" dirty="0"/>
          </a:p>
        </p:txBody>
      </p:sp>
      <p:sp>
        <p:nvSpPr>
          <p:cNvPr id="6" name="progbox"/>
          <p:cNvSpPr/>
          <p:nvPr/>
        </p:nvSpPr>
        <p:spPr>
          <a:xfrm>
            <a:off x="365760" y="1188720"/>
            <a:ext cx="8412480" cy="1783080"/>
          </a:xfrm>
          <a:prstGeom prst="roundRect">
            <a:avLst>
              <a:gd name="adj" fmla="val 5128"/>
            </a:avLst>
          </a:prstGeom>
          <a:solidFill>
            <a:srgbClr val="17202B"/>
          </a:solidFill>
          <a:ln w="12700">
            <a:solidFill>
              <a:srgbClr val="17202B"/>
            </a:solidFill>
            <a:prstDash val="solid"/>
          </a:ln>
        </p:spPr>
      </p:sp>
      <p:sp>
        <p:nvSpPr>
          <p:cNvPr id="7" name="prog"/>
          <p:cNvSpPr txBox="1"/>
          <p:nvPr/>
        </p:nvSpPr>
        <p:spPr>
          <a:xfrm>
            <a:off x="548640" y="1280160"/>
            <a:ext cx="8046720" cy="16002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logging.critical('before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logging.disable(logging.CRITICAL)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logging.critical('after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logging.error('after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logging.disable(logging.NOTSET)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logging.error('after re-enabling')</a:t>
            </a:r>
            <a:endParaRPr lang="en-US" sz="1000" dirty="0"/>
          </a:p>
        </p:txBody>
      </p:sp>
      <p:sp>
        <p:nvSpPr>
          <p:cNvPr id="8" name="transbox|b1"/>
          <p:cNvSpPr/>
          <p:nvPr/>
        </p:nvSpPr>
        <p:spPr>
          <a:xfrm>
            <a:off x="365760" y="320040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27355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CRITICAL - before disable</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ERROR - after re-enabling</a:t>
            </a:r>
            <a:endParaRPr lang="en-US" sz="1200" dirty="0"/>
          </a:p>
        </p:txBody>
      </p:sp>
      <p:sp>
        <p:nvSpPr>
          <p:cNvPr id="10" name="transcap|b1"/>
          <p:cNvSpPr txBox="1"/>
          <p:nvPr/>
        </p:nvSpPr>
        <p:spPr>
          <a:xfrm>
            <a:off x="365760" y="395935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4572000" y="3200400"/>
            <a:ext cx="4206240" cy="11887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disable(CRITICAL) silences all five levels. disable(NOTSET) turns them back on. The calls stay in the program; nothing has to be deleted.</a:t>
            </a:r>
            <a:endParaRPr lang="en-US" sz="13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Disabling logging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Give the arguments to the call, not to an f-string</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message is formatted only if it will be shown</a:t>
            </a:r>
            <a:endParaRPr lang="en-US" sz="1400" dirty="0"/>
          </a:p>
        </p:txBody>
      </p:sp>
      <p:sp>
        <p:nvSpPr>
          <p:cNvPr id="6" name="progbox"/>
          <p:cNvSpPr/>
          <p:nvPr/>
        </p:nvSpPr>
        <p:spPr>
          <a:xfrm>
            <a:off x="365760" y="1188720"/>
            <a:ext cx="4572000" cy="2743200"/>
          </a:xfrm>
          <a:prstGeom prst="roundRect">
            <a:avLst>
              <a:gd name="adj" fmla="val 3333"/>
            </a:avLst>
          </a:prstGeom>
          <a:solidFill>
            <a:srgbClr val="17202B"/>
          </a:solidFill>
          <a:ln w="12700">
            <a:solidFill>
              <a:srgbClr val="17202B"/>
            </a:solidFill>
            <a:prstDash val="solid"/>
          </a:ln>
        </p:spPr>
      </p:sp>
      <p:sp>
        <p:nvSpPr>
          <p:cNvPr id="7" name="prog"/>
          <p:cNvSpPr txBox="1"/>
          <p:nvPr/>
        </p:nvSpPr>
        <p:spPr>
          <a:xfrm>
            <a:off x="548640" y="1280160"/>
            <a:ext cx="4206240" cy="256032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class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calls = 0</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def __str__(self):</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Loud.calls += 1</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 = logging.getLogger('demo')</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log.setLevel(logging.INFO)</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log.addHandler(logging.NullHandler())</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log.debug('value is %s',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print('lazy:', Loud.calls)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log.debug(f'value is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print('f-string:', Loud.calls)</a:t>
            </a:r>
            <a:endParaRPr lang="en-US" sz="1050" dirty="0"/>
          </a:p>
        </p:txBody>
      </p:sp>
      <p:sp>
        <p:nvSpPr>
          <p:cNvPr id="8" name="transbox|b1"/>
          <p:cNvSpPr/>
          <p:nvPr/>
        </p:nvSpPr>
        <p:spPr>
          <a:xfrm>
            <a:off x="5120640" y="1188720"/>
            <a:ext cx="3657600" cy="685800"/>
          </a:xfrm>
          <a:prstGeom prst="roundRect">
            <a:avLst>
              <a:gd name="adj" fmla="val 13333"/>
            </a:avLst>
          </a:prstGeom>
          <a:solidFill>
            <a:srgbClr val="F1F4F8"/>
          </a:solidFill>
          <a:ln w="12700">
            <a:solidFill>
              <a:srgbClr val="F1F4F8"/>
            </a:solidFill>
            <a:prstDash val="solid"/>
          </a:ln>
        </p:spPr>
      </p:sp>
      <p:sp>
        <p:nvSpPr>
          <p:cNvPr id="9" name="trans|b1"/>
          <p:cNvSpPr txBox="1"/>
          <p:nvPr/>
        </p:nvSpPr>
        <p:spPr>
          <a:xfrm>
            <a:off x="5257800" y="1261872"/>
            <a:ext cx="3383280" cy="53949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lazy: 0</a:t>
            </a:r>
            <a:endParaRPr lang="en-US" sz="1300" dirty="0"/>
          </a:p>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f-string: 1</a:t>
            </a:r>
            <a:endParaRPr lang="en-US" sz="1300" dirty="0"/>
          </a:p>
        </p:txBody>
      </p:sp>
      <p:sp>
        <p:nvSpPr>
          <p:cNvPr id="10" name="transcap|b1"/>
          <p:cNvSpPr txBox="1"/>
          <p:nvPr/>
        </p:nvSpPr>
        <p:spPr>
          <a:xfrm>
            <a:off x="5120640" y="1901952"/>
            <a:ext cx="3657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card|b2"/>
          <p:cNvSpPr/>
          <p:nvPr/>
        </p:nvSpPr>
        <p:spPr>
          <a:xfrm>
            <a:off x="5120640" y="2240280"/>
            <a:ext cx="1783080" cy="1783080"/>
          </a:xfrm>
          <a:prstGeom prst="roundRect">
            <a:avLst>
              <a:gd name="adj" fmla="val 5128"/>
            </a:avLst>
          </a:prstGeom>
          <a:solidFill>
            <a:srgbClr val="F1F4F8"/>
          </a:solidFill>
          <a:ln w="12700">
            <a:solidFill>
              <a:srgbClr val="F1F4F8"/>
            </a:solidFill>
            <a:prstDash val="solid"/>
          </a:ln>
        </p:spPr>
      </p:sp>
      <p:sp>
        <p:nvSpPr>
          <p:cNvPr id="12" name="cardhead|b2"/>
          <p:cNvSpPr txBox="1"/>
          <p:nvPr/>
        </p:nvSpPr>
        <p:spPr>
          <a:xfrm>
            <a:off x="5285232" y="2331720"/>
            <a:ext cx="145389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Arguments</a:t>
            </a:r>
            <a:endParaRPr lang="en-US" sz="1500" dirty="0"/>
          </a:p>
        </p:txBody>
      </p:sp>
      <p:sp>
        <p:nvSpPr>
          <p:cNvPr id="13" name="cardbody|b2"/>
          <p:cNvSpPr txBox="1"/>
          <p:nvPr/>
        </p:nvSpPr>
        <p:spPr>
          <a:xfrm>
            <a:off x="5285232" y="2660904"/>
            <a:ext cx="1453896"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log.debug('value is %s', obj)</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formatted only when emitted: zero conversions here</a:t>
            </a:r>
            <a:endParaRPr lang="en-US" sz="1300" dirty="0"/>
          </a:p>
        </p:txBody>
      </p:sp>
      <p:sp>
        <p:nvSpPr>
          <p:cNvPr id="14" name="card|b3"/>
          <p:cNvSpPr/>
          <p:nvPr/>
        </p:nvSpPr>
        <p:spPr>
          <a:xfrm>
            <a:off x="6995160" y="2240280"/>
            <a:ext cx="1783080" cy="1783080"/>
          </a:xfrm>
          <a:prstGeom prst="roundRect">
            <a:avLst>
              <a:gd name="adj" fmla="val 5128"/>
            </a:avLst>
          </a:prstGeom>
          <a:solidFill>
            <a:srgbClr val="F1F4F8"/>
          </a:solidFill>
          <a:ln w="12700">
            <a:solidFill>
              <a:srgbClr val="F1F4F8"/>
            </a:solidFill>
            <a:prstDash val="solid"/>
          </a:ln>
        </p:spPr>
      </p:sp>
      <p:sp>
        <p:nvSpPr>
          <p:cNvPr id="15" name="cardhead|b3"/>
          <p:cNvSpPr txBox="1"/>
          <p:nvPr/>
        </p:nvSpPr>
        <p:spPr>
          <a:xfrm>
            <a:off x="7159752" y="2331720"/>
            <a:ext cx="145389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f-string</a:t>
            </a:r>
            <a:endParaRPr lang="en-US" sz="1500" dirty="0"/>
          </a:p>
        </p:txBody>
      </p:sp>
      <p:sp>
        <p:nvSpPr>
          <p:cNvPr id="16" name="cardbody|b3"/>
          <p:cNvSpPr txBox="1"/>
          <p:nvPr/>
        </p:nvSpPr>
        <p:spPr>
          <a:xfrm>
            <a:off x="7159752" y="2660904"/>
            <a:ext cx="1453896"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log.debug(f'value is {obj}')</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built before the call, even when debug is hidden</a:t>
            </a:r>
            <a:endParaRPr lang="en-US" sz="1300" dirty="0"/>
          </a:p>
        </p:txBody>
      </p:sp>
      <p:sp>
        <p:nvSpPr>
          <p:cNvPr id="1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Lazy formatting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Log messages are for the programmer; print is for the user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Practice question 8 asks why logging beats print</a:t>
            </a:r>
            <a:endParaRPr lang="en-US" sz="1400" dirty="0"/>
          </a:p>
        </p:txBody>
      </p:sp>
      <p:sp>
        <p:nvSpPr>
          <p:cNvPr id="6" name="card|b1"/>
          <p:cNvSpPr/>
          <p:nvPr/>
        </p:nvSpPr>
        <p:spPr>
          <a:xfrm>
            <a:off x="365760" y="1325880"/>
            <a:ext cx="4114800" cy="2468880"/>
          </a:xfrm>
          <a:prstGeom prst="roundRect">
            <a:avLst>
              <a:gd name="adj" fmla="val 3704"/>
            </a:avLst>
          </a:prstGeom>
          <a:solidFill>
            <a:srgbClr val="F1F4F8"/>
          </a:solidFill>
          <a:ln w="12700">
            <a:solidFill>
              <a:srgbClr val="F1F4F8"/>
            </a:solidFill>
            <a:prstDash val="solid"/>
          </a:ln>
        </p:spPr>
      </p:sp>
      <p:sp>
        <p:nvSpPr>
          <p:cNvPr id="7" name="cardhead|b1"/>
          <p:cNvSpPr txBox="1"/>
          <p:nvPr/>
        </p:nvSpPr>
        <p:spPr>
          <a:xfrm>
            <a:off x="530352" y="1417320"/>
            <a:ext cx="378561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logging</a:t>
            </a:r>
            <a:endParaRPr lang="en-US" sz="1500" dirty="0"/>
          </a:p>
        </p:txBody>
      </p:sp>
      <p:sp>
        <p:nvSpPr>
          <p:cNvPr id="8" name="cardbody|b1"/>
          <p:cNvSpPr txBox="1"/>
          <p:nvPr/>
        </p:nvSpPr>
        <p:spPr>
          <a:xfrm>
            <a:off x="530352" y="1746504"/>
            <a:ext cx="3785616" cy="1965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Stays in the program.</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One setting silences it.</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Carries a level, and can carry a time.</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logging.debug('i is %s', i)</a:t>
            </a:r>
            <a:endParaRPr lang="en-US" sz="1300" dirty="0"/>
          </a:p>
        </p:txBody>
      </p:sp>
      <p:sp>
        <p:nvSpPr>
          <p:cNvPr id="9" name="card|b2"/>
          <p:cNvSpPr/>
          <p:nvPr/>
        </p:nvSpPr>
        <p:spPr>
          <a:xfrm>
            <a:off x="4663440" y="1325880"/>
            <a:ext cx="4114800" cy="2468880"/>
          </a:xfrm>
          <a:prstGeom prst="roundRect">
            <a:avLst>
              <a:gd name="adj" fmla="val 3704"/>
            </a:avLst>
          </a:prstGeom>
          <a:solidFill>
            <a:srgbClr val="F1F4F8"/>
          </a:solidFill>
          <a:ln w="12700">
            <a:solidFill>
              <a:srgbClr val="F1F4F8"/>
            </a:solidFill>
            <a:prstDash val="solid"/>
          </a:ln>
        </p:spPr>
      </p:sp>
      <p:sp>
        <p:nvSpPr>
          <p:cNvPr id="10" name="cardhead|b2"/>
          <p:cNvSpPr txBox="1"/>
          <p:nvPr/>
        </p:nvSpPr>
        <p:spPr>
          <a:xfrm>
            <a:off x="4828032" y="1417320"/>
            <a:ext cx="37856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print()</a:t>
            </a:r>
            <a:endParaRPr lang="en-US" sz="1500" dirty="0"/>
          </a:p>
        </p:txBody>
      </p:sp>
      <p:sp>
        <p:nvSpPr>
          <p:cNvPr id="11" name="cardbody|b2"/>
          <p:cNvSpPr txBox="1"/>
          <p:nvPr/>
        </p:nvSpPr>
        <p:spPr>
          <a:xfrm>
            <a:off x="4828032" y="1746504"/>
            <a:ext cx="3785616" cy="1965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the person running the program should see:</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File not found.</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Invalid input, please enter a number.</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print('File not found')</a:t>
            </a:r>
            <a:endParaRPr lang="en-US" sz="1300" dirty="0"/>
          </a:p>
        </p:txBody>
      </p:sp>
      <p:sp>
        <p:nvSpPr>
          <p:cNvPr id="12" name="say|b3"/>
          <p:cNvSpPr txBox="1"/>
          <p:nvPr/>
        </p:nvSpPr>
        <p:spPr>
          <a:xfrm>
            <a:off x="365760" y="3977640"/>
            <a:ext cx="8412480" cy="50292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Rule of thumb: if you would delete it before giving the program to someone, it is a log message.</a:t>
            </a:r>
            <a:endParaRPr lang="en-US" sz="15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Logging versus print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what does factorial(3) return?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loop is range(n + 1)</a:t>
            </a:r>
            <a:endParaRPr lang="en-US" sz="1400" dirty="0"/>
          </a:p>
        </p:txBody>
      </p:sp>
      <p:sp>
        <p:nvSpPr>
          <p:cNvPr id="6" name="progbox"/>
          <p:cNvSpPr/>
          <p:nvPr/>
        </p:nvSpPr>
        <p:spPr>
          <a:xfrm>
            <a:off x="365760" y="1188720"/>
            <a:ext cx="8412480" cy="2103120"/>
          </a:xfrm>
          <a:prstGeom prst="roundRect">
            <a:avLst>
              <a:gd name="adj" fmla="val 4348"/>
            </a:avLst>
          </a:prstGeom>
          <a:solidFill>
            <a:srgbClr val="17202B"/>
          </a:solidFill>
          <a:ln w="12700">
            <a:solidFill>
              <a:srgbClr val="17202B"/>
            </a:solidFill>
            <a:prstDash val="solid"/>
          </a:ln>
        </p:spPr>
      </p:sp>
      <p:sp>
        <p:nvSpPr>
          <p:cNvPr id="7" name="prog"/>
          <p:cNvSpPr txBox="1"/>
          <p:nvPr/>
        </p:nvSpPr>
        <p:spPr>
          <a:xfrm>
            <a:off x="548640" y="1280160"/>
            <a:ext cx="8046720" cy="19202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factorial(n):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logging.debug('Start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for i in range(n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logging.debug('i is %s, total is %s', i, total)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logging.debug('End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total</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print(factorial(3))</a:t>
            </a:r>
            <a:endParaRPr lang="en-US" sz="1000" dirty="0"/>
          </a:p>
        </p:txBody>
      </p:sp>
      <p:sp>
        <p:nvSpPr>
          <p:cNvPr id="8" name="say"/>
          <p:cNvSpPr txBox="1"/>
          <p:nvPr/>
        </p:nvSpPr>
        <p:spPr>
          <a:xfrm>
            <a:off x="365760" y="3429000"/>
            <a:ext cx="4023360" cy="100584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Before you click: what is total after the first pass, and what does the call print? 3! is 6.</a:t>
            </a:r>
            <a:endParaRPr lang="en-US" sz="1500" dirty="0"/>
          </a:p>
        </p:txBody>
      </p:sp>
      <p:sp>
        <p:nvSpPr>
          <p:cNvPr id="9" name="transbox|b1"/>
          <p:cNvSpPr/>
          <p:nvPr/>
        </p:nvSpPr>
        <p:spPr>
          <a:xfrm>
            <a:off x="4572000" y="3383280"/>
            <a:ext cx="4206240" cy="1097280"/>
          </a:xfrm>
          <a:prstGeom prst="roundRect">
            <a:avLst>
              <a:gd name="adj" fmla="val 8333"/>
            </a:avLst>
          </a:prstGeom>
          <a:solidFill>
            <a:srgbClr val="F1F4F8"/>
          </a:solidFill>
          <a:ln w="12700">
            <a:solidFill>
              <a:srgbClr val="F1F4F8"/>
            </a:solidFill>
            <a:prstDash val="solid"/>
          </a:ln>
        </p:spPr>
      </p:sp>
      <p:sp>
        <p:nvSpPr>
          <p:cNvPr id="10" name="trans|b1"/>
          <p:cNvSpPr txBox="1"/>
          <p:nvPr/>
        </p:nvSpPr>
        <p:spPr>
          <a:xfrm>
            <a:off x="4709160" y="3456432"/>
            <a:ext cx="3931920" cy="950976"/>
          </a:xfrm>
          <a:prstGeom prst="rect">
            <a:avLst/>
          </a:prstGeom>
          <a:noFill/>
          <a:ln/>
        </p:spPr>
        <p:txBody>
          <a:bodyPr wrap="square" lIns="0" tIns="0" rIns="0" bIns="0" rtlCol="0" anchor="t"/>
          <a:lstStyle/>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Start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0,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1,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2,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3,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End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0</a:t>
            </a:r>
            <a:endParaRPr lang="en-US" sz="950" dirty="0"/>
          </a:p>
        </p:txBody>
      </p:sp>
      <p:sp>
        <p:nvSpPr>
          <p:cNvPr id="11" name="transcap|b1"/>
          <p:cNvSpPr txBox="1"/>
          <p:nvPr/>
        </p:nvSpPr>
        <p:spPr>
          <a:xfrm>
            <a:off x="4572000" y="4507992"/>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the first pass multiplies by zero</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row per pass — recorded from a real run</a:t>
            </a:r>
            <a:endParaRPr lang="en-US" sz="1400" dirty="0"/>
          </a:p>
        </p:txBody>
      </p:sp>
      <p:sp>
        <p:nvSpPr>
          <p:cNvPr id="6" name="x"/>
          <p:cNvSpPr/>
          <p:nvPr/>
        </p:nvSpPr>
        <p:spPr>
          <a:xfrm>
            <a:off x="365760" y="1234440"/>
            <a:ext cx="512064" cy="310896"/>
          </a:xfrm>
          <a:prstGeom prst="rect">
            <a:avLst/>
          </a:prstGeom>
          <a:solidFill>
            <a:srgbClr val="1E2A3A"/>
          </a:solidFill>
          <a:ln w="12700">
            <a:solidFill>
              <a:srgbClr val="1E2A3A"/>
            </a:solidFill>
            <a:prstDash val="solid"/>
          </a:ln>
        </p:spPr>
      </p:sp>
      <p:sp>
        <p:nvSpPr>
          <p:cNvPr id="7" name="x"/>
          <p:cNvSpPr txBox="1"/>
          <p:nvPr/>
        </p:nvSpPr>
        <p:spPr>
          <a:xfrm>
            <a:off x="420624" y="123444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914400" y="1234440"/>
            <a:ext cx="969264" cy="310896"/>
          </a:xfrm>
          <a:prstGeom prst="rect">
            <a:avLst/>
          </a:prstGeom>
          <a:solidFill>
            <a:srgbClr val="1E2A3A"/>
          </a:solidFill>
          <a:ln w="12700">
            <a:solidFill>
              <a:srgbClr val="1E2A3A"/>
            </a:solidFill>
            <a:prstDash val="solid"/>
          </a:ln>
        </p:spPr>
      </p:sp>
      <p:sp>
        <p:nvSpPr>
          <p:cNvPr id="9" name="x"/>
          <p:cNvSpPr txBox="1"/>
          <p:nvPr/>
        </p:nvSpPr>
        <p:spPr>
          <a:xfrm>
            <a:off x="969264" y="123444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i</a:t>
            </a:r>
            <a:endParaRPr lang="en-US" sz="1200" dirty="0"/>
          </a:p>
        </p:txBody>
      </p:sp>
      <p:sp>
        <p:nvSpPr>
          <p:cNvPr id="10" name="x"/>
          <p:cNvSpPr/>
          <p:nvPr/>
        </p:nvSpPr>
        <p:spPr>
          <a:xfrm>
            <a:off x="1920240" y="1234440"/>
            <a:ext cx="969264" cy="310896"/>
          </a:xfrm>
          <a:prstGeom prst="rect">
            <a:avLst/>
          </a:prstGeom>
          <a:solidFill>
            <a:srgbClr val="1E2A3A"/>
          </a:solidFill>
          <a:ln w="12700">
            <a:solidFill>
              <a:srgbClr val="1E2A3A"/>
            </a:solidFill>
            <a:prstDash val="solid"/>
          </a:ln>
        </p:spPr>
      </p:sp>
      <p:sp>
        <p:nvSpPr>
          <p:cNvPr id="11" name="x"/>
          <p:cNvSpPr txBox="1"/>
          <p:nvPr/>
        </p:nvSpPr>
        <p:spPr>
          <a:xfrm>
            <a:off x="1975104" y="123444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total</a:t>
            </a:r>
            <a:endParaRPr lang="en-US" sz="1200" dirty="0"/>
          </a:p>
        </p:txBody>
      </p:sp>
      <p:sp>
        <p:nvSpPr>
          <p:cNvPr id="12" name="x"/>
          <p:cNvSpPr/>
          <p:nvPr/>
        </p:nvSpPr>
        <p:spPr>
          <a:xfrm>
            <a:off x="2926080" y="1234440"/>
            <a:ext cx="2889504" cy="310896"/>
          </a:xfrm>
          <a:prstGeom prst="rect">
            <a:avLst/>
          </a:prstGeom>
          <a:solidFill>
            <a:srgbClr val="1E2A3A"/>
          </a:solidFill>
          <a:ln w="12700">
            <a:solidFill>
              <a:srgbClr val="1E2A3A"/>
            </a:solidFill>
            <a:prstDash val="solid"/>
          </a:ln>
        </p:spPr>
      </p:sp>
      <p:sp>
        <p:nvSpPr>
          <p:cNvPr id="13" name="x"/>
          <p:cNvSpPr txBox="1"/>
          <p:nvPr/>
        </p:nvSpPr>
        <p:spPr>
          <a:xfrm>
            <a:off x="2980944" y="123444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34440"/>
            <a:ext cx="2889504" cy="310896"/>
          </a:xfrm>
          <a:prstGeom prst="rect">
            <a:avLst/>
          </a:prstGeom>
          <a:solidFill>
            <a:srgbClr val="1E2A3A"/>
          </a:solidFill>
          <a:ln w="12700">
            <a:solidFill>
              <a:srgbClr val="1E2A3A"/>
            </a:solidFill>
            <a:prstDash val="solid"/>
          </a:ln>
        </p:spPr>
      </p:sp>
      <p:sp>
        <p:nvSpPr>
          <p:cNvPr id="15" name="x"/>
          <p:cNvSpPr txBox="1"/>
          <p:nvPr/>
        </p:nvSpPr>
        <p:spPr>
          <a:xfrm>
            <a:off x="5907024" y="123444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365760" y="1581912"/>
            <a:ext cx="512064" cy="521208"/>
          </a:xfrm>
          <a:prstGeom prst="rect">
            <a:avLst/>
          </a:prstGeom>
          <a:solidFill>
            <a:srgbClr val="F1F4F8"/>
          </a:solidFill>
          <a:ln w="12700">
            <a:solidFill>
              <a:srgbClr val="F1F4F8"/>
            </a:solidFill>
            <a:prstDash val="solid"/>
          </a:ln>
        </p:spPr>
      </p:sp>
      <p:sp>
        <p:nvSpPr>
          <p:cNvPr id="17" name="v:OffByOneRange:0:0:n|b1"/>
          <p:cNvSpPr txBox="1"/>
          <p:nvPr/>
        </p:nvSpPr>
        <p:spPr>
          <a:xfrm>
            <a:off x="420624" y="1581912"/>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a:t>
            </a:r>
            <a:endParaRPr lang="en-US" sz="1100" dirty="0"/>
          </a:p>
        </p:txBody>
      </p:sp>
      <p:sp>
        <p:nvSpPr>
          <p:cNvPr id="18" name="cellbox|b1"/>
          <p:cNvSpPr/>
          <p:nvPr/>
        </p:nvSpPr>
        <p:spPr>
          <a:xfrm>
            <a:off x="914400" y="1581912"/>
            <a:ext cx="969264" cy="521208"/>
          </a:xfrm>
          <a:prstGeom prst="rect">
            <a:avLst/>
          </a:prstGeom>
          <a:solidFill>
            <a:srgbClr val="F1F4F8"/>
          </a:solidFill>
          <a:ln w="12700">
            <a:solidFill>
              <a:srgbClr val="F1F4F8"/>
            </a:solidFill>
            <a:prstDash val="solid"/>
          </a:ln>
        </p:spPr>
      </p:sp>
      <p:sp>
        <p:nvSpPr>
          <p:cNvPr id="19" name="v:OffByOneRange:0:0:v0|b1"/>
          <p:cNvSpPr txBox="1"/>
          <p:nvPr/>
        </p:nvSpPr>
        <p:spPr>
          <a:xfrm>
            <a:off x="969264" y="1581912"/>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20" name="cellbox|b1"/>
          <p:cNvSpPr/>
          <p:nvPr/>
        </p:nvSpPr>
        <p:spPr>
          <a:xfrm>
            <a:off x="1920240" y="1581912"/>
            <a:ext cx="969264" cy="521208"/>
          </a:xfrm>
          <a:prstGeom prst="rect">
            <a:avLst/>
          </a:prstGeom>
          <a:solidFill>
            <a:srgbClr val="F1F4F8"/>
          </a:solidFill>
          <a:ln w="12700">
            <a:solidFill>
              <a:srgbClr val="F1F4F8"/>
            </a:solidFill>
            <a:prstDash val="solid"/>
          </a:ln>
        </p:spPr>
      </p:sp>
      <p:sp>
        <p:nvSpPr>
          <p:cNvPr id="21" name="v:OffByOneRange:0:0:v1|b1"/>
          <p:cNvSpPr txBox="1"/>
          <p:nvPr/>
        </p:nvSpPr>
        <p:spPr>
          <a:xfrm>
            <a:off x="1975104" y="1581912"/>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22" name="cellbox|b1"/>
          <p:cNvSpPr/>
          <p:nvPr/>
        </p:nvSpPr>
        <p:spPr>
          <a:xfrm>
            <a:off x="2926080" y="1581912"/>
            <a:ext cx="2889504" cy="521208"/>
          </a:xfrm>
          <a:prstGeom prst="rect">
            <a:avLst/>
          </a:prstGeom>
          <a:solidFill>
            <a:srgbClr val="F1F4F8"/>
          </a:solidFill>
          <a:ln w="12700">
            <a:solidFill>
              <a:srgbClr val="F1F4F8"/>
            </a:solidFill>
            <a:prstDash val="solid"/>
          </a:ln>
        </p:spPr>
      </p:sp>
      <p:sp>
        <p:nvSpPr>
          <p:cNvPr id="23" name="v:OffByOneRange:0:0:ev|b1"/>
          <p:cNvSpPr txBox="1"/>
          <p:nvPr/>
        </p:nvSpPr>
        <p:spPr>
          <a:xfrm>
            <a:off x="2980944" y="1581912"/>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24" name="cellbox|b1"/>
          <p:cNvSpPr/>
          <p:nvPr/>
        </p:nvSpPr>
        <p:spPr>
          <a:xfrm>
            <a:off x="5852160" y="1581912"/>
            <a:ext cx="2889504" cy="521208"/>
          </a:xfrm>
          <a:prstGeom prst="rect">
            <a:avLst/>
          </a:prstGeom>
          <a:solidFill>
            <a:srgbClr val="F1F4F8"/>
          </a:solidFill>
          <a:ln w="12700">
            <a:solidFill>
              <a:srgbClr val="F1F4F8"/>
            </a:solidFill>
            <a:prstDash val="solid"/>
          </a:ln>
        </p:spPr>
      </p:sp>
      <p:sp>
        <p:nvSpPr>
          <p:cNvPr id="25" name="v:OffByOneRange:0:0:out|b1"/>
          <p:cNvSpPr txBox="1"/>
          <p:nvPr/>
        </p:nvSpPr>
        <p:spPr>
          <a:xfrm>
            <a:off x="5907024" y="1581912"/>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0, total is 0</a:t>
            </a:r>
            <a:endParaRPr lang="en-US" sz="1100" dirty="0"/>
          </a:p>
        </p:txBody>
      </p:sp>
      <p:sp>
        <p:nvSpPr>
          <p:cNvPr id="26" name="cellbox|b2"/>
          <p:cNvSpPr/>
          <p:nvPr/>
        </p:nvSpPr>
        <p:spPr>
          <a:xfrm>
            <a:off x="365760" y="2148840"/>
            <a:ext cx="512064" cy="521208"/>
          </a:xfrm>
          <a:prstGeom prst="rect">
            <a:avLst/>
          </a:prstGeom>
          <a:solidFill>
            <a:srgbClr val="F1F4F8"/>
          </a:solidFill>
          <a:ln w="12700">
            <a:solidFill>
              <a:srgbClr val="F1F4F8"/>
            </a:solidFill>
            <a:prstDash val="solid"/>
          </a:ln>
        </p:spPr>
      </p:sp>
      <p:sp>
        <p:nvSpPr>
          <p:cNvPr id="27" name="v:OffByOneRange:0:1:n|b2"/>
          <p:cNvSpPr txBox="1"/>
          <p:nvPr/>
        </p:nvSpPr>
        <p:spPr>
          <a:xfrm>
            <a:off x="420624" y="2148840"/>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2</a:t>
            </a:r>
            <a:endParaRPr lang="en-US" sz="1100" dirty="0"/>
          </a:p>
        </p:txBody>
      </p:sp>
      <p:sp>
        <p:nvSpPr>
          <p:cNvPr id="28" name="cellbox|b2"/>
          <p:cNvSpPr/>
          <p:nvPr/>
        </p:nvSpPr>
        <p:spPr>
          <a:xfrm>
            <a:off x="914400" y="2148840"/>
            <a:ext cx="969264" cy="521208"/>
          </a:xfrm>
          <a:prstGeom prst="rect">
            <a:avLst/>
          </a:prstGeom>
          <a:solidFill>
            <a:srgbClr val="F1F4F8"/>
          </a:solidFill>
          <a:ln w="12700">
            <a:solidFill>
              <a:srgbClr val="F1F4F8"/>
            </a:solidFill>
            <a:prstDash val="solid"/>
          </a:ln>
        </p:spPr>
      </p:sp>
      <p:sp>
        <p:nvSpPr>
          <p:cNvPr id="29" name="v:OffByOneRange:0:1:v0|b2"/>
          <p:cNvSpPr txBox="1"/>
          <p:nvPr/>
        </p:nvSpPr>
        <p:spPr>
          <a:xfrm>
            <a:off x="969264" y="2148840"/>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30" name="cellbox|b2"/>
          <p:cNvSpPr/>
          <p:nvPr/>
        </p:nvSpPr>
        <p:spPr>
          <a:xfrm>
            <a:off x="1920240" y="2148840"/>
            <a:ext cx="969264" cy="521208"/>
          </a:xfrm>
          <a:prstGeom prst="rect">
            <a:avLst/>
          </a:prstGeom>
          <a:solidFill>
            <a:srgbClr val="F1F4F8"/>
          </a:solidFill>
          <a:ln w="12700">
            <a:solidFill>
              <a:srgbClr val="F1F4F8"/>
            </a:solidFill>
            <a:prstDash val="solid"/>
          </a:ln>
        </p:spPr>
      </p:sp>
      <p:sp>
        <p:nvSpPr>
          <p:cNvPr id="31" name="v:OffByOneRange:0:1:v1|b2"/>
          <p:cNvSpPr txBox="1"/>
          <p:nvPr/>
        </p:nvSpPr>
        <p:spPr>
          <a:xfrm>
            <a:off x="1975104" y="2148840"/>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32" name="cellbox|b2"/>
          <p:cNvSpPr/>
          <p:nvPr/>
        </p:nvSpPr>
        <p:spPr>
          <a:xfrm>
            <a:off x="2926080" y="2148840"/>
            <a:ext cx="2889504" cy="521208"/>
          </a:xfrm>
          <a:prstGeom prst="rect">
            <a:avLst/>
          </a:prstGeom>
          <a:solidFill>
            <a:srgbClr val="F1F4F8"/>
          </a:solidFill>
          <a:ln w="12700">
            <a:solidFill>
              <a:srgbClr val="F1F4F8"/>
            </a:solidFill>
            <a:prstDash val="solid"/>
          </a:ln>
        </p:spPr>
      </p:sp>
      <p:sp>
        <p:nvSpPr>
          <p:cNvPr id="33" name="v:OffByOneRange:0:1:ev|b2"/>
          <p:cNvSpPr txBox="1"/>
          <p:nvPr/>
        </p:nvSpPr>
        <p:spPr>
          <a:xfrm>
            <a:off x="2980944" y="2148840"/>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34" name="cellbox|b2"/>
          <p:cNvSpPr/>
          <p:nvPr/>
        </p:nvSpPr>
        <p:spPr>
          <a:xfrm>
            <a:off x="5852160" y="2148840"/>
            <a:ext cx="2889504" cy="521208"/>
          </a:xfrm>
          <a:prstGeom prst="rect">
            <a:avLst/>
          </a:prstGeom>
          <a:solidFill>
            <a:srgbClr val="F1F4F8"/>
          </a:solidFill>
          <a:ln w="12700">
            <a:solidFill>
              <a:srgbClr val="F1F4F8"/>
            </a:solidFill>
            <a:prstDash val="solid"/>
          </a:ln>
        </p:spPr>
      </p:sp>
      <p:sp>
        <p:nvSpPr>
          <p:cNvPr id="35" name="v:OffByOneRange:0:1:out|b2"/>
          <p:cNvSpPr txBox="1"/>
          <p:nvPr/>
        </p:nvSpPr>
        <p:spPr>
          <a:xfrm>
            <a:off x="5907024" y="2148840"/>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1, total is 0</a:t>
            </a:r>
            <a:endParaRPr lang="en-US" sz="1100" dirty="0"/>
          </a:p>
        </p:txBody>
      </p:sp>
      <p:sp>
        <p:nvSpPr>
          <p:cNvPr id="36" name="cellbox|b3"/>
          <p:cNvSpPr/>
          <p:nvPr/>
        </p:nvSpPr>
        <p:spPr>
          <a:xfrm>
            <a:off x="365760" y="2715768"/>
            <a:ext cx="512064" cy="521208"/>
          </a:xfrm>
          <a:prstGeom prst="rect">
            <a:avLst/>
          </a:prstGeom>
          <a:solidFill>
            <a:srgbClr val="F1F4F8"/>
          </a:solidFill>
          <a:ln w="12700">
            <a:solidFill>
              <a:srgbClr val="F1F4F8"/>
            </a:solidFill>
            <a:prstDash val="solid"/>
          </a:ln>
        </p:spPr>
      </p:sp>
      <p:sp>
        <p:nvSpPr>
          <p:cNvPr id="37" name="v:OffByOneRange:0:2:n|b3"/>
          <p:cNvSpPr txBox="1"/>
          <p:nvPr/>
        </p:nvSpPr>
        <p:spPr>
          <a:xfrm>
            <a:off x="420624" y="2715768"/>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3</a:t>
            </a:r>
            <a:endParaRPr lang="en-US" sz="1100" dirty="0"/>
          </a:p>
        </p:txBody>
      </p:sp>
      <p:sp>
        <p:nvSpPr>
          <p:cNvPr id="38" name="cellbox|b3"/>
          <p:cNvSpPr/>
          <p:nvPr/>
        </p:nvSpPr>
        <p:spPr>
          <a:xfrm>
            <a:off x="914400" y="2715768"/>
            <a:ext cx="969264" cy="521208"/>
          </a:xfrm>
          <a:prstGeom prst="rect">
            <a:avLst/>
          </a:prstGeom>
          <a:solidFill>
            <a:srgbClr val="F1F4F8"/>
          </a:solidFill>
          <a:ln w="12700">
            <a:solidFill>
              <a:srgbClr val="F1F4F8"/>
            </a:solidFill>
            <a:prstDash val="solid"/>
          </a:ln>
        </p:spPr>
      </p:sp>
      <p:sp>
        <p:nvSpPr>
          <p:cNvPr id="39" name="v:OffByOneRange:0:2:v0|b3"/>
          <p:cNvSpPr txBox="1"/>
          <p:nvPr/>
        </p:nvSpPr>
        <p:spPr>
          <a:xfrm>
            <a:off x="969264" y="2715768"/>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40" name="cellbox|b3"/>
          <p:cNvSpPr/>
          <p:nvPr/>
        </p:nvSpPr>
        <p:spPr>
          <a:xfrm>
            <a:off x="1920240" y="2715768"/>
            <a:ext cx="969264" cy="521208"/>
          </a:xfrm>
          <a:prstGeom prst="rect">
            <a:avLst/>
          </a:prstGeom>
          <a:solidFill>
            <a:srgbClr val="F1F4F8"/>
          </a:solidFill>
          <a:ln w="12700">
            <a:solidFill>
              <a:srgbClr val="F1F4F8"/>
            </a:solidFill>
            <a:prstDash val="solid"/>
          </a:ln>
        </p:spPr>
      </p:sp>
      <p:sp>
        <p:nvSpPr>
          <p:cNvPr id="41" name="v:OffByOneRange:0:2:v1|b3"/>
          <p:cNvSpPr txBox="1"/>
          <p:nvPr/>
        </p:nvSpPr>
        <p:spPr>
          <a:xfrm>
            <a:off x="1975104" y="2715768"/>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42" name="cellbox|b3"/>
          <p:cNvSpPr/>
          <p:nvPr/>
        </p:nvSpPr>
        <p:spPr>
          <a:xfrm>
            <a:off x="2926080" y="2715768"/>
            <a:ext cx="2889504" cy="521208"/>
          </a:xfrm>
          <a:prstGeom prst="rect">
            <a:avLst/>
          </a:prstGeom>
          <a:solidFill>
            <a:srgbClr val="F1F4F8"/>
          </a:solidFill>
          <a:ln w="12700">
            <a:solidFill>
              <a:srgbClr val="F1F4F8"/>
            </a:solidFill>
            <a:prstDash val="solid"/>
          </a:ln>
        </p:spPr>
      </p:sp>
      <p:sp>
        <p:nvSpPr>
          <p:cNvPr id="43" name="v:OffByOneRange:0:2:ev|b3"/>
          <p:cNvSpPr txBox="1"/>
          <p:nvPr/>
        </p:nvSpPr>
        <p:spPr>
          <a:xfrm>
            <a:off x="2980944" y="2715768"/>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44" name="cellbox|b3"/>
          <p:cNvSpPr/>
          <p:nvPr/>
        </p:nvSpPr>
        <p:spPr>
          <a:xfrm>
            <a:off x="5852160" y="2715768"/>
            <a:ext cx="2889504" cy="521208"/>
          </a:xfrm>
          <a:prstGeom prst="rect">
            <a:avLst/>
          </a:prstGeom>
          <a:solidFill>
            <a:srgbClr val="F1F4F8"/>
          </a:solidFill>
          <a:ln w="12700">
            <a:solidFill>
              <a:srgbClr val="F1F4F8"/>
            </a:solidFill>
            <a:prstDash val="solid"/>
          </a:ln>
        </p:spPr>
      </p:sp>
      <p:sp>
        <p:nvSpPr>
          <p:cNvPr id="45" name="v:OffByOneRange:0:2:out|b3"/>
          <p:cNvSpPr txBox="1"/>
          <p:nvPr/>
        </p:nvSpPr>
        <p:spPr>
          <a:xfrm>
            <a:off x="5907024" y="2715768"/>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2, total is 0</a:t>
            </a:r>
            <a:endParaRPr lang="en-US" sz="1100" dirty="0"/>
          </a:p>
        </p:txBody>
      </p:sp>
      <p:sp>
        <p:nvSpPr>
          <p:cNvPr id="46" name="cellbox|b4"/>
          <p:cNvSpPr/>
          <p:nvPr/>
        </p:nvSpPr>
        <p:spPr>
          <a:xfrm>
            <a:off x="365760" y="3282696"/>
            <a:ext cx="512064" cy="521208"/>
          </a:xfrm>
          <a:prstGeom prst="rect">
            <a:avLst/>
          </a:prstGeom>
          <a:solidFill>
            <a:srgbClr val="F1F4F8"/>
          </a:solidFill>
          <a:ln w="12700">
            <a:solidFill>
              <a:srgbClr val="F1F4F8"/>
            </a:solidFill>
            <a:prstDash val="solid"/>
          </a:ln>
        </p:spPr>
      </p:sp>
      <p:sp>
        <p:nvSpPr>
          <p:cNvPr id="47" name="v:OffByOneRange:0:3:n|b4"/>
          <p:cNvSpPr txBox="1"/>
          <p:nvPr/>
        </p:nvSpPr>
        <p:spPr>
          <a:xfrm>
            <a:off x="420624" y="3282696"/>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4</a:t>
            </a:r>
            <a:endParaRPr lang="en-US" sz="1100" dirty="0"/>
          </a:p>
        </p:txBody>
      </p:sp>
      <p:sp>
        <p:nvSpPr>
          <p:cNvPr id="48" name="cellbox|b4"/>
          <p:cNvSpPr/>
          <p:nvPr/>
        </p:nvSpPr>
        <p:spPr>
          <a:xfrm>
            <a:off x="914400" y="3282696"/>
            <a:ext cx="969264" cy="521208"/>
          </a:xfrm>
          <a:prstGeom prst="rect">
            <a:avLst/>
          </a:prstGeom>
          <a:solidFill>
            <a:srgbClr val="F1F4F8"/>
          </a:solidFill>
          <a:ln w="12700">
            <a:solidFill>
              <a:srgbClr val="F1F4F8"/>
            </a:solidFill>
            <a:prstDash val="solid"/>
          </a:ln>
        </p:spPr>
      </p:sp>
      <p:sp>
        <p:nvSpPr>
          <p:cNvPr id="49" name="v:OffByOneRange:0:3:v0|b4"/>
          <p:cNvSpPr txBox="1"/>
          <p:nvPr/>
        </p:nvSpPr>
        <p:spPr>
          <a:xfrm>
            <a:off x="969264" y="3282696"/>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50" name="cellbox|b4"/>
          <p:cNvSpPr/>
          <p:nvPr/>
        </p:nvSpPr>
        <p:spPr>
          <a:xfrm>
            <a:off x="1920240" y="3282696"/>
            <a:ext cx="969264" cy="521208"/>
          </a:xfrm>
          <a:prstGeom prst="rect">
            <a:avLst/>
          </a:prstGeom>
          <a:solidFill>
            <a:srgbClr val="F1F4F8"/>
          </a:solidFill>
          <a:ln w="12700">
            <a:solidFill>
              <a:srgbClr val="F1F4F8"/>
            </a:solidFill>
            <a:prstDash val="solid"/>
          </a:ln>
        </p:spPr>
      </p:sp>
      <p:sp>
        <p:nvSpPr>
          <p:cNvPr id="51" name="v:OffByOneRange:0:3:v1|b4"/>
          <p:cNvSpPr txBox="1"/>
          <p:nvPr/>
        </p:nvSpPr>
        <p:spPr>
          <a:xfrm>
            <a:off x="1975104" y="3282696"/>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52" name="cellbox|b4"/>
          <p:cNvSpPr/>
          <p:nvPr/>
        </p:nvSpPr>
        <p:spPr>
          <a:xfrm>
            <a:off x="2926080" y="3282696"/>
            <a:ext cx="2889504" cy="521208"/>
          </a:xfrm>
          <a:prstGeom prst="rect">
            <a:avLst/>
          </a:prstGeom>
          <a:solidFill>
            <a:srgbClr val="F1F4F8"/>
          </a:solidFill>
          <a:ln w="12700">
            <a:solidFill>
              <a:srgbClr val="F1F4F8"/>
            </a:solidFill>
            <a:prstDash val="solid"/>
          </a:ln>
        </p:spPr>
      </p:sp>
      <p:sp>
        <p:nvSpPr>
          <p:cNvPr id="53" name="v:OffByOneRange:0:3:ev|b4"/>
          <p:cNvSpPr txBox="1"/>
          <p:nvPr/>
        </p:nvSpPr>
        <p:spPr>
          <a:xfrm>
            <a:off x="2980944" y="3282696"/>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54" name="cellbox|b4"/>
          <p:cNvSpPr/>
          <p:nvPr/>
        </p:nvSpPr>
        <p:spPr>
          <a:xfrm>
            <a:off x="5852160" y="3282696"/>
            <a:ext cx="2889504" cy="521208"/>
          </a:xfrm>
          <a:prstGeom prst="rect">
            <a:avLst/>
          </a:prstGeom>
          <a:solidFill>
            <a:srgbClr val="F1F4F8"/>
          </a:solidFill>
          <a:ln w="12700">
            <a:solidFill>
              <a:srgbClr val="F1F4F8"/>
            </a:solidFill>
            <a:prstDash val="solid"/>
          </a:ln>
        </p:spPr>
      </p:sp>
      <p:sp>
        <p:nvSpPr>
          <p:cNvPr id="55" name="v:OffByOneRange:0:3:out|b4"/>
          <p:cNvSpPr txBox="1"/>
          <p:nvPr/>
        </p:nvSpPr>
        <p:spPr>
          <a:xfrm>
            <a:off x="5907024" y="3282696"/>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3, total is 0 / DEBUG - End of factorial(3) / 0</a:t>
            </a:r>
            <a:endParaRPr lang="en-US" sz="1100" dirty="0"/>
          </a:p>
        </p:txBody>
      </p:sp>
      <p:sp>
        <p:nvSpPr>
          <p:cNvPr id="56" name="say"/>
          <p:cNvSpPr txBox="1"/>
          <p:nvPr/>
        </p:nvSpPr>
        <p:spPr>
          <a:xfrm>
            <a:off x="365760" y="3977640"/>
            <a:ext cx="8412480"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Each row is one pass of the loop, with i and total after total *= i has run. The first pass multiplies by 0, and total stays 0 from then on. range(n + 1) starts at 0, so 0 is the first value of i.</a:t>
            </a:r>
            <a:endParaRPr lang="en-US" sz="1300" dirty="0"/>
          </a:p>
        </p:txBody>
      </p:sp>
      <p:sp>
        <p:nvSpPr>
          <p:cNvPr id="5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 (step through it)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par>
                    <p:cTn id="129" fill="hold">
                      <p:stCondLst>
                        <p:cond delay="indefinite"/>
                      </p:stCondLst>
                      <p:childTnLst>
                        <p:par>
                          <p:cTn id="130"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400"/>
                                        <p:tgtEl>
                                          <p:spTgt spid="4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7"/>
                                        </p:tgtEl>
                                        <p:attrNameLst>
                                          <p:attrName>style.visibility</p:attrName>
                                        </p:attrNameLst>
                                      </p:cBhvr>
                                      <p:to>
                                        <p:strVal val="visible"/>
                                      </p:to>
                                    </p:set>
                                    <p:animEffect transition="in" filter="fade">
                                      <p:cBhvr>
                                        <p:cTn id="104" dur="400"/>
                                        <p:tgtEl>
                                          <p:spTgt spid="47"/>
                                        </p:tgtEl>
                                      </p:cBhvr>
                                    </p:animEffect>
                                  </p:childTnLst>
                                </p:cTn>
                              </p:par>
                              <p:par>
                                <p:cTn id="105" presetID="10" presetClass="entr" presetSubtype="0" fill="hold" nodeType="withEffect">
                                  <p:stCondLst>
                                    <p:cond delay="0"/>
                                  </p:stCondLst>
                                  <p:childTnLst>
                                    <p:set>
                                      <p:cBhvr>
                                        <p:cTn id="106" dur="1" fill="hold">
                                          <p:stCondLst>
                                            <p:cond delay="0"/>
                                          </p:stCondLst>
                                        </p:cTn>
                                        <p:tgtEl>
                                          <p:spTgt spid="48"/>
                                        </p:tgtEl>
                                        <p:attrNameLst>
                                          <p:attrName>style.visibility</p:attrName>
                                        </p:attrNameLst>
                                      </p:cBhvr>
                                      <p:to>
                                        <p:strVal val="visible"/>
                                      </p:to>
                                    </p:set>
                                    <p:animEffect transition="in" filter="fade">
                                      <p:cBhvr>
                                        <p:cTn id="107" dur="400"/>
                                        <p:tgtEl>
                                          <p:spTgt spid="4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400"/>
                                        <p:tgtEl>
                                          <p:spTgt spid="49"/>
                                        </p:tgtEl>
                                      </p:cBhvr>
                                    </p:animEffect>
                                  </p:childTnLst>
                                </p:cTn>
                              </p:par>
                              <p:par>
                                <p:cTn id="111" presetID="10" presetClass="entr" presetSubtype="0" fill="hold" nodeType="with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fade">
                                      <p:cBhvr>
                                        <p:cTn id="113" dur="400"/>
                                        <p:tgtEl>
                                          <p:spTgt spid="5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fade">
                                      <p:cBhvr>
                                        <p:cTn id="116" dur="400"/>
                                        <p:tgtEl>
                                          <p:spTgt spid="51"/>
                                        </p:tgtEl>
                                      </p:cBhvr>
                                    </p:animEffect>
                                  </p:childTnLst>
                                </p:cTn>
                              </p:par>
                              <p:par>
                                <p:cTn id="117" presetID="10" presetClass="entr" presetSubtype="0" fill="hold" nodeType="withEffect">
                                  <p:stCondLst>
                                    <p:cond delay="0"/>
                                  </p:stCondLst>
                                  <p:childTnLst>
                                    <p:set>
                                      <p:cBhvr>
                                        <p:cTn id="118" dur="1" fill="hold">
                                          <p:stCondLst>
                                            <p:cond delay="0"/>
                                          </p:stCondLst>
                                        </p:cTn>
                                        <p:tgtEl>
                                          <p:spTgt spid="52"/>
                                        </p:tgtEl>
                                        <p:attrNameLst>
                                          <p:attrName>style.visibility</p:attrName>
                                        </p:attrNameLst>
                                      </p:cBhvr>
                                      <p:to>
                                        <p:strVal val="visible"/>
                                      </p:to>
                                    </p:set>
                                    <p:animEffect transition="in" filter="fade">
                                      <p:cBhvr>
                                        <p:cTn id="119" dur="400"/>
                                        <p:tgtEl>
                                          <p:spTgt spid="5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400"/>
                                        <p:tgtEl>
                                          <p:spTgt spid="53"/>
                                        </p:tgtEl>
                                      </p:cBhvr>
                                    </p:animEffect>
                                  </p:childTnLst>
                                </p:cTn>
                              </p:par>
                              <p:par>
                                <p:cTn id="123" presetID="10" presetClass="entr" presetSubtype="0" fill="hold" nodeType="with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4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fix is one line — and the log proves 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range(1, n + 1) starts at 1 and includes n</a:t>
            </a:r>
            <a:endParaRPr lang="en-US" sz="1400" dirty="0"/>
          </a:p>
        </p:txBody>
      </p:sp>
      <p:sp>
        <p:nvSpPr>
          <p:cNvPr id="6" name="progbox"/>
          <p:cNvSpPr/>
          <p:nvPr/>
        </p:nvSpPr>
        <p:spPr>
          <a:xfrm>
            <a:off x="365760" y="1188720"/>
            <a:ext cx="8412480" cy="2103120"/>
          </a:xfrm>
          <a:prstGeom prst="roundRect">
            <a:avLst>
              <a:gd name="adj" fmla="val 4348"/>
            </a:avLst>
          </a:prstGeom>
          <a:solidFill>
            <a:srgbClr val="17202B"/>
          </a:solidFill>
          <a:ln w="12700">
            <a:solidFill>
              <a:srgbClr val="17202B"/>
            </a:solidFill>
            <a:prstDash val="solid"/>
          </a:ln>
        </p:spPr>
      </p:sp>
      <p:sp>
        <p:nvSpPr>
          <p:cNvPr id="7" name="prog"/>
          <p:cNvSpPr txBox="1"/>
          <p:nvPr/>
        </p:nvSpPr>
        <p:spPr>
          <a:xfrm>
            <a:off x="548640" y="1280160"/>
            <a:ext cx="8046720" cy="19202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factorial(n):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logging.debug('Start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for i in range(1, n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logging.debug('i is %s, total is %s', i, total)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logging.debug('End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total</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print(factorial(3))</a:t>
            </a:r>
            <a:endParaRPr lang="en-US" sz="1000" dirty="0"/>
          </a:p>
        </p:txBody>
      </p:sp>
      <p:sp>
        <p:nvSpPr>
          <p:cNvPr id="8" name="transbox|b1"/>
          <p:cNvSpPr/>
          <p:nvPr/>
        </p:nvSpPr>
        <p:spPr>
          <a:xfrm>
            <a:off x="365760" y="3383280"/>
            <a:ext cx="4206240" cy="1097280"/>
          </a:xfrm>
          <a:prstGeom prst="roundRect">
            <a:avLst>
              <a:gd name="adj" fmla="val 8333"/>
            </a:avLst>
          </a:prstGeom>
          <a:solidFill>
            <a:srgbClr val="F1F4F8"/>
          </a:solidFill>
          <a:ln w="12700">
            <a:solidFill>
              <a:srgbClr val="F1F4F8"/>
            </a:solidFill>
            <a:prstDash val="solid"/>
          </a:ln>
        </p:spPr>
      </p:sp>
      <p:sp>
        <p:nvSpPr>
          <p:cNvPr id="9" name="trans|b1"/>
          <p:cNvSpPr txBox="1"/>
          <p:nvPr/>
        </p:nvSpPr>
        <p:spPr>
          <a:xfrm>
            <a:off x="502920" y="3456432"/>
            <a:ext cx="3931920" cy="950976"/>
          </a:xfrm>
          <a:prstGeom prst="rect">
            <a:avLst/>
          </a:prstGeom>
          <a:noFill/>
          <a:ln/>
        </p:spPr>
        <p:txBody>
          <a:bodyPr wrap="square" lIns="0" tIns="0" rIns="0" bIns="0" rtlCol="0" anchor="t"/>
          <a:lstStyle/>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Start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1, total is 1</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2, total is 2</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3, total is 6</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End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6</a:t>
            </a:r>
            <a:endParaRPr lang="en-US" sz="950" dirty="0"/>
          </a:p>
        </p:txBody>
      </p:sp>
      <p:sp>
        <p:nvSpPr>
          <p:cNvPr id="10" name="transcap|b1"/>
          <p:cNvSpPr txBox="1"/>
          <p:nvPr/>
        </p:nvSpPr>
        <p:spPr>
          <a:xfrm>
            <a:off x="365760" y="4507992"/>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fix|b2"/>
          <p:cNvSpPr/>
          <p:nvPr/>
        </p:nvSpPr>
        <p:spPr>
          <a:xfrm>
            <a:off x="4754880" y="3383280"/>
            <a:ext cx="4023360" cy="1097280"/>
          </a:xfrm>
          <a:prstGeom prst="roundRect">
            <a:avLst>
              <a:gd name="adj" fmla="val 8333"/>
            </a:avLst>
          </a:prstGeom>
          <a:solidFill>
            <a:srgbClr val="DDF3E6"/>
          </a:solidFill>
          <a:ln w="12700">
            <a:solidFill>
              <a:srgbClr val="2E9E5B"/>
            </a:solidFill>
            <a:prstDash val="solid"/>
          </a:ln>
        </p:spPr>
      </p:sp>
      <p:sp>
        <p:nvSpPr>
          <p:cNvPr id="12" name="fixt|b2"/>
          <p:cNvSpPr txBox="1"/>
          <p:nvPr/>
        </p:nvSpPr>
        <p:spPr>
          <a:xfrm>
            <a:off x="4892040" y="3383280"/>
            <a:ext cx="3749040" cy="109728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total is 1, 2, 6 on the three passes, and the call returns 6. Keep the log calls: they cost nothing at level WARNING.</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7373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 if you could freeze the program on one line and look at every variable?</a:t>
            </a:r>
            <a:endParaRPr lang="en-US" sz="3000" dirty="0"/>
          </a:p>
        </p:txBody>
      </p:sp>
      <p:sp>
        <p:nvSpPr>
          <p:cNvPr id="3" name="say|b1"/>
          <p:cNvSpPr txBox="1"/>
          <p:nvPr/>
        </p:nvSpPr>
        <p:spPr>
          <a:xfrm>
            <a:off x="640080" y="283464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Then move forward one line at a time and watch the values change.</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Five controls, and a breakpoint to start from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debugger: Continue, Step In, Step Over, Step Out, Stop</a:t>
            </a:r>
            <a:endParaRPr lang="en-US" sz="1400" dirty="0"/>
          </a:p>
        </p:txBody>
      </p:sp>
      <p:sp>
        <p:nvSpPr>
          <p:cNvPr id="6" name="ctl|b1"/>
          <p:cNvSpPr/>
          <p:nvPr/>
        </p:nvSpPr>
        <p:spPr>
          <a:xfrm>
            <a:off x="365760" y="1280160"/>
            <a:ext cx="1609344" cy="2194560"/>
          </a:xfrm>
          <a:prstGeom prst="roundRect">
            <a:avLst>
              <a:gd name="adj" fmla="val 5682"/>
            </a:avLst>
          </a:prstGeom>
          <a:solidFill>
            <a:srgbClr val="F1F4F8"/>
          </a:solidFill>
          <a:ln w="25400">
            <a:solidFill>
              <a:srgbClr val="2E9E5B"/>
            </a:solidFill>
            <a:prstDash val="solid"/>
          </a:ln>
        </p:spPr>
      </p:sp>
      <p:sp>
        <p:nvSpPr>
          <p:cNvPr id="7" name="ctln|b1"/>
          <p:cNvSpPr txBox="1"/>
          <p:nvPr/>
        </p:nvSpPr>
        <p:spPr>
          <a:xfrm>
            <a:off x="457200" y="1353312"/>
            <a:ext cx="1426464" cy="411480"/>
          </a:xfrm>
          <a:prstGeom prst="rect">
            <a:avLst/>
          </a:prstGeom>
          <a:noFill/>
          <a:ln/>
        </p:spPr>
        <p:txBody>
          <a:bodyPr wrap="square" lIns="0" tIns="0" rIns="0" bIns="0" rtlCol="0" anchor="ctr"/>
          <a:lstStyle/>
          <a:p>
            <a:pPr indent="0" marL="0">
              <a:buNone/>
            </a:pPr>
            <a:r>
              <a:rPr lang="en-US" sz="1600" b="1" dirty="0">
                <a:solidFill>
                  <a:srgbClr val="2E9E5B"/>
                </a:solidFill>
                <a:latin typeface="Cambria" pitchFamily="34" charset="0"/>
                <a:ea typeface="Cambria" pitchFamily="34" charset="-122"/>
                <a:cs typeface="Cambria" pitchFamily="34" charset="-120"/>
              </a:rPr>
              <a:t>Continue</a:t>
            </a:r>
            <a:endParaRPr lang="en-US" sz="1600" dirty="0"/>
          </a:p>
        </p:txBody>
      </p:sp>
      <p:sp>
        <p:nvSpPr>
          <p:cNvPr id="8" name="ctlt|b1"/>
          <p:cNvSpPr txBox="1"/>
          <p:nvPr/>
        </p:nvSpPr>
        <p:spPr>
          <a:xfrm>
            <a:off x="457200"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until the next breakpoint, or the end</a:t>
            </a:r>
            <a:endParaRPr lang="en-US" sz="1250" dirty="0"/>
          </a:p>
        </p:txBody>
      </p:sp>
      <p:sp>
        <p:nvSpPr>
          <p:cNvPr id="9" name="ctlp|b1"/>
          <p:cNvSpPr txBox="1"/>
          <p:nvPr/>
        </p:nvSpPr>
        <p:spPr>
          <a:xfrm>
            <a:off x="457200"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continue</a:t>
            </a:r>
            <a:endParaRPr lang="en-US" sz="1050" dirty="0"/>
          </a:p>
        </p:txBody>
      </p:sp>
      <p:sp>
        <p:nvSpPr>
          <p:cNvPr id="10" name="ctl|b2"/>
          <p:cNvSpPr/>
          <p:nvPr/>
        </p:nvSpPr>
        <p:spPr>
          <a:xfrm>
            <a:off x="2066544" y="1280160"/>
            <a:ext cx="1609344" cy="2194560"/>
          </a:xfrm>
          <a:prstGeom prst="roundRect">
            <a:avLst>
              <a:gd name="adj" fmla="val 5682"/>
            </a:avLst>
          </a:prstGeom>
          <a:solidFill>
            <a:srgbClr val="F1F4F8"/>
          </a:solidFill>
          <a:ln w="25400">
            <a:solidFill>
              <a:srgbClr val="306998"/>
            </a:solidFill>
            <a:prstDash val="solid"/>
          </a:ln>
        </p:spPr>
      </p:sp>
      <p:sp>
        <p:nvSpPr>
          <p:cNvPr id="11" name="ctln|b2"/>
          <p:cNvSpPr txBox="1"/>
          <p:nvPr/>
        </p:nvSpPr>
        <p:spPr>
          <a:xfrm>
            <a:off x="2157984"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In</a:t>
            </a:r>
            <a:endParaRPr lang="en-US" sz="1600" dirty="0"/>
          </a:p>
        </p:txBody>
      </p:sp>
      <p:sp>
        <p:nvSpPr>
          <p:cNvPr id="12" name="ctlt|b2"/>
          <p:cNvSpPr txBox="1"/>
          <p:nvPr/>
        </p:nvSpPr>
        <p:spPr>
          <a:xfrm>
            <a:off x="2157984"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one line; if it is a call, go inside</a:t>
            </a:r>
            <a:endParaRPr lang="en-US" sz="1250" dirty="0"/>
          </a:p>
        </p:txBody>
      </p:sp>
      <p:sp>
        <p:nvSpPr>
          <p:cNvPr id="13" name="ctlp|b2"/>
          <p:cNvSpPr txBox="1"/>
          <p:nvPr/>
        </p:nvSpPr>
        <p:spPr>
          <a:xfrm>
            <a:off x="2157984"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step</a:t>
            </a:r>
            <a:endParaRPr lang="en-US" sz="1050" dirty="0"/>
          </a:p>
        </p:txBody>
      </p:sp>
      <p:sp>
        <p:nvSpPr>
          <p:cNvPr id="14" name="ctl|b3"/>
          <p:cNvSpPr/>
          <p:nvPr/>
        </p:nvSpPr>
        <p:spPr>
          <a:xfrm>
            <a:off x="3767328" y="1280160"/>
            <a:ext cx="1609344" cy="2194560"/>
          </a:xfrm>
          <a:prstGeom prst="roundRect">
            <a:avLst>
              <a:gd name="adj" fmla="val 5682"/>
            </a:avLst>
          </a:prstGeom>
          <a:solidFill>
            <a:srgbClr val="F1F4F8"/>
          </a:solidFill>
          <a:ln w="25400">
            <a:solidFill>
              <a:srgbClr val="306998"/>
            </a:solidFill>
            <a:prstDash val="solid"/>
          </a:ln>
        </p:spPr>
      </p:sp>
      <p:sp>
        <p:nvSpPr>
          <p:cNvPr id="15" name="ctln|b3"/>
          <p:cNvSpPr txBox="1"/>
          <p:nvPr/>
        </p:nvSpPr>
        <p:spPr>
          <a:xfrm>
            <a:off x="3858768"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Over</a:t>
            </a:r>
            <a:endParaRPr lang="en-US" sz="1600" dirty="0"/>
          </a:p>
        </p:txBody>
      </p:sp>
      <p:sp>
        <p:nvSpPr>
          <p:cNvPr id="16" name="ctlt|b3"/>
          <p:cNvSpPr txBox="1"/>
          <p:nvPr/>
        </p:nvSpPr>
        <p:spPr>
          <a:xfrm>
            <a:off x="3858768"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one line; a call runs without stopping inside</a:t>
            </a:r>
            <a:endParaRPr lang="en-US" sz="1250" dirty="0"/>
          </a:p>
        </p:txBody>
      </p:sp>
      <p:sp>
        <p:nvSpPr>
          <p:cNvPr id="17" name="ctlp|b3"/>
          <p:cNvSpPr txBox="1"/>
          <p:nvPr/>
        </p:nvSpPr>
        <p:spPr>
          <a:xfrm>
            <a:off x="3858768"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next</a:t>
            </a:r>
            <a:endParaRPr lang="en-US" sz="1050" dirty="0"/>
          </a:p>
        </p:txBody>
      </p:sp>
      <p:sp>
        <p:nvSpPr>
          <p:cNvPr id="18" name="ctl|b4"/>
          <p:cNvSpPr/>
          <p:nvPr/>
        </p:nvSpPr>
        <p:spPr>
          <a:xfrm>
            <a:off x="5468112" y="1280160"/>
            <a:ext cx="1609344" cy="2194560"/>
          </a:xfrm>
          <a:prstGeom prst="roundRect">
            <a:avLst>
              <a:gd name="adj" fmla="val 5682"/>
            </a:avLst>
          </a:prstGeom>
          <a:solidFill>
            <a:srgbClr val="F1F4F8"/>
          </a:solidFill>
          <a:ln w="25400">
            <a:solidFill>
              <a:srgbClr val="306998"/>
            </a:solidFill>
            <a:prstDash val="solid"/>
          </a:ln>
        </p:spPr>
      </p:sp>
      <p:sp>
        <p:nvSpPr>
          <p:cNvPr id="19" name="ctln|b4"/>
          <p:cNvSpPr txBox="1"/>
          <p:nvPr/>
        </p:nvSpPr>
        <p:spPr>
          <a:xfrm>
            <a:off x="5559552"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Out</a:t>
            </a:r>
            <a:endParaRPr lang="en-US" sz="1600" dirty="0"/>
          </a:p>
        </p:txBody>
      </p:sp>
      <p:sp>
        <p:nvSpPr>
          <p:cNvPr id="20" name="ctlt|b4"/>
          <p:cNvSpPr txBox="1"/>
          <p:nvPr/>
        </p:nvSpPr>
        <p:spPr>
          <a:xfrm>
            <a:off x="5559552"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to the end of this function and stop back in the caller</a:t>
            </a:r>
            <a:endParaRPr lang="en-US" sz="1250" dirty="0"/>
          </a:p>
        </p:txBody>
      </p:sp>
      <p:sp>
        <p:nvSpPr>
          <p:cNvPr id="21" name="ctlp|b4"/>
          <p:cNvSpPr txBox="1"/>
          <p:nvPr/>
        </p:nvSpPr>
        <p:spPr>
          <a:xfrm>
            <a:off x="5559552"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return</a:t>
            </a:r>
            <a:endParaRPr lang="en-US" sz="1050" dirty="0"/>
          </a:p>
        </p:txBody>
      </p:sp>
      <p:sp>
        <p:nvSpPr>
          <p:cNvPr id="22" name="ctl|b5"/>
          <p:cNvSpPr/>
          <p:nvPr/>
        </p:nvSpPr>
        <p:spPr>
          <a:xfrm>
            <a:off x="7168896" y="1280160"/>
            <a:ext cx="1609344" cy="2194560"/>
          </a:xfrm>
          <a:prstGeom prst="roundRect">
            <a:avLst>
              <a:gd name="adj" fmla="val 5682"/>
            </a:avLst>
          </a:prstGeom>
          <a:solidFill>
            <a:srgbClr val="F1F4F8"/>
          </a:solidFill>
          <a:ln w="25400">
            <a:solidFill>
              <a:srgbClr val="D64545"/>
            </a:solidFill>
            <a:prstDash val="solid"/>
          </a:ln>
        </p:spPr>
      </p:sp>
      <p:sp>
        <p:nvSpPr>
          <p:cNvPr id="23" name="ctln|b5"/>
          <p:cNvSpPr txBox="1"/>
          <p:nvPr/>
        </p:nvSpPr>
        <p:spPr>
          <a:xfrm>
            <a:off x="7260336" y="1353312"/>
            <a:ext cx="1426464" cy="411480"/>
          </a:xfrm>
          <a:prstGeom prst="rect">
            <a:avLst/>
          </a:prstGeom>
          <a:noFill/>
          <a:ln/>
        </p:spPr>
        <p:txBody>
          <a:bodyPr wrap="square" lIns="0" tIns="0" rIns="0" bIns="0" rtlCol="0" anchor="ctr"/>
          <a:lstStyle/>
          <a:p>
            <a:pPr indent="0" marL="0">
              <a:buNone/>
            </a:pPr>
            <a:r>
              <a:rPr lang="en-US" sz="1600" b="1" dirty="0">
                <a:solidFill>
                  <a:srgbClr val="D64545"/>
                </a:solidFill>
                <a:latin typeface="Cambria" pitchFamily="34" charset="0"/>
                <a:ea typeface="Cambria" pitchFamily="34" charset="-122"/>
                <a:cs typeface="Cambria" pitchFamily="34" charset="-120"/>
              </a:rPr>
              <a:t>Stop</a:t>
            </a:r>
            <a:endParaRPr lang="en-US" sz="1600" dirty="0"/>
          </a:p>
        </p:txBody>
      </p:sp>
      <p:sp>
        <p:nvSpPr>
          <p:cNvPr id="24" name="ctlt|b5"/>
          <p:cNvSpPr txBox="1"/>
          <p:nvPr/>
        </p:nvSpPr>
        <p:spPr>
          <a:xfrm>
            <a:off x="7260336"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end the program now</a:t>
            </a:r>
            <a:endParaRPr lang="en-US" sz="1250" dirty="0"/>
          </a:p>
        </p:txBody>
      </p:sp>
      <p:sp>
        <p:nvSpPr>
          <p:cNvPr id="25" name="ctlp|b5"/>
          <p:cNvSpPr txBox="1"/>
          <p:nvPr/>
        </p:nvSpPr>
        <p:spPr>
          <a:xfrm>
            <a:off x="7260336"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quit</a:t>
            </a:r>
            <a:endParaRPr lang="en-US" sz="1050" dirty="0"/>
          </a:p>
        </p:txBody>
      </p:sp>
      <p:sp>
        <p:nvSpPr>
          <p:cNvPr id="26" name="bp|b6"/>
          <p:cNvSpPr/>
          <p:nvPr/>
        </p:nvSpPr>
        <p:spPr>
          <a:xfrm>
            <a:off x="365760" y="3611880"/>
            <a:ext cx="8412480" cy="548640"/>
          </a:xfrm>
          <a:prstGeom prst="roundRect">
            <a:avLst>
              <a:gd name="adj" fmla="val 16667"/>
            </a:avLst>
          </a:prstGeom>
          <a:solidFill>
            <a:srgbClr val="FBE1E1"/>
          </a:solidFill>
          <a:ln w="12700">
            <a:solidFill>
              <a:srgbClr val="D64545"/>
            </a:solidFill>
            <a:prstDash val="solid"/>
          </a:ln>
        </p:spPr>
      </p:sp>
      <p:sp>
        <p:nvSpPr>
          <p:cNvPr id="27" name="bpt|b6"/>
          <p:cNvSpPr txBox="1"/>
          <p:nvPr/>
        </p:nvSpPr>
        <p:spPr>
          <a:xfrm>
            <a:off x="548640" y="3611880"/>
            <a:ext cx="8046720" cy="548640"/>
          </a:xfrm>
          <a:prstGeom prst="rect">
            <a:avLst/>
          </a:prstGeom>
          <a:noFill/>
          <a:ln/>
        </p:spPr>
        <p:txBody>
          <a:bodyPr wrap="square" lIns="0" tIns="0" rIns="0" bIns="0" rtlCol="0" anchor="ctr"/>
          <a:lstStyle/>
          <a:p>
            <a:pPr indent="0" marL="0">
              <a:buNone/>
            </a:pPr>
            <a:r>
              <a:rPr lang="en-US" sz="1800" b="1" dirty="0">
                <a:solidFill>
                  <a:srgbClr val="D64545"/>
                </a:solidFill>
                <a:latin typeface="Calibri" pitchFamily="34" charset="0"/>
                <a:ea typeface="Calibri" pitchFamily="34" charset="-122"/>
                <a:cs typeface="Calibri" pitchFamily="34" charset="-120"/>
              </a:rPr>
              <a:t>●  </a:t>
            </a:r>
            <a:pPr indent="0" marL="0">
              <a:buNone/>
            </a:pPr>
            <a:r>
              <a:rPr lang="en-US" sz="1300" dirty="0">
                <a:solidFill>
                  <a:srgbClr val="1F2933"/>
                </a:solidFill>
                <a:latin typeface="Calibri" pitchFamily="34" charset="0"/>
                <a:ea typeface="Calibri" pitchFamily="34" charset="-122"/>
                <a:cs typeface="Calibri" pitchFamily="34" charset="-120"/>
              </a:rPr>
              <a:t>A breakpoint marks a line where the debugger pauses. In the Mu editor you click a line number to set it, and click it again to remove it.</a:t>
            </a:r>
            <a:endParaRPr lang="en-US" sz="1300" dirty="0"/>
          </a:p>
        </p:txBody>
      </p:sp>
      <p:sp>
        <p:nvSpPr>
          <p:cNvPr id="28" name="dbgprog"/>
          <p:cNvSpPr txBox="1"/>
          <p:nvPr/>
        </p:nvSpPr>
        <p:spPr>
          <a:xfrm>
            <a:off x="2926080" y="4279392"/>
            <a:ext cx="3749040" cy="320040"/>
          </a:xfrm>
          <a:prstGeom prst="rect">
            <a:avLst/>
          </a:prstGeom>
          <a:noFill/>
          <a:ln/>
        </p:spPr>
        <p:txBody>
          <a:bodyPr wrap="square" lIns="0" tIns="0" rIns="0" bIns="0" rtlCol="0" anchor="ctr"/>
          <a:lstStyle/>
          <a:p>
            <a:pPr algn="r" indent="0" marL="0">
              <a:buNone/>
            </a:pPr>
            <a:r>
              <a:rPr lang="en-US" sz="1200" i="1" dirty="0">
                <a:solidFill>
                  <a:srgbClr val="5B6B7B"/>
                </a:solidFill>
                <a:latin typeface="Calibri" pitchFamily="34" charset="0"/>
                <a:ea typeface="Calibri" pitchFamily="34" charset="-122"/>
                <a:cs typeface="Calibri" pitchFamily="34" charset="-120"/>
              </a:rPr>
              <a:t>The small program the next slides step through prints:</a:t>
            </a:r>
            <a:endParaRPr lang="en-US" sz="1200" dirty="0"/>
          </a:p>
        </p:txBody>
      </p:sp>
      <p:sp>
        <p:nvSpPr>
          <p:cNvPr id="29" name="transbox"/>
          <p:cNvSpPr/>
          <p:nvPr/>
        </p:nvSpPr>
        <p:spPr>
          <a:xfrm>
            <a:off x="6766560" y="4251960"/>
            <a:ext cx="2011680" cy="347472"/>
          </a:xfrm>
          <a:prstGeom prst="roundRect">
            <a:avLst>
              <a:gd name="adj" fmla="val 26316"/>
            </a:avLst>
          </a:prstGeom>
          <a:solidFill>
            <a:srgbClr val="F1F4F8"/>
          </a:solidFill>
          <a:ln w="12700">
            <a:solidFill>
              <a:srgbClr val="F1F4F8"/>
            </a:solidFill>
            <a:prstDash val="solid"/>
          </a:ln>
        </p:spPr>
      </p:sp>
      <p:sp>
        <p:nvSpPr>
          <p:cNvPr id="30" name="trans"/>
          <p:cNvSpPr txBox="1"/>
          <p:nvPr/>
        </p:nvSpPr>
        <p:spPr>
          <a:xfrm>
            <a:off x="6903720" y="4325112"/>
            <a:ext cx="1737360" cy="201168"/>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15</a:t>
            </a:r>
            <a:endParaRPr lang="en-US" sz="1200" dirty="0"/>
          </a:p>
        </p:txBody>
      </p:sp>
      <p:sp>
        <p:nvSpPr>
          <p:cNvPr id="31" name="transcap"/>
          <p:cNvSpPr txBox="1"/>
          <p:nvPr/>
        </p:nvSpPr>
        <p:spPr>
          <a:xfrm>
            <a:off x="6766560" y="4626864"/>
            <a:ext cx="20116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3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Controls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00"/>
                                        <p:tgtEl>
                                          <p:spTgt spid="25"/>
                                        </p:tgtEl>
                                      </p:cBhvr>
                                    </p:animEffect>
                                  </p:childTnLst>
                                </p:cTn>
                              </p:par>
                            </p:childTnLst>
                          </p:cTn>
                        </p:par>
                      </p:childTnLst>
                    </p:cTn>
                  </p:par>
                  <p:par>
                    <p:cTn id="79" fill="hold">
                      <p:stCondLst>
                        <p:cond delay="indefinite"/>
                      </p:stCondLst>
                      <p:childTnLst>
                        <p:par>
                          <p:cTn id="80"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Continue runs to the next breakpoint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recorded run of a small program: the debugger stops before each line runs</a:t>
            </a:r>
            <a:endParaRPr lang="en-US" sz="1400" dirty="0"/>
          </a:p>
        </p:txBody>
      </p:sp>
      <p:sp>
        <p:nvSpPr>
          <p:cNvPr id="6" name="dbglabel"/>
          <p:cNvSpPr txBox="1"/>
          <p:nvPr/>
        </p:nvSpPr>
        <p:spPr>
          <a:xfrm>
            <a:off x="36576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Start: stopped on the first line</a:t>
            </a:r>
            <a:endParaRPr lang="en-US" sz="1200" dirty="0"/>
          </a:p>
        </p:txBody>
      </p:sp>
      <p:sp>
        <p:nvSpPr>
          <p:cNvPr id="7" name="dbgbox"/>
          <p:cNvSpPr/>
          <p:nvPr/>
        </p:nvSpPr>
        <p:spPr>
          <a:xfrm>
            <a:off x="365760" y="1508760"/>
            <a:ext cx="3749040" cy="2036826"/>
          </a:xfrm>
          <a:prstGeom prst="roundRect">
            <a:avLst>
              <a:gd name="adj" fmla="val 3591"/>
            </a:avLst>
          </a:prstGeom>
          <a:solidFill>
            <a:srgbClr val="17202B"/>
          </a:solidFill>
          <a:ln w="12700">
            <a:solidFill>
              <a:srgbClr val="17202B"/>
            </a:solidFill>
            <a:prstDash val="solid"/>
          </a:ln>
        </p:spPr>
      </p:sp>
      <p:sp>
        <p:nvSpPr>
          <p:cNvPr id="8" name="v:Breakpoint:e0:hl:box"/>
          <p:cNvSpPr/>
          <p:nvPr/>
        </p:nvSpPr>
        <p:spPr>
          <a:xfrm>
            <a:off x="420624" y="1581912"/>
            <a:ext cx="3639312" cy="189052"/>
          </a:xfrm>
          <a:prstGeom prst="rect">
            <a:avLst/>
          </a:prstGeom>
          <a:solidFill>
            <a:srgbClr val="3B5B87"/>
          </a:solidFill>
          <a:ln w="12700">
            <a:solidFill>
              <a:srgbClr val="3B5B87"/>
            </a:solidFill>
            <a:prstDash val="solid"/>
          </a:ln>
        </p:spPr>
      </p:sp>
      <p:sp>
        <p:nvSpPr>
          <p:cNvPr id="9" name="v:Breakpoint:e0:bp7:dot"/>
          <p:cNvSpPr/>
          <p:nvPr/>
        </p:nvSpPr>
        <p:spPr>
          <a:xfrm>
            <a:off x="457200" y="2750255"/>
            <a:ext cx="120993" cy="120993"/>
          </a:xfrm>
          <a:prstGeom prst="ellipse">
            <a:avLst/>
          </a:prstGeom>
          <a:solidFill>
            <a:srgbClr val="D64545"/>
          </a:solidFill>
          <a:ln w="12700">
            <a:solidFill>
              <a:srgbClr val="D64545"/>
            </a:solidFill>
            <a:prstDash val="solid"/>
          </a:ln>
        </p:spPr>
      </p:sp>
      <p:sp>
        <p:nvSpPr>
          <p:cNvPr id="10" name="dbgnums"/>
          <p:cNvSpPr txBox="1"/>
          <p:nvPr/>
        </p:nvSpPr>
        <p:spPr>
          <a:xfrm>
            <a:off x="64008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11" name="dbgcode"/>
          <p:cNvSpPr txBox="1"/>
          <p:nvPr/>
        </p:nvSpPr>
        <p:spPr>
          <a:xfrm>
            <a:off x="98755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12" name="dbgrow"/>
          <p:cNvSpPr/>
          <p:nvPr/>
        </p:nvSpPr>
        <p:spPr>
          <a:xfrm>
            <a:off x="365760" y="3600450"/>
            <a:ext cx="3749040" cy="228600"/>
          </a:xfrm>
          <a:prstGeom prst="roundRect">
            <a:avLst>
              <a:gd name="adj" fmla="val 20000"/>
            </a:avLst>
          </a:prstGeom>
          <a:solidFill>
            <a:srgbClr val="FCEFD0"/>
          </a:solidFill>
          <a:ln w="12700">
            <a:solidFill>
              <a:srgbClr val="B7791F"/>
            </a:solidFill>
            <a:prstDash val="solid"/>
          </a:ln>
        </p:spPr>
      </p:sp>
      <p:sp>
        <p:nvSpPr>
          <p:cNvPr id="13" name="v:Breakpoint:e0:line"/>
          <p:cNvSpPr txBox="1"/>
          <p:nvPr/>
        </p:nvSpPr>
        <p:spPr>
          <a:xfrm>
            <a:off x="43891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1</a:t>
            </a:r>
            <a:endParaRPr lang="en-US" sz="950" dirty="0"/>
          </a:p>
        </p:txBody>
      </p:sp>
      <p:sp>
        <p:nvSpPr>
          <p:cNvPr id="14" name="dbgrow"/>
          <p:cNvSpPr/>
          <p:nvPr/>
        </p:nvSpPr>
        <p:spPr>
          <a:xfrm>
            <a:off x="365760" y="3847338"/>
            <a:ext cx="374904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3891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Breakpoint:e0:vars"/>
          <p:cNvSpPr txBox="1"/>
          <p:nvPr/>
        </p:nvSpPr>
        <p:spPr>
          <a:xfrm>
            <a:off x="126187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7" name="dbgrow"/>
          <p:cNvSpPr/>
          <p:nvPr/>
        </p:nvSpPr>
        <p:spPr>
          <a:xfrm>
            <a:off x="365760" y="4094226"/>
            <a:ext cx="374904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3891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Breakpoint:e0:stack"/>
          <p:cNvSpPr txBox="1"/>
          <p:nvPr/>
        </p:nvSpPr>
        <p:spPr>
          <a:xfrm>
            <a:off x="126187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a:t>
            </a:r>
            <a:endParaRPr lang="en-US" sz="950" dirty="0"/>
          </a:p>
        </p:txBody>
      </p:sp>
      <p:sp>
        <p:nvSpPr>
          <p:cNvPr id="20" name="dbgrow"/>
          <p:cNvSpPr/>
          <p:nvPr/>
        </p:nvSpPr>
        <p:spPr>
          <a:xfrm>
            <a:off x="365760" y="4341114"/>
            <a:ext cx="374904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3891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Breakpoint:e0:out"/>
          <p:cNvSpPr txBox="1"/>
          <p:nvPr/>
        </p:nvSpPr>
        <p:spPr>
          <a:xfrm>
            <a:off x="126187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502920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After Continue: the breakpoint at line 7</a:t>
            </a:r>
            <a:endParaRPr lang="en-US" sz="1200" dirty="0"/>
          </a:p>
        </p:txBody>
      </p:sp>
      <p:sp>
        <p:nvSpPr>
          <p:cNvPr id="24" name="dbgbox|b1"/>
          <p:cNvSpPr/>
          <p:nvPr/>
        </p:nvSpPr>
        <p:spPr>
          <a:xfrm>
            <a:off x="5029200" y="1508760"/>
            <a:ext cx="3749040" cy="2036826"/>
          </a:xfrm>
          <a:prstGeom prst="roundRect">
            <a:avLst>
              <a:gd name="adj" fmla="val 3591"/>
            </a:avLst>
          </a:prstGeom>
          <a:solidFill>
            <a:srgbClr val="17202B"/>
          </a:solidFill>
          <a:ln w="12700">
            <a:solidFill>
              <a:srgbClr val="17202B"/>
            </a:solidFill>
            <a:prstDash val="solid"/>
          </a:ln>
        </p:spPr>
      </p:sp>
      <p:sp>
        <p:nvSpPr>
          <p:cNvPr id="25" name="v:Breakpoint:e6:hl:box|b1"/>
          <p:cNvSpPr/>
          <p:nvPr/>
        </p:nvSpPr>
        <p:spPr>
          <a:xfrm>
            <a:off x="5084064" y="2716225"/>
            <a:ext cx="3639312" cy="189052"/>
          </a:xfrm>
          <a:prstGeom prst="rect">
            <a:avLst/>
          </a:prstGeom>
          <a:solidFill>
            <a:srgbClr val="3B5B87"/>
          </a:solidFill>
          <a:ln w="12700">
            <a:solidFill>
              <a:srgbClr val="3B5B87"/>
            </a:solidFill>
            <a:prstDash val="solid"/>
          </a:ln>
        </p:spPr>
      </p:sp>
      <p:sp>
        <p:nvSpPr>
          <p:cNvPr id="26" name="v:Breakpoint:e6:bp7:dot|b1"/>
          <p:cNvSpPr/>
          <p:nvPr/>
        </p:nvSpPr>
        <p:spPr>
          <a:xfrm>
            <a:off x="5120640" y="2750255"/>
            <a:ext cx="120993" cy="120993"/>
          </a:xfrm>
          <a:prstGeom prst="ellipse">
            <a:avLst/>
          </a:prstGeom>
          <a:solidFill>
            <a:srgbClr val="D64545"/>
          </a:solidFill>
          <a:ln w="12700">
            <a:solidFill>
              <a:srgbClr val="D64545"/>
            </a:solidFill>
            <a:prstDash val="solid"/>
          </a:ln>
        </p:spPr>
      </p:sp>
      <p:sp>
        <p:nvSpPr>
          <p:cNvPr id="27" name="dbgnums|b1"/>
          <p:cNvSpPr txBox="1"/>
          <p:nvPr/>
        </p:nvSpPr>
        <p:spPr>
          <a:xfrm>
            <a:off x="530352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28" name="dbgcode|b1"/>
          <p:cNvSpPr txBox="1"/>
          <p:nvPr/>
        </p:nvSpPr>
        <p:spPr>
          <a:xfrm>
            <a:off x="565099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29" name="dbgrow|b1"/>
          <p:cNvSpPr/>
          <p:nvPr/>
        </p:nvSpPr>
        <p:spPr>
          <a:xfrm>
            <a:off x="5029200" y="3600450"/>
            <a:ext cx="3749040" cy="228600"/>
          </a:xfrm>
          <a:prstGeom prst="roundRect">
            <a:avLst>
              <a:gd name="adj" fmla="val 20000"/>
            </a:avLst>
          </a:prstGeom>
          <a:solidFill>
            <a:srgbClr val="FCEFD0"/>
          </a:solidFill>
          <a:ln w="12700">
            <a:solidFill>
              <a:srgbClr val="B7791F"/>
            </a:solidFill>
            <a:prstDash val="solid"/>
          </a:ln>
        </p:spPr>
      </p:sp>
      <p:sp>
        <p:nvSpPr>
          <p:cNvPr id="30" name="v:Breakpoint:e6:line|b1"/>
          <p:cNvSpPr txBox="1"/>
          <p:nvPr/>
        </p:nvSpPr>
        <p:spPr>
          <a:xfrm>
            <a:off x="510235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 (breakpoint)</a:t>
            </a:r>
            <a:endParaRPr lang="en-US" sz="950" dirty="0"/>
          </a:p>
        </p:txBody>
      </p:sp>
      <p:sp>
        <p:nvSpPr>
          <p:cNvPr id="31" name="dbgrow|b1"/>
          <p:cNvSpPr/>
          <p:nvPr/>
        </p:nvSpPr>
        <p:spPr>
          <a:xfrm>
            <a:off x="5029200" y="3847338"/>
            <a:ext cx="374904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510235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Breakpoint:e6:vars|b1"/>
          <p:cNvSpPr txBox="1"/>
          <p:nvPr/>
        </p:nvSpPr>
        <p:spPr>
          <a:xfrm>
            <a:off x="592531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6</a:t>
            </a:r>
            <a:endParaRPr lang="en-US" sz="950" dirty="0"/>
          </a:p>
        </p:txBody>
      </p:sp>
      <p:sp>
        <p:nvSpPr>
          <p:cNvPr id="34" name="dbgrow|b1"/>
          <p:cNvSpPr/>
          <p:nvPr/>
        </p:nvSpPr>
        <p:spPr>
          <a:xfrm>
            <a:off x="5029200" y="4094226"/>
            <a:ext cx="374904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510235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Breakpoint:e6:stack|b1"/>
          <p:cNvSpPr txBox="1"/>
          <p:nvPr/>
        </p:nvSpPr>
        <p:spPr>
          <a:xfrm>
            <a:off x="592531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37" name="dbgrow|b1"/>
          <p:cNvSpPr/>
          <p:nvPr/>
        </p:nvSpPr>
        <p:spPr>
          <a:xfrm>
            <a:off x="5029200" y="4341114"/>
            <a:ext cx="374904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510235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Breakpoint:e6:out|b1"/>
          <p:cNvSpPr txBox="1"/>
          <p:nvPr/>
        </p:nvSpPr>
        <p:spPr>
          <a:xfrm>
            <a:off x="592531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arrow|b1"/>
          <p:cNvSpPr/>
          <p:nvPr/>
        </p:nvSpPr>
        <p:spPr>
          <a:xfrm>
            <a:off x="4160520" y="2286000"/>
            <a:ext cx="822960" cy="0"/>
          </a:xfrm>
          <a:prstGeom prst="line">
            <a:avLst/>
          </a:prstGeom>
          <a:noFill/>
          <a:ln w="38100">
            <a:solidFill>
              <a:srgbClr val="2E9E5B"/>
            </a:solidFill>
            <a:prstDash val="solid"/>
            <a:tailEnd type="triangle"/>
          </a:ln>
        </p:spPr>
      </p:sp>
      <p:sp>
        <p:nvSpPr>
          <p:cNvPr id="41" name="cont|b1"/>
          <p:cNvSpPr txBox="1"/>
          <p:nvPr/>
        </p:nvSpPr>
        <p:spPr>
          <a:xfrm>
            <a:off x="4114800" y="1920240"/>
            <a:ext cx="914400" cy="27432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Continue</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Breakpoint, Continue (set your own breakpoints)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pythontutor.com/" history="1" highlightClick="0" endSnd="0">
                  <a:extLst>
                    <a:ext uri="{A12FA001-AC4F-418D-AE19-62706E023703}">
                      <ahyp:hlinkClr xmlns:ahyp="http://schemas.microsoft.com/office/drawing/2018/hyperlinkcolor" val="tx"/>
                    </a:ext>
                  </a:extLst>
                </a:hlinkClick>
              </a:rPr>
              <a:t>Python Tutor: step through code online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0" fill="hold">
                      <p:stCondLst>
                        <p:cond delay="indefinite"/>
                      </p:stCondLst>
                      <p:childTnLst>
                        <p:par>
                          <p:cTn id="6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fade">
                                      <p:cBhvr>
                                        <p:cTn id="5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Step In goes inside a call; Step Over runs it whole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Both start at the same line: the call to add</a:t>
            </a:r>
            <a:endParaRPr lang="en-US" sz="1400" dirty="0"/>
          </a:p>
        </p:txBody>
      </p:sp>
      <p:sp>
        <p:nvSpPr>
          <p:cNvPr id="6" name="dbglabel"/>
          <p:cNvSpPr txBox="1"/>
          <p:nvPr/>
        </p:nvSpPr>
        <p:spPr>
          <a:xfrm>
            <a:off x="27432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Stopped at line 6</a:t>
            </a:r>
            <a:endParaRPr lang="en-US" sz="1200" dirty="0"/>
          </a:p>
        </p:txBody>
      </p:sp>
      <p:sp>
        <p:nvSpPr>
          <p:cNvPr id="7" name="dbgbox"/>
          <p:cNvSpPr/>
          <p:nvPr/>
        </p:nvSpPr>
        <p:spPr>
          <a:xfrm>
            <a:off x="274320" y="1508760"/>
            <a:ext cx="2743200" cy="1943100"/>
          </a:xfrm>
          <a:prstGeom prst="roundRect">
            <a:avLst>
              <a:gd name="adj" fmla="val 3765"/>
            </a:avLst>
          </a:prstGeom>
          <a:solidFill>
            <a:srgbClr val="17202B"/>
          </a:solidFill>
          <a:ln w="12700">
            <a:solidFill>
              <a:srgbClr val="17202B"/>
            </a:solidFill>
            <a:prstDash val="solid"/>
          </a:ln>
        </p:spPr>
      </p:sp>
      <p:sp>
        <p:nvSpPr>
          <p:cNvPr id="8" name="v:StepIn:e3:hl:box"/>
          <p:cNvSpPr/>
          <p:nvPr/>
        </p:nvSpPr>
        <p:spPr>
          <a:xfrm>
            <a:off x="329184" y="2480310"/>
            <a:ext cx="2633472" cy="179680"/>
          </a:xfrm>
          <a:prstGeom prst="rect">
            <a:avLst/>
          </a:prstGeom>
          <a:solidFill>
            <a:srgbClr val="3B5B87"/>
          </a:solidFill>
          <a:ln w="12700">
            <a:solidFill>
              <a:srgbClr val="3B5B87"/>
            </a:solidFill>
            <a:prstDash val="solid"/>
          </a:ln>
        </p:spPr>
      </p:sp>
      <p:sp>
        <p:nvSpPr>
          <p:cNvPr id="9" name="v:StepIn:e3:bp6:dot"/>
          <p:cNvSpPr/>
          <p:nvPr/>
        </p:nvSpPr>
        <p:spPr>
          <a:xfrm>
            <a:off x="365760" y="2512652"/>
            <a:ext cx="114995" cy="114995"/>
          </a:xfrm>
          <a:prstGeom prst="ellipse">
            <a:avLst/>
          </a:prstGeom>
          <a:solidFill>
            <a:srgbClr val="D64545"/>
          </a:solidFill>
          <a:ln w="12700">
            <a:solidFill>
              <a:srgbClr val="D64545"/>
            </a:solidFill>
            <a:prstDash val="solid"/>
          </a:ln>
        </p:spPr>
      </p:sp>
      <p:sp>
        <p:nvSpPr>
          <p:cNvPr id="10" name="dbgnums"/>
          <p:cNvSpPr txBox="1"/>
          <p:nvPr/>
        </p:nvSpPr>
        <p:spPr>
          <a:xfrm>
            <a:off x="54864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11" name="dbgcode"/>
          <p:cNvSpPr txBox="1"/>
          <p:nvPr/>
        </p:nvSpPr>
        <p:spPr>
          <a:xfrm>
            <a:off x="89611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12" name="dbgrow"/>
          <p:cNvSpPr/>
          <p:nvPr/>
        </p:nvSpPr>
        <p:spPr>
          <a:xfrm>
            <a:off x="274320" y="3506724"/>
            <a:ext cx="2743200" cy="228600"/>
          </a:xfrm>
          <a:prstGeom prst="roundRect">
            <a:avLst>
              <a:gd name="adj" fmla="val 20000"/>
            </a:avLst>
          </a:prstGeom>
          <a:solidFill>
            <a:srgbClr val="FCEFD0"/>
          </a:solidFill>
          <a:ln w="12700">
            <a:solidFill>
              <a:srgbClr val="B7791F"/>
            </a:solidFill>
            <a:prstDash val="solid"/>
          </a:ln>
        </p:spPr>
      </p:sp>
      <p:sp>
        <p:nvSpPr>
          <p:cNvPr id="13" name="v:StepIn:e3:line"/>
          <p:cNvSpPr txBox="1"/>
          <p:nvPr/>
        </p:nvSpPr>
        <p:spPr>
          <a:xfrm>
            <a:off x="34747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6 (breakpoint)</a:t>
            </a:r>
            <a:endParaRPr lang="en-US" sz="950" dirty="0"/>
          </a:p>
        </p:txBody>
      </p:sp>
      <p:sp>
        <p:nvSpPr>
          <p:cNvPr id="14" name="dbgrow"/>
          <p:cNvSpPr/>
          <p:nvPr/>
        </p:nvSpPr>
        <p:spPr>
          <a:xfrm>
            <a:off x="274320" y="3753612"/>
            <a:ext cx="274320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34747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StepIn:e3:vars"/>
          <p:cNvSpPr txBox="1"/>
          <p:nvPr/>
        </p:nvSpPr>
        <p:spPr>
          <a:xfrm>
            <a:off x="117043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7" name="dbgrow"/>
          <p:cNvSpPr/>
          <p:nvPr/>
        </p:nvSpPr>
        <p:spPr>
          <a:xfrm>
            <a:off x="274320" y="4000500"/>
            <a:ext cx="274320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34747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StepIn:e3:stack"/>
          <p:cNvSpPr txBox="1"/>
          <p:nvPr/>
        </p:nvSpPr>
        <p:spPr>
          <a:xfrm>
            <a:off x="117043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20" name="dbgrow"/>
          <p:cNvSpPr/>
          <p:nvPr/>
        </p:nvSpPr>
        <p:spPr>
          <a:xfrm>
            <a:off x="274320" y="4247388"/>
            <a:ext cx="274320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34747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StepIn:e3:out"/>
          <p:cNvSpPr txBox="1"/>
          <p:nvPr/>
        </p:nvSpPr>
        <p:spPr>
          <a:xfrm>
            <a:off x="117043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315468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In → line 2, inside add</a:t>
            </a:r>
            <a:endParaRPr lang="en-US" sz="1200" dirty="0"/>
          </a:p>
        </p:txBody>
      </p:sp>
      <p:sp>
        <p:nvSpPr>
          <p:cNvPr id="24" name="dbgbox|b1"/>
          <p:cNvSpPr/>
          <p:nvPr/>
        </p:nvSpPr>
        <p:spPr>
          <a:xfrm>
            <a:off x="3154680" y="1508760"/>
            <a:ext cx="2743200" cy="1943100"/>
          </a:xfrm>
          <a:prstGeom prst="roundRect">
            <a:avLst>
              <a:gd name="adj" fmla="val 3765"/>
            </a:avLst>
          </a:prstGeom>
          <a:solidFill>
            <a:srgbClr val="17202B"/>
          </a:solidFill>
          <a:ln w="12700">
            <a:solidFill>
              <a:srgbClr val="17202B"/>
            </a:solidFill>
            <a:prstDash val="solid"/>
          </a:ln>
        </p:spPr>
      </p:sp>
      <p:sp>
        <p:nvSpPr>
          <p:cNvPr id="25" name="v:StepIn:e4:hl:box|b1"/>
          <p:cNvSpPr/>
          <p:nvPr/>
        </p:nvSpPr>
        <p:spPr>
          <a:xfrm>
            <a:off x="3209544" y="1761592"/>
            <a:ext cx="2633472" cy="179680"/>
          </a:xfrm>
          <a:prstGeom prst="rect">
            <a:avLst/>
          </a:prstGeom>
          <a:solidFill>
            <a:srgbClr val="3B5B87"/>
          </a:solidFill>
          <a:ln w="12700">
            <a:solidFill>
              <a:srgbClr val="3B5B87"/>
            </a:solidFill>
            <a:prstDash val="solid"/>
          </a:ln>
        </p:spPr>
      </p:sp>
      <p:sp>
        <p:nvSpPr>
          <p:cNvPr id="26" name="v:StepIn:e4:bp6:dot|b1"/>
          <p:cNvSpPr/>
          <p:nvPr/>
        </p:nvSpPr>
        <p:spPr>
          <a:xfrm>
            <a:off x="3246120" y="2512652"/>
            <a:ext cx="114995" cy="114995"/>
          </a:xfrm>
          <a:prstGeom prst="ellipse">
            <a:avLst/>
          </a:prstGeom>
          <a:solidFill>
            <a:srgbClr val="D64545"/>
          </a:solidFill>
          <a:ln w="12700">
            <a:solidFill>
              <a:srgbClr val="D64545"/>
            </a:solidFill>
            <a:prstDash val="solid"/>
          </a:ln>
        </p:spPr>
      </p:sp>
      <p:sp>
        <p:nvSpPr>
          <p:cNvPr id="27" name="dbgnums|b1"/>
          <p:cNvSpPr txBox="1"/>
          <p:nvPr/>
        </p:nvSpPr>
        <p:spPr>
          <a:xfrm>
            <a:off x="342900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28" name="dbgcode|b1"/>
          <p:cNvSpPr txBox="1"/>
          <p:nvPr/>
        </p:nvSpPr>
        <p:spPr>
          <a:xfrm>
            <a:off x="377647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29" name="dbgrow|b1"/>
          <p:cNvSpPr/>
          <p:nvPr/>
        </p:nvSpPr>
        <p:spPr>
          <a:xfrm>
            <a:off x="3154680" y="3506724"/>
            <a:ext cx="2743200" cy="228600"/>
          </a:xfrm>
          <a:prstGeom prst="roundRect">
            <a:avLst>
              <a:gd name="adj" fmla="val 20000"/>
            </a:avLst>
          </a:prstGeom>
          <a:solidFill>
            <a:srgbClr val="FCEFD0"/>
          </a:solidFill>
          <a:ln w="12700">
            <a:solidFill>
              <a:srgbClr val="B7791F"/>
            </a:solidFill>
            <a:prstDash val="solid"/>
          </a:ln>
        </p:spPr>
      </p:sp>
      <p:sp>
        <p:nvSpPr>
          <p:cNvPr id="30" name="v:StepIn:e4:line|b1"/>
          <p:cNvSpPr txBox="1"/>
          <p:nvPr/>
        </p:nvSpPr>
        <p:spPr>
          <a:xfrm>
            <a:off x="322783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2</a:t>
            </a:r>
            <a:endParaRPr lang="en-US" sz="950" dirty="0"/>
          </a:p>
        </p:txBody>
      </p:sp>
      <p:sp>
        <p:nvSpPr>
          <p:cNvPr id="31" name="dbgrow|b1"/>
          <p:cNvSpPr/>
          <p:nvPr/>
        </p:nvSpPr>
        <p:spPr>
          <a:xfrm>
            <a:off x="3154680" y="3753612"/>
            <a:ext cx="274320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322783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StepIn:e4:vars|b1"/>
          <p:cNvSpPr txBox="1"/>
          <p:nvPr/>
        </p:nvSpPr>
        <p:spPr>
          <a:xfrm>
            <a:off x="405079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a = 2; b = 3</a:t>
            </a:r>
            <a:endParaRPr lang="en-US" sz="950" dirty="0"/>
          </a:p>
        </p:txBody>
      </p:sp>
      <p:sp>
        <p:nvSpPr>
          <p:cNvPr id="34" name="dbgrow|b1"/>
          <p:cNvSpPr/>
          <p:nvPr/>
        </p:nvSpPr>
        <p:spPr>
          <a:xfrm>
            <a:off x="3154680" y="4000500"/>
            <a:ext cx="274320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322783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StepIn:e4:stack|b1"/>
          <p:cNvSpPr txBox="1"/>
          <p:nvPr/>
        </p:nvSpPr>
        <p:spPr>
          <a:xfrm>
            <a:off x="405079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 › add</a:t>
            </a:r>
            <a:endParaRPr lang="en-US" sz="950" dirty="0"/>
          </a:p>
        </p:txBody>
      </p:sp>
      <p:sp>
        <p:nvSpPr>
          <p:cNvPr id="37" name="dbgrow|b1"/>
          <p:cNvSpPr/>
          <p:nvPr/>
        </p:nvSpPr>
        <p:spPr>
          <a:xfrm>
            <a:off x="3154680" y="4247388"/>
            <a:ext cx="274320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322783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StepIn:e4:out|b1"/>
          <p:cNvSpPr txBox="1"/>
          <p:nvPr/>
        </p:nvSpPr>
        <p:spPr>
          <a:xfrm>
            <a:off x="405079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dbglabel|b2"/>
          <p:cNvSpPr txBox="1"/>
          <p:nvPr/>
        </p:nvSpPr>
        <p:spPr>
          <a:xfrm>
            <a:off x="603504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Over → line 7, after add</a:t>
            </a:r>
            <a:endParaRPr lang="en-US" sz="1200" dirty="0"/>
          </a:p>
        </p:txBody>
      </p:sp>
      <p:sp>
        <p:nvSpPr>
          <p:cNvPr id="41" name="dbgbox|b2"/>
          <p:cNvSpPr/>
          <p:nvPr/>
        </p:nvSpPr>
        <p:spPr>
          <a:xfrm>
            <a:off x="6035040" y="1508760"/>
            <a:ext cx="2743200" cy="1943100"/>
          </a:xfrm>
          <a:prstGeom prst="roundRect">
            <a:avLst>
              <a:gd name="adj" fmla="val 3765"/>
            </a:avLst>
          </a:prstGeom>
          <a:solidFill>
            <a:srgbClr val="17202B"/>
          </a:solidFill>
          <a:ln w="12700">
            <a:solidFill>
              <a:srgbClr val="17202B"/>
            </a:solidFill>
            <a:prstDash val="solid"/>
          </a:ln>
        </p:spPr>
      </p:sp>
      <p:sp>
        <p:nvSpPr>
          <p:cNvPr id="42" name="v:StepIn:e6:hl:box|b2"/>
          <p:cNvSpPr/>
          <p:nvPr/>
        </p:nvSpPr>
        <p:spPr>
          <a:xfrm>
            <a:off x="6089904" y="2659990"/>
            <a:ext cx="2633472" cy="179680"/>
          </a:xfrm>
          <a:prstGeom prst="rect">
            <a:avLst/>
          </a:prstGeom>
          <a:solidFill>
            <a:srgbClr val="3B5B87"/>
          </a:solidFill>
          <a:ln w="12700">
            <a:solidFill>
              <a:srgbClr val="3B5B87"/>
            </a:solidFill>
            <a:prstDash val="solid"/>
          </a:ln>
        </p:spPr>
      </p:sp>
      <p:sp>
        <p:nvSpPr>
          <p:cNvPr id="43" name="v:StepIn:e6:bp6:dot|b2"/>
          <p:cNvSpPr/>
          <p:nvPr/>
        </p:nvSpPr>
        <p:spPr>
          <a:xfrm>
            <a:off x="6126480" y="2512652"/>
            <a:ext cx="114995" cy="114995"/>
          </a:xfrm>
          <a:prstGeom prst="ellipse">
            <a:avLst/>
          </a:prstGeom>
          <a:solidFill>
            <a:srgbClr val="D64545"/>
          </a:solidFill>
          <a:ln w="12700">
            <a:solidFill>
              <a:srgbClr val="D64545"/>
            </a:solidFill>
            <a:prstDash val="solid"/>
          </a:ln>
        </p:spPr>
      </p:sp>
      <p:sp>
        <p:nvSpPr>
          <p:cNvPr id="44" name="dbgnums|b2"/>
          <p:cNvSpPr txBox="1"/>
          <p:nvPr/>
        </p:nvSpPr>
        <p:spPr>
          <a:xfrm>
            <a:off x="630936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45" name="dbgcode|b2"/>
          <p:cNvSpPr txBox="1"/>
          <p:nvPr/>
        </p:nvSpPr>
        <p:spPr>
          <a:xfrm>
            <a:off x="665683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46" name="dbgrow|b2"/>
          <p:cNvSpPr/>
          <p:nvPr/>
        </p:nvSpPr>
        <p:spPr>
          <a:xfrm>
            <a:off x="6035040" y="3506724"/>
            <a:ext cx="2743200" cy="228600"/>
          </a:xfrm>
          <a:prstGeom prst="roundRect">
            <a:avLst>
              <a:gd name="adj" fmla="val 20000"/>
            </a:avLst>
          </a:prstGeom>
          <a:solidFill>
            <a:srgbClr val="FCEFD0"/>
          </a:solidFill>
          <a:ln w="12700">
            <a:solidFill>
              <a:srgbClr val="B7791F"/>
            </a:solidFill>
            <a:prstDash val="solid"/>
          </a:ln>
        </p:spPr>
      </p:sp>
      <p:sp>
        <p:nvSpPr>
          <p:cNvPr id="47" name="v:StepIn:e6:line|b2"/>
          <p:cNvSpPr txBox="1"/>
          <p:nvPr/>
        </p:nvSpPr>
        <p:spPr>
          <a:xfrm>
            <a:off x="610819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a:t>
            </a:r>
            <a:endParaRPr lang="en-US" sz="950" dirty="0"/>
          </a:p>
        </p:txBody>
      </p:sp>
      <p:sp>
        <p:nvSpPr>
          <p:cNvPr id="48" name="dbgrow|b2"/>
          <p:cNvSpPr/>
          <p:nvPr/>
        </p:nvSpPr>
        <p:spPr>
          <a:xfrm>
            <a:off x="6035040" y="3753612"/>
            <a:ext cx="2743200" cy="228600"/>
          </a:xfrm>
          <a:prstGeom prst="roundRect">
            <a:avLst>
              <a:gd name="adj" fmla="val 20000"/>
            </a:avLst>
          </a:prstGeom>
          <a:solidFill>
            <a:srgbClr val="F1F4F8"/>
          </a:solidFill>
          <a:ln w="12700">
            <a:solidFill>
              <a:srgbClr val="F1F4F8"/>
            </a:solidFill>
            <a:prstDash val="solid"/>
          </a:ln>
        </p:spPr>
      </p:sp>
      <p:sp>
        <p:nvSpPr>
          <p:cNvPr id="49" name="dbgtag|b2"/>
          <p:cNvSpPr txBox="1"/>
          <p:nvPr/>
        </p:nvSpPr>
        <p:spPr>
          <a:xfrm>
            <a:off x="610819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50" name="v:StepIn:e6:vars|b2"/>
          <p:cNvSpPr txBox="1"/>
          <p:nvPr/>
        </p:nvSpPr>
        <p:spPr>
          <a:xfrm>
            <a:off x="693115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51" name="dbgrow|b2"/>
          <p:cNvSpPr/>
          <p:nvPr/>
        </p:nvSpPr>
        <p:spPr>
          <a:xfrm>
            <a:off x="6035040" y="4000500"/>
            <a:ext cx="2743200" cy="228600"/>
          </a:xfrm>
          <a:prstGeom prst="roundRect">
            <a:avLst>
              <a:gd name="adj" fmla="val 20000"/>
            </a:avLst>
          </a:prstGeom>
          <a:solidFill>
            <a:srgbClr val="F1F4F8"/>
          </a:solidFill>
          <a:ln w="12700">
            <a:solidFill>
              <a:srgbClr val="F1F4F8"/>
            </a:solidFill>
            <a:prstDash val="solid"/>
          </a:ln>
        </p:spPr>
      </p:sp>
      <p:sp>
        <p:nvSpPr>
          <p:cNvPr id="52" name="dbgtag|b2"/>
          <p:cNvSpPr txBox="1"/>
          <p:nvPr/>
        </p:nvSpPr>
        <p:spPr>
          <a:xfrm>
            <a:off x="610819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53" name="v:StepIn:e6:stack|b2"/>
          <p:cNvSpPr txBox="1"/>
          <p:nvPr/>
        </p:nvSpPr>
        <p:spPr>
          <a:xfrm>
            <a:off x="693115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54" name="dbgrow|b2"/>
          <p:cNvSpPr/>
          <p:nvPr/>
        </p:nvSpPr>
        <p:spPr>
          <a:xfrm>
            <a:off x="6035040" y="4247388"/>
            <a:ext cx="2743200" cy="228600"/>
          </a:xfrm>
          <a:prstGeom prst="roundRect">
            <a:avLst>
              <a:gd name="adj" fmla="val 20000"/>
            </a:avLst>
          </a:prstGeom>
          <a:solidFill>
            <a:srgbClr val="F1F4F8"/>
          </a:solidFill>
          <a:ln w="12700">
            <a:solidFill>
              <a:srgbClr val="F1F4F8"/>
            </a:solidFill>
            <a:prstDash val="solid"/>
          </a:ln>
        </p:spPr>
      </p:sp>
      <p:sp>
        <p:nvSpPr>
          <p:cNvPr id="55" name="dbgtag|b2"/>
          <p:cNvSpPr txBox="1"/>
          <p:nvPr/>
        </p:nvSpPr>
        <p:spPr>
          <a:xfrm>
            <a:off x="610819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56" name="v:StepIn:e6:out|b2"/>
          <p:cNvSpPr txBox="1"/>
          <p:nvPr/>
        </p:nvSpPr>
        <p:spPr>
          <a:xfrm>
            <a:off x="693115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5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Step in, Step over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54" fill="hold">
                      <p:stCondLst>
                        <p:cond delay="indefinite"/>
                      </p:stCondLst>
                      <p:childTnLst>
                        <p:par>
                          <p:cTn id="5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childTnLst>
                          </p:cTn>
                        </p:par>
                      </p:childTnLst>
                    </p:cTn>
                  </p:par>
                  <p:par>
                    <p:cTn id="107" fill="hold">
                      <p:stCondLst>
                        <p:cond delay="indefinite"/>
                      </p:stCondLst>
                      <p:childTnLst>
                        <p:par>
                          <p:cTn id="108"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400"/>
                                        <p:tgtEl>
                                          <p:spTgt spid="40"/>
                                        </p:tgtEl>
                                      </p:cBhvr>
                                    </p:animEffect>
                                  </p:childTnLst>
                                </p:cTn>
                              </p:par>
                              <p:par>
                                <p:cTn id="59" presetID="10"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400"/>
                                        <p:tgtEl>
                                          <p:spTgt spid="41"/>
                                        </p:tgtEl>
                                      </p:cBhvr>
                                    </p:animEffect>
                                  </p:childTnLst>
                                </p:cTn>
                              </p:par>
                              <p:par>
                                <p:cTn id="62" presetID="10" presetClass="entr" presetSubtype="0" fill="hold" nodeType="with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400"/>
                                        <p:tgtEl>
                                          <p:spTgt spid="42"/>
                                        </p:tgtEl>
                                      </p:cBhvr>
                                    </p:animEffect>
                                  </p:childTnLst>
                                </p:cTn>
                              </p:par>
                              <p:par>
                                <p:cTn id="65" presetID="10" presetClass="entr" presetSubtype="0" fill="hold"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400"/>
                                        <p:tgtEl>
                                          <p:spTgt spid="4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400"/>
                                        <p:tgtEl>
                                          <p:spTgt spid="4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400"/>
                                        <p:tgtEl>
                                          <p:spTgt spid="45"/>
                                        </p:tgtEl>
                                      </p:cBhvr>
                                    </p:animEffect>
                                  </p:childTnLst>
                                </p:cTn>
                              </p:par>
                              <p:par>
                                <p:cTn id="74" presetID="10" presetClass="entr" presetSubtype="0" fill="hold"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400"/>
                                        <p:tgtEl>
                                          <p:spTgt spid="4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400"/>
                                        <p:tgtEl>
                                          <p:spTgt spid="47"/>
                                        </p:tgtEl>
                                      </p:cBhvr>
                                    </p:animEffect>
                                  </p:childTnLst>
                                </p:cTn>
                              </p:par>
                              <p:par>
                                <p:cTn id="80" presetID="10" presetClass="entr" presetSubtype="0" fill="hold" nodeType="with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fade">
                                      <p:cBhvr>
                                        <p:cTn id="82" dur="400"/>
                                        <p:tgtEl>
                                          <p:spTgt spid="4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9"/>
                                        </p:tgtEl>
                                        <p:attrNameLst>
                                          <p:attrName>style.visibility</p:attrName>
                                        </p:attrNameLst>
                                      </p:cBhvr>
                                      <p:to>
                                        <p:strVal val="visible"/>
                                      </p:to>
                                    </p:set>
                                    <p:animEffect transition="in" filter="fade">
                                      <p:cBhvr>
                                        <p:cTn id="85" dur="400"/>
                                        <p:tgtEl>
                                          <p:spTgt spid="4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0"/>
                                        </p:tgtEl>
                                        <p:attrNameLst>
                                          <p:attrName>style.visibility</p:attrName>
                                        </p:attrNameLst>
                                      </p:cBhvr>
                                      <p:to>
                                        <p:strVal val="visible"/>
                                      </p:to>
                                    </p:set>
                                    <p:animEffect transition="in" filter="fade">
                                      <p:cBhvr>
                                        <p:cTn id="88" dur="400"/>
                                        <p:tgtEl>
                                          <p:spTgt spid="50"/>
                                        </p:tgtEl>
                                      </p:cBhvr>
                                    </p:animEffect>
                                  </p:childTnLst>
                                </p:cTn>
                              </p:par>
                              <p:par>
                                <p:cTn id="89" presetID="10" presetClass="entr" presetSubtype="0" fill="hold" nodeType="with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fade">
                                      <p:cBhvr>
                                        <p:cTn id="91" dur="400"/>
                                        <p:tgtEl>
                                          <p:spTgt spid="5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2"/>
                                        </p:tgtEl>
                                        <p:attrNameLst>
                                          <p:attrName>style.visibility</p:attrName>
                                        </p:attrNameLst>
                                      </p:cBhvr>
                                      <p:to>
                                        <p:strVal val="visible"/>
                                      </p:to>
                                    </p:set>
                                    <p:animEffect transition="in" filter="fade">
                                      <p:cBhvr>
                                        <p:cTn id="94" dur="400"/>
                                        <p:tgtEl>
                                          <p:spTgt spid="5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3"/>
                                        </p:tgtEl>
                                        <p:attrNameLst>
                                          <p:attrName>style.visibility</p:attrName>
                                        </p:attrNameLst>
                                      </p:cBhvr>
                                      <p:to>
                                        <p:strVal val="visible"/>
                                      </p:to>
                                    </p:set>
                                    <p:animEffect transition="in" filter="fade">
                                      <p:cBhvr>
                                        <p:cTn id="97" dur="400"/>
                                        <p:tgtEl>
                                          <p:spTgt spid="53"/>
                                        </p:tgtEl>
                                      </p:cBhvr>
                                    </p:animEffect>
                                  </p:childTnLst>
                                </p:cTn>
                              </p:par>
                              <p:par>
                                <p:cTn id="98" presetID="10" presetClass="entr" presetSubtype="0" fill="hold" nodeType="withEffect">
                                  <p:stCondLst>
                                    <p:cond delay="0"/>
                                  </p:stCondLst>
                                  <p:childTnLst>
                                    <p:set>
                                      <p:cBhvr>
                                        <p:cTn id="99" dur="1" fill="hold">
                                          <p:stCondLst>
                                            <p:cond delay="0"/>
                                          </p:stCondLst>
                                        </p:cTn>
                                        <p:tgtEl>
                                          <p:spTgt spid="54"/>
                                        </p:tgtEl>
                                        <p:attrNameLst>
                                          <p:attrName>style.visibility</p:attrName>
                                        </p:attrNameLst>
                                      </p:cBhvr>
                                      <p:to>
                                        <p:strVal val="visible"/>
                                      </p:to>
                                    </p:set>
                                    <p:animEffect transition="in" filter="fade">
                                      <p:cBhvr>
                                        <p:cTn id="100" dur="400"/>
                                        <p:tgtEl>
                                          <p:spTgt spid="5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5"/>
                                        </p:tgtEl>
                                        <p:attrNameLst>
                                          <p:attrName>style.visibility</p:attrName>
                                        </p:attrNameLst>
                                      </p:cBhvr>
                                      <p:to>
                                        <p:strVal val="visible"/>
                                      </p:to>
                                    </p:set>
                                    <p:animEffect transition="in" filter="fade">
                                      <p:cBhvr>
                                        <p:cTn id="103" dur="400"/>
                                        <p:tgtEl>
                                          <p:spTgt spid="5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6"/>
                                        </p:tgtEl>
                                        <p:attrNameLst>
                                          <p:attrName>style.visibility</p:attrName>
                                        </p:attrNameLst>
                                      </p:cBhvr>
                                      <p:to>
                                        <p:strVal val="visible"/>
                                      </p:to>
                                    </p:set>
                                    <p:animEffect transition="in" filter="fade">
                                      <p:cBhvr>
                                        <p:cTn id="10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0" grpId="0" animBg="1"/>
      <p:bldP spid="44" grpId="0" animBg="1"/>
      <p:bldP spid="45" grpId="0" animBg="1"/>
      <p:bldP spid="47" grpId="0" animBg="1"/>
      <p:bldP spid="49" grpId="0" animBg="1"/>
      <p:bldP spid="50" grpId="0" animBg="1"/>
      <p:bldP spid="52" grpId="0" animBg="1"/>
      <p:bldP spid="53" grpId="0" animBg="1"/>
      <p:bldP spid="55" grpId="0" animBg="1"/>
      <p:bldP spid="5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Step Out finishes this function and stops in its caller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You stepped in and want to get back</a:t>
            </a:r>
            <a:endParaRPr lang="en-US" sz="1400" dirty="0"/>
          </a:p>
        </p:txBody>
      </p:sp>
      <p:sp>
        <p:nvSpPr>
          <p:cNvPr id="6" name="dbglabel"/>
          <p:cNvSpPr txBox="1"/>
          <p:nvPr/>
        </p:nvSpPr>
        <p:spPr>
          <a:xfrm>
            <a:off x="36576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Stopped inside add, at line 2</a:t>
            </a:r>
            <a:endParaRPr lang="en-US" sz="1200" dirty="0"/>
          </a:p>
        </p:txBody>
      </p:sp>
      <p:sp>
        <p:nvSpPr>
          <p:cNvPr id="7" name="dbgbox"/>
          <p:cNvSpPr/>
          <p:nvPr/>
        </p:nvSpPr>
        <p:spPr>
          <a:xfrm>
            <a:off x="365760" y="1508760"/>
            <a:ext cx="3749040" cy="2036826"/>
          </a:xfrm>
          <a:prstGeom prst="roundRect">
            <a:avLst>
              <a:gd name="adj" fmla="val 3591"/>
            </a:avLst>
          </a:prstGeom>
          <a:solidFill>
            <a:srgbClr val="17202B"/>
          </a:solidFill>
          <a:ln w="12700">
            <a:solidFill>
              <a:srgbClr val="17202B"/>
            </a:solidFill>
            <a:prstDash val="solid"/>
          </a:ln>
        </p:spPr>
      </p:sp>
      <p:sp>
        <p:nvSpPr>
          <p:cNvPr id="8" name="v:StepOut:e4:hl:box"/>
          <p:cNvSpPr/>
          <p:nvPr/>
        </p:nvSpPr>
        <p:spPr>
          <a:xfrm>
            <a:off x="420624" y="1770964"/>
            <a:ext cx="3639312" cy="189052"/>
          </a:xfrm>
          <a:prstGeom prst="rect">
            <a:avLst/>
          </a:prstGeom>
          <a:solidFill>
            <a:srgbClr val="3B5B87"/>
          </a:solidFill>
          <a:ln w="12700">
            <a:solidFill>
              <a:srgbClr val="3B5B87"/>
            </a:solidFill>
            <a:prstDash val="solid"/>
          </a:ln>
        </p:spPr>
      </p:sp>
      <p:sp>
        <p:nvSpPr>
          <p:cNvPr id="9" name="v:StepOut:e4:bp2:dot"/>
          <p:cNvSpPr/>
          <p:nvPr/>
        </p:nvSpPr>
        <p:spPr>
          <a:xfrm>
            <a:off x="457200" y="1804994"/>
            <a:ext cx="120993" cy="120993"/>
          </a:xfrm>
          <a:prstGeom prst="ellipse">
            <a:avLst/>
          </a:prstGeom>
          <a:solidFill>
            <a:srgbClr val="D64545"/>
          </a:solidFill>
          <a:ln w="12700">
            <a:solidFill>
              <a:srgbClr val="D64545"/>
            </a:solidFill>
            <a:prstDash val="solid"/>
          </a:ln>
        </p:spPr>
      </p:sp>
      <p:sp>
        <p:nvSpPr>
          <p:cNvPr id="10" name="dbgnums"/>
          <p:cNvSpPr txBox="1"/>
          <p:nvPr/>
        </p:nvSpPr>
        <p:spPr>
          <a:xfrm>
            <a:off x="64008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11" name="dbgcode"/>
          <p:cNvSpPr txBox="1"/>
          <p:nvPr/>
        </p:nvSpPr>
        <p:spPr>
          <a:xfrm>
            <a:off x="98755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12" name="dbgrow"/>
          <p:cNvSpPr/>
          <p:nvPr/>
        </p:nvSpPr>
        <p:spPr>
          <a:xfrm>
            <a:off x="365760" y="3600450"/>
            <a:ext cx="3749040" cy="228600"/>
          </a:xfrm>
          <a:prstGeom prst="roundRect">
            <a:avLst>
              <a:gd name="adj" fmla="val 20000"/>
            </a:avLst>
          </a:prstGeom>
          <a:solidFill>
            <a:srgbClr val="FCEFD0"/>
          </a:solidFill>
          <a:ln w="12700">
            <a:solidFill>
              <a:srgbClr val="B7791F"/>
            </a:solidFill>
            <a:prstDash val="solid"/>
          </a:ln>
        </p:spPr>
      </p:sp>
      <p:sp>
        <p:nvSpPr>
          <p:cNvPr id="13" name="v:StepOut:e4:line"/>
          <p:cNvSpPr txBox="1"/>
          <p:nvPr/>
        </p:nvSpPr>
        <p:spPr>
          <a:xfrm>
            <a:off x="43891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2 (breakpoint)</a:t>
            </a:r>
            <a:endParaRPr lang="en-US" sz="950" dirty="0"/>
          </a:p>
        </p:txBody>
      </p:sp>
      <p:sp>
        <p:nvSpPr>
          <p:cNvPr id="14" name="dbgrow"/>
          <p:cNvSpPr/>
          <p:nvPr/>
        </p:nvSpPr>
        <p:spPr>
          <a:xfrm>
            <a:off x="365760" y="3847338"/>
            <a:ext cx="374904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3891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StepOut:e4:vars"/>
          <p:cNvSpPr txBox="1"/>
          <p:nvPr/>
        </p:nvSpPr>
        <p:spPr>
          <a:xfrm>
            <a:off x="126187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a = 2; b = 3</a:t>
            </a:r>
            <a:endParaRPr lang="en-US" sz="950" dirty="0"/>
          </a:p>
        </p:txBody>
      </p:sp>
      <p:sp>
        <p:nvSpPr>
          <p:cNvPr id="17" name="dbgrow"/>
          <p:cNvSpPr/>
          <p:nvPr/>
        </p:nvSpPr>
        <p:spPr>
          <a:xfrm>
            <a:off x="365760" y="4094226"/>
            <a:ext cx="374904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3891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StepOut:e4:stack"/>
          <p:cNvSpPr txBox="1"/>
          <p:nvPr/>
        </p:nvSpPr>
        <p:spPr>
          <a:xfrm>
            <a:off x="126187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 › add</a:t>
            </a:r>
            <a:endParaRPr lang="en-US" sz="950" dirty="0"/>
          </a:p>
        </p:txBody>
      </p:sp>
      <p:sp>
        <p:nvSpPr>
          <p:cNvPr id="20" name="dbgrow"/>
          <p:cNvSpPr/>
          <p:nvPr/>
        </p:nvSpPr>
        <p:spPr>
          <a:xfrm>
            <a:off x="365760" y="4341114"/>
            <a:ext cx="374904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3891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StepOut:e4:out"/>
          <p:cNvSpPr txBox="1"/>
          <p:nvPr/>
        </p:nvSpPr>
        <p:spPr>
          <a:xfrm>
            <a:off x="126187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502920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Out → line 7, back in main</a:t>
            </a:r>
            <a:endParaRPr lang="en-US" sz="1200" dirty="0"/>
          </a:p>
        </p:txBody>
      </p:sp>
      <p:sp>
        <p:nvSpPr>
          <p:cNvPr id="24" name="dbgbox|b1"/>
          <p:cNvSpPr/>
          <p:nvPr/>
        </p:nvSpPr>
        <p:spPr>
          <a:xfrm>
            <a:off x="5029200" y="1508760"/>
            <a:ext cx="3749040" cy="2036826"/>
          </a:xfrm>
          <a:prstGeom prst="roundRect">
            <a:avLst>
              <a:gd name="adj" fmla="val 3591"/>
            </a:avLst>
          </a:prstGeom>
          <a:solidFill>
            <a:srgbClr val="17202B"/>
          </a:solidFill>
          <a:ln w="12700">
            <a:solidFill>
              <a:srgbClr val="17202B"/>
            </a:solidFill>
            <a:prstDash val="solid"/>
          </a:ln>
        </p:spPr>
      </p:sp>
      <p:sp>
        <p:nvSpPr>
          <p:cNvPr id="25" name="v:StepOut:e6:hl:box|b1"/>
          <p:cNvSpPr/>
          <p:nvPr/>
        </p:nvSpPr>
        <p:spPr>
          <a:xfrm>
            <a:off x="5084064" y="2716225"/>
            <a:ext cx="3639312" cy="189052"/>
          </a:xfrm>
          <a:prstGeom prst="rect">
            <a:avLst/>
          </a:prstGeom>
          <a:solidFill>
            <a:srgbClr val="3B5B87"/>
          </a:solidFill>
          <a:ln w="12700">
            <a:solidFill>
              <a:srgbClr val="3B5B87"/>
            </a:solidFill>
            <a:prstDash val="solid"/>
          </a:ln>
        </p:spPr>
      </p:sp>
      <p:sp>
        <p:nvSpPr>
          <p:cNvPr id="26" name="v:StepOut:e6:bp2:dot|b1"/>
          <p:cNvSpPr/>
          <p:nvPr/>
        </p:nvSpPr>
        <p:spPr>
          <a:xfrm>
            <a:off x="5120640" y="1804994"/>
            <a:ext cx="120993" cy="120993"/>
          </a:xfrm>
          <a:prstGeom prst="ellipse">
            <a:avLst/>
          </a:prstGeom>
          <a:solidFill>
            <a:srgbClr val="D64545"/>
          </a:solidFill>
          <a:ln w="12700">
            <a:solidFill>
              <a:srgbClr val="D64545"/>
            </a:solidFill>
            <a:prstDash val="solid"/>
          </a:ln>
        </p:spPr>
      </p:sp>
      <p:sp>
        <p:nvSpPr>
          <p:cNvPr id="27" name="dbgnums|b1"/>
          <p:cNvSpPr txBox="1"/>
          <p:nvPr/>
        </p:nvSpPr>
        <p:spPr>
          <a:xfrm>
            <a:off x="530352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28" name="dbgcode|b1"/>
          <p:cNvSpPr txBox="1"/>
          <p:nvPr/>
        </p:nvSpPr>
        <p:spPr>
          <a:xfrm>
            <a:off x="565099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29" name="dbgrow|b1"/>
          <p:cNvSpPr/>
          <p:nvPr/>
        </p:nvSpPr>
        <p:spPr>
          <a:xfrm>
            <a:off x="5029200" y="3600450"/>
            <a:ext cx="3749040" cy="228600"/>
          </a:xfrm>
          <a:prstGeom prst="roundRect">
            <a:avLst>
              <a:gd name="adj" fmla="val 20000"/>
            </a:avLst>
          </a:prstGeom>
          <a:solidFill>
            <a:srgbClr val="FCEFD0"/>
          </a:solidFill>
          <a:ln w="12700">
            <a:solidFill>
              <a:srgbClr val="B7791F"/>
            </a:solidFill>
            <a:prstDash val="solid"/>
          </a:ln>
        </p:spPr>
      </p:sp>
      <p:sp>
        <p:nvSpPr>
          <p:cNvPr id="30" name="v:StepOut:e6:line|b1"/>
          <p:cNvSpPr txBox="1"/>
          <p:nvPr/>
        </p:nvSpPr>
        <p:spPr>
          <a:xfrm>
            <a:off x="510235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a:t>
            </a:r>
            <a:endParaRPr lang="en-US" sz="950" dirty="0"/>
          </a:p>
        </p:txBody>
      </p:sp>
      <p:sp>
        <p:nvSpPr>
          <p:cNvPr id="31" name="dbgrow|b1"/>
          <p:cNvSpPr/>
          <p:nvPr/>
        </p:nvSpPr>
        <p:spPr>
          <a:xfrm>
            <a:off x="5029200" y="3847338"/>
            <a:ext cx="374904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510235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StepOut:e6:vars|b1"/>
          <p:cNvSpPr txBox="1"/>
          <p:nvPr/>
        </p:nvSpPr>
        <p:spPr>
          <a:xfrm>
            <a:off x="592531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34" name="dbgrow|b1"/>
          <p:cNvSpPr/>
          <p:nvPr/>
        </p:nvSpPr>
        <p:spPr>
          <a:xfrm>
            <a:off x="5029200" y="4094226"/>
            <a:ext cx="374904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510235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StepOut:e6:stack|b1"/>
          <p:cNvSpPr txBox="1"/>
          <p:nvPr/>
        </p:nvSpPr>
        <p:spPr>
          <a:xfrm>
            <a:off x="592531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37" name="dbgrow|b1"/>
          <p:cNvSpPr/>
          <p:nvPr/>
        </p:nvSpPr>
        <p:spPr>
          <a:xfrm>
            <a:off x="5029200" y="4341114"/>
            <a:ext cx="374904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510235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StepOut:e6:out|b1"/>
          <p:cNvSpPr txBox="1"/>
          <p:nvPr/>
        </p:nvSpPr>
        <p:spPr>
          <a:xfrm>
            <a:off x="592531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arrow|b1"/>
          <p:cNvSpPr/>
          <p:nvPr/>
        </p:nvSpPr>
        <p:spPr>
          <a:xfrm>
            <a:off x="4160520" y="2286000"/>
            <a:ext cx="822960" cy="0"/>
          </a:xfrm>
          <a:prstGeom prst="line">
            <a:avLst/>
          </a:prstGeom>
          <a:noFill/>
          <a:ln w="38100">
            <a:solidFill>
              <a:srgbClr val="306998"/>
            </a:solidFill>
            <a:prstDash val="solid"/>
            <a:tailEnd type="triangle"/>
          </a:ln>
        </p:spPr>
      </p:sp>
      <p:sp>
        <p:nvSpPr>
          <p:cNvPr id="41" name="out|b1"/>
          <p:cNvSpPr txBox="1"/>
          <p:nvPr/>
        </p:nvSpPr>
        <p:spPr>
          <a:xfrm>
            <a:off x="4114800" y="1920240"/>
            <a:ext cx="914400" cy="274320"/>
          </a:xfrm>
          <a:prstGeom prst="rect">
            <a:avLst/>
          </a:prstGeom>
          <a:noFill/>
          <a:ln/>
        </p:spPr>
        <p:txBody>
          <a:bodyPr wrap="square" lIns="0" tIns="0" rIns="0" bIns="0" rtlCol="0" anchor="ctr"/>
          <a:lstStyle/>
          <a:p>
            <a:pPr algn="ctr" indent="0" marL="0">
              <a:buNone/>
            </a:pPr>
            <a:r>
              <a:rPr lang="en-US" sz="1100" b="1" dirty="0">
                <a:solidFill>
                  <a:srgbClr val="306998"/>
                </a:solidFill>
                <a:latin typeface="Calibri" pitchFamily="34" charset="0"/>
                <a:ea typeface="Calibri" pitchFamily="34" charset="-122"/>
                <a:cs typeface="Calibri" pitchFamily="34" charset="-120"/>
              </a:rPr>
              <a:t>Step Out</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Step out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0" fill="hold">
                      <p:stCondLst>
                        <p:cond delay="indefinite"/>
                      </p:stCondLst>
                      <p:childTnLst>
                        <p:par>
                          <p:cTn id="6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fade">
                                      <p:cBhvr>
                                        <p:cTn id="5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Any Python has a debugger: breakpoint() and pdb</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five controls, in the standard library</a:t>
            </a:r>
            <a:endParaRPr lang="en-US" sz="1400" dirty="0"/>
          </a:p>
        </p:txBody>
      </p:sp>
      <p:sp>
        <p:nvSpPr>
          <p:cNvPr id="6" name="x"/>
          <p:cNvSpPr/>
          <p:nvPr/>
        </p:nvSpPr>
        <p:spPr>
          <a:xfrm>
            <a:off x="365760" y="1188720"/>
            <a:ext cx="8412480" cy="1920240"/>
          </a:xfrm>
          <a:prstGeom prst="roundRect">
            <a:avLst>
              <a:gd name="adj" fmla="val 4762"/>
            </a:avLst>
          </a:prstGeom>
          <a:solidFill>
            <a:srgbClr val="17202B"/>
          </a:solidFill>
          <a:ln w="12700">
            <a:solidFill>
              <a:srgbClr val="17202B"/>
            </a:solidFill>
            <a:prstDash val="solid"/>
          </a:ln>
        </p:spPr>
      </p:sp>
      <p:sp>
        <p:nvSpPr>
          <p:cNvPr id="7" name="codecard"/>
          <p:cNvSpPr txBox="1"/>
          <p:nvPr/>
        </p:nvSpPr>
        <p:spPr>
          <a:xfrm>
            <a:off x="548640" y="1298448"/>
            <a:ext cx="8046720" cy="1700784"/>
          </a:xfrm>
          <a:prstGeom prst="rect">
            <a:avLst/>
          </a:prstGeom>
          <a:noFill/>
          <a:ln/>
        </p:spPr>
        <p:txBody>
          <a:bodyPr wrap="square" lIns="0" tIns="0" rIns="0" bIns="0" rtlCol="0" anchor="t"/>
          <a:lstStyle/>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__import__('sys').breakpointhook.__name__</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'breakpointhook'</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hasattr(__import__('sys'), 'remote_exec')</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[c for c in ('do_step', 'do_next', 'do_return', 'do_continue', 'do_break', 'do_where') if hasattr(__import__('pdb').Pdb, c)]</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['do_step', 'do_next', 'do_return', 'do_continue', 'do_break', 'do_where']</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hasattr(__import__('pdb').Pdb, 'do_quit')</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8" name="x"/>
          <p:cNvSpPr txBox="1"/>
          <p:nvPr/>
        </p:nvSpPr>
        <p:spPr>
          <a:xfrm>
            <a:off x="365760" y="3136392"/>
            <a:ext cx="84124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card|b1"/>
          <p:cNvSpPr/>
          <p:nvPr/>
        </p:nvSpPr>
        <p:spPr>
          <a:xfrm>
            <a:off x="365760" y="3429000"/>
            <a:ext cx="2697480" cy="1143000"/>
          </a:xfrm>
          <a:prstGeom prst="roundRect">
            <a:avLst>
              <a:gd name="adj" fmla="val 8000"/>
            </a:avLst>
          </a:prstGeom>
          <a:solidFill>
            <a:srgbClr val="F1F4F8"/>
          </a:solidFill>
          <a:ln w="12700">
            <a:solidFill>
              <a:srgbClr val="F1F4F8"/>
            </a:solidFill>
            <a:prstDash val="solid"/>
          </a:ln>
        </p:spPr>
      </p:sp>
      <p:sp>
        <p:nvSpPr>
          <p:cNvPr id="10" name="cardhead|b1"/>
          <p:cNvSpPr txBox="1"/>
          <p:nvPr/>
        </p:nvSpPr>
        <p:spPr>
          <a:xfrm>
            <a:off x="530352" y="3520440"/>
            <a:ext cx="236829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breakpoint()</a:t>
            </a:r>
            <a:endParaRPr lang="en-US" sz="1500" dirty="0"/>
          </a:p>
        </p:txBody>
      </p:sp>
      <p:sp>
        <p:nvSpPr>
          <p:cNvPr id="11" name="cardbody|b1"/>
          <p:cNvSpPr txBox="1"/>
          <p:nvPr/>
        </p:nvSpPr>
        <p:spPr>
          <a:xfrm>
            <a:off x="5303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Pauses in pdb at that line (PEP 553). PYTHONBREAKPOINT=0 makes it do nothing.</a:t>
            </a:r>
            <a:endParaRPr lang="en-US" sz="1300" dirty="0"/>
          </a:p>
        </p:txBody>
      </p:sp>
      <p:sp>
        <p:nvSpPr>
          <p:cNvPr id="12" name="card|b2"/>
          <p:cNvSpPr/>
          <p:nvPr/>
        </p:nvSpPr>
        <p:spPr>
          <a:xfrm>
            <a:off x="3223260" y="3429000"/>
            <a:ext cx="2697480" cy="1143000"/>
          </a:xfrm>
          <a:prstGeom prst="roundRect">
            <a:avLst>
              <a:gd name="adj" fmla="val 8000"/>
            </a:avLst>
          </a:prstGeom>
          <a:solidFill>
            <a:srgbClr val="F1F4F8"/>
          </a:solidFill>
          <a:ln w="12700">
            <a:solidFill>
              <a:srgbClr val="F1F4F8"/>
            </a:solidFill>
            <a:prstDash val="solid"/>
          </a:ln>
        </p:spPr>
      </p:sp>
      <p:sp>
        <p:nvSpPr>
          <p:cNvPr id="13" name="cardhead|b2"/>
          <p:cNvSpPr txBox="1"/>
          <p:nvPr/>
        </p:nvSpPr>
        <p:spPr>
          <a:xfrm>
            <a:off x="3387852" y="3520440"/>
            <a:ext cx="236829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pdb commands</a:t>
            </a:r>
            <a:endParaRPr lang="en-US" sz="1500" dirty="0"/>
          </a:p>
        </p:txBody>
      </p:sp>
      <p:sp>
        <p:nvSpPr>
          <p:cNvPr id="14" name="cardbody|b2"/>
          <p:cNvSpPr txBox="1"/>
          <p:nvPr/>
        </p:nvSpPr>
        <p:spPr>
          <a:xfrm>
            <a:off x="33878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step, next, return, continue, break match the controls; where lists the call stack.</a:t>
            </a:r>
            <a:endParaRPr lang="en-US" sz="1300" dirty="0"/>
          </a:p>
        </p:txBody>
      </p:sp>
      <p:sp>
        <p:nvSpPr>
          <p:cNvPr id="15" name="card|b3"/>
          <p:cNvSpPr/>
          <p:nvPr/>
        </p:nvSpPr>
        <p:spPr>
          <a:xfrm>
            <a:off x="6080760" y="3429000"/>
            <a:ext cx="2697480" cy="1143000"/>
          </a:xfrm>
          <a:prstGeom prst="roundRect">
            <a:avLst>
              <a:gd name="adj" fmla="val 8000"/>
            </a:avLst>
          </a:prstGeom>
          <a:solidFill>
            <a:srgbClr val="F1F4F8"/>
          </a:solidFill>
          <a:ln w="12700">
            <a:solidFill>
              <a:srgbClr val="F1F4F8"/>
            </a:solidFill>
            <a:prstDash val="solid"/>
          </a:ln>
        </p:spPr>
      </p:sp>
      <p:sp>
        <p:nvSpPr>
          <p:cNvPr id="16" name="cardhead|b3"/>
          <p:cNvSpPr txBox="1"/>
          <p:nvPr/>
        </p:nvSpPr>
        <p:spPr>
          <a:xfrm>
            <a:off x="6245352" y="3520440"/>
            <a:ext cx="236829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New in 3.14</a:t>
            </a:r>
            <a:endParaRPr lang="en-US" sz="1500" dirty="0"/>
          </a:p>
        </p:txBody>
      </p:sp>
      <p:sp>
        <p:nvSpPr>
          <p:cNvPr id="17" name="cardbody|b3"/>
          <p:cNvSpPr txBox="1"/>
          <p:nvPr/>
        </p:nvSpPr>
        <p:spPr>
          <a:xfrm>
            <a:off x="62453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-m pdb -p PID attaches to a running process (PEP 768).</a:t>
            </a:r>
            <a:endParaRPr lang="en-US" sz="13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Breakpoint function, pdb commands, Remote attach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peps.python.org/pep-0553/" history="1" highlightClick="0" endSnd="0">
                  <a:extLst>
                    <a:ext uri="{A12FA001-AC4F-418D-AE19-62706E023703}">
                      <ahyp:hlinkClr xmlns:ahyp="http://schemas.microsoft.com/office/drawing/2018/hyperlinkcolor" val="tx"/>
                    </a:ext>
                  </a:extLst>
                </a:hlinkClick>
              </a:rPr>
              <a:t>PEP 553</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peps.python.org/pep-0768/" history="1" highlightClick="0" endSnd="0">
                  <a:extLst>
                    <a:ext uri="{A12FA001-AC4F-418D-AE19-62706E023703}">
                      <ahyp:hlinkClr xmlns:ahyp="http://schemas.microsoft.com/office/drawing/2018/hyperlinkcolor" val="tx"/>
                    </a:ext>
                  </a:extLst>
                </a:hlinkClick>
              </a:rPr>
              <a:t>PEP 768</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3"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Worked case: the sum that prints 5342</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debugger shows quotation marks around the values</a:t>
            </a:r>
            <a:endParaRPr lang="en-US" sz="1400" dirty="0"/>
          </a:p>
        </p:txBody>
      </p:sp>
      <p:sp>
        <p:nvSpPr>
          <p:cNvPr id="6" name="l1"/>
          <p:cNvSpPr txBox="1"/>
          <p:nvPr/>
        </p:nvSpPr>
        <p:spPr>
          <a:xfrm>
            <a:off x="365760" y="1097280"/>
            <a:ext cx="4114800" cy="274320"/>
          </a:xfrm>
          <a:prstGeom prst="rect">
            <a:avLst/>
          </a:prstGeom>
          <a:noFill/>
          <a:ln/>
        </p:spPr>
        <p:txBody>
          <a:bodyPr wrap="square" lIns="0" tIns="0" rIns="0" bIns="0" rtlCol="0" anchor="ctr"/>
          <a:lstStyle/>
          <a:p>
            <a:pPr indent="0" marL="0">
              <a:buNone/>
            </a:pPr>
            <a:r>
              <a:rPr lang="en-US" sz="1400" b="1" dirty="0">
                <a:solidFill>
                  <a:srgbClr val="D64545"/>
                </a:solidFill>
                <a:latin typeface="Calibri" pitchFamily="34" charset="0"/>
                <a:ea typeface="Calibri" pitchFamily="34" charset="-122"/>
                <a:cs typeface="Calibri" pitchFamily="34" charset="-120"/>
              </a:rPr>
              <a:t>Before</a:t>
            </a:r>
            <a:endParaRPr lang="en-US" sz="1400" dirty="0"/>
          </a:p>
        </p:txBody>
      </p:sp>
      <p:sp>
        <p:nvSpPr>
          <p:cNvPr id="7" name="progbox"/>
          <p:cNvSpPr/>
          <p:nvPr/>
        </p:nvSpPr>
        <p:spPr>
          <a:xfrm>
            <a:off x="365760" y="1371600"/>
            <a:ext cx="4114800" cy="1554480"/>
          </a:xfrm>
          <a:prstGeom prst="roundRect">
            <a:avLst>
              <a:gd name="adj" fmla="val 5882"/>
            </a:avLst>
          </a:prstGeom>
          <a:solidFill>
            <a:srgbClr val="17202B"/>
          </a:solidFill>
          <a:ln w="12700">
            <a:solidFill>
              <a:srgbClr val="17202B"/>
            </a:solidFill>
            <a:prstDash val="solid"/>
          </a:ln>
        </p:spPr>
      </p:sp>
      <p:sp>
        <p:nvSpPr>
          <p:cNvPr id="8" name="prog"/>
          <p:cNvSpPr txBox="1"/>
          <p:nvPr/>
        </p:nvSpPr>
        <p:spPr>
          <a:xfrm>
            <a:off x="548640" y="1463040"/>
            <a:ext cx="3749040" cy="13716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first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first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second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second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third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third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print('The sum is ' + first + second + third)</a:t>
            </a:r>
            <a:endParaRPr lang="en-US" sz="1000" dirty="0"/>
          </a:p>
        </p:txBody>
      </p:sp>
      <p:sp>
        <p:nvSpPr>
          <p:cNvPr id="9" name="transbox"/>
          <p:cNvSpPr/>
          <p:nvPr/>
        </p:nvSpPr>
        <p:spPr>
          <a:xfrm>
            <a:off x="365760" y="3063240"/>
            <a:ext cx="4114800" cy="1280160"/>
          </a:xfrm>
          <a:prstGeom prst="roundRect">
            <a:avLst>
              <a:gd name="adj" fmla="val 7143"/>
            </a:avLst>
          </a:prstGeom>
          <a:solidFill>
            <a:srgbClr val="F1F4F8"/>
          </a:solidFill>
          <a:ln w="12700">
            <a:solidFill>
              <a:srgbClr val="F1F4F8"/>
            </a:solidFill>
            <a:prstDash val="solid"/>
          </a:ln>
        </p:spPr>
      </p:sp>
      <p:sp>
        <p:nvSpPr>
          <p:cNvPr id="10" name="trans"/>
          <p:cNvSpPr txBox="1"/>
          <p:nvPr/>
        </p:nvSpPr>
        <p:spPr>
          <a:xfrm>
            <a:off x="502920" y="3136392"/>
            <a:ext cx="3840480" cy="113385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first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5</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second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3</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third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42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The sum is 5342</a:t>
            </a:r>
            <a:endParaRPr lang="en-US" sz="1000" dirty="0"/>
          </a:p>
        </p:txBody>
      </p:sp>
      <p:sp>
        <p:nvSpPr>
          <p:cNvPr id="11" name="transcap"/>
          <p:cNvSpPr txBox="1"/>
          <p:nvPr/>
        </p:nvSpPr>
        <p:spPr>
          <a:xfrm>
            <a:off x="365760" y="4370832"/>
            <a:ext cx="41148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2" name="l2|b1"/>
          <p:cNvSpPr txBox="1"/>
          <p:nvPr/>
        </p:nvSpPr>
        <p:spPr>
          <a:xfrm>
            <a:off x="4663440" y="1097280"/>
            <a:ext cx="4114800" cy="274320"/>
          </a:xfrm>
          <a:prstGeom prst="rect">
            <a:avLst/>
          </a:prstGeom>
          <a:noFill/>
          <a:ln/>
        </p:spPr>
        <p:txBody>
          <a:bodyPr wrap="square" lIns="0" tIns="0" rIns="0" bIns="0" rtlCol="0" anchor="ctr"/>
          <a:lstStyle/>
          <a:p>
            <a:pPr indent="0" marL="0">
              <a:buNone/>
            </a:pPr>
            <a:r>
              <a:rPr lang="en-US" sz="1400" b="1" dirty="0">
                <a:solidFill>
                  <a:srgbClr val="2E9E5B"/>
                </a:solidFill>
                <a:latin typeface="Calibri" pitchFamily="34" charset="0"/>
                <a:ea typeface="Calibri" pitchFamily="34" charset="-122"/>
                <a:cs typeface="Calibri" pitchFamily="34" charset="-120"/>
              </a:rPr>
              <a:t>After</a:t>
            </a:r>
            <a:endParaRPr lang="en-US" sz="1400" dirty="0"/>
          </a:p>
        </p:txBody>
      </p:sp>
      <p:sp>
        <p:nvSpPr>
          <p:cNvPr id="13" name="progbox|b1"/>
          <p:cNvSpPr/>
          <p:nvPr/>
        </p:nvSpPr>
        <p:spPr>
          <a:xfrm>
            <a:off x="4663440" y="1371600"/>
            <a:ext cx="4114800" cy="1554480"/>
          </a:xfrm>
          <a:prstGeom prst="roundRect">
            <a:avLst>
              <a:gd name="adj" fmla="val 5882"/>
            </a:avLst>
          </a:prstGeom>
          <a:solidFill>
            <a:srgbClr val="17202B"/>
          </a:solidFill>
          <a:ln w="12700">
            <a:solidFill>
              <a:srgbClr val="17202B"/>
            </a:solidFill>
            <a:prstDash val="solid"/>
          </a:ln>
        </p:spPr>
      </p:sp>
      <p:sp>
        <p:nvSpPr>
          <p:cNvPr id="14" name="prog|b1"/>
          <p:cNvSpPr txBox="1"/>
          <p:nvPr/>
        </p:nvSpPr>
        <p:spPr>
          <a:xfrm>
            <a:off x="4846320" y="1463040"/>
            <a:ext cx="3749040" cy="13716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first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first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second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second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third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third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print('The sum is', first + second + third)</a:t>
            </a:r>
            <a:endParaRPr lang="en-US" sz="1000" dirty="0"/>
          </a:p>
        </p:txBody>
      </p:sp>
      <p:sp>
        <p:nvSpPr>
          <p:cNvPr id="15" name="transbox|b1"/>
          <p:cNvSpPr/>
          <p:nvPr/>
        </p:nvSpPr>
        <p:spPr>
          <a:xfrm>
            <a:off x="4663440" y="3063240"/>
            <a:ext cx="4114800" cy="1280160"/>
          </a:xfrm>
          <a:prstGeom prst="roundRect">
            <a:avLst>
              <a:gd name="adj" fmla="val 7143"/>
            </a:avLst>
          </a:prstGeom>
          <a:solidFill>
            <a:srgbClr val="F1F4F8"/>
          </a:solidFill>
          <a:ln w="12700">
            <a:solidFill>
              <a:srgbClr val="F1F4F8"/>
            </a:solidFill>
            <a:prstDash val="solid"/>
          </a:ln>
        </p:spPr>
      </p:sp>
      <p:sp>
        <p:nvSpPr>
          <p:cNvPr id="16" name="trans|b1"/>
          <p:cNvSpPr txBox="1"/>
          <p:nvPr/>
        </p:nvSpPr>
        <p:spPr>
          <a:xfrm>
            <a:off x="4800600" y="3136392"/>
            <a:ext cx="3840480" cy="113385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first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5</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second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3</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third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42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The sum is 50</a:t>
            </a:r>
            <a:endParaRPr lang="en-US" sz="1000" dirty="0"/>
          </a:p>
        </p:txBody>
      </p:sp>
      <p:sp>
        <p:nvSpPr>
          <p:cNvPr id="17" name="transcap|b1"/>
          <p:cNvSpPr txBox="1"/>
          <p:nvPr/>
        </p:nvSpPr>
        <p:spPr>
          <a:xfrm>
            <a:off x="4663440" y="4370832"/>
            <a:ext cx="41148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String concatenation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par>
                                <p:cTn id="12" presetID="10" presetClass="entr" presetSubtype="0"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Worked case: a guess that can never be right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toss is an int; guess is a str</a:t>
            </a:r>
            <a:endParaRPr lang="en-US" sz="1400" dirty="0"/>
          </a:p>
        </p:txBody>
      </p:sp>
      <p:sp>
        <p:nvSpPr>
          <p:cNvPr id="6" name="progbox"/>
          <p:cNvSpPr/>
          <p:nvPr/>
        </p:nvSpPr>
        <p:spPr>
          <a:xfrm>
            <a:off x="365760" y="1234440"/>
            <a:ext cx="5120640" cy="2194560"/>
          </a:xfrm>
          <a:prstGeom prst="roundRect">
            <a:avLst>
              <a:gd name="adj" fmla="val 4167"/>
            </a:avLst>
          </a:prstGeom>
          <a:solidFill>
            <a:srgbClr val="17202B"/>
          </a:solidFill>
          <a:ln w="12700">
            <a:solidFill>
              <a:srgbClr val="17202B"/>
            </a:solidFill>
            <a:prstDash val="solid"/>
          </a:ln>
        </p:spPr>
      </p:sp>
      <p:sp>
        <p:nvSpPr>
          <p:cNvPr id="7" name="prog"/>
          <p:cNvSpPr txBox="1"/>
          <p:nvPr/>
        </p:nvSpPr>
        <p:spPr>
          <a:xfrm>
            <a:off x="548640" y="1325880"/>
            <a:ext cx="4754880" cy="2011680"/>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import random</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random.seed(7)</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guess = input('Guess the coin toss! Enter heads or tails: ')</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toss = random.randint(0, 1)  # 0 is tails, 1 is heads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if toss == guess: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print('You got it!')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print('Nope! Guess again!')</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print(type(toss).__name__, type(guess).__name__)</a:t>
            </a:r>
            <a:endParaRPr lang="en-US" sz="1100" dirty="0"/>
          </a:p>
        </p:txBody>
      </p:sp>
      <p:sp>
        <p:nvSpPr>
          <p:cNvPr id="8" name="transbox|b1"/>
          <p:cNvSpPr/>
          <p:nvPr/>
        </p:nvSpPr>
        <p:spPr>
          <a:xfrm>
            <a:off x="5669280" y="1234440"/>
            <a:ext cx="3108960" cy="1920240"/>
          </a:xfrm>
          <a:prstGeom prst="roundRect">
            <a:avLst>
              <a:gd name="adj" fmla="val 4762"/>
            </a:avLst>
          </a:prstGeom>
          <a:solidFill>
            <a:srgbClr val="F1F4F8"/>
          </a:solidFill>
          <a:ln w="12700">
            <a:solidFill>
              <a:srgbClr val="F1F4F8"/>
            </a:solidFill>
            <a:prstDash val="solid"/>
          </a:ln>
        </p:spPr>
      </p:sp>
      <p:sp>
        <p:nvSpPr>
          <p:cNvPr id="9" name="trans|b1"/>
          <p:cNvSpPr txBox="1"/>
          <p:nvPr/>
        </p:nvSpPr>
        <p:spPr>
          <a:xfrm>
            <a:off x="5806440" y="1307592"/>
            <a:ext cx="2834640" cy="177393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Guess the coin toss! Enter heads or tails: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heads</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Nope! Guess again!</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int str</a:t>
            </a:r>
            <a:endParaRPr lang="en-US" sz="1050" dirty="0"/>
          </a:p>
          <a:p>
            <a:pPr indent="0" marL="0">
              <a:spcAft>
                <a:spcPts val="100"/>
              </a:spcAft>
              <a:buNone/>
            </a:pPr>
            <a:r>
              <a:rPr lang="en-US" sz="1050" i="1" dirty="0">
                <a:solidFill>
                  <a:srgbClr val="5B6B7B"/>
                </a:solidFill>
                <a:latin typeface="Calibri" pitchFamily="34" charset="0"/>
                <a:ea typeface="Calibri" pitchFamily="34" charset="-122"/>
                <a:cs typeface="Calibri" pitchFamily="34" charset="-120"/>
              </a:rPr>
              <a:t>— another run —</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Guess the coin toss! Enter heads or tails: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tails</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Nope! Guess again!</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int str</a:t>
            </a:r>
            <a:endParaRPr lang="en-US" sz="1050" dirty="0"/>
          </a:p>
        </p:txBody>
      </p:sp>
      <p:sp>
        <p:nvSpPr>
          <p:cNvPr id="10" name="transcap|b1"/>
          <p:cNvSpPr txBox="1"/>
          <p:nvPr/>
        </p:nvSpPr>
        <p:spPr>
          <a:xfrm>
            <a:off x="5669280" y="3182112"/>
            <a:ext cx="3108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ct|b2"/>
          <p:cNvSpPr/>
          <p:nvPr/>
        </p:nvSpPr>
        <p:spPr>
          <a:xfrm>
            <a:off x="365760" y="3611880"/>
            <a:ext cx="8412480" cy="822960"/>
          </a:xfrm>
          <a:prstGeom prst="roundRect">
            <a:avLst>
              <a:gd name="adj" fmla="val 11111"/>
            </a:avLst>
          </a:prstGeom>
          <a:solidFill>
            <a:srgbClr val="FCEFD0"/>
          </a:solidFill>
          <a:ln w="12700">
            <a:solidFill>
              <a:srgbClr val="B7791F"/>
            </a:solidFill>
            <a:prstDash val="solid"/>
          </a:ln>
        </p:spPr>
      </p:sp>
      <p:sp>
        <p:nvSpPr>
          <p:cNvPr id="12" name="ctt|b2"/>
          <p:cNvSpPr txBox="1"/>
          <p:nvPr/>
        </p:nvSpPr>
        <p:spPr>
          <a:xfrm>
            <a:off x="548640" y="3611880"/>
            <a:ext cx="8046720" cy="82296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A number never equals a string, so toss == guess is false for every guess, heads or tails: the last line prints the types, int str. This is one of the bugs in the chapter’s Buggy Coin Toss Game.</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Type mismatch comparison</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 choose, read, log, step</a:t>
            </a:r>
            <a:endParaRPr lang="en-US" sz="1400" dirty="0"/>
          </a:p>
        </p:txBody>
      </p:sp>
      <p:sp>
        <p:nvSpPr>
          <p:cNvPr id="6" name="x"/>
          <p:cNvSpPr/>
          <p:nvPr/>
        </p:nvSpPr>
        <p:spPr>
          <a:xfrm>
            <a:off x="457200" y="1325880"/>
            <a:ext cx="1371600" cy="640080"/>
          </a:xfrm>
          <a:prstGeom prst="roundRect">
            <a:avLst>
              <a:gd name="adj" fmla="val 14286"/>
            </a:avLst>
          </a:prstGeom>
          <a:solidFill>
            <a:srgbClr val="306998"/>
          </a:solidFill>
          <a:ln w="12700">
            <a:solidFill>
              <a:srgbClr val="306998"/>
            </a:solidFill>
            <a:prstDash val="solid"/>
          </a:ln>
        </p:spPr>
      </p:sp>
      <p:sp>
        <p:nvSpPr>
          <p:cNvPr id="7" name="x"/>
          <p:cNvSpPr txBox="1"/>
          <p:nvPr/>
        </p:nvSpPr>
        <p:spPr>
          <a:xfrm>
            <a:off x="457200" y="132588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Choose</a:t>
            </a:r>
            <a:endParaRPr lang="en-US" sz="1800" dirty="0"/>
          </a:p>
        </p:txBody>
      </p:sp>
      <p:sp>
        <p:nvSpPr>
          <p:cNvPr id="8" name="x"/>
          <p:cNvSpPr txBox="1"/>
          <p:nvPr/>
        </p:nvSpPr>
        <p:spPr>
          <a:xfrm>
            <a:off x="2011680" y="132588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the instrument by the question: raise, assert, log or step</a:t>
            </a:r>
            <a:endParaRPr lang="en-US" sz="1600" dirty="0"/>
          </a:p>
        </p:txBody>
      </p:sp>
      <p:sp>
        <p:nvSpPr>
          <p:cNvPr id="9" name="x"/>
          <p:cNvSpPr/>
          <p:nvPr/>
        </p:nvSpPr>
        <p:spPr>
          <a:xfrm>
            <a:off x="457200" y="2148840"/>
            <a:ext cx="1371600" cy="640080"/>
          </a:xfrm>
          <a:prstGeom prst="roundRect">
            <a:avLst>
              <a:gd name="adj" fmla="val 14286"/>
            </a:avLst>
          </a:prstGeom>
          <a:solidFill>
            <a:srgbClr val="306998"/>
          </a:solidFill>
          <a:ln w="12700">
            <a:solidFill>
              <a:srgbClr val="306998"/>
            </a:solidFill>
            <a:prstDash val="solid"/>
          </a:ln>
        </p:spPr>
      </p:sp>
      <p:sp>
        <p:nvSpPr>
          <p:cNvPr id="10" name="x"/>
          <p:cNvSpPr txBox="1"/>
          <p:nvPr/>
        </p:nvSpPr>
        <p:spPr>
          <a:xfrm>
            <a:off x="457200" y="214884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Read</a:t>
            </a:r>
            <a:endParaRPr lang="en-US" sz="1800" dirty="0"/>
          </a:p>
        </p:txBody>
      </p:sp>
      <p:sp>
        <p:nvSpPr>
          <p:cNvPr id="11" name="x"/>
          <p:cNvSpPr txBox="1"/>
          <p:nvPr/>
        </p:nvSpPr>
        <p:spPr>
          <a:xfrm>
            <a:off x="2011680" y="214884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a traceback from the bottom up, with its carets and notes</a:t>
            </a:r>
            <a:endParaRPr lang="en-US" sz="1600" dirty="0"/>
          </a:p>
        </p:txBody>
      </p:sp>
      <p:sp>
        <p:nvSpPr>
          <p:cNvPr id="12" name="x"/>
          <p:cNvSpPr/>
          <p:nvPr/>
        </p:nvSpPr>
        <p:spPr>
          <a:xfrm>
            <a:off x="457200" y="2971800"/>
            <a:ext cx="1371600" cy="640080"/>
          </a:xfrm>
          <a:prstGeom prst="roundRect">
            <a:avLst>
              <a:gd name="adj" fmla="val 14286"/>
            </a:avLst>
          </a:prstGeom>
          <a:solidFill>
            <a:srgbClr val="306998"/>
          </a:solidFill>
          <a:ln w="12700">
            <a:solidFill>
              <a:srgbClr val="306998"/>
            </a:solidFill>
            <a:prstDash val="solid"/>
          </a:ln>
        </p:spPr>
      </p:sp>
      <p:sp>
        <p:nvSpPr>
          <p:cNvPr id="13" name="x"/>
          <p:cNvSpPr txBox="1"/>
          <p:nvPr/>
        </p:nvSpPr>
        <p:spPr>
          <a:xfrm>
            <a:off x="457200" y="297180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Log</a:t>
            </a:r>
            <a:endParaRPr lang="en-US" sz="1800" dirty="0"/>
          </a:p>
        </p:txBody>
      </p:sp>
      <p:sp>
        <p:nvSpPr>
          <p:cNvPr id="14" name="x"/>
          <p:cNvSpPr txBox="1"/>
          <p:nvPr/>
        </p:nvSpPr>
        <p:spPr>
          <a:xfrm>
            <a:off x="2011680" y="297180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with a level, one setup call, lazy arguments and one line to silence it</a:t>
            </a:r>
            <a:endParaRPr lang="en-US" sz="1600" dirty="0"/>
          </a:p>
        </p:txBody>
      </p:sp>
      <p:sp>
        <p:nvSpPr>
          <p:cNvPr id="15" name="x"/>
          <p:cNvSpPr/>
          <p:nvPr/>
        </p:nvSpPr>
        <p:spPr>
          <a:xfrm>
            <a:off x="457200" y="3794760"/>
            <a:ext cx="1371600" cy="640080"/>
          </a:xfrm>
          <a:prstGeom prst="roundRect">
            <a:avLst>
              <a:gd name="adj" fmla="val 14286"/>
            </a:avLst>
          </a:prstGeom>
          <a:solidFill>
            <a:srgbClr val="306998"/>
          </a:solidFill>
          <a:ln w="12700">
            <a:solidFill>
              <a:srgbClr val="306998"/>
            </a:solidFill>
            <a:prstDash val="solid"/>
          </a:ln>
        </p:spPr>
      </p:sp>
      <p:sp>
        <p:nvSpPr>
          <p:cNvPr id="16" name="x"/>
          <p:cNvSpPr txBox="1"/>
          <p:nvPr/>
        </p:nvSpPr>
        <p:spPr>
          <a:xfrm>
            <a:off x="457200" y="379476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Step</a:t>
            </a:r>
            <a:endParaRPr lang="en-US" sz="1800" dirty="0"/>
          </a:p>
        </p:txBody>
      </p:sp>
      <p:sp>
        <p:nvSpPr>
          <p:cNvPr id="17" name="x"/>
          <p:cNvSpPr txBox="1"/>
          <p:nvPr/>
        </p:nvSpPr>
        <p:spPr>
          <a:xfrm>
            <a:off x="2011680" y="379476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with breakpoints and the five controls, or with breakpoint() and pdb</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answer aloud, then click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Retrieval beats re-reading</a:t>
            </a:r>
            <a:endParaRPr lang="en-US" sz="1400" dirty="0"/>
          </a:p>
        </p:txBody>
      </p:sp>
      <p:sp>
        <p:nvSpPr>
          <p:cNvPr id="6" name="x"/>
          <p:cNvSpPr/>
          <p:nvPr/>
        </p:nvSpPr>
        <p:spPr>
          <a:xfrm>
            <a:off x="457200" y="1271016"/>
            <a:ext cx="420624" cy="420624"/>
          </a:xfrm>
          <a:prstGeom prst="ellipse">
            <a:avLst/>
          </a:prstGeom>
          <a:solidFill>
            <a:srgbClr val="FFD43B"/>
          </a:solidFill>
          <a:ln w="12700">
            <a:solidFill>
              <a:srgbClr val="FFD43B"/>
            </a:solidFill>
            <a:prstDash val="solid"/>
          </a:ln>
        </p:spPr>
      </p:sp>
      <p:sp>
        <p:nvSpPr>
          <p:cNvPr id="7" name="x"/>
          <p:cNvSpPr txBox="1"/>
          <p:nvPr/>
        </p:nvSpPr>
        <p:spPr>
          <a:xfrm>
            <a:off x="457200" y="12710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x"/>
          <p:cNvSpPr txBox="1"/>
          <p:nvPr/>
        </p:nvSpPr>
        <p:spPr>
          <a:xfrm>
            <a:off x="1005840" y="12344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When do you raise, and when do you assert?</a:t>
            </a:r>
            <a:endParaRPr lang="en-US" sz="1400" dirty="0"/>
          </a:p>
        </p:txBody>
      </p:sp>
      <p:sp>
        <p:nvSpPr>
          <p:cNvPr id="9" name="a|b1"/>
          <p:cNvSpPr/>
          <p:nvPr/>
        </p:nvSpPr>
        <p:spPr>
          <a:xfrm>
            <a:off x="5303520" y="1252728"/>
            <a:ext cx="3474720" cy="457200"/>
          </a:xfrm>
          <a:prstGeom prst="roundRect">
            <a:avLst>
              <a:gd name="adj" fmla="val 16000"/>
            </a:avLst>
          </a:prstGeom>
          <a:solidFill>
            <a:srgbClr val="DDF3E6"/>
          </a:solidFill>
          <a:ln w="12700">
            <a:solidFill>
              <a:srgbClr val="2E9E5B"/>
            </a:solidFill>
            <a:prstDash val="solid"/>
          </a:ln>
        </p:spPr>
      </p:sp>
      <p:sp>
        <p:nvSpPr>
          <p:cNvPr id="10" name="at|b1"/>
          <p:cNvSpPr txBox="1"/>
          <p:nvPr/>
        </p:nvSpPr>
        <p:spPr>
          <a:xfrm>
            <a:off x="5394960" y="12527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Raise for errors a caller can handle; assert for what must be true if the code is right.</a:t>
            </a:r>
            <a:endParaRPr lang="en-US" sz="1100" dirty="0"/>
          </a:p>
        </p:txBody>
      </p:sp>
      <p:sp>
        <p:nvSpPr>
          <p:cNvPr id="11" name="x"/>
          <p:cNvSpPr/>
          <p:nvPr/>
        </p:nvSpPr>
        <p:spPr>
          <a:xfrm>
            <a:off x="457200" y="1956816"/>
            <a:ext cx="420624" cy="420624"/>
          </a:xfrm>
          <a:prstGeom prst="ellipse">
            <a:avLst/>
          </a:prstGeom>
          <a:solidFill>
            <a:srgbClr val="FFD43B"/>
          </a:solidFill>
          <a:ln w="12700">
            <a:solidFill>
              <a:srgbClr val="FFD43B"/>
            </a:solidFill>
            <a:prstDash val="solid"/>
          </a:ln>
        </p:spPr>
      </p:sp>
      <p:sp>
        <p:nvSpPr>
          <p:cNvPr id="12" name="x"/>
          <p:cNvSpPr txBox="1"/>
          <p:nvPr/>
        </p:nvSpPr>
        <p:spPr>
          <a:xfrm>
            <a:off x="457200" y="19568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3" name="x"/>
          <p:cNvSpPr txBox="1"/>
          <p:nvPr/>
        </p:nvSpPr>
        <p:spPr>
          <a:xfrm>
            <a:off x="1005840" y="19202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Why can an assert never guard user input?</a:t>
            </a:r>
            <a:endParaRPr lang="en-US" sz="1400" dirty="0"/>
          </a:p>
        </p:txBody>
      </p:sp>
      <p:sp>
        <p:nvSpPr>
          <p:cNvPr id="14" name="a|b2"/>
          <p:cNvSpPr/>
          <p:nvPr/>
        </p:nvSpPr>
        <p:spPr>
          <a:xfrm>
            <a:off x="5303520" y="1938528"/>
            <a:ext cx="3474720" cy="457200"/>
          </a:xfrm>
          <a:prstGeom prst="roundRect">
            <a:avLst>
              <a:gd name="adj" fmla="val 16000"/>
            </a:avLst>
          </a:prstGeom>
          <a:solidFill>
            <a:srgbClr val="DDF3E6"/>
          </a:solidFill>
          <a:ln w="12700">
            <a:solidFill>
              <a:srgbClr val="2E9E5B"/>
            </a:solidFill>
            <a:prstDash val="solid"/>
          </a:ln>
        </p:spPr>
      </p:sp>
      <p:sp>
        <p:nvSpPr>
          <p:cNvPr id="15" name="at|b2"/>
          <p:cNvSpPr txBox="1"/>
          <p:nvPr/>
        </p:nvSpPr>
        <p:spPr>
          <a:xfrm>
            <a:off x="5394960" y="19385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python -O removes assert statements.</a:t>
            </a:r>
            <a:endParaRPr lang="en-US" sz="1100" dirty="0"/>
          </a:p>
        </p:txBody>
      </p:sp>
      <p:sp>
        <p:nvSpPr>
          <p:cNvPr id="16" name="x"/>
          <p:cNvSpPr/>
          <p:nvPr/>
        </p:nvSpPr>
        <p:spPr>
          <a:xfrm>
            <a:off x="457200" y="2642616"/>
            <a:ext cx="420624" cy="420624"/>
          </a:xfrm>
          <a:prstGeom prst="ellipse">
            <a:avLst/>
          </a:prstGeom>
          <a:solidFill>
            <a:srgbClr val="FFD43B"/>
          </a:solidFill>
          <a:ln w="12700">
            <a:solidFill>
              <a:srgbClr val="FFD43B"/>
            </a:solidFill>
            <a:prstDash val="solid"/>
          </a:ln>
        </p:spPr>
      </p:sp>
      <p:sp>
        <p:nvSpPr>
          <p:cNvPr id="17" name="x"/>
          <p:cNvSpPr txBox="1"/>
          <p:nvPr/>
        </p:nvSpPr>
        <p:spPr>
          <a:xfrm>
            <a:off x="457200" y="26426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8" name="x"/>
          <p:cNvSpPr txBox="1"/>
          <p:nvPr/>
        </p:nvSpPr>
        <p:spPr>
          <a:xfrm>
            <a:off x="1005840" y="26060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Why does logging.debug print nothing by default?</a:t>
            </a:r>
            <a:endParaRPr lang="en-US" sz="1400" dirty="0"/>
          </a:p>
        </p:txBody>
      </p:sp>
      <p:sp>
        <p:nvSpPr>
          <p:cNvPr id="19" name="a|b3"/>
          <p:cNvSpPr/>
          <p:nvPr/>
        </p:nvSpPr>
        <p:spPr>
          <a:xfrm>
            <a:off x="5303520" y="2624328"/>
            <a:ext cx="3474720" cy="457200"/>
          </a:xfrm>
          <a:prstGeom prst="roundRect">
            <a:avLst>
              <a:gd name="adj" fmla="val 16000"/>
            </a:avLst>
          </a:prstGeom>
          <a:solidFill>
            <a:srgbClr val="DDF3E6"/>
          </a:solidFill>
          <a:ln w="12700">
            <a:solidFill>
              <a:srgbClr val="2E9E5B"/>
            </a:solidFill>
            <a:prstDash val="solid"/>
          </a:ln>
        </p:spPr>
      </p:sp>
      <p:sp>
        <p:nvSpPr>
          <p:cNvPr id="20" name="at|b3"/>
          <p:cNvSpPr txBox="1"/>
          <p:nvPr/>
        </p:nvSpPr>
        <p:spPr>
          <a:xfrm>
            <a:off x="5394960" y="26243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The default level is WARNING, which is 30.</a:t>
            </a:r>
            <a:endParaRPr lang="en-US" sz="1100" dirty="0"/>
          </a:p>
        </p:txBody>
      </p:sp>
      <p:sp>
        <p:nvSpPr>
          <p:cNvPr id="21" name="x"/>
          <p:cNvSpPr/>
          <p:nvPr/>
        </p:nvSpPr>
        <p:spPr>
          <a:xfrm>
            <a:off x="457200" y="3328416"/>
            <a:ext cx="420624" cy="420624"/>
          </a:xfrm>
          <a:prstGeom prst="ellipse">
            <a:avLst/>
          </a:prstGeom>
          <a:solidFill>
            <a:srgbClr val="FFD43B"/>
          </a:solidFill>
          <a:ln w="12700">
            <a:solidFill>
              <a:srgbClr val="FFD43B"/>
            </a:solidFill>
            <a:prstDash val="solid"/>
          </a:ln>
        </p:spPr>
      </p:sp>
      <p:sp>
        <p:nvSpPr>
          <p:cNvPr id="22" name="x"/>
          <p:cNvSpPr txBox="1"/>
          <p:nvPr/>
        </p:nvSpPr>
        <p:spPr>
          <a:xfrm>
            <a:off x="457200" y="33284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23" name="x"/>
          <p:cNvSpPr txBox="1"/>
          <p:nvPr/>
        </p:nvSpPr>
        <p:spPr>
          <a:xfrm>
            <a:off x="1005840" y="32918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Which control goes inside a called function?</a:t>
            </a:r>
            <a:endParaRPr lang="en-US" sz="1400" dirty="0"/>
          </a:p>
        </p:txBody>
      </p:sp>
      <p:sp>
        <p:nvSpPr>
          <p:cNvPr id="24" name="a|b4"/>
          <p:cNvSpPr/>
          <p:nvPr/>
        </p:nvSpPr>
        <p:spPr>
          <a:xfrm>
            <a:off x="5303520" y="3310128"/>
            <a:ext cx="3474720" cy="457200"/>
          </a:xfrm>
          <a:prstGeom prst="roundRect">
            <a:avLst>
              <a:gd name="adj" fmla="val 16000"/>
            </a:avLst>
          </a:prstGeom>
          <a:solidFill>
            <a:srgbClr val="DDF3E6"/>
          </a:solidFill>
          <a:ln w="12700">
            <a:solidFill>
              <a:srgbClr val="2E9E5B"/>
            </a:solidFill>
            <a:prstDash val="solid"/>
          </a:ln>
        </p:spPr>
      </p:sp>
      <p:sp>
        <p:nvSpPr>
          <p:cNvPr id="25" name="at|b4"/>
          <p:cNvSpPr txBox="1"/>
          <p:nvPr/>
        </p:nvSpPr>
        <p:spPr>
          <a:xfrm>
            <a:off x="5394960" y="33101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Step In; Step Over runs the call, Step Out leaves the function.</a:t>
            </a:r>
            <a:endParaRPr lang="en-US" sz="1100" dirty="0"/>
          </a:p>
        </p:txBody>
      </p:sp>
      <p:sp>
        <p:nvSpPr>
          <p:cNvPr id="26" name="x"/>
          <p:cNvSpPr/>
          <p:nvPr/>
        </p:nvSpPr>
        <p:spPr>
          <a:xfrm>
            <a:off x="457200" y="4014216"/>
            <a:ext cx="420624" cy="420624"/>
          </a:xfrm>
          <a:prstGeom prst="ellipse">
            <a:avLst/>
          </a:prstGeom>
          <a:solidFill>
            <a:srgbClr val="FFD43B"/>
          </a:solidFill>
          <a:ln w="12700">
            <a:solidFill>
              <a:srgbClr val="FFD43B"/>
            </a:solidFill>
            <a:prstDash val="solid"/>
          </a:ln>
        </p:spPr>
      </p:sp>
      <p:sp>
        <p:nvSpPr>
          <p:cNvPr id="27" name="x"/>
          <p:cNvSpPr txBox="1"/>
          <p:nvPr/>
        </p:nvSpPr>
        <p:spPr>
          <a:xfrm>
            <a:off x="457200" y="40142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8" name="x"/>
          <p:cNvSpPr txBox="1"/>
          <p:nvPr/>
        </p:nvSpPr>
        <p:spPr>
          <a:xfrm>
            <a:off x="1005840" y="39776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does the range(n + 1) factorial return?</a:t>
            </a:r>
            <a:endParaRPr lang="en-US" sz="1400" dirty="0"/>
          </a:p>
        </p:txBody>
      </p:sp>
      <p:sp>
        <p:nvSpPr>
          <p:cNvPr id="29" name="a|b5"/>
          <p:cNvSpPr/>
          <p:nvPr/>
        </p:nvSpPr>
        <p:spPr>
          <a:xfrm>
            <a:off x="5303520" y="3995928"/>
            <a:ext cx="3474720" cy="457200"/>
          </a:xfrm>
          <a:prstGeom prst="roundRect">
            <a:avLst>
              <a:gd name="adj" fmla="val 16000"/>
            </a:avLst>
          </a:prstGeom>
          <a:solidFill>
            <a:srgbClr val="DDF3E6"/>
          </a:solidFill>
          <a:ln w="12700">
            <a:solidFill>
              <a:srgbClr val="2E9E5B"/>
            </a:solidFill>
            <a:prstDash val="solid"/>
          </a:ln>
        </p:spPr>
      </p:sp>
      <p:sp>
        <p:nvSpPr>
          <p:cNvPr id="30" name="at|b5"/>
          <p:cNvSpPr txBox="1"/>
          <p:nvPr/>
        </p:nvSpPr>
        <p:spPr>
          <a:xfrm>
            <a:off x="5394960" y="39959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0: the first pass multiplies by 0.</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Sources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400" dirty="0"/>
          </a:p>
        </p:txBody>
      </p:sp>
      <p:sp>
        <p:nvSpPr>
          <p:cNvPr id="6" name="x"/>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5.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Language Reference, simple statements; Built-in Exceptions; Tutorial, errors and exceptions; Logging HOWTO; logging; pdb; sys; traceback; command line and environment; What’s New in 3.14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Warsaw, B. (2017). PEP 553 – Built-in breakpoint()</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et al. (2021). PEP 657 – Include Fine Grained Error Locations in Tracebacks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Hatfield-Dodds, Z. (2021). PEP 678 – Enriching Exceptions with Notes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Wozniski, M. and Stojanovic, I. (2024). PEP 768 – Safe external debugger interface for CPython</a:t>
            </a:r>
            <a:endParaRPr lang="en-US" sz="1200" dirty="0"/>
          </a:p>
        </p:txBody>
      </p:sp>
      <p:sp>
        <p:nvSpPr>
          <p:cNvPr id="7" name="x"/>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6 — Lists</a:t>
            </a:r>
            <a:endParaRPr lang="en-US" sz="3000" dirty="0"/>
          </a:p>
        </p:txBody>
      </p:sp>
      <p:sp>
        <p:nvSpPr>
          <p:cNvPr id="3" name="x"/>
          <p:cNvSpPr txBox="1"/>
          <p:nvPr/>
        </p:nvSpPr>
        <p:spPr>
          <a:xfrm>
            <a:off x="548640" y="2377440"/>
            <a:ext cx="8046720" cy="1005840"/>
          </a:xfrm>
          <a:prstGeom prst="rect">
            <a:avLst/>
          </a:prstGeom>
          <a:noFill/>
          <a:ln/>
        </p:spPr>
        <p:txBody>
          <a:bodyPr wrap="square" lIns="0" tIns="0" rIns="0" bIns="0" rtlCol="0" anchor="t"/>
          <a:lstStyle/>
          <a:p>
            <a:pPr indent="0" marL="0">
              <a:buNone/>
            </a:pPr>
            <a:r>
              <a:rPr lang="en-US" sz="1700" dirty="0">
                <a:solidFill>
                  <a:srgbClr val="FFD43B"/>
                </a:solidFill>
                <a:latin typeface="Calibri" pitchFamily="34" charset="0"/>
                <a:ea typeface="Calibri" pitchFamily="34" charset="-122"/>
                <a:cs typeface="Calibri" pitchFamily="34" charset="-120"/>
              </a:rPr>
              <a:t>Before then: work through the chapter 5 interactive page — the debugger simulator, the logging table and the exception climb, plus a quiz and subject agents.</a:t>
            </a:r>
            <a:endParaRPr lang="en-US" sz="1700" dirty="0"/>
          </a:p>
        </p:txBody>
      </p:sp>
      <p:sp>
        <p:nvSpPr>
          <p:cNvPr id="4" name="x"/>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5 - Debugging</dc:title>
  <dc:subject>PptxGenJS Presentation</dc:subject>
  <dc:creator>Yusuf Altunel</dc:creator>
  <cp:lastModifiedBy>Yusuf Altunel</cp:lastModifiedBy>
  <cp:revision>1</cp:revision>
  <dcterms:created xsi:type="dcterms:W3CDTF">2026-09-29T07:32:02Z</dcterms:created>
  <dcterms:modified xsi:type="dcterms:W3CDTF">2026-09-29T07:32:02Z</dcterms:modified>
  <cp:version>1.0.0</cp:version>
</cp:coreProperties>
</file>