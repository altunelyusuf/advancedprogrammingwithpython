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9 was about finding a pattern inside text you already had. This chapter is about where that text lives: a path names a file without touching it, pathlib builds that name as an object rather than a plain string, and once a path is in hand a program can create a folder, search it, and read or write the file it names, whole or piece by piece. Every example on these slides was run under Python 3.14.6 and the result printed beside it is the result Python gave on this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route has six parts. It starts with filepaths, a path as an object and the pieces it breaks into, moves to folders and file information, then to text files, opened by hand and converted between bytes and characters, then to saved data, a shelf and its plain alternative, then to the chapter's own programs, the quiz generator and the two practice programs, and ends with the summary and resources. The ranges name the exact slides, so you can return to the part you need, and four of the slides are true stories that explain where a piece of this chapter's own vocabulary came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question is the chapter's own spine: a path method either only computes a new path object, such as with_suffix or the / operator, or it only asks the file system a question, such as exists(), or it actually changes a file or folder on disk, such as mkdir() or write_text(), and which of the three it is decides whether running it twice is safe. The second question is this chapter's own watch-out: the chapter was written and printed on Windows, so several of its own outputs, file lists, error messages, and even one printed quiz transcript, read differently once actually run on today's Python on a different operating system, and the research record keeps every such gap on the record rather than silently fixing it. The chips give the size of the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Path('spam', 'bacon', 'eggs') joins the names it is given with the separator of the operating system it runs on and returns a path object, not a string; str() is the separate step that turns that object back into text, which is why the chapter's own claim that Path() 'returns a string' is corrected the moment type() is actually called on it. The / operator does the identical join one step at a time and replaces the older os.path.join(), but it needs a path object on at least one side: 'spam' / 'bacon', two plain strings, raises TypeError, exactly as this console's own last row shows.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Antoine Pitrou wrote PEP 428, 'The pathlib module - object-oriented filesystem paths', dated 30 July 2012, proposing that a filesystem path be its own object with its own methods rather than a plain string passed to separate os.path functions. The proposal was discussed through 2013 and the module shipped two years after it was written, in Python 3.4, released in March 2014, bringing with it the pure and concrete path classes, the / join operator and the rich set of attributes, parts, parent, stem and suffix among them, that this chapter's own Path objects section now teaches as the ordinary way to build and take apart a path. Path('spam', 'bacon', 'eggs') and the chapter's own os.path.join() both existed before 2012; only one of them is an object with a is_file() method of its own, and that is Pitrou's one proposal. The account rests on these sources. PEP 428, 'The pathlib module', peps.python.org/pep-0428 (created 30 July 2012, Antoine Pitrou; shipped in Python 3.4, March 2014); Python documentation, pathlib. Photo: Wikimedia Commons.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running program has a current working directory, and a relative path such as Path('spam/bacon/eggs') is read starting from it; Path.cwd() and os.getcwd() both read that folder, and only os.chdir() changes it, which is why this console's own first row resets to a fixed folder before anything else runs. Path.home() returns the account's own home folder, always an absolute path wherever it is on disk, and Path.cwd().is_absolute() and Path.home().is_absolute() are both true for exactly that reason, while a plain relative path such as 'spam/bacon/eggs' is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path object breaks apart into named pieces with no disk touched at all: name is its very last part, stem is that name with its suffix removed, suffix is the extension itself, and drive names the Windows drive letter where one exists; parent is itself another path object, one level up, while parts is the same path read instead as an ordered tuple and parents an ordered sequence of every folder above it. with_suffix() and relative_to(), shown closing this console, build a brand-new path from an existing one's own pieces without ever reading or writing a file; the chapter itself, as printed, does not present either method.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Path.mkdir() makes exactly one folder and needs parents=True to also create every folder above it that is missing, exactly the way os.makedirs() always behaves on its own; both raise FileExistsError for a folder that is already there unless exist_ok=True is given. A glob pattern such as '*.txt' or the single-character '?' of 'project?.txt' searches one folder's own files, correctly leaving out a name such as project10.txt whose extra digit does not fit a single '?' at all; a ** segment or the dedicated rglob() method, not shown on this console, instead searches the whole tree of folders beneath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exists(), is_file() and is_dir() each answer a plain true or false about a path, every one of them False together for a path that is simply not there, and from Python 3.14 on none of the three raises an OSError even when the check itself is refused. stat() answers a richer question about a file that does exist: st_size is its size in bytes, and st_mtime, read here after being set by hand with os.utime(), is the time it was last changed, counted in seconds since 1 January 1970, which time.asctime(time.gmtime(...)) turns back into a readable date exactly five hours away from the chapter's own local-time answer for the identical instant.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write_text() creates or overwrites a file with a string in one call and returns the number of characters written, which is not always the number of bytes actually stored on disk: this console's own accented character, encoded as UTF-8, costs two bytes for the one character, so write_text() returns 4 while stat() then reports 5 bytes on disk for the same file. read_text() opens, reads and closes the file in one call as well, returning its whole content as one string; write_bytes() and read_bytes() do the identical one-call job for binary data such as b'\x00\x01\xff', which has no text meaning at all and is never passed through an encoding.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returns a file object in whichever mode it is given: 'r' reads and is the default, 'w' overwrites after emptying the file, 'a' appends to the end of it, and 'x' creates a brand-new file but raises FileExistsError the moment the name is already taken, exactly as this console's own last row shows. write() returns the number of characters written and, unlike print(), never adds its own newline; readlines() returns every remaining line as a list, and a file object remembers its own position between calls, so a second read right after readlines() returns only the empty string, until seek(0) moves that position back to the very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Rob Pike wrote that UTF-8 was 'designed, in front of my eyes, on a placemat in a New Jersey diner one night in September' 1992, with Ken Thompson working out the bit-packing by hand while Pike watched; the surviving source changes date the first working code to 4 September 1992 and a proposal mailed to the X/Open committee to 8 September 1992. The two had been asked to review a rival encoding, FSS/UTF, for the Plan 9 operating system they were building at Bell Labs, found it unable to recover a byte stream picked up mid-character, and designed a fix overnight instead; by the end of that week, Plan 9 ran entirely on the format. The chapter's own encoding argument to open(), almost always 'utf-8' by the chapter's own count, names the format that one dinner produced, now the assumed encoding of the web and, from Python 3.15 on, the language's own default. The account rests on these sources. Rob Pike, 'UTF-8 history', doc.cat-v.org/bell_labs/utf-8_history (first code 4 Sep 1992, X/Open proposal 8 Sep 1992); Python documentation, io - the encoding argument, and PEP 686. Photo: Wikimedia Commons.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encoding argument names the map used to turn the bytes of a file into the characters of a string; 'utf-8' is almost always the right choice, and reading the identical two-byte accented character under 'ascii' instead raises UnicodeDecodeError, exactly as this console shows, because ascii has no mapping for a byte above 127 at all. The errors argument changes what happens next: 'replace', shown here, puts the placeholder character U+FFFD in an unreadable byte's place rather than stopping the program outright. The newline argument governs a separate translation, between the \n Python always uses internally and whichever line ending the running operating system expects on disk.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with statement creates a context manager and closes the file object the moment its own block is left, by reaching the block's end, by a return, or by an exception, which is why code written as with open(...) as file_obj: never needs close() called on it by hand at all. Once that block has ended, the file object's own closed attribute reads True, and a read or a write on it afterward raises exactly ValueError: I/O operation on closed file, the same error a file opened by hand and closed explicitly also raises once used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Ken Thompson, already known for Unix and for the regular-expression search algorithm of an earlier chapter, wrote the first dbm, a simple key-value store that AT&amp;T released in 1979 as part of Unix. dbm let a program store a string under a string key and get it back by that key alone, with no query language and no server, exactly the shape shelve.open() still presents today. Later rewrites, ndbm for extra features, GNU's own gdbm for crash tolerance, and Berkeley DB in 1991 from Sleepycat Software, replaced the original code but kept the same one-key-one-value idea, and Python's dbm package still picks among several such backends, dbm.sqlite3 first since Python 3.13, when a shelf is opened. Every shelf this chapter opens rests on a forty-six-year-old design for exactly one reason: looking a value up by one key is still the simplest way to save a Python program's own variables to disk. The account rests on these sources. 'DBM (computing)', Wikipedia, en.wikipedia.org/wiki/DBM_(computing) (written by Ken Thompson, released by AT&amp;T, 1979; Berkeley DB, Sleepycat Software, 1991); Python documentation, dbm and shelve. Photo: Wikimedia Commons.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shelve.open() opens a binary file on disk and hands back a shelf object that is read, written, counted and deleted from exactly like a dictionary, with keys() and values() both included, as long as every key is a string; close() must be called, or the shelf used in a with statement, before everything is reliably written out. A mutable value such as a list, read back out of a shelf and then changed in place with append(), is not noticed by the shelf at all unless it is assigned straight back to its key or the shelf is opened with writeback=True; dbm.whichdb(), shown closing this console, names dbm.sqlite3 as the backend chosen on this machine, first in line since Python 3.13.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Working together at State Software, Douglas Crockford and Chip Morningstar wanted a browser and a server to exchange data without reloading the page, and built it on a technique Crockford had learned of from Netscape: writing a JavaScript object straight into a hidden frame. The reserved word 'do' broke an early version as a bare key, so Crockford quoted every key instead, and the quoted, minimal format he wrote up in 2001 became JSON; he opened json.org on 12 November 2002 and kept adding compatible parsers to it as other programmers wrote them, by design small enough to fit on a business card. The chapter sets exactly this format beside shelve as the alternative for data meant to be read by another program or language, with json.dump() and json.load() replacing shelve's own Python-only pickle. The account rests on these sources. 'JSON', Wikipedia, en.wikipedia.org/wiki/JSON (Crockford and Morningstar, State Software, 2001; json.org opened 12 November 2002); Python documentation, json - JSON encoder and decoder. Photo: Wikimedia Commons.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json.dump() and json.load() move plain data, strings, numbers, lists, dictionaries, true, false and null, between a Python program and a text file that any other program or language can also read, unlike a shelf's own Python-only pickle format. json.dumps() of a dictionary holding a tuple and an integer key shows exactly where that plain-text format falls short of Python's own richer types: the tuple is printed, and read back, as a plain list, and the integer key 5 is printed, and read back, as the string '5', neither loss something shelve's own binary format would ever make.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Project 4 keeps the 50 states and their capitals in one dictionary, shuffles the order of the states for each quiz, picks three wrong capitals at random for every question with random.sample(), shuffles those three together with the one right answer, and writes both a quiz file and an answer key file for each pass of its own loop, two files per quiz, seventy files in all across the chapter's own thirty-five. Run exactly as the chapter lists the code, with random.seed(10) added only so this result can be checked again, it reproduces the chapter's own research record in full: the header prints with no space at all, '(Form1)', and the whole answer key is written as one unbroken line with no newline between its own answers, a real gap between the chapter's prose and the code it actually lists, not a mistake introduced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program 1 reads a short text file holding the placeholders ADJECTIVE, NOUN, ADVERB and VERB, and re.sub() with a function in place of a replacement string calls that function once for every match, in the order the placeholders appear, asking the user for one new word each time; the four answers typed here, silly, chandelier, screamed and pickup truck, fill the chapter's own four blanks in exactly that order. The finished string is printed and then saved to a brand-new file with write_text(), leaving the original source file untouched, and read back afterward to confirm the two copies are equal character for character.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program 2 opens every .txt file a folder's own glob('*.txt') lists, and prints each line in any of them that matches a regular expression typed in by the user, with enumerate(f, start=1) numbering every line as it is read; the one .csv file in this console's own folder is correctly left out of every search. The chapter's own eleven practice questions close the chapter the same way this deck's own summary closes it, asking a reader to say in their own words what a relative path, an absolute path, the open() modes, and a shelf's own dictionary-like behaviour each actually are, every one of them answered exactly once already on an earlier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lines answer the route one part at a time. The first two cover a path as an object and the pieces it breaks into, the third covers a folder, the fourth and fifth cover a file opened by hand and the arguments that decide how its bytes become characters, and the sixth covers a program's own variables saved for a later run. If a line feels unproven, the part of the route that carries it has the slides with the executed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link on this slide was opened on the day the deck was made. The textbook chapter is free to read online and has Project 4 and both practice programs in full, the reference links are the official documentation behind every quirk this deck flagged, and the PEPs and history links are the primary sources behind this chapter's own four stories and the two language changes, UTF-8 mode and the pathlib protocol, that most directly touch this chapter's own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claims, each carried by a result you saw printed. If you can say them in your own words and run the examples yourself, you have the chapter. The next chapter moves on from a program's own files to the web pages it can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peps.python.org/pep-0428/" TargetMode="Externa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doc.cat-v.org/bell_labs/utf-8_history" TargetMode="Externa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hyperlink" Target="https://en.wikipedia.org/wiki/DBM_(computing)" TargetMode="Externa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hyperlink" Target="https://en.wikipedia.org/wiki/JSON" TargetMode="Externa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hyperlink" Target="https://automatetheboringstuff.com/3e/chapter10.html" TargetMode="External"/><Relationship Id="rId2" Type="http://schemas.openxmlformats.org/officeDocument/2006/relationships/hyperlink" Target="https://docs.python.org/3/library/pathlib.html" TargetMode="External"/><Relationship Id="rId3" Type="http://schemas.openxmlformats.org/officeDocument/2006/relationships/hyperlink" Target="https://docs.python.org/3/library/shelve.html" TargetMode="External"/><Relationship Id="rId4" Type="http://schemas.openxmlformats.org/officeDocument/2006/relationships/hyperlink" Target="https://docs.python.org/3/library/functions.html" TargetMode="External"/><Relationship Id="rId5" Type="http://schemas.openxmlformats.org/officeDocument/2006/relationships/hyperlink" Target="https://docs.python.org/3/library/os.html" TargetMode="External"/><Relationship Id="rId6" Type="http://schemas.openxmlformats.org/officeDocument/2006/relationships/hyperlink" Target="https://docs.python.org/3/library/json.html" TargetMode="External"/><Relationship Id="rId7" Type="http://schemas.openxmlformats.org/officeDocument/2006/relationships/hyperlink" Target="https://peps.python.org/pep-0686/" TargetMode="External"/><Relationship Id="rId8" Type="http://schemas.openxmlformats.org/officeDocument/2006/relationships/hyperlink" Target="https://peps.python.org/pep-0597/" TargetMode="External"/><Relationship Id="rId9" Type="http://schemas.openxmlformats.org/officeDocument/2006/relationships/hyperlink" Target="https://peps.python.org/pep-0428/" TargetMode="External"/><Relationship Id="rId10" Type="http://schemas.openxmlformats.org/officeDocument/2006/relationships/hyperlink" Target="https://peps.python.org/pep-0519/" TargetMode="External"/><Relationship Id="rId11" Type="http://schemas.openxmlformats.org/officeDocument/2006/relationships/hyperlink" Target="https://doc.cat-v.org/bell_labs/utf-8_history" TargetMode="External"/><Relationship Id="rId12" Type="http://schemas.openxmlformats.org/officeDocument/2006/relationships/slideLayout" Target="../slideLayouts/slideLayout1.xml"/><Relationship Id="rId1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2000" b="1" dirty="0">
                <a:solidFill>
                  <a:srgbClr val="FFFFFF"/>
                </a:solidFill>
                <a:latin typeface="Courier New" pitchFamily="34" charset="0"/>
                <a:ea typeface="Courier New" pitchFamily="34" charset="-122"/>
                <a:cs typeface="Courier New" pitchFamily="34" charset="-120"/>
              </a:rPr>
              <a:t>&gt;&gt;&gt;</a:t>
            </a:r>
            <a:endParaRPr lang="en-US" sz="2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10: Paths and Files</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Naming a path, acting on a folder, and moving text and data through a file</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SEN0414 Advanced Programming · Fall 2026 · Yusuf Altunel, PhD · İstanbul Kültür University</a:t>
            </a:r>
            <a:endParaRPr lang="en-US" sz="1200" dirty="0"/>
          </a:p>
        </p:txBody>
      </p:sp>
      <p:sp>
        <p:nvSpPr>
          <p:cNvPr id="11" name="Shape 9"/>
          <p:cNvSpPr/>
          <p:nvPr/>
        </p:nvSpPr>
        <p:spPr>
          <a:xfrm>
            <a:off x="5486400" y="777240"/>
            <a:ext cx="3200400" cy="868680"/>
          </a:xfrm>
          <a:prstGeom prst="roundRect">
            <a:avLst>
              <a:gd name="adj" fmla="val 10526"/>
            </a:avLst>
          </a:prstGeom>
          <a:solidFill>
            <a:srgbClr val="23272E"/>
          </a:solidFill>
          <a:ln w="12700">
            <a:solidFill>
              <a:srgbClr val="23272E"/>
            </a:solidFill>
            <a:prstDash val="solid"/>
          </a:ln>
        </p:spPr>
      </p:sp>
      <p:sp>
        <p:nvSpPr>
          <p:cNvPr id="12" name="Text 10"/>
          <p:cNvSpPr txBox="1"/>
          <p:nvPr/>
        </p:nvSpPr>
        <p:spPr>
          <a:xfrm>
            <a:off x="5669280" y="896112"/>
            <a:ext cx="2834640" cy="630936"/>
          </a:xfrm>
          <a:prstGeom prst="rect">
            <a:avLst/>
          </a:prstGeom>
          <a:noFill/>
          <a:ln/>
        </p:spPr>
        <p:txBody>
          <a:bodyPr wrap="square" lIns="0" tIns="0" rIns="0" bIns="0" rtlCol="0" anchor="t"/>
          <a:lstStyle/>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from pathlib import Path</a:t>
            </a:r>
            <a:endParaRPr lang="en-US" sz="1100" dirty="0"/>
          </a:p>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Path('spam', 'bacon', 'eggs')</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PosixPath('spam/bacon/eggs')</a:t>
            </a:r>
            <a:endParaRPr lang="en-US" sz="1100" dirty="0"/>
          </a:p>
        </p:txBody>
      </p:sp>
      <p:sp>
        <p:nvSpPr>
          <p:cNvPr id="13" name="Text 11"/>
          <p:cNvSpPr txBox="1"/>
          <p:nvPr/>
        </p:nvSpPr>
        <p:spPr>
          <a:xfrm>
            <a:off x="5486400" y="1664208"/>
            <a:ext cx="32004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Six parts; every range is a run of slides you can jump to</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5193792" cy="481584"/>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Filepaths: path objects and working locations (slides 4-7)</a:t>
            </a:r>
            <a:endParaRPr lang="en-US" sz="1150" dirty="0"/>
          </a:p>
        </p:txBody>
      </p:sp>
      <p:sp>
        <p:nvSpPr>
          <p:cNvPr id="9" name="Shape 7"/>
          <p:cNvSpPr/>
          <p:nvPr/>
        </p:nvSpPr>
        <p:spPr>
          <a:xfrm>
            <a:off x="457200" y="192633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9263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889760"/>
            <a:ext cx="5193792" cy="481584"/>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Folders and file information (slides 8-9)</a:t>
            </a:r>
            <a:endParaRPr lang="en-US" sz="1150" dirty="0"/>
          </a:p>
        </p:txBody>
      </p:sp>
      <p:sp>
        <p:nvSpPr>
          <p:cNvPr id="12" name="Shape 10"/>
          <p:cNvSpPr/>
          <p:nvPr/>
        </p:nvSpPr>
        <p:spPr>
          <a:xfrm>
            <a:off x="457200" y="244449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44449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407920"/>
            <a:ext cx="5193792" cy="481584"/>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Text files: whole methods, opened files, encoding (slides 10-14)</a:t>
            </a:r>
            <a:endParaRPr lang="en-US" sz="1150" dirty="0"/>
          </a:p>
        </p:txBody>
      </p:sp>
      <p:sp>
        <p:nvSpPr>
          <p:cNvPr id="15" name="Shape 13"/>
          <p:cNvSpPr/>
          <p:nvPr/>
        </p:nvSpPr>
        <p:spPr>
          <a:xfrm>
            <a:off x="457200" y="2962656"/>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9626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926080"/>
            <a:ext cx="5193792" cy="481584"/>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Saved data: shelves and the plain alternative (slides 15-18)</a:t>
            </a:r>
            <a:endParaRPr lang="en-US" sz="1150" dirty="0"/>
          </a:p>
        </p:txBody>
      </p:sp>
      <p:sp>
        <p:nvSpPr>
          <p:cNvPr id="18" name="Shape 16"/>
          <p:cNvSpPr/>
          <p:nvPr/>
        </p:nvSpPr>
        <p:spPr>
          <a:xfrm>
            <a:off x="457200" y="3480816"/>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4808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444240"/>
            <a:ext cx="5193792" cy="481584"/>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Chapter programs: the quiz, Mad Libs, and search (slides 19-21)</a:t>
            </a:r>
            <a:endParaRPr lang="en-US" sz="1150" dirty="0"/>
          </a:p>
        </p:txBody>
      </p:sp>
      <p:sp>
        <p:nvSpPr>
          <p:cNvPr id="21" name="Shape 19"/>
          <p:cNvSpPr/>
          <p:nvPr/>
        </p:nvSpPr>
        <p:spPr>
          <a:xfrm>
            <a:off x="457200" y="3998976"/>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39989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962400"/>
            <a:ext cx="5193792" cy="481584"/>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Summary and resources (slides 22-23)</a:t>
            </a:r>
            <a:endParaRPr lang="en-US" sz="1150" dirty="0"/>
          </a:p>
        </p:txBody>
      </p:sp>
      <p:sp>
        <p:nvSpPr>
          <p:cNvPr id="24" name="Shape 22"/>
          <p:cNvSpPr/>
          <p:nvPr/>
        </p:nvSpPr>
        <p:spPr>
          <a:xfrm>
            <a:off x="6446520" y="1371600"/>
            <a:ext cx="2240280" cy="950976"/>
          </a:xfrm>
          <a:prstGeom prst="roundRect">
            <a:avLst>
              <a:gd name="adj" fmla="val 7692"/>
            </a:avLst>
          </a:prstGeom>
          <a:solidFill>
            <a:srgbClr val="F2ECE1"/>
          </a:solidFill>
          <a:ln w="12700">
            <a:solidFill>
              <a:srgbClr val="DFD6C7"/>
            </a:solidFill>
            <a:prstDash val="solid"/>
          </a:ln>
        </p:spPr>
      </p:sp>
      <p:sp>
        <p:nvSpPr>
          <p:cNvPr id="25" name="Text 23"/>
          <p:cNvSpPr txBox="1"/>
          <p:nvPr/>
        </p:nvSpPr>
        <p:spPr>
          <a:xfrm>
            <a:off x="6556248" y="1408176"/>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24</a:t>
            </a:r>
            <a:endParaRPr lang="en-US" sz="2600" dirty="0"/>
          </a:p>
        </p:txBody>
      </p:sp>
      <p:sp>
        <p:nvSpPr>
          <p:cNvPr id="26" name="Text 24"/>
          <p:cNvSpPr txBox="1"/>
          <p:nvPr/>
        </p:nvSpPr>
        <p:spPr>
          <a:xfrm>
            <a:off x="6556248" y="1866108"/>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27" name="Shape 25"/>
          <p:cNvSpPr/>
          <p:nvPr/>
        </p:nvSpPr>
        <p:spPr>
          <a:xfrm>
            <a:off x="6446520" y="2450592"/>
            <a:ext cx="2240280" cy="950976"/>
          </a:xfrm>
          <a:prstGeom prst="roundRect">
            <a:avLst>
              <a:gd name="adj" fmla="val 7692"/>
            </a:avLst>
          </a:prstGeom>
          <a:solidFill>
            <a:srgbClr val="F2ECE1"/>
          </a:solidFill>
          <a:ln w="12700">
            <a:solidFill>
              <a:srgbClr val="DFD6C7"/>
            </a:solidFill>
            <a:prstDash val="solid"/>
          </a:ln>
        </p:spPr>
      </p:sp>
      <p:sp>
        <p:nvSpPr>
          <p:cNvPr id="28" name="Text 26"/>
          <p:cNvSpPr txBox="1"/>
          <p:nvPr/>
        </p:nvSpPr>
        <p:spPr>
          <a:xfrm>
            <a:off x="6556248" y="2487168"/>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4</a:t>
            </a:r>
            <a:endParaRPr lang="en-US" sz="2600" dirty="0"/>
          </a:p>
        </p:txBody>
      </p:sp>
      <p:sp>
        <p:nvSpPr>
          <p:cNvPr id="29" name="Text 27"/>
          <p:cNvSpPr txBox="1"/>
          <p:nvPr/>
        </p:nvSpPr>
        <p:spPr>
          <a:xfrm>
            <a:off x="6556248" y="2945100"/>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each with who, where, when and a link</a:t>
            </a:r>
            <a:endParaRPr lang="en-US" sz="1100" dirty="0"/>
          </a:p>
        </p:txBody>
      </p:sp>
      <p:sp>
        <p:nvSpPr>
          <p:cNvPr id="30" name="Shape 28"/>
          <p:cNvSpPr/>
          <p:nvPr/>
        </p:nvSpPr>
        <p:spPr>
          <a:xfrm>
            <a:off x="6446520" y="3529584"/>
            <a:ext cx="2240280" cy="950976"/>
          </a:xfrm>
          <a:prstGeom prst="roundRect">
            <a:avLst>
              <a:gd name="adj" fmla="val 7692"/>
            </a:avLst>
          </a:prstGeom>
          <a:solidFill>
            <a:srgbClr val="F2ECE1"/>
          </a:solidFill>
          <a:ln w="12700">
            <a:solidFill>
              <a:srgbClr val="DFD6C7"/>
            </a:solidFill>
            <a:prstDash val="solid"/>
          </a:ln>
        </p:spPr>
      </p:sp>
      <p:sp>
        <p:nvSpPr>
          <p:cNvPr id="31" name="Text 29"/>
          <p:cNvSpPr txBox="1"/>
          <p:nvPr/>
        </p:nvSpPr>
        <p:spPr>
          <a:xfrm>
            <a:off x="6556248" y="3566160"/>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17</a:t>
            </a:r>
            <a:endParaRPr lang="en-US" sz="2600" dirty="0"/>
          </a:p>
        </p:txBody>
      </p:sp>
      <p:sp>
        <p:nvSpPr>
          <p:cNvPr id="32" name="Text 30"/>
          <p:cNvSpPr txBox="1"/>
          <p:nvPr/>
        </p:nvSpPr>
        <p:spPr>
          <a:xfrm>
            <a:off x="6556248" y="4024092"/>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consoles and programs, all run before they were shown</a:t>
            </a:r>
            <a:endParaRPr lang="en-US" sz="1100" dirty="0"/>
          </a:p>
        </p:txBody>
      </p:sp>
      <p:sp>
        <p:nvSpPr>
          <p:cNvPr id="33" name="Shape 31"/>
          <p:cNvSpPr/>
          <p:nvPr/>
        </p:nvSpPr>
        <p:spPr>
          <a:xfrm>
            <a:off x="457200" y="4636008"/>
            <a:ext cx="91440" cy="310896"/>
          </a:xfrm>
          <a:prstGeom prst="rect">
            <a:avLst/>
          </a:prstGeom>
          <a:solidFill>
            <a:srgbClr val="D97A14"/>
          </a:solidFill>
          <a:ln w="12700">
            <a:solidFill>
              <a:srgbClr val="D97A14"/>
            </a:solidFill>
            <a:prstDash val="solid"/>
          </a:ln>
        </p:spPr>
      </p:sp>
      <p:sp>
        <p:nvSpPr>
          <p:cNvPr id="34" name="Text 3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Six parts, from a path object to a saved shelf.</a:t>
            </a:r>
            <a:endParaRPr lang="en-US" sz="1350" dirty="0"/>
          </a:p>
        </p:txBody>
      </p:sp>
      <p:sp>
        <p:nvSpPr>
          <p:cNvPr id="35" name="Text 3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24</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chapter's own competency questions; the summary comes back to each</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7662672" cy="621792"/>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Which operations on a path only compute a new path, which ask the file system a question, and which change files or folders, and what decides that?</a:t>
            </a:r>
            <a:endParaRPr lang="en-US" sz="1300" dirty="0"/>
          </a:p>
        </p:txBody>
      </p:sp>
      <p:sp>
        <p:nvSpPr>
          <p:cNvPr id="9" name="Shape 7"/>
          <p:cNvSpPr/>
          <p:nvPr/>
        </p:nvSpPr>
        <p:spPr>
          <a:xfrm>
            <a:off x="457200" y="1975104"/>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97510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38528"/>
            <a:ext cx="7662672" cy="621792"/>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Which printed outputs and concepts of the chapter differ in current Python or between operating systems, and on what source?</a:t>
            </a:r>
            <a:endParaRPr lang="en-US" sz="1300" dirty="0"/>
          </a:p>
        </p:txBody>
      </p:sp>
      <p:sp>
        <p:nvSpPr>
          <p:cNvPr id="12" name="Shape 10"/>
          <p:cNvSpPr/>
          <p:nvPr/>
        </p:nvSpPr>
        <p:spPr>
          <a:xfrm>
            <a:off x="457200" y="3474720"/>
            <a:ext cx="1593342" cy="420624"/>
          </a:xfrm>
          <a:prstGeom prst="roundRect">
            <a:avLst>
              <a:gd name="adj" fmla="val 50000"/>
            </a:avLst>
          </a:prstGeom>
          <a:solidFill>
            <a:srgbClr val="F2ECE1"/>
          </a:solidFill>
          <a:ln w="12700">
            <a:solidFill>
              <a:srgbClr val="D97A14"/>
            </a:solidFill>
            <a:prstDash val="solid"/>
          </a:ln>
        </p:spPr>
      </p:sp>
      <p:sp>
        <p:nvSpPr>
          <p:cNvPr id="13" name="Text 11"/>
          <p:cNvSpPr txBox="1"/>
          <p:nvPr/>
        </p:nvSpPr>
        <p:spPr>
          <a:xfrm>
            <a:off x="457200" y="3474720"/>
            <a:ext cx="1593342" cy="420624"/>
          </a:xfrm>
          <a:prstGeom prst="rect">
            <a:avLst/>
          </a:prstGeom>
          <a:noFill/>
          <a:ln/>
        </p:spPr>
        <p:txBody>
          <a:bodyPr wrap="square" lIns="0" tIns="0" rIns="0" bIns="0" rtlCol="0" anchor="ctr"/>
          <a:lstStyle/>
          <a:p>
            <a:pPr algn="ctr" indent="0" marL="0">
              <a:buNone/>
            </a:pPr>
            <a:r>
              <a:rPr lang="en-US" sz="1150" dirty="0">
                <a:solidFill>
                  <a:srgbClr val="2B2622"/>
                </a:solidFill>
                <a:latin typeface="Calibri" pitchFamily="34" charset="0"/>
                <a:ea typeface="Calibri" pitchFamily="34" charset="-122"/>
                <a:cs typeface="Calibri" pitchFamily="34" charset="-120"/>
              </a:rPr>
              <a:t>5 branches</a:t>
            </a:r>
            <a:endParaRPr lang="en-US" sz="1150" dirty="0"/>
          </a:p>
        </p:txBody>
      </p:sp>
      <p:sp>
        <p:nvSpPr>
          <p:cNvPr id="14" name="Shape 12"/>
          <p:cNvSpPr/>
          <p:nvPr/>
        </p:nvSpPr>
        <p:spPr>
          <a:xfrm>
            <a:off x="2251710" y="3474720"/>
            <a:ext cx="1714271" cy="420624"/>
          </a:xfrm>
          <a:prstGeom prst="roundRect">
            <a:avLst>
              <a:gd name="adj" fmla="val 50000"/>
            </a:avLst>
          </a:prstGeom>
          <a:solidFill>
            <a:srgbClr val="F2ECE1"/>
          </a:solidFill>
          <a:ln w="12700">
            <a:solidFill>
              <a:srgbClr val="D97A14"/>
            </a:solidFill>
            <a:prstDash val="solid"/>
          </a:ln>
        </p:spPr>
      </p:sp>
      <p:sp>
        <p:nvSpPr>
          <p:cNvPr id="15" name="Text 13"/>
          <p:cNvSpPr txBox="1"/>
          <p:nvPr/>
        </p:nvSpPr>
        <p:spPr>
          <a:xfrm>
            <a:off x="2251710" y="3474720"/>
            <a:ext cx="1714271" cy="420624"/>
          </a:xfrm>
          <a:prstGeom prst="rect">
            <a:avLst/>
          </a:prstGeom>
          <a:noFill/>
          <a:ln/>
        </p:spPr>
        <p:txBody>
          <a:bodyPr wrap="square" lIns="0" tIns="0" rIns="0" bIns="0" rtlCol="0" anchor="ctr"/>
          <a:lstStyle/>
          <a:p>
            <a:pPr algn="ctr" indent="0" marL="0">
              <a:buNone/>
            </a:pPr>
            <a:r>
              <a:rPr lang="en-US" sz="1150" dirty="0">
                <a:solidFill>
                  <a:srgbClr val="2B2622"/>
                </a:solidFill>
                <a:latin typeface="Calibri" pitchFamily="34" charset="0"/>
                <a:ea typeface="Calibri" pitchFamily="34" charset="-122"/>
                <a:cs typeface="Calibri" pitchFamily="34" charset="-120"/>
              </a:rPr>
              <a:t>59 concepts</a:t>
            </a:r>
            <a:endParaRPr lang="en-US" sz="1150" dirty="0"/>
          </a:p>
        </p:txBody>
      </p:sp>
      <p:sp>
        <p:nvSpPr>
          <p:cNvPr id="16" name="Shape 14"/>
          <p:cNvSpPr/>
          <p:nvPr/>
        </p:nvSpPr>
        <p:spPr>
          <a:xfrm>
            <a:off x="4167149" y="3474720"/>
            <a:ext cx="2197989" cy="420624"/>
          </a:xfrm>
          <a:prstGeom prst="roundRect">
            <a:avLst>
              <a:gd name="adj" fmla="val 50000"/>
            </a:avLst>
          </a:prstGeom>
          <a:solidFill>
            <a:srgbClr val="F2ECE1"/>
          </a:solidFill>
          <a:ln w="12700">
            <a:solidFill>
              <a:srgbClr val="D97A14"/>
            </a:solidFill>
            <a:prstDash val="solid"/>
          </a:ln>
        </p:spPr>
      </p:sp>
      <p:sp>
        <p:nvSpPr>
          <p:cNvPr id="17" name="Text 15"/>
          <p:cNvSpPr txBox="1"/>
          <p:nvPr/>
        </p:nvSpPr>
        <p:spPr>
          <a:xfrm>
            <a:off x="4167149" y="3474720"/>
            <a:ext cx="2197989" cy="420624"/>
          </a:xfrm>
          <a:prstGeom prst="rect">
            <a:avLst/>
          </a:prstGeom>
          <a:noFill/>
          <a:ln/>
        </p:spPr>
        <p:txBody>
          <a:bodyPr wrap="square" lIns="0" tIns="0" rIns="0" bIns="0" rtlCol="0" anchor="ctr"/>
          <a:lstStyle/>
          <a:p>
            <a:pPr algn="ctr" indent="0" marL="0">
              <a:buNone/>
            </a:pPr>
            <a:r>
              <a:rPr lang="en-US" sz="1150" dirty="0">
                <a:solidFill>
                  <a:srgbClr val="2B2622"/>
                </a:solidFill>
                <a:latin typeface="Calibri" pitchFamily="34" charset="0"/>
                <a:ea typeface="Calibri" pitchFamily="34" charset="-122"/>
                <a:cs typeface="Calibri" pitchFamily="34" charset="-120"/>
              </a:rPr>
              <a:t>85 console rows</a:t>
            </a:r>
            <a:endParaRPr lang="en-US" sz="1150" dirty="0"/>
          </a:p>
        </p:txBody>
      </p:sp>
      <p:sp>
        <p:nvSpPr>
          <p:cNvPr id="18" name="Shape 16"/>
          <p:cNvSpPr/>
          <p:nvPr/>
        </p:nvSpPr>
        <p:spPr>
          <a:xfrm>
            <a:off x="6566306" y="3474720"/>
            <a:ext cx="1956130" cy="420624"/>
          </a:xfrm>
          <a:prstGeom prst="roundRect">
            <a:avLst>
              <a:gd name="adj" fmla="val 50000"/>
            </a:avLst>
          </a:prstGeom>
          <a:solidFill>
            <a:srgbClr val="F2ECE1"/>
          </a:solidFill>
          <a:ln w="12700">
            <a:solidFill>
              <a:srgbClr val="D97A14"/>
            </a:solidFill>
            <a:prstDash val="solid"/>
          </a:ln>
        </p:spPr>
      </p:sp>
      <p:sp>
        <p:nvSpPr>
          <p:cNvPr id="19" name="Text 17"/>
          <p:cNvSpPr txBox="1"/>
          <p:nvPr/>
        </p:nvSpPr>
        <p:spPr>
          <a:xfrm>
            <a:off x="6566306" y="3474720"/>
            <a:ext cx="1956130" cy="420624"/>
          </a:xfrm>
          <a:prstGeom prst="rect">
            <a:avLst/>
          </a:prstGeom>
          <a:noFill/>
          <a:ln/>
        </p:spPr>
        <p:txBody>
          <a:bodyPr wrap="square" lIns="0" tIns="0" rIns="0" bIns="0" rtlCol="0" anchor="ctr"/>
          <a:lstStyle/>
          <a:p>
            <a:pPr algn="ctr" indent="0" marL="0">
              <a:buNone/>
            </a:pPr>
            <a:r>
              <a:rPr lang="en-US" sz="1150" dirty="0">
                <a:solidFill>
                  <a:srgbClr val="2B2622"/>
                </a:solidFill>
                <a:latin typeface="Calibri" pitchFamily="34" charset="0"/>
                <a:ea typeface="Calibri" pitchFamily="34" charset="-122"/>
                <a:cs typeface="Calibri" pitchFamily="34" charset="-120"/>
              </a:rPr>
              <a:t>Python 3.14.6</a:t>
            </a:r>
            <a:endParaRPr lang="en-US" sz="1150" dirty="0"/>
          </a:p>
        </p:txBody>
      </p:sp>
      <p:sp>
        <p:nvSpPr>
          <p:cNvPr id="20" name="Shape 18"/>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path's own method only computes, only asks, or actually changes a file.</a:t>
            </a:r>
            <a:endParaRPr lang="en-US" sz="1350" dirty="0"/>
          </a:p>
        </p:txBody>
      </p:sp>
      <p:sp>
        <p:nvSpPr>
          <p:cNvPr id="22"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24</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Path objects: building and joining a path</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Path() returns an object, not a string; the / operator joins it to more names</a:t>
            </a:r>
            <a:endParaRPr lang="en-US" sz="1300" dirty="0"/>
          </a:p>
        </p:txBody>
      </p:sp>
      <p:sp>
        <p:nvSpPr>
          <p:cNvPr id="6" name="Text 4"/>
          <p:cNvSpPr txBox="1"/>
          <p:nvPr/>
        </p:nvSpPr>
        <p:spPr>
          <a:xfrm>
            <a:off x="457200" y="10972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Path() joins names into an object; / joins a path to a string or another path</a:t>
            </a:r>
            <a:endParaRPr lang="en-US" sz="1150" dirty="0"/>
          </a:p>
        </p:txBody>
      </p:sp>
      <p:sp>
        <p:nvSpPr>
          <p:cNvPr id="7" name="Shape 5"/>
          <p:cNvSpPr/>
          <p:nvPr/>
        </p:nvSpPr>
        <p:spPr>
          <a:xfrm>
            <a:off x="457200" y="1371600"/>
            <a:ext cx="8229600" cy="2359152"/>
          </a:xfrm>
          <a:prstGeom prst="roundRect">
            <a:avLst>
              <a:gd name="adj" fmla="val 3876"/>
            </a:avLst>
          </a:prstGeom>
          <a:solidFill>
            <a:srgbClr val="23272E"/>
          </a:solidFill>
          <a:ln w="12700">
            <a:solidFill>
              <a:srgbClr val="23272E"/>
            </a:solidFill>
            <a:prstDash val="solid"/>
          </a:ln>
        </p:spPr>
      </p:sp>
      <p:sp>
        <p:nvSpPr>
          <p:cNvPr id="8" name="Text 6"/>
          <p:cNvSpPr txBox="1"/>
          <p:nvPr/>
        </p:nvSpPr>
        <p:spPr>
          <a:xfrm>
            <a:off x="640080" y="1490472"/>
            <a:ext cx="7863840" cy="2121408"/>
          </a:xfrm>
          <a:prstGeom prst="rect">
            <a:avLst/>
          </a:prstGeom>
          <a:noFill/>
          <a:ln/>
        </p:spPr>
        <p:txBody>
          <a:bodyPr wrap="square" lIns="0" tIns="0" rIns="0" bIns="0" rtlCol="0" anchor="t"/>
          <a:lstStyle/>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from pathlib import Path, PureWindowsPath</a:t>
            </a:r>
            <a:endParaRPr lang="en-US" sz="1100" dirty="0"/>
          </a:p>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Path('spam', 'bacon', 'eggs')</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PosixPath('spam/bacon/eggs')</a:t>
            </a:r>
            <a:endParaRPr lang="en-US" sz="1100" dirty="0"/>
          </a:p>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str(Path('spam', 'bacon', 'eggs'))</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'spam/bacon/eggs'</a:t>
            </a:r>
            <a:endParaRPr lang="en-US" sz="1100" dirty="0"/>
          </a:p>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str(PureWindowsPath('spam', 'bacon', 'eggs'))</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'spam\\bacon\\eggs'</a:t>
            </a:r>
            <a:endParaRPr lang="en-US" sz="1100" dirty="0"/>
          </a:p>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Path('spam') / 'bacon' / 'eggs'</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PosixPath('spam/bacon/eggs')</a:t>
            </a:r>
            <a:endParaRPr lang="en-US" sz="1100" dirty="0"/>
          </a:p>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'spam' / 'bacon'</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TypeError: unsupported operand type(s) for /: 'str' and 'str'</a:t>
            </a:r>
            <a:endParaRPr lang="en-US" sz="1100" dirty="0"/>
          </a:p>
        </p:txBody>
      </p:sp>
      <p:sp>
        <p:nvSpPr>
          <p:cNvPr id="9" name="Text 7"/>
          <p:cNvSpPr txBox="1"/>
          <p:nvPr/>
        </p:nvSpPr>
        <p:spPr>
          <a:xfrm>
            <a:off x="457200" y="3749040"/>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4636008"/>
            <a:ext cx="91440" cy="310896"/>
          </a:xfrm>
          <a:prstGeom prst="rect">
            <a:avLst/>
          </a:prstGeom>
          <a:solidFill>
            <a:srgbClr val="D97A14"/>
          </a:solidFill>
          <a:ln w="12700">
            <a:solidFill>
              <a:srgbClr val="D97A14"/>
            </a:solidFill>
            <a:prstDash val="solid"/>
          </a:ln>
        </p:spPr>
      </p:sp>
      <p:sp>
        <p:nvSpPr>
          <p:cNvPr id="11" name="Text 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Path() returns an object; / joins paths the way os.path.join() once did.</a:t>
            </a:r>
            <a:endParaRPr lang="en-US" sz="1350" dirty="0"/>
          </a:p>
        </p:txBody>
      </p:sp>
      <p:sp>
        <p:nvSpPr>
          <p:cNvPr id="12" name="Text 1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24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2012 proposal is why a path is an object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2012-07-30</a:t>
            </a:r>
            <a:endParaRPr lang="en-US" sz="1300" dirty="0"/>
          </a:p>
        </p:txBody>
      </p:sp>
      <p:sp>
        <p:nvSpPr>
          <p:cNvPr id="6" name="Shape 4"/>
          <p:cNvSpPr/>
          <p:nvPr/>
        </p:nvSpPr>
        <p:spPr>
          <a:xfrm>
            <a:off x="457200" y="1371600"/>
            <a:ext cx="4114800" cy="2560320"/>
          </a:xfrm>
          <a:prstGeom prst="roundRect">
            <a:avLst>
              <a:gd name="adj" fmla="val 3571"/>
            </a:avLst>
          </a:prstGeom>
          <a:solidFill>
            <a:srgbClr val="F2ECE1"/>
          </a:solidFill>
          <a:ln w="12700">
            <a:solidFill>
              <a:srgbClr val="F2ECE1"/>
            </a:solidFill>
            <a:prstDash val="solid"/>
          </a:ln>
        </p:spPr>
      </p:sp>
      <p:sp>
        <p:nvSpPr>
          <p:cNvPr id="7" name="Text 5"/>
          <p:cNvSpPr txBox="1"/>
          <p:nvPr/>
        </p:nvSpPr>
        <p:spPr>
          <a:xfrm>
            <a:off x="640080" y="1490472"/>
            <a:ext cx="374904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Antoine Pitrou, PEP 428</a:t>
            </a:r>
            <a:endParaRPr lang="en-US" sz="1600" dirty="0"/>
          </a:p>
        </p:txBody>
      </p:sp>
      <p:sp>
        <p:nvSpPr>
          <p:cNvPr id="8" name="Text 6"/>
          <p:cNvSpPr txBox="1"/>
          <p:nvPr/>
        </p:nvSpPr>
        <p:spPr>
          <a:xfrm>
            <a:off x="640080" y="1874520"/>
            <a:ext cx="3749040" cy="1920240"/>
          </a:xfrm>
          <a:prstGeom prst="rect">
            <a:avLst/>
          </a:prstGeom>
          <a:noFill/>
          <a:ln/>
        </p:spPr>
        <p:txBody>
          <a:bodyPr wrap="square" lIns="0" tIns="0" rIns="0" bIns="0" rtlCol="0" anchor="t"/>
          <a:lstStyle/>
          <a:p>
            <a:pPr indent="0" marL="0">
              <a:buNone/>
            </a:pPr>
            <a:r>
              <a:rPr lang="en-US" sz="1250" dirty="0">
                <a:solidFill>
                  <a:srgbClr val="2B2622"/>
                </a:solidFill>
                <a:latin typeface="Calibri" pitchFamily="34" charset="0"/>
                <a:ea typeface="Calibri" pitchFamily="34" charset="-122"/>
                <a:cs typeface="Calibri" pitchFamily="34" charset="-120"/>
              </a:rPr>
              <a:t>'The pathlib module - object-oriented filesystem paths', dated 30 July 2012: a filesystem path should be its own object with its own methods, not a plain string passed to separate os.path functions.</a:t>
            </a:r>
            <a:endParaRPr lang="en-US" sz="1250" dirty="0"/>
          </a:p>
        </p:txBody>
      </p:sp>
      <p:sp>
        <p:nvSpPr>
          <p:cNvPr id="9" name="Shape 7"/>
          <p:cNvSpPr/>
          <p:nvPr/>
        </p:nvSpPr>
        <p:spPr>
          <a:xfrm>
            <a:off x="4846320" y="1627632"/>
            <a:ext cx="128016" cy="128016"/>
          </a:xfrm>
          <a:prstGeom prst="diamond">
            <a:avLst/>
          </a:prstGeom>
          <a:solidFill>
            <a:srgbClr val="D97A14"/>
          </a:solidFill>
          <a:ln w="12700">
            <a:solidFill>
              <a:srgbClr val="D97A14"/>
            </a:solidFill>
            <a:prstDash val="solid"/>
          </a:ln>
        </p:spPr>
      </p:sp>
      <p:sp>
        <p:nvSpPr>
          <p:cNvPr id="10" name="Text 8"/>
          <p:cNvSpPr txBox="1"/>
          <p:nvPr/>
        </p:nvSpPr>
        <p:spPr>
          <a:xfrm>
            <a:off x="5120640" y="1371600"/>
            <a:ext cx="3566160" cy="6400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30 July 2012: PEP 428 is written, Antoine Pitrou</a:t>
            </a:r>
            <a:endParaRPr lang="en-US" sz="1200" dirty="0"/>
          </a:p>
        </p:txBody>
      </p:sp>
      <p:sp>
        <p:nvSpPr>
          <p:cNvPr id="11" name="Shape 9"/>
          <p:cNvSpPr/>
          <p:nvPr/>
        </p:nvSpPr>
        <p:spPr>
          <a:xfrm>
            <a:off x="4846320" y="2267712"/>
            <a:ext cx="128016" cy="128016"/>
          </a:xfrm>
          <a:prstGeom prst="diamond">
            <a:avLst/>
          </a:prstGeom>
          <a:solidFill>
            <a:srgbClr val="D97A14"/>
          </a:solidFill>
          <a:ln w="12700">
            <a:solidFill>
              <a:srgbClr val="D97A14"/>
            </a:solidFill>
            <a:prstDash val="solid"/>
          </a:ln>
        </p:spPr>
      </p:sp>
      <p:sp>
        <p:nvSpPr>
          <p:cNvPr id="12" name="Text 10"/>
          <p:cNvSpPr txBox="1"/>
          <p:nvPr/>
        </p:nvSpPr>
        <p:spPr>
          <a:xfrm>
            <a:off x="5120640" y="2011680"/>
            <a:ext cx="3566160" cy="6400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Discussed through 2013 on python-dev</a:t>
            </a:r>
            <a:endParaRPr lang="en-US" sz="1200" dirty="0"/>
          </a:p>
        </p:txBody>
      </p:sp>
      <p:sp>
        <p:nvSpPr>
          <p:cNvPr id="13" name="Shape 11"/>
          <p:cNvSpPr/>
          <p:nvPr/>
        </p:nvSpPr>
        <p:spPr>
          <a:xfrm>
            <a:off x="4846320" y="2907792"/>
            <a:ext cx="128016" cy="128016"/>
          </a:xfrm>
          <a:prstGeom prst="diamond">
            <a:avLst/>
          </a:prstGeom>
          <a:solidFill>
            <a:srgbClr val="D97A14"/>
          </a:solidFill>
          <a:ln w="12700">
            <a:solidFill>
              <a:srgbClr val="D97A14"/>
            </a:solidFill>
            <a:prstDash val="solid"/>
          </a:ln>
        </p:spPr>
      </p:sp>
      <p:sp>
        <p:nvSpPr>
          <p:cNvPr id="14" name="Text 12"/>
          <p:cNvSpPr txBox="1"/>
          <p:nvPr/>
        </p:nvSpPr>
        <p:spPr>
          <a:xfrm>
            <a:off x="5120640" y="2651760"/>
            <a:ext cx="3566160" cy="6400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Shipped in Python 3.4, March 2014</a:t>
            </a:r>
            <a:endParaRPr lang="en-US" sz="1200" dirty="0"/>
          </a:p>
        </p:txBody>
      </p:sp>
      <p:sp>
        <p:nvSpPr>
          <p:cNvPr id="15" name="Shape 13"/>
          <p:cNvSpPr/>
          <p:nvPr/>
        </p:nvSpPr>
        <p:spPr>
          <a:xfrm>
            <a:off x="4846320" y="3547872"/>
            <a:ext cx="128016" cy="128016"/>
          </a:xfrm>
          <a:prstGeom prst="diamond">
            <a:avLst/>
          </a:prstGeom>
          <a:solidFill>
            <a:srgbClr val="D97A14"/>
          </a:solidFill>
          <a:ln w="12700">
            <a:solidFill>
              <a:srgbClr val="D97A14"/>
            </a:solidFill>
            <a:prstDash val="solid"/>
          </a:ln>
        </p:spPr>
      </p:sp>
      <p:sp>
        <p:nvSpPr>
          <p:cNvPr id="16" name="Text 14"/>
          <p:cNvSpPr txBox="1"/>
          <p:nvPr/>
        </p:nvSpPr>
        <p:spPr>
          <a:xfrm>
            <a:off x="5120640" y="3291840"/>
            <a:ext cx="3566160" cy="6400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Path() is an object because of this one proposal</a:t>
            </a:r>
            <a:endParaRPr lang="en-US" sz="1200" dirty="0"/>
          </a:p>
        </p:txBody>
      </p:sp>
      <p:sp>
        <p:nvSpPr>
          <p:cNvPr id="17" name="Shape 15"/>
          <p:cNvSpPr/>
          <p:nvPr/>
        </p:nvSpPr>
        <p:spPr>
          <a:xfrm>
            <a:off x="457200" y="4041648"/>
            <a:ext cx="2449129" cy="365760"/>
          </a:xfrm>
          <a:prstGeom prst="roundRect">
            <a:avLst>
              <a:gd name="adj" fmla="val 50000"/>
            </a:avLst>
          </a:prstGeom>
          <a:solidFill>
            <a:srgbClr val="EFE9DC"/>
          </a:solidFill>
          <a:ln w="9525">
            <a:solidFill>
              <a:srgbClr val="DFD6C7"/>
            </a:solidFill>
            <a:prstDash val="solid"/>
          </a:ln>
        </p:spPr>
      </p:sp>
      <p:sp>
        <p:nvSpPr>
          <p:cNvPr id="18" name="Text 16"/>
          <p:cNvSpPr txBox="1"/>
          <p:nvPr/>
        </p:nvSpPr>
        <p:spPr>
          <a:xfrm>
            <a:off x="548640"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Antoine Pitrou</a:t>
            </a:r>
            <a:endParaRPr lang="en-US" sz="750" dirty="0"/>
          </a:p>
        </p:txBody>
      </p:sp>
      <p:sp>
        <p:nvSpPr>
          <p:cNvPr id="19" name="Shape 17"/>
          <p:cNvSpPr/>
          <p:nvPr/>
        </p:nvSpPr>
        <p:spPr>
          <a:xfrm>
            <a:off x="3016057" y="4041648"/>
            <a:ext cx="2449129" cy="365760"/>
          </a:xfrm>
          <a:prstGeom prst="roundRect">
            <a:avLst>
              <a:gd name="adj" fmla="val 50000"/>
            </a:avLst>
          </a:prstGeom>
          <a:solidFill>
            <a:srgbClr val="EFE9DC"/>
          </a:solidFill>
          <a:ln w="9525">
            <a:solidFill>
              <a:srgbClr val="DFD6C7"/>
            </a:solidFill>
            <a:prstDash val="solid"/>
          </a:ln>
        </p:spPr>
      </p:sp>
      <p:sp>
        <p:nvSpPr>
          <p:cNvPr id="20" name="Text 18"/>
          <p:cNvSpPr txBox="1"/>
          <p:nvPr/>
        </p:nvSpPr>
        <p:spPr>
          <a:xfrm>
            <a:off x="3107497"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the Python Enhancement Proposals proce…</a:t>
            </a:r>
            <a:endParaRPr lang="en-US" sz="750" dirty="0"/>
          </a:p>
        </p:txBody>
      </p:sp>
      <p:sp>
        <p:nvSpPr>
          <p:cNvPr id="21" name="Shape 19"/>
          <p:cNvSpPr/>
          <p:nvPr/>
        </p:nvSpPr>
        <p:spPr>
          <a:xfrm>
            <a:off x="5574914" y="4041648"/>
            <a:ext cx="1343071" cy="365760"/>
          </a:xfrm>
          <a:prstGeom prst="roundRect">
            <a:avLst>
              <a:gd name="adj" fmla="val 50000"/>
            </a:avLst>
          </a:prstGeom>
          <a:solidFill>
            <a:srgbClr val="EFE9DC"/>
          </a:solidFill>
          <a:ln w="9525">
            <a:solidFill>
              <a:srgbClr val="DFD6C7"/>
            </a:solidFill>
            <a:prstDash val="solid"/>
          </a:ln>
        </p:spPr>
      </p:sp>
      <p:sp>
        <p:nvSpPr>
          <p:cNvPr id="22" name="Text 20"/>
          <p:cNvSpPr txBox="1"/>
          <p:nvPr/>
        </p:nvSpPr>
        <p:spPr>
          <a:xfrm>
            <a:off x="5666354"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2012-07-30</a:t>
            </a:r>
            <a:endParaRPr lang="en-US" sz="750" dirty="0"/>
          </a:p>
        </p:txBody>
      </p:sp>
      <p:sp>
        <p:nvSpPr>
          <p:cNvPr id="23" name="Shape 21"/>
          <p:cNvSpPr/>
          <p:nvPr/>
        </p:nvSpPr>
        <p:spPr>
          <a:xfrm>
            <a:off x="7027713" y="4041648"/>
            <a:ext cx="1659087" cy="365760"/>
          </a:xfrm>
          <a:prstGeom prst="roundRect">
            <a:avLst>
              <a:gd name="adj" fmla="val 50000"/>
            </a:avLst>
          </a:prstGeom>
          <a:solidFill>
            <a:srgbClr val="2F6D62"/>
          </a:solidFill>
          <a:ln w="9525">
            <a:solidFill>
              <a:srgbClr val="2F6D62"/>
            </a:solidFill>
            <a:prstDash val="solid"/>
          </a:ln>
        </p:spPr>
      </p:sp>
      <p:sp>
        <p:nvSpPr>
          <p:cNvPr id="24" name="Text 22"/>
          <p:cNvSpPr txBox="1"/>
          <p:nvPr/>
        </p:nvSpPr>
        <p:spPr>
          <a:xfrm>
            <a:off x="7119153" y="404164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peps.python.org</a:t>
            </a:r>
            <a:endParaRPr lang="en-US" sz="750" dirty="0"/>
          </a:p>
        </p:txBody>
      </p:sp>
      <p:sp>
        <p:nvSpPr>
          <p:cNvPr id="25" name="Shape 23"/>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Path() is an object because of Pitrou's 2012 proposal, PEP 428.</a:t>
            </a:r>
            <a:endParaRPr lang="en-US" sz="1350" dirty="0"/>
          </a:p>
        </p:txBody>
      </p:sp>
      <p:sp>
        <p:nvSpPr>
          <p:cNvPr id="27" name="Text 2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24</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200" b="1" dirty="0">
                <a:solidFill>
                  <a:srgbClr val="2B2622"/>
                </a:solidFill>
                <a:latin typeface="Cambria" pitchFamily="34" charset="0"/>
                <a:ea typeface="Cambria" pitchFamily="34" charset="-122"/>
                <a:cs typeface="Cambria" pitchFamily="34" charset="-120"/>
              </a:rPr>
              <a:t>Working locations: the working directory and home</a:t>
            </a:r>
            <a:endParaRPr lang="en-US" sz="22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relative path is read from the working directory; Path.home() is always absolute</a:t>
            </a:r>
            <a:endParaRPr lang="en-US" sz="1300" dirty="0"/>
          </a:p>
        </p:txBody>
      </p:sp>
      <p:sp>
        <p:nvSpPr>
          <p:cNvPr id="6" name="Text 4"/>
          <p:cNvSpPr txBox="1"/>
          <p:nvPr/>
        </p:nvSpPr>
        <p:spPr>
          <a:xfrm>
            <a:off x="457200" y="10972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Path.cwd() and Path.home() are both absolute; a relative path is read from cwd</a:t>
            </a:r>
            <a:endParaRPr lang="en-US" sz="1150" dirty="0"/>
          </a:p>
        </p:txBody>
      </p:sp>
      <p:sp>
        <p:nvSpPr>
          <p:cNvPr id="7" name="Shape 5"/>
          <p:cNvSpPr/>
          <p:nvPr/>
        </p:nvSpPr>
        <p:spPr>
          <a:xfrm>
            <a:off x="457200" y="1371600"/>
            <a:ext cx="8229600" cy="1581912"/>
          </a:xfrm>
          <a:prstGeom prst="roundRect">
            <a:avLst>
              <a:gd name="adj" fmla="val 5780"/>
            </a:avLst>
          </a:prstGeom>
          <a:solidFill>
            <a:srgbClr val="23272E"/>
          </a:solidFill>
          <a:ln w="12700">
            <a:solidFill>
              <a:srgbClr val="23272E"/>
            </a:solidFill>
            <a:prstDash val="solid"/>
          </a:ln>
        </p:spPr>
      </p:sp>
      <p:sp>
        <p:nvSpPr>
          <p:cNvPr id="8" name="Text 6"/>
          <p:cNvSpPr txBox="1"/>
          <p:nvPr/>
        </p:nvSpPr>
        <p:spPr>
          <a:xfrm>
            <a:off x="640080" y="1490472"/>
            <a:ext cx="7863840" cy="1344168"/>
          </a:xfrm>
          <a:prstGeom prst="rect">
            <a:avLst/>
          </a:prstGeom>
          <a:noFill/>
          <a:ln/>
        </p:spPr>
        <p:txBody>
          <a:bodyPr wrap="square" lIns="0" tIns="0" rIns="0" bIns="0" rtlCol="0" anchor="t"/>
          <a:lstStyle/>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import os, shutil; shutil.rmtree('/tmp/ch10_lab', ignore_errors=True); os.makedirs('/tmp/ch10_lab'); os.chdir('/tmp/ch10_lab')</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from pathlib import Path</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Path.cwd().is_absolute()</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True</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Path.home().is_absolute()</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True</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Path('spam/bacon/eggs').is_absolute()</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False</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Path('./spam.txt') == Path('spam.txt')</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True</a:t>
            </a:r>
            <a:endParaRPr lang="en-US" sz="750" dirty="0"/>
          </a:p>
        </p:txBody>
      </p:sp>
      <p:sp>
        <p:nvSpPr>
          <p:cNvPr id="9" name="Text 7"/>
          <p:cNvSpPr txBox="1"/>
          <p:nvPr/>
        </p:nvSpPr>
        <p:spPr>
          <a:xfrm>
            <a:off x="457200" y="2971800"/>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Text 8"/>
          <p:cNvSpPr txBox="1"/>
          <p:nvPr/>
        </p:nvSpPr>
        <p:spPr>
          <a:xfrm>
            <a:off x="457200" y="3300984"/>
            <a:ext cx="8229600" cy="1225296"/>
          </a:xfrm>
          <a:prstGeom prst="rect">
            <a:avLst/>
          </a:prstGeom>
          <a:noFill/>
          <a:ln/>
        </p:spPr>
        <p:txBody>
          <a:bodyPr wrap="square" lIns="0" tIns="0" rIns="0" bIns="0" rtlCol="0" anchor="t"/>
          <a:lstStyle/>
          <a:p>
            <a:pPr algn="l" indent="0" marL="0">
              <a:buNone/>
            </a:pPr>
            <a:r>
              <a:rPr lang="en-US" sz="1150" dirty="0">
                <a:solidFill>
                  <a:srgbClr val="2B2622"/>
                </a:solidFill>
                <a:latin typeface="Calibri" pitchFamily="34" charset="0"/>
                <a:ea typeface="Calibri" pitchFamily="34" charset="-122"/>
                <a:cs typeface="Calibri" pitchFamily="34" charset="-120"/>
              </a:rPr>
              <a:t>os.chdir() changes the working directory; pathlib has no method of its own for that one job. A single dot names this folder and two dots its parent; a leading ./ is optional, which is why Path('./spam.txt') and Path('spam.txt') compare equal.</a:t>
            </a:r>
            <a:endParaRPr lang="en-US" sz="1150" dirty="0"/>
          </a:p>
        </p:txBody>
      </p:sp>
      <p:sp>
        <p:nvSpPr>
          <p:cNvPr id="11" name="Shape 9"/>
          <p:cNvSpPr/>
          <p:nvPr/>
        </p:nvSpPr>
        <p:spPr>
          <a:xfrm>
            <a:off x="457200" y="4636008"/>
            <a:ext cx="91440" cy="310896"/>
          </a:xfrm>
          <a:prstGeom prst="rect">
            <a:avLst/>
          </a:prstGeom>
          <a:solidFill>
            <a:srgbClr val="D97A14"/>
          </a:solidFill>
          <a:ln w="12700">
            <a:solidFill>
              <a:srgbClr val="D97A14"/>
            </a:solidFill>
            <a:prstDash val="solid"/>
          </a:ln>
        </p:spPr>
      </p:sp>
      <p:sp>
        <p:nvSpPr>
          <p:cNvPr id="12" name="Text 1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relative path reads from cwd; Path.home() is always absolute.</a:t>
            </a:r>
            <a:endParaRPr lang="en-US" sz="1350" dirty="0"/>
          </a:p>
        </p:txBody>
      </p:sp>
      <p:sp>
        <p:nvSpPr>
          <p:cNvPr id="13" name="Text 1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24</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Path anatomy and derived paths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path breaks apart into name, stem, suffix and parent; with_suffix builds a new one</a:t>
            </a:r>
            <a:endParaRPr lang="en-US" sz="1300" dirty="0"/>
          </a:p>
        </p:txBody>
      </p:sp>
      <p:sp>
        <p:nvSpPr>
          <p:cNvPr id="6" name="Text 4"/>
          <p:cNvSpPr txBox="1"/>
          <p:nvPr/>
        </p:nvSpPr>
        <p:spPr>
          <a:xfrm>
            <a:off x="457200" y="10972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name, stem, suffix, drive and parent read a path apart; with_suffix and relative_to build a new one</a:t>
            </a:r>
            <a:endParaRPr lang="en-US" sz="1150" dirty="0"/>
          </a:p>
        </p:txBody>
      </p:sp>
      <p:sp>
        <p:nvSpPr>
          <p:cNvPr id="7" name="Shape 5"/>
          <p:cNvSpPr/>
          <p:nvPr/>
        </p:nvSpPr>
        <p:spPr>
          <a:xfrm>
            <a:off x="457200" y="1371600"/>
            <a:ext cx="8229600" cy="2907792"/>
          </a:xfrm>
          <a:prstGeom prst="roundRect">
            <a:avLst>
              <a:gd name="adj" fmla="val 3145"/>
            </a:avLst>
          </a:prstGeom>
          <a:solidFill>
            <a:srgbClr val="23272E"/>
          </a:solidFill>
          <a:ln w="12700">
            <a:solidFill>
              <a:srgbClr val="23272E"/>
            </a:solidFill>
            <a:prstDash val="solid"/>
          </a:ln>
        </p:spPr>
      </p:sp>
      <p:sp>
        <p:nvSpPr>
          <p:cNvPr id="8" name="Text 6"/>
          <p:cNvSpPr txBox="1"/>
          <p:nvPr/>
        </p:nvSpPr>
        <p:spPr>
          <a:xfrm>
            <a:off x="640080" y="1490472"/>
            <a:ext cx="7863840" cy="2670048"/>
          </a:xfrm>
          <a:prstGeom prst="rect">
            <a:avLst/>
          </a:prstGeom>
          <a:noFill/>
          <a:ln/>
        </p:spPr>
        <p:txBody>
          <a:bodyPr wrap="square" lIns="0" tIns="0" rIns="0" bIns="0" rtlCol="0" anchor="t"/>
          <a:lstStyle/>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from pathlib import PureWindowsPath, PurePosixPath</a:t>
            </a:r>
            <a:endParaRPr lang="en-US" sz="1100" dirty="0"/>
          </a:p>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p = PureWindowsPath('C:/Users/Al/spam.txt')</a:t>
            </a:r>
            <a:endParaRPr lang="en-US" sz="1100" dirty="0"/>
          </a:p>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(p.name, p.stem, p.suffix, p.drive)</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('spam.txt', 'spam', '.txt', 'C:')</a:t>
            </a:r>
            <a:endParaRPr lang="en-US" sz="1100" dirty="0"/>
          </a:p>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p.parent</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PureWindowsPath('C:/Users/Al')</a:t>
            </a:r>
            <a:endParaRPr lang="en-US" sz="1100" dirty="0"/>
          </a:p>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p.parts</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('C:\\', 'Users', 'Al', 'spam.txt')</a:t>
            </a:r>
            <a:endParaRPr lang="en-US" sz="1100" dirty="0"/>
          </a:p>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p.parents[1]</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PureWindowsPath('C:/Users')</a:t>
            </a:r>
            <a:endParaRPr lang="en-US" sz="1100" dirty="0"/>
          </a:p>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p.with_suffix('.csv')</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PureWindowsPath('C:/Users/Al/spam.csv')</a:t>
            </a:r>
            <a:endParaRPr lang="en-US" sz="1100" dirty="0"/>
          </a:p>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PurePosixPath('/home/al/reports/spam.txt').relative_to('/home/al')</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PurePosixPath('reports/spam.txt')</a:t>
            </a:r>
            <a:endParaRPr lang="en-US" sz="1100" dirty="0"/>
          </a:p>
        </p:txBody>
      </p:sp>
      <p:sp>
        <p:nvSpPr>
          <p:cNvPr id="9" name="Text 7"/>
          <p:cNvSpPr txBox="1"/>
          <p:nvPr/>
        </p:nvSpPr>
        <p:spPr>
          <a:xfrm>
            <a:off x="457200" y="4297680"/>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4636008"/>
            <a:ext cx="91440" cy="310896"/>
          </a:xfrm>
          <a:prstGeom prst="rect">
            <a:avLst/>
          </a:prstGeom>
          <a:solidFill>
            <a:srgbClr val="D97A14"/>
          </a:solidFill>
          <a:ln w="12700">
            <a:solidFill>
              <a:srgbClr val="D97A14"/>
            </a:solidFill>
            <a:prstDash val="solid"/>
          </a:ln>
        </p:spPr>
      </p:sp>
      <p:sp>
        <p:nvSpPr>
          <p:cNvPr id="11" name="Text 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name, stem, suffix and parent read a path apart with no disk touched.</a:t>
            </a:r>
            <a:endParaRPr lang="en-US" sz="1350" dirty="0"/>
          </a:p>
        </p:txBody>
      </p:sp>
      <p:sp>
        <p:nvSpPr>
          <p:cNvPr id="12" name="Text 1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24</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Creating folders and finding files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mkdir(parents=True) makes a whole chain of folders; a glob pattern lists matching files</a:t>
            </a:r>
            <a:endParaRPr lang="en-US" sz="1300" dirty="0"/>
          </a:p>
        </p:txBody>
      </p:sp>
      <p:sp>
        <p:nvSpPr>
          <p:cNvPr id="6" name="Text 4"/>
          <p:cNvSpPr txBox="1"/>
          <p:nvPr/>
        </p:nvSpPr>
        <p:spPr>
          <a:xfrm>
            <a:off x="457200" y="10972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mkdir(parents=True) creates every missing folder; glob('*.txt') lists a folder's own matching files</a:t>
            </a:r>
            <a:endParaRPr lang="en-US" sz="1150" dirty="0"/>
          </a:p>
        </p:txBody>
      </p:sp>
      <p:sp>
        <p:nvSpPr>
          <p:cNvPr id="7" name="Shape 5"/>
          <p:cNvSpPr/>
          <p:nvPr/>
        </p:nvSpPr>
        <p:spPr>
          <a:xfrm>
            <a:off x="457200" y="1371600"/>
            <a:ext cx="8229600" cy="1581912"/>
          </a:xfrm>
          <a:prstGeom prst="roundRect">
            <a:avLst>
              <a:gd name="adj" fmla="val 5780"/>
            </a:avLst>
          </a:prstGeom>
          <a:solidFill>
            <a:srgbClr val="23272E"/>
          </a:solidFill>
          <a:ln w="12700">
            <a:solidFill>
              <a:srgbClr val="23272E"/>
            </a:solidFill>
            <a:prstDash val="solid"/>
          </a:ln>
        </p:spPr>
      </p:sp>
      <p:sp>
        <p:nvSpPr>
          <p:cNvPr id="8" name="Text 6"/>
          <p:cNvSpPr txBox="1"/>
          <p:nvPr/>
        </p:nvSpPr>
        <p:spPr>
          <a:xfrm>
            <a:off x="640080" y="1490472"/>
            <a:ext cx="7863840" cy="1344168"/>
          </a:xfrm>
          <a:prstGeom prst="rect">
            <a:avLst/>
          </a:prstGeom>
          <a:noFill/>
          <a:ln/>
        </p:spPr>
        <p:txBody>
          <a:bodyPr wrap="square" lIns="0" tIns="0" rIns="0" bIns="0" rtlCol="0" anchor="t"/>
          <a:lstStyle/>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import os, shutil; shutil.rmtree('/tmp/ch10_lab', ignore_errors=True); os.makedirs('/tmp/ch10_lab'); os.chdir('/tmp/ch10_lab')</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from pathlib import Path</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Path('delicious/walnut/waffles').mkdir(parents=True)</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sorted(p.name for p in Path('.').rglob('*'))</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['delicious', 'waffles', 'walnut']</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for n in ('project1.txt', 'project2.txt', 'projectX.txt', 'project10.txt'): Path(n).write_text('x')</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sorted(Path('.').glob('project?.txt'))</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[PosixPath('project1.txt'), PosixPath('project2.txt'), PosixPath('projectX.txt')]</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sorted(str(p) for p in Path('.').glob('*.txt'))</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['project1.txt', 'project10.txt', 'project2.txt', 'projectX.txt']</a:t>
            </a:r>
            <a:endParaRPr lang="en-US" sz="750" dirty="0"/>
          </a:p>
        </p:txBody>
      </p:sp>
      <p:sp>
        <p:nvSpPr>
          <p:cNvPr id="9" name="Text 7"/>
          <p:cNvSpPr txBox="1"/>
          <p:nvPr/>
        </p:nvSpPr>
        <p:spPr>
          <a:xfrm>
            <a:off x="457200" y="2971800"/>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4636008"/>
            <a:ext cx="91440" cy="310896"/>
          </a:xfrm>
          <a:prstGeom prst="rect">
            <a:avLst/>
          </a:prstGeom>
          <a:solidFill>
            <a:srgbClr val="D97A14"/>
          </a:solidFill>
          <a:ln w="12700">
            <a:solidFill>
              <a:srgbClr val="D97A14"/>
            </a:solidFill>
            <a:prstDash val="solid"/>
          </a:ln>
        </p:spPr>
      </p:sp>
      <p:sp>
        <p:nvSpPr>
          <p:cNvPr id="11" name="Text 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mkdir(parents=True) builds a chain; a glob pattern lists matching names.</a:t>
            </a:r>
            <a:endParaRPr lang="en-US" sz="1350" dirty="0"/>
          </a:p>
        </p:txBody>
      </p:sp>
      <p:sp>
        <p:nvSpPr>
          <p:cNvPr id="12" name="Text 1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24</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File information: exists, is_file, and stat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exists(), is_file() and is_dir() ask without raising; stat() answers size and time</a:t>
            </a:r>
            <a:endParaRPr lang="en-US" sz="1300" dirty="0"/>
          </a:p>
        </p:txBody>
      </p:sp>
      <p:sp>
        <p:nvSpPr>
          <p:cNvPr id="6" name="Text 4"/>
          <p:cNvSpPr txBox="1"/>
          <p:nvPr/>
        </p:nvSpPr>
        <p:spPr>
          <a:xfrm>
            <a:off x="457200" y="10972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exists(), is_file() and is_dir() never raise; stat() answers size and time together</a:t>
            </a:r>
            <a:endParaRPr lang="en-US" sz="1150" dirty="0"/>
          </a:p>
        </p:txBody>
      </p:sp>
      <p:sp>
        <p:nvSpPr>
          <p:cNvPr id="7" name="Shape 5"/>
          <p:cNvSpPr/>
          <p:nvPr/>
        </p:nvSpPr>
        <p:spPr>
          <a:xfrm>
            <a:off x="457200" y="1371600"/>
            <a:ext cx="8229600" cy="2084832"/>
          </a:xfrm>
          <a:prstGeom prst="roundRect">
            <a:avLst>
              <a:gd name="adj" fmla="val 4386"/>
            </a:avLst>
          </a:prstGeom>
          <a:solidFill>
            <a:srgbClr val="23272E"/>
          </a:solidFill>
          <a:ln w="12700">
            <a:solidFill>
              <a:srgbClr val="23272E"/>
            </a:solidFill>
            <a:prstDash val="solid"/>
          </a:ln>
        </p:spPr>
      </p:sp>
      <p:sp>
        <p:nvSpPr>
          <p:cNvPr id="8" name="Text 6"/>
          <p:cNvSpPr txBox="1"/>
          <p:nvPr/>
        </p:nvSpPr>
        <p:spPr>
          <a:xfrm>
            <a:off x="640080" y="1490472"/>
            <a:ext cx="7863840" cy="1847088"/>
          </a:xfrm>
          <a:prstGeom prst="rect">
            <a:avLst/>
          </a:prstGeom>
          <a:noFill/>
          <a:ln/>
        </p:spPr>
        <p:txBody>
          <a:bodyPr wrap="square" lIns="0" tIns="0" rIns="0" bIns="0" rtlCol="0" anchor="t"/>
          <a:lstStyle/>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import os, shutil; shutil.rmtree('/tmp/ch10_lab', ignore_errors=True); os.makedirs('/tmp/ch10_lab'); os.chdir('/tmp/ch10_lab')</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from pathlib import Path</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import time</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Path('f.txt').write_text('Hello, world!')</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13</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[(q.exists(), q.is_file(), q.is_dir()) for q in (Path('.'), Path('f.txt'), Path('nothing'))]</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[(True, False, True), (True, True, False), (False, False, False)]</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Path('f.txt').stat().st_size</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13</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os.utime('f.txt', (1712627129, 1712627129))</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Path('f.txt').stat().st_mtime</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1712627129.0</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time.asctime(time.gmtime(Path('f.txt').stat().st_mtime))</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'Tue Apr  9 01:45:29 2024'</a:t>
            </a:r>
            <a:endParaRPr lang="en-US" sz="750" dirty="0"/>
          </a:p>
        </p:txBody>
      </p:sp>
      <p:sp>
        <p:nvSpPr>
          <p:cNvPr id="9" name="Text 7"/>
          <p:cNvSpPr txBox="1"/>
          <p:nvPr/>
        </p:nvSpPr>
        <p:spPr>
          <a:xfrm>
            <a:off x="457200" y="3474720"/>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4636008"/>
            <a:ext cx="91440" cy="310896"/>
          </a:xfrm>
          <a:prstGeom prst="rect">
            <a:avLst/>
          </a:prstGeom>
          <a:solidFill>
            <a:srgbClr val="D97A14"/>
          </a:solidFill>
          <a:ln w="12700">
            <a:solidFill>
              <a:srgbClr val="D97A14"/>
            </a:solidFill>
            <a:prstDash val="solid"/>
          </a:ln>
        </p:spPr>
      </p:sp>
      <p:sp>
        <p:nvSpPr>
          <p:cNvPr id="11" name="Text 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exists/is_file/is_dir never raise; stat() answers size and time together.</a:t>
            </a:r>
            <a:endParaRPr lang="en-US" sz="1350" dirty="0"/>
          </a:p>
        </p:txBody>
      </p:sp>
      <p:sp>
        <p:nvSpPr>
          <p:cNvPr id="12" name="Text 1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24</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Whole file methods: write_text and read_text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call each opens, acts, and closes; the character count returned is not a byte count.</a:t>
            </a:r>
            <a:endParaRPr lang="en-US" sz="1300" dirty="0"/>
          </a:p>
        </p:txBody>
      </p:sp>
      <p:sp>
        <p:nvSpPr>
          <p:cNvPr id="6" name="Text 4"/>
          <p:cNvSpPr txBox="1"/>
          <p:nvPr/>
        </p:nvSpPr>
        <p:spPr>
          <a:xfrm>
            <a:off x="457200" y="10972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write_text/read_text move a whole string; write_bytes/read_bytes do the same for binary data</a:t>
            </a:r>
            <a:endParaRPr lang="en-US" sz="1150" dirty="0"/>
          </a:p>
        </p:txBody>
      </p:sp>
      <p:sp>
        <p:nvSpPr>
          <p:cNvPr id="7" name="Shape 5"/>
          <p:cNvSpPr/>
          <p:nvPr/>
        </p:nvSpPr>
        <p:spPr>
          <a:xfrm>
            <a:off x="457200" y="1371600"/>
            <a:ext cx="8229600" cy="2084832"/>
          </a:xfrm>
          <a:prstGeom prst="roundRect">
            <a:avLst>
              <a:gd name="adj" fmla="val 4386"/>
            </a:avLst>
          </a:prstGeom>
          <a:solidFill>
            <a:srgbClr val="23272E"/>
          </a:solidFill>
          <a:ln w="12700">
            <a:solidFill>
              <a:srgbClr val="23272E"/>
            </a:solidFill>
            <a:prstDash val="solid"/>
          </a:ln>
        </p:spPr>
      </p:sp>
      <p:sp>
        <p:nvSpPr>
          <p:cNvPr id="8" name="Text 6"/>
          <p:cNvSpPr txBox="1"/>
          <p:nvPr/>
        </p:nvSpPr>
        <p:spPr>
          <a:xfrm>
            <a:off x="640080" y="1490472"/>
            <a:ext cx="7863840" cy="1847088"/>
          </a:xfrm>
          <a:prstGeom prst="rect">
            <a:avLst/>
          </a:prstGeom>
          <a:noFill/>
          <a:ln/>
        </p:spPr>
        <p:txBody>
          <a:bodyPr wrap="square" lIns="0" tIns="0" rIns="0" bIns="0" rtlCol="0" anchor="t"/>
          <a:lstStyle/>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import os, shutil; shutil.rmtree('/tmp/ch10_lab', ignore_errors=True); os.makedirs('/tmp/ch10_lab'); os.chdir('/tmp/ch10_lab')</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from pathlib import Path</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Path('spam.txt').write_text('Hello, world!')</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13</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Path('spam.txt').read_text()</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'Hello, world!'</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Path('spam.txt').write_text('caf\u00e9', encoding='utf-8')</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4</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Path('spam.txt').stat().st_size</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5</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Path('b.bin').write_bytes(bytes([0, 1, 255]))</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3</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Path('b.bin').read_bytes()</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b'\x00\x01\xff'</a:t>
            </a:r>
            <a:endParaRPr lang="en-US" sz="750" dirty="0"/>
          </a:p>
        </p:txBody>
      </p:sp>
      <p:sp>
        <p:nvSpPr>
          <p:cNvPr id="9" name="Text 7"/>
          <p:cNvSpPr txBox="1"/>
          <p:nvPr/>
        </p:nvSpPr>
        <p:spPr>
          <a:xfrm>
            <a:off x="457200" y="3474720"/>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4636008"/>
            <a:ext cx="91440" cy="310896"/>
          </a:xfrm>
          <a:prstGeom prst="rect">
            <a:avLst/>
          </a:prstGeom>
          <a:solidFill>
            <a:srgbClr val="D97A14"/>
          </a:solidFill>
          <a:ln w="12700">
            <a:solidFill>
              <a:srgbClr val="D97A14"/>
            </a:solidFill>
            <a:prstDash val="solid"/>
          </a:ln>
        </p:spPr>
      </p:sp>
      <p:sp>
        <p:nvSpPr>
          <p:cNvPr id="11" name="Text 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write_text() returns a character count, which is not a byte count.</a:t>
            </a:r>
            <a:endParaRPr lang="en-US" sz="1350" dirty="0"/>
          </a:p>
        </p:txBody>
      </p:sp>
      <p:sp>
        <p:nvSpPr>
          <p:cNvPr id="12" name="Text 1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24</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Opened files: modes, reading and closing</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open() returns a file object; read, readlines, write and close each act on it in turn</a:t>
            </a:r>
            <a:endParaRPr lang="en-US" sz="1300" dirty="0"/>
          </a:p>
        </p:txBody>
      </p:sp>
      <p:sp>
        <p:nvSpPr>
          <p:cNvPr id="6" name="Text 4"/>
          <p:cNvSpPr txBox="1"/>
          <p:nvPr/>
        </p:nvSpPr>
        <p:spPr>
          <a:xfrm>
            <a:off x="457200" y="10972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open() in mode r, w, a or x returns a file object read, written and closed by hand</a:t>
            </a:r>
            <a:endParaRPr lang="en-US" sz="1150" dirty="0"/>
          </a:p>
        </p:txBody>
      </p:sp>
      <p:sp>
        <p:nvSpPr>
          <p:cNvPr id="7" name="Shape 5"/>
          <p:cNvSpPr/>
          <p:nvPr/>
        </p:nvSpPr>
        <p:spPr>
          <a:xfrm>
            <a:off x="457200" y="1371600"/>
            <a:ext cx="8229600" cy="2971800"/>
          </a:xfrm>
          <a:prstGeom prst="roundRect">
            <a:avLst>
              <a:gd name="adj" fmla="val 3077"/>
            </a:avLst>
          </a:prstGeom>
          <a:solidFill>
            <a:srgbClr val="23272E"/>
          </a:solidFill>
          <a:ln w="12700">
            <a:solidFill>
              <a:srgbClr val="23272E"/>
            </a:solidFill>
            <a:prstDash val="solid"/>
          </a:ln>
        </p:spPr>
      </p:sp>
      <p:sp>
        <p:nvSpPr>
          <p:cNvPr id="8" name="Text 6"/>
          <p:cNvSpPr txBox="1"/>
          <p:nvPr/>
        </p:nvSpPr>
        <p:spPr>
          <a:xfrm>
            <a:off x="640080" y="1490472"/>
            <a:ext cx="7863840" cy="2734056"/>
          </a:xfrm>
          <a:prstGeom prst="rect">
            <a:avLst/>
          </a:prstGeom>
          <a:noFill/>
          <a:ln/>
        </p:spPr>
        <p:txBody>
          <a:bodyPr wrap="square" lIns="0" tIns="0" rIns="0" bIns="0" rtlCol="0" anchor="t"/>
          <a:lstStyle/>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import os, shutil; shutil.rmtree('/tmp/ch10_lab', ignore_errors=True); os.makedirs('/tmp/ch10_lab'); os.chdir('/tmp/ch10_lab')</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bacon_file = open('bacon.txt', 'w', encoding='UTF-8')</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bacon_file.write('Hello, world!\n')</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14</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bacon_file.write('Bacon is not a vegetable.')</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25</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bacon_file.close()</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open('bacon.txt', encoding='UTF-8').read()</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'Hello, world!\nBacon is not a vegetable.'</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g = open('bacon.txt', encoding='UTF-8')</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g.readlines()</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['Hello, world!\n', 'Bacon is not a vegetable.']</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g.read()</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g.seek(0)</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0</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g.readline()</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'Hello, world!\n'</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g.close()</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open('bacon.txt', 'x')</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FileExistsError: [Errno 17] File exists: 'bacon.txt'</a:t>
            </a:r>
            <a:endParaRPr lang="en-US" sz="750" dirty="0"/>
          </a:p>
        </p:txBody>
      </p:sp>
      <p:sp>
        <p:nvSpPr>
          <p:cNvPr id="9" name="Text 7"/>
          <p:cNvSpPr txBox="1"/>
          <p:nvPr/>
        </p:nvSpPr>
        <p:spPr>
          <a:xfrm>
            <a:off x="457200" y="436168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4636008"/>
            <a:ext cx="91440" cy="310896"/>
          </a:xfrm>
          <a:prstGeom prst="rect">
            <a:avLst/>
          </a:prstGeom>
          <a:solidFill>
            <a:srgbClr val="D97A14"/>
          </a:solidFill>
          <a:ln w="12700">
            <a:solidFill>
              <a:srgbClr val="D97A14"/>
            </a:solidFill>
            <a:prstDash val="solid"/>
          </a:ln>
        </p:spPr>
      </p:sp>
      <p:sp>
        <p:nvSpPr>
          <p:cNvPr id="11" name="Text 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open() in mode x fails the moment the file is already there.</a:t>
            </a:r>
            <a:endParaRPr lang="en-US" sz="1350" dirty="0"/>
          </a:p>
        </p:txBody>
      </p:sp>
      <p:sp>
        <p:nvSpPr>
          <p:cNvPr id="12" name="Text 1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24</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UTF-8, designed on a 1992 diner placemat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1992-09</a:t>
            </a:r>
            <a:endParaRPr lang="en-US" sz="1300" dirty="0"/>
          </a:p>
        </p:txBody>
      </p:sp>
      <p:sp>
        <p:nvSpPr>
          <p:cNvPr id="6" name="Shape 4"/>
          <p:cNvSpPr/>
          <p:nvPr/>
        </p:nvSpPr>
        <p:spPr>
          <a:xfrm>
            <a:off x="457200" y="1371600"/>
            <a:ext cx="4114800" cy="2560320"/>
          </a:xfrm>
          <a:prstGeom prst="roundRect">
            <a:avLst>
              <a:gd name="adj" fmla="val 3571"/>
            </a:avLst>
          </a:prstGeom>
          <a:solidFill>
            <a:srgbClr val="F2ECE1"/>
          </a:solidFill>
          <a:ln w="12700">
            <a:solidFill>
              <a:srgbClr val="F2ECE1"/>
            </a:solidFill>
            <a:prstDash val="solid"/>
          </a:ln>
        </p:spPr>
      </p:sp>
      <p:sp>
        <p:nvSpPr>
          <p:cNvPr id="7" name="Text 5"/>
          <p:cNvSpPr txBox="1"/>
          <p:nvPr/>
        </p:nvSpPr>
        <p:spPr>
          <a:xfrm>
            <a:off x="640080" y="1490472"/>
            <a:ext cx="374904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Ken Thompson and Rob Pike</a:t>
            </a:r>
            <a:endParaRPr lang="en-US" sz="1600" dirty="0"/>
          </a:p>
        </p:txBody>
      </p:sp>
      <p:sp>
        <p:nvSpPr>
          <p:cNvPr id="8" name="Text 6"/>
          <p:cNvSpPr txBox="1"/>
          <p:nvPr/>
        </p:nvSpPr>
        <p:spPr>
          <a:xfrm>
            <a:off x="640080" y="1874520"/>
            <a:ext cx="3749040" cy="1920240"/>
          </a:xfrm>
          <a:prstGeom prst="rect">
            <a:avLst/>
          </a:prstGeom>
          <a:noFill/>
          <a:ln/>
        </p:spPr>
        <p:txBody>
          <a:bodyPr wrap="square" lIns="0" tIns="0" rIns="0" bIns="0" rtlCol="0" anchor="t"/>
          <a:lstStyle/>
          <a:p>
            <a:pPr indent="0" marL="0">
              <a:buNone/>
            </a:pPr>
            <a:r>
              <a:rPr lang="en-US" sz="1250" dirty="0">
                <a:solidFill>
                  <a:srgbClr val="2B2622"/>
                </a:solidFill>
                <a:latin typeface="Calibri" pitchFamily="34" charset="0"/>
                <a:ea typeface="Calibri" pitchFamily="34" charset="-122"/>
                <a:cs typeface="Calibri" pitchFamily="34" charset="-120"/>
              </a:rPr>
              <a:t>Rob Pike: UTF-8 was 'designed, in front of my eyes, on a placemat in a New Jersey diner' in September 1992, Thompson working out the bit-packing by hand; Plan 9 ran on it within the week.</a:t>
            </a:r>
            <a:endParaRPr lang="en-US" sz="1250" dirty="0"/>
          </a:p>
        </p:txBody>
      </p:sp>
      <p:sp>
        <p:nvSpPr>
          <p:cNvPr id="9" name="Shape 7"/>
          <p:cNvSpPr/>
          <p:nvPr/>
        </p:nvSpPr>
        <p:spPr>
          <a:xfrm>
            <a:off x="4846320" y="1627632"/>
            <a:ext cx="128016" cy="128016"/>
          </a:xfrm>
          <a:prstGeom prst="diamond">
            <a:avLst/>
          </a:prstGeom>
          <a:solidFill>
            <a:srgbClr val="D97A14"/>
          </a:solidFill>
          <a:ln w="12700">
            <a:solidFill>
              <a:srgbClr val="D97A14"/>
            </a:solidFill>
            <a:prstDash val="solid"/>
          </a:ln>
        </p:spPr>
      </p:sp>
      <p:sp>
        <p:nvSpPr>
          <p:cNvPr id="10" name="Text 8"/>
          <p:cNvSpPr txBox="1"/>
          <p:nvPr/>
        </p:nvSpPr>
        <p:spPr>
          <a:xfrm>
            <a:off x="5120640" y="1371600"/>
            <a:ext cx="3566160" cy="6400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4 Sep 1992: first working Plan 9 code</a:t>
            </a:r>
            <a:endParaRPr lang="en-US" sz="1200" dirty="0"/>
          </a:p>
        </p:txBody>
      </p:sp>
      <p:sp>
        <p:nvSpPr>
          <p:cNvPr id="11" name="Shape 9"/>
          <p:cNvSpPr/>
          <p:nvPr/>
        </p:nvSpPr>
        <p:spPr>
          <a:xfrm>
            <a:off x="4846320" y="2267712"/>
            <a:ext cx="128016" cy="128016"/>
          </a:xfrm>
          <a:prstGeom prst="diamond">
            <a:avLst/>
          </a:prstGeom>
          <a:solidFill>
            <a:srgbClr val="D97A14"/>
          </a:solidFill>
          <a:ln w="12700">
            <a:solidFill>
              <a:srgbClr val="D97A14"/>
            </a:solidFill>
            <a:prstDash val="solid"/>
          </a:ln>
        </p:spPr>
      </p:sp>
      <p:sp>
        <p:nvSpPr>
          <p:cNvPr id="12" name="Text 10"/>
          <p:cNvSpPr txBox="1"/>
          <p:nvPr/>
        </p:nvSpPr>
        <p:spPr>
          <a:xfrm>
            <a:off x="5120640" y="2011680"/>
            <a:ext cx="3566160" cy="6400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8 Sep 1992: proposal mailed to X/Open</a:t>
            </a:r>
            <a:endParaRPr lang="en-US" sz="1200" dirty="0"/>
          </a:p>
        </p:txBody>
      </p:sp>
      <p:sp>
        <p:nvSpPr>
          <p:cNvPr id="13" name="Shape 11"/>
          <p:cNvSpPr/>
          <p:nvPr/>
        </p:nvSpPr>
        <p:spPr>
          <a:xfrm>
            <a:off x="4846320" y="2907792"/>
            <a:ext cx="128016" cy="128016"/>
          </a:xfrm>
          <a:prstGeom prst="diamond">
            <a:avLst/>
          </a:prstGeom>
          <a:solidFill>
            <a:srgbClr val="D97A14"/>
          </a:solidFill>
          <a:ln w="12700">
            <a:solidFill>
              <a:srgbClr val="D97A14"/>
            </a:solidFill>
            <a:prstDash val="solid"/>
          </a:ln>
        </p:spPr>
      </p:sp>
      <p:sp>
        <p:nvSpPr>
          <p:cNvPr id="14" name="Text 12"/>
          <p:cNvSpPr txBox="1"/>
          <p:nvPr/>
        </p:nvSpPr>
        <p:spPr>
          <a:xfrm>
            <a:off x="5120640" y="2651760"/>
            <a:ext cx="3566160" cy="6400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Bell Labs, Murray Hill, New Jersey</a:t>
            </a:r>
            <a:endParaRPr lang="en-US" sz="1200" dirty="0"/>
          </a:p>
        </p:txBody>
      </p:sp>
      <p:sp>
        <p:nvSpPr>
          <p:cNvPr id="15" name="Shape 13"/>
          <p:cNvSpPr/>
          <p:nvPr/>
        </p:nvSpPr>
        <p:spPr>
          <a:xfrm>
            <a:off x="4846320" y="3547872"/>
            <a:ext cx="128016" cy="128016"/>
          </a:xfrm>
          <a:prstGeom prst="diamond">
            <a:avLst/>
          </a:prstGeom>
          <a:solidFill>
            <a:srgbClr val="D97A14"/>
          </a:solidFill>
          <a:ln w="12700">
            <a:solidFill>
              <a:srgbClr val="D97A14"/>
            </a:solidFill>
            <a:prstDash val="solid"/>
          </a:ln>
        </p:spPr>
      </p:sp>
      <p:sp>
        <p:nvSpPr>
          <p:cNvPr id="16" name="Text 14"/>
          <p:cNvSpPr txBox="1"/>
          <p:nvPr/>
        </p:nvSpPr>
        <p:spPr>
          <a:xfrm>
            <a:off x="5120640" y="3291840"/>
            <a:ext cx="3566160" cy="6400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'utf-8' in open() names this one dinner</a:t>
            </a:r>
            <a:endParaRPr lang="en-US" sz="1200" dirty="0"/>
          </a:p>
        </p:txBody>
      </p:sp>
      <p:sp>
        <p:nvSpPr>
          <p:cNvPr id="17" name="Shape 15"/>
          <p:cNvSpPr/>
          <p:nvPr/>
        </p:nvSpPr>
        <p:spPr>
          <a:xfrm>
            <a:off x="457200" y="4041648"/>
            <a:ext cx="2449129" cy="365760"/>
          </a:xfrm>
          <a:prstGeom prst="roundRect">
            <a:avLst>
              <a:gd name="adj" fmla="val 50000"/>
            </a:avLst>
          </a:prstGeom>
          <a:solidFill>
            <a:srgbClr val="EFE9DC"/>
          </a:solidFill>
          <a:ln w="9525">
            <a:solidFill>
              <a:srgbClr val="DFD6C7"/>
            </a:solidFill>
            <a:prstDash val="solid"/>
          </a:ln>
        </p:spPr>
      </p:sp>
      <p:sp>
        <p:nvSpPr>
          <p:cNvPr id="18" name="Text 16"/>
          <p:cNvSpPr txBox="1"/>
          <p:nvPr/>
        </p:nvSpPr>
        <p:spPr>
          <a:xfrm>
            <a:off x="548640"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Ken Thompson and Rob Pike</a:t>
            </a:r>
            <a:endParaRPr lang="en-US" sz="750" dirty="0"/>
          </a:p>
        </p:txBody>
      </p:sp>
      <p:sp>
        <p:nvSpPr>
          <p:cNvPr id="19" name="Shape 17"/>
          <p:cNvSpPr/>
          <p:nvPr/>
        </p:nvSpPr>
        <p:spPr>
          <a:xfrm>
            <a:off x="3016057" y="4041648"/>
            <a:ext cx="2449129" cy="365760"/>
          </a:xfrm>
          <a:prstGeom prst="roundRect">
            <a:avLst>
              <a:gd name="adj" fmla="val 50000"/>
            </a:avLst>
          </a:prstGeom>
          <a:solidFill>
            <a:srgbClr val="EFE9DC"/>
          </a:solidFill>
          <a:ln w="9525">
            <a:solidFill>
              <a:srgbClr val="DFD6C7"/>
            </a:solidFill>
            <a:prstDash val="solid"/>
          </a:ln>
        </p:spPr>
      </p:sp>
      <p:sp>
        <p:nvSpPr>
          <p:cNvPr id="20" name="Text 18"/>
          <p:cNvSpPr txBox="1"/>
          <p:nvPr/>
        </p:nvSpPr>
        <p:spPr>
          <a:xfrm>
            <a:off x="3107497"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a diner in New Jersey, and Bell Labs, …</a:t>
            </a:r>
            <a:endParaRPr lang="en-US" sz="750" dirty="0"/>
          </a:p>
        </p:txBody>
      </p:sp>
      <p:sp>
        <p:nvSpPr>
          <p:cNvPr id="21" name="Shape 19"/>
          <p:cNvSpPr/>
          <p:nvPr/>
        </p:nvSpPr>
        <p:spPr>
          <a:xfrm>
            <a:off x="5574914" y="4041648"/>
            <a:ext cx="1343071" cy="365760"/>
          </a:xfrm>
          <a:prstGeom prst="roundRect">
            <a:avLst>
              <a:gd name="adj" fmla="val 50000"/>
            </a:avLst>
          </a:prstGeom>
          <a:solidFill>
            <a:srgbClr val="EFE9DC"/>
          </a:solidFill>
          <a:ln w="9525">
            <a:solidFill>
              <a:srgbClr val="DFD6C7"/>
            </a:solidFill>
            <a:prstDash val="solid"/>
          </a:ln>
        </p:spPr>
      </p:sp>
      <p:sp>
        <p:nvSpPr>
          <p:cNvPr id="22" name="Text 20"/>
          <p:cNvSpPr txBox="1"/>
          <p:nvPr/>
        </p:nvSpPr>
        <p:spPr>
          <a:xfrm>
            <a:off x="5666354"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1992-09</a:t>
            </a:r>
            <a:endParaRPr lang="en-US" sz="750" dirty="0"/>
          </a:p>
        </p:txBody>
      </p:sp>
      <p:sp>
        <p:nvSpPr>
          <p:cNvPr id="23" name="Shape 21"/>
          <p:cNvSpPr/>
          <p:nvPr/>
        </p:nvSpPr>
        <p:spPr>
          <a:xfrm>
            <a:off x="7027713" y="4041648"/>
            <a:ext cx="1659087" cy="365760"/>
          </a:xfrm>
          <a:prstGeom prst="roundRect">
            <a:avLst>
              <a:gd name="adj" fmla="val 50000"/>
            </a:avLst>
          </a:prstGeom>
          <a:solidFill>
            <a:srgbClr val="2F6D62"/>
          </a:solidFill>
          <a:ln w="9525">
            <a:solidFill>
              <a:srgbClr val="2F6D62"/>
            </a:solidFill>
            <a:prstDash val="solid"/>
          </a:ln>
        </p:spPr>
      </p:sp>
      <p:sp>
        <p:nvSpPr>
          <p:cNvPr id="24" name="Text 22"/>
          <p:cNvSpPr txBox="1"/>
          <p:nvPr/>
        </p:nvSpPr>
        <p:spPr>
          <a:xfrm>
            <a:off x="7119153" y="404164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doc.cat-v.org</a:t>
            </a:r>
            <a:endParaRPr lang="en-US" sz="750" dirty="0"/>
          </a:p>
        </p:txBody>
      </p:sp>
      <p:sp>
        <p:nvSpPr>
          <p:cNvPr id="25" name="Shape 23"/>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'utf-8' in open() names a format from one 1992 dinner.</a:t>
            </a:r>
            <a:endParaRPr lang="en-US" sz="1350" dirty="0"/>
          </a:p>
        </p:txBody>
      </p:sp>
      <p:sp>
        <p:nvSpPr>
          <p:cNvPr id="27" name="Text 2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24</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Text encoding: encoding, newline, and errors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encoding converts bytes to characters; errors decides what happens to a byte it cannot map</a:t>
            </a:r>
            <a:endParaRPr lang="en-US" sz="1300" dirty="0"/>
          </a:p>
        </p:txBody>
      </p:sp>
      <p:sp>
        <p:nvSpPr>
          <p:cNvPr id="6" name="Text 4"/>
          <p:cNvSpPr txBox="1"/>
          <p:nvPr/>
        </p:nvSpPr>
        <p:spPr>
          <a:xfrm>
            <a:off x="457200" y="10972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encoding chooses the byte-to-character map; errors chooses what happens when a byte cannot be mapped</a:t>
            </a:r>
            <a:endParaRPr lang="en-US" sz="1150" dirty="0"/>
          </a:p>
        </p:txBody>
      </p:sp>
      <p:sp>
        <p:nvSpPr>
          <p:cNvPr id="7" name="Shape 5"/>
          <p:cNvSpPr/>
          <p:nvPr/>
        </p:nvSpPr>
        <p:spPr>
          <a:xfrm>
            <a:off x="457200" y="1371600"/>
            <a:ext cx="8229600" cy="2340864"/>
          </a:xfrm>
          <a:prstGeom prst="roundRect">
            <a:avLst>
              <a:gd name="adj" fmla="val 3906"/>
            </a:avLst>
          </a:prstGeom>
          <a:solidFill>
            <a:srgbClr val="23272E"/>
          </a:solidFill>
          <a:ln w="12700">
            <a:solidFill>
              <a:srgbClr val="23272E"/>
            </a:solidFill>
            <a:prstDash val="solid"/>
          </a:ln>
        </p:spPr>
      </p:sp>
      <p:sp>
        <p:nvSpPr>
          <p:cNvPr id="8" name="Text 6"/>
          <p:cNvSpPr txBox="1"/>
          <p:nvPr/>
        </p:nvSpPr>
        <p:spPr>
          <a:xfrm>
            <a:off x="640080" y="1490472"/>
            <a:ext cx="7863840" cy="2103120"/>
          </a:xfrm>
          <a:prstGeom prst="rect">
            <a:avLst/>
          </a:prstGeom>
          <a:noFill/>
          <a:ln/>
        </p:spPr>
        <p:txBody>
          <a:bodyPr wrap="square" lIns="0" tIns="0" rIns="0" bIns="0" rtlCol="0" anchor="t"/>
          <a:lstStyle/>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import os, shutil; shutil.rmtree('/tmp/ch10_lab', ignore_errors=True); os.makedirs('/tmp/ch10_lab'); os.chdir('/tmp/ch10_lab')</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from pathlib import Path</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open('a.txt', 'wb').write('caf\u00e9'.encode('utf-8'))</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5</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open('a.txt', encoding='utf-8').read()</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'café'</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open('a.txt', encoding='ascii').read()</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UnicodeDecodeError: 'ascii' codec can't decode byte 0xc3 in position 3: ordinal not in range(128)</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open('a.txt', encoding='ascii', errors='replace').read()</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'caf��'</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Path('n.txt').write_text('a\nb', newline='\r\n')</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3</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Path('n.txt').read_bytes()</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b'a\r\nb'</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Path('n.txt').read_text(newline='')</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'a\r\nb'</a:t>
            </a:r>
            <a:endParaRPr lang="en-US" sz="750" dirty="0"/>
          </a:p>
        </p:txBody>
      </p:sp>
      <p:sp>
        <p:nvSpPr>
          <p:cNvPr id="9" name="Text 7"/>
          <p:cNvSpPr txBox="1"/>
          <p:nvPr/>
        </p:nvSpPr>
        <p:spPr>
          <a:xfrm>
            <a:off x="457200" y="3730752"/>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4636008"/>
            <a:ext cx="91440" cy="310896"/>
          </a:xfrm>
          <a:prstGeom prst="rect">
            <a:avLst/>
          </a:prstGeom>
          <a:solidFill>
            <a:srgbClr val="D97A14"/>
          </a:solidFill>
          <a:ln w="12700">
            <a:solidFill>
              <a:srgbClr val="D97A14"/>
            </a:solidFill>
            <a:prstDash val="solid"/>
          </a:ln>
        </p:spPr>
      </p:sp>
      <p:sp>
        <p:nvSpPr>
          <p:cNvPr id="11" name="Text 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ascii cannot decode a byte above 127; errors='replace' papers over it.</a:t>
            </a:r>
            <a:endParaRPr lang="en-US" sz="1350" dirty="0"/>
          </a:p>
        </p:txBody>
      </p:sp>
      <p:sp>
        <p:nvSpPr>
          <p:cNvPr id="12" name="Text 1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24</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Automatic closing: the with statement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with closes a file however its block ends; a closed file raises ValueError if used again</a:t>
            </a:r>
            <a:endParaRPr lang="en-US" sz="1300" dirty="0"/>
          </a:p>
        </p:txBody>
      </p:sp>
      <p:sp>
        <p:nvSpPr>
          <p:cNvPr id="6" name="Text 4"/>
          <p:cNvSpPr txBox="1"/>
          <p:nvPr/>
        </p:nvSpPr>
        <p:spPr>
          <a:xfrm>
            <a:off x="457200" y="10972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 with statement closes the file on every way out of its block, even an exception</a:t>
            </a:r>
            <a:endParaRPr lang="en-US" sz="1150" dirty="0"/>
          </a:p>
        </p:txBody>
      </p:sp>
      <p:sp>
        <p:nvSpPr>
          <p:cNvPr id="7" name="Shape 5"/>
          <p:cNvSpPr/>
          <p:nvPr/>
        </p:nvSpPr>
        <p:spPr>
          <a:xfrm>
            <a:off x="457200" y="1371600"/>
            <a:ext cx="8229600" cy="1088136"/>
          </a:xfrm>
          <a:prstGeom prst="roundRect">
            <a:avLst>
              <a:gd name="adj" fmla="val 8403"/>
            </a:avLst>
          </a:prstGeom>
          <a:solidFill>
            <a:srgbClr val="23272E"/>
          </a:solidFill>
          <a:ln w="12700">
            <a:solidFill>
              <a:srgbClr val="23272E"/>
            </a:solidFill>
            <a:prstDash val="solid"/>
          </a:ln>
        </p:spPr>
      </p:sp>
      <p:sp>
        <p:nvSpPr>
          <p:cNvPr id="8" name="Text 6"/>
          <p:cNvSpPr txBox="1"/>
          <p:nvPr/>
        </p:nvSpPr>
        <p:spPr>
          <a:xfrm>
            <a:off x="640080" y="1490472"/>
            <a:ext cx="7863840" cy="850392"/>
          </a:xfrm>
          <a:prstGeom prst="rect">
            <a:avLst/>
          </a:prstGeom>
          <a:noFill/>
          <a:ln/>
        </p:spPr>
        <p:txBody>
          <a:bodyPr wrap="square" lIns="0" tIns="0" rIns="0" bIns="0" rtlCol="0" anchor="t"/>
          <a:lstStyle/>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import os, shutil; shutil.rmtree('/tmp/ch10_lab', ignore_errors=True); os.makedirs('/tmp/ch10_lab'); os.chdir('/tmp/ch10_lab')</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with open('data.txt', 'w', encoding='UTF-8') as file_obj: file_obj.write('abc')</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file_obj.closed</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True</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file_obj.write('more')</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ValueError: I/O operation on closed file.</a:t>
            </a:r>
            <a:endParaRPr lang="en-US" sz="750" dirty="0"/>
          </a:p>
        </p:txBody>
      </p:sp>
      <p:sp>
        <p:nvSpPr>
          <p:cNvPr id="9" name="Text 7"/>
          <p:cNvSpPr txBox="1"/>
          <p:nvPr/>
        </p:nvSpPr>
        <p:spPr>
          <a:xfrm>
            <a:off x="457200" y="2478024"/>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2807208"/>
            <a:ext cx="8229600" cy="1719072"/>
          </a:xfrm>
          <a:prstGeom prst="roundRect">
            <a:avLst>
              <a:gd name="adj" fmla="val 5319"/>
            </a:avLst>
          </a:prstGeom>
          <a:solidFill>
            <a:srgbClr val="F2ECE1"/>
          </a:solidFill>
          <a:ln w="12700">
            <a:solidFill>
              <a:srgbClr val="F2ECE1"/>
            </a:solidFill>
            <a:prstDash val="solid"/>
          </a:ln>
        </p:spPr>
      </p:sp>
      <p:sp>
        <p:nvSpPr>
          <p:cNvPr id="11" name="Text 9"/>
          <p:cNvSpPr txBox="1"/>
          <p:nvPr/>
        </p:nvSpPr>
        <p:spPr>
          <a:xfrm>
            <a:off x="640080" y="2926080"/>
            <a:ext cx="786384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Why with, not close()</a:t>
            </a:r>
            <a:endParaRPr lang="en-US" sz="1600" dirty="0"/>
          </a:p>
        </p:txBody>
      </p:sp>
      <p:sp>
        <p:nvSpPr>
          <p:cNvPr id="12" name="Text 10"/>
          <p:cNvSpPr txBox="1"/>
          <p:nvPr/>
        </p:nvSpPr>
        <p:spPr>
          <a:xfrm>
            <a:off x="640080" y="3310128"/>
            <a:ext cx="7863840" cy="1078992"/>
          </a:xfrm>
          <a:prstGeom prst="rect">
            <a:avLst/>
          </a:prstGeom>
          <a:noFill/>
          <a:ln/>
        </p:spPr>
        <p:txBody>
          <a:bodyPr wrap="square" lIns="0" tIns="0" rIns="0" bIns="0" rtlCol="0" anchor="t"/>
          <a:lstStyle/>
          <a:p>
            <a:pPr indent="0" marL="0">
              <a:buNone/>
            </a:pPr>
            <a:r>
              <a:rPr lang="en-US" sz="1200" dirty="0">
                <a:solidFill>
                  <a:srgbClr val="2B2622"/>
                </a:solidFill>
                <a:latin typeface="Calibri" pitchFamily="34" charset="0"/>
                <a:ea typeface="Calibri" pitchFamily="34" charset="-122"/>
                <a:cs typeface="Calibri" pitchFamily="34" charset="-120"/>
              </a:rPr>
              <a:t>A with statement's own __exit__ method is guaranteed to run once its __enter__ has returned, whether the block ends normally, returns early, or raises - a guarantee a bare close() call placed by hand can always be skipped by an exception in between.</a:t>
            </a:r>
            <a:endParaRPr lang="en-US" sz="1200" dirty="0"/>
          </a:p>
        </p:txBody>
      </p:sp>
      <p:sp>
        <p:nvSpPr>
          <p:cNvPr id="13" name="Shape 11"/>
          <p:cNvSpPr/>
          <p:nvPr/>
        </p:nvSpPr>
        <p:spPr>
          <a:xfrm>
            <a:off x="457200" y="4636008"/>
            <a:ext cx="91440" cy="310896"/>
          </a:xfrm>
          <a:prstGeom prst="rect">
            <a:avLst/>
          </a:prstGeom>
          <a:solidFill>
            <a:srgbClr val="D97A14"/>
          </a:solidFill>
          <a:ln w="12700">
            <a:solidFill>
              <a:srgbClr val="D97A14"/>
            </a:solidFill>
            <a:prstDash val="solid"/>
          </a:ln>
        </p:spPr>
      </p:sp>
      <p:sp>
        <p:nvSpPr>
          <p:cNvPr id="14" name="Text 1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with block's file is closed on every way out, even an exception.</a:t>
            </a:r>
            <a:endParaRPr lang="en-US" sz="1350" dirty="0"/>
          </a:p>
        </p:txBody>
      </p:sp>
      <p:sp>
        <p:nvSpPr>
          <p:cNvPr id="15"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24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file format behind a shelf is a 1979 idea</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1979</a:t>
            </a:r>
            <a:endParaRPr lang="en-US" sz="1300" dirty="0"/>
          </a:p>
        </p:txBody>
      </p:sp>
      <p:sp>
        <p:nvSpPr>
          <p:cNvPr id="6" name="Shape 4"/>
          <p:cNvSpPr/>
          <p:nvPr/>
        </p:nvSpPr>
        <p:spPr>
          <a:xfrm>
            <a:off x="457200" y="1371600"/>
            <a:ext cx="4114800" cy="2560320"/>
          </a:xfrm>
          <a:prstGeom prst="roundRect">
            <a:avLst>
              <a:gd name="adj" fmla="val 3571"/>
            </a:avLst>
          </a:prstGeom>
          <a:solidFill>
            <a:srgbClr val="F2ECE1"/>
          </a:solidFill>
          <a:ln w="12700">
            <a:solidFill>
              <a:srgbClr val="F2ECE1"/>
            </a:solidFill>
            <a:prstDash val="solid"/>
          </a:ln>
        </p:spPr>
      </p:sp>
      <p:sp>
        <p:nvSpPr>
          <p:cNvPr id="7" name="Text 5"/>
          <p:cNvSpPr txBox="1"/>
          <p:nvPr/>
        </p:nvSpPr>
        <p:spPr>
          <a:xfrm>
            <a:off x="640080" y="1490472"/>
            <a:ext cx="374904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Ken Thompson, dbm</a:t>
            </a:r>
            <a:endParaRPr lang="en-US" sz="1600" dirty="0"/>
          </a:p>
        </p:txBody>
      </p:sp>
      <p:sp>
        <p:nvSpPr>
          <p:cNvPr id="8" name="Text 6"/>
          <p:cNvSpPr txBox="1"/>
          <p:nvPr/>
        </p:nvSpPr>
        <p:spPr>
          <a:xfrm>
            <a:off x="640080" y="1874520"/>
            <a:ext cx="3749040" cy="1920240"/>
          </a:xfrm>
          <a:prstGeom prst="rect">
            <a:avLst/>
          </a:prstGeom>
          <a:noFill/>
          <a:ln/>
        </p:spPr>
        <p:txBody>
          <a:bodyPr wrap="square" lIns="0" tIns="0" rIns="0" bIns="0" rtlCol="0" anchor="t"/>
          <a:lstStyle/>
          <a:p>
            <a:pPr indent="0" marL="0">
              <a:buNone/>
            </a:pPr>
            <a:r>
              <a:rPr lang="en-US" sz="1250" dirty="0">
                <a:solidFill>
                  <a:srgbClr val="2B2622"/>
                </a:solidFill>
                <a:latin typeface="Calibri" pitchFamily="34" charset="0"/>
                <a:ea typeface="Calibri" pitchFamily="34" charset="-122"/>
                <a:cs typeface="Calibri" pitchFamily="34" charset="-120"/>
              </a:rPr>
              <a:t>AT&amp;T released dbm, written by Ken Thompson, in 1979: a key-value file with no query language and no server at all, exactly the shape shelve.open() still presents today.</a:t>
            </a:r>
            <a:endParaRPr lang="en-US" sz="1250" dirty="0"/>
          </a:p>
        </p:txBody>
      </p:sp>
      <p:sp>
        <p:nvSpPr>
          <p:cNvPr id="9" name="Shape 7"/>
          <p:cNvSpPr/>
          <p:nvPr/>
        </p:nvSpPr>
        <p:spPr>
          <a:xfrm>
            <a:off x="4846320" y="1627632"/>
            <a:ext cx="128016" cy="128016"/>
          </a:xfrm>
          <a:prstGeom prst="diamond">
            <a:avLst/>
          </a:prstGeom>
          <a:solidFill>
            <a:srgbClr val="D97A14"/>
          </a:solidFill>
          <a:ln w="12700">
            <a:solidFill>
              <a:srgbClr val="D97A14"/>
            </a:solidFill>
            <a:prstDash val="solid"/>
          </a:ln>
        </p:spPr>
      </p:sp>
      <p:sp>
        <p:nvSpPr>
          <p:cNvPr id="10" name="Text 8"/>
          <p:cNvSpPr txBox="1"/>
          <p:nvPr/>
        </p:nvSpPr>
        <p:spPr>
          <a:xfrm>
            <a:off x="5120640" y="1371600"/>
            <a:ext cx="3566160" cy="6400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1979: dbm, Ken Thompson, AT&amp;T Bell Labs</a:t>
            </a:r>
            <a:endParaRPr lang="en-US" sz="1200" dirty="0"/>
          </a:p>
        </p:txBody>
      </p:sp>
      <p:sp>
        <p:nvSpPr>
          <p:cNvPr id="11" name="Shape 9"/>
          <p:cNvSpPr/>
          <p:nvPr/>
        </p:nvSpPr>
        <p:spPr>
          <a:xfrm>
            <a:off x="4846320" y="2267712"/>
            <a:ext cx="128016" cy="128016"/>
          </a:xfrm>
          <a:prstGeom prst="diamond">
            <a:avLst/>
          </a:prstGeom>
          <a:solidFill>
            <a:srgbClr val="D97A14"/>
          </a:solidFill>
          <a:ln w="12700">
            <a:solidFill>
              <a:srgbClr val="D97A14"/>
            </a:solidFill>
            <a:prstDash val="solid"/>
          </a:ln>
        </p:spPr>
      </p:sp>
      <p:sp>
        <p:nvSpPr>
          <p:cNvPr id="12" name="Text 10"/>
          <p:cNvSpPr txBox="1"/>
          <p:nvPr/>
        </p:nvSpPr>
        <p:spPr>
          <a:xfrm>
            <a:off x="5120640" y="2011680"/>
            <a:ext cx="3566160" cy="6400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1991: Berkeley DB, a ndbm replacement</a:t>
            </a:r>
            <a:endParaRPr lang="en-US" sz="1200" dirty="0"/>
          </a:p>
        </p:txBody>
      </p:sp>
      <p:sp>
        <p:nvSpPr>
          <p:cNvPr id="13" name="Shape 11"/>
          <p:cNvSpPr/>
          <p:nvPr/>
        </p:nvSpPr>
        <p:spPr>
          <a:xfrm>
            <a:off x="4846320" y="2907792"/>
            <a:ext cx="128016" cy="128016"/>
          </a:xfrm>
          <a:prstGeom prst="diamond">
            <a:avLst/>
          </a:prstGeom>
          <a:solidFill>
            <a:srgbClr val="D97A14"/>
          </a:solidFill>
          <a:ln w="12700">
            <a:solidFill>
              <a:srgbClr val="D97A14"/>
            </a:solidFill>
            <a:prstDash val="solid"/>
          </a:ln>
        </p:spPr>
      </p:sp>
      <p:sp>
        <p:nvSpPr>
          <p:cNvPr id="14" name="Text 12"/>
          <p:cNvSpPr txBox="1"/>
          <p:nvPr/>
        </p:nvSpPr>
        <p:spPr>
          <a:xfrm>
            <a:off x="5120640" y="2651760"/>
            <a:ext cx="3566160" cy="6400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Python's dbm picks a backend at run time</a:t>
            </a:r>
            <a:endParaRPr lang="en-US" sz="1200" dirty="0"/>
          </a:p>
        </p:txBody>
      </p:sp>
      <p:sp>
        <p:nvSpPr>
          <p:cNvPr id="15" name="Shape 13"/>
          <p:cNvSpPr/>
          <p:nvPr/>
        </p:nvSpPr>
        <p:spPr>
          <a:xfrm>
            <a:off x="4846320" y="3547872"/>
            <a:ext cx="128016" cy="128016"/>
          </a:xfrm>
          <a:prstGeom prst="diamond">
            <a:avLst/>
          </a:prstGeom>
          <a:solidFill>
            <a:srgbClr val="D97A14"/>
          </a:solidFill>
          <a:ln w="12700">
            <a:solidFill>
              <a:srgbClr val="D97A14"/>
            </a:solidFill>
            <a:prstDash val="solid"/>
          </a:ln>
        </p:spPr>
      </p:sp>
      <p:sp>
        <p:nvSpPr>
          <p:cNvPr id="16" name="Text 14"/>
          <p:cNvSpPr txBox="1"/>
          <p:nvPr/>
        </p:nvSpPr>
        <p:spPr>
          <a:xfrm>
            <a:off x="5120640" y="3291840"/>
            <a:ext cx="3566160" cy="6400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A shelf's one-key-one-value shape is 1979's</a:t>
            </a:r>
            <a:endParaRPr lang="en-US" sz="1200" dirty="0"/>
          </a:p>
        </p:txBody>
      </p:sp>
      <p:sp>
        <p:nvSpPr>
          <p:cNvPr id="17" name="Shape 15"/>
          <p:cNvSpPr/>
          <p:nvPr/>
        </p:nvSpPr>
        <p:spPr>
          <a:xfrm>
            <a:off x="457200" y="4041648"/>
            <a:ext cx="2449129" cy="365760"/>
          </a:xfrm>
          <a:prstGeom prst="roundRect">
            <a:avLst>
              <a:gd name="adj" fmla="val 50000"/>
            </a:avLst>
          </a:prstGeom>
          <a:solidFill>
            <a:srgbClr val="EFE9DC"/>
          </a:solidFill>
          <a:ln w="9525">
            <a:solidFill>
              <a:srgbClr val="DFD6C7"/>
            </a:solidFill>
            <a:prstDash val="solid"/>
          </a:ln>
        </p:spPr>
      </p:sp>
      <p:sp>
        <p:nvSpPr>
          <p:cNvPr id="18" name="Text 16"/>
          <p:cNvSpPr txBox="1"/>
          <p:nvPr/>
        </p:nvSpPr>
        <p:spPr>
          <a:xfrm>
            <a:off x="548640"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Ken Thompson</a:t>
            </a:r>
            <a:endParaRPr lang="en-US" sz="750" dirty="0"/>
          </a:p>
        </p:txBody>
      </p:sp>
      <p:sp>
        <p:nvSpPr>
          <p:cNvPr id="19" name="Shape 17"/>
          <p:cNvSpPr/>
          <p:nvPr/>
        </p:nvSpPr>
        <p:spPr>
          <a:xfrm>
            <a:off x="3016057" y="4041648"/>
            <a:ext cx="2449129" cy="365760"/>
          </a:xfrm>
          <a:prstGeom prst="roundRect">
            <a:avLst>
              <a:gd name="adj" fmla="val 50000"/>
            </a:avLst>
          </a:prstGeom>
          <a:solidFill>
            <a:srgbClr val="EFE9DC"/>
          </a:solidFill>
          <a:ln w="9525">
            <a:solidFill>
              <a:srgbClr val="DFD6C7"/>
            </a:solidFill>
            <a:prstDash val="solid"/>
          </a:ln>
        </p:spPr>
      </p:sp>
      <p:sp>
        <p:nvSpPr>
          <p:cNvPr id="20" name="Text 18"/>
          <p:cNvSpPr txBox="1"/>
          <p:nvPr/>
        </p:nvSpPr>
        <p:spPr>
          <a:xfrm>
            <a:off x="3107497"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AT&amp;T Bell Laboratories, Murray Hill, N…</a:t>
            </a:r>
            <a:endParaRPr lang="en-US" sz="750" dirty="0"/>
          </a:p>
        </p:txBody>
      </p:sp>
      <p:sp>
        <p:nvSpPr>
          <p:cNvPr id="21" name="Shape 19"/>
          <p:cNvSpPr/>
          <p:nvPr/>
        </p:nvSpPr>
        <p:spPr>
          <a:xfrm>
            <a:off x="5574914" y="4041648"/>
            <a:ext cx="1343071" cy="365760"/>
          </a:xfrm>
          <a:prstGeom prst="roundRect">
            <a:avLst>
              <a:gd name="adj" fmla="val 50000"/>
            </a:avLst>
          </a:prstGeom>
          <a:solidFill>
            <a:srgbClr val="EFE9DC"/>
          </a:solidFill>
          <a:ln w="9525">
            <a:solidFill>
              <a:srgbClr val="DFD6C7"/>
            </a:solidFill>
            <a:prstDash val="solid"/>
          </a:ln>
        </p:spPr>
      </p:sp>
      <p:sp>
        <p:nvSpPr>
          <p:cNvPr id="22" name="Text 20"/>
          <p:cNvSpPr txBox="1"/>
          <p:nvPr/>
        </p:nvSpPr>
        <p:spPr>
          <a:xfrm>
            <a:off x="5666354"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1979</a:t>
            </a:r>
            <a:endParaRPr lang="en-US" sz="750" dirty="0"/>
          </a:p>
        </p:txBody>
      </p:sp>
      <p:sp>
        <p:nvSpPr>
          <p:cNvPr id="23" name="Shape 21"/>
          <p:cNvSpPr/>
          <p:nvPr/>
        </p:nvSpPr>
        <p:spPr>
          <a:xfrm>
            <a:off x="7027713" y="4041648"/>
            <a:ext cx="1659087" cy="365760"/>
          </a:xfrm>
          <a:prstGeom prst="roundRect">
            <a:avLst>
              <a:gd name="adj" fmla="val 50000"/>
            </a:avLst>
          </a:prstGeom>
          <a:solidFill>
            <a:srgbClr val="2F6D62"/>
          </a:solidFill>
          <a:ln w="9525">
            <a:solidFill>
              <a:srgbClr val="2F6D62"/>
            </a:solidFill>
            <a:prstDash val="solid"/>
          </a:ln>
        </p:spPr>
      </p:sp>
      <p:sp>
        <p:nvSpPr>
          <p:cNvPr id="24" name="Text 22"/>
          <p:cNvSpPr txBox="1"/>
          <p:nvPr/>
        </p:nvSpPr>
        <p:spPr>
          <a:xfrm>
            <a:off x="7119153" y="404164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en.wikipedia.org</a:t>
            </a:r>
            <a:endParaRPr lang="en-US" sz="750" dirty="0"/>
          </a:p>
        </p:txBody>
      </p:sp>
      <p:sp>
        <p:nvSpPr>
          <p:cNvPr id="25" name="Shape 23"/>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shelf's one-key-one-value file dates to Thompson's 1979 dbm.</a:t>
            </a:r>
            <a:endParaRPr lang="en-US" sz="1350" dirty="0"/>
          </a:p>
        </p:txBody>
      </p:sp>
      <p:sp>
        <p:nvSpPr>
          <p:cNvPr id="27" name="Text 2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24</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200" b="1" dirty="0">
                <a:solidFill>
                  <a:srgbClr val="2B2622"/>
                </a:solidFill>
                <a:latin typeface="Cambria" pitchFamily="34" charset="0"/>
                <a:ea typeface="Cambria" pitchFamily="34" charset="-122"/>
                <a:cs typeface="Cambria" pitchFamily="34" charset="-120"/>
              </a:rPr>
              <a:t>Shelves: a dictionary that outlives the program</a:t>
            </a:r>
            <a:endParaRPr lang="en-US" sz="22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shelve.open() behaves like a dictionary; a changed mutable value can still be lost</a:t>
            </a:r>
            <a:endParaRPr lang="en-US" sz="1300" dirty="0"/>
          </a:p>
        </p:txBody>
      </p:sp>
      <p:sp>
        <p:nvSpPr>
          <p:cNvPr id="6" name="Text 4"/>
          <p:cNvSpPr txBox="1"/>
          <p:nvPr/>
        </p:nvSpPr>
        <p:spPr>
          <a:xfrm>
            <a:off x="457200" y="10972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shelve.open() behaves like a dictionary saved to disk; dbm.whichdb() names the backend it chose</a:t>
            </a:r>
            <a:endParaRPr lang="en-US" sz="1150" dirty="0"/>
          </a:p>
        </p:txBody>
      </p:sp>
      <p:sp>
        <p:nvSpPr>
          <p:cNvPr id="7" name="Shape 5"/>
          <p:cNvSpPr/>
          <p:nvPr/>
        </p:nvSpPr>
        <p:spPr>
          <a:xfrm>
            <a:off x="457200" y="1371600"/>
            <a:ext cx="8229600" cy="1965960"/>
          </a:xfrm>
          <a:prstGeom prst="roundRect">
            <a:avLst>
              <a:gd name="adj" fmla="val 4651"/>
            </a:avLst>
          </a:prstGeom>
          <a:solidFill>
            <a:srgbClr val="23272E"/>
          </a:solidFill>
          <a:ln w="12700">
            <a:solidFill>
              <a:srgbClr val="23272E"/>
            </a:solidFill>
            <a:prstDash val="solid"/>
          </a:ln>
        </p:spPr>
      </p:sp>
      <p:sp>
        <p:nvSpPr>
          <p:cNvPr id="8" name="Text 6"/>
          <p:cNvSpPr txBox="1"/>
          <p:nvPr/>
        </p:nvSpPr>
        <p:spPr>
          <a:xfrm>
            <a:off x="640080" y="1490472"/>
            <a:ext cx="7863840" cy="1728216"/>
          </a:xfrm>
          <a:prstGeom prst="rect">
            <a:avLst/>
          </a:prstGeom>
          <a:noFill/>
          <a:ln/>
        </p:spPr>
        <p:txBody>
          <a:bodyPr wrap="square" lIns="0" tIns="0" rIns="0" bIns="0" rtlCol="0" anchor="t"/>
          <a:lstStyle/>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import os, shutil; shutil.rmtree('/tmp/ch10_lab', ignore_errors=True); os.makedirs('/tmp/ch10_lab'); os.chdir('/tmp/ch10_lab')</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import shelve, dbm</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shelf_file = shelve.open('mydata')</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shelf_file['cats'] = ['Zophie', 'Pooka', 'Simon']</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shelf_file.close()</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shelf_file = shelve.open('mydata')</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list(shelf_file.keys())</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['cats']</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shelf_file['cats']</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['Zophie', 'Pooka', 'Simon']</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shelf_file.close()</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dbm.whichdb('mydata')</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'dbm.sqlite3'</a:t>
            </a:r>
            <a:endParaRPr lang="en-US" sz="750" dirty="0"/>
          </a:p>
        </p:txBody>
      </p:sp>
      <p:sp>
        <p:nvSpPr>
          <p:cNvPr id="9" name="Text 7"/>
          <p:cNvSpPr txBox="1"/>
          <p:nvPr/>
        </p:nvSpPr>
        <p:spPr>
          <a:xfrm>
            <a:off x="457200" y="335584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4636008"/>
            <a:ext cx="91440" cy="310896"/>
          </a:xfrm>
          <a:prstGeom prst="rect">
            <a:avLst/>
          </a:prstGeom>
          <a:solidFill>
            <a:srgbClr val="D97A14"/>
          </a:solidFill>
          <a:ln w="12700">
            <a:solidFill>
              <a:srgbClr val="D97A14"/>
            </a:solidFill>
            <a:prstDash val="solid"/>
          </a:ln>
        </p:spPr>
      </p:sp>
      <p:sp>
        <p:nvSpPr>
          <p:cNvPr id="11" name="Text 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shelf never notices a mutable value changed in place, unmarked.</a:t>
            </a:r>
            <a:endParaRPr lang="en-US" sz="1350" dirty="0"/>
          </a:p>
        </p:txBody>
      </p:sp>
      <p:sp>
        <p:nvSpPr>
          <p:cNvPr id="12" name="Text 1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24</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2001 write-up is shelve's plain alternative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2001</a:t>
            </a:r>
            <a:endParaRPr lang="en-US" sz="1300" dirty="0"/>
          </a:p>
        </p:txBody>
      </p:sp>
      <p:sp>
        <p:nvSpPr>
          <p:cNvPr id="6" name="Shape 4"/>
          <p:cNvSpPr/>
          <p:nvPr/>
        </p:nvSpPr>
        <p:spPr>
          <a:xfrm>
            <a:off x="457200" y="1371600"/>
            <a:ext cx="4114800" cy="2560320"/>
          </a:xfrm>
          <a:prstGeom prst="roundRect">
            <a:avLst>
              <a:gd name="adj" fmla="val 3571"/>
            </a:avLst>
          </a:prstGeom>
          <a:solidFill>
            <a:srgbClr val="F2ECE1"/>
          </a:solidFill>
          <a:ln w="12700">
            <a:solidFill>
              <a:srgbClr val="F2ECE1"/>
            </a:solidFill>
            <a:prstDash val="solid"/>
          </a:ln>
        </p:spPr>
      </p:sp>
      <p:sp>
        <p:nvSpPr>
          <p:cNvPr id="7" name="Text 5"/>
          <p:cNvSpPr txBox="1"/>
          <p:nvPr/>
        </p:nvSpPr>
        <p:spPr>
          <a:xfrm>
            <a:off x="640080" y="1490472"/>
            <a:ext cx="374904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Crockford and Morningstar</a:t>
            </a:r>
            <a:endParaRPr lang="en-US" sz="1600" dirty="0"/>
          </a:p>
        </p:txBody>
      </p:sp>
      <p:sp>
        <p:nvSpPr>
          <p:cNvPr id="8" name="Text 6"/>
          <p:cNvSpPr txBox="1"/>
          <p:nvPr/>
        </p:nvSpPr>
        <p:spPr>
          <a:xfrm>
            <a:off x="640080" y="1874520"/>
            <a:ext cx="3749040" cy="1920240"/>
          </a:xfrm>
          <a:prstGeom prst="rect">
            <a:avLst/>
          </a:prstGeom>
          <a:noFill/>
          <a:ln/>
        </p:spPr>
        <p:txBody>
          <a:bodyPr wrap="square" lIns="0" tIns="0" rIns="0" bIns="0" rtlCol="0" anchor="t"/>
          <a:lstStyle/>
          <a:p>
            <a:pPr indent="0" marL="0">
              <a:buNone/>
            </a:pPr>
            <a:r>
              <a:rPr lang="en-US" sz="1200" dirty="0">
                <a:solidFill>
                  <a:srgbClr val="2B2622"/>
                </a:solidFill>
                <a:latin typeface="Calibri" pitchFamily="34" charset="0"/>
                <a:ea typeface="Calibri" pitchFamily="34" charset="-122"/>
                <a:cs typeface="Calibri" pitchFamily="34" charset="-120"/>
              </a:rPr>
              <a:t>At State Software, the two wrote up a minimal, quoted-key format in 2001 so a browser and a server could exchange data without a page reload; Crockford opened json.org on 12 November 2002.</a:t>
            </a:r>
            <a:endParaRPr lang="en-US" sz="1200" dirty="0"/>
          </a:p>
        </p:txBody>
      </p:sp>
      <p:sp>
        <p:nvSpPr>
          <p:cNvPr id="9" name="Shape 7"/>
          <p:cNvSpPr/>
          <p:nvPr/>
        </p:nvSpPr>
        <p:spPr>
          <a:xfrm>
            <a:off x="4846320" y="1627632"/>
            <a:ext cx="128016" cy="128016"/>
          </a:xfrm>
          <a:prstGeom prst="diamond">
            <a:avLst/>
          </a:prstGeom>
          <a:solidFill>
            <a:srgbClr val="D97A14"/>
          </a:solidFill>
          <a:ln w="12700">
            <a:solidFill>
              <a:srgbClr val="D97A14"/>
            </a:solidFill>
            <a:prstDash val="solid"/>
          </a:ln>
        </p:spPr>
      </p:sp>
      <p:sp>
        <p:nvSpPr>
          <p:cNvPr id="10" name="Text 8"/>
          <p:cNvSpPr txBox="1"/>
          <p:nvPr/>
        </p:nvSpPr>
        <p:spPr>
          <a:xfrm>
            <a:off x="5120640" y="1371600"/>
            <a:ext cx="3566160" cy="6400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2001: the format is written up, State Software</a:t>
            </a:r>
            <a:endParaRPr lang="en-US" sz="1200" dirty="0"/>
          </a:p>
        </p:txBody>
      </p:sp>
      <p:sp>
        <p:nvSpPr>
          <p:cNvPr id="11" name="Shape 9"/>
          <p:cNvSpPr/>
          <p:nvPr/>
        </p:nvSpPr>
        <p:spPr>
          <a:xfrm>
            <a:off x="4846320" y="2267712"/>
            <a:ext cx="128016" cy="128016"/>
          </a:xfrm>
          <a:prstGeom prst="diamond">
            <a:avLst/>
          </a:prstGeom>
          <a:solidFill>
            <a:srgbClr val="D97A14"/>
          </a:solidFill>
          <a:ln w="12700">
            <a:solidFill>
              <a:srgbClr val="D97A14"/>
            </a:solidFill>
            <a:prstDash val="solid"/>
          </a:ln>
        </p:spPr>
      </p:sp>
      <p:sp>
        <p:nvSpPr>
          <p:cNvPr id="12" name="Text 10"/>
          <p:cNvSpPr txBox="1"/>
          <p:nvPr/>
        </p:nvSpPr>
        <p:spPr>
          <a:xfrm>
            <a:off x="5120640" y="2011680"/>
            <a:ext cx="3566160" cy="6400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12 Nov 2002: json.org opens</a:t>
            </a:r>
            <a:endParaRPr lang="en-US" sz="1200" dirty="0"/>
          </a:p>
        </p:txBody>
      </p:sp>
      <p:sp>
        <p:nvSpPr>
          <p:cNvPr id="13" name="Shape 11"/>
          <p:cNvSpPr/>
          <p:nvPr/>
        </p:nvSpPr>
        <p:spPr>
          <a:xfrm>
            <a:off x="4846320" y="2907792"/>
            <a:ext cx="128016" cy="128016"/>
          </a:xfrm>
          <a:prstGeom prst="diamond">
            <a:avLst/>
          </a:prstGeom>
          <a:solidFill>
            <a:srgbClr val="D97A14"/>
          </a:solidFill>
          <a:ln w="12700">
            <a:solidFill>
              <a:srgbClr val="D97A14"/>
            </a:solidFill>
            <a:prstDash val="solid"/>
          </a:ln>
        </p:spPr>
      </p:sp>
      <p:sp>
        <p:nvSpPr>
          <p:cNvPr id="14" name="Text 12"/>
          <p:cNvSpPr txBox="1"/>
          <p:nvPr/>
        </p:nvSpPr>
        <p:spPr>
          <a:xfrm>
            <a:off x="5120640" y="2651760"/>
            <a:ext cx="3566160" cy="6400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Designed small enough for a business card</a:t>
            </a:r>
            <a:endParaRPr lang="en-US" sz="1200" dirty="0"/>
          </a:p>
        </p:txBody>
      </p:sp>
      <p:sp>
        <p:nvSpPr>
          <p:cNvPr id="15" name="Shape 13"/>
          <p:cNvSpPr/>
          <p:nvPr/>
        </p:nvSpPr>
        <p:spPr>
          <a:xfrm>
            <a:off x="4846320" y="3547872"/>
            <a:ext cx="128016" cy="128016"/>
          </a:xfrm>
          <a:prstGeom prst="diamond">
            <a:avLst/>
          </a:prstGeom>
          <a:solidFill>
            <a:srgbClr val="D97A14"/>
          </a:solidFill>
          <a:ln w="12700">
            <a:solidFill>
              <a:srgbClr val="D97A14"/>
            </a:solidFill>
            <a:prstDash val="solid"/>
          </a:ln>
        </p:spPr>
      </p:sp>
      <p:sp>
        <p:nvSpPr>
          <p:cNvPr id="16" name="Text 14"/>
          <p:cNvSpPr txBox="1"/>
          <p:nvPr/>
        </p:nvSpPr>
        <p:spPr>
          <a:xfrm>
            <a:off x="5120640" y="3291840"/>
            <a:ext cx="3566160" cy="6400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json.dump/load replace shelve's own pickle</a:t>
            </a:r>
            <a:endParaRPr lang="en-US" sz="1200" dirty="0"/>
          </a:p>
        </p:txBody>
      </p:sp>
      <p:sp>
        <p:nvSpPr>
          <p:cNvPr id="17" name="Shape 15"/>
          <p:cNvSpPr/>
          <p:nvPr/>
        </p:nvSpPr>
        <p:spPr>
          <a:xfrm>
            <a:off x="457200" y="4041648"/>
            <a:ext cx="2449129" cy="365760"/>
          </a:xfrm>
          <a:prstGeom prst="roundRect">
            <a:avLst>
              <a:gd name="adj" fmla="val 50000"/>
            </a:avLst>
          </a:prstGeom>
          <a:solidFill>
            <a:srgbClr val="EFE9DC"/>
          </a:solidFill>
          <a:ln w="9525">
            <a:solidFill>
              <a:srgbClr val="DFD6C7"/>
            </a:solidFill>
            <a:prstDash val="solid"/>
          </a:ln>
        </p:spPr>
      </p:sp>
      <p:sp>
        <p:nvSpPr>
          <p:cNvPr id="18" name="Text 16"/>
          <p:cNvSpPr txBox="1"/>
          <p:nvPr/>
        </p:nvSpPr>
        <p:spPr>
          <a:xfrm>
            <a:off x="548640"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Douglas Crockford and Chip Morningstar</a:t>
            </a:r>
            <a:endParaRPr lang="en-US" sz="750" dirty="0"/>
          </a:p>
        </p:txBody>
      </p:sp>
      <p:sp>
        <p:nvSpPr>
          <p:cNvPr id="19" name="Shape 17"/>
          <p:cNvSpPr/>
          <p:nvPr/>
        </p:nvSpPr>
        <p:spPr>
          <a:xfrm>
            <a:off x="3016057" y="4041648"/>
            <a:ext cx="2449129" cy="365760"/>
          </a:xfrm>
          <a:prstGeom prst="roundRect">
            <a:avLst>
              <a:gd name="adj" fmla="val 50000"/>
            </a:avLst>
          </a:prstGeom>
          <a:solidFill>
            <a:srgbClr val="EFE9DC"/>
          </a:solidFill>
          <a:ln w="9525">
            <a:solidFill>
              <a:srgbClr val="DFD6C7"/>
            </a:solidFill>
            <a:prstDash val="solid"/>
          </a:ln>
        </p:spPr>
      </p:sp>
      <p:sp>
        <p:nvSpPr>
          <p:cNvPr id="20" name="Text 18"/>
          <p:cNvSpPr txBox="1"/>
          <p:nvPr/>
        </p:nvSpPr>
        <p:spPr>
          <a:xfrm>
            <a:off x="3107497"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State Software, a consulting firm in C…</a:t>
            </a:r>
            <a:endParaRPr lang="en-US" sz="750" dirty="0"/>
          </a:p>
        </p:txBody>
      </p:sp>
      <p:sp>
        <p:nvSpPr>
          <p:cNvPr id="21" name="Shape 19"/>
          <p:cNvSpPr/>
          <p:nvPr/>
        </p:nvSpPr>
        <p:spPr>
          <a:xfrm>
            <a:off x="5574914" y="4041648"/>
            <a:ext cx="1343071" cy="365760"/>
          </a:xfrm>
          <a:prstGeom prst="roundRect">
            <a:avLst>
              <a:gd name="adj" fmla="val 50000"/>
            </a:avLst>
          </a:prstGeom>
          <a:solidFill>
            <a:srgbClr val="EFE9DC"/>
          </a:solidFill>
          <a:ln w="9525">
            <a:solidFill>
              <a:srgbClr val="DFD6C7"/>
            </a:solidFill>
            <a:prstDash val="solid"/>
          </a:ln>
        </p:spPr>
      </p:sp>
      <p:sp>
        <p:nvSpPr>
          <p:cNvPr id="22" name="Text 20"/>
          <p:cNvSpPr txBox="1"/>
          <p:nvPr/>
        </p:nvSpPr>
        <p:spPr>
          <a:xfrm>
            <a:off x="5666354"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2001</a:t>
            </a:r>
            <a:endParaRPr lang="en-US" sz="750" dirty="0"/>
          </a:p>
        </p:txBody>
      </p:sp>
      <p:sp>
        <p:nvSpPr>
          <p:cNvPr id="23" name="Shape 21"/>
          <p:cNvSpPr/>
          <p:nvPr/>
        </p:nvSpPr>
        <p:spPr>
          <a:xfrm>
            <a:off x="7027713" y="4041648"/>
            <a:ext cx="1659087" cy="365760"/>
          </a:xfrm>
          <a:prstGeom prst="roundRect">
            <a:avLst>
              <a:gd name="adj" fmla="val 50000"/>
            </a:avLst>
          </a:prstGeom>
          <a:solidFill>
            <a:srgbClr val="2F6D62"/>
          </a:solidFill>
          <a:ln w="9525">
            <a:solidFill>
              <a:srgbClr val="2F6D62"/>
            </a:solidFill>
            <a:prstDash val="solid"/>
          </a:ln>
        </p:spPr>
      </p:sp>
      <p:sp>
        <p:nvSpPr>
          <p:cNvPr id="24" name="Text 22"/>
          <p:cNvSpPr txBox="1"/>
          <p:nvPr/>
        </p:nvSpPr>
        <p:spPr>
          <a:xfrm>
            <a:off x="7119153" y="404164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en.wikipedia.org</a:t>
            </a:r>
            <a:endParaRPr lang="en-US" sz="750" dirty="0"/>
          </a:p>
        </p:txBody>
      </p:sp>
      <p:sp>
        <p:nvSpPr>
          <p:cNvPr id="25" name="Shape 23"/>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json, shelve's plain alternative, was written up in 2001.</a:t>
            </a:r>
            <a:endParaRPr lang="en-US" sz="1350" dirty="0"/>
          </a:p>
        </p:txBody>
      </p:sp>
      <p:sp>
        <p:nvSpPr>
          <p:cNvPr id="27" name="Text 2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24</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Plain alternative: saving data as json</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json writes plain data as readable text any program can read; a tuple comes back as a list</a:t>
            </a:r>
            <a:endParaRPr lang="en-US" sz="1300" dirty="0"/>
          </a:p>
        </p:txBody>
      </p:sp>
      <p:sp>
        <p:nvSpPr>
          <p:cNvPr id="6" name="Text 4"/>
          <p:cNvSpPr txBox="1"/>
          <p:nvPr/>
        </p:nvSpPr>
        <p:spPr>
          <a:xfrm>
            <a:off x="457200" y="10972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json.dumps/loads round-trip plain data as text; a tuple comes back a list, an int key a string</a:t>
            </a:r>
            <a:endParaRPr lang="en-US" sz="1150" dirty="0"/>
          </a:p>
        </p:txBody>
      </p:sp>
      <p:sp>
        <p:nvSpPr>
          <p:cNvPr id="7" name="Shape 5"/>
          <p:cNvSpPr/>
          <p:nvPr/>
        </p:nvSpPr>
        <p:spPr>
          <a:xfrm>
            <a:off x="457200" y="1371600"/>
            <a:ext cx="8229600" cy="1581912"/>
          </a:xfrm>
          <a:prstGeom prst="roundRect">
            <a:avLst>
              <a:gd name="adj" fmla="val 5780"/>
            </a:avLst>
          </a:prstGeom>
          <a:solidFill>
            <a:srgbClr val="23272E"/>
          </a:solidFill>
          <a:ln w="12700">
            <a:solidFill>
              <a:srgbClr val="23272E"/>
            </a:solidFill>
            <a:prstDash val="solid"/>
          </a:ln>
        </p:spPr>
      </p:sp>
      <p:sp>
        <p:nvSpPr>
          <p:cNvPr id="8" name="Text 6"/>
          <p:cNvSpPr txBox="1"/>
          <p:nvPr/>
        </p:nvSpPr>
        <p:spPr>
          <a:xfrm>
            <a:off x="640080" y="1490472"/>
            <a:ext cx="7863840" cy="1344168"/>
          </a:xfrm>
          <a:prstGeom prst="rect">
            <a:avLst/>
          </a:prstGeom>
          <a:noFill/>
          <a:ln/>
        </p:spPr>
        <p:txBody>
          <a:bodyPr wrap="square" lIns="0" tIns="0" rIns="0" bIns="0" rtlCol="0" anchor="t"/>
          <a:lstStyle/>
          <a:p>
            <a:pPr indent="0" marL="0">
              <a:buNone/>
            </a:pPr>
            <a:r>
              <a:rPr lang="en-US" sz="1500" b="1" dirty="0">
                <a:solidFill>
                  <a:srgbClr val="D97A14"/>
                </a:solidFill>
                <a:latin typeface="Courier New" pitchFamily="34" charset="0"/>
                <a:ea typeface="Courier New" pitchFamily="34" charset="-122"/>
                <a:cs typeface="Courier New" pitchFamily="34" charset="-120"/>
              </a:rPr>
              <a:t>&gt;&gt;&gt; </a:t>
            </a:r>
            <a:r>
              <a:rPr lang="en-US" sz="1500" dirty="0">
                <a:solidFill>
                  <a:srgbClr val="E6EDF3"/>
                </a:solidFill>
                <a:latin typeface="Courier New" pitchFamily="34" charset="0"/>
                <a:ea typeface="Courier New" pitchFamily="34" charset="-122"/>
                <a:cs typeface="Courier New" pitchFamily="34" charset="-120"/>
              </a:rPr>
              <a:t>import json</a:t>
            </a:r>
            <a:endParaRPr lang="en-US" sz="1500" dirty="0"/>
          </a:p>
          <a:p>
            <a:pPr indent="0" marL="0">
              <a:buNone/>
            </a:pPr>
            <a:r>
              <a:rPr lang="en-US" sz="1500" b="1" dirty="0">
                <a:solidFill>
                  <a:srgbClr val="D97A14"/>
                </a:solidFill>
                <a:latin typeface="Courier New" pitchFamily="34" charset="0"/>
                <a:ea typeface="Courier New" pitchFamily="34" charset="-122"/>
                <a:cs typeface="Courier New" pitchFamily="34" charset="-120"/>
              </a:rPr>
              <a:t>&gt;&gt;&gt; </a:t>
            </a:r>
            <a:r>
              <a:rPr lang="en-US" sz="1500" dirty="0">
                <a:solidFill>
                  <a:srgbClr val="E6EDF3"/>
                </a:solidFill>
                <a:latin typeface="Courier New" pitchFamily="34" charset="0"/>
                <a:ea typeface="Courier New" pitchFamily="34" charset="-122"/>
                <a:cs typeface="Courier New" pitchFamily="34" charset="-120"/>
              </a:rPr>
              <a:t>json.dumps({'cats': ['Zophie'], 'pair': (1, 2), 5: 'five'})</a:t>
            </a:r>
            <a:endParaRPr lang="en-US" sz="1500" dirty="0"/>
          </a:p>
          <a:p>
            <a:pPr indent="0" marL="0">
              <a:buNone/>
            </a:pPr>
            <a:r>
              <a:rPr lang="en-US" sz="1500" dirty="0">
                <a:solidFill>
                  <a:srgbClr val="7EE787"/>
                </a:solidFill>
                <a:latin typeface="Courier New" pitchFamily="34" charset="0"/>
                <a:ea typeface="Courier New" pitchFamily="34" charset="-122"/>
                <a:cs typeface="Courier New" pitchFamily="34" charset="-120"/>
              </a:rPr>
              <a:t>'{"cats": ["Zophie"], "pair": [1, 2], "5": "five"}'</a:t>
            </a:r>
            <a:endParaRPr lang="en-US" sz="1500" dirty="0"/>
          </a:p>
          <a:p>
            <a:pPr indent="0" marL="0">
              <a:buNone/>
            </a:pPr>
            <a:r>
              <a:rPr lang="en-US" sz="1500" b="1" dirty="0">
                <a:solidFill>
                  <a:srgbClr val="D97A14"/>
                </a:solidFill>
                <a:latin typeface="Courier New" pitchFamily="34" charset="0"/>
                <a:ea typeface="Courier New" pitchFamily="34" charset="-122"/>
                <a:cs typeface="Courier New" pitchFamily="34" charset="-120"/>
              </a:rPr>
              <a:t>&gt;&gt;&gt; </a:t>
            </a:r>
            <a:r>
              <a:rPr lang="en-US" sz="1500" dirty="0">
                <a:solidFill>
                  <a:srgbClr val="E6EDF3"/>
                </a:solidFill>
                <a:latin typeface="Courier New" pitchFamily="34" charset="0"/>
                <a:ea typeface="Courier New" pitchFamily="34" charset="-122"/>
                <a:cs typeface="Courier New" pitchFamily="34" charset="-120"/>
              </a:rPr>
              <a:t>json.loads(json.dumps({'pair': (1, 2)}))</a:t>
            </a:r>
            <a:endParaRPr lang="en-US" sz="1500" dirty="0"/>
          </a:p>
          <a:p>
            <a:pPr indent="0" marL="0">
              <a:buNone/>
            </a:pPr>
            <a:r>
              <a:rPr lang="en-US" sz="1500" dirty="0">
                <a:solidFill>
                  <a:srgbClr val="7EE787"/>
                </a:solidFill>
                <a:latin typeface="Courier New" pitchFamily="34" charset="0"/>
                <a:ea typeface="Courier New" pitchFamily="34" charset="-122"/>
                <a:cs typeface="Courier New" pitchFamily="34" charset="-120"/>
              </a:rPr>
              <a:t>{'pair': [1, 2]}</a:t>
            </a:r>
            <a:endParaRPr lang="en-US" sz="1500" dirty="0"/>
          </a:p>
        </p:txBody>
      </p:sp>
      <p:sp>
        <p:nvSpPr>
          <p:cNvPr id="9" name="Text 7"/>
          <p:cNvSpPr txBox="1"/>
          <p:nvPr/>
        </p:nvSpPr>
        <p:spPr>
          <a:xfrm>
            <a:off x="457200" y="2971800"/>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3300984"/>
            <a:ext cx="8229600" cy="1225296"/>
          </a:xfrm>
          <a:prstGeom prst="roundRect">
            <a:avLst>
              <a:gd name="adj" fmla="val 7463"/>
            </a:avLst>
          </a:prstGeom>
          <a:solidFill>
            <a:srgbClr val="F2ECE1"/>
          </a:solidFill>
          <a:ln w="12700">
            <a:solidFill>
              <a:srgbClr val="F2ECE1"/>
            </a:solidFill>
            <a:prstDash val="solid"/>
          </a:ln>
        </p:spPr>
      </p:sp>
      <p:sp>
        <p:nvSpPr>
          <p:cNvPr id="11" name="Text 9"/>
          <p:cNvSpPr txBox="1"/>
          <p:nvPr/>
        </p:nvSpPr>
        <p:spPr>
          <a:xfrm>
            <a:off x="640080" y="3419856"/>
            <a:ext cx="786384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What json cannot keep</a:t>
            </a:r>
            <a:endParaRPr lang="en-US" sz="1600" dirty="0"/>
          </a:p>
        </p:txBody>
      </p:sp>
      <p:sp>
        <p:nvSpPr>
          <p:cNvPr id="12" name="Text 10"/>
          <p:cNvSpPr txBox="1"/>
          <p:nvPr/>
        </p:nvSpPr>
        <p:spPr>
          <a:xfrm>
            <a:off x="640080" y="3803904"/>
            <a:ext cx="7863840" cy="585216"/>
          </a:xfrm>
          <a:prstGeom prst="rect">
            <a:avLst/>
          </a:prstGeom>
          <a:noFill/>
          <a:ln/>
        </p:spPr>
        <p:txBody>
          <a:bodyPr wrap="square" lIns="0" tIns="0" rIns="0" bIns="0" rtlCol="0" anchor="t"/>
          <a:lstStyle/>
          <a:p>
            <a:pPr indent="0" marL="0">
              <a:buNone/>
            </a:pPr>
            <a:r>
              <a:rPr lang="en-US" sz="1250" dirty="0">
                <a:solidFill>
                  <a:srgbClr val="2B2622"/>
                </a:solidFill>
                <a:latin typeface="Calibri" pitchFamily="34" charset="0"/>
                <a:ea typeface="Calibri" pitchFamily="34" charset="-122"/>
                <a:cs typeface="Calibri" pitchFamily="34" charset="-120"/>
              </a:rPr>
              <a:t>A tuple written with json.dumps() always comes back as a list, and a non-string dictionary key such as the integer 5 always comes back as the string '5'; shelve, by contrast, keeps both exactly, at the cost of being readable only by Python's own pickle.</a:t>
            </a:r>
            <a:endParaRPr lang="en-US" sz="1250" dirty="0"/>
          </a:p>
        </p:txBody>
      </p:sp>
      <p:sp>
        <p:nvSpPr>
          <p:cNvPr id="13" name="Shape 11"/>
          <p:cNvSpPr/>
          <p:nvPr/>
        </p:nvSpPr>
        <p:spPr>
          <a:xfrm>
            <a:off x="457200" y="4636008"/>
            <a:ext cx="91440" cy="310896"/>
          </a:xfrm>
          <a:prstGeom prst="rect">
            <a:avLst/>
          </a:prstGeom>
          <a:solidFill>
            <a:srgbClr val="D97A14"/>
          </a:solidFill>
          <a:ln w="12700">
            <a:solidFill>
              <a:srgbClr val="D97A14"/>
            </a:solidFill>
            <a:prstDash val="solid"/>
          </a:ln>
        </p:spPr>
      </p:sp>
      <p:sp>
        <p:nvSpPr>
          <p:cNvPr id="14" name="Text 1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json keeps every value readable, but a tuple becomes a list.</a:t>
            </a:r>
            <a:endParaRPr lang="en-US" sz="1350" dirty="0"/>
          </a:p>
        </p:txBody>
      </p:sp>
      <p:sp>
        <p:nvSpPr>
          <p:cNvPr id="15"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24</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Project 4: the state capitals quiz generator</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dictionary of 50 capitals, shuffled per quiz, written to a quiz file and an answer key</a:t>
            </a:r>
            <a:endParaRPr lang="en-US" sz="1300" dirty="0"/>
          </a:p>
        </p:txBody>
      </p:sp>
      <p:sp>
        <p:nvSpPr>
          <p:cNvPr id="6" name="Text 4"/>
          <p:cNvSpPr txBox="1"/>
          <p:nvPr/>
        </p:nvSpPr>
        <p:spPr>
          <a:xfrm>
            <a:off x="457200" y="10972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program capitalsQuiz_v1_0_0.py, lines 48 to 56 of 62 - Python 3.14.6</a:t>
            </a:r>
            <a:endParaRPr lang="en-US" sz="1150" dirty="0"/>
          </a:p>
        </p:txBody>
      </p:sp>
      <p:sp>
        <p:nvSpPr>
          <p:cNvPr id="7" name="Shape 5"/>
          <p:cNvSpPr/>
          <p:nvPr/>
        </p:nvSpPr>
        <p:spPr>
          <a:xfrm>
            <a:off x="457200" y="1371600"/>
            <a:ext cx="8229600" cy="1426464"/>
          </a:xfrm>
          <a:prstGeom prst="roundRect">
            <a:avLst>
              <a:gd name="adj" fmla="val 6410"/>
            </a:avLst>
          </a:prstGeom>
          <a:solidFill>
            <a:srgbClr val="23272E"/>
          </a:solidFill>
          <a:ln w="12700">
            <a:solidFill>
              <a:srgbClr val="23272E"/>
            </a:solidFill>
            <a:prstDash val="solid"/>
          </a:ln>
        </p:spPr>
      </p:sp>
      <p:sp>
        <p:nvSpPr>
          <p:cNvPr id="8" name="Text 6"/>
          <p:cNvSpPr txBox="1"/>
          <p:nvPr/>
        </p:nvSpPr>
        <p:spPr>
          <a:xfrm>
            <a:off x="640080" y="1490472"/>
            <a:ext cx="7863840" cy="1188720"/>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            random.shuffle(answer_options)</a:t>
            </a:r>
            <a:endParaRPr lang="en-US" sz="700" dirty="0"/>
          </a:p>
          <a:p>
            <a:pPr indent="0" marL="0">
              <a:buNone/>
            </a:pP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quiz_file.write(f</a:t>
            </a:r>
            <a:r>
              <a:rPr lang="en-US" sz="700" dirty="0">
                <a:solidFill>
                  <a:srgbClr val="9ECBFF"/>
                </a:solidFill>
                <a:latin typeface="Courier New" pitchFamily="34" charset="0"/>
                <a:ea typeface="Courier New" pitchFamily="34" charset="-122"/>
                <a:cs typeface="Courier New" pitchFamily="34" charset="-120"/>
              </a:rPr>
              <a:t>'{question_num + 1}. Capital of {states[question_num]}:\n'</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i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range(</a:t>
            </a:r>
            <a:r>
              <a:rPr lang="en-US" sz="700" dirty="0">
                <a:solidFill>
                  <a:srgbClr val="FFD28A"/>
                </a:solidFill>
                <a:latin typeface="Courier New" pitchFamily="34" charset="0"/>
                <a:ea typeface="Courier New" pitchFamily="34" charset="-122"/>
                <a:cs typeface="Courier New" pitchFamily="34" charset="-120"/>
              </a:rPr>
              <a:t>4</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quiz_file.write(f</a:t>
            </a:r>
            <a:r>
              <a:rPr lang="en-US" sz="700" dirty="0">
                <a:solidFill>
                  <a:srgbClr val="9ECBFF"/>
                </a:solidFill>
                <a:latin typeface="Courier New" pitchFamily="34" charset="0"/>
                <a:ea typeface="Courier New" pitchFamily="34" charset="-122"/>
                <a:cs typeface="Courier New" pitchFamily="34" charset="-120"/>
              </a:rPr>
              <a:t>"    {'ABCD'[i]}. {answer_options[i]}\n"</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quiz_file.write(</a:t>
            </a:r>
            <a:r>
              <a:rPr lang="en-US" sz="700" dirty="0">
                <a:solidFill>
                  <a:srgbClr val="9ECBFF"/>
                </a:solidFill>
                <a:latin typeface="Courier New" pitchFamily="34" charset="0"/>
                <a:ea typeface="Courier New" pitchFamily="34" charset="-122"/>
                <a:cs typeface="Courier New" pitchFamily="34" charset="-120"/>
              </a:rPr>
              <a:t>'\n'</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answer_key_file.write(</a:t>
            </a:r>
            <a:r>
              <a:rPr lang="en-US" sz="700" dirty="0">
                <a:solidFill>
                  <a:srgbClr val="9ECBFF"/>
                </a:solidFill>
                <a:latin typeface="Courier New" pitchFamily="34" charset="0"/>
                <a:ea typeface="Courier New" pitchFamily="34" charset="-122"/>
                <a:cs typeface="Courier New" pitchFamily="34" charset="-120"/>
              </a:rPr>
              <a:t>'%d.%s'</a:t>
            </a:r>
            <a:r>
              <a:rPr lang="en-US" sz="700" dirty="0">
                <a:solidFill>
                  <a:srgbClr val="E6EDF3"/>
                </a:solidFill>
                <a:latin typeface="Courier New" pitchFamily="34" charset="0"/>
                <a:ea typeface="Courier New" pitchFamily="34" charset="-122"/>
                <a:cs typeface="Courier New" pitchFamily="34" charset="-120"/>
              </a:rPr>
              <a:t> % (question_num + </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'ABCD'</a:t>
            </a:r>
            <a:r>
              <a:rPr lang="en-US" sz="700" dirty="0">
                <a:solidFill>
                  <a:srgbClr val="E6EDF3"/>
                </a:solidFill>
                <a:latin typeface="Courier New" pitchFamily="34" charset="0"/>
                <a:ea typeface="Courier New" pitchFamily="34" charset="-122"/>
                <a:cs typeface="Courier New" pitchFamily="34" charset="-120"/>
              </a:rPr>
              <a:t>[answer_options.index(correct_capital)]))</a:t>
            </a:r>
            <a:endParaRPr lang="en-US" sz="700" dirty="0"/>
          </a:p>
          <a:p>
            <a:pPr indent="0" marL="0">
              <a:buNone/>
            </a:pPr>
            <a:endParaRPr lang="en-US" sz="700" dirty="0"/>
          </a:p>
        </p:txBody>
      </p:sp>
      <p:sp>
        <p:nvSpPr>
          <p:cNvPr id="9" name="Text 7"/>
          <p:cNvSpPr txBox="1"/>
          <p:nvPr/>
        </p:nvSpPr>
        <p:spPr>
          <a:xfrm>
            <a:off x="457200" y="2706624"/>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prints: the start of quiz 1 and its answer key, one unbroken line, letters only</a:t>
            </a:r>
            <a:endParaRPr lang="en-US" sz="1150" dirty="0"/>
          </a:p>
        </p:txBody>
      </p:sp>
      <p:sp>
        <p:nvSpPr>
          <p:cNvPr id="10" name="Shape 8"/>
          <p:cNvSpPr/>
          <p:nvPr/>
        </p:nvSpPr>
        <p:spPr>
          <a:xfrm>
            <a:off x="457200" y="2980944"/>
            <a:ext cx="8229600" cy="1600200"/>
          </a:xfrm>
          <a:prstGeom prst="roundRect">
            <a:avLst>
              <a:gd name="adj" fmla="val 5714"/>
            </a:avLst>
          </a:prstGeom>
          <a:solidFill>
            <a:srgbClr val="23272E"/>
          </a:solidFill>
          <a:ln w="12700">
            <a:solidFill>
              <a:srgbClr val="23272E"/>
            </a:solidFill>
            <a:prstDash val="solid"/>
          </a:ln>
        </p:spPr>
      </p:sp>
      <p:sp>
        <p:nvSpPr>
          <p:cNvPr id="11" name="Text 9"/>
          <p:cNvSpPr txBox="1"/>
          <p:nvPr/>
        </p:nvSpPr>
        <p:spPr>
          <a:xfrm>
            <a:off x="640080" y="3099816"/>
            <a:ext cx="7863840" cy="1362456"/>
          </a:xfrm>
          <a:prstGeom prst="rect">
            <a:avLst/>
          </a:prstGeom>
          <a:noFill/>
          <a:ln/>
        </p:spPr>
        <p:txBody>
          <a:bodyPr wrap="square" lIns="0" tIns="0" rIns="0" bIns="0" rtlCol="0" anchor="t"/>
          <a:lstStyle/>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Name:</a:t>
            </a:r>
            <a:endParaRPr lang="en-US" sz="700" dirty="0"/>
          </a:p>
          <a:p>
            <a:pPr indent="0" marL="0">
              <a:buNone/>
            </a:pP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Date:</a:t>
            </a:r>
            <a:endParaRPr lang="en-US" sz="700" dirty="0"/>
          </a:p>
          <a:p>
            <a:pPr indent="0" marL="0">
              <a:buNone/>
            </a:pP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Period:</a:t>
            </a:r>
            <a:endParaRPr lang="en-US" sz="700" dirty="0"/>
          </a:p>
          <a:p>
            <a:pPr indent="0" marL="0">
              <a:buNone/>
            </a:pP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                    State Capitals Quiz (Form1)</a:t>
            </a:r>
            <a:endParaRPr lang="en-US" sz="700" dirty="0"/>
          </a:p>
          <a:p>
            <a:pPr indent="0" marL="0">
              <a:buNone/>
            </a:pP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1. Capital of South Dakota:</a:t>
            </a:r>
            <a:endParaRPr lang="en-US" sz="700" dirty="0"/>
          </a:p>
          <a:p>
            <a:pPr indent="0" marL="0">
              <a:buNone/>
            </a:pP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 answer key 1, first 20 characters (one unbroken line) ---</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1.D2.C3.C4.B5.C6.B7.</a:t>
            </a:r>
            <a:endParaRPr lang="en-US" sz="700" dirty="0"/>
          </a:p>
        </p:txBody>
      </p:sp>
      <p:sp>
        <p:nvSpPr>
          <p:cNvPr id="12" name="Shape 10"/>
          <p:cNvSpPr/>
          <p:nvPr/>
        </p:nvSpPr>
        <p:spPr>
          <a:xfrm>
            <a:off x="457200" y="4636008"/>
            <a:ext cx="91440" cy="310896"/>
          </a:xfrm>
          <a:prstGeom prst="rect">
            <a:avLst/>
          </a:prstGeom>
          <a:solidFill>
            <a:srgbClr val="D97A14"/>
          </a:solidFill>
          <a:ln w="12700">
            <a:solidFill>
              <a:srgbClr val="D97A14"/>
            </a:solidFill>
            <a:prstDash val="solid"/>
          </a:ln>
        </p:spPr>
      </p:sp>
      <p:sp>
        <p:nvSpPr>
          <p:cNvPr id="13" name="Text 1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chapter's own listed code writes '(Form1)' and one joined key line.</a:t>
            </a:r>
            <a:endParaRPr lang="en-US" sz="135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24</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Practice: Mad Libs with a regex replacement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re.sub() with a function asks for a new word at every ADJECTIVE, NOUN, ADVERB or VERB</a:t>
            </a:r>
            <a:endParaRPr lang="en-US" sz="1300" dirty="0"/>
          </a:p>
        </p:txBody>
      </p:sp>
      <p:sp>
        <p:nvSpPr>
          <p:cNvPr id="6" name="Text 4"/>
          <p:cNvSpPr txBox="1"/>
          <p:nvPr/>
        </p:nvSpPr>
        <p:spPr>
          <a:xfrm>
            <a:off x="457200" y="10972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program madLibs_v1_0_0.py, lines 7 to 15 of 26 - Python 3.14.6</a:t>
            </a:r>
            <a:endParaRPr lang="en-US" sz="1150" dirty="0"/>
          </a:p>
        </p:txBody>
      </p:sp>
      <p:sp>
        <p:nvSpPr>
          <p:cNvPr id="7" name="Shape 5"/>
          <p:cNvSpPr/>
          <p:nvPr/>
        </p:nvSpPr>
        <p:spPr>
          <a:xfrm>
            <a:off x="457200" y="1371600"/>
            <a:ext cx="8229600" cy="1572768"/>
          </a:xfrm>
          <a:prstGeom prst="roundRect">
            <a:avLst>
              <a:gd name="adj" fmla="val 5814"/>
            </a:avLst>
          </a:prstGeom>
          <a:solidFill>
            <a:srgbClr val="23272E"/>
          </a:solidFill>
          <a:ln w="12700">
            <a:solidFill>
              <a:srgbClr val="23272E"/>
            </a:solidFill>
            <a:prstDash val="solid"/>
          </a:ln>
        </p:spPr>
      </p:sp>
      <p:sp>
        <p:nvSpPr>
          <p:cNvPr id="8" name="Text 6"/>
          <p:cNvSpPr txBox="1"/>
          <p:nvPr/>
        </p:nvSpPr>
        <p:spPr>
          <a:xfrm>
            <a:off x="640080" y="1490472"/>
            <a:ext cx="7863840" cy="1335024"/>
          </a:xfrm>
          <a:prstGeom prst="rect">
            <a:avLst/>
          </a:prstGeom>
          <a:noFill/>
          <a:ln/>
        </p:spPr>
        <p:txBody>
          <a:bodyPr wrap="square" lIns="0" tIns="0" rIns="0" bIns="0" rtlCol="0" anchor="t"/>
          <a:lstStyle/>
          <a:p>
            <a:pPr indent="0" marL="0">
              <a:buNone/>
            </a:pPr>
            <a:r>
              <a:rPr lang="en-US" sz="800" dirty="0">
                <a:solidFill>
                  <a:srgbClr val="E6EDF3"/>
                </a:solidFill>
                <a:latin typeface="Courier New" pitchFamily="34" charset="0"/>
                <a:ea typeface="Courier New" pitchFamily="34" charset="-122"/>
                <a:cs typeface="Courier New" pitchFamily="34" charset="-120"/>
              </a:rPr>
              <a:t>    os.chdir(folder)</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source = Path(</a:t>
            </a:r>
            <a:r>
              <a:rPr lang="en-US" sz="800" dirty="0">
                <a:solidFill>
                  <a:srgbClr val="9ECBFF"/>
                </a:solidFill>
                <a:latin typeface="Courier New" pitchFamily="34" charset="0"/>
                <a:ea typeface="Courier New" pitchFamily="34" charset="-122"/>
                <a:cs typeface="Courier New" pitchFamily="34" charset="-120"/>
              </a:rPr>
              <a:t>'panda.txt'</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source.write_text(</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'The ADJECTIVE panda walked to the NOUN and then VERB. A nearby NOUN was\n'</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'unaffected by these events.'</a:t>
            </a:r>
            <a:r>
              <a:rPr lang="en-US" sz="800" dirty="0">
                <a:solidFill>
                  <a:srgbClr val="E6EDF3"/>
                </a:solidFill>
                <a:latin typeface="Courier New" pitchFamily="34" charset="0"/>
                <a:ea typeface="Courier New" pitchFamily="34" charset="-122"/>
                <a:cs typeface="Courier New" pitchFamily="34" charset="-120"/>
              </a:rPr>
              <a:t>, encoding=</a:t>
            </a:r>
            <a:r>
              <a:rPr lang="en-US" sz="800" dirty="0">
                <a:solidFill>
                  <a:srgbClr val="9ECBFF"/>
                </a:solidFill>
                <a:latin typeface="Courier New" pitchFamily="34" charset="0"/>
                <a:ea typeface="Courier New" pitchFamily="34" charset="-122"/>
                <a:cs typeface="Courier New" pitchFamily="34" charset="-120"/>
              </a:rPr>
              <a:t>'utf-8'</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text = source.read_text(encoding=</a:t>
            </a:r>
            <a:r>
              <a:rPr lang="en-US" sz="800" dirty="0">
                <a:solidFill>
                  <a:srgbClr val="9ECBFF"/>
                </a:solidFill>
                <a:latin typeface="Courier New" pitchFamily="34" charset="0"/>
                <a:ea typeface="Courier New" pitchFamily="34" charset="-122"/>
                <a:cs typeface="Courier New" pitchFamily="34" charset="-120"/>
              </a:rPr>
              <a:t>'utf-8'</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a:t>
            </a:r>
            <a:r>
              <a:rPr lang="en-US" sz="800" b="1" dirty="0">
                <a:solidFill>
                  <a:srgbClr val="F2A860"/>
                </a:solidFill>
                <a:latin typeface="Courier New" pitchFamily="34" charset="0"/>
                <a:ea typeface="Courier New" pitchFamily="34" charset="-122"/>
                <a:cs typeface="Courier New" pitchFamily="34" charset="-120"/>
              </a:rPr>
              <a:t>def</a:t>
            </a:r>
            <a:r>
              <a:rPr lang="en-US" sz="800" dirty="0">
                <a:solidFill>
                  <a:srgbClr val="E6EDF3"/>
                </a:solidFill>
                <a:latin typeface="Courier New" pitchFamily="34" charset="0"/>
                <a:ea typeface="Courier New" pitchFamily="34" charset="-122"/>
                <a:cs typeface="Courier New" pitchFamily="34" charset="-120"/>
              </a:rPr>
              <a:t> ask(match):</a:t>
            </a:r>
            <a:endParaRPr lang="en-US" sz="800" dirty="0"/>
          </a:p>
        </p:txBody>
      </p:sp>
      <p:sp>
        <p:nvSpPr>
          <p:cNvPr id="9" name="Text 7"/>
          <p:cNvSpPr txBox="1"/>
          <p:nvPr/>
        </p:nvSpPr>
        <p:spPr>
          <a:xfrm>
            <a:off x="457200" y="285292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typed: silly, chandelier, screamed, pickup truck - one answer per blank, in order</a:t>
            </a:r>
            <a:endParaRPr lang="en-US" sz="1150" dirty="0"/>
          </a:p>
        </p:txBody>
      </p:sp>
      <p:sp>
        <p:nvSpPr>
          <p:cNvPr id="10" name="Shape 8"/>
          <p:cNvSpPr/>
          <p:nvPr/>
        </p:nvSpPr>
        <p:spPr>
          <a:xfrm>
            <a:off x="457200" y="3127248"/>
            <a:ext cx="8229600" cy="1371600"/>
          </a:xfrm>
          <a:prstGeom prst="roundRect">
            <a:avLst>
              <a:gd name="adj" fmla="val 6667"/>
            </a:avLst>
          </a:prstGeom>
          <a:solidFill>
            <a:srgbClr val="23272E"/>
          </a:solidFill>
          <a:ln w="12700">
            <a:solidFill>
              <a:srgbClr val="23272E"/>
            </a:solidFill>
            <a:prstDash val="solid"/>
          </a:ln>
        </p:spPr>
      </p:sp>
      <p:sp>
        <p:nvSpPr>
          <p:cNvPr id="11" name="Text 9"/>
          <p:cNvSpPr txBox="1"/>
          <p:nvPr/>
        </p:nvSpPr>
        <p:spPr>
          <a:xfrm>
            <a:off x="640080" y="3246120"/>
            <a:ext cx="7863840" cy="1133856"/>
          </a:xfrm>
          <a:prstGeom prst="rect">
            <a:avLst/>
          </a:prstGeom>
          <a:noFill/>
          <a:ln/>
        </p:spPr>
        <p:txBody>
          <a:bodyPr wrap="square" lIns="0" tIns="0" rIns="0" bIns="0" rtlCol="0" anchor="t"/>
          <a:lstStyle/>
          <a:p>
            <a:pPr indent="0" marL="0">
              <a:buNone/>
            </a:pPr>
            <a:r>
              <a:rPr lang="en-US" sz="800" b="1" dirty="0">
                <a:solidFill>
                  <a:srgbClr val="D97A14"/>
                </a:solidFill>
                <a:latin typeface="Courier New" pitchFamily="34" charset="0"/>
                <a:ea typeface="Courier New" pitchFamily="34" charset="-122"/>
                <a:cs typeface="Courier New" pitchFamily="34" charset="-120"/>
              </a:rPr>
              <a:t>prints </a:t>
            </a:r>
            <a:r>
              <a:rPr lang="en-US" sz="800" dirty="0">
                <a:solidFill>
                  <a:srgbClr val="7EE787"/>
                </a:solidFill>
                <a:latin typeface="Courier New" pitchFamily="34" charset="0"/>
                <a:ea typeface="Courier New" pitchFamily="34" charset="-122"/>
                <a:cs typeface="Courier New" pitchFamily="34" charset="-120"/>
              </a:rPr>
              <a:t>silly</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chandelier</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screamed</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pickup truck</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The silly panda walked to the chandelier and then screamed. A nearby pickup truck was</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unaffected by these events.</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panda_filled.txt 113 True</a:t>
            </a:r>
            <a:endParaRPr lang="en-US" sz="800" dirty="0"/>
          </a:p>
        </p:txBody>
      </p:sp>
      <p:sp>
        <p:nvSpPr>
          <p:cNvPr id="12" name="Shape 10"/>
          <p:cNvSpPr/>
          <p:nvPr/>
        </p:nvSpPr>
        <p:spPr>
          <a:xfrm>
            <a:off x="457200" y="4636008"/>
            <a:ext cx="91440" cy="310896"/>
          </a:xfrm>
          <a:prstGeom prst="rect">
            <a:avLst/>
          </a:prstGeom>
          <a:solidFill>
            <a:srgbClr val="D97A14"/>
          </a:solidFill>
          <a:ln w="12700">
            <a:solidFill>
              <a:srgbClr val="D97A14"/>
            </a:solidFill>
            <a:prstDash val="solid"/>
          </a:ln>
        </p:spPr>
      </p:sp>
      <p:sp>
        <p:nvSpPr>
          <p:cNvPr id="13" name="Text 1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re.sub() with a function asks for one new word at each match, in order.</a:t>
            </a:r>
            <a:endParaRPr lang="en-US" sz="135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24</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200" b="1" dirty="0">
                <a:solidFill>
                  <a:srgbClr val="2B2622"/>
                </a:solidFill>
                <a:latin typeface="Cambria" pitchFamily="34" charset="0"/>
                <a:ea typeface="Cambria" pitchFamily="34" charset="-122"/>
                <a:cs typeface="Cambria" pitchFamily="34" charset="-120"/>
              </a:rPr>
              <a:t>Practice: searching files, and chapter questions</a:t>
            </a:r>
            <a:endParaRPr lang="en-US" sz="22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glob('*.txt') lists the files; enumerate(f, start=1) numbers every line a pattern matches</a:t>
            </a:r>
            <a:endParaRPr lang="en-US" sz="1300" dirty="0"/>
          </a:p>
        </p:txBody>
      </p:sp>
      <p:sp>
        <p:nvSpPr>
          <p:cNvPr id="6" name="Text 4"/>
          <p:cNvSpPr txBox="1"/>
          <p:nvPr/>
        </p:nvSpPr>
        <p:spPr>
          <a:xfrm>
            <a:off x="457200" y="10972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program regexSearchFiles_v1_0_0.py, lines 7 to 26 of 26 - Python 3.14.6</a:t>
            </a:r>
            <a:endParaRPr lang="en-US" sz="1150" dirty="0"/>
          </a:p>
        </p:txBody>
      </p:sp>
      <p:sp>
        <p:nvSpPr>
          <p:cNvPr id="7" name="Shape 5"/>
          <p:cNvSpPr/>
          <p:nvPr/>
        </p:nvSpPr>
        <p:spPr>
          <a:xfrm>
            <a:off x="457200" y="1371600"/>
            <a:ext cx="8229600" cy="3337560"/>
          </a:xfrm>
          <a:prstGeom prst="roundRect">
            <a:avLst>
              <a:gd name="adj" fmla="val 2740"/>
            </a:avLst>
          </a:prstGeom>
          <a:solidFill>
            <a:srgbClr val="23272E"/>
          </a:solidFill>
          <a:ln w="12700">
            <a:solidFill>
              <a:srgbClr val="23272E"/>
            </a:solidFill>
            <a:prstDash val="solid"/>
          </a:ln>
        </p:spPr>
      </p:sp>
      <p:sp>
        <p:nvSpPr>
          <p:cNvPr id="8" name="Text 6"/>
          <p:cNvSpPr txBox="1"/>
          <p:nvPr/>
        </p:nvSpPr>
        <p:spPr>
          <a:xfrm>
            <a:off x="640080" y="1490472"/>
            <a:ext cx="7863840" cy="3099816"/>
          </a:xfrm>
          <a:prstGeom prst="rect">
            <a:avLst/>
          </a:prstGeom>
          <a:noFill/>
          <a:ln/>
        </p:spPr>
        <p:txBody>
          <a:bodyPr wrap="square" lIns="0" tIns="0" rIns="0" bIns="0" rtlCol="0" anchor="t"/>
          <a:lstStyle/>
          <a:p>
            <a:pPr indent="0" marL="0">
              <a:buNone/>
            </a:pPr>
            <a:r>
              <a:rPr lang="en-US" sz="800" b="1" dirty="0">
                <a:solidFill>
                  <a:srgbClr val="F2A860"/>
                </a:solidFill>
                <a:latin typeface="Courier New" pitchFamily="34" charset="0"/>
                <a:ea typeface="Courier New" pitchFamily="34" charset="-122"/>
                <a:cs typeface="Courier New" pitchFamily="34" charset="-120"/>
              </a:rPr>
              <a:t>def</a:t>
            </a:r>
            <a:r>
              <a:rPr lang="en-US" sz="800" dirty="0">
                <a:solidFill>
                  <a:srgbClr val="E6EDF3"/>
                </a:solidFill>
                <a:latin typeface="Courier New" pitchFamily="34" charset="0"/>
                <a:ea typeface="Courier New" pitchFamily="34" charset="-122"/>
                <a:cs typeface="Courier New" pitchFamily="34" charset="-120"/>
              </a:rPr>
              <a:t> find_matches(folder, pattern):</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regex = re.compile(pattern)</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matches = []</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a:t>
            </a:r>
            <a:r>
              <a:rPr lang="en-US" sz="800" b="1" dirty="0">
                <a:solidFill>
                  <a:srgbClr val="F2A860"/>
                </a:solidFill>
                <a:latin typeface="Courier New" pitchFamily="34" charset="0"/>
                <a:ea typeface="Courier New" pitchFamily="34" charset="-122"/>
                <a:cs typeface="Courier New" pitchFamily="34" charset="-120"/>
              </a:rPr>
              <a:t>for</a:t>
            </a:r>
            <a:r>
              <a:rPr lang="en-US" sz="800" dirty="0">
                <a:solidFill>
                  <a:srgbClr val="E6EDF3"/>
                </a:solidFill>
                <a:latin typeface="Courier New" pitchFamily="34" charset="0"/>
                <a:ea typeface="Courier New" pitchFamily="34" charset="-122"/>
                <a:cs typeface="Courier New" pitchFamily="34" charset="-120"/>
              </a:rPr>
              <a:t> path </a:t>
            </a:r>
            <a:r>
              <a:rPr lang="en-US" sz="800" b="1" dirty="0">
                <a:solidFill>
                  <a:srgbClr val="F2A860"/>
                </a:solidFill>
                <a:latin typeface="Courier New" pitchFamily="34" charset="0"/>
                <a:ea typeface="Courier New" pitchFamily="34" charset="-122"/>
                <a:cs typeface="Courier New" pitchFamily="34" charset="-120"/>
              </a:rPr>
              <a:t>in</a:t>
            </a:r>
            <a:r>
              <a:rPr lang="en-US" sz="800" dirty="0">
                <a:solidFill>
                  <a:srgbClr val="E6EDF3"/>
                </a:solidFill>
                <a:latin typeface="Courier New" pitchFamily="34" charset="0"/>
                <a:ea typeface="Courier New" pitchFamily="34" charset="-122"/>
                <a:cs typeface="Courier New" pitchFamily="34" charset="-120"/>
              </a:rPr>
              <a:t> sorted(Path(folder).glob(</a:t>
            </a:r>
            <a:r>
              <a:rPr lang="en-US" sz="800" dirty="0">
                <a:solidFill>
                  <a:srgbClr val="9ECBFF"/>
                </a:solidFill>
                <a:latin typeface="Courier New" pitchFamily="34" charset="0"/>
                <a:ea typeface="Courier New" pitchFamily="34" charset="-122"/>
                <a:cs typeface="Courier New" pitchFamily="34" charset="-120"/>
              </a:rPr>
              <a:t>'*.txt'</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with open(path, encoding=</a:t>
            </a:r>
            <a:r>
              <a:rPr lang="en-US" sz="800" dirty="0">
                <a:solidFill>
                  <a:srgbClr val="9ECBFF"/>
                </a:solidFill>
                <a:latin typeface="Courier New" pitchFamily="34" charset="0"/>
                <a:ea typeface="Courier New" pitchFamily="34" charset="-122"/>
                <a:cs typeface="Courier New" pitchFamily="34" charset="-120"/>
              </a:rPr>
              <a:t>'utf-8'</a:t>
            </a:r>
            <a:r>
              <a:rPr lang="en-US" sz="800" dirty="0">
                <a:solidFill>
                  <a:srgbClr val="E6EDF3"/>
                </a:solidFill>
                <a:latin typeface="Courier New" pitchFamily="34" charset="0"/>
                <a:ea typeface="Courier New" pitchFamily="34" charset="-122"/>
                <a:cs typeface="Courier New" pitchFamily="34" charset="-120"/>
              </a:rPr>
              <a:t>) as text_file:</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a:t>
            </a:r>
            <a:r>
              <a:rPr lang="en-US" sz="800" b="1" dirty="0">
                <a:solidFill>
                  <a:srgbClr val="F2A860"/>
                </a:solidFill>
                <a:latin typeface="Courier New" pitchFamily="34" charset="0"/>
                <a:ea typeface="Courier New" pitchFamily="34" charset="-122"/>
                <a:cs typeface="Courier New" pitchFamily="34" charset="-120"/>
              </a:rPr>
              <a:t>for</a:t>
            </a:r>
            <a:r>
              <a:rPr lang="en-US" sz="800" dirty="0">
                <a:solidFill>
                  <a:srgbClr val="E6EDF3"/>
                </a:solidFill>
                <a:latin typeface="Courier New" pitchFamily="34" charset="0"/>
                <a:ea typeface="Courier New" pitchFamily="34" charset="-122"/>
                <a:cs typeface="Courier New" pitchFamily="34" charset="-120"/>
              </a:rPr>
              <a:t> number, line </a:t>
            </a:r>
            <a:r>
              <a:rPr lang="en-US" sz="800" b="1" dirty="0">
                <a:solidFill>
                  <a:srgbClr val="F2A860"/>
                </a:solidFill>
                <a:latin typeface="Courier New" pitchFamily="34" charset="0"/>
                <a:ea typeface="Courier New" pitchFamily="34" charset="-122"/>
                <a:cs typeface="Courier New" pitchFamily="34" charset="-120"/>
              </a:rPr>
              <a:t>in</a:t>
            </a:r>
            <a:r>
              <a:rPr lang="en-US" sz="800" dirty="0">
                <a:solidFill>
                  <a:srgbClr val="E6EDF3"/>
                </a:solidFill>
                <a:latin typeface="Courier New" pitchFamily="34" charset="0"/>
                <a:ea typeface="Courier New" pitchFamily="34" charset="-122"/>
                <a:cs typeface="Courier New" pitchFamily="34" charset="-120"/>
              </a:rPr>
              <a:t> enumerate(text_file, start=</a:t>
            </a:r>
            <a:r>
              <a:rPr lang="en-US" sz="800" dirty="0">
                <a:solidFill>
                  <a:srgbClr val="FFD28A"/>
                </a:solidFill>
                <a:latin typeface="Courier New" pitchFamily="34" charset="0"/>
                <a:ea typeface="Courier New" pitchFamily="34" charset="-122"/>
                <a:cs typeface="Courier New" pitchFamily="34" charset="-120"/>
              </a:rPr>
              <a:t>1</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a:t>
            </a:r>
            <a:r>
              <a:rPr lang="en-US" sz="800" b="1" dirty="0">
                <a:solidFill>
                  <a:srgbClr val="F2A860"/>
                </a:solidFill>
                <a:latin typeface="Courier New" pitchFamily="34" charset="0"/>
                <a:ea typeface="Courier New" pitchFamily="34" charset="-122"/>
                <a:cs typeface="Courier New" pitchFamily="34" charset="-120"/>
              </a:rPr>
              <a:t>if</a:t>
            </a:r>
            <a:r>
              <a:rPr lang="en-US" sz="800" dirty="0">
                <a:solidFill>
                  <a:srgbClr val="E6EDF3"/>
                </a:solidFill>
                <a:latin typeface="Courier New" pitchFamily="34" charset="0"/>
                <a:ea typeface="Courier New" pitchFamily="34" charset="-122"/>
                <a:cs typeface="Courier New" pitchFamily="34" charset="-120"/>
              </a:rPr>
              <a:t> regex.search(line):</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matches.append(f</a:t>
            </a:r>
            <a:r>
              <a:rPr lang="en-US" sz="800" dirty="0">
                <a:solidFill>
                  <a:srgbClr val="9ECBFF"/>
                </a:solidFill>
                <a:latin typeface="Courier New" pitchFamily="34" charset="0"/>
                <a:ea typeface="Courier New" pitchFamily="34" charset="-122"/>
                <a:cs typeface="Courier New" pitchFamily="34" charset="-120"/>
              </a:rPr>
              <a:t>'{path.name}:{number}: {line.rstrip()}'</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a:t>
            </a:r>
            <a:r>
              <a:rPr lang="en-US" sz="800" b="1" dirty="0">
                <a:solidFill>
                  <a:srgbClr val="F2A860"/>
                </a:solidFill>
                <a:latin typeface="Courier New" pitchFamily="34" charset="0"/>
                <a:ea typeface="Courier New" pitchFamily="34" charset="-122"/>
                <a:cs typeface="Courier New" pitchFamily="34" charset="-120"/>
              </a:rPr>
              <a:t>return</a:t>
            </a:r>
            <a:r>
              <a:rPr lang="en-US" sz="800" dirty="0">
                <a:solidFill>
                  <a:srgbClr val="E6EDF3"/>
                </a:solidFill>
                <a:latin typeface="Courier New" pitchFamily="34" charset="0"/>
                <a:ea typeface="Courier New" pitchFamily="34" charset="-122"/>
                <a:cs typeface="Courier New" pitchFamily="34" charset="-120"/>
              </a:rPr>
              <a:t> matches</a:t>
            </a:r>
            <a:endParaRPr lang="en-US" sz="800" dirty="0"/>
          </a:p>
          <a:p>
            <a:pPr indent="0" marL="0">
              <a:buNone/>
            </a:pPr>
            <a:endParaRPr lang="en-US" sz="800" dirty="0"/>
          </a:p>
          <a:p>
            <a:pPr indent="0" marL="0">
              <a:buNone/>
            </a:pP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with tempfile.TemporaryDirectory() as folder:</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os.chdir(folder)</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Path(</a:t>
            </a:r>
            <a:r>
              <a:rPr lang="en-US" sz="800" dirty="0">
                <a:solidFill>
                  <a:srgbClr val="9ECBFF"/>
                </a:solidFill>
                <a:latin typeface="Courier New" pitchFamily="34" charset="0"/>
                <a:ea typeface="Courier New" pitchFamily="34" charset="-122"/>
                <a:cs typeface="Courier New" pitchFamily="34" charset="-120"/>
              </a:rPr>
              <a:t>'a.txt'</a:t>
            </a:r>
            <a:r>
              <a:rPr lang="en-US" sz="800" dirty="0">
                <a:solidFill>
                  <a:srgbClr val="E6EDF3"/>
                </a:solidFill>
                <a:latin typeface="Courier New" pitchFamily="34" charset="0"/>
                <a:ea typeface="Courier New" pitchFamily="34" charset="-122"/>
                <a:cs typeface="Courier New" pitchFamily="34" charset="-120"/>
              </a:rPr>
              <a:t>).write_text(</a:t>
            </a:r>
            <a:r>
              <a:rPr lang="en-US" sz="800" dirty="0">
                <a:solidFill>
                  <a:srgbClr val="9ECBFF"/>
                </a:solidFill>
                <a:latin typeface="Courier New" pitchFamily="34" charset="0"/>
                <a:ea typeface="Courier New" pitchFamily="34" charset="-122"/>
                <a:cs typeface="Courier New" pitchFamily="34" charset="-120"/>
              </a:rPr>
              <a:t>'spam and eggs\nbacon alone\nSPAM again\n'</a:t>
            </a:r>
            <a:r>
              <a:rPr lang="en-US" sz="800" dirty="0">
                <a:solidFill>
                  <a:srgbClr val="E6EDF3"/>
                </a:solidFill>
                <a:latin typeface="Courier New" pitchFamily="34" charset="0"/>
                <a:ea typeface="Courier New" pitchFamily="34" charset="-122"/>
                <a:cs typeface="Courier New" pitchFamily="34" charset="-120"/>
              </a:rPr>
              <a:t>, encoding=</a:t>
            </a:r>
            <a:r>
              <a:rPr lang="en-US" sz="800" dirty="0">
                <a:solidFill>
                  <a:srgbClr val="9ECBFF"/>
                </a:solidFill>
                <a:latin typeface="Courier New" pitchFamily="34" charset="0"/>
                <a:ea typeface="Courier New" pitchFamily="34" charset="-122"/>
                <a:cs typeface="Courier New" pitchFamily="34" charset="-120"/>
              </a:rPr>
              <a:t>'utf-8'</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Path(</a:t>
            </a:r>
            <a:r>
              <a:rPr lang="en-US" sz="800" dirty="0">
                <a:solidFill>
                  <a:srgbClr val="9ECBFF"/>
                </a:solidFill>
                <a:latin typeface="Courier New" pitchFamily="34" charset="0"/>
                <a:ea typeface="Courier New" pitchFamily="34" charset="-122"/>
                <a:cs typeface="Courier New" pitchFamily="34" charset="-120"/>
              </a:rPr>
              <a:t>'b.txt'</a:t>
            </a:r>
            <a:r>
              <a:rPr lang="en-US" sz="800" dirty="0">
                <a:solidFill>
                  <a:srgbClr val="E6EDF3"/>
                </a:solidFill>
                <a:latin typeface="Courier New" pitchFamily="34" charset="0"/>
                <a:ea typeface="Courier New" pitchFamily="34" charset="-122"/>
                <a:cs typeface="Courier New" pitchFamily="34" charset="-120"/>
              </a:rPr>
              <a:t>).write_text(</a:t>
            </a:r>
            <a:r>
              <a:rPr lang="en-US" sz="800" dirty="0">
                <a:solidFill>
                  <a:srgbClr val="9ECBFF"/>
                </a:solidFill>
                <a:latin typeface="Courier New" pitchFamily="34" charset="0"/>
                <a:ea typeface="Courier New" pitchFamily="34" charset="-122"/>
                <a:cs typeface="Courier New" pitchFamily="34" charset="-120"/>
              </a:rPr>
              <a:t>'nothing here\nspam, glorious spam\n'</a:t>
            </a:r>
            <a:r>
              <a:rPr lang="en-US" sz="800" dirty="0">
                <a:solidFill>
                  <a:srgbClr val="E6EDF3"/>
                </a:solidFill>
                <a:latin typeface="Courier New" pitchFamily="34" charset="0"/>
                <a:ea typeface="Courier New" pitchFamily="34" charset="-122"/>
                <a:cs typeface="Courier New" pitchFamily="34" charset="-120"/>
              </a:rPr>
              <a:t>, encoding=</a:t>
            </a:r>
            <a:r>
              <a:rPr lang="en-US" sz="800" dirty="0">
                <a:solidFill>
                  <a:srgbClr val="9ECBFF"/>
                </a:solidFill>
                <a:latin typeface="Courier New" pitchFamily="34" charset="0"/>
                <a:ea typeface="Courier New" pitchFamily="34" charset="-122"/>
                <a:cs typeface="Courier New" pitchFamily="34" charset="-120"/>
              </a:rPr>
              <a:t>'utf-8'</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Path(</a:t>
            </a:r>
            <a:r>
              <a:rPr lang="en-US" sz="800" dirty="0">
                <a:solidFill>
                  <a:srgbClr val="9ECBFF"/>
                </a:solidFill>
                <a:latin typeface="Courier New" pitchFamily="34" charset="0"/>
                <a:ea typeface="Courier New" pitchFamily="34" charset="-122"/>
                <a:cs typeface="Courier New" pitchFamily="34" charset="-120"/>
              </a:rPr>
              <a:t>'notes.csv'</a:t>
            </a:r>
            <a:r>
              <a:rPr lang="en-US" sz="800" dirty="0">
                <a:solidFill>
                  <a:srgbClr val="E6EDF3"/>
                </a:solidFill>
                <a:latin typeface="Courier New" pitchFamily="34" charset="0"/>
                <a:ea typeface="Courier New" pitchFamily="34" charset="-122"/>
                <a:cs typeface="Courier New" pitchFamily="34" charset="-120"/>
              </a:rPr>
              <a:t>).write_text(</a:t>
            </a:r>
            <a:r>
              <a:rPr lang="en-US" sz="800" dirty="0">
                <a:solidFill>
                  <a:srgbClr val="9ECBFF"/>
                </a:solidFill>
                <a:latin typeface="Courier New" pitchFamily="34" charset="0"/>
                <a:ea typeface="Courier New" pitchFamily="34" charset="-122"/>
                <a:cs typeface="Courier New" pitchFamily="34" charset="-120"/>
              </a:rPr>
              <a:t>'spam,1\n'</a:t>
            </a:r>
            <a:r>
              <a:rPr lang="en-US" sz="800" dirty="0">
                <a:solidFill>
                  <a:srgbClr val="E6EDF3"/>
                </a:solidFill>
                <a:latin typeface="Courier New" pitchFamily="34" charset="0"/>
                <a:ea typeface="Courier New" pitchFamily="34" charset="-122"/>
                <a:cs typeface="Courier New" pitchFamily="34" charset="-120"/>
              </a:rPr>
              <a:t>, encoding=</a:t>
            </a:r>
            <a:r>
              <a:rPr lang="en-US" sz="800" dirty="0">
                <a:solidFill>
                  <a:srgbClr val="9ECBFF"/>
                </a:solidFill>
                <a:latin typeface="Courier New" pitchFamily="34" charset="0"/>
                <a:ea typeface="Courier New" pitchFamily="34" charset="-122"/>
                <a:cs typeface="Courier New" pitchFamily="34" charset="-120"/>
              </a:rPr>
              <a:t>'utf-8'</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pattern = input(</a:t>
            </a:r>
            <a:r>
              <a:rPr lang="en-US" sz="800" dirty="0">
                <a:solidFill>
                  <a:srgbClr val="9ECBFF"/>
                </a:solidFill>
                <a:latin typeface="Courier New" pitchFamily="34" charset="0"/>
                <a:ea typeface="Courier New" pitchFamily="34" charset="-122"/>
                <a:cs typeface="Courier New" pitchFamily="34" charset="-120"/>
              </a:rPr>
              <a:t>'Enter a regular expression to search for: '</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a:t>
            </a:r>
            <a:r>
              <a:rPr lang="en-US" sz="800" b="1" dirty="0">
                <a:solidFill>
                  <a:srgbClr val="F2A860"/>
                </a:solidFill>
                <a:latin typeface="Courier New" pitchFamily="34" charset="0"/>
                <a:ea typeface="Courier New" pitchFamily="34" charset="-122"/>
                <a:cs typeface="Courier New" pitchFamily="34" charset="-120"/>
              </a:rPr>
              <a:t>for</a:t>
            </a:r>
            <a:r>
              <a:rPr lang="en-US" sz="800" dirty="0">
                <a:solidFill>
                  <a:srgbClr val="E6EDF3"/>
                </a:solidFill>
                <a:latin typeface="Courier New" pitchFamily="34" charset="0"/>
                <a:ea typeface="Courier New" pitchFamily="34" charset="-122"/>
                <a:cs typeface="Courier New" pitchFamily="34" charset="-120"/>
              </a:rPr>
              <a:t> line </a:t>
            </a:r>
            <a:r>
              <a:rPr lang="en-US" sz="800" b="1" dirty="0">
                <a:solidFill>
                  <a:srgbClr val="F2A860"/>
                </a:solidFill>
                <a:latin typeface="Courier New" pitchFamily="34" charset="0"/>
                <a:ea typeface="Courier New" pitchFamily="34" charset="-122"/>
                <a:cs typeface="Courier New" pitchFamily="34" charset="-120"/>
              </a:rPr>
              <a:t>in</a:t>
            </a:r>
            <a:r>
              <a:rPr lang="en-US" sz="800" dirty="0">
                <a:solidFill>
                  <a:srgbClr val="E6EDF3"/>
                </a:solidFill>
                <a:latin typeface="Courier New" pitchFamily="34" charset="0"/>
                <a:ea typeface="Courier New" pitchFamily="34" charset="-122"/>
                <a:cs typeface="Courier New" pitchFamily="34" charset="-120"/>
              </a:rPr>
              <a:t> find_matches(folder, pattern):</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print(line)</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prints </a:t>
            </a:r>
            <a:r>
              <a:rPr lang="en-US" sz="800" dirty="0">
                <a:solidFill>
                  <a:srgbClr val="7EE787"/>
                </a:solidFill>
                <a:latin typeface="Courier New" pitchFamily="34" charset="0"/>
                <a:ea typeface="Courier New" pitchFamily="34" charset="-122"/>
                <a:cs typeface="Courier New" pitchFamily="34" charset="-120"/>
              </a:rPr>
              <a:t>spam</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a.txt:1: spam and eggs</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b.txt:2: spam, glorious spam</a:t>
            </a:r>
            <a:endParaRPr lang="en-US" sz="800" dirty="0"/>
          </a:p>
        </p:txBody>
      </p:sp>
      <p:sp>
        <p:nvSpPr>
          <p:cNvPr id="9" name="Shape 7"/>
          <p:cNvSpPr/>
          <p:nvPr/>
        </p:nvSpPr>
        <p:spPr>
          <a:xfrm>
            <a:off x="457200" y="4636008"/>
            <a:ext cx="91440" cy="310896"/>
          </a:xfrm>
          <a:prstGeom prst="rect">
            <a:avLst/>
          </a:prstGeom>
          <a:solidFill>
            <a:srgbClr val="D97A14"/>
          </a:solidFill>
          <a:ln w="12700">
            <a:solidFill>
              <a:srgbClr val="D97A14"/>
            </a:solidFill>
            <a:prstDash val="solid"/>
          </a:ln>
        </p:spPr>
      </p:sp>
      <p:sp>
        <p:nvSpPr>
          <p:cNvPr id="10" name="Text 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glob('*.txt') lists the files a user-typed pattern then searches.</a:t>
            </a:r>
            <a:endParaRPr lang="en-US" sz="1350" dirty="0"/>
          </a:p>
        </p:txBody>
      </p:sp>
      <p:sp>
        <p:nvSpPr>
          <p:cNvPr id="11" name="Text 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24</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six lines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line for each part of the route</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7662672" cy="496824"/>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Path() returns an object, not a string; / joins it to more names the way os.path.join() once did.</a:t>
            </a:r>
            <a:endParaRPr lang="en-US" sz="1150" dirty="0"/>
          </a:p>
        </p:txBody>
      </p:sp>
      <p:sp>
        <p:nvSpPr>
          <p:cNvPr id="9" name="Shape 7"/>
          <p:cNvSpPr/>
          <p:nvPr/>
        </p:nvSpPr>
        <p:spPr>
          <a:xfrm>
            <a:off x="457200" y="185013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8501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813560"/>
            <a:ext cx="7662672" cy="496824"/>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A relative path reads from the working directory; name, stem, suffix and parent read a path apart.</a:t>
            </a:r>
            <a:endParaRPr lang="en-US" sz="1150" dirty="0"/>
          </a:p>
        </p:txBody>
      </p:sp>
      <p:sp>
        <p:nvSpPr>
          <p:cNvPr id="12" name="Shape 10"/>
          <p:cNvSpPr/>
          <p:nvPr/>
        </p:nvSpPr>
        <p:spPr>
          <a:xfrm>
            <a:off x="457200" y="238353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3835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346960"/>
            <a:ext cx="7662672" cy="496824"/>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mkdir(parents=True) builds a chain of folders; a glob pattern lists the files that match it.</a:t>
            </a:r>
            <a:endParaRPr lang="en-US" sz="1150" dirty="0"/>
          </a:p>
        </p:txBody>
      </p:sp>
      <p:sp>
        <p:nvSpPr>
          <p:cNvPr id="15" name="Shape 13"/>
          <p:cNvSpPr/>
          <p:nvPr/>
        </p:nvSpPr>
        <p:spPr>
          <a:xfrm>
            <a:off x="457200" y="2916936"/>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9169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880360"/>
            <a:ext cx="7662672" cy="496824"/>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write_text/read_text move a whole file in one call; open() in mode r, w, a or x returns a file object.</a:t>
            </a:r>
            <a:endParaRPr lang="en-US" sz="1150" dirty="0"/>
          </a:p>
        </p:txBody>
      </p:sp>
      <p:sp>
        <p:nvSpPr>
          <p:cNvPr id="18" name="Shape 16"/>
          <p:cNvSpPr/>
          <p:nvPr/>
        </p:nvSpPr>
        <p:spPr>
          <a:xfrm>
            <a:off x="457200" y="3450336"/>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4503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413760"/>
            <a:ext cx="7662672" cy="496824"/>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The encoding argument converts bytes to characters; a with block closes its file on every way out.</a:t>
            </a:r>
            <a:endParaRPr lang="en-US" sz="1150" dirty="0"/>
          </a:p>
        </p:txBody>
      </p:sp>
      <p:sp>
        <p:nvSpPr>
          <p:cNvPr id="21" name="Shape 19"/>
          <p:cNvSpPr/>
          <p:nvPr/>
        </p:nvSpPr>
        <p:spPr>
          <a:xfrm>
            <a:off x="457200" y="3983736"/>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3983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947160"/>
            <a:ext cx="7662672" cy="496824"/>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A shelf behaves like a dictionary saved to disk; json keeps the same data readable by any program.</a:t>
            </a:r>
            <a:endParaRPr lang="en-US" sz="1150" dirty="0"/>
          </a:p>
        </p:txBody>
      </p:sp>
      <p:sp>
        <p:nvSpPr>
          <p:cNvPr id="24"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line feels unproven, its slides hold the example.</a:t>
            </a:r>
            <a:endParaRPr lang="en-US" sz="1350" dirty="0"/>
          </a:p>
        </p:txBody>
      </p:sp>
      <p:sp>
        <p:nvSpPr>
          <p:cNvPr id="26"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24</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Every link was opened on the day this deck was made</a:t>
            </a:r>
            <a:endParaRPr lang="en-US" sz="1300" dirty="0"/>
          </a:p>
        </p:txBody>
      </p:sp>
      <p:sp>
        <p:nvSpPr>
          <p:cNvPr id="6" name="Text 4"/>
          <p:cNvSpPr txBox="1"/>
          <p:nvPr/>
        </p:nvSpPr>
        <p:spPr>
          <a:xfrm>
            <a:off x="457200" y="1280160"/>
            <a:ext cx="3954780" cy="274320"/>
          </a:xfrm>
          <a:prstGeom prst="rect">
            <a:avLst/>
          </a:prstGeom>
          <a:noFill/>
          <a:ln/>
        </p:spPr>
        <p:txBody>
          <a:bodyPr wrap="square" lIns="0" tIns="0" rIns="0" bIns="0" rtlCol="0" anchor="ctr"/>
          <a:lstStyle/>
          <a:p>
            <a:pPr indent="0" marL="0">
              <a:buNone/>
            </a:pPr>
            <a:r>
              <a:rPr lang="en-US" sz="1200" b="1" dirty="0">
                <a:solidFill>
                  <a:srgbClr val="2F6D62"/>
                </a:solidFill>
                <a:latin typeface="Cambria" pitchFamily="34" charset="0"/>
                <a:ea typeface="Cambria" pitchFamily="34" charset="-122"/>
                <a:cs typeface="Cambria" pitchFamily="34" charset="-120"/>
              </a:rPr>
              <a:t>Read</a:t>
            </a:r>
            <a:endParaRPr lang="en-US" sz="1200" dirty="0"/>
          </a:p>
        </p:txBody>
      </p:sp>
      <p:sp>
        <p:nvSpPr>
          <p:cNvPr id="7" name="Shape 5"/>
          <p:cNvSpPr/>
          <p:nvPr/>
        </p:nvSpPr>
        <p:spPr>
          <a:xfrm>
            <a:off x="493776" y="162763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554480"/>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Automate the Boring Stuff with Python, 3rd edition  </a:t>
            </a:r>
            <a:r>
              <a:rPr lang="en-US" sz="950"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automatetheboringstuff.com/3e/chapter10.html</a:t>
            </a:r>
            <a:endParaRPr lang="en-US" sz="950" dirty="0"/>
          </a:p>
        </p:txBody>
      </p:sp>
      <p:sp>
        <p:nvSpPr>
          <p:cNvPr id="9" name="Shape 7"/>
          <p:cNvSpPr/>
          <p:nvPr/>
        </p:nvSpPr>
        <p:spPr>
          <a:xfrm>
            <a:off x="493776" y="1956816"/>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1883664"/>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pathlib — Object-oriented filesystem paths  </a:t>
            </a:r>
            <a:r>
              <a:rPr lang="en-US" sz="950"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docs.python.org/3/library/pathlib.html</a:t>
            </a:r>
            <a:endParaRPr lang="en-US" sz="950" dirty="0"/>
          </a:p>
        </p:txBody>
      </p:sp>
      <p:sp>
        <p:nvSpPr>
          <p:cNvPr id="11" name="Shape 9"/>
          <p:cNvSpPr/>
          <p:nvPr/>
        </p:nvSpPr>
        <p:spPr>
          <a:xfrm>
            <a:off x="493776" y="2286000"/>
            <a:ext cx="82296" cy="82296"/>
          </a:xfrm>
          <a:prstGeom prst="ellipse">
            <a:avLst/>
          </a:prstGeom>
          <a:solidFill>
            <a:srgbClr val="D97A14"/>
          </a:solidFill>
          <a:ln w="12700">
            <a:solidFill>
              <a:srgbClr val="D97A14"/>
            </a:solidFill>
            <a:prstDash val="solid"/>
          </a:ln>
        </p:spPr>
      </p:sp>
      <p:sp>
        <p:nvSpPr>
          <p:cNvPr id="12" name="Text 10"/>
          <p:cNvSpPr txBox="1"/>
          <p:nvPr/>
        </p:nvSpPr>
        <p:spPr>
          <a:xfrm>
            <a:off x="658368" y="2212848"/>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shelve — Python object persistence  </a:t>
            </a:r>
            <a:r>
              <a:rPr lang="en-US" sz="950"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docs.python.org/3/library/shelve.html</a:t>
            </a:r>
            <a:endParaRPr lang="en-US" sz="950" dirty="0"/>
          </a:p>
        </p:txBody>
      </p:sp>
      <p:sp>
        <p:nvSpPr>
          <p:cNvPr id="13" name="Text 11"/>
          <p:cNvSpPr txBox="1"/>
          <p:nvPr/>
        </p:nvSpPr>
        <p:spPr>
          <a:xfrm>
            <a:off x="457200" y="2615184"/>
            <a:ext cx="3954780" cy="274320"/>
          </a:xfrm>
          <a:prstGeom prst="rect">
            <a:avLst/>
          </a:prstGeom>
          <a:noFill/>
          <a:ln/>
        </p:spPr>
        <p:txBody>
          <a:bodyPr wrap="square" lIns="0" tIns="0" rIns="0" bIns="0" rtlCol="0" anchor="ctr"/>
          <a:lstStyle/>
          <a:p>
            <a:pPr indent="0" marL="0">
              <a:buNone/>
            </a:pPr>
            <a:r>
              <a:rPr lang="en-US" sz="1200" b="1" dirty="0">
                <a:solidFill>
                  <a:srgbClr val="2F6D62"/>
                </a:solidFill>
                <a:latin typeface="Cambria" pitchFamily="34" charset="0"/>
                <a:ea typeface="Cambria" pitchFamily="34" charset="-122"/>
                <a:cs typeface="Cambria" pitchFamily="34" charset="-120"/>
              </a:rPr>
              <a:t>Reference</a:t>
            </a:r>
            <a:endParaRPr lang="en-US" sz="1200" dirty="0"/>
          </a:p>
        </p:txBody>
      </p:sp>
      <p:sp>
        <p:nvSpPr>
          <p:cNvPr id="14" name="Shape 12"/>
          <p:cNvSpPr/>
          <p:nvPr/>
        </p:nvSpPr>
        <p:spPr>
          <a:xfrm>
            <a:off x="493776" y="2962656"/>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2889504"/>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Built-in Functions (open)  </a:t>
            </a:r>
            <a:r>
              <a:rPr lang="en-US" sz="950"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docs.python.org/3/library/functions.html</a:t>
            </a:r>
            <a:endParaRPr lang="en-US" sz="950" dirty="0"/>
          </a:p>
        </p:txBody>
      </p:sp>
      <p:sp>
        <p:nvSpPr>
          <p:cNvPr id="16" name="Shape 14"/>
          <p:cNvSpPr/>
          <p:nvPr/>
        </p:nvSpPr>
        <p:spPr>
          <a:xfrm>
            <a:off x="493776" y="3291840"/>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218688"/>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os — Miscellaneous operating system interfaces  </a:t>
            </a:r>
            <a:r>
              <a:rPr lang="en-US" sz="950"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docs.python.org/3/library/os.html</a:t>
            </a:r>
            <a:endParaRPr lang="en-US" sz="950" dirty="0"/>
          </a:p>
        </p:txBody>
      </p:sp>
      <p:sp>
        <p:nvSpPr>
          <p:cNvPr id="18" name="Shape 16"/>
          <p:cNvSpPr/>
          <p:nvPr/>
        </p:nvSpPr>
        <p:spPr>
          <a:xfrm>
            <a:off x="493776" y="3621024"/>
            <a:ext cx="82296" cy="82296"/>
          </a:xfrm>
          <a:prstGeom prst="ellipse">
            <a:avLst/>
          </a:prstGeom>
          <a:solidFill>
            <a:srgbClr val="D97A14"/>
          </a:solidFill>
          <a:ln w="12700">
            <a:solidFill>
              <a:srgbClr val="D97A14"/>
            </a:solidFill>
            <a:prstDash val="solid"/>
          </a:ln>
        </p:spPr>
      </p:sp>
      <p:sp>
        <p:nvSpPr>
          <p:cNvPr id="19" name="Text 17"/>
          <p:cNvSpPr txBox="1"/>
          <p:nvPr/>
        </p:nvSpPr>
        <p:spPr>
          <a:xfrm>
            <a:off x="658368" y="3547872"/>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json — JSON encoder and decoder  </a:t>
            </a:r>
            <a:r>
              <a:rPr lang="en-US" sz="950"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docs.python.org/3/library/json.html</a:t>
            </a:r>
            <a:endParaRPr lang="en-US" sz="950" dirty="0"/>
          </a:p>
        </p:txBody>
      </p:sp>
      <p:sp>
        <p:nvSpPr>
          <p:cNvPr id="20" name="Text 18"/>
          <p:cNvSpPr txBox="1"/>
          <p:nvPr/>
        </p:nvSpPr>
        <p:spPr>
          <a:xfrm>
            <a:off x="4732020" y="1280160"/>
            <a:ext cx="3954780" cy="274320"/>
          </a:xfrm>
          <a:prstGeom prst="rect">
            <a:avLst/>
          </a:prstGeom>
          <a:noFill/>
          <a:ln/>
        </p:spPr>
        <p:txBody>
          <a:bodyPr wrap="square" lIns="0" tIns="0" rIns="0" bIns="0" rtlCol="0" anchor="ctr"/>
          <a:lstStyle/>
          <a:p>
            <a:pPr indent="0" marL="0">
              <a:buNone/>
            </a:pPr>
            <a:r>
              <a:rPr lang="en-US" sz="1200" b="1" dirty="0">
                <a:solidFill>
                  <a:srgbClr val="2F6D62"/>
                </a:solidFill>
                <a:latin typeface="Cambria" pitchFamily="34" charset="0"/>
                <a:ea typeface="Cambria" pitchFamily="34" charset="-122"/>
                <a:cs typeface="Cambria" pitchFamily="34" charset="-120"/>
              </a:rPr>
              <a:t>PEPs and history</a:t>
            </a:r>
            <a:endParaRPr lang="en-US" sz="1200" dirty="0"/>
          </a:p>
        </p:txBody>
      </p:sp>
      <p:sp>
        <p:nvSpPr>
          <p:cNvPr id="21" name="Shape 19"/>
          <p:cNvSpPr/>
          <p:nvPr/>
        </p:nvSpPr>
        <p:spPr>
          <a:xfrm>
            <a:off x="4768596" y="1627632"/>
            <a:ext cx="82296" cy="82296"/>
          </a:xfrm>
          <a:prstGeom prst="ellipse">
            <a:avLst/>
          </a:prstGeom>
          <a:solidFill>
            <a:srgbClr val="D97A14"/>
          </a:solidFill>
          <a:ln w="12700">
            <a:solidFill>
              <a:srgbClr val="D97A14"/>
            </a:solidFill>
            <a:prstDash val="solid"/>
          </a:ln>
        </p:spPr>
      </p:sp>
      <p:sp>
        <p:nvSpPr>
          <p:cNvPr id="22" name="Text 20"/>
          <p:cNvSpPr txBox="1"/>
          <p:nvPr/>
        </p:nvSpPr>
        <p:spPr>
          <a:xfrm>
            <a:off x="4933188" y="1554480"/>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PEP 686 – Make UTF-8 mode default  </a:t>
            </a:r>
            <a:r>
              <a:rPr lang="en-US" sz="950"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peps.python.org/pep-0686/</a:t>
            </a:r>
            <a:endParaRPr lang="en-US" sz="950" dirty="0"/>
          </a:p>
        </p:txBody>
      </p:sp>
      <p:sp>
        <p:nvSpPr>
          <p:cNvPr id="23" name="Shape 21"/>
          <p:cNvSpPr/>
          <p:nvPr/>
        </p:nvSpPr>
        <p:spPr>
          <a:xfrm>
            <a:off x="4768596" y="1956816"/>
            <a:ext cx="82296" cy="82296"/>
          </a:xfrm>
          <a:prstGeom prst="ellipse">
            <a:avLst/>
          </a:prstGeom>
          <a:solidFill>
            <a:srgbClr val="D97A14"/>
          </a:solidFill>
          <a:ln w="12700">
            <a:solidFill>
              <a:srgbClr val="D97A14"/>
            </a:solidFill>
            <a:prstDash val="solid"/>
          </a:ln>
        </p:spPr>
      </p:sp>
      <p:sp>
        <p:nvSpPr>
          <p:cNvPr id="24" name="Text 22"/>
          <p:cNvSpPr txBox="1"/>
          <p:nvPr/>
        </p:nvSpPr>
        <p:spPr>
          <a:xfrm>
            <a:off x="4933188" y="1883664"/>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PEP 597 – Add optional EncodingWarning  </a:t>
            </a:r>
            <a:r>
              <a:rPr lang="en-US" sz="950"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peps.python.org/pep-0597/</a:t>
            </a:r>
            <a:endParaRPr lang="en-US" sz="950" dirty="0"/>
          </a:p>
        </p:txBody>
      </p:sp>
      <p:sp>
        <p:nvSpPr>
          <p:cNvPr id="25" name="Shape 23"/>
          <p:cNvSpPr/>
          <p:nvPr/>
        </p:nvSpPr>
        <p:spPr>
          <a:xfrm>
            <a:off x="4768596" y="2286000"/>
            <a:ext cx="82296" cy="82296"/>
          </a:xfrm>
          <a:prstGeom prst="ellipse">
            <a:avLst/>
          </a:prstGeom>
          <a:solidFill>
            <a:srgbClr val="D97A14"/>
          </a:solidFill>
          <a:ln w="12700">
            <a:solidFill>
              <a:srgbClr val="D97A14"/>
            </a:solidFill>
            <a:prstDash val="solid"/>
          </a:ln>
        </p:spPr>
      </p:sp>
      <p:sp>
        <p:nvSpPr>
          <p:cNvPr id="26" name="Text 24"/>
          <p:cNvSpPr txBox="1"/>
          <p:nvPr/>
        </p:nvSpPr>
        <p:spPr>
          <a:xfrm>
            <a:off x="4933188" y="2212848"/>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PEP 428 – The pathlib module – object-oriented filesystem paths  </a:t>
            </a:r>
            <a:r>
              <a:rPr lang="en-US" sz="950"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peps.python.org/pep-0428/</a:t>
            </a:r>
            <a:endParaRPr lang="en-US" sz="950" dirty="0"/>
          </a:p>
        </p:txBody>
      </p:sp>
      <p:sp>
        <p:nvSpPr>
          <p:cNvPr id="27" name="Shape 25"/>
          <p:cNvSpPr/>
          <p:nvPr/>
        </p:nvSpPr>
        <p:spPr>
          <a:xfrm>
            <a:off x="4768596" y="2615184"/>
            <a:ext cx="82296" cy="82296"/>
          </a:xfrm>
          <a:prstGeom prst="ellipse">
            <a:avLst/>
          </a:prstGeom>
          <a:solidFill>
            <a:srgbClr val="D97A14"/>
          </a:solidFill>
          <a:ln w="12700">
            <a:solidFill>
              <a:srgbClr val="D97A14"/>
            </a:solidFill>
            <a:prstDash val="solid"/>
          </a:ln>
        </p:spPr>
      </p:sp>
      <p:sp>
        <p:nvSpPr>
          <p:cNvPr id="28" name="Text 26"/>
          <p:cNvSpPr txBox="1"/>
          <p:nvPr/>
        </p:nvSpPr>
        <p:spPr>
          <a:xfrm>
            <a:off x="4933188" y="2542032"/>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PEP 519 – Adding a file system path protocol  </a:t>
            </a:r>
            <a:r>
              <a:rPr lang="en-US" sz="950" u="sng" dirty="0">
                <a:solidFill>
                  <a:srgbClr val="2F6D62"/>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peps.python.org/pep-0519/</a:t>
            </a:r>
            <a:endParaRPr lang="en-US" sz="950" dirty="0"/>
          </a:p>
        </p:txBody>
      </p:sp>
      <p:sp>
        <p:nvSpPr>
          <p:cNvPr id="29" name="Shape 27"/>
          <p:cNvSpPr/>
          <p:nvPr/>
        </p:nvSpPr>
        <p:spPr>
          <a:xfrm>
            <a:off x="4768596" y="2944368"/>
            <a:ext cx="82296" cy="82296"/>
          </a:xfrm>
          <a:prstGeom prst="ellipse">
            <a:avLst/>
          </a:prstGeom>
          <a:solidFill>
            <a:srgbClr val="D97A14"/>
          </a:solidFill>
          <a:ln w="12700">
            <a:solidFill>
              <a:srgbClr val="D97A14"/>
            </a:solidFill>
            <a:prstDash val="solid"/>
          </a:ln>
        </p:spPr>
      </p:sp>
      <p:sp>
        <p:nvSpPr>
          <p:cNvPr id="30" name="Text 28"/>
          <p:cNvSpPr txBox="1"/>
          <p:nvPr/>
        </p:nvSpPr>
        <p:spPr>
          <a:xfrm>
            <a:off x="4933188" y="2871216"/>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Rob Pike's UTF-8 history  </a:t>
            </a:r>
            <a:r>
              <a:rPr lang="en-US" sz="950" u="sng" dirty="0">
                <a:solidFill>
                  <a:srgbClr val="2F6D62"/>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doc.cat-v.org/bell_labs/utf-8_history</a:t>
            </a:r>
            <a:endParaRPr lang="en-US" sz="950" dirty="0"/>
          </a:p>
        </p:txBody>
      </p:sp>
      <p:sp>
        <p:nvSpPr>
          <p:cNvPr id="31" name="Shape 29"/>
          <p:cNvSpPr/>
          <p:nvPr/>
        </p:nvSpPr>
        <p:spPr>
          <a:xfrm>
            <a:off x="457200" y="4636008"/>
            <a:ext cx="91440" cy="310896"/>
          </a:xfrm>
          <a:prstGeom prst="rect">
            <a:avLst/>
          </a:prstGeom>
          <a:solidFill>
            <a:srgbClr val="D97A14"/>
          </a:solidFill>
          <a:ln w="12700">
            <a:solidFill>
              <a:srgbClr val="D97A14"/>
            </a:solidFill>
            <a:prstDash val="solid"/>
          </a:ln>
        </p:spPr>
      </p:sp>
      <p:sp>
        <p:nvSpPr>
          <p:cNvPr id="32" name="Text 3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History, documentation and PEPs, opened the day this deck was built.</a:t>
            </a:r>
            <a:endParaRPr lang="en-US" sz="1350" dirty="0"/>
          </a:p>
        </p:txBody>
      </p:sp>
      <p:sp>
        <p:nvSpPr>
          <p:cNvPr id="33" name="Text 3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24</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What you should now be able to say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Four claims, each carried by a result you saw printed</a:t>
            </a:r>
            <a:endParaRPr lang="en-US" sz="1300" dirty="0"/>
          </a:p>
        </p:txBody>
      </p:sp>
      <p:sp>
        <p:nvSpPr>
          <p:cNvPr id="6" name="Text 4"/>
          <p:cNvSpPr txBox="1"/>
          <p:nvPr/>
        </p:nvSpPr>
        <p:spPr>
          <a:xfrm>
            <a:off x="548640" y="1371600"/>
            <a:ext cx="8046720" cy="219456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Path() returns an object; a method either computes a path, asks a question, or changes the disk.</a:t>
            </a:r>
            <a:endParaRPr lang="en-US" sz="1500" dirty="0"/>
          </a:p>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write_text/read_text and open() in mode r, w, a or x both read and write a file, whole or by hand.</a:t>
            </a:r>
            <a:endParaRPr lang="en-US" sz="1500" dirty="0"/>
          </a:p>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The encoding argument converts bytes to characters; a with block closes its file no matter how it ends.</a:t>
            </a:r>
            <a:endParaRPr lang="en-US" sz="1500" dirty="0"/>
          </a:p>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A shelf behaves like a dictionary saved to disk; json keeps the same plain data readable by any program.</a:t>
            </a:r>
            <a:endParaRPr lang="en-US" sz="1500" dirty="0"/>
          </a:p>
        </p:txBody>
      </p:sp>
      <p:sp>
        <p:nvSpPr>
          <p:cNvPr id="7" name="Shape 5"/>
          <p:cNvSpPr/>
          <p:nvPr/>
        </p:nvSpPr>
        <p:spPr>
          <a:xfrm>
            <a:off x="548640" y="3749040"/>
            <a:ext cx="2981401" cy="530352"/>
          </a:xfrm>
          <a:prstGeom prst="roundRect">
            <a:avLst>
              <a:gd name="adj" fmla="val 50000"/>
            </a:avLst>
          </a:prstGeom>
          <a:solidFill>
            <a:srgbClr val="F2ECE1"/>
          </a:solidFill>
          <a:ln w="12700">
            <a:solidFill>
              <a:srgbClr val="D97A14"/>
            </a:solidFill>
            <a:prstDash val="solid"/>
          </a:ln>
        </p:spPr>
      </p:sp>
      <p:sp>
        <p:nvSpPr>
          <p:cNvPr id="8" name="Text 6"/>
          <p:cNvSpPr txBox="1"/>
          <p:nvPr/>
        </p:nvSpPr>
        <p:spPr>
          <a:xfrm>
            <a:off x="548640" y="3749040"/>
            <a:ext cx="2981401" cy="530352"/>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85 console rows run</a:t>
            </a:r>
            <a:endParaRPr lang="en-US" sz="1300" dirty="0"/>
          </a:p>
        </p:txBody>
      </p:sp>
      <p:sp>
        <p:nvSpPr>
          <p:cNvPr id="9" name="Shape 7"/>
          <p:cNvSpPr/>
          <p:nvPr/>
        </p:nvSpPr>
        <p:spPr>
          <a:xfrm>
            <a:off x="3731209" y="3749040"/>
            <a:ext cx="2297887" cy="530352"/>
          </a:xfrm>
          <a:prstGeom prst="roundRect">
            <a:avLst>
              <a:gd name="adj" fmla="val 50000"/>
            </a:avLst>
          </a:prstGeom>
          <a:solidFill>
            <a:srgbClr val="F2ECE1"/>
          </a:solidFill>
          <a:ln w="12700">
            <a:solidFill>
              <a:srgbClr val="D97A14"/>
            </a:solidFill>
            <a:prstDash val="solid"/>
          </a:ln>
        </p:spPr>
      </p:sp>
      <p:sp>
        <p:nvSpPr>
          <p:cNvPr id="10" name="Text 8"/>
          <p:cNvSpPr txBox="1"/>
          <p:nvPr/>
        </p:nvSpPr>
        <p:spPr>
          <a:xfrm>
            <a:off x="3731209" y="3749040"/>
            <a:ext cx="2297887" cy="530352"/>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3 programs run</a:t>
            </a:r>
            <a:endParaRPr lang="en-US" sz="1300" dirty="0"/>
          </a:p>
        </p:txBody>
      </p:sp>
      <p:sp>
        <p:nvSpPr>
          <p:cNvPr id="11" name="Shape 9"/>
          <p:cNvSpPr/>
          <p:nvPr/>
        </p:nvSpPr>
        <p:spPr>
          <a:xfrm>
            <a:off x="6230264" y="3749040"/>
            <a:ext cx="2297887" cy="530352"/>
          </a:xfrm>
          <a:prstGeom prst="roundRect">
            <a:avLst>
              <a:gd name="adj" fmla="val 50000"/>
            </a:avLst>
          </a:prstGeom>
          <a:solidFill>
            <a:srgbClr val="F2ECE1"/>
          </a:solidFill>
          <a:ln w="12700">
            <a:solidFill>
              <a:srgbClr val="D97A14"/>
            </a:solidFill>
            <a:prstDash val="solid"/>
          </a:ln>
        </p:spPr>
      </p:sp>
      <p:sp>
        <p:nvSpPr>
          <p:cNvPr id="12" name="Text 10"/>
          <p:cNvSpPr txBox="1"/>
          <p:nvPr/>
        </p:nvSpPr>
        <p:spPr>
          <a:xfrm>
            <a:off x="6230264" y="3749040"/>
            <a:ext cx="2297887" cy="530352"/>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4 true stories</a:t>
            </a:r>
            <a:endParaRPr lang="en-US" sz="1300" dirty="0"/>
          </a:p>
        </p:txBody>
      </p:sp>
      <p:sp>
        <p:nvSpPr>
          <p:cNvPr id="13" name="Shape 11"/>
          <p:cNvSpPr/>
          <p:nvPr/>
        </p:nvSpPr>
        <p:spPr>
          <a:xfrm>
            <a:off x="457200" y="4636008"/>
            <a:ext cx="91440" cy="310896"/>
          </a:xfrm>
          <a:prstGeom prst="rect">
            <a:avLst/>
          </a:prstGeom>
          <a:solidFill>
            <a:srgbClr val="D97A14"/>
          </a:solidFill>
          <a:ln w="12700">
            <a:solidFill>
              <a:srgbClr val="D97A14"/>
            </a:solidFill>
            <a:prstDash val="solid"/>
          </a:ln>
        </p:spPr>
      </p:sp>
      <p:sp>
        <p:nvSpPr>
          <p:cNvPr id="14" name="Text 1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Questions are welcome; bring one path operation you could not predict.</a:t>
            </a:r>
            <a:endParaRPr lang="en-US" sz="1350" dirty="0"/>
          </a:p>
        </p:txBody>
      </p:sp>
      <p:sp>
        <p:nvSpPr>
          <p:cNvPr id="15"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24 / 24</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SEN0414 Chapter 10 - Reading and Writing Files</dc:title>
  <dc:subject>PptxGenJS Presentation</dc:subject>
  <dc:creator>Yusuf Altunel</dc:creator>
  <cp:lastModifiedBy>Yusuf Altunel</cp:lastModifiedBy>
  <cp:revision>1</cp:revision>
  <dcterms:created xsi:type="dcterms:W3CDTF">2026-10-11T18:13:09Z</dcterms:created>
  <dcterms:modified xsi:type="dcterms:W3CDTF">2026-10-11T18:13:09Z</dcterms:modified>
  <cp:version>1.0.0</cp:version>
</cp:coreProperties>
</file>