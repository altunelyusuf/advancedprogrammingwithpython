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Motion events by duration</a:t>
            </a:r>
          </a:p>
        </c:rich>
      </c:tx>
      <c:layout/>
      <c:overlay val="0"/>
    </c:title>
    <c:autoTitleDeleted val="0"/>
    <c:plotArea>
      <c:layout/>
      <c:barChart>
        <c:barDir val="col"/>
        <c:grouping val="clustered"/>
        <c:varyColors val="0"/>
        <c:ser>
          <c:idx val="0"/>
          <c:order val="0"/>
          <c:tx>
            <c:strRef>
              <c:f>Sheet1!$B$1</c:f>
              <c:strCache>
                <c:ptCount val="1"/>
                <c:pt idx="0">
                  <c:v>motion events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0 s</c:v>
                  </c:pt>
                  <c:pt idx="1">
                    <c:v>0.1 s</c:v>
                  </c:pt>
                  <c:pt idx="2">
                    <c:v>0.25 s</c:v>
                  </c:pt>
                  <c:pt idx="3">
                    <c:v>0.5 s</c:v>
                  </c:pt>
                  <c:pt idx="4">
                    <c:v>1.0 s</c:v>
                  </c:pt>
                </c:lvl>
              </c:multiLvlStrCache>
            </c:multiLvlStrRef>
          </c:cat>
          <c:val>
            <c:numRef>
              <c:f>Sheet1!$B$2:$B$6</c:f>
              <c:numCache>
                <c:formatCode>General</c:formatCode>
                <c:ptCount val="5"/>
                <c:pt idx="0">
                  <c:v>1</c:v>
                </c:pt>
                <c:pt idx="1">
                  <c:v>1</c:v>
                </c:pt>
                <c:pt idx="2">
                  <c:v>6</c:v>
                </c:pt>
                <c:pt idx="3">
                  <c:v>11</c:v>
                </c:pt>
                <c:pt idx="4">
                  <c:v>21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Lines moved by scroll(n)</a:t>
            </a:r>
          </a:p>
        </c:rich>
      </c:tx>
      <c:layout/>
      <c:overlay val="0"/>
    </c:title>
    <c:autoTitleDeleted val="0"/>
    <c:plotArea>
      <c:layout/>
      <c:barChart>
        <c:barDir val="col"/>
        <c:grouping val="clustered"/>
        <c:varyColors val="0"/>
        <c:ser>
          <c:idx val="0"/>
          <c:order val="0"/>
          <c:tx>
            <c:strRef>
              <c:f>Sheet1!$B$1</c:f>
              <c:strCache>
                <c:ptCount val="1"/>
                <c:pt idx="0">
                  <c:v>lines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Tk 9, -1</c:v>
                  </c:pt>
                  <c:pt idx="1">
                    <c:v>Tk 9, -2</c:v>
                  </c:pt>
                  <c:pt idx="2">
                    <c:v>Tk 9, -3</c:v>
                  </c:pt>
                  <c:pt idx="3">
                    <c:v>Tk 9, -10</c:v>
                  </c:pt>
                  <c:pt idx="4">
                    <c:v>Tk 8.6, -1</c:v>
                  </c:pt>
                  <c:pt idx="5">
                    <c:v>Tk 8.6, -2</c:v>
                  </c:pt>
                  <c:pt idx="6">
                    <c:v>Tk 8.6, -3</c:v>
                  </c:pt>
                  <c:pt idx="7">
                    <c:v>Tk 8.6, -10</c:v>
                  </c:pt>
                </c:lvl>
              </c:multiLvlStrCache>
            </c:multiLvlStrRef>
          </c:cat>
          <c:val>
            <c:numRef>
              <c:f>Sheet1!$B$2:$B$9</c:f>
              <c:numCache>
                <c:formatCode>General</c:formatCode>
                <c:ptCount val="8"/>
                <c:pt idx="0">
                  <c:v>1</c:v>
                </c:pt>
                <c:pt idx="1">
                  <c:v>3</c:v>
                </c:pt>
                <c:pt idx="2">
                  <c:v>5</c:v>
                </c:pt>
                <c:pt idx="3">
                  <c:v>19</c:v>
                </c:pt>
                <c:pt idx="4">
                  <c:v>2</c:v>
                </c:pt>
                <c:pt idx="5">
                  <c:v>5</c:v>
                </c:pt>
                <c:pt idx="6">
                  <c:v>8</c:v>
                </c:pt>
                <c:pt idx="7">
                  <c:v>29</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22 taught a program to read pictures. Chapter 23 teaches a program to act on the screen: PyAutoGUI sends the movements of the mouse and the keys of the keyboard that a person would send, and it can take a screenshot and look for a picture in it. The chapter has 25 listings, 6 figures and 1 table, and ends with 13 practice questions and 3 practice programs. This deck follows the chapter in its own order: the fail-safes, the mouse, the screen and images, the keyboard, and the message boxes, and it adds what the research found when the chapter's 80 printed statements were run again. Every program of the deck runs on a virtual X display, Xvfb, with real X clients such as a Tk window, xdotool, xclip and xterm, so what a program prints is what those windows received. Nobody looks at that screen, which is why the deck calls it a virtual display, not a real screen. Every output on the slides was printed by Python 3.14.6 with PyAutoGUI 0.9.54, PyScreeze 1.0.1, PyMsgBox 2.0.1 and Pillow 12.3.0, the versions the console above prints. Windows and macOS were never used, and neither were a real Wayland session, a second monitor or a high-resolution screen. What could not be run is marked on its slide, and what the research measured and this deck does not run again is marked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what a script can do: the eight uses of PyAutoGUI, the packages and the display they need, and how a click reaches a window through the X server. Then the pauses and fail-safes: the pause after each call and the four corners. The third part is the mouse: moving it, clicking, dragging in a spiral, scrolling, and the MouseInfo application, which breaks under Tk 9. The fourth is the screen and images: screenshots and pixel colors, finding a button, exact matches and the releases that changed them, and the window objects that exist for Windows only. The fifth is the keyboard and the message boxes: typing into the right window, key names, hotkeys and the clipboard, message boxes, looking busy, and the chapter replayed in five environments. The last part is a one-map summary and the resources. The ranges name the exact slides, so you can return to the part you need. All six stories are on slides, each with a link; the eight narrative diagrams of the chapter are drawn from the same specifications as the interactive page. Every output was printed by Python 3.14.6 with PyAutoGUI 0.9.54 and PyScreeze 1.0.1, the programs ran on a virtual display,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real screen, a program can move a pointer, press buttons and keys, scroll, take a screenshot, find a picture in it and show a message box, and every one of those can be observed because X windows report what they receive. What cannot be shown to work is the part that needs a person's machine: Windows, macOS, a real Wayland compositor, a second monitor, a high-resolution screen and the games and chat programs the chapter mentions. The second question is the watch-out. The chapter's 25 listings hold 80 statements, and the research ran them as printed. With Python 3.14.6 and the newest packages 40 of the 80 matched the book's output, 52 ran without an exception and 28 raised; without OpenCV 40 matched, with PyScreeze 0.1.28 41 matched, under Python 3.12.3 with Tk 8.6.14 40 matched and 53 ran, and in an empty environment 1 matched. The statements that differ are the pointer positions, the pixel((50, 200)) call, the Box values, the window objects, mouseInfo() and the spiralDraw.py listing.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computer mouse says that on 14 November 1963 Douglas Engelbart first recorded in his notebook a pointing device he called a "bug", and that Bill English helped him build the first prototype in 1964. On 9 December 1968 Engelbart publicly demonstrated the mouse at what came to be known as The Mother of All Demos. In this study a script that called pyautogui.click(10, 5) on a virtual display made the window under the pointer receive a ButtonPress and a ButtonRelease of button 1 at (10, 5), and position() returned a Point with the integer fields x and y. The account rests on these sources. Wikipedia, 'Mouse (computing)' (Engelbart's notebook of 14 November 1963, the prototype of 1964, the demonstration of 9 December 1968), read 2026-10-13; this study's leaves PositionTuple and ClickSequence. The use-case diagram lists what a script can do through PyAutoGUI: move the mouse with moveTo(), click with click(), drag with drag(), scroll with scroll(), take a screenshot, find an image with locateOnScreen(), type text with write() and show a message box with confirm(). They are independent calls to one library, which is why the picture is a set of uses and not a sequence. The console runs under the interpreter of the deck: the installed PyAutoGUI is older than 1.0.0 and the installed PyScreeze, which does the locating, is 1.0.0 or newer, and importing pyautogui in a process with no DISPLAY raises KeyError: 'DISPLAY', which shows that the import reads the DISPLAY variable. The card records what the research found on 13 October 2026 and this deck does not run again: the chapter's page returned 200 with 103,072 bytes and holds 25 listings, 6 figures and 1 table; the online materials are a zip of 91 files, 72 of them Python, and none of them is pyautogui.py, submit.png, screenshot.png or mouseInfoLog.txt, which the chapter names; PyScreeze has 29 releases and its 1.0.0 and 1.0.1 are of 20 August 2024. The installed set was PyAutoGUI 0.9.54, PyScreeze 1.0.1, PyMsgBox 2.0.1, PyTweening 1.2.0, PyGetWindow 0.0.9, MouseInfo 0.1.3 and python3-xlib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X Window System reproduces the email in which Robert W. Scheifler wrote on 19 June 1984 that he had spent a couple of weeks writing a window system for the VS100, taken a fair amount of code from W, given it an asynchronous interface and called it X. He wrote that its performance appeared to be about twice that of W. In this study PyAutoGUI sent its keys to a window of that system through the XTEST extension and the window saw send_event as False, while a key sent with a SendEvent request arrived with send_event as True. The account rests on these sources. Wikipedia, 'X Window System' (the email of 19 June 1984 of Robert W. Scheifler), read 2026-10-13; this study's leaves XTestEvents and SyntheticVersusReal. The table runs one probe in five interpreters while the deck is checked: Python 3.14.6 with the newest packages, without OpenCV, with PyScreeze 0.1.28, Python 3.12.3 with Tk 8.6, and an empty Python 3.14.6. The probe imports pyautogui and calls size() on a virtual display, so every row with the packages answers 1920x1080, and the empty Python raises ModuleNotFoundError. The program starts three children on its own display. Without DISPLAY the import raises KeyError: 'DISPLAY'. With XDG_SESSION_TYPE set to wayland a screenshot raises PyScreezeException, while moveTo(300, 200) still works; the two results differ and the slide reports them as observed. That is a result of one program on one display and not a statement about a real Wayland compositor, which was never used; the Remote Desktop portal of XDG Desktop Portal and the Wayland protocol are documented in the research package. The research recorded that Windows documents SendInput as subject to UIPI and that macOS asks for the accessibility permission; none of those paths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follows one click(10, 5): the script calls PyAutoGUI, PyAutoGUI sends XTestFakeInput to the X server for the motion and for the press and release of the button, and the X server delivers the events to the window, which receives them as if from the real mouse. The program asks the question with real windows: the display has the XTEST extension, a click and a key press of PyAutoGUI reach the Tk window with send_event False, and the letter q sent with XSendEvent, the older way to put an event in a window, arrives with send_event True; both reached the entry. The line under the program records the finding about xterm: it discarded the 2 keystrokes ab sent with XSendEvent, received cd from PyAutoGUI and received ab only with allowSendEvents true, because a terminal may ignore events marked as sent unless that resource is true. That is why a program that fakes keys in an application may see them ignored, and why the XTEST route is the one PyAutoGUI uses. The Windows and macOS paths are named in the documentation and were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dead man's switch says it is designed to be activated or deactivated if the human operator becomes incapacitated, and that it is a form of fail-safe that stops a machine with no operator. It says the Malbone Street Wreck on the Brooklyn Rapid Transit system in 1918, though not caused by driver incapacitation, did spur the need for universal deployment of such devices to halt trains in the event of the operator's disability. In this study PyAutoGUI raised FailSafeException for a pointer in each of the four corners of a 1920 by 1080 screen and not at (1, 1), the one-pixel inset that is no corner. The account rests on these sources. Wikipedia, 'Dead man's switch' (the definition, the use as a fail-safe, the Malbone Street Wreck of 1918), read 2026-10-13; this study's leaves FailsafeCorners and FailsafeFires. The flow chart is the fail-safe of the chapter: after a call, PyAutoGUI waits for the pause, then asks whether the cursor is in a corner of the screen; if it is, the next call raises the exception and the program stops, and if not the program goes on. The program sets PAUSE to 0.3 and times five calls. In the research PAUSE is 0.1 and 15 action functions pause after the call, 14 of them once and rightClick twice, while position, size, screenshot, pixel, onScreen and sleep do not. The program prints only whether a call waited longer than 0.25 seconds, because a duration changes from run to run and a boolean does not. The fail-safe is not a promise that the program stops by itself at once: the call that moves the pointer to a corner returns, and it is the next call that raises FailSafeException.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four corners of the screen are fail-safe points, so a pointer at (1, 1) raises nothing, as the program prints. The points are computed when the module is imported: after the framebuffer was resized with xrandr from 1920 by 1080 to 1280 by 720, the process that was running kept the old corners and a new process saw (1279, 719). A script that runs for hours on a screen whose size can change must therefore be restarted, or must set its own points. The documentation says that only the primary monitor is handled, which fits what the research saw with two virtual monitors added: three monitors listed and a size that did not change. The chapter's hotkey('ctrl', 'alt', 'delete') was sent to a window of the virtual display, where the three keys arrived and were released in reverse order and nobody was logged out; what a real desktop does with them was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move without a duration is one jump, and a move with a longer duration is a series of small steps: the chart is the count of motion events the observer window received for the same move at five durations, and a duration of 0 and of 0.1 both gave a single event. In the research a duration of 0.25 made 6 events and 1.0 made 21; the numbers on the slide are this deck's own run of the same program. The steps follow the tweening function, a straight line unless a different one is passed. Points outside the screen do not raise an error: with the fail-safe off, (-50, -50) ended at (0, 0) and (5000, 5000) at the last pixel, because the X server clamps them. The program turns the fail-safe off for those two calls, which are on the screen's edge, and the point of the lines is that position() tells where the pointer really is, not where the script asked it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call is shown with the button presses that the observer window received. click() sends one left button press and release, button='middle' and rightClick() change the button to 2 and 3, and doubleClick() and tripleClick() send two and three presses in quick succession, which the Tk window reports as a Press followed by a DoubleClick, and by a DoubleClick and a TripleClick. click(clicks=2, interval=0.6) sends two clicks with a pause between them, and the window reports two single presses. Whether presses are a double click is decided by the window and its timing, not by PyAutoGUI, which only sends presses at the pointer. The call moves the pointer first when it is given coordinates, and clicks where it is when it is not, which is why the program moves to (700, 400) once and then calls click() with no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drag: the cursor is at its place, drag() pushes the button down, the cursor moves in steps for the duration, and the button is released at the new location. The loop is the chapter's spiral: four drags per turn, each a little shorter than the one before, in a window that paints where the button is held; the program makes 32 calls and the picture is what the window painted, saved by the program. The press and release counts of the observer are 30 and 30, not 32, because the last two calls ask for a distance of zero and PyAutoGUI returns at once without pressing anything. The research recorded the first five calls, (300, 0), (0, 280), (-280, 0), (0, -260) and (260, 0), and a box of ink that is the same for the chapter's loop and for the shipped spiralDraw.py. That file has 580 bytes and 15 lines; it calls dragRel, waits with time.sleep(5) and uses a duration of 0.1 where the chapter prints 0.2, and the listing as printed in the chapter raises IndentationError.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scroll(n) sends n wheel clicks, up for a positive number and down for a negative one, and what a click means is the toolkit's business: the same four calls moved a text widget by different numbers of lines under Tk 9.0.3 and under Tk 8.6.14. The program scrolls to the top before every call and prints how many lines the first visible line moved, and the chart plots the eight numbers it printed. The research found 1, 3, 5 and 19 lines under Tk 9.0.3 and 2, 5, 8 and 29 under Tk 8.6.14; the chart is this deck's own run. The chapter advises to experiment with the numbers, and the result agrees. The research also saw, on the X wire, that scroll sends the buttons 4 and 5 and hscroll the buttons 6 and 7, which is the card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MouseInfo is the small application that the chapter uses to read the position and the color under the pointer. pyautogui.mouseInfo() ends with TclError: bad option 'variable' under Tk 9.0.3, which comes with Python 3.13.14 up to 3.15.0b4, because MouseInfo 0.1.3 uses the old trace variable command and Tcl 9 documents trace add variable. The program starts it in two interpreters on its own display. The Python 3.14.6 process ended with the error and had no window; the Python 3.12.3 process with Tk 8.6.14 kept running and had a window, and the picture is that window. The caret that blinks in a field would make the picture differ from run to run, so the program moves the focus to a button before it crops the window. The delay card is the research's reading of the F6 key: the key logs the position at the end of the delay, not where the pointer was when it was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CAPTCHA says it is a challenge-response Turing test used in computing to determine whether the user is human in order to deter bot attacks and spam. The term was coined in 2003 by Luis von Ahn, Manuel Blum, Nicholas J. Hopper and John Langford, as a contrived acronym for Completely Automated Public Turing test to tell Computers and Humans Apart. In this study PyAutoGUI had no function with captcha or solve in its name, and screenshot() returned a 1920 by 1080 RGB image of a virtual display, so what a script reads from a screen is a picture. The account rests on these sources. Wikipedia, 'CAPTCHA' (the term coined in 2003 by von Ahn, Blum, Hopper and Langford; the 1997 form), read 2026-10-13; this study's leaves CaptchaEthics (the ethics part is not run) and ScreenshotImage. The program draws a window with one gray button on a display of depth 24 and takes the screenshot: the image has the size of the screen, 1920 by 1080, and the pixel inside the window is (176, 176, 175) while the pixel outside it is black. pixelMatchesColor() is True for the exact color, False when one channel is off, and True again with tolerance=1. The call pixel(210, 160) returns RGB(red=176, green=176, blue=175), a named tuple, and the second form the chapter prints, pixel((50, 200)) with a tuple, raises TypeError: pixel() missing 1 required positional argument: 'y'. A display of depth 16 stores fewer bits for each color, so the same gray comes back a little different and an exact match fails; the research saw that on its own, and this deck does not run it. The picture is the screenshot reduced to 480 by 270 pixels. A real screen with scaling, and several monitors, change the size and the coordinates, and neither was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pattern of every script that clicks a button it can see: take a screenshot, call locateOnScreen() with the image of the button, and, if it is found, click the center of the box; if it is not, the call raises ImageNotFoundException. The program draws a window with two identical buttons, cuts one button out of the screenshot and saves it as submit.png, and asks for it on the screen. locateOnScreen() returns the first box, locateAllOnScreen() both, and click() accepts the file name or a box and presses the button it finds. A Box holds the numbers as np.int64 when OpenCV is installed and as int without it, which the research saw, so the program converts them with int() before it prints them. The picture shows the screenshot with the found box in red. The research found its button at (400, 300, 84, 35), and saw locateOnScreen() raise at once when the button was not there and, with minSearchTime=5, keep looking and find a button that appeared 1.2 seconds later; in this deck's run the window is placed differently and the box is the one the transcript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that a match must be exact, and the program shows it. A button cut from the screen is found; the same image with one pixel changed to black raises ImageNotFoundException with OpenCV and without; grayscale=True does not help; and confidence=0.9 finds the damaged image only when OpenCV is installed, and raises NotImplementedError otherwise. With PyScreeze 0.1.28 the missing image does not raise at all, the call returns None, so click('submit.png') raises a confusing TypeError further on. The table is the research's record of the release matrix, 14 combinations of PyAutoGUI and PyScreeze on Python 3.12 and 3.14.6, of which 4 do not import, and the deck check computes every cell again from the record. The program prints, for the exact image, the image with one pixel off, the same with confidence=0.9 and with grayscale=True, what each call returned in three environments; the slide leaves out the imports, the private display and the window with a button. The result is the advice to pin the two packages together, and to check for None or for the exception on the version in use. The release dates of PyScreeze 1.0.0 and 1.0.1 are the same day, 20 August 2024. The research also saw that the same button at a larger font, 109 by 45 pixels instead of 84 by 35, was not found, so a picture must come from the same screen settings as the screen it is searched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teaches six window functions, getActiveWindow, getAllWindows, getWindowsAt, getWindowsWithTitle, getAllTitles and getActiveWindowTitle, and says they work on Windows only as of PyAutoGUI 1.0.0. On Linux the program finds none of them in pyautogui and importing pygetwindow raises NotImplementedError, so the chapter's three listings on window objects raise at the first call. What the program can show about windows on Linux is what the window manager and xdotool do: a Tk window placed at x 120 and y 80 has its client area at (121, 100), inside the frame that the openbox window manager adds, and after xdotool moves it to (300, 200) and resizes it to 640 by 360 the client area is at (301, 220), below the title bar. The picture is the window with that frame. The Windows window objects, with their left, top, width and height and their activate() and move calls, were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order that makes typing reliable: wait a few seconds with sleep(), click the window to make it active, call write() to type the string, call hotkey() to press the shortcut, and the focused window receives the typing. The program clicks the text field first and then types: write('Hello, world!') arrives as the same string, with the Shift key pressed for the capital H and the exclamation mark, and a list of key names, with left arrows in it, edits the text in place. keyDown('shift'), press('4') and keyUp('shift') type a dollar sign, and hotkey('ctrl', 'a') followed by delete empties the field. The picture is the field after the program typed the sentence again. Without the click the keys go to whichever window has the focus, and that is the mistake the chapter warns about. Appendix B has typing mistakes of its own, which the research found: the answer to question 6 types Hello world! without the comma of the question, and the answer to question 13 misspells pyautogui as pyatuogui, a NameError.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QWERTY says the layout was devised in the early 1870s by Christopher Latham Sholes, that the manufacturing rights of the Sholes and Glidden Type-Writer were sold to E. Remington and Sons in 1873, and that the QWERTY design is based on the layout of the Sholes and Glidden typewriter sold by Remington from 1874. It became popular with the Remington No. 2 of 1878 and is still a de facto standard on computers. In this study write('zqay;') produced the same five characters under the us, de, tr and fr layouts of setxkbmap, and the table of key names held 194 entries. The account rests on these sources. Wikipedia, 'QWERTY' (Sholes, the sale to Remington in 1873, the typewriter sold from 1874, the Remington No. 2 of 1878), read 2026-10-13; this study's leaves KeyboardLayout and KeyTable. The program types into a text field and prints what arrived. press('nokey'), press('SHIFT') and keyDown('nokey') raise nothing and type nothing, because the key names are lower case and an unknown name is ignored; write(['a', 'nokey', 'b']) typed ab and write('café') typed caf, because the letter with the accent is not on the list, and the capital A is not in the list either, since a capital is typed with the Shift key. The consequence is that a script cannot tell a typo from a success, and the habit is to print the text that arrived, as the program does. The table of the chapter, Table 23-1, lists the key names, and every one of its 41 names is in KEYBOARD_KEYS.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cut, copy and paste says Larry Tesler proposed the names cut and copy for the first step and paste for the second, and that beginning in 1974 he and colleagues at Xerox PARC implemented several text editors that used the commands. Apple Computer popularized the paradigm with its Lisa in 1983 and Macintosh in 1984, mapping the functions to key combinations. In this study a script pressed ctrl and a, then ctrl and c, in a window and pyperclip.paste() returned the two lines 'Hello, world!' and 'second line' through xclip. The account rests on these sources. Wikipedia, 'Cut, copy, and paste' (Tesler and Xerox PARC from 1974; Apple Lisa 1983 and Macintosh 1984), read 2026-10-13; this study's leaves ClipboardRoundTrip and HotkeyOrder. The sequence diagram is the round trip of the chapter: the script presses ctrl and a to select the text, ctrl and c to copy it, the window stores the text on the clipboard, the script calls pyperclip.paste(), and the clipboard returns the text of the window. The program shows two things. The keys of hotkey('ctrl', 'alt', 'shift', 's') went down in the order given and came up in the reverse order, which the window recorded as events. And the text of the field, selected and copied with the two shortcuts, came back from pyperclip.paste() and pasted again with ctrl and v. The program waits a second between the copy and the paste, because the copy is made by another process and the clipboard is not filled at once; the corpus programs that read the clipboard right away sometimes got an empty string, so their values are not quoted. The five files of the online materials that import pyperclip are alternatingText.py, ccwd.py, cliprec.py, phoneAndEmail.py and showmap.py.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boxes of PyAutoGUI come from PyMsgBox: alert(), confirm(), prompt() and password(). The program starts each box in a child process on its own display, answers it with xdotool keys and prints what the call returned. Return on confirm returns 'OK' and Escape returns 'Cancel'; prompt returns an empty string for Return alone and None for Escape; password returns what was typed; and confirm with timeout=1500 returned 'Timeout' after about one and a half seconds, which the program prints as a boolean. A script that needs an answer must handle both the empty string and None. The installed PyMsgBox reports a version older than its release, which the research saw and which is only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that moves the pointer one pixel left and right keeps a screen from going idle, and the program shows the mechanism with the idle clock of the X server: the x positions are 799, 800, 799, 800, 799 and 800, and the script ends where it began. The idle time is reset by move(1, 0) and by press('shift') and not by position() or size(), so a script that only reads the screen does not look busy. The numbers are printed as booleans, because the idle time itself changes from run to run. The chapter's examples that use these ideas, a bot for a game, an instant messenger and a captcha, need a real screen and a real service and were not run; the repository of the game bot could not be fetched from the proxy of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research's record of the chapter's 80 statements replayed as printed, and the deck check computes every cell again from the record. With Python 3.14.6 and the newest packages 40 matched the book and 52 ran without an exception; without OpenCV the numbers were the same; with PyScreeze 0.1.28 41 matched; under Python 3.12.3 with Tk 8.6.14 40 matched and 53 ran; and in an empty environment 1 matched and 1 ran. The statements that differ are the pointer positions, the pixel((50, 200)) call, the Box values, the window objects, mouseInfo() and the listing of spiralDraw.py. Across the 14 combinations of PyAutoGUI and PyScreeze, 7 of the 27 items differed, across 7 releases of Pillow, 9.5.0 to 12.3.0, 3 items differed only by a DeprecationWarning in 12.3.0, and across 3 releases of PyMsgBox the signatures differed. The photograph of the stories was not fetched, because the single request to Wikimedia Commons answered 429.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Installing and sending input: PyAutoGUI sends events through XTEST on Linux, a Wayland session does not accept them, and the window functions exist only on Windows; on slide 5 the session variable alone made the screenshot fail while the move still worked through X. Staying on track: the pause after each call is 0.1 seconds, a corner of the screen raises the fail-safe, and the exception stops the program. Mouse control: the origin (0, 0) is the top left corner, click() presses and releases the button, and drag() holds the button down. Screen and images: screenshot() returns an image, locateOnScreen() returns a box, and a missing image raises ImageNotFoundException with a recent PyScreeze. Windows and keyboard: write() types a string, an unknown key name is ignored and the focused window receives the typing. Scripts and practice: confirm() returns the button clicked, Looking Busy moves the cursor by one pixel, and Tk 9 breaks MouseInfo. Together they answer the first question of the chapter, what can be shown to work on a machine with no real screen and what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online materials are the zip of 91 files, and Appendix A is where the book installs third-party packages. The reference links are the PyAutoGUI documentation and its pages on the mouse and keyboard functions, and the MouseInfo documentation. The six stories of the chapter are on slides with their own link, and their pages are the last group. The research package holds 56 sources in all, among them the X.Org protocol documents, the manual page of xterm, the Microsoft documentation of SendInput, the PyPI metadata of the packages and the Tcl 9.0 manual. The research opened the chapter's own 13 external links too: 7 answered 200, 3 answered 302, youtu.be answered 303 and then 429, the game bot's repository answered 403 through the proxy of the study, and sumopaint.com was unreachable. No photograph of a person is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programs need PyAutoGUI, PyScreeze, Pillow, PyMsgBox, pyperclip, python3-xlib and a Tk, and the deck's own programs run on a virtual X display with Xvfb, openbox, xdotool, xclip, xterm and scrot. The rows were run again under Python 3.14.6 each time the deck was built, and the programs, and with them the pictures, were run again by the check that compares the slides with the recording. What was not run is marked on its slide: Windows and macOS, a real Wayland compositor, real or multiple monitors, HiDPI scaling, a real screen, the Sushi Go Round game, a captcha, a real instant messenger and Python 3.15 final. Nothing was ever shown to a person on a screen. Every count in this deck from a single run is a single run, and not a benchmark. The next chapter of the book moves on, and what this chapter taught about checking what a program receives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n.wikipedia.org/wiki/Mouse_(computing)"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X_Window_Syste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en.wikipedia.org/wiki/Dead_man%27s_switch"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hyperlink" Target="https://en.wikipedia.org/wiki/CAPTCHA"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en.wikipedia.org/wiki/QWERTY"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en.wikipedia.org/wiki/Cut,_copy,_and_paste"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en.wikipedia.org/wiki/Mouse_(computing)" TargetMode="External"/><Relationship Id="rId2" Type="http://schemas.openxmlformats.org/officeDocument/2006/relationships/hyperlink" Target="https://en.wikipedia.org/wiki/X_Window_System" TargetMode="External"/><Relationship Id="rId3" Type="http://schemas.openxmlformats.org/officeDocument/2006/relationships/hyperlink" Target="https://en.wikipedia.org/wiki/QWERTY" TargetMode="External"/><Relationship Id="rId4" Type="http://schemas.openxmlformats.org/officeDocument/2006/relationships/hyperlink" Target="https://en.wikipedia.org/wiki/CAPTCHA" TargetMode="External"/><Relationship Id="rId5" Type="http://schemas.openxmlformats.org/officeDocument/2006/relationships/hyperlink" Target="https://en.wikipedia.org/wiki/Dead_man%27s_switch" TargetMode="External"/><Relationship Id="rId6" Type="http://schemas.openxmlformats.org/officeDocument/2006/relationships/hyperlink" Target="https://en.wikipedia.org/wiki/Cut,_copy,_and_paste" TargetMode="External"/><Relationship Id="rId7" Type="http://schemas.openxmlformats.org/officeDocument/2006/relationships/hyperlink" Target="https://automatetheboringstuff.com/3e/chapter23.html" TargetMode="External"/><Relationship Id="rId8" Type="http://schemas.openxmlformats.org/officeDocument/2006/relationships/hyperlink" Target="https://automatetheboringstuff.com/3e/appendixa.html" TargetMode="External"/><Relationship Id="rId9" Type="http://schemas.openxmlformats.org/officeDocument/2006/relationships/hyperlink" Target="https://nostarch.com/download/code/Automate_the_Boring_Stuff_3e_onlinematerials.zip" TargetMode="External"/><Relationship Id="rId10" Type="http://schemas.openxmlformats.org/officeDocument/2006/relationships/hyperlink" Target="https://pyautogui.readthedocs.io/en/latest/" TargetMode="External"/><Relationship Id="rId11" Type="http://schemas.openxmlformats.org/officeDocument/2006/relationships/hyperlink" Target="https://pyautogui.readthedocs.io/en/latest/mouse.html" TargetMode="External"/><Relationship Id="rId12" Type="http://schemas.openxmlformats.org/officeDocument/2006/relationships/hyperlink" Target="https://pyautogui.readthedocs.io/en/latest/keyboard.html" TargetMode="External"/><Relationship Id="rId13" Type="http://schemas.openxmlformats.org/officeDocument/2006/relationships/hyperlink" Target="https://mouseinfo.readthedocs.io/en/latest/"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23: Keyboard and Mouse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Controlling the keyboard and mouse with PyAutoGUI: fail-safes, clicks, screenshots, typing and message boxes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228600"/>
            <a:ext cx="4114800" cy="1883664"/>
          </a:xfrm>
          <a:prstGeom prst="roundRect">
            <a:avLst>
              <a:gd name="adj" fmla="val 4854"/>
            </a:avLst>
          </a:prstGeom>
          <a:solidFill>
            <a:srgbClr val="23272E"/>
          </a:solidFill>
          <a:ln w="12700">
            <a:solidFill>
              <a:srgbClr val="23272E"/>
            </a:solidFill>
            <a:prstDash val="solid"/>
          </a:ln>
        </p:spPr>
      </p:sp>
      <p:sp>
        <p:nvSpPr>
          <p:cNvPr id="12" name="Text 10"/>
          <p:cNvSpPr txBox="1"/>
          <p:nvPr/>
        </p:nvSpPr>
        <p:spPr>
          <a:xfrm>
            <a:off x="4754880" y="347472"/>
            <a:ext cx="3749040" cy="164592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platform, importlib.metadata as m</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platform.python_version()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'3.14.6'</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m.version('pyautogui')</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'0.9.54'</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m.version('pyscreeze')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'1.0.1'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m.version('pillow')</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'12.3.0'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m.version('pymsgbox')</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'2.0.1'</a:t>
            </a:r>
            <a:endParaRPr lang="en-US" sz="800" dirty="0"/>
          </a:p>
        </p:txBody>
      </p:sp>
      <p:sp>
        <p:nvSpPr>
          <p:cNvPr id="13" name="Text 11"/>
          <p:cNvSpPr txBox="1"/>
          <p:nvPr/>
        </p:nvSpPr>
        <p:spPr>
          <a:xfrm>
            <a:off x="548640" y="3520440"/>
            <a:ext cx="8046720" cy="539496"/>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and every picture was saved by a program that is run again to check it. Windows, macOS and a real screen were never used: every program ran on a virtual display, and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 script can do (slides 4-6)</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Pauses and fail-safes (slides 7-8)</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mouse (slides 9-13)</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screen and images (slides 14-17)</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keyboard and message boxes (slides 18-23)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 + 0</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6 on slides, 0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pictures, each saved by a program that is run again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what a script can do to a map.</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Which parts of a program that moves the mouse, types and finds images on the screen can be shown to work, and which can only be shown to fail or be read from documentation, on a machine that has no real screen, no Windows or macOS and no second monitor, and how large is the spread between interpreter, Tk and package releases?</a:t>
            </a:r>
            <a:endParaRPr lang="en-US" sz="11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Which printed outputs, programs, version numbers and statements of the chapter differ in current releases of Python, PyAutoGUI, PyScreeze, Pillow, PyMsgBox and Tk, with or without OpenCV, or in the files and pages it points to, and on what source?</a:t>
            </a:r>
            <a:endParaRPr lang="en-US" sz="11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104 topics</a:t>
            </a:r>
            <a:endParaRPr lang="en-US" sz="1000" dirty="0"/>
          </a:p>
        </p:txBody>
      </p:sp>
      <p:sp>
        <p:nvSpPr>
          <p:cNvPr id="16" name="Shape 14"/>
          <p:cNvSpPr/>
          <p:nvPr/>
        </p:nvSpPr>
        <p:spPr>
          <a:xfrm>
            <a:off x="3730752"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7307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13 console rows</a:t>
            </a:r>
            <a:endParaRPr lang="en-US" sz="1000" dirty="0"/>
          </a:p>
        </p:txBody>
      </p:sp>
      <p:sp>
        <p:nvSpPr>
          <p:cNvPr id="18" name="Shape 16"/>
          <p:cNvSpPr/>
          <p:nvPr/>
        </p:nvSpPr>
        <p:spPr>
          <a:xfrm>
            <a:off x="5893308"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893308"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435608"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pictures</a:t>
            </a:r>
            <a:endParaRPr lang="en-US" sz="1000" dirty="0"/>
          </a:p>
        </p:txBody>
      </p:sp>
      <p:sp>
        <p:nvSpPr>
          <p:cNvPr id="24" name="Shape 22"/>
          <p:cNvSpPr/>
          <p:nvPr/>
        </p:nvSpPr>
        <p:spPr>
          <a:xfrm>
            <a:off x="3730752" y="405993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3730752"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script can do with PyAutoGUI</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uses; the chapter mentions release 1.0.0, which PyPI does not list</a:t>
            </a:r>
            <a:endParaRPr lang="en-US" sz="1300" dirty="0"/>
          </a:p>
        </p:txBody>
      </p:sp>
      <p:sp>
        <p:nvSpPr>
          <p:cNvPr id="6" name="Shape 4"/>
          <p:cNvSpPr/>
          <p:nvPr/>
        </p:nvSpPr>
        <p:spPr>
          <a:xfrm>
            <a:off x="1188720" y="1536192"/>
            <a:ext cx="3474720" cy="2258568"/>
          </a:xfrm>
          <a:prstGeom prst="rect">
            <a:avLst/>
          </a:prstGeom>
          <a:solidFill>
            <a:srgbClr val="FBF8F2"/>
          </a:solidFill>
          <a:ln w="12700">
            <a:solidFill>
              <a:srgbClr val="6E655C"/>
            </a:solidFill>
            <a:prstDash val="solid"/>
          </a:ln>
        </p:spPr>
      </p:sp>
      <p:sp>
        <p:nvSpPr>
          <p:cNvPr id="7" name="Text 5"/>
          <p:cNvSpPr txBox="1"/>
          <p:nvPr/>
        </p:nvSpPr>
        <p:spPr>
          <a:xfrm>
            <a:off x="1261872" y="1298448"/>
            <a:ext cx="333756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PYAUTOGUI</a:t>
            </a:r>
            <a:endParaRPr lang="en-US" sz="850" dirty="0"/>
          </a:p>
        </p:txBody>
      </p:sp>
      <p:sp>
        <p:nvSpPr>
          <p:cNvPr id="8" name="Shape 6"/>
          <p:cNvSpPr/>
          <p:nvPr/>
        </p:nvSpPr>
        <p:spPr>
          <a:xfrm>
            <a:off x="1325880" y="1636776"/>
            <a:ext cx="3200400" cy="218542"/>
          </a:xfrm>
          <a:prstGeom prst="ellipse">
            <a:avLst/>
          </a:prstGeom>
          <a:solidFill>
            <a:srgbClr val="F2ECE1"/>
          </a:solidFill>
          <a:ln w="15875">
            <a:solidFill>
              <a:srgbClr val="2F6D62"/>
            </a:solidFill>
            <a:prstDash val="solid"/>
          </a:ln>
        </p:spPr>
      </p:sp>
      <p:sp>
        <p:nvSpPr>
          <p:cNvPr id="9" name="Text 7"/>
          <p:cNvSpPr txBox="1"/>
          <p:nvPr/>
        </p:nvSpPr>
        <p:spPr>
          <a:xfrm>
            <a:off x="1581912" y="1675181"/>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Move the mouse with moveTo()</a:t>
            </a:r>
            <a:endParaRPr lang="en-US" sz="800" dirty="0"/>
          </a:p>
        </p:txBody>
      </p:sp>
      <p:sp>
        <p:nvSpPr>
          <p:cNvPr id="10" name="Shape 8"/>
          <p:cNvSpPr/>
          <p:nvPr/>
        </p:nvSpPr>
        <p:spPr>
          <a:xfrm>
            <a:off x="1325880" y="1910182"/>
            <a:ext cx="3200400" cy="218542"/>
          </a:xfrm>
          <a:prstGeom prst="ellipse">
            <a:avLst/>
          </a:prstGeom>
          <a:solidFill>
            <a:srgbClr val="F2ECE1"/>
          </a:solidFill>
          <a:ln w="15875">
            <a:solidFill>
              <a:srgbClr val="2F6D62"/>
            </a:solidFill>
            <a:prstDash val="solid"/>
          </a:ln>
        </p:spPr>
      </p:sp>
      <p:sp>
        <p:nvSpPr>
          <p:cNvPr id="11" name="Text 9"/>
          <p:cNvSpPr txBox="1"/>
          <p:nvPr/>
        </p:nvSpPr>
        <p:spPr>
          <a:xfrm>
            <a:off x="1581912" y="1948586"/>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Click a button with click()</a:t>
            </a:r>
            <a:endParaRPr lang="en-US" sz="800" dirty="0"/>
          </a:p>
        </p:txBody>
      </p:sp>
      <p:sp>
        <p:nvSpPr>
          <p:cNvPr id="12" name="Shape 10"/>
          <p:cNvSpPr/>
          <p:nvPr/>
        </p:nvSpPr>
        <p:spPr>
          <a:xfrm>
            <a:off x="1325880" y="2182673"/>
            <a:ext cx="3200400" cy="218542"/>
          </a:xfrm>
          <a:prstGeom prst="ellipse">
            <a:avLst/>
          </a:prstGeom>
          <a:solidFill>
            <a:srgbClr val="F2ECE1"/>
          </a:solidFill>
          <a:ln w="15875">
            <a:solidFill>
              <a:srgbClr val="2F6D62"/>
            </a:solidFill>
            <a:prstDash val="solid"/>
          </a:ln>
        </p:spPr>
      </p:sp>
      <p:sp>
        <p:nvSpPr>
          <p:cNvPr id="13" name="Text 11"/>
          <p:cNvSpPr txBox="1"/>
          <p:nvPr/>
        </p:nvSpPr>
        <p:spPr>
          <a:xfrm>
            <a:off x="1581912" y="2221992"/>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Drag the mouse with drag()</a:t>
            </a:r>
            <a:endParaRPr lang="en-US" sz="800" dirty="0"/>
          </a:p>
        </p:txBody>
      </p:sp>
      <p:sp>
        <p:nvSpPr>
          <p:cNvPr id="14" name="Shape 12"/>
          <p:cNvSpPr/>
          <p:nvPr/>
        </p:nvSpPr>
        <p:spPr>
          <a:xfrm>
            <a:off x="1325880" y="2456078"/>
            <a:ext cx="3200400" cy="218542"/>
          </a:xfrm>
          <a:prstGeom prst="ellipse">
            <a:avLst/>
          </a:prstGeom>
          <a:solidFill>
            <a:srgbClr val="F2ECE1"/>
          </a:solidFill>
          <a:ln w="15875">
            <a:solidFill>
              <a:srgbClr val="2F6D62"/>
            </a:solidFill>
            <a:prstDash val="solid"/>
          </a:ln>
        </p:spPr>
      </p:sp>
      <p:sp>
        <p:nvSpPr>
          <p:cNvPr id="15" name="Text 13"/>
          <p:cNvSpPr txBox="1"/>
          <p:nvPr/>
        </p:nvSpPr>
        <p:spPr>
          <a:xfrm>
            <a:off x="1581912" y="2494483"/>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Scroll with scroll()</a:t>
            </a:r>
            <a:endParaRPr lang="en-US" sz="800" dirty="0"/>
          </a:p>
        </p:txBody>
      </p:sp>
      <p:sp>
        <p:nvSpPr>
          <p:cNvPr id="16" name="Shape 14"/>
          <p:cNvSpPr/>
          <p:nvPr/>
        </p:nvSpPr>
        <p:spPr>
          <a:xfrm>
            <a:off x="1325880" y="2729484"/>
            <a:ext cx="3200400" cy="218542"/>
          </a:xfrm>
          <a:prstGeom prst="ellipse">
            <a:avLst/>
          </a:prstGeom>
          <a:solidFill>
            <a:srgbClr val="F2ECE1"/>
          </a:solidFill>
          <a:ln w="15875">
            <a:solidFill>
              <a:srgbClr val="2F6D62"/>
            </a:solidFill>
            <a:prstDash val="solid"/>
          </a:ln>
        </p:spPr>
      </p:sp>
      <p:sp>
        <p:nvSpPr>
          <p:cNvPr id="17" name="Text 15"/>
          <p:cNvSpPr txBox="1"/>
          <p:nvPr/>
        </p:nvSpPr>
        <p:spPr>
          <a:xfrm>
            <a:off x="1581912" y="2767889"/>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Take a screenshot</a:t>
            </a:r>
            <a:endParaRPr lang="en-US" sz="800" dirty="0"/>
          </a:p>
        </p:txBody>
      </p:sp>
      <p:sp>
        <p:nvSpPr>
          <p:cNvPr id="18" name="Shape 16"/>
          <p:cNvSpPr/>
          <p:nvPr/>
        </p:nvSpPr>
        <p:spPr>
          <a:xfrm>
            <a:off x="1325880" y="3002890"/>
            <a:ext cx="3200400" cy="218542"/>
          </a:xfrm>
          <a:prstGeom prst="ellipse">
            <a:avLst/>
          </a:prstGeom>
          <a:solidFill>
            <a:srgbClr val="F2ECE1"/>
          </a:solidFill>
          <a:ln w="15875">
            <a:solidFill>
              <a:srgbClr val="2F6D62"/>
            </a:solidFill>
            <a:prstDash val="solid"/>
          </a:ln>
        </p:spPr>
      </p:sp>
      <p:sp>
        <p:nvSpPr>
          <p:cNvPr id="19" name="Text 17"/>
          <p:cNvSpPr txBox="1"/>
          <p:nvPr/>
        </p:nvSpPr>
        <p:spPr>
          <a:xfrm>
            <a:off x="1581912" y="3041294"/>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Find an image with locateOnScreen()</a:t>
            </a:r>
            <a:endParaRPr lang="en-US" sz="800" dirty="0"/>
          </a:p>
        </p:txBody>
      </p:sp>
      <p:sp>
        <p:nvSpPr>
          <p:cNvPr id="20" name="Shape 18"/>
          <p:cNvSpPr/>
          <p:nvPr/>
        </p:nvSpPr>
        <p:spPr>
          <a:xfrm>
            <a:off x="1325880" y="3275381"/>
            <a:ext cx="3200400" cy="218542"/>
          </a:xfrm>
          <a:prstGeom prst="ellipse">
            <a:avLst/>
          </a:prstGeom>
          <a:solidFill>
            <a:srgbClr val="F2ECE1"/>
          </a:solidFill>
          <a:ln w="15875">
            <a:solidFill>
              <a:srgbClr val="2F6D62"/>
            </a:solidFill>
            <a:prstDash val="solid"/>
          </a:ln>
        </p:spPr>
      </p:sp>
      <p:sp>
        <p:nvSpPr>
          <p:cNvPr id="21" name="Text 19"/>
          <p:cNvSpPr txBox="1"/>
          <p:nvPr/>
        </p:nvSpPr>
        <p:spPr>
          <a:xfrm>
            <a:off x="1581912" y="3314700"/>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Type text with write()</a:t>
            </a:r>
            <a:endParaRPr lang="en-US" sz="800" dirty="0"/>
          </a:p>
        </p:txBody>
      </p:sp>
      <p:sp>
        <p:nvSpPr>
          <p:cNvPr id="22" name="Shape 20"/>
          <p:cNvSpPr/>
          <p:nvPr/>
        </p:nvSpPr>
        <p:spPr>
          <a:xfrm>
            <a:off x="1325880" y="3548786"/>
            <a:ext cx="3200400" cy="218542"/>
          </a:xfrm>
          <a:prstGeom prst="ellipse">
            <a:avLst/>
          </a:prstGeom>
          <a:solidFill>
            <a:srgbClr val="F2ECE1"/>
          </a:solidFill>
          <a:ln w="15875">
            <a:solidFill>
              <a:srgbClr val="2F6D62"/>
            </a:solidFill>
            <a:prstDash val="solid"/>
          </a:ln>
        </p:spPr>
      </p:sp>
      <p:sp>
        <p:nvSpPr>
          <p:cNvPr id="23" name="Text 21"/>
          <p:cNvSpPr txBox="1"/>
          <p:nvPr/>
        </p:nvSpPr>
        <p:spPr>
          <a:xfrm>
            <a:off x="1581912" y="3587191"/>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Show a message box with confirm()</a:t>
            </a:r>
            <a:endParaRPr lang="en-US" sz="800" dirty="0"/>
          </a:p>
        </p:txBody>
      </p:sp>
      <p:sp>
        <p:nvSpPr>
          <p:cNvPr id="24" name="Shape 22"/>
          <p:cNvSpPr/>
          <p:nvPr/>
        </p:nvSpPr>
        <p:spPr>
          <a:xfrm>
            <a:off x="676656" y="1897380"/>
            <a:ext cx="201168" cy="201168"/>
          </a:xfrm>
          <a:prstGeom prst="ellipse">
            <a:avLst/>
          </a:prstGeom>
          <a:solidFill>
            <a:srgbClr val="FFFFFF"/>
          </a:solidFill>
          <a:ln w="19050">
            <a:solidFill>
              <a:srgbClr val="2B2622"/>
            </a:solidFill>
            <a:prstDash val="solid"/>
          </a:ln>
        </p:spPr>
      </p:sp>
      <p:sp>
        <p:nvSpPr>
          <p:cNvPr id="25" name="Shape 23"/>
          <p:cNvSpPr/>
          <p:nvPr/>
        </p:nvSpPr>
        <p:spPr>
          <a:xfrm>
            <a:off x="777240" y="2098548"/>
            <a:ext cx="0" cy="347472"/>
          </a:xfrm>
          <a:prstGeom prst="line">
            <a:avLst/>
          </a:prstGeom>
          <a:noFill/>
          <a:ln w="19050">
            <a:solidFill>
              <a:srgbClr val="2B2622"/>
            </a:solidFill>
            <a:prstDash val="solid"/>
          </a:ln>
        </p:spPr>
      </p:sp>
      <p:sp>
        <p:nvSpPr>
          <p:cNvPr id="26" name="Shape 24"/>
          <p:cNvSpPr/>
          <p:nvPr/>
        </p:nvSpPr>
        <p:spPr>
          <a:xfrm>
            <a:off x="594360" y="2189988"/>
            <a:ext cx="365760" cy="0"/>
          </a:xfrm>
          <a:prstGeom prst="line">
            <a:avLst/>
          </a:prstGeom>
          <a:noFill/>
          <a:ln w="19050">
            <a:solidFill>
              <a:srgbClr val="2B2622"/>
            </a:solidFill>
            <a:prstDash val="solid"/>
          </a:ln>
        </p:spPr>
      </p:sp>
      <p:sp>
        <p:nvSpPr>
          <p:cNvPr id="27" name="Shape 25"/>
          <p:cNvSpPr/>
          <p:nvPr/>
        </p:nvSpPr>
        <p:spPr>
          <a:xfrm flipH="1">
            <a:off x="630936" y="2446020"/>
            <a:ext cx="146304" cy="228600"/>
          </a:xfrm>
          <a:prstGeom prst="line">
            <a:avLst/>
          </a:prstGeom>
          <a:noFill/>
          <a:ln w="19050">
            <a:solidFill>
              <a:srgbClr val="2B2622"/>
            </a:solidFill>
            <a:prstDash val="solid"/>
          </a:ln>
        </p:spPr>
      </p:sp>
      <p:sp>
        <p:nvSpPr>
          <p:cNvPr id="28" name="Shape 26"/>
          <p:cNvSpPr/>
          <p:nvPr/>
        </p:nvSpPr>
        <p:spPr>
          <a:xfrm>
            <a:off x="777240" y="2446020"/>
            <a:ext cx="146304" cy="228600"/>
          </a:xfrm>
          <a:prstGeom prst="line">
            <a:avLst/>
          </a:prstGeom>
          <a:noFill/>
          <a:ln w="19050">
            <a:solidFill>
              <a:srgbClr val="2B2622"/>
            </a:solidFill>
            <a:prstDash val="solid"/>
          </a:ln>
        </p:spPr>
      </p:sp>
      <p:sp>
        <p:nvSpPr>
          <p:cNvPr id="29" name="Text 27"/>
          <p:cNvSpPr txBox="1"/>
          <p:nvPr/>
        </p:nvSpPr>
        <p:spPr>
          <a:xfrm>
            <a:off x="457200" y="27203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script</a:t>
            </a:r>
            <a:endParaRPr lang="en-US" sz="850" dirty="0"/>
          </a:p>
        </p:txBody>
      </p:sp>
      <p:sp>
        <p:nvSpPr>
          <p:cNvPr id="30" name="Shape 28"/>
          <p:cNvSpPr/>
          <p:nvPr/>
        </p:nvSpPr>
        <p:spPr>
          <a:xfrm flipV="1">
            <a:off x="960120" y="1745590"/>
            <a:ext cx="365760" cy="517550"/>
          </a:xfrm>
          <a:prstGeom prst="line">
            <a:avLst/>
          </a:prstGeom>
          <a:noFill/>
          <a:ln w="12700">
            <a:solidFill>
              <a:srgbClr val="6E655C"/>
            </a:solidFill>
            <a:prstDash val="solid"/>
          </a:ln>
        </p:spPr>
      </p:sp>
      <p:sp>
        <p:nvSpPr>
          <p:cNvPr id="31" name="Shape 29"/>
          <p:cNvSpPr/>
          <p:nvPr/>
        </p:nvSpPr>
        <p:spPr>
          <a:xfrm flipV="1">
            <a:off x="960120" y="2018995"/>
            <a:ext cx="365760" cy="244145"/>
          </a:xfrm>
          <a:prstGeom prst="line">
            <a:avLst/>
          </a:prstGeom>
          <a:noFill/>
          <a:ln w="12700">
            <a:solidFill>
              <a:srgbClr val="6E655C"/>
            </a:solidFill>
            <a:prstDash val="solid"/>
          </a:ln>
        </p:spPr>
      </p:sp>
      <p:sp>
        <p:nvSpPr>
          <p:cNvPr id="32" name="Shape 30"/>
          <p:cNvSpPr/>
          <p:nvPr/>
        </p:nvSpPr>
        <p:spPr>
          <a:xfrm>
            <a:off x="960120" y="2263140"/>
            <a:ext cx="365760" cy="29261"/>
          </a:xfrm>
          <a:prstGeom prst="line">
            <a:avLst/>
          </a:prstGeom>
          <a:noFill/>
          <a:ln w="12700">
            <a:solidFill>
              <a:srgbClr val="6E655C"/>
            </a:solidFill>
            <a:prstDash val="solid"/>
          </a:ln>
        </p:spPr>
      </p:sp>
      <p:sp>
        <p:nvSpPr>
          <p:cNvPr id="33" name="Shape 31"/>
          <p:cNvSpPr/>
          <p:nvPr/>
        </p:nvSpPr>
        <p:spPr>
          <a:xfrm>
            <a:off x="960120" y="2263140"/>
            <a:ext cx="365760" cy="302666"/>
          </a:xfrm>
          <a:prstGeom prst="line">
            <a:avLst/>
          </a:prstGeom>
          <a:noFill/>
          <a:ln w="12700">
            <a:solidFill>
              <a:srgbClr val="6E655C"/>
            </a:solidFill>
            <a:prstDash val="solid"/>
          </a:ln>
        </p:spPr>
      </p:sp>
      <p:sp>
        <p:nvSpPr>
          <p:cNvPr id="34" name="Shape 32"/>
          <p:cNvSpPr/>
          <p:nvPr/>
        </p:nvSpPr>
        <p:spPr>
          <a:xfrm>
            <a:off x="960120" y="2263140"/>
            <a:ext cx="365760" cy="575158"/>
          </a:xfrm>
          <a:prstGeom prst="line">
            <a:avLst/>
          </a:prstGeom>
          <a:noFill/>
          <a:ln w="12700">
            <a:solidFill>
              <a:srgbClr val="6E655C"/>
            </a:solidFill>
            <a:prstDash val="solid"/>
          </a:ln>
        </p:spPr>
      </p:sp>
      <p:sp>
        <p:nvSpPr>
          <p:cNvPr id="35" name="Shape 33"/>
          <p:cNvSpPr/>
          <p:nvPr/>
        </p:nvSpPr>
        <p:spPr>
          <a:xfrm>
            <a:off x="960120" y="2263140"/>
            <a:ext cx="365760" cy="848563"/>
          </a:xfrm>
          <a:prstGeom prst="line">
            <a:avLst/>
          </a:prstGeom>
          <a:noFill/>
          <a:ln w="12700">
            <a:solidFill>
              <a:srgbClr val="6E655C"/>
            </a:solidFill>
            <a:prstDash val="solid"/>
          </a:ln>
        </p:spPr>
      </p:sp>
      <p:sp>
        <p:nvSpPr>
          <p:cNvPr id="36" name="Shape 34"/>
          <p:cNvSpPr/>
          <p:nvPr/>
        </p:nvSpPr>
        <p:spPr>
          <a:xfrm>
            <a:off x="960120" y="2263140"/>
            <a:ext cx="365760" cy="1121969"/>
          </a:xfrm>
          <a:prstGeom prst="line">
            <a:avLst/>
          </a:prstGeom>
          <a:noFill/>
          <a:ln w="12700">
            <a:solidFill>
              <a:srgbClr val="6E655C"/>
            </a:solidFill>
            <a:prstDash val="solid"/>
          </a:ln>
        </p:spPr>
      </p:sp>
      <p:sp>
        <p:nvSpPr>
          <p:cNvPr id="37" name="Shape 35"/>
          <p:cNvSpPr/>
          <p:nvPr/>
        </p:nvSpPr>
        <p:spPr>
          <a:xfrm>
            <a:off x="960120" y="2263140"/>
            <a:ext cx="365760" cy="1395374"/>
          </a:xfrm>
          <a:prstGeom prst="line">
            <a:avLst/>
          </a:prstGeom>
          <a:noFill/>
          <a:ln w="12700">
            <a:solidFill>
              <a:srgbClr val="6E655C"/>
            </a:solidFill>
            <a:prstDash val="solid"/>
          </a:ln>
        </p:spPr>
      </p:sp>
      <p:sp>
        <p:nvSpPr>
          <p:cNvPr id="38" name="Text 36"/>
          <p:cNvSpPr txBox="1"/>
          <p:nvPr/>
        </p:nvSpPr>
        <p:spPr>
          <a:xfrm>
            <a:off x="457200" y="382219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WhatAScriptCanDoWithPyAutoGUI - SetOfUses pattern, 25 of 25 words grounded in the chapter's text</a:t>
            </a:r>
            <a:endParaRPr lang="en-US" sz="850" dirty="0"/>
          </a:p>
        </p:txBody>
      </p:sp>
      <p:sp>
        <p:nvSpPr>
          <p:cNvPr id="39" name="Shape 37"/>
          <p:cNvSpPr/>
          <p:nvPr/>
        </p:nvSpPr>
        <p:spPr>
          <a:xfrm>
            <a:off x="4846320" y="1325880"/>
            <a:ext cx="3840480" cy="1883664"/>
          </a:xfrm>
          <a:prstGeom prst="roundRect">
            <a:avLst>
              <a:gd name="adj" fmla="val 4854"/>
            </a:avLst>
          </a:prstGeom>
          <a:solidFill>
            <a:srgbClr val="23272E"/>
          </a:solidFill>
          <a:ln w="12700">
            <a:solidFill>
              <a:srgbClr val="23272E"/>
            </a:solidFill>
            <a:prstDash val="solid"/>
          </a:ln>
        </p:spPr>
      </p:sp>
      <p:sp>
        <p:nvSpPr>
          <p:cNvPr id="40" name="Text 38"/>
          <p:cNvSpPr txBox="1"/>
          <p:nvPr/>
        </p:nvSpPr>
        <p:spPr>
          <a:xfrm>
            <a:off x="5029200" y="1444752"/>
            <a:ext cx="3474720" cy="164592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importlib.metadata as m, sys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sys.version_info[:2]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(3, 14)</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m.version('pyautogui') &lt; '1.0.0'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m.version('pyscreeze') &gt;= '1.0.0'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os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_ = os.environ.pop('DISPLAY', None)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pyautogui</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KeyError: 'DISPLAY'</a:t>
            </a:r>
            <a:endParaRPr lang="en-US" sz="800" dirty="0"/>
          </a:p>
        </p:txBody>
      </p:sp>
      <p:sp>
        <p:nvSpPr>
          <p:cNvPr id="41" name="Text 39"/>
          <p:cNvSpPr txBox="1"/>
          <p:nvPr/>
        </p:nvSpPr>
        <p:spPr>
          <a:xfrm>
            <a:off x="4846320" y="3227832"/>
            <a:ext cx="3840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42" name="Text 40"/>
          <p:cNvSpPr txBox="1"/>
          <p:nvPr/>
        </p:nvSpPr>
        <p:spPr>
          <a:xfrm>
            <a:off x="4846320" y="3520440"/>
            <a:ext cx="384048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Recorded 13 Oct 2026: PyPI lists 50 releases of PyAutoGUI, 0.9.54 the newest and none numbered 1.0.0; the chapter mentions 1.0.0 in 3 passages.</a:t>
            </a:r>
            <a:endParaRPr lang="en-US" sz="900" dirty="0"/>
          </a:p>
        </p:txBody>
      </p:sp>
      <p:sp>
        <p:nvSpPr>
          <p:cNvPr id="43" name="Shape 41"/>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44" name="Text 42"/>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Engelbart of the Stanford Rese…</a:t>
            </a:r>
            <a:endParaRPr lang="en-US" sz="750" dirty="0"/>
          </a:p>
        </p:txBody>
      </p:sp>
      <p:sp>
        <p:nvSpPr>
          <p:cNvPr id="45" name="Shape 43"/>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46" name="Text 44"/>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SRI's Augmentation Research Center; th…</a:t>
            </a:r>
            <a:endParaRPr lang="en-US" sz="750" dirty="0"/>
          </a:p>
        </p:txBody>
      </p:sp>
      <p:sp>
        <p:nvSpPr>
          <p:cNvPr id="47" name="Shape 45"/>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48" name="Text 46"/>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1968</a:t>
            </a:r>
            <a:endParaRPr lang="en-US" sz="750" dirty="0"/>
          </a:p>
        </p:txBody>
      </p:sp>
      <p:sp>
        <p:nvSpPr>
          <p:cNvPr id="49" name="Shape 47"/>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50" name="Text 48"/>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51" name="Shape 49"/>
          <p:cNvSpPr/>
          <p:nvPr/>
        </p:nvSpPr>
        <p:spPr>
          <a:xfrm>
            <a:off x="457200" y="4636008"/>
            <a:ext cx="91440" cy="310896"/>
          </a:xfrm>
          <a:prstGeom prst="rect">
            <a:avLst/>
          </a:prstGeom>
          <a:solidFill>
            <a:srgbClr val="D97A14"/>
          </a:solidFill>
          <a:ln w="12700">
            <a:solidFill>
              <a:srgbClr val="D97A14"/>
            </a:solidFill>
            <a:prstDash val="solid"/>
          </a:ln>
        </p:spPr>
      </p:sp>
      <p:sp>
        <p:nvSpPr>
          <p:cNvPr id="52" name="Text 5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can do with code what a hand does with a mouse.</a:t>
            </a:r>
            <a:endParaRPr lang="en-US" sz="1350" dirty="0"/>
          </a:p>
        </p:txBody>
      </p:sp>
      <p:sp>
        <p:nvSpPr>
          <p:cNvPr id="53" name="Text 5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Packages, display and session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DISPLAY, no import; under Wayland a screenshot fails while moveTo still works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3566160" cy="914400"/>
        </p:xfrm>
        <a:graphic>
          <a:graphicData uri="http://schemas.openxmlformats.org/drawingml/2006/table">
            <a:tbl>
              <a:tblPr/>
              <a:tblGrid>
                <a:gridCol w="731520"/>
                <a:gridCol w="502920"/>
                <a:gridCol w="502920"/>
                <a:gridCol w="502920"/>
                <a:gridCol w="502920"/>
                <a:gridCol w="822960"/>
              </a:tblGrid>
              <a:tr h="201168">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check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3.14.6 newest</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3.14.6 no OpenCV</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3.14.6 PyScreeze 0.1.28</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3.12.3 Tk 8.6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3.14.6 empty</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Python</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PyAutoGUI</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PyScreeze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OpenCV</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5.0.0.93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none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9.0.3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9.0.3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9.0.3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8.6.14</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9.0.3</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import pyautogui</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ok</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ModuleNotFound</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size()</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1920x1080</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1920x1080</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1920x1080</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1920x1080</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096512"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waylandCut_v1_0_0.py, lines 168 to 178 of 178</a:t>
            </a:r>
            <a:endParaRPr lang="en-US" sz="1000" dirty="0"/>
          </a:p>
        </p:txBody>
      </p:sp>
      <p:sp>
        <p:nvSpPr>
          <p:cNvPr id="8" name="Shape 5"/>
          <p:cNvSpPr/>
          <p:nvPr/>
        </p:nvSpPr>
        <p:spPr>
          <a:xfrm>
            <a:off x="4096512" y="1417320"/>
            <a:ext cx="4590288" cy="2176272"/>
          </a:xfrm>
          <a:prstGeom prst="roundRect">
            <a:avLst>
              <a:gd name="adj" fmla="val 4202"/>
            </a:avLst>
          </a:prstGeom>
          <a:solidFill>
            <a:srgbClr val="23272E"/>
          </a:solidFill>
          <a:ln w="12700">
            <a:solidFill>
              <a:srgbClr val="23272E"/>
            </a:solidFill>
            <a:prstDash val="solid"/>
          </a:ln>
        </p:spPr>
      </p:sp>
      <p:sp>
        <p:nvSpPr>
          <p:cNvPr id="9" name="Text 6"/>
          <p:cNvSpPr txBox="1"/>
          <p:nvPr/>
        </p:nvSpPr>
        <p:spPr>
          <a:xfrm>
            <a:off x="4279392" y="1536192"/>
            <a:ext cx="4224528"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three children'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env = dict(d.env); env.pop(</a:t>
            </a:r>
            <a:r>
              <a:rPr lang="en-US" sz="700" dirty="0">
                <a:solidFill>
                  <a:srgbClr val="9ECBFF"/>
                </a:solidFill>
                <a:latin typeface="Courier New" pitchFamily="34" charset="0"/>
                <a:ea typeface="Courier New" pitchFamily="34" charset="-122"/>
                <a:cs typeface="Courier New" pitchFamily="34" charset="-120"/>
              </a:rPr>
              <a:t>'DISPLAY'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'no DISPLAY    :'</a:t>
            </a:r>
            <a:r>
              <a:rPr lang="en-US" sz="700" dirty="0">
                <a:solidFill>
                  <a:srgbClr val="E6EDF3"/>
                </a:solidFill>
                <a:latin typeface="Courier New" pitchFamily="34" charset="0"/>
                <a:ea typeface="Courier New" pitchFamily="34" charset="-122"/>
                <a:cs typeface="Courier New" pitchFamily="34" charset="-120"/>
              </a:rPr>
              <a:t>, child(</a:t>
            </a:r>
            <a:r>
              <a:rPr lang="en-US" sz="700" dirty="0">
                <a:solidFill>
                  <a:srgbClr val="9ECBFF"/>
                </a:solidFill>
                <a:latin typeface="Courier New" pitchFamily="34" charset="0"/>
                <a:ea typeface="Courier New" pitchFamily="34" charset="-122"/>
                <a:cs typeface="Courier New" pitchFamily="34" charset="-120"/>
              </a:rPr>
              <a:t>'import pyautogui'</a:t>
            </a:r>
            <a:r>
              <a:rPr lang="en-US" sz="700" dirty="0">
                <a:solidFill>
                  <a:srgbClr val="E6EDF3"/>
                </a:solidFill>
                <a:latin typeface="Courier New" pitchFamily="34" charset="0"/>
                <a:ea typeface="Courier New" pitchFamily="34" charset="-122"/>
                <a:cs typeface="Courier New" pitchFamily="34" charset="-120"/>
              </a:rPr>
              <a:t>, env=env)[</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env = dict(d.env, XDG_SESSION_TYPE=</a:t>
            </a:r>
            <a:r>
              <a:rPr lang="en-US" sz="700" dirty="0">
                <a:solidFill>
                  <a:srgbClr val="9ECBFF"/>
                </a:solidFill>
                <a:latin typeface="Courier New" pitchFamily="34" charset="0"/>
                <a:ea typeface="Courier New" pitchFamily="34" charset="-122"/>
                <a:cs typeface="Courier New" pitchFamily="34" charset="-120"/>
              </a:rPr>
              <a:t>'wayland'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shot = </a:t>
            </a:r>
            <a:r>
              <a:rPr lang="en-US" sz="700" dirty="0">
                <a:solidFill>
                  <a:srgbClr val="9ECBFF"/>
                </a:solidFill>
                <a:latin typeface="Courier New" pitchFamily="34" charset="0"/>
                <a:ea typeface="Courier New" pitchFamily="34" charset="-122"/>
                <a:cs typeface="Courier New" pitchFamily="34" charset="-120"/>
              </a:rPr>
              <a:t>'import pyautogui; pyautogui.screenshot()'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move = </a:t>
            </a:r>
            <a:r>
              <a:rPr lang="en-US" sz="700" dirty="0">
                <a:solidFill>
                  <a:srgbClr val="9ECBFF"/>
                </a:solidFill>
                <a:latin typeface="Courier New" pitchFamily="34" charset="0"/>
                <a:ea typeface="Courier New" pitchFamily="34" charset="-122"/>
                <a:cs typeface="Courier New" pitchFamily="34" charset="-120"/>
              </a:rPr>
              <a:t>'import pyautogui as p; p.moveTo(300, 200); print(p.position())'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rc, out, err = child(shot, env=env)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'wayland screenshot(): exit'</a:t>
            </a:r>
            <a:r>
              <a:rPr lang="en-US" sz="700" dirty="0">
                <a:solidFill>
                  <a:srgbClr val="E6EDF3"/>
                </a:solidFill>
                <a:latin typeface="Courier New" pitchFamily="34" charset="0"/>
                <a:ea typeface="Courier New" pitchFamily="34" charset="-122"/>
                <a:cs typeface="Courier New" pitchFamily="34" charset="-120"/>
              </a:rPr>
              <a:t>, rc,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err.split(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rc, out, err = child(move, env=env)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'wayland moveTo(300, 200): exit'</a:t>
            </a:r>
            <a:r>
              <a:rPr lang="en-US" sz="700" dirty="0">
                <a:solidFill>
                  <a:srgbClr val="E6EDF3"/>
                </a:solidFill>
                <a:latin typeface="Courier New" pitchFamily="34" charset="0"/>
                <a:ea typeface="Courier New" pitchFamily="34" charset="-122"/>
                <a:cs typeface="Courier New" pitchFamily="34" charset="-120"/>
              </a:rPr>
              <a:t>, rc, </a:t>
            </a:r>
            <a:r>
              <a:rPr lang="en-US" sz="700" dirty="0">
                <a:solidFill>
                  <a:srgbClr val="9ECBFF"/>
                </a:solidFill>
                <a:latin typeface="Courier New" pitchFamily="34" charset="0"/>
                <a:ea typeface="Courier New" pitchFamily="34" charset="-122"/>
                <a:cs typeface="Courier New" pitchFamily="34" charset="-120"/>
              </a:rPr>
              <a:t>'| position'</a:t>
            </a:r>
            <a:r>
              <a:rPr lang="en-US" sz="700" dirty="0">
                <a:solidFill>
                  <a:srgbClr val="E6EDF3"/>
                </a:solidFill>
                <a:latin typeface="Courier New" pitchFamily="34" charset="0"/>
                <a:ea typeface="Courier New" pitchFamily="34" charset="-122"/>
                <a:cs typeface="Courier New" pitchFamily="34" charset="-120"/>
              </a:rPr>
              <a:t>, out[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three children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DISPLAY    : KeyError: 'DISPLAY'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wayland screenshot(): exit 1 | pyscreeze.PyScreezeException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wayland moveTo(300, 200): exit 0 | position Point(x=300, y=200)</a:t>
            </a:r>
            <a:endParaRPr lang="en-US" sz="700" dirty="0"/>
          </a:p>
        </p:txBody>
      </p:sp>
      <p:sp>
        <p:nvSpPr>
          <p:cNvPr id="10" name="Text 7"/>
          <p:cNvSpPr txBox="1"/>
          <p:nvPr/>
        </p:nvSpPr>
        <p:spPr>
          <a:xfrm>
            <a:off x="4096512" y="3639312"/>
            <a:ext cx="4590288"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 Lines 1 to 167 (imports, the private display and the helpers that start child programs) are not shown.</a:t>
            </a:r>
            <a:endParaRPr lang="en-US" sz="800" dirty="0"/>
          </a:p>
        </p:txBody>
      </p:sp>
      <p:sp>
        <p:nvSpPr>
          <p:cNvPr id="11" name="Text 8"/>
          <p:cNvSpPr txBox="1"/>
          <p:nvPr/>
        </p:nvSpPr>
        <p:spPr>
          <a:xfrm>
            <a:off x="457200" y="3291840"/>
            <a:ext cx="356616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the three backends are SendInput, mouse_event and keybd_event on Windows, CGEventPost and Quartz on macOS, and fake_input of the XTEST extension on Linux.</a:t>
            </a:r>
            <a:endParaRPr lang="en-US" sz="800" dirty="0"/>
          </a:p>
        </p:txBody>
      </p:sp>
      <p:sp>
        <p:nvSpPr>
          <p:cNvPr id="12" name="Text 9"/>
          <p:cNvSpPr txBox="1"/>
          <p:nvPr/>
        </p:nvSpPr>
        <p:spPr>
          <a:xfrm>
            <a:off x="457200" y="3739896"/>
            <a:ext cx="356616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Windows, macOS, the accessibility permission of macOS and a real Wayland compositor; only the Linux path through X ran.</a:t>
            </a:r>
            <a:endParaRPr lang="en-US" sz="800" dirty="0"/>
          </a:p>
        </p:txBody>
      </p:sp>
      <p:sp>
        <p:nvSpPr>
          <p:cNvPr id="13" name="Shape 10"/>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Robert W. Scheifler of the MIT Laborat…</a:t>
            </a:r>
            <a:endParaRPr lang="en-US" sz="750" dirty="0"/>
          </a:p>
        </p:txBody>
      </p:sp>
      <p:sp>
        <p:nvSpPr>
          <p:cNvPr id="15" name="Shape 12"/>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MIT; the message was sent to window@at…</a:t>
            </a:r>
            <a:endParaRPr lang="en-US" sz="750" dirty="0"/>
          </a:p>
        </p:txBody>
      </p:sp>
      <p:sp>
        <p:nvSpPr>
          <p:cNvPr id="17" name="Shape 14"/>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1984</a:t>
            </a:r>
            <a:endParaRPr lang="en-US" sz="750" dirty="0"/>
          </a:p>
        </p:txBody>
      </p:sp>
      <p:sp>
        <p:nvSpPr>
          <p:cNvPr id="19" name="Shape 16"/>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library needs an X display; nothing here ran on Windows or macOS.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a click reaches a window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PyAutoGUI asks the X server to fake the input; the window cannot tell it from a mouse</a:t>
            </a:r>
            <a:endParaRPr lang="en-US" sz="1300" dirty="0"/>
          </a:p>
        </p:txBody>
      </p:sp>
      <p:sp>
        <p:nvSpPr>
          <p:cNvPr id="6" name="Shape 4"/>
          <p:cNvSpPr/>
          <p:nvPr/>
        </p:nvSpPr>
        <p:spPr>
          <a:xfrm>
            <a:off x="502920" y="1280160"/>
            <a:ext cx="8229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script</a:t>
            </a:r>
            <a:endParaRPr lang="en-US" sz="1000" dirty="0"/>
          </a:p>
        </p:txBody>
      </p:sp>
      <p:sp>
        <p:nvSpPr>
          <p:cNvPr id="8" name="Shape 6"/>
          <p:cNvSpPr/>
          <p:nvPr/>
        </p:nvSpPr>
        <p:spPr>
          <a:xfrm>
            <a:off x="914400" y="1664208"/>
            <a:ext cx="0" cy="2816352"/>
          </a:xfrm>
          <a:prstGeom prst="line">
            <a:avLst/>
          </a:prstGeom>
          <a:noFill/>
          <a:ln w="19050">
            <a:solidFill>
              <a:srgbClr val="DFD6C7"/>
            </a:solidFill>
            <a:prstDash val="dash"/>
          </a:ln>
        </p:spPr>
      </p:sp>
      <p:sp>
        <p:nvSpPr>
          <p:cNvPr id="9" name="Shape 7"/>
          <p:cNvSpPr/>
          <p:nvPr/>
        </p:nvSpPr>
        <p:spPr>
          <a:xfrm>
            <a:off x="1630375" y="1280160"/>
            <a:ext cx="8229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685239"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PyAutoGUI</a:t>
            </a:r>
            <a:endParaRPr lang="en-US" sz="1000" dirty="0"/>
          </a:p>
        </p:txBody>
      </p:sp>
      <p:sp>
        <p:nvSpPr>
          <p:cNvPr id="11" name="Shape 9"/>
          <p:cNvSpPr/>
          <p:nvPr/>
        </p:nvSpPr>
        <p:spPr>
          <a:xfrm>
            <a:off x="2041855" y="1664208"/>
            <a:ext cx="0" cy="2816352"/>
          </a:xfrm>
          <a:prstGeom prst="line">
            <a:avLst/>
          </a:prstGeom>
          <a:noFill/>
          <a:ln w="19050">
            <a:solidFill>
              <a:srgbClr val="DFD6C7"/>
            </a:solidFill>
            <a:prstDash val="dash"/>
          </a:ln>
        </p:spPr>
      </p:sp>
      <p:sp>
        <p:nvSpPr>
          <p:cNvPr id="12" name="Shape 10"/>
          <p:cNvSpPr/>
          <p:nvPr/>
        </p:nvSpPr>
        <p:spPr>
          <a:xfrm>
            <a:off x="2758745" y="1280160"/>
            <a:ext cx="82296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2813609" y="1309421"/>
            <a:ext cx="71323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X server</a:t>
            </a:r>
            <a:endParaRPr lang="en-US" sz="1000" dirty="0"/>
          </a:p>
        </p:txBody>
      </p:sp>
      <p:sp>
        <p:nvSpPr>
          <p:cNvPr id="14" name="Shape 12"/>
          <p:cNvSpPr/>
          <p:nvPr/>
        </p:nvSpPr>
        <p:spPr>
          <a:xfrm>
            <a:off x="3170225" y="1664208"/>
            <a:ext cx="0" cy="2816352"/>
          </a:xfrm>
          <a:prstGeom prst="line">
            <a:avLst/>
          </a:prstGeom>
          <a:noFill/>
          <a:ln w="19050">
            <a:solidFill>
              <a:srgbClr val="DFD6C7"/>
            </a:solidFill>
            <a:prstDash val="dash"/>
          </a:ln>
        </p:spPr>
      </p:sp>
      <p:sp>
        <p:nvSpPr>
          <p:cNvPr id="15" name="Shape 13"/>
          <p:cNvSpPr/>
          <p:nvPr/>
        </p:nvSpPr>
        <p:spPr>
          <a:xfrm>
            <a:off x="3886200" y="1280160"/>
            <a:ext cx="822960" cy="384048"/>
          </a:xfrm>
          <a:prstGeom prst="roundRect">
            <a:avLst>
              <a:gd name="adj" fmla="val 19048"/>
            </a:avLst>
          </a:prstGeom>
          <a:solidFill>
            <a:srgbClr val="2F6D62"/>
          </a:solidFill>
          <a:ln w="15875">
            <a:solidFill>
              <a:srgbClr val="2F6D62"/>
            </a:solidFill>
            <a:prstDash val="solid"/>
          </a:ln>
        </p:spPr>
      </p:sp>
      <p:sp>
        <p:nvSpPr>
          <p:cNvPr id="16" name="Text 14"/>
          <p:cNvSpPr txBox="1"/>
          <p:nvPr/>
        </p:nvSpPr>
        <p:spPr>
          <a:xfrm>
            <a:off x="3941064" y="1386230"/>
            <a:ext cx="7132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window</a:t>
            </a:r>
            <a:endParaRPr lang="en-US" sz="1000" dirty="0"/>
          </a:p>
        </p:txBody>
      </p:sp>
      <p:sp>
        <p:nvSpPr>
          <p:cNvPr id="17" name="Shape 15"/>
          <p:cNvSpPr/>
          <p:nvPr/>
        </p:nvSpPr>
        <p:spPr>
          <a:xfrm>
            <a:off x="4297680" y="1664208"/>
            <a:ext cx="0" cy="2816352"/>
          </a:xfrm>
          <a:prstGeom prst="line">
            <a:avLst/>
          </a:prstGeom>
          <a:noFill/>
          <a:ln w="19050">
            <a:solidFill>
              <a:srgbClr val="DFD6C7"/>
            </a:solidFill>
            <a:prstDash val="dash"/>
          </a:ln>
        </p:spPr>
      </p:sp>
      <p:sp>
        <p:nvSpPr>
          <p:cNvPr id="18" name="Shape 16"/>
          <p:cNvSpPr/>
          <p:nvPr/>
        </p:nvSpPr>
        <p:spPr>
          <a:xfrm>
            <a:off x="914400" y="2070202"/>
            <a:ext cx="1127455" cy="0"/>
          </a:xfrm>
          <a:prstGeom prst="line">
            <a:avLst/>
          </a:prstGeom>
          <a:noFill/>
          <a:ln w="22225">
            <a:solidFill>
              <a:srgbClr val="D97A14"/>
            </a:solidFill>
            <a:prstDash val="solid"/>
            <a:tailEnd type="triangle"/>
          </a:ln>
        </p:spPr>
      </p:sp>
      <p:sp>
        <p:nvSpPr>
          <p:cNvPr id="19" name="Text 17"/>
          <p:cNvSpPr txBox="1"/>
          <p:nvPr/>
        </p:nvSpPr>
        <p:spPr>
          <a:xfrm>
            <a:off x="1005840" y="1760220"/>
            <a:ext cx="944575"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click(10, 5)</a:t>
            </a:r>
            <a:endParaRPr lang="en-US" sz="800" dirty="0"/>
          </a:p>
        </p:txBody>
      </p:sp>
      <p:sp>
        <p:nvSpPr>
          <p:cNvPr id="20" name="Shape 18"/>
          <p:cNvSpPr/>
          <p:nvPr/>
        </p:nvSpPr>
        <p:spPr>
          <a:xfrm>
            <a:off x="2041855" y="2633472"/>
            <a:ext cx="1128370" cy="0"/>
          </a:xfrm>
          <a:prstGeom prst="line">
            <a:avLst/>
          </a:prstGeom>
          <a:noFill/>
          <a:ln w="22225">
            <a:solidFill>
              <a:srgbClr val="D97A14"/>
            </a:solidFill>
            <a:prstDash val="solid"/>
            <a:tailEnd type="triangle"/>
          </a:ln>
        </p:spPr>
      </p:sp>
      <p:sp>
        <p:nvSpPr>
          <p:cNvPr id="21" name="Text 19"/>
          <p:cNvSpPr txBox="1"/>
          <p:nvPr/>
        </p:nvSpPr>
        <p:spPr>
          <a:xfrm>
            <a:off x="2133295" y="2200046"/>
            <a:ext cx="944575"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Sends XTestFakeInput for the motion</a:t>
            </a:r>
            <a:endParaRPr lang="en-US" sz="800" dirty="0"/>
          </a:p>
        </p:txBody>
      </p:sp>
      <p:sp>
        <p:nvSpPr>
          <p:cNvPr id="22" name="Shape 20"/>
          <p:cNvSpPr/>
          <p:nvPr/>
        </p:nvSpPr>
        <p:spPr>
          <a:xfrm>
            <a:off x="2041855" y="3196742"/>
            <a:ext cx="1128370" cy="0"/>
          </a:xfrm>
          <a:prstGeom prst="line">
            <a:avLst/>
          </a:prstGeom>
          <a:noFill/>
          <a:ln w="22225">
            <a:solidFill>
              <a:srgbClr val="D97A14"/>
            </a:solidFill>
            <a:prstDash val="solid"/>
            <a:tailEnd type="triangle"/>
          </a:ln>
        </p:spPr>
      </p:sp>
      <p:sp>
        <p:nvSpPr>
          <p:cNvPr id="23" name="Text 21"/>
          <p:cNvSpPr txBox="1"/>
          <p:nvPr/>
        </p:nvSpPr>
        <p:spPr>
          <a:xfrm>
            <a:off x="2133295" y="2640787"/>
            <a:ext cx="944575" cy="510235"/>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Sends XTestFakeInput for the button press and release</a:t>
            </a:r>
            <a:endParaRPr lang="en-US" sz="800" dirty="0"/>
          </a:p>
        </p:txBody>
      </p:sp>
      <p:sp>
        <p:nvSpPr>
          <p:cNvPr id="24" name="Shape 22"/>
          <p:cNvSpPr/>
          <p:nvPr/>
        </p:nvSpPr>
        <p:spPr>
          <a:xfrm>
            <a:off x="3170225" y="3760013"/>
            <a:ext cx="1127455" cy="0"/>
          </a:xfrm>
          <a:prstGeom prst="line">
            <a:avLst/>
          </a:prstGeom>
          <a:noFill/>
          <a:ln w="22225">
            <a:solidFill>
              <a:srgbClr val="D97A14"/>
            </a:solidFill>
            <a:prstDash val="solid"/>
            <a:tailEnd type="triangle"/>
          </a:ln>
        </p:spPr>
      </p:sp>
      <p:sp>
        <p:nvSpPr>
          <p:cNvPr id="25" name="Text 23"/>
          <p:cNvSpPr txBox="1"/>
          <p:nvPr/>
        </p:nvSpPr>
        <p:spPr>
          <a:xfrm>
            <a:off x="3261665" y="3326587"/>
            <a:ext cx="944575"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Delivers the events of the button</a:t>
            </a:r>
            <a:endParaRPr lang="en-US" sz="800" dirty="0"/>
          </a:p>
        </p:txBody>
      </p:sp>
      <p:sp>
        <p:nvSpPr>
          <p:cNvPr id="26" name="Shape 24"/>
          <p:cNvSpPr/>
          <p:nvPr/>
        </p:nvSpPr>
        <p:spPr>
          <a:xfrm flipH="1">
            <a:off x="3170225" y="4323283"/>
            <a:ext cx="1127455" cy="0"/>
          </a:xfrm>
          <a:prstGeom prst="line">
            <a:avLst/>
          </a:prstGeom>
          <a:noFill/>
          <a:ln w="22225">
            <a:solidFill>
              <a:srgbClr val="6E655C"/>
            </a:solidFill>
            <a:prstDash val="dash"/>
            <a:tailEnd type="triangle"/>
          </a:ln>
        </p:spPr>
      </p:sp>
      <p:sp>
        <p:nvSpPr>
          <p:cNvPr id="27" name="Text 25"/>
          <p:cNvSpPr txBox="1"/>
          <p:nvPr/>
        </p:nvSpPr>
        <p:spPr>
          <a:xfrm>
            <a:off x="3261665" y="3889858"/>
            <a:ext cx="944575" cy="386791"/>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Receives the events as if from the real mouse</a:t>
            </a:r>
            <a:endParaRPr lang="en-US" sz="800" dirty="0"/>
          </a:p>
        </p:txBody>
      </p:sp>
      <p:sp>
        <p:nvSpPr>
          <p:cNvPr id="28" name="Text 26"/>
          <p:cNvSpPr txBox="1"/>
          <p:nvPr/>
        </p:nvSpPr>
        <p:spPr>
          <a:xfrm>
            <a:off x="4828032"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xtestCut_v1_0_0.py, lines 168 to 178 of 178</a:t>
            </a:r>
            <a:endParaRPr lang="en-US" sz="1000" dirty="0"/>
          </a:p>
        </p:txBody>
      </p:sp>
      <p:sp>
        <p:nvSpPr>
          <p:cNvPr id="29" name="Shape 27"/>
          <p:cNvSpPr/>
          <p:nvPr/>
        </p:nvSpPr>
        <p:spPr>
          <a:xfrm>
            <a:off x="4828032" y="1417320"/>
            <a:ext cx="3858768" cy="2304288"/>
          </a:xfrm>
          <a:prstGeom prst="roundRect">
            <a:avLst>
              <a:gd name="adj" fmla="val 3968"/>
            </a:avLst>
          </a:prstGeom>
          <a:solidFill>
            <a:srgbClr val="23272E"/>
          </a:solidFill>
          <a:ln w="12700">
            <a:solidFill>
              <a:srgbClr val="23272E"/>
            </a:solidFill>
            <a:prstDash val="solid"/>
          </a:ln>
        </p:spPr>
      </p:sp>
      <p:sp>
        <p:nvSpPr>
          <p:cNvPr id="30" name="Text 28"/>
          <p:cNvSpPr txBox="1"/>
          <p:nvPr/>
        </p:nvSpPr>
        <p:spPr>
          <a:xfrm>
            <a:off x="5010912" y="1536192"/>
            <a:ext cx="3493008"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XTEST:'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'XTEST'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d.sh(</a:t>
            </a:r>
            <a:r>
              <a:rPr lang="en-US" sz="700" dirty="0">
                <a:solidFill>
                  <a:srgbClr val="9ECBFF"/>
                </a:solidFill>
                <a:latin typeface="Courier New" pitchFamily="34" charset="0"/>
                <a:ea typeface="Courier New" pitchFamily="34" charset="-122"/>
                <a:cs typeface="Courier New" pitchFamily="34" charset="-120"/>
              </a:rPr>
              <a:t>'xdpyinfo'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 st = o.state()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pyautogui.click(st[</a:t>
            </a:r>
            <a:r>
              <a:rPr lang="en-US" sz="700" dirty="0">
                <a:solidFill>
                  <a:srgbClr val="9ECBFF"/>
                </a:solidFill>
                <a:latin typeface="Courier New" pitchFamily="34" charset="0"/>
                <a:ea typeface="Courier New" pitchFamily="34" charset="-122"/>
                <a:cs typeface="Courier New" pitchFamily="34" charset="-120"/>
              </a:rPr>
              <a:t>'rootx'</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st[</a:t>
            </a:r>
            <a:r>
              <a:rPr lang="en-US" sz="700" dirty="0">
                <a:solidFill>
                  <a:srgbClr val="9ECBFF"/>
                </a:solidFill>
                <a:latin typeface="Courier New" pitchFamily="34" charset="0"/>
                <a:ea typeface="Courier New" pitchFamily="34" charset="-122"/>
                <a:cs typeface="Courier New" pitchFamily="34" charset="-120"/>
              </a:rPr>
              <a:t>'rooty'</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'click :'</a:t>
            </a:r>
            <a:r>
              <a:rPr lang="en-US" sz="700" dirty="0">
                <a:solidFill>
                  <a:srgbClr val="E6EDF3"/>
                </a:solidFill>
                <a:latin typeface="Courier New" pitchFamily="34" charset="0"/>
                <a:ea typeface="Courier New" pitchFamily="34" charset="-122"/>
                <a:cs typeface="Courier New" pitchFamily="34" charset="-120"/>
              </a:rPr>
              <a:t>, btns(o))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o.clear(); pyautogui.press(</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'PyAutoGUI w :'</a:t>
            </a:r>
            <a:r>
              <a:rPr lang="en-US" sz="700" dirty="0">
                <a:solidFill>
                  <a:srgbClr val="E6EDF3"/>
                </a:solidFill>
                <a:latin typeface="Courier New" pitchFamily="34" charset="0"/>
                <a:ea typeface="Courier New" pitchFamily="34" charset="-122"/>
                <a:cs typeface="Courier New" pitchFamily="34" charset="-120"/>
              </a:rPr>
              <a:t>, keys(o))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o.clear(); sendkey(d, </a:t>
            </a:r>
            <a:r>
              <a:rPr lang="en-US" sz="700" dirty="0">
                <a:solidFill>
                  <a:srgbClr val="9ECBFF"/>
                </a:solidFill>
                <a:latin typeface="Courier New" pitchFamily="34" charset="0"/>
                <a:ea typeface="Courier New" pitchFamily="34" charset="-122"/>
                <a:cs typeface="Courier New" pitchFamily="34" charset="-120"/>
              </a:rPr>
              <a:t>'observer'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'q'</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'SendEvent q :'</a:t>
            </a:r>
            <a:r>
              <a:rPr lang="en-US" sz="700" dirty="0">
                <a:solidFill>
                  <a:srgbClr val="E6EDF3"/>
                </a:solidFill>
                <a:latin typeface="Courier New" pitchFamily="34" charset="0"/>
                <a:ea typeface="Courier New" pitchFamily="34" charset="-122"/>
                <a:cs typeface="Courier New" pitchFamily="34" charset="-120"/>
              </a:rPr>
              <a:t>, keys(o))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'both reached the entry:'</a:t>
            </a:r>
            <a:r>
              <a:rPr lang="en-US" sz="700" dirty="0">
                <a:solidFill>
                  <a:srgbClr val="E6EDF3"/>
                </a:solidFill>
                <a:latin typeface="Courier New" pitchFamily="34" charset="0"/>
                <a:ea typeface="Courier New" pitchFamily="34" charset="-122"/>
                <a:cs typeface="Courier New" pitchFamily="34" charset="-120"/>
              </a:rPr>
              <a:t>, repr(o.entry()))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XTEST: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 : [('Press', 1, False), ('Release', 1,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PyAutoGUI w : [('Press', 'w', False), ('Release', 'w',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SendEvent q : [('Press', 'q', True), ('Release', 'q',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both reached the entry: 'wq'</a:t>
            </a:r>
            <a:endParaRPr lang="en-US" sz="700" dirty="0"/>
          </a:p>
        </p:txBody>
      </p:sp>
      <p:sp>
        <p:nvSpPr>
          <p:cNvPr id="31" name="Text 29"/>
          <p:cNvSpPr txBox="1"/>
          <p:nvPr/>
        </p:nvSpPr>
        <p:spPr>
          <a:xfrm>
            <a:off x="4828032" y="3767328"/>
            <a:ext cx="3858768" cy="64922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diagram ScriptToXServer - Interaction pattern, 23 of 23 words grounded in the chapter's text. Virtual display: Xvfb with real X clients, a local stand-in for a screen, not a real screen; nobody sees it. Recorded 13 Oct 2026: xterm discarded the 2 keystrokes ab sent with XSendEvent and took them only with allowSendEvents true.</a:t>
            </a:r>
            <a:endParaRPr lang="en-US" sz="8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XTEST input looks like a real mouse to the window.</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Pauses and fail-safes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pause of 0.1 s follows each action call; a corner of the screen stops the program</a:t>
            </a:r>
            <a:endParaRPr lang="en-US" sz="1300" dirty="0"/>
          </a:p>
        </p:txBody>
      </p:sp>
      <p:sp>
        <p:nvSpPr>
          <p:cNvPr id="6" name="Shape 4"/>
          <p:cNvSpPr/>
          <p:nvPr/>
        </p:nvSpPr>
        <p:spPr>
          <a:xfrm>
            <a:off x="502920" y="1376172"/>
            <a:ext cx="1463040" cy="402336"/>
          </a:xfrm>
          <a:prstGeom prst="roundRect">
            <a:avLst>
              <a:gd name="adj" fmla="val 18182"/>
            </a:avLst>
          </a:prstGeom>
          <a:solidFill>
            <a:srgbClr val="F2ECE1"/>
          </a:solidFill>
          <a:ln w="15875">
            <a:solidFill>
              <a:srgbClr val="2F6D62"/>
            </a:solidFill>
            <a:prstDash val="solid"/>
          </a:ln>
        </p:spPr>
      </p:sp>
      <p:sp>
        <p:nvSpPr>
          <p:cNvPr id="7" name="Text 5"/>
          <p:cNvSpPr txBox="1"/>
          <p:nvPr/>
        </p:nvSpPr>
        <p:spPr>
          <a:xfrm>
            <a:off x="566928" y="1445666"/>
            <a:ext cx="13350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script calls a PyAutoGUI function</a:t>
            </a:r>
            <a:endParaRPr lang="en-US" sz="800" dirty="0"/>
          </a:p>
        </p:txBody>
      </p:sp>
      <p:sp>
        <p:nvSpPr>
          <p:cNvPr id="8" name="Shape 6"/>
          <p:cNvSpPr/>
          <p:nvPr/>
        </p:nvSpPr>
        <p:spPr>
          <a:xfrm>
            <a:off x="502920" y="1970532"/>
            <a:ext cx="1463040" cy="402336"/>
          </a:xfrm>
          <a:prstGeom prst="roundRect">
            <a:avLst>
              <a:gd name="adj" fmla="val 18182"/>
            </a:avLst>
          </a:prstGeom>
          <a:solidFill>
            <a:srgbClr val="F2ECE1"/>
          </a:solidFill>
          <a:ln w="15875">
            <a:solidFill>
              <a:srgbClr val="2F6D62"/>
            </a:solidFill>
            <a:prstDash val="solid"/>
          </a:ln>
        </p:spPr>
      </p:sp>
      <p:sp>
        <p:nvSpPr>
          <p:cNvPr id="9" name="Text 7"/>
          <p:cNvSpPr txBox="1"/>
          <p:nvPr/>
        </p:nvSpPr>
        <p:spPr>
          <a:xfrm>
            <a:off x="566928" y="2040026"/>
            <a:ext cx="13350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PyAutoGUI waits for the pause after the call</a:t>
            </a:r>
            <a:endParaRPr lang="en-US" sz="800" dirty="0"/>
          </a:p>
        </p:txBody>
      </p:sp>
      <p:sp>
        <p:nvSpPr>
          <p:cNvPr id="10" name="Shape 8"/>
          <p:cNvSpPr/>
          <p:nvPr/>
        </p:nvSpPr>
        <p:spPr>
          <a:xfrm>
            <a:off x="502920" y="2537460"/>
            <a:ext cx="1463040" cy="457200"/>
          </a:xfrm>
          <a:prstGeom prst="hexagon">
            <a:avLst/>
          </a:prstGeom>
          <a:solidFill>
            <a:srgbClr val="D97A14"/>
          </a:solidFill>
          <a:ln w="15875">
            <a:solidFill>
              <a:srgbClr val="D97A14"/>
            </a:solidFill>
            <a:prstDash val="solid"/>
          </a:ln>
        </p:spPr>
      </p:sp>
      <p:sp>
        <p:nvSpPr>
          <p:cNvPr id="11" name="Text 9"/>
          <p:cNvSpPr txBox="1"/>
          <p:nvPr/>
        </p:nvSpPr>
        <p:spPr>
          <a:xfrm>
            <a:off x="658368" y="2634386"/>
            <a:ext cx="115214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cursor in a corner of the screen?</a:t>
            </a:r>
            <a:endParaRPr lang="en-US" sz="800" dirty="0"/>
          </a:p>
        </p:txBody>
      </p:sp>
      <p:sp>
        <p:nvSpPr>
          <p:cNvPr id="12" name="Shape 10"/>
          <p:cNvSpPr/>
          <p:nvPr/>
        </p:nvSpPr>
        <p:spPr>
          <a:xfrm>
            <a:off x="502920" y="3159252"/>
            <a:ext cx="1463040" cy="402336"/>
          </a:xfrm>
          <a:prstGeom prst="roundRect">
            <a:avLst>
              <a:gd name="adj" fmla="val 18182"/>
            </a:avLst>
          </a:prstGeom>
          <a:solidFill>
            <a:srgbClr val="F2ECE1"/>
          </a:solidFill>
          <a:ln w="15875">
            <a:solidFill>
              <a:srgbClr val="2F6D62"/>
            </a:solidFill>
            <a:prstDash val="solid"/>
          </a:ln>
        </p:spPr>
      </p:sp>
      <p:sp>
        <p:nvSpPr>
          <p:cNvPr id="13" name="Text 11"/>
          <p:cNvSpPr txBox="1"/>
          <p:nvPr/>
        </p:nvSpPr>
        <p:spPr>
          <a:xfrm>
            <a:off x="566928" y="3166567"/>
            <a:ext cx="133502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PyAutoGUI raises the exception and the program stops</a:t>
            </a:r>
            <a:endParaRPr lang="en-US" sz="800" dirty="0"/>
          </a:p>
        </p:txBody>
      </p:sp>
      <p:sp>
        <p:nvSpPr>
          <p:cNvPr id="14" name="Shape 12"/>
          <p:cNvSpPr/>
          <p:nvPr/>
        </p:nvSpPr>
        <p:spPr>
          <a:xfrm>
            <a:off x="2286000" y="2564892"/>
            <a:ext cx="1463040" cy="402336"/>
          </a:xfrm>
          <a:prstGeom prst="roundRect">
            <a:avLst>
              <a:gd name="adj" fmla="val 18182"/>
            </a:avLst>
          </a:prstGeom>
          <a:solidFill>
            <a:srgbClr val="F2ECE1"/>
          </a:solidFill>
          <a:ln w="15875">
            <a:solidFill>
              <a:srgbClr val="2F6D62"/>
            </a:solidFill>
            <a:prstDash val="solid"/>
          </a:ln>
        </p:spPr>
      </p:sp>
      <p:sp>
        <p:nvSpPr>
          <p:cNvPr id="15" name="Text 13"/>
          <p:cNvSpPr txBox="1"/>
          <p:nvPr/>
        </p:nvSpPr>
        <p:spPr>
          <a:xfrm>
            <a:off x="2350008" y="2634386"/>
            <a:ext cx="13350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program goes on to the next function call</a:t>
            </a:r>
            <a:endParaRPr lang="en-US" sz="800" dirty="0"/>
          </a:p>
        </p:txBody>
      </p:sp>
      <p:sp>
        <p:nvSpPr>
          <p:cNvPr id="16" name="Shape 14"/>
          <p:cNvSpPr/>
          <p:nvPr/>
        </p:nvSpPr>
        <p:spPr>
          <a:xfrm>
            <a:off x="2926080" y="1485900"/>
            <a:ext cx="182880" cy="182880"/>
          </a:xfrm>
          <a:prstGeom prst="ellipse">
            <a:avLst/>
          </a:prstGeom>
          <a:solidFill>
            <a:srgbClr val="2B2622"/>
          </a:solidFill>
          <a:ln w="15875">
            <a:solidFill>
              <a:srgbClr val="2B2622"/>
            </a:solidFill>
            <a:prstDash val="solid"/>
          </a:ln>
        </p:spPr>
      </p:sp>
      <p:sp>
        <p:nvSpPr>
          <p:cNvPr id="17" name="Shape 15"/>
          <p:cNvSpPr/>
          <p:nvPr/>
        </p:nvSpPr>
        <p:spPr>
          <a:xfrm>
            <a:off x="2889504" y="3232404"/>
            <a:ext cx="256032" cy="256032"/>
          </a:xfrm>
          <a:prstGeom prst="ellipse">
            <a:avLst/>
          </a:prstGeom>
          <a:solidFill>
            <a:srgbClr val="FFFFFF"/>
          </a:solidFill>
          <a:ln w="25400">
            <a:solidFill>
              <a:srgbClr val="2B2622"/>
            </a:solidFill>
            <a:prstDash val="solid"/>
          </a:ln>
        </p:spPr>
      </p:sp>
      <p:sp>
        <p:nvSpPr>
          <p:cNvPr id="18" name="Shape 16"/>
          <p:cNvSpPr/>
          <p:nvPr/>
        </p:nvSpPr>
        <p:spPr>
          <a:xfrm>
            <a:off x="2944368" y="3287268"/>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1965960" y="1577340"/>
            <a:ext cx="960120" cy="0"/>
          </a:xfrm>
          <a:prstGeom prst="line">
            <a:avLst/>
          </a:prstGeom>
          <a:noFill/>
          <a:ln w="15875">
            <a:solidFill>
              <a:srgbClr val="6E655C"/>
            </a:solidFill>
            <a:prstDash val="solid"/>
            <a:tailEnd type="triangle"/>
          </a:ln>
        </p:spPr>
      </p:sp>
      <p:sp>
        <p:nvSpPr>
          <p:cNvPr id="20" name="Shape 18"/>
          <p:cNvSpPr/>
          <p:nvPr/>
        </p:nvSpPr>
        <p:spPr>
          <a:xfrm>
            <a:off x="1234440" y="1778508"/>
            <a:ext cx="0" cy="192024"/>
          </a:xfrm>
          <a:prstGeom prst="line">
            <a:avLst/>
          </a:prstGeom>
          <a:noFill/>
          <a:ln w="15875">
            <a:solidFill>
              <a:srgbClr val="6E655C"/>
            </a:solidFill>
            <a:prstDash val="solid"/>
            <a:tailEnd type="triangle"/>
          </a:ln>
        </p:spPr>
      </p:sp>
      <p:sp>
        <p:nvSpPr>
          <p:cNvPr id="21" name="Shape 19"/>
          <p:cNvSpPr/>
          <p:nvPr/>
        </p:nvSpPr>
        <p:spPr>
          <a:xfrm>
            <a:off x="1234440" y="2372868"/>
            <a:ext cx="0" cy="164592"/>
          </a:xfrm>
          <a:prstGeom prst="line">
            <a:avLst/>
          </a:prstGeom>
          <a:noFill/>
          <a:ln w="15875">
            <a:solidFill>
              <a:srgbClr val="6E655C"/>
            </a:solidFill>
            <a:prstDash val="solid"/>
            <a:tailEnd type="triangle"/>
          </a:ln>
        </p:spPr>
      </p:sp>
      <p:sp>
        <p:nvSpPr>
          <p:cNvPr id="22" name="Shape 20"/>
          <p:cNvSpPr/>
          <p:nvPr/>
        </p:nvSpPr>
        <p:spPr>
          <a:xfrm>
            <a:off x="1234440" y="2994660"/>
            <a:ext cx="0" cy="164592"/>
          </a:xfrm>
          <a:prstGeom prst="line">
            <a:avLst/>
          </a:prstGeom>
          <a:noFill/>
          <a:ln w="15875">
            <a:solidFill>
              <a:srgbClr val="6E655C"/>
            </a:solidFill>
            <a:prstDash val="solid"/>
            <a:tailEnd type="triangle"/>
          </a:ln>
        </p:spPr>
      </p:sp>
      <p:sp>
        <p:nvSpPr>
          <p:cNvPr id="23" name="Text 21"/>
          <p:cNvSpPr txBox="1"/>
          <p:nvPr/>
        </p:nvSpPr>
        <p:spPr>
          <a:xfrm>
            <a:off x="1289304" y="299466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4" name="Shape 22"/>
          <p:cNvSpPr/>
          <p:nvPr/>
        </p:nvSpPr>
        <p:spPr>
          <a:xfrm>
            <a:off x="1965960" y="2766060"/>
            <a:ext cx="320040" cy="0"/>
          </a:xfrm>
          <a:prstGeom prst="line">
            <a:avLst/>
          </a:prstGeom>
          <a:noFill/>
          <a:ln w="15875">
            <a:solidFill>
              <a:srgbClr val="6E655C"/>
            </a:solidFill>
            <a:prstDash val="solid"/>
            <a:tailEnd type="triangle"/>
          </a:ln>
        </p:spPr>
      </p:sp>
      <p:sp>
        <p:nvSpPr>
          <p:cNvPr id="25" name="Text 23"/>
          <p:cNvSpPr txBox="1"/>
          <p:nvPr/>
        </p:nvSpPr>
        <p:spPr>
          <a:xfrm>
            <a:off x="2011680" y="258318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6" name="Shape 24"/>
          <p:cNvSpPr/>
          <p:nvPr/>
        </p:nvSpPr>
        <p:spPr>
          <a:xfrm>
            <a:off x="1965960" y="3360420"/>
            <a:ext cx="923544" cy="0"/>
          </a:xfrm>
          <a:prstGeom prst="line">
            <a:avLst/>
          </a:prstGeom>
          <a:noFill/>
          <a:ln w="15875">
            <a:solidFill>
              <a:srgbClr val="6E655C"/>
            </a:solidFill>
            <a:prstDash val="solid"/>
            <a:tailEnd type="triangle"/>
          </a:ln>
        </p:spPr>
      </p:sp>
      <p:sp>
        <p:nvSpPr>
          <p:cNvPr id="27" name="Shape 25"/>
          <p:cNvSpPr/>
          <p:nvPr/>
        </p:nvSpPr>
        <p:spPr>
          <a:xfrm>
            <a:off x="3017520" y="2967228"/>
            <a:ext cx="0" cy="265176"/>
          </a:xfrm>
          <a:prstGeom prst="line">
            <a:avLst/>
          </a:prstGeom>
          <a:noFill/>
          <a:ln w="15875">
            <a:solidFill>
              <a:srgbClr val="6E655C"/>
            </a:solidFill>
            <a:prstDash val="solid"/>
            <a:tailEnd type="triangle"/>
          </a:ln>
        </p:spPr>
      </p:sp>
      <p:sp>
        <p:nvSpPr>
          <p:cNvPr id="28" name="Text 26"/>
          <p:cNvSpPr txBox="1"/>
          <p:nvPr/>
        </p:nvSpPr>
        <p:spPr>
          <a:xfrm>
            <a:off x="457200" y="3685032"/>
            <a:ext cx="3291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ACallWithTheFailSafeOn - Workflow pattern, 20 of 22 words grounded in the chapter's text</a:t>
            </a:r>
            <a:endParaRPr lang="en-US" sz="850" dirty="0"/>
          </a:p>
        </p:txBody>
      </p:sp>
      <p:sp>
        <p:nvSpPr>
          <p:cNvPr id="29" name="Text 27"/>
          <p:cNvSpPr txBox="1"/>
          <p:nvPr/>
        </p:nvSpPr>
        <p:spPr>
          <a:xfrm>
            <a:off x="4041648"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pauseCut_v1_0_0.py, lines 168 to 178 of 178</a:t>
            </a:r>
            <a:endParaRPr lang="en-US" sz="1000" dirty="0"/>
          </a:p>
        </p:txBody>
      </p:sp>
      <p:sp>
        <p:nvSpPr>
          <p:cNvPr id="30" name="Shape 28"/>
          <p:cNvSpPr/>
          <p:nvPr/>
        </p:nvSpPr>
        <p:spPr>
          <a:xfrm>
            <a:off x="4041648" y="1417320"/>
            <a:ext cx="4645152" cy="2432304"/>
          </a:xfrm>
          <a:prstGeom prst="roundRect">
            <a:avLst>
              <a:gd name="adj" fmla="val 3759"/>
            </a:avLst>
          </a:prstGeom>
          <a:solidFill>
            <a:srgbClr val="23272E"/>
          </a:solidFill>
          <a:ln w="12700">
            <a:solidFill>
              <a:srgbClr val="23272E"/>
            </a:solidFill>
            <a:prstDash val="solid"/>
          </a:ln>
        </p:spPr>
      </p:sp>
      <p:sp>
        <p:nvSpPr>
          <p:cNvPr id="31" name="Text 29"/>
          <p:cNvSpPr txBox="1"/>
          <p:nvPr/>
        </p:nvSpPr>
        <p:spPr>
          <a:xfrm>
            <a:off x="4224528" y="1536192"/>
            <a:ext cx="4279392"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PAUSE'</a:t>
            </a:r>
            <a:r>
              <a:rPr lang="en-US" sz="700" dirty="0">
                <a:solidFill>
                  <a:srgbClr val="E6EDF3"/>
                </a:solidFill>
                <a:latin typeface="Courier New" pitchFamily="34" charset="0"/>
                <a:ea typeface="Courier New" pitchFamily="34" charset="-122"/>
                <a:cs typeface="Courier New" pitchFamily="34" charset="-120"/>
              </a:rPr>
              <a:t>, pyautogui.PAUSE, </a:t>
            </a:r>
            <a:r>
              <a:rPr lang="en-US" sz="700" dirty="0">
                <a:solidFill>
                  <a:srgbClr val="9ECBFF"/>
                </a:solidFill>
                <a:latin typeface="Courier New" pitchFamily="34" charset="0"/>
                <a:ea typeface="Courier New" pitchFamily="34" charset="-122"/>
                <a:cs typeface="Courier New" pitchFamily="34" charset="-120"/>
              </a:rPr>
              <a:t>'| FAILSAFE'</a:t>
            </a:r>
            <a:r>
              <a:rPr lang="en-US" sz="700" dirty="0">
                <a:solidFill>
                  <a:srgbClr val="E6EDF3"/>
                </a:solidFill>
                <a:latin typeface="Courier New" pitchFamily="34" charset="0"/>
                <a:ea typeface="Courier New" pitchFamily="34" charset="-122"/>
                <a:cs typeface="Courier New" pitchFamily="34" charset="-120"/>
              </a:rPr>
              <a:t>, pyautogui.FAILSAFE)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pyautogui.PAUSE = </a:t>
            </a:r>
            <a:r>
              <a:rPr lang="en-US" sz="700" dirty="0">
                <a:solidFill>
                  <a:srgbClr val="FFD28A"/>
                </a:solidFill>
                <a:latin typeface="Courier New" pitchFamily="34" charset="0"/>
                <a:ea typeface="Courier New" pitchFamily="34" charset="-122"/>
                <a:cs typeface="Courier New" pitchFamily="34" charset="-120"/>
              </a:rPr>
              <a:t>0.3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waits(f,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time.perf_counter(); f(*a)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time.perf_counter() - t &gt; </a:t>
            </a:r>
            <a:r>
              <a:rPr lang="en-US" sz="700" dirty="0">
                <a:solidFill>
                  <a:srgbClr val="FFD28A"/>
                </a:solidFill>
                <a:latin typeface="Courier New" pitchFamily="34" charset="0"/>
                <a:ea typeface="Courier New" pitchFamily="34" charset="-122"/>
                <a:cs typeface="Courier New" pitchFamily="34" charset="-120"/>
              </a:rPr>
              <a:t>0.25</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 a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((pyautogui.moveTo,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(pyautogui.click,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(pyautogui.press, (</a:t>
            </a:r>
            <a:r>
              <a:rPr lang="en-US" sz="700" dirty="0">
                <a:solidFill>
                  <a:srgbClr val="9ECBFF"/>
                </a:solidFill>
                <a:latin typeface="Courier New" pitchFamily="34" charset="0"/>
                <a:ea typeface="Courier New" pitchFamily="34" charset="-122"/>
                <a:cs typeface="Courier New" pitchFamily="34" charset="-120"/>
              </a:rPr>
              <a:t>'shift'</a:t>
            </a:r>
            <a:r>
              <a:rPr lang="en-US" sz="700" dirty="0">
                <a:solidFill>
                  <a:srgbClr val="E6EDF3"/>
                </a:solidFill>
                <a:latin typeface="Courier New" pitchFamily="34" charset="0"/>
                <a:ea typeface="Courier New" pitchFamily="34" charset="-122"/>
                <a:cs typeface="Courier New" pitchFamily="34" charset="-120"/>
              </a:rPr>
              <a:t>,)), (pyautogui.position,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(pyautogui.onScreen,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'%-9s waits after the call:'</a:t>
            </a:r>
            <a:r>
              <a:rPr lang="en-US" sz="700" dirty="0">
                <a:solidFill>
                  <a:srgbClr val="E6EDF3"/>
                </a:solidFill>
                <a:latin typeface="Courier New" pitchFamily="34" charset="0"/>
                <a:ea typeface="Courier New" pitchFamily="34" charset="-122"/>
                <a:cs typeface="Courier New" pitchFamily="34" charset="-120"/>
              </a:rPr>
              <a:t> % f.__name__, waits(f, *a))</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PAUSE 0.1 | FAILSAFE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    waits after the call: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     waits after the call: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press     waits after the call: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position  waits after the call: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onScreen  waits after the call: False</a:t>
            </a:r>
            <a:endParaRPr lang="en-US" sz="700" dirty="0"/>
          </a:p>
        </p:txBody>
      </p:sp>
      <p:sp>
        <p:nvSpPr>
          <p:cNvPr id="32" name="Text 30"/>
          <p:cNvSpPr txBox="1"/>
          <p:nvPr/>
        </p:nvSpPr>
        <p:spPr>
          <a:xfrm>
            <a:off x="4041648" y="3886200"/>
            <a:ext cx="464515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33" name="Shape 31"/>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34" name="Text 32"/>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Brooklyn Rapid Transit system, who…</a:t>
            </a:r>
            <a:endParaRPr lang="en-US" sz="750" dirty="0"/>
          </a:p>
        </p:txBody>
      </p:sp>
      <p:sp>
        <p:nvSpPr>
          <p:cNvPr id="35" name="Shape 33"/>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36" name="Text 34"/>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Brooklyn, New York City, on the Malbon…</a:t>
            </a:r>
            <a:endParaRPr lang="en-US" sz="750" dirty="0"/>
          </a:p>
        </p:txBody>
      </p:sp>
      <p:sp>
        <p:nvSpPr>
          <p:cNvPr id="37" name="Shape 35"/>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38" name="Text 36"/>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1918</a:t>
            </a:r>
            <a:endParaRPr lang="en-US" sz="750" dirty="0"/>
          </a:p>
        </p:txBody>
      </p:sp>
      <p:sp>
        <p:nvSpPr>
          <p:cNvPr id="39" name="Shape 37"/>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40" name="Text 38"/>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Leave the fail-safe on; it is the way out of a runaway script.</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Corners and the fail-safe points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corners raise FailSafeException; the points are fixed when pyautogui is imported</a:t>
            </a:r>
            <a:endParaRPr lang="en-US" sz="1300" dirty="0"/>
          </a:p>
        </p:txBody>
      </p:sp>
      <p:sp>
        <p:nvSpPr>
          <p:cNvPr id="6" name="Text 4"/>
          <p:cNvSpPr txBox="1"/>
          <p:nvPr/>
        </p:nvSpPr>
        <p:spPr>
          <a:xfrm>
            <a:off x="457200" y="1143000"/>
            <a:ext cx="51572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cornersCut_v1_0_0.py, lines 168 to 182 of 182</a:t>
            </a:r>
            <a:endParaRPr lang="en-US" sz="1000" dirty="0"/>
          </a:p>
        </p:txBody>
      </p:sp>
      <p:sp>
        <p:nvSpPr>
          <p:cNvPr id="7" name="Shape 5"/>
          <p:cNvSpPr/>
          <p:nvPr/>
        </p:nvSpPr>
        <p:spPr>
          <a:xfrm>
            <a:off x="457200" y="1417320"/>
            <a:ext cx="5157216"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791456"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size'</a:t>
            </a:r>
            <a:r>
              <a:rPr lang="en-US" sz="700" dirty="0">
                <a:solidFill>
                  <a:srgbClr val="E6EDF3"/>
                </a:solidFill>
                <a:latin typeface="Courier New" pitchFamily="34" charset="0"/>
                <a:ea typeface="Courier New" pitchFamily="34" charset="-122"/>
                <a:cs typeface="Courier New" pitchFamily="34" charset="-120"/>
              </a:rPr>
              <a:t>, tuple(pyautogui.size()))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'FAILSAFE_POINTS'</a:t>
            </a:r>
            <a:r>
              <a:rPr lang="en-US" sz="700" dirty="0">
                <a:solidFill>
                  <a:srgbClr val="E6EDF3"/>
                </a:solidFill>
                <a:latin typeface="Courier New" pitchFamily="34" charset="0"/>
                <a:ea typeface="Courier New" pitchFamily="34" charset="-122"/>
                <a:cs typeface="Courier New" pitchFamily="34" charset="-120"/>
              </a:rPr>
              <a:t>, sorted(pyautogui.FAILSAFE_POINTS))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fires(x, 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pyautogui.FAILSAFE =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pyautogui.moveTo(x, y); pyautogui.FAILSAFE =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pyautogui.moveTo(</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pyautogui.FailSafeException: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False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1919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1079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print(xy, </a:t>
            </a:r>
            <a:r>
              <a:rPr lang="en-US" sz="700" dirty="0">
                <a:solidFill>
                  <a:srgbClr val="9ECBFF"/>
                </a:solidFill>
                <a:latin typeface="Courier New" pitchFamily="34" charset="0"/>
                <a:ea typeface="Courier New" pitchFamily="34" charset="-122"/>
                <a:cs typeface="Courier New" pitchFamily="34" charset="-120"/>
              </a:rPr>
              <a:t>'raises:'</a:t>
            </a:r>
            <a:r>
              <a:rPr lang="en-US" sz="700" dirty="0">
                <a:solidFill>
                  <a:srgbClr val="E6EDF3"/>
                </a:solidFill>
                <a:latin typeface="Courier New" pitchFamily="34" charset="0"/>
                <a:ea typeface="Courier New" pitchFamily="34" charset="-122"/>
                <a:cs typeface="Courier New" pitchFamily="34" charset="-120"/>
              </a:rPr>
              <a:t>, fires(*xy))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d.sh(</a:t>
            </a:r>
            <a:r>
              <a:rPr lang="en-US" sz="700" dirty="0">
                <a:solidFill>
                  <a:srgbClr val="9ECBFF"/>
                </a:solidFill>
                <a:latin typeface="Courier New" pitchFamily="34" charset="0"/>
                <a:ea typeface="Courier New" pitchFamily="34" charset="-122"/>
                <a:cs typeface="Courier New" pitchFamily="34" charset="-120"/>
              </a:rPr>
              <a:t>'xrandr'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'1280x720'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code = </a:t>
            </a:r>
            <a:r>
              <a:rPr lang="en-US" sz="700" dirty="0">
                <a:solidFill>
                  <a:srgbClr val="9ECBFF"/>
                </a:solidFill>
                <a:latin typeface="Courier New" pitchFamily="34" charset="0"/>
                <a:ea typeface="Courier New" pitchFamily="34" charset="-122"/>
                <a:cs typeface="Courier New" pitchFamily="34" charset="-120"/>
              </a:rPr>
              <a:t>'import pyautogui as p; print(tuple(p.size()), max(p.FAILSAFE_POINTS))'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here = (tuple(pyautogui.size()), max(pyautogui.FAILSAFE_POINTS))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xrandr --fb 1280x720: this process'</a:t>
            </a:r>
            <a:r>
              <a:rPr lang="en-US" sz="700" dirty="0">
                <a:solidFill>
                  <a:srgbClr val="E6EDF3"/>
                </a:solidFill>
                <a:latin typeface="Courier New" pitchFamily="34" charset="0"/>
                <a:ea typeface="Courier New" pitchFamily="34" charset="-122"/>
                <a:cs typeface="Courier New" pitchFamily="34" charset="-120"/>
              </a:rPr>
              <a:t>, here)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 new process'</a:t>
            </a:r>
            <a:r>
              <a:rPr lang="en-US" sz="700" dirty="0">
                <a:solidFill>
                  <a:srgbClr val="E6EDF3"/>
                </a:solidFill>
                <a:latin typeface="Courier New" pitchFamily="34" charset="0"/>
                <a:ea typeface="Courier New" pitchFamily="34" charset="-122"/>
                <a:cs typeface="Courier New" pitchFamily="34" charset="-120"/>
              </a:rPr>
              <a:t>, child(code, env=d.env)[</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size (1920, 1080)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FAILSAFE_POINTS [(0, 0), (0, 1079), (1919, 0), (1919, 1079)]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0) raises: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(1919, 1079) raises: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1) raises: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xrandr --fb 1280x720: this process ((1920, 1080), (1919, 1079))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new process (1280, 720) (1279, 719)</a:t>
            </a:r>
            <a:endParaRPr lang="en-US" sz="700" dirty="0"/>
          </a:p>
        </p:txBody>
      </p:sp>
      <p:sp>
        <p:nvSpPr>
          <p:cNvPr id="9" name="Text 7"/>
          <p:cNvSpPr txBox="1"/>
          <p:nvPr/>
        </p:nvSpPr>
        <p:spPr>
          <a:xfrm>
            <a:off x="5797296" y="1371600"/>
            <a:ext cx="288950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0" name="Text 8"/>
          <p:cNvSpPr txBox="1"/>
          <p:nvPr/>
        </p:nvSpPr>
        <p:spPr>
          <a:xfrm>
            <a:off x="5797296" y="1828800"/>
            <a:ext cx="288950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helpers that start child programs) are not shown.</a:t>
            </a:r>
            <a:endParaRPr lang="en-US" sz="800" dirty="0"/>
          </a:p>
        </p:txBody>
      </p:sp>
      <p:sp>
        <p:nvSpPr>
          <p:cNvPr id="11" name="Text 9"/>
          <p:cNvSpPr txBox="1"/>
          <p:nvPr/>
        </p:nvSpPr>
        <p:spPr>
          <a:xfrm>
            <a:off x="5797296" y="2167128"/>
            <a:ext cx="2889504" cy="64922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the corners (0, 0), (1919, 0), (0, 1079) and (1919, 1079) made the next call raise FailSafeException, moveTo(0, 0) itself returned, and afterwards position, size and screenshot still ran while click, write and moveTo raised.</a:t>
            </a:r>
            <a:endParaRPr lang="en-US" sz="800" dirty="0"/>
          </a:p>
        </p:txBody>
      </p:sp>
      <p:sp>
        <p:nvSpPr>
          <p:cNvPr id="12" name="Text 10"/>
          <p:cNvSpPr txBox="1"/>
          <p:nvPr/>
        </p:nvSpPr>
        <p:spPr>
          <a:xfrm>
            <a:off x="5797296" y="2871216"/>
            <a:ext cx="288950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with 2 virtual monitors xrandr listed 3 monitors and size() still said (1920, 1080).</a:t>
            </a:r>
            <a:endParaRPr lang="en-US" sz="800" dirty="0"/>
          </a:p>
        </p:txBody>
      </p:sp>
      <p:sp>
        <p:nvSpPr>
          <p:cNvPr id="13" name="Text 11"/>
          <p:cNvSpPr txBox="1"/>
          <p:nvPr/>
        </p:nvSpPr>
        <p:spPr>
          <a:xfrm>
            <a:off x="5797296" y="3209544"/>
            <a:ext cx="2889504"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a real second monitor, and what a real desktop does with hotkey('ctrl', 'alt', 'delete'); on the virtual display it only reached a window as three key presses.</a:t>
            </a:r>
            <a:endParaRPr lang="en-US" sz="8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corners stop the program, and the list is fixed at import.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Moving the mouse and where it 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longer duration means more small steps; points outside the screen are clamped</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moveCut_v1_0_0.py, lines 168 to 179 of 179</a:t>
            </a:r>
            <a:endParaRPr lang="en-US" sz="1000" dirty="0"/>
          </a:p>
        </p:txBody>
      </p:sp>
      <p:sp>
        <p:nvSpPr>
          <p:cNvPr id="7" name="Shape 5"/>
          <p:cNvSpPr/>
          <p:nvPr/>
        </p:nvSpPr>
        <p:spPr>
          <a:xfrm>
            <a:off x="457200" y="1417320"/>
            <a:ext cx="4645152"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279392"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d.observer(geometry=</a:t>
            </a:r>
            <a:r>
              <a:rPr lang="en-US" sz="700" dirty="0">
                <a:solidFill>
                  <a:srgbClr val="9ECBFF"/>
                </a:solidFill>
                <a:latin typeface="Courier New" pitchFamily="34" charset="0"/>
                <a:ea typeface="Courier New" pitchFamily="34" charset="-122"/>
                <a:cs typeface="Courier New" pitchFamily="34" charset="-120"/>
              </a:rPr>
              <a:t>'1920x1080+0+0'</a:t>
            </a:r>
            <a:r>
              <a:rPr lang="en-US" sz="700" dirty="0">
                <a:solidFill>
                  <a:srgbClr val="E6EDF3"/>
                </a:solidFill>
                <a:latin typeface="Courier New" pitchFamily="34" charset="0"/>
                <a:ea typeface="Courier New" pitchFamily="34" charset="-122"/>
                <a:cs typeface="Courier New" pitchFamily="34" charset="-120"/>
              </a:rPr>
              <a:t>, mode=</a:t>
            </a:r>
            <a:r>
              <a:rPr lang="en-US" sz="700" dirty="0">
                <a:solidFill>
                  <a:srgbClr val="9ECBFF"/>
                </a:solidFill>
                <a:latin typeface="Courier New" pitchFamily="34" charset="0"/>
                <a:ea typeface="Courier New" pitchFamily="34" charset="-122"/>
                <a:cs typeface="Courier New" pitchFamily="34" charset="-120"/>
              </a:rPr>
              <a:t>'paint'</a:t>
            </a:r>
            <a:r>
              <a:rPr lang="en-US" sz="700" dirty="0">
                <a:solidFill>
                  <a:srgbClr val="E6EDF3"/>
                </a:solidFill>
                <a:latin typeface="Courier New" pitchFamily="34" charset="0"/>
                <a:ea typeface="Courier New" pitchFamily="34" charset="-122"/>
                <a:cs typeface="Courier New" pitchFamily="34" charset="-120"/>
              </a:rPr>
              <a:t>, w=</a:t>
            </a:r>
            <a:r>
              <a:rPr lang="en-US" sz="700" dirty="0">
                <a:solidFill>
                  <a:srgbClr val="FFD28A"/>
                </a:solidFill>
                <a:latin typeface="Courier New" pitchFamily="34" charset="0"/>
                <a:ea typeface="Courier New" pitchFamily="34" charset="-122"/>
                <a:cs typeface="Courier New" pitchFamily="34" charset="-120"/>
              </a:rPr>
              <a:t>1900</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dur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0.25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pyautogui.moveTo(</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 o.clear()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pyautogui.moveTo(</a:t>
            </a:r>
            <a:r>
              <a:rPr lang="en-US" sz="700" dirty="0">
                <a:solidFill>
                  <a:srgbClr val="FFD28A"/>
                </a:solidFill>
                <a:latin typeface="Courier New" pitchFamily="34" charset="0"/>
                <a:ea typeface="Courier New" pitchFamily="34" charset="-122"/>
                <a:cs typeface="Courier New" pitchFamily="34" charset="-120"/>
              </a:rPr>
              <a:t>900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700</a:t>
            </a:r>
            <a:r>
              <a:rPr lang="en-US" sz="700" dirty="0">
                <a:solidFill>
                  <a:srgbClr val="E6EDF3"/>
                </a:solidFill>
                <a:latin typeface="Courier New" pitchFamily="34" charset="0"/>
                <a:ea typeface="Courier New" pitchFamily="34" charset="-122"/>
                <a:cs typeface="Courier New" pitchFamily="34" charset="-120"/>
              </a:rPr>
              <a:t>, duration=dur)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 = sum(e[</a:t>
            </a:r>
            <a:r>
              <a:rPr lang="en-US" sz="700" dirty="0">
                <a:solidFill>
                  <a:srgbClr val="9ECBFF"/>
                </a:solidFill>
                <a:latin typeface="Courier New" pitchFamily="34" charset="0"/>
                <a:ea typeface="Courier New" pitchFamily="34" charset="-122"/>
                <a:cs typeface="Courier New" pitchFamily="34" charset="-120"/>
              </a:rPr>
              <a:t>'type'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'Motion'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o.events())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'moveTo(900, 700, duration=%s): %2d motion events'</a:t>
            </a:r>
            <a:r>
              <a:rPr lang="en-US" sz="700" dirty="0">
                <a:solidFill>
                  <a:srgbClr val="E6EDF3"/>
                </a:solidFill>
                <a:latin typeface="Courier New" pitchFamily="34" charset="0"/>
                <a:ea typeface="Courier New" pitchFamily="34" charset="-122"/>
                <a:cs typeface="Courier New" pitchFamily="34" charset="-120"/>
              </a:rPr>
              <a:t> % (dur,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pyautogui.FAILSAFE =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pyautogui.moveTo(x, 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'moveTo(%s, %s) -&gt;'</a:t>
            </a:r>
            <a:r>
              <a:rPr lang="en-US" sz="700" dirty="0">
                <a:solidFill>
                  <a:srgbClr val="E6EDF3"/>
                </a:solidFill>
                <a:latin typeface="Courier New" pitchFamily="34" charset="0"/>
                <a:ea typeface="Courier New" pitchFamily="34" charset="-122"/>
                <a:cs typeface="Courier New" pitchFamily="34" charset="-120"/>
              </a:rPr>
              <a:t> % (x, y), tuple(pyautogui.position()))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moveTo(900, 700, duration=0):  1 motion events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moveTo(900, 700, duration=0.1):  1 motion events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moveTo(900, 700, duration=0.25):  6 motion events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moveTo(900, 700, duration=0.5): 11 motion events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moveTo(900, 700, duration=1.0): 21 motion events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moveTo(-50, -50) -&gt;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moveTo(5000, 5000) -&gt; (1919, 1079)</a:t>
            </a:r>
            <a:endParaRPr lang="en-US" sz="700" dirty="0"/>
          </a:p>
        </p:txBody>
      </p:sp>
      <p:graphicFrame>
        <p:nvGraphicFramePr>
          <p:cNvPr id="9" name="Chart 0" descr=""/>
          <p:cNvGraphicFramePr/>
          <p:nvPr/>
        </p:nvGraphicFramePr>
        <p:xfrm>
          <a:off x="5285232" y="1280160"/>
          <a:ext cx="3401568" cy="17373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285232" y="3108960"/>
            <a:ext cx="34015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1" name="Text 8"/>
          <p:cNvSpPr txBox="1"/>
          <p:nvPr/>
        </p:nvSpPr>
        <p:spPr>
          <a:xfrm>
            <a:off x="5285232" y="3438144"/>
            <a:ext cx="34015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window that counts the motion events) are not shown.</a:t>
            </a:r>
            <a:endParaRPr lang="en-US" sz="800" dirty="0"/>
          </a:p>
        </p:txBody>
      </p:sp>
      <p:sp>
        <p:nvSpPr>
          <p:cNvPr id="12" name="Text 9"/>
          <p:cNvSpPr txBox="1"/>
          <p:nvPr/>
        </p:nvSpPr>
        <p:spPr>
          <a:xfrm>
            <a:off x="5285232" y="3767328"/>
            <a:ext cx="34015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moveTo(40000, 500) raised struct.error, so the clamping stops at the limits of the X protocol.</a:t>
            </a:r>
            <a:endParaRPr lang="en-US" sz="80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Time a move with duration; the pointer never leaves the screen.</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Clicking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button, how many clicks, how far apart; the window names a double click</a:t>
            </a:r>
            <a:endParaRPr lang="en-US" sz="1300" dirty="0"/>
          </a:p>
        </p:txBody>
      </p:sp>
      <p:sp>
        <p:nvSpPr>
          <p:cNvPr id="6" name="Text 4"/>
          <p:cNvSpPr txBox="1"/>
          <p:nvPr/>
        </p:nvSpPr>
        <p:spPr>
          <a:xfrm>
            <a:off x="457200" y="1143000"/>
            <a:ext cx="51572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clickCut_v1_0_0.py, lines 168 to 175 of 175</a:t>
            </a:r>
            <a:endParaRPr lang="en-US" sz="1000" dirty="0"/>
          </a:p>
        </p:txBody>
      </p:sp>
      <p:sp>
        <p:nvSpPr>
          <p:cNvPr id="7" name="Shape 5"/>
          <p:cNvSpPr/>
          <p:nvPr/>
        </p:nvSpPr>
        <p:spPr>
          <a:xfrm>
            <a:off x="457200" y="1417320"/>
            <a:ext cx="5157216"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791456"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d.observer(geometry=</a:t>
            </a:r>
            <a:r>
              <a:rPr lang="en-US" sz="700" dirty="0">
                <a:solidFill>
                  <a:srgbClr val="9ECBFF"/>
                </a:solidFill>
                <a:latin typeface="Courier New" pitchFamily="34" charset="0"/>
                <a:ea typeface="Courier New" pitchFamily="34" charset="-122"/>
                <a:cs typeface="Courier New" pitchFamily="34" charset="-120"/>
              </a:rPr>
              <a:t>'1920x1080+0+0'</a:t>
            </a:r>
            <a:r>
              <a:rPr lang="en-US" sz="700" dirty="0">
                <a:solidFill>
                  <a:srgbClr val="E6EDF3"/>
                </a:solidFill>
                <a:latin typeface="Courier New" pitchFamily="34" charset="0"/>
                <a:ea typeface="Courier New" pitchFamily="34" charset="-122"/>
                <a:cs typeface="Courier New" pitchFamily="34" charset="-120"/>
              </a:rPr>
              <a:t>, mode=</a:t>
            </a:r>
            <a:r>
              <a:rPr lang="en-US" sz="700" dirty="0">
                <a:solidFill>
                  <a:srgbClr val="9ECBFF"/>
                </a:solidFill>
                <a:latin typeface="Courier New" pitchFamily="34" charset="0"/>
                <a:ea typeface="Courier New" pitchFamily="34" charset="-122"/>
                <a:cs typeface="Courier New" pitchFamily="34" charset="-120"/>
              </a:rPr>
              <a:t>'paint'</a:t>
            </a:r>
            <a:r>
              <a:rPr lang="en-US" sz="700" dirty="0">
                <a:solidFill>
                  <a:srgbClr val="E6EDF3"/>
                </a:solidFill>
                <a:latin typeface="Courier New" pitchFamily="34" charset="0"/>
                <a:ea typeface="Courier New" pitchFamily="34" charset="-122"/>
                <a:cs typeface="Courier New" pitchFamily="34" charset="-120"/>
              </a:rPr>
              <a:t>, w=</a:t>
            </a:r>
            <a:r>
              <a:rPr lang="en-US" sz="700" dirty="0">
                <a:solidFill>
                  <a:srgbClr val="FFD28A"/>
                </a:solidFill>
                <a:latin typeface="Courier New" pitchFamily="34" charset="0"/>
                <a:ea typeface="Courier New" pitchFamily="34" charset="-122"/>
                <a:cs typeface="Courier New" pitchFamily="34" charset="-120"/>
              </a:rPr>
              <a:t>1900</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pyautogui.moveTo(</a:t>
            </a:r>
            <a:r>
              <a:rPr lang="en-US" sz="700" dirty="0">
                <a:solidFill>
                  <a:srgbClr val="FFD28A"/>
                </a:solidFill>
                <a:latin typeface="Courier New" pitchFamily="34" charset="0"/>
                <a:ea typeface="Courier New" pitchFamily="34" charset="-122"/>
                <a:cs typeface="Courier New" pitchFamily="34" charset="-120"/>
              </a:rPr>
              <a:t>700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 print(VD)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call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"click()"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"click(button='middle')"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"rightClick()"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"doubleClick()"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"tripleClick()"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"click(clicks=2, interval=0.6)"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0.7</a:t>
            </a:r>
            <a:r>
              <a:rPr lang="en-US" sz="700" dirty="0">
                <a:solidFill>
                  <a:srgbClr val="E6EDF3"/>
                </a:solidFill>
                <a:latin typeface="Courier New" pitchFamily="34" charset="0"/>
                <a:ea typeface="Courier New" pitchFamily="34" charset="-122"/>
                <a:cs typeface="Courier New" pitchFamily="34" charset="-120"/>
              </a:rPr>
              <a:t>); o.clear(); eval(</a:t>
            </a:r>
            <a:r>
              <a:rPr lang="en-US" sz="700" dirty="0">
                <a:solidFill>
                  <a:srgbClr val="9ECBFF"/>
                </a:solidFill>
                <a:latin typeface="Courier New" pitchFamily="34" charset="0"/>
                <a:ea typeface="Courier New" pitchFamily="34" charset="-122"/>
                <a:cs typeface="Courier New" pitchFamily="34" charset="-120"/>
              </a:rPr>
              <a:t>'pyautogui.'</a:t>
            </a:r>
            <a:r>
              <a:rPr lang="en-US" sz="700" dirty="0">
                <a:solidFill>
                  <a:srgbClr val="E6EDF3"/>
                </a:solidFill>
                <a:latin typeface="Courier New" pitchFamily="34" charset="0"/>
                <a:ea typeface="Courier New" pitchFamily="34" charset="-122"/>
                <a:cs typeface="Courier New" pitchFamily="34" charset="-120"/>
              </a:rPr>
              <a:t> + call)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'%-30s'</a:t>
            </a:r>
            <a:r>
              <a:rPr lang="en-US" sz="700" dirty="0">
                <a:solidFill>
                  <a:srgbClr val="E6EDF3"/>
                </a:solidFill>
                <a:latin typeface="Courier New" pitchFamily="34" charset="0"/>
                <a:ea typeface="Courier New" pitchFamily="34" charset="-122"/>
                <a:cs typeface="Courier New" pitchFamily="34" charset="-120"/>
              </a:rPr>
              <a:t> % call, presses(o))</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                        [('Press',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click(button='middle')         [('Press',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rightClick()                   [('Press',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doubleClick()                  [('Press', 1), ('DoubleClick',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tripleClick()                  [('Press', 1), ('DoubleClick', 1), ('TripleClick',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click(clicks=2, interval=0.6)  [('Press', 1), ('Press', 1)]</a:t>
            </a:r>
            <a:endParaRPr lang="en-US" sz="700" dirty="0"/>
          </a:p>
        </p:txBody>
      </p:sp>
      <p:sp>
        <p:nvSpPr>
          <p:cNvPr id="9" name="Text 7"/>
          <p:cNvSpPr txBox="1"/>
          <p:nvPr/>
        </p:nvSpPr>
        <p:spPr>
          <a:xfrm>
            <a:off x="5797296" y="1371600"/>
            <a:ext cx="288950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0" name="Text 8"/>
          <p:cNvSpPr txBox="1"/>
          <p:nvPr/>
        </p:nvSpPr>
        <p:spPr>
          <a:xfrm>
            <a:off x="5797296" y="1819656"/>
            <a:ext cx="288950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window that records the buttons it receives) are not shown.</a:t>
            </a:r>
            <a:endParaRPr lang="en-US" sz="80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click is a press at the pointer; the window decides the rest.</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Dragging: the spiral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drag() holds the button down while the pointer moves; the loop draws a square spiral</a:t>
            </a:r>
            <a:endParaRPr lang="en-US" sz="1300" dirty="0"/>
          </a:p>
        </p:txBody>
      </p:sp>
      <p:sp>
        <p:nvSpPr>
          <p:cNvPr id="6" name="Shape 4"/>
          <p:cNvSpPr/>
          <p:nvPr/>
        </p:nvSpPr>
        <p:spPr>
          <a:xfrm>
            <a:off x="548640" y="1554480"/>
            <a:ext cx="1280160" cy="329184"/>
          </a:xfrm>
          <a:prstGeom prst="roundRect">
            <a:avLst>
              <a:gd name="adj" fmla="val 22222"/>
            </a:avLst>
          </a:prstGeom>
          <a:solidFill>
            <a:srgbClr val="2F6D62"/>
          </a:solidFill>
          <a:ln w="15875">
            <a:solidFill>
              <a:srgbClr val="2F6D62"/>
            </a:solidFill>
            <a:prstDash val="solid"/>
          </a:ln>
        </p:spPr>
      </p:sp>
      <p:sp>
        <p:nvSpPr>
          <p:cNvPr id="7" name="Text 5"/>
          <p:cNvSpPr txBox="1"/>
          <p:nvPr/>
        </p:nvSpPr>
        <p:spPr>
          <a:xfrm>
            <a:off x="603504" y="1587398"/>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cursor is at its place</a:t>
            </a:r>
            <a:endParaRPr lang="en-US" sz="800" dirty="0"/>
          </a:p>
        </p:txBody>
      </p:sp>
      <p:sp>
        <p:nvSpPr>
          <p:cNvPr id="8" name="Shape 6"/>
          <p:cNvSpPr/>
          <p:nvPr/>
        </p:nvSpPr>
        <p:spPr>
          <a:xfrm>
            <a:off x="548640" y="2023567"/>
            <a:ext cx="1280160" cy="329184"/>
          </a:xfrm>
          <a:prstGeom prst="roundRect">
            <a:avLst>
              <a:gd name="adj" fmla="val 22222"/>
            </a:avLst>
          </a:prstGeom>
          <a:solidFill>
            <a:srgbClr val="2F6D62"/>
          </a:solidFill>
          <a:ln w="15875">
            <a:solidFill>
              <a:srgbClr val="2F6D62"/>
            </a:solidFill>
            <a:prstDash val="solid"/>
          </a:ln>
        </p:spPr>
      </p:sp>
      <p:sp>
        <p:nvSpPr>
          <p:cNvPr id="9" name="Text 7"/>
          <p:cNvSpPr txBox="1"/>
          <p:nvPr/>
        </p:nvSpPr>
        <p:spPr>
          <a:xfrm>
            <a:off x="603504" y="2056486"/>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button is held down</a:t>
            </a:r>
            <a:endParaRPr lang="en-US" sz="800" dirty="0"/>
          </a:p>
        </p:txBody>
      </p:sp>
      <p:sp>
        <p:nvSpPr>
          <p:cNvPr id="10" name="Shape 8"/>
          <p:cNvSpPr/>
          <p:nvPr/>
        </p:nvSpPr>
        <p:spPr>
          <a:xfrm>
            <a:off x="548640" y="2493569"/>
            <a:ext cx="1280160" cy="329184"/>
          </a:xfrm>
          <a:prstGeom prst="roundRect">
            <a:avLst>
              <a:gd name="adj" fmla="val 22222"/>
            </a:avLst>
          </a:prstGeom>
          <a:solidFill>
            <a:srgbClr val="2F6D62"/>
          </a:solidFill>
          <a:ln w="15875">
            <a:solidFill>
              <a:srgbClr val="2F6D62"/>
            </a:solidFill>
            <a:prstDash val="solid"/>
          </a:ln>
        </p:spPr>
      </p:sp>
      <p:sp>
        <p:nvSpPr>
          <p:cNvPr id="11" name="Text 9"/>
          <p:cNvSpPr txBox="1"/>
          <p:nvPr/>
        </p:nvSpPr>
        <p:spPr>
          <a:xfrm>
            <a:off x="603504" y="2525573"/>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cursor moves in steps</a:t>
            </a:r>
            <a:endParaRPr lang="en-US" sz="800" dirty="0"/>
          </a:p>
        </p:txBody>
      </p:sp>
      <p:sp>
        <p:nvSpPr>
          <p:cNvPr id="12" name="Shape 10"/>
          <p:cNvSpPr/>
          <p:nvPr/>
        </p:nvSpPr>
        <p:spPr>
          <a:xfrm>
            <a:off x="548640" y="2962656"/>
            <a:ext cx="1280160" cy="329184"/>
          </a:xfrm>
          <a:prstGeom prst="roundRect">
            <a:avLst>
              <a:gd name="adj" fmla="val 22222"/>
            </a:avLst>
          </a:prstGeom>
          <a:solidFill>
            <a:srgbClr val="2F6D62"/>
          </a:solidFill>
          <a:ln w="15875">
            <a:solidFill>
              <a:srgbClr val="2F6D62"/>
            </a:solidFill>
            <a:prstDash val="solid"/>
          </a:ln>
        </p:spPr>
      </p:sp>
      <p:sp>
        <p:nvSpPr>
          <p:cNvPr id="13" name="Text 11"/>
          <p:cNvSpPr txBox="1"/>
          <p:nvPr/>
        </p:nvSpPr>
        <p:spPr>
          <a:xfrm>
            <a:off x="603504" y="3056839"/>
            <a:ext cx="117043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button is released</a:t>
            </a:r>
            <a:endParaRPr lang="en-US" sz="800" dirty="0"/>
          </a:p>
        </p:txBody>
      </p:sp>
      <p:sp>
        <p:nvSpPr>
          <p:cNvPr id="14" name="Shape 12"/>
          <p:cNvSpPr/>
          <p:nvPr/>
        </p:nvSpPr>
        <p:spPr>
          <a:xfrm>
            <a:off x="1106424" y="1298448"/>
            <a:ext cx="164592" cy="164592"/>
          </a:xfrm>
          <a:prstGeom prst="ellipse">
            <a:avLst/>
          </a:prstGeom>
          <a:solidFill>
            <a:srgbClr val="2B2622"/>
          </a:solidFill>
          <a:ln w="15875">
            <a:solidFill>
              <a:srgbClr val="2B2622"/>
            </a:solidFill>
            <a:prstDash val="solid"/>
          </a:ln>
        </p:spPr>
      </p:sp>
      <p:sp>
        <p:nvSpPr>
          <p:cNvPr id="15" name="Shape 13"/>
          <p:cNvSpPr/>
          <p:nvPr/>
        </p:nvSpPr>
        <p:spPr>
          <a:xfrm>
            <a:off x="1188720" y="1463040"/>
            <a:ext cx="0" cy="91440"/>
          </a:xfrm>
          <a:prstGeom prst="line">
            <a:avLst/>
          </a:prstGeom>
          <a:noFill/>
          <a:ln w="15875">
            <a:solidFill>
              <a:srgbClr val="6E655C"/>
            </a:solidFill>
            <a:prstDash val="solid"/>
            <a:tailEnd type="triangle"/>
          </a:ln>
        </p:spPr>
      </p:sp>
      <p:sp>
        <p:nvSpPr>
          <p:cNvPr id="16" name="Shape 14"/>
          <p:cNvSpPr/>
          <p:nvPr/>
        </p:nvSpPr>
        <p:spPr>
          <a:xfrm>
            <a:off x="1188720" y="1883664"/>
            <a:ext cx="0" cy="139903"/>
          </a:xfrm>
          <a:prstGeom prst="line">
            <a:avLst/>
          </a:prstGeom>
          <a:noFill/>
          <a:ln w="22225">
            <a:solidFill>
              <a:srgbClr val="D97A14"/>
            </a:solidFill>
            <a:prstDash val="solid"/>
            <a:tailEnd type="triangle"/>
          </a:ln>
        </p:spPr>
      </p:sp>
      <p:sp>
        <p:nvSpPr>
          <p:cNvPr id="17" name="Shape 15"/>
          <p:cNvSpPr/>
          <p:nvPr/>
        </p:nvSpPr>
        <p:spPr>
          <a:xfrm>
            <a:off x="1207008" y="1954073"/>
            <a:ext cx="859536" cy="0"/>
          </a:xfrm>
          <a:prstGeom prst="line">
            <a:avLst/>
          </a:prstGeom>
          <a:noFill/>
          <a:ln w="9525">
            <a:solidFill>
              <a:srgbClr val="C9BFAE"/>
            </a:solidFill>
            <a:prstDash val="dash"/>
          </a:ln>
        </p:spPr>
      </p:sp>
      <p:sp>
        <p:nvSpPr>
          <p:cNvPr id="18" name="Text 16"/>
          <p:cNvSpPr txBox="1"/>
          <p:nvPr/>
        </p:nvSpPr>
        <p:spPr>
          <a:xfrm>
            <a:off x="2103120" y="1821485"/>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drag() pushes the button down</a:t>
            </a:r>
            <a:endParaRPr lang="en-US" sz="800" dirty="0"/>
          </a:p>
        </p:txBody>
      </p:sp>
      <p:sp>
        <p:nvSpPr>
          <p:cNvPr id="19" name="Shape 17"/>
          <p:cNvSpPr/>
          <p:nvPr/>
        </p:nvSpPr>
        <p:spPr>
          <a:xfrm>
            <a:off x="1188720" y="2352751"/>
            <a:ext cx="0" cy="140818"/>
          </a:xfrm>
          <a:prstGeom prst="line">
            <a:avLst/>
          </a:prstGeom>
          <a:noFill/>
          <a:ln w="22225">
            <a:solidFill>
              <a:srgbClr val="D97A14"/>
            </a:solidFill>
            <a:prstDash val="solid"/>
            <a:tailEnd type="triangle"/>
          </a:ln>
        </p:spPr>
      </p:sp>
      <p:sp>
        <p:nvSpPr>
          <p:cNvPr id="20" name="Shape 18"/>
          <p:cNvSpPr/>
          <p:nvPr/>
        </p:nvSpPr>
        <p:spPr>
          <a:xfrm>
            <a:off x="1207008" y="2423160"/>
            <a:ext cx="859536" cy="0"/>
          </a:xfrm>
          <a:prstGeom prst="line">
            <a:avLst/>
          </a:prstGeom>
          <a:noFill/>
          <a:ln w="9525">
            <a:solidFill>
              <a:srgbClr val="C9BFAE"/>
            </a:solidFill>
            <a:prstDash val="dash"/>
          </a:ln>
        </p:spPr>
      </p:sp>
      <p:sp>
        <p:nvSpPr>
          <p:cNvPr id="21" name="Text 19"/>
          <p:cNvSpPr txBox="1"/>
          <p:nvPr/>
        </p:nvSpPr>
        <p:spPr>
          <a:xfrm>
            <a:off x="2103120" y="2291486"/>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cursor moves for the duration</a:t>
            </a:r>
            <a:endParaRPr lang="en-US" sz="800" dirty="0"/>
          </a:p>
        </p:txBody>
      </p:sp>
      <p:sp>
        <p:nvSpPr>
          <p:cNvPr id="22" name="Shape 20"/>
          <p:cNvSpPr/>
          <p:nvPr/>
        </p:nvSpPr>
        <p:spPr>
          <a:xfrm>
            <a:off x="1188720" y="2822753"/>
            <a:ext cx="0" cy="139903"/>
          </a:xfrm>
          <a:prstGeom prst="line">
            <a:avLst/>
          </a:prstGeom>
          <a:noFill/>
          <a:ln w="22225">
            <a:solidFill>
              <a:srgbClr val="D97A14"/>
            </a:solidFill>
            <a:prstDash val="solid"/>
            <a:tailEnd type="triangle"/>
          </a:ln>
        </p:spPr>
      </p:sp>
      <p:sp>
        <p:nvSpPr>
          <p:cNvPr id="23" name="Shape 21"/>
          <p:cNvSpPr/>
          <p:nvPr/>
        </p:nvSpPr>
        <p:spPr>
          <a:xfrm>
            <a:off x="1207008" y="2892247"/>
            <a:ext cx="859536" cy="0"/>
          </a:xfrm>
          <a:prstGeom prst="line">
            <a:avLst/>
          </a:prstGeom>
          <a:noFill/>
          <a:ln w="9525">
            <a:solidFill>
              <a:srgbClr val="C9BFAE"/>
            </a:solidFill>
            <a:prstDash val="dash"/>
          </a:ln>
        </p:spPr>
      </p:sp>
      <p:sp>
        <p:nvSpPr>
          <p:cNvPr id="24" name="Text 22"/>
          <p:cNvSpPr txBox="1"/>
          <p:nvPr/>
        </p:nvSpPr>
        <p:spPr>
          <a:xfrm>
            <a:off x="2103120" y="2760574"/>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button is released at the new location</a:t>
            </a:r>
            <a:endParaRPr lang="en-US" sz="800" dirty="0"/>
          </a:p>
        </p:txBody>
      </p:sp>
      <p:sp>
        <p:nvSpPr>
          <p:cNvPr id="25" name="Shape 23"/>
          <p:cNvSpPr/>
          <p:nvPr/>
        </p:nvSpPr>
        <p:spPr>
          <a:xfrm>
            <a:off x="1828800" y="3127248"/>
            <a:ext cx="365760" cy="0"/>
          </a:xfrm>
          <a:prstGeom prst="line">
            <a:avLst/>
          </a:prstGeom>
          <a:noFill/>
          <a:ln w="22225">
            <a:solidFill>
              <a:srgbClr val="D97A14"/>
            </a:solidFill>
            <a:prstDash val="solid"/>
            <a:tailEnd type="triangle"/>
          </a:ln>
        </p:spPr>
      </p:sp>
      <p:sp>
        <p:nvSpPr>
          <p:cNvPr id="26" name="Shape 24"/>
          <p:cNvSpPr/>
          <p:nvPr/>
        </p:nvSpPr>
        <p:spPr>
          <a:xfrm>
            <a:off x="2194560" y="2999232"/>
            <a:ext cx="256032" cy="256032"/>
          </a:xfrm>
          <a:prstGeom prst="ellipse">
            <a:avLst/>
          </a:prstGeom>
          <a:solidFill>
            <a:srgbClr val="FFFFFF"/>
          </a:solidFill>
          <a:ln w="25400">
            <a:solidFill>
              <a:srgbClr val="2B2622"/>
            </a:solidFill>
            <a:prstDash val="solid"/>
          </a:ln>
        </p:spPr>
      </p:sp>
      <p:sp>
        <p:nvSpPr>
          <p:cNvPr id="27" name="Shape 25"/>
          <p:cNvSpPr/>
          <p:nvPr/>
        </p:nvSpPr>
        <p:spPr>
          <a:xfrm>
            <a:off x="2249424" y="3054096"/>
            <a:ext cx="146304" cy="146304"/>
          </a:xfrm>
          <a:prstGeom prst="ellipse">
            <a:avLst/>
          </a:prstGeom>
          <a:solidFill>
            <a:srgbClr val="2B2622"/>
          </a:solidFill>
          <a:ln w="15875">
            <a:solidFill>
              <a:srgbClr val="2B2622"/>
            </a:solidFill>
            <a:prstDash val="solid"/>
          </a:ln>
        </p:spPr>
      </p:sp>
      <p:sp>
        <p:nvSpPr>
          <p:cNvPr id="28" name="Text 26"/>
          <p:cNvSpPr txBox="1"/>
          <p:nvPr/>
        </p:nvSpPr>
        <p:spPr>
          <a:xfrm>
            <a:off x="457200" y="3319272"/>
            <a:ext cx="27432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TheLifeOfADrag - LifeCycle pattern, 19 of 21 words grounded in the chapter's text</a:t>
            </a:r>
            <a:endParaRPr lang="en-US" sz="850" dirty="0"/>
          </a:p>
        </p:txBody>
      </p:sp>
      <p:pic>
        <p:nvPicPr>
          <p:cNvPr id="29" name="Image 0" descr="/home/claude/AdvancedProgrammingWithPython/08-tooling/ch23-deck/images/spiral.png">    </p:cNvPr>
          <p:cNvPicPr>
            <a:picLocks noChangeAspect="1"/>
          </p:cNvPicPr>
          <p:nvPr/>
        </p:nvPicPr>
        <p:blipFill>
          <a:blip r:embed="rId1"/>
          <a:srcRect l="0" r="0" t="0" b="0"/>
          <a:stretch/>
        </p:blipFill>
        <p:spPr>
          <a:xfrm>
            <a:off x="457200" y="3675888"/>
            <a:ext cx="1216152" cy="868680"/>
          </a:xfrm>
          <a:prstGeom prst="rect">
            <a:avLst/>
          </a:prstGeom>
        </p:spPr>
      </p:pic>
      <p:sp>
        <p:nvSpPr>
          <p:cNvPr id="30" name="Text 27"/>
          <p:cNvSpPr txBox="1"/>
          <p:nvPr/>
        </p:nvSpPr>
        <p:spPr>
          <a:xfrm>
            <a:off x="1764792" y="3675888"/>
            <a:ext cx="143560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spiral.png made by dragCut_v1_0_0.py</a:t>
            </a:r>
            <a:endParaRPr lang="en-US" sz="800" dirty="0"/>
          </a:p>
        </p:txBody>
      </p:sp>
      <p:sp>
        <p:nvSpPr>
          <p:cNvPr id="31" name="Text 28"/>
          <p:cNvSpPr txBox="1"/>
          <p:nvPr/>
        </p:nvSpPr>
        <p:spPr>
          <a:xfrm>
            <a:off x="3474720" y="1143000"/>
            <a:ext cx="52120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dragCut_v1_0_0.py, lines 172 to 183 of 183</a:t>
            </a:r>
            <a:endParaRPr lang="en-US" sz="1000" dirty="0"/>
          </a:p>
        </p:txBody>
      </p:sp>
      <p:sp>
        <p:nvSpPr>
          <p:cNvPr id="32" name="Shape 29"/>
          <p:cNvSpPr/>
          <p:nvPr/>
        </p:nvSpPr>
        <p:spPr>
          <a:xfrm>
            <a:off x="3474720" y="1417320"/>
            <a:ext cx="5212080" cy="2304288"/>
          </a:xfrm>
          <a:prstGeom prst="roundRect">
            <a:avLst>
              <a:gd name="adj" fmla="val 3968"/>
            </a:avLst>
          </a:prstGeom>
          <a:solidFill>
            <a:srgbClr val="23272E"/>
          </a:solidFill>
          <a:ln w="12700">
            <a:solidFill>
              <a:srgbClr val="23272E"/>
            </a:solidFill>
            <a:prstDash val="solid"/>
          </a:ln>
        </p:spPr>
      </p:sp>
      <p:sp>
        <p:nvSpPr>
          <p:cNvPr id="33" name="Text 30"/>
          <p:cNvSpPr txBox="1"/>
          <p:nvPr/>
        </p:nvSpPr>
        <p:spPr>
          <a:xfrm>
            <a:off x="3657600" y="1536192"/>
            <a:ext cx="4846320"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distance, change =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distance &gt;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pyautogui.drag(distance,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duration=</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 distance -= change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pyautogui.drag(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distance, duration=</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pyautogui.drag(-distance,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duration=</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 distance -= change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pyautogui.drag(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-distance, duration=</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 n += </a:t>
            </a:r>
            <a:r>
              <a:rPr lang="en-US" sz="700" dirty="0">
                <a:solidFill>
                  <a:srgbClr val="FFD28A"/>
                </a:solidFill>
                <a:latin typeface="Courier New" pitchFamily="34" charset="0"/>
                <a:ea typeface="Courier New" pitchFamily="34" charset="-122"/>
                <a:cs typeface="Courier New" pitchFamily="34" charset="-120"/>
              </a:rPr>
              <a:t>4</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 = pyautogui.screenshot().crop((</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)).convert(</a:t>
            </a:r>
            <a:r>
              <a:rPr lang="en-US" sz="700" dirty="0">
                <a:solidFill>
                  <a:srgbClr val="9ECBFF"/>
                </a:solidFill>
                <a:latin typeface="Courier New" pitchFamily="34" charset="0"/>
                <a:ea typeface="Courier New" pitchFamily="34" charset="-122"/>
                <a:cs typeface="Courier New" pitchFamily="34" charset="-120"/>
              </a:rPr>
              <a:t>'L'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box = im.point(</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v: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 (v &lt; </a:t>
            </a:r>
            <a:r>
              <a:rPr lang="en-US" sz="700" dirty="0">
                <a:solidFill>
                  <a:srgbClr val="FFD28A"/>
                </a:solidFill>
                <a:latin typeface="Courier New" pitchFamily="34" charset="0"/>
                <a:ea typeface="Courier New" pitchFamily="34" charset="-122"/>
                <a:cs typeface="Courier New" pitchFamily="34" charset="-120"/>
              </a:rPr>
              <a:t>128</a:t>
            </a:r>
            <a:r>
              <a:rPr lang="en-US" sz="700" dirty="0">
                <a:solidFill>
                  <a:srgbClr val="E6EDF3"/>
                </a:solidFill>
                <a:latin typeface="Courier New" pitchFamily="34" charset="0"/>
                <a:ea typeface="Courier New" pitchFamily="34" charset="-122"/>
                <a:cs typeface="Courier New" pitchFamily="34" charset="-120"/>
              </a:rPr>
              <a:t>)).getbbox()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print(</a:t>
            </a:r>
            <a:r>
              <a:rPr lang="en-US" sz="700" dirty="0">
                <a:solidFill>
                  <a:srgbClr val="9ECBFF"/>
                </a:solidFill>
                <a:latin typeface="Courier New" pitchFamily="34" charset="0"/>
                <a:ea typeface="Courier New" pitchFamily="34" charset="-122"/>
                <a:cs typeface="Courier New" pitchFamily="34" charset="-120"/>
              </a:rPr>
              <a:t>'spiral:'</a:t>
            </a:r>
            <a:r>
              <a:rPr lang="en-US" sz="700" dirty="0">
                <a:solidFill>
                  <a:srgbClr val="E6EDF3"/>
                </a:solidFill>
                <a:latin typeface="Courier New" pitchFamily="34" charset="0"/>
                <a:ea typeface="Courier New" pitchFamily="34" charset="-122"/>
                <a:cs typeface="Courier New" pitchFamily="34" charset="-120"/>
              </a:rPr>
              <a:t>, n, </a:t>
            </a:r>
            <a:r>
              <a:rPr lang="en-US" sz="700" dirty="0">
                <a:solidFill>
                  <a:srgbClr val="9ECBFF"/>
                </a:solidFill>
                <a:latin typeface="Courier New" pitchFamily="34" charset="0"/>
                <a:ea typeface="Courier New" pitchFamily="34" charset="-122"/>
                <a:cs typeface="Courier New" pitchFamily="34" charset="-120"/>
              </a:rPr>
              <a:t>'drag calls, ink inside the box'</a:t>
            </a:r>
            <a:r>
              <a:rPr lang="en-US" sz="700" dirty="0">
                <a:solidFill>
                  <a:srgbClr val="E6EDF3"/>
                </a:solidFill>
                <a:latin typeface="Courier New" pitchFamily="34" charset="0"/>
                <a:ea typeface="Courier New" pitchFamily="34" charset="-122"/>
                <a:cs typeface="Courier New" pitchFamily="34" charset="-120"/>
              </a:rPr>
              <a:t>, 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ev = [e[</a:t>
            </a:r>
            <a:r>
              <a:rPr lang="en-US" sz="700" dirty="0">
                <a:solidFill>
                  <a:srgbClr val="9ECBFF"/>
                </a:solidFill>
                <a:latin typeface="Courier New" pitchFamily="34" charset="0"/>
                <a:ea typeface="Courier New" pitchFamily="34" charset="-122"/>
                <a:cs typeface="Courier New" pitchFamily="34" charset="-120"/>
              </a:rPr>
              <a:t>'type'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o.events()]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'presses'</a:t>
            </a:r>
            <a:r>
              <a:rPr lang="en-US" sz="700" dirty="0">
                <a:solidFill>
                  <a:srgbClr val="E6EDF3"/>
                </a:solidFill>
                <a:latin typeface="Courier New" pitchFamily="34" charset="0"/>
                <a:ea typeface="Courier New" pitchFamily="34" charset="-122"/>
                <a:cs typeface="Courier New" pitchFamily="34" charset="-120"/>
              </a:rPr>
              <a:t>, ev.count(</a:t>
            </a:r>
            <a:r>
              <a:rPr lang="en-US" sz="700" dirty="0">
                <a:solidFill>
                  <a:srgbClr val="9ECBFF"/>
                </a:solidFill>
                <a:latin typeface="Courier New" pitchFamily="34" charset="0"/>
                <a:ea typeface="Courier New" pitchFamily="34" charset="-122"/>
                <a:cs typeface="Courier New" pitchFamily="34" charset="-120"/>
              </a:rPr>
              <a:t>'ButtonPress'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releases'</a:t>
            </a:r>
            <a:r>
              <a:rPr lang="en-US" sz="700" dirty="0">
                <a:solidFill>
                  <a:srgbClr val="E6EDF3"/>
                </a:solidFill>
                <a:latin typeface="Courier New" pitchFamily="34" charset="0"/>
                <a:ea typeface="Courier New" pitchFamily="34" charset="-122"/>
                <a:cs typeface="Courier New" pitchFamily="34" charset="-120"/>
              </a:rPr>
              <a:t>, ev.count(</a:t>
            </a:r>
            <a:r>
              <a:rPr lang="en-US" sz="700" dirty="0">
                <a:solidFill>
                  <a:srgbClr val="9ECBFF"/>
                </a:solidFill>
                <a:latin typeface="Courier New" pitchFamily="34" charset="0"/>
                <a:ea typeface="Courier New" pitchFamily="34" charset="-122"/>
                <a:cs typeface="Courier New" pitchFamily="34" charset="-120"/>
              </a:rPr>
              <a:t>'ButtonRelease'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im.convert(</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'spiral.png'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'spiral.png'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spiral: 32 drag calls, ink inside the box (200, 159, 501, 441)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presses 30 | releases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spiral.png: 2522 bytes, sha256 b43a86af4546</a:t>
            </a:r>
            <a:endParaRPr lang="en-US" sz="700" dirty="0"/>
          </a:p>
        </p:txBody>
      </p:sp>
      <p:sp>
        <p:nvSpPr>
          <p:cNvPr id="34" name="Text 31"/>
          <p:cNvSpPr txBox="1"/>
          <p:nvPr/>
        </p:nvSpPr>
        <p:spPr>
          <a:xfrm>
            <a:off x="3474720" y="3767328"/>
            <a:ext cx="52120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 Lines 1 to 171 (imports, the private display, the window that paints where the button is held and the first move) are not shown.</a:t>
            </a:r>
            <a:endParaRPr lang="en-US" sz="800" dirty="0"/>
          </a:p>
        </p:txBody>
      </p:sp>
      <p:sp>
        <p:nvSpPr>
          <p:cNvPr id="35"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drag is a press, a series of moves and a release.</a:t>
            </a:r>
            <a:endParaRPr lang="en-US" sz="1350" dirty="0"/>
          </a:p>
        </p:txBody>
      </p:sp>
      <p:sp>
        <p:nvSpPr>
          <p:cNvPr id="37"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Scrolling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scroll(n) counts wheel clicks; a Tk 9 window moves fewer lines than a Tk 8.6 window</a:t>
            </a:r>
            <a:endParaRPr lang="en-US" sz="1300" dirty="0"/>
          </a:p>
        </p:txBody>
      </p:sp>
      <p:sp>
        <p:nvSpPr>
          <p:cNvPr id="6" name="Text 4"/>
          <p:cNvSpPr txBox="1"/>
          <p:nvPr/>
        </p:nvSpPr>
        <p:spPr>
          <a:xfrm>
            <a:off x="457200"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scrollCut_v1_0_0.py, lines 168 to 178 of 178</a:t>
            </a:r>
            <a:endParaRPr lang="en-US" sz="1000" dirty="0"/>
          </a:p>
        </p:txBody>
      </p:sp>
      <p:sp>
        <p:nvSpPr>
          <p:cNvPr id="7" name="Shape 5"/>
          <p:cNvSpPr/>
          <p:nvPr/>
        </p:nvSpPr>
        <p:spPr>
          <a:xfrm>
            <a:off x="457200" y="1417320"/>
            <a:ext cx="4873752"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4507992"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py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'Tk 9'</a:t>
            </a:r>
            <a:r>
              <a:rPr lang="en-US" sz="700" dirty="0">
                <a:solidFill>
                  <a:srgbClr val="E6EDF3"/>
                </a:solidFill>
                <a:latin typeface="Courier New" pitchFamily="34" charset="0"/>
                <a:ea typeface="Courier New" pitchFamily="34" charset="-122"/>
                <a:cs typeface="Courier New" pitchFamily="34" charset="-120"/>
              </a:rPr>
              <a:t>, LATEST), (</a:t>
            </a:r>
            <a:r>
              <a:rPr lang="en-US" sz="700" dirty="0">
                <a:solidFill>
                  <a:srgbClr val="9ECBFF"/>
                </a:solidFill>
                <a:latin typeface="Courier New" pitchFamily="34" charset="0"/>
                <a:ea typeface="Courier New" pitchFamily="34" charset="-122"/>
                <a:cs typeface="Courier New" pitchFamily="34" charset="-120"/>
              </a:rPr>
              <a:t>'Tk 8.6'</a:t>
            </a:r>
            <a:r>
              <a:rPr lang="en-US" sz="700" dirty="0">
                <a:solidFill>
                  <a:srgbClr val="E6EDF3"/>
                </a:solidFill>
                <a:latin typeface="Courier New" pitchFamily="34" charset="0"/>
                <a:ea typeface="Courier New" pitchFamily="34" charset="-122"/>
                <a:cs typeface="Courier New" pitchFamily="34" charset="-120"/>
              </a:rPr>
              <a:t>, TK86)):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d.observer(mode=</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focus=</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lines=</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py=py)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 = o.state(); top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int(o.state()[</a:t>
            </a:r>
            <a:r>
              <a:rPr lang="en-US" sz="700" dirty="0">
                <a:solidFill>
                  <a:srgbClr val="9ECBFF"/>
                </a:solidFill>
                <a:latin typeface="Courier New" pitchFamily="34" charset="0"/>
                <a:ea typeface="Courier New" pitchFamily="34" charset="-122"/>
                <a:cs typeface="Courier New" pitchFamily="34" charset="-120"/>
              </a:rPr>
              <a:t>'top'</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pyautogui.moveTo(st[</a:t>
            </a:r>
            <a:r>
              <a:rPr lang="en-US" sz="700" dirty="0">
                <a:solidFill>
                  <a:srgbClr val="9ECBFF"/>
                </a:solidFill>
                <a:latin typeface="Courier New" pitchFamily="34" charset="0"/>
                <a:ea typeface="Courier New" pitchFamily="34" charset="-122"/>
                <a:cs typeface="Courier New" pitchFamily="34" charset="-120"/>
              </a:rPr>
              <a:t>'rootx'</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st[</a:t>
            </a:r>
            <a:r>
              <a:rPr lang="en-US" sz="700" dirty="0">
                <a:solidFill>
                  <a:srgbClr val="9ECBFF"/>
                </a:solidFill>
                <a:latin typeface="Courier New" pitchFamily="34" charset="0"/>
                <a:ea typeface="Courier New" pitchFamily="34" charset="-122"/>
                <a:cs typeface="Courier New" pitchFamily="34" charset="-120"/>
              </a:rPr>
              <a:t>'rooty'</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 row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pyautogui.scroll(</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0.4</a:t>
            </a:r>
            <a:r>
              <a:rPr lang="en-US" sz="700" dirty="0">
                <a:solidFill>
                  <a:srgbClr val="E6EDF3"/>
                </a:solidFill>
                <a:latin typeface="Courier New" pitchFamily="34" charset="0"/>
                <a:ea typeface="Courier New" pitchFamily="34" charset="-122"/>
                <a:cs typeface="Courier New" pitchFamily="34" charset="-120"/>
              </a:rPr>
              <a:t>); b = top()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pyautogui.scroll(n); o.settle(); time.sleep(</a:t>
            </a:r>
            <a:r>
              <a:rPr lang="en-US" sz="700" dirty="0">
                <a:solidFill>
                  <a:srgbClr val="FFD28A"/>
                </a:solidFill>
                <a:latin typeface="Courier New" pitchFamily="34" charset="0"/>
                <a:ea typeface="Courier New" pitchFamily="34" charset="-122"/>
                <a:cs typeface="Courier New" pitchFamily="34" charset="-120"/>
              </a:rPr>
              <a:t>0.4</a:t>
            </a:r>
            <a:r>
              <a:rPr lang="en-US" sz="700" dirty="0">
                <a:solidFill>
                  <a:srgbClr val="E6EDF3"/>
                </a:solidFill>
                <a:latin typeface="Courier New" pitchFamily="34" charset="0"/>
                <a:ea typeface="Courier New" pitchFamily="34" charset="-122"/>
                <a:cs typeface="Courier New" pitchFamily="34" charset="-120"/>
              </a:rPr>
              <a:t>); row[n] = top() -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'lines moved, %s %s:'</a:t>
            </a:r>
            <a:r>
              <a:rPr lang="en-US" sz="700" dirty="0">
                <a:solidFill>
                  <a:srgbClr val="E6EDF3"/>
                </a:solidFill>
                <a:latin typeface="Courier New" pitchFamily="34" charset="0"/>
                <a:ea typeface="Courier New" pitchFamily="34" charset="-122"/>
                <a:cs typeface="Courier New" pitchFamily="34" charset="-120"/>
              </a:rPr>
              <a:t> % (name, st[</a:t>
            </a:r>
            <a:r>
              <a:rPr lang="en-US" sz="700" dirty="0">
                <a:solidFill>
                  <a:srgbClr val="9ECBFF"/>
                </a:solidFill>
                <a:latin typeface="Courier New" pitchFamily="34" charset="0"/>
                <a:ea typeface="Courier New" pitchFamily="34" charset="-122"/>
                <a:cs typeface="Courier New" pitchFamily="34" charset="-120"/>
              </a:rPr>
              <a:t>'tk'</a:t>
            </a:r>
            <a:r>
              <a:rPr lang="en-US" sz="700" dirty="0">
                <a:solidFill>
                  <a:srgbClr val="E6EDF3"/>
                </a:solidFill>
                <a:latin typeface="Courier New" pitchFamily="34" charset="0"/>
                <a:ea typeface="Courier New" pitchFamily="34" charset="-122"/>
                <a:cs typeface="Courier New" pitchFamily="34" charset="-120"/>
              </a:rPr>
              <a:t>]), row); o.close()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lines moved, Tk 9 9.0.3: {-1: 1, -2: 3, -3: 5, -10: 19}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lines moved, Tk 8.6 8.6.14: {-1: 2, -2: 5, -3: 8, -10: 29}</a:t>
            </a:r>
            <a:endParaRPr lang="en-US" sz="700" dirty="0"/>
          </a:p>
        </p:txBody>
      </p:sp>
      <p:graphicFrame>
        <p:nvGraphicFramePr>
          <p:cNvPr id="9" name="Chart 0" descr=""/>
          <p:cNvGraphicFramePr/>
          <p:nvPr/>
        </p:nvGraphicFramePr>
        <p:xfrm>
          <a:off x="5513832" y="1280160"/>
          <a:ext cx="3172968" cy="18288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513832" y="3200400"/>
            <a:ext cx="31729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1" name="Text 8"/>
          <p:cNvSpPr txBox="1"/>
          <p:nvPr/>
        </p:nvSpPr>
        <p:spPr>
          <a:xfrm>
            <a:off x="5513832" y="3529584"/>
            <a:ext cx="3172968"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text window that reports its first visible line) are not shown.</a:t>
            </a:r>
            <a:endParaRPr lang="en-US" sz="800" dirty="0"/>
          </a:p>
        </p:txBody>
      </p:sp>
      <p:sp>
        <p:nvSpPr>
          <p:cNvPr id="12" name="Text 9"/>
          <p:cNvSpPr txBox="1"/>
          <p:nvPr/>
        </p:nvSpPr>
        <p:spPr>
          <a:xfrm>
            <a:off x="5513832" y="3858768"/>
            <a:ext cx="3172968"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scroll(3) sent 3 presses of button 4, scroll(-2) 2 of button 5, hscroll(2) 2 of button 7 and hscroll(-1) 1 of button 6.</a:t>
            </a:r>
            <a:endParaRPr lang="en-US" sz="80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Scroll units belong to the window, so test them where you run.</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MouseInfo breaks under Tk 9</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mouseInfo() is the chapter's tool for reading the pointer; it needs Tk 8.6</a:t>
            </a:r>
            <a:endParaRPr lang="en-US" sz="1300" dirty="0"/>
          </a:p>
        </p:txBody>
      </p:sp>
      <p:sp>
        <p:nvSpPr>
          <p:cNvPr id="6" name="Text 4"/>
          <p:cNvSpPr txBox="1"/>
          <p:nvPr/>
        </p:nvSpPr>
        <p:spPr>
          <a:xfrm>
            <a:off x="457200" y="1143000"/>
            <a:ext cx="53218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mouseinfoCut_v1_0_0.py, lines 168 to 181 of 181</a:t>
            </a:r>
            <a:endParaRPr lang="en-US" sz="1000" dirty="0"/>
          </a:p>
        </p:txBody>
      </p:sp>
      <p:sp>
        <p:nvSpPr>
          <p:cNvPr id="7" name="Shape 5"/>
          <p:cNvSpPr/>
          <p:nvPr/>
        </p:nvSpPr>
        <p:spPr>
          <a:xfrm>
            <a:off x="457200" y="1417320"/>
            <a:ext cx="5321808"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4956048"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mouseInfo() in two interpreters'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cmd = </a:t>
            </a:r>
            <a:r>
              <a:rPr lang="en-US" sz="700" dirty="0">
                <a:solidFill>
                  <a:srgbClr val="9ECBFF"/>
                </a:solidFill>
                <a:latin typeface="Courier New" pitchFamily="34" charset="0"/>
                <a:ea typeface="Courier New" pitchFamily="34" charset="-122"/>
                <a:cs typeface="Courier New" pitchFamily="34" charset="-120"/>
              </a:rPr>
              <a:t>'import pyautogui; pyautogui.mouseInfo()'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py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'Tk 9.0.3, Python 3.14.6'</a:t>
            </a:r>
            <a:r>
              <a:rPr lang="en-US" sz="700" dirty="0">
                <a:solidFill>
                  <a:srgbClr val="E6EDF3"/>
                </a:solidFill>
                <a:latin typeface="Courier New" pitchFamily="34" charset="0"/>
                <a:ea typeface="Courier New" pitchFamily="34" charset="-122"/>
                <a:cs typeface="Courier New" pitchFamily="34" charset="-120"/>
              </a:rPr>
              <a:t>, LATEST),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'Tk 8.6.14, Python 3.12.3'</a:t>
            </a:r>
            <a:r>
              <a:rPr lang="en-US" sz="700" dirty="0">
                <a:solidFill>
                  <a:srgbClr val="E6EDF3"/>
                </a:solidFill>
                <a:latin typeface="Courier New" pitchFamily="34" charset="0"/>
                <a:ea typeface="Courier New" pitchFamily="34" charset="-122"/>
                <a:cs typeface="Courier New" pitchFamily="34" charset="-120"/>
              </a:rPr>
              <a:t>, TK86)):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 = d.start([py,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'ignore'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cmd], </a:t>
            </a:r>
            <a:r>
              <a:rPr lang="en-US" sz="700" dirty="0">
                <a:solidFill>
                  <a:srgbClr val="9ECBFF"/>
                </a:solidFill>
                <a:latin typeface="Courier New" pitchFamily="34" charset="0"/>
                <a:ea typeface="Courier New" pitchFamily="34" charset="-122"/>
                <a:cs typeface="Courier New" pitchFamily="34" charset="-120"/>
              </a:rPr>
              <a:t>'mi'</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win = d.sh(</a:t>
            </a:r>
            <a:r>
              <a:rPr lang="en-US" sz="700" dirty="0">
                <a:solidFill>
                  <a:srgbClr val="9ECBFF"/>
                </a:solidFill>
                <a:latin typeface="Courier New" pitchFamily="34" charset="0"/>
                <a:ea typeface="Courier New" pitchFamily="34" charset="-122"/>
                <a:cs typeface="Courier New" pitchFamily="34" charset="-120"/>
              </a:rPr>
              <a:t>'xdotool'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'search'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'MouseInfo'</a:t>
            </a:r>
            <a:r>
              <a:rPr lang="en-US" sz="700" dirty="0">
                <a:solidFill>
                  <a:srgbClr val="E6EDF3"/>
                </a:solidFill>
                <a:latin typeface="Courier New" pitchFamily="34" charset="0"/>
                <a:ea typeface="Courier New" pitchFamily="34" charset="-122"/>
                <a:cs typeface="Courier New" pitchFamily="34" charset="-120"/>
              </a:rPr>
              <a:t>).split()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err = d.out(</a:t>
            </a:r>
            <a:r>
              <a:rPr lang="en-US" sz="700" dirty="0">
                <a:solidFill>
                  <a:srgbClr val="9ECBFF"/>
                </a:solidFill>
                <a:latin typeface="Courier New" pitchFamily="34" charset="0"/>
                <a:ea typeface="Courier New" pitchFamily="34" charset="-122"/>
                <a:cs typeface="Courier New" pitchFamily="34" charset="-120"/>
              </a:rPr>
              <a:t>'mi'</a:t>
            </a:r>
            <a:r>
              <a:rPr lang="en-US" sz="700" dirty="0">
                <a:solidFill>
                  <a:srgbClr val="E6EDF3"/>
                </a:solidFill>
                <a:latin typeface="Courier New" pitchFamily="34" charset="0"/>
                <a:ea typeface="Courier New" pitchFamily="34" charset="-122"/>
                <a:cs typeface="Courier New" pitchFamily="34" charset="-120"/>
              </a:rPr>
              <a:t>).strip().splitlines()[-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p.poll()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err = err.split(</a:t>
            </a:r>
            <a:r>
              <a:rPr lang="en-US" sz="700" dirty="0">
                <a:solidFill>
                  <a:srgbClr val="9ECBFF"/>
                </a:solidFill>
                <a:latin typeface="Courier New" pitchFamily="34" charset="0"/>
                <a:ea typeface="Courier New" pitchFamily="34" charset="-122"/>
                <a:cs typeface="Courier New" pitchFamily="34" charset="-120"/>
              </a:rPr>
              <a:t>': must'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].replace(</a:t>
            </a:r>
            <a:r>
              <a:rPr lang="en-US" sz="700" dirty="0">
                <a:solidFill>
                  <a:srgbClr val="9ECBFF"/>
                </a:solidFill>
                <a:latin typeface="Courier New" pitchFamily="34" charset="0"/>
                <a:ea typeface="Courier New" pitchFamily="34" charset="-122"/>
                <a:cs typeface="Courier New" pitchFamily="34" charset="-120"/>
              </a:rPr>
              <a:t>'_tkinter.'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'%-25s'</a:t>
            </a:r>
            <a:r>
              <a:rPr lang="en-US" sz="700" dirty="0">
                <a:solidFill>
                  <a:srgbClr val="E6EDF3"/>
                </a:solidFill>
                <a:latin typeface="Courier New" pitchFamily="34" charset="0"/>
                <a:ea typeface="Courier New" pitchFamily="34" charset="-122"/>
                <a:cs typeface="Courier New" pitchFamily="34" charset="-120"/>
              </a:rPr>
              <a:t> % name, </a:t>
            </a:r>
            <a:r>
              <a:rPr lang="en-US" sz="700" dirty="0">
                <a:solidFill>
                  <a:srgbClr val="9ECBFF"/>
                </a:solidFill>
                <a:latin typeface="Courier New" pitchFamily="34" charset="0"/>
                <a:ea typeface="Courier New" pitchFamily="34" charset="-122"/>
                <a:cs typeface="Courier New" pitchFamily="34" charset="-120"/>
              </a:rPr>
              <a:t>'running:'</a:t>
            </a:r>
            <a:r>
              <a:rPr lang="en-US" sz="700" dirty="0">
                <a:solidFill>
                  <a:srgbClr val="E6EDF3"/>
                </a:solidFill>
                <a:latin typeface="Courier New" pitchFamily="34" charset="0"/>
                <a:ea typeface="Courier New" pitchFamily="34" charset="-122"/>
                <a:cs typeface="Courier New" pitchFamily="34" charset="-120"/>
              </a:rPr>
              <a:t>, p.poll()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window:'</a:t>
            </a:r>
            <a:r>
              <a:rPr lang="en-US" sz="700" dirty="0">
                <a:solidFill>
                  <a:srgbClr val="E6EDF3"/>
                </a:solidFill>
                <a:latin typeface="Courier New" pitchFamily="34" charset="0"/>
                <a:ea typeface="Courier New" pitchFamily="34" charset="-122"/>
                <a:cs typeface="Courier New" pitchFamily="34" charset="-120"/>
              </a:rPr>
              <a:t>, bool(win), err)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win: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d.sh(</a:t>
            </a:r>
            <a:r>
              <a:rPr lang="en-US" sz="700" dirty="0">
                <a:solidFill>
                  <a:srgbClr val="9ECBFF"/>
                </a:solidFill>
                <a:latin typeface="Courier New" pitchFamily="34" charset="0"/>
                <a:ea typeface="Courier New" pitchFamily="34" charset="-122"/>
                <a:cs typeface="Courier New" pitchFamily="34" charset="-120"/>
              </a:rPr>
              <a:t>'xdotool'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'key'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'Tab'</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grab(d, win[</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'mouseInfo.png'</a:t>
            </a:r>
            <a:r>
              <a:rPr lang="en-US" sz="700" dirty="0">
                <a:solidFill>
                  <a:srgbClr val="E6EDF3"/>
                </a:solidFill>
                <a:latin typeface="Courier New" pitchFamily="34" charset="0"/>
                <a:ea typeface="Courier New" pitchFamily="34" charset="-122"/>
                <a:cs typeface="Courier New" pitchFamily="34" charset="-120"/>
              </a:rPr>
              <a:t>, hmax=</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p.poll()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os.killpg(p.pid, signal.SIGTERM)</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mouseInfo() in two interpreters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Tk 9.0.3, Python 3.14.6   running: False | window: False TclError: bad option "variable"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Tk 8.6.14, Python 3.12.3  running: True | window: True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mouseInfo.png: 24632 bytes, sha256 4ad268b86567</a:t>
            </a:r>
            <a:endParaRPr lang="en-US" sz="700" dirty="0"/>
          </a:p>
        </p:txBody>
      </p:sp>
      <p:pic>
        <p:nvPicPr>
          <p:cNvPr id="9" name="Image 0" descr="/home/claude/AdvancedProgrammingWithPython/08-tooling/ch23-deck/images/mouseInfo.png">    </p:cNvPr>
          <p:cNvPicPr>
            <a:picLocks noChangeAspect="1"/>
          </p:cNvPicPr>
          <p:nvPr/>
        </p:nvPicPr>
        <p:blipFill>
          <a:blip r:embed="rId1"/>
          <a:srcRect l="0" r="0" t="0" b="0"/>
          <a:stretch/>
        </p:blipFill>
        <p:spPr>
          <a:xfrm>
            <a:off x="5961888" y="1371600"/>
            <a:ext cx="2724912" cy="1289304"/>
          </a:xfrm>
          <a:prstGeom prst="rect">
            <a:avLst/>
          </a:prstGeom>
        </p:spPr>
      </p:pic>
      <p:sp>
        <p:nvSpPr>
          <p:cNvPr id="10" name="Text 7"/>
          <p:cNvSpPr txBox="1"/>
          <p:nvPr/>
        </p:nvSpPr>
        <p:spPr>
          <a:xfrm>
            <a:off x="5961888" y="2679192"/>
            <a:ext cx="272491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mouseInfo.png made by mouseinfoCut_v1_0_0.py</a:t>
            </a:r>
            <a:endParaRPr lang="en-US" sz="800" dirty="0"/>
          </a:p>
        </p:txBody>
      </p:sp>
      <p:sp>
        <p:nvSpPr>
          <p:cNvPr id="11" name="Text 8"/>
          <p:cNvSpPr txBox="1"/>
          <p:nvPr/>
        </p:nvSpPr>
        <p:spPr>
          <a:xfrm>
            <a:off x="5961888" y="2980944"/>
            <a:ext cx="272491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2" name="Text 9"/>
          <p:cNvSpPr txBox="1"/>
          <p:nvPr/>
        </p:nvSpPr>
        <p:spPr>
          <a:xfrm>
            <a:off x="5961888" y="3429000"/>
            <a:ext cx="272491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and the private display) are not shown.</a:t>
            </a:r>
            <a:endParaRPr lang="en-US" sz="800" dirty="0"/>
          </a:p>
        </p:txBody>
      </p:sp>
      <p:sp>
        <p:nvSpPr>
          <p:cNvPr id="13" name="Text 10"/>
          <p:cNvSpPr txBox="1"/>
          <p:nvPr/>
        </p:nvSpPr>
        <p:spPr>
          <a:xfrm>
            <a:off x="5961888" y="3758184"/>
            <a:ext cx="2724912" cy="777240"/>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under Tk 8.6.14 F6 with the 3 Sec. Button Delay on logged 1600,850 after the pointer had moved from 1500,800, and with the delay off it logged 1500,800, 1600,850 and 1700,900; the Tcl 9.0 manual documents trace add variable and not the old trace variable.</a:t>
            </a:r>
            <a:endParaRPr lang="en-US" sz="8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mouseInfo() needs Tk 8.6; under Tk 9 it ends in an error.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Screenshots and pixel colors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screenshot() returns an image of the whole screen; pixel() reads one point of it</a:t>
            </a:r>
            <a:endParaRPr lang="en-US" sz="1300" dirty="0"/>
          </a:p>
        </p:txBody>
      </p:sp>
      <p:sp>
        <p:nvSpPr>
          <p:cNvPr id="6" name="Text 4"/>
          <p:cNvSpPr txBox="1"/>
          <p:nvPr/>
        </p:nvSpPr>
        <p:spPr>
          <a:xfrm>
            <a:off x="457200" y="1143000"/>
            <a:ext cx="543153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shotCut_v1_0_0.py, lines 168 to 180 of 180</a:t>
            </a:r>
            <a:endParaRPr lang="en-US" sz="1000" dirty="0"/>
          </a:p>
        </p:txBody>
      </p:sp>
      <p:sp>
        <p:nvSpPr>
          <p:cNvPr id="7" name="Shape 5"/>
          <p:cNvSpPr/>
          <p:nvPr/>
        </p:nvSpPr>
        <p:spPr>
          <a:xfrm>
            <a:off x="457200" y="1417320"/>
            <a:ext cx="5431536"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5065776"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d.observer(mode=</a:t>
            </a:r>
            <a:r>
              <a:rPr lang="en-US" sz="700" dirty="0">
                <a:solidFill>
                  <a:srgbClr val="9ECBFF"/>
                </a:solidFill>
                <a:latin typeface="Courier New" pitchFamily="34" charset="0"/>
                <a:ea typeface="Courier New" pitchFamily="34" charset="-122"/>
                <a:cs typeface="Courier New" pitchFamily="34" charset="-120"/>
              </a:rPr>
              <a:t>'button'</a:t>
            </a:r>
            <a:r>
              <a:rPr lang="en-US" sz="700" dirty="0">
                <a:solidFill>
                  <a:srgbClr val="E6EDF3"/>
                </a:solidFill>
                <a:latin typeface="Courier New" pitchFamily="34" charset="0"/>
                <a:ea typeface="Courier New" pitchFamily="34" charset="-122"/>
                <a:cs typeface="Courier New" pitchFamily="34" charset="-120"/>
              </a:rPr>
              <a:t>, geometry=</a:t>
            </a:r>
            <a:r>
              <a:rPr lang="en-US" sz="700" dirty="0">
                <a:solidFill>
                  <a:srgbClr val="9ECBFF"/>
                </a:solidFill>
                <a:latin typeface="Courier New" pitchFamily="34" charset="0"/>
                <a:ea typeface="Courier New" pitchFamily="34" charset="-122"/>
                <a:cs typeface="Courier New" pitchFamily="34" charset="-120"/>
              </a:rPr>
              <a:t>'400x300+200+150'</a:t>
            </a:r>
            <a:r>
              <a:rPr lang="en-US" sz="700" dirty="0">
                <a:solidFill>
                  <a:srgbClr val="E6EDF3"/>
                </a:solidFill>
                <a:latin typeface="Courier New" pitchFamily="34" charset="0"/>
                <a:ea typeface="Courier New" pitchFamily="34" charset="-122"/>
                <a:cs typeface="Courier New" pitchFamily="34" charset="-120"/>
              </a:rPr>
              <a:t>, bg='</a:t>
            </a:r>
            <a:r>
              <a:rPr lang="en-US" sz="700" i="1" dirty="0">
                <a:solidFill>
                  <a:srgbClr val="8FA98F"/>
                </a:solidFill>
                <a:latin typeface="Courier New" pitchFamily="34" charset="0"/>
                <a:ea typeface="Courier New" pitchFamily="34" charset="-122"/>
                <a:cs typeface="Courier New" pitchFamily="34" charset="-120"/>
              </a:rPr>
              <a:t>#b0b0af',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buttons=[[</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 = pyautogui.screenshot(); inside = (</a:t>
            </a:r>
            <a:r>
              <a:rPr lang="en-US" sz="700" dirty="0">
                <a:solidFill>
                  <a:srgbClr val="FFD28A"/>
                </a:solidFill>
                <a:latin typeface="Courier New" pitchFamily="34" charset="0"/>
                <a:ea typeface="Courier New" pitchFamily="34" charset="-122"/>
                <a:cs typeface="Courier New" pitchFamily="34" charset="-120"/>
              </a:rPr>
              <a:t>210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type(im).__name__, im.size, im.mode)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cases = (((</a:t>
            </a:r>
            <a:r>
              <a:rPr lang="en-US" sz="700" dirty="0">
                <a:solidFill>
                  <a:srgbClr val="FFD28A"/>
                </a:solidFill>
                <a:latin typeface="Courier New" pitchFamily="34" charset="0"/>
                <a:ea typeface="Courier New" pitchFamily="34" charset="-122"/>
                <a:cs typeface="Courier New" pitchFamily="34" charset="-120"/>
              </a:rPr>
              <a:t>176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ok = [pyautogui.pixelMatchesColor(*inside, c, tolerance=t)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cases]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'pixelMatchesColor -&gt;'</a:t>
            </a:r>
            <a:r>
              <a:rPr lang="en-US" sz="700" dirty="0">
                <a:solidFill>
                  <a:srgbClr val="E6EDF3"/>
                </a:solidFill>
                <a:latin typeface="Courier New" pitchFamily="34" charset="0"/>
                <a:ea typeface="Courier New" pitchFamily="34" charset="-122"/>
                <a:cs typeface="Courier New" pitchFamily="34" charset="-120"/>
              </a:rPr>
              <a:t>, 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'pixel(210, 160) -&gt;'</a:t>
            </a:r>
            <a:r>
              <a:rPr lang="en-US" sz="700" dirty="0">
                <a:solidFill>
                  <a:srgbClr val="E6EDF3"/>
                </a:solidFill>
                <a:latin typeface="Courier New" pitchFamily="34" charset="0"/>
                <a:ea typeface="Courier New" pitchFamily="34" charset="-122"/>
                <a:cs typeface="Courier New" pitchFamily="34" charset="-120"/>
              </a:rPr>
              <a:t>, pyautogui.pixel(*inside), </a:t>
            </a:r>
            <a:r>
              <a:rPr lang="en-US" sz="700" dirty="0">
                <a:solidFill>
                  <a:srgbClr val="9ECBFF"/>
                </a:solidFill>
                <a:latin typeface="Courier New" pitchFamily="34" charset="0"/>
                <a:ea typeface="Courier New" pitchFamily="34" charset="-122"/>
                <a:cs typeface="Courier New" pitchFamily="34" charset="-120"/>
              </a:rPr>
              <a:t>'| (5, 5)'</a:t>
            </a:r>
            <a:r>
              <a:rPr lang="en-US" sz="700" dirty="0">
                <a:solidFill>
                  <a:srgbClr val="E6EDF3"/>
                </a:solidFill>
                <a:latin typeface="Courier New" pitchFamily="34" charset="0"/>
                <a:ea typeface="Courier New" pitchFamily="34" charset="-122"/>
                <a:cs typeface="Courier New" pitchFamily="34" charset="-120"/>
              </a:rPr>
              <a:t>, im.getpixel((</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pyautogui.pixel(inside)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TypeError as e: print(</a:t>
            </a:r>
            <a:r>
              <a:rPr lang="en-US" sz="700" dirty="0">
                <a:solidFill>
                  <a:srgbClr val="9ECBFF"/>
                </a:solidFill>
                <a:latin typeface="Courier New" pitchFamily="34" charset="0"/>
                <a:ea typeface="Courier New" pitchFamily="34" charset="-122"/>
                <a:cs typeface="Courier New" pitchFamily="34" charset="-120"/>
              </a:rPr>
              <a:t>'pixel((210, 160)) raises TypeError:'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im.resize((</a:t>
            </a:r>
            <a:r>
              <a:rPr lang="en-US" sz="700" dirty="0">
                <a:solidFill>
                  <a:srgbClr val="FFD28A"/>
                </a:solidFill>
                <a:latin typeface="Courier New" pitchFamily="34" charset="0"/>
                <a:ea typeface="Courier New" pitchFamily="34" charset="-122"/>
                <a:cs typeface="Courier New" pitchFamily="34" charset="-120"/>
              </a:rPr>
              <a:t>480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270</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'screen.png'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'screen.png'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PngImageFile (1920, 1080) RGB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pixelMatchesColor -&gt; [True, False,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pixel(210, 160) -&gt; RGB(red=176, green=176, blue=175) | (5, 5) (0,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pixel((210, 160)) raises TypeError: pixel() missing 1 required positional argument: 'y'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screen.png: 1232 bytes, sha256 3603fed9a35b</a:t>
            </a:r>
            <a:endParaRPr lang="en-US" sz="700" dirty="0"/>
          </a:p>
        </p:txBody>
      </p:sp>
      <p:pic>
        <p:nvPicPr>
          <p:cNvPr id="9" name="Image 0" descr="/home/claude/AdvancedProgrammingWithPython/08-tooling/ch23-deck/images/screen.png">    </p:cNvPr>
          <p:cNvPicPr>
            <a:picLocks noChangeAspect="1"/>
          </p:cNvPicPr>
          <p:nvPr/>
        </p:nvPicPr>
        <p:blipFill>
          <a:blip r:embed="rId1"/>
          <a:srcRect l="0" r="0" t="0" b="0"/>
          <a:stretch/>
        </p:blipFill>
        <p:spPr>
          <a:xfrm>
            <a:off x="6071616" y="1371600"/>
            <a:ext cx="2112264" cy="1188720"/>
          </a:xfrm>
          <a:prstGeom prst="rect">
            <a:avLst/>
          </a:prstGeom>
        </p:spPr>
      </p:pic>
      <p:sp>
        <p:nvSpPr>
          <p:cNvPr id="10" name="Text 7"/>
          <p:cNvSpPr txBox="1"/>
          <p:nvPr/>
        </p:nvSpPr>
        <p:spPr>
          <a:xfrm>
            <a:off x="6071616" y="2578608"/>
            <a:ext cx="2615184"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screen.png made by shotCut_v1_0_0.py</a:t>
            </a:r>
            <a:endParaRPr lang="en-US" sz="800" dirty="0"/>
          </a:p>
        </p:txBody>
      </p:sp>
      <p:sp>
        <p:nvSpPr>
          <p:cNvPr id="11" name="Text 8"/>
          <p:cNvSpPr txBox="1"/>
          <p:nvPr/>
        </p:nvSpPr>
        <p:spPr>
          <a:xfrm>
            <a:off x="6071616" y="2834640"/>
            <a:ext cx="261518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2" name="Text 9"/>
          <p:cNvSpPr txBox="1"/>
          <p:nvPr/>
        </p:nvSpPr>
        <p:spPr>
          <a:xfrm>
            <a:off x="6071616" y="3273552"/>
            <a:ext cx="261518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a display of depth 16 returned (172, 174, 172) for a background of (176, 176, 175) and failed the match.</a:t>
            </a:r>
            <a:endParaRPr lang="en-US" sz="800" dirty="0"/>
          </a:p>
        </p:txBody>
      </p:sp>
      <p:sp>
        <p:nvSpPr>
          <p:cNvPr id="13" name="Text 10"/>
          <p:cNvSpPr txBox="1"/>
          <p:nvPr/>
        </p:nvSpPr>
        <p:spPr>
          <a:xfrm>
            <a:off x="6071616" y="3712464"/>
            <a:ext cx="261518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HiDPI scaling and real or multiple monitors.</a:t>
            </a:r>
            <a:endParaRPr lang="en-US" sz="800" dirty="0"/>
          </a:p>
        </p:txBody>
      </p:sp>
      <p:sp>
        <p:nvSpPr>
          <p:cNvPr id="14" name="Shape 11"/>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Luis von Ahn, Manuel Blum, Nicholas J.…</a:t>
            </a:r>
            <a:endParaRPr lang="en-US" sz="750" dirty="0"/>
          </a:p>
        </p:txBody>
      </p:sp>
      <p:sp>
        <p:nvSpPr>
          <p:cNvPr id="16" name="Shape 13"/>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term appeared in computing in 2003…</a:t>
            </a:r>
            <a:endParaRPr lang="en-US" sz="750" dirty="0"/>
          </a:p>
        </p:txBody>
      </p:sp>
      <p:sp>
        <p:nvSpPr>
          <p:cNvPr id="18" name="Shape 15"/>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2003</a:t>
            </a:r>
            <a:endParaRPr lang="en-US" sz="750" dirty="0"/>
          </a:p>
        </p:txBody>
      </p:sp>
      <p:sp>
        <p:nvSpPr>
          <p:cNvPr id="20" name="Shape 17"/>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Compare colors with a tolerance, and read a pixel with two numbers.</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Finding a button on the screen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locateOnScreen() returns the box where the picture is; click() takes a box</a:t>
            </a:r>
            <a:endParaRPr lang="en-US" sz="1300" dirty="0"/>
          </a:p>
        </p:txBody>
      </p:sp>
      <p:sp>
        <p:nvSpPr>
          <p:cNvPr id="6" name="Shape 4"/>
          <p:cNvSpPr/>
          <p:nvPr/>
        </p:nvSpPr>
        <p:spPr>
          <a:xfrm>
            <a:off x="502920" y="1325880"/>
            <a:ext cx="1325880" cy="457200"/>
          </a:xfrm>
          <a:prstGeom prst="roundRect">
            <a:avLst>
              <a:gd name="adj" fmla="val 16000"/>
            </a:avLst>
          </a:prstGeom>
          <a:solidFill>
            <a:srgbClr val="F2ECE1"/>
          </a:solidFill>
          <a:ln w="15875">
            <a:solidFill>
              <a:srgbClr val="2F6D62"/>
            </a:solidFill>
            <a:prstDash val="solid"/>
          </a:ln>
        </p:spPr>
      </p:sp>
      <p:sp>
        <p:nvSpPr>
          <p:cNvPr id="7" name="Text 5"/>
          <p:cNvSpPr txBox="1"/>
          <p:nvPr/>
        </p:nvSpPr>
        <p:spPr>
          <a:xfrm>
            <a:off x="566928" y="1422806"/>
            <a:ext cx="1197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Take a screenshot of the screen</a:t>
            </a:r>
            <a:endParaRPr lang="en-US" sz="800" dirty="0"/>
          </a:p>
        </p:txBody>
      </p:sp>
      <p:sp>
        <p:nvSpPr>
          <p:cNvPr id="8" name="Shape 6"/>
          <p:cNvSpPr/>
          <p:nvPr/>
        </p:nvSpPr>
        <p:spPr>
          <a:xfrm>
            <a:off x="502920" y="1874520"/>
            <a:ext cx="1325880" cy="457200"/>
          </a:xfrm>
          <a:prstGeom prst="roundRect">
            <a:avLst>
              <a:gd name="adj" fmla="val 16000"/>
            </a:avLst>
          </a:prstGeom>
          <a:solidFill>
            <a:srgbClr val="F2ECE1"/>
          </a:solidFill>
          <a:ln w="15875">
            <a:solidFill>
              <a:srgbClr val="2F6D62"/>
            </a:solidFill>
            <a:prstDash val="solid"/>
          </a:ln>
        </p:spPr>
      </p:sp>
      <p:sp>
        <p:nvSpPr>
          <p:cNvPr id="9" name="Text 7"/>
          <p:cNvSpPr txBox="1"/>
          <p:nvPr/>
        </p:nvSpPr>
        <p:spPr>
          <a:xfrm>
            <a:off x="566928" y="1909267"/>
            <a:ext cx="119786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locateOnScreen() with the image of the button</a:t>
            </a:r>
            <a:endParaRPr lang="en-US" sz="800" dirty="0"/>
          </a:p>
        </p:txBody>
      </p:sp>
      <p:sp>
        <p:nvSpPr>
          <p:cNvPr id="10" name="Shape 8"/>
          <p:cNvSpPr/>
          <p:nvPr/>
        </p:nvSpPr>
        <p:spPr>
          <a:xfrm>
            <a:off x="502920" y="2459736"/>
            <a:ext cx="1325880" cy="384048"/>
          </a:xfrm>
          <a:prstGeom prst="hexagon">
            <a:avLst/>
          </a:prstGeom>
          <a:solidFill>
            <a:srgbClr val="D97A14"/>
          </a:solidFill>
          <a:ln w="15875">
            <a:solidFill>
              <a:srgbClr val="D97A14"/>
            </a:solidFill>
            <a:prstDash val="solid"/>
          </a:ln>
        </p:spPr>
      </p:sp>
      <p:sp>
        <p:nvSpPr>
          <p:cNvPr id="11" name="Text 9"/>
          <p:cNvSpPr txBox="1"/>
          <p:nvPr/>
        </p:nvSpPr>
        <p:spPr>
          <a:xfrm>
            <a:off x="658368" y="2581351"/>
            <a:ext cx="10149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image found?</a:t>
            </a:r>
            <a:endParaRPr lang="en-US" sz="800" dirty="0"/>
          </a:p>
        </p:txBody>
      </p:sp>
      <p:sp>
        <p:nvSpPr>
          <p:cNvPr id="12" name="Shape 10"/>
          <p:cNvSpPr/>
          <p:nvPr/>
        </p:nvSpPr>
        <p:spPr>
          <a:xfrm>
            <a:off x="502920" y="2971800"/>
            <a:ext cx="1325880" cy="457200"/>
          </a:xfrm>
          <a:prstGeom prst="roundRect">
            <a:avLst>
              <a:gd name="adj" fmla="val 16000"/>
            </a:avLst>
          </a:prstGeom>
          <a:solidFill>
            <a:srgbClr val="F2ECE1"/>
          </a:solidFill>
          <a:ln w="15875">
            <a:solidFill>
              <a:srgbClr val="2F6D62"/>
            </a:solidFill>
            <a:prstDash val="solid"/>
          </a:ln>
        </p:spPr>
      </p:sp>
      <p:sp>
        <p:nvSpPr>
          <p:cNvPr id="13" name="Text 11"/>
          <p:cNvSpPr txBox="1"/>
          <p:nvPr/>
        </p:nvSpPr>
        <p:spPr>
          <a:xfrm>
            <a:off x="566928" y="3068726"/>
            <a:ext cx="1197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Click the center of the box</a:t>
            </a:r>
            <a:endParaRPr lang="en-US" sz="800" dirty="0"/>
          </a:p>
        </p:txBody>
      </p:sp>
      <p:sp>
        <p:nvSpPr>
          <p:cNvPr id="14" name="Shape 12"/>
          <p:cNvSpPr/>
          <p:nvPr/>
        </p:nvSpPr>
        <p:spPr>
          <a:xfrm>
            <a:off x="2103120" y="2423160"/>
            <a:ext cx="1188720" cy="457200"/>
          </a:xfrm>
          <a:prstGeom prst="roundRect">
            <a:avLst>
              <a:gd name="adj" fmla="val 16000"/>
            </a:avLst>
          </a:prstGeom>
          <a:solidFill>
            <a:srgbClr val="F2ECE1"/>
          </a:solidFill>
          <a:ln w="15875">
            <a:solidFill>
              <a:srgbClr val="2F6D62"/>
            </a:solidFill>
            <a:prstDash val="solid"/>
          </a:ln>
        </p:spPr>
      </p:sp>
      <p:sp>
        <p:nvSpPr>
          <p:cNvPr id="15" name="Text 13"/>
          <p:cNvSpPr txBox="1"/>
          <p:nvPr/>
        </p:nvSpPr>
        <p:spPr>
          <a:xfrm>
            <a:off x="2167128" y="2520086"/>
            <a:ext cx="10607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call raises ImageNotFoundException</a:t>
            </a:r>
            <a:endParaRPr lang="en-US" sz="800" dirty="0"/>
          </a:p>
        </p:txBody>
      </p:sp>
      <p:sp>
        <p:nvSpPr>
          <p:cNvPr id="16" name="Shape 14"/>
          <p:cNvSpPr/>
          <p:nvPr/>
        </p:nvSpPr>
        <p:spPr>
          <a:xfrm>
            <a:off x="2606040" y="1463040"/>
            <a:ext cx="182880" cy="182880"/>
          </a:xfrm>
          <a:prstGeom prst="ellipse">
            <a:avLst/>
          </a:prstGeom>
          <a:solidFill>
            <a:srgbClr val="2B2622"/>
          </a:solidFill>
          <a:ln w="15875">
            <a:solidFill>
              <a:srgbClr val="2B2622"/>
            </a:solidFill>
            <a:prstDash val="solid"/>
          </a:ln>
        </p:spPr>
      </p:sp>
      <p:sp>
        <p:nvSpPr>
          <p:cNvPr id="17" name="Shape 15"/>
          <p:cNvSpPr/>
          <p:nvPr/>
        </p:nvSpPr>
        <p:spPr>
          <a:xfrm>
            <a:off x="2569464" y="3072384"/>
            <a:ext cx="256032" cy="256032"/>
          </a:xfrm>
          <a:prstGeom prst="ellipse">
            <a:avLst/>
          </a:prstGeom>
          <a:solidFill>
            <a:srgbClr val="FFFFFF"/>
          </a:solidFill>
          <a:ln w="25400">
            <a:solidFill>
              <a:srgbClr val="2B2622"/>
            </a:solidFill>
            <a:prstDash val="solid"/>
          </a:ln>
        </p:spPr>
      </p:sp>
      <p:sp>
        <p:nvSpPr>
          <p:cNvPr id="18" name="Shape 16"/>
          <p:cNvSpPr/>
          <p:nvPr/>
        </p:nvSpPr>
        <p:spPr>
          <a:xfrm>
            <a:off x="2624328" y="3127248"/>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1828800" y="1554480"/>
            <a:ext cx="777240" cy="0"/>
          </a:xfrm>
          <a:prstGeom prst="line">
            <a:avLst/>
          </a:prstGeom>
          <a:noFill/>
          <a:ln w="15875">
            <a:solidFill>
              <a:srgbClr val="6E655C"/>
            </a:solidFill>
            <a:prstDash val="solid"/>
            <a:tailEnd type="triangle"/>
          </a:ln>
        </p:spPr>
      </p:sp>
      <p:sp>
        <p:nvSpPr>
          <p:cNvPr id="20" name="Shape 18"/>
          <p:cNvSpPr/>
          <p:nvPr/>
        </p:nvSpPr>
        <p:spPr>
          <a:xfrm>
            <a:off x="1165860" y="1783080"/>
            <a:ext cx="0" cy="91440"/>
          </a:xfrm>
          <a:prstGeom prst="line">
            <a:avLst/>
          </a:prstGeom>
          <a:noFill/>
          <a:ln w="15875">
            <a:solidFill>
              <a:srgbClr val="6E655C"/>
            </a:solidFill>
            <a:prstDash val="solid"/>
            <a:tailEnd type="triangle"/>
          </a:ln>
        </p:spPr>
      </p:sp>
      <p:sp>
        <p:nvSpPr>
          <p:cNvPr id="21" name="Shape 19"/>
          <p:cNvSpPr/>
          <p:nvPr/>
        </p:nvSpPr>
        <p:spPr>
          <a:xfrm>
            <a:off x="1165860" y="2331720"/>
            <a:ext cx="0" cy="128016"/>
          </a:xfrm>
          <a:prstGeom prst="line">
            <a:avLst/>
          </a:prstGeom>
          <a:noFill/>
          <a:ln w="15875">
            <a:solidFill>
              <a:srgbClr val="6E655C"/>
            </a:solidFill>
            <a:prstDash val="solid"/>
            <a:tailEnd type="triangle"/>
          </a:ln>
        </p:spPr>
      </p:sp>
      <p:sp>
        <p:nvSpPr>
          <p:cNvPr id="22" name="Shape 20"/>
          <p:cNvSpPr/>
          <p:nvPr/>
        </p:nvSpPr>
        <p:spPr>
          <a:xfrm>
            <a:off x="1165860" y="2843784"/>
            <a:ext cx="0" cy="128016"/>
          </a:xfrm>
          <a:prstGeom prst="line">
            <a:avLst/>
          </a:prstGeom>
          <a:noFill/>
          <a:ln w="15875">
            <a:solidFill>
              <a:srgbClr val="6E655C"/>
            </a:solidFill>
            <a:prstDash val="solid"/>
            <a:tailEnd type="triangle"/>
          </a:ln>
        </p:spPr>
      </p:sp>
      <p:sp>
        <p:nvSpPr>
          <p:cNvPr id="23" name="Text 21"/>
          <p:cNvSpPr txBox="1"/>
          <p:nvPr/>
        </p:nvSpPr>
        <p:spPr>
          <a:xfrm>
            <a:off x="1220724" y="282549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4" name="Shape 22"/>
          <p:cNvSpPr/>
          <p:nvPr/>
        </p:nvSpPr>
        <p:spPr>
          <a:xfrm>
            <a:off x="1828800" y="2651760"/>
            <a:ext cx="274320" cy="0"/>
          </a:xfrm>
          <a:prstGeom prst="line">
            <a:avLst/>
          </a:prstGeom>
          <a:noFill/>
          <a:ln w="15875">
            <a:solidFill>
              <a:srgbClr val="6E655C"/>
            </a:solidFill>
            <a:prstDash val="solid"/>
            <a:tailEnd type="triangle"/>
          </a:ln>
        </p:spPr>
      </p:sp>
      <p:sp>
        <p:nvSpPr>
          <p:cNvPr id="25" name="Text 23"/>
          <p:cNvSpPr txBox="1"/>
          <p:nvPr/>
        </p:nvSpPr>
        <p:spPr>
          <a:xfrm>
            <a:off x="1874520" y="246888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6" name="Shape 24"/>
          <p:cNvSpPr/>
          <p:nvPr/>
        </p:nvSpPr>
        <p:spPr>
          <a:xfrm>
            <a:off x="1828800" y="3200400"/>
            <a:ext cx="740664" cy="0"/>
          </a:xfrm>
          <a:prstGeom prst="line">
            <a:avLst/>
          </a:prstGeom>
          <a:noFill/>
          <a:ln w="15875">
            <a:solidFill>
              <a:srgbClr val="6E655C"/>
            </a:solidFill>
            <a:prstDash val="solid"/>
            <a:tailEnd type="triangle"/>
          </a:ln>
        </p:spPr>
      </p:sp>
      <p:sp>
        <p:nvSpPr>
          <p:cNvPr id="27" name="Shape 25"/>
          <p:cNvSpPr/>
          <p:nvPr/>
        </p:nvSpPr>
        <p:spPr>
          <a:xfrm>
            <a:off x="2697480" y="2880360"/>
            <a:ext cx="0" cy="192024"/>
          </a:xfrm>
          <a:prstGeom prst="line">
            <a:avLst/>
          </a:prstGeom>
          <a:noFill/>
          <a:ln w="15875">
            <a:solidFill>
              <a:srgbClr val="6E655C"/>
            </a:solidFill>
            <a:prstDash val="solid"/>
            <a:tailEnd type="triangle"/>
          </a:ln>
        </p:spPr>
      </p:sp>
      <p:pic>
        <p:nvPicPr>
          <p:cNvPr id="28" name="Image 0" descr="/home/claude/AdvancedProgrammingWithPython/08-tooling/ch23-deck/images/located.png">    </p:cNvPr>
          <p:cNvPicPr>
            <a:picLocks noChangeAspect="1"/>
          </p:cNvPicPr>
          <p:nvPr/>
        </p:nvPicPr>
        <p:blipFill>
          <a:blip r:embed="rId1"/>
          <a:srcRect l="0" r="0" t="0" b="0"/>
          <a:stretch/>
        </p:blipFill>
        <p:spPr>
          <a:xfrm>
            <a:off x="457200" y="3547872"/>
            <a:ext cx="1197864" cy="868680"/>
          </a:xfrm>
          <a:prstGeom prst="rect">
            <a:avLst/>
          </a:prstGeom>
        </p:spPr>
      </p:pic>
      <p:sp>
        <p:nvSpPr>
          <p:cNvPr id="29" name="Text 26"/>
          <p:cNvSpPr txBox="1"/>
          <p:nvPr/>
        </p:nvSpPr>
        <p:spPr>
          <a:xfrm>
            <a:off x="1746504" y="3547872"/>
            <a:ext cx="1380744"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located.png made by locateCut_v1_0_0.py</a:t>
            </a:r>
            <a:endParaRPr lang="en-US" sz="800" dirty="0"/>
          </a:p>
        </p:txBody>
      </p:sp>
      <p:sp>
        <p:nvSpPr>
          <p:cNvPr id="30" name="Text 27"/>
          <p:cNvSpPr txBox="1"/>
          <p:nvPr/>
        </p:nvSpPr>
        <p:spPr>
          <a:xfrm>
            <a:off x="3310128" y="1143000"/>
            <a:ext cx="537667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locateCut_v1_0_0.py, lines 168 to 179 of 179</a:t>
            </a:r>
            <a:endParaRPr lang="en-US" sz="1000" dirty="0"/>
          </a:p>
        </p:txBody>
      </p:sp>
      <p:sp>
        <p:nvSpPr>
          <p:cNvPr id="31" name="Shape 28"/>
          <p:cNvSpPr/>
          <p:nvPr/>
        </p:nvSpPr>
        <p:spPr>
          <a:xfrm>
            <a:off x="3310128" y="1417320"/>
            <a:ext cx="5376672" cy="2304288"/>
          </a:xfrm>
          <a:prstGeom prst="roundRect">
            <a:avLst>
              <a:gd name="adj" fmla="val 3968"/>
            </a:avLst>
          </a:prstGeom>
          <a:solidFill>
            <a:srgbClr val="23272E"/>
          </a:solidFill>
          <a:ln w="12700">
            <a:solidFill>
              <a:srgbClr val="23272E"/>
            </a:solidFill>
            <a:prstDash val="solid"/>
          </a:ln>
        </p:spPr>
      </p:sp>
      <p:sp>
        <p:nvSpPr>
          <p:cNvPr id="32" name="Text 29"/>
          <p:cNvSpPr txBox="1"/>
          <p:nvPr/>
        </p:nvSpPr>
        <p:spPr>
          <a:xfrm>
            <a:off x="3493008" y="1536192"/>
            <a:ext cx="501091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d.observer(mode=</a:t>
            </a:r>
            <a:r>
              <a:rPr lang="en-US" sz="700" dirty="0">
                <a:solidFill>
                  <a:srgbClr val="9ECBFF"/>
                </a:solidFill>
                <a:latin typeface="Courier New" pitchFamily="34" charset="0"/>
                <a:ea typeface="Courier New" pitchFamily="34" charset="-122"/>
                <a:cs typeface="Courier New" pitchFamily="34" charset="-120"/>
              </a:rPr>
              <a:t>'button'</a:t>
            </a:r>
            <a:r>
              <a:rPr lang="en-US" sz="700" dirty="0">
                <a:solidFill>
                  <a:srgbClr val="E6EDF3"/>
                </a:solidFill>
                <a:latin typeface="Courier New" pitchFamily="34" charset="0"/>
                <a:ea typeface="Courier New" pitchFamily="34" charset="-122"/>
                <a:cs typeface="Courier New" pitchFamily="34" charset="-120"/>
              </a:rPr>
              <a:t>, geometry=</a:t>
            </a:r>
            <a:r>
              <a:rPr lang="en-US" sz="700" dirty="0">
                <a:solidFill>
                  <a:srgbClr val="9ECBFF"/>
                </a:solidFill>
                <a:latin typeface="Courier New" pitchFamily="34" charset="0"/>
                <a:ea typeface="Courier New" pitchFamily="34" charset="-122"/>
                <a:cs typeface="Courier New" pitchFamily="34" charset="-120"/>
              </a:rPr>
              <a:t>'400x300+200+150'</a:t>
            </a:r>
            <a:r>
              <a:rPr lang="en-US" sz="700" dirty="0">
                <a:solidFill>
                  <a:srgbClr val="E6EDF3"/>
                </a:solidFill>
                <a:latin typeface="Courier New" pitchFamily="34" charset="0"/>
                <a:ea typeface="Courier New" pitchFamily="34" charset="-122"/>
                <a:cs typeface="Courier New" pitchFamily="34" charset="-120"/>
              </a:rPr>
              <a:t>, bg='</a:t>
            </a:r>
            <a:r>
              <a:rPr lang="en-US" sz="700" i="1" dirty="0">
                <a:solidFill>
                  <a:srgbClr val="8FA98F"/>
                </a:solidFill>
                <a:latin typeface="Courier New" pitchFamily="34" charset="0"/>
                <a:ea typeface="Courier New" pitchFamily="34" charset="-122"/>
                <a:cs typeface="Courier New" pitchFamily="34" charset="-120"/>
              </a:rPr>
              <a:t>#00aa00',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buttons=[[</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180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shot = pyautogui.screenshot(); bx, by, bw, bh = o.state()[</a:t>
            </a:r>
            <a:r>
              <a:rPr lang="en-US" sz="700" dirty="0">
                <a:solidFill>
                  <a:srgbClr val="9ECBFF"/>
                </a:solidFill>
                <a:latin typeface="Courier New" pitchFamily="34" charset="0"/>
                <a:ea typeface="Courier New" pitchFamily="34" charset="-122"/>
                <a:cs typeface="Courier New" pitchFamily="34" charset="-120"/>
              </a:rPr>
              <a:t>'buttons'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shot.crop((bx, by, bx + bw, by + bh)).save(</a:t>
            </a:r>
            <a:r>
              <a:rPr lang="en-US" sz="700" dirty="0">
                <a:solidFill>
                  <a:srgbClr val="9ECBFF"/>
                </a:solidFill>
                <a:latin typeface="Courier New" pitchFamily="34" charset="0"/>
                <a:ea typeface="Courier New" pitchFamily="34" charset="-122"/>
                <a:cs typeface="Courier New" pitchFamily="34" charset="-120"/>
              </a:rPr>
              <a:t>'submit.png'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box = pyautogui.locateOnScreen(</a:t>
            </a:r>
            <a:r>
              <a:rPr lang="en-US" sz="700" dirty="0">
                <a:solidFill>
                  <a:srgbClr val="9ECBFF"/>
                </a:solidFill>
                <a:latin typeface="Courier New" pitchFamily="34" charset="0"/>
                <a:ea typeface="Courier New" pitchFamily="34" charset="-122"/>
                <a:cs typeface="Courier New" pitchFamily="34" charset="-120"/>
              </a:rPr>
              <a:t>'submit.png'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boxes = list(pyautogui.locateAllOnScreen(</a:t>
            </a:r>
            <a:r>
              <a:rPr lang="en-US" sz="700" dirty="0">
                <a:solidFill>
                  <a:srgbClr val="9ECBFF"/>
                </a:solidFill>
                <a:latin typeface="Courier New" pitchFamily="34" charset="0"/>
                <a:ea typeface="Courier New" pitchFamily="34" charset="-122"/>
                <a:cs typeface="Courier New" pitchFamily="34" charset="-120"/>
              </a:rPr>
              <a:t>'submit.png'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found'</a:t>
            </a:r>
            <a:r>
              <a:rPr lang="en-US" sz="700" dirty="0">
                <a:solidFill>
                  <a:srgbClr val="E6EDF3"/>
                </a:solidFill>
                <a:latin typeface="Courier New" pitchFamily="34" charset="0"/>
                <a:ea typeface="Courier New" pitchFamily="34" charset="-122"/>
                <a:cs typeface="Courier New" pitchFamily="34" charset="-120"/>
              </a:rPr>
              <a:t>, ints(box))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'locateAll'</a:t>
            </a:r>
            <a:r>
              <a:rPr lang="en-US" sz="700" dirty="0">
                <a:solidFill>
                  <a:srgbClr val="E6EDF3"/>
                </a:solidFill>
                <a:latin typeface="Courier New" pitchFamily="34" charset="0"/>
                <a:ea typeface="Courier New" pitchFamily="34" charset="-122"/>
                <a:cs typeface="Courier New" pitchFamily="34" charset="-120"/>
              </a:rPr>
              <a:t>, [ints(b)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b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boxes], </a:t>
            </a:r>
            <a:r>
              <a:rPr lang="en-US" sz="700" dirty="0">
                <a:solidFill>
                  <a:srgbClr val="9ECBFF"/>
                </a:solidFill>
                <a:latin typeface="Courier New" pitchFamily="34" charset="0"/>
                <a:ea typeface="Courier New" pitchFamily="34" charset="-122"/>
                <a:cs typeface="Courier New" pitchFamily="34" charset="-120"/>
              </a:rPr>
              <a:t>'| center'</a:t>
            </a:r>
            <a:r>
              <a:rPr lang="en-US" sz="700" dirty="0">
                <a:solidFill>
                  <a:srgbClr val="E6EDF3"/>
                </a:solidFill>
                <a:latin typeface="Courier New" pitchFamily="34" charset="0"/>
                <a:ea typeface="Courier New" pitchFamily="34" charset="-122"/>
                <a:cs typeface="Courier New" pitchFamily="34" charset="-120"/>
              </a:rPr>
              <a:t>, ints(pyautogui.center(box)))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o.clear(); pyautogui.click(boxes[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'click(boxes[1]) pressed button'</a:t>
            </a:r>
            <a:r>
              <a:rPr lang="en-US" sz="700" dirty="0">
                <a:solidFill>
                  <a:srgbClr val="E6EDF3"/>
                </a:solidFill>
                <a:latin typeface="Courier New" pitchFamily="34" charset="0"/>
                <a:ea typeface="Courier New" pitchFamily="34" charset="-122"/>
                <a:cs typeface="Courier New" pitchFamily="34" charset="-120"/>
              </a:rPr>
              <a:t>, cmds(o)); mark(shot, box, </a:t>
            </a:r>
            <a:r>
              <a:rPr lang="en-US" sz="700" dirty="0">
                <a:solidFill>
                  <a:srgbClr val="9ECBFF"/>
                </a:solidFill>
                <a:latin typeface="Courier New" pitchFamily="34" charset="0"/>
                <a:ea typeface="Courier New" pitchFamily="34" charset="-122"/>
                <a:cs typeface="Courier New" pitchFamily="34" charset="-120"/>
              </a:rPr>
              <a:t>'located.png'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found (300, 250, 84, 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locateAll [(300, 250, 84, 35), (300, 330, 84, 35)] | center (342, 267)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click(boxes[1]) pressed button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located.png: 1647 bytes, sha256 057d56940153</a:t>
            </a:r>
            <a:endParaRPr lang="en-US" sz="700" dirty="0"/>
          </a:p>
        </p:txBody>
      </p:sp>
      <p:sp>
        <p:nvSpPr>
          <p:cNvPr id="33" name="Text 30"/>
          <p:cNvSpPr txBox="1"/>
          <p:nvPr/>
        </p:nvSpPr>
        <p:spPr>
          <a:xfrm>
            <a:off x="3310128" y="3767328"/>
            <a:ext cx="537667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diagram FindingAndClickingAButton - Workflow pattern, 14 of 15 words grounded in the chapter's text. Virtual display: Xvfb with real X clients, a local stand-in for a screen, not a real screen; nobody sees it. Lines 1 to 167 (imports, the private display and the window with two buttons) are not shown.</a:t>
            </a:r>
            <a:endParaRPr lang="en-US" sz="80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Cut the button out of a screenshot, then look for it.</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Exact matches, OpenCV and missing images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pixel off is no match; confidence needs OpenCV; a missing image changed at 0.1.30</a:t>
            </a:r>
            <a:endParaRPr lang="en-US" sz="1300" dirty="0"/>
          </a:p>
        </p:txBody>
      </p:sp>
      <p:sp>
        <p:nvSpPr>
          <p:cNvPr id="6" name="Text 4"/>
          <p:cNvSpPr txBox="1"/>
          <p:nvPr/>
        </p:nvSpPr>
        <p:spPr>
          <a:xfrm>
            <a:off x="457200" y="1298448"/>
            <a:ext cx="3200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the release matrix; 4 of its 14 combinations do not import.</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3200400" cy="914400"/>
        </p:xfrm>
        <a:graphic>
          <a:graphicData uri="http://schemas.openxmlformats.org/drawingml/2006/table">
            <a:tbl>
              <a:tblPr/>
              <a:tblGrid>
                <a:gridCol w="566928"/>
                <a:gridCol w="566928"/>
                <a:gridCol w="365760"/>
                <a:gridCol w="1700784"/>
              </a:tblGrid>
              <a:tr h="173736">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PyAutoGUI</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PyScreeze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Python</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click, image one pixel off</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0.9.40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does not import</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0.9.40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does not import</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0.9.41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None is not subscriptable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0.9.41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does not import</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cannot unpack None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does not import</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cannot unpack None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3.12</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ImageNotFoundException</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0.1.27</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cannot unpack None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0.1.28</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cannot unpack None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0.1.29</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TypeError: cannot unpack None</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0.1.30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ImageNotFoundException</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1.0.0</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ImageNotFoundException</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0.9.54</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1.0.1</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3.14.6</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00" dirty="0">
                          <a:solidFill>
                            <a:srgbClr val="2B2622"/>
                          </a:solidFill>
                          <a:latin typeface="Calibri" pitchFamily="34" charset="0"/>
                          <a:ea typeface="Calibri" pitchFamily="34" charset="-122"/>
                          <a:cs typeface="Calibri" pitchFamily="34" charset="-120"/>
                        </a:rPr>
                        <a:t>ImageNotFoundException</a:t>
                      </a:r>
                      <a:endParaRPr lang="en-US" sz="700" dirty="0">
                        <a:latin typeface="Calibri" charset="0"/>
                        <a:ea typeface="Calibri" charset="0"/>
                        <a:cs typeface="Calibri" charset="0"/>
                      </a:endParaRPr>
                    </a:p>
                  </a:txBody>
                  <a:tcPr marL="36576" marR="36576" marT="9144" marB="9144"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8" name="Text 5"/>
          <p:cNvSpPr txBox="1"/>
          <p:nvPr/>
        </p:nvSpPr>
        <p:spPr>
          <a:xfrm>
            <a:off x="3813048"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matchCut_v1_0_0.py, lines 168 to 184 of 184</a:t>
            </a:r>
            <a:endParaRPr lang="en-US" sz="1000" dirty="0"/>
          </a:p>
        </p:txBody>
      </p:sp>
      <p:sp>
        <p:nvSpPr>
          <p:cNvPr id="9" name="Shape 6"/>
          <p:cNvSpPr/>
          <p:nvPr/>
        </p:nvSpPr>
        <p:spPr>
          <a:xfrm>
            <a:off x="3813048" y="1417320"/>
            <a:ext cx="4873752" cy="2935224"/>
          </a:xfrm>
          <a:prstGeom prst="roundRect">
            <a:avLst>
              <a:gd name="adj" fmla="val 3115"/>
            </a:avLst>
          </a:prstGeom>
          <a:solidFill>
            <a:srgbClr val="23272E"/>
          </a:solidFill>
          <a:ln w="12700">
            <a:solidFill>
              <a:srgbClr val="23272E"/>
            </a:solidFill>
            <a:prstDash val="solid"/>
          </a:ln>
        </p:spPr>
      </p:sp>
      <p:sp>
        <p:nvSpPr>
          <p:cNvPr id="10" name="Text 7"/>
          <p:cNvSpPr txBox="1"/>
          <p:nvPr/>
        </p:nvSpPr>
        <p:spPr>
          <a:xfrm>
            <a:off x="3995928" y="1536192"/>
            <a:ext cx="4507992"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d.observer(mode=</a:t>
            </a:r>
            <a:r>
              <a:rPr lang="en-US" sz="700" dirty="0">
                <a:solidFill>
                  <a:srgbClr val="9ECBFF"/>
                </a:solidFill>
                <a:latin typeface="Courier New" pitchFamily="34" charset="0"/>
                <a:ea typeface="Courier New" pitchFamily="34" charset="-122"/>
                <a:cs typeface="Courier New" pitchFamily="34" charset="-120"/>
              </a:rPr>
              <a:t>'button'</a:t>
            </a:r>
            <a:r>
              <a:rPr lang="en-US" sz="700" dirty="0">
                <a:solidFill>
                  <a:srgbClr val="E6EDF3"/>
                </a:solidFill>
                <a:latin typeface="Courier New" pitchFamily="34" charset="0"/>
                <a:ea typeface="Courier New" pitchFamily="34" charset="-122"/>
                <a:cs typeface="Courier New" pitchFamily="34" charset="-120"/>
              </a:rPr>
              <a:t>, geometry=</a:t>
            </a:r>
            <a:r>
              <a:rPr lang="en-US" sz="700" dirty="0">
                <a:solidFill>
                  <a:srgbClr val="9ECBFF"/>
                </a:solidFill>
                <a:latin typeface="Courier New" pitchFamily="34" charset="0"/>
                <a:ea typeface="Courier New" pitchFamily="34" charset="-122"/>
                <a:cs typeface="Courier New" pitchFamily="34" charset="-120"/>
              </a:rPr>
              <a:t>'400x300+200+150'</a:t>
            </a:r>
            <a:r>
              <a:rPr lang="en-US" sz="700" dirty="0">
                <a:solidFill>
                  <a:srgbClr val="E6EDF3"/>
                </a:solidFill>
                <a:latin typeface="Courier New" pitchFamily="34" charset="0"/>
                <a:ea typeface="Courier New" pitchFamily="34" charset="-122"/>
                <a:cs typeface="Courier New" pitchFamily="34" charset="-120"/>
              </a:rPr>
              <a:t>, bg='</a:t>
            </a:r>
            <a:r>
              <a:rPr lang="en-US" sz="700" i="1" dirty="0">
                <a:solidFill>
                  <a:srgbClr val="8FA98F"/>
                </a:solidFill>
                <a:latin typeface="Courier New" pitchFamily="34" charset="0"/>
                <a:ea typeface="Courier New" pitchFamily="34" charset="-122"/>
                <a:cs typeface="Courier New" pitchFamily="34" charset="-120"/>
              </a:rPr>
              <a:t>#00aa00',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buttons=[[</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bx, by, bw, bh = o.state()[</a:t>
            </a:r>
            <a:r>
              <a:rPr lang="en-US" sz="700" dirty="0">
                <a:solidFill>
                  <a:srgbClr val="9ECBFF"/>
                </a:solidFill>
                <a:latin typeface="Courier New" pitchFamily="34" charset="0"/>
                <a:ea typeface="Courier New" pitchFamily="34" charset="-122"/>
                <a:cs typeface="Courier New" pitchFamily="34" charset="-120"/>
              </a:rPr>
              <a:t>'buttons'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btn = pyautogui.screenshot().crop((bx, by, bx + bw, by + bh))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btn.save(</a:t>
            </a:r>
            <a:r>
              <a:rPr lang="en-US" sz="700" dirty="0">
                <a:solidFill>
                  <a:srgbClr val="9ECBFF"/>
                </a:solidFill>
                <a:latin typeface="Courier New" pitchFamily="34" charset="0"/>
                <a:ea typeface="Courier New" pitchFamily="34" charset="-122"/>
                <a:cs typeface="Courier New" pitchFamily="34" charset="-120"/>
              </a:rPr>
              <a:t>'exact.png'</a:t>
            </a:r>
            <a:r>
              <a:rPr lang="en-US" sz="700" dirty="0">
                <a:solidFill>
                  <a:srgbClr val="E6EDF3"/>
                </a:solidFill>
                <a:latin typeface="Courier New" pitchFamily="34" charset="0"/>
                <a:ea typeface="Courier New" pitchFamily="34" charset="-122"/>
                <a:cs typeface="Courier New" pitchFamily="34" charset="-120"/>
              </a:rPr>
              <a:t>); btn.putpixel((</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btn.save(</a:t>
            </a:r>
            <a:r>
              <a:rPr lang="en-US" sz="700" dirty="0">
                <a:solidFill>
                  <a:srgbClr val="9ECBFF"/>
                </a:solidFill>
                <a:latin typeface="Courier New" pitchFamily="34" charset="0"/>
                <a:ea typeface="Courier New" pitchFamily="34" charset="-122"/>
                <a:cs typeface="Courier New" pitchFamily="34" charset="-120"/>
              </a:rPr>
              <a:t>'off.png'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calls = (</a:t>
            </a:r>
            <a:r>
              <a:rPr lang="en-US" sz="700" dirty="0">
                <a:solidFill>
                  <a:srgbClr val="9ECBFF"/>
                </a:solidFill>
                <a:latin typeface="Courier New" pitchFamily="34" charset="0"/>
                <a:ea typeface="Courier New" pitchFamily="34" charset="-122"/>
                <a:cs typeface="Courier New" pitchFamily="34" charset="-120"/>
              </a:rPr>
              <a:t>"'exact.png'"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"'off.png'"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"'off.png', confidence=0.9"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"'off.png', grayscale=True"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probe = (</a:t>
            </a:r>
            <a:r>
              <a:rPr lang="en-US" sz="700" dirty="0">
                <a:solidFill>
                  <a:srgbClr val="9ECBFF"/>
                </a:solidFill>
                <a:latin typeface="Courier New" pitchFamily="34" charset="0"/>
                <a:ea typeface="Courier New" pitchFamily="34" charset="-122"/>
                <a:cs typeface="Courier New" pitchFamily="34" charset="-120"/>
              </a:rPr>
              <a:t>"import pyautogui as p\n"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"try: print(type(p.locateOnScreen(%s)).__name__)\n"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"except Exception as e: print(type(e).__name__)"</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exact, off, off 0.9, off gray'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py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'OpenCV'</a:t>
            </a:r>
            <a:r>
              <a:rPr lang="en-US" sz="700" dirty="0">
                <a:solidFill>
                  <a:srgbClr val="E6EDF3"/>
                </a:solidFill>
                <a:latin typeface="Courier New" pitchFamily="34" charset="0"/>
                <a:ea typeface="Courier New" pitchFamily="34" charset="-122"/>
                <a:cs typeface="Courier New" pitchFamily="34" charset="-120"/>
              </a:rPr>
              <a:t>, LATEST), (</a:t>
            </a:r>
            <a:r>
              <a:rPr lang="en-US" sz="700" dirty="0">
                <a:solidFill>
                  <a:srgbClr val="9ECBFF"/>
                </a:solidFill>
                <a:latin typeface="Courier New" pitchFamily="34" charset="0"/>
                <a:ea typeface="Courier New" pitchFamily="34" charset="-122"/>
                <a:cs typeface="Courier New" pitchFamily="34" charset="-120"/>
              </a:rPr>
              <a:t>'no OpenCV'</a:t>
            </a:r>
            <a:r>
              <a:rPr lang="en-US" sz="700" dirty="0">
                <a:solidFill>
                  <a:srgbClr val="E6EDF3"/>
                </a:solidFill>
                <a:latin typeface="Courier New" pitchFamily="34" charset="0"/>
                <a:ea typeface="Courier New" pitchFamily="34" charset="-122"/>
                <a:cs typeface="Courier New" pitchFamily="34" charset="-120"/>
              </a:rPr>
              <a:t>, NOCV),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'PyScreeze 0.1.28'</a:t>
            </a:r>
            <a:r>
              <a:rPr lang="en-US" sz="700" dirty="0">
                <a:solidFill>
                  <a:srgbClr val="E6EDF3"/>
                </a:solidFill>
                <a:latin typeface="Courier New" pitchFamily="34" charset="0"/>
                <a:ea typeface="Courier New" pitchFamily="34" charset="-122"/>
                <a:cs typeface="Courier New" pitchFamily="34" charset="-120"/>
              </a:rPr>
              <a:t>, OLDSCREEZE)):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 = [child(probe % c, py=py, env=d.env)[</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calls]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'%-17s'</a:t>
            </a:r>
            <a:r>
              <a:rPr lang="en-US" sz="700" dirty="0">
                <a:solidFill>
                  <a:srgbClr val="E6EDF3"/>
                </a:solidFill>
                <a:latin typeface="Courier New" pitchFamily="34" charset="0"/>
                <a:ea typeface="Courier New" pitchFamily="34" charset="-122"/>
                <a:cs typeface="Courier New" pitchFamily="34" charset="-120"/>
              </a:rPr>
              <a:t> % name, [short(x)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exact, off, off 0.9, off gray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OpenCV            ['Box', 'ImageNotFound', 'Box', 'ImageNotFound']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OpenCV         ['Box', 'ImageNotFound', 'NotImplemented', 'ImageNotFound']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PyScreeze 0.1.28  ['Box', 'NoneType', 'NotImplemented', 'NoneType']</a:t>
            </a:r>
            <a:endParaRPr lang="en-US" sz="700" dirty="0"/>
          </a:p>
        </p:txBody>
      </p:sp>
      <p:sp>
        <p:nvSpPr>
          <p:cNvPr id="11" name="Text 8"/>
          <p:cNvSpPr txBox="1"/>
          <p:nvPr/>
        </p:nvSpPr>
        <p:spPr>
          <a:xfrm>
            <a:off x="457200" y="4242816"/>
            <a:ext cx="3200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2"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Pin PyAutoGUI and PyScreeze together; a missing image acts differently.</a:t>
            </a:r>
            <a:endParaRPr lang="en-US" sz="1350" dirty="0"/>
          </a:p>
        </p:txBody>
      </p:sp>
      <p:sp>
        <p:nvSpPr>
          <p:cNvPr id="14"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Window objects: Windows only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 Linux none of the six window functions exists and pygetwindow does not import</a:t>
            </a:r>
            <a:endParaRPr lang="en-US" sz="1300" dirty="0"/>
          </a:p>
        </p:txBody>
      </p:sp>
      <p:sp>
        <p:nvSpPr>
          <p:cNvPr id="6" name="Text 4"/>
          <p:cNvSpPr txBox="1"/>
          <p:nvPr/>
        </p:nvSpPr>
        <p:spPr>
          <a:xfrm>
            <a:off x="457200" y="1143000"/>
            <a:ext cx="5495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windowCut_v1_0_0.py, lines 168 to 183 of 183</a:t>
            </a:r>
            <a:endParaRPr lang="en-US" sz="1000" dirty="0"/>
          </a:p>
        </p:txBody>
      </p:sp>
      <p:sp>
        <p:nvSpPr>
          <p:cNvPr id="7" name="Shape 5"/>
          <p:cNvSpPr/>
          <p:nvPr/>
        </p:nvSpPr>
        <p:spPr>
          <a:xfrm>
            <a:off x="457200" y="1417320"/>
            <a:ext cx="5495544"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5129784"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names = (</a:t>
            </a:r>
            <a:r>
              <a:rPr lang="en-US" sz="700" dirty="0">
                <a:solidFill>
                  <a:srgbClr val="9ECBFF"/>
                </a:solidFill>
                <a:latin typeface="Courier New" pitchFamily="34" charset="0"/>
                <a:ea typeface="Courier New" pitchFamily="34" charset="-122"/>
                <a:cs typeface="Courier New" pitchFamily="34" charset="-120"/>
              </a:rPr>
              <a:t>'getActiveWindow'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'getAllWindows'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'getWindowsAt'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'getWindowsWithTitle'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'getAllTitles'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'getActiveWindowTitle'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have = [n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names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hasattr(pyautogui,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window functions in pyautogui:'</a:t>
            </a:r>
            <a:r>
              <a:rPr lang="en-US" sz="700" dirty="0">
                <a:solidFill>
                  <a:srgbClr val="E6EDF3"/>
                </a:solidFill>
                <a:latin typeface="Courier New" pitchFamily="34" charset="0"/>
                <a:ea typeface="Courier New" pitchFamily="34" charset="-122"/>
                <a:cs typeface="Courier New" pitchFamily="34" charset="-120"/>
              </a:rPr>
              <a:t>, have)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err = child(</a:t>
            </a:r>
            <a:r>
              <a:rPr lang="en-US" sz="700" dirty="0">
                <a:solidFill>
                  <a:srgbClr val="9ECBFF"/>
                </a:solidFill>
                <a:latin typeface="Courier New" pitchFamily="34" charset="0"/>
                <a:ea typeface="Courier New" pitchFamily="34" charset="-122"/>
                <a:cs typeface="Courier New" pitchFamily="34" charset="-120"/>
              </a:rPr>
              <a:t>'import pygetwindow'</a:t>
            </a:r>
            <a:r>
              <a:rPr lang="en-US" sz="700" dirty="0">
                <a:solidFill>
                  <a:srgbClr val="E6EDF3"/>
                </a:solidFill>
                <a:latin typeface="Courier New" pitchFamily="34" charset="0"/>
                <a:ea typeface="Courier New" pitchFamily="34" charset="-122"/>
                <a:cs typeface="Courier New" pitchFamily="34" charset="-120"/>
              </a:rPr>
              <a:t>, env=d.env)[</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'import pygetwindow -&gt;'</a:t>
            </a:r>
            <a:r>
              <a:rPr lang="en-US" sz="700" dirty="0">
                <a:solidFill>
                  <a:srgbClr val="E6EDF3"/>
                </a:solidFill>
                <a:latin typeface="Courier New" pitchFamily="34" charset="0"/>
                <a:ea typeface="Courier New" pitchFamily="34" charset="-122"/>
                <a:cs typeface="Courier New" pitchFamily="34" charset="-120"/>
              </a:rPr>
              <a:t>, err.split(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d.observer(mode=</a:t>
            </a:r>
            <a:r>
              <a:rPr lang="en-US" sz="700" dirty="0">
                <a:solidFill>
                  <a:srgbClr val="9ECBFF"/>
                </a:solidFill>
                <a:latin typeface="Courier New" pitchFamily="34" charset="0"/>
                <a:ea typeface="Courier New" pitchFamily="34" charset="-122"/>
                <a:cs typeface="Courier New" pitchFamily="34" charset="-120"/>
              </a:rPr>
              <a:t>'events'</a:t>
            </a:r>
            <a:r>
              <a:rPr lang="en-US" sz="700" dirty="0">
                <a:solidFill>
                  <a:srgbClr val="E6EDF3"/>
                </a:solidFill>
                <a:latin typeface="Courier New" pitchFamily="34" charset="0"/>
                <a:ea typeface="Courier New" pitchFamily="34" charset="-122"/>
                <a:cs typeface="Courier New" pitchFamily="34" charset="-120"/>
              </a:rPr>
              <a:t>, geometry=</a:t>
            </a:r>
            <a:r>
              <a:rPr lang="en-US" sz="700" dirty="0">
                <a:solidFill>
                  <a:srgbClr val="9ECBFF"/>
                </a:solidFill>
                <a:latin typeface="Courier New" pitchFamily="34" charset="0"/>
                <a:ea typeface="Courier New" pitchFamily="34" charset="-122"/>
                <a:cs typeface="Courier New" pitchFamily="34" charset="-120"/>
              </a:rPr>
              <a:t>'500x300+120+80'</a:t>
            </a:r>
            <a:r>
              <a:rPr lang="en-US" sz="700" dirty="0">
                <a:solidFill>
                  <a:srgbClr val="E6EDF3"/>
                </a:solidFill>
                <a:latin typeface="Courier New" pitchFamily="34" charset="0"/>
                <a:ea typeface="Courier New" pitchFamily="34" charset="-122"/>
                <a:cs typeface="Courier New" pitchFamily="34" charset="-120"/>
              </a:rPr>
              <a:t>, title=</a:t>
            </a:r>
            <a:r>
              <a:rPr lang="en-US" sz="700" dirty="0">
                <a:solidFill>
                  <a:srgbClr val="9ECBFF"/>
                </a:solidFill>
                <a:latin typeface="Courier New" pitchFamily="34" charset="0"/>
                <a:ea typeface="Courier New" pitchFamily="34" charset="-122"/>
                <a:cs typeface="Courier New" pitchFamily="34" charset="-120"/>
              </a:rPr>
              <a:t>'demo'</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wid = d.sh(</a:t>
            </a:r>
            <a:r>
              <a:rPr lang="en-US" sz="700" dirty="0">
                <a:solidFill>
                  <a:srgbClr val="9ECBFF"/>
                </a:solidFill>
                <a:latin typeface="Courier New" pitchFamily="34" charset="0"/>
                <a:ea typeface="Courier New" pitchFamily="34" charset="-122"/>
                <a:cs typeface="Courier New" pitchFamily="34" charset="-120"/>
              </a:rPr>
              <a:t>'xdotool'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'search'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'demo'</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'Tk client area x, y, w, h'</a:t>
            </a:r>
            <a:r>
              <a:rPr lang="en-US" sz="700" dirty="0">
                <a:solidFill>
                  <a:srgbClr val="E6EDF3"/>
                </a:solidFill>
                <a:latin typeface="Courier New" pitchFamily="34" charset="0"/>
                <a:ea typeface="Courier New" pitchFamily="34" charset="-122"/>
                <a:cs typeface="Courier New" pitchFamily="34" charset="-120"/>
              </a:rPr>
              <a:t>, xywh(o))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d.sh(</a:t>
            </a:r>
            <a:r>
              <a:rPr lang="en-US" sz="700" dirty="0">
                <a:solidFill>
                  <a:srgbClr val="9ECBFF"/>
                </a:solidFill>
                <a:latin typeface="Courier New" pitchFamily="34" charset="0"/>
                <a:ea typeface="Courier New" pitchFamily="34" charset="-122"/>
                <a:cs typeface="Courier New" pitchFamily="34" charset="-120"/>
              </a:rPr>
              <a:t>'xdotool'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'windowmove'</a:t>
            </a:r>
            <a:r>
              <a:rPr lang="en-US" sz="700" dirty="0">
                <a:solidFill>
                  <a:srgbClr val="E6EDF3"/>
                </a:solidFill>
                <a:latin typeface="Courier New" pitchFamily="34" charset="0"/>
                <a:ea typeface="Courier New" pitchFamily="34" charset="-122"/>
                <a:cs typeface="Courier New" pitchFamily="34" charset="-120"/>
              </a:rPr>
              <a:t>, wid, </a:t>
            </a:r>
            <a:r>
              <a:rPr lang="en-US" sz="700" dirty="0">
                <a:solidFill>
                  <a:srgbClr val="9ECBFF"/>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d.sh(</a:t>
            </a:r>
            <a:r>
              <a:rPr lang="en-US" sz="700" dirty="0">
                <a:solidFill>
                  <a:srgbClr val="9ECBFF"/>
                </a:solidFill>
                <a:latin typeface="Courier New" pitchFamily="34" charset="0"/>
                <a:ea typeface="Courier New" pitchFamily="34" charset="-122"/>
                <a:cs typeface="Courier New" pitchFamily="34" charset="-120"/>
              </a:rPr>
              <a:t>'xdotool'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'windowsize'</a:t>
            </a:r>
            <a:r>
              <a:rPr lang="en-US" sz="700" dirty="0">
                <a:solidFill>
                  <a:srgbClr val="E6EDF3"/>
                </a:solidFill>
                <a:latin typeface="Courier New" pitchFamily="34" charset="0"/>
                <a:ea typeface="Courier New" pitchFamily="34" charset="-122"/>
                <a:cs typeface="Courier New" pitchFamily="34" charset="-120"/>
              </a:rPr>
              <a:t>, wid, </a:t>
            </a:r>
            <a:r>
              <a:rPr lang="en-US" sz="700" dirty="0">
                <a:solidFill>
                  <a:srgbClr val="9ECBFF"/>
                </a:solidFill>
                <a:latin typeface="Courier New" pitchFamily="34" charset="0"/>
                <a:ea typeface="Courier New" pitchFamily="34" charset="-122"/>
                <a:cs typeface="Courier New" pitchFamily="34" charset="-120"/>
              </a:rPr>
              <a:t>'640'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'360'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windowmove 300 200 and windowsize 640 360'</a:t>
            </a:r>
            <a:r>
              <a:rPr lang="en-US" sz="700" dirty="0">
                <a:solidFill>
                  <a:srgbClr val="E6EDF3"/>
                </a:solidFill>
                <a:latin typeface="Courier New" pitchFamily="34" charset="0"/>
                <a:ea typeface="Courier New" pitchFamily="34" charset="-122"/>
                <a:cs typeface="Courier New" pitchFamily="34" charset="-120"/>
              </a:rPr>
              <a:t>, xywh(o))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'openbox adds a title bar, so client y is below 200:'</a:t>
            </a:r>
            <a:r>
              <a:rPr lang="en-US" sz="700" dirty="0">
                <a:solidFill>
                  <a:srgbClr val="E6EDF3"/>
                </a:solidFill>
                <a:latin typeface="Courier New" pitchFamily="34" charset="0"/>
                <a:ea typeface="Courier New" pitchFamily="34" charset="-122"/>
                <a:cs typeface="Courier New" pitchFamily="34" charset="-120"/>
              </a:rPr>
              <a:t>, xywh(o)[</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&gt;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grab(d, wid, </a:t>
            </a:r>
            <a:r>
              <a:rPr lang="en-US" sz="700" dirty="0">
                <a:solidFill>
                  <a:srgbClr val="9ECBFF"/>
                </a:solidFill>
                <a:latin typeface="Courier New" pitchFamily="34" charset="0"/>
                <a:ea typeface="Courier New" pitchFamily="34" charset="-122"/>
                <a:cs typeface="Courier New" pitchFamily="34" charset="-120"/>
              </a:rPr>
              <a:t>'frame.png'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window functions in pyautogui: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import pygetwindow -&gt; NotImplementedError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Tk client area x, y, w, h (121, 100, 500, 300)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windowmove 300 200 and windowsize 640 360 (301, 220, 640, 360)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openbox adds a title bar, so client y is below 200: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frame.png: 2995 bytes, sha256 ece710819262</a:t>
            </a:r>
            <a:endParaRPr lang="en-US" sz="700" dirty="0"/>
          </a:p>
        </p:txBody>
      </p:sp>
      <p:pic>
        <p:nvPicPr>
          <p:cNvPr id="9" name="Image 0" descr="/home/claude/AdvancedProgrammingWithPython/08-tooling/ch23-deck/images/frame.png">    </p:cNvPr>
          <p:cNvPicPr>
            <a:picLocks noChangeAspect="1"/>
          </p:cNvPicPr>
          <p:nvPr/>
        </p:nvPicPr>
        <p:blipFill>
          <a:blip r:embed="rId1"/>
          <a:srcRect l="0" r="0" t="0" b="0"/>
          <a:stretch/>
        </p:blipFill>
        <p:spPr>
          <a:xfrm>
            <a:off x="6135624" y="1371600"/>
            <a:ext cx="2258568" cy="1371600"/>
          </a:xfrm>
          <a:prstGeom prst="rect">
            <a:avLst/>
          </a:prstGeom>
        </p:spPr>
      </p:pic>
      <p:sp>
        <p:nvSpPr>
          <p:cNvPr id="10" name="Text 7"/>
          <p:cNvSpPr txBox="1"/>
          <p:nvPr/>
        </p:nvSpPr>
        <p:spPr>
          <a:xfrm>
            <a:off x="6135624" y="2761488"/>
            <a:ext cx="2551176"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frame.png made by windowCut_v1_0_0.py</a:t>
            </a:r>
            <a:endParaRPr lang="en-US" sz="800" dirty="0"/>
          </a:p>
        </p:txBody>
      </p:sp>
      <p:sp>
        <p:nvSpPr>
          <p:cNvPr id="11" name="Text 8"/>
          <p:cNvSpPr txBox="1"/>
          <p:nvPr/>
        </p:nvSpPr>
        <p:spPr>
          <a:xfrm>
            <a:off x="6135624" y="3017520"/>
            <a:ext cx="255117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2" name="Text 9"/>
          <p:cNvSpPr txBox="1"/>
          <p:nvPr/>
        </p:nvSpPr>
        <p:spPr>
          <a:xfrm>
            <a:off x="6135624" y="3456432"/>
            <a:ext cx="2551176" cy="64922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pygetwindow 0.0.9 raises NotImplementedError: PyGetWindow currently does not support Linux; PyAutoGUI 0.9.40 does not import at all, and the chapter's listings 17, 18 and 19 raise at their first getActiveWindow call.</a:t>
            </a:r>
            <a:endParaRPr lang="en-US" sz="800" dirty="0"/>
          </a:p>
        </p:txBody>
      </p:sp>
      <p:sp>
        <p:nvSpPr>
          <p:cNvPr id="13" name="Text 10"/>
          <p:cNvSpPr txBox="1"/>
          <p:nvPr/>
        </p:nvSpPr>
        <p:spPr>
          <a:xfrm>
            <a:off x="6135624" y="4142232"/>
            <a:ext cx="255117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Windows and macOS: getActiveWindow(), the Window objects and their move, resize and activate calls were never run.</a:t>
            </a:r>
            <a:endParaRPr lang="en-US" sz="8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Window objects are for Windows; on Linux ask the window manager.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Typing into the right window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Click the window first; write() types each character, hotkey() presses a shortcut</a:t>
            </a:r>
            <a:endParaRPr lang="en-US" sz="1300" dirty="0"/>
          </a:p>
        </p:txBody>
      </p:sp>
      <p:sp>
        <p:nvSpPr>
          <p:cNvPr id="6" name="Shape 4"/>
          <p:cNvSpPr/>
          <p:nvPr/>
        </p:nvSpPr>
        <p:spPr>
          <a:xfrm>
            <a:off x="502920" y="1325880"/>
            <a:ext cx="2148840" cy="256032"/>
          </a:xfrm>
          <a:prstGeom prst="roundRect">
            <a:avLst>
              <a:gd name="adj" fmla="val 28571"/>
            </a:avLst>
          </a:prstGeom>
          <a:solidFill>
            <a:srgbClr val="F2ECE1"/>
          </a:solidFill>
          <a:ln w="15875">
            <a:solidFill>
              <a:srgbClr val="2F6D62"/>
            </a:solidFill>
            <a:prstDash val="solid"/>
          </a:ln>
        </p:spPr>
      </p:sp>
      <p:sp>
        <p:nvSpPr>
          <p:cNvPr id="7" name="Text 5"/>
          <p:cNvSpPr txBox="1"/>
          <p:nvPr/>
        </p:nvSpPr>
        <p:spPr>
          <a:xfrm>
            <a:off x="566928" y="1383487"/>
            <a:ext cx="20208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a few seconds with sleep()</a:t>
            </a:r>
            <a:endParaRPr lang="en-US" sz="800" dirty="0"/>
          </a:p>
        </p:txBody>
      </p:sp>
      <p:sp>
        <p:nvSpPr>
          <p:cNvPr id="8" name="Shape 6"/>
          <p:cNvSpPr/>
          <p:nvPr/>
        </p:nvSpPr>
        <p:spPr>
          <a:xfrm>
            <a:off x="502920" y="1673352"/>
            <a:ext cx="2148840" cy="256032"/>
          </a:xfrm>
          <a:prstGeom prst="roundRect">
            <a:avLst>
              <a:gd name="adj" fmla="val 28571"/>
            </a:avLst>
          </a:prstGeom>
          <a:solidFill>
            <a:srgbClr val="F2ECE1"/>
          </a:solidFill>
          <a:ln w="15875">
            <a:solidFill>
              <a:srgbClr val="2F6D62"/>
            </a:solidFill>
            <a:prstDash val="solid"/>
          </a:ln>
        </p:spPr>
      </p:sp>
      <p:sp>
        <p:nvSpPr>
          <p:cNvPr id="9" name="Text 7"/>
          <p:cNvSpPr txBox="1"/>
          <p:nvPr/>
        </p:nvSpPr>
        <p:spPr>
          <a:xfrm>
            <a:off x="566928" y="1730959"/>
            <a:ext cx="20208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Click the window to make it active</a:t>
            </a:r>
            <a:endParaRPr lang="en-US" sz="800" dirty="0"/>
          </a:p>
        </p:txBody>
      </p:sp>
      <p:sp>
        <p:nvSpPr>
          <p:cNvPr id="10" name="Shape 8"/>
          <p:cNvSpPr/>
          <p:nvPr/>
        </p:nvSpPr>
        <p:spPr>
          <a:xfrm>
            <a:off x="502920" y="2020824"/>
            <a:ext cx="2148840" cy="256032"/>
          </a:xfrm>
          <a:prstGeom prst="roundRect">
            <a:avLst>
              <a:gd name="adj" fmla="val 28571"/>
            </a:avLst>
          </a:prstGeom>
          <a:solidFill>
            <a:srgbClr val="F2ECE1"/>
          </a:solidFill>
          <a:ln w="15875">
            <a:solidFill>
              <a:srgbClr val="2F6D62"/>
            </a:solidFill>
            <a:prstDash val="solid"/>
          </a:ln>
        </p:spPr>
      </p:sp>
      <p:sp>
        <p:nvSpPr>
          <p:cNvPr id="11" name="Text 9"/>
          <p:cNvSpPr txBox="1"/>
          <p:nvPr/>
        </p:nvSpPr>
        <p:spPr>
          <a:xfrm>
            <a:off x="566928" y="2078431"/>
            <a:ext cx="20208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write() to type the string</a:t>
            </a:r>
            <a:endParaRPr lang="en-US" sz="800" dirty="0"/>
          </a:p>
        </p:txBody>
      </p:sp>
      <p:sp>
        <p:nvSpPr>
          <p:cNvPr id="12" name="Shape 10"/>
          <p:cNvSpPr/>
          <p:nvPr/>
        </p:nvSpPr>
        <p:spPr>
          <a:xfrm>
            <a:off x="502920" y="2368296"/>
            <a:ext cx="2148840" cy="256032"/>
          </a:xfrm>
          <a:prstGeom prst="roundRect">
            <a:avLst>
              <a:gd name="adj" fmla="val 28571"/>
            </a:avLst>
          </a:prstGeom>
          <a:solidFill>
            <a:srgbClr val="F2ECE1"/>
          </a:solidFill>
          <a:ln w="15875">
            <a:solidFill>
              <a:srgbClr val="2F6D62"/>
            </a:solidFill>
            <a:prstDash val="solid"/>
          </a:ln>
        </p:spPr>
      </p:sp>
      <p:sp>
        <p:nvSpPr>
          <p:cNvPr id="13" name="Text 11"/>
          <p:cNvSpPr txBox="1"/>
          <p:nvPr/>
        </p:nvSpPr>
        <p:spPr>
          <a:xfrm>
            <a:off x="566928" y="2425903"/>
            <a:ext cx="20208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hotkey() to press the shortcut</a:t>
            </a:r>
            <a:endParaRPr lang="en-US" sz="800" dirty="0"/>
          </a:p>
        </p:txBody>
      </p:sp>
      <p:sp>
        <p:nvSpPr>
          <p:cNvPr id="14" name="Shape 12"/>
          <p:cNvSpPr/>
          <p:nvPr/>
        </p:nvSpPr>
        <p:spPr>
          <a:xfrm>
            <a:off x="502920" y="2715768"/>
            <a:ext cx="2148840" cy="256032"/>
          </a:xfrm>
          <a:prstGeom prst="roundRect">
            <a:avLst>
              <a:gd name="adj" fmla="val 28571"/>
            </a:avLst>
          </a:prstGeom>
          <a:solidFill>
            <a:srgbClr val="F2ECE1"/>
          </a:solidFill>
          <a:ln w="15875">
            <a:solidFill>
              <a:srgbClr val="2F6D62"/>
            </a:solidFill>
            <a:prstDash val="solid"/>
          </a:ln>
        </p:spPr>
      </p:sp>
      <p:sp>
        <p:nvSpPr>
          <p:cNvPr id="15" name="Text 13"/>
          <p:cNvSpPr txBox="1"/>
          <p:nvPr/>
        </p:nvSpPr>
        <p:spPr>
          <a:xfrm>
            <a:off x="566928" y="2773375"/>
            <a:ext cx="20208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focused window receives the typing</a:t>
            </a:r>
            <a:endParaRPr lang="en-US" sz="800" dirty="0"/>
          </a:p>
        </p:txBody>
      </p:sp>
      <p:sp>
        <p:nvSpPr>
          <p:cNvPr id="16" name="Shape 14"/>
          <p:cNvSpPr/>
          <p:nvPr/>
        </p:nvSpPr>
        <p:spPr>
          <a:xfrm>
            <a:off x="2811780" y="1362456"/>
            <a:ext cx="182880" cy="182880"/>
          </a:xfrm>
          <a:prstGeom prst="ellipse">
            <a:avLst/>
          </a:prstGeom>
          <a:solidFill>
            <a:srgbClr val="2B2622"/>
          </a:solidFill>
          <a:ln w="15875">
            <a:solidFill>
              <a:srgbClr val="2B2622"/>
            </a:solidFill>
            <a:prstDash val="solid"/>
          </a:ln>
        </p:spPr>
      </p:sp>
      <p:sp>
        <p:nvSpPr>
          <p:cNvPr id="17" name="Shape 15"/>
          <p:cNvSpPr/>
          <p:nvPr/>
        </p:nvSpPr>
        <p:spPr>
          <a:xfrm>
            <a:off x="2775204" y="2715768"/>
            <a:ext cx="256032" cy="256032"/>
          </a:xfrm>
          <a:prstGeom prst="ellipse">
            <a:avLst/>
          </a:prstGeom>
          <a:solidFill>
            <a:srgbClr val="FFFFFF"/>
          </a:solidFill>
          <a:ln w="25400">
            <a:solidFill>
              <a:srgbClr val="2B2622"/>
            </a:solidFill>
            <a:prstDash val="solid"/>
          </a:ln>
        </p:spPr>
      </p:sp>
      <p:sp>
        <p:nvSpPr>
          <p:cNvPr id="18" name="Shape 16"/>
          <p:cNvSpPr/>
          <p:nvPr/>
        </p:nvSpPr>
        <p:spPr>
          <a:xfrm>
            <a:off x="2830068" y="2770632"/>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2651760" y="1453896"/>
            <a:ext cx="160020" cy="0"/>
          </a:xfrm>
          <a:prstGeom prst="line">
            <a:avLst/>
          </a:prstGeom>
          <a:noFill/>
          <a:ln w="15875">
            <a:solidFill>
              <a:srgbClr val="6E655C"/>
            </a:solidFill>
            <a:prstDash val="solid"/>
            <a:tailEnd type="triangle"/>
          </a:ln>
        </p:spPr>
      </p:sp>
      <p:sp>
        <p:nvSpPr>
          <p:cNvPr id="20" name="Shape 18"/>
          <p:cNvSpPr/>
          <p:nvPr/>
        </p:nvSpPr>
        <p:spPr>
          <a:xfrm>
            <a:off x="1577340" y="1581912"/>
            <a:ext cx="0" cy="91440"/>
          </a:xfrm>
          <a:prstGeom prst="line">
            <a:avLst/>
          </a:prstGeom>
          <a:noFill/>
          <a:ln w="15875">
            <a:solidFill>
              <a:srgbClr val="6E655C"/>
            </a:solidFill>
            <a:prstDash val="solid"/>
            <a:tailEnd type="triangle"/>
          </a:ln>
        </p:spPr>
      </p:sp>
      <p:sp>
        <p:nvSpPr>
          <p:cNvPr id="21" name="Shape 19"/>
          <p:cNvSpPr/>
          <p:nvPr/>
        </p:nvSpPr>
        <p:spPr>
          <a:xfrm>
            <a:off x="1577340" y="1929384"/>
            <a:ext cx="0" cy="91440"/>
          </a:xfrm>
          <a:prstGeom prst="line">
            <a:avLst/>
          </a:prstGeom>
          <a:noFill/>
          <a:ln w="15875">
            <a:solidFill>
              <a:srgbClr val="6E655C"/>
            </a:solidFill>
            <a:prstDash val="solid"/>
            <a:tailEnd type="triangle"/>
          </a:ln>
        </p:spPr>
      </p:sp>
      <p:sp>
        <p:nvSpPr>
          <p:cNvPr id="22" name="Shape 20"/>
          <p:cNvSpPr/>
          <p:nvPr/>
        </p:nvSpPr>
        <p:spPr>
          <a:xfrm>
            <a:off x="1577340" y="2276856"/>
            <a:ext cx="0" cy="91440"/>
          </a:xfrm>
          <a:prstGeom prst="line">
            <a:avLst/>
          </a:prstGeom>
          <a:noFill/>
          <a:ln w="15875">
            <a:solidFill>
              <a:srgbClr val="6E655C"/>
            </a:solidFill>
            <a:prstDash val="solid"/>
            <a:tailEnd type="triangle"/>
          </a:ln>
        </p:spPr>
      </p:sp>
      <p:sp>
        <p:nvSpPr>
          <p:cNvPr id="23" name="Shape 21"/>
          <p:cNvSpPr/>
          <p:nvPr/>
        </p:nvSpPr>
        <p:spPr>
          <a:xfrm>
            <a:off x="1577340" y="2624328"/>
            <a:ext cx="0" cy="91440"/>
          </a:xfrm>
          <a:prstGeom prst="line">
            <a:avLst/>
          </a:prstGeom>
          <a:noFill/>
          <a:ln w="15875">
            <a:solidFill>
              <a:srgbClr val="6E655C"/>
            </a:solidFill>
            <a:prstDash val="solid"/>
            <a:tailEnd type="triangle"/>
          </a:ln>
        </p:spPr>
      </p:sp>
      <p:sp>
        <p:nvSpPr>
          <p:cNvPr id="24" name="Shape 22"/>
          <p:cNvSpPr/>
          <p:nvPr/>
        </p:nvSpPr>
        <p:spPr>
          <a:xfrm>
            <a:off x="2651760" y="2843784"/>
            <a:ext cx="123444" cy="0"/>
          </a:xfrm>
          <a:prstGeom prst="line">
            <a:avLst/>
          </a:prstGeom>
          <a:noFill/>
          <a:ln w="15875">
            <a:solidFill>
              <a:srgbClr val="6E655C"/>
            </a:solidFill>
            <a:prstDash val="solid"/>
            <a:tailEnd type="triangle"/>
          </a:ln>
        </p:spPr>
      </p:sp>
      <p:sp>
        <p:nvSpPr>
          <p:cNvPr id="25" name="Text 23"/>
          <p:cNvSpPr txBox="1"/>
          <p:nvPr/>
        </p:nvSpPr>
        <p:spPr>
          <a:xfrm>
            <a:off x="457200" y="3044952"/>
            <a:ext cx="265176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TypingIntoTheRightWindow - Workflow pattern, 17 of 20 words grounded in the chapter's text</a:t>
            </a:r>
            <a:endParaRPr lang="en-US" sz="850" dirty="0"/>
          </a:p>
        </p:txBody>
      </p:sp>
      <p:pic>
        <p:nvPicPr>
          <p:cNvPr id="26" name="Image 0" descr="/home/claude/AdvancedProgrammingWithPython/08-tooling/ch23-deck/images/typed.png">    </p:cNvPr>
          <p:cNvPicPr>
            <a:picLocks noChangeAspect="1"/>
          </p:cNvPicPr>
          <p:nvPr/>
        </p:nvPicPr>
        <p:blipFill>
          <a:blip r:embed="rId1"/>
          <a:srcRect l="0" r="0" t="0" b="0"/>
          <a:stretch/>
        </p:blipFill>
        <p:spPr>
          <a:xfrm>
            <a:off x="457200" y="3529584"/>
            <a:ext cx="2651760" cy="530352"/>
          </a:xfrm>
          <a:prstGeom prst="rect">
            <a:avLst/>
          </a:prstGeom>
        </p:spPr>
      </p:pic>
      <p:sp>
        <p:nvSpPr>
          <p:cNvPr id="27" name="Text 24"/>
          <p:cNvSpPr txBox="1"/>
          <p:nvPr/>
        </p:nvSpPr>
        <p:spPr>
          <a:xfrm>
            <a:off x="457200" y="4078224"/>
            <a:ext cx="26517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typed.png made by typeCut_v1_0_0.py</a:t>
            </a:r>
            <a:endParaRPr lang="en-US" sz="800" dirty="0"/>
          </a:p>
        </p:txBody>
      </p:sp>
      <p:sp>
        <p:nvSpPr>
          <p:cNvPr id="28" name="Text 25"/>
          <p:cNvSpPr txBox="1"/>
          <p:nvPr/>
        </p:nvSpPr>
        <p:spPr>
          <a:xfrm>
            <a:off x="3429000" y="1143000"/>
            <a:ext cx="52578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typeCut_v1_0_0.py, lines 168 to 180 of 180</a:t>
            </a:r>
            <a:endParaRPr lang="en-US" sz="1000" dirty="0"/>
          </a:p>
        </p:txBody>
      </p:sp>
      <p:sp>
        <p:nvSpPr>
          <p:cNvPr id="29" name="Shape 26"/>
          <p:cNvSpPr/>
          <p:nvPr/>
        </p:nvSpPr>
        <p:spPr>
          <a:xfrm>
            <a:off x="3429000" y="1417320"/>
            <a:ext cx="5257800" cy="2825496"/>
          </a:xfrm>
          <a:prstGeom prst="roundRect">
            <a:avLst>
              <a:gd name="adj" fmla="val 3236"/>
            </a:avLst>
          </a:prstGeom>
          <a:solidFill>
            <a:srgbClr val="23272E"/>
          </a:solidFill>
          <a:ln w="12700">
            <a:solidFill>
              <a:srgbClr val="23272E"/>
            </a:solidFill>
            <a:prstDash val="solid"/>
          </a:ln>
        </p:spPr>
      </p:sp>
      <p:sp>
        <p:nvSpPr>
          <p:cNvPr id="30" name="Text 27"/>
          <p:cNvSpPr txBox="1"/>
          <p:nvPr/>
        </p:nvSpPr>
        <p:spPr>
          <a:xfrm>
            <a:off x="3611880" y="1536192"/>
            <a:ext cx="4892040" cy="258775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with Desk() as 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pyautogui; pyautogui.PAUSE = </a:t>
            </a:r>
            <a:r>
              <a:rPr lang="en-US" sz="750" dirty="0">
                <a:solidFill>
                  <a:srgbClr val="FFD28A"/>
                </a:solidFill>
                <a:latin typeface="Courier New" pitchFamily="34" charset="0"/>
                <a:ea typeface="Courier New" pitchFamily="34" charset="-122"/>
                <a:cs typeface="Courier New" pitchFamily="34" charset="-120"/>
              </a:rPr>
              <a:t>0</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o = d.observer(mode=</a:t>
            </a:r>
            <a:r>
              <a:rPr lang="en-US" sz="750" dirty="0">
                <a:solidFill>
                  <a:srgbClr val="9ECBFF"/>
                </a:solidFill>
                <a:latin typeface="Courier New" pitchFamily="34" charset="0"/>
                <a:ea typeface="Courier New" pitchFamily="34" charset="-122"/>
                <a:cs typeface="Courier New" pitchFamily="34" charset="-120"/>
              </a:rPr>
              <a:t>'text'</a:t>
            </a:r>
            <a:r>
              <a:rPr lang="en-US" sz="750" dirty="0">
                <a:solidFill>
                  <a:srgbClr val="E6EDF3"/>
                </a:solidFill>
                <a:latin typeface="Courier New" pitchFamily="34" charset="0"/>
                <a:ea typeface="Courier New" pitchFamily="34" charset="-122"/>
                <a:cs typeface="Courier New" pitchFamily="34" charset="-120"/>
              </a:rPr>
              <a:t>, geometry=</a:t>
            </a:r>
            <a:r>
              <a:rPr lang="en-US" sz="750" dirty="0">
                <a:solidFill>
                  <a:srgbClr val="9ECBFF"/>
                </a:solidFill>
                <a:latin typeface="Courier New" pitchFamily="34" charset="0"/>
                <a:ea typeface="Courier New" pitchFamily="34" charset="-122"/>
                <a:cs typeface="Courier New" pitchFamily="34" charset="-120"/>
              </a:rPr>
              <a:t>'600x300+100+100'</a:t>
            </a:r>
            <a:r>
              <a:rPr lang="en-US" sz="750" dirty="0">
                <a:solidFill>
                  <a:srgbClr val="E6EDF3"/>
                </a:solidFill>
                <a:latin typeface="Courier New" pitchFamily="34" charset="0"/>
                <a:ea typeface="Courier New" pitchFamily="34" charset="-122"/>
                <a:cs typeface="Courier New" pitchFamily="34" charset="-120"/>
              </a:rPr>
              <a:t>, focus=</a:t>
            </a:r>
            <a:r>
              <a:rPr lang="en-US" sz="750" dirty="0">
                <a:solidFill>
                  <a:srgbClr val="9ECBFF"/>
                </a:solidFill>
                <a:latin typeface="Courier New" pitchFamily="34" charset="0"/>
                <a:ea typeface="Courier New" pitchFamily="34" charset="-122"/>
                <a:cs typeface="Courier New" pitchFamily="34" charset="-120"/>
              </a:rPr>
              <a:t>'text'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0.5</a:t>
            </a:r>
            <a:r>
              <a:rPr lang="en-US" sz="750" dirty="0">
                <a:solidFill>
                  <a:srgbClr val="E6EDF3"/>
                </a:solidFill>
                <a:latin typeface="Courier New" pitchFamily="34" charset="0"/>
                <a:ea typeface="Courier New" pitchFamily="34" charset="-122"/>
                <a:cs typeface="Courier New" pitchFamily="34" charset="-120"/>
              </a:rPr>
              <a:t>); pyautogui.click(</a:t>
            </a:r>
            <a:r>
              <a:rPr lang="en-US" sz="750" dirty="0">
                <a:solidFill>
                  <a:srgbClr val="FFD28A"/>
                </a:solidFill>
                <a:latin typeface="Courier New" pitchFamily="34" charset="0"/>
                <a:ea typeface="Courier New" pitchFamily="34" charset="-122"/>
                <a:cs typeface="Courier New" pitchFamily="34" charset="-120"/>
              </a:rPr>
              <a:t>300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250</a:t>
            </a: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0.3</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print(VD); pyautogui.write(</a:t>
            </a:r>
            <a:r>
              <a:rPr lang="en-US" sz="750" dirty="0">
                <a:solidFill>
                  <a:srgbClr val="9ECBFF"/>
                </a:solidFill>
                <a:latin typeface="Courier New" pitchFamily="34" charset="0"/>
                <a:ea typeface="Courier New" pitchFamily="34" charset="-122"/>
                <a:cs typeface="Courier New" pitchFamily="34" charset="-120"/>
              </a:rPr>
              <a:t>'Hello, world!'</a:t>
            </a:r>
            <a:r>
              <a:rPr lang="en-US" sz="750" dirty="0">
                <a:solidFill>
                  <a:srgbClr val="E6EDF3"/>
                </a:solidFill>
                <a:latin typeface="Courier New" pitchFamily="34" charset="0"/>
                <a:ea typeface="Courier New" pitchFamily="34" charset="-122"/>
                <a:cs typeface="Courier New" pitchFamily="34" charset="-120"/>
              </a:rPr>
              <a:t>); print(repr(o.text()))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pyautogui.write([</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'left'</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'left'</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'X'</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'Y'</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'write([a, b, left, left, X, Y]) -&gt;'</a:t>
            </a:r>
            <a:r>
              <a:rPr lang="en-US" sz="750" dirty="0">
                <a:solidFill>
                  <a:srgbClr val="E6EDF3"/>
                </a:solidFill>
                <a:latin typeface="Courier New" pitchFamily="34" charset="0"/>
                <a:ea typeface="Courier New" pitchFamily="34" charset="-122"/>
                <a:cs typeface="Courier New" pitchFamily="34" charset="-120"/>
              </a:rPr>
              <a:t>, repr(o.text()))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pyautogui.keyDown(</a:t>
            </a:r>
            <a:r>
              <a:rPr lang="en-US" sz="750" dirty="0">
                <a:solidFill>
                  <a:srgbClr val="9ECBFF"/>
                </a:solidFill>
                <a:latin typeface="Courier New" pitchFamily="34" charset="0"/>
                <a:ea typeface="Courier New" pitchFamily="34" charset="-122"/>
                <a:cs typeface="Courier New" pitchFamily="34" charset="-120"/>
              </a:rPr>
              <a:t>'shift'</a:t>
            </a:r>
            <a:r>
              <a:rPr lang="en-US" sz="750" dirty="0">
                <a:solidFill>
                  <a:srgbClr val="E6EDF3"/>
                </a:solidFill>
                <a:latin typeface="Courier New" pitchFamily="34" charset="0"/>
                <a:ea typeface="Courier New" pitchFamily="34" charset="-122"/>
                <a:cs typeface="Courier New" pitchFamily="34" charset="-120"/>
              </a:rPr>
              <a:t>); pyautogui.press(</a:t>
            </a:r>
            <a:r>
              <a:rPr lang="en-US" sz="750" dirty="0">
                <a:solidFill>
                  <a:srgbClr val="9ECBFF"/>
                </a:solidFill>
                <a:latin typeface="Courier New" pitchFamily="34" charset="0"/>
                <a:ea typeface="Courier New" pitchFamily="34" charset="-122"/>
                <a:cs typeface="Courier New" pitchFamily="34" charset="-120"/>
              </a:rPr>
              <a:t>'4'</a:t>
            </a:r>
            <a:r>
              <a:rPr lang="en-US" sz="750" dirty="0">
                <a:solidFill>
                  <a:srgbClr val="E6EDF3"/>
                </a:solidFill>
                <a:latin typeface="Courier New" pitchFamily="34" charset="0"/>
                <a:ea typeface="Courier New" pitchFamily="34" charset="-122"/>
                <a:cs typeface="Courier New" pitchFamily="34" charset="-120"/>
              </a:rPr>
              <a:t>); pyautogui.keyUp(</a:t>
            </a:r>
            <a:r>
              <a:rPr lang="en-US" sz="750" dirty="0">
                <a:solidFill>
                  <a:srgbClr val="9ECBFF"/>
                </a:solidFill>
                <a:latin typeface="Courier New" pitchFamily="34" charset="0"/>
                <a:ea typeface="Courier New" pitchFamily="34" charset="-122"/>
                <a:cs typeface="Courier New" pitchFamily="34" charset="-120"/>
              </a:rPr>
              <a:t>'shift'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'shift down, 4, shift up -&gt;'</a:t>
            </a:r>
            <a:r>
              <a:rPr lang="en-US" sz="750" dirty="0">
                <a:solidFill>
                  <a:srgbClr val="E6EDF3"/>
                </a:solidFill>
                <a:latin typeface="Courier New" pitchFamily="34" charset="0"/>
                <a:ea typeface="Courier New" pitchFamily="34" charset="-122"/>
                <a:cs typeface="Courier New" pitchFamily="34" charset="-120"/>
              </a:rPr>
              <a:t>, repr(o.text()[-</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pyautogui.hotkey(</a:t>
            </a:r>
            <a:r>
              <a:rPr lang="en-US" sz="750" dirty="0">
                <a:solidFill>
                  <a:srgbClr val="9ECBFF"/>
                </a:solidFill>
                <a:latin typeface="Courier New" pitchFamily="34" charset="0"/>
                <a:ea typeface="Courier New" pitchFamily="34" charset="-122"/>
                <a:cs typeface="Courier New" pitchFamily="34" charset="-120"/>
              </a:rPr>
              <a:t>'ctrl'</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pyautogui.press(</a:t>
            </a:r>
            <a:r>
              <a:rPr lang="en-US" sz="750" dirty="0">
                <a:solidFill>
                  <a:srgbClr val="9ECBFF"/>
                </a:solidFill>
                <a:latin typeface="Courier New" pitchFamily="34" charset="0"/>
                <a:ea typeface="Courier New" pitchFamily="34" charset="-122"/>
                <a:cs typeface="Courier New" pitchFamily="34" charset="-120"/>
              </a:rPr>
              <a:t>'delete'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'hotkey(ctrl, a), delete -&gt;'</a:t>
            </a:r>
            <a:r>
              <a:rPr lang="en-US" sz="750" dirty="0">
                <a:solidFill>
                  <a:srgbClr val="E6EDF3"/>
                </a:solidFill>
                <a:latin typeface="Courier New" pitchFamily="34" charset="0"/>
                <a:ea typeface="Courier New" pitchFamily="34" charset="-122"/>
                <a:cs typeface="Courier New" pitchFamily="34" charset="-120"/>
              </a:rPr>
              <a:t>, repr(o.text()))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pyautogui.write(</a:t>
            </a:r>
            <a:r>
              <a:rPr lang="en-US" sz="750" dirty="0">
                <a:solidFill>
                  <a:srgbClr val="9ECBFF"/>
                </a:solidFill>
                <a:latin typeface="Courier New" pitchFamily="34" charset="0"/>
                <a:ea typeface="Courier New" pitchFamily="34" charset="-122"/>
                <a:cs typeface="Courier New" pitchFamily="34" charset="-120"/>
              </a:rPr>
              <a:t>'Hello, world!'</a:t>
            </a:r>
            <a:r>
              <a:rPr lang="en-US" sz="750" dirty="0">
                <a:solidFill>
                  <a:srgbClr val="E6EDF3"/>
                </a:solidFill>
                <a:latin typeface="Courier New" pitchFamily="34" charset="0"/>
                <a:ea typeface="Courier New" pitchFamily="34" charset="-122"/>
                <a:cs typeface="Courier New" pitchFamily="34" charset="-120"/>
              </a:rPr>
              <a:t>); pyautogui.click(</a:t>
            </a:r>
            <a:r>
              <a:rPr lang="en-US" sz="750" dirty="0">
                <a:solidFill>
                  <a:srgbClr val="FFD28A"/>
                </a:solidFill>
                <a:latin typeface="Courier New" pitchFamily="34" charset="0"/>
                <a:ea typeface="Courier New" pitchFamily="34" charset="-122"/>
                <a:cs typeface="Courier New" pitchFamily="34" charset="-120"/>
              </a:rPr>
              <a:t>1000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800</a:t>
            </a: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0.6</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shotof(o, </a:t>
            </a:r>
            <a:r>
              <a:rPr lang="en-US" sz="750" dirty="0">
                <a:solidFill>
                  <a:srgbClr val="9ECBFF"/>
                </a:solidFill>
                <a:latin typeface="Courier New" pitchFamily="34" charset="0"/>
                <a:ea typeface="Courier New" pitchFamily="34" charset="-122"/>
                <a:cs typeface="Courier New" pitchFamily="34" charset="-120"/>
              </a:rPr>
              <a:t>'typed.png'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120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virtual display (Xvfb), not a real screen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'Hello, world!'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write([a, b, left, left, X, Y]) -&gt; 'Hello, world!XYab'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shift down, 4, shift up -&gt; '$ab'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hotkey(ctrl, a), delete -&gt;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saved typed.png: 837 bytes, sha256 9f109b7f4fda</a:t>
            </a:r>
            <a:endParaRPr lang="en-US" sz="750" dirty="0"/>
          </a:p>
        </p:txBody>
      </p:sp>
      <p:sp>
        <p:nvSpPr>
          <p:cNvPr id="31" name="Text 28"/>
          <p:cNvSpPr txBox="1"/>
          <p:nvPr/>
        </p:nvSpPr>
        <p:spPr>
          <a:xfrm>
            <a:off x="3429000" y="4288536"/>
            <a:ext cx="52578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 Lines 1 to 167 (imports, the private display and the window with a text field) are not shown.</a:t>
            </a:r>
            <a:endParaRPr lang="en-US" sz="800" dirty="0"/>
          </a:p>
        </p:txBody>
      </p:sp>
      <p:sp>
        <p:nvSpPr>
          <p:cNvPr id="32"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Click first so the keys go where you mean.</a:t>
            </a:r>
            <a:endParaRPr lang="en-US" sz="1350" dirty="0"/>
          </a:p>
        </p:txBody>
      </p:sp>
      <p:sp>
        <p:nvSpPr>
          <p:cNvPr id="34"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 names: mistakes are silent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wrong key name raises nothing and types nothing; a character off the list vanishes</a:t>
            </a:r>
            <a:endParaRPr lang="en-US" sz="1300" dirty="0"/>
          </a:p>
        </p:txBody>
      </p:sp>
      <p:sp>
        <p:nvSpPr>
          <p:cNvPr id="6" name="Text 4"/>
          <p:cNvSpPr txBox="1"/>
          <p:nvPr/>
        </p:nvSpPr>
        <p:spPr>
          <a:xfrm>
            <a:off x="457200" y="1143000"/>
            <a:ext cx="48920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keysCut_v1_0_0.py, lines 168 to 179 of 179</a:t>
            </a:r>
            <a:endParaRPr lang="en-US" sz="1000" dirty="0"/>
          </a:p>
        </p:txBody>
      </p:sp>
      <p:sp>
        <p:nvSpPr>
          <p:cNvPr id="7" name="Shape 5"/>
          <p:cNvSpPr/>
          <p:nvPr/>
        </p:nvSpPr>
        <p:spPr>
          <a:xfrm>
            <a:off x="457200" y="1417320"/>
            <a:ext cx="4892040" cy="2697480"/>
          </a:xfrm>
          <a:prstGeom prst="roundRect">
            <a:avLst>
              <a:gd name="adj" fmla="val 3390"/>
            </a:avLst>
          </a:prstGeom>
          <a:solidFill>
            <a:srgbClr val="23272E"/>
          </a:solidFill>
          <a:ln w="12700">
            <a:solidFill>
              <a:srgbClr val="23272E"/>
            </a:solidFill>
            <a:prstDash val="solid"/>
          </a:ln>
        </p:spPr>
      </p:sp>
      <p:sp>
        <p:nvSpPr>
          <p:cNvPr id="8" name="Text 6"/>
          <p:cNvSpPr txBox="1"/>
          <p:nvPr/>
        </p:nvSpPr>
        <p:spPr>
          <a:xfrm>
            <a:off x="640080" y="1536192"/>
            <a:ext cx="4526280" cy="245973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with Desk() as 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pyautogui; pyautogui.PAUSE = </a:t>
            </a:r>
            <a:r>
              <a:rPr lang="en-US" sz="750" dirty="0">
                <a:solidFill>
                  <a:srgbClr val="FFD28A"/>
                </a:solidFill>
                <a:latin typeface="Courier New" pitchFamily="34" charset="0"/>
                <a:ea typeface="Courier New" pitchFamily="34" charset="-122"/>
                <a:cs typeface="Courier New" pitchFamily="34" charset="-120"/>
              </a:rPr>
              <a:t>0</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o = d.observer(mode=</a:t>
            </a:r>
            <a:r>
              <a:rPr lang="en-US" sz="750" dirty="0">
                <a:solidFill>
                  <a:srgbClr val="9ECBFF"/>
                </a:solidFill>
                <a:latin typeface="Courier New" pitchFamily="34" charset="0"/>
                <a:ea typeface="Courier New" pitchFamily="34" charset="-122"/>
                <a:cs typeface="Courier New" pitchFamily="34" charset="-120"/>
              </a:rPr>
              <a:t>'text'</a:t>
            </a:r>
            <a:r>
              <a:rPr lang="en-US" sz="750" dirty="0">
                <a:solidFill>
                  <a:srgbClr val="E6EDF3"/>
                </a:solidFill>
                <a:latin typeface="Courier New" pitchFamily="34" charset="0"/>
                <a:ea typeface="Courier New" pitchFamily="34" charset="-122"/>
                <a:cs typeface="Courier New" pitchFamily="34" charset="-120"/>
              </a:rPr>
              <a:t>, geometry=</a:t>
            </a:r>
            <a:r>
              <a:rPr lang="en-US" sz="750" dirty="0">
                <a:solidFill>
                  <a:srgbClr val="9ECBFF"/>
                </a:solidFill>
                <a:latin typeface="Courier New" pitchFamily="34" charset="0"/>
                <a:ea typeface="Courier New" pitchFamily="34" charset="-122"/>
                <a:cs typeface="Courier New" pitchFamily="34" charset="-120"/>
              </a:rPr>
              <a:t>'600x300+100+100'</a:t>
            </a:r>
            <a:r>
              <a:rPr lang="en-US" sz="750" dirty="0">
                <a:solidFill>
                  <a:srgbClr val="E6EDF3"/>
                </a:solidFill>
                <a:latin typeface="Courier New" pitchFamily="34" charset="0"/>
                <a:ea typeface="Courier New" pitchFamily="34" charset="-122"/>
                <a:cs typeface="Courier New" pitchFamily="34" charset="-120"/>
              </a:rPr>
              <a:t>, focus=</a:t>
            </a:r>
            <a:r>
              <a:rPr lang="en-US" sz="750" dirty="0">
                <a:solidFill>
                  <a:srgbClr val="9ECBFF"/>
                </a:solidFill>
                <a:latin typeface="Courier New" pitchFamily="34" charset="0"/>
                <a:ea typeface="Courier New" pitchFamily="34" charset="-122"/>
                <a:cs typeface="Courier New" pitchFamily="34" charset="-120"/>
              </a:rPr>
              <a:t>'text'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0.5</a:t>
            </a:r>
            <a:r>
              <a:rPr lang="en-US" sz="750" dirty="0">
                <a:solidFill>
                  <a:srgbClr val="E6EDF3"/>
                </a:solidFill>
                <a:latin typeface="Courier New" pitchFamily="34" charset="0"/>
                <a:ea typeface="Courier New" pitchFamily="34" charset="-122"/>
                <a:cs typeface="Courier New" pitchFamily="34" charset="-120"/>
              </a:rPr>
              <a:t>); pyautogui.click(</a:t>
            </a:r>
            <a:r>
              <a:rPr lang="en-US" sz="750" dirty="0">
                <a:solidFill>
                  <a:srgbClr val="FFD28A"/>
                </a:solidFill>
                <a:latin typeface="Courier New" pitchFamily="34" charset="0"/>
                <a:ea typeface="Courier New" pitchFamily="34" charset="-122"/>
                <a:cs typeface="Courier New" pitchFamily="34" charset="-120"/>
              </a:rPr>
              <a:t>300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250</a:t>
            </a: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0.3</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print(VD, </a:t>
            </a:r>
            <a:r>
              <a:rPr lang="en-US" sz="750" dirty="0">
                <a:solidFill>
                  <a:srgbClr val="9ECBFF"/>
                </a:solidFill>
                <a:latin typeface="Courier New" pitchFamily="34" charset="0"/>
                <a:ea typeface="Courier New" pitchFamily="34" charset="-122"/>
                <a:cs typeface="Courier New" pitchFamily="34" charset="-120"/>
              </a:rPr>
              <a:t>'| KEYBOARD_KEYS:'</a:t>
            </a:r>
            <a:r>
              <a:rPr lang="en-US" sz="750" dirty="0">
                <a:solidFill>
                  <a:srgbClr val="E6EDF3"/>
                </a:solidFill>
                <a:latin typeface="Courier New" pitchFamily="34" charset="0"/>
                <a:ea typeface="Courier New" pitchFamily="34" charset="-122"/>
                <a:cs typeface="Courier New" pitchFamily="34" charset="-120"/>
              </a:rPr>
              <a:t>, len(pyautogui.KEYBOARD_KEYS), </a:t>
            </a:r>
            <a:r>
              <a:rPr lang="en-US" sz="750" dirty="0">
                <a:solidFill>
                  <a:srgbClr val="9ECBFF"/>
                </a:solidFill>
                <a:latin typeface="Courier New" pitchFamily="34" charset="0"/>
                <a:ea typeface="Courier New" pitchFamily="34" charset="-122"/>
                <a:cs typeface="Courier New" pitchFamily="34" charset="-120"/>
              </a:rPr>
              <a:t>'names'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call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"press('nokey')"</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"press('SHIFT')"</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"keyDown('nokey')"</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try: eval(</a:t>
            </a:r>
            <a:r>
              <a:rPr lang="en-US" sz="750" dirty="0">
                <a:solidFill>
                  <a:srgbClr val="9ECBFF"/>
                </a:solidFill>
                <a:latin typeface="Courier New" pitchFamily="34" charset="0"/>
                <a:ea typeface="Courier New" pitchFamily="34" charset="-122"/>
                <a:cs typeface="Courier New" pitchFamily="34" charset="-120"/>
              </a:rPr>
              <a:t>'pyautogui.'</a:t>
            </a:r>
            <a:r>
              <a:rPr lang="en-US" sz="750" dirty="0">
                <a:solidFill>
                  <a:srgbClr val="E6EDF3"/>
                </a:solidFill>
                <a:latin typeface="Courier New" pitchFamily="34" charset="0"/>
                <a:ea typeface="Courier New" pitchFamily="34" charset="-122"/>
                <a:cs typeface="Courier New" pitchFamily="34" charset="-120"/>
              </a:rPr>
              <a:t> + call); r = </a:t>
            </a:r>
            <a:r>
              <a:rPr lang="en-US" sz="750" dirty="0">
                <a:solidFill>
                  <a:srgbClr val="9ECBFF"/>
                </a:solidFill>
                <a:latin typeface="Courier New" pitchFamily="34" charset="0"/>
                <a:ea typeface="Courier New" pitchFamily="34" charset="-122"/>
                <a:cs typeface="Courier New" pitchFamily="34" charset="-120"/>
              </a:rPr>
              <a:t>'raised nothing'</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except Exception as e: r = type(e).__name__</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'%-18s'</a:t>
            </a:r>
            <a:r>
              <a:rPr lang="en-US" sz="750" dirty="0">
                <a:solidFill>
                  <a:srgbClr val="E6EDF3"/>
                </a:solidFill>
                <a:latin typeface="Courier New" pitchFamily="34" charset="0"/>
                <a:ea typeface="Courier New" pitchFamily="34" charset="-122"/>
                <a:cs typeface="Courier New" pitchFamily="34" charset="-120"/>
              </a:rPr>
              <a:t> % call, r, </a:t>
            </a:r>
            <a:r>
              <a:rPr lang="en-US" sz="750" dirty="0">
                <a:solidFill>
                  <a:srgbClr val="9ECBFF"/>
                </a:solidFill>
                <a:latin typeface="Courier New" pitchFamily="34" charset="0"/>
                <a:ea typeface="Courier New" pitchFamily="34" charset="-122"/>
                <a:cs typeface="Courier New" pitchFamily="34" charset="-120"/>
              </a:rPr>
              <a:t>'| typed'</a:t>
            </a:r>
            <a:r>
              <a:rPr lang="en-US" sz="750" dirty="0">
                <a:solidFill>
                  <a:srgbClr val="E6EDF3"/>
                </a:solidFill>
                <a:latin typeface="Courier New" pitchFamily="34" charset="0"/>
                <a:ea typeface="Courier New" pitchFamily="34" charset="-122"/>
                <a:cs typeface="Courier New" pitchFamily="34" charset="-120"/>
              </a:rPr>
              <a:t>, repr(o.text()))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pyautogui.write([</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'nokey'</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pyautogui.write(</a:t>
            </a:r>
            <a:r>
              <a:rPr lang="en-US" sz="750" dirty="0">
                <a:solidFill>
                  <a:srgbClr val="9ECBFF"/>
                </a:solidFill>
                <a:latin typeface="Courier New" pitchFamily="34" charset="0"/>
                <a:ea typeface="Courier New" pitchFamily="34" charset="-122"/>
                <a:cs typeface="Courier New" pitchFamily="34" charset="-120"/>
              </a:rPr>
              <a:t>'café'</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'write a, nokey, b, then café typed'</a:t>
            </a:r>
            <a:r>
              <a:rPr lang="en-US" sz="750" dirty="0">
                <a:solidFill>
                  <a:srgbClr val="E6EDF3"/>
                </a:solidFill>
                <a:latin typeface="Courier New" pitchFamily="34" charset="0"/>
                <a:ea typeface="Courier New" pitchFamily="34" charset="-122"/>
                <a:cs typeface="Courier New" pitchFamily="34" charset="-120"/>
              </a:rPr>
              <a:t>, repr(o.text()))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'A in the list:'</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pyautogui.KEYBOARD_KEYS)</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virtual display (Xvfb), not a real screen | KEYBOARD_KEYS: 194 names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press('nokey')     raised nothing | typed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press('SHIFT')     raised nothing | typed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keyDown('nokey')   raised nothing | typed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write a, nokey, b, then café typed 'abcaf'</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 in the list: False</a:t>
            </a:r>
            <a:endParaRPr lang="en-US" sz="750" dirty="0"/>
          </a:p>
        </p:txBody>
      </p:sp>
      <p:sp>
        <p:nvSpPr>
          <p:cNvPr id="9" name="Text 7"/>
          <p:cNvSpPr txBox="1"/>
          <p:nvPr/>
        </p:nvSpPr>
        <p:spPr>
          <a:xfrm>
            <a:off x="5532120" y="1371600"/>
            <a:ext cx="31546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0" name="Text 8"/>
          <p:cNvSpPr txBox="1"/>
          <p:nvPr/>
        </p:nvSpPr>
        <p:spPr>
          <a:xfrm>
            <a:off x="5532120" y="1700784"/>
            <a:ext cx="31546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window with a text field) are not shown.</a:t>
            </a:r>
            <a:endParaRPr lang="en-US" sz="800" dirty="0"/>
          </a:p>
        </p:txBody>
      </p:sp>
      <p:sp>
        <p:nvSpPr>
          <p:cNvPr id="11" name="Text 9"/>
          <p:cNvSpPr txBox="1"/>
          <p:nvPr/>
        </p:nvSpPr>
        <p:spPr>
          <a:xfrm>
            <a:off x="5532120" y="2029968"/>
            <a:ext cx="3154680" cy="64922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hotkey('ctrl', 'nokey') raised nothing; an emoji vanished and write(12) raised TypeError; KEYBOARD_KEYS holds 194 names, every one of the 41 names of Table 23-1 and its text is in it, f13 and f24 exist, and the roadmap lists a strict mode as a plan.</a:t>
            </a:r>
            <a:endParaRPr lang="en-US" sz="800" dirty="0"/>
          </a:p>
        </p:txBody>
      </p:sp>
      <p:sp>
        <p:nvSpPr>
          <p:cNvPr id="12" name="Shape 10"/>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3" name="Text 11"/>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Christopher Latham Sholes, a newspaper…</a:t>
            </a:r>
            <a:endParaRPr lang="en-US" sz="750" dirty="0"/>
          </a:p>
        </p:txBody>
      </p:sp>
      <p:sp>
        <p:nvSpPr>
          <p:cNvPr id="14" name="Shape 12"/>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5" name="Text 13"/>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Kenosha, Wisconsin, and the factory of…</a:t>
            </a:r>
            <a:endParaRPr lang="en-US" sz="750" dirty="0"/>
          </a:p>
        </p:txBody>
      </p:sp>
      <p:sp>
        <p:nvSpPr>
          <p:cNvPr id="16" name="Shape 14"/>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1874</a:t>
            </a:r>
            <a:endParaRPr lang="en-US" sz="750" dirty="0"/>
          </a:p>
        </p:txBody>
      </p:sp>
      <p:sp>
        <p:nvSpPr>
          <p:cNvPr id="18" name="Shape 16"/>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19" name="Text 17"/>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wrong key name fails silently; print what arrived.</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Hotkeys and the clipboard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hotkey() presses keys in order and releases them in reverse; pyperclip reads the copy</a:t>
            </a:r>
            <a:endParaRPr lang="en-US" sz="1300" dirty="0"/>
          </a:p>
        </p:txBody>
      </p:sp>
      <p:sp>
        <p:nvSpPr>
          <p:cNvPr id="6" name="Shape 4"/>
          <p:cNvSpPr/>
          <p:nvPr/>
        </p:nvSpPr>
        <p:spPr>
          <a:xfrm>
            <a:off x="502920" y="1280160"/>
            <a:ext cx="86868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7589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script</a:t>
            </a:r>
            <a:endParaRPr lang="en-US" sz="1000" dirty="0"/>
          </a:p>
        </p:txBody>
      </p:sp>
      <p:sp>
        <p:nvSpPr>
          <p:cNvPr id="8" name="Shape 6"/>
          <p:cNvSpPr/>
          <p:nvPr/>
        </p:nvSpPr>
        <p:spPr>
          <a:xfrm>
            <a:off x="937260" y="1664208"/>
            <a:ext cx="0" cy="1901952"/>
          </a:xfrm>
          <a:prstGeom prst="line">
            <a:avLst/>
          </a:prstGeom>
          <a:noFill/>
          <a:ln w="19050">
            <a:solidFill>
              <a:srgbClr val="DFD6C7"/>
            </a:solidFill>
            <a:prstDash val="dash"/>
          </a:ln>
        </p:spPr>
      </p:sp>
      <p:sp>
        <p:nvSpPr>
          <p:cNvPr id="9" name="Shape 7"/>
          <p:cNvSpPr/>
          <p:nvPr/>
        </p:nvSpPr>
        <p:spPr>
          <a:xfrm>
            <a:off x="1943100" y="1280160"/>
            <a:ext cx="86868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997964" y="1386230"/>
            <a:ext cx="7589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window</a:t>
            </a:r>
            <a:endParaRPr lang="en-US" sz="1000" dirty="0"/>
          </a:p>
        </p:txBody>
      </p:sp>
      <p:sp>
        <p:nvSpPr>
          <p:cNvPr id="11" name="Shape 9"/>
          <p:cNvSpPr/>
          <p:nvPr/>
        </p:nvSpPr>
        <p:spPr>
          <a:xfrm>
            <a:off x="2377440" y="1664208"/>
            <a:ext cx="0" cy="1901952"/>
          </a:xfrm>
          <a:prstGeom prst="line">
            <a:avLst/>
          </a:prstGeom>
          <a:noFill/>
          <a:ln w="19050">
            <a:solidFill>
              <a:srgbClr val="DFD6C7"/>
            </a:solidFill>
            <a:prstDash val="dash"/>
          </a:ln>
        </p:spPr>
      </p:sp>
      <p:sp>
        <p:nvSpPr>
          <p:cNvPr id="12" name="Shape 10"/>
          <p:cNvSpPr/>
          <p:nvPr/>
        </p:nvSpPr>
        <p:spPr>
          <a:xfrm>
            <a:off x="3383280" y="1280160"/>
            <a:ext cx="86868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438144" y="1309421"/>
            <a:ext cx="75895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clipboard</a:t>
            </a:r>
            <a:endParaRPr lang="en-US" sz="1000" dirty="0"/>
          </a:p>
        </p:txBody>
      </p:sp>
      <p:sp>
        <p:nvSpPr>
          <p:cNvPr id="14" name="Shape 12"/>
          <p:cNvSpPr/>
          <p:nvPr/>
        </p:nvSpPr>
        <p:spPr>
          <a:xfrm>
            <a:off x="3817620" y="1664208"/>
            <a:ext cx="0" cy="1901952"/>
          </a:xfrm>
          <a:prstGeom prst="line">
            <a:avLst/>
          </a:prstGeom>
          <a:noFill/>
          <a:ln w="19050">
            <a:solidFill>
              <a:srgbClr val="DFD6C7"/>
            </a:solidFill>
            <a:prstDash val="dash"/>
          </a:ln>
        </p:spPr>
      </p:sp>
      <p:sp>
        <p:nvSpPr>
          <p:cNvPr id="15" name="Shape 13"/>
          <p:cNvSpPr/>
          <p:nvPr/>
        </p:nvSpPr>
        <p:spPr>
          <a:xfrm>
            <a:off x="937260" y="2016252"/>
            <a:ext cx="1440180" cy="0"/>
          </a:xfrm>
          <a:prstGeom prst="line">
            <a:avLst/>
          </a:prstGeom>
          <a:noFill/>
          <a:ln w="22225">
            <a:solidFill>
              <a:srgbClr val="D97A14"/>
            </a:solidFill>
            <a:prstDash val="solid"/>
            <a:tailEnd type="triangle"/>
          </a:ln>
        </p:spPr>
      </p:sp>
      <p:sp>
        <p:nvSpPr>
          <p:cNvPr id="16" name="Text 14"/>
          <p:cNvSpPr txBox="1"/>
          <p:nvPr/>
        </p:nvSpPr>
        <p:spPr>
          <a:xfrm>
            <a:off x="1028700" y="1706270"/>
            <a:ext cx="12573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hotkey('ctrl', 'a') to select the text</a:t>
            </a:r>
            <a:endParaRPr lang="en-US" sz="800" dirty="0"/>
          </a:p>
        </p:txBody>
      </p:sp>
      <p:sp>
        <p:nvSpPr>
          <p:cNvPr id="17" name="Shape 15"/>
          <p:cNvSpPr/>
          <p:nvPr/>
        </p:nvSpPr>
        <p:spPr>
          <a:xfrm>
            <a:off x="937260" y="2378354"/>
            <a:ext cx="1440180" cy="0"/>
          </a:xfrm>
          <a:prstGeom prst="line">
            <a:avLst/>
          </a:prstGeom>
          <a:noFill/>
          <a:ln w="22225">
            <a:solidFill>
              <a:srgbClr val="D97A14"/>
            </a:solidFill>
            <a:prstDash val="solid"/>
            <a:tailEnd type="triangle"/>
          </a:ln>
        </p:spPr>
      </p:sp>
      <p:sp>
        <p:nvSpPr>
          <p:cNvPr id="18" name="Text 16"/>
          <p:cNvSpPr txBox="1"/>
          <p:nvPr/>
        </p:nvSpPr>
        <p:spPr>
          <a:xfrm>
            <a:off x="1028700" y="2068373"/>
            <a:ext cx="12573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hotkey('ctrl', 'c') to copy the text</a:t>
            </a:r>
            <a:endParaRPr lang="en-US" sz="800" dirty="0"/>
          </a:p>
        </p:txBody>
      </p:sp>
      <p:sp>
        <p:nvSpPr>
          <p:cNvPr id="19" name="Shape 17"/>
          <p:cNvSpPr/>
          <p:nvPr/>
        </p:nvSpPr>
        <p:spPr>
          <a:xfrm>
            <a:off x="2377440" y="2740457"/>
            <a:ext cx="1440180" cy="0"/>
          </a:xfrm>
          <a:prstGeom prst="line">
            <a:avLst/>
          </a:prstGeom>
          <a:noFill/>
          <a:ln w="22225">
            <a:solidFill>
              <a:srgbClr val="D97A14"/>
            </a:solidFill>
            <a:prstDash val="solid"/>
            <a:tailEnd type="triangle"/>
          </a:ln>
        </p:spPr>
      </p:sp>
      <p:sp>
        <p:nvSpPr>
          <p:cNvPr id="20" name="Text 18"/>
          <p:cNvSpPr txBox="1"/>
          <p:nvPr/>
        </p:nvSpPr>
        <p:spPr>
          <a:xfrm>
            <a:off x="2468880" y="2430475"/>
            <a:ext cx="12573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Stores the text on the clipboard</a:t>
            </a:r>
            <a:endParaRPr lang="en-US" sz="800" dirty="0"/>
          </a:p>
        </p:txBody>
      </p:sp>
      <p:sp>
        <p:nvSpPr>
          <p:cNvPr id="21" name="Shape 19"/>
          <p:cNvSpPr/>
          <p:nvPr/>
        </p:nvSpPr>
        <p:spPr>
          <a:xfrm>
            <a:off x="937260" y="3102559"/>
            <a:ext cx="2880360" cy="0"/>
          </a:xfrm>
          <a:prstGeom prst="line">
            <a:avLst/>
          </a:prstGeom>
          <a:noFill/>
          <a:ln w="22225">
            <a:solidFill>
              <a:srgbClr val="D97A14"/>
            </a:solidFill>
            <a:prstDash val="solid"/>
            <a:tailEnd type="triangle"/>
          </a:ln>
        </p:spPr>
      </p:sp>
      <p:sp>
        <p:nvSpPr>
          <p:cNvPr id="22" name="Text 20"/>
          <p:cNvSpPr txBox="1"/>
          <p:nvPr/>
        </p:nvSpPr>
        <p:spPr>
          <a:xfrm>
            <a:off x="1028700" y="2916022"/>
            <a:ext cx="26974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pyperclip.paste()</a:t>
            </a:r>
            <a:endParaRPr lang="en-US" sz="800" dirty="0"/>
          </a:p>
        </p:txBody>
      </p:sp>
      <p:sp>
        <p:nvSpPr>
          <p:cNvPr id="23" name="Shape 21"/>
          <p:cNvSpPr/>
          <p:nvPr/>
        </p:nvSpPr>
        <p:spPr>
          <a:xfrm flipH="1">
            <a:off x="937260" y="3464662"/>
            <a:ext cx="2880360" cy="0"/>
          </a:xfrm>
          <a:prstGeom prst="line">
            <a:avLst/>
          </a:prstGeom>
          <a:noFill/>
          <a:ln w="22225">
            <a:solidFill>
              <a:srgbClr val="6E655C"/>
            </a:solidFill>
            <a:prstDash val="dash"/>
            <a:tailEnd type="triangle"/>
          </a:ln>
        </p:spPr>
      </p:sp>
      <p:sp>
        <p:nvSpPr>
          <p:cNvPr id="24" name="Text 22"/>
          <p:cNvSpPr txBox="1"/>
          <p:nvPr/>
        </p:nvSpPr>
        <p:spPr>
          <a:xfrm>
            <a:off x="1028700" y="3278124"/>
            <a:ext cx="26974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text of the window</a:t>
            </a:r>
            <a:endParaRPr lang="en-US" sz="800" dirty="0"/>
          </a:p>
        </p:txBody>
      </p:sp>
      <p:sp>
        <p:nvSpPr>
          <p:cNvPr id="25" name="Text 23"/>
          <p:cNvSpPr txBox="1"/>
          <p:nvPr/>
        </p:nvSpPr>
        <p:spPr>
          <a:xfrm>
            <a:off x="4544568"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clipCut_v1_0_0.py, lines 168 to 182 of 182</a:t>
            </a:r>
            <a:endParaRPr lang="en-US" sz="1000" dirty="0"/>
          </a:p>
        </p:txBody>
      </p:sp>
      <p:sp>
        <p:nvSpPr>
          <p:cNvPr id="26" name="Shape 24"/>
          <p:cNvSpPr/>
          <p:nvPr/>
        </p:nvSpPr>
        <p:spPr>
          <a:xfrm>
            <a:off x="4544568" y="1417320"/>
            <a:ext cx="4142232" cy="2679192"/>
          </a:xfrm>
          <a:prstGeom prst="roundRect">
            <a:avLst>
              <a:gd name="adj" fmla="val 3413"/>
            </a:avLst>
          </a:prstGeom>
          <a:solidFill>
            <a:srgbClr val="23272E"/>
          </a:solidFill>
          <a:ln w="12700">
            <a:solidFill>
              <a:srgbClr val="23272E"/>
            </a:solidFill>
            <a:prstDash val="solid"/>
          </a:ln>
        </p:spPr>
      </p:sp>
      <p:sp>
        <p:nvSpPr>
          <p:cNvPr id="27" name="Text 25"/>
          <p:cNvSpPr txBox="1"/>
          <p:nvPr/>
        </p:nvSpPr>
        <p:spPr>
          <a:xfrm>
            <a:off x="4727448" y="1536192"/>
            <a:ext cx="3776472"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pyperclip;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d.observer(mode=</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focus=</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geometry=</a:t>
            </a:r>
            <a:r>
              <a:rPr lang="en-US" sz="700" dirty="0">
                <a:solidFill>
                  <a:srgbClr val="9ECBFF"/>
                </a:solidFill>
                <a:latin typeface="Courier New" pitchFamily="34" charset="0"/>
                <a:ea typeface="Courier New" pitchFamily="34" charset="-122"/>
                <a:cs typeface="Courier New" pitchFamily="34" charset="-120"/>
              </a:rPr>
              <a:t>'600x300+100+100'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 pyautogui.click(</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pyperclip'</a:t>
            </a:r>
            <a:r>
              <a:rPr lang="en-US" sz="700" dirty="0">
                <a:solidFill>
                  <a:srgbClr val="E6EDF3"/>
                </a:solidFill>
                <a:latin typeface="Courier New" pitchFamily="34" charset="0"/>
                <a:ea typeface="Courier New" pitchFamily="34" charset="-122"/>
                <a:cs typeface="Courier New" pitchFamily="34" charset="-120"/>
              </a:rPr>
              <a:t>, md.version(</a:t>
            </a:r>
            <a:r>
              <a:rPr lang="en-US" sz="700" dirty="0">
                <a:solidFill>
                  <a:srgbClr val="9ECBFF"/>
                </a:solidFill>
                <a:latin typeface="Courier New" pitchFamily="34" charset="0"/>
                <a:ea typeface="Courier New" pitchFamily="34" charset="-122"/>
                <a:cs typeface="Courier New" pitchFamily="34" charset="-120"/>
              </a:rPr>
              <a:t>'pyperclip'</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pyautogui.write(</a:t>
            </a:r>
            <a:r>
              <a:rPr lang="en-US" sz="700" dirty="0">
                <a:solidFill>
                  <a:srgbClr val="9ECBFF"/>
                </a:solidFill>
                <a:latin typeface="Courier New" pitchFamily="34" charset="0"/>
                <a:ea typeface="Courier New" pitchFamily="34" charset="-122"/>
                <a:cs typeface="Courier New" pitchFamily="34" charset="-120"/>
              </a:rPr>
              <a:t>'Hello, world!\nsecond line'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o.clear(); pyautogui.hotkey(</a:t>
            </a:r>
            <a:r>
              <a:rPr lang="en-US" sz="700" dirty="0">
                <a:solidFill>
                  <a:srgbClr val="9ECBFF"/>
                </a:solidFill>
                <a:latin typeface="Courier New" pitchFamily="34" charset="0"/>
                <a:ea typeface="Courier New" pitchFamily="34" charset="-122"/>
                <a:cs typeface="Courier New" pitchFamily="34" charset="-120"/>
              </a:rPr>
              <a:t>'ctrl'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'shift'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ks = [k.split(</a:t>
            </a:r>
            <a:r>
              <a:rPr lang="en-US" sz="700" dirty="0">
                <a:solidFill>
                  <a:srgbClr val="9ECBFF"/>
                </a:solidFill>
                <a:latin typeface="Courier New" pitchFamily="34" charset="0"/>
                <a:ea typeface="Courier New" pitchFamily="34" charset="-122"/>
                <a:cs typeface="Courier New" pitchFamily="34" charset="-120"/>
              </a:rPr>
              <a:t>'_'</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k, s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keys(o)]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'down, then up:'</a:t>
            </a:r>
            <a:r>
              <a:rPr lang="en-US" sz="700" dirty="0">
                <a:solidFill>
                  <a:srgbClr val="E6EDF3"/>
                </a:solidFill>
                <a:latin typeface="Courier New" pitchFamily="34" charset="0"/>
                <a:ea typeface="Courier New" pitchFamily="34" charset="-122"/>
                <a:cs typeface="Courier New" pitchFamily="34" charset="-120"/>
              </a:rPr>
              <a:t>, *ks)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pyautogui.hotkey(</a:t>
            </a:r>
            <a:r>
              <a:rPr lang="en-US" sz="700" dirty="0">
                <a:solidFill>
                  <a:srgbClr val="9ECBFF"/>
                </a:solidFill>
                <a:latin typeface="Courier New" pitchFamily="34" charset="0"/>
                <a:ea typeface="Courier New" pitchFamily="34" charset="-122"/>
                <a:cs typeface="Courier New" pitchFamily="34" charset="-120"/>
              </a:rPr>
              <a:t>'ctrl'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pyautogui.hotkey(</a:t>
            </a:r>
            <a:r>
              <a:rPr lang="en-US" sz="700" dirty="0">
                <a:solidFill>
                  <a:srgbClr val="9ECBFF"/>
                </a:solidFill>
                <a:latin typeface="Courier New" pitchFamily="34" charset="0"/>
                <a:ea typeface="Courier New" pitchFamily="34" charset="-122"/>
                <a:cs typeface="Courier New" pitchFamily="34" charset="-120"/>
              </a:rPr>
              <a:t>'ctrl'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text = pyperclip.paste()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'paste():'</a:t>
            </a:r>
            <a:r>
              <a:rPr lang="en-US" sz="700" dirty="0">
                <a:solidFill>
                  <a:srgbClr val="E6EDF3"/>
                </a:solidFill>
                <a:latin typeface="Courier New" pitchFamily="34" charset="0"/>
                <a:ea typeface="Courier New" pitchFamily="34" charset="-122"/>
                <a:cs typeface="Courier New" pitchFamily="34" charset="-120"/>
              </a:rPr>
              <a:t>, repr(text))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pyautogui.press(</a:t>
            </a:r>
            <a:r>
              <a:rPr lang="en-US" sz="700" dirty="0">
                <a:solidFill>
                  <a:srgbClr val="9ECBFF"/>
                </a:solidFill>
                <a:latin typeface="Courier New" pitchFamily="34" charset="0"/>
                <a:ea typeface="Courier New" pitchFamily="34" charset="-122"/>
                <a:cs typeface="Courier New" pitchFamily="34" charset="-120"/>
              </a:rPr>
              <a:t>'end'</a:t>
            </a:r>
            <a:r>
              <a:rPr lang="en-US" sz="700" dirty="0">
                <a:solidFill>
                  <a:srgbClr val="E6EDF3"/>
                </a:solidFill>
                <a:latin typeface="Courier New" pitchFamily="34" charset="0"/>
                <a:ea typeface="Courier New" pitchFamily="34" charset="-122"/>
                <a:cs typeface="Courier New" pitchFamily="34" charset="-120"/>
              </a:rPr>
              <a:t>); pyautogui.hotkey(</a:t>
            </a:r>
            <a:r>
              <a:rPr lang="en-US" sz="700" dirty="0">
                <a:solidFill>
                  <a:srgbClr val="9ECBFF"/>
                </a:solidFill>
                <a:latin typeface="Courier New" pitchFamily="34" charset="0"/>
                <a:ea typeface="Courier New" pitchFamily="34" charset="-122"/>
                <a:cs typeface="Courier New" pitchFamily="34" charset="-120"/>
              </a:rPr>
              <a:t>'ctrl'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'ctrl+v pasted it again:'</a:t>
            </a:r>
            <a:r>
              <a:rPr lang="en-US" sz="700" dirty="0">
                <a:solidFill>
                  <a:srgbClr val="E6EDF3"/>
                </a:solidFill>
                <a:latin typeface="Courier New" pitchFamily="34" charset="0"/>
                <a:ea typeface="Courier New" pitchFamily="34" charset="-122"/>
                <a:cs typeface="Courier New" pitchFamily="34" charset="-120"/>
              </a:rPr>
              <a:t>, o.text() == text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pyperclip 1.11.0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down, then up: Control Alt Shift S S Shift Alt Control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paste(): 'Hello, world!\nsecond line'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ctrl+v pasted it again: True</a:t>
            </a:r>
            <a:endParaRPr lang="en-US" sz="700" dirty="0"/>
          </a:p>
        </p:txBody>
      </p:sp>
      <p:sp>
        <p:nvSpPr>
          <p:cNvPr id="28" name="Text 26"/>
          <p:cNvSpPr txBox="1"/>
          <p:nvPr/>
        </p:nvSpPr>
        <p:spPr>
          <a:xfrm>
            <a:off x="457200" y="3593592"/>
            <a:ext cx="38404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diagram CopyingTextWithTheClipboard - Interaction pattern, 22 of 24 words grounded in the chapter's text. Virtual display: Xvfb with real X clients, a local stand-in for a screen, not a real screen; nobody sees it.</a:t>
            </a:r>
            <a:endParaRPr lang="en-US" sz="800" dirty="0"/>
          </a:p>
        </p:txBody>
      </p:sp>
      <p:sp>
        <p:nvSpPr>
          <p:cNvPr id="29" name="Shape 27"/>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Lawrence G. Tesler and colleagues at X…</a:t>
            </a:r>
            <a:endParaRPr lang="en-US" sz="750" dirty="0"/>
          </a:p>
        </p:txBody>
      </p:sp>
      <p:sp>
        <p:nvSpPr>
          <p:cNvPr id="31" name="Shape 29"/>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Xerox PARC from 1974; the Apple Lisa o…</a:t>
            </a:r>
            <a:endParaRPr lang="en-US" sz="750" dirty="0"/>
          </a:p>
        </p:txBody>
      </p:sp>
      <p:sp>
        <p:nvSpPr>
          <p:cNvPr id="33" name="Shape 31"/>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34" name="Text 32"/>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1974</a:t>
            </a:r>
            <a:endParaRPr lang="en-US" sz="750" dirty="0"/>
          </a:p>
        </p:txBody>
      </p:sp>
      <p:sp>
        <p:nvSpPr>
          <p:cNvPr id="35" name="Shape 33"/>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36" name="Text 34"/>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hotkey() is a chord; the clipboard is another process.</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Message boxes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box returns a button's text, '' or None; an unanswered box returns 'Timeout'</a:t>
            </a:r>
            <a:endParaRPr lang="en-US" sz="1300" dirty="0"/>
          </a:p>
        </p:txBody>
      </p:sp>
      <p:sp>
        <p:nvSpPr>
          <p:cNvPr id="6" name="Text 4"/>
          <p:cNvSpPr txBox="1"/>
          <p:nvPr/>
        </p:nvSpPr>
        <p:spPr>
          <a:xfrm>
            <a:off x="457200" y="1143000"/>
            <a:ext cx="5495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boxCut_v1_0_0.py, lines 168 to 177 of 177</a:t>
            </a:r>
            <a:endParaRPr lang="en-US" sz="1000" dirty="0"/>
          </a:p>
        </p:txBody>
      </p:sp>
      <p:sp>
        <p:nvSpPr>
          <p:cNvPr id="7" name="Shape 5"/>
          <p:cNvSpPr/>
          <p:nvPr/>
        </p:nvSpPr>
        <p:spPr>
          <a:xfrm>
            <a:off x="457200" y="1417320"/>
            <a:ext cx="5495544"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536192"/>
            <a:ext cx="5129784"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message boxes answered with the keyboard'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'confirm + Return   -&gt;'</a:t>
            </a:r>
            <a:r>
              <a:rPr lang="en-US" sz="700" dirty="0">
                <a:solidFill>
                  <a:srgbClr val="E6EDF3"/>
                </a:solidFill>
                <a:latin typeface="Courier New" pitchFamily="34" charset="0"/>
                <a:ea typeface="Courier New" pitchFamily="34" charset="-122"/>
                <a:cs typeface="Courier New" pitchFamily="34" charset="-120"/>
              </a:rPr>
              <a:t>, ask(d, </a:t>
            </a:r>
            <a:r>
              <a:rPr lang="en-US" sz="700" dirty="0">
                <a:solidFill>
                  <a:srgbClr val="9ECBFF"/>
                </a:solidFill>
                <a:latin typeface="Courier New" pitchFamily="34" charset="0"/>
                <a:ea typeface="Courier New" pitchFamily="34" charset="-122"/>
                <a:cs typeface="Courier New" pitchFamily="34" charset="-120"/>
              </a:rPr>
              <a:t>"confirm('Go?', 'Q')"</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'confirm + Escape   -&gt;'</a:t>
            </a:r>
            <a:r>
              <a:rPr lang="en-US" sz="700" dirty="0">
                <a:solidFill>
                  <a:srgbClr val="E6EDF3"/>
                </a:solidFill>
                <a:latin typeface="Courier New" pitchFamily="34" charset="0"/>
                <a:ea typeface="Courier New" pitchFamily="34" charset="-122"/>
                <a:cs typeface="Courier New" pitchFamily="34" charset="-120"/>
              </a:rPr>
              <a:t>, ask(d, </a:t>
            </a:r>
            <a:r>
              <a:rPr lang="en-US" sz="700" dirty="0">
                <a:solidFill>
                  <a:srgbClr val="9ECBFF"/>
                </a:solidFill>
                <a:latin typeface="Courier New" pitchFamily="34" charset="0"/>
                <a:ea typeface="Courier New" pitchFamily="34" charset="-122"/>
                <a:cs typeface="Courier New" pitchFamily="34" charset="-120"/>
              </a:rPr>
              <a:t>"confirm('Go?', 'Q')"</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'Escape'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'prompt + Return    -&gt;'</a:t>
            </a:r>
            <a:r>
              <a:rPr lang="en-US" sz="700" dirty="0">
                <a:solidFill>
                  <a:srgbClr val="E6EDF3"/>
                </a:solidFill>
                <a:latin typeface="Courier New" pitchFamily="34" charset="0"/>
                <a:ea typeface="Courier New" pitchFamily="34" charset="-122"/>
                <a:cs typeface="Courier New" pitchFamily="34" charset="-120"/>
              </a:rPr>
              <a:t>, ask(d, </a:t>
            </a:r>
            <a:r>
              <a:rPr lang="en-US" sz="700" dirty="0">
                <a:solidFill>
                  <a:srgbClr val="9ECBFF"/>
                </a:solidFill>
                <a:latin typeface="Courier New" pitchFamily="34" charset="0"/>
                <a:ea typeface="Courier New" pitchFamily="34" charset="-122"/>
                <a:cs typeface="Courier New" pitchFamily="34" charset="-120"/>
              </a:rPr>
              <a:t>"prompt('Name?', 'Q')"</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'prompt + Escape    -&gt;'</a:t>
            </a:r>
            <a:r>
              <a:rPr lang="en-US" sz="700" dirty="0">
                <a:solidFill>
                  <a:srgbClr val="E6EDF3"/>
                </a:solidFill>
                <a:latin typeface="Courier New" pitchFamily="34" charset="0"/>
                <a:ea typeface="Courier New" pitchFamily="34" charset="-122"/>
                <a:cs typeface="Courier New" pitchFamily="34" charset="-120"/>
              </a:rPr>
              <a:t>, ask(d, </a:t>
            </a:r>
            <a:r>
              <a:rPr lang="en-US" sz="700" dirty="0">
                <a:solidFill>
                  <a:srgbClr val="9ECBFF"/>
                </a:solidFill>
                <a:latin typeface="Courier New" pitchFamily="34" charset="0"/>
                <a:ea typeface="Courier New" pitchFamily="34" charset="-122"/>
                <a:cs typeface="Courier New" pitchFamily="34" charset="-120"/>
              </a:rPr>
              <a:t>"prompt('Name?', 'Q')"</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'Escape'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'password + typing  -&gt;'</a:t>
            </a:r>
            <a:r>
              <a:rPr lang="en-US" sz="700" dirty="0">
                <a:solidFill>
                  <a:srgbClr val="E6EDF3"/>
                </a:solidFill>
                <a:latin typeface="Courier New" pitchFamily="34" charset="0"/>
                <a:ea typeface="Courier New" pitchFamily="34" charset="-122"/>
                <a:cs typeface="Courier New" pitchFamily="34" charset="-120"/>
              </a:rPr>
              <a:t>, ask(d, </a:t>
            </a:r>
            <a:r>
              <a:rPr lang="en-US" sz="700" dirty="0">
                <a:solidFill>
                  <a:srgbClr val="9ECBFF"/>
                </a:solidFill>
                <a:latin typeface="Courier New" pitchFamily="34" charset="0"/>
                <a:ea typeface="Courier New" pitchFamily="34" charset="-122"/>
                <a:cs typeface="Courier New" pitchFamily="34" charset="-120"/>
              </a:rPr>
              <a:t>"password('Pass?', 'Q')"</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's3cret'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time.perf_counter(); r = ask(d, </a:t>
            </a:r>
            <a:r>
              <a:rPr lang="en-US" sz="700" dirty="0">
                <a:solidFill>
                  <a:srgbClr val="9ECBFF"/>
                </a:solidFill>
                <a:latin typeface="Courier New" pitchFamily="34" charset="0"/>
                <a:ea typeface="Courier New" pitchFamily="34" charset="-122"/>
                <a:cs typeface="Courier New" pitchFamily="34" charset="-120"/>
              </a:rPr>
              <a:t>"confirm('Go?', 'Q', timeout=1500)"</a:t>
            </a:r>
            <a:r>
              <a:rPr lang="en-US" sz="700" dirty="0">
                <a:solidFill>
                  <a:srgbClr val="E6EDF3"/>
                </a:solidFill>
                <a:latin typeface="Courier New" pitchFamily="34" charset="0"/>
                <a:ea typeface="Courier New" pitchFamily="34" charset="-122"/>
                <a:cs typeface="Courier New" pitchFamily="34" charset="-120"/>
              </a:rPr>
              <a: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took = time.perf_counter() - t - </a:t>
            </a:r>
            <a:r>
              <a:rPr lang="en-US" sz="700" dirty="0">
                <a:solidFill>
                  <a:srgbClr val="FFD28A"/>
                </a:solidFill>
                <a:latin typeface="Courier New" pitchFamily="34" charset="0"/>
                <a:ea typeface="Courier New" pitchFamily="34" charset="-122"/>
                <a:cs typeface="Courier New" pitchFamily="34" charset="-120"/>
              </a:rPr>
              <a:t>0.5</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'confirm(timeout=1500) -&gt;'</a:t>
            </a:r>
            <a:r>
              <a:rPr lang="en-US" sz="700" dirty="0">
                <a:solidFill>
                  <a:srgbClr val="E6EDF3"/>
                </a:solidFill>
                <a:latin typeface="Courier New" pitchFamily="34" charset="0"/>
                <a:ea typeface="Courier New" pitchFamily="34" charset="-122"/>
                <a:cs typeface="Courier New" pitchFamily="34" charset="-120"/>
              </a:rPr>
              <a:t>, r, </a:t>
            </a:r>
            <a:r>
              <a:rPr lang="en-US" sz="700" dirty="0">
                <a:solidFill>
                  <a:srgbClr val="9ECBFF"/>
                </a:solidFill>
                <a:latin typeface="Courier New" pitchFamily="34" charset="0"/>
                <a:ea typeface="Courier New" pitchFamily="34" charset="-122"/>
                <a:cs typeface="Courier New" pitchFamily="34" charset="-120"/>
              </a:rPr>
              <a:t>'| about 1.5 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&lt; took &lt;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message boxes answered with the keyboard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confirm + Return   -&gt; 'OK'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confirm + Escape   -&gt; 'Cancel'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prompt + Return    -&gt;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prompt + Escape    -&gt;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 + typing  -&gt; 's3cret'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confirm(timeout=1500) -&gt; 'Timeout' | about 1.5 s: True</a:t>
            </a:r>
            <a:endParaRPr lang="en-US" sz="700" dirty="0"/>
          </a:p>
        </p:txBody>
      </p:sp>
      <p:sp>
        <p:nvSpPr>
          <p:cNvPr id="9" name="Text 7"/>
          <p:cNvSpPr txBox="1"/>
          <p:nvPr/>
        </p:nvSpPr>
        <p:spPr>
          <a:xfrm>
            <a:off x="6135624" y="1371600"/>
            <a:ext cx="255117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0" name="Text 8"/>
          <p:cNvSpPr txBox="1"/>
          <p:nvPr/>
        </p:nvSpPr>
        <p:spPr>
          <a:xfrm>
            <a:off x="6135624" y="1819656"/>
            <a:ext cx="255117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the private display and the helper that starts a box and answers it with the keyboard) are not shown.</a:t>
            </a:r>
            <a:endParaRPr lang="en-US" sz="800" dirty="0"/>
          </a:p>
        </p:txBody>
      </p:sp>
      <p:sp>
        <p:nvSpPr>
          <p:cNvPr id="11" name="Text 9"/>
          <p:cNvSpPr txBox="1"/>
          <p:nvPr/>
        </p:nvSpPr>
        <p:spPr>
          <a:xfrm>
            <a:off x="6135624" y="2267712"/>
            <a:ext cx="255117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the installed PyMsgBox 2.0.1 says __version__ 1.0.9, and its signatures carry type hints that 1.0.9 lacks.</a:t>
            </a:r>
            <a:endParaRPr lang="en-US" sz="8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for '' and None; a timeout is a string.</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Looking busy and the idle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Moving the pointer one pixel resets the idle time; reading the position does not</a:t>
            </a:r>
            <a:endParaRPr lang="en-US" sz="1300" dirty="0"/>
          </a:p>
        </p:txBody>
      </p:sp>
      <p:sp>
        <p:nvSpPr>
          <p:cNvPr id="6" name="Text 4"/>
          <p:cNvSpPr txBox="1"/>
          <p:nvPr/>
        </p:nvSpPr>
        <p:spPr>
          <a:xfrm>
            <a:off x="457200" y="1143000"/>
            <a:ext cx="49834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busyCut_v1_0_0.py, lines 168 to 182 of 182</a:t>
            </a:r>
            <a:endParaRPr lang="en-US" sz="1000" dirty="0"/>
          </a:p>
        </p:txBody>
      </p:sp>
      <p:sp>
        <p:nvSpPr>
          <p:cNvPr id="7" name="Shape 5"/>
          <p:cNvSpPr/>
          <p:nvPr/>
        </p:nvSpPr>
        <p:spPr>
          <a:xfrm>
            <a:off x="457200" y="1417320"/>
            <a:ext cx="4983480"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617720"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Desk(wm=</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as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pyautogui.PAUSE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idle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int(d.sh(</a:t>
            </a:r>
            <a:r>
              <a:rPr lang="en-US" sz="700" dirty="0">
                <a:solidFill>
                  <a:srgbClr val="9ECBFF"/>
                </a:solidFill>
                <a:latin typeface="Courier New" pitchFamily="34" charset="0"/>
                <a:ea typeface="Courier New" pitchFamily="34" charset="-122"/>
                <a:cs typeface="Courier New" pitchFamily="34" charset="-120"/>
              </a:rPr>
              <a:t>'xprintidle'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pyautogui.moveTo(</a:t>
            </a:r>
            <a:r>
              <a:rPr lang="en-US" sz="700" dirty="0">
                <a:solidFill>
                  <a:srgbClr val="FFD28A"/>
                </a:solidFill>
                <a:latin typeface="Courier New" pitchFamily="34" charset="0"/>
                <a:ea typeface="Courier New" pitchFamily="34" charset="-122"/>
                <a:cs typeface="Courier New" pitchFamily="34" charset="-120"/>
              </a:rPr>
              <a:t>800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500</a:t>
            </a:r>
            <a:r>
              <a:rPr lang="en-US" sz="700" dirty="0">
                <a:solidFill>
                  <a:srgbClr val="E6EDF3"/>
                </a:solidFill>
                <a:latin typeface="Courier New" pitchFamily="34" charset="0"/>
                <a:ea typeface="Courier New" pitchFamily="34" charset="-122"/>
                <a:cs typeface="Courier New" pitchFamily="34" charset="-120"/>
              </a:rPr>
              <a:t>); xs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print(VD, </a:t>
            </a:r>
            <a:r>
              <a:rPr lang="en-US" sz="700" dirty="0">
                <a:solidFill>
                  <a:srgbClr val="9ECBFF"/>
                </a:solidFill>
                <a:latin typeface="Courier New" pitchFamily="34" charset="0"/>
                <a:ea typeface="Courier New" pitchFamily="34" charset="-122"/>
                <a:cs typeface="Courier New" pitchFamily="34" charset="-120"/>
              </a:rPr>
              <a:t>'| looking busy'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xs.append(pyautogui.position().x)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xs.append(pyautogui.position().x)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'x after each move:'</a:t>
            </a:r>
            <a:r>
              <a:rPr lang="en-US" sz="700" dirty="0">
                <a:solidFill>
                  <a:srgbClr val="E6EDF3"/>
                </a:solidFill>
                <a:latin typeface="Courier New" pitchFamily="34" charset="0"/>
                <a:ea typeface="Courier New" pitchFamily="34" charset="-122"/>
                <a:cs typeface="Courier New" pitchFamily="34" charset="-120"/>
              </a:rPr>
              <a:t>, xs, </a:t>
            </a:r>
            <a:r>
              <a:rPr lang="en-US" sz="700" dirty="0">
                <a:solidFill>
                  <a:srgbClr val="9ECBFF"/>
                </a:solidFill>
                <a:latin typeface="Courier New" pitchFamily="34" charset="0"/>
                <a:ea typeface="Courier New" pitchFamily="34" charset="-122"/>
                <a:cs typeface="Courier New" pitchFamily="34" charset="-120"/>
              </a:rPr>
              <a:t>'| ends at'</a:t>
            </a:r>
            <a:r>
              <a:rPr lang="en-US" sz="700" dirty="0">
                <a:solidFill>
                  <a:srgbClr val="E6EDF3"/>
                </a:solidFill>
                <a:latin typeface="Courier New" pitchFamily="34" charset="0"/>
                <a:ea typeface="Courier New" pitchFamily="34" charset="-122"/>
                <a:cs typeface="Courier New" pitchFamily="34" charset="-120"/>
              </a:rPr>
              <a:t>, tuple(pyautogui.position()))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'idle after a wait:'</a:t>
            </a:r>
            <a:r>
              <a:rPr lang="en-US" sz="700" dirty="0">
                <a:solidFill>
                  <a:srgbClr val="E6EDF3"/>
                </a:solidFill>
                <a:latin typeface="Courier New" pitchFamily="34" charset="0"/>
                <a:ea typeface="Courier New" pitchFamily="34" charset="-122"/>
                <a:cs typeface="Courier New" pitchFamily="34" charset="-120"/>
              </a:rPr>
              <a:t>, idle() &gt; </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pyautogui.position(); pyautogui.size()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position() and size(): still idle:'</a:t>
            </a:r>
            <a:r>
              <a:rPr lang="en-US" sz="700" dirty="0">
                <a:solidFill>
                  <a:srgbClr val="E6EDF3"/>
                </a:solidFill>
                <a:latin typeface="Courier New" pitchFamily="34" charset="0"/>
                <a:ea typeface="Courier New" pitchFamily="34" charset="-122"/>
                <a:cs typeface="Courier New" pitchFamily="34" charset="-120"/>
              </a:rPr>
              <a:t>, idle() &gt; </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pyautogui.move(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move(1, 0): idle was reset:'</a:t>
            </a:r>
            <a:r>
              <a:rPr lang="en-US" sz="700" dirty="0">
                <a:solidFill>
                  <a:srgbClr val="E6EDF3"/>
                </a:solidFill>
                <a:latin typeface="Courier New" pitchFamily="34" charset="0"/>
                <a:ea typeface="Courier New" pitchFamily="34" charset="-122"/>
                <a:cs typeface="Courier New" pitchFamily="34" charset="-120"/>
              </a:rPr>
              <a:t>, idle() &lt;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pyautogui.press(</a:t>
            </a:r>
            <a:r>
              <a:rPr lang="en-US" sz="700" dirty="0">
                <a:solidFill>
                  <a:srgbClr val="9ECBFF"/>
                </a:solidFill>
                <a:latin typeface="Courier New" pitchFamily="34" charset="0"/>
                <a:ea typeface="Courier New" pitchFamily="34" charset="-122"/>
                <a:cs typeface="Courier New" pitchFamily="34" charset="-120"/>
              </a:rPr>
              <a:t>'shift'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press(shift): idle was reset:'</a:t>
            </a:r>
            <a:r>
              <a:rPr lang="en-US" sz="700" dirty="0">
                <a:solidFill>
                  <a:srgbClr val="E6EDF3"/>
                </a:solidFill>
                <a:latin typeface="Courier New" pitchFamily="34" charset="0"/>
                <a:ea typeface="Courier New" pitchFamily="34" charset="-122"/>
                <a:cs typeface="Courier New" pitchFamily="34" charset="-120"/>
              </a:rPr>
              <a:t>, idle() &lt;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virtual display (Xvfb), not a real screen | looking busy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 after each move: [799, 800, 799, 800, 799, 800] | ends at (800, 500)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idle after a wait: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position() and size(): still idle: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move(1, 0): idle was reset: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press(shift): idle was reset: True</a:t>
            </a:r>
            <a:endParaRPr lang="en-US" sz="700" dirty="0"/>
          </a:p>
        </p:txBody>
      </p:sp>
      <p:sp>
        <p:nvSpPr>
          <p:cNvPr id="9" name="Text 7"/>
          <p:cNvSpPr txBox="1"/>
          <p:nvPr/>
        </p:nvSpPr>
        <p:spPr>
          <a:xfrm>
            <a:off x="5623560" y="1371600"/>
            <a:ext cx="306324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real X clients, a local stand-in for a screen, not a real screen; nobody sees it.</a:t>
            </a:r>
            <a:endParaRPr lang="en-US" sz="800" dirty="0"/>
          </a:p>
        </p:txBody>
      </p:sp>
      <p:sp>
        <p:nvSpPr>
          <p:cNvPr id="10" name="Text 8"/>
          <p:cNvSpPr txBox="1"/>
          <p:nvPr/>
        </p:nvSpPr>
        <p:spPr>
          <a:xfrm>
            <a:off x="5623560" y="1700784"/>
            <a:ext cx="306324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167 (imports and the private display) are not shown.</a:t>
            </a:r>
            <a:endParaRPr lang="en-US" sz="800" dirty="0"/>
          </a:p>
        </p:txBody>
      </p:sp>
      <p:sp>
        <p:nvSpPr>
          <p:cNvPr id="11" name="Text 9"/>
          <p:cNvSpPr txBox="1"/>
          <p:nvPr/>
        </p:nvSpPr>
        <p:spPr>
          <a:xfrm>
            <a:off x="5623560" y="2029968"/>
            <a:ext cx="306324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the sushigoroundbot repository answered 403 through the proxy of the study, and sumopaint.com was unreachable with an SSLError.</a:t>
            </a:r>
            <a:endParaRPr lang="en-US" sz="800" dirty="0"/>
          </a:p>
        </p:txBody>
      </p:sp>
      <p:sp>
        <p:nvSpPr>
          <p:cNvPr id="12" name="Text 10"/>
          <p:cNvSpPr txBox="1"/>
          <p:nvPr/>
        </p:nvSpPr>
        <p:spPr>
          <a:xfrm>
            <a:off x="5623560" y="2478024"/>
            <a:ext cx="306324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the Sushi Go Round game (no Flash player is installed here), a captcha and a real instant messenger.</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the pointer resets the idle clock; reading it does not.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replayed in five environments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how many of the 80 printed statements match the book, by environment</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737360"/>
                <a:gridCol w="822960"/>
                <a:gridCol w="1051560"/>
                <a:gridCol w="1051560"/>
                <a:gridCol w="822960"/>
                <a:gridCol w="1554480"/>
                <a:gridCol w="1188720"/>
              </a:tblGrid>
              <a:tr h="23774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row</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Python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PyAutoGUI</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PyScreeze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ran without an exception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statements = book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0.9.54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9.0.3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40 of 80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 OpenCV</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0.9.54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9.0.3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40 of 80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PyScreeze 0.1.28</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0.9.54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0.1.28</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9.0.3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41 of 80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Python 3.12.3, Tk 8.6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3.12.3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0.9.54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8.6.14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40 of 80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empty</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9.0.3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of 80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3108960"/>
            <a:ext cx="4023360" cy="1371600"/>
          </a:xfrm>
          <a:prstGeom prst="roundRect">
            <a:avLst>
              <a:gd name="adj" fmla="val 6667"/>
            </a:avLst>
          </a:prstGeom>
          <a:solidFill>
            <a:srgbClr val="F2ECE1"/>
          </a:solidFill>
          <a:ln w="12700">
            <a:solidFill>
              <a:srgbClr val="F2ECE1"/>
            </a:solidFill>
            <a:prstDash val="solid"/>
          </a:ln>
        </p:spPr>
      </p:sp>
      <p:sp>
        <p:nvSpPr>
          <p:cNvPr id="8" name="Text 5"/>
          <p:cNvSpPr txBox="1"/>
          <p:nvPr/>
        </p:nvSpPr>
        <p:spPr>
          <a:xfrm>
            <a:off x="640080" y="322783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13 Oct 2026</a:t>
            </a:r>
            <a:endParaRPr lang="en-US" sz="1600" dirty="0"/>
          </a:p>
        </p:txBody>
      </p:sp>
      <p:sp>
        <p:nvSpPr>
          <p:cNvPr id="9" name="Text 6"/>
          <p:cNvSpPr txBox="1"/>
          <p:nvPr/>
        </p:nvSpPr>
        <p:spPr>
          <a:xfrm>
            <a:off x="640080" y="3611880"/>
            <a:ext cx="3657600" cy="73152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One program of 27 items ran under 12 interpreter rows: 3.12.3, 3.13.14, 3.14.2 to 3.14.6, 3.15.0b4 and 3.14.6 with OpenCV ran every item; 3.14.0 and 3.14.1 raised TclError: Can't find a usable init.tcl, and 3.11.17 had no tkinter. 14 of the 27 items differed between some pair of rows.</a:t>
            </a:r>
            <a:endParaRPr lang="en-US" sz="850" dirty="0"/>
          </a:p>
        </p:txBody>
      </p:sp>
      <p:sp>
        <p:nvSpPr>
          <p:cNvPr id="10" name="Shape 7"/>
          <p:cNvSpPr/>
          <p:nvPr/>
        </p:nvSpPr>
        <p:spPr>
          <a:xfrm>
            <a:off x="4663440" y="3108960"/>
            <a:ext cx="4023360" cy="1371600"/>
          </a:xfrm>
          <a:prstGeom prst="roundRect">
            <a:avLst>
              <a:gd name="adj" fmla="val 6667"/>
            </a:avLst>
          </a:prstGeom>
          <a:solidFill>
            <a:srgbClr val="F2ECE1"/>
          </a:solidFill>
          <a:ln w="12700">
            <a:solidFill>
              <a:srgbClr val="F2ECE1"/>
            </a:solidFill>
            <a:prstDash val="solid"/>
          </a:ln>
        </p:spPr>
      </p:sp>
      <p:sp>
        <p:nvSpPr>
          <p:cNvPr id="11" name="Text 8"/>
          <p:cNvSpPr txBox="1"/>
          <p:nvPr/>
        </p:nvSpPr>
        <p:spPr>
          <a:xfrm>
            <a:off x="4846320" y="32278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2" name="Text 9"/>
          <p:cNvSpPr txBox="1"/>
          <p:nvPr/>
        </p:nvSpPr>
        <p:spPr>
          <a:xfrm>
            <a:off x="4846320" y="3611880"/>
            <a:ext cx="3657600" cy="73152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Windows, macOS, the accessibility permission, a real Wayland compositor, real or multiple monitors, HiDPI scaling, a real screen, the Sushi Go Round bot, a captcha, a real instant messenger and Python 3.15 final, which was only the beta 3.15.0b4.</a:t>
            </a:r>
            <a:endParaRPr lang="en-US" sz="8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book gives 1 to 41 matching statements, by environment.</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480767"/>
            <a:ext cx="1682496" cy="5257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script controls the mouse and keyboard through synthetic input</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Installing and sending input</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PyAutoGUI sends events through XTEST on Linux</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Wayland session does not accept them</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Window functions exist only on Windows</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Staying on track</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pause after each call is 0.1 seconds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corner of the screen raises the fail-safe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exception stops the program</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Mouse control</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origin (0, 0) is the top left corner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click() presses and releases the button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drag() holds the button down</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Screen and images</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screenshot() returns an image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locateOnScreen() returns a box</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missing image raises ImageNotFoundException</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Windows and keyboard</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write() types a string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An unknown key name is ignored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focused window receives the typing</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Scripts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confirm() returns the button clicked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Looking Busy moves the cursor by one pixel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Tk 9 breaks MouseInfo</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ControllingTheKeyboardAndMouseAtAGlance - TopicAndParts pattern, 90 of 93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Stories</a:t>
            </a:r>
            <a:endParaRPr lang="en-US" sz="11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Computer mouse (Wikipedia)  </a:t>
            </a:r>
            <a:r>
              <a:rPr lang="en-US" sz="9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en.wikipedia.org/wiki/Mouse_(computing)</a:t>
            </a:r>
            <a:endParaRPr lang="en-US" sz="90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X Window System (Wikipedia)  </a:t>
            </a:r>
            <a:r>
              <a:rPr lang="en-US" sz="9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en.wikipedia.org/wiki/X_Window_System</a:t>
            </a:r>
            <a:endParaRPr lang="en-US" sz="90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QWERTY (Wikipedia)  </a:t>
            </a:r>
            <a:r>
              <a:rPr lang="en-US" sz="9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en.wikipedia.org/wiki/QWERTY</a:t>
            </a:r>
            <a:endParaRPr lang="en-US" sz="900" dirty="0"/>
          </a:p>
        </p:txBody>
      </p:sp>
      <p:sp>
        <p:nvSpPr>
          <p:cNvPr id="13" name="Shape 11"/>
          <p:cNvSpPr/>
          <p:nvPr/>
        </p:nvSpPr>
        <p:spPr>
          <a:xfrm>
            <a:off x="493776" y="2615184"/>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54203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CAPTCHA (Wikipedia)  </a:t>
            </a:r>
            <a:r>
              <a:rPr lang="en-US" sz="9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en.wikipedia.org/wiki/CAPTCHA</a:t>
            </a:r>
            <a:endParaRPr lang="en-US" sz="900" dirty="0"/>
          </a:p>
        </p:txBody>
      </p:sp>
      <p:sp>
        <p:nvSpPr>
          <p:cNvPr id="15" name="Shape 13"/>
          <p:cNvSpPr/>
          <p:nvPr/>
        </p:nvSpPr>
        <p:spPr>
          <a:xfrm>
            <a:off x="493776" y="2944368"/>
            <a:ext cx="82296" cy="82296"/>
          </a:xfrm>
          <a:prstGeom prst="ellipse">
            <a:avLst/>
          </a:prstGeom>
          <a:solidFill>
            <a:srgbClr val="D97A14"/>
          </a:solidFill>
          <a:ln w="12700">
            <a:solidFill>
              <a:srgbClr val="D97A14"/>
            </a:solidFill>
            <a:prstDash val="solid"/>
          </a:ln>
        </p:spPr>
      </p:sp>
      <p:sp>
        <p:nvSpPr>
          <p:cNvPr id="16" name="Text 14"/>
          <p:cNvSpPr txBox="1"/>
          <p:nvPr/>
        </p:nvSpPr>
        <p:spPr>
          <a:xfrm>
            <a:off x="658368" y="287121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Dead man's switch (Wikipedia)  </a:t>
            </a:r>
            <a:r>
              <a:rPr lang="en-US" sz="9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en.wikipedia.org/wiki/Dead_man%27s_switch</a:t>
            </a:r>
            <a:endParaRPr lang="en-US" sz="900" dirty="0"/>
          </a:p>
        </p:txBody>
      </p:sp>
      <p:sp>
        <p:nvSpPr>
          <p:cNvPr id="17" name="Shape 15"/>
          <p:cNvSpPr/>
          <p:nvPr/>
        </p:nvSpPr>
        <p:spPr>
          <a:xfrm>
            <a:off x="493776" y="3273552"/>
            <a:ext cx="82296" cy="82296"/>
          </a:xfrm>
          <a:prstGeom prst="ellipse">
            <a:avLst/>
          </a:prstGeom>
          <a:solidFill>
            <a:srgbClr val="D97A14"/>
          </a:solidFill>
          <a:ln w="12700">
            <a:solidFill>
              <a:srgbClr val="D97A14"/>
            </a:solidFill>
            <a:prstDash val="solid"/>
          </a:ln>
        </p:spPr>
      </p:sp>
      <p:sp>
        <p:nvSpPr>
          <p:cNvPr id="18" name="Text 16"/>
          <p:cNvSpPr txBox="1"/>
          <p:nvPr/>
        </p:nvSpPr>
        <p:spPr>
          <a:xfrm>
            <a:off x="658368" y="320040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Cut, copy, and paste (Wikipedia)  </a:t>
            </a:r>
            <a:r>
              <a:rPr lang="en-US" sz="9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en.wikipedia.org/wiki/Cut,_copy,_and_paste</a:t>
            </a:r>
            <a:endParaRPr lang="en-US" sz="900" dirty="0"/>
          </a:p>
        </p:txBody>
      </p:sp>
      <p:sp>
        <p:nvSpPr>
          <p:cNvPr id="19" name="Text 17"/>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Read</a:t>
            </a:r>
            <a:endParaRPr lang="en-US" sz="1150" dirty="0"/>
          </a:p>
        </p:txBody>
      </p:sp>
      <p:sp>
        <p:nvSpPr>
          <p:cNvPr id="20" name="Shape 18"/>
          <p:cNvSpPr/>
          <p:nvPr/>
        </p:nvSpPr>
        <p:spPr>
          <a:xfrm>
            <a:off x="4768596" y="1627632"/>
            <a:ext cx="82296" cy="82296"/>
          </a:xfrm>
          <a:prstGeom prst="ellipse">
            <a:avLst/>
          </a:prstGeom>
          <a:solidFill>
            <a:srgbClr val="D97A14"/>
          </a:solidFill>
          <a:ln w="12700">
            <a:solidFill>
              <a:srgbClr val="D97A14"/>
            </a:solidFill>
            <a:prstDash val="solid"/>
          </a:ln>
        </p:spPr>
      </p:sp>
      <p:sp>
        <p:nvSpPr>
          <p:cNvPr id="21" name="Text 19"/>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textbook, chapter 23 - free online  </a:t>
            </a:r>
            <a:r>
              <a:rPr lang="en-US" sz="9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automatetheboringstuff.com/3e/chapter23.html</a:t>
            </a:r>
            <a:endParaRPr lang="en-US" sz="900" dirty="0"/>
          </a:p>
        </p:txBody>
      </p:sp>
      <p:sp>
        <p:nvSpPr>
          <p:cNvPr id="22" name="Shape 20"/>
          <p:cNvSpPr/>
          <p:nvPr/>
        </p:nvSpPr>
        <p:spPr>
          <a:xfrm>
            <a:off x="4768596" y="1956816"/>
            <a:ext cx="82296" cy="82296"/>
          </a:xfrm>
          <a:prstGeom prst="ellipse">
            <a:avLst/>
          </a:prstGeom>
          <a:solidFill>
            <a:srgbClr val="D97A14"/>
          </a:solidFill>
          <a:ln w="12700">
            <a:solidFill>
              <a:srgbClr val="D97A14"/>
            </a:solidFill>
            <a:prstDash val="solid"/>
          </a:ln>
        </p:spPr>
      </p:sp>
      <p:sp>
        <p:nvSpPr>
          <p:cNvPr id="23" name="Text 21"/>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installing third-party modules  </a:t>
            </a:r>
            <a:r>
              <a:rPr lang="en-US" sz="9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automatetheboringstuff.com/3e/appendixa.html</a:t>
            </a:r>
            <a:endParaRPr lang="en-US" sz="900" dirty="0"/>
          </a:p>
        </p:txBody>
      </p:sp>
      <p:sp>
        <p:nvSpPr>
          <p:cNvPr id="24" name="Shape 22"/>
          <p:cNvSpPr/>
          <p:nvPr/>
        </p:nvSpPr>
        <p:spPr>
          <a:xfrm>
            <a:off x="4768596" y="2286000"/>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Online materials of the 3rd edition (zip)  </a:t>
            </a:r>
            <a:r>
              <a:rPr lang="en-US" sz="9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nostarch.com/download/code/Automate_the_Boring_Stuff_3e_onlinematerials.zip</a:t>
            </a:r>
            <a:endParaRPr lang="en-US" sz="900" dirty="0"/>
          </a:p>
        </p:txBody>
      </p:sp>
      <p:sp>
        <p:nvSpPr>
          <p:cNvPr id="26" name="Text 24"/>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Reference</a:t>
            </a:r>
            <a:endParaRPr lang="en-US" sz="1150" dirty="0"/>
          </a:p>
        </p:txBody>
      </p:sp>
      <p:sp>
        <p:nvSpPr>
          <p:cNvPr id="27" name="Shape 25"/>
          <p:cNvSpPr/>
          <p:nvPr/>
        </p:nvSpPr>
        <p:spPr>
          <a:xfrm>
            <a:off x="4768596" y="2962656"/>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PyAutoGUI documentation  </a:t>
            </a:r>
            <a:r>
              <a:rPr lang="en-US" sz="9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pyautogui.readthedocs.io/en/latest/</a:t>
            </a:r>
            <a:endParaRPr lang="en-US" sz="900" dirty="0"/>
          </a:p>
        </p:txBody>
      </p:sp>
      <p:sp>
        <p:nvSpPr>
          <p:cNvPr id="29" name="Shape 27"/>
          <p:cNvSpPr/>
          <p:nvPr/>
        </p:nvSpPr>
        <p:spPr>
          <a:xfrm>
            <a:off x="4768596" y="329184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PyAutoGUI: mouse control functions  </a:t>
            </a:r>
            <a:r>
              <a:rPr lang="en-US" sz="9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pyautogui.readthedocs.io/en/latest/mouse.html</a:t>
            </a:r>
            <a:endParaRPr lang="en-US" sz="900" dirty="0"/>
          </a:p>
        </p:txBody>
      </p:sp>
      <p:sp>
        <p:nvSpPr>
          <p:cNvPr id="31" name="Shape 29"/>
          <p:cNvSpPr/>
          <p:nvPr/>
        </p:nvSpPr>
        <p:spPr>
          <a:xfrm>
            <a:off x="4768596" y="3621024"/>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PyAutoGUI: keyboard control functions  </a:t>
            </a:r>
            <a:r>
              <a:rPr lang="en-US" sz="9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pyautogui.readthedocs.io/en/latest/keyboard.html</a:t>
            </a:r>
            <a:endParaRPr lang="en-US" sz="900" dirty="0"/>
          </a:p>
        </p:txBody>
      </p:sp>
      <p:sp>
        <p:nvSpPr>
          <p:cNvPr id="33" name="Shape 31"/>
          <p:cNvSpPr/>
          <p:nvPr/>
        </p:nvSpPr>
        <p:spPr>
          <a:xfrm>
            <a:off x="4768596" y="3950208"/>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87705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MouseInfo documentation  </a:t>
            </a:r>
            <a:r>
              <a:rPr lang="en-US" sz="90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mouseinfo.readthedocs.io/en/latest/</a:t>
            </a:r>
            <a:endParaRPr lang="en-US" sz="9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all opened today.</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PyAutoGUI sends real input through the X server, and the window cannot tell it from a mouse.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Leave the fail-safe on; a wrong key name or a missing image fails quietly.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Pin PyAutoGUI and PyScreeze together, and test scroll units and Tk where you run.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MouseInfo needs Tk 8.6, window objects are for Windows, and nothing ran on a real screen.</a:t>
            </a:r>
            <a:endParaRPr lang="en-US" sz="1500" dirty="0"/>
          </a:p>
        </p:txBody>
      </p:sp>
      <p:sp>
        <p:nvSpPr>
          <p:cNvPr id="7" name="Shape 5"/>
          <p:cNvSpPr/>
          <p:nvPr/>
        </p:nvSpPr>
        <p:spPr>
          <a:xfrm>
            <a:off x="548640" y="3749040"/>
            <a:ext cx="1961388" cy="420624"/>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13 console rows</a:t>
            </a:r>
            <a:endParaRPr lang="en-US" sz="1000" dirty="0"/>
          </a:p>
        </p:txBody>
      </p:sp>
      <p:sp>
        <p:nvSpPr>
          <p:cNvPr id="9" name="Shape 7"/>
          <p:cNvSpPr/>
          <p:nvPr/>
        </p:nvSpPr>
        <p:spPr>
          <a:xfrm>
            <a:off x="2711196" y="3749040"/>
            <a:ext cx="1961388" cy="420624"/>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11196"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programs run</a:t>
            </a:r>
            <a:endParaRPr lang="en-US" sz="1000" dirty="0"/>
          </a:p>
        </p:txBody>
      </p:sp>
      <p:sp>
        <p:nvSpPr>
          <p:cNvPr id="11" name="Shape 9"/>
          <p:cNvSpPr/>
          <p:nvPr/>
        </p:nvSpPr>
        <p:spPr>
          <a:xfrm>
            <a:off x="4873752" y="3749040"/>
            <a:ext cx="1435608" cy="420624"/>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873752"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13" name="Shape 11"/>
          <p:cNvSpPr/>
          <p:nvPr/>
        </p:nvSpPr>
        <p:spPr>
          <a:xfrm>
            <a:off x="6510528" y="3749040"/>
            <a:ext cx="1435608" cy="420624"/>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510528"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pictures</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script to try.</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23 - Controlling the Keyboard and Mouse</dc:title>
  <dc:subject>PptxGenJS Presentation</dc:subject>
  <dc:creator>Yusuf Altunel</dc:creator>
  <cp:lastModifiedBy>Yusuf Altunel</cp:lastModifiedBy>
  <cp:revision>1</cp:revision>
  <dcterms:created xsi:type="dcterms:W3CDTF">2026-10-14T00:12:59Z</dcterms:created>
  <dcterms:modified xsi:type="dcterms:W3CDTF">2026-10-14T00:12:59Z</dcterms:modified>
  <cp:version>1.0.0</cp:version>
</cp:coreProperties>
</file>