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Chapters 1-3 wrote code that runs top to bottom; chapter 4 names blocks of it, hands them inputs, and gets values back - plus the stack, scope and error-handling that make it safe.
FULL TEXT: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from Wheeler's 1952 jump to a 3.14-only except clause - every transcript verified off this very file.
ASK: Which part do you expect to be hardest - mark it now, check at the summary.
FULL TEXT: course page, chapter 4 -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function is a named piece of code that a program can run whenever it needs that work done, from as many places as it likes. The textbook describes it as a mini program within a program (Sweigart, 2025), and the Python glossary states the same idea more formally: a series of statements which returns some value to a caller, and which can also be passed zero or more arguments that are used while its body runs (Python Software Foundation, 2026).
FULL TEXT: course page, chapter 4 -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function is a named piece of code that a program can run whenever it needs that work done, from as many places as it likes. The textbook describes it as a mini program within a program (Sweigart, 2025), and the Python glossary states the same idea more formally: a series of statements which returns some value to a caller, and which can also be passed zero or more arguments that are used while its body runs (Python Software Foundation, 2026).
FULL TEXT: course page, chapter 4 - Function,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function is a named piece of code that a program can run whenever it needs that work done, from as many places as it likes. The textbook describes it as a mini program within a program (Sweigart, 2025), and the Python glossary states the same idea more formally: a series of statements which returns some value to a caller, and which can also be passed zero or more arguments that are used while its body runs (Python Software Foundation, 2026).
FULL TEXT: course page, chapter 4 -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function is a named piece of code that a program can run whenever it needs that work done, from as many places as it likes. The textbook describes it as a mini program within a program (Sweigart, 2025), and the Python glossary states the same idea more formally: a series of statements which returns some value to a caller, and which can also be passed zero or more arguments that are used while its body runs (Python Software Foundation, 2026).
ASK: What does print(print('hi')) show, and why two lines?
FULL TEXT: course page, chapter 4 - Function,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function is a named piece of code that a program can run whenever it needs that work done, from as many places as it likes. The textbook describes it as a mini program within a program (Sweigart, 2025), and the Python glossary states the same idea more formally: a series of statements which returns some value to a caller, and which can also be passed zero or more arguments that are used while its body runs (Python Software Foundation, 2026).
ASK: Rewrite print('a','b',sep='-') with positional-only thinking - why does it refuse?
FULL TEXT: course page, chapter 4 -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function is a named piece of code that a program can run whenever it needs that work done, from as many places as it likes. The textbook describes it as a mini program within a program (Sweigart, 2025), and the Python glossary states the same idea more formally: a series of statements which returns some value to a caller, and which can also be passed zero or more arguments that are used while its body runs (Python Software Foundation, 2026).
ASK: Why does the SAME list come back - where does it live between calls?
FULL TEXT: course page, chapter 4 - Function,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frame is the record that Python keeps for one running function call, and the call stack is the pile of such records that exist at a given moment. The language reference explains that a code block is executed in an execution frame, which contains some administrative information and determines where and how execution continues after the block's execution has completed (Python Software Foundation, 2026).
FULL TEXT: course page, chapter 4 -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(1952): On EDSAC, one of the first stored-program computers, David Wheeler worked out how a program could jump into a reusable block of code and - the hard part - find its way back to wherever it came from. His 'closed subroutine' and the jump-and-return it needed (long called the Wheeler jump) are the ancestor of every def on these slides, and the call stack the chapter draws is the modern descendant of his return-address bookkeeping.
SOURCE: David Wheeler's closed-subroutine work on EDSAC, Cambridge, published 1952 through the ACM ('The use of sub-routines in programmes'); the return linkage is historically known as the Wheeler jump. Photo: EDSAC, Computer Laboratory, University of Cambridge,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frame is the record that Python keeps for one running function call, and the call stack is the pile of such records that exist at a given moment. The language reference explains that a code block is executed in an execution frame, which contains some administrative information and determines where and how execution continues after the block's execution has completed (Python Software Foundation, 2026).
ASK: Read the frame list aloud bottom-up - whose return comes first?
FULL TEXT: course page, chapter 4 -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frame is the record that Python keeps for one running function call, and the call stack is the pile of such records that exist at a given moment. The language reference explains that a code block is executed in an execution frame, which contains some administrative information and determines where and how execution continues after the block's execution has completed (Python Software Foundation, 2026).
ASK: What is THIS function's missing base case - add it in one line.
FULL TEXT: course page, chapter 4 -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scope is the part of a program in which a name can be used, and the scope of a variable decides which variable a name refers to. The textbook asks the reader to think of a scope as a container for variables (Sweigart, 2025), and the language reference defines it as what determines the visibility of a name within a block (Python Software Foundation, 2026).
ASK: Trace print number three: which scope answers, and why not the inner one?
FULL TEXT: course page, chapter 4 -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scope is the part of a program in which a name can be used, and the scope of a variable decides which variable a name refers to. The textbook asks the reader to think of a scope as a container for variables (Sweigart, 2025), and the language reference defines it as what determines the visibility of a name within a block (Python Software Foundation, 2026).
ASK: Fix it two ways: rename, or declare - which would PEP 8 prefer here?
FULL TEXT: course page, chapter 4 -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scope is the part of a program in which a name can be used, and the scope of a variable decides which variable a name refers to. The textbook asks the reader to think of a scope as a container for variables (Sweigart, 2025), and the language reference defines it as what determines the visibility of a name within a block (Python Software Foundation, 2026).
ASK: Which of the two would a five-function module regret first, and why?
FULL TEXT: course page, chapter 4 -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Error handling is the part of a program that decides what happens when something goes wrong. In Python an error that stops a statement is called an exception, and the language has two statements for dealing with it: try marks the code that might fail, and except says what to do when it does.
FULL TEXT: course page, chapter 4 - ErrorHandling.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Error handling is the part of a program that decides what happens when something goes wrong. In Python an error that stops a statement is called an exception, and the language has two statements for dealing with it: try marks the code that might fail, and except says what to do when it does.
ASK: Which placement hides the None surprise from slide 6's chips?
FULL TEXT: course page, chapter 4 - ErrorHandling.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(Python 3.14, 2025): For decades, catching two exception types required parentheses: except (ValueError, TypeError). PEP 758 let the parentheses go, and Python 3.14 ships it. This deck does not take the release notes' word for it: the chapter program with the bare except clause was EXECUTED under Python 3.14 during this build, and its transcript on the slide is what that interpreter printed. On 3.13 the same file is a SyntaxError - version truth, demonstrated.
SOURCE: PEP 758 ('Allow except and except* expressions without parentheses'), accepted for Python 3.14 (peps.python.org/pep-0758); the chapter program except758_v1_0_0.py runs clean under the build's 3.14.6 and raises SyntaxError under 3.13 - both observed during this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collects the programs that the chapter uses to put its ideas to work. Two of them are short animation programs, zigzag and spike, which print lines of characters until the user stops them.
FULL TEXT: course page, chapter 4 -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(posed 1937; still open): Take any positive integer: halve it if even, triple-and-add-one if odd, repeat. Lothar Collatz conjectured in 1937 that you always reach 1. Nobody has proved it; Paul Erdos said mathematics is not yet ripe for such questions and offered 500 dollars for a proof. The chapter's collatz program is this exact rule as a function - your homework walks a problem that has outlasted every mathematician since.
SOURCE: The Collatz conjecture, posed 1937, open to this day; Erdos's remark and 500-dollar offer are standard in its literature - summarized with references at en.wikipedia.org/wiki/Collatz_conjecture. The chapter program collatz_v1_0_0.py implements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collects the programs that the chapter uses to put its ideas to work. Two of them are short animation programs, zigzag and spike, which print lines of characters until the user stops them.
ASK: Move the while into the caller - what gets duplicated at every call site?
FULL TEXT: course page, chapter 4 -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collects the programs that the chapter uses to put its ideas to work. Two of them are short animation programs, zigzag and spike, which print lines of characters until the user stops them.
ASK: Which line would a type checker flag here that Python itself never will?
FULL TEXT: course page, chapter 4 - Programs,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4 -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link is a source the chapter corpus cites and checked - plus the two stories' own trails. Homework: give collatz a base-case twin that RETURNS the step count.
ASK: Who can explain the Wheeler jump with two bookmarks and a book?
FULL TEXT: course page, chapter 4 -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a transcript you watched print - one of them only possible on 3.14. Next week: debugging - when the transcript surprises you.
FULL TEXT: course page,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David_Wheeler_(computer_scientist)" TargetMode="External"/><Relationship Id="rId1" Type="http://schemas.openxmlformats.org/officeDocument/2006/relationships/image" Target="../media/image-10-1.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peps.python.org/pep-0758/"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en.wikipedia.org/wiki/Collatz_conjecture"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automatetheboringstuff.com/3e/chapter4.html" TargetMode="External"/><Relationship Id="rId2" Type="http://schemas.openxmlformats.org/officeDocument/2006/relationships/hyperlink" Target="https://docs.python.org/3/tutorial/controlflow.html" TargetMode="External"/><Relationship Id="rId3" Type="http://schemas.openxmlformats.org/officeDocument/2006/relationships/hyperlink" Target="https://docs.python.org/3/reference/compound_stmts.html" TargetMode="External"/><Relationship Id="rId4" Type="http://schemas.openxmlformats.org/officeDocument/2006/relationships/hyperlink" Target="https://docs.python.org/3/library/functions.html" TargetMode="External"/><Relationship Id="rId5" Type="http://schemas.openxmlformats.org/officeDocument/2006/relationships/hyperlink" Target="https://peps.python.org/pep-0758/" TargetMode="External"/><Relationship Id="rId6" Type="http://schemas.openxmlformats.org/officeDocument/2006/relationships/hyperlink" Target="https://docs.python.org/3/tutorial/controlflow.html" TargetMode="External"/><Relationship Id="rId7" Type="http://schemas.openxmlformats.org/officeDocument/2006/relationships/hyperlink" Target="https://en.wikipedia.org/wiki/David_Wheeler_(computer_scientist)" TargetMode="External"/><Relationship Id="rId8" Type="http://schemas.openxmlformats.org/officeDocument/2006/relationships/hyperlink" Target="https://en.wikipedia.org/wiki/Collatz_conjecture" TargetMode="External"/><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4: Functions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Named blocks, honest returns - and the stack that keeps the way back</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1188720"/>
            <a:ext cx="3200400" cy="1554480"/>
          </a:xfrm>
          <a:prstGeom prst="roundRect">
            <a:avLst>
              <a:gd name="adj" fmla="val 5882"/>
            </a:avLst>
          </a:prstGeom>
          <a:solidFill>
            <a:srgbClr val="23272E"/>
          </a:solidFill>
          <a:ln w="12700">
            <a:solidFill>
              <a:srgbClr val="23272E"/>
            </a:solidFill>
            <a:prstDash val="solid"/>
          </a:ln>
        </p:spPr>
      </p:sp>
      <p:sp>
        <p:nvSpPr>
          <p:cNvPr id="12" name="Text 10"/>
          <p:cNvSpPr txBox="1"/>
          <p:nvPr/>
        </p:nvSpPr>
        <p:spPr>
          <a:xfrm>
            <a:off x="5669280" y="1307592"/>
            <a:ext cx="2834640" cy="1316736"/>
          </a:xfrm>
          <a:prstGeom prst="rect">
            <a:avLst/>
          </a:prstGeom>
          <a:noFill/>
          <a:ln/>
        </p:spPr>
        <p:txBody>
          <a:bodyPr wrap="square" lIns="0" tIns="0" rIns="0" bIns="0" rtlCol="0" anchor="t"/>
          <a:lstStyle/>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def twice(n): return 2 * n</a:t>
            </a:r>
            <a:endParaRPr lang="en-US" sz="1200" dirty="0"/>
          </a:p>
          <a:p>
            <a:pPr indent="0" marL="0">
              <a:buNone/>
            </a:pPr>
            <a:r>
              <a:rPr lang="en-US" sz="1200" b="1" dirty="0">
                <a:solidFill>
                  <a:srgbClr val="D97A14"/>
                </a:solidFill>
                <a:latin typeface="Courier New" pitchFamily="34" charset="0"/>
                <a:ea typeface="Courier New" pitchFamily="34" charset="-122"/>
                <a:cs typeface="Courier New" pitchFamily="34" charset="-120"/>
              </a:rPr>
              <a:t>&gt;&gt;&gt; </a:t>
            </a:r>
            <a:pPr indent="0" marL="0">
              <a:buNone/>
            </a:pPr>
            <a:r>
              <a:rPr lang="en-US" sz="1200" dirty="0">
                <a:solidFill>
                  <a:srgbClr val="E6EDF3"/>
                </a:solidFill>
                <a:latin typeface="Courier New" pitchFamily="34" charset="0"/>
                <a:ea typeface="Courier New" pitchFamily="34" charset="-122"/>
                <a:cs typeface="Courier New" pitchFamily="34" charset="-120"/>
              </a:rPr>
              <a:t>twice(21)</a:t>
            </a:r>
            <a:endParaRPr lang="en-US" sz="1200" dirty="0"/>
          </a:p>
          <a:p>
            <a:pPr indent="0" marL="0">
              <a:buNone/>
            </a:pPr>
            <a:r>
              <a:rPr lang="en-US" sz="1200" dirty="0">
                <a:solidFill>
                  <a:srgbClr val="7EE787"/>
                </a:solidFill>
                <a:latin typeface="Courier New" pitchFamily="34" charset="0"/>
                <a:ea typeface="Courier New" pitchFamily="34" charset="-122"/>
                <a:cs typeface="Courier New" pitchFamily="34" charset="-120"/>
              </a:rPr>
              <a:t>42</a:t>
            </a:r>
            <a:endParaRPr lang="en-US" sz="1200" dirty="0"/>
          </a:p>
        </p:txBody>
      </p:sp>
      <p:sp>
        <p:nvSpPr>
          <p:cNvPr id="13" name="Text 11"/>
          <p:cNvSpPr txBox="1"/>
          <p:nvPr/>
        </p:nvSpPr>
        <p:spPr>
          <a:xfrm>
            <a:off x="5486400" y="276148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Defining and calling - def, parameters, returns  (slides 5-8)</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Frames and scope - the stack, global, nonlocal  (slides 9-15)</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Errors, handled - try placement and PEP 758  (slides 16-18)</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Working programs, summary, and resources  (slides 19-25)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25</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whole programs, run live</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every transcript printed under 3.14.6</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constructs define, call and leave a function, and what decides which variable a name refers to?</a:t>
            </a:r>
            <a:endParaRPr lang="en-US" sz="13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and concepts of the chapter differ in current Python, and on what source?</a:t>
            </a:r>
            <a:endParaRPr lang="en-US" sz="13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terms and tools does the chapter use without explaining them, and where is each one explained?</a:t>
            </a:r>
            <a:endParaRPr lang="en-US" sz="1300" dirty="0"/>
          </a:p>
        </p:txBody>
      </p:sp>
      <p:sp>
        <p:nvSpPr>
          <p:cNvPr id="15" name="Shape 13"/>
          <p:cNvSpPr/>
          <p:nvPr/>
        </p:nvSpPr>
        <p:spPr>
          <a:xfrm>
            <a:off x="457200" y="3931920"/>
            <a:ext cx="4064508"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3931920"/>
            <a:ext cx="406450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recorded under Python 3.14.6</a:t>
            </a:r>
            <a:endParaRPr lang="en-US" sz="1250" dirty="0"/>
          </a:p>
        </p:txBody>
      </p:sp>
      <p:sp>
        <p:nvSpPr>
          <p:cNvPr id="17" name="Shape 15"/>
          <p:cNvSpPr/>
          <p:nvPr/>
        </p:nvSpPr>
        <p:spPr>
          <a:xfrm>
            <a:off x="457200" y="4517136"/>
            <a:ext cx="4458843"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4517136"/>
            <a:ext cx="445884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whole programs with transcripts</a:t>
            </a:r>
            <a:endParaRPr lang="en-US" sz="1250" dirty="0"/>
          </a:p>
        </p:txBody>
      </p:sp>
      <p:sp>
        <p:nvSpPr>
          <p:cNvPr id="19" name="Shape 17"/>
          <p:cNvSpPr/>
          <p:nvPr/>
        </p:nvSpPr>
        <p:spPr>
          <a:xfrm>
            <a:off x="5117211" y="4517136"/>
            <a:ext cx="3275838"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5117211" y="4517136"/>
            <a:ext cx="327583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errors are answers too</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4 is yours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seven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Seven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D97A14"/>
          </a:solidFill>
          <a:ln w="12700">
            <a:solidFill>
              <a:srgbClr val="D97A14"/>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Function</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17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Result</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Frames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Scope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16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Error Handling</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Programs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9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Modern Practice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branches - every slide today lives on this map</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Defining and calling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def, arguments, and what comes back</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def and call</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Parameters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return</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Defaults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def, call, return - the whole loop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programs, every basic in play</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define once, call twice - then once more</a:t>
            </a:r>
            <a:endParaRPr lang="en-US" sz="1150" dirty="0"/>
          </a:p>
        </p:txBody>
      </p:sp>
      <p:sp>
        <p:nvSpPr>
          <p:cNvPr id="7" name="Shape 5"/>
          <p:cNvSpPr/>
          <p:nvPr/>
        </p:nvSpPr>
        <p:spPr>
          <a:xfrm>
            <a:off x="457200" y="1417320"/>
            <a:ext cx="3931920" cy="2240280"/>
          </a:xfrm>
          <a:prstGeom prst="roundRect">
            <a:avLst>
              <a:gd name="adj" fmla="val 4082"/>
            </a:avLst>
          </a:prstGeom>
          <a:solidFill>
            <a:srgbClr val="23272E"/>
          </a:solidFill>
          <a:ln w="12700">
            <a:solidFill>
              <a:srgbClr val="23272E"/>
            </a:solidFill>
            <a:prstDash val="solid"/>
          </a:ln>
        </p:spPr>
      </p:sp>
      <p:sp>
        <p:nvSpPr>
          <p:cNvPr id="8" name="Text 6"/>
          <p:cNvSpPr txBox="1"/>
          <p:nvPr/>
        </p:nvSpPr>
        <p:spPr>
          <a:xfrm>
            <a:off x="640080" y="1536192"/>
            <a:ext cx="3566160" cy="200253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hello():</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'Good morning!'</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'Good evening!'</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hello()</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a:t>
            </a:r>
            <a:pPr indent="0" marL="0">
              <a:buNone/>
            </a:pPr>
            <a:r>
              <a:rPr lang="en-US" sz="900" dirty="0">
                <a:solidFill>
                  <a:srgbClr val="9ECBFF"/>
                </a:solidFill>
                <a:latin typeface="Courier New" pitchFamily="34" charset="0"/>
                <a:ea typeface="Courier New" pitchFamily="34" charset="-122"/>
                <a:cs typeface="Courier New" pitchFamily="34" charset="-120"/>
              </a:rPr>
              <a:t>'ONE MORE TIME!'</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hello()</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Good morning!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Good evening!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ONE MORE TIME!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Good morning!</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Good evening!</a:t>
            </a:r>
            <a:endParaRPr lang="en-US" sz="900" dirty="0"/>
          </a:p>
        </p:txBody>
      </p:sp>
      <p:sp>
        <p:nvSpPr>
          <p:cNvPr id="9" name="Text 7"/>
          <p:cNvSpPr txBox="1"/>
          <p:nvPr/>
        </p:nvSpPr>
        <p:spPr>
          <a:xfrm>
            <a:off x="640080" y="3383280"/>
            <a:ext cx="356616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hello_v1_0_0.py, lines 1 to 6 of 6, run under Python 3.14.6</a:t>
            </a:r>
            <a:endParaRPr lang="en-US" sz="75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return hands back a VALUE, any type</a:t>
            </a:r>
            <a:endParaRPr lang="en-US" sz="1150" dirty="0"/>
          </a:p>
        </p:txBody>
      </p:sp>
      <p:sp>
        <p:nvSpPr>
          <p:cNvPr id="11" name="Shape 9"/>
          <p:cNvSpPr/>
          <p:nvPr/>
        </p:nvSpPr>
        <p:spPr>
          <a:xfrm>
            <a:off x="4663440" y="1417320"/>
            <a:ext cx="4023360" cy="2103120"/>
          </a:xfrm>
          <a:prstGeom prst="roundRect">
            <a:avLst>
              <a:gd name="adj" fmla="val 4348"/>
            </a:avLst>
          </a:prstGeom>
          <a:solidFill>
            <a:srgbClr val="23272E"/>
          </a:solidFill>
          <a:ln w="12700">
            <a:solidFill>
              <a:srgbClr val="23272E"/>
            </a:solidFill>
            <a:prstDash val="solid"/>
          </a:ln>
        </p:spPr>
      </p:sp>
      <p:sp>
        <p:nvSpPr>
          <p:cNvPr id="12" name="Text 10"/>
          <p:cNvSpPr txBox="1"/>
          <p:nvPr/>
        </p:nvSpPr>
        <p:spPr>
          <a:xfrm>
            <a:off x="4846320" y="1536192"/>
            <a:ext cx="3657600" cy="186537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area(width, height):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return</a:t>
            </a:r>
            <a:pPr indent="0" marL="0">
              <a:buNone/>
            </a:pPr>
            <a:r>
              <a:rPr lang="en-US" sz="900" dirty="0">
                <a:solidFill>
                  <a:srgbClr val="E6EDF3"/>
                </a:solidFill>
                <a:latin typeface="Courier New" pitchFamily="34" charset="0"/>
                <a:ea typeface="Courier New" pitchFamily="34" charset="-122"/>
                <a:cs typeface="Courier New" pitchFamily="34" charset="-120"/>
              </a:rPr>
              <a:t> width * height</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shout(text):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print(text.upper())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print(area(</a:t>
            </a:r>
            <a:pPr indent="0" marL="0">
              <a:buNone/>
            </a:pPr>
            <a:r>
              <a:rPr lang="en-US" sz="900" dirty="0">
                <a:solidFill>
                  <a:srgbClr val="FFD28A"/>
                </a:solidFill>
                <a:latin typeface="Courier New" pitchFamily="34" charset="0"/>
                <a:ea typeface="Courier New" pitchFamily="34" charset="-122"/>
                <a:cs typeface="Courier New" pitchFamily="34" charset="-120"/>
              </a:rPr>
              <a:t>3</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4</a:t>
            </a:r>
            <a:pPr indent="0" marL="0">
              <a:buNone/>
            </a:pPr>
            <a:r>
              <a:rPr lang="en-US" sz="900" dirty="0">
                <a:solidFill>
                  <a:srgbClr val="E6EDF3"/>
                </a:solidFill>
                <a:latin typeface="Courier New" pitchFamily="34" charset="0"/>
                <a:ea typeface="Courier New" pitchFamily="34" charset="-122"/>
                <a:cs typeface="Courier New" pitchFamily="34" charset="-120"/>
              </a:rPr>
              <a:t>) + area(</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2</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shout(</a:t>
            </a:r>
            <a:pPr indent="0" marL="0">
              <a:buNone/>
            </a:pPr>
            <a:r>
              <a:rPr lang="en-US" sz="900" dirty="0">
                <a:solidFill>
                  <a:srgbClr val="9ECBFF"/>
                </a:solidFill>
                <a:latin typeface="Courier New" pitchFamily="34" charset="0"/>
                <a:ea typeface="Courier New" pitchFamily="34" charset="-122"/>
                <a:cs typeface="Courier New" pitchFamily="34" charset="-120"/>
              </a:rPr>
              <a:t>'hi'</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print(result is </a:t>
            </a:r>
            <a:pPr indent="0" marL="0">
              <a:buNone/>
            </a:pPr>
            <a:r>
              <a:rPr lang="en-US" sz="900" b="1" dirty="0">
                <a:solidFill>
                  <a:srgbClr val="F2A860"/>
                </a:solidFill>
                <a:latin typeface="Courier New" pitchFamily="34" charset="0"/>
                <a:ea typeface="Courier New" pitchFamily="34" charset="-122"/>
                <a:cs typeface="Courier New" pitchFamily="34" charset="-120"/>
              </a:rPr>
              <a:t>None</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14</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HI</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3" name="Text 11"/>
          <p:cNvSpPr txBox="1"/>
          <p:nvPr/>
        </p:nvSpPr>
        <p:spPr>
          <a:xfrm>
            <a:off x="4846320" y="3246120"/>
            <a:ext cx="36576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returns_v1_0_0.py, lines 1 to 7 of 7, run under Python 3.14.6</a:t>
            </a:r>
            <a:endParaRPr lang="en-US" sz="750" dirty="0"/>
          </a:p>
        </p:txBody>
      </p:sp>
      <p:sp>
        <p:nvSpPr>
          <p:cNvPr id="14" name="Shape 12"/>
          <p:cNvSpPr/>
          <p:nvPr/>
        </p:nvSpPr>
        <p:spPr>
          <a:xfrm>
            <a:off x="457200" y="3886200"/>
            <a:ext cx="252923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886200"/>
            <a:ext cx="252923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def names a block</a:t>
            </a:r>
            <a:endParaRPr lang="en-US" sz="1200" dirty="0"/>
          </a:p>
        </p:txBody>
      </p:sp>
      <p:sp>
        <p:nvSpPr>
          <p:cNvPr id="16" name="Shape 14"/>
          <p:cNvSpPr/>
          <p:nvPr/>
        </p:nvSpPr>
        <p:spPr>
          <a:xfrm>
            <a:off x="3187598" y="3886200"/>
            <a:ext cx="164592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187598" y="388620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 runs it</a:t>
            </a:r>
            <a:endParaRPr lang="en-US" sz="1200" dirty="0"/>
          </a:p>
        </p:txBody>
      </p:sp>
      <p:sp>
        <p:nvSpPr>
          <p:cNvPr id="18" name="Shape 16"/>
          <p:cNvSpPr/>
          <p:nvPr/>
        </p:nvSpPr>
        <p:spPr>
          <a:xfrm>
            <a:off x="457200" y="4471416"/>
            <a:ext cx="3791102"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471416"/>
            <a:ext cx="3791102"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return ends it with a value</a:t>
            </a:r>
            <a:endParaRPr lang="en-US" sz="1200" dirty="0"/>
          </a:p>
        </p:txBody>
      </p:sp>
      <p:sp>
        <p:nvSpPr>
          <p:cNvPr id="20" name="Shape 18"/>
          <p:cNvSpPr/>
          <p:nvPr/>
        </p:nvSpPr>
        <p:spPr>
          <a:xfrm>
            <a:off x="4449470" y="4471416"/>
            <a:ext cx="290779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449470" y="4471416"/>
            <a:ext cx="2907792"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no return means None</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function is a named block with a way back</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Parameters: positional, named, defaults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Call sites that read like sentences</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positional order, then names at the call</a:t>
            </a:r>
            <a:endParaRPr lang="en-US" sz="1150" dirty="0"/>
          </a:p>
        </p:txBody>
      </p:sp>
      <p:sp>
        <p:nvSpPr>
          <p:cNvPr id="7" name="Shape 5"/>
          <p:cNvSpPr/>
          <p:nvPr/>
        </p:nvSpPr>
        <p:spPr>
          <a:xfrm>
            <a:off x="457200" y="1417320"/>
            <a:ext cx="3931920" cy="2286000"/>
          </a:xfrm>
          <a:prstGeom prst="roundRect">
            <a:avLst>
              <a:gd name="adj" fmla="val 4000"/>
            </a:avLst>
          </a:prstGeom>
          <a:solidFill>
            <a:srgbClr val="23272E"/>
          </a:solidFill>
          <a:ln w="12700">
            <a:solidFill>
              <a:srgbClr val="23272E"/>
            </a:solidFill>
            <a:prstDash val="solid"/>
          </a:ln>
        </p:spPr>
      </p:sp>
      <p:sp>
        <p:nvSpPr>
          <p:cNvPr id="8" name="Text 6"/>
          <p:cNvSpPr txBox="1"/>
          <p:nvPr/>
        </p:nvSpPr>
        <p:spPr>
          <a:xfrm>
            <a:off x="640080" y="1536192"/>
            <a:ext cx="3566160" cy="204825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say_hello_to(name):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a:t>
            </a:r>
            <a:pPr indent="0" marL="0">
              <a:buNone/>
            </a:pPr>
            <a:r>
              <a:rPr lang="en-US" sz="900" dirty="0">
                <a:solidFill>
                  <a:srgbClr val="9ECBFF"/>
                </a:solidFill>
                <a:latin typeface="Courier New" pitchFamily="34" charset="0"/>
                <a:ea typeface="Courier New" pitchFamily="34" charset="-122"/>
                <a:cs typeface="Courier New" pitchFamily="34" charset="-120"/>
              </a:rPr>
              <a:t>'Good morning, '</a:t>
            </a:r>
            <a:pPr indent="0" marL="0">
              <a:buNone/>
            </a:pPr>
            <a:r>
              <a:rPr lang="en-US" sz="900" dirty="0">
                <a:solidFill>
                  <a:srgbClr val="E6EDF3"/>
                </a:solidFill>
                <a:latin typeface="Courier New" pitchFamily="34" charset="0"/>
                <a:ea typeface="Courier New" pitchFamily="34" charset="-122"/>
                <a:cs typeface="Courier New" pitchFamily="34" charset="-120"/>
              </a:rPr>
              <a:t> + name)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say_hello_to(</a:t>
            </a:r>
            <a:pPr indent="0" marL="0">
              <a:buNone/>
            </a:pPr>
            <a:r>
              <a:rPr lang="en-US" sz="900" dirty="0">
                <a:solidFill>
                  <a:srgbClr val="9ECBFF"/>
                </a:solidFill>
                <a:latin typeface="Courier New" pitchFamily="34" charset="0"/>
                <a:ea typeface="Courier New" pitchFamily="34" charset="-122"/>
                <a:cs typeface="Courier New" pitchFamily="34" charset="-120"/>
              </a:rPr>
              <a:t>'Alice'</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say_hello_to(</a:t>
            </a:r>
            <a:pPr indent="0" marL="0">
              <a:buNone/>
            </a:pPr>
            <a:r>
              <a:rPr lang="en-US" sz="900" dirty="0">
                <a:solidFill>
                  <a:srgbClr val="9ECBFF"/>
                </a:solidFill>
                <a:latin typeface="Courier New" pitchFamily="34" charset="0"/>
                <a:ea typeface="Courier New" pitchFamily="34" charset="-122"/>
                <a:cs typeface="Courier New" pitchFamily="34" charset="-120"/>
              </a:rPr>
              <a:t>'Bob'</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try: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print(name)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except NameError as error: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print(error)</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Good morning, Alice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Good morning, Bob</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name 'name' is not defined</a:t>
            </a:r>
            <a:endParaRPr lang="en-US" sz="900" dirty="0"/>
          </a:p>
        </p:txBody>
      </p:sp>
      <p:sp>
        <p:nvSpPr>
          <p:cNvPr id="9" name="Text 7"/>
          <p:cNvSpPr txBox="1"/>
          <p:nvPr/>
        </p:nvSpPr>
        <p:spPr>
          <a:xfrm>
            <a:off x="640080" y="3429000"/>
            <a:ext cx="356616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params_v1_0_0.py, lines 1 to 8 of 8, run under Python 3.14.6</a:t>
            </a:r>
            <a:endParaRPr lang="en-US" sz="75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sep and end: named arguments you already met</a:t>
            </a:r>
            <a:endParaRPr lang="en-US" sz="1150" dirty="0"/>
          </a:p>
        </p:txBody>
      </p:sp>
      <p:sp>
        <p:nvSpPr>
          <p:cNvPr id="11" name="Shape 9"/>
          <p:cNvSpPr/>
          <p:nvPr/>
        </p:nvSpPr>
        <p:spPr>
          <a:xfrm>
            <a:off x="4663440" y="1417320"/>
            <a:ext cx="4023360" cy="1371600"/>
          </a:xfrm>
          <a:prstGeom prst="roundRect">
            <a:avLst>
              <a:gd name="adj" fmla="val 6667"/>
            </a:avLst>
          </a:prstGeom>
          <a:solidFill>
            <a:srgbClr val="23272E"/>
          </a:solidFill>
          <a:ln w="12700">
            <a:solidFill>
              <a:srgbClr val="23272E"/>
            </a:solidFill>
            <a:prstDash val="solid"/>
          </a:ln>
        </p:spPr>
      </p:sp>
      <p:sp>
        <p:nvSpPr>
          <p:cNvPr id="12" name="Text 10"/>
          <p:cNvSpPr txBox="1"/>
          <p:nvPr/>
        </p:nvSpPr>
        <p:spPr>
          <a:xfrm>
            <a:off x="4846320" y="1536192"/>
            <a:ext cx="3657600" cy="1133856"/>
          </a:xfrm>
          <a:prstGeom prst="rect">
            <a:avLst/>
          </a:prstGeom>
          <a:noFill/>
          <a:ln/>
        </p:spPr>
        <p:txBody>
          <a:bodyPr wrap="square" lIns="0" tIns="0" rIns="0" bIns="0" rtlCol="0" anchor="t"/>
          <a:lstStyle/>
          <a:p>
            <a:pPr indent="0" marL="0">
              <a:buNone/>
            </a:pPr>
            <a:r>
              <a:rPr lang="en-US" sz="900" dirty="0">
                <a:solidFill>
                  <a:srgbClr val="E6EDF3"/>
                </a:solidFill>
                <a:latin typeface="Courier New" pitchFamily="34" charset="0"/>
                <a:ea typeface="Courier New" pitchFamily="34" charset="-122"/>
                <a:cs typeface="Courier New" pitchFamily="34" charset="-120"/>
              </a:rPr>
              <a:t>print(</a:t>
            </a:r>
            <a:pPr indent="0" marL="0">
              <a:buNone/>
            </a:pPr>
            <a:r>
              <a:rPr lang="en-US" sz="900" dirty="0">
                <a:solidFill>
                  <a:srgbClr val="9ECBFF"/>
                </a:solidFill>
                <a:latin typeface="Courier New" pitchFamily="34" charset="0"/>
                <a:ea typeface="Courier New" pitchFamily="34" charset="-122"/>
                <a:cs typeface="Courier New" pitchFamily="34" charset="-120"/>
              </a:rPr>
              <a:t>'Hello'</a:t>
            </a:r>
            <a:pPr indent="0" marL="0">
              <a:buNone/>
            </a:pPr>
            <a:r>
              <a:rPr lang="en-US" sz="900" dirty="0">
                <a:solidFill>
                  <a:srgbClr val="E6EDF3"/>
                </a:solidFill>
                <a:latin typeface="Courier New" pitchFamily="34" charset="0"/>
                <a:ea typeface="Courier New" pitchFamily="34" charset="-122"/>
                <a:cs typeface="Courier New" pitchFamily="34" charset="-120"/>
              </a:rPr>
              <a:t>, end=</a:t>
            </a:r>
            <a:pPr indent="0" marL="0">
              <a:buNone/>
            </a:pPr>
            <a:r>
              <a:rPr lang="en-US" sz="900" dirty="0">
                <a:solidFill>
                  <a:srgbClr val="9ECBFF"/>
                </a:solidFill>
                <a:latin typeface="Courier New" pitchFamily="34" charset="0"/>
                <a:ea typeface="Courier New" pitchFamily="34" charset="-122"/>
                <a:cs typeface="Courier New" pitchFamily="34" charset="-120"/>
              </a:rPr>
              <a:t>''</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a:t>
            </a:r>
            <a:pPr indent="0" marL="0">
              <a:buNone/>
            </a:pPr>
            <a:r>
              <a:rPr lang="en-US" sz="900" dirty="0">
                <a:solidFill>
                  <a:srgbClr val="9ECBFF"/>
                </a:solidFill>
                <a:latin typeface="Courier New" pitchFamily="34" charset="0"/>
                <a:ea typeface="Courier New" pitchFamily="34" charset="-122"/>
                <a:cs typeface="Courier New" pitchFamily="34" charset="-120"/>
              </a:rPr>
              <a:t>'World'</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a:t>
            </a:r>
            <a:pPr indent="0" marL="0">
              <a:buNone/>
            </a:pPr>
            <a:r>
              <a:rPr lang="en-US" sz="900" dirty="0">
                <a:solidFill>
                  <a:srgbClr val="9ECBFF"/>
                </a:solidFill>
                <a:latin typeface="Courier New" pitchFamily="34" charset="0"/>
                <a:ea typeface="Courier New" pitchFamily="34" charset="-122"/>
                <a:cs typeface="Courier New" pitchFamily="34" charset="-120"/>
              </a:rPr>
              <a:t>'cats'</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9ECBFF"/>
                </a:solidFill>
                <a:latin typeface="Courier New" pitchFamily="34" charset="0"/>
                <a:ea typeface="Courier New" pitchFamily="34" charset="-122"/>
                <a:cs typeface="Courier New" pitchFamily="34" charset="-120"/>
              </a:rPr>
              <a:t>'dogs'</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9ECBFF"/>
                </a:solidFill>
                <a:latin typeface="Courier New" pitchFamily="34" charset="0"/>
                <a:ea typeface="Courier New" pitchFamily="34" charset="-122"/>
                <a:cs typeface="Courier New" pitchFamily="34" charset="-120"/>
              </a:rPr>
              <a:t>'mice'</a:t>
            </a:r>
            <a:pPr indent="0" marL="0">
              <a:buNone/>
            </a:pPr>
            <a:r>
              <a:rPr lang="en-US" sz="900" dirty="0">
                <a:solidFill>
                  <a:srgbClr val="E6EDF3"/>
                </a:solidFill>
                <a:latin typeface="Courier New" pitchFamily="34" charset="0"/>
                <a:ea typeface="Courier New" pitchFamily="34" charset="-122"/>
                <a:cs typeface="Courier New" pitchFamily="34" charset="-120"/>
              </a:rPr>
              <a:t>, sep=</a:t>
            </a:r>
            <a:pPr indent="0" marL="0">
              <a:buNone/>
            </a:pPr>
            <a:r>
              <a:rPr lang="en-US" sz="900" dirty="0">
                <a:solidFill>
                  <a:srgbClr val="9ECBFF"/>
                </a:solidFill>
                <a:latin typeface="Courier New" pitchFamily="34" charset="0"/>
                <a:ea typeface="Courier New" pitchFamily="34" charset="-122"/>
                <a:cs typeface="Courier New" pitchFamily="34" charset="-120"/>
              </a:rPr>
              <a:t>','</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HelloWorld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cats,dogs,mice</a:t>
            </a:r>
            <a:endParaRPr lang="en-US" sz="900" dirty="0"/>
          </a:p>
        </p:txBody>
      </p:sp>
      <p:sp>
        <p:nvSpPr>
          <p:cNvPr id="13" name="Text 11"/>
          <p:cNvSpPr txBox="1"/>
          <p:nvPr/>
        </p:nvSpPr>
        <p:spPr>
          <a:xfrm>
            <a:off x="4846320" y="2514600"/>
            <a:ext cx="36576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named_v1_0_0.py, lines 1 to 3 of 3, run under Python 3.14.6</a:t>
            </a:r>
            <a:endParaRPr lang="en-US" sz="750" dirty="0"/>
          </a:p>
        </p:txBody>
      </p:sp>
      <p:sp>
        <p:nvSpPr>
          <p:cNvPr id="14" name="Text 12"/>
          <p:cNvSpPr txBox="1"/>
          <p:nvPr/>
        </p:nvSpPr>
        <p:spPr>
          <a:xfrm>
            <a:off x="4663440" y="27889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None: the quiet return of functions that only DO</a:t>
            </a:r>
            <a:endParaRPr lang="en-US" sz="1150" dirty="0"/>
          </a:p>
        </p:txBody>
      </p:sp>
      <p:sp>
        <p:nvSpPr>
          <p:cNvPr id="15" name="Shape 13"/>
          <p:cNvSpPr/>
          <p:nvPr/>
        </p:nvSpPr>
        <p:spPr>
          <a:xfrm>
            <a:off x="4663440" y="3063240"/>
            <a:ext cx="4023360" cy="960120"/>
          </a:xfrm>
          <a:prstGeom prst="roundRect">
            <a:avLst>
              <a:gd name="adj" fmla="val 9524"/>
            </a:avLst>
          </a:prstGeom>
          <a:solidFill>
            <a:srgbClr val="23272E"/>
          </a:solidFill>
          <a:ln w="12700">
            <a:solidFill>
              <a:srgbClr val="23272E"/>
            </a:solidFill>
            <a:prstDash val="solid"/>
          </a:ln>
        </p:spPr>
      </p:sp>
      <p:sp>
        <p:nvSpPr>
          <p:cNvPr id="16" name="Text 14"/>
          <p:cNvSpPr txBox="1"/>
          <p:nvPr/>
        </p:nvSpPr>
        <p:spPr>
          <a:xfrm>
            <a:off x="4846320" y="3182112"/>
            <a:ext cx="3657600" cy="7223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type(None).__name__</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'NoneType'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(lambda: None)() is None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17" name="Text 15"/>
          <p:cNvSpPr txBox="1"/>
          <p:nvPr/>
        </p:nvSpPr>
        <p:spPr>
          <a:xfrm>
            <a:off x="4663440" y="404164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Call sites read best when arguments carry names</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default that remembered too much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Evaluate-once defaults, caught in the act</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default value is evaluated ONCE, at def time</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mutable default then lives between calls</a:t>
            </a:r>
            <a:endParaRPr lang="en-US" sz="1050" dirty="0"/>
          </a:p>
        </p:txBody>
      </p:sp>
      <p:sp>
        <p:nvSpPr>
          <p:cNvPr id="12" name="Shape 10"/>
          <p:cNvSpPr/>
          <p:nvPr/>
        </p:nvSpPr>
        <p:spPr>
          <a:xfrm>
            <a:off x="457200" y="2612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2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55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fix: default to None, create inside</a:t>
            </a:r>
            <a:endParaRPr lang="en-US" sz="1050" dirty="0"/>
          </a:p>
        </p:txBody>
      </p:sp>
      <p:sp>
        <p:nvSpPr>
          <p:cNvPr id="15" name="Text 13"/>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classic trap, then the idiomatic repair</a:t>
            </a:r>
            <a:endParaRPr lang="en-US" sz="1150" dirty="0"/>
          </a:p>
        </p:txBody>
      </p:sp>
      <p:sp>
        <p:nvSpPr>
          <p:cNvPr id="16" name="Shape 14"/>
          <p:cNvSpPr/>
          <p:nvPr/>
        </p:nvSpPr>
        <p:spPr>
          <a:xfrm>
            <a:off x="3931920" y="1371600"/>
            <a:ext cx="4754880" cy="3017520"/>
          </a:xfrm>
          <a:prstGeom prst="roundRect">
            <a:avLst>
              <a:gd name="adj" fmla="val 3030"/>
            </a:avLst>
          </a:prstGeom>
          <a:solidFill>
            <a:srgbClr val="23272E"/>
          </a:solidFill>
          <a:ln w="12700">
            <a:solidFill>
              <a:srgbClr val="23272E"/>
            </a:solidFill>
            <a:prstDash val="solid"/>
          </a:ln>
        </p:spPr>
      </p:sp>
      <p:sp>
        <p:nvSpPr>
          <p:cNvPr id="17" name="Text 15"/>
          <p:cNvSpPr txBox="1"/>
          <p:nvPr/>
        </p:nvSpPr>
        <p:spPr>
          <a:xfrm>
            <a:off x="4114800" y="1490472"/>
            <a:ext cx="4389120" cy="2779776"/>
          </a:xfrm>
          <a:prstGeom prst="rect">
            <a:avLst/>
          </a:prstGeom>
          <a:noFill/>
          <a:ln/>
        </p:spPr>
        <p:txBody>
          <a:bodyPr wrap="square" lIns="0" tIns="0" rIns="0" bIns="0" rtlCol="0" anchor="t"/>
          <a:lstStyle/>
          <a:p>
            <a:pPr indent="0" marL="0">
              <a:buNone/>
            </a:pPr>
            <a:r>
              <a:rPr lang="en-US" sz="850" b="1" dirty="0">
                <a:solidFill>
                  <a:srgbClr val="F2A860"/>
                </a:solidFill>
                <a:latin typeface="Courier New" pitchFamily="34" charset="0"/>
                <a:ea typeface="Courier New" pitchFamily="34" charset="-122"/>
                <a:cs typeface="Courier New" pitchFamily="34" charset="-120"/>
              </a:rPr>
              <a:t>def</a:t>
            </a:r>
            <a:pPr indent="0" marL="0">
              <a:buNone/>
            </a:pPr>
            <a:r>
              <a:rPr lang="en-US" sz="850" dirty="0">
                <a:solidFill>
                  <a:srgbClr val="E6EDF3"/>
                </a:solidFill>
                <a:latin typeface="Courier New" pitchFamily="34" charset="0"/>
                <a:ea typeface="Courier New" pitchFamily="34" charset="-122"/>
                <a:cs typeface="Courier New" pitchFamily="34" charset="-120"/>
              </a:rPr>
              <a:t> collect(item, box=[]):</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box.append(item)</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b="1" dirty="0">
                <a:solidFill>
                  <a:srgbClr val="F2A860"/>
                </a:solidFill>
                <a:latin typeface="Courier New" pitchFamily="34" charset="0"/>
                <a:ea typeface="Courier New" pitchFamily="34" charset="-122"/>
                <a:cs typeface="Courier New" pitchFamily="34" charset="-120"/>
              </a:rPr>
              <a:t>return</a:t>
            </a:r>
            <a:pPr indent="0" marL="0">
              <a:buNone/>
            </a:pPr>
            <a:r>
              <a:rPr lang="en-US" sz="850" dirty="0">
                <a:solidFill>
                  <a:srgbClr val="E6EDF3"/>
                </a:solidFill>
                <a:latin typeface="Courier New" pitchFamily="34" charset="0"/>
                <a:ea typeface="Courier New" pitchFamily="34" charset="-122"/>
                <a:cs typeface="Courier New" pitchFamily="34" charset="-120"/>
              </a:rPr>
              <a:t> box</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print(collect(</a:t>
            </a:r>
            <a:pPr indent="0" marL="0">
              <a:buNone/>
            </a:pPr>
            <a:r>
              <a:rPr lang="en-US" sz="850" dirty="0">
                <a:solidFill>
                  <a:srgbClr val="FFD28A"/>
                </a:solidFill>
                <a:latin typeface="Courier New" pitchFamily="34" charset="0"/>
                <a:ea typeface="Courier New" pitchFamily="34" charset="-122"/>
                <a:cs typeface="Courier New" pitchFamily="34" charset="-120"/>
              </a:rPr>
              <a:t>1</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print(collect(</a:t>
            </a:r>
            <a:pPr indent="0" marL="0">
              <a:buNone/>
            </a:pPr>
            <a:r>
              <a:rPr lang="en-US" sz="850" dirty="0">
                <a:solidFill>
                  <a:srgbClr val="FFD28A"/>
                </a:solidFill>
                <a:latin typeface="Courier New" pitchFamily="34" charset="0"/>
                <a:ea typeface="Courier New" pitchFamily="34" charset="-122"/>
                <a:cs typeface="Courier New" pitchFamily="34" charset="-120"/>
              </a:rPr>
              <a:t>2</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F2A860"/>
                </a:solidFill>
                <a:latin typeface="Courier New" pitchFamily="34" charset="0"/>
                <a:ea typeface="Courier New" pitchFamily="34" charset="-122"/>
                <a:cs typeface="Courier New" pitchFamily="34" charset="-120"/>
              </a:rPr>
              <a:t>def</a:t>
            </a:r>
            <a:pPr indent="0" marL="0">
              <a:buNone/>
            </a:pPr>
            <a:r>
              <a:rPr lang="en-US" sz="850" dirty="0">
                <a:solidFill>
                  <a:srgbClr val="E6EDF3"/>
                </a:solidFill>
                <a:latin typeface="Courier New" pitchFamily="34" charset="0"/>
                <a:ea typeface="Courier New" pitchFamily="34" charset="-122"/>
                <a:cs typeface="Courier New" pitchFamily="34" charset="-120"/>
              </a:rPr>
              <a:t> collect_safely(item, box=</a:t>
            </a:r>
            <a:pPr indent="0" marL="0">
              <a:buNone/>
            </a:pPr>
            <a:r>
              <a:rPr lang="en-US" sz="850" b="1" dirty="0">
                <a:solidFill>
                  <a:srgbClr val="F2A860"/>
                </a:solidFill>
                <a:latin typeface="Courier New" pitchFamily="34" charset="0"/>
                <a:ea typeface="Courier New" pitchFamily="34" charset="-122"/>
                <a:cs typeface="Courier New" pitchFamily="34" charset="-120"/>
              </a:rPr>
              <a:t>None</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b="1" dirty="0">
                <a:solidFill>
                  <a:srgbClr val="F2A860"/>
                </a:solidFill>
                <a:latin typeface="Courier New" pitchFamily="34" charset="0"/>
                <a:ea typeface="Courier New" pitchFamily="34" charset="-122"/>
                <a:cs typeface="Courier New" pitchFamily="34" charset="-120"/>
              </a:rPr>
              <a:t>if</a:t>
            </a:r>
            <a:pPr indent="0" marL="0">
              <a:buNone/>
            </a:pPr>
            <a:r>
              <a:rPr lang="en-US" sz="850" dirty="0">
                <a:solidFill>
                  <a:srgbClr val="E6EDF3"/>
                </a:solidFill>
                <a:latin typeface="Courier New" pitchFamily="34" charset="0"/>
                <a:ea typeface="Courier New" pitchFamily="34" charset="-122"/>
                <a:cs typeface="Courier New" pitchFamily="34" charset="-120"/>
              </a:rPr>
              <a:t> box is </a:t>
            </a:r>
            <a:pPr indent="0" marL="0">
              <a:buNone/>
            </a:pPr>
            <a:r>
              <a:rPr lang="en-US" sz="850" b="1" dirty="0">
                <a:solidFill>
                  <a:srgbClr val="F2A860"/>
                </a:solidFill>
                <a:latin typeface="Courier New" pitchFamily="34" charset="0"/>
                <a:ea typeface="Courier New" pitchFamily="34" charset="-122"/>
                <a:cs typeface="Courier New" pitchFamily="34" charset="-120"/>
              </a:rPr>
              <a:t>None</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box = []</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box.append(item)</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b="1" dirty="0">
                <a:solidFill>
                  <a:srgbClr val="F2A860"/>
                </a:solidFill>
                <a:latin typeface="Courier New" pitchFamily="34" charset="0"/>
                <a:ea typeface="Courier New" pitchFamily="34" charset="-122"/>
                <a:cs typeface="Courier New" pitchFamily="34" charset="-120"/>
              </a:rPr>
              <a:t>return</a:t>
            </a:r>
            <a:pPr indent="0" marL="0">
              <a:buNone/>
            </a:pPr>
            <a:r>
              <a:rPr lang="en-US" sz="850" dirty="0">
                <a:solidFill>
                  <a:srgbClr val="E6EDF3"/>
                </a:solidFill>
                <a:latin typeface="Courier New" pitchFamily="34" charset="0"/>
                <a:ea typeface="Courier New" pitchFamily="34" charset="-122"/>
                <a:cs typeface="Courier New" pitchFamily="34" charset="-120"/>
              </a:rPr>
              <a:t> box</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print(collect_safely(</a:t>
            </a:r>
            <a:pPr indent="0" marL="0">
              <a:buNone/>
            </a:pPr>
            <a:r>
              <a:rPr lang="en-US" sz="850" dirty="0">
                <a:solidFill>
                  <a:srgbClr val="FFD28A"/>
                </a:solidFill>
                <a:latin typeface="Courier New" pitchFamily="34" charset="0"/>
                <a:ea typeface="Courier New" pitchFamily="34" charset="-122"/>
                <a:cs typeface="Courier New" pitchFamily="34" charset="-120"/>
              </a:rPr>
              <a:t>1</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print(collect_safely(</a:t>
            </a:r>
            <a:pPr indent="0" marL="0">
              <a:buNone/>
            </a:pPr>
            <a:r>
              <a:rPr lang="en-US" sz="850" dirty="0">
                <a:solidFill>
                  <a:srgbClr val="FFD28A"/>
                </a:solidFill>
                <a:latin typeface="Courier New" pitchFamily="34" charset="0"/>
                <a:ea typeface="Courier New" pitchFamily="34" charset="-122"/>
                <a:cs typeface="Courier New" pitchFamily="34" charset="-120"/>
              </a:rPr>
              <a:t>2</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prints </a:t>
            </a:r>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 2]</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a:t>
            </a:r>
            <a:endParaRPr lang="en-US" sz="850" dirty="0"/>
          </a:p>
        </p:txBody>
      </p:sp>
      <p:sp>
        <p:nvSpPr>
          <p:cNvPr id="18" name="Text 16"/>
          <p:cNvSpPr txBox="1"/>
          <p:nvPr/>
        </p:nvSpPr>
        <p:spPr>
          <a:xfrm>
            <a:off x="4114800" y="4114800"/>
            <a:ext cx="438912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defaults_v1_0_0.py, lines 1 to 12 of 12, run under Python 3.14.6</a:t>
            </a:r>
            <a:endParaRPr lang="en-US" sz="750" dirty="0"/>
          </a:p>
        </p:txBody>
      </p:sp>
      <p:sp>
        <p:nvSpPr>
          <p:cNvPr id="19" name="Shape 17"/>
          <p:cNvSpPr/>
          <p:nvPr/>
        </p:nvSpPr>
        <p:spPr>
          <a:xfrm>
            <a:off x="457200" y="3429000"/>
            <a:ext cx="3246120" cy="402336"/>
          </a:xfrm>
          <a:prstGeom prst="roundRect">
            <a:avLst>
              <a:gd name="adj" fmla="val 50000"/>
            </a:avLst>
          </a:prstGeom>
          <a:solidFill>
            <a:srgbClr val="2F6D62"/>
          </a:solidFill>
          <a:ln w="12700">
            <a:solidFill>
              <a:srgbClr val="2F6D62"/>
            </a:solidFill>
            <a:prstDash val="solid"/>
          </a:ln>
        </p:spPr>
      </p:sp>
      <p:sp>
        <p:nvSpPr>
          <p:cNvPr id="20" name="Text 18"/>
          <p:cNvSpPr txBox="1"/>
          <p:nvPr/>
        </p:nvSpPr>
        <p:spPr>
          <a:xfrm>
            <a:off x="457200" y="3429000"/>
            <a:ext cx="3246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def=None, make it inside</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Evaluate-once defaults: never use a mutable one</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Frames and scope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calls live, and which x you mean</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call stack</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Recursion</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Local vs global</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global / nonlocal</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1952: the function gets invented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1952</a:t>
            </a:r>
            <a:endParaRPr lang="en-US" sz="1300" dirty="0"/>
          </a:p>
        </p:txBody>
      </p:sp>
      <p:pic>
        <p:nvPicPr>
          <p:cNvPr id="6" name="Image 0" descr="../../03-materials/ch04/assets/photo_edsac.jpg">    </p:cNvPr>
          <p:cNvPicPr>
            <a:picLocks noChangeAspect="1"/>
          </p:cNvPicPr>
          <p:nvPr/>
        </p:nvPicPr>
        <p:blipFill>
          <a:blip r:embed="rId1"/>
          <a:srcRect l="0" r="0" t="0" b="0"/>
          <a:stretch/>
        </p:blipFill>
        <p:spPr>
          <a:xfrm>
            <a:off x="457200" y="1325880"/>
            <a:ext cx="3108960" cy="228600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EDSAC - Computer Laboratory, University of Cambridge, CC BY 2.0</a:t>
            </a:r>
            <a:endParaRPr lang="en-US" sz="900" dirty="0"/>
          </a:p>
        </p:txBody>
      </p:sp>
      <p:sp>
        <p:nvSpPr>
          <p:cNvPr id="8" name="Shape 5"/>
          <p:cNvSpPr/>
          <p:nvPr/>
        </p:nvSpPr>
        <p:spPr>
          <a:xfrm>
            <a:off x="393192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06240" y="1371600"/>
            <a:ext cx="4480560" cy="5257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EDSAC, Cambridge: one of the first stored-program machines</a:t>
            </a:r>
            <a:endParaRPr lang="en-US" sz="1250" dirty="0"/>
          </a:p>
        </p:txBody>
      </p:sp>
      <p:sp>
        <p:nvSpPr>
          <p:cNvPr id="10" name="Shape 7"/>
          <p:cNvSpPr/>
          <p:nvPr/>
        </p:nvSpPr>
        <p:spPr>
          <a:xfrm>
            <a:off x="393192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06240" y="1897380"/>
            <a:ext cx="4480560" cy="5257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Wheeler's problem: jump into shared code AND find the way back</a:t>
            </a:r>
            <a:endParaRPr lang="en-US" sz="1250" dirty="0"/>
          </a:p>
        </p:txBody>
      </p:sp>
      <p:sp>
        <p:nvSpPr>
          <p:cNvPr id="12" name="Shape 9"/>
          <p:cNvSpPr/>
          <p:nvPr/>
        </p:nvSpPr>
        <p:spPr>
          <a:xfrm>
            <a:off x="393192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06240" y="2423160"/>
            <a:ext cx="4480560" cy="5257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His closed subroutine is the ancestor of every def here</a:t>
            </a:r>
            <a:endParaRPr lang="en-US" sz="1250" dirty="0"/>
          </a:p>
        </p:txBody>
      </p:sp>
      <p:sp>
        <p:nvSpPr>
          <p:cNvPr id="14" name="Shape 11"/>
          <p:cNvSpPr/>
          <p:nvPr/>
        </p:nvSpPr>
        <p:spPr>
          <a:xfrm>
            <a:off x="393192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06240" y="2948940"/>
            <a:ext cx="4480560" cy="5257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call stack is his return-address bookkeeping, grown up</a:t>
            </a:r>
            <a:endParaRPr lang="en-US" sz="125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David Wheeler, on EDSAC at the Univers…</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the Cambridge Mathematical Laboratory;…</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1952</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def and return are 1952 inventions you use every day</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Frames: where calls live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nested calls, photographed from inside</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each call pushes a frame; inspect shows the stack mid-flight</a:t>
            </a:r>
            <a:endParaRPr lang="en-US" sz="1150" dirty="0"/>
          </a:p>
        </p:txBody>
      </p:sp>
      <p:sp>
        <p:nvSpPr>
          <p:cNvPr id="7" name="Shape 5"/>
          <p:cNvSpPr/>
          <p:nvPr/>
        </p:nvSpPr>
        <p:spPr>
          <a:xfrm>
            <a:off x="457200" y="1417320"/>
            <a:ext cx="8229600" cy="3017520"/>
          </a:xfrm>
          <a:prstGeom prst="roundRect">
            <a:avLst>
              <a:gd name="adj" fmla="val 3030"/>
            </a:avLst>
          </a:prstGeom>
          <a:solidFill>
            <a:srgbClr val="23272E"/>
          </a:solidFill>
          <a:ln w="12700">
            <a:solidFill>
              <a:srgbClr val="23272E"/>
            </a:solidFill>
            <a:prstDash val="solid"/>
          </a:ln>
        </p:spPr>
      </p:sp>
      <p:sp>
        <p:nvSpPr>
          <p:cNvPr id="8" name="Text 6"/>
          <p:cNvSpPr txBox="1"/>
          <p:nvPr/>
        </p:nvSpPr>
        <p:spPr>
          <a:xfrm>
            <a:off x="640080" y="1536192"/>
            <a:ext cx="7863840" cy="2779776"/>
          </a:xfrm>
          <a:prstGeom prst="rect">
            <a:avLst/>
          </a:prstGeom>
          <a:noFill/>
          <a:ln/>
        </p:spPr>
        <p:txBody>
          <a:bodyPr wrap="square" lIns="0" tIns="0" rIns="0" bIns="0" rtlCol="0" anchor="t"/>
          <a:lstStyle/>
          <a:p>
            <a:pPr indent="0" marL="0">
              <a:buNone/>
            </a:pPr>
            <a:r>
              <a:rPr lang="en-US" sz="850" b="1" dirty="0">
                <a:solidFill>
                  <a:srgbClr val="F2A860"/>
                </a:solidFill>
                <a:latin typeface="Courier New" pitchFamily="34" charset="0"/>
                <a:ea typeface="Courier New" pitchFamily="34" charset="-122"/>
                <a:cs typeface="Courier New" pitchFamily="34" charset="-120"/>
              </a:rPr>
              <a:t>import</a:t>
            </a:r>
            <a:pPr indent="0" marL="0">
              <a:buNone/>
            </a:pPr>
            <a:r>
              <a:rPr lang="en-US" sz="850" dirty="0">
                <a:solidFill>
                  <a:srgbClr val="E6EDF3"/>
                </a:solidFill>
                <a:latin typeface="Courier New" pitchFamily="34" charset="0"/>
                <a:ea typeface="Courier New" pitchFamily="34" charset="-122"/>
                <a:cs typeface="Courier New" pitchFamily="34" charset="-120"/>
              </a:rPr>
              <a:t> traceback</a:t>
            </a:r>
            <a:endParaRPr lang="en-US" sz="850" dirty="0"/>
          </a:p>
          <a:p>
            <a:pPr indent="0" marL="0">
              <a:buNone/>
            </a:pPr>
            <a:r>
              <a:rPr lang="en-US" sz="850" b="1" dirty="0">
                <a:solidFill>
                  <a:srgbClr val="F2A860"/>
                </a:solidFill>
                <a:latin typeface="Courier New" pitchFamily="34" charset="0"/>
                <a:ea typeface="Courier New" pitchFamily="34" charset="-122"/>
                <a:cs typeface="Courier New" pitchFamily="34" charset="-120"/>
              </a:rPr>
              <a:t>def</a:t>
            </a:r>
            <a:pPr indent="0" marL="0">
              <a:buNone/>
            </a:pPr>
            <a:r>
              <a:rPr lang="en-US" sz="850" dirty="0">
                <a:solidFill>
                  <a:srgbClr val="E6EDF3"/>
                </a:solidFill>
                <a:latin typeface="Courier New" pitchFamily="34" charset="0"/>
                <a:ea typeface="Courier New" pitchFamily="34" charset="-122"/>
                <a:cs typeface="Courier New" pitchFamily="34" charset="-120"/>
              </a:rPr>
              <a:t> outer():</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a:t>
            </a:r>
            <a:pPr indent="0" marL="0">
              <a:buNone/>
            </a:pPr>
            <a:r>
              <a:rPr lang="en-US" sz="850" dirty="0">
                <a:solidFill>
                  <a:srgbClr val="9ECBFF"/>
                </a:solidFill>
                <a:latin typeface="Courier New" pitchFamily="34" charset="0"/>
                <a:ea typeface="Courier New" pitchFamily="34" charset="-122"/>
                <a:cs typeface="Courier New" pitchFamily="34" charset="-120"/>
              </a:rPr>
              <a:t>'outer starts'</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middle()</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a:t>
            </a:r>
            <a:pPr indent="0" marL="0">
              <a:buNone/>
            </a:pPr>
            <a:r>
              <a:rPr lang="en-US" sz="850" dirty="0">
                <a:solidFill>
                  <a:srgbClr val="9ECBFF"/>
                </a:solidFill>
                <a:latin typeface="Courier New" pitchFamily="34" charset="0"/>
                <a:ea typeface="Courier New" pitchFamily="34" charset="-122"/>
                <a:cs typeface="Courier New" pitchFamily="34" charset="-120"/>
              </a:rPr>
              <a:t>'outer returns'</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F2A860"/>
                </a:solidFill>
                <a:latin typeface="Courier New" pitchFamily="34" charset="0"/>
                <a:ea typeface="Courier New" pitchFamily="34" charset="-122"/>
                <a:cs typeface="Courier New" pitchFamily="34" charset="-120"/>
              </a:rPr>
              <a:t>def</a:t>
            </a:r>
            <a:pPr indent="0" marL="0">
              <a:buNone/>
            </a:pPr>
            <a:r>
              <a:rPr lang="en-US" sz="850" dirty="0">
                <a:solidFill>
                  <a:srgbClr val="E6EDF3"/>
                </a:solidFill>
                <a:latin typeface="Courier New" pitchFamily="34" charset="0"/>
                <a:ea typeface="Courier New" pitchFamily="34" charset="-122"/>
                <a:cs typeface="Courier New" pitchFamily="34" charset="-120"/>
              </a:rPr>
              <a:t> middle():</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a:t>
            </a:r>
            <a:pPr indent="0" marL="0">
              <a:buNone/>
            </a:pPr>
            <a:r>
              <a:rPr lang="en-US" sz="850" dirty="0">
                <a:solidFill>
                  <a:srgbClr val="9ECBFF"/>
                </a:solidFill>
                <a:latin typeface="Courier New" pitchFamily="34" charset="0"/>
                <a:ea typeface="Courier New" pitchFamily="34" charset="-122"/>
                <a:cs typeface="Courier New" pitchFamily="34" charset="-120"/>
              </a:rPr>
              <a:t>'middle starts'</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inner()</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a:t>
            </a:r>
            <a:pPr indent="0" marL="0">
              <a:buNone/>
            </a:pPr>
            <a:r>
              <a:rPr lang="en-US" sz="850" dirty="0">
                <a:solidFill>
                  <a:srgbClr val="9ECBFF"/>
                </a:solidFill>
                <a:latin typeface="Courier New" pitchFamily="34" charset="0"/>
                <a:ea typeface="Courier New" pitchFamily="34" charset="-122"/>
                <a:cs typeface="Courier New" pitchFamily="34" charset="-120"/>
              </a:rPr>
              <a:t>'middle returns'</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F2A860"/>
                </a:solidFill>
                <a:latin typeface="Courier New" pitchFamily="34" charset="0"/>
                <a:ea typeface="Courier New" pitchFamily="34" charset="-122"/>
                <a:cs typeface="Courier New" pitchFamily="34" charset="-120"/>
              </a:rPr>
              <a:t>def</a:t>
            </a:r>
            <a:pPr indent="0" marL="0">
              <a:buNone/>
            </a:pPr>
            <a:r>
              <a:rPr lang="en-US" sz="850" dirty="0">
                <a:solidFill>
                  <a:srgbClr val="E6EDF3"/>
                </a:solidFill>
                <a:latin typeface="Courier New" pitchFamily="34" charset="0"/>
                <a:ea typeface="Courier New" pitchFamily="34" charset="-122"/>
                <a:cs typeface="Courier New" pitchFamily="34" charset="-120"/>
              </a:rPr>
              <a:t> inner():</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a:t>
            </a:r>
            <a:pPr indent="0" marL="0">
              <a:buNone/>
            </a:pPr>
            <a:r>
              <a:rPr lang="en-US" sz="850" dirty="0">
                <a:solidFill>
                  <a:srgbClr val="9ECBFF"/>
                </a:solidFill>
                <a:latin typeface="Courier New" pitchFamily="34" charset="0"/>
                <a:ea typeface="Courier New" pitchFamily="34" charset="-122"/>
                <a:cs typeface="Courier New" pitchFamily="34" charset="-120"/>
              </a:rPr>
              <a:t>'inner: frames are'</a:t>
            </a:r>
            <a:pPr indent="0" marL="0">
              <a:buNone/>
            </a:pPr>
            <a:r>
              <a:rPr lang="en-US" sz="850" dirty="0">
                <a:solidFill>
                  <a:srgbClr val="E6EDF3"/>
                </a:solidFill>
                <a:latin typeface="Courier New" pitchFamily="34" charset="0"/>
                <a:ea typeface="Courier New" pitchFamily="34" charset="-122"/>
                <a:cs typeface="Courier New" pitchFamily="34" charset="-120"/>
              </a:rPr>
              <a:t>, [frame.name </a:t>
            </a:r>
            <a:pPr indent="0" marL="0">
              <a:buNone/>
            </a:pPr>
            <a:r>
              <a:rPr lang="en-US" sz="850" b="1" dirty="0">
                <a:solidFill>
                  <a:srgbClr val="F2A860"/>
                </a:solidFill>
                <a:latin typeface="Courier New" pitchFamily="34" charset="0"/>
                <a:ea typeface="Courier New" pitchFamily="34" charset="-122"/>
                <a:cs typeface="Courier New" pitchFamily="34" charset="-120"/>
              </a:rPr>
              <a:t>for</a:t>
            </a:r>
            <a:pPr indent="0" marL="0">
              <a:buNone/>
            </a:pPr>
            <a:r>
              <a:rPr lang="en-US" sz="850" dirty="0">
                <a:solidFill>
                  <a:srgbClr val="E6EDF3"/>
                </a:solidFill>
                <a:latin typeface="Courier New" pitchFamily="34" charset="0"/>
                <a:ea typeface="Courier New" pitchFamily="34" charset="-122"/>
                <a:cs typeface="Courier New" pitchFamily="34" charset="-120"/>
              </a:rPr>
              <a:t> frame </a:t>
            </a:r>
            <a:pPr indent="0" marL="0">
              <a:buNone/>
            </a:pPr>
            <a:r>
              <a:rPr lang="en-US" sz="850" b="1" dirty="0">
                <a:solidFill>
                  <a:srgbClr val="F2A860"/>
                </a:solidFill>
                <a:latin typeface="Courier New" pitchFamily="34" charset="0"/>
                <a:ea typeface="Courier New" pitchFamily="34" charset="-122"/>
                <a:cs typeface="Courier New" pitchFamily="34" charset="-120"/>
              </a:rPr>
              <a:t>in</a:t>
            </a:r>
            <a:pPr indent="0" marL="0">
              <a:buNone/>
            </a:pPr>
            <a:r>
              <a:rPr lang="en-US" sz="850" dirty="0">
                <a:solidFill>
                  <a:srgbClr val="E6EDF3"/>
                </a:solidFill>
                <a:latin typeface="Courier New" pitchFamily="34" charset="0"/>
                <a:ea typeface="Courier New" pitchFamily="34" charset="-122"/>
                <a:cs typeface="Courier New" pitchFamily="34" charset="-120"/>
              </a:rPr>
              <a:t> traceback.extract_stack()][-</a:t>
            </a:r>
            <a:pPr indent="0" marL="0">
              <a:buNone/>
            </a:pPr>
            <a:r>
              <a:rPr lang="en-US" sz="850" dirty="0">
                <a:solidFill>
                  <a:srgbClr val="FFD28A"/>
                </a:solidFill>
                <a:latin typeface="Courier New" pitchFamily="34" charset="0"/>
                <a:ea typeface="Courier New" pitchFamily="34" charset="-122"/>
                <a:cs typeface="Courier New" pitchFamily="34" charset="-120"/>
              </a:rPr>
              <a:t>3</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outer()</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prints </a:t>
            </a:r>
            <a:pPr indent="0" marL="0">
              <a:buNone/>
            </a:pPr>
            <a:r>
              <a:rPr lang="en-US" sz="850" dirty="0">
                <a:solidFill>
                  <a:srgbClr val="7EE787"/>
                </a:solidFill>
                <a:latin typeface="Courier New" pitchFamily="34" charset="0"/>
                <a:ea typeface="Courier New" pitchFamily="34" charset="-122"/>
                <a:cs typeface="Courier New" pitchFamily="34" charset="-120"/>
              </a:rPr>
              <a:t>outer starts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middle starts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inner: frames are ['outer', 'middle', 'inner']</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middle returns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outer returns</a:t>
            </a:r>
            <a:endParaRPr lang="en-US" sz="850" dirty="0"/>
          </a:p>
        </p:txBody>
      </p:sp>
      <p:sp>
        <p:nvSpPr>
          <p:cNvPr id="9" name="Text 7"/>
          <p:cNvSpPr txBox="1"/>
          <p:nvPr/>
        </p:nvSpPr>
        <p:spPr>
          <a:xfrm>
            <a:off x="640080" y="416052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stack_v1_0_0.py, lines 1 to 12 of 12, run under Python 3.14.6</a:t>
            </a:r>
            <a:endParaRPr lang="en-US" sz="75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call pushes a frame; return pops it - the stack IS the story</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Recursion meets its limit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safety rail, measured live</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function that calls itself with no exit</a:t>
            </a:r>
            <a:endParaRPr lang="en-US" sz="1150" dirty="0"/>
          </a:p>
        </p:txBody>
      </p:sp>
      <p:sp>
        <p:nvSpPr>
          <p:cNvPr id="7" name="Shape 5"/>
          <p:cNvSpPr/>
          <p:nvPr/>
        </p:nvSpPr>
        <p:spPr>
          <a:xfrm>
            <a:off x="457200" y="1417320"/>
            <a:ext cx="393192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536192"/>
            <a:ext cx="3566160" cy="168249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import</a:t>
            </a:r>
            <a:pPr indent="0" marL="0">
              <a:buNone/>
            </a:pPr>
            <a:r>
              <a:rPr lang="en-US" sz="900" dirty="0">
                <a:solidFill>
                  <a:srgbClr val="E6EDF3"/>
                </a:solidFill>
                <a:latin typeface="Courier New" pitchFamily="34" charset="0"/>
                <a:ea typeface="Courier New" pitchFamily="34" charset="-122"/>
                <a:cs typeface="Courier New" pitchFamily="34" charset="-120"/>
              </a:rPr>
              <a:t> sys</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forever():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return</a:t>
            </a:r>
            <a:pPr indent="0" marL="0">
              <a:buNone/>
            </a:pPr>
            <a:r>
              <a:rPr lang="en-US" sz="900" dirty="0">
                <a:solidFill>
                  <a:srgbClr val="E6EDF3"/>
                </a:solidFill>
                <a:latin typeface="Courier New" pitchFamily="34" charset="0"/>
                <a:ea typeface="Courier New" pitchFamily="34" charset="-122"/>
                <a:cs typeface="Courier New" pitchFamily="34" charset="-120"/>
              </a:rPr>
              <a:t> forever()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try:</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forever()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except RecursionError as error: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print(sys.getrecursionlimit(), error)</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1000 maximum recursion depth exceeded</a:t>
            </a:r>
            <a:endParaRPr lang="en-US" sz="900" dirty="0"/>
          </a:p>
        </p:txBody>
      </p:sp>
      <p:sp>
        <p:nvSpPr>
          <p:cNvPr id="9" name="Text 7"/>
          <p:cNvSpPr txBox="1"/>
          <p:nvPr/>
        </p:nvSpPr>
        <p:spPr>
          <a:xfrm>
            <a:off x="640080" y="3063240"/>
            <a:ext cx="356616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recursion_v1_0_0.py, lines 1 to 7 of 7, run under Python 3.14.6</a:t>
            </a:r>
            <a:endParaRPr lang="en-US" sz="75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ceiling, asked directly</a:t>
            </a:r>
            <a:endParaRPr lang="en-US" sz="1150" dirty="0"/>
          </a:p>
        </p:txBody>
      </p:sp>
      <p:sp>
        <p:nvSpPr>
          <p:cNvPr id="11" name="Shape 9"/>
          <p:cNvSpPr/>
          <p:nvPr/>
        </p:nvSpPr>
        <p:spPr>
          <a:xfrm>
            <a:off x="4663440" y="1417320"/>
            <a:ext cx="4023360" cy="1005840"/>
          </a:xfrm>
          <a:prstGeom prst="roundRect">
            <a:avLst>
              <a:gd name="adj" fmla="val 9091"/>
            </a:avLst>
          </a:prstGeom>
          <a:solidFill>
            <a:srgbClr val="23272E"/>
          </a:solidFill>
          <a:ln w="12700">
            <a:solidFill>
              <a:srgbClr val="23272E"/>
            </a:solidFill>
            <a:prstDash val="solid"/>
          </a:ln>
        </p:spPr>
      </p:sp>
      <p:sp>
        <p:nvSpPr>
          <p:cNvPr id="12" name="Text 10"/>
          <p:cNvSpPr txBox="1"/>
          <p:nvPr/>
        </p:nvSpPr>
        <p:spPr>
          <a:xfrm>
            <a:off x="4846320" y="1536192"/>
            <a:ext cx="365760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__import__('sys').getrecursionlimit()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issubclass(RecursionError, RuntimeError)</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13" name="Text 11"/>
          <p:cNvSpPr txBox="1"/>
          <p:nvPr/>
        </p:nvSpPr>
        <p:spPr>
          <a:xfrm>
            <a:off x="4663440" y="244144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663440" y="2688336"/>
            <a:ext cx="402336" cy="402336"/>
          </a:xfrm>
          <a:prstGeom prst="ellipse">
            <a:avLst/>
          </a:prstGeom>
          <a:solidFill>
            <a:srgbClr val="D97A14"/>
          </a:solidFill>
          <a:ln w="12700">
            <a:solidFill>
              <a:srgbClr val="D97A14"/>
            </a:solidFill>
            <a:prstDash val="solid"/>
          </a:ln>
        </p:spPr>
      </p:sp>
      <p:sp>
        <p:nvSpPr>
          <p:cNvPr id="15" name="Text 13"/>
          <p:cNvSpPr txBox="1"/>
          <p:nvPr/>
        </p:nvSpPr>
        <p:spPr>
          <a:xfrm>
            <a:off x="466344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6" name="Text 14"/>
          <p:cNvSpPr txBox="1"/>
          <p:nvPr/>
        </p:nvSpPr>
        <p:spPr>
          <a:xfrm>
            <a:off x="5230368" y="265176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Every call adds a frame; frames cost memory</a:t>
            </a:r>
            <a:endParaRPr lang="en-US" sz="1050" dirty="0"/>
          </a:p>
        </p:txBody>
      </p:sp>
      <p:sp>
        <p:nvSpPr>
          <p:cNvPr id="17" name="Shape 15"/>
          <p:cNvSpPr/>
          <p:nvPr/>
        </p:nvSpPr>
        <p:spPr>
          <a:xfrm>
            <a:off x="4663440" y="3145536"/>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66344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9" name="Text 17"/>
          <p:cNvSpPr txBox="1"/>
          <p:nvPr/>
        </p:nvSpPr>
        <p:spPr>
          <a:xfrm>
            <a:off x="5230368" y="310896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Python stops the runaway at a set depth</a:t>
            </a:r>
            <a:endParaRPr lang="en-US" sz="1050" dirty="0"/>
          </a:p>
        </p:txBody>
      </p:sp>
      <p:sp>
        <p:nvSpPr>
          <p:cNvPr id="20" name="Shape 18"/>
          <p:cNvSpPr/>
          <p:nvPr/>
        </p:nvSpPr>
        <p:spPr>
          <a:xfrm>
            <a:off x="4663440" y="3602736"/>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66344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20"/>
          <p:cNvSpPr txBox="1"/>
          <p:nvPr/>
        </p:nvSpPr>
        <p:spPr>
          <a:xfrm>
            <a:off x="5230368" y="356616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Real recursion needs a base case - Collatz has one</a:t>
            </a:r>
            <a:endParaRPr lang="en-US" sz="10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1000-frame ceiling is a safety rail, measured live</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Scope: which x is this?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Reading reaches out; assignment stays home</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prints, three scopes - trace each</a:t>
            </a:r>
            <a:endParaRPr lang="en-US" sz="1150" dirty="0"/>
          </a:p>
        </p:txBody>
      </p:sp>
      <p:sp>
        <p:nvSpPr>
          <p:cNvPr id="7" name="Shape 5"/>
          <p:cNvSpPr/>
          <p:nvPr/>
        </p:nvSpPr>
        <p:spPr>
          <a:xfrm>
            <a:off x="457200" y="1417320"/>
            <a:ext cx="3931920" cy="2651760"/>
          </a:xfrm>
          <a:prstGeom prst="roundRect">
            <a:avLst>
              <a:gd name="adj" fmla="val 3448"/>
            </a:avLst>
          </a:prstGeom>
          <a:solidFill>
            <a:srgbClr val="23272E"/>
          </a:solidFill>
          <a:ln w="12700">
            <a:solidFill>
              <a:srgbClr val="23272E"/>
            </a:solidFill>
            <a:prstDash val="solid"/>
          </a:ln>
        </p:spPr>
      </p:sp>
      <p:sp>
        <p:nvSpPr>
          <p:cNvPr id="8" name="Text 6"/>
          <p:cNvSpPr txBox="1"/>
          <p:nvPr/>
        </p:nvSpPr>
        <p:spPr>
          <a:xfrm>
            <a:off x="640080" y="1536192"/>
            <a:ext cx="3566160" cy="2414016"/>
          </a:xfrm>
          <a:prstGeom prst="rect">
            <a:avLst/>
          </a:prstGeom>
          <a:noFill/>
          <a:ln/>
        </p:spPr>
        <p:txBody>
          <a:bodyPr wrap="square" lIns="0" tIns="0" rIns="0" bIns="0" rtlCol="0" anchor="t"/>
          <a:lstStyle/>
          <a:p>
            <a:pPr indent="0" marL="0">
              <a:buNone/>
            </a:pPr>
            <a:r>
              <a:rPr lang="en-US" sz="860" b="1" dirty="0">
                <a:solidFill>
                  <a:srgbClr val="F2A860"/>
                </a:solidFill>
                <a:latin typeface="Courier New" pitchFamily="34" charset="0"/>
                <a:ea typeface="Courier New" pitchFamily="34" charset="-122"/>
                <a:cs typeface="Courier New" pitchFamily="34" charset="-120"/>
              </a:rPr>
              <a:t>def</a:t>
            </a:r>
            <a:pPr indent="0" marL="0">
              <a:buNone/>
            </a:pPr>
            <a:r>
              <a:rPr lang="en-US" sz="860" dirty="0">
                <a:solidFill>
                  <a:srgbClr val="E6EDF3"/>
                </a:solidFill>
                <a:latin typeface="Courier New" pitchFamily="34" charset="0"/>
                <a:ea typeface="Courier New" pitchFamily="34" charset="-122"/>
                <a:cs typeface="Courier New" pitchFamily="34" charset="-120"/>
              </a:rPr>
              <a:t> inner():</a:t>
            </a:r>
            <a:endParaRPr lang="en-US" sz="860" dirty="0"/>
          </a:p>
          <a:p>
            <a:pPr indent="0" marL="0">
              <a:buNone/>
            </a:pPr>
            <a:r>
              <a:rPr lang="en-US" sz="860" dirty="0">
                <a:solidFill>
                  <a:srgbClr val="E6EDF3"/>
                </a:solidFill>
                <a:latin typeface="Courier New" pitchFamily="34" charset="0"/>
                <a:ea typeface="Courier New" pitchFamily="34" charset="-122"/>
                <a:cs typeface="Courier New" pitchFamily="34" charset="-120"/>
              </a:rPr>
              <a:t>    name = </a:t>
            </a:r>
            <a:pPr indent="0" marL="0">
              <a:buNone/>
            </a:pPr>
            <a:r>
              <a:rPr lang="en-US" sz="860" dirty="0">
                <a:solidFill>
                  <a:srgbClr val="9ECBFF"/>
                </a:solidFill>
                <a:latin typeface="Courier New" pitchFamily="34" charset="0"/>
                <a:ea typeface="Courier New" pitchFamily="34" charset="-122"/>
                <a:cs typeface="Courier New" pitchFamily="34" charset="-120"/>
              </a:rPr>
              <a:t>'inner local'</a:t>
            </a:r>
            <a:endParaRPr lang="en-US" sz="860" dirty="0"/>
          </a:p>
          <a:p>
            <a:pPr indent="0" marL="0">
              <a:buNone/>
            </a:pPr>
            <a:r>
              <a:rPr lang="en-US" sz="860" dirty="0">
                <a:solidFill>
                  <a:srgbClr val="E6EDF3"/>
                </a:solidFill>
                <a:latin typeface="Courier New" pitchFamily="34" charset="0"/>
                <a:ea typeface="Courier New" pitchFamily="34" charset="-122"/>
                <a:cs typeface="Courier New" pitchFamily="34" charset="-120"/>
              </a:rPr>
              <a:t>    print(name)</a:t>
            </a:r>
            <a:endParaRPr lang="en-US" sz="860" dirty="0"/>
          </a:p>
          <a:p>
            <a:pPr indent="0" marL="0">
              <a:buNone/>
            </a:pPr>
            <a:r>
              <a:rPr lang="en-US" sz="860" b="1" dirty="0">
                <a:solidFill>
                  <a:srgbClr val="F2A860"/>
                </a:solidFill>
                <a:latin typeface="Courier New" pitchFamily="34" charset="0"/>
                <a:ea typeface="Courier New" pitchFamily="34" charset="-122"/>
                <a:cs typeface="Courier New" pitchFamily="34" charset="-120"/>
              </a:rPr>
              <a:t>def</a:t>
            </a:r>
            <a:pPr indent="0" marL="0">
              <a:buNone/>
            </a:pPr>
            <a:r>
              <a:rPr lang="en-US" sz="860" dirty="0">
                <a:solidFill>
                  <a:srgbClr val="E6EDF3"/>
                </a:solidFill>
                <a:latin typeface="Courier New" pitchFamily="34" charset="0"/>
                <a:ea typeface="Courier New" pitchFamily="34" charset="-122"/>
                <a:cs typeface="Courier New" pitchFamily="34" charset="-120"/>
              </a:rPr>
              <a:t> outer():</a:t>
            </a:r>
            <a:endParaRPr lang="en-US" sz="860" dirty="0"/>
          </a:p>
          <a:p>
            <a:pPr indent="0" marL="0">
              <a:buNone/>
            </a:pPr>
            <a:r>
              <a:rPr lang="en-US" sz="860" dirty="0">
                <a:solidFill>
                  <a:srgbClr val="E6EDF3"/>
                </a:solidFill>
                <a:latin typeface="Courier New" pitchFamily="34" charset="0"/>
                <a:ea typeface="Courier New" pitchFamily="34" charset="-122"/>
                <a:cs typeface="Courier New" pitchFamily="34" charset="-120"/>
              </a:rPr>
              <a:t>    name = </a:t>
            </a:r>
            <a:pPr indent="0" marL="0">
              <a:buNone/>
            </a:pPr>
            <a:r>
              <a:rPr lang="en-US" sz="860" dirty="0">
                <a:solidFill>
                  <a:srgbClr val="9ECBFF"/>
                </a:solidFill>
                <a:latin typeface="Courier New" pitchFamily="34" charset="0"/>
                <a:ea typeface="Courier New" pitchFamily="34" charset="-122"/>
                <a:cs typeface="Courier New" pitchFamily="34" charset="-120"/>
              </a:rPr>
              <a:t>'outer local'</a:t>
            </a:r>
            <a:endParaRPr lang="en-US" sz="860" dirty="0"/>
          </a:p>
          <a:p>
            <a:pPr indent="0" marL="0">
              <a:buNone/>
            </a:pPr>
            <a:r>
              <a:rPr lang="en-US" sz="860" dirty="0">
                <a:solidFill>
                  <a:srgbClr val="E6EDF3"/>
                </a:solidFill>
                <a:latin typeface="Courier New" pitchFamily="34" charset="0"/>
                <a:ea typeface="Courier New" pitchFamily="34" charset="-122"/>
                <a:cs typeface="Courier New" pitchFamily="34" charset="-120"/>
              </a:rPr>
              <a:t>    print(name)</a:t>
            </a:r>
            <a:endParaRPr lang="en-US" sz="860" dirty="0"/>
          </a:p>
          <a:p>
            <a:pPr indent="0" marL="0">
              <a:buNone/>
            </a:pPr>
            <a:r>
              <a:rPr lang="en-US" sz="860" dirty="0">
                <a:solidFill>
                  <a:srgbClr val="E6EDF3"/>
                </a:solidFill>
                <a:latin typeface="Courier New" pitchFamily="34" charset="0"/>
                <a:ea typeface="Courier New" pitchFamily="34" charset="-122"/>
                <a:cs typeface="Courier New" pitchFamily="34" charset="-120"/>
              </a:rPr>
              <a:t>    inner()</a:t>
            </a:r>
            <a:endParaRPr lang="en-US" sz="860" dirty="0"/>
          </a:p>
          <a:p>
            <a:pPr indent="0" marL="0">
              <a:buNone/>
            </a:pPr>
            <a:r>
              <a:rPr lang="en-US" sz="860" dirty="0">
                <a:solidFill>
                  <a:srgbClr val="E6EDF3"/>
                </a:solidFill>
                <a:latin typeface="Courier New" pitchFamily="34" charset="0"/>
                <a:ea typeface="Courier New" pitchFamily="34" charset="-122"/>
                <a:cs typeface="Courier New" pitchFamily="34" charset="-120"/>
              </a:rPr>
              <a:t>    print(name)</a:t>
            </a:r>
            <a:endParaRPr lang="en-US" sz="860" dirty="0"/>
          </a:p>
          <a:p>
            <a:pPr indent="0" marL="0">
              <a:buNone/>
            </a:pPr>
            <a:r>
              <a:rPr lang="en-US" sz="860" dirty="0">
                <a:solidFill>
                  <a:srgbClr val="E6EDF3"/>
                </a:solidFill>
                <a:latin typeface="Courier New" pitchFamily="34" charset="0"/>
                <a:ea typeface="Courier New" pitchFamily="34" charset="-122"/>
                <a:cs typeface="Courier New" pitchFamily="34" charset="-120"/>
              </a:rPr>
              <a:t>name = </a:t>
            </a:r>
            <a:pPr indent="0" marL="0">
              <a:buNone/>
            </a:pPr>
            <a:r>
              <a:rPr lang="en-US" sz="860" dirty="0">
                <a:solidFill>
                  <a:srgbClr val="9ECBFF"/>
                </a:solidFill>
                <a:latin typeface="Courier New" pitchFamily="34" charset="0"/>
                <a:ea typeface="Courier New" pitchFamily="34" charset="-122"/>
                <a:cs typeface="Courier New" pitchFamily="34" charset="-120"/>
              </a:rPr>
              <a:t>'global'</a:t>
            </a:r>
            <a:endParaRPr lang="en-US" sz="860" dirty="0"/>
          </a:p>
          <a:p>
            <a:pPr indent="0" marL="0">
              <a:buNone/>
            </a:pPr>
            <a:r>
              <a:rPr lang="en-US" sz="860" dirty="0">
                <a:solidFill>
                  <a:srgbClr val="E6EDF3"/>
                </a:solidFill>
                <a:latin typeface="Courier New" pitchFamily="34" charset="0"/>
                <a:ea typeface="Courier New" pitchFamily="34" charset="-122"/>
                <a:cs typeface="Courier New" pitchFamily="34" charset="-120"/>
              </a:rPr>
              <a:t>outer()</a:t>
            </a:r>
            <a:endParaRPr lang="en-US" sz="860" dirty="0"/>
          </a:p>
          <a:p>
            <a:pPr indent="0" marL="0">
              <a:buNone/>
            </a:pPr>
            <a:r>
              <a:rPr lang="en-US" sz="860" dirty="0">
                <a:solidFill>
                  <a:srgbClr val="E6EDF3"/>
                </a:solidFill>
                <a:latin typeface="Courier New" pitchFamily="34" charset="0"/>
                <a:ea typeface="Courier New" pitchFamily="34" charset="-122"/>
                <a:cs typeface="Courier New" pitchFamily="34" charset="-120"/>
              </a:rPr>
              <a:t>print(name)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prints </a:t>
            </a:r>
            <a:pPr indent="0" marL="0">
              <a:buNone/>
            </a:pPr>
            <a:r>
              <a:rPr lang="en-US" sz="860" dirty="0">
                <a:solidFill>
                  <a:srgbClr val="7EE787"/>
                </a:solidFill>
                <a:latin typeface="Courier New" pitchFamily="34" charset="0"/>
                <a:ea typeface="Courier New" pitchFamily="34" charset="-122"/>
                <a:cs typeface="Courier New" pitchFamily="34" charset="-120"/>
              </a:rPr>
              <a:t>outer local</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inner local</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outer local</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global</a:t>
            </a:r>
            <a:endParaRPr lang="en-US" sz="860" dirty="0"/>
          </a:p>
        </p:txBody>
      </p:sp>
      <p:sp>
        <p:nvSpPr>
          <p:cNvPr id="9" name="Text 7"/>
          <p:cNvSpPr txBox="1"/>
          <p:nvPr/>
        </p:nvSpPr>
        <p:spPr>
          <a:xfrm>
            <a:off x="640080" y="3794760"/>
            <a:ext cx="356616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scopes_v1_0_0.py, lines 1 to 11 of 11, run under Python 3.14.6</a:t>
            </a:r>
            <a:endParaRPr lang="en-US" sz="750" dirty="0"/>
          </a:p>
        </p:txBody>
      </p:sp>
      <p:sp>
        <p:nvSpPr>
          <p:cNvPr id="10" name="Shape 8"/>
          <p:cNvSpPr/>
          <p:nvPr/>
        </p:nvSpPr>
        <p:spPr>
          <a:xfrm>
            <a:off x="4663440" y="1499616"/>
            <a:ext cx="402336" cy="402336"/>
          </a:xfrm>
          <a:prstGeom prst="ellipse">
            <a:avLst/>
          </a:prstGeom>
          <a:solidFill>
            <a:srgbClr val="D97A14"/>
          </a:solidFill>
          <a:ln w="12700">
            <a:solidFill>
              <a:srgbClr val="D97A14"/>
            </a:solidFill>
            <a:prstDash val="solid"/>
          </a:ln>
        </p:spPr>
      </p:sp>
      <p:sp>
        <p:nvSpPr>
          <p:cNvPr id="11" name="Text 9"/>
          <p:cNvSpPr txBox="1"/>
          <p:nvPr/>
        </p:nvSpPr>
        <p:spPr>
          <a:xfrm>
            <a:off x="466344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10"/>
          <p:cNvSpPr txBox="1"/>
          <p:nvPr/>
        </p:nvSpPr>
        <p:spPr>
          <a:xfrm>
            <a:off x="5230368" y="1463040"/>
            <a:ext cx="345643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def opens a new local scope</a:t>
            </a:r>
            <a:endParaRPr lang="en-US" sz="1050" dirty="0"/>
          </a:p>
        </p:txBody>
      </p:sp>
      <p:sp>
        <p:nvSpPr>
          <p:cNvPr id="13" name="Shape 11"/>
          <p:cNvSpPr/>
          <p:nvPr/>
        </p:nvSpPr>
        <p:spPr>
          <a:xfrm>
            <a:off x="4663440" y="2078736"/>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66344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5230368" y="2042160"/>
            <a:ext cx="345643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Reading a name searches outward: local, enclosing, global, built-in</a:t>
            </a:r>
            <a:endParaRPr lang="en-US" sz="1050" dirty="0"/>
          </a:p>
        </p:txBody>
      </p:sp>
      <p:sp>
        <p:nvSpPr>
          <p:cNvPr id="16" name="Shape 14"/>
          <p:cNvSpPr/>
          <p:nvPr/>
        </p:nvSpPr>
        <p:spPr>
          <a:xfrm>
            <a:off x="4663440" y="2657856"/>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66344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5230368" y="2621280"/>
            <a:ext cx="345643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Assigning a name claims it LOCAL - everywhere in that def</a:t>
            </a:r>
            <a:endParaRPr lang="en-US" sz="1050" dirty="0"/>
          </a:p>
        </p:txBody>
      </p:sp>
      <p:sp>
        <p:nvSpPr>
          <p:cNvPr id="19" name="Shape 17"/>
          <p:cNvSpPr/>
          <p:nvPr/>
        </p:nvSpPr>
        <p:spPr>
          <a:xfrm>
            <a:off x="4663440" y="3520440"/>
            <a:ext cx="4023360" cy="402336"/>
          </a:xfrm>
          <a:prstGeom prst="roundRect">
            <a:avLst>
              <a:gd name="adj" fmla="val 50000"/>
            </a:avLst>
          </a:prstGeom>
          <a:solidFill>
            <a:srgbClr val="2F6D62"/>
          </a:solidFill>
          <a:ln w="12700">
            <a:solidFill>
              <a:srgbClr val="2F6D62"/>
            </a:solidFill>
            <a:prstDash val="solid"/>
          </a:ln>
        </p:spPr>
      </p:sp>
      <p:sp>
        <p:nvSpPr>
          <p:cNvPr id="20" name="Text 18"/>
          <p:cNvSpPr txBox="1"/>
          <p:nvPr/>
        </p:nvSpPr>
        <p:spPr>
          <a:xfrm>
            <a:off x="4663440" y="352044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read reaches out; assignment stays home</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Reading reaches out; assignment stays local unless declared</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Assign later, crash earlier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famous scope error, in full</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assignment at the bottom makes the TOP print illegal</a:t>
            </a:r>
            <a:endParaRPr lang="en-US" sz="1150" dirty="0"/>
          </a:p>
        </p:txBody>
      </p:sp>
      <p:sp>
        <p:nvSpPr>
          <p:cNvPr id="7" name="Shape 5"/>
          <p:cNvSpPr/>
          <p:nvPr/>
        </p:nvSpPr>
        <p:spPr>
          <a:xfrm>
            <a:off x="457200" y="1417320"/>
            <a:ext cx="8229600" cy="1691640"/>
          </a:xfrm>
          <a:prstGeom prst="roundRect">
            <a:avLst>
              <a:gd name="adj" fmla="val 5405"/>
            </a:avLst>
          </a:prstGeom>
          <a:solidFill>
            <a:srgbClr val="23272E"/>
          </a:solidFill>
          <a:ln w="12700">
            <a:solidFill>
              <a:srgbClr val="23272E"/>
            </a:solidFill>
            <a:prstDash val="solid"/>
          </a:ln>
        </p:spPr>
      </p:sp>
      <p:sp>
        <p:nvSpPr>
          <p:cNvPr id="8" name="Text 6"/>
          <p:cNvSpPr txBox="1"/>
          <p:nvPr/>
        </p:nvSpPr>
        <p:spPr>
          <a:xfrm>
            <a:off x="640080" y="1536192"/>
            <a:ext cx="7863840" cy="1453896"/>
          </a:xfrm>
          <a:prstGeom prst="rect">
            <a:avLst/>
          </a:prstGeom>
          <a:noFill/>
          <a:ln/>
        </p:spPr>
        <p:txBody>
          <a:bodyPr wrap="square" lIns="0" tIns="0" rIns="0" bIns="0" rtlCol="0" anchor="t"/>
          <a:lstStyle/>
          <a:p>
            <a:pPr indent="0" marL="0">
              <a:buNone/>
            </a:pPr>
            <a:r>
              <a:rPr lang="en-US" sz="790" b="1" dirty="0">
                <a:solidFill>
                  <a:srgbClr val="F2A860"/>
                </a:solidFill>
                <a:latin typeface="Courier New" pitchFamily="34" charset="0"/>
                <a:ea typeface="Courier New" pitchFamily="34" charset="-122"/>
                <a:cs typeface="Courier New" pitchFamily="34" charset="-120"/>
              </a:rPr>
              <a:t>def</a:t>
            </a:r>
            <a:pPr indent="0" marL="0">
              <a:buNone/>
            </a:pPr>
            <a:r>
              <a:rPr lang="en-US" sz="790" dirty="0">
                <a:solidFill>
                  <a:srgbClr val="E6EDF3"/>
                </a:solidFill>
                <a:latin typeface="Courier New" pitchFamily="34" charset="0"/>
                <a:ea typeface="Courier New" pitchFamily="34" charset="-122"/>
                <a:cs typeface="Courier New" pitchFamily="34" charset="-120"/>
              </a:rPr>
              <a:t> show():</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print(count)</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count = </a:t>
            </a:r>
            <a:pPr indent="0" marL="0">
              <a:buNone/>
            </a:pPr>
            <a:r>
              <a:rPr lang="en-US" sz="790" dirty="0">
                <a:solidFill>
                  <a:srgbClr val="FFD28A"/>
                </a:solidFill>
                <a:latin typeface="Courier New" pitchFamily="34" charset="0"/>
                <a:ea typeface="Courier New" pitchFamily="34" charset="-122"/>
                <a:cs typeface="Courier New" pitchFamily="34" charset="-120"/>
              </a:rPr>
              <a:t>1</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count = </a:t>
            </a:r>
            <a:pPr indent="0" marL="0">
              <a:buNone/>
            </a:pPr>
            <a:r>
              <a:rPr lang="en-US" sz="790" dirty="0">
                <a:solidFill>
                  <a:srgbClr val="FFD28A"/>
                </a:solidFill>
                <a:latin typeface="Courier New" pitchFamily="34" charset="0"/>
                <a:ea typeface="Courier New" pitchFamily="34" charset="-122"/>
                <a:cs typeface="Courier New" pitchFamily="34" charset="-120"/>
              </a:rPr>
              <a:t>0</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try:</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show()</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except UnboundLocalError as error:</a:t>
            </a:r>
            <a:endParaRPr lang="en-US" sz="790" dirty="0"/>
          </a:p>
          <a:p>
            <a:pPr indent="0" marL="0">
              <a:buNone/>
            </a:pPr>
            <a:r>
              <a:rPr lang="en-US" sz="790" dirty="0">
                <a:solidFill>
                  <a:srgbClr val="E6EDF3"/>
                </a:solidFill>
                <a:latin typeface="Courier New" pitchFamily="34" charset="0"/>
                <a:ea typeface="Courier New" pitchFamily="34" charset="-122"/>
                <a:cs typeface="Courier New" pitchFamily="34" charset="-120"/>
              </a:rPr>
              <a:t>    print(type(error).__name__ + </a:t>
            </a:r>
            <a:pPr indent="0" marL="0">
              <a:buNone/>
            </a:pPr>
            <a:r>
              <a:rPr lang="en-US" sz="790" dirty="0">
                <a:solidFill>
                  <a:srgbClr val="9ECBFF"/>
                </a:solidFill>
                <a:latin typeface="Courier New" pitchFamily="34" charset="0"/>
                <a:ea typeface="Courier New" pitchFamily="34" charset="-122"/>
                <a:cs typeface="Courier New" pitchFamily="34" charset="-120"/>
              </a:rPr>
              <a:t>':'</a:t>
            </a:r>
            <a:pPr indent="0" marL="0">
              <a:buNone/>
            </a:pPr>
            <a:r>
              <a:rPr lang="en-US" sz="790" dirty="0">
                <a:solidFill>
                  <a:srgbClr val="E6EDF3"/>
                </a:solidFill>
                <a:latin typeface="Courier New" pitchFamily="34" charset="0"/>
                <a:ea typeface="Courier New" pitchFamily="34" charset="-122"/>
                <a:cs typeface="Courier New" pitchFamily="34" charset="-120"/>
              </a:rPr>
              <a:t>, error)</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prints </a:t>
            </a:r>
            <a:pPr indent="0" marL="0">
              <a:buNone/>
            </a:pPr>
            <a:r>
              <a:rPr lang="en-US" sz="790" dirty="0">
                <a:solidFill>
                  <a:srgbClr val="7EE787"/>
                </a:solidFill>
                <a:latin typeface="Courier New" pitchFamily="34" charset="0"/>
                <a:ea typeface="Courier New" pitchFamily="34" charset="-122"/>
                <a:cs typeface="Courier New" pitchFamily="34" charset="-120"/>
              </a:rPr>
              <a:t>UnboundLocalError: cannot access local variable 'count' where it is not associated with a value</a:t>
            </a:r>
            <a:endParaRPr lang="en-US" sz="790" dirty="0"/>
          </a:p>
        </p:txBody>
      </p:sp>
      <p:sp>
        <p:nvSpPr>
          <p:cNvPr id="9" name="Text 7"/>
          <p:cNvSpPr txBox="1"/>
          <p:nvPr/>
        </p:nvSpPr>
        <p:spPr>
          <a:xfrm>
            <a:off x="640080" y="283464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unbound_v1_0_0.py, lines 1 to 8 of 8, run under Python 3.14.6</a:t>
            </a:r>
            <a:endParaRPr lang="en-US" sz="750" dirty="0"/>
          </a:p>
        </p:txBody>
      </p:sp>
      <p:sp>
        <p:nvSpPr>
          <p:cNvPr id="10" name="Shape 8"/>
          <p:cNvSpPr/>
          <p:nvPr/>
        </p:nvSpPr>
        <p:spPr>
          <a:xfrm>
            <a:off x="457200" y="3419856"/>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10"/>
          <p:cNvSpPr txBox="1"/>
          <p:nvPr/>
        </p:nvSpPr>
        <p:spPr>
          <a:xfrm>
            <a:off x="1024128" y="3383280"/>
            <a:ext cx="766267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assignment on the last line marks eggs local for the WHOLE function</a:t>
            </a:r>
            <a:endParaRPr lang="en-US" sz="1050" dirty="0"/>
          </a:p>
        </p:txBody>
      </p:sp>
      <p:sp>
        <p:nvSpPr>
          <p:cNvPr id="13" name="Shape 11"/>
          <p:cNvSpPr/>
          <p:nvPr/>
        </p:nvSpPr>
        <p:spPr>
          <a:xfrm>
            <a:off x="457200" y="3922776"/>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3922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1024128" y="3886200"/>
            <a:ext cx="7662672" cy="4663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the first line's read finds a local that does not exist yet - UnboundLocalError</a:t>
            </a:r>
            <a:endParaRPr lang="en-US" sz="10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anywhere makes it local everywhere - the error says so</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global and nonlocal, demonstrated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Declarations that move the assignment</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global: the module's name, changed inside</a:t>
            </a:r>
            <a:endParaRPr lang="en-US" sz="1150" dirty="0"/>
          </a:p>
        </p:txBody>
      </p:sp>
      <p:sp>
        <p:nvSpPr>
          <p:cNvPr id="7" name="Shape 5"/>
          <p:cNvSpPr/>
          <p:nvPr/>
        </p:nvSpPr>
        <p:spPr>
          <a:xfrm>
            <a:off x="457200" y="1417320"/>
            <a:ext cx="3931920" cy="2240280"/>
          </a:xfrm>
          <a:prstGeom prst="roundRect">
            <a:avLst>
              <a:gd name="adj" fmla="val 4082"/>
            </a:avLst>
          </a:prstGeom>
          <a:solidFill>
            <a:srgbClr val="23272E"/>
          </a:solidFill>
          <a:ln w="12700">
            <a:solidFill>
              <a:srgbClr val="23272E"/>
            </a:solidFill>
            <a:prstDash val="solid"/>
          </a:ln>
        </p:spPr>
      </p:sp>
      <p:sp>
        <p:nvSpPr>
          <p:cNvPr id="8" name="Text 6"/>
          <p:cNvSpPr txBox="1"/>
          <p:nvPr/>
        </p:nvSpPr>
        <p:spPr>
          <a:xfrm>
            <a:off x="640080" y="1536192"/>
            <a:ext cx="3566160" cy="2002536"/>
          </a:xfrm>
          <a:prstGeom prst="rect">
            <a:avLst/>
          </a:prstGeom>
          <a:noFill/>
          <a:ln/>
        </p:spPr>
        <p:txBody>
          <a:bodyPr wrap="square" lIns="0" tIns="0" rIns="0" bIns="0" rtlCol="0" anchor="t"/>
          <a:lstStyle/>
          <a:p>
            <a:pPr indent="0" marL="0">
              <a:buNone/>
            </a:pPr>
            <a:r>
              <a:rPr lang="en-US" sz="870" b="1" dirty="0">
                <a:solidFill>
                  <a:srgbClr val="F2A860"/>
                </a:solidFill>
                <a:latin typeface="Courier New" pitchFamily="34" charset="0"/>
                <a:ea typeface="Courier New" pitchFamily="34" charset="-122"/>
                <a:cs typeface="Courier New" pitchFamily="34" charset="-120"/>
              </a:rPr>
              <a:t>def</a:t>
            </a:r>
            <a:pPr indent="0" marL="0">
              <a:buNone/>
            </a:pPr>
            <a:r>
              <a:rPr lang="en-US" sz="870" dirty="0">
                <a:solidFill>
                  <a:srgbClr val="E6EDF3"/>
                </a:solidFill>
                <a:latin typeface="Courier New" pitchFamily="34" charset="0"/>
                <a:ea typeface="Courier New" pitchFamily="34" charset="-122"/>
                <a:cs typeface="Courier New" pitchFamily="34" charset="-120"/>
              </a:rPr>
              <a:t> change():</a:t>
            </a:r>
            <a:endParaRPr lang="en-US" sz="870" dirty="0"/>
          </a:p>
          <a:p>
            <a:pPr indent="0" marL="0">
              <a:buNone/>
            </a:pPr>
            <a:r>
              <a:rPr lang="en-US" sz="870" dirty="0">
                <a:solidFill>
                  <a:srgbClr val="E6EDF3"/>
                </a:solidFill>
                <a:latin typeface="Courier New" pitchFamily="34" charset="0"/>
                <a:ea typeface="Courier New" pitchFamily="34" charset="-122"/>
                <a:cs typeface="Courier New" pitchFamily="34" charset="-120"/>
              </a:rPr>
              <a:t>    global mood</a:t>
            </a:r>
            <a:endParaRPr lang="en-US" sz="870" dirty="0"/>
          </a:p>
          <a:p>
            <a:pPr indent="0" marL="0">
              <a:buNone/>
            </a:pPr>
            <a:r>
              <a:rPr lang="en-US" sz="870" dirty="0">
                <a:solidFill>
                  <a:srgbClr val="E6EDF3"/>
                </a:solidFill>
                <a:latin typeface="Courier New" pitchFamily="34" charset="0"/>
                <a:ea typeface="Courier New" pitchFamily="34" charset="-122"/>
                <a:cs typeface="Courier New" pitchFamily="34" charset="-120"/>
              </a:rPr>
              <a:t>    mood = </a:t>
            </a:r>
            <a:pPr indent="0" marL="0">
              <a:buNone/>
            </a:pPr>
            <a:r>
              <a:rPr lang="en-US" sz="870" dirty="0">
                <a:solidFill>
                  <a:srgbClr val="9ECBFF"/>
                </a:solidFill>
                <a:latin typeface="Courier New" pitchFamily="34" charset="0"/>
                <a:ea typeface="Courier New" pitchFamily="34" charset="-122"/>
                <a:cs typeface="Courier New" pitchFamily="34" charset="-120"/>
              </a:rPr>
              <a:t>'changed'</a:t>
            </a:r>
            <a:endParaRPr lang="en-US" sz="870" dirty="0"/>
          </a:p>
          <a:p>
            <a:pPr indent="0" marL="0">
              <a:buNone/>
            </a:pPr>
            <a:r>
              <a:rPr lang="en-US" sz="870" b="1" dirty="0">
                <a:solidFill>
                  <a:srgbClr val="F2A860"/>
                </a:solidFill>
                <a:latin typeface="Courier New" pitchFamily="34" charset="0"/>
                <a:ea typeface="Courier New" pitchFamily="34" charset="-122"/>
                <a:cs typeface="Courier New" pitchFamily="34" charset="-120"/>
              </a:rPr>
              <a:t>def</a:t>
            </a:r>
            <a:pPr indent="0" marL="0">
              <a:buNone/>
            </a:pPr>
            <a:r>
              <a:rPr lang="en-US" sz="870" dirty="0">
                <a:solidFill>
                  <a:srgbClr val="E6EDF3"/>
                </a:solidFill>
                <a:latin typeface="Courier New" pitchFamily="34" charset="0"/>
                <a:ea typeface="Courier New" pitchFamily="34" charset="-122"/>
                <a:cs typeface="Courier New" pitchFamily="34" charset="-120"/>
              </a:rPr>
              <a:t> shadow():</a:t>
            </a:r>
            <a:endParaRPr lang="en-US" sz="870" dirty="0"/>
          </a:p>
          <a:p>
            <a:pPr indent="0" marL="0">
              <a:buNone/>
            </a:pPr>
            <a:r>
              <a:rPr lang="en-US" sz="870" dirty="0">
                <a:solidFill>
                  <a:srgbClr val="E6EDF3"/>
                </a:solidFill>
                <a:latin typeface="Courier New" pitchFamily="34" charset="0"/>
                <a:ea typeface="Courier New" pitchFamily="34" charset="-122"/>
                <a:cs typeface="Courier New" pitchFamily="34" charset="-120"/>
              </a:rPr>
              <a:t>    mood = </a:t>
            </a:r>
            <a:pPr indent="0" marL="0">
              <a:buNone/>
            </a:pPr>
            <a:r>
              <a:rPr lang="en-US" sz="870" dirty="0">
                <a:solidFill>
                  <a:srgbClr val="9ECBFF"/>
                </a:solidFill>
                <a:latin typeface="Courier New" pitchFamily="34" charset="0"/>
                <a:ea typeface="Courier New" pitchFamily="34" charset="-122"/>
                <a:cs typeface="Courier New" pitchFamily="34" charset="-120"/>
              </a:rPr>
              <a:t>'local only'</a:t>
            </a:r>
            <a:endParaRPr lang="en-US" sz="870" dirty="0"/>
          </a:p>
          <a:p>
            <a:pPr indent="0" marL="0">
              <a:buNone/>
            </a:pPr>
            <a:r>
              <a:rPr lang="en-US" sz="870" dirty="0">
                <a:solidFill>
                  <a:srgbClr val="E6EDF3"/>
                </a:solidFill>
                <a:latin typeface="Courier New" pitchFamily="34" charset="0"/>
                <a:ea typeface="Courier New" pitchFamily="34" charset="-122"/>
                <a:cs typeface="Courier New" pitchFamily="34" charset="-120"/>
              </a:rPr>
              <a:t>mood = </a:t>
            </a:r>
            <a:pPr indent="0" marL="0">
              <a:buNone/>
            </a:pPr>
            <a:r>
              <a:rPr lang="en-US" sz="870" dirty="0">
                <a:solidFill>
                  <a:srgbClr val="9ECBFF"/>
                </a:solidFill>
                <a:latin typeface="Courier New" pitchFamily="34" charset="0"/>
                <a:ea typeface="Courier New" pitchFamily="34" charset="-122"/>
                <a:cs typeface="Courier New" pitchFamily="34" charset="-120"/>
              </a:rPr>
              <a:t>'original'</a:t>
            </a:r>
            <a:endParaRPr lang="en-US" sz="870" dirty="0"/>
          </a:p>
          <a:p>
            <a:pPr indent="0" marL="0">
              <a:buNone/>
            </a:pPr>
            <a:r>
              <a:rPr lang="en-US" sz="870" dirty="0">
                <a:solidFill>
                  <a:srgbClr val="E6EDF3"/>
                </a:solidFill>
                <a:latin typeface="Courier New" pitchFamily="34" charset="0"/>
                <a:ea typeface="Courier New" pitchFamily="34" charset="-122"/>
                <a:cs typeface="Courier New" pitchFamily="34" charset="-120"/>
              </a:rPr>
              <a:t>shadow()</a:t>
            </a:r>
            <a:endParaRPr lang="en-US" sz="870" dirty="0"/>
          </a:p>
          <a:p>
            <a:pPr indent="0" marL="0">
              <a:buNone/>
            </a:pPr>
            <a:r>
              <a:rPr lang="en-US" sz="870" dirty="0">
                <a:solidFill>
                  <a:srgbClr val="E6EDF3"/>
                </a:solidFill>
                <a:latin typeface="Courier New" pitchFamily="34" charset="0"/>
                <a:ea typeface="Courier New" pitchFamily="34" charset="-122"/>
                <a:cs typeface="Courier New" pitchFamily="34" charset="-120"/>
              </a:rPr>
              <a:t>print(mood)</a:t>
            </a:r>
            <a:endParaRPr lang="en-US" sz="870" dirty="0"/>
          </a:p>
          <a:p>
            <a:pPr indent="0" marL="0">
              <a:buNone/>
            </a:pPr>
            <a:r>
              <a:rPr lang="en-US" sz="870" dirty="0">
                <a:solidFill>
                  <a:srgbClr val="E6EDF3"/>
                </a:solidFill>
                <a:latin typeface="Courier New" pitchFamily="34" charset="0"/>
                <a:ea typeface="Courier New" pitchFamily="34" charset="-122"/>
                <a:cs typeface="Courier New" pitchFamily="34" charset="-120"/>
              </a:rPr>
              <a:t>change()</a:t>
            </a:r>
            <a:endParaRPr lang="en-US" sz="870" dirty="0"/>
          </a:p>
          <a:p>
            <a:pPr indent="0" marL="0">
              <a:buNone/>
            </a:pPr>
            <a:r>
              <a:rPr lang="en-US" sz="870" dirty="0">
                <a:solidFill>
                  <a:srgbClr val="E6EDF3"/>
                </a:solidFill>
                <a:latin typeface="Courier New" pitchFamily="34" charset="0"/>
                <a:ea typeface="Courier New" pitchFamily="34" charset="-122"/>
                <a:cs typeface="Courier New" pitchFamily="34" charset="-120"/>
              </a:rPr>
              <a:t>print(mood)</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prints </a:t>
            </a:r>
            <a:pPr indent="0" marL="0">
              <a:buNone/>
            </a:pPr>
            <a:r>
              <a:rPr lang="en-US" sz="870" dirty="0">
                <a:solidFill>
                  <a:srgbClr val="7EE787"/>
                </a:solidFill>
                <a:latin typeface="Courier New" pitchFamily="34" charset="0"/>
                <a:ea typeface="Courier New" pitchFamily="34" charset="-122"/>
                <a:cs typeface="Courier New" pitchFamily="34" charset="-120"/>
              </a:rPr>
              <a:t>original</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changed</a:t>
            </a:r>
            <a:endParaRPr lang="en-US" sz="870" dirty="0"/>
          </a:p>
        </p:txBody>
      </p:sp>
      <p:sp>
        <p:nvSpPr>
          <p:cNvPr id="9" name="Text 7"/>
          <p:cNvSpPr txBox="1"/>
          <p:nvPr/>
        </p:nvSpPr>
        <p:spPr>
          <a:xfrm>
            <a:off x="640080" y="3383280"/>
            <a:ext cx="356616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globalstmt_v1_0_0.py, lines 1 to 10 of 10, run under Python 3.14.6</a:t>
            </a:r>
            <a:endParaRPr lang="en-US" sz="75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nonlocal: the enclosing def's name</a:t>
            </a:r>
            <a:endParaRPr lang="en-US" sz="1150" dirty="0"/>
          </a:p>
        </p:txBody>
      </p:sp>
      <p:sp>
        <p:nvSpPr>
          <p:cNvPr id="11" name="Shape 9"/>
          <p:cNvSpPr/>
          <p:nvPr/>
        </p:nvSpPr>
        <p:spPr>
          <a:xfrm>
            <a:off x="4663440" y="1417320"/>
            <a:ext cx="4023360" cy="2103120"/>
          </a:xfrm>
          <a:prstGeom prst="roundRect">
            <a:avLst>
              <a:gd name="adj" fmla="val 4348"/>
            </a:avLst>
          </a:prstGeom>
          <a:solidFill>
            <a:srgbClr val="23272E"/>
          </a:solidFill>
          <a:ln w="12700">
            <a:solidFill>
              <a:srgbClr val="23272E"/>
            </a:solidFill>
            <a:prstDash val="solid"/>
          </a:ln>
        </p:spPr>
      </p:sp>
      <p:sp>
        <p:nvSpPr>
          <p:cNvPr id="12" name="Text 10"/>
          <p:cNvSpPr txBox="1"/>
          <p:nvPr/>
        </p:nvSpPr>
        <p:spPr>
          <a:xfrm>
            <a:off x="4846320" y="1536192"/>
            <a:ext cx="3657600" cy="186537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counter():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total = </a:t>
            </a:r>
            <a:pPr indent="0" marL="0">
              <a:buNone/>
            </a:pPr>
            <a:r>
              <a:rPr lang="en-US" sz="900" dirty="0">
                <a:solidFill>
                  <a:srgbClr val="FFD28A"/>
                </a:solidFill>
                <a:latin typeface="Courier New" pitchFamily="34" charset="0"/>
                <a:ea typeface="Courier New" pitchFamily="34" charset="-122"/>
                <a:cs typeface="Courier New" pitchFamily="34" charset="-120"/>
              </a:rPr>
              <a:t>0</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add():</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nonlocal total</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total += </a:t>
            </a:r>
            <a:pPr indent="0" marL="0">
              <a:buNone/>
            </a:pPr>
            <a:r>
              <a:rPr lang="en-US" sz="900" dirty="0">
                <a:solidFill>
                  <a:srgbClr val="FFD28A"/>
                </a:solidFill>
                <a:latin typeface="Courier New" pitchFamily="34" charset="0"/>
                <a:ea typeface="Courier New" pitchFamily="34" charset="-122"/>
                <a:cs typeface="Courier New" pitchFamily="34" charset="-120"/>
              </a:rPr>
              <a:t>1</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add()</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add()</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return</a:t>
            </a:r>
            <a:pPr indent="0" marL="0">
              <a:buNone/>
            </a:pPr>
            <a:r>
              <a:rPr lang="en-US" sz="900" dirty="0">
                <a:solidFill>
                  <a:srgbClr val="E6EDF3"/>
                </a:solidFill>
                <a:latin typeface="Courier New" pitchFamily="34" charset="0"/>
                <a:ea typeface="Courier New" pitchFamily="34" charset="-122"/>
                <a:cs typeface="Courier New" pitchFamily="34" charset="-120"/>
              </a:rPr>
              <a:t> total</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print(counter())</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pPr indent="0" marL="0">
              <a:buNone/>
            </a:pPr>
            <a:r>
              <a:rPr lang="en-US" sz="900" dirty="0">
                <a:solidFill>
                  <a:srgbClr val="7EE787"/>
                </a:solidFill>
                <a:latin typeface="Courier New" pitchFamily="34" charset="0"/>
                <a:ea typeface="Courier New" pitchFamily="34" charset="-122"/>
                <a:cs typeface="Courier New" pitchFamily="34" charset="-120"/>
              </a:rPr>
              <a:t>2</a:t>
            </a:r>
            <a:endParaRPr lang="en-US" sz="900" dirty="0"/>
          </a:p>
        </p:txBody>
      </p:sp>
      <p:sp>
        <p:nvSpPr>
          <p:cNvPr id="13" name="Text 11"/>
          <p:cNvSpPr txBox="1"/>
          <p:nvPr/>
        </p:nvSpPr>
        <p:spPr>
          <a:xfrm>
            <a:off x="4846320" y="3246120"/>
            <a:ext cx="36576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nonlocal_v1_0_0.py, lines 1 to 9 of 9, run under Python 3.14.6</a:t>
            </a:r>
            <a:endParaRPr lang="en-US" sz="750" dirty="0"/>
          </a:p>
        </p:txBody>
      </p:sp>
      <p:sp>
        <p:nvSpPr>
          <p:cNvPr id="14" name="Shape 12"/>
          <p:cNvSpPr/>
          <p:nvPr/>
        </p:nvSpPr>
        <p:spPr>
          <a:xfrm>
            <a:off x="457200" y="3886200"/>
            <a:ext cx="3791102"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886200"/>
            <a:ext cx="3791102"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read: no declaration needed</a:t>
            </a:r>
            <a:endParaRPr lang="en-US" sz="1200" dirty="0"/>
          </a:p>
        </p:txBody>
      </p:sp>
      <p:sp>
        <p:nvSpPr>
          <p:cNvPr id="16" name="Shape 14"/>
          <p:cNvSpPr/>
          <p:nvPr/>
        </p:nvSpPr>
        <p:spPr>
          <a:xfrm>
            <a:off x="4449470" y="3886200"/>
            <a:ext cx="3412541"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449470" y="3886200"/>
            <a:ext cx="3412541"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assign: local by default</a:t>
            </a:r>
            <a:endParaRPr lang="en-US" sz="1200" dirty="0"/>
          </a:p>
        </p:txBody>
      </p:sp>
      <p:sp>
        <p:nvSpPr>
          <p:cNvPr id="18" name="Shape 16"/>
          <p:cNvSpPr/>
          <p:nvPr/>
        </p:nvSpPr>
        <p:spPr>
          <a:xfrm>
            <a:off x="457200" y="4471416"/>
            <a:ext cx="303397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471416"/>
            <a:ext cx="3033979"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declare to aim higher</a:t>
            </a:r>
            <a:endParaRPr lang="en-US" sz="12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Declarations change where assignment lands - use sparingly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Errors, handled</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try, except - and where to put them</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try / except</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Placement</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PEP 758</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Validation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try inside or outside? Both, shown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Same crash, two placements, different programs</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inside: the function apologizes and returns None</a:t>
            </a:r>
            <a:endParaRPr lang="en-US" sz="1150" dirty="0"/>
          </a:p>
        </p:txBody>
      </p:sp>
      <p:sp>
        <p:nvSpPr>
          <p:cNvPr id="7" name="Shape 5"/>
          <p:cNvSpPr/>
          <p:nvPr/>
        </p:nvSpPr>
        <p:spPr>
          <a:xfrm>
            <a:off x="457200" y="1417320"/>
            <a:ext cx="3931920" cy="2468880"/>
          </a:xfrm>
          <a:prstGeom prst="roundRect">
            <a:avLst>
              <a:gd name="adj" fmla="val 3704"/>
            </a:avLst>
          </a:prstGeom>
          <a:solidFill>
            <a:srgbClr val="23272E"/>
          </a:solidFill>
          <a:ln w="12700">
            <a:solidFill>
              <a:srgbClr val="23272E"/>
            </a:solidFill>
            <a:prstDash val="solid"/>
          </a:ln>
        </p:spPr>
      </p:sp>
      <p:sp>
        <p:nvSpPr>
          <p:cNvPr id="8" name="Text 6"/>
          <p:cNvSpPr txBox="1"/>
          <p:nvPr/>
        </p:nvSpPr>
        <p:spPr>
          <a:xfrm>
            <a:off x="640080" y="1536192"/>
            <a:ext cx="3566160" cy="2231136"/>
          </a:xfrm>
          <a:prstGeom prst="rect">
            <a:avLst/>
          </a:prstGeom>
          <a:noFill/>
          <a:ln/>
        </p:spPr>
        <p:txBody>
          <a:bodyPr wrap="square" lIns="0" tIns="0" rIns="0" bIns="0" rtlCol="0" anchor="t"/>
          <a:lstStyle/>
          <a:p>
            <a:pPr indent="0" marL="0">
              <a:buNone/>
            </a:pPr>
            <a:r>
              <a:rPr lang="en-US" sz="850" b="1" dirty="0">
                <a:solidFill>
                  <a:srgbClr val="F2A860"/>
                </a:solidFill>
                <a:latin typeface="Courier New" pitchFamily="34" charset="0"/>
                <a:ea typeface="Courier New" pitchFamily="34" charset="-122"/>
                <a:cs typeface="Courier New" pitchFamily="34" charset="-120"/>
              </a:rPr>
              <a:t>def</a:t>
            </a:r>
            <a:pPr indent="0" marL="0">
              <a:buNone/>
            </a:pPr>
            <a:r>
              <a:rPr lang="en-US" sz="850" dirty="0">
                <a:solidFill>
                  <a:srgbClr val="E6EDF3"/>
                </a:solidFill>
                <a:latin typeface="Courier New" pitchFamily="34" charset="0"/>
                <a:ea typeface="Courier New" pitchFamily="34" charset="-122"/>
                <a:cs typeface="Courier New" pitchFamily="34" charset="-120"/>
              </a:rPr>
              <a:t> divide(by):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try: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b="1" dirty="0">
                <a:solidFill>
                  <a:srgbClr val="F2A860"/>
                </a:solidFill>
                <a:latin typeface="Courier New" pitchFamily="34" charset="0"/>
                <a:ea typeface="Courier New" pitchFamily="34" charset="-122"/>
                <a:cs typeface="Courier New" pitchFamily="34" charset="-120"/>
              </a:rPr>
              <a:t>return</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42</a:t>
            </a:r>
            <a:pPr indent="0" marL="0">
              <a:buNone/>
            </a:pPr>
            <a:r>
              <a:rPr lang="en-US" sz="850" dirty="0">
                <a:solidFill>
                  <a:srgbClr val="E6EDF3"/>
                </a:solidFill>
                <a:latin typeface="Courier New" pitchFamily="34" charset="0"/>
                <a:ea typeface="Courier New" pitchFamily="34" charset="-122"/>
                <a:cs typeface="Courier New" pitchFamily="34" charset="-120"/>
              </a:rPr>
              <a:t> / by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except ZeroDivisionError:</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a:t>
            </a:r>
            <a:pPr indent="0" marL="0">
              <a:buNone/>
            </a:pPr>
            <a:r>
              <a:rPr lang="en-US" sz="850" dirty="0">
                <a:solidFill>
                  <a:srgbClr val="9ECBFF"/>
                </a:solidFill>
                <a:latin typeface="Courier New" pitchFamily="34" charset="0"/>
                <a:ea typeface="Courier New" pitchFamily="34" charset="-122"/>
                <a:cs typeface="Courier New" pitchFamily="34" charset="-120"/>
              </a:rPr>
              <a:t>'Error: Invalid argument.'</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print(divide(</a:t>
            </a:r>
            <a:pPr indent="0" marL="0">
              <a:buNone/>
            </a:pPr>
            <a:r>
              <a:rPr lang="en-US" sz="850" dirty="0">
                <a:solidFill>
                  <a:srgbClr val="FFD28A"/>
                </a:solidFill>
                <a:latin typeface="Courier New" pitchFamily="34" charset="0"/>
                <a:ea typeface="Courier New" pitchFamily="34" charset="-122"/>
                <a:cs typeface="Courier New" pitchFamily="34" charset="-120"/>
              </a:rPr>
              <a:t>2</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print(divide(</a:t>
            </a:r>
            <a:pPr indent="0" marL="0">
              <a:buNone/>
            </a:pPr>
            <a:r>
              <a:rPr lang="en-US" sz="850" dirty="0">
                <a:solidFill>
                  <a:srgbClr val="FFD28A"/>
                </a:solidFill>
                <a:latin typeface="Courier New" pitchFamily="34" charset="0"/>
                <a:ea typeface="Courier New" pitchFamily="34" charset="-122"/>
                <a:cs typeface="Courier New" pitchFamily="34" charset="-120"/>
              </a:rPr>
              <a:t>0</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print(divide(</a:t>
            </a:r>
            <a:pPr indent="0" marL="0">
              <a:buNone/>
            </a:pPr>
            <a:r>
              <a:rPr lang="en-US" sz="850" dirty="0">
                <a:solidFill>
                  <a:srgbClr val="FFD28A"/>
                </a:solidFill>
                <a:latin typeface="Courier New" pitchFamily="34" charset="0"/>
                <a:ea typeface="Courier New" pitchFamily="34" charset="-122"/>
                <a:cs typeface="Courier New" pitchFamily="34" charset="-120"/>
              </a:rPr>
              <a:t>1</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prints </a:t>
            </a:r>
            <a:pPr indent="0" marL="0">
              <a:buNone/>
            </a:pPr>
            <a:r>
              <a:rPr lang="en-US" sz="850" dirty="0">
                <a:solidFill>
                  <a:srgbClr val="7EE787"/>
                </a:solidFill>
                <a:latin typeface="Courier New" pitchFamily="34" charset="0"/>
                <a:ea typeface="Courier New" pitchFamily="34" charset="-122"/>
                <a:cs typeface="Courier New" pitchFamily="34" charset="-120"/>
              </a:rPr>
              <a:t>21.0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Error: Invalid argument.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None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42.0</a:t>
            </a:r>
            <a:endParaRPr lang="en-US" sz="850" dirty="0"/>
          </a:p>
        </p:txBody>
      </p:sp>
      <p:sp>
        <p:nvSpPr>
          <p:cNvPr id="9" name="Text 7"/>
          <p:cNvSpPr txBox="1"/>
          <p:nvPr/>
        </p:nvSpPr>
        <p:spPr>
          <a:xfrm>
            <a:off x="640080" y="3611880"/>
            <a:ext cx="356616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inside_v1_0_0.py, lines 1 to 8 of 8, run under Python 3.14.6</a:t>
            </a:r>
            <a:endParaRPr lang="en-US" sz="75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outside: the caller decides what an error means</a:t>
            </a:r>
            <a:endParaRPr lang="en-US" sz="1150" dirty="0"/>
          </a:p>
        </p:txBody>
      </p:sp>
      <p:sp>
        <p:nvSpPr>
          <p:cNvPr id="11" name="Shape 9"/>
          <p:cNvSpPr/>
          <p:nvPr/>
        </p:nvSpPr>
        <p:spPr>
          <a:xfrm>
            <a:off x="4663440" y="1417320"/>
            <a:ext cx="4023360" cy="2468880"/>
          </a:xfrm>
          <a:prstGeom prst="roundRect">
            <a:avLst>
              <a:gd name="adj" fmla="val 3704"/>
            </a:avLst>
          </a:prstGeom>
          <a:solidFill>
            <a:srgbClr val="23272E"/>
          </a:solidFill>
          <a:ln w="12700">
            <a:solidFill>
              <a:srgbClr val="23272E"/>
            </a:solidFill>
            <a:prstDash val="solid"/>
          </a:ln>
        </p:spPr>
      </p:sp>
      <p:sp>
        <p:nvSpPr>
          <p:cNvPr id="12" name="Text 10"/>
          <p:cNvSpPr txBox="1"/>
          <p:nvPr/>
        </p:nvSpPr>
        <p:spPr>
          <a:xfrm>
            <a:off x="4846320" y="1536192"/>
            <a:ext cx="3657600" cy="2231136"/>
          </a:xfrm>
          <a:prstGeom prst="rect">
            <a:avLst/>
          </a:prstGeom>
          <a:noFill/>
          <a:ln/>
        </p:spPr>
        <p:txBody>
          <a:bodyPr wrap="square" lIns="0" tIns="0" rIns="0" bIns="0" rtlCol="0" anchor="t"/>
          <a:lstStyle/>
          <a:p>
            <a:pPr indent="0" marL="0">
              <a:buNone/>
            </a:pPr>
            <a:r>
              <a:rPr lang="en-US" sz="850" b="1" dirty="0">
                <a:solidFill>
                  <a:srgbClr val="F2A860"/>
                </a:solidFill>
                <a:latin typeface="Courier New" pitchFamily="34" charset="0"/>
                <a:ea typeface="Courier New" pitchFamily="34" charset="-122"/>
                <a:cs typeface="Courier New" pitchFamily="34" charset="-120"/>
              </a:rPr>
              <a:t>def</a:t>
            </a:r>
            <a:pPr indent="0" marL="0">
              <a:buNone/>
            </a:pPr>
            <a:r>
              <a:rPr lang="en-US" sz="850" dirty="0">
                <a:solidFill>
                  <a:srgbClr val="E6EDF3"/>
                </a:solidFill>
                <a:latin typeface="Courier New" pitchFamily="34" charset="0"/>
                <a:ea typeface="Courier New" pitchFamily="34" charset="-122"/>
                <a:cs typeface="Courier New" pitchFamily="34" charset="-120"/>
              </a:rPr>
              <a:t> divide(by):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b="1" dirty="0">
                <a:solidFill>
                  <a:srgbClr val="F2A860"/>
                </a:solidFill>
                <a:latin typeface="Courier New" pitchFamily="34" charset="0"/>
                <a:ea typeface="Courier New" pitchFamily="34" charset="-122"/>
                <a:cs typeface="Courier New" pitchFamily="34" charset="-120"/>
              </a:rPr>
              <a:t>return</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42</a:t>
            </a:r>
            <a:pPr indent="0" marL="0">
              <a:buNone/>
            </a:pPr>
            <a:r>
              <a:rPr lang="en-US" sz="850" dirty="0">
                <a:solidFill>
                  <a:srgbClr val="E6EDF3"/>
                </a:solidFill>
                <a:latin typeface="Courier New" pitchFamily="34" charset="0"/>
                <a:ea typeface="Courier New" pitchFamily="34" charset="-122"/>
                <a:cs typeface="Courier New" pitchFamily="34" charset="-120"/>
              </a:rPr>
              <a:t> / by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try: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print(divide(</a:t>
            </a:r>
            <a:pPr indent="0" marL="0">
              <a:buNone/>
            </a:pPr>
            <a:r>
              <a:rPr lang="en-US" sz="850" dirty="0">
                <a:solidFill>
                  <a:srgbClr val="FFD28A"/>
                </a:solidFill>
                <a:latin typeface="Courier New" pitchFamily="34" charset="0"/>
                <a:ea typeface="Courier New" pitchFamily="34" charset="-122"/>
                <a:cs typeface="Courier New" pitchFamily="34" charset="-120"/>
              </a:rPr>
              <a:t>2</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print(divide(</a:t>
            </a:r>
            <a:pPr indent="0" marL="0">
              <a:buNone/>
            </a:pPr>
            <a:r>
              <a:rPr lang="en-US" sz="850" dirty="0">
                <a:solidFill>
                  <a:srgbClr val="FFD28A"/>
                </a:solidFill>
                <a:latin typeface="Courier New" pitchFamily="34" charset="0"/>
                <a:ea typeface="Courier New" pitchFamily="34" charset="-122"/>
                <a:cs typeface="Courier New" pitchFamily="34" charset="-120"/>
              </a:rPr>
              <a:t>0</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print(divide(</a:t>
            </a:r>
            <a:pPr indent="0" marL="0">
              <a:buNone/>
            </a:pPr>
            <a:r>
              <a:rPr lang="en-US" sz="850" dirty="0">
                <a:solidFill>
                  <a:srgbClr val="FFD28A"/>
                </a:solidFill>
                <a:latin typeface="Courier New" pitchFamily="34" charset="0"/>
                <a:ea typeface="Courier New" pitchFamily="34" charset="-122"/>
                <a:cs typeface="Courier New" pitchFamily="34" charset="-120"/>
              </a:rPr>
              <a:t>1</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except ZeroDivisionError:</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a:t>
            </a:r>
            <a:pPr indent="0" marL="0">
              <a:buNone/>
            </a:pPr>
            <a:r>
              <a:rPr lang="en-US" sz="850" dirty="0">
                <a:solidFill>
                  <a:srgbClr val="9ECBFF"/>
                </a:solidFill>
                <a:latin typeface="Courier New" pitchFamily="34" charset="0"/>
                <a:ea typeface="Courier New" pitchFamily="34" charset="-122"/>
                <a:cs typeface="Courier New" pitchFamily="34" charset="-120"/>
              </a:rPr>
              <a:t>'Error: Invalid argument.'</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prints </a:t>
            </a:r>
            <a:pPr indent="0" marL="0">
              <a:buNone/>
            </a:pPr>
            <a:r>
              <a:rPr lang="en-US" sz="850" dirty="0">
                <a:solidFill>
                  <a:srgbClr val="7EE787"/>
                </a:solidFill>
                <a:latin typeface="Courier New" pitchFamily="34" charset="0"/>
                <a:ea typeface="Courier New" pitchFamily="34" charset="-122"/>
                <a:cs typeface="Courier New" pitchFamily="34" charset="-120"/>
              </a:rPr>
              <a:t>21.0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Error: Invalid argument.</a:t>
            </a:r>
            <a:endParaRPr lang="en-US" sz="850" dirty="0"/>
          </a:p>
        </p:txBody>
      </p:sp>
      <p:sp>
        <p:nvSpPr>
          <p:cNvPr id="13" name="Text 11"/>
          <p:cNvSpPr txBox="1"/>
          <p:nvPr/>
        </p:nvSpPr>
        <p:spPr>
          <a:xfrm>
            <a:off x="4846320" y="3611880"/>
            <a:ext cx="36576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outside_v1_0_0.py, lines 1 to 8 of 8, run under Python 3.14.6</a:t>
            </a:r>
            <a:endParaRPr lang="en-US" sz="750" dirty="0"/>
          </a:p>
        </p:txBody>
      </p:sp>
      <p:sp>
        <p:nvSpPr>
          <p:cNvPr id="14" name="Shape 12"/>
          <p:cNvSpPr/>
          <p:nvPr/>
        </p:nvSpPr>
        <p:spPr>
          <a:xfrm>
            <a:off x="2560320" y="4023360"/>
            <a:ext cx="40233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560320" y="402336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catch where you can act</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Put try where you can DO something about the error</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except clause sheds its parentheses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Python 3.14, 2025</a:t>
            </a:r>
            <a:endParaRPr lang="en-US" sz="1300" dirty="0"/>
          </a:p>
        </p:txBody>
      </p:sp>
      <p:sp>
        <p:nvSpPr>
          <p:cNvPr id="6" name="Shape 4"/>
          <p:cNvSpPr/>
          <p:nvPr/>
        </p:nvSpPr>
        <p:spPr>
          <a:xfrm>
            <a:off x="457200" y="1463040"/>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98448"/>
            <a:ext cx="7955280" cy="4572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For decades: except (ValueError, TypeError) - parentheses required</a:t>
            </a:r>
            <a:endParaRPr lang="en-US" sz="1250" dirty="0"/>
          </a:p>
        </p:txBody>
      </p:sp>
      <p:sp>
        <p:nvSpPr>
          <p:cNvPr id="8" name="Shape 6"/>
          <p:cNvSpPr/>
          <p:nvPr/>
        </p:nvSpPr>
        <p:spPr>
          <a:xfrm>
            <a:off x="457200" y="1920240"/>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55648"/>
            <a:ext cx="7955280" cy="4572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PEP 758, shipped in 3.14: the bare pair now parses - and this build RAN it</a:t>
            </a:r>
            <a:endParaRPr lang="en-US" sz="1250" dirty="0"/>
          </a:p>
        </p:txBody>
      </p:sp>
      <p:sp>
        <p:nvSpPr>
          <p:cNvPr id="10" name="Text 8"/>
          <p:cNvSpPr txBox="1"/>
          <p:nvPr/>
        </p:nvSpPr>
        <p:spPr>
          <a:xfrm>
            <a:off x="457200" y="2057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under the build's 3.14.6; on 3.13 this file is a SyntaxError</a:t>
            </a:r>
            <a:endParaRPr lang="en-US" sz="1150" dirty="0"/>
          </a:p>
        </p:txBody>
      </p:sp>
      <p:sp>
        <p:nvSpPr>
          <p:cNvPr id="11" name="Shape 9"/>
          <p:cNvSpPr/>
          <p:nvPr/>
        </p:nvSpPr>
        <p:spPr>
          <a:xfrm>
            <a:off x="457200" y="2331720"/>
            <a:ext cx="8229600" cy="1371600"/>
          </a:xfrm>
          <a:prstGeom prst="roundRect">
            <a:avLst>
              <a:gd name="adj" fmla="val 6667"/>
            </a:avLst>
          </a:prstGeom>
          <a:solidFill>
            <a:srgbClr val="23272E"/>
          </a:solidFill>
          <a:ln w="12700">
            <a:solidFill>
              <a:srgbClr val="23272E"/>
            </a:solidFill>
            <a:prstDash val="solid"/>
          </a:ln>
        </p:spPr>
      </p:sp>
      <p:sp>
        <p:nvSpPr>
          <p:cNvPr id="12" name="Text 10"/>
          <p:cNvSpPr txBox="1"/>
          <p:nvPr/>
        </p:nvSpPr>
        <p:spPr>
          <a:xfrm>
            <a:off x="640080" y="2450592"/>
            <a:ext cx="7863840" cy="113385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try: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int(</a:t>
            </a:r>
            <a:pPr indent="0" marL="0">
              <a:buNone/>
            </a:pPr>
            <a:r>
              <a:rPr lang="en-US" sz="950" dirty="0">
                <a:solidFill>
                  <a:srgbClr val="9ECBFF"/>
                </a:solidFill>
                <a:latin typeface="Courier New" pitchFamily="34" charset="0"/>
                <a:ea typeface="Courier New" pitchFamily="34" charset="-122"/>
                <a:cs typeface="Courier New" pitchFamily="34" charset="-120"/>
              </a:rPr>
              <a:t>'puppy'</a:t>
            </a:r>
            <a:pPr indent="0" marL="0">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except ValueError, TypeError: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print(</a:t>
            </a:r>
            <a:pPr indent="0" marL="0">
              <a:buNone/>
            </a:pPr>
            <a:r>
              <a:rPr lang="en-US" sz="950" dirty="0">
                <a:solidFill>
                  <a:srgbClr val="9ECBFF"/>
                </a:solidFill>
                <a:latin typeface="Courier New" pitchFamily="34" charset="0"/>
                <a:ea typeface="Courier New" pitchFamily="34" charset="-122"/>
                <a:cs typeface="Courier New" pitchFamily="34" charset="-120"/>
              </a:rPr>
              <a:t>'caught either one'</a:t>
            </a:r>
            <a:pPr indent="0" marL="0">
              <a:buNone/>
            </a:pP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prints </a:t>
            </a:r>
            <a:pPr indent="0" marL="0">
              <a:buNone/>
            </a:pPr>
            <a:r>
              <a:rPr lang="en-US" sz="950" dirty="0">
                <a:solidFill>
                  <a:srgbClr val="7EE787"/>
                </a:solidFill>
                <a:latin typeface="Courier New" pitchFamily="34" charset="0"/>
                <a:ea typeface="Courier New" pitchFamily="34" charset="-122"/>
                <a:cs typeface="Courier New" pitchFamily="34" charset="-120"/>
              </a:rPr>
              <a:t>caught either one</a:t>
            </a:r>
            <a:endParaRPr lang="en-US" sz="950" dirty="0"/>
          </a:p>
        </p:txBody>
      </p:sp>
      <p:sp>
        <p:nvSpPr>
          <p:cNvPr id="13" name="Text 11"/>
          <p:cNvSpPr txBox="1"/>
          <p:nvPr/>
        </p:nvSpPr>
        <p:spPr>
          <a:xfrm>
            <a:off x="640080" y="342900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except758_v1_0_0.py, lines 1 to 4 of 4, run under Python 3.14.6</a:t>
            </a:r>
            <a:endParaRPr lang="en-US" sz="750" dirty="0"/>
          </a:p>
        </p:txBody>
      </p:sp>
      <p:sp>
        <p:nvSpPr>
          <p:cNvPr id="14" name="Shape 12"/>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5" name="Text 13"/>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proposed and accepted through the CPyt…</a:t>
            </a:r>
            <a:endParaRPr lang="en-US" sz="750" dirty="0"/>
          </a:p>
        </p:txBody>
      </p:sp>
      <p:sp>
        <p:nvSpPr>
          <p:cNvPr id="16" name="Shape 14"/>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PEP 758, peps.python.org</a:t>
            </a:r>
            <a:endParaRPr lang="en-US" sz="750" dirty="0"/>
          </a:p>
        </p:txBody>
      </p:sp>
      <p:sp>
        <p:nvSpPr>
          <p:cNvPr id="18" name="Shape 16"/>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Python 3.14, 2025</a:t>
            </a:r>
            <a:endParaRPr lang="en-US" sz="750" dirty="0"/>
          </a:p>
        </p:txBody>
      </p:sp>
      <p:sp>
        <p:nvSpPr>
          <p:cNvPr id="20" name="Shape 18"/>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1" name="Text 19"/>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peps.python.org</a:t>
            </a:r>
            <a:endParaRPr lang="en-US" sz="7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Language change is checkable - this slide ran on 3.14</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Working programs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Functions earning their keep</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Collatz</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 validation</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Annotations</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unsolved problem in your homework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posed 1937; still open</a:t>
            </a:r>
            <a:endParaRPr lang="en-US" sz="1300" dirty="0"/>
          </a:p>
        </p:txBody>
      </p:sp>
      <p:sp>
        <p:nvSpPr>
          <p:cNvPr id="6" name="Shape 4"/>
          <p:cNvSpPr/>
          <p:nvPr/>
        </p:nvSpPr>
        <p:spPr>
          <a:xfrm>
            <a:off x="457200" y="146761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80160"/>
            <a:ext cx="7955280" cy="50292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Halve if even, triple-and-add-one if odd: Collatz (1937) says you always reach 1 - unproven since; Erdos offered 500 dollars</a:t>
            </a:r>
            <a:endParaRPr lang="en-US" sz="1250" dirty="0"/>
          </a:p>
        </p:txBody>
      </p:sp>
      <p:sp>
        <p:nvSpPr>
          <p:cNvPr id="8" name="Text 6"/>
          <p:cNvSpPr txBox="1"/>
          <p:nvPr/>
        </p:nvSpPr>
        <p:spPr>
          <a:xfrm>
            <a:off x="457200" y="1609344"/>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rule as a function, fed 3 - eight steps to 1</a:t>
            </a:r>
            <a:endParaRPr lang="en-US" sz="1150" dirty="0"/>
          </a:p>
        </p:txBody>
      </p:sp>
      <p:sp>
        <p:nvSpPr>
          <p:cNvPr id="9" name="Shape 7"/>
          <p:cNvSpPr/>
          <p:nvPr/>
        </p:nvSpPr>
        <p:spPr>
          <a:xfrm>
            <a:off x="457200" y="1883664"/>
            <a:ext cx="8229600" cy="2157984"/>
          </a:xfrm>
          <a:prstGeom prst="roundRect">
            <a:avLst>
              <a:gd name="adj" fmla="val 4237"/>
            </a:avLst>
          </a:prstGeom>
          <a:solidFill>
            <a:srgbClr val="23272E"/>
          </a:solidFill>
          <a:ln w="12700">
            <a:solidFill>
              <a:srgbClr val="23272E"/>
            </a:solidFill>
            <a:prstDash val="solid"/>
          </a:ln>
        </p:spPr>
      </p:sp>
      <p:sp>
        <p:nvSpPr>
          <p:cNvPr id="10" name="Text 8"/>
          <p:cNvSpPr txBox="1"/>
          <p:nvPr/>
        </p:nvSpPr>
        <p:spPr>
          <a:xfrm>
            <a:off x="640080" y="2002536"/>
            <a:ext cx="7863840" cy="1920240"/>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def</a:t>
            </a:r>
            <a:pPr indent="0" marL="0">
              <a:buNone/>
            </a:pPr>
            <a:r>
              <a:rPr lang="en-US" sz="710" dirty="0">
                <a:solidFill>
                  <a:srgbClr val="E6EDF3"/>
                </a:solidFill>
                <a:latin typeface="Courier New" pitchFamily="34" charset="0"/>
                <a:ea typeface="Courier New" pitchFamily="34" charset="-122"/>
                <a:cs typeface="Courier New" pitchFamily="34" charset="-120"/>
              </a:rPr>
              <a:t> collatz(number):</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if</a:t>
            </a:r>
            <a:pPr indent="0" marL="0">
              <a:buNone/>
            </a:pPr>
            <a:r>
              <a:rPr lang="en-US" sz="710" dirty="0">
                <a:solidFill>
                  <a:srgbClr val="E6EDF3"/>
                </a:solidFill>
                <a:latin typeface="Courier New" pitchFamily="34" charset="0"/>
                <a:ea typeface="Courier New" pitchFamily="34" charset="-122"/>
                <a:cs typeface="Courier New" pitchFamily="34" charset="-120"/>
              </a:rPr>
              <a:t> number % </a:t>
            </a:r>
            <a:pPr indent="0" marL="0">
              <a:buNone/>
            </a:pPr>
            <a:r>
              <a:rPr lang="en-US" sz="710" dirty="0">
                <a:solidFill>
                  <a:srgbClr val="FFD28A"/>
                </a:solidFill>
                <a:latin typeface="Courier New" pitchFamily="34" charset="0"/>
                <a:ea typeface="Courier New" pitchFamily="34" charset="-122"/>
                <a:cs typeface="Courier New" pitchFamily="34" charset="-120"/>
              </a:rPr>
              <a:t>2</a:t>
            </a:r>
            <a:pPr indent="0" marL="0">
              <a:buNone/>
            </a:pPr>
            <a:r>
              <a:rPr lang="en-US" sz="710" dirty="0">
                <a:solidFill>
                  <a:srgbClr val="E6EDF3"/>
                </a:solidFill>
                <a:latin typeface="Courier New" pitchFamily="34" charset="0"/>
                <a:ea typeface="Courier New" pitchFamily="34" charset="-122"/>
                <a:cs typeface="Courier New" pitchFamily="34" charset="-120"/>
              </a:rPr>
              <a:t> ==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result = number // </a:t>
            </a:r>
            <a:pPr indent="0" marL="0">
              <a:buNone/>
            </a:pPr>
            <a:r>
              <a:rPr lang="en-US" sz="710" dirty="0">
                <a:solidFill>
                  <a:srgbClr val="FFD28A"/>
                </a:solidFill>
                <a:latin typeface="Courier New" pitchFamily="34" charset="0"/>
                <a:ea typeface="Courier New" pitchFamily="34" charset="-122"/>
                <a:cs typeface="Courier New" pitchFamily="34" charset="-120"/>
              </a:rPr>
              <a:t>2</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else</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result = </a:t>
            </a:r>
            <a:pPr indent="0" marL="0">
              <a:buNone/>
            </a:pPr>
            <a:r>
              <a:rPr lang="en-US" sz="710" dirty="0">
                <a:solidFill>
                  <a:srgbClr val="FFD28A"/>
                </a:solidFill>
                <a:latin typeface="Courier New" pitchFamily="34" charset="0"/>
                <a:ea typeface="Courier New" pitchFamily="34" charset="-122"/>
                <a:cs typeface="Courier New" pitchFamily="34" charset="-120"/>
              </a:rPr>
              <a:t>3</a:t>
            </a:r>
            <a:pPr indent="0" marL="0">
              <a:buNone/>
            </a:pPr>
            <a:r>
              <a:rPr lang="en-US" sz="710" dirty="0">
                <a:solidFill>
                  <a:srgbClr val="E6EDF3"/>
                </a:solidFill>
                <a:latin typeface="Courier New" pitchFamily="34" charset="0"/>
                <a:ea typeface="Courier New" pitchFamily="34" charset="-122"/>
                <a:cs typeface="Courier New" pitchFamily="34" charset="-120"/>
              </a:rPr>
              <a:t> * number + </a:t>
            </a:r>
            <a:pPr indent="0" marL="0">
              <a:buNone/>
            </a:pP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print(result, end=</a:t>
            </a:r>
            <a:pPr indent="0" marL="0">
              <a:buNone/>
            </a:pPr>
            <a:r>
              <a:rPr lang="en-US" sz="710" dirty="0">
                <a:solidFill>
                  <a:srgbClr val="9ECBFF"/>
                </a:solidFill>
                <a:latin typeface="Courier New" pitchFamily="34" charset="0"/>
                <a:ea typeface="Courier New" pitchFamily="34" charset="-122"/>
                <a:cs typeface="Courier New" pitchFamily="34" charset="-120"/>
              </a:rPr>
              <a:t>' '</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return</a:t>
            </a:r>
            <a:pPr indent="0" marL="0">
              <a:buNone/>
            </a:pPr>
            <a:r>
              <a:rPr lang="en-US" sz="710" dirty="0">
                <a:solidFill>
                  <a:srgbClr val="E6EDF3"/>
                </a:solidFill>
                <a:latin typeface="Courier New" pitchFamily="34" charset="0"/>
                <a:ea typeface="Courier New" pitchFamily="34" charset="-122"/>
                <a:cs typeface="Courier New" pitchFamily="34" charset="-120"/>
              </a:rPr>
              <a:t> result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number = int(input(</a:t>
            </a:r>
            <a:pPr indent="0" marL="0">
              <a:buNone/>
            </a:pPr>
            <a:r>
              <a:rPr lang="en-US" sz="710" dirty="0">
                <a:solidFill>
                  <a:srgbClr val="9ECBFF"/>
                </a:solidFill>
                <a:latin typeface="Courier New" pitchFamily="34" charset="0"/>
                <a:ea typeface="Courier New" pitchFamily="34" charset="-122"/>
                <a:cs typeface="Courier New" pitchFamily="34" charset="-120"/>
              </a:rPr>
              <a:t>'Enter number: '</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print(number, end=</a:t>
            </a:r>
            <a:pPr indent="0" marL="0">
              <a:buNone/>
            </a:pPr>
            <a:r>
              <a:rPr lang="en-US" sz="710" dirty="0">
                <a:solidFill>
                  <a:srgbClr val="9ECBFF"/>
                </a:solidFill>
                <a:latin typeface="Courier New" pitchFamily="34" charset="0"/>
                <a:ea typeface="Courier New" pitchFamily="34" charset="-122"/>
                <a:cs typeface="Courier New" pitchFamily="34" charset="-120"/>
              </a:rPr>
              <a:t>' '</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while</a:t>
            </a:r>
            <a:pPr indent="0" marL="0">
              <a:buNone/>
            </a:pPr>
            <a:r>
              <a:rPr lang="en-US" sz="710" dirty="0">
                <a:solidFill>
                  <a:srgbClr val="E6EDF3"/>
                </a:solidFill>
                <a:latin typeface="Courier New" pitchFamily="34" charset="0"/>
                <a:ea typeface="Courier New" pitchFamily="34" charset="-122"/>
                <a:cs typeface="Courier New" pitchFamily="34" charset="-120"/>
              </a:rPr>
              <a:t> number != </a:t>
            </a:r>
            <a:pPr indent="0" marL="0">
              <a:buNone/>
            </a:pPr>
            <a:r>
              <a:rPr lang="en-US" sz="710" dirty="0">
                <a:solidFill>
                  <a:srgbClr val="FFD28A"/>
                </a:solidFill>
                <a:latin typeface="Courier New" pitchFamily="34" charset="0"/>
                <a:ea typeface="Courier New" pitchFamily="34" charset="-122"/>
                <a:cs typeface="Courier New" pitchFamily="34" charset="-120"/>
              </a:rPr>
              <a:t>1</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number = collatz(number)</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pPr indent="0" marL="0">
              <a:buNone/>
            </a:pPr>
            <a:r>
              <a:rPr lang="en-US" sz="710" dirty="0">
                <a:solidFill>
                  <a:srgbClr val="7EE787"/>
                </a:solidFill>
                <a:latin typeface="Courier New" pitchFamily="34" charset="0"/>
                <a:ea typeface="Courier New" pitchFamily="34" charset="-122"/>
                <a:cs typeface="Courier New" pitchFamily="34" charset="-120"/>
              </a:rPr>
              <a:t>Enter number: 3</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3 10 5 16 8 4 2 1</a:t>
            </a:r>
            <a:endParaRPr lang="en-US" sz="710" dirty="0"/>
          </a:p>
        </p:txBody>
      </p:sp>
      <p:sp>
        <p:nvSpPr>
          <p:cNvPr id="11" name="Text 9"/>
          <p:cNvSpPr txBox="1"/>
          <p:nvPr/>
        </p:nvSpPr>
        <p:spPr>
          <a:xfrm>
            <a:off x="640080" y="3767328"/>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collatz_v1_0_0.py, lines 1 to 12 of 12, run under Python 3.14.6</a:t>
            </a:r>
            <a:endParaRPr lang="en-US" sz="750" dirty="0"/>
          </a:p>
        </p:txBody>
      </p:sp>
      <p:sp>
        <p:nvSpPr>
          <p:cNvPr id="12" name="Shape 10"/>
          <p:cNvSpPr/>
          <p:nvPr/>
        </p:nvSpPr>
        <p:spPr>
          <a:xfrm>
            <a:off x="457200" y="4133088"/>
            <a:ext cx="2449129" cy="365760"/>
          </a:xfrm>
          <a:prstGeom prst="roundRect">
            <a:avLst>
              <a:gd name="adj" fmla="val 50000"/>
            </a:avLst>
          </a:prstGeom>
          <a:solidFill>
            <a:srgbClr val="EFE9DC"/>
          </a:solidFill>
          <a:ln w="9525">
            <a:solidFill>
              <a:srgbClr val="DFD6C7"/>
            </a:solidFill>
            <a:prstDash val="solid"/>
          </a:ln>
        </p:spPr>
      </p:sp>
      <p:sp>
        <p:nvSpPr>
          <p:cNvPr id="13" name="Text 11"/>
          <p:cNvSpPr txBox="1"/>
          <p:nvPr/>
        </p:nvSpPr>
        <p:spPr>
          <a:xfrm>
            <a:off x="548640" y="413308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Lothar Collatz; famously weighed by Pa…</a:t>
            </a:r>
            <a:endParaRPr lang="en-US" sz="750" dirty="0"/>
          </a:p>
        </p:txBody>
      </p:sp>
      <p:sp>
        <p:nvSpPr>
          <p:cNvPr id="14" name="Shape 12"/>
          <p:cNvSpPr/>
          <p:nvPr/>
        </p:nvSpPr>
        <p:spPr>
          <a:xfrm>
            <a:off x="3016057" y="4133088"/>
            <a:ext cx="2449129" cy="365760"/>
          </a:xfrm>
          <a:prstGeom prst="roundRect">
            <a:avLst>
              <a:gd name="adj" fmla="val 50000"/>
            </a:avLst>
          </a:prstGeom>
          <a:solidFill>
            <a:srgbClr val="EFE9DC"/>
          </a:solidFill>
          <a:ln w="9525">
            <a:solidFill>
              <a:srgbClr val="DFD6C7"/>
            </a:solidFill>
            <a:prstDash val="solid"/>
          </a:ln>
        </p:spPr>
      </p:sp>
      <p:sp>
        <p:nvSpPr>
          <p:cNvPr id="15" name="Text 13"/>
          <p:cNvSpPr txBox="1"/>
          <p:nvPr/>
        </p:nvSpPr>
        <p:spPr>
          <a:xfrm>
            <a:off x="3107497" y="413308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Hamburg; the chapter's own collatz pro…</a:t>
            </a:r>
            <a:endParaRPr lang="en-US" sz="750" dirty="0"/>
          </a:p>
        </p:txBody>
      </p:sp>
      <p:sp>
        <p:nvSpPr>
          <p:cNvPr id="16" name="Shape 14"/>
          <p:cNvSpPr/>
          <p:nvPr/>
        </p:nvSpPr>
        <p:spPr>
          <a:xfrm>
            <a:off x="5574914" y="4133088"/>
            <a:ext cx="1343071"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5666354" y="413308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posed 1937; stil…</a:t>
            </a:r>
            <a:endParaRPr lang="en-US" sz="750" dirty="0"/>
          </a:p>
        </p:txBody>
      </p:sp>
      <p:sp>
        <p:nvSpPr>
          <p:cNvPr id="18" name="Shape 16"/>
          <p:cNvSpPr/>
          <p:nvPr/>
        </p:nvSpPr>
        <p:spPr>
          <a:xfrm>
            <a:off x="7027713" y="4133088"/>
            <a:ext cx="1659087" cy="365760"/>
          </a:xfrm>
          <a:prstGeom prst="roundRect">
            <a:avLst>
              <a:gd name="adj" fmla="val 50000"/>
            </a:avLst>
          </a:prstGeom>
          <a:solidFill>
            <a:srgbClr val="2F6D62"/>
          </a:solidFill>
          <a:ln w="9525">
            <a:solidFill>
              <a:srgbClr val="2F6D62"/>
            </a:solidFill>
            <a:prstDash val="solid"/>
          </a:ln>
        </p:spPr>
      </p:sp>
      <p:sp>
        <p:nvSpPr>
          <p:cNvPr id="19" name="Text 17"/>
          <p:cNvSpPr txBox="1"/>
          <p:nvPr/>
        </p:nvSpPr>
        <p:spPr>
          <a:xfrm>
            <a:off x="7119153" y="413308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five-line function can hold an unsolved problem</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Validate at the door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function that refuses bad input politely</a:t>
            </a:r>
            <a:endParaRPr lang="en-US" sz="1300" dirty="0"/>
          </a:p>
        </p:txBody>
      </p:sp>
      <p:sp>
        <p:nvSpPr>
          <p:cNvPr id="6" name="Text 4"/>
          <p:cNvSpPr txBox="1"/>
          <p:nvPr/>
        </p:nvSpPr>
        <p:spPr>
          <a:xfrm>
            <a:off x="457200" y="1143000"/>
            <a:ext cx="4480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retry loop - bad input, then good</a:t>
            </a:r>
            <a:endParaRPr lang="en-US" sz="1150" dirty="0"/>
          </a:p>
        </p:txBody>
      </p:sp>
      <p:sp>
        <p:nvSpPr>
          <p:cNvPr id="7" name="Shape 5"/>
          <p:cNvSpPr/>
          <p:nvPr/>
        </p:nvSpPr>
        <p:spPr>
          <a:xfrm>
            <a:off x="457200" y="1417320"/>
            <a:ext cx="4480560" cy="2834640"/>
          </a:xfrm>
          <a:prstGeom prst="roundRect">
            <a:avLst>
              <a:gd name="adj" fmla="val 3226"/>
            </a:avLst>
          </a:prstGeom>
          <a:solidFill>
            <a:srgbClr val="23272E"/>
          </a:solidFill>
          <a:ln w="12700">
            <a:solidFill>
              <a:srgbClr val="23272E"/>
            </a:solidFill>
            <a:prstDash val="solid"/>
          </a:ln>
        </p:spPr>
      </p:sp>
      <p:sp>
        <p:nvSpPr>
          <p:cNvPr id="8" name="Text 6"/>
          <p:cNvSpPr txBox="1"/>
          <p:nvPr/>
        </p:nvSpPr>
        <p:spPr>
          <a:xfrm>
            <a:off x="640080" y="1536192"/>
            <a:ext cx="4114800" cy="259689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collatz(number):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result = number // </a:t>
            </a:r>
            <a:pPr indent="0" marL="0">
              <a:buNone/>
            </a:pPr>
            <a:r>
              <a:rPr lang="en-US" sz="780" dirty="0">
                <a:solidFill>
                  <a:srgbClr val="FFD28A"/>
                </a:solidFill>
                <a:latin typeface="Courier New" pitchFamily="34" charset="0"/>
                <a:ea typeface="Courier New" pitchFamily="34" charset="-122"/>
                <a:cs typeface="Courier New" pitchFamily="34" charset="-120"/>
              </a:rPr>
              <a:t>2</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if</a:t>
            </a:r>
            <a:pPr indent="0" marL="0">
              <a:buNone/>
            </a:pPr>
            <a:r>
              <a:rPr lang="en-US" sz="780" dirty="0">
                <a:solidFill>
                  <a:srgbClr val="E6EDF3"/>
                </a:solidFill>
                <a:latin typeface="Courier New" pitchFamily="34" charset="0"/>
                <a:ea typeface="Courier New" pitchFamily="34" charset="-122"/>
                <a:cs typeface="Courier New" pitchFamily="34" charset="-120"/>
              </a:rPr>
              <a:t> number % </a:t>
            </a:r>
            <a:pPr indent="0" marL="0">
              <a:buNone/>
            </a:pPr>
            <a:r>
              <a:rPr lang="en-US" sz="780" dirty="0">
                <a:solidFill>
                  <a:srgbClr val="FFD28A"/>
                </a:solidFill>
                <a:latin typeface="Courier New" pitchFamily="34" charset="0"/>
                <a:ea typeface="Courier New" pitchFamily="34" charset="-122"/>
                <a:cs typeface="Courier New" pitchFamily="34" charset="-120"/>
              </a:rPr>
              <a:t>2</a:t>
            </a:r>
            <a:pPr indent="0" marL="0">
              <a:buNone/>
            </a:pPr>
            <a:r>
              <a:rPr lang="en-US" sz="780" dirty="0">
                <a:solidFill>
                  <a:srgbClr val="E6EDF3"/>
                </a:solidFill>
                <a:latin typeface="Courier New" pitchFamily="34" charset="0"/>
                <a:ea typeface="Courier New" pitchFamily="34" charset="-122"/>
                <a:cs typeface="Courier New" pitchFamily="34" charset="-120"/>
              </a:rPr>
              <a:t> == </a:t>
            </a:r>
            <a:pPr indent="0" marL="0">
              <a:buNone/>
            </a:pPr>
            <a:r>
              <a:rPr lang="en-US" sz="780" dirty="0">
                <a:solidFill>
                  <a:srgbClr val="FFD28A"/>
                </a:solidFill>
                <a:latin typeface="Courier New" pitchFamily="34" charset="0"/>
                <a:ea typeface="Courier New" pitchFamily="34" charset="-122"/>
                <a:cs typeface="Courier New" pitchFamily="34" charset="-120"/>
              </a:rPr>
              <a:t>0</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else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3</a:t>
            </a:r>
            <a:pPr indent="0" marL="0">
              <a:buNone/>
            </a:pPr>
            <a:r>
              <a:rPr lang="en-US" sz="780" dirty="0">
                <a:solidFill>
                  <a:srgbClr val="E6EDF3"/>
                </a:solidFill>
                <a:latin typeface="Courier New" pitchFamily="34" charset="0"/>
                <a:ea typeface="Courier New" pitchFamily="34" charset="-122"/>
                <a:cs typeface="Courier New" pitchFamily="34" charset="-120"/>
              </a:rPr>
              <a:t> * number + </a:t>
            </a:r>
            <a:pPr indent="0" marL="0">
              <a:buNone/>
            </a:pPr>
            <a:r>
              <a:rPr lang="en-US" sz="780" dirty="0">
                <a:solidFill>
                  <a:srgbClr val="FFD28A"/>
                </a:solidFill>
                <a:latin typeface="Courier New" pitchFamily="34" charset="0"/>
                <a:ea typeface="Courier New" pitchFamily="34" charset="-122"/>
                <a:cs typeface="Courier New" pitchFamily="34" charset="-120"/>
              </a:rPr>
              <a:t>1</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print(result, end=</a:t>
            </a:r>
            <a:pPr indent="0" marL="0">
              <a:buNone/>
            </a:pPr>
            <a:r>
              <a:rPr lang="en-US" sz="780" dirty="0">
                <a:solidFill>
                  <a:srgbClr val="9ECBFF"/>
                </a:solidFill>
                <a:latin typeface="Courier New" pitchFamily="34" charset="0"/>
                <a:ea typeface="Courier New" pitchFamily="34" charset="-122"/>
                <a:cs typeface="Courier New" pitchFamily="34" charset="-120"/>
              </a:rPr>
              <a:t>' '</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result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while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True</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try: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number = int(input(</a:t>
            </a:r>
            <a:pPr indent="0" marL="0">
              <a:buNone/>
            </a:pPr>
            <a:r>
              <a:rPr lang="en-US" sz="780" dirty="0">
                <a:solidFill>
                  <a:srgbClr val="9ECBFF"/>
                </a:solidFill>
                <a:latin typeface="Courier New" pitchFamily="34" charset="0"/>
                <a:ea typeface="Courier New" pitchFamily="34" charset="-122"/>
                <a:cs typeface="Courier New" pitchFamily="34" charset="-120"/>
              </a:rPr>
              <a:t>'Enter number: '</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break</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except ValueError: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print(</a:t>
            </a:r>
            <a:pPr indent="0" marL="0">
              <a:buNone/>
            </a:pPr>
            <a:r>
              <a:rPr lang="en-US" sz="780" dirty="0">
                <a:solidFill>
                  <a:srgbClr val="9ECBFF"/>
                </a:solidFill>
                <a:latin typeface="Courier New" pitchFamily="34" charset="0"/>
                <a:ea typeface="Courier New" pitchFamily="34" charset="-122"/>
                <a:cs typeface="Courier New" pitchFamily="34" charset="-120"/>
              </a:rPr>
              <a:t>'Please enter a whole number.'</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print(number, end=</a:t>
            </a:r>
            <a:pPr indent="0" marL="0">
              <a:buNone/>
            </a:pPr>
            <a:r>
              <a:rPr lang="en-US" sz="780" dirty="0">
                <a:solidFill>
                  <a:srgbClr val="9ECBFF"/>
                </a:solidFill>
                <a:latin typeface="Courier New" pitchFamily="34" charset="0"/>
                <a:ea typeface="Courier New" pitchFamily="34" charset="-122"/>
                <a:cs typeface="Courier New" pitchFamily="34" charset="-120"/>
              </a:rPr>
              <a:t>' '</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while</a:t>
            </a:r>
            <a:pPr indent="0" marL="0">
              <a:buNone/>
            </a:pPr>
            <a:r>
              <a:rPr lang="en-US" sz="780" dirty="0">
                <a:solidFill>
                  <a:srgbClr val="E6EDF3"/>
                </a:solidFill>
                <a:latin typeface="Courier New" pitchFamily="34" charset="0"/>
                <a:ea typeface="Courier New" pitchFamily="34" charset="-122"/>
                <a:cs typeface="Courier New" pitchFamily="34" charset="-120"/>
              </a:rPr>
              <a:t> number != </a:t>
            </a:r>
            <a:pPr indent="0" marL="0">
              <a:buNone/>
            </a:pPr>
            <a:r>
              <a:rPr lang="en-US" sz="780" dirty="0">
                <a:solidFill>
                  <a:srgbClr val="FFD28A"/>
                </a:solidFill>
                <a:latin typeface="Courier New" pitchFamily="34" charset="0"/>
                <a:ea typeface="Courier New" pitchFamily="34" charset="-122"/>
                <a:cs typeface="Courier New" pitchFamily="34" charset="-120"/>
              </a:rPr>
              <a:t>1</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number = collatz(number)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prints </a:t>
            </a:r>
            <a:pPr indent="0" marL="0">
              <a:buNone/>
            </a:pPr>
            <a:r>
              <a:rPr lang="en-US" sz="780" dirty="0">
                <a:solidFill>
                  <a:srgbClr val="7EE787"/>
                </a:solidFill>
                <a:latin typeface="Courier New" pitchFamily="34" charset="0"/>
                <a:ea typeface="Courier New" pitchFamily="34" charset="-122"/>
                <a:cs typeface="Courier New" pitchFamily="34" charset="-120"/>
              </a:rPr>
              <a:t>Enter number: puppy</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Please enter a whole number.</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Enter number: 6</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6 3 10 5 16 8 4 2 1</a:t>
            </a:r>
            <a:endParaRPr lang="en-US" sz="780" dirty="0"/>
          </a:p>
        </p:txBody>
      </p:sp>
      <p:sp>
        <p:nvSpPr>
          <p:cNvPr id="9" name="Text 7"/>
          <p:cNvSpPr txBox="1"/>
          <p:nvPr/>
        </p:nvSpPr>
        <p:spPr>
          <a:xfrm>
            <a:off x="640080" y="3977640"/>
            <a:ext cx="41148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validated_v1_0_0.py, lines 1 to 14 of 14, run under Python 3.14.6</a:t>
            </a:r>
            <a:endParaRPr lang="en-US" sz="750" dirty="0"/>
          </a:p>
        </p:txBody>
      </p:sp>
      <p:sp>
        <p:nvSpPr>
          <p:cNvPr id="10" name="Shape 8"/>
          <p:cNvSpPr/>
          <p:nvPr/>
        </p:nvSpPr>
        <p:spPr>
          <a:xfrm>
            <a:off x="5257800" y="1499616"/>
            <a:ext cx="402336" cy="402336"/>
          </a:xfrm>
          <a:prstGeom prst="ellipse">
            <a:avLst/>
          </a:prstGeom>
          <a:solidFill>
            <a:srgbClr val="D97A14"/>
          </a:solidFill>
          <a:ln w="12700">
            <a:solidFill>
              <a:srgbClr val="D97A14"/>
            </a:solidFill>
            <a:prstDash val="solid"/>
          </a:ln>
        </p:spPr>
      </p:sp>
      <p:sp>
        <p:nvSpPr>
          <p:cNvPr id="11" name="Text 9"/>
          <p:cNvSpPr txBox="1"/>
          <p:nvPr/>
        </p:nvSpPr>
        <p:spPr>
          <a:xfrm>
            <a:off x="52578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10"/>
          <p:cNvSpPr txBox="1"/>
          <p:nvPr/>
        </p:nvSpPr>
        <p:spPr>
          <a:xfrm>
            <a:off x="5824728" y="1463040"/>
            <a:ext cx="286207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Ask, check, re-ask - inside ONE function</a:t>
            </a:r>
            <a:endParaRPr lang="en-US" sz="1050" dirty="0"/>
          </a:p>
        </p:txBody>
      </p:sp>
      <p:sp>
        <p:nvSpPr>
          <p:cNvPr id="13" name="Shape 11"/>
          <p:cNvSpPr/>
          <p:nvPr/>
        </p:nvSpPr>
        <p:spPr>
          <a:xfrm>
            <a:off x="5257800" y="2078736"/>
            <a:ext cx="402336" cy="402336"/>
          </a:xfrm>
          <a:prstGeom prst="ellipse">
            <a:avLst/>
          </a:prstGeom>
          <a:solidFill>
            <a:srgbClr val="D97A14"/>
          </a:solidFill>
          <a:ln w="12700">
            <a:solidFill>
              <a:srgbClr val="D97A14"/>
            </a:solidFill>
            <a:prstDash val="solid"/>
          </a:ln>
        </p:spPr>
      </p:sp>
      <p:sp>
        <p:nvSpPr>
          <p:cNvPr id="14" name="Text 12"/>
          <p:cNvSpPr txBox="1"/>
          <p:nvPr/>
        </p:nvSpPr>
        <p:spPr>
          <a:xfrm>
            <a:off x="52578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5824728" y="2042160"/>
            <a:ext cx="286207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caller receives only a valid number</a:t>
            </a:r>
            <a:endParaRPr lang="en-US" sz="1050" dirty="0"/>
          </a:p>
        </p:txBody>
      </p:sp>
      <p:sp>
        <p:nvSpPr>
          <p:cNvPr id="16" name="Shape 14"/>
          <p:cNvSpPr/>
          <p:nvPr/>
        </p:nvSpPr>
        <p:spPr>
          <a:xfrm>
            <a:off x="5257800" y="2657856"/>
            <a:ext cx="402336" cy="402336"/>
          </a:xfrm>
          <a:prstGeom prst="ellipse">
            <a:avLst/>
          </a:prstGeom>
          <a:solidFill>
            <a:srgbClr val="D97A14"/>
          </a:solidFill>
          <a:ln w="12700">
            <a:solidFill>
              <a:srgbClr val="D97A14"/>
            </a:solidFill>
            <a:prstDash val="solid"/>
          </a:ln>
        </p:spPr>
      </p:sp>
      <p:sp>
        <p:nvSpPr>
          <p:cNvPr id="17" name="Text 15"/>
          <p:cNvSpPr txBox="1"/>
          <p:nvPr/>
        </p:nvSpPr>
        <p:spPr>
          <a:xfrm>
            <a:off x="52578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5824728" y="2621280"/>
            <a:ext cx="286207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try/except from the last section does the checking</a:t>
            </a:r>
            <a:endParaRPr lang="en-US" sz="1050" dirty="0"/>
          </a:p>
        </p:txBody>
      </p:sp>
      <p:sp>
        <p:nvSpPr>
          <p:cNvPr id="19" name="Shape 17"/>
          <p:cNvSpPr/>
          <p:nvPr/>
        </p:nvSpPr>
        <p:spPr>
          <a:xfrm>
            <a:off x="5257800" y="3520440"/>
            <a:ext cx="3429000" cy="402336"/>
          </a:xfrm>
          <a:prstGeom prst="roundRect">
            <a:avLst>
              <a:gd name="adj" fmla="val 50000"/>
            </a:avLst>
          </a:prstGeom>
          <a:solidFill>
            <a:srgbClr val="2F6D62"/>
          </a:solidFill>
          <a:ln w="12700">
            <a:solidFill>
              <a:srgbClr val="2F6D62"/>
            </a:solidFill>
            <a:prstDash val="solid"/>
          </a:ln>
        </p:spPr>
      </p:sp>
      <p:sp>
        <p:nvSpPr>
          <p:cNvPr id="20" name="Text 18"/>
          <p:cNvSpPr txBox="1"/>
          <p:nvPr/>
        </p:nvSpPr>
        <p:spPr>
          <a:xfrm>
            <a:off x="5257800" y="3520440"/>
            <a:ext cx="34290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functions guard their own doors</a:t>
            </a:r>
            <a:endParaRPr lang="en-US" sz="13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Validation lives inside the function, so every caller inherits it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Annotations: promises for readers and tools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And the 3.14 change underneath them</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annotations evaluate lazily now - the forward name survives until you ASK for it</a:t>
            </a:r>
            <a:endParaRPr lang="en-US" sz="1150" dirty="0"/>
          </a:p>
        </p:txBody>
      </p:sp>
      <p:sp>
        <p:nvSpPr>
          <p:cNvPr id="7" name="Shape 5"/>
          <p:cNvSpPr/>
          <p:nvPr/>
        </p:nvSpPr>
        <p:spPr>
          <a:xfrm>
            <a:off x="457200" y="141732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536192"/>
            <a:ext cx="7863840" cy="1682496"/>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import</a:t>
            </a:r>
            <a:pPr indent="0" marL="0">
              <a:buNone/>
            </a:pPr>
            <a:r>
              <a:rPr lang="en-US" sz="710" dirty="0">
                <a:solidFill>
                  <a:srgbClr val="E6EDF3"/>
                </a:solidFill>
                <a:latin typeface="Courier New" pitchFamily="34" charset="0"/>
                <a:ea typeface="Courier New" pitchFamily="34" charset="-122"/>
                <a:cs typeface="Courier New" pitchFamily="34" charset="-120"/>
              </a:rPr>
              <a:t> annotationlib</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def</a:t>
            </a:r>
            <a:pPr indent="0" marL="0">
              <a:buNone/>
            </a:pPr>
            <a:r>
              <a:rPr lang="en-US" sz="710" dirty="0">
                <a:solidFill>
                  <a:srgbClr val="E6EDF3"/>
                </a:solidFill>
                <a:latin typeface="Courier New" pitchFamily="34" charset="0"/>
                <a:ea typeface="Courier New" pitchFamily="34" charset="-122"/>
                <a:cs typeface="Courier New" pitchFamily="34" charset="-120"/>
              </a:rPr>
              <a:t> parse(text: Document) -&gt; Result: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return</a:t>
            </a:r>
            <a:pPr indent="0" marL="0">
              <a:buNone/>
            </a:pPr>
            <a:r>
              <a:rPr lang="en-US" sz="710" dirty="0">
                <a:solidFill>
                  <a:srgbClr val="E6EDF3"/>
                </a:solidFill>
                <a:latin typeface="Courier New" pitchFamily="34" charset="0"/>
                <a:ea typeface="Courier New" pitchFamily="34" charset="-122"/>
                <a:cs typeface="Courier New" pitchFamily="34" charset="-120"/>
              </a:rPr>
              <a:t> text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print(parse(</a:t>
            </a:r>
            <a:pPr indent="0" marL="0">
              <a:buNone/>
            </a:pPr>
            <a:r>
              <a:rPr lang="en-US" sz="710" dirty="0">
                <a:solidFill>
                  <a:srgbClr val="9ECBFF"/>
                </a:solidFill>
                <a:latin typeface="Courier New" pitchFamily="34" charset="0"/>
                <a:ea typeface="Courier New" pitchFamily="34" charset="-122"/>
                <a:cs typeface="Courier New" pitchFamily="34" charset="-120"/>
              </a:rPr>
              <a:t>'ok'</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try:</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parse.__annotations__</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except NameError as error:</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a:t>
            </a:r>
            <a:pPr indent="0" marL="0">
              <a:buNone/>
            </a:pPr>
            <a:r>
              <a:rPr lang="en-US" sz="710" dirty="0">
                <a:solidFill>
                  <a:srgbClr val="9ECBFF"/>
                </a:solidFill>
                <a:latin typeface="Courier New" pitchFamily="34" charset="0"/>
                <a:ea typeface="Courier New" pitchFamily="34" charset="-122"/>
                <a:cs typeface="Courier New" pitchFamily="34" charset="-120"/>
              </a:rPr>
              <a:t>'NameError:'</a:t>
            </a:r>
            <a:pPr indent="0" marL="0">
              <a:buNone/>
            </a:pPr>
            <a:r>
              <a:rPr lang="en-US" sz="710" dirty="0">
                <a:solidFill>
                  <a:srgbClr val="E6EDF3"/>
                </a:solidFill>
                <a:latin typeface="Courier New" pitchFamily="34" charset="0"/>
                <a:ea typeface="Courier New" pitchFamily="34" charset="-122"/>
                <a:cs typeface="Courier New" pitchFamily="34" charset="-120"/>
              </a:rPr>
              <a:t>, error)</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print(sorted(annotationlib.get_annotations(parse, format=annotationlib.Format.FORWARDREF)))</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pPr indent="0" marL="0">
              <a:buNone/>
            </a:pPr>
            <a:r>
              <a:rPr lang="en-US" sz="710" dirty="0">
                <a:solidFill>
                  <a:srgbClr val="7EE787"/>
                </a:solidFill>
                <a:latin typeface="Courier New" pitchFamily="34" charset="0"/>
                <a:ea typeface="Courier New" pitchFamily="34" charset="-122"/>
                <a:cs typeface="Courier New" pitchFamily="34" charset="-120"/>
              </a:rPr>
              <a:t>ok</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NameError: name 'Document' is not defined</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['return', 'text']</a:t>
            </a:r>
            <a:endParaRPr lang="en-US" sz="710" dirty="0"/>
          </a:p>
        </p:txBody>
      </p:sp>
      <p:sp>
        <p:nvSpPr>
          <p:cNvPr id="9" name="Text 7"/>
          <p:cNvSpPr txBox="1"/>
          <p:nvPr/>
        </p:nvSpPr>
        <p:spPr>
          <a:xfrm>
            <a:off x="640080" y="306324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annotations_v1_0_0.py, lines 1 to 9 of 9, run under Python 3.14.6</a:t>
            </a:r>
            <a:endParaRPr lang="en-US" sz="750" dirty="0"/>
          </a:p>
        </p:txBody>
      </p:sp>
      <p:sp>
        <p:nvSpPr>
          <p:cNvPr id="10" name="Shape 8"/>
          <p:cNvSpPr/>
          <p:nvPr/>
        </p:nvSpPr>
        <p:spPr>
          <a:xfrm>
            <a:off x="457200" y="3611880"/>
            <a:ext cx="2529230"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57200" y="3611880"/>
            <a:ext cx="252923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hints, not checks</a:t>
            </a:r>
            <a:endParaRPr lang="en-US" sz="1200" dirty="0"/>
          </a:p>
        </p:txBody>
      </p:sp>
      <p:sp>
        <p:nvSpPr>
          <p:cNvPr id="12" name="Shape 10"/>
          <p:cNvSpPr/>
          <p:nvPr/>
        </p:nvSpPr>
        <p:spPr>
          <a:xfrm>
            <a:off x="3187598" y="3611880"/>
            <a:ext cx="3412541"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3187598" y="3611880"/>
            <a:ext cx="3412541"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tools and IDEs read them</a:t>
            </a:r>
            <a:endParaRPr lang="en-US" sz="1200" dirty="0"/>
          </a:p>
        </p:txBody>
      </p:sp>
      <p:sp>
        <p:nvSpPr>
          <p:cNvPr id="14" name="Shape 12"/>
          <p:cNvSpPr/>
          <p:nvPr/>
        </p:nvSpPr>
        <p:spPr>
          <a:xfrm>
            <a:off x="457200" y="4197096"/>
            <a:ext cx="3538728"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197096"/>
            <a:ext cx="353872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3.14: deferred by default</a:t>
            </a:r>
            <a:endParaRPr lang="en-US" sz="12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Annotations document intent; 3.14 defers their cost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def names a block; calls hand it values; return brings one back - or None, quietly</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Defaults evaluate once: the remembered list is the trap, None-then-create the repair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 call is a frame on the stack - Wheeler's 1952 bookkeeping, with a 1000-deep rail</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Assignment is local unless declared; reading reaches outward - that is all of scope</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try belongs where you can act; 3.14's except sheds parentheses, and this build ran it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checked sources - every entry a live link</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chapter 4 - free online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automatetheboringstuff.com/3e/chapter4.html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tutorial: defining functions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docs.python.org/3/tutorial/controlflow.html</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Reference</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Compound statements: def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docs.python.org/3/reference/compound_stmts.html</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Built-in functions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docs.python.org/3/library/functions.html</a:t>
            </a:r>
            <a:endParaRPr lang="en-US" sz="1000" dirty="0"/>
          </a:p>
        </p:txBody>
      </p:sp>
      <p:sp>
        <p:nvSpPr>
          <p:cNvPr id="16" name="Text 14"/>
          <p:cNvSpPr txBox="1"/>
          <p:nvPr/>
        </p:nvSpPr>
        <p:spPr>
          <a:xfrm>
            <a:off x="457200" y="33832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Modern practice</a:t>
            </a:r>
            <a:endParaRPr lang="en-US" sz="1250" dirty="0"/>
          </a:p>
        </p:txBody>
      </p:sp>
      <p:sp>
        <p:nvSpPr>
          <p:cNvPr id="17" name="Shape 15"/>
          <p:cNvSpPr/>
          <p:nvPr/>
        </p:nvSpPr>
        <p:spPr>
          <a:xfrm>
            <a:off x="493776" y="3730752"/>
            <a:ext cx="82296" cy="82296"/>
          </a:xfrm>
          <a:prstGeom prst="ellipse">
            <a:avLst/>
          </a:prstGeom>
          <a:solidFill>
            <a:srgbClr val="D97A14"/>
          </a:solidFill>
          <a:ln w="12700">
            <a:solidFill>
              <a:srgbClr val="D97A14"/>
            </a:solidFill>
            <a:prstDash val="solid"/>
          </a:ln>
        </p:spPr>
      </p:sp>
      <p:sp>
        <p:nvSpPr>
          <p:cNvPr id="18" name="Text 16"/>
          <p:cNvSpPr txBox="1"/>
          <p:nvPr/>
        </p:nvSpPr>
        <p:spPr>
          <a:xfrm>
            <a:off x="658368" y="365760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758 - except without parentheses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peps.python.org/pep-0758/</a:t>
            </a:r>
            <a:endParaRPr lang="en-US" sz="1000" dirty="0"/>
          </a:p>
        </p:txBody>
      </p:sp>
      <p:sp>
        <p:nvSpPr>
          <p:cNvPr id="19" name="Shape 17"/>
          <p:cNvSpPr/>
          <p:nvPr/>
        </p:nvSpPr>
        <p:spPr>
          <a:xfrm>
            <a:off x="493776" y="4059936"/>
            <a:ext cx="82296" cy="82296"/>
          </a:xfrm>
          <a:prstGeom prst="ellipse">
            <a:avLst/>
          </a:prstGeom>
          <a:solidFill>
            <a:srgbClr val="D97A14"/>
          </a:solidFill>
          <a:ln w="12700">
            <a:solidFill>
              <a:srgbClr val="D97A14"/>
            </a:solidFill>
            <a:prstDash val="solid"/>
          </a:ln>
        </p:spPr>
      </p:sp>
      <p:sp>
        <p:nvSpPr>
          <p:cNvPr id="20" name="Text 18"/>
          <p:cNvSpPr txBox="1"/>
          <p:nvPr/>
        </p:nvSpPr>
        <p:spPr>
          <a:xfrm>
            <a:off x="658368" y="398678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What's new in 3.14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docs.python.org/3/tutorial/controlflow.html</a:t>
            </a:r>
            <a:endParaRPr lang="en-US" sz="1000" dirty="0"/>
          </a:p>
        </p:txBody>
      </p:sp>
      <p:sp>
        <p:nvSpPr>
          <p:cNvPr id="21" name="Text 19"/>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History &amp; puzzles</a:t>
            </a:r>
            <a:endParaRPr lang="en-US" sz="1250" dirty="0"/>
          </a:p>
        </p:txBody>
      </p:sp>
      <p:sp>
        <p:nvSpPr>
          <p:cNvPr id="22" name="Shape 20"/>
          <p:cNvSpPr/>
          <p:nvPr/>
        </p:nvSpPr>
        <p:spPr>
          <a:xfrm>
            <a:off x="4768596" y="1719072"/>
            <a:ext cx="82296" cy="82296"/>
          </a:xfrm>
          <a:prstGeom prst="ellipse">
            <a:avLst/>
          </a:prstGeom>
          <a:solidFill>
            <a:srgbClr val="D97A14"/>
          </a:solidFill>
          <a:ln w="12700">
            <a:solidFill>
              <a:srgbClr val="D97A14"/>
            </a:solidFill>
            <a:prstDash val="solid"/>
          </a:ln>
        </p:spPr>
      </p:sp>
      <p:sp>
        <p:nvSpPr>
          <p:cNvPr id="23" name="Text 21"/>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David Wheeler and the subroutine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en.wikipedia.org/wiki/David_Wheeler_(computer_scientist)</a:t>
            </a:r>
            <a:endParaRPr lang="en-US" sz="1000" dirty="0"/>
          </a:p>
        </p:txBody>
      </p:sp>
      <p:sp>
        <p:nvSpPr>
          <p:cNvPr id="24" name="Shape 22"/>
          <p:cNvSpPr/>
          <p:nvPr/>
        </p:nvSpPr>
        <p:spPr>
          <a:xfrm>
            <a:off x="4768596" y="204825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Collatz conjecture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en.wikipedia.org/wiki/Collatz_conjecture</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links, checked by the build - one of them is an unsolved problem</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def names, and what return hands back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the mutable default misbehaves, and the repair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x an assignment touches - and how to aim higher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try belongs, and what 3.14 changed about except</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4: Functions</dc:title>
  <dc:subject>PptxGenJS Presentation</dc:subject>
  <dc:creator>Yusuf Altunel</dc:creator>
  <cp:lastModifiedBy>Yusuf Altunel</cp:lastModifiedBy>
  <cp:revision>1</cp:revision>
  <dcterms:created xsi:type="dcterms:W3CDTF">2026-10-06T11:19:08Z</dcterms:created>
  <dcterms:modified xsi:type="dcterms:W3CDTF">2026-10-06T11:19:08Z</dcterms:modified>
</cp:coreProperties>
</file>