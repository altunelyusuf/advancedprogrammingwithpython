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Every result on these slides was produced by running it under Python 3.14.4; every claim beyond the book is in 03-materials/ch04/rdodi.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names from Automate the Boring Stuff with Python, 3rd edition, chapter 4 (Sweigart, 2025); the second line of each item is what the course adds from the chapter 4 research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Creating Functions. The program is this course’s own, shortened from the book’s helloFunc.py;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Creating Functions: the pasted listing ends print(' Good evening!'). Both of the book’s listings were run under Python 3.14.4 (08-tooling/sen0414_ch04_rdodi_data_v1_0_0.py, behaviours); their outputs differ in exactly that line. The program on the slide compares the two outputs as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Arguments and Parameters. The book prints NameError: name 'name' is not defined for this mistake, as Python 3.14.4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Named Parameters. print, Built-in Functions (Python Software Foundation, 2026): sep, end, file and flush, if present, must be given as keyword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570 (Hastings et al., 2018), Python 3.8, and PEP 3102 (Talin, 2006), Python 3.0. The program is this course’s own;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sections Return Values and return Statements and The None Value. return, The Python Language Reference 7.7: if an expression list is present it is evaluated, else None is substituted. PEP 8 (Van Rossum et al., 2001) on comparisons to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Tutorial, 4.9.1 Default Argument Values (Python Software Foundation, 2026): the default is evaluated only once, which matters for a mutable object. The chapter defers its optional named parameters until lists and dictionaries have been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The Call Stack: frame objects are added to and removed from the top of the stack; the top frame is the function currently executing. The program is this course’s own; traceback.extract_stack lists the frames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sys.getrecursionlimit and RecursionError (Python Software Foundation, 2026): the limit keeps infinite recursion from overflowing the C stack; RecursionError derives from RuntimeError.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Local and Global Scopes and Scope Rules; the book’s localGlobalSameName.py prints the same pattern. The program is this course’s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The global Statement. The program is this course’s own;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Scope Identification. The Python Language Reference 4.2.2 Resolution of names: the local variables of a code block can be determined by scanning the entire text of the block for name binding operations. The symtable module reports the result for the book’s spam, bacon and ham (a, b and c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Scope Identification. Programming FAQ, Why am I getting an UnboundLocalError (Python Software Foundation, 2026). The class is a subclass of NameError.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nonlocal statement, The Python Language Reference 7.13; PEP 3104 (Yee, 2006), Python 3.0. The program is this course’s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Exception Handling: zeroDivide.py with the try inside spam(); the book prints 21.0, 3.5, Error: Invalid argument., None, 42.0. The Python Tutorial 8.3 (Python Software Foundation, 2026): if an exception occurs in the try clause the rest of it is skipped and a matching except clause runs. The program is this course’s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Exception Handling: the calls inside a try block, whose spam(1) is never executed. The program is this course’s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758 (Galindo Salgado and Cannon, 2024), Python 3.14; What’s New In Python 3.14. Executed under Python 3.14.4: the form with as is a SyntaxError, multiple exception types must be parenthesized when using 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649 and PEP 749 (Hastings, 2021), Python 3.14; What’s New In Python 3.14 and the annotationlib module.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Practice Programs, The Collatz Sequence: for 3 the book’s output is 3 10 5 16 8 4 2 1. This is the course’s own solution,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Practice Programs, Input Validation. The course’s own solution, with the two inputs shown,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Functions as “Black Boxes” and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at the call; the argument is the value passed, the parameter the variable that receives it; None; the local one, so UnboundLocalError; to the matching except clause, and it does not return into the try clause. Questions 2, 6 and 13 follow the book’s practice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03-materials/ch04/rdodi/sen0414_ch04_research_v1_0_0.ttl.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the 3rd edition is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Shape 0"/>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Text 1"/>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Text 2"/>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4: Functions</a:t>
            </a:r>
            <a:endParaRPr lang="en-US" sz="3800" dirty="0"/>
          </a:p>
        </p:txBody>
      </p:sp>
      <p:sp>
        <p:nvSpPr>
          <p:cNvPr id="5" name="Text 3"/>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Names, scopes and the call stack — in the book’s terms and in today’s Python</a:t>
            </a:r>
            <a:endParaRPr lang="en-US" sz="1800" dirty="0"/>
          </a:p>
        </p:txBody>
      </p:sp>
      <p:sp>
        <p:nvSpPr>
          <p:cNvPr id="6" name="Text 4"/>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chapter at a glance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sections, and where this course takes them</a:t>
            </a:r>
            <a:endParaRPr lang="en-US" sz="1300" dirty="0"/>
          </a:p>
        </p:txBody>
      </p:sp>
      <p:sp>
        <p:nvSpPr>
          <p:cNvPr id="6" name="Shape 4"/>
          <p:cNvSpPr/>
          <p:nvPr/>
        </p:nvSpPr>
        <p:spPr>
          <a:xfrm>
            <a:off x="457200" y="1399032"/>
            <a:ext cx="502920" cy="502920"/>
          </a:xfrm>
          <a:prstGeom prst="ellipse">
            <a:avLst/>
          </a:prstGeom>
          <a:solidFill>
            <a:srgbClr val="306998"/>
          </a:solidFill>
          <a:ln w="12700">
            <a:solidFill>
              <a:srgbClr val="306998"/>
            </a:solidFill>
            <a:prstDash val="solid"/>
          </a:ln>
        </p:spPr>
      </p:sp>
      <p:sp>
        <p:nvSpPr>
          <p:cNvPr id="7" name="Text 5"/>
          <p:cNvSpPr txBox="1"/>
          <p:nvPr/>
        </p:nvSpPr>
        <p:spPr>
          <a:xfrm>
            <a:off x="457200" y="1399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097280" y="132588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Creating functions</a:t>
            </a:r>
            <a:endParaRPr lang="en-US" sz="1500" dirty="0"/>
          </a:p>
        </p:txBody>
      </p:sp>
      <p:sp>
        <p:nvSpPr>
          <p:cNvPr id="9" name="Text 7"/>
          <p:cNvSpPr txBox="1"/>
          <p:nvPr/>
        </p:nvSpPr>
        <p:spPr>
          <a:xfrm>
            <a:off x="1097280" y="169164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def, calls, and not repeating code</a:t>
            </a:r>
            <a:endParaRPr lang="en-US" sz="1300" dirty="0"/>
          </a:p>
        </p:txBody>
      </p:sp>
      <p:sp>
        <p:nvSpPr>
          <p:cNvPr id="10" name="Shape 8"/>
          <p:cNvSpPr/>
          <p:nvPr/>
        </p:nvSpPr>
        <p:spPr>
          <a:xfrm>
            <a:off x="4663440" y="1399032"/>
            <a:ext cx="502920" cy="502920"/>
          </a:xfrm>
          <a:prstGeom prst="ellipse">
            <a:avLst/>
          </a:prstGeom>
          <a:solidFill>
            <a:srgbClr val="306998"/>
          </a:solidFill>
          <a:ln w="12700">
            <a:solidFill>
              <a:srgbClr val="306998"/>
            </a:solidFill>
            <a:prstDash val="solid"/>
          </a:ln>
        </p:spPr>
      </p:sp>
      <p:sp>
        <p:nvSpPr>
          <p:cNvPr id="11" name="Text 9"/>
          <p:cNvSpPr txBox="1"/>
          <p:nvPr/>
        </p:nvSpPr>
        <p:spPr>
          <a:xfrm>
            <a:off x="4663440" y="1399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5303520" y="132588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Arguments and parameters</a:t>
            </a:r>
            <a:endParaRPr lang="en-US" sz="1500" dirty="0"/>
          </a:p>
        </p:txBody>
      </p:sp>
      <p:sp>
        <p:nvSpPr>
          <p:cNvPr id="13" name="Text 11"/>
          <p:cNvSpPr txBox="1"/>
          <p:nvPr/>
        </p:nvSpPr>
        <p:spPr>
          <a:xfrm>
            <a:off x="5303520" y="169164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positional-only and keyword-only</a:t>
            </a:r>
            <a:endParaRPr lang="en-US" sz="1300" dirty="0"/>
          </a:p>
        </p:txBody>
      </p:sp>
      <p:sp>
        <p:nvSpPr>
          <p:cNvPr id="14" name="Shape 12"/>
          <p:cNvSpPr/>
          <p:nvPr/>
        </p:nvSpPr>
        <p:spPr>
          <a:xfrm>
            <a:off x="457200" y="2450592"/>
            <a:ext cx="502920" cy="502920"/>
          </a:xfrm>
          <a:prstGeom prst="ellipse">
            <a:avLst/>
          </a:prstGeom>
          <a:solidFill>
            <a:srgbClr val="306998"/>
          </a:solidFill>
          <a:ln w="12700">
            <a:solidFill>
              <a:srgbClr val="306998"/>
            </a:solidFill>
            <a:prstDash val="solid"/>
          </a:ln>
        </p:spPr>
      </p:sp>
      <p:sp>
        <p:nvSpPr>
          <p:cNvPr id="15" name="Text 13"/>
          <p:cNvSpPr txBox="1"/>
          <p:nvPr/>
        </p:nvSpPr>
        <p:spPr>
          <a:xfrm>
            <a:off x="457200" y="2450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1097280" y="237744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Return values and None</a:t>
            </a:r>
            <a:endParaRPr lang="en-US" sz="1500" dirty="0"/>
          </a:p>
        </p:txBody>
      </p:sp>
      <p:sp>
        <p:nvSpPr>
          <p:cNvPr id="17" name="Text 15"/>
          <p:cNvSpPr txBox="1"/>
          <p:nvPr/>
        </p:nvSpPr>
        <p:spPr>
          <a:xfrm>
            <a:off x="1097280" y="274320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defaults evaluated once</a:t>
            </a:r>
            <a:endParaRPr lang="en-US" sz="1300" dirty="0"/>
          </a:p>
        </p:txBody>
      </p:sp>
      <p:sp>
        <p:nvSpPr>
          <p:cNvPr id="18" name="Shape 16"/>
          <p:cNvSpPr/>
          <p:nvPr/>
        </p:nvSpPr>
        <p:spPr>
          <a:xfrm>
            <a:off x="4663440" y="2450592"/>
            <a:ext cx="502920" cy="502920"/>
          </a:xfrm>
          <a:prstGeom prst="ellipse">
            <a:avLst/>
          </a:prstGeom>
          <a:solidFill>
            <a:srgbClr val="306998"/>
          </a:solidFill>
          <a:ln w="12700">
            <a:solidFill>
              <a:srgbClr val="306998"/>
            </a:solidFill>
            <a:prstDash val="solid"/>
          </a:ln>
        </p:spPr>
      </p:sp>
      <p:sp>
        <p:nvSpPr>
          <p:cNvPr id="19" name="Text 17"/>
          <p:cNvSpPr txBox="1"/>
          <p:nvPr/>
        </p:nvSpPr>
        <p:spPr>
          <a:xfrm>
            <a:off x="4663440" y="2450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0" name="Text 18"/>
          <p:cNvSpPr txBox="1"/>
          <p:nvPr/>
        </p:nvSpPr>
        <p:spPr>
          <a:xfrm>
            <a:off x="5303520" y="237744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The call stack</a:t>
            </a:r>
            <a:endParaRPr lang="en-US" sz="1500" dirty="0"/>
          </a:p>
        </p:txBody>
      </p:sp>
      <p:sp>
        <p:nvSpPr>
          <p:cNvPr id="21" name="Text 19"/>
          <p:cNvSpPr txBox="1"/>
          <p:nvPr/>
        </p:nvSpPr>
        <p:spPr>
          <a:xfrm>
            <a:off x="5303520" y="274320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frames, and the recursion limit</a:t>
            </a:r>
            <a:endParaRPr lang="en-US" sz="1300" dirty="0"/>
          </a:p>
        </p:txBody>
      </p:sp>
      <p:sp>
        <p:nvSpPr>
          <p:cNvPr id="22" name="Shape 20"/>
          <p:cNvSpPr/>
          <p:nvPr/>
        </p:nvSpPr>
        <p:spPr>
          <a:xfrm>
            <a:off x="457200" y="3502152"/>
            <a:ext cx="502920" cy="502920"/>
          </a:xfrm>
          <a:prstGeom prst="ellipse">
            <a:avLst/>
          </a:prstGeom>
          <a:solidFill>
            <a:srgbClr val="306998"/>
          </a:solidFill>
          <a:ln w="12700">
            <a:solidFill>
              <a:srgbClr val="306998"/>
            </a:solidFill>
            <a:prstDash val="solid"/>
          </a:ln>
        </p:spPr>
      </p:sp>
      <p:sp>
        <p:nvSpPr>
          <p:cNvPr id="23" name="Text 21"/>
          <p:cNvSpPr txBox="1"/>
          <p:nvPr/>
        </p:nvSpPr>
        <p:spPr>
          <a:xfrm>
            <a:off x="457200" y="3502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4" name="Text 22"/>
          <p:cNvSpPr txBox="1"/>
          <p:nvPr/>
        </p:nvSpPr>
        <p:spPr>
          <a:xfrm>
            <a:off x="1097280" y="342900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Local and global scopes</a:t>
            </a:r>
            <a:endParaRPr lang="en-US" sz="1500" dirty="0"/>
          </a:p>
        </p:txBody>
      </p:sp>
      <p:sp>
        <p:nvSpPr>
          <p:cNvPr id="25" name="Text 23"/>
          <p:cNvSpPr txBox="1"/>
          <p:nvPr/>
        </p:nvSpPr>
        <p:spPr>
          <a:xfrm>
            <a:off x="1097280" y="379476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decided by scanning the body</a:t>
            </a:r>
            <a:endParaRPr lang="en-US" sz="1300" dirty="0"/>
          </a:p>
        </p:txBody>
      </p:sp>
      <p:sp>
        <p:nvSpPr>
          <p:cNvPr id="26" name="Shape 24"/>
          <p:cNvSpPr/>
          <p:nvPr/>
        </p:nvSpPr>
        <p:spPr>
          <a:xfrm>
            <a:off x="4663440" y="3502152"/>
            <a:ext cx="502920" cy="502920"/>
          </a:xfrm>
          <a:prstGeom prst="ellipse">
            <a:avLst/>
          </a:prstGeom>
          <a:solidFill>
            <a:srgbClr val="306998"/>
          </a:solidFill>
          <a:ln w="12700">
            <a:solidFill>
              <a:srgbClr val="306998"/>
            </a:solidFill>
            <a:prstDash val="solid"/>
          </a:ln>
        </p:spPr>
      </p:sp>
      <p:sp>
        <p:nvSpPr>
          <p:cNvPr id="27" name="Text 25"/>
          <p:cNvSpPr txBox="1"/>
          <p:nvPr/>
        </p:nvSpPr>
        <p:spPr>
          <a:xfrm>
            <a:off x="4663440" y="3502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8" name="Text 26"/>
          <p:cNvSpPr txBox="1"/>
          <p:nvPr/>
        </p:nvSpPr>
        <p:spPr>
          <a:xfrm>
            <a:off x="5303520" y="342900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Exception handling</a:t>
            </a:r>
            <a:endParaRPr lang="en-US" sz="1500" dirty="0"/>
          </a:p>
        </p:txBody>
      </p:sp>
      <p:sp>
        <p:nvSpPr>
          <p:cNvPr id="29" name="Text 27"/>
          <p:cNvSpPr txBox="1"/>
          <p:nvPr/>
        </p:nvSpPr>
        <p:spPr>
          <a:xfrm>
            <a:off x="5303520" y="379476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and what 3.14 changed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def and calls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body runs when the function is called</a:t>
            </a:r>
            <a:endParaRPr lang="en-US" sz="1300" dirty="0"/>
          </a:p>
        </p:txBody>
      </p:sp>
      <p:sp>
        <p:nvSpPr>
          <p:cNvPr id="6" name="Shape 4"/>
          <p:cNvSpPr/>
          <p:nvPr/>
        </p:nvSpPr>
        <p:spPr>
          <a:xfrm>
            <a:off x="457200" y="1325880"/>
            <a:ext cx="4023360" cy="1920240"/>
          </a:xfrm>
          <a:prstGeom prst="roundRect">
            <a:avLst>
              <a:gd name="adj" fmla="val 4762"/>
            </a:avLst>
          </a:prstGeom>
          <a:solidFill>
            <a:srgbClr val="17202B"/>
          </a:solidFill>
          <a:ln w="12700">
            <a:solidFill>
              <a:srgbClr val="17202B"/>
            </a:solidFill>
            <a:prstDash val="solid"/>
          </a:ln>
        </p:spPr>
      </p:sp>
      <p:sp>
        <p:nvSpPr>
          <p:cNvPr id="7" name="Text 5"/>
          <p:cNvSpPr txBox="1"/>
          <p:nvPr/>
        </p:nvSpPr>
        <p:spPr>
          <a:xfrm>
            <a:off x="640080" y="1435608"/>
            <a:ext cx="3657600" cy="1700784"/>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def hello():</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print('Good morning!')</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print('Good evening!')</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hello()</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print('ONE MORE TIME!')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hello()</a:t>
            </a:r>
            <a:endParaRPr lang="en-US" sz="1400" dirty="0"/>
          </a:p>
        </p:txBody>
      </p:sp>
      <p:sp>
        <p:nvSpPr>
          <p:cNvPr id="8" name="Shape 6"/>
          <p:cNvSpPr/>
          <p:nvPr/>
        </p:nvSpPr>
        <p:spPr>
          <a:xfrm>
            <a:off x="4754880" y="1325880"/>
            <a:ext cx="3931920" cy="1920240"/>
          </a:xfrm>
          <a:prstGeom prst="roundRect">
            <a:avLst>
              <a:gd name="adj" fmla="val 4762"/>
            </a:avLst>
          </a:prstGeom>
          <a:solidFill>
            <a:srgbClr val="F1F4F8"/>
          </a:solidFill>
          <a:ln w="12700">
            <a:solidFill>
              <a:srgbClr val="F1F4F8"/>
            </a:solidFill>
            <a:prstDash val="solid"/>
          </a:ln>
        </p:spPr>
      </p:sp>
      <p:sp>
        <p:nvSpPr>
          <p:cNvPr id="9" name="Text 7"/>
          <p:cNvSpPr txBox="1"/>
          <p:nvPr/>
        </p:nvSpPr>
        <p:spPr>
          <a:xfrm>
            <a:off x="4892040" y="1417320"/>
            <a:ext cx="3657600" cy="1737360"/>
          </a:xfrm>
          <a:prstGeom prst="rect">
            <a:avLst/>
          </a:prstGeom>
          <a:noFill/>
          <a:ln/>
        </p:spPr>
        <p:txBody>
          <a:bodyPr wrap="square" lIns="0" tIns="0" rIns="0" bIns="0" rtlCol="0" anchor="t"/>
          <a:lstStyle/>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Good morning!</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Good evening!</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ONE MORE TIME!</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Good morning!</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Good evening!</a:t>
            </a:r>
            <a:endParaRPr lang="en-US" sz="1400" dirty="0"/>
          </a:p>
        </p:txBody>
      </p:sp>
      <p:sp>
        <p:nvSpPr>
          <p:cNvPr id="10" name="Text 8"/>
          <p:cNvSpPr txBox="1"/>
          <p:nvPr/>
        </p:nvSpPr>
        <p:spPr>
          <a:xfrm>
            <a:off x="4754880" y="3282696"/>
            <a:ext cx="39319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566160"/>
            <a:ext cx="8229600" cy="1097280"/>
          </a:xfrm>
          <a:prstGeom prst="roundRect">
            <a:avLst>
              <a:gd name="adj" fmla="val 8333"/>
            </a:avLst>
          </a:prstGeom>
          <a:solidFill>
            <a:srgbClr val="F1F4F8"/>
          </a:solidFill>
          <a:ln w="12700">
            <a:solidFill>
              <a:srgbClr val="F1F4F8"/>
            </a:solidFill>
            <a:prstDash val="solid"/>
          </a:ln>
        </p:spPr>
      </p:sp>
      <p:sp>
        <p:nvSpPr>
          <p:cNvPr id="12" name="Text 10"/>
          <p:cNvSpPr txBox="1"/>
          <p:nvPr/>
        </p:nvSpPr>
        <p:spPr>
          <a:xfrm>
            <a:off x="640080" y="370332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Define once, call often</a:t>
            </a:r>
            <a:endParaRPr lang="en-US" sz="1700" dirty="0"/>
          </a:p>
        </p:txBody>
      </p:sp>
      <p:sp>
        <p:nvSpPr>
          <p:cNvPr id="13" name="Text 11"/>
          <p:cNvSpPr txBox="1"/>
          <p:nvPr/>
        </p:nvSpPr>
        <p:spPr>
          <a:xfrm>
            <a:off x="640080" y="4096512"/>
            <a:ext cx="7863840" cy="4572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def statement creates the function; nothing in its body runs until a call. Each call jumps into the body and returns to the line after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Why not paste the code?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own pasted listing drifted</a:t>
            </a:r>
            <a:endParaRPr lang="en-US" sz="1300" dirty="0"/>
          </a:p>
        </p:txBody>
      </p:sp>
      <p:sp>
        <p:nvSpPr>
          <p:cNvPr id="6" name="Shape 4"/>
          <p:cNvSpPr/>
          <p:nvPr/>
        </p:nvSpPr>
        <p:spPr>
          <a:xfrm>
            <a:off x="457200" y="1325880"/>
            <a:ext cx="5120640" cy="2103120"/>
          </a:xfrm>
          <a:prstGeom prst="roundRect">
            <a:avLst>
              <a:gd name="adj" fmla="val 4348"/>
            </a:avLst>
          </a:prstGeom>
          <a:solidFill>
            <a:srgbClr val="17202B"/>
          </a:solidFill>
          <a:ln w="12700">
            <a:solidFill>
              <a:srgbClr val="17202B"/>
            </a:solidFill>
            <a:prstDash val="solid"/>
          </a:ln>
        </p:spPr>
      </p:sp>
      <p:sp>
        <p:nvSpPr>
          <p:cNvPr id="7" name="Text 5"/>
          <p:cNvSpPr txBox="1"/>
          <p:nvPr/>
        </p:nvSpPr>
        <p:spPr>
          <a:xfrm>
            <a:off x="640080" y="1435608"/>
            <a:ext cx="4754880" cy="188366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pasted = ['Good morning!', 'Good afternoon!', 'Good evening!'] * 2 + ['ONE MORE TIME!', 'Good morning!', 'Good afternoon!', ' Good evening!']</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called = ['Good morning!', 'Good afternoon!', 'Good evening!'] * 2 + ['ONE MORE TIME!', 'Good morning!', 'Good afternoon!', 'Good evening!']</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for one, other in zip(pasted, called):</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if one != other: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print(repr(one), 'is not', repr(other))</a:t>
            </a:r>
            <a:endParaRPr lang="en-US" sz="1100" dirty="0"/>
          </a:p>
        </p:txBody>
      </p:sp>
      <p:sp>
        <p:nvSpPr>
          <p:cNvPr id="8" name="Shape 6"/>
          <p:cNvSpPr/>
          <p:nvPr/>
        </p:nvSpPr>
        <p:spPr>
          <a:xfrm>
            <a:off x="5760720" y="1325880"/>
            <a:ext cx="2926080" cy="1005840"/>
          </a:xfrm>
          <a:prstGeom prst="roundRect">
            <a:avLst>
              <a:gd name="adj" fmla="val 9091"/>
            </a:avLst>
          </a:prstGeom>
          <a:solidFill>
            <a:srgbClr val="F1F4F8"/>
          </a:solidFill>
          <a:ln w="12700">
            <a:solidFill>
              <a:srgbClr val="F1F4F8"/>
            </a:solidFill>
            <a:prstDash val="solid"/>
          </a:ln>
        </p:spPr>
      </p:sp>
      <p:sp>
        <p:nvSpPr>
          <p:cNvPr id="9" name="Text 7"/>
          <p:cNvSpPr txBox="1"/>
          <p:nvPr/>
        </p:nvSpPr>
        <p:spPr>
          <a:xfrm>
            <a:off x="5897880" y="1417320"/>
            <a:ext cx="2651760" cy="822960"/>
          </a:xfrm>
          <a:prstGeom prst="rect">
            <a:avLst/>
          </a:prstGeom>
          <a:noFill/>
          <a:ln/>
        </p:spPr>
        <p:txBody>
          <a:bodyPr wrap="square" lIns="0" tIns="0" rIns="0" bIns="0" rtlCol="0" anchor="t"/>
          <a:lstStyle/>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 Good evening!' is not 'Good evening!'</a:t>
            </a:r>
            <a:endParaRPr lang="en-US" sz="1200" dirty="0"/>
          </a:p>
        </p:txBody>
      </p:sp>
      <p:sp>
        <p:nvSpPr>
          <p:cNvPr id="10" name="Text 8"/>
          <p:cNvSpPr txBox="1"/>
          <p:nvPr/>
        </p:nvSpPr>
        <p:spPr>
          <a:xfrm>
            <a:off x="5760720" y="2368296"/>
            <a:ext cx="292608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611880"/>
            <a:ext cx="8229600" cy="1097280"/>
          </a:xfrm>
          <a:prstGeom prst="roundRect">
            <a:avLst>
              <a:gd name="adj" fmla="val 8333"/>
            </a:avLst>
          </a:prstGeom>
          <a:solidFill>
            <a:srgbClr val="F1F4F8"/>
          </a:solidFill>
          <a:ln w="12700">
            <a:solidFill>
              <a:srgbClr val="F1F4F8"/>
            </a:solidFill>
            <a:prstDash val="solid"/>
          </a:ln>
        </p:spPr>
      </p:sp>
      <p:sp>
        <p:nvSpPr>
          <p:cNvPr id="12" name="Text 10"/>
          <p:cNvSpPr txBox="1"/>
          <p:nvPr/>
        </p:nvSpPr>
        <p:spPr>
          <a:xfrm>
            <a:off x="640080" y="374904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Found by running both listings</a:t>
            </a:r>
            <a:endParaRPr lang="en-US" sz="1700" dirty="0"/>
          </a:p>
        </p:txBody>
      </p:sp>
      <p:sp>
        <p:nvSpPr>
          <p:cNvPr id="13" name="Text 11"/>
          <p:cNvSpPr txBox="1"/>
          <p:nvPr/>
        </p:nvSpPr>
        <p:spPr>
          <a:xfrm>
            <a:off x="640080" y="4142232"/>
            <a:ext cx="7863840" cy="4572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last pasted line in the book is print(' Good evening!') — with a leading space — so its output differs from the function version. That is the hazard the passage warns about.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Arguments and parameters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Values in, forgotten on return</a:t>
            </a:r>
            <a:endParaRPr lang="en-US" sz="1300" dirty="0"/>
          </a:p>
        </p:txBody>
      </p:sp>
      <p:sp>
        <p:nvSpPr>
          <p:cNvPr id="6" name="Shape 4"/>
          <p:cNvSpPr/>
          <p:nvPr/>
        </p:nvSpPr>
        <p:spPr>
          <a:xfrm>
            <a:off x="457200" y="1325880"/>
            <a:ext cx="4206240" cy="2194560"/>
          </a:xfrm>
          <a:prstGeom prst="roundRect">
            <a:avLst>
              <a:gd name="adj" fmla="val 4167"/>
            </a:avLst>
          </a:prstGeom>
          <a:solidFill>
            <a:srgbClr val="17202B"/>
          </a:solidFill>
          <a:ln w="12700">
            <a:solidFill>
              <a:srgbClr val="17202B"/>
            </a:solidFill>
            <a:prstDash val="solid"/>
          </a:ln>
        </p:spPr>
      </p:sp>
      <p:sp>
        <p:nvSpPr>
          <p:cNvPr id="7" name="Text 5"/>
          <p:cNvSpPr txBox="1"/>
          <p:nvPr/>
        </p:nvSpPr>
        <p:spPr>
          <a:xfrm>
            <a:off x="640080" y="1435608"/>
            <a:ext cx="3840480" cy="197510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say_hello_to(name):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print('Good morning, ' + name)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say_hello_to('Alice')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say_hello_to('Bob')</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print(name)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except NameError as error: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print(error)</a:t>
            </a:r>
            <a:endParaRPr lang="en-US" sz="1300" dirty="0"/>
          </a:p>
        </p:txBody>
      </p:sp>
      <p:sp>
        <p:nvSpPr>
          <p:cNvPr id="8" name="Shape 6"/>
          <p:cNvSpPr/>
          <p:nvPr/>
        </p:nvSpPr>
        <p:spPr>
          <a:xfrm>
            <a:off x="4937760" y="1325880"/>
            <a:ext cx="374904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074920" y="1417320"/>
            <a:ext cx="3474720" cy="1280160"/>
          </a:xfrm>
          <a:prstGeom prst="rect">
            <a:avLst/>
          </a:prstGeom>
          <a:noFill/>
          <a:ln/>
        </p:spPr>
        <p:txBody>
          <a:bodyPr wrap="square" lIns="0" tIns="0" rIns="0" bIns="0" rtlCol="0" anchor="t"/>
          <a:lstStyle/>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Good morning, Alice</a:t>
            </a:r>
            <a:endParaRPr lang="en-US" sz="1200" dirty="0"/>
          </a:p>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Good morning, Bob</a:t>
            </a:r>
            <a:endParaRPr lang="en-US" sz="1200" dirty="0"/>
          </a:p>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name 'name' is not defined</a:t>
            </a:r>
            <a:endParaRPr lang="en-US" sz="1200" dirty="0"/>
          </a:p>
        </p:txBody>
      </p:sp>
      <p:sp>
        <p:nvSpPr>
          <p:cNvPr id="10" name="Text 8"/>
          <p:cNvSpPr txBox="1"/>
          <p:nvPr/>
        </p:nvSpPr>
        <p:spPr>
          <a:xfrm>
            <a:off x="4937760" y="282549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749040"/>
            <a:ext cx="8229600" cy="960120"/>
          </a:xfrm>
          <a:prstGeom prst="roundRect">
            <a:avLst>
              <a:gd name="adj" fmla="val 9524"/>
            </a:avLst>
          </a:prstGeom>
          <a:solidFill>
            <a:srgbClr val="F1F4F8"/>
          </a:solidFill>
          <a:ln w="12700">
            <a:solidFill>
              <a:srgbClr val="F1F4F8"/>
            </a:solidFill>
            <a:prstDash val="solid"/>
          </a:ln>
        </p:spPr>
      </p:sp>
      <p:sp>
        <p:nvSpPr>
          <p:cNvPr id="12" name="Text 10"/>
          <p:cNvSpPr txBox="1"/>
          <p:nvPr/>
        </p:nvSpPr>
        <p:spPr>
          <a:xfrm>
            <a:off x="640080" y="388620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Define, call, pass</a:t>
            </a:r>
            <a:endParaRPr lang="en-US" sz="1700" dirty="0"/>
          </a:p>
        </p:txBody>
      </p:sp>
      <p:sp>
        <p:nvSpPr>
          <p:cNvPr id="13" name="Text 11"/>
          <p:cNvSpPr txBox="1"/>
          <p:nvPr/>
        </p:nvSpPr>
        <p:spPr>
          <a:xfrm>
            <a:off x="640080" y="4279392"/>
            <a:ext cx="7863840" cy="3200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argument is the value passed; a parameter is the variable that receives it. The parameter does not exist once the call returns.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Named parameters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Identified by name, not by position</a:t>
            </a:r>
            <a:endParaRPr lang="en-US" sz="1300" dirty="0"/>
          </a:p>
        </p:txBody>
      </p:sp>
      <p:sp>
        <p:nvSpPr>
          <p:cNvPr id="6" name="Shape 4"/>
          <p:cNvSpPr/>
          <p:nvPr/>
        </p:nvSpPr>
        <p:spPr>
          <a:xfrm>
            <a:off x="457200" y="1325880"/>
            <a:ext cx="4206240" cy="1371600"/>
          </a:xfrm>
          <a:prstGeom prst="roundRect">
            <a:avLst>
              <a:gd name="adj" fmla="val 6667"/>
            </a:avLst>
          </a:prstGeom>
          <a:solidFill>
            <a:srgbClr val="17202B"/>
          </a:solidFill>
          <a:ln w="12700">
            <a:solidFill>
              <a:srgbClr val="17202B"/>
            </a:solidFill>
            <a:prstDash val="solid"/>
          </a:ln>
        </p:spPr>
      </p:sp>
      <p:sp>
        <p:nvSpPr>
          <p:cNvPr id="7" name="Text 5"/>
          <p:cNvSpPr txBox="1"/>
          <p:nvPr/>
        </p:nvSpPr>
        <p:spPr>
          <a:xfrm>
            <a:off x="640080" y="1435608"/>
            <a:ext cx="3840480" cy="1152144"/>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print('Hello', end='')</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print('World')</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print('cats', 'dogs', 'mice', sep=',')</a:t>
            </a:r>
            <a:endParaRPr lang="en-US" sz="1400" dirty="0"/>
          </a:p>
        </p:txBody>
      </p:sp>
      <p:sp>
        <p:nvSpPr>
          <p:cNvPr id="8" name="Shape 6"/>
          <p:cNvSpPr/>
          <p:nvPr/>
        </p:nvSpPr>
        <p:spPr>
          <a:xfrm>
            <a:off x="4937760" y="1325880"/>
            <a:ext cx="3749040" cy="1371600"/>
          </a:xfrm>
          <a:prstGeom prst="roundRect">
            <a:avLst>
              <a:gd name="adj" fmla="val 6667"/>
            </a:avLst>
          </a:prstGeom>
          <a:solidFill>
            <a:srgbClr val="F1F4F8"/>
          </a:solidFill>
          <a:ln w="12700">
            <a:solidFill>
              <a:srgbClr val="F1F4F8"/>
            </a:solidFill>
            <a:prstDash val="solid"/>
          </a:ln>
        </p:spPr>
      </p:sp>
      <p:sp>
        <p:nvSpPr>
          <p:cNvPr id="9" name="Text 7"/>
          <p:cNvSpPr txBox="1"/>
          <p:nvPr/>
        </p:nvSpPr>
        <p:spPr>
          <a:xfrm>
            <a:off x="5074920" y="1417320"/>
            <a:ext cx="3474720" cy="1188720"/>
          </a:xfrm>
          <a:prstGeom prst="rect">
            <a:avLst/>
          </a:prstGeom>
          <a:noFill/>
          <a:ln/>
        </p:spPr>
        <p:txBody>
          <a:bodyPr wrap="square" lIns="0" tIns="0" rIns="0" bIns="0" rtlCol="0" anchor="t"/>
          <a:lstStyle/>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HelloWorld</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cats,dogs,mice</a:t>
            </a:r>
            <a:endParaRPr lang="en-US" sz="1400" dirty="0"/>
          </a:p>
        </p:txBody>
      </p:sp>
      <p:sp>
        <p:nvSpPr>
          <p:cNvPr id="10" name="Text 8"/>
          <p:cNvSpPr txBox="1"/>
          <p:nvPr/>
        </p:nvSpPr>
        <p:spPr>
          <a:xfrm>
            <a:off x="4937760" y="273405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017520"/>
            <a:ext cx="8229600" cy="1463040"/>
          </a:xfrm>
          <a:prstGeom prst="roundRect">
            <a:avLst>
              <a:gd name="adj" fmla="val 6250"/>
            </a:avLst>
          </a:prstGeom>
          <a:solidFill>
            <a:srgbClr val="F1F4F8"/>
          </a:solidFill>
          <a:ln w="12700">
            <a:solidFill>
              <a:srgbClr val="F1F4F8"/>
            </a:solidFill>
            <a:prstDash val="solid"/>
          </a:ln>
        </p:spPr>
      </p:sp>
      <p:sp>
        <p:nvSpPr>
          <p:cNvPr id="12" name="Text 10"/>
          <p:cNvSpPr txBox="1"/>
          <p:nvPr/>
        </p:nvSpPr>
        <p:spPr>
          <a:xfrm>
            <a:off x="640080" y="315468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print() has four</a:t>
            </a:r>
            <a:endParaRPr lang="en-US" sz="1700" dirty="0"/>
          </a:p>
        </p:txBody>
      </p:sp>
      <p:sp>
        <p:nvSpPr>
          <p:cNvPr id="13" name="Text 11"/>
          <p:cNvSpPr txBox="1"/>
          <p:nvPr/>
        </p:nvSpPr>
        <p:spPr>
          <a:xfrm>
            <a:off x="640080" y="3547872"/>
            <a:ext cx="786384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sep, end, file and flush can only be given by name. end='' suppresses the newline; sep=',' changes the separator between values.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Positional-only and keyword-only</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What the chapter leaves for later</a:t>
            </a:r>
            <a:endParaRPr lang="en-US" sz="1300" dirty="0"/>
          </a:p>
        </p:txBody>
      </p:sp>
      <p:sp>
        <p:nvSpPr>
          <p:cNvPr id="6" name="Shape 4"/>
          <p:cNvSpPr/>
          <p:nvPr/>
        </p:nvSpPr>
        <p:spPr>
          <a:xfrm>
            <a:off x="457200" y="1234440"/>
            <a:ext cx="4754880" cy="2560320"/>
          </a:xfrm>
          <a:prstGeom prst="roundRect">
            <a:avLst>
              <a:gd name="adj" fmla="val 3571"/>
            </a:avLst>
          </a:prstGeom>
          <a:solidFill>
            <a:srgbClr val="17202B"/>
          </a:solidFill>
          <a:ln w="12700">
            <a:solidFill>
              <a:srgbClr val="17202B"/>
            </a:solidFill>
            <a:prstDash val="solid"/>
          </a:ln>
        </p:spPr>
      </p:sp>
      <p:sp>
        <p:nvSpPr>
          <p:cNvPr id="7" name="Text 5"/>
          <p:cNvSpPr txBox="1"/>
          <p:nvPr/>
        </p:nvSpPr>
        <p:spPr>
          <a:xfrm>
            <a:off x="640080" y="1344168"/>
            <a:ext cx="4389120" cy="234086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scale(value, /, factor=2):</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value * factor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area(width, *, height):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width * height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print(scale(3), scale(3, factor=4), area(2, height=5))</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for call in (lambda: scale(value=3), lambda: area(2, 5)):</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try: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call()</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except TypeError as 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print(error)</a:t>
            </a:r>
            <a:endParaRPr lang="en-US" sz="1100" dirty="0"/>
          </a:p>
        </p:txBody>
      </p:sp>
      <p:sp>
        <p:nvSpPr>
          <p:cNvPr id="8" name="Shape 6"/>
          <p:cNvSpPr/>
          <p:nvPr/>
        </p:nvSpPr>
        <p:spPr>
          <a:xfrm>
            <a:off x="5394960" y="1234440"/>
            <a:ext cx="3291840" cy="2103120"/>
          </a:xfrm>
          <a:prstGeom prst="roundRect">
            <a:avLst>
              <a:gd name="adj" fmla="val 4348"/>
            </a:avLst>
          </a:prstGeom>
          <a:solidFill>
            <a:srgbClr val="F1F4F8"/>
          </a:solidFill>
          <a:ln w="12700">
            <a:solidFill>
              <a:srgbClr val="F1F4F8"/>
            </a:solidFill>
            <a:prstDash val="solid"/>
          </a:ln>
        </p:spPr>
      </p:sp>
      <p:sp>
        <p:nvSpPr>
          <p:cNvPr id="9" name="Text 7"/>
          <p:cNvSpPr txBox="1"/>
          <p:nvPr/>
        </p:nvSpPr>
        <p:spPr>
          <a:xfrm>
            <a:off x="5532120" y="1325880"/>
            <a:ext cx="3017520" cy="1920240"/>
          </a:xfrm>
          <a:prstGeom prst="rect">
            <a:avLst/>
          </a:prstGeom>
          <a:noFill/>
          <a:ln/>
        </p:spPr>
        <p:txBody>
          <a:bodyPr wrap="square" lIns="0" tIns="0" rIns="0" bIns="0" rtlCol="0" anchor="t"/>
          <a:lstStyle/>
          <a:p>
            <a:pPr indent="0" marL="0">
              <a:spcAft>
                <a:spcPts val="200"/>
              </a:spcAft>
              <a:buNone/>
            </a:pPr>
            <a:r>
              <a:rPr lang="en-US" sz="1050" dirty="0">
                <a:solidFill>
                  <a:srgbClr val="1F2933"/>
                </a:solidFill>
                <a:latin typeface="Courier New" pitchFamily="34" charset="0"/>
                <a:ea typeface="Courier New" pitchFamily="34" charset="-122"/>
                <a:cs typeface="Courier New" pitchFamily="34" charset="-120"/>
              </a:rPr>
              <a:t>6 12 10</a:t>
            </a:r>
            <a:endParaRPr lang="en-US" sz="1050" dirty="0"/>
          </a:p>
          <a:p>
            <a:pPr indent="0" marL="0">
              <a:spcAft>
                <a:spcPts val="200"/>
              </a:spcAft>
              <a:buNone/>
            </a:pPr>
            <a:r>
              <a:rPr lang="en-US" sz="1050" dirty="0">
                <a:solidFill>
                  <a:srgbClr val="1F2933"/>
                </a:solidFill>
                <a:latin typeface="Courier New" pitchFamily="34" charset="0"/>
                <a:ea typeface="Courier New" pitchFamily="34" charset="-122"/>
                <a:cs typeface="Courier New" pitchFamily="34" charset="-120"/>
              </a:rPr>
              <a:t>scale() got some positional-only arguments passed as keyword arguments: 'value'</a:t>
            </a:r>
            <a:endParaRPr lang="en-US" sz="1050" dirty="0"/>
          </a:p>
          <a:p>
            <a:pPr indent="0" marL="0">
              <a:spcAft>
                <a:spcPts val="200"/>
              </a:spcAft>
              <a:buNone/>
            </a:pPr>
            <a:r>
              <a:rPr lang="en-US" sz="1050" dirty="0">
                <a:solidFill>
                  <a:srgbClr val="1F2933"/>
                </a:solidFill>
                <a:latin typeface="Courier New" pitchFamily="34" charset="0"/>
                <a:ea typeface="Courier New" pitchFamily="34" charset="-122"/>
                <a:cs typeface="Courier New" pitchFamily="34" charset="-120"/>
              </a:rPr>
              <a:t>area() takes 1 positional argument but 2 were given</a:t>
            </a:r>
            <a:endParaRPr lang="en-US" sz="1050" dirty="0"/>
          </a:p>
        </p:txBody>
      </p:sp>
      <p:sp>
        <p:nvSpPr>
          <p:cNvPr id="10" name="Text 8"/>
          <p:cNvSpPr txBox="1"/>
          <p:nvPr/>
        </p:nvSpPr>
        <p:spPr>
          <a:xfrm>
            <a:off x="5394960" y="3374136"/>
            <a:ext cx="32918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977640"/>
            <a:ext cx="8229600" cy="777240"/>
          </a:xfrm>
          <a:prstGeom prst="roundRect">
            <a:avLst>
              <a:gd name="adj" fmla="val 11765"/>
            </a:avLst>
          </a:prstGeom>
          <a:solidFill>
            <a:srgbClr val="F1F4F8"/>
          </a:solidFill>
          <a:ln w="12700">
            <a:solidFill>
              <a:srgbClr val="F1F4F8"/>
            </a:solidFill>
            <a:prstDash val="solid"/>
          </a:ln>
        </p:spPr>
      </p:sp>
      <p:sp>
        <p:nvSpPr>
          <p:cNvPr id="12" name="Text 10"/>
          <p:cNvSpPr txBox="1"/>
          <p:nvPr/>
        </p:nvSpPr>
        <p:spPr>
          <a:xfrm>
            <a:off x="640080" y="411480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Slash and star</a:t>
            </a:r>
            <a:endParaRPr lang="en-US" sz="1700" dirty="0"/>
          </a:p>
        </p:txBody>
      </p:sp>
      <p:sp>
        <p:nvSpPr>
          <p:cNvPr id="13" name="Text 11"/>
          <p:cNvSpPr txBox="1"/>
          <p:nvPr/>
        </p:nvSpPr>
        <p:spPr>
          <a:xfrm>
            <a:off x="640080" y="4507992"/>
            <a:ext cx="7863840" cy="137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Before / : position only. After * : name only. A wrong call raises a TypeError that says which.</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Return values and None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call is an expression</a:t>
            </a:r>
            <a:endParaRPr lang="en-US" sz="1300" dirty="0"/>
          </a:p>
        </p:txBody>
      </p:sp>
      <p:sp>
        <p:nvSpPr>
          <p:cNvPr id="6" name="Shape 4"/>
          <p:cNvSpPr/>
          <p:nvPr/>
        </p:nvSpPr>
        <p:spPr>
          <a:xfrm>
            <a:off x="457200" y="1325880"/>
            <a:ext cx="4206240" cy="2103120"/>
          </a:xfrm>
          <a:prstGeom prst="roundRect">
            <a:avLst>
              <a:gd name="adj" fmla="val 4348"/>
            </a:avLst>
          </a:prstGeom>
          <a:solidFill>
            <a:srgbClr val="17202B"/>
          </a:solidFill>
          <a:ln w="12700">
            <a:solidFill>
              <a:srgbClr val="17202B"/>
            </a:solidFill>
            <a:prstDash val="solid"/>
          </a:ln>
        </p:spPr>
      </p:sp>
      <p:sp>
        <p:nvSpPr>
          <p:cNvPr id="7" name="Text 5"/>
          <p:cNvSpPr txBox="1"/>
          <p:nvPr/>
        </p:nvSpPr>
        <p:spPr>
          <a:xfrm>
            <a:off x="640080" y="1435608"/>
            <a:ext cx="3840480" cy="188366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area(width, height):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return width * height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def shout(text):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print(text.upper())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print(area(3, 4) + area(1, 2))</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result = shout('hi')</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print(result is None)</a:t>
            </a:r>
            <a:endParaRPr lang="en-US" sz="1300" dirty="0"/>
          </a:p>
        </p:txBody>
      </p:sp>
      <p:sp>
        <p:nvSpPr>
          <p:cNvPr id="8" name="Shape 6"/>
          <p:cNvSpPr/>
          <p:nvPr/>
        </p:nvSpPr>
        <p:spPr>
          <a:xfrm>
            <a:off x="4937760" y="1325880"/>
            <a:ext cx="3749040" cy="1371600"/>
          </a:xfrm>
          <a:prstGeom prst="roundRect">
            <a:avLst>
              <a:gd name="adj" fmla="val 6667"/>
            </a:avLst>
          </a:prstGeom>
          <a:solidFill>
            <a:srgbClr val="F1F4F8"/>
          </a:solidFill>
          <a:ln w="12700">
            <a:solidFill>
              <a:srgbClr val="F1F4F8"/>
            </a:solidFill>
            <a:prstDash val="solid"/>
          </a:ln>
        </p:spPr>
      </p:sp>
      <p:sp>
        <p:nvSpPr>
          <p:cNvPr id="9" name="Text 7"/>
          <p:cNvSpPr txBox="1"/>
          <p:nvPr/>
        </p:nvSpPr>
        <p:spPr>
          <a:xfrm>
            <a:off x="5074920" y="1417320"/>
            <a:ext cx="3474720" cy="118872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14</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HI</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True</a:t>
            </a:r>
            <a:endParaRPr lang="en-US" sz="1300" dirty="0"/>
          </a:p>
        </p:txBody>
      </p:sp>
      <p:sp>
        <p:nvSpPr>
          <p:cNvPr id="10" name="Text 8"/>
          <p:cNvSpPr txBox="1"/>
          <p:nvPr/>
        </p:nvSpPr>
        <p:spPr>
          <a:xfrm>
            <a:off x="4937760" y="273405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657600"/>
            <a:ext cx="4206240" cy="1005840"/>
          </a:xfrm>
          <a:prstGeom prst="roundRect">
            <a:avLst>
              <a:gd name="adj" fmla="val 9091"/>
            </a:avLst>
          </a:prstGeom>
          <a:solidFill>
            <a:srgbClr val="17202B"/>
          </a:solidFill>
          <a:ln w="12700">
            <a:solidFill>
              <a:srgbClr val="17202B"/>
            </a:solidFill>
            <a:prstDash val="solid"/>
          </a:ln>
        </p:spPr>
      </p:sp>
      <p:sp>
        <p:nvSpPr>
          <p:cNvPr id="12" name="Text 10"/>
          <p:cNvSpPr txBox="1"/>
          <p:nvPr/>
        </p:nvSpPr>
        <p:spPr>
          <a:xfrm>
            <a:off x="640080" y="3767328"/>
            <a:ext cx="3840480" cy="786384"/>
          </a:xfrm>
          <a:prstGeom prst="rect">
            <a:avLst/>
          </a:prstGeom>
          <a:noFill/>
          <a:ln/>
        </p:spPr>
        <p:txBody>
          <a:bodyPr wrap="square" lIns="0" tIns="0" rIns="0" bIns="0" rtlCol="0" anchor="t"/>
          <a:lstStyle/>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type(None).__name__</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'NoneTypo'</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(lambda: None)() is None</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True</a:t>
            </a:r>
            <a:endParaRPr lang="en-US" sz="1300" dirty="0"/>
          </a:p>
        </p:txBody>
      </p:sp>
      <p:sp>
        <p:nvSpPr>
          <p:cNvPr id="13" name="Text 11"/>
          <p:cNvSpPr txBox="1"/>
          <p:nvPr/>
        </p:nvSpPr>
        <p:spPr>
          <a:xfrm>
            <a:off x="457200" y="4700016"/>
            <a:ext cx="42062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4" name="Shape 12"/>
          <p:cNvSpPr/>
          <p:nvPr/>
        </p:nvSpPr>
        <p:spPr>
          <a:xfrm>
            <a:off x="4937760" y="2880360"/>
            <a:ext cx="3749040" cy="1783080"/>
          </a:xfrm>
          <a:prstGeom prst="roundRect">
            <a:avLst>
              <a:gd name="adj" fmla="val 5128"/>
            </a:avLst>
          </a:prstGeom>
          <a:solidFill>
            <a:srgbClr val="F1F4F8"/>
          </a:solidFill>
          <a:ln w="12700">
            <a:solidFill>
              <a:srgbClr val="F1F4F8"/>
            </a:solidFill>
            <a:prstDash val="solid"/>
          </a:ln>
        </p:spPr>
      </p:sp>
      <p:sp>
        <p:nvSpPr>
          <p:cNvPr id="15" name="Text 13"/>
          <p:cNvSpPr txBox="1"/>
          <p:nvPr/>
        </p:nvSpPr>
        <p:spPr>
          <a:xfrm>
            <a:off x="5120640" y="301752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Implicit None</a:t>
            </a:r>
            <a:endParaRPr lang="en-US" sz="1700" dirty="0"/>
          </a:p>
        </p:txBody>
      </p:sp>
      <p:sp>
        <p:nvSpPr>
          <p:cNvPr id="16" name="Text 14"/>
          <p:cNvSpPr txBox="1"/>
          <p:nvPr/>
        </p:nvSpPr>
        <p:spPr>
          <a:xfrm>
            <a:off x="5120640" y="3410712"/>
            <a:ext cx="3383280" cy="11430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function with no return, or a bare return, gives back None, the only value of NoneType. Compare with is: PEP 8.</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Default values are evaluated once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shared list is a classic trap</a:t>
            </a:r>
            <a:endParaRPr lang="en-US" sz="1300" dirty="0"/>
          </a:p>
        </p:txBody>
      </p:sp>
      <p:sp>
        <p:nvSpPr>
          <p:cNvPr id="6" name="Shape 4"/>
          <p:cNvSpPr/>
          <p:nvPr/>
        </p:nvSpPr>
        <p:spPr>
          <a:xfrm>
            <a:off x="457200" y="1234440"/>
            <a:ext cx="4206240" cy="2834640"/>
          </a:xfrm>
          <a:prstGeom prst="roundRect">
            <a:avLst>
              <a:gd name="adj" fmla="val 3226"/>
            </a:avLst>
          </a:prstGeom>
          <a:solidFill>
            <a:srgbClr val="17202B"/>
          </a:solidFill>
          <a:ln w="12700">
            <a:solidFill>
              <a:srgbClr val="17202B"/>
            </a:solidFill>
            <a:prstDash val="solid"/>
          </a:ln>
        </p:spPr>
      </p:sp>
      <p:sp>
        <p:nvSpPr>
          <p:cNvPr id="7" name="Text 5"/>
          <p:cNvSpPr txBox="1"/>
          <p:nvPr/>
        </p:nvSpPr>
        <p:spPr>
          <a:xfrm>
            <a:off x="640080" y="1344168"/>
            <a:ext cx="3840480" cy="261518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collect(item, box=[]):</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box.append(item)</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box</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print(collect(1))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print(collect(2))</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collect_safely(item, box=None):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if box is None: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box =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box.append(item)</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box</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print(collect_safely(1))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print(collect_safely(2))</a:t>
            </a:r>
            <a:endParaRPr lang="en-US" sz="1100" dirty="0"/>
          </a:p>
        </p:txBody>
      </p:sp>
      <p:sp>
        <p:nvSpPr>
          <p:cNvPr id="8" name="Shape 6"/>
          <p:cNvSpPr/>
          <p:nvPr/>
        </p:nvSpPr>
        <p:spPr>
          <a:xfrm>
            <a:off x="4937760" y="1234440"/>
            <a:ext cx="374904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074920" y="1325880"/>
            <a:ext cx="3474720" cy="128016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 2]</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[2]</a:t>
            </a:r>
            <a:endParaRPr lang="en-US" sz="1300" dirty="0"/>
          </a:p>
        </p:txBody>
      </p:sp>
      <p:sp>
        <p:nvSpPr>
          <p:cNvPr id="10" name="Text 8"/>
          <p:cNvSpPr txBox="1"/>
          <p:nvPr/>
        </p:nvSpPr>
        <p:spPr>
          <a:xfrm>
            <a:off x="4937760" y="273405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937760" y="2971800"/>
            <a:ext cx="3749040" cy="1417320"/>
          </a:xfrm>
          <a:prstGeom prst="roundRect">
            <a:avLst>
              <a:gd name="adj" fmla="val 6452"/>
            </a:avLst>
          </a:prstGeom>
          <a:solidFill>
            <a:srgbClr val="F1F4F8"/>
          </a:solidFill>
          <a:ln w="12700">
            <a:solidFill>
              <a:srgbClr val="F1F4F8"/>
            </a:solidFill>
            <a:prstDash val="solid"/>
          </a:ln>
        </p:spPr>
      </p:sp>
      <p:sp>
        <p:nvSpPr>
          <p:cNvPr id="12" name="Text 10"/>
          <p:cNvSpPr txBox="1"/>
          <p:nvPr/>
        </p:nvSpPr>
        <p:spPr>
          <a:xfrm>
            <a:off x="5120640" y="310896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The remedy</a:t>
            </a:r>
            <a:endParaRPr lang="en-US" sz="1700" dirty="0"/>
          </a:p>
        </p:txBody>
      </p:sp>
      <p:sp>
        <p:nvSpPr>
          <p:cNvPr id="13" name="Text 11"/>
          <p:cNvSpPr txBox="1"/>
          <p:nvPr/>
        </p:nvSpPr>
        <p:spPr>
          <a:xfrm>
            <a:off x="5120640" y="3502152"/>
            <a:ext cx="3383280"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Default to None and make the list inside the function, as collect_safely does.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call stack</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Where does execution go back to?</a:t>
            </a:r>
            <a:endParaRPr lang="en-US" sz="1300" dirty="0"/>
          </a:p>
        </p:txBody>
      </p:sp>
      <p:sp>
        <p:nvSpPr>
          <p:cNvPr id="6" name="Shape 4"/>
          <p:cNvSpPr/>
          <p:nvPr/>
        </p:nvSpPr>
        <p:spPr>
          <a:xfrm>
            <a:off x="457200" y="1234440"/>
            <a:ext cx="4572000" cy="2743200"/>
          </a:xfrm>
          <a:prstGeom prst="roundRect">
            <a:avLst>
              <a:gd name="adj" fmla="val 3333"/>
            </a:avLst>
          </a:prstGeom>
          <a:solidFill>
            <a:srgbClr val="17202B"/>
          </a:solidFill>
          <a:ln w="12700">
            <a:solidFill>
              <a:srgbClr val="17202B"/>
            </a:solidFill>
            <a:prstDash val="solid"/>
          </a:ln>
        </p:spPr>
      </p:sp>
      <p:sp>
        <p:nvSpPr>
          <p:cNvPr id="7" name="Text 5"/>
          <p:cNvSpPr txBox="1"/>
          <p:nvPr/>
        </p:nvSpPr>
        <p:spPr>
          <a:xfrm>
            <a:off x="640080" y="1344168"/>
            <a:ext cx="4206240" cy="252374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import traceback</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outer():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print('outer starts')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middle()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print('outer returns')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middle():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print('middle starts')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inner()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print('middle returns')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inner():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print('inner: frames are', [frame.name for frame in traceback.extract_stack()][-3:])</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outer()</a:t>
            </a:r>
            <a:endParaRPr lang="en-US" sz="1100" dirty="0"/>
          </a:p>
        </p:txBody>
      </p:sp>
      <p:sp>
        <p:nvSpPr>
          <p:cNvPr id="8" name="Shape 6"/>
          <p:cNvSpPr/>
          <p:nvPr/>
        </p:nvSpPr>
        <p:spPr>
          <a:xfrm>
            <a:off x="5212080" y="1234440"/>
            <a:ext cx="3474720" cy="2011680"/>
          </a:xfrm>
          <a:prstGeom prst="roundRect">
            <a:avLst>
              <a:gd name="adj" fmla="val 4545"/>
            </a:avLst>
          </a:prstGeom>
          <a:solidFill>
            <a:srgbClr val="F1F4F8"/>
          </a:solidFill>
          <a:ln w="12700">
            <a:solidFill>
              <a:srgbClr val="F1F4F8"/>
            </a:solidFill>
            <a:prstDash val="solid"/>
          </a:ln>
        </p:spPr>
      </p:sp>
      <p:sp>
        <p:nvSpPr>
          <p:cNvPr id="9" name="Text 7"/>
          <p:cNvSpPr txBox="1"/>
          <p:nvPr/>
        </p:nvSpPr>
        <p:spPr>
          <a:xfrm>
            <a:off x="5349240" y="1325880"/>
            <a:ext cx="3200400" cy="1828800"/>
          </a:xfrm>
          <a:prstGeom prst="rect">
            <a:avLst/>
          </a:prstGeom>
          <a:noFill/>
          <a:ln/>
        </p:spPr>
        <p:txBody>
          <a:bodyPr wrap="square" lIns="0" tIns="0" rIns="0" bIns="0" rtlCol="0" anchor="t"/>
          <a:lstStyle/>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outer starts</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middle starts</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inner: frames are ['outer', 'middle', 'inner']</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middle returns</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outer returns</a:t>
            </a:r>
            <a:endParaRPr lang="en-US" sz="1100" dirty="0"/>
          </a:p>
        </p:txBody>
      </p:sp>
      <p:sp>
        <p:nvSpPr>
          <p:cNvPr id="10" name="Text 8"/>
          <p:cNvSpPr txBox="1"/>
          <p:nvPr/>
        </p:nvSpPr>
        <p:spPr>
          <a:xfrm>
            <a:off x="5212080" y="3282696"/>
            <a:ext cx="34747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4069080"/>
            <a:ext cx="8229600" cy="685800"/>
          </a:xfrm>
          <a:prstGeom prst="roundRect">
            <a:avLst>
              <a:gd name="adj" fmla="val 13333"/>
            </a:avLst>
          </a:prstGeom>
          <a:solidFill>
            <a:srgbClr val="F1F4F8"/>
          </a:solidFill>
          <a:ln w="12700">
            <a:solidFill>
              <a:srgbClr val="F1F4F8"/>
            </a:solidFill>
            <a:prstDash val="solid"/>
          </a:ln>
        </p:spPr>
      </p:sp>
      <p:sp>
        <p:nvSpPr>
          <p:cNvPr id="12" name="Text 10"/>
          <p:cNvSpPr txBox="1"/>
          <p:nvPr/>
        </p:nvSpPr>
        <p:spPr>
          <a:xfrm>
            <a:off x="640080" y="420624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Frames</a:t>
            </a:r>
            <a:endParaRPr lang="en-US" sz="1700" dirty="0"/>
          </a:p>
        </p:txBody>
      </p:sp>
      <p:sp>
        <p:nvSpPr>
          <p:cNvPr id="13" name="Text 11"/>
          <p:cNvSpPr txBox="1"/>
          <p:nvPr/>
        </p:nvSpPr>
        <p:spPr>
          <a:xfrm>
            <a:off x="640080" y="4599432"/>
            <a:ext cx="7863840" cy="457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Each call adds a frame; a return removes the top one. The traceback module lists them.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stack has a limit</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RecursionError, not a crash</a:t>
            </a:r>
            <a:endParaRPr lang="en-US" sz="1300" dirty="0"/>
          </a:p>
        </p:txBody>
      </p:sp>
      <p:sp>
        <p:nvSpPr>
          <p:cNvPr id="6" name="Shape 4"/>
          <p:cNvSpPr/>
          <p:nvPr/>
        </p:nvSpPr>
        <p:spPr>
          <a:xfrm>
            <a:off x="457200" y="1325880"/>
            <a:ext cx="4206240" cy="1828800"/>
          </a:xfrm>
          <a:prstGeom prst="roundRect">
            <a:avLst>
              <a:gd name="adj" fmla="val 5000"/>
            </a:avLst>
          </a:prstGeom>
          <a:solidFill>
            <a:srgbClr val="17202B"/>
          </a:solidFill>
          <a:ln w="12700">
            <a:solidFill>
              <a:srgbClr val="17202B"/>
            </a:solidFill>
            <a:prstDash val="solid"/>
          </a:ln>
        </p:spPr>
      </p:sp>
      <p:sp>
        <p:nvSpPr>
          <p:cNvPr id="7" name="Text 5"/>
          <p:cNvSpPr txBox="1"/>
          <p:nvPr/>
        </p:nvSpPr>
        <p:spPr>
          <a:xfrm>
            <a:off x="640080" y="1435608"/>
            <a:ext cx="3840480" cy="160934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import sys</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def forever():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return forever()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forever()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except RecursionError as error: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print(sys.getrecursionlimit(), error)</a:t>
            </a:r>
            <a:endParaRPr lang="en-US" sz="1300" dirty="0"/>
          </a:p>
        </p:txBody>
      </p:sp>
      <p:sp>
        <p:nvSpPr>
          <p:cNvPr id="8" name="Shape 6"/>
          <p:cNvSpPr/>
          <p:nvPr/>
        </p:nvSpPr>
        <p:spPr>
          <a:xfrm>
            <a:off x="4937760" y="1325880"/>
            <a:ext cx="3749040" cy="914400"/>
          </a:xfrm>
          <a:prstGeom prst="roundRect">
            <a:avLst>
              <a:gd name="adj" fmla="val 10000"/>
            </a:avLst>
          </a:prstGeom>
          <a:solidFill>
            <a:srgbClr val="F1F4F8"/>
          </a:solidFill>
          <a:ln w="12700">
            <a:solidFill>
              <a:srgbClr val="F1F4F8"/>
            </a:solidFill>
            <a:prstDash val="solid"/>
          </a:ln>
        </p:spPr>
      </p:sp>
      <p:sp>
        <p:nvSpPr>
          <p:cNvPr id="9" name="Text 7"/>
          <p:cNvSpPr txBox="1"/>
          <p:nvPr/>
        </p:nvSpPr>
        <p:spPr>
          <a:xfrm>
            <a:off x="5074920" y="1417320"/>
            <a:ext cx="3474720" cy="73152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1000 maximum recursion depth exceeded</a:t>
            </a:r>
            <a:endParaRPr lang="en-US" sz="1300" dirty="0"/>
          </a:p>
        </p:txBody>
      </p:sp>
      <p:sp>
        <p:nvSpPr>
          <p:cNvPr id="10" name="Text 8"/>
          <p:cNvSpPr txBox="1"/>
          <p:nvPr/>
        </p:nvSpPr>
        <p:spPr>
          <a:xfrm>
            <a:off x="4937760" y="227685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429000"/>
            <a:ext cx="8229600" cy="1188720"/>
          </a:xfrm>
          <a:prstGeom prst="roundRect">
            <a:avLst>
              <a:gd name="adj" fmla="val 7692"/>
            </a:avLst>
          </a:prstGeom>
          <a:solidFill>
            <a:srgbClr val="17202B"/>
          </a:solidFill>
          <a:ln w="12700">
            <a:solidFill>
              <a:srgbClr val="17202B"/>
            </a:solidFill>
            <a:prstDash val="solid"/>
          </a:ln>
        </p:spPr>
      </p:sp>
      <p:sp>
        <p:nvSpPr>
          <p:cNvPr id="12" name="Text 10"/>
          <p:cNvSpPr txBox="1"/>
          <p:nvPr/>
        </p:nvSpPr>
        <p:spPr>
          <a:xfrm>
            <a:off x="640080" y="3538728"/>
            <a:ext cx="7863840" cy="969264"/>
          </a:xfrm>
          <a:prstGeom prst="rect">
            <a:avLst/>
          </a:prstGeom>
          <a:noFill/>
          <a:ln/>
        </p:spPr>
        <p:txBody>
          <a:bodyPr wrap="square" lIns="0" tIns="0" rIns="0" bIns="0" rtlCol="0" anchor="t"/>
          <a:lstStyle/>
          <a:p>
            <a:pPr indent="0" marL="0">
              <a:spcAft>
                <a:spcPts val="200"/>
              </a:spcAft>
              <a:buNone/>
            </a:pPr>
            <a:r>
              <a:rPr lang="en-US" sz="14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400" dirty="0">
                <a:solidFill>
                  <a:srgbClr val="E6EDF3"/>
                </a:solidFill>
                <a:latin typeface="Courier New" pitchFamily="34" charset="0"/>
                <a:ea typeface="Courier New" pitchFamily="34" charset="-122"/>
                <a:cs typeface="Courier New" pitchFamily="34" charset="-120"/>
              </a:rPr>
              <a:t>__import__('sys').getrecursionlimit()</a:t>
            </a:r>
            <a:endParaRPr lang="en-US" sz="1400" dirty="0"/>
          </a:p>
          <a:p>
            <a:pPr indent="0" marL="0">
              <a:spcAft>
                <a:spcPts val="200"/>
              </a:spcAft>
              <a:buNone/>
            </a:pPr>
            <a:r>
              <a:rPr lang="en-US" sz="1400" dirty="0">
                <a:solidFill>
                  <a:srgbClr val="7EE787"/>
                </a:solidFill>
                <a:latin typeface="Courier New" pitchFamily="34" charset="0"/>
                <a:ea typeface="Courier New" pitchFamily="34" charset="-122"/>
                <a:cs typeface="Courier New" pitchFamily="34" charset="-120"/>
              </a:rPr>
              <a:t>1000</a:t>
            </a:r>
            <a:endParaRPr lang="en-US" sz="1400" dirty="0"/>
          </a:p>
          <a:p>
            <a:pPr indent="0" marL="0">
              <a:spcAft>
                <a:spcPts val="200"/>
              </a:spcAft>
              <a:buNone/>
            </a:pPr>
            <a:r>
              <a:rPr lang="en-US" sz="14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400" dirty="0">
                <a:solidFill>
                  <a:srgbClr val="E6EDF3"/>
                </a:solidFill>
                <a:latin typeface="Courier New" pitchFamily="34" charset="0"/>
                <a:ea typeface="Courier New" pitchFamily="34" charset="-122"/>
                <a:cs typeface="Courier New" pitchFamily="34" charset="-120"/>
              </a:rPr>
              <a:t>issubclass(RecursionError, RuntimeError)</a:t>
            </a:r>
            <a:endParaRPr lang="en-US" sz="1400" dirty="0"/>
          </a:p>
          <a:p>
            <a:pPr indent="0" marL="0">
              <a:spcAft>
                <a:spcPts val="200"/>
              </a:spcAft>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p:txBody>
      </p:sp>
      <p:sp>
        <p:nvSpPr>
          <p:cNvPr id="13" name="Text 11"/>
          <p:cNvSpPr txBox="1"/>
          <p:nvPr/>
        </p:nvSpPr>
        <p:spPr>
          <a:xfrm>
            <a:off x="457200" y="46542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Local and global scopes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Same name, different variables</a:t>
            </a:r>
            <a:endParaRPr lang="en-US" sz="1300" dirty="0"/>
          </a:p>
        </p:txBody>
      </p:sp>
      <p:sp>
        <p:nvSpPr>
          <p:cNvPr id="6" name="Shape 4"/>
          <p:cNvSpPr/>
          <p:nvPr/>
        </p:nvSpPr>
        <p:spPr>
          <a:xfrm>
            <a:off x="457200" y="1234440"/>
            <a:ext cx="4206240" cy="2926080"/>
          </a:xfrm>
          <a:prstGeom prst="roundRect">
            <a:avLst>
              <a:gd name="adj" fmla="val 3125"/>
            </a:avLst>
          </a:prstGeom>
          <a:solidFill>
            <a:srgbClr val="17202B"/>
          </a:solidFill>
          <a:ln w="12700">
            <a:solidFill>
              <a:srgbClr val="17202B"/>
            </a:solidFill>
            <a:prstDash val="solid"/>
          </a:ln>
        </p:spPr>
      </p:sp>
      <p:sp>
        <p:nvSpPr>
          <p:cNvPr id="7" name="Text 5"/>
          <p:cNvSpPr txBox="1"/>
          <p:nvPr/>
        </p:nvSpPr>
        <p:spPr>
          <a:xfrm>
            <a:off x="640080" y="1344168"/>
            <a:ext cx="3840480" cy="2706624"/>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def inner():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name = 'inner local'</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print(name)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def outer():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name = 'outer local'</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print(name)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inner()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print(name)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name = 'global'</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outer()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print(name)</a:t>
            </a:r>
            <a:endParaRPr lang="en-US" sz="1200" dirty="0"/>
          </a:p>
        </p:txBody>
      </p:sp>
      <p:sp>
        <p:nvSpPr>
          <p:cNvPr id="8" name="Shape 6"/>
          <p:cNvSpPr/>
          <p:nvPr/>
        </p:nvSpPr>
        <p:spPr>
          <a:xfrm>
            <a:off x="4937760" y="1234440"/>
            <a:ext cx="3749040" cy="1554480"/>
          </a:xfrm>
          <a:prstGeom prst="roundRect">
            <a:avLst>
              <a:gd name="adj" fmla="val 5882"/>
            </a:avLst>
          </a:prstGeom>
          <a:solidFill>
            <a:srgbClr val="F1F4F8"/>
          </a:solidFill>
          <a:ln w="12700">
            <a:solidFill>
              <a:srgbClr val="F1F4F8"/>
            </a:solidFill>
            <a:prstDash val="solid"/>
          </a:ln>
        </p:spPr>
      </p:sp>
      <p:sp>
        <p:nvSpPr>
          <p:cNvPr id="9" name="Text 7"/>
          <p:cNvSpPr txBox="1"/>
          <p:nvPr/>
        </p:nvSpPr>
        <p:spPr>
          <a:xfrm>
            <a:off x="5074920" y="1325880"/>
            <a:ext cx="3474720" cy="137160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outer local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inner local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outer local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global</a:t>
            </a:r>
            <a:endParaRPr lang="en-US" sz="1300" dirty="0"/>
          </a:p>
        </p:txBody>
      </p:sp>
      <p:sp>
        <p:nvSpPr>
          <p:cNvPr id="10" name="Text 8"/>
          <p:cNvSpPr txBox="1"/>
          <p:nvPr/>
        </p:nvSpPr>
        <p:spPr>
          <a:xfrm>
            <a:off x="4937760" y="282549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937760" y="3108960"/>
            <a:ext cx="3749040" cy="1463040"/>
          </a:xfrm>
          <a:prstGeom prst="roundRect">
            <a:avLst>
              <a:gd name="adj" fmla="val 6250"/>
            </a:avLst>
          </a:prstGeom>
          <a:solidFill>
            <a:srgbClr val="F1F4F8"/>
          </a:solidFill>
          <a:ln w="12700">
            <a:solidFill>
              <a:srgbClr val="F1F4F8"/>
            </a:solidFill>
            <a:prstDash val="solid"/>
          </a:ln>
        </p:spPr>
      </p:sp>
      <p:sp>
        <p:nvSpPr>
          <p:cNvPr id="12" name="Text 10"/>
          <p:cNvSpPr txBox="1"/>
          <p:nvPr/>
        </p:nvSpPr>
        <p:spPr>
          <a:xfrm>
            <a:off x="5120640" y="324612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Three variables</a:t>
            </a:r>
            <a:endParaRPr lang="en-US" sz="1700" dirty="0"/>
          </a:p>
        </p:txBody>
      </p:sp>
      <p:sp>
        <p:nvSpPr>
          <p:cNvPr id="13" name="Text 11"/>
          <p:cNvSpPr txBox="1"/>
          <p:nvPr/>
        </p:nvSpPr>
        <p:spPr>
          <a:xfrm>
            <a:off x="5120640" y="3639312"/>
            <a:ext cx="338328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One global name and two local ones, each in its own call. The book’s advice: give them unique names.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global statement</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Assigning to the global, on purpose</a:t>
            </a:r>
            <a:endParaRPr lang="en-US" sz="1300" dirty="0"/>
          </a:p>
        </p:txBody>
      </p:sp>
      <p:sp>
        <p:nvSpPr>
          <p:cNvPr id="6" name="Shape 4"/>
          <p:cNvSpPr/>
          <p:nvPr/>
        </p:nvSpPr>
        <p:spPr>
          <a:xfrm>
            <a:off x="457200" y="1325880"/>
            <a:ext cx="4206240" cy="2468880"/>
          </a:xfrm>
          <a:prstGeom prst="roundRect">
            <a:avLst>
              <a:gd name="adj" fmla="val 3704"/>
            </a:avLst>
          </a:prstGeom>
          <a:solidFill>
            <a:srgbClr val="17202B"/>
          </a:solidFill>
          <a:ln w="12700">
            <a:solidFill>
              <a:srgbClr val="17202B"/>
            </a:solidFill>
            <a:prstDash val="solid"/>
          </a:ln>
        </p:spPr>
      </p:sp>
      <p:sp>
        <p:nvSpPr>
          <p:cNvPr id="7" name="Text 5"/>
          <p:cNvSpPr txBox="1"/>
          <p:nvPr/>
        </p:nvSpPr>
        <p:spPr>
          <a:xfrm>
            <a:off x="640080" y="1435608"/>
            <a:ext cx="3840480" cy="224942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change():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global mood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mood = 'changed'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def shadow():</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mood = 'local only'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mood = 'original'</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shadow()</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print(mood)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change()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print(mood)</a:t>
            </a:r>
            <a:endParaRPr lang="en-US" sz="1300" dirty="0"/>
          </a:p>
        </p:txBody>
      </p:sp>
      <p:sp>
        <p:nvSpPr>
          <p:cNvPr id="8" name="Shape 6"/>
          <p:cNvSpPr/>
          <p:nvPr/>
        </p:nvSpPr>
        <p:spPr>
          <a:xfrm>
            <a:off x="4937760" y="1325880"/>
            <a:ext cx="3749040" cy="1097280"/>
          </a:xfrm>
          <a:prstGeom prst="roundRect">
            <a:avLst>
              <a:gd name="adj" fmla="val 8333"/>
            </a:avLst>
          </a:prstGeom>
          <a:solidFill>
            <a:srgbClr val="F1F4F8"/>
          </a:solidFill>
          <a:ln w="12700">
            <a:solidFill>
              <a:srgbClr val="F1F4F8"/>
            </a:solidFill>
            <a:prstDash val="solid"/>
          </a:ln>
        </p:spPr>
      </p:sp>
      <p:sp>
        <p:nvSpPr>
          <p:cNvPr id="9" name="Text 7"/>
          <p:cNvSpPr txBox="1"/>
          <p:nvPr/>
        </p:nvSpPr>
        <p:spPr>
          <a:xfrm>
            <a:off x="5074920" y="1417320"/>
            <a:ext cx="3474720" cy="91440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original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changed</a:t>
            </a:r>
            <a:endParaRPr lang="en-US" sz="1300" dirty="0"/>
          </a:p>
        </p:txBody>
      </p:sp>
      <p:sp>
        <p:nvSpPr>
          <p:cNvPr id="10" name="Text 8"/>
          <p:cNvSpPr txBox="1"/>
          <p:nvPr/>
        </p:nvSpPr>
        <p:spPr>
          <a:xfrm>
            <a:off x="4937760" y="245973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937760" y="2697480"/>
            <a:ext cx="3749040" cy="1554480"/>
          </a:xfrm>
          <a:prstGeom prst="roundRect">
            <a:avLst>
              <a:gd name="adj" fmla="val 5882"/>
            </a:avLst>
          </a:prstGeom>
          <a:solidFill>
            <a:srgbClr val="F1F4F8"/>
          </a:solidFill>
          <a:ln w="12700">
            <a:solidFill>
              <a:srgbClr val="F1F4F8"/>
            </a:solidFill>
            <a:prstDash val="solid"/>
          </a:ln>
        </p:spPr>
      </p:sp>
      <p:sp>
        <p:nvSpPr>
          <p:cNvPr id="12" name="Text 10"/>
          <p:cNvSpPr txBox="1"/>
          <p:nvPr/>
        </p:nvSpPr>
        <p:spPr>
          <a:xfrm>
            <a:off x="5120640" y="283464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Without it</a:t>
            </a:r>
            <a:endParaRPr lang="en-US" sz="1700" dirty="0"/>
          </a:p>
        </p:txBody>
      </p:sp>
      <p:sp>
        <p:nvSpPr>
          <p:cNvPr id="13" name="Text 11"/>
          <p:cNvSpPr txBox="1"/>
          <p:nvPr/>
        </p:nvSpPr>
        <p:spPr>
          <a:xfrm>
            <a:off x="5120640" y="3227832"/>
            <a:ext cx="338328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assignment inside a function makes a local variable: shadow() left the global alone.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Which scope? The compiler decides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Four rules, one fact</a:t>
            </a:r>
            <a:endParaRPr lang="en-US" sz="1300" dirty="0"/>
          </a:p>
        </p:txBody>
      </p:sp>
      <p:sp>
        <p:nvSpPr>
          <p:cNvPr id="6" name="Shape 4"/>
          <p:cNvSpPr/>
          <p:nvPr/>
        </p:nvSpPr>
        <p:spPr>
          <a:xfrm>
            <a:off x="457200" y="1234440"/>
            <a:ext cx="4937760" cy="2468880"/>
          </a:xfrm>
          <a:prstGeom prst="roundRect">
            <a:avLst>
              <a:gd name="adj" fmla="val 3704"/>
            </a:avLst>
          </a:prstGeom>
          <a:solidFill>
            <a:srgbClr val="17202B"/>
          </a:solidFill>
          <a:ln w="12700">
            <a:solidFill>
              <a:srgbClr val="17202B"/>
            </a:solidFill>
            <a:prstDash val="solid"/>
          </a:ln>
        </p:spPr>
      </p:sp>
      <p:sp>
        <p:nvSpPr>
          <p:cNvPr id="7" name="Text 5"/>
          <p:cNvSpPr txBox="1"/>
          <p:nvPr/>
        </p:nvSpPr>
        <p:spPr>
          <a:xfrm>
            <a:off x="640080" y="1344168"/>
            <a:ext cx="4572000" cy="224942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import symtable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source = 'def a():\n    global x\n    x = 1\ndef b():\n    x = 2\ndef c():\n    print(x)\nx = 3\n'</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table = symtable.symtable(source, 'demo', 'exec')</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for function in table.get_children():</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if function.get_name() in ('a', 'b', 'c'):</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symbol = function.lookup('x')</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print(function.get_name(), 'global' if symbol.is_global() else 'local')</a:t>
            </a:r>
            <a:endParaRPr lang="en-US" sz="1100" dirty="0"/>
          </a:p>
        </p:txBody>
      </p:sp>
      <p:sp>
        <p:nvSpPr>
          <p:cNvPr id="8" name="Shape 6"/>
          <p:cNvSpPr/>
          <p:nvPr/>
        </p:nvSpPr>
        <p:spPr>
          <a:xfrm>
            <a:off x="5577840" y="1234440"/>
            <a:ext cx="3108960" cy="1005840"/>
          </a:xfrm>
          <a:prstGeom prst="roundRect">
            <a:avLst>
              <a:gd name="adj" fmla="val 9091"/>
            </a:avLst>
          </a:prstGeom>
          <a:solidFill>
            <a:srgbClr val="F1F4F8"/>
          </a:solidFill>
          <a:ln w="12700">
            <a:solidFill>
              <a:srgbClr val="F1F4F8"/>
            </a:solidFill>
            <a:prstDash val="solid"/>
          </a:ln>
        </p:spPr>
      </p:sp>
      <p:sp>
        <p:nvSpPr>
          <p:cNvPr id="9" name="Text 7"/>
          <p:cNvSpPr txBox="1"/>
          <p:nvPr/>
        </p:nvSpPr>
        <p:spPr>
          <a:xfrm>
            <a:off x="5715000" y="1325880"/>
            <a:ext cx="2834640" cy="82296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a global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b local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c global</a:t>
            </a:r>
            <a:endParaRPr lang="en-US" sz="1300" dirty="0"/>
          </a:p>
        </p:txBody>
      </p:sp>
      <p:sp>
        <p:nvSpPr>
          <p:cNvPr id="10" name="Text 8"/>
          <p:cNvSpPr txBox="1"/>
          <p:nvPr/>
        </p:nvSpPr>
        <p:spPr>
          <a:xfrm>
            <a:off x="5577840" y="2276856"/>
            <a:ext cx="310896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931920"/>
            <a:ext cx="8229600" cy="777240"/>
          </a:xfrm>
          <a:prstGeom prst="roundRect">
            <a:avLst>
              <a:gd name="adj" fmla="val 11765"/>
            </a:avLst>
          </a:prstGeom>
          <a:solidFill>
            <a:srgbClr val="F1F4F8"/>
          </a:solidFill>
          <a:ln w="12700">
            <a:solidFill>
              <a:srgbClr val="F1F4F8"/>
            </a:solidFill>
            <a:prstDash val="solid"/>
          </a:ln>
        </p:spPr>
      </p:sp>
      <p:sp>
        <p:nvSpPr>
          <p:cNvPr id="12" name="Text 10"/>
          <p:cNvSpPr txBox="1"/>
          <p:nvPr/>
        </p:nvSpPr>
        <p:spPr>
          <a:xfrm>
            <a:off x="640080" y="406908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The fact</a:t>
            </a:r>
            <a:endParaRPr lang="en-US" sz="1700" dirty="0"/>
          </a:p>
        </p:txBody>
      </p:sp>
      <p:sp>
        <p:nvSpPr>
          <p:cNvPr id="13" name="Text 11"/>
          <p:cNvSpPr txBox="1"/>
          <p:nvPr/>
        </p:nvSpPr>
        <p:spPr>
          <a:xfrm>
            <a:off x="640080" y="4462272"/>
            <a:ext cx="7863840" cy="137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Local names are found by scanning the whole body for assignments. So an assignment anywhere makes a name local everywhere in that function.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UnboundLocalError, in 3.14</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class is the book’s; the message is not</a:t>
            </a:r>
            <a:endParaRPr lang="en-US" sz="1300" dirty="0"/>
          </a:p>
        </p:txBody>
      </p:sp>
      <p:sp>
        <p:nvSpPr>
          <p:cNvPr id="6" name="Shape 4"/>
          <p:cNvSpPr/>
          <p:nvPr/>
        </p:nvSpPr>
        <p:spPr>
          <a:xfrm>
            <a:off x="457200" y="1325880"/>
            <a:ext cx="4206240" cy="2194560"/>
          </a:xfrm>
          <a:prstGeom prst="roundRect">
            <a:avLst>
              <a:gd name="adj" fmla="val 4167"/>
            </a:avLst>
          </a:prstGeom>
          <a:solidFill>
            <a:srgbClr val="17202B"/>
          </a:solidFill>
          <a:ln w="12700">
            <a:solidFill>
              <a:srgbClr val="17202B"/>
            </a:solidFill>
            <a:prstDash val="solid"/>
          </a:ln>
        </p:spPr>
      </p:sp>
      <p:sp>
        <p:nvSpPr>
          <p:cNvPr id="7" name="Text 5"/>
          <p:cNvSpPr txBox="1"/>
          <p:nvPr/>
        </p:nvSpPr>
        <p:spPr>
          <a:xfrm>
            <a:off x="640080" y="1435608"/>
            <a:ext cx="3840480" cy="197510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show():</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print(count)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count = 1</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count = 0</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show()</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except UnboundLocalError as error: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print(type(error).__name__ + ':', error)</a:t>
            </a:r>
            <a:endParaRPr lang="en-US" sz="1300" dirty="0"/>
          </a:p>
        </p:txBody>
      </p:sp>
      <p:sp>
        <p:nvSpPr>
          <p:cNvPr id="8" name="Shape 6"/>
          <p:cNvSpPr/>
          <p:nvPr/>
        </p:nvSpPr>
        <p:spPr>
          <a:xfrm>
            <a:off x="4937760" y="1325880"/>
            <a:ext cx="374904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074920" y="1417320"/>
            <a:ext cx="3474720" cy="1280160"/>
          </a:xfrm>
          <a:prstGeom prst="rect">
            <a:avLst/>
          </a:prstGeom>
          <a:noFill/>
          <a:ln/>
        </p:spPr>
        <p:txBody>
          <a:bodyPr wrap="square" lIns="0" tIns="0" rIns="0" bIns="0" rtlCol="0" anchor="t"/>
          <a:lstStyle/>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UnboundLocalError: cannot access local variable 'count' where it is not associated with a value</a:t>
            </a:r>
            <a:endParaRPr lang="en-US" sz="1200" dirty="0"/>
          </a:p>
        </p:txBody>
      </p:sp>
      <p:sp>
        <p:nvSpPr>
          <p:cNvPr id="10" name="Text 8"/>
          <p:cNvSpPr txBox="1"/>
          <p:nvPr/>
        </p:nvSpPr>
        <p:spPr>
          <a:xfrm>
            <a:off x="4937760" y="282549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749040"/>
            <a:ext cx="8229600" cy="960120"/>
          </a:xfrm>
          <a:prstGeom prst="roundRect">
            <a:avLst>
              <a:gd name="adj" fmla="val 9524"/>
            </a:avLst>
          </a:prstGeom>
          <a:solidFill>
            <a:srgbClr val="F1F4F8"/>
          </a:solidFill>
          <a:ln w="12700">
            <a:solidFill>
              <a:srgbClr val="F1F4F8"/>
            </a:solidFill>
            <a:prstDash val="solid"/>
          </a:ln>
        </p:spPr>
      </p:sp>
      <p:sp>
        <p:nvSpPr>
          <p:cNvPr id="12" name="Text 10"/>
          <p:cNvSpPr txBox="1"/>
          <p:nvPr/>
        </p:nvSpPr>
        <p:spPr>
          <a:xfrm>
            <a:off x="640080" y="388620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Book, then now</a:t>
            </a:r>
            <a:endParaRPr lang="en-US" sz="1700" dirty="0"/>
          </a:p>
        </p:txBody>
      </p:sp>
      <p:sp>
        <p:nvSpPr>
          <p:cNvPr id="13" name="Text 11"/>
          <p:cNvSpPr txBox="1"/>
          <p:nvPr/>
        </p:nvSpPr>
        <p:spPr>
          <a:xfrm>
            <a:off x="640080" y="4279392"/>
            <a:ext cx="7863840" cy="3200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book prints “local variable ‘eggs’ referenced before assignment”. Python 3.14.4 and the Programming FAQ say “cannot access local variable … where it is not associated with a value”.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Between local and global: nonlocal</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 inner function rebinding the outer one’s variable</a:t>
            </a:r>
            <a:endParaRPr lang="en-US" sz="1300" dirty="0"/>
          </a:p>
        </p:txBody>
      </p:sp>
      <p:sp>
        <p:nvSpPr>
          <p:cNvPr id="6" name="Shape 4"/>
          <p:cNvSpPr/>
          <p:nvPr/>
        </p:nvSpPr>
        <p:spPr>
          <a:xfrm>
            <a:off x="457200" y="1325880"/>
            <a:ext cx="4206240" cy="2377440"/>
          </a:xfrm>
          <a:prstGeom prst="roundRect">
            <a:avLst>
              <a:gd name="adj" fmla="val 3846"/>
            </a:avLst>
          </a:prstGeom>
          <a:solidFill>
            <a:srgbClr val="17202B"/>
          </a:solidFill>
          <a:ln w="12700">
            <a:solidFill>
              <a:srgbClr val="17202B"/>
            </a:solidFill>
            <a:prstDash val="solid"/>
          </a:ln>
        </p:spPr>
      </p:sp>
      <p:sp>
        <p:nvSpPr>
          <p:cNvPr id="7" name="Text 5"/>
          <p:cNvSpPr txBox="1"/>
          <p:nvPr/>
        </p:nvSpPr>
        <p:spPr>
          <a:xfrm>
            <a:off x="640080" y="1435608"/>
            <a:ext cx="3840480" cy="215798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counter():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total = 0</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def add():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nonlocal total</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total += 1</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add()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add()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return total</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print(counter())</a:t>
            </a:r>
            <a:endParaRPr lang="en-US" sz="1300" dirty="0"/>
          </a:p>
        </p:txBody>
      </p:sp>
      <p:sp>
        <p:nvSpPr>
          <p:cNvPr id="8" name="Shape 6"/>
          <p:cNvSpPr/>
          <p:nvPr/>
        </p:nvSpPr>
        <p:spPr>
          <a:xfrm>
            <a:off x="4937760" y="1325880"/>
            <a:ext cx="3749040" cy="822960"/>
          </a:xfrm>
          <a:prstGeom prst="roundRect">
            <a:avLst>
              <a:gd name="adj" fmla="val 11111"/>
            </a:avLst>
          </a:prstGeom>
          <a:solidFill>
            <a:srgbClr val="F1F4F8"/>
          </a:solidFill>
          <a:ln w="12700">
            <a:solidFill>
              <a:srgbClr val="F1F4F8"/>
            </a:solidFill>
            <a:prstDash val="solid"/>
          </a:ln>
        </p:spPr>
      </p:sp>
      <p:sp>
        <p:nvSpPr>
          <p:cNvPr id="9" name="Text 7"/>
          <p:cNvSpPr txBox="1"/>
          <p:nvPr/>
        </p:nvSpPr>
        <p:spPr>
          <a:xfrm>
            <a:off x="5074920" y="1417320"/>
            <a:ext cx="3474720" cy="640080"/>
          </a:xfrm>
          <a:prstGeom prst="rect">
            <a:avLst/>
          </a:prstGeom>
          <a:noFill/>
          <a:ln/>
        </p:spPr>
        <p:txBody>
          <a:bodyPr wrap="square" lIns="0" tIns="0" rIns="0" bIns="0" rtlCol="0" anchor="t"/>
          <a:lstStyle/>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2</a:t>
            </a:r>
            <a:endParaRPr lang="en-US" sz="1400" dirty="0"/>
          </a:p>
        </p:txBody>
      </p:sp>
      <p:sp>
        <p:nvSpPr>
          <p:cNvPr id="10" name="Text 8"/>
          <p:cNvSpPr txBox="1"/>
          <p:nvPr/>
        </p:nvSpPr>
        <p:spPr>
          <a:xfrm>
            <a:off x="4937760" y="218541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937760" y="2514600"/>
            <a:ext cx="3749040" cy="1737360"/>
          </a:xfrm>
          <a:prstGeom prst="roundRect">
            <a:avLst>
              <a:gd name="adj" fmla="val 5263"/>
            </a:avLst>
          </a:prstGeom>
          <a:solidFill>
            <a:srgbClr val="F1F4F8"/>
          </a:solidFill>
          <a:ln w="12700">
            <a:solidFill>
              <a:srgbClr val="F1F4F8"/>
            </a:solidFill>
            <a:prstDash val="solid"/>
          </a:ln>
        </p:spPr>
      </p:sp>
      <p:sp>
        <p:nvSpPr>
          <p:cNvPr id="12" name="Text 10"/>
          <p:cNvSpPr txBox="1"/>
          <p:nvPr/>
        </p:nvSpPr>
        <p:spPr>
          <a:xfrm>
            <a:off x="5120640" y="265176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Not in the chapter</a:t>
            </a:r>
            <a:endParaRPr lang="en-US" sz="1700" dirty="0"/>
          </a:p>
        </p:txBody>
      </p:sp>
      <p:sp>
        <p:nvSpPr>
          <p:cNvPr id="13" name="Text 11"/>
          <p:cNvSpPr txBox="1"/>
          <p:nvPr/>
        </p:nvSpPr>
        <p:spPr>
          <a:xfrm>
            <a:off x="5120640" y="3044952"/>
            <a:ext cx="3383280" cy="10972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Without the nonlocal line the += would make total a local of add(), and raise UnboundLocalError.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try and except: handled inside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function catches its own error</a:t>
            </a:r>
            <a:endParaRPr lang="en-US" sz="1300" dirty="0"/>
          </a:p>
        </p:txBody>
      </p:sp>
      <p:sp>
        <p:nvSpPr>
          <p:cNvPr id="6" name="Shape 4"/>
          <p:cNvSpPr/>
          <p:nvPr/>
        </p:nvSpPr>
        <p:spPr>
          <a:xfrm>
            <a:off x="457200" y="1325880"/>
            <a:ext cx="4206240" cy="2377440"/>
          </a:xfrm>
          <a:prstGeom prst="roundRect">
            <a:avLst>
              <a:gd name="adj" fmla="val 3846"/>
            </a:avLst>
          </a:prstGeom>
          <a:solidFill>
            <a:srgbClr val="17202B"/>
          </a:solidFill>
          <a:ln w="12700">
            <a:solidFill>
              <a:srgbClr val="17202B"/>
            </a:solidFill>
            <a:prstDash val="solid"/>
          </a:ln>
        </p:spPr>
      </p:sp>
      <p:sp>
        <p:nvSpPr>
          <p:cNvPr id="7" name="Text 5"/>
          <p:cNvSpPr txBox="1"/>
          <p:nvPr/>
        </p:nvSpPr>
        <p:spPr>
          <a:xfrm>
            <a:off x="640080" y="1435608"/>
            <a:ext cx="3840480" cy="2157984"/>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def divide(by):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try: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return 42 / by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except ZeroDivisionError: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print('Error: Invalid argument.')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print(divide(2))</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print(divide(0))</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print(divide(1))</a:t>
            </a:r>
            <a:endParaRPr lang="en-US" sz="1200" dirty="0"/>
          </a:p>
        </p:txBody>
      </p:sp>
      <p:sp>
        <p:nvSpPr>
          <p:cNvPr id="8" name="Shape 6"/>
          <p:cNvSpPr/>
          <p:nvPr/>
        </p:nvSpPr>
        <p:spPr>
          <a:xfrm>
            <a:off x="4937760" y="1325880"/>
            <a:ext cx="374904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074920" y="1417320"/>
            <a:ext cx="3474720" cy="128016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21.0</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Error: Invalid argument.</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None</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42.0</a:t>
            </a:r>
            <a:endParaRPr lang="en-US" sz="1300" dirty="0"/>
          </a:p>
        </p:txBody>
      </p:sp>
      <p:sp>
        <p:nvSpPr>
          <p:cNvPr id="10" name="Text 8"/>
          <p:cNvSpPr txBox="1"/>
          <p:nvPr/>
        </p:nvSpPr>
        <p:spPr>
          <a:xfrm>
            <a:off x="4937760" y="282549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931920"/>
            <a:ext cx="8229600" cy="777240"/>
          </a:xfrm>
          <a:prstGeom prst="roundRect">
            <a:avLst>
              <a:gd name="adj" fmla="val 11765"/>
            </a:avLst>
          </a:prstGeom>
          <a:solidFill>
            <a:srgbClr val="F1F4F8"/>
          </a:solidFill>
          <a:ln w="12700">
            <a:solidFill>
              <a:srgbClr val="F1F4F8"/>
            </a:solidFill>
            <a:prstDash val="solid"/>
          </a:ln>
        </p:spPr>
      </p:sp>
      <p:sp>
        <p:nvSpPr>
          <p:cNvPr id="12" name="Text 10"/>
          <p:cNvSpPr txBox="1"/>
          <p:nvPr/>
        </p:nvSpPr>
        <p:spPr>
          <a:xfrm>
            <a:off x="640080" y="406908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Where it lands</a:t>
            </a:r>
            <a:endParaRPr lang="en-US" sz="1700" dirty="0"/>
          </a:p>
        </p:txBody>
      </p:sp>
      <p:sp>
        <p:nvSpPr>
          <p:cNvPr id="13" name="Text 11"/>
          <p:cNvSpPr txBox="1"/>
          <p:nvPr/>
        </p:nvSpPr>
        <p:spPr>
          <a:xfrm>
            <a:off x="640080" y="4462272"/>
            <a:ext cx="7863840" cy="137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call that failed returns None, so print shows None, and the program goes on to divide(1).</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try and except: handled outside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error unwinds through the call</a:t>
            </a:r>
            <a:endParaRPr lang="en-US" sz="1300" dirty="0"/>
          </a:p>
        </p:txBody>
      </p:sp>
      <p:sp>
        <p:nvSpPr>
          <p:cNvPr id="6" name="Shape 4"/>
          <p:cNvSpPr/>
          <p:nvPr/>
        </p:nvSpPr>
        <p:spPr>
          <a:xfrm>
            <a:off x="457200" y="1325880"/>
            <a:ext cx="4206240" cy="2377440"/>
          </a:xfrm>
          <a:prstGeom prst="roundRect">
            <a:avLst>
              <a:gd name="adj" fmla="val 3846"/>
            </a:avLst>
          </a:prstGeom>
          <a:solidFill>
            <a:srgbClr val="17202B"/>
          </a:solidFill>
          <a:ln w="12700">
            <a:solidFill>
              <a:srgbClr val="17202B"/>
            </a:solidFill>
            <a:prstDash val="solid"/>
          </a:ln>
        </p:spPr>
      </p:sp>
      <p:sp>
        <p:nvSpPr>
          <p:cNvPr id="7" name="Text 5"/>
          <p:cNvSpPr txBox="1"/>
          <p:nvPr/>
        </p:nvSpPr>
        <p:spPr>
          <a:xfrm>
            <a:off x="640080" y="1435608"/>
            <a:ext cx="3840480" cy="2157984"/>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def divide(by):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return 42 / by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try: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print(divide(2))</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print(divide(0))</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print(divide(1))</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except ZeroDivisionError: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print('Error: Invalid argument.')</a:t>
            </a:r>
            <a:endParaRPr lang="en-US" sz="1200" dirty="0"/>
          </a:p>
        </p:txBody>
      </p:sp>
      <p:sp>
        <p:nvSpPr>
          <p:cNvPr id="8" name="Shape 6"/>
          <p:cNvSpPr/>
          <p:nvPr/>
        </p:nvSpPr>
        <p:spPr>
          <a:xfrm>
            <a:off x="4937760" y="1325880"/>
            <a:ext cx="3749040" cy="1188720"/>
          </a:xfrm>
          <a:prstGeom prst="roundRect">
            <a:avLst>
              <a:gd name="adj" fmla="val 7692"/>
            </a:avLst>
          </a:prstGeom>
          <a:solidFill>
            <a:srgbClr val="F1F4F8"/>
          </a:solidFill>
          <a:ln w="12700">
            <a:solidFill>
              <a:srgbClr val="F1F4F8"/>
            </a:solidFill>
            <a:prstDash val="solid"/>
          </a:ln>
        </p:spPr>
      </p:sp>
      <p:sp>
        <p:nvSpPr>
          <p:cNvPr id="9" name="Text 7"/>
          <p:cNvSpPr txBox="1"/>
          <p:nvPr/>
        </p:nvSpPr>
        <p:spPr>
          <a:xfrm>
            <a:off x="5074920" y="1417320"/>
            <a:ext cx="3474720" cy="100584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21.0</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Error: Invalid argument.</a:t>
            </a:r>
            <a:endParaRPr lang="en-US" sz="1300" dirty="0"/>
          </a:p>
        </p:txBody>
      </p:sp>
      <p:sp>
        <p:nvSpPr>
          <p:cNvPr id="10" name="Text 8"/>
          <p:cNvSpPr txBox="1"/>
          <p:nvPr/>
        </p:nvSpPr>
        <p:spPr>
          <a:xfrm>
            <a:off x="4937760" y="255117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931920"/>
            <a:ext cx="8229600" cy="777240"/>
          </a:xfrm>
          <a:prstGeom prst="roundRect">
            <a:avLst>
              <a:gd name="adj" fmla="val 11765"/>
            </a:avLst>
          </a:prstGeom>
          <a:solidFill>
            <a:srgbClr val="F1F4F8"/>
          </a:solidFill>
          <a:ln w="12700">
            <a:solidFill>
              <a:srgbClr val="F1F4F8"/>
            </a:solidFill>
            <a:prstDash val="solid"/>
          </a:ln>
        </p:spPr>
      </p:sp>
      <p:sp>
        <p:nvSpPr>
          <p:cNvPr id="12" name="Text 10"/>
          <p:cNvSpPr txBox="1"/>
          <p:nvPr/>
        </p:nvSpPr>
        <p:spPr>
          <a:xfrm>
            <a:off x="640080" y="406908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No way back</a:t>
            </a:r>
            <a:endParaRPr lang="en-US" sz="1700" dirty="0"/>
          </a:p>
        </p:txBody>
      </p:sp>
      <p:sp>
        <p:nvSpPr>
          <p:cNvPr id="13" name="Text 11"/>
          <p:cNvSpPr txBox="1"/>
          <p:nvPr/>
        </p:nvSpPr>
        <p:spPr>
          <a:xfrm>
            <a:off x="640080" y="4462272"/>
            <a:ext cx="7863840" cy="137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Once execution jumps to the except clause it does not return to the try clause, so divide(1) is never called.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New in 3.14: except without brackets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Several types, no as clause</a:t>
            </a:r>
            <a:endParaRPr lang="en-US" sz="1300" dirty="0"/>
          </a:p>
        </p:txBody>
      </p:sp>
      <p:sp>
        <p:nvSpPr>
          <p:cNvPr id="6" name="Shape 4"/>
          <p:cNvSpPr/>
          <p:nvPr/>
        </p:nvSpPr>
        <p:spPr>
          <a:xfrm>
            <a:off x="457200" y="1325880"/>
            <a:ext cx="4206240" cy="1554480"/>
          </a:xfrm>
          <a:prstGeom prst="roundRect">
            <a:avLst>
              <a:gd name="adj" fmla="val 5882"/>
            </a:avLst>
          </a:prstGeom>
          <a:solidFill>
            <a:srgbClr val="17202B"/>
          </a:solidFill>
          <a:ln w="12700">
            <a:solidFill>
              <a:srgbClr val="17202B"/>
            </a:solidFill>
            <a:prstDash val="solid"/>
          </a:ln>
        </p:spPr>
      </p:sp>
      <p:sp>
        <p:nvSpPr>
          <p:cNvPr id="7" name="Text 5"/>
          <p:cNvSpPr txBox="1"/>
          <p:nvPr/>
        </p:nvSpPr>
        <p:spPr>
          <a:xfrm>
            <a:off x="640080" y="1435608"/>
            <a:ext cx="3840480" cy="133502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int('puppy')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except ValueError, TypeError: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print('caught either one')</a:t>
            </a:r>
            <a:endParaRPr lang="en-US" sz="1300" dirty="0"/>
          </a:p>
        </p:txBody>
      </p:sp>
      <p:sp>
        <p:nvSpPr>
          <p:cNvPr id="8" name="Shape 6"/>
          <p:cNvSpPr/>
          <p:nvPr/>
        </p:nvSpPr>
        <p:spPr>
          <a:xfrm>
            <a:off x="4937760" y="1325880"/>
            <a:ext cx="3749040" cy="822960"/>
          </a:xfrm>
          <a:prstGeom prst="roundRect">
            <a:avLst>
              <a:gd name="adj" fmla="val 11111"/>
            </a:avLst>
          </a:prstGeom>
          <a:solidFill>
            <a:srgbClr val="F1F4F8"/>
          </a:solidFill>
          <a:ln w="12700">
            <a:solidFill>
              <a:srgbClr val="F1F4F8"/>
            </a:solidFill>
            <a:prstDash val="solid"/>
          </a:ln>
        </p:spPr>
      </p:sp>
      <p:sp>
        <p:nvSpPr>
          <p:cNvPr id="9" name="Text 7"/>
          <p:cNvSpPr txBox="1"/>
          <p:nvPr/>
        </p:nvSpPr>
        <p:spPr>
          <a:xfrm>
            <a:off x="5074920" y="1417320"/>
            <a:ext cx="3474720" cy="64008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caught either one</a:t>
            </a:r>
            <a:endParaRPr lang="en-US" sz="1300" dirty="0"/>
          </a:p>
        </p:txBody>
      </p:sp>
      <p:sp>
        <p:nvSpPr>
          <p:cNvPr id="10" name="Text 8"/>
          <p:cNvSpPr txBox="1"/>
          <p:nvPr/>
        </p:nvSpPr>
        <p:spPr>
          <a:xfrm>
            <a:off x="4937760" y="218541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108960"/>
            <a:ext cx="8229600" cy="1463040"/>
          </a:xfrm>
          <a:prstGeom prst="roundRect">
            <a:avLst>
              <a:gd name="adj" fmla="val 6250"/>
            </a:avLst>
          </a:prstGeom>
          <a:solidFill>
            <a:srgbClr val="F1F4F8"/>
          </a:solidFill>
          <a:ln w="12700">
            <a:solidFill>
              <a:srgbClr val="F1F4F8"/>
            </a:solidFill>
            <a:prstDash val="solid"/>
          </a:ln>
        </p:spPr>
      </p:sp>
      <p:sp>
        <p:nvSpPr>
          <p:cNvPr id="12" name="Text 10"/>
          <p:cNvSpPr txBox="1"/>
          <p:nvPr/>
        </p:nvSpPr>
        <p:spPr>
          <a:xfrm>
            <a:off x="640080" y="324612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PEP 758</a:t>
            </a:r>
            <a:endParaRPr lang="en-US" sz="1700" dirty="0"/>
          </a:p>
        </p:txBody>
      </p:sp>
      <p:sp>
        <p:nvSpPr>
          <p:cNvPr id="13" name="Text 11"/>
          <p:cNvSpPr txBox="1"/>
          <p:nvPr/>
        </p:nvSpPr>
        <p:spPr>
          <a:xfrm>
            <a:off x="640080" y="3639312"/>
            <a:ext cx="786384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except ValueError, TypeError: is now allowed when there is no as clause. With as, the types must still be in brackets. Python 3.13 and earlier reject the bracket-free form.</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New in 3.14: annotations are deferred</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function can name what does not exist yet</a:t>
            </a:r>
            <a:endParaRPr lang="en-US" sz="1300" dirty="0"/>
          </a:p>
        </p:txBody>
      </p:sp>
      <p:sp>
        <p:nvSpPr>
          <p:cNvPr id="6" name="Shape 4"/>
          <p:cNvSpPr/>
          <p:nvPr/>
        </p:nvSpPr>
        <p:spPr>
          <a:xfrm>
            <a:off x="457200" y="1234440"/>
            <a:ext cx="4572000" cy="2651760"/>
          </a:xfrm>
          <a:prstGeom prst="roundRect">
            <a:avLst>
              <a:gd name="adj" fmla="val 3448"/>
            </a:avLst>
          </a:prstGeom>
          <a:solidFill>
            <a:srgbClr val="17202B"/>
          </a:solidFill>
          <a:ln w="12700">
            <a:solidFill>
              <a:srgbClr val="17202B"/>
            </a:solidFill>
            <a:prstDash val="solid"/>
          </a:ln>
        </p:spPr>
      </p:sp>
      <p:sp>
        <p:nvSpPr>
          <p:cNvPr id="7" name="Text 5"/>
          <p:cNvSpPr txBox="1"/>
          <p:nvPr/>
        </p:nvSpPr>
        <p:spPr>
          <a:xfrm>
            <a:off x="640080" y="1344168"/>
            <a:ext cx="4206240" cy="243230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import annotationlib</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parse(text: Document) -&gt; Result: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text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print(parse('ok'))</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try: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parse.__annotations__</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except NameError as 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print('NameError:', 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print(sorted(annotationlib.get_annotations(parse, format=annotationlib.Format.FORWARDREF)))</a:t>
            </a:r>
            <a:endParaRPr lang="en-US" sz="1100" dirty="0"/>
          </a:p>
        </p:txBody>
      </p:sp>
      <p:sp>
        <p:nvSpPr>
          <p:cNvPr id="8" name="Shape 6"/>
          <p:cNvSpPr/>
          <p:nvPr/>
        </p:nvSpPr>
        <p:spPr>
          <a:xfrm>
            <a:off x="5212080" y="1234440"/>
            <a:ext cx="347472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349240" y="1325880"/>
            <a:ext cx="3200400" cy="1280160"/>
          </a:xfrm>
          <a:prstGeom prst="rect">
            <a:avLst/>
          </a:prstGeom>
          <a:noFill/>
          <a:ln/>
        </p:spPr>
        <p:txBody>
          <a:bodyPr wrap="square" lIns="0" tIns="0" rIns="0" bIns="0" rtlCol="0" anchor="t"/>
          <a:lstStyle/>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ok</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NameError: name 'Document' is not defined</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['return', 'text']</a:t>
            </a:r>
            <a:endParaRPr lang="en-US" sz="1100" dirty="0"/>
          </a:p>
        </p:txBody>
      </p:sp>
      <p:sp>
        <p:nvSpPr>
          <p:cNvPr id="10" name="Text 8"/>
          <p:cNvSpPr txBox="1"/>
          <p:nvPr/>
        </p:nvSpPr>
        <p:spPr>
          <a:xfrm>
            <a:off x="5212080" y="2734056"/>
            <a:ext cx="34747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4023360"/>
            <a:ext cx="8229600" cy="731520"/>
          </a:xfrm>
          <a:prstGeom prst="roundRect">
            <a:avLst>
              <a:gd name="adj" fmla="val 12500"/>
            </a:avLst>
          </a:prstGeom>
          <a:solidFill>
            <a:srgbClr val="F1F4F8"/>
          </a:solidFill>
          <a:ln w="12700">
            <a:solidFill>
              <a:srgbClr val="F1F4F8"/>
            </a:solidFill>
            <a:prstDash val="solid"/>
          </a:ln>
        </p:spPr>
      </p:sp>
      <p:sp>
        <p:nvSpPr>
          <p:cNvPr id="12" name="Text 10"/>
          <p:cNvSpPr txBox="1"/>
          <p:nvPr/>
        </p:nvSpPr>
        <p:spPr>
          <a:xfrm>
            <a:off x="640080" y="416052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PEP 649</a:t>
            </a:r>
            <a:endParaRPr lang="en-US" sz="1700" dirty="0"/>
          </a:p>
        </p:txBody>
      </p:sp>
      <p:sp>
        <p:nvSpPr>
          <p:cNvPr id="13" name="Text 11"/>
          <p:cNvSpPr txBox="1"/>
          <p:nvPr/>
        </p:nvSpPr>
        <p:spPr>
          <a:xfrm>
            <a:off x="640080" y="4553712"/>
            <a:ext cx="7863840" cy="914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Annotations are evaluated only on request; reading them raises NameError until the names exist.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Practice: the Collatz sequence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first practice program, run</a:t>
            </a:r>
            <a:endParaRPr lang="en-US" sz="1300" dirty="0"/>
          </a:p>
        </p:txBody>
      </p:sp>
      <p:sp>
        <p:nvSpPr>
          <p:cNvPr id="6" name="Shape 4"/>
          <p:cNvSpPr/>
          <p:nvPr/>
        </p:nvSpPr>
        <p:spPr>
          <a:xfrm>
            <a:off x="457200" y="1234440"/>
            <a:ext cx="4572000" cy="3017520"/>
          </a:xfrm>
          <a:prstGeom prst="roundRect">
            <a:avLst>
              <a:gd name="adj" fmla="val 3030"/>
            </a:avLst>
          </a:prstGeom>
          <a:solidFill>
            <a:srgbClr val="17202B"/>
          </a:solidFill>
          <a:ln w="12700">
            <a:solidFill>
              <a:srgbClr val="17202B"/>
            </a:solidFill>
            <a:prstDash val="solid"/>
          </a:ln>
        </p:spPr>
      </p:sp>
      <p:sp>
        <p:nvSpPr>
          <p:cNvPr id="7" name="Text 5"/>
          <p:cNvSpPr txBox="1"/>
          <p:nvPr/>
        </p:nvSpPr>
        <p:spPr>
          <a:xfrm>
            <a:off x="640080" y="1344168"/>
            <a:ext cx="4206240" cy="279806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collatz(number):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if number % 2 == 0:</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result = number // 2</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else: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result = 3 * number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print(result, end='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result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number = int(input('Enter number: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print(number, end='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while number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number = collatz(number)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a:t>
            </a:r>
            <a:endParaRPr lang="en-US" sz="1100" dirty="0"/>
          </a:p>
        </p:txBody>
      </p:sp>
      <p:sp>
        <p:nvSpPr>
          <p:cNvPr id="8" name="Shape 6"/>
          <p:cNvSpPr/>
          <p:nvPr/>
        </p:nvSpPr>
        <p:spPr>
          <a:xfrm>
            <a:off x="5212080" y="1234440"/>
            <a:ext cx="3474720" cy="1097280"/>
          </a:xfrm>
          <a:prstGeom prst="roundRect">
            <a:avLst>
              <a:gd name="adj" fmla="val 8333"/>
            </a:avLst>
          </a:prstGeom>
          <a:solidFill>
            <a:srgbClr val="F1F4F8"/>
          </a:solidFill>
          <a:ln w="12700">
            <a:solidFill>
              <a:srgbClr val="F1F4F8"/>
            </a:solidFill>
            <a:prstDash val="solid"/>
          </a:ln>
        </p:spPr>
      </p:sp>
      <p:sp>
        <p:nvSpPr>
          <p:cNvPr id="9" name="Text 7"/>
          <p:cNvSpPr txBox="1"/>
          <p:nvPr/>
        </p:nvSpPr>
        <p:spPr>
          <a:xfrm>
            <a:off x="5349240" y="1325880"/>
            <a:ext cx="3200400" cy="914400"/>
          </a:xfrm>
          <a:prstGeom prst="rect">
            <a:avLst/>
          </a:prstGeom>
          <a:noFill/>
          <a:ln/>
        </p:spPr>
        <p:txBody>
          <a:bodyPr wrap="square" lIns="0" tIns="0" rIns="0" bIns="0" rtlCol="0" anchor="t"/>
          <a:lstStyle/>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Enter number: </a:t>
            </a:r>
            <a:pPr indent="0" marL="0">
              <a:spcAft>
                <a:spcPts val="200"/>
              </a:spcAft>
              <a:buNone/>
            </a:pPr>
            <a:r>
              <a:rPr lang="en-US" sz="1200" b="1" dirty="0">
                <a:solidFill>
                  <a:srgbClr val="306998"/>
                </a:solidFill>
                <a:latin typeface="Courier New" pitchFamily="34" charset="0"/>
                <a:ea typeface="Courier New" pitchFamily="34" charset="-122"/>
                <a:cs typeface="Courier New" pitchFamily="34" charset="-120"/>
              </a:rPr>
              <a:t>3</a:t>
            </a:r>
            <a:endParaRPr lang="en-US" sz="1200" dirty="0"/>
          </a:p>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3 10 5 16 8 4 2 1 </a:t>
            </a:r>
            <a:endParaRPr lang="en-US" sz="1200" dirty="0"/>
          </a:p>
        </p:txBody>
      </p:sp>
      <p:sp>
        <p:nvSpPr>
          <p:cNvPr id="10" name="Text 8"/>
          <p:cNvSpPr txBox="1"/>
          <p:nvPr/>
        </p:nvSpPr>
        <p:spPr>
          <a:xfrm>
            <a:off x="5212080" y="2368296"/>
            <a:ext cx="34747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Text 9"/>
          <p:cNvSpPr txBox="1"/>
          <p:nvPr/>
        </p:nvSpPr>
        <p:spPr>
          <a:xfrm>
            <a:off x="5212080" y="2651760"/>
            <a:ext cx="3474720" cy="91440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A function that prints and returns — the book’s spec — driven by a loop until the value is 1.</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Practice: input validation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try and except around int()</a:t>
            </a:r>
            <a:endParaRPr lang="en-US" sz="1300" dirty="0"/>
          </a:p>
        </p:txBody>
      </p:sp>
      <p:sp>
        <p:nvSpPr>
          <p:cNvPr id="6" name="Shape 4"/>
          <p:cNvSpPr/>
          <p:nvPr/>
        </p:nvSpPr>
        <p:spPr>
          <a:xfrm>
            <a:off x="457200" y="1234440"/>
            <a:ext cx="4572000" cy="3291840"/>
          </a:xfrm>
          <a:prstGeom prst="roundRect">
            <a:avLst>
              <a:gd name="adj" fmla="val 2778"/>
            </a:avLst>
          </a:prstGeom>
          <a:solidFill>
            <a:srgbClr val="17202B"/>
          </a:solidFill>
          <a:ln w="12700">
            <a:solidFill>
              <a:srgbClr val="17202B"/>
            </a:solidFill>
            <a:prstDash val="solid"/>
          </a:ln>
        </p:spPr>
      </p:sp>
      <p:sp>
        <p:nvSpPr>
          <p:cNvPr id="7" name="Text 5"/>
          <p:cNvSpPr txBox="1"/>
          <p:nvPr/>
        </p:nvSpPr>
        <p:spPr>
          <a:xfrm>
            <a:off x="640080" y="1344168"/>
            <a:ext cx="4206240" cy="307238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collatz(number):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result = number // 2 if number % 2 == 0 else 3 * number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print(result, end='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result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while True: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try: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number = int(input('Enter number: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break</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except ValueError: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print('Please enter a whole 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print(number, end='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while number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number = collatz(number)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a:t>
            </a:r>
            <a:endParaRPr lang="en-US" sz="1100" dirty="0"/>
          </a:p>
        </p:txBody>
      </p:sp>
      <p:sp>
        <p:nvSpPr>
          <p:cNvPr id="8" name="Shape 6"/>
          <p:cNvSpPr/>
          <p:nvPr/>
        </p:nvSpPr>
        <p:spPr>
          <a:xfrm>
            <a:off x="5212080" y="1234440"/>
            <a:ext cx="3474720" cy="1737360"/>
          </a:xfrm>
          <a:prstGeom prst="roundRect">
            <a:avLst>
              <a:gd name="adj" fmla="val 5263"/>
            </a:avLst>
          </a:prstGeom>
          <a:solidFill>
            <a:srgbClr val="F1F4F8"/>
          </a:solidFill>
          <a:ln w="12700">
            <a:solidFill>
              <a:srgbClr val="F1F4F8"/>
            </a:solidFill>
            <a:prstDash val="solid"/>
          </a:ln>
        </p:spPr>
      </p:sp>
      <p:sp>
        <p:nvSpPr>
          <p:cNvPr id="9" name="Text 7"/>
          <p:cNvSpPr txBox="1"/>
          <p:nvPr/>
        </p:nvSpPr>
        <p:spPr>
          <a:xfrm>
            <a:off x="5349240" y="1325880"/>
            <a:ext cx="3200400" cy="1554480"/>
          </a:xfrm>
          <a:prstGeom prst="rect">
            <a:avLst/>
          </a:prstGeom>
          <a:noFill/>
          <a:ln/>
        </p:spPr>
        <p:txBody>
          <a:bodyPr wrap="square" lIns="0" tIns="0" rIns="0" bIns="0" rtlCol="0" anchor="t"/>
          <a:lstStyle/>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Enter number: </a:t>
            </a:r>
            <a:pPr indent="0" marL="0">
              <a:spcAft>
                <a:spcPts val="200"/>
              </a:spcAft>
              <a:buNone/>
            </a:pPr>
            <a:r>
              <a:rPr lang="en-US" sz="1100" b="1" dirty="0">
                <a:solidFill>
                  <a:srgbClr val="306998"/>
                </a:solidFill>
                <a:latin typeface="Courier New" pitchFamily="34" charset="0"/>
                <a:ea typeface="Courier New" pitchFamily="34" charset="-122"/>
                <a:cs typeface="Courier New" pitchFamily="34" charset="-120"/>
              </a:rPr>
              <a:t>puppy</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Please enter a whole number.</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Enter number: </a:t>
            </a:r>
            <a:pPr indent="0" marL="0">
              <a:spcAft>
                <a:spcPts val="200"/>
              </a:spcAft>
              <a:buNone/>
            </a:pPr>
            <a:r>
              <a:rPr lang="en-US" sz="1100" b="1" dirty="0">
                <a:solidFill>
                  <a:srgbClr val="306998"/>
                </a:solidFill>
                <a:latin typeface="Courier New" pitchFamily="34" charset="0"/>
                <a:ea typeface="Courier New" pitchFamily="34" charset="-122"/>
                <a:cs typeface="Courier New" pitchFamily="34" charset="-120"/>
              </a:rPr>
              <a:t>6</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6 3 10 5 16 8 4 2 1 </a:t>
            </a:r>
            <a:endParaRPr lang="en-US" sz="1100" dirty="0"/>
          </a:p>
        </p:txBody>
      </p:sp>
      <p:sp>
        <p:nvSpPr>
          <p:cNvPr id="10" name="Text 8"/>
          <p:cNvSpPr txBox="1"/>
          <p:nvPr/>
        </p:nvSpPr>
        <p:spPr>
          <a:xfrm>
            <a:off x="5212080" y="3008376"/>
            <a:ext cx="34747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Text 9"/>
          <p:cNvSpPr txBox="1"/>
          <p:nvPr/>
        </p:nvSpPr>
        <p:spPr>
          <a:xfrm>
            <a:off x="5212080" y="3291840"/>
            <a:ext cx="3474720" cy="7315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int('puppy') raises ValueError; the except clause asks again.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Functions as black boxes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Inputs in, a value out</a:t>
            </a:r>
            <a:endParaRPr lang="en-US" sz="1300" dirty="0"/>
          </a:p>
        </p:txBody>
      </p:sp>
      <p:sp>
        <p:nvSpPr>
          <p:cNvPr id="6" name="Shape 4"/>
          <p:cNvSpPr/>
          <p:nvPr/>
        </p:nvSpPr>
        <p:spPr>
          <a:xfrm>
            <a:off x="457200" y="1325880"/>
            <a:ext cx="2651760" cy="2377440"/>
          </a:xfrm>
          <a:prstGeom prst="roundRect">
            <a:avLst>
              <a:gd name="adj" fmla="val 3846"/>
            </a:avLst>
          </a:prstGeom>
          <a:solidFill>
            <a:srgbClr val="F1F4F8"/>
          </a:solidFill>
          <a:ln w="12700">
            <a:solidFill>
              <a:srgbClr val="F1F4F8"/>
            </a:solidFill>
            <a:prstDash val="solid"/>
          </a:ln>
        </p:spPr>
      </p:sp>
      <p:sp>
        <p:nvSpPr>
          <p:cNvPr id="7" name="Text 5"/>
          <p:cNvSpPr txBox="1"/>
          <p:nvPr/>
        </p:nvSpPr>
        <p:spPr>
          <a:xfrm>
            <a:off x="640080" y="1463040"/>
            <a:ext cx="228600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Inputs</a:t>
            </a:r>
            <a:endParaRPr lang="en-US" sz="1700" dirty="0"/>
          </a:p>
        </p:txBody>
      </p:sp>
      <p:sp>
        <p:nvSpPr>
          <p:cNvPr id="8" name="Text 6"/>
          <p:cNvSpPr txBox="1"/>
          <p:nvPr/>
        </p:nvSpPr>
        <p:spPr>
          <a:xfrm>
            <a:off x="640080" y="1856232"/>
            <a:ext cx="2286000" cy="1737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parameters — and nothing else — decide what a function does with the outside world.</a:t>
            </a:r>
            <a:endParaRPr lang="en-US" sz="1300" dirty="0"/>
          </a:p>
        </p:txBody>
      </p:sp>
      <p:sp>
        <p:nvSpPr>
          <p:cNvPr id="9" name="Shape 7"/>
          <p:cNvSpPr/>
          <p:nvPr/>
        </p:nvSpPr>
        <p:spPr>
          <a:xfrm>
            <a:off x="3246120" y="1325880"/>
            <a:ext cx="2651760" cy="2377440"/>
          </a:xfrm>
          <a:prstGeom prst="roundRect">
            <a:avLst>
              <a:gd name="adj" fmla="val 3846"/>
            </a:avLst>
          </a:prstGeom>
          <a:solidFill>
            <a:srgbClr val="F1F4F8"/>
          </a:solidFill>
          <a:ln w="12700">
            <a:solidFill>
              <a:srgbClr val="F1F4F8"/>
            </a:solidFill>
            <a:prstDash val="solid"/>
          </a:ln>
        </p:spPr>
      </p:sp>
      <p:sp>
        <p:nvSpPr>
          <p:cNvPr id="10" name="Text 8"/>
          <p:cNvSpPr txBox="1"/>
          <p:nvPr/>
        </p:nvSpPr>
        <p:spPr>
          <a:xfrm>
            <a:off x="3429000" y="1463040"/>
            <a:ext cx="228600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Output</a:t>
            </a:r>
            <a:endParaRPr lang="en-US" sz="1700" dirty="0"/>
          </a:p>
        </p:txBody>
      </p:sp>
      <p:sp>
        <p:nvSpPr>
          <p:cNvPr id="11" name="Text 9"/>
          <p:cNvSpPr txBox="1"/>
          <p:nvPr/>
        </p:nvSpPr>
        <p:spPr>
          <a:xfrm>
            <a:off x="3429000" y="1856232"/>
            <a:ext cx="2286000" cy="1737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return value is how a result leaves; a print is a side effect, and its return value is None.</a:t>
            </a:r>
            <a:endParaRPr lang="en-US" sz="1300" dirty="0"/>
          </a:p>
        </p:txBody>
      </p:sp>
      <p:sp>
        <p:nvSpPr>
          <p:cNvPr id="12" name="Shape 10"/>
          <p:cNvSpPr/>
          <p:nvPr/>
        </p:nvSpPr>
        <p:spPr>
          <a:xfrm>
            <a:off x="6035040" y="1325880"/>
            <a:ext cx="2651760" cy="2377440"/>
          </a:xfrm>
          <a:prstGeom prst="roundRect">
            <a:avLst>
              <a:gd name="adj" fmla="val 3846"/>
            </a:avLst>
          </a:prstGeom>
          <a:solidFill>
            <a:srgbClr val="F1F4F8"/>
          </a:solidFill>
          <a:ln w="12700">
            <a:solidFill>
              <a:srgbClr val="F1F4F8"/>
            </a:solidFill>
            <a:prstDash val="solid"/>
          </a:ln>
        </p:spPr>
      </p:sp>
      <p:sp>
        <p:nvSpPr>
          <p:cNvPr id="13" name="Text 11"/>
          <p:cNvSpPr txBox="1"/>
          <p:nvPr/>
        </p:nvSpPr>
        <p:spPr>
          <a:xfrm>
            <a:off x="6217920" y="1463040"/>
            <a:ext cx="228600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Local state</a:t>
            </a:r>
            <a:endParaRPr lang="en-US" sz="1700" dirty="0"/>
          </a:p>
        </p:txBody>
      </p:sp>
      <p:sp>
        <p:nvSpPr>
          <p:cNvPr id="14" name="Text 12"/>
          <p:cNvSpPr txBox="1"/>
          <p:nvPr/>
        </p:nvSpPr>
        <p:spPr>
          <a:xfrm>
            <a:off x="6217920" y="1856232"/>
            <a:ext cx="2286000" cy="1737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Its variables live in its own scope, so its code cannot change other functions’ variables.</a:t>
            </a:r>
            <a:endParaRPr lang="en-US" sz="1300" dirty="0"/>
          </a:p>
        </p:txBody>
      </p:sp>
      <p:sp>
        <p:nvSpPr>
          <p:cNvPr id="15" name="Text 13"/>
          <p:cNvSpPr txBox="1"/>
          <p:nvPr/>
        </p:nvSpPr>
        <p:spPr>
          <a:xfrm>
            <a:off x="457200" y="3931920"/>
            <a:ext cx="8229600" cy="457200"/>
          </a:xfrm>
          <a:prstGeom prst="rect">
            <a:avLst/>
          </a:prstGeom>
          <a:noFill/>
          <a:ln/>
        </p:spPr>
        <p:txBody>
          <a:bodyPr wrap="square" lIns="0" tIns="0" rIns="0" bIns="0" rtlCol="0" anchor="ctr"/>
          <a:lstStyle/>
          <a:p>
            <a:pPr indent="0" marL="0">
              <a:buNone/>
            </a:pPr>
            <a:r>
              <a:rPr lang="en-US" sz="1600" b="1" dirty="0">
                <a:solidFill>
                  <a:srgbClr val="306998"/>
                </a:solidFill>
                <a:latin typeface="Calibri" pitchFamily="34" charset="0"/>
                <a:ea typeface="Calibri" pitchFamily="34" charset="-122"/>
                <a:cs typeface="Calibri" pitchFamily="34" charset="-120"/>
              </a:rPr>
              <a:t>Scopes narrow the code that could be causing a bug.</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Check yourself</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first, then run it</a:t>
            </a:r>
            <a:endParaRPr lang="en-US" sz="1300" dirty="0"/>
          </a:p>
        </p:txBody>
      </p:sp>
      <p:sp>
        <p:nvSpPr>
          <p:cNvPr id="6" name="Shape 4"/>
          <p:cNvSpPr/>
          <p:nvPr/>
        </p:nvSpPr>
        <p:spPr>
          <a:xfrm>
            <a:off x="457200" y="1316736"/>
            <a:ext cx="420624" cy="420624"/>
          </a:xfrm>
          <a:prstGeom prst="ellipse">
            <a:avLst/>
          </a:prstGeom>
          <a:solidFill>
            <a:srgbClr val="FFD43B"/>
          </a:solidFill>
          <a:ln w="12700">
            <a:solidFill>
              <a:srgbClr val="FFD43B"/>
            </a:solidFill>
            <a:prstDash val="solid"/>
          </a:ln>
        </p:spPr>
      </p:sp>
      <p:sp>
        <p:nvSpPr>
          <p:cNvPr id="7" name="Text 5"/>
          <p:cNvSpPr txBox="1"/>
          <p:nvPr/>
        </p:nvSpPr>
        <p:spPr>
          <a:xfrm>
            <a:off x="457200" y="131673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051560" y="1280160"/>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When does the code in a function run: at def, or at the call?</a:t>
            </a:r>
            <a:endParaRPr lang="en-US" sz="1500" dirty="0"/>
          </a:p>
        </p:txBody>
      </p:sp>
      <p:sp>
        <p:nvSpPr>
          <p:cNvPr id="9" name="Shape 7"/>
          <p:cNvSpPr/>
          <p:nvPr/>
        </p:nvSpPr>
        <p:spPr>
          <a:xfrm>
            <a:off x="457200" y="1920240"/>
            <a:ext cx="420624" cy="420624"/>
          </a:xfrm>
          <a:prstGeom prst="ellipse">
            <a:avLst/>
          </a:prstGeom>
          <a:solidFill>
            <a:srgbClr val="FFD43B"/>
          </a:solidFill>
          <a:ln w="12700">
            <a:solidFill>
              <a:srgbClr val="FFD43B"/>
            </a:solidFill>
            <a:prstDash val="solid"/>
          </a:ln>
        </p:spPr>
      </p:sp>
      <p:sp>
        <p:nvSpPr>
          <p:cNvPr id="10" name="Text 8"/>
          <p:cNvSpPr txBox="1"/>
          <p:nvPr/>
        </p:nvSpPr>
        <p:spPr>
          <a:xfrm>
            <a:off x="457200" y="1920240"/>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051560" y="1883664"/>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is the difference between an argument and a parameter?</a:t>
            </a:r>
            <a:endParaRPr lang="en-US" sz="1500" dirty="0"/>
          </a:p>
        </p:txBody>
      </p:sp>
      <p:sp>
        <p:nvSpPr>
          <p:cNvPr id="12" name="Shape 10"/>
          <p:cNvSpPr/>
          <p:nvPr/>
        </p:nvSpPr>
        <p:spPr>
          <a:xfrm>
            <a:off x="457200" y="2523744"/>
            <a:ext cx="420624" cy="420624"/>
          </a:xfrm>
          <a:prstGeom prst="ellipse">
            <a:avLst/>
          </a:prstGeom>
          <a:solidFill>
            <a:srgbClr val="FFD43B"/>
          </a:solidFill>
          <a:ln w="12700">
            <a:solidFill>
              <a:srgbClr val="FFD43B"/>
            </a:solidFill>
            <a:prstDash val="solid"/>
          </a:ln>
        </p:spPr>
      </p:sp>
      <p:sp>
        <p:nvSpPr>
          <p:cNvPr id="13" name="Text 11"/>
          <p:cNvSpPr txBox="1"/>
          <p:nvPr/>
        </p:nvSpPr>
        <p:spPr>
          <a:xfrm>
            <a:off x="457200" y="2523744"/>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051560" y="2487168"/>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does a function with no return statement give back?</a:t>
            </a:r>
            <a:endParaRPr lang="en-US" sz="1500" dirty="0"/>
          </a:p>
        </p:txBody>
      </p:sp>
      <p:sp>
        <p:nvSpPr>
          <p:cNvPr id="15" name="Shape 13"/>
          <p:cNvSpPr/>
          <p:nvPr/>
        </p:nvSpPr>
        <p:spPr>
          <a:xfrm>
            <a:off x="457200" y="3127248"/>
            <a:ext cx="420624" cy="420624"/>
          </a:xfrm>
          <a:prstGeom prst="ellipse">
            <a:avLst/>
          </a:prstGeom>
          <a:solidFill>
            <a:srgbClr val="FFD43B"/>
          </a:solidFill>
          <a:ln w="12700">
            <a:solidFill>
              <a:srgbClr val="FFD43B"/>
            </a:solidFill>
            <a:prstDash val="solid"/>
          </a:ln>
        </p:spPr>
      </p:sp>
      <p:sp>
        <p:nvSpPr>
          <p:cNvPr id="16" name="Text 14"/>
          <p:cNvSpPr txBox="1"/>
          <p:nvPr/>
        </p:nvSpPr>
        <p:spPr>
          <a:xfrm>
            <a:off x="457200" y="3127248"/>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17" name="Text 15"/>
          <p:cNvSpPr txBox="1"/>
          <p:nvPr/>
        </p:nvSpPr>
        <p:spPr>
          <a:xfrm>
            <a:off x="1051560" y="3090672"/>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Which variable does print(x) use if the function also assigns x later?</a:t>
            </a:r>
            <a:endParaRPr lang="en-US" sz="1500" dirty="0"/>
          </a:p>
        </p:txBody>
      </p:sp>
      <p:sp>
        <p:nvSpPr>
          <p:cNvPr id="18" name="Shape 16"/>
          <p:cNvSpPr/>
          <p:nvPr/>
        </p:nvSpPr>
        <p:spPr>
          <a:xfrm>
            <a:off x="457200" y="3730752"/>
            <a:ext cx="420624" cy="420624"/>
          </a:xfrm>
          <a:prstGeom prst="ellipse">
            <a:avLst/>
          </a:prstGeom>
          <a:solidFill>
            <a:srgbClr val="FFD43B"/>
          </a:solidFill>
          <a:ln w="12700">
            <a:solidFill>
              <a:srgbClr val="FFD43B"/>
            </a:solidFill>
            <a:prstDash val="solid"/>
          </a:ln>
        </p:spPr>
      </p:sp>
      <p:sp>
        <p:nvSpPr>
          <p:cNvPr id="19" name="Text 17"/>
          <p:cNvSpPr txBox="1"/>
          <p:nvPr/>
        </p:nvSpPr>
        <p:spPr>
          <a:xfrm>
            <a:off x="457200" y="3730752"/>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0" name="Text 18"/>
          <p:cNvSpPr txBox="1"/>
          <p:nvPr/>
        </p:nvSpPr>
        <p:spPr>
          <a:xfrm>
            <a:off x="1051560" y="3694176"/>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Where does execution go when the error is raised inside a function called in a try block?</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Sources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300" dirty="0"/>
          </a:p>
        </p:txBody>
      </p:sp>
      <p:sp>
        <p:nvSpPr>
          <p:cNvPr id="6" name="Text 4"/>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4.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Tutorial 4 and 8; Language Reference 4 and 7; Programming FAQ; Built-in Functions and Exceptions; sys; What’s New in 3.14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Hastings, L. (2021). PEP 649, Deferred Evaluation Of Annotations. peps.python.org/pep-0649</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Cannon, B. (2024). PEP 758, except without parentheses. peps.python.org/pep-0758</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Hastings, L. et al. (2018). PEP 570; Talin (2006). PEP 3102; Yee, K.-P. (2006). PEP 3104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Van Rossum, G. et al. (2001). PEP 8, Style Guide for Python Code. peps.python.org/pep-0008</a:t>
            </a:r>
            <a:endParaRPr lang="en-US" sz="1200" dirty="0"/>
          </a:p>
        </p:txBody>
      </p:sp>
      <p:sp>
        <p:nvSpPr>
          <p:cNvPr id="7" name="Text 5"/>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NOTICE_v1_2.md.</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5 — Debugging</a:t>
            </a:r>
            <a:endParaRPr lang="en-US" sz="3000" dirty="0"/>
          </a:p>
        </p:txBody>
      </p:sp>
      <p:sp>
        <p:nvSpPr>
          <p:cNvPr id="3" name="Text 1"/>
          <p:cNvSpPr txBox="1"/>
          <p:nvPr/>
        </p:nvSpPr>
        <p:spPr>
          <a:xfrm>
            <a:off x="548640" y="2377440"/>
            <a:ext cx="8046720" cy="731520"/>
          </a:xfrm>
          <a:prstGeom prst="rect">
            <a:avLst/>
          </a:prstGeom>
          <a:noFill/>
          <a:ln/>
        </p:spPr>
        <p:txBody>
          <a:bodyPr wrap="square" lIns="0" tIns="0" rIns="0" bIns="0" rtlCol="0" anchor="ctr"/>
          <a:lstStyle/>
          <a:p>
            <a:pPr indent="0" marL="0">
              <a:buNone/>
            </a:pPr>
            <a:r>
              <a:rPr lang="en-US" sz="1700" dirty="0">
                <a:solidFill>
                  <a:srgbClr val="FFD43B"/>
                </a:solidFill>
                <a:latin typeface="Calibri" pitchFamily="34" charset="0"/>
                <a:ea typeface="Calibri" pitchFamily="34" charset="-122"/>
                <a:cs typeface="Calibri" pitchFamily="34" charset="-120"/>
              </a:rPr>
              <a:t>Before then: work through the chapter 4 interactive page and try its subject agents.</a:t>
            </a:r>
            <a:endParaRPr lang="en-US" sz="1700" dirty="0"/>
          </a:p>
        </p:txBody>
      </p:sp>
      <p:sp>
        <p:nvSpPr>
          <p:cNvPr id="4" name="Text 2"/>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4 - Functions</dc:title>
  <dc:subject>PptxGenJS Presentation</dc:subject>
  <dc:creator>Yusuf Altunel</dc:creator>
  <cp:lastModifiedBy>Yusuf Altunel</cp:lastModifiedBy>
  <cp:revision>1</cp:revision>
  <dcterms:created xsi:type="dcterms:W3CDTF">2026-09-28T23:11:54Z</dcterms:created>
  <dcterms:modified xsi:type="dcterms:W3CDTF">2026-09-28T23:11:54Z</dcterms:modified>
  <cp:version>1.0.0</cp:version>
</cp:coreProperties>
</file>