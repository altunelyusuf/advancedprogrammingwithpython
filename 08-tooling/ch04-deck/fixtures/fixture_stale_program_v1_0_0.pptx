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Every result on these slides was produced by running it under Python 3.14.4; every claim beyond the book is in 03-materials/ch04/rdodi.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from Automate the Boring Stuff with Python, 3rd edition, chapter 4 (Sweigart, 2025); the second line of each item is what the course adds from the chapter 4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program is this course’s own, shortened from the book’s helloFunc.py;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pasted listing ends print(' Good evening!'). Both of the book’s listings were run under Python 3.14.4 (08-tooling/sen0414_ch04_rdodi_data_v1_0_0.py, behaviours); their outputs differ in exactly that line. The program on the slide compares the two outputs as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Arguments and Parameters. The book prints NameError: name 'name' is not defined for this mistake, as Python 3.14.4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Named Parameters. print, Built-in Functions (Python Software Foundation, 2026): sep, end, file and flush, if present, must be given as keyword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570 (Hastings et al., 2018), Python 3.8, and PEP 3102 (Talin, 2006), Python 3.0.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sections Return Values and return Statements and The None Value. return, The Python Language Reference 7.7: if an expression list is present it is evaluated, else None is substituted. PEP 8 (Van Rossum et al., 2001) on comparisons to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Tutorial, 4.9.1 Default Argument Values (Python Software Foundation, 2026): the default is evaluated only once, which matters for a mutable object. The chapter defers its optional named parameters until lists and dictionaries have been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Call Stack: frame objects are added to and removed from the top of the stack; the top frame is the function currently executing. The program is this course’s own; traceback.extract_stack lists the frames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sys.getrecursionlimit and RecursionError (Python Software Foundation, 2026): the limit keeps infinite recursion from overflowing the C stack; RecursionError derives from RuntimeError.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Local and Global Scopes and Scope Rules; the book’s localGlobalSameName.py prints the same pattern.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global Statement.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The Python Language Reference 4.2.2 Resolution of names: the local variables of a code block can be determined by scanning the entire text of the block for name binding operations. The symtable module reports the result for the book’s spam, bacon and ham (a, b and c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Programming FAQ, Why am I getting an UnboundLocalError (Python Software Foundation, 2026). The class is a subclass of NameError.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nonlocal statement, The Python Language Reference 7.13; PEP 3104 (Yee, 2006), Python 3.0.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zeroDivide.py with the try inside spam(); the book prints 21.0, 3.5, Error: Invalid argument., None, 42.0. The Python Tutorial 8.3 (Python Software Foundation, 2026): if an exception occurs in the try clause the rest of it is skipped and a matching except clause runs.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the calls inside a try block, whose spam(1) is never executed.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758 (Galindo Salgado and Cannon, 2024), Python 3.14; What’s New In Python 3.14. Executed under Python 3.14.4: the form with as is a SyntaxError, multiple exception types must be parenthesized when using 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649 and PEP 749 (Hastings, 2021), Python 3.14; What’s New In Python 3.14 and the annotationlib module.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The Collatz Sequence: for 3 the book’s output is 3 10 5 16 8 4 2 1. This is the course’s own solution,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Input Validation. The course’s own solution, with the two inputs shown,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Functions as “Black Boxes” and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at the call; the argument is the value passed, the parameter the variable that receives it; None; the local one, so UnboundLocalError; to the matching except clause, and it does not return into the try clause. Questions 2, 6 and 13 follow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03-materials/ch04/rdodi/sen0414_ch04_research_v1_0_0.ttl.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the 3rd edition is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4: Functions</a:t>
            </a:r>
            <a:endParaRPr lang="en-US" sz="38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Names, scopes and the call stack — in the book’s terms and in today’s Python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Creating functions</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 calls, and not repeating code</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Arguments and parameters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positional-only and keyword-only</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Return values and None</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defaults evaluated once</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The call stack</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frames, and the recursion limit</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Local and global scopes</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decided by scanning the body</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Exception handling</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and what 3.14 changed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 and calls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body runs when the function is called</a:t>
            </a:r>
            <a:endParaRPr lang="en-US" sz="1300" dirty="0"/>
          </a:p>
        </p:txBody>
      </p:sp>
      <p:sp>
        <p:nvSpPr>
          <p:cNvPr id="6" name="Shape 4"/>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Text 5"/>
          <p:cNvSpPr txBox="1"/>
          <p:nvPr/>
        </p:nvSpPr>
        <p:spPr>
          <a:xfrm>
            <a:off x="640080" y="1435608"/>
            <a:ext cx="3657600" cy="170078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def 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morning!')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evening!')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print('ONE MORE TIME!')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p:txBody>
      </p:sp>
      <p:sp>
        <p:nvSpPr>
          <p:cNvPr id="8" name="Shape 6"/>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ext 7"/>
          <p:cNvSpPr txBox="1"/>
          <p:nvPr/>
        </p:nvSpPr>
        <p:spPr>
          <a:xfrm>
            <a:off x="4892040" y="1417320"/>
            <a:ext cx="3657600" cy="173736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ONE MORE TIME!</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p:txBody>
      </p:sp>
      <p:sp>
        <p:nvSpPr>
          <p:cNvPr id="10" name="Text 8"/>
          <p:cNvSpPr txBox="1"/>
          <p:nvPr/>
        </p:nvSpPr>
        <p:spPr>
          <a:xfrm>
            <a:off x="4754880" y="3282696"/>
            <a:ext cx="39319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56616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033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once, call often</a:t>
            </a:r>
            <a:endParaRPr lang="en-US" sz="1700" dirty="0"/>
          </a:p>
        </p:txBody>
      </p:sp>
      <p:sp>
        <p:nvSpPr>
          <p:cNvPr id="13" name="Text 11"/>
          <p:cNvSpPr txBox="1"/>
          <p:nvPr/>
        </p:nvSpPr>
        <p:spPr>
          <a:xfrm>
            <a:off x="640080" y="40965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def statement creates the function; nothing in its body runs until a call. Each call jumps into the body and returns to the line after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not paste the code?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own pasted listing drifted</a:t>
            </a:r>
            <a:endParaRPr lang="en-US" sz="1300" dirty="0"/>
          </a:p>
        </p:txBody>
      </p:sp>
      <p:sp>
        <p:nvSpPr>
          <p:cNvPr id="6" name="Shape 4"/>
          <p:cNvSpPr/>
          <p:nvPr/>
        </p:nvSpPr>
        <p:spPr>
          <a:xfrm>
            <a:off x="457200" y="1325880"/>
            <a:ext cx="51206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4754880" cy="18836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pasted = ['Good morning!', 'Good afternoon!', 'Good evening!'] * 2 + ['ONE MORE TIME!', 'Good morning!', 'Good afternoon!', '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called = ['Good morning!', 'Good afternoon!', 'Good evening!'] * 2 + ['ONE MORE TIME!', 'Good morning!', 'Good afternoon!',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one, other in zip(pasted, called):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one != other: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print(repr(one), 'is not', repr(other))</a:t>
            </a:r>
            <a:endParaRPr lang="en-US" sz="1100" dirty="0"/>
          </a:p>
        </p:txBody>
      </p:sp>
      <p:sp>
        <p:nvSpPr>
          <p:cNvPr id="8" name="Shape 6"/>
          <p:cNvSpPr/>
          <p:nvPr/>
        </p:nvSpPr>
        <p:spPr>
          <a:xfrm>
            <a:off x="5760720" y="1325880"/>
            <a:ext cx="292608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897880" y="1417320"/>
            <a:ext cx="2651760" cy="8229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 Good evening!' is not 'Good evening!'</a:t>
            </a:r>
            <a:endParaRPr lang="en-US" sz="1200" dirty="0"/>
          </a:p>
        </p:txBody>
      </p:sp>
      <p:sp>
        <p:nvSpPr>
          <p:cNvPr id="10" name="Text 8"/>
          <p:cNvSpPr txBox="1"/>
          <p:nvPr/>
        </p:nvSpPr>
        <p:spPr>
          <a:xfrm>
            <a:off x="5760720" y="2368296"/>
            <a:ext cx="292608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490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Found by running both listings</a:t>
            </a:r>
            <a:endParaRPr lang="en-US" sz="1700" dirty="0"/>
          </a:p>
        </p:txBody>
      </p:sp>
      <p:sp>
        <p:nvSpPr>
          <p:cNvPr id="13" name="Text 11"/>
          <p:cNvSpPr txBox="1"/>
          <p:nvPr/>
        </p:nvSpPr>
        <p:spPr>
          <a:xfrm>
            <a:off x="640080" y="414223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last pasted line in the book is print(' Good evening!') — with a leading space — so its output differs from the function version. That is the hazard the passage warns about.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Arguments and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Values in, forgotten on return</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say_hello_to(name):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print('Good morning, ' + 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say_hello_to('Alice')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say_hello_to('Bob')</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NameError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Alice</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Bob</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name 'name' is not defined</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call, pass</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argument is the value passed; a parameter is the variable that receives it. The parameter does not exist once the call returns.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Named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Identified by name, not by position</a:t>
            </a:r>
            <a:endParaRPr lang="en-US" sz="1300" dirty="0"/>
          </a:p>
        </p:txBody>
      </p:sp>
      <p:sp>
        <p:nvSpPr>
          <p:cNvPr id="6" name="Shape 4"/>
          <p:cNvSpPr/>
          <p:nvPr/>
        </p:nvSpPr>
        <p:spPr>
          <a:xfrm>
            <a:off x="457200" y="1325880"/>
            <a:ext cx="4206240" cy="1371600"/>
          </a:xfrm>
          <a:prstGeom prst="roundRect">
            <a:avLst>
              <a:gd name="adj" fmla="val 6667"/>
            </a:avLst>
          </a:prstGeom>
          <a:solidFill>
            <a:srgbClr val="17202B"/>
          </a:solidFill>
          <a:ln w="12700">
            <a:solidFill>
              <a:srgbClr val="17202B"/>
            </a:solidFill>
            <a:prstDash val="solid"/>
          </a:ln>
        </p:spPr>
      </p:sp>
      <p:sp>
        <p:nvSpPr>
          <p:cNvPr id="7" name="Text 5"/>
          <p:cNvSpPr txBox="1"/>
          <p:nvPr/>
        </p:nvSpPr>
        <p:spPr>
          <a:xfrm>
            <a:off x="640080" y="1435608"/>
            <a:ext cx="3840480" cy="115214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print('Hello', end='')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print('World')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print('cats', 'dogs', 'mice', sep=',')</a:t>
            </a:r>
            <a:endParaRPr lang="en-US" sz="14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HelloWorld</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cats,dogs,mice</a:t>
            </a:r>
            <a:endParaRPr lang="en-US" sz="14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01752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1546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print() has four</a:t>
            </a:r>
            <a:endParaRPr lang="en-US" sz="1700" dirty="0"/>
          </a:p>
        </p:txBody>
      </p:sp>
      <p:sp>
        <p:nvSpPr>
          <p:cNvPr id="13" name="Text 11"/>
          <p:cNvSpPr txBox="1"/>
          <p:nvPr/>
        </p:nvSpPr>
        <p:spPr>
          <a:xfrm>
            <a:off x="640080" y="354787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sep, end, file and flush can only be given by name. end='' suppresses the newline; sep=',' changes the separator between values.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Positional-only and keyword-only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the chapter leaves for later</a:t>
            </a:r>
            <a:endParaRPr lang="en-US" sz="1300" dirty="0"/>
          </a:p>
        </p:txBody>
      </p:sp>
      <p:sp>
        <p:nvSpPr>
          <p:cNvPr id="6" name="Shape 4"/>
          <p:cNvSpPr/>
          <p:nvPr/>
        </p:nvSpPr>
        <p:spPr>
          <a:xfrm>
            <a:off x="457200" y="1234440"/>
            <a:ext cx="4754880" cy="2560320"/>
          </a:xfrm>
          <a:prstGeom prst="roundRect">
            <a:avLst>
              <a:gd name="adj" fmla="val 3571"/>
            </a:avLst>
          </a:prstGeom>
          <a:solidFill>
            <a:srgbClr val="17202B"/>
          </a:solidFill>
          <a:ln w="12700">
            <a:solidFill>
              <a:srgbClr val="17202B"/>
            </a:solidFill>
            <a:prstDash val="solid"/>
          </a:ln>
        </p:spPr>
      </p:sp>
      <p:sp>
        <p:nvSpPr>
          <p:cNvPr id="7" name="Text 5"/>
          <p:cNvSpPr txBox="1"/>
          <p:nvPr/>
        </p:nvSpPr>
        <p:spPr>
          <a:xfrm>
            <a:off x="640080" y="1344168"/>
            <a:ext cx="4389120" cy="23408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scale(value, /, factor=2):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value * factor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area(width,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print(scale(3), scale(3, factor=4), area(2, height=5))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call in (lambda: scale(value=3), lambda: area(2, 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call()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TypeError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print(error)</a:t>
            </a:r>
            <a:endParaRPr lang="en-US" sz="1100" dirty="0"/>
          </a:p>
        </p:txBody>
      </p:sp>
      <p:sp>
        <p:nvSpPr>
          <p:cNvPr id="8" name="Shape 6"/>
          <p:cNvSpPr/>
          <p:nvPr/>
        </p:nvSpPr>
        <p:spPr>
          <a:xfrm>
            <a:off x="5394960" y="1234440"/>
            <a:ext cx="3291840" cy="2103120"/>
          </a:xfrm>
          <a:prstGeom prst="roundRect">
            <a:avLst>
              <a:gd name="adj" fmla="val 4348"/>
            </a:avLst>
          </a:prstGeom>
          <a:solidFill>
            <a:srgbClr val="F1F4F8"/>
          </a:solidFill>
          <a:ln w="12700">
            <a:solidFill>
              <a:srgbClr val="F1F4F8"/>
            </a:solidFill>
            <a:prstDash val="solid"/>
          </a:ln>
        </p:spPr>
      </p:sp>
      <p:sp>
        <p:nvSpPr>
          <p:cNvPr id="9" name="Text 7"/>
          <p:cNvSpPr txBox="1"/>
          <p:nvPr/>
        </p:nvSpPr>
        <p:spPr>
          <a:xfrm>
            <a:off x="5532120" y="1325880"/>
            <a:ext cx="3017520" cy="1920240"/>
          </a:xfrm>
          <a:prstGeom prst="rect">
            <a:avLst/>
          </a:prstGeom>
          <a:noFill/>
          <a:ln/>
        </p:spPr>
        <p:txBody>
          <a:bodyPr wrap="square" lIns="0" tIns="0" rIns="0" bIns="0" rtlCol="0" anchor="t"/>
          <a:lstStyle/>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6 12 10</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scale() got some positional-only arguments passed as keyword arguments: 'value'</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area() takes 1 positional argument but 2 were given</a:t>
            </a:r>
            <a:endParaRPr lang="en-US" sz="1050" dirty="0"/>
          </a:p>
        </p:txBody>
      </p:sp>
      <p:sp>
        <p:nvSpPr>
          <p:cNvPr id="10" name="Text 8"/>
          <p:cNvSpPr txBox="1"/>
          <p:nvPr/>
        </p:nvSpPr>
        <p:spPr>
          <a:xfrm>
            <a:off x="5394960" y="3374136"/>
            <a:ext cx="32918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7764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Slash and star</a:t>
            </a:r>
            <a:endParaRPr lang="en-US" sz="1700" dirty="0"/>
          </a:p>
        </p:txBody>
      </p:sp>
      <p:sp>
        <p:nvSpPr>
          <p:cNvPr id="13" name="Text 11"/>
          <p:cNvSpPr txBox="1"/>
          <p:nvPr/>
        </p:nvSpPr>
        <p:spPr>
          <a:xfrm>
            <a:off x="640080" y="450799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Before / : position only. After * : name only. A wrong call raises a TypeError that says which.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Return values and None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call is an expression</a:t>
            </a:r>
            <a:endParaRPr lang="en-US" sz="1300" dirty="0"/>
          </a:p>
        </p:txBody>
      </p:sp>
      <p:sp>
        <p:nvSpPr>
          <p:cNvPr id="6" name="Shape 4"/>
          <p:cNvSpPr/>
          <p:nvPr/>
        </p:nvSpPr>
        <p:spPr>
          <a:xfrm>
            <a:off x="457200" y="1325880"/>
            <a:ext cx="42062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840480" cy="188366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area(width,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width *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shout(text):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print(text.upper())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print(area(3, 4) + area(1, 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result = shout('hi')</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print(result is None)</a:t>
            </a:r>
            <a:endParaRPr lang="en-US" sz="13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14</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HI</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True</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57600"/>
            <a:ext cx="4206240" cy="1005840"/>
          </a:xfrm>
          <a:prstGeom prst="roundRect">
            <a:avLst>
              <a:gd name="adj" fmla="val 9091"/>
            </a:avLst>
          </a:prstGeom>
          <a:solidFill>
            <a:srgbClr val="17202B"/>
          </a:solidFill>
          <a:ln w="12700">
            <a:solidFill>
              <a:srgbClr val="17202B"/>
            </a:solidFill>
            <a:prstDash val="solid"/>
          </a:ln>
        </p:spPr>
      </p:sp>
      <p:sp>
        <p:nvSpPr>
          <p:cNvPr id="12" name="Text 10"/>
          <p:cNvSpPr txBox="1"/>
          <p:nvPr/>
        </p:nvSpPr>
        <p:spPr>
          <a:xfrm>
            <a:off x="640080" y="3767328"/>
            <a:ext cx="3840480" cy="78638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type(None).__name__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'NoneType'</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(lambda: None)() is None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Text 11"/>
          <p:cNvSpPr txBox="1"/>
          <p:nvPr/>
        </p:nvSpPr>
        <p:spPr>
          <a:xfrm>
            <a:off x="457200" y="4700016"/>
            <a:ext cx="42062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937760" y="2880360"/>
            <a:ext cx="3749040" cy="1783080"/>
          </a:xfrm>
          <a:prstGeom prst="roundRect">
            <a:avLst>
              <a:gd name="adj" fmla="val 5128"/>
            </a:avLst>
          </a:prstGeom>
          <a:solidFill>
            <a:srgbClr val="F1F4F8"/>
          </a:solidFill>
          <a:ln w="12700">
            <a:solidFill>
              <a:srgbClr val="F1F4F8"/>
            </a:solidFill>
            <a:prstDash val="solid"/>
          </a:ln>
        </p:spPr>
      </p:sp>
      <p:sp>
        <p:nvSpPr>
          <p:cNvPr id="15" name="Text 13"/>
          <p:cNvSpPr txBox="1"/>
          <p:nvPr/>
        </p:nvSpPr>
        <p:spPr>
          <a:xfrm>
            <a:off x="5120640" y="30175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Implicit None</a:t>
            </a:r>
            <a:endParaRPr lang="en-US" sz="1700" dirty="0"/>
          </a:p>
        </p:txBody>
      </p:sp>
      <p:sp>
        <p:nvSpPr>
          <p:cNvPr id="16" name="Text 14"/>
          <p:cNvSpPr txBox="1"/>
          <p:nvPr/>
        </p:nvSpPr>
        <p:spPr>
          <a:xfrm>
            <a:off x="5120640" y="3410712"/>
            <a:ext cx="338328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function with no return, or a bare return, gives back None, the only value of NoneType. Compare with is: PEP 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Default values are evaluated once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shared list is a classic trap</a:t>
            </a:r>
            <a:endParaRPr lang="en-US" sz="1300" dirty="0"/>
          </a:p>
        </p:txBody>
      </p:sp>
      <p:sp>
        <p:nvSpPr>
          <p:cNvPr id="6" name="Shape 4"/>
          <p:cNvSpPr/>
          <p:nvPr/>
        </p:nvSpPr>
        <p:spPr>
          <a:xfrm>
            <a:off x="457200" y="1234440"/>
            <a:ext cx="4206240" cy="2834640"/>
          </a:xfrm>
          <a:prstGeom prst="roundRect">
            <a:avLst>
              <a:gd name="adj" fmla="val 3226"/>
            </a:avLst>
          </a:prstGeom>
          <a:solidFill>
            <a:srgbClr val="17202B"/>
          </a:solidFill>
          <a:ln w="12700">
            <a:solidFill>
              <a:srgbClr val="17202B"/>
            </a:solidFill>
            <a:prstDash val="solid"/>
          </a:ln>
        </p:spPr>
      </p:sp>
      <p:sp>
        <p:nvSpPr>
          <p:cNvPr id="7" name="Text 5"/>
          <p:cNvSpPr txBox="1"/>
          <p:nvPr/>
        </p:nvSpPr>
        <p:spPr>
          <a:xfrm>
            <a:off x="640080" y="1344168"/>
            <a:ext cx="3840480" cy="26151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collect(item,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collect_safely(item, box=None):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box is 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 =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print(collect_safely(2))</a:t>
            </a:r>
            <a:endParaRPr lang="en-US" sz="1100" dirty="0"/>
          </a:p>
        </p:txBody>
      </p:sp>
      <p:sp>
        <p:nvSpPr>
          <p:cNvPr id="8" name="Shape 6"/>
          <p:cNvSpPr/>
          <p:nvPr/>
        </p:nvSpPr>
        <p:spPr>
          <a:xfrm>
            <a:off x="4937760" y="123444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32588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 2]</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971800"/>
            <a:ext cx="3749040" cy="1417320"/>
          </a:xfrm>
          <a:prstGeom prst="roundRect">
            <a:avLst>
              <a:gd name="adj" fmla="val 6452"/>
            </a:avLst>
          </a:prstGeom>
          <a:solidFill>
            <a:srgbClr val="F1F4F8"/>
          </a:solidFill>
          <a:ln w="12700">
            <a:solidFill>
              <a:srgbClr val="F1F4F8"/>
            </a:solidFill>
            <a:prstDash val="solid"/>
          </a:ln>
        </p:spPr>
      </p:sp>
      <p:sp>
        <p:nvSpPr>
          <p:cNvPr id="12" name="Text 10"/>
          <p:cNvSpPr txBox="1"/>
          <p:nvPr/>
        </p:nvSpPr>
        <p:spPr>
          <a:xfrm>
            <a:off x="5120640" y="31089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remedy</a:t>
            </a:r>
            <a:endParaRPr lang="en-US" sz="1700" dirty="0"/>
          </a:p>
        </p:txBody>
      </p:sp>
      <p:sp>
        <p:nvSpPr>
          <p:cNvPr id="13" name="Text 11"/>
          <p:cNvSpPr txBox="1"/>
          <p:nvPr/>
        </p:nvSpPr>
        <p:spPr>
          <a:xfrm>
            <a:off x="5120640" y="3502152"/>
            <a:ext cx="338328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Default to None and make the list inside the function, as collect_safely does.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call stack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Where does execution go back to?</a:t>
            </a:r>
            <a:endParaRPr lang="en-US" sz="1300" dirty="0"/>
          </a:p>
        </p:txBody>
      </p:sp>
      <p:sp>
        <p:nvSpPr>
          <p:cNvPr id="6" name="Shape 4"/>
          <p:cNvSpPr/>
          <p:nvPr/>
        </p:nvSpPr>
        <p:spPr>
          <a:xfrm>
            <a:off x="457200" y="1234440"/>
            <a:ext cx="4572000" cy="2743200"/>
          </a:xfrm>
          <a:prstGeom prst="roundRect">
            <a:avLst>
              <a:gd name="adj" fmla="val 3333"/>
            </a:avLst>
          </a:prstGeom>
          <a:solidFill>
            <a:srgbClr val="17202B"/>
          </a:solidFill>
          <a:ln w="12700">
            <a:solidFill>
              <a:srgbClr val="17202B"/>
            </a:solidFill>
            <a:prstDash val="solid"/>
          </a:ln>
        </p:spPr>
      </p:sp>
      <p:sp>
        <p:nvSpPr>
          <p:cNvPr id="7" name="Text 5"/>
          <p:cNvSpPr txBox="1"/>
          <p:nvPr/>
        </p:nvSpPr>
        <p:spPr>
          <a:xfrm>
            <a:off x="640080" y="1344168"/>
            <a:ext cx="4206240" cy="252374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traceback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outer():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print('inner: frames are', [frame.name for frame in traceback.extract_stack()][-3:])</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outer()</a:t>
            </a:r>
            <a:endParaRPr lang="en-US" sz="1100" dirty="0"/>
          </a:p>
        </p:txBody>
      </p:sp>
      <p:sp>
        <p:nvSpPr>
          <p:cNvPr id="8" name="Shape 6"/>
          <p:cNvSpPr/>
          <p:nvPr/>
        </p:nvSpPr>
        <p:spPr>
          <a:xfrm>
            <a:off x="5212080" y="1234440"/>
            <a:ext cx="3474720" cy="2011680"/>
          </a:xfrm>
          <a:prstGeom prst="roundRect">
            <a:avLst>
              <a:gd name="adj" fmla="val 4545"/>
            </a:avLst>
          </a:prstGeom>
          <a:solidFill>
            <a:srgbClr val="F1F4F8"/>
          </a:solidFill>
          <a:ln w="12700">
            <a:solidFill>
              <a:srgbClr val="F1F4F8"/>
            </a:solidFill>
            <a:prstDash val="solid"/>
          </a:ln>
        </p:spPr>
      </p:sp>
      <p:sp>
        <p:nvSpPr>
          <p:cNvPr id="9" name="Text 7"/>
          <p:cNvSpPr txBox="1"/>
          <p:nvPr/>
        </p:nvSpPr>
        <p:spPr>
          <a:xfrm>
            <a:off x="5349240" y="1325880"/>
            <a:ext cx="3200400" cy="182880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inner: frames are ['outer', 'middle', 'inner']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returns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returns</a:t>
            </a:r>
            <a:endParaRPr lang="en-US" sz="1100" dirty="0"/>
          </a:p>
        </p:txBody>
      </p:sp>
      <p:sp>
        <p:nvSpPr>
          <p:cNvPr id="10" name="Text 8"/>
          <p:cNvSpPr txBox="1"/>
          <p:nvPr/>
        </p:nvSpPr>
        <p:spPr>
          <a:xfrm>
            <a:off x="5212080" y="32826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69080"/>
            <a:ext cx="8229600" cy="685800"/>
          </a:xfrm>
          <a:prstGeom prst="roundRect">
            <a:avLst>
              <a:gd name="adj" fmla="val 13333"/>
            </a:avLst>
          </a:prstGeom>
          <a:solidFill>
            <a:srgbClr val="F1F4F8"/>
          </a:solidFill>
          <a:ln w="12700">
            <a:solidFill>
              <a:srgbClr val="F1F4F8"/>
            </a:solidFill>
            <a:prstDash val="solid"/>
          </a:ln>
        </p:spPr>
      </p:sp>
      <p:sp>
        <p:nvSpPr>
          <p:cNvPr id="12" name="Text 10"/>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Frames</a:t>
            </a:r>
            <a:endParaRPr lang="en-US" sz="1700" dirty="0"/>
          </a:p>
        </p:txBody>
      </p:sp>
      <p:sp>
        <p:nvSpPr>
          <p:cNvPr id="13" name="Text 11"/>
          <p:cNvSpPr txBox="1"/>
          <p:nvPr/>
        </p:nvSpPr>
        <p:spPr>
          <a:xfrm>
            <a:off x="640080" y="4599432"/>
            <a:ext cx="7863840" cy="45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call adds a frame; a return removes the top one. The traceback module lists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stack has a limit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RecursionError, not a crash</a:t>
            </a:r>
            <a:endParaRPr lang="en-US" sz="1300" dirty="0"/>
          </a:p>
        </p:txBody>
      </p:sp>
      <p:sp>
        <p:nvSpPr>
          <p:cNvPr id="6" name="Shape 4"/>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Text 5"/>
          <p:cNvSpPr txBox="1"/>
          <p:nvPr/>
        </p:nvSpPr>
        <p:spPr>
          <a:xfrm>
            <a:off x="640080" y="1435608"/>
            <a:ext cx="3840480" cy="160934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import sys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RecursionError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print(sys.getrecursionlimit(), error)</a:t>
            </a:r>
            <a:endParaRPr lang="en-US" sz="1300" dirty="0"/>
          </a:p>
        </p:txBody>
      </p:sp>
      <p:sp>
        <p:nvSpPr>
          <p:cNvPr id="8" name="Shape 6"/>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ext 7"/>
          <p:cNvSpPr txBox="1"/>
          <p:nvPr/>
        </p:nvSpPr>
        <p:spPr>
          <a:xfrm>
            <a:off x="5074920" y="1417320"/>
            <a:ext cx="3474720" cy="7315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1000 maximum recursion depth exceeded</a:t>
            </a:r>
            <a:endParaRPr lang="en-US" sz="1300" dirty="0"/>
          </a:p>
        </p:txBody>
      </p:sp>
      <p:sp>
        <p:nvSpPr>
          <p:cNvPr id="10" name="Text 8"/>
          <p:cNvSpPr txBox="1"/>
          <p:nvPr/>
        </p:nvSpPr>
        <p:spPr>
          <a:xfrm>
            <a:off x="4937760" y="22768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429000"/>
            <a:ext cx="8229600" cy="1188720"/>
          </a:xfrm>
          <a:prstGeom prst="roundRect">
            <a:avLst>
              <a:gd name="adj" fmla="val 7692"/>
            </a:avLst>
          </a:prstGeom>
          <a:solidFill>
            <a:srgbClr val="17202B"/>
          </a:solidFill>
          <a:ln w="12700">
            <a:solidFill>
              <a:srgbClr val="17202B"/>
            </a:solidFill>
            <a:prstDash val="solid"/>
          </a:ln>
        </p:spPr>
      </p:sp>
      <p:sp>
        <p:nvSpPr>
          <p:cNvPr id="12" name="Text 10"/>
          <p:cNvSpPr txBox="1"/>
          <p:nvPr/>
        </p:nvSpPr>
        <p:spPr>
          <a:xfrm>
            <a:off x="640080" y="3538728"/>
            <a:ext cx="7863840" cy="969264"/>
          </a:xfrm>
          <a:prstGeom prst="rect">
            <a:avLst/>
          </a:prstGeom>
          <a:noFill/>
          <a:ln/>
        </p:spPr>
        <p:txBody>
          <a:bodyPr wrap="square" lIns="0" tIns="0" rIns="0" bIns="0" rtlCol="0" anchor="t"/>
          <a:lstStyle/>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400" dirty="0">
                <a:solidFill>
                  <a:srgbClr val="E6EDF3"/>
                </a:solidFill>
                <a:latin typeface="Courier New" pitchFamily="34" charset="0"/>
                <a:ea typeface="Courier New" pitchFamily="34" charset="-122"/>
                <a:cs typeface="Courier New" pitchFamily="34" charset="-120"/>
              </a:rPr>
              <a:t>__import__('sys').getrecursionlimit()</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1000</a:t>
            </a:r>
            <a:endParaRPr lang="en-US" sz="1400" dirty="0"/>
          </a:p>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400" dirty="0">
                <a:solidFill>
                  <a:srgbClr val="E6EDF3"/>
                </a:solidFill>
                <a:latin typeface="Courier New" pitchFamily="34" charset="0"/>
                <a:ea typeface="Courier New" pitchFamily="34" charset="-122"/>
                <a:cs typeface="Courier New" pitchFamily="34" charset="-120"/>
              </a:rPr>
              <a:t>issubclass(RecursionError, RuntimeError)</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3" name="Text 11"/>
          <p:cNvSpPr txBox="1"/>
          <p:nvPr/>
        </p:nvSpPr>
        <p:spPr>
          <a:xfrm>
            <a:off x="457200" y="46542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Local and global scopes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name, different variables</a:t>
            </a:r>
            <a:endParaRPr lang="en-US" sz="1300" dirty="0"/>
          </a:p>
        </p:txBody>
      </p:sp>
      <p:sp>
        <p:nvSpPr>
          <p:cNvPr id="6" name="Shape 4"/>
          <p:cNvSpPr/>
          <p:nvPr/>
        </p:nvSpPr>
        <p:spPr>
          <a:xfrm>
            <a:off x="457200" y="1234440"/>
            <a:ext cx="420624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44168"/>
            <a:ext cx="3840480" cy="270662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'inner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def 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'outer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name = 'global'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print(name)</a:t>
            </a:r>
            <a:endParaRPr lang="en-US" sz="1200" dirty="0"/>
          </a:p>
        </p:txBody>
      </p:sp>
      <p:sp>
        <p:nvSpPr>
          <p:cNvPr id="8" name="Shape 6"/>
          <p:cNvSpPr/>
          <p:nvPr/>
        </p:nvSpPr>
        <p:spPr>
          <a:xfrm>
            <a:off x="4937760" y="1234440"/>
            <a:ext cx="3749040" cy="1554480"/>
          </a:xfrm>
          <a:prstGeom prst="roundRect">
            <a:avLst>
              <a:gd name="adj" fmla="val 5882"/>
            </a:avLst>
          </a:prstGeom>
          <a:solidFill>
            <a:srgbClr val="F1F4F8"/>
          </a:solidFill>
          <a:ln w="12700">
            <a:solidFill>
              <a:srgbClr val="F1F4F8"/>
            </a:solidFill>
            <a:prstDash val="solid"/>
          </a:ln>
        </p:spPr>
      </p:sp>
      <p:sp>
        <p:nvSpPr>
          <p:cNvPr id="9" name="Text 7"/>
          <p:cNvSpPr txBox="1"/>
          <p:nvPr/>
        </p:nvSpPr>
        <p:spPr>
          <a:xfrm>
            <a:off x="5074920" y="1325880"/>
            <a:ext cx="3474720" cy="13716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inner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global</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3108960"/>
            <a:ext cx="374904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5120640" y="32461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Three variables</a:t>
            </a:r>
            <a:endParaRPr lang="en-US" sz="1700" dirty="0"/>
          </a:p>
        </p:txBody>
      </p:sp>
      <p:sp>
        <p:nvSpPr>
          <p:cNvPr id="13" name="Text 11"/>
          <p:cNvSpPr txBox="1"/>
          <p:nvPr/>
        </p:nvSpPr>
        <p:spPr>
          <a:xfrm>
            <a:off x="5120640" y="3639312"/>
            <a:ext cx="33832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One global name and two local ones, each in its own call. The book’s advice: give them unique names.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global statement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Assigning to the global, on purpose</a:t>
            </a:r>
            <a:endParaRPr lang="en-US" sz="1300" dirty="0"/>
          </a:p>
        </p:txBody>
      </p:sp>
      <p:sp>
        <p:nvSpPr>
          <p:cNvPr id="6" name="Shape 4"/>
          <p:cNvSpPr/>
          <p:nvPr/>
        </p:nvSpPr>
        <p:spPr>
          <a:xfrm>
            <a:off x="457200" y="1325880"/>
            <a:ext cx="420624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435608"/>
            <a:ext cx="3840480" cy="22494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global 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'changed'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'local only'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mood = 'original'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p:txBody>
      </p:sp>
      <p:sp>
        <p:nvSpPr>
          <p:cNvPr id="8" name="Shape 6"/>
          <p:cNvSpPr/>
          <p:nvPr/>
        </p:nvSpPr>
        <p:spPr>
          <a:xfrm>
            <a:off x="4937760" y="1325880"/>
            <a:ext cx="374904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074920" y="1417320"/>
            <a:ext cx="3474720" cy="9144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original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changed</a:t>
            </a:r>
            <a:endParaRPr lang="en-US" sz="1300" dirty="0"/>
          </a:p>
        </p:txBody>
      </p:sp>
      <p:sp>
        <p:nvSpPr>
          <p:cNvPr id="10" name="Text 8"/>
          <p:cNvSpPr txBox="1"/>
          <p:nvPr/>
        </p:nvSpPr>
        <p:spPr>
          <a:xfrm>
            <a:off x="4937760" y="245973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697480"/>
            <a:ext cx="3749040" cy="1554480"/>
          </a:xfrm>
          <a:prstGeom prst="roundRect">
            <a:avLst>
              <a:gd name="adj" fmla="val 5882"/>
            </a:avLst>
          </a:prstGeom>
          <a:solidFill>
            <a:srgbClr val="F1F4F8"/>
          </a:solidFill>
          <a:ln w="12700">
            <a:solidFill>
              <a:srgbClr val="F1F4F8"/>
            </a:solidFill>
            <a:prstDash val="solid"/>
          </a:ln>
        </p:spPr>
      </p:sp>
      <p:sp>
        <p:nvSpPr>
          <p:cNvPr id="12" name="Text 10"/>
          <p:cNvSpPr txBox="1"/>
          <p:nvPr/>
        </p:nvSpPr>
        <p:spPr>
          <a:xfrm>
            <a:off x="5120640" y="283464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Without it</a:t>
            </a:r>
            <a:endParaRPr lang="en-US" sz="1700" dirty="0"/>
          </a:p>
        </p:txBody>
      </p:sp>
      <p:sp>
        <p:nvSpPr>
          <p:cNvPr id="13" name="Text 11"/>
          <p:cNvSpPr txBox="1"/>
          <p:nvPr/>
        </p:nvSpPr>
        <p:spPr>
          <a:xfrm>
            <a:off x="5120640" y="3227832"/>
            <a:ext cx="338328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assignment inside a function makes a local variable: shadow() left the global alone.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Which scope? The compiler decides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rules, one fact</a:t>
            </a:r>
            <a:endParaRPr lang="en-US" sz="1300" dirty="0"/>
          </a:p>
        </p:txBody>
      </p:sp>
      <p:sp>
        <p:nvSpPr>
          <p:cNvPr id="6" name="Shape 4"/>
          <p:cNvSpPr/>
          <p:nvPr/>
        </p:nvSpPr>
        <p:spPr>
          <a:xfrm>
            <a:off x="457200" y="1234440"/>
            <a:ext cx="493776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344168"/>
            <a:ext cx="4572000" cy="224942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symtable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source = 'def a():\n    global x\n    x = 1\ndef b():\n    x = 2\ndef c():\n    print(x)\nx = 3\n'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table = symtable.symtable(source, 'demo', 'exec')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function in table.get_children():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function.get_name() in ('a', 'b', 'c'):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symbol = function.lookup('x')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print(function.get_name(), 'global' if symbol.is_global() else 'local')</a:t>
            </a:r>
            <a:endParaRPr lang="en-US" sz="1100" dirty="0"/>
          </a:p>
        </p:txBody>
      </p:sp>
      <p:sp>
        <p:nvSpPr>
          <p:cNvPr id="8" name="Shape 6"/>
          <p:cNvSpPr/>
          <p:nvPr/>
        </p:nvSpPr>
        <p:spPr>
          <a:xfrm>
            <a:off x="5577840" y="1234440"/>
            <a:ext cx="310896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715000" y="1325880"/>
            <a:ext cx="2834640" cy="8229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a global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b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 global</a:t>
            </a:r>
            <a:endParaRPr lang="en-US" sz="1300" dirty="0"/>
          </a:p>
        </p:txBody>
      </p:sp>
      <p:sp>
        <p:nvSpPr>
          <p:cNvPr id="10" name="Text 8"/>
          <p:cNvSpPr txBox="1"/>
          <p:nvPr/>
        </p:nvSpPr>
        <p:spPr>
          <a:xfrm>
            <a:off x="5577840" y="2276856"/>
            <a:ext cx="310896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fact</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Local names are found by scanning the whole body for assignments. So an assignment anywhere makes a name local everywhere in that function.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UnboundLocalError, in 3.14</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class is the book’s; the message is not</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print(count)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count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count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UnboundLocalError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print(type(error).__name__ + ':', 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UnboundLocalError: referenced before assignment 'count' where it is not associated with a value</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Book, then now</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book prints “local variable ‘eggs’ referenced before assignment”. Python 3.14.4 and the Programming FAQ say “referenced before assignment … where it is not associated with a value”.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Between local and global: nonlocal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inner function rebinding the outer one’s variable</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counter():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def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nonlocal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print(counter())</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514600"/>
            <a:ext cx="3749040" cy="1737360"/>
          </a:xfrm>
          <a:prstGeom prst="roundRect">
            <a:avLst>
              <a:gd name="adj" fmla="val 5263"/>
            </a:avLst>
          </a:prstGeom>
          <a:solidFill>
            <a:srgbClr val="F1F4F8"/>
          </a:solidFill>
          <a:ln w="12700">
            <a:solidFill>
              <a:srgbClr val="F1F4F8"/>
            </a:solidFill>
            <a:prstDash val="solid"/>
          </a:ln>
        </p:spPr>
      </p:sp>
      <p:sp>
        <p:nvSpPr>
          <p:cNvPr id="12" name="Text 10"/>
          <p:cNvSpPr txBox="1"/>
          <p:nvPr/>
        </p:nvSpPr>
        <p:spPr>
          <a:xfrm>
            <a:off x="5120640" y="26517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Not in the chapter</a:t>
            </a:r>
            <a:endParaRPr lang="en-US" sz="1700" dirty="0"/>
          </a:p>
        </p:txBody>
      </p:sp>
      <p:sp>
        <p:nvSpPr>
          <p:cNvPr id="13" name="Text 11"/>
          <p:cNvSpPr txBox="1"/>
          <p:nvPr/>
        </p:nvSpPr>
        <p:spPr>
          <a:xfrm>
            <a:off x="5120640" y="3044952"/>
            <a:ext cx="3383280"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Without the nonlocal line the += would make total a local of add(), and raise UnboundLocalError.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inside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function catches its own error</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print(divide(1))</a:t>
            </a:r>
            <a:endParaRPr lang="en-US" sz="12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None</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42.0</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Where it lands</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call that failed returns None, so print shows None, and the program goes on to divide(1).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outside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error unwinds through the call</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p:txBody>
      </p:sp>
      <p:sp>
        <p:nvSpPr>
          <p:cNvPr id="8" name="Shape 6"/>
          <p:cNvSpPr/>
          <p:nvPr/>
        </p:nvSpPr>
        <p:spPr>
          <a:xfrm>
            <a:off x="4937760" y="1325880"/>
            <a:ext cx="3749040" cy="1188720"/>
          </a:xfrm>
          <a:prstGeom prst="roundRect">
            <a:avLst>
              <a:gd name="adj" fmla="val 7692"/>
            </a:avLst>
          </a:prstGeom>
          <a:solidFill>
            <a:srgbClr val="F1F4F8"/>
          </a:solidFill>
          <a:ln w="12700">
            <a:solidFill>
              <a:srgbClr val="F1F4F8"/>
            </a:solidFill>
            <a:prstDash val="solid"/>
          </a:ln>
        </p:spPr>
      </p:sp>
      <p:sp>
        <p:nvSpPr>
          <p:cNvPr id="9" name="Text 7"/>
          <p:cNvSpPr txBox="1"/>
          <p:nvPr/>
        </p:nvSpPr>
        <p:spPr>
          <a:xfrm>
            <a:off x="5074920" y="1417320"/>
            <a:ext cx="3474720" cy="100584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p:txBody>
      </p:sp>
      <p:sp>
        <p:nvSpPr>
          <p:cNvPr id="10" name="Text 8"/>
          <p:cNvSpPr txBox="1"/>
          <p:nvPr/>
        </p:nvSpPr>
        <p:spPr>
          <a:xfrm>
            <a:off x="4937760" y="255117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 way back</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Once execution jumps to the except clause it does not return to the try clause, so divide(1) is never called.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except without brackets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Several types, no as clause</a:t>
            </a:r>
            <a:endParaRPr lang="en-US" sz="1300" dirty="0"/>
          </a:p>
        </p:txBody>
      </p:sp>
      <p:sp>
        <p:nvSpPr>
          <p:cNvPr id="6" name="Shape 4"/>
          <p:cNvSpPr/>
          <p:nvPr/>
        </p:nvSpPr>
        <p:spPr>
          <a:xfrm>
            <a:off x="457200" y="1325880"/>
            <a:ext cx="420624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840480" cy="13350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int('puppy')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ValueError, TypeError: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print('caught either one')</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caught either one</a:t>
            </a:r>
            <a:endParaRPr lang="en-US" sz="13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10896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758</a:t>
            </a:r>
            <a:endParaRPr lang="en-US" sz="1700" dirty="0"/>
          </a:p>
        </p:txBody>
      </p:sp>
      <p:sp>
        <p:nvSpPr>
          <p:cNvPr id="13" name="Text 11"/>
          <p:cNvSpPr txBox="1"/>
          <p:nvPr/>
        </p:nvSpPr>
        <p:spPr>
          <a:xfrm>
            <a:off x="640080" y="363931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except ValueError, TypeError: is now allowed when there is no as clause. With as, the types must still be in brackets. Python 3.13 and earlier reject the bracket-free form.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annotations are deferred</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function can name what does not exist yet</a:t>
            </a:r>
            <a:endParaRPr lang="en-US" sz="1300" dirty="0"/>
          </a:p>
        </p:txBody>
      </p:sp>
      <p:sp>
        <p:nvSpPr>
          <p:cNvPr id="6" name="Shape 4"/>
          <p:cNvSpPr/>
          <p:nvPr/>
        </p:nvSpPr>
        <p:spPr>
          <a:xfrm>
            <a:off x="457200" y="1234440"/>
            <a:ext cx="4572000" cy="2651760"/>
          </a:xfrm>
          <a:prstGeom prst="roundRect">
            <a:avLst>
              <a:gd name="adj" fmla="val 3448"/>
            </a:avLst>
          </a:prstGeom>
          <a:solidFill>
            <a:srgbClr val="17202B"/>
          </a:solidFill>
          <a:ln w="12700">
            <a:solidFill>
              <a:srgbClr val="17202B"/>
            </a:solidFill>
            <a:prstDash val="solid"/>
          </a:ln>
        </p:spPr>
      </p:sp>
      <p:sp>
        <p:nvSpPr>
          <p:cNvPr id="7" name="Text 5"/>
          <p:cNvSpPr txBox="1"/>
          <p:nvPr/>
        </p:nvSpPr>
        <p:spPr>
          <a:xfrm>
            <a:off x="640080" y="1344168"/>
            <a:ext cx="4206240" cy="243230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annotationlib</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parse(text: Document) -&gt;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text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print(parse('ok'))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parse.__annotations__</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NameError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print('NameError:',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print(sorted(annotationlib.get_annotations(parse, format=annotationlib.Format.FORWARDREF)))</a:t>
            </a:r>
            <a:endParaRPr lang="en-US" sz="1100" dirty="0"/>
          </a:p>
        </p:txBody>
      </p:sp>
      <p:sp>
        <p:nvSpPr>
          <p:cNvPr id="8" name="Shape 6"/>
          <p:cNvSpPr/>
          <p:nvPr/>
        </p:nvSpPr>
        <p:spPr>
          <a:xfrm>
            <a:off x="5212080" y="1234440"/>
            <a:ext cx="347472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349240" y="1325880"/>
            <a:ext cx="3200400" cy="128016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ok</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NameError: name 'Document' is not defined</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['return', 'text']</a:t>
            </a:r>
            <a:endParaRPr lang="en-US" sz="1100" dirty="0"/>
          </a:p>
        </p:txBody>
      </p:sp>
      <p:sp>
        <p:nvSpPr>
          <p:cNvPr id="10" name="Text 8"/>
          <p:cNvSpPr txBox="1"/>
          <p:nvPr/>
        </p:nvSpPr>
        <p:spPr>
          <a:xfrm>
            <a:off x="5212080" y="273405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23360"/>
            <a:ext cx="8229600" cy="731520"/>
          </a:xfrm>
          <a:prstGeom prst="roundRect">
            <a:avLst>
              <a:gd name="adj" fmla="val 12500"/>
            </a:avLst>
          </a:prstGeom>
          <a:solidFill>
            <a:srgbClr val="F1F4F8"/>
          </a:solidFill>
          <a:ln w="12700">
            <a:solidFill>
              <a:srgbClr val="F1F4F8"/>
            </a:solidFill>
            <a:prstDash val="solid"/>
          </a:ln>
        </p:spPr>
      </p:sp>
      <p:sp>
        <p:nvSpPr>
          <p:cNvPr id="12" name="Text 10"/>
          <p:cNvSpPr txBox="1"/>
          <p:nvPr/>
        </p:nvSpPr>
        <p:spPr>
          <a:xfrm>
            <a:off x="640080" y="41605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649</a:t>
            </a:r>
            <a:endParaRPr lang="en-US" sz="1700" dirty="0"/>
          </a:p>
        </p:txBody>
      </p:sp>
      <p:sp>
        <p:nvSpPr>
          <p:cNvPr id="13" name="Text 11"/>
          <p:cNvSpPr txBox="1"/>
          <p:nvPr/>
        </p:nvSpPr>
        <p:spPr>
          <a:xfrm>
            <a:off x="640080" y="4553712"/>
            <a:ext cx="7863840" cy="91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Annotations are evaluated only on request; reading them raises NameError until the names exist.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the Collatz sequence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first practice program, run</a:t>
            </a:r>
            <a:endParaRPr lang="en-US" sz="1300" dirty="0"/>
          </a:p>
        </p:txBody>
      </p:sp>
      <p:sp>
        <p:nvSpPr>
          <p:cNvPr id="6" name="Shape 4"/>
          <p:cNvSpPr/>
          <p:nvPr/>
        </p:nvSpPr>
        <p:spPr>
          <a:xfrm>
            <a:off x="457200" y="1234440"/>
            <a:ext cx="457200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44168"/>
            <a:ext cx="4206240" cy="27980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number % 2 == 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349240" y="1325880"/>
            <a:ext cx="3200400" cy="91440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200" b="1" dirty="0">
                <a:solidFill>
                  <a:srgbClr val="306998"/>
                </a:solidFill>
                <a:latin typeface="Courier New" pitchFamily="34" charset="0"/>
                <a:ea typeface="Courier New" pitchFamily="34" charset="-122"/>
                <a:cs typeface="Courier New" pitchFamily="34" charset="-120"/>
              </a:rPr>
              <a:t>3</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3 10 5 16 8 4 2 1 </a:t>
            </a:r>
            <a:endParaRPr lang="en-US" sz="1200" dirty="0"/>
          </a:p>
        </p:txBody>
      </p:sp>
      <p:sp>
        <p:nvSpPr>
          <p:cNvPr id="10" name="Text 8"/>
          <p:cNvSpPr txBox="1"/>
          <p:nvPr/>
        </p:nvSpPr>
        <p:spPr>
          <a:xfrm>
            <a:off x="5212080" y="23682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2651760"/>
            <a:ext cx="3474720" cy="91440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A function that prints and returns — the book’s spec — driven by a loop until the value is 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input validation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try and except around int()</a:t>
            </a:r>
            <a:endParaRPr lang="en-US" sz="1300" dirty="0"/>
          </a:p>
        </p:txBody>
      </p:sp>
      <p:sp>
        <p:nvSpPr>
          <p:cNvPr id="6" name="Shape 4"/>
          <p:cNvSpPr/>
          <p:nvPr/>
        </p:nvSpPr>
        <p:spPr>
          <a:xfrm>
            <a:off x="457200" y="1234440"/>
            <a:ext cx="4572000" cy="3291840"/>
          </a:xfrm>
          <a:prstGeom prst="roundRect">
            <a:avLst>
              <a:gd name="adj" fmla="val 2778"/>
            </a:avLst>
          </a:prstGeom>
          <a:solidFill>
            <a:srgbClr val="17202B"/>
          </a:solidFill>
          <a:ln w="12700">
            <a:solidFill>
              <a:srgbClr val="17202B"/>
            </a:solidFill>
            <a:prstDash val="solid"/>
          </a:ln>
        </p:spPr>
      </p:sp>
      <p:sp>
        <p:nvSpPr>
          <p:cNvPr id="7" name="Text 5"/>
          <p:cNvSpPr txBox="1"/>
          <p:nvPr/>
        </p:nvSpPr>
        <p:spPr>
          <a:xfrm>
            <a:off x="640080" y="1344168"/>
            <a:ext cx="4206240" cy="30723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 if number % 2 == 0 else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True: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ValueError: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print('Please enter a whole 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737360"/>
          </a:xfrm>
          <a:prstGeom prst="roundRect">
            <a:avLst>
              <a:gd name="adj" fmla="val 5263"/>
            </a:avLst>
          </a:prstGeom>
          <a:solidFill>
            <a:srgbClr val="F1F4F8"/>
          </a:solidFill>
          <a:ln w="12700">
            <a:solidFill>
              <a:srgbClr val="F1F4F8"/>
            </a:solidFill>
            <a:prstDash val="solid"/>
          </a:ln>
        </p:spPr>
      </p:sp>
      <p:sp>
        <p:nvSpPr>
          <p:cNvPr id="9" name="Text 7"/>
          <p:cNvSpPr txBox="1"/>
          <p:nvPr/>
        </p:nvSpPr>
        <p:spPr>
          <a:xfrm>
            <a:off x="5349240" y="1325880"/>
            <a:ext cx="3200400" cy="155448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100" b="1" dirty="0">
                <a:solidFill>
                  <a:srgbClr val="306998"/>
                </a:solidFill>
                <a:latin typeface="Courier New" pitchFamily="34" charset="0"/>
                <a:ea typeface="Courier New" pitchFamily="34" charset="-122"/>
                <a:cs typeface="Courier New" pitchFamily="34" charset="-120"/>
              </a:rPr>
              <a:t>puppy</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Please enter a whole number.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pPr indent="0" marL="0">
              <a:spcAft>
                <a:spcPts val="200"/>
              </a:spcAft>
              <a:buNone/>
            </a:pPr>
            <a:r>
              <a:rPr lang="en-US" sz="1100" b="1" dirty="0">
                <a:solidFill>
                  <a:srgbClr val="306998"/>
                </a:solidFill>
                <a:latin typeface="Courier New" pitchFamily="34" charset="0"/>
                <a:ea typeface="Courier New" pitchFamily="34" charset="-122"/>
                <a:cs typeface="Courier New" pitchFamily="34" charset="-120"/>
              </a:rPr>
              <a:t>6</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6 3 10 5 16 8 4 2 1 </a:t>
            </a:r>
            <a:endParaRPr lang="en-US" sz="1100" dirty="0"/>
          </a:p>
        </p:txBody>
      </p:sp>
      <p:sp>
        <p:nvSpPr>
          <p:cNvPr id="10" name="Text 8"/>
          <p:cNvSpPr txBox="1"/>
          <p:nvPr/>
        </p:nvSpPr>
        <p:spPr>
          <a:xfrm>
            <a:off x="5212080" y="300837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3291840"/>
            <a:ext cx="3474720" cy="7315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int('puppy') raises ValueError; the except clause asks again.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Functions as black boxes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Inputs in, a value out</a:t>
            </a:r>
            <a:endParaRPr lang="en-US" sz="1300" dirty="0"/>
          </a:p>
        </p:txBody>
      </p:sp>
      <p:sp>
        <p:nvSpPr>
          <p:cNvPr id="6" name="Shape 4"/>
          <p:cNvSpPr/>
          <p:nvPr/>
        </p:nvSpPr>
        <p:spPr>
          <a:xfrm>
            <a:off x="457200" y="1325880"/>
            <a:ext cx="2651760" cy="2377440"/>
          </a:xfrm>
          <a:prstGeom prst="roundRect">
            <a:avLst>
              <a:gd name="adj" fmla="val 3846"/>
            </a:avLst>
          </a:prstGeom>
          <a:solidFill>
            <a:srgbClr val="F1F4F8"/>
          </a:solidFill>
          <a:ln w="12700">
            <a:solidFill>
              <a:srgbClr val="F1F4F8"/>
            </a:solidFill>
            <a:prstDash val="solid"/>
          </a:ln>
        </p:spPr>
      </p:sp>
      <p:sp>
        <p:nvSpPr>
          <p:cNvPr id="7" name="Text 5"/>
          <p:cNvSpPr txBox="1"/>
          <p:nvPr/>
        </p:nvSpPr>
        <p:spPr>
          <a:xfrm>
            <a:off x="64008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Inputs</a:t>
            </a:r>
            <a:endParaRPr lang="en-US" sz="1700" dirty="0"/>
          </a:p>
        </p:txBody>
      </p:sp>
      <p:sp>
        <p:nvSpPr>
          <p:cNvPr id="8" name="Text 6"/>
          <p:cNvSpPr txBox="1"/>
          <p:nvPr/>
        </p:nvSpPr>
        <p:spPr>
          <a:xfrm>
            <a:off x="64008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parameters — and nothing else — decide what a function does with the outside world.</a:t>
            </a:r>
            <a:endParaRPr lang="en-US" sz="1300" dirty="0"/>
          </a:p>
        </p:txBody>
      </p:sp>
      <p:sp>
        <p:nvSpPr>
          <p:cNvPr id="9" name="Shape 7"/>
          <p:cNvSpPr/>
          <p:nvPr/>
        </p:nvSpPr>
        <p:spPr>
          <a:xfrm>
            <a:off x="3246120" y="1325880"/>
            <a:ext cx="265176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342900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Output</a:t>
            </a:r>
            <a:endParaRPr lang="en-US" sz="1700" dirty="0"/>
          </a:p>
        </p:txBody>
      </p:sp>
      <p:sp>
        <p:nvSpPr>
          <p:cNvPr id="11" name="Text 9"/>
          <p:cNvSpPr txBox="1"/>
          <p:nvPr/>
        </p:nvSpPr>
        <p:spPr>
          <a:xfrm>
            <a:off x="342900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return value is how a result leaves; a print is a side effect, and its return value is None.</a:t>
            </a:r>
            <a:endParaRPr lang="en-US" sz="1300" dirty="0"/>
          </a:p>
        </p:txBody>
      </p:sp>
      <p:sp>
        <p:nvSpPr>
          <p:cNvPr id="12" name="Shape 10"/>
          <p:cNvSpPr/>
          <p:nvPr/>
        </p:nvSpPr>
        <p:spPr>
          <a:xfrm>
            <a:off x="6035040" y="1325880"/>
            <a:ext cx="2651760" cy="2377440"/>
          </a:xfrm>
          <a:prstGeom prst="roundRect">
            <a:avLst>
              <a:gd name="adj" fmla="val 3846"/>
            </a:avLst>
          </a:prstGeom>
          <a:solidFill>
            <a:srgbClr val="F1F4F8"/>
          </a:solidFill>
          <a:ln w="12700">
            <a:solidFill>
              <a:srgbClr val="F1F4F8"/>
            </a:solidFill>
            <a:prstDash val="solid"/>
          </a:ln>
        </p:spPr>
      </p:sp>
      <p:sp>
        <p:nvSpPr>
          <p:cNvPr id="13" name="Text 11"/>
          <p:cNvSpPr txBox="1"/>
          <p:nvPr/>
        </p:nvSpPr>
        <p:spPr>
          <a:xfrm>
            <a:off x="621792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Local state</a:t>
            </a:r>
            <a:endParaRPr lang="en-US" sz="1700" dirty="0"/>
          </a:p>
        </p:txBody>
      </p:sp>
      <p:sp>
        <p:nvSpPr>
          <p:cNvPr id="14" name="Text 12"/>
          <p:cNvSpPr txBox="1"/>
          <p:nvPr/>
        </p:nvSpPr>
        <p:spPr>
          <a:xfrm>
            <a:off x="621792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Its variables live in its own scope, so its code cannot change other functions’ variables.</a:t>
            </a:r>
            <a:endParaRPr lang="en-US" sz="1300" dirty="0"/>
          </a:p>
        </p:txBody>
      </p:sp>
      <p:sp>
        <p:nvSpPr>
          <p:cNvPr id="15" name="Text 13"/>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600" b="1" dirty="0">
                <a:solidFill>
                  <a:srgbClr val="306998"/>
                </a:solidFill>
                <a:latin typeface="Calibri" pitchFamily="34" charset="0"/>
                <a:ea typeface="Calibri" pitchFamily="34" charset="-122"/>
                <a:cs typeface="Calibri" pitchFamily="34" charset="-120"/>
              </a:rPr>
              <a:t>Scopes narrow the code that could be causing a bug.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When does the code in a function run: at def, or at the call?</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difference between an argument and a parameter?</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a function with no return statement give back?</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Which variable does print(x) use if the function also assigns x later?</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Where does execution go when the error is raised inside a function called in a try block?</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4.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8; Language Reference 4 and 7; Programming FAQ; Built-in Functions and Exceptions; sys;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(2021). PEP 649, Deferred Evaluation Of Annotations. peps.python.org/pep-0649</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Cannon, B. (2024). PEP 758, except without parentheses. peps.python.org/pep-0758</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et al. (2018). PEP 570; Talin (2006). PEP 3102; Yee, K.-P. (2006). PEP 3104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et al. (2001). PEP 8, Style Guide for Python Code. peps.python.org/pep-0008</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5 — Debugging</a:t>
            </a:r>
            <a:endParaRPr lang="en-US" sz="3000" dirty="0"/>
          </a:p>
        </p:txBody>
      </p:sp>
      <p:sp>
        <p:nvSpPr>
          <p:cNvPr id="3" name="Text 1"/>
          <p:cNvSpPr txBox="1"/>
          <p:nvPr/>
        </p:nvSpPr>
        <p:spPr>
          <a:xfrm>
            <a:off x="548640" y="237744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4 interactive page and try its subject agents.</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 Functions</dc:title>
  <dc:subject>PptxGenJS Presentation</dc:subject>
  <dc:creator>Yusuf Altunel</dc:creator>
  <cp:lastModifiedBy>Yusuf Altunel</cp:lastModifiedBy>
  <cp:revision>1</cp:revision>
  <dcterms:created xsi:type="dcterms:W3CDTF">2026-09-28T23:11:54Z</dcterms:created>
  <dcterms:modified xsi:type="dcterms:W3CDTF">2026-09-28T23:11:54Z</dcterms:modified>
  <cp:version>1.0.0</cp:version>
</cp:coreProperties>
</file>