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a part of the chapter. Name the concepts of the part and say which example comes first. Ask the class what they already know.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 short to teach anything.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Tell the class what the slide shows in two short sentences. Give one example from the code on the slide and run it. Then ask the class one question about the result and let two students answer before you go 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371600"/>
            <a:ext cx="8229600" cy="914400"/>
          </a:xfrm>
          <a:prstGeom prst="rect">
            <a:avLst/>
          </a:prstGeom>
          <a:noFill/>
        </p:spPr>
        <p:txBody>
          <a:bodyPr wrap="none">
            <a:spAutoFit/>
          </a:bodyPr>
          <a:lstStyle/>
          <a:p>
            <a:r>
              <a:rPr sz="1400">
                <a:latin typeface="Calibri"/>
              </a:rPr>
              <a:t>Fixture title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640080"/>
          </a:xfrm>
          <a:prstGeom prst="rect">
            <a:avLst/>
          </a:prstGeom>
          <a:noFill/>
        </p:spPr>
        <p:txBody>
          <a:bodyPr wrap="none">
            <a:spAutoFit/>
          </a:bodyPr>
          <a:lstStyle/>
          <a:p>
            <a:r>
              <a:rPr sz="1400">
                <a:latin typeface="Calibri"/>
              </a:rPr>
              <a:t>Part 1: Fixture divider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1</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65760" y="256032"/>
            <a:ext cx="548640" cy="329184"/>
          </a:xfrm>
          <a:prstGeom prst="rect">
            <a:avLst/>
          </a:prstGeom>
          <a:noFill/>
        </p:spPr>
        <p:txBody>
          <a:bodyPr wrap="none">
            <a:spAutoFit/>
          </a:bodyPr>
          <a:lstStyle/>
          <a:p>
            <a:r>
              <a:rPr sz="1300">
                <a:latin typeface="Courier New"/>
              </a:rPr>
              <a:t>&gt;&gt;&gt;</a:t>
            </a:r>
          </a:p>
        </p:txBody>
      </p:sp>
      <p:sp>
        <p:nvSpPr>
          <p:cNvPr id="3" name="TextBox 2"/>
          <p:cNvSpPr txBox="1"/>
          <p:nvPr/>
        </p:nvSpPr>
        <p:spPr>
          <a:xfrm>
            <a:off x="1051560" y="182880"/>
            <a:ext cx="7315200" cy="457200"/>
          </a:xfrm>
          <a:prstGeom prst="rect">
            <a:avLst/>
          </a:prstGeom>
          <a:noFill/>
        </p:spPr>
        <p:txBody>
          <a:bodyPr wrap="none">
            <a:spAutoFit/>
          </a:bodyPr>
          <a:lstStyle/>
          <a:p>
            <a:r>
              <a:rPr sz="1400">
                <a:latin typeface="Calibri"/>
              </a:rPr>
              <a:t>Content slide 2</a:t>
            </a:r>
          </a:p>
        </p:txBody>
      </p:sp>
      <p:sp>
        <p:nvSpPr>
          <p:cNvPr id="4" name="TextBox 3"/>
          <p:cNvSpPr txBox="1"/>
          <p:nvPr/>
        </p:nvSpPr>
        <p:spPr>
          <a:xfrm>
            <a:off x="457200" y="3931920"/>
            <a:ext cx="7315200" cy="548640"/>
          </a:xfrm>
          <a:prstGeom prst="rect">
            <a:avLst/>
          </a:prstGeom>
          <a:noFill/>
        </p:spPr>
        <p:txBody>
          <a:bodyPr wrap="none">
            <a:spAutoFit/>
          </a:bodyPr>
          <a:lstStyle/>
          <a:p>
            <a:r>
              <a:rPr sz="1400">
                <a:latin typeface="Calibri"/>
              </a:rPr>
              <a:t>A function is a recipe that returns a value.</a:t>
            </a:r>
          </a:p>
        </p:txBody>
      </p:sp>
      <p:sp>
        <p:nvSpPr>
          <p:cNvPr id="5" name="TextBox 4"/>
          <p:cNvSpPr txBox="1"/>
          <p:nvPr/>
        </p:nvSpPr>
        <p:spPr>
          <a:xfrm>
            <a:off x="457200" y="914400"/>
            <a:ext cx="5486400" cy="2743200"/>
          </a:xfrm>
          <a:prstGeom prst="rect">
            <a:avLst/>
          </a:prstGeom>
          <a:noFill/>
        </p:spPr>
        <p:txBody>
          <a:bodyPr wrap="none">
            <a:spAutoFit/>
          </a:bodyPr>
          <a:lstStyle/>
          <a:p>
            <a:r>
              <a:rPr sz="1200">
                <a:latin typeface="Courier New"/>
              </a:rPr>
              <a:t>def total(items):</a:t>
            </a:r>
          </a:p>
          <a:p>
            <a:r>
              <a:rPr sz="1200">
                <a:latin typeface="Courier New"/>
              </a:rPr>
              <a:t>    s = 0</a:t>
            </a:r>
          </a:p>
          <a:p>
            <a:r>
              <a:rPr sz="1200">
                <a:latin typeface="Courier New"/>
              </a:rPr>
              <a:t>    for x in items:</a:t>
            </a:r>
          </a:p>
          <a:p>
            <a:r>
              <a:rPr sz="1200">
                <a:latin typeface="Courier New"/>
              </a:rPr>
              <a:t>        s = s + x</a:t>
            </a:r>
          </a:p>
          <a:p>
            <a:r>
              <a:rPr sz="1200">
                <a:latin typeface="Courier New"/>
              </a:rPr>
              <a:t>    return s</a:t>
            </a:r>
          </a:p>
          <a:p>
            <a:r>
              <a:rPr sz="1200">
                <a:latin typeface="Courier New"/>
              </a:rPr>
              <a:t>print(total([1, 2,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