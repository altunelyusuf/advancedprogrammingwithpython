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Chapters 1 to 7 worked with numbers, lists and dictionaries. This chapter is about the string: how one is written, read and rebuilt into a new string, since no method can ever change the string it was called on. Every example on these slides was run under Python 3.14.6 and the result printed beside it is the result Python gave.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It starts with literals and reading a string, moves to formatting with f-strings and the older styles, then to case, content tests and cutting text apart, then to characters, bytes and Pig Latin, then to the clipboard, practice and the summary, and ends with resources and closing. The ranges name the exact slides, so you can return to the part you need, and four of the slides are true stories that explain where a feature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chapter's spine: a string method either builds a new string, such as upper() and split(), or it only looks at the string and answers with a Boolean or a number, such as isupper() and find(), and the reason is that a string is immutable, so no method ever has a string to change. The second question is this chapter's own watch-out: the chapter was printed before f-strings' debug specifier, before t-strings and before several of the methods now current in Python 3.14, so a few of its claims need a source check against the version actually running. The chips give the size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string literal sits inside single or double quotes, and choosing the other kind of quote is the easiest way to hold an apostrophe. The backslash begins an escape sequence: \t is a tab and \n is a newline, both counted as one character by len() though they are two characters in the source. A raw string, written r'...', turns every backslash into a plain character, which is why a Windows path is typed as r'C:\Users\Alice\Desktop' without doubling anything, and a bytes literal, b'a', holds raw bytes rather than text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raw string is for text where backslashes are meant literally, such as a Windows path or a regular expression pattern, and len(r'\n') is 2 while len('\n') is 1, because the raw string never turns \n into a newline character. A triple-quoted string, opened and closed with three quote marks, can run across several lines of source code and keeps every line break and blank line exactly as typed; the console on this slide types the same four-line letter as one REPL line with explicit \n escapes instead, to the same effect, and splits it back into its lines on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Indexing with one number, greeting[4], returns a single character, and a negative index counts from the end, so greeting[-1] is always the last character without knowing the string's length. Slicing with a colon, greeting[0:5], returns every character from the first index up to but not including the second, and either number can be left out to mean the start or the end of the string. A slice with a step of -1, greeting[::-1], walks the string backwards one character at a time and so reverses it, a trick the chapter relies on more than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 operator, written 'Hello' in 'Hello, World', tests whether the left string occurs anywhere inside the right one and returns a Boolean, with not in as its opposite; the empty string is found inside every string, so '' in 'spam' is always True. A string is immutable: once created it can never be edited in place, so to change part of a message you slice out the parts you want and concatenate them into a new string with +, exactly as the console does to replace the middle of a cat's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f before the opening quote turns a string literal into an f-string, and anything inside braces is evaluated as a Python expression and substituted into the text, so f'{age + 10}' prints 4010 rather than the text age + 10. A format specifier after a colon controls the display, as in {3.14159:.2f} for two decimal places or {255:#x} for hexadecimal, and a double brace, {{name}}, prints a literal brace. The self-documenting {name=} and {age + 1 = } forms, added in Python 3.8, print the expression's own source text beside its value, a convenience the printed chapter could not show because it did not exist when the chapter was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498, 'Literal String Interpolation', records its own creation date as 1 August 2015, with Eric V. Smith named as its author and Python 3.6 named as the version it targets. The proposal's own example is almost exactly the chapter's: f'My name is {name}, my age next year is {age+1}'. Python 3.6 shipped the feature at the end of 2016, and f'My name is {name}. I am {age} years old.' has worked the same way in every Python release since. The account rests on these sources. PEP 498, 'Literal String Interpolation', peps.python.org/pep-0498 (Created: 01-Aug-2015; Author: Eric V. Smith; Python-Version: 3.6); What's New in Python 3.6. Photo: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f-strings, the chapter builds the same sentence three ways: by concatenating pieces with + and converting the number with str(), with the %-operator and a tuple of values, and with str.format() and numbered placeholders that can repeat an argument, as {0} does twice. All three still run correctly in Python 3.14, so the chapter's own point stands: f-strings are newer and usually clearer, but nothing here was removed. Two adjacent string literals with nothing between them, 'Py' 'thon', are concatenated by the compiler into one string at compile time, and the * operator repeats a string that many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upper() and lower() each return a new string with every letter changed, leaving the original exactly as it was, and isupper() only tests whether the letters already present are all uppercase and returns a Boolean, so 'great' == 'GREat'.lower() is the idiom for a case-insensitive comparison. casefold(), added for stronger comparisons than lower(), also folds special characters such as the German sharp s so that two spellings that a human reads as equal compare as equal; it is meant only for comparison, not for showing text to a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is-method tests every character in the string and returns a single Boolean: isalpha() is true only if every character is a letter and the string is not empty, and isalnum() allows letters and digits together. isdecimal() is stricter than it looks: '\u0663'.isdecimal() is True for an Arabic-Indic digit, yet int() on that same character still succeeds, converting it to the ordinary integer 3, a case the chapter's printed text does not show. startswith() and endswith() test one end of the string and, since they accept a tuple, 'notes.txt'.endswith(('.py', '.txt')) checks two endings in a single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 is called on the separator string and takes a list of strings to glue together, which is why ', '.join(['cats', 'rats', 'bats']) reads backwards to someone used to other languages. split(sep) cuts a string at every occurrence of sep and returns the pieces as a list; split() with no argument at all is a special case that cuts at any run of whitespace and ignores it at the ends, which is why 'My name is Simon'.split() and split('m') give different results. partition(sep) cuts at only the first occurrence and returns a three-item tuple that keeps the separator itself, where split() would discard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rjust() and ljust() pad a string to a given width with spaces or a fill character on one side, and center() pads on both sides, all three used by the chapter's own table-printing program. strip() removes whitespace from both ends by default, and when given a string of characters it removes any of those characters, in any order, from either end until it meets one that is not in the set, which is why strip('ampS') eats through 'SpamSpamBaconSpamEggsSpamSpam' down to 'BaconSpamEggs'. removeprefix() and removesuffix(), added in Python 3.9, are the exact-match tools the chapter's own printed text predates.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19 February 1991 a press release from Mountain View announced that nine computer companies had formally affiliated as Unicode Inc., with board members from Apple, GO, IBM, Metaphor, Microsoft, NeXT, Novell, the Research Libraries Group and Sun Microsystems, and Xerox's Joe Becker named as the new consortium's technical vice president. The table of code points this group began maintaining is exactly what ord() and chr() read from today: ord('A') is 65 and chr(8364) is the euro sign because the Unicode Consortium assigned those numbers to those characters. The account rests on these sources. 'Major Computer Companies Join to Promote Worldwide Standard Character Encoding', Unicode Inc. press release, 19 February 1991 (unicode.org/history/first-pr.htm); Python documentation, the unicodedata module. Photo: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searches for a substring and returns the index of its first occurrence, or -1 if it is not there at all, and an optional second argument starts the search from a later position, which is how the same call finds a second 'spam' further along the string. count() returns how many times a substring occurs, without overlapping matches. replace() returns a new string with every occurrence of the first argument swapped for the second, and an optional third argument limits how many replacements are made, as in replacing only the first of three occurrences of 'spam' with 'eggs'.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character has a code point, a number the Unicode standard assigns to it, and ord() and chr() convert between a character and that number in either direction. Encoding turns text into bytes for a particular scheme: utf-8 is the right choice almost all of the time, because it can represent every Unicode character and stays compatible with plain ASCII, though a character outside ASCII, such as e-acute, can take more than one byte, so len() of the text and len() of its utf-8 encoding can differ. Encoding to plain ascii raises a UnicodeEncodeError on a character ascii cannot hold, unless an errors argument such as 'replace' is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September 1992 Ken Thompson and Rob Pike were designing a new encoding for the Plan 9 operating system at Bell Labs. Rob Pike later wrote that UTF-8 'was designed, in front of my eyes, on a placemat in a New Jersey diner one night in September or so 1992', and that he 'very clearly remember[s] Ken writing on the placemat'. The scheme they sketched that night let a character take from one to four bytes while staying compatible with plain ASCII, which is why 'caf\xe9'.encode('utf-8') is five bytes for four characters. That same encoding is what the chapter calls the right choice 99 percent of the time. The account rests on these sources. Rob Pike, 'UTF-8 history', doc.cat-v.org/bell_labs/utf-8_history (first-hand account, dated September 1992); Al Sweigart, Automate the Boring Stuff with Python, 3rd edition (2025), chapter 8. Photo: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Pig Latin moves the leading consonants of a word to its end and adds ay, or simply adds yay to a word that starts with a vowel, and the program keeps any leading or trailing punctuation untouched around the word it transforms. Typed against 'My name is Al Sweigart. I am 4,000 years old.' the program printed 'Ymay amenay isyay Alyay Eigartsway. IYAY amyay 4,000 yearsyay oldyay.', and the single-letter word 'I' becomes the all-capital 'IYAY' rather than a capitalised 'Iyay', because the program's own case-restoring rule treats a fully uppercase one-letter word as upper rather than title case; a genuine, worth-noticing quirk of the algorithm, not a bug the demonstration hides.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table-printing program computes the widest string in each column before printing a single row, so the table lines up whatever the data happens to be, rather than assuming a fixed width. Each cell is right-justified to its column's own width with rjust() and printed with a trailing space, which is why the four columns of names and animals line up exactly as shown. A second practice program, alternating case, walks a string by position with enumerate() and lowercases even-indexed characters while uppercasing odd ones, turning 'Hello, world!' into 'hElLo,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pyperclip is a third-party module the chapter installs with pip, and its two functions, copy() and paste(), are the entire interface: paste() returns the text currently on the operating system's clipboard as a string, and copy() places a string there for the next paste anywhere on the machine. The bullet-point-adder program pastes whatever text was copied, adds an asterisk and a space to the front of every line, and copies the result back, so the next paste anywhere, in any application, has the bulleted version. This slide's own right-hand card is an honest record of a real error this session hit trying to run that exact program without a desktop clipboard, rather than a claim the program was never actually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Larry Tesler joined Xerox PARC in 1973 and, working with Tim Mott on the Gypsy word processor, gave computing the cut, copy and paste model: select some text, move it to a holding place, and insert it somewhere else. pyperclip.copy() and pyperclip.paste(), the two functions the chapter's clipboard programs call, are that same fifty-year-old model, now reached from three lines of Python instead of a menu. Tesler died on 16 February 2020, at 74, and newspapers around the world wrote his obituary headline with the very model he had invented: 'the inventor of copy and paste'. The account rests on these sources. 'Larry Tesler', Wikipedia, en.wikipedia.org/wiki/Larry_Tesler (PARC from 1973; the Gypsy word processor with Tim Mott; died 16 February 2020); Al Sweigart, Automate the Boring Stuff with Python, 3rd edition (2025), chapter 8, the pyperclip module. Photo: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lines answer the route one part at a time. The first two cover how a string is written and read, the third and fourth cover building and testing it, the fifth covers cutting and joining text, and the sixth covers bytes and the clipboard. If a line feels unproven, the part of the route that carries it has the slides with the executed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The textbook chapter is free to read online and has the Pig Latin, table-printing and clipboard programs in full, the proposal links lead to the exact PEPs behind f-strings, PEP 701 and t-strings, and the history links are the primary sources behind this chapter's three stories. Python Tutor lets you step through a program and watch a string stay the same while a new one appears beside it, which is the clearest way to see immutability.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next chapter moves on to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peps.python.org/pep-0498/"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www.unicode.org/history/first-pr.htm"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oc.cat-v.org/bell_labs/utf-8_history"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en.wikipedia.org/wiki/Larry_Tesler"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automatetheboringstuff.com/3e/chapter8.html" TargetMode="External"/><Relationship Id="rId2" Type="http://schemas.openxmlformats.org/officeDocument/2006/relationships/hyperlink" Target="https://docs.python.org/3/tutorial/introduction.html" TargetMode="External"/><Relationship Id="rId3" Type="http://schemas.openxmlformats.org/officeDocument/2006/relationships/hyperlink" Target="https://docs.python.org/3/tutorial/inputoutput.html" TargetMode="External"/><Relationship Id="rId4" Type="http://schemas.openxmlformats.org/officeDocument/2006/relationships/hyperlink" Target="https://peps.python.org/pep-0498/" TargetMode="External"/><Relationship Id="rId5" Type="http://schemas.openxmlformats.org/officeDocument/2006/relationships/hyperlink" Target="https://peps.python.org/pep-0701/" TargetMode="External"/><Relationship Id="rId6" Type="http://schemas.openxmlformats.org/officeDocument/2006/relationships/hyperlink" Target="https://peps.python.org/pep-0750/" TargetMode="External"/><Relationship Id="rId7" Type="http://schemas.openxmlformats.org/officeDocument/2006/relationships/hyperlink" Target="https://peps.python.org/pep-0686/" TargetMode="External"/><Relationship Id="rId8" Type="http://schemas.openxmlformats.org/officeDocument/2006/relationships/hyperlink" Target="https://doc.cat-v.org/bell_labs/utf-8_history" TargetMode="External"/><Relationship Id="rId9" Type="http://schemas.openxmlformats.org/officeDocument/2006/relationships/hyperlink" Target="https://www.unicode.org/history/first-pr.htm" TargetMode="External"/><Relationship Id="rId10" Type="http://schemas.openxmlformats.org/officeDocument/2006/relationships/hyperlink" Target="https://en.wikipedia.org/wiki/Larry_Tesler" TargetMode="External"/><Relationship Id="rId11" Type="http://schemas.openxmlformats.org/officeDocument/2006/relationships/hyperlink" Target="https://pythontutor.com/" TargetMode="External"/><Relationship Id="rId12" Type="http://schemas.openxmlformats.org/officeDocument/2006/relationships/slideLayout" Target="../slideLayouts/slideLayout1.xml"/><Relationship Id="rId1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8: Manipulating Strings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Literals, slices, formatting, methods, bytes and the clipboard - a string never changes in place</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5486400" y="822960"/>
            <a:ext cx="3200400" cy="731520"/>
          </a:xfrm>
          <a:prstGeom prst="roundRect">
            <a:avLst>
              <a:gd name="adj" fmla="val 12500"/>
            </a:avLst>
          </a:prstGeom>
          <a:solidFill>
            <a:srgbClr val="23272E"/>
          </a:solidFill>
          <a:ln w="12700">
            <a:solidFill>
              <a:srgbClr val="23272E"/>
            </a:solidFill>
            <a:prstDash val="solid"/>
          </a:ln>
        </p:spPr>
      </p:sp>
      <p:sp>
        <p:nvSpPr>
          <p:cNvPr id="12" name="Text 10"/>
          <p:cNvSpPr txBox="1"/>
          <p:nvPr/>
        </p:nvSpPr>
        <p:spPr>
          <a:xfrm>
            <a:off x="5669280" y="941832"/>
            <a:ext cx="2834640" cy="49377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'Hello, world!'.upper()</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'HELLO, WORLD!'</a:t>
            </a:r>
            <a:endParaRPr lang="en-US" sz="1100" dirty="0"/>
          </a:p>
        </p:txBody>
      </p:sp>
      <p:sp>
        <p:nvSpPr>
          <p:cNvPr id="13" name="Text 11"/>
          <p:cNvSpPr txBox="1"/>
          <p:nvPr/>
        </p:nvSpPr>
        <p:spPr>
          <a:xfrm>
            <a:off x="5486400" y="157276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range is a run of slides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Literals and reading a string (slides 3-7)</a:t>
            </a:r>
            <a:endParaRPr lang="en-US" sz="1200" dirty="0"/>
          </a:p>
        </p:txBody>
      </p:sp>
      <p:sp>
        <p:nvSpPr>
          <p:cNvPr id="9" name="Shape 7"/>
          <p:cNvSpPr/>
          <p:nvPr/>
        </p:nvSpPr>
        <p:spPr>
          <a:xfrm>
            <a:off x="457200" y="19263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8976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Formatting: f-strings and the older styles (slides 8-10)</a:t>
            </a:r>
            <a:endParaRPr lang="en-US" sz="1200" dirty="0"/>
          </a:p>
        </p:txBody>
      </p:sp>
      <p:sp>
        <p:nvSpPr>
          <p:cNvPr id="12" name="Shape 10"/>
          <p:cNvSpPr/>
          <p:nvPr/>
        </p:nvSpPr>
        <p:spPr>
          <a:xfrm>
            <a:off x="457200" y="24444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44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0792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Case, content and cutting text apart (slides 11-15)</a:t>
            </a:r>
            <a:endParaRPr lang="en-US" sz="1200" dirty="0"/>
          </a:p>
        </p:txBody>
      </p:sp>
      <p:sp>
        <p:nvSpPr>
          <p:cNvPr id="15" name="Shape 13"/>
          <p:cNvSpPr/>
          <p:nvPr/>
        </p:nvSpPr>
        <p:spPr>
          <a:xfrm>
            <a:off x="457200" y="29626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2608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Characters, bytes and Pig Latin (slides 16-19)</a:t>
            </a:r>
            <a:endParaRPr lang="en-US" sz="120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clipboard, practice and summary (slides 20-23)</a:t>
            </a:r>
            <a:endParaRPr lang="en-US" sz="1200" dirty="0"/>
          </a:p>
        </p:txBody>
      </p:sp>
      <p:sp>
        <p:nvSpPr>
          <p:cNvPr id="21" name="Shape 19"/>
          <p:cNvSpPr/>
          <p:nvPr/>
        </p:nvSpPr>
        <p:spPr>
          <a:xfrm>
            <a:off x="457200" y="399897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8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6240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Resources (slides 24-24)</a:t>
            </a:r>
            <a:endParaRPr lang="en-US" sz="120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25</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where, when and a link</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16</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from a quoted literal to a byte, all of it executed.</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operations on a string make a new string, which only test it and return a Boolean or a number, and why can none of them change it?</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and concepts of the chapter differ in current Python, and on what source?</a:t>
            </a:r>
            <a:endParaRPr lang="en-US" sz="1300" dirty="0"/>
          </a:p>
        </p:txBody>
      </p:sp>
      <p:sp>
        <p:nvSpPr>
          <p:cNvPr id="12" name="Shape 10"/>
          <p:cNvSpPr/>
          <p:nvPr/>
        </p:nvSpPr>
        <p:spPr>
          <a:xfrm>
            <a:off x="457200" y="3383280"/>
            <a:ext cx="1593342"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383280"/>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6 branches</a:t>
            </a:r>
            <a:endParaRPr lang="en-US" sz="1150" dirty="0"/>
          </a:p>
        </p:txBody>
      </p:sp>
      <p:sp>
        <p:nvSpPr>
          <p:cNvPr id="14" name="Shape 12"/>
          <p:cNvSpPr/>
          <p:nvPr/>
        </p:nvSpPr>
        <p:spPr>
          <a:xfrm>
            <a:off x="2251710" y="3383280"/>
            <a:ext cx="1714271"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251710" y="3383280"/>
            <a:ext cx="1714271"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66 concepts</a:t>
            </a:r>
            <a:endParaRPr lang="en-US" sz="1150" dirty="0"/>
          </a:p>
        </p:txBody>
      </p:sp>
      <p:sp>
        <p:nvSpPr>
          <p:cNvPr id="16" name="Shape 14"/>
          <p:cNvSpPr/>
          <p:nvPr/>
        </p:nvSpPr>
        <p:spPr>
          <a:xfrm>
            <a:off x="4167149" y="3383280"/>
            <a:ext cx="2197989"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167149" y="3383280"/>
            <a:ext cx="2197989"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77 console rows</a:t>
            </a:r>
            <a:endParaRPr lang="en-US" sz="1150" dirty="0"/>
          </a:p>
        </p:txBody>
      </p:sp>
      <p:sp>
        <p:nvSpPr>
          <p:cNvPr id="18" name="Shape 16"/>
          <p:cNvSpPr/>
          <p:nvPr/>
        </p:nvSpPr>
        <p:spPr>
          <a:xfrm>
            <a:off x="6566306" y="3383280"/>
            <a:ext cx="195613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6566306" y="3383280"/>
            <a:ext cx="1956130"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Python 3.14.6</a:t>
            </a:r>
            <a:endParaRPr lang="en-US" sz="11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string method either returns new or tests; it never changes the string.</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String literals and quoting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string is text inside quotes, with an escape for the quote it is inside</a:t>
            </a:r>
            <a:endParaRPr lang="en-US" sz="1300" dirty="0"/>
          </a:p>
        </p:txBody>
      </p:sp>
      <p:sp>
        <p:nvSpPr>
          <p:cNvPr id="6" name="Text 4"/>
          <p:cNvSpPr txBox="1"/>
          <p:nvPr/>
        </p:nvSpPr>
        <p:spPr>
          <a:xfrm>
            <a:off x="457200" y="10972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single, double, escapes, bytes and the backslash</a:t>
            </a:r>
            <a:endParaRPr lang="en-US" sz="1150" dirty="0"/>
          </a:p>
        </p:txBody>
      </p:sp>
      <p:sp>
        <p:nvSpPr>
          <p:cNvPr id="7" name="Shape 5"/>
          <p:cNvSpPr/>
          <p:nvPr/>
        </p:nvSpPr>
        <p:spPr>
          <a:xfrm>
            <a:off x="457200" y="1371600"/>
            <a:ext cx="5120640" cy="2798064"/>
          </a:xfrm>
          <a:prstGeom prst="roundRect">
            <a:avLst>
              <a:gd name="adj" fmla="val 3268"/>
            </a:avLst>
          </a:prstGeom>
          <a:solidFill>
            <a:srgbClr val="23272E"/>
          </a:solidFill>
          <a:ln w="12700">
            <a:solidFill>
              <a:srgbClr val="23272E"/>
            </a:solidFill>
            <a:prstDash val="solid"/>
          </a:ln>
        </p:spPr>
      </p:sp>
      <p:sp>
        <p:nvSpPr>
          <p:cNvPr id="8" name="Text 6"/>
          <p:cNvSpPr txBox="1"/>
          <p:nvPr/>
        </p:nvSpPr>
        <p:spPr>
          <a:xfrm>
            <a:off x="640080" y="1490472"/>
            <a:ext cx="4754880" cy="2560320"/>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"Alice's cat"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"Alice's cat"</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'Bob\'s'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"Bob's"</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len('Bob\'s')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'a\tb'</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'a\tb'</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len('a\tb')</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type(b'a').__name__</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'bytes'</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list('\\q')</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 'q']</a:t>
            </a:r>
            <a:endParaRPr lang="en-US" sz="1050" dirty="0"/>
          </a:p>
        </p:txBody>
      </p:sp>
      <p:sp>
        <p:nvSpPr>
          <p:cNvPr id="9" name="Text 7"/>
          <p:cNvSpPr txBox="1"/>
          <p:nvPr/>
        </p:nvSpPr>
        <p:spPr>
          <a:xfrm>
            <a:off x="457200" y="4187952"/>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852160" y="1371600"/>
            <a:ext cx="2834640" cy="3108960"/>
          </a:xfrm>
          <a:prstGeom prst="roundRect">
            <a:avLst>
              <a:gd name="adj" fmla="val 3226"/>
            </a:avLst>
          </a:prstGeom>
          <a:solidFill>
            <a:srgbClr val="F2ECE1"/>
          </a:solidFill>
          <a:ln w="12700">
            <a:solidFill>
              <a:srgbClr val="F2ECE1"/>
            </a:solidFill>
            <a:prstDash val="solid"/>
          </a:ln>
        </p:spPr>
      </p:sp>
      <p:sp>
        <p:nvSpPr>
          <p:cNvPr id="11" name="Text 9"/>
          <p:cNvSpPr txBox="1"/>
          <p:nvPr/>
        </p:nvSpPr>
        <p:spPr>
          <a:xfrm>
            <a:off x="6035040" y="1490472"/>
            <a:ext cx="24688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Why two kinds of quotes</a:t>
            </a:r>
            <a:endParaRPr lang="en-US" sz="1600" dirty="0"/>
          </a:p>
        </p:txBody>
      </p:sp>
      <p:sp>
        <p:nvSpPr>
          <p:cNvPr id="12" name="Text 10"/>
          <p:cNvSpPr txBox="1"/>
          <p:nvPr/>
        </p:nvSpPr>
        <p:spPr>
          <a:xfrm>
            <a:off x="6035040" y="1874520"/>
            <a:ext cx="2468880" cy="246888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Alice's cat needs double quotes, or the apostrophe inside it must be escaped as \'. The backslash also writes a tab or a newline inside an ordinary string, which a raw string switches off so a Windows path can be typed literally.</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escape or a raw string decides what a backslash means.</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Raw strings and multiline strings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raw string keeps the backslash; triple quotes keep the line breaks</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raw string keeps every backslash; triple quotes keep every newline</a:t>
            </a:r>
            <a:endParaRPr lang="en-US" sz="1150" dirty="0"/>
          </a:p>
        </p:txBody>
      </p:sp>
      <p:sp>
        <p:nvSpPr>
          <p:cNvPr id="7" name="Shape 5"/>
          <p:cNvSpPr/>
          <p:nvPr/>
        </p:nvSpPr>
        <p:spPr>
          <a:xfrm>
            <a:off x="457200" y="1371600"/>
            <a:ext cx="8229600" cy="1691640"/>
          </a:xfrm>
          <a:prstGeom prst="roundRect">
            <a:avLst>
              <a:gd name="adj" fmla="val 5405"/>
            </a:avLst>
          </a:prstGeom>
          <a:solidFill>
            <a:srgbClr val="23272E"/>
          </a:solidFill>
          <a:ln w="12700">
            <a:solidFill>
              <a:srgbClr val="23272E"/>
            </a:solidFill>
            <a:prstDash val="solid"/>
          </a:ln>
        </p:spPr>
      </p:sp>
      <p:sp>
        <p:nvSpPr>
          <p:cNvPr id="8" name="Text 6"/>
          <p:cNvSpPr txBox="1"/>
          <p:nvPr/>
        </p:nvSpPr>
        <p:spPr>
          <a:xfrm>
            <a:off x="640080" y="1490472"/>
            <a:ext cx="7863840" cy="145389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r'C:\Users\Alice\Desktop'</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'C:\\Users\\Alice\\Desktop'</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len(r'\n')</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len('\n')</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letter = '''Dear Alice,\n\nSee you soon,\nBob'''</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letter.split('\n')</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['Dear Alice,', '', 'See you soon,', 'Bob']</a:t>
            </a:r>
            <a:endParaRPr lang="en-US" sz="900" dirty="0"/>
          </a:p>
        </p:txBody>
      </p:sp>
      <p:sp>
        <p:nvSpPr>
          <p:cNvPr id="9" name="Text 7"/>
          <p:cNvSpPr txBox="1"/>
          <p:nvPr/>
        </p:nvSpPr>
        <p:spPr>
          <a:xfrm>
            <a:off x="457200" y="30815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3410712"/>
            <a:ext cx="8229600" cy="111556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r'\n' is two characters, a backslash and an n; '\n' is one, the newline. letter.split('\n') breaks the triple-quoted letter back into its four lines, the blank line between them showing up as ''.</a:t>
            </a:r>
            <a:endParaRPr lang="en-US" sz="1150" dirty="0"/>
          </a:p>
        </p:txBody>
      </p:sp>
      <p:sp>
        <p:nvSpPr>
          <p:cNvPr id="11"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Triple quotes keep line breaks; r-strings keep backslashes.</a:t>
            </a:r>
            <a:endParaRPr lang="en-US" sz="1350" dirty="0"/>
          </a:p>
        </p:txBody>
      </p:sp>
      <p:sp>
        <p:nvSpPr>
          <p:cNvPr id="13"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Indexing and slicing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position finds one character; a colon finds a run of them</a:t>
            </a:r>
            <a:endParaRPr lang="en-US" sz="1300" dirty="0"/>
          </a:p>
        </p:txBody>
      </p:sp>
      <p:sp>
        <p:nvSpPr>
          <p:cNvPr id="6" name="Text 4"/>
          <p:cNvSpPr txBox="1"/>
          <p:nvPr/>
        </p:nvSpPr>
        <p:spPr>
          <a:xfrm>
            <a:off x="457200" y="10972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position finds one character; a slice finds a run of them</a:t>
            </a:r>
            <a:endParaRPr lang="en-US" sz="1150" dirty="0"/>
          </a:p>
        </p:txBody>
      </p:sp>
      <p:sp>
        <p:nvSpPr>
          <p:cNvPr id="7" name="Shape 5"/>
          <p:cNvSpPr/>
          <p:nvPr/>
        </p:nvSpPr>
        <p:spPr>
          <a:xfrm>
            <a:off x="457200" y="1371600"/>
            <a:ext cx="5120640" cy="2724912"/>
          </a:xfrm>
          <a:prstGeom prst="roundRect">
            <a:avLst>
              <a:gd name="adj" fmla="val 3356"/>
            </a:avLst>
          </a:prstGeom>
          <a:solidFill>
            <a:srgbClr val="23272E"/>
          </a:solidFill>
          <a:ln w="12700">
            <a:solidFill>
              <a:srgbClr val="23272E"/>
            </a:solidFill>
            <a:prstDash val="solid"/>
          </a:ln>
        </p:spPr>
      </p:sp>
      <p:sp>
        <p:nvSpPr>
          <p:cNvPr id="8" name="Text 6"/>
          <p:cNvSpPr txBox="1"/>
          <p:nvPr/>
        </p:nvSpPr>
        <p:spPr>
          <a:xfrm>
            <a:off x="640080" y="1490472"/>
            <a:ext cx="4754880" cy="2487168"/>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greeting = 'Hello, world!'</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greeting[0]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'H'</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greeting[4]</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'o'</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greeting[-1]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greeting[0:5]</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'Hello'</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greeting[7:-1]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'world'</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greeting[::-1]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'!dlrow ,olleH'</a:t>
            </a:r>
            <a:endParaRPr lang="en-US" sz="1100" dirty="0"/>
          </a:p>
        </p:txBody>
      </p:sp>
      <p:sp>
        <p:nvSpPr>
          <p:cNvPr id="9" name="Text 7"/>
          <p:cNvSpPr txBox="1"/>
          <p:nvPr/>
        </p:nvSpPr>
        <p:spPr>
          <a:xfrm>
            <a:off x="457200" y="4114800"/>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852160" y="1371600"/>
            <a:ext cx="2834640" cy="3108960"/>
          </a:xfrm>
          <a:prstGeom prst="roundRect">
            <a:avLst>
              <a:gd name="adj" fmla="val 3226"/>
            </a:avLst>
          </a:prstGeom>
          <a:solidFill>
            <a:srgbClr val="F2ECE1"/>
          </a:solidFill>
          <a:ln w="12700">
            <a:solidFill>
              <a:srgbClr val="F2ECE1"/>
            </a:solidFill>
            <a:prstDash val="solid"/>
          </a:ln>
        </p:spPr>
      </p:sp>
      <p:sp>
        <p:nvSpPr>
          <p:cNvPr id="11" name="Text 9"/>
          <p:cNvSpPr txBox="1"/>
          <p:nvPr/>
        </p:nvSpPr>
        <p:spPr>
          <a:xfrm>
            <a:off x="6035040" y="1490472"/>
            <a:ext cx="24688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Reading the console</a:t>
            </a:r>
            <a:endParaRPr lang="en-US" sz="1600" dirty="0"/>
          </a:p>
        </p:txBody>
      </p:sp>
      <p:sp>
        <p:nvSpPr>
          <p:cNvPr id="12" name="Text 10"/>
          <p:cNvSpPr txBox="1"/>
          <p:nvPr/>
        </p:nvSpPr>
        <p:spPr>
          <a:xfrm>
            <a:off x="6035040" y="1874520"/>
            <a:ext cx="2468880" cy="246888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greeting[0] is the first character and greeting[-1] is the last, counting back from the end. greeting[0:5] takes up to but not including index 5, and greeting[::-1] reverses the whole string by stepping backwards.</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Slicing never includes the character at the stop index.</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in operator and immutability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in asks whether one string sits inside another; no method changes a string in place</a:t>
            </a:r>
            <a:endParaRPr lang="en-US" sz="1300" dirty="0"/>
          </a:p>
        </p:txBody>
      </p:sp>
      <p:sp>
        <p:nvSpPr>
          <p:cNvPr id="6" name="Text 4"/>
          <p:cNvSpPr txBox="1"/>
          <p:nvPr/>
        </p:nvSpPr>
        <p:spPr>
          <a:xfrm>
            <a:off x="457200" y="109728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in tests for a substring; a string cannot be changed in place</a:t>
            </a:r>
            <a:endParaRPr lang="en-US" sz="1150" dirty="0"/>
          </a:p>
        </p:txBody>
      </p:sp>
      <p:sp>
        <p:nvSpPr>
          <p:cNvPr id="7" name="Shape 5"/>
          <p:cNvSpPr/>
          <p:nvPr/>
        </p:nvSpPr>
        <p:spPr>
          <a:xfrm>
            <a:off x="457200" y="1371600"/>
            <a:ext cx="4937760" cy="2267712"/>
          </a:xfrm>
          <a:prstGeom prst="roundRect">
            <a:avLst>
              <a:gd name="adj" fmla="val 4032"/>
            </a:avLst>
          </a:prstGeom>
          <a:solidFill>
            <a:srgbClr val="23272E"/>
          </a:solidFill>
          <a:ln w="12700">
            <a:solidFill>
              <a:srgbClr val="23272E"/>
            </a:solidFill>
            <a:prstDash val="solid"/>
          </a:ln>
        </p:spPr>
      </p:sp>
      <p:sp>
        <p:nvSpPr>
          <p:cNvPr id="8" name="Text 6"/>
          <p:cNvSpPr txBox="1"/>
          <p:nvPr/>
        </p:nvSpPr>
        <p:spPr>
          <a:xfrm>
            <a:off x="640080" y="1490472"/>
            <a:ext cx="4572000" cy="2029968"/>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name = 'Zophie a cat'</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name[0:7] + 'the' + name[8:12]</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'Zophie the cat'</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'Hello' in 'Hello, World'</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'HELLO' in 'Hello, World'</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False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 in 'spam'</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'cats' not in 'cats and dogs'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False</a:t>
            </a:r>
            <a:endParaRPr lang="en-US" sz="1050" dirty="0"/>
          </a:p>
        </p:txBody>
      </p:sp>
      <p:sp>
        <p:nvSpPr>
          <p:cNvPr id="9" name="Text 7"/>
          <p:cNvSpPr txBox="1"/>
          <p:nvPr/>
        </p:nvSpPr>
        <p:spPr>
          <a:xfrm>
            <a:off x="457200" y="365760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669280" y="1371600"/>
            <a:ext cx="3017520" cy="3017520"/>
          </a:xfrm>
          <a:prstGeom prst="roundRect">
            <a:avLst>
              <a:gd name="adj" fmla="val 3030"/>
            </a:avLst>
          </a:prstGeom>
          <a:solidFill>
            <a:srgbClr val="F2ECE1"/>
          </a:solidFill>
          <a:ln w="12700">
            <a:solidFill>
              <a:srgbClr val="F2ECE1"/>
            </a:solidFill>
            <a:prstDash val="solid"/>
          </a:ln>
        </p:spPr>
      </p:sp>
      <p:sp>
        <p:nvSpPr>
          <p:cNvPr id="11" name="Text 9"/>
          <p:cNvSpPr txBox="1"/>
          <p:nvPr/>
        </p:nvSpPr>
        <p:spPr>
          <a:xfrm>
            <a:off x="5852160" y="1490472"/>
            <a:ext cx="265176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What never changes</a:t>
            </a:r>
            <a:endParaRPr lang="en-US" sz="1600" dirty="0"/>
          </a:p>
        </p:txBody>
      </p:sp>
      <p:sp>
        <p:nvSpPr>
          <p:cNvPr id="12" name="Text 10"/>
          <p:cNvSpPr txBox="1"/>
          <p:nvPr/>
        </p:nvSpPr>
        <p:spPr>
          <a:xfrm>
            <a:off x="5852160" y="1874520"/>
            <a:ext cx="2651760" cy="237744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name[0:7] + 'the' + name[8:12] builds a brand new string; it does not edit name. Every method that looks like a change, such as upper(), returns a new string and leaves the original exactly as it was.</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string cannot change; every edit builds a new one.</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F-strings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f-string evaluates what is inside the braces and substitutes the result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an f-string evaluates {expr}; format specifiers and = control how it is shown</a:t>
            </a:r>
            <a:endParaRPr lang="en-US" sz="1150" dirty="0"/>
          </a:p>
        </p:txBody>
      </p:sp>
      <p:sp>
        <p:nvSpPr>
          <p:cNvPr id="7" name="Shape 5"/>
          <p:cNvSpPr/>
          <p:nvPr/>
        </p:nvSpPr>
        <p:spPr>
          <a:xfrm>
            <a:off x="457200" y="1371600"/>
            <a:ext cx="82296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490472"/>
            <a:ext cx="7863840" cy="16824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name = 'Al'</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age = 4000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f'My name is {name}. I am {age} years old. In ten years I will be {age + 10}. {{name}}'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'My name is Al. I am 4000 years old. In ten years I will be 4010. {name}'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f'{3.14159:.2f}|{42:&gt;6}|{42:^6}|{1234567:,}|{255:#x}'</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'3.14|    42|  42  |1,234,567|0xff'</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f'{name=}'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"name='Al'"</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f'{age + 1 = }'</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'age + 1 = 4001'</a:t>
            </a:r>
            <a:endParaRPr lang="en-US" sz="950" dirty="0"/>
          </a:p>
        </p:txBody>
      </p:sp>
      <p:sp>
        <p:nvSpPr>
          <p:cNvPr id="9" name="Text 7"/>
          <p:cNvSpPr txBox="1"/>
          <p:nvPr/>
        </p:nvSpPr>
        <p:spPr>
          <a:xfrm>
            <a:off x="457200" y="33101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3639312"/>
            <a:ext cx="8229600" cy="88696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{age + 10} runs the expression first; {42:&gt;6} right-justifies in 6 characters; {name=} prints the expression text and its value together, which the chapter's own printing did not yet have.</a:t>
            </a:r>
            <a:endParaRPr lang="en-US" sz="1150" dirty="0"/>
          </a:p>
        </p:txBody>
      </p:sp>
      <p:sp>
        <p:nvSpPr>
          <p:cNvPr id="11"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f'{expr}' evaluates expr and substitutes the result as text.</a:t>
            </a:r>
            <a:endParaRPr lang="en-US" sz="1350" dirty="0"/>
          </a:p>
        </p:txBody>
      </p:sp>
      <p:sp>
        <p:nvSpPr>
          <p:cNvPr id="13"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One PEP gave Python its f-string, in a single day</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2015-08-01</a:t>
            </a:r>
            <a:endParaRPr lang="en-US" sz="1300" dirty="0"/>
          </a:p>
        </p:txBody>
      </p:sp>
      <p:sp>
        <p:nvSpPr>
          <p:cNvPr id="6" name="Shape 4"/>
          <p:cNvSpPr/>
          <p:nvPr/>
        </p:nvSpPr>
        <p:spPr>
          <a:xfrm>
            <a:off x="457200" y="1371600"/>
            <a:ext cx="3657600" cy="2468880"/>
          </a:xfrm>
          <a:prstGeom prst="roundRect">
            <a:avLst>
              <a:gd name="adj" fmla="val 3704"/>
            </a:avLst>
          </a:prstGeom>
          <a:solidFill>
            <a:srgbClr val="F2ECE1"/>
          </a:solidFill>
          <a:ln w="12700">
            <a:solidFill>
              <a:srgbClr val="F2ECE1"/>
            </a:solidFill>
            <a:prstDash val="solid"/>
          </a:ln>
        </p:spPr>
      </p:sp>
      <p:sp>
        <p:nvSpPr>
          <p:cNvPr id="7" name="Text 5"/>
          <p:cNvSpPr txBox="1"/>
          <p:nvPr/>
        </p:nvSpPr>
        <p:spPr>
          <a:xfrm>
            <a:off x="640080" y="1490472"/>
            <a:ext cx="32918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PEP 498</a:t>
            </a:r>
            <a:endParaRPr lang="en-US" sz="1600" dirty="0"/>
          </a:p>
        </p:txBody>
      </p:sp>
      <p:sp>
        <p:nvSpPr>
          <p:cNvPr id="8" name="Text 6"/>
          <p:cNvSpPr txBox="1"/>
          <p:nvPr/>
        </p:nvSpPr>
        <p:spPr>
          <a:xfrm>
            <a:off x="640080" y="1874520"/>
            <a:ext cx="3291840" cy="182880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Literal String Interpolation. Created 1 August 2015 by Eric V. Smith, targeted at Python 3.6, and its own example reads almost exactly like the chapter's: f'My name is {name}, my age next year is {age+1}'.</a:t>
            </a:r>
            <a:endParaRPr lang="en-US" sz="1300" dirty="0"/>
          </a:p>
        </p:txBody>
      </p:sp>
      <p:sp>
        <p:nvSpPr>
          <p:cNvPr id="9" name="Shape 7"/>
          <p:cNvSpPr/>
          <p:nvPr/>
        </p:nvSpPr>
        <p:spPr>
          <a:xfrm>
            <a:off x="4389120" y="1616202"/>
            <a:ext cx="128016" cy="128016"/>
          </a:xfrm>
          <a:prstGeom prst="diamond">
            <a:avLst/>
          </a:prstGeom>
          <a:solidFill>
            <a:srgbClr val="D97A14"/>
          </a:solidFill>
          <a:ln w="12700">
            <a:solidFill>
              <a:srgbClr val="D97A14"/>
            </a:solidFill>
            <a:prstDash val="solid"/>
          </a:ln>
        </p:spPr>
      </p:sp>
      <p:sp>
        <p:nvSpPr>
          <p:cNvPr id="10" name="Text 8"/>
          <p:cNvSpPr txBox="1"/>
          <p:nvPr/>
        </p:nvSpPr>
        <p:spPr>
          <a:xfrm>
            <a:off x="4663440" y="1371600"/>
            <a:ext cx="402336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 August 2015: PEP 498 is created, authored by Eric V. Smith</a:t>
            </a:r>
            <a:endParaRPr lang="en-US" sz="1200" dirty="0"/>
          </a:p>
        </p:txBody>
      </p:sp>
      <p:sp>
        <p:nvSpPr>
          <p:cNvPr id="11" name="Shape 9"/>
          <p:cNvSpPr/>
          <p:nvPr/>
        </p:nvSpPr>
        <p:spPr>
          <a:xfrm>
            <a:off x="4389120" y="223342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4663440" y="1988820"/>
            <a:ext cx="402336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Targeted at Python 3.6, shipped at the end of 2016</a:t>
            </a:r>
            <a:endParaRPr lang="en-US" sz="1200" dirty="0"/>
          </a:p>
        </p:txBody>
      </p:sp>
      <p:sp>
        <p:nvSpPr>
          <p:cNvPr id="13" name="Shape 11"/>
          <p:cNvSpPr/>
          <p:nvPr/>
        </p:nvSpPr>
        <p:spPr>
          <a:xfrm>
            <a:off x="4389120" y="285064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4663440" y="2606040"/>
            <a:ext cx="402336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PEP's own example reads almost like the chapter's</a:t>
            </a:r>
            <a:endParaRPr lang="en-US" sz="1200" dirty="0"/>
          </a:p>
        </p:txBody>
      </p:sp>
      <p:sp>
        <p:nvSpPr>
          <p:cNvPr id="15" name="Shape 13"/>
          <p:cNvSpPr/>
          <p:nvPr/>
        </p:nvSpPr>
        <p:spPr>
          <a:xfrm>
            <a:off x="4389120" y="346786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4663440" y="3223260"/>
            <a:ext cx="402336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Every f'{name}' since has worked the same way</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Eric V. Smith</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Python Enhancement Proposal index,…</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2015-08-01</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peps.python.org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f-string programmers use daily traces to one named PEP.</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Older ways to build the same string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Concatenation, %-style and str.format() all still work</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concatenation, %-formatting and str.format() all predate the f-string</a:t>
            </a:r>
            <a:endParaRPr lang="en-US" sz="1150" dirty="0"/>
          </a:p>
        </p:txBody>
      </p:sp>
      <p:sp>
        <p:nvSpPr>
          <p:cNvPr id="7" name="Shape 5"/>
          <p:cNvSpPr/>
          <p:nvPr/>
        </p:nvSpPr>
        <p:spPr>
          <a:xfrm>
            <a:off x="457200" y="1371600"/>
            <a:ext cx="8229600" cy="2139696"/>
          </a:xfrm>
          <a:prstGeom prst="roundRect">
            <a:avLst>
              <a:gd name="adj" fmla="val 4274"/>
            </a:avLst>
          </a:prstGeom>
          <a:solidFill>
            <a:srgbClr val="23272E"/>
          </a:solidFill>
          <a:ln w="12700">
            <a:solidFill>
              <a:srgbClr val="23272E"/>
            </a:solidFill>
            <a:prstDash val="solid"/>
          </a:ln>
        </p:spPr>
      </p:sp>
      <p:sp>
        <p:nvSpPr>
          <p:cNvPr id="8" name="Text 6"/>
          <p:cNvSpPr txBox="1"/>
          <p:nvPr/>
        </p:nvSpPr>
        <p:spPr>
          <a:xfrm>
            <a:off x="640080" y="1490472"/>
            <a:ext cx="7863840" cy="1901952"/>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name = 'Al'</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age = 4000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'Hello, my name is ' + name + '. I am ' + str(age) + ' years old.'</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'Hello, my name is Al. I am 4000 years old.'</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'Py' 'thon'</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'Python'</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3 * 'un' + 'ium'</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'unununium'</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'My name is %s. I am %s years old.' % (name, age)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'My name is Al. I am 4000 years old.'</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'{1} years ago, {0} was born and named {0}.'.format(name, age)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'4000 years ago, Al was born and named Al.'</a:t>
            </a:r>
            <a:endParaRPr lang="en-US" sz="900" dirty="0"/>
          </a:p>
        </p:txBody>
      </p:sp>
      <p:sp>
        <p:nvSpPr>
          <p:cNvPr id="9" name="Text 7"/>
          <p:cNvSpPr txBox="1"/>
          <p:nvPr/>
        </p:nvSpPr>
        <p:spPr>
          <a:xfrm>
            <a:off x="457200" y="3529584"/>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3858768"/>
            <a:ext cx="8229600" cy="667512"/>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'Py' 'thon' concatenates two literals that sit next to each other; 3 * 'un' repeats a string; the {1} and {0} in .format() name arguments by position, out of order if needed.</a:t>
            </a:r>
            <a:endParaRPr lang="en-US" sz="1150" dirty="0"/>
          </a:p>
        </p:txBody>
      </p:sp>
      <p:sp>
        <p:nvSpPr>
          <p:cNvPr id="11"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f-strings replaced none of the three older styles; all still run.</a:t>
            </a:r>
            <a:endParaRPr lang="en-US" sz="1350" dirty="0"/>
          </a:p>
        </p:txBody>
      </p:sp>
      <p:sp>
        <p:nvSpPr>
          <p:cNvPr id="13"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Changing case and testing 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upper() and lower() build new strings; isupper() only asks</a:t>
            </a:r>
            <a:endParaRPr lang="en-US" sz="1300" dirty="0"/>
          </a:p>
        </p:txBody>
      </p:sp>
      <p:sp>
        <p:nvSpPr>
          <p:cNvPr id="6" name="Text 4"/>
          <p:cNvSpPr txBox="1"/>
          <p:nvPr/>
        </p:nvSpPr>
        <p:spPr>
          <a:xfrm>
            <a:off x="457200" y="10972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upper(), lower(), isupper() and casefold()</a:t>
            </a:r>
            <a:endParaRPr lang="en-US" sz="1150" dirty="0"/>
          </a:p>
        </p:txBody>
      </p:sp>
      <p:sp>
        <p:nvSpPr>
          <p:cNvPr id="7" name="Shape 5"/>
          <p:cNvSpPr/>
          <p:nvPr/>
        </p:nvSpPr>
        <p:spPr>
          <a:xfrm>
            <a:off x="457200" y="1371600"/>
            <a:ext cx="5120640" cy="2441448"/>
          </a:xfrm>
          <a:prstGeom prst="roundRect">
            <a:avLst>
              <a:gd name="adj" fmla="val 3745"/>
            </a:avLst>
          </a:prstGeom>
          <a:solidFill>
            <a:srgbClr val="23272E"/>
          </a:solidFill>
          <a:ln w="12700">
            <a:solidFill>
              <a:srgbClr val="23272E"/>
            </a:solidFill>
            <a:prstDash val="solid"/>
          </a:ln>
        </p:spPr>
      </p:sp>
      <p:sp>
        <p:nvSpPr>
          <p:cNvPr id="8" name="Text 6"/>
          <p:cNvSpPr txBox="1"/>
          <p:nvPr/>
        </p:nvSpPr>
        <p:spPr>
          <a:xfrm>
            <a:off x="640080" y="1490472"/>
            <a:ext cx="4754880" cy="2203704"/>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'Hello, world!'.upper()</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'HELLO, WORLD!'</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'Hello, world!'.lower()</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'hello, world!'</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'great' == 'GREat'.lower()</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'HELLO'.isupper()</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'stra\xdfe'.casefold() == 'strasse'</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'a-b'.upper().replace('-', '+')</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'A+B'</a:t>
            </a:r>
            <a:endParaRPr lang="en-US" sz="1050" dirty="0"/>
          </a:p>
        </p:txBody>
      </p:sp>
      <p:sp>
        <p:nvSpPr>
          <p:cNvPr id="9" name="Text 7"/>
          <p:cNvSpPr txBox="1"/>
          <p:nvPr/>
        </p:nvSpPr>
        <p:spPr>
          <a:xfrm>
            <a:off x="457200" y="3831336"/>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852160" y="1371600"/>
            <a:ext cx="2834640" cy="3017520"/>
          </a:xfrm>
          <a:prstGeom prst="roundRect">
            <a:avLst>
              <a:gd name="adj" fmla="val 3226"/>
            </a:avLst>
          </a:prstGeom>
          <a:solidFill>
            <a:srgbClr val="F2ECE1"/>
          </a:solidFill>
          <a:ln w="12700">
            <a:solidFill>
              <a:srgbClr val="F2ECE1"/>
            </a:solidFill>
            <a:prstDash val="solid"/>
          </a:ln>
        </p:spPr>
      </p:sp>
      <p:sp>
        <p:nvSpPr>
          <p:cNvPr id="11" name="Text 9"/>
          <p:cNvSpPr txBox="1"/>
          <p:nvPr/>
        </p:nvSpPr>
        <p:spPr>
          <a:xfrm>
            <a:off x="6035040" y="1490472"/>
            <a:ext cx="24688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casefold vs lower</a:t>
            </a:r>
            <a:endParaRPr lang="en-US" sz="1600" dirty="0"/>
          </a:p>
        </p:txBody>
      </p:sp>
      <p:sp>
        <p:nvSpPr>
          <p:cNvPr id="12" name="Text 10"/>
          <p:cNvSpPr txBox="1"/>
          <p:nvPr/>
        </p:nvSpPr>
        <p:spPr>
          <a:xfrm>
            <a:off x="6035040" y="1874520"/>
            <a:ext cx="2468880" cy="237744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'stra\xdfe'.casefold() == 'strasse' is True because casefold() also expands the German sharp s, something lower() alone does not do; it exists only for comparing text, never for display.</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casefold() compares text; upper() and lower() build it.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Testing a string's content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isalpha, isalnum, isdecimal and the startswith/endswith pair, all Booleans</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isX() methods test every character and answer a Boolean</a:t>
            </a:r>
            <a:endParaRPr lang="en-US" sz="1150" dirty="0"/>
          </a:p>
        </p:txBody>
      </p:sp>
      <p:sp>
        <p:nvSpPr>
          <p:cNvPr id="7" name="Shape 5"/>
          <p:cNvSpPr/>
          <p:nvPr/>
        </p:nvSpPr>
        <p:spPr>
          <a:xfrm>
            <a:off x="457200" y="1371600"/>
            <a:ext cx="8229600" cy="2560320"/>
          </a:xfrm>
          <a:prstGeom prst="roundRect">
            <a:avLst>
              <a:gd name="adj" fmla="val 3571"/>
            </a:avLst>
          </a:prstGeom>
          <a:solidFill>
            <a:srgbClr val="23272E"/>
          </a:solidFill>
          <a:ln w="12700">
            <a:solidFill>
              <a:srgbClr val="23272E"/>
            </a:solidFill>
            <a:prstDash val="solid"/>
          </a:ln>
        </p:spPr>
      </p:sp>
      <p:sp>
        <p:nvSpPr>
          <p:cNvPr id="8" name="Text 6"/>
          <p:cNvSpPr txBox="1"/>
          <p:nvPr/>
        </p:nvSpPr>
        <p:spPr>
          <a:xfrm>
            <a:off x="640080" y="1490472"/>
            <a:ext cx="7863840" cy="23225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'hello123'.isalpha()</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False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'hello123'.isalnum()</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'123'.isdecimal()</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'\u0663'.isdecimal()</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int('\u0663')</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'Hello, world!'.startswith('Hello')</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'notes.txt'.endswith(('.py', '.txt'))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p:txBody>
      </p:sp>
      <p:sp>
        <p:nvSpPr>
          <p:cNvPr id="9" name="Text 7"/>
          <p:cNvSpPr txBox="1"/>
          <p:nvPr/>
        </p:nvSpPr>
        <p:spPr>
          <a:xfrm>
            <a:off x="457200" y="39502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4261104"/>
            <a:ext cx="8229600" cy="265176"/>
          </a:xfrm>
          <a:prstGeom prst="rect">
            <a:avLst/>
          </a:prstGeom>
          <a:noFill/>
          <a:ln/>
        </p:spPr>
        <p:txBody>
          <a:bodyPr wrap="square" lIns="0" tIns="0" rIns="0" bIns="0" rtlCol="0" anchor="t"/>
          <a:lstStyle/>
          <a:p>
            <a:pPr algn="l" indent="0" marL="0">
              <a:buNone/>
            </a:pPr>
            <a:r>
              <a:rPr lang="en-US" sz="1050" dirty="0">
                <a:solidFill>
                  <a:srgbClr val="2B2622"/>
                </a:solidFill>
                <a:latin typeface="Calibri" pitchFamily="34" charset="0"/>
                <a:ea typeface="Calibri" pitchFamily="34" charset="-122"/>
                <a:cs typeface="Calibri" pitchFamily="34" charset="-120"/>
              </a:rPr>
              <a:t>startswith/endswith also accept a tuple of several endings to test in one call.</a:t>
            </a:r>
            <a:endParaRPr lang="en-US" sz="1050" dirty="0"/>
          </a:p>
        </p:txBody>
      </p:sp>
      <p:sp>
        <p:nvSpPr>
          <p:cNvPr id="11"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is-method tests every character and returns one Boolean.</a:t>
            </a:r>
            <a:endParaRPr lang="en-US" sz="1350" dirty="0"/>
          </a:p>
        </p:txBody>
      </p:sp>
      <p:sp>
        <p:nvSpPr>
          <p:cNvPr id="13"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Joining and splitting text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join() needs a list of strings; split() and partition() cut one apart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join() needs a list; split() and partition() cut a string apart</a:t>
            </a:r>
            <a:endParaRPr lang="en-US" sz="1150" dirty="0"/>
          </a:p>
        </p:txBody>
      </p:sp>
      <p:sp>
        <p:nvSpPr>
          <p:cNvPr id="7" name="Shape 5"/>
          <p:cNvSpPr/>
          <p:nvPr/>
        </p:nvSpPr>
        <p:spPr>
          <a:xfrm>
            <a:off x="457200" y="1371600"/>
            <a:ext cx="82296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490472"/>
            <a:ext cx="7863840" cy="16824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 '.join(['cats', 'rats', 'bats'])</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'cats, rats, bats'</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'My name is Simon'.split('m')</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['My na', 'e is Si', 'on']</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'My name is Simon'.split()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['My', 'name', 'is', 'Simon']</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'one\r\ntwo\nthree'.splitlines()</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['one', 'two', 'three']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'Monty Python'.partition(' ')</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('Monty', ' ', 'Python')</a:t>
            </a:r>
            <a:endParaRPr lang="en-US" sz="950" dirty="0"/>
          </a:p>
        </p:txBody>
      </p:sp>
      <p:sp>
        <p:nvSpPr>
          <p:cNvPr id="9" name="Text 7"/>
          <p:cNvSpPr txBox="1"/>
          <p:nvPr/>
        </p:nvSpPr>
        <p:spPr>
          <a:xfrm>
            <a:off x="457200" y="33101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3639312"/>
            <a:ext cx="8229600" cy="88696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 '.join([...]) is called on the separator, with the list as its argument; split() with no argument cuts on any run of whitespace; splitlines() recognises every line boundary split('\n') would miss.</a:t>
            </a:r>
            <a:endParaRPr lang="en-US" sz="1150" dirty="0"/>
          </a:p>
        </p:txBody>
      </p:sp>
      <p:sp>
        <p:nvSpPr>
          <p:cNvPr id="11"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join() glues a list; split() and partition() cut a string.</a:t>
            </a:r>
            <a:endParaRPr lang="en-US" sz="1350" dirty="0"/>
          </a:p>
        </p:txBody>
      </p:sp>
      <p:sp>
        <p:nvSpPr>
          <p:cNvPr id="13"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Justifying and stripping whitespace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rjust/ljust/center pad a string; strip removes characters from its ends</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rjust, ljust, center pad with a fill character; strip removes from the ends</a:t>
            </a:r>
            <a:endParaRPr lang="en-US" sz="1150" dirty="0"/>
          </a:p>
        </p:txBody>
      </p:sp>
      <p:sp>
        <p:nvSpPr>
          <p:cNvPr id="7" name="Shape 5"/>
          <p:cNvSpPr/>
          <p:nvPr/>
        </p:nvSpPr>
        <p:spPr>
          <a:xfrm>
            <a:off x="457200" y="1371600"/>
            <a:ext cx="8229600" cy="2340864"/>
          </a:xfrm>
          <a:prstGeom prst="roundRect">
            <a:avLst>
              <a:gd name="adj" fmla="val 3906"/>
            </a:avLst>
          </a:prstGeom>
          <a:solidFill>
            <a:srgbClr val="23272E"/>
          </a:solidFill>
          <a:ln w="12700">
            <a:solidFill>
              <a:srgbClr val="23272E"/>
            </a:solidFill>
            <a:prstDash val="solid"/>
          </a:ln>
        </p:spPr>
      </p:sp>
      <p:sp>
        <p:nvSpPr>
          <p:cNvPr id="8" name="Text 6"/>
          <p:cNvSpPr txBox="1"/>
          <p:nvPr/>
        </p:nvSpPr>
        <p:spPr>
          <a:xfrm>
            <a:off x="640080" y="1490472"/>
            <a:ext cx="7863840" cy="2103120"/>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'Hello'.rjust(10)</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     Hello'</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'Hello'.ljust(10, '-')</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'Hello-----'</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'Hello'.center(20, '=')</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'=======Hello========'</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    Hello, World    '.strip()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'Hello, World'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'SpamSpamBaconSpamEggsSpamSpam'.strip('ampS')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'BaconSpamEggs'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'report.txt'.removesuffix('.txt')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'report'</a:t>
            </a:r>
            <a:endParaRPr lang="en-US" sz="1000" dirty="0"/>
          </a:p>
        </p:txBody>
      </p:sp>
      <p:sp>
        <p:nvSpPr>
          <p:cNvPr id="9" name="Text 7"/>
          <p:cNvSpPr txBox="1"/>
          <p:nvPr/>
        </p:nvSpPr>
        <p:spPr>
          <a:xfrm>
            <a:off x="457200" y="3730752"/>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4059936"/>
            <a:ext cx="8229600" cy="466344"/>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strip('ampS') removes any of those characters from either end, not the substring 'ampS' as a whole; removesuffix() and removeprefix(), added in Python 3.9, remove one exact piece instead.</a:t>
            </a:r>
            <a:endParaRPr lang="en-US" sz="1150" dirty="0"/>
          </a:p>
        </p:txBody>
      </p:sp>
      <p:sp>
        <p:nvSpPr>
          <p:cNvPr id="11"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strip() removes a set of characters; removesuffix() removes one exact piece.</a:t>
            </a:r>
            <a:endParaRPr lang="en-US" sz="1350" dirty="0"/>
          </a:p>
        </p:txBody>
      </p:sp>
      <p:sp>
        <p:nvSpPr>
          <p:cNvPr id="13"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Nine companies agree on one table of characters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1991-02-19</a:t>
            </a:r>
            <a:endParaRPr lang="en-US" sz="1300" dirty="0"/>
          </a:p>
        </p:txBody>
      </p:sp>
      <p:sp>
        <p:nvSpPr>
          <p:cNvPr id="6" name="Shape 4"/>
          <p:cNvSpPr/>
          <p:nvPr/>
        </p:nvSpPr>
        <p:spPr>
          <a:xfrm>
            <a:off x="457200" y="1371600"/>
            <a:ext cx="4023360" cy="2468880"/>
          </a:xfrm>
          <a:prstGeom prst="roundRect">
            <a:avLst>
              <a:gd name="adj" fmla="val 3704"/>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The 1991 press release</a:t>
            </a:r>
            <a:endParaRPr lang="en-US" sz="1600" dirty="0"/>
          </a:p>
        </p:txBody>
      </p:sp>
      <p:sp>
        <p:nvSpPr>
          <p:cNvPr id="8" name="Text 6"/>
          <p:cNvSpPr txBox="1"/>
          <p:nvPr/>
        </p:nvSpPr>
        <p:spPr>
          <a:xfrm>
            <a:off x="640080" y="1874520"/>
            <a:ext cx="3657600" cy="182880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Nine companies - Apple, GO, IBM, Metaphor, Microsoft, NeXT, Novell, the Research Libraries Group and Sun - formally affiliated as Unicode Inc. on 19 February 1991, with Xerox's Joe Becker as technical vice president.</a:t>
            </a:r>
            <a:endParaRPr lang="en-US" sz="1250" dirty="0"/>
          </a:p>
        </p:txBody>
      </p:sp>
      <p:sp>
        <p:nvSpPr>
          <p:cNvPr id="9" name="Shape 7"/>
          <p:cNvSpPr/>
          <p:nvPr/>
        </p:nvSpPr>
        <p:spPr>
          <a:xfrm>
            <a:off x="4754880" y="161620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029200" y="1371600"/>
            <a:ext cx="365760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 February 1991: nine companies announce Unicode Inc.</a:t>
            </a:r>
            <a:endParaRPr lang="en-US" sz="1200" dirty="0"/>
          </a:p>
        </p:txBody>
      </p:sp>
      <p:sp>
        <p:nvSpPr>
          <p:cNvPr id="11" name="Shape 9"/>
          <p:cNvSpPr/>
          <p:nvPr/>
        </p:nvSpPr>
        <p:spPr>
          <a:xfrm>
            <a:off x="4754880" y="223342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029200" y="1988820"/>
            <a:ext cx="365760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consortium assigns the numbers ord() and chr() read</a:t>
            </a:r>
            <a:endParaRPr lang="en-US" sz="1200" dirty="0"/>
          </a:p>
        </p:txBody>
      </p:sp>
      <p:sp>
        <p:nvSpPr>
          <p:cNvPr id="13" name="Shape 11"/>
          <p:cNvSpPr/>
          <p:nvPr/>
        </p:nvSpPr>
        <p:spPr>
          <a:xfrm>
            <a:off x="4754880" y="285064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029200" y="2606040"/>
            <a:ext cx="365760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ord('A') is 65 because that table says so</a:t>
            </a:r>
            <a:endParaRPr lang="en-US" sz="1200" dirty="0"/>
          </a:p>
        </p:txBody>
      </p:sp>
      <p:sp>
        <p:nvSpPr>
          <p:cNvPr id="15" name="Shape 13"/>
          <p:cNvSpPr/>
          <p:nvPr/>
        </p:nvSpPr>
        <p:spPr>
          <a:xfrm>
            <a:off x="4754880" y="346786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029200" y="3223260"/>
            <a:ext cx="365760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same table underlies the chapter's utf-8 encoding</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Apple, GO, IBM, Metaphor, Microsoft, N…</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Mountain View, California</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1991-02-19</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unicode.org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ord() and chr() read a table nine companies agreed on in 1991.</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Finding and replacing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find() returns an index or -1; replace() swaps every occurrence</a:t>
            </a:r>
            <a:endParaRPr lang="en-US" sz="1300" dirty="0"/>
          </a:p>
        </p:txBody>
      </p:sp>
      <p:sp>
        <p:nvSpPr>
          <p:cNvPr id="6" name="Text 4"/>
          <p:cNvSpPr txBox="1"/>
          <p:nvPr/>
        </p:nvSpPr>
        <p:spPr>
          <a:xfrm>
            <a:off x="457200" y="109728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find() returns an index or -1; replace() swaps matches</a:t>
            </a:r>
            <a:endParaRPr lang="en-US" sz="1150" dirty="0"/>
          </a:p>
        </p:txBody>
      </p:sp>
      <p:sp>
        <p:nvSpPr>
          <p:cNvPr id="7" name="Shape 5"/>
          <p:cNvSpPr/>
          <p:nvPr/>
        </p:nvSpPr>
        <p:spPr>
          <a:xfrm>
            <a:off x="457200" y="1371600"/>
            <a:ext cx="4937760" cy="1801368"/>
          </a:xfrm>
          <a:prstGeom prst="roundRect">
            <a:avLst>
              <a:gd name="adj" fmla="val 5076"/>
            </a:avLst>
          </a:prstGeom>
          <a:solidFill>
            <a:srgbClr val="23272E"/>
          </a:solidFill>
          <a:ln w="12700">
            <a:solidFill>
              <a:srgbClr val="23272E"/>
            </a:solidFill>
            <a:prstDash val="solid"/>
          </a:ln>
        </p:spPr>
      </p:sp>
      <p:sp>
        <p:nvSpPr>
          <p:cNvPr id="8" name="Text 6"/>
          <p:cNvSpPr txBox="1"/>
          <p:nvPr/>
        </p:nvSpPr>
        <p:spPr>
          <a:xfrm>
            <a:off x="640080" y="1490472"/>
            <a:ext cx="4572000" cy="1563624"/>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 eggs spam'.find('spam')</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0</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 eggs spam'.find('spam', 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 eggs spam'.count('spam')</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 spam, spam'.replace('spam', 'eggs', 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'eggs, spam, spam'</a:t>
            </a:r>
            <a:endParaRPr lang="en-US" sz="1100" dirty="0"/>
          </a:p>
        </p:txBody>
      </p:sp>
      <p:sp>
        <p:nvSpPr>
          <p:cNvPr id="9" name="Text 7"/>
          <p:cNvSpPr txBox="1"/>
          <p:nvPr/>
        </p:nvSpPr>
        <p:spPr>
          <a:xfrm>
            <a:off x="457200" y="3191256"/>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577840" y="1371600"/>
            <a:ext cx="3108960" cy="2834640"/>
          </a:xfrm>
          <a:prstGeom prst="roundRect">
            <a:avLst>
              <a:gd name="adj" fmla="val 3226"/>
            </a:avLst>
          </a:prstGeom>
          <a:solidFill>
            <a:srgbClr val="F2ECE1"/>
          </a:solidFill>
          <a:ln w="12700">
            <a:solidFill>
              <a:srgbClr val="F2ECE1"/>
            </a:solidFill>
            <a:prstDash val="solid"/>
          </a:ln>
        </p:spPr>
      </p:sp>
      <p:sp>
        <p:nvSpPr>
          <p:cNvPr id="11" name="Text 9"/>
          <p:cNvSpPr txBox="1"/>
          <p:nvPr/>
        </p:nvSpPr>
        <p:spPr>
          <a:xfrm>
            <a:off x="5760720" y="1490472"/>
            <a:ext cx="27432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find vs index</a:t>
            </a:r>
            <a:endParaRPr lang="en-US" sz="1600" dirty="0"/>
          </a:p>
        </p:txBody>
      </p:sp>
      <p:sp>
        <p:nvSpPr>
          <p:cNvPr id="12" name="Text 10"/>
          <p:cNvSpPr txBox="1"/>
          <p:nvPr/>
        </p:nvSpPr>
        <p:spPr>
          <a:xfrm>
            <a:off x="5760720" y="1874520"/>
            <a:ext cx="2743200" cy="219456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 returns -1 for no match, where the related index() method raises a ValueError instead; a third argument to find() starts the search partway through the string.</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find() locates a match; replace() swaps every one by default.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ord(), chr() and UTF-8 encoding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code point names a character; UTF-8 turns characters into bytes</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ord()/chr() convert a character to and from its code point; encode() turns text into bytes</a:t>
            </a:r>
            <a:endParaRPr lang="en-US" sz="1150" dirty="0"/>
          </a:p>
        </p:txBody>
      </p:sp>
      <p:sp>
        <p:nvSpPr>
          <p:cNvPr id="7" name="Shape 5"/>
          <p:cNvSpPr/>
          <p:nvPr/>
        </p:nvSpPr>
        <p:spPr>
          <a:xfrm>
            <a:off x="457200" y="1371600"/>
            <a:ext cx="8229600" cy="2441448"/>
          </a:xfrm>
          <a:prstGeom prst="roundRect">
            <a:avLst>
              <a:gd name="adj" fmla="val 3745"/>
            </a:avLst>
          </a:prstGeom>
          <a:solidFill>
            <a:srgbClr val="23272E"/>
          </a:solidFill>
          <a:ln w="12700">
            <a:solidFill>
              <a:srgbClr val="23272E"/>
            </a:solidFill>
            <a:prstDash val="solid"/>
          </a:ln>
        </p:spPr>
      </p:sp>
      <p:sp>
        <p:nvSpPr>
          <p:cNvPr id="8" name="Text 6"/>
          <p:cNvSpPr txBox="1"/>
          <p:nvPr/>
        </p:nvSpPr>
        <p:spPr>
          <a:xfrm>
            <a:off x="640080" y="1490472"/>
            <a:ext cx="7863840" cy="2203704"/>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ord('A')</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65</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chr(65)</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'A'</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chr(ord('A') + 1)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'caf\xe9'.encode('utf-8')</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b'caf\xc3\xa9'</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len('caf\xe9')</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len('caf\xe9'.encode('utf-8'))</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'caf\xe9'.encode('ascii', errors='replace')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b'caf?'</a:t>
            </a:r>
            <a:endParaRPr lang="en-US" sz="900" dirty="0"/>
          </a:p>
        </p:txBody>
      </p:sp>
      <p:sp>
        <p:nvSpPr>
          <p:cNvPr id="9" name="Text 7"/>
          <p:cNvSpPr txBox="1"/>
          <p:nvPr/>
        </p:nvSpPr>
        <p:spPr>
          <a:xfrm>
            <a:off x="457200" y="383133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4160520"/>
            <a:ext cx="8229600" cy="365760"/>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'caf\xe9'.encode('utf-8') is 5 bytes for 4 characters, since e-acute takes two bytes in utf-8; encoding with errors='replace' swaps an unencodable character for a placeholder instead of raising.</a:t>
            </a:r>
            <a:endParaRPr lang="en-US" sz="1150" dirty="0"/>
          </a:p>
        </p:txBody>
      </p:sp>
      <p:sp>
        <p:nvSpPr>
          <p:cNvPr id="11"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utf-8 represents every character; ascii cannot.</a:t>
            </a:r>
            <a:endParaRPr lang="en-US" sz="1350" dirty="0"/>
          </a:p>
        </p:txBody>
      </p:sp>
      <p:sp>
        <p:nvSpPr>
          <p:cNvPr id="13"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25</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encoding written on a diner placemat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1992-09</a:t>
            </a:r>
            <a:endParaRPr lang="en-US" sz="1300" dirty="0"/>
          </a:p>
        </p:txBody>
      </p:sp>
      <p:sp>
        <p:nvSpPr>
          <p:cNvPr id="6" name="Shape 4"/>
          <p:cNvSpPr/>
          <p:nvPr/>
        </p:nvSpPr>
        <p:spPr>
          <a:xfrm>
            <a:off x="457200" y="1371600"/>
            <a:ext cx="4114800" cy="2468880"/>
          </a:xfrm>
          <a:prstGeom prst="roundRect">
            <a:avLst>
              <a:gd name="adj" fmla="val 3704"/>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Rob Pike's own account</a:t>
            </a:r>
            <a:endParaRPr lang="en-US" sz="1600" dirty="0"/>
          </a:p>
        </p:txBody>
      </p:sp>
      <p:sp>
        <p:nvSpPr>
          <p:cNvPr id="8" name="Text 6"/>
          <p:cNvSpPr txBox="1"/>
          <p:nvPr/>
        </p:nvSpPr>
        <p:spPr>
          <a:xfrm>
            <a:off x="640080" y="1874520"/>
            <a:ext cx="3749040" cy="182880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'Designed, in front of my eyes, on a placemat in a New Jersey diner one night in September or so 1992... I very clearly remember Ken writing on the placemat.'</a:t>
            </a:r>
            <a:endParaRPr lang="en-US" sz="1250" dirty="0"/>
          </a:p>
        </p:txBody>
      </p:sp>
      <p:sp>
        <p:nvSpPr>
          <p:cNvPr id="9" name="Shape 7"/>
          <p:cNvSpPr/>
          <p:nvPr/>
        </p:nvSpPr>
        <p:spPr>
          <a:xfrm>
            <a:off x="4846320" y="161620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September 1992: Thompson and Pike sketch UTF-8</a:t>
            </a:r>
            <a:endParaRPr lang="en-US" sz="1200" dirty="0"/>
          </a:p>
        </p:txBody>
      </p:sp>
      <p:sp>
        <p:nvSpPr>
          <p:cNvPr id="11" name="Shape 9"/>
          <p:cNvSpPr/>
          <p:nvPr/>
        </p:nvSpPr>
        <p:spPr>
          <a:xfrm>
            <a:off x="4846320" y="223342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1988820"/>
            <a:ext cx="356616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Bell Labs, for the Plan 9 operating system</a:t>
            </a:r>
            <a:endParaRPr lang="en-US" sz="1200" dirty="0"/>
          </a:p>
        </p:txBody>
      </p:sp>
      <p:sp>
        <p:nvSpPr>
          <p:cNvPr id="13" name="Shape 11"/>
          <p:cNvSpPr/>
          <p:nvPr/>
        </p:nvSpPr>
        <p:spPr>
          <a:xfrm>
            <a:off x="4846320" y="285064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06040"/>
            <a:ext cx="356616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 to 4 bytes per character, ASCII stays compatible</a:t>
            </a:r>
            <a:endParaRPr lang="en-US" sz="1200" dirty="0"/>
          </a:p>
        </p:txBody>
      </p:sp>
      <p:sp>
        <p:nvSpPr>
          <p:cNvPr id="15" name="Shape 13"/>
          <p:cNvSpPr/>
          <p:nvPr/>
        </p:nvSpPr>
        <p:spPr>
          <a:xfrm>
            <a:off x="4846320" y="346786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23260"/>
            <a:ext cx="356616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That is the encoding behind str.encode('utf-8')</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Ken Thompson and Rob Pike, Bell Labs</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 diner in New Jersey</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1992-09</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doc.cat-v.org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encoding behind str.encode('utf-8') began on a placemat.</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Pig Latin program</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Vowel-starting words get yay; consonants move to the end and get ay</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pigLatin_v1_0_0.py, lines 25 to 37 of 41 - Python 3.14.6</a:t>
            </a:r>
            <a:endParaRPr lang="en-US" sz="1150" dirty="0"/>
          </a:p>
        </p:txBody>
      </p:sp>
      <p:sp>
        <p:nvSpPr>
          <p:cNvPr id="7" name="Shape 5"/>
          <p:cNvSpPr/>
          <p:nvPr/>
        </p:nvSpPr>
        <p:spPr>
          <a:xfrm>
            <a:off x="457200" y="1371600"/>
            <a:ext cx="8229600" cy="2112264"/>
          </a:xfrm>
          <a:prstGeom prst="roundRect">
            <a:avLst>
              <a:gd name="adj" fmla="val 4329"/>
            </a:avLst>
          </a:prstGeom>
          <a:solidFill>
            <a:srgbClr val="23272E"/>
          </a:solidFill>
          <a:ln w="12700">
            <a:solidFill>
              <a:srgbClr val="23272E"/>
            </a:solidFill>
            <a:prstDash val="solid"/>
          </a:ln>
        </p:spPr>
      </p:sp>
      <p:sp>
        <p:nvSpPr>
          <p:cNvPr id="8" name="Text 6"/>
          <p:cNvSpPr txBox="1"/>
          <p:nvPr/>
        </p:nvSpPr>
        <p:spPr>
          <a:xfrm>
            <a:off x="640080" y="1490472"/>
            <a:ext cx="7863840" cy="1874520"/>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if</a:t>
            </a:r>
            <a:r>
              <a:rPr lang="en-US" sz="800" dirty="0">
                <a:solidFill>
                  <a:srgbClr val="E6EDF3"/>
                </a:solidFill>
                <a:latin typeface="Courier New" pitchFamily="34" charset="0"/>
                <a:ea typeface="Courier New" pitchFamily="34" charset="-122"/>
                <a:cs typeface="Courier New" pitchFamily="34" charset="-120"/>
              </a:rPr>
              <a:t> is_vowel(word[</a:t>
            </a:r>
            <a:r>
              <a:rPr lang="en-US" sz="800" dirty="0">
                <a:solidFill>
                  <a:srgbClr val="FFD28A"/>
                </a:solidFill>
                <a:latin typeface="Courier New" pitchFamily="34" charset="0"/>
                <a:ea typeface="Courier New" pitchFamily="34" charset="-122"/>
                <a:cs typeface="Courier New" pitchFamily="34" charset="-120"/>
              </a:rPr>
              <a:t>0</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new_word = word + </a:t>
            </a:r>
            <a:r>
              <a:rPr lang="en-US" sz="800" dirty="0">
                <a:solidFill>
                  <a:srgbClr val="9ECBFF"/>
                </a:solidFill>
                <a:latin typeface="Courier New" pitchFamily="34" charset="0"/>
                <a:ea typeface="Courier New" pitchFamily="34" charset="-122"/>
                <a:cs typeface="Courier New" pitchFamily="34" charset="-120"/>
              </a:rPr>
              <a:t>'yay'</a:t>
            </a:r>
            <a:r>
              <a:rPr lang="en-US" sz="800" dirty="0">
                <a:solidFill>
                  <a:srgbClr val="E6EDF3"/>
                </a:solidFill>
                <a:latin typeface="Courier New" pitchFamily="34" charset="0"/>
                <a:ea typeface="Courier New" pitchFamily="34" charset="-122"/>
                <a:cs typeface="Courier New" pitchFamily="34" charset="-120"/>
              </a:rPr>
              <a:t>          </a:t>
            </a:r>
            <a:r>
              <a:rPr lang="en-US" sz="800" i="1" dirty="0">
                <a:solidFill>
                  <a:srgbClr val="8FA98F"/>
                </a:solidFill>
                <a:latin typeface="Courier New" pitchFamily="34" charset="0"/>
                <a:ea typeface="Courier New" pitchFamily="34" charset="-122"/>
                <a:cs typeface="Courier New" pitchFamily="34" charset="-120"/>
              </a:rPr>
              <a:t># starts with a vowel: just add yay</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else</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prefix_consonants = </a:t>
            </a:r>
            <a:r>
              <a:rPr lang="en-US" sz="800" dirty="0">
                <a:solidFill>
                  <a:srgbClr val="9ECBFF"/>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while</a:t>
            </a:r>
            <a:r>
              <a:rPr lang="en-US" sz="800" dirty="0">
                <a:solidFill>
                  <a:srgbClr val="E6EDF3"/>
                </a:solidFill>
                <a:latin typeface="Courier New" pitchFamily="34" charset="0"/>
                <a:ea typeface="Courier New" pitchFamily="34" charset="-122"/>
                <a:cs typeface="Courier New" pitchFamily="34" charset="-120"/>
              </a:rPr>
              <a:t> len(word) &gt; </a:t>
            </a:r>
            <a:r>
              <a:rPr lang="en-US" sz="800" dirty="0">
                <a:solidFill>
                  <a:srgbClr val="FFD28A"/>
                </a:solidFill>
                <a:latin typeface="Courier New" pitchFamily="34" charset="0"/>
                <a:ea typeface="Courier New" pitchFamily="34" charset="-122"/>
                <a:cs typeface="Courier New" pitchFamily="34" charset="-120"/>
              </a:rPr>
              <a:t>0</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and</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not</a:t>
            </a:r>
            <a:r>
              <a:rPr lang="en-US" sz="800" dirty="0">
                <a:solidFill>
                  <a:srgbClr val="E6EDF3"/>
                </a:solidFill>
                <a:latin typeface="Courier New" pitchFamily="34" charset="0"/>
                <a:ea typeface="Courier New" pitchFamily="34" charset="-122"/>
                <a:cs typeface="Courier New" pitchFamily="34" charset="-120"/>
              </a:rPr>
              <a:t> is_vowel(word[</a:t>
            </a:r>
            <a:r>
              <a:rPr lang="en-US" sz="800" dirty="0">
                <a:solidFill>
                  <a:srgbClr val="FFD28A"/>
                </a:solidFill>
                <a:latin typeface="Courier New" pitchFamily="34" charset="0"/>
                <a:ea typeface="Courier New" pitchFamily="34" charset="-122"/>
                <a:cs typeface="Courier New" pitchFamily="34" charset="-120"/>
              </a:rPr>
              <a:t>0</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prefix_consonants = prefix_consonants + word[</a:t>
            </a:r>
            <a:r>
              <a:rPr lang="en-US" sz="800" dirty="0">
                <a:solidFill>
                  <a:srgbClr val="FFD28A"/>
                </a:solidFill>
                <a:latin typeface="Courier New" pitchFamily="34" charset="0"/>
                <a:ea typeface="Courier New" pitchFamily="34" charset="-122"/>
                <a:cs typeface="Courier New" pitchFamily="34" charset="-120"/>
              </a:rPr>
              <a:t>0</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word = word[</a:t>
            </a:r>
            <a:r>
              <a:rPr lang="en-US" sz="800" dirty="0">
                <a:solidFill>
                  <a:srgbClr val="FFD28A"/>
                </a:solidFill>
                <a:latin typeface="Courier New" pitchFamily="34" charset="0"/>
                <a:ea typeface="Courier New" pitchFamily="34" charset="-122"/>
                <a:cs typeface="Courier New" pitchFamily="34" charset="-120"/>
              </a:rPr>
              <a:t>1</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new_word = word + prefix_consonants + </a:t>
            </a:r>
            <a:r>
              <a:rPr lang="en-US" sz="800" dirty="0">
                <a:solidFill>
                  <a:srgbClr val="9ECBFF"/>
                </a:solidFill>
                <a:latin typeface="Courier New" pitchFamily="34" charset="0"/>
                <a:ea typeface="Courier New" pitchFamily="34" charset="-122"/>
                <a:cs typeface="Courier New" pitchFamily="34" charset="-120"/>
              </a:rPr>
              <a:t>'ay'</a:t>
            </a:r>
            <a:r>
              <a:rPr lang="en-US" sz="800" dirty="0">
                <a:solidFill>
                  <a:srgbClr val="E6EDF3"/>
                </a:solidFill>
                <a:latin typeface="Courier New" pitchFamily="34" charset="0"/>
                <a:ea typeface="Courier New" pitchFamily="34" charset="-122"/>
                <a:cs typeface="Courier New" pitchFamily="34" charset="-120"/>
              </a:rPr>
              <a:t>   </a:t>
            </a:r>
            <a:r>
              <a:rPr lang="en-US" sz="800" i="1" dirty="0">
                <a:solidFill>
                  <a:srgbClr val="8FA98F"/>
                </a:solidFill>
                <a:latin typeface="Courier New" pitchFamily="34" charset="0"/>
                <a:ea typeface="Courier New" pitchFamily="34" charset="-122"/>
                <a:cs typeface="Courier New" pitchFamily="34" charset="-120"/>
              </a:rPr>
              <a:t># move the consonants to the end, add ay</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if</a:t>
            </a:r>
            <a:r>
              <a:rPr lang="en-US" sz="800" dirty="0">
                <a:solidFill>
                  <a:srgbClr val="E6EDF3"/>
                </a:solidFill>
                <a:latin typeface="Courier New" pitchFamily="34" charset="0"/>
                <a:ea typeface="Courier New" pitchFamily="34" charset="-122"/>
                <a:cs typeface="Courier New" pitchFamily="34" charset="-120"/>
              </a:rPr>
              <a:t> was_upper:</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new_word = new_word.upper()</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elif</a:t>
            </a:r>
            <a:r>
              <a:rPr lang="en-US" sz="800" dirty="0">
                <a:solidFill>
                  <a:srgbClr val="E6EDF3"/>
                </a:solidFill>
                <a:latin typeface="Courier New" pitchFamily="34" charset="0"/>
                <a:ea typeface="Courier New" pitchFamily="34" charset="-122"/>
                <a:cs typeface="Courier New" pitchFamily="34" charset="-120"/>
              </a:rPr>
              <a:t> was_title: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new_word = new_word[</a:t>
            </a:r>
            <a:r>
              <a:rPr lang="en-US" sz="800" dirty="0">
                <a:solidFill>
                  <a:srgbClr val="FFD28A"/>
                </a:solidFill>
                <a:latin typeface="Courier New" pitchFamily="34" charset="0"/>
                <a:ea typeface="Courier New" pitchFamily="34" charset="-122"/>
                <a:cs typeface="Courier New" pitchFamily="34" charset="-120"/>
              </a:rPr>
              <a:t>0</a:t>
            </a:r>
            <a:r>
              <a:rPr lang="en-US" sz="800" dirty="0">
                <a:solidFill>
                  <a:srgbClr val="E6EDF3"/>
                </a:solidFill>
                <a:latin typeface="Courier New" pitchFamily="34" charset="0"/>
                <a:ea typeface="Courier New" pitchFamily="34" charset="-122"/>
                <a:cs typeface="Courier New" pitchFamily="34" charset="-120"/>
              </a:rPr>
              <a:t>].upper() + new_word[</a:t>
            </a:r>
            <a:r>
              <a:rPr lang="en-US" sz="800" dirty="0">
                <a:solidFill>
                  <a:srgbClr val="FFD28A"/>
                </a:solidFill>
                <a:latin typeface="Courier New" pitchFamily="34" charset="0"/>
                <a:ea typeface="Courier New" pitchFamily="34" charset="-122"/>
                <a:cs typeface="Courier New" pitchFamily="34" charset="-120"/>
              </a:rPr>
              <a:t>1</a:t>
            </a:r>
            <a:r>
              <a:rPr lang="en-US" sz="800" dirty="0">
                <a:solidFill>
                  <a:srgbClr val="E6EDF3"/>
                </a:solidFill>
                <a:latin typeface="Courier New" pitchFamily="34" charset="0"/>
                <a:ea typeface="Courier New" pitchFamily="34" charset="-122"/>
                <a:cs typeface="Courier New" pitchFamily="34" charset="-120"/>
              </a:rPr>
              <a:t>:]</a:t>
            </a:r>
            <a:endParaRPr lang="en-US" sz="800" dirty="0"/>
          </a:p>
        </p:txBody>
      </p:sp>
      <p:sp>
        <p:nvSpPr>
          <p:cNvPr id="9" name="Text 7"/>
          <p:cNvSpPr txBox="1"/>
          <p:nvPr/>
        </p:nvSpPr>
        <p:spPr>
          <a:xfrm>
            <a:off x="457200" y="3575304"/>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typed: My name is Al Sweigart. I am 4,000 years old.</a:t>
            </a:r>
            <a:endParaRPr lang="en-US" sz="1150" dirty="0"/>
          </a:p>
        </p:txBody>
      </p:sp>
      <p:sp>
        <p:nvSpPr>
          <p:cNvPr id="10" name="Shape 8"/>
          <p:cNvSpPr/>
          <p:nvPr/>
        </p:nvSpPr>
        <p:spPr>
          <a:xfrm>
            <a:off x="457200" y="3849624"/>
            <a:ext cx="8229600" cy="548640"/>
          </a:xfrm>
          <a:prstGeom prst="roundRect">
            <a:avLst>
              <a:gd name="adj" fmla="val 16667"/>
            </a:avLst>
          </a:prstGeom>
          <a:solidFill>
            <a:srgbClr val="23272E"/>
          </a:solidFill>
          <a:ln w="12700">
            <a:solidFill>
              <a:srgbClr val="23272E"/>
            </a:solidFill>
            <a:prstDash val="solid"/>
          </a:ln>
        </p:spPr>
      </p:sp>
      <p:sp>
        <p:nvSpPr>
          <p:cNvPr id="11" name="Text 9"/>
          <p:cNvSpPr txBox="1"/>
          <p:nvPr/>
        </p:nvSpPr>
        <p:spPr>
          <a:xfrm>
            <a:off x="640080" y="3968496"/>
            <a:ext cx="7863840" cy="31089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prints </a:t>
            </a:r>
            <a:r>
              <a:rPr lang="en-US" sz="900" dirty="0">
                <a:solidFill>
                  <a:srgbClr val="7EE787"/>
                </a:solidFill>
                <a:latin typeface="Courier New" pitchFamily="34" charset="0"/>
                <a:ea typeface="Courier New" pitchFamily="34" charset="-122"/>
                <a:cs typeface="Courier New" pitchFamily="34" charset="-120"/>
              </a:rPr>
              <a:t>My name is Al Sweigart. I am 4,000 years old.</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Ymay amenay isyay Alyay Eigartsway. IYAY amyay 4,000 yearsyay oldyay.</a:t>
            </a:r>
            <a:endParaRPr lang="en-US" sz="9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one-letter word exposes Pig Latin's own case quirk, IYAY.</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Practice: printing a table, alternating case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Column widths come from the data itself, not from a fixed number</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tablePrinter_v1_0_0.py, lines 1 to 17 of 17 - Python 3.14.6</a:t>
            </a:r>
            <a:endParaRPr lang="en-US" sz="1150" dirty="0"/>
          </a:p>
        </p:txBody>
      </p:sp>
      <p:sp>
        <p:nvSpPr>
          <p:cNvPr id="7" name="Shape 5"/>
          <p:cNvSpPr/>
          <p:nvPr/>
        </p:nvSpPr>
        <p:spPr>
          <a:xfrm>
            <a:off x="457200" y="1371600"/>
            <a:ext cx="8229600" cy="2834640"/>
          </a:xfrm>
          <a:prstGeom prst="roundRect">
            <a:avLst>
              <a:gd name="adj" fmla="val 3226"/>
            </a:avLst>
          </a:prstGeom>
          <a:solidFill>
            <a:srgbClr val="23272E"/>
          </a:solidFill>
          <a:ln w="12700">
            <a:solidFill>
              <a:srgbClr val="23272E"/>
            </a:solidFill>
            <a:prstDash val="solid"/>
          </a:ln>
        </p:spPr>
      </p:sp>
      <p:sp>
        <p:nvSpPr>
          <p:cNvPr id="8" name="Text 6"/>
          <p:cNvSpPr txBox="1"/>
          <p:nvPr/>
        </p:nvSpPr>
        <p:spPr>
          <a:xfrm>
            <a:off x="640080" y="1490472"/>
            <a:ext cx="7863840" cy="259689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print_table(table_data):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col_widths =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len(table_data)         </a:t>
            </a:r>
            <a:r>
              <a:rPr lang="en-US" sz="700" i="1" dirty="0">
                <a:solidFill>
                  <a:srgbClr val="8FA98F"/>
                </a:solidFill>
                <a:latin typeface="Courier New" pitchFamily="34" charset="0"/>
                <a:ea typeface="Courier New" pitchFamily="34" charset="-122"/>
                <a:cs typeface="Courier New" pitchFamily="34" charset="-120"/>
              </a:rPr>
              <a:t># the widest string of each column, so far 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range(len(table_data)):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j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range(len(table_data[i])):</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col_widths[i] = max(col_widths[i], len(table_data[i][j]))</a:t>
            </a:r>
            <a:endParaRPr lang="en-US" sz="700" dirty="0"/>
          </a:p>
          <a:p>
            <a:pPr indent="0" marL="0">
              <a:buNone/>
            </a:pP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row_index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range(len(table_data[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row = </a:t>
            </a:r>
            <a:r>
              <a:rPr lang="en-US" sz="700" dirty="0">
                <a:solidFill>
                  <a:srgbClr val="9ECBFF"/>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col_index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range(len(table_data)):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item = table_data[col_index][row_index].rjust(col_widths[col_index])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row = row + item + </a:t>
            </a:r>
            <a:r>
              <a:rPr lang="en-US" sz="700" dirty="0">
                <a:solidFill>
                  <a:srgbClr val="9ECBFF"/>
                </a:solidFill>
                <a:latin typeface="Courier New" pitchFamily="34" charset="0"/>
                <a:ea typeface="Courier New" pitchFamily="34" charset="-122"/>
                <a:cs typeface="Courier New" pitchFamily="34" charset="-120"/>
              </a:rPr>
              <a:t>'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print(row)</a:t>
            </a:r>
            <a:endParaRPr lang="en-US" sz="700" dirty="0"/>
          </a:p>
          <a:p>
            <a:pPr indent="0" marL="0">
              <a:buNone/>
            </a:pP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table_data = [[</a:t>
            </a:r>
            <a:r>
              <a:rPr lang="en-US" sz="700" dirty="0">
                <a:solidFill>
                  <a:srgbClr val="9ECBFF"/>
                </a:solidFill>
                <a:latin typeface="Courier New" pitchFamily="34" charset="0"/>
                <a:ea typeface="Courier New" pitchFamily="34" charset="-122"/>
                <a:cs typeface="Courier New" pitchFamily="34" charset="-120"/>
              </a:rPr>
              <a:t>'apples'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'oranges'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'cherries'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'banana'</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'Bob'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'Carol'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'David'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'dogs'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'cats'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'moose'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'goose'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print_table(table_data)</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  apples Alice  dogs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oranges   Bob  cats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cherries Carol moose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banana David goose </a:t>
            </a:r>
            <a:endParaRPr lang="en-US" sz="700" dirty="0"/>
          </a:p>
        </p:txBody>
      </p:sp>
      <p:sp>
        <p:nvSpPr>
          <p:cNvPr id="9" name="Text 7"/>
          <p:cNvSpPr txBox="1"/>
          <p:nvPr/>
        </p:nvSpPr>
        <p:spPr>
          <a:xfrm>
            <a:off x="457200" y="4297680"/>
            <a:ext cx="8229600" cy="228600"/>
          </a:xfrm>
          <a:prstGeom prst="rect">
            <a:avLst/>
          </a:prstGeom>
          <a:noFill/>
          <a:ln/>
        </p:spPr>
        <p:txBody>
          <a:bodyPr wrap="square" lIns="0" tIns="0" rIns="0" bIns="0" rtlCol="0" anchor="t"/>
          <a:lstStyle/>
          <a:p>
            <a:pPr algn="l" indent="0" marL="0">
              <a:buNone/>
            </a:pPr>
            <a:r>
              <a:rPr lang="en-US" sz="1050" dirty="0">
                <a:solidFill>
                  <a:srgbClr val="2B2622"/>
                </a:solidFill>
                <a:latin typeface="Calibri" pitchFamily="34" charset="0"/>
                <a:ea typeface="Calibri" pitchFamily="34" charset="-122"/>
                <a:cs typeface="Calibri" pitchFamily="34" charset="-120"/>
              </a:rPr>
              <a:t>col_widths[i] grows to the longest string in each column, and rjust() uses that width for every row.</a:t>
            </a:r>
            <a:endParaRPr lang="en-US" sz="105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Measuring the data first is what makes the table line up.</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clipboard and pyperclip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copy() and paste() read and write the operating system's own clipboard</a:t>
            </a:r>
            <a:endParaRPr lang="en-US" sz="1300" dirty="0"/>
          </a:p>
        </p:txBody>
      </p:sp>
      <p:sp>
        <p:nvSpPr>
          <p:cNvPr id="6" name="Shape 4"/>
          <p:cNvSpPr/>
          <p:nvPr/>
        </p:nvSpPr>
        <p:spPr>
          <a:xfrm>
            <a:off x="457200" y="1371600"/>
            <a:ext cx="3931920" cy="2926080"/>
          </a:xfrm>
          <a:prstGeom prst="roundRect">
            <a:avLst>
              <a:gd name="adj" fmla="val 3125"/>
            </a:avLst>
          </a:prstGeom>
          <a:solidFill>
            <a:srgbClr val="F2ECE1"/>
          </a:solidFill>
          <a:ln w="12700">
            <a:solidFill>
              <a:srgbClr val="F2ECE1"/>
            </a:solidFill>
            <a:prstDash val="solid"/>
          </a:ln>
        </p:spPr>
      </p:sp>
      <p:sp>
        <p:nvSpPr>
          <p:cNvPr id="7" name="Text 5"/>
          <p:cNvSpPr txBox="1"/>
          <p:nvPr/>
        </p:nvSpPr>
        <p:spPr>
          <a:xfrm>
            <a:off x="640080" y="1490472"/>
            <a:ext cx="356616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Two functions, one clipboard</a:t>
            </a:r>
            <a:endParaRPr lang="en-US" sz="1600" dirty="0"/>
          </a:p>
        </p:txBody>
      </p:sp>
      <p:sp>
        <p:nvSpPr>
          <p:cNvPr id="8" name="Text 6"/>
          <p:cNvSpPr txBox="1"/>
          <p:nvPr/>
        </p:nvSpPr>
        <p:spPr>
          <a:xfrm>
            <a:off x="640080" y="1874520"/>
            <a:ext cx="3566160" cy="228600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pyperclip.copy(text) places text on the clipboard and pyperclip.paste() returns whatever is there. The bullet-point-adder program pastes, edits every line, and copies the result back.</a:t>
            </a:r>
            <a:endParaRPr lang="en-US" sz="1200" dirty="0"/>
          </a:p>
        </p:txBody>
      </p:sp>
      <p:sp>
        <p:nvSpPr>
          <p:cNvPr id="9" name="Shape 7"/>
          <p:cNvSpPr/>
          <p:nvPr/>
        </p:nvSpPr>
        <p:spPr>
          <a:xfrm>
            <a:off x="4663440" y="1371600"/>
            <a:ext cx="4023360" cy="2926080"/>
          </a:xfrm>
          <a:prstGeom prst="roundRect">
            <a:avLst>
              <a:gd name="adj" fmla="val 3125"/>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real limitation, kept honest</a:t>
            </a:r>
            <a:endParaRPr lang="en-US" sz="1600" dirty="0"/>
          </a:p>
        </p:txBody>
      </p:sp>
      <p:sp>
        <p:nvSpPr>
          <p:cNvPr id="11" name="Text 9"/>
          <p:cNvSpPr txBox="1"/>
          <p:nvPr/>
        </p:nvSpPr>
        <p:spPr>
          <a:xfrm>
            <a:off x="4846320" y="1874520"/>
            <a:ext cx="3657600" cy="22860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Running the bullet-point-adder program in this headless session raised ModuleNotFoundError: No module named 'pyperclip', then, once installed, pyperclip.PyperclipException because no clipboard mechanism exists without a desktop. The program is correct; the sandbox has no clipboard.</a:t>
            </a:r>
            <a:endParaRPr lang="en-US" sz="11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copy() and paste() are pyperclip's whole interface.</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25</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chapter's clipboard model is fifty years old</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1973</a:t>
            </a:r>
            <a:endParaRPr lang="en-US" sz="1300" dirty="0"/>
          </a:p>
        </p:txBody>
      </p:sp>
      <p:sp>
        <p:nvSpPr>
          <p:cNvPr id="6" name="Shape 4"/>
          <p:cNvSpPr/>
          <p:nvPr/>
        </p:nvSpPr>
        <p:spPr>
          <a:xfrm>
            <a:off x="457200" y="1371600"/>
            <a:ext cx="420624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8404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Larry Tesler, Xerox PARC</a:t>
            </a:r>
            <a:endParaRPr lang="en-US" sz="1600" dirty="0"/>
          </a:p>
        </p:txBody>
      </p:sp>
      <p:sp>
        <p:nvSpPr>
          <p:cNvPr id="8" name="Text 6"/>
          <p:cNvSpPr txBox="1"/>
          <p:nvPr/>
        </p:nvSpPr>
        <p:spPr>
          <a:xfrm>
            <a:off x="640080" y="1874520"/>
            <a:ext cx="3840480" cy="201168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Joined PARC in 1973 and, with Tim Mott, gave the Gypsy word processor its cut, copy and paste model: select, hold, insert elsewhere. Tesler died 16 February 2020, and his obituaries used his own invention as the headline.</a:t>
            </a:r>
            <a:endParaRPr lang="en-US" sz="1250" dirty="0"/>
          </a:p>
        </p:txBody>
      </p:sp>
      <p:sp>
        <p:nvSpPr>
          <p:cNvPr id="9" name="Shape 7"/>
          <p:cNvSpPr/>
          <p:nvPr/>
        </p:nvSpPr>
        <p:spPr>
          <a:xfrm>
            <a:off x="4937760" y="163906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212080" y="1371600"/>
            <a:ext cx="3474720" cy="6629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1973: Tesler and Mott build the Gypsy word processor</a:t>
            </a:r>
            <a:endParaRPr lang="en-US" sz="1200" dirty="0"/>
          </a:p>
        </p:txBody>
      </p:sp>
      <p:sp>
        <p:nvSpPr>
          <p:cNvPr id="11" name="Shape 9"/>
          <p:cNvSpPr/>
          <p:nvPr/>
        </p:nvSpPr>
        <p:spPr>
          <a:xfrm>
            <a:off x="4937760" y="230200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212080" y="2034540"/>
            <a:ext cx="3474720" cy="6629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Select, hold, insert elsewhere: cut, copy, paste</a:t>
            </a:r>
            <a:endParaRPr lang="en-US" sz="1200" dirty="0"/>
          </a:p>
        </p:txBody>
      </p:sp>
      <p:sp>
        <p:nvSpPr>
          <p:cNvPr id="13" name="Shape 11"/>
          <p:cNvSpPr/>
          <p:nvPr/>
        </p:nvSpPr>
        <p:spPr>
          <a:xfrm>
            <a:off x="4937760" y="296494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212080" y="2697480"/>
            <a:ext cx="3474720" cy="6629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16 February 2020: Tesler dies, aged 74</a:t>
            </a:r>
            <a:endParaRPr lang="en-US" sz="1200" dirty="0"/>
          </a:p>
        </p:txBody>
      </p:sp>
      <p:sp>
        <p:nvSpPr>
          <p:cNvPr id="15" name="Shape 13"/>
          <p:cNvSpPr/>
          <p:nvPr/>
        </p:nvSpPr>
        <p:spPr>
          <a:xfrm>
            <a:off x="4937760" y="362788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212080" y="3360420"/>
            <a:ext cx="3474720" cy="6629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pyperclip.copy()/paste() are the same model, in Python</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Larry Tesler, with Tim Mott, Xerox PARC</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Xerox PARC, Palo Alto, California</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1973</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pyperclip's two calls are a fifty-year-old idea in Python.</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25</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six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for each part of the route</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A literal is quoted text; an escape or a raw string decides what a backslash means inside it.</a:t>
            </a:r>
            <a:endParaRPr lang="en-US" sz="115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A position or a slice reads part of a string; in tests for a substring; nothing ever edits one in place.</a:t>
            </a:r>
            <a:endParaRPr lang="en-US" sz="115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f-strings evaluate {expr} and substitute it; concatenation, %-style and .format() still work too.</a:t>
            </a:r>
            <a:endParaRPr lang="en-US" sz="115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upper()/lower() build new strings, is-methods only test, and casefold() is for comparing text.</a:t>
            </a:r>
            <a:endParaRPr lang="en-US" sz="115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join() glues a list; split(), splitlines() and partition() cut a string apart in different ways.</a:t>
            </a:r>
            <a:endParaRPr lang="en-US" sz="115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ord()/chr() read a code point; utf-8 encodes it to bytes; pyperclip's copy()/paste() reach the clipboard.</a:t>
            </a:r>
            <a:endParaRPr lang="en-US" sz="11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slides hold the example.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25</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Automate the Boring Stuff with Python, 3rd edition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automatetheboringstuff.com/3e/chapter8.html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3. An Informal Introduction to Python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docs.python.org/3/tutorial/introduction.html</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7. Input and Output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docs.python.org/3/tutorial/inputoutput.html</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Proposals</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PEP 498 – Literal String Interpolation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peps.python.org/pep-0498/</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PEP 701 – Syntactic formalization of f-strings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peps.python.org/pep-0701/</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PEP 750 – Template Strings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peps.python.org/pep-0750/</a:t>
            </a:r>
            <a:endParaRPr lang="en-US" sz="950" dirty="0"/>
          </a:p>
        </p:txBody>
      </p:sp>
      <p:sp>
        <p:nvSpPr>
          <p:cNvPr id="20" name="Shape 18"/>
          <p:cNvSpPr/>
          <p:nvPr/>
        </p:nvSpPr>
        <p:spPr>
          <a:xfrm>
            <a:off x="493776" y="3950208"/>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877056"/>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PEP 686 – Make UTF-8 mode default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peps.python.org/pep-0686/</a:t>
            </a:r>
            <a:endParaRPr lang="en-US" sz="950" dirty="0"/>
          </a:p>
        </p:txBody>
      </p:sp>
      <p:sp>
        <p:nvSpPr>
          <p:cNvPr id="22" name="Text 20"/>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 and tools</a:t>
            </a:r>
            <a:endParaRPr lang="en-US" sz="1200" dirty="0"/>
          </a:p>
        </p:txBody>
      </p:sp>
      <p:sp>
        <p:nvSpPr>
          <p:cNvPr id="23" name="Shape 21"/>
          <p:cNvSpPr/>
          <p:nvPr/>
        </p:nvSpPr>
        <p:spPr>
          <a:xfrm>
            <a:off x="4768596" y="162763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Rob Pike, UTF-8 history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doc.cat-v.org/bell_labs/utf-8_history</a:t>
            </a:r>
            <a:endParaRPr lang="en-US" sz="950" dirty="0"/>
          </a:p>
        </p:txBody>
      </p:sp>
      <p:sp>
        <p:nvSpPr>
          <p:cNvPr id="25" name="Shape 23"/>
          <p:cNvSpPr/>
          <p:nvPr/>
        </p:nvSpPr>
        <p:spPr>
          <a:xfrm>
            <a:off x="4768596" y="1956816"/>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Unicode Inc., first press release, 1991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unicode.org/history/first-pr.htm</a:t>
            </a:r>
            <a:endParaRPr lang="en-US" sz="950" dirty="0"/>
          </a:p>
        </p:txBody>
      </p:sp>
      <p:sp>
        <p:nvSpPr>
          <p:cNvPr id="27" name="Shape 25"/>
          <p:cNvSpPr/>
          <p:nvPr/>
        </p:nvSpPr>
        <p:spPr>
          <a:xfrm>
            <a:off x="4768596" y="2286000"/>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Larry Tesler, Wikipedia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en.wikipedia.org/wiki/Larry_Tesler</a:t>
            </a:r>
            <a:endParaRPr lang="en-US" sz="950" dirty="0"/>
          </a:p>
        </p:txBody>
      </p:sp>
      <p:sp>
        <p:nvSpPr>
          <p:cNvPr id="29" name="Shape 27"/>
          <p:cNvSpPr/>
          <p:nvPr/>
        </p:nvSpPr>
        <p:spPr>
          <a:xfrm>
            <a:off x="4768596" y="2615184"/>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254203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Python Tutor  </a:t>
            </a:r>
            <a:r>
              <a:rPr lang="en-US" sz="95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pythontutor.com/</a:t>
            </a:r>
            <a:endParaRPr lang="en-US" sz="9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and documentation links, each opened on the day this deck was built.</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25</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string method either returns a new string or tests and returns a Boolean; it never edits in place.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An f-string evaluates {expr}; a format specifier after the colon controls how it is shown.</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split(), splitlines() and partition() each cut a string apart in a different, specific way.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ord()/chr() read a code point, utf-8 encodes it to bytes, and pyperclip reaches the real clipboard.</a:t>
            </a:r>
            <a:endParaRPr lang="en-US" sz="1500" dirty="0"/>
          </a:p>
        </p:txBody>
      </p:sp>
      <p:sp>
        <p:nvSpPr>
          <p:cNvPr id="7" name="Shape 5"/>
          <p:cNvSpPr/>
          <p:nvPr/>
        </p:nvSpPr>
        <p:spPr>
          <a:xfrm>
            <a:off x="548640" y="3749040"/>
            <a:ext cx="2981401"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2981401"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77 console rows run</a:t>
            </a:r>
            <a:endParaRPr lang="en-US" sz="1300" dirty="0"/>
          </a:p>
        </p:txBody>
      </p:sp>
      <p:sp>
        <p:nvSpPr>
          <p:cNvPr id="9" name="Shape 7"/>
          <p:cNvSpPr/>
          <p:nvPr/>
        </p:nvSpPr>
        <p:spPr>
          <a:xfrm>
            <a:off x="3731209" y="3749040"/>
            <a:ext cx="2297887"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3731209"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3 programs run</a:t>
            </a:r>
            <a:endParaRPr lang="en-US" sz="1300" dirty="0"/>
          </a:p>
        </p:txBody>
      </p:sp>
      <p:sp>
        <p:nvSpPr>
          <p:cNvPr id="11" name="Shape 9"/>
          <p:cNvSpPr/>
          <p:nvPr/>
        </p:nvSpPr>
        <p:spPr>
          <a:xfrm>
            <a:off x="6230264" y="3749040"/>
            <a:ext cx="2297887"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6230264"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4 true stories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one example you could not predict.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8 - Manipulating Strings</dc:title>
  <dc:subject>PptxGenJS Presentation</dc:subject>
  <dc:creator>Yusuf Altunel</dc:creator>
  <cp:lastModifiedBy>Yusuf Altunel</cp:lastModifiedBy>
  <cp:revision>1</cp:revision>
  <dcterms:created xsi:type="dcterms:W3CDTF">2026-10-11T15:18:39Z</dcterms:created>
  <dcterms:modified xsi:type="dcterms:W3CDTF">2026-10-11T15:18:39Z</dcterms:modified>
  <cp:version>1.0.0</cp:version>
</cp:coreProperties>
</file>