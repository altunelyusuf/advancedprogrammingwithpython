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Pause after failed try 1 to 8, seconds (stand-in run)</a:t>
            </a:r>
          </a:p>
        </c:rich>
      </c:tx>
      <c:layout/>
      <c:overlay val="0"/>
    </c:title>
    <c:autoTitleDeleted val="0"/>
    <c:plotArea>
      <c:layout/>
      <c:barChart>
        <c:barDir val="col"/>
        <c:grouping val="clustered"/>
        <c:varyColors val="0"/>
        <c:ser>
          <c:idx val="0"/>
          <c:order val="0"/>
          <c:tx>
            <c:strRef>
              <c:f>Sheet1!$B$1</c:f>
              <c:strCache>
                <c:ptCount val="1"/>
                <c:pt idx="0">
                  <c:v>Pause</c:v>
                </c:pt>
              </c:strCache>
            </c:strRef>
          </c:tx>
          <c:spPr>
            <a:solidFill>
              <a:srgbClr val="D97A14"/>
            </a:solidFill>
            <a:effectLst/>
          </c:spPr>
          <c:invertIfNegative val="0"/>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cat>
            <c:multiLvlStrRef>
              <c:f>Sheet1!$A$2:$A$9</c:f>
              <c:multiLvlStrCache>
                <c:ptCount val="8"/>
                <c:lvl>
                  <c:pt idx="0">
                    <c:v>1</c:v>
                  </c:pt>
                  <c:pt idx="1">
                    <c:v>2</c:v>
                  </c:pt>
                  <c:pt idx="2">
                    <c:v>3</c:v>
                  </c:pt>
                  <c:pt idx="3">
                    <c:v>4</c:v>
                  </c:pt>
                  <c:pt idx="4">
                    <c:v>5</c:v>
                  </c:pt>
                  <c:pt idx="5">
                    <c:v>6</c:v>
                  </c:pt>
                  <c:pt idx="6">
                    <c:v>7</c:v>
                  </c:pt>
                  <c:pt idx="7">
                    <c:v>8</c:v>
                  </c:pt>
                </c:lvl>
              </c:multiLvlStrCache>
            </c:multiLvlStrRef>
          </c:cat>
          <c:val>
            <c:numRef>
              <c:f>Sheet1!$B$2:$B$9</c:f>
              <c:numCache>
                <c:formatCode>General</c:formatCode>
                <c:ptCount val="8"/>
                <c:pt idx="0">
                  <c:v>10</c:v>
                </c:pt>
                <c:pt idx="1">
                  <c:v>15</c:v>
                </c:pt>
                <c:pt idx="2">
                  <c:v>20</c:v>
                </c:pt>
                <c:pt idx="3">
                  <c:v>25</c:v>
                </c:pt>
                <c:pt idx="4">
                  <c:v>30</c:v>
                </c:pt>
                <c:pt idx="5">
                  <c:v>35</c:v>
                </c:pt>
                <c:pt idx="6">
                  <c:v>40</c:v>
                </c:pt>
                <c:pt idx="7">
                  <c:v>45</c:v>
                </c:pt>
              </c:numCache>
            </c:numRef>
          </c:val>
        </c:ser>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14 worked on files that a program opens from its own disk. Chapter 15 reaches a spreadsheet that lives on Google's servers, so every read and every write becomes a request sent over the web, and before the first request the program must be allowed in by an account. This deck follows the chapter in its own order: the access to a Google account by a cloud project, a credentials file and token files; spreadsheet objects and sheet objects; rows, columns and cells; the quotas; and Project 11, a spreadsheet that pretends to be a blockchain. It adds what the chapter leaves out and what the research found when each printed output was run again: the token files are Python pickles and so can run code, a token of an app in Testing status stops working after seven days, Spreadsheet.Sheet() returns nothing, and two writers can lose a row. One thing must be said first. Google itself was never reached, because no Google account, no consent in a browser and no cloud project were available. Every spreadsheet output on these slides was made by the real EZSheets library, release 2026.4.28, together with the real Google client library, under Python 3.14.6, talking to a stand-in for Google's answers that was written for the study; or the rows are the CSV export of a real public sheet, read through that same stand-in. Each such slide says so, and what needs a Google account is marked as not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eight parts. It starts with Google and the library, the use cases of EZSheets and the beginning of Google Sheets, then the access to an account, the credentials and token files, the token's life and the danger of a token file that is a pickle, then spreadsheet objects, the addresses and ids and the names of downloads, then sheets, rows, columns and cells and the way a write and a read differ, then requests and quotas, then Project 11, the fake blockchain that is audited and extended, then the lost update of two writers and the three practice programs, ending with a one-map summary and the resources. The ranges name the exact slides, so you can return to the part you need. Two of the slides are true stories and four more are told in the notes; the eight narrative diagrams of the chapter are drawn from the same specifications as the interactive page. Wherever an output comes from a stand-in for Google or a recorded fixture, the slide says so, and what needs a Google account is marked as not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chapter's spine. A Google account, a spreadsheet, a sheet, a row or column and a cell are five different things, and EZSheets gives each its own object or its own call: a credentials file and two token files for the account, a Spreadsheet for a file in Google Sheets, a Sheet for one tab, lists for a row or a column, and a bracket for a cell. What the question adds is that every one of these calls is a request to Google, and the deck shows which request each one sends, read from the requests the library built. The second question is the watch-out of the deck. The chapter's examples are sound in outline, but several printed results do not hold for the library or the services of today: Sheet() returns nothing, the quota figures and the cell limit differ from Google's pages, the one-time setup is weekly for an app in Testing status, and the token files run code when they are loaded. Each slide says where a printed line differs and on what evidence. The chips give the size of the chapter as this deck covers it: six branches, the topics beneath them, the console rows and the programs that were run, the eight diagrams, the Python release, and the reminder that Google itself was never 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EZSheets is the work of one author, Al Sweigart. It was first uploaded to the Python Package Index on 8 February 2019, there are 18 releases, the newest is 2026.4.28, and the licence is GPLv3 or later. Its documentation on Read the Docs is dated November 2019 and names ten of the 35 public names of the installed library; it does not name getRow, the download methods, listSpreadsheets or delete, and the last release differs from the one before it only in its version string, so the research read the library's source and ran it. EZSheets does not speak to Google itself. It depends on google-api-python-client, which builds each request from Google's discovery document, and on google-auth-oauthlib, which runs the consent; the two base addresses it uses were read from the clients it builds, sheets.googleapis.com for version 4 of the Sheets API and www.googleapis.com/drive/v3 for the Drive API, without a network. The use-case diagram lists what a program can do with one Google account: create or upload spreadsheets, list and delete them, download them in six formats, read and write cells, rows and columns, create, move and delete sheets, and copy a sheet into another spreadsheet. A second library, gspread, does the same work and has its own documentation; it was not run. The library's story is short: it reached PyPI in February 2019, and the third edition of the book, published in April 2025 with 672 pages, puts it in chapter 15. Its code is the same under every release of Python 3.14, from 3.14.0 to 3.14.6, and under 3.13 and 3.12, apart from the pickle protocol number of the token files, which is 5 from Python 3.14 and 4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Sheets originated from XL2Web, a web-based spreadsheet application made by 2Web Technologies, a company founded by Jonathan Rochelle and Farzad Khosrowshahi. Google acquired XL2Web in 2006 and turned it into Google Labs Spreadsheets. It was opened as a test for a limited number of users, first come, first served, on June 6, 2006. A beta for all Google Account holders replaced the limited test later. Every spreadsheet the chapter's programs create or read is a descendant of that 2006 test. The account rests on these sources. Wikipedia, 'Google Sheets', History section (XL2Web, 2Web Technologies, acquisition in 2006, launch on June 6, 2006), which cites Jonathan Rochelle, 'It's nice to share', Official Google Blog, June 6, 2006.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own sequence of steps, drawn as a workflow. The reader creates a Google Cloud project, which has a name that can be changed and a project ID that cannot; switches on the Sheets API and the Drive API, because EZSheets uses both; sets up the consent screen and its scopes; and downloads the credentials file into the folder of the script. At the first call the library looks for valid token files, and when there are none it opens the browser on Google's consent page, waits for the redirect, and writes the token files. None of the console steps was executed for this deck, because the console needs a Google account, and that is said here rather than hidden. What could be run without an account was run: the two API clients and their addresses, the scopes the library asks for, which are the whole spreadsheets scope and the whole drive scope, and the authorization address the library builds, which has response_type=code, a PKCE code challenge with the method S256, access_type=offline and the redirect http://localhost:8080/. The console on the right computes the S256 challenge with the standard library from the example verifier of RFC 7636 and gives the challenge the RFC prints, which is what the library's PKCE step does with a random verifier. The console has also changed since the book: the consent-screen wizard of the chapter is now three pages of the Google Auth platform, Branding, Audience and Data Access, so a student has to map each step to the new page, and that mapping was not executed either. A story sits behind the sign-in. OAuth began around November 2006, when Blaine Cook, who was working on the Twitter OpenID implementation, met Chris Messina, David Recordon and Larry Halff at a CitizenSpace OpenID meeting and they concluded that there was no open standard for API access delegation; a Google group followed in April 2007, and the IETF published RFC 6749 in October 2012. Its authorization code and refresh token are what the token files hold, and the idea is that a script never learns your password. This account rests on oauth.net and on the RFC. Sheets API version 3 was turned down on 2 August 2021, so the library can only be using version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calls the token files a one-time setup that will not happen again. Google's identity page says otherwise for an app whose publishing status is Testing and whose user type is External: the refresh token expires in seven days, and the help on the app audience adds a limit of 100 test users and the same seven days. So the diagram follows one token file through four states: no file, a valid file written by the sign-in in the browser, an expired access token that a refresh token renews, and a stale file when Google refuses the refresh after seven days. The research could not make Google refuse a refresh, so that event was not executed against Google. It was played instead against a local server that answered invalid_grant, which is the error RFC 6749 names for a refresh token that is invalid, expired or revoked. The library then raised google.auth.exceptions.RefreshError with the text Token has been expired or revoked, which the import swallows with a bare except and the first Spreadsheet() raises again, and the stale token-sheets.pickle stayed in place. The remedy, deleting the token files and signing in again, follows from the library's code and was not run. Where there is no browser, as on a server, the library raises webbrowser.Error, swallows it at import and raises it again at the first Spreadsheet() without printing an address; with the environment variable BROWSER set to true it printed the authorization address and listened on port 8080. Google's own Python quickstart stores a token.json file and not a pickle.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library writes two token files, token-drive.pickle and token-sheets.pickle, beside the credentials file, and loads them with pickle.load when ezsheets is imported. The chapter's own page has a stray space in one of the names and speaks of two token JSON files although both are pickles. A pickle runs code when it is loaded, because it may name any callable to be called. The program on the left makes a token file whose pickle calls exec on a statement that writes a file called PWNED.txt, then imports ezsheets and looks for the marker: it is there, written during the import, before any call of the library. The marker is harmless on purpose and stands for hostile code. The console on the lower left shows the same idea with the standard library alone: a class whose __reduce__ names eval makes pickle.loads evaluate the expression 6 * 7 and return 42. Python's documentation says the pickle module is not secure and that only data one trusts should be unpickled, and OWASP and MITRE list deserialization of untrusted data as a weakness, CWE-502. The default protocol of the files is the interpreter's, which is 5 from Python 3.14 and 4 before. The practical rule is that a token file from someone else is a program and not data, which is a reason to keep one account for the scripts, as the chapter advises, and never to share the folder. This program does not use Google or the stand-in.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Spreadsheet object stands for one file in Google Sheets. The chapter opens it from a URL, an id or a title, makes a new one with ezsheets.Spreadsheet(), reads its title, id, url, sheetTitles and sheets, and says some of them are read-only. Run against a stand-in for Google, the library's own code did what the chapter says in most places and differed in the places named here. Assigning to the title sent one request, a POST of a batchUpdate. The three names id, url and sheetTitles are properties with no setter, so assigning raises AttributeError with the text property 'id' of 'Spreadsheet' object has no setter in Python 3.14, while sheets is a plain attribute and assigning to it silently replaces the tuple, as the last lines of the transcript show. The sheets are a tuple, so item assignment raises TypeError. The surprise is on the line that prints None. In the library's source Spreadsheet.Sheet() was added in release 2024.8.8 as a wrapper that calls createSheet and returns nothing, so the printed Sheet objects of the chapter cannot come from it in this release; only createSheet() returns the Sheet. The program has 87 lines: the first 72 are the lines every program of this chapter begins with, which define the stand-in for Google, lines 73 to 79 load a one-sheet example spreadsheet into it, copy its sheet into a new spreadsheet, rename that and print the first results, and the last lines try the three setters; the transcript shows every expression that the program printed beside its answer. A story sits near this slide. Google Forms, introduced in 2008 as part of the Google Docs suite, saves its answers into a spreadsheet when the owner chooses a destination for the responses, and that spreadsheet is what the first practice program of the chapter opens with EZSheets; the account rests on Wikipedia and on Google's help page on where form responses are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writes a range in A1 notation, a column letter and a row number, and EZSheets converts between that and the numbers its own calls take. The chapter converts getColumnLetterOf(999) to ALK and getColumnNumberOf('ZZZ') to 18278, and a string address to a tuple and back. The transcript on the right is the library's own pure functions with no spreadsheet and no stand-in: they printed the chapter's answers, a lower-case address worked, convertAddress took a tuple, and a column of 0 or a letter where a number was wanted raised ValueError or TypeError. The console on the left does the same job with the standard library alone, so it can be typed into any Python: the letters of a column are counted in base 26, but with no zero, which is why the lambda subtracts one before it divides and why AA follows Z. The three-letter columns end at ZZZ, which is 26 plus 676 plus 17,576, that is 18,278, the number the library prints. The research checked that the library's two conversions and this arithmetic agree for every number from 1 to 200,000. One more fact belongs with ranges: the library builds each range for a request, Sheet1!B2:B2 for a cell and Sheet1!A3:Z3 for a row, and leaves a sheet title unquoted even when it holds a space, while Google's page says single quotes are required for such a title. Whether Google accepts the unquoted form was not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opens the same spreadsheet by a short link, by its long URL and by its bare id, and shows that the three give objects that compare equal. The library adds a fourth way, a title, which it looks up among all the spreadsheets of the account and which raises an error when two share the title or none does. The id is the part of the address after /spreadsheets/d/ up to the next slash, and getIdFromUrl cuts it by position. The program on the top left calls that function, which needs no account and no stand-in, on the public Sweigart Books sheet's address: the /edit#gid=0 form and the form with a closing slash give the whole id, a URL that ends after the id gives it without its last character, and the /spreadsheets/u/3/d/ form raises ValueError with the text url argument must be an alphanumeric id or a full URL. The short links of the chapter, autbor.com/boringcoin and autbor.com/examplegs, depend on something else: for any address that does not start with https://docs.google.com the library follows redirects itself with http.client over port 80 and sends no User-Agent, and on 12 October 2026 the short-link server answered such requests 302 or 403 by turns, which left the address None and stopped the library with an AttributeError before any Google call. The program below it downloads a spreadsheet titled Sweigart Books (DO NOT DELETE) as an Excel file against the stand-in and prints the name the library chose; the chapter prints Sweigart_Books.xlsx. The six download methods ask Drive for the MIME types of xlsx, ods, csv, tsv, pdf and zip, and none of them closes the file it opens. What Google sends back, so whether a CSV holds only the first sheet, was not observed.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reads a row or a column as a list, changes the list and writes it back, and does the same for all rows at once with getRows and updateRows. The transcript on the left is the whole run on a ten-row stand-in of produceSales3.xlsx that has the same columns as the book's file: getRow(1) and getRow(2) are the header and the first record, getColumn('A') equals getColumn(1), updateRow(3, vals) replaces a record, and the loop that upper-cases a column and writes it back with updateColumn is the excerpt on the right. The number printed before the word COLUMNS is the number of requests that write made, one, and COLUMNS is the majorDimension of that request. Two behaviours are not in the chapter. The update calls pad the list they are given with empty strings in place, and updateRows also extends the caller's list of rows to the size of the sheet, so the caller's list is changed. And the lists are as wide and as tall as the grid of the sheet, which for the real produce sheet is 23,758 rows by 6 columns, 142,548 cells; clear() on such a sheet sent 617,746 bytes. The real produceSales3.xlsx has four columns, where the chapter prints rows of six after the upload to Google, and that upload was not executed, so the six cannot be checked. Indexes start at 1, and a row or column of 0 raises IndexError.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makes sheets, prints a Sheet object for each, moves them with index, deletes them and clears one, then copies a sheet into another spreadsheet and sees the copy named Copy of the title. On the stand-in the tab order after each change was the chapter's: a sheet made at index 0 comes first, moving index 0 to index 2 puts it third, and moving it back restores the order. The excerpt on the right is the part the chapter does not show: an index of 9 or -9 raises IndexError with the allowed range in the message, a string raises TypeError, and index = -1 moves the sheet to the end. The research also ran the deletions: deleting by index or by title works, a spreadsheet's last sheet cannot be deleted and the library raises ValueError with the text Cannot delete all sheets, spreadsheets must have at least one sheet, clear() keeps the sheet and writes an empty string to every cell, and copyTo names the copy Copy of the title and returns nothing. These were run in the research study against the same kind of stand-in and are told here from its record. Two sheets compare equal when their sheetId is equal, which is 0 for the first sheet of every new spreadsheet, so two different spreadsheets' first sheets are equal; and the in operator searches the text of the coordinates, so 'Alice' in sheet is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diagram is the chapter's account of one cell. Assigning to sheet['B2'] makes the Sheet object send one write request to Google; reading the cell afterwards returns what the library holds locally, with no request; and refresh() reads the spreadsheet again. Two things differ from the chapter and one cannot be checked. The chapter prints the string '30' after the write. The library's local copy has changed between releases: under 2024.8.9 the same session printed '30', and under 2025.11.11 and 2026.4.28 it printed the integer 30 until the sheet was refreshed, when it became the string '30'; that comparison is the research's own record of one cell session under three releases of ezsheets on Python 3.14.6, and the next slide shows the newest release again. The request itself carries valueInputOption USER_ENTERED, which Google documents as parsing the value as if a person had typed it into the cell, while RAW would store it as given, and a read returns the formatted value unless told otherwise. So text written by a program may become a number, a date or a formula in Google. The stand-in keeps text and does not parse a value, so that effect was not executed; what was executed is the request the library sends and the request that RAW would send through the library's client. The chapter's own Figure 15-2 has the cell A1 as AI in its alt text, a typo of the book and not of the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every call goes over the web, the number of requests is the cost of a program. The program on top writes the integer 30 to B2 of the stand-in's produce sheet and prints what the library holds, which is the integer 30; then it prints the request the library sent, a PUT to the range Sheet1!B2:B2 with valueInputOption=USER_ENTERED and a body whose majorDimension is ROWS and whose values are [[30]]; then it refreshes the sheet and prints the string '30'. The transcript below it is the library counting its own requests: a hundred cell writes were a hundred PUT requests, a hundred reads of a cell and a hundred of a row made none, because they are served from the local copy, changing rowCount made three requests, a read of the properties, a read of the values and a batchUpdate, a title change made one, a refresh of a one-sheet spreadsheet made two reads, and updateColumn for a hundred cells made one PUT. The consequence is Project 11, Step 2: one new row costs six requests, three for the size change and three for the three cells, where Google's values guide describes an append call that the library does not use. Google counts every request, a batch as one, and recommends batching and a payload of at most 2 MB, so updateRows or updateColumn is the way to write many cells, and writing them one at a time is the way to meet the quota of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ends on quotas. It says the library catches the quota exception and retries, so calls may take several seconds, and that the flag ezsheets.IGNORE_QUOTA exists. The workflow is what the library's code does with one request: it sleeps while too many writes are in a burst, sends the request, and if Google answers RESOURCE_EXHAUSTED asks whether its tries are used up; if they are not it pauses and sends again, and if they are it raises the exception to the program. The program on the right makes the stand-in answer 429 RESOURCE_EXHAUSTED twenty times, with the clock faked so that nothing really waits, and prints, for each of the flag set to False and True, the kind of exception, the number of requests made and the pauses: HttpError, nine requests and pauses of 10, 15, 20, 25, 30, 35, 40 and 45 seconds, the same with the flag on. That is 220 seconds in all and not the minute or two of the chapter. The third line shows another error, a 403 PERMISSION_DENIED, raised at once after one request with no pause. The flag IGNORE_QUOTA switches off only the library's own throttle of 90 writes or reads in 101 seconds, and the comment in the library that speaks of 50 requests per 100 seconds is out of date. Google's own answer to an exceeded quota was not observed.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says a user may create 250 new spreadsheets a day, that free accounts can make a few hundred requests a minute, and that a spreadsheet can have up to 10 million cells. Google's pages, read on 12 October 2026, say something different. The Sheets usage-limits page, updated on 3 September 2026, gives 300 read and 300 write requests a minute per project and 60 of each per user per project, has no daily limit beside the per-minute quotas and no figure for new spreadsheets, answers excess with 429, advises truncated exponential backoff, recommends a payload of at most 2 MB, and says that exceeding the quotas is planned to incur charges later in 2026. The Drive limits changed on 1 May 2026 to a system of quota units. Google's Drive Help gives the limit of a Google Sheets spreadsheet as up to 20 million cells or 100 MB, where the chapter says 10 million. These figures were read from the pages and none of them was executed: Google's answer to an exceeded quota was never observed, and filling a sheet to the limit was not tried. What was executed is the library's side, drawn as the chart: the library pauses 10 seconds after the first failed try and 5 seconds longer after each one up to 45, which the console sums to 220 seconds over nine tries. The chart's values are the pauses the stand-in run printed on the previous slide, and the deck check computes the same list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Friday, October 31, 2008, at 14:10 Eastern time, a message from Satoshi Nakamoto reached the cryptography mailing list. It said he had been working on a new electronic cash system that was fully peer-to-peer, with no trusted third party, and gave the address of the paper, bitcoin.pdf. The message listed the main properties: double-spending is prevented with a peer-to-peer network, there is no mint, and new coins are made from Hashcash style proof-of-work. The chapter's Boringcoin is a spreadsheet pretending to be such a ledger, and its audit adds up the balances that the message says a network must keep honest. The account rests on these sources. Satoshi Nakamoto, 'Bitcoin P2P e-cash paper', cryptography mailing list, Fri Oct 31 14:10:00 EDT 2008, metzdowd.com/pipermail/cryptography/2008-October/014810.html; the paper itself, bitcoin.org/bitcoin.pdf. The public Boringcoin sheet that Project 11 reads is the author's; its CSV export of 12 October 2026 had 1,001 rows and was byte-identical to the export committed on 1 October 2026 in the course repository, which is the recorded fixture of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11 uses a public Google Sheet as a fake blockchain of a made-up currency, Boringcoin. Step 1 audits the ledger: the program opens the sheet and gets all its rows, then loops, reading the sender, the recipient and the amount of each row. When the sender is PRE-MINE the amount is added to the recipient from nothing, and otherwise it is taken from the sender and added to the recipient. When no rows are left the program prints the dictionary of balances and adds up their total, which must equal the pre-mined billion. The diagram is the workflow with its two choices, the sender and the loop. One weakness is not in the chapter. The loop runs over every row that getRows returns, and getRows returns every row of the grid, so on a sheet with a trailing blank row int('') raises ValueError at the first empty row; the research ran that case on a copy of the export with a blank row appended. Run on the real sheet's export, the audit printed the chapter's twenty balances and the total 1,000,000,000, and the shipped auditBoringcoin.py ran unchanged and printed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on the left is the chapter's Step 1 loop and total, run on the CSV export of the real Boringcoin sheet, 1,001 rows, committed on 1 October 2026 and read through the stand-in for Google; Google itself was not reached. The chapter's program prints the whole dictionary of 20 balances on one line of more than 400 characters, which cannot be shown unwrapped on a slide, so this copy of the program prints the number of accounts and the first three instead; the corpus original was run too and printed the chapter's twenty balances, beginning Al Sweigart with 999,058,553, and the same total. The table is computed from the same CSV by the same loop: the first six accounts, the sum of the other fourteen, and the total of 1,000,000,000, so that the balances add up to the pre-mined billion, which is what an audit is for. The transcript's last line gives the size of the ledger: 1,001 rows, 20 accounts and one pre-mine row. The same data can be audited in a loop of a few lines and forged in one, which is the lesson of the previous slide's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adds one transaction to the ledger from the command line. The program gets the sender, the recipient and the amount from sys.argv, ends with a line of usage when there are fewer than three arguments, opens the sheet, adds one to rowCount and writes the three values into the new row. The chapter's arguments are set in the program's second line instead of on a command line. Run on the export of the real sheet, the row count went from 1,001 to 1,002 and the new row held Al Sweigart, Eve and 2000. This copy of the program clears the request log before the size change and prints how many requests the change and the three writes made: six, two reads and a POST for rowCount and three PUTs for the cells, so the cost of one transaction is six requests; the corpus original prints the same requests as a list of method and range, a line too long for a slide. The amount is written as the string '2000', and whether Google turns it into a number depends on USER_ENTERED, which was not executed. An unquoted name makes sys.argv[1:] four items and raises ValueError with the text too many values to unpack, expected 3, got 4. The new row number is computed from a local rowCount, which is what makes the next slide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transaction program of the last slide computes the new row number from rowCount, which is a number the Sheet object keeps locally. Two programs that append at the same time therefore both read 1001, both make it 1002 and both write row 1002, and the second overwrites the first with no error. The program on the left runs that deterministically with two Spreadsheet objects on the stand-in's copy of the Boringcoin export: the first writes to row 1002, the second writes to row 1002, and after a refresh the sheet has 1,002 rows and row 1002 holds second. The stand-in is not Google, so what this shows is the library's logic, which is the whole cause: the row number is computed locally and the write names its cell. The remedy the research names is to guard the append, for example by an append call of Google's API, which the values guide describes and the library does not use, or by reading the sheet again before the write. The same lost update can happen with any program that reads a number, adds one and writes it back, which is the lesson of this slide for any shared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closes with three practice programs. The bean count check reads a public sheet of bean counts, 15,001 rows read from its CSV export through the stand-in, and compares the third column with the product of the first two; it found one wrong total, at row 14,399, where 804 times 623 is 500,892 and the sheet says 500,891. The loop made no request, because the rows were already loaded. The format converter uploads a file and downloads it in another format: against the stand-in the library sent a multipart/related request carrying the file's base name with its extension and then asked Drive for the xlsx MIME type, and only xlsx, ods, csv and tsv are accepted for upload; the title that Google gives the new spreadsheet, and whether the converted file keeps formulas and formats, were not executed. The forms program reads the email column of a response sheet; it was run on synthetic rows, laid out with a Timestamp column first as the form tool is usually seen to do, which Google's help page does not state, so it shows the library and not Google Forms. Google Forms was first introduced in 2008 as part of the Google Docs suite and lets the owner choose a new or an existing spreadsheet as the destination of the responses; that account rests on Wikipedia and Google's help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branches are the route of the deck. Access to a Google account comes first: a Cloud project, the two APIs and a consent screen, a credentials file and two token files, and a first sign-in that opens a browser. Spreadsheet objects follow: a spreadsheet is opened by URL, id or title, uploaded and downloaded in six formats, and deleting sends it to the Trash. Sheet objects are the largest branch: a cell is got by address or by column and row, rows and columns are read and written as lists, and sheets are created, moved, deleted and copied. Requests and quotas follow: every write is one request, Google limits the requests per minute, and the library throttles and retries. The Boringcoin project puts the pieces together, an audit that adds up balances, a program that adds a row, and practice programs that read forms and check totals. The last branch is the library and Google's clients: EZSheets is built on the Google client libraries, its documentation is dated November 2019, and the same program runs under every 3.14 release. Together they answer the first question of the chapter, which object stands for which part of the account and which request each call sends, and the slides that say where a printed line differs answer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and the build records the status each answered. The textbook chapter is free to read online and holds every listing of the chapter, the EZSheets documentation is the page the chapter points to and is dated November 2019, and the PyPI page lists the releases. The reference links are Google's own pages for the limits, the values calls and the value input options that the deck cited as read and not executed, Python's warning about pickle, and the RFC whose example the PKCE console used. The history links are the sources behind the six stories of the chapter. Two of them are slides, the beginning of Google Sheets as XL2Web and Nakamoto's message; the other four were told in the notes: OAuth on the set-up slide, the turn-down of the Sheets API version 3 on the slide of spreadsheet objects, Google Forms on the slide of the practice programs, and the release of EZSheets on the first slide of the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or by a statement marked as not executed. If you can say them in your own words and run the examples yourself, you have the chapter; the console rows that use only the standard library can be typed into any Python, including one in a browser, and the programs need ezsheets and Google's client library installed. Nothing on these slides was answered by Google, and a deck about a web service should say so. The next chapter of the book works with SQLite databases, where a program reaches data through a file instead of a web service, and what this chapter taught about requests, rows and the cost of writing one cell at a time carries over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en.wikipedia.org/wiki/Google_Sheets"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www.metzdowd.com/pipermail/cryptography/2008-October/014810.html"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15.html" TargetMode="External"/><Relationship Id="rId2" Type="http://schemas.openxmlformats.org/officeDocument/2006/relationships/hyperlink" Target="https://ezsheets.readthedocs.io/en/latest/" TargetMode="External"/><Relationship Id="rId3" Type="http://schemas.openxmlformats.org/officeDocument/2006/relationships/hyperlink" Target="https://pypi.org/project/ezsheets/" TargetMode="External"/><Relationship Id="rId4" Type="http://schemas.openxmlformats.org/officeDocument/2006/relationships/hyperlink" Target="https://docs.python.org/3.14/library/pickle.html" TargetMode="External"/><Relationship Id="rId5" Type="http://schemas.openxmlformats.org/officeDocument/2006/relationships/hyperlink" Target="https://developers.google.com/workspace/sheets/api/limits" TargetMode="External"/><Relationship Id="rId6" Type="http://schemas.openxmlformats.org/officeDocument/2006/relationships/hyperlink" Target="https://developers.google.com/workspace/sheets/api/guides/values" TargetMode="External"/><Relationship Id="rId7" Type="http://schemas.openxmlformats.org/officeDocument/2006/relationships/hyperlink" Target="https://developers.google.com/workspace/sheets/api/reference/rest/v4/ValueInputOption" TargetMode="External"/><Relationship Id="rId8" Type="http://schemas.openxmlformats.org/officeDocument/2006/relationships/hyperlink" Target="https://www.rfc-editor.org/rfc/rfc7636.txt" TargetMode="External"/><Relationship Id="rId9" Type="http://schemas.openxmlformats.org/officeDocument/2006/relationships/hyperlink" Target="https://en.wikipedia.org/wiki/Google_Sheets" TargetMode="External"/><Relationship Id="rId10" Type="http://schemas.openxmlformats.org/officeDocument/2006/relationships/hyperlink" Target="https://www.metzdowd.com/pipermail/cryptography/2008-October/014810.html" TargetMode="External"/><Relationship Id="rId11" Type="http://schemas.openxmlformats.org/officeDocument/2006/relationships/hyperlink" Target="https://oauth.net/about/introduction/" TargetMode="External"/><Relationship Id="rId12" Type="http://schemas.openxmlformats.org/officeDocument/2006/relationships/hyperlink" Target="https://developers.google.com/workspace/sheets/api/guides/migration" TargetMode="External"/><Relationship Id="rId13" Type="http://schemas.openxmlformats.org/officeDocument/2006/relationships/hyperlink" Target="https://en.wikipedia.org/wiki/Google_Forms" TargetMode="External"/><Relationship Id="rId14" Type="http://schemas.openxmlformats.org/officeDocument/2006/relationships/slideLayout" Target="../slideLayouts/slideLayout1.xml"/><Relationship Id="rId1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15: Google Sheets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a program reads and writes a Google spreadsheet: EZSheets, sign-in, sheets and cells, quotas and Project 11</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4572000" y="777240"/>
            <a:ext cx="4114800" cy="859536"/>
          </a:xfrm>
          <a:prstGeom prst="roundRect">
            <a:avLst>
              <a:gd name="adj" fmla="val 10638"/>
            </a:avLst>
          </a:prstGeom>
          <a:solidFill>
            <a:srgbClr val="23272E"/>
          </a:solidFill>
          <a:ln w="12700">
            <a:solidFill>
              <a:srgbClr val="23272E"/>
            </a:solidFill>
            <a:prstDash val="solid"/>
          </a:ln>
        </p:spPr>
      </p:sp>
      <p:sp>
        <p:nvSpPr>
          <p:cNvPr id="12" name="Text 10"/>
          <p:cNvSpPr txBox="1"/>
          <p:nvPr/>
        </p:nvSpPr>
        <p:spPr>
          <a:xfrm>
            <a:off x="4754880" y="896112"/>
            <a:ext cx="3749040" cy="621792"/>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import platform</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platform.python_version()</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'3.14.6'</a:t>
            </a:r>
            <a:endParaRPr lang="en-US" sz="1050" dirty="0"/>
          </a:p>
        </p:txBody>
      </p:sp>
      <p:sp>
        <p:nvSpPr>
          <p:cNvPr id="13" name="Text 11"/>
          <p:cNvSpPr txBox="1"/>
          <p:nvPr/>
        </p:nvSpPr>
        <p:spPr>
          <a:xfrm>
            <a:off x="4572000" y="1655064"/>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Text 12"/>
          <p:cNvSpPr txBox="1"/>
          <p:nvPr/>
        </p:nvSpPr>
        <p:spPr>
          <a:xfrm>
            <a:off x="548640" y="3520440"/>
            <a:ext cx="8046720" cy="374904"/>
          </a:xfrm>
          <a:prstGeom prst="rect">
            <a:avLst/>
          </a:prstGeom>
          <a:noFill/>
          <a:ln/>
        </p:spPr>
        <p:txBody>
          <a:bodyPr wrap="square" lIns="0" tIns="0" rIns="0" bIns="0" rtlCol="0" anchor="t"/>
          <a:lstStyle/>
          <a:p>
            <a:pPr indent="0" marL="0">
              <a:buNone/>
            </a:pPr>
            <a:r>
              <a:rPr lang="en-US" sz="1100" i="1" dirty="0">
                <a:solidFill>
                  <a:srgbClr val="6E655C"/>
                </a:solidFill>
                <a:latin typeface="Calibri" pitchFamily="34" charset="0"/>
                <a:ea typeface="Calibri" pitchFamily="34" charset="-122"/>
                <a:cs typeface="Calibri" pitchFamily="34" charset="-120"/>
              </a:rPr>
              <a:t>Google was never reached for this deck: every output is from a stand-in for Google or from a recorded fixture, and each slide says which.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 parts; every range is a run of slides you can jump to</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5193792" cy="369189"/>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Google and the library (slides 4-5)</a:t>
            </a:r>
            <a:endParaRPr lang="en-US" sz="1100" dirty="0"/>
          </a:p>
        </p:txBody>
      </p:sp>
      <p:sp>
        <p:nvSpPr>
          <p:cNvPr id="9" name="Shape 7"/>
          <p:cNvSpPr/>
          <p:nvPr/>
        </p:nvSpPr>
        <p:spPr>
          <a:xfrm>
            <a:off x="457200" y="1722501"/>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2250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685925"/>
            <a:ext cx="5193792" cy="369189"/>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Access: credentials and tokens (slides 6-8)</a:t>
            </a:r>
            <a:endParaRPr lang="en-US" sz="1100" dirty="0"/>
          </a:p>
        </p:txBody>
      </p:sp>
      <p:sp>
        <p:nvSpPr>
          <p:cNvPr id="12" name="Shape 10"/>
          <p:cNvSpPr/>
          <p:nvPr/>
        </p:nvSpPr>
        <p:spPr>
          <a:xfrm>
            <a:off x="457200" y="212826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12826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091690"/>
            <a:ext cx="5193792" cy="369189"/>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Spreadsheets (slides 9-11)</a:t>
            </a:r>
            <a:endParaRPr lang="en-US" sz="1100" dirty="0"/>
          </a:p>
        </p:txBody>
      </p:sp>
      <p:sp>
        <p:nvSpPr>
          <p:cNvPr id="15" name="Shape 13"/>
          <p:cNvSpPr/>
          <p:nvPr/>
        </p:nvSpPr>
        <p:spPr>
          <a:xfrm>
            <a:off x="457200" y="2534031"/>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53403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497455"/>
            <a:ext cx="5193792" cy="369189"/>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Sheets, rows, columns and cells (slides 12-14)</a:t>
            </a:r>
            <a:endParaRPr lang="en-US" sz="1100" dirty="0"/>
          </a:p>
        </p:txBody>
      </p:sp>
      <p:sp>
        <p:nvSpPr>
          <p:cNvPr id="18" name="Shape 16"/>
          <p:cNvSpPr/>
          <p:nvPr/>
        </p:nvSpPr>
        <p:spPr>
          <a:xfrm>
            <a:off x="457200" y="293979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2903220"/>
            <a:ext cx="5193792" cy="369189"/>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Requests and quotas (slides 15-17)</a:t>
            </a:r>
            <a:endParaRPr lang="en-US" sz="1100" dirty="0"/>
          </a:p>
        </p:txBody>
      </p:sp>
      <p:sp>
        <p:nvSpPr>
          <p:cNvPr id="21" name="Shape 19"/>
          <p:cNvSpPr/>
          <p:nvPr/>
        </p:nvSpPr>
        <p:spPr>
          <a:xfrm>
            <a:off x="457200" y="3345561"/>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34556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308985"/>
            <a:ext cx="5193792" cy="369189"/>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Project 11: Boringcoin (slides 18-21)</a:t>
            </a:r>
            <a:endParaRPr lang="en-US" sz="1100" dirty="0"/>
          </a:p>
        </p:txBody>
      </p:sp>
      <p:sp>
        <p:nvSpPr>
          <p:cNvPr id="24" name="Shape 22"/>
          <p:cNvSpPr/>
          <p:nvPr/>
        </p:nvSpPr>
        <p:spPr>
          <a:xfrm>
            <a:off x="457200" y="375132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375132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3714750"/>
            <a:ext cx="5193792" cy="369189"/>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Two writers and practice programs (slides 22-23)</a:t>
            </a:r>
            <a:endParaRPr lang="en-US" sz="1100" dirty="0"/>
          </a:p>
        </p:txBody>
      </p:sp>
      <p:sp>
        <p:nvSpPr>
          <p:cNvPr id="27" name="Shape 25"/>
          <p:cNvSpPr/>
          <p:nvPr/>
        </p:nvSpPr>
        <p:spPr>
          <a:xfrm>
            <a:off x="457200" y="4157091"/>
            <a:ext cx="402336" cy="402336"/>
          </a:xfrm>
          <a:prstGeom prst="ellipse">
            <a:avLst/>
          </a:prstGeom>
          <a:solidFill>
            <a:srgbClr val="D97A14"/>
          </a:solidFill>
          <a:ln w="12700">
            <a:solidFill>
              <a:srgbClr val="D97A14"/>
            </a:solidFill>
            <a:prstDash val="solid"/>
          </a:ln>
        </p:spPr>
      </p:sp>
      <p:sp>
        <p:nvSpPr>
          <p:cNvPr id="28" name="Text 26"/>
          <p:cNvSpPr txBox="1"/>
          <p:nvPr/>
        </p:nvSpPr>
        <p:spPr>
          <a:xfrm>
            <a:off x="457200" y="415709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29" name="Text 27"/>
          <p:cNvSpPr txBox="1"/>
          <p:nvPr/>
        </p:nvSpPr>
        <p:spPr>
          <a:xfrm>
            <a:off x="1024128" y="4120515"/>
            <a:ext cx="5193792" cy="369189"/>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Summary and resources (slides 24-25)</a:t>
            </a:r>
            <a:endParaRPr lang="en-US" sz="1100" dirty="0"/>
          </a:p>
        </p:txBody>
      </p:sp>
      <p:sp>
        <p:nvSpPr>
          <p:cNvPr id="30" name="Shape 28"/>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32" name="Text 30"/>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33" name="Shape 31"/>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34" name="Text 32"/>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 + 4</a:t>
            </a:r>
            <a:endParaRPr lang="en-US" sz="2600" dirty="0"/>
          </a:p>
        </p:txBody>
      </p:sp>
      <p:sp>
        <p:nvSpPr>
          <p:cNvPr id="35" name="Text 33"/>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2 on slides, 4 in the notes</a:t>
            </a:r>
            <a:endParaRPr lang="en-US" sz="1100" dirty="0"/>
          </a:p>
        </p:txBody>
      </p:sp>
      <p:sp>
        <p:nvSpPr>
          <p:cNvPr id="36" name="Shape 34"/>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7" name="Text 35"/>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24</a:t>
            </a:r>
            <a:endParaRPr lang="en-US" sz="2600" dirty="0"/>
          </a:p>
        </p:txBody>
      </p:sp>
      <p:sp>
        <p:nvSpPr>
          <p:cNvPr id="38" name="Text 36"/>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parts, from a Google account to a ledger.</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object of EZSheets stands for which part of a Google account - the project and its tokens, a spreadsheet, a sheet, a row or column, a cell - and which request does each call of the library send to Google?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programs, numbers and statements of the chapter differ in current Python, in the current library, in Google's pages or in the files the book ships, and on what source?</a:t>
            </a:r>
            <a:endParaRPr lang="en-US" sz="1300" dirty="0"/>
          </a:p>
        </p:txBody>
      </p:sp>
      <p:sp>
        <p:nvSpPr>
          <p:cNvPr id="12" name="Shape 10"/>
          <p:cNvSpPr/>
          <p:nvPr/>
        </p:nvSpPr>
        <p:spPr>
          <a:xfrm>
            <a:off x="457200" y="3474720"/>
            <a:ext cx="1593342"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474720"/>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6 branches</a:t>
            </a:r>
            <a:endParaRPr lang="en-US" sz="1150" dirty="0"/>
          </a:p>
        </p:txBody>
      </p:sp>
      <p:sp>
        <p:nvSpPr>
          <p:cNvPr id="14" name="Shape 12"/>
          <p:cNvSpPr/>
          <p:nvPr/>
        </p:nvSpPr>
        <p:spPr>
          <a:xfrm>
            <a:off x="2251710" y="3474720"/>
            <a:ext cx="1472413"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251710" y="3474720"/>
            <a:ext cx="1472413"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95 topics</a:t>
            </a:r>
            <a:endParaRPr lang="en-US" sz="1150" dirty="0"/>
          </a:p>
        </p:txBody>
      </p:sp>
      <p:sp>
        <p:nvSpPr>
          <p:cNvPr id="16" name="Shape 14"/>
          <p:cNvSpPr/>
          <p:nvPr/>
        </p:nvSpPr>
        <p:spPr>
          <a:xfrm>
            <a:off x="3925291" y="3474720"/>
            <a:ext cx="2197989"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925291" y="3474720"/>
            <a:ext cx="2197989"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21 console rows</a:t>
            </a:r>
            <a:endParaRPr lang="en-US" sz="1150" dirty="0"/>
          </a:p>
        </p:txBody>
      </p:sp>
      <p:sp>
        <p:nvSpPr>
          <p:cNvPr id="18" name="Shape 16"/>
          <p:cNvSpPr/>
          <p:nvPr/>
        </p:nvSpPr>
        <p:spPr>
          <a:xfrm>
            <a:off x="6324448" y="3474720"/>
            <a:ext cx="2197989"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6324448" y="3474720"/>
            <a:ext cx="2197989"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18 programs run</a:t>
            </a:r>
            <a:endParaRPr lang="en-US" sz="1150" dirty="0"/>
          </a:p>
        </p:txBody>
      </p:sp>
      <p:sp>
        <p:nvSpPr>
          <p:cNvPr id="20" name="Shape 18"/>
          <p:cNvSpPr/>
          <p:nvPr/>
        </p:nvSpPr>
        <p:spPr>
          <a:xfrm>
            <a:off x="457200" y="4059936"/>
            <a:ext cx="159334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059936"/>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8 diagrams</a:t>
            </a:r>
            <a:endParaRPr lang="en-US" sz="1150" dirty="0"/>
          </a:p>
        </p:txBody>
      </p:sp>
      <p:sp>
        <p:nvSpPr>
          <p:cNvPr id="22" name="Shape 20"/>
          <p:cNvSpPr/>
          <p:nvPr/>
        </p:nvSpPr>
        <p:spPr>
          <a:xfrm>
            <a:off x="2251710" y="4059936"/>
            <a:ext cx="1956130"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2251710" y="4059936"/>
            <a:ext cx="1956130"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Python 3.14.6</a:t>
            </a:r>
            <a:endParaRPr lang="en-US" sz="1150" dirty="0"/>
          </a:p>
        </p:txBody>
      </p:sp>
      <p:sp>
        <p:nvSpPr>
          <p:cNvPr id="24" name="Shape 22"/>
          <p:cNvSpPr/>
          <p:nvPr/>
        </p:nvSpPr>
        <p:spPr>
          <a:xfrm>
            <a:off x="4409008" y="4059936"/>
            <a:ext cx="2802636" cy="420624"/>
          </a:xfrm>
          <a:prstGeom prst="roundRect">
            <a:avLst>
              <a:gd name="adj" fmla="val 50000"/>
            </a:avLst>
          </a:prstGeom>
          <a:solidFill>
            <a:srgbClr val="F2ECE1"/>
          </a:solidFill>
          <a:ln w="12700">
            <a:solidFill>
              <a:srgbClr val="D97A14"/>
            </a:solidFill>
            <a:prstDash val="solid"/>
          </a:ln>
        </p:spPr>
      </p:sp>
      <p:sp>
        <p:nvSpPr>
          <p:cNvPr id="25" name="Text 23"/>
          <p:cNvSpPr txBox="1"/>
          <p:nvPr/>
        </p:nvSpPr>
        <p:spPr>
          <a:xfrm>
            <a:off x="4409008" y="4059936"/>
            <a:ext cx="2802636"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Google never reached</a:t>
            </a:r>
            <a:endParaRPr lang="en-US" sz="115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Know which request each call sends; then check what the book printed.</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EZSheets and what a program can do with 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one-author library that turns each call into a request to Google's services</a:t>
            </a:r>
            <a:endParaRPr lang="en-US" sz="1300" dirty="0"/>
          </a:p>
        </p:txBody>
      </p:sp>
      <p:sp>
        <p:nvSpPr>
          <p:cNvPr id="6" name="Shape 4"/>
          <p:cNvSpPr/>
          <p:nvPr/>
        </p:nvSpPr>
        <p:spPr>
          <a:xfrm>
            <a:off x="5897880" y="1581912"/>
            <a:ext cx="2834640" cy="2624328"/>
          </a:xfrm>
          <a:prstGeom prst="rect">
            <a:avLst/>
          </a:prstGeom>
          <a:solidFill>
            <a:srgbClr val="FBF8F2"/>
          </a:solidFill>
          <a:ln w="12700">
            <a:solidFill>
              <a:srgbClr val="6E655C"/>
            </a:solidFill>
            <a:prstDash val="solid"/>
          </a:ln>
        </p:spPr>
      </p:sp>
      <p:sp>
        <p:nvSpPr>
          <p:cNvPr id="7" name="Text 5"/>
          <p:cNvSpPr txBox="1"/>
          <p:nvPr/>
        </p:nvSpPr>
        <p:spPr>
          <a:xfrm>
            <a:off x="5971032" y="1344168"/>
            <a:ext cx="2697480" cy="219456"/>
          </a:xfrm>
          <a:prstGeom prst="rect">
            <a:avLst/>
          </a:prstGeom>
          <a:noFill/>
          <a:ln/>
        </p:spPr>
        <p:txBody>
          <a:bodyPr wrap="square" lIns="0" tIns="0" rIns="0" bIns="0" rtlCol="0" anchor="ctr"/>
          <a:lstStyle/>
          <a:p>
            <a:pPr algn="l" indent="0" marL="0">
              <a:buNone/>
            </a:pPr>
            <a:r>
              <a:rPr lang="en-US" sz="850" b="1" dirty="0">
                <a:solidFill>
                  <a:srgbClr val="6E655C"/>
                </a:solidFill>
                <a:latin typeface="Calibri" pitchFamily="34" charset="0"/>
                <a:ea typeface="Calibri" pitchFamily="34" charset="-122"/>
                <a:cs typeface="Calibri" pitchFamily="34" charset="-120"/>
              </a:rPr>
              <a:t>A GOOGLE ACCOUNT IN EZSHEETS</a:t>
            </a:r>
            <a:endParaRPr lang="en-US" sz="850" dirty="0"/>
          </a:p>
        </p:txBody>
      </p:sp>
      <p:sp>
        <p:nvSpPr>
          <p:cNvPr id="8" name="Shape 6"/>
          <p:cNvSpPr/>
          <p:nvPr/>
        </p:nvSpPr>
        <p:spPr>
          <a:xfrm>
            <a:off x="6035040" y="1682496"/>
            <a:ext cx="2560320" cy="370332"/>
          </a:xfrm>
          <a:prstGeom prst="ellipse">
            <a:avLst/>
          </a:prstGeom>
          <a:solidFill>
            <a:srgbClr val="F2ECE1"/>
          </a:solidFill>
          <a:ln w="15875">
            <a:solidFill>
              <a:srgbClr val="2F6D62"/>
            </a:solidFill>
            <a:prstDash val="solid"/>
          </a:ln>
        </p:spPr>
      </p:sp>
      <p:sp>
        <p:nvSpPr>
          <p:cNvPr id="9" name="Text 7"/>
          <p:cNvSpPr txBox="1"/>
          <p:nvPr/>
        </p:nvSpPr>
        <p:spPr>
          <a:xfrm>
            <a:off x="6291072" y="1796796"/>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Create or upload spreadsheets</a:t>
            </a:r>
            <a:endParaRPr lang="en-US" sz="800" dirty="0"/>
          </a:p>
        </p:txBody>
      </p:sp>
      <p:sp>
        <p:nvSpPr>
          <p:cNvPr id="10" name="Shape 8"/>
          <p:cNvSpPr/>
          <p:nvPr/>
        </p:nvSpPr>
        <p:spPr>
          <a:xfrm>
            <a:off x="6035040" y="2107692"/>
            <a:ext cx="2560320" cy="370332"/>
          </a:xfrm>
          <a:prstGeom prst="ellipse">
            <a:avLst/>
          </a:prstGeom>
          <a:solidFill>
            <a:srgbClr val="F2ECE1"/>
          </a:solidFill>
          <a:ln w="15875">
            <a:solidFill>
              <a:srgbClr val="2F6D62"/>
            </a:solidFill>
            <a:prstDash val="solid"/>
          </a:ln>
        </p:spPr>
      </p:sp>
      <p:sp>
        <p:nvSpPr>
          <p:cNvPr id="11" name="Text 9"/>
          <p:cNvSpPr txBox="1"/>
          <p:nvPr/>
        </p:nvSpPr>
        <p:spPr>
          <a:xfrm>
            <a:off x="6291072" y="2221992"/>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List spreadsheets and delete them</a:t>
            </a:r>
            <a:endParaRPr lang="en-US" sz="800" dirty="0"/>
          </a:p>
        </p:txBody>
      </p:sp>
      <p:sp>
        <p:nvSpPr>
          <p:cNvPr id="12" name="Shape 10"/>
          <p:cNvSpPr/>
          <p:nvPr/>
        </p:nvSpPr>
        <p:spPr>
          <a:xfrm>
            <a:off x="6035040" y="2532888"/>
            <a:ext cx="2560320" cy="370332"/>
          </a:xfrm>
          <a:prstGeom prst="ellipse">
            <a:avLst/>
          </a:prstGeom>
          <a:solidFill>
            <a:srgbClr val="F2ECE1"/>
          </a:solidFill>
          <a:ln w="15875">
            <a:solidFill>
              <a:srgbClr val="2F6D62"/>
            </a:solidFill>
            <a:prstDash val="solid"/>
          </a:ln>
        </p:spPr>
      </p:sp>
      <p:sp>
        <p:nvSpPr>
          <p:cNvPr id="13" name="Text 11"/>
          <p:cNvSpPr txBox="1"/>
          <p:nvPr/>
        </p:nvSpPr>
        <p:spPr>
          <a:xfrm>
            <a:off x="6291072" y="2647188"/>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Download spreadsheets in six formats</a:t>
            </a:r>
            <a:endParaRPr lang="en-US" sz="800" dirty="0"/>
          </a:p>
        </p:txBody>
      </p:sp>
      <p:sp>
        <p:nvSpPr>
          <p:cNvPr id="14" name="Shape 12"/>
          <p:cNvSpPr/>
          <p:nvPr/>
        </p:nvSpPr>
        <p:spPr>
          <a:xfrm>
            <a:off x="6035040" y="2958084"/>
            <a:ext cx="2560320" cy="370332"/>
          </a:xfrm>
          <a:prstGeom prst="ellipse">
            <a:avLst/>
          </a:prstGeom>
          <a:solidFill>
            <a:srgbClr val="F2ECE1"/>
          </a:solidFill>
          <a:ln w="15875">
            <a:solidFill>
              <a:srgbClr val="2F6D62"/>
            </a:solidFill>
            <a:prstDash val="solid"/>
          </a:ln>
        </p:spPr>
      </p:sp>
      <p:sp>
        <p:nvSpPr>
          <p:cNvPr id="15" name="Text 13"/>
          <p:cNvSpPr txBox="1"/>
          <p:nvPr/>
        </p:nvSpPr>
        <p:spPr>
          <a:xfrm>
            <a:off x="6291072" y="3072384"/>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and write cells, rows and columns</a:t>
            </a:r>
            <a:endParaRPr lang="en-US" sz="800" dirty="0"/>
          </a:p>
        </p:txBody>
      </p:sp>
      <p:sp>
        <p:nvSpPr>
          <p:cNvPr id="16" name="Shape 14"/>
          <p:cNvSpPr/>
          <p:nvPr/>
        </p:nvSpPr>
        <p:spPr>
          <a:xfrm>
            <a:off x="6035040" y="3383280"/>
            <a:ext cx="2560320" cy="370332"/>
          </a:xfrm>
          <a:prstGeom prst="ellipse">
            <a:avLst/>
          </a:prstGeom>
          <a:solidFill>
            <a:srgbClr val="F2ECE1"/>
          </a:solidFill>
          <a:ln w="15875">
            <a:solidFill>
              <a:srgbClr val="2F6D62"/>
            </a:solidFill>
            <a:prstDash val="solid"/>
          </a:ln>
        </p:spPr>
      </p:sp>
      <p:sp>
        <p:nvSpPr>
          <p:cNvPr id="17" name="Text 15"/>
          <p:cNvSpPr txBox="1"/>
          <p:nvPr/>
        </p:nvSpPr>
        <p:spPr>
          <a:xfrm>
            <a:off x="6291072" y="3497580"/>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Create, move and delete sheets</a:t>
            </a:r>
            <a:endParaRPr lang="en-US" sz="800" dirty="0"/>
          </a:p>
        </p:txBody>
      </p:sp>
      <p:sp>
        <p:nvSpPr>
          <p:cNvPr id="18" name="Shape 16"/>
          <p:cNvSpPr/>
          <p:nvPr/>
        </p:nvSpPr>
        <p:spPr>
          <a:xfrm>
            <a:off x="6035040" y="3808476"/>
            <a:ext cx="2560320" cy="370332"/>
          </a:xfrm>
          <a:prstGeom prst="ellipse">
            <a:avLst/>
          </a:prstGeom>
          <a:solidFill>
            <a:srgbClr val="F2ECE1"/>
          </a:solidFill>
          <a:ln w="15875">
            <a:solidFill>
              <a:srgbClr val="2F6D62"/>
            </a:solidFill>
            <a:prstDash val="solid"/>
          </a:ln>
        </p:spPr>
      </p:sp>
      <p:sp>
        <p:nvSpPr>
          <p:cNvPr id="19" name="Text 17"/>
          <p:cNvSpPr txBox="1"/>
          <p:nvPr/>
        </p:nvSpPr>
        <p:spPr>
          <a:xfrm>
            <a:off x="6291072" y="3922776"/>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Copy a sheet to another spreadsheet</a:t>
            </a:r>
            <a:endParaRPr lang="en-US" sz="800" dirty="0"/>
          </a:p>
        </p:txBody>
      </p:sp>
      <p:sp>
        <p:nvSpPr>
          <p:cNvPr id="20" name="Shape 18"/>
          <p:cNvSpPr/>
          <p:nvPr/>
        </p:nvSpPr>
        <p:spPr>
          <a:xfrm>
            <a:off x="5385816" y="2125980"/>
            <a:ext cx="201168" cy="201168"/>
          </a:xfrm>
          <a:prstGeom prst="ellipse">
            <a:avLst/>
          </a:prstGeom>
          <a:solidFill>
            <a:srgbClr val="FFFFFF"/>
          </a:solidFill>
          <a:ln w="19050">
            <a:solidFill>
              <a:srgbClr val="2B2622"/>
            </a:solidFill>
            <a:prstDash val="solid"/>
          </a:ln>
        </p:spPr>
      </p:sp>
      <p:sp>
        <p:nvSpPr>
          <p:cNvPr id="21" name="Shape 19"/>
          <p:cNvSpPr/>
          <p:nvPr/>
        </p:nvSpPr>
        <p:spPr>
          <a:xfrm>
            <a:off x="5486400" y="2327148"/>
            <a:ext cx="0" cy="347472"/>
          </a:xfrm>
          <a:prstGeom prst="line">
            <a:avLst/>
          </a:prstGeom>
          <a:noFill/>
          <a:ln w="19050">
            <a:solidFill>
              <a:srgbClr val="2B2622"/>
            </a:solidFill>
            <a:prstDash val="solid"/>
          </a:ln>
        </p:spPr>
      </p:sp>
      <p:sp>
        <p:nvSpPr>
          <p:cNvPr id="22" name="Shape 20"/>
          <p:cNvSpPr/>
          <p:nvPr/>
        </p:nvSpPr>
        <p:spPr>
          <a:xfrm>
            <a:off x="5303520" y="2418588"/>
            <a:ext cx="365760" cy="0"/>
          </a:xfrm>
          <a:prstGeom prst="line">
            <a:avLst/>
          </a:prstGeom>
          <a:noFill/>
          <a:ln w="19050">
            <a:solidFill>
              <a:srgbClr val="2B2622"/>
            </a:solidFill>
            <a:prstDash val="solid"/>
          </a:ln>
        </p:spPr>
      </p:sp>
      <p:sp>
        <p:nvSpPr>
          <p:cNvPr id="23" name="Shape 21"/>
          <p:cNvSpPr/>
          <p:nvPr/>
        </p:nvSpPr>
        <p:spPr>
          <a:xfrm flipH="1">
            <a:off x="5340096" y="2674620"/>
            <a:ext cx="146304" cy="228600"/>
          </a:xfrm>
          <a:prstGeom prst="line">
            <a:avLst/>
          </a:prstGeom>
          <a:noFill/>
          <a:ln w="19050">
            <a:solidFill>
              <a:srgbClr val="2B2622"/>
            </a:solidFill>
            <a:prstDash val="solid"/>
          </a:ln>
        </p:spPr>
      </p:sp>
      <p:sp>
        <p:nvSpPr>
          <p:cNvPr id="24" name="Shape 22"/>
          <p:cNvSpPr/>
          <p:nvPr/>
        </p:nvSpPr>
        <p:spPr>
          <a:xfrm>
            <a:off x="5486400" y="2674620"/>
            <a:ext cx="146304" cy="228600"/>
          </a:xfrm>
          <a:prstGeom prst="line">
            <a:avLst/>
          </a:prstGeom>
          <a:noFill/>
          <a:ln w="19050">
            <a:solidFill>
              <a:srgbClr val="2B2622"/>
            </a:solidFill>
            <a:prstDash val="solid"/>
          </a:ln>
        </p:spPr>
      </p:sp>
      <p:sp>
        <p:nvSpPr>
          <p:cNvPr id="25" name="Text 23"/>
          <p:cNvSpPr txBox="1"/>
          <p:nvPr/>
        </p:nvSpPr>
        <p:spPr>
          <a:xfrm>
            <a:off x="5166360" y="2948940"/>
            <a:ext cx="731520" cy="149047"/>
          </a:xfrm>
          <a:prstGeom prst="rect">
            <a:avLst/>
          </a:prstGeom>
          <a:noFill/>
          <a:ln/>
        </p:spPr>
        <p:txBody>
          <a:bodyPr wrap="square" lIns="0" tIns="0" rIns="0" bIns="0" rtlCol="0" anchor="t"/>
          <a:lstStyle/>
          <a:p>
            <a:pPr algn="ctr" indent="0" marL="0">
              <a:buNone/>
            </a:pPr>
            <a:r>
              <a:rPr lang="en-US" sz="850" b="1" dirty="0">
                <a:solidFill>
                  <a:srgbClr val="2B2622"/>
                </a:solidFill>
                <a:latin typeface="Calibri" pitchFamily="34" charset="0"/>
                <a:ea typeface="Calibri" pitchFamily="34" charset="-122"/>
                <a:cs typeface="Calibri" pitchFamily="34" charset="-120"/>
              </a:rPr>
              <a:t>A program</a:t>
            </a:r>
            <a:endParaRPr lang="en-US" sz="850" dirty="0"/>
          </a:p>
        </p:txBody>
      </p:sp>
      <p:sp>
        <p:nvSpPr>
          <p:cNvPr id="26" name="Shape 24"/>
          <p:cNvSpPr/>
          <p:nvPr/>
        </p:nvSpPr>
        <p:spPr>
          <a:xfrm flipV="1">
            <a:off x="5669280" y="1867205"/>
            <a:ext cx="365760" cy="624535"/>
          </a:xfrm>
          <a:prstGeom prst="line">
            <a:avLst/>
          </a:prstGeom>
          <a:noFill/>
          <a:ln w="12700">
            <a:solidFill>
              <a:srgbClr val="6E655C"/>
            </a:solidFill>
            <a:prstDash val="solid"/>
          </a:ln>
        </p:spPr>
      </p:sp>
      <p:sp>
        <p:nvSpPr>
          <p:cNvPr id="27" name="Shape 25"/>
          <p:cNvSpPr/>
          <p:nvPr/>
        </p:nvSpPr>
        <p:spPr>
          <a:xfrm flipV="1">
            <a:off x="5669280" y="2292401"/>
            <a:ext cx="365760" cy="199339"/>
          </a:xfrm>
          <a:prstGeom prst="line">
            <a:avLst/>
          </a:prstGeom>
          <a:noFill/>
          <a:ln w="12700">
            <a:solidFill>
              <a:srgbClr val="6E655C"/>
            </a:solidFill>
            <a:prstDash val="solid"/>
          </a:ln>
        </p:spPr>
      </p:sp>
      <p:sp>
        <p:nvSpPr>
          <p:cNvPr id="28" name="Shape 26"/>
          <p:cNvSpPr/>
          <p:nvPr/>
        </p:nvSpPr>
        <p:spPr>
          <a:xfrm>
            <a:off x="5669280" y="2491740"/>
            <a:ext cx="365760" cy="226771"/>
          </a:xfrm>
          <a:prstGeom prst="line">
            <a:avLst/>
          </a:prstGeom>
          <a:noFill/>
          <a:ln w="12700">
            <a:solidFill>
              <a:srgbClr val="6E655C"/>
            </a:solidFill>
            <a:prstDash val="solid"/>
          </a:ln>
        </p:spPr>
      </p:sp>
      <p:sp>
        <p:nvSpPr>
          <p:cNvPr id="29" name="Shape 27"/>
          <p:cNvSpPr/>
          <p:nvPr/>
        </p:nvSpPr>
        <p:spPr>
          <a:xfrm>
            <a:off x="5669280" y="2491740"/>
            <a:ext cx="365760" cy="651967"/>
          </a:xfrm>
          <a:prstGeom prst="line">
            <a:avLst/>
          </a:prstGeom>
          <a:noFill/>
          <a:ln w="12700">
            <a:solidFill>
              <a:srgbClr val="6E655C"/>
            </a:solidFill>
            <a:prstDash val="solid"/>
          </a:ln>
        </p:spPr>
      </p:sp>
      <p:sp>
        <p:nvSpPr>
          <p:cNvPr id="30" name="Shape 28"/>
          <p:cNvSpPr/>
          <p:nvPr/>
        </p:nvSpPr>
        <p:spPr>
          <a:xfrm>
            <a:off x="5669280" y="2491740"/>
            <a:ext cx="365760" cy="1076249"/>
          </a:xfrm>
          <a:prstGeom prst="line">
            <a:avLst/>
          </a:prstGeom>
          <a:noFill/>
          <a:ln w="12700">
            <a:solidFill>
              <a:srgbClr val="6E655C"/>
            </a:solidFill>
            <a:prstDash val="solid"/>
          </a:ln>
        </p:spPr>
      </p:sp>
      <p:sp>
        <p:nvSpPr>
          <p:cNvPr id="31" name="Shape 29"/>
          <p:cNvSpPr/>
          <p:nvPr/>
        </p:nvSpPr>
        <p:spPr>
          <a:xfrm>
            <a:off x="5669280" y="2491740"/>
            <a:ext cx="365760" cy="1501445"/>
          </a:xfrm>
          <a:prstGeom prst="line">
            <a:avLst/>
          </a:prstGeom>
          <a:noFill/>
          <a:ln w="12700">
            <a:solidFill>
              <a:srgbClr val="6E655C"/>
            </a:solidFill>
            <a:prstDash val="solid"/>
          </a:ln>
        </p:spPr>
      </p:sp>
      <p:sp>
        <p:nvSpPr>
          <p:cNvPr id="32" name="Text 30"/>
          <p:cNvSpPr txBox="1"/>
          <p:nvPr/>
        </p:nvSpPr>
        <p:spPr>
          <a:xfrm>
            <a:off x="5166360" y="4233672"/>
            <a:ext cx="35661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WhatAProgramCanDoWithEzsheets - SetOfUses pattern, 28 of 28 words grounded in the chapter's text</a:t>
            </a:r>
            <a:endParaRPr lang="en-US" sz="850" dirty="0"/>
          </a:p>
        </p:txBody>
      </p:sp>
      <p:sp>
        <p:nvSpPr>
          <p:cNvPr id="33" name="Shape 31"/>
          <p:cNvSpPr/>
          <p:nvPr/>
        </p:nvSpPr>
        <p:spPr>
          <a:xfrm>
            <a:off x="457200" y="1371600"/>
            <a:ext cx="4572000" cy="1417320"/>
          </a:xfrm>
          <a:prstGeom prst="roundRect">
            <a:avLst>
              <a:gd name="adj" fmla="val 6452"/>
            </a:avLst>
          </a:prstGeom>
          <a:solidFill>
            <a:srgbClr val="F2ECE1"/>
          </a:solidFill>
          <a:ln w="12700">
            <a:solidFill>
              <a:srgbClr val="F2ECE1"/>
            </a:solidFill>
            <a:prstDash val="solid"/>
          </a:ln>
        </p:spPr>
      </p:sp>
      <p:sp>
        <p:nvSpPr>
          <p:cNvPr id="34" name="Text 32"/>
          <p:cNvSpPr txBox="1"/>
          <p:nvPr/>
        </p:nvSpPr>
        <p:spPr>
          <a:xfrm>
            <a:off x="640080" y="1490472"/>
            <a:ext cx="42062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One author, 18 releases</a:t>
            </a:r>
            <a:endParaRPr lang="en-US" sz="1600" dirty="0"/>
          </a:p>
        </p:txBody>
      </p:sp>
      <p:sp>
        <p:nvSpPr>
          <p:cNvPr id="35" name="Text 33"/>
          <p:cNvSpPr txBox="1"/>
          <p:nvPr/>
        </p:nvSpPr>
        <p:spPr>
          <a:xfrm>
            <a:off x="640080" y="1874520"/>
            <a:ext cx="4206240" cy="77724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First uploaded to PyPI on 8 February 2019, newest release 2026.4.28, GPLv3 or later. Its documentation page is dated November 2019 and names ten of its 35 public names.</a:t>
            </a:r>
            <a:endParaRPr lang="en-US" sz="1050" dirty="0"/>
          </a:p>
        </p:txBody>
      </p:sp>
      <p:sp>
        <p:nvSpPr>
          <p:cNvPr id="36" name="Shape 34"/>
          <p:cNvSpPr/>
          <p:nvPr/>
        </p:nvSpPr>
        <p:spPr>
          <a:xfrm>
            <a:off x="457200" y="2926080"/>
            <a:ext cx="4572000" cy="1417320"/>
          </a:xfrm>
          <a:prstGeom prst="roundRect">
            <a:avLst>
              <a:gd name="adj" fmla="val 6452"/>
            </a:avLst>
          </a:prstGeom>
          <a:solidFill>
            <a:srgbClr val="F2ECE1"/>
          </a:solidFill>
          <a:ln w="12700">
            <a:solidFill>
              <a:srgbClr val="F2ECE1"/>
            </a:solidFill>
            <a:prstDash val="solid"/>
          </a:ln>
        </p:spPr>
      </p:sp>
      <p:sp>
        <p:nvSpPr>
          <p:cNvPr id="37" name="Text 35"/>
          <p:cNvSpPr txBox="1"/>
          <p:nvPr/>
        </p:nvSpPr>
        <p:spPr>
          <a:xfrm>
            <a:off x="640080" y="3044952"/>
            <a:ext cx="420624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Under it, Google's clients</a:t>
            </a:r>
            <a:endParaRPr lang="en-US" sz="1600" dirty="0"/>
          </a:p>
        </p:txBody>
      </p:sp>
      <p:sp>
        <p:nvSpPr>
          <p:cNvPr id="38" name="Text 36"/>
          <p:cNvSpPr txBox="1"/>
          <p:nvPr/>
        </p:nvSpPr>
        <p:spPr>
          <a:xfrm>
            <a:off x="640080" y="3429000"/>
            <a:ext cx="4206240" cy="77724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 builds on google-api-python-client for the Sheets API v4 and the Drive API v3, and on google-auth-oauthlib for the sign-in. Every call below is one or more HTTPS requests.</a:t>
            </a:r>
            <a:endParaRPr lang="en-US" sz="105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EZSheets turns each call into a request to Google.</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Google Sheets began as XL2Web, in 2006</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6 June 2006</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small company's web spreadsheet</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XL2Web, made by 2Web Technologies, was bought by Google in 2006 and became Google Labs Spreadsheets, opened to a limited number of users on 6 June 2006.</a:t>
            </a:r>
            <a:endParaRPr lang="en-US" sz="125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2Web Technologies: Jonathan Rochelle and Farzad Khosrowshahi</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2006: Google acquires XL2Web</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6 Jun 2006: limited test, first come, first served</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Later: a beta for every Google Account holder</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Jonathan Rochelle and Farzad Khosrowsh…</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Google Labs, on the web</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6 June 2006</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browser spreadsheet is a service your program calls, not a file it opens.</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Credentials, tokens and the first sign-in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set-up steps and one test: do valid token files exist?</a:t>
            </a:r>
            <a:endParaRPr lang="en-US" sz="1300" dirty="0"/>
          </a:p>
        </p:txBody>
      </p:sp>
      <p:sp>
        <p:nvSpPr>
          <p:cNvPr id="6" name="Shape 4"/>
          <p:cNvSpPr/>
          <p:nvPr/>
        </p:nvSpPr>
        <p:spPr>
          <a:xfrm>
            <a:off x="457200" y="1403604"/>
            <a:ext cx="1645920" cy="420624"/>
          </a:xfrm>
          <a:prstGeom prst="roundRect">
            <a:avLst>
              <a:gd name="adj" fmla="val 17391"/>
            </a:avLst>
          </a:prstGeom>
          <a:solidFill>
            <a:srgbClr val="F2ECE1"/>
          </a:solidFill>
          <a:ln w="15875">
            <a:solidFill>
              <a:srgbClr val="2F6D62"/>
            </a:solidFill>
            <a:prstDash val="solid"/>
          </a:ln>
        </p:spPr>
      </p:sp>
      <p:sp>
        <p:nvSpPr>
          <p:cNvPr id="7" name="Text 5"/>
          <p:cNvSpPr txBox="1"/>
          <p:nvPr/>
        </p:nvSpPr>
        <p:spPr>
          <a:xfrm>
            <a:off x="521208" y="1482242"/>
            <a:ext cx="15179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Create a Google Cloud project with a project ID</a:t>
            </a:r>
            <a:endParaRPr lang="en-US" sz="800" dirty="0"/>
          </a:p>
        </p:txBody>
      </p:sp>
      <p:sp>
        <p:nvSpPr>
          <p:cNvPr id="8" name="Shape 6"/>
          <p:cNvSpPr/>
          <p:nvPr/>
        </p:nvSpPr>
        <p:spPr>
          <a:xfrm>
            <a:off x="457200" y="1979676"/>
            <a:ext cx="1645920" cy="420624"/>
          </a:xfrm>
          <a:prstGeom prst="roundRect">
            <a:avLst>
              <a:gd name="adj" fmla="val 17391"/>
            </a:avLst>
          </a:prstGeom>
          <a:solidFill>
            <a:srgbClr val="F2ECE1"/>
          </a:solidFill>
          <a:ln w="15875">
            <a:solidFill>
              <a:srgbClr val="2F6D62"/>
            </a:solidFill>
            <a:prstDash val="solid"/>
          </a:ln>
        </p:spPr>
      </p:sp>
      <p:sp>
        <p:nvSpPr>
          <p:cNvPr id="9" name="Text 7"/>
          <p:cNvSpPr txBox="1"/>
          <p:nvPr/>
        </p:nvSpPr>
        <p:spPr>
          <a:xfrm>
            <a:off x="521208" y="2058314"/>
            <a:ext cx="15179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Switch on the Sheets API and the Drive API</a:t>
            </a:r>
            <a:endParaRPr lang="en-US" sz="800" dirty="0"/>
          </a:p>
        </p:txBody>
      </p:sp>
      <p:sp>
        <p:nvSpPr>
          <p:cNvPr id="10" name="Shape 8"/>
          <p:cNvSpPr/>
          <p:nvPr/>
        </p:nvSpPr>
        <p:spPr>
          <a:xfrm>
            <a:off x="457200" y="2555748"/>
            <a:ext cx="1645920" cy="420624"/>
          </a:xfrm>
          <a:prstGeom prst="roundRect">
            <a:avLst>
              <a:gd name="adj" fmla="val 17391"/>
            </a:avLst>
          </a:prstGeom>
          <a:solidFill>
            <a:srgbClr val="F2ECE1"/>
          </a:solidFill>
          <a:ln w="15875">
            <a:solidFill>
              <a:srgbClr val="2F6D62"/>
            </a:solidFill>
            <a:prstDash val="solid"/>
          </a:ln>
        </p:spPr>
      </p:sp>
      <p:sp>
        <p:nvSpPr>
          <p:cNvPr id="11" name="Text 9"/>
          <p:cNvSpPr txBox="1"/>
          <p:nvPr/>
        </p:nvSpPr>
        <p:spPr>
          <a:xfrm>
            <a:off x="521208" y="2634386"/>
            <a:ext cx="15179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Set the consent screen and the scopes</a:t>
            </a:r>
            <a:endParaRPr lang="en-US" sz="800" dirty="0"/>
          </a:p>
        </p:txBody>
      </p:sp>
      <p:sp>
        <p:nvSpPr>
          <p:cNvPr id="12" name="Shape 10"/>
          <p:cNvSpPr/>
          <p:nvPr/>
        </p:nvSpPr>
        <p:spPr>
          <a:xfrm>
            <a:off x="457200" y="3131820"/>
            <a:ext cx="1645920" cy="420624"/>
          </a:xfrm>
          <a:prstGeom prst="roundRect">
            <a:avLst>
              <a:gd name="adj" fmla="val 17391"/>
            </a:avLst>
          </a:prstGeom>
          <a:solidFill>
            <a:srgbClr val="F2ECE1"/>
          </a:solidFill>
          <a:ln w="15875">
            <a:solidFill>
              <a:srgbClr val="2F6D62"/>
            </a:solidFill>
            <a:prstDash val="solid"/>
          </a:ln>
        </p:spPr>
      </p:sp>
      <p:sp>
        <p:nvSpPr>
          <p:cNvPr id="13" name="Text 11"/>
          <p:cNvSpPr txBox="1"/>
          <p:nvPr/>
        </p:nvSpPr>
        <p:spPr>
          <a:xfrm>
            <a:off x="521208" y="3210458"/>
            <a:ext cx="15179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Download the credentials file into the folder</a:t>
            </a:r>
            <a:endParaRPr lang="en-US" sz="800" dirty="0"/>
          </a:p>
        </p:txBody>
      </p:sp>
      <p:sp>
        <p:nvSpPr>
          <p:cNvPr id="14" name="Shape 12"/>
          <p:cNvSpPr/>
          <p:nvPr/>
        </p:nvSpPr>
        <p:spPr>
          <a:xfrm>
            <a:off x="2606040" y="3086100"/>
            <a:ext cx="1325880" cy="512064"/>
          </a:xfrm>
          <a:prstGeom prst="hexagon">
            <a:avLst/>
          </a:prstGeom>
          <a:solidFill>
            <a:srgbClr val="D97A14"/>
          </a:solidFill>
          <a:ln w="15875">
            <a:solidFill>
              <a:srgbClr val="D97A14"/>
            </a:solidFill>
            <a:prstDash val="solid"/>
          </a:ln>
        </p:spPr>
      </p:sp>
      <p:sp>
        <p:nvSpPr>
          <p:cNvPr id="15" name="Text 13"/>
          <p:cNvSpPr txBox="1"/>
          <p:nvPr/>
        </p:nvSpPr>
        <p:spPr>
          <a:xfrm>
            <a:off x="2761488" y="3210458"/>
            <a:ext cx="101498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Are the token files valid?</a:t>
            </a:r>
            <a:endParaRPr lang="en-US" sz="800" dirty="0"/>
          </a:p>
        </p:txBody>
      </p:sp>
      <p:sp>
        <p:nvSpPr>
          <p:cNvPr id="16" name="Shape 14"/>
          <p:cNvSpPr/>
          <p:nvPr/>
        </p:nvSpPr>
        <p:spPr>
          <a:xfrm>
            <a:off x="4251960" y="3131820"/>
            <a:ext cx="914400" cy="420624"/>
          </a:xfrm>
          <a:prstGeom prst="roundRect">
            <a:avLst>
              <a:gd name="adj" fmla="val 17391"/>
            </a:avLst>
          </a:prstGeom>
          <a:solidFill>
            <a:srgbClr val="F2ECE1"/>
          </a:solidFill>
          <a:ln w="15875">
            <a:solidFill>
              <a:srgbClr val="2F6D62"/>
            </a:solidFill>
            <a:prstDash val="solid"/>
          </a:ln>
        </p:spPr>
      </p:sp>
      <p:sp>
        <p:nvSpPr>
          <p:cNvPr id="17" name="Text 15"/>
          <p:cNvSpPr txBox="1"/>
          <p:nvPr/>
        </p:nvSpPr>
        <p:spPr>
          <a:xfrm>
            <a:off x="4315968" y="3210458"/>
            <a:ext cx="78638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Open a spreadsheet</a:t>
            </a:r>
            <a:endParaRPr lang="en-US" sz="800" dirty="0"/>
          </a:p>
        </p:txBody>
      </p:sp>
      <p:sp>
        <p:nvSpPr>
          <p:cNvPr id="18" name="Shape 16"/>
          <p:cNvSpPr/>
          <p:nvPr/>
        </p:nvSpPr>
        <p:spPr>
          <a:xfrm>
            <a:off x="2606040" y="3707892"/>
            <a:ext cx="1325880" cy="420624"/>
          </a:xfrm>
          <a:prstGeom prst="roundRect">
            <a:avLst>
              <a:gd name="adj" fmla="val 17391"/>
            </a:avLst>
          </a:prstGeom>
          <a:solidFill>
            <a:srgbClr val="F2ECE1"/>
          </a:solidFill>
          <a:ln w="15875">
            <a:solidFill>
              <a:srgbClr val="2F6D62"/>
            </a:solidFill>
            <a:prstDash val="solid"/>
          </a:ln>
        </p:spPr>
      </p:sp>
      <p:sp>
        <p:nvSpPr>
          <p:cNvPr id="19" name="Text 17"/>
          <p:cNvSpPr txBox="1"/>
          <p:nvPr/>
        </p:nvSpPr>
        <p:spPr>
          <a:xfrm>
            <a:off x="2670048" y="3786530"/>
            <a:ext cx="11978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The browser opens the consent page</a:t>
            </a:r>
            <a:endParaRPr lang="en-US" sz="800" dirty="0"/>
          </a:p>
        </p:txBody>
      </p:sp>
      <p:sp>
        <p:nvSpPr>
          <p:cNvPr id="20" name="Shape 18"/>
          <p:cNvSpPr/>
          <p:nvPr/>
        </p:nvSpPr>
        <p:spPr>
          <a:xfrm>
            <a:off x="4251960" y="3707892"/>
            <a:ext cx="914400" cy="420624"/>
          </a:xfrm>
          <a:prstGeom prst="roundRect">
            <a:avLst>
              <a:gd name="adj" fmla="val 17391"/>
            </a:avLst>
          </a:prstGeom>
          <a:solidFill>
            <a:srgbClr val="F2ECE1"/>
          </a:solidFill>
          <a:ln w="15875">
            <a:solidFill>
              <a:srgbClr val="2F6D62"/>
            </a:solidFill>
            <a:prstDash val="solid"/>
          </a:ln>
        </p:spPr>
      </p:sp>
      <p:sp>
        <p:nvSpPr>
          <p:cNvPr id="21" name="Text 19"/>
          <p:cNvSpPr txBox="1"/>
          <p:nvPr/>
        </p:nvSpPr>
        <p:spPr>
          <a:xfrm>
            <a:off x="4315968" y="3724351"/>
            <a:ext cx="786384" cy="386791"/>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The library writes the token files</a:t>
            </a:r>
            <a:endParaRPr lang="en-US" sz="800" dirty="0"/>
          </a:p>
        </p:txBody>
      </p:sp>
      <p:sp>
        <p:nvSpPr>
          <p:cNvPr id="22" name="Shape 20"/>
          <p:cNvSpPr/>
          <p:nvPr/>
        </p:nvSpPr>
        <p:spPr>
          <a:xfrm>
            <a:off x="3177540" y="1522476"/>
            <a:ext cx="182880" cy="182880"/>
          </a:xfrm>
          <a:prstGeom prst="ellipse">
            <a:avLst/>
          </a:prstGeom>
          <a:solidFill>
            <a:srgbClr val="2B2622"/>
          </a:solidFill>
          <a:ln w="15875">
            <a:solidFill>
              <a:srgbClr val="2B2622"/>
            </a:solidFill>
            <a:prstDash val="solid"/>
          </a:ln>
        </p:spPr>
      </p:sp>
      <p:sp>
        <p:nvSpPr>
          <p:cNvPr id="23" name="Shape 21"/>
          <p:cNvSpPr/>
          <p:nvPr/>
        </p:nvSpPr>
        <p:spPr>
          <a:xfrm>
            <a:off x="4581144" y="2638044"/>
            <a:ext cx="256032" cy="256032"/>
          </a:xfrm>
          <a:prstGeom prst="ellipse">
            <a:avLst/>
          </a:prstGeom>
          <a:solidFill>
            <a:srgbClr val="FFFFFF"/>
          </a:solidFill>
          <a:ln w="25400">
            <a:solidFill>
              <a:srgbClr val="2B2622"/>
            </a:solidFill>
            <a:prstDash val="solid"/>
          </a:ln>
        </p:spPr>
      </p:sp>
      <p:sp>
        <p:nvSpPr>
          <p:cNvPr id="24" name="Shape 22"/>
          <p:cNvSpPr/>
          <p:nvPr/>
        </p:nvSpPr>
        <p:spPr>
          <a:xfrm>
            <a:off x="4636008" y="2692908"/>
            <a:ext cx="146304" cy="146304"/>
          </a:xfrm>
          <a:prstGeom prst="ellipse">
            <a:avLst/>
          </a:prstGeom>
          <a:solidFill>
            <a:srgbClr val="2B2622"/>
          </a:solidFill>
          <a:ln w="15875">
            <a:solidFill>
              <a:srgbClr val="2B2622"/>
            </a:solidFill>
            <a:prstDash val="solid"/>
          </a:ln>
        </p:spPr>
      </p:sp>
      <p:sp>
        <p:nvSpPr>
          <p:cNvPr id="25" name="Shape 23"/>
          <p:cNvSpPr/>
          <p:nvPr/>
        </p:nvSpPr>
        <p:spPr>
          <a:xfrm flipH="1">
            <a:off x="2103120" y="1613916"/>
            <a:ext cx="1074420" cy="0"/>
          </a:xfrm>
          <a:prstGeom prst="line">
            <a:avLst/>
          </a:prstGeom>
          <a:noFill/>
          <a:ln w="15875">
            <a:solidFill>
              <a:srgbClr val="6E655C"/>
            </a:solidFill>
            <a:prstDash val="solid"/>
            <a:tailEnd type="triangle"/>
          </a:ln>
        </p:spPr>
      </p:sp>
      <p:sp>
        <p:nvSpPr>
          <p:cNvPr id="26" name="Shape 24"/>
          <p:cNvSpPr/>
          <p:nvPr/>
        </p:nvSpPr>
        <p:spPr>
          <a:xfrm>
            <a:off x="1280160" y="1824228"/>
            <a:ext cx="0" cy="155448"/>
          </a:xfrm>
          <a:prstGeom prst="line">
            <a:avLst/>
          </a:prstGeom>
          <a:noFill/>
          <a:ln w="15875">
            <a:solidFill>
              <a:srgbClr val="6E655C"/>
            </a:solidFill>
            <a:prstDash val="solid"/>
            <a:tailEnd type="triangle"/>
          </a:ln>
        </p:spPr>
      </p:sp>
      <p:sp>
        <p:nvSpPr>
          <p:cNvPr id="27" name="Shape 25"/>
          <p:cNvSpPr/>
          <p:nvPr/>
        </p:nvSpPr>
        <p:spPr>
          <a:xfrm>
            <a:off x="1280160" y="2400300"/>
            <a:ext cx="0" cy="155448"/>
          </a:xfrm>
          <a:prstGeom prst="line">
            <a:avLst/>
          </a:prstGeom>
          <a:noFill/>
          <a:ln w="15875">
            <a:solidFill>
              <a:srgbClr val="6E655C"/>
            </a:solidFill>
            <a:prstDash val="solid"/>
            <a:tailEnd type="triangle"/>
          </a:ln>
        </p:spPr>
      </p:sp>
      <p:sp>
        <p:nvSpPr>
          <p:cNvPr id="28" name="Shape 26"/>
          <p:cNvSpPr/>
          <p:nvPr/>
        </p:nvSpPr>
        <p:spPr>
          <a:xfrm>
            <a:off x="1280160" y="2976372"/>
            <a:ext cx="0" cy="155448"/>
          </a:xfrm>
          <a:prstGeom prst="line">
            <a:avLst/>
          </a:prstGeom>
          <a:noFill/>
          <a:ln w="15875">
            <a:solidFill>
              <a:srgbClr val="6E655C"/>
            </a:solidFill>
            <a:prstDash val="solid"/>
            <a:tailEnd type="triangle"/>
          </a:ln>
        </p:spPr>
      </p:sp>
      <p:sp>
        <p:nvSpPr>
          <p:cNvPr id="29" name="Shape 27"/>
          <p:cNvSpPr/>
          <p:nvPr/>
        </p:nvSpPr>
        <p:spPr>
          <a:xfrm>
            <a:off x="2103120" y="3342132"/>
            <a:ext cx="502920" cy="0"/>
          </a:xfrm>
          <a:prstGeom prst="line">
            <a:avLst/>
          </a:prstGeom>
          <a:noFill/>
          <a:ln w="15875">
            <a:solidFill>
              <a:srgbClr val="6E655C"/>
            </a:solidFill>
            <a:prstDash val="solid"/>
            <a:tailEnd type="triangle"/>
          </a:ln>
        </p:spPr>
      </p:sp>
      <p:sp>
        <p:nvSpPr>
          <p:cNvPr id="30" name="Shape 28"/>
          <p:cNvSpPr/>
          <p:nvPr/>
        </p:nvSpPr>
        <p:spPr>
          <a:xfrm>
            <a:off x="3931920" y="3342132"/>
            <a:ext cx="320040" cy="0"/>
          </a:xfrm>
          <a:prstGeom prst="line">
            <a:avLst/>
          </a:prstGeom>
          <a:noFill/>
          <a:ln w="15875">
            <a:solidFill>
              <a:srgbClr val="6E655C"/>
            </a:solidFill>
            <a:prstDash val="solid"/>
            <a:tailEnd type="triangle"/>
          </a:ln>
        </p:spPr>
      </p:sp>
      <p:sp>
        <p:nvSpPr>
          <p:cNvPr id="31" name="Text 29"/>
          <p:cNvSpPr txBox="1"/>
          <p:nvPr/>
        </p:nvSpPr>
        <p:spPr>
          <a:xfrm>
            <a:off x="3977640" y="3159252"/>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2" name="Shape 30"/>
          <p:cNvSpPr/>
          <p:nvPr/>
        </p:nvSpPr>
        <p:spPr>
          <a:xfrm>
            <a:off x="3268980" y="3598164"/>
            <a:ext cx="0" cy="109728"/>
          </a:xfrm>
          <a:prstGeom prst="line">
            <a:avLst/>
          </a:prstGeom>
          <a:noFill/>
          <a:ln w="15875">
            <a:solidFill>
              <a:srgbClr val="6E655C"/>
            </a:solidFill>
            <a:prstDash val="solid"/>
            <a:tailEnd type="triangle"/>
          </a:ln>
        </p:spPr>
      </p:sp>
      <p:sp>
        <p:nvSpPr>
          <p:cNvPr id="33" name="Text 31"/>
          <p:cNvSpPr txBox="1"/>
          <p:nvPr/>
        </p:nvSpPr>
        <p:spPr>
          <a:xfrm>
            <a:off x="3323844" y="3570732"/>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4" name="Shape 32"/>
          <p:cNvSpPr/>
          <p:nvPr/>
        </p:nvSpPr>
        <p:spPr>
          <a:xfrm>
            <a:off x="3931920" y="3918204"/>
            <a:ext cx="320040" cy="0"/>
          </a:xfrm>
          <a:prstGeom prst="line">
            <a:avLst/>
          </a:prstGeom>
          <a:noFill/>
          <a:ln w="15875">
            <a:solidFill>
              <a:srgbClr val="6E655C"/>
            </a:solidFill>
            <a:prstDash val="solid"/>
            <a:tailEnd type="triangle"/>
          </a:ln>
        </p:spPr>
      </p:sp>
      <p:sp>
        <p:nvSpPr>
          <p:cNvPr id="35" name="Shape 33"/>
          <p:cNvSpPr/>
          <p:nvPr/>
        </p:nvSpPr>
        <p:spPr>
          <a:xfrm flipV="1">
            <a:off x="4709160" y="3552444"/>
            <a:ext cx="0" cy="155448"/>
          </a:xfrm>
          <a:prstGeom prst="line">
            <a:avLst/>
          </a:prstGeom>
          <a:noFill/>
          <a:ln w="15875">
            <a:solidFill>
              <a:srgbClr val="6E655C"/>
            </a:solidFill>
            <a:prstDash val="solid"/>
            <a:tailEnd type="triangle"/>
          </a:ln>
        </p:spPr>
      </p:sp>
      <p:sp>
        <p:nvSpPr>
          <p:cNvPr id="36" name="Shape 34"/>
          <p:cNvSpPr/>
          <p:nvPr/>
        </p:nvSpPr>
        <p:spPr>
          <a:xfrm flipV="1">
            <a:off x="4709160" y="2894076"/>
            <a:ext cx="0" cy="237744"/>
          </a:xfrm>
          <a:prstGeom prst="line">
            <a:avLst/>
          </a:prstGeom>
          <a:noFill/>
          <a:ln w="15875">
            <a:solidFill>
              <a:srgbClr val="6E655C"/>
            </a:solidFill>
            <a:prstDash val="solid"/>
            <a:tailEnd type="triangle"/>
          </a:ln>
        </p:spPr>
      </p:sp>
      <p:sp>
        <p:nvSpPr>
          <p:cNvPr id="37" name="Text 35"/>
          <p:cNvSpPr txBox="1"/>
          <p:nvPr/>
        </p:nvSpPr>
        <p:spPr>
          <a:xfrm>
            <a:off x="457200" y="4233672"/>
            <a:ext cx="47091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FromCredentialsToSignedIn - Workflow pattern, 32 of 33 words grounded in the chapter's text</a:t>
            </a:r>
            <a:endParaRPr lang="en-US" sz="850" dirty="0"/>
          </a:p>
        </p:txBody>
      </p:sp>
      <p:sp>
        <p:nvSpPr>
          <p:cNvPr id="38" name="Text 36"/>
          <p:cNvSpPr txBox="1"/>
          <p:nvPr/>
        </p:nvSpPr>
        <p:spPr>
          <a:xfrm>
            <a:off x="5212080" y="2926080"/>
            <a:ext cx="347472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S256 challenge, on the RFC 7636 example</a:t>
            </a:r>
            <a:endParaRPr lang="en-US" sz="1000" dirty="0"/>
          </a:p>
        </p:txBody>
      </p:sp>
      <p:sp>
        <p:nvSpPr>
          <p:cNvPr id="39" name="Shape 37"/>
          <p:cNvSpPr/>
          <p:nvPr/>
        </p:nvSpPr>
        <p:spPr>
          <a:xfrm>
            <a:off x="5212080" y="3200400"/>
            <a:ext cx="3474720" cy="960120"/>
          </a:xfrm>
          <a:prstGeom prst="roundRect">
            <a:avLst>
              <a:gd name="adj" fmla="val 9524"/>
            </a:avLst>
          </a:prstGeom>
          <a:solidFill>
            <a:srgbClr val="23272E"/>
          </a:solidFill>
          <a:ln w="12700">
            <a:solidFill>
              <a:srgbClr val="23272E"/>
            </a:solidFill>
            <a:prstDash val="solid"/>
          </a:ln>
        </p:spPr>
      </p:sp>
      <p:sp>
        <p:nvSpPr>
          <p:cNvPr id="40" name="Text 38"/>
          <p:cNvSpPr txBox="1"/>
          <p:nvPr/>
        </p:nvSpPr>
        <p:spPr>
          <a:xfrm>
            <a:off x="5394960" y="3319272"/>
            <a:ext cx="3108960" cy="722376"/>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import hashlib, base64</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v = b'dBjftJeZ4CVP-mB92K27uhbUJU1p1r_wW1gFWFOEjXk'</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d = hashlib.sha256(v).digest()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base64.urlsafe_b64encode(d).rstrip(b'=')</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b'E9Melhoa2OwvFrEMTJguCHaoeK1t8URWbuGJSstw-cM'</a:t>
            </a:r>
            <a:endParaRPr lang="en-US" sz="720" dirty="0"/>
          </a:p>
        </p:txBody>
      </p:sp>
      <p:sp>
        <p:nvSpPr>
          <p:cNvPr id="41" name="Text 39"/>
          <p:cNvSpPr txBox="1"/>
          <p:nvPr/>
        </p:nvSpPr>
        <p:spPr>
          <a:xfrm>
            <a:off x="5212080" y="4178808"/>
            <a:ext cx="34747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42" name="Shape 40"/>
          <p:cNvSpPr/>
          <p:nvPr/>
        </p:nvSpPr>
        <p:spPr>
          <a:xfrm>
            <a:off x="5212080" y="1325880"/>
            <a:ext cx="3474720" cy="1463040"/>
          </a:xfrm>
          <a:prstGeom prst="roundRect">
            <a:avLst>
              <a:gd name="adj" fmla="val 6250"/>
            </a:avLst>
          </a:prstGeom>
          <a:solidFill>
            <a:srgbClr val="F2ECE1"/>
          </a:solidFill>
          <a:ln w="12700">
            <a:solidFill>
              <a:srgbClr val="F2ECE1"/>
            </a:solidFill>
            <a:prstDash val="solid"/>
          </a:ln>
        </p:spPr>
      </p:sp>
      <p:sp>
        <p:nvSpPr>
          <p:cNvPr id="43" name="Text 41"/>
          <p:cNvSpPr txBox="1"/>
          <p:nvPr/>
        </p:nvSpPr>
        <p:spPr>
          <a:xfrm>
            <a:off x="5394960" y="1444752"/>
            <a:ext cx="310896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44" name="Text 42"/>
          <p:cNvSpPr txBox="1"/>
          <p:nvPr/>
        </p:nvSpPr>
        <p:spPr>
          <a:xfrm>
            <a:off x="5394960" y="1828800"/>
            <a:ext cx="3108960" cy="822960"/>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console steps need a Google account: the project, the two APIs, the consent screen, the credentials download and a real sign-in. Google was never reached; see the notes.</a:t>
            </a:r>
            <a:endParaRPr lang="en-US" sz="1000" dirty="0"/>
          </a:p>
        </p:txBody>
      </p:sp>
      <p:sp>
        <p:nvSpPr>
          <p:cNvPr id="45" name="Shape 43"/>
          <p:cNvSpPr/>
          <p:nvPr/>
        </p:nvSpPr>
        <p:spPr>
          <a:xfrm>
            <a:off x="457200" y="4636008"/>
            <a:ext cx="91440" cy="310896"/>
          </a:xfrm>
          <a:prstGeom prst="rect">
            <a:avLst/>
          </a:prstGeom>
          <a:solidFill>
            <a:srgbClr val="D97A14"/>
          </a:solidFill>
          <a:ln w="12700">
            <a:solidFill>
              <a:srgbClr val="D97A14"/>
            </a:solidFill>
            <a:prstDash val="solid"/>
          </a:ln>
        </p:spPr>
      </p:sp>
      <p:sp>
        <p:nvSpPr>
          <p:cNvPr id="46" name="Text 4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Set-up is console steps plus one test of the token files.</a:t>
            </a:r>
            <a:endParaRPr lang="en-US" sz="1350" dirty="0"/>
          </a:p>
        </p:txBody>
      </p:sp>
      <p:sp>
        <p:nvSpPr>
          <p:cNvPr id="47" name="Text 4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token file: from sign-in to a refused refresh</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states; the last is the one the chapter's one-time setup does not mention</a:t>
            </a:r>
            <a:endParaRPr lang="en-US" sz="1300" dirty="0"/>
          </a:p>
        </p:txBody>
      </p:sp>
      <p:sp>
        <p:nvSpPr>
          <p:cNvPr id="6" name="Shape 4"/>
          <p:cNvSpPr/>
          <p:nvPr/>
        </p:nvSpPr>
        <p:spPr>
          <a:xfrm>
            <a:off x="2194560" y="1554480"/>
            <a:ext cx="1554480" cy="566928"/>
          </a:xfrm>
          <a:prstGeom prst="roundRect">
            <a:avLst>
              <a:gd name="adj" fmla="val 12903"/>
            </a:avLst>
          </a:prstGeom>
          <a:solidFill>
            <a:srgbClr val="2F6D62"/>
          </a:solidFill>
          <a:ln w="15875">
            <a:solidFill>
              <a:srgbClr val="2F6D62"/>
            </a:solidFill>
            <a:prstDash val="solid"/>
          </a:ln>
        </p:spPr>
      </p:sp>
      <p:sp>
        <p:nvSpPr>
          <p:cNvPr id="7" name="Text 5"/>
          <p:cNvSpPr txBox="1"/>
          <p:nvPr/>
        </p:nvSpPr>
        <p:spPr>
          <a:xfrm>
            <a:off x="2249424" y="1744675"/>
            <a:ext cx="1444752" cy="1874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 token file</a:t>
            </a:r>
            <a:endParaRPr lang="en-US" sz="1100" dirty="0"/>
          </a:p>
        </p:txBody>
      </p:sp>
      <p:sp>
        <p:nvSpPr>
          <p:cNvPr id="8" name="Shape 6"/>
          <p:cNvSpPr/>
          <p:nvPr/>
        </p:nvSpPr>
        <p:spPr>
          <a:xfrm>
            <a:off x="5394960" y="1554480"/>
            <a:ext cx="1554480" cy="566928"/>
          </a:xfrm>
          <a:prstGeom prst="roundRect">
            <a:avLst>
              <a:gd name="adj" fmla="val 12903"/>
            </a:avLst>
          </a:prstGeom>
          <a:solidFill>
            <a:srgbClr val="2F6D62"/>
          </a:solidFill>
          <a:ln w="15875">
            <a:solidFill>
              <a:srgbClr val="2F6D62"/>
            </a:solidFill>
            <a:prstDash val="solid"/>
          </a:ln>
        </p:spPr>
      </p:sp>
      <p:sp>
        <p:nvSpPr>
          <p:cNvPr id="9" name="Text 7"/>
          <p:cNvSpPr txBox="1"/>
          <p:nvPr/>
        </p:nvSpPr>
        <p:spPr>
          <a:xfrm>
            <a:off x="5449824" y="1744675"/>
            <a:ext cx="1444752" cy="1874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valid token file</a:t>
            </a:r>
            <a:endParaRPr lang="en-US" sz="1100" dirty="0"/>
          </a:p>
        </p:txBody>
      </p:sp>
      <p:sp>
        <p:nvSpPr>
          <p:cNvPr id="10" name="Shape 8"/>
          <p:cNvSpPr/>
          <p:nvPr/>
        </p:nvSpPr>
        <p:spPr>
          <a:xfrm>
            <a:off x="5394960" y="2907792"/>
            <a:ext cx="1554480" cy="566928"/>
          </a:xfrm>
          <a:prstGeom prst="roundRect">
            <a:avLst>
              <a:gd name="adj" fmla="val 12903"/>
            </a:avLst>
          </a:prstGeom>
          <a:solidFill>
            <a:srgbClr val="2F6D62"/>
          </a:solidFill>
          <a:ln w="15875">
            <a:solidFill>
              <a:srgbClr val="2F6D62"/>
            </a:solidFill>
            <a:prstDash val="solid"/>
          </a:ln>
        </p:spPr>
      </p:sp>
      <p:sp>
        <p:nvSpPr>
          <p:cNvPr id="11" name="Text 9"/>
          <p:cNvSpPr txBox="1"/>
          <p:nvPr/>
        </p:nvSpPr>
        <p:spPr>
          <a:xfrm>
            <a:off x="5449824" y="3097987"/>
            <a:ext cx="1444752" cy="1874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An expired token</a:t>
            </a:r>
            <a:endParaRPr lang="en-US" sz="1100" dirty="0"/>
          </a:p>
        </p:txBody>
      </p:sp>
      <p:sp>
        <p:nvSpPr>
          <p:cNvPr id="12" name="Shape 10"/>
          <p:cNvSpPr/>
          <p:nvPr/>
        </p:nvSpPr>
        <p:spPr>
          <a:xfrm>
            <a:off x="2194560" y="2907792"/>
            <a:ext cx="1554480" cy="566928"/>
          </a:xfrm>
          <a:prstGeom prst="roundRect">
            <a:avLst>
              <a:gd name="adj" fmla="val 12903"/>
            </a:avLst>
          </a:prstGeom>
          <a:solidFill>
            <a:srgbClr val="2F6D62"/>
          </a:solidFill>
          <a:ln w="15875">
            <a:solidFill>
              <a:srgbClr val="2F6D62"/>
            </a:solidFill>
            <a:prstDash val="solid"/>
          </a:ln>
        </p:spPr>
      </p:sp>
      <p:sp>
        <p:nvSpPr>
          <p:cNvPr id="13" name="Text 11"/>
          <p:cNvSpPr txBox="1"/>
          <p:nvPr/>
        </p:nvSpPr>
        <p:spPr>
          <a:xfrm>
            <a:off x="2249424" y="3097987"/>
            <a:ext cx="1444752" cy="1874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stale token file</a:t>
            </a:r>
            <a:endParaRPr lang="en-US" sz="1100" dirty="0"/>
          </a:p>
        </p:txBody>
      </p:sp>
      <p:sp>
        <p:nvSpPr>
          <p:cNvPr id="14" name="Shape 12"/>
          <p:cNvSpPr/>
          <p:nvPr/>
        </p:nvSpPr>
        <p:spPr>
          <a:xfrm>
            <a:off x="1691640" y="1746504"/>
            <a:ext cx="182880" cy="182880"/>
          </a:xfrm>
          <a:prstGeom prst="ellipse">
            <a:avLst/>
          </a:prstGeom>
          <a:solidFill>
            <a:srgbClr val="2B2622"/>
          </a:solidFill>
          <a:ln w="15875">
            <a:solidFill>
              <a:srgbClr val="2B2622"/>
            </a:solidFill>
            <a:prstDash val="solid"/>
          </a:ln>
        </p:spPr>
      </p:sp>
      <p:sp>
        <p:nvSpPr>
          <p:cNvPr id="15" name="Shape 13"/>
          <p:cNvSpPr/>
          <p:nvPr/>
        </p:nvSpPr>
        <p:spPr>
          <a:xfrm>
            <a:off x="1874520" y="1837944"/>
            <a:ext cx="320040" cy="0"/>
          </a:xfrm>
          <a:prstGeom prst="line">
            <a:avLst/>
          </a:prstGeom>
          <a:noFill/>
          <a:ln w="15875">
            <a:solidFill>
              <a:srgbClr val="6E655C"/>
            </a:solidFill>
            <a:prstDash val="solid"/>
            <a:tailEnd type="triangle"/>
          </a:ln>
        </p:spPr>
      </p:sp>
      <p:sp>
        <p:nvSpPr>
          <p:cNvPr id="16" name="Shape 14"/>
          <p:cNvSpPr/>
          <p:nvPr/>
        </p:nvSpPr>
        <p:spPr>
          <a:xfrm>
            <a:off x="3749040" y="1837944"/>
            <a:ext cx="1645920" cy="0"/>
          </a:xfrm>
          <a:prstGeom prst="line">
            <a:avLst/>
          </a:prstGeom>
          <a:noFill/>
          <a:ln w="22225">
            <a:solidFill>
              <a:srgbClr val="D97A14"/>
            </a:solidFill>
            <a:prstDash val="solid"/>
            <a:tailEnd type="triangle"/>
          </a:ln>
        </p:spPr>
      </p:sp>
      <p:sp>
        <p:nvSpPr>
          <p:cNvPr id="17" name="Text 15"/>
          <p:cNvSpPr txBox="1"/>
          <p:nvPr/>
        </p:nvSpPr>
        <p:spPr>
          <a:xfrm>
            <a:off x="3822192" y="1512418"/>
            <a:ext cx="1499616" cy="279806"/>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The sign-in in the browser writes the token files</a:t>
            </a:r>
            <a:endParaRPr lang="en-US" sz="850" dirty="0"/>
          </a:p>
        </p:txBody>
      </p:sp>
      <p:sp>
        <p:nvSpPr>
          <p:cNvPr id="18" name="Shape 16"/>
          <p:cNvSpPr/>
          <p:nvPr/>
        </p:nvSpPr>
        <p:spPr>
          <a:xfrm>
            <a:off x="5824728" y="2121408"/>
            <a:ext cx="0" cy="786384"/>
          </a:xfrm>
          <a:prstGeom prst="line">
            <a:avLst/>
          </a:prstGeom>
          <a:noFill/>
          <a:ln w="22225">
            <a:solidFill>
              <a:srgbClr val="D97A14"/>
            </a:solidFill>
            <a:prstDash val="solid"/>
            <a:tailEnd type="triangle"/>
          </a:ln>
        </p:spPr>
      </p:sp>
      <p:sp>
        <p:nvSpPr>
          <p:cNvPr id="19" name="Text 17"/>
          <p:cNvSpPr txBox="1"/>
          <p:nvPr/>
        </p:nvSpPr>
        <p:spPr>
          <a:xfrm>
            <a:off x="3822192" y="2331720"/>
            <a:ext cx="1911096" cy="149047"/>
          </a:xfrm>
          <a:prstGeom prst="rect">
            <a:avLst/>
          </a:prstGeom>
          <a:noFill/>
          <a:ln/>
        </p:spPr>
        <p:txBody>
          <a:bodyPr wrap="square" lIns="0" tIns="0" rIns="0" bIns="0" rtlCol="0" anchor="ctr"/>
          <a:lstStyle/>
          <a:p>
            <a:pPr algn="r" indent="0" marL="0">
              <a:buNone/>
            </a:pPr>
            <a:r>
              <a:rPr lang="en-US" sz="850" dirty="0">
                <a:solidFill>
                  <a:srgbClr val="2B2622"/>
                </a:solidFill>
                <a:latin typeface="Calibri" pitchFamily="34" charset="0"/>
                <a:ea typeface="Calibri" pitchFamily="34" charset="-122"/>
                <a:cs typeface="Calibri" pitchFamily="34" charset="-120"/>
              </a:rPr>
              <a:t>The access token expires</a:t>
            </a:r>
            <a:endParaRPr lang="en-US" sz="850" dirty="0"/>
          </a:p>
        </p:txBody>
      </p:sp>
      <p:sp>
        <p:nvSpPr>
          <p:cNvPr id="20" name="Shape 18"/>
          <p:cNvSpPr/>
          <p:nvPr/>
        </p:nvSpPr>
        <p:spPr>
          <a:xfrm flipV="1">
            <a:off x="6519672" y="2121408"/>
            <a:ext cx="0" cy="786384"/>
          </a:xfrm>
          <a:prstGeom prst="line">
            <a:avLst/>
          </a:prstGeom>
          <a:noFill/>
          <a:ln w="22225">
            <a:solidFill>
              <a:srgbClr val="2F6D62"/>
            </a:solidFill>
            <a:prstDash val="solid"/>
            <a:tailEnd type="triangle"/>
          </a:ln>
        </p:spPr>
      </p:sp>
      <p:sp>
        <p:nvSpPr>
          <p:cNvPr id="21" name="Text 19"/>
          <p:cNvSpPr txBox="1"/>
          <p:nvPr/>
        </p:nvSpPr>
        <p:spPr>
          <a:xfrm>
            <a:off x="6611112" y="2331720"/>
            <a:ext cx="2075688" cy="279806"/>
          </a:xfrm>
          <a:prstGeom prst="rect">
            <a:avLst/>
          </a:prstGeom>
          <a:noFill/>
          <a:ln/>
        </p:spPr>
        <p:txBody>
          <a:bodyPr wrap="square" lIns="0" tIns="0" rIns="0" bIns="0" rtlCol="0" anchor="ctr"/>
          <a:lstStyle/>
          <a:p>
            <a:pPr algn="l" indent="0" marL="0">
              <a:buNone/>
            </a:pPr>
            <a:r>
              <a:rPr lang="en-US" sz="850" dirty="0">
                <a:solidFill>
                  <a:srgbClr val="2B2622"/>
                </a:solidFill>
                <a:latin typeface="Calibri" pitchFamily="34" charset="0"/>
                <a:ea typeface="Calibri" pitchFamily="34" charset="-122"/>
                <a:cs typeface="Calibri" pitchFamily="34" charset="-120"/>
              </a:rPr>
              <a:t>The refresh token gets a new access token</a:t>
            </a:r>
            <a:endParaRPr lang="en-US" sz="850" dirty="0"/>
          </a:p>
        </p:txBody>
      </p:sp>
      <p:sp>
        <p:nvSpPr>
          <p:cNvPr id="22" name="Shape 20"/>
          <p:cNvSpPr/>
          <p:nvPr/>
        </p:nvSpPr>
        <p:spPr>
          <a:xfrm flipH="1">
            <a:off x="3749040" y="3191256"/>
            <a:ext cx="1645920" cy="0"/>
          </a:xfrm>
          <a:prstGeom prst="line">
            <a:avLst/>
          </a:prstGeom>
          <a:noFill/>
          <a:ln w="22225">
            <a:solidFill>
              <a:srgbClr val="D97A14"/>
            </a:solidFill>
            <a:prstDash val="solid"/>
            <a:tailEnd type="triangle"/>
          </a:ln>
        </p:spPr>
      </p:sp>
      <p:sp>
        <p:nvSpPr>
          <p:cNvPr id="23" name="Text 21"/>
          <p:cNvSpPr txBox="1"/>
          <p:nvPr/>
        </p:nvSpPr>
        <p:spPr>
          <a:xfrm>
            <a:off x="3822192" y="2865730"/>
            <a:ext cx="1499616" cy="279806"/>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Google refuses the refresh after seven days</a:t>
            </a:r>
            <a:endParaRPr lang="en-US" sz="850" dirty="0"/>
          </a:p>
        </p:txBody>
      </p:sp>
      <p:sp>
        <p:nvSpPr>
          <p:cNvPr id="24" name="Shape 22"/>
          <p:cNvSpPr/>
          <p:nvPr/>
        </p:nvSpPr>
        <p:spPr>
          <a:xfrm flipV="1">
            <a:off x="2971800" y="2121408"/>
            <a:ext cx="0" cy="786384"/>
          </a:xfrm>
          <a:prstGeom prst="line">
            <a:avLst/>
          </a:prstGeom>
          <a:noFill/>
          <a:ln w="22225">
            <a:solidFill>
              <a:srgbClr val="2F6D62"/>
            </a:solidFill>
            <a:prstDash val="solid"/>
            <a:tailEnd type="triangle"/>
          </a:ln>
        </p:spPr>
      </p:sp>
      <p:sp>
        <p:nvSpPr>
          <p:cNvPr id="25" name="Text 23"/>
          <p:cNvSpPr txBox="1"/>
          <p:nvPr/>
        </p:nvSpPr>
        <p:spPr>
          <a:xfrm>
            <a:off x="457200" y="2331720"/>
            <a:ext cx="2423160" cy="149047"/>
          </a:xfrm>
          <a:prstGeom prst="rect">
            <a:avLst/>
          </a:prstGeom>
          <a:noFill/>
          <a:ln/>
        </p:spPr>
        <p:txBody>
          <a:bodyPr wrap="square" lIns="0" tIns="0" rIns="0" bIns="0" rtlCol="0" anchor="ctr"/>
          <a:lstStyle/>
          <a:p>
            <a:pPr algn="r" indent="0" marL="0">
              <a:buNone/>
            </a:pPr>
            <a:r>
              <a:rPr lang="en-US" sz="850" dirty="0">
                <a:solidFill>
                  <a:srgbClr val="2B2622"/>
                </a:solidFill>
                <a:latin typeface="Calibri" pitchFamily="34" charset="0"/>
                <a:ea typeface="Calibri" pitchFamily="34" charset="-122"/>
                <a:cs typeface="Calibri" pitchFamily="34" charset="-120"/>
              </a:rPr>
              <a:t>The reader deletes the token files</a:t>
            </a:r>
            <a:endParaRPr lang="en-US" sz="850" dirty="0"/>
          </a:p>
        </p:txBody>
      </p:sp>
      <p:sp>
        <p:nvSpPr>
          <p:cNvPr id="26" name="Text 24"/>
          <p:cNvSpPr txBox="1"/>
          <p:nvPr/>
        </p:nvSpPr>
        <p:spPr>
          <a:xfrm>
            <a:off x="457200" y="354787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ATokenFile - LifeCycle pattern, 33 of 34 words grounded in the chapter's text</a:t>
            </a:r>
            <a:endParaRPr lang="en-US" sz="850" dirty="0"/>
          </a:p>
        </p:txBody>
      </p:sp>
      <p:sp>
        <p:nvSpPr>
          <p:cNvPr id="27" name="Text 25"/>
          <p:cNvSpPr txBox="1"/>
          <p:nvPr/>
        </p:nvSpPr>
        <p:spPr>
          <a:xfrm>
            <a:off x="457200" y="3840480"/>
            <a:ext cx="8229600" cy="493776"/>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against Google: the seven days are Google's rule for an app in Testing status with External users (its identity page and its audience help add a limit of 100 test users). The refusal was played against a local server that answered invalid_grant; the library then raised RefreshError and left the stale token-sheets.pickle in place.</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Plan for the token to expire: in Testing status the sign-in is weekly.</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token files are pickles, and a pickle runs code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Importing ezsheets loads the token file; a tampered file ran a statement before any call</a:t>
            </a:r>
            <a:endParaRPr lang="en-US" sz="1300" dirty="0"/>
          </a:p>
        </p:txBody>
      </p:sp>
      <p:sp>
        <p:nvSpPr>
          <p:cNvPr id="6" name="Text 4"/>
          <p:cNvSpPr txBox="1"/>
          <p:nvPr/>
        </p:nvSpPr>
        <p:spPr>
          <a:xfrm>
            <a:off x="457200" y="1143000"/>
            <a:ext cx="656539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tokenPickleRunsCode_v1_0_0.py, lines 1 to 7 of 7</a:t>
            </a:r>
            <a:endParaRPr lang="en-US" sz="1000" dirty="0"/>
          </a:p>
        </p:txBody>
      </p:sp>
      <p:sp>
        <p:nvSpPr>
          <p:cNvPr id="7" name="Shape 5"/>
          <p:cNvSpPr/>
          <p:nvPr/>
        </p:nvSpPr>
        <p:spPr>
          <a:xfrm>
            <a:off x="457200" y="1417320"/>
            <a:ext cx="6565392" cy="1289304"/>
          </a:xfrm>
          <a:prstGeom prst="roundRect">
            <a:avLst>
              <a:gd name="adj" fmla="val 7092"/>
            </a:avLst>
          </a:prstGeom>
          <a:solidFill>
            <a:srgbClr val="23272E"/>
          </a:solidFill>
          <a:ln w="12700">
            <a:solidFill>
              <a:srgbClr val="23272E"/>
            </a:solidFill>
            <a:prstDash val="solid"/>
          </a:ln>
        </p:spPr>
      </p:sp>
      <p:sp>
        <p:nvSpPr>
          <p:cNvPr id="8" name="Text 6"/>
          <p:cNvSpPr txBox="1"/>
          <p:nvPr/>
        </p:nvSpPr>
        <p:spPr>
          <a:xfrm>
            <a:off x="640080" y="1536192"/>
            <a:ext cx="6199632" cy="1051560"/>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os, tempfile, pickle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os.chdir(tempfile.mkdtemp())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class Evil: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__reduce__(self):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(exec, (</a:t>
            </a:r>
            <a:r>
              <a:rPr lang="en-US" sz="700" dirty="0">
                <a:solidFill>
                  <a:srgbClr val="9ECBFF"/>
                </a:solidFill>
                <a:latin typeface="Courier New" pitchFamily="34" charset="0"/>
                <a:ea typeface="Courier New" pitchFamily="34" charset="-122"/>
                <a:cs typeface="Courier New" pitchFamily="34" charset="-120"/>
              </a:rPr>
              <a:t>"open('PWNED.txt', 'w').write('ran')"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pickle.dump(Evil(), open(</a:t>
            </a:r>
            <a:r>
              <a:rPr lang="en-US" sz="700" dirty="0">
                <a:solidFill>
                  <a:srgbClr val="9ECBFF"/>
                </a:solidFill>
                <a:latin typeface="Courier New" pitchFamily="34" charset="0"/>
                <a:ea typeface="Courier New" pitchFamily="34" charset="-122"/>
                <a:cs typeface="Courier New" pitchFamily="34" charset="-120"/>
              </a:rPr>
              <a:t>'token-sheets.pickle'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'wb'</a:t>
            </a:r>
            <a:r>
              <a:rPr lang="en-US" sz="700" dirty="0">
                <a:solidFill>
                  <a:srgbClr val="E6EDF3"/>
                </a:solidFill>
                <a:latin typeface="Courier New" pitchFamily="34" charset="0"/>
                <a:ea typeface="Courier New" pitchFamily="34" charset="-122"/>
                <a:cs typeface="Courier New" pitchFamily="34" charset="-120"/>
              </a:rPr>
              <a:t>)); open(</a:t>
            </a:r>
            <a:r>
              <a:rPr lang="en-US" sz="700" dirty="0">
                <a:solidFill>
                  <a:srgbClr val="9ECBFF"/>
                </a:solidFill>
                <a:latin typeface="Courier New" pitchFamily="34" charset="0"/>
                <a:ea typeface="Courier New" pitchFamily="34" charset="-122"/>
                <a:cs typeface="Courier New" pitchFamily="34" charset="-120"/>
              </a:rPr>
              <a:t>'credentials-sheets.json'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a:t>
            </a:r>
            <a:r>
              <a:rPr lang="en-US" sz="700" dirty="0">
                <a:solidFill>
                  <a:srgbClr val="E6EDF3"/>
                </a:solidFill>
                <a:latin typeface="Courier New" pitchFamily="34" charset="0"/>
                <a:ea typeface="Courier New" pitchFamily="34" charset="-122"/>
                <a:cs typeface="Courier New" pitchFamily="34" charset="-120"/>
              </a:rPr>
              <a:t>).write(</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ezsheets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'marker written by import:'</a:t>
            </a:r>
            <a:r>
              <a:rPr lang="en-US" sz="700" dirty="0">
                <a:solidFill>
                  <a:srgbClr val="E6EDF3"/>
                </a:solidFill>
                <a:latin typeface="Courier New" pitchFamily="34" charset="0"/>
                <a:ea typeface="Courier New" pitchFamily="34" charset="-122"/>
                <a:cs typeface="Courier New" pitchFamily="34" charset="-120"/>
              </a:rPr>
              <a:t>, os.path.exists(</a:t>
            </a:r>
            <a:r>
              <a:rPr lang="en-US" sz="700" dirty="0">
                <a:solidFill>
                  <a:srgbClr val="9ECBFF"/>
                </a:solidFill>
                <a:latin typeface="Courier New" pitchFamily="34" charset="0"/>
                <a:ea typeface="Courier New" pitchFamily="34" charset="-122"/>
                <a:cs typeface="Courier New" pitchFamily="34" charset="-120"/>
              </a:rPr>
              <a:t>'PWNED.txt'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pickle protocol:'</a:t>
            </a:r>
            <a:r>
              <a:rPr lang="en-US" sz="700" dirty="0">
                <a:solidFill>
                  <a:srgbClr val="E6EDF3"/>
                </a:solidFill>
                <a:latin typeface="Courier New" pitchFamily="34" charset="0"/>
                <a:ea typeface="Courier New" pitchFamily="34" charset="-122"/>
                <a:cs typeface="Courier New" pitchFamily="34" charset="-120"/>
              </a:rPr>
              <a:t>, pickle.DEFAULT_PROTOCOL)</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marker written by import: True | pickle protocol: 5</a:t>
            </a:r>
            <a:endParaRPr lang="en-US" sz="700" dirty="0"/>
          </a:p>
        </p:txBody>
      </p:sp>
      <p:sp>
        <p:nvSpPr>
          <p:cNvPr id="9" name="Text 7"/>
          <p:cNvSpPr txBox="1"/>
          <p:nvPr/>
        </p:nvSpPr>
        <p:spPr>
          <a:xfrm>
            <a:off x="457200" y="2935224"/>
            <a:ext cx="457200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the standard library does the same, harmlessly</a:t>
            </a:r>
            <a:endParaRPr lang="en-US" sz="1000" dirty="0"/>
          </a:p>
        </p:txBody>
      </p:sp>
      <p:sp>
        <p:nvSpPr>
          <p:cNvPr id="10" name="Shape 8"/>
          <p:cNvSpPr/>
          <p:nvPr/>
        </p:nvSpPr>
        <p:spPr>
          <a:xfrm>
            <a:off x="457200" y="3209544"/>
            <a:ext cx="4572000" cy="1078992"/>
          </a:xfrm>
          <a:prstGeom prst="roundRect">
            <a:avLst>
              <a:gd name="adj" fmla="val 8475"/>
            </a:avLst>
          </a:prstGeom>
          <a:solidFill>
            <a:srgbClr val="23272E"/>
          </a:solidFill>
          <a:ln w="12700">
            <a:solidFill>
              <a:srgbClr val="23272E"/>
            </a:solidFill>
            <a:prstDash val="solid"/>
          </a:ln>
        </p:spPr>
      </p:sp>
      <p:sp>
        <p:nvSpPr>
          <p:cNvPr id="11" name="Text 9"/>
          <p:cNvSpPr txBox="1"/>
          <p:nvPr/>
        </p:nvSpPr>
        <p:spPr>
          <a:xfrm>
            <a:off x="640080" y="3328416"/>
            <a:ext cx="4206240" cy="841248"/>
          </a:xfrm>
          <a:prstGeom prst="rect">
            <a:avLst/>
          </a:prstGeom>
          <a:noFill/>
          <a:ln/>
        </p:spPr>
        <p:txBody>
          <a:bodyPr wrap="square" lIns="0" tIns="0" rIns="0" bIns="0" rtlCol="0" anchor="t"/>
          <a:lstStyle/>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import pickle</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class Evil: __reduce__ = lambda self: (eval, ('6 * 7',))</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data = pickle.dumps(Evil())</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pickle.loads(data)</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42</a:t>
            </a:r>
            <a:endParaRPr lang="en-US" sz="870" dirty="0"/>
          </a:p>
        </p:txBody>
      </p:sp>
      <p:sp>
        <p:nvSpPr>
          <p:cNvPr id="12" name="Text 10"/>
          <p:cNvSpPr txBox="1"/>
          <p:nvPr/>
        </p:nvSpPr>
        <p:spPr>
          <a:xfrm>
            <a:off x="457200" y="4306824"/>
            <a:ext cx="45720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3" name="Shape 11"/>
          <p:cNvSpPr/>
          <p:nvPr/>
        </p:nvSpPr>
        <p:spPr>
          <a:xfrm>
            <a:off x="5212080" y="2889504"/>
            <a:ext cx="3474720" cy="1591056"/>
          </a:xfrm>
          <a:prstGeom prst="roundRect">
            <a:avLst>
              <a:gd name="adj" fmla="val 5747"/>
            </a:avLst>
          </a:prstGeom>
          <a:solidFill>
            <a:srgbClr val="F2ECE1"/>
          </a:solidFill>
          <a:ln w="12700">
            <a:solidFill>
              <a:srgbClr val="F2ECE1"/>
            </a:solidFill>
            <a:prstDash val="solid"/>
          </a:ln>
        </p:spPr>
      </p:sp>
      <p:sp>
        <p:nvSpPr>
          <p:cNvPr id="14" name="Text 12"/>
          <p:cNvSpPr txBox="1"/>
          <p:nvPr/>
        </p:nvSpPr>
        <p:spPr>
          <a:xfrm>
            <a:off x="5394960" y="3008376"/>
            <a:ext cx="310896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A token file is a program</a:t>
            </a:r>
            <a:endParaRPr lang="en-US" sz="1600" dirty="0"/>
          </a:p>
        </p:txBody>
      </p:sp>
      <p:sp>
        <p:nvSpPr>
          <p:cNvPr id="15" name="Text 13"/>
          <p:cNvSpPr txBox="1"/>
          <p:nvPr/>
        </p:nvSpPr>
        <p:spPr>
          <a:xfrm>
            <a:off x="5394960" y="3392424"/>
            <a:ext cx="3108960" cy="95097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chapter warns that shared files let others read your spreadsheets. It does not say that a token file you receive from someone else runs code when you import ezsheets. Python's documentation calls pickle not secure.</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Treat a token file as code; never import ezsheets beside a stranger's.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Spreadsheet objects: title, sheets, and Sheet()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Opening and making a spreadsheet; what is read-only; what the printed Sheet objects hide</a:t>
            </a:r>
            <a:endParaRPr lang="en-US" sz="1300" dirty="0"/>
          </a:p>
        </p:txBody>
      </p:sp>
      <p:sp>
        <p:nvSpPr>
          <p:cNvPr id="6" name="Text 4"/>
          <p:cNvSpPr txBox="1"/>
          <p:nvPr/>
        </p:nvSpPr>
        <p:spPr>
          <a:xfrm>
            <a:off x="457200" y="1097280"/>
            <a:ext cx="452628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spreadsheetAttributes_v1_0_0.py</a:t>
            </a:r>
            <a:endParaRPr lang="en-US" sz="1000" dirty="0"/>
          </a:p>
        </p:txBody>
      </p:sp>
      <p:sp>
        <p:nvSpPr>
          <p:cNvPr id="7" name="Shape 5"/>
          <p:cNvSpPr/>
          <p:nvPr/>
        </p:nvSpPr>
        <p:spPr>
          <a:xfrm>
            <a:off x="457200" y="1371600"/>
            <a:ext cx="4526280" cy="2935224"/>
          </a:xfrm>
          <a:prstGeom prst="roundRect">
            <a:avLst>
              <a:gd name="adj" fmla="val 3115"/>
            </a:avLst>
          </a:prstGeom>
          <a:solidFill>
            <a:srgbClr val="23272E"/>
          </a:solidFill>
          <a:ln w="12700">
            <a:solidFill>
              <a:srgbClr val="23272E"/>
            </a:solidFill>
            <a:prstDash val="solid"/>
          </a:ln>
        </p:spPr>
      </p:sp>
      <p:sp>
        <p:nvSpPr>
          <p:cNvPr id="8" name="Text 6"/>
          <p:cNvSpPr txBox="1"/>
          <p:nvPr/>
        </p:nvSpPr>
        <p:spPr>
          <a:xfrm>
            <a:off x="640080" y="1490472"/>
            <a:ext cx="4160520" cy="2697480"/>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&gt;&gt;&gt; ss.title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'Untitled spreadsheet'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ss.title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'Sweigart Books'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ss.sheetTitles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('Copy of Books',)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ss.sheets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(&lt;Sheet sheetId=100, title='Copy of Books', rowCount=1, columnCount=4&gt;,)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ss['Copy of Books']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&lt;Sheet sheetId=100, title='Copy of Books', rowCount=1, columnCount=4&gt;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ss.Sheet('New blank sheet')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ss.sheetTitles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('Copy of Books', 'New blank sheet')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ss.sheetTitles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('Copy of Books',)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property 'id' of 'Spreadsheet' object has no setter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property 'url' of 'Spreadsheet' object has no setter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property 'sheetTitles' of 'Spreadsheet' object has no setter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ss.sheets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 plain attribute'</a:t>
            </a:r>
            <a:endParaRPr lang="en-US" sz="700" dirty="0"/>
          </a:p>
        </p:txBody>
      </p:sp>
      <p:sp>
        <p:nvSpPr>
          <p:cNvPr id="9" name="Shape 7"/>
          <p:cNvSpPr/>
          <p:nvPr/>
        </p:nvSpPr>
        <p:spPr>
          <a:xfrm>
            <a:off x="5120640" y="1371600"/>
            <a:ext cx="3566160" cy="1371600"/>
          </a:xfrm>
          <a:prstGeom prst="roundRect">
            <a:avLst>
              <a:gd name="adj" fmla="val 6667"/>
            </a:avLst>
          </a:prstGeom>
          <a:solidFill>
            <a:srgbClr val="F2ECE1"/>
          </a:solidFill>
          <a:ln w="12700">
            <a:solidFill>
              <a:srgbClr val="F2ECE1"/>
            </a:solidFill>
            <a:prstDash val="solid"/>
          </a:ln>
        </p:spPr>
      </p:sp>
      <p:sp>
        <p:nvSpPr>
          <p:cNvPr id="10" name="Text 8"/>
          <p:cNvSpPr txBox="1"/>
          <p:nvPr/>
        </p:nvSpPr>
        <p:spPr>
          <a:xfrm>
            <a:off x="5303520" y="1490472"/>
            <a:ext cx="32004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Sheet() answers None</a:t>
            </a:r>
            <a:endParaRPr lang="en-US" sz="1600" dirty="0"/>
          </a:p>
        </p:txBody>
      </p:sp>
      <p:sp>
        <p:nvSpPr>
          <p:cNvPr id="11" name="Text 9"/>
          <p:cNvSpPr txBox="1"/>
          <p:nvPr/>
        </p:nvSpPr>
        <p:spPr>
          <a:xfrm>
            <a:off x="5303520" y="1874520"/>
            <a:ext cx="3200400" cy="731520"/>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Spreadsheet.Sheet() was added in release 2024.8.8 as a wrapper that returns nothing, so the Sheet objects the chapter prints do not come from it. createSheet() returns the Sheet.</a:t>
            </a:r>
            <a:endParaRPr lang="en-US" sz="1000" dirty="0"/>
          </a:p>
        </p:txBody>
      </p:sp>
      <p:sp>
        <p:nvSpPr>
          <p:cNvPr id="12" name="Shape 10"/>
          <p:cNvSpPr/>
          <p:nvPr/>
        </p:nvSpPr>
        <p:spPr>
          <a:xfrm>
            <a:off x="5120640" y="2834640"/>
            <a:ext cx="3566160" cy="1188720"/>
          </a:xfrm>
          <a:prstGeom prst="roundRect">
            <a:avLst>
              <a:gd name="adj" fmla="val 7692"/>
            </a:avLst>
          </a:prstGeom>
          <a:solidFill>
            <a:srgbClr val="F2ECE1"/>
          </a:solidFill>
          <a:ln w="12700">
            <a:solidFill>
              <a:srgbClr val="F2ECE1"/>
            </a:solidFill>
            <a:prstDash val="solid"/>
          </a:ln>
        </p:spPr>
      </p:sp>
      <p:sp>
        <p:nvSpPr>
          <p:cNvPr id="13" name="Text 11"/>
          <p:cNvSpPr txBox="1"/>
          <p:nvPr/>
        </p:nvSpPr>
        <p:spPr>
          <a:xfrm>
            <a:off x="5303520" y="2953512"/>
            <a:ext cx="32004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Three read-only names</a:t>
            </a:r>
            <a:endParaRPr lang="en-US" sz="1600" dirty="0"/>
          </a:p>
        </p:txBody>
      </p:sp>
      <p:sp>
        <p:nvSpPr>
          <p:cNvPr id="14" name="Text 12"/>
          <p:cNvSpPr txBox="1"/>
          <p:nvPr/>
        </p:nvSpPr>
        <p:spPr>
          <a:xfrm>
            <a:off x="5303520" y="3337560"/>
            <a:ext cx="3200400" cy="54864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id, url and sheetTitles have no setter: assigning raises AttributeError. sheets is a plain attribute, so assigning to it replaces the tuple.</a:t>
            </a:r>
            <a:endParaRPr lang="en-US" sz="950" dirty="0"/>
          </a:p>
        </p:txBody>
      </p:sp>
      <p:sp>
        <p:nvSpPr>
          <p:cNvPr id="15" name="Text 13"/>
          <p:cNvSpPr txBox="1"/>
          <p:nvPr/>
        </p:nvSpPr>
        <p:spPr>
          <a:xfrm>
            <a:off x="5120640" y="4059936"/>
            <a:ext cx="3566160" cy="44805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for Google: this output comes from the real EZSheets library talking to a stand-in written for this study, not from Google.</a:t>
            </a:r>
            <a:endParaRPr lang="en-US" sz="9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Sheet() returns None; createSheet() returns the Sheet.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Addresses and column letters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A1 notation is a column in base 26 and a row; the library converts both ways</a:t>
            </a:r>
            <a:endParaRPr lang="en-US" sz="1300" dirty="0"/>
          </a:p>
        </p:txBody>
      </p:sp>
      <p:sp>
        <p:nvSpPr>
          <p:cNvPr id="6" name="Text 4"/>
          <p:cNvSpPr txBox="1"/>
          <p:nvPr/>
        </p:nvSpPr>
        <p:spPr>
          <a:xfrm>
            <a:off x="457200" y="1097280"/>
            <a:ext cx="411480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column letters in base 26; standard library only</a:t>
            </a:r>
            <a:endParaRPr lang="en-US" sz="1000" dirty="0"/>
          </a:p>
        </p:txBody>
      </p:sp>
      <p:sp>
        <p:nvSpPr>
          <p:cNvPr id="7" name="Shape 5"/>
          <p:cNvSpPr/>
          <p:nvPr/>
        </p:nvSpPr>
        <p:spPr>
          <a:xfrm>
            <a:off x="457200" y="1371600"/>
            <a:ext cx="4114800" cy="1956816"/>
          </a:xfrm>
          <a:prstGeom prst="roundRect">
            <a:avLst>
              <a:gd name="adj" fmla="val 4673"/>
            </a:avLst>
          </a:prstGeom>
          <a:solidFill>
            <a:srgbClr val="23272E"/>
          </a:solidFill>
          <a:ln w="12700">
            <a:solidFill>
              <a:srgbClr val="23272E"/>
            </a:solidFill>
            <a:prstDash val="solid"/>
          </a:ln>
        </p:spPr>
      </p:sp>
      <p:sp>
        <p:nvSpPr>
          <p:cNvPr id="8" name="Text 6"/>
          <p:cNvSpPr txBox="1"/>
          <p:nvPr/>
        </p:nvSpPr>
        <p:spPr>
          <a:xfrm>
            <a:off x="640080" y="1490472"/>
            <a:ext cx="3749040" cy="1719072"/>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L = 'ABCDEFGHIJKLMNOPQRSTUVWXYZ'</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col = lambda n: col((n-1)//26) + L[(n-1)%26] if n else ''</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col(2)</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'B'</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col(27)</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'AA'</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col(999)</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'ALK'</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col(18278)</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'ZZZ'</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sum(26 ** k for k in (1, 2, 3))</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18278</a:t>
            </a:r>
            <a:endParaRPr lang="en-US" sz="760" dirty="0"/>
          </a:p>
        </p:txBody>
      </p:sp>
      <p:sp>
        <p:nvSpPr>
          <p:cNvPr id="9" name="Text 7"/>
          <p:cNvSpPr txBox="1"/>
          <p:nvPr/>
        </p:nvSpPr>
        <p:spPr>
          <a:xfrm>
            <a:off x="457200" y="3346704"/>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754880" y="1097280"/>
            <a:ext cx="393192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addressesAndLetters_v1_0_0.py</a:t>
            </a:r>
            <a:endParaRPr lang="en-US" sz="1000" dirty="0"/>
          </a:p>
        </p:txBody>
      </p:sp>
      <p:sp>
        <p:nvSpPr>
          <p:cNvPr id="11" name="Shape 9"/>
          <p:cNvSpPr/>
          <p:nvPr/>
        </p:nvSpPr>
        <p:spPr>
          <a:xfrm>
            <a:off x="4754880" y="1371600"/>
            <a:ext cx="3931920" cy="2807208"/>
          </a:xfrm>
          <a:prstGeom prst="roundRect">
            <a:avLst>
              <a:gd name="adj" fmla="val 3257"/>
            </a:avLst>
          </a:prstGeom>
          <a:solidFill>
            <a:srgbClr val="23272E"/>
          </a:solidFill>
          <a:ln w="12700">
            <a:solidFill>
              <a:srgbClr val="23272E"/>
            </a:solidFill>
            <a:prstDash val="solid"/>
          </a:ln>
        </p:spPr>
      </p:sp>
      <p:sp>
        <p:nvSpPr>
          <p:cNvPr id="12" name="Text 10"/>
          <p:cNvSpPr txBox="1"/>
          <p:nvPr/>
        </p:nvSpPr>
        <p:spPr>
          <a:xfrm>
            <a:off x="4937760" y="1490472"/>
            <a:ext cx="3566160" cy="2569464"/>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&gt;&gt;&gt; ezsheets.convertAddress('A2')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ezsheets.convertAddress(1,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ezsheets.getColumnLetterOf(2)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ezsheets.getColumnNumberOf('B')</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ezsheets.getColumnLetterOf(999)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'ALK'</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ezsheets.getColumnNumberOf('ZZZ')</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18278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ezsheets.convertAddress((2, 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ezsheets.getColumnNumberOf('zz')</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702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getColumnLetterOf 0 ValueError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getColumnLetterOf 'A' TypeError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getColumnNumberOf 'A1' ValueError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getColumnNumberOf 5 TypeError</a:t>
            </a:r>
            <a:endParaRPr lang="en-US" sz="700" dirty="0"/>
          </a:p>
        </p:txBody>
      </p:sp>
      <p:sp>
        <p:nvSpPr>
          <p:cNvPr id="13" name="Text 11"/>
          <p:cNvSpPr txBox="1"/>
          <p:nvPr/>
        </p:nvSpPr>
        <p:spPr>
          <a:xfrm>
            <a:off x="457200" y="3675888"/>
            <a:ext cx="411480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ZZZ is the last three-letter column, number 18,278; the library agreed with this arithmetic for every number from 1 to 200,000.</a:t>
            </a:r>
            <a:endParaRPr lang="en-US" sz="9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Column letters are base 26 with no zero; the library refuses the rest.</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Opening by URL, and the name of a download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id is cut out of a URL by position; a download's file name is made from the title</a:t>
            </a:r>
            <a:endParaRPr lang="en-US" sz="1300" dirty="0"/>
          </a:p>
        </p:txBody>
      </p:sp>
      <p:sp>
        <p:nvSpPr>
          <p:cNvPr id="6" name="Text 4"/>
          <p:cNvSpPr txBox="1"/>
          <p:nvPr/>
        </p:nvSpPr>
        <p:spPr>
          <a:xfrm>
            <a:off x="457200" y="1143000"/>
            <a:ext cx="470001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getIdFromUrl_v1_0_0.py, lines 4 to 12 of 12</a:t>
            </a:r>
            <a:endParaRPr lang="en-US" sz="1000" dirty="0"/>
          </a:p>
        </p:txBody>
      </p:sp>
      <p:sp>
        <p:nvSpPr>
          <p:cNvPr id="7" name="Shape 5"/>
          <p:cNvSpPr/>
          <p:nvPr/>
        </p:nvSpPr>
        <p:spPr>
          <a:xfrm>
            <a:off x="457200" y="1417320"/>
            <a:ext cx="4700016" cy="2048256"/>
          </a:xfrm>
          <a:prstGeom prst="roundRect">
            <a:avLst>
              <a:gd name="adj" fmla="val 4464"/>
            </a:avLst>
          </a:prstGeom>
          <a:solidFill>
            <a:srgbClr val="23272E"/>
          </a:solidFill>
          <a:ln w="12700">
            <a:solidFill>
              <a:srgbClr val="23272E"/>
            </a:solidFill>
            <a:prstDash val="solid"/>
          </a:ln>
        </p:spPr>
      </p:sp>
      <p:sp>
        <p:nvSpPr>
          <p:cNvPr id="8" name="Text 6"/>
          <p:cNvSpPr txBox="1"/>
          <p:nvPr/>
        </p:nvSpPr>
        <p:spPr>
          <a:xfrm>
            <a:off x="640080" y="1536192"/>
            <a:ext cx="4334256" cy="181051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ID = </a:t>
            </a:r>
            <a:r>
              <a:rPr lang="en-US" sz="700" dirty="0">
                <a:solidFill>
                  <a:srgbClr val="9ECBFF"/>
                </a:solidFill>
                <a:latin typeface="Courier New" pitchFamily="34" charset="0"/>
                <a:ea typeface="Courier New" pitchFamily="34" charset="-122"/>
                <a:cs typeface="Courier New" pitchFamily="34" charset="-120"/>
              </a:rPr>
              <a:t>'1TzOJxhNKr15tzdZxTqtQ3EmDP6em_elnbtmZIcyu8vI'</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BASE = </a:t>
            </a:r>
            <a:r>
              <a:rPr lang="en-US" sz="700" dirty="0">
                <a:solidFill>
                  <a:srgbClr val="9ECBFF"/>
                </a:solidFill>
                <a:latin typeface="Courier New" pitchFamily="34" charset="0"/>
                <a:ea typeface="Courier New" pitchFamily="34" charset="-122"/>
                <a:cs typeface="Courier New" pitchFamily="34" charset="-120"/>
              </a:rPr>
              <a:t>'https://docs.google.com/spreadsheets/d/'</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tail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('/edit</a:t>
            </a:r>
            <a:r>
              <a:rPr lang="en-US" sz="700" i="1" dirty="0">
                <a:solidFill>
                  <a:srgbClr val="8FA98F"/>
                </a:solidFill>
                <a:latin typeface="Courier New" pitchFamily="34" charset="0"/>
                <a:ea typeface="Courier New" pitchFamily="34" charset="-122"/>
                <a:cs typeface="Courier New" pitchFamily="34" charset="-120"/>
              </a:rPr>
              <a:t>#gid=0',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print(repr(tail), ezsheets.getIdFromUrl(BASE + ID + tail) == ID)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print(ezsheets.getIdFromUrl(BASE + ID)[-</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 ID[-</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ezsheets.getIdFromUrl(</a:t>
            </a:r>
            <a:r>
              <a:rPr lang="en-US" sz="700" dirty="0">
                <a:solidFill>
                  <a:srgbClr val="9ECBFF"/>
                </a:solidFill>
                <a:latin typeface="Courier New" pitchFamily="34" charset="0"/>
                <a:ea typeface="Courier New" pitchFamily="34" charset="-122"/>
                <a:cs typeface="Courier New" pitchFamily="34" charset="-120"/>
              </a:rPr>
              <a:t>'https://docs.google.com/spreadsheets/u/3/d/'</a:t>
            </a:r>
            <a:r>
              <a:rPr lang="en-US" sz="700" dirty="0">
                <a:solidFill>
                  <a:srgbClr val="E6EDF3"/>
                </a:solidFill>
                <a:latin typeface="Courier New" pitchFamily="34" charset="0"/>
                <a:ea typeface="Courier New" pitchFamily="34" charset="-122"/>
                <a:cs typeface="Courier New" pitchFamily="34" charset="-120"/>
              </a:rPr>
              <a:t> + ID)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ValueError as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'ValueError'</a:t>
            </a:r>
            <a:r>
              <a:rPr lang="en-US" sz="700" dirty="0">
                <a:solidFill>
                  <a:srgbClr val="E6EDF3"/>
                </a:solidFill>
                <a:latin typeface="Courier New" pitchFamily="34" charset="0"/>
                <a:ea typeface="Courier New" pitchFamily="34" charset="-122"/>
                <a:cs typeface="Courier New" pitchFamily="34" charset="-120"/>
              </a:rPr>
              <a:t>, 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'/edit#gid=0'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yu8v u8vI</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ValueError url argument must be an alphanumeric id or a full URL</a:t>
            </a:r>
            <a:endParaRPr lang="en-US" sz="700" dirty="0"/>
          </a:p>
        </p:txBody>
      </p:sp>
      <p:sp>
        <p:nvSpPr>
          <p:cNvPr id="9" name="Text 7"/>
          <p:cNvSpPr txBox="1"/>
          <p:nvPr/>
        </p:nvSpPr>
        <p:spPr>
          <a:xfrm>
            <a:off x="457200" y="3419856"/>
            <a:ext cx="515721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downloadName_v1_0_0.py, lines 73 to 74 of 74</a:t>
            </a:r>
            <a:endParaRPr lang="en-US" sz="1000" dirty="0"/>
          </a:p>
        </p:txBody>
      </p:sp>
      <p:sp>
        <p:nvSpPr>
          <p:cNvPr id="10" name="Shape 8"/>
          <p:cNvSpPr/>
          <p:nvPr/>
        </p:nvSpPr>
        <p:spPr>
          <a:xfrm>
            <a:off x="457200" y="3694176"/>
            <a:ext cx="5157216" cy="658368"/>
          </a:xfrm>
          <a:prstGeom prst="roundRect">
            <a:avLst>
              <a:gd name="adj" fmla="val 13889"/>
            </a:avLst>
          </a:prstGeom>
          <a:solidFill>
            <a:srgbClr val="23272E"/>
          </a:solidFill>
          <a:ln w="12700">
            <a:solidFill>
              <a:srgbClr val="23272E"/>
            </a:solidFill>
            <a:prstDash val="solid"/>
          </a:ln>
        </p:spPr>
      </p:sp>
      <p:sp>
        <p:nvSpPr>
          <p:cNvPr id="11" name="Text 9"/>
          <p:cNvSpPr txBox="1"/>
          <p:nvPr/>
        </p:nvSpPr>
        <p:spPr>
          <a:xfrm>
            <a:off x="640080" y="3813048"/>
            <a:ext cx="4791456" cy="42062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ss = ezsheets.Spreadsheet(g.load(</a:t>
            </a:r>
            <a:r>
              <a:rPr lang="en-US" sz="700" dirty="0">
                <a:solidFill>
                  <a:srgbClr val="9ECBFF"/>
                </a:solidFill>
                <a:latin typeface="Courier New" pitchFamily="34" charset="0"/>
                <a:ea typeface="Courier New" pitchFamily="34" charset="-122"/>
                <a:cs typeface="Courier New" pitchFamily="34" charset="-120"/>
              </a:rPr>
              <a:t>'X'</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'Sweigart Books (DO NOT DELETE)'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'TITLE'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print(ss.downloadAsExcel())</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Sweigart_Books_(DO_NOT_DELETE).xlsx</a:t>
            </a:r>
            <a:endParaRPr lang="en-US" sz="700" dirty="0"/>
          </a:p>
        </p:txBody>
      </p:sp>
      <p:sp>
        <p:nvSpPr>
          <p:cNvPr id="12" name="Shape 10"/>
          <p:cNvSpPr/>
          <p:nvPr/>
        </p:nvSpPr>
        <p:spPr>
          <a:xfrm>
            <a:off x="5715000" y="1371600"/>
            <a:ext cx="2971800" cy="1783080"/>
          </a:xfrm>
          <a:prstGeom prst="roundRect">
            <a:avLst>
              <a:gd name="adj" fmla="val 5128"/>
            </a:avLst>
          </a:prstGeom>
          <a:solidFill>
            <a:srgbClr val="F2ECE1"/>
          </a:solidFill>
          <a:ln w="12700">
            <a:solidFill>
              <a:srgbClr val="F2ECE1"/>
            </a:solidFill>
            <a:prstDash val="solid"/>
          </a:ln>
        </p:spPr>
      </p:sp>
      <p:sp>
        <p:nvSpPr>
          <p:cNvPr id="13" name="Text 11"/>
          <p:cNvSpPr txBox="1"/>
          <p:nvPr/>
        </p:nvSpPr>
        <p:spPr>
          <a:xfrm>
            <a:off x="5897880" y="1490472"/>
            <a:ext cx="260604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URL ending at the id</a:t>
            </a:r>
            <a:endParaRPr lang="en-US" sz="1600" dirty="0"/>
          </a:p>
        </p:txBody>
      </p:sp>
      <p:sp>
        <p:nvSpPr>
          <p:cNvPr id="14" name="Text 12"/>
          <p:cNvSpPr txBox="1"/>
          <p:nvPr/>
        </p:nvSpPr>
        <p:spPr>
          <a:xfrm>
            <a:off x="5897880" y="1874520"/>
            <a:ext cx="2606040" cy="114300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getIdFromUrl takes the characters after /spreadsheets/d/ up to the next slash. A URL that ends right after the id loses its last character; the /u/3/ form raises ValueError.</a:t>
            </a:r>
            <a:endParaRPr lang="en-US" sz="950" dirty="0"/>
          </a:p>
        </p:txBody>
      </p:sp>
      <p:sp>
        <p:nvSpPr>
          <p:cNvPr id="15" name="Shape 13"/>
          <p:cNvSpPr/>
          <p:nvPr/>
        </p:nvSpPr>
        <p:spPr>
          <a:xfrm>
            <a:off x="5715000" y="3200400"/>
            <a:ext cx="2971800" cy="1143000"/>
          </a:xfrm>
          <a:prstGeom prst="roundRect">
            <a:avLst>
              <a:gd name="adj" fmla="val 8000"/>
            </a:avLst>
          </a:prstGeom>
          <a:solidFill>
            <a:srgbClr val="F2ECE1"/>
          </a:solidFill>
          <a:ln w="12700">
            <a:solidFill>
              <a:srgbClr val="F2ECE1"/>
            </a:solidFill>
            <a:prstDash val="solid"/>
          </a:ln>
        </p:spPr>
      </p:sp>
      <p:sp>
        <p:nvSpPr>
          <p:cNvPr id="16" name="Text 14"/>
          <p:cNvSpPr txBox="1"/>
          <p:nvPr/>
        </p:nvSpPr>
        <p:spPr>
          <a:xfrm>
            <a:off x="5897880" y="3319272"/>
            <a:ext cx="2606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file name from a title</a:t>
            </a:r>
            <a:endParaRPr lang="en-US" sz="1600" dirty="0"/>
          </a:p>
        </p:txBody>
      </p:sp>
      <p:sp>
        <p:nvSpPr>
          <p:cNvPr id="17" name="Text 15"/>
          <p:cNvSpPr txBox="1"/>
          <p:nvPr/>
        </p:nvSpPr>
        <p:spPr>
          <a:xfrm>
            <a:off x="5897880" y="3703320"/>
            <a:ext cx="2606040" cy="502920"/>
          </a:xfrm>
          <a:prstGeom prst="rect">
            <a:avLst/>
          </a:prstGeom>
          <a:noFill/>
          <a:ln/>
        </p:spPr>
        <p:txBody>
          <a:bodyPr wrap="square" lIns="0" tIns="0" rIns="0" bIns="0" rtlCol="0" anchor="t"/>
          <a:lstStyle/>
          <a:p>
            <a:pPr indent="0" marL="0">
              <a:buNone/>
            </a:pPr>
            <a:r>
              <a:rPr lang="en-US" sz="850" dirty="0">
                <a:solidFill>
                  <a:srgbClr val="2B2622"/>
                </a:solidFill>
                <a:latin typeface="Calibri" pitchFamily="34" charset="0"/>
                <a:ea typeface="Calibri" pitchFamily="34" charset="-122"/>
                <a:cs typeface="Calibri" pitchFamily="34" charset="-120"/>
              </a:rPr>
              <a:t>Anything but letters, digits, _ and . becomes an underscore, so the chapter's Sweigart_Books.xlsx is not what the release saves.</a:t>
            </a:r>
            <a:endParaRPr lang="en-US" sz="850" dirty="0"/>
          </a:p>
        </p:txBody>
      </p:sp>
      <p:sp>
        <p:nvSpPr>
          <p:cNvPr id="18" name="Text 16"/>
          <p:cNvSpPr txBox="1"/>
          <p:nvPr/>
        </p:nvSpPr>
        <p:spPr>
          <a:xfrm>
            <a:off x="457200" y="4389120"/>
            <a:ext cx="8229600" cy="17373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for Google: this output comes from the real EZSheets library talking to a stand-in written for this study, not from Google.</a:t>
            </a:r>
            <a:endParaRPr lang="en-US" sz="90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Names and ids are derived by rule: check the rule before you trust the result.</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Rows and columns as lists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call reads a whole row or column; one call writes it back</a:t>
            </a:r>
            <a:endParaRPr lang="en-US" sz="1300" dirty="0"/>
          </a:p>
        </p:txBody>
      </p:sp>
      <p:sp>
        <p:nvSpPr>
          <p:cNvPr id="6" name="Text 4"/>
          <p:cNvSpPr txBox="1"/>
          <p:nvPr/>
        </p:nvSpPr>
        <p:spPr>
          <a:xfrm>
            <a:off x="457200" y="1097280"/>
            <a:ext cx="370332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rowsAndColumns_v1_0_0.py</a:t>
            </a:r>
            <a:endParaRPr lang="en-US" sz="1000" dirty="0"/>
          </a:p>
        </p:txBody>
      </p:sp>
      <p:sp>
        <p:nvSpPr>
          <p:cNvPr id="7" name="Shape 5"/>
          <p:cNvSpPr/>
          <p:nvPr/>
        </p:nvSpPr>
        <p:spPr>
          <a:xfrm>
            <a:off x="457200" y="1371600"/>
            <a:ext cx="3703320" cy="2432304"/>
          </a:xfrm>
          <a:prstGeom prst="roundRect">
            <a:avLst>
              <a:gd name="adj" fmla="val 3759"/>
            </a:avLst>
          </a:prstGeom>
          <a:solidFill>
            <a:srgbClr val="23272E"/>
          </a:solidFill>
          <a:ln w="12700">
            <a:solidFill>
              <a:srgbClr val="23272E"/>
            </a:solidFill>
            <a:prstDash val="solid"/>
          </a:ln>
        </p:spPr>
      </p:sp>
      <p:sp>
        <p:nvSpPr>
          <p:cNvPr id="8" name="Text 6"/>
          <p:cNvSpPr txBox="1"/>
          <p:nvPr/>
        </p:nvSpPr>
        <p:spPr>
          <a:xfrm>
            <a:off x="640080" y="1490472"/>
            <a:ext cx="3337560" cy="2194560"/>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&gt;&gt;&gt; sheet.getRow(1)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['PRODUCE', 'COST PER POUND', 'POUNDS SOLD', 'TOTAL']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sheet.getRow(2)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['Potatoes', '0.86', '21.6', '18.58']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sheet.getColumn(1)[:5]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['PRODUCE', 'Potatoes', 'Okra', 'Fava beans', 'Watermelon']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sheet.getColumn('A') == sheet.getColumn(1)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sheet.getRow(3)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['Okra', '2.26', '38.6', '87.24']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sheet.getRow(3)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['Pumpkin', '11.50', '20', '230']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vals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['Pumpkin', '11.50', '20', '230']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 COLUMNS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sheet.getColumn(1)[:4]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['PRODUCE', 'POTATOES', 'PUMPKIN', 'FAVA BEANS']</a:t>
            </a:r>
            <a:endParaRPr lang="en-US" sz="700" dirty="0"/>
          </a:p>
        </p:txBody>
      </p:sp>
      <p:sp>
        <p:nvSpPr>
          <p:cNvPr id="9" name="Text 7"/>
          <p:cNvSpPr txBox="1"/>
          <p:nvPr/>
        </p:nvSpPr>
        <p:spPr>
          <a:xfrm>
            <a:off x="4297680" y="1143000"/>
            <a:ext cx="438912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rowsAndColumns_v1_0_0.py, lines 76 to 78 of 79</a:t>
            </a:r>
            <a:endParaRPr lang="en-US" sz="1000" dirty="0"/>
          </a:p>
        </p:txBody>
      </p:sp>
      <p:sp>
        <p:nvSpPr>
          <p:cNvPr id="10" name="Shape 8"/>
          <p:cNvSpPr/>
          <p:nvPr/>
        </p:nvSpPr>
        <p:spPr>
          <a:xfrm>
            <a:off x="4297680" y="1417320"/>
            <a:ext cx="4389120" cy="658368"/>
          </a:xfrm>
          <a:prstGeom prst="roundRect">
            <a:avLst>
              <a:gd name="adj" fmla="val 13889"/>
            </a:avLst>
          </a:prstGeom>
          <a:solidFill>
            <a:srgbClr val="23272E"/>
          </a:solidFill>
          <a:ln w="12700">
            <a:solidFill>
              <a:srgbClr val="23272E"/>
            </a:solidFill>
            <a:prstDash val="solid"/>
          </a:ln>
        </p:spPr>
      </p:sp>
      <p:sp>
        <p:nvSpPr>
          <p:cNvPr id="11" name="Text 9"/>
          <p:cNvSpPr txBox="1"/>
          <p:nvPr/>
        </p:nvSpPr>
        <p:spPr>
          <a:xfrm>
            <a:off x="4480560" y="1536192"/>
            <a:ext cx="4023360" cy="42062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columnOne = sheet.getColumn(</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value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enumerate(columnOne):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columnOne[i] = value.upper()</a:t>
            </a:r>
            <a:endParaRPr lang="en-US" sz="700" dirty="0"/>
          </a:p>
        </p:txBody>
      </p:sp>
      <p:sp>
        <p:nvSpPr>
          <p:cNvPr id="12" name="Shape 10"/>
          <p:cNvSpPr/>
          <p:nvPr/>
        </p:nvSpPr>
        <p:spPr>
          <a:xfrm>
            <a:off x="4297680" y="2212848"/>
            <a:ext cx="4389120" cy="1417320"/>
          </a:xfrm>
          <a:prstGeom prst="roundRect">
            <a:avLst>
              <a:gd name="adj" fmla="val 6452"/>
            </a:avLst>
          </a:prstGeom>
          <a:solidFill>
            <a:srgbClr val="F2ECE1"/>
          </a:solidFill>
          <a:ln w="12700">
            <a:solidFill>
              <a:srgbClr val="F2ECE1"/>
            </a:solidFill>
            <a:prstDash val="solid"/>
          </a:ln>
        </p:spPr>
      </p:sp>
      <p:sp>
        <p:nvSpPr>
          <p:cNvPr id="13" name="Text 11"/>
          <p:cNvSpPr txBox="1"/>
          <p:nvPr/>
        </p:nvSpPr>
        <p:spPr>
          <a:xfrm>
            <a:off x="4480560" y="2331720"/>
            <a:ext cx="402336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One request for a whole list</a:t>
            </a:r>
            <a:endParaRPr lang="en-US" sz="1600" dirty="0"/>
          </a:p>
        </p:txBody>
      </p:sp>
      <p:sp>
        <p:nvSpPr>
          <p:cNvPr id="14" name="Text 12"/>
          <p:cNvSpPr txBox="1"/>
          <p:nvPr/>
        </p:nvSpPr>
        <p:spPr>
          <a:xfrm>
            <a:off x="4480560" y="2715768"/>
            <a:ext cx="4023360" cy="77724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updateColumn sent one request with majorDimension COLUMNS, however long the list. updateRow and updateColumn also pad the list you give them with empty strings, in place.</a:t>
            </a:r>
            <a:endParaRPr lang="en-US" sz="1050" dirty="0"/>
          </a:p>
        </p:txBody>
      </p:sp>
      <p:sp>
        <p:nvSpPr>
          <p:cNvPr id="15" name="Text 13"/>
          <p:cNvSpPr txBox="1"/>
          <p:nvPr/>
        </p:nvSpPr>
        <p:spPr>
          <a:xfrm>
            <a:off x="4297680" y="4069080"/>
            <a:ext cx="438912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for Google: this output comes from the real EZSheets library talking to a stand-in written for this study, not from Google.</a:t>
            </a:r>
            <a:endParaRPr lang="en-US" sz="9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call writes a row or a column; the list you pass is changed.</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Sheets: create, move and delete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sheet's index is its place among the tabs; the library refuses what is out of range</a:t>
            </a:r>
            <a:endParaRPr lang="en-US" sz="1300" dirty="0"/>
          </a:p>
        </p:txBody>
      </p:sp>
      <p:sp>
        <p:nvSpPr>
          <p:cNvPr id="6" name="Text 4"/>
          <p:cNvSpPr txBox="1"/>
          <p:nvPr/>
        </p:nvSpPr>
        <p:spPr>
          <a:xfrm>
            <a:off x="457200" y="1097280"/>
            <a:ext cx="365760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movingSheets_v1_0_0.py</a:t>
            </a:r>
            <a:endParaRPr lang="en-US" sz="1000" dirty="0"/>
          </a:p>
        </p:txBody>
      </p:sp>
      <p:sp>
        <p:nvSpPr>
          <p:cNvPr id="7" name="Shape 5"/>
          <p:cNvSpPr/>
          <p:nvPr/>
        </p:nvSpPr>
        <p:spPr>
          <a:xfrm>
            <a:off x="457200" y="1371600"/>
            <a:ext cx="36576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490472"/>
            <a:ext cx="3291840" cy="1682496"/>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&gt;&gt;&gt; ss.sheetTitles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('Bacon', 'Sheet1', 'Spam', 'Eggs')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ss.sheets[0].index</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ss.sheetTitles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('Sheet1', 'Spam', 'Bacon', 'Eggs')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ss.sheetTitles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('Bacon', 'Sheet1', 'Spam', 'Eggs')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IndexError 9 is out of range (0 to 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IndexError -9 is out of range (-1 to -4)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TypeError indices must be integers, not str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&gt;&gt;&gt; ss.sheetTitles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('Sheet1', 'Spam', 'Eggs', 'Bacon')</a:t>
            </a:r>
            <a:endParaRPr lang="en-US" sz="700" dirty="0"/>
          </a:p>
        </p:txBody>
      </p:sp>
      <p:sp>
        <p:nvSpPr>
          <p:cNvPr id="9" name="Text 7"/>
          <p:cNvSpPr txBox="1"/>
          <p:nvPr/>
        </p:nvSpPr>
        <p:spPr>
          <a:xfrm>
            <a:off x="4297680" y="1143000"/>
            <a:ext cx="438912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movingSheets_v1_0_0.py, lines 75 to 80 of 80</a:t>
            </a:r>
            <a:endParaRPr lang="en-US" sz="1000" dirty="0"/>
          </a:p>
        </p:txBody>
      </p:sp>
      <p:sp>
        <p:nvSpPr>
          <p:cNvPr id="10" name="Shape 8"/>
          <p:cNvSpPr/>
          <p:nvPr/>
        </p:nvSpPr>
        <p:spPr>
          <a:xfrm>
            <a:off x="4297680" y="1417320"/>
            <a:ext cx="4389120" cy="1033272"/>
          </a:xfrm>
          <a:prstGeom prst="roundRect">
            <a:avLst>
              <a:gd name="adj" fmla="val 8850"/>
            </a:avLst>
          </a:prstGeom>
          <a:solidFill>
            <a:srgbClr val="23272E"/>
          </a:solidFill>
          <a:ln w="12700">
            <a:solidFill>
              <a:srgbClr val="23272E"/>
            </a:solidFill>
            <a:prstDash val="solid"/>
          </a:ln>
        </p:spPr>
      </p:sp>
      <p:sp>
        <p:nvSpPr>
          <p:cNvPr id="11" name="Text 9"/>
          <p:cNvSpPr txBox="1"/>
          <p:nvPr/>
        </p:nvSpPr>
        <p:spPr>
          <a:xfrm>
            <a:off x="4480560" y="1536192"/>
            <a:ext cx="4023360" cy="79552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ss.sheets[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].index = 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except Exception as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print(type(e).__name__,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ss.sheets[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].index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sh(</a:t>
            </a:r>
            <a:r>
              <a:rPr lang="en-US" sz="700" dirty="0">
                <a:solidFill>
                  <a:srgbClr val="9ECBFF"/>
                </a:solidFill>
                <a:latin typeface="Courier New" pitchFamily="34" charset="0"/>
                <a:ea typeface="Courier New" pitchFamily="34" charset="-122"/>
                <a:cs typeface="Courier New" pitchFamily="34" charset="-120"/>
              </a:rPr>
              <a:t>'ss.sheetTitles'</a:t>
            </a:r>
            <a:r>
              <a:rPr lang="en-US" sz="700" dirty="0">
                <a:solidFill>
                  <a:srgbClr val="E6EDF3"/>
                </a:solidFill>
                <a:latin typeface="Courier New" pitchFamily="34" charset="0"/>
                <a:ea typeface="Courier New" pitchFamily="34" charset="-122"/>
                <a:cs typeface="Courier New" pitchFamily="34" charset="-120"/>
              </a:rPr>
              <a:t>)</a:t>
            </a:r>
            <a:endParaRPr lang="en-US" sz="700" dirty="0"/>
          </a:p>
        </p:txBody>
      </p:sp>
      <p:sp>
        <p:nvSpPr>
          <p:cNvPr id="12" name="Shape 10"/>
          <p:cNvSpPr/>
          <p:nvPr/>
        </p:nvSpPr>
        <p:spPr>
          <a:xfrm>
            <a:off x="4297680" y="2587752"/>
            <a:ext cx="4389120" cy="1325880"/>
          </a:xfrm>
          <a:prstGeom prst="roundRect">
            <a:avLst>
              <a:gd name="adj" fmla="val 6897"/>
            </a:avLst>
          </a:prstGeom>
          <a:solidFill>
            <a:srgbClr val="F2ECE1"/>
          </a:solidFill>
          <a:ln w="12700">
            <a:solidFill>
              <a:srgbClr val="F2ECE1"/>
            </a:solidFill>
            <a:prstDash val="solid"/>
          </a:ln>
        </p:spPr>
      </p:sp>
      <p:sp>
        <p:nvSpPr>
          <p:cNvPr id="13" name="Text 11"/>
          <p:cNvSpPr txBox="1"/>
          <p:nvPr/>
        </p:nvSpPr>
        <p:spPr>
          <a:xfrm>
            <a:off x="4480560" y="2706624"/>
            <a:ext cx="402336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Index counts from 0 or from -1</a:t>
            </a:r>
            <a:endParaRPr lang="en-US" sz="1600" dirty="0"/>
          </a:p>
        </p:txBody>
      </p:sp>
      <p:sp>
        <p:nvSpPr>
          <p:cNvPr id="14" name="Text 12"/>
          <p:cNvSpPr txBox="1"/>
          <p:nvPr/>
        </p:nvSpPr>
        <p:spPr>
          <a:xfrm>
            <a:off x="4480560" y="3090672"/>
            <a:ext cx="4023360" cy="68580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Setting index moves the tab and renumbers the rest. 9 and -9 raise IndexError, 'x' raises TypeError; a negative index counts from the right.</a:t>
            </a:r>
            <a:endParaRPr lang="en-US" sz="1050" dirty="0"/>
          </a:p>
        </p:txBody>
      </p:sp>
      <p:sp>
        <p:nvSpPr>
          <p:cNvPr id="15" name="Text 13"/>
          <p:cNvSpPr txBox="1"/>
          <p:nvPr/>
        </p:nvSpPr>
        <p:spPr>
          <a:xfrm>
            <a:off x="4297680" y="4069080"/>
            <a:ext cx="438912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for Google: this output comes from the real EZSheets library talking to a stand-in written for this study, not from Google.</a:t>
            </a:r>
            <a:endParaRPr lang="en-US" sz="9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sheet's index is its tab position; the library checks it first.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cell written, and a cell read back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write goes to Google; the read comes from the library's own copy until refresh()</a:t>
            </a:r>
            <a:endParaRPr lang="en-US" sz="1300" dirty="0"/>
          </a:p>
        </p:txBody>
      </p:sp>
      <p:sp>
        <p:nvSpPr>
          <p:cNvPr id="6" name="Shape 4"/>
          <p:cNvSpPr/>
          <p:nvPr/>
        </p:nvSpPr>
        <p:spPr>
          <a:xfrm>
            <a:off x="502920" y="1280160"/>
            <a:ext cx="155448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386230"/>
            <a:ext cx="144475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program</a:t>
            </a:r>
            <a:endParaRPr lang="en-US" sz="1000" dirty="0"/>
          </a:p>
        </p:txBody>
      </p:sp>
      <p:sp>
        <p:nvSpPr>
          <p:cNvPr id="8" name="Shape 6"/>
          <p:cNvSpPr/>
          <p:nvPr/>
        </p:nvSpPr>
        <p:spPr>
          <a:xfrm>
            <a:off x="1280160" y="1664208"/>
            <a:ext cx="0" cy="2679192"/>
          </a:xfrm>
          <a:prstGeom prst="line">
            <a:avLst/>
          </a:prstGeom>
          <a:noFill/>
          <a:ln w="19050">
            <a:solidFill>
              <a:srgbClr val="DFD6C7"/>
            </a:solidFill>
            <a:prstDash val="dash"/>
          </a:ln>
        </p:spPr>
      </p:sp>
      <p:sp>
        <p:nvSpPr>
          <p:cNvPr id="9" name="Shape 7"/>
          <p:cNvSpPr/>
          <p:nvPr/>
        </p:nvSpPr>
        <p:spPr>
          <a:xfrm>
            <a:off x="2377440" y="1280160"/>
            <a:ext cx="155448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2432304" y="1309421"/>
            <a:ext cx="144475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Sheet object of the library</a:t>
            </a:r>
            <a:endParaRPr lang="en-US" sz="1000" dirty="0"/>
          </a:p>
        </p:txBody>
      </p:sp>
      <p:sp>
        <p:nvSpPr>
          <p:cNvPr id="11" name="Shape 9"/>
          <p:cNvSpPr/>
          <p:nvPr/>
        </p:nvSpPr>
        <p:spPr>
          <a:xfrm>
            <a:off x="3154680" y="1664208"/>
            <a:ext cx="0" cy="2679192"/>
          </a:xfrm>
          <a:prstGeom prst="line">
            <a:avLst/>
          </a:prstGeom>
          <a:noFill/>
          <a:ln w="19050">
            <a:solidFill>
              <a:srgbClr val="DFD6C7"/>
            </a:solidFill>
            <a:prstDash val="dash"/>
          </a:ln>
        </p:spPr>
      </p:sp>
      <p:sp>
        <p:nvSpPr>
          <p:cNvPr id="12" name="Shape 10"/>
          <p:cNvSpPr/>
          <p:nvPr/>
        </p:nvSpPr>
        <p:spPr>
          <a:xfrm>
            <a:off x="4251960" y="1280160"/>
            <a:ext cx="1554480" cy="384048"/>
          </a:xfrm>
          <a:prstGeom prst="roundRect">
            <a:avLst>
              <a:gd name="adj" fmla="val 19048"/>
            </a:avLst>
          </a:prstGeom>
          <a:solidFill>
            <a:srgbClr val="2F6D62"/>
          </a:solidFill>
          <a:ln w="15875">
            <a:solidFill>
              <a:srgbClr val="2F6D62"/>
            </a:solidFill>
            <a:prstDash val="solid"/>
          </a:ln>
        </p:spPr>
      </p:sp>
      <p:sp>
        <p:nvSpPr>
          <p:cNvPr id="13" name="Text 11"/>
          <p:cNvSpPr txBox="1"/>
          <p:nvPr/>
        </p:nvSpPr>
        <p:spPr>
          <a:xfrm>
            <a:off x="4306824" y="1386230"/>
            <a:ext cx="144475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Google Sheets</a:t>
            </a:r>
            <a:endParaRPr lang="en-US" sz="1000" dirty="0"/>
          </a:p>
        </p:txBody>
      </p:sp>
      <p:sp>
        <p:nvSpPr>
          <p:cNvPr id="14" name="Shape 12"/>
          <p:cNvSpPr/>
          <p:nvPr/>
        </p:nvSpPr>
        <p:spPr>
          <a:xfrm>
            <a:off x="5029200" y="1664208"/>
            <a:ext cx="0" cy="2679192"/>
          </a:xfrm>
          <a:prstGeom prst="line">
            <a:avLst/>
          </a:prstGeom>
          <a:noFill/>
          <a:ln w="19050">
            <a:solidFill>
              <a:srgbClr val="DFD6C7"/>
            </a:solidFill>
            <a:prstDash val="dash"/>
          </a:ln>
        </p:spPr>
      </p:sp>
      <p:sp>
        <p:nvSpPr>
          <p:cNvPr id="15" name="Shape 13"/>
          <p:cNvSpPr/>
          <p:nvPr/>
        </p:nvSpPr>
        <p:spPr>
          <a:xfrm>
            <a:off x="1280160" y="1988820"/>
            <a:ext cx="1874520" cy="0"/>
          </a:xfrm>
          <a:prstGeom prst="line">
            <a:avLst/>
          </a:prstGeom>
          <a:noFill/>
          <a:ln w="22225">
            <a:solidFill>
              <a:srgbClr val="D97A14"/>
            </a:solidFill>
            <a:prstDash val="solid"/>
            <a:tailEnd type="triangle"/>
          </a:ln>
        </p:spPr>
      </p:sp>
      <p:sp>
        <p:nvSpPr>
          <p:cNvPr id="16" name="Text 14"/>
          <p:cNvSpPr txBox="1"/>
          <p:nvPr/>
        </p:nvSpPr>
        <p:spPr>
          <a:xfrm>
            <a:off x="1371600" y="1794053"/>
            <a:ext cx="1691640" cy="149047"/>
          </a:xfrm>
          <a:prstGeom prst="rect">
            <a:avLst/>
          </a:prstGeom>
          <a:noFill/>
          <a:ln/>
        </p:spPr>
        <p:txBody>
          <a:bodyPr wrap="square" lIns="0" tIns="0" rIns="0" bIns="0" rtlCol="0" anchor="b"/>
          <a:lstStyle/>
          <a:p>
            <a:pPr algn="ctr" indent="0" marL="0">
              <a:buNone/>
            </a:pPr>
            <a:r>
              <a:rPr lang="en-US" sz="850" dirty="0">
                <a:solidFill>
                  <a:srgbClr val="2B2622"/>
                </a:solidFill>
                <a:latin typeface="Calibri" pitchFamily="34" charset="0"/>
                <a:ea typeface="Calibri" pitchFamily="34" charset="-122"/>
                <a:cs typeface="Calibri" pitchFamily="34" charset="-120"/>
              </a:rPr>
              <a:t>Assigns 30 to the cell B2</a:t>
            </a:r>
            <a:endParaRPr lang="en-US" sz="850" dirty="0"/>
          </a:p>
        </p:txBody>
      </p:sp>
      <p:sp>
        <p:nvSpPr>
          <p:cNvPr id="17" name="Shape 15"/>
          <p:cNvSpPr/>
          <p:nvPr/>
        </p:nvSpPr>
        <p:spPr>
          <a:xfrm>
            <a:off x="3154680" y="2311603"/>
            <a:ext cx="1874520" cy="0"/>
          </a:xfrm>
          <a:prstGeom prst="line">
            <a:avLst/>
          </a:prstGeom>
          <a:noFill/>
          <a:ln w="22225">
            <a:solidFill>
              <a:srgbClr val="D97A14"/>
            </a:solidFill>
            <a:prstDash val="solid"/>
            <a:tailEnd type="triangle"/>
          </a:ln>
        </p:spPr>
      </p:sp>
      <p:sp>
        <p:nvSpPr>
          <p:cNvPr id="18" name="Text 16"/>
          <p:cNvSpPr txBox="1"/>
          <p:nvPr/>
        </p:nvSpPr>
        <p:spPr>
          <a:xfrm>
            <a:off x="3246120" y="1986991"/>
            <a:ext cx="1691640" cy="279806"/>
          </a:xfrm>
          <a:prstGeom prst="rect">
            <a:avLst/>
          </a:prstGeom>
          <a:noFill/>
          <a:ln/>
        </p:spPr>
        <p:txBody>
          <a:bodyPr wrap="square" lIns="0" tIns="0" rIns="0" bIns="0" rtlCol="0" anchor="b"/>
          <a:lstStyle/>
          <a:p>
            <a:pPr algn="ctr" indent="0" marL="0">
              <a:buNone/>
            </a:pPr>
            <a:r>
              <a:rPr lang="en-US" sz="850" dirty="0">
                <a:solidFill>
                  <a:srgbClr val="2B2622"/>
                </a:solidFill>
                <a:latin typeface="Calibri" pitchFamily="34" charset="0"/>
                <a:ea typeface="Calibri" pitchFamily="34" charset="-122"/>
                <a:cs typeface="Calibri" pitchFamily="34" charset="-120"/>
              </a:rPr>
              <a:t>Sends one write request with USER_ENTERED</a:t>
            </a:r>
            <a:endParaRPr lang="en-US" sz="850" dirty="0"/>
          </a:p>
        </p:txBody>
      </p:sp>
      <p:sp>
        <p:nvSpPr>
          <p:cNvPr id="19" name="Shape 17"/>
          <p:cNvSpPr/>
          <p:nvPr/>
        </p:nvSpPr>
        <p:spPr>
          <a:xfrm flipH="1">
            <a:off x="3154680" y="2635301"/>
            <a:ext cx="1874520" cy="0"/>
          </a:xfrm>
          <a:prstGeom prst="line">
            <a:avLst/>
          </a:prstGeom>
          <a:noFill/>
          <a:ln w="22225">
            <a:solidFill>
              <a:srgbClr val="6E655C"/>
            </a:solidFill>
            <a:prstDash val="dash"/>
            <a:tailEnd type="triangle"/>
          </a:ln>
        </p:spPr>
      </p:sp>
      <p:sp>
        <p:nvSpPr>
          <p:cNvPr id="20" name="Text 18"/>
          <p:cNvSpPr txBox="1"/>
          <p:nvPr/>
        </p:nvSpPr>
        <p:spPr>
          <a:xfrm>
            <a:off x="3246120" y="2440534"/>
            <a:ext cx="1691640" cy="149047"/>
          </a:xfrm>
          <a:prstGeom prst="rect">
            <a:avLst/>
          </a:prstGeom>
          <a:noFill/>
          <a:ln/>
        </p:spPr>
        <p:txBody>
          <a:bodyPr wrap="square" lIns="0" tIns="0" rIns="0" bIns="0" rtlCol="0" anchor="b"/>
          <a:lstStyle/>
          <a:p>
            <a:pPr algn="ctr" indent="0" marL="0">
              <a:buNone/>
            </a:pPr>
            <a:r>
              <a:rPr lang="en-US" sz="850" i="1" dirty="0">
                <a:solidFill>
                  <a:srgbClr val="2B2622"/>
                </a:solidFill>
                <a:latin typeface="Calibri" pitchFamily="34" charset="0"/>
                <a:ea typeface="Calibri" pitchFamily="34" charset="-122"/>
                <a:cs typeface="Calibri" pitchFamily="34" charset="-120"/>
              </a:rPr>
              <a:t>Answers that the write is done</a:t>
            </a:r>
            <a:endParaRPr lang="en-US" sz="850" dirty="0"/>
          </a:p>
        </p:txBody>
      </p:sp>
      <p:sp>
        <p:nvSpPr>
          <p:cNvPr id="21" name="Shape 19"/>
          <p:cNvSpPr/>
          <p:nvPr/>
        </p:nvSpPr>
        <p:spPr>
          <a:xfrm>
            <a:off x="1280160" y="2958998"/>
            <a:ext cx="1874520" cy="0"/>
          </a:xfrm>
          <a:prstGeom prst="line">
            <a:avLst/>
          </a:prstGeom>
          <a:noFill/>
          <a:ln w="22225">
            <a:solidFill>
              <a:srgbClr val="D97A14"/>
            </a:solidFill>
            <a:prstDash val="solid"/>
            <a:tailEnd type="triangle"/>
          </a:ln>
        </p:spPr>
      </p:sp>
      <p:sp>
        <p:nvSpPr>
          <p:cNvPr id="22" name="Text 20"/>
          <p:cNvSpPr txBox="1"/>
          <p:nvPr/>
        </p:nvSpPr>
        <p:spPr>
          <a:xfrm>
            <a:off x="1371600" y="2764231"/>
            <a:ext cx="1691640" cy="149047"/>
          </a:xfrm>
          <a:prstGeom prst="rect">
            <a:avLst/>
          </a:prstGeom>
          <a:noFill/>
          <a:ln/>
        </p:spPr>
        <p:txBody>
          <a:bodyPr wrap="square" lIns="0" tIns="0" rIns="0" bIns="0" rtlCol="0" anchor="b"/>
          <a:lstStyle/>
          <a:p>
            <a:pPr algn="ctr" indent="0" marL="0">
              <a:buNone/>
            </a:pPr>
            <a:r>
              <a:rPr lang="en-US" sz="850" dirty="0">
                <a:solidFill>
                  <a:srgbClr val="2B2622"/>
                </a:solidFill>
                <a:latin typeface="Calibri" pitchFamily="34" charset="0"/>
                <a:ea typeface="Calibri" pitchFamily="34" charset="-122"/>
                <a:cs typeface="Calibri" pitchFamily="34" charset="-120"/>
              </a:rPr>
              <a:t>Reads the cell B2</a:t>
            </a:r>
            <a:endParaRPr lang="en-US" sz="850" dirty="0"/>
          </a:p>
        </p:txBody>
      </p:sp>
      <p:sp>
        <p:nvSpPr>
          <p:cNvPr id="23" name="Shape 21"/>
          <p:cNvSpPr/>
          <p:nvPr/>
        </p:nvSpPr>
        <p:spPr>
          <a:xfrm flipH="1">
            <a:off x="1280160" y="3282696"/>
            <a:ext cx="1874520" cy="0"/>
          </a:xfrm>
          <a:prstGeom prst="line">
            <a:avLst/>
          </a:prstGeom>
          <a:noFill/>
          <a:ln w="22225">
            <a:solidFill>
              <a:srgbClr val="6E655C"/>
            </a:solidFill>
            <a:prstDash val="dash"/>
            <a:tailEnd type="triangle"/>
          </a:ln>
        </p:spPr>
      </p:sp>
      <p:sp>
        <p:nvSpPr>
          <p:cNvPr id="24" name="Text 22"/>
          <p:cNvSpPr txBox="1"/>
          <p:nvPr/>
        </p:nvSpPr>
        <p:spPr>
          <a:xfrm>
            <a:off x="1371600" y="2957170"/>
            <a:ext cx="1691640" cy="279806"/>
          </a:xfrm>
          <a:prstGeom prst="rect">
            <a:avLst/>
          </a:prstGeom>
          <a:noFill/>
          <a:ln/>
        </p:spPr>
        <p:txBody>
          <a:bodyPr wrap="square" lIns="0" tIns="0" rIns="0" bIns="0" rtlCol="0" anchor="b"/>
          <a:lstStyle/>
          <a:p>
            <a:pPr algn="ctr" indent="0" marL="0">
              <a:buNone/>
            </a:pPr>
            <a:r>
              <a:rPr lang="en-US" sz="850" i="1" dirty="0">
                <a:solidFill>
                  <a:srgbClr val="2B2622"/>
                </a:solidFill>
                <a:latin typeface="Calibri" pitchFamily="34" charset="0"/>
                <a:ea typeface="Calibri" pitchFamily="34" charset="-122"/>
                <a:cs typeface="Calibri" pitchFamily="34" charset="-120"/>
              </a:rPr>
              <a:t>Returns the value written, 30, from the local copy</a:t>
            </a:r>
            <a:endParaRPr lang="en-US" sz="850" dirty="0"/>
          </a:p>
        </p:txBody>
      </p:sp>
      <p:sp>
        <p:nvSpPr>
          <p:cNvPr id="25" name="Shape 23"/>
          <p:cNvSpPr/>
          <p:nvPr/>
        </p:nvSpPr>
        <p:spPr>
          <a:xfrm>
            <a:off x="1280160" y="3605479"/>
            <a:ext cx="1874520" cy="0"/>
          </a:xfrm>
          <a:prstGeom prst="line">
            <a:avLst/>
          </a:prstGeom>
          <a:noFill/>
          <a:ln w="22225">
            <a:solidFill>
              <a:srgbClr val="D97A14"/>
            </a:solidFill>
            <a:prstDash val="solid"/>
            <a:tailEnd type="triangle"/>
          </a:ln>
        </p:spPr>
      </p:sp>
      <p:sp>
        <p:nvSpPr>
          <p:cNvPr id="26" name="Text 24"/>
          <p:cNvSpPr txBox="1"/>
          <p:nvPr/>
        </p:nvSpPr>
        <p:spPr>
          <a:xfrm>
            <a:off x="1371600" y="3280867"/>
            <a:ext cx="1691640" cy="279806"/>
          </a:xfrm>
          <a:prstGeom prst="rect">
            <a:avLst/>
          </a:prstGeom>
          <a:noFill/>
          <a:ln/>
        </p:spPr>
        <p:txBody>
          <a:bodyPr wrap="square" lIns="0" tIns="0" rIns="0" bIns="0" rtlCol="0" anchor="b"/>
          <a:lstStyle/>
          <a:p>
            <a:pPr algn="ctr" indent="0" marL="0">
              <a:buNone/>
            </a:pPr>
            <a:r>
              <a:rPr lang="en-US" sz="850" dirty="0">
                <a:solidFill>
                  <a:srgbClr val="2B2622"/>
                </a:solidFill>
                <a:latin typeface="Calibri" pitchFamily="34" charset="0"/>
                <a:ea typeface="Calibri" pitchFamily="34" charset="-122"/>
                <a:cs typeface="Calibri" pitchFamily="34" charset="-120"/>
              </a:rPr>
              <a:t>Calls refresh() to read the sheet again</a:t>
            </a:r>
            <a:endParaRPr lang="en-US" sz="850" dirty="0"/>
          </a:p>
        </p:txBody>
      </p:sp>
      <p:sp>
        <p:nvSpPr>
          <p:cNvPr id="27" name="Shape 25"/>
          <p:cNvSpPr/>
          <p:nvPr/>
        </p:nvSpPr>
        <p:spPr>
          <a:xfrm>
            <a:off x="3154680" y="3929177"/>
            <a:ext cx="1874520" cy="0"/>
          </a:xfrm>
          <a:prstGeom prst="line">
            <a:avLst/>
          </a:prstGeom>
          <a:noFill/>
          <a:ln w="22225">
            <a:solidFill>
              <a:srgbClr val="D97A14"/>
            </a:solidFill>
            <a:prstDash val="solid"/>
            <a:tailEnd type="triangle"/>
          </a:ln>
        </p:spPr>
      </p:sp>
      <p:sp>
        <p:nvSpPr>
          <p:cNvPr id="28" name="Text 26"/>
          <p:cNvSpPr txBox="1"/>
          <p:nvPr/>
        </p:nvSpPr>
        <p:spPr>
          <a:xfrm>
            <a:off x="3246120" y="3734410"/>
            <a:ext cx="1691640" cy="149047"/>
          </a:xfrm>
          <a:prstGeom prst="rect">
            <a:avLst/>
          </a:prstGeom>
          <a:noFill/>
          <a:ln/>
        </p:spPr>
        <p:txBody>
          <a:bodyPr wrap="square" lIns="0" tIns="0" rIns="0" bIns="0" rtlCol="0" anchor="b"/>
          <a:lstStyle/>
          <a:p>
            <a:pPr algn="ctr" indent="0" marL="0">
              <a:buNone/>
            </a:pPr>
            <a:r>
              <a:rPr lang="en-US" sz="850" dirty="0">
                <a:solidFill>
                  <a:srgbClr val="2B2622"/>
                </a:solidFill>
                <a:latin typeface="Calibri" pitchFamily="34" charset="0"/>
                <a:ea typeface="Calibri" pitchFamily="34" charset="-122"/>
                <a:cs typeface="Calibri" pitchFamily="34" charset="-120"/>
              </a:rPr>
              <a:t>Reads the values of the sheet</a:t>
            </a:r>
            <a:endParaRPr lang="en-US" sz="850" dirty="0"/>
          </a:p>
        </p:txBody>
      </p:sp>
      <p:sp>
        <p:nvSpPr>
          <p:cNvPr id="29" name="Shape 27"/>
          <p:cNvSpPr/>
          <p:nvPr/>
        </p:nvSpPr>
        <p:spPr>
          <a:xfrm flipH="1">
            <a:off x="3154680" y="4252874"/>
            <a:ext cx="1874520" cy="0"/>
          </a:xfrm>
          <a:prstGeom prst="line">
            <a:avLst/>
          </a:prstGeom>
          <a:noFill/>
          <a:ln w="22225">
            <a:solidFill>
              <a:srgbClr val="6E655C"/>
            </a:solidFill>
            <a:prstDash val="dash"/>
            <a:tailEnd type="triangle"/>
          </a:ln>
        </p:spPr>
      </p:sp>
      <p:sp>
        <p:nvSpPr>
          <p:cNvPr id="30" name="Text 28"/>
          <p:cNvSpPr txBox="1"/>
          <p:nvPr/>
        </p:nvSpPr>
        <p:spPr>
          <a:xfrm>
            <a:off x="3246120" y="4058107"/>
            <a:ext cx="1691640" cy="149047"/>
          </a:xfrm>
          <a:prstGeom prst="rect">
            <a:avLst/>
          </a:prstGeom>
          <a:noFill/>
          <a:ln/>
        </p:spPr>
        <p:txBody>
          <a:bodyPr wrap="square" lIns="0" tIns="0" rIns="0" bIns="0" rtlCol="0" anchor="b"/>
          <a:lstStyle/>
          <a:p>
            <a:pPr algn="ctr" indent="0" marL="0">
              <a:buNone/>
            </a:pPr>
            <a:r>
              <a:rPr lang="en-US" sz="850" i="1" dirty="0">
                <a:solidFill>
                  <a:srgbClr val="2B2622"/>
                </a:solidFill>
                <a:latin typeface="Calibri" pitchFamily="34" charset="0"/>
                <a:ea typeface="Calibri" pitchFamily="34" charset="-122"/>
                <a:cs typeface="Calibri" pitchFamily="34" charset="-120"/>
              </a:rPr>
              <a:t>Returns the value as text, 30</a:t>
            </a:r>
            <a:endParaRPr lang="en-US" sz="850" dirty="0"/>
          </a:p>
        </p:txBody>
      </p:sp>
      <p:sp>
        <p:nvSpPr>
          <p:cNvPr id="31" name="Text 29"/>
          <p:cNvSpPr txBox="1"/>
          <p:nvPr/>
        </p:nvSpPr>
        <p:spPr>
          <a:xfrm>
            <a:off x="457200" y="4370832"/>
            <a:ext cx="539496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AWriteAndARead - Interaction pattern, 37 of 39 words grounded in the chapter's text</a:t>
            </a:r>
            <a:endParaRPr lang="en-US" sz="850" dirty="0"/>
          </a:p>
        </p:txBody>
      </p:sp>
      <p:sp>
        <p:nvSpPr>
          <p:cNvPr id="32" name="Shape 30"/>
          <p:cNvSpPr/>
          <p:nvPr/>
        </p:nvSpPr>
        <p:spPr>
          <a:xfrm>
            <a:off x="6035040" y="1325880"/>
            <a:ext cx="2651760" cy="1600200"/>
          </a:xfrm>
          <a:prstGeom prst="roundRect">
            <a:avLst>
              <a:gd name="adj" fmla="val 5714"/>
            </a:avLst>
          </a:prstGeom>
          <a:solidFill>
            <a:srgbClr val="F2ECE1"/>
          </a:solidFill>
          <a:ln w="12700">
            <a:solidFill>
              <a:srgbClr val="F2ECE1"/>
            </a:solidFill>
            <a:prstDash val="solid"/>
          </a:ln>
        </p:spPr>
      </p:sp>
      <p:sp>
        <p:nvSpPr>
          <p:cNvPr id="33" name="Text 31"/>
          <p:cNvSpPr txBox="1"/>
          <p:nvPr/>
        </p:nvSpPr>
        <p:spPr>
          <a:xfrm>
            <a:off x="6217920" y="1444752"/>
            <a:ext cx="22860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30 or '30'?</a:t>
            </a:r>
            <a:endParaRPr lang="en-US" sz="1600" dirty="0"/>
          </a:p>
        </p:txBody>
      </p:sp>
      <p:sp>
        <p:nvSpPr>
          <p:cNvPr id="34" name="Text 32"/>
          <p:cNvSpPr txBox="1"/>
          <p:nvPr/>
        </p:nvSpPr>
        <p:spPr>
          <a:xfrm>
            <a:off x="6217920" y="1828800"/>
            <a:ext cx="2286000" cy="96012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After sheet['B2'] = 30 the chapter prints '30'. Release 2024.8.9 did; releases 2025.11.11 and 2026.4.28 return the integer 30 until refresh(), which gives '30'.</a:t>
            </a:r>
            <a:endParaRPr lang="en-US" sz="950" dirty="0"/>
          </a:p>
        </p:txBody>
      </p:sp>
      <p:sp>
        <p:nvSpPr>
          <p:cNvPr id="35" name="Shape 33"/>
          <p:cNvSpPr/>
          <p:nvPr/>
        </p:nvSpPr>
        <p:spPr>
          <a:xfrm>
            <a:off x="6035040" y="3017520"/>
            <a:ext cx="2651760" cy="1325880"/>
          </a:xfrm>
          <a:prstGeom prst="roundRect">
            <a:avLst>
              <a:gd name="adj" fmla="val 6897"/>
            </a:avLst>
          </a:prstGeom>
          <a:solidFill>
            <a:srgbClr val="F2ECE1"/>
          </a:solidFill>
          <a:ln w="12700">
            <a:solidFill>
              <a:srgbClr val="F2ECE1"/>
            </a:solidFill>
            <a:prstDash val="solid"/>
          </a:ln>
        </p:spPr>
      </p:sp>
      <p:sp>
        <p:nvSpPr>
          <p:cNvPr id="36" name="Text 34"/>
          <p:cNvSpPr txBox="1"/>
          <p:nvPr/>
        </p:nvSpPr>
        <p:spPr>
          <a:xfrm>
            <a:off x="6217920" y="3136392"/>
            <a:ext cx="22860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37" name="Text 35"/>
          <p:cNvSpPr txBox="1"/>
          <p:nvPr/>
        </p:nvSpPr>
        <p:spPr>
          <a:xfrm>
            <a:off x="6217920" y="3520440"/>
            <a:ext cx="2286000" cy="68580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Every write asks Google to parse the value as typed (USER_ENTERED). Whether text becomes a number, date or formula was never observed.</a:t>
            </a:r>
            <a:endParaRPr lang="en-US" sz="950" dirty="0"/>
          </a:p>
        </p:txBody>
      </p:sp>
      <p:sp>
        <p:nvSpPr>
          <p:cNvPr id="38" name="Shape 36"/>
          <p:cNvSpPr/>
          <p:nvPr/>
        </p:nvSpPr>
        <p:spPr>
          <a:xfrm>
            <a:off x="457200" y="4636008"/>
            <a:ext cx="91440" cy="310896"/>
          </a:xfrm>
          <a:prstGeom prst="rect">
            <a:avLst/>
          </a:prstGeom>
          <a:solidFill>
            <a:srgbClr val="D97A14"/>
          </a:solidFill>
          <a:ln w="12700">
            <a:solidFill>
              <a:srgbClr val="D97A14"/>
            </a:solidFill>
            <a:prstDash val="solid"/>
          </a:ln>
        </p:spPr>
      </p:sp>
      <p:sp>
        <p:nvSpPr>
          <p:cNvPr id="39" name="Text 3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Writes go to Google; reads come from a local copy until you refresh.</a:t>
            </a:r>
            <a:endParaRPr lang="en-US" sz="1350" dirty="0"/>
          </a:p>
        </p:txBody>
      </p:sp>
      <p:sp>
        <p:nvSpPr>
          <p:cNvPr id="40" name="Text 3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a call sends, and what it costs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write is a request; a read of a loaded sheet is none; a size change is three</a:t>
            </a:r>
            <a:endParaRPr lang="en-US" sz="1300" dirty="0"/>
          </a:p>
        </p:txBody>
      </p:sp>
      <p:sp>
        <p:nvSpPr>
          <p:cNvPr id="6" name="Text 4"/>
          <p:cNvSpPr txBox="1"/>
          <p:nvPr/>
        </p:nvSpPr>
        <p:spPr>
          <a:xfrm>
            <a:off x="457200" y="1143000"/>
            <a:ext cx="599846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writeThenRead_v1_0_0.py, lines 73 to 79 of 79</a:t>
            </a:r>
            <a:endParaRPr lang="en-US" sz="1000" dirty="0"/>
          </a:p>
        </p:txBody>
      </p:sp>
      <p:sp>
        <p:nvSpPr>
          <p:cNvPr id="7" name="Shape 5"/>
          <p:cNvSpPr/>
          <p:nvPr/>
        </p:nvSpPr>
        <p:spPr>
          <a:xfrm>
            <a:off x="457200" y="1417320"/>
            <a:ext cx="5998464" cy="1545336"/>
          </a:xfrm>
          <a:prstGeom prst="roundRect">
            <a:avLst>
              <a:gd name="adj" fmla="val 5917"/>
            </a:avLst>
          </a:prstGeom>
          <a:solidFill>
            <a:srgbClr val="23272E"/>
          </a:solidFill>
          <a:ln w="12700">
            <a:solidFill>
              <a:srgbClr val="23272E"/>
            </a:solidFill>
            <a:prstDash val="solid"/>
          </a:ln>
        </p:spPr>
      </p:sp>
      <p:sp>
        <p:nvSpPr>
          <p:cNvPr id="8" name="Text 6"/>
          <p:cNvSpPr txBox="1"/>
          <p:nvPr/>
        </p:nvSpPr>
        <p:spPr>
          <a:xfrm>
            <a:off x="640080" y="1536192"/>
            <a:ext cx="5632704" cy="130759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sheet = produce()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a:t>
            </a:r>
            <a:r>
              <a:rPr lang="en-US" sz="700" dirty="0">
                <a:solidFill>
                  <a:srgbClr val="9ECBFF"/>
                </a:solidFill>
                <a:latin typeface="Courier New" pitchFamily="34" charset="0"/>
                <a:ea typeface="Courier New" pitchFamily="34" charset="-122"/>
                <a:cs typeface="Courier New" pitchFamily="34" charset="-120"/>
              </a:rPr>
              <a:t>'B2'</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30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print(repr(sheet[</a:t>
            </a:r>
            <a:r>
              <a:rPr lang="en-US" sz="700" dirty="0">
                <a:solidFill>
                  <a:srgbClr val="9ECBFF"/>
                </a:solidFill>
                <a:latin typeface="Courier New" pitchFamily="34" charset="0"/>
                <a:ea typeface="Courier New" pitchFamily="34" charset="-122"/>
                <a:cs typeface="Courier New" pitchFamily="34" charset="-120"/>
              </a:rPr>
              <a:t>'B2'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 p, q, b = g.log[-</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print(m, p.rsplit(</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q, 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sheet.refresh()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print(repr(sheet[</a:t>
            </a:r>
            <a:r>
              <a:rPr lang="en-US" sz="700" dirty="0">
                <a:solidFill>
                  <a:srgbClr val="9ECBFF"/>
                </a:solidFill>
                <a:latin typeface="Courier New" pitchFamily="34" charset="0"/>
                <a:ea typeface="Courier New" pitchFamily="34" charset="-122"/>
                <a:cs typeface="Courier New" pitchFamily="34" charset="-120"/>
              </a:rPr>
              <a:t>'B2'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30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PUT Sheet1!B2:B2 valueInputOption=USER_ENTERED&amp;alt=json {'majorDimension': 'ROWS', 'values': [[30]]}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'30'</a:t>
            </a:r>
            <a:endParaRPr lang="en-US" sz="700" dirty="0"/>
          </a:p>
        </p:txBody>
      </p:sp>
      <p:sp>
        <p:nvSpPr>
          <p:cNvPr id="9" name="Text 7"/>
          <p:cNvSpPr txBox="1"/>
          <p:nvPr/>
        </p:nvSpPr>
        <p:spPr>
          <a:xfrm>
            <a:off x="457200" y="2962656"/>
            <a:ext cx="324612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requestCounts_v1_0_0.py</a:t>
            </a:r>
            <a:endParaRPr lang="en-US" sz="1000" dirty="0"/>
          </a:p>
        </p:txBody>
      </p:sp>
      <p:sp>
        <p:nvSpPr>
          <p:cNvPr id="10" name="Shape 8"/>
          <p:cNvSpPr/>
          <p:nvPr/>
        </p:nvSpPr>
        <p:spPr>
          <a:xfrm>
            <a:off x="457200" y="3236976"/>
            <a:ext cx="3246120" cy="1033272"/>
          </a:xfrm>
          <a:prstGeom prst="roundRect">
            <a:avLst>
              <a:gd name="adj" fmla="val 8850"/>
            </a:avLst>
          </a:prstGeom>
          <a:solidFill>
            <a:srgbClr val="23272E"/>
          </a:solidFill>
          <a:ln w="12700">
            <a:solidFill>
              <a:srgbClr val="23272E"/>
            </a:solidFill>
            <a:prstDash val="solid"/>
          </a:ln>
        </p:spPr>
      </p:sp>
      <p:sp>
        <p:nvSpPr>
          <p:cNvPr id="11" name="Text 9"/>
          <p:cNvSpPr txBox="1"/>
          <p:nvPr/>
        </p:nvSpPr>
        <p:spPr>
          <a:xfrm>
            <a:off x="640080" y="3355848"/>
            <a:ext cx="2880360" cy="795528"/>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100 writes, PUT requests: 100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100 reads of a cell and 100 of a row, requests: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['GET meta', 'GET values', 'POST meta']</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['POST meta']</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['GET meta', 'GET values']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['PUT values']</a:t>
            </a:r>
            <a:endParaRPr lang="en-US" sz="700" dirty="0"/>
          </a:p>
        </p:txBody>
      </p:sp>
      <p:sp>
        <p:nvSpPr>
          <p:cNvPr id="12" name="Shape 10"/>
          <p:cNvSpPr/>
          <p:nvPr/>
        </p:nvSpPr>
        <p:spPr>
          <a:xfrm>
            <a:off x="6675120" y="1371600"/>
            <a:ext cx="2011680" cy="890016"/>
          </a:xfrm>
          <a:prstGeom prst="roundRect">
            <a:avLst>
              <a:gd name="adj" fmla="val 8219"/>
            </a:avLst>
          </a:prstGeom>
          <a:solidFill>
            <a:srgbClr val="F2ECE1"/>
          </a:solidFill>
          <a:ln w="12700">
            <a:solidFill>
              <a:srgbClr val="DFD6C7"/>
            </a:solidFill>
            <a:prstDash val="solid"/>
          </a:ln>
        </p:spPr>
      </p:sp>
      <p:sp>
        <p:nvSpPr>
          <p:cNvPr id="13" name="Text 11"/>
          <p:cNvSpPr txBox="1"/>
          <p:nvPr/>
        </p:nvSpPr>
        <p:spPr>
          <a:xfrm>
            <a:off x="6784848" y="1408176"/>
            <a:ext cx="1792224" cy="4628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a:t>
            </a:r>
            <a:endParaRPr lang="en-US" sz="2600" dirty="0"/>
          </a:p>
        </p:txBody>
      </p:sp>
      <p:sp>
        <p:nvSpPr>
          <p:cNvPr id="14" name="Text 12"/>
          <p:cNvSpPr txBox="1"/>
          <p:nvPr/>
        </p:nvSpPr>
        <p:spPr>
          <a:xfrm>
            <a:off x="6784848" y="1834408"/>
            <a:ext cx="1792224" cy="391607"/>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request per write, of a cell or of a list</a:t>
            </a:r>
            <a:endParaRPr lang="en-US" sz="1100" dirty="0"/>
          </a:p>
        </p:txBody>
      </p:sp>
      <p:sp>
        <p:nvSpPr>
          <p:cNvPr id="15" name="Shape 13"/>
          <p:cNvSpPr/>
          <p:nvPr/>
        </p:nvSpPr>
        <p:spPr>
          <a:xfrm>
            <a:off x="6675120" y="2389632"/>
            <a:ext cx="2011680" cy="890016"/>
          </a:xfrm>
          <a:prstGeom prst="roundRect">
            <a:avLst>
              <a:gd name="adj" fmla="val 8219"/>
            </a:avLst>
          </a:prstGeom>
          <a:solidFill>
            <a:srgbClr val="F2ECE1"/>
          </a:solidFill>
          <a:ln w="12700">
            <a:solidFill>
              <a:srgbClr val="DFD6C7"/>
            </a:solidFill>
            <a:prstDash val="solid"/>
          </a:ln>
        </p:spPr>
      </p:sp>
      <p:sp>
        <p:nvSpPr>
          <p:cNvPr id="16" name="Text 14"/>
          <p:cNvSpPr txBox="1"/>
          <p:nvPr/>
        </p:nvSpPr>
        <p:spPr>
          <a:xfrm>
            <a:off x="6784848" y="2426208"/>
            <a:ext cx="1792224" cy="4628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0</a:t>
            </a:r>
            <a:endParaRPr lang="en-US" sz="2600" dirty="0"/>
          </a:p>
        </p:txBody>
      </p:sp>
      <p:sp>
        <p:nvSpPr>
          <p:cNvPr id="17" name="Text 15"/>
          <p:cNvSpPr txBox="1"/>
          <p:nvPr/>
        </p:nvSpPr>
        <p:spPr>
          <a:xfrm>
            <a:off x="6784848" y="2852440"/>
            <a:ext cx="1792224" cy="391607"/>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requests to read from a loaded sheet</a:t>
            </a:r>
            <a:endParaRPr lang="en-US" sz="1100" dirty="0"/>
          </a:p>
        </p:txBody>
      </p:sp>
      <p:sp>
        <p:nvSpPr>
          <p:cNvPr id="18" name="Shape 16"/>
          <p:cNvSpPr/>
          <p:nvPr/>
        </p:nvSpPr>
        <p:spPr>
          <a:xfrm>
            <a:off x="6675120" y="3407664"/>
            <a:ext cx="2011680" cy="890016"/>
          </a:xfrm>
          <a:prstGeom prst="roundRect">
            <a:avLst>
              <a:gd name="adj" fmla="val 8219"/>
            </a:avLst>
          </a:prstGeom>
          <a:solidFill>
            <a:srgbClr val="F2ECE1"/>
          </a:solidFill>
          <a:ln w="12700">
            <a:solidFill>
              <a:srgbClr val="DFD6C7"/>
            </a:solidFill>
            <a:prstDash val="solid"/>
          </a:ln>
        </p:spPr>
      </p:sp>
      <p:sp>
        <p:nvSpPr>
          <p:cNvPr id="19" name="Text 17"/>
          <p:cNvSpPr txBox="1"/>
          <p:nvPr/>
        </p:nvSpPr>
        <p:spPr>
          <a:xfrm>
            <a:off x="6784848" y="3444240"/>
            <a:ext cx="1792224" cy="4628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0" name="Text 18"/>
          <p:cNvSpPr txBox="1"/>
          <p:nvPr/>
        </p:nvSpPr>
        <p:spPr>
          <a:xfrm>
            <a:off x="6784848" y="3870472"/>
            <a:ext cx="1792224" cy="391607"/>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requests to change a size: 2 reads, 1 write</a:t>
            </a:r>
            <a:endParaRPr lang="en-US" sz="1100" dirty="0"/>
          </a:p>
        </p:txBody>
      </p:sp>
      <p:sp>
        <p:nvSpPr>
          <p:cNvPr id="21" name="Shape 19"/>
          <p:cNvSpPr/>
          <p:nvPr/>
        </p:nvSpPr>
        <p:spPr>
          <a:xfrm>
            <a:off x="3931920" y="3145536"/>
            <a:ext cx="2606040" cy="1106424"/>
          </a:xfrm>
          <a:prstGeom prst="roundRect">
            <a:avLst>
              <a:gd name="adj" fmla="val 8264"/>
            </a:avLst>
          </a:prstGeom>
          <a:solidFill>
            <a:srgbClr val="F2ECE1"/>
          </a:solidFill>
          <a:ln w="12700">
            <a:solidFill>
              <a:srgbClr val="F2ECE1"/>
            </a:solidFill>
            <a:prstDash val="solid"/>
          </a:ln>
        </p:spPr>
      </p:sp>
      <p:sp>
        <p:nvSpPr>
          <p:cNvPr id="22" name="Text 20"/>
          <p:cNvSpPr txBox="1"/>
          <p:nvPr/>
        </p:nvSpPr>
        <p:spPr>
          <a:xfrm>
            <a:off x="4114800" y="3264408"/>
            <a:ext cx="224028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Step 2 costs six</a:t>
            </a:r>
            <a:endParaRPr lang="en-US" sz="1600" dirty="0"/>
          </a:p>
        </p:txBody>
      </p:sp>
      <p:sp>
        <p:nvSpPr>
          <p:cNvPr id="23" name="Text 21"/>
          <p:cNvSpPr txBox="1"/>
          <p:nvPr/>
        </p:nvSpPr>
        <p:spPr>
          <a:xfrm>
            <a:off x="4114800" y="3648456"/>
            <a:ext cx="2240280" cy="46634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A new Boringcoin row is rowCount += 1 (three requests) and three cell writes: six.</a:t>
            </a:r>
            <a:endParaRPr lang="en-US" sz="950" dirty="0"/>
          </a:p>
        </p:txBody>
      </p:sp>
      <p:sp>
        <p:nvSpPr>
          <p:cNvPr id="24" name="Text 22"/>
          <p:cNvSpPr txBox="1"/>
          <p:nvPr/>
        </p:nvSpPr>
        <p:spPr>
          <a:xfrm>
            <a:off x="457200" y="4334256"/>
            <a:ext cx="8229600" cy="17373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for Google: this output comes from the real EZSheets library talking to a stand-in written for this study, not from Google.</a:t>
            </a:r>
            <a:endParaRPr lang="en-US" sz="9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Count requests, not lines of code: write lists, not cells.</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request that meets the quota</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 throttles itself, retries on RESOURCE_EXHAUSTED and gives up after nine tries</a:t>
            </a:r>
            <a:endParaRPr lang="en-US" sz="1300" dirty="0"/>
          </a:p>
        </p:txBody>
      </p:sp>
      <p:sp>
        <p:nvSpPr>
          <p:cNvPr id="6" name="Shape 4"/>
          <p:cNvSpPr/>
          <p:nvPr/>
        </p:nvSpPr>
        <p:spPr>
          <a:xfrm>
            <a:off x="457200" y="1408176"/>
            <a:ext cx="2331720" cy="402336"/>
          </a:xfrm>
          <a:prstGeom prst="roundRect">
            <a:avLst>
              <a:gd name="adj" fmla="val 18182"/>
            </a:avLst>
          </a:prstGeom>
          <a:solidFill>
            <a:srgbClr val="F2ECE1"/>
          </a:solidFill>
          <a:ln w="15875">
            <a:solidFill>
              <a:srgbClr val="2F6D62"/>
            </a:solidFill>
            <a:prstDash val="solid"/>
          </a:ln>
        </p:spPr>
      </p:sp>
      <p:sp>
        <p:nvSpPr>
          <p:cNvPr id="7" name="Text 5"/>
          <p:cNvSpPr txBox="1"/>
          <p:nvPr/>
        </p:nvSpPr>
        <p:spPr>
          <a:xfrm>
            <a:off x="521208" y="1477670"/>
            <a:ext cx="22037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The library sleeps while too many writes are in a burst</a:t>
            </a:r>
            <a:endParaRPr lang="en-US" sz="800" dirty="0"/>
          </a:p>
        </p:txBody>
      </p:sp>
      <p:sp>
        <p:nvSpPr>
          <p:cNvPr id="8" name="Shape 6"/>
          <p:cNvSpPr/>
          <p:nvPr/>
        </p:nvSpPr>
        <p:spPr>
          <a:xfrm>
            <a:off x="457200" y="1975104"/>
            <a:ext cx="2331720" cy="402336"/>
          </a:xfrm>
          <a:prstGeom prst="roundRect">
            <a:avLst>
              <a:gd name="adj" fmla="val 18182"/>
            </a:avLst>
          </a:prstGeom>
          <a:solidFill>
            <a:srgbClr val="F2ECE1"/>
          </a:solidFill>
          <a:ln w="15875">
            <a:solidFill>
              <a:srgbClr val="2F6D62"/>
            </a:solidFill>
            <a:prstDash val="solid"/>
          </a:ln>
        </p:spPr>
      </p:sp>
      <p:sp>
        <p:nvSpPr>
          <p:cNvPr id="9" name="Text 7"/>
          <p:cNvSpPr txBox="1"/>
          <p:nvPr/>
        </p:nvSpPr>
        <p:spPr>
          <a:xfrm>
            <a:off x="521208" y="2105863"/>
            <a:ext cx="22037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Send the request to Google</a:t>
            </a:r>
            <a:endParaRPr lang="en-US" sz="800" dirty="0"/>
          </a:p>
        </p:txBody>
      </p:sp>
      <p:sp>
        <p:nvSpPr>
          <p:cNvPr id="10" name="Shape 8"/>
          <p:cNvSpPr/>
          <p:nvPr/>
        </p:nvSpPr>
        <p:spPr>
          <a:xfrm>
            <a:off x="457200" y="2532888"/>
            <a:ext cx="2331720" cy="420624"/>
          </a:xfrm>
          <a:prstGeom prst="hexagon">
            <a:avLst/>
          </a:prstGeom>
          <a:solidFill>
            <a:srgbClr val="D97A14"/>
          </a:solidFill>
          <a:ln w="15875">
            <a:solidFill>
              <a:srgbClr val="D97A14"/>
            </a:solidFill>
            <a:prstDash val="solid"/>
          </a:ln>
        </p:spPr>
      </p:sp>
      <p:sp>
        <p:nvSpPr>
          <p:cNvPr id="11" name="Text 9"/>
          <p:cNvSpPr txBox="1"/>
          <p:nvPr/>
        </p:nvSpPr>
        <p:spPr>
          <a:xfrm>
            <a:off x="612648" y="2672791"/>
            <a:ext cx="202082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Does Google answer RESOURCE_EXHAUSTED?</a:t>
            </a:r>
            <a:endParaRPr lang="en-US" sz="800" dirty="0"/>
          </a:p>
        </p:txBody>
      </p:sp>
      <p:sp>
        <p:nvSpPr>
          <p:cNvPr id="12" name="Shape 10"/>
          <p:cNvSpPr/>
          <p:nvPr/>
        </p:nvSpPr>
        <p:spPr>
          <a:xfrm>
            <a:off x="3200400" y="2542032"/>
            <a:ext cx="1783080" cy="402336"/>
          </a:xfrm>
          <a:prstGeom prst="roundRect">
            <a:avLst>
              <a:gd name="adj" fmla="val 18182"/>
            </a:avLst>
          </a:prstGeom>
          <a:solidFill>
            <a:srgbClr val="F2ECE1"/>
          </a:solidFill>
          <a:ln w="15875">
            <a:solidFill>
              <a:srgbClr val="2F6D62"/>
            </a:solidFill>
            <a:prstDash val="solid"/>
          </a:ln>
        </p:spPr>
      </p:sp>
      <p:sp>
        <p:nvSpPr>
          <p:cNvPr id="13" name="Text 11"/>
          <p:cNvSpPr txBox="1"/>
          <p:nvPr/>
        </p:nvSpPr>
        <p:spPr>
          <a:xfrm>
            <a:off x="3264408" y="2672791"/>
            <a:ext cx="165506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Return the answer</a:t>
            </a:r>
            <a:endParaRPr lang="en-US" sz="800" dirty="0"/>
          </a:p>
        </p:txBody>
      </p:sp>
      <p:sp>
        <p:nvSpPr>
          <p:cNvPr id="14" name="Shape 12"/>
          <p:cNvSpPr/>
          <p:nvPr/>
        </p:nvSpPr>
        <p:spPr>
          <a:xfrm>
            <a:off x="457200" y="3099816"/>
            <a:ext cx="2331720" cy="420624"/>
          </a:xfrm>
          <a:prstGeom prst="hexagon">
            <a:avLst/>
          </a:prstGeom>
          <a:solidFill>
            <a:srgbClr val="D97A14"/>
          </a:solidFill>
          <a:ln w="15875">
            <a:solidFill>
              <a:srgbClr val="D97A14"/>
            </a:solidFill>
            <a:prstDash val="solid"/>
          </a:ln>
        </p:spPr>
      </p:sp>
      <p:sp>
        <p:nvSpPr>
          <p:cNvPr id="15" name="Text 13"/>
          <p:cNvSpPr txBox="1"/>
          <p:nvPr/>
        </p:nvSpPr>
        <p:spPr>
          <a:xfrm>
            <a:off x="612648" y="3239719"/>
            <a:ext cx="202082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limit of tries exhausted?</a:t>
            </a:r>
            <a:endParaRPr lang="en-US" sz="800" dirty="0"/>
          </a:p>
        </p:txBody>
      </p:sp>
      <p:sp>
        <p:nvSpPr>
          <p:cNvPr id="16" name="Shape 14"/>
          <p:cNvSpPr/>
          <p:nvPr/>
        </p:nvSpPr>
        <p:spPr>
          <a:xfrm>
            <a:off x="3200400" y="3108960"/>
            <a:ext cx="1783080" cy="402336"/>
          </a:xfrm>
          <a:prstGeom prst="roundRect">
            <a:avLst>
              <a:gd name="adj" fmla="val 18182"/>
            </a:avLst>
          </a:prstGeom>
          <a:solidFill>
            <a:srgbClr val="F2ECE1"/>
          </a:solidFill>
          <a:ln w="15875">
            <a:solidFill>
              <a:srgbClr val="2F6D62"/>
            </a:solidFill>
            <a:prstDash val="solid"/>
          </a:ln>
        </p:spPr>
      </p:sp>
      <p:sp>
        <p:nvSpPr>
          <p:cNvPr id="17" name="Text 15"/>
          <p:cNvSpPr txBox="1"/>
          <p:nvPr/>
        </p:nvSpPr>
        <p:spPr>
          <a:xfrm>
            <a:off x="3264408" y="3178454"/>
            <a:ext cx="16550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Raise the exception to the program</a:t>
            </a:r>
            <a:endParaRPr lang="en-US" sz="800" dirty="0"/>
          </a:p>
        </p:txBody>
      </p:sp>
      <p:sp>
        <p:nvSpPr>
          <p:cNvPr id="18" name="Shape 16"/>
          <p:cNvSpPr/>
          <p:nvPr/>
        </p:nvSpPr>
        <p:spPr>
          <a:xfrm>
            <a:off x="457200" y="3675888"/>
            <a:ext cx="2331720" cy="402336"/>
          </a:xfrm>
          <a:prstGeom prst="roundRect">
            <a:avLst>
              <a:gd name="adj" fmla="val 18182"/>
            </a:avLst>
          </a:prstGeom>
          <a:solidFill>
            <a:srgbClr val="F2ECE1"/>
          </a:solidFill>
          <a:ln w="15875">
            <a:solidFill>
              <a:srgbClr val="2F6D62"/>
            </a:solidFill>
            <a:prstDash val="solid"/>
          </a:ln>
        </p:spPr>
      </p:sp>
      <p:sp>
        <p:nvSpPr>
          <p:cNvPr id="19" name="Text 17"/>
          <p:cNvSpPr txBox="1"/>
          <p:nvPr/>
        </p:nvSpPr>
        <p:spPr>
          <a:xfrm>
            <a:off x="521208" y="3806647"/>
            <a:ext cx="22037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Pause for several seconds and retry</a:t>
            </a:r>
            <a:endParaRPr lang="en-US" sz="800" dirty="0"/>
          </a:p>
        </p:txBody>
      </p:sp>
      <p:sp>
        <p:nvSpPr>
          <p:cNvPr id="20" name="Shape 18"/>
          <p:cNvSpPr/>
          <p:nvPr/>
        </p:nvSpPr>
        <p:spPr>
          <a:xfrm>
            <a:off x="4000500" y="1517904"/>
            <a:ext cx="182880" cy="182880"/>
          </a:xfrm>
          <a:prstGeom prst="ellipse">
            <a:avLst/>
          </a:prstGeom>
          <a:solidFill>
            <a:srgbClr val="2B2622"/>
          </a:solidFill>
          <a:ln w="15875">
            <a:solidFill>
              <a:srgbClr val="2B2622"/>
            </a:solidFill>
            <a:prstDash val="solid"/>
          </a:ln>
        </p:spPr>
      </p:sp>
      <p:sp>
        <p:nvSpPr>
          <p:cNvPr id="21" name="Shape 19"/>
          <p:cNvSpPr/>
          <p:nvPr/>
        </p:nvSpPr>
        <p:spPr>
          <a:xfrm>
            <a:off x="3963924" y="3749040"/>
            <a:ext cx="256032" cy="256032"/>
          </a:xfrm>
          <a:prstGeom prst="ellipse">
            <a:avLst/>
          </a:prstGeom>
          <a:solidFill>
            <a:srgbClr val="FFFFFF"/>
          </a:solidFill>
          <a:ln w="25400">
            <a:solidFill>
              <a:srgbClr val="2B2622"/>
            </a:solidFill>
            <a:prstDash val="solid"/>
          </a:ln>
        </p:spPr>
      </p:sp>
      <p:sp>
        <p:nvSpPr>
          <p:cNvPr id="22" name="Shape 20"/>
          <p:cNvSpPr/>
          <p:nvPr/>
        </p:nvSpPr>
        <p:spPr>
          <a:xfrm>
            <a:off x="4018788" y="3803904"/>
            <a:ext cx="146304" cy="146304"/>
          </a:xfrm>
          <a:prstGeom prst="ellipse">
            <a:avLst/>
          </a:prstGeom>
          <a:solidFill>
            <a:srgbClr val="2B2622"/>
          </a:solidFill>
          <a:ln w="15875">
            <a:solidFill>
              <a:srgbClr val="2B2622"/>
            </a:solidFill>
            <a:prstDash val="solid"/>
          </a:ln>
        </p:spPr>
      </p:sp>
      <p:sp>
        <p:nvSpPr>
          <p:cNvPr id="23" name="Shape 21"/>
          <p:cNvSpPr/>
          <p:nvPr/>
        </p:nvSpPr>
        <p:spPr>
          <a:xfrm flipH="1">
            <a:off x="2788920" y="1609344"/>
            <a:ext cx="1211580" cy="0"/>
          </a:xfrm>
          <a:prstGeom prst="line">
            <a:avLst/>
          </a:prstGeom>
          <a:noFill/>
          <a:ln w="15875">
            <a:solidFill>
              <a:srgbClr val="6E655C"/>
            </a:solidFill>
            <a:prstDash val="solid"/>
            <a:tailEnd type="triangle"/>
          </a:ln>
        </p:spPr>
      </p:sp>
      <p:sp>
        <p:nvSpPr>
          <p:cNvPr id="24" name="Shape 22"/>
          <p:cNvSpPr/>
          <p:nvPr/>
        </p:nvSpPr>
        <p:spPr>
          <a:xfrm>
            <a:off x="1623060" y="1810512"/>
            <a:ext cx="0" cy="164592"/>
          </a:xfrm>
          <a:prstGeom prst="line">
            <a:avLst/>
          </a:prstGeom>
          <a:noFill/>
          <a:ln w="15875">
            <a:solidFill>
              <a:srgbClr val="6E655C"/>
            </a:solidFill>
            <a:prstDash val="solid"/>
            <a:tailEnd type="triangle"/>
          </a:ln>
        </p:spPr>
      </p:sp>
      <p:sp>
        <p:nvSpPr>
          <p:cNvPr id="25" name="Shape 23"/>
          <p:cNvSpPr/>
          <p:nvPr/>
        </p:nvSpPr>
        <p:spPr>
          <a:xfrm>
            <a:off x="1623060" y="2377440"/>
            <a:ext cx="0" cy="155448"/>
          </a:xfrm>
          <a:prstGeom prst="line">
            <a:avLst/>
          </a:prstGeom>
          <a:noFill/>
          <a:ln w="15875">
            <a:solidFill>
              <a:srgbClr val="6E655C"/>
            </a:solidFill>
            <a:prstDash val="solid"/>
            <a:tailEnd type="triangle"/>
          </a:ln>
        </p:spPr>
      </p:sp>
      <p:sp>
        <p:nvSpPr>
          <p:cNvPr id="26" name="Shape 24"/>
          <p:cNvSpPr/>
          <p:nvPr/>
        </p:nvSpPr>
        <p:spPr>
          <a:xfrm>
            <a:off x="2788920" y="2743200"/>
            <a:ext cx="411480" cy="0"/>
          </a:xfrm>
          <a:prstGeom prst="line">
            <a:avLst/>
          </a:prstGeom>
          <a:noFill/>
          <a:ln w="15875">
            <a:solidFill>
              <a:srgbClr val="6E655C"/>
            </a:solidFill>
            <a:prstDash val="solid"/>
            <a:tailEnd type="triangle"/>
          </a:ln>
        </p:spPr>
      </p:sp>
      <p:sp>
        <p:nvSpPr>
          <p:cNvPr id="27" name="Text 25"/>
          <p:cNvSpPr txBox="1"/>
          <p:nvPr/>
        </p:nvSpPr>
        <p:spPr>
          <a:xfrm>
            <a:off x="2834640" y="256032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28" name="Shape 26"/>
          <p:cNvSpPr/>
          <p:nvPr/>
        </p:nvSpPr>
        <p:spPr>
          <a:xfrm>
            <a:off x="1623060" y="2953512"/>
            <a:ext cx="0" cy="146304"/>
          </a:xfrm>
          <a:prstGeom prst="line">
            <a:avLst/>
          </a:prstGeom>
          <a:noFill/>
          <a:ln w="15875">
            <a:solidFill>
              <a:srgbClr val="6E655C"/>
            </a:solidFill>
            <a:prstDash val="solid"/>
            <a:tailEnd type="triangle"/>
          </a:ln>
        </p:spPr>
      </p:sp>
      <p:sp>
        <p:nvSpPr>
          <p:cNvPr id="29" name="Text 27"/>
          <p:cNvSpPr txBox="1"/>
          <p:nvPr/>
        </p:nvSpPr>
        <p:spPr>
          <a:xfrm>
            <a:off x="1677924" y="2944368"/>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0" name="Shape 28"/>
          <p:cNvSpPr/>
          <p:nvPr/>
        </p:nvSpPr>
        <p:spPr>
          <a:xfrm>
            <a:off x="2788920" y="3310128"/>
            <a:ext cx="411480" cy="0"/>
          </a:xfrm>
          <a:prstGeom prst="line">
            <a:avLst/>
          </a:prstGeom>
          <a:noFill/>
          <a:ln w="15875">
            <a:solidFill>
              <a:srgbClr val="6E655C"/>
            </a:solidFill>
            <a:prstDash val="solid"/>
            <a:tailEnd type="triangle"/>
          </a:ln>
        </p:spPr>
      </p:sp>
      <p:sp>
        <p:nvSpPr>
          <p:cNvPr id="31" name="Text 29"/>
          <p:cNvSpPr txBox="1"/>
          <p:nvPr/>
        </p:nvSpPr>
        <p:spPr>
          <a:xfrm>
            <a:off x="2834640" y="3127248"/>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2" name="Shape 30"/>
          <p:cNvSpPr/>
          <p:nvPr/>
        </p:nvSpPr>
        <p:spPr>
          <a:xfrm>
            <a:off x="1623060" y="3520440"/>
            <a:ext cx="0" cy="155448"/>
          </a:xfrm>
          <a:prstGeom prst="line">
            <a:avLst/>
          </a:prstGeom>
          <a:noFill/>
          <a:ln w="15875">
            <a:solidFill>
              <a:srgbClr val="6E655C"/>
            </a:solidFill>
            <a:prstDash val="solid"/>
            <a:tailEnd type="triangle"/>
          </a:ln>
        </p:spPr>
      </p:sp>
      <p:sp>
        <p:nvSpPr>
          <p:cNvPr id="33" name="Text 31"/>
          <p:cNvSpPr txBox="1"/>
          <p:nvPr/>
        </p:nvSpPr>
        <p:spPr>
          <a:xfrm>
            <a:off x="1677924" y="3515868"/>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4" name="Shape 32"/>
          <p:cNvSpPr/>
          <p:nvPr/>
        </p:nvSpPr>
        <p:spPr>
          <a:xfrm flipH="1">
            <a:off x="256032" y="3877056"/>
            <a:ext cx="201168" cy="0"/>
          </a:xfrm>
          <a:prstGeom prst="line">
            <a:avLst/>
          </a:prstGeom>
          <a:noFill/>
          <a:ln w="15875">
            <a:solidFill>
              <a:srgbClr val="6E655C"/>
            </a:solidFill>
            <a:prstDash val="solid"/>
          </a:ln>
        </p:spPr>
      </p:sp>
      <p:sp>
        <p:nvSpPr>
          <p:cNvPr id="35" name="Shape 33"/>
          <p:cNvSpPr/>
          <p:nvPr/>
        </p:nvSpPr>
        <p:spPr>
          <a:xfrm flipV="1">
            <a:off x="256032" y="2176272"/>
            <a:ext cx="0" cy="1700784"/>
          </a:xfrm>
          <a:prstGeom prst="line">
            <a:avLst/>
          </a:prstGeom>
          <a:noFill/>
          <a:ln w="15875">
            <a:solidFill>
              <a:srgbClr val="6E655C"/>
            </a:solidFill>
            <a:prstDash val="solid"/>
          </a:ln>
        </p:spPr>
      </p:sp>
      <p:sp>
        <p:nvSpPr>
          <p:cNvPr id="36" name="Shape 34"/>
          <p:cNvSpPr/>
          <p:nvPr/>
        </p:nvSpPr>
        <p:spPr>
          <a:xfrm>
            <a:off x="256032" y="2176272"/>
            <a:ext cx="201168" cy="0"/>
          </a:xfrm>
          <a:prstGeom prst="line">
            <a:avLst/>
          </a:prstGeom>
          <a:noFill/>
          <a:ln w="15875">
            <a:solidFill>
              <a:srgbClr val="6E655C"/>
            </a:solidFill>
            <a:prstDash val="solid"/>
            <a:tailEnd type="triangle"/>
          </a:ln>
        </p:spPr>
      </p:sp>
      <p:sp>
        <p:nvSpPr>
          <p:cNvPr id="37" name="Shape 35"/>
          <p:cNvSpPr/>
          <p:nvPr/>
        </p:nvSpPr>
        <p:spPr>
          <a:xfrm>
            <a:off x="4983480" y="2743200"/>
            <a:ext cx="201168" cy="0"/>
          </a:xfrm>
          <a:prstGeom prst="line">
            <a:avLst/>
          </a:prstGeom>
          <a:noFill/>
          <a:ln w="15875">
            <a:solidFill>
              <a:srgbClr val="6E655C"/>
            </a:solidFill>
            <a:prstDash val="solid"/>
          </a:ln>
        </p:spPr>
      </p:sp>
      <p:sp>
        <p:nvSpPr>
          <p:cNvPr id="38" name="Shape 36"/>
          <p:cNvSpPr/>
          <p:nvPr/>
        </p:nvSpPr>
        <p:spPr>
          <a:xfrm>
            <a:off x="5184648" y="2743200"/>
            <a:ext cx="0" cy="1133856"/>
          </a:xfrm>
          <a:prstGeom prst="line">
            <a:avLst/>
          </a:prstGeom>
          <a:noFill/>
          <a:ln w="15875">
            <a:solidFill>
              <a:srgbClr val="6E655C"/>
            </a:solidFill>
            <a:prstDash val="solid"/>
          </a:ln>
        </p:spPr>
      </p:sp>
      <p:sp>
        <p:nvSpPr>
          <p:cNvPr id="39" name="Shape 37"/>
          <p:cNvSpPr/>
          <p:nvPr/>
        </p:nvSpPr>
        <p:spPr>
          <a:xfrm flipH="1">
            <a:off x="4219956" y="3877056"/>
            <a:ext cx="964692" cy="0"/>
          </a:xfrm>
          <a:prstGeom prst="line">
            <a:avLst/>
          </a:prstGeom>
          <a:noFill/>
          <a:ln w="15875">
            <a:solidFill>
              <a:srgbClr val="6E655C"/>
            </a:solidFill>
            <a:prstDash val="solid"/>
            <a:tailEnd type="triangle"/>
          </a:ln>
        </p:spPr>
      </p:sp>
      <p:sp>
        <p:nvSpPr>
          <p:cNvPr id="40" name="Shape 38"/>
          <p:cNvSpPr/>
          <p:nvPr/>
        </p:nvSpPr>
        <p:spPr>
          <a:xfrm>
            <a:off x="4091940" y="3511296"/>
            <a:ext cx="0" cy="237744"/>
          </a:xfrm>
          <a:prstGeom prst="line">
            <a:avLst/>
          </a:prstGeom>
          <a:noFill/>
          <a:ln w="15875">
            <a:solidFill>
              <a:srgbClr val="6E655C"/>
            </a:solidFill>
            <a:prstDash val="solid"/>
            <a:tailEnd type="triangle"/>
          </a:ln>
        </p:spPr>
      </p:sp>
      <p:sp>
        <p:nvSpPr>
          <p:cNvPr id="41" name="Text 39"/>
          <p:cNvSpPr txBox="1"/>
          <p:nvPr/>
        </p:nvSpPr>
        <p:spPr>
          <a:xfrm>
            <a:off x="457200" y="4187952"/>
            <a:ext cx="45720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AQuotaRetry - Workflow pattern, 26 of 27 words grounded in the chapter's text</a:t>
            </a:r>
            <a:endParaRPr lang="en-US" sz="850" dirty="0"/>
          </a:p>
        </p:txBody>
      </p:sp>
      <p:sp>
        <p:nvSpPr>
          <p:cNvPr id="42" name="Text 40"/>
          <p:cNvSpPr txBox="1"/>
          <p:nvPr/>
        </p:nvSpPr>
        <p:spPr>
          <a:xfrm>
            <a:off x="5120640" y="1097280"/>
            <a:ext cx="361188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quotaRetry_v1_0_0.py</a:t>
            </a:r>
            <a:endParaRPr lang="en-US" sz="1000" dirty="0"/>
          </a:p>
        </p:txBody>
      </p:sp>
      <p:sp>
        <p:nvSpPr>
          <p:cNvPr id="43" name="Shape 41"/>
          <p:cNvSpPr/>
          <p:nvPr/>
        </p:nvSpPr>
        <p:spPr>
          <a:xfrm>
            <a:off x="5120640" y="1371600"/>
            <a:ext cx="3611880" cy="658368"/>
          </a:xfrm>
          <a:prstGeom prst="roundRect">
            <a:avLst>
              <a:gd name="adj" fmla="val 13889"/>
            </a:avLst>
          </a:prstGeom>
          <a:solidFill>
            <a:srgbClr val="23272E"/>
          </a:solidFill>
          <a:ln w="12700">
            <a:solidFill>
              <a:srgbClr val="23272E"/>
            </a:solidFill>
            <a:prstDash val="solid"/>
          </a:ln>
        </p:spPr>
      </p:sp>
      <p:sp>
        <p:nvSpPr>
          <p:cNvPr id="44" name="Text 42"/>
          <p:cNvSpPr txBox="1"/>
          <p:nvPr/>
        </p:nvSpPr>
        <p:spPr>
          <a:xfrm>
            <a:off x="5303520" y="1490472"/>
            <a:ext cx="3246120" cy="420624"/>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False HttpError 9 [10, 15, 20, 25, 30, 35, 40, 45]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True HttpError 9 [10, 15, 20, 25, 30, 35, 40, 45]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403 HttpError 1 []</a:t>
            </a:r>
            <a:endParaRPr lang="en-US" sz="700" dirty="0"/>
          </a:p>
        </p:txBody>
      </p:sp>
      <p:sp>
        <p:nvSpPr>
          <p:cNvPr id="45" name="Shape 43"/>
          <p:cNvSpPr/>
          <p:nvPr/>
        </p:nvSpPr>
        <p:spPr>
          <a:xfrm>
            <a:off x="5120640" y="2167128"/>
            <a:ext cx="3566160" cy="1856232"/>
          </a:xfrm>
          <a:prstGeom prst="roundRect">
            <a:avLst>
              <a:gd name="adj" fmla="val 4926"/>
            </a:avLst>
          </a:prstGeom>
          <a:solidFill>
            <a:srgbClr val="F2ECE1"/>
          </a:solidFill>
          <a:ln w="12700">
            <a:solidFill>
              <a:srgbClr val="F2ECE1"/>
            </a:solidFill>
            <a:prstDash val="solid"/>
          </a:ln>
        </p:spPr>
      </p:sp>
      <p:sp>
        <p:nvSpPr>
          <p:cNvPr id="46" name="Text 44"/>
          <p:cNvSpPr txBox="1"/>
          <p:nvPr/>
        </p:nvSpPr>
        <p:spPr>
          <a:xfrm>
            <a:off x="5303520" y="2286000"/>
            <a:ext cx="32004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Not 'a minute or two'</a:t>
            </a:r>
            <a:endParaRPr lang="en-US" sz="1600" dirty="0"/>
          </a:p>
        </p:txBody>
      </p:sp>
      <p:sp>
        <p:nvSpPr>
          <p:cNvPr id="47" name="Text 45"/>
          <p:cNvSpPr txBox="1"/>
          <p:nvPr/>
        </p:nvSpPr>
        <p:spPr>
          <a:xfrm>
            <a:off x="5303520" y="2670048"/>
            <a:ext cx="3200400" cy="1216152"/>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retry pauses 10, 15, ... 45 seconds: 220 in all. IGNORE_QUOTA switches off only the library's own throttle, so the retry is the same with the flag set. Another error is raised at once.</a:t>
            </a:r>
            <a:endParaRPr lang="en-US" sz="950" dirty="0"/>
          </a:p>
        </p:txBody>
      </p:sp>
      <p:sp>
        <p:nvSpPr>
          <p:cNvPr id="48" name="Text 46"/>
          <p:cNvSpPr txBox="1"/>
          <p:nvPr/>
        </p:nvSpPr>
        <p:spPr>
          <a:xfrm>
            <a:off x="5120640" y="4069080"/>
            <a:ext cx="3566160"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Stand-in for Google: this output comes from the real EZSheets library talking to a stand-in written for this study, not from Google.</a:t>
            </a:r>
            <a:endParaRPr lang="en-US" sz="850" dirty="0"/>
          </a:p>
        </p:txBody>
      </p:sp>
      <p:sp>
        <p:nvSpPr>
          <p:cNvPr id="49" name="Shape 47"/>
          <p:cNvSpPr/>
          <p:nvPr/>
        </p:nvSpPr>
        <p:spPr>
          <a:xfrm>
            <a:off x="457200" y="4636008"/>
            <a:ext cx="91440" cy="310896"/>
          </a:xfrm>
          <a:prstGeom prst="rect">
            <a:avLst/>
          </a:prstGeom>
          <a:solidFill>
            <a:srgbClr val="D97A14"/>
          </a:solidFill>
          <a:ln w="12700">
            <a:solidFill>
              <a:srgbClr val="D97A14"/>
            </a:solidFill>
            <a:prstDash val="solid"/>
          </a:ln>
        </p:spPr>
      </p:sp>
      <p:sp>
        <p:nvSpPr>
          <p:cNvPr id="50" name="Text 4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retry takes 220 seconds in all; IGNORE_QUOTA does not stop it.</a:t>
            </a:r>
            <a:endParaRPr lang="en-US" sz="1350" dirty="0"/>
          </a:p>
        </p:txBody>
      </p:sp>
      <p:sp>
        <p:nvSpPr>
          <p:cNvPr id="51" name="Text 4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Quota numbers: the library's and Google's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retry waits 220 seconds in all; the chapter's figures differ from Google's pages</a:t>
            </a:r>
            <a:endParaRPr lang="en-US" sz="1300" dirty="0"/>
          </a:p>
        </p:txBody>
      </p:sp>
      <p:graphicFrame>
        <p:nvGraphicFramePr>
          <p:cNvPr id="6" name="Chart 0" descr=""/>
          <p:cNvGraphicFramePr/>
          <p:nvPr/>
        </p:nvGraphicFramePr>
        <p:xfrm>
          <a:off x="457200" y="1325880"/>
          <a:ext cx="4023360" cy="19659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663440" y="1417320"/>
            <a:ext cx="40233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the retry's pauses and their sum; standard library only</a:t>
            </a:r>
            <a:endParaRPr lang="en-US" sz="1000" dirty="0"/>
          </a:p>
        </p:txBody>
      </p:sp>
      <p:sp>
        <p:nvSpPr>
          <p:cNvPr id="8" name="Shape 5"/>
          <p:cNvSpPr/>
          <p:nvPr/>
        </p:nvSpPr>
        <p:spPr>
          <a:xfrm>
            <a:off x="4663440" y="1691640"/>
            <a:ext cx="4023360" cy="1426464"/>
          </a:xfrm>
          <a:prstGeom prst="roundRect">
            <a:avLst>
              <a:gd name="adj" fmla="val 6410"/>
            </a:avLst>
          </a:prstGeom>
          <a:solidFill>
            <a:srgbClr val="23272E"/>
          </a:solidFill>
          <a:ln w="12700">
            <a:solidFill>
              <a:srgbClr val="23272E"/>
            </a:solidFill>
            <a:prstDash val="solid"/>
          </a:ln>
        </p:spPr>
      </p:sp>
      <p:sp>
        <p:nvSpPr>
          <p:cNvPr id="9" name="Text 6"/>
          <p:cNvSpPr txBox="1"/>
          <p:nvPr/>
        </p:nvSpPr>
        <p:spPr>
          <a:xfrm>
            <a:off x="4846320" y="1810512"/>
            <a:ext cx="3657600" cy="1188720"/>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pauses = list(range(10, 50, 5))</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pauses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[10, 15, 20, 25, 30, 35, 40, 45]</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sum(pauses)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220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len(pauses) + 1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9</a:t>
            </a:r>
            <a:endParaRPr lang="en-US" sz="900" dirty="0"/>
          </a:p>
        </p:txBody>
      </p:sp>
      <p:sp>
        <p:nvSpPr>
          <p:cNvPr id="10" name="Text 7"/>
          <p:cNvSpPr txBox="1"/>
          <p:nvPr/>
        </p:nvSpPr>
        <p:spPr>
          <a:xfrm>
            <a:off x="4663440" y="3136392"/>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8"/>
          <p:cNvSpPr/>
          <p:nvPr/>
        </p:nvSpPr>
        <p:spPr>
          <a:xfrm>
            <a:off x="457200" y="3429000"/>
            <a:ext cx="4023360" cy="1097280"/>
          </a:xfrm>
          <a:prstGeom prst="roundRect">
            <a:avLst>
              <a:gd name="adj" fmla="val 8333"/>
            </a:avLst>
          </a:prstGeom>
          <a:solidFill>
            <a:srgbClr val="F2ECE1"/>
          </a:solidFill>
          <a:ln w="12700">
            <a:solidFill>
              <a:srgbClr val="F2ECE1"/>
            </a:solidFill>
            <a:prstDash val="solid"/>
          </a:ln>
        </p:spPr>
      </p:sp>
      <p:sp>
        <p:nvSpPr>
          <p:cNvPr id="12" name="Text 9"/>
          <p:cNvSpPr txBox="1"/>
          <p:nvPr/>
        </p:nvSpPr>
        <p:spPr>
          <a:xfrm>
            <a:off x="640080" y="35478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Google's numbers</a:t>
            </a:r>
            <a:endParaRPr lang="en-US" sz="1600" dirty="0"/>
          </a:p>
        </p:txBody>
      </p:sp>
      <p:sp>
        <p:nvSpPr>
          <p:cNvPr id="13" name="Text 10"/>
          <p:cNvSpPr txBox="1"/>
          <p:nvPr/>
        </p:nvSpPr>
        <p:spPr>
          <a:xfrm>
            <a:off x="640080" y="3931920"/>
            <a:ext cx="3657600" cy="45720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Google's limits page (2026-09-03): 300 reads and 300 writes a minute per project, 60 each per user; 429 on excess. The chapter's 250 a day is not on it.</a:t>
            </a:r>
            <a:endParaRPr lang="en-US" sz="950" dirty="0"/>
          </a:p>
        </p:txBody>
      </p:sp>
      <p:sp>
        <p:nvSpPr>
          <p:cNvPr id="14" name="Shape 11"/>
          <p:cNvSpPr/>
          <p:nvPr/>
        </p:nvSpPr>
        <p:spPr>
          <a:xfrm>
            <a:off x="4663440" y="3429000"/>
            <a:ext cx="4023360" cy="1097280"/>
          </a:xfrm>
          <a:prstGeom prst="roundRect">
            <a:avLst>
              <a:gd name="adj" fmla="val 8333"/>
            </a:avLst>
          </a:prstGeom>
          <a:solidFill>
            <a:srgbClr val="F2ECE1"/>
          </a:solidFill>
          <a:ln w="12700">
            <a:solidFill>
              <a:srgbClr val="F2ECE1"/>
            </a:solidFill>
            <a:prstDash val="solid"/>
          </a:ln>
        </p:spPr>
      </p:sp>
      <p:sp>
        <p:nvSpPr>
          <p:cNvPr id="15" name="Text 12"/>
          <p:cNvSpPr txBox="1"/>
          <p:nvPr/>
        </p:nvSpPr>
        <p:spPr>
          <a:xfrm>
            <a:off x="4846320" y="35478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Cell limit: 10 million or 20?</a:t>
            </a:r>
            <a:endParaRPr lang="en-US" sz="1600" dirty="0"/>
          </a:p>
        </p:txBody>
      </p:sp>
      <p:sp>
        <p:nvSpPr>
          <p:cNvPr id="16" name="Text 13"/>
          <p:cNvSpPr txBox="1"/>
          <p:nvPr/>
        </p:nvSpPr>
        <p:spPr>
          <a:xfrm>
            <a:off x="4846320" y="3931920"/>
            <a:ext cx="3657600" cy="45720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chapter says 10 million cells; Google's Drive Help says 20 million or 100 MB. The produce sheet is 142,548 cells. Filling a sheet to the limit was NOT EXECUTED.</a:t>
            </a:r>
            <a:endParaRPr lang="en-US" sz="95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 Google's quota page, not the chapter's numbers.</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Boringcoin: a spreadsheet as a blockchain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31 October 2008</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The message Boringcoin makes fun of</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On 31 October 2008 at 14:10 Eastern time Satoshi Nakamoto wrote to a cryptography mailing list about an electronic cash system that was fully peer-to-peer, with no trusted third party.</a:t>
            </a:r>
            <a:endParaRPr lang="en-US" sz="120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paper: bitcoin.pdf, announced on the list</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Double-spending prevented by a peer-to-peer network</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No mint: new coins from proof-of-work</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Boringcoin: one sheet, 1,001 rows, a PRE-MINE sender</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Satoshi Nakamoto, writing to the reade…</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cryptography mailing list hosted a…</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31 October 2008</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metzdowd.com</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ledger of rows is easy to audit and just as easy to forge.</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Project 11, Step 1: audit the ledger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pass over every row; the sender PRE-MINE invents money, everyone else moves it</a:t>
            </a:r>
            <a:endParaRPr lang="en-US" sz="1300" dirty="0"/>
          </a:p>
        </p:txBody>
      </p:sp>
      <p:sp>
        <p:nvSpPr>
          <p:cNvPr id="6" name="Shape 4"/>
          <p:cNvSpPr/>
          <p:nvPr/>
        </p:nvSpPr>
        <p:spPr>
          <a:xfrm>
            <a:off x="457200" y="1362456"/>
            <a:ext cx="2651760" cy="420624"/>
          </a:xfrm>
          <a:prstGeom prst="roundRect">
            <a:avLst>
              <a:gd name="adj" fmla="val 17391"/>
            </a:avLst>
          </a:prstGeom>
          <a:solidFill>
            <a:srgbClr val="F2ECE1"/>
          </a:solidFill>
          <a:ln w="15875">
            <a:solidFill>
              <a:srgbClr val="2F6D62"/>
            </a:solidFill>
            <a:prstDash val="solid"/>
          </a:ln>
        </p:spPr>
      </p:sp>
      <p:sp>
        <p:nvSpPr>
          <p:cNvPr id="7" name="Text 5"/>
          <p:cNvSpPr txBox="1"/>
          <p:nvPr/>
        </p:nvSpPr>
        <p:spPr>
          <a:xfrm>
            <a:off x="521208" y="1502359"/>
            <a:ext cx="252374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Open the Boringcoin sheet and get its rows</a:t>
            </a:r>
            <a:endParaRPr lang="en-US" sz="800" dirty="0"/>
          </a:p>
        </p:txBody>
      </p:sp>
      <p:sp>
        <p:nvSpPr>
          <p:cNvPr id="8" name="Shape 6"/>
          <p:cNvSpPr/>
          <p:nvPr/>
        </p:nvSpPr>
        <p:spPr>
          <a:xfrm>
            <a:off x="457200" y="1947672"/>
            <a:ext cx="2651760" cy="420624"/>
          </a:xfrm>
          <a:prstGeom prst="roundRect">
            <a:avLst>
              <a:gd name="adj" fmla="val 17391"/>
            </a:avLst>
          </a:prstGeom>
          <a:solidFill>
            <a:srgbClr val="F2ECE1"/>
          </a:solidFill>
          <a:ln w="15875">
            <a:solidFill>
              <a:srgbClr val="2F6D62"/>
            </a:solidFill>
            <a:prstDash val="solid"/>
          </a:ln>
        </p:spPr>
      </p:sp>
      <p:sp>
        <p:nvSpPr>
          <p:cNvPr id="9" name="Text 7"/>
          <p:cNvSpPr txBox="1"/>
          <p:nvPr/>
        </p:nvSpPr>
        <p:spPr>
          <a:xfrm>
            <a:off x="521208" y="2026310"/>
            <a:ext cx="252374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sender, the recipient and the amount of each row</a:t>
            </a:r>
            <a:endParaRPr lang="en-US" sz="800" dirty="0"/>
          </a:p>
        </p:txBody>
      </p:sp>
      <p:sp>
        <p:nvSpPr>
          <p:cNvPr id="10" name="Shape 8"/>
          <p:cNvSpPr/>
          <p:nvPr/>
        </p:nvSpPr>
        <p:spPr>
          <a:xfrm>
            <a:off x="457200" y="2487168"/>
            <a:ext cx="2651760" cy="512064"/>
          </a:xfrm>
          <a:prstGeom prst="hexagon">
            <a:avLst/>
          </a:prstGeom>
          <a:solidFill>
            <a:srgbClr val="D97A14"/>
          </a:solidFill>
          <a:ln w="15875">
            <a:solidFill>
              <a:srgbClr val="D97A14"/>
            </a:solidFill>
            <a:prstDash val="solid"/>
          </a:ln>
        </p:spPr>
      </p:sp>
      <p:sp>
        <p:nvSpPr>
          <p:cNvPr id="11" name="Text 9"/>
          <p:cNvSpPr txBox="1"/>
          <p:nvPr/>
        </p:nvSpPr>
        <p:spPr>
          <a:xfrm>
            <a:off x="612648" y="2672791"/>
            <a:ext cx="234086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sender PRE-MINE?</a:t>
            </a:r>
            <a:endParaRPr lang="en-US" sz="800" dirty="0"/>
          </a:p>
        </p:txBody>
      </p:sp>
      <p:sp>
        <p:nvSpPr>
          <p:cNvPr id="12" name="Shape 10"/>
          <p:cNvSpPr/>
          <p:nvPr/>
        </p:nvSpPr>
        <p:spPr>
          <a:xfrm>
            <a:off x="3474720" y="2532888"/>
            <a:ext cx="2377440" cy="420624"/>
          </a:xfrm>
          <a:prstGeom prst="roundRect">
            <a:avLst>
              <a:gd name="adj" fmla="val 17391"/>
            </a:avLst>
          </a:prstGeom>
          <a:solidFill>
            <a:srgbClr val="F2ECE1"/>
          </a:solidFill>
          <a:ln w="15875">
            <a:solidFill>
              <a:srgbClr val="2F6D62"/>
            </a:solidFill>
            <a:prstDash val="solid"/>
          </a:ln>
        </p:spPr>
      </p:sp>
      <p:sp>
        <p:nvSpPr>
          <p:cNvPr id="13" name="Text 11"/>
          <p:cNvSpPr txBox="1"/>
          <p:nvPr/>
        </p:nvSpPr>
        <p:spPr>
          <a:xfrm>
            <a:off x="3538728" y="2611526"/>
            <a:ext cx="224942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Add the amount to the recipient from nothing</a:t>
            </a:r>
            <a:endParaRPr lang="en-US" sz="800" dirty="0"/>
          </a:p>
        </p:txBody>
      </p:sp>
      <p:sp>
        <p:nvSpPr>
          <p:cNvPr id="14" name="Shape 12"/>
          <p:cNvSpPr/>
          <p:nvPr/>
        </p:nvSpPr>
        <p:spPr>
          <a:xfrm>
            <a:off x="457200" y="3118104"/>
            <a:ext cx="2651760" cy="420624"/>
          </a:xfrm>
          <a:prstGeom prst="roundRect">
            <a:avLst>
              <a:gd name="adj" fmla="val 17391"/>
            </a:avLst>
          </a:prstGeom>
          <a:solidFill>
            <a:srgbClr val="F2ECE1"/>
          </a:solidFill>
          <a:ln w="15875">
            <a:solidFill>
              <a:srgbClr val="2F6D62"/>
            </a:solidFill>
            <a:prstDash val="solid"/>
          </a:ln>
        </p:spPr>
      </p:sp>
      <p:sp>
        <p:nvSpPr>
          <p:cNvPr id="15" name="Text 13"/>
          <p:cNvSpPr txBox="1"/>
          <p:nvPr/>
        </p:nvSpPr>
        <p:spPr>
          <a:xfrm>
            <a:off x="521208" y="3196742"/>
            <a:ext cx="252374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Take the amount from the sender and add it to the recipient</a:t>
            </a:r>
            <a:endParaRPr lang="en-US" sz="800" dirty="0"/>
          </a:p>
        </p:txBody>
      </p:sp>
      <p:sp>
        <p:nvSpPr>
          <p:cNvPr id="16" name="Shape 14"/>
          <p:cNvSpPr/>
          <p:nvPr/>
        </p:nvSpPr>
        <p:spPr>
          <a:xfrm>
            <a:off x="3474720" y="3072384"/>
            <a:ext cx="2377440" cy="512064"/>
          </a:xfrm>
          <a:prstGeom prst="hexagon">
            <a:avLst/>
          </a:prstGeom>
          <a:solidFill>
            <a:srgbClr val="D97A14"/>
          </a:solidFill>
          <a:ln w="15875">
            <a:solidFill>
              <a:srgbClr val="D97A14"/>
            </a:solidFill>
            <a:prstDash val="solid"/>
          </a:ln>
        </p:spPr>
      </p:sp>
      <p:sp>
        <p:nvSpPr>
          <p:cNvPr id="17" name="Text 15"/>
          <p:cNvSpPr txBox="1"/>
          <p:nvPr/>
        </p:nvSpPr>
        <p:spPr>
          <a:xfrm>
            <a:off x="3630168" y="3258007"/>
            <a:ext cx="206654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Are more rows to read in the sheet?</a:t>
            </a:r>
            <a:endParaRPr lang="en-US" sz="800" dirty="0"/>
          </a:p>
        </p:txBody>
      </p:sp>
      <p:sp>
        <p:nvSpPr>
          <p:cNvPr id="18" name="Shape 16"/>
          <p:cNvSpPr/>
          <p:nvPr/>
        </p:nvSpPr>
        <p:spPr>
          <a:xfrm>
            <a:off x="6217920" y="3118104"/>
            <a:ext cx="2377440" cy="420624"/>
          </a:xfrm>
          <a:prstGeom prst="roundRect">
            <a:avLst>
              <a:gd name="adj" fmla="val 17391"/>
            </a:avLst>
          </a:prstGeom>
          <a:solidFill>
            <a:srgbClr val="F2ECE1"/>
          </a:solidFill>
          <a:ln w="15875">
            <a:solidFill>
              <a:srgbClr val="2F6D62"/>
            </a:solidFill>
            <a:prstDash val="solid"/>
          </a:ln>
        </p:spPr>
      </p:sp>
      <p:sp>
        <p:nvSpPr>
          <p:cNvPr id="19" name="Text 17"/>
          <p:cNvSpPr txBox="1"/>
          <p:nvPr/>
        </p:nvSpPr>
        <p:spPr>
          <a:xfrm>
            <a:off x="6281928" y="3258007"/>
            <a:ext cx="224942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Print the dictionary of balances</a:t>
            </a:r>
            <a:endParaRPr lang="en-US" sz="800" dirty="0"/>
          </a:p>
        </p:txBody>
      </p:sp>
      <p:sp>
        <p:nvSpPr>
          <p:cNvPr id="20" name="Shape 18"/>
          <p:cNvSpPr/>
          <p:nvPr/>
        </p:nvSpPr>
        <p:spPr>
          <a:xfrm>
            <a:off x="6217920" y="3703320"/>
            <a:ext cx="2377440" cy="420624"/>
          </a:xfrm>
          <a:prstGeom prst="roundRect">
            <a:avLst>
              <a:gd name="adj" fmla="val 17391"/>
            </a:avLst>
          </a:prstGeom>
          <a:solidFill>
            <a:srgbClr val="F2ECE1"/>
          </a:solidFill>
          <a:ln w="15875">
            <a:solidFill>
              <a:srgbClr val="2F6D62"/>
            </a:solidFill>
            <a:prstDash val="solid"/>
          </a:ln>
        </p:spPr>
      </p:sp>
      <p:sp>
        <p:nvSpPr>
          <p:cNvPr id="21" name="Text 19"/>
          <p:cNvSpPr txBox="1"/>
          <p:nvPr/>
        </p:nvSpPr>
        <p:spPr>
          <a:xfrm>
            <a:off x="6281928" y="3843223"/>
            <a:ext cx="224942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Add up the total of the balances</a:t>
            </a:r>
            <a:endParaRPr lang="en-US" sz="800" dirty="0"/>
          </a:p>
        </p:txBody>
      </p:sp>
      <p:sp>
        <p:nvSpPr>
          <p:cNvPr id="22" name="Shape 20"/>
          <p:cNvSpPr/>
          <p:nvPr/>
        </p:nvSpPr>
        <p:spPr>
          <a:xfrm>
            <a:off x="4572000" y="1481328"/>
            <a:ext cx="182880" cy="182880"/>
          </a:xfrm>
          <a:prstGeom prst="ellipse">
            <a:avLst/>
          </a:prstGeom>
          <a:solidFill>
            <a:srgbClr val="2B2622"/>
          </a:solidFill>
          <a:ln w="15875">
            <a:solidFill>
              <a:srgbClr val="2B2622"/>
            </a:solidFill>
            <a:prstDash val="solid"/>
          </a:ln>
        </p:spPr>
      </p:sp>
      <p:sp>
        <p:nvSpPr>
          <p:cNvPr id="23" name="Shape 21"/>
          <p:cNvSpPr/>
          <p:nvPr/>
        </p:nvSpPr>
        <p:spPr>
          <a:xfrm>
            <a:off x="4535424" y="3785616"/>
            <a:ext cx="256032" cy="256032"/>
          </a:xfrm>
          <a:prstGeom prst="ellipse">
            <a:avLst/>
          </a:prstGeom>
          <a:solidFill>
            <a:srgbClr val="FFFFFF"/>
          </a:solidFill>
          <a:ln w="25400">
            <a:solidFill>
              <a:srgbClr val="2B2622"/>
            </a:solidFill>
            <a:prstDash val="solid"/>
          </a:ln>
        </p:spPr>
      </p:sp>
      <p:sp>
        <p:nvSpPr>
          <p:cNvPr id="24" name="Shape 22"/>
          <p:cNvSpPr/>
          <p:nvPr/>
        </p:nvSpPr>
        <p:spPr>
          <a:xfrm>
            <a:off x="4590288" y="3840480"/>
            <a:ext cx="146304" cy="146304"/>
          </a:xfrm>
          <a:prstGeom prst="ellipse">
            <a:avLst/>
          </a:prstGeom>
          <a:solidFill>
            <a:srgbClr val="2B2622"/>
          </a:solidFill>
          <a:ln w="15875">
            <a:solidFill>
              <a:srgbClr val="2B2622"/>
            </a:solidFill>
            <a:prstDash val="solid"/>
          </a:ln>
        </p:spPr>
      </p:sp>
      <p:sp>
        <p:nvSpPr>
          <p:cNvPr id="25" name="Shape 23"/>
          <p:cNvSpPr/>
          <p:nvPr/>
        </p:nvSpPr>
        <p:spPr>
          <a:xfrm flipH="1">
            <a:off x="3108960" y="1572768"/>
            <a:ext cx="1463040" cy="0"/>
          </a:xfrm>
          <a:prstGeom prst="line">
            <a:avLst/>
          </a:prstGeom>
          <a:noFill/>
          <a:ln w="15875">
            <a:solidFill>
              <a:srgbClr val="6E655C"/>
            </a:solidFill>
            <a:prstDash val="solid"/>
            <a:tailEnd type="triangle"/>
          </a:ln>
        </p:spPr>
      </p:sp>
      <p:sp>
        <p:nvSpPr>
          <p:cNvPr id="26" name="Shape 24"/>
          <p:cNvSpPr/>
          <p:nvPr/>
        </p:nvSpPr>
        <p:spPr>
          <a:xfrm>
            <a:off x="1783080" y="1783080"/>
            <a:ext cx="0" cy="164592"/>
          </a:xfrm>
          <a:prstGeom prst="line">
            <a:avLst/>
          </a:prstGeom>
          <a:noFill/>
          <a:ln w="15875">
            <a:solidFill>
              <a:srgbClr val="6E655C"/>
            </a:solidFill>
            <a:prstDash val="solid"/>
            <a:tailEnd type="triangle"/>
          </a:ln>
        </p:spPr>
      </p:sp>
      <p:sp>
        <p:nvSpPr>
          <p:cNvPr id="27" name="Shape 25"/>
          <p:cNvSpPr/>
          <p:nvPr/>
        </p:nvSpPr>
        <p:spPr>
          <a:xfrm>
            <a:off x="1783080" y="2368296"/>
            <a:ext cx="0" cy="118872"/>
          </a:xfrm>
          <a:prstGeom prst="line">
            <a:avLst/>
          </a:prstGeom>
          <a:noFill/>
          <a:ln w="15875">
            <a:solidFill>
              <a:srgbClr val="6E655C"/>
            </a:solidFill>
            <a:prstDash val="solid"/>
            <a:tailEnd type="triangle"/>
          </a:ln>
        </p:spPr>
      </p:sp>
      <p:sp>
        <p:nvSpPr>
          <p:cNvPr id="28" name="Shape 26"/>
          <p:cNvSpPr/>
          <p:nvPr/>
        </p:nvSpPr>
        <p:spPr>
          <a:xfrm>
            <a:off x="3108960" y="2743200"/>
            <a:ext cx="365760" cy="0"/>
          </a:xfrm>
          <a:prstGeom prst="line">
            <a:avLst/>
          </a:prstGeom>
          <a:noFill/>
          <a:ln w="15875">
            <a:solidFill>
              <a:srgbClr val="6E655C"/>
            </a:solidFill>
            <a:prstDash val="solid"/>
            <a:tailEnd type="triangle"/>
          </a:ln>
        </p:spPr>
      </p:sp>
      <p:sp>
        <p:nvSpPr>
          <p:cNvPr id="29" name="Text 27"/>
          <p:cNvSpPr txBox="1"/>
          <p:nvPr/>
        </p:nvSpPr>
        <p:spPr>
          <a:xfrm>
            <a:off x="3154680" y="256032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0" name="Shape 28"/>
          <p:cNvSpPr/>
          <p:nvPr/>
        </p:nvSpPr>
        <p:spPr>
          <a:xfrm>
            <a:off x="1783080" y="2999232"/>
            <a:ext cx="0" cy="118872"/>
          </a:xfrm>
          <a:prstGeom prst="line">
            <a:avLst/>
          </a:prstGeom>
          <a:noFill/>
          <a:ln w="15875">
            <a:solidFill>
              <a:srgbClr val="6E655C"/>
            </a:solidFill>
            <a:prstDash val="solid"/>
            <a:tailEnd type="triangle"/>
          </a:ln>
        </p:spPr>
      </p:sp>
      <p:sp>
        <p:nvSpPr>
          <p:cNvPr id="31" name="Text 29"/>
          <p:cNvSpPr txBox="1"/>
          <p:nvPr/>
        </p:nvSpPr>
        <p:spPr>
          <a:xfrm>
            <a:off x="1837944" y="2976372"/>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2" name="Shape 30"/>
          <p:cNvSpPr/>
          <p:nvPr/>
        </p:nvSpPr>
        <p:spPr>
          <a:xfrm>
            <a:off x="4663440" y="2953512"/>
            <a:ext cx="0" cy="118872"/>
          </a:xfrm>
          <a:prstGeom prst="line">
            <a:avLst/>
          </a:prstGeom>
          <a:noFill/>
          <a:ln w="15875">
            <a:solidFill>
              <a:srgbClr val="6E655C"/>
            </a:solidFill>
            <a:prstDash val="solid"/>
            <a:tailEnd type="triangle"/>
          </a:ln>
        </p:spPr>
      </p:sp>
      <p:sp>
        <p:nvSpPr>
          <p:cNvPr id="33" name="Shape 31"/>
          <p:cNvSpPr/>
          <p:nvPr/>
        </p:nvSpPr>
        <p:spPr>
          <a:xfrm>
            <a:off x="3108960" y="3328416"/>
            <a:ext cx="365760" cy="0"/>
          </a:xfrm>
          <a:prstGeom prst="line">
            <a:avLst/>
          </a:prstGeom>
          <a:noFill/>
          <a:ln w="15875">
            <a:solidFill>
              <a:srgbClr val="6E655C"/>
            </a:solidFill>
            <a:prstDash val="solid"/>
            <a:tailEnd type="triangle"/>
          </a:ln>
        </p:spPr>
      </p:sp>
      <p:sp>
        <p:nvSpPr>
          <p:cNvPr id="34" name="Shape 32"/>
          <p:cNvSpPr/>
          <p:nvPr/>
        </p:nvSpPr>
        <p:spPr>
          <a:xfrm>
            <a:off x="5852160" y="3328416"/>
            <a:ext cx="201168" cy="0"/>
          </a:xfrm>
          <a:prstGeom prst="line">
            <a:avLst/>
          </a:prstGeom>
          <a:noFill/>
          <a:ln w="15875">
            <a:solidFill>
              <a:srgbClr val="6E655C"/>
            </a:solidFill>
            <a:prstDash val="solid"/>
          </a:ln>
        </p:spPr>
      </p:sp>
      <p:sp>
        <p:nvSpPr>
          <p:cNvPr id="35" name="Shape 33"/>
          <p:cNvSpPr/>
          <p:nvPr/>
        </p:nvSpPr>
        <p:spPr>
          <a:xfrm flipV="1">
            <a:off x="6053328" y="2157984"/>
            <a:ext cx="0" cy="1170432"/>
          </a:xfrm>
          <a:prstGeom prst="line">
            <a:avLst/>
          </a:prstGeom>
          <a:noFill/>
          <a:ln w="15875">
            <a:solidFill>
              <a:srgbClr val="6E655C"/>
            </a:solidFill>
            <a:prstDash val="solid"/>
          </a:ln>
        </p:spPr>
      </p:sp>
      <p:sp>
        <p:nvSpPr>
          <p:cNvPr id="36" name="Shape 34"/>
          <p:cNvSpPr/>
          <p:nvPr/>
        </p:nvSpPr>
        <p:spPr>
          <a:xfrm flipH="1">
            <a:off x="3108960" y="2157984"/>
            <a:ext cx="2944368" cy="0"/>
          </a:xfrm>
          <a:prstGeom prst="line">
            <a:avLst/>
          </a:prstGeom>
          <a:noFill/>
          <a:ln w="15875">
            <a:solidFill>
              <a:srgbClr val="6E655C"/>
            </a:solidFill>
            <a:prstDash val="solid"/>
            <a:tailEnd type="triangle"/>
          </a:ln>
        </p:spPr>
      </p:sp>
      <p:sp>
        <p:nvSpPr>
          <p:cNvPr id="37" name="Text 35"/>
          <p:cNvSpPr txBox="1"/>
          <p:nvPr/>
        </p:nvSpPr>
        <p:spPr>
          <a:xfrm>
            <a:off x="5888736" y="3355848"/>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8" name="Shape 36"/>
          <p:cNvSpPr/>
          <p:nvPr/>
        </p:nvSpPr>
        <p:spPr>
          <a:xfrm>
            <a:off x="5852160" y="3328416"/>
            <a:ext cx="365760" cy="0"/>
          </a:xfrm>
          <a:prstGeom prst="line">
            <a:avLst/>
          </a:prstGeom>
          <a:noFill/>
          <a:ln w="15875">
            <a:solidFill>
              <a:srgbClr val="6E655C"/>
            </a:solidFill>
            <a:prstDash val="solid"/>
            <a:tailEnd type="triangle"/>
          </a:ln>
        </p:spPr>
      </p:sp>
      <p:sp>
        <p:nvSpPr>
          <p:cNvPr id="39" name="Text 37"/>
          <p:cNvSpPr txBox="1"/>
          <p:nvPr/>
        </p:nvSpPr>
        <p:spPr>
          <a:xfrm>
            <a:off x="5897880" y="3145536"/>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40" name="Shape 38"/>
          <p:cNvSpPr/>
          <p:nvPr/>
        </p:nvSpPr>
        <p:spPr>
          <a:xfrm>
            <a:off x="7406640" y="3538728"/>
            <a:ext cx="0" cy="164592"/>
          </a:xfrm>
          <a:prstGeom prst="line">
            <a:avLst/>
          </a:prstGeom>
          <a:noFill/>
          <a:ln w="15875">
            <a:solidFill>
              <a:srgbClr val="6E655C"/>
            </a:solidFill>
            <a:prstDash val="solid"/>
            <a:tailEnd type="triangle"/>
          </a:ln>
        </p:spPr>
      </p:sp>
      <p:sp>
        <p:nvSpPr>
          <p:cNvPr id="41" name="Shape 39"/>
          <p:cNvSpPr/>
          <p:nvPr/>
        </p:nvSpPr>
        <p:spPr>
          <a:xfrm flipH="1">
            <a:off x="4791456" y="3913632"/>
            <a:ext cx="1426464" cy="0"/>
          </a:xfrm>
          <a:prstGeom prst="line">
            <a:avLst/>
          </a:prstGeom>
          <a:noFill/>
          <a:ln w="15875">
            <a:solidFill>
              <a:srgbClr val="6E655C"/>
            </a:solidFill>
            <a:prstDash val="solid"/>
            <a:tailEnd type="triangle"/>
          </a:ln>
        </p:spPr>
      </p:sp>
      <p:sp>
        <p:nvSpPr>
          <p:cNvPr id="42" name="Text 40"/>
          <p:cNvSpPr txBox="1"/>
          <p:nvPr/>
        </p:nvSpPr>
        <p:spPr>
          <a:xfrm>
            <a:off x="457200" y="423367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ProjectElevenAudit - Workflow pattern, 33 of 33 words grounded in the chapter's text</a:t>
            </a:r>
            <a:endParaRPr lang="en-US" sz="850" dirty="0"/>
          </a:p>
        </p:txBody>
      </p:sp>
      <p:sp>
        <p:nvSpPr>
          <p:cNvPr id="43" name="Shape 41"/>
          <p:cNvSpPr/>
          <p:nvPr/>
        </p:nvSpPr>
        <p:spPr>
          <a:xfrm>
            <a:off x="6309360" y="1325880"/>
            <a:ext cx="2377440" cy="1737360"/>
          </a:xfrm>
          <a:prstGeom prst="roundRect">
            <a:avLst>
              <a:gd name="adj" fmla="val 5263"/>
            </a:avLst>
          </a:prstGeom>
          <a:solidFill>
            <a:srgbClr val="F2ECE1"/>
          </a:solidFill>
          <a:ln w="12700">
            <a:solidFill>
              <a:srgbClr val="F2ECE1"/>
            </a:solidFill>
            <a:prstDash val="solid"/>
          </a:ln>
        </p:spPr>
      </p:sp>
      <p:sp>
        <p:nvSpPr>
          <p:cNvPr id="44" name="Text 42"/>
          <p:cNvSpPr txBox="1"/>
          <p:nvPr/>
        </p:nvSpPr>
        <p:spPr>
          <a:xfrm>
            <a:off x="6492240" y="1444752"/>
            <a:ext cx="201168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Blank row stops it</a:t>
            </a:r>
            <a:endParaRPr lang="en-US" sz="1600" dirty="0"/>
          </a:p>
        </p:txBody>
      </p:sp>
      <p:sp>
        <p:nvSpPr>
          <p:cNvPr id="45" name="Text 43"/>
          <p:cNvSpPr txBox="1"/>
          <p:nvPr/>
        </p:nvSpPr>
        <p:spPr>
          <a:xfrm>
            <a:off x="6492240" y="1828800"/>
            <a:ext cx="2011680" cy="109728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getRows returns every row of the grid, so a trailing empty row makes int('') raise ValueError. The chapter's audit assumes the grid is exactly as long as the data.</a:t>
            </a:r>
            <a:endParaRPr lang="en-US" sz="950" dirty="0"/>
          </a:p>
        </p:txBody>
      </p:sp>
      <p:sp>
        <p:nvSpPr>
          <p:cNvPr id="46" name="Shape 44"/>
          <p:cNvSpPr/>
          <p:nvPr/>
        </p:nvSpPr>
        <p:spPr>
          <a:xfrm>
            <a:off x="457200" y="4636008"/>
            <a:ext cx="91440" cy="310896"/>
          </a:xfrm>
          <a:prstGeom prst="rect">
            <a:avLst/>
          </a:prstGeom>
          <a:solidFill>
            <a:srgbClr val="D97A14"/>
          </a:solidFill>
          <a:ln w="12700">
            <a:solidFill>
              <a:srgbClr val="D97A14"/>
            </a:solidFill>
            <a:prstDash val="solid"/>
          </a:ln>
        </p:spPr>
      </p:sp>
      <p:sp>
        <p:nvSpPr>
          <p:cNvPr id="47" name="Text 4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Loop over every row, mint for PRE-MINE, move for the rest, and add up.</a:t>
            </a:r>
            <a:endParaRPr lang="en-US" sz="1350" dirty="0"/>
          </a:p>
        </p:txBody>
      </p:sp>
      <p:sp>
        <p:nvSpPr>
          <p:cNvPr id="48" name="Text 4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Step 1 run on the real ledger's export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audit's balances, computed from the CSV export of the public Boringcoin sheet</a:t>
            </a:r>
            <a:endParaRPr lang="en-US" sz="1300" dirty="0"/>
          </a:p>
        </p:txBody>
      </p:sp>
      <p:sp>
        <p:nvSpPr>
          <p:cNvPr id="6" name="Text 4"/>
          <p:cNvSpPr txBox="1"/>
          <p:nvPr/>
        </p:nvSpPr>
        <p:spPr>
          <a:xfrm>
            <a:off x="457200" y="1143000"/>
            <a:ext cx="40233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project11AuditThree_v1_0_0.py, lines 77 to 96 of 97</a:t>
            </a:r>
            <a:endParaRPr lang="en-US" sz="1000" dirty="0"/>
          </a:p>
        </p:txBody>
      </p:sp>
      <p:sp>
        <p:nvSpPr>
          <p:cNvPr id="7" name="Shape 5"/>
          <p:cNvSpPr/>
          <p:nvPr/>
        </p:nvSpPr>
        <p:spPr>
          <a:xfrm>
            <a:off x="457200" y="1417320"/>
            <a:ext cx="4023360" cy="2807208"/>
          </a:xfrm>
          <a:prstGeom prst="roundRect">
            <a:avLst>
              <a:gd name="adj" fmla="val 3257"/>
            </a:avLst>
          </a:prstGeom>
          <a:solidFill>
            <a:srgbClr val="23272E"/>
          </a:solidFill>
          <a:ln w="12700">
            <a:solidFill>
              <a:srgbClr val="23272E"/>
            </a:solidFill>
            <a:prstDash val="solid"/>
          </a:ln>
        </p:spPr>
      </p:sp>
      <p:sp>
        <p:nvSpPr>
          <p:cNvPr id="8" name="Text 6"/>
          <p:cNvSpPr txBox="1"/>
          <p:nvPr/>
        </p:nvSpPr>
        <p:spPr>
          <a:xfrm>
            <a:off x="640080" y="1536192"/>
            <a:ext cx="3657600" cy="2569464"/>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row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ss.sheets[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].getRows():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sender, recipient, amount = row[</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row[</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int(row[</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sender == </a:t>
            </a:r>
            <a:r>
              <a:rPr lang="en-US" sz="700" dirty="0">
                <a:solidFill>
                  <a:srgbClr val="9ECBFF"/>
                </a:solidFill>
                <a:latin typeface="Courier New" pitchFamily="34" charset="0"/>
                <a:ea typeface="Courier New" pitchFamily="34" charset="-122"/>
                <a:cs typeface="Courier New" pitchFamily="34" charset="-120"/>
              </a:rPr>
              <a:t>'PRE-MINE'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The 'PRE-MINE' sender invents money out of thin air.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accounts.setdefault(recipient,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accounts[recipient] += amount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else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Move funds from the sender to the recipient.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accounts.setdefault(sender,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accounts.setdefault(recipient,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accounts[sender] -= amount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accounts[recipient] += amount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print(len(accounts), </a:t>
            </a:r>
            <a:r>
              <a:rPr lang="en-US" sz="700" dirty="0">
                <a:solidFill>
                  <a:srgbClr val="9ECBFF"/>
                </a:solidFill>
                <a:latin typeface="Courier New" pitchFamily="34" charset="0"/>
                <a:ea typeface="Courier New" pitchFamily="34" charset="-122"/>
                <a:cs typeface="Courier New" pitchFamily="34" charset="-120"/>
              </a:rPr>
              <a:t>'accounts; the first three:'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name, amount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list(accounts.items())[:</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 name, amount)</a:t>
            </a:r>
            <a:endParaRPr lang="en-US" sz="700" dirty="0"/>
          </a:p>
          <a:p>
            <a:pPr indent="0" marL="0">
              <a:buNone/>
            </a:pP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total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amount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accounts.values():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total += amount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'Total Boringcoins:'</a:t>
            </a:r>
            <a:r>
              <a:rPr lang="en-US" sz="700" dirty="0">
                <a:solidFill>
                  <a:srgbClr val="E6EDF3"/>
                </a:solidFill>
                <a:latin typeface="Courier New" pitchFamily="34" charset="0"/>
                <a:ea typeface="Courier New" pitchFamily="34" charset="-122"/>
                <a:cs typeface="Courier New" pitchFamily="34" charset="-120"/>
              </a:rPr>
              <a:t>, total)</a:t>
            </a:r>
            <a:endParaRPr lang="en-US" sz="700" dirty="0"/>
          </a:p>
        </p:txBody>
      </p:sp>
      <p:sp>
        <p:nvSpPr>
          <p:cNvPr id="9" name="Text 7"/>
          <p:cNvSpPr txBox="1"/>
          <p:nvPr/>
        </p:nvSpPr>
        <p:spPr>
          <a:xfrm>
            <a:off x="4663440" y="1097280"/>
            <a:ext cx="40233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what the whole run printed</a:t>
            </a:r>
            <a:endParaRPr lang="en-US" sz="1000" dirty="0"/>
          </a:p>
        </p:txBody>
      </p:sp>
      <p:sp>
        <p:nvSpPr>
          <p:cNvPr id="10" name="Shape 8"/>
          <p:cNvSpPr/>
          <p:nvPr/>
        </p:nvSpPr>
        <p:spPr>
          <a:xfrm>
            <a:off x="4663440" y="1371600"/>
            <a:ext cx="4023360" cy="1033272"/>
          </a:xfrm>
          <a:prstGeom prst="roundRect">
            <a:avLst>
              <a:gd name="adj" fmla="val 8850"/>
            </a:avLst>
          </a:prstGeom>
          <a:solidFill>
            <a:srgbClr val="23272E"/>
          </a:solidFill>
          <a:ln w="12700">
            <a:solidFill>
              <a:srgbClr val="23272E"/>
            </a:solidFill>
            <a:prstDash val="solid"/>
          </a:ln>
        </p:spPr>
      </p:sp>
      <p:sp>
        <p:nvSpPr>
          <p:cNvPr id="11" name="Text 9"/>
          <p:cNvSpPr txBox="1"/>
          <p:nvPr/>
        </p:nvSpPr>
        <p:spPr>
          <a:xfrm>
            <a:off x="4846320" y="1490472"/>
            <a:ext cx="3657600" cy="795528"/>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20 accounts; the first three: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Al Sweigart 999058553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Miles Bron 38283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not_a_scammer 48441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Total Boringcoins: 1000000000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1001 rows; 20 accounts; 1 pre-mine rows</a:t>
            </a:r>
            <a:endParaRPr lang="en-US" sz="7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663440" y="2587752"/>
          <a:ext cx="4023360" cy="914400"/>
        </p:xfrm>
        <a:graphic>
          <a:graphicData uri="http://schemas.openxmlformats.org/drawingml/2006/table">
            <a:tbl>
              <a:tblPr/>
              <a:tblGrid>
                <a:gridCol w="2194560"/>
                <a:gridCol w="1828800"/>
              </a:tblGrid>
              <a:tr h="201168">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Account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Balance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Al Sweigart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999,058,553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Miles Bron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38,283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not_a_scammer</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48,441</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some hacker</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44,429</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Tech Bro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53,424</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Claire Debella</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54,443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The other 14 accounts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702,427</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Total, 20 accounts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1,000,000,000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3" name="Text 10"/>
          <p:cNvSpPr txBox="1"/>
          <p:nvPr/>
        </p:nvSpPr>
        <p:spPr>
          <a:xfrm>
            <a:off x="457200" y="4251960"/>
            <a:ext cx="40233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Stand-in for Google, recorded fixture: the CSV export of the public sheet; one line of 400+ characters is cut to three.</a:t>
            </a:r>
            <a:endParaRPr lang="en-US" sz="85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balances add up to the pre-mined billion: that is the audit.</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Project 11, Step 2: add a transaction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arguments, one new row; the size change costs three requests and each cell one</a:t>
            </a:r>
            <a:endParaRPr lang="en-US" sz="1300" dirty="0"/>
          </a:p>
        </p:txBody>
      </p:sp>
      <p:sp>
        <p:nvSpPr>
          <p:cNvPr id="6" name="Shape 4"/>
          <p:cNvSpPr/>
          <p:nvPr/>
        </p:nvSpPr>
        <p:spPr>
          <a:xfrm>
            <a:off x="457200" y="1725473"/>
            <a:ext cx="1920240" cy="457200"/>
          </a:xfrm>
          <a:prstGeom prst="hexagon">
            <a:avLst/>
          </a:prstGeom>
          <a:solidFill>
            <a:srgbClr val="D97A14"/>
          </a:solidFill>
          <a:ln w="15875">
            <a:solidFill>
              <a:srgbClr val="D97A14"/>
            </a:solidFill>
            <a:prstDash val="solid"/>
          </a:ln>
        </p:spPr>
      </p:sp>
      <p:sp>
        <p:nvSpPr>
          <p:cNvPr id="7" name="Text 5"/>
          <p:cNvSpPr txBox="1"/>
          <p:nvPr/>
        </p:nvSpPr>
        <p:spPr>
          <a:xfrm>
            <a:off x="612648" y="1822399"/>
            <a:ext cx="160934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Does the number of command line arguments reach three?</a:t>
            </a:r>
            <a:endParaRPr lang="en-US" sz="800" dirty="0"/>
          </a:p>
        </p:txBody>
      </p:sp>
      <p:sp>
        <p:nvSpPr>
          <p:cNvPr id="8" name="Shape 6"/>
          <p:cNvSpPr/>
          <p:nvPr/>
        </p:nvSpPr>
        <p:spPr>
          <a:xfrm>
            <a:off x="2651760" y="1762049"/>
            <a:ext cx="1463040" cy="384048"/>
          </a:xfrm>
          <a:prstGeom prst="roundRect">
            <a:avLst>
              <a:gd name="adj" fmla="val 19048"/>
            </a:avLst>
          </a:prstGeom>
          <a:solidFill>
            <a:srgbClr val="F2ECE1"/>
          </a:solidFill>
          <a:ln w="15875">
            <a:solidFill>
              <a:srgbClr val="2F6D62"/>
            </a:solidFill>
            <a:prstDash val="solid"/>
          </a:ln>
        </p:spPr>
      </p:sp>
      <p:sp>
        <p:nvSpPr>
          <p:cNvPr id="9" name="Text 7"/>
          <p:cNvSpPr txBox="1"/>
          <p:nvPr/>
        </p:nvSpPr>
        <p:spPr>
          <a:xfrm>
            <a:off x="2715768" y="1822399"/>
            <a:ext cx="133502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Print a line and end the program</a:t>
            </a:r>
            <a:endParaRPr lang="en-US" sz="800" dirty="0"/>
          </a:p>
        </p:txBody>
      </p:sp>
      <p:sp>
        <p:nvSpPr>
          <p:cNvPr id="10" name="Shape 8"/>
          <p:cNvSpPr/>
          <p:nvPr/>
        </p:nvSpPr>
        <p:spPr>
          <a:xfrm>
            <a:off x="457200" y="2211934"/>
            <a:ext cx="1920240" cy="384048"/>
          </a:xfrm>
          <a:prstGeom prst="roundRect">
            <a:avLst>
              <a:gd name="adj" fmla="val 19048"/>
            </a:avLst>
          </a:prstGeom>
          <a:solidFill>
            <a:srgbClr val="F2ECE1"/>
          </a:solidFill>
          <a:ln w="15875">
            <a:solidFill>
              <a:srgbClr val="2F6D62"/>
            </a:solidFill>
            <a:prstDash val="solid"/>
          </a:ln>
        </p:spPr>
      </p:sp>
      <p:sp>
        <p:nvSpPr>
          <p:cNvPr id="11" name="Text 9"/>
          <p:cNvSpPr txBox="1"/>
          <p:nvPr/>
        </p:nvSpPr>
        <p:spPr>
          <a:xfrm>
            <a:off x="521208" y="2272284"/>
            <a:ext cx="179222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Unpack the sender, the recipient and the amount</a:t>
            </a:r>
            <a:endParaRPr lang="en-US" sz="800" dirty="0"/>
          </a:p>
        </p:txBody>
      </p:sp>
      <p:sp>
        <p:nvSpPr>
          <p:cNvPr id="12" name="Shape 10"/>
          <p:cNvSpPr/>
          <p:nvPr/>
        </p:nvSpPr>
        <p:spPr>
          <a:xfrm>
            <a:off x="457200" y="2661818"/>
            <a:ext cx="1920240" cy="384048"/>
          </a:xfrm>
          <a:prstGeom prst="roundRect">
            <a:avLst>
              <a:gd name="adj" fmla="val 19048"/>
            </a:avLst>
          </a:prstGeom>
          <a:solidFill>
            <a:srgbClr val="F2ECE1"/>
          </a:solidFill>
          <a:ln w="15875">
            <a:solidFill>
              <a:srgbClr val="2F6D62"/>
            </a:solidFill>
            <a:prstDash val="solid"/>
          </a:ln>
        </p:spPr>
      </p:sp>
      <p:sp>
        <p:nvSpPr>
          <p:cNvPr id="13" name="Text 11"/>
          <p:cNvSpPr txBox="1"/>
          <p:nvPr/>
        </p:nvSpPr>
        <p:spPr>
          <a:xfrm>
            <a:off x="521208" y="2721254"/>
            <a:ext cx="179222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Open the sheet of the Boringcoin spreadsheet</a:t>
            </a:r>
            <a:endParaRPr lang="en-US" sz="800" dirty="0"/>
          </a:p>
        </p:txBody>
      </p:sp>
      <p:sp>
        <p:nvSpPr>
          <p:cNvPr id="14" name="Shape 12"/>
          <p:cNvSpPr/>
          <p:nvPr/>
        </p:nvSpPr>
        <p:spPr>
          <a:xfrm>
            <a:off x="457200" y="3110789"/>
            <a:ext cx="1920240" cy="384048"/>
          </a:xfrm>
          <a:prstGeom prst="roundRect">
            <a:avLst>
              <a:gd name="adj" fmla="val 19048"/>
            </a:avLst>
          </a:prstGeom>
          <a:solidFill>
            <a:srgbClr val="F2ECE1"/>
          </a:solidFill>
          <a:ln w="15875">
            <a:solidFill>
              <a:srgbClr val="2F6D62"/>
            </a:solidFill>
            <a:prstDash val="solid"/>
          </a:ln>
        </p:spPr>
      </p:sp>
      <p:sp>
        <p:nvSpPr>
          <p:cNvPr id="15" name="Text 13"/>
          <p:cNvSpPr txBox="1"/>
          <p:nvPr/>
        </p:nvSpPr>
        <p:spPr>
          <a:xfrm>
            <a:off x="521208" y="3171139"/>
            <a:ext cx="179222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Add one to rowCount, which costs three requests</a:t>
            </a:r>
            <a:endParaRPr lang="en-US" sz="800" dirty="0"/>
          </a:p>
        </p:txBody>
      </p:sp>
      <p:sp>
        <p:nvSpPr>
          <p:cNvPr id="16" name="Shape 14"/>
          <p:cNvSpPr/>
          <p:nvPr/>
        </p:nvSpPr>
        <p:spPr>
          <a:xfrm>
            <a:off x="457200" y="3560674"/>
            <a:ext cx="1920240" cy="384048"/>
          </a:xfrm>
          <a:prstGeom prst="roundRect">
            <a:avLst>
              <a:gd name="adj" fmla="val 19048"/>
            </a:avLst>
          </a:prstGeom>
          <a:solidFill>
            <a:srgbClr val="F2ECE1"/>
          </a:solidFill>
          <a:ln w="15875">
            <a:solidFill>
              <a:srgbClr val="2F6D62"/>
            </a:solidFill>
            <a:prstDash val="solid"/>
          </a:ln>
        </p:spPr>
      </p:sp>
      <p:sp>
        <p:nvSpPr>
          <p:cNvPr id="17" name="Text 15"/>
          <p:cNvSpPr txBox="1"/>
          <p:nvPr/>
        </p:nvSpPr>
        <p:spPr>
          <a:xfrm>
            <a:off x="521208" y="3621024"/>
            <a:ext cx="179222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Write the three values into the new row</a:t>
            </a:r>
            <a:endParaRPr lang="en-US" sz="800" dirty="0"/>
          </a:p>
        </p:txBody>
      </p:sp>
      <p:sp>
        <p:nvSpPr>
          <p:cNvPr id="18" name="Shape 16"/>
          <p:cNvSpPr/>
          <p:nvPr/>
        </p:nvSpPr>
        <p:spPr>
          <a:xfrm>
            <a:off x="1325880" y="1413662"/>
            <a:ext cx="182880" cy="182880"/>
          </a:xfrm>
          <a:prstGeom prst="ellipse">
            <a:avLst/>
          </a:prstGeom>
          <a:solidFill>
            <a:srgbClr val="2B2622"/>
          </a:solidFill>
          <a:ln w="15875">
            <a:solidFill>
              <a:srgbClr val="2B2622"/>
            </a:solidFill>
            <a:prstDash val="solid"/>
          </a:ln>
        </p:spPr>
      </p:sp>
      <p:sp>
        <p:nvSpPr>
          <p:cNvPr id="19" name="Shape 17"/>
          <p:cNvSpPr/>
          <p:nvPr/>
        </p:nvSpPr>
        <p:spPr>
          <a:xfrm>
            <a:off x="3255264" y="3624682"/>
            <a:ext cx="256032" cy="256032"/>
          </a:xfrm>
          <a:prstGeom prst="ellipse">
            <a:avLst/>
          </a:prstGeom>
          <a:solidFill>
            <a:srgbClr val="FFFFFF"/>
          </a:solidFill>
          <a:ln w="25400">
            <a:solidFill>
              <a:srgbClr val="2B2622"/>
            </a:solidFill>
            <a:prstDash val="solid"/>
          </a:ln>
        </p:spPr>
      </p:sp>
      <p:sp>
        <p:nvSpPr>
          <p:cNvPr id="20" name="Shape 18"/>
          <p:cNvSpPr/>
          <p:nvPr/>
        </p:nvSpPr>
        <p:spPr>
          <a:xfrm>
            <a:off x="3310128" y="3679546"/>
            <a:ext cx="146304" cy="146304"/>
          </a:xfrm>
          <a:prstGeom prst="ellipse">
            <a:avLst/>
          </a:prstGeom>
          <a:solidFill>
            <a:srgbClr val="2B2622"/>
          </a:solidFill>
          <a:ln w="15875">
            <a:solidFill>
              <a:srgbClr val="2B2622"/>
            </a:solidFill>
            <a:prstDash val="solid"/>
          </a:ln>
        </p:spPr>
      </p:sp>
      <p:sp>
        <p:nvSpPr>
          <p:cNvPr id="21" name="Shape 19"/>
          <p:cNvSpPr/>
          <p:nvPr/>
        </p:nvSpPr>
        <p:spPr>
          <a:xfrm>
            <a:off x="1417320" y="1596542"/>
            <a:ext cx="0" cy="128930"/>
          </a:xfrm>
          <a:prstGeom prst="line">
            <a:avLst/>
          </a:prstGeom>
          <a:noFill/>
          <a:ln w="15875">
            <a:solidFill>
              <a:srgbClr val="6E655C"/>
            </a:solidFill>
            <a:prstDash val="solid"/>
            <a:tailEnd type="triangle"/>
          </a:ln>
        </p:spPr>
      </p:sp>
      <p:sp>
        <p:nvSpPr>
          <p:cNvPr id="22" name="Shape 20"/>
          <p:cNvSpPr/>
          <p:nvPr/>
        </p:nvSpPr>
        <p:spPr>
          <a:xfrm>
            <a:off x="2377440" y="1954987"/>
            <a:ext cx="274320" cy="0"/>
          </a:xfrm>
          <a:prstGeom prst="line">
            <a:avLst/>
          </a:prstGeom>
          <a:noFill/>
          <a:ln w="15875">
            <a:solidFill>
              <a:srgbClr val="6E655C"/>
            </a:solidFill>
            <a:prstDash val="solid"/>
            <a:tailEnd type="triangle"/>
          </a:ln>
        </p:spPr>
      </p:sp>
      <p:sp>
        <p:nvSpPr>
          <p:cNvPr id="23" name="Text 21"/>
          <p:cNvSpPr txBox="1"/>
          <p:nvPr/>
        </p:nvSpPr>
        <p:spPr>
          <a:xfrm>
            <a:off x="2423160" y="1772107"/>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24" name="Shape 22"/>
          <p:cNvSpPr/>
          <p:nvPr/>
        </p:nvSpPr>
        <p:spPr>
          <a:xfrm>
            <a:off x="3383280" y="2147011"/>
            <a:ext cx="0" cy="1477670"/>
          </a:xfrm>
          <a:prstGeom prst="line">
            <a:avLst/>
          </a:prstGeom>
          <a:noFill/>
          <a:ln w="15875">
            <a:solidFill>
              <a:srgbClr val="6E655C"/>
            </a:solidFill>
            <a:prstDash val="solid"/>
            <a:tailEnd type="triangle"/>
          </a:ln>
        </p:spPr>
      </p:sp>
      <p:sp>
        <p:nvSpPr>
          <p:cNvPr id="25" name="Shape 23"/>
          <p:cNvSpPr/>
          <p:nvPr/>
        </p:nvSpPr>
        <p:spPr>
          <a:xfrm>
            <a:off x="1417320" y="2183587"/>
            <a:ext cx="0" cy="28346"/>
          </a:xfrm>
          <a:prstGeom prst="line">
            <a:avLst/>
          </a:prstGeom>
          <a:noFill/>
          <a:ln w="15875">
            <a:solidFill>
              <a:srgbClr val="6E655C"/>
            </a:solidFill>
            <a:prstDash val="solid"/>
            <a:tailEnd type="triangle"/>
          </a:ln>
        </p:spPr>
      </p:sp>
      <p:sp>
        <p:nvSpPr>
          <p:cNvPr id="26" name="Text 24"/>
          <p:cNvSpPr txBox="1"/>
          <p:nvPr/>
        </p:nvSpPr>
        <p:spPr>
          <a:xfrm>
            <a:off x="1472184" y="2115007"/>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7" name="Shape 25"/>
          <p:cNvSpPr/>
          <p:nvPr/>
        </p:nvSpPr>
        <p:spPr>
          <a:xfrm>
            <a:off x="1417320" y="2595982"/>
            <a:ext cx="0" cy="65837"/>
          </a:xfrm>
          <a:prstGeom prst="line">
            <a:avLst/>
          </a:prstGeom>
          <a:noFill/>
          <a:ln w="15875">
            <a:solidFill>
              <a:srgbClr val="6E655C"/>
            </a:solidFill>
            <a:prstDash val="solid"/>
            <a:tailEnd type="triangle"/>
          </a:ln>
        </p:spPr>
      </p:sp>
      <p:sp>
        <p:nvSpPr>
          <p:cNvPr id="28" name="Shape 26"/>
          <p:cNvSpPr/>
          <p:nvPr/>
        </p:nvSpPr>
        <p:spPr>
          <a:xfrm>
            <a:off x="1417320" y="3045866"/>
            <a:ext cx="0" cy="64922"/>
          </a:xfrm>
          <a:prstGeom prst="line">
            <a:avLst/>
          </a:prstGeom>
          <a:noFill/>
          <a:ln w="15875">
            <a:solidFill>
              <a:srgbClr val="6E655C"/>
            </a:solidFill>
            <a:prstDash val="solid"/>
            <a:tailEnd type="triangle"/>
          </a:ln>
        </p:spPr>
      </p:sp>
      <p:sp>
        <p:nvSpPr>
          <p:cNvPr id="29" name="Shape 27"/>
          <p:cNvSpPr/>
          <p:nvPr/>
        </p:nvSpPr>
        <p:spPr>
          <a:xfrm>
            <a:off x="1417320" y="3494837"/>
            <a:ext cx="0" cy="65837"/>
          </a:xfrm>
          <a:prstGeom prst="line">
            <a:avLst/>
          </a:prstGeom>
          <a:noFill/>
          <a:ln w="15875">
            <a:solidFill>
              <a:srgbClr val="6E655C"/>
            </a:solidFill>
            <a:prstDash val="solid"/>
            <a:tailEnd type="triangle"/>
          </a:ln>
        </p:spPr>
      </p:sp>
      <p:sp>
        <p:nvSpPr>
          <p:cNvPr id="30" name="Shape 28"/>
          <p:cNvSpPr/>
          <p:nvPr/>
        </p:nvSpPr>
        <p:spPr>
          <a:xfrm>
            <a:off x="2377440" y="3752698"/>
            <a:ext cx="877824" cy="0"/>
          </a:xfrm>
          <a:prstGeom prst="line">
            <a:avLst/>
          </a:prstGeom>
          <a:noFill/>
          <a:ln w="15875">
            <a:solidFill>
              <a:srgbClr val="6E655C"/>
            </a:solidFill>
            <a:prstDash val="solid"/>
            <a:tailEnd type="triangle"/>
          </a:ln>
        </p:spPr>
      </p:sp>
      <p:sp>
        <p:nvSpPr>
          <p:cNvPr id="31" name="Text 29"/>
          <p:cNvSpPr txBox="1"/>
          <p:nvPr/>
        </p:nvSpPr>
        <p:spPr>
          <a:xfrm>
            <a:off x="457200" y="4005072"/>
            <a:ext cx="36576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ProjectElevenTransaction - Workflow pattern, 29 of 31 words grounded in the chapter's text</a:t>
            </a:r>
            <a:endParaRPr lang="en-US" sz="850" dirty="0"/>
          </a:p>
        </p:txBody>
      </p:sp>
      <p:sp>
        <p:nvSpPr>
          <p:cNvPr id="32" name="Text 30"/>
          <p:cNvSpPr txBox="1"/>
          <p:nvPr/>
        </p:nvSpPr>
        <p:spPr>
          <a:xfrm>
            <a:off x="4297680" y="1143000"/>
            <a:ext cx="438912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project11TransactionCost_v1_0_0.py, lines 80 to 93 of 93</a:t>
            </a:r>
            <a:endParaRPr lang="en-US" sz="1000" dirty="0"/>
          </a:p>
        </p:txBody>
      </p:sp>
      <p:sp>
        <p:nvSpPr>
          <p:cNvPr id="33" name="Shape 31"/>
          <p:cNvSpPr/>
          <p:nvPr/>
        </p:nvSpPr>
        <p:spPr>
          <a:xfrm>
            <a:off x="4297680" y="1417320"/>
            <a:ext cx="4389120" cy="2304288"/>
          </a:xfrm>
          <a:prstGeom prst="roundRect">
            <a:avLst>
              <a:gd name="adj" fmla="val 3968"/>
            </a:avLst>
          </a:prstGeom>
          <a:solidFill>
            <a:srgbClr val="23272E"/>
          </a:solidFill>
          <a:ln w="12700">
            <a:solidFill>
              <a:srgbClr val="23272E"/>
            </a:solidFill>
            <a:prstDash val="solid"/>
          </a:ln>
        </p:spPr>
      </p:sp>
      <p:sp>
        <p:nvSpPr>
          <p:cNvPr id="34" name="Text 32"/>
          <p:cNvSpPr txBox="1"/>
          <p:nvPr/>
        </p:nvSpPr>
        <p:spPr>
          <a:xfrm>
            <a:off x="4480560" y="1536192"/>
            <a:ext cx="4023360"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sender, recipient, amount = sys.argv[</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ss = ezsheets.Spreadsheet(g.load(</a:t>
            </a:r>
            <a:r>
              <a:rPr lang="en-US" sz="700" dirty="0">
                <a:solidFill>
                  <a:srgbClr val="9ECBFF"/>
                </a:solidFill>
                <a:latin typeface="Courier New" pitchFamily="34" charset="0"/>
                <a:ea typeface="Courier New" pitchFamily="34" charset="-122"/>
                <a:cs typeface="Courier New" pitchFamily="34" charset="-120"/>
              </a:rPr>
              <a:t>'BOR'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'Boringcoin'</a:t>
            </a:r>
            <a:r>
              <a:rPr lang="en-US" sz="700" dirty="0">
                <a:solidFill>
                  <a:srgbClr val="E6EDF3"/>
                </a:solidFill>
                <a:latin typeface="Courier New" pitchFamily="34" charset="0"/>
                <a:ea typeface="Courier New" pitchFamily="34" charset="-122"/>
                <a:cs typeface="Courier New" pitchFamily="34" charset="-120"/>
              </a:rPr>
              <a:t>, BC))</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 = ss.sheets[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endParaRPr lang="en-US" sz="700" dirty="0"/>
          </a:p>
          <a:p>
            <a:pPr indent="0" marL="0">
              <a:buNone/>
            </a:pPr>
            <a:r>
              <a:rPr lang="en-US" sz="700" i="1" dirty="0">
                <a:solidFill>
                  <a:srgbClr val="8FA98F"/>
                </a:solidFill>
                <a:latin typeface="Courier New" pitchFamily="34" charset="0"/>
                <a:ea typeface="Courier New" pitchFamily="34" charset="-122"/>
                <a:cs typeface="Courier New" pitchFamily="34" charset="-120"/>
              </a:rPr>
              <a:t># Add one more row to the sheet for a new transaction: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g.log.clear()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sheet.rowCount += </a:t>
            </a: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sheet.rowCount] = sender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sheet.rowCount] = recipient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sheet.rowCount] = amount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print(sheet.rowCount, sheet.getRow(sheet.rowCount)[:</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print(len(g.log), </a:t>
            </a:r>
            <a:r>
              <a:rPr lang="en-US" sz="700" dirty="0">
                <a:solidFill>
                  <a:srgbClr val="9ECBFF"/>
                </a:solidFill>
                <a:latin typeface="Courier New" pitchFamily="34" charset="0"/>
                <a:ea typeface="Courier New" pitchFamily="34" charset="-122"/>
                <a:cs typeface="Courier New" pitchFamily="34" charset="-120"/>
              </a:rPr>
              <a:t>'requests:'</a:t>
            </a:r>
            <a:r>
              <a:rPr lang="en-US" sz="700" dirty="0">
                <a:solidFill>
                  <a:srgbClr val="E6EDF3"/>
                </a:solidFill>
                <a:latin typeface="Courier New" pitchFamily="34" charset="0"/>
                <a:ea typeface="Courier New" pitchFamily="34" charset="-122"/>
                <a:cs typeface="Courier New" pitchFamily="34" charset="-120"/>
              </a:rPr>
              <a:t>, [m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m, p, q, b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g.log])</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1002 ['Al Sweigart', 'Eve', '2000']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6 requests: ['GET', 'GET', 'POST', 'PUT', 'PUT', 'PUT']</a:t>
            </a:r>
            <a:endParaRPr lang="en-US" sz="700" dirty="0"/>
          </a:p>
        </p:txBody>
      </p:sp>
      <p:sp>
        <p:nvSpPr>
          <p:cNvPr id="35" name="Text 33"/>
          <p:cNvSpPr txBox="1"/>
          <p:nvPr/>
        </p:nvSpPr>
        <p:spPr>
          <a:xfrm>
            <a:off x="4297680" y="3831336"/>
            <a:ext cx="4389120" cy="384048"/>
          </a:xfrm>
          <a:prstGeom prst="rect">
            <a:avLst/>
          </a:prstGeom>
          <a:noFill/>
          <a:ln/>
        </p:spPr>
        <p:txBody>
          <a:bodyPr wrap="square" lIns="0" tIns="0" rIns="0" bIns="0" rtlCol="0" anchor="t"/>
          <a:lstStyle/>
          <a:p>
            <a:pPr algn="l" indent="0" marL="0">
              <a:buNone/>
            </a:pPr>
            <a:r>
              <a:rPr lang="en-US" sz="1050" b="1" dirty="0">
                <a:solidFill>
                  <a:srgbClr val="2B2622"/>
                </a:solidFill>
                <a:latin typeface="Calibri" pitchFamily="34" charset="0"/>
                <a:ea typeface="Calibri" pitchFamily="34" charset="-122"/>
                <a:cs typeface="Calibri" pitchFamily="34" charset="-120"/>
              </a:rPr>
              <a:t>Six requests for one row: rowCount += 1 is two reads and a batchUpdate, then three PUTs, one per cell.</a:t>
            </a:r>
            <a:endParaRPr lang="en-US" sz="1050" dirty="0"/>
          </a:p>
        </p:txBody>
      </p:sp>
      <p:sp>
        <p:nvSpPr>
          <p:cNvPr id="36" name="Text 34"/>
          <p:cNvSpPr txBox="1"/>
          <p:nvPr/>
        </p:nvSpPr>
        <p:spPr>
          <a:xfrm>
            <a:off x="457200" y="4315968"/>
            <a:ext cx="8229600" cy="17373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for Google, recorded fixture: rows from the CSV export of the public sheet; the requests went to a stand-in, not to Google.</a:t>
            </a:r>
            <a:endParaRPr lang="en-US" sz="900" dirty="0"/>
          </a:p>
        </p:txBody>
      </p:sp>
      <p:sp>
        <p:nvSpPr>
          <p:cNvPr id="37"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38"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Appending a row is six requests, and the row number is computed locally.</a:t>
            </a:r>
            <a:endParaRPr lang="en-US" sz="1350" dirty="0"/>
          </a:p>
        </p:txBody>
      </p:sp>
      <p:sp>
        <p:nvSpPr>
          <p:cNvPr id="39"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writers, one row</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computes the new row number from its own copy, so the second write replaces the first</a:t>
            </a:r>
            <a:endParaRPr lang="en-US" sz="1300" dirty="0"/>
          </a:p>
        </p:txBody>
      </p:sp>
      <p:sp>
        <p:nvSpPr>
          <p:cNvPr id="6" name="Text 4"/>
          <p:cNvSpPr txBox="1"/>
          <p:nvPr/>
        </p:nvSpPr>
        <p:spPr>
          <a:xfrm>
            <a:off x="457200" y="1143000"/>
            <a:ext cx="41422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appendRace_v1_0_0.py, lines 73 to 80 of 80</a:t>
            </a:r>
            <a:endParaRPr lang="en-US" sz="1000" dirty="0"/>
          </a:p>
        </p:txBody>
      </p:sp>
      <p:sp>
        <p:nvSpPr>
          <p:cNvPr id="7" name="Shape 5"/>
          <p:cNvSpPr/>
          <p:nvPr/>
        </p:nvSpPr>
        <p:spPr>
          <a:xfrm>
            <a:off x="457200" y="1417320"/>
            <a:ext cx="4142232" cy="1664208"/>
          </a:xfrm>
          <a:prstGeom prst="roundRect">
            <a:avLst>
              <a:gd name="adj" fmla="val 5495"/>
            </a:avLst>
          </a:prstGeom>
          <a:solidFill>
            <a:srgbClr val="23272E"/>
          </a:solidFill>
          <a:ln w="12700">
            <a:solidFill>
              <a:srgbClr val="23272E"/>
            </a:solidFill>
            <a:prstDash val="solid"/>
          </a:ln>
        </p:spPr>
      </p:sp>
      <p:sp>
        <p:nvSpPr>
          <p:cNvPr id="8" name="Text 6"/>
          <p:cNvSpPr txBox="1"/>
          <p:nvPr/>
        </p:nvSpPr>
        <p:spPr>
          <a:xfrm>
            <a:off x="640080" y="1536192"/>
            <a:ext cx="3776472" cy="142646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a = ezsheets.Spreadsheet(g.load(</a:t>
            </a:r>
            <a:r>
              <a:rPr lang="en-US" sz="700" dirty="0">
                <a:solidFill>
                  <a:srgbClr val="9ECBFF"/>
                </a:solidFill>
                <a:latin typeface="Courier New" pitchFamily="34" charset="0"/>
                <a:ea typeface="Courier New" pitchFamily="34" charset="-122"/>
                <a:cs typeface="Courier New" pitchFamily="34" charset="-120"/>
              </a:rPr>
              <a:t>'BOR'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'Boringcoin'</a:t>
            </a:r>
            <a:r>
              <a:rPr lang="en-US" sz="700" dirty="0">
                <a:solidFill>
                  <a:srgbClr val="E6EDF3"/>
                </a:solidFill>
                <a:latin typeface="Courier New" pitchFamily="34" charset="0"/>
                <a:ea typeface="Courier New" pitchFamily="34" charset="-122"/>
                <a:cs typeface="Courier New" pitchFamily="34" charset="-120"/>
              </a:rPr>
              <a:t>, BC)).sheets[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 = ezsheets.Spreadsheet(</a:t>
            </a:r>
            <a:r>
              <a:rPr lang="en-US" sz="700" dirty="0">
                <a:solidFill>
                  <a:srgbClr val="9ECBFF"/>
                </a:solidFill>
                <a:latin typeface="Courier New" pitchFamily="34" charset="0"/>
                <a:ea typeface="Courier New" pitchFamily="34" charset="-122"/>
                <a:cs typeface="Courier New" pitchFamily="34" charset="-120"/>
              </a:rPr>
              <a:t>'BOR'</a:t>
            </a:r>
            <a:r>
              <a:rPr lang="en-US" sz="700" dirty="0">
                <a:solidFill>
                  <a:srgbClr val="E6EDF3"/>
                </a:solidFill>
                <a:latin typeface="Courier New" pitchFamily="34" charset="0"/>
                <a:ea typeface="Courier New" pitchFamily="34" charset="-122"/>
                <a:cs typeface="Courier New" pitchFamily="34" charset="-120"/>
              </a:rPr>
              <a:t>).sheets[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who, sheet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'first'</a:t>
            </a:r>
            <a:r>
              <a:rPr lang="en-US" sz="700" dirty="0">
                <a:solidFill>
                  <a:srgbClr val="E6EDF3"/>
                </a:solidFill>
                <a:latin typeface="Courier New" pitchFamily="34" charset="0"/>
                <a:ea typeface="Courier New" pitchFamily="34" charset="-122"/>
                <a:cs typeface="Courier New" pitchFamily="34" charset="-120"/>
              </a:rPr>
              <a:t>, a), (</a:t>
            </a:r>
            <a:r>
              <a:rPr lang="en-US" sz="700" dirty="0">
                <a:solidFill>
                  <a:srgbClr val="9ECBFF"/>
                </a:solidFill>
                <a:latin typeface="Courier New" pitchFamily="34" charset="0"/>
                <a:ea typeface="Courier New" pitchFamily="34" charset="-122"/>
                <a:cs typeface="Courier New" pitchFamily="34" charset="-120"/>
              </a:rPr>
              <a:t>'second'</a:t>
            </a:r>
            <a:r>
              <a:rPr lang="en-US" sz="700" dirty="0">
                <a:solidFill>
                  <a:srgbClr val="E6EDF3"/>
                </a:solidFill>
                <a:latin typeface="Courier New" pitchFamily="34" charset="0"/>
                <a:ea typeface="Courier New" pitchFamily="34" charset="-122"/>
                <a:cs typeface="Courier New" pitchFamily="34" charset="-120"/>
              </a:rPr>
              <a:t>, 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sheet.rowCount += </a:t>
            </a: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sheet[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sheet.rowCount] = who</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print(who, </a:t>
            </a:r>
            <a:r>
              <a:rPr lang="en-US" sz="700" dirty="0">
                <a:solidFill>
                  <a:srgbClr val="9ECBFF"/>
                </a:solidFill>
                <a:latin typeface="Courier New" pitchFamily="34" charset="0"/>
                <a:ea typeface="Courier New" pitchFamily="34" charset="-122"/>
                <a:cs typeface="Courier New" pitchFamily="34" charset="-120"/>
              </a:rPr>
              <a:t>'writes to row'</a:t>
            </a:r>
            <a:r>
              <a:rPr lang="en-US" sz="700" dirty="0">
                <a:solidFill>
                  <a:srgbClr val="E6EDF3"/>
                </a:solidFill>
                <a:latin typeface="Courier New" pitchFamily="34" charset="0"/>
                <a:ea typeface="Courier New" pitchFamily="34" charset="-122"/>
                <a:cs typeface="Courier New" pitchFamily="34" charset="-120"/>
              </a:rPr>
              <a:t>, sheet.rowCount)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a.refresh()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print(a.rowCount, a.getRow(</a:t>
            </a:r>
            <a:r>
              <a:rPr lang="en-US" sz="700" dirty="0">
                <a:solidFill>
                  <a:srgbClr val="FFD28A"/>
                </a:solidFill>
                <a:latin typeface="Courier New" pitchFamily="34" charset="0"/>
                <a:ea typeface="Courier New" pitchFamily="34" charset="-122"/>
                <a:cs typeface="Courier New" pitchFamily="34" charset="-120"/>
              </a:rPr>
              <a:t>1002</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first writes to row 1002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second writes to row 1002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1002 second</a:t>
            </a:r>
            <a:endParaRPr lang="en-US" sz="700" dirty="0"/>
          </a:p>
        </p:txBody>
      </p:sp>
      <p:sp>
        <p:nvSpPr>
          <p:cNvPr id="9" name="Shape 7"/>
          <p:cNvSpPr/>
          <p:nvPr/>
        </p:nvSpPr>
        <p:spPr>
          <a:xfrm>
            <a:off x="5120640" y="1371600"/>
            <a:ext cx="3566160" cy="1783080"/>
          </a:xfrm>
          <a:prstGeom prst="roundRect">
            <a:avLst>
              <a:gd name="adj" fmla="val 5128"/>
            </a:avLst>
          </a:prstGeom>
          <a:solidFill>
            <a:srgbClr val="F2ECE1"/>
          </a:solidFill>
          <a:ln w="12700">
            <a:solidFill>
              <a:srgbClr val="F2ECE1"/>
            </a:solidFill>
            <a:prstDash val="solid"/>
          </a:ln>
        </p:spPr>
      </p:sp>
      <p:sp>
        <p:nvSpPr>
          <p:cNvPr id="10" name="Text 8"/>
          <p:cNvSpPr txBox="1"/>
          <p:nvPr/>
        </p:nvSpPr>
        <p:spPr>
          <a:xfrm>
            <a:off x="5303520" y="1490472"/>
            <a:ext cx="32004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lost update, with no error</a:t>
            </a:r>
            <a:endParaRPr lang="en-US" sz="1600" dirty="0"/>
          </a:p>
        </p:txBody>
      </p:sp>
      <p:sp>
        <p:nvSpPr>
          <p:cNvPr id="11" name="Text 9"/>
          <p:cNvSpPr txBox="1"/>
          <p:nvPr/>
        </p:nvSpPr>
        <p:spPr>
          <a:xfrm>
            <a:off x="5303520" y="1874520"/>
            <a:ext cx="3200400" cy="114300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Both programs read rowCount 1001 and both write row 1002; the later one overwrites the first. Google's values guide describes an append call; the library does not use it.</a:t>
            </a:r>
            <a:endParaRPr lang="en-US" sz="1050" dirty="0"/>
          </a:p>
        </p:txBody>
      </p:sp>
      <p:sp>
        <p:nvSpPr>
          <p:cNvPr id="12" name="Shape 10"/>
          <p:cNvSpPr/>
          <p:nvPr/>
        </p:nvSpPr>
        <p:spPr>
          <a:xfrm>
            <a:off x="457200" y="3337560"/>
            <a:ext cx="1947672" cy="868680"/>
          </a:xfrm>
          <a:prstGeom prst="roundRect">
            <a:avLst>
              <a:gd name="adj" fmla="val 8421"/>
            </a:avLst>
          </a:prstGeom>
          <a:solidFill>
            <a:srgbClr val="F2ECE1"/>
          </a:solidFill>
          <a:ln w="12700">
            <a:solidFill>
              <a:srgbClr val="DFD6C7"/>
            </a:solidFill>
            <a:prstDash val="solid"/>
          </a:ln>
        </p:spPr>
      </p:sp>
      <p:sp>
        <p:nvSpPr>
          <p:cNvPr id="13" name="Text 11"/>
          <p:cNvSpPr txBox="1"/>
          <p:nvPr/>
        </p:nvSpPr>
        <p:spPr>
          <a:xfrm>
            <a:off x="548640" y="3392424"/>
            <a:ext cx="1764792" cy="758952"/>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Both read 1,001</a:t>
            </a:r>
            <a:endParaRPr lang="en-US" sz="1100" dirty="0"/>
          </a:p>
          <a:p>
            <a:pPr algn="ctr" indent="0" marL="0">
              <a:buNone/>
            </a:pPr>
            <a:r>
              <a:rPr lang="en-US" sz="900" dirty="0">
                <a:solidFill>
                  <a:srgbClr val="6E655C"/>
                </a:solidFill>
                <a:latin typeface="Calibri" pitchFamily="34" charset="0"/>
                <a:ea typeface="Calibri" pitchFamily="34" charset="-122"/>
                <a:cs typeface="Calibri" pitchFamily="34" charset="-120"/>
              </a:rPr>
              <a:t>each from its own copy</a:t>
            </a:r>
            <a:endParaRPr lang="en-US" sz="1100" dirty="0"/>
          </a:p>
        </p:txBody>
      </p:sp>
      <p:sp>
        <p:nvSpPr>
          <p:cNvPr id="14" name="Shape 12"/>
          <p:cNvSpPr/>
          <p:nvPr/>
        </p:nvSpPr>
        <p:spPr>
          <a:xfrm>
            <a:off x="2404872" y="3771900"/>
            <a:ext cx="146304" cy="0"/>
          </a:xfrm>
          <a:prstGeom prst="line">
            <a:avLst/>
          </a:prstGeom>
          <a:noFill/>
          <a:ln w="19050">
            <a:solidFill>
              <a:srgbClr val="D97A14"/>
            </a:solidFill>
            <a:prstDash val="solid"/>
            <a:tailEnd type="triangle"/>
          </a:ln>
        </p:spPr>
      </p:sp>
      <p:sp>
        <p:nvSpPr>
          <p:cNvPr id="15" name="Shape 13"/>
          <p:cNvSpPr/>
          <p:nvPr/>
        </p:nvSpPr>
        <p:spPr>
          <a:xfrm>
            <a:off x="2551176" y="3337560"/>
            <a:ext cx="1947672" cy="868680"/>
          </a:xfrm>
          <a:prstGeom prst="roundRect">
            <a:avLst>
              <a:gd name="adj" fmla="val 8421"/>
            </a:avLst>
          </a:prstGeom>
          <a:solidFill>
            <a:srgbClr val="F2ECE1"/>
          </a:solidFill>
          <a:ln w="12700">
            <a:solidFill>
              <a:srgbClr val="DFD6C7"/>
            </a:solidFill>
            <a:prstDash val="solid"/>
          </a:ln>
        </p:spPr>
      </p:sp>
      <p:sp>
        <p:nvSpPr>
          <p:cNvPr id="16" name="Text 14"/>
          <p:cNvSpPr txBox="1"/>
          <p:nvPr/>
        </p:nvSpPr>
        <p:spPr>
          <a:xfrm>
            <a:off x="2642616" y="3392424"/>
            <a:ext cx="1764792" cy="758952"/>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Both set row 1,002</a:t>
            </a:r>
            <a:endParaRPr lang="en-US" sz="1100" dirty="0"/>
          </a:p>
          <a:p>
            <a:pPr algn="ctr" indent="0" marL="0">
              <a:buNone/>
            </a:pPr>
            <a:r>
              <a:rPr lang="en-US" sz="900" dirty="0">
                <a:solidFill>
                  <a:srgbClr val="6E655C"/>
                </a:solidFill>
                <a:latin typeface="Calibri" pitchFamily="34" charset="0"/>
                <a:ea typeface="Calibri" pitchFamily="34" charset="-122"/>
                <a:cs typeface="Calibri" pitchFamily="34" charset="-120"/>
              </a:rPr>
              <a:t>rowCount += 1</a:t>
            </a:r>
            <a:endParaRPr lang="en-US" sz="1100" dirty="0"/>
          </a:p>
        </p:txBody>
      </p:sp>
      <p:sp>
        <p:nvSpPr>
          <p:cNvPr id="17" name="Shape 15"/>
          <p:cNvSpPr/>
          <p:nvPr/>
        </p:nvSpPr>
        <p:spPr>
          <a:xfrm>
            <a:off x="4498848" y="3771900"/>
            <a:ext cx="146304" cy="0"/>
          </a:xfrm>
          <a:prstGeom prst="line">
            <a:avLst/>
          </a:prstGeom>
          <a:noFill/>
          <a:ln w="19050">
            <a:solidFill>
              <a:srgbClr val="D97A14"/>
            </a:solidFill>
            <a:prstDash val="solid"/>
            <a:tailEnd type="triangle"/>
          </a:ln>
        </p:spPr>
      </p:sp>
      <p:sp>
        <p:nvSpPr>
          <p:cNvPr id="18" name="Shape 16"/>
          <p:cNvSpPr/>
          <p:nvPr/>
        </p:nvSpPr>
        <p:spPr>
          <a:xfrm>
            <a:off x="4645152" y="3337560"/>
            <a:ext cx="1947672" cy="868680"/>
          </a:xfrm>
          <a:prstGeom prst="roundRect">
            <a:avLst>
              <a:gd name="adj" fmla="val 8421"/>
            </a:avLst>
          </a:prstGeom>
          <a:solidFill>
            <a:srgbClr val="F2ECE1"/>
          </a:solidFill>
          <a:ln w="12700">
            <a:solidFill>
              <a:srgbClr val="DFD6C7"/>
            </a:solidFill>
            <a:prstDash val="solid"/>
          </a:ln>
        </p:spPr>
      </p:sp>
      <p:sp>
        <p:nvSpPr>
          <p:cNvPr id="19" name="Text 17"/>
          <p:cNvSpPr txBox="1"/>
          <p:nvPr/>
        </p:nvSpPr>
        <p:spPr>
          <a:xfrm>
            <a:off x="4736592" y="3392424"/>
            <a:ext cx="1764792" cy="758952"/>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'first' is written</a:t>
            </a:r>
            <a:endParaRPr lang="en-US" sz="1100" dirty="0"/>
          </a:p>
          <a:p>
            <a:pPr algn="ctr" indent="0" marL="0">
              <a:buNone/>
            </a:pPr>
            <a:r>
              <a:rPr lang="en-US" sz="900" dirty="0">
                <a:solidFill>
                  <a:srgbClr val="6E655C"/>
                </a:solidFill>
                <a:latin typeface="Calibri" pitchFamily="34" charset="0"/>
                <a:ea typeface="Calibri" pitchFamily="34" charset="-122"/>
                <a:cs typeface="Calibri" pitchFamily="34" charset="-120"/>
              </a:rPr>
              <a:t>to row 1,002</a:t>
            </a:r>
            <a:endParaRPr lang="en-US" sz="1100" dirty="0"/>
          </a:p>
        </p:txBody>
      </p:sp>
      <p:sp>
        <p:nvSpPr>
          <p:cNvPr id="20" name="Shape 18"/>
          <p:cNvSpPr/>
          <p:nvPr/>
        </p:nvSpPr>
        <p:spPr>
          <a:xfrm>
            <a:off x="6592824" y="3771900"/>
            <a:ext cx="146304" cy="0"/>
          </a:xfrm>
          <a:prstGeom prst="line">
            <a:avLst/>
          </a:prstGeom>
          <a:noFill/>
          <a:ln w="19050">
            <a:solidFill>
              <a:srgbClr val="D97A14"/>
            </a:solidFill>
            <a:prstDash val="solid"/>
            <a:tailEnd type="triangle"/>
          </a:ln>
        </p:spPr>
      </p:sp>
      <p:sp>
        <p:nvSpPr>
          <p:cNvPr id="21" name="Shape 19"/>
          <p:cNvSpPr/>
          <p:nvPr/>
        </p:nvSpPr>
        <p:spPr>
          <a:xfrm>
            <a:off x="6739128" y="3337560"/>
            <a:ext cx="1947672" cy="868680"/>
          </a:xfrm>
          <a:prstGeom prst="roundRect">
            <a:avLst>
              <a:gd name="adj" fmla="val 8421"/>
            </a:avLst>
          </a:prstGeom>
          <a:solidFill>
            <a:srgbClr val="D97A14"/>
          </a:solidFill>
          <a:ln w="12700">
            <a:solidFill>
              <a:srgbClr val="D97A14"/>
            </a:solidFill>
            <a:prstDash val="solid"/>
          </a:ln>
        </p:spPr>
      </p:sp>
      <p:sp>
        <p:nvSpPr>
          <p:cNvPr id="22" name="Text 20"/>
          <p:cNvSpPr txBox="1"/>
          <p:nvPr/>
        </p:nvSpPr>
        <p:spPr>
          <a:xfrm>
            <a:off x="6830568" y="3392424"/>
            <a:ext cx="1764792" cy="7589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'second' overwrites it</a:t>
            </a:r>
            <a:endParaRPr lang="en-US" sz="1100" dirty="0"/>
          </a:p>
          <a:p>
            <a:pPr algn="ctr" indent="0" marL="0">
              <a:buNone/>
            </a:pPr>
            <a:r>
              <a:rPr lang="en-US" sz="900" dirty="0">
                <a:solidFill>
                  <a:srgbClr val="FFFFFF"/>
                </a:solidFill>
                <a:latin typeface="Calibri" pitchFamily="34" charset="0"/>
                <a:ea typeface="Calibri" pitchFamily="34" charset="-122"/>
                <a:cs typeface="Calibri" pitchFamily="34" charset="-120"/>
              </a:rPr>
              <a:t>no error is raised</a:t>
            </a:r>
            <a:endParaRPr lang="en-US" sz="1100" dirty="0"/>
          </a:p>
        </p:txBody>
      </p:sp>
      <p:sp>
        <p:nvSpPr>
          <p:cNvPr id="23" name="Text 21"/>
          <p:cNvSpPr txBox="1"/>
          <p:nvPr/>
        </p:nvSpPr>
        <p:spPr>
          <a:xfrm>
            <a:off x="457200" y="4315968"/>
            <a:ext cx="8229600" cy="17373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for Google, recorded fixture: rows from the CSV export of the public sheet; the requests went to a stand-in, not to Google.</a:t>
            </a:r>
            <a:endParaRPr lang="en-US" sz="9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computed row number is a race: guard the append.</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Practice programs: bean counts, converter, forms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 the totals of a 15,001-row sheet; upload and download a file; read the email column</a:t>
            </a:r>
            <a:endParaRPr lang="en-US" sz="1300" dirty="0"/>
          </a:p>
        </p:txBody>
      </p:sp>
      <p:sp>
        <p:nvSpPr>
          <p:cNvPr id="6" name="Text 4"/>
          <p:cNvSpPr txBox="1"/>
          <p:nvPr/>
        </p:nvSpPr>
        <p:spPr>
          <a:xfrm>
            <a:off x="457200" y="1143000"/>
            <a:ext cx="549554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practiceBeanCountCheck_v1_0_0.py, lines 73 to 78 of 78</a:t>
            </a:r>
            <a:endParaRPr lang="en-US" sz="1000" dirty="0"/>
          </a:p>
        </p:txBody>
      </p:sp>
      <p:sp>
        <p:nvSpPr>
          <p:cNvPr id="7" name="Shape 5"/>
          <p:cNvSpPr/>
          <p:nvPr/>
        </p:nvSpPr>
        <p:spPr>
          <a:xfrm>
            <a:off x="457200" y="1417320"/>
            <a:ext cx="5495544" cy="1289304"/>
          </a:xfrm>
          <a:prstGeom prst="roundRect">
            <a:avLst>
              <a:gd name="adj" fmla="val 7092"/>
            </a:avLst>
          </a:prstGeom>
          <a:solidFill>
            <a:srgbClr val="23272E"/>
          </a:solidFill>
          <a:ln w="12700">
            <a:solidFill>
              <a:srgbClr val="23272E"/>
            </a:solidFill>
            <a:prstDash val="solid"/>
          </a:ln>
        </p:spPr>
      </p:sp>
      <p:sp>
        <p:nvSpPr>
          <p:cNvPr id="8" name="Text 6"/>
          <p:cNvSpPr txBox="1"/>
          <p:nvPr/>
        </p:nvSpPr>
        <p:spPr>
          <a:xfrm>
            <a:off x="640080" y="1536192"/>
            <a:ext cx="5129784" cy="105156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ss = ezsheets.Spreadsheet(g.load(</a:t>
            </a:r>
            <a:r>
              <a:rPr lang="en-US" sz="700" dirty="0">
                <a:solidFill>
                  <a:srgbClr val="9ECBFF"/>
                </a:solidFill>
                <a:latin typeface="Courier New" pitchFamily="34" charset="0"/>
                <a:ea typeface="Courier New" pitchFamily="34" charset="-122"/>
                <a:cs typeface="Courier New" pitchFamily="34" charset="-120"/>
              </a:rPr>
              <a:t>'BEAN'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'Bean Count'</a:t>
            </a:r>
            <a:r>
              <a:rPr lang="en-US" sz="700" dirty="0">
                <a:solidFill>
                  <a:srgbClr val="E6EDF3"/>
                </a:solidFill>
                <a:latin typeface="Courier New" pitchFamily="34" charset="0"/>
                <a:ea typeface="Courier New" pitchFamily="34" charset="-122"/>
                <a:cs typeface="Courier New" pitchFamily="34" charset="-120"/>
              </a:rPr>
              <a:t>, BEAN)); sheet = ss.sheets[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g.log.clear()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rows = sheet.getRows()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bad = [n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 r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enumerate(rows[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r[</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and</a:t>
            </a:r>
            <a:r>
              <a:rPr lang="en-US" sz="700" dirty="0">
                <a:solidFill>
                  <a:srgbClr val="E6EDF3"/>
                </a:solidFill>
                <a:latin typeface="Courier New" pitchFamily="34" charset="0"/>
                <a:ea typeface="Courier New" pitchFamily="34" charset="-122"/>
                <a:cs typeface="Courier New" pitchFamily="34" charset="-120"/>
              </a:rPr>
              <a:t> int(r[</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int(r[</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int(r[</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print(len(rows), </a:t>
            </a:r>
            <a:r>
              <a:rPr lang="en-US" sz="700" dirty="0">
                <a:solidFill>
                  <a:srgbClr val="9ECBFF"/>
                </a:solidFill>
                <a:latin typeface="Courier New" pitchFamily="34" charset="0"/>
                <a:ea typeface="Courier New" pitchFamily="34" charset="-122"/>
                <a:cs typeface="Courier New" pitchFamily="34" charset="-120"/>
              </a:rPr>
              <a:t>'rows;'</a:t>
            </a:r>
            <a:r>
              <a:rPr lang="en-US" sz="700" dirty="0">
                <a:solidFill>
                  <a:srgbClr val="E6EDF3"/>
                </a:solidFill>
                <a:latin typeface="Courier New" pitchFamily="34" charset="0"/>
                <a:ea typeface="Courier New" pitchFamily="34" charset="-122"/>
                <a:cs typeface="Courier New" pitchFamily="34" charset="-120"/>
              </a:rPr>
              <a:t>, len(g.log), </a:t>
            </a:r>
            <a:r>
              <a:rPr lang="en-US" sz="700" dirty="0">
                <a:solidFill>
                  <a:srgbClr val="9ECBFF"/>
                </a:solidFill>
                <a:latin typeface="Courier New" pitchFamily="34" charset="0"/>
                <a:ea typeface="Courier New" pitchFamily="34" charset="-122"/>
                <a:cs typeface="Courier New" pitchFamily="34" charset="-120"/>
              </a:rPr>
              <a:t>'requests;'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'wrong totals at rows'</a:t>
            </a:r>
            <a:r>
              <a:rPr lang="en-US" sz="700" dirty="0">
                <a:solidFill>
                  <a:srgbClr val="E6EDF3"/>
                </a:solidFill>
                <a:latin typeface="Courier New" pitchFamily="34" charset="0"/>
                <a:ea typeface="Courier New" pitchFamily="34" charset="-122"/>
                <a:cs typeface="Courier New" pitchFamily="34" charset="-120"/>
              </a:rPr>
              <a:t>, bad)</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bad: print(rows[n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int(rows[n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int(rows[n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15001 rows; 0 requests; wrong totals at rows [14399]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['804', '623', '500891'] 500892</a:t>
            </a:r>
            <a:endParaRPr lang="en-US" sz="700" dirty="0"/>
          </a:p>
        </p:txBody>
      </p:sp>
      <p:sp>
        <p:nvSpPr>
          <p:cNvPr id="9" name="Text 7"/>
          <p:cNvSpPr txBox="1"/>
          <p:nvPr/>
        </p:nvSpPr>
        <p:spPr>
          <a:xfrm>
            <a:off x="457200" y="2706624"/>
            <a:ext cx="678484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practiceFormatConverter_v1_0_0.py, lines 73 to 75 of 75</a:t>
            </a:r>
            <a:endParaRPr lang="en-US" sz="1000" dirty="0"/>
          </a:p>
        </p:txBody>
      </p:sp>
      <p:sp>
        <p:nvSpPr>
          <p:cNvPr id="10" name="Shape 8"/>
          <p:cNvSpPr/>
          <p:nvPr/>
        </p:nvSpPr>
        <p:spPr>
          <a:xfrm>
            <a:off x="457200" y="2980944"/>
            <a:ext cx="6784848" cy="777240"/>
          </a:xfrm>
          <a:prstGeom prst="roundRect">
            <a:avLst>
              <a:gd name="adj" fmla="val 11765"/>
            </a:avLst>
          </a:prstGeom>
          <a:solidFill>
            <a:srgbClr val="23272E"/>
          </a:solidFill>
          <a:ln w="12700">
            <a:solidFill>
              <a:srgbClr val="23272E"/>
            </a:solidFill>
            <a:prstDash val="solid"/>
          </a:ln>
        </p:spPr>
      </p:sp>
      <p:sp>
        <p:nvSpPr>
          <p:cNvPr id="11" name="Text 9"/>
          <p:cNvSpPr txBox="1"/>
          <p:nvPr/>
        </p:nvSpPr>
        <p:spPr>
          <a:xfrm>
            <a:off x="640080" y="3099816"/>
            <a:ext cx="6419088" cy="53949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open(</a:t>
            </a:r>
            <a:r>
              <a:rPr lang="en-US" sz="700" dirty="0">
                <a:solidFill>
                  <a:srgbClr val="9ECBFF"/>
                </a:solidFill>
                <a:latin typeface="Courier New" pitchFamily="34" charset="0"/>
                <a:ea typeface="Courier New" pitchFamily="34" charset="-122"/>
                <a:cs typeface="Courier New" pitchFamily="34" charset="-120"/>
              </a:rPr>
              <a:t>'data.csv'</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a:t>
            </a:r>
            <a:r>
              <a:rPr lang="en-US" sz="700" dirty="0">
                <a:solidFill>
                  <a:srgbClr val="E6EDF3"/>
                </a:solidFill>
                <a:latin typeface="Courier New" pitchFamily="34" charset="0"/>
                <a:ea typeface="Courier New" pitchFamily="34" charset="-122"/>
                <a:cs typeface="Courier New" pitchFamily="34" charset="-120"/>
              </a:rPr>
              <a:t>).write(</a:t>
            </a:r>
            <a:r>
              <a:rPr lang="en-US" sz="700" dirty="0">
                <a:solidFill>
                  <a:srgbClr val="9ECBFF"/>
                </a:solidFill>
                <a:latin typeface="Courier New" pitchFamily="34" charset="0"/>
                <a:ea typeface="Courier New" pitchFamily="34" charset="-122"/>
                <a:cs typeface="Courier New" pitchFamily="34" charset="-120"/>
              </a:rPr>
              <a:t>'a,b\n1,2\n'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ss = ezsheets.upload(</a:t>
            </a:r>
            <a:r>
              <a:rPr lang="en-US" sz="700" dirty="0">
                <a:solidFill>
                  <a:srgbClr val="9ECBFF"/>
                </a:solidFill>
                <a:latin typeface="Courier New" pitchFamily="34" charset="0"/>
                <a:ea typeface="Courier New" pitchFamily="34" charset="-122"/>
                <a:cs typeface="Courier New" pitchFamily="34" charset="-120"/>
              </a:rPr>
              <a:t>'data.csv'</a:t>
            </a:r>
            <a:r>
              <a:rPr lang="en-US" sz="700" dirty="0">
                <a:solidFill>
                  <a:srgbClr val="E6EDF3"/>
                </a:solidFill>
                <a:latin typeface="Courier New" pitchFamily="34" charset="0"/>
                <a:ea typeface="Courier New" pitchFamily="34" charset="-122"/>
                <a:cs typeface="Courier New" pitchFamily="34" charset="-120"/>
              </a:rPr>
              <a:t>); name = ss.downloadAsExcel(</a:t>
            </a:r>
            <a:r>
              <a:rPr lang="en-US" sz="700" dirty="0">
                <a:solidFill>
                  <a:srgbClr val="9ECBFF"/>
                </a:solidFill>
                <a:latin typeface="Courier New" pitchFamily="34" charset="0"/>
                <a:ea typeface="Courier New" pitchFamily="34" charset="-122"/>
                <a:cs typeface="Courier New" pitchFamily="34" charset="-120"/>
              </a:rPr>
              <a:t>'data.xlsx'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print(g.out[</a:t>
            </a:r>
            <a:r>
              <a:rPr lang="en-US" sz="700" dirty="0">
                <a:solidFill>
                  <a:srgbClr val="9ECBFF"/>
                </a:solidFill>
                <a:latin typeface="Courier New" pitchFamily="34" charset="0"/>
                <a:ea typeface="Courier New" pitchFamily="34" charset="-122"/>
                <a:cs typeface="Courier New" pitchFamily="34" charset="-120"/>
              </a:rPr>
              <a:t>'upload'</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g.out[</a:t>
            </a:r>
            <a:r>
              <a:rPr lang="en-US" sz="700" dirty="0">
                <a:solidFill>
                  <a:srgbClr val="9ECBFF"/>
                </a:solidFill>
                <a:latin typeface="Courier New" pitchFamily="34" charset="0"/>
                <a:ea typeface="Courier New" pitchFamily="34" charset="-122"/>
                <a:cs typeface="Courier New" pitchFamily="34" charset="-120"/>
              </a:rPr>
              <a:t>'upload'</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g.out[</a:t>
            </a:r>
            <a:r>
              <a:rPr lang="en-US" sz="700" dirty="0">
                <a:solidFill>
                  <a:srgbClr val="9ECBFF"/>
                </a:solidFill>
                <a:latin typeface="Courier New" pitchFamily="34" charset="0"/>
                <a:ea typeface="Courier New" pitchFamily="34" charset="-122"/>
                <a:cs typeface="Courier New" pitchFamily="34" charset="-120"/>
              </a:rPr>
              <a:t>'export'</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name)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multipart/related [b'data.csv'] application/vnd.openxmlformats-officedocument.spreadsheetml.sheet data.xlsx</a:t>
            </a:r>
            <a:endParaRPr lang="en-US" sz="700" dirty="0"/>
          </a:p>
        </p:txBody>
      </p:sp>
      <p:sp>
        <p:nvSpPr>
          <p:cNvPr id="12" name="Text 10"/>
          <p:cNvSpPr txBox="1"/>
          <p:nvPr/>
        </p:nvSpPr>
        <p:spPr>
          <a:xfrm>
            <a:off x="457200" y="3758184"/>
            <a:ext cx="365760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practiceFormsEmails_v1_0_0.py</a:t>
            </a:r>
            <a:endParaRPr lang="en-US" sz="1000" dirty="0"/>
          </a:p>
        </p:txBody>
      </p:sp>
      <p:sp>
        <p:nvSpPr>
          <p:cNvPr id="13" name="Shape 11"/>
          <p:cNvSpPr/>
          <p:nvPr/>
        </p:nvSpPr>
        <p:spPr>
          <a:xfrm>
            <a:off x="457200" y="4032504"/>
            <a:ext cx="3657600" cy="402336"/>
          </a:xfrm>
          <a:prstGeom prst="roundRect">
            <a:avLst>
              <a:gd name="adj" fmla="val 22727"/>
            </a:avLst>
          </a:prstGeom>
          <a:solidFill>
            <a:srgbClr val="23272E"/>
          </a:solidFill>
          <a:ln w="12700">
            <a:solidFill>
              <a:srgbClr val="23272E"/>
            </a:solidFill>
            <a:prstDash val="solid"/>
          </a:ln>
        </p:spPr>
      </p:sp>
      <p:sp>
        <p:nvSpPr>
          <p:cNvPr id="14" name="Text 12"/>
          <p:cNvSpPr txBox="1"/>
          <p:nvPr/>
        </p:nvSpPr>
        <p:spPr>
          <a:xfrm>
            <a:off x="640080" y="4151376"/>
            <a:ext cx="3291840" cy="164592"/>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['ada@example.org', 'alan@example.org']</a:t>
            </a:r>
            <a:endParaRPr lang="en-US" sz="700" dirty="0"/>
          </a:p>
        </p:txBody>
      </p:sp>
      <p:sp>
        <p:nvSpPr>
          <p:cNvPr id="15" name="Shape 13"/>
          <p:cNvSpPr/>
          <p:nvPr/>
        </p:nvSpPr>
        <p:spPr>
          <a:xfrm>
            <a:off x="6080760" y="1371600"/>
            <a:ext cx="2606040" cy="1188720"/>
          </a:xfrm>
          <a:prstGeom prst="roundRect">
            <a:avLst>
              <a:gd name="adj" fmla="val 7692"/>
            </a:avLst>
          </a:prstGeom>
          <a:solidFill>
            <a:srgbClr val="F2ECE1"/>
          </a:solidFill>
          <a:ln w="12700">
            <a:solidFill>
              <a:srgbClr val="F2ECE1"/>
            </a:solidFill>
            <a:prstDash val="solid"/>
          </a:ln>
        </p:spPr>
      </p:sp>
      <p:sp>
        <p:nvSpPr>
          <p:cNvPr id="16" name="Text 14"/>
          <p:cNvSpPr txBox="1"/>
          <p:nvPr/>
        </p:nvSpPr>
        <p:spPr>
          <a:xfrm>
            <a:off x="6263640" y="1490472"/>
            <a:ext cx="224028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One wrong total</a:t>
            </a:r>
            <a:endParaRPr lang="en-US" sz="1600" dirty="0"/>
          </a:p>
        </p:txBody>
      </p:sp>
      <p:sp>
        <p:nvSpPr>
          <p:cNvPr id="17" name="Text 15"/>
          <p:cNvSpPr txBox="1"/>
          <p:nvPr/>
        </p:nvSpPr>
        <p:spPr>
          <a:xfrm>
            <a:off x="6263640" y="1874520"/>
            <a:ext cx="2240280" cy="54864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Row 14,399 says 804 x 623 = 500,891; it is 500,892. 15,001 rows were read with no further request.</a:t>
            </a:r>
            <a:endParaRPr lang="en-US" sz="950" dirty="0"/>
          </a:p>
        </p:txBody>
      </p:sp>
      <p:sp>
        <p:nvSpPr>
          <p:cNvPr id="18" name="Text 16"/>
          <p:cNvSpPr txBox="1"/>
          <p:nvPr/>
        </p:nvSpPr>
        <p:spPr>
          <a:xfrm>
            <a:off x="4297680" y="4032504"/>
            <a:ext cx="4389120"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Stand-in for Google, recorded fixture: the bean rows are the CSV export of the public sheet. The converter and forms programs use synthetic data; the forms layout is an assumption.</a:t>
            </a:r>
            <a:endParaRPr lang="en-US" sz="8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Practice programs show the library at work, on real rows or on honest stand-ins.</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one map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branches; the slides of each branch hold the examples</a:t>
            </a:r>
            <a:endParaRPr lang="en-US" sz="1300" dirty="0"/>
          </a:p>
        </p:txBody>
      </p:sp>
      <p:sp>
        <p:nvSpPr>
          <p:cNvPr id="6" name="Shape 4"/>
          <p:cNvSpPr/>
          <p:nvPr/>
        </p:nvSpPr>
        <p:spPr>
          <a:xfrm>
            <a:off x="3840480" y="2286000"/>
            <a:ext cx="1463040" cy="1051560"/>
          </a:xfrm>
          <a:prstGeom prst="roundRect">
            <a:avLst>
              <a:gd name="adj" fmla="val 6957"/>
            </a:avLst>
          </a:prstGeom>
          <a:solidFill>
            <a:srgbClr val="D97A14"/>
          </a:solidFill>
          <a:ln w="15875">
            <a:solidFill>
              <a:srgbClr val="D97A14"/>
            </a:solidFill>
            <a:prstDash val="solid"/>
          </a:ln>
        </p:spPr>
      </p:sp>
      <p:sp>
        <p:nvSpPr>
          <p:cNvPr id="7" name="Text 5"/>
          <p:cNvSpPr txBox="1"/>
          <p:nvPr/>
        </p:nvSpPr>
        <p:spPr>
          <a:xfrm>
            <a:off x="3913632" y="2380183"/>
            <a:ext cx="1316736" cy="86319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Google Sheets: a program reads and writes spreadsheets by web requests</a:t>
            </a:r>
            <a:endParaRPr lang="en-US" sz="1100" dirty="0"/>
          </a:p>
        </p:txBody>
      </p:sp>
      <p:sp>
        <p:nvSpPr>
          <p:cNvPr id="8" name="Shape 6"/>
          <p:cNvSpPr/>
          <p:nvPr/>
        </p:nvSpPr>
        <p:spPr>
          <a:xfrm>
            <a:off x="457200" y="1280160"/>
            <a:ext cx="3017520" cy="978408"/>
          </a:xfrm>
          <a:prstGeom prst="roundRect">
            <a:avLst>
              <a:gd name="adj" fmla="val 7477"/>
            </a:avLst>
          </a:prstGeom>
          <a:solidFill>
            <a:srgbClr val="F2ECE1"/>
          </a:solidFill>
          <a:ln w="15875">
            <a:solidFill>
              <a:srgbClr val="2F6D62"/>
            </a:solidFill>
            <a:prstDash val="solid"/>
          </a:ln>
        </p:spPr>
      </p:sp>
      <p:sp>
        <p:nvSpPr>
          <p:cNvPr id="9" name="Shape 7"/>
          <p:cNvSpPr/>
          <p:nvPr/>
        </p:nvSpPr>
        <p:spPr>
          <a:xfrm>
            <a:off x="3474720" y="1769364"/>
            <a:ext cx="365760" cy="1042416"/>
          </a:xfrm>
          <a:prstGeom prst="line">
            <a:avLst/>
          </a:prstGeom>
          <a:noFill/>
          <a:ln w="15875">
            <a:solidFill>
              <a:srgbClr val="C9BFAE"/>
            </a:solidFill>
            <a:prstDash val="solid"/>
          </a:ln>
        </p:spPr>
      </p:sp>
      <p:sp>
        <p:nvSpPr>
          <p:cNvPr id="10" name="Text 8"/>
          <p:cNvSpPr txBox="1"/>
          <p:nvPr/>
        </p:nvSpPr>
        <p:spPr>
          <a:xfrm>
            <a:off x="548640" y="1325880"/>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Access to a Google account</a:t>
            </a:r>
            <a:endParaRPr lang="en-US" sz="1000" dirty="0"/>
          </a:p>
        </p:txBody>
      </p:sp>
      <p:sp>
        <p:nvSpPr>
          <p:cNvPr id="11" name="Text 9"/>
          <p:cNvSpPr txBox="1"/>
          <p:nvPr/>
        </p:nvSpPr>
        <p:spPr>
          <a:xfrm>
            <a:off x="548640" y="1506931"/>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Cloud project, the two APIs and a consent screen</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credentials file and two token files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first sign-in opens a browser</a:t>
            </a:r>
            <a:endParaRPr lang="en-US" sz="850" dirty="0"/>
          </a:p>
        </p:txBody>
      </p:sp>
      <p:sp>
        <p:nvSpPr>
          <p:cNvPr id="12" name="Shape 10"/>
          <p:cNvSpPr/>
          <p:nvPr/>
        </p:nvSpPr>
        <p:spPr>
          <a:xfrm>
            <a:off x="457200" y="2322576"/>
            <a:ext cx="3017520" cy="978408"/>
          </a:xfrm>
          <a:prstGeom prst="roundRect">
            <a:avLst>
              <a:gd name="adj" fmla="val 7477"/>
            </a:avLst>
          </a:prstGeom>
          <a:solidFill>
            <a:srgbClr val="F2ECE1"/>
          </a:solidFill>
          <a:ln w="15875">
            <a:solidFill>
              <a:srgbClr val="2F6D62"/>
            </a:solidFill>
            <a:prstDash val="solid"/>
          </a:ln>
        </p:spPr>
      </p:sp>
      <p:sp>
        <p:nvSpPr>
          <p:cNvPr id="13" name="Shape 11"/>
          <p:cNvSpPr/>
          <p:nvPr/>
        </p:nvSpPr>
        <p:spPr>
          <a:xfrm>
            <a:off x="3474720" y="2811780"/>
            <a:ext cx="365760" cy="0"/>
          </a:xfrm>
          <a:prstGeom prst="line">
            <a:avLst/>
          </a:prstGeom>
          <a:noFill/>
          <a:ln w="15875">
            <a:solidFill>
              <a:srgbClr val="C9BFAE"/>
            </a:solidFill>
            <a:prstDash val="solid"/>
          </a:ln>
        </p:spPr>
      </p:sp>
      <p:sp>
        <p:nvSpPr>
          <p:cNvPr id="14" name="Text 12"/>
          <p:cNvSpPr txBox="1"/>
          <p:nvPr/>
        </p:nvSpPr>
        <p:spPr>
          <a:xfrm>
            <a:off x="548640" y="2368296"/>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Spreadsheet objects</a:t>
            </a:r>
            <a:endParaRPr lang="en-US" sz="1000" dirty="0"/>
          </a:p>
        </p:txBody>
      </p:sp>
      <p:sp>
        <p:nvSpPr>
          <p:cNvPr id="15" name="Text 13"/>
          <p:cNvSpPr txBox="1"/>
          <p:nvPr/>
        </p:nvSpPr>
        <p:spPr>
          <a:xfrm>
            <a:off x="548640" y="2549347"/>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spreadsheet is opened by URL, id or title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It is uploaded and downloaded in six formats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Deleting sends it to the Trash</a:t>
            </a:r>
            <a:endParaRPr lang="en-US" sz="850" dirty="0"/>
          </a:p>
        </p:txBody>
      </p:sp>
      <p:sp>
        <p:nvSpPr>
          <p:cNvPr id="16" name="Shape 14"/>
          <p:cNvSpPr/>
          <p:nvPr/>
        </p:nvSpPr>
        <p:spPr>
          <a:xfrm>
            <a:off x="457200" y="3364992"/>
            <a:ext cx="3017520" cy="978408"/>
          </a:xfrm>
          <a:prstGeom prst="roundRect">
            <a:avLst>
              <a:gd name="adj" fmla="val 7477"/>
            </a:avLst>
          </a:prstGeom>
          <a:solidFill>
            <a:srgbClr val="F2ECE1"/>
          </a:solidFill>
          <a:ln w="15875">
            <a:solidFill>
              <a:srgbClr val="2F6D62"/>
            </a:solidFill>
            <a:prstDash val="solid"/>
          </a:ln>
        </p:spPr>
      </p:sp>
      <p:sp>
        <p:nvSpPr>
          <p:cNvPr id="17" name="Shape 15"/>
          <p:cNvSpPr/>
          <p:nvPr/>
        </p:nvSpPr>
        <p:spPr>
          <a:xfrm flipV="1">
            <a:off x="3474720" y="2811780"/>
            <a:ext cx="365760" cy="1042416"/>
          </a:xfrm>
          <a:prstGeom prst="line">
            <a:avLst/>
          </a:prstGeom>
          <a:noFill/>
          <a:ln w="15875">
            <a:solidFill>
              <a:srgbClr val="C9BFAE"/>
            </a:solidFill>
            <a:prstDash val="solid"/>
          </a:ln>
        </p:spPr>
      </p:sp>
      <p:sp>
        <p:nvSpPr>
          <p:cNvPr id="18" name="Text 16"/>
          <p:cNvSpPr txBox="1"/>
          <p:nvPr/>
        </p:nvSpPr>
        <p:spPr>
          <a:xfrm>
            <a:off x="548640" y="3410712"/>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Sheet objects</a:t>
            </a:r>
            <a:endParaRPr lang="en-US" sz="1000" dirty="0"/>
          </a:p>
        </p:txBody>
      </p:sp>
      <p:sp>
        <p:nvSpPr>
          <p:cNvPr id="19" name="Text 17"/>
          <p:cNvSpPr txBox="1"/>
          <p:nvPr/>
        </p:nvSpPr>
        <p:spPr>
          <a:xfrm>
            <a:off x="548640" y="3591763"/>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cell is got by address or by column and row</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Rows and columns are read and written as lists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Sheets are created, moved, deleted and copied</a:t>
            </a:r>
            <a:endParaRPr lang="en-US" sz="850" dirty="0"/>
          </a:p>
        </p:txBody>
      </p:sp>
      <p:sp>
        <p:nvSpPr>
          <p:cNvPr id="20" name="Shape 18"/>
          <p:cNvSpPr/>
          <p:nvPr/>
        </p:nvSpPr>
        <p:spPr>
          <a:xfrm>
            <a:off x="5669280" y="1280160"/>
            <a:ext cx="3017520" cy="978408"/>
          </a:xfrm>
          <a:prstGeom prst="roundRect">
            <a:avLst>
              <a:gd name="adj" fmla="val 7477"/>
            </a:avLst>
          </a:prstGeom>
          <a:solidFill>
            <a:srgbClr val="F2ECE1"/>
          </a:solidFill>
          <a:ln w="15875">
            <a:solidFill>
              <a:srgbClr val="2F6D62"/>
            </a:solidFill>
            <a:prstDash val="solid"/>
          </a:ln>
        </p:spPr>
      </p:sp>
      <p:sp>
        <p:nvSpPr>
          <p:cNvPr id="21" name="Shape 19"/>
          <p:cNvSpPr/>
          <p:nvPr/>
        </p:nvSpPr>
        <p:spPr>
          <a:xfrm flipH="1">
            <a:off x="5303520" y="1769364"/>
            <a:ext cx="365760" cy="1042416"/>
          </a:xfrm>
          <a:prstGeom prst="line">
            <a:avLst/>
          </a:prstGeom>
          <a:noFill/>
          <a:ln w="15875">
            <a:solidFill>
              <a:srgbClr val="C9BFAE"/>
            </a:solidFill>
            <a:prstDash val="solid"/>
          </a:ln>
        </p:spPr>
      </p:sp>
      <p:sp>
        <p:nvSpPr>
          <p:cNvPr id="22" name="Text 20"/>
          <p:cNvSpPr txBox="1"/>
          <p:nvPr/>
        </p:nvSpPr>
        <p:spPr>
          <a:xfrm>
            <a:off x="5760720" y="1325880"/>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Requests and quotas</a:t>
            </a:r>
            <a:endParaRPr lang="en-US" sz="1000" dirty="0"/>
          </a:p>
        </p:txBody>
      </p:sp>
      <p:sp>
        <p:nvSpPr>
          <p:cNvPr id="23" name="Text 21"/>
          <p:cNvSpPr txBox="1"/>
          <p:nvPr/>
        </p:nvSpPr>
        <p:spPr>
          <a:xfrm>
            <a:off x="5760720" y="1506931"/>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Every write is one request</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Google limits the requests per minute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library throttles and retries</a:t>
            </a:r>
            <a:endParaRPr lang="en-US" sz="850" dirty="0"/>
          </a:p>
        </p:txBody>
      </p:sp>
      <p:sp>
        <p:nvSpPr>
          <p:cNvPr id="24" name="Shape 22"/>
          <p:cNvSpPr/>
          <p:nvPr/>
        </p:nvSpPr>
        <p:spPr>
          <a:xfrm>
            <a:off x="5669280" y="2322576"/>
            <a:ext cx="3017520" cy="978408"/>
          </a:xfrm>
          <a:prstGeom prst="roundRect">
            <a:avLst>
              <a:gd name="adj" fmla="val 7477"/>
            </a:avLst>
          </a:prstGeom>
          <a:solidFill>
            <a:srgbClr val="F2ECE1"/>
          </a:solidFill>
          <a:ln w="15875">
            <a:solidFill>
              <a:srgbClr val="2F6D62"/>
            </a:solidFill>
            <a:prstDash val="solid"/>
          </a:ln>
        </p:spPr>
      </p:sp>
      <p:sp>
        <p:nvSpPr>
          <p:cNvPr id="25" name="Shape 23"/>
          <p:cNvSpPr/>
          <p:nvPr/>
        </p:nvSpPr>
        <p:spPr>
          <a:xfrm flipH="1">
            <a:off x="5303520" y="2811780"/>
            <a:ext cx="365760" cy="0"/>
          </a:xfrm>
          <a:prstGeom prst="line">
            <a:avLst/>
          </a:prstGeom>
          <a:noFill/>
          <a:ln w="15875">
            <a:solidFill>
              <a:srgbClr val="C9BFAE"/>
            </a:solidFill>
            <a:prstDash val="solid"/>
          </a:ln>
        </p:spPr>
      </p:sp>
      <p:sp>
        <p:nvSpPr>
          <p:cNvPr id="26" name="Text 24"/>
          <p:cNvSpPr txBox="1"/>
          <p:nvPr/>
        </p:nvSpPr>
        <p:spPr>
          <a:xfrm>
            <a:off x="5760720" y="2368296"/>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Boringcoin project</a:t>
            </a:r>
            <a:endParaRPr lang="en-US" sz="1000" dirty="0"/>
          </a:p>
        </p:txBody>
      </p:sp>
      <p:sp>
        <p:nvSpPr>
          <p:cNvPr id="27" name="Text 25"/>
          <p:cNvSpPr txBox="1"/>
          <p:nvPr/>
        </p:nvSpPr>
        <p:spPr>
          <a:xfrm>
            <a:off x="5760720" y="2549347"/>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audit adds up the balances of the accounts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transaction program adds a row</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practice programs read forms and check totals</a:t>
            </a:r>
            <a:endParaRPr lang="en-US" sz="850" dirty="0"/>
          </a:p>
        </p:txBody>
      </p:sp>
      <p:sp>
        <p:nvSpPr>
          <p:cNvPr id="28" name="Shape 26"/>
          <p:cNvSpPr/>
          <p:nvPr/>
        </p:nvSpPr>
        <p:spPr>
          <a:xfrm>
            <a:off x="5669280" y="3364992"/>
            <a:ext cx="3017520" cy="978408"/>
          </a:xfrm>
          <a:prstGeom prst="roundRect">
            <a:avLst>
              <a:gd name="adj" fmla="val 7477"/>
            </a:avLst>
          </a:prstGeom>
          <a:solidFill>
            <a:srgbClr val="F2ECE1"/>
          </a:solidFill>
          <a:ln w="15875">
            <a:solidFill>
              <a:srgbClr val="2F6D62"/>
            </a:solidFill>
            <a:prstDash val="solid"/>
          </a:ln>
        </p:spPr>
      </p:sp>
      <p:sp>
        <p:nvSpPr>
          <p:cNvPr id="29" name="Shape 27"/>
          <p:cNvSpPr/>
          <p:nvPr/>
        </p:nvSpPr>
        <p:spPr>
          <a:xfrm flipH="1" flipV="1">
            <a:off x="5303520" y="2811780"/>
            <a:ext cx="365760" cy="1042416"/>
          </a:xfrm>
          <a:prstGeom prst="line">
            <a:avLst/>
          </a:prstGeom>
          <a:noFill/>
          <a:ln w="15875">
            <a:solidFill>
              <a:srgbClr val="C9BFAE"/>
            </a:solidFill>
            <a:prstDash val="solid"/>
          </a:ln>
        </p:spPr>
      </p:sp>
      <p:sp>
        <p:nvSpPr>
          <p:cNvPr id="30" name="Text 28"/>
          <p:cNvSpPr txBox="1"/>
          <p:nvPr/>
        </p:nvSpPr>
        <p:spPr>
          <a:xfrm>
            <a:off x="5760720" y="3410712"/>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library and Google's clients</a:t>
            </a:r>
            <a:endParaRPr lang="en-US" sz="1000" dirty="0"/>
          </a:p>
        </p:txBody>
      </p:sp>
      <p:sp>
        <p:nvSpPr>
          <p:cNvPr id="31" name="Text 29"/>
          <p:cNvSpPr txBox="1"/>
          <p:nvPr/>
        </p:nvSpPr>
        <p:spPr>
          <a:xfrm>
            <a:off x="5760720" y="3591763"/>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EZSheets is built on the Google client libraries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Its documentation is dated November 2019</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same program runs under every 3.14 release</a:t>
            </a:r>
            <a:endParaRPr lang="en-US" sz="850" dirty="0"/>
          </a:p>
        </p:txBody>
      </p:sp>
      <p:sp>
        <p:nvSpPr>
          <p:cNvPr id="32" name="Text 30"/>
          <p:cNvSpPr txBox="1"/>
          <p:nvPr/>
        </p:nvSpPr>
        <p:spPr>
          <a:xfrm>
            <a:off x="457200" y="437083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GoogleSheetsAtAGlance - TopicAndParts pattern, 94 of 104 words grounded in the chapter's text</a:t>
            </a:r>
            <a:endParaRPr lang="en-US" sz="8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branch feels unproven, its slides hold the example.</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textbook, chapter 15 - free online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automatetheboringstuff.com/3e/chapter15.html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EZSheets documentation (dated 2019)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ezsheets.readthedocs.io/en/latest/</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EZSheets releases on PyPI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pypi.org/project/ezsheets/</a:t>
            </a:r>
            <a:endParaRPr lang="en-US" sz="950" dirty="0"/>
          </a:p>
        </p:txBody>
      </p:sp>
      <p:sp>
        <p:nvSpPr>
          <p:cNvPr id="13" name="Shape 11"/>
          <p:cNvSpPr/>
          <p:nvPr/>
        </p:nvSpPr>
        <p:spPr>
          <a:xfrm>
            <a:off x="493776" y="2615184"/>
            <a:ext cx="82296" cy="82296"/>
          </a:xfrm>
          <a:prstGeom prst="ellipse">
            <a:avLst/>
          </a:prstGeom>
          <a:solidFill>
            <a:srgbClr val="D97A14"/>
          </a:solidFill>
          <a:ln w="12700">
            <a:solidFill>
              <a:srgbClr val="D97A14"/>
            </a:solidFill>
            <a:prstDash val="solid"/>
          </a:ln>
        </p:spPr>
      </p:sp>
      <p:sp>
        <p:nvSpPr>
          <p:cNvPr id="14" name="Text 12"/>
          <p:cNvSpPr txBox="1"/>
          <p:nvPr/>
        </p:nvSpPr>
        <p:spPr>
          <a:xfrm>
            <a:off x="658368" y="254203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pickle is not secure (Python 3.14)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docs.python.org/3.14/library/pickle.html</a:t>
            </a:r>
            <a:endParaRPr lang="en-US" sz="950" dirty="0"/>
          </a:p>
        </p:txBody>
      </p:sp>
      <p:sp>
        <p:nvSpPr>
          <p:cNvPr id="15" name="Text 13"/>
          <p:cNvSpPr txBox="1"/>
          <p:nvPr/>
        </p:nvSpPr>
        <p:spPr>
          <a:xfrm>
            <a:off x="457200" y="2944368"/>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Reference</a:t>
            </a:r>
            <a:endParaRPr lang="en-US" sz="120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Sheets API usage limits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developers.google.com/workspace/sheets/api/limits</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Reading and writing values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developers.google.com/workspace/sheets/api/guides/values</a:t>
            </a:r>
            <a:endParaRPr lang="en-US" sz="950" dirty="0"/>
          </a:p>
        </p:txBody>
      </p:sp>
      <p:sp>
        <p:nvSpPr>
          <p:cNvPr id="20" name="Shape 18"/>
          <p:cNvSpPr/>
          <p:nvPr/>
        </p:nvSpPr>
        <p:spPr>
          <a:xfrm>
            <a:off x="493776" y="3950208"/>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877056"/>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ValueInputOption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developers.google.com/workspace/sheets/api/reference/rest/v4/ValueInputOption</a:t>
            </a:r>
            <a:endParaRPr lang="en-US" sz="950" dirty="0"/>
          </a:p>
        </p:txBody>
      </p:sp>
      <p:sp>
        <p:nvSpPr>
          <p:cNvPr id="22" name="Text 20"/>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 and standards</a:t>
            </a:r>
            <a:endParaRPr lang="en-US" sz="1200" dirty="0"/>
          </a:p>
        </p:txBody>
      </p:sp>
      <p:sp>
        <p:nvSpPr>
          <p:cNvPr id="23" name="Shape 21"/>
          <p:cNvSpPr/>
          <p:nvPr/>
        </p:nvSpPr>
        <p:spPr>
          <a:xfrm>
            <a:off x="4768596" y="162763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RFC 7636, PKCE (the sign-in)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rfc-editor.org/rfc/rfc7636.txt</a:t>
            </a:r>
            <a:endParaRPr lang="en-US" sz="950" dirty="0"/>
          </a:p>
        </p:txBody>
      </p:sp>
      <p:sp>
        <p:nvSpPr>
          <p:cNvPr id="25" name="Shape 23"/>
          <p:cNvSpPr/>
          <p:nvPr/>
        </p:nvSpPr>
        <p:spPr>
          <a:xfrm>
            <a:off x="4768596" y="1956816"/>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Google Sheets, from XL2Web (Wikipedia)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en.wikipedia.org/wiki/Google_Sheets</a:t>
            </a:r>
            <a:endParaRPr lang="en-US" sz="950" dirty="0"/>
          </a:p>
        </p:txBody>
      </p:sp>
      <p:sp>
        <p:nvSpPr>
          <p:cNvPr id="27" name="Shape 25"/>
          <p:cNvSpPr/>
          <p:nvPr/>
        </p:nvSpPr>
        <p:spPr>
          <a:xfrm>
            <a:off x="4768596" y="2286000"/>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Nakamoto's message to the list, 2008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metzdowd.com/pipermail/cryptography/2008-October/014810.html</a:t>
            </a:r>
            <a:endParaRPr lang="en-US" sz="950" dirty="0"/>
          </a:p>
        </p:txBody>
      </p:sp>
      <p:sp>
        <p:nvSpPr>
          <p:cNvPr id="29" name="Shape 27"/>
          <p:cNvSpPr/>
          <p:nvPr/>
        </p:nvSpPr>
        <p:spPr>
          <a:xfrm>
            <a:off x="4768596" y="2615184"/>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254203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Introduction to OAuth  </a:t>
            </a:r>
            <a:r>
              <a:rPr lang="en-US" sz="95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oauth.net/about/introduction/</a:t>
            </a:r>
            <a:endParaRPr lang="en-US" sz="950" dirty="0"/>
          </a:p>
        </p:txBody>
      </p:sp>
      <p:sp>
        <p:nvSpPr>
          <p:cNvPr id="31" name="Shape 29"/>
          <p:cNvSpPr/>
          <p:nvPr/>
        </p:nvSpPr>
        <p:spPr>
          <a:xfrm>
            <a:off x="4768596" y="2944368"/>
            <a:ext cx="82296" cy="82296"/>
          </a:xfrm>
          <a:prstGeom prst="ellipse">
            <a:avLst/>
          </a:prstGeom>
          <a:solidFill>
            <a:srgbClr val="D97A14"/>
          </a:solidFill>
          <a:ln w="12700">
            <a:solidFill>
              <a:srgbClr val="D97A14"/>
            </a:solidFill>
            <a:prstDash val="solid"/>
          </a:ln>
        </p:spPr>
      </p:sp>
      <p:sp>
        <p:nvSpPr>
          <p:cNvPr id="32" name="Text 30"/>
          <p:cNvSpPr txBox="1"/>
          <p:nvPr/>
        </p:nvSpPr>
        <p:spPr>
          <a:xfrm>
            <a:off x="4933188" y="2871216"/>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Sheets API v3 turn-down, 2021  </a:t>
            </a:r>
            <a:r>
              <a:rPr lang="en-US" sz="950"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developers.google.com/workspace/sheets/api/guides/migration</a:t>
            </a:r>
            <a:endParaRPr lang="en-US" sz="950" dirty="0"/>
          </a:p>
        </p:txBody>
      </p:sp>
      <p:sp>
        <p:nvSpPr>
          <p:cNvPr id="33" name="Shape 31"/>
          <p:cNvSpPr/>
          <p:nvPr/>
        </p:nvSpPr>
        <p:spPr>
          <a:xfrm>
            <a:off x="4768596" y="3273552"/>
            <a:ext cx="82296" cy="82296"/>
          </a:xfrm>
          <a:prstGeom prst="ellipse">
            <a:avLst/>
          </a:prstGeom>
          <a:solidFill>
            <a:srgbClr val="D97A14"/>
          </a:solidFill>
          <a:ln w="12700">
            <a:solidFill>
              <a:srgbClr val="D97A14"/>
            </a:solidFill>
            <a:prstDash val="solid"/>
          </a:ln>
        </p:spPr>
      </p:sp>
      <p:sp>
        <p:nvSpPr>
          <p:cNvPr id="34" name="Text 32"/>
          <p:cNvSpPr txBox="1"/>
          <p:nvPr/>
        </p:nvSpPr>
        <p:spPr>
          <a:xfrm>
            <a:off x="4933188" y="320040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Google Forms (Wikipedia)  </a:t>
            </a:r>
            <a:r>
              <a:rPr lang="en-US" sz="950" u="sng" dirty="0">
                <a:solidFill>
                  <a:srgbClr val="2F6D62"/>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en.wikipedia.org/wiki/Google_Forms</a:t>
            </a:r>
            <a:endParaRPr lang="en-US" sz="9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Textbook, Google's pages and history, opened the day this deck was built.</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call is a request to Google: I count requests and write lists, not cells.</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token file is code, and in Testing status the sign-in is weekly.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Sheet() returns None, an id is cut by position, and two writers can lose a row.</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I say which results came from Google and which from a stand-in: here, none came from Google.</a:t>
            </a:r>
            <a:endParaRPr lang="en-US" sz="1500" dirty="0"/>
          </a:p>
        </p:txBody>
      </p:sp>
      <p:sp>
        <p:nvSpPr>
          <p:cNvPr id="7" name="Shape 5"/>
          <p:cNvSpPr/>
          <p:nvPr/>
        </p:nvSpPr>
        <p:spPr>
          <a:xfrm>
            <a:off x="548640" y="3749040"/>
            <a:ext cx="1887779"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1887779"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21 rows run</a:t>
            </a:r>
            <a:endParaRPr lang="en-US" sz="1300" dirty="0"/>
          </a:p>
        </p:txBody>
      </p:sp>
      <p:sp>
        <p:nvSpPr>
          <p:cNvPr id="9" name="Shape 7"/>
          <p:cNvSpPr/>
          <p:nvPr/>
        </p:nvSpPr>
        <p:spPr>
          <a:xfrm>
            <a:off x="2637587" y="3749040"/>
            <a:ext cx="2434590"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637587" y="3749040"/>
            <a:ext cx="2434590"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18 programs run</a:t>
            </a:r>
            <a:endParaRPr lang="en-US" sz="1300" dirty="0"/>
          </a:p>
        </p:txBody>
      </p:sp>
      <p:sp>
        <p:nvSpPr>
          <p:cNvPr id="11" name="Shape 9"/>
          <p:cNvSpPr/>
          <p:nvPr/>
        </p:nvSpPr>
        <p:spPr>
          <a:xfrm>
            <a:off x="5273345" y="3749040"/>
            <a:ext cx="1751076"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5273345" y="3749040"/>
            <a:ext cx="1751076"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8 diagrams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a spreadsheet to read.</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15 - Google Sheets</dc:title>
  <dc:subject>PptxGenJS Presentation</dc:subject>
  <dc:creator>Yusuf Altunel</dc:creator>
  <cp:lastModifiedBy>Yusuf Altunel</cp:lastModifiedBy>
  <cp:revision>1</cp:revision>
  <dcterms:created xsi:type="dcterms:W3CDTF">2026-10-12T13:44:43Z</dcterms:created>
  <dcterms:modified xsi:type="dcterms:W3CDTF">2026-10-12T13:44:43Z</dcterms:modified>
  <cp:version>1.0.0</cp:version>
</cp:coreProperties>
</file>