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8 was about a string once you already had it. This chapter is about finding one: a regular expression is a small language, written inside a string, for describing the shape of text rather than its exact characters, and the re module compiles that description once and then asks it to search, find every match, or replace what it finds. Every example on these slides was run under Python 3.14.6 and the result printed beside it is the result Python gave.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 has six parts. It starts with finding patterns and the Pattern and Match objects, moves to pattern syntax for grouping and character sets, then to repetition and anchors, then to pattern operations for finding, replacing and flags, then to patterns inside real programs - Project 3, the practice programs and Humre - and ends with the summary and resources. The ranges name the exact slides, so you can return to the part you need, and four of the slides are true stories that explain where a piece of syntax came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question is the chapter's own spine: a pattern's syntax answers four separate questions - what may sit at one position (a character set or a shorthand class), how many times it repeats (a quantifier, greedy or lazy), where it must sit (an anchor), and what the match keeps for later (a group) - and a method such as search, findall or sub then does something with the answer. The second question is this chapter's own watch-out: the chapter was printed before Python renamed its own error type, before its own dollar sign and word-boundary behaviour were clarified in the documentation, and before Humre reached a release that differs from the chapter's own listing, so a few of its claims need a source check against the version actually running. The chips give the size of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re module appears, the chapter writes is_phone_number() by hand: it rejects any text that is not exactly twelve characters, then checks that the three digit groups are each decimal with isdecimal() and that a hyphen sits at positions 3 and 7, exactly where a phone number such as 415-555-1011 needs one. A list comprehension slides a twelve-character window across a longer message and keeps only the slices that pass the test, which is how the message in this console yields its two phone numbers and ignores everything else; 'Moshi moshi' fails immediately because it is not even the right length.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re.compile() turns a pattern string into a Pattern object, and compiling once before searching many times is both the documented idiom and the chapter's own practice. The Pattern's search() method scans the text for the first place the pattern matches and returns a Match object holding that result, or None if the pattern is not found anywhere, which is why phoneNumRegex.search('no digits here') prints nothing rather than raising an error. match() and fullmatch(), both shown here, are the stricter relatives search() has: match() only tries the very start of the string, and fullmatch() additionally requires the match to reach the string's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June 1968 Ken Thompson published 'Regular Expression Search Algorithm' in Communications of the ACM, volume 11, number 6, article 12736, describing an algorithm that first compiles a regular expression into machine code and then uses that compiled form to search text by simulating a non-deterministic finite automaton. Thompson had already built this two-step idea, compile once and then search, into the QED text editor he wrote for Bell Labs' CTSS system, the first editor to add regular expressions to a text search at all; he later received US Patent 3,568,156 for the technique. The chapter's own four steps, re.compile() for a Pattern object and then search() for a Match, are the same two-step shape fifty-seven years later, now a Python method call apart instead of a step in an editor's own command loop. The account rests on these sources. Ken Thompson, 'Regular Expression Search Algorithm', Communications of the ACM 11(6), June 1968, article 12736 (cacmb4.acm.org); Doug McIlroy, 'A Research UNIX Reader', the QED history at plan9.io/cm/cs/who/dmr/qed.html. Photo: Wikimedia Commons.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Python's _sre.c, the C source behind every Pattern and Match object the re module hands back, carries a history log inside its own comments that opens on 24 October 1999, crediting the initials 'fl' for most of the early engine and naming Secret Labs AB, reachable at info@pythonware.com, as the copyright holder from 1997 to 2001. The same log records Hewlett-Packard funding the work needed to fold the engine into Python 1.6, Martin von Loewis adding support for wide character sets, and Guido van Rossum himself fixing a memory leak in sub() and subn(). Every mo.group(), mo.span() and mo.start() this chapter calls on a Match object reaches, underneath, into an engine whose own change log is now a quarter of a century old. The account rests on these sources. Modules/_sre.c, CPython source history, chromium.googlesource.com (copyright Secret Labs AB 1997-2001, contact info@pythonware.com; history log from 1999-10-24); Python documentation, re - Regular expression operations, the Match object. Photo: Wikimedia Commons.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Parentheses around part of a pattern create a group, numbered from 1 in the order the opening parentheses appear, and group(1), group(2) and groups() read the text each one matched out of a Match object. The pipe inside parentheses offers several alternatives and tries them left to right, taking the first one that matches, which is why Cat(erpillar|astrophe|ch|egory) matches 'Catch' by trying erpillar and astrophe first and finding neither. A named group, written (?P&lt;name&gt;...), is read by groupdict() as well as by number, and a back reference inside the pattern itself, \1, requires group 1's own match to repeat verbatim, which is how 'this is is a typo' is caught as a doubled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1951, working for the RAND Corporation as an Air Force Project RAND research memorandum, the mathematician Stephen Cole Kleene wrote 'Representation of Events in Nerve Nets and Finite Automata', Research Memorandum RM-704, defining what he called a regular event: a set of symbol sequences built up from single symbols by exactly three operations, concatenation, union and repetition. Kleene, born 5 January 1909 in Hartford, Connecticut, spent almost his whole career at the University of Wisconsin-Madison, from 1935 until his retirement in 1979, and died on 25 January 1994, aged 85. The union of his 1951 definition is exactly the pipe this chapter calls alternation, Cat(erpillar|astrophe|ch|egory), and the repetition is exactly the star and plus quantifiers; every pattern string this chapter writes is, formally, one more instance of the object Kleene named seventy-four years before Python 3.14 compiled it. The account rests on these sources. 'Stephen Cole Kleene', Wikipedia, en.wikipedia.org/wiki/Stephen_Cole_Kleene (RM-704, RAND Corporation, 1951; born 5 January 1909, died 25 January 1994); Al Sweigart, Automate the Boring Stuff with Python, 3rd edition (2025), chapter 9. Photo: Wikimedia Commons.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character class in square brackets, [aeiouAEIOU], matches exactly one character from the set listed inside it, and a caret right after the opening bracket negates the class instead, matching any character not in the set. The shorthand classes \d, \w and \s stand for a digit, a word character and whitespace respectively, with their capitalised opposites \D, \W and \S, and the chapter's own documentation now notes that \d matches any Unicode decimal digit, not only 0 to 9, unless the pattern is compiled with re.ASCII. \d+\s\w+ finds a run of digits, one space, and a run of word characters together, which is how '12 drummers' is pulled whole out of a longer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Larry Wall released Perl 1.0 on 18 December 1987 while working as a programmer at Unisys, and Perl 2, in June 1988, shipped a markedly better regular expression engine built around the same backslash shorthand classes this chapter teaches, \d for a digit, \w for a word character and \s for whitespace, together with their capitalised opposites. Perl's own regex and text-handling strength is what carried it to wide popularity as a CGI scripting language through the 1990s, and the shorthand notation travelled with the language's reputation into most regex engines written afterward. Python's own re module documentation still introduces itself by stating that it provides matching operations similar to those found in Perl, which is the one sentence that ties the chapter's \d+\s\w+ most directly back to 1987. The account rests on these sources. 'Perl', Wikipedia, en.wikipedia.org/wiki/Perl (Perl 1.0, 18 December 1987; Larry Wall at Unisys; Perl 2, June 1988); Python documentation, re - Regular expression operations, opening sentence. Photo: Wikimedia Commons.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question mark makes the item before it optional, zero or one time; a star matches it zero or more times; a plus requires at least one; and curly brackets give an exact count, {3,5}, or an open range. Every one of these quantifiers is greedy by default, taking as many repetitions as it can and backing off only if the rest of the pattern then fails, which is why (Ha){3,5} against five Ha's takes all five; a trailing question mark after any quantifier makes it lazy instead, taking as few repetitions as it can, which is why &lt;.*?&gt; stops at the first '&gt;' it finds instead of the last. The same greedy-versus-lazy choice is why .* and .*? give very different answers against text with more than one closing character. A word of caution worth repeating from the chapter itself: its own printed Eggs( and spam)* example has a leading space inside the group, where this console's pattern has none, so the span printed here, (0, 22), is correct for this console's own pattern and should not be read as a claim about the chapter's.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caret at the start of a pattern anchors it to the start of the string and a dollar sign anchors it to the end, so re.fullmatch is not the only way to require the whole string to match. \b marks the boundary between a word character and a non-word character, and its opposite \B marks a position that is not such a boundary, which is how \Bcat\B finds 'cat' buried inside 'certificate' but not a 'cat' standing at a word's edge. A lookahead, (?= dollars), and a lookbehind, (?&lt;=\$), each test the text beside a position without consuming it, so \d+(?= dollars) returns the digits alone, with the word 'dollars' left in the text for whatever is searched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findall() searches the whole text and returns every match it finds without overlapping, in order; the shape of what comes back depends entirely on the pattern's own groups, a plain list of matched strings for no groups or exactly one, and a list of tuples of each group's text once there are two or more, which is why (\w+)=(\d+) returns a list of (name, number) pairs rather than a list of the whole matched text. finditer() is the same search but returns an iterator of Match objects instead of committing to one shape up front, which is how this console reads off each match's own start() and end() position alongside its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sub(), called on a compiled Pattern, returns a new string with every match of the pattern replaced by the given replacement, leaving the original string untouched exactly as every other string operation does. The replacement can hold a back reference, \1, to keep part of what matched while replacing the rest, as 'Agent (\w)\w*' keeps the first letter of each agent's name and replaces the rest with asterisks. The replacement can also be a function instead of a string: re.sub() calls it once per match with the Match object and substitutes whatever it returns, which is how every number in '3 cats 12 dogs' is doubled in one call. escape() returns a pattern that matches a literal string exactly, backslash-escaping every character a pattern would otherwise treat specially.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re.IGNORECASE, usually written re.I, makes a pattern match regardless of case, so 'robocop' matches 'ROBOCOP' with the flag set. re.DOTALL, re.S, lets the dot match a newline too, which it otherwise never does, letting a pattern span several printed lines. re.VERBOSE, re.X, lets a pattern be written across several lines with whitespace and # comments for readability, both ignored when the pattern is compiled unless the whitespace is escaped or inside a class; this console's own VERBOSE pattern shows the trap, a comment with no real line break after it quietly eats the rest of the pattern. Flags combine with the pipe, re.I | re.S | re.X, into one integer passed as the third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Project 3 searches a page of text for phone numbers and e-mail addresses with two VERBOSE-mode patterns, joins the groups of each phone match with hyphens, and copies every match it finds back for the user, standing in here for the clipboard pyperclip would otherwise reach. The chapter itself prints a real quirk worth keeping rather than quietly fixing: the extension clause is joined from group 6, the whole clause including its own 'x' or 'ext', not from group 8, the extension digits alone, so a number with an extension prints as '415-555-9950 x ext. 123' with the word doubled, and a number with no area code keeps a stray leading hyphen, '-555-1234'. Running the program here confirms both quirks exactly as the chapter's own printed transcript shows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is_strong_password() holds four small, separate patterns, r'.{8}' for length, r'[a-z]' for a lowercase letter, r'[A-Z]' for an uppercase letter and r'\d' for a digit, and all() requires every one of them to be found somewhere in the password before it is accepted. Typed against password1, PASSWORD1, Password and Sh0rt, each is rejected for missing exactly one of the four conditions, and Passw0rdOK is accepted the moment all four are satisfied at once; the loop then breaks rather than asking again. Four short patterns checked together with all() read far more clearly than one long pattern would have tried to 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regex_strip() rebuilds str.strip() with a pattern: with no character argument it strips leading or trailing whitespace, r'^\s+|\s+$', and with one it builds a character class from the given characters with re.escape() and strips a run of any of them from either end, which is how strip('xy') removes 'xy' from both ends of 'xyhixy' down to 'hi'. Humre is a separate, third-party module the chapter introduces for programmers who find backslash-heavy patterns hard to read, replacing them with chained function calls that spell out the pattern in English; its newest release reproduces the chapter's own worked example faithfully but has renamed a few constants and left one function, parse(), unfinished since the chapter was written, exactly the kind of drift this course checks for rather than assumes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lines answer the route one part at a time. The first two cover finding a pattern and grouping what it keeps, the third and fourth cover what one position may be and how many times it repeats, the fifth covers anchoring a pattern in the text, and the sixth covers doing something with every match. If a line feels unproven, the part of the route that carries it has the slides with the executed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link on this slide was opened on the day the deck was made. The textbook chapter is free to read online and has Project 3 and both practice programs in full, the reference links are the official documentation behind every quirk this deck flagged, and the history links are three of the primary sources behind this chapter's four stories (Ken Thompson's own 1968 paper is linked from its own story slide instead, its reference too long to set beside a label here). regex101 and Pythex each let you step a pattern across real text and watch which part matches, the clearest way to see greedy and lazy quantifiers disagree.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carried by a result you saw printed. If you can say them in your own words and run the examples yourself, you have the chapter. The next chapter moves on to reading, writing and copying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cacmb4.acm.org/magazines/1968/6/12736-programming-techniques-regular-expression-search-algorithm" TargetMode="Externa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chromium.googlesource.com/external/github.com/python/cpython/+/v3.7.0/Modules/_sre.c" TargetMode="Externa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en.wikipedia.org/wiki/Stephen_Cole_Kleene" TargetMode="Externa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en.wikipedia.org/wiki/Perl" TargetMode="Externa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hyperlink" Target="https://automatetheboringstuff.com/3e/chapter9.html" TargetMode="External"/><Relationship Id="rId2" Type="http://schemas.openxmlformats.org/officeDocument/2006/relationships/hyperlink" Target="https://docs.python.org/3/library/re.html" TargetMode="External"/><Relationship Id="rId3" Type="http://schemas.openxmlformats.org/officeDocument/2006/relationships/hyperlink" Target="https://docs.python.org/3/howto/regex.html" TargetMode="External"/><Relationship Id="rId4" Type="http://schemas.openxmlformats.org/officeDocument/2006/relationships/hyperlink" Target="https://docs.python.org/3/reference/lexical_analysis.html" TargetMode="External"/><Relationship Id="rId5" Type="http://schemas.openxmlformats.org/officeDocument/2006/relationships/hyperlink" Target="https://docs.python.org/3/whatsnew/3.14.html" TargetMode="External"/><Relationship Id="rId6" Type="http://schemas.openxmlformats.org/officeDocument/2006/relationships/hyperlink" Target="https://www.regular-expressions.info" TargetMode="External"/><Relationship Id="rId7" Type="http://schemas.openxmlformats.org/officeDocument/2006/relationships/hyperlink" Target="https://en.wikipedia.org/wiki/Stephen_Cole_Kleene" TargetMode="External"/><Relationship Id="rId8" Type="http://schemas.openxmlformats.org/officeDocument/2006/relationships/hyperlink" Target="https://en.wikipedia.org/wiki/Perl" TargetMode="External"/><Relationship Id="rId9" Type="http://schemas.openxmlformats.org/officeDocument/2006/relationships/hyperlink" Target="https://chromium.googlesource.com/external/github.com/python/cpython/+/v3.7.0/Modules/_sre.c" TargetMode="External"/><Relationship Id="rId10" Type="http://schemas.openxmlformats.org/officeDocument/2006/relationships/hyperlink" Target="https://regex101.com" TargetMode="External"/><Relationship Id="rId11" Type="http://schemas.openxmlformats.org/officeDocument/2006/relationships/hyperlink" Target="https://pythex.org" TargetMode="External"/><Relationship Id="rId12" Type="http://schemas.openxmlformats.org/officeDocument/2006/relationships/slideLayout" Target="../slideLayouts/slideLayout1.xml"/><Relationship Id="rId1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2000" b="1" dirty="0">
                <a:solidFill>
                  <a:srgbClr val="FFFFFF"/>
                </a:solidFill>
                <a:latin typeface="Courier New" pitchFamily="34" charset="0"/>
                <a:ea typeface="Courier New" pitchFamily="34" charset="-122"/>
                <a:cs typeface="Courier New" pitchFamily="34" charset="-120"/>
              </a:rPr>
              <a:t>&gt;&gt;&gt;</a:t>
            </a:r>
            <a:endParaRPr lang="en-US" sz="2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9: Regular Expressions</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Writing a pattern once, compiling it, and asking it to search, find, or replace</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SEN0414 Advanced Programming · Fall 2026 · Yusuf Altunel, PhD · İstanbul Kültür University</a:t>
            </a:r>
            <a:endParaRPr lang="en-US" sz="1200" dirty="0"/>
          </a:p>
        </p:txBody>
      </p:sp>
      <p:sp>
        <p:nvSpPr>
          <p:cNvPr id="11" name="Shape 9"/>
          <p:cNvSpPr/>
          <p:nvPr/>
        </p:nvSpPr>
        <p:spPr>
          <a:xfrm>
            <a:off x="5486400" y="777240"/>
            <a:ext cx="3200400" cy="868680"/>
          </a:xfrm>
          <a:prstGeom prst="roundRect">
            <a:avLst>
              <a:gd name="adj" fmla="val 10526"/>
            </a:avLst>
          </a:prstGeom>
          <a:solidFill>
            <a:srgbClr val="23272E"/>
          </a:solidFill>
          <a:ln w="12700">
            <a:solidFill>
              <a:srgbClr val="23272E"/>
            </a:solidFill>
            <a:prstDash val="solid"/>
          </a:ln>
        </p:spPr>
      </p:sp>
      <p:sp>
        <p:nvSpPr>
          <p:cNvPr id="12" name="Text 10"/>
          <p:cNvSpPr txBox="1"/>
          <p:nvPr/>
        </p:nvSpPr>
        <p:spPr>
          <a:xfrm>
            <a:off x="5669280" y="896112"/>
            <a:ext cx="2834640" cy="630936"/>
          </a:xfrm>
          <a:prstGeom prst="rect">
            <a:avLst/>
          </a:prstGeom>
          <a:noFill/>
          <a:ln/>
        </p:spPr>
        <p:txBody>
          <a:bodyPr wrap="square" lIns="0" tIns="0" rIns="0" bIns="0" rtlCol="0" anchor="t"/>
          <a:lstStyle/>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import re</a:t>
            </a:r>
            <a:endParaRPr lang="en-US" sz="1100" dirty="0"/>
          </a:p>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re.findall(r'\d', 'R2D2')</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['2', '2']</a:t>
            </a:r>
            <a:endParaRPr lang="en-US" sz="1100" dirty="0"/>
          </a:p>
        </p:txBody>
      </p:sp>
      <p:sp>
        <p:nvSpPr>
          <p:cNvPr id="13" name="Text 11"/>
          <p:cNvSpPr txBox="1"/>
          <p:nvPr/>
        </p:nvSpPr>
        <p:spPr>
          <a:xfrm>
            <a:off x="5486400" y="1664208"/>
            <a:ext cx="32004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Six parts; every range is a run of slides you can jump to</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5193792" cy="481584"/>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Finding patterns and pattern objects (slides 3-7)</a:t>
            </a:r>
            <a:endParaRPr lang="en-US" sz="1150" dirty="0"/>
          </a:p>
        </p:txBody>
      </p:sp>
      <p:sp>
        <p:nvSpPr>
          <p:cNvPr id="9" name="Shape 7"/>
          <p:cNvSpPr/>
          <p:nvPr/>
        </p:nvSpPr>
        <p:spPr>
          <a:xfrm>
            <a:off x="457200" y="19263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9263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889760"/>
            <a:ext cx="5193792" cy="481584"/>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Pattern syntax: grouping and character sets (slides 8-11)</a:t>
            </a:r>
            <a:endParaRPr lang="en-US" sz="1150" dirty="0"/>
          </a:p>
        </p:txBody>
      </p:sp>
      <p:sp>
        <p:nvSpPr>
          <p:cNvPr id="12" name="Shape 10"/>
          <p:cNvSpPr/>
          <p:nvPr/>
        </p:nvSpPr>
        <p:spPr>
          <a:xfrm>
            <a:off x="457200" y="244449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4444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407920"/>
            <a:ext cx="5193792" cy="481584"/>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Pattern syntax: repetition and anchors (slides 12-13)</a:t>
            </a:r>
            <a:endParaRPr lang="en-US" sz="1150" dirty="0"/>
          </a:p>
        </p:txBody>
      </p:sp>
      <p:sp>
        <p:nvSpPr>
          <p:cNvPr id="15" name="Shape 13"/>
          <p:cNvSpPr/>
          <p:nvPr/>
        </p:nvSpPr>
        <p:spPr>
          <a:xfrm>
            <a:off x="457200" y="296265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9626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926080"/>
            <a:ext cx="5193792" cy="481584"/>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Pattern operations: finding, replacing, flags (slides 14-16)</a:t>
            </a:r>
            <a:endParaRPr lang="en-US" sz="1150" dirty="0"/>
          </a:p>
        </p:txBody>
      </p:sp>
      <p:sp>
        <p:nvSpPr>
          <p:cNvPr id="18" name="Shape 16"/>
          <p:cNvSpPr/>
          <p:nvPr/>
        </p:nvSpPr>
        <p:spPr>
          <a:xfrm>
            <a:off x="457200" y="3480816"/>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4808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444240"/>
            <a:ext cx="5193792" cy="481584"/>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Patterns in programs: Project 3, practice, Humre (slides 17-19)</a:t>
            </a:r>
            <a:endParaRPr lang="en-US" sz="1150" dirty="0"/>
          </a:p>
        </p:txBody>
      </p:sp>
      <p:sp>
        <p:nvSpPr>
          <p:cNvPr id="21" name="Shape 19"/>
          <p:cNvSpPr/>
          <p:nvPr/>
        </p:nvSpPr>
        <p:spPr>
          <a:xfrm>
            <a:off x="457200" y="3998976"/>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9989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962400"/>
            <a:ext cx="5193792" cy="481584"/>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Summary and resources (slides 20-21)</a:t>
            </a:r>
            <a:endParaRPr lang="en-US" sz="1150" dirty="0"/>
          </a:p>
        </p:txBody>
      </p:sp>
      <p:sp>
        <p:nvSpPr>
          <p:cNvPr id="24" name="Shape 22"/>
          <p:cNvSpPr/>
          <p:nvPr/>
        </p:nvSpPr>
        <p:spPr>
          <a:xfrm>
            <a:off x="6446520" y="1371600"/>
            <a:ext cx="2240280" cy="950976"/>
          </a:xfrm>
          <a:prstGeom prst="roundRect">
            <a:avLst>
              <a:gd name="adj" fmla="val 7692"/>
            </a:avLst>
          </a:prstGeom>
          <a:solidFill>
            <a:srgbClr val="F2ECE1"/>
          </a:solidFill>
          <a:ln w="12700">
            <a:solidFill>
              <a:srgbClr val="DFD6C7"/>
            </a:solidFill>
            <a:prstDash val="solid"/>
          </a:ln>
        </p:spPr>
      </p:sp>
      <p:sp>
        <p:nvSpPr>
          <p:cNvPr id="25" name="Text 23"/>
          <p:cNvSpPr txBox="1"/>
          <p:nvPr/>
        </p:nvSpPr>
        <p:spPr>
          <a:xfrm>
            <a:off x="6556248" y="1408176"/>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22</a:t>
            </a:r>
            <a:endParaRPr lang="en-US" sz="2600" dirty="0"/>
          </a:p>
        </p:txBody>
      </p:sp>
      <p:sp>
        <p:nvSpPr>
          <p:cNvPr id="26" name="Text 24"/>
          <p:cNvSpPr txBox="1"/>
          <p:nvPr/>
        </p:nvSpPr>
        <p:spPr>
          <a:xfrm>
            <a:off x="6556248" y="1866108"/>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7" name="Shape 25"/>
          <p:cNvSpPr/>
          <p:nvPr/>
        </p:nvSpPr>
        <p:spPr>
          <a:xfrm>
            <a:off x="6446520" y="2450592"/>
            <a:ext cx="2240280" cy="950976"/>
          </a:xfrm>
          <a:prstGeom prst="roundRect">
            <a:avLst>
              <a:gd name="adj" fmla="val 7692"/>
            </a:avLst>
          </a:prstGeom>
          <a:solidFill>
            <a:srgbClr val="F2ECE1"/>
          </a:solidFill>
          <a:ln w="12700">
            <a:solidFill>
              <a:srgbClr val="DFD6C7"/>
            </a:solidFill>
            <a:prstDash val="solid"/>
          </a:ln>
        </p:spPr>
      </p:sp>
      <p:sp>
        <p:nvSpPr>
          <p:cNvPr id="28" name="Text 26"/>
          <p:cNvSpPr txBox="1"/>
          <p:nvPr/>
        </p:nvSpPr>
        <p:spPr>
          <a:xfrm>
            <a:off x="6556248" y="2487168"/>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4</a:t>
            </a:r>
            <a:endParaRPr lang="en-US" sz="2600" dirty="0"/>
          </a:p>
        </p:txBody>
      </p:sp>
      <p:sp>
        <p:nvSpPr>
          <p:cNvPr id="29" name="Text 27"/>
          <p:cNvSpPr txBox="1"/>
          <p:nvPr/>
        </p:nvSpPr>
        <p:spPr>
          <a:xfrm>
            <a:off x="6556248" y="2945100"/>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with who, where, when and a link</a:t>
            </a:r>
            <a:endParaRPr lang="en-US" sz="1100" dirty="0"/>
          </a:p>
        </p:txBody>
      </p:sp>
      <p:sp>
        <p:nvSpPr>
          <p:cNvPr id="30" name="Shape 28"/>
          <p:cNvSpPr/>
          <p:nvPr/>
        </p:nvSpPr>
        <p:spPr>
          <a:xfrm>
            <a:off x="6446520" y="3529584"/>
            <a:ext cx="2240280" cy="950976"/>
          </a:xfrm>
          <a:prstGeom prst="roundRect">
            <a:avLst>
              <a:gd name="adj" fmla="val 7692"/>
            </a:avLst>
          </a:prstGeom>
          <a:solidFill>
            <a:srgbClr val="F2ECE1"/>
          </a:solidFill>
          <a:ln w="12700">
            <a:solidFill>
              <a:srgbClr val="DFD6C7"/>
            </a:solidFill>
            <a:prstDash val="solid"/>
          </a:ln>
        </p:spPr>
      </p:sp>
      <p:sp>
        <p:nvSpPr>
          <p:cNvPr id="31" name="Text 29"/>
          <p:cNvSpPr txBox="1"/>
          <p:nvPr/>
        </p:nvSpPr>
        <p:spPr>
          <a:xfrm>
            <a:off x="6556248" y="3566160"/>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15</a:t>
            </a:r>
            <a:endParaRPr lang="en-US" sz="2600" dirty="0"/>
          </a:p>
        </p:txBody>
      </p:sp>
      <p:sp>
        <p:nvSpPr>
          <p:cNvPr id="32" name="Text 30"/>
          <p:cNvSpPr txBox="1"/>
          <p:nvPr/>
        </p:nvSpPr>
        <p:spPr>
          <a:xfrm>
            <a:off x="6556248" y="4024092"/>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consoles and programs, all run before they were shown</a:t>
            </a:r>
            <a:endParaRPr lang="en-US" sz="1100" dirty="0"/>
          </a:p>
        </p:txBody>
      </p:sp>
      <p:sp>
        <p:nvSpPr>
          <p:cNvPr id="33" name="Shape 31"/>
          <p:cNvSpPr/>
          <p:nvPr/>
        </p:nvSpPr>
        <p:spPr>
          <a:xfrm>
            <a:off x="457200" y="4636008"/>
            <a:ext cx="91440" cy="310896"/>
          </a:xfrm>
          <a:prstGeom prst="rect">
            <a:avLst/>
          </a:prstGeom>
          <a:solidFill>
            <a:srgbClr val="D97A14"/>
          </a:solidFill>
          <a:ln w="12700">
            <a:solidFill>
              <a:srgbClr val="D97A14"/>
            </a:solidFill>
            <a:prstDash val="solid"/>
          </a:ln>
        </p:spPr>
      </p:sp>
      <p:sp>
        <p:nvSpPr>
          <p:cNvPr id="34" name="Text 3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Six parts, from a hand-written check to a human-readable module.</a:t>
            </a:r>
            <a:endParaRPr lang="en-US" sz="1350" dirty="0"/>
          </a:p>
        </p:txBody>
      </p:sp>
      <p:sp>
        <p:nvSpPr>
          <p:cNvPr id="35" name="Text 3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22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chapter's own competency questions; the summary comes back to each</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621792"/>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Which part of a pattern decides what one position matches, how many times it repeats, where it must sit, and which pair of parentheses keeps the text once a match is found?</a:t>
            </a:r>
            <a:endParaRPr lang="en-US" sz="1300" dirty="0"/>
          </a:p>
        </p:txBody>
      </p:sp>
      <p:sp>
        <p:nvSpPr>
          <p:cNvPr id="9" name="Shape 7"/>
          <p:cNvSpPr/>
          <p:nvPr/>
        </p:nvSpPr>
        <p:spPr>
          <a:xfrm>
            <a:off x="457200" y="1975104"/>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97510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38528"/>
            <a:ext cx="7662672" cy="621792"/>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Which printed outputs and quirks of the chapter differ in current Python, and on what source?</a:t>
            </a:r>
            <a:endParaRPr lang="en-US" sz="1300" dirty="0"/>
          </a:p>
        </p:txBody>
      </p:sp>
      <p:sp>
        <p:nvSpPr>
          <p:cNvPr id="12" name="Shape 10"/>
          <p:cNvSpPr/>
          <p:nvPr/>
        </p:nvSpPr>
        <p:spPr>
          <a:xfrm>
            <a:off x="457200" y="3474720"/>
            <a:ext cx="1593342" cy="420624"/>
          </a:xfrm>
          <a:prstGeom prst="roundRect">
            <a:avLst>
              <a:gd name="adj" fmla="val 50000"/>
            </a:avLst>
          </a:prstGeom>
          <a:solidFill>
            <a:srgbClr val="F2ECE1"/>
          </a:solidFill>
          <a:ln w="12700">
            <a:solidFill>
              <a:srgbClr val="D97A14"/>
            </a:solidFill>
            <a:prstDash val="solid"/>
          </a:ln>
        </p:spPr>
      </p:sp>
      <p:sp>
        <p:nvSpPr>
          <p:cNvPr id="13" name="Text 11"/>
          <p:cNvSpPr txBox="1"/>
          <p:nvPr/>
        </p:nvSpPr>
        <p:spPr>
          <a:xfrm>
            <a:off x="457200" y="3474720"/>
            <a:ext cx="1593342" cy="420624"/>
          </a:xfrm>
          <a:prstGeom prst="rect">
            <a:avLst/>
          </a:prstGeom>
          <a:noFill/>
          <a:ln/>
        </p:spPr>
        <p:txBody>
          <a:bodyPr wrap="square" lIns="0" tIns="0" rIns="0" bIns="0" rtlCol="0" anchor="ctr"/>
          <a:lstStyle/>
          <a:p>
            <a:pPr algn="ctr" indent="0" marL="0">
              <a:buNone/>
            </a:pPr>
            <a:r>
              <a:rPr lang="en-US" sz="1150" dirty="0">
                <a:solidFill>
                  <a:srgbClr val="2B2622"/>
                </a:solidFill>
                <a:latin typeface="Calibri" pitchFamily="34" charset="0"/>
                <a:ea typeface="Calibri" pitchFamily="34" charset="-122"/>
                <a:cs typeface="Calibri" pitchFamily="34" charset="-120"/>
              </a:rPr>
              <a:t>4 branches</a:t>
            </a:r>
            <a:endParaRPr lang="en-US" sz="1150" dirty="0"/>
          </a:p>
        </p:txBody>
      </p:sp>
      <p:sp>
        <p:nvSpPr>
          <p:cNvPr id="14" name="Shape 12"/>
          <p:cNvSpPr/>
          <p:nvPr/>
        </p:nvSpPr>
        <p:spPr>
          <a:xfrm>
            <a:off x="2251710" y="3474720"/>
            <a:ext cx="1714271" cy="420624"/>
          </a:xfrm>
          <a:prstGeom prst="roundRect">
            <a:avLst>
              <a:gd name="adj" fmla="val 50000"/>
            </a:avLst>
          </a:prstGeom>
          <a:solidFill>
            <a:srgbClr val="F2ECE1"/>
          </a:solidFill>
          <a:ln w="12700">
            <a:solidFill>
              <a:srgbClr val="D97A14"/>
            </a:solidFill>
            <a:prstDash val="solid"/>
          </a:ln>
        </p:spPr>
      </p:sp>
      <p:sp>
        <p:nvSpPr>
          <p:cNvPr id="15" name="Text 13"/>
          <p:cNvSpPr txBox="1"/>
          <p:nvPr/>
        </p:nvSpPr>
        <p:spPr>
          <a:xfrm>
            <a:off x="2251710" y="3474720"/>
            <a:ext cx="1714271" cy="420624"/>
          </a:xfrm>
          <a:prstGeom prst="rect">
            <a:avLst/>
          </a:prstGeom>
          <a:noFill/>
          <a:ln/>
        </p:spPr>
        <p:txBody>
          <a:bodyPr wrap="square" lIns="0" tIns="0" rIns="0" bIns="0" rtlCol="0" anchor="ctr"/>
          <a:lstStyle/>
          <a:p>
            <a:pPr algn="ctr" indent="0" marL="0">
              <a:buNone/>
            </a:pPr>
            <a:r>
              <a:rPr lang="en-US" sz="1150" dirty="0">
                <a:solidFill>
                  <a:srgbClr val="2B2622"/>
                </a:solidFill>
                <a:latin typeface="Calibri" pitchFamily="34" charset="0"/>
                <a:ea typeface="Calibri" pitchFamily="34" charset="-122"/>
                <a:cs typeface="Calibri" pitchFamily="34" charset="-120"/>
              </a:rPr>
              <a:t>63 concepts</a:t>
            </a:r>
            <a:endParaRPr lang="en-US" sz="1150" dirty="0"/>
          </a:p>
        </p:txBody>
      </p:sp>
      <p:sp>
        <p:nvSpPr>
          <p:cNvPr id="16" name="Shape 14"/>
          <p:cNvSpPr/>
          <p:nvPr/>
        </p:nvSpPr>
        <p:spPr>
          <a:xfrm>
            <a:off x="4167149" y="3474720"/>
            <a:ext cx="2197989" cy="420624"/>
          </a:xfrm>
          <a:prstGeom prst="roundRect">
            <a:avLst>
              <a:gd name="adj" fmla="val 50000"/>
            </a:avLst>
          </a:prstGeom>
          <a:solidFill>
            <a:srgbClr val="F2ECE1"/>
          </a:solidFill>
          <a:ln w="12700">
            <a:solidFill>
              <a:srgbClr val="D97A14"/>
            </a:solidFill>
            <a:prstDash val="solid"/>
          </a:ln>
        </p:spPr>
      </p:sp>
      <p:sp>
        <p:nvSpPr>
          <p:cNvPr id="17" name="Text 15"/>
          <p:cNvSpPr txBox="1"/>
          <p:nvPr/>
        </p:nvSpPr>
        <p:spPr>
          <a:xfrm>
            <a:off x="4167149" y="3474720"/>
            <a:ext cx="2197989" cy="420624"/>
          </a:xfrm>
          <a:prstGeom prst="rect">
            <a:avLst/>
          </a:prstGeom>
          <a:noFill/>
          <a:ln/>
        </p:spPr>
        <p:txBody>
          <a:bodyPr wrap="square" lIns="0" tIns="0" rIns="0" bIns="0" rtlCol="0" anchor="ctr"/>
          <a:lstStyle/>
          <a:p>
            <a:pPr algn="ctr" indent="0" marL="0">
              <a:buNone/>
            </a:pPr>
            <a:r>
              <a:rPr lang="en-US" sz="1150" dirty="0">
                <a:solidFill>
                  <a:srgbClr val="2B2622"/>
                </a:solidFill>
                <a:latin typeface="Calibri" pitchFamily="34" charset="0"/>
                <a:ea typeface="Calibri" pitchFamily="34" charset="-122"/>
                <a:cs typeface="Calibri" pitchFamily="34" charset="-120"/>
              </a:rPr>
              <a:t>60 console rows</a:t>
            </a:r>
            <a:endParaRPr lang="en-US" sz="1150" dirty="0"/>
          </a:p>
        </p:txBody>
      </p:sp>
      <p:sp>
        <p:nvSpPr>
          <p:cNvPr id="18" name="Shape 16"/>
          <p:cNvSpPr/>
          <p:nvPr/>
        </p:nvSpPr>
        <p:spPr>
          <a:xfrm>
            <a:off x="6566306" y="3474720"/>
            <a:ext cx="1956130" cy="420624"/>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6566306" y="3474720"/>
            <a:ext cx="1956130" cy="420624"/>
          </a:xfrm>
          <a:prstGeom prst="rect">
            <a:avLst/>
          </a:prstGeom>
          <a:noFill/>
          <a:ln/>
        </p:spPr>
        <p:txBody>
          <a:bodyPr wrap="square" lIns="0" tIns="0" rIns="0" bIns="0" rtlCol="0" anchor="ctr"/>
          <a:lstStyle/>
          <a:p>
            <a:pPr algn="ctr" indent="0" marL="0">
              <a:buNone/>
            </a:pPr>
            <a:r>
              <a:rPr lang="en-US" sz="1150" dirty="0">
                <a:solidFill>
                  <a:srgbClr val="2B2622"/>
                </a:solidFill>
                <a:latin typeface="Calibri" pitchFamily="34" charset="0"/>
                <a:ea typeface="Calibri" pitchFamily="34" charset="-122"/>
                <a:cs typeface="Calibri" pitchFamily="34" charset="-120"/>
              </a:rPr>
              <a:t>Python 3.14.6</a:t>
            </a:r>
            <a:endParaRPr lang="en-US" sz="1150" dirty="0"/>
          </a:p>
        </p:txBody>
      </p:sp>
      <p:sp>
        <p:nvSpPr>
          <p:cNvPr id="20" name="Shape 18"/>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pattern answers what, how many, where, and what is kept.</a:t>
            </a:r>
            <a:endParaRPr lang="en-US" sz="1350" dirty="0"/>
          </a:p>
        </p:txBody>
      </p:sp>
      <p:sp>
        <p:nvSpPr>
          <p:cNvPr id="22"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22</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Finding patterns without a regular expression</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phone number can be tested position by position, with no pattern language at all</a:t>
            </a:r>
            <a:endParaRPr lang="en-US" sz="1300" dirty="0"/>
          </a:p>
        </p:txBody>
      </p:sp>
      <p:sp>
        <p:nvSpPr>
          <p:cNvPr id="6" name="Text 4"/>
          <p:cNvSpPr txBox="1"/>
          <p:nvPr/>
        </p:nvSpPr>
        <p:spPr>
          <a:xfrm>
            <a:off x="457200" y="1097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is_phone_number() tests length, digits and hyphen positions by hand</a:t>
            </a:r>
            <a:endParaRPr lang="en-US" sz="1150" dirty="0"/>
          </a:p>
        </p:txBody>
      </p:sp>
      <p:sp>
        <p:nvSpPr>
          <p:cNvPr id="7" name="Shape 5"/>
          <p:cNvSpPr/>
          <p:nvPr/>
        </p:nvSpPr>
        <p:spPr>
          <a:xfrm>
            <a:off x="457200" y="1371600"/>
            <a:ext cx="8229600" cy="1042416"/>
          </a:xfrm>
          <a:prstGeom prst="roundRect">
            <a:avLst>
              <a:gd name="adj" fmla="val 8772"/>
            </a:avLst>
          </a:prstGeom>
          <a:solidFill>
            <a:srgbClr val="23272E"/>
          </a:solidFill>
          <a:ln w="12700">
            <a:solidFill>
              <a:srgbClr val="23272E"/>
            </a:solidFill>
            <a:prstDash val="solid"/>
          </a:ln>
        </p:spPr>
      </p:sp>
      <p:sp>
        <p:nvSpPr>
          <p:cNvPr id="8" name="Text 6"/>
          <p:cNvSpPr txBox="1"/>
          <p:nvPr/>
        </p:nvSpPr>
        <p:spPr>
          <a:xfrm>
            <a:off x="640080" y="1490472"/>
            <a:ext cx="7863840" cy="804672"/>
          </a:xfrm>
          <a:prstGeom prst="rect">
            <a:avLst/>
          </a:prstGeom>
          <a:noFill/>
          <a:ln/>
        </p:spPr>
        <p:txBody>
          <a:bodyPr wrap="square" lIns="0" tIns="0" rIns="0" bIns="0" rtlCol="0" anchor="t"/>
          <a:lstStyle/>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message = 'Call me at 415-555-1011 tomorrow. 415-555-9999 is my office.'</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is_phone_number = lambda t: len(t)==12 and t[:3].isdecimal() and t[3]=='-' and t[4:7].isdecimal() and t[7]=='-' and t[8:].isdecimal()</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[message[i:i+12] for i in range(len(message)) if is_phone_number(message[i:i+12])]</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['415-555-1011', '415-555-9999']</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is_phone_number('Moshi moshi')</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False</a:t>
            </a:r>
            <a:endParaRPr lang="en-US" sz="710" dirty="0"/>
          </a:p>
        </p:txBody>
      </p:sp>
      <p:sp>
        <p:nvSpPr>
          <p:cNvPr id="9" name="Text 7"/>
          <p:cNvSpPr txBox="1"/>
          <p:nvPr/>
        </p:nvSpPr>
        <p:spPr>
          <a:xfrm>
            <a:off x="457200" y="2432304"/>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2761488"/>
            <a:ext cx="8229600" cy="1764792"/>
          </a:xfrm>
          <a:prstGeom prst="roundRect">
            <a:avLst>
              <a:gd name="adj" fmla="val 5181"/>
            </a:avLst>
          </a:prstGeom>
          <a:solidFill>
            <a:srgbClr val="F2ECE1"/>
          </a:solidFill>
          <a:ln w="12700">
            <a:solidFill>
              <a:srgbClr val="F2ECE1"/>
            </a:solidFill>
            <a:prstDash val="solid"/>
          </a:ln>
        </p:spPr>
      </p:sp>
      <p:sp>
        <p:nvSpPr>
          <p:cNvPr id="11" name="Text 9"/>
          <p:cNvSpPr txBox="1"/>
          <p:nvPr/>
        </p:nvSpPr>
        <p:spPr>
          <a:xfrm>
            <a:off x="640080" y="2880360"/>
            <a:ext cx="786384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Reading is_phone_number</a:t>
            </a:r>
            <a:endParaRPr lang="en-US" sz="1600" dirty="0"/>
          </a:p>
        </p:txBody>
      </p:sp>
      <p:sp>
        <p:nvSpPr>
          <p:cNvPr id="12" name="Text 10"/>
          <p:cNvSpPr txBox="1"/>
          <p:nvPr/>
        </p:nvSpPr>
        <p:spPr>
          <a:xfrm>
            <a:off x="640080" y="3264408"/>
            <a:ext cx="7863840" cy="112471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The function tests that the text is exactly 12 characters long, that positions 0 to 2, 4 to 6 and 8 to 11 are each digits, and that positions 3 and 7 are each a hyphen - the same shape a regular expression will soon describe in one line instead of five.</a:t>
            </a:r>
            <a:endParaRPr lang="en-US" sz="1150" dirty="0"/>
          </a:p>
        </p:txBody>
      </p:sp>
      <p:sp>
        <p:nvSpPr>
          <p:cNvPr id="13" name="Shape 11"/>
          <p:cNvSpPr/>
          <p:nvPr/>
        </p:nvSpPr>
        <p:spPr>
          <a:xfrm>
            <a:off x="457200" y="4636008"/>
            <a:ext cx="91440" cy="310896"/>
          </a:xfrm>
          <a:prstGeom prst="rect">
            <a:avLst/>
          </a:prstGeom>
          <a:solidFill>
            <a:srgbClr val="D97A14"/>
          </a:solidFill>
          <a:ln w="12700">
            <a:solidFill>
              <a:srgbClr val="D97A14"/>
            </a:solidFill>
            <a:prstDash val="solid"/>
          </a:ln>
        </p:spPr>
      </p:sp>
      <p:sp>
        <p:nvSpPr>
          <p:cNvPr id="14" name="Text 1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hand-written check like this is exactly what a pattern will replace.</a:t>
            </a:r>
            <a:endParaRPr lang="en-US" sz="1350" dirty="0"/>
          </a:p>
        </p:txBody>
      </p:sp>
      <p:sp>
        <p:nvSpPr>
          <p:cNvPr id="15"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22</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Pattern objects: compile, then search</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re.compile() builds a Pattern once; its search() returns a Match object or None</a:t>
            </a:r>
            <a:endParaRPr lang="en-US" sz="1300" dirty="0"/>
          </a:p>
        </p:txBody>
      </p:sp>
      <p:sp>
        <p:nvSpPr>
          <p:cNvPr id="6" name="Text 4"/>
          <p:cNvSpPr txBox="1"/>
          <p:nvPr/>
        </p:nvSpPr>
        <p:spPr>
          <a:xfrm>
            <a:off x="457200" y="1097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compile() builds a Pattern object; search() returns a Match or None</a:t>
            </a:r>
            <a:endParaRPr lang="en-US" sz="1150" dirty="0"/>
          </a:p>
        </p:txBody>
      </p:sp>
      <p:sp>
        <p:nvSpPr>
          <p:cNvPr id="7" name="Shape 5"/>
          <p:cNvSpPr/>
          <p:nvPr/>
        </p:nvSpPr>
        <p:spPr>
          <a:xfrm>
            <a:off x="457200" y="1371600"/>
            <a:ext cx="8229600" cy="2075688"/>
          </a:xfrm>
          <a:prstGeom prst="roundRect">
            <a:avLst>
              <a:gd name="adj" fmla="val 4405"/>
            </a:avLst>
          </a:prstGeom>
          <a:solidFill>
            <a:srgbClr val="23272E"/>
          </a:solidFill>
          <a:ln w="12700">
            <a:solidFill>
              <a:srgbClr val="23272E"/>
            </a:solidFill>
            <a:prstDash val="solid"/>
          </a:ln>
        </p:spPr>
      </p:sp>
      <p:sp>
        <p:nvSpPr>
          <p:cNvPr id="8" name="Text 6"/>
          <p:cNvSpPr txBox="1"/>
          <p:nvPr/>
        </p:nvSpPr>
        <p:spPr>
          <a:xfrm>
            <a:off x="640080" y="1490472"/>
            <a:ext cx="7863840" cy="1837944"/>
          </a:xfrm>
          <a:prstGeom prst="rect">
            <a:avLst/>
          </a:prstGeom>
          <a:noFill/>
          <a:ln/>
        </p:spPr>
        <p:txBody>
          <a:bodyPr wrap="square" lIns="0" tIns="0" rIns="0" bIns="0" rtlCol="0" anchor="t"/>
          <a:lstStyle/>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import re</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phoneNumRegex = re.compile(r'\d{3}-\d{3}-\d{4}')</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mo = phoneNumRegex.search('My number is 415-555-4242.')</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mo.group()</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'415-555-4242'</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mo.span()</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(13, 25)</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phoneNumRegex.search('no digits here')</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re.match('c', 'abcdef')</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re.search('c', 'abcdef').span()</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(2, 3)</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re.fullmatch('p.*n', 'python').span()</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(0, 6)</a:t>
            </a:r>
            <a:endParaRPr lang="en-US" sz="800" dirty="0"/>
          </a:p>
        </p:txBody>
      </p:sp>
      <p:sp>
        <p:nvSpPr>
          <p:cNvPr id="9" name="Text 7"/>
          <p:cNvSpPr txBox="1"/>
          <p:nvPr/>
        </p:nvSpPr>
        <p:spPr>
          <a:xfrm>
            <a:off x="457200" y="346557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Text 8"/>
          <p:cNvSpPr txBox="1"/>
          <p:nvPr/>
        </p:nvSpPr>
        <p:spPr>
          <a:xfrm>
            <a:off x="457200" y="3794760"/>
            <a:ext cx="8229600" cy="731520"/>
          </a:xfrm>
          <a:prstGeom prst="rect">
            <a:avLst/>
          </a:prstGeom>
          <a:noFill/>
          <a:ln/>
        </p:spPr>
        <p:txBody>
          <a:bodyPr wrap="square" lIns="0" tIns="0" rIns="0" bIns="0" rtlCol="0" anchor="t"/>
          <a:lstStyle/>
          <a:p>
            <a:pPr algn="l" indent="0" marL="0">
              <a:buNone/>
            </a:pPr>
            <a:r>
              <a:rPr lang="en-US" sz="1150" dirty="0">
                <a:solidFill>
                  <a:srgbClr val="2B2622"/>
                </a:solidFill>
                <a:latin typeface="Calibri" pitchFamily="34" charset="0"/>
                <a:ea typeface="Calibri" pitchFamily="34" charset="-122"/>
                <a:cs typeface="Calibri" pitchFamily="34" charset="-120"/>
              </a:rPr>
              <a:t>mo.group() returns the whole matched text and mo.span() returns the (start, end) indices; a search that fails returns None rather than raising, so testing a Match object's truth is safe. match() anchors only at the start of the string and fullmatch() requires the whole string.</a:t>
            </a:r>
            <a:endParaRPr lang="en-US" sz="1150" dirty="0"/>
          </a:p>
        </p:txBody>
      </p:sp>
      <p:sp>
        <p:nvSpPr>
          <p:cNvPr id="11" name="Shape 9"/>
          <p:cNvSpPr/>
          <p:nvPr/>
        </p:nvSpPr>
        <p:spPr>
          <a:xfrm>
            <a:off x="457200" y="4636008"/>
            <a:ext cx="91440" cy="310896"/>
          </a:xfrm>
          <a:prstGeom prst="rect">
            <a:avLst/>
          </a:prstGeom>
          <a:solidFill>
            <a:srgbClr val="D97A14"/>
          </a:solidFill>
          <a:ln w="12700">
            <a:solidFill>
              <a:srgbClr val="D97A14"/>
            </a:solidFill>
            <a:prstDash val="solid"/>
          </a:ln>
        </p:spPr>
      </p:sp>
      <p:sp>
        <p:nvSpPr>
          <p:cNvPr id="12" name="Text 1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search() returns a Match or None; it never raises on no match.</a:t>
            </a:r>
            <a:endParaRPr lang="en-US" sz="1350" dirty="0"/>
          </a:p>
        </p:txBody>
      </p:sp>
      <p:sp>
        <p:nvSpPr>
          <p:cNvPr id="13" name="Text 1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22</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A 1968 paper is why compile() comes before search()</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1968-06</a:t>
            </a:r>
            <a:endParaRPr lang="en-US" sz="1300" dirty="0"/>
          </a:p>
        </p:txBody>
      </p:sp>
      <p:sp>
        <p:nvSpPr>
          <p:cNvPr id="6" name="Shape 4"/>
          <p:cNvSpPr/>
          <p:nvPr/>
        </p:nvSpPr>
        <p:spPr>
          <a:xfrm>
            <a:off x="457200" y="1371600"/>
            <a:ext cx="4114800" cy="2560320"/>
          </a:xfrm>
          <a:prstGeom prst="roundRect">
            <a:avLst>
              <a:gd name="adj" fmla="val 3571"/>
            </a:avLst>
          </a:prstGeom>
          <a:solidFill>
            <a:srgbClr val="F2ECE1"/>
          </a:solidFill>
          <a:ln w="12700">
            <a:solidFill>
              <a:srgbClr val="F2ECE1"/>
            </a:solidFill>
            <a:prstDash val="solid"/>
          </a:ln>
        </p:spPr>
      </p:sp>
      <p:sp>
        <p:nvSpPr>
          <p:cNvPr id="7" name="Text 5"/>
          <p:cNvSpPr txBox="1"/>
          <p:nvPr/>
        </p:nvSpPr>
        <p:spPr>
          <a:xfrm>
            <a:off x="640080" y="1490472"/>
            <a:ext cx="374904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Ken Thompson, CACM 1968</a:t>
            </a:r>
            <a:endParaRPr lang="en-US" sz="1600" dirty="0"/>
          </a:p>
        </p:txBody>
      </p:sp>
      <p:sp>
        <p:nvSpPr>
          <p:cNvPr id="8" name="Text 6"/>
          <p:cNvSpPr txBox="1"/>
          <p:nvPr/>
        </p:nvSpPr>
        <p:spPr>
          <a:xfrm>
            <a:off x="640080" y="1874520"/>
            <a:ext cx="3749040" cy="1920240"/>
          </a:xfrm>
          <a:prstGeom prst="rect">
            <a:avLst/>
          </a:prstGeom>
          <a:noFill/>
          <a:ln/>
        </p:spPr>
        <p:txBody>
          <a:bodyPr wrap="square" lIns="0" tIns="0" rIns="0" bIns="0" rtlCol="0" anchor="t"/>
          <a:lstStyle/>
          <a:p>
            <a:pPr indent="0" marL="0">
              <a:buNone/>
            </a:pPr>
            <a:r>
              <a:rPr lang="en-US" sz="1250" dirty="0">
                <a:solidFill>
                  <a:srgbClr val="2B2622"/>
                </a:solidFill>
                <a:latin typeface="Calibri" pitchFamily="34" charset="0"/>
                <a:ea typeface="Calibri" pitchFamily="34" charset="-122"/>
                <a:cs typeface="Calibri" pitchFamily="34" charset="-120"/>
              </a:rPr>
              <a:t>'Regular Expression Search Algorithm', Communications of the ACM, volume 11, number 6, June 1968: compile a pattern once into a form that simulates an automaton, then search text against that compiled form.</a:t>
            </a:r>
            <a:endParaRPr lang="en-US" sz="1250" dirty="0"/>
          </a:p>
        </p:txBody>
      </p:sp>
      <p:sp>
        <p:nvSpPr>
          <p:cNvPr id="9" name="Shape 7"/>
          <p:cNvSpPr/>
          <p:nvPr/>
        </p:nvSpPr>
        <p:spPr>
          <a:xfrm>
            <a:off x="4846320" y="1627632"/>
            <a:ext cx="128016" cy="128016"/>
          </a:xfrm>
          <a:prstGeom prst="diamond">
            <a:avLst/>
          </a:prstGeom>
          <a:solidFill>
            <a:srgbClr val="D97A14"/>
          </a:solidFill>
          <a:ln w="12700">
            <a:solidFill>
              <a:srgbClr val="D97A14"/>
            </a:solidFill>
            <a:prstDash val="solid"/>
          </a:ln>
        </p:spPr>
      </p:sp>
      <p:sp>
        <p:nvSpPr>
          <p:cNvPr id="10" name="Text 8"/>
          <p:cNvSpPr txBox="1"/>
          <p:nvPr/>
        </p:nvSpPr>
        <p:spPr>
          <a:xfrm>
            <a:off x="5120640" y="137160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June 1968: CACM 11(6), article 12736, Ken Thompson</a:t>
            </a:r>
            <a:endParaRPr lang="en-US" sz="1200" dirty="0"/>
          </a:p>
        </p:txBody>
      </p:sp>
      <p:sp>
        <p:nvSpPr>
          <p:cNvPr id="11" name="Shape 9"/>
          <p:cNvSpPr/>
          <p:nvPr/>
        </p:nvSpPr>
        <p:spPr>
          <a:xfrm>
            <a:off x="4846320" y="2267712"/>
            <a:ext cx="128016" cy="128016"/>
          </a:xfrm>
          <a:prstGeom prst="diamond">
            <a:avLst/>
          </a:prstGeom>
          <a:solidFill>
            <a:srgbClr val="D97A14"/>
          </a:solidFill>
          <a:ln w="12700">
            <a:solidFill>
              <a:srgbClr val="D97A14"/>
            </a:solidFill>
            <a:prstDash val="solid"/>
          </a:ln>
        </p:spPr>
      </p:sp>
      <p:sp>
        <p:nvSpPr>
          <p:cNvPr id="12" name="Text 10"/>
          <p:cNvSpPr txBox="1"/>
          <p:nvPr/>
        </p:nvSpPr>
        <p:spPr>
          <a:xfrm>
            <a:off x="5120640" y="201168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Built first into the QED editor at Bell Labs</a:t>
            </a:r>
            <a:endParaRPr lang="en-US" sz="1200" dirty="0"/>
          </a:p>
        </p:txBody>
      </p:sp>
      <p:sp>
        <p:nvSpPr>
          <p:cNvPr id="13" name="Shape 11"/>
          <p:cNvSpPr/>
          <p:nvPr/>
        </p:nvSpPr>
        <p:spPr>
          <a:xfrm>
            <a:off x="4846320" y="2907792"/>
            <a:ext cx="128016" cy="128016"/>
          </a:xfrm>
          <a:prstGeom prst="diamond">
            <a:avLst/>
          </a:prstGeom>
          <a:solidFill>
            <a:srgbClr val="D97A14"/>
          </a:solidFill>
          <a:ln w="12700">
            <a:solidFill>
              <a:srgbClr val="D97A14"/>
            </a:solidFill>
            <a:prstDash val="solid"/>
          </a:ln>
        </p:spPr>
      </p:sp>
      <p:sp>
        <p:nvSpPr>
          <p:cNvPr id="14" name="Text 12"/>
          <p:cNvSpPr txBox="1"/>
          <p:nvPr/>
        </p:nvSpPr>
        <p:spPr>
          <a:xfrm>
            <a:off x="5120640" y="265176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US Patent 3,568,156 for the technique</a:t>
            </a:r>
            <a:endParaRPr lang="en-US" sz="1200" dirty="0"/>
          </a:p>
        </p:txBody>
      </p:sp>
      <p:sp>
        <p:nvSpPr>
          <p:cNvPr id="15" name="Shape 13"/>
          <p:cNvSpPr/>
          <p:nvPr/>
        </p:nvSpPr>
        <p:spPr>
          <a:xfrm>
            <a:off x="4846320" y="3547872"/>
            <a:ext cx="128016" cy="128016"/>
          </a:xfrm>
          <a:prstGeom prst="diamond">
            <a:avLst/>
          </a:prstGeom>
          <a:solidFill>
            <a:srgbClr val="D97A14"/>
          </a:solidFill>
          <a:ln w="12700">
            <a:solidFill>
              <a:srgbClr val="D97A14"/>
            </a:solidFill>
            <a:prstDash val="solid"/>
          </a:ln>
        </p:spPr>
      </p:sp>
      <p:sp>
        <p:nvSpPr>
          <p:cNvPr id="16" name="Text 14"/>
          <p:cNvSpPr txBox="1"/>
          <p:nvPr/>
        </p:nvSpPr>
        <p:spPr>
          <a:xfrm>
            <a:off x="5120640" y="329184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re.compile() then search() is the same two steps</a:t>
            </a:r>
            <a:endParaRPr lang="en-US" sz="1200" dirty="0"/>
          </a:p>
        </p:txBody>
      </p:sp>
      <p:sp>
        <p:nvSpPr>
          <p:cNvPr id="17" name="Shape 15"/>
          <p:cNvSpPr/>
          <p:nvPr/>
        </p:nvSpPr>
        <p:spPr>
          <a:xfrm>
            <a:off x="457200" y="4041648"/>
            <a:ext cx="2449129" cy="365760"/>
          </a:xfrm>
          <a:prstGeom prst="roundRect">
            <a:avLst>
              <a:gd name="adj" fmla="val 50000"/>
            </a:avLst>
          </a:prstGeom>
          <a:solidFill>
            <a:srgbClr val="EFE9DC"/>
          </a:solidFill>
          <a:ln w="9525">
            <a:solidFill>
              <a:srgbClr val="DFD6C7"/>
            </a:solidFill>
            <a:prstDash val="solid"/>
          </a:ln>
        </p:spPr>
      </p:sp>
      <p:sp>
        <p:nvSpPr>
          <p:cNvPr id="18" name="Text 16"/>
          <p:cNvSpPr txBox="1"/>
          <p:nvPr/>
        </p:nvSpPr>
        <p:spPr>
          <a:xfrm>
            <a:off x="548640"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Ken Thompson</a:t>
            </a:r>
            <a:endParaRPr lang="en-US" sz="750" dirty="0"/>
          </a:p>
        </p:txBody>
      </p:sp>
      <p:sp>
        <p:nvSpPr>
          <p:cNvPr id="19" name="Shape 17"/>
          <p:cNvSpPr/>
          <p:nvPr/>
        </p:nvSpPr>
        <p:spPr>
          <a:xfrm>
            <a:off x="3016057" y="4041648"/>
            <a:ext cx="2449129" cy="365760"/>
          </a:xfrm>
          <a:prstGeom prst="roundRect">
            <a:avLst>
              <a:gd name="adj" fmla="val 50000"/>
            </a:avLst>
          </a:prstGeom>
          <a:solidFill>
            <a:srgbClr val="EFE9DC"/>
          </a:solidFill>
          <a:ln w="9525">
            <a:solidFill>
              <a:srgbClr val="DFD6C7"/>
            </a:solidFill>
            <a:prstDash val="solid"/>
          </a:ln>
        </p:spPr>
      </p:sp>
      <p:sp>
        <p:nvSpPr>
          <p:cNvPr id="20" name="Text 18"/>
          <p:cNvSpPr txBox="1"/>
          <p:nvPr/>
        </p:nvSpPr>
        <p:spPr>
          <a:xfrm>
            <a:off x="3107497"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Communications of the ACM, volume 11, …</a:t>
            </a:r>
            <a:endParaRPr lang="en-US" sz="750" dirty="0"/>
          </a:p>
        </p:txBody>
      </p:sp>
      <p:sp>
        <p:nvSpPr>
          <p:cNvPr id="21" name="Shape 19"/>
          <p:cNvSpPr/>
          <p:nvPr/>
        </p:nvSpPr>
        <p:spPr>
          <a:xfrm>
            <a:off x="5574914" y="4041648"/>
            <a:ext cx="1343071" cy="365760"/>
          </a:xfrm>
          <a:prstGeom prst="roundRect">
            <a:avLst>
              <a:gd name="adj" fmla="val 50000"/>
            </a:avLst>
          </a:prstGeom>
          <a:solidFill>
            <a:srgbClr val="EFE9DC"/>
          </a:solidFill>
          <a:ln w="9525">
            <a:solidFill>
              <a:srgbClr val="DFD6C7"/>
            </a:solidFill>
            <a:prstDash val="solid"/>
          </a:ln>
        </p:spPr>
      </p:sp>
      <p:sp>
        <p:nvSpPr>
          <p:cNvPr id="22" name="Text 20"/>
          <p:cNvSpPr txBox="1"/>
          <p:nvPr/>
        </p:nvSpPr>
        <p:spPr>
          <a:xfrm>
            <a:off x="5666354"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1968-06</a:t>
            </a:r>
            <a:endParaRPr lang="en-US" sz="750" dirty="0"/>
          </a:p>
        </p:txBody>
      </p:sp>
      <p:sp>
        <p:nvSpPr>
          <p:cNvPr id="23" name="Shape 21"/>
          <p:cNvSpPr/>
          <p:nvPr/>
        </p:nvSpPr>
        <p:spPr>
          <a:xfrm>
            <a:off x="7027713" y="4041648"/>
            <a:ext cx="1659087" cy="365760"/>
          </a:xfrm>
          <a:prstGeom prst="roundRect">
            <a:avLst>
              <a:gd name="adj" fmla="val 50000"/>
            </a:avLst>
          </a:prstGeom>
          <a:solidFill>
            <a:srgbClr val="2F6D62"/>
          </a:solidFill>
          <a:ln w="9525">
            <a:solidFill>
              <a:srgbClr val="2F6D62"/>
            </a:solidFill>
            <a:prstDash val="solid"/>
          </a:ln>
        </p:spPr>
      </p:sp>
      <p:sp>
        <p:nvSpPr>
          <p:cNvPr id="24" name="Text 22"/>
          <p:cNvSpPr txBox="1"/>
          <p:nvPr/>
        </p:nvSpPr>
        <p:spPr>
          <a:xfrm>
            <a:off x="7119153" y="404164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cacmb4.acm.org</a:t>
            </a:r>
            <a:endParaRPr lang="en-US" sz="750" dirty="0"/>
          </a:p>
        </p:txBody>
      </p:sp>
      <p:sp>
        <p:nvSpPr>
          <p:cNvPr id="25" name="Shape 23"/>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re.compile() then search() is Ken Thompson's 1968 two-step algorithm.</a:t>
            </a:r>
            <a:endParaRPr lang="en-US" sz="1350" dirty="0"/>
          </a:p>
        </p:txBody>
      </p:sp>
      <p:sp>
        <p:nvSpPr>
          <p:cNvPr id="27"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22</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company's own engine, still runs under re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1999-10-24</a:t>
            </a:r>
            <a:endParaRPr lang="en-US" sz="1300" dirty="0"/>
          </a:p>
        </p:txBody>
      </p:sp>
      <p:sp>
        <p:nvSpPr>
          <p:cNvPr id="6" name="Shape 4"/>
          <p:cNvSpPr/>
          <p:nvPr/>
        </p:nvSpPr>
        <p:spPr>
          <a:xfrm>
            <a:off x="457200" y="1371600"/>
            <a:ext cx="4206240" cy="2651760"/>
          </a:xfrm>
          <a:prstGeom prst="roundRect">
            <a:avLst>
              <a:gd name="adj" fmla="val 3448"/>
            </a:avLst>
          </a:prstGeom>
          <a:solidFill>
            <a:srgbClr val="F2ECE1"/>
          </a:solidFill>
          <a:ln w="12700">
            <a:solidFill>
              <a:srgbClr val="F2ECE1"/>
            </a:solidFill>
            <a:prstDash val="solid"/>
          </a:ln>
        </p:spPr>
      </p:sp>
      <p:sp>
        <p:nvSpPr>
          <p:cNvPr id="7" name="Text 5"/>
          <p:cNvSpPr txBox="1"/>
          <p:nvPr/>
        </p:nvSpPr>
        <p:spPr>
          <a:xfrm>
            <a:off x="640080" y="1490472"/>
            <a:ext cx="384048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Secret Labs AB, _sre.c</a:t>
            </a:r>
            <a:endParaRPr lang="en-US" sz="1600" dirty="0"/>
          </a:p>
        </p:txBody>
      </p:sp>
      <p:sp>
        <p:nvSpPr>
          <p:cNvPr id="8" name="Text 6"/>
          <p:cNvSpPr txBox="1"/>
          <p:nvPr/>
        </p:nvSpPr>
        <p:spPr>
          <a:xfrm>
            <a:off x="640080" y="1874520"/>
            <a:ext cx="3840480" cy="2011680"/>
          </a:xfrm>
          <a:prstGeom prst="rect">
            <a:avLst/>
          </a:prstGeom>
          <a:noFill/>
          <a:ln/>
        </p:spPr>
        <p:txBody>
          <a:bodyPr wrap="square" lIns="0" tIns="0" rIns="0" bIns="0" rtlCol="0" anchor="t"/>
          <a:lstStyle/>
          <a:p>
            <a:pPr indent="0" marL="0">
              <a:buNone/>
            </a:pPr>
            <a:r>
              <a:rPr lang="en-US" sz="1250" dirty="0">
                <a:solidFill>
                  <a:srgbClr val="2B2622"/>
                </a:solidFill>
                <a:latin typeface="Calibri" pitchFamily="34" charset="0"/>
                <a:ea typeface="Calibri" pitchFamily="34" charset="-122"/>
                <a:cs typeface="Calibri" pitchFamily="34" charset="-120"/>
              </a:rPr>
              <a:t>Python's C source behind every Match object carries a change log opening 24 October 1999, crediting 'fl' and Secret Labs AB, reachable at info@pythonware.com, with Hewlett-Packard funding its move into Python 1.6.</a:t>
            </a:r>
            <a:endParaRPr lang="en-US" sz="1250" dirty="0"/>
          </a:p>
        </p:txBody>
      </p:sp>
      <p:sp>
        <p:nvSpPr>
          <p:cNvPr id="9" name="Shape 7"/>
          <p:cNvSpPr/>
          <p:nvPr/>
        </p:nvSpPr>
        <p:spPr>
          <a:xfrm>
            <a:off x="4937760" y="1639062"/>
            <a:ext cx="128016" cy="128016"/>
          </a:xfrm>
          <a:prstGeom prst="diamond">
            <a:avLst/>
          </a:prstGeom>
          <a:solidFill>
            <a:srgbClr val="D97A14"/>
          </a:solidFill>
          <a:ln w="12700">
            <a:solidFill>
              <a:srgbClr val="D97A14"/>
            </a:solidFill>
            <a:prstDash val="solid"/>
          </a:ln>
        </p:spPr>
      </p:sp>
      <p:sp>
        <p:nvSpPr>
          <p:cNvPr id="10" name="Text 8"/>
          <p:cNvSpPr txBox="1"/>
          <p:nvPr/>
        </p:nvSpPr>
        <p:spPr>
          <a:xfrm>
            <a:off x="5212080" y="1371600"/>
            <a:ext cx="3474720" cy="66294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24 Oct 1999: the _sre.c history log begins</a:t>
            </a:r>
            <a:endParaRPr lang="en-US" sz="1200" dirty="0"/>
          </a:p>
        </p:txBody>
      </p:sp>
      <p:sp>
        <p:nvSpPr>
          <p:cNvPr id="11" name="Shape 9"/>
          <p:cNvSpPr/>
          <p:nvPr/>
        </p:nvSpPr>
        <p:spPr>
          <a:xfrm>
            <a:off x="4937760" y="2302002"/>
            <a:ext cx="128016" cy="128016"/>
          </a:xfrm>
          <a:prstGeom prst="diamond">
            <a:avLst/>
          </a:prstGeom>
          <a:solidFill>
            <a:srgbClr val="D97A14"/>
          </a:solidFill>
          <a:ln w="12700">
            <a:solidFill>
              <a:srgbClr val="D97A14"/>
            </a:solidFill>
            <a:prstDash val="solid"/>
          </a:ln>
        </p:spPr>
      </p:sp>
      <p:sp>
        <p:nvSpPr>
          <p:cNvPr id="12" name="Text 10"/>
          <p:cNvSpPr txBox="1"/>
          <p:nvPr/>
        </p:nvSpPr>
        <p:spPr>
          <a:xfrm>
            <a:off x="5212080" y="2034540"/>
            <a:ext cx="3474720" cy="66294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Secret Labs AB holds copyright, 1997 to 2001</a:t>
            </a:r>
            <a:endParaRPr lang="en-US" sz="1200" dirty="0"/>
          </a:p>
        </p:txBody>
      </p:sp>
      <p:sp>
        <p:nvSpPr>
          <p:cNvPr id="13" name="Shape 11"/>
          <p:cNvSpPr/>
          <p:nvPr/>
        </p:nvSpPr>
        <p:spPr>
          <a:xfrm>
            <a:off x="4937760" y="2964942"/>
            <a:ext cx="128016" cy="128016"/>
          </a:xfrm>
          <a:prstGeom prst="diamond">
            <a:avLst/>
          </a:prstGeom>
          <a:solidFill>
            <a:srgbClr val="D97A14"/>
          </a:solidFill>
          <a:ln w="12700">
            <a:solidFill>
              <a:srgbClr val="D97A14"/>
            </a:solidFill>
            <a:prstDash val="solid"/>
          </a:ln>
        </p:spPr>
      </p:sp>
      <p:sp>
        <p:nvSpPr>
          <p:cNvPr id="14" name="Text 12"/>
          <p:cNvSpPr txBox="1"/>
          <p:nvPr/>
        </p:nvSpPr>
        <p:spPr>
          <a:xfrm>
            <a:off x="5212080" y="2697480"/>
            <a:ext cx="3474720" cy="66294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Martin von Loewis adds wide character support</a:t>
            </a:r>
            <a:endParaRPr lang="en-US" sz="1200" dirty="0"/>
          </a:p>
        </p:txBody>
      </p:sp>
      <p:sp>
        <p:nvSpPr>
          <p:cNvPr id="15" name="Shape 13"/>
          <p:cNvSpPr/>
          <p:nvPr/>
        </p:nvSpPr>
        <p:spPr>
          <a:xfrm>
            <a:off x="4937760" y="3627882"/>
            <a:ext cx="128016" cy="128016"/>
          </a:xfrm>
          <a:prstGeom prst="diamond">
            <a:avLst/>
          </a:prstGeom>
          <a:solidFill>
            <a:srgbClr val="D97A14"/>
          </a:solidFill>
          <a:ln w="12700">
            <a:solidFill>
              <a:srgbClr val="D97A14"/>
            </a:solidFill>
            <a:prstDash val="solid"/>
          </a:ln>
        </p:spPr>
      </p:sp>
      <p:sp>
        <p:nvSpPr>
          <p:cNvPr id="16" name="Text 14"/>
          <p:cNvSpPr txBox="1"/>
          <p:nvPr/>
        </p:nvSpPr>
        <p:spPr>
          <a:xfrm>
            <a:off x="5212080" y="3360420"/>
            <a:ext cx="3474720" cy="66294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mo.group() and mo.span() reach that same engine</a:t>
            </a:r>
            <a:endParaRPr lang="en-US" sz="1200" dirty="0"/>
          </a:p>
        </p:txBody>
      </p:sp>
      <p:sp>
        <p:nvSpPr>
          <p:cNvPr id="17" name="Shape 15"/>
          <p:cNvSpPr/>
          <p:nvPr/>
        </p:nvSpPr>
        <p:spPr>
          <a:xfrm>
            <a:off x="457200" y="4041648"/>
            <a:ext cx="2449129" cy="365760"/>
          </a:xfrm>
          <a:prstGeom prst="roundRect">
            <a:avLst>
              <a:gd name="adj" fmla="val 50000"/>
            </a:avLst>
          </a:prstGeom>
          <a:solidFill>
            <a:srgbClr val="EFE9DC"/>
          </a:solidFill>
          <a:ln w="9525">
            <a:solidFill>
              <a:srgbClr val="DFD6C7"/>
            </a:solidFill>
            <a:prstDash val="solid"/>
          </a:ln>
        </p:spPr>
      </p:sp>
      <p:sp>
        <p:nvSpPr>
          <p:cNvPr id="18" name="Text 16"/>
          <p:cNvSpPr txBox="1"/>
          <p:nvPr/>
        </p:nvSpPr>
        <p:spPr>
          <a:xfrm>
            <a:off x="548640"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Secret Labs AB (contact info@pythonwar…</a:t>
            </a:r>
            <a:endParaRPr lang="en-US" sz="750" dirty="0"/>
          </a:p>
        </p:txBody>
      </p:sp>
      <p:sp>
        <p:nvSpPr>
          <p:cNvPr id="19" name="Shape 17"/>
          <p:cNvSpPr/>
          <p:nvPr/>
        </p:nvSpPr>
        <p:spPr>
          <a:xfrm>
            <a:off x="3016057" y="4041648"/>
            <a:ext cx="2449129" cy="365760"/>
          </a:xfrm>
          <a:prstGeom prst="roundRect">
            <a:avLst>
              <a:gd name="adj" fmla="val 50000"/>
            </a:avLst>
          </a:prstGeom>
          <a:solidFill>
            <a:srgbClr val="EFE9DC"/>
          </a:solidFill>
          <a:ln w="9525">
            <a:solidFill>
              <a:srgbClr val="DFD6C7"/>
            </a:solidFill>
            <a:prstDash val="solid"/>
          </a:ln>
        </p:spPr>
      </p:sp>
      <p:sp>
        <p:nvSpPr>
          <p:cNvPr id="20" name="Text 18"/>
          <p:cNvSpPr txBox="1"/>
          <p:nvPr/>
        </p:nvSpPr>
        <p:spPr>
          <a:xfrm>
            <a:off x="3107497"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Sweden, by way of Python's own _sre.c …</a:t>
            </a:r>
            <a:endParaRPr lang="en-US" sz="750" dirty="0"/>
          </a:p>
        </p:txBody>
      </p:sp>
      <p:sp>
        <p:nvSpPr>
          <p:cNvPr id="21" name="Shape 19"/>
          <p:cNvSpPr/>
          <p:nvPr/>
        </p:nvSpPr>
        <p:spPr>
          <a:xfrm>
            <a:off x="5574914" y="4041648"/>
            <a:ext cx="1343071" cy="365760"/>
          </a:xfrm>
          <a:prstGeom prst="roundRect">
            <a:avLst>
              <a:gd name="adj" fmla="val 50000"/>
            </a:avLst>
          </a:prstGeom>
          <a:solidFill>
            <a:srgbClr val="EFE9DC"/>
          </a:solidFill>
          <a:ln w="9525">
            <a:solidFill>
              <a:srgbClr val="DFD6C7"/>
            </a:solidFill>
            <a:prstDash val="solid"/>
          </a:ln>
        </p:spPr>
      </p:sp>
      <p:sp>
        <p:nvSpPr>
          <p:cNvPr id="22" name="Text 20"/>
          <p:cNvSpPr txBox="1"/>
          <p:nvPr/>
        </p:nvSpPr>
        <p:spPr>
          <a:xfrm>
            <a:off x="5666354"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1999-10-24</a:t>
            </a:r>
            <a:endParaRPr lang="en-US" sz="750" dirty="0"/>
          </a:p>
        </p:txBody>
      </p:sp>
      <p:sp>
        <p:nvSpPr>
          <p:cNvPr id="23" name="Shape 21"/>
          <p:cNvSpPr/>
          <p:nvPr/>
        </p:nvSpPr>
        <p:spPr>
          <a:xfrm>
            <a:off x="7027713" y="4041648"/>
            <a:ext cx="1659087" cy="365760"/>
          </a:xfrm>
          <a:prstGeom prst="roundRect">
            <a:avLst>
              <a:gd name="adj" fmla="val 50000"/>
            </a:avLst>
          </a:prstGeom>
          <a:solidFill>
            <a:srgbClr val="2F6D62"/>
          </a:solidFill>
          <a:ln w="9525">
            <a:solidFill>
              <a:srgbClr val="2F6D62"/>
            </a:solidFill>
            <a:prstDash val="solid"/>
          </a:ln>
        </p:spPr>
      </p:sp>
      <p:sp>
        <p:nvSpPr>
          <p:cNvPr id="24" name="Text 22"/>
          <p:cNvSpPr txBox="1"/>
          <p:nvPr/>
        </p:nvSpPr>
        <p:spPr>
          <a:xfrm>
            <a:off x="7119153" y="404164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chromium.googlesource.…</a:t>
            </a:r>
            <a:endParaRPr lang="en-US" sz="750" dirty="0"/>
          </a:p>
        </p:txBody>
      </p:sp>
      <p:sp>
        <p:nvSpPr>
          <p:cNvPr id="25" name="Shape 23"/>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mo.group() and mo.span() reach a C engine logged since 1999.</a:t>
            </a:r>
            <a:endParaRPr lang="en-US" sz="1350" dirty="0"/>
          </a:p>
        </p:txBody>
      </p:sp>
      <p:sp>
        <p:nvSpPr>
          <p:cNvPr id="27"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22</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Grouping: parentheses, the pipe, and names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Parentheses number a group; the pipe offers alternatives; (?P&lt;name&gt;...) names a group</a:t>
            </a:r>
            <a:endParaRPr lang="en-US" sz="1300" dirty="0"/>
          </a:p>
        </p:txBody>
      </p:sp>
      <p:sp>
        <p:nvSpPr>
          <p:cNvPr id="6" name="Text 4"/>
          <p:cNvSpPr txBox="1"/>
          <p:nvPr/>
        </p:nvSpPr>
        <p:spPr>
          <a:xfrm>
            <a:off x="457200" y="1097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parentheses number a group from 1; the pipe tries alternatives; (?P&lt;name&gt;...) names one</a:t>
            </a:r>
            <a:endParaRPr lang="en-US" sz="1150" dirty="0"/>
          </a:p>
        </p:txBody>
      </p:sp>
      <p:sp>
        <p:nvSpPr>
          <p:cNvPr id="7" name="Shape 5"/>
          <p:cNvSpPr/>
          <p:nvPr/>
        </p:nvSpPr>
        <p:spPr>
          <a:xfrm>
            <a:off x="457200" y="1371600"/>
            <a:ext cx="8229600" cy="2340864"/>
          </a:xfrm>
          <a:prstGeom prst="roundRect">
            <a:avLst>
              <a:gd name="adj" fmla="val 3906"/>
            </a:avLst>
          </a:prstGeom>
          <a:solidFill>
            <a:srgbClr val="23272E"/>
          </a:solidFill>
          <a:ln w="12700">
            <a:solidFill>
              <a:srgbClr val="23272E"/>
            </a:solidFill>
            <a:prstDash val="solid"/>
          </a:ln>
        </p:spPr>
      </p:sp>
      <p:sp>
        <p:nvSpPr>
          <p:cNvPr id="8" name="Text 6"/>
          <p:cNvSpPr txBox="1"/>
          <p:nvPr/>
        </p:nvSpPr>
        <p:spPr>
          <a:xfrm>
            <a:off x="640080" y="1490472"/>
            <a:ext cx="7863840" cy="2103120"/>
          </a:xfrm>
          <a:prstGeom prst="rect">
            <a:avLst/>
          </a:prstGeom>
          <a:noFill/>
          <a:ln/>
        </p:spPr>
        <p:txBody>
          <a:bodyPr wrap="square" lIns="0" tIns="0" rIns="0" bIns="0" rtlCol="0" anchor="t"/>
          <a:lstStyle/>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import re</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groupRegex = re.compile(r'(\d\d\d)-(\d\d\d-\d\d\d\d)')</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mo = groupRegex.search('My number is 415-555-4242.')</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mo.group(1)</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'415'</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mo.group(2)</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'555-4242'</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mo.groups()</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('415', '555-4242')</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re.search(r'Cat(erpillar|astrophe|ch|egory)', 'Catch me if you can.').group(1)</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'ch'</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re.match(r'(?P&lt;first_name&gt;\w+) (?P&lt;last_name&gt;\w+)', 'Malcolm Reynolds').groupdict()</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{'first_name': 'Malcolm', 'last_name': 'Reynolds'}</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re.search(r'\b(\w+) \1\b', 'this is is a typo').group()</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'is is'</a:t>
            </a:r>
            <a:endParaRPr lang="en-US" sz="800" dirty="0"/>
          </a:p>
        </p:txBody>
      </p:sp>
      <p:sp>
        <p:nvSpPr>
          <p:cNvPr id="9" name="Text 7"/>
          <p:cNvSpPr txBox="1"/>
          <p:nvPr/>
        </p:nvSpPr>
        <p:spPr>
          <a:xfrm>
            <a:off x="457200" y="3730752"/>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Text 8"/>
          <p:cNvSpPr txBox="1"/>
          <p:nvPr/>
        </p:nvSpPr>
        <p:spPr>
          <a:xfrm>
            <a:off x="457200" y="4059936"/>
            <a:ext cx="8229600" cy="466344"/>
          </a:xfrm>
          <a:prstGeom prst="rect">
            <a:avLst/>
          </a:prstGeom>
          <a:noFill/>
          <a:ln/>
        </p:spPr>
        <p:txBody>
          <a:bodyPr wrap="square" lIns="0" tIns="0" rIns="0" bIns="0" rtlCol="0" anchor="t"/>
          <a:lstStyle/>
          <a:p>
            <a:pPr algn="l" indent="0" marL="0">
              <a:buNone/>
            </a:pPr>
            <a:r>
              <a:rPr lang="en-US" sz="1150" dirty="0">
                <a:solidFill>
                  <a:srgbClr val="2B2622"/>
                </a:solidFill>
                <a:latin typeface="Calibri" pitchFamily="34" charset="0"/>
                <a:ea typeface="Calibri" pitchFamily="34" charset="-122"/>
                <a:cs typeface="Calibri" pitchFamily="34" charset="-120"/>
              </a:rPr>
              <a:t>groups() returns every group's text as a tuple in order; groupdict() does the same by name for a pattern written with (?P&lt;name&gt;...); \1 inside a pattern repeats whatever group 1 matched.</a:t>
            </a:r>
            <a:endParaRPr lang="en-US" sz="1150" dirty="0"/>
          </a:p>
        </p:txBody>
      </p:sp>
      <p:sp>
        <p:nvSpPr>
          <p:cNvPr id="11" name="Shape 9"/>
          <p:cNvSpPr/>
          <p:nvPr/>
        </p:nvSpPr>
        <p:spPr>
          <a:xfrm>
            <a:off x="457200" y="4636008"/>
            <a:ext cx="91440" cy="310896"/>
          </a:xfrm>
          <a:prstGeom prst="rect">
            <a:avLst/>
          </a:prstGeom>
          <a:solidFill>
            <a:srgbClr val="D97A14"/>
          </a:solidFill>
          <a:ln w="12700">
            <a:solidFill>
              <a:srgbClr val="D97A14"/>
            </a:solidFill>
            <a:prstDash val="solid"/>
          </a:ln>
        </p:spPr>
      </p:sp>
      <p:sp>
        <p:nvSpPr>
          <p:cNvPr id="12" name="Text 1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Parentheses group and number; the pipe offers alternatives.</a:t>
            </a:r>
            <a:endParaRPr lang="en-US" sz="1350" dirty="0"/>
          </a:p>
        </p:txBody>
      </p:sp>
      <p:sp>
        <p:nvSpPr>
          <p:cNvPr id="13" name="Text 1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22</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mathematician named the pattern, in 1951</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1951</a:t>
            </a:r>
            <a:endParaRPr lang="en-US" sz="1300" dirty="0"/>
          </a:p>
        </p:txBody>
      </p:sp>
      <p:sp>
        <p:nvSpPr>
          <p:cNvPr id="6" name="Shape 4"/>
          <p:cNvSpPr/>
          <p:nvPr/>
        </p:nvSpPr>
        <p:spPr>
          <a:xfrm>
            <a:off x="457200" y="1371600"/>
            <a:ext cx="4023360" cy="2560320"/>
          </a:xfrm>
          <a:prstGeom prst="roundRect">
            <a:avLst>
              <a:gd name="adj" fmla="val 3571"/>
            </a:avLst>
          </a:prstGeom>
          <a:solidFill>
            <a:srgbClr val="F2ECE1"/>
          </a:solidFill>
          <a:ln w="12700">
            <a:solidFill>
              <a:srgbClr val="F2ECE1"/>
            </a:solidFill>
            <a:prstDash val="solid"/>
          </a:ln>
        </p:spPr>
      </p:sp>
      <p:sp>
        <p:nvSpPr>
          <p:cNvPr id="7" name="Text 5"/>
          <p:cNvSpPr txBox="1"/>
          <p:nvPr/>
        </p:nvSpPr>
        <p:spPr>
          <a:xfrm>
            <a:off x="640080" y="1490472"/>
            <a:ext cx="365760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Stephen Cole Kleene, RAND 1951</a:t>
            </a:r>
            <a:endParaRPr lang="en-US" sz="1600" dirty="0"/>
          </a:p>
        </p:txBody>
      </p:sp>
      <p:sp>
        <p:nvSpPr>
          <p:cNvPr id="8" name="Text 6"/>
          <p:cNvSpPr txBox="1"/>
          <p:nvPr/>
        </p:nvSpPr>
        <p:spPr>
          <a:xfrm>
            <a:off x="640080" y="1874520"/>
            <a:ext cx="3657600" cy="1920240"/>
          </a:xfrm>
          <a:prstGeom prst="rect">
            <a:avLst/>
          </a:prstGeom>
          <a:noFill/>
          <a:ln/>
        </p:spPr>
        <p:txBody>
          <a:bodyPr wrap="square" lIns="0" tIns="0" rIns="0" bIns="0" rtlCol="0" anchor="t"/>
          <a:lstStyle/>
          <a:p>
            <a:pPr indent="0" marL="0">
              <a:buNone/>
            </a:pPr>
            <a:r>
              <a:rPr lang="en-US" sz="1250" dirty="0">
                <a:solidFill>
                  <a:srgbClr val="2B2622"/>
                </a:solidFill>
                <a:latin typeface="Calibri" pitchFamily="34" charset="0"/>
                <a:ea typeface="Calibri" pitchFamily="34" charset="-122"/>
                <a:cs typeface="Calibri" pitchFamily="34" charset="-120"/>
              </a:rPr>
              <a:t>Research Memorandum RM-704 defined a regular event from three operations: concatenation, union and repetition. Kleene worked at the University of Wisconsin-Madison from 1935 to 1979.</a:t>
            </a:r>
            <a:endParaRPr lang="en-US" sz="1250" dirty="0"/>
          </a:p>
        </p:txBody>
      </p:sp>
      <p:sp>
        <p:nvSpPr>
          <p:cNvPr id="9" name="Shape 7"/>
          <p:cNvSpPr/>
          <p:nvPr/>
        </p:nvSpPr>
        <p:spPr>
          <a:xfrm>
            <a:off x="4754880" y="1627632"/>
            <a:ext cx="128016" cy="128016"/>
          </a:xfrm>
          <a:prstGeom prst="diamond">
            <a:avLst/>
          </a:prstGeom>
          <a:solidFill>
            <a:srgbClr val="D97A14"/>
          </a:solidFill>
          <a:ln w="12700">
            <a:solidFill>
              <a:srgbClr val="D97A14"/>
            </a:solidFill>
            <a:prstDash val="solid"/>
          </a:ln>
        </p:spPr>
      </p:sp>
      <p:sp>
        <p:nvSpPr>
          <p:cNvPr id="10" name="Text 8"/>
          <p:cNvSpPr txBox="1"/>
          <p:nvPr/>
        </p:nvSpPr>
        <p:spPr>
          <a:xfrm>
            <a:off x="5029200" y="1371600"/>
            <a:ext cx="365760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1951: RM-704, RAND Corporation, Santa Monica</a:t>
            </a:r>
            <a:endParaRPr lang="en-US" sz="1200" dirty="0"/>
          </a:p>
        </p:txBody>
      </p:sp>
      <p:sp>
        <p:nvSpPr>
          <p:cNvPr id="11" name="Shape 9"/>
          <p:cNvSpPr/>
          <p:nvPr/>
        </p:nvSpPr>
        <p:spPr>
          <a:xfrm>
            <a:off x="4754880" y="2267712"/>
            <a:ext cx="128016" cy="128016"/>
          </a:xfrm>
          <a:prstGeom prst="diamond">
            <a:avLst/>
          </a:prstGeom>
          <a:solidFill>
            <a:srgbClr val="D97A14"/>
          </a:solidFill>
          <a:ln w="12700">
            <a:solidFill>
              <a:srgbClr val="D97A14"/>
            </a:solidFill>
            <a:prstDash val="solid"/>
          </a:ln>
        </p:spPr>
      </p:sp>
      <p:sp>
        <p:nvSpPr>
          <p:cNvPr id="12" name="Text 10"/>
          <p:cNvSpPr txBox="1"/>
          <p:nvPr/>
        </p:nvSpPr>
        <p:spPr>
          <a:xfrm>
            <a:off x="5029200" y="2011680"/>
            <a:ext cx="365760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Union = the pipe this chapter calls alternation</a:t>
            </a:r>
            <a:endParaRPr lang="en-US" sz="1200" dirty="0"/>
          </a:p>
        </p:txBody>
      </p:sp>
      <p:sp>
        <p:nvSpPr>
          <p:cNvPr id="13" name="Shape 11"/>
          <p:cNvSpPr/>
          <p:nvPr/>
        </p:nvSpPr>
        <p:spPr>
          <a:xfrm>
            <a:off x="4754880" y="2907792"/>
            <a:ext cx="128016" cy="128016"/>
          </a:xfrm>
          <a:prstGeom prst="diamond">
            <a:avLst/>
          </a:prstGeom>
          <a:solidFill>
            <a:srgbClr val="D97A14"/>
          </a:solidFill>
          <a:ln w="12700">
            <a:solidFill>
              <a:srgbClr val="D97A14"/>
            </a:solidFill>
            <a:prstDash val="solid"/>
          </a:ln>
        </p:spPr>
      </p:sp>
      <p:sp>
        <p:nvSpPr>
          <p:cNvPr id="14" name="Text 12"/>
          <p:cNvSpPr txBox="1"/>
          <p:nvPr/>
        </p:nvSpPr>
        <p:spPr>
          <a:xfrm>
            <a:off x="5029200" y="2651760"/>
            <a:ext cx="365760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Repetition = the star and plus quantifiers</a:t>
            </a:r>
            <a:endParaRPr lang="en-US" sz="1200" dirty="0"/>
          </a:p>
        </p:txBody>
      </p:sp>
      <p:sp>
        <p:nvSpPr>
          <p:cNvPr id="15" name="Shape 13"/>
          <p:cNvSpPr/>
          <p:nvPr/>
        </p:nvSpPr>
        <p:spPr>
          <a:xfrm>
            <a:off x="4754880" y="3547872"/>
            <a:ext cx="128016" cy="128016"/>
          </a:xfrm>
          <a:prstGeom prst="diamond">
            <a:avLst/>
          </a:prstGeom>
          <a:solidFill>
            <a:srgbClr val="D97A14"/>
          </a:solidFill>
          <a:ln w="12700">
            <a:solidFill>
              <a:srgbClr val="D97A14"/>
            </a:solidFill>
            <a:prstDash val="solid"/>
          </a:ln>
        </p:spPr>
      </p:sp>
      <p:sp>
        <p:nvSpPr>
          <p:cNvPr id="16" name="Text 14"/>
          <p:cNvSpPr txBox="1"/>
          <p:nvPr/>
        </p:nvSpPr>
        <p:spPr>
          <a:xfrm>
            <a:off x="5029200" y="3291840"/>
            <a:ext cx="365760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Kleene: born 5 Jan 1909, died 25 Jan 1994</a:t>
            </a:r>
            <a:endParaRPr lang="en-US" sz="1200" dirty="0"/>
          </a:p>
        </p:txBody>
      </p:sp>
      <p:sp>
        <p:nvSpPr>
          <p:cNvPr id="17" name="Shape 15"/>
          <p:cNvSpPr/>
          <p:nvPr/>
        </p:nvSpPr>
        <p:spPr>
          <a:xfrm>
            <a:off x="457200" y="4041648"/>
            <a:ext cx="2449129" cy="365760"/>
          </a:xfrm>
          <a:prstGeom prst="roundRect">
            <a:avLst>
              <a:gd name="adj" fmla="val 50000"/>
            </a:avLst>
          </a:prstGeom>
          <a:solidFill>
            <a:srgbClr val="EFE9DC"/>
          </a:solidFill>
          <a:ln w="9525">
            <a:solidFill>
              <a:srgbClr val="DFD6C7"/>
            </a:solidFill>
            <a:prstDash val="solid"/>
          </a:ln>
        </p:spPr>
      </p:sp>
      <p:sp>
        <p:nvSpPr>
          <p:cNvPr id="18" name="Text 16"/>
          <p:cNvSpPr txBox="1"/>
          <p:nvPr/>
        </p:nvSpPr>
        <p:spPr>
          <a:xfrm>
            <a:off x="548640"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Stephen Cole Kleene</a:t>
            </a:r>
            <a:endParaRPr lang="en-US" sz="750" dirty="0"/>
          </a:p>
        </p:txBody>
      </p:sp>
      <p:sp>
        <p:nvSpPr>
          <p:cNvPr id="19" name="Shape 17"/>
          <p:cNvSpPr/>
          <p:nvPr/>
        </p:nvSpPr>
        <p:spPr>
          <a:xfrm>
            <a:off x="3016057" y="4041648"/>
            <a:ext cx="2449129" cy="365760"/>
          </a:xfrm>
          <a:prstGeom prst="roundRect">
            <a:avLst>
              <a:gd name="adj" fmla="val 50000"/>
            </a:avLst>
          </a:prstGeom>
          <a:solidFill>
            <a:srgbClr val="EFE9DC"/>
          </a:solidFill>
          <a:ln w="9525">
            <a:solidFill>
              <a:srgbClr val="DFD6C7"/>
            </a:solidFill>
            <a:prstDash val="solid"/>
          </a:ln>
        </p:spPr>
      </p:sp>
      <p:sp>
        <p:nvSpPr>
          <p:cNvPr id="20" name="Text 18"/>
          <p:cNvSpPr txBox="1"/>
          <p:nvPr/>
        </p:nvSpPr>
        <p:spPr>
          <a:xfrm>
            <a:off x="3107497"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the RAND Corporation, Santa Monica, Ca…</a:t>
            </a:r>
            <a:endParaRPr lang="en-US" sz="750" dirty="0"/>
          </a:p>
        </p:txBody>
      </p:sp>
      <p:sp>
        <p:nvSpPr>
          <p:cNvPr id="21" name="Shape 19"/>
          <p:cNvSpPr/>
          <p:nvPr/>
        </p:nvSpPr>
        <p:spPr>
          <a:xfrm>
            <a:off x="5574914" y="4041648"/>
            <a:ext cx="1343071" cy="365760"/>
          </a:xfrm>
          <a:prstGeom prst="roundRect">
            <a:avLst>
              <a:gd name="adj" fmla="val 50000"/>
            </a:avLst>
          </a:prstGeom>
          <a:solidFill>
            <a:srgbClr val="EFE9DC"/>
          </a:solidFill>
          <a:ln w="9525">
            <a:solidFill>
              <a:srgbClr val="DFD6C7"/>
            </a:solidFill>
            <a:prstDash val="solid"/>
          </a:ln>
        </p:spPr>
      </p:sp>
      <p:sp>
        <p:nvSpPr>
          <p:cNvPr id="22" name="Text 20"/>
          <p:cNvSpPr txBox="1"/>
          <p:nvPr/>
        </p:nvSpPr>
        <p:spPr>
          <a:xfrm>
            <a:off x="5666354"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1951</a:t>
            </a:r>
            <a:endParaRPr lang="en-US" sz="750" dirty="0"/>
          </a:p>
        </p:txBody>
      </p:sp>
      <p:sp>
        <p:nvSpPr>
          <p:cNvPr id="23" name="Shape 21"/>
          <p:cNvSpPr/>
          <p:nvPr/>
        </p:nvSpPr>
        <p:spPr>
          <a:xfrm>
            <a:off x="7027713" y="4041648"/>
            <a:ext cx="1659087" cy="365760"/>
          </a:xfrm>
          <a:prstGeom prst="roundRect">
            <a:avLst>
              <a:gd name="adj" fmla="val 50000"/>
            </a:avLst>
          </a:prstGeom>
          <a:solidFill>
            <a:srgbClr val="2F6D62"/>
          </a:solidFill>
          <a:ln w="9525">
            <a:solidFill>
              <a:srgbClr val="2F6D62"/>
            </a:solidFill>
            <a:prstDash val="solid"/>
          </a:ln>
        </p:spPr>
      </p:sp>
      <p:sp>
        <p:nvSpPr>
          <p:cNvPr id="24" name="Text 22"/>
          <p:cNvSpPr txBox="1"/>
          <p:nvPr/>
        </p:nvSpPr>
        <p:spPr>
          <a:xfrm>
            <a:off x="7119153" y="404164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en.wikipedia.org</a:t>
            </a:r>
            <a:endParaRPr lang="en-US" sz="750" dirty="0"/>
          </a:p>
        </p:txBody>
      </p:sp>
      <p:sp>
        <p:nvSpPr>
          <p:cNvPr id="25" name="Shape 23"/>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pipe and the star are Kleene's 1951 union and repetition.</a:t>
            </a:r>
            <a:endParaRPr lang="en-US" sz="1350" dirty="0"/>
          </a:p>
        </p:txBody>
      </p:sp>
      <p:sp>
        <p:nvSpPr>
          <p:cNvPr id="27"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22</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Character sets and shorthand classes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Square brackets name a set of characters; \d, \w and \s stand for whole sets</a:t>
            </a:r>
            <a:endParaRPr lang="en-US" sz="1300" dirty="0"/>
          </a:p>
        </p:txBody>
      </p:sp>
      <p:sp>
        <p:nvSpPr>
          <p:cNvPr id="6" name="Text 4"/>
          <p:cNvSpPr txBox="1"/>
          <p:nvPr/>
        </p:nvSpPr>
        <p:spPr>
          <a:xfrm>
            <a:off x="457200" y="1097280"/>
            <a:ext cx="51206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 class matches one character; a shorthand stands for one</a:t>
            </a:r>
            <a:endParaRPr lang="en-US" sz="1150" dirty="0"/>
          </a:p>
        </p:txBody>
      </p:sp>
      <p:sp>
        <p:nvSpPr>
          <p:cNvPr id="7" name="Shape 5"/>
          <p:cNvSpPr/>
          <p:nvPr/>
        </p:nvSpPr>
        <p:spPr>
          <a:xfrm>
            <a:off x="457200" y="1371600"/>
            <a:ext cx="5120640" cy="1645920"/>
          </a:xfrm>
          <a:prstGeom prst="roundRect">
            <a:avLst>
              <a:gd name="adj" fmla="val 5556"/>
            </a:avLst>
          </a:prstGeom>
          <a:solidFill>
            <a:srgbClr val="23272E"/>
          </a:solidFill>
          <a:ln w="12700">
            <a:solidFill>
              <a:srgbClr val="23272E"/>
            </a:solidFill>
            <a:prstDash val="solid"/>
          </a:ln>
        </p:spPr>
      </p:sp>
      <p:sp>
        <p:nvSpPr>
          <p:cNvPr id="8" name="Text 6"/>
          <p:cNvSpPr txBox="1"/>
          <p:nvPr/>
        </p:nvSpPr>
        <p:spPr>
          <a:xfrm>
            <a:off x="640080" y="1490472"/>
            <a:ext cx="4754880" cy="1408176"/>
          </a:xfrm>
          <a:prstGeom prst="rect">
            <a:avLst/>
          </a:prstGeom>
          <a:noFill/>
          <a:ln/>
        </p:spPr>
        <p:txBody>
          <a:bodyPr wrap="square" lIns="0" tIns="0" rIns="0" bIns="0" rtlCol="0" anchor="t"/>
          <a:lstStyle/>
          <a:p>
            <a:pPr indent="0" marL="0">
              <a:buNone/>
            </a:pPr>
            <a:r>
              <a:rPr lang="en-US" sz="870" b="1" dirty="0">
                <a:solidFill>
                  <a:srgbClr val="D97A14"/>
                </a:solidFill>
                <a:latin typeface="Courier New" pitchFamily="34" charset="0"/>
                <a:ea typeface="Courier New" pitchFamily="34" charset="-122"/>
                <a:cs typeface="Courier New" pitchFamily="34" charset="-120"/>
              </a:rPr>
              <a:t>&gt;&gt;&gt; </a:t>
            </a:r>
            <a:r>
              <a:rPr lang="en-US" sz="870" dirty="0">
                <a:solidFill>
                  <a:srgbClr val="E6EDF3"/>
                </a:solidFill>
                <a:latin typeface="Courier New" pitchFamily="34" charset="0"/>
                <a:ea typeface="Courier New" pitchFamily="34" charset="-122"/>
                <a:cs typeface="Courier New" pitchFamily="34" charset="-120"/>
              </a:rPr>
              <a:t>import re</a:t>
            </a:r>
            <a:endParaRPr lang="en-US" sz="870" dirty="0"/>
          </a:p>
          <a:p>
            <a:pPr indent="0" marL="0">
              <a:buNone/>
            </a:pPr>
            <a:r>
              <a:rPr lang="en-US" sz="870" b="1" dirty="0">
                <a:solidFill>
                  <a:srgbClr val="D97A14"/>
                </a:solidFill>
                <a:latin typeface="Courier New" pitchFamily="34" charset="0"/>
                <a:ea typeface="Courier New" pitchFamily="34" charset="-122"/>
                <a:cs typeface="Courier New" pitchFamily="34" charset="-120"/>
              </a:rPr>
              <a:t>&gt;&gt;&gt; </a:t>
            </a:r>
            <a:r>
              <a:rPr lang="en-US" sz="870" dirty="0">
                <a:solidFill>
                  <a:srgbClr val="E6EDF3"/>
                </a:solidFill>
                <a:latin typeface="Courier New" pitchFamily="34" charset="0"/>
                <a:ea typeface="Courier New" pitchFamily="34" charset="-122"/>
                <a:cs typeface="Courier New" pitchFamily="34" charset="-120"/>
              </a:rPr>
              <a:t>re.findall(r'[aeiouAEIOU]', 'RoboCop eats BABY FOOD.')</a:t>
            </a:r>
            <a:endParaRPr lang="en-US" sz="870" dirty="0"/>
          </a:p>
          <a:p>
            <a:pPr indent="0" marL="0">
              <a:buNone/>
            </a:pPr>
            <a:r>
              <a:rPr lang="en-US" sz="870" dirty="0">
                <a:solidFill>
                  <a:srgbClr val="7EE787"/>
                </a:solidFill>
                <a:latin typeface="Courier New" pitchFamily="34" charset="0"/>
                <a:ea typeface="Courier New" pitchFamily="34" charset="-122"/>
                <a:cs typeface="Courier New" pitchFamily="34" charset="-120"/>
              </a:rPr>
              <a:t>['o', 'o', 'o', 'e', 'a', 'A', 'O', 'O']</a:t>
            </a:r>
            <a:endParaRPr lang="en-US" sz="870" dirty="0"/>
          </a:p>
          <a:p>
            <a:pPr indent="0" marL="0">
              <a:buNone/>
            </a:pPr>
            <a:r>
              <a:rPr lang="en-US" sz="870" b="1" dirty="0">
                <a:solidFill>
                  <a:srgbClr val="D97A14"/>
                </a:solidFill>
                <a:latin typeface="Courier New" pitchFamily="34" charset="0"/>
                <a:ea typeface="Courier New" pitchFamily="34" charset="-122"/>
                <a:cs typeface="Courier New" pitchFamily="34" charset="-120"/>
              </a:rPr>
              <a:t>&gt;&gt;&gt; </a:t>
            </a:r>
            <a:r>
              <a:rPr lang="en-US" sz="870" dirty="0">
                <a:solidFill>
                  <a:srgbClr val="E6EDF3"/>
                </a:solidFill>
                <a:latin typeface="Courier New" pitchFamily="34" charset="0"/>
                <a:ea typeface="Courier New" pitchFamily="34" charset="-122"/>
                <a:cs typeface="Courier New" pitchFamily="34" charset="-120"/>
              </a:rPr>
              <a:t>''.join(re.findall(r'[^aeiouAEIOU]', 'RoboCop eats BABY FOOD.'))</a:t>
            </a:r>
            <a:endParaRPr lang="en-US" sz="870" dirty="0"/>
          </a:p>
          <a:p>
            <a:pPr indent="0" marL="0">
              <a:buNone/>
            </a:pPr>
            <a:r>
              <a:rPr lang="en-US" sz="870" dirty="0">
                <a:solidFill>
                  <a:srgbClr val="7EE787"/>
                </a:solidFill>
                <a:latin typeface="Courier New" pitchFamily="34" charset="0"/>
                <a:ea typeface="Courier New" pitchFamily="34" charset="-122"/>
                <a:cs typeface="Courier New" pitchFamily="34" charset="-120"/>
              </a:rPr>
              <a:t>'RbCp ts BBY FD.'</a:t>
            </a:r>
            <a:endParaRPr lang="en-US" sz="870" dirty="0"/>
          </a:p>
          <a:p>
            <a:pPr indent="0" marL="0">
              <a:buNone/>
            </a:pPr>
            <a:r>
              <a:rPr lang="en-US" sz="870" b="1" dirty="0">
                <a:solidFill>
                  <a:srgbClr val="D97A14"/>
                </a:solidFill>
                <a:latin typeface="Courier New" pitchFamily="34" charset="0"/>
                <a:ea typeface="Courier New" pitchFamily="34" charset="-122"/>
                <a:cs typeface="Courier New" pitchFamily="34" charset="-120"/>
              </a:rPr>
              <a:t>&gt;&gt;&gt; </a:t>
            </a:r>
            <a:r>
              <a:rPr lang="en-US" sz="870" dirty="0">
                <a:solidFill>
                  <a:srgbClr val="E6EDF3"/>
                </a:solidFill>
                <a:latin typeface="Courier New" pitchFamily="34" charset="0"/>
                <a:ea typeface="Courier New" pitchFamily="34" charset="-122"/>
                <a:cs typeface="Courier New" pitchFamily="34" charset="-120"/>
              </a:rPr>
              <a:t>re.findall(r'\d+\s\w+', '12 drummers, 11 pipers, 10 lords')</a:t>
            </a:r>
            <a:endParaRPr lang="en-US" sz="870" dirty="0"/>
          </a:p>
          <a:p>
            <a:pPr indent="0" marL="0">
              <a:buNone/>
            </a:pPr>
            <a:r>
              <a:rPr lang="en-US" sz="870" dirty="0">
                <a:solidFill>
                  <a:srgbClr val="7EE787"/>
                </a:solidFill>
                <a:latin typeface="Courier New" pitchFamily="34" charset="0"/>
                <a:ea typeface="Courier New" pitchFamily="34" charset="-122"/>
                <a:cs typeface="Courier New" pitchFamily="34" charset="-120"/>
              </a:rPr>
              <a:t>['12 drummers', '11 pipers', '10 lords']</a:t>
            </a:r>
            <a:endParaRPr lang="en-US" sz="870" dirty="0"/>
          </a:p>
          <a:p>
            <a:pPr indent="0" marL="0">
              <a:buNone/>
            </a:pPr>
            <a:r>
              <a:rPr lang="en-US" sz="870" b="1" dirty="0">
                <a:solidFill>
                  <a:srgbClr val="D97A14"/>
                </a:solidFill>
                <a:latin typeface="Courier New" pitchFamily="34" charset="0"/>
                <a:ea typeface="Courier New" pitchFamily="34" charset="-122"/>
                <a:cs typeface="Courier New" pitchFamily="34" charset="-120"/>
              </a:rPr>
              <a:t>&gt;&gt;&gt; </a:t>
            </a:r>
            <a:r>
              <a:rPr lang="en-US" sz="870" dirty="0">
                <a:solidFill>
                  <a:srgbClr val="E6EDF3"/>
                </a:solidFill>
                <a:latin typeface="Courier New" pitchFamily="34" charset="0"/>
                <a:ea typeface="Courier New" pitchFamily="34" charset="-122"/>
                <a:cs typeface="Courier New" pitchFamily="34" charset="-120"/>
              </a:rPr>
              <a:t>re.findall(r'.at', 'The cat in the hat sat on the flat mat.')</a:t>
            </a:r>
            <a:endParaRPr lang="en-US" sz="870" dirty="0"/>
          </a:p>
          <a:p>
            <a:pPr indent="0" marL="0">
              <a:buNone/>
            </a:pPr>
            <a:r>
              <a:rPr lang="en-US" sz="870" dirty="0">
                <a:solidFill>
                  <a:srgbClr val="7EE787"/>
                </a:solidFill>
                <a:latin typeface="Courier New" pitchFamily="34" charset="0"/>
                <a:ea typeface="Courier New" pitchFamily="34" charset="-122"/>
                <a:cs typeface="Courier New" pitchFamily="34" charset="-120"/>
              </a:rPr>
              <a:t>['cat', 'hat', 'sat', 'lat', 'mat']</a:t>
            </a:r>
            <a:endParaRPr lang="en-US" sz="870" dirty="0"/>
          </a:p>
        </p:txBody>
      </p:sp>
      <p:sp>
        <p:nvSpPr>
          <p:cNvPr id="9" name="Text 7"/>
          <p:cNvSpPr txBox="1"/>
          <p:nvPr/>
        </p:nvSpPr>
        <p:spPr>
          <a:xfrm>
            <a:off x="457200" y="3035808"/>
            <a:ext cx="512064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5852160" y="1371600"/>
            <a:ext cx="2834640" cy="3017520"/>
          </a:xfrm>
          <a:prstGeom prst="roundRect">
            <a:avLst>
              <a:gd name="adj" fmla="val 3226"/>
            </a:avLst>
          </a:prstGeom>
          <a:solidFill>
            <a:srgbClr val="F2ECE1"/>
          </a:solidFill>
          <a:ln w="12700">
            <a:solidFill>
              <a:srgbClr val="F2ECE1"/>
            </a:solidFill>
            <a:prstDash val="solid"/>
          </a:ln>
        </p:spPr>
      </p:sp>
      <p:sp>
        <p:nvSpPr>
          <p:cNvPr id="11" name="Text 9"/>
          <p:cNvSpPr txBox="1"/>
          <p:nvPr/>
        </p:nvSpPr>
        <p:spPr>
          <a:xfrm>
            <a:off x="6035040" y="1490472"/>
            <a:ext cx="246888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Negation and the dot</a:t>
            </a:r>
            <a:endParaRPr lang="en-US" sz="1600" dirty="0"/>
          </a:p>
        </p:txBody>
      </p:sp>
      <p:sp>
        <p:nvSpPr>
          <p:cNvPr id="12" name="Text 10"/>
          <p:cNvSpPr txBox="1"/>
          <p:nvPr/>
        </p:nvSpPr>
        <p:spPr>
          <a:xfrm>
            <a:off x="6035040" y="1874520"/>
            <a:ext cx="2468880" cy="237744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A caret right after the opening bracket negates the class, so [^aeiouAEIOU] matches any character that is not a vowel; the dot matches almost any single character at all, vowel, consonant, digit or space alike.</a:t>
            </a:r>
            <a:endParaRPr lang="en-US" sz="1150" dirty="0"/>
          </a:p>
        </p:txBody>
      </p:sp>
      <p:sp>
        <p:nvSpPr>
          <p:cNvPr id="13" name="Shape 11"/>
          <p:cNvSpPr/>
          <p:nvPr/>
        </p:nvSpPr>
        <p:spPr>
          <a:xfrm>
            <a:off x="457200" y="4636008"/>
            <a:ext cx="91440" cy="310896"/>
          </a:xfrm>
          <a:prstGeom prst="rect">
            <a:avLst/>
          </a:prstGeom>
          <a:solidFill>
            <a:srgbClr val="D97A14"/>
          </a:solidFill>
          <a:ln w="12700">
            <a:solidFill>
              <a:srgbClr val="D97A14"/>
            </a:solidFill>
            <a:prstDash val="solid"/>
          </a:ln>
        </p:spPr>
      </p:sp>
      <p:sp>
        <p:nvSpPr>
          <p:cNvPr id="14" name="Text 1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Brackets name a set; \d, \w and \s are whole sets by name.</a:t>
            </a:r>
            <a:endParaRPr lang="en-US" sz="1350" dirty="0"/>
          </a:p>
        </p:txBody>
      </p:sp>
      <p:sp>
        <p:nvSpPr>
          <p:cNvPr id="15"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22</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\d, \w and \s came from a language, in 1987</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1987-12-18</a:t>
            </a:r>
            <a:endParaRPr lang="en-US" sz="1300" dirty="0"/>
          </a:p>
        </p:txBody>
      </p:sp>
      <p:sp>
        <p:nvSpPr>
          <p:cNvPr id="6" name="Shape 4"/>
          <p:cNvSpPr/>
          <p:nvPr/>
        </p:nvSpPr>
        <p:spPr>
          <a:xfrm>
            <a:off x="457200" y="1371600"/>
            <a:ext cx="4114800" cy="2560320"/>
          </a:xfrm>
          <a:prstGeom prst="roundRect">
            <a:avLst>
              <a:gd name="adj" fmla="val 3571"/>
            </a:avLst>
          </a:prstGeom>
          <a:solidFill>
            <a:srgbClr val="F2ECE1"/>
          </a:solidFill>
          <a:ln w="12700">
            <a:solidFill>
              <a:srgbClr val="F2ECE1"/>
            </a:solidFill>
            <a:prstDash val="solid"/>
          </a:ln>
        </p:spPr>
      </p:sp>
      <p:sp>
        <p:nvSpPr>
          <p:cNvPr id="7" name="Text 5"/>
          <p:cNvSpPr txBox="1"/>
          <p:nvPr/>
        </p:nvSpPr>
        <p:spPr>
          <a:xfrm>
            <a:off x="640080" y="1490472"/>
            <a:ext cx="374904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Larry Wall, Perl 1.0</a:t>
            </a:r>
            <a:endParaRPr lang="en-US" sz="1600" dirty="0"/>
          </a:p>
        </p:txBody>
      </p:sp>
      <p:sp>
        <p:nvSpPr>
          <p:cNvPr id="8" name="Text 6"/>
          <p:cNvSpPr txBox="1"/>
          <p:nvPr/>
        </p:nvSpPr>
        <p:spPr>
          <a:xfrm>
            <a:off x="640080" y="1874520"/>
            <a:ext cx="3749040" cy="1920240"/>
          </a:xfrm>
          <a:prstGeom prst="rect">
            <a:avLst/>
          </a:prstGeom>
          <a:noFill/>
          <a:ln/>
        </p:spPr>
        <p:txBody>
          <a:bodyPr wrap="square" lIns="0" tIns="0" rIns="0" bIns="0" rtlCol="0" anchor="t"/>
          <a:lstStyle/>
          <a:p>
            <a:pPr indent="0" marL="0">
              <a:buNone/>
            </a:pPr>
            <a:r>
              <a:rPr lang="en-US" sz="1250" dirty="0">
                <a:solidFill>
                  <a:srgbClr val="2B2622"/>
                </a:solidFill>
                <a:latin typeface="Calibri" pitchFamily="34" charset="0"/>
                <a:ea typeface="Calibri" pitchFamily="34" charset="-122"/>
                <a:cs typeface="Calibri" pitchFamily="34" charset="-120"/>
              </a:rPr>
              <a:t>Released 18 December 1987 at Unisys; Perl 2 (June 1988) shipped the backslash shorthand classes this chapter still uses. Python's own re documentation opens by citing Perl.</a:t>
            </a:r>
            <a:endParaRPr lang="en-US" sz="1250" dirty="0"/>
          </a:p>
        </p:txBody>
      </p:sp>
      <p:sp>
        <p:nvSpPr>
          <p:cNvPr id="9" name="Shape 7"/>
          <p:cNvSpPr/>
          <p:nvPr/>
        </p:nvSpPr>
        <p:spPr>
          <a:xfrm>
            <a:off x="4846320" y="1627632"/>
            <a:ext cx="128016" cy="128016"/>
          </a:xfrm>
          <a:prstGeom prst="diamond">
            <a:avLst/>
          </a:prstGeom>
          <a:solidFill>
            <a:srgbClr val="D97A14"/>
          </a:solidFill>
          <a:ln w="12700">
            <a:solidFill>
              <a:srgbClr val="D97A14"/>
            </a:solidFill>
            <a:prstDash val="solid"/>
          </a:ln>
        </p:spPr>
      </p:sp>
      <p:sp>
        <p:nvSpPr>
          <p:cNvPr id="10" name="Text 8"/>
          <p:cNvSpPr txBox="1"/>
          <p:nvPr/>
        </p:nvSpPr>
        <p:spPr>
          <a:xfrm>
            <a:off x="5120640" y="137160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18 Dec 1987: Perl 1.0, Larry Wall, Unisys</a:t>
            </a:r>
            <a:endParaRPr lang="en-US" sz="1200" dirty="0"/>
          </a:p>
        </p:txBody>
      </p:sp>
      <p:sp>
        <p:nvSpPr>
          <p:cNvPr id="11" name="Shape 9"/>
          <p:cNvSpPr/>
          <p:nvPr/>
        </p:nvSpPr>
        <p:spPr>
          <a:xfrm>
            <a:off x="4846320" y="2267712"/>
            <a:ext cx="128016" cy="128016"/>
          </a:xfrm>
          <a:prstGeom prst="diamond">
            <a:avLst/>
          </a:prstGeom>
          <a:solidFill>
            <a:srgbClr val="D97A14"/>
          </a:solidFill>
          <a:ln w="12700">
            <a:solidFill>
              <a:srgbClr val="D97A14"/>
            </a:solidFill>
            <a:prstDash val="solid"/>
          </a:ln>
        </p:spPr>
      </p:sp>
      <p:sp>
        <p:nvSpPr>
          <p:cNvPr id="12" name="Text 10"/>
          <p:cNvSpPr txBox="1"/>
          <p:nvPr/>
        </p:nvSpPr>
        <p:spPr>
          <a:xfrm>
            <a:off x="5120640" y="201168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June 1988: Perl 2's stronger regex engine</a:t>
            </a:r>
            <a:endParaRPr lang="en-US" sz="1200" dirty="0"/>
          </a:p>
        </p:txBody>
      </p:sp>
      <p:sp>
        <p:nvSpPr>
          <p:cNvPr id="13" name="Shape 11"/>
          <p:cNvSpPr/>
          <p:nvPr/>
        </p:nvSpPr>
        <p:spPr>
          <a:xfrm>
            <a:off x="4846320" y="2907792"/>
            <a:ext cx="128016" cy="128016"/>
          </a:xfrm>
          <a:prstGeom prst="diamond">
            <a:avLst/>
          </a:prstGeom>
          <a:solidFill>
            <a:srgbClr val="D97A14"/>
          </a:solidFill>
          <a:ln w="12700">
            <a:solidFill>
              <a:srgbClr val="D97A14"/>
            </a:solidFill>
            <a:prstDash val="solid"/>
          </a:ln>
        </p:spPr>
      </p:sp>
      <p:sp>
        <p:nvSpPr>
          <p:cNvPr id="14" name="Text 12"/>
          <p:cNvSpPr txBox="1"/>
          <p:nvPr/>
        </p:nvSpPr>
        <p:spPr>
          <a:xfrm>
            <a:off x="5120640" y="265176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\d \w \s travel with Perl's own popularity</a:t>
            </a:r>
            <a:endParaRPr lang="en-US" sz="1200" dirty="0"/>
          </a:p>
        </p:txBody>
      </p:sp>
      <p:sp>
        <p:nvSpPr>
          <p:cNvPr id="15" name="Shape 13"/>
          <p:cNvSpPr/>
          <p:nvPr/>
        </p:nvSpPr>
        <p:spPr>
          <a:xfrm>
            <a:off x="4846320" y="3547872"/>
            <a:ext cx="128016" cy="128016"/>
          </a:xfrm>
          <a:prstGeom prst="diamond">
            <a:avLst/>
          </a:prstGeom>
          <a:solidFill>
            <a:srgbClr val="D97A14"/>
          </a:solidFill>
          <a:ln w="12700">
            <a:solidFill>
              <a:srgbClr val="D97A14"/>
            </a:solidFill>
            <a:prstDash val="solid"/>
          </a:ln>
        </p:spPr>
      </p:sp>
      <p:sp>
        <p:nvSpPr>
          <p:cNvPr id="16" name="Text 14"/>
          <p:cNvSpPr txBox="1"/>
          <p:nvPr/>
        </p:nvSpPr>
        <p:spPr>
          <a:xfrm>
            <a:off x="5120640" y="329184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Python's re docs: 'similar to those in Perl'</a:t>
            </a:r>
            <a:endParaRPr lang="en-US" sz="1200" dirty="0"/>
          </a:p>
        </p:txBody>
      </p:sp>
      <p:sp>
        <p:nvSpPr>
          <p:cNvPr id="17" name="Shape 15"/>
          <p:cNvSpPr/>
          <p:nvPr/>
        </p:nvSpPr>
        <p:spPr>
          <a:xfrm>
            <a:off x="457200" y="4041648"/>
            <a:ext cx="2449129" cy="365760"/>
          </a:xfrm>
          <a:prstGeom prst="roundRect">
            <a:avLst>
              <a:gd name="adj" fmla="val 50000"/>
            </a:avLst>
          </a:prstGeom>
          <a:solidFill>
            <a:srgbClr val="EFE9DC"/>
          </a:solidFill>
          <a:ln w="9525">
            <a:solidFill>
              <a:srgbClr val="DFD6C7"/>
            </a:solidFill>
            <a:prstDash val="solid"/>
          </a:ln>
        </p:spPr>
      </p:sp>
      <p:sp>
        <p:nvSpPr>
          <p:cNvPr id="18" name="Text 16"/>
          <p:cNvSpPr txBox="1"/>
          <p:nvPr/>
        </p:nvSpPr>
        <p:spPr>
          <a:xfrm>
            <a:off x="548640"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Larry Wall</a:t>
            </a:r>
            <a:endParaRPr lang="en-US" sz="750" dirty="0"/>
          </a:p>
        </p:txBody>
      </p:sp>
      <p:sp>
        <p:nvSpPr>
          <p:cNvPr id="19" name="Shape 17"/>
          <p:cNvSpPr/>
          <p:nvPr/>
        </p:nvSpPr>
        <p:spPr>
          <a:xfrm>
            <a:off x="3016057" y="4041648"/>
            <a:ext cx="2449129" cy="365760"/>
          </a:xfrm>
          <a:prstGeom prst="roundRect">
            <a:avLst>
              <a:gd name="adj" fmla="val 50000"/>
            </a:avLst>
          </a:prstGeom>
          <a:solidFill>
            <a:srgbClr val="EFE9DC"/>
          </a:solidFill>
          <a:ln w="9525">
            <a:solidFill>
              <a:srgbClr val="DFD6C7"/>
            </a:solidFill>
            <a:prstDash val="solid"/>
          </a:ln>
        </p:spPr>
      </p:sp>
      <p:sp>
        <p:nvSpPr>
          <p:cNvPr id="20" name="Text 18"/>
          <p:cNvSpPr txBox="1"/>
          <p:nvPr/>
        </p:nvSpPr>
        <p:spPr>
          <a:xfrm>
            <a:off x="3107497"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Unisys, Culver City, California</a:t>
            </a:r>
            <a:endParaRPr lang="en-US" sz="750" dirty="0"/>
          </a:p>
        </p:txBody>
      </p:sp>
      <p:sp>
        <p:nvSpPr>
          <p:cNvPr id="21" name="Shape 19"/>
          <p:cNvSpPr/>
          <p:nvPr/>
        </p:nvSpPr>
        <p:spPr>
          <a:xfrm>
            <a:off x="5574914" y="4041648"/>
            <a:ext cx="1343071" cy="365760"/>
          </a:xfrm>
          <a:prstGeom prst="roundRect">
            <a:avLst>
              <a:gd name="adj" fmla="val 50000"/>
            </a:avLst>
          </a:prstGeom>
          <a:solidFill>
            <a:srgbClr val="EFE9DC"/>
          </a:solidFill>
          <a:ln w="9525">
            <a:solidFill>
              <a:srgbClr val="DFD6C7"/>
            </a:solidFill>
            <a:prstDash val="solid"/>
          </a:ln>
        </p:spPr>
      </p:sp>
      <p:sp>
        <p:nvSpPr>
          <p:cNvPr id="22" name="Text 20"/>
          <p:cNvSpPr txBox="1"/>
          <p:nvPr/>
        </p:nvSpPr>
        <p:spPr>
          <a:xfrm>
            <a:off x="5666354"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1987-12-18</a:t>
            </a:r>
            <a:endParaRPr lang="en-US" sz="750" dirty="0"/>
          </a:p>
        </p:txBody>
      </p:sp>
      <p:sp>
        <p:nvSpPr>
          <p:cNvPr id="23" name="Shape 21"/>
          <p:cNvSpPr/>
          <p:nvPr/>
        </p:nvSpPr>
        <p:spPr>
          <a:xfrm>
            <a:off x="7027713" y="4041648"/>
            <a:ext cx="1659087" cy="365760"/>
          </a:xfrm>
          <a:prstGeom prst="roundRect">
            <a:avLst>
              <a:gd name="adj" fmla="val 50000"/>
            </a:avLst>
          </a:prstGeom>
          <a:solidFill>
            <a:srgbClr val="2F6D62"/>
          </a:solidFill>
          <a:ln w="9525">
            <a:solidFill>
              <a:srgbClr val="2F6D62"/>
            </a:solidFill>
            <a:prstDash val="solid"/>
          </a:ln>
        </p:spPr>
      </p:sp>
      <p:sp>
        <p:nvSpPr>
          <p:cNvPr id="24" name="Text 22"/>
          <p:cNvSpPr txBox="1"/>
          <p:nvPr/>
        </p:nvSpPr>
        <p:spPr>
          <a:xfrm>
            <a:off x="7119153" y="404164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en.wikipedia.org</a:t>
            </a:r>
            <a:endParaRPr lang="en-US" sz="750" dirty="0"/>
          </a:p>
        </p:txBody>
      </p:sp>
      <p:sp>
        <p:nvSpPr>
          <p:cNvPr id="25" name="Shape 23"/>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\d, \w and \s travelled into Python from Perl, released in 1987.</a:t>
            </a:r>
            <a:endParaRPr lang="en-US" sz="1350" dirty="0"/>
          </a:p>
        </p:txBody>
      </p:sp>
      <p:sp>
        <p:nvSpPr>
          <p:cNvPr id="27"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22</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Repetition: quantifiers, greedy and lazy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question mark, star, plus or brace says how many; a trailing ? takes as few as it can</a:t>
            </a:r>
            <a:endParaRPr lang="en-US" sz="1300" dirty="0"/>
          </a:p>
        </p:txBody>
      </p:sp>
      <p:sp>
        <p:nvSpPr>
          <p:cNvPr id="6" name="Text 4"/>
          <p:cNvSpPr txBox="1"/>
          <p:nvPr/>
        </p:nvSpPr>
        <p:spPr>
          <a:xfrm>
            <a:off x="457200" y="1097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 *, + and {m,n} choose how many; a trailing ? on any of them makes it lazy</a:t>
            </a:r>
            <a:endParaRPr lang="en-US" sz="1150" dirty="0"/>
          </a:p>
        </p:txBody>
      </p:sp>
      <p:sp>
        <p:nvSpPr>
          <p:cNvPr id="7" name="Shape 5"/>
          <p:cNvSpPr/>
          <p:nvPr/>
        </p:nvSpPr>
        <p:spPr>
          <a:xfrm>
            <a:off x="457200" y="1371600"/>
            <a:ext cx="8229600" cy="2468880"/>
          </a:xfrm>
          <a:prstGeom prst="roundRect">
            <a:avLst>
              <a:gd name="adj" fmla="val 3704"/>
            </a:avLst>
          </a:prstGeom>
          <a:solidFill>
            <a:srgbClr val="23272E"/>
          </a:solidFill>
          <a:ln w="12700">
            <a:solidFill>
              <a:srgbClr val="23272E"/>
            </a:solidFill>
            <a:prstDash val="solid"/>
          </a:ln>
        </p:spPr>
      </p:sp>
      <p:sp>
        <p:nvSpPr>
          <p:cNvPr id="8" name="Text 6"/>
          <p:cNvSpPr txBox="1"/>
          <p:nvPr/>
        </p:nvSpPr>
        <p:spPr>
          <a:xfrm>
            <a:off x="640080" y="1490472"/>
            <a:ext cx="7863840" cy="2231136"/>
          </a:xfrm>
          <a:prstGeom prst="rect">
            <a:avLst/>
          </a:prstGeom>
          <a:noFill/>
          <a:ln/>
        </p:spPr>
        <p:txBody>
          <a:bodyPr wrap="square" lIns="0" tIns="0" rIns="0" bIns="0" rtlCol="0" anchor="t"/>
          <a:lstStyle/>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import re</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re.search(r'42!?', '42').group()</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'42'</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re.search(r'Eggs( and spam)*', 'Eggs and spam and spam').span()</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(0, 22)</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re.search(r'Eggs( and spam)+', 'Eggs') is None</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True</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re.fullmatch(r'(Ha){3,5}', 'HaHaHaHa') is not None</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True</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re.search(r'(Ha){3,5}', 'HaHaHaHaHa').group()</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'HaHaHaHaHa'</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re.search(r'(Ha){3,5}?', 'HaHaHaHaHa').group()</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'HaHaHa'</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re.search(r'&lt;.*?&gt;', '&lt;To serve man&gt; for dinner.&gt;').group()</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'&lt;To serve man&gt;'</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re.search(r'&lt;.*&gt;', '&lt;To serve man&gt; for dinner.&gt;').group()</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'&lt;To serve man&gt; for dinner.&gt;'</a:t>
            </a:r>
            <a:endParaRPr lang="en-US" sz="750" dirty="0"/>
          </a:p>
        </p:txBody>
      </p:sp>
      <p:sp>
        <p:nvSpPr>
          <p:cNvPr id="9" name="Text 7"/>
          <p:cNvSpPr txBox="1"/>
          <p:nvPr/>
        </p:nvSpPr>
        <p:spPr>
          <a:xfrm>
            <a:off x="457200" y="385876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4636008"/>
            <a:ext cx="91440" cy="310896"/>
          </a:xfrm>
          <a:prstGeom prst="rect">
            <a:avLst/>
          </a:prstGeom>
          <a:solidFill>
            <a:srgbClr val="D97A14"/>
          </a:solidFill>
          <a:ln w="12700">
            <a:solidFill>
              <a:srgbClr val="D97A14"/>
            </a:solidFill>
            <a:prstDash val="solid"/>
          </a:ln>
        </p:spPr>
      </p:sp>
      <p:sp>
        <p:nvSpPr>
          <p:cNvPr id="11" name="Text 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Every quantifier is greedy by default; a trailing ? makes it lazy.</a:t>
            </a:r>
            <a:endParaRPr lang="en-US" sz="1350" dirty="0"/>
          </a:p>
        </p:txBody>
      </p:sp>
      <p:sp>
        <p:nvSpPr>
          <p:cNvPr id="12"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22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Anchors: start, end, word boundary, look-around</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 and $ anchor the string; \b/\B test a word's edge; look-around tests without consuming</a:t>
            </a:r>
            <a:endParaRPr lang="en-US" sz="1300" dirty="0"/>
          </a:p>
        </p:txBody>
      </p:sp>
      <p:sp>
        <p:nvSpPr>
          <p:cNvPr id="6" name="Text 4"/>
          <p:cNvSpPr txBox="1"/>
          <p:nvPr/>
        </p:nvSpPr>
        <p:spPr>
          <a:xfrm>
            <a:off x="457200" y="1097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 and $ anchor to the string's ends; \b/\B test a word's edge; look-around tests without consuming</a:t>
            </a:r>
            <a:endParaRPr lang="en-US" sz="1150" dirty="0"/>
          </a:p>
        </p:txBody>
      </p:sp>
      <p:sp>
        <p:nvSpPr>
          <p:cNvPr id="7" name="Shape 5"/>
          <p:cNvSpPr/>
          <p:nvPr/>
        </p:nvSpPr>
        <p:spPr>
          <a:xfrm>
            <a:off x="457200" y="1371600"/>
            <a:ext cx="8229600" cy="2505456"/>
          </a:xfrm>
          <a:prstGeom prst="roundRect">
            <a:avLst>
              <a:gd name="adj" fmla="val 3650"/>
            </a:avLst>
          </a:prstGeom>
          <a:solidFill>
            <a:srgbClr val="23272E"/>
          </a:solidFill>
          <a:ln w="12700">
            <a:solidFill>
              <a:srgbClr val="23272E"/>
            </a:solidFill>
            <a:prstDash val="solid"/>
          </a:ln>
        </p:spPr>
      </p:sp>
      <p:sp>
        <p:nvSpPr>
          <p:cNvPr id="8" name="Text 6"/>
          <p:cNvSpPr txBox="1"/>
          <p:nvPr/>
        </p:nvSpPr>
        <p:spPr>
          <a:xfrm>
            <a:off x="640080" y="1490472"/>
            <a:ext cx="7863840" cy="2267712"/>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import re</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re.search(r'^\d+$', '1234567890').span()</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(0, 10)</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re.search(r'^\d+$', '12345xyz67890') is None</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re.findall(r'\bcat.*?\b', 'The cat found a catapult catalog in the catacombs.')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['cat', 'catapult', 'catalog', 'catacombs']</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re.findall(r'\Bcat\B', 'certificate')</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['cat']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re.findall(r'\d+(?= dollars)', '5 dollars and 7 euros')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['5']</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re.findall(r'(?&lt;=\$)\d+', 'cost $30 or 40')</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['30']</a:t>
            </a:r>
            <a:endParaRPr lang="en-US" sz="1000" dirty="0"/>
          </a:p>
        </p:txBody>
      </p:sp>
      <p:sp>
        <p:nvSpPr>
          <p:cNvPr id="9" name="Text 7"/>
          <p:cNvSpPr txBox="1"/>
          <p:nvPr/>
        </p:nvSpPr>
        <p:spPr>
          <a:xfrm>
            <a:off x="457200" y="3895344"/>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Text 8"/>
          <p:cNvSpPr txBox="1"/>
          <p:nvPr/>
        </p:nvSpPr>
        <p:spPr>
          <a:xfrm>
            <a:off x="457200" y="4224528"/>
            <a:ext cx="8229600" cy="301752"/>
          </a:xfrm>
          <a:prstGeom prst="rect">
            <a:avLst/>
          </a:prstGeom>
          <a:noFill/>
          <a:ln/>
        </p:spPr>
        <p:txBody>
          <a:bodyPr wrap="square" lIns="0" tIns="0" rIns="0" bIns="0" rtlCol="0" anchor="t"/>
          <a:lstStyle/>
          <a:p>
            <a:pPr algn="l" indent="0" marL="0">
              <a:buNone/>
            </a:pPr>
            <a:r>
              <a:rPr lang="en-US" sz="950" dirty="0">
                <a:solidFill>
                  <a:srgbClr val="2B2622"/>
                </a:solidFill>
                <a:latin typeface="Calibri" pitchFamily="34" charset="0"/>
                <a:ea typeface="Calibri" pitchFamily="34" charset="-122"/>
                <a:cs typeface="Calibri" pitchFamily="34" charset="-120"/>
              </a:rPr>
              <a:t>The documentation, not the chapter's wording, is the one to trust on $: it matches at the very end of the string or just before a trailing newline, so ^\d+$ also matches '123\n'.</a:t>
            </a:r>
            <a:endParaRPr lang="en-US" sz="950" dirty="0"/>
          </a:p>
        </p:txBody>
      </p:sp>
      <p:sp>
        <p:nvSpPr>
          <p:cNvPr id="11" name="Shape 9"/>
          <p:cNvSpPr/>
          <p:nvPr/>
        </p:nvSpPr>
        <p:spPr>
          <a:xfrm>
            <a:off x="457200" y="4636008"/>
            <a:ext cx="91440" cy="310896"/>
          </a:xfrm>
          <a:prstGeom prst="rect">
            <a:avLst/>
          </a:prstGeom>
          <a:solidFill>
            <a:srgbClr val="D97A14"/>
          </a:solidFill>
          <a:ln w="12700">
            <a:solidFill>
              <a:srgbClr val="D97A14"/>
            </a:solidFill>
            <a:prstDash val="solid"/>
          </a:ln>
        </p:spPr>
      </p:sp>
      <p:sp>
        <p:nvSpPr>
          <p:cNvPr id="12" name="Text 1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look-around tests text beside a position without consuming it.</a:t>
            </a:r>
            <a:endParaRPr lang="en-US" sz="1350" dirty="0"/>
          </a:p>
        </p:txBody>
      </p:sp>
      <p:sp>
        <p:nvSpPr>
          <p:cNvPr id="13" name="Text 1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22</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Finding every match: findall and finditer</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findall returns every non-overlapping match; finditer hands back each Match object in turn</a:t>
            </a:r>
            <a:endParaRPr lang="en-US" sz="1300" dirty="0"/>
          </a:p>
        </p:txBody>
      </p:sp>
      <p:sp>
        <p:nvSpPr>
          <p:cNvPr id="6" name="Text 4"/>
          <p:cNvSpPr txBox="1"/>
          <p:nvPr/>
        </p:nvSpPr>
        <p:spPr>
          <a:xfrm>
            <a:off x="457200" y="1097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findall returns strings or tuples, never overlapping; finditer gives each Match in turn</a:t>
            </a:r>
            <a:endParaRPr lang="en-US" sz="1150" dirty="0"/>
          </a:p>
        </p:txBody>
      </p:sp>
      <p:sp>
        <p:nvSpPr>
          <p:cNvPr id="7" name="Shape 5"/>
          <p:cNvSpPr/>
          <p:nvPr/>
        </p:nvSpPr>
        <p:spPr>
          <a:xfrm>
            <a:off x="457200" y="1371600"/>
            <a:ext cx="8229600" cy="1444752"/>
          </a:xfrm>
          <a:prstGeom prst="roundRect">
            <a:avLst>
              <a:gd name="adj" fmla="val 6329"/>
            </a:avLst>
          </a:prstGeom>
          <a:solidFill>
            <a:srgbClr val="23272E"/>
          </a:solidFill>
          <a:ln w="12700">
            <a:solidFill>
              <a:srgbClr val="23272E"/>
            </a:solidFill>
            <a:prstDash val="solid"/>
          </a:ln>
        </p:spPr>
      </p:sp>
      <p:sp>
        <p:nvSpPr>
          <p:cNvPr id="8" name="Text 6"/>
          <p:cNvSpPr txBox="1"/>
          <p:nvPr/>
        </p:nvSpPr>
        <p:spPr>
          <a:xfrm>
            <a:off x="640080" y="1490472"/>
            <a:ext cx="7863840" cy="1207008"/>
          </a:xfrm>
          <a:prstGeom prst="rect">
            <a:avLst/>
          </a:prstGeom>
          <a:noFill/>
          <a:ln/>
        </p:spPr>
        <p:txBody>
          <a:bodyPr wrap="square" lIns="0" tIns="0" rIns="0" bIns="0" rtlCol="0" anchor="t"/>
          <a:lstStyle/>
          <a:p>
            <a:pPr indent="0" marL="0">
              <a:buNone/>
            </a:pPr>
            <a:r>
              <a:rPr lang="en-US" sz="740" b="1" dirty="0">
                <a:solidFill>
                  <a:srgbClr val="D97A14"/>
                </a:solidFill>
                <a:latin typeface="Courier New" pitchFamily="34" charset="0"/>
                <a:ea typeface="Courier New" pitchFamily="34" charset="-122"/>
                <a:cs typeface="Courier New" pitchFamily="34" charset="-120"/>
              </a:rPr>
              <a:t>&gt;&gt;&gt; </a:t>
            </a:r>
            <a:r>
              <a:rPr lang="en-US" sz="740" dirty="0">
                <a:solidFill>
                  <a:srgbClr val="E6EDF3"/>
                </a:solidFill>
                <a:latin typeface="Courier New" pitchFamily="34" charset="0"/>
                <a:ea typeface="Courier New" pitchFamily="34" charset="-122"/>
                <a:cs typeface="Courier New" pitchFamily="34" charset="-120"/>
              </a:rPr>
              <a:t>import re</a:t>
            </a:r>
            <a:endParaRPr lang="en-US" sz="740" dirty="0"/>
          </a:p>
          <a:p>
            <a:pPr indent="0" marL="0">
              <a:buNone/>
            </a:pPr>
            <a:r>
              <a:rPr lang="en-US" sz="740" b="1" dirty="0">
                <a:solidFill>
                  <a:srgbClr val="D97A14"/>
                </a:solidFill>
                <a:latin typeface="Courier New" pitchFamily="34" charset="0"/>
                <a:ea typeface="Courier New" pitchFamily="34" charset="-122"/>
                <a:cs typeface="Courier New" pitchFamily="34" charset="-120"/>
              </a:rPr>
              <a:t>&gt;&gt;&gt; </a:t>
            </a:r>
            <a:r>
              <a:rPr lang="en-US" sz="740" dirty="0">
                <a:solidFill>
                  <a:srgbClr val="E6EDF3"/>
                </a:solidFill>
                <a:latin typeface="Courier New" pitchFamily="34" charset="0"/>
                <a:ea typeface="Courier New" pitchFamily="34" charset="-122"/>
                <a:cs typeface="Courier New" pitchFamily="34" charset="-120"/>
              </a:rPr>
              <a:t>re.findall(r'\d{3}-\d{3}-\d{4}', 'Cell: 415-555-9999 Work: 212-555-0000')</a:t>
            </a:r>
            <a:endParaRPr lang="en-US" sz="740" dirty="0"/>
          </a:p>
          <a:p>
            <a:pPr indent="0" marL="0">
              <a:buNone/>
            </a:pPr>
            <a:r>
              <a:rPr lang="en-US" sz="740" dirty="0">
                <a:solidFill>
                  <a:srgbClr val="7EE787"/>
                </a:solidFill>
                <a:latin typeface="Courier New" pitchFamily="34" charset="0"/>
                <a:ea typeface="Courier New" pitchFamily="34" charset="-122"/>
                <a:cs typeface="Courier New" pitchFamily="34" charset="-120"/>
              </a:rPr>
              <a:t>['415-555-9999', '212-555-0000']</a:t>
            </a:r>
            <a:endParaRPr lang="en-US" sz="740" dirty="0"/>
          </a:p>
          <a:p>
            <a:pPr indent="0" marL="0">
              <a:buNone/>
            </a:pPr>
            <a:r>
              <a:rPr lang="en-US" sz="740" b="1" dirty="0">
                <a:solidFill>
                  <a:srgbClr val="D97A14"/>
                </a:solidFill>
                <a:latin typeface="Courier New" pitchFamily="34" charset="0"/>
                <a:ea typeface="Courier New" pitchFamily="34" charset="-122"/>
                <a:cs typeface="Courier New" pitchFamily="34" charset="-120"/>
              </a:rPr>
              <a:t>&gt;&gt;&gt; </a:t>
            </a:r>
            <a:r>
              <a:rPr lang="en-US" sz="740" dirty="0">
                <a:solidFill>
                  <a:srgbClr val="E6EDF3"/>
                </a:solidFill>
                <a:latin typeface="Courier New" pitchFamily="34" charset="0"/>
                <a:ea typeface="Courier New" pitchFamily="34" charset="-122"/>
                <a:cs typeface="Courier New" pitchFamily="34" charset="-120"/>
              </a:rPr>
              <a:t>re.findall(r'(\w+)=(\d+)', 'set width=20 and height=10')</a:t>
            </a:r>
            <a:endParaRPr lang="en-US" sz="740" dirty="0"/>
          </a:p>
          <a:p>
            <a:pPr indent="0" marL="0">
              <a:buNone/>
            </a:pPr>
            <a:r>
              <a:rPr lang="en-US" sz="740" dirty="0">
                <a:solidFill>
                  <a:srgbClr val="7EE787"/>
                </a:solidFill>
                <a:latin typeface="Courier New" pitchFamily="34" charset="0"/>
                <a:ea typeface="Courier New" pitchFamily="34" charset="-122"/>
                <a:cs typeface="Courier New" pitchFamily="34" charset="-120"/>
              </a:rPr>
              <a:t>[('width', '20'), ('height', '10')]</a:t>
            </a:r>
            <a:endParaRPr lang="en-US" sz="740" dirty="0"/>
          </a:p>
          <a:p>
            <a:pPr indent="0" marL="0">
              <a:buNone/>
            </a:pPr>
            <a:r>
              <a:rPr lang="en-US" sz="740" b="1" dirty="0">
                <a:solidFill>
                  <a:srgbClr val="D97A14"/>
                </a:solidFill>
                <a:latin typeface="Courier New" pitchFamily="34" charset="0"/>
                <a:ea typeface="Courier New" pitchFamily="34" charset="-122"/>
                <a:cs typeface="Courier New" pitchFamily="34" charset="-120"/>
              </a:rPr>
              <a:t>&gt;&gt;&gt; </a:t>
            </a:r>
            <a:r>
              <a:rPr lang="en-US" sz="740" dirty="0">
                <a:solidFill>
                  <a:srgbClr val="E6EDF3"/>
                </a:solidFill>
                <a:latin typeface="Courier New" pitchFamily="34" charset="0"/>
                <a:ea typeface="Courier New" pitchFamily="34" charset="-122"/>
                <a:cs typeface="Courier New" pitchFamily="34" charset="-120"/>
              </a:rPr>
              <a:t>re.compile(r'\d{3}').findall('123456')</a:t>
            </a:r>
            <a:endParaRPr lang="en-US" sz="740" dirty="0"/>
          </a:p>
          <a:p>
            <a:pPr indent="0" marL="0">
              <a:buNone/>
            </a:pPr>
            <a:r>
              <a:rPr lang="en-US" sz="740" dirty="0">
                <a:solidFill>
                  <a:srgbClr val="7EE787"/>
                </a:solidFill>
                <a:latin typeface="Courier New" pitchFamily="34" charset="0"/>
                <a:ea typeface="Courier New" pitchFamily="34" charset="-122"/>
                <a:cs typeface="Courier New" pitchFamily="34" charset="-120"/>
              </a:rPr>
              <a:t>['123', '456']</a:t>
            </a:r>
            <a:endParaRPr lang="en-US" sz="740" dirty="0"/>
          </a:p>
          <a:p>
            <a:pPr indent="0" marL="0">
              <a:buNone/>
            </a:pPr>
            <a:r>
              <a:rPr lang="en-US" sz="740" b="1" dirty="0">
                <a:solidFill>
                  <a:srgbClr val="D97A14"/>
                </a:solidFill>
                <a:latin typeface="Courier New" pitchFamily="34" charset="0"/>
                <a:ea typeface="Courier New" pitchFamily="34" charset="-122"/>
                <a:cs typeface="Courier New" pitchFamily="34" charset="-120"/>
              </a:rPr>
              <a:t>&gt;&gt;&gt; </a:t>
            </a:r>
            <a:r>
              <a:rPr lang="en-US" sz="740" dirty="0">
                <a:solidFill>
                  <a:srgbClr val="E6EDF3"/>
                </a:solidFill>
                <a:latin typeface="Courier New" pitchFamily="34" charset="0"/>
                <a:ea typeface="Courier New" pitchFamily="34" charset="-122"/>
                <a:cs typeface="Courier New" pitchFamily="34" charset="-120"/>
              </a:rPr>
              <a:t>[(m.start(), m.end(), m.group()) for m in re.finditer(r'\w+ly\b', 'He was carefully disguised but captured quickly by police.')]</a:t>
            </a:r>
            <a:endParaRPr lang="en-US" sz="740" dirty="0"/>
          </a:p>
          <a:p>
            <a:pPr indent="0" marL="0">
              <a:buNone/>
            </a:pPr>
            <a:r>
              <a:rPr lang="en-US" sz="740" dirty="0">
                <a:solidFill>
                  <a:srgbClr val="7EE787"/>
                </a:solidFill>
                <a:latin typeface="Courier New" pitchFamily="34" charset="0"/>
                <a:ea typeface="Courier New" pitchFamily="34" charset="-122"/>
                <a:cs typeface="Courier New" pitchFamily="34" charset="-120"/>
              </a:rPr>
              <a:t>[(7, 16, 'carefully'), (40, 47, 'quickly')]</a:t>
            </a:r>
            <a:endParaRPr lang="en-US" sz="740" dirty="0"/>
          </a:p>
        </p:txBody>
      </p:sp>
      <p:sp>
        <p:nvSpPr>
          <p:cNvPr id="9" name="Text 7"/>
          <p:cNvSpPr txBox="1"/>
          <p:nvPr/>
        </p:nvSpPr>
        <p:spPr>
          <a:xfrm>
            <a:off x="457200" y="2834640"/>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Text 8"/>
          <p:cNvSpPr txBox="1"/>
          <p:nvPr/>
        </p:nvSpPr>
        <p:spPr>
          <a:xfrm>
            <a:off x="457200" y="3163824"/>
            <a:ext cx="8229600" cy="1362456"/>
          </a:xfrm>
          <a:prstGeom prst="rect">
            <a:avLst/>
          </a:prstGeom>
          <a:noFill/>
          <a:ln/>
        </p:spPr>
        <p:txBody>
          <a:bodyPr wrap="square" lIns="0" tIns="0" rIns="0" bIns="0" rtlCol="0" anchor="t"/>
          <a:lstStyle/>
          <a:p>
            <a:pPr algn="l" indent="0" marL="0">
              <a:buNone/>
            </a:pPr>
            <a:r>
              <a:rPr lang="en-US" sz="1150" dirty="0">
                <a:solidFill>
                  <a:srgbClr val="2B2622"/>
                </a:solidFill>
                <a:latin typeface="Calibri" pitchFamily="34" charset="0"/>
                <a:ea typeface="Calibri" pitchFamily="34" charset="-122"/>
                <a:cs typeface="Calibri" pitchFamily="34" charset="-120"/>
              </a:rPr>
              <a:t>findall returns a plain list of strings when the pattern has no groups or exactly one, and a list of tuples of group text when it has two or more; finditer gives up nothing but the Match objects themselves, each with its own start(), end() and group().</a:t>
            </a:r>
            <a:endParaRPr lang="en-US" sz="1150" dirty="0"/>
          </a:p>
        </p:txBody>
      </p:sp>
      <p:sp>
        <p:nvSpPr>
          <p:cNvPr id="11" name="Shape 9"/>
          <p:cNvSpPr/>
          <p:nvPr/>
        </p:nvSpPr>
        <p:spPr>
          <a:xfrm>
            <a:off x="457200" y="4636008"/>
            <a:ext cx="91440" cy="310896"/>
          </a:xfrm>
          <a:prstGeom prst="rect">
            <a:avLst/>
          </a:prstGeom>
          <a:solidFill>
            <a:srgbClr val="D97A14"/>
          </a:solidFill>
          <a:ln w="12700">
            <a:solidFill>
              <a:srgbClr val="D97A14"/>
            </a:solidFill>
            <a:prstDash val="solid"/>
          </a:ln>
        </p:spPr>
      </p:sp>
      <p:sp>
        <p:nvSpPr>
          <p:cNvPr id="12" name="Text 1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pattern's own groups decide findall's shape: strings or tuples.</a:t>
            </a:r>
            <a:endParaRPr lang="en-US" sz="1350" dirty="0"/>
          </a:p>
        </p:txBody>
      </p:sp>
      <p:sp>
        <p:nvSpPr>
          <p:cNvPr id="13" name="Text 1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22</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Replacing text with sub()</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sub(repl, string) replaces every match; the replacement can name a group, or be a function</a:t>
            </a:r>
            <a:endParaRPr lang="en-US" sz="1300" dirty="0"/>
          </a:p>
        </p:txBody>
      </p:sp>
      <p:sp>
        <p:nvSpPr>
          <p:cNvPr id="6" name="Text 4"/>
          <p:cNvSpPr txBox="1"/>
          <p:nvPr/>
        </p:nvSpPr>
        <p:spPr>
          <a:xfrm>
            <a:off x="457200" y="1097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sub(repl, text) replaces every match; repl may be a string with \1 or a function</a:t>
            </a:r>
            <a:endParaRPr lang="en-US" sz="1150" dirty="0"/>
          </a:p>
        </p:txBody>
      </p:sp>
      <p:sp>
        <p:nvSpPr>
          <p:cNvPr id="7" name="Shape 5"/>
          <p:cNvSpPr/>
          <p:nvPr/>
        </p:nvSpPr>
        <p:spPr>
          <a:xfrm>
            <a:off x="457200" y="1371600"/>
            <a:ext cx="8229600" cy="1764792"/>
          </a:xfrm>
          <a:prstGeom prst="roundRect">
            <a:avLst>
              <a:gd name="adj" fmla="val 5181"/>
            </a:avLst>
          </a:prstGeom>
          <a:solidFill>
            <a:srgbClr val="23272E"/>
          </a:solidFill>
          <a:ln w="12700">
            <a:solidFill>
              <a:srgbClr val="23272E"/>
            </a:solidFill>
            <a:prstDash val="solid"/>
          </a:ln>
        </p:spPr>
      </p:sp>
      <p:sp>
        <p:nvSpPr>
          <p:cNvPr id="8" name="Text 6"/>
          <p:cNvSpPr txBox="1"/>
          <p:nvPr/>
        </p:nvSpPr>
        <p:spPr>
          <a:xfrm>
            <a:off x="640080" y="1490472"/>
            <a:ext cx="7863840" cy="1527048"/>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import re</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re.compile(r'Agent \w+').sub('CENSORED', 'Agent Alice contacted Agent Bob.')</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'CENSORED contacted CENSORED.'</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re.compile(r'Agent (\w)\w*').sub(r'\1****', 'Agent Alice contacted Agent Bob.')</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'A**** contacted B****.'</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re.sub(r'\d+', lambda m: str(int(m.group()) * 2), '3 cats 12 dogs')</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'6 cats 24 dogs'</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re.escape('a.b*c')</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'a\\.b\\*c'</a:t>
            </a:r>
            <a:endParaRPr lang="en-US" sz="950" dirty="0"/>
          </a:p>
        </p:txBody>
      </p:sp>
      <p:sp>
        <p:nvSpPr>
          <p:cNvPr id="9" name="Text 7"/>
          <p:cNvSpPr txBox="1"/>
          <p:nvPr/>
        </p:nvSpPr>
        <p:spPr>
          <a:xfrm>
            <a:off x="457200" y="3154680"/>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Text 8"/>
          <p:cNvSpPr txBox="1"/>
          <p:nvPr/>
        </p:nvSpPr>
        <p:spPr>
          <a:xfrm>
            <a:off x="457200" y="3483864"/>
            <a:ext cx="8229600" cy="1042416"/>
          </a:xfrm>
          <a:prstGeom prst="rect">
            <a:avLst/>
          </a:prstGeom>
          <a:noFill/>
          <a:ln/>
        </p:spPr>
        <p:txBody>
          <a:bodyPr wrap="square" lIns="0" tIns="0" rIns="0" bIns="0" rtlCol="0" anchor="t"/>
          <a:lstStyle/>
          <a:p>
            <a:pPr algn="l" indent="0" marL="0">
              <a:buNone/>
            </a:pPr>
            <a:r>
              <a:rPr lang="en-US" sz="1100" dirty="0">
                <a:solidFill>
                  <a:srgbClr val="2B2622"/>
                </a:solidFill>
                <a:latin typeface="Calibri" pitchFamily="34" charset="0"/>
                <a:ea typeface="Calibri" pitchFamily="34" charset="-122"/>
                <a:cs typeface="Calibri" pitchFamily="34" charset="-120"/>
              </a:rPr>
              <a:t>The documentation's own signature is sub(repl, string, count=0), the replacement first, the text second, matching the order shown here rather than the order the chapter describes it in; passing count positionally is deprecated since Python 3.13.</a:t>
            </a:r>
            <a:endParaRPr lang="en-US" sz="1100" dirty="0"/>
          </a:p>
        </p:txBody>
      </p:sp>
      <p:sp>
        <p:nvSpPr>
          <p:cNvPr id="11" name="Shape 9"/>
          <p:cNvSpPr/>
          <p:nvPr/>
        </p:nvSpPr>
        <p:spPr>
          <a:xfrm>
            <a:off x="457200" y="4636008"/>
            <a:ext cx="91440" cy="310896"/>
          </a:xfrm>
          <a:prstGeom prst="rect">
            <a:avLst/>
          </a:prstGeom>
          <a:solidFill>
            <a:srgbClr val="D97A14"/>
          </a:solidFill>
          <a:ln w="12700">
            <a:solidFill>
              <a:srgbClr val="D97A14"/>
            </a:solidFill>
            <a:prstDash val="solid"/>
          </a:ln>
        </p:spPr>
      </p:sp>
      <p:sp>
        <p:nvSpPr>
          <p:cNvPr id="12" name="Text 1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replacement can hold \1, or be a function run per match.</a:t>
            </a:r>
            <a:endParaRPr lang="en-US" sz="1350" dirty="0"/>
          </a:p>
        </p:txBody>
      </p:sp>
      <p:sp>
        <p:nvSpPr>
          <p:cNvPr id="13" name="Text 1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22</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Flags: ignorecase, dotall, verbose, and combined</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re.I, re.S, re.X change how a pattern reads; the pipe combines any of them into one flag</a:t>
            </a:r>
            <a:endParaRPr lang="en-US" sz="1300" dirty="0"/>
          </a:p>
        </p:txBody>
      </p:sp>
      <p:sp>
        <p:nvSpPr>
          <p:cNvPr id="6" name="Text 4"/>
          <p:cNvSpPr txBox="1"/>
          <p:nvPr/>
        </p:nvSpPr>
        <p:spPr>
          <a:xfrm>
            <a:off x="457200" y="1097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re.I ignores case; re.S lets the dot match a newline; re.X allows comments</a:t>
            </a:r>
            <a:endParaRPr lang="en-US" sz="1150" dirty="0"/>
          </a:p>
        </p:txBody>
      </p:sp>
      <p:sp>
        <p:nvSpPr>
          <p:cNvPr id="7" name="Shape 5"/>
          <p:cNvSpPr/>
          <p:nvPr/>
        </p:nvSpPr>
        <p:spPr>
          <a:xfrm>
            <a:off x="457200" y="1371600"/>
            <a:ext cx="8229600" cy="1691640"/>
          </a:xfrm>
          <a:prstGeom prst="roundRect">
            <a:avLst>
              <a:gd name="adj" fmla="val 5405"/>
            </a:avLst>
          </a:prstGeom>
          <a:solidFill>
            <a:srgbClr val="23272E"/>
          </a:solidFill>
          <a:ln w="12700">
            <a:solidFill>
              <a:srgbClr val="23272E"/>
            </a:solidFill>
            <a:prstDash val="solid"/>
          </a:ln>
        </p:spPr>
      </p:sp>
      <p:sp>
        <p:nvSpPr>
          <p:cNvPr id="8" name="Text 6"/>
          <p:cNvSpPr txBox="1"/>
          <p:nvPr/>
        </p:nvSpPr>
        <p:spPr>
          <a:xfrm>
            <a:off x="640080" y="1490472"/>
            <a:ext cx="7863840" cy="145389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import re</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re.search('robocop', 'ROBOCOP protects', re.I).group()</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'ROBOCOP'</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re.search('.*', 'Serve the public trust.\nProtect the innocent.', re.DOTALL).group()</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'Serve the public trust.\nProtect the innocent.'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re.search(r'\d{3}  # area code\n-\d{4}  # number', '415-5551', re.VERBOSE).group()</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'415'</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int(re.I | re.S | re.X)</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82</a:t>
            </a:r>
            <a:endParaRPr lang="en-US" sz="900" dirty="0"/>
          </a:p>
        </p:txBody>
      </p:sp>
      <p:sp>
        <p:nvSpPr>
          <p:cNvPr id="9" name="Text 7"/>
          <p:cNvSpPr txBox="1"/>
          <p:nvPr/>
        </p:nvSpPr>
        <p:spPr>
          <a:xfrm>
            <a:off x="457200" y="308152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392424"/>
            <a:ext cx="8229600" cy="1133856"/>
          </a:xfrm>
          <a:prstGeom prst="roundRect">
            <a:avLst>
              <a:gd name="adj" fmla="val 8065"/>
            </a:avLst>
          </a:prstGeom>
          <a:solidFill>
            <a:srgbClr val="F2ECE1"/>
          </a:solidFill>
          <a:ln w="12700">
            <a:solidFill>
              <a:srgbClr val="F2ECE1"/>
            </a:solidFill>
            <a:prstDash val="solid"/>
          </a:ln>
        </p:spPr>
      </p:sp>
      <p:sp>
        <p:nvSpPr>
          <p:cNvPr id="11" name="Text 9"/>
          <p:cNvSpPr txBox="1"/>
          <p:nvPr/>
        </p:nvSpPr>
        <p:spPr>
          <a:xfrm>
            <a:off x="640080" y="3511296"/>
            <a:ext cx="786384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A verbose-mode gotcha</a:t>
            </a:r>
            <a:endParaRPr lang="en-US" sz="1600" dirty="0"/>
          </a:p>
        </p:txBody>
      </p:sp>
      <p:sp>
        <p:nvSpPr>
          <p:cNvPr id="12" name="Text 10"/>
          <p:cNvSpPr txBox="1"/>
          <p:nvPr/>
        </p:nvSpPr>
        <p:spPr>
          <a:xfrm>
            <a:off x="640080" y="3895344"/>
            <a:ext cx="7863840" cy="49377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A # comment in VERBOSE mode runs to the pattern's own line break; the console's \n after '# area code' is two characters, not a real newline, so the comment swallows the rest of the pattern and only \d{3} is left to match.</a:t>
            </a:r>
            <a:endParaRPr lang="en-US" sz="1000" dirty="0"/>
          </a:p>
        </p:txBody>
      </p:sp>
      <p:sp>
        <p:nvSpPr>
          <p:cNvPr id="13" name="Shape 11"/>
          <p:cNvSpPr/>
          <p:nvPr/>
        </p:nvSpPr>
        <p:spPr>
          <a:xfrm>
            <a:off x="457200" y="4636008"/>
            <a:ext cx="91440" cy="310896"/>
          </a:xfrm>
          <a:prstGeom prst="rect">
            <a:avLst/>
          </a:prstGeom>
          <a:solidFill>
            <a:srgbClr val="D97A14"/>
          </a:solidFill>
          <a:ln w="12700">
            <a:solidFill>
              <a:srgbClr val="D97A14"/>
            </a:solidFill>
            <a:prstDash val="solid"/>
          </a:ln>
        </p:spPr>
      </p:sp>
      <p:sp>
        <p:nvSpPr>
          <p:cNvPr id="14" name="Text 1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re.X comments run to the pattern's own line break, not past it.</a:t>
            </a:r>
            <a:endParaRPr lang="en-US" sz="1350" dirty="0"/>
          </a:p>
        </p:txBody>
      </p:sp>
      <p:sp>
        <p:nvSpPr>
          <p:cNvPr id="15"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22</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Project 3: extract contact information</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phoneRegex and emailRegex, in VERBOSE mode, find numbers and addresses in a page of text</a:t>
            </a:r>
            <a:endParaRPr lang="en-US" sz="1300" dirty="0"/>
          </a:p>
        </p:txBody>
      </p:sp>
      <p:sp>
        <p:nvSpPr>
          <p:cNvPr id="6" name="Text 4"/>
          <p:cNvSpPr txBox="1"/>
          <p:nvPr/>
        </p:nvSpPr>
        <p:spPr>
          <a:xfrm>
            <a:off x="457200" y="1097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program contactExtractor_v1_0_0.py, lines 1 to 10 of 35 - Python 3.14.6</a:t>
            </a:r>
            <a:endParaRPr lang="en-US" sz="1150" dirty="0"/>
          </a:p>
        </p:txBody>
      </p:sp>
      <p:sp>
        <p:nvSpPr>
          <p:cNvPr id="7" name="Shape 5"/>
          <p:cNvSpPr/>
          <p:nvPr/>
        </p:nvSpPr>
        <p:spPr>
          <a:xfrm>
            <a:off x="457200" y="1371600"/>
            <a:ext cx="8229600" cy="1536192"/>
          </a:xfrm>
          <a:prstGeom prst="roundRect">
            <a:avLst>
              <a:gd name="adj" fmla="val 5952"/>
            </a:avLst>
          </a:prstGeom>
          <a:solidFill>
            <a:srgbClr val="23272E"/>
          </a:solidFill>
          <a:ln w="12700">
            <a:solidFill>
              <a:srgbClr val="23272E"/>
            </a:solidFill>
            <a:prstDash val="solid"/>
          </a:ln>
        </p:spPr>
      </p:sp>
      <p:sp>
        <p:nvSpPr>
          <p:cNvPr id="8" name="Text 6"/>
          <p:cNvSpPr txBox="1"/>
          <p:nvPr/>
        </p:nvSpPr>
        <p:spPr>
          <a:xfrm>
            <a:off x="640080" y="1490472"/>
            <a:ext cx="7863840" cy="1298448"/>
          </a:xfrm>
          <a:prstGeom prst="rect">
            <a:avLst/>
          </a:prstGeom>
          <a:noFill/>
          <a:ln/>
        </p:spPr>
        <p:txBody>
          <a:bodyPr wrap="square" lIns="0" tIns="0" rIns="0" bIns="0" rtlCol="0" anchor="t"/>
          <a:lstStyle/>
          <a:p>
            <a:pPr indent="0" marL="0">
              <a:buNone/>
            </a:pPr>
            <a:r>
              <a:rPr lang="en-US" sz="700" b="1" dirty="0">
                <a:solidFill>
                  <a:srgbClr val="F2A860"/>
                </a:solidFill>
                <a:latin typeface="Courier New" pitchFamily="34" charset="0"/>
                <a:ea typeface="Courier New" pitchFamily="34" charset="-122"/>
                <a:cs typeface="Courier New" pitchFamily="34" charset="-120"/>
              </a:rPr>
              <a:t>import</a:t>
            </a:r>
            <a:r>
              <a:rPr lang="en-US" sz="700" dirty="0">
                <a:solidFill>
                  <a:srgbClr val="E6EDF3"/>
                </a:solidFill>
                <a:latin typeface="Courier New" pitchFamily="34" charset="0"/>
                <a:ea typeface="Courier New" pitchFamily="34" charset="-122"/>
                <a:cs typeface="Courier New" pitchFamily="34" charset="-120"/>
              </a:rPr>
              <a:t> re</a:t>
            </a:r>
            <a:endParaRPr lang="en-US" sz="700" dirty="0"/>
          </a:p>
          <a:p>
            <a:pPr indent="0" marL="0">
              <a:buNone/>
            </a:pP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phoneRegex = re.compile(r</a:t>
            </a:r>
            <a:r>
              <a:rPr lang="en-US" sz="700" dirty="0">
                <a:solidFill>
                  <a:srgbClr val="9ECBFF"/>
                </a:solidFill>
                <a:latin typeface="Courier New" pitchFamily="34" charset="0"/>
                <a:ea typeface="Courier New" pitchFamily="34" charset="-122"/>
                <a:cs typeface="Courier New" pitchFamily="34" charset="-120"/>
              </a:rPr>
              <a:t>''</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(\d{</a:t>
            </a:r>
            <a:r>
              <a:rPr lang="en-US" sz="700" dirty="0">
                <a:solidFill>
                  <a:srgbClr val="FFD28A"/>
                </a:solidFill>
                <a:latin typeface="Courier New" pitchFamily="34" charset="0"/>
                <a:ea typeface="Courier New" pitchFamily="34" charset="-122"/>
                <a:cs typeface="Courier New" pitchFamily="34" charset="-120"/>
              </a:rPr>
              <a:t>3</a:t>
            </a:r>
            <a:r>
              <a:rPr lang="en-US" sz="700" dirty="0">
                <a:solidFill>
                  <a:srgbClr val="E6EDF3"/>
                </a:solidFill>
                <a:latin typeface="Courier New" pitchFamily="34" charset="0"/>
                <a:ea typeface="Courier New" pitchFamily="34" charset="-122"/>
                <a:cs typeface="Courier New" pitchFamily="34" charset="-120"/>
              </a:rPr>
              <a:t>}|\(\d{</a:t>
            </a:r>
            <a:r>
              <a:rPr lang="en-US" sz="700" dirty="0">
                <a:solidFill>
                  <a:srgbClr val="FFD28A"/>
                </a:solidFill>
                <a:latin typeface="Courier New" pitchFamily="34" charset="0"/>
                <a:ea typeface="Courier New" pitchFamily="34" charset="-122"/>
                <a:cs typeface="Courier New" pitchFamily="34" charset="-120"/>
              </a:rPr>
              <a:t>3</a:t>
            </a:r>
            <a:r>
              <a:rPr lang="en-US" sz="700" dirty="0">
                <a:solidFill>
                  <a:srgbClr val="E6EDF3"/>
                </a:solidFill>
                <a:latin typeface="Courier New" pitchFamily="34" charset="0"/>
                <a:ea typeface="Courier New" pitchFamily="34" charset="-122"/>
                <a:cs typeface="Courier New" pitchFamily="34" charset="-120"/>
              </a:rPr>
              <a:t>}\))?            </a:t>
            </a:r>
            <a:r>
              <a:rPr lang="en-US" sz="700" i="1" dirty="0">
                <a:solidFill>
                  <a:srgbClr val="8FA98F"/>
                </a:solidFill>
                <a:latin typeface="Courier New" pitchFamily="34" charset="0"/>
                <a:ea typeface="Courier New" pitchFamily="34" charset="-122"/>
                <a:cs typeface="Courier New" pitchFamily="34" charset="-120"/>
              </a:rPr>
              <a:t># area code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(\s|-|\.)?                    </a:t>
            </a:r>
            <a:r>
              <a:rPr lang="en-US" sz="700" i="1" dirty="0">
                <a:solidFill>
                  <a:srgbClr val="8FA98F"/>
                </a:solidFill>
                <a:latin typeface="Courier New" pitchFamily="34" charset="0"/>
                <a:ea typeface="Courier New" pitchFamily="34" charset="-122"/>
                <a:cs typeface="Courier New" pitchFamily="34" charset="-120"/>
              </a:rPr>
              <a:t># separator</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(\d{</a:t>
            </a:r>
            <a:r>
              <a:rPr lang="en-US" sz="700" dirty="0">
                <a:solidFill>
                  <a:srgbClr val="FFD28A"/>
                </a:solidFill>
                <a:latin typeface="Courier New" pitchFamily="34" charset="0"/>
                <a:ea typeface="Courier New" pitchFamily="34" charset="-122"/>
                <a:cs typeface="Courier New" pitchFamily="34" charset="-120"/>
              </a:rPr>
              <a:t>3</a:t>
            </a:r>
            <a:r>
              <a:rPr lang="en-US" sz="700" dirty="0">
                <a:solidFill>
                  <a:srgbClr val="E6EDF3"/>
                </a:solidFill>
                <a:latin typeface="Courier New" pitchFamily="34" charset="0"/>
                <a:ea typeface="Courier New" pitchFamily="34" charset="-122"/>
                <a:cs typeface="Courier New" pitchFamily="34" charset="-120"/>
              </a:rPr>
              <a:t>})                       </a:t>
            </a:r>
            <a:r>
              <a:rPr lang="en-US" sz="700" i="1" dirty="0">
                <a:solidFill>
                  <a:srgbClr val="8FA98F"/>
                </a:solidFill>
                <a:latin typeface="Courier New" pitchFamily="34" charset="0"/>
                <a:ea typeface="Courier New" pitchFamily="34" charset="-122"/>
                <a:cs typeface="Courier New" pitchFamily="34" charset="-120"/>
              </a:rPr>
              <a:t># first 3 digits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(\s|-|\.)                     </a:t>
            </a:r>
            <a:r>
              <a:rPr lang="en-US" sz="700" i="1" dirty="0">
                <a:solidFill>
                  <a:srgbClr val="8FA98F"/>
                </a:solidFill>
                <a:latin typeface="Courier New" pitchFamily="34" charset="0"/>
                <a:ea typeface="Courier New" pitchFamily="34" charset="-122"/>
                <a:cs typeface="Courier New" pitchFamily="34" charset="-120"/>
              </a:rPr>
              <a:t># separator</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(\d{</a:t>
            </a:r>
            <a:r>
              <a:rPr lang="en-US" sz="700" dirty="0">
                <a:solidFill>
                  <a:srgbClr val="FFD28A"/>
                </a:solidFill>
                <a:latin typeface="Courier New" pitchFamily="34" charset="0"/>
                <a:ea typeface="Courier New" pitchFamily="34" charset="-122"/>
                <a:cs typeface="Courier New" pitchFamily="34" charset="-120"/>
              </a:rPr>
              <a:t>4</a:t>
            </a:r>
            <a:r>
              <a:rPr lang="en-US" sz="700" dirty="0">
                <a:solidFill>
                  <a:srgbClr val="E6EDF3"/>
                </a:solidFill>
                <a:latin typeface="Courier New" pitchFamily="34" charset="0"/>
                <a:ea typeface="Courier New" pitchFamily="34" charset="-122"/>
                <a:cs typeface="Courier New" pitchFamily="34" charset="-120"/>
              </a:rPr>
              <a:t>})                       </a:t>
            </a:r>
            <a:r>
              <a:rPr lang="en-US" sz="700" i="1" dirty="0">
                <a:solidFill>
                  <a:srgbClr val="8FA98F"/>
                </a:solidFill>
                <a:latin typeface="Courier New" pitchFamily="34" charset="0"/>
                <a:ea typeface="Courier New" pitchFamily="34" charset="-122"/>
                <a:cs typeface="Courier New" pitchFamily="34" charset="-120"/>
              </a:rPr>
              <a:t># last 4 digits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(\s*(ext|x|ext\.)\s*(\d{</a:t>
            </a:r>
            <a:r>
              <a:rPr lang="en-US" sz="700" dirty="0">
                <a:solidFill>
                  <a:srgbClr val="FFD28A"/>
                </a:solidFill>
                <a:latin typeface="Courier New" pitchFamily="34" charset="0"/>
                <a:ea typeface="Courier New" pitchFamily="34" charset="-122"/>
                <a:cs typeface="Courier New" pitchFamily="34" charset="-120"/>
              </a:rPr>
              <a:t>2</a:t>
            </a:r>
            <a:r>
              <a:rPr lang="en-US" sz="700" dirty="0">
                <a:solidFill>
                  <a:srgbClr val="E6EDF3"/>
                </a:solidFill>
                <a:latin typeface="Courier New" pitchFamily="34" charset="0"/>
                <a:ea typeface="Courier New" pitchFamily="34" charset="-122"/>
                <a:cs typeface="Courier New" pitchFamily="34" charset="-120"/>
              </a:rPr>
              <a:t>,</a:t>
            </a:r>
            <a:r>
              <a:rPr lang="en-US" sz="700" dirty="0">
                <a:solidFill>
                  <a:srgbClr val="FFD28A"/>
                </a:solidFill>
                <a:latin typeface="Courier New" pitchFamily="34" charset="0"/>
                <a:ea typeface="Courier New" pitchFamily="34" charset="-122"/>
                <a:cs typeface="Courier New" pitchFamily="34" charset="-120"/>
              </a:rPr>
              <a:t>5</a:t>
            </a:r>
            <a:r>
              <a:rPr lang="en-US" sz="700" dirty="0">
                <a:solidFill>
                  <a:srgbClr val="E6EDF3"/>
                </a:solidFill>
                <a:latin typeface="Courier New" pitchFamily="34" charset="0"/>
                <a:ea typeface="Courier New" pitchFamily="34" charset="-122"/>
                <a:cs typeface="Courier New" pitchFamily="34" charset="-120"/>
              </a:rPr>
              <a:t>}))?  </a:t>
            </a:r>
            <a:r>
              <a:rPr lang="en-US" sz="700" i="1" dirty="0">
                <a:solidFill>
                  <a:srgbClr val="8FA98F"/>
                </a:solidFill>
                <a:latin typeface="Courier New" pitchFamily="34" charset="0"/>
                <a:ea typeface="Courier New" pitchFamily="34" charset="-122"/>
                <a:cs typeface="Courier New" pitchFamily="34" charset="-120"/>
              </a:rPr>
              <a:t># extension</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a:t>
            </a:r>
            <a:r>
              <a:rPr lang="en-US" sz="700" dirty="0">
                <a:solidFill>
                  <a:srgbClr val="E6EDF3"/>
                </a:solidFill>
                <a:latin typeface="Courier New" pitchFamily="34" charset="0"/>
                <a:ea typeface="Courier New" pitchFamily="34" charset="-122"/>
                <a:cs typeface="Courier New" pitchFamily="34" charset="-120"/>
              </a:rPr>
              <a:t>', re.VERBOSE)</a:t>
            </a:r>
            <a:endParaRPr lang="en-US" sz="700" dirty="0"/>
          </a:p>
        </p:txBody>
      </p:sp>
      <p:sp>
        <p:nvSpPr>
          <p:cNvPr id="9" name="Text 7"/>
          <p:cNvSpPr txBox="1"/>
          <p:nvPr/>
        </p:nvSpPr>
        <p:spPr>
          <a:xfrm>
            <a:off x="457200" y="2816352"/>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prints: the matches found, joined one per line, as the program copies them back</a:t>
            </a:r>
            <a:endParaRPr lang="en-US" sz="1150" dirty="0"/>
          </a:p>
        </p:txBody>
      </p:sp>
      <p:sp>
        <p:nvSpPr>
          <p:cNvPr id="10" name="Shape 8"/>
          <p:cNvSpPr/>
          <p:nvPr/>
        </p:nvSpPr>
        <p:spPr>
          <a:xfrm>
            <a:off x="457200" y="3090672"/>
            <a:ext cx="8229600" cy="1463040"/>
          </a:xfrm>
          <a:prstGeom prst="roundRect">
            <a:avLst>
              <a:gd name="adj" fmla="val 6250"/>
            </a:avLst>
          </a:prstGeom>
          <a:solidFill>
            <a:srgbClr val="23272E"/>
          </a:solidFill>
          <a:ln w="12700">
            <a:solidFill>
              <a:srgbClr val="23272E"/>
            </a:solidFill>
            <a:prstDash val="solid"/>
          </a:ln>
        </p:spPr>
      </p:sp>
      <p:sp>
        <p:nvSpPr>
          <p:cNvPr id="11" name="Text 9"/>
          <p:cNvSpPr txBox="1"/>
          <p:nvPr/>
        </p:nvSpPr>
        <p:spPr>
          <a:xfrm>
            <a:off x="640080" y="3209544"/>
            <a:ext cx="7863840" cy="1225296"/>
          </a:xfrm>
          <a:prstGeom prst="rect">
            <a:avLst/>
          </a:prstGeom>
          <a:noFill/>
          <a:ln/>
        </p:spPr>
        <p:txBody>
          <a:bodyPr wrap="square" lIns="0" tIns="0" rIns="0" bIns="0" rtlCol="0" anchor="t"/>
          <a:lstStyle/>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Copied to clipboard:</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800-555-7240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(415)-555-9900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415-555-9950 x ext. 123</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-555-1234 x x99</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info@nostarch.com</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media@nostarch.com</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academic@nostarch.com</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info@nostarch.com</a:t>
            </a:r>
            <a:endParaRPr lang="en-US" sz="700" dirty="0"/>
          </a:p>
        </p:txBody>
      </p:sp>
      <p:sp>
        <p:nvSpPr>
          <p:cNvPr id="12" name="Shape 10"/>
          <p:cNvSpPr/>
          <p:nvPr/>
        </p:nvSpPr>
        <p:spPr>
          <a:xfrm>
            <a:off x="457200" y="4636008"/>
            <a:ext cx="91440" cy="310896"/>
          </a:xfrm>
          <a:prstGeom prst="rect">
            <a:avLst/>
          </a:prstGeom>
          <a:solidFill>
            <a:srgbClr val="D97A14"/>
          </a:solidFill>
          <a:ln w="12700">
            <a:solidFill>
              <a:srgbClr val="D97A14"/>
            </a:solidFill>
            <a:prstDash val="solid"/>
          </a:ln>
        </p:spPr>
      </p:sp>
      <p:sp>
        <p:nvSpPr>
          <p:cNvPr id="13" name="Text 1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Project 3's own printed quirk, group 6 not group 8, reruns unchanged.</a:t>
            </a:r>
            <a:endParaRPr lang="en-US" sz="135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22</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Practice: the strong-password check</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all() over four small patterns: length, a lowercase letter, an uppercase letter, a digit</a:t>
            </a:r>
            <a:endParaRPr lang="en-US" sz="1300" dirty="0"/>
          </a:p>
        </p:txBody>
      </p:sp>
      <p:sp>
        <p:nvSpPr>
          <p:cNvPr id="6" name="Text 4"/>
          <p:cNvSpPr txBox="1"/>
          <p:nvPr/>
        </p:nvSpPr>
        <p:spPr>
          <a:xfrm>
            <a:off x="457200" y="1097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program strongPasswordDetector_v1_0_0.py, lines 3 to 5 of 14 - Python 3.14.6</a:t>
            </a:r>
            <a:endParaRPr lang="en-US" sz="1150" dirty="0"/>
          </a:p>
        </p:txBody>
      </p:sp>
      <p:sp>
        <p:nvSpPr>
          <p:cNvPr id="7" name="Shape 5"/>
          <p:cNvSpPr/>
          <p:nvPr/>
        </p:nvSpPr>
        <p:spPr>
          <a:xfrm>
            <a:off x="457200" y="1371600"/>
            <a:ext cx="8229600" cy="722376"/>
          </a:xfrm>
          <a:prstGeom prst="roundRect">
            <a:avLst>
              <a:gd name="adj" fmla="val 12658"/>
            </a:avLst>
          </a:prstGeom>
          <a:solidFill>
            <a:srgbClr val="23272E"/>
          </a:solidFill>
          <a:ln w="12700">
            <a:solidFill>
              <a:srgbClr val="23272E"/>
            </a:solidFill>
            <a:prstDash val="solid"/>
          </a:ln>
        </p:spPr>
      </p:sp>
      <p:sp>
        <p:nvSpPr>
          <p:cNvPr id="8" name="Text 6"/>
          <p:cNvSpPr txBox="1"/>
          <p:nvPr/>
        </p:nvSpPr>
        <p:spPr>
          <a:xfrm>
            <a:off x="640080" y="1490472"/>
            <a:ext cx="7863840" cy="484632"/>
          </a:xfrm>
          <a:prstGeom prst="rect">
            <a:avLst/>
          </a:prstGeom>
          <a:noFill/>
          <a:ln/>
        </p:spPr>
        <p:txBody>
          <a:bodyPr wrap="square" lIns="0" tIns="0" rIns="0" bIns="0" rtlCol="0" anchor="t"/>
          <a:lstStyle/>
          <a:p>
            <a:pPr indent="0" marL="0">
              <a:buNone/>
            </a:pPr>
            <a:r>
              <a:rPr lang="en-US" sz="700" b="1" dirty="0">
                <a:solidFill>
                  <a:srgbClr val="F2A860"/>
                </a:solidFill>
                <a:latin typeface="Courier New" pitchFamily="34" charset="0"/>
                <a:ea typeface="Courier New" pitchFamily="34" charset="-122"/>
                <a:cs typeface="Courier New" pitchFamily="34" charset="-120"/>
              </a:rPr>
              <a:t>def</a:t>
            </a:r>
            <a:r>
              <a:rPr lang="en-US" sz="700" dirty="0">
                <a:solidFill>
                  <a:srgbClr val="E6EDF3"/>
                </a:solidFill>
                <a:latin typeface="Courier New" pitchFamily="34" charset="0"/>
                <a:ea typeface="Courier New" pitchFamily="34" charset="-122"/>
                <a:cs typeface="Courier New" pitchFamily="34" charset="-120"/>
              </a:rPr>
              <a:t> is_strong_password(password):</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rules = (r</a:t>
            </a:r>
            <a:r>
              <a:rPr lang="en-US" sz="700" dirty="0">
                <a:solidFill>
                  <a:srgbClr val="9ECBFF"/>
                </a:solidFill>
                <a:latin typeface="Courier New" pitchFamily="34" charset="0"/>
                <a:ea typeface="Courier New" pitchFamily="34" charset="-122"/>
                <a:cs typeface="Courier New" pitchFamily="34" charset="-120"/>
              </a:rPr>
              <a:t>'.{8}'</a:t>
            </a:r>
            <a:r>
              <a:rPr lang="en-US" sz="700" dirty="0">
                <a:solidFill>
                  <a:srgbClr val="E6EDF3"/>
                </a:solidFill>
                <a:latin typeface="Courier New" pitchFamily="34" charset="0"/>
                <a:ea typeface="Courier New" pitchFamily="34" charset="-122"/>
                <a:cs typeface="Courier New" pitchFamily="34" charset="-120"/>
              </a:rPr>
              <a:t>, r</a:t>
            </a:r>
            <a:r>
              <a:rPr lang="en-US" sz="700" dirty="0">
                <a:solidFill>
                  <a:srgbClr val="9ECBFF"/>
                </a:solidFill>
                <a:latin typeface="Courier New" pitchFamily="34" charset="0"/>
                <a:ea typeface="Courier New" pitchFamily="34" charset="-122"/>
                <a:cs typeface="Courier New" pitchFamily="34" charset="-120"/>
              </a:rPr>
              <a:t>'[a-z]'</a:t>
            </a:r>
            <a:r>
              <a:rPr lang="en-US" sz="700" dirty="0">
                <a:solidFill>
                  <a:srgbClr val="E6EDF3"/>
                </a:solidFill>
                <a:latin typeface="Courier New" pitchFamily="34" charset="0"/>
                <a:ea typeface="Courier New" pitchFamily="34" charset="-122"/>
                <a:cs typeface="Courier New" pitchFamily="34" charset="-120"/>
              </a:rPr>
              <a:t>, r</a:t>
            </a:r>
            <a:r>
              <a:rPr lang="en-US" sz="700" dirty="0">
                <a:solidFill>
                  <a:srgbClr val="9ECBFF"/>
                </a:solidFill>
                <a:latin typeface="Courier New" pitchFamily="34" charset="0"/>
                <a:ea typeface="Courier New" pitchFamily="34" charset="-122"/>
                <a:cs typeface="Courier New" pitchFamily="34" charset="-120"/>
              </a:rPr>
              <a:t>'[A-Z]'</a:t>
            </a:r>
            <a:r>
              <a:rPr lang="en-US" sz="700" dirty="0">
                <a:solidFill>
                  <a:srgbClr val="E6EDF3"/>
                </a:solidFill>
                <a:latin typeface="Courier New" pitchFamily="34" charset="0"/>
                <a:ea typeface="Courier New" pitchFamily="34" charset="-122"/>
                <a:cs typeface="Courier New" pitchFamily="34" charset="-120"/>
              </a:rPr>
              <a:t>, r</a:t>
            </a:r>
            <a:r>
              <a:rPr lang="en-US" sz="700" dirty="0">
                <a:solidFill>
                  <a:srgbClr val="9ECBFF"/>
                </a:solidFill>
                <a:latin typeface="Courier New" pitchFamily="34" charset="0"/>
                <a:ea typeface="Courier New" pitchFamily="34" charset="-122"/>
                <a:cs typeface="Courier New" pitchFamily="34" charset="-120"/>
              </a:rPr>
              <a:t>'\d'</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return</a:t>
            </a:r>
            <a:r>
              <a:rPr lang="en-US" sz="700" dirty="0">
                <a:solidFill>
                  <a:srgbClr val="E6EDF3"/>
                </a:solidFill>
                <a:latin typeface="Courier New" pitchFamily="34" charset="0"/>
                <a:ea typeface="Courier New" pitchFamily="34" charset="-122"/>
                <a:cs typeface="Courier New" pitchFamily="34" charset="-120"/>
              </a:rPr>
              <a:t> all(re.search(rule, password)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rule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rules)</a:t>
            </a:r>
            <a:endParaRPr lang="en-US" sz="700" dirty="0"/>
          </a:p>
        </p:txBody>
      </p:sp>
      <p:sp>
        <p:nvSpPr>
          <p:cNvPr id="9" name="Text 7"/>
          <p:cNvSpPr txBox="1"/>
          <p:nvPr/>
        </p:nvSpPr>
        <p:spPr>
          <a:xfrm>
            <a:off x="457200" y="2185416"/>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typed: password1, PASSWORD1, Password, Sh0rt, then Passw0rdOK, which is accepted</a:t>
            </a:r>
            <a:endParaRPr lang="en-US" sz="1150" dirty="0"/>
          </a:p>
        </p:txBody>
      </p:sp>
      <p:sp>
        <p:nvSpPr>
          <p:cNvPr id="10" name="Shape 8"/>
          <p:cNvSpPr/>
          <p:nvPr/>
        </p:nvSpPr>
        <p:spPr>
          <a:xfrm>
            <a:off x="457200" y="2459736"/>
            <a:ext cx="8229600" cy="2130552"/>
          </a:xfrm>
          <a:prstGeom prst="roundRect">
            <a:avLst>
              <a:gd name="adj" fmla="val 4292"/>
            </a:avLst>
          </a:prstGeom>
          <a:solidFill>
            <a:srgbClr val="23272E"/>
          </a:solidFill>
          <a:ln w="12700">
            <a:solidFill>
              <a:srgbClr val="23272E"/>
            </a:solidFill>
            <a:prstDash val="solid"/>
          </a:ln>
        </p:spPr>
      </p:sp>
      <p:sp>
        <p:nvSpPr>
          <p:cNvPr id="11" name="Text 9"/>
          <p:cNvSpPr txBox="1"/>
          <p:nvPr/>
        </p:nvSpPr>
        <p:spPr>
          <a:xfrm>
            <a:off x="640080" y="2578608"/>
            <a:ext cx="7863840" cy="1892808"/>
          </a:xfrm>
          <a:prstGeom prst="rect">
            <a:avLst/>
          </a:prstGeom>
          <a:noFill/>
          <a:ln/>
        </p:spPr>
        <p:txBody>
          <a:bodyPr wrap="square" lIns="0" tIns="0" rIns="0" bIns="0" rtlCol="0" anchor="t"/>
          <a:lstStyle/>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Enter a new password:</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password1</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Passwords must be at least 8 characters and have a lowercase letter, an uppercase letter, and a digit.</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Enter a new password:</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PASSWORD1</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Passwords must be at least 8 characters and have a lowercase letter, an uppercase letter, and a digit.</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Enter a new password:</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Password</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Passwords must be at least 8 characters and have a lowercase letter, an uppercase letter, and a digit.</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Enter a new password:</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Sh0rt</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Passwords must be at least 8 characters and have a lowercase letter, an uppercase letter, and a digit.</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Enter a new password:</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Passw0rdOK</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That password is strong. Accepted.</a:t>
            </a:r>
            <a:endParaRPr lang="en-US" sz="700" dirty="0"/>
          </a:p>
        </p:txBody>
      </p:sp>
      <p:sp>
        <p:nvSpPr>
          <p:cNvPr id="12" name="Shape 10"/>
          <p:cNvSpPr/>
          <p:nvPr/>
        </p:nvSpPr>
        <p:spPr>
          <a:xfrm>
            <a:off x="457200" y="4636008"/>
            <a:ext cx="91440" cy="310896"/>
          </a:xfrm>
          <a:prstGeom prst="rect">
            <a:avLst/>
          </a:prstGeom>
          <a:solidFill>
            <a:srgbClr val="D97A14"/>
          </a:solidFill>
          <a:ln w="12700">
            <a:solidFill>
              <a:srgbClr val="D97A14"/>
            </a:solidFill>
            <a:prstDash val="solid"/>
          </a:ln>
        </p:spPr>
      </p:sp>
      <p:sp>
        <p:nvSpPr>
          <p:cNvPr id="13" name="Text 1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Four short patterns checked with all() replace one long one.</a:t>
            </a:r>
            <a:endParaRPr lang="en-US" sz="135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22</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Practice: regex_strip(), and the Humre module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pattern rebuilds strip(); Humre writes patterns out as plain-English function calls</a:t>
            </a:r>
            <a:endParaRPr lang="en-US" sz="1300" dirty="0"/>
          </a:p>
        </p:txBody>
      </p:sp>
      <p:sp>
        <p:nvSpPr>
          <p:cNvPr id="6" name="Text 4"/>
          <p:cNvSpPr txBox="1"/>
          <p:nvPr/>
        </p:nvSpPr>
        <p:spPr>
          <a:xfrm>
            <a:off x="457200" y="1097280"/>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program regexStrip_v1_0_0.py, lines 1 to 13 of 13</a:t>
            </a:r>
            <a:endParaRPr lang="en-US" sz="1150" dirty="0"/>
          </a:p>
        </p:txBody>
      </p:sp>
      <p:sp>
        <p:nvSpPr>
          <p:cNvPr id="7" name="Shape 5"/>
          <p:cNvSpPr/>
          <p:nvPr/>
        </p:nvSpPr>
        <p:spPr>
          <a:xfrm>
            <a:off x="457200" y="1371600"/>
            <a:ext cx="4023360" cy="2377440"/>
          </a:xfrm>
          <a:prstGeom prst="roundRect">
            <a:avLst>
              <a:gd name="adj" fmla="val 3846"/>
            </a:avLst>
          </a:prstGeom>
          <a:solidFill>
            <a:srgbClr val="23272E"/>
          </a:solidFill>
          <a:ln w="12700">
            <a:solidFill>
              <a:srgbClr val="23272E"/>
            </a:solidFill>
            <a:prstDash val="solid"/>
          </a:ln>
        </p:spPr>
      </p:sp>
      <p:sp>
        <p:nvSpPr>
          <p:cNvPr id="8" name="Text 6"/>
          <p:cNvSpPr txBox="1"/>
          <p:nvPr/>
        </p:nvSpPr>
        <p:spPr>
          <a:xfrm>
            <a:off x="640080" y="1490472"/>
            <a:ext cx="3657600" cy="2139696"/>
          </a:xfrm>
          <a:prstGeom prst="rect">
            <a:avLst/>
          </a:prstGeom>
          <a:noFill/>
          <a:ln/>
        </p:spPr>
        <p:txBody>
          <a:bodyPr wrap="square" lIns="0" tIns="0" rIns="0" bIns="0" rtlCol="0" anchor="t"/>
          <a:lstStyle/>
          <a:p>
            <a:pPr indent="0" marL="0">
              <a:buNone/>
            </a:pPr>
            <a:r>
              <a:rPr lang="en-US" sz="750" b="1" dirty="0">
                <a:solidFill>
                  <a:srgbClr val="F2A860"/>
                </a:solidFill>
                <a:latin typeface="Courier New" pitchFamily="34" charset="0"/>
                <a:ea typeface="Courier New" pitchFamily="34" charset="-122"/>
                <a:cs typeface="Courier New" pitchFamily="34" charset="-120"/>
              </a:rPr>
              <a:t>import</a:t>
            </a:r>
            <a:r>
              <a:rPr lang="en-US" sz="750" dirty="0">
                <a:solidFill>
                  <a:srgbClr val="E6EDF3"/>
                </a:solidFill>
                <a:latin typeface="Courier New" pitchFamily="34" charset="0"/>
                <a:ea typeface="Courier New" pitchFamily="34" charset="-122"/>
                <a:cs typeface="Courier New" pitchFamily="34" charset="-120"/>
              </a:rPr>
              <a:t> re</a:t>
            </a:r>
            <a:endParaRPr lang="en-US" sz="750" dirty="0"/>
          </a:p>
          <a:p>
            <a:pPr indent="0" marL="0">
              <a:buNone/>
            </a:pPr>
            <a:endParaRPr lang="en-US" sz="750" dirty="0"/>
          </a:p>
          <a:p>
            <a:pPr indent="0" marL="0">
              <a:buNone/>
            </a:pPr>
            <a:r>
              <a:rPr lang="en-US" sz="750" b="1" dirty="0">
                <a:solidFill>
                  <a:srgbClr val="F2A860"/>
                </a:solidFill>
                <a:latin typeface="Courier New" pitchFamily="34" charset="0"/>
                <a:ea typeface="Courier New" pitchFamily="34" charset="-122"/>
                <a:cs typeface="Courier New" pitchFamily="34" charset="-120"/>
              </a:rPr>
              <a:t>def</a:t>
            </a:r>
            <a:r>
              <a:rPr lang="en-US" sz="750" dirty="0">
                <a:solidFill>
                  <a:srgbClr val="E6EDF3"/>
                </a:solidFill>
                <a:latin typeface="Courier New" pitchFamily="34" charset="0"/>
                <a:ea typeface="Courier New" pitchFamily="34" charset="-122"/>
                <a:cs typeface="Courier New" pitchFamily="34" charset="-120"/>
              </a:rPr>
              <a:t> regex_strip(text, chars=</a:t>
            </a:r>
            <a:r>
              <a:rPr lang="en-US" sz="750" b="1" dirty="0">
                <a:solidFill>
                  <a:srgbClr val="F2A860"/>
                </a:solidFill>
                <a:latin typeface="Courier New" pitchFamily="34" charset="0"/>
                <a:ea typeface="Courier New" pitchFamily="34" charset="-122"/>
                <a:cs typeface="Courier New" pitchFamily="34" charset="-120"/>
              </a:rPr>
              <a:t>None</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a:t>
            </a:r>
            <a:r>
              <a:rPr lang="en-US" sz="750" b="1" dirty="0">
                <a:solidFill>
                  <a:srgbClr val="F2A860"/>
                </a:solidFill>
                <a:latin typeface="Courier New" pitchFamily="34" charset="0"/>
                <a:ea typeface="Courier New" pitchFamily="34" charset="-122"/>
                <a:cs typeface="Courier New" pitchFamily="34" charset="-120"/>
              </a:rPr>
              <a:t>if</a:t>
            </a:r>
            <a:r>
              <a:rPr lang="en-US" sz="750" dirty="0">
                <a:solidFill>
                  <a:srgbClr val="E6EDF3"/>
                </a:solidFill>
                <a:latin typeface="Courier New" pitchFamily="34" charset="0"/>
                <a:ea typeface="Courier New" pitchFamily="34" charset="-122"/>
                <a:cs typeface="Courier New" pitchFamily="34" charset="-120"/>
              </a:rPr>
              <a:t> chars is </a:t>
            </a:r>
            <a:r>
              <a:rPr lang="en-US" sz="750" b="1" dirty="0">
                <a:solidFill>
                  <a:srgbClr val="F2A860"/>
                </a:solidFill>
                <a:latin typeface="Courier New" pitchFamily="34" charset="0"/>
                <a:ea typeface="Courier New" pitchFamily="34" charset="-122"/>
                <a:cs typeface="Courier New" pitchFamily="34" charset="-120"/>
              </a:rPr>
              <a:t>None</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pattern = r</a:t>
            </a:r>
            <a:r>
              <a:rPr lang="en-US" sz="750" dirty="0">
                <a:solidFill>
                  <a:srgbClr val="9ECBFF"/>
                </a:solidFill>
                <a:latin typeface="Courier New" pitchFamily="34" charset="0"/>
                <a:ea typeface="Courier New" pitchFamily="34" charset="-122"/>
                <a:cs typeface="Courier New" pitchFamily="34" charset="-120"/>
              </a:rPr>
              <a:t>'^\s+|\s+$'</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a:t>
            </a:r>
            <a:r>
              <a:rPr lang="en-US" sz="750" b="1" dirty="0">
                <a:solidFill>
                  <a:srgbClr val="F2A860"/>
                </a:solidFill>
                <a:latin typeface="Courier New" pitchFamily="34" charset="0"/>
                <a:ea typeface="Courier New" pitchFamily="34" charset="-122"/>
                <a:cs typeface="Courier New" pitchFamily="34" charset="-120"/>
              </a:rPr>
              <a:t>else</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char_class = </a:t>
            </a:r>
            <a:r>
              <a:rPr lang="en-US" sz="750" dirty="0">
                <a:solidFill>
                  <a:srgbClr val="9ECBFF"/>
                </a:solidFill>
                <a:latin typeface="Courier New" pitchFamily="34" charset="0"/>
                <a:ea typeface="Courier New" pitchFamily="34" charset="-122"/>
                <a:cs typeface="Courier New" pitchFamily="34" charset="-120"/>
              </a:rPr>
              <a:t>'['</a:t>
            </a:r>
            <a:r>
              <a:rPr lang="en-US" sz="750" dirty="0">
                <a:solidFill>
                  <a:srgbClr val="E6EDF3"/>
                </a:solidFill>
                <a:latin typeface="Courier New" pitchFamily="34" charset="0"/>
                <a:ea typeface="Courier New" pitchFamily="34" charset="-122"/>
                <a:cs typeface="Courier New" pitchFamily="34" charset="-120"/>
              </a:rPr>
              <a:t> + re.escape(chars) + </a:t>
            </a:r>
            <a:r>
              <a:rPr lang="en-US" sz="750" dirty="0">
                <a:solidFill>
                  <a:srgbClr val="9ECBFF"/>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pattern = </a:t>
            </a:r>
            <a:r>
              <a:rPr lang="en-US" sz="750" dirty="0">
                <a:solidFill>
                  <a:srgbClr val="9ECBFF"/>
                </a:solidFill>
                <a:latin typeface="Courier New" pitchFamily="34" charset="0"/>
                <a:ea typeface="Courier New" pitchFamily="34" charset="-122"/>
                <a:cs typeface="Courier New" pitchFamily="34" charset="-120"/>
              </a:rPr>
              <a:t>'^'</a:t>
            </a:r>
            <a:r>
              <a:rPr lang="en-US" sz="750" dirty="0">
                <a:solidFill>
                  <a:srgbClr val="E6EDF3"/>
                </a:solidFill>
                <a:latin typeface="Courier New" pitchFamily="34" charset="0"/>
                <a:ea typeface="Courier New" pitchFamily="34" charset="-122"/>
                <a:cs typeface="Courier New" pitchFamily="34" charset="-120"/>
              </a:rPr>
              <a:t> + char_class + </a:t>
            </a:r>
            <a:r>
              <a:rPr lang="en-US" sz="750" dirty="0">
                <a:solidFill>
                  <a:srgbClr val="9ECBFF"/>
                </a:solidFill>
                <a:latin typeface="Courier New" pitchFamily="34" charset="0"/>
                <a:ea typeface="Courier New" pitchFamily="34" charset="-122"/>
                <a:cs typeface="Courier New" pitchFamily="34" charset="-120"/>
              </a:rPr>
              <a:t>'+|'</a:t>
            </a:r>
            <a:r>
              <a:rPr lang="en-US" sz="750" dirty="0">
                <a:solidFill>
                  <a:srgbClr val="E6EDF3"/>
                </a:solidFill>
                <a:latin typeface="Courier New" pitchFamily="34" charset="0"/>
                <a:ea typeface="Courier New" pitchFamily="34" charset="-122"/>
                <a:cs typeface="Courier New" pitchFamily="34" charset="-120"/>
              </a:rPr>
              <a:t> + char_class + </a:t>
            </a:r>
            <a:r>
              <a:rPr lang="en-US" sz="750" dirty="0">
                <a:solidFill>
                  <a:srgbClr val="9ECBFF"/>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a:t>
            </a:r>
            <a:r>
              <a:rPr lang="en-US" sz="750" b="1" dirty="0">
                <a:solidFill>
                  <a:srgbClr val="F2A860"/>
                </a:solidFill>
                <a:latin typeface="Courier New" pitchFamily="34" charset="0"/>
                <a:ea typeface="Courier New" pitchFamily="34" charset="-122"/>
                <a:cs typeface="Courier New" pitchFamily="34" charset="-120"/>
              </a:rPr>
              <a:t>return</a:t>
            </a:r>
            <a:r>
              <a:rPr lang="en-US" sz="750" dirty="0">
                <a:solidFill>
                  <a:srgbClr val="E6EDF3"/>
                </a:solidFill>
                <a:latin typeface="Courier New" pitchFamily="34" charset="0"/>
                <a:ea typeface="Courier New" pitchFamily="34" charset="-122"/>
                <a:cs typeface="Courier New" pitchFamily="34" charset="-120"/>
              </a:rPr>
              <a:t> re.sub(pattern, </a:t>
            </a:r>
            <a:r>
              <a:rPr lang="en-US" sz="750" dirty="0">
                <a:solidFill>
                  <a:srgbClr val="9ECBFF"/>
                </a:solidFill>
                <a:latin typeface="Courier New" pitchFamily="34" charset="0"/>
                <a:ea typeface="Courier New" pitchFamily="34" charset="-122"/>
                <a:cs typeface="Courier New" pitchFamily="34" charset="-120"/>
              </a:rPr>
              <a:t>''</a:t>
            </a:r>
            <a:r>
              <a:rPr lang="en-US" sz="750" dirty="0">
                <a:solidFill>
                  <a:srgbClr val="E6EDF3"/>
                </a:solidFill>
                <a:latin typeface="Courier New" pitchFamily="34" charset="0"/>
                <a:ea typeface="Courier New" pitchFamily="34" charset="-122"/>
                <a:cs typeface="Courier New" pitchFamily="34" charset="-120"/>
              </a:rPr>
              <a:t>, text)</a:t>
            </a:r>
            <a:endParaRPr lang="en-US" sz="750" dirty="0"/>
          </a:p>
          <a:p>
            <a:pPr indent="0" marL="0">
              <a:buNone/>
            </a:pP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print(repr(regex_strip(</a:t>
            </a:r>
            <a:r>
              <a:rPr lang="en-US" sz="750" dirty="0">
                <a:solidFill>
                  <a:srgbClr val="9ECBFF"/>
                </a:solidFill>
                <a:latin typeface="Courier New" pitchFamily="34" charset="0"/>
                <a:ea typeface="Courier New" pitchFamily="34" charset="-122"/>
                <a:cs typeface="Courier New" pitchFamily="34" charset="-120"/>
              </a:rPr>
              <a:t>'  hi there \n'</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print(repr(regex_strip(</a:t>
            </a:r>
            <a:r>
              <a:rPr lang="en-US" sz="750" dirty="0">
                <a:solidFill>
                  <a:srgbClr val="9ECBFF"/>
                </a:solidFill>
                <a:latin typeface="Courier New" pitchFamily="34" charset="0"/>
                <a:ea typeface="Courier New" pitchFamily="34" charset="-122"/>
                <a:cs typeface="Courier New" pitchFamily="34" charset="-120"/>
              </a:rPr>
              <a:t>'xyhixy'</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'xy'</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print(repr(regex_strip(</a:t>
            </a:r>
            <a:r>
              <a:rPr lang="en-US" sz="750" dirty="0">
                <a:solidFill>
                  <a:srgbClr val="9ECBFF"/>
                </a:solidFill>
                <a:latin typeface="Courier New" pitchFamily="34" charset="0"/>
                <a:ea typeface="Courier New" pitchFamily="34" charset="-122"/>
                <a:cs typeface="Courier New" pitchFamily="34" charset="-120"/>
              </a:rPr>
              <a:t>'[[a]]'</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prints </a:t>
            </a:r>
            <a:r>
              <a:rPr lang="en-US" sz="750" dirty="0">
                <a:solidFill>
                  <a:srgbClr val="7EE787"/>
                </a:solidFill>
                <a:latin typeface="Courier New" pitchFamily="34" charset="0"/>
                <a:ea typeface="Courier New" pitchFamily="34" charset="-122"/>
                <a:cs typeface="Courier New" pitchFamily="34" charset="-120"/>
              </a:rPr>
              <a:t>'hi there'</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'hi'</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'a'</a:t>
            </a:r>
            <a:endParaRPr lang="en-US" sz="750" dirty="0"/>
          </a:p>
        </p:txBody>
      </p:sp>
      <p:sp>
        <p:nvSpPr>
          <p:cNvPr id="9" name="Shape 7"/>
          <p:cNvSpPr/>
          <p:nvPr/>
        </p:nvSpPr>
        <p:spPr>
          <a:xfrm>
            <a:off x="4663440" y="1325880"/>
            <a:ext cx="4023360" cy="1508760"/>
          </a:xfrm>
          <a:prstGeom prst="roundRect">
            <a:avLst>
              <a:gd name="adj" fmla="val 6061"/>
            </a:avLst>
          </a:prstGeom>
          <a:solidFill>
            <a:srgbClr val="F2ECE1"/>
          </a:solidFill>
          <a:ln w="12700">
            <a:solidFill>
              <a:srgbClr val="F2ECE1"/>
            </a:solidFill>
            <a:prstDash val="solid"/>
          </a:ln>
        </p:spPr>
      </p:sp>
      <p:sp>
        <p:nvSpPr>
          <p:cNvPr id="10" name="Text 8"/>
          <p:cNvSpPr txBox="1"/>
          <p:nvPr/>
        </p:nvSpPr>
        <p:spPr>
          <a:xfrm>
            <a:off x="4846320" y="1444752"/>
            <a:ext cx="365760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What Humre reproduces</a:t>
            </a:r>
            <a:endParaRPr lang="en-US" sz="1600" dirty="0"/>
          </a:p>
        </p:txBody>
      </p:sp>
      <p:sp>
        <p:nvSpPr>
          <p:cNvPr id="11" name="Text 9"/>
          <p:cNvSpPr txBox="1"/>
          <p:nvPr/>
        </p:nvSpPr>
        <p:spPr>
          <a:xfrm>
            <a:off x="4846320" y="1828800"/>
            <a:ext cx="3657600" cy="868680"/>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Humre 1.0.0, the Python Package Index's newest release, reproduces every row of the chapter's two syntax tables and its phone-number pattern written out as nested function calls such as group(DIGIT, PERIOD, DIGIT).</a:t>
            </a:r>
            <a:endParaRPr lang="en-US" sz="1100" dirty="0"/>
          </a:p>
        </p:txBody>
      </p:sp>
      <p:sp>
        <p:nvSpPr>
          <p:cNvPr id="12" name="Shape 10"/>
          <p:cNvSpPr/>
          <p:nvPr/>
        </p:nvSpPr>
        <p:spPr>
          <a:xfrm>
            <a:off x="4663440" y="2907792"/>
            <a:ext cx="4023360" cy="1664208"/>
          </a:xfrm>
          <a:prstGeom prst="roundRect">
            <a:avLst>
              <a:gd name="adj" fmla="val 5495"/>
            </a:avLst>
          </a:prstGeom>
          <a:solidFill>
            <a:srgbClr val="F2ECE1"/>
          </a:solidFill>
          <a:ln w="12700">
            <a:solidFill>
              <a:srgbClr val="F2ECE1"/>
            </a:solidFill>
            <a:prstDash val="solid"/>
          </a:ln>
        </p:spPr>
      </p:sp>
      <p:sp>
        <p:nvSpPr>
          <p:cNvPr id="13" name="Text 11"/>
          <p:cNvSpPr txBox="1"/>
          <p:nvPr/>
        </p:nvSpPr>
        <p:spPr>
          <a:xfrm>
            <a:off x="4846320" y="3026664"/>
            <a:ext cx="365760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What differs in Humre 1.0.0</a:t>
            </a:r>
            <a:endParaRPr lang="en-US" sz="1600" dirty="0"/>
          </a:p>
        </p:txBody>
      </p:sp>
      <p:sp>
        <p:nvSpPr>
          <p:cNvPr id="14" name="Text 12"/>
          <p:cNvSpPr txBox="1"/>
          <p:nvPr/>
        </p:nvSpPr>
        <p:spPr>
          <a:xfrm>
            <a:off x="4846320" y="3410712"/>
            <a:ext cx="3657600" cy="1024128"/>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Several constants are named differently from the chapter (ANYCHAR for ANY_SINGLE, EVERYTHING for the greedy dot-star, SOMETHING for the lazy dot-plus), and humre.parse() is an unfinished TODO that returns None rather than generated source; Humre is a third-party module, not installed for this page.</a:t>
            </a:r>
            <a:endParaRPr lang="en-US" sz="1050" dirty="0"/>
          </a:p>
        </p:txBody>
      </p:sp>
      <p:sp>
        <p:nvSpPr>
          <p:cNvPr id="15" name="Shape 13"/>
          <p:cNvSpPr/>
          <p:nvPr/>
        </p:nvSpPr>
        <p:spPr>
          <a:xfrm>
            <a:off x="457200" y="4636008"/>
            <a:ext cx="91440" cy="310896"/>
          </a:xfrm>
          <a:prstGeom prst="rect">
            <a:avLst/>
          </a:prstGeom>
          <a:solidFill>
            <a:srgbClr val="D97A14"/>
          </a:solidFill>
          <a:ln w="12700">
            <a:solidFill>
              <a:srgbClr val="D97A14"/>
            </a:solidFill>
            <a:prstDash val="solid"/>
          </a:ln>
        </p:spPr>
      </p:sp>
      <p:sp>
        <p:nvSpPr>
          <p:cNvPr id="16" name="Text 1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Humre reads like English; its own newest release still has gaps.</a:t>
            </a:r>
            <a:endParaRPr lang="en-US" sz="1350" dirty="0"/>
          </a:p>
        </p:txBody>
      </p:sp>
      <p:sp>
        <p:nvSpPr>
          <p:cNvPr id="17" name="Text 1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22</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six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for each part of the route</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496824"/>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A hand-written check tests a string by hand; re.compile() then search() replaces it with a pattern.</a:t>
            </a:r>
            <a:endParaRPr lang="en-US" sz="1150" dirty="0"/>
          </a:p>
        </p:txBody>
      </p:sp>
      <p:sp>
        <p:nvSpPr>
          <p:cNvPr id="9" name="Shape 7"/>
          <p:cNvSpPr/>
          <p:nvPr/>
        </p:nvSpPr>
        <p:spPr>
          <a:xfrm>
            <a:off x="457200" y="18501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8501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813560"/>
            <a:ext cx="7662672" cy="496824"/>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Parentheses group and number matches; the pipe offers alternatives; (?P&lt;name&gt;...) names a group.</a:t>
            </a:r>
            <a:endParaRPr lang="en-US" sz="1150" dirty="0"/>
          </a:p>
        </p:txBody>
      </p:sp>
      <p:sp>
        <p:nvSpPr>
          <p:cNvPr id="12" name="Shape 10"/>
          <p:cNvSpPr/>
          <p:nvPr/>
        </p:nvSpPr>
        <p:spPr>
          <a:xfrm>
            <a:off x="457200" y="238353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3835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346960"/>
            <a:ext cx="7662672" cy="496824"/>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Square brackets name a character set; \d, \w and \s are shorthand for a whole set by name.</a:t>
            </a:r>
            <a:endParaRPr lang="en-US" sz="1150" dirty="0"/>
          </a:p>
        </p:txBody>
      </p:sp>
      <p:sp>
        <p:nvSpPr>
          <p:cNvPr id="15" name="Shape 13"/>
          <p:cNvSpPr/>
          <p:nvPr/>
        </p:nvSpPr>
        <p:spPr>
          <a:xfrm>
            <a:off x="457200" y="291693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9169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880360"/>
            <a:ext cx="7662672" cy="496824"/>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 *, + and {m,n} say how many times; a trailing ? makes any of them take as few as it can.</a:t>
            </a:r>
            <a:endParaRPr lang="en-US" sz="1150" dirty="0"/>
          </a:p>
        </p:txBody>
      </p:sp>
      <p:sp>
        <p:nvSpPr>
          <p:cNvPr id="18" name="Shape 16"/>
          <p:cNvSpPr/>
          <p:nvPr/>
        </p:nvSpPr>
        <p:spPr>
          <a:xfrm>
            <a:off x="457200" y="3450336"/>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4503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413760"/>
            <a:ext cx="7662672" cy="496824"/>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 $, \b and \B anchor a pattern; a look-around tests text beside a position without consuming it.</a:t>
            </a:r>
            <a:endParaRPr lang="en-US" sz="1150" dirty="0"/>
          </a:p>
        </p:txBody>
      </p:sp>
      <p:sp>
        <p:nvSpPr>
          <p:cNvPr id="21" name="Shape 19"/>
          <p:cNvSpPr/>
          <p:nvPr/>
        </p:nvSpPr>
        <p:spPr>
          <a:xfrm>
            <a:off x="457200" y="3983736"/>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983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947160"/>
            <a:ext cx="7662672" cy="496824"/>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findall/finditer find every match; sub() replaces them; flags such as re.I and re.X change the read.</a:t>
            </a:r>
            <a:endParaRPr lang="en-US" sz="115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its slides hold the example.</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22</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Every link was opened on the day this deck was made</a:t>
            </a:r>
            <a:endParaRPr lang="en-US" sz="1300" dirty="0"/>
          </a:p>
        </p:txBody>
      </p:sp>
      <p:sp>
        <p:nvSpPr>
          <p:cNvPr id="6" name="Text 4"/>
          <p:cNvSpPr txBox="1"/>
          <p:nvPr/>
        </p:nvSpPr>
        <p:spPr>
          <a:xfrm>
            <a:off x="457200" y="1280160"/>
            <a:ext cx="3954780" cy="274320"/>
          </a:xfrm>
          <a:prstGeom prst="rect">
            <a:avLst/>
          </a:prstGeom>
          <a:noFill/>
          <a:ln/>
        </p:spPr>
        <p:txBody>
          <a:bodyPr wrap="square" lIns="0" tIns="0" rIns="0" bIns="0" rtlCol="0" anchor="ctr"/>
          <a:lstStyle/>
          <a:p>
            <a:pPr indent="0" marL="0">
              <a:buNone/>
            </a:pPr>
            <a:r>
              <a:rPr lang="en-US" sz="1200" b="1" dirty="0">
                <a:solidFill>
                  <a:srgbClr val="2F6D62"/>
                </a:solidFill>
                <a:latin typeface="Cambria" pitchFamily="34" charset="0"/>
                <a:ea typeface="Cambria" pitchFamily="34" charset="-122"/>
                <a:cs typeface="Cambria" pitchFamily="34" charset="-120"/>
              </a:rPr>
              <a:t>Read</a:t>
            </a:r>
            <a:endParaRPr lang="en-US" sz="1200" dirty="0"/>
          </a:p>
        </p:txBody>
      </p:sp>
      <p:sp>
        <p:nvSpPr>
          <p:cNvPr id="7" name="Shape 5"/>
          <p:cNvSpPr/>
          <p:nvPr/>
        </p:nvSpPr>
        <p:spPr>
          <a:xfrm>
            <a:off x="493776" y="162763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554480"/>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Automate the Boring Stuff with Python, 3rd edition  </a:t>
            </a:r>
            <a:r>
              <a:rPr lang="en-US" sz="950"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automatetheboringstuff.com/3e/chapter9.html</a:t>
            </a:r>
            <a:endParaRPr lang="en-US" sz="950" dirty="0"/>
          </a:p>
        </p:txBody>
      </p:sp>
      <p:sp>
        <p:nvSpPr>
          <p:cNvPr id="9" name="Shape 7"/>
          <p:cNvSpPr/>
          <p:nvPr/>
        </p:nvSpPr>
        <p:spPr>
          <a:xfrm>
            <a:off x="493776" y="1956816"/>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1883664"/>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re — Regular expression operations  </a:t>
            </a:r>
            <a:r>
              <a:rPr lang="en-US" sz="950"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docs.python.org/3/library/re.html</a:t>
            </a:r>
            <a:endParaRPr lang="en-US" sz="950" dirty="0"/>
          </a:p>
        </p:txBody>
      </p:sp>
      <p:sp>
        <p:nvSpPr>
          <p:cNvPr id="11" name="Shape 9"/>
          <p:cNvSpPr/>
          <p:nvPr/>
        </p:nvSpPr>
        <p:spPr>
          <a:xfrm>
            <a:off x="493776" y="2286000"/>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212848"/>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Regular expression HOWTO  </a:t>
            </a:r>
            <a:r>
              <a:rPr lang="en-US" sz="950"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docs.python.org/3/howto/regex.html</a:t>
            </a:r>
            <a:endParaRPr lang="en-US" sz="950" dirty="0"/>
          </a:p>
        </p:txBody>
      </p:sp>
      <p:sp>
        <p:nvSpPr>
          <p:cNvPr id="13" name="Text 11"/>
          <p:cNvSpPr txBox="1"/>
          <p:nvPr/>
        </p:nvSpPr>
        <p:spPr>
          <a:xfrm>
            <a:off x="457200" y="2615184"/>
            <a:ext cx="3954780" cy="274320"/>
          </a:xfrm>
          <a:prstGeom prst="rect">
            <a:avLst/>
          </a:prstGeom>
          <a:noFill/>
          <a:ln/>
        </p:spPr>
        <p:txBody>
          <a:bodyPr wrap="square" lIns="0" tIns="0" rIns="0" bIns="0" rtlCol="0" anchor="ctr"/>
          <a:lstStyle/>
          <a:p>
            <a:pPr indent="0" marL="0">
              <a:buNone/>
            </a:pPr>
            <a:r>
              <a:rPr lang="en-US" sz="1200" b="1" dirty="0">
                <a:solidFill>
                  <a:srgbClr val="2F6D62"/>
                </a:solidFill>
                <a:latin typeface="Cambria" pitchFamily="34" charset="0"/>
                <a:ea typeface="Cambria" pitchFamily="34" charset="-122"/>
                <a:cs typeface="Cambria" pitchFamily="34" charset="-120"/>
              </a:rPr>
              <a:t>Reference</a:t>
            </a:r>
            <a:endParaRPr lang="en-US" sz="1200" dirty="0"/>
          </a:p>
        </p:txBody>
      </p:sp>
      <p:sp>
        <p:nvSpPr>
          <p:cNvPr id="14" name="Shape 12"/>
          <p:cNvSpPr/>
          <p:nvPr/>
        </p:nvSpPr>
        <p:spPr>
          <a:xfrm>
            <a:off x="493776" y="2962656"/>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2889504"/>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2. Lexical analysis  </a:t>
            </a:r>
            <a:r>
              <a:rPr lang="en-US" sz="950"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docs.python.org/3/reference/lexical_analysis.html</a:t>
            </a:r>
            <a:endParaRPr lang="en-US" sz="950" dirty="0"/>
          </a:p>
        </p:txBody>
      </p:sp>
      <p:sp>
        <p:nvSpPr>
          <p:cNvPr id="16" name="Shape 14"/>
          <p:cNvSpPr/>
          <p:nvPr/>
        </p:nvSpPr>
        <p:spPr>
          <a:xfrm>
            <a:off x="493776" y="3291840"/>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218688"/>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What’s new in Python 3.14  </a:t>
            </a:r>
            <a:r>
              <a:rPr lang="en-US" sz="950"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docs.python.org/3/whatsnew/3.14.html</a:t>
            </a:r>
            <a:endParaRPr lang="en-US" sz="950" dirty="0"/>
          </a:p>
        </p:txBody>
      </p:sp>
      <p:sp>
        <p:nvSpPr>
          <p:cNvPr id="18" name="Shape 16"/>
          <p:cNvSpPr/>
          <p:nvPr/>
        </p:nvSpPr>
        <p:spPr>
          <a:xfrm>
            <a:off x="493776" y="3621024"/>
            <a:ext cx="82296" cy="82296"/>
          </a:xfrm>
          <a:prstGeom prst="ellipse">
            <a:avLst/>
          </a:prstGeom>
          <a:solidFill>
            <a:srgbClr val="D97A14"/>
          </a:solidFill>
          <a:ln w="12700">
            <a:solidFill>
              <a:srgbClr val="D97A14"/>
            </a:solidFill>
            <a:prstDash val="solid"/>
          </a:ln>
        </p:spPr>
      </p:sp>
      <p:sp>
        <p:nvSpPr>
          <p:cNvPr id="19" name="Text 17"/>
          <p:cNvSpPr txBox="1"/>
          <p:nvPr/>
        </p:nvSpPr>
        <p:spPr>
          <a:xfrm>
            <a:off x="658368" y="3547872"/>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Regular-Expressions.info - Regex Tutorial, Examples and Reference - Regexp Patterns  </a:t>
            </a:r>
            <a:r>
              <a:rPr lang="en-US" sz="950"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regular-expressions.info</a:t>
            </a:r>
            <a:endParaRPr lang="en-US" sz="950" dirty="0"/>
          </a:p>
        </p:txBody>
      </p:sp>
      <p:sp>
        <p:nvSpPr>
          <p:cNvPr id="20" name="Text 18"/>
          <p:cNvSpPr txBox="1"/>
          <p:nvPr/>
        </p:nvSpPr>
        <p:spPr>
          <a:xfrm>
            <a:off x="4732020" y="1280160"/>
            <a:ext cx="3954780" cy="274320"/>
          </a:xfrm>
          <a:prstGeom prst="rect">
            <a:avLst/>
          </a:prstGeom>
          <a:noFill/>
          <a:ln/>
        </p:spPr>
        <p:txBody>
          <a:bodyPr wrap="square" lIns="0" tIns="0" rIns="0" bIns="0" rtlCol="0" anchor="ctr"/>
          <a:lstStyle/>
          <a:p>
            <a:pPr indent="0" marL="0">
              <a:buNone/>
            </a:pPr>
            <a:r>
              <a:rPr lang="en-US" sz="1200" b="1" dirty="0">
                <a:solidFill>
                  <a:srgbClr val="2F6D62"/>
                </a:solidFill>
                <a:latin typeface="Cambria" pitchFamily="34" charset="0"/>
                <a:ea typeface="Cambria" pitchFamily="34" charset="-122"/>
                <a:cs typeface="Cambria" pitchFamily="34" charset="-120"/>
              </a:rPr>
              <a:t>History and try it</a:t>
            </a:r>
            <a:endParaRPr lang="en-US" sz="1200" dirty="0"/>
          </a:p>
        </p:txBody>
      </p:sp>
      <p:sp>
        <p:nvSpPr>
          <p:cNvPr id="21" name="Shape 19"/>
          <p:cNvSpPr/>
          <p:nvPr/>
        </p:nvSpPr>
        <p:spPr>
          <a:xfrm>
            <a:off x="4768596" y="1627632"/>
            <a:ext cx="82296" cy="82296"/>
          </a:xfrm>
          <a:prstGeom prst="ellipse">
            <a:avLst/>
          </a:prstGeom>
          <a:solidFill>
            <a:srgbClr val="D97A14"/>
          </a:solidFill>
          <a:ln w="12700">
            <a:solidFill>
              <a:srgbClr val="D97A14"/>
            </a:solidFill>
            <a:prstDash val="solid"/>
          </a:ln>
        </p:spPr>
      </p:sp>
      <p:sp>
        <p:nvSpPr>
          <p:cNvPr id="22" name="Text 20"/>
          <p:cNvSpPr txBox="1"/>
          <p:nvPr/>
        </p:nvSpPr>
        <p:spPr>
          <a:xfrm>
            <a:off x="4933188" y="1554480"/>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Stephen Cole Kleene, Wikipedia  </a:t>
            </a:r>
            <a:r>
              <a:rPr lang="en-US" sz="950"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en.wikipedia.org/wiki/Stephen_Cole_Kleene</a:t>
            </a:r>
            <a:endParaRPr lang="en-US" sz="950" dirty="0"/>
          </a:p>
        </p:txBody>
      </p:sp>
      <p:sp>
        <p:nvSpPr>
          <p:cNvPr id="23" name="Shape 21"/>
          <p:cNvSpPr/>
          <p:nvPr/>
        </p:nvSpPr>
        <p:spPr>
          <a:xfrm>
            <a:off x="4768596" y="1956816"/>
            <a:ext cx="82296" cy="82296"/>
          </a:xfrm>
          <a:prstGeom prst="ellipse">
            <a:avLst/>
          </a:prstGeom>
          <a:solidFill>
            <a:srgbClr val="D97A14"/>
          </a:solidFill>
          <a:ln w="12700">
            <a:solidFill>
              <a:srgbClr val="D97A14"/>
            </a:solidFill>
            <a:prstDash val="solid"/>
          </a:ln>
        </p:spPr>
      </p:sp>
      <p:sp>
        <p:nvSpPr>
          <p:cNvPr id="24" name="Text 22"/>
          <p:cNvSpPr txBox="1"/>
          <p:nvPr/>
        </p:nvSpPr>
        <p:spPr>
          <a:xfrm>
            <a:off x="4933188" y="1883664"/>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Perl, Wikipedia  </a:t>
            </a:r>
            <a:r>
              <a:rPr lang="en-US" sz="950"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en.wikipedia.org/wiki/Perl</a:t>
            </a:r>
            <a:endParaRPr lang="en-US" sz="950" dirty="0"/>
          </a:p>
        </p:txBody>
      </p:sp>
      <p:sp>
        <p:nvSpPr>
          <p:cNvPr id="25" name="Shape 23"/>
          <p:cNvSpPr/>
          <p:nvPr/>
        </p:nvSpPr>
        <p:spPr>
          <a:xfrm>
            <a:off x="4768596" y="2286000"/>
            <a:ext cx="82296" cy="82296"/>
          </a:xfrm>
          <a:prstGeom prst="ellipse">
            <a:avLst/>
          </a:prstGeom>
          <a:solidFill>
            <a:srgbClr val="D97A14"/>
          </a:solidFill>
          <a:ln w="12700">
            <a:solidFill>
              <a:srgbClr val="D97A14"/>
            </a:solidFill>
            <a:prstDash val="solid"/>
          </a:ln>
        </p:spPr>
      </p:sp>
      <p:sp>
        <p:nvSpPr>
          <p:cNvPr id="26" name="Text 24"/>
          <p:cNvSpPr txBox="1"/>
          <p:nvPr/>
        </p:nvSpPr>
        <p:spPr>
          <a:xfrm>
            <a:off x="4933188" y="2212848"/>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Python's _sre.c source history  </a:t>
            </a:r>
            <a:r>
              <a:rPr lang="en-US" sz="950"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chromium.googlesource.com/external/github.com/python/cpython/+/v3.7.0/Modules/_sre.c</a:t>
            </a:r>
            <a:endParaRPr lang="en-US" sz="950" dirty="0"/>
          </a:p>
        </p:txBody>
      </p:sp>
      <p:sp>
        <p:nvSpPr>
          <p:cNvPr id="27" name="Shape 25"/>
          <p:cNvSpPr/>
          <p:nvPr/>
        </p:nvSpPr>
        <p:spPr>
          <a:xfrm>
            <a:off x="4768596" y="2615184"/>
            <a:ext cx="82296" cy="82296"/>
          </a:xfrm>
          <a:prstGeom prst="ellipse">
            <a:avLst/>
          </a:prstGeom>
          <a:solidFill>
            <a:srgbClr val="D97A14"/>
          </a:solidFill>
          <a:ln w="12700">
            <a:solidFill>
              <a:srgbClr val="D97A14"/>
            </a:solidFill>
            <a:prstDash val="solid"/>
          </a:ln>
        </p:spPr>
      </p:sp>
      <p:sp>
        <p:nvSpPr>
          <p:cNvPr id="28" name="Text 26"/>
          <p:cNvSpPr txBox="1"/>
          <p:nvPr/>
        </p:nvSpPr>
        <p:spPr>
          <a:xfrm>
            <a:off x="4933188" y="2542032"/>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regex101  </a:t>
            </a:r>
            <a:r>
              <a:rPr lang="en-US" sz="950"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regex101.com</a:t>
            </a:r>
            <a:endParaRPr lang="en-US" sz="950" dirty="0"/>
          </a:p>
        </p:txBody>
      </p:sp>
      <p:sp>
        <p:nvSpPr>
          <p:cNvPr id="29" name="Shape 27"/>
          <p:cNvSpPr/>
          <p:nvPr/>
        </p:nvSpPr>
        <p:spPr>
          <a:xfrm>
            <a:off x="4768596" y="2944368"/>
            <a:ext cx="82296" cy="82296"/>
          </a:xfrm>
          <a:prstGeom prst="ellipse">
            <a:avLst/>
          </a:prstGeom>
          <a:solidFill>
            <a:srgbClr val="D97A14"/>
          </a:solidFill>
          <a:ln w="12700">
            <a:solidFill>
              <a:srgbClr val="D97A14"/>
            </a:solidFill>
            <a:prstDash val="solid"/>
          </a:ln>
        </p:spPr>
      </p:sp>
      <p:sp>
        <p:nvSpPr>
          <p:cNvPr id="30" name="Text 28"/>
          <p:cNvSpPr txBox="1"/>
          <p:nvPr/>
        </p:nvSpPr>
        <p:spPr>
          <a:xfrm>
            <a:off x="4933188" y="2871216"/>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Pythex  </a:t>
            </a:r>
            <a:r>
              <a:rPr lang="en-US" sz="950" u="sng" dirty="0">
                <a:solidFill>
                  <a:srgbClr val="2F6D62"/>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pythex.org</a:t>
            </a:r>
            <a:endParaRPr lang="en-US" sz="950" dirty="0"/>
          </a:p>
        </p:txBody>
      </p:sp>
      <p:sp>
        <p:nvSpPr>
          <p:cNvPr id="31" name="Shape 29"/>
          <p:cNvSpPr/>
          <p:nvPr/>
        </p:nvSpPr>
        <p:spPr>
          <a:xfrm>
            <a:off x="457200" y="4636008"/>
            <a:ext cx="91440" cy="310896"/>
          </a:xfrm>
          <a:prstGeom prst="rect">
            <a:avLst/>
          </a:prstGeom>
          <a:solidFill>
            <a:srgbClr val="D97A14"/>
          </a:solidFill>
          <a:ln w="12700">
            <a:solidFill>
              <a:srgbClr val="D97A14"/>
            </a:solidFill>
            <a:prstDash val="solid"/>
          </a:ln>
        </p:spPr>
      </p:sp>
      <p:sp>
        <p:nvSpPr>
          <p:cNvPr id="32" name="Text 3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History, documentation and two testers, opened the day this deck was built.</a:t>
            </a:r>
            <a:endParaRPr lang="en-US" sz="1350" dirty="0"/>
          </a:p>
        </p:txBody>
      </p:sp>
      <p:sp>
        <p:nvSpPr>
          <p:cNvPr id="33" name="Text 3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22</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What you should now be able to say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Four claims, each carried by a result you saw printed</a:t>
            </a:r>
            <a:endParaRPr lang="en-US" sz="1300" dirty="0"/>
          </a:p>
        </p:txBody>
      </p:sp>
      <p:sp>
        <p:nvSpPr>
          <p:cNvPr id="6" name="Text 4"/>
          <p:cNvSpPr txBox="1"/>
          <p:nvPr/>
        </p:nvSpPr>
        <p:spPr>
          <a:xfrm>
            <a:off x="548640" y="1371600"/>
            <a:ext cx="8046720" cy="219456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compile() builds a Pattern once; search() returns a Match or None, and never raises on no match.</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A pattern's own groups decide findall's shape: a plain list, or a list of tuples once there are two.</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Every quantifier is greedy by default; a trailing ? makes it take as few repetitions as it can.</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sub()'s replacement can hold \1 or be a function; flags such as re.I and re.X change how a pattern reads.</a:t>
            </a:r>
            <a:endParaRPr lang="en-US" sz="1500" dirty="0"/>
          </a:p>
        </p:txBody>
      </p:sp>
      <p:sp>
        <p:nvSpPr>
          <p:cNvPr id="7" name="Shape 5"/>
          <p:cNvSpPr/>
          <p:nvPr/>
        </p:nvSpPr>
        <p:spPr>
          <a:xfrm>
            <a:off x="548640" y="3749040"/>
            <a:ext cx="2981401" cy="530352"/>
          </a:xfrm>
          <a:prstGeom prst="roundRect">
            <a:avLst>
              <a:gd name="adj" fmla="val 50000"/>
            </a:avLst>
          </a:prstGeom>
          <a:solidFill>
            <a:srgbClr val="F2ECE1"/>
          </a:solidFill>
          <a:ln w="12700">
            <a:solidFill>
              <a:srgbClr val="D97A14"/>
            </a:solidFill>
            <a:prstDash val="solid"/>
          </a:ln>
        </p:spPr>
      </p:sp>
      <p:sp>
        <p:nvSpPr>
          <p:cNvPr id="8" name="Text 6"/>
          <p:cNvSpPr txBox="1"/>
          <p:nvPr/>
        </p:nvSpPr>
        <p:spPr>
          <a:xfrm>
            <a:off x="548640" y="3749040"/>
            <a:ext cx="2981401" cy="530352"/>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60 console rows run</a:t>
            </a:r>
            <a:endParaRPr lang="en-US" sz="1300" dirty="0"/>
          </a:p>
        </p:txBody>
      </p:sp>
      <p:sp>
        <p:nvSpPr>
          <p:cNvPr id="9" name="Shape 7"/>
          <p:cNvSpPr/>
          <p:nvPr/>
        </p:nvSpPr>
        <p:spPr>
          <a:xfrm>
            <a:off x="3731209" y="3749040"/>
            <a:ext cx="2297887" cy="530352"/>
          </a:xfrm>
          <a:prstGeom prst="roundRect">
            <a:avLst>
              <a:gd name="adj" fmla="val 50000"/>
            </a:avLst>
          </a:prstGeom>
          <a:solidFill>
            <a:srgbClr val="F2ECE1"/>
          </a:solidFill>
          <a:ln w="12700">
            <a:solidFill>
              <a:srgbClr val="D97A14"/>
            </a:solidFill>
            <a:prstDash val="solid"/>
          </a:ln>
        </p:spPr>
      </p:sp>
      <p:sp>
        <p:nvSpPr>
          <p:cNvPr id="10" name="Text 8"/>
          <p:cNvSpPr txBox="1"/>
          <p:nvPr/>
        </p:nvSpPr>
        <p:spPr>
          <a:xfrm>
            <a:off x="3731209" y="3749040"/>
            <a:ext cx="2297887" cy="530352"/>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3 programs run</a:t>
            </a:r>
            <a:endParaRPr lang="en-US" sz="1300" dirty="0"/>
          </a:p>
        </p:txBody>
      </p:sp>
      <p:sp>
        <p:nvSpPr>
          <p:cNvPr id="11" name="Shape 9"/>
          <p:cNvSpPr/>
          <p:nvPr/>
        </p:nvSpPr>
        <p:spPr>
          <a:xfrm>
            <a:off x="6230264" y="3749040"/>
            <a:ext cx="2297887" cy="530352"/>
          </a:xfrm>
          <a:prstGeom prst="roundRect">
            <a:avLst>
              <a:gd name="adj" fmla="val 50000"/>
            </a:avLst>
          </a:prstGeom>
          <a:solidFill>
            <a:srgbClr val="F2ECE1"/>
          </a:solidFill>
          <a:ln w="12700">
            <a:solidFill>
              <a:srgbClr val="D97A14"/>
            </a:solidFill>
            <a:prstDash val="solid"/>
          </a:ln>
        </p:spPr>
      </p:sp>
      <p:sp>
        <p:nvSpPr>
          <p:cNvPr id="12" name="Text 10"/>
          <p:cNvSpPr txBox="1"/>
          <p:nvPr/>
        </p:nvSpPr>
        <p:spPr>
          <a:xfrm>
            <a:off x="6230264" y="3749040"/>
            <a:ext cx="2297887" cy="530352"/>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4 true stories</a:t>
            </a:r>
            <a:endParaRPr lang="en-US" sz="1300" dirty="0"/>
          </a:p>
        </p:txBody>
      </p:sp>
      <p:sp>
        <p:nvSpPr>
          <p:cNvPr id="13" name="Shape 11"/>
          <p:cNvSpPr/>
          <p:nvPr/>
        </p:nvSpPr>
        <p:spPr>
          <a:xfrm>
            <a:off x="457200" y="4636008"/>
            <a:ext cx="91440" cy="310896"/>
          </a:xfrm>
          <a:prstGeom prst="rect">
            <a:avLst/>
          </a:prstGeom>
          <a:solidFill>
            <a:srgbClr val="D97A14"/>
          </a:solidFill>
          <a:ln w="12700">
            <a:solidFill>
              <a:srgbClr val="D97A14"/>
            </a:solidFill>
            <a:prstDash val="solid"/>
          </a:ln>
        </p:spPr>
      </p:sp>
      <p:sp>
        <p:nvSpPr>
          <p:cNvPr id="14" name="Text 1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Questions are welcome; bring one pattern you could not predict.</a:t>
            </a:r>
            <a:endParaRPr lang="en-US" sz="1350" dirty="0"/>
          </a:p>
        </p:txBody>
      </p:sp>
      <p:sp>
        <p:nvSpPr>
          <p:cNvPr id="15"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22</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SEN0414 Chapter 9 - Text Pattern Matching with Regular Expressions</dc:title>
  <dc:subject>PptxGenJS Presentation</dc:subject>
  <dc:creator>Yusuf Altunel</dc:creator>
  <cp:lastModifiedBy>Yusuf Altunel</cp:lastModifiedBy>
  <cp:revision>1</cp:revision>
  <dcterms:created xsi:type="dcterms:W3CDTF">2026-10-11T17:14:18Z</dcterms:created>
  <dcterms:modified xsi:type="dcterms:W3CDTF">2026-10-11T17:14:18Z</dcterms:modified>
  <cp:version>1.0.0</cp:version>
</cp:coreProperties>
</file>