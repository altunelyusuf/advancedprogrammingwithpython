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2622"/>
                </a:solidFill>
                <a:latin typeface="Cambria"/>
              </a:defRPr>
            </a:pPr>
            <a:r>
              <a:rPr sz="1300" b="0" i="0" u="none" strike="noStrike">
                <a:solidFill>
                  <a:srgbClr val="2B2622"/>
                </a:solidFill>
                <a:latin typeface="Cambria"/>
              </a:rPr>
              <a:t>Bits in a topic name</a:t>
            </a:r>
          </a:p>
        </c:rich>
      </c:tx>
      <c:layout/>
      <c:overlay val="0"/>
    </c:title>
    <c:autoTitleDeleted val="0"/>
    <c:plotArea>
      <c:layout/>
      <c:barChart>
        <c:barDir val="col"/>
        <c:grouping val="clustered"/>
        <c:varyColors val="0"/>
        <c:ser>
          <c:idx val="0"/>
          <c:order val="0"/>
          <c:tx>
            <c:strRef>
              <c:f>Sheet1!$B$1</c:f>
              <c:strCache>
                <c:ptCount val="1"/>
                <c:pt idx="0">
                  <c:v>bits</c:v>
                </c:pt>
              </c:strCache>
            </c:strRef>
          </c:tx>
          <c:spPr>
            <a:solidFill>
              <a:srgbClr val="D97A14"/>
            </a:solidFill>
            <a:effectLst/>
          </c:spPr>
          <c:invertIfNegative val="0"/>
          <c:dLbls>
            <c:numFmt formatCode="General" sourceLinked="0"/>
            <c:txPr>
              <a:bodyPr/>
              <a:lstStyle/>
              <a:p>
                <a:pPr>
                  <a:defRPr b="0" i="0" strike="noStrike" sz="10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cat>
            <c:multiLvlStrRef>
              <c:f>Sheet1!$A$2:$A$4</c:f>
              <c:multiLvlStrCache>
                <c:ptCount val="3"/>
                <c:lvl>
                  <c:pt idx="0">
                    <c:v>book: 8 of 62</c:v>
                  </c:pt>
                  <c:pt idx="1">
                    <c:v>urlsafe(16)</c:v>
                  </c:pt>
                  <c:pt idx="2">
                    <c:v>urlsafe(32)</c:v>
                  </c:pt>
                </c:lvl>
              </c:multiLvlStrCache>
            </c:multiLvlStrRef>
          </c:cat>
          <c:val>
            <c:numRef>
              <c:f>Sheet1!$B$2:$B$4</c:f>
              <c:numCache>
                <c:formatCode>General</c:formatCode>
                <c:ptCount val="3"/>
                <c:pt idx="0">
                  <c:v>47.6</c:v>
                </c:pt>
                <c:pt idx="1">
                  <c:v>128</c:v>
                </c:pt>
                <c:pt idx="2">
                  <c:v>256</c:v>
                </c:pt>
              </c:numCache>
            </c:numRef>
          </c:val>
        </c:ser>
        <c:dLbls>
          <c:numFmt formatCode="General" sourceLinked="0"/>
          <c:txPr>
            <a:bodyPr/>
            <a:lstStyle/>
            <a:p>
              <a:pPr>
                <a:defRPr b="0" i="0" strike="noStrike" sz="10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19 taught a program to start and schedule other programs. Chapter 20 teaches a program to reach a person: by email through the Gmail API and the EZGmail module, by text through the SMS email gateways of a table, and by push notification through ntfy and the Requests library. It ends with five practice questions and three practice programs, Umbrella Reminder, Auto Unsubscriber and Email-Based Computer Control. This deck follows the chapter in its own order: setting up, sending, reading, searching and downloading with EZGmail; the gateway table and the length of a text; sending and receiving with ntfy; and the practice programs. It adds what the chapter leaves out and what the research found when every printed output was run again: the standard library's email, smtplib and imaplib modules, which the chapter names only to say EZGmail is better; STARTTLS and certificate checks; the difference between the envelope and the header; two gateways that are gone or going; the byte limit of ntfy; and what changed between Python 3.11 and 3.15. Nothing here reached a real service. No Gmail account, no Gmail server, no phone number, no carrier, no Twilio account and no ntfy server was used, and nothing was sent to a person. Every output on these slides was printed by Python 3.14.6, installed with uv, with ezgmail 2026.4.28, requests 2.34.2 and aiosmtpd 1.4.6. A program that needed a server ran against a local stand-in on this machine: aiosmtpd with a self-signed certificate for SMTP, the real ezgmail library on a replacement of the HTTP layer of Google's client library whose replies were written by the research for Gmail, and a recorder for ntfy. Each slide that shows such output says so. What could not be run, a Google account and its OAuth steps, Gmail's servers, a text through a carrier or Twilio, publishing to ntfy, Windows and macOS, and Python 3.14.7 and later with the final 3.15.0, is marked NOT EXECUTED on its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route has six parts. It starts with the Gmail API through EZGmail: what a program can do with one account, the setup with a credentials file and a token file, sending with attachments, cc and bcc, reading threads and messages, and replies, search, quoted text and downloads. Then the standard library, which the chapter names only to say EZGmail is better: the story of the @ sign, building a message, headers and addresses, SMTP with STARTTLS, refused recipients and the envelope, reading mail with IMAP, and what changed in Python's mail modules between 3.11 and 3.15. The third part is texts: the gateway table and the end of one gateway, and how long a text can be. The fourth is push notifications with ntfy: publishing, headers and bytes, receiving by polling, and the topic name that is the password. The fifth is trust and the practice programs: Umbrella Reminder, Auto Unsubscriber and Email-Based Computer Control. The last part is a one-map summary and the resources. The ranges name the exact slides, so you can return to the part you need. Two of the slides are true stories and four more are told in the notes; the eight narrative diagrams of the chapter are drawn from the same specifications as the interactive page. Every output was printed by Python 3.14.6 with ezgmail 2026.4.28, requests 2.34.2 and aiosmtpd 1.4.6, a server was always a local stand-in, and what could not be run is marked on its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question is the spine of the chapter, and the deck answers it slide by slide. On a machine with no Gmail account, no phone number and no push service, a program that builds a message, parses an address, speaks SMTP to a server, reads a poll answer or checks a password can be shown to work, provided the server is a stand-in on the same machine. A program that logs in to Google, delivers a text or reaches ntfy.sh can only be shown to fail, with the error a reader sees before the setup is done, and the deck says NOT EXECUTED wherever a success would have to be claimed. The second question is the watch-out of the deck. The chapter has 15 listings with 48 statements. They were replayed as printed in three environments. With ezgmail installed and no credentials, which is where a reader stands before the Google Cloud steps, 19 of the 48 matched the book; with no packages at all, 3 matched. On a stand-in for Google's server, 42 of 46 matched in the zone America/Los_Angeles and 38 of 46 in Europe/Istanbul, because dates and a timestamp depend on the zone of the computer. Four never match: two statements whose quoted strings the web page breaks across lines, the printed text of a thread, and a Windows path that Linux cannot start. The online materials of the book, 91 files, hold no file for this chapter. Each slide says where a printed line differs and on what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use-case diagram lists what the chapter does with one Gmail account through one module: send an email, attach files, list unread email, search with the operators of the Gmail search box, read the messages of a thread, download attachments, and reply to a message in its thread. They are independent uses of the same module and not a sequence, which is why the picture is a set of uses. The chapter teaches three ways for a program to reach a person: the Gmail API through the EZGmail module, with a credentials file and a token file; texts through the SMS email gateways of Table 20-1, with Twilio named as the reliable alternative; and push notifications through ntfy, with a POST to a topic and a poll with /json?poll=1. It ends with five practice questions and three practice programs. The second edition of the book taught smtplib and imapclient in its chapter 18, mentioning smtplib 21 times and Twilio 31; the third edition's chapter names smtplib and imaplib only to say that EZGmail is better. The card records what the research found on 13 October 2026 and this deck does not run again: the chapter's page returned 200 with 53,147 bytes, the online materials of the third edition, a zip of 91 files of which 72 are Python, hold no program that names ezgmail, ntfy, smtplib, imaplib, Twilio or weather.gov, and the book page at No Starch Press that the chapter's last sentence names for an example implementation of the last practice program has none. The practice programs of this deck are therefore written from the chapter's own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activity diagram is the chapter's setup: keep the credentials file and the token file in the working directory, call ezgmail.init(), and if it raises no error go on to send(); if it does, do the steps of the Google Cloud console again. The program shows what a reader sees before those steps are done. The last line of the ezgmail module calls init(_raiseException=False), so a failed login is hidden when the module is imported and the first call to init() raises EZGmailException with the message Can't find credentials file, and ezgmail.LOGGED_IN stays False. The library asks for the scope https://mail.google.com/, which is the whole mailbox. The chapter never writes the file name credentials.json, although Appendix B does, and it never uses the word refresh. The second half of the program makes a token.json with the oauth2client package that ezgmail uses, from made-up values: it is plain JSON of 16 keys, written with the file mode 0o600, and it holds the client secret and the refresh token, so the chapter's advice to treat it like a password is right. ezgmail 2026.4.28 requires google-api-python-client and oauth2client; oauth2client 4.1.3 was uploaded on 7 September 2018 and PyPI classifies it as inactive, so the login of the chapter's library stands on a package that has not changed in eight years. Google's OAuth page says that a project whose consent screen is external and in the status Testing is issued a refresh token that expires in 7 days; that was read and not run, because it needs a Google account and a week. Wikipedia's article on Gmail says it was launched on 1 April 2004 with one gigabyte of storage space, a significantly higher amount than competitors offered at the time, and that Paul Buchheit developed the idea several years before it was announced. The article says the project was known by the code name Caribou. Chapter 20 of the 3rd edition tells the reader to use the Gmail API through the EZGmail module instead of smtplib and imaplib. In this study the library asked for the scope https://mail.google.com/ and, with no credentials file, raised EZGmailException. The account rests on these sources. Wikipedia, 'Gmail' (launched 1 April 2004 with one gigabyte; Paul Buchheit; code name Caribou), read 2026-10-13; chapter 20 of the 3rd edition; this study's leaves CredentialsAndToken and GmailEndpoints.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ezgmail.send() makes one POST to users/me/messages/send whose JSON body has a single key, raw, the whole message in base64. The program shows what the library puts in it. With three arguments the message has the headers to, from and subject. With a list of file names it builds a multipart/mixed message with one part for each file; the library did not refuse setup.exe, although Gmail's help page, which the research read and did not test, names the types Gmail blocks. The cc and bcc arguments become the Cc and Bcc headers of the message, and the Bcc address is written into the text that is posted; whether Gmail removes that header from the copies it delivers was not run, so the slide says NOT EXECUTED. In a longer run of the same stand-in, program ezgmailSendWithStandIn, which is not on the slide, a Turkish body was sent as charset utf-8 and a Turkish subject as an encoded word, and both came back unchanged; the research read the RFCs for both. A subject with a line break raised HeaderParseError, because ezgmail builds the message with the legacy MIMEText class, and the research found that no request was made. Everything on the slide came from the real ezgmail library running against a stand-in for Google's server: the Google client library's HTTP layer was replaced by an object that records each request and answers with a reply written by the research. The chapter says that Gmail has security and anti-spam measures that might not send repeated emails with the exact same text. Wikipedia's article on email spam says that at the beginning of the Internet, in the ARPANET, sending commercial email was prohibited. Gary Thuerk sent the first known spam email in 1978, advertising a DEC product presentation, to 600 addresses, and he was reprimanded and told not to do it again. The article adds that the ARPANET had 2600 users at the time and that, because of software limitations, only slightly more than half of the intended recipients received the message. That history is why Gmail, as chapter 20 says, has security and anti-spam measures that might not send repeated emails with the exact same text. The account rests on these sources. Wikipedia, 'Email spam' (Gary Thuerk, 1978, 600 addresses, a DEC product presentation, 2600 users on the ARPANET); chapter 20 of the 3rd edition (Gmail might not send repeated emails with the exact same text), read 2026-10-13; this study's leaves AutoUnsubscriber and DmarcRecordParse.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GmailThread holds an id, a snippet and a history id, and it fetches its GmailMessage objects the first time messages is read; printing the thread reads messages, so the program shows one request to the API made by str(thread), which the chapter does not say. The chapter prints the text &lt;GmailThread len=2 snippet= Do you want to watch RoboCop this weekend?'&gt; with no opening quote; ezgmail 2026.4.28 prints &lt;GmailThread numMessages=2 snippet='...'&gt;. The timestamp of a message is built from the internalDate that the API returns, in milliseconds, as a naive datetime in the zone of the computer that runs the program: the program sets the zone of its own process three times and the same message, 1797000528 seconds since the epoch, reads 14:48:48 in UTC, 08:48:48 in America/Chicago and 17:48:48 in Europe/Istanbul. The chapter never says that its reading depends on the zone; its example fromtimestamp(1797823712), printed as 2026-12-20 21:28:32, is right only in a zone at UTC-6, and in UTC it is 2026-12-21 03:28:32, a Monday, as the slide on receiving shows. A message with no Subject header raised AttributeError, both on .subject and on printing it. All of this came from the real library against a stand-in for Google's server whose replies were written by the research.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reply() posted a message with the threadId of the original and the original sender as the recipient, but with the subject unchanged, RoboCop and not Re: RoboCop, and without In-Reply-To or References. Google's sending guide names a matching Subject and those headers, with the threadId, as what makes a message join a thread, so whether Gmail threads these replies was not run and the slide says NOT EXECUTED. replyAll() made no API call and returned None. The queries of the three listing functions are visible in the requests: unread() asks for the label UNREAD, recent() for INBOX and search('has:attachment') passes the text to the API, which is Appendix B's answer to its third question, with 25 results by default. removeQuotedParts() cut only the English form On Sun, Jan 1, 2018 at 12:00 PM ... wrote: and left the replies of the form On Sun, 1 Jan 2018 at 12:00, a Turkish line and the English line with U+202F before PM. On the right, downloadAllAttachments() with an attachment named ../evil.txt wrote the file one level above the download folder, so a name that comes from a stranger's email is a path; the chapter says that downloadAttachment() overwrites an existing file, and it did: MINE became AAAA. A name that is not in the message raised AttributeError. Both programs ran the real library against a stand-in for Google's server.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Wikipedia's article on Ray Tomlinson says he invented the first email program on the ARPANET in 1971, the first system able to send mail between users on different hosts. Before that, mail could be sent only to others who used the same computer. He was asked to adapt SNDMSG, which let users leave messages for others on the same time-sharing computer, so that it could run on TENEX, and he built in code from his file-transfer program CPYNET. To separate the user name from the name of the machine he used the @ sign, because it was not used in user names or in TENEX programming. In this study email.utils.parseaddr split 'Al Sweigart &lt;al@inventwithpython.com&gt;' into the name and the address at that sign. The account rests on these sources. Wikipedia, 'Ray Tomlinson' (the first email program on the ARPANET in 1971; SNDMSG adapted for TENEX; the @ sign chosen because it was not used in user names), read 2026-10-13; this study's leaves EmailMessageBuild and AddressParsing. The console on the slide uses only the email package of the standard library, so each row can be typed into any Python: parseaddr() splits the sender of the chapter's example into a name and an address, partition('@') splits the address at Tomlinson's sign, and formataddr() puts a name and an address back together. The last two rows show a trap that the research found in every interpreter it ran: parseaddr() given two addresses in one string returns two empty strings, the answer of a parser that rejects malformed input, and strict=False returns the first address. The strict argument is documented as new in Python 3.13, yet it was accepted by the 3.11.17 and 3.12.3 packages of the machine, which carry the security fix; the table on a later slide shows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standard library builds a message with EmailMessage, which the chapter does not use; EZGmail does the equivalent for the reader. The program makes a plain message with set_content() and counts its headers, eight once the body is set, with Content-Type text/plain, charset utf-8, and a transfer encoding of 7bit. Lines end with a line feed in as_bytes() and with a carriage return and a line feed under policy.SMTP, which counted 0 and 10, because the protocol of RFC 5321 ends lines with CRLF. add_alternative() turns the message into multipart/alternative with a text part and an html part, and add_attachment() wraps it in multipart/mixed with the attachment, so walk() lists the tree: multipart/mixed, multipart/alternative, text/plain, text/html and application/octet-stream. iter_attachments() lists the file name, and get_body() with the preference html, plain returns the html part. The date is set with formatdate() from a number and the Message-ID is fixed, so that the printed text is the same on every run. The program imports only the email package and its policy module and opens no connection; whether it runs in a Python in a browser was not tested.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header may hold only ASCII, so a subject with Turkish letters is written as an encoded word, =?utf-8?b?...?=, and decoded back by decode_header() and make_header(); the printed Subject line shows the encoded part and the next line the decoded text. An address list is split by getaddresses(): with the quotes around Doe, Jon the name stays one name, and without them the comma splits one person into two entries, the first with no address. parseaddr() given two addresses in one string returns two empty strings, and with strict=False it returns the first address; the research saw the empty answer in all eleven interpreters it ran. The last lines are the defence against header injection. EmailMessage raises ValueError at once for a value with a line break, and the legacy MIMEText accepts it and raises HeaderParseError when the message is written; ezgmail uses MIMEText, which is why a subject with a line break raised before any request was made. Without the check, text after the line break would be read as a new header, such as a Bcc to a stranger. This program uses only the standard library.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sequence diagram is the order of an SMTP session with STARTTLS: the client connects and calls ehlo(), the server advertises STARTTLS, the client calls starttls() with a context, the server answers 220 and the session uses TLS, the client logs in and sends the message, and the server answers 250. The chapter does not use smtplib, and its page never writes the words STARTTLS, TLS or SSL. The program ran the real smtplib against a local stand-in for an SMTP server, aiosmtpd on 127.0.0.1 with a self-signed certificate, so no Gmail server was reached; imap.gmail.com and smtp.gmail.com timed out from this machine. Before STARTTLS the server advertised STARTTLS and no AUTH; after it, AUTH LOGIN PLAIN, and the server saw TLS. With the default context the self-signed certificate was refused with SSLCertVerificationError; starttls() with no context at all returned 220, an encrypted connection that is not authenticated, because no certificate was checked. In a longer run of the same local stand-in, program smtpLocalStarttls, which is not on the slide, login() before STARTTLS raised SMTPNotSupportedError, because the server offers AUTH only after TLS; on the slide, after STARTTLS with a context that trusts the certificate, the login returned 235. The RFC Editor's page for RFC 821, Simple Mail Transfer Protocol, by Jonathan B. Postel, is dated August 1982 and names the Information Sciences Institute of the University of Southern California in Marina del Rey. The same page now says that the RFC is obsolete and points to RFC 2821, which RFC 5321 of October 2008 by J. Klensin in turn obsoleted. Python's smtplib still opens a conversation with EHLO, the extended greeting that RFC 821's HELO grew into, and sends MAIL FROM and RCPT TO commands. In this study a local aiosmtpd server received exactly those commands, and the message header's From was not the MAIL FROM of the envelope. The account rests on these sources. RFC Editor, RFC 821 (Postel, August 1982; this RFC is now obsolete, see RFC 2821) and RFC 5321 (Klensin, October 2008, obsoletes 2821), read 2026-10-13; this study's leaves StarttlsSession and EnvelopeVersusHeader.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left, one of two recipients is refused with 550. send_message() does not raise: it returns a dict of the refused address and the answer, and the message was still stored for the other, so a program that ignores the return value loses a recipient without a sound. When every recipient is refused it raises SMTPRecipientsRefused. A wrong password raised SMTPAuthenticationError with the code 535, and a closed port raised ConnectionRefusedError, an OSError. On the right, the envelope is separate from the header. send_message() sent RCPT TO for the To, the Bcc and the Cc addresses, and the Bcc header was not in the text, as the documentation of send_message says; the address of the Bcc recipient appears nowhere in the message. sendmail() was given an envelope sender, bounces@mallory.example, that matches neither the From header, CEO &lt;ceo@bank.example&gt;, nor any login, and the server accepted it without asking for a login. The chapter says it is fairly trivial for hackers to fake a from address; this is the demonstration, and it is why a program should not trust a From line. The chapter never uses the words SPF, DKIM or DMARC, the standards that let a receiving server check the sender. The research recorded that gmail.com publishes the SPF record v=spf1 redirect=_spf.google.com and the DMARC record v=DMARC1; p=none; sp=quarantine, and that Google's guidelines require authentication from senders of more than 5,000 messages a day. Both programs ran the real smtplib against the local stand-in server.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state diagram follows one message through the INBOX of an IMAP server: it arrives unseen; a fetch with BODY.PEEK leaves it unseen, a fetch of RFC822 sets the Seen flag, STORE adds the Deleted flag from either state, and EXPUNGE removes it. This is the delete step of the Email-Based Computer Control program. The chapter does not use imaplib, which the standard library has and which the chapter names only to say EZGmail is better. The console on the right uses only the standard library: the ports 25, 465, 143 and 993; the fact that imaplib.IMAP4.idle exists in Python 3.14, where the IDLE command of RFC 2177 was added; and the parsers ParseFlags() and Time2Internaldate(). The session itself is a record of 13 October 2026 and this deck does not run it again: the research ran dovecot 2.3.21 on 127.0.0.1, with a self-signed certificate and one user, as a local stand-in for Gmail's IMAP server, and read it with imaplib over STARTTLS. SEARCH UNSEEN found the message; a FETCH with BODY.PEEK left the flags alone; a FETCH of RFC822 set Seen; STORE with the Deleted flag and EXPUNGE left the INBOX empty; and idle() in Python 3.14.6 reported EXISTS when a message arrived a second later. A wrong password raised error AUTHENTICATIONFAILED. imapclient 4.1.0, the library the second edition used, did the same against dovecot. Gmail's own servers were NOT EXECUTED: a TCP connection to imap.gmail.com on 993 and to smtp.gmail.com on 587 and 465 timed out after ten seconds, with nothing sent.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table is the same probe run under five interpreters, and the deck check runs all five again every time it checks the deck. IMAP4.idle() exists from Python 3.14. The keyfile and certfile arguments of starttls() and of the SSL classes of smtplib and imaplib are gone from 3.12; the documentation of 3.14 says so, although the body text of starttls() still describes them. smtpd, asyncore and asynchat were removed in 3.12, and cgi, imghdr, sndhdr, nntplib and telnetlib in 3.13; PEP 594 is the list. ssl.create_default_context() adds the verify flags VERIFY_X509_STRICT and VERIFY_X509_PARTIAL_CHAIN from 3.13, as the documentation says, so a certificate that an older context accepted, one that does not follow RFC 5280, may now be refused. smtplib writes its commands in lower case from 3.13, mail from: and rcpt to:, where 3.12 wrote mail FROM:; this was seen on the wire and is not in the documentation. email.utils.localtime() lost its isdst argument in 3.14, after a deprecation in 3.12. The research text, finding F13, says the minimum TLS version of create_default_context() became 1.2 in 3.13. Run here it is TLS 1.2 already in 3.11.17, the documentation puts it in 3.10, and the 3.12.3 package of Ubuntu reports the lowest supported version, which is a setting of that build; so that clause of F13 is wrong, and the table shows the evidence. The same finding says that parseaddr()'s strict argument came in 3.13; the documentation says so, but the 3.11.17 and 3.12.3 packages accept it, because the security fix was backported. The research ran eleven interpreters, 3.11 to 3.15.0b4, and found 19 of 48 compared items different between releases; five are here. Python 3.14.7 and later and the final 3.15.0 were NOT EXECUTED, because uv offered only 3.14.6 and 3.15.0b4 on the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AT&amp;T's own support page says that effective 17 June 2025 you can no longer send or receive texts using email, and that on that day its email-to-text and text-to-email service was shut down. Table 20-1 of chapter 20 still lists AT&amp;T first, with the gateways txt.att.net and mms.att.net, and the chapter itself warns that the fact that a gateway delivers a text today does not mean it will work tomorrow. In this study a DNS query for the mail exchangers of txt.att.net and mms.att.net came back without any, while 12 of the other 16 gateway domains of the table had them (sprint's two answered NXDOMAIN and boost's SERVFAIL). Verizon's page says its shutdown of vtext.com and vzwpix.com is expected to be complete by 31 March 2027. The account rests on these sources. AT&amp;T support article KM1061254 (shut down on June 17, 2025); Verizon, 'Shutdown of email to Vtext and VZWPix' (03/31/2027); chapter 20 of the 3rd edition (Table 20-1 and the list of disadvantages), read 2026-10-13; this study's live observation of MX records and its leaves AttNotice and GatewayAddress. Table 20-1 of the chapter lists 12 providers, each with an SMS domain and some with a different MMS domain. An address is the number, an @ and the domain: 2125551234@vtext.com is the chapter's own example, and 2125551234@vzwpix.com is its MMS address. Verizon and Xfinity Mobile share the SMS domain vtext.com, so the 12 rows hold 11 distinct SMS domains. The program counts the days from the notices to the date of this study: 483 days after AT&amp;T's shutdown on a Tuesday, and 169 days before the end that Verizon expects by 31 March 2027, a Wednesday, with some senders losing access earlier. The DNS queries went over HTTPS to dns.google on 13 October 2026; of the 18 gateway domains 13 had mail exchangers; txt.att.net and mms.att.net had none, the two Sprint domains answered NXDOMAIN and sms.myboostmobile.com answered SERVFAIL. The story text in the repository says 12 of the other 16 had them; the recorded answers count 13, and this deck uses the recorded count. The chapter's own list of disadvantages is that a gateway is not guaranteed to work, does not say whether the message was delivered, and may stop working; the notices are the proof. Delivery through any gateway and anything about Twilio beyond one unauthenticated request were NOT EXECUTED.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 says an SMS gateway limits a message to 160 characters. Twilio's page explains the arithmetic: a message carries 140 bytes of 8 bits, which hold 160 characters of 7 bits, and a character such as { needs an escape and counts as two. The program counts with a GSM-7 table written for this study: 160 characters of the basic set fit one message and 161 need two, and {x} costs 5. One character outside the table, the dotless i of Yedekleme tamamlandı, turns the whole text into UCS-2 at 16 bits a character, so 70 characters fit one message and 71 need two; the same text written without the dotless i is GSM-7 and counts 20. The segment sizes for longer texts, 153 and 67 characters, follow from a six-byte header on each part; they are arithmetic and were not found on a page opened by this study, so the slide says NOT EXECUTED and does not print a row that depends on them. The segments of the program use them only for texts longer than 160 or 70, which no row of the slide has. Wikipedia's article on SMS says the first SMS message was sent on 3 December 1992 over the Vodafone GSM network in the United Kingdom, when Neil Papworth of Sema Group sent 'Merry Christmas' from a personal computer to Richard Jarvis's Orbitel 901 phone. The service allows messages of up to 160 characters, and the article says the length was limited to 128 bytes, later improved to 160 seven-bit characters, so that messages fit into the existing signalling formats. In this study 140 bytes of 8 bits hold 160 characters of 7 bits, a text of 161 ASCII characters needed 2 messages, and 'Yedekleme tamamlandı' with its dotless i needed the 16-bit coding that holds only 70 characters in one message. The account rests on these sources. Wikipedia, 'SMS' (the first SMS on 3 December 1992, Neil Papworth, Richard Jarvis, Orbitel 901; 160 seven-bit characters), read 2026-10-13; this study's leaves Gsm7Length and Ucs2Length.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sequence diagram is the exchange of the chapter: the program calls requests.post() with the topic URL and the text, the service answers with a Response with status 200, a subscriber checks the topic and receives the message, and the program can poll the same topic with requests.get(). The program ran requests against a recorder on 127.0.0.1 that logs what it receives; it is not ntfy and says nothing about what ntfy.sh does. The post arrived as POST /AlSweigartZPgxBQ42 with the body b'Hello, world!', a Content-Length of 13 and no Content-Type. The headers Title, Tags and Priority of the chapter's second example arrived unchanged, each as a header of the request. The research asked ntfy.sh only twice, with GET: its health endpoint answered 200 with healthy true, and a poll of a random unused topic answered 200 with an empty body, so nothing was published. The real ntfy server could not be downloaded, because github.com answered 403, and the app, the delivery to a phone and a subscriber were NOT EXECUTED. The service is documented to allow 250 messages a day on ntfy.sh without an account, and the chapter says 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header value must be latin-1 and a string. The program shows two ways it fails: Priority given as the integer 5 raised InvalidHeader, and a Title with the dotless i of Yedekleme tamamlandı raised UnicodeEncodeError before any request was sent, so a Title in Turkish fails while the book's English Title and its Priority written as a string work. A body given as a string is sent as UTF-8: the 20 characters of Yedekleme tamamlandı were 21 bytes on the wire, b'Yedekleme tamamland\xc4\xb1', with a Content-Length of 21; the body of 13 characters on the previous slide went with no Content-Type, and the pinned Requests of the card sent none either, so the receiver has to assume the charset. The limit of ntfy is 4,096 bytes, not characters, as a later slide shows, and the documentation says a longer message is treated as an attachment, which the chapter does not say. The second half of the program has the recorder answer 429 with the JSON body of a limit reached: post() returned a Response whose ok was False and raised nothing, so a program that notifies about a long job fails silently when a limit is reached; only raise_for_status() raised HTTPError.. The card records what the research found with the Requests 2.32.3 that Appendix A of the book pins, in an environment of its own: the same prepared body and the same InvalidHeader as the newest requests, 2.34.2.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flow chart is the polling loop of the chapter: call requests.get() with the topic URL that ends in /json?poll=1, add since to get the messages of the last minutes, split the text of the answer into lines, parse each line with json.loads(), and ask whether the event is a message; if it is, read the message, the title, the priority and the tags, and in either case wait before the next poll. The chapter says to poll once a minute or every few minutes. The recorder answered with the two lines the book prints, and the program shows what the book does not: json.loads() of the whole text raised JSONDecodeError, Extra data, because it is not one JSON document; splitlines() and json.loads() on each line worked; the second object has the keys priority, tags and title that the first lacks, so a program must allow for keys that are absent; and, in the longer run of the recorder, program ntfyPollParse, expires minus time is 43,200 seconds, twelve hours. In that longer run the documentation listed event types that the book does not, message_delete and message_clear. The timestamp 1797823712 is 21:28:32 in America/Chicago and 03:28:32 on the next day in UTC, which is why the book's printed date holds only at UTC-6. In a longer run of the same recorder, program ntfyPollParse, which is not on the slide, a blank line, which a stream sends as a keepalive and which a trailing newline also makes, raised JSONDecodeError again, so a program that splits lines should skip empty ones. The research asked ntfy.sh only with GET; the health endpoint answered 200 and a poll of an unused topic answered 200 with an empty body, and no message was published or received, which the slide marks NOT EXECUTED.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topic name is part of the URL, https://ntfy.sh/ and the name, so it appears in logs, proxies and browser history, and ntfy's FAQ says that without access control the topic name is the password. The random part of the book's example, ZPgxBQ42, is 8 characters of 62, which is 47.6 bits; the other half of the name is the author's name, which is guessable. secrets.token_urlsafe(16) gives 22 characters and 128 bits, and token_urlsafe(32) 256, as the chart shows; the bars are computed from 8 times log2(62) and from the byte counts, and the deck check computes them again. The chapter says that anyone can post to a topic and that there is no way to know who posted a message, so the sender has to be written inside the text. The limit of 4,096 bytes is bytes: 4096 ASCII characters are 4096 bytes, and 2049 dotless i characters are 4098 bytes, over the limit. At 250 messages of 4096 bytes a day, a program that notifies about a long job stays inside the limits of the service; the service allows 250 messages a day, one every 345.6 seconds on average. None of this published anything to ntfy.sh. The program is arithmetic and uses only the standard library.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of the chapter's practice programs, with the weakness each has. Umbrella Reminder scrapes the text of a forecast for the word rain. Searching the text of two sample periods found it in neither, so it missed the period with a chance of precipitation of 60 that a comparison of the number with a limit of 40 flagged; the periods on the slide are sample data written in the shape of the answer of api.weather.gov, not forecasts. The research asked api.weather.gov for a point in Chicago on 13 October 2026 and its forecast came back with 14 periods, each with a probabilityOfPrecipitation number, a number to compare where the chapter's scraping gives text; that record is not run again. Auto Unsubscriber finds links whose text says unsubscribe. The parser found 1 of 4 links, because an image link and the text opt out are missed. The List-Unsubscribe header of RFC 2369, with List-Unsubscribe-Post of RFC 8058, gives a mailto: and an https: address without parsing any HTML. The browser is a stand-in: webbrowser.open was replaced by a recorder, because opening a link from an unknown sender with a browser confirms to the sender that the address is read. The book suggests Beautiful Soup, which Appendix A pins at 4.12.3; this program uses html.parser from the standard library. The chapter's two programs are not in the online materials. Wikipedia's article on email spam says that at the beginning of the Internet, in the ARPANET, sending commercial email was prohibited. Gary Thuerk sent the first known spam email in 1978, advertising a DEC product presentation, to 600 addresses, and he was reprimanded and told not to do it again. The article adds that the ARPANET had 2600 users at the time and that, because of software limitations, only slightly more than half of the intended recipients received the message. That history is why Gmail, as chapter 20 says, has security and anti-spam measures that might not send repeated emails with the exact same text. The account rests on these sources. Wikipedia, 'Email spam' (Gary Thuerk, 1978, 600 addresses, a DEC product presentation, 2600 users on the ARPANET); chapter 20 of the 3rd edition (Gmail might not send repeated emails with the exact same text), read 2026-10-13; this study's leaves AutoUnsubscriber and DmarcRecordParse.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flow chart is one pass of the loop of the chapter's last practice program: check the mail for instructions, ask whether the password is in the message, run the program with Popen, wait for it with wait(), delete the emails the loop handled, and wait fifteen minutes. The diagram adds the test the chapter lacks, whether the command is on an allow-list. The program takes the mailbox as a list in memory, a stand-in for IMAP; the IMAP version, with three messages arriving by SMTP and read, deleted and expunged against dovecot, is a record of the research and is not run again. The password is compared with hmac.compare_digest(), which refuses a str that is not ASCII with TypeError, so the program compares bytes. A wrong password answered bad password, a command not on the allow-list, rm, was refused, and an allowed one ran and returned its exit code. The console below the program shows why the command must never be built from the text of an email: run through a shell, the subject status; echo PWNED ran two commands, and as a list the same text was one argument. The chapter's own example starts qBittorrent with a Windows path, which raised FileNotFoundError on Linux; Windows and macOS were NOT EXECUTED. The chapter also asks for a password in the email; a password in an email travels in clear text through every server unless every hop uses TLS, which is the reason for the STARTTLS slide. The chapter's last sentence sends a stuck reader to the book page for an example implementation, and that page holds none.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six branches are the route of the deck. The Gmail API: the token file is a password, a reply keeps the thread id only, and a file name with a path is written outside the folder. The standard library: STARTTLS comes before the login, a Bcc recipient is in the envelope, and IDLE is new in Python 3.14. SMS email gateways: AT&amp;T ended its gateway in 2025, Verizon ends its gateway in 2027, and a text holds 160 characters in GSM-7 and 70 in UCS-2. ntfy: the topic name is the password, the limit is 4,096 bytes, and the answer to a poll is one JSON object on each line. Trust in an email: the envelope and the From header differ, a line break in a header is refused, and a command in a subject needs an allow-list. The book and its practice: the online materials hold no file for the chapter, the second edition taught smtplib, and the forecast has a chance of precipitation that the chapter's search for the word rain misses. Together they answer the first question of the chapter, which parts of a program that reaches a person can be shown to work and which can only be shown to fail, and the slides that say where a printed line differs answer the second. The map is drawn from the same specification as the interactive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link on this slide was opened on the day the deck was made, and the build records the status each answered. The textbook chapter is free to read online and holds every listing of the chapter; the documentation of email.message and smtplib describes the standard library that the chapter names only to say EZGmail is better, and imaplib has its own page that is not linked here. The reference links are the Gmail API's guide to sending and the two pages of the ntfy documentation that the chapter relies on; the RFC that defines SMTP is told in the notes of the slide about SMTP. The history links are the sources behind four of the six stories of the chapter: Ray Tomlinson and the @ sign, the first spam, the first text message, and AT&amp;T switching off email-to-text. The other two, the launch of Gmail and RFC 821, are told in the notes of the slide of the setup and of the slide of SMTP without a link here. The two packages whose versions the deck records are ezgmail and requests. The rest of the seventy-odd sources of the research, among them the RFCs, the pages of the Gmail API, the notices of the carriers and the manual pages of the Python modules, are in the research package.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claims, each carried by a result you saw printed. If you can say them in your own words and run the examples yourself, you have the chapter. The console rows use only the standard library and no clock, so they can be typed into any Python and give the same text on any day; the email package, json, hmac, html.parser and secrets also run in a Python in a browser, while the programs that need a server, smtplib against aiosmtpd, ezgmail, requests against a recorder and subprocess, need a computer. The rows were run again under Python 3.14.6 each time the deck was built, and the programs were run again by the check that compares the slides with the recording. What was not run is marked on its slide: a Google account, Gmail's servers, a text through a carrier or Twilio, ntfy.sh, Windows and macOS, and Python 3.14.7 and later with the final 3.15.0. Nothing was ever sent to a person. The next chapter of the book makes graphs and manipulates images, and what this chapter taught about checking what a program sends and trusting what it receives carries 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hyperlink" Target="https://en.wikipedia.org/wiki/Ray_Tomlinson" TargetMode="Externa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hyperlink" Target="https://www.att.com/support/article/wireless/KM1061254/" TargetMode="External"/><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hyperlink" Target="https://automatetheboringstuff.com/3e/chapter20.html" TargetMode="External"/><Relationship Id="rId2" Type="http://schemas.openxmlformats.org/officeDocument/2006/relationships/hyperlink" Target="https://docs.python.org/3.14/library/email.message.html" TargetMode="External"/><Relationship Id="rId3" Type="http://schemas.openxmlformats.org/officeDocument/2006/relationships/hyperlink" Target="https://docs.python.org/3.14/library/smtplib.html" TargetMode="External"/><Relationship Id="rId4" Type="http://schemas.openxmlformats.org/officeDocument/2006/relationships/hyperlink" Target="https://developers.google.com/workspace/gmail/api/guides/sending" TargetMode="External"/><Relationship Id="rId5" Type="http://schemas.openxmlformats.org/officeDocument/2006/relationships/hyperlink" Target="https://docs.ntfy.sh/publish/" TargetMode="External"/><Relationship Id="rId6" Type="http://schemas.openxmlformats.org/officeDocument/2006/relationships/hyperlink" Target="https://docs.ntfy.sh/subscribe/api/" TargetMode="External"/><Relationship Id="rId7" Type="http://schemas.openxmlformats.org/officeDocument/2006/relationships/hyperlink" Target="https://en.wikipedia.org/wiki/Ray_Tomlinson" TargetMode="External"/><Relationship Id="rId8" Type="http://schemas.openxmlformats.org/officeDocument/2006/relationships/hyperlink" Target="https://en.wikipedia.org/wiki/Email_spam" TargetMode="External"/><Relationship Id="rId9" Type="http://schemas.openxmlformats.org/officeDocument/2006/relationships/hyperlink" Target="https://en.wikipedia.org/wiki/SMS" TargetMode="External"/><Relationship Id="rId10" Type="http://schemas.openxmlformats.org/officeDocument/2006/relationships/hyperlink" Target="https://www.att.com/support/article/wireless/KM1061254/" TargetMode="External"/><Relationship Id="rId11" Type="http://schemas.openxmlformats.org/officeDocument/2006/relationships/hyperlink" Target="https://pypi.org/pypi/ezgmail/json" TargetMode="External"/><Relationship Id="rId12" Type="http://schemas.openxmlformats.org/officeDocument/2006/relationships/hyperlink" Target="https://pypi.org/pypi/requests/json" TargetMode="External"/><Relationship Id="rId13" Type="http://schemas.openxmlformats.org/officeDocument/2006/relationships/slideLayout" Target="../slideLayouts/slideLayout1.xml"/><Relationship Id="rId1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548640" y="960120"/>
            <a:ext cx="731520" cy="731520"/>
          </a:xfrm>
          <a:prstGeom prst="roundRect">
            <a:avLst>
              <a:gd name="adj" fmla="val 12500"/>
            </a:avLst>
          </a:prstGeom>
          <a:solidFill>
            <a:srgbClr val="2F6D62"/>
          </a:solidFill>
          <a:ln w="19050">
            <a:solidFill>
              <a:srgbClr val="D97A14"/>
            </a:solidFill>
            <a:prstDash val="solid"/>
          </a:ln>
        </p:spPr>
      </p:sp>
      <p:sp>
        <p:nvSpPr>
          <p:cNvPr id="3" name="Shape 1"/>
          <p:cNvSpPr/>
          <p:nvPr/>
        </p:nvSpPr>
        <p:spPr>
          <a:xfrm>
            <a:off x="1280160" y="1325880"/>
            <a:ext cx="228600" cy="0"/>
          </a:xfrm>
          <a:prstGeom prst="line">
            <a:avLst/>
          </a:prstGeom>
          <a:noFill/>
          <a:ln w="19050">
            <a:solidFill>
              <a:srgbClr val="D97A14"/>
            </a:solidFill>
            <a:prstDash val="solid"/>
          </a:ln>
        </p:spPr>
      </p:sp>
      <p:sp>
        <p:nvSpPr>
          <p:cNvPr id="4" name="Shape 2"/>
          <p:cNvSpPr/>
          <p:nvPr/>
        </p:nvSpPr>
        <p:spPr>
          <a:xfrm>
            <a:off x="1508760" y="960120"/>
            <a:ext cx="731520" cy="731520"/>
          </a:xfrm>
          <a:prstGeom prst="roundRect">
            <a:avLst>
              <a:gd name="adj" fmla="val 12500"/>
            </a:avLst>
          </a:prstGeom>
          <a:solidFill>
            <a:srgbClr val="2F6D62"/>
          </a:solidFill>
          <a:ln w="19050">
            <a:solidFill>
              <a:srgbClr val="D97A14"/>
            </a:solidFill>
            <a:prstDash val="solid"/>
          </a:ln>
        </p:spPr>
      </p:sp>
      <p:sp>
        <p:nvSpPr>
          <p:cNvPr id="5" name="Shape 3"/>
          <p:cNvSpPr/>
          <p:nvPr/>
        </p:nvSpPr>
        <p:spPr>
          <a:xfrm>
            <a:off x="2240280" y="1325880"/>
            <a:ext cx="228600" cy="0"/>
          </a:xfrm>
          <a:prstGeom prst="line">
            <a:avLst/>
          </a:prstGeom>
          <a:noFill/>
          <a:ln w="19050">
            <a:solidFill>
              <a:srgbClr val="D97A14"/>
            </a:solidFill>
            <a:prstDash val="solid"/>
          </a:ln>
        </p:spPr>
      </p:sp>
      <p:sp>
        <p:nvSpPr>
          <p:cNvPr id="6" name="Shape 4"/>
          <p:cNvSpPr/>
          <p:nvPr/>
        </p:nvSpPr>
        <p:spPr>
          <a:xfrm>
            <a:off x="2468880" y="960120"/>
            <a:ext cx="731520" cy="731520"/>
          </a:xfrm>
          <a:prstGeom prst="roundRect">
            <a:avLst>
              <a:gd name="adj" fmla="val 12500"/>
            </a:avLst>
          </a:prstGeom>
          <a:solidFill>
            <a:srgbClr val="D97A14"/>
          </a:solidFill>
          <a:ln w="19050">
            <a:solidFill>
              <a:srgbClr val="D97A14"/>
            </a:solidFill>
            <a:prstDash val="solid"/>
          </a:ln>
        </p:spPr>
      </p:sp>
      <p:sp>
        <p:nvSpPr>
          <p:cNvPr id="7" name="Text 5"/>
          <p:cNvSpPr txBox="1"/>
          <p:nvPr/>
        </p:nvSpPr>
        <p:spPr>
          <a:xfrm>
            <a:off x="2468880" y="960120"/>
            <a:ext cx="731520" cy="731520"/>
          </a:xfrm>
          <a:prstGeom prst="rect">
            <a:avLst/>
          </a:prstGeom>
          <a:noFill/>
          <a:ln/>
        </p:spPr>
        <p:txBody>
          <a:bodyPr wrap="square" lIns="0" tIns="0" rIns="0" bIns="0" rtlCol="0" anchor="ctr"/>
          <a:lstStyle/>
          <a:p>
            <a:pPr algn="ctr" indent="0" marL="0">
              <a:buNone/>
            </a:pPr>
            <a:r>
              <a:rPr lang="en-US" sz="2000" b="1" dirty="0">
                <a:solidFill>
                  <a:srgbClr val="FFFFFF"/>
                </a:solidFill>
                <a:latin typeface="Courier New" pitchFamily="34" charset="0"/>
                <a:ea typeface="Courier New" pitchFamily="34" charset="-122"/>
                <a:cs typeface="Courier New" pitchFamily="34" charset="-120"/>
              </a:rPr>
              <a:t>&gt;&gt;&gt;</a:t>
            </a:r>
            <a:endParaRPr lang="en-US" sz="2000" dirty="0"/>
          </a:p>
        </p:txBody>
      </p:sp>
      <p:sp>
        <p:nvSpPr>
          <p:cNvPr id="8" name="Text 6"/>
          <p:cNvSpPr txBox="1"/>
          <p:nvPr/>
        </p:nvSpPr>
        <p:spPr>
          <a:xfrm>
            <a:off x="548640" y="2011680"/>
            <a:ext cx="8046720" cy="731520"/>
          </a:xfrm>
          <a:prstGeom prst="rect">
            <a:avLst/>
          </a:prstGeom>
          <a:noFill/>
          <a:ln/>
        </p:spPr>
        <p:txBody>
          <a:bodyPr wrap="square" lIns="0" tIns="0" rIns="0" bIns="0" rtlCol="0" anchor="ctr"/>
          <a:lstStyle/>
          <a:p>
            <a:pPr indent="0" marL="0">
              <a:buNone/>
            </a:pPr>
            <a:r>
              <a:rPr lang="en-US" sz="3600" b="1" dirty="0">
                <a:solidFill>
                  <a:srgbClr val="2B2622"/>
                </a:solidFill>
                <a:latin typeface="Cambria" pitchFamily="34" charset="0"/>
                <a:ea typeface="Cambria" pitchFamily="34" charset="-122"/>
                <a:cs typeface="Cambria" pitchFamily="34" charset="-120"/>
              </a:rPr>
              <a:t>Ch. 20: Email, Texts, and Push</a:t>
            </a:r>
            <a:endParaRPr lang="en-US" sz="3600" dirty="0"/>
          </a:p>
        </p:txBody>
      </p:sp>
      <p:sp>
        <p:nvSpPr>
          <p:cNvPr id="9" name="Text 7"/>
          <p:cNvSpPr txBox="1"/>
          <p:nvPr/>
        </p:nvSpPr>
        <p:spPr>
          <a:xfrm>
            <a:off x="548640" y="2743200"/>
            <a:ext cx="8046720" cy="640080"/>
          </a:xfrm>
          <a:prstGeom prst="rect">
            <a:avLst/>
          </a:prstGeom>
          <a:noFill/>
          <a:ln/>
        </p:spPr>
        <p:txBody>
          <a:bodyPr wrap="square" lIns="0" tIns="0" rIns="0" bIns="0" rtlCol="0" anchor="t"/>
          <a:lstStyle/>
          <a:p>
            <a:pPr indent="0" marL="0">
              <a:buNone/>
            </a:pPr>
            <a:r>
              <a:rPr lang="en-US" sz="1600" i="1" dirty="0">
                <a:solidFill>
                  <a:srgbClr val="2F6D62"/>
                </a:solidFill>
                <a:latin typeface="Calibri" pitchFamily="34" charset="0"/>
                <a:ea typeface="Calibri" pitchFamily="34" charset="-122"/>
                <a:cs typeface="Calibri" pitchFamily="34" charset="-120"/>
              </a:rPr>
              <a:t>Sending email, texts, and push notifications: EZGmail, smtplib, SMS gateways, and ntfy</a:t>
            </a:r>
            <a:endParaRPr lang="en-US" sz="1600" dirty="0"/>
          </a:p>
        </p:txBody>
      </p:sp>
      <p:sp>
        <p:nvSpPr>
          <p:cNvPr id="10" name="Text 8"/>
          <p:cNvSpPr txBox="1"/>
          <p:nvPr/>
        </p:nvSpPr>
        <p:spPr>
          <a:xfrm>
            <a:off x="548640" y="4224528"/>
            <a:ext cx="8046720" cy="411480"/>
          </a:xfrm>
          <a:prstGeom prst="rect">
            <a:avLst/>
          </a:prstGeom>
          <a:noFill/>
          <a:ln/>
        </p:spPr>
        <p:txBody>
          <a:bodyPr wrap="square" lIns="0" tIns="0" rIns="0" bIns="0" rtlCol="0" anchor="ctr"/>
          <a:lstStyle/>
          <a:p>
            <a:pPr indent="0" marL="0">
              <a:buNone/>
            </a:pPr>
            <a:r>
              <a:rPr lang="en-US" sz="1200" dirty="0">
                <a:solidFill>
                  <a:srgbClr val="6E655C"/>
                </a:solidFill>
                <a:latin typeface="Calibri" pitchFamily="34" charset="0"/>
                <a:ea typeface="Calibri" pitchFamily="34" charset="-122"/>
                <a:cs typeface="Calibri" pitchFamily="34" charset="-120"/>
              </a:rPr>
              <a:t>SEN0414 Advanced Programming · Fall 2026 · Yusuf Altunel, PhD · İstanbul Kültür University</a:t>
            </a:r>
            <a:endParaRPr lang="en-US" sz="1200" dirty="0"/>
          </a:p>
        </p:txBody>
      </p:sp>
      <p:sp>
        <p:nvSpPr>
          <p:cNvPr id="11" name="Shape 9"/>
          <p:cNvSpPr/>
          <p:nvPr/>
        </p:nvSpPr>
        <p:spPr>
          <a:xfrm>
            <a:off x="4572000" y="365760"/>
            <a:ext cx="4114800" cy="1536192"/>
          </a:xfrm>
          <a:prstGeom prst="roundRect">
            <a:avLst>
              <a:gd name="adj" fmla="val 5952"/>
            </a:avLst>
          </a:prstGeom>
          <a:solidFill>
            <a:srgbClr val="23272E"/>
          </a:solidFill>
          <a:ln w="12700">
            <a:solidFill>
              <a:srgbClr val="23272E"/>
            </a:solidFill>
            <a:prstDash val="solid"/>
          </a:ln>
        </p:spPr>
      </p:sp>
      <p:sp>
        <p:nvSpPr>
          <p:cNvPr id="12" name="Text 10"/>
          <p:cNvSpPr txBox="1"/>
          <p:nvPr/>
        </p:nvSpPr>
        <p:spPr>
          <a:xfrm>
            <a:off x="4754880" y="484632"/>
            <a:ext cx="3749040" cy="1298448"/>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import platform, importlib.metadata as m</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platform.python_version()</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'3.14.6'</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m.version('ezgmail')</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'2026.4.28'</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m.version('requests')</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'2.34.2'</a:t>
            </a:r>
            <a:endParaRPr lang="en-US" sz="1000" dirty="0"/>
          </a:p>
        </p:txBody>
      </p:sp>
      <p:sp>
        <p:nvSpPr>
          <p:cNvPr id="13" name="Text 11"/>
          <p:cNvSpPr txBox="1"/>
          <p:nvPr/>
        </p:nvSpPr>
        <p:spPr>
          <a:xfrm>
            <a:off x="548640" y="3520440"/>
            <a:ext cx="8046720" cy="539496"/>
          </a:xfrm>
          <a:prstGeom prst="rect">
            <a:avLst/>
          </a:prstGeom>
          <a:noFill/>
          <a:ln/>
        </p:spPr>
        <p:txBody>
          <a:bodyPr wrap="square" lIns="0" tIns="0" rIns="0" bIns="0" rtlCol="0" anchor="t"/>
          <a:lstStyle/>
          <a:p>
            <a:pPr indent="0" marL="0">
              <a:buNone/>
            </a:pPr>
            <a:r>
              <a:rPr lang="en-US" sz="1100" i="1" dirty="0">
                <a:solidFill>
                  <a:srgbClr val="6E655C"/>
                </a:solidFill>
                <a:latin typeface="Calibri" pitchFamily="34" charset="0"/>
                <a:ea typeface="Calibri" pitchFamily="34" charset="-122"/>
                <a:cs typeface="Calibri" pitchFamily="34" charset="-120"/>
              </a:rPr>
              <a:t>Every output on these slides was printed by the Python above when the deck was made. Gmail, a phone and ntfy were never reached, and nothing was sent to anyone: where a program needed a server it ran against a local stand-in on this machine, and its slide says so. What could not be run is marked on its slide.</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Today's route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Six parts; every range is a run of slides you can jump to</a:t>
            </a:r>
            <a:endParaRPr lang="en-US" sz="1300" dirty="0"/>
          </a:p>
        </p:txBody>
      </p:sp>
      <p:sp>
        <p:nvSpPr>
          <p:cNvPr id="6" name="Shape 4"/>
          <p:cNvSpPr/>
          <p:nvPr/>
        </p:nvSpPr>
        <p:spPr>
          <a:xfrm>
            <a:off x="457200" y="131673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3167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280160"/>
            <a:ext cx="5193792" cy="504444"/>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The Gmail API through EZGmail (slides 4-8)</a:t>
            </a:r>
            <a:endParaRPr lang="en-US" sz="1150" dirty="0"/>
          </a:p>
        </p:txBody>
      </p:sp>
      <p:sp>
        <p:nvSpPr>
          <p:cNvPr id="9" name="Shape 7"/>
          <p:cNvSpPr/>
          <p:nvPr/>
        </p:nvSpPr>
        <p:spPr>
          <a:xfrm>
            <a:off x="457200" y="1857756"/>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8577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821180"/>
            <a:ext cx="5193792" cy="504444"/>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The standard library: messages, SMTP, IMAP (slides 9-15)</a:t>
            </a:r>
            <a:endParaRPr lang="en-US" sz="1150" dirty="0"/>
          </a:p>
        </p:txBody>
      </p:sp>
      <p:sp>
        <p:nvSpPr>
          <p:cNvPr id="12" name="Shape 10"/>
          <p:cNvSpPr/>
          <p:nvPr/>
        </p:nvSpPr>
        <p:spPr>
          <a:xfrm>
            <a:off x="457200" y="2398776"/>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3987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362200"/>
            <a:ext cx="5193792" cy="504444"/>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Texts through SMS email gateways (slides 16-17)</a:t>
            </a:r>
            <a:endParaRPr lang="en-US" sz="1150" dirty="0"/>
          </a:p>
        </p:txBody>
      </p:sp>
      <p:sp>
        <p:nvSpPr>
          <p:cNvPr id="15" name="Shape 13"/>
          <p:cNvSpPr/>
          <p:nvPr/>
        </p:nvSpPr>
        <p:spPr>
          <a:xfrm>
            <a:off x="457200" y="2939796"/>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293979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2903220"/>
            <a:ext cx="5193792" cy="504444"/>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Push notifications with ntfy (slides 18-21)</a:t>
            </a:r>
            <a:endParaRPr lang="en-US" sz="1150" dirty="0"/>
          </a:p>
        </p:txBody>
      </p:sp>
      <p:sp>
        <p:nvSpPr>
          <p:cNvPr id="18" name="Shape 16"/>
          <p:cNvSpPr/>
          <p:nvPr/>
        </p:nvSpPr>
        <p:spPr>
          <a:xfrm>
            <a:off x="457200" y="3480816"/>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48081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444240"/>
            <a:ext cx="5193792" cy="504444"/>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Trust and the practice programs (slides 22-23)</a:t>
            </a:r>
            <a:endParaRPr lang="en-US" sz="1150" dirty="0"/>
          </a:p>
        </p:txBody>
      </p:sp>
      <p:sp>
        <p:nvSpPr>
          <p:cNvPr id="21" name="Shape 19"/>
          <p:cNvSpPr/>
          <p:nvPr/>
        </p:nvSpPr>
        <p:spPr>
          <a:xfrm>
            <a:off x="457200" y="4021836"/>
            <a:ext cx="402336" cy="402336"/>
          </a:xfrm>
          <a:prstGeom prst="ellipse">
            <a:avLst/>
          </a:prstGeom>
          <a:solidFill>
            <a:srgbClr val="D97A14"/>
          </a:solidFill>
          <a:ln w="12700">
            <a:solidFill>
              <a:srgbClr val="D97A14"/>
            </a:solidFill>
            <a:prstDash val="solid"/>
          </a:ln>
        </p:spPr>
      </p:sp>
      <p:sp>
        <p:nvSpPr>
          <p:cNvPr id="22" name="Text 20"/>
          <p:cNvSpPr txBox="1"/>
          <p:nvPr/>
        </p:nvSpPr>
        <p:spPr>
          <a:xfrm>
            <a:off x="457200" y="40218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6</a:t>
            </a:r>
            <a:endParaRPr lang="en-US" sz="1400" dirty="0"/>
          </a:p>
        </p:txBody>
      </p:sp>
      <p:sp>
        <p:nvSpPr>
          <p:cNvPr id="23" name="Text 21"/>
          <p:cNvSpPr txBox="1"/>
          <p:nvPr/>
        </p:nvSpPr>
        <p:spPr>
          <a:xfrm>
            <a:off x="1024128" y="3985260"/>
            <a:ext cx="5193792" cy="504444"/>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Summary and resources (slides 24-25)</a:t>
            </a:r>
            <a:endParaRPr lang="en-US" sz="1150" dirty="0"/>
          </a:p>
        </p:txBody>
      </p:sp>
      <p:sp>
        <p:nvSpPr>
          <p:cNvPr id="24" name="Shape 22"/>
          <p:cNvSpPr/>
          <p:nvPr/>
        </p:nvSpPr>
        <p:spPr>
          <a:xfrm>
            <a:off x="6446520" y="1371600"/>
            <a:ext cx="2240280" cy="950976"/>
          </a:xfrm>
          <a:prstGeom prst="roundRect">
            <a:avLst>
              <a:gd name="adj" fmla="val 7692"/>
            </a:avLst>
          </a:prstGeom>
          <a:solidFill>
            <a:srgbClr val="F2ECE1"/>
          </a:solidFill>
          <a:ln w="12700">
            <a:solidFill>
              <a:srgbClr val="DFD6C7"/>
            </a:solidFill>
            <a:prstDash val="solid"/>
          </a:ln>
        </p:spPr>
      </p:sp>
      <p:sp>
        <p:nvSpPr>
          <p:cNvPr id="25" name="Text 23"/>
          <p:cNvSpPr txBox="1"/>
          <p:nvPr/>
        </p:nvSpPr>
        <p:spPr>
          <a:xfrm>
            <a:off x="6556248" y="1408176"/>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26</a:t>
            </a:r>
            <a:endParaRPr lang="en-US" sz="2600" dirty="0"/>
          </a:p>
        </p:txBody>
      </p:sp>
      <p:sp>
        <p:nvSpPr>
          <p:cNvPr id="26" name="Text 24"/>
          <p:cNvSpPr txBox="1"/>
          <p:nvPr/>
        </p:nvSpPr>
        <p:spPr>
          <a:xfrm>
            <a:off x="6556248" y="1866108"/>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slides, numbered bottom-right</a:t>
            </a:r>
            <a:endParaRPr lang="en-US" sz="1100" dirty="0"/>
          </a:p>
        </p:txBody>
      </p:sp>
      <p:sp>
        <p:nvSpPr>
          <p:cNvPr id="27" name="Shape 25"/>
          <p:cNvSpPr/>
          <p:nvPr/>
        </p:nvSpPr>
        <p:spPr>
          <a:xfrm>
            <a:off x="6446520" y="2450592"/>
            <a:ext cx="2240280" cy="950976"/>
          </a:xfrm>
          <a:prstGeom prst="roundRect">
            <a:avLst>
              <a:gd name="adj" fmla="val 7692"/>
            </a:avLst>
          </a:prstGeom>
          <a:solidFill>
            <a:srgbClr val="F2ECE1"/>
          </a:solidFill>
          <a:ln w="12700">
            <a:solidFill>
              <a:srgbClr val="DFD6C7"/>
            </a:solidFill>
            <a:prstDash val="solid"/>
          </a:ln>
        </p:spPr>
      </p:sp>
      <p:sp>
        <p:nvSpPr>
          <p:cNvPr id="28" name="Text 26"/>
          <p:cNvSpPr txBox="1"/>
          <p:nvPr/>
        </p:nvSpPr>
        <p:spPr>
          <a:xfrm>
            <a:off x="6556248" y="2487168"/>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2 + 4</a:t>
            </a:r>
            <a:endParaRPr lang="en-US" sz="2600" dirty="0"/>
          </a:p>
        </p:txBody>
      </p:sp>
      <p:sp>
        <p:nvSpPr>
          <p:cNvPr id="29" name="Text 27"/>
          <p:cNvSpPr txBox="1"/>
          <p:nvPr/>
        </p:nvSpPr>
        <p:spPr>
          <a:xfrm>
            <a:off x="6556248" y="2945100"/>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true stories: 2 on slides, 4 in the notes</a:t>
            </a:r>
            <a:endParaRPr lang="en-US" sz="1100" dirty="0"/>
          </a:p>
        </p:txBody>
      </p:sp>
      <p:sp>
        <p:nvSpPr>
          <p:cNvPr id="30" name="Shape 28"/>
          <p:cNvSpPr/>
          <p:nvPr/>
        </p:nvSpPr>
        <p:spPr>
          <a:xfrm>
            <a:off x="6446520" y="3529584"/>
            <a:ext cx="2240280" cy="950976"/>
          </a:xfrm>
          <a:prstGeom prst="roundRect">
            <a:avLst>
              <a:gd name="adj" fmla="val 7692"/>
            </a:avLst>
          </a:prstGeom>
          <a:solidFill>
            <a:srgbClr val="F2ECE1"/>
          </a:solidFill>
          <a:ln w="12700">
            <a:solidFill>
              <a:srgbClr val="DFD6C7"/>
            </a:solidFill>
            <a:prstDash val="solid"/>
          </a:ln>
        </p:spPr>
      </p:sp>
      <p:sp>
        <p:nvSpPr>
          <p:cNvPr id="31" name="Text 29"/>
          <p:cNvSpPr txBox="1"/>
          <p:nvPr/>
        </p:nvSpPr>
        <p:spPr>
          <a:xfrm>
            <a:off x="6556248" y="3566160"/>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23</a:t>
            </a:r>
            <a:endParaRPr lang="en-US" sz="2600" dirty="0"/>
          </a:p>
        </p:txBody>
      </p:sp>
      <p:sp>
        <p:nvSpPr>
          <p:cNvPr id="32" name="Text 30"/>
          <p:cNvSpPr txBox="1"/>
          <p:nvPr/>
        </p:nvSpPr>
        <p:spPr>
          <a:xfrm>
            <a:off x="6556248" y="4024092"/>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consoles and programs, all run before they were shown</a:t>
            </a:r>
            <a:endParaRPr lang="en-US" sz="1100" dirty="0"/>
          </a:p>
        </p:txBody>
      </p:sp>
      <p:sp>
        <p:nvSpPr>
          <p:cNvPr id="33" name="Shape 31"/>
          <p:cNvSpPr/>
          <p:nvPr/>
        </p:nvSpPr>
        <p:spPr>
          <a:xfrm>
            <a:off x="457200" y="4636008"/>
            <a:ext cx="91440" cy="310896"/>
          </a:xfrm>
          <a:prstGeom prst="rect">
            <a:avLst/>
          </a:prstGeom>
          <a:solidFill>
            <a:srgbClr val="D97A14"/>
          </a:solidFill>
          <a:ln w="12700">
            <a:solidFill>
              <a:srgbClr val="D97A14"/>
            </a:solidFill>
            <a:prstDash val="solid"/>
          </a:ln>
        </p:spPr>
      </p:sp>
      <p:sp>
        <p:nvSpPr>
          <p:cNvPr id="34" name="Text 3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Six parts, from an account to a command sent by email.</a:t>
            </a:r>
            <a:endParaRPr lang="en-US" sz="1350" dirty="0"/>
          </a:p>
        </p:txBody>
      </p:sp>
      <p:sp>
        <p:nvSpPr>
          <p:cNvPr id="35" name="Text 3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 / 26</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questions this chapter answers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chapter's own competency questions; the summary comes back to each</a:t>
            </a:r>
            <a:endParaRPr lang="en-US" sz="1300" dirty="0"/>
          </a:p>
        </p:txBody>
      </p:sp>
      <p:sp>
        <p:nvSpPr>
          <p:cNvPr id="6" name="Shape 4"/>
          <p:cNvSpPr/>
          <p:nvPr/>
        </p:nvSpPr>
        <p:spPr>
          <a:xfrm>
            <a:off x="457200" y="131673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3167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280160"/>
            <a:ext cx="7662672" cy="621792"/>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Which parts of a program that sends or reads email, sends a text or pushes a notification can be shown to work, and which can only be shown to fail, on a machine that has no Gmail account, no phone number and no push service?</a:t>
            </a:r>
            <a:endParaRPr lang="en-US" sz="1300" dirty="0"/>
          </a:p>
        </p:txBody>
      </p:sp>
      <p:sp>
        <p:nvSpPr>
          <p:cNvPr id="9" name="Shape 7"/>
          <p:cNvSpPr/>
          <p:nvPr/>
        </p:nvSpPr>
        <p:spPr>
          <a:xfrm>
            <a:off x="457200" y="1975104"/>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97510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938528"/>
            <a:ext cx="7662672" cy="621792"/>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Which printed outputs, programs, numbers and statements of the chapter differ in current releases of Python and of the packages it uses, in the zone of the reader, in the services it names or in the files and pages it points to, and on what source?</a:t>
            </a:r>
            <a:endParaRPr lang="en-US" sz="1300" dirty="0"/>
          </a:p>
        </p:txBody>
      </p:sp>
      <p:sp>
        <p:nvSpPr>
          <p:cNvPr id="12" name="Shape 10"/>
          <p:cNvSpPr/>
          <p:nvPr/>
        </p:nvSpPr>
        <p:spPr>
          <a:xfrm>
            <a:off x="457200" y="3474720"/>
            <a:ext cx="1435608" cy="420624"/>
          </a:xfrm>
          <a:prstGeom prst="roundRect">
            <a:avLst>
              <a:gd name="adj" fmla="val 50000"/>
            </a:avLst>
          </a:prstGeom>
          <a:solidFill>
            <a:srgbClr val="F2ECE1"/>
          </a:solidFill>
          <a:ln w="12700">
            <a:solidFill>
              <a:srgbClr val="D97A14"/>
            </a:solidFill>
            <a:prstDash val="solid"/>
          </a:ln>
        </p:spPr>
      </p:sp>
      <p:sp>
        <p:nvSpPr>
          <p:cNvPr id="13" name="Text 11"/>
          <p:cNvSpPr txBox="1"/>
          <p:nvPr/>
        </p:nvSpPr>
        <p:spPr>
          <a:xfrm>
            <a:off x="457200" y="3474720"/>
            <a:ext cx="1435608" cy="420624"/>
          </a:xfrm>
          <a:prstGeom prst="rect">
            <a:avLst/>
          </a:prstGeom>
          <a:noFill/>
          <a:ln/>
        </p:spPr>
        <p:txBody>
          <a:bodyPr wrap="square" lIns="0" tIns="0" rIns="0" bIns="0" rtlCol="0" anchor="ctr"/>
          <a:lstStyle/>
          <a:p>
            <a:pPr algn="ctr" indent="0" marL="0">
              <a:buNone/>
            </a:pPr>
            <a:r>
              <a:rPr lang="en-US" sz="1000" dirty="0">
                <a:solidFill>
                  <a:srgbClr val="2B2622"/>
                </a:solidFill>
                <a:latin typeface="Calibri" pitchFamily="34" charset="0"/>
                <a:ea typeface="Calibri" pitchFamily="34" charset="-122"/>
                <a:cs typeface="Calibri" pitchFamily="34" charset="-120"/>
              </a:rPr>
              <a:t>6 branches</a:t>
            </a:r>
            <a:endParaRPr lang="en-US" sz="1000" dirty="0"/>
          </a:p>
        </p:txBody>
      </p:sp>
      <p:sp>
        <p:nvSpPr>
          <p:cNvPr id="14" name="Shape 12"/>
          <p:cNvSpPr/>
          <p:nvPr/>
        </p:nvSpPr>
        <p:spPr>
          <a:xfrm>
            <a:off x="2093976" y="3474720"/>
            <a:ext cx="1330452" cy="420624"/>
          </a:xfrm>
          <a:prstGeom prst="roundRect">
            <a:avLst>
              <a:gd name="adj" fmla="val 50000"/>
            </a:avLst>
          </a:prstGeom>
          <a:solidFill>
            <a:srgbClr val="F2ECE1"/>
          </a:solidFill>
          <a:ln w="12700">
            <a:solidFill>
              <a:srgbClr val="D97A14"/>
            </a:solidFill>
            <a:prstDash val="solid"/>
          </a:ln>
        </p:spPr>
      </p:sp>
      <p:sp>
        <p:nvSpPr>
          <p:cNvPr id="15" name="Text 13"/>
          <p:cNvSpPr txBox="1"/>
          <p:nvPr/>
        </p:nvSpPr>
        <p:spPr>
          <a:xfrm>
            <a:off x="2093976" y="3474720"/>
            <a:ext cx="1330452" cy="420624"/>
          </a:xfrm>
          <a:prstGeom prst="rect">
            <a:avLst/>
          </a:prstGeom>
          <a:noFill/>
          <a:ln/>
        </p:spPr>
        <p:txBody>
          <a:bodyPr wrap="square" lIns="0" tIns="0" rIns="0" bIns="0" rtlCol="0" anchor="ctr"/>
          <a:lstStyle/>
          <a:p>
            <a:pPr algn="ctr" indent="0" marL="0">
              <a:buNone/>
            </a:pPr>
            <a:r>
              <a:rPr lang="en-US" sz="1000" dirty="0">
                <a:solidFill>
                  <a:srgbClr val="2B2622"/>
                </a:solidFill>
                <a:latin typeface="Calibri" pitchFamily="34" charset="0"/>
                <a:ea typeface="Calibri" pitchFamily="34" charset="-122"/>
                <a:cs typeface="Calibri" pitchFamily="34" charset="-120"/>
              </a:rPr>
              <a:t>91 topics</a:t>
            </a:r>
            <a:endParaRPr lang="en-US" sz="1000" dirty="0"/>
          </a:p>
        </p:txBody>
      </p:sp>
      <p:sp>
        <p:nvSpPr>
          <p:cNvPr id="16" name="Shape 14"/>
          <p:cNvSpPr/>
          <p:nvPr/>
        </p:nvSpPr>
        <p:spPr>
          <a:xfrm>
            <a:off x="3625596" y="3474720"/>
            <a:ext cx="1961388" cy="420624"/>
          </a:xfrm>
          <a:prstGeom prst="roundRect">
            <a:avLst>
              <a:gd name="adj" fmla="val 50000"/>
            </a:avLst>
          </a:prstGeom>
          <a:solidFill>
            <a:srgbClr val="F2ECE1"/>
          </a:solidFill>
          <a:ln w="12700">
            <a:solidFill>
              <a:srgbClr val="D97A14"/>
            </a:solidFill>
            <a:prstDash val="solid"/>
          </a:ln>
        </p:spPr>
      </p:sp>
      <p:sp>
        <p:nvSpPr>
          <p:cNvPr id="17" name="Text 15"/>
          <p:cNvSpPr txBox="1"/>
          <p:nvPr/>
        </p:nvSpPr>
        <p:spPr>
          <a:xfrm>
            <a:off x="3625596" y="3474720"/>
            <a:ext cx="1961388" cy="420624"/>
          </a:xfrm>
          <a:prstGeom prst="rect">
            <a:avLst/>
          </a:prstGeom>
          <a:noFill/>
          <a:ln/>
        </p:spPr>
        <p:txBody>
          <a:bodyPr wrap="square" lIns="0" tIns="0" rIns="0" bIns="0" rtlCol="0" anchor="ctr"/>
          <a:lstStyle/>
          <a:p>
            <a:pPr algn="ctr" indent="0" marL="0">
              <a:buNone/>
            </a:pPr>
            <a:r>
              <a:rPr lang="en-US" sz="1000" dirty="0">
                <a:solidFill>
                  <a:srgbClr val="2B2622"/>
                </a:solidFill>
                <a:latin typeface="Calibri" pitchFamily="34" charset="0"/>
                <a:ea typeface="Calibri" pitchFamily="34" charset="-122"/>
                <a:cs typeface="Calibri" pitchFamily="34" charset="-120"/>
              </a:rPr>
              <a:t>22 console rows</a:t>
            </a:r>
            <a:endParaRPr lang="en-US" sz="1000" dirty="0"/>
          </a:p>
        </p:txBody>
      </p:sp>
      <p:sp>
        <p:nvSpPr>
          <p:cNvPr id="18" name="Shape 16"/>
          <p:cNvSpPr/>
          <p:nvPr/>
        </p:nvSpPr>
        <p:spPr>
          <a:xfrm>
            <a:off x="5788152" y="3474720"/>
            <a:ext cx="1961388" cy="420624"/>
          </a:xfrm>
          <a:prstGeom prst="roundRect">
            <a:avLst>
              <a:gd name="adj" fmla="val 50000"/>
            </a:avLst>
          </a:prstGeom>
          <a:solidFill>
            <a:srgbClr val="F2ECE1"/>
          </a:solidFill>
          <a:ln w="12700">
            <a:solidFill>
              <a:srgbClr val="D97A14"/>
            </a:solidFill>
            <a:prstDash val="solid"/>
          </a:ln>
        </p:spPr>
      </p:sp>
      <p:sp>
        <p:nvSpPr>
          <p:cNvPr id="19" name="Text 17"/>
          <p:cNvSpPr txBox="1"/>
          <p:nvPr/>
        </p:nvSpPr>
        <p:spPr>
          <a:xfrm>
            <a:off x="5788152" y="3474720"/>
            <a:ext cx="1961388" cy="420624"/>
          </a:xfrm>
          <a:prstGeom prst="rect">
            <a:avLst/>
          </a:prstGeom>
          <a:noFill/>
          <a:ln/>
        </p:spPr>
        <p:txBody>
          <a:bodyPr wrap="square" lIns="0" tIns="0" rIns="0" bIns="0" rtlCol="0" anchor="ctr"/>
          <a:lstStyle/>
          <a:p>
            <a:pPr algn="ctr" indent="0" marL="0">
              <a:buNone/>
            </a:pPr>
            <a:r>
              <a:rPr lang="en-US" sz="1000" dirty="0">
                <a:solidFill>
                  <a:srgbClr val="2B2622"/>
                </a:solidFill>
                <a:latin typeface="Calibri" pitchFamily="34" charset="0"/>
                <a:ea typeface="Calibri" pitchFamily="34" charset="-122"/>
                <a:cs typeface="Calibri" pitchFamily="34" charset="-120"/>
              </a:rPr>
              <a:t>31 programs run</a:t>
            </a:r>
            <a:endParaRPr lang="en-US" sz="1000" dirty="0"/>
          </a:p>
        </p:txBody>
      </p:sp>
      <p:sp>
        <p:nvSpPr>
          <p:cNvPr id="20" name="Shape 18"/>
          <p:cNvSpPr/>
          <p:nvPr/>
        </p:nvSpPr>
        <p:spPr>
          <a:xfrm>
            <a:off x="457200" y="4059936"/>
            <a:ext cx="1435608" cy="420624"/>
          </a:xfrm>
          <a:prstGeom prst="roundRect">
            <a:avLst>
              <a:gd name="adj" fmla="val 50000"/>
            </a:avLst>
          </a:prstGeom>
          <a:solidFill>
            <a:srgbClr val="F2ECE1"/>
          </a:solidFill>
          <a:ln w="12700">
            <a:solidFill>
              <a:srgbClr val="D97A14"/>
            </a:solidFill>
            <a:prstDash val="solid"/>
          </a:ln>
        </p:spPr>
      </p:sp>
      <p:sp>
        <p:nvSpPr>
          <p:cNvPr id="21" name="Text 19"/>
          <p:cNvSpPr txBox="1"/>
          <p:nvPr/>
        </p:nvSpPr>
        <p:spPr>
          <a:xfrm>
            <a:off x="457200" y="4059936"/>
            <a:ext cx="1435608" cy="420624"/>
          </a:xfrm>
          <a:prstGeom prst="rect">
            <a:avLst/>
          </a:prstGeom>
          <a:noFill/>
          <a:ln/>
        </p:spPr>
        <p:txBody>
          <a:bodyPr wrap="square" lIns="0" tIns="0" rIns="0" bIns="0" rtlCol="0" anchor="ctr"/>
          <a:lstStyle/>
          <a:p>
            <a:pPr algn="ctr" indent="0" marL="0">
              <a:buNone/>
            </a:pPr>
            <a:r>
              <a:rPr lang="en-US" sz="1000" dirty="0">
                <a:solidFill>
                  <a:srgbClr val="2B2622"/>
                </a:solidFill>
                <a:latin typeface="Calibri" pitchFamily="34" charset="0"/>
                <a:ea typeface="Calibri" pitchFamily="34" charset="-122"/>
                <a:cs typeface="Calibri" pitchFamily="34" charset="-120"/>
              </a:rPr>
              <a:t>8 diagrams</a:t>
            </a:r>
            <a:endParaRPr lang="en-US" sz="1000" dirty="0"/>
          </a:p>
        </p:txBody>
      </p:sp>
      <p:sp>
        <p:nvSpPr>
          <p:cNvPr id="22" name="Shape 20"/>
          <p:cNvSpPr/>
          <p:nvPr/>
        </p:nvSpPr>
        <p:spPr>
          <a:xfrm>
            <a:off x="2093976" y="4059936"/>
            <a:ext cx="1751076" cy="420624"/>
          </a:xfrm>
          <a:prstGeom prst="roundRect">
            <a:avLst>
              <a:gd name="adj" fmla="val 50000"/>
            </a:avLst>
          </a:prstGeom>
          <a:solidFill>
            <a:srgbClr val="F2ECE1"/>
          </a:solidFill>
          <a:ln w="12700">
            <a:solidFill>
              <a:srgbClr val="D97A14"/>
            </a:solidFill>
            <a:prstDash val="solid"/>
          </a:ln>
        </p:spPr>
      </p:sp>
      <p:sp>
        <p:nvSpPr>
          <p:cNvPr id="23" name="Text 21"/>
          <p:cNvSpPr txBox="1"/>
          <p:nvPr/>
        </p:nvSpPr>
        <p:spPr>
          <a:xfrm>
            <a:off x="2093976" y="4059936"/>
            <a:ext cx="1751076" cy="420624"/>
          </a:xfrm>
          <a:prstGeom prst="rect">
            <a:avLst/>
          </a:prstGeom>
          <a:noFill/>
          <a:ln/>
        </p:spPr>
        <p:txBody>
          <a:bodyPr wrap="square" lIns="0" tIns="0" rIns="0" bIns="0" rtlCol="0" anchor="ctr"/>
          <a:lstStyle/>
          <a:p>
            <a:pPr algn="ctr" indent="0" marL="0">
              <a:buNone/>
            </a:pPr>
            <a:r>
              <a:rPr lang="en-US" sz="1000" dirty="0">
                <a:solidFill>
                  <a:srgbClr val="2B2622"/>
                </a:solidFill>
                <a:latin typeface="Calibri" pitchFamily="34" charset="0"/>
                <a:ea typeface="Calibri" pitchFamily="34" charset="-122"/>
                <a:cs typeface="Calibri" pitchFamily="34" charset="-120"/>
              </a:rPr>
              <a:t>Python 3.14.6</a:t>
            </a:r>
            <a:endParaRPr lang="en-US" sz="1000" dirty="0"/>
          </a:p>
        </p:txBody>
      </p:sp>
      <p:sp>
        <p:nvSpPr>
          <p:cNvPr id="24"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5"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Know what can be shown to work and what can only be shown to fail.</a:t>
            </a:r>
            <a:endParaRPr lang="en-US" sz="1350" dirty="0"/>
          </a:p>
        </p:txBody>
      </p:sp>
      <p:sp>
        <p:nvSpPr>
          <p:cNvPr id="26"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 / 26</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What a program can do with Gmail</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Seven things through one module; the chapter replaced smtplib with the Gmail API</a:t>
            </a:r>
            <a:endParaRPr lang="en-US" sz="1300" dirty="0"/>
          </a:p>
        </p:txBody>
      </p:sp>
      <p:sp>
        <p:nvSpPr>
          <p:cNvPr id="6" name="Shape 4"/>
          <p:cNvSpPr/>
          <p:nvPr/>
        </p:nvSpPr>
        <p:spPr>
          <a:xfrm>
            <a:off x="1188720" y="1581912"/>
            <a:ext cx="2926080" cy="2624328"/>
          </a:xfrm>
          <a:prstGeom prst="rect">
            <a:avLst/>
          </a:prstGeom>
          <a:solidFill>
            <a:srgbClr val="FBF8F2"/>
          </a:solidFill>
          <a:ln w="12700">
            <a:solidFill>
              <a:srgbClr val="6E655C"/>
            </a:solidFill>
            <a:prstDash val="solid"/>
          </a:ln>
        </p:spPr>
      </p:sp>
      <p:sp>
        <p:nvSpPr>
          <p:cNvPr id="7" name="Text 5"/>
          <p:cNvSpPr txBox="1"/>
          <p:nvPr/>
        </p:nvSpPr>
        <p:spPr>
          <a:xfrm>
            <a:off x="1261872" y="1344168"/>
            <a:ext cx="2788920" cy="219456"/>
          </a:xfrm>
          <a:prstGeom prst="rect">
            <a:avLst/>
          </a:prstGeom>
          <a:noFill/>
          <a:ln/>
        </p:spPr>
        <p:txBody>
          <a:bodyPr wrap="square" lIns="0" tIns="0" rIns="0" bIns="0" rtlCol="0" anchor="ctr"/>
          <a:lstStyle/>
          <a:p>
            <a:pPr algn="l" indent="0" marL="0">
              <a:buNone/>
            </a:pPr>
            <a:r>
              <a:rPr lang="en-US" sz="850" b="1" dirty="0">
                <a:solidFill>
                  <a:srgbClr val="6E655C"/>
                </a:solidFill>
                <a:latin typeface="Calibri" pitchFamily="34" charset="0"/>
                <a:ea typeface="Calibri" pitchFamily="34" charset="-122"/>
                <a:cs typeface="Calibri" pitchFamily="34" charset="-120"/>
              </a:rPr>
              <a:t>THE GMAIL API THROUGH EZGMAIL</a:t>
            </a:r>
            <a:endParaRPr lang="en-US" sz="850" dirty="0"/>
          </a:p>
        </p:txBody>
      </p:sp>
      <p:sp>
        <p:nvSpPr>
          <p:cNvPr id="8" name="Shape 6"/>
          <p:cNvSpPr/>
          <p:nvPr/>
        </p:nvSpPr>
        <p:spPr>
          <a:xfrm>
            <a:off x="1325880" y="1682496"/>
            <a:ext cx="2651760" cy="309982"/>
          </a:xfrm>
          <a:prstGeom prst="ellipse">
            <a:avLst/>
          </a:prstGeom>
          <a:solidFill>
            <a:srgbClr val="F2ECE1"/>
          </a:solidFill>
          <a:ln w="15875">
            <a:solidFill>
              <a:srgbClr val="2F6D62"/>
            </a:solidFill>
            <a:prstDash val="solid"/>
          </a:ln>
        </p:spPr>
      </p:sp>
      <p:sp>
        <p:nvSpPr>
          <p:cNvPr id="9" name="Text 7"/>
          <p:cNvSpPr txBox="1"/>
          <p:nvPr/>
        </p:nvSpPr>
        <p:spPr>
          <a:xfrm>
            <a:off x="1581912" y="1766621"/>
            <a:ext cx="2139696" cy="140818"/>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Send an email with ezgmail.send()</a:t>
            </a:r>
            <a:endParaRPr lang="en-US" sz="800" dirty="0"/>
          </a:p>
        </p:txBody>
      </p:sp>
      <p:sp>
        <p:nvSpPr>
          <p:cNvPr id="10" name="Shape 8"/>
          <p:cNvSpPr/>
          <p:nvPr/>
        </p:nvSpPr>
        <p:spPr>
          <a:xfrm>
            <a:off x="1325880" y="2047342"/>
            <a:ext cx="2651760" cy="309982"/>
          </a:xfrm>
          <a:prstGeom prst="ellipse">
            <a:avLst/>
          </a:prstGeom>
          <a:solidFill>
            <a:srgbClr val="F2ECE1"/>
          </a:solidFill>
          <a:ln w="15875">
            <a:solidFill>
              <a:srgbClr val="2F6D62"/>
            </a:solidFill>
            <a:prstDash val="solid"/>
          </a:ln>
        </p:spPr>
      </p:sp>
      <p:sp>
        <p:nvSpPr>
          <p:cNvPr id="11" name="Text 9"/>
          <p:cNvSpPr txBox="1"/>
          <p:nvPr/>
        </p:nvSpPr>
        <p:spPr>
          <a:xfrm>
            <a:off x="1581912" y="2131466"/>
            <a:ext cx="2139696" cy="140818"/>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Attach files to an email</a:t>
            </a:r>
            <a:endParaRPr lang="en-US" sz="800" dirty="0"/>
          </a:p>
        </p:txBody>
      </p:sp>
      <p:sp>
        <p:nvSpPr>
          <p:cNvPr id="12" name="Shape 10"/>
          <p:cNvSpPr/>
          <p:nvPr/>
        </p:nvSpPr>
        <p:spPr>
          <a:xfrm>
            <a:off x="1325880" y="2411273"/>
            <a:ext cx="2651760" cy="309982"/>
          </a:xfrm>
          <a:prstGeom prst="ellipse">
            <a:avLst/>
          </a:prstGeom>
          <a:solidFill>
            <a:srgbClr val="F2ECE1"/>
          </a:solidFill>
          <a:ln w="15875">
            <a:solidFill>
              <a:srgbClr val="2F6D62"/>
            </a:solidFill>
            <a:prstDash val="solid"/>
          </a:ln>
        </p:spPr>
      </p:sp>
      <p:sp>
        <p:nvSpPr>
          <p:cNvPr id="13" name="Text 11"/>
          <p:cNvSpPr txBox="1"/>
          <p:nvPr/>
        </p:nvSpPr>
        <p:spPr>
          <a:xfrm>
            <a:off x="1581912" y="2495398"/>
            <a:ext cx="2139696" cy="140818"/>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List unread threads with unread()</a:t>
            </a:r>
            <a:endParaRPr lang="en-US" sz="800" dirty="0"/>
          </a:p>
        </p:txBody>
      </p:sp>
      <p:sp>
        <p:nvSpPr>
          <p:cNvPr id="14" name="Shape 12"/>
          <p:cNvSpPr/>
          <p:nvPr/>
        </p:nvSpPr>
        <p:spPr>
          <a:xfrm>
            <a:off x="1325880" y="2776118"/>
            <a:ext cx="2651760" cy="309982"/>
          </a:xfrm>
          <a:prstGeom prst="ellipse">
            <a:avLst/>
          </a:prstGeom>
          <a:solidFill>
            <a:srgbClr val="F2ECE1"/>
          </a:solidFill>
          <a:ln w="15875">
            <a:solidFill>
              <a:srgbClr val="2F6D62"/>
            </a:solidFill>
            <a:prstDash val="solid"/>
          </a:ln>
        </p:spPr>
      </p:sp>
      <p:sp>
        <p:nvSpPr>
          <p:cNvPr id="15" name="Text 13"/>
          <p:cNvSpPr txBox="1"/>
          <p:nvPr/>
        </p:nvSpPr>
        <p:spPr>
          <a:xfrm>
            <a:off x="1581912" y="2798978"/>
            <a:ext cx="2139696" cy="264262"/>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Search with the operators of the Gmail search box</a:t>
            </a:r>
            <a:endParaRPr lang="en-US" sz="800" dirty="0"/>
          </a:p>
        </p:txBody>
      </p:sp>
      <p:sp>
        <p:nvSpPr>
          <p:cNvPr id="16" name="Shape 14"/>
          <p:cNvSpPr/>
          <p:nvPr/>
        </p:nvSpPr>
        <p:spPr>
          <a:xfrm>
            <a:off x="1325880" y="3140050"/>
            <a:ext cx="2651760" cy="309982"/>
          </a:xfrm>
          <a:prstGeom prst="ellipse">
            <a:avLst/>
          </a:prstGeom>
          <a:solidFill>
            <a:srgbClr val="F2ECE1"/>
          </a:solidFill>
          <a:ln w="15875">
            <a:solidFill>
              <a:srgbClr val="2F6D62"/>
            </a:solidFill>
            <a:prstDash val="solid"/>
          </a:ln>
        </p:spPr>
      </p:sp>
      <p:sp>
        <p:nvSpPr>
          <p:cNvPr id="17" name="Text 15"/>
          <p:cNvSpPr txBox="1"/>
          <p:nvPr/>
        </p:nvSpPr>
        <p:spPr>
          <a:xfrm>
            <a:off x="1581912" y="3224174"/>
            <a:ext cx="2139696" cy="140818"/>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Read the messages of a thread</a:t>
            </a:r>
            <a:endParaRPr lang="en-US" sz="800" dirty="0"/>
          </a:p>
        </p:txBody>
      </p:sp>
      <p:sp>
        <p:nvSpPr>
          <p:cNvPr id="18" name="Shape 16"/>
          <p:cNvSpPr/>
          <p:nvPr/>
        </p:nvSpPr>
        <p:spPr>
          <a:xfrm>
            <a:off x="1325880" y="3504895"/>
            <a:ext cx="2651760" cy="309982"/>
          </a:xfrm>
          <a:prstGeom prst="ellipse">
            <a:avLst/>
          </a:prstGeom>
          <a:solidFill>
            <a:srgbClr val="F2ECE1"/>
          </a:solidFill>
          <a:ln w="15875">
            <a:solidFill>
              <a:srgbClr val="2F6D62"/>
            </a:solidFill>
            <a:prstDash val="solid"/>
          </a:ln>
        </p:spPr>
      </p:sp>
      <p:sp>
        <p:nvSpPr>
          <p:cNvPr id="19" name="Text 17"/>
          <p:cNvSpPr txBox="1"/>
          <p:nvPr/>
        </p:nvSpPr>
        <p:spPr>
          <a:xfrm>
            <a:off x="1581912" y="3589020"/>
            <a:ext cx="2139696" cy="140818"/>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Download the attachments of a message</a:t>
            </a:r>
            <a:endParaRPr lang="en-US" sz="800" dirty="0"/>
          </a:p>
        </p:txBody>
      </p:sp>
      <p:sp>
        <p:nvSpPr>
          <p:cNvPr id="20" name="Shape 18"/>
          <p:cNvSpPr/>
          <p:nvPr/>
        </p:nvSpPr>
        <p:spPr>
          <a:xfrm>
            <a:off x="1325880" y="3868826"/>
            <a:ext cx="2651760" cy="309982"/>
          </a:xfrm>
          <a:prstGeom prst="ellipse">
            <a:avLst/>
          </a:prstGeom>
          <a:solidFill>
            <a:srgbClr val="F2ECE1"/>
          </a:solidFill>
          <a:ln w="15875">
            <a:solidFill>
              <a:srgbClr val="2F6D62"/>
            </a:solidFill>
            <a:prstDash val="solid"/>
          </a:ln>
        </p:spPr>
      </p:sp>
      <p:sp>
        <p:nvSpPr>
          <p:cNvPr id="21" name="Text 19"/>
          <p:cNvSpPr txBox="1"/>
          <p:nvPr/>
        </p:nvSpPr>
        <p:spPr>
          <a:xfrm>
            <a:off x="1581912" y="3952951"/>
            <a:ext cx="2139696" cy="140818"/>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Reply to a message in its thread</a:t>
            </a:r>
            <a:endParaRPr lang="en-US" sz="800" dirty="0"/>
          </a:p>
        </p:txBody>
      </p:sp>
      <p:sp>
        <p:nvSpPr>
          <p:cNvPr id="22" name="Shape 20"/>
          <p:cNvSpPr/>
          <p:nvPr/>
        </p:nvSpPr>
        <p:spPr>
          <a:xfrm>
            <a:off x="676656" y="2125980"/>
            <a:ext cx="201168" cy="201168"/>
          </a:xfrm>
          <a:prstGeom prst="ellipse">
            <a:avLst/>
          </a:prstGeom>
          <a:solidFill>
            <a:srgbClr val="FFFFFF"/>
          </a:solidFill>
          <a:ln w="19050">
            <a:solidFill>
              <a:srgbClr val="2B2622"/>
            </a:solidFill>
            <a:prstDash val="solid"/>
          </a:ln>
        </p:spPr>
      </p:sp>
      <p:sp>
        <p:nvSpPr>
          <p:cNvPr id="23" name="Shape 21"/>
          <p:cNvSpPr/>
          <p:nvPr/>
        </p:nvSpPr>
        <p:spPr>
          <a:xfrm>
            <a:off x="777240" y="2327148"/>
            <a:ext cx="0" cy="347472"/>
          </a:xfrm>
          <a:prstGeom prst="line">
            <a:avLst/>
          </a:prstGeom>
          <a:noFill/>
          <a:ln w="19050">
            <a:solidFill>
              <a:srgbClr val="2B2622"/>
            </a:solidFill>
            <a:prstDash val="solid"/>
          </a:ln>
        </p:spPr>
      </p:sp>
      <p:sp>
        <p:nvSpPr>
          <p:cNvPr id="24" name="Shape 22"/>
          <p:cNvSpPr/>
          <p:nvPr/>
        </p:nvSpPr>
        <p:spPr>
          <a:xfrm>
            <a:off x="594360" y="2418588"/>
            <a:ext cx="365760" cy="0"/>
          </a:xfrm>
          <a:prstGeom prst="line">
            <a:avLst/>
          </a:prstGeom>
          <a:noFill/>
          <a:ln w="19050">
            <a:solidFill>
              <a:srgbClr val="2B2622"/>
            </a:solidFill>
            <a:prstDash val="solid"/>
          </a:ln>
        </p:spPr>
      </p:sp>
      <p:sp>
        <p:nvSpPr>
          <p:cNvPr id="25" name="Shape 23"/>
          <p:cNvSpPr/>
          <p:nvPr/>
        </p:nvSpPr>
        <p:spPr>
          <a:xfrm flipH="1">
            <a:off x="630936" y="2674620"/>
            <a:ext cx="146304" cy="228600"/>
          </a:xfrm>
          <a:prstGeom prst="line">
            <a:avLst/>
          </a:prstGeom>
          <a:noFill/>
          <a:ln w="19050">
            <a:solidFill>
              <a:srgbClr val="2B2622"/>
            </a:solidFill>
            <a:prstDash val="solid"/>
          </a:ln>
        </p:spPr>
      </p:sp>
      <p:sp>
        <p:nvSpPr>
          <p:cNvPr id="26" name="Shape 24"/>
          <p:cNvSpPr/>
          <p:nvPr/>
        </p:nvSpPr>
        <p:spPr>
          <a:xfrm>
            <a:off x="777240" y="2674620"/>
            <a:ext cx="146304" cy="228600"/>
          </a:xfrm>
          <a:prstGeom prst="line">
            <a:avLst/>
          </a:prstGeom>
          <a:noFill/>
          <a:ln w="19050">
            <a:solidFill>
              <a:srgbClr val="2B2622"/>
            </a:solidFill>
            <a:prstDash val="solid"/>
          </a:ln>
        </p:spPr>
      </p:sp>
      <p:sp>
        <p:nvSpPr>
          <p:cNvPr id="27" name="Text 25"/>
          <p:cNvSpPr txBox="1"/>
          <p:nvPr/>
        </p:nvSpPr>
        <p:spPr>
          <a:xfrm>
            <a:off x="457200" y="2948940"/>
            <a:ext cx="731520" cy="149047"/>
          </a:xfrm>
          <a:prstGeom prst="rect">
            <a:avLst/>
          </a:prstGeom>
          <a:noFill/>
          <a:ln/>
        </p:spPr>
        <p:txBody>
          <a:bodyPr wrap="square" lIns="0" tIns="0" rIns="0" bIns="0" rtlCol="0" anchor="t"/>
          <a:lstStyle/>
          <a:p>
            <a:pPr algn="ctr" indent="0" marL="0">
              <a:buNone/>
            </a:pPr>
            <a:r>
              <a:rPr lang="en-US" sz="850" b="1" dirty="0">
                <a:solidFill>
                  <a:srgbClr val="2B2622"/>
                </a:solidFill>
                <a:latin typeface="Calibri" pitchFamily="34" charset="0"/>
                <a:ea typeface="Calibri" pitchFamily="34" charset="-122"/>
                <a:cs typeface="Calibri" pitchFamily="34" charset="-120"/>
              </a:rPr>
              <a:t>A program</a:t>
            </a:r>
            <a:endParaRPr lang="en-US" sz="850" dirty="0"/>
          </a:p>
        </p:txBody>
      </p:sp>
      <p:sp>
        <p:nvSpPr>
          <p:cNvPr id="28" name="Shape 26"/>
          <p:cNvSpPr/>
          <p:nvPr/>
        </p:nvSpPr>
        <p:spPr>
          <a:xfrm flipV="1">
            <a:off x="960120" y="1837030"/>
            <a:ext cx="365760" cy="654710"/>
          </a:xfrm>
          <a:prstGeom prst="line">
            <a:avLst/>
          </a:prstGeom>
          <a:noFill/>
          <a:ln w="12700">
            <a:solidFill>
              <a:srgbClr val="6E655C"/>
            </a:solidFill>
            <a:prstDash val="solid"/>
          </a:ln>
        </p:spPr>
      </p:sp>
      <p:sp>
        <p:nvSpPr>
          <p:cNvPr id="29" name="Shape 27"/>
          <p:cNvSpPr/>
          <p:nvPr/>
        </p:nvSpPr>
        <p:spPr>
          <a:xfrm flipV="1">
            <a:off x="960120" y="2201875"/>
            <a:ext cx="365760" cy="289865"/>
          </a:xfrm>
          <a:prstGeom prst="line">
            <a:avLst/>
          </a:prstGeom>
          <a:noFill/>
          <a:ln w="12700">
            <a:solidFill>
              <a:srgbClr val="6E655C"/>
            </a:solidFill>
            <a:prstDash val="solid"/>
          </a:ln>
        </p:spPr>
      </p:sp>
      <p:sp>
        <p:nvSpPr>
          <p:cNvPr id="30" name="Shape 28"/>
          <p:cNvSpPr/>
          <p:nvPr/>
        </p:nvSpPr>
        <p:spPr>
          <a:xfrm>
            <a:off x="960120" y="2491740"/>
            <a:ext cx="365760" cy="74066"/>
          </a:xfrm>
          <a:prstGeom prst="line">
            <a:avLst/>
          </a:prstGeom>
          <a:noFill/>
          <a:ln w="12700">
            <a:solidFill>
              <a:srgbClr val="6E655C"/>
            </a:solidFill>
            <a:prstDash val="solid"/>
          </a:ln>
        </p:spPr>
      </p:sp>
      <p:sp>
        <p:nvSpPr>
          <p:cNvPr id="31" name="Shape 29"/>
          <p:cNvSpPr/>
          <p:nvPr/>
        </p:nvSpPr>
        <p:spPr>
          <a:xfrm>
            <a:off x="960120" y="2491740"/>
            <a:ext cx="365760" cy="438912"/>
          </a:xfrm>
          <a:prstGeom prst="line">
            <a:avLst/>
          </a:prstGeom>
          <a:noFill/>
          <a:ln w="12700">
            <a:solidFill>
              <a:srgbClr val="6E655C"/>
            </a:solidFill>
            <a:prstDash val="solid"/>
          </a:ln>
        </p:spPr>
      </p:sp>
      <p:sp>
        <p:nvSpPr>
          <p:cNvPr id="32" name="Shape 30"/>
          <p:cNvSpPr/>
          <p:nvPr/>
        </p:nvSpPr>
        <p:spPr>
          <a:xfrm>
            <a:off x="960120" y="2491740"/>
            <a:ext cx="365760" cy="803758"/>
          </a:xfrm>
          <a:prstGeom prst="line">
            <a:avLst/>
          </a:prstGeom>
          <a:noFill/>
          <a:ln w="12700">
            <a:solidFill>
              <a:srgbClr val="6E655C"/>
            </a:solidFill>
            <a:prstDash val="solid"/>
          </a:ln>
        </p:spPr>
      </p:sp>
      <p:sp>
        <p:nvSpPr>
          <p:cNvPr id="33" name="Shape 31"/>
          <p:cNvSpPr/>
          <p:nvPr/>
        </p:nvSpPr>
        <p:spPr>
          <a:xfrm>
            <a:off x="960120" y="2491740"/>
            <a:ext cx="365760" cy="1167689"/>
          </a:xfrm>
          <a:prstGeom prst="line">
            <a:avLst/>
          </a:prstGeom>
          <a:noFill/>
          <a:ln w="12700">
            <a:solidFill>
              <a:srgbClr val="6E655C"/>
            </a:solidFill>
            <a:prstDash val="solid"/>
          </a:ln>
        </p:spPr>
      </p:sp>
      <p:sp>
        <p:nvSpPr>
          <p:cNvPr id="34" name="Shape 32"/>
          <p:cNvSpPr/>
          <p:nvPr/>
        </p:nvSpPr>
        <p:spPr>
          <a:xfrm>
            <a:off x="960120" y="2491740"/>
            <a:ext cx="365760" cy="1532534"/>
          </a:xfrm>
          <a:prstGeom prst="line">
            <a:avLst/>
          </a:prstGeom>
          <a:noFill/>
          <a:ln w="12700">
            <a:solidFill>
              <a:srgbClr val="6E655C"/>
            </a:solidFill>
            <a:prstDash val="solid"/>
          </a:ln>
        </p:spPr>
      </p:sp>
      <p:sp>
        <p:nvSpPr>
          <p:cNvPr id="35" name="Text 33"/>
          <p:cNvSpPr txBox="1"/>
          <p:nvPr/>
        </p:nvSpPr>
        <p:spPr>
          <a:xfrm>
            <a:off x="457200" y="4233672"/>
            <a:ext cx="3657600" cy="301752"/>
          </a:xfrm>
          <a:prstGeom prst="rect">
            <a:avLst/>
          </a:prstGeom>
          <a:noFill/>
          <a:ln/>
        </p:spPr>
        <p:txBody>
          <a:bodyPr wrap="square" lIns="0" tIns="0" rIns="0" bIns="0" rtlCol="0" anchor="t"/>
          <a:lstStyle/>
          <a:p>
            <a:pPr indent="0" marL="0">
              <a:buNone/>
            </a:pPr>
            <a:r>
              <a:rPr lang="en-US" sz="850" i="1" dirty="0">
                <a:solidFill>
                  <a:srgbClr val="6E655C"/>
                </a:solidFill>
                <a:latin typeface="Calibri" pitchFamily="34" charset="0"/>
                <a:ea typeface="Calibri" pitchFamily="34" charset="-122"/>
                <a:cs typeface="Calibri" pitchFamily="34" charset="-120"/>
              </a:rPr>
              <a:t>diagram WhatAProgramCanDoWithEzgmail - SetOfUses pattern, 30 of 30 words grounded in the chapter's text</a:t>
            </a:r>
            <a:endParaRPr lang="en-US" sz="850" dirty="0"/>
          </a:p>
        </p:txBody>
      </p:sp>
      <p:sp>
        <p:nvSpPr>
          <p:cNvPr id="36" name="Shape 34"/>
          <p:cNvSpPr/>
          <p:nvPr/>
        </p:nvSpPr>
        <p:spPr>
          <a:xfrm>
            <a:off x="4343400" y="1371600"/>
            <a:ext cx="4343400" cy="1417320"/>
          </a:xfrm>
          <a:prstGeom prst="roundRect">
            <a:avLst>
              <a:gd name="adj" fmla="val 6452"/>
            </a:avLst>
          </a:prstGeom>
          <a:solidFill>
            <a:srgbClr val="F2ECE1"/>
          </a:solidFill>
          <a:ln w="12700">
            <a:solidFill>
              <a:srgbClr val="F2ECE1"/>
            </a:solidFill>
            <a:prstDash val="solid"/>
          </a:ln>
        </p:spPr>
      </p:sp>
      <p:sp>
        <p:nvSpPr>
          <p:cNvPr id="37" name="Text 35"/>
          <p:cNvSpPr txBox="1"/>
          <p:nvPr/>
        </p:nvSpPr>
        <p:spPr>
          <a:xfrm>
            <a:off x="4526280" y="1490472"/>
            <a:ext cx="3977640" cy="347472"/>
          </a:xfrm>
          <a:prstGeom prst="rect">
            <a:avLst/>
          </a:prstGeom>
          <a:noFill/>
          <a:ln/>
        </p:spPr>
        <p:txBody>
          <a:bodyPr wrap="square" lIns="0" tIns="0" rIns="0" bIns="0" rtlCol="0" anchor="ctr"/>
          <a:lstStyle/>
          <a:p>
            <a:pPr indent="0" marL="0">
              <a:buNone/>
            </a:pPr>
            <a:r>
              <a:rPr lang="en-US" sz="1600" b="1" dirty="0">
                <a:solidFill>
                  <a:srgbClr val="2F6D62"/>
                </a:solidFill>
                <a:latin typeface="Cambria" pitchFamily="34" charset="0"/>
                <a:ea typeface="Cambria" pitchFamily="34" charset="-122"/>
                <a:cs typeface="Cambria" pitchFamily="34" charset="-120"/>
              </a:rPr>
              <a:t>Three ways to reach a person</a:t>
            </a:r>
            <a:endParaRPr lang="en-US" sz="1600" dirty="0"/>
          </a:p>
        </p:txBody>
      </p:sp>
      <p:sp>
        <p:nvSpPr>
          <p:cNvPr id="38" name="Text 36"/>
          <p:cNvSpPr txBox="1"/>
          <p:nvPr/>
        </p:nvSpPr>
        <p:spPr>
          <a:xfrm>
            <a:off x="4526280" y="1874520"/>
            <a:ext cx="3977640" cy="777240"/>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The Gmail API through EZGmail for email, SMS email gateways for texts, and ntfy for push notifications; Twilio is named as the reliable way to text.</a:t>
            </a:r>
            <a:endParaRPr lang="en-US" sz="950" dirty="0"/>
          </a:p>
        </p:txBody>
      </p:sp>
      <p:sp>
        <p:nvSpPr>
          <p:cNvPr id="39" name="Shape 37"/>
          <p:cNvSpPr/>
          <p:nvPr/>
        </p:nvSpPr>
        <p:spPr>
          <a:xfrm>
            <a:off x="4343400" y="2880360"/>
            <a:ext cx="4343400" cy="1600200"/>
          </a:xfrm>
          <a:prstGeom prst="roundRect">
            <a:avLst>
              <a:gd name="adj" fmla="val 5714"/>
            </a:avLst>
          </a:prstGeom>
          <a:solidFill>
            <a:srgbClr val="F2ECE1"/>
          </a:solidFill>
          <a:ln w="12700">
            <a:solidFill>
              <a:srgbClr val="F2ECE1"/>
            </a:solidFill>
            <a:prstDash val="solid"/>
          </a:ln>
        </p:spPr>
      </p:sp>
      <p:sp>
        <p:nvSpPr>
          <p:cNvPr id="40" name="Text 38"/>
          <p:cNvSpPr txBox="1"/>
          <p:nvPr/>
        </p:nvSpPr>
        <p:spPr>
          <a:xfrm>
            <a:off x="4526280" y="2999232"/>
            <a:ext cx="3977640" cy="347472"/>
          </a:xfrm>
          <a:prstGeom prst="rect">
            <a:avLst/>
          </a:prstGeom>
          <a:noFill/>
          <a:ln/>
        </p:spPr>
        <p:txBody>
          <a:bodyPr wrap="square" lIns="0" tIns="0" rIns="0" bIns="0" rtlCol="0" anchor="ctr"/>
          <a:lstStyle/>
          <a:p>
            <a:pPr indent="0" marL="0">
              <a:buNone/>
            </a:pPr>
            <a:r>
              <a:rPr lang="en-US" sz="1600" b="1" dirty="0">
                <a:solidFill>
                  <a:srgbClr val="D97A14"/>
                </a:solidFill>
                <a:latin typeface="Cambria" pitchFamily="34" charset="0"/>
                <a:ea typeface="Cambria" pitchFamily="34" charset="-122"/>
                <a:cs typeface="Cambria" pitchFamily="34" charset="-120"/>
              </a:rPr>
              <a:t>Recorded 13 Oct 2026</a:t>
            </a:r>
            <a:endParaRPr lang="en-US" sz="1600" dirty="0"/>
          </a:p>
        </p:txBody>
      </p:sp>
      <p:sp>
        <p:nvSpPr>
          <p:cNvPr id="41" name="Text 39"/>
          <p:cNvSpPr txBox="1"/>
          <p:nvPr/>
        </p:nvSpPr>
        <p:spPr>
          <a:xfrm>
            <a:off x="4526280" y="3383280"/>
            <a:ext cx="3977640" cy="960120"/>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The book's page has 15 listings. The online materials hold 91 files and none for this chapter, and the book page it names for an example implementation holds none.</a:t>
            </a:r>
            <a:endParaRPr lang="en-US" sz="950" dirty="0"/>
          </a:p>
        </p:txBody>
      </p:sp>
      <p:sp>
        <p:nvSpPr>
          <p:cNvPr id="42" name="Shape 40"/>
          <p:cNvSpPr/>
          <p:nvPr/>
        </p:nvSpPr>
        <p:spPr>
          <a:xfrm>
            <a:off x="457200" y="4636008"/>
            <a:ext cx="91440" cy="310896"/>
          </a:xfrm>
          <a:prstGeom prst="rect">
            <a:avLst/>
          </a:prstGeom>
          <a:solidFill>
            <a:srgbClr val="D97A14"/>
          </a:solidFill>
          <a:ln w="12700">
            <a:solidFill>
              <a:srgbClr val="D97A14"/>
            </a:solidFill>
            <a:prstDash val="solid"/>
          </a:ln>
        </p:spPr>
      </p:sp>
      <p:sp>
        <p:nvSpPr>
          <p:cNvPr id="43" name="Text 4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One account, seven things a program can do with it.</a:t>
            </a:r>
            <a:endParaRPr lang="en-US" sz="1350" dirty="0"/>
          </a:p>
        </p:txBody>
      </p:sp>
      <p:sp>
        <p:nvSpPr>
          <p:cNvPr id="44" name="Text 4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 / 26</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Setup: credentials, token and init()</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missing credentials.json fails at the first call; token.json is a password</a:t>
            </a:r>
            <a:endParaRPr lang="en-US" sz="1300" dirty="0"/>
          </a:p>
        </p:txBody>
      </p:sp>
      <p:sp>
        <p:nvSpPr>
          <p:cNvPr id="6" name="Shape 4"/>
          <p:cNvSpPr/>
          <p:nvPr/>
        </p:nvSpPr>
        <p:spPr>
          <a:xfrm>
            <a:off x="457200" y="1309421"/>
            <a:ext cx="2194560" cy="384048"/>
          </a:xfrm>
          <a:prstGeom prst="roundRect">
            <a:avLst>
              <a:gd name="adj" fmla="val 19048"/>
            </a:avLst>
          </a:prstGeom>
          <a:solidFill>
            <a:srgbClr val="F2ECE1"/>
          </a:solidFill>
          <a:ln w="15875">
            <a:solidFill>
              <a:srgbClr val="2F6D62"/>
            </a:solidFill>
            <a:prstDash val="solid"/>
          </a:ln>
        </p:spPr>
      </p:sp>
      <p:sp>
        <p:nvSpPr>
          <p:cNvPr id="7" name="Text 5"/>
          <p:cNvSpPr txBox="1"/>
          <p:nvPr/>
        </p:nvSpPr>
        <p:spPr>
          <a:xfrm>
            <a:off x="521208" y="1368857"/>
            <a:ext cx="2066544" cy="264262"/>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Keep credentials.json and token.json in the working directory</a:t>
            </a:r>
            <a:endParaRPr lang="en-US" sz="800" dirty="0"/>
          </a:p>
        </p:txBody>
      </p:sp>
      <p:sp>
        <p:nvSpPr>
          <p:cNvPr id="8" name="Shape 6"/>
          <p:cNvSpPr/>
          <p:nvPr/>
        </p:nvSpPr>
        <p:spPr>
          <a:xfrm>
            <a:off x="457200" y="1751076"/>
            <a:ext cx="2194560" cy="384048"/>
          </a:xfrm>
          <a:prstGeom prst="roundRect">
            <a:avLst>
              <a:gd name="adj" fmla="val 19048"/>
            </a:avLst>
          </a:prstGeom>
          <a:solidFill>
            <a:srgbClr val="F2ECE1"/>
          </a:solidFill>
          <a:ln w="15875">
            <a:solidFill>
              <a:srgbClr val="2F6D62"/>
            </a:solidFill>
            <a:prstDash val="solid"/>
          </a:ln>
        </p:spPr>
      </p:sp>
      <p:sp>
        <p:nvSpPr>
          <p:cNvPr id="9" name="Text 7"/>
          <p:cNvSpPr txBox="1"/>
          <p:nvPr/>
        </p:nvSpPr>
        <p:spPr>
          <a:xfrm>
            <a:off x="521208" y="1872691"/>
            <a:ext cx="2066544" cy="140818"/>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Call ezgmail.init()</a:t>
            </a:r>
            <a:endParaRPr lang="en-US" sz="800" dirty="0"/>
          </a:p>
        </p:txBody>
      </p:sp>
      <p:sp>
        <p:nvSpPr>
          <p:cNvPr id="10" name="Shape 8"/>
          <p:cNvSpPr/>
          <p:nvPr/>
        </p:nvSpPr>
        <p:spPr>
          <a:xfrm>
            <a:off x="457200" y="2183587"/>
            <a:ext cx="2194560" cy="402336"/>
          </a:xfrm>
          <a:prstGeom prst="hexagon">
            <a:avLst/>
          </a:prstGeom>
          <a:solidFill>
            <a:srgbClr val="D97A14"/>
          </a:solidFill>
          <a:ln w="15875">
            <a:solidFill>
              <a:srgbClr val="D97A14"/>
            </a:solidFill>
            <a:prstDash val="solid"/>
          </a:ln>
        </p:spPr>
      </p:sp>
      <p:sp>
        <p:nvSpPr>
          <p:cNvPr id="11" name="Text 9"/>
          <p:cNvSpPr txBox="1"/>
          <p:nvPr/>
        </p:nvSpPr>
        <p:spPr>
          <a:xfrm>
            <a:off x="612648" y="2314346"/>
            <a:ext cx="1883664" cy="14081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Does init() raise an error?</a:t>
            </a:r>
            <a:endParaRPr lang="en-US" sz="800" dirty="0"/>
          </a:p>
        </p:txBody>
      </p:sp>
      <p:sp>
        <p:nvSpPr>
          <p:cNvPr id="12" name="Shape 10"/>
          <p:cNvSpPr/>
          <p:nvPr/>
        </p:nvSpPr>
        <p:spPr>
          <a:xfrm>
            <a:off x="457200" y="2635301"/>
            <a:ext cx="2194560" cy="384048"/>
          </a:xfrm>
          <a:prstGeom prst="roundRect">
            <a:avLst>
              <a:gd name="adj" fmla="val 19048"/>
            </a:avLst>
          </a:prstGeom>
          <a:solidFill>
            <a:srgbClr val="F2ECE1"/>
          </a:solidFill>
          <a:ln w="15875">
            <a:solidFill>
              <a:srgbClr val="2F6D62"/>
            </a:solidFill>
            <a:prstDash val="solid"/>
          </a:ln>
        </p:spPr>
      </p:sp>
      <p:sp>
        <p:nvSpPr>
          <p:cNvPr id="13" name="Text 11"/>
          <p:cNvSpPr txBox="1"/>
          <p:nvPr/>
        </p:nvSpPr>
        <p:spPr>
          <a:xfrm>
            <a:off x="521208" y="2694737"/>
            <a:ext cx="2066544" cy="264262"/>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Call ezgmail.send() with the recipient, the subject and the body</a:t>
            </a:r>
            <a:endParaRPr lang="en-US" sz="800" dirty="0"/>
          </a:p>
        </p:txBody>
      </p:sp>
      <p:sp>
        <p:nvSpPr>
          <p:cNvPr id="14" name="Shape 12"/>
          <p:cNvSpPr/>
          <p:nvPr/>
        </p:nvSpPr>
        <p:spPr>
          <a:xfrm>
            <a:off x="457200" y="3076956"/>
            <a:ext cx="2194560" cy="384048"/>
          </a:xfrm>
          <a:prstGeom prst="roundRect">
            <a:avLst>
              <a:gd name="adj" fmla="val 19048"/>
            </a:avLst>
          </a:prstGeom>
          <a:solidFill>
            <a:srgbClr val="F2ECE1"/>
          </a:solidFill>
          <a:ln w="15875">
            <a:solidFill>
              <a:srgbClr val="2F6D62"/>
            </a:solidFill>
            <a:prstDash val="solid"/>
          </a:ln>
        </p:spPr>
      </p:sp>
      <p:sp>
        <p:nvSpPr>
          <p:cNvPr id="15" name="Text 13"/>
          <p:cNvSpPr txBox="1"/>
          <p:nvPr/>
        </p:nvSpPr>
        <p:spPr>
          <a:xfrm>
            <a:off x="521208" y="3198571"/>
            <a:ext cx="2066544" cy="140818"/>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Pass a list of attachments</a:t>
            </a:r>
            <a:endParaRPr lang="en-US" sz="800" dirty="0"/>
          </a:p>
        </p:txBody>
      </p:sp>
      <p:sp>
        <p:nvSpPr>
          <p:cNvPr id="16" name="Shape 14"/>
          <p:cNvSpPr/>
          <p:nvPr/>
        </p:nvSpPr>
        <p:spPr>
          <a:xfrm>
            <a:off x="457200" y="3518611"/>
            <a:ext cx="2194560" cy="384048"/>
          </a:xfrm>
          <a:prstGeom prst="roundRect">
            <a:avLst>
              <a:gd name="adj" fmla="val 19048"/>
            </a:avLst>
          </a:prstGeom>
          <a:solidFill>
            <a:srgbClr val="F2ECE1"/>
          </a:solidFill>
          <a:ln w="15875">
            <a:solidFill>
              <a:srgbClr val="2F6D62"/>
            </a:solidFill>
            <a:prstDash val="solid"/>
          </a:ln>
        </p:spPr>
      </p:sp>
      <p:sp>
        <p:nvSpPr>
          <p:cNvPr id="17" name="Text 15"/>
          <p:cNvSpPr txBox="1"/>
          <p:nvPr/>
        </p:nvSpPr>
        <p:spPr>
          <a:xfrm>
            <a:off x="521208" y="3640226"/>
            <a:ext cx="2066544" cy="140818"/>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Pass the keyword arguments cc and bcc</a:t>
            </a:r>
            <a:endParaRPr lang="en-US" sz="800" dirty="0"/>
          </a:p>
        </p:txBody>
      </p:sp>
      <p:sp>
        <p:nvSpPr>
          <p:cNvPr id="18" name="Shape 16"/>
          <p:cNvSpPr/>
          <p:nvPr/>
        </p:nvSpPr>
        <p:spPr>
          <a:xfrm>
            <a:off x="2788920" y="1751076"/>
            <a:ext cx="1645920" cy="384048"/>
          </a:xfrm>
          <a:prstGeom prst="roundRect">
            <a:avLst>
              <a:gd name="adj" fmla="val 19048"/>
            </a:avLst>
          </a:prstGeom>
          <a:solidFill>
            <a:srgbClr val="F2ECE1"/>
          </a:solidFill>
          <a:ln w="15875">
            <a:solidFill>
              <a:srgbClr val="2F6D62"/>
            </a:solidFill>
            <a:prstDash val="solid"/>
          </a:ln>
        </p:spPr>
      </p:sp>
      <p:sp>
        <p:nvSpPr>
          <p:cNvPr id="19" name="Text 17"/>
          <p:cNvSpPr txBox="1"/>
          <p:nvPr/>
        </p:nvSpPr>
        <p:spPr>
          <a:xfrm>
            <a:off x="2852928" y="1811426"/>
            <a:ext cx="1517904" cy="264262"/>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Do the steps of the Google Cloud console again</a:t>
            </a:r>
            <a:endParaRPr lang="en-US" sz="800" dirty="0"/>
          </a:p>
        </p:txBody>
      </p:sp>
      <p:sp>
        <p:nvSpPr>
          <p:cNvPr id="20" name="Shape 18"/>
          <p:cNvSpPr/>
          <p:nvPr/>
        </p:nvSpPr>
        <p:spPr>
          <a:xfrm>
            <a:off x="3520440" y="1410005"/>
            <a:ext cx="182880" cy="182880"/>
          </a:xfrm>
          <a:prstGeom prst="ellipse">
            <a:avLst/>
          </a:prstGeom>
          <a:solidFill>
            <a:srgbClr val="2B2622"/>
          </a:solidFill>
          <a:ln w="15875">
            <a:solidFill>
              <a:srgbClr val="2B2622"/>
            </a:solidFill>
            <a:prstDash val="solid"/>
          </a:ln>
        </p:spPr>
      </p:sp>
      <p:sp>
        <p:nvSpPr>
          <p:cNvPr id="21" name="Shape 19"/>
          <p:cNvSpPr/>
          <p:nvPr/>
        </p:nvSpPr>
        <p:spPr>
          <a:xfrm>
            <a:off x="3483864" y="3582619"/>
            <a:ext cx="256032" cy="256032"/>
          </a:xfrm>
          <a:prstGeom prst="ellipse">
            <a:avLst/>
          </a:prstGeom>
          <a:solidFill>
            <a:srgbClr val="FFFFFF"/>
          </a:solidFill>
          <a:ln w="25400">
            <a:solidFill>
              <a:srgbClr val="2B2622"/>
            </a:solidFill>
            <a:prstDash val="solid"/>
          </a:ln>
        </p:spPr>
      </p:sp>
      <p:sp>
        <p:nvSpPr>
          <p:cNvPr id="22" name="Shape 20"/>
          <p:cNvSpPr/>
          <p:nvPr/>
        </p:nvSpPr>
        <p:spPr>
          <a:xfrm>
            <a:off x="3538728" y="3637483"/>
            <a:ext cx="146304" cy="146304"/>
          </a:xfrm>
          <a:prstGeom prst="ellipse">
            <a:avLst/>
          </a:prstGeom>
          <a:solidFill>
            <a:srgbClr val="2B2622"/>
          </a:solidFill>
          <a:ln w="15875">
            <a:solidFill>
              <a:srgbClr val="2B2622"/>
            </a:solidFill>
            <a:prstDash val="solid"/>
          </a:ln>
        </p:spPr>
      </p:sp>
      <p:sp>
        <p:nvSpPr>
          <p:cNvPr id="23" name="Shape 21"/>
          <p:cNvSpPr/>
          <p:nvPr/>
        </p:nvSpPr>
        <p:spPr>
          <a:xfrm flipH="1">
            <a:off x="2651760" y="1501445"/>
            <a:ext cx="868680" cy="0"/>
          </a:xfrm>
          <a:prstGeom prst="line">
            <a:avLst/>
          </a:prstGeom>
          <a:noFill/>
          <a:ln w="15875">
            <a:solidFill>
              <a:srgbClr val="6E655C"/>
            </a:solidFill>
            <a:prstDash val="solid"/>
            <a:tailEnd type="triangle"/>
          </a:ln>
        </p:spPr>
      </p:sp>
      <p:sp>
        <p:nvSpPr>
          <p:cNvPr id="24" name="Shape 22"/>
          <p:cNvSpPr/>
          <p:nvPr/>
        </p:nvSpPr>
        <p:spPr>
          <a:xfrm>
            <a:off x="1554480" y="1693469"/>
            <a:ext cx="0" cy="57607"/>
          </a:xfrm>
          <a:prstGeom prst="line">
            <a:avLst/>
          </a:prstGeom>
          <a:noFill/>
          <a:ln w="15875">
            <a:solidFill>
              <a:srgbClr val="6E655C"/>
            </a:solidFill>
            <a:prstDash val="solid"/>
            <a:tailEnd type="triangle"/>
          </a:ln>
        </p:spPr>
      </p:sp>
      <p:sp>
        <p:nvSpPr>
          <p:cNvPr id="25" name="Shape 23"/>
          <p:cNvSpPr/>
          <p:nvPr/>
        </p:nvSpPr>
        <p:spPr>
          <a:xfrm>
            <a:off x="1554480" y="2135124"/>
            <a:ext cx="0" cy="48463"/>
          </a:xfrm>
          <a:prstGeom prst="line">
            <a:avLst/>
          </a:prstGeom>
          <a:noFill/>
          <a:ln w="15875">
            <a:solidFill>
              <a:srgbClr val="6E655C"/>
            </a:solidFill>
            <a:prstDash val="solid"/>
            <a:tailEnd type="triangle"/>
          </a:ln>
        </p:spPr>
      </p:sp>
      <p:sp>
        <p:nvSpPr>
          <p:cNvPr id="26" name="Shape 24"/>
          <p:cNvSpPr/>
          <p:nvPr/>
        </p:nvSpPr>
        <p:spPr>
          <a:xfrm>
            <a:off x="2651760" y="2384755"/>
            <a:ext cx="960120" cy="0"/>
          </a:xfrm>
          <a:prstGeom prst="line">
            <a:avLst/>
          </a:prstGeom>
          <a:noFill/>
          <a:ln w="15875">
            <a:solidFill>
              <a:srgbClr val="6E655C"/>
            </a:solidFill>
            <a:prstDash val="solid"/>
          </a:ln>
        </p:spPr>
      </p:sp>
      <p:sp>
        <p:nvSpPr>
          <p:cNvPr id="27" name="Shape 25"/>
          <p:cNvSpPr/>
          <p:nvPr/>
        </p:nvSpPr>
        <p:spPr>
          <a:xfrm flipV="1">
            <a:off x="3611880" y="2135124"/>
            <a:ext cx="0" cy="249631"/>
          </a:xfrm>
          <a:prstGeom prst="line">
            <a:avLst/>
          </a:prstGeom>
          <a:noFill/>
          <a:ln w="15875">
            <a:solidFill>
              <a:srgbClr val="6E655C"/>
            </a:solidFill>
            <a:prstDash val="solid"/>
            <a:tailEnd type="triangle"/>
          </a:ln>
        </p:spPr>
      </p:sp>
      <p:sp>
        <p:nvSpPr>
          <p:cNvPr id="28" name="Text 26"/>
          <p:cNvSpPr txBox="1"/>
          <p:nvPr/>
        </p:nvSpPr>
        <p:spPr>
          <a:xfrm>
            <a:off x="2697480" y="2201875"/>
            <a:ext cx="310896" cy="164592"/>
          </a:xfrm>
          <a:prstGeom prst="rect">
            <a:avLst/>
          </a:prstGeom>
          <a:solidFill>
            <a:srgbClr val="FAF6EF"/>
          </a:solidFill>
          <a:ln/>
        </p:spPr>
        <p:txBody>
          <a:bodyPr wrap="square" lIns="0" tIns="0" rIns="0" bIns="0" rtlCol="0" anchor="ctr"/>
          <a:lstStyle/>
          <a:p>
            <a:pPr algn="l" indent="0" marL="0">
              <a:buNone/>
            </a:pPr>
            <a:r>
              <a:rPr lang="en-US" sz="800" i="1" dirty="0">
                <a:solidFill>
                  <a:srgbClr val="6E655C"/>
                </a:solidFill>
                <a:latin typeface="Calibri" pitchFamily="34" charset="0"/>
                <a:ea typeface="Calibri" pitchFamily="34" charset="-122"/>
                <a:cs typeface="Calibri" pitchFamily="34" charset="-120"/>
              </a:rPr>
              <a:t>yes</a:t>
            </a:r>
            <a:endParaRPr lang="en-US" sz="800" dirty="0"/>
          </a:p>
        </p:txBody>
      </p:sp>
      <p:sp>
        <p:nvSpPr>
          <p:cNvPr id="29" name="Shape 27"/>
          <p:cNvSpPr/>
          <p:nvPr/>
        </p:nvSpPr>
        <p:spPr>
          <a:xfrm flipH="1">
            <a:off x="2651760" y="1943100"/>
            <a:ext cx="137160" cy="0"/>
          </a:xfrm>
          <a:prstGeom prst="line">
            <a:avLst/>
          </a:prstGeom>
          <a:noFill/>
          <a:ln w="15875">
            <a:solidFill>
              <a:srgbClr val="6E655C"/>
            </a:solidFill>
            <a:prstDash val="solid"/>
            <a:tailEnd type="triangle"/>
          </a:ln>
        </p:spPr>
      </p:sp>
      <p:sp>
        <p:nvSpPr>
          <p:cNvPr id="30" name="Shape 28"/>
          <p:cNvSpPr/>
          <p:nvPr/>
        </p:nvSpPr>
        <p:spPr>
          <a:xfrm>
            <a:off x="1554480" y="2585923"/>
            <a:ext cx="0" cy="49378"/>
          </a:xfrm>
          <a:prstGeom prst="line">
            <a:avLst/>
          </a:prstGeom>
          <a:noFill/>
          <a:ln w="15875">
            <a:solidFill>
              <a:srgbClr val="6E655C"/>
            </a:solidFill>
            <a:prstDash val="solid"/>
            <a:tailEnd type="triangle"/>
          </a:ln>
        </p:spPr>
      </p:sp>
      <p:sp>
        <p:nvSpPr>
          <p:cNvPr id="31" name="Text 29"/>
          <p:cNvSpPr txBox="1"/>
          <p:nvPr/>
        </p:nvSpPr>
        <p:spPr>
          <a:xfrm>
            <a:off x="1609344" y="2528316"/>
            <a:ext cx="310896" cy="164592"/>
          </a:xfrm>
          <a:prstGeom prst="rect">
            <a:avLst/>
          </a:prstGeom>
          <a:solidFill>
            <a:srgbClr val="FAF6EF"/>
          </a:solidFill>
          <a:ln/>
        </p:spPr>
        <p:txBody>
          <a:bodyPr wrap="square" lIns="0" tIns="0" rIns="0" bIns="0" rtlCol="0" anchor="ctr"/>
          <a:lstStyle/>
          <a:p>
            <a:pPr algn="l" indent="0" marL="0">
              <a:buNone/>
            </a:pPr>
            <a:r>
              <a:rPr lang="en-US" sz="800" i="1" dirty="0">
                <a:solidFill>
                  <a:srgbClr val="6E655C"/>
                </a:solidFill>
                <a:latin typeface="Calibri" pitchFamily="34" charset="0"/>
                <a:ea typeface="Calibri" pitchFamily="34" charset="-122"/>
                <a:cs typeface="Calibri" pitchFamily="34" charset="-120"/>
              </a:rPr>
              <a:t>no</a:t>
            </a:r>
            <a:endParaRPr lang="en-US" sz="800" dirty="0"/>
          </a:p>
        </p:txBody>
      </p:sp>
      <p:sp>
        <p:nvSpPr>
          <p:cNvPr id="32" name="Shape 30"/>
          <p:cNvSpPr/>
          <p:nvPr/>
        </p:nvSpPr>
        <p:spPr>
          <a:xfrm>
            <a:off x="1554480" y="3019349"/>
            <a:ext cx="0" cy="57607"/>
          </a:xfrm>
          <a:prstGeom prst="line">
            <a:avLst/>
          </a:prstGeom>
          <a:noFill/>
          <a:ln w="15875">
            <a:solidFill>
              <a:srgbClr val="6E655C"/>
            </a:solidFill>
            <a:prstDash val="solid"/>
            <a:tailEnd type="triangle"/>
          </a:ln>
        </p:spPr>
      </p:sp>
      <p:sp>
        <p:nvSpPr>
          <p:cNvPr id="33" name="Shape 31"/>
          <p:cNvSpPr/>
          <p:nvPr/>
        </p:nvSpPr>
        <p:spPr>
          <a:xfrm>
            <a:off x="1554480" y="3461004"/>
            <a:ext cx="0" cy="57607"/>
          </a:xfrm>
          <a:prstGeom prst="line">
            <a:avLst/>
          </a:prstGeom>
          <a:noFill/>
          <a:ln w="15875">
            <a:solidFill>
              <a:srgbClr val="6E655C"/>
            </a:solidFill>
            <a:prstDash val="solid"/>
            <a:tailEnd type="triangle"/>
          </a:ln>
        </p:spPr>
      </p:sp>
      <p:sp>
        <p:nvSpPr>
          <p:cNvPr id="34" name="Shape 32"/>
          <p:cNvSpPr/>
          <p:nvPr/>
        </p:nvSpPr>
        <p:spPr>
          <a:xfrm>
            <a:off x="2651760" y="3710635"/>
            <a:ext cx="832104" cy="0"/>
          </a:xfrm>
          <a:prstGeom prst="line">
            <a:avLst/>
          </a:prstGeom>
          <a:noFill/>
          <a:ln w="15875">
            <a:solidFill>
              <a:srgbClr val="6E655C"/>
            </a:solidFill>
            <a:prstDash val="solid"/>
            <a:tailEnd type="triangle"/>
          </a:ln>
        </p:spPr>
      </p:sp>
      <p:sp>
        <p:nvSpPr>
          <p:cNvPr id="35" name="Text 33"/>
          <p:cNvSpPr txBox="1"/>
          <p:nvPr/>
        </p:nvSpPr>
        <p:spPr>
          <a:xfrm>
            <a:off x="457200" y="3959352"/>
            <a:ext cx="3977640" cy="301752"/>
          </a:xfrm>
          <a:prstGeom prst="rect">
            <a:avLst/>
          </a:prstGeom>
          <a:noFill/>
          <a:ln/>
        </p:spPr>
        <p:txBody>
          <a:bodyPr wrap="square" lIns="0" tIns="0" rIns="0" bIns="0" rtlCol="0" anchor="t"/>
          <a:lstStyle/>
          <a:p>
            <a:pPr indent="0" marL="0">
              <a:buNone/>
            </a:pPr>
            <a:r>
              <a:rPr lang="en-US" sz="850" i="1" dirty="0">
                <a:solidFill>
                  <a:srgbClr val="6E655C"/>
                </a:solidFill>
                <a:latin typeface="Calibri" pitchFamily="34" charset="0"/>
                <a:ea typeface="Calibri" pitchFamily="34" charset="-122"/>
                <a:cs typeface="Calibri" pitchFamily="34" charset="-120"/>
              </a:rPr>
              <a:t>diagram SendingAMailWithEzgmail - Workflow pattern, 32 of 34 words grounded in the chapter's text</a:t>
            </a:r>
            <a:endParaRPr lang="en-US" sz="850" dirty="0"/>
          </a:p>
        </p:txBody>
      </p:sp>
      <p:sp>
        <p:nvSpPr>
          <p:cNvPr id="36" name="Text 34"/>
          <p:cNvSpPr txBox="1"/>
          <p:nvPr/>
        </p:nvSpPr>
        <p:spPr>
          <a:xfrm>
            <a:off x="4434840" y="1143000"/>
            <a:ext cx="4197096"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program setupCut_v1_0_0.py, lines 30 to 42 of 42</a:t>
            </a:r>
            <a:endParaRPr lang="en-US" sz="1000" dirty="0"/>
          </a:p>
        </p:txBody>
      </p:sp>
      <p:sp>
        <p:nvSpPr>
          <p:cNvPr id="37" name="Shape 35"/>
          <p:cNvSpPr/>
          <p:nvPr/>
        </p:nvSpPr>
        <p:spPr>
          <a:xfrm>
            <a:off x="4434840" y="1417320"/>
            <a:ext cx="4197096" cy="2551176"/>
          </a:xfrm>
          <a:prstGeom prst="roundRect">
            <a:avLst>
              <a:gd name="adj" fmla="val 3584"/>
            </a:avLst>
          </a:prstGeom>
          <a:solidFill>
            <a:srgbClr val="23272E"/>
          </a:solidFill>
          <a:ln w="12700">
            <a:solidFill>
              <a:srgbClr val="23272E"/>
            </a:solidFill>
            <a:prstDash val="solid"/>
          </a:ln>
        </p:spPr>
      </p:sp>
      <p:sp>
        <p:nvSpPr>
          <p:cNvPr id="38" name="Text 36"/>
          <p:cNvSpPr txBox="1"/>
          <p:nvPr/>
        </p:nvSpPr>
        <p:spPr>
          <a:xfrm>
            <a:off x="4617720" y="1536192"/>
            <a:ext cx="3831336" cy="2313432"/>
          </a:xfrm>
          <a:prstGeom prst="rect">
            <a:avLst/>
          </a:prstGeom>
          <a:noFill/>
          <a:ln/>
        </p:spPr>
        <p:txBody>
          <a:bodyPr wrap="square" lIns="0" tIns="0" rIns="0" bIns="0" rtlCol="0" anchor="t"/>
          <a:lstStyle/>
          <a:p>
            <a:pPr indent="0" marL="0">
              <a:buNone/>
            </a:pPr>
            <a:r>
              <a:rPr lang="en-US" sz="700" dirty="0">
                <a:solidFill>
                  <a:srgbClr val="E6EDF3"/>
                </a:solidFill>
                <a:latin typeface="Courier New" pitchFamily="34" charset="0"/>
                <a:ea typeface="Courier New" pitchFamily="34" charset="-122"/>
                <a:cs typeface="Courier New" pitchFamily="34" charset="-120"/>
              </a:rPr>
              <a:t>d = wd()</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try:</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ezgmail.init()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except ezgmail.EZGmailException as e:</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print(</a:t>
            </a:r>
            <a:r>
              <a:rPr lang="en-US" sz="700" dirty="0">
                <a:solidFill>
                  <a:srgbClr val="9ECBFF"/>
                </a:solidFill>
                <a:latin typeface="Courier New" pitchFamily="34" charset="0"/>
                <a:ea typeface="Courier New" pitchFamily="34" charset="-122"/>
                <a:cs typeface="Courier New" pitchFamily="34" charset="-120"/>
              </a:rPr>
              <a:t>'init():'</a:t>
            </a:r>
            <a:r>
              <a:rPr lang="en-US" sz="700" dirty="0">
                <a:solidFill>
                  <a:srgbClr val="E6EDF3"/>
                </a:solidFill>
                <a:latin typeface="Courier New" pitchFamily="34" charset="0"/>
                <a:ea typeface="Courier New" pitchFamily="34" charset="-122"/>
                <a:cs typeface="Courier New" pitchFamily="34" charset="-120"/>
              </a:rPr>
              <a:t>, str(e).split(</a:t>
            </a:r>
            <a:r>
              <a:rPr lang="en-US" sz="700" dirty="0">
                <a:solidFill>
                  <a:srgbClr val="9ECBFF"/>
                </a:solidFill>
                <a:latin typeface="Courier New" pitchFamily="34" charset="0"/>
                <a:ea typeface="Courier New" pitchFamily="34" charset="-122"/>
                <a:cs typeface="Courier New" pitchFamily="34" charset="-120"/>
              </a:rPr>
              <a:t>' You can'</a:t>
            </a:r>
            <a:r>
              <a:rPr lang="en-US" sz="700" dirty="0">
                <a:solidFill>
                  <a:srgbClr val="E6EDF3"/>
                </a:solidFill>
                <a:latin typeface="Courier New" pitchFamily="34" charset="0"/>
                <a:ea typeface="Courier New" pitchFamily="34" charset="-122"/>
                <a:cs typeface="Courier New" pitchFamily="34" charset="-120"/>
              </a:rPr>
              <a:t>)[</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].replace(d, </a:t>
            </a:r>
            <a:r>
              <a:rPr lang="en-US" sz="700" dirty="0">
                <a:solidFill>
                  <a:srgbClr val="9ECBFF"/>
                </a:solidFill>
                <a:latin typeface="Courier New" pitchFamily="34" charset="0"/>
                <a:ea typeface="Courier New" pitchFamily="34" charset="-122"/>
                <a:cs typeface="Courier New" pitchFamily="34" charset="-120"/>
              </a:rPr>
              <a:t>'.'</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'LOGGED_IN'</a:t>
            </a:r>
            <a:r>
              <a:rPr lang="en-US" sz="700" dirty="0">
                <a:solidFill>
                  <a:srgbClr val="E6EDF3"/>
                </a:solidFill>
                <a:latin typeface="Courier New" pitchFamily="34" charset="0"/>
                <a:ea typeface="Courier New" pitchFamily="34" charset="-122"/>
                <a:cs typeface="Courier New" pitchFamily="34" charset="-120"/>
              </a:rPr>
              <a:t>, ezgmail.LOGGED_IN, ezgmail.SCOPES)</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print(inspect.getsource(ezgmail).splitlines()[-</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b="1" dirty="0">
                <a:solidFill>
                  <a:srgbClr val="F2A860"/>
                </a:solidFill>
                <a:latin typeface="Courier New" pitchFamily="34" charset="0"/>
                <a:ea typeface="Courier New" pitchFamily="34" charset="-122"/>
                <a:cs typeface="Courier New" pitchFamily="34" charset="-120"/>
              </a:rPr>
              <a:t>from</a:t>
            </a:r>
            <a:r>
              <a:rPr lang="en-US" sz="700" dirty="0">
                <a:solidFill>
                  <a:srgbClr val="E6EDF3"/>
                </a:solidFill>
                <a:latin typeface="Courier New" pitchFamily="34" charset="0"/>
                <a:ea typeface="Courier New" pitchFamily="34" charset="-122"/>
                <a:cs typeface="Courier New" pitchFamily="34" charset="-120"/>
              </a:rPr>
              <a:t> oauth2client </a:t>
            </a:r>
            <a:r>
              <a:rPr lang="en-US" sz="700" b="1" dirty="0">
                <a:solidFill>
                  <a:srgbClr val="F2A860"/>
                </a:solidFill>
                <a:latin typeface="Courier New" pitchFamily="34" charset="0"/>
                <a:ea typeface="Courier New" pitchFamily="34" charset="-122"/>
                <a:cs typeface="Courier New" pitchFamily="34" charset="-120"/>
              </a:rPr>
              <a:t>import</a:t>
            </a:r>
            <a:r>
              <a:rPr lang="en-US" sz="700" dirty="0">
                <a:solidFill>
                  <a:srgbClr val="E6EDF3"/>
                </a:solidFill>
                <a:latin typeface="Courier New" pitchFamily="34" charset="0"/>
                <a:ea typeface="Courier New" pitchFamily="34" charset="-122"/>
                <a:cs typeface="Courier New" pitchFamily="34" charset="-120"/>
              </a:rPr>
              <a:t> client, file</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c = client.OAuth2Credentials(</a:t>
            </a:r>
            <a:r>
              <a:rPr lang="en-US" sz="700" dirty="0">
                <a:solidFill>
                  <a:srgbClr val="9ECBFF"/>
                </a:solidFill>
                <a:latin typeface="Courier New" pitchFamily="34" charset="0"/>
                <a:ea typeface="Courier New" pitchFamily="34" charset="-122"/>
                <a:cs typeface="Courier New" pitchFamily="34" charset="-120"/>
              </a:rPr>
              <a:t>'tok'</a:t>
            </a:r>
            <a:r>
              <a:rPr lang="en-US" sz="700" dirty="0">
                <a:solidFill>
                  <a:srgbClr val="E6EDF3"/>
                </a:solidFill>
                <a:latin typeface="Courier New" pitchFamily="34" charset="0"/>
                <a:ea typeface="Courier New" pitchFamily="34" charset="-122"/>
                <a:cs typeface="Courier New" pitchFamily="34" charset="-120"/>
              </a:rPr>
              <a:t>,</a:t>
            </a:r>
            <a:r>
              <a:rPr lang="en-US" sz="700" dirty="0">
                <a:solidFill>
                  <a:srgbClr val="9ECBFF"/>
                </a:solidFill>
                <a:latin typeface="Courier New" pitchFamily="34" charset="0"/>
                <a:ea typeface="Courier New" pitchFamily="34" charset="-122"/>
                <a:cs typeface="Courier New" pitchFamily="34" charset="-120"/>
              </a:rPr>
              <a:t>'id'</a:t>
            </a:r>
            <a:r>
              <a:rPr lang="en-US" sz="700" dirty="0">
                <a:solidFill>
                  <a:srgbClr val="E6EDF3"/>
                </a:solidFill>
                <a:latin typeface="Courier New" pitchFamily="34" charset="0"/>
                <a:ea typeface="Courier New" pitchFamily="34" charset="-122"/>
                <a:cs typeface="Courier New" pitchFamily="34" charset="-120"/>
              </a:rPr>
              <a:t>,</a:t>
            </a:r>
            <a:r>
              <a:rPr lang="en-US" sz="700" dirty="0">
                <a:solidFill>
                  <a:srgbClr val="9ECBFF"/>
                </a:solidFill>
                <a:latin typeface="Courier New" pitchFamily="34" charset="0"/>
                <a:ea typeface="Courier New" pitchFamily="34" charset="-122"/>
                <a:cs typeface="Courier New" pitchFamily="34" charset="-120"/>
              </a:rPr>
              <a:t>'sec'</a:t>
            </a:r>
            <a:r>
              <a:rPr lang="en-US" sz="700" dirty="0">
                <a:solidFill>
                  <a:srgbClr val="E6EDF3"/>
                </a:solidFill>
                <a:latin typeface="Courier New" pitchFamily="34" charset="0"/>
                <a:ea typeface="Courier New" pitchFamily="34" charset="-122"/>
                <a:cs typeface="Courier New" pitchFamily="34" charset="-120"/>
              </a:rPr>
              <a:t>,</a:t>
            </a:r>
            <a:r>
              <a:rPr lang="en-US" sz="700" dirty="0">
                <a:solidFill>
                  <a:srgbClr val="9ECBFF"/>
                </a:solidFill>
                <a:latin typeface="Courier New" pitchFamily="34" charset="0"/>
                <a:ea typeface="Courier New" pitchFamily="34" charset="-122"/>
                <a:cs typeface="Courier New" pitchFamily="34" charset="-120"/>
              </a:rPr>
              <a:t>'ref'</a:t>
            </a:r>
            <a:r>
              <a:rPr lang="en-US" sz="700" dirty="0">
                <a:solidFill>
                  <a:srgbClr val="E6EDF3"/>
                </a:solidFill>
                <a:latin typeface="Courier New" pitchFamily="34" charset="0"/>
                <a:ea typeface="Courier New" pitchFamily="34" charset="-122"/>
                <a:cs typeface="Courier New" pitchFamily="34" charset="-120"/>
              </a:rPr>
              <a:t>,</a:t>
            </a:r>
            <a:r>
              <a:rPr lang="en-US" sz="700" b="1" dirty="0">
                <a:solidFill>
                  <a:srgbClr val="F2A860"/>
                </a:solidFill>
                <a:latin typeface="Courier New" pitchFamily="34" charset="0"/>
                <a:ea typeface="Courier New" pitchFamily="34" charset="-122"/>
                <a:cs typeface="Courier New" pitchFamily="34" charset="-120"/>
              </a:rPr>
              <a:t>None</a:t>
            </a:r>
            <a:r>
              <a:rPr lang="en-US" sz="700" dirty="0">
                <a:solidFill>
                  <a:srgbClr val="E6EDF3"/>
                </a:solidFill>
                <a:latin typeface="Courier New" pitchFamily="34" charset="0"/>
                <a:ea typeface="Courier New" pitchFamily="34" charset="-122"/>
                <a:cs typeface="Courier New" pitchFamily="34" charset="-120"/>
              </a:rPr>
              <a:t>,</a:t>
            </a:r>
            <a:r>
              <a:rPr lang="en-US" sz="700" dirty="0">
                <a:solidFill>
                  <a:srgbClr val="9ECBFF"/>
                </a:solidFill>
                <a:latin typeface="Courier New" pitchFamily="34" charset="0"/>
                <a:ea typeface="Courier New" pitchFamily="34" charset="-122"/>
                <a:cs typeface="Courier New" pitchFamily="34" charset="-120"/>
              </a:rPr>
              <a:t>'u'</a:t>
            </a:r>
            <a:r>
              <a:rPr lang="en-US" sz="700" dirty="0">
                <a:solidFill>
                  <a:srgbClr val="E6EDF3"/>
                </a:solidFill>
                <a:latin typeface="Courier New" pitchFamily="34" charset="0"/>
                <a:ea typeface="Courier New" pitchFamily="34" charset="-122"/>
                <a:cs typeface="Courier New" pitchFamily="34" charset="-120"/>
              </a:rPr>
              <a:t>,</a:t>
            </a:r>
            <a:r>
              <a:rPr lang="en-US" sz="700" dirty="0">
                <a:solidFill>
                  <a:srgbClr val="9ECBFF"/>
                </a:solidFill>
                <a:latin typeface="Courier New" pitchFamily="34" charset="0"/>
                <a:ea typeface="Courier New" pitchFamily="34" charset="-122"/>
                <a:cs typeface="Courier New" pitchFamily="34" charset="-120"/>
              </a:rPr>
              <a:t>'ua'</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file.Storage(</a:t>
            </a:r>
            <a:r>
              <a:rPr lang="en-US" sz="700" dirty="0">
                <a:solidFill>
                  <a:srgbClr val="9ECBFF"/>
                </a:solidFill>
                <a:latin typeface="Courier New" pitchFamily="34" charset="0"/>
                <a:ea typeface="Courier New" pitchFamily="34" charset="-122"/>
                <a:cs typeface="Courier New" pitchFamily="34" charset="-120"/>
              </a:rPr>
              <a:t>'token.json'</a:t>
            </a:r>
            <a:r>
              <a:rPr lang="en-US" sz="700" dirty="0">
                <a:solidFill>
                  <a:srgbClr val="E6EDF3"/>
                </a:solidFill>
                <a:latin typeface="Courier New" pitchFamily="34" charset="0"/>
                <a:ea typeface="Courier New" pitchFamily="34" charset="-122"/>
                <a:cs typeface="Courier New" pitchFamily="34" charset="-120"/>
              </a:rPr>
              <a:t>).put(c)</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t = json.load(open(</a:t>
            </a:r>
            <a:r>
              <a:rPr lang="en-US" sz="700" dirty="0">
                <a:solidFill>
                  <a:srgbClr val="9ECBFF"/>
                </a:solidFill>
                <a:latin typeface="Courier New" pitchFamily="34" charset="0"/>
                <a:ea typeface="Courier New" pitchFamily="34" charset="-122"/>
                <a:cs typeface="Courier New" pitchFamily="34" charset="-120"/>
              </a:rPr>
              <a:t>'token.json'</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print(len(t), </a:t>
            </a:r>
            <a:r>
              <a:rPr lang="en-US" sz="700" dirty="0">
                <a:solidFill>
                  <a:srgbClr val="9ECBFF"/>
                </a:solidFill>
                <a:latin typeface="Courier New" pitchFamily="34" charset="0"/>
                <a:ea typeface="Courier New" pitchFamily="34" charset="-122"/>
                <a:cs typeface="Courier New" pitchFamily="34" charset="-120"/>
              </a:rPr>
              <a:t>'keys, mode'</a:t>
            </a:r>
            <a:r>
              <a:rPr lang="en-US" sz="700" dirty="0">
                <a:solidFill>
                  <a:srgbClr val="E6EDF3"/>
                </a:solidFill>
                <a:latin typeface="Courier New" pitchFamily="34" charset="0"/>
                <a:ea typeface="Courier New" pitchFamily="34" charset="-122"/>
                <a:cs typeface="Courier New" pitchFamily="34" charset="-120"/>
              </a:rPr>
              <a:t>, oct(os.stat(</a:t>
            </a:r>
            <a:r>
              <a:rPr lang="en-US" sz="700" dirty="0">
                <a:solidFill>
                  <a:srgbClr val="9ECBFF"/>
                </a:solidFill>
                <a:latin typeface="Courier New" pitchFamily="34" charset="0"/>
                <a:ea typeface="Courier New" pitchFamily="34" charset="-122"/>
                <a:cs typeface="Courier New" pitchFamily="34" charset="-120"/>
              </a:rPr>
              <a:t>'token.json'</a:t>
            </a:r>
            <a:r>
              <a:rPr lang="en-US" sz="700" dirty="0">
                <a:solidFill>
                  <a:srgbClr val="E6EDF3"/>
                </a:solidFill>
                <a:latin typeface="Courier New" pitchFamily="34" charset="0"/>
                <a:ea typeface="Courier New" pitchFamily="34" charset="-122"/>
                <a:cs typeface="Courier New" pitchFamily="34" charset="-120"/>
              </a:rPr>
              <a:t>).st_mode)[-</a:t>
            </a:r>
            <a:r>
              <a:rPr lang="en-US" sz="700" dirty="0">
                <a:solidFill>
                  <a:srgbClr val="FFD28A"/>
                </a:solidFill>
                <a:latin typeface="Courier New" pitchFamily="34" charset="0"/>
                <a:ea typeface="Courier New" pitchFamily="34" charset="-122"/>
                <a:cs typeface="Courier New" pitchFamily="34" charset="-120"/>
              </a:rPr>
              <a:t>3</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'in the file:'</a:t>
            </a:r>
            <a:r>
              <a:rPr lang="en-US" sz="700" dirty="0">
                <a:solidFill>
                  <a:srgbClr val="E6EDF3"/>
                </a:solidFill>
                <a:latin typeface="Courier New" pitchFamily="34" charset="0"/>
                <a:ea typeface="Courier New" pitchFamily="34" charset="-122"/>
                <a:cs typeface="Courier New" pitchFamily="34" charset="-120"/>
              </a:rPr>
              <a:t>, t[</a:t>
            </a:r>
            <a:r>
              <a:rPr lang="en-US" sz="700" dirty="0">
                <a:solidFill>
                  <a:srgbClr val="9ECBFF"/>
                </a:solidFill>
                <a:latin typeface="Courier New" pitchFamily="34" charset="0"/>
                <a:ea typeface="Courier New" pitchFamily="34" charset="-122"/>
                <a:cs typeface="Courier New" pitchFamily="34" charset="-120"/>
              </a:rPr>
              <a:t>'refresh_token'</a:t>
            </a:r>
            <a:r>
              <a:rPr lang="en-US" sz="700" dirty="0">
                <a:solidFill>
                  <a:srgbClr val="E6EDF3"/>
                </a:solidFill>
                <a:latin typeface="Courier New" pitchFamily="34" charset="0"/>
                <a:ea typeface="Courier New" pitchFamily="34" charset="-122"/>
                <a:cs typeface="Courier New" pitchFamily="34" charset="-120"/>
              </a:rPr>
              <a:t>], t[</a:t>
            </a:r>
            <a:r>
              <a:rPr lang="en-US" sz="700" dirty="0">
                <a:solidFill>
                  <a:srgbClr val="9ECBFF"/>
                </a:solidFill>
                <a:latin typeface="Courier New" pitchFamily="34" charset="0"/>
                <a:ea typeface="Courier New" pitchFamily="34" charset="-122"/>
                <a:cs typeface="Courier New" pitchFamily="34" charset="-120"/>
              </a:rPr>
              <a:t>'client_secret'</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b="1" dirty="0">
                <a:solidFill>
                  <a:srgbClr val="D97A14"/>
                </a:solidFill>
                <a:latin typeface="Courier New" pitchFamily="34" charset="0"/>
                <a:ea typeface="Courier New" pitchFamily="34" charset="-122"/>
                <a:cs typeface="Courier New" pitchFamily="34" charset="-120"/>
              </a:rPr>
              <a:t>prints </a:t>
            </a:r>
            <a:r>
              <a:rPr lang="en-US" sz="700" dirty="0">
                <a:solidFill>
                  <a:srgbClr val="7EE787"/>
                </a:solidFill>
                <a:latin typeface="Courier New" pitchFamily="34" charset="0"/>
                <a:ea typeface="Courier New" pitchFamily="34" charset="-122"/>
                <a:cs typeface="Courier New" pitchFamily="34" charset="-120"/>
              </a:rPr>
              <a:t>init(): Can't find credentials file at ./credentials.json.</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LOGGED_IN False https://mail.google.com/</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init(_raiseException=False)</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16 keys, mode 600</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in the file: ref sec</a:t>
            </a:r>
            <a:endParaRPr lang="en-US" sz="700" dirty="0"/>
          </a:p>
        </p:txBody>
      </p:sp>
      <p:sp>
        <p:nvSpPr>
          <p:cNvPr id="39" name="Text 37"/>
          <p:cNvSpPr txBox="1"/>
          <p:nvPr/>
        </p:nvSpPr>
        <p:spPr>
          <a:xfrm>
            <a:off x="4434840" y="4005072"/>
            <a:ext cx="4251960" cy="283464"/>
          </a:xfrm>
          <a:prstGeom prst="rect">
            <a:avLst/>
          </a:prstGeom>
          <a:noFill/>
          <a:ln/>
        </p:spPr>
        <p:txBody>
          <a:bodyPr wrap="square" lIns="0" tIns="0" rIns="0" bIns="0" rtlCol="0" anchor="t"/>
          <a:lstStyle/>
          <a:p>
            <a:pPr indent="0" marL="0">
              <a:buNone/>
            </a:pPr>
            <a:r>
              <a:rPr lang="en-US" sz="800" i="1" dirty="0">
                <a:solidFill>
                  <a:srgbClr val="6E655C"/>
                </a:solidFill>
                <a:latin typeface="Calibri" pitchFamily="34" charset="0"/>
                <a:ea typeface="Calibri" pitchFamily="34" charset="-122"/>
                <a:cs typeface="Calibri" pitchFamily="34" charset="-120"/>
              </a:rPr>
              <a:t>Made-up values. Lines 1 to 29 (imports, the Gmail stand-in and a comment) are not shown.</a:t>
            </a:r>
            <a:endParaRPr lang="en-US" sz="800" dirty="0"/>
          </a:p>
        </p:txBody>
      </p:sp>
      <p:sp>
        <p:nvSpPr>
          <p:cNvPr id="40" name="Text 38"/>
          <p:cNvSpPr txBox="1"/>
          <p:nvPr/>
        </p:nvSpPr>
        <p:spPr>
          <a:xfrm>
            <a:off x="457200" y="4297680"/>
            <a:ext cx="3931920" cy="164592"/>
          </a:xfrm>
          <a:prstGeom prst="rect">
            <a:avLst/>
          </a:prstGeom>
          <a:noFill/>
          <a:ln/>
        </p:spPr>
        <p:txBody>
          <a:bodyPr wrap="square" lIns="0" tIns="0" rIns="0" bIns="0" rtlCol="0" anchor="t"/>
          <a:lstStyle/>
          <a:p>
            <a:pPr indent="0" marL="0">
              <a:buNone/>
            </a:pPr>
            <a:r>
              <a:rPr lang="en-US" sz="850" i="1" dirty="0">
                <a:solidFill>
                  <a:srgbClr val="6E655C"/>
                </a:solidFill>
                <a:latin typeface="Calibri" pitchFamily="34" charset="0"/>
                <a:ea typeface="Calibri" pitchFamily="34" charset="-122"/>
                <a:cs typeface="Calibri" pitchFamily="34" charset="-120"/>
              </a:rPr>
              <a:t>NOT EXECUTED: Google Cloud console steps, consent screen, token refresh.</a:t>
            </a:r>
            <a:endParaRPr lang="en-US" sz="850" dirty="0"/>
          </a:p>
        </p:txBody>
      </p:sp>
      <p:sp>
        <p:nvSpPr>
          <p:cNvPr id="41" name="Shape 39"/>
          <p:cNvSpPr/>
          <p:nvPr/>
        </p:nvSpPr>
        <p:spPr>
          <a:xfrm>
            <a:off x="457200" y="4636008"/>
            <a:ext cx="91440" cy="310896"/>
          </a:xfrm>
          <a:prstGeom prst="rect">
            <a:avLst/>
          </a:prstGeom>
          <a:solidFill>
            <a:srgbClr val="D97A14"/>
          </a:solidFill>
          <a:ln w="12700">
            <a:solidFill>
              <a:srgbClr val="D97A14"/>
            </a:solidFill>
            <a:prstDash val="solid"/>
          </a:ln>
        </p:spPr>
      </p:sp>
      <p:sp>
        <p:nvSpPr>
          <p:cNvPr id="42" name="Text 4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init() fails without credentials; token.json is a password.</a:t>
            </a:r>
            <a:endParaRPr lang="en-US" sz="1350" dirty="0"/>
          </a:p>
        </p:txBody>
      </p:sp>
      <p:sp>
        <p:nvSpPr>
          <p:cNvPr id="43" name="Text 4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 / 26</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Sending: attachments, cc and bcc</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One POST of a base64 message; the library does not look at what it attaches</a:t>
            </a:r>
            <a:endParaRPr lang="en-US" sz="1300" dirty="0"/>
          </a:p>
        </p:txBody>
      </p:sp>
      <p:sp>
        <p:nvSpPr>
          <p:cNvPr id="6" name="Text 4"/>
          <p:cNvSpPr txBox="1"/>
          <p:nvPr/>
        </p:nvSpPr>
        <p:spPr>
          <a:xfrm>
            <a:off x="457200" y="1143000"/>
            <a:ext cx="5312664"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program sendCut_v1_0_0.py, lines 34 to 45 of 45</a:t>
            </a:r>
            <a:endParaRPr lang="en-US" sz="1000" dirty="0"/>
          </a:p>
        </p:txBody>
      </p:sp>
      <p:sp>
        <p:nvSpPr>
          <p:cNvPr id="7" name="Shape 5"/>
          <p:cNvSpPr/>
          <p:nvPr/>
        </p:nvSpPr>
        <p:spPr>
          <a:xfrm>
            <a:off x="457200" y="1417320"/>
            <a:ext cx="5312664" cy="2423160"/>
          </a:xfrm>
          <a:prstGeom prst="roundRect">
            <a:avLst>
              <a:gd name="adj" fmla="val 3774"/>
            </a:avLst>
          </a:prstGeom>
          <a:solidFill>
            <a:srgbClr val="23272E"/>
          </a:solidFill>
          <a:ln w="12700">
            <a:solidFill>
              <a:srgbClr val="23272E"/>
            </a:solidFill>
            <a:prstDash val="solid"/>
          </a:ln>
        </p:spPr>
      </p:sp>
      <p:sp>
        <p:nvSpPr>
          <p:cNvPr id="8" name="Text 6"/>
          <p:cNvSpPr txBox="1"/>
          <p:nvPr/>
        </p:nvSpPr>
        <p:spPr>
          <a:xfrm>
            <a:off x="640080" y="1536192"/>
            <a:ext cx="4946904" cy="2185416"/>
          </a:xfrm>
          <a:prstGeom prst="rect">
            <a:avLst/>
          </a:prstGeom>
          <a:noFill/>
          <a:ln/>
        </p:spPr>
        <p:txBody>
          <a:bodyPr wrap="square" lIns="0" tIns="0" rIns="0" bIns="0" rtlCol="0" anchor="t"/>
          <a:lstStyle/>
          <a:p>
            <a:pPr indent="0" marL="0">
              <a:buNone/>
            </a:pPr>
            <a:r>
              <a:rPr lang="en-US" sz="750" dirty="0">
                <a:solidFill>
                  <a:srgbClr val="E6EDF3"/>
                </a:solidFill>
                <a:latin typeface="Courier New" pitchFamily="34" charset="0"/>
                <a:ea typeface="Courier New" pitchFamily="34" charset="-122"/>
                <a:cs typeface="Courier New" pitchFamily="34" charset="-120"/>
              </a:rPr>
              <a:t>d = wd()</a:t>
            </a:r>
            <a:endParaRPr lang="en-US" sz="750" dirty="0"/>
          </a:p>
          <a:p>
            <a:pPr indent="0" marL="0">
              <a:buNone/>
            </a:pPr>
            <a:r>
              <a:rPr lang="en-US" sz="750" b="1" dirty="0">
                <a:solidFill>
                  <a:srgbClr val="F2A860"/>
                </a:solidFill>
                <a:latin typeface="Courier New" pitchFamily="34" charset="0"/>
                <a:ea typeface="Courier New" pitchFamily="34" charset="-122"/>
                <a:cs typeface="Courier New" pitchFamily="34" charset="-120"/>
              </a:rPr>
              <a:t>for</a:t>
            </a:r>
            <a:r>
              <a:rPr lang="en-US" sz="750" dirty="0">
                <a:solidFill>
                  <a:srgbClr val="E6EDF3"/>
                </a:solidFill>
                <a:latin typeface="Courier New" pitchFamily="34" charset="0"/>
                <a:ea typeface="Courier New" pitchFamily="34" charset="-122"/>
                <a:cs typeface="Courier New" pitchFamily="34" charset="-120"/>
              </a:rPr>
              <a:t> n </a:t>
            </a:r>
            <a:r>
              <a:rPr lang="en-US" sz="750" b="1" dirty="0">
                <a:solidFill>
                  <a:srgbClr val="F2A860"/>
                </a:solidFill>
                <a:latin typeface="Courier New" pitchFamily="34" charset="0"/>
                <a:ea typeface="Courier New" pitchFamily="34" charset="-122"/>
                <a:cs typeface="Courier New" pitchFamily="34" charset="-120"/>
              </a:rPr>
              <a:t>in</a:t>
            </a:r>
            <a:r>
              <a:rPr lang="en-US" sz="750" dirty="0">
                <a:solidFill>
                  <a:srgbClr val="E6EDF3"/>
                </a:solidFill>
                <a:latin typeface="Courier New" pitchFamily="34" charset="0"/>
                <a:ea typeface="Courier New" pitchFamily="34" charset="-122"/>
                <a:cs typeface="Courier New" pitchFamily="34" charset="-120"/>
              </a:rPr>
              <a:t> (</a:t>
            </a:r>
            <a:r>
              <a:rPr lang="en-US" sz="750" dirty="0">
                <a:solidFill>
                  <a:srgbClr val="9ECBFF"/>
                </a:solidFill>
                <a:latin typeface="Courier New" pitchFamily="34" charset="0"/>
                <a:ea typeface="Courier New" pitchFamily="34" charset="-122"/>
                <a:cs typeface="Courier New" pitchFamily="34" charset="-120"/>
              </a:rPr>
              <a:t>'a.jpg'</a:t>
            </a:r>
            <a:r>
              <a:rPr lang="en-US" sz="750" dirty="0">
                <a:solidFill>
                  <a:srgbClr val="E6EDF3"/>
                </a:solidFill>
                <a:latin typeface="Courier New" pitchFamily="34" charset="0"/>
                <a:ea typeface="Courier New" pitchFamily="34" charset="-122"/>
                <a:cs typeface="Courier New" pitchFamily="34" charset="-120"/>
              </a:rPr>
              <a:t>, </a:t>
            </a:r>
            <a:r>
              <a:rPr lang="en-US" sz="750" dirty="0">
                <a:solidFill>
                  <a:srgbClr val="9ECBFF"/>
                </a:solidFill>
                <a:latin typeface="Courier New" pitchFamily="34" charset="0"/>
                <a:ea typeface="Courier New" pitchFamily="34" charset="-122"/>
                <a:cs typeface="Courier New" pitchFamily="34" charset="-120"/>
              </a:rPr>
              <a:t>'b.mp3'</a:t>
            </a:r>
            <a:r>
              <a:rPr lang="en-US" sz="750" dirty="0">
                <a:solidFill>
                  <a:srgbClr val="E6EDF3"/>
                </a:solidFill>
                <a:latin typeface="Courier New" pitchFamily="34" charset="0"/>
                <a:ea typeface="Courier New" pitchFamily="34" charset="-122"/>
                <a:cs typeface="Courier New" pitchFamily="34" charset="-120"/>
              </a:rPr>
              <a:t>, </a:t>
            </a:r>
            <a:r>
              <a:rPr lang="en-US" sz="750" dirty="0">
                <a:solidFill>
                  <a:srgbClr val="9ECBFF"/>
                </a:solidFill>
                <a:latin typeface="Courier New" pitchFamily="34" charset="0"/>
                <a:ea typeface="Courier New" pitchFamily="34" charset="-122"/>
                <a:cs typeface="Courier New" pitchFamily="34" charset="-120"/>
              </a:rPr>
              <a:t>'setup.exe'</a:t>
            </a:r>
            <a:r>
              <a:rPr lang="en-US" sz="750" dirty="0">
                <a:solidFill>
                  <a:srgbClr val="E6EDF3"/>
                </a:solidFill>
                <a:latin typeface="Courier New" pitchFamily="34" charset="0"/>
                <a:ea typeface="Courier New" pitchFamily="34" charset="-122"/>
                <a:cs typeface="Courier New" pitchFamily="34" charset="-120"/>
              </a:rPr>
              <a:t>): open(n, </a:t>
            </a:r>
            <a:r>
              <a:rPr lang="en-US" sz="750" dirty="0">
                <a:solidFill>
                  <a:srgbClr val="9ECBFF"/>
                </a:solidFill>
                <a:latin typeface="Courier New" pitchFamily="34" charset="0"/>
                <a:ea typeface="Courier New" pitchFamily="34" charset="-122"/>
                <a:cs typeface="Courier New" pitchFamily="34" charset="-120"/>
              </a:rPr>
              <a:t>'wb'</a:t>
            </a:r>
            <a:r>
              <a:rPr lang="en-US" sz="750" dirty="0">
                <a:solidFill>
                  <a:srgbClr val="E6EDF3"/>
                </a:solidFill>
                <a:latin typeface="Courier New" pitchFamily="34" charset="0"/>
                <a:ea typeface="Courier New" pitchFamily="34" charset="-122"/>
                <a:cs typeface="Courier New" pitchFamily="34" charset="-120"/>
              </a:rPr>
              <a:t>).write(b</a:t>
            </a:r>
            <a:r>
              <a:rPr lang="en-US" sz="750" dirty="0">
                <a:solidFill>
                  <a:srgbClr val="9ECBFF"/>
                </a:solidFill>
                <a:latin typeface="Courier New" pitchFamily="34" charset="0"/>
                <a:ea typeface="Courier New" pitchFamily="34" charset="-122"/>
                <a:cs typeface="Courier New" pitchFamily="34" charset="-120"/>
              </a:rPr>
              <a:t>'0'</a:t>
            </a:r>
            <a:r>
              <a:rPr lang="en-US" sz="750" dirty="0">
                <a:solidFill>
                  <a:srgbClr val="E6EDF3"/>
                </a:solidFill>
                <a:latin typeface="Courier New" pitchFamily="34" charset="0"/>
                <a:ea typeface="Courier New" pitchFamily="34" charset="-122"/>
                <a:cs typeface="Courier New" pitchFamily="34" charset="-120"/>
              </a:rPr>
              <a:t> * </a:t>
            </a:r>
            <a:r>
              <a:rPr lang="en-US" sz="750" dirty="0">
                <a:solidFill>
                  <a:srgbClr val="FFD28A"/>
                </a:solidFill>
                <a:latin typeface="Courier New" pitchFamily="34" charset="0"/>
                <a:ea typeface="Courier New" pitchFamily="34" charset="-122"/>
                <a:cs typeface="Courier New" pitchFamily="34" charset="-120"/>
              </a:rPr>
              <a:t>9</a:t>
            </a:r>
            <a:r>
              <a:rPr lang="en-US" sz="750" dirty="0">
                <a:solidFill>
                  <a:srgbClr val="E6EDF3"/>
                </a:solidFill>
                <a:latin typeface="Courier New" pitchFamily="34" charset="0"/>
                <a:ea typeface="Courier New" pitchFamily="34" charset="-122"/>
                <a:cs typeface="Courier New" pitchFamily="34" charset="-120"/>
              </a:rPr>
              <a:t>)</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h = gm({}, {}, {}, {})</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ezgmail.send(</a:t>
            </a:r>
            <a:r>
              <a:rPr lang="en-US" sz="750" dirty="0">
                <a:solidFill>
                  <a:srgbClr val="9ECBFF"/>
                </a:solidFill>
                <a:latin typeface="Courier New" pitchFamily="34" charset="0"/>
                <a:ea typeface="Courier New" pitchFamily="34" charset="-122"/>
                <a:cs typeface="Courier New" pitchFamily="34" charset="-120"/>
              </a:rPr>
              <a:t>'r@example.com'</a:t>
            </a:r>
            <a:r>
              <a:rPr lang="en-US" sz="750" dirty="0">
                <a:solidFill>
                  <a:srgbClr val="E6EDF3"/>
                </a:solidFill>
                <a:latin typeface="Courier New" pitchFamily="34" charset="0"/>
                <a:ea typeface="Courier New" pitchFamily="34" charset="-122"/>
                <a:cs typeface="Courier New" pitchFamily="34" charset="-120"/>
              </a:rPr>
              <a:t>, </a:t>
            </a:r>
            <a:r>
              <a:rPr lang="en-US" sz="750" dirty="0">
                <a:solidFill>
                  <a:srgbClr val="9ECBFF"/>
                </a:solidFill>
                <a:latin typeface="Courier New" pitchFamily="34" charset="0"/>
                <a:ea typeface="Courier New" pitchFamily="34" charset="-122"/>
                <a:cs typeface="Courier New" pitchFamily="34" charset="-120"/>
              </a:rPr>
              <a:t>'Subject line'</a:t>
            </a:r>
            <a:r>
              <a:rPr lang="en-US" sz="750" dirty="0">
                <a:solidFill>
                  <a:srgbClr val="E6EDF3"/>
                </a:solidFill>
                <a:latin typeface="Courier New" pitchFamily="34" charset="0"/>
                <a:ea typeface="Courier New" pitchFamily="34" charset="-122"/>
                <a:cs typeface="Courier New" pitchFamily="34" charset="-120"/>
              </a:rPr>
              <a:t>, </a:t>
            </a:r>
            <a:r>
              <a:rPr lang="en-US" sz="750" dirty="0">
                <a:solidFill>
                  <a:srgbClr val="9ECBFF"/>
                </a:solidFill>
                <a:latin typeface="Courier New" pitchFamily="34" charset="0"/>
                <a:ea typeface="Courier New" pitchFamily="34" charset="-122"/>
                <a:cs typeface="Courier New" pitchFamily="34" charset="-120"/>
              </a:rPr>
              <a:t>'Body of the email'</a:t>
            </a:r>
            <a:r>
              <a:rPr lang="en-US" sz="750" dirty="0">
                <a:solidFill>
                  <a:srgbClr val="E6EDF3"/>
                </a:solidFill>
                <a:latin typeface="Courier New" pitchFamily="34" charset="0"/>
                <a:ea typeface="Courier New" pitchFamily="34" charset="-122"/>
                <a:cs typeface="Courier New" pitchFamily="34" charset="-120"/>
              </a:rPr>
              <a:t>)</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m = raw_of(h, </a:t>
            </a:r>
            <a:r>
              <a:rPr lang="en-US" sz="750" dirty="0">
                <a:solidFill>
                  <a:srgbClr val="FFD28A"/>
                </a:solidFill>
                <a:latin typeface="Courier New" pitchFamily="34" charset="0"/>
                <a:ea typeface="Courier New" pitchFamily="34" charset="-122"/>
                <a:cs typeface="Courier New" pitchFamily="34" charset="-120"/>
              </a:rPr>
              <a:t>0</a:t>
            </a:r>
            <a:r>
              <a:rPr lang="en-US" sz="750" dirty="0">
                <a:solidFill>
                  <a:srgbClr val="E6EDF3"/>
                </a:solidFill>
                <a:latin typeface="Courier New" pitchFamily="34" charset="0"/>
                <a:ea typeface="Courier New" pitchFamily="34" charset="-122"/>
                <a:cs typeface="Courier New" pitchFamily="34" charset="-120"/>
              </a:rPr>
              <a:t>)</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print(</a:t>
            </a:r>
            <a:r>
              <a:rPr lang="en-US" sz="750" dirty="0">
                <a:solidFill>
                  <a:srgbClr val="9ECBFF"/>
                </a:solidFill>
                <a:latin typeface="Courier New" pitchFamily="34" charset="0"/>
                <a:ea typeface="Courier New" pitchFamily="34" charset="-122"/>
                <a:cs typeface="Courier New" pitchFamily="34" charset="-120"/>
              </a:rPr>
              <a:t>'POST'</a:t>
            </a:r>
            <a:r>
              <a:rPr lang="en-US" sz="750" dirty="0">
                <a:solidFill>
                  <a:srgbClr val="E6EDF3"/>
                </a:solidFill>
                <a:latin typeface="Courier New" pitchFamily="34" charset="0"/>
                <a:ea typeface="Courier New" pitchFamily="34" charset="-122"/>
                <a:cs typeface="Courier New" pitchFamily="34" charset="-120"/>
              </a:rPr>
              <a:t>, h.log[</a:t>
            </a:r>
            <a:r>
              <a:rPr lang="en-US" sz="750" dirty="0">
                <a:solidFill>
                  <a:srgbClr val="FFD28A"/>
                </a:solidFill>
                <a:latin typeface="Courier New" pitchFamily="34" charset="0"/>
                <a:ea typeface="Courier New" pitchFamily="34" charset="-122"/>
                <a:cs typeface="Courier New" pitchFamily="34" charset="-120"/>
              </a:rPr>
              <a:t>0</a:t>
            </a:r>
            <a:r>
              <a:rPr lang="en-US" sz="750" dirty="0">
                <a:solidFill>
                  <a:srgbClr val="E6EDF3"/>
                </a:solidFill>
                <a:latin typeface="Courier New" pitchFamily="34" charset="0"/>
                <a:ea typeface="Courier New" pitchFamily="34" charset="-122"/>
                <a:cs typeface="Courier New" pitchFamily="34" charset="-120"/>
              </a:rPr>
              <a:t>][</a:t>
            </a:r>
            <a:r>
              <a:rPr lang="en-US" sz="750" dirty="0">
                <a:solidFill>
                  <a:srgbClr val="FFD28A"/>
                </a:solidFill>
                <a:latin typeface="Courier New" pitchFamily="34" charset="0"/>
                <a:ea typeface="Courier New" pitchFamily="34" charset="-122"/>
                <a:cs typeface="Courier New" pitchFamily="34" charset="-120"/>
              </a:rPr>
              <a:t>1</a:t>
            </a:r>
            <a:r>
              <a:rPr lang="en-US" sz="750" dirty="0">
                <a:solidFill>
                  <a:srgbClr val="E6EDF3"/>
                </a:solidFill>
                <a:latin typeface="Courier New" pitchFamily="34" charset="0"/>
                <a:ea typeface="Courier New" pitchFamily="34" charset="-122"/>
                <a:cs typeface="Courier New" pitchFamily="34" charset="-120"/>
              </a:rPr>
              <a:t>], </a:t>
            </a:r>
            <a:r>
              <a:rPr lang="en-US" sz="750" dirty="0">
                <a:solidFill>
                  <a:srgbClr val="9ECBFF"/>
                </a:solidFill>
                <a:latin typeface="Courier New" pitchFamily="34" charset="0"/>
                <a:ea typeface="Courier New" pitchFamily="34" charset="-122"/>
                <a:cs typeface="Courier New" pitchFamily="34" charset="-120"/>
              </a:rPr>
              <a:t>'| body keys'</a:t>
            </a:r>
            <a:r>
              <a:rPr lang="en-US" sz="750" dirty="0">
                <a:solidFill>
                  <a:srgbClr val="E6EDF3"/>
                </a:solidFill>
                <a:latin typeface="Courier New" pitchFamily="34" charset="0"/>
                <a:ea typeface="Courier New" pitchFamily="34" charset="-122"/>
                <a:cs typeface="Courier New" pitchFamily="34" charset="-120"/>
              </a:rPr>
              <a:t>, list(json.loads(h.log[</a:t>
            </a:r>
            <a:r>
              <a:rPr lang="en-US" sz="750" dirty="0">
                <a:solidFill>
                  <a:srgbClr val="FFD28A"/>
                </a:solidFill>
                <a:latin typeface="Courier New" pitchFamily="34" charset="0"/>
                <a:ea typeface="Courier New" pitchFamily="34" charset="-122"/>
                <a:cs typeface="Courier New" pitchFamily="34" charset="-120"/>
              </a:rPr>
              <a:t>0</a:t>
            </a:r>
            <a:r>
              <a:rPr lang="en-US" sz="750" dirty="0">
                <a:solidFill>
                  <a:srgbClr val="E6EDF3"/>
                </a:solidFill>
                <a:latin typeface="Courier New" pitchFamily="34" charset="0"/>
                <a:ea typeface="Courier New" pitchFamily="34" charset="-122"/>
                <a:cs typeface="Courier New" pitchFamily="34" charset="-120"/>
              </a:rPr>
              <a:t>][</a:t>
            </a:r>
            <a:r>
              <a:rPr lang="en-US" sz="750" dirty="0">
                <a:solidFill>
                  <a:srgbClr val="FFD28A"/>
                </a:solidFill>
                <a:latin typeface="Courier New" pitchFamily="34" charset="0"/>
                <a:ea typeface="Courier New" pitchFamily="34" charset="-122"/>
                <a:cs typeface="Courier New" pitchFamily="34" charset="-120"/>
              </a:rPr>
              <a:t>2</a:t>
            </a:r>
            <a:r>
              <a:rPr lang="en-US" sz="750" dirty="0">
                <a:solidFill>
                  <a:srgbClr val="E6EDF3"/>
                </a:solidFill>
                <a:latin typeface="Courier New" pitchFamily="34" charset="0"/>
                <a:ea typeface="Courier New" pitchFamily="34" charset="-122"/>
                <a:cs typeface="Courier New" pitchFamily="34" charset="-120"/>
              </a:rPr>
              <a:t>])))</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print(</a:t>
            </a:r>
            <a:r>
              <a:rPr lang="en-US" sz="750" dirty="0">
                <a:solidFill>
                  <a:srgbClr val="9ECBFF"/>
                </a:solidFill>
                <a:latin typeface="Courier New" pitchFamily="34" charset="0"/>
                <a:ea typeface="Courier New" pitchFamily="34" charset="-122"/>
                <a:cs typeface="Courier New" pitchFamily="34" charset="-120"/>
              </a:rPr>
              <a:t>'headers:'</a:t>
            </a:r>
            <a:r>
              <a:rPr lang="en-US" sz="750" dirty="0">
                <a:solidFill>
                  <a:srgbClr val="E6EDF3"/>
                </a:solidFill>
                <a:latin typeface="Courier New" pitchFamily="34" charset="0"/>
                <a:ea typeface="Courier New" pitchFamily="34" charset="-122"/>
                <a:cs typeface="Courier New" pitchFamily="34" charset="-120"/>
              </a:rPr>
              <a:t>, [k </a:t>
            </a:r>
            <a:r>
              <a:rPr lang="en-US" sz="750" b="1" dirty="0">
                <a:solidFill>
                  <a:srgbClr val="F2A860"/>
                </a:solidFill>
                <a:latin typeface="Courier New" pitchFamily="34" charset="0"/>
                <a:ea typeface="Courier New" pitchFamily="34" charset="-122"/>
                <a:cs typeface="Courier New" pitchFamily="34" charset="-120"/>
              </a:rPr>
              <a:t>for</a:t>
            </a:r>
            <a:r>
              <a:rPr lang="en-US" sz="750" dirty="0">
                <a:solidFill>
                  <a:srgbClr val="E6EDF3"/>
                </a:solidFill>
                <a:latin typeface="Courier New" pitchFamily="34" charset="0"/>
                <a:ea typeface="Courier New" pitchFamily="34" charset="-122"/>
                <a:cs typeface="Courier New" pitchFamily="34" charset="-120"/>
              </a:rPr>
              <a:t> k </a:t>
            </a:r>
            <a:r>
              <a:rPr lang="en-US" sz="750" b="1" dirty="0">
                <a:solidFill>
                  <a:srgbClr val="F2A860"/>
                </a:solidFill>
                <a:latin typeface="Courier New" pitchFamily="34" charset="0"/>
                <a:ea typeface="Courier New" pitchFamily="34" charset="-122"/>
                <a:cs typeface="Courier New" pitchFamily="34" charset="-120"/>
              </a:rPr>
              <a:t>in</a:t>
            </a:r>
            <a:r>
              <a:rPr lang="en-US" sz="750" dirty="0">
                <a:solidFill>
                  <a:srgbClr val="E6EDF3"/>
                </a:solidFill>
                <a:latin typeface="Courier New" pitchFamily="34" charset="0"/>
                <a:ea typeface="Courier New" pitchFamily="34" charset="-122"/>
                <a:cs typeface="Courier New" pitchFamily="34" charset="-120"/>
              </a:rPr>
              <a:t> m.keys() </a:t>
            </a:r>
            <a:r>
              <a:rPr lang="en-US" sz="750" b="1" dirty="0">
                <a:solidFill>
                  <a:srgbClr val="F2A860"/>
                </a:solidFill>
                <a:latin typeface="Courier New" pitchFamily="34" charset="0"/>
                <a:ea typeface="Courier New" pitchFamily="34" charset="-122"/>
                <a:cs typeface="Courier New" pitchFamily="34" charset="-120"/>
              </a:rPr>
              <a:t>if</a:t>
            </a:r>
            <a:r>
              <a:rPr lang="en-US" sz="750" dirty="0">
                <a:solidFill>
                  <a:srgbClr val="E6EDF3"/>
                </a:solidFill>
                <a:latin typeface="Courier New" pitchFamily="34" charset="0"/>
                <a:ea typeface="Courier New" pitchFamily="34" charset="-122"/>
                <a:cs typeface="Courier New" pitchFamily="34" charset="-120"/>
              </a:rPr>
              <a:t> k </a:t>
            </a:r>
            <a:r>
              <a:rPr lang="en-US" sz="750" b="1" dirty="0">
                <a:solidFill>
                  <a:srgbClr val="F2A860"/>
                </a:solidFill>
                <a:latin typeface="Courier New" pitchFamily="34" charset="0"/>
                <a:ea typeface="Courier New" pitchFamily="34" charset="-122"/>
                <a:cs typeface="Courier New" pitchFamily="34" charset="-120"/>
              </a:rPr>
              <a:t>in</a:t>
            </a:r>
            <a:r>
              <a:rPr lang="en-US" sz="750" dirty="0">
                <a:solidFill>
                  <a:srgbClr val="E6EDF3"/>
                </a:solidFill>
                <a:latin typeface="Courier New" pitchFamily="34" charset="0"/>
                <a:ea typeface="Courier New" pitchFamily="34" charset="-122"/>
                <a:cs typeface="Courier New" pitchFamily="34" charset="-120"/>
              </a:rPr>
              <a:t> (</a:t>
            </a:r>
            <a:r>
              <a:rPr lang="en-US" sz="750" dirty="0">
                <a:solidFill>
                  <a:srgbClr val="9ECBFF"/>
                </a:solidFill>
                <a:latin typeface="Courier New" pitchFamily="34" charset="0"/>
                <a:ea typeface="Courier New" pitchFamily="34" charset="-122"/>
                <a:cs typeface="Courier New" pitchFamily="34" charset="-120"/>
              </a:rPr>
              <a:t>'to'</a:t>
            </a:r>
            <a:r>
              <a:rPr lang="en-US" sz="750" dirty="0">
                <a:solidFill>
                  <a:srgbClr val="E6EDF3"/>
                </a:solidFill>
                <a:latin typeface="Courier New" pitchFamily="34" charset="0"/>
                <a:ea typeface="Courier New" pitchFamily="34" charset="-122"/>
                <a:cs typeface="Courier New" pitchFamily="34" charset="-120"/>
              </a:rPr>
              <a:t>, </a:t>
            </a:r>
            <a:r>
              <a:rPr lang="en-US" sz="750" dirty="0">
                <a:solidFill>
                  <a:srgbClr val="9ECBFF"/>
                </a:solidFill>
                <a:latin typeface="Courier New" pitchFamily="34" charset="0"/>
                <a:ea typeface="Courier New" pitchFamily="34" charset="-122"/>
                <a:cs typeface="Courier New" pitchFamily="34" charset="-120"/>
              </a:rPr>
              <a:t>'from'</a:t>
            </a:r>
            <a:r>
              <a:rPr lang="en-US" sz="750" dirty="0">
                <a:solidFill>
                  <a:srgbClr val="E6EDF3"/>
                </a:solidFill>
                <a:latin typeface="Courier New" pitchFamily="34" charset="0"/>
                <a:ea typeface="Courier New" pitchFamily="34" charset="-122"/>
                <a:cs typeface="Courier New" pitchFamily="34" charset="-120"/>
              </a:rPr>
              <a:t>, </a:t>
            </a:r>
            <a:r>
              <a:rPr lang="en-US" sz="750" dirty="0">
                <a:solidFill>
                  <a:srgbClr val="9ECBFF"/>
                </a:solidFill>
                <a:latin typeface="Courier New" pitchFamily="34" charset="0"/>
                <a:ea typeface="Courier New" pitchFamily="34" charset="-122"/>
                <a:cs typeface="Courier New" pitchFamily="34" charset="-120"/>
              </a:rPr>
              <a:t>'subject'</a:t>
            </a:r>
            <a:r>
              <a:rPr lang="en-US" sz="750" dirty="0">
                <a:solidFill>
                  <a:srgbClr val="E6EDF3"/>
                </a:solidFill>
                <a:latin typeface="Courier New" pitchFamily="34" charset="0"/>
                <a:ea typeface="Courier New" pitchFamily="34" charset="-122"/>
                <a:cs typeface="Courier New" pitchFamily="34" charset="-120"/>
              </a:rPr>
              <a:t>)])</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ezgmail.send(</a:t>
            </a:r>
            <a:r>
              <a:rPr lang="en-US" sz="750" dirty="0">
                <a:solidFill>
                  <a:srgbClr val="9ECBFF"/>
                </a:solidFill>
                <a:latin typeface="Courier New" pitchFamily="34" charset="0"/>
                <a:ea typeface="Courier New" pitchFamily="34" charset="-122"/>
                <a:cs typeface="Courier New" pitchFamily="34" charset="-120"/>
              </a:rPr>
              <a:t>'r@example.com'</a:t>
            </a:r>
            <a:r>
              <a:rPr lang="en-US" sz="750" dirty="0">
                <a:solidFill>
                  <a:srgbClr val="E6EDF3"/>
                </a:solidFill>
                <a:latin typeface="Courier New" pitchFamily="34" charset="0"/>
                <a:ea typeface="Courier New" pitchFamily="34" charset="-122"/>
                <a:cs typeface="Courier New" pitchFamily="34" charset="-120"/>
              </a:rPr>
              <a:t>, </a:t>
            </a:r>
            <a:r>
              <a:rPr lang="en-US" sz="750" dirty="0">
                <a:solidFill>
                  <a:srgbClr val="9ECBFF"/>
                </a:solidFill>
                <a:latin typeface="Courier New" pitchFamily="34" charset="0"/>
                <a:ea typeface="Courier New" pitchFamily="34" charset="-122"/>
                <a:cs typeface="Courier New" pitchFamily="34" charset="-120"/>
              </a:rPr>
              <a:t>'S'</a:t>
            </a:r>
            <a:r>
              <a:rPr lang="en-US" sz="750" dirty="0">
                <a:solidFill>
                  <a:srgbClr val="E6EDF3"/>
                </a:solidFill>
                <a:latin typeface="Courier New" pitchFamily="34" charset="0"/>
                <a:ea typeface="Courier New" pitchFamily="34" charset="-122"/>
                <a:cs typeface="Courier New" pitchFamily="34" charset="-120"/>
              </a:rPr>
              <a:t>, </a:t>
            </a:r>
            <a:r>
              <a:rPr lang="en-US" sz="750" dirty="0">
                <a:solidFill>
                  <a:srgbClr val="9ECBFF"/>
                </a:solidFill>
                <a:latin typeface="Courier New" pitchFamily="34" charset="0"/>
                <a:ea typeface="Courier New" pitchFamily="34" charset="-122"/>
                <a:cs typeface="Courier New" pitchFamily="34" charset="-120"/>
              </a:rPr>
              <a:t>'B'</a:t>
            </a:r>
            <a:r>
              <a:rPr lang="en-US" sz="750" dirty="0">
                <a:solidFill>
                  <a:srgbClr val="E6EDF3"/>
                </a:solidFill>
                <a:latin typeface="Courier New" pitchFamily="34" charset="0"/>
                <a:ea typeface="Courier New" pitchFamily="34" charset="-122"/>
                <a:cs typeface="Courier New" pitchFamily="34" charset="-120"/>
              </a:rPr>
              <a:t>, [</a:t>
            </a:r>
            <a:r>
              <a:rPr lang="en-US" sz="750" dirty="0">
                <a:solidFill>
                  <a:srgbClr val="9ECBFF"/>
                </a:solidFill>
                <a:latin typeface="Courier New" pitchFamily="34" charset="0"/>
                <a:ea typeface="Courier New" pitchFamily="34" charset="-122"/>
                <a:cs typeface="Courier New" pitchFamily="34" charset="-120"/>
              </a:rPr>
              <a:t>'a.jpg'</a:t>
            </a:r>
            <a:r>
              <a:rPr lang="en-US" sz="750" dirty="0">
                <a:solidFill>
                  <a:srgbClr val="E6EDF3"/>
                </a:solidFill>
                <a:latin typeface="Courier New" pitchFamily="34" charset="0"/>
                <a:ea typeface="Courier New" pitchFamily="34" charset="-122"/>
                <a:cs typeface="Courier New" pitchFamily="34" charset="-120"/>
              </a:rPr>
              <a:t>, </a:t>
            </a:r>
            <a:r>
              <a:rPr lang="en-US" sz="750" dirty="0">
                <a:solidFill>
                  <a:srgbClr val="9ECBFF"/>
                </a:solidFill>
                <a:latin typeface="Courier New" pitchFamily="34" charset="0"/>
                <a:ea typeface="Courier New" pitchFamily="34" charset="-122"/>
                <a:cs typeface="Courier New" pitchFamily="34" charset="-120"/>
              </a:rPr>
              <a:t>'b.mp3'</a:t>
            </a:r>
            <a:r>
              <a:rPr lang="en-US" sz="750" dirty="0">
                <a:solidFill>
                  <a:srgbClr val="E6EDF3"/>
                </a:solidFill>
                <a:latin typeface="Courier New" pitchFamily="34" charset="0"/>
                <a:ea typeface="Courier New" pitchFamily="34" charset="-122"/>
                <a:cs typeface="Courier New" pitchFamily="34" charset="-120"/>
              </a:rPr>
              <a:t>, </a:t>
            </a:r>
            <a:r>
              <a:rPr lang="en-US" sz="750" dirty="0">
                <a:solidFill>
                  <a:srgbClr val="9ECBFF"/>
                </a:solidFill>
                <a:latin typeface="Courier New" pitchFamily="34" charset="0"/>
                <a:ea typeface="Courier New" pitchFamily="34" charset="-122"/>
                <a:cs typeface="Courier New" pitchFamily="34" charset="-120"/>
              </a:rPr>
              <a:t>'setup.exe'</a:t>
            </a:r>
            <a:r>
              <a:rPr lang="en-US" sz="750" dirty="0">
                <a:solidFill>
                  <a:srgbClr val="E6EDF3"/>
                </a:solidFill>
                <a:latin typeface="Courier New" pitchFamily="34" charset="0"/>
                <a:ea typeface="Courier New" pitchFamily="34" charset="-122"/>
                <a:cs typeface="Courier New" pitchFamily="34" charset="-120"/>
              </a:rPr>
              <a:t>])</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print(</a:t>
            </a:r>
            <a:r>
              <a:rPr lang="en-US" sz="750" dirty="0">
                <a:solidFill>
                  <a:srgbClr val="9ECBFF"/>
                </a:solidFill>
                <a:latin typeface="Courier New" pitchFamily="34" charset="0"/>
                <a:ea typeface="Courier New" pitchFamily="34" charset="-122"/>
                <a:cs typeface="Courier New" pitchFamily="34" charset="-120"/>
              </a:rPr>
              <a:t>'attachments:'</a:t>
            </a:r>
            <a:r>
              <a:rPr lang="en-US" sz="750" dirty="0">
                <a:solidFill>
                  <a:srgbClr val="E6EDF3"/>
                </a:solidFill>
                <a:latin typeface="Courier New" pitchFamily="34" charset="0"/>
                <a:ea typeface="Courier New" pitchFamily="34" charset="-122"/>
                <a:cs typeface="Courier New" pitchFamily="34" charset="-120"/>
              </a:rPr>
              <a:t>, [a.get_filename() </a:t>
            </a:r>
            <a:r>
              <a:rPr lang="en-US" sz="750" b="1" dirty="0">
                <a:solidFill>
                  <a:srgbClr val="F2A860"/>
                </a:solidFill>
                <a:latin typeface="Courier New" pitchFamily="34" charset="0"/>
                <a:ea typeface="Courier New" pitchFamily="34" charset="-122"/>
                <a:cs typeface="Courier New" pitchFamily="34" charset="-120"/>
              </a:rPr>
              <a:t>for</a:t>
            </a:r>
            <a:r>
              <a:rPr lang="en-US" sz="750" dirty="0">
                <a:solidFill>
                  <a:srgbClr val="E6EDF3"/>
                </a:solidFill>
                <a:latin typeface="Courier New" pitchFamily="34" charset="0"/>
                <a:ea typeface="Courier New" pitchFamily="34" charset="-122"/>
                <a:cs typeface="Courier New" pitchFamily="34" charset="-120"/>
              </a:rPr>
              <a:t> a </a:t>
            </a:r>
            <a:r>
              <a:rPr lang="en-US" sz="750" b="1" dirty="0">
                <a:solidFill>
                  <a:srgbClr val="F2A860"/>
                </a:solidFill>
                <a:latin typeface="Courier New" pitchFamily="34" charset="0"/>
                <a:ea typeface="Courier New" pitchFamily="34" charset="-122"/>
                <a:cs typeface="Courier New" pitchFamily="34" charset="-120"/>
              </a:rPr>
              <a:t>in</a:t>
            </a:r>
            <a:r>
              <a:rPr lang="en-US" sz="750" dirty="0">
                <a:solidFill>
                  <a:srgbClr val="E6EDF3"/>
                </a:solidFill>
                <a:latin typeface="Courier New" pitchFamily="34" charset="0"/>
                <a:ea typeface="Courier New" pitchFamily="34" charset="-122"/>
                <a:cs typeface="Courier New" pitchFamily="34" charset="-120"/>
              </a:rPr>
              <a:t> raw_of(h, </a:t>
            </a:r>
            <a:r>
              <a:rPr lang="en-US" sz="750" dirty="0">
                <a:solidFill>
                  <a:srgbClr val="FFD28A"/>
                </a:solidFill>
                <a:latin typeface="Courier New" pitchFamily="34" charset="0"/>
                <a:ea typeface="Courier New" pitchFamily="34" charset="-122"/>
                <a:cs typeface="Courier New" pitchFamily="34" charset="-120"/>
              </a:rPr>
              <a:t>1</a:t>
            </a:r>
            <a:r>
              <a:rPr lang="en-US" sz="750" dirty="0">
                <a:solidFill>
                  <a:srgbClr val="E6EDF3"/>
                </a:solidFill>
                <a:latin typeface="Courier New" pitchFamily="34" charset="0"/>
                <a:ea typeface="Courier New" pitchFamily="34" charset="-122"/>
                <a:cs typeface="Courier New" pitchFamily="34" charset="-120"/>
              </a:rPr>
              <a:t>).iter_attachments()])</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ezgmail.send(</a:t>
            </a:r>
            <a:r>
              <a:rPr lang="en-US" sz="750" dirty="0">
                <a:solidFill>
                  <a:srgbClr val="9ECBFF"/>
                </a:solidFill>
                <a:latin typeface="Courier New" pitchFamily="34" charset="0"/>
                <a:ea typeface="Courier New" pitchFamily="34" charset="-122"/>
                <a:cs typeface="Courier New" pitchFamily="34" charset="-120"/>
              </a:rPr>
              <a:t>'r@example.com'</a:t>
            </a:r>
            <a:r>
              <a:rPr lang="en-US" sz="750" dirty="0">
                <a:solidFill>
                  <a:srgbClr val="E6EDF3"/>
                </a:solidFill>
                <a:latin typeface="Courier New" pitchFamily="34" charset="0"/>
                <a:ea typeface="Courier New" pitchFamily="34" charset="-122"/>
                <a:cs typeface="Courier New" pitchFamily="34" charset="-120"/>
              </a:rPr>
              <a:t>, </a:t>
            </a:r>
            <a:r>
              <a:rPr lang="en-US" sz="750" dirty="0">
                <a:solidFill>
                  <a:srgbClr val="9ECBFF"/>
                </a:solidFill>
                <a:latin typeface="Courier New" pitchFamily="34" charset="0"/>
                <a:ea typeface="Courier New" pitchFamily="34" charset="-122"/>
                <a:cs typeface="Courier New" pitchFamily="34" charset="-120"/>
              </a:rPr>
              <a:t>'S'</a:t>
            </a:r>
            <a:r>
              <a:rPr lang="en-US" sz="750" dirty="0">
                <a:solidFill>
                  <a:srgbClr val="E6EDF3"/>
                </a:solidFill>
                <a:latin typeface="Courier New" pitchFamily="34" charset="0"/>
                <a:ea typeface="Courier New" pitchFamily="34" charset="-122"/>
                <a:cs typeface="Courier New" pitchFamily="34" charset="-120"/>
              </a:rPr>
              <a:t>, </a:t>
            </a:r>
            <a:r>
              <a:rPr lang="en-US" sz="750" dirty="0">
                <a:solidFill>
                  <a:srgbClr val="9ECBFF"/>
                </a:solidFill>
                <a:latin typeface="Courier New" pitchFamily="34" charset="0"/>
                <a:ea typeface="Courier New" pitchFamily="34" charset="-122"/>
                <a:cs typeface="Courier New" pitchFamily="34" charset="-120"/>
              </a:rPr>
              <a:t>'B'</a:t>
            </a:r>
            <a:r>
              <a:rPr lang="en-US" sz="750" dirty="0">
                <a:solidFill>
                  <a:srgbClr val="E6EDF3"/>
                </a:solidFill>
                <a:latin typeface="Courier New" pitchFamily="34" charset="0"/>
                <a:ea typeface="Courier New" pitchFamily="34" charset="-122"/>
                <a:cs typeface="Courier New" pitchFamily="34" charset="-120"/>
              </a:rPr>
              <a:t>, cc=</a:t>
            </a:r>
            <a:r>
              <a:rPr lang="en-US" sz="750" dirty="0">
                <a:solidFill>
                  <a:srgbClr val="9ECBFF"/>
                </a:solidFill>
                <a:latin typeface="Courier New" pitchFamily="34" charset="0"/>
                <a:ea typeface="Courier New" pitchFamily="34" charset="-122"/>
                <a:cs typeface="Courier New" pitchFamily="34" charset="-120"/>
              </a:rPr>
              <a:t>'f@example.com'</a:t>
            </a:r>
            <a:r>
              <a:rPr lang="en-US" sz="750" dirty="0">
                <a:solidFill>
                  <a:srgbClr val="E6EDF3"/>
                </a:solidFill>
                <a:latin typeface="Courier New" pitchFamily="34" charset="0"/>
                <a:ea typeface="Courier New" pitchFamily="34" charset="-122"/>
                <a:cs typeface="Courier New" pitchFamily="34" charset="-120"/>
              </a:rPr>
              <a:t>, bcc=</a:t>
            </a:r>
            <a:r>
              <a:rPr lang="en-US" sz="750" dirty="0">
                <a:solidFill>
                  <a:srgbClr val="9ECBFF"/>
                </a:solidFill>
                <a:latin typeface="Courier New" pitchFamily="34" charset="0"/>
                <a:ea typeface="Courier New" pitchFamily="34" charset="-122"/>
                <a:cs typeface="Courier New" pitchFamily="34" charset="-120"/>
              </a:rPr>
              <a:t>'o@example.com'</a:t>
            </a:r>
            <a:r>
              <a:rPr lang="en-US" sz="750" dirty="0">
                <a:solidFill>
                  <a:srgbClr val="E6EDF3"/>
                </a:solidFill>
                <a:latin typeface="Courier New" pitchFamily="34" charset="0"/>
                <a:ea typeface="Courier New" pitchFamily="34" charset="-122"/>
                <a:cs typeface="Courier New" pitchFamily="34" charset="-120"/>
              </a:rPr>
              <a:t>)</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m = raw_of(h, </a:t>
            </a:r>
            <a:r>
              <a:rPr lang="en-US" sz="750" dirty="0">
                <a:solidFill>
                  <a:srgbClr val="FFD28A"/>
                </a:solidFill>
                <a:latin typeface="Courier New" pitchFamily="34" charset="0"/>
                <a:ea typeface="Courier New" pitchFamily="34" charset="-122"/>
                <a:cs typeface="Courier New" pitchFamily="34" charset="-120"/>
              </a:rPr>
              <a:t>2</a:t>
            </a:r>
            <a:r>
              <a:rPr lang="en-US" sz="750" dirty="0">
                <a:solidFill>
                  <a:srgbClr val="E6EDF3"/>
                </a:solidFill>
                <a:latin typeface="Courier New" pitchFamily="34" charset="0"/>
                <a:ea typeface="Courier New" pitchFamily="34" charset="-122"/>
                <a:cs typeface="Courier New" pitchFamily="34" charset="-120"/>
              </a:rPr>
              <a:t>)</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print(</a:t>
            </a:r>
            <a:r>
              <a:rPr lang="en-US" sz="750" dirty="0">
                <a:solidFill>
                  <a:srgbClr val="9ECBFF"/>
                </a:solidFill>
                <a:latin typeface="Courier New" pitchFamily="34" charset="0"/>
                <a:ea typeface="Courier New" pitchFamily="34" charset="-122"/>
                <a:cs typeface="Courier New" pitchFamily="34" charset="-120"/>
              </a:rPr>
              <a:t>'cc:'</a:t>
            </a:r>
            <a:r>
              <a:rPr lang="en-US" sz="750" dirty="0">
                <a:solidFill>
                  <a:srgbClr val="E6EDF3"/>
                </a:solidFill>
                <a:latin typeface="Courier New" pitchFamily="34" charset="0"/>
                <a:ea typeface="Courier New" pitchFamily="34" charset="-122"/>
                <a:cs typeface="Courier New" pitchFamily="34" charset="-120"/>
              </a:rPr>
              <a:t>, m[</a:t>
            </a:r>
            <a:r>
              <a:rPr lang="en-US" sz="750" dirty="0">
                <a:solidFill>
                  <a:srgbClr val="9ECBFF"/>
                </a:solidFill>
                <a:latin typeface="Courier New" pitchFamily="34" charset="0"/>
                <a:ea typeface="Courier New" pitchFamily="34" charset="-122"/>
                <a:cs typeface="Courier New" pitchFamily="34" charset="-120"/>
              </a:rPr>
              <a:t>'cc'</a:t>
            </a:r>
            <a:r>
              <a:rPr lang="en-US" sz="750" dirty="0">
                <a:solidFill>
                  <a:srgbClr val="E6EDF3"/>
                </a:solidFill>
                <a:latin typeface="Courier New" pitchFamily="34" charset="0"/>
                <a:ea typeface="Courier New" pitchFamily="34" charset="-122"/>
                <a:cs typeface="Courier New" pitchFamily="34" charset="-120"/>
              </a:rPr>
              <a:t>], </a:t>
            </a:r>
            <a:r>
              <a:rPr lang="en-US" sz="750" dirty="0">
                <a:solidFill>
                  <a:srgbClr val="9ECBFF"/>
                </a:solidFill>
                <a:latin typeface="Courier New" pitchFamily="34" charset="0"/>
                <a:ea typeface="Courier New" pitchFamily="34" charset="-122"/>
                <a:cs typeface="Courier New" pitchFamily="34" charset="-120"/>
              </a:rPr>
              <a:t>'| Bcc header in the message:'</a:t>
            </a:r>
            <a:r>
              <a:rPr lang="en-US" sz="750" dirty="0">
                <a:solidFill>
                  <a:srgbClr val="E6EDF3"/>
                </a:solidFill>
                <a:latin typeface="Courier New" pitchFamily="34" charset="0"/>
                <a:ea typeface="Courier New" pitchFamily="34" charset="-122"/>
                <a:cs typeface="Courier New" pitchFamily="34" charset="-120"/>
              </a:rPr>
              <a:t>, m[</a:t>
            </a:r>
            <a:r>
              <a:rPr lang="en-US" sz="750" dirty="0">
                <a:solidFill>
                  <a:srgbClr val="9ECBFF"/>
                </a:solidFill>
                <a:latin typeface="Courier New" pitchFamily="34" charset="0"/>
                <a:ea typeface="Courier New" pitchFamily="34" charset="-122"/>
                <a:cs typeface="Courier New" pitchFamily="34" charset="-120"/>
              </a:rPr>
              <a:t>'bcc'</a:t>
            </a:r>
            <a:r>
              <a:rPr lang="en-US" sz="750" dirty="0">
                <a:solidFill>
                  <a:srgbClr val="E6EDF3"/>
                </a:solidFill>
                <a:latin typeface="Courier New" pitchFamily="34" charset="0"/>
                <a:ea typeface="Courier New" pitchFamily="34" charset="-122"/>
                <a:cs typeface="Courier New" pitchFamily="34" charset="-120"/>
              </a:rPr>
              <a:t>])</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prints </a:t>
            </a:r>
            <a:r>
              <a:rPr lang="en-US" sz="750" dirty="0">
                <a:solidFill>
                  <a:srgbClr val="7EE787"/>
                </a:solidFill>
                <a:latin typeface="Courier New" pitchFamily="34" charset="0"/>
                <a:ea typeface="Courier New" pitchFamily="34" charset="-122"/>
                <a:cs typeface="Courier New" pitchFamily="34" charset="-120"/>
              </a:rPr>
              <a:t>POST users/me/messages/send?alt=json | body keys ['raw']</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headers: ['to', 'from', 'subject']</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attachments: ['a.jpg', 'b.mp3', 'setup.exe']</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cc: f@example.com | Bcc header in the message: o@example.com</a:t>
            </a:r>
            <a:endParaRPr lang="en-US" sz="750" dirty="0"/>
          </a:p>
        </p:txBody>
      </p:sp>
      <p:sp>
        <p:nvSpPr>
          <p:cNvPr id="9" name="Shape 7"/>
          <p:cNvSpPr/>
          <p:nvPr/>
        </p:nvSpPr>
        <p:spPr>
          <a:xfrm>
            <a:off x="5998464" y="1371600"/>
            <a:ext cx="2688336" cy="1691640"/>
          </a:xfrm>
          <a:prstGeom prst="roundRect">
            <a:avLst>
              <a:gd name="adj" fmla="val 5405"/>
            </a:avLst>
          </a:prstGeom>
          <a:solidFill>
            <a:srgbClr val="F2ECE1"/>
          </a:solidFill>
          <a:ln w="12700">
            <a:solidFill>
              <a:srgbClr val="F2ECE1"/>
            </a:solidFill>
            <a:prstDash val="solid"/>
          </a:ln>
        </p:spPr>
      </p:sp>
      <p:sp>
        <p:nvSpPr>
          <p:cNvPr id="10" name="Text 8"/>
          <p:cNvSpPr txBox="1"/>
          <p:nvPr/>
        </p:nvSpPr>
        <p:spPr>
          <a:xfrm>
            <a:off x="6181344" y="1490472"/>
            <a:ext cx="2322576" cy="347472"/>
          </a:xfrm>
          <a:prstGeom prst="rect">
            <a:avLst/>
          </a:prstGeom>
          <a:noFill/>
          <a:ln/>
        </p:spPr>
        <p:txBody>
          <a:bodyPr wrap="square" lIns="0" tIns="0" rIns="0" bIns="0" rtlCol="0" anchor="ctr"/>
          <a:lstStyle/>
          <a:p>
            <a:pPr indent="0" marL="0">
              <a:buNone/>
            </a:pPr>
            <a:r>
              <a:rPr lang="en-US" sz="1600" b="1" dirty="0">
                <a:solidFill>
                  <a:srgbClr val="2F6D62"/>
                </a:solidFill>
                <a:latin typeface="Cambria" pitchFamily="34" charset="0"/>
                <a:ea typeface="Cambria" pitchFamily="34" charset="-122"/>
                <a:cs typeface="Cambria" pitchFamily="34" charset="-120"/>
              </a:rPr>
              <a:t>Bcc is in the text</a:t>
            </a:r>
            <a:endParaRPr lang="en-US" sz="1600" dirty="0"/>
          </a:p>
        </p:txBody>
      </p:sp>
      <p:sp>
        <p:nvSpPr>
          <p:cNvPr id="11" name="Text 9"/>
          <p:cNvSpPr txBox="1"/>
          <p:nvPr/>
        </p:nvSpPr>
        <p:spPr>
          <a:xfrm>
            <a:off x="6181344" y="1874520"/>
            <a:ext cx="2322576" cy="1051560"/>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ezgmail writes the bcc argument into the message as a Bcc header, because the API takes the whole message.</a:t>
            </a:r>
            <a:endParaRPr lang="en-US" sz="950" dirty="0"/>
          </a:p>
        </p:txBody>
      </p:sp>
      <p:sp>
        <p:nvSpPr>
          <p:cNvPr id="12" name="Shape 10"/>
          <p:cNvSpPr/>
          <p:nvPr/>
        </p:nvSpPr>
        <p:spPr>
          <a:xfrm>
            <a:off x="5998464" y="3154680"/>
            <a:ext cx="2688336" cy="1371600"/>
          </a:xfrm>
          <a:prstGeom prst="roundRect">
            <a:avLst>
              <a:gd name="adj" fmla="val 6667"/>
            </a:avLst>
          </a:prstGeom>
          <a:solidFill>
            <a:srgbClr val="F2ECE1"/>
          </a:solidFill>
          <a:ln w="12700">
            <a:solidFill>
              <a:srgbClr val="F2ECE1"/>
            </a:solidFill>
            <a:prstDash val="solid"/>
          </a:ln>
        </p:spPr>
      </p:sp>
      <p:sp>
        <p:nvSpPr>
          <p:cNvPr id="13" name="Text 11"/>
          <p:cNvSpPr txBox="1"/>
          <p:nvPr/>
        </p:nvSpPr>
        <p:spPr>
          <a:xfrm>
            <a:off x="6181344" y="3273552"/>
            <a:ext cx="2322576" cy="347472"/>
          </a:xfrm>
          <a:prstGeom prst="rect">
            <a:avLst/>
          </a:prstGeom>
          <a:noFill/>
          <a:ln/>
        </p:spPr>
        <p:txBody>
          <a:bodyPr wrap="square" lIns="0" tIns="0" rIns="0" bIns="0" rtlCol="0" anchor="ctr"/>
          <a:lstStyle/>
          <a:p>
            <a:pPr indent="0" marL="0">
              <a:buNone/>
            </a:pPr>
            <a:r>
              <a:rPr lang="en-US" sz="1600" b="1" dirty="0">
                <a:solidFill>
                  <a:srgbClr val="D97A14"/>
                </a:solidFill>
                <a:latin typeface="Cambria" pitchFamily="34" charset="0"/>
                <a:ea typeface="Cambria" pitchFamily="34" charset="-122"/>
                <a:cs typeface="Cambria" pitchFamily="34" charset="-120"/>
              </a:rPr>
              <a:t>NOT EXECUTED here</a:t>
            </a:r>
            <a:endParaRPr lang="en-US" sz="1600" dirty="0"/>
          </a:p>
        </p:txBody>
      </p:sp>
      <p:sp>
        <p:nvSpPr>
          <p:cNvPr id="14" name="Text 12"/>
          <p:cNvSpPr txBox="1"/>
          <p:nvPr/>
        </p:nvSpPr>
        <p:spPr>
          <a:xfrm>
            <a:off x="6181344" y="3657600"/>
            <a:ext cx="2322576" cy="731520"/>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Whether Gmail accepts setup.exe or a .zip, and what it does with that Bcc header, were not run: no Gmail account was used.</a:t>
            </a:r>
            <a:endParaRPr lang="en-US" sz="950" dirty="0"/>
          </a:p>
        </p:txBody>
      </p:sp>
      <p:sp>
        <p:nvSpPr>
          <p:cNvPr id="15" name="Text 13"/>
          <p:cNvSpPr txBox="1"/>
          <p:nvPr/>
        </p:nvSpPr>
        <p:spPr>
          <a:xfrm>
            <a:off x="457200" y="3895344"/>
            <a:ext cx="5312664" cy="429768"/>
          </a:xfrm>
          <a:prstGeom prst="rect">
            <a:avLst/>
          </a:prstGeom>
          <a:noFill/>
          <a:ln/>
        </p:spPr>
        <p:txBody>
          <a:bodyPr wrap="square" lIns="0" tIns="0" rIns="0" bIns="0" rtlCol="0" anchor="t"/>
          <a:lstStyle/>
          <a:p>
            <a:pPr indent="0" marL="0">
              <a:buNone/>
            </a:pPr>
            <a:r>
              <a:rPr lang="en-US" sz="850" i="1" dirty="0">
                <a:solidFill>
                  <a:srgbClr val="6E655C"/>
                </a:solidFill>
                <a:latin typeface="Calibri" pitchFamily="34" charset="0"/>
                <a:ea typeface="Calibri" pitchFamily="34" charset="-122"/>
                <a:cs typeface="Calibri" pitchFamily="34" charset="-120"/>
              </a:rPr>
              <a:t>Stand-in for Gmail: the real ezgmail on a local stand-in for Google's server, replies written by this study; Gmail was never reached. Lines 1 to 33 (imports, the Gmail stand-in and a comment) are not shown.</a:t>
            </a:r>
            <a:endParaRPr lang="en-US" sz="850" dirty="0"/>
          </a:p>
        </p:txBody>
      </p:sp>
      <p:sp>
        <p:nvSpPr>
          <p:cNvPr id="16" name="Shape 14"/>
          <p:cNvSpPr/>
          <p:nvPr/>
        </p:nvSpPr>
        <p:spPr>
          <a:xfrm>
            <a:off x="457200" y="4636008"/>
            <a:ext cx="91440" cy="310896"/>
          </a:xfrm>
          <a:prstGeom prst="rect">
            <a:avLst/>
          </a:prstGeom>
          <a:solidFill>
            <a:srgbClr val="D97A14"/>
          </a:solidFill>
          <a:ln w="12700">
            <a:solidFill>
              <a:srgbClr val="D97A14"/>
            </a:solidFill>
            <a:prstDash val="solid"/>
          </a:ln>
        </p:spPr>
      </p:sp>
      <p:sp>
        <p:nvSpPr>
          <p:cNvPr id="17" name="Text 1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send() takes a list of files; the library does not vet them.</a:t>
            </a:r>
            <a:endParaRPr lang="en-US" sz="1350" dirty="0"/>
          </a:p>
        </p:txBody>
      </p:sp>
      <p:sp>
        <p:nvSpPr>
          <p:cNvPr id="18"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6 / 26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Reading: threads, messages and the zone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Printing a thread fetches its messages; a timestamp is read in the computer's zone</a:t>
            </a:r>
            <a:endParaRPr lang="en-US" sz="1300" dirty="0"/>
          </a:p>
        </p:txBody>
      </p:sp>
      <p:sp>
        <p:nvSpPr>
          <p:cNvPr id="6" name="Text 4"/>
          <p:cNvSpPr txBox="1"/>
          <p:nvPr/>
        </p:nvSpPr>
        <p:spPr>
          <a:xfrm>
            <a:off x="457200" y="1143000"/>
            <a:ext cx="4700016"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program readCut_v1_0_0.py, lines 34 to 46 of 46</a:t>
            </a:r>
            <a:endParaRPr lang="en-US" sz="1000" dirty="0"/>
          </a:p>
        </p:txBody>
      </p:sp>
      <p:sp>
        <p:nvSpPr>
          <p:cNvPr id="7" name="Shape 5"/>
          <p:cNvSpPr/>
          <p:nvPr/>
        </p:nvSpPr>
        <p:spPr>
          <a:xfrm>
            <a:off x="457200" y="1417320"/>
            <a:ext cx="4700016" cy="2679192"/>
          </a:xfrm>
          <a:prstGeom prst="roundRect">
            <a:avLst>
              <a:gd name="adj" fmla="val 3413"/>
            </a:avLst>
          </a:prstGeom>
          <a:solidFill>
            <a:srgbClr val="23272E"/>
          </a:solidFill>
          <a:ln w="12700">
            <a:solidFill>
              <a:srgbClr val="23272E"/>
            </a:solidFill>
            <a:prstDash val="solid"/>
          </a:ln>
        </p:spPr>
      </p:sp>
      <p:sp>
        <p:nvSpPr>
          <p:cNvPr id="8" name="Text 6"/>
          <p:cNvSpPr txBox="1"/>
          <p:nvPr/>
        </p:nvSpPr>
        <p:spPr>
          <a:xfrm>
            <a:off x="640080" y="1536192"/>
            <a:ext cx="4334256" cy="2441448"/>
          </a:xfrm>
          <a:prstGeom prst="rect">
            <a:avLst/>
          </a:prstGeom>
          <a:noFill/>
          <a:ln/>
        </p:spPr>
        <p:txBody>
          <a:bodyPr wrap="square" lIns="0" tIns="0" rIns="0" bIns="0" rtlCol="0" anchor="t"/>
          <a:lstStyle/>
          <a:p>
            <a:pPr indent="0" marL="0">
              <a:buNone/>
            </a:pPr>
            <a:r>
              <a:rPr lang="en-US" sz="700" dirty="0">
                <a:solidFill>
                  <a:srgbClr val="E6EDF3"/>
                </a:solidFill>
                <a:latin typeface="Courier New" pitchFamily="34" charset="0"/>
                <a:ea typeface="Courier New" pitchFamily="34" charset="-122"/>
                <a:cs typeface="Courier New" pitchFamily="34" charset="-120"/>
              </a:rPr>
              <a:t>th = ezgmail.GmailThread({</a:t>
            </a:r>
            <a:r>
              <a:rPr lang="en-US" sz="700" dirty="0">
                <a:solidFill>
                  <a:srgbClr val="9ECBFF"/>
                </a:solidFill>
                <a:latin typeface="Courier New" pitchFamily="34" charset="0"/>
                <a:ea typeface="Courier New" pitchFamily="34" charset="-122"/>
                <a:cs typeface="Courier New" pitchFamily="34" charset="-120"/>
              </a:rPr>
              <a:t>'id'</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'T1'</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'snippet'</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'Do you want to watch?'</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'historyId'</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'9'</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h = gm({</a:t>
            </a:r>
            <a:r>
              <a:rPr lang="en-US" sz="700" dirty="0">
                <a:solidFill>
                  <a:srgbClr val="9ECBFF"/>
                </a:solidFill>
                <a:latin typeface="Courier New" pitchFamily="34" charset="0"/>
                <a:ea typeface="Courier New" pitchFamily="34" charset="-122"/>
                <a:cs typeface="Courier New" pitchFamily="34" charset="-120"/>
              </a:rPr>
              <a:t>'id'</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'T1'</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'messages'</a:t>
            </a:r>
            <a:r>
              <a:rPr lang="en-US" sz="700" dirty="0">
                <a:solidFill>
                  <a:srgbClr val="E6EDF3"/>
                </a:solidFill>
                <a:latin typeface="Courier New" pitchFamily="34" charset="0"/>
                <a:ea typeface="Courier New" pitchFamily="34" charset="-122"/>
                <a:cs typeface="Courier New" pitchFamily="34" charset="-120"/>
              </a:rPr>
              <a:t>: [one(), one(</a:t>
            </a:r>
            <a:r>
              <a:rPr lang="en-US" sz="700" dirty="0">
                <a:solidFill>
                  <a:srgbClr val="9ECBFF"/>
                </a:solidFill>
                <a:latin typeface="Courier New" pitchFamily="34" charset="0"/>
                <a:ea typeface="Courier New" pitchFamily="34" charset="-122"/>
                <a:cs typeface="Courier New" pitchFamily="34" charset="-120"/>
              </a:rPr>
              <a:t>'Re: RoboCop'</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text = str(th)</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'requests made by str(thread):'</a:t>
            </a:r>
            <a:r>
              <a:rPr lang="en-US" sz="700" dirty="0">
                <a:solidFill>
                  <a:srgbClr val="E6EDF3"/>
                </a:solidFill>
                <a:latin typeface="Courier New" pitchFamily="34" charset="0"/>
                <a:ea typeface="Courier New" pitchFamily="34" charset="-122"/>
                <a:cs typeface="Courier New" pitchFamily="34" charset="-120"/>
              </a:rPr>
              <a:t>, len(h.log))</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print(text)</a:t>
            </a:r>
            <a:endParaRPr lang="en-US" sz="700" dirty="0"/>
          </a:p>
          <a:p>
            <a:pPr indent="0" marL="0">
              <a:buNone/>
            </a:pP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z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'UTC'</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'America/Chicago'</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'Europe/Istanbul'</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os.environ[</a:t>
            </a:r>
            <a:r>
              <a:rPr lang="en-US" sz="700" dirty="0">
                <a:solidFill>
                  <a:srgbClr val="9ECBFF"/>
                </a:solidFill>
                <a:latin typeface="Courier New" pitchFamily="34" charset="0"/>
                <a:ea typeface="Courier New" pitchFamily="34" charset="-122"/>
                <a:cs typeface="Courier New" pitchFamily="34" charset="-120"/>
              </a:rPr>
              <a:t>'TZ'</a:t>
            </a:r>
            <a:r>
              <a:rPr lang="en-US" sz="700" dirty="0">
                <a:solidFill>
                  <a:srgbClr val="E6EDF3"/>
                </a:solidFill>
                <a:latin typeface="Courier New" pitchFamily="34" charset="0"/>
                <a:ea typeface="Courier New" pitchFamily="34" charset="-122"/>
                <a:cs typeface="Courier New" pitchFamily="34" charset="-120"/>
              </a:rPr>
              <a:t>] = z; time.tzset()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print(z.ljust(</a:t>
            </a:r>
            <a:r>
              <a:rPr lang="en-US" sz="700" dirty="0">
                <a:solidFill>
                  <a:srgbClr val="FFD28A"/>
                </a:solidFill>
                <a:latin typeface="Courier New" pitchFamily="34" charset="0"/>
                <a:ea typeface="Courier New" pitchFamily="34" charset="-122"/>
                <a:cs typeface="Courier New" pitchFamily="34" charset="-120"/>
              </a:rPr>
              <a:t>16</a:t>
            </a:r>
            <a:r>
              <a:rPr lang="en-US" sz="700" dirty="0">
                <a:solidFill>
                  <a:srgbClr val="E6EDF3"/>
                </a:solidFill>
                <a:latin typeface="Courier New" pitchFamily="34" charset="0"/>
                <a:ea typeface="Courier New" pitchFamily="34" charset="-122"/>
                <a:cs typeface="Courier New" pitchFamily="34" charset="-120"/>
              </a:rPr>
              <a:t>), ezgmail.GmailMessage(one()).timestamp)</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nm = one()</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hs = nm[</a:t>
            </a:r>
            <a:r>
              <a:rPr lang="en-US" sz="700" dirty="0">
                <a:solidFill>
                  <a:srgbClr val="9ECBFF"/>
                </a:solidFill>
                <a:latin typeface="Courier New" pitchFamily="34" charset="0"/>
                <a:ea typeface="Courier New" pitchFamily="34" charset="-122"/>
                <a:cs typeface="Courier New" pitchFamily="34" charset="-120"/>
              </a:rPr>
              <a:t>'payload'</a:t>
            </a:r>
            <a:r>
              <a:rPr lang="en-US" sz="700" dirty="0">
                <a:solidFill>
                  <a:srgbClr val="E6EDF3"/>
                </a:solidFill>
                <a:latin typeface="Courier New" pitchFamily="34" charset="0"/>
                <a:ea typeface="Courier New" pitchFamily="34" charset="-122"/>
                <a:cs typeface="Courier New" pitchFamily="34" charset="-120"/>
              </a:rPr>
              <a:t>][</a:t>
            </a:r>
            <a:r>
              <a:rPr lang="en-US" sz="700" dirty="0">
                <a:solidFill>
                  <a:srgbClr val="9ECBFF"/>
                </a:solidFill>
                <a:latin typeface="Courier New" pitchFamily="34" charset="0"/>
                <a:ea typeface="Courier New" pitchFamily="34" charset="-122"/>
                <a:cs typeface="Courier New" pitchFamily="34" charset="-120"/>
              </a:rPr>
              <a:t>'headers'</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nm[</a:t>
            </a:r>
            <a:r>
              <a:rPr lang="en-US" sz="700" dirty="0">
                <a:solidFill>
                  <a:srgbClr val="9ECBFF"/>
                </a:solidFill>
                <a:latin typeface="Courier New" pitchFamily="34" charset="0"/>
                <a:ea typeface="Courier New" pitchFamily="34" charset="-122"/>
                <a:cs typeface="Courier New" pitchFamily="34" charset="-120"/>
              </a:rPr>
              <a:t>'payload'</a:t>
            </a:r>
            <a:r>
              <a:rPr lang="en-US" sz="700" dirty="0">
                <a:solidFill>
                  <a:srgbClr val="E6EDF3"/>
                </a:solidFill>
                <a:latin typeface="Courier New" pitchFamily="34" charset="0"/>
                <a:ea typeface="Courier New" pitchFamily="34" charset="-122"/>
                <a:cs typeface="Courier New" pitchFamily="34" charset="-120"/>
              </a:rPr>
              <a:t>][</a:t>
            </a:r>
            <a:r>
              <a:rPr lang="en-US" sz="700" dirty="0">
                <a:solidFill>
                  <a:srgbClr val="9ECBFF"/>
                </a:solidFill>
                <a:latin typeface="Courier New" pitchFamily="34" charset="0"/>
                <a:ea typeface="Courier New" pitchFamily="34" charset="-122"/>
                <a:cs typeface="Courier New" pitchFamily="34" charset="-120"/>
              </a:rPr>
              <a:t>'headers'</a:t>
            </a:r>
            <a:r>
              <a:rPr lang="en-US" sz="700" dirty="0">
                <a:solidFill>
                  <a:srgbClr val="E6EDF3"/>
                </a:solidFill>
                <a:latin typeface="Courier New" pitchFamily="34" charset="0"/>
                <a:ea typeface="Courier New" pitchFamily="34" charset="-122"/>
                <a:cs typeface="Courier New" pitchFamily="34" charset="-120"/>
              </a:rPr>
              <a:t>] = [x </a:t>
            </a: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x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hs </a:t>
            </a:r>
            <a:r>
              <a:rPr lang="en-US" sz="700" b="1" dirty="0">
                <a:solidFill>
                  <a:srgbClr val="F2A860"/>
                </a:solidFill>
                <a:latin typeface="Courier New" pitchFamily="34" charset="0"/>
                <a:ea typeface="Courier New" pitchFamily="34" charset="-122"/>
                <a:cs typeface="Courier New" pitchFamily="34" charset="-120"/>
              </a:rPr>
              <a:t>if</a:t>
            </a:r>
            <a:r>
              <a:rPr lang="en-US" sz="700" dirty="0">
                <a:solidFill>
                  <a:srgbClr val="E6EDF3"/>
                </a:solidFill>
                <a:latin typeface="Courier New" pitchFamily="34" charset="0"/>
                <a:ea typeface="Courier New" pitchFamily="34" charset="-122"/>
                <a:cs typeface="Courier New" pitchFamily="34" charset="-120"/>
              </a:rPr>
              <a:t> x[</a:t>
            </a:r>
            <a:r>
              <a:rPr lang="en-US" sz="700" dirty="0">
                <a:solidFill>
                  <a:srgbClr val="9ECBFF"/>
                </a:solidFill>
                <a:latin typeface="Courier New" pitchFamily="34" charset="0"/>
                <a:ea typeface="Courier New" pitchFamily="34" charset="-122"/>
                <a:cs typeface="Courier New" pitchFamily="34" charset="-120"/>
              </a:rPr>
              <a:t>'name'</a:t>
            </a:r>
            <a:r>
              <a:rPr lang="en-US" sz="700" dirty="0">
                <a:solidFill>
                  <a:srgbClr val="E6EDF3"/>
                </a:solidFill>
                <a:latin typeface="Courier New" pitchFamily="34" charset="0"/>
                <a:ea typeface="Courier New" pitchFamily="34" charset="-122"/>
                <a:cs typeface="Courier New" pitchFamily="34" charset="-120"/>
              </a:rPr>
              <a:t>] != </a:t>
            </a:r>
            <a:r>
              <a:rPr lang="en-US" sz="700" dirty="0">
                <a:solidFill>
                  <a:srgbClr val="9ECBFF"/>
                </a:solidFill>
                <a:latin typeface="Courier New" pitchFamily="34" charset="0"/>
                <a:ea typeface="Courier New" pitchFamily="34" charset="-122"/>
                <a:cs typeface="Courier New" pitchFamily="34" charset="-120"/>
              </a:rPr>
              <a:t>'Subject'</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'no Subject header:'</a:t>
            </a:r>
            <a:r>
              <a:rPr lang="en-US" sz="700" dirty="0">
                <a:solidFill>
                  <a:srgbClr val="E6EDF3"/>
                </a:solidFill>
                <a:latin typeface="Courier New" pitchFamily="34" charset="0"/>
                <a:ea typeface="Courier New" pitchFamily="34" charset="-122"/>
                <a:cs typeface="Courier New" pitchFamily="34" charset="-120"/>
              </a:rPr>
              <a:t>, err(</a:t>
            </a:r>
            <a:r>
              <a:rPr lang="en-US" sz="700" b="1" dirty="0">
                <a:solidFill>
                  <a:srgbClr val="F2A860"/>
                </a:solidFill>
                <a:latin typeface="Courier New" pitchFamily="34" charset="0"/>
                <a:ea typeface="Courier New" pitchFamily="34" charset="-122"/>
                <a:cs typeface="Courier New" pitchFamily="34" charset="-120"/>
              </a:rPr>
              <a:t>lambda</a:t>
            </a:r>
            <a:r>
              <a:rPr lang="en-US" sz="700" dirty="0">
                <a:solidFill>
                  <a:srgbClr val="E6EDF3"/>
                </a:solidFill>
                <a:latin typeface="Courier New" pitchFamily="34" charset="0"/>
                <a:ea typeface="Courier New" pitchFamily="34" charset="-122"/>
                <a:cs typeface="Courier New" pitchFamily="34" charset="-120"/>
              </a:rPr>
              <a:t>: ezgmail.GmailMessage(nm).subject)[</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b="1" dirty="0">
                <a:solidFill>
                  <a:srgbClr val="D97A14"/>
                </a:solidFill>
                <a:latin typeface="Courier New" pitchFamily="34" charset="0"/>
                <a:ea typeface="Courier New" pitchFamily="34" charset="-122"/>
                <a:cs typeface="Courier New" pitchFamily="34" charset="-120"/>
              </a:rPr>
              <a:t>prints </a:t>
            </a:r>
            <a:r>
              <a:rPr lang="en-US" sz="700" dirty="0">
                <a:solidFill>
                  <a:srgbClr val="7EE787"/>
                </a:solidFill>
                <a:latin typeface="Courier New" pitchFamily="34" charset="0"/>
                <a:ea typeface="Courier New" pitchFamily="34" charset="-122"/>
                <a:cs typeface="Courier New" pitchFamily="34" charset="-120"/>
              </a:rPr>
              <a:t>requests made by str(thread): 1</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&lt;GmailThread numMessages=2 snippet='Do you want to watch?'&gt;</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UTC              2026-12-11 14:48:48</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America/Chicago  2026-12-11 08:48:48</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Europe/Istanbul  2026-12-11 17:48:48</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no Subject header: AttributeError</a:t>
            </a:r>
            <a:endParaRPr lang="en-US" sz="700" dirty="0"/>
          </a:p>
        </p:txBody>
      </p:sp>
      <p:sp>
        <p:nvSpPr>
          <p:cNvPr id="9" name="Shape 7"/>
          <p:cNvSpPr/>
          <p:nvPr/>
        </p:nvSpPr>
        <p:spPr>
          <a:xfrm>
            <a:off x="5385816" y="1280160"/>
            <a:ext cx="3300984" cy="1463040"/>
          </a:xfrm>
          <a:prstGeom prst="roundRect">
            <a:avLst>
              <a:gd name="adj" fmla="val 6250"/>
            </a:avLst>
          </a:prstGeom>
          <a:solidFill>
            <a:srgbClr val="F2ECE1"/>
          </a:solidFill>
          <a:ln w="12700">
            <a:solidFill>
              <a:srgbClr val="F2ECE1"/>
            </a:solidFill>
            <a:prstDash val="solid"/>
          </a:ln>
        </p:spPr>
      </p:sp>
      <p:sp>
        <p:nvSpPr>
          <p:cNvPr id="10" name="Text 8"/>
          <p:cNvSpPr txBox="1"/>
          <p:nvPr/>
        </p:nvSpPr>
        <p:spPr>
          <a:xfrm>
            <a:off x="5568696" y="1399032"/>
            <a:ext cx="2935224" cy="347472"/>
          </a:xfrm>
          <a:prstGeom prst="rect">
            <a:avLst/>
          </a:prstGeom>
          <a:noFill/>
          <a:ln/>
        </p:spPr>
        <p:txBody>
          <a:bodyPr wrap="square" lIns="0" tIns="0" rIns="0" bIns="0" rtlCol="0" anchor="ctr"/>
          <a:lstStyle/>
          <a:p>
            <a:pPr indent="0" marL="0">
              <a:buNone/>
            </a:pPr>
            <a:r>
              <a:rPr lang="en-US" sz="1600" b="1" dirty="0">
                <a:solidFill>
                  <a:srgbClr val="D97A14"/>
                </a:solidFill>
                <a:latin typeface="Cambria" pitchFamily="34" charset="0"/>
                <a:ea typeface="Cambria" pitchFamily="34" charset="-122"/>
                <a:cs typeface="Cambria" pitchFamily="34" charset="-120"/>
              </a:rPr>
              <a:t>The book prints another</a:t>
            </a:r>
            <a:endParaRPr lang="en-US" sz="1600" dirty="0"/>
          </a:p>
        </p:txBody>
      </p:sp>
      <p:sp>
        <p:nvSpPr>
          <p:cNvPr id="11" name="Text 9"/>
          <p:cNvSpPr txBox="1"/>
          <p:nvPr/>
        </p:nvSpPr>
        <p:spPr>
          <a:xfrm>
            <a:off x="5568696" y="1783080"/>
            <a:ext cx="2935224" cy="822960"/>
          </a:xfrm>
          <a:prstGeom prst="rect">
            <a:avLst/>
          </a:prstGeom>
          <a:noFill/>
          <a:ln/>
        </p:spPr>
        <p:txBody>
          <a:bodyPr wrap="square" lIns="0" tIns="0" rIns="0" bIns="0" rtlCol="0" anchor="t"/>
          <a:lstStyle/>
          <a:p>
            <a:pPr indent="0" marL="0">
              <a:buNone/>
            </a:pPr>
            <a:r>
              <a:rPr lang="en-US" sz="900" dirty="0">
                <a:solidFill>
                  <a:srgbClr val="2B2622"/>
                </a:solidFill>
                <a:latin typeface="Calibri" pitchFamily="34" charset="0"/>
                <a:ea typeface="Calibri" pitchFamily="34" charset="-122"/>
                <a:cs typeface="Calibri" pitchFamily="34" charset="-120"/>
              </a:rPr>
              <a:t>The chapter shows a GmailThread with len=2 and a snippet with no opening quote; ezgmail 2026.4.28 prints numMessages=2 and quotes the snippet.</a:t>
            </a:r>
            <a:endParaRPr lang="en-US" sz="900" dirty="0"/>
          </a:p>
        </p:txBody>
      </p:sp>
      <p:sp>
        <p:nvSpPr>
          <p:cNvPr id="12" name="Shape 10"/>
          <p:cNvSpPr/>
          <p:nvPr/>
        </p:nvSpPr>
        <p:spPr>
          <a:xfrm>
            <a:off x="5385816" y="2788920"/>
            <a:ext cx="3300984" cy="1188720"/>
          </a:xfrm>
          <a:prstGeom prst="roundRect">
            <a:avLst>
              <a:gd name="adj" fmla="val 7692"/>
            </a:avLst>
          </a:prstGeom>
          <a:solidFill>
            <a:srgbClr val="F2ECE1"/>
          </a:solidFill>
          <a:ln w="12700">
            <a:solidFill>
              <a:srgbClr val="F2ECE1"/>
            </a:solidFill>
            <a:prstDash val="solid"/>
          </a:ln>
        </p:spPr>
      </p:sp>
      <p:sp>
        <p:nvSpPr>
          <p:cNvPr id="13" name="Text 11"/>
          <p:cNvSpPr txBox="1"/>
          <p:nvPr/>
        </p:nvSpPr>
        <p:spPr>
          <a:xfrm>
            <a:off x="5568696" y="2907792"/>
            <a:ext cx="2935224" cy="347472"/>
          </a:xfrm>
          <a:prstGeom prst="rect">
            <a:avLst/>
          </a:prstGeom>
          <a:noFill/>
          <a:ln/>
        </p:spPr>
        <p:txBody>
          <a:bodyPr wrap="square" lIns="0" tIns="0" rIns="0" bIns="0" rtlCol="0" anchor="ctr"/>
          <a:lstStyle/>
          <a:p>
            <a:pPr indent="0" marL="0">
              <a:buNone/>
            </a:pPr>
            <a:r>
              <a:rPr lang="en-US" sz="1600" b="1" dirty="0">
                <a:solidFill>
                  <a:srgbClr val="2F6D62"/>
                </a:solidFill>
                <a:latin typeface="Cambria" pitchFamily="34" charset="0"/>
                <a:ea typeface="Cambria" pitchFamily="34" charset="-122"/>
                <a:cs typeface="Cambria" pitchFamily="34" charset="-120"/>
              </a:rPr>
              <a:t>A timestamp has no zone</a:t>
            </a:r>
            <a:endParaRPr lang="en-US" sz="1600" dirty="0"/>
          </a:p>
        </p:txBody>
      </p:sp>
      <p:sp>
        <p:nvSpPr>
          <p:cNvPr id="14" name="Text 12"/>
          <p:cNvSpPr txBox="1"/>
          <p:nvPr/>
        </p:nvSpPr>
        <p:spPr>
          <a:xfrm>
            <a:off x="5568696" y="3291840"/>
            <a:ext cx="2935224" cy="548640"/>
          </a:xfrm>
          <a:prstGeom prst="rect">
            <a:avLst/>
          </a:prstGeom>
          <a:noFill/>
          <a:ln/>
        </p:spPr>
        <p:txBody>
          <a:bodyPr wrap="square" lIns="0" tIns="0" rIns="0" bIns="0" rtlCol="0" anchor="t"/>
          <a:lstStyle/>
          <a:p>
            <a:pPr indent="0" marL="0">
              <a:buNone/>
            </a:pPr>
            <a:r>
              <a:rPr lang="en-US" sz="900" dirty="0">
                <a:solidFill>
                  <a:srgbClr val="2B2622"/>
                </a:solidFill>
                <a:latin typeface="Calibri" pitchFamily="34" charset="0"/>
                <a:ea typeface="Calibri" pitchFamily="34" charset="-122"/>
                <a:cs typeface="Calibri" pitchFamily="34" charset="-120"/>
              </a:rPr>
              <a:t>ezgmail builds it as a naive datetime from internalDate, so the same message reads three ways. The book's 2026-12-20 21:28:32 holds only at UTC-6.</a:t>
            </a:r>
            <a:endParaRPr lang="en-US" sz="900" dirty="0"/>
          </a:p>
        </p:txBody>
      </p:sp>
      <p:sp>
        <p:nvSpPr>
          <p:cNvPr id="15" name="Text 13"/>
          <p:cNvSpPr txBox="1"/>
          <p:nvPr/>
        </p:nvSpPr>
        <p:spPr>
          <a:xfrm>
            <a:off x="457200" y="4151376"/>
            <a:ext cx="8229600" cy="301752"/>
          </a:xfrm>
          <a:prstGeom prst="rect">
            <a:avLst/>
          </a:prstGeom>
          <a:noFill/>
          <a:ln/>
        </p:spPr>
        <p:txBody>
          <a:bodyPr wrap="square" lIns="0" tIns="0" rIns="0" bIns="0" rtlCol="0" anchor="t"/>
          <a:lstStyle/>
          <a:p>
            <a:pPr indent="0" marL="0">
              <a:buNone/>
            </a:pPr>
            <a:r>
              <a:rPr lang="en-US" sz="850" i="1" dirty="0">
                <a:solidFill>
                  <a:srgbClr val="6E655C"/>
                </a:solidFill>
                <a:latin typeface="Calibri" pitchFamily="34" charset="0"/>
                <a:ea typeface="Calibri" pitchFamily="34" charset="-122"/>
                <a:cs typeface="Calibri" pitchFamily="34" charset="-120"/>
              </a:rPr>
              <a:t>Stand-in for Gmail: the real ezgmail on a local stand-in for Google's server, replies written by this study; Gmail was never reached. Lines 1 to 33 (imports, the Gmail stand-in and a comment) are not shown.</a:t>
            </a:r>
            <a:endParaRPr lang="en-US" sz="850" dirty="0"/>
          </a:p>
        </p:txBody>
      </p:sp>
      <p:sp>
        <p:nvSpPr>
          <p:cNvPr id="16" name="Shape 14"/>
          <p:cNvSpPr/>
          <p:nvPr/>
        </p:nvSpPr>
        <p:spPr>
          <a:xfrm>
            <a:off x="457200" y="4636008"/>
            <a:ext cx="91440" cy="310896"/>
          </a:xfrm>
          <a:prstGeom prst="rect">
            <a:avLst/>
          </a:prstGeom>
          <a:solidFill>
            <a:srgbClr val="D97A14"/>
          </a:solidFill>
          <a:ln w="12700">
            <a:solidFill>
              <a:srgbClr val="D97A14"/>
            </a:solidFill>
            <a:prstDash val="solid"/>
          </a:ln>
        </p:spPr>
      </p:sp>
      <p:sp>
        <p:nvSpPr>
          <p:cNvPr id="17" name="Text 1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Reading a thread costs a request; a timestamp depends on the zone.</a:t>
            </a:r>
            <a:endParaRPr lang="en-US" sz="1350" dirty="0"/>
          </a:p>
        </p:txBody>
      </p:sp>
      <p:sp>
        <p:nvSpPr>
          <p:cNvPr id="18"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7 / 26</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Replies, search, quoted text, downloads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reply keeps the thread id only; one quoting form is cut; a file name can be a path</a:t>
            </a:r>
            <a:endParaRPr lang="en-US" sz="1300" dirty="0"/>
          </a:p>
        </p:txBody>
      </p:sp>
      <p:sp>
        <p:nvSpPr>
          <p:cNvPr id="6" name="Text 4"/>
          <p:cNvSpPr txBox="1"/>
          <p:nvPr/>
        </p:nvSpPr>
        <p:spPr>
          <a:xfrm>
            <a:off x="457200" y="1143000"/>
            <a:ext cx="4142232"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program replyCut_v1_0_0.py, lines 34 to 46 of 46</a:t>
            </a:r>
            <a:endParaRPr lang="en-US" sz="1000" dirty="0"/>
          </a:p>
        </p:txBody>
      </p:sp>
      <p:sp>
        <p:nvSpPr>
          <p:cNvPr id="7" name="Shape 5"/>
          <p:cNvSpPr/>
          <p:nvPr/>
        </p:nvSpPr>
        <p:spPr>
          <a:xfrm>
            <a:off x="457200" y="1417320"/>
            <a:ext cx="4142232" cy="2679192"/>
          </a:xfrm>
          <a:prstGeom prst="roundRect">
            <a:avLst>
              <a:gd name="adj" fmla="val 3413"/>
            </a:avLst>
          </a:prstGeom>
          <a:solidFill>
            <a:srgbClr val="23272E"/>
          </a:solidFill>
          <a:ln w="12700">
            <a:solidFill>
              <a:srgbClr val="23272E"/>
            </a:solidFill>
            <a:prstDash val="solid"/>
          </a:ln>
        </p:spPr>
      </p:sp>
      <p:sp>
        <p:nvSpPr>
          <p:cNvPr id="8" name="Text 6"/>
          <p:cNvSpPr txBox="1"/>
          <p:nvPr/>
        </p:nvSpPr>
        <p:spPr>
          <a:xfrm>
            <a:off x="640080" y="1536192"/>
            <a:ext cx="3776472" cy="2441448"/>
          </a:xfrm>
          <a:prstGeom prst="rect">
            <a:avLst/>
          </a:prstGeom>
          <a:noFill/>
          <a:ln/>
        </p:spPr>
        <p:txBody>
          <a:bodyPr wrap="square" lIns="0" tIns="0" rIns="0" bIns="0" rtlCol="0" anchor="t"/>
          <a:lstStyle/>
          <a:p>
            <a:pPr indent="0" marL="0">
              <a:buNone/>
            </a:pPr>
            <a:r>
              <a:rPr lang="en-US" sz="700" dirty="0">
                <a:solidFill>
                  <a:srgbClr val="E6EDF3"/>
                </a:solidFill>
                <a:latin typeface="Courier New" pitchFamily="34" charset="0"/>
                <a:ea typeface="Courier New" pitchFamily="34" charset="-122"/>
                <a:cs typeface="Courier New" pitchFamily="34" charset="-120"/>
              </a:rPr>
              <a:t>src = ezgmail.GmailMessage(one()); h = gm({}, {}, {}, {})</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src.reply(</a:t>
            </a:r>
            <a:r>
              <a:rPr lang="en-US" sz="700" dirty="0">
                <a:solidFill>
                  <a:srgbClr val="9ECBFF"/>
                </a:solidFill>
                <a:latin typeface="Courier New" pitchFamily="34" charset="0"/>
                <a:ea typeface="Courier New" pitchFamily="34" charset="-122"/>
                <a:cs typeface="Courier New" pitchFamily="34" charset="-120"/>
              </a:rPr>
              <a:t>'Yes, Saturday works.'</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body = json.loads(h.log[</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a:t>
            </a:r>
            <a:r>
              <a:rPr lang="en-US" sz="700" dirty="0">
                <a:solidFill>
                  <a:srgbClr val="FFD28A"/>
                </a:solidFill>
                <a:latin typeface="Courier New" pitchFamily="34" charset="0"/>
                <a:ea typeface="Courier New" pitchFamily="34" charset="-122"/>
                <a:cs typeface="Courier New" pitchFamily="34" charset="-120"/>
              </a:rPr>
              <a:t>2</a:t>
            </a:r>
            <a:r>
              <a:rPr lang="en-US" sz="700" dirty="0">
                <a:solidFill>
                  <a:srgbClr val="E6EDF3"/>
                </a:solidFill>
                <a:latin typeface="Courier New" pitchFamily="34" charset="0"/>
                <a:ea typeface="Courier New" pitchFamily="34" charset="-122"/>
                <a:cs typeface="Courier New" pitchFamily="34" charset="-120"/>
              </a:rPr>
              <a:t>]); m = raw_of(h, </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print(list(body), body[</a:t>
            </a:r>
            <a:r>
              <a:rPr lang="en-US" sz="700" dirty="0">
                <a:solidFill>
                  <a:srgbClr val="9ECBFF"/>
                </a:solidFill>
                <a:latin typeface="Courier New" pitchFamily="34" charset="0"/>
                <a:ea typeface="Courier New" pitchFamily="34" charset="-122"/>
                <a:cs typeface="Courier New" pitchFamily="34" charset="-120"/>
              </a:rPr>
              <a:t>'threadId'</a:t>
            </a:r>
            <a:r>
              <a:rPr lang="en-US" sz="700" dirty="0">
                <a:solidFill>
                  <a:srgbClr val="E6EDF3"/>
                </a:solidFill>
                <a:latin typeface="Courier New" pitchFamily="34" charset="0"/>
                <a:ea typeface="Courier New" pitchFamily="34" charset="-122"/>
                <a:cs typeface="Courier New" pitchFamily="34" charset="-120"/>
              </a:rPr>
              <a:t>], m[</a:t>
            </a:r>
            <a:r>
              <a:rPr lang="en-US" sz="700" dirty="0">
                <a:solidFill>
                  <a:srgbClr val="9ECBFF"/>
                </a:solidFill>
                <a:latin typeface="Courier New" pitchFamily="34" charset="0"/>
                <a:ea typeface="Courier New" pitchFamily="34" charset="-122"/>
                <a:cs typeface="Courier New" pitchFamily="34" charset="-120"/>
              </a:rPr>
              <a:t>'subject'</a:t>
            </a:r>
            <a:r>
              <a:rPr lang="en-US" sz="700" dirty="0">
                <a:solidFill>
                  <a:srgbClr val="E6EDF3"/>
                </a:solidFill>
                <a:latin typeface="Courier New" pitchFamily="34" charset="0"/>
                <a:ea typeface="Courier New" pitchFamily="34" charset="-122"/>
                <a:cs typeface="Courier New" pitchFamily="34" charset="-120"/>
              </a:rPr>
              <a:t>], m[</a:t>
            </a:r>
            <a:r>
              <a:rPr lang="en-US" sz="700" dirty="0">
                <a:solidFill>
                  <a:srgbClr val="9ECBFF"/>
                </a:solidFill>
                <a:latin typeface="Courier New" pitchFamily="34" charset="0"/>
                <a:ea typeface="Courier New" pitchFamily="34" charset="-122"/>
                <a:cs typeface="Courier New" pitchFamily="34" charset="-120"/>
              </a:rPr>
              <a:t>'in-reply-to'</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'replyAll:'</a:t>
            </a:r>
            <a:r>
              <a:rPr lang="en-US" sz="700" dirty="0">
                <a:solidFill>
                  <a:srgbClr val="E6EDF3"/>
                </a:solidFill>
                <a:latin typeface="Courier New" pitchFamily="34" charset="0"/>
                <a:ea typeface="Courier New" pitchFamily="34" charset="-122"/>
                <a:cs typeface="Courier New" pitchFamily="34" charset="-120"/>
              </a:rPr>
              <a:t>, src.replyAll(</a:t>
            </a:r>
            <a:r>
              <a:rPr lang="en-US" sz="700" dirty="0">
                <a:solidFill>
                  <a:srgbClr val="9ECBFF"/>
                </a:solidFill>
                <a:latin typeface="Courier New" pitchFamily="34" charset="0"/>
                <a:ea typeface="Courier New" pitchFamily="34" charset="-122"/>
                <a:cs typeface="Courier New" pitchFamily="34" charset="-120"/>
              </a:rPr>
              <a:t>'x'</a:t>
            </a:r>
            <a:r>
              <a:rPr lang="en-US" sz="700" dirty="0">
                <a:solidFill>
                  <a:srgbClr val="E6EDF3"/>
                </a:solidFill>
                <a:latin typeface="Courier New" pitchFamily="34" charset="0"/>
                <a:ea typeface="Courier New" pitchFamily="34" charset="-122"/>
                <a:cs typeface="Courier New" pitchFamily="34" charset="-120"/>
              </a:rPr>
              <a:t>), len(h.log))</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ezgmail.unread(); ezgmail.recent()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ezgmail.search(</a:t>
            </a:r>
            <a:r>
              <a:rPr lang="en-US" sz="700" dirty="0">
                <a:solidFill>
                  <a:srgbClr val="9ECBFF"/>
                </a:solidFill>
                <a:latin typeface="Courier New" pitchFamily="34" charset="0"/>
                <a:ea typeface="Courier New" pitchFamily="34" charset="-122"/>
                <a:cs typeface="Courier New" pitchFamily="34" charset="-120"/>
              </a:rPr>
              <a:t>'has:attachment'</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r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h.log[</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print(r[</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].split(</a:t>
            </a:r>
            <a:r>
              <a:rPr lang="en-US" sz="700" dirty="0">
                <a:solidFill>
                  <a:srgbClr val="9ECBFF"/>
                </a:solidFill>
                <a:latin typeface="Courier New" pitchFamily="34" charset="0"/>
                <a:ea typeface="Courier New" pitchFamily="34" charset="-122"/>
                <a:cs typeface="Courier New" pitchFamily="34" charset="-120"/>
              </a:rPr>
              <a:t>'?'</a:t>
            </a:r>
            <a:r>
              <a:rPr lang="en-US" sz="700" dirty="0">
                <a:solidFill>
                  <a:srgbClr val="E6EDF3"/>
                </a:solidFill>
                <a:latin typeface="Courier New" pitchFamily="34" charset="0"/>
                <a:ea typeface="Courier New" pitchFamily="34" charset="-122"/>
                <a:cs typeface="Courier New" pitchFamily="34" charset="-120"/>
              </a:rPr>
              <a:t>)[</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].replace(</a:t>
            </a:r>
            <a:r>
              <a:rPr lang="en-US" sz="700" dirty="0">
                <a:solidFill>
                  <a:srgbClr val="9ECBFF"/>
                </a:solidFill>
                <a:latin typeface="Courier New" pitchFamily="34" charset="0"/>
                <a:ea typeface="Courier New" pitchFamily="34" charset="-122"/>
                <a:cs typeface="Courier New" pitchFamily="34" charset="-120"/>
              </a:rPr>
              <a:t>'&amp;alt=json'</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q1 = </a:t>
            </a:r>
            <a:r>
              <a:rPr lang="en-US" sz="700" dirty="0">
                <a:solidFill>
                  <a:srgbClr val="9ECBFF"/>
                </a:solidFill>
                <a:latin typeface="Courier New" pitchFamily="34" charset="0"/>
                <a:ea typeface="Courier New" pitchFamily="34" charset="-122"/>
                <a:cs typeface="Courier New" pitchFamily="34" charset="-120"/>
              </a:rPr>
              <a:t>'Ok.\n\nOn Sun, Jan 1, 2018 at 12:00 PM Al &lt;a@b.c&gt; wrote:'</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q2 = </a:t>
            </a:r>
            <a:r>
              <a:rPr lang="en-US" sz="700" dirty="0">
                <a:solidFill>
                  <a:srgbClr val="9ECBFF"/>
                </a:solidFill>
                <a:latin typeface="Courier New" pitchFamily="34" charset="0"/>
                <a:ea typeface="Courier New" pitchFamily="34" charset="-122"/>
                <a:cs typeface="Courier New" pitchFamily="34" charset="-120"/>
              </a:rPr>
              <a:t>'Ok.\n\nOn Sun, 1 Jan 2018 at 12:00, Al &lt;a@b.c&gt; wrote:'</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rq = ezgmail.removeQuotedParts</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print(repr(rq(q1)), </a:t>
            </a:r>
            <a:r>
              <a:rPr lang="en-US" sz="700" dirty="0">
                <a:solidFill>
                  <a:srgbClr val="9ECBFF"/>
                </a:solidFill>
                <a:latin typeface="Courier New" pitchFamily="34" charset="0"/>
                <a:ea typeface="Courier New" pitchFamily="34" charset="-122"/>
                <a:cs typeface="Courier New" pitchFamily="34" charset="-120"/>
              </a:rPr>
              <a:t>'day-month form uncut:'</a:t>
            </a:r>
            <a:r>
              <a:rPr lang="en-US" sz="700" dirty="0">
                <a:solidFill>
                  <a:srgbClr val="E6EDF3"/>
                </a:solidFill>
                <a:latin typeface="Courier New" pitchFamily="34" charset="0"/>
                <a:ea typeface="Courier New" pitchFamily="34" charset="-122"/>
                <a:cs typeface="Courier New" pitchFamily="34" charset="-120"/>
              </a:rPr>
              <a:t>, rq(q2) == q2)</a:t>
            </a:r>
            <a:endParaRPr lang="en-US" sz="700" dirty="0"/>
          </a:p>
          <a:p>
            <a:pPr indent="0" marL="0">
              <a:buNone/>
            </a:pPr>
            <a:r>
              <a:rPr lang="en-US" sz="700" b="1" dirty="0">
                <a:solidFill>
                  <a:srgbClr val="D97A14"/>
                </a:solidFill>
                <a:latin typeface="Courier New" pitchFamily="34" charset="0"/>
                <a:ea typeface="Courier New" pitchFamily="34" charset="-122"/>
                <a:cs typeface="Courier New" pitchFamily="34" charset="-120"/>
              </a:rPr>
              <a:t>prints </a:t>
            </a:r>
            <a:r>
              <a:rPr lang="en-US" sz="700" dirty="0">
                <a:solidFill>
                  <a:srgbClr val="7EE787"/>
                </a:solidFill>
                <a:latin typeface="Courier New" pitchFamily="34" charset="0"/>
                <a:ea typeface="Courier New" pitchFamily="34" charset="-122"/>
                <a:cs typeface="Courier New" pitchFamily="34" charset="-120"/>
              </a:rPr>
              <a:t>['raw', 'threadId'] T1 RoboCop None</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replyAll: None 1</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q=label%3AUNREAD&amp;maxResults=25</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q=label%3AINBOX&amp;maxResults=25</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q=has%3Aattachment&amp;maxResults=25</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'Ok.\n\n' day-month form uncut: True</a:t>
            </a:r>
            <a:endParaRPr lang="en-US" sz="700" dirty="0"/>
          </a:p>
        </p:txBody>
      </p:sp>
      <p:sp>
        <p:nvSpPr>
          <p:cNvPr id="9" name="Text 7"/>
          <p:cNvSpPr txBox="1"/>
          <p:nvPr/>
        </p:nvSpPr>
        <p:spPr>
          <a:xfrm>
            <a:off x="4617720" y="1143000"/>
            <a:ext cx="3968496"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program downloadCut_v1_0_0.py, lines 34 to 46 of 46</a:t>
            </a:r>
            <a:endParaRPr lang="en-US" sz="1000" dirty="0"/>
          </a:p>
        </p:txBody>
      </p:sp>
      <p:sp>
        <p:nvSpPr>
          <p:cNvPr id="10" name="Shape 8"/>
          <p:cNvSpPr/>
          <p:nvPr/>
        </p:nvSpPr>
        <p:spPr>
          <a:xfrm>
            <a:off x="4617720" y="1417320"/>
            <a:ext cx="3968496" cy="2432304"/>
          </a:xfrm>
          <a:prstGeom prst="roundRect">
            <a:avLst>
              <a:gd name="adj" fmla="val 3759"/>
            </a:avLst>
          </a:prstGeom>
          <a:solidFill>
            <a:srgbClr val="23272E"/>
          </a:solidFill>
          <a:ln w="12700">
            <a:solidFill>
              <a:srgbClr val="23272E"/>
            </a:solidFill>
            <a:prstDash val="solid"/>
          </a:ln>
        </p:spPr>
      </p:sp>
      <p:sp>
        <p:nvSpPr>
          <p:cNvPr id="11" name="Text 9"/>
          <p:cNvSpPr txBox="1"/>
          <p:nvPr/>
        </p:nvSpPr>
        <p:spPr>
          <a:xfrm>
            <a:off x="4800600" y="1536192"/>
            <a:ext cx="3602736" cy="2194560"/>
          </a:xfrm>
          <a:prstGeom prst="rect">
            <a:avLst/>
          </a:prstGeom>
          <a:noFill/>
          <a:ln/>
        </p:spPr>
        <p:txBody>
          <a:bodyPr wrap="square" lIns="0" tIns="0" rIns="0" bIns="0" rtlCol="0" anchor="t"/>
          <a:lstStyle/>
          <a:p>
            <a:pPr indent="0" marL="0">
              <a:buNone/>
            </a:pPr>
            <a:r>
              <a:rPr lang="en-US" sz="700" dirty="0">
                <a:solidFill>
                  <a:srgbClr val="E6EDF3"/>
                </a:solidFill>
                <a:latin typeface="Courier New" pitchFamily="34" charset="0"/>
                <a:ea typeface="Courier New" pitchFamily="34" charset="-122"/>
                <a:cs typeface="Courier New" pitchFamily="34" charset="-120"/>
              </a:rPr>
              <a:t>d = wd(); os.mkdir(</a:t>
            </a:r>
            <a:r>
              <a:rPr lang="en-US" sz="700" dirty="0">
                <a:solidFill>
                  <a:srgbClr val="9ECBFF"/>
                </a:solidFill>
                <a:latin typeface="Courier New" pitchFamily="34" charset="0"/>
                <a:ea typeface="Courier New" pitchFamily="34" charset="-122"/>
                <a:cs typeface="Courier New" pitchFamily="34" charset="-120"/>
              </a:rPr>
              <a:t>'inbox'</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ps = [BODY, part(</a:t>
            </a:r>
            <a:r>
              <a:rPr lang="en-US" sz="700" dirty="0">
                <a:solidFill>
                  <a:srgbClr val="9ECBFF"/>
                </a:solidFill>
                <a:latin typeface="Courier New" pitchFamily="34" charset="0"/>
                <a:ea typeface="Courier New" pitchFamily="34" charset="-122"/>
                <a:cs typeface="Courier New" pitchFamily="34" charset="-120"/>
              </a:rPr>
              <a:t>'../evil.txt'</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'A9'</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m = ezgmail.GmailMessage(one(parts=ps))</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gm({</a:t>
            </a:r>
            <a:r>
              <a:rPr lang="en-US" sz="700" dirty="0">
                <a:solidFill>
                  <a:srgbClr val="9ECBFF"/>
                </a:solidFill>
                <a:latin typeface="Courier New" pitchFamily="34" charset="0"/>
                <a:ea typeface="Courier New" pitchFamily="34" charset="-122"/>
                <a:cs typeface="Courier New" pitchFamily="34" charset="-120"/>
              </a:rPr>
              <a:t>'data'</a:t>
            </a:r>
            <a:r>
              <a:rPr lang="en-US" sz="700" dirty="0">
                <a:solidFill>
                  <a:srgbClr val="E6EDF3"/>
                </a:solidFill>
                <a:latin typeface="Courier New" pitchFamily="34" charset="0"/>
                <a:ea typeface="Courier New" pitchFamily="34" charset="-122"/>
                <a:cs typeface="Courier New" pitchFamily="34" charset="-120"/>
              </a:rPr>
              <a:t>: b64(b</a:t>
            </a:r>
            <a:r>
              <a:rPr lang="en-US" sz="700" dirty="0">
                <a:solidFill>
                  <a:srgbClr val="9ECBFF"/>
                </a:solidFill>
                <a:latin typeface="Courier New" pitchFamily="34" charset="0"/>
                <a:ea typeface="Courier New" pitchFamily="34" charset="-122"/>
                <a:cs typeface="Courier New" pitchFamily="34" charset="-120"/>
              </a:rPr>
              <a:t>'PWNED'</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'size'</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5</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print(m.downloadAllAttachments(downloadFolder=</a:t>
            </a:r>
            <a:r>
              <a:rPr lang="en-US" sz="700" dirty="0">
                <a:solidFill>
                  <a:srgbClr val="9ECBFF"/>
                </a:solidFill>
                <a:latin typeface="Courier New" pitchFamily="34" charset="0"/>
                <a:ea typeface="Courier New" pitchFamily="34" charset="-122"/>
                <a:cs typeface="Courier New" pitchFamily="34" charset="-120"/>
              </a:rPr>
              <a:t>'inbox'</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print(os.listdir(</a:t>
            </a:r>
            <a:r>
              <a:rPr lang="en-US" sz="700" dirty="0">
                <a:solidFill>
                  <a:srgbClr val="9ECBFF"/>
                </a:solidFill>
                <a:latin typeface="Courier New" pitchFamily="34" charset="0"/>
                <a:ea typeface="Courier New" pitchFamily="34" charset="-122"/>
                <a:cs typeface="Courier New" pitchFamily="34" charset="-120"/>
              </a:rPr>
              <a:t>'inbox'</a:t>
            </a:r>
            <a:r>
              <a:rPr lang="en-US" sz="700" dirty="0">
                <a:solidFill>
                  <a:srgbClr val="E6EDF3"/>
                </a:solidFill>
                <a:latin typeface="Courier New" pitchFamily="34" charset="0"/>
                <a:ea typeface="Courier New" pitchFamily="34" charset="-122"/>
                <a:cs typeface="Courier New" pitchFamily="34" charset="-120"/>
              </a:rPr>
              <a:t>), sorted(os.listdir(</a:t>
            </a:r>
            <a:r>
              <a:rPr lang="en-US" sz="700" dirty="0">
                <a:solidFill>
                  <a:srgbClr val="9ECBFF"/>
                </a:solidFill>
                <a:latin typeface="Courier New" pitchFamily="34" charset="0"/>
                <a:ea typeface="Courier New" pitchFamily="34" charset="-122"/>
                <a:cs typeface="Courier New" pitchFamily="34" charset="-120"/>
              </a:rPr>
              <a:t>'.'</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open(</a:t>
            </a:r>
            <a:r>
              <a:rPr lang="en-US" sz="700" dirty="0">
                <a:solidFill>
                  <a:srgbClr val="9ECBFF"/>
                </a:solidFill>
                <a:latin typeface="Courier New" pitchFamily="34" charset="0"/>
                <a:ea typeface="Courier New" pitchFamily="34" charset="-122"/>
                <a:cs typeface="Courier New" pitchFamily="34" charset="-120"/>
              </a:rPr>
              <a:t>'tulips.jpg'</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'wb'</a:t>
            </a:r>
            <a:r>
              <a:rPr lang="en-US" sz="700" dirty="0">
                <a:solidFill>
                  <a:srgbClr val="E6EDF3"/>
                </a:solidFill>
                <a:latin typeface="Courier New" pitchFamily="34" charset="0"/>
                <a:ea typeface="Courier New" pitchFamily="34" charset="-122"/>
                <a:cs typeface="Courier New" pitchFamily="34" charset="-120"/>
              </a:rPr>
              <a:t>).write(b</a:t>
            </a:r>
            <a:r>
              <a:rPr lang="en-US" sz="700" dirty="0">
                <a:solidFill>
                  <a:srgbClr val="9ECBFF"/>
                </a:solidFill>
                <a:latin typeface="Courier New" pitchFamily="34" charset="0"/>
                <a:ea typeface="Courier New" pitchFamily="34" charset="-122"/>
                <a:cs typeface="Courier New" pitchFamily="34" charset="-120"/>
              </a:rPr>
              <a:t>'MINE'</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ps = [BODY, part(</a:t>
            </a:r>
            <a:r>
              <a:rPr lang="en-US" sz="700" dirty="0">
                <a:solidFill>
                  <a:srgbClr val="9ECBFF"/>
                </a:solidFill>
                <a:latin typeface="Courier New" pitchFamily="34" charset="0"/>
                <a:ea typeface="Courier New" pitchFamily="34" charset="-122"/>
                <a:cs typeface="Courier New" pitchFamily="34" charset="-120"/>
              </a:rPr>
              <a:t>'tulips.jpg'</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m = ezgmail.GmailMessage(one(parts=ps))</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gm({</a:t>
            </a:r>
            <a:r>
              <a:rPr lang="en-US" sz="700" dirty="0">
                <a:solidFill>
                  <a:srgbClr val="9ECBFF"/>
                </a:solidFill>
                <a:latin typeface="Courier New" pitchFamily="34" charset="0"/>
                <a:ea typeface="Courier New" pitchFamily="34" charset="-122"/>
                <a:cs typeface="Courier New" pitchFamily="34" charset="-120"/>
              </a:rPr>
              <a:t>'data'</a:t>
            </a:r>
            <a:r>
              <a:rPr lang="en-US" sz="700" dirty="0">
                <a:solidFill>
                  <a:srgbClr val="E6EDF3"/>
                </a:solidFill>
                <a:latin typeface="Courier New" pitchFamily="34" charset="0"/>
                <a:ea typeface="Courier New" pitchFamily="34" charset="-122"/>
                <a:cs typeface="Courier New" pitchFamily="34" charset="-120"/>
              </a:rPr>
              <a:t>: b64(b</a:t>
            </a:r>
            <a:r>
              <a:rPr lang="en-US" sz="700" dirty="0">
                <a:solidFill>
                  <a:srgbClr val="9ECBFF"/>
                </a:solidFill>
                <a:latin typeface="Courier New" pitchFamily="34" charset="0"/>
                <a:ea typeface="Courier New" pitchFamily="34" charset="-122"/>
                <a:cs typeface="Courier New" pitchFamily="34" charset="-120"/>
              </a:rPr>
              <a:t>'AAAA'</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'size'</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4</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m.downloadAttachment(</a:t>
            </a:r>
            <a:r>
              <a:rPr lang="en-US" sz="700" dirty="0">
                <a:solidFill>
                  <a:srgbClr val="9ECBFF"/>
                </a:solidFill>
                <a:latin typeface="Courier New" pitchFamily="34" charset="0"/>
                <a:ea typeface="Courier New" pitchFamily="34" charset="-122"/>
                <a:cs typeface="Courier New" pitchFamily="34" charset="-120"/>
              </a:rPr>
              <a:t>'tulips.jpg'</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'tulips.jpg is now'</a:t>
            </a:r>
            <a:r>
              <a:rPr lang="en-US" sz="700" dirty="0">
                <a:solidFill>
                  <a:srgbClr val="E6EDF3"/>
                </a:solidFill>
                <a:latin typeface="Courier New" pitchFamily="34" charset="0"/>
                <a:ea typeface="Courier New" pitchFamily="34" charset="-122"/>
                <a:cs typeface="Courier New" pitchFamily="34" charset="-120"/>
              </a:rPr>
              <a:t>, open(</a:t>
            </a:r>
            <a:r>
              <a:rPr lang="en-US" sz="700" dirty="0">
                <a:solidFill>
                  <a:srgbClr val="9ECBFF"/>
                </a:solidFill>
                <a:latin typeface="Courier New" pitchFamily="34" charset="0"/>
                <a:ea typeface="Courier New" pitchFamily="34" charset="-122"/>
                <a:cs typeface="Courier New" pitchFamily="34" charset="-120"/>
              </a:rPr>
              <a:t>'tulips.jpg'</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'rb'</a:t>
            </a:r>
            <a:r>
              <a:rPr lang="en-US" sz="700" dirty="0">
                <a:solidFill>
                  <a:srgbClr val="E6EDF3"/>
                </a:solidFill>
                <a:latin typeface="Courier New" pitchFamily="34" charset="0"/>
                <a:ea typeface="Courier New" pitchFamily="34" charset="-122"/>
                <a:cs typeface="Courier New" pitchFamily="34" charset="-120"/>
              </a:rPr>
              <a:t>).read())</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'no.jpg:'</a:t>
            </a:r>
            <a:r>
              <a:rPr lang="en-US" sz="700" dirty="0">
                <a:solidFill>
                  <a:srgbClr val="E6EDF3"/>
                </a:solidFill>
                <a:latin typeface="Courier New" pitchFamily="34" charset="0"/>
                <a:ea typeface="Courier New" pitchFamily="34" charset="-122"/>
                <a:cs typeface="Courier New" pitchFamily="34" charset="-120"/>
              </a:rPr>
              <a:t>, err(</a:t>
            </a:r>
            <a:r>
              <a:rPr lang="en-US" sz="700" b="1" dirty="0">
                <a:solidFill>
                  <a:srgbClr val="F2A860"/>
                </a:solidFill>
                <a:latin typeface="Courier New" pitchFamily="34" charset="0"/>
                <a:ea typeface="Courier New" pitchFamily="34" charset="-122"/>
                <a:cs typeface="Courier New" pitchFamily="34" charset="-120"/>
              </a:rPr>
              <a:t>lambda</a:t>
            </a:r>
            <a:r>
              <a:rPr lang="en-US" sz="700" dirty="0">
                <a:solidFill>
                  <a:srgbClr val="E6EDF3"/>
                </a:solidFill>
                <a:latin typeface="Courier New" pitchFamily="34" charset="0"/>
                <a:ea typeface="Courier New" pitchFamily="34" charset="-122"/>
                <a:cs typeface="Courier New" pitchFamily="34" charset="-120"/>
              </a:rPr>
              <a:t>: m.downloadAttachment(</a:t>
            </a:r>
            <a:r>
              <a:rPr lang="en-US" sz="700" dirty="0">
                <a:solidFill>
                  <a:srgbClr val="9ECBFF"/>
                </a:solidFill>
                <a:latin typeface="Courier New" pitchFamily="34" charset="0"/>
                <a:ea typeface="Courier New" pitchFamily="34" charset="-122"/>
                <a:cs typeface="Courier New" pitchFamily="34" charset="-120"/>
              </a:rPr>
              <a:t>'no.jpg'</a:t>
            </a:r>
            <a:r>
              <a:rPr lang="en-US" sz="700" dirty="0">
                <a:solidFill>
                  <a:srgbClr val="E6EDF3"/>
                </a:solidFill>
                <a:latin typeface="Courier New" pitchFamily="34" charset="0"/>
                <a:ea typeface="Courier New" pitchFamily="34" charset="-122"/>
                <a:cs typeface="Courier New" pitchFamily="34" charset="-120"/>
              </a:rPr>
              <a:t>))[</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b="1" dirty="0">
                <a:solidFill>
                  <a:srgbClr val="D97A14"/>
                </a:solidFill>
                <a:latin typeface="Courier New" pitchFamily="34" charset="0"/>
                <a:ea typeface="Courier New" pitchFamily="34" charset="-122"/>
                <a:cs typeface="Courier New" pitchFamily="34" charset="-120"/>
              </a:rPr>
              <a:t>prints </a:t>
            </a:r>
            <a:r>
              <a:rPr lang="en-US" sz="700" dirty="0">
                <a:solidFill>
                  <a:srgbClr val="7EE787"/>
                </a:solidFill>
                <a:latin typeface="Courier New" pitchFamily="34" charset="0"/>
                <a:ea typeface="Courier New" pitchFamily="34" charset="-122"/>
                <a:cs typeface="Courier New" pitchFamily="34" charset="-120"/>
              </a:rPr>
              <a:t>['../evil.txt']</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 ['evil.txt', 'inbox']</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tulips.jpg is now b'AAAA'</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no.jpg: AttributeError</a:t>
            </a:r>
            <a:endParaRPr lang="en-US" sz="700" dirty="0"/>
          </a:p>
        </p:txBody>
      </p:sp>
      <p:sp>
        <p:nvSpPr>
          <p:cNvPr id="12" name="Text 10"/>
          <p:cNvSpPr txBox="1"/>
          <p:nvPr/>
        </p:nvSpPr>
        <p:spPr>
          <a:xfrm>
            <a:off x="457200" y="4133088"/>
            <a:ext cx="8229600" cy="283464"/>
          </a:xfrm>
          <a:prstGeom prst="rect">
            <a:avLst/>
          </a:prstGeom>
          <a:noFill/>
          <a:ln/>
        </p:spPr>
        <p:txBody>
          <a:bodyPr wrap="square" lIns="0" tIns="0" rIns="0" bIns="0" rtlCol="0" anchor="t"/>
          <a:lstStyle/>
          <a:p>
            <a:pPr indent="0" marL="0">
              <a:buNone/>
            </a:pPr>
            <a:r>
              <a:rPr lang="en-US" sz="800" i="1" dirty="0">
                <a:solidFill>
                  <a:srgbClr val="6E655C"/>
                </a:solidFill>
                <a:latin typeface="Calibri" pitchFamily="34" charset="0"/>
                <a:ea typeface="Calibri" pitchFamily="34" charset="-122"/>
                <a:cs typeface="Calibri" pitchFamily="34" charset="-120"/>
              </a:rPr>
              <a:t>Stand-in for Gmail: the real ezgmail on a local stand-in for Google's server, replies written by this study; Gmail was never reached. Lines 1 to 33 (imports, the Gmail stand-in and a comment) are not shown. NOT EXECUTED: Gmail threading the reply; any real download.</a:t>
            </a:r>
            <a:endParaRPr lang="en-US" sz="800" dirty="0"/>
          </a:p>
        </p:txBody>
      </p:sp>
      <p:sp>
        <p:nvSpPr>
          <p:cNvPr id="13" name="Shape 11"/>
          <p:cNvSpPr/>
          <p:nvPr/>
        </p:nvSpPr>
        <p:spPr>
          <a:xfrm>
            <a:off x="457200" y="4636008"/>
            <a:ext cx="91440" cy="310896"/>
          </a:xfrm>
          <a:prstGeom prst="rect">
            <a:avLst/>
          </a:prstGeom>
          <a:solidFill>
            <a:srgbClr val="D97A14"/>
          </a:solidFill>
          <a:ln w="12700">
            <a:solidFill>
              <a:srgbClr val="D97A14"/>
            </a:solidFill>
            <a:prstDash val="solid"/>
          </a:ln>
        </p:spPr>
      </p:sp>
      <p:sp>
        <p:nvSpPr>
          <p:cNvPr id="14" name="Text 1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reply keeps the thread id; a name with a path escapes the folder.</a:t>
            </a:r>
            <a:endParaRPr lang="en-US" sz="1350" dirty="0"/>
          </a:p>
        </p:txBody>
      </p:sp>
      <p:sp>
        <p:nvSpPr>
          <p:cNvPr id="15" name="Text 1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8 / 26</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An @ between the user and the machine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1971, on the ARPANET</a:t>
            </a:r>
            <a:endParaRPr lang="en-US" sz="1300" dirty="0"/>
          </a:p>
        </p:txBody>
      </p:sp>
      <p:sp>
        <p:nvSpPr>
          <p:cNvPr id="6" name="Text 4"/>
          <p:cNvSpPr txBox="1"/>
          <p:nvPr/>
        </p:nvSpPr>
        <p:spPr>
          <a:xfrm>
            <a:off x="457200" y="1280160"/>
            <a:ext cx="4297680" cy="457200"/>
          </a:xfrm>
          <a:prstGeom prst="rect">
            <a:avLst/>
          </a:prstGeom>
          <a:noFill/>
          <a:ln/>
        </p:spPr>
        <p:txBody>
          <a:bodyPr wrap="square" lIns="0" tIns="0" rIns="0" bIns="0" rtlCol="0" anchor="t"/>
          <a:lstStyle/>
          <a:p>
            <a:pPr algn="l" indent="0" marL="0">
              <a:buNone/>
            </a:pPr>
            <a:r>
              <a:rPr lang="en-US" sz="1100" dirty="0">
                <a:solidFill>
                  <a:srgbClr val="2B2622"/>
                </a:solidFill>
                <a:latin typeface="Calibri" pitchFamily="34" charset="0"/>
                <a:ea typeface="Calibri" pitchFamily="34" charset="-122"/>
                <a:cs typeface="Calibri" pitchFamily="34" charset="-120"/>
              </a:rPr>
              <a:t>Before 1971, mail reached only users of the same computer.</a:t>
            </a:r>
            <a:endParaRPr lang="en-US" sz="1100" dirty="0"/>
          </a:p>
        </p:txBody>
      </p:sp>
      <p:sp>
        <p:nvSpPr>
          <p:cNvPr id="7" name="Shape 5"/>
          <p:cNvSpPr/>
          <p:nvPr/>
        </p:nvSpPr>
        <p:spPr>
          <a:xfrm>
            <a:off x="457200" y="1783080"/>
            <a:ext cx="4297680" cy="1801368"/>
          </a:xfrm>
          <a:prstGeom prst="roundRect">
            <a:avLst>
              <a:gd name="adj" fmla="val 5076"/>
            </a:avLst>
          </a:prstGeom>
          <a:solidFill>
            <a:srgbClr val="23272E"/>
          </a:solidFill>
          <a:ln w="12700">
            <a:solidFill>
              <a:srgbClr val="23272E"/>
            </a:solidFill>
            <a:prstDash val="solid"/>
          </a:ln>
        </p:spPr>
      </p:sp>
      <p:sp>
        <p:nvSpPr>
          <p:cNvPr id="8" name="Text 6"/>
          <p:cNvSpPr txBox="1"/>
          <p:nvPr/>
        </p:nvSpPr>
        <p:spPr>
          <a:xfrm>
            <a:off x="640080" y="1901952"/>
            <a:ext cx="3931920" cy="1563624"/>
          </a:xfrm>
          <a:prstGeom prst="rect">
            <a:avLst/>
          </a:prstGeom>
          <a:noFill/>
          <a:ln/>
        </p:spPr>
        <p:txBody>
          <a:bodyPr wrap="square" lIns="0" tIns="0" rIns="0" bIns="0" rtlCol="0" anchor="t"/>
          <a:lstStyle/>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from email.utils import parseaddr, formataddr</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parseaddr('Al Sweigart &lt;al@inventwithpython.com&gt;')</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('Al Sweigart', 'al@inventwithpython.com')</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'al@inventwithpython.com'.partition('@')</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('al', '@', 'inventwithpython.com')</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formataddr(('Jon Doe', 'jon@example.org'))</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'Jon Doe &lt;jon@example.org&gt;'</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parseaddr('real@example.com, evil@example.net')</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 '')</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parseaddr('real@example.com, evil@example.net', strict=False)</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 'real@example.com')</a:t>
            </a:r>
            <a:endParaRPr lang="en-US" sz="750" dirty="0"/>
          </a:p>
        </p:txBody>
      </p:sp>
      <p:sp>
        <p:nvSpPr>
          <p:cNvPr id="9" name="Text 7"/>
          <p:cNvSpPr txBox="1"/>
          <p:nvPr/>
        </p:nvSpPr>
        <p:spPr>
          <a:xfrm>
            <a:off x="457200" y="3602736"/>
            <a:ext cx="429768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 no row reads the clock or the network</a:t>
            </a:r>
            <a:endParaRPr lang="en-US" sz="900" dirty="0"/>
          </a:p>
        </p:txBody>
      </p:sp>
      <p:sp>
        <p:nvSpPr>
          <p:cNvPr id="10" name="Shape 8"/>
          <p:cNvSpPr/>
          <p:nvPr/>
        </p:nvSpPr>
        <p:spPr>
          <a:xfrm>
            <a:off x="5029200" y="1604772"/>
            <a:ext cx="128016" cy="128016"/>
          </a:xfrm>
          <a:prstGeom prst="diamond">
            <a:avLst/>
          </a:prstGeom>
          <a:solidFill>
            <a:srgbClr val="D97A14"/>
          </a:solidFill>
          <a:ln w="12700">
            <a:solidFill>
              <a:srgbClr val="D97A14"/>
            </a:solidFill>
            <a:prstDash val="solid"/>
          </a:ln>
        </p:spPr>
      </p:sp>
      <p:sp>
        <p:nvSpPr>
          <p:cNvPr id="11" name="Text 9"/>
          <p:cNvSpPr txBox="1"/>
          <p:nvPr/>
        </p:nvSpPr>
        <p:spPr>
          <a:xfrm>
            <a:off x="5303520" y="1371600"/>
            <a:ext cx="3383280" cy="59436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1971: SNDMSG adapted for TENEX</a:t>
            </a:r>
            <a:endParaRPr lang="en-US" sz="1200" dirty="0"/>
          </a:p>
        </p:txBody>
      </p:sp>
      <p:sp>
        <p:nvSpPr>
          <p:cNvPr id="12" name="Shape 10"/>
          <p:cNvSpPr/>
          <p:nvPr/>
        </p:nvSpPr>
        <p:spPr>
          <a:xfrm>
            <a:off x="5029200" y="2199132"/>
            <a:ext cx="128016" cy="128016"/>
          </a:xfrm>
          <a:prstGeom prst="diamond">
            <a:avLst/>
          </a:prstGeom>
          <a:solidFill>
            <a:srgbClr val="D97A14"/>
          </a:solidFill>
          <a:ln w="12700">
            <a:solidFill>
              <a:srgbClr val="D97A14"/>
            </a:solidFill>
            <a:prstDash val="solid"/>
          </a:ln>
        </p:spPr>
      </p:sp>
      <p:sp>
        <p:nvSpPr>
          <p:cNvPr id="13" name="Text 11"/>
          <p:cNvSpPr txBox="1"/>
          <p:nvPr/>
        </p:nvSpPr>
        <p:spPr>
          <a:xfrm>
            <a:off x="5303520" y="1965960"/>
            <a:ext cx="3383280" cy="59436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The @ separates user and machine</a:t>
            </a:r>
            <a:endParaRPr lang="en-US" sz="1200" dirty="0"/>
          </a:p>
        </p:txBody>
      </p:sp>
      <p:sp>
        <p:nvSpPr>
          <p:cNvPr id="14" name="Shape 12"/>
          <p:cNvSpPr/>
          <p:nvPr/>
        </p:nvSpPr>
        <p:spPr>
          <a:xfrm>
            <a:off x="5029200" y="2793492"/>
            <a:ext cx="128016" cy="128016"/>
          </a:xfrm>
          <a:prstGeom prst="diamond">
            <a:avLst/>
          </a:prstGeom>
          <a:solidFill>
            <a:srgbClr val="D97A14"/>
          </a:solidFill>
          <a:ln w="12700">
            <a:solidFill>
              <a:srgbClr val="D97A14"/>
            </a:solidFill>
            <a:prstDash val="solid"/>
          </a:ln>
        </p:spPr>
      </p:sp>
      <p:sp>
        <p:nvSpPr>
          <p:cNvPr id="15" name="Text 13"/>
          <p:cNvSpPr txBox="1"/>
          <p:nvPr/>
        </p:nvSpPr>
        <p:spPr>
          <a:xfrm>
            <a:off x="5303520" y="2560320"/>
            <a:ext cx="3383280" cy="59436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Chosen: it was in no user name</a:t>
            </a:r>
            <a:endParaRPr lang="en-US" sz="1200" dirty="0"/>
          </a:p>
        </p:txBody>
      </p:sp>
      <p:sp>
        <p:nvSpPr>
          <p:cNvPr id="16" name="Shape 14"/>
          <p:cNvSpPr/>
          <p:nvPr/>
        </p:nvSpPr>
        <p:spPr>
          <a:xfrm>
            <a:off x="5029200" y="3387852"/>
            <a:ext cx="128016" cy="128016"/>
          </a:xfrm>
          <a:prstGeom prst="diamond">
            <a:avLst/>
          </a:prstGeom>
          <a:solidFill>
            <a:srgbClr val="D97A14"/>
          </a:solidFill>
          <a:ln w="12700">
            <a:solidFill>
              <a:srgbClr val="D97A14"/>
            </a:solidFill>
            <a:prstDash val="solid"/>
          </a:ln>
        </p:spPr>
      </p:sp>
      <p:sp>
        <p:nvSpPr>
          <p:cNvPr id="17" name="Text 15"/>
          <p:cNvSpPr txBox="1"/>
          <p:nvPr/>
        </p:nvSpPr>
        <p:spPr>
          <a:xfrm>
            <a:off x="5303520" y="3154680"/>
            <a:ext cx="3383280" cy="59436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Today: parseaddr splits at it</a:t>
            </a:r>
            <a:endParaRPr lang="en-US" sz="1200" dirty="0"/>
          </a:p>
        </p:txBody>
      </p:sp>
      <p:sp>
        <p:nvSpPr>
          <p:cNvPr id="18" name="Shape 16"/>
          <p:cNvSpPr/>
          <p:nvPr/>
        </p:nvSpPr>
        <p:spPr>
          <a:xfrm>
            <a:off x="457200" y="4114800"/>
            <a:ext cx="2449129" cy="365760"/>
          </a:xfrm>
          <a:prstGeom prst="roundRect">
            <a:avLst>
              <a:gd name="adj" fmla="val 50000"/>
            </a:avLst>
          </a:prstGeom>
          <a:solidFill>
            <a:srgbClr val="EFE9DC"/>
          </a:solidFill>
          <a:ln w="9525">
            <a:solidFill>
              <a:srgbClr val="DFD6C7"/>
            </a:solidFill>
            <a:prstDash val="solid"/>
          </a:ln>
        </p:spPr>
      </p:sp>
      <p:sp>
        <p:nvSpPr>
          <p:cNvPr id="19" name="Text 17"/>
          <p:cNvSpPr txBox="1"/>
          <p:nvPr/>
        </p:nvSpPr>
        <p:spPr>
          <a:xfrm>
            <a:off x="548640" y="4114800"/>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800" dirty="0">
                <a:solidFill>
                  <a:srgbClr val="2B2622"/>
                </a:solidFill>
                <a:latin typeface="Calibri" pitchFamily="34" charset="0"/>
                <a:ea typeface="Calibri" pitchFamily="34" charset="-122"/>
                <a:cs typeface="Calibri" pitchFamily="34" charset="-120"/>
              </a:rPr>
              <a:t>Ray Tomlinson, a programmer at Bolt, B…</a:t>
            </a:r>
            <a:endParaRPr lang="en-US" sz="750" dirty="0"/>
          </a:p>
        </p:txBody>
      </p:sp>
      <p:sp>
        <p:nvSpPr>
          <p:cNvPr id="20" name="Shape 18"/>
          <p:cNvSpPr/>
          <p:nvPr/>
        </p:nvSpPr>
        <p:spPr>
          <a:xfrm>
            <a:off x="3016057" y="4114800"/>
            <a:ext cx="2449129" cy="365760"/>
          </a:xfrm>
          <a:prstGeom prst="roundRect">
            <a:avLst>
              <a:gd name="adj" fmla="val 50000"/>
            </a:avLst>
          </a:prstGeom>
          <a:solidFill>
            <a:srgbClr val="EFE9DC"/>
          </a:solidFill>
          <a:ln w="9525">
            <a:solidFill>
              <a:srgbClr val="DFD6C7"/>
            </a:solidFill>
            <a:prstDash val="solid"/>
          </a:ln>
        </p:spPr>
      </p:sp>
      <p:sp>
        <p:nvSpPr>
          <p:cNvPr id="21" name="Text 19"/>
          <p:cNvSpPr txBox="1"/>
          <p:nvPr/>
        </p:nvSpPr>
        <p:spPr>
          <a:xfrm>
            <a:off x="3107497" y="4114800"/>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800" dirty="0">
                <a:solidFill>
                  <a:srgbClr val="2B2622"/>
                </a:solidFill>
                <a:latin typeface="Calibri" pitchFamily="34" charset="0"/>
                <a:ea typeface="Calibri" pitchFamily="34" charset="-122"/>
                <a:cs typeface="Calibri" pitchFamily="34" charset="-120"/>
              </a:rPr>
              <a:t>BBN, on the ARPANET, adapting the prog…</a:t>
            </a:r>
            <a:endParaRPr lang="en-US" sz="750" dirty="0"/>
          </a:p>
        </p:txBody>
      </p:sp>
      <p:sp>
        <p:nvSpPr>
          <p:cNvPr id="22" name="Shape 20"/>
          <p:cNvSpPr/>
          <p:nvPr/>
        </p:nvSpPr>
        <p:spPr>
          <a:xfrm>
            <a:off x="5574914" y="4114800"/>
            <a:ext cx="1343071" cy="365760"/>
          </a:xfrm>
          <a:prstGeom prst="roundRect">
            <a:avLst>
              <a:gd name="adj" fmla="val 50000"/>
            </a:avLst>
          </a:prstGeom>
          <a:solidFill>
            <a:srgbClr val="EFE9DC"/>
          </a:solidFill>
          <a:ln w="9525">
            <a:solidFill>
              <a:srgbClr val="DFD6C7"/>
            </a:solidFill>
            <a:prstDash val="solid"/>
          </a:ln>
        </p:spPr>
      </p:sp>
      <p:sp>
        <p:nvSpPr>
          <p:cNvPr id="23" name="Text 21"/>
          <p:cNvSpPr txBox="1"/>
          <p:nvPr/>
        </p:nvSpPr>
        <p:spPr>
          <a:xfrm>
            <a:off x="5666354" y="4114800"/>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1971, on the ARP…</a:t>
            </a:r>
            <a:endParaRPr lang="en-US" sz="750" dirty="0"/>
          </a:p>
        </p:txBody>
      </p:sp>
      <p:sp>
        <p:nvSpPr>
          <p:cNvPr id="24" name="Shape 22"/>
          <p:cNvSpPr/>
          <p:nvPr/>
        </p:nvSpPr>
        <p:spPr>
          <a:xfrm>
            <a:off x="7027713" y="4114800"/>
            <a:ext cx="1659087" cy="365760"/>
          </a:xfrm>
          <a:prstGeom prst="roundRect">
            <a:avLst>
              <a:gd name="adj" fmla="val 50000"/>
            </a:avLst>
          </a:prstGeom>
          <a:solidFill>
            <a:srgbClr val="2F6D62"/>
          </a:solidFill>
          <a:ln w="9525">
            <a:solidFill>
              <a:srgbClr val="2F6D62"/>
            </a:solidFill>
            <a:prstDash val="solid"/>
          </a:ln>
        </p:spPr>
      </p:sp>
      <p:sp>
        <p:nvSpPr>
          <p:cNvPr id="25" name="Text 23"/>
          <p:cNvSpPr txBox="1"/>
          <p:nvPr/>
        </p:nvSpPr>
        <p:spPr>
          <a:xfrm>
            <a:off x="7119153" y="4114800"/>
            <a:ext cx="1512783"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en.wikipedia.org</a:t>
            </a:r>
            <a:endParaRPr lang="en-US" sz="750" dirty="0"/>
          </a:p>
        </p:txBody>
      </p:sp>
      <p:sp>
        <p:nvSpPr>
          <p:cNvPr id="26" name="Shape 24"/>
          <p:cNvSpPr/>
          <p:nvPr/>
        </p:nvSpPr>
        <p:spPr>
          <a:xfrm>
            <a:off x="457200" y="4636008"/>
            <a:ext cx="91440" cy="310896"/>
          </a:xfrm>
          <a:prstGeom prst="rect">
            <a:avLst/>
          </a:prstGeom>
          <a:solidFill>
            <a:srgbClr val="D97A14"/>
          </a:solidFill>
          <a:ln w="12700">
            <a:solidFill>
              <a:srgbClr val="D97A14"/>
            </a:solidFill>
            <a:prstDash val="solid"/>
          </a:ln>
        </p:spPr>
      </p:sp>
      <p:sp>
        <p:nvSpPr>
          <p:cNvPr id="27" name="Text 2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Every address your program builds still has Tomlinson's @ in it.</a:t>
            </a:r>
            <a:endParaRPr lang="en-US" sz="1350" dirty="0"/>
          </a:p>
        </p:txBody>
      </p:sp>
      <p:sp>
        <p:nvSpPr>
          <p:cNvPr id="28" name="Text 2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9 / 26</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Building a message: EmailMessage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Headers, a body, a MIME tree and the bytes that are sent; CRLF only with policy.SMTP</a:t>
            </a:r>
            <a:endParaRPr lang="en-US" sz="1300" dirty="0"/>
          </a:p>
        </p:txBody>
      </p:sp>
      <p:sp>
        <p:nvSpPr>
          <p:cNvPr id="6" name="Text 4"/>
          <p:cNvSpPr txBox="1"/>
          <p:nvPr/>
        </p:nvSpPr>
        <p:spPr>
          <a:xfrm>
            <a:off x="457200" y="1143000"/>
            <a:ext cx="5038344"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program buildCut_v1_0_0.py, lines 19 to 30 of 30</a:t>
            </a:r>
            <a:endParaRPr lang="en-US" sz="1000" dirty="0"/>
          </a:p>
        </p:txBody>
      </p:sp>
      <p:sp>
        <p:nvSpPr>
          <p:cNvPr id="7" name="Shape 5"/>
          <p:cNvSpPr/>
          <p:nvPr/>
        </p:nvSpPr>
        <p:spPr>
          <a:xfrm>
            <a:off x="457200" y="1417320"/>
            <a:ext cx="5038344" cy="2935224"/>
          </a:xfrm>
          <a:prstGeom prst="roundRect">
            <a:avLst>
              <a:gd name="adj" fmla="val 3115"/>
            </a:avLst>
          </a:prstGeom>
          <a:solidFill>
            <a:srgbClr val="23272E"/>
          </a:solidFill>
          <a:ln w="12700">
            <a:solidFill>
              <a:srgbClr val="23272E"/>
            </a:solidFill>
            <a:prstDash val="solid"/>
          </a:ln>
        </p:spPr>
      </p:sp>
      <p:sp>
        <p:nvSpPr>
          <p:cNvPr id="8" name="Text 6"/>
          <p:cNvSpPr txBox="1"/>
          <p:nvPr/>
        </p:nvSpPr>
        <p:spPr>
          <a:xfrm>
            <a:off x="640080" y="1536192"/>
            <a:ext cx="4672584" cy="2697480"/>
          </a:xfrm>
          <a:prstGeom prst="rect">
            <a:avLst/>
          </a:prstGeom>
          <a:noFill/>
          <a:ln/>
        </p:spPr>
        <p:txBody>
          <a:bodyPr wrap="square" lIns="0" tIns="0" rIns="0" bIns="0" rtlCol="0" anchor="t"/>
          <a:lstStyle/>
          <a:p>
            <a:pPr indent="0" marL="0">
              <a:buNone/>
            </a:pPr>
            <a:r>
              <a:rPr lang="en-US" sz="700" dirty="0">
                <a:solidFill>
                  <a:srgbClr val="E6EDF3"/>
                </a:solidFill>
                <a:latin typeface="Courier New" pitchFamily="34" charset="0"/>
                <a:ea typeface="Courier New" pitchFamily="34" charset="-122"/>
                <a:cs typeface="Courier New" pitchFamily="34" charset="-120"/>
              </a:rPr>
              <a:t>m = mk()</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raw = m.as_bytes()</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smtp = m.as_bytes(policy=policy.SMTP)</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'CRLF:'</a:t>
            </a:r>
            <a:r>
              <a:rPr lang="en-US" sz="700" dirty="0">
                <a:solidFill>
                  <a:srgbClr val="E6EDF3"/>
                </a:solidFill>
                <a:latin typeface="Courier New" pitchFamily="34" charset="0"/>
                <a:ea typeface="Courier New" pitchFamily="34" charset="-122"/>
                <a:cs typeface="Courier New" pitchFamily="34" charset="-120"/>
              </a:rPr>
              <a:t>, raw.count(b</a:t>
            </a:r>
            <a:r>
              <a:rPr lang="en-US" sz="700" dirty="0">
                <a:solidFill>
                  <a:srgbClr val="9ECBFF"/>
                </a:solidFill>
                <a:latin typeface="Courier New" pitchFamily="34" charset="0"/>
                <a:ea typeface="Courier New" pitchFamily="34" charset="-122"/>
                <a:cs typeface="Courier New" pitchFamily="34" charset="-120"/>
              </a:rPr>
              <a:t>'\r\n'</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 with policy.SMTP:'</a:t>
            </a:r>
            <a:r>
              <a:rPr lang="en-US" sz="700" dirty="0">
                <a:solidFill>
                  <a:srgbClr val="E6EDF3"/>
                </a:solidFill>
                <a:latin typeface="Courier New" pitchFamily="34" charset="0"/>
                <a:ea typeface="Courier New" pitchFamily="34" charset="-122"/>
                <a:cs typeface="Courier New" pitchFamily="34" charset="-120"/>
              </a:rPr>
              <a:t>, smtp.count(b</a:t>
            </a:r>
            <a:r>
              <a:rPr lang="en-US" sz="700" dirty="0">
                <a:solidFill>
                  <a:srgbClr val="9ECBFF"/>
                </a:solidFill>
                <a:latin typeface="Courier New" pitchFamily="34" charset="0"/>
                <a:ea typeface="Courier New" pitchFamily="34" charset="-122"/>
                <a:cs typeface="Courier New" pitchFamily="34" charset="-120"/>
              </a:rPr>
              <a:t>'\r\n'</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print(len(m.keys()), </a:t>
            </a:r>
            <a:r>
              <a:rPr lang="en-US" sz="700" dirty="0">
                <a:solidFill>
                  <a:srgbClr val="9ECBFF"/>
                </a:solidFill>
                <a:latin typeface="Courier New" pitchFamily="34" charset="0"/>
                <a:ea typeface="Courier New" pitchFamily="34" charset="-122"/>
                <a:cs typeface="Courier New" pitchFamily="34" charset="-120"/>
              </a:rPr>
              <a:t>'headers;'</a:t>
            </a:r>
            <a:r>
              <a:rPr lang="en-US" sz="700" dirty="0">
                <a:solidFill>
                  <a:srgbClr val="E6EDF3"/>
                </a:solidFill>
                <a:latin typeface="Courier New" pitchFamily="34" charset="0"/>
                <a:ea typeface="Courier New" pitchFamily="34" charset="-122"/>
                <a:cs typeface="Courier New" pitchFamily="34" charset="-120"/>
              </a:rPr>
              <a:t>, m[</a:t>
            </a:r>
            <a:r>
              <a:rPr lang="en-US" sz="700" dirty="0">
                <a:solidFill>
                  <a:srgbClr val="9ECBFF"/>
                </a:solidFill>
                <a:latin typeface="Courier New" pitchFamily="34" charset="0"/>
                <a:ea typeface="Courier New" pitchFamily="34" charset="-122"/>
                <a:cs typeface="Courier New" pitchFamily="34" charset="-120"/>
              </a:rPr>
              <a:t>'Content-Type'</a:t>
            </a:r>
            <a:r>
              <a:rPr lang="en-US" sz="700" dirty="0">
                <a:solidFill>
                  <a:srgbClr val="E6EDF3"/>
                </a:solidFill>
                <a:latin typeface="Courier New" pitchFamily="34" charset="0"/>
                <a:ea typeface="Courier New" pitchFamily="34" charset="-122"/>
                <a:cs typeface="Courier New" pitchFamily="34" charset="-120"/>
              </a:rPr>
              <a:t>], m[</a:t>
            </a:r>
            <a:r>
              <a:rPr lang="en-US" sz="700" dirty="0">
                <a:solidFill>
                  <a:srgbClr val="9ECBFF"/>
                </a:solidFill>
                <a:latin typeface="Courier New" pitchFamily="34" charset="0"/>
                <a:ea typeface="Courier New" pitchFamily="34" charset="-122"/>
                <a:cs typeface="Courier New" pitchFamily="34" charset="-120"/>
              </a:rPr>
              <a:t>'Content-Transfer-Encoding'</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m.add_alternative(</a:t>
            </a:r>
            <a:r>
              <a:rPr lang="en-US" sz="700" dirty="0">
                <a:solidFill>
                  <a:srgbClr val="9ECBFF"/>
                </a:solidFill>
                <a:latin typeface="Courier New" pitchFamily="34" charset="0"/>
                <a:ea typeface="Courier New" pitchFamily="34" charset="-122"/>
                <a:cs typeface="Courier New" pitchFamily="34" charset="-120"/>
              </a:rPr>
              <a:t>'&lt;p&gt;Watch &lt;b&gt;RoboCop&lt;/b&gt;?&lt;/p&gt;'</a:t>
            </a:r>
            <a:r>
              <a:rPr lang="en-US" sz="700" dirty="0">
                <a:solidFill>
                  <a:srgbClr val="E6EDF3"/>
                </a:solidFill>
                <a:latin typeface="Courier New" pitchFamily="34" charset="0"/>
                <a:ea typeface="Courier New" pitchFamily="34" charset="-122"/>
                <a:cs typeface="Courier New" pitchFamily="34" charset="-120"/>
              </a:rPr>
              <a:t>, subtype=</a:t>
            </a:r>
            <a:r>
              <a:rPr lang="en-US" sz="700" dirty="0">
                <a:solidFill>
                  <a:srgbClr val="9ECBFF"/>
                </a:solidFill>
                <a:latin typeface="Courier New" pitchFamily="34" charset="0"/>
                <a:ea typeface="Courier New" pitchFamily="34" charset="-122"/>
                <a:cs typeface="Courier New" pitchFamily="34" charset="-120"/>
              </a:rPr>
              <a:t>'html'</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m.add_attachment(b</a:t>
            </a:r>
            <a:r>
              <a:rPr lang="en-US" sz="700" dirty="0">
                <a:solidFill>
                  <a:srgbClr val="9ECBFF"/>
                </a:solidFill>
                <a:latin typeface="Courier New" pitchFamily="34" charset="0"/>
                <a:ea typeface="Courier New" pitchFamily="34" charset="-122"/>
                <a:cs typeface="Courier New" pitchFamily="34" charset="-120"/>
              </a:rPr>
              <a:t>'\0\1\2'</a:t>
            </a:r>
            <a:r>
              <a:rPr lang="en-US" sz="700" dirty="0">
                <a:solidFill>
                  <a:srgbClr val="E6EDF3"/>
                </a:solidFill>
                <a:latin typeface="Courier New" pitchFamily="34" charset="0"/>
                <a:ea typeface="Courier New" pitchFamily="34" charset="-122"/>
                <a:cs typeface="Courier New" pitchFamily="34" charset="-120"/>
              </a:rPr>
              <a:t>, maintype=</a:t>
            </a:r>
            <a:r>
              <a:rPr lang="en-US" sz="700" dirty="0">
                <a:solidFill>
                  <a:srgbClr val="9ECBFF"/>
                </a:solidFill>
                <a:latin typeface="Courier New" pitchFamily="34" charset="0"/>
                <a:ea typeface="Courier New" pitchFamily="34" charset="-122"/>
                <a:cs typeface="Courier New" pitchFamily="34" charset="-120"/>
              </a:rPr>
              <a:t>'application'</a:t>
            </a:r>
            <a:r>
              <a:rPr lang="en-US" sz="700" dirty="0">
                <a:solidFill>
                  <a:srgbClr val="E6EDF3"/>
                </a:solidFill>
                <a:latin typeface="Courier New" pitchFamily="34" charset="0"/>
                <a:ea typeface="Courier New" pitchFamily="34" charset="-122"/>
                <a:cs typeface="Courier New" pitchFamily="34" charset="-120"/>
              </a:rPr>
              <a:t>, subtype=</a:t>
            </a:r>
            <a:r>
              <a:rPr lang="en-US" sz="700" dirty="0">
                <a:solidFill>
                  <a:srgbClr val="9ECBFF"/>
                </a:solidFill>
                <a:latin typeface="Courier New" pitchFamily="34" charset="0"/>
                <a:ea typeface="Courier New" pitchFamily="34" charset="-122"/>
                <a:cs typeface="Courier New" pitchFamily="34" charset="-120"/>
              </a:rPr>
              <a:t>'octet-stream'</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filename=</a:t>
            </a:r>
            <a:r>
              <a:rPr lang="en-US" sz="700" dirty="0">
                <a:solidFill>
                  <a:srgbClr val="9ECBFF"/>
                </a:solidFill>
                <a:latin typeface="Courier New" pitchFamily="34" charset="0"/>
                <a:ea typeface="Courier New" pitchFamily="34" charset="-122"/>
                <a:cs typeface="Courier New" pitchFamily="34" charset="-120"/>
              </a:rPr>
              <a:t>'poster.bin'</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p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m.walk():</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print(p.get_content_type())</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print([a.get_filename() </a:t>
            </a: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a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m.iter_attachments()])</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print(m.get_body(preferencelist=(</a:t>
            </a:r>
            <a:r>
              <a:rPr lang="en-US" sz="700" dirty="0">
                <a:solidFill>
                  <a:srgbClr val="9ECBFF"/>
                </a:solidFill>
                <a:latin typeface="Courier New" pitchFamily="34" charset="0"/>
                <a:ea typeface="Courier New" pitchFamily="34" charset="-122"/>
                <a:cs typeface="Courier New" pitchFamily="34" charset="-120"/>
              </a:rPr>
              <a:t>'html'</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'plain'</a:t>
            </a:r>
            <a:r>
              <a:rPr lang="en-US" sz="700" dirty="0">
                <a:solidFill>
                  <a:srgbClr val="E6EDF3"/>
                </a:solidFill>
                <a:latin typeface="Courier New" pitchFamily="34" charset="0"/>
                <a:ea typeface="Courier New" pitchFamily="34" charset="-122"/>
                <a:cs typeface="Courier New" pitchFamily="34" charset="-120"/>
              </a:rPr>
              <a:t>)).get_content_type())</a:t>
            </a:r>
            <a:endParaRPr lang="en-US" sz="700" dirty="0"/>
          </a:p>
          <a:p>
            <a:pPr indent="0" marL="0">
              <a:buNone/>
            </a:pPr>
            <a:r>
              <a:rPr lang="en-US" sz="700" b="1" dirty="0">
                <a:solidFill>
                  <a:srgbClr val="D97A14"/>
                </a:solidFill>
                <a:latin typeface="Courier New" pitchFamily="34" charset="0"/>
                <a:ea typeface="Courier New" pitchFamily="34" charset="-122"/>
                <a:cs typeface="Courier New" pitchFamily="34" charset="-120"/>
              </a:rPr>
              <a:t>prints </a:t>
            </a:r>
            <a:r>
              <a:rPr lang="en-US" sz="700" dirty="0">
                <a:solidFill>
                  <a:srgbClr val="7EE787"/>
                </a:solidFill>
                <a:latin typeface="Courier New" pitchFamily="34" charset="0"/>
                <a:ea typeface="Courier New" pitchFamily="34" charset="-122"/>
                <a:cs typeface="Courier New" pitchFamily="34" charset="-120"/>
              </a:rPr>
              <a:t>CRLF: 0 | with policy.SMTP: 10</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8 headers; text/plain; charset="utf-8" 7bit</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multipart/mixed</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multipart/alternative</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text/plain</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text/html</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application/octet-stream</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['poster.bin']</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text/html</a:t>
            </a:r>
            <a:endParaRPr lang="en-US" sz="700" dirty="0"/>
          </a:p>
        </p:txBody>
      </p:sp>
      <p:sp>
        <p:nvSpPr>
          <p:cNvPr id="9" name="Shape 7"/>
          <p:cNvSpPr/>
          <p:nvPr/>
        </p:nvSpPr>
        <p:spPr>
          <a:xfrm>
            <a:off x="5724144" y="1280160"/>
            <a:ext cx="2962656" cy="1371600"/>
          </a:xfrm>
          <a:prstGeom prst="roundRect">
            <a:avLst>
              <a:gd name="adj" fmla="val 6667"/>
            </a:avLst>
          </a:prstGeom>
          <a:solidFill>
            <a:srgbClr val="F2ECE1"/>
          </a:solidFill>
          <a:ln w="12700">
            <a:solidFill>
              <a:srgbClr val="F2ECE1"/>
            </a:solidFill>
            <a:prstDash val="solid"/>
          </a:ln>
        </p:spPr>
      </p:sp>
      <p:sp>
        <p:nvSpPr>
          <p:cNvPr id="10" name="Text 8"/>
          <p:cNvSpPr txBox="1"/>
          <p:nvPr/>
        </p:nvSpPr>
        <p:spPr>
          <a:xfrm>
            <a:off x="5907024" y="1399032"/>
            <a:ext cx="2596896" cy="347472"/>
          </a:xfrm>
          <a:prstGeom prst="rect">
            <a:avLst/>
          </a:prstGeom>
          <a:noFill/>
          <a:ln/>
        </p:spPr>
        <p:txBody>
          <a:bodyPr wrap="square" lIns="0" tIns="0" rIns="0" bIns="0" rtlCol="0" anchor="ctr"/>
          <a:lstStyle/>
          <a:p>
            <a:pPr indent="0" marL="0">
              <a:buNone/>
            </a:pPr>
            <a:r>
              <a:rPr lang="en-US" sz="1600" b="1" dirty="0">
                <a:solidFill>
                  <a:srgbClr val="2F6D62"/>
                </a:solidFill>
                <a:latin typeface="Cambria" pitchFamily="34" charset="0"/>
                <a:ea typeface="Cambria" pitchFamily="34" charset="-122"/>
                <a:cs typeface="Cambria" pitchFamily="34" charset="-120"/>
              </a:rPr>
              <a:t>What EZGmail hides</a:t>
            </a:r>
            <a:endParaRPr lang="en-US" sz="1600" dirty="0"/>
          </a:p>
        </p:txBody>
      </p:sp>
      <p:sp>
        <p:nvSpPr>
          <p:cNvPr id="11" name="Text 9"/>
          <p:cNvSpPr txBox="1"/>
          <p:nvPr/>
        </p:nvSpPr>
        <p:spPr>
          <a:xfrm>
            <a:off x="5907024" y="1783080"/>
            <a:ext cx="2596896" cy="731520"/>
          </a:xfrm>
          <a:prstGeom prst="rect">
            <a:avLst/>
          </a:prstGeom>
          <a:noFill/>
          <a:ln/>
        </p:spPr>
        <p:txBody>
          <a:bodyPr wrap="square" lIns="0" tIns="0" rIns="0" bIns="0" rtlCol="0" anchor="t"/>
          <a:lstStyle/>
          <a:p>
            <a:pPr indent="0" marL="0">
              <a:buNone/>
            </a:pPr>
            <a:r>
              <a:rPr lang="en-US" sz="900" dirty="0">
                <a:solidFill>
                  <a:srgbClr val="2B2622"/>
                </a:solidFill>
                <a:latin typeface="Calibri" pitchFamily="34" charset="0"/>
                <a:ea typeface="Calibri" pitchFamily="34" charset="-122"/>
                <a:cs typeface="Calibri" pitchFamily="34" charset="-120"/>
              </a:rPr>
              <a:t>ezgmail builds a MIME message and posts it in base64. The chapter shows neither the message nor the standard library that can build one.</a:t>
            </a:r>
            <a:endParaRPr lang="en-US" sz="900" dirty="0"/>
          </a:p>
        </p:txBody>
      </p:sp>
      <p:sp>
        <p:nvSpPr>
          <p:cNvPr id="12" name="Shape 10"/>
          <p:cNvSpPr/>
          <p:nvPr/>
        </p:nvSpPr>
        <p:spPr>
          <a:xfrm>
            <a:off x="5724144" y="2697480"/>
            <a:ext cx="2962656" cy="1188720"/>
          </a:xfrm>
          <a:prstGeom prst="roundRect">
            <a:avLst>
              <a:gd name="adj" fmla="val 7692"/>
            </a:avLst>
          </a:prstGeom>
          <a:solidFill>
            <a:srgbClr val="F2ECE1"/>
          </a:solidFill>
          <a:ln w="12700">
            <a:solidFill>
              <a:srgbClr val="F2ECE1"/>
            </a:solidFill>
            <a:prstDash val="solid"/>
          </a:ln>
        </p:spPr>
      </p:sp>
      <p:sp>
        <p:nvSpPr>
          <p:cNvPr id="13" name="Text 11"/>
          <p:cNvSpPr txBox="1"/>
          <p:nvPr/>
        </p:nvSpPr>
        <p:spPr>
          <a:xfrm>
            <a:off x="5907024" y="2816352"/>
            <a:ext cx="2596896" cy="347472"/>
          </a:xfrm>
          <a:prstGeom prst="rect">
            <a:avLst/>
          </a:prstGeom>
          <a:noFill/>
          <a:ln/>
        </p:spPr>
        <p:txBody>
          <a:bodyPr wrap="square" lIns="0" tIns="0" rIns="0" bIns="0" rtlCol="0" anchor="ctr"/>
          <a:lstStyle/>
          <a:p>
            <a:pPr indent="0" marL="0">
              <a:buNone/>
            </a:pPr>
            <a:r>
              <a:rPr lang="en-US" sz="1600" b="1" dirty="0">
                <a:solidFill>
                  <a:srgbClr val="D97A14"/>
                </a:solidFill>
                <a:latin typeface="Cambria" pitchFamily="34" charset="0"/>
                <a:ea typeface="Cambria" pitchFamily="34" charset="-122"/>
                <a:cs typeface="Cambria" pitchFamily="34" charset="-120"/>
              </a:rPr>
              <a:t>Line ends</a:t>
            </a:r>
            <a:endParaRPr lang="en-US" sz="1600" dirty="0"/>
          </a:p>
        </p:txBody>
      </p:sp>
      <p:sp>
        <p:nvSpPr>
          <p:cNvPr id="14" name="Text 12"/>
          <p:cNvSpPr txBox="1"/>
          <p:nvPr/>
        </p:nvSpPr>
        <p:spPr>
          <a:xfrm>
            <a:off x="5907024" y="3200400"/>
            <a:ext cx="2596896" cy="548640"/>
          </a:xfrm>
          <a:prstGeom prst="rect">
            <a:avLst/>
          </a:prstGeom>
          <a:noFill/>
          <a:ln/>
        </p:spPr>
        <p:txBody>
          <a:bodyPr wrap="square" lIns="0" tIns="0" rIns="0" bIns="0" rtlCol="0" anchor="t"/>
          <a:lstStyle/>
          <a:p>
            <a:pPr indent="0" marL="0">
              <a:buNone/>
            </a:pPr>
            <a:r>
              <a:rPr lang="en-US" sz="900" dirty="0">
                <a:solidFill>
                  <a:srgbClr val="2B2622"/>
                </a:solidFill>
                <a:latin typeface="Calibri" pitchFamily="34" charset="0"/>
                <a:ea typeface="Calibri" pitchFamily="34" charset="-122"/>
                <a:cs typeface="Calibri" pitchFamily="34" charset="-120"/>
              </a:rPr>
              <a:t>as_bytes() ends lines with LF; policy.SMTP ends them with CRLF as the protocol wants: 0 against 10 here.</a:t>
            </a:r>
            <a:endParaRPr lang="en-US" sz="900" dirty="0"/>
          </a:p>
        </p:txBody>
      </p:sp>
      <p:sp>
        <p:nvSpPr>
          <p:cNvPr id="15" name="Text 13"/>
          <p:cNvSpPr txBox="1"/>
          <p:nvPr/>
        </p:nvSpPr>
        <p:spPr>
          <a:xfrm>
            <a:off x="5724144" y="3931920"/>
            <a:ext cx="2962656" cy="402336"/>
          </a:xfrm>
          <a:prstGeom prst="rect">
            <a:avLst/>
          </a:prstGeom>
          <a:noFill/>
          <a:ln/>
        </p:spPr>
        <p:txBody>
          <a:bodyPr wrap="square" lIns="0" tIns="0" rIns="0" bIns="0" rtlCol="0" anchor="t"/>
          <a:lstStyle/>
          <a:p>
            <a:pPr indent="0" marL="0">
              <a:buNone/>
            </a:pPr>
            <a:r>
              <a:rPr lang="en-US" sz="800" i="1" dirty="0">
                <a:solidFill>
                  <a:srgbClr val="6E655C"/>
                </a:solidFill>
                <a:latin typeface="Calibri" pitchFamily="34" charset="0"/>
                <a:ea typeface="Calibri" pitchFamily="34" charset="-122"/>
                <a:cs typeface="Calibri" pitchFamily="34" charset="-120"/>
              </a:rPr>
              <a:t>Lines 1 to 18 (imports, a helper that builds the message and a comment) are not shown. The date and Message-ID are fixed so the text is the same on every run.</a:t>
            </a:r>
            <a:endParaRPr lang="en-US" sz="800" dirty="0"/>
          </a:p>
        </p:txBody>
      </p:sp>
      <p:sp>
        <p:nvSpPr>
          <p:cNvPr id="16" name="Shape 14"/>
          <p:cNvSpPr/>
          <p:nvPr/>
        </p:nvSpPr>
        <p:spPr>
          <a:xfrm>
            <a:off x="457200" y="4636008"/>
            <a:ext cx="91440" cy="310896"/>
          </a:xfrm>
          <a:prstGeom prst="rect">
            <a:avLst/>
          </a:prstGeom>
          <a:solidFill>
            <a:srgbClr val="D97A14"/>
          </a:solidFill>
          <a:ln w="12700">
            <a:solidFill>
              <a:srgbClr val="D97A14"/>
            </a:solidFill>
            <a:prstDash val="solid"/>
          </a:ln>
        </p:spPr>
      </p:sp>
      <p:sp>
        <p:nvSpPr>
          <p:cNvPr id="17" name="Text 1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EmailMessage builds the message; policy.SMTP gives the CRLF line ends.</a:t>
            </a:r>
            <a:endParaRPr lang="en-US" sz="1350" dirty="0"/>
          </a:p>
        </p:txBody>
      </p:sp>
      <p:sp>
        <p:nvSpPr>
          <p:cNvPr id="18"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10 / 26</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Headers, addresses and line breaks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Turkish subject is an encoded word; two addresses in one string parse to nothing</a:t>
            </a:r>
            <a:endParaRPr lang="en-US" sz="1300" dirty="0"/>
          </a:p>
        </p:txBody>
      </p:sp>
      <p:sp>
        <p:nvSpPr>
          <p:cNvPr id="6" name="Text 4"/>
          <p:cNvSpPr txBox="1"/>
          <p:nvPr/>
        </p:nvSpPr>
        <p:spPr>
          <a:xfrm>
            <a:off x="457200" y="1143000"/>
            <a:ext cx="4645152"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program headersCut_v1_0_0.py, lines 15 to 28 of 28</a:t>
            </a:r>
            <a:endParaRPr lang="en-US" sz="1000" dirty="0"/>
          </a:p>
        </p:txBody>
      </p:sp>
      <p:sp>
        <p:nvSpPr>
          <p:cNvPr id="7" name="Shape 5"/>
          <p:cNvSpPr/>
          <p:nvPr/>
        </p:nvSpPr>
        <p:spPr>
          <a:xfrm>
            <a:off x="457200" y="1417320"/>
            <a:ext cx="4645152" cy="2935224"/>
          </a:xfrm>
          <a:prstGeom prst="roundRect">
            <a:avLst>
              <a:gd name="adj" fmla="val 3115"/>
            </a:avLst>
          </a:prstGeom>
          <a:solidFill>
            <a:srgbClr val="23272E"/>
          </a:solidFill>
          <a:ln w="12700">
            <a:solidFill>
              <a:srgbClr val="23272E"/>
            </a:solidFill>
            <a:prstDash val="solid"/>
          </a:ln>
        </p:spPr>
      </p:sp>
      <p:sp>
        <p:nvSpPr>
          <p:cNvPr id="8" name="Text 6"/>
          <p:cNvSpPr txBox="1"/>
          <p:nvPr/>
        </p:nvSpPr>
        <p:spPr>
          <a:xfrm>
            <a:off x="640080" y="1536192"/>
            <a:ext cx="4279392" cy="2697480"/>
          </a:xfrm>
          <a:prstGeom prst="rect">
            <a:avLst/>
          </a:prstGeom>
          <a:noFill/>
          <a:ln/>
        </p:spPr>
        <p:txBody>
          <a:bodyPr wrap="square" lIns="0" tIns="0" rIns="0" bIns="0" rtlCol="0" anchor="t"/>
          <a:lstStyle/>
          <a:p>
            <a:pPr indent="0" marL="0">
              <a:buNone/>
            </a:pPr>
            <a:r>
              <a:rPr lang="en-US" sz="700" dirty="0">
                <a:solidFill>
                  <a:srgbClr val="E6EDF3"/>
                </a:solidFill>
                <a:latin typeface="Courier New" pitchFamily="34" charset="0"/>
                <a:ea typeface="Courier New" pitchFamily="34" charset="-122"/>
                <a:cs typeface="Courier New" pitchFamily="34" charset="-120"/>
              </a:rPr>
              <a:t>m = EmailMessage(); m[</a:t>
            </a:r>
            <a:r>
              <a:rPr lang="en-US" sz="700" dirty="0">
                <a:solidFill>
                  <a:srgbClr val="9ECBFF"/>
                </a:solidFill>
                <a:latin typeface="Courier New" pitchFamily="34" charset="0"/>
                <a:ea typeface="Courier New" pitchFamily="34" charset="-122"/>
                <a:cs typeface="Courier New" pitchFamily="34" charset="-120"/>
              </a:rPr>
              <a:t>'Subject'</a:t>
            </a:r>
            <a:r>
              <a:rPr lang="en-US" sz="700" dirty="0">
                <a:solidFill>
                  <a:srgbClr val="E6EDF3"/>
                </a:solidFill>
                <a:latin typeface="Courier New" pitchFamily="34" charset="0"/>
                <a:ea typeface="Courier New" pitchFamily="34" charset="-122"/>
                <a:cs typeface="Courier New" pitchFamily="34" charset="-120"/>
              </a:rPr>
              <a:t>] = </a:t>
            </a:r>
            <a:r>
              <a:rPr lang="en-US" sz="700" dirty="0">
                <a:solidFill>
                  <a:srgbClr val="9ECBFF"/>
                </a:solidFill>
                <a:latin typeface="Courier New" pitchFamily="34" charset="0"/>
                <a:ea typeface="Courier New" pitchFamily="34" charset="-122"/>
                <a:cs typeface="Courier New" pitchFamily="34" charset="-120"/>
              </a:rPr>
              <a:t>'Yedekleme bitti şğı'</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print(line := m.as_bytes().decode().splitlines()[</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print(str(make_header(decode_header(line.split(</a:t>
            </a:r>
            <a:r>
              <a:rPr lang="en-US" sz="700" dirty="0">
                <a:solidFill>
                  <a:srgbClr val="9ECBFF"/>
                </a:solidFill>
                <a:latin typeface="Courier New" pitchFamily="34" charset="0"/>
                <a:ea typeface="Courier New" pitchFamily="34" charset="-122"/>
                <a:cs typeface="Courier New" pitchFamily="34" charset="-120"/>
              </a:rPr>
              <a:t>': '</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s = </a:t>
            </a:r>
            <a:r>
              <a:rPr lang="en-US" sz="700" dirty="0">
                <a:solidFill>
                  <a:srgbClr val="9ECBFF"/>
                </a:solidFill>
                <a:latin typeface="Courier New" pitchFamily="34" charset="0"/>
                <a:ea typeface="Courier New" pitchFamily="34" charset="-122"/>
                <a:cs typeface="Courier New" pitchFamily="34" charset="-120"/>
              </a:rPr>
              <a:t>'"Doe, Jon" &lt;jon@example.org&gt;, Al Sweigart &lt;al@example.com&gt;'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print(eu.getaddresses([s]))</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print(eu.getaddresses([s.replace(</a:t>
            </a:r>
            <a:r>
              <a:rPr lang="en-US" sz="700" dirty="0">
                <a:solidFill>
                  <a:srgbClr val="9ECBFF"/>
                </a:solidFill>
                <a:latin typeface="Courier New" pitchFamily="34" charset="0"/>
                <a:ea typeface="Courier New" pitchFamily="34" charset="-122"/>
                <a:cs typeface="Courier New" pitchFamily="34" charset="-120"/>
              </a:rPr>
              <a:t>'"Doe, Jon"'</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'Doe, Jon'</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two = </a:t>
            </a:r>
            <a:r>
              <a:rPr lang="en-US" sz="700" dirty="0">
                <a:solidFill>
                  <a:srgbClr val="9ECBFF"/>
                </a:solidFill>
                <a:latin typeface="Courier New" pitchFamily="34" charset="0"/>
                <a:ea typeface="Courier New" pitchFamily="34" charset="-122"/>
                <a:cs typeface="Courier New" pitchFamily="34" charset="-120"/>
              </a:rPr>
              <a:t>'real@example.com, evil@example.net'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print(eu.parseaddr(two), eu.parseaddr(two, strict=</a:t>
            </a:r>
            <a:r>
              <a:rPr lang="en-US" sz="700" b="1" dirty="0">
                <a:solidFill>
                  <a:srgbClr val="F2A860"/>
                </a:solidFill>
                <a:latin typeface="Courier New" pitchFamily="34" charset="0"/>
                <a:ea typeface="Courier New" pitchFamily="34" charset="-122"/>
                <a:cs typeface="Courier New" pitchFamily="34" charset="-120"/>
              </a:rPr>
              <a:t>False</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bad = </a:t>
            </a:r>
            <a:r>
              <a:rPr lang="en-US" sz="700" dirty="0">
                <a:solidFill>
                  <a:srgbClr val="9ECBFF"/>
                </a:solidFill>
                <a:latin typeface="Courier New" pitchFamily="34" charset="0"/>
                <a:ea typeface="Courier New" pitchFamily="34" charset="-122"/>
                <a:cs typeface="Courier New" pitchFamily="34" charset="-120"/>
              </a:rPr>
              <a:t>'hi\r\nBcc: evil@example.net'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try: EmailMessage()[</a:t>
            </a:r>
            <a:r>
              <a:rPr lang="en-US" sz="700" dirty="0">
                <a:solidFill>
                  <a:srgbClr val="9ECBFF"/>
                </a:solidFill>
                <a:latin typeface="Courier New" pitchFamily="34" charset="0"/>
                <a:ea typeface="Courier New" pitchFamily="34" charset="-122"/>
                <a:cs typeface="Courier New" pitchFamily="34" charset="-120"/>
              </a:rPr>
              <a:t>'Subject'</a:t>
            </a:r>
            <a:r>
              <a:rPr lang="en-US" sz="700" dirty="0">
                <a:solidFill>
                  <a:srgbClr val="E6EDF3"/>
                </a:solidFill>
                <a:latin typeface="Courier New" pitchFamily="34" charset="0"/>
                <a:ea typeface="Courier New" pitchFamily="34" charset="-122"/>
                <a:cs typeface="Courier New" pitchFamily="34" charset="-120"/>
              </a:rPr>
              <a:t>] = bad</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except ValueError: print(</a:t>
            </a:r>
            <a:r>
              <a:rPr lang="en-US" sz="700" dirty="0">
                <a:solidFill>
                  <a:srgbClr val="9ECBFF"/>
                </a:solidFill>
                <a:latin typeface="Courier New" pitchFamily="34" charset="0"/>
                <a:ea typeface="Courier New" pitchFamily="34" charset="-122"/>
                <a:cs typeface="Courier New" pitchFamily="34" charset="-120"/>
              </a:rPr>
              <a:t>'EmailMessage: ValueError at once'</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t = MIMEText(</a:t>
            </a:r>
            <a:r>
              <a:rPr lang="en-US" sz="700" dirty="0">
                <a:solidFill>
                  <a:srgbClr val="9ECBFF"/>
                </a:solidFill>
                <a:latin typeface="Courier New" pitchFamily="34" charset="0"/>
                <a:ea typeface="Courier New" pitchFamily="34" charset="-122"/>
                <a:cs typeface="Courier New" pitchFamily="34" charset="-120"/>
              </a:rPr>
              <a:t>'x'</a:t>
            </a:r>
            <a:r>
              <a:rPr lang="en-US" sz="700" dirty="0">
                <a:solidFill>
                  <a:srgbClr val="E6EDF3"/>
                </a:solidFill>
                <a:latin typeface="Courier New" pitchFamily="34" charset="0"/>
                <a:ea typeface="Courier New" pitchFamily="34" charset="-122"/>
                <a:cs typeface="Courier New" pitchFamily="34" charset="-120"/>
              </a:rPr>
              <a:t>); t[</a:t>
            </a:r>
            <a:r>
              <a:rPr lang="en-US" sz="700" dirty="0">
                <a:solidFill>
                  <a:srgbClr val="9ECBFF"/>
                </a:solidFill>
                <a:latin typeface="Courier New" pitchFamily="34" charset="0"/>
                <a:ea typeface="Courier New" pitchFamily="34" charset="-122"/>
                <a:cs typeface="Courier New" pitchFamily="34" charset="-120"/>
              </a:rPr>
              <a:t>'Subject'</a:t>
            </a:r>
            <a:r>
              <a:rPr lang="en-US" sz="700" dirty="0">
                <a:solidFill>
                  <a:srgbClr val="E6EDF3"/>
                </a:solidFill>
                <a:latin typeface="Courier New" pitchFamily="34" charset="0"/>
                <a:ea typeface="Courier New" pitchFamily="34" charset="-122"/>
                <a:cs typeface="Courier New" pitchFamily="34" charset="-120"/>
              </a:rPr>
              <a:t>] = bad</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try: t.as_string()</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except Exception as ex: print(</a:t>
            </a:r>
            <a:r>
              <a:rPr lang="en-US" sz="700" dirty="0">
                <a:solidFill>
                  <a:srgbClr val="9ECBFF"/>
                </a:solidFill>
                <a:latin typeface="Courier New" pitchFamily="34" charset="0"/>
                <a:ea typeface="Courier New" pitchFamily="34" charset="-122"/>
                <a:cs typeface="Courier New" pitchFamily="34" charset="-120"/>
              </a:rPr>
              <a:t>'MIMEText, when written:'</a:t>
            </a:r>
            <a:r>
              <a:rPr lang="en-US" sz="700" dirty="0">
                <a:solidFill>
                  <a:srgbClr val="E6EDF3"/>
                </a:solidFill>
                <a:latin typeface="Courier New" pitchFamily="34" charset="0"/>
                <a:ea typeface="Courier New" pitchFamily="34" charset="-122"/>
                <a:cs typeface="Courier New" pitchFamily="34" charset="-120"/>
              </a:rPr>
              <a:t>, type(ex).__name__)</a:t>
            </a:r>
            <a:endParaRPr lang="en-US" sz="700" dirty="0"/>
          </a:p>
          <a:p>
            <a:pPr indent="0" marL="0">
              <a:buNone/>
            </a:pPr>
            <a:r>
              <a:rPr lang="en-US" sz="700" b="1" dirty="0">
                <a:solidFill>
                  <a:srgbClr val="D97A14"/>
                </a:solidFill>
                <a:latin typeface="Courier New" pitchFamily="34" charset="0"/>
                <a:ea typeface="Courier New" pitchFamily="34" charset="-122"/>
                <a:cs typeface="Courier New" pitchFamily="34" charset="-120"/>
              </a:rPr>
              <a:t>prints </a:t>
            </a:r>
            <a:r>
              <a:rPr lang="en-US" sz="700" dirty="0">
                <a:solidFill>
                  <a:srgbClr val="7EE787"/>
                </a:solidFill>
                <a:latin typeface="Courier New" pitchFamily="34" charset="0"/>
                <a:ea typeface="Courier New" pitchFamily="34" charset="-122"/>
                <a:cs typeface="Courier New" pitchFamily="34" charset="-120"/>
              </a:rPr>
              <a:t>Subject: Yedekleme bitti =?utf-8?b?xZ/En8Sx?=</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Yedekleme bitti şğı</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[('Doe, Jon', 'jon@example.org'), ('Al Sweigart', 'al@example.com')]</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 'Doe'), ('Jon', 'jon@example.org'), ('Al Sweigart', 'al@example.com')]</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 '') ('', 'real@example.com')</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EmailMessage: ValueError at once</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MIMEText, when written: HeaderParseError</a:t>
            </a:r>
            <a:endParaRPr lang="en-US" sz="700" dirty="0"/>
          </a:p>
        </p:txBody>
      </p:sp>
      <p:sp>
        <p:nvSpPr>
          <p:cNvPr id="9" name="Shape 7"/>
          <p:cNvSpPr/>
          <p:nvPr/>
        </p:nvSpPr>
        <p:spPr>
          <a:xfrm>
            <a:off x="5285232" y="1280160"/>
            <a:ext cx="3401568" cy="1554480"/>
          </a:xfrm>
          <a:prstGeom prst="roundRect">
            <a:avLst>
              <a:gd name="adj" fmla="val 5882"/>
            </a:avLst>
          </a:prstGeom>
          <a:solidFill>
            <a:srgbClr val="F2ECE1"/>
          </a:solidFill>
          <a:ln w="12700">
            <a:solidFill>
              <a:srgbClr val="F2ECE1"/>
            </a:solidFill>
            <a:prstDash val="solid"/>
          </a:ln>
        </p:spPr>
      </p:sp>
      <p:sp>
        <p:nvSpPr>
          <p:cNvPr id="10" name="Text 8"/>
          <p:cNvSpPr txBox="1"/>
          <p:nvPr/>
        </p:nvSpPr>
        <p:spPr>
          <a:xfrm>
            <a:off x="5468112" y="1399032"/>
            <a:ext cx="3035808" cy="347472"/>
          </a:xfrm>
          <a:prstGeom prst="rect">
            <a:avLst/>
          </a:prstGeom>
          <a:noFill/>
          <a:ln/>
        </p:spPr>
        <p:txBody>
          <a:bodyPr wrap="square" lIns="0" tIns="0" rIns="0" bIns="0" rtlCol="0" anchor="ctr"/>
          <a:lstStyle/>
          <a:p>
            <a:pPr indent="0" marL="0">
              <a:buNone/>
            </a:pPr>
            <a:r>
              <a:rPr lang="en-US" sz="1600" b="1" dirty="0">
                <a:solidFill>
                  <a:srgbClr val="D97A14"/>
                </a:solidFill>
                <a:latin typeface="Cambria" pitchFamily="34" charset="0"/>
                <a:ea typeface="Cambria" pitchFamily="34" charset="-122"/>
                <a:cs typeface="Cambria" pitchFamily="34" charset="-120"/>
              </a:rPr>
              <a:t>Header injection</a:t>
            </a:r>
            <a:endParaRPr lang="en-US" sz="1600" dirty="0"/>
          </a:p>
        </p:txBody>
      </p:sp>
      <p:sp>
        <p:nvSpPr>
          <p:cNvPr id="11" name="Text 9"/>
          <p:cNvSpPr txBox="1"/>
          <p:nvPr/>
        </p:nvSpPr>
        <p:spPr>
          <a:xfrm>
            <a:off x="5468112" y="1783080"/>
            <a:ext cx="3035808" cy="914400"/>
          </a:xfrm>
          <a:prstGeom prst="rect">
            <a:avLst/>
          </a:prstGeom>
          <a:noFill/>
          <a:ln/>
        </p:spPr>
        <p:txBody>
          <a:bodyPr wrap="square" lIns="0" tIns="0" rIns="0" bIns="0" rtlCol="0" anchor="t"/>
          <a:lstStyle/>
          <a:p>
            <a:pPr indent="0" marL="0">
              <a:buNone/>
            </a:pPr>
            <a:r>
              <a:rPr lang="en-US" sz="900" dirty="0">
                <a:solidFill>
                  <a:srgbClr val="2B2622"/>
                </a:solidFill>
                <a:latin typeface="Calibri" pitchFamily="34" charset="0"/>
                <a:ea typeface="Calibri" pitchFamily="34" charset="-122"/>
                <a:cs typeface="Calibri" pitchFamily="34" charset="-120"/>
              </a:rPr>
              <a:t>A line break in a header would let text add a Bcc header. EmailMessage refuses it at once; MIMEText, which EZGmail uses, refuses it when the message is written.</a:t>
            </a:r>
            <a:endParaRPr lang="en-US" sz="900" dirty="0"/>
          </a:p>
        </p:txBody>
      </p:sp>
      <p:sp>
        <p:nvSpPr>
          <p:cNvPr id="12" name="Shape 10"/>
          <p:cNvSpPr/>
          <p:nvPr/>
        </p:nvSpPr>
        <p:spPr>
          <a:xfrm>
            <a:off x="5285232" y="2926080"/>
            <a:ext cx="3401568" cy="914400"/>
          </a:xfrm>
          <a:prstGeom prst="roundRect">
            <a:avLst>
              <a:gd name="adj" fmla="val 10000"/>
            </a:avLst>
          </a:prstGeom>
          <a:solidFill>
            <a:srgbClr val="F2ECE1"/>
          </a:solidFill>
          <a:ln w="12700">
            <a:solidFill>
              <a:srgbClr val="F2ECE1"/>
            </a:solidFill>
            <a:prstDash val="solid"/>
          </a:ln>
        </p:spPr>
      </p:sp>
      <p:sp>
        <p:nvSpPr>
          <p:cNvPr id="13" name="Text 11"/>
          <p:cNvSpPr txBox="1"/>
          <p:nvPr/>
        </p:nvSpPr>
        <p:spPr>
          <a:xfrm>
            <a:off x="5468112" y="3044952"/>
            <a:ext cx="3035808" cy="347472"/>
          </a:xfrm>
          <a:prstGeom prst="rect">
            <a:avLst/>
          </a:prstGeom>
          <a:noFill/>
          <a:ln/>
        </p:spPr>
        <p:txBody>
          <a:bodyPr wrap="square" lIns="0" tIns="0" rIns="0" bIns="0" rtlCol="0" anchor="ctr"/>
          <a:lstStyle/>
          <a:p>
            <a:pPr indent="0" marL="0">
              <a:buNone/>
            </a:pPr>
            <a:r>
              <a:rPr lang="en-US" sz="1600" b="1" dirty="0">
                <a:solidFill>
                  <a:srgbClr val="2F6D62"/>
                </a:solidFill>
                <a:latin typeface="Cambria" pitchFamily="34" charset="0"/>
                <a:ea typeface="Cambria" pitchFamily="34" charset="-122"/>
                <a:cs typeface="Cambria" pitchFamily="34" charset="-120"/>
              </a:rPr>
              <a:t>Quote the name</a:t>
            </a:r>
            <a:endParaRPr lang="en-US" sz="1600" dirty="0"/>
          </a:p>
        </p:txBody>
      </p:sp>
      <p:sp>
        <p:nvSpPr>
          <p:cNvPr id="14" name="Text 12"/>
          <p:cNvSpPr txBox="1"/>
          <p:nvPr/>
        </p:nvSpPr>
        <p:spPr>
          <a:xfrm>
            <a:off x="5468112" y="3429000"/>
            <a:ext cx="3035808" cy="274320"/>
          </a:xfrm>
          <a:prstGeom prst="rect">
            <a:avLst/>
          </a:prstGeom>
          <a:noFill/>
          <a:ln/>
        </p:spPr>
        <p:txBody>
          <a:bodyPr wrap="square" lIns="0" tIns="0" rIns="0" bIns="0" rtlCol="0" anchor="t"/>
          <a:lstStyle/>
          <a:p>
            <a:pPr indent="0" marL="0">
              <a:buNone/>
            </a:pPr>
            <a:r>
              <a:rPr lang="en-US" sz="900" dirty="0">
                <a:solidFill>
                  <a:srgbClr val="2B2622"/>
                </a:solidFill>
                <a:latin typeface="Calibri" pitchFamily="34" charset="0"/>
                <a:ea typeface="Calibri" pitchFamily="34" charset="-122"/>
                <a:cs typeface="Calibri" pitchFamily="34" charset="-120"/>
              </a:rPr>
              <a:t>A comma in a name needs quotes, or one person becomes two.</a:t>
            </a:r>
            <a:endParaRPr lang="en-US" sz="900" dirty="0"/>
          </a:p>
        </p:txBody>
      </p:sp>
      <p:sp>
        <p:nvSpPr>
          <p:cNvPr id="15" name="Text 13"/>
          <p:cNvSpPr txBox="1"/>
          <p:nvPr/>
        </p:nvSpPr>
        <p:spPr>
          <a:xfrm>
            <a:off x="5285232" y="3886200"/>
            <a:ext cx="3401568" cy="155448"/>
          </a:xfrm>
          <a:prstGeom prst="rect">
            <a:avLst/>
          </a:prstGeom>
          <a:noFill/>
          <a:ln/>
        </p:spPr>
        <p:txBody>
          <a:bodyPr wrap="square" lIns="0" tIns="0" rIns="0" bIns="0" rtlCol="0" anchor="t"/>
          <a:lstStyle/>
          <a:p>
            <a:pPr indent="0" marL="0">
              <a:buNone/>
            </a:pPr>
            <a:r>
              <a:rPr lang="en-US" sz="800" i="1" dirty="0">
                <a:solidFill>
                  <a:srgbClr val="6E655C"/>
                </a:solidFill>
                <a:latin typeface="Calibri" pitchFamily="34" charset="0"/>
                <a:ea typeface="Calibri" pitchFamily="34" charset="-122"/>
                <a:cs typeface="Calibri" pitchFamily="34" charset="-120"/>
              </a:rPr>
              <a:t>Lines 1 to 14 (imports, a helper and a comment) are not shown.</a:t>
            </a:r>
            <a:endParaRPr lang="en-US" sz="800" dirty="0"/>
          </a:p>
        </p:txBody>
      </p:sp>
      <p:sp>
        <p:nvSpPr>
          <p:cNvPr id="16" name="Shape 14"/>
          <p:cNvSpPr/>
          <p:nvPr/>
        </p:nvSpPr>
        <p:spPr>
          <a:xfrm>
            <a:off x="457200" y="4636008"/>
            <a:ext cx="91440" cy="310896"/>
          </a:xfrm>
          <a:prstGeom prst="rect">
            <a:avLst/>
          </a:prstGeom>
          <a:solidFill>
            <a:srgbClr val="D97A14"/>
          </a:solidFill>
          <a:ln w="12700">
            <a:solidFill>
              <a:srgbClr val="D97A14"/>
            </a:solidFill>
            <a:prstDash val="solid"/>
          </a:ln>
        </p:spPr>
      </p:sp>
      <p:sp>
        <p:nvSpPr>
          <p:cNvPr id="17" name="Text 1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Encode the header, quote the name, and refuse the line break.</a:t>
            </a:r>
            <a:endParaRPr lang="en-US" sz="1350" dirty="0"/>
          </a:p>
        </p:txBody>
      </p:sp>
      <p:sp>
        <p:nvSpPr>
          <p:cNvPr id="18"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11 / 26</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SMTP with STARTTLS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Upgrade the connection, verify the certificate, and only then log in</a:t>
            </a:r>
            <a:endParaRPr lang="en-US" sz="1300" dirty="0"/>
          </a:p>
        </p:txBody>
      </p:sp>
      <p:sp>
        <p:nvSpPr>
          <p:cNvPr id="6" name="Shape 4"/>
          <p:cNvSpPr/>
          <p:nvPr/>
        </p:nvSpPr>
        <p:spPr>
          <a:xfrm>
            <a:off x="502920" y="1325880"/>
            <a:ext cx="1005840" cy="384048"/>
          </a:xfrm>
          <a:prstGeom prst="roundRect">
            <a:avLst>
              <a:gd name="adj" fmla="val 19048"/>
            </a:avLst>
          </a:prstGeom>
          <a:solidFill>
            <a:srgbClr val="2F6D62"/>
          </a:solidFill>
          <a:ln w="15875">
            <a:solidFill>
              <a:srgbClr val="2F6D62"/>
            </a:solidFill>
            <a:prstDash val="solid"/>
          </a:ln>
        </p:spPr>
      </p:sp>
      <p:sp>
        <p:nvSpPr>
          <p:cNvPr id="7" name="Text 5"/>
          <p:cNvSpPr txBox="1"/>
          <p:nvPr/>
        </p:nvSpPr>
        <p:spPr>
          <a:xfrm>
            <a:off x="557784" y="1355141"/>
            <a:ext cx="896112" cy="32552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The client program</a:t>
            </a:r>
            <a:endParaRPr lang="en-US" sz="1000" dirty="0"/>
          </a:p>
        </p:txBody>
      </p:sp>
      <p:sp>
        <p:nvSpPr>
          <p:cNvPr id="8" name="Shape 6"/>
          <p:cNvSpPr/>
          <p:nvPr/>
        </p:nvSpPr>
        <p:spPr>
          <a:xfrm>
            <a:off x="1005840" y="1709928"/>
            <a:ext cx="0" cy="2496312"/>
          </a:xfrm>
          <a:prstGeom prst="line">
            <a:avLst/>
          </a:prstGeom>
          <a:noFill/>
          <a:ln w="19050">
            <a:solidFill>
              <a:srgbClr val="DFD6C7"/>
            </a:solidFill>
            <a:prstDash val="dash"/>
          </a:ln>
        </p:spPr>
      </p:sp>
      <p:sp>
        <p:nvSpPr>
          <p:cNvPr id="9" name="Shape 7"/>
          <p:cNvSpPr/>
          <p:nvPr/>
        </p:nvSpPr>
        <p:spPr>
          <a:xfrm>
            <a:off x="3154680" y="1325880"/>
            <a:ext cx="1005840" cy="384048"/>
          </a:xfrm>
          <a:prstGeom prst="roundRect">
            <a:avLst>
              <a:gd name="adj" fmla="val 19048"/>
            </a:avLst>
          </a:prstGeom>
          <a:solidFill>
            <a:srgbClr val="2F6D62"/>
          </a:solidFill>
          <a:ln w="15875">
            <a:solidFill>
              <a:srgbClr val="2F6D62"/>
            </a:solidFill>
            <a:prstDash val="solid"/>
          </a:ln>
        </p:spPr>
      </p:sp>
      <p:sp>
        <p:nvSpPr>
          <p:cNvPr id="10" name="Text 8"/>
          <p:cNvSpPr txBox="1"/>
          <p:nvPr/>
        </p:nvSpPr>
        <p:spPr>
          <a:xfrm>
            <a:off x="3209544" y="1355141"/>
            <a:ext cx="896112" cy="32552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The SMTP server</a:t>
            </a:r>
            <a:endParaRPr lang="en-US" sz="1000" dirty="0"/>
          </a:p>
        </p:txBody>
      </p:sp>
      <p:sp>
        <p:nvSpPr>
          <p:cNvPr id="11" name="Shape 9"/>
          <p:cNvSpPr/>
          <p:nvPr/>
        </p:nvSpPr>
        <p:spPr>
          <a:xfrm>
            <a:off x="3657600" y="1709928"/>
            <a:ext cx="0" cy="2496312"/>
          </a:xfrm>
          <a:prstGeom prst="line">
            <a:avLst/>
          </a:prstGeom>
          <a:noFill/>
          <a:ln w="19050">
            <a:solidFill>
              <a:srgbClr val="DFD6C7"/>
            </a:solidFill>
            <a:prstDash val="dash"/>
          </a:ln>
        </p:spPr>
      </p:sp>
      <p:sp>
        <p:nvSpPr>
          <p:cNvPr id="12" name="Shape 10"/>
          <p:cNvSpPr/>
          <p:nvPr/>
        </p:nvSpPr>
        <p:spPr>
          <a:xfrm>
            <a:off x="1005840" y="2142439"/>
            <a:ext cx="2651760" cy="0"/>
          </a:xfrm>
          <a:prstGeom prst="line">
            <a:avLst/>
          </a:prstGeom>
          <a:noFill/>
          <a:ln w="22225">
            <a:solidFill>
              <a:srgbClr val="D97A14"/>
            </a:solidFill>
            <a:prstDash val="solid"/>
            <a:tailEnd type="triangle"/>
          </a:ln>
        </p:spPr>
      </p:sp>
      <p:sp>
        <p:nvSpPr>
          <p:cNvPr id="13" name="Text 11"/>
          <p:cNvSpPr txBox="1"/>
          <p:nvPr/>
        </p:nvSpPr>
        <p:spPr>
          <a:xfrm>
            <a:off x="1097280" y="1955902"/>
            <a:ext cx="2468880" cy="140818"/>
          </a:xfrm>
          <a:prstGeom prst="rect">
            <a:avLst/>
          </a:prstGeom>
          <a:noFill/>
          <a:ln/>
        </p:spPr>
        <p:txBody>
          <a:bodyPr wrap="square" lIns="0" tIns="0" rIns="0" bIns="0" rtlCol="0" anchor="b"/>
          <a:lstStyle/>
          <a:p>
            <a:pPr algn="ctr" indent="0" marL="0">
              <a:buNone/>
            </a:pPr>
            <a:r>
              <a:rPr lang="en-US" sz="800" dirty="0">
                <a:solidFill>
                  <a:srgbClr val="2B2622"/>
                </a:solidFill>
                <a:latin typeface="Calibri" pitchFamily="34" charset="0"/>
                <a:ea typeface="Calibri" pitchFamily="34" charset="-122"/>
                <a:cs typeface="Calibri" pitchFamily="34" charset="-120"/>
              </a:rPr>
              <a:t>Calls ehlo() after connecting</a:t>
            </a:r>
            <a:endParaRPr lang="en-US" sz="800" dirty="0"/>
          </a:p>
        </p:txBody>
      </p:sp>
      <p:sp>
        <p:nvSpPr>
          <p:cNvPr id="14" name="Shape 12"/>
          <p:cNvSpPr/>
          <p:nvPr/>
        </p:nvSpPr>
        <p:spPr>
          <a:xfrm flipH="1">
            <a:off x="1005840" y="2425903"/>
            <a:ext cx="2651760" cy="0"/>
          </a:xfrm>
          <a:prstGeom prst="line">
            <a:avLst/>
          </a:prstGeom>
          <a:noFill/>
          <a:ln w="22225">
            <a:solidFill>
              <a:srgbClr val="6E655C"/>
            </a:solidFill>
            <a:prstDash val="dash"/>
            <a:tailEnd type="triangle"/>
          </a:ln>
        </p:spPr>
      </p:sp>
      <p:sp>
        <p:nvSpPr>
          <p:cNvPr id="15" name="Text 13"/>
          <p:cNvSpPr txBox="1"/>
          <p:nvPr/>
        </p:nvSpPr>
        <p:spPr>
          <a:xfrm>
            <a:off x="1097280" y="2239366"/>
            <a:ext cx="2468880" cy="140818"/>
          </a:xfrm>
          <a:prstGeom prst="rect">
            <a:avLst/>
          </a:prstGeom>
          <a:noFill/>
          <a:ln/>
        </p:spPr>
        <p:txBody>
          <a:bodyPr wrap="square" lIns="0" tIns="0" rIns="0" bIns="0" rtlCol="0" anchor="b"/>
          <a:lstStyle/>
          <a:p>
            <a:pPr algn="ctr" indent="0" marL="0">
              <a:buNone/>
            </a:pPr>
            <a:r>
              <a:rPr lang="en-US" sz="800" i="1" dirty="0">
                <a:solidFill>
                  <a:srgbClr val="2B2622"/>
                </a:solidFill>
                <a:latin typeface="Calibri" pitchFamily="34" charset="0"/>
                <a:ea typeface="Calibri" pitchFamily="34" charset="-122"/>
                <a:cs typeface="Calibri" pitchFamily="34" charset="-120"/>
              </a:rPr>
              <a:t>Advertises STARTTLS</a:t>
            </a:r>
            <a:endParaRPr lang="en-US" sz="800" dirty="0"/>
          </a:p>
        </p:txBody>
      </p:sp>
      <p:sp>
        <p:nvSpPr>
          <p:cNvPr id="16" name="Shape 14"/>
          <p:cNvSpPr/>
          <p:nvPr/>
        </p:nvSpPr>
        <p:spPr>
          <a:xfrm>
            <a:off x="1005840" y="2709367"/>
            <a:ext cx="2651760" cy="0"/>
          </a:xfrm>
          <a:prstGeom prst="line">
            <a:avLst/>
          </a:prstGeom>
          <a:noFill/>
          <a:ln w="22225">
            <a:solidFill>
              <a:srgbClr val="D97A14"/>
            </a:solidFill>
            <a:prstDash val="solid"/>
            <a:tailEnd type="triangle"/>
          </a:ln>
        </p:spPr>
      </p:sp>
      <p:sp>
        <p:nvSpPr>
          <p:cNvPr id="17" name="Text 15"/>
          <p:cNvSpPr txBox="1"/>
          <p:nvPr/>
        </p:nvSpPr>
        <p:spPr>
          <a:xfrm>
            <a:off x="1097280" y="2522830"/>
            <a:ext cx="2468880" cy="140818"/>
          </a:xfrm>
          <a:prstGeom prst="rect">
            <a:avLst/>
          </a:prstGeom>
          <a:noFill/>
          <a:ln/>
        </p:spPr>
        <p:txBody>
          <a:bodyPr wrap="square" lIns="0" tIns="0" rIns="0" bIns="0" rtlCol="0" anchor="b"/>
          <a:lstStyle/>
          <a:p>
            <a:pPr algn="ctr" indent="0" marL="0">
              <a:buNone/>
            </a:pPr>
            <a:r>
              <a:rPr lang="en-US" sz="800" dirty="0">
                <a:solidFill>
                  <a:srgbClr val="2B2622"/>
                </a:solidFill>
                <a:latin typeface="Calibri" pitchFamily="34" charset="0"/>
                <a:ea typeface="Calibri" pitchFamily="34" charset="-122"/>
                <a:cs typeface="Calibri" pitchFamily="34" charset="-120"/>
              </a:rPr>
              <a:t>Calls starttls() with a context</a:t>
            </a:r>
            <a:endParaRPr lang="en-US" sz="800" dirty="0"/>
          </a:p>
        </p:txBody>
      </p:sp>
      <p:sp>
        <p:nvSpPr>
          <p:cNvPr id="18" name="Shape 16"/>
          <p:cNvSpPr/>
          <p:nvPr/>
        </p:nvSpPr>
        <p:spPr>
          <a:xfrm flipH="1">
            <a:off x="1005840" y="2992831"/>
            <a:ext cx="2651760" cy="0"/>
          </a:xfrm>
          <a:prstGeom prst="line">
            <a:avLst/>
          </a:prstGeom>
          <a:noFill/>
          <a:ln w="22225">
            <a:solidFill>
              <a:srgbClr val="6E655C"/>
            </a:solidFill>
            <a:prstDash val="dash"/>
            <a:tailEnd type="triangle"/>
          </a:ln>
        </p:spPr>
      </p:sp>
      <p:sp>
        <p:nvSpPr>
          <p:cNvPr id="19" name="Text 17"/>
          <p:cNvSpPr txBox="1"/>
          <p:nvPr/>
        </p:nvSpPr>
        <p:spPr>
          <a:xfrm>
            <a:off x="1097280" y="2806294"/>
            <a:ext cx="2468880" cy="140818"/>
          </a:xfrm>
          <a:prstGeom prst="rect">
            <a:avLst/>
          </a:prstGeom>
          <a:noFill/>
          <a:ln/>
        </p:spPr>
        <p:txBody>
          <a:bodyPr wrap="square" lIns="0" tIns="0" rIns="0" bIns="0" rtlCol="0" anchor="b"/>
          <a:lstStyle/>
          <a:p>
            <a:pPr algn="ctr" indent="0" marL="0">
              <a:buNone/>
            </a:pPr>
            <a:r>
              <a:rPr lang="en-US" sz="800" i="1" dirty="0">
                <a:solidFill>
                  <a:srgbClr val="2B2622"/>
                </a:solidFill>
                <a:latin typeface="Calibri" pitchFamily="34" charset="0"/>
                <a:ea typeface="Calibri" pitchFamily="34" charset="-122"/>
                <a:cs typeface="Calibri" pitchFamily="34" charset="-120"/>
              </a:rPr>
              <a:t>Answers 220 and the session uses TLS</a:t>
            </a:r>
            <a:endParaRPr lang="en-US" sz="800" dirty="0"/>
          </a:p>
        </p:txBody>
      </p:sp>
      <p:sp>
        <p:nvSpPr>
          <p:cNvPr id="20" name="Shape 18"/>
          <p:cNvSpPr/>
          <p:nvPr/>
        </p:nvSpPr>
        <p:spPr>
          <a:xfrm>
            <a:off x="1005840" y="3276295"/>
            <a:ext cx="2651760" cy="0"/>
          </a:xfrm>
          <a:prstGeom prst="line">
            <a:avLst/>
          </a:prstGeom>
          <a:noFill/>
          <a:ln w="22225">
            <a:solidFill>
              <a:srgbClr val="D97A14"/>
            </a:solidFill>
            <a:prstDash val="solid"/>
            <a:tailEnd type="triangle"/>
          </a:ln>
        </p:spPr>
      </p:sp>
      <p:sp>
        <p:nvSpPr>
          <p:cNvPr id="21" name="Text 19"/>
          <p:cNvSpPr txBox="1"/>
          <p:nvPr/>
        </p:nvSpPr>
        <p:spPr>
          <a:xfrm>
            <a:off x="1097280" y="3089758"/>
            <a:ext cx="2468880" cy="140818"/>
          </a:xfrm>
          <a:prstGeom prst="rect">
            <a:avLst/>
          </a:prstGeom>
          <a:noFill/>
          <a:ln/>
        </p:spPr>
        <p:txBody>
          <a:bodyPr wrap="square" lIns="0" tIns="0" rIns="0" bIns="0" rtlCol="0" anchor="b"/>
          <a:lstStyle/>
          <a:p>
            <a:pPr algn="ctr" indent="0" marL="0">
              <a:buNone/>
            </a:pPr>
            <a:r>
              <a:rPr lang="en-US" sz="800" dirty="0">
                <a:solidFill>
                  <a:srgbClr val="2B2622"/>
                </a:solidFill>
                <a:latin typeface="Calibri" pitchFamily="34" charset="0"/>
                <a:ea typeface="Calibri" pitchFamily="34" charset="-122"/>
                <a:cs typeface="Calibri" pitchFamily="34" charset="-120"/>
              </a:rPr>
              <a:t>Calls login() with the user and the password</a:t>
            </a:r>
            <a:endParaRPr lang="en-US" sz="800" dirty="0"/>
          </a:p>
        </p:txBody>
      </p:sp>
      <p:sp>
        <p:nvSpPr>
          <p:cNvPr id="22" name="Shape 20"/>
          <p:cNvSpPr/>
          <p:nvPr/>
        </p:nvSpPr>
        <p:spPr>
          <a:xfrm flipH="1">
            <a:off x="1005840" y="3559759"/>
            <a:ext cx="2651760" cy="0"/>
          </a:xfrm>
          <a:prstGeom prst="line">
            <a:avLst/>
          </a:prstGeom>
          <a:noFill/>
          <a:ln w="22225">
            <a:solidFill>
              <a:srgbClr val="6E655C"/>
            </a:solidFill>
            <a:prstDash val="dash"/>
            <a:tailEnd type="triangle"/>
          </a:ln>
        </p:spPr>
      </p:sp>
      <p:sp>
        <p:nvSpPr>
          <p:cNvPr id="23" name="Text 21"/>
          <p:cNvSpPr txBox="1"/>
          <p:nvPr/>
        </p:nvSpPr>
        <p:spPr>
          <a:xfrm>
            <a:off x="1097280" y="3373222"/>
            <a:ext cx="2468880" cy="140818"/>
          </a:xfrm>
          <a:prstGeom prst="rect">
            <a:avLst/>
          </a:prstGeom>
          <a:noFill/>
          <a:ln/>
        </p:spPr>
        <p:txBody>
          <a:bodyPr wrap="square" lIns="0" tIns="0" rIns="0" bIns="0" rtlCol="0" anchor="b"/>
          <a:lstStyle/>
          <a:p>
            <a:pPr algn="ctr" indent="0" marL="0">
              <a:buNone/>
            </a:pPr>
            <a:r>
              <a:rPr lang="en-US" sz="800" i="1" dirty="0">
                <a:solidFill>
                  <a:srgbClr val="2B2622"/>
                </a:solidFill>
                <a:latin typeface="Calibri" pitchFamily="34" charset="0"/>
                <a:ea typeface="Calibri" pitchFamily="34" charset="-122"/>
                <a:cs typeface="Calibri" pitchFamily="34" charset="-120"/>
              </a:rPr>
              <a:t>Answers 235 Authentication successful</a:t>
            </a:r>
            <a:endParaRPr lang="en-US" sz="800" dirty="0"/>
          </a:p>
        </p:txBody>
      </p:sp>
      <p:sp>
        <p:nvSpPr>
          <p:cNvPr id="24" name="Shape 22"/>
          <p:cNvSpPr/>
          <p:nvPr/>
        </p:nvSpPr>
        <p:spPr>
          <a:xfrm>
            <a:off x="1005840" y="3843223"/>
            <a:ext cx="2651760" cy="0"/>
          </a:xfrm>
          <a:prstGeom prst="line">
            <a:avLst/>
          </a:prstGeom>
          <a:noFill/>
          <a:ln w="22225">
            <a:solidFill>
              <a:srgbClr val="D97A14"/>
            </a:solidFill>
            <a:prstDash val="solid"/>
            <a:tailEnd type="triangle"/>
          </a:ln>
        </p:spPr>
      </p:sp>
      <p:sp>
        <p:nvSpPr>
          <p:cNvPr id="25" name="Text 23"/>
          <p:cNvSpPr txBox="1"/>
          <p:nvPr/>
        </p:nvSpPr>
        <p:spPr>
          <a:xfrm>
            <a:off x="1097280" y="3656686"/>
            <a:ext cx="2468880" cy="140818"/>
          </a:xfrm>
          <a:prstGeom prst="rect">
            <a:avLst/>
          </a:prstGeom>
          <a:noFill/>
          <a:ln/>
        </p:spPr>
        <p:txBody>
          <a:bodyPr wrap="square" lIns="0" tIns="0" rIns="0" bIns="0" rtlCol="0" anchor="b"/>
          <a:lstStyle/>
          <a:p>
            <a:pPr algn="ctr" indent="0" marL="0">
              <a:buNone/>
            </a:pPr>
            <a:r>
              <a:rPr lang="en-US" sz="800" dirty="0">
                <a:solidFill>
                  <a:srgbClr val="2B2622"/>
                </a:solidFill>
                <a:latin typeface="Calibri" pitchFamily="34" charset="0"/>
                <a:ea typeface="Calibri" pitchFamily="34" charset="-122"/>
                <a:cs typeface="Calibri" pitchFamily="34" charset="-120"/>
              </a:rPr>
              <a:t>Calls send_message() for the recipients</a:t>
            </a:r>
            <a:endParaRPr lang="en-US" sz="800" dirty="0"/>
          </a:p>
        </p:txBody>
      </p:sp>
      <p:sp>
        <p:nvSpPr>
          <p:cNvPr id="26" name="Shape 24"/>
          <p:cNvSpPr/>
          <p:nvPr/>
        </p:nvSpPr>
        <p:spPr>
          <a:xfrm flipH="1">
            <a:off x="1005840" y="4126687"/>
            <a:ext cx="2651760" cy="0"/>
          </a:xfrm>
          <a:prstGeom prst="line">
            <a:avLst/>
          </a:prstGeom>
          <a:noFill/>
          <a:ln w="22225">
            <a:solidFill>
              <a:srgbClr val="6E655C"/>
            </a:solidFill>
            <a:prstDash val="dash"/>
            <a:tailEnd type="triangle"/>
          </a:ln>
        </p:spPr>
      </p:sp>
      <p:sp>
        <p:nvSpPr>
          <p:cNvPr id="27" name="Text 25"/>
          <p:cNvSpPr txBox="1"/>
          <p:nvPr/>
        </p:nvSpPr>
        <p:spPr>
          <a:xfrm>
            <a:off x="1097280" y="3940150"/>
            <a:ext cx="2468880" cy="140818"/>
          </a:xfrm>
          <a:prstGeom prst="rect">
            <a:avLst/>
          </a:prstGeom>
          <a:noFill/>
          <a:ln/>
        </p:spPr>
        <p:txBody>
          <a:bodyPr wrap="square" lIns="0" tIns="0" rIns="0" bIns="0" rtlCol="0" anchor="b"/>
          <a:lstStyle/>
          <a:p>
            <a:pPr algn="ctr" indent="0" marL="0">
              <a:buNone/>
            </a:pPr>
            <a:r>
              <a:rPr lang="en-US" sz="800" i="1" dirty="0">
                <a:solidFill>
                  <a:srgbClr val="2B2622"/>
                </a:solidFill>
                <a:latin typeface="Calibri" pitchFamily="34" charset="0"/>
                <a:ea typeface="Calibri" pitchFamily="34" charset="-122"/>
                <a:cs typeface="Calibri" pitchFamily="34" charset="-120"/>
              </a:rPr>
              <a:t>Answers 250 for the message</a:t>
            </a:r>
            <a:endParaRPr lang="en-US" sz="800" dirty="0"/>
          </a:p>
        </p:txBody>
      </p:sp>
      <p:sp>
        <p:nvSpPr>
          <p:cNvPr id="28" name="Text 26"/>
          <p:cNvSpPr txBox="1"/>
          <p:nvPr/>
        </p:nvSpPr>
        <p:spPr>
          <a:xfrm>
            <a:off x="457200" y="4233672"/>
            <a:ext cx="3749040" cy="301752"/>
          </a:xfrm>
          <a:prstGeom prst="rect">
            <a:avLst/>
          </a:prstGeom>
          <a:noFill/>
          <a:ln/>
        </p:spPr>
        <p:txBody>
          <a:bodyPr wrap="square" lIns="0" tIns="0" rIns="0" bIns="0" rtlCol="0" anchor="t"/>
          <a:lstStyle/>
          <a:p>
            <a:pPr indent="0" marL="0">
              <a:buNone/>
            </a:pPr>
            <a:r>
              <a:rPr lang="en-US" sz="850" i="1" dirty="0">
                <a:solidFill>
                  <a:srgbClr val="6E655C"/>
                </a:solidFill>
                <a:latin typeface="Calibri" pitchFamily="34" charset="0"/>
                <a:ea typeface="Calibri" pitchFamily="34" charset="-122"/>
                <a:cs typeface="Calibri" pitchFamily="34" charset="-120"/>
              </a:rPr>
              <a:t>diagram ASmtpSessionWithStarttls - Interaction pattern, 30 of 33 words grounded in the chapter's text</a:t>
            </a:r>
            <a:endParaRPr lang="en-US" sz="850" dirty="0"/>
          </a:p>
        </p:txBody>
      </p:sp>
      <p:sp>
        <p:nvSpPr>
          <p:cNvPr id="29" name="Text 27"/>
          <p:cNvSpPr txBox="1"/>
          <p:nvPr/>
        </p:nvSpPr>
        <p:spPr>
          <a:xfrm>
            <a:off x="4389120" y="1143000"/>
            <a:ext cx="4023360"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program starttlsCut_v1_0_0.py, lines 53 to 62 of 62</a:t>
            </a:r>
            <a:endParaRPr lang="en-US" sz="1000" dirty="0"/>
          </a:p>
        </p:txBody>
      </p:sp>
      <p:sp>
        <p:nvSpPr>
          <p:cNvPr id="30" name="Shape 28"/>
          <p:cNvSpPr/>
          <p:nvPr/>
        </p:nvSpPr>
        <p:spPr>
          <a:xfrm>
            <a:off x="4389120" y="1417320"/>
            <a:ext cx="4023360" cy="2304288"/>
          </a:xfrm>
          <a:prstGeom prst="roundRect">
            <a:avLst>
              <a:gd name="adj" fmla="val 3968"/>
            </a:avLst>
          </a:prstGeom>
          <a:solidFill>
            <a:srgbClr val="23272E"/>
          </a:solidFill>
          <a:ln w="12700">
            <a:solidFill>
              <a:srgbClr val="23272E"/>
            </a:solidFill>
            <a:prstDash val="solid"/>
          </a:ln>
        </p:spPr>
      </p:sp>
      <p:sp>
        <p:nvSpPr>
          <p:cNvPr id="31" name="Text 29"/>
          <p:cNvSpPr txBox="1"/>
          <p:nvPr/>
        </p:nvSpPr>
        <p:spPr>
          <a:xfrm>
            <a:off x="4572000" y="1536192"/>
            <a:ext cx="3657600" cy="2066544"/>
          </a:xfrm>
          <a:prstGeom prst="rect">
            <a:avLst/>
          </a:prstGeom>
          <a:noFill/>
          <a:ln/>
        </p:spPr>
        <p:txBody>
          <a:bodyPr wrap="square" lIns="0" tIns="0" rIns="0" bIns="0" rtlCol="0" anchor="t"/>
          <a:lstStyle/>
          <a:p>
            <a:pPr indent="0" marL="0">
              <a:buNone/>
            </a:pPr>
            <a:r>
              <a:rPr lang="en-US" sz="700" dirty="0">
                <a:solidFill>
                  <a:srgbClr val="E6EDF3"/>
                </a:solidFill>
                <a:latin typeface="Courier New" pitchFamily="34" charset="0"/>
                <a:ea typeface="Courier New" pitchFamily="34" charset="-122"/>
                <a:cs typeface="Courier New" pitchFamily="34" charset="-120"/>
              </a:rPr>
              <a:t>s = conn(); print(</a:t>
            </a:r>
            <a:r>
              <a:rPr lang="en-US" sz="700" dirty="0">
                <a:solidFill>
                  <a:srgbClr val="9ECBFF"/>
                </a:solidFill>
                <a:latin typeface="Courier New" pitchFamily="34" charset="0"/>
                <a:ea typeface="Courier New" pitchFamily="34" charset="-122"/>
                <a:cs typeface="Courier New" pitchFamily="34" charset="-120"/>
              </a:rPr>
              <a:t>'before:'</a:t>
            </a:r>
            <a:r>
              <a:rPr lang="en-US" sz="700" dirty="0">
                <a:solidFill>
                  <a:srgbClr val="E6EDF3"/>
                </a:solidFill>
                <a:latin typeface="Courier New" pitchFamily="34" charset="0"/>
                <a:ea typeface="Courier New" pitchFamily="34" charset="-122"/>
                <a:cs typeface="Courier New" pitchFamily="34" charset="-120"/>
              </a:rPr>
              <a:t>, ehlo(s))</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s.starttls(context=ctx); print(</a:t>
            </a:r>
            <a:r>
              <a:rPr lang="en-US" sz="700" dirty="0">
                <a:solidFill>
                  <a:srgbClr val="9ECBFF"/>
                </a:solidFill>
                <a:latin typeface="Courier New" pitchFamily="34" charset="0"/>
                <a:ea typeface="Courier New" pitchFamily="34" charset="-122"/>
                <a:cs typeface="Courier New" pitchFamily="34" charset="-120"/>
              </a:rPr>
              <a:t>'after:'</a:t>
            </a:r>
            <a:r>
              <a:rPr lang="en-US" sz="700" dirty="0">
                <a:solidFill>
                  <a:srgbClr val="E6EDF3"/>
                </a:solidFill>
                <a:latin typeface="Courier New" pitchFamily="34" charset="0"/>
                <a:ea typeface="Courier New" pitchFamily="34" charset="-122"/>
                <a:cs typeface="Courier New" pitchFamily="34" charset="-120"/>
              </a:rPr>
              <a:t>, ehlo(s))</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s.send_message(mk()); print(</a:t>
            </a:r>
            <a:r>
              <a:rPr lang="en-US" sz="700" dirty="0">
                <a:solidFill>
                  <a:srgbClr val="9ECBFF"/>
                </a:solidFill>
                <a:latin typeface="Courier New" pitchFamily="34" charset="0"/>
                <a:ea typeface="Courier New" pitchFamily="34" charset="-122"/>
                <a:cs typeface="Courier New" pitchFamily="34" charset="-120"/>
              </a:rPr>
              <a:t>'TLS seen:'</a:t>
            </a:r>
            <a:r>
              <a:rPr lang="en-US" sz="700" dirty="0">
                <a:solidFill>
                  <a:srgbClr val="E6EDF3"/>
                </a:solidFill>
                <a:latin typeface="Courier New" pitchFamily="34" charset="0"/>
                <a:ea typeface="Courier New" pitchFamily="34" charset="-122"/>
                <a:cs typeface="Courier New" pitchFamily="34" charset="-120"/>
              </a:rPr>
              <a:t>, box[</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a:t>
            </a:r>
            <a:r>
              <a:rPr lang="en-US" sz="700" dirty="0">
                <a:solidFill>
                  <a:srgbClr val="9ECBFF"/>
                </a:solidFill>
                <a:latin typeface="Courier New" pitchFamily="34" charset="0"/>
                <a:ea typeface="Courier New" pitchFamily="34" charset="-122"/>
                <a:cs typeface="Courier New" pitchFamily="34" charset="-120"/>
              </a:rPr>
              <a:t>'tls'</a:t>
            </a:r>
            <a:r>
              <a:rPr lang="en-US" sz="700" dirty="0">
                <a:solidFill>
                  <a:srgbClr val="E6EDF3"/>
                </a:solidFill>
                <a:latin typeface="Courier New" pitchFamily="34" charset="0"/>
                <a:ea typeface="Courier New" pitchFamily="34" charset="-122"/>
                <a:cs typeface="Courier New" pitchFamily="34" charset="-120"/>
              </a:rPr>
              <a:t>]); s.quit()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s = conn()</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try: s.starttls(context=ssl.create_default_context())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except ssl.SSLCertVerificationError as e: print(e.verify_message)</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s = conn(); print(</a:t>
            </a:r>
            <a:r>
              <a:rPr lang="en-US" sz="700" dirty="0">
                <a:solidFill>
                  <a:srgbClr val="9ECBFF"/>
                </a:solidFill>
                <a:latin typeface="Courier New" pitchFamily="34" charset="0"/>
                <a:ea typeface="Courier New" pitchFamily="34" charset="-122"/>
                <a:cs typeface="Courier New" pitchFamily="34" charset="-120"/>
              </a:rPr>
              <a:t>'no context:'</a:t>
            </a:r>
            <a:r>
              <a:rPr lang="en-US" sz="700" dirty="0">
                <a:solidFill>
                  <a:srgbClr val="E6EDF3"/>
                </a:solidFill>
                <a:latin typeface="Courier New" pitchFamily="34" charset="0"/>
                <a:ea typeface="Courier New" pitchFamily="34" charset="-122"/>
                <a:cs typeface="Courier New" pitchFamily="34" charset="-120"/>
              </a:rPr>
              <a:t>, s.starttls()[</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s = conn(); s.starttls(context=ctx); s.ehlo()</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'login after:'</a:t>
            </a:r>
            <a:r>
              <a:rPr lang="en-US" sz="700" dirty="0">
                <a:solidFill>
                  <a:srgbClr val="E6EDF3"/>
                </a:solidFill>
                <a:latin typeface="Courier New" pitchFamily="34" charset="0"/>
                <a:ea typeface="Courier New" pitchFamily="34" charset="-122"/>
                <a:cs typeface="Courier New" pitchFamily="34" charset="-120"/>
              </a:rPr>
              <a:t>, s.login(</a:t>
            </a:r>
            <a:r>
              <a:rPr lang="en-US" sz="700" dirty="0">
                <a:solidFill>
                  <a:srgbClr val="9ECBFF"/>
                </a:solidFill>
                <a:latin typeface="Courier New" pitchFamily="34" charset="0"/>
                <a:ea typeface="Courier New" pitchFamily="34" charset="-122"/>
                <a:cs typeface="Courier New" pitchFamily="34" charset="-120"/>
              </a:rPr>
              <a:t>'user'</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'secret'</a:t>
            </a:r>
            <a:r>
              <a:rPr lang="en-US" sz="700" dirty="0">
                <a:solidFill>
                  <a:srgbClr val="E6EDF3"/>
                </a:solidFill>
                <a:latin typeface="Courier New" pitchFamily="34" charset="0"/>
                <a:ea typeface="Courier New" pitchFamily="34" charset="-122"/>
                <a:cs typeface="Courier New" pitchFamily="34" charset="-120"/>
              </a:rPr>
              <a:t>)[</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s.quit()</a:t>
            </a:r>
            <a:endParaRPr lang="en-US" sz="700" dirty="0"/>
          </a:p>
          <a:p>
            <a:pPr indent="0" marL="0">
              <a:buNone/>
            </a:pPr>
            <a:r>
              <a:rPr lang="en-US" sz="700" b="1" dirty="0">
                <a:solidFill>
                  <a:srgbClr val="D97A14"/>
                </a:solidFill>
                <a:latin typeface="Courier New" pitchFamily="34" charset="0"/>
                <a:ea typeface="Courier New" pitchFamily="34" charset="-122"/>
                <a:cs typeface="Courier New" pitchFamily="34" charset="-120"/>
              </a:rPr>
              <a:t>prints </a:t>
            </a:r>
            <a:r>
              <a:rPr lang="en-US" sz="700" dirty="0">
                <a:solidFill>
                  <a:srgbClr val="7EE787"/>
                </a:solidFill>
                <a:latin typeface="Courier New" pitchFamily="34" charset="0"/>
                <a:ea typeface="Courier New" pitchFamily="34" charset="-122"/>
                <a:cs typeface="Courier New" pitchFamily="34" charset="-120"/>
              </a:rPr>
              <a:t>before: ['STARTTLS']</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after: ['AUTH LOGIN PLAIN']</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TLS seen: True</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self-signed certificate</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no context: 220</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login after: 235</a:t>
            </a:r>
            <a:endParaRPr lang="en-US" sz="700" dirty="0"/>
          </a:p>
        </p:txBody>
      </p:sp>
      <p:sp>
        <p:nvSpPr>
          <p:cNvPr id="32" name="Text 30"/>
          <p:cNvSpPr txBox="1"/>
          <p:nvPr/>
        </p:nvSpPr>
        <p:spPr>
          <a:xfrm>
            <a:off x="4389120" y="3758184"/>
            <a:ext cx="4297680" cy="402336"/>
          </a:xfrm>
          <a:prstGeom prst="rect">
            <a:avLst/>
          </a:prstGeom>
          <a:noFill/>
          <a:ln/>
        </p:spPr>
        <p:txBody>
          <a:bodyPr wrap="square" lIns="0" tIns="0" rIns="0" bIns="0" rtlCol="0" anchor="t"/>
          <a:lstStyle/>
          <a:p>
            <a:pPr indent="0" marL="0">
              <a:buNone/>
            </a:pPr>
            <a:r>
              <a:rPr lang="en-US" sz="800" i="1" dirty="0">
                <a:solidFill>
                  <a:srgbClr val="6E655C"/>
                </a:solidFill>
                <a:latin typeface="Calibri" pitchFamily="34" charset="0"/>
                <a:ea typeface="Calibri" pitchFamily="34" charset="-122"/>
                <a:cs typeface="Calibri" pitchFamily="34" charset="-120"/>
              </a:rPr>
              <a:t>Stand-in for an SMTP server: aiosmtpd on 127.0.0.1, a local stand-in; Gmail's servers were never reached. Lines 1 to 52 (imports, helpers, the stand-in server and a comment) are not shown.</a:t>
            </a:r>
            <a:endParaRPr lang="en-US" sz="800" dirty="0"/>
          </a:p>
        </p:txBody>
      </p:sp>
      <p:sp>
        <p:nvSpPr>
          <p:cNvPr id="33" name="Shape 31"/>
          <p:cNvSpPr/>
          <p:nvPr/>
        </p:nvSpPr>
        <p:spPr>
          <a:xfrm>
            <a:off x="457200" y="4636008"/>
            <a:ext cx="91440" cy="310896"/>
          </a:xfrm>
          <a:prstGeom prst="rect">
            <a:avLst/>
          </a:prstGeom>
          <a:solidFill>
            <a:srgbClr val="D97A14"/>
          </a:solidFill>
          <a:ln w="12700">
            <a:solidFill>
              <a:srgbClr val="D97A14"/>
            </a:solidFill>
            <a:prstDash val="solid"/>
          </a:ln>
        </p:spPr>
      </p:sp>
      <p:sp>
        <p:nvSpPr>
          <p:cNvPr id="34" name="Text 3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Upgrade with STARTTLS, verify the certificate, then log in.</a:t>
            </a:r>
            <a:endParaRPr lang="en-US" sz="1350" dirty="0"/>
          </a:p>
        </p:txBody>
      </p:sp>
      <p:sp>
        <p:nvSpPr>
          <p:cNvPr id="35" name="Text 3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12 / 26</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Refused recipients and the envelope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Bcc recipient is in the envelope, not in the text; the From header can say anything</a:t>
            </a:r>
            <a:endParaRPr lang="en-US" sz="1300" dirty="0"/>
          </a:p>
        </p:txBody>
      </p:sp>
      <p:sp>
        <p:nvSpPr>
          <p:cNvPr id="6" name="Text 4"/>
          <p:cNvSpPr txBox="1"/>
          <p:nvPr/>
        </p:nvSpPr>
        <p:spPr>
          <a:xfrm>
            <a:off x="457200" y="1143000"/>
            <a:ext cx="3858768"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program refusalsCut_v1_0_0.py, lines 51 to 65 of 65</a:t>
            </a:r>
            <a:endParaRPr lang="en-US" sz="1000" dirty="0"/>
          </a:p>
        </p:txBody>
      </p:sp>
      <p:sp>
        <p:nvSpPr>
          <p:cNvPr id="7" name="Shape 5"/>
          <p:cNvSpPr/>
          <p:nvPr/>
        </p:nvSpPr>
        <p:spPr>
          <a:xfrm>
            <a:off x="457200" y="1417320"/>
            <a:ext cx="3858768" cy="2807208"/>
          </a:xfrm>
          <a:prstGeom prst="roundRect">
            <a:avLst>
              <a:gd name="adj" fmla="val 3257"/>
            </a:avLst>
          </a:prstGeom>
          <a:solidFill>
            <a:srgbClr val="23272E"/>
          </a:solidFill>
          <a:ln w="12700">
            <a:solidFill>
              <a:srgbClr val="23272E"/>
            </a:solidFill>
            <a:prstDash val="solid"/>
          </a:ln>
        </p:spPr>
      </p:sp>
      <p:sp>
        <p:nvSpPr>
          <p:cNvPr id="8" name="Text 6"/>
          <p:cNvSpPr txBox="1"/>
          <p:nvPr/>
        </p:nvSpPr>
        <p:spPr>
          <a:xfrm>
            <a:off x="640080" y="1536192"/>
            <a:ext cx="3493008" cy="2569464"/>
          </a:xfrm>
          <a:prstGeom prst="rect">
            <a:avLst/>
          </a:prstGeom>
          <a:noFill/>
          <a:ln/>
        </p:spPr>
        <p:txBody>
          <a:bodyPr wrap="square" lIns="0" tIns="0" rIns="0" bIns="0" rtlCol="0" anchor="t"/>
          <a:lstStyle/>
          <a:p>
            <a:pPr indent="0" marL="0">
              <a:buNone/>
            </a:pPr>
            <a:r>
              <a:rPr lang="en-US" sz="700" dirty="0">
                <a:solidFill>
                  <a:srgbClr val="E6EDF3"/>
                </a:solidFill>
                <a:latin typeface="Courier New" pitchFamily="34" charset="0"/>
                <a:ea typeface="Courier New" pitchFamily="34" charset="-122"/>
                <a:cs typeface="Courier New" pitchFamily="34" charset="-120"/>
              </a:rPr>
              <a:t>s = conn()</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r = s.send_message(mk(to=</a:t>
            </a:r>
            <a:r>
              <a:rPr lang="en-US" sz="700" dirty="0">
                <a:solidFill>
                  <a:srgbClr val="9ECBFF"/>
                </a:solidFill>
                <a:latin typeface="Courier New" pitchFamily="34" charset="0"/>
                <a:ea typeface="Courier New" pitchFamily="34" charset="-122"/>
                <a:cs typeface="Courier New" pitchFamily="34" charset="-120"/>
              </a:rPr>
              <a:t>'ok@example.org, x@refused.example'</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print(r)</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'stored for'</a:t>
            </a:r>
            <a:r>
              <a:rPr lang="en-US" sz="700" dirty="0">
                <a:solidFill>
                  <a:srgbClr val="E6EDF3"/>
                </a:solidFill>
                <a:latin typeface="Courier New" pitchFamily="34" charset="0"/>
                <a:ea typeface="Courier New" pitchFamily="34" charset="-122"/>
                <a:cs typeface="Courier New" pitchFamily="34" charset="-120"/>
              </a:rPr>
              <a:t>, box[</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a:t>
            </a:r>
            <a:r>
              <a:rPr lang="en-US" sz="700" dirty="0">
                <a:solidFill>
                  <a:srgbClr val="9ECBFF"/>
                </a:solidFill>
                <a:latin typeface="Courier New" pitchFamily="34" charset="0"/>
                <a:ea typeface="Courier New" pitchFamily="34" charset="-122"/>
                <a:cs typeface="Courier New" pitchFamily="34" charset="-120"/>
              </a:rPr>
              <a:t>'to'</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try: s.send_message(mk(to=</a:t>
            </a:r>
            <a:r>
              <a:rPr lang="en-US" sz="700" dirty="0">
                <a:solidFill>
                  <a:srgbClr val="9ECBFF"/>
                </a:solidFill>
                <a:latin typeface="Courier New" pitchFamily="34" charset="0"/>
                <a:ea typeface="Courier New" pitchFamily="34" charset="-122"/>
                <a:cs typeface="Courier New" pitchFamily="34" charset="-120"/>
              </a:rPr>
              <a:t>'x@refused.example'</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except smtplib.SMTPRecipientsRefused:</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print(</a:t>
            </a:r>
            <a:r>
              <a:rPr lang="en-US" sz="700" dirty="0">
                <a:solidFill>
                  <a:srgbClr val="9ECBFF"/>
                </a:solidFill>
                <a:latin typeface="Courier New" pitchFamily="34" charset="0"/>
                <a:ea typeface="Courier New" pitchFamily="34" charset="-122"/>
                <a:cs typeface="Courier New" pitchFamily="34" charset="-120"/>
              </a:rPr>
              <a:t>'raised; stored:'</a:t>
            </a:r>
            <a:r>
              <a:rPr lang="en-US" sz="700" dirty="0">
                <a:solidFill>
                  <a:srgbClr val="E6EDF3"/>
                </a:solidFill>
                <a:latin typeface="Courier New" pitchFamily="34" charset="0"/>
                <a:ea typeface="Courier New" pitchFamily="34" charset="-122"/>
                <a:cs typeface="Courier New" pitchFamily="34" charset="-120"/>
              </a:rPr>
              <a:t>, len(box))</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s.quit()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s = conn(); s.starttls(context=ctx); s.ehlo()</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try: s.login(</a:t>
            </a:r>
            <a:r>
              <a:rPr lang="en-US" sz="700" dirty="0">
                <a:solidFill>
                  <a:srgbClr val="9ECBFF"/>
                </a:solidFill>
                <a:latin typeface="Courier New" pitchFamily="34" charset="0"/>
                <a:ea typeface="Courier New" pitchFamily="34" charset="-122"/>
                <a:cs typeface="Courier New" pitchFamily="34" charset="-120"/>
              </a:rPr>
              <a:t>'user'</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'wrong'</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except smtplib.SMTPAuthenticationError as e:</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print(</a:t>
            </a:r>
            <a:r>
              <a:rPr lang="en-US" sz="700" dirty="0">
                <a:solidFill>
                  <a:srgbClr val="9ECBFF"/>
                </a:solidFill>
                <a:latin typeface="Courier New" pitchFamily="34" charset="0"/>
                <a:ea typeface="Courier New" pitchFamily="34" charset="-122"/>
                <a:cs typeface="Courier New" pitchFamily="34" charset="-120"/>
              </a:rPr>
              <a:t>'password:'</a:t>
            </a:r>
            <a:r>
              <a:rPr lang="en-US" sz="700" dirty="0">
                <a:solidFill>
                  <a:srgbClr val="E6EDF3"/>
                </a:solidFill>
                <a:latin typeface="Courier New" pitchFamily="34" charset="0"/>
                <a:ea typeface="Courier New" pitchFamily="34" charset="-122"/>
                <a:cs typeface="Courier New" pitchFamily="34" charset="-120"/>
              </a:rPr>
              <a:t>, e.smtp_code)</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s.close()</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try: smtplib.SMTP(</a:t>
            </a:r>
            <a:r>
              <a:rPr lang="en-US" sz="700" dirty="0">
                <a:solidFill>
                  <a:srgbClr val="9ECBFF"/>
                </a:solidFill>
                <a:latin typeface="Courier New" pitchFamily="34" charset="0"/>
                <a:ea typeface="Courier New" pitchFamily="34" charset="-122"/>
                <a:cs typeface="Courier New" pitchFamily="34" charset="-120"/>
              </a:rPr>
              <a:t>'127.0.0.1'</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 timeout=</a:t>
            </a:r>
            <a:r>
              <a:rPr lang="en-US" sz="700" dirty="0">
                <a:solidFill>
                  <a:srgbClr val="FFD28A"/>
                </a:solidFill>
                <a:latin typeface="Courier New" pitchFamily="34" charset="0"/>
                <a:ea typeface="Courier New" pitchFamily="34" charset="-122"/>
                <a:cs typeface="Courier New" pitchFamily="34" charset="-120"/>
              </a:rPr>
              <a:t>3</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except OSError as e: print(</a:t>
            </a:r>
            <a:r>
              <a:rPr lang="en-US" sz="700" dirty="0">
                <a:solidFill>
                  <a:srgbClr val="9ECBFF"/>
                </a:solidFill>
                <a:latin typeface="Courier New" pitchFamily="34" charset="0"/>
                <a:ea typeface="Courier New" pitchFamily="34" charset="-122"/>
                <a:cs typeface="Courier New" pitchFamily="34" charset="-120"/>
              </a:rPr>
              <a:t>'closed port:'</a:t>
            </a:r>
            <a:r>
              <a:rPr lang="en-US" sz="700" dirty="0">
                <a:solidFill>
                  <a:srgbClr val="E6EDF3"/>
                </a:solidFill>
                <a:latin typeface="Courier New" pitchFamily="34" charset="0"/>
                <a:ea typeface="Courier New" pitchFamily="34" charset="-122"/>
                <a:cs typeface="Courier New" pitchFamily="34" charset="-120"/>
              </a:rPr>
              <a:t>, type(e).__name__)</a:t>
            </a:r>
            <a:endParaRPr lang="en-US" sz="700" dirty="0"/>
          </a:p>
          <a:p>
            <a:pPr indent="0" marL="0">
              <a:buNone/>
            </a:pPr>
            <a:r>
              <a:rPr lang="en-US" sz="700" b="1" dirty="0">
                <a:solidFill>
                  <a:srgbClr val="D97A14"/>
                </a:solidFill>
                <a:latin typeface="Courier New" pitchFamily="34" charset="0"/>
                <a:ea typeface="Courier New" pitchFamily="34" charset="-122"/>
                <a:cs typeface="Courier New" pitchFamily="34" charset="-120"/>
              </a:rPr>
              <a:t>prints </a:t>
            </a:r>
            <a:r>
              <a:rPr lang="en-US" sz="700" dirty="0">
                <a:solidFill>
                  <a:srgbClr val="7EE787"/>
                </a:solidFill>
                <a:latin typeface="Courier New" pitchFamily="34" charset="0"/>
                <a:ea typeface="Courier New" pitchFamily="34" charset="-122"/>
                <a:cs typeface="Courier New" pitchFamily="34" charset="-120"/>
              </a:rPr>
              <a:t>{'x@refused.example': (550, b'5.1.1 no such mailbox')}</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stored for ['ok@example.org']</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raised; stored: 1</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password: 535</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closed port: ConnectionRefusedError</a:t>
            </a:r>
            <a:endParaRPr lang="en-US" sz="700" dirty="0"/>
          </a:p>
        </p:txBody>
      </p:sp>
      <p:sp>
        <p:nvSpPr>
          <p:cNvPr id="9" name="Text 7"/>
          <p:cNvSpPr txBox="1"/>
          <p:nvPr/>
        </p:nvSpPr>
        <p:spPr>
          <a:xfrm>
            <a:off x="4617720" y="1143000"/>
            <a:ext cx="4087368"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program envelopeCut_v1_0_0.py, lines 51 to 60 of 60</a:t>
            </a:r>
            <a:endParaRPr lang="en-US" sz="1000" dirty="0"/>
          </a:p>
        </p:txBody>
      </p:sp>
      <p:sp>
        <p:nvSpPr>
          <p:cNvPr id="10" name="Shape 8"/>
          <p:cNvSpPr/>
          <p:nvPr/>
        </p:nvSpPr>
        <p:spPr>
          <a:xfrm>
            <a:off x="4617720" y="1417320"/>
            <a:ext cx="4087368" cy="2048256"/>
          </a:xfrm>
          <a:prstGeom prst="roundRect">
            <a:avLst>
              <a:gd name="adj" fmla="val 4464"/>
            </a:avLst>
          </a:prstGeom>
          <a:solidFill>
            <a:srgbClr val="23272E"/>
          </a:solidFill>
          <a:ln w="12700">
            <a:solidFill>
              <a:srgbClr val="23272E"/>
            </a:solidFill>
            <a:prstDash val="solid"/>
          </a:ln>
        </p:spPr>
      </p:sp>
      <p:sp>
        <p:nvSpPr>
          <p:cNvPr id="11" name="Text 9"/>
          <p:cNvSpPr txBox="1"/>
          <p:nvPr/>
        </p:nvSpPr>
        <p:spPr>
          <a:xfrm>
            <a:off x="4800600" y="1536192"/>
            <a:ext cx="3721608" cy="1810512"/>
          </a:xfrm>
          <a:prstGeom prst="rect">
            <a:avLst/>
          </a:prstGeom>
          <a:noFill/>
          <a:ln/>
        </p:spPr>
        <p:txBody>
          <a:bodyPr wrap="square" lIns="0" tIns="0" rIns="0" bIns="0" rtlCol="0" anchor="t"/>
          <a:lstStyle/>
          <a:p>
            <a:pPr indent="0" marL="0">
              <a:buNone/>
            </a:pPr>
            <a:r>
              <a:rPr lang="en-US" sz="700" dirty="0">
                <a:solidFill>
                  <a:srgbClr val="E6EDF3"/>
                </a:solidFill>
                <a:latin typeface="Courier New" pitchFamily="34" charset="0"/>
                <a:ea typeface="Courier New" pitchFamily="34" charset="-122"/>
                <a:cs typeface="Courier New" pitchFamily="34" charset="-120"/>
              </a:rPr>
              <a:t>s.send_message(mk(extra={</a:t>
            </a:r>
            <a:r>
              <a:rPr lang="en-US" sz="700" dirty="0">
                <a:solidFill>
                  <a:srgbClr val="9ECBFF"/>
                </a:solidFill>
                <a:latin typeface="Courier New" pitchFamily="34" charset="0"/>
                <a:ea typeface="Courier New" pitchFamily="34" charset="-122"/>
                <a:cs typeface="Courier New" pitchFamily="34" charset="-120"/>
              </a:rPr>
              <a:t>'Cc'</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'cc@x.org'</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'Bcc'</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'bcc@x.org'</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h = parse(</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print(box[</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a:t>
            </a:r>
            <a:r>
              <a:rPr lang="en-US" sz="700" dirty="0">
                <a:solidFill>
                  <a:srgbClr val="9ECBFF"/>
                </a:solidFill>
                <a:latin typeface="Courier New" pitchFamily="34" charset="0"/>
                <a:ea typeface="Courier New" pitchFamily="34" charset="-122"/>
                <a:cs typeface="Courier New" pitchFamily="34" charset="-120"/>
              </a:rPr>
              <a:t>'from'</a:t>
            </a:r>
            <a:r>
              <a:rPr lang="en-US" sz="700" dirty="0">
                <a:solidFill>
                  <a:srgbClr val="E6EDF3"/>
                </a:solidFill>
                <a:latin typeface="Courier New" pitchFamily="34" charset="0"/>
                <a:ea typeface="Courier New" pitchFamily="34" charset="-122"/>
                <a:cs typeface="Courier New" pitchFamily="34" charset="-120"/>
              </a:rPr>
              <a:t>], box[</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a:t>
            </a:r>
            <a:r>
              <a:rPr lang="en-US" sz="700" dirty="0">
                <a:solidFill>
                  <a:srgbClr val="9ECBFF"/>
                </a:solidFill>
                <a:latin typeface="Courier New" pitchFamily="34" charset="0"/>
                <a:ea typeface="Courier New" pitchFamily="34" charset="-122"/>
                <a:cs typeface="Courier New" pitchFamily="34" charset="-120"/>
              </a:rPr>
              <a:t>'to'</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'header Bcc:'</a:t>
            </a:r>
            <a:r>
              <a:rPr lang="en-US" sz="700" dirty="0">
                <a:solidFill>
                  <a:srgbClr val="E6EDF3"/>
                </a:solidFill>
                <a:latin typeface="Courier New" pitchFamily="34" charset="0"/>
                <a:ea typeface="Courier New" pitchFamily="34" charset="-122"/>
                <a:cs typeface="Courier New" pitchFamily="34" charset="-120"/>
              </a:rPr>
              <a:t>, h[</a:t>
            </a:r>
            <a:r>
              <a:rPr lang="en-US" sz="700" dirty="0">
                <a:solidFill>
                  <a:srgbClr val="9ECBFF"/>
                </a:solidFill>
                <a:latin typeface="Courier New" pitchFamily="34" charset="0"/>
                <a:ea typeface="Courier New" pitchFamily="34" charset="-122"/>
                <a:cs typeface="Courier New" pitchFamily="34" charset="-120"/>
              </a:rPr>
              <a:t>'Bcc'</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 Cc:'</a:t>
            </a:r>
            <a:r>
              <a:rPr lang="en-US" sz="700" dirty="0">
                <a:solidFill>
                  <a:srgbClr val="E6EDF3"/>
                </a:solidFill>
                <a:latin typeface="Courier New" pitchFamily="34" charset="0"/>
                <a:ea typeface="Courier New" pitchFamily="34" charset="-122"/>
                <a:cs typeface="Courier New" pitchFamily="34" charset="-120"/>
              </a:rPr>
              <a:t>, h[</a:t>
            </a:r>
            <a:r>
              <a:rPr lang="en-US" sz="700" dirty="0">
                <a:solidFill>
                  <a:srgbClr val="9ECBFF"/>
                </a:solidFill>
                <a:latin typeface="Courier New" pitchFamily="34" charset="0"/>
                <a:ea typeface="Courier New" pitchFamily="34" charset="-122"/>
                <a:cs typeface="Courier New" pitchFamily="34" charset="-120"/>
              </a:rPr>
              <a:t>'Cc'</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'bcc@x.org in text:'</a:t>
            </a:r>
            <a:r>
              <a:rPr lang="en-US" sz="700" dirty="0">
                <a:solidFill>
                  <a:srgbClr val="E6EDF3"/>
                </a:solidFill>
                <a:latin typeface="Courier New" pitchFamily="34" charset="0"/>
                <a:ea typeface="Courier New" pitchFamily="34" charset="-122"/>
                <a:cs typeface="Courier New" pitchFamily="34" charset="-120"/>
              </a:rPr>
              <a:t>, b</a:t>
            </a:r>
            <a:r>
              <a:rPr lang="en-US" sz="700" dirty="0">
                <a:solidFill>
                  <a:srgbClr val="9ECBFF"/>
                </a:solidFill>
                <a:latin typeface="Courier New" pitchFamily="34" charset="0"/>
                <a:ea typeface="Courier New" pitchFamily="34" charset="-122"/>
                <a:cs typeface="Courier New" pitchFamily="34" charset="-120"/>
              </a:rPr>
              <a:t>'bcc@x.org'</a:t>
            </a: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box[</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a:t>
            </a:r>
            <a:r>
              <a:rPr lang="en-US" sz="700" dirty="0">
                <a:solidFill>
                  <a:srgbClr val="9ECBFF"/>
                </a:solidFill>
                <a:latin typeface="Courier New" pitchFamily="34" charset="0"/>
                <a:ea typeface="Courier New" pitchFamily="34" charset="-122"/>
                <a:cs typeface="Courier New" pitchFamily="34" charset="-120"/>
              </a:rPr>
              <a:t>'data'</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s.sendmail(</a:t>
            </a:r>
            <a:r>
              <a:rPr lang="en-US" sz="700" dirty="0">
                <a:solidFill>
                  <a:srgbClr val="9ECBFF"/>
                </a:solidFill>
                <a:latin typeface="Courier New" pitchFamily="34" charset="0"/>
                <a:ea typeface="Courier New" pitchFamily="34" charset="-122"/>
                <a:cs typeface="Courier New" pitchFamily="34" charset="-120"/>
              </a:rPr>
              <a:t>'bounces@mallory.example'</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'jon@example.org'</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mk(frm=</a:t>
            </a:r>
            <a:r>
              <a:rPr lang="en-US" sz="700" dirty="0">
                <a:solidFill>
                  <a:srgbClr val="9ECBFF"/>
                </a:solidFill>
                <a:latin typeface="Courier New" pitchFamily="34" charset="0"/>
                <a:ea typeface="Courier New" pitchFamily="34" charset="-122"/>
                <a:cs typeface="Courier New" pitchFamily="34" charset="-120"/>
              </a:rPr>
              <a:t>'CEO &lt;ceo@bank.example&gt;'</a:t>
            </a:r>
            <a:r>
              <a:rPr lang="en-US" sz="700" dirty="0">
                <a:solidFill>
                  <a:srgbClr val="E6EDF3"/>
                </a:solidFill>
                <a:latin typeface="Courier New" pitchFamily="34" charset="0"/>
                <a:ea typeface="Courier New" pitchFamily="34" charset="-122"/>
                <a:cs typeface="Courier New" pitchFamily="34" charset="-120"/>
              </a:rPr>
              <a:t>).as_bytes())</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h = parse(</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print(box[</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a:t>
            </a:r>
            <a:r>
              <a:rPr lang="en-US" sz="700" dirty="0">
                <a:solidFill>
                  <a:srgbClr val="9ECBFF"/>
                </a:solidFill>
                <a:latin typeface="Courier New" pitchFamily="34" charset="0"/>
                <a:ea typeface="Courier New" pitchFamily="34" charset="-122"/>
                <a:cs typeface="Courier New" pitchFamily="34" charset="-120"/>
              </a:rPr>
              <a:t>'from'</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a:t>
            </a:r>
            <a:r>
              <a:rPr lang="en-US" sz="700" dirty="0">
                <a:solidFill>
                  <a:srgbClr val="E6EDF3"/>
                </a:solidFill>
                <a:latin typeface="Courier New" pitchFamily="34" charset="0"/>
                <a:ea typeface="Courier New" pitchFamily="34" charset="-122"/>
                <a:cs typeface="Courier New" pitchFamily="34" charset="-120"/>
              </a:rPr>
              <a:t>, h[</a:t>
            </a:r>
            <a:r>
              <a:rPr lang="en-US" sz="700" dirty="0">
                <a:solidFill>
                  <a:srgbClr val="9ECBFF"/>
                </a:solidFill>
                <a:latin typeface="Courier New" pitchFamily="34" charset="0"/>
                <a:ea typeface="Courier New" pitchFamily="34" charset="-122"/>
                <a:cs typeface="Courier New" pitchFamily="34" charset="-120"/>
              </a:rPr>
              <a:t>'From'</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 login:'</a:t>
            </a:r>
            <a:r>
              <a:rPr lang="en-US" sz="700" dirty="0">
                <a:solidFill>
                  <a:srgbClr val="E6EDF3"/>
                </a:solidFill>
                <a:latin typeface="Courier New" pitchFamily="34" charset="0"/>
                <a:ea typeface="Courier New" pitchFamily="34" charset="-122"/>
                <a:cs typeface="Courier New" pitchFamily="34" charset="-120"/>
              </a:rPr>
              <a:t>, box[</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a:t>
            </a:r>
            <a:r>
              <a:rPr lang="en-US" sz="700" dirty="0">
                <a:solidFill>
                  <a:srgbClr val="9ECBFF"/>
                </a:solidFill>
                <a:latin typeface="Courier New" pitchFamily="34" charset="0"/>
                <a:ea typeface="Courier New" pitchFamily="34" charset="-122"/>
                <a:cs typeface="Courier New" pitchFamily="34" charset="-120"/>
              </a:rPr>
              <a:t>'auth'</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s.quit()</a:t>
            </a:r>
            <a:endParaRPr lang="en-US" sz="700" dirty="0"/>
          </a:p>
          <a:p>
            <a:pPr indent="0" marL="0">
              <a:buNone/>
            </a:pPr>
            <a:r>
              <a:rPr lang="en-US" sz="700" b="1" dirty="0">
                <a:solidFill>
                  <a:srgbClr val="D97A14"/>
                </a:solidFill>
                <a:latin typeface="Courier New" pitchFamily="34" charset="0"/>
                <a:ea typeface="Courier New" pitchFamily="34" charset="-122"/>
                <a:cs typeface="Courier New" pitchFamily="34" charset="-120"/>
              </a:rPr>
              <a:t>prints </a:t>
            </a:r>
            <a:r>
              <a:rPr lang="en-US" sz="700" dirty="0">
                <a:solidFill>
                  <a:srgbClr val="7EE787"/>
                </a:solidFill>
                <a:latin typeface="Courier New" pitchFamily="34" charset="0"/>
                <a:ea typeface="Courier New" pitchFamily="34" charset="-122"/>
                <a:cs typeface="Courier New" pitchFamily="34" charset="-120"/>
              </a:rPr>
              <a:t>al@example.com ['jon@example.org', 'bcc@x.org', 'cc@x.org']</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header Bcc: None | Cc: cc@x.org</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bcc@x.org in text: False</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bounces@mallory.example | CEO &lt;ceo@bank.example&gt; | login: False</a:t>
            </a:r>
            <a:endParaRPr lang="en-US" sz="700" dirty="0"/>
          </a:p>
        </p:txBody>
      </p:sp>
      <p:sp>
        <p:nvSpPr>
          <p:cNvPr id="12" name="Text 10"/>
          <p:cNvSpPr txBox="1"/>
          <p:nvPr/>
        </p:nvSpPr>
        <p:spPr>
          <a:xfrm>
            <a:off x="457200" y="4251960"/>
            <a:ext cx="8229600" cy="283464"/>
          </a:xfrm>
          <a:prstGeom prst="rect">
            <a:avLst/>
          </a:prstGeom>
          <a:noFill/>
          <a:ln/>
        </p:spPr>
        <p:txBody>
          <a:bodyPr wrap="square" lIns="0" tIns="0" rIns="0" bIns="0" rtlCol="0" anchor="t"/>
          <a:lstStyle/>
          <a:p>
            <a:pPr indent="0" marL="0">
              <a:buNone/>
            </a:pPr>
            <a:r>
              <a:rPr lang="en-US" sz="800" i="1" dirty="0">
                <a:solidFill>
                  <a:srgbClr val="6E655C"/>
                </a:solidFill>
                <a:latin typeface="Calibri" pitchFamily="34" charset="0"/>
                <a:ea typeface="Calibri" pitchFamily="34" charset="-122"/>
                <a:cs typeface="Calibri" pitchFamily="34" charset="-120"/>
              </a:rPr>
              <a:t>Stand-in for an SMTP server: aiosmtpd on 127.0.0.1, a local stand-in; Gmail's servers were never reached. Lines 1 to 50 (imports, helpers, the stand-in server and a comment) are not shown.</a:t>
            </a:r>
            <a:endParaRPr lang="en-US" sz="800" dirty="0"/>
          </a:p>
        </p:txBody>
      </p:sp>
      <p:sp>
        <p:nvSpPr>
          <p:cNvPr id="13" name="Shape 11"/>
          <p:cNvSpPr/>
          <p:nvPr/>
        </p:nvSpPr>
        <p:spPr>
          <a:xfrm>
            <a:off x="457200" y="4636008"/>
            <a:ext cx="91440" cy="310896"/>
          </a:xfrm>
          <a:prstGeom prst="rect">
            <a:avLst/>
          </a:prstGeom>
          <a:solidFill>
            <a:srgbClr val="D97A14"/>
          </a:solidFill>
          <a:ln w="12700">
            <a:solidFill>
              <a:srgbClr val="D97A14"/>
            </a:solidFill>
            <a:prstDash val="solid"/>
          </a:ln>
        </p:spPr>
      </p:sp>
      <p:sp>
        <p:nvSpPr>
          <p:cNvPr id="14" name="Text 1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envelope decides who gets the mail; the From header decides nothing.</a:t>
            </a:r>
            <a:endParaRPr lang="en-US" sz="1350" dirty="0"/>
          </a:p>
        </p:txBody>
      </p:sp>
      <p:sp>
        <p:nvSpPr>
          <p:cNvPr id="15" name="Text 1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13 / 26</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Reading mail with IMAP</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message is unseen, seen, marked Deleted, then expunged; Python 3.14 adds IDLE</a:t>
            </a:r>
            <a:endParaRPr lang="en-US" sz="1300" dirty="0"/>
          </a:p>
        </p:txBody>
      </p:sp>
      <p:sp>
        <p:nvSpPr>
          <p:cNvPr id="6" name="Shape 4"/>
          <p:cNvSpPr/>
          <p:nvPr/>
        </p:nvSpPr>
        <p:spPr>
          <a:xfrm>
            <a:off x="1737360" y="1554480"/>
            <a:ext cx="1371600" cy="365760"/>
          </a:xfrm>
          <a:prstGeom prst="roundRect">
            <a:avLst>
              <a:gd name="adj" fmla="val 20000"/>
            </a:avLst>
          </a:prstGeom>
          <a:solidFill>
            <a:srgbClr val="2F6D62"/>
          </a:solidFill>
          <a:ln w="15875">
            <a:solidFill>
              <a:srgbClr val="2F6D62"/>
            </a:solidFill>
            <a:prstDash val="solid"/>
          </a:ln>
        </p:spPr>
      </p:sp>
      <p:sp>
        <p:nvSpPr>
          <p:cNvPr id="7" name="Text 5"/>
          <p:cNvSpPr txBox="1"/>
          <p:nvPr/>
        </p:nvSpPr>
        <p:spPr>
          <a:xfrm>
            <a:off x="1792224" y="1597457"/>
            <a:ext cx="1261872" cy="279806"/>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An unseen message in the INBOX</a:t>
            </a:r>
            <a:endParaRPr lang="en-US" sz="850" dirty="0"/>
          </a:p>
        </p:txBody>
      </p:sp>
      <p:sp>
        <p:nvSpPr>
          <p:cNvPr id="8" name="Shape 6"/>
          <p:cNvSpPr/>
          <p:nvPr/>
        </p:nvSpPr>
        <p:spPr>
          <a:xfrm>
            <a:off x="1737360" y="2210105"/>
            <a:ext cx="1371600" cy="365760"/>
          </a:xfrm>
          <a:prstGeom prst="roundRect">
            <a:avLst>
              <a:gd name="adj" fmla="val 20000"/>
            </a:avLst>
          </a:prstGeom>
          <a:solidFill>
            <a:srgbClr val="2F6D62"/>
          </a:solidFill>
          <a:ln w="15875">
            <a:solidFill>
              <a:srgbClr val="2F6D62"/>
            </a:solidFill>
            <a:prstDash val="solid"/>
          </a:ln>
        </p:spPr>
      </p:sp>
      <p:sp>
        <p:nvSpPr>
          <p:cNvPr id="9" name="Text 7"/>
          <p:cNvSpPr txBox="1"/>
          <p:nvPr/>
        </p:nvSpPr>
        <p:spPr>
          <a:xfrm>
            <a:off x="1792224" y="2253082"/>
            <a:ext cx="1261872" cy="279806"/>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A message with the Seen flag</a:t>
            </a:r>
            <a:endParaRPr lang="en-US" sz="850" dirty="0"/>
          </a:p>
        </p:txBody>
      </p:sp>
      <p:sp>
        <p:nvSpPr>
          <p:cNvPr id="10" name="Shape 8"/>
          <p:cNvSpPr/>
          <p:nvPr/>
        </p:nvSpPr>
        <p:spPr>
          <a:xfrm>
            <a:off x="1737360" y="2864815"/>
            <a:ext cx="1371600" cy="365760"/>
          </a:xfrm>
          <a:prstGeom prst="roundRect">
            <a:avLst>
              <a:gd name="adj" fmla="val 20000"/>
            </a:avLst>
          </a:prstGeom>
          <a:solidFill>
            <a:srgbClr val="2F6D62"/>
          </a:solidFill>
          <a:ln w="15875">
            <a:solidFill>
              <a:srgbClr val="2F6D62"/>
            </a:solidFill>
            <a:prstDash val="solid"/>
          </a:ln>
        </p:spPr>
      </p:sp>
      <p:sp>
        <p:nvSpPr>
          <p:cNvPr id="11" name="Text 9"/>
          <p:cNvSpPr txBox="1"/>
          <p:nvPr/>
        </p:nvSpPr>
        <p:spPr>
          <a:xfrm>
            <a:off x="1792224" y="2907792"/>
            <a:ext cx="1261872" cy="279806"/>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A message with the Deleted flag</a:t>
            </a:r>
            <a:endParaRPr lang="en-US" sz="850" dirty="0"/>
          </a:p>
        </p:txBody>
      </p:sp>
      <p:sp>
        <p:nvSpPr>
          <p:cNvPr id="12" name="Shape 10"/>
          <p:cNvSpPr/>
          <p:nvPr/>
        </p:nvSpPr>
        <p:spPr>
          <a:xfrm>
            <a:off x="1737360" y="3520440"/>
            <a:ext cx="1371600" cy="365760"/>
          </a:xfrm>
          <a:prstGeom prst="roundRect">
            <a:avLst>
              <a:gd name="adj" fmla="val 20000"/>
            </a:avLst>
          </a:prstGeom>
          <a:solidFill>
            <a:srgbClr val="2F6D62"/>
          </a:solidFill>
          <a:ln w="15875">
            <a:solidFill>
              <a:srgbClr val="2F6D62"/>
            </a:solidFill>
            <a:prstDash val="solid"/>
          </a:ln>
        </p:spPr>
      </p:sp>
      <p:sp>
        <p:nvSpPr>
          <p:cNvPr id="13" name="Text 11"/>
          <p:cNvSpPr txBox="1"/>
          <p:nvPr/>
        </p:nvSpPr>
        <p:spPr>
          <a:xfrm>
            <a:off x="1792224" y="3563417"/>
            <a:ext cx="1261872" cy="279806"/>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A message that EXPUNGE removed</a:t>
            </a:r>
            <a:endParaRPr lang="en-US" sz="850" dirty="0"/>
          </a:p>
        </p:txBody>
      </p:sp>
      <p:sp>
        <p:nvSpPr>
          <p:cNvPr id="14" name="Shape 12"/>
          <p:cNvSpPr/>
          <p:nvPr/>
        </p:nvSpPr>
        <p:spPr>
          <a:xfrm>
            <a:off x="2340864" y="1298448"/>
            <a:ext cx="164592" cy="164592"/>
          </a:xfrm>
          <a:prstGeom prst="ellipse">
            <a:avLst/>
          </a:prstGeom>
          <a:solidFill>
            <a:srgbClr val="2B2622"/>
          </a:solidFill>
          <a:ln w="15875">
            <a:solidFill>
              <a:srgbClr val="2B2622"/>
            </a:solidFill>
            <a:prstDash val="solid"/>
          </a:ln>
        </p:spPr>
      </p:sp>
      <p:sp>
        <p:nvSpPr>
          <p:cNvPr id="15" name="Shape 13"/>
          <p:cNvSpPr/>
          <p:nvPr/>
        </p:nvSpPr>
        <p:spPr>
          <a:xfrm>
            <a:off x="2423160" y="1463040"/>
            <a:ext cx="0" cy="91440"/>
          </a:xfrm>
          <a:prstGeom prst="line">
            <a:avLst/>
          </a:prstGeom>
          <a:noFill/>
          <a:ln w="15875">
            <a:solidFill>
              <a:srgbClr val="6E655C"/>
            </a:solidFill>
            <a:prstDash val="solid"/>
            <a:tailEnd type="triangle"/>
          </a:ln>
        </p:spPr>
      </p:sp>
      <p:sp>
        <p:nvSpPr>
          <p:cNvPr id="16" name="Shape 14"/>
          <p:cNvSpPr/>
          <p:nvPr/>
        </p:nvSpPr>
        <p:spPr>
          <a:xfrm>
            <a:off x="2423160" y="1920240"/>
            <a:ext cx="0" cy="289865"/>
          </a:xfrm>
          <a:prstGeom prst="line">
            <a:avLst/>
          </a:prstGeom>
          <a:noFill/>
          <a:ln w="22225">
            <a:solidFill>
              <a:srgbClr val="D97A14"/>
            </a:solidFill>
            <a:prstDash val="solid"/>
            <a:tailEnd type="triangle"/>
          </a:ln>
        </p:spPr>
      </p:sp>
      <p:sp>
        <p:nvSpPr>
          <p:cNvPr id="17" name="Shape 15"/>
          <p:cNvSpPr/>
          <p:nvPr/>
        </p:nvSpPr>
        <p:spPr>
          <a:xfrm>
            <a:off x="2441448" y="2064715"/>
            <a:ext cx="905256" cy="0"/>
          </a:xfrm>
          <a:prstGeom prst="line">
            <a:avLst/>
          </a:prstGeom>
          <a:noFill/>
          <a:ln w="9525">
            <a:solidFill>
              <a:srgbClr val="C9BFAE"/>
            </a:solidFill>
            <a:prstDash val="dash"/>
          </a:ln>
        </p:spPr>
      </p:sp>
      <p:sp>
        <p:nvSpPr>
          <p:cNvPr id="18" name="Text 16"/>
          <p:cNvSpPr txBox="1"/>
          <p:nvPr/>
        </p:nvSpPr>
        <p:spPr>
          <a:xfrm>
            <a:off x="3383280" y="1933042"/>
            <a:ext cx="1600200" cy="264262"/>
          </a:xfrm>
          <a:prstGeom prst="rect">
            <a:avLst/>
          </a:prstGeom>
          <a:noFill/>
          <a:ln/>
        </p:spPr>
        <p:txBody>
          <a:bodyPr wrap="square" lIns="0" tIns="0" rIns="0" bIns="0" rtlCol="0" anchor="ctr"/>
          <a:lstStyle/>
          <a:p>
            <a:pPr algn="l" indent="0" marL="0">
              <a:buNone/>
            </a:pPr>
            <a:r>
              <a:rPr lang="en-US" sz="800" dirty="0">
                <a:solidFill>
                  <a:srgbClr val="2B2622"/>
                </a:solidFill>
                <a:latin typeface="Calibri" pitchFamily="34" charset="0"/>
                <a:ea typeface="Calibri" pitchFamily="34" charset="-122"/>
                <a:cs typeface="Calibri" pitchFamily="34" charset="-120"/>
              </a:rPr>
              <a:t>A fetch of RFC822 sets the Seen flag</a:t>
            </a:r>
            <a:endParaRPr lang="en-US" sz="800" dirty="0"/>
          </a:p>
        </p:txBody>
      </p:sp>
      <p:sp>
        <p:nvSpPr>
          <p:cNvPr id="19" name="Shape 17"/>
          <p:cNvSpPr/>
          <p:nvPr/>
        </p:nvSpPr>
        <p:spPr>
          <a:xfrm>
            <a:off x="2423160" y="2575865"/>
            <a:ext cx="0" cy="288950"/>
          </a:xfrm>
          <a:prstGeom prst="line">
            <a:avLst/>
          </a:prstGeom>
          <a:noFill/>
          <a:ln w="22225">
            <a:solidFill>
              <a:srgbClr val="D97A14"/>
            </a:solidFill>
            <a:prstDash val="solid"/>
            <a:tailEnd type="triangle"/>
          </a:ln>
        </p:spPr>
      </p:sp>
      <p:sp>
        <p:nvSpPr>
          <p:cNvPr id="20" name="Shape 18"/>
          <p:cNvSpPr/>
          <p:nvPr/>
        </p:nvSpPr>
        <p:spPr>
          <a:xfrm>
            <a:off x="2441448" y="2720340"/>
            <a:ext cx="905256" cy="0"/>
          </a:xfrm>
          <a:prstGeom prst="line">
            <a:avLst/>
          </a:prstGeom>
          <a:noFill/>
          <a:ln w="9525">
            <a:solidFill>
              <a:srgbClr val="C9BFAE"/>
            </a:solidFill>
            <a:prstDash val="dash"/>
          </a:ln>
        </p:spPr>
      </p:sp>
      <p:sp>
        <p:nvSpPr>
          <p:cNvPr id="21" name="Text 19"/>
          <p:cNvSpPr txBox="1"/>
          <p:nvPr/>
        </p:nvSpPr>
        <p:spPr>
          <a:xfrm>
            <a:off x="3383280" y="2649931"/>
            <a:ext cx="1600200" cy="140818"/>
          </a:xfrm>
          <a:prstGeom prst="rect">
            <a:avLst/>
          </a:prstGeom>
          <a:noFill/>
          <a:ln/>
        </p:spPr>
        <p:txBody>
          <a:bodyPr wrap="square" lIns="0" tIns="0" rIns="0" bIns="0" rtlCol="0" anchor="ctr"/>
          <a:lstStyle/>
          <a:p>
            <a:pPr algn="l" indent="0" marL="0">
              <a:buNone/>
            </a:pPr>
            <a:r>
              <a:rPr lang="en-US" sz="800" dirty="0">
                <a:solidFill>
                  <a:srgbClr val="2B2622"/>
                </a:solidFill>
                <a:latin typeface="Calibri" pitchFamily="34" charset="0"/>
                <a:ea typeface="Calibri" pitchFamily="34" charset="-122"/>
                <a:cs typeface="Calibri" pitchFamily="34" charset="-120"/>
              </a:rPr>
              <a:t>STORE adds the Deleted flag</a:t>
            </a:r>
            <a:endParaRPr lang="en-US" sz="800" dirty="0"/>
          </a:p>
        </p:txBody>
      </p:sp>
      <p:sp>
        <p:nvSpPr>
          <p:cNvPr id="22" name="Shape 20"/>
          <p:cNvSpPr/>
          <p:nvPr/>
        </p:nvSpPr>
        <p:spPr>
          <a:xfrm>
            <a:off x="2423160" y="3230575"/>
            <a:ext cx="0" cy="289865"/>
          </a:xfrm>
          <a:prstGeom prst="line">
            <a:avLst/>
          </a:prstGeom>
          <a:noFill/>
          <a:ln w="22225">
            <a:solidFill>
              <a:srgbClr val="D97A14"/>
            </a:solidFill>
            <a:prstDash val="solid"/>
            <a:tailEnd type="triangle"/>
          </a:ln>
        </p:spPr>
      </p:sp>
      <p:sp>
        <p:nvSpPr>
          <p:cNvPr id="23" name="Shape 21"/>
          <p:cNvSpPr/>
          <p:nvPr/>
        </p:nvSpPr>
        <p:spPr>
          <a:xfrm>
            <a:off x="2441448" y="3375965"/>
            <a:ext cx="905256" cy="0"/>
          </a:xfrm>
          <a:prstGeom prst="line">
            <a:avLst/>
          </a:prstGeom>
          <a:noFill/>
          <a:ln w="9525">
            <a:solidFill>
              <a:srgbClr val="C9BFAE"/>
            </a:solidFill>
            <a:prstDash val="dash"/>
          </a:ln>
        </p:spPr>
      </p:sp>
      <p:sp>
        <p:nvSpPr>
          <p:cNvPr id="24" name="Text 22"/>
          <p:cNvSpPr txBox="1"/>
          <p:nvPr/>
        </p:nvSpPr>
        <p:spPr>
          <a:xfrm>
            <a:off x="3383280" y="3304642"/>
            <a:ext cx="1600200" cy="140818"/>
          </a:xfrm>
          <a:prstGeom prst="rect">
            <a:avLst/>
          </a:prstGeom>
          <a:noFill/>
          <a:ln/>
        </p:spPr>
        <p:txBody>
          <a:bodyPr wrap="square" lIns="0" tIns="0" rIns="0" bIns="0" rtlCol="0" anchor="ctr"/>
          <a:lstStyle/>
          <a:p>
            <a:pPr algn="l" indent="0" marL="0">
              <a:buNone/>
            </a:pPr>
            <a:r>
              <a:rPr lang="en-US" sz="800" dirty="0">
                <a:solidFill>
                  <a:srgbClr val="2B2622"/>
                </a:solidFill>
                <a:latin typeface="Calibri" pitchFamily="34" charset="0"/>
                <a:ea typeface="Calibri" pitchFamily="34" charset="-122"/>
                <a:cs typeface="Calibri" pitchFamily="34" charset="-120"/>
              </a:rPr>
              <a:t>EXPUNGE leaves the INBOX empty</a:t>
            </a:r>
            <a:endParaRPr lang="en-US" sz="800" dirty="0"/>
          </a:p>
        </p:txBody>
      </p:sp>
      <p:sp>
        <p:nvSpPr>
          <p:cNvPr id="25" name="Shape 23"/>
          <p:cNvSpPr/>
          <p:nvPr/>
        </p:nvSpPr>
        <p:spPr>
          <a:xfrm>
            <a:off x="3108960" y="1655064"/>
            <a:ext cx="237744" cy="0"/>
          </a:xfrm>
          <a:prstGeom prst="line">
            <a:avLst/>
          </a:prstGeom>
          <a:noFill/>
          <a:ln w="19050">
            <a:solidFill>
              <a:srgbClr val="2F6D62"/>
            </a:solidFill>
            <a:prstDash val="solid"/>
          </a:ln>
        </p:spPr>
      </p:sp>
      <p:sp>
        <p:nvSpPr>
          <p:cNvPr id="26" name="Shape 24"/>
          <p:cNvSpPr/>
          <p:nvPr/>
        </p:nvSpPr>
        <p:spPr>
          <a:xfrm>
            <a:off x="3346704" y="1655064"/>
            <a:ext cx="0" cy="164592"/>
          </a:xfrm>
          <a:prstGeom prst="line">
            <a:avLst/>
          </a:prstGeom>
          <a:noFill/>
          <a:ln w="19050">
            <a:solidFill>
              <a:srgbClr val="2F6D62"/>
            </a:solidFill>
            <a:prstDash val="solid"/>
          </a:ln>
        </p:spPr>
      </p:sp>
      <p:sp>
        <p:nvSpPr>
          <p:cNvPr id="27" name="Shape 25"/>
          <p:cNvSpPr/>
          <p:nvPr/>
        </p:nvSpPr>
        <p:spPr>
          <a:xfrm flipH="1">
            <a:off x="3108960" y="1819656"/>
            <a:ext cx="237744" cy="0"/>
          </a:xfrm>
          <a:prstGeom prst="line">
            <a:avLst/>
          </a:prstGeom>
          <a:noFill/>
          <a:ln w="19050">
            <a:solidFill>
              <a:srgbClr val="2F6D62"/>
            </a:solidFill>
            <a:prstDash val="solid"/>
            <a:tailEnd type="triangle"/>
          </a:ln>
        </p:spPr>
      </p:sp>
      <p:sp>
        <p:nvSpPr>
          <p:cNvPr id="28" name="Text 26"/>
          <p:cNvSpPr txBox="1"/>
          <p:nvPr/>
        </p:nvSpPr>
        <p:spPr>
          <a:xfrm>
            <a:off x="3383280" y="1605686"/>
            <a:ext cx="1600200" cy="264262"/>
          </a:xfrm>
          <a:prstGeom prst="rect">
            <a:avLst/>
          </a:prstGeom>
          <a:noFill/>
          <a:ln/>
        </p:spPr>
        <p:txBody>
          <a:bodyPr wrap="square" lIns="0" tIns="0" rIns="0" bIns="0" rtlCol="0" anchor="ctr"/>
          <a:lstStyle/>
          <a:p>
            <a:pPr algn="l" indent="0" marL="0">
              <a:buNone/>
            </a:pPr>
            <a:r>
              <a:rPr lang="en-US" sz="800" dirty="0">
                <a:solidFill>
                  <a:srgbClr val="2B2622"/>
                </a:solidFill>
                <a:latin typeface="Calibri" pitchFamily="34" charset="0"/>
                <a:ea typeface="Calibri" pitchFamily="34" charset="-122"/>
                <a:cs typeface="Calibri" pitchFamily="34" charset="-120"/>
              </a:rPr>
              <a:t>A fetch with BODY.PEEK leaves the message unseen</a:t>
            </a:r>
            <a:endParaRPr lang="en-US" sz="800" dirty="0"/>
          </a:p>
        </p:txBody>
      </p:sp>
      <p:sp>
        <p:nvSpPr>
          <p:cNvPr id="29" name="Shape 27"/>
          <p:cNvSpPr/>
          <p:nvPr/>
        </p:nvSpPr>
        <p:spPr>
          <a:xfrm flipH="1">
            <a:off x="1627632" y="1737360"/>
            <a:ext cx="109728" cy="0"/>
          </a:xfrm>
          <a:prstGeom prst="line">
            <a:avLst/>
          </a:prstGeom>
          <a:noFill/>
          <a:ln w="19050">
            <a:solidFill>
              <a:srgbClr val="2F6D62"/>
            </a:solidFill>
            <a:prstDash val="solid"/>
          </a:ln>
        </p:spPr>
      </p:sp>
      <p:sp>
        <p:nvSpPr>
          <p:cNvPr id="30" name="Shape 28"/>
          <p:cNvSpPr/>
          <p:nvPr/>
        </p:nvSpPr>
        <p:spPr>
          <a:xfrm>
            <a:off x="1627632" y="1737360"/>
            <a:ext cx="0" cy="1310335"/>
          </a:xfrm>
          <a:prstGeom prst="line">
            <a:avLst/>
          </a:prstGeom>
          <a:noFill/>
          <a:ln w="19050">
            <a:solidFill>
              <a:srgbClr val="2F6D62"/>
            </a:solidFill>
            <a:prstDash val="solid"/>
          </a:ln>
        </p:spPr>
      </p:sp>
      <p:sp>
        <p:nvSpPr>
          <p:cNvPr id="31" name="Shape 29"/>
          <p:cNvSpPr/>
          <p:nvPr/>
        </p:nvSpPr>
        <p:spPr>
          <a:xfrm>
            <a:off x="1627632" y="3047695"/>
            <a:ext cx="109728" cy="0"/>
          </a:xfrm>
          <a:prstGeom prst="line">
            <a:avLst/>
          </a:prstGeom>
          <a:noFill/>
          <a:ln w="19050">
            <a:solidFill>
              <a:srgbClr val="2F6D62"/>
            </a:solidFill>
            <a:prstDash val="solid"/>
            <a:tailEnd type="triangle"/>
          </a:ln>
        </p:spPr>
      </p:sp>
      <p:sp>
        <p:nvSpPr>
          <p:cNvPr id="32" name="Text 30"/>
          <p:cNvSpPr txBox="1"/>
          <p:nvPr/>
        </p:nvSpPr>
        <p:spPr>
          <a:xfrm>
            <a:off x="457200" y="2260397"/>
            <a:ext cx="1078992" cy="264262"/>
          </a:xfrm>
          <a:prstGeom prst="rect">
            <a:avLst/>
          </a:prstGeom>
          <a:noFill/>
          <a:ln/>
        </p:spPr>
        <p:txBody>
          <a:bodyPr wrap="square" lIns="0" tIns="0" rIns="0" bIns="0" rtlCol="0" anchor="ctr"/>
          <a:lstStyle/>
          <a:p>
            <a:pPr algn="r" indent="0" marL="0">
              <a:buNone/>
            </a:pPr>
            <a:r>
              <a:rPr lang="en-US" sz="800" dirty="0">
                <a:solidFill>
                  <a:srgbClr val="2B2622"/>
                </a:solidFill>
                <a:latin typeface="Calibri" pitchFamily="34" charset="0"/>
                <a:ea typeface="Calibri" pitchFamily="34" charset="-122"/>
                <a:cs typeface="Calibri" pitchFamily="34" charset="-120"/>
              </a:rPr>
              <a:t>STORE adds the Deleted flag</a:t>
            </a:r>
            <a:endParaRPr lang="en-US" sz="800" dirty="0"/>
          </a:p>
        </p:txBody>
      </p:sp>
      <p:sp>
        <p:nvSpPr>
          <p:cNvPr id="33" name="Shape 31"/>
          <p:cNvSpPr/>
          <p:nvPr/>
        </p:nvSpPr>
        <p:spPr>
          <a:xfrm>
            <a:off x="3108960" y="3703320"/>
            <a:ext cx="365760" cy="0"/>
          </a:xfrm>
          <a:prstGeom prst="line">
            <a:avLst/>
          </a:prstGeom>
          <a:noFill/>
          <a:ln w="22225">
            <a:solidFill>
              <a:srgbClr val="D97A14"/>
            </a:solidFill>
            <a:prstDash val="solid"/>
            <a:tailEnd type="triangle"/>
          </a:ln>
        </p:spPr>
      </p:sp>
      <p:sp>
        <p:nvSpPr>
          <p:cNvPr id="34" name="Shape 32"/>
          <p:cNvSpPr/>
          <p:nvPr/>
        </p:nvSpPr>
        <p:spPr>
          <a:xfrm>
            <a:off x="3474720" y="3575304"/>
            <a:ext cx="256032" cy="256032"/>
          </a:xfrm>
          <a:prstGeom prst="ellipse">
            <a:avLst/>
          </a:prstGeom>
          <a:solidFill>
            <a:srgbClr val="FFFFFF"/>
          </a:solidFill>
          <a:ln w="25400">
            <a:solidFill>
              <a:srgbClr val="2B2622"/>
            </a:solidFill>
            <a:prstDash val="solid"/>
          </a:ln>
        </p:spPr>
      </p:sp>
      <p:sp>
        <p:nvSpPr>
          <p:cNvPr id="35" name="Shape 33"/>
          <p:cNvSpPr/>
          <p:nvPr/>
        </p:nvSpPr>
        <p:spPr>
          <a:xfrm>
            <a:off x="3529584" y="3630168"/>
            <a:ext cx="146304" cy="146304"/>
          </a:xfrm>
          <a:prstGeom prst="ellipse">
            <a:avLst/>
          </a:prstGeom>
          <a:solidFill>
            <a:srgbClr val="2B2622"/>
          </a:solidFill>
          <a:ln w="15875">
            <a:solidFill>
              <a:srgbClr val="2B2622"/>
            </a:solidFill>
            <a:prstDash val="solid"/>
          </a:ln>
        </p:spPr>
      </p:sp>
      <p:sp>
        <p:nvSpPr>
          <p:cNvPr id="36" name="Text 34"/>
          <p:cNvSpPr txBox="1"/>
          <p:nvPr/>
        </p:nvSpPr>
        <p:spPr>
          <a:xfrm>
            <a:off x="457200" y="3913632"/>
            <a:ext cx="4434840" cy="301752"/>
          </a:xfrm>
          <a:prstGeom prst="rect">
            <a:avLst/>
          </a:prstGeom>
          <a:noFill/>
          <a:ln/>
        </p:spPr>
        <p:txBody>
          <a:bodyPr wrap="square" lIns="0" tIns="0" rIns="0" bIns="0" rtlCol="0" anchor="t"/>
          <a:lstStyle/>
          <a:p>
            <a:pPr indent="0" marL="0">
              <a:buNone/>
            </a:pPr>
            <a:r>
              <a:rPr lang="en-US" sz="850" i="1" dirty="0">
                <a:solidFill>
                  <a:srgbClr val="6E655C"/>
                </a:solidFill>
                <a:latin typeface="Calibri" pitchFamily="34" charset="0"/>
                <a:ea typeface="Calibri" pitchFamily="34" charset="-122"/>
                <a:cs typeface="Calibri" pitchFamily="34" charset="-120"/>
              </a:rPr>
              <a:t>diagram AMessageInAnImapMailbox - LifeCycle pattern, 34 of 35 words grounded in the chapter's text</a:t>
            </a:r>
            <a:endParaRPr lang="en-US" sz="850" dirty="0"/>
          </a:p>
        </p:txBody>
      </p:sp>
      <p:sp>
        <p:nvSpPr>
          <p:cNvPr id="37" name="Shape 35"/>
          <p:cNvSpPr/>
          <p:nvPr/>
        </p:nvSpPr>
        <p:spPr>
          <a:xfrm>
            <a:off x="5029200" y="1280160"/>
            <a:ext cx="3657600" cy="2322576"/>
          </a:xfrm>
          <a:prstGeom prst="roundRect">
            <a:avLst>
              <a:gd name="adj" fmla="val 3937"/>
            </a:avLst>
          </a:prstGeom>
          <a:solidFill>
            <a:srgbClr val="23272E"/>
          </a:solidFill>
          <a:ln w="12700">
            <a:solidFill>
              <a:srgbClr val="23272E"/>
            </a:solidFill>
            <a:prstDash val="solid"/>
          </a:ln>
        </p:spPr>
      </p:sp>
      <p:sp>
        <p:nvSpPr>
          <p:cNvPr id="38" name="Text 36"/>
          <p:cNvSpPr txBox="1"/>
          <p:nvPr/>
        </p:nvSpPr>
        <p:spPr>
          <a:xfrm>
            <a:off x="5212080" y="1399032"/>
            <a:ext cx="3291840" cy="2084832"/>
          </a:xfrm>
          <a:prstGeom prst="rect">
            <a:avLst/>
          </a:prstGeom>
          <a:noFill/>
          <a:ln/>
        </p:spPr>
        <p:txBody>
          <a:bodyPr wrap="square" lIns="0" tIns="0" rIns="0" bIns="0" rtlCol="0" anchor="t"/>
          <a:lstStyle/>
          <a:p>
            <a:pPr indent="0" marL="0">
              <a:buNone/>
            </a:pPr>
            <a:r>
              <a:rPr lang="en-US" sz="740" b="1" dirty="0">
                <a:solidFill>
                  <a:srgbClr val="D97A14"/>
                </a:solidFill>
                <a:latin typeface="Courier New" pitchFamily="34" charset="0"/>
                <a:ea typeface="Courier New" pitchFamily="34" charset="-122"/>
                <a:cs typeface="Courier New" pitchFamily="34" charset="-120"/>
              </a:rPr>
              <a:t>&gt;&gt;&gt; </a:t>
            </a:r>
            <a:r>
              <a:rPr lang="en-US" sz="740" dirty="0">
                <a:solidFill>
                  <a:srgbClr val="E6EDF3"/>
                </a:solidFill>
                <a:latin typeface="Courier New" pitchFamily="34" charset="0"/>
                <a:ea typeface="Courier New" pitchFamily="34" charset="-122"/>
                <a:cs typeface="Courier New" pitchFamily="34" charset="-120"/>
              </a:rPr>
              <a:t>import imaplib, smtplib</a:t>
            </a:r>
            <a:endParaRPr lang="en-US" sz="740" dirty="0"/>
          </a:p>
          <a:p>
            <a:pPr indent="0" marL="0">
              <a:buNone/>
            </a:pPr>
            <a:r>
              <a:rPr lang="en-US" sz="740" b="1" dirty="0">
                <a:solidFill>
                  <a:srgbClr val="D97A14"/>
                </a:solidFill>
                <a:latin typeface="Courier New" pitchFamily="34" charset="0"/>
                <a:ea typeface="Courier New" pitchFamily="34" charset="-122"/>
                <a:cs typeface="Courier New" pitchFamily="34" charset="-120"/>
              </a:rPr>
              <a:t>&gt;&gt;&gt; </a:t>
            </a:r>
            <a:r>
              <a:rPr lang="en-US" sz="740" dirty="0">
                <a:solidFill>
                  <a:srgbClr val="E6EDF3"/>
                </a:solidFill>
                <a:latin typeface="Courier New" pitchFamily="34" charset="0"/>
                <a:ea typeface="Courier New" pitchFamily="34" charset="-122"/>
                <a:cs typeface="Courier New" pitchFamily="34" charset="-120"/>
              </a:rPr>
              <a:t>smtplib.SMTP_PORT, smtplib.SMTP_SSL_PORT</a:t>
            </a:r>
            <a:endParaRPr lang="en-US" sz="740" dirty="0"/>
          </a:p>
          <a:p>
            <a:pPr indent="0" marL="0">
              <a:buNone/>
            </a:pPr>
            <a:r>
              <a:rPr lang="en-US" sz="740" dirty="0">
                <a:solidFill>
                  <a:srgbClr val="7EE787"/>
                </a:solidFill>
                <a:latin typeface="Courier New" pitchFamily="34" charset="0"/>
                <a:ea typeface="Courier New" pitchFamily="34" charset="-122"/>
                <a:cs typeface="Courier New" pitchFamily="34" charset="-120"/>
              </a:rPr>
              <a:t>(25, 465)</a:t>
            </a:r>
            <a:endParaRPr lang="en-US" sz="740" dirty="0"/>
          </a:p>
          <a:p>
            <a:pPr indent="0" marL="0">
              <a:buNone/>
            </a:pPr>
            <a:r>
              <a:rPr lang="en-US" sz="740" b="1" dirty="0">
                <a:solidFill>
                  <a:srgbClr val="D97A14"/>
                </a:solidFill>
                <a:latin typeface="Courier New" pitchFamily="34" charset="0"/>
                <a:ea typeface="Courier New" pitchFamily="34" charset="-122"/>
                <a:cs typeface="Courier New" pitchFamily="34" charset="-120"/>
              </a:rPr>
              <a:t>&gt;&gt;&gt; </a:t>
            </a:r>
            <a:r>
              <a:rPr lang="en-US" sz="740" dirty="0">
                <a:solidFill>
                  <a:srgbClr val="E6EDF3"/>
                </a:solidFill>
                <a:latin typeface="Courier New" pitchFamily="34" charset="0"/>
                <a:ea typeface="Courier New" pitchFamily="34" charset="-122"/>
                <a:cs typeface="Courier New" pitchFamily="34" charset="-120"/>
              </a:rPr>
              <a:t>imaplib.IMAP4_PORT, imaplib.IMAP4_SSL_PORT</a:t>
            </a:r>
            <a:endParaRPr lang="en-US" sz="740" dirty="0"/>
          </a:p>
          <a:p>
            <a:pPr indent="0" marL="0">
              <a:buNone/>
            </a:pPr>
            <a:r>
              <a:rPr lang="en-US" sz="740" dirty="0">
                <a:solidFill>
                  <a:srgbClr val="7EE787"/>
                </a:solidFill>
                <a:latin typeface="Courier New" pitchFamily="34" charset="0"/>
                <a:ea typeface="Courier New" pitchFamily="34" charset="-122"/>
                <a:cs typeface="Courier New" pitchFamily="34" charset="-120"/>
              </a:rPr>
              <a:t>(143, 993)</a:t>
            </a:r>
            <a:endParaRPr lang="en-US" sz="740" dirty="0"/>
          </a:p>
          <a:p>
            <a:pPr indent="0" marL="0">
              <a:buNone/>
            </a:pPr>
            <a:r>
              <a:rPr lang="en-US" sz="740" b="1" dirty="0">
                <a:solidFill>
                  <a:srgbClr val="D97A14"/>
                </a:solidFill>
                <a:latin typeface="Courier New" pitchFamily="34" charset="0"/>
                <a:ea typeface="Courier New" pitchFamily="34" charset="-122"/>
                <a:cs typeface="Courier New" pitchFamily="34" charset="-120"/>
              </a:rPr>
              <a:t>&gt;&gt;&gt; </a:t>
            </a:r>
            <a:r>
              <a:rPr lang="en-US" sz="740" dirty="0">
                <a:solidFill>
                  <a:srgbClr val="E6EDF3"/>
                </a:solidFill>
                <a:latin typeface="Courier New" pitchFamily="34" charset="0"/>
                <a:ea typeface="Courier New" pitchFamily="34" charset="-122"/>
                <a:cs typeface="Courier New" pitchFamily="34" charset="-120"/>
              </a:rPr>
              <a:t>hasattr(imaplib.IMAP4, 'idle')</a:t>
            </a:r>
            <a:endParaRPr lang="en-US" sz="740" dirty="0"/>
          </a:p>
          <a:p>
            <a:pPr indent="0" marL="0">
              <a:buNone/>
            </a:pPr>
            <a:r>
              <a:rPr lang="en-US" sz="740" dirty="0">
                <a:solidFill>
                  <a:srgbClr val="7EE787"/>
                </a:solidFill>
                <a:latin typeface="Courier New" pitchFamily="34" charset="0"/>
                <a:ea typeface="Courier New" pitchFamily="34" charset="-122"/>
                <a:cs typeface="Courier New" pitchFamily="34" charset="-120"/>
              </a:rPr>
              <a:t>True</a:t>
            </a:r>
            <a:endParaRPr lang="en-US" sz="740" dirty="0"/>
          </a:p>
          <a:p>
            <a:pPr indent="0" marL="0">
              <a:buNone/>
            </a:pPr>
            <a:r>
              <a:rPr lang="en-US" sz="740" b="1" dirty="0">
                <a:solidFill>
                  <a:srgbClr val="D97A14"/>
                </a:solidFill>
                <a:latin typeface="Courier New" pitchFamily="34" charset="0"/>
                <a:ea typeface="Courier New" pitchFamily="34" charset="-122"/>
                <a:cs typeface="Courier New" pitchFamily="34" charset="-120"/>
              </a:rPr>
              <a:t>&gt;&gt;&gt; </a:t>
            </a:r>
            <a:r>
              <a:rPr lang="en-US" sz="740" dirty="0">
                <a:solidFill>
                  <a:srgbClr val="E6EDF3"/>
                </a:solidFill>
                <a:latin typeface="Courier New" pitchFamily="34" charset="0"/>
                <a:ea typeface="Courier New" pitchFamily="34" charset="-122"/>
                <a:cs typeface="Courier New" pitchFamily="34" charset="-120"/>
              </a:rPr>
              <a:t>imaplib.Commands['IDLE']</a:t>
            </a:r>
            <a:endParaRPr lang="en-US" sz="740" dirty="0"/>
          </a:p>
          <a:p>
            <a:pPr indent="0" marL="0">
              <a:buNone/>
            </a:pPr>
            <a:r>
              <a:rPr lang="en-US" sz="740" dirty="0">
                <a:solidFill>
                  <a:srgbClr val="7EE787"/>
                </a:solidFill>
                <a:latin typeface="Courier New" pitchFamily="34" charset="0"/>
                <a:ea typeface="Courier New" pitchFamily="34" charset="-122"/>
                <a:cs typeface="Courier New" pitchFamily="34" charset="-120"/>
              </a:rPr>
              <a:t>('AUTH', 'SELECTED')</a:t>
            </a:r>
            <a:endParaRPr lang="en-US" sz="740" dirty="0"/>
          </a:p>
          <a:p>
            <a:pPr indent="0" marL="0">
              <a:buNone/>
            </a:pPr>
            <a:r>
              <a:rPr lang="en-US" sz="740" b="1" dirty="0">
                <a:solidFill>
                  <a:srgbClr val="D97A14"/>
                </a:solidFill>
                <a:latin typeface="Courier New" pitchFamily="34" charset="0"/>
                <a:ea typeface="Courier New" pitchFamily="34" charset="-122"/>
                <a:cs typeface="Courier New" pitchFamily="34" charset="-120"/>
              </a:rPr>
              <a:t>&gt;&gt;&gt; </a:t>
            </a:r>
            <a:r>
              <a:rPr lang="en-US" sz="740" dirty="0">
                <a:solidFill>
                  <a:srgbClr val="E6EDF3"/>
                </a:solidFill>
                <a:latin typeface="Courier New" pitchFamily="34" charset="0"/>
                <a:ea typeface="Courier New" pitchFamily="34" charset="-122"/>
                <a:cs typeface="Courier New" pitchFamily="34" charset="-120"/>
              </a:rPr>
              <a:t>imaplib.ParseFlags(b'1 (FLAGS (\\Seen))')</a:t>
            </a:r>
            <a:endParaRPr lang="en-US" sz="740" dirty="0"/>
          </a:p>
          <a:p>
            <a:pPr indent="0" marL="0">
              <a:buNone/>
            </a:pPr>
            <a:r>
              <a:rPr lang="en-US" sz="740" dirty="0">
                <a:solidFill>
                  <a:srgbClr val="7EE787"/>
                </a:solidFill>
                <a:latin typeface="Courier New" pitchFamily="34" charset="0"/>
                <a:ea typeface="Courier New" pitchFamily="34" charset="-122"/>
                <a:cs typeface="Courier New" pitchFamily="34" charset="-120"/>
              </a:rPr>
              <a:t>(b'\\Seen',)</a:t>
            </a:r>
            <a:endParaRPr lang="en-US" sz="740" dirty="0"/>
          </a:p>
          <a:p>
            <a:pPr indent="0" marL="0">
              <a:buNone/>
            </a:pPr>
            <a:r>
              <a:rPr lang="en-US" sz="740" b="1" dirty="0">
                <a:solidFill>
                  <a:srgbClr val="D97A14"/>
                </a:solidFill>
                <a:latin typeface="Courier New" pitchFamily="34" charset="0"/>
                <a:ea typeface="Courier New" pitchFamily="34" charset="-122"/>
                <a:cs typeface="Courier New" pitchFamily="34" charset="-120"/>
              </a:rPr>
              <a:t>&gt;&gt;&gt; </a:t>
            </a:r>
            <a:r>
              <a:rPr lang="en-US" sz="740" dirty="0">
                <a:solidFill>
                  <a:srgbClr val="E6EDF3"/>
                </a:solidFill>
                <a:latin typeface="Courier New" pitchFamily="34" charset="0"/>
                <a:ea typeface="Courier New" pitchFamily="34" charset="-122"/>
                <a:cs typeface="Courier New" pitchFamily="34" charset="-120"/>
              </a:rPr>
              <a:t>from datetime import datetime as dt, timezone as tz</a:t>
            </a:r>
            <a:endParaRPr lang="en-US" sz="740" dirty="0"/>
          </a:p>
          <a:p>
            <a:pPr indent="0" marL="0">
              <a:buNone/>
            </a:pPr>
            <a:r>
              <a:rPr lang="en-US" sz="740" b="1" dirty="0">
                <a:solidFill>
                  <a:srgbClr val="D97A14"/>
                </a:solidFill>
                <a:latin typeface="Courier New" pitchFamily="34" charset="0"/>
                <a:ea typeface="Courier New" pitchFamily="34" charset="-122"/>
                <a:cs typeface="Courier New" pitchFamily="34" charset="-120"/>
              </a:rPr>
              <a:t>&gt;&gt;&gt; </a:t>
            </a:r>
            <a:r>
              <a:rPr lang="en-US" sz="740" dirty="0">
                <a:solidFill>
                  <a:srgbClr val="E6EDF3"/>
                </a:solidFill>
                <a:latin typeface="Courier New" pitchFamily="34" charset="0"/>
                <a:ea typeface="Courier New" pitchFamily="34" charset="-122"/>
                <a:cs typeface="Courier New" pitchFamily="34" charset="-120"/>
              </a:rPr>
              <a:t>d = dt(2026, 12, 9, 13, 28, 48, tzinfo=tz.utc)</a:t>
            </a:r>
            <a:endParaRPr lang="en-US" sz="740" dirty="0"/>
          </a:p>
          <a:p>
            <a:pPr indent="0" marL="0">
              <a:buNone/>
            </a:pPr>
            <a:r>
              <a:rPr lang="en-US" sz="740" b="1" dirty="0">
                <a:solidFill>
                  <a:srgbClr val="D97A14"/>
                </a:solidFill>
                <a:latin typeface="Courier New" pitchFamily="34" charset="0"/>
                <a:ea typeface="Courier New" pitchFamily="34" charset="-122"/>
                <a:cs typeface="Courier New" pitchFamily="34" charset="-120"/>
              </a:rPr>
              <a:t>&gt;&gt;&gt; </a:t>
            </a:r>
            <a:r>
              <a:rPr lang="en-US" sz="740" dirty="0">
                <a:solidFill>
                  <a:srgbClr val="E6EDF3"/>
                </a:solidFill>
                <a:latin typeface="Courier New" pitchFamily="34" charset="0"/>
                <a:ea typeface="Courier New" pitchFamily="34" charset="-122"/>
                <a:cs typeface="Courier New" pitchFamily="34" charset="-120"/>
              </a:rPr>
              <a:t>imaplib.Time2Internaldate(d)</a:t>
            </a:r>
            <a:endParaRPr lang="en-US" sz="740" dirty="0"/>
          </a:p>
          <a:p>
            <a:pPr indent="0" marL="0">
              <a:buNone/>
            </a:pPr>
            <a:r>
              <a:rPr lang="en-US" sz="740" dirty="0">
                <a:solidFill>
                  <a:srgbClr val="7EE787"/>
                </a:solidFill>
                <a:latin typeface="Courier New" pitchFamily="34" charset="0"/>
                <a:ea typeface="Courier New" pitchFamily="34" charset="-122"/>
                <a:cs typeface="Courier New" pitchFamily="34" charset="-120"/>
              </a:rPr>
              <a:t>'"09-Dec-2026 13:28:48 +0000"'</a:t>
            </a:r>
            <a:endParaRPr lang="en-US" sz="740" dirty="0"/>
          </a:p>
        </p:txBody>
      </p:sp>
      <p:sp>
        <p:nvSpPr>
          <p:cNvPr id="39" name="Text 37"/>
          <p:cNvSpPr txBox="1"/>
          <p:nvPr/>
        </p:nvSpPr>
        <p:spPr>
          <a:xfrm>
            <a:off x="5029200" y="3621024"/>
            <a:ext cx="3657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 no row reads the clock or the network</a:t>
            </a:r>
            <a:endParaRPr lang="en-US" sz="900" dirty="0"/>
          </a:p>
        </p:txBody>
      </p:sp>
      <p:sp>
        <p:nvSpPr>
          <p:cNvPr id="40" name="Text 38"/>
          <p:cNvSpPr txBox="1"/>
          <p:nvPr/>
        </p:nvSpPr>
        <p:spPr>
          <a:xfrm>
            <a:off x="5029200" y="3895344"/>
            <a:ext cx="3657600" cy="557784"/>
          </a:xfrm>
          <a:prstGeom prst="rect">
            <a:avLst/>
          </a:prstGeom>
          <a:noFill/>
          <a:ln/>
        </p:spPr>
        <p:txBody>
          <a:bodyPr wrap="square" lIns="0" tIns="0" rIns="0" bIns="0" rtlCol="0" anchor="t"/>
          <a:lstStyle/>
          <a:p>
            <a:pPr indent="0" marL="0">
              <a:buNone/>
            </a:pPr>
            <a:r>
              <a:rPr lang="en-US" sz="850" i="1" dirty="0">
                <a:solidFill>
                  <a:srgbClr val="6E655C"/>
                </a:solidFill>
                <a:latin typeface="Calibri" pitchFamily="34" charset="0"/>
                <a:ea typeface="Calibri" pitchFamily="34" charset="-122"/>
                <a:cs typeface="Calibri" pitchFamily="34" charset="-120"/>
              </a:rPr>
              <a:t>Recorded 13 Oct 2026, not run again here: dovecot 2.3.21 on 127.0.0.1, a local stand-in for imap.gmail.com. SEARCH UNSEEN found the message, BODY.PEEK kept it unseen, RFC822 set Seen, STORE and EXPUNGE emptied the INBOX, and idle() saw EXISTS.</a:t>
            </a:r>
            <a:endParaRPr lang="en-US" sz="850" dirty="0"/>
          </a:p>
        </p:txBody>
      </p:sp>
      <p:sp>
        <p:nvSpPr>
          <p:cNvPr id="41" name="Text 39"/>
          <p:cNvSpPr txBox="1"/>
          <p:nvPr/>
        </p:nvSpPr>
        <p:spPr>
          <a:xfrm>
            <a:off x="457200" y="4251960"/>
            <a:ext cx="4434840" cy="301752"/>
          </a:xfrm>
          <a:prstGeom prst="rect">
            <a:avLst/>
          </a:prstGeom>
          <a:noFill/>
          <a:ln/>
        </p:spPr>
        <p:txBody>
          <a:bodyPr wrap="square" lIns="0" tIns="0" rIns="0" bIns="0" rtlCol="0" anchor="t"/>
          <a:lstStyle/>
          <a:p>
            <a:pPr indent="0" marL="0">
              <a:buNone/>
            </a:pPr>
            <a:r>
              <a:rPr lang="en-US" sz="850" i="1" dirty="0">
                <a:solidFill>
                  <a:srgbClr val="6E655C"/>
                </a:solidFill>
                <a:latin typeface="Calibri" pitchFamily="34" charset="0"/>
                <a:ea typeface="Calibri" pitchFamily="34" charset="-122"/>
                <a:cs typeface="Calibri" pitchFamily="34" charset="-120"/>
              </a:rPr>
              <a:t>NOT EXECUTED: any connection to imap.gmail.com or smtp.gmail.com; a TCP connect to each timed out from this machine and nothing was sent.</a:t>
            </a:r>
            <a:endParaRPr lang="en-US" sz="850" dirty="0"/>
          </a:p>
        </p:txBody>
      </p:sp>
      <p:sp>
        <p:nvSpPr>
          <p:cNvPr id="42" name="Shape 40"/>
          <p:cNvSpPr/>
          <p:nvPr/>
        </p:nvSpPr>
        <p:spPr>
          <a:xfrm>
            <a:off x="457200" y="4636008"/>
            <a:ext cx="91440" cy="310896"/>
          </a:xfrm>
          <a:prstGeom prst="rect">
            <a:avLst/>
          </a:prstGeom>
          <a:solidFill>
            <a:srgbClr val="D97A14"/>
          </a:solidFill>
          <a:ln w="12700">
            <a:solidFill>
              <a:srgbClr val="D97A14"/>
            </a:solidFill>
            <a:prstDash val="solid"/>
          </a:ln>
        </p:spPr>
      </p:sp>
      <p:sp>
        <p:nvSpPr>
          <p:cNvPr id="43" name="Text 4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message is unseen, seen, marked, then expunged.</a:t>
            </a:r>
            <a:endParaRPr lang="en-US" sz="1350" dirty="0"/>
          </a:p>
        </p:txBody>
      </p:sp>
      <p:sp>
        <p:nvSpPr>
          <p:cNvPr id="44" name="Text 4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14 / 26</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What changed in Python's mail modules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same probe under five interpreters; every cell is run again by the check</a:t>
            </a:r>
            <a:endParaRPr lang="en-US" sz="13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8229600" cy="914400"/>
        </p:xfrm>
        <a:graphic>
          <a:graphicData uri="http://schemas.openxmlformats.org/drawingml/2006/table">
            <a:tbl>
              <a:tblPr/>
              <a:tblGrid>
                <a:gridCol w="3017520"/>
                <a:gridCol w="1042416"/>
                <a:gridCol w="1042416"/>
                <a:gridCol w="1042416"/>
                <a:gridCol w="1042416"/>
                <a:gridCol w="1042416"/>
              </a:tblGrid>
              <a:tr h="233172">
                <a:tc>
                  <a:txBody>
                    <a:bodyPr/>
                    <a:lstStyle/>
                    <a:p>
                      <a:pPr indent="0" marL="0">
                        <a:buNone/>
                      </a:pPr>
                      <a:r>
                        <a:rPr lang="en-US" sz="850" b="1" dirty="0">
                          <a:solidFill>
                            <a:srgbClr val="FFFFFF"/>
                          </a:solidFill>
                          <a:latin typeface="Calibri" pitchFamily="34" charset="0"/>
                          <a:ea typeface="Calibri" pitchFamily="34" charset="-122"/>
                          <a:cs typeface="Calibri" pitchFamily="34" charset="-120"/>
                        </a:rPr>
                        <a:t>check</a:t>
                      </a:r>
                      <a:endParaRPr lang="en-US" sz="8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850" b="1" dirty="0">
                          <a:solidFill>
                            <a:srgbClr val="FFFFFF"/>
                          </a:solidFill>
                          <a:latin typeface="Calibri" pitchFamily="34" charset="0"/>
                          <a:ea typeface="Calibri" pitchFamily="34" charset="-122"/>
                          <a:cs typeface="Calibri" pitchFamily="34" charset="-120"/>
                        </a:rPr>
                        <a:t>3.11.17</a:t>
                      </a:r>
                      <a:endParaRPr lang="en-US" sz="8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850" b="1" dirty="0">
                          <a:solidFill>
                            <a:srgbClr val="FFFFFF"/>
                          </a:solidFill>
                          <a:latin typeface="Calibri" pitchFamily="34" charset="0"/>
                          <a:ea typeface="Calibri" pitchFamily="34" charset="-122"/>
                          <a:cs typeface="Calibri" pitchFamily="34" charset="-120"/>
                        </a:rPr>
                        <a:t>3.12.3</a:t>
                      </a:r>
                      <a:endParaRPr lang="en-US" sz="8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850" b="1" dirty="0">
                          <a:solidFill>
                            <a:srgbClr val="FFFFFF"/>
                          </a:solidFill>
                          <a:latin typeface="Calibri" pitchFamily="34" charset="0"/>
                          <a:ea typeface="Calibri" pitchFamily="34" charset="-122"/>
                          <a:cs typeface="Calibri" pitchFamily="34" charset="-120"/>
                        </a:rPr>
                        <a:t>3.13.16</a:t>
                      </a:r>
                      <a:endParaRPr lang="en-US" sz="8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850" b="1" dirty="0">
                          <a:solidFill>
                            <a:srgbClr val="FFFFFF"/>
                          </a:solidFill>
                          <a:latin typeface="Calibri" pitchFamily="34" charset="0"/>
                          <a:ea typeface="Calibri" pitchFamily="34" charset="-122"/>
                          <a:cs typeface="Calibri" pitchFamily="34" charset="-120"/>
                        </a:rPr>
                        <a:t>3.14.6</a:t>
                      </a:r>
                      <a:endParaRPr lang="en-US" sz="8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850" b="1" dirty="0">
                          <a:solidFill>
                            <a:srgbClr val="FFFFFF"/>
                          </a:solidFill>
                          <a:latin typeface="Calibri" pitchFamily="34" charset="0"/>
                          <a:ea typeface="Calibri" pitchFamily="34" charset="-122"/>
                          <a:cs typeface="Calibri" pitchFamily="34" charset="-120"/>
                        </a:rPr>
                        <a:t>3.15.0b4</a:t>
                      </a:r>
                      <a:endParaRPr lang="en-US" sz="8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33172">
                <a:tc>
                  <a:txBody>
                    <a:bodyPr/>
                    <a:lstStyle/>
                    <a:p>
                      <a:pPr indent="0" marL="0">
                        <a:buNone/>
                      </a:pPr>
                      <a:r>
                        <a:rPr lang="en-US" sz="850" dirty="0">
                          <a:solidFill>
                            <a:srgbClr val="2B2622"/>
                          </a:solidFill>
                          <a:latin typeface="Calibri" pitchFamily="34" charset="0"/>
                          <a:ea typeface="Calibri" pitchFamily="34" charset="-122"/>
                          <a:cs typeface="Calibri" pitchFamily="34" charset="-120"/>
                        </a:rPr>
                        <a:t>IMAP4.idle() exists</a:t>
                      </a:r>
                      <a:endParaRPr lang="en-US" sz="8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50" dirty="0">
                          <a:solidFill>
                            <a:srgbClr val="2B2622"/>
                          </a:solidFill>
                          <a:latin typeface="Calibri" pitchFamily="34" charset="0"/>
                          <a:ea typeface="Calibri" pitchFamily="34" charset="-122"/>
                          <a:cs typeface="Calibri" pitchFamily="34" charset="-120"/>
                        </a:rPr>
                        <a:t>no</a:t>
                      </a:r>
                      <a:endParaRPr lang="en-US" sz="8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50" dirty="0">
                          <a:solidFill>
                            <a:srgbClr val="2B2622"/>
                          </a:solidFill>
                          <a:latin typeface="Calibri" pitchFamily="34" charset="0"/>
                          <a:ea typeface="Calibri" pitchFamily="34" charset="-122"/>
                          <a:cs typeface="Calibri" pitchFamily="34" charset="-120"/>
                        </a:rPr>
                        <a:t>no</a:t>
                      </a:r>
                      <a:endParaRPr lang="en-US" sz="8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50" dirty="0">
                          <a:solidFill>
                            <a:srgbClr val="2B2622"/>
                          </a:solidFill>
                          <a:latin typeface="Calibri" pitchFamily="34" charset="0"/>
                          <a:ea typeface="Calibri" pitchFamily="34" charset="-122"/>
                          <a:cs typeface="Calibri" pitchFamily="34" charset="-120"/>
                        </a:rPr>
                        <a:t>no</a:t>
                      </a:r>
                      <a:endParaRPr lang="en-US" sz="8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50" dirty="0">
                          <a:solidFill>
                            <a:srgbClr val="2B2622"/>
                          </a:solidFill>
                          <a:latin typeface="Calibri" pitchFamily="34" charset="0"/>
                          <a:ea typeface="Calibri" pitchFamily="34" charset="-122"/>
                          <a:cs typeface="Calibri" pitchFamily="34" charset="-120"/>
                        </a:rPr>
                        <a:t>yes</a:t>
                      </a:r>
                      <a:endParaRPr lang="en-US" sz="8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50" dirty="0">
                          <a:solidFill>
                            <a:srgbClr val="2B2622"/>
                          </a:solidFill>
                          <a:latin typeface="Calibri" pitchFamily="34" charset="0"/>
                          <a:ea typeface="Calibri" pitchFamily="34" charset="-122"/>
                          <a:cs typeface="Calibri" pitchFamily="34" charset="-120"/>
                        </a:rPr>
                        <a:t>yes</a:t>
                      </a:r>
                      <a:endParaRPr lang="en-US" sz="8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33172">
                <a:tc>
                  <a:txBody>
                    <a:bodyPr/>
                    <a:lstStyle/>
                    <a:p>
                      <a:pPr indent="0" marL="0">
                        <a:buNone/>
                      </a:pPr>
                      <a:r>
                        <a:rPr lang="en-US" sz="850" dirty="0">
                          <a:solidFill>
                            <a:srgbClr val="2B2622"/>
                          </a:solidFill>
                          <a:latin typeface="Calibri" pitchFamily="34" charset="0"/>
                          <a:ea typeface="Calibri" pitchFamily="34" charset="-122"/>
                          <a:cs typeface="Calibri" pitchFamily="34" charset="-120"/>
                        </a:rPr>
                        <a:t>starttls(keyfile=...) accepted</a:t>
                      </a:r>
                      <a:endParaRPr lang="en-US" sz="8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50" dirty="0">
                          <a:solidFill>
                            <a:srgbClr val="2B2622"/>
                          </a:solidFill>
                          <a:latin typeface="Calibri" pitchFamily="34" charset="0"/>
                          <a:ea typeface="Calibri" pitchFamily="34" charset="-122"/>
                          <a:cs typeface="Calibri" pitchFamily="34" charset="-120"/>
                        </a:rPr>
                        <a:t>yes</a:t>
                      </a:r>
                      <a:endParaRPr lang="en-US" sz="8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50" dirty="0">
                          <a:solidFill>
                            <a:srgbClr val="2B2622"/>
                          </a:solidFill>
                          <a:latin typeface="Calibri" pitchFamily="34" charset="0"/>
                          <a:ea typeface="Calibri" pitchFamily="34" charset="-122"/>
                          <a:cs typeface="Calibri" pitchFamily="34" charset="-120"/>
                        </a:rPr>
                        <a:t>no</a:t>
                      </a:r>
                      <a:endParaRPr lang="en-US" sz="8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50" dirty="0">
                          <a:solidFill>
                            <a:srgbClr val="2B2622"/>
                          </a:solidFill>
                          <a:latin typeface="Calibri" pitchFamily="34" charset="0"/>
                          <a:ea typeface="Calibri" pitchFamily="34" charset="-122"/>
                          <a:cs typeface="Calibri" pitchFamily="34" charset="-120"/>
                        </a:rPr>
                        <a:t>no</a:t>
                      </a:r>
                      <a:endParaRPr lang="en-US" sz="8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50" dirty="0">
                          <a:solidFill>
                            <a:srgbClr val="2B2622"/>
                          </a:solidFill>
                          <a:latin typeface="Calibri" pitchFamily="34" charset="0"/>
                          <a:ea typeface="Calibri" pitchFamily="34" charset="-122"/>
                          <a:cs typeface="Calibri" pitchFamily="34" charset="-120"/>
                        </a:rPr>
                        <a:t>no</a:t>
                      </a:r>
                      <a:endParaRPr lang="en-US" sz="8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50" dirty="0">
                          <a:solidFill>
                            <a:srgbClr val="2B2622"/>
                          </a:solidFill>
                          <a:latin typeface="Calibri" pitchFamily="34" charset="0"/>
                          <a:ea typeface="Calibri" pitchFamily="34" charset="-122"/>
                          <a:cs typeface="Calibri" pitchFamily="34" charset="-120"/>
                        </a:rPr>
                        <a:t>no</a:t>
                      </a:r>
                      <a:endParaRPr lang="en-US" sz="8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33172">
                <a:tc>
                  <a:txBody>
                    <a:bodyPr/>
                    <a:lstStyle/>
                    <a:p>
                      <a:pPr indent="0" marL="0">
                        <a:buNone/>
                      </a:pPr>
                      <a:r>
                        <a:rPr lang="en-US" sz="850" dirty="0">
                          <a:solidFill>
                            <a:srgbClr val="2B2622"/>
                          </a:solidFill>
                          <a:latin typeface="Calibri" pitchFamily="34" charset="0"/>
                          <a:ea typeface="Calibri" pitchFamily="34" charset="-122"/>
                          <a:cs typeface="Calibri" pitchFamily="34" charset="-120"/>
                        </a:rPr>
                        <a:t>import smtpd</a:t>
                      </a:r>
                      <a:endParaRPr lang="en-US" sz="8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50" dirty="0">
                          <a:solidFill>
                            <a:srgbClr val="2B2622"/>
                          </a:solidFill>
                          <a:latin typeface="Calibri" pitchFamily="34" charset="0"/>
                          <a:ea typeface="Calibri" pitchFamily="34" charset="-122"/>
                          <a:cs typeface="Calibri" pitchFamily="34" charset="-120"/>
                        </a:rPr>
                        <a:t>yes</a:t>
                      </a:r>
                      <a:endParaRPr lang="en-US" sz="8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50" dirty="0">
                          <a:solidFill>
                            <a:srgbClr val="2B2622"/>
                          </a:solidFill>
                          <a:latin typeface="Calibri" pitchFamily="34" charset="0"/>
                          <a:ea typeface="Calibri" pitchFamily="34" charset="-122"/>
                          <a:cs typeface="Calibri" pitchFamily="34" charset="-120"/>
                        </a:rPr>
                        <a:t>gone</a:t>
                      </a:r>
                      <a:endParaRPr lang="en-US" sz="8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50" dirty="0">
                          <a:solidFill>
                            <a:srgbClr val="2B2622"/>
                          </a:solidFill>
                          <a:latin typeface="Calibri" pitchFamily="34" charset="0"/>
                          <a:ea typeface="Calibri" pitchFamily="34" charset="-122"/>
                          <a:cs typeface="Calibri" pitchFamily="34" charset="-120"/>
                        </a:rPr>
                        <a:t>gone</a:t>
                      </a:r>
                      <a:endParaRPr lang="en-US" sz="8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50" dirty="0">
                          <a:solidFill>
                            <a:srgbClr val="2B2622"/>
                          </a:solidFill>
                          <a:latin typeface="Calibri" pitchFamily="34" charset="0"/>
                          <a:ea typeface="Calibri" pitchFamily="34" charset="-122"/>
                          <a:cs typeface="Calibri" pitchFamily="34" charset="-120"/>
                        </a:rPr>
                        <a:t>gone</a:t>
                      </a:r>
                      <a:endParaRPr lang="en-US" sz="8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50" dirty="0">
                          <a:solidFill>
                            <a:srgbClr val="2B2622"/>
                          </a:solidFill>
                          <a:latin typeface="Calibri" pitchFamily="34" charset="0"/>
                          <a:ea typeface="Calibri" pitchFamily="34" charset="-122"/>
                          <a:cs typeface="Calibri" pitchFamily="34" charset="-120"/>
                        </a:rPr>
                        <a:t>gone</a:t>
                      </a:r>
                      <a:endParaRPr lang="en-US" sz="8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33172">
                <a:tc>
                  <a:txBody>
                    <a:bodyPr/>
                    <a:lstStyle/>
                    <a:p>
                      <a:pPr indent="0" marL="0">
                        <a:buNone/>
                      </a:pPr>
                      <a:r>
                        <a:rPr lang="en-US" sz="850" dirty="0">
                          <a:solidFill>
                            <a:srgbClr val="2B2622"/>
                          </a:solidFill>
                          <a:latin typeface="Calibri" pitchFamily="34" charset="0"/>
                          <a:ea typeface="Calibri" pitchFamily="34" charset="-122"/>
                          <a:cs typeface="Calibri" pitchFamily="34" charset="-120"/>
                        </a:rPr>
                        <a:t>import telnetlib</a:t>
                      </a:r>
                      <a:endParaRPr lang="en-US" sz="8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50" dirty="0">
                          <a:solidFill>
                            <a:srgbClr val="2B2622"/>
                          </a:solidFill>
                          <a:latin typeface="Calibri" pitchFamily="34" charset="0"/>
                          <a:ea typeface="Calibri" pitchFamily="34" charset="-122"/>
                          <a:cs typeface="Calibri" pitchFamily="34" charset="-120"/>
                        </a:rPr>
                        <a:t>yes</a:t>
                      </a:r>
                      <a:endParaRPr lang="en-US" sz="8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50" dirty="0">
                          <a:solidFill>
                            <a:srgbClr val="2B2622"/>
                          </a:solidFill>
                          <a:latin typeface="Calibri" pitchFamily="34" charset="0"/>
                          <a:ea typeface="Calibri" pitchFamily="34" charset="-122"/>
                          <a:cs typeface="Calibri" pitchFamily="34" charset="-120"/>
                        </a:rPr>
                        <a:t>yes</a:t>
                      </a:r>
                      <a:endParaRPr lang="en-US" sz="8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50" dirty="0">
                          <a:solidFill>
                            <a:srgbClr val="2B2622"/>
                          </a:solidFill>
                          <a:latin typeface="Calibri" pitchFamily="34" charset="0"/>
                          <a:ea typeface="Calibri" pitchFamily="34" charset="-122"/>
                          <a:cs typeface="Calibri" pitchFamily="34" charset="-120"/>
                        </a:rPr>
                        <a:t>gone</a:t>
                      </a:r>
                      <a:endParaRPr lang="en-US" sz="8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50" dirty="0">
                          <a:solidFill>
                            <a:srgbClr val="2B2622"/>
                          </a:solidFill>
                          <a:latin typeface="Calibri" pitchFamily="34" charset="0"/>
                          <a:ea typeface="Calibri" pitchFamily="34" charset="-122"/>
                          <a:cs typeface="Calibri" pitchFamily="34" charset="-120"/>
                        </a:rPr>
                        <a:t>gone</a:t>
                      </a:r>
                      <a:endParaRPr lang="en-US" sz="8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50" dirty="0">
                          <a:solidFill>
                            <a:srgbClr val="2B2622"/>
                          </a:solidFill>
                          <a:latin typeface="Calibri" pitchFamily="34" charset="0"/>
                          <a:ea typeface="Calibri" pitchFamily="34" charset="-122"/>
                          <a:cs typeface="Calibri" pitchFamily="34" charset="-120"/>
                        </a:rPr>
                        <a:t>gone</a:t>
                      </a:r>
                      <a:endParaRPr lang="en-US" sz="8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33172">
                <a:tc>
                  <a:txBody>
                    <a:bodyPr/>
                    <a:lstStyle/>
                    <a:p>
                      <a:pPr indent="0" marL="0">
                        <a:buNone/>
                      </a:pPr>
                      <a:r>
                        <a:rPr lang="en-US" sz="850" dirty="0">
                          <a:solidFill>
                            <a:srgbClr val="2B2622"/>
                          </a:solidFill>
                          <a:latin typeface="Calibri" pitchFamily="34" charset="0"/>
                          <a:ea typeface="Calibri" pitchFamily="34" charset="-122"/>
                          <a:cs typeface="Calibri" pitchFamily="34" charset="-120"/>
                        </a:rPr>
                        <a:t>default context: STRICT + PARTIAL_CHAIN</a:t>
                      </a:r>
                      <a:endParaRPr lang="en-US" sz="8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50" dirty="0">
                          <a:solidFill>
                            <a:srgbClr val="2B2622"/>
                          </a:solidFill>
                          <a:latin typeface="Calibri" pitchFamily="34" charset="0"/>
                          <a:ea typeface="Calibri" pitchFamily="34" charset="-122"/>
                          <a:cs typeface="Calibri" pitchFamily="34" charset="-120"/>
                        </a:rPr>
                        <a:t>no</a:t>
                      </a:r>
                      <a:endParaRPr lang="en-US" sz="8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50" dirty="0">
                          <a:solidFill>
                            <a:srgbClr val="2B2622"/>
                          </a:solidFill>
                          <a:latin typeface="Calibri" pitchFamily="34" charset="0"/>
                          <a:ea typeface="Calibri" pitchFamily="34" charset="-122"/>
                          <a:cs typeface="Calibri" pitchFamily="34" charset="-120"/>
                        </a:rPr>
                        <a:t>no</a:t>
                      </a:r>
                      <a:endParaRPr lang="en-US" sz="8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50" dirty="0">
                          <a:solidFill>
                            <a:srgbClr val="2B2622"/>
                          </a:solidFill>
                          <a:latin typeface="Calibri" pitchFamily="34" charset="0"/>
                          <a:ea typeface="Calibri" pitchFamily="34" charset="-122"/>
                          <a:cs typeface="Calibri" pitchFamily="34" charset="-120"/>
                        </a:rPr>
                        <a:t>yes</a:t>
                      </a:r>
                      <a:endParaRPr lang="en-US" sz="8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50" dirty="0">
                          <a:solidFill>
                            <a:srgbClr val="2B2622"/>
                          </a:solidFill>
                          <a:latin typeface="Calibri" pitchFamily="34" charset="0"/>
                          <a:ea typeface="Calibri" pitchFamily="34" charset="-122"/>
                          <a:cs typeface="Calibri" pitchFamily="34" charset="-120"/>
                        </a:rPr>
                        <a:t>yes</a:t>
                      </a:r>
                      <a:endParaRPr lang="en-US" sz="8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50" dirty="0">
                          <a:solidFill>
                            <a:srgbClr val="2B2622"/>
                          </a:solidFill>
                          <a:latin typeface="Calibri" pitchFamily="34" charset="0"/>
                          <a:ea typeface="Calibri" pitchFamily="34" charset="-122"/>
                          <a:cs typeface="Calibri" pitchFamily="34" charset="-120"/>
                        </a:rPr>
                        <a:t>yes</a:t>
                      </a:r>
                      <a:endParaRPr lang="en-US" sz="8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33172">
                <a:tc>
                  <a:txBody>
                    <a:bodyPr/>
                    <a:lstStyle/>
                    <a:p>
                      <a:pPr indent="0" marL="0">
                        <a:buNone/>
                      </a:pPr>
                      <a:r>
                        <a:rPr lang="en-US" sz="850" dirty="0">
                          <a:solidFill>
                            <a:srgbClr val="2B2622"/>
                          </a:solidFill>
                          <a:latin typeface="Calibri" pitchFamily="34" charset="0"/>
                          <a:ea typeface="Calibri" pitchFamily="34" charset="-122"/>
                          <a:cs typeface="Calibri" pitchFamily="34" charset="-120"/>
                        </a:rPr>
                        <a:t>default context: lowest TLS version</a:t>
                      </a:r>
                      <a:endParaRPr lang="en-US" sz="8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50" dirty="0">
                          <a:solidFill>
                            <a:srgbClr val="2B2622"/>
                          </a:solidFill>
                          <a:latin typeface="Calibri" pitchFamily="34" charset="0"/>
                          <a:ea typeface="Calibri" pitchFamily="34" charset="-122"/>
                          <a:cs typeface="Calibri" pitchFamily="34" charset="-120"/>
                        </a:rPr>
                        <a:t>TLS 1.2</a:t>
                      </a:r>
                      <a:endParaRPr lang="en-US" sz="8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50" dirty="0">
                          <a:solidFill>
                            <a:srgbClr val="2B2622"/>
                          </a:solidFill>
                          <a:latin typeface="Calibri" pitchFamily="34" charset="0"/>
                          <a:ea typeface="Calibri" pitchFamily="34" charset="-122"/>
                          <a:cs typeface="Calibri" pitchFamily="34" charset="-120"/>
                        </a:rPr>
                        <a:t>lowest</a:t>
                      </a:r>
                      <a:endParaRPr lang="en-US" sz="8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50" dirty="0">
                          <a:solidFill>
                            <a:srgbClr val="2B2622"/>
                          </a:solidFill>
                          <a:latin typeface="Calibri" pitchFamily="34" charset="0"/>
                          <a:ea typeface="Calibri" pitchFamily="34" charset="-122"/>
                          <a:cs typeface="Calibri" pitchFamily="34" charset="-120"/>
                        </a:rPr>
                        <a:t>TLS 1.2</a:t>
                      </a:r>
                      <a:endParaRPr lang="en-US" sz="8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50" dirty="0">
                          <a:solidFill>
                            <a:srgbClr val="2B2622"/>
                          </a:solidFill>
                          <a:latin typeface="Calibri" pitchFamily="34" charset="0"/>
                          <a:ea typeface="Calibri" pitchFamily="34" charset="-122"/>
                          <a:cs typeface="Calibri" pitchFamily="34" charset="-120"/>
                        </a:rPr>
                        <a:t>TLS 1.2</a:t>
                      </a:r>
                      <a:endParaRPr lang="en-US" sz="8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50" dirty="0">
                          <a:solidFill>
                            <a:srgbClr val="2B2622"/>
                          </a:solidFill>
                          <a:latin typeface="Calibri" pitchFamily="34" charset="0"/>
                          <a:ea typeface="Calibri" pitchFamily="34" charset="-122"/>
                          <a:cs typeface="Calibri" pitchFamily="34" charset="-120"/>
                        </a:rPr>
                        <a:t>TLS 1.2</a:t>
                      </a:r>
                      <a:endParaRPr lang="en-US" sz="8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33172">
                <a:tc>
                  <a:txBody>
                    <a:bodyPr/>
                    <a:lstStyle/>
                    <a:p>
                      <a:pPr indent="0" marL="0">
                        <a:buNone/>
                      </a:pPr>
                      <a:r>
                        <a:rPr lang="en-US" sz="850" dirty="0">
                          <a:solidFill>
                            <a:srgbClr val="2B2622"/>
                          </a:solidFill>
                          <a:latin typeface="Calibri" pitchFamily="34" charset="0"/>
                          <a:ea typeface="Calibri" pitchFamily="34" charset="-122"/>
                          <a:cs typeface="Calibri" pitchFamily="34" charset="-120"/>
                        </a:rPr>
                        <a:t>parseaddr(strict=...) accepted</a:t>
                      </a:r>
                      <a:endParaRPr lang="en-US" sz="8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50" dirty="0">
                          <a:solidFill>
                            <a:srgbClr val="2B2622"/>
                          </a:solidFill>
                          <a:latin typeface="Calibri" pitchFamily="34" charset="0"/>
                          <a:ea typeface="Calibri" pitchFamily="34" charset="-122"/>
                          <a:cs typeface="Calibri" pitchFamily="34" charset="-120"/>
                        </a:rPr>
                        <a:t>yes</a:t>
                      </a:r>
                      <a:endParaRPr lang="en-US" sz="8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50" dirty="0">
                          <a:solidFill>
                            <a:srgbClr val="2B2622"/>
                          </a:solidFill>
                          <a:latin typeface="Calibri" pitchFamily="34" charset="0"/>
                          <a:ea typeface="Calibri" pitchFamily="34" charset="-122"/>
                          <a:cs typeface="Calibri" pitchFamily="34" charset="-120"/>
                        </a:rPr>
                        <a:t>yes</a:t>
                      </a:r>
                      <a:endParaRPr lang="en-US" sz="8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50" dirty="0">
                          <a:solidFill>
                            <a:srgbClr val="2B2622"/>
                          </a:solidFill>
                          <a:latin typeface="Calibri" pitchFamily="34" charset="0"/>
                          <a:ea typeface="Calibri" pitchFamily="34" charset="-122"/>
                          <a:cs typeface="Calibri" pitchFamily="34" charset="-120"/>
                        </a:rPr>
                        <a:t>yes</a:t>
                      </a:r>
                      <a:endParaRPr lang="en-US" sz="8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50" dirty="0">
                          <a:solidFill>
                            <a:srgbClr val="2B2622"/>
                          </a:solidFill>
                          <a:latin typeface="Calibri" pitchFamily="34" charset="0"/>
                          <a:ea typeface="Calibri" pitchFamily="34" charset="-122"/>
                          <a:cs typeface="Calibri" pitchFamily="34" charset="-120"/>
                        </a:rPr>
                        <a:t>yes</a:t>
                      </a:r>
                      <a:endParaRPr lang="en-US" sz="8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50" dirty="0">
                          <a:solidFill>
                            <a:srgbClr val="2B2622"/>
                          </a:solidFill>
                          <a:latin typeface="Calibri" pitchFamily="34" charset="0"/>
                          <a:ea typeface="Calibri" pitchFamily="34" charset="-122"/>
                          <a:cs typeface="Calibri" pitchFamily="34" charset="-120"/>
                        </a:rPr>
                        <a:t>yes</a:t>
                      </a:r>
                      <a:endParaRPr lang="en-US" sz="8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33172">
                <a:tc>
                  <a:txBody>
                    <a:bodyPr/>
                    <a:lstStyle/>
                    <a:p>
                      <a:pPr indent="0" marL="0">
                        <a:buNone/>
                      </a:pPr>
                      <a:r>
                        <a:rPr lang="en-US" sz="850" dirty="0">
                          <a:solidFill>
                            <a:srgbClr val="2B2622"/>
                          </a:solidFill>
                          <a:latin typeface="Calibri" pitchFamily="34" charset="0"/>
                          <a:ea typeface="Calibri" pitchFamily="34" charset="-122"/>
                          <a:cs typeface="Calibri" pitchFamily="34" charset="-120"/>
                        </a:rPr>
                        <a:t>localtime(isdst=0)</a:t>
                      </a:r>
                      <a:endParaRPr lang="en-US" sz="8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50" dirty="0">
                          <a:solidFill>
                            <a:srgbClr val="2B2622"/>
                          </a:solidFill>
                          <a:latin typeface="Calibri" pitchFamily="34" charset="0"/>
                          <a:ea typeface="Calibri" pitchFamily="34" charset="-122"/>
                          <a:cs typeface="Calibri" pitchFamily="34" charset="-120"/>
                        </a:rPr>
                        <a:t>yes</a:t>
                      </a:r>
                      <a:endParaRPr lang="en-US" sz="8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50" dirty="0">
                          <a:solidFill>
                            <a:srgbClr val="2B2622"/>
                          </a:solidFill>
                          <a:latin typeface="Calibri" pitchFamily="34" charset="0"/>
                          <a:ea typeface="Calibri" pitchFamily="34" charset="-122"/>
                          <a:cs typeface="Calibri" pitchFamily="34" charset="-120"/>
                        </a:rPr>
                        <a:t>yes</a:t>
                      </a:r>
                      <a:endParaRPr lang="en-US" sz="8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50" dirty="0">
                          <a:solidFill>
                            <a:srgbClr val="2B2622"/>
                          </a:solidFill>
                          <a:latin typeface="Calibri" pitchFamily="34" charset="0"/>
                          <a:ea typeface="Calibri" pitchFamily="34" charset="-122"/>
                          <a:cs typeface="Calibri" pitchFamily="34" charset="-120"/>
                        </a:rPr>
                        <a:t>yes</a:t>
                      </a:r>
                      <a:endParaRPr lang="en-US" sz="8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50" dirty="0">
                          <a:solidFill>
                            <a:srgbClr val="2B2622"/>
                          </a:solidFill>
                          <a:latin typeface="Calibri" pitchFamily="34" charset="0"/>
                          <a:ea typeface="Calibri" pitchFamily="34" charset="-122"/>
                          <a:cs typeface="Calibri" pitchFamily="34" charset="-120"/>
                        </a:rPr>
                        <a:t>TypeError</a:t>
                      </a:r>
                      <a:endParaRPr lang="en-US" sz="8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50" dirty="0">
                          <a:solidFill>
                            <a:srgbClr val="2B2622"/>
                          </a:solidFill>
                          <a:latin typeface="Calibri" pitchFamily="34" charset="0"/>
                          <a:ea typeface="Calibri" pitchFamily="34" charset="-122"/>
                          <a:cs typeface="Calibri" pitchFamily="34" charset="-120"/>
                        </a:rPr>
                        <a:t>TypeError</a:t>
                      </a:r>
                      <a:endParaRPr lang="en-US" sz="8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33172">
                <a:tc>
                  <a:txBody>
                    <a:bodyPr/>
                    <a:lstStyle/>
                    <a:p>
                      <a:pPr indent="0" marL="0">
                        <a:buNone/>
                      </a:pPr>
                      <a:r>
                        <a:rPr lang="en-US" sz="850" dirty="0">
                          <a:solidFill>
                            <a:srgbClr val="2B2622"/>
                          </a:solidFill>
                          <a:latin typeface="Calibri" pitchFamily="34" charset="0"/>
                          <a:ea typeface="Calibri" pitchFamily="34" charset="-122"/>
                          <a:cs typeface="Calibri" pitchFamily="34" charset="-120"/>
                        </a:rPr>
                        <a:t>smtplib writes</a:t>
                      </a:r>
                      <a:endParaRPr lang="en-US" sz="8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50" dirty="0">
                          <a:solidFill>
                            <a:srgbClr val="2B2622"/>
                          </a:solidFill>
                          <a:latin typeface="Calibri" pitchFamily="34" charset="0"/>
                          <a:ea typeface="Calibri" pitchFamily="34" charset="-122"/>
                          <a:cs typeface="Calibri" pitchFamily="34" charset="-120"/>
                        </a:rPr>
                        <a:t>mail FROM</a:t>
                      </a:r>
                      <a:endParaRPr lang="en-US" sz="8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50" dirty="0">
                          <a:solidFill>
                            <a:srgbClr val="2B2622"/>
                          </a:solidFill>
                          <a:latin typeface="Calibri" pitchFamily="34" charset="0"/>
                          <a:ea typeface="Calibri" pitchFamily="34" charset="-122"/>
                          <a:cs typeface="Calibri" pitchFamily="34" charset="-120"/>
                        </a:rPr>
                        <a:t>mail FROM</a:t>
                      </a:r>
                      <a:endParaRPr lang="en-US" sz="8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50" dirty="0">
                          <a:solidFill>
                            <a:srgbClr val="2B2622"/>
                          </a:solidFill>
                          <a:latin typeface="Calibri" pitchFamily="34" charset="0"/>
                          <a:ea typeface="Calibri" pitchFamily="34" charset="-122"/>
                          <a:cs typeface="Calibri" pitchFamily="34" charset="-120"/>
                        </a:rPr>
                        <a:t>mail from</a:t>
                      </a:r>
                      <a:endParaRPr lang="en-US" sz="8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50" dirty="0">
                          <a:solidFill>
                            <a:srgbClr val="2B2622"/>
                          </a:solidFill>
                          <a:latin typeface="Calibri" pitchFamily="34" charset="0"/>
                          <a:ea typeface="Calibri" pitchFamily="34" charset="-122"/>
                          <a:cs typeface="Calibri" pitchFamily="34" charset="-120"/>
                        </a:rPr>
                        <a:t>mail from</a:t>
                      </a:r>
                      <a:endParaRPr lang="en-US" sz="8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50" dirty="0">
                          <a:solidFill>
                            <a:srgbClr val="2B2622"/>
                          </a:solidFill>
                          <a:latin typeface="Calibri" pitchFamily="34" charset="0"/>
                          <a:ea typeface="Calibri" pitchFamily="34" charset="-122"/>
                          <a:cs typeface="Calibri" pitchFamily="34" charset="-120"/>
                        </a:rPr>
                        <a:t>mail from</a:t>
                      </a:r>
                      <a:endParaRPr lang="en-US" sz="8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7" name="Text 4"/>
          <p:cNvSpPr txBox="1"/>
          <p:nvPr/>
        </p:nvSpPr>
        <p:spPr>
          <a:xfrm>
            <a:off x="457200" y="3721608"/>
            <a:ext cx="8229600" cy="448056"/>
          </a:xfrm>
          <a:prstGeom prst="rect">
            <a:avLst/>
          </a:prstGeom>
          <a:noFill/>
          <a:ln/>
        </p:spPr>
        <p:txBody>
          <a:bodyPr wrap="square" lIns="0" tIns="0" rIns="0" bIns="0" rtlCol="0" anchor="t"/>
          <a:lstStyle/>
          <a:p>
            <a:pPr indent="0" marL="0">
              <a:buNone/>
            </a:pPr>
            <a:r>
              <a:rPr lang="en-US" sz="900" i="1" dirty="0">
                <a:solidFill>
                  <a:srgbClr val="6E655C"/>
                </a:solidFill>
                <a:latin typeface="Calibri" pitchFamily="34" charset="0"/>
                <a:ea typeface="Calibri" pitchFamily="34" charset="-122"/>
                <a:cs typeface="Calibri" pitchFamily="34" charset="-120"/>
              </a:rPr>
              <a:t>Correction to the research text (finding F13): it puts a minimum of TLS 1.2 in create_default_context() from 3.13. Run here, 3.11.17 already shows TLS 1.2, and the documentation dates it to 3.10; what 3.13 added is the two verify flags. The 3.12.3 package shows the lowest version, a setting of that build.</a:t>
            </a:r>
            <a:endParaRPr lang="en-US" sz="900" dirty="0"/>
          </a:p>
        </p:txBody>
      </p:sp>
      <p:sp>
        <p:nvSpPr>
          <p:cNvPr id="8" name="Text 5"/>
          <p:cNvSpPr txBox="1"/>
          <p:nvPr/>
        </p:nvSpPr>
        <p:spPr>
          <a:xfrm>
            <a:off x="457200" y="4197096"/>
            <a:ext cx="8229600" cy="310896"/>
          </a:xfrm>
          <a:prstGeom prst="rect">
            <a:avLst/>
          </a:prstGeom>
          <a:noFill/>
          <a:ln/>
        </p:spPr>
        <p:txBody>
          <a:bodyPr wrap="square" lIns="0" tIns="0" rIns="0" bIns="0" rtlCol="0" anchor="t"/>
          <a:lstStyle/>
          <a:p>
            <a:pPr indent="0" marL="0">
              <a:buNone/>
            </a:pPr>
            <a:r>
              <a:rPr lang="en-US" sz="900" i="1" dirty="0">
                <a:solidFill>
                  <a:srgbClr val="6E655C"/>
                </a:solidFill>
                <a:latin typeface="Calibri" pitchFamily="34" charset="0"/>
                <a:ea typeface="Calibri" pitchFamily="34" charset="-122"/>
                <a:cs typeface="Calibri" pitchFamily="34" charset="-120"/>
              </a:rPr>
              <a:t>NOT EXECUTED: Python 3.14.7 and later and the final 3.15.0; 3.15.0b4 is a beta. 3.11, 3.12 and 3.13 are the Ubuntu packages of this machine, 3.14.6 and 3.15.0b4 come from uv.</a:t>
            </a:r>
            <a:endParaRPr lang="en-US" sz="900" dirty="0"/>
          </a:p>
        </p:txBody>
      </p:sp>
      <p:sp>
        <p:nvSpPr>
          <p:cNvPr id="9" name="Shape 6"/>
          <p:cNvSpPr/>
          <p:nvPr/>
        </p:nvSpPr>
        <p:spPr>
          <a:xfrm>
            <a:off x="457200" y="4636008"/>
            <a:ext cx="91440" cy="310896"/>
          </a:xfrm>
          <a:prstGeom prst="rect">
            <a:avLst/>
          </a:prstGeom>
          <a:solidFill>
            <a:srgbClr val="D97A14"/>
          </a:solidFill>
          <a:ln w="12700">
            <a:solidFill>
              <a:srgbClr val="D97A14"/>
            </a:solidFill>
            <a:prstDash val="solid"/>
          </a:ln>
        </p:spPr>
      </p:sp>
      <p:sp>
        <p:nvSpPr>
          <p:cNvPr id="10" name="Text 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Mail modules changed between 3.11 and 3.15; check the release.</a:t>
            </a:r>
            <a:endParaRPr lang="en-US" sz="1350" dirty="0"/>
          </a:p>
        </p:txBody>
      </p:sp>
      <p:sp>
        <p:nvSpPr>
          <p:cNvPr id="11" name="Text 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15 / 26</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SMS email gateways, and the end of one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17 June 2025</a:t>
            </a:r>
            <a:endParaRPr lang="en-US" sz="1300" dirty="0"/>
          </a:p>
        </p:txBody>
      </p:sp>
      <p:sp>
        <p:nvSpPr>
          <p:cNvPr id="6" name="Text 4"/>
          <p:cNvSpPr txBox="1"/>
          <p:nvPr/>
        </p:nvSpPr>
        <p:spPr>
          <a:xfrm>
            <a:off x="457200" y="1143000"/>
            <a:ext cx="4590288"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program gatewayCut_v1_0_0.py, lines 19 to 26 of 26</a:t>
            </a:r>
            <a:endParaRPr lang="en-US" sz="1000" dirty="0"/>
          </a:p>
        </p:txBody>
      </p:sp>
      <p:sp>
        <p:nvSpPr>
          <p:cNvPr id="7" name="Shape 5"/>
          <p:cNvSpPr/>
          <p:nvPr/>
        </p:nvSpPr>
        <p:spPr>
          <a:xfrm>
            <a:off x="457200" y="1417320"/>
            <a:ext cx="4590288" cy="2176272"/>
          </a:xfrm>
          <a:prstGeom prst="roundRect">
            <a:avLst>
              <a:gd name="adj" fmla="val 4202"/>
            </a:avLst>
          </a:prstGeom>
          <a:solidFill>
            <a:srgbClr val="23272E"/>
          </a:solidFill>
          <a:ln w="12700">
            <a:solidFill>
              <a:srgbClr val="23272E"/>
            </a:solidFill>
            <a:prstDash val="solid"/>
          </a:ln>
        </p:spPr>
      </p:sp>
      <p:sp>
        <p:nvSpPr>
          <p:cNvPr id="8" name="Text 6"/>
          <p:cNvSpPr txBox="1"/>
          <p:nvPr/>
        </p:nvSpPr>
        <p:spPr>
          <a:xfrm>
            <a:off x="640080" y="1536192"/>
            <a:ext cx="4224528" cy="1938528"/>
          </a:xfrm>
          <a:prstGeom prst="rect">
            <a:avLst/>
          </a:prstGeom>
          <a:noFill/>
          <a:ln/>
        </p:spPr>
        <p:txBody>
          <a:bodyPr wrap="square" lIns="0" tIns="0" rIns="0" bIns="0" rtlCol="0" anchor="t"/>
          <a:lstStyle/>
          <a:p>
            <a:pPr indent="0" marL="0">
              <a:buNone/>
            </a:pPr>
            <a:r>
              <a:rPr lang="en-US" sz="700" dirty="0">
                <a:solidFill>
                  <a:srgbClr val="E6EDF3"/>
                </a:solidFill>
                <a:latin typeface="Courier New" pitchFamily="34" charset="0"/>
                <a:ea typeface="Courier New" pitchFamily="34" charset="-122"/>
                <a:cs typeface="Courier New" pitchFamily="34" charset="-120"/>
              </a:rPr>
              <a:t>print(len(T), </a:t>
            </a:r>
            <a:r>
              <a:rPr lang="en-US" sz="700" dirty="0">
                <a:solidFill>
                  <a:srgbClr val="9ECBFF"/>
                </a:solidFill>
                <a:latin typeface="Courier New" pitchFamily="34" charset="0"/>
                <a:ea typeface="Courier New" pitchFamily="34" charset="-122"/>
                <a:cs typeface="Courier New" pitchFamily="34" charset="-120"/>
              </a:rPr>
              <a:t>'providers; SMS'</a:t>
            </a:r>
            <a:r>
              <a:rPr lang="en-US" sz="700" dirty="0">
                <a:solidFill>
                  <a:srgbClr val="E6EDF3"/>
                </a:solidFill>
                <a:latin typeface="Courier New" pitchFamily="34" charset="0"/>
                <a:ea typeface="Courier New" pitchFamily="34" charset="-122"/>
                <a:cs typeface="Courier New" pitchFamily="34" charset="-120"/>
              </a:rPr>
              <a:t>, addr(</a:t>
            </a:r>
            <a:r>
              <a:rPr lang="en-US" sz="700" dirty="0">
                <a:solidFill>
                  <a:srgbClr val="9ECBFF"/>
                </a:solidFill>
                <a:latin typeface="Courier New" pitchFamily="34" charset="0"/>
                <a:ea typeface="Courier New" pitchFamily="34" charset="-122"/>
                <a:cs typeface="Courier New" pitchFamily="34" charset="-120"/>
              </a:rPr>
              <a:t>'2125551234'</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'Verizon'</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'MMS'</a:t>
            </a:r>
            <a:r>
              <a:rPr lang="en-US" sz="700" dirty="0">
                <a:solidFill>
                  <a:srgbClr val="E6EDF3"/>
                </a:solidFill>
                <a:latin typeface="Courier New" pitchFamily="34" charset="0"/>
                <a:ea typeface="Courier New" pitchFamily="34" charset="-122"/>
                <a:cs typeface="Courier New" pitchFamily="34" charset="-120"/>
              </a:rPr>
              <a:t>, addr(</a:t>
            </a:r>
            <a:r>
              <a:rPr lang="en-US" sz="700" dirty="0">
                <a:solidFill>
                  <a:srgbClr val="9ECBFF"/>
                </a:solidFill>
                <a:latin typeface="Courier New" pitchFamily="34" charset="0"/>
                <a:ea typeface="Courier New" pitchFamily="34" charset="-122"/>
                <a:cs typeface="Courier New" pitchFamily="34" charset="-120"/>
              </a:rPr>
              <a:t>'2125551234'</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'Verizon'</a:t>
            </a: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True</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'Boost MMS:'</a:t>
            </a:r>
            <a:r>
              <a:rPr lang="en-US" sz="700" dirty="0">
                <a:solidFill>
                  <a:srgbClr val="E6EDF3"/>
                </a:solidFill>
                <a:latin typeface="Courier New" pitchFamily="34" charset="0"/>
                <a:ea typeface="Courier New" pitchFamily="34" charset="-122"/>
                <a:cs typeface="Courier New" pitchFamily="34" charset="-120"/>
              </a:rPr>
              <a:t>, addr(</a:t>
            </a:r>
            <a:r>
              <a:rPr lang="en-US" sz="700" dirty="0">
                <a:solidFill>
                  <a:srgbClr val="9ECBFF"/>
                </a:solidFill>
                <a:latin typeface="Courier New" pitchFamily="34" charset="0"/>
                <a:ea typeface="Courier New" pitchFamily="34" charset="-122"/>
                <a:cs typeface="Courier New" pitchFamily="34" charset="-120"/>
              </a:rPr>
              <a:t>'5555550100'</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'Boost Mobile'</a:t>
            </a: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True</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'vtext.com:'</a:t>
            </a:r>
            <a:r>
              <a:rPr lang="en-US" sz="700" dirty="0">
                <a:solidFill>
                  <a:srgbClr val="E6EDF3"/>
                </a:solidFill>
                <a:latin typeface="Courier New" pitchFamily="34" charset="0"/>
                <a:ea typeface="Courier New" pitchFamily="34" charset="-122"/>
                <a:cs typeface="Courier New" pitchFamily="34" charset="-120"/>
              </a:rPr>
              <a:t>, [c </a:t>
            </a: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c, v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T.items() </a:t>
            </a:r>
            <a:r>
              <a:rPr lang="en-US" sz="700" b="1" dirty="0">
                <a:solidFill>
                  <a:srgbClr val="F2A860"/>
                </a:solidFill>
                <a:latin typeface="Courier New" pitchFamily="34" charset="0"/>
                <a:ea typeface="Courier New" pitchFamily="34" charset="-122"/>
                <a:cs typeface="Courier New" pitchFamily="34" charset="-120"/>
              </a:rPr>
              <a:t>if</a:t>
            </a:r>
            <a:r>
              <a:rPr lang="en-US" sz="700" dirty="0">
                <a:solidFill>
                  <a:srgbClr val="E6EDF3"/>
                </a:solidFill>
                <a:latin typeface="Courier New" pitchFamily="34" charset="0"/>
                <a:ea typeface="Courier New" pitchFamily="34" charset="-122"/>
                <a:cs typeface="Courier New" pitchFamily="34" charset="-120"/>
              </a:rPr>
              <a:t> v[</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 == </a:t>
            </a:r>
            <a:r>
              <a:rPr lang="en-US" sz="700" dirty="0">
                <a:solidFill>
                  <a:srgbClr val="9ECBFF"/>
                </a:solidFill>
                <a:latin typeface="Courier New" pitchFamily="34" charset="0"/>
                <a:ea typeface="Courier New" pitchFamily="34" charset="-122"/>
                <a:cs typeface="Courier New" pitchFamily="34" charset="-120"/>
              </a:rPr>
              <a:t>'vtext.com'</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'distinct SMS domains:'</a:t>
            </a:r>
            <a:r>
              <a:rPr lang="en-US" sz="700" dirty="0">
                <a:solidFill>
                  <a:srgbClr val="E6EDF3"/>
                </a:solidFill>
                <a:latin typeface="Courier New" pitchFamily="34" charset="0"/>
                <a:ea typeface="Courier New" pitchFamily="34" charset="-122"/>
                <a:cs typeface="Courier New" pitchFamily="34" charset="-120"/>
              </a:rPr>
              <a:t>, len(set(v[</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v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T.values())))</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today = D(</a:t>
            </a:r>
            <a:r>
              <a:rPr lang="en-US" sz="700" dirty="0">
                <a:solidFill>
                  <a:srgbClr val="FFD28A"/>
                </a:solidFill>
                <a:latin typeface="Courier New" pitchFamily="34" charset="0"/>
                <a:ea typeface="Courier New" pitchFamily="34" charset="-122"/>
                <a:cs typeface="Courier New" pitchFamily="34" charset="-120"/>
              </a:rPr>
              <a:t>2026</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10</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13</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'AT&amp;T off'</a:t>
            </a:r>
            <a:r>
              <a:rPr lang="en-US" sz="700" dirty="0">
                <a:solidFill>
                  <a:srgbClr val="E6EDF3"/>
                </a:solidFill>
                <a:latin typeface="Courier New" pitchFamily="34" charset="0"/>
                <a:ea typeface="Courier New" pitchFamily="34" charset="-122"/>
                <a:cs typeface="Courier New" pitchFamily="34" charset="-120"/>
              </a:rPr>
              <a:t>, (today - D(</a:t>
            </a:r>
            <a:r>
              <a:rPr lang="en-US" sz="700" dirty="0">
                <a:solidFill>
                  <a:srgbClr val="FFD28A"/>
                </a:solidFill>
                <a:latin typeface="Courier New" pitchFamily="34" charset="0"/>
                <a:ea typeface="Courier New" pitchFamily="34" charset="-122"/>
                <a:cs typeface="Courier New" pitchFamily="34" charset="-120"/>
              </a:rPr>
              <a:t>2025</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6</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17</a:t>
            </a:r>
            <a:r>
              <a:rPr lang="en-US" sz="700" dirty="0">
                <a:solidFill>
                  <a:srgbClr val="E6EDF3"/>
                </a:solidFill>
                <a:latin typeface="Courier New" pitchFamily="34" charset="0"/>
                <a:ea typeface="Courier New" pitchFamily="34" charset="-122"/>
                <a:cs typeface="Courier New" pitchFamily="34" charset="-120"/>
              </a:rPr>
              <a:t>)).days, </a:t>
            </a:r>
            <a:r>
              <a:rPr lang="en-US" sz="700" dirty="0">
                <a:solidFill>
                  <a:srgbClr val="9ECBFF"/>
                </a:solidFill>
                <a:latin typeface="Courier New" pitchFamily="34" charset="0"/>
                <a:ea typeface="Courier New" pitchFamily="34" charset="-122"/>
                <a:cs typeface="Courier New" pitchFamily="34" charset="-120"/>
              </a:rPr>
              <a:t>'days before'</a:t>
            </a:r>
            <a:r>
              <a:rPr lang="en-US" sz="700" dirty="0">
                <a:solidFill>
                  <a:srgbClr val="E6EDF3"/>
                </a:solidFill>
                <a:latin typeface="Courier New" pitchFamily="34" charset="0"/>
                <a:ea typeface="Courier New" pitchFamily="34" charset="-122"/>
                <a:cs typeface="Courier New" pitchFamily="34" charset="-120"/>
              </a:rPr>
              <a:t>, today)</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'Verizon ends in'</a:t>
            </a:r>
            <a:r>
              <a:rPr lang="en-US" sz="700" dirty="0">
                <a:solidFill>
                  <a:srgbClr val="E6EDF3"/>
                </a:solidFill>
                <a:latin typeface="Courier New" pitchFamily="34" charset="0"/>
                <a:ea typeface="Courier New" pitchFamily="34" charset="-122"/>
                <a:cs typeface="Courier New" pitchFamily="34" charset="-120"/>
              </a:rPr>
              <a:t>, (D(</a:t>
            </a:r>
            <a:r>
              <a:rPr lang="en-US" sz="700" dirty="0">
                <a:solidFill>
                  <a:srgbClr val="FFD28A"/>
                </a:solidFill>
                <a:latin typeface="Courier New" pitchFamily="34" charset="0"/>
                <a:ea typeface="Courier New" pitchFamily="34" charset="-122"/>
                <a:cs typeface="Courier New" pitchFamily="34" charset="-120"/>
              </a:rPr>
              <a:t>2027</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3</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31</a:t>
            </a:r>
            <a:r>
              <a:rPr lang="en-US" sz="700" dirty="0">
                <a:solidFill>
                  <a:srgbClr val="E6EDF3"/>
                </a:solidFill>
                <a:latin typeface="Courier New" pitchFamily="34" charset="0"/>
                <a:ea typeface="Courier New" pitchFamily="34" charset="-122"/>
                <a:cs typeface="Courier New" pitchFamily="34" charset="-120"/>
              </a:rPr>
              <a:t>) - today).days, </a:t>
            </a:r>
            <a:r>
              <a:rPr lang="en-US" sz="700" dirty="0">
                <a:solidFill>
                  <a:srgbClr val="9ECBFF"/>
                </a:solidFill>
                <a:latin typeface="Courier New" pitchFamily="34" charset="0"/>
                <a:ea typeface="Courier New" pitchFamily="34" charset="-122"/>
                <a:cs typeface="Courier New" pitchFamily="34" charset="-120"/>
              </a:rPr>
              <a:t>'days from'</a:t>
            </a:r>
            <a:r>
              <a:rPr lang="en-US" sz="700" dirty="0">
                <a:solidFill>
                  <a:srgbClr val="E6EDF3"/>
                </a:solidFill>
                <a:latin typeface="Courier New" pitchFamily="34" charset="0"/>
                <a:ea typeface="Courier New" pitchFamily="34" charset="-122"/>
                <a:cs typeface="Courier New" pitchFamily="34" charset="-120"/>
              </a:rPr>
              <a:t>, today)</a:t>
            </a:r>
            <a:endParaRPr lang="en-US" sz="700" dirty="0"/>
          </a:p>
          <a:p>
            <a:pPr indent="0" marL="0">
              <a:buNone/>
            </a:pPr>
            <a:r>
              <a:rPr lang="en-US" sz="700" b="1" dirty="0">
                <a:solidFill>
                  <a:srgbClr val="D97A14"/>
                </a:solidFill>
                <a:latin typeface="Courier New" pitchFamily="34" charset="0"/>
                <a:ea typeface="Courier New" pitchFamily="34" charset="-122"/>
                <a:cs typeface="Courier New" pitchFamily="34" charset="-120"/>
              </a:rPr>
              <a:t>prints </a:t>
            </a:r>
            <a:r>
              <a:rPr lang="en-US" sz="700" dirty="0">
                <a:solidFill>
                  <a:srgbClr val="7EE787"/>
                </a:solidFill>
                <a:latin typeface="Courier New" pitchFamily="34" charset="0"/>
                <a:ea typeface="Courier New" pitchFamily="34" charset="-122"/>
                <a:cs typeface="Courier New" pitchFamily="34" charset="-120"/>
              </a:rPr>
              <a:t>12 providers; SMS 2125551234@vtext.com</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MMS 2125551234@vzwpix.com</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Boost MMS: 5555550100@sms.myboostmobile.com</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vtext.com: ['Verizon', 'Xfinity Mobile']</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distinct SMS domains: 11</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AT&amp;T off 483 days before 2026-10-13</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Verizon ends in 169 days from 2026-10-13</a:t>
            </a:r>
            <a:endParaRPr lang="en-US" sz="700" dirty="0"/>
          </a:p>
        </p:txBody>
      </p:sp>
      <p:sp>
        <p:nvSpPr>
          <p:cNvPr id="9" name="Shape 7"/>
          <p:cNvSpPr/>
          <p:nvPr/>
        </p:nvSpPr>
        <p:spPr>
          <a:xfrm>
            <a:off x="5276088" y="1280160"/>
            <a:ext cx="3410712" cy="1554480"/>
          </a:xfrm>
          <a:prstGeom prst="roundRect">
            <a:avLst>
              <a:gd name="adj" fmla="val 5882"/>
            </a:avLst>
          </a:prstGeom>
          <a:solidFill>
            <a:srgbClr val="F2ECE1"/>
          </a:solidFill>
          <a:ln w="12700">
            <a:solidFill>
              <a:srgbClr val="F2ECE1"/>
            </a:solidFill>
            <a:prstDash val="solid"/>
          </a:ln>
        </p:spPr>
      </p:sp>
      <p:sp>
        <p:nvSpPr>
          <p:cNvPr id="10" name="Text 8"/>
          <p:cNvSpPr txBox="1"/>
          <p:nvPr/>
        </p:nvSpPr>
        <p:spPr>
          <a:xfrm>
            <a:off x="5458968" y="1399032"/>
            <a:ext cx="3044952" cy="347472"/>
          </a:xfrm>
          <a:prstGeom prst="rect">
            <a:avLst/>
          </a:prstGeom>
          <a:noFill/>
          <a:ln/>
        </p:spPr>
        <p:txBody>
          <a:bodyPr wrap="square" lIns="0" tIns="0" rIns="0" bIns="0" rtlCol="0" anchor="ctr"/>
          <a:lstStyle/>
          <a:p>
            <a:pPr indent="0" marL="0">
              <a:buNone/>
            </a:pPr>
            <a:r>
              <a:rPr lang="en-US" sz="1600" b="1" dirty="0">
                <a:solidFill>
                  <a:srgbClr val="2F6D62"/>
                </a:solidFill>
                <a:latin typeface="Cambria" pitchFamily="34" charset="0"/>
                <a:ea typeface="Cambria" pitchFamily="34" charset="-122"/>
                <a:cs typeface="Cambria" pitchFamily="34" charset="-120"/>
              </a:rPr>
              <a:t>Recorded 13 Oct 2026</a:t>
            </a:r>
            <a:endParaRPr lang="en-US" sz="1600" dirty="0"/>
          </a:p>
        </p:txBody>
      </p:sp>
      <p:sp>
        <p:nvSpPr>
          <p:cNvPr id="11" name="Text 9"/>
          <p:cNvSpPr txBox="1"/>
          <p:nvPr/>
        </p:nvSpPr>
        <p:spPr>
          <a:xfrm>
            <a:off x="5458968" y="1783080"/>
            <a:ext cx="3044952" cy="914400"/>
          </a:xfrm>
          <a:prstGeom prst="rect">
            <a:avLst/>
          </a:prstGeom>
          <a:noFill/>
          <a:ln/>
        </p:spPr>
        <p:txBody>
          <a:bodyPr wrap="square" lIns="0" tIns="0" rIns="0" bIns="0" rtlCol="0" anchor="t"/>
          <a:lstStyle/>
          <a:p>
            <a:pPr indent="0" marL="0">
              <a:buNone/>
            </a:pPr>
            <a:r>
              <a:rPr lang="en-US" sz="900" dirty="0">
                <a:solidFill>
                  <a:srgbClr val="2B2622"/>
                </a:solidFill>
                <a:latin typeface="Calibri" pitchFamily="34" charset="0"/>
                <a:ea typeface="Calibri" pitchFamily="34" charset="-122"/>
                <a:cs typeface="Calibri" pitchFamily="34" charset="-120"/>
              </a:rPr>
              <a:t>A DNS query for the mail exchangers of the 18 gateway domains found none for txt.att.net and mms.att.net and NXDOMAIN for both of Sprint's; 13 of 18 had one. A missing record is a symptom, not proof.</a:t>
            </a:r>
            <a:endParaRPr lang="en-US" sz="900" dirty="0"/>
          </a:p>
        </p:txBody>
      </p:sp>
      <p:sp>
        <p:nvSpPr>
          <p:cNvPr id="12" name="Shape 10"/>
          <p:cNvSpPr/>
          <p:nvPr/>
        </p:nvSpPr>
        <p:spPr>
          <a:xfrm>
            <a:off x="5276088" y="2880360"/>
            <a:ext cx="3410712" cy="1188720"/>
          </a:xfrm>
          <a:prstGeom prst="roundRect">
            <a:avLst>
              <a:gd name="adj" fmla="val 7692"/>
            </a:avLst>
          </a:prstGeom>
          <a:solidFill>
            <a:srgbClr val="F2ECE1"/>
          </a:solidFill>
          <a:ln w="12700">
            <a:solidFill>
              <a:srgbClr val="F2ECE1"/>
            </a:solidFill>
            <a:prstDash val="solid"/>
          </a:ln>
        </p:spPr>
      </p:sp>
      <p:sp>
        <p:nvSpPr>
          <p:cNvPr id="13" name="Text 11"/>
          <p:cNvSpPr txBox="1"/>
          <p:nvPr/>
        </p:nvSpPr>
        <p:spPr>
          <a:xfrm>
            <a:off x="5458968" y="2999232"/>
            <a:ext cx="3044952" cy="347472"/>
          </a:xfrm>
          <a:prstGeom prst="rect">
            <a:avLst/>
          </a:prstGeom>
          <a:noFill/>
          <a:ln/>
        </p:spPr>
        <p:txBody>
          <a:bodyPr wrap="square" lIns="0" tIns="0" rIns="0" bIns="0" rtlCol="0" anchor="ctr"/>
          <a:lstStyle/>
          <a:p>
            <a:pPr indent="0" marL="0">
              <a:buNone/>
            </a:pPr>
            <a:r>
              <a:rPr lang="en-US" sz="1600" b="1" dirty="0">
                <a:solidFill>
                  <a:srgbClr val="D97A14"/>
                </a:solidFill>
                <a:latin typeface="Cambria" pitchFamily="34" charset="0"/>
                <a:ea typeface="Cambria" pitchFamily="34" charset="-122"/>
                <a:cs typeface="Cambria" pitchFamily="34" charset="-120"/>
              </a:rPr>
              <a:t>NOT EXECUTED here</a:t>
            </a:r>
            <a:endParaRPr lang="en-US" sz="1600" dirty="0"/>
          </a:p>
        </p:txBody>
      </p:sp>
      <p:sp>
        <p:nvSpPr>
          <p:cNvPr id="14" name="Text 12"/>
          <p:cNvSpPr txBox="1"/>
          <p:nvPr/>
        </p:nvSpPr>
        <p:spPr>
          <a:xfrm>
            <a:off x="5458968" y="3383280"/>
            <a:ext cx="3044952" cy="548640"/>
          </a:xfrm>
          <a:prstGeom prst="rect">
            <a:avLst/>
          </a:prstGeom>
          <a:noFill/>
          <a:ln/>
        </p:spPr>
        <p:txBody>
          <a:bodyPr wrap="square" lIns="0" tIns="0" rIns="0" bIns="0" rtlCol="0" anchor="t"/>
          <a:lstStyle/>
          <a:p>
            <a:pPr indent="0" marL="0">
              <a:buNone/>
            </a:pPr>
            <a:r>
              <a:rPr lang="en-US" sz="900" dirty="0">
                <a:solidFill>
                  <a:srgbClr val="2B2622"/>
                </a:solidFill>
                <a:latin typeface="Calibri" pitchFamily="34" charset="0"/>
                <a:ea typeface="Calibri" pitchFamily="34" charset="-122"/>
                <a:cs typeface="Calibri" pitchFamily="34" charset="-120"/>
              </a:rPr>
              <a:t>No text was sent or delivered through a gateway or Twilio. Twilio's API answered a request without credentials with HTTP 401, and nothing more.</a:t>
            </a:r>
            <a:endParaRPr lang="en-US" sz="900" dirty="0"/>
          </a:p>
        </p:txBody>
      </p:sp>
      <p:sp>
        <p:nvSpPr>
          <p:cNvPr id="15" name="Text 13"/>
          <p:cNvSpPr txBox="1"/>
          <p:nvPr/>
        </p:nvSpPr>
        <p:spPr>
          <a:xfrm>
            <a:off x="457200" y="3648456"/>
            <a:ext cx="4590288" cy="301752"/>
          </a:xfrm>
          <a:prstGeom prst="rect">
            <a:avLst/>
          </a:prstGeom>
          <a:noFill/>
          <a:ln/>
        </p:spPr>
        <p:txBody>
          <a:bodyPr wrap="square" lIns="0" tIns="0" rIns="0" bIns="0" rtlCol="0" anchor="t"/>
          <a:lstStyle/>
          <a:p>
            <a:pPr indent="0" marL="0">
              <a:buNone/>
            </a:pPr>
            <a:r>
              <a:rPr lang="en-US" sz="850" i="1" dirty="0">
                <a:solidFill>
                  <a:srgbClr val="6E655C"/>
                </a:solidFill>
                <a:latin typeface="Calibri" pitchFamily="34" charset="0"/>
                <a:ea typeface="Calibri" pitchFamily="34" charset="-122"/>
                <a:cs typeface="Calibri" pitchFamily="34" charset="-120"/>
              </a:rPr>
              <a:t>Lines 1 to 18 (imports and the 12 rows of Table 20-1, typed from the chapter) are not shown. Pure arithmetic; no message is sent.</a:t>
            </a:r>
            <a:endParaRPr lang="en-US" sz="850" dirty="0"/>
          </a:p>
        </p:txBody>
      </p:sp>
      <p:sp>
        <p:nvSpPr>
          <p:cNvPr id="16" name="Shape 14"/>
          <p:cNvSpPr/>
          <p:nvPr/>
        </p:nvSpPr>
        <p:spPr>
          <a:xfrm>
            <a:off x="457200" y="4160520"/>
            <a:ext cx="2449129" cy="365760"/>
          </a:xfrm>
          <a:prstGeom prst="roundRect">
            <a:avLst>
              <a:gd name="adj" fmla="val 50000"/>
            </a:avLst>
          </a:prstGeom>
          <a:solidFill>
            <a:srgbClr val="EFE9DC"/>
          </a:solidFill>
          <a:ln w="9525">
            <a:solidFill>
              <a:srgbClr val="DFD6C7"/>
            </a:solidFill>
            <a:prstDash val="solid"/>
          </a:ln>
        </p:spPr>
      </p:sp>
      <p:sp>
        <p:nvSpPr>
          <p:cNvPr id="17" name="Text 15"/>
          <p:cNvSpPr txBox="1"/>
          <p:nvPr/>
        </p:nvSpPr>
        <p:spPr>
          <a:xfrm>
            <a:off x="548640" y="4160520"/>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800" dirty="0">
                <a:solidFill>
                  <a:srgbClr val="2B2622"/>
                </a:solidFill>
                <a:latin typeface="Calibri" pitchFamily="34" charset="0"/>
                <a:ea typeface="Calibri" pitchFamily="34" charset="-122"/>
                <a:cs typeface="Calibri" pitchFamily="34" charset="-120"/>
              </a:rPr>
              <a:t>AT&amp;T Wireless, which told its customer…</a:t>
            </a:r>
            <a:endParaRPr lang="en-US" sz="750" dirty="0"/>
          </a:p>
        </p:txBody>
      </p:sp>
      <p:sp>
        <p:nvSpPr>
          <p:cNvPr id="18" name="Shape 16"/>
          <p:cNvSpPr/>
          <p:nvPr/>
        </p:nvSpPr>
        <p:spPr>
          <a:xfrm>
            <a:off x="3016057" y="4160520"/>
            <a:ext cx="2449129" cy="365760"/>
          </a:xfrm>
          <a:prstGeom prst="roundRect">
            <a:avLst>
              <a:gd name="adj" fmla="val 50000"/>
            </a:avLst>
          </a:prstGeom>
          <a:solidFill>
            <a:srgbClr val="EFE9DC"/>
          </a:solidFill>
          <a:ln w="9525">
            <a:solidFill>
              <a:srgbClr val="DFD6C7"/>
            </a:solidFill>
            <a:prstDash val="solid"/>
          </a:ln>
        </p:spPr>
      </p:sp>
      <p:sp>
        <p:nvSpPr>
          <p:cNvPr id="19" name="Text 17"/>
          <p:cNvSpPr txBox="1"/>
          <p:nvPr/>
        </p:nvSpPr>
        <p:spPr>
          <a:xfrm>
            <a:off x="3107497" y="4160520"/>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800" dirty="0">
                <a:solidFill>
                  <a:srgbClr val="2B2622"/>
                </a:solidFill>
                <a:latin typeface="Calibri" pitchFamily="34" charset="0"/>
                <a:ea typeface="Calibri" pitchFamily="34" charset="-122"/>
                <a:cs typeface="Calibri" pitchFamily="34" charset="-120"/>
              </a:rPr>
              <a:t>AT&amp;T's support page, article KM1061254…</a:t>
            </a:r>
            <a:endParaRPr lang="en-US" sz="750" dirty="0"/>
          </a:p>
        </p:txBody>
      </p:sp>
      <p:sp>
        <p:nvSpPr>
          <p:cNvPr id="20" name="Shape 18"/>
          <p:cNvSpPr/>
          <p:nvPr/>
        </p:nvSpPr>
        <p:spPr>
          <a:xfrm>
            <a:off x="5574914" y="4160520"/>
            <a:ext cx="1343071" cy="365760"/>
          </a:xfrm>
          <a:prstGeom prst="roundRect">
            <a:avLst>
              <a:gd name="adj" fmla="val 50000"/>
            </a:avLst>
          </a:prstGeom>
          <a:solidFill>
            <a:srgbClr val="EFE9DC"/>
          </a:solidFill>
          <a:ln w="9525">
            <a:solidFill>
              <a:srgbClr val="DFD6C7"/>
            </a:solidFill>
            <a:prstDash val="solid"/>
          </a:ln>
        </p:spPr>
      </p:sp>
      <p:sp>
        <p:nvSpPr>
          <p:cNvPr id="21" name="Text 19"/>
          <p:cNvSpPr txBox="1"/>
          <p:nvPr/>
        </p:nvSpPr>
        <p:spPr>
          <a:xfrm>
            <a:off x="5666354" y="4160520"/>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17 June 2025</a:t>
            </a:r>
            <a:endParaRPr lang="en-US" sz="750" dirty="0"/>
          </a:p>
        </p:txBody>
      </p:sp>
      <p:sp>
        <p:nvSpPr>
          <p:cNvPr id="22" name="Shape 20"/>
          <p:cNvSpPr/>
          <p:nvPr/>
        </p:nvSpPr>
        <p:spPr>
          <a:xfrm>
            <a:off x="7027713" y="4160520"/>
            <a:ext cx="1659087" cy="365760"/>
          </a:xfrm>
          <a:prstGeom prst="roundRect">
            <a:avLst>
              <a:gd name="adj" fmla="val 50000"/>
            </a:avLst>
          </a:prstGeom>
          <a:solidFill>
            <a:srgbClr val="2F6D62"/>
          </a:solidFill>
          <a:ln w="9525">
            <a:solidFill>
              <a:srgbClr val="2F6D62"/>
            </a:solidFill>
            <a:prstDash val="solid"/>
          </a:ln>
        </p:spPr>
      </p:sp>
      <p:sp>
        <p:nvSpPr>
          <p:cNvPr id="23" name="Text 21"/>
          <p:cNvSpPr txBox="1"/>
          <p:nvPr/>
        </p:nvSpPr>
        <p:spPr>
          <a:xfrm>
            <a:off x="7119153" y="4160520"/>
            <a:ext cx="1512783"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att.com</a:t>
            </a:r>
            <a:endParaRPr lang="en-US" sz="750" dirty="0"/>
          </a:p>
        </p:txBody>
      </p:sp>
      <p:sp>
        <p:nvSpPr>
          <p:cNvPr id="24"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5"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gateway the carrier owns can be switched off without asking you.</a:t>
            </a:r>
            <a:endParaRPr lang="en-US" sz="1350" dirty="0"/>
          </a:p>
        </p:txBody>
      </p:sp>
      <p:sp>
        <p:nvSpPr>
          <p:cNvPr id="26"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16 / 26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How long a text can be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160 characters in GSM-7, 70 in UCS-2; one stray character changes the count</a:t>
            </a:r>
            <a:endParaRPr lang="en-US" sz="1300" dirty="0"/>
          </a:p>
        </p:txBody>
      </p:sp>
      <p:sp>
        <p:nvSpPr>
          <p:cNvPr id="6" name="Text 4"/>
          <p:cNvSpPr txBox="1"/>
          <p:nvPr/>
        </p:nvSpPr>
        <p:spPr>
          <a:xfrm>
            <a:off x="457200" y="1143000"/>
            <a:ext cx="4818888"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program segmentsCut_v1_0_0.py, lines 24 to 27 of 27</a:t>
            </a:r>
            <a:endParaRPr lang="en-US" sz="1000" dirty="0"/>
          </a:p>
        </p:txBody>
      </p:sp>
      <p:sp>
        <p:nvSpPr>
          <p:cNvPr id="7" name="Shape 5"/>
          <p:cNvSpPr/>
          <p:nvPr/>
        </p:nvSpPr>
        <p:spPr>
          <a:xfrm>
            <a:off x="457200" y="1417320"/>
            <a:ext cx="4818888" cy="1920240"/>
          </a:xfrm>
          <a:prstGeom prst="roundRect">
            <a:avLst>
              <a:gd name="adj" fmla="val 4762"/>
            </a:avLst>
          </a:prstGeom>
          <a:solidFill>
            <a:srgbClr val="23272E"/>
          </a:solidFill>
          <a:ln w="12700">
            <a:solidFill>
              <a:srgbClr val="23272E"/>
            </a:solidFill>
            <a:prstDash val="solid"/>
          </a:ln>
        </p:spPr>
      </p:sp>
      <p:sp>
        <p:nvSpPr>
          <p:cNvPr id="8" name="Text 6"/>
          <p:cNvSpPr txBox="1"/>
          <p:nvPr/>
        </p:nvSpPr>
        <p:spPr>
          <a:xfrm>
            <a:off x="640080" y="1536192"/>
            <a:ext cx="4453128" cy="1682496"/>
          </a:xfrm>
          <a:prstGeom prst="rect">
            <a:avLst/>
          </a:prstGeom>
          <a:noFill/>
          <a:ln/>
        </p:spPr>
        <p:txBody>
          <a:bodyPr wrap="square" lIns="0" tIns="0" rIns="0" bIns="0" rtlCol="0" anchor="t"/>
          <a:lstStyle/>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'140 * 8 // 7 ='</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140</a:t>
            </a:r>
            <a:r>
              <a:rPr lang="en-US" sz="700" dirty="0">
                <a:solidFill>
                  <a:srgbClr val="E6EDF3"/>
                </a:solidFill>
                <a:latin typeface="Courier New" pitchFamily="34" charset="0"/>
                <a:ea typeface="Courier New" pitchFamily="34" charset="-122"/>
                <a:cs typeface="Courier New" pitchFamily="34" charset="-120"/>
              </a:rPr>
              <a:t> * </a:t>
            </a:r>
            <a:r>
              <a:rPr lang="en-US" sz="700" dirty="0">
                <a:solidFill>
                  <a:srgbClr val="FFD28A"/>
                </a:solidFill>
                <a:latin typeface="Courier New" pitchFamily="34" charset="0"/>
                <a:ea typeface="Courier New" pitchFamily="34" charset="-122"/>
                <a:cs typeface="Courier New" pitchFamily="34" charset="-120"/>
              </a:rPr>
              <a:t>8</a:t>
            </a:r>
            <a:r>
              <a:rPr lang="en-US" sz="700" dirty="0">
                <a:solidFill>
                  <a:srgbClr val="E6EDF3"/>
                </a:solidFill>
                <a:latin typeface="Courier New" pitchFamily="34" charset="0"/>
                <a:ea typeface="Courier New" pitchFamily="34" charset="-122"/>
                <a:cs typeface="Courier New" pitchFamily="34" charset="-120"/>
              </a:rPr>
              <a:t> // </a:t>
            </a:r>
            <a:r>
              <a:rPr lang="en-US" sz="700" dirty="0">
                <a:solidFill>
                  <a:srgbClr val="FFD28A"/>
                </a:solidFill>
                <a:latin typeface="Courier New" pitchFamily="34" charset="0"/>
                <a:ea typeface="Courier New" pitchFamily="34" charset="-122"/>
                <a:cs typeface="Courier New" pitchFamily="34" charset="-120"/>
              </a:rPr>
              <a:t>7</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 140 // 2 ='</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140</a:t>
            </a:r>
            <a:r>
              <a:rPr lang="en-US" sz="700" dirty="0">
                <a:solidFill>
                  <a:srgbClr val="E6EDF3"/>
                </a:solidFill>
                <a:latin typeface="Courier New" pitchFamily="34" charset="0"/>
                <a:ea typeface="Courier New" pitchFamily="34" charset="-122"/>
                <a:cs typeface="Courier New" pitchFamily="34" charset="-120"/>
              </a:rPr>
              <a:t> // </a:t>
            </a:r>
            <a:r>
              <a:rPr lang="en-US" sz="700" dirty="0">
                <a:solidFill>
                  <a:srgbClr val="FFD28A"/>
                </a:solidFill>
                <a:latin typeface="Courier New" pitchFamily="34" charset="0"/>
                <a:ea typeface="Courier New" pitchFamily="34" charset="-122"/>
                <a:cs typeface="Courier New" pitchFamily="34" charset="-120"/>
              </a:rPr>
              <a:t>2</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t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'Hello, world!'</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'a'</a:t>
            </a:r>
            <a:r>
              <a:rPr lang="en-US" sz="700" dirty="0">
                <a:solidFill>
                  <a:srgbClr val="E6EDF3"/>
                </a:solidFill>
                <a:latin typeface="Courier New" pitchFamily="34" charset="0"/>
                <a:ea typeface="Courier New" pitchFamily="34" charset="-122"/>
                <a:cs typeface="Courier New" pitchFamily="34" charset="-120"/>
              </a:rPr>
              <a:t> * </a:t>
            </a:r>
            <a:r>
              <a:rPr lang="en-US" sz="700" dirty="0">
                <a:solidFill>
                  <a:srgbClr val="FFD28A"/>
                </a:solidFill>
                <a:latin typeface="Courier New" pitchFamily="34" charset="0"/>
                <a:ea typeface="Courier New" pitchFamily="34" charset="-122"/>
                <a:cs typeface="Courier New" pitchFamily="34" charset="-120"/>
              </a:rPr>
              <a:t>160</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'a'</a:t>
            </a:r>
            <a:r>
              <a:rPr lang="en-US" sz="700" dirty="0">
                <a:solidFill>
                  <a:srgbClr val="E6EDF3"/>
                </a:solidFill>
                <a:latin typeface="Courier New" pitchFamily="34" charset="0"/>
                <a:ea typeface="Courier New" pitchFamily="34" charset="-122"/>
                <a:cs typeface="Courier New" pitchFamily="34" charset="-120"/>
              </a:rPr>
              <a:t> * </a:t>
            </a:r>
            <a:r>
              <a:rPr lang="en-US" sz="700" dirty="0">
                <a:solidFill>
                  <a:srgbClr val="FFD28A"/>
                </a:solidFill>
                <a:latin typeface="Courier New" pitchFamily="34" charset="0"/>
                <a:ea typeface="Courier New" pitchFamily="34" charset="-122"/>
                <a:cs typeface="Courier New" pitchFamily="34" charset="-120"/>
              </a:rPr>
              <a:t>161</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'{x}'</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'Yedekleme tamamlandi'</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'Yedekleme tamamlandı'</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'ş'</a:t>
            </a:r>
            <a:r>
              <a:rPr lang="en-US" sz="700" dirty="0">
                <a:solidFill>
                  <a:srgbClr val="E6EDF3"/>
                </a:solidFill>
                <a:latin typeface="Courier New" pitchFamily="34" charset="0"/>
                <a:ea typeface="Courier New" pitchFamily="34" charset="-122"/>
                <a:cs typeface="Courier New" pitchFamily="34" charset="-120"/>
              </a:rPr>
              <a:t> * </a:t>
            </a:r>
            <a:r>
              <a:rPr lang="en-US" sz="700" dirty="0">
                <a:solidFill>
                  <a:srgbClr val="FFD28A"/>
                </a:solidFill>
                <a:latin typeface="Courier New" pitchFamily="34" charset="0"/>
                <a:ea typeface="Courier New" pitchFamily="34" charset="-122"/>
                <a:cs typeface="Courier New" pitchFamily="34" charset="-120"/>
              </a:rPr>
              <a:t>70</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'ş'</a:t>
            </a:r>
            <a:r>
              <a:rPr lang="en-US" sz="700" dirty="0">
                <a:solidFill>
                  <a:srgbClr val="E6EDF3"/>
                </a:solidFill>
                <a:latin typeface="Courier New" pitchFamily="34" charset="0"/>
                <a:ea typeface="Courier New" pitchFamily="34" charset="-122"/>
                <a:cs typeface="Courier New" pitchFamily="34" charset="-120"/>
              </a:rPr>
              <a:t> * </a:t>
            </a:r>
            <a:r>
              <a:rPr lang="en-US" sz="700" dirty="0">
                <a:solidFill>
                  <a:srgbClr val="FFD28A"/>
                </a:solidFill>
                <a:latin typeface="Courier New" pitchFamily="34" charset="0"/>
                <a:ea typeface="Courier New" pitchFamily="34" charset="-122"/>
                <a:cs typeface="Courier New" pitchFamily="34" charset="-120"/>
              </a:rPr>
              <a:t>71</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print(t[:</a:t>
            </a:r>
            <a:r>
              <a:rPr lang="en-US" sz="700" dirty="0">
                <a:solidFill>
                  <a:srgbClr val="FFD28A"/>
                </a:solidFill>
                <a:latin typeface="Courier New" pitchFamily="34" charset="0"/>
                <a:ea typeface="Courier New" pitchFamily="34" charset="-122"/>
                <a:cs typeface="Courier New" pitchFamily="34" charset="-120"/>
              </a:rPr>
              <a:t>20</a:t>
            </a:r>
            <a:r>
              <a:rPr lang="en-US" sz="700" dirty="0">
                <a:solidFill>
                  <a:srgbClr val="E6EDF3"/>
                </a:solidFill>
                <a:latin typeface="Courier New" pitchFamily="34" charset="0"/>
                <a:ea typeface="Courier New" pitchFamily="34" charset="-122"/>
                <a:cs typeface="Courier New" pitchFamily="34" charset="-120"/>
              </a:rPr>
              <a:t>].ljust(</a:t>
            </a:r>
            <a:r>
              <a:rPr lang="en-US" sz="700" dirty="0">
                <a:solidFill>
                  <a:srgbClr val="FFD28A"/>
                </a:solidFill>
                <a:latin typeface="Courier New" pitchFamily="34" charset="0"/>
                <a:ea typeface="Courier New" pitchFamily="34" charset="-122"/>
                <a:cs typeface="Courier New" pitchFamily="34" charset="-120"/>
              </a:rPr>
              <a:t>21</a:t>
            </a:r>
            <a:r>
              <a:rPr lang="en-US" sz="700" dirty="0">
                <a:solidFill>
                  <a:srgbClr val="E6EDF3"/>
                </a:solidFill>
                <a:latin typeface="Courier New" pitchFamily="34" charset="0"/>
                <a:ea typeface="Courier New" pitchFamily="34" charset="-122"/>
                <a:cs typeface="Courier New" pitchFamily="34" charset="-120"/>
              </a:rPr>
              <a:t>), str(len(t)).rjust(</a:t>
            </a:r>
            <a:r>
              <a:rPr lang="en-US" sz="700" dirty="0">
                <a:solidFill>
                  <a:srgbClr val="FFD28A"/>
                </a:solidFill>
                <a:latin typeface="Courier New" pitchFamily="34" charset="0"/>
                <a:ea typeface="Courier New" pitchFamily="34" charset="-122"/>
                <a:cs typeface="Courier New" pitchFamily="34" charset="-120"/>
              </a:rPr>
              <a:t>3</a:t>
            </a:r>
            <a:r>
              <a:rPr lang="en-US" sz="700" dirty="0">
                <a:solidFill>
                  <a:srgbClr val="E6EDF3"/>
                </a:solidFill>
                <a:latin typeface="Courier New" pitchFamily="34" charset="0"/>
                <a:ea typeface="Courier New" pitchFamily="34" charset="-122"/>
                <a:cs typeface="Courier New" pitchFamily="34" charset="-120"/>
              </a:rPr>
              <a:t>), segments(t))</a:t>
            </a:r>
            <a:endParaRPr lang="en-US" sz="700" dirty="0"/>
          </a:p>
          <a:p>
            <a:pPr indent="0" marL="0">
              <a:buNone/>
            </a:pPr>
            <a:r>
              <a:rPr lang="en-US" sz="700" b="1" dirty="0">
                <a:solidFill>
                  <a:srgbClr val="D97A14"/>
                </a:solidFill>
                <a:latin typeface="Courier New" pitchFamily="34" charset="0"/>
                <a:ea typeface="Courier New" pitchFamily="34" charset="-122"/>
                <a:cs typeface="Courier New" pitchFamily="34" charset="-120"/>
              </a:rPr>
              <a:t>prints </a:t>
            </a:r>
            <a:r>
              <a:rPr lang="en-US" sz="700" dirty="0">
                <a:solidFill>
                  <a:srgbClr val="7EE787"/>
                </a:solidFill>
                <a:latin typeface="Courier New" pitchFamily="34" charset="0"/>
                <a:ea typeface="Courier New" pitchFamily="34" charset="-122"/>
                <a:cs typeface="Courier New" pitchFamily="34" charset="-120"/>
              </a:rPr>
              <a:t>140 * 8 // 7 = 160 | 140 // 2 = 70</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Hello, world!          13 ('GSM-7', 13, 1)</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aaaaaaaaaaaaaaaaaaaa  160 ('GSM-7', 160, 1)</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aaaaaaaaaaaaaaaaaaaa  161 ('GSM-7', 161, 2)</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{x}                     3 ('GSM-7', 5, 1)</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Yedekleme tamamlandi   20 ('GSM-7', 20, 1)</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Yedekleme tamamlandı   20 ('UCS-2', 20, 1)</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şşşşşşşşşşşşşşşşşşşş   70 ('UCS-2', 70, 1)</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şşşşşşşşşşşşşşşşşşşş   71 ('UCS-2', 71, 2)</a:t>
            </a:r>
            <a:endParaRPr lang="en-US" sz="700" dirty="0"/>
          </a:p>
        </p:txBody>
      </p:sp>
      <p:sp>
        <p:nvSpPr>
          <p:cNvPr id="9" name="Shape 7"/>
          <p:cNvSpPr/>
          <p:nvPr/>
        </p:nvSpPr>
        <p:spPr>
          <a:xfrm>
            <a:off x="5504688" y="1371600"/>
            <a:ext cx="3182112" cy="1783080"/>
          </a:xfrm>
          <a:prstGeom prst="roundRect">
            <a:avLst>
              <a:gd name="adj" fmla="val 5128"/>
            </a:avLst>
          </a:prstGeom>
          <a:solidFill>
            <a:srgbClr val="F2ECE1"/>
          </a:solidFill>
          <a:ln w="12700">
            <a:solidFill>
              <a:srgbClr val="F2ECE1"/>
            </a:solidFill>
            <a:prstDash val="solid"/>
          </a:ln>
        </p:spPr>
      </p:sp>
      <p:sp>
        <p:nvSpPr>
          <p:cNvPr id="10" name="Text 8"/>
          <p:cNvSpPr txBox="1"/>
          <p:nvPr/>
        </p:nvSpPr>
        <p:spPr>
          <a:xfrm>
            <a:off x="5687568" y="1490472"/>
            <a:ext cx="2816352" cy="347472"/>
          </a:xfrm>
          <a:prstGeom prst="rect">
            <a:avLst/>
          </a:prstGeom>
          <a:noFill/>
          <a:ln/>
        </p:spPr>
        <p:txBody>
          <a:bodyPr wrap="square" lIns="0" tIns="0" rIns="0" bIns="0" rtlCol="0" anchor="ctr"/>
          <a:lstStyle/>
          <a:p>
            <a:pPr indent="0" marL="0">
              <a:buNone/>
            </a:pPr>
            <a:r>
              <a:rPr lang="en-US" sz="1600" b="1" dirty="0">
                <a:solidFill>
                  <a:srgbClr val="2F6D62"/>
                </a:solidFill>
                <a:latin typeface="Cambria" pitchFamily="34" charset="0"/>
                <a:ea typeface="Cambria" pitchFamily="34" charset="-122"/>
                <a:cs typeface="Cambria" pitchFamily="34" charset="-120"/>
              </a:rPr>
              <a:t>The phone's coding</a:t>
            </a:r>
            <a:endParaRPr lang="en-US" sz="1600" dirty="0"/>
          </a:p>
        </p:txBody>
      </p:sp>
      <p:sp>
        <p:nvSpPr>
          <p:cNvPr id="11" name="Text 9"/>
          <p:cNvSpPr txBox="1"/>
          <p:nvPr/>
        </p:nvSpPr>
        <p:spPr>
          <a:xfrm>
            <a:off x="5687568" y="1874520"/>
            <a:ext cx="2816352" cy="1143000"/>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140 bytes of 8 bits hold 160 characters of 7 bits; { costs two. One dotless i makes the text UCS-2 at 16 bits, so 70 fit.</a:t>
            </a:r>
            <a:endParaRPr lang="en-US" sz="950" dirty="0"/>
          </a:p>
        </p:txBody>
      </p:sp>
      <p:sp>
        <p:nvSpPr>
          <p:cNvPr id="12" name="Shape 10"/>
          <p:cNvSpPr/>
          <p:nvPr/>
        </p:nvSpPr>
        <p:spPr>
          <a:xfrm>
            <a:off x="5504688" y="3246120"/>
            <a:ext cx="3182112" cy="1280160"/>
          </a:xfrm>
          <a:prstGeom prst="roundRect">
            <a:avLst>
              <a:gd name="adj" fmla="val 7143"/>
            </a:avLst>
          </a:prstGeom>
          <a:solidFill>
            <a:srgbClr val="F2ECE1"/>
          </a:solidFill>
          <a:ln w="12700">
            <a:solidFill>
              <a:srgbClr val="F2ECE1"/>
            </a:solidFill>
            <a:prstDash val="solid"/>
          </a:ln>
        </p:spPr>
      </p:sp>
      <p:sp>
        <p:nvSpPr>
          <p:cNvPr id="13" name="Text 11"/>
          <p:cNvSpPr txBox="1"/>
          <p:nvPr/>
        </p:nvSpPr>
        <p:spPr>
          <a:xfrm>
            <a:off x="5687568" y="3364992"/>
            <a:ext cx="2816352" cy="347472"/>
          </a:xfrm>
          <a:prstGeom prst="rect">
            <a:avLst/>
          </a:prstGeom>
          <a:noFill/>
          <a:ln/>
        </p:spPr>
        <p:txBody>
          <a:bodyPr wrap="square" lIns="0" tIns="0" rIns="0" bIns="0" rtlCol="0" anchor="ctr"/>
          <a:lstStyle/>
          <a:p>
            <a:pPr indent="0" marL="0">
              <a:buNone/>
            </a:pPr>
            <a:r>
              <a:rPr lang="en-US" sz="1600" b="1" dirty="0">
                <a:solidFill>
                  <a:srgbClr val="D97A14"/>
                </a:solidFill>
                <a:latin typeface="Cambria" pitchFamily="34" charset="0"/>
                <a:ea typeface="Cambria" pitchFamily="34" charset="-122"/>
                <a:cs typeface="Cambria" pitchFamily="34" charset="-120"/>
              </a:rPr>
              <a:t>NOT EXECUTED here</a:t>
            </a:r>
            <a:endParaRPr lang="en-US" sz="1600" dirty="0"/>
          </a:p>
        </p:txBody>
      </p:sp>
      <p:sp>
        <p:nvSpPr>
          <p:cNvPr id="14" name="Text 12"/>
          <p:cNvSpPr txBox="1"/>
          <p:nvPr/>
        </p:nvSpPr>
        <p:spPr>
          <a:xfrm>
            <a:off x="5687568" y="3749040"/>
            <a:ext cx="2816352" cy="640080"/>
          </a:xfrm>
          <a:prstGeom prst="rect">
            <a:avLst/>
          </a:prstGeom>
          <a:noFill/>
          <a:ln/>
        </p:spPr>
        <p:txBody>
          <a:bodyPr wrap="square" lIns="0" tIns="0" rIns="0" bIns="0" rtlCol="0" anchor="t"/>
          <a:lstStyle/>
          <a:p>
            <a:pPr indent="0" marL="0">
              <a:buNone/>
            </a:pPr>
            <a:r>
              <a:rPr lang="en-US" sz="900" dirty="0">
                <a:solidFill>
                  <a:srgbClr val="2B2622"/>
                </a:solidFill>
                <a:latin typeface="Calibri" pitchFamily="34" charset="0"/>
                <a:ea typeface="Calibri" pitchFamily="34" charset="-122"/>
                <a:cs typeface="Calibri" pitchFamily="34" charset="-120"/>
              </a:rPr>
              <a:t>The 153 and 67 characters of each part of a longer text come from a 6-byte header, (140 - 6) * 8 // 7 and (140 - 6) // 2; no page opened by this study confirms them.</a:t>
            </a:r>
            <a:endParaRPr lang="en-US" sz="900" dirty="0"/>
          </a:p>
        </p:txBody>
      </p:sp>
      <p:sp>
        <p:nvSpPr>
          <p:cNvPr id="15" name="Text 13"/>
          <p:cNvSpPr txBox="1"/>
          <p:nvPr/>
        </p:nvSpPr>
        <p:spPr>
          <a:xfrm>
            <a:off x="457200" y="3392424"/>
            <a:ext cx="4818888" cy="301752"/>
          </a:xfrm>
          <a:prstGeom prst="rect">
            <a:avLst/>
          </a:prstGeom>
          <a:noFill/>
          <a:ln/>
        </p:spPr>
        <p:txBody>
          <a:bodyPr wrap="square" lIns="0" tIns="0" rIns="0" bIns="0" rtlCol="0" anchor="t"/>
          <a:lstStyle/>
          <a:p>
            <a:pPr indent="0" marL="0">
              <a:buNone/>
            </a:pPr>
            <a:r>
              <a:rPr lang="en-US" sz="850" i="1" dirty="0">
                <a:solidFill>
                  <a:srgbClr val="6E655C"/>
                </a:solidFill>
                <a:latin typeface="Calibri" pitchFamily="34" charset="0"/>
                <a:ea typeface="Calibri" pitchFamily="34" charset="-122"/>
                <a:cs typeface="Calibri" pitchFamily="34" charset="-120"/>
              </a:rPr>
              <a:t>Lines 1 to 23 (imports and the GSM-7 table written for this study) are not shown. No message is sent and no carrier is asked.</a:t>
            </a:r>
            <a:endParaRPr lang="en-US" sz="850" dirty="0"/>
          </a:p>
        </p:txBody>
      </p:sp>
      <p:sp>
        <p:nvSpPr>
          <p:cNvPr id="16" name="Shape 14"/>
          <p:cNvSpPr/>
          <p:nvPr/>
        </p:nvSpPr>
        <p:spPr>
          <a:xfrm>
            <a:off x="457200" y="4636008"/>
            <a:ext cx="91440" cy="310896"/>
          </a:xfrm>
          <a:prstGeom prst="rect">
            <a:avLst/>
          </a:prstGeom>
          <a:solidFill>
            <a:srgbClr val="D97A14"/>
          </a:solidFill>
          <a:ln w="12700">
            <a:solidFill>
              <a:srgbClr val="D97A14"/>
            </a:solidFill>
            <a:prstDash val="solid"/>
          </a:ln>
        </p:spPr>
      </p:sp>
      <p:sp>
        <p:nvSpPr>
          <p:cNvPr id="17" name="Text 1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Count the characters in the coding the phone uses, not in Python.</a:t>
            </a:r>
            <a:endParaRPr lang="en-US" sz="1350" dirty="0"/>
          </a:p>
        </p:txBody>
      </p:sp>
      <p:sp>
        <p:nvSpPr>
          <p:cNvPr id="18"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17 / 26</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Publishing a push notification</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post is an HTTP request: the body is the message, the headers add title and priority</a:t>
            </a:r>
            <a:endParaRPr lang="en-US" sz="1300" dirty="0"/>
          </a:p>
        </p:txBody>
      </p:sp>
      <p:sp>
        <p:nvSpPr>
          <p:cNvPr id="6" name="Shape 4"/>
          <p:cNvSpPr/>
          <p:nvPr/>
        </p:nvSpPr>
        <p:spPr>
          <a:xfrm>
            <a:off x="502920" y="1280160"/>
            <a:ext cx="1005840" cy="384048"/>
          </a:xfrm>
          <a:prstGeom prst="roundRect">
            <a:avLst>
              <a:gd name="adj" fmla="val 19048"/>
            </a:avLst>
          </a:prstGeom>
          <a:solidFill>
            <a:srgbClr val="2F6D62"/>
          </a:solidFill>
          <a:ln w="15875">
            <a:solidFill>
              <a:srgbClr val="2F6D62"/>
            </a:solidFill>
            <a:prstDash val="solid"/>
          </a:ln>
        </p:spPr>
      </p:sp>
      <p:sp>
        <p:nvSpPr>
          <p:cNvPr id="7" name="Text 5"/>
          <p:cNvSpPr txBox="1"/>
          <p:nvPr/>
        </p:nvSpPr>
        <p:spPr>
          <a:xfrm>
            <a:off x="557784" y="1386230"/>
            <a:ext cx="896112" cy="171907"/>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The program</a:t>
            </a:r>
            <a:endParaRPr lang="en-US" sz="1000" dirty="0"/>
          </a:p>
        </p:txBody>
      </p:sp>
      <p:sp>
        <p:nvSpPr>
          <p:cNvPr id="8" name="Shape 6"/>
          <p:cNvSpPr/>
          <p:nvPr/>
        </p:nvSpPr>
        <p:spPr>
          <a:xfrm>
            <a:off x="1005840" y="1664208"/>
            <a:ext cx="0" cy="2542032"/>
          </a:xfrm>
          <a:prstGeom prst="line">
            <a:avLst/>
          </a:prstGeom>
          <a:noFill/>
          <a:ln w="19050">
            <a:solidFill>
              <a:srgbClr val="DFD6C7"/>
            </a:solidFill>
            <a:prstDash val="dash"/>
          </a:ln>
        </p:spPr>
      </p:sp>
      <p:sp>
        <p:nvSpPr>
          <p:cNvPr id="9" name="Shape 7"/>
          <p:cNvSpPr/>
          <p:nvPr/>
        </p:nvSpPr>
        <p:spPr>
          <a:xfrm>
            <a:off x="1965960" y="1280160"/>
            <a:ext cx="1005840" cy="384048"/>
          </a:xfrm>
          <a:prstGeom prst="roundRect">
            <a:avLst>
              <a:gd name="adj" fmla="val 19048"/>
            </a:avLst>
          </a:prstGeom>
          <a:solidFill>
            <a:srgbClr val="2F6D62"/>
          </a:solidFill>
          <a:ln w="15875">
            <a:solidFill>
              <a:srgbClr val="2F6D62"/>
            </a:solidFill>
            <a:prstDash val="solid"/>
          </a:ln>
        </p:spPr>
      </p:sp>
      <p:sp>
        <p:nvSpPr>
          <p:cNvPr id="10" name="Text 8"/>
          <p:cNvSpPr txBox="1"/>
          <p:nvPr/>
        </p:nvSpPr>
        <p:spPr>
          <a:xfrm>
            <a:off x="2020824" y="1309421"/>
            <a:ext cx="896112" cy="32552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The ntfy service</a:t>
            </a:r>
            <a:endParaRPr lang="en-US" sz="1000" dirty="0"/>
          </a:p>
        </p:txBody>
      </p:sp>
      <p:sp>
        <p:nvSpPr>
          <p:cNvPr id="11" name="Shape 9"/>
          <p:cNvSpPr/>
          <p:nvPr/>
        </p:nvSpPr>
        <p:spPr>
          <a:xfrm>
            <a:off x="2468880" y="1664208"/>
            <a:ext cx="0" cy="2542032"/>
          </a:xfrm>
          <a:prstGeom prst="line">
            <a:avLst/>
          </a:prstGeom>
          <a:noFill/>
          <a:ln w="19050">
            <a:solidFill>
              <a:srgbClr val="DFD6C7"/>
            </a:solidFill>
            <a:prstDash val="dash"/>
          </a:ln>
        </p:spPr>
      </p:sp>
      <p:sp>
        <p:nvSpPr>
          <p:cNvPr id="12" name="Shape 10"/>
          <p:cNvSpPr/>
          <p:nvPr/>
        </p:nvSpPr>
        <p:spPr>
          <a:xfrm>
            <a:off x="3429000" y="1280160"/>
            <a:ext cx="1005840" cy="384048"/>
          </a:xfrm>
          <a:prstGeom prst="roundRect">
            <a:avLst>
              <a:gd name="adj" fmla="val 19048"/>
            </a:avLst>
          </a:prstGeom>
          <a:solidFill>
            <a:srgbClr val="2F6D62"/>
          </a:solidFill>
          <a:ln w="15875">
            <a:solidFill>
              <a:srgbClr val="2F6D62"/>
            </a:solidFill>
            <a:prstDash val="solid"/>
          </a:ln>
        </p:spPr>
      </p:sp>
      <p:sp>
        <p:nvSpPr>
          <p:cNvPr id="13" name="Text 11"/>
          <p:cNvSpPr txBox="1"/>
          <p:nvPr/>
        </p:nvSpPr>
        <p:spPr>
          <a:xfrm>
            <a:off x="3483864" y="1386230"/>
            <a:ext cx="896112" cy="171907"/>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 subscriber</a:t>
            </a:r>
            <a:endParaRPr lang="en-US" sz="1000" dirty="0"/>
          </a:p>
        </p:txBody>
      </p:sp>
      <p:sp>
        <p:nvSpPr>
          <p:cNvPr id="14" name="Shape 12"/>
          <p:cNvSpPr/>
          <p:nvPr/>
        </p:nvSpPr>
        <p:spPr>
          <a:xfrm>
            <a:off x="3931920" y="1664208"/>
            <a:ext cx="0" cy="2542032"/>
          </a:xfrm>
          <a:prstGeom prst="line">
            <a:avLst/>
          </a:prstGeom>
          <a:noFill/>
          <a:ln w="19050">
            <a:solidFill>
              <a:srgbClr val="DFD6C7"/>
            </a:solidFill>
            <a:prstDash val="dash"/>
          </a:ln>
        </p:spPr>
      </p:sp>
      <p:sp>
        <p:nvSpPr>
          <p:cNvPr id="15" name="Shape 13"/>
          <p:cNvSpPr/>
          <p:nvPr/>
        </p:nvSpPr>
        <p:spPr>
          <a:xfrm>
            <a:off x="1005840" y="2170786"/>
            <a:ext cx="1463040" cy="0"/>
          </a:xfrm>
          <a:prstGeom prst="line">
            <a:avLst/>
          </a:prstGeom>
          <a:noFill/>
          <a:ln w="22225">
            <a:solidFill>
              <a:srgbClr val="D97A14"/>
            </a:solidFill>
            <a:prstDash val="solid"/>
            <a:tailEnd type="triangle"/>
          </a:ln>
        </p:spPr>
      </p:sp>
      <p:sp>
        <p:nvSpPr>
          <p:cNvPr id="16" name="Text 14"/>
          <p:cNvSpPr txBox="1"/>
          <p:nvPr/>
        </p:nvSpPr>
        <p:spPr>
          <a:xfrm>
            <a:off x="1097280" y="1737360"/>
            <a:ext cx="1280160" cy="386791"/>
          </a:xfrm>
          <a:prstGeom prst="rect">
            <a:avLst/>
          </a:prstGeom>
          <a:noFill/>
          <a:ln/>
        </p:spPr>
        <p:txBody>
          <a:bodyPr wrap="square" lIns="0" tIns="0" rIns="0" bIns="0" rtlCol="0" anchor="b"/>
          <a:lstStyle/>
          <a:p>
            <a:pPr algn="ctr" indent="0" marL="0">
              <a:buNone/>
            </a:pPr>
            <a:r>
              <a:rPr lang="en-US" sz="800" dirty="0">
                <a:solidFill>
                  <a:srgbClr val="2B2622"/>
                </a:solidFill>
                <a:latin typeface="Calibri" pitchFamily="34" charset="0"/>
                <a:ea typeface="Calibri" pitchFamily="34" charset="-122"/>
                <a:cs typeface="Calibri" pitchFamily="34" charset="-120"/>
              </a:rPr>
              <a:t>Calls requests.post() with the topic URL and the text</a:t>
            </a:r>
            <a:endParaRPr lang="en-US" sz="800" dirty="0"/>
          </a:p>
        </p:txBody>
      </p:sp>
      <p:sp>
        <p:nvSpPr>
          <p:cNvPr id="17" name="Shape 15"/>
          <p:cNvSpPr/>
          <p:nvPr/>
        </p:nvSpPr>
        <p:spPr>
          <a:xfrm flipH="1">
            <a:off x="1005840" y="2555748"/>
            <a:ext cx="1463040" cy="0"/>
          </a:xfrm>
          <a:prstGeom prst="line">
            <a:avLst/>
          </a:prstGeom>
          <a:noFill/>
          <a:ln w="22225">
            <a:solidFill>
              <a:srgbClr val="6E655C"/>
            </a:solidFill>
            <a:prstDash val="dash"/>
            <a:tailEnd type="triangle"/>
          </a:ln>
        </p:spPr>
      </p:sp>
      <p:sp>
        <p:nvSpPr>
          <p:cNvPr id="18" name="Text 16"/>
          <p:cNvSpPr txBox="1"/>
          <p:nvPr/>
        </p:nvSpPr>
        <p:spPr>
          <a:xfrm>
            <a:off x="1097280" y="2245766"/>
            <a:ext cx="1280160" cy="264262"/>
          </a:xfrm>
          <a:prstGeom prst="rect">
            <a:avLst/>
          </a:prstGeom>
          <a:noFill/>
          <a:ln/>
        </p:spPr>
        <p:txBody>
          <a:bodyPr wrap="square" lIns="0" tIns="0" rIns="0" bIns="0" rtlCol="0" anchor="b"/>
          <a:lstStyle/>
          <a:p>
            <a:pPr algn="ctr" indent="0" marL="0">
              <a:buNone/>
            </a:pPr>
            <a:r>
              <a:rPr lang="en-US" sz="800" i="1" dirty="0">
                <a:solidFill>
                  <a:srgbClr val="2B2622"/>
                </a:solidFill>
                <a:latin typeface="Calibri" pitchFamily="34" charset="0"/>
                <a:ea typeface="Calibri" pitchFamily="34" charset="-122"/>
                <a:cs typeface="Calibri" pitchFamily="34" charset="-120"/>
              </a:rPr>
              <a:t>Returns a Response with the status 200</a:t>
            </a:r>
            <a:endParaRPr lang="en-US" sz="800" dirty="0"/>
          </a:p>
        </p:txBody>
      </p:sp>
      <p:sp>
        <p:nvSpPr>
          <p:cNvPr id="19" name="Shape 17"/>
          <p:cNvSpPr/>
          <p:nvPr/>
        </p:nvSpPr>
        <p:spPr>
          <a:xfrm flipH="1">
            <a:off x="2468880" y="2941625"/>
            <a:ext cx="1463040" cy="0"/>
          </a:xfrm>
          <a:prstGeom prst="line">
            <a:avLst/>
          </a:prstGeom>
          <a:noFill/>
          <a:ln w="22225">
            <a:solidFill>
              <a:srgbClr val="D97A14"/>
            </a:solidFill>
            <a:prstDash val="solid"/>
            <a:tailEnd type="triangle"/>
          </a:ln>
        </p:spPr>
      </p:sp>
      <p:sp>
        <p:nvSpPr>
          <p:cNvPr id="20" name="Text 18"/>
          <p:cNvSpPr txBox="1"/>
          <p:nvPr/>
        </p:nvSpPr>
        <p:spPr>
          <a:xfrm>
            <a:off x="2560320" y="2631643"/>
            <a:ext cx="1280160" cy="264262"/>
          </a:xfrm>
          <a:prstGeom prst="rect">
            <a:avLst/>
          </a:prstGeom>
          <a:noFill/>
          <a:ln/>
        </p:spPr>
        <p:txBody>
          <a:bodyPr wrap="square" lIns="0" tIns="0" rIns="0" bIns="0" rtlCol="0" anchor="b"/>
          <a:lstStyle/>
          <a:p>
            <a:pPr algn="ctr" indent="0" marL="0">
              <a:buNone/>
            </a:pPr>
            <a:r>
              <a:rPr lang="en-US" sz="800" dirty="0">
                <a:solidFill>
                  <a:srgbClr val="2B2622"/>
                </a:solidFill>
                <a:latin typeface="Calibri" pitchFamily="34" charset="0"/>
                <a:ea typeface="Calibri" pitchFamily="34" charset="-122"/>
                <a:cs typeface="Calibri" pitchFamily="34" charset="-120"/>
              </a:rPr>
              <a:t>Checks the topic for messages</a:t>
            </a:r>
            <a:endParaRPr lang="en-US" sz="800" dirty="0"/>
          </a:p>
        </p:txBody>
      </p:sp>
      <p:sp>
        <p:nvSpPr>
          <p:cNvPr id="21" name="Shape 19"/>
          <p:cNvSpPr/>
          <p:nvPr/>
        </p:nvSpPr>
        <p:spPr>
          <a:xfrm>
            <a:off x="2468880" y="3327502"/>
            <a:ext cx="1463040" cy="0"/>
          </a:xfrm>
          <a:prstGeom prst="line">
            <a:avLst/>
          </a:prstGeom>
          <a:noFill/>
          <a:ln w="22225">
            <a:solidFill>
              <a:srgbClr val="6E655C"/>
            </a:solidFill>
            <a:prstDash val="dash"/>
            <a:tailEnd type="triangle"/>
          </a:ln>
        </p:spPr>
      </p:sp>
      <p:sp>
        <p:nvSpPr>
          <p:cNvPr id="22" name="Text 20"/>
          <p:cNvSpPr txBox="1"/>
          <p:nvPr/>
        </p:nvSpPr>
        <p:spPr>
          <a:xfrm>
            <a:off x="2560320" y="3017520"/>
            <a:ext cx="1280160" cy="264262"/>
          </a:xfrm>
          <a:prstGeom prst="rect">
            <a:avLst/>
          </a:prstGeom>
          <a:noFill/>
          <a:ln/>
        </p:spPr>
        <p:txBody>
          <a:bodyPr wrap="square" lIns="0" tIns="0" rIns="0" bIns="0" rtlCol="0" anchor="b"/>
          <a:lstStyle/>
          <a:p>
            <a:pPr algn="ctr" indent="0" marL="0">
              <a:buNone/>
            </a:pPr>
            <a:r>
              <a:rPr lang="en-US" sz="800" i="1" dirty="0">
                <a:solidFill>
                  <a:srgbClr val="2B2622"/>
                </a:solidFill>
                <a:latin typeface="Calibri" pitchFamily="34" charset="0"/>
                <a:ea typeface="Calibri" pitchFamily="34" charset="-122"/>
                <a:cs typeface="Calibri" pitchFamily="34" charset="-120"/>
              </a:rPr>
              <a:t>Returns the message of the topic</a:t>
            </a:r>
            <a:endParaRPr lang="en-US" sz="800" dirty="0"/>
          </a:p>
        </p:txBody>
      </p:sp>
      <p:sp>
        <p:nvSpPr>
          <p:cNvPr id="23" name="Shape 21"/>
          <p:cNvSpPr/>
          <p:nvPr/>
        </p:nvSpPr>
        <p:spPr>
          <a:xfrm>
            <a:off x="1005840" y="3712464"/>
            <a:ext cx="1463040" cy="0"/>
          </a:xfrm>
          <a:prstGeom prst="line">
            <a:avLst/>
          </a:prstGeom>
          <a:noFill/>
          <a:ln w="22225">
            <a:solidFill>
              <a:srgbClr val="D97A14"/>
            </a:solidFill>
            <a:prstDash val="solid"/>
            <a:tailEnd type="triangle"/>
          </a:ln>
        </p:spPr>
      </p:sp>
      <p:sp>
        <p:nvSpPr>
          <p:cNvPr id="24" name="Text 22"/>
          <p:cNvSpPr txBox="1"/>
          <p:nvPr/>
        </p:nvSpPr>
        <p:spPr>
          <a:xfrm>
            <a:off x="1097280" y="3279953"/>
            <a:ext cx="1280160" cy="386791"/>
          </a:xfrm>
          <a:prstGeom prst="rect">
            <a:avLst/>
          </a:prstGeom>
          <a:noFill/>
          <a:ln/>
        </p:spPr>
        <p:txBody>
          <a:bodyPr wrap="square" lIns="0" tIns="0" rIns="0" bIns="0" rtlCol="0" anchor="b"/>
          <a:lstStyle/>
          <a:p>
            <a:pPr algn="ctr" indent="0" marL="0">
              <a:buNone/>
            </a:pPr>
            <a:r>
              <a:rPr lang="en-US" sz="800" dirty="0">
                <a:solidFill>
                  <a:srgbClr val="2B2622"/>
                </a:solidFill>
                <a:latin typeface="Calibri" pitchFamily="34" charset="0"/>
                <a:ea typeface="Calibri" pitchFamily="34" charset="-122"/>
                <a:cs typeface="Calibri" pitchFamily="34" charset="-120"/>
              </a:rPr>
              <a:t>Calls requests.get() with the topic URL and poll</a:t>
            </a:r>
            <a:endParaRPr lang="en-US" sz="800" dirty="0"/>
          </a:p>
        </p:txBody>
      </p:sp>
      <p:sp>
        <p:nvSpPr>
          <p:cNvPr id="25" name="Shape 23"/>
          <p:cNvSpPr/>
          <p:nvPr/>
        </p:nvSpPr>
        <p:spPr>
          <a:xfrm flipH="1">
            <a:off x="1005840" y="4098341"/>
            <a:ext cx="1463040" cy="0"/>
          </a:xfrm>
          <a:prstGeom prst="line">
            <a:avLst/>
          </a:prstGeom>
          <a:noFill/>
          <a:ln w="22225">
            <a:solidFill>
              <a:srgbClr val="6E655C"/>
            </a:solidFill>
            <a:prstDash val="dash"/>
            <a:tailEnd type="triangle"/>
          </a:ln>
        </p:spPr>
      </p:sp>
      <p:sp>
        <p:nvSpPr>
          <p:cNvPr id="26" name="Text 24"/>
          <p:cNvSpPr txBox="1"/>
          <p:nvPr/>
        </p:nvSpPr>
        <p:spPr>
          <a:xfrm>
            <a:off x="1097280" y="3788359"/>
            <a:ext cx="1280160" cy="264262"/>
          </a:xfrm>
          <a:prstGeom prst="rect">
            <a:avLst/>
          </a:prstGeom>
          <a:noFill/>
          <a:ln/>
        </p:spPr>
        <p:txBody>
          <a:bodyPr wrap="square" lIns="0" tIns="0" rIns="0" bIns="0" rtlCol="0" anchor="b"/>
          <a:lstStyle/>
          <a:p>
            <a:pPr algn="ctr" indent="0" marL="0">
              <a:buNone/>
            </a:pPr>
            <a:r>
              <a:rPr lang="en-US" sz="800" i="1" dirty="0">
                <a:solidFill>
                  <a:srgbClr val="2B2622"/>
                </a:solidFill>
                <a:latin typeface="Calibri" pitchFamily="34" charset="0"/>
                <a:ea typeface="Calibri" pitchFamily="34" charset="-122"/>
                <a:cs typeface="Calibri" pitchFamily="34" charset="-120"/>
              </a:rPr>
              <a:t>Returns one JSON object on each line</a:t>
            </a:r>
            <a:endParaRPr lang="en-US" sz="800" dirty="0"/>
          </a:p>
        </p:txBody>
      </p:sp>
      <p:sp>
        <p:nvSpPr>
          <p:cNvPr id="27" name="Text 25"/>
          <p:cNvSpPr txBox="1"/>
          <p:nvPr/>
        </p:nvSpPr>
        <p:spPr>
          <a:xfrm>
            <a:off x="457200" y="4233672"/>
            <a:ext cx="4023360" cy="301752"/>
          </a:xfrm>
          <a:prstGeom prst="rect">
            <a:avLst/>
          </a:prstGeom>
          <a:noFill/>
          <a:ln/>
        </p:spPr>
        <p:txBody>
          <a:bodyPr wrap="square" lIns="0" tIns="0" rIns="0" bIns="0" rtlCol="0" anchor="t"/>
          <a:lstStyle/>
          <a:p>
            <a:pPr indent="0" marL="0">
              <a:buNone/>
            </a:pPr>
            <a:r>
              <a:rPr lang="en-US" sz="850" i="1" dirty="0">
                <a:solidFill>
                  <a:srgbClr val="6E655C"/>
                </a:solidFill>
                <a:latin typeface="Calibri" pitchFamily="34" charset="0"/>
                <a:ea typeface="Calibri" pitchFamily="34" charset="-122"/>
                <a:cs typeface="Calibri" pitchFamily="34" charset="-120"/>
              </a:rPr>
              <a:t>diagram PostingAPushNotification - Interaction pattern, 28 of 31 words grounded in the chapter's text</a:t>
            </a:r>
            <a:endParaRPr lang="en-US" sz="850" dirty="0"/>
          </a:p>
        </p:txBody>
      </p:sp>
      <p:sp>
        <p:nvSpPr>
          <p:cNvPr id="28" name="Text 26"/>
          <p:cNvSpPr txBox="1"/>
          <p:nvPr/>
        </p:nvSpPr>
        <p:spPr>
          <a:xfrm>
            <a:off x="4572000" y="1143000"/>
            <a:ext cx="4142232"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program ntfyPubCut_v1_0_0.py, lines 26 to 36 of 36</a:t>
            </a:r>
            <a:endParaRPr lang="en-US" sz="1000" dirty="0"/>
          </a:p>
        </p:txBody>
      </p:sp>
      <p:sp>
        <p:nvSpPr>
          <p:cNvPr id="29" name="Shape 27"/>
          <p:cNvSpPr/>
          <p:nvPr/>
        </p:nvSpPr>
        <p:spPr>
          <a:xfrm>
            <a:off x="4572000" y="1417320"/>
            <a:ext cx="4142232" cy="2304288"/>
          </a:xfrm>
          <a:prstGeom prst="roundRect">
            <a:avLst>
              <a:gd name="adj" fmla="val 3968"/>
            </a:avLst>
          </a:prstGeom>
          <a:solidFill>
            <a:srgbClr val="23272E"/>
          </a:solidFill>
          <a:ln w="12700">
            <a:solidFill>
              <a:srgbClr val="23272E"/>
            </a:solidFill>
            <a:prstDash val="solid"/>
          </a:ln>
        </p:spPr>
      </p:sp>
      <p:sp>
        <p:nvSpPr>
          <p:cNvPr id="30" name="Text 28"/>
          <p:cNvSpPr txBox="1"/>
          <p:nvPr/>
        </p:nvSpPr>
        <p:spPr>
          <a:xfrm>
            <a:off x="4754880" y="1536192"/>
            <a:ext cx="3776472" cy="2066544"/>
          </a:xfrm>
          <a:prstGeom prst="rect">
            <a:avLst/>
          </a:prstGeom>
          <a:noFill/>
          <a:ln/>
        </p:spPr>
        <p:txBody>
          <a:bodyPr wrap="square" lIns="0" tIns="0" rIns="0" bIns="0" rtlCol="0" anchor="t"/>
          <a:lstStyle/>
          <a:p>
            <a:pPr indent="0" marL="0">
              <a:buNone/>
            </a:pPr>
            <a:r>
              <a:rPr lang="en-US" sz="700" dirty="0">
                <a:solidFill>
                  <a:srgbClr val="E6EDF3"/>
                </a:solidFill>
                <a:latin typeface="Courier New" pitchFamily="34" charset="0"/>
                <a:ea typeface="Courier New" pitchFamily="34" charset="-122"/>
                <a:cs typeface="Courier New" pitchFamily="34" charset="-120"/>
              </a:rPr>
              <a:t>srv, log, base = recorder(</a:t>
            </a:r>
            <a:r>
              <a:rPr lang="en-US" sz="700" dirty="0">
                <a:solidFill>
                  <a:srgbClr val="FFD28A"/>
                </a:solidFill>
                <a:latin typeface="Courier New" pitchFamily="34" charset="0"/>
                <a:ea typeface="Courier New" pitchFamily="34" charset="-122"/>
                <a:cs typeface="Courier New" pitchFamily="34" charset="-120"/>
              </a:rPr>
              <a:t>200</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r = requests.post(base + </a:t>
            </a:r>
            <a:r>
              <a:rPr lang="en-US" sz="700" dirty="0">
                <a:solidFill>
                  <a:srgbClr val="9ECBFF"/>
                </a:solidFill>
                <a:latin typeface="Courier New" pitchFamily="34" charset="0"/>
                <a:ea typeface="Courier New" pitchFamily="34" charset="-122"/>
                <a:cs typeface="Courier New" pitchFamily="34" charset="-120"/>
              </a:rPr>
              <a:t>'/AlSweigartZPgxBQ42'</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'Hello, world!'</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q = log[</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 h = q[</a:t>
            </a:r>
            <a:r>
              <a:rPr lang="en-US" sz="700" dirty="0">
                <a:solidFill>
                  <a:srgbClr val="9ECBFF"/>
                </a:solidFill>
                <a:latin typeface="Courier New" pitchFamily="34" charset="0"/>
                <a:ea typeface="Courier New" pitchFamily="34" charset="-122"/>
                <a:cs typeface="Courier New" pitchFamily="34" charset="-120"/>
              </a:rPr>
              <a:t>'headers'</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print(r.status_code, q[</a:t>
            </a:r>
            <a:r>
              <a:rPr lang="en-US" sz="700" dirty="0">
                <a:solidFill>
                  <a:srgbClr val="9ECBFF"/>
                </a:solidFill>
                <a:latin typeface="Courier New" pitchFamily="34" charset="0"/>
                <a:ea typeface="Courier New" pitchFamily="34" charset="-122"/>
                <a:cs typeface="Courier New" pitchFamily="34" charset="-120"/>
              </a:rPr>
              <a:t>'method'</a:t>
            </a:r>
            <a:r>
              <a:rPr lang="en-US" sz="700" dirty="0">
                <a:solidFill>
                  <a:srgbClr val="E6EDF3"/>
                </a:solidFill>
                <a:latin typeface="Courier New" pitchFamily="34" charset="0"/>
                <a:ea typeface="Courier New" pitchFamily="34" charset="-122"/>
                <a:cs typeface="Courier New" pitchFamily="34" charset="-120"/>
              </a:rPr>
              <a:t>], q[</a:t>
            </a:r>
            <a:r>
              <a:rPr lang="en-US" sz="700" dirty="0">
                <a:solidFill>
                  <a:srgbClr val="9ECBFF"/>
                </a:solidFill>
                <a:latin typeface="Courier New" pitchFamily="34" charset="0"/>
                <a:ea typeface="Courier New" pitchFamily="34" charset="-122"/>
                <a:cs typeface="Courier New" pitchFamily="34" charset="-120"/>
              </a:rPr>
              <a:t>'path'</a:t>
            </a:r>
            <a:r>
              <a:rPr lang="en-US" sz="700" dirty="0">
                <a:solidFill>
                  <a:srgbClr val="E6EDF3"/>
                </a:solidFill>
                <a:latin typeface="Courier New" pitchFamily="34" charset="0"/>
                <a:ea typeface="Courier New" pitchFamily="34" charset="-122"/>
                <a:cs typeface="Courier New" pitchFamily="34" charset="-120"/>
              </a:rPr>
              <a:t>], q[</a:t>
            </a:r>
            <a:r>
              <a:rPr lang="en-US" sz="700" dirty="0">
                <a:solidFill>
                  <a:srgbClr val="9ECBFF"/>
                </a:solidFill>
                <a:latin typeface="Courier New" pitchFamily="34" charset="0"/>
                <a:ea typeface="Courier New" pitchFamily="34" charset="-122"/>
                <a:cs typeface="Courier New" pitchFamily="34" charset="-120"/>
              </a:rPr>
              <a:t>'body'</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'length'</a:t>
            </a:r>
            <a:r>
              <a:rPr lang="en-US" sz="700" dirty="0">
                <a:solidFill>
                  <a:srgbClr val="E6EDF3"/>
                </a:solidFill>
                <a:latin typeface="Courier New" pitchFamily="34" charset="0"/>
                <a:ea typeface="Courier New" pitchFamily="34" charset="-122"/>
                <a:cs typeface="Courier New" pitchFamily="34" charset="-120"/>
              </a:rPr>
              <a:t>, h[</a:t>
            </a:r>
            <a:r>
              <a:rPr lang="en-US" sz="700" dirty="0">
                <a:solidFill>
                  <a:srgbClr val="9ECBFF"/>
                </a:solidFill>
                <a:latin typeface="Courier New" pitchFamily="34" charset="0"/>
                <a:ea typeface="Courier New" pitchFamily="34" charset="-122"/>
                <a:cs typeface="Courier New" pitchFamily="34" charset="-120"/>
              </a:rPr>
              <a:t>'Content-Length'</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'type'</a:t>
            </a:r>
            <a:r>
              <a:rPr lang="en-US" sz="700" dirty="0">
                <a:solidFill>
                  <a:srgbClr val="E6EDF3"/>
                </a:solidFill>
                <a:latin typeface="Courier New" pitchFamily="34" charset="0"/>
                <a:ea typeface="Courier New" pitchFamily="34" charset="-122"/>
                <a:cs typeface="Courier New" pitchFamily="34" charset="-120"/>
              </a:rPr>
              <a:t>, h.get(</a:t>
            </a:r>
            <a:r>
              <a:rPr lang="en-US" sz="700" dirty="0">
                <a:solidFill>
                  <a:srgbClr val="9ECBFF"/>
                </a:solidFill>
                <a:latin typeface="Courier New" pitchFamily="34" charset="0"/>
                <a:ea typeface="Courier New" pitchFamily="34" charset="-122"/>
                <a:cs typeface="Courier New" pitchFamily="34" charset="-120"/>
              </a:rPr>
              <a:t>'Content-Type'</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hd = {</a:t>
            </a:r>
            <a:r>
              <a:rPr lang="en-US" sz="700" dirty="0">
                <a:solidFill>
                  <a:srgbClr val="9ECBFF"/>
                </a:solidFill>
                <a:latin typeface="Courier New" pitchFamily="34" charset="0"/>
                <a:ea typeface="Courier New" pitchFamily="34" charset="-122"/>
                <a:cs typeface="Courier New" pitchFamily="34" charset="-120"/>
              </a:rPr>
              <a:t>'Title'</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'Important: Read this!'</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'Tags'</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'warning,neutral_face'</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'Priority'</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'5'</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requests.post(base + </a:t>
            </a:r>
            <a:r>
              <a:rPr lang="en-US" sz="700" dirty="0">
                <a:solidFill>
                  <a:srgbClr val="9ECBFF"/>
                </a:solidFill>
                <a:latin typeface="Courier New" pitchFamily="34" charset="0"/>
                <a:ea typeface="Courier New" pitchFamily="34" charset="-122"/>
                <a:cs typeface="Courier New" pitchFamily="34" charset="-120"/>
              </a:rPr>
              <a:t>'/t'</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'The rent is too high!'</a:t>
            </a:r>
            <a:r>
              <a:rPr lang="en-US" sz="700" dirty="0">
                <a:solidFill>
                  <a:srgbClr val="E6EDF3"/>
                </a:solidFill>
                <a:latin typeface="Courier New" pitchFamily="34" charset="0"/>
                <a:ea typeface="Courier New" pitchFamily="34" charset="-122"/>
                <a:cs typeface="Courier New" pitchFamily="34" charset="-120"/>
              </a:rPr>
              <a:t>, headers=hd)</a:t>
            </a:r>
            <a:endParaRPr lang="en-US" sz="700" dirty="0"/>
          </a:p>
          <a:p>
            <a:pPr indent="0" marL="0">
              <a:buNone/>
            </a:pP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k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hd:</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print(k.ljust(</a:t>
            </a:r>
            <a:r>
              <a:rPr lang="en-US" sz="700" dirty="0">
                <a:solidFill>
                  <a:srgbClr val="FFD28A"/>
                </a:solidFill>
                <a:latin typeface="Courier New" pitchFamily="34" charset="0"/>
                <a:ea typeface="Courier New" pitchFamily="34" charset="-122"/>
                <a:cs typeface="Courier New" pitchFamily="34" charset="-120"/>
              </a:rPr>
              <a:t>9</a:t>
            </a:r>
            <a:r>
              <a:rPr lang="en-US" sz="700" dirty="0">
                <a:solidFill>
                  <a:srgbClr val="E6EDF3"/>
                </a:solidFill>
                <a:latin typeface="Courier New" pitchFamily="34" charset="0"/>
                <a:ea typeface="Courier New" pitchFamily="34" charset="-122"/>
                <a:cs typeface="Courier New" pitchFamily="34" charset="-120"/>
              </a:rPr>
              <a:t>), log[</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a:t>
            </a:r>
            <a:r>
              <a:rPr lang="en-US" sz="700" dirty="0">
                <a:solidFill>
                  <a:srgbClr val="9ECBFF"/>
                </a:solidFill>
                <a:latin typeface="Courier New" pitchFamily="34" charset="0"/>
                <a:ea typeface="Courier New" pitchFamily="34" charset="-122"/>
                <a:cs typeface="Courier New" pitchFamily="34" charset="-120"/>
              </a:rPr>
              <a:t>'headers'</a:t>
            </a:r>
            <a:r>
              <a:rPr lang="en-US" sz="700" dirty="0">
                <a:solidFill>
                  <a:srgbClr val="E6EDF3"/>
                </a:solidFill>
                <a:latin typeface="Courier New" pitchFamily="34" charset="0"/>
                <a:ea typeface="Courier New" pitchFamily="34" charset="-122"/>
                <a:cs typeface="Courier New" pitchFamily="34" charset="-120"/>
              </a:rPr>
              <a:t>][k])</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srv.shutdown()</a:t>
            </a:r>
            <a:endParaRPr lang="en-US" sz="700" dirty="0"/>
          </a:p>
          <a:p>
            <a:pPr indent="0" marL="0">
              <a:buNone/>
            </a:pPr>
            <a:r>
              <a:rPr lang="en-US" sz="700" b="1" dirty="0">
                <a:solidFill>
                  <a:srgbClr val="D97A14"/>
                </a:solidFill>
                <a:latin typeface="Courier New" pitchFamily="34" charset="0"/>
                <a:ea typeface="Courier New" pitchFamily="34" charset="-122"/>
                <a:cs typeface="Courier New" pitchFamily="34" charset="-120"/>
              </a:rPr>
              <a:t>prints </a:t>
            </a:r>
            <a:r>
              <a:rPr lang="en-US" sz="700" dirty="0">
                <a:solidFill>
                  <a:srgbClr val="7EE787"/>
                </a:solidFill>
                <a:latin typeface="Courier New" pitchFamily="34" charset="0"/>
                <a:ea typeface="Courier New" pitchFamily="34" charset="-122"/>
                <a:cs typeface="Courier New" pitchFamily="34" charset="-120"/>
              </a:rPr>
              <a:t>200 POST /AlSweigartZPgxBQ42 b'Hello, world!'</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length 13 type None</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Title     Important: Read this!</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Tags      warning,neutral_face</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Priority  5</a:t>
            </a:r>
            <a:endParaRPr lang="en-US" sz="700" dirty="0"/>
          </a:p>
        </p:txBody>
      </p:sp>
      <p:sp>
        <p:nvSpPr>
          <p:cNvPr id="31" name="Text 29"/>
          <p:cNvSpPr txBox="1"/>
          <p:nvPr/>
        </p:nvSpPr>
        <p:spPr>
          <a:xfrm>
            <a:off x="4572000" y="3758184"/>
            <a:ext cx="4114800" cy="402336"/>
          </a:xfrm>
          <a:prstGeom prst="rect">
            <a:avLst/>
          </a:prstGeom>
          <a:noFill/>
          <a:ln/>
        </p:spPr>
        <p:txBody>
          <a:bodyPr wrap="square" lIns="0" tIns="0" rIns="0" bIns="0" rtlCol="0" anchor="t"/>
          <a:lstStyle/>
          <a:p>
            <a:pPr indent="0" marL="0">
              <a:buNone/>
            </a:pPr>
            <a:r>
              <a:rPr lang="en-US" sz="800" i="1" dirty="0">
                <a:solidFill>
                  <a:srgbClr val="6E655C"/>
                </a:solidFill>
                <a:latin typeface="Calibri" pitchFamily="34" charset="0"/>
                <a:ea typeface="Calibri" pitchFamily="34" charset="-122"/>
                <a:cs typeface="Calibri" pitchFamily="34" charset="-120"/>
              </a:rPr>
              <a:t>Stand-in for ntfy: a recorder on 127.0.0.1, a local stand-in; it is not ntfy and says nothing about ntfy.sh. Lines 1 to 25 (imports, the recorder and a comment) are not shown.</a:t>
            </a:r>
            <a:endParaRPr lang="en-US" sz="800" dirty="0"/>
          </a:p>
        </p:txBody>
      </p:sp>
      <p:sp>
        <p:nvSpPr>
          <p:cNvPr id="32" name="Text 30"/>
          <p:cNvSpPr txBox="1"/>
          <p:nvPr/>
        </p:nvSpPr>
        <p:spPr>
          <a:xfrm>
            <a:off x="4572000" y="4215384"/>
            <a:ext cx="4114800" cy="155448"/>
          </a:xfrm>
          <a:prstGeom prst="rect">
            <a:avLst/>
          </a:prstGeom>
          <a:noFill/>
          <a:ln/>
        </p:spPr>
        <p:txBody>
          <a:bodyPr wrap="square" lIns="0" tIns="0" rIns="0" bIns="0" rtlCol="0" anchor="t"/>
          <a:lstStyle/>
          <a:p>
            <a:pPr indent="0" marL="0">
              <a:buNone/>
            </a:pPr>
            <a:r>
              <a:rPr lang="en-US" sz="800" i="1" dirty="0">
                <a:solidFill>
                  <a:srgbClr val="6E655C"/>
                </a:solidFill>
                <a:latin typeface="Calibri" pitchFamily="34" charset="0"/>
                <a:ea typeface="Calibri" pitchFamily="34" charset="-122"/>
                <a:cs typeface="Calibri" pitchFamily="34" charset="-120"/>
              </a:rPr>
              <a:t>NOT EXECUTED: nothing was published to ntfy.sh, the ntfy app or any subscriber.</a:t>
            </a:r>
            <a:endParaRPr lang="en-US" sz="800" dirty="0"/>
          </a:p>
        </p:txBody>
      </p:sp>
      <p:sp>
        <p:nvSpPr>
          <p:cNvPr id="33" name="Shape 31"/>
          <p:cNvSpPr/>
          <p:nvPr/>
        </p:nvSpPr>
        <p:spPr>
          <a:xfrm>
            <a:off x="457200" y="4636008"/>
            <a:ext cx="91440" cy="310896"/>
          </a:xfrm>
          <a:prstGeom prst="rect">
            <a:avLst/>
          </a:prstGeom>
          <a:solidFill>
            <a:srgbClr val="D97A14"/>
          </a:solidFill>
          <a:ln w="12700">
            <a:solidFill>
              <a:srgbClr val="D97A14"/>
            </a:solidFill>
            <a:prstDash val="solid"/>
          </a:ln>
        </p:spPr>
      </p:sp>
      <p:sp>
        <p:nvSpPr>
          <p:cNvPr id="34" name="Text 3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post is a request; the headers carry the title, tags and priority.</a:t>
            </a:r>
            <a:endParaRPr lang="en-US" sz="1350" dirty="0"/>
          </a:p>
        </p:txBody>
      </p:sp>
      <p:sp>
        <p:nvSpPr>
          <p:cNvPr id="35" name="Text 3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18 / 26</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Headers, bytes and a refused post</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Turkish word in a header fails; a body is UTF-8; a 429 does not raise</a:t>
            </a:r>
            <a:endParaRPr lang="en-US" sz="1300" dirty="0"/>
          </a:p>
        </p:txBody>
      </p:sp>
      <p:sp>
        <p:nvSpPr>
          <p:cNvPr id="6" name="Text 4"/>
          <p:cNvSpPr txBox="1"/>
          <p:nvPr/>
        </p:nvSpPr>
        <p:spPr>
          <a:xfrm>
            <a:off x="457200" y="1143000"/>
            <a:ext cx="5266944"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program ntfyHdrCut_v1_0_0.py, lines 26 to 37 of 37</a:t>
            </a:r>
            <a:endParaRPr lang="en-US" sz="1000" dirty="0"/>
          </a:p>
        </p:txBody>
      </p:sp>
      <p:sp>
        <p:nvSpPr>
          <p:cNvPr id="7" name="Shape 5"/>
          <p:cNvSpPr/>
          <p:nvPr/>
        </p:nvSpPr>
        <p:spPr>
          <a:xfrm>
            <a:off x="457200" y="1417320"/>
            <a:ext cx="5266944" cy="2432304"/>
          </a:xfrm>
          <a:prstGeom prst="roundRect">
            <a:avLst>
              <a:gd name="adj" fmla="val 3759"/>
            </a:avLst>
          </a:prstGeom>
          <a:solidFill>
            <a:srgbClr val="23272E"/>
          </a:solidFill>
          <a:ln w="12700">
            <a:solidFill>
              <a:srgbClr val="23272E"/>
            </a:solidFill>
            <a:prstDash val="solid"/>
          </a:ln>
        </p:spPr>
      </p:sp>
      <p:sp>
        <p:nvSpPr>
          <p:cNvPr id="8" name="Text 6"/>
          <p:cNvSpPr txBox="1"/>
          <p:nvPr/>
        </p:nvSpPr>
        <p:spPr>
          <a:xfrm>
            <a:off x="640080" y="1536192"/>
            <a:ext cx="4901184" cy="2194560"/>
          </a:xfrm>
          <a:prstGeom prst="rect">
            <a:avLst/>
          </a:prstGeom>
          <a:noFill/>
          <a:ln/>
        </p:spPr>
        <p:txBody>
          <a:bodyPr wrap="square" lIns="0" tIns="0" rIns="0" bIns="0" rtlCol="0" anchor="t"/>
          <a:lstStyle/>
          <a:p>
            <a:pPr indent="0" marL="0">
              <a:buNone/>
            </a:pPr>
            <a:r>
              <a:rPr lang="en-US" sz="700" dirty="0">
                <a:solidFill>
                  <a:srgbClr val="E6EDF3"/>
                </a:solidFill>
                <a:latin typeface="Courier New" pitchFamily="34" charset="0"/>
                <a:ea typeface="Courier New" pitchFamily="34" charset="-122"/>
                <a:cs typeface="Courier New" pitchFamily="34" charset="-120"/>
              </a:rPr>
              <a:t>srv, log, base = recorder(</a:t>
            </a:r>
            <a:r>
              <a:rPr lang="en-US" sz="700" dirty="0">
                <a:solidFill>
                  <a:srgbClr val="FFD28A"/>
                </a:solidFill>
                <a:latin typeface="Courier New" pitchFamily="34" charset="0"/>
                <a:ea typeface="Courier New" pitchFamily="34" charset="-122"/>
                <a:cs typeface="Courier New" pitchFamily="34" charset="-120"/>
              </a:rPr>
              <a:t>200</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hd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'Priority'</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5</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'Title'</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'Yedekleme tamamlandı'</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try: requests.post(base + </a:t>
            </a:r>
            <a:r>
              <a:rPr lang="en-US" sz="700" dirty="0">
                <a:solidFill>
                  <a:srgbClr val="9ECBFF"/>
                </a:solidFill>
                <a:latin typeface="Courier New" pitchFamily="34" charset="0"/>
                <a:ea typeface="Courier New" pitchFamily="34" charset="-122"/>
                <a:cs typeface="Courier New" pitchFamily="34" charset="-120"/>
              </a:rPr>
              <a:t>'/t'</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'x'</a:t>
            </a:r>
            <a:r>
              <a:rPr lang="en-US" sz="700" dirty="0">
                <a:solidFill>
                  <a:srgbClr val="E6EDF3"/>
                </a:solidFill>
                <a:latin typeface="Courier New" pitchFamily="34" charset="0"/>
                <a:ea typeface="Courier New" pitchFamily="34" charset="-122"/>
                <a:cs typeface="Courier New" pitchFamily="34" charset="-120"/>
              </a:rPr>
              <a:t>, headers=hd)</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except Exception as e: print(hd, </a:t>
            </a:r>
            <a:r>
              <a:rPr lang="en-US" sz="700" dirty="0">
                <a:solidFill>
                  <a:srgbClr val="9ECBFF"/>
                </a:solidFill>
                <a:latin typeface="Courier New" pitchFamily="34" charset="0"/>
                <a:ea typeface="Courier New" pitchFamily="34" charset="-122"/>
                <a:cs typeface="Courier New" pitchFamily="34" charset="-120"/>
              </a:rPr>
              <a:t>'-&gt;'</a:t>
            </a:r>
            <a:r>
              <a:rPr lang="en-US" sz="700" dirty="0">
                <a:solidFill>
                  <a:srgbClr val="E6EDF3"/>
                </a:solidFill>
                <a:latin typeface="Courier New" pitchFamily="34" charset="0"/>
                <a:ea typeface="Courier New" pitchFamily="34" charset="-122"/>
                <a:cs typeface="Courier New" pitchFamily="34" charset="-120"/>
              </a:rPr>
              <a:t>, type(e).__name__)</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t = </a:t>
            </a:r>
            <a:r>
              <a:rPr lang="en-US" sz="700" dirty="0">
                <a:solidFill>
                  <a:srgbClr val="9ECBFF"/>
                </a:solidFill>
                <a:latin typeface="Courier New" pitchFamily="34" charset="0"/>
                <a:ea typeface="Courier New" pitchFamily="34" charset="-122"/>
                <a:cs typeface="Courier New" pitchFamily="34" charset="-120"/>
              </a:rPr>
              <a:t>'Yedekleme tamamlandı'</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requests.post(base + </a:t>
            </a:r>
            <a:r>
              <a:rPr lang="en-US" sz="700" dirty="0">
                <a:solidFill>
                  <a:srgbClr val="9ECBFF"/>
                </a:solidFill>
                <a:latin typeface="Courier New" pitchFamily="34" charset="0"/>
                <a:ea typeface="Courier New" pitchFamily="34" charset="-122"/>
                <a:cs typeface="Courier New" pitchFamily="34" charset="-120"/>
              </a:rPr>
              <a:t>'/t'</a:t>
            </a:r>
            <a:r>
              <a:rPr lang="en-US" sz="700" dirty="0">
                <a:solidFill>
                  <a:srgbClr val="E6EDF3"/>
                </a:solidFill>
                <a:latin typeface="Courier New" pitchFamily="34" charset="0"/>
                <a:ea typeface="Courier New" pitchFamily="34" charset="-122"/>
                <a:cs typeface="Courier New" pitchFamily="34" charset="-120"/>
              </a:rPr>
              <a:t>, t); b = log[-</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'wire:'</a:t>
            </a:r>
            <a:r>
              <a:rPr lang="en-US" sz="700" dirty="0">
                <a:solidFill>
                  <a:srgbClr val="E6EDF3"/>
                </a:solidFill>
                <a:latin typeface="Courier New" pitchFamily="34" charset="0"/>
                <a:ea typeface="Courier New" pitchFamily="34" charset="-122"/>
                <a:cs typeface="Courier New" pitchFamily="34" charset="-120"/>
              </a:rPr>
              <a:t>, b[</a:t>
            </a:r>
            <a:r>
              <a:rPr lang="en-US" sz="700" dirty="0">
                <a:solidFill>
                  <a:srgbClr val="9ECBFF"/>
                </a:solidFill>
                <a:latin typeface="Courier New" pitchFamily="34" charset="0"/>
                <a:ea typeface="Courier New" pitchFamily="34" charset="-122"/>
                <a:cs typeface="Courier New" pitchFamily="34" charset="-120"/>
              </a:rPr>
              <a:t>'body'</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 bytes'</a:t>
            </a:r>
            <a:r>
              <a:rPr lang="en-US" sz="700" dirty="0">
                <a:solidFill>
                  <a:srgbClr val="E6EDF3"/>
                </a:solidFill>
                <a:latin typeface="Courier New" pitchFamily="34" charset="0"/>
                <a:ea typeface="Courier New" pitchFamily="34" charset="-122"/>
                <a:cs typeface="Courier New" pitchFamily="34" charset="-120"/>
              </a:rPr>
              <a:t>, b[</a:t>
            </a:r>
            <a:r>
              <a:rPr lang="en-US" sz="700" dirty="0">
                <a:solidFill>
                  <a:srgbClr val="9ECBFF"/>
                </a:solidFill>
                <a:latin typeface="Courier New" pitchFamily="34" charset="0"/>
                <a:ea typeface="Courier New" pitchFamily="34" charset="-122"/>
                <a:cs typeface="Courier New" pitchFamily="34" charset="-120"/>
              </a:rPr>
              <a:t>'headers'</a:t>
            </a:r>
            <a:r>
              <a:rPr lang="en-US" sz="700" dirty="0">
                <a:solidFill>
                  <a:srgbClr val="E6EDF3"/>
                </a:solidFill>
                <a:latin typeface="Courier New" pitchFamily="34" charset="0"/>
                <a:ea typeface="Courier New" pitchFamily="34" charset="-122"/>
                <a:cs typeface="Courier New" pitchFamily="34" charset="-120"/>
              </a:rPr>
              <a:t>][</a:t>
            </a:r>
            <a:r>
              <a:rPr lang="en-US" sz="700" dirty="0">
                <a:solidFill>
                  <a:srgbClr val="9ECBFF"/>
                </a:solidFill>
                <a:latin typeface="Courier New" pitchFamily="34" charset="0"/>
                <a:ea typeface="Courier New" pitchFamily="34" charset="-122"/>
                <a:cs typeface="Courier New" pitchFamily="34" charset="-120"/>
              </a:rPr>
              <a:t>'Content-Length'</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 chars'</a:t>
            </a:r>
            <a:r>
              <a:rPr lang="en-US" sz="700" dirty="0">
                <a:solidFill>
                  <a:srgbClr val="E6EDF3"/>
                </a:solidFill>
                <a:latin typeface="Courier New" pitchFamily="34" charset="0"/>
                <a:ea typeface="Courier New" pitchFamily="34" charset="-122"/>
                <a:cs typeface="Courier New" pitchFamily="34" charset="-120"/>
              </a:rPr>
              <a:t>, len(t))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srv, log, base = recorder(</a:t>
            </a:r>
            <a:r>
              <a:rPr lang="en-US" sz="700" dirty="0">
                <a:solidFill>
                  <a:srgbClr val="FFD28A"/>
                </a:solidFill>
                <a:latin typeface="Courier New" pitchFamily="34" charset="0"/>
                <a:ea typeface="Courier New" pitchFamily="34" charset="-122"/>
                <a:cs typeface="Courier New" pitchFamily="34" charset="-120"/>
              </a:rPr>
              <a:t>429</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'{"code":42908,"http":429,"error":"limit reached"}'</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r = requests.post(base + </a:t>
            </a:r>
            <a:r>
              <a:rPr lang="en-US" sz="700" dirty="0">
                <a:solidFill>
                  <a:srgbClr val="9ECBFF"/>
                </a:solidFill>
                <a:latin typeface="Courier New" pitchFamily="34" charset="0"/>
                <a:ea typeface="Courier New" pitchFamily="34" charset="-122"/>
                <a:cs typeface="Courier New" pitchFamily="34" charset="-120"/>
              </a:rPr>
              <a:t>'/t'</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'Hello, world!'</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'refused post: ok'</a:t>
            </a:r>
            <a:r>
              <a:rPr lang="en-US" sz="700" dirty="0">
                <a:solidFill>
                  <a:srgbClr val="E6EDF3"/>
                </a:solidFill>
                <a:latin typeface="Courier New" pitchFamily="34" charset="0"/>
                <a:ea typeface="Courier New" pitchFamily="34" charset="-122"/>
                <a:cs typeface="Courier New" pitchFamily="34" charset="-120"/>
              </a:rPr>
              <a:t>, r.ok, </a:t>
            </a:r>
            <a:r>
              <a:rPr lang="en-US" sz="700" dirty="0">
                <a:solidFill>
                  <a:srgbClr val="9ECBFF"/>
                </a:solidFill>
                <a:latin typeface="Courier New" pitchFamily="34" charset="0"/>
                <a:ea typeface="Courier New" pitchFamily="34" charset="-122"/>
                <a:cs typeface="Courier New" pitchFamily="34" charset="-120"/>
              </a:rPr>
              <a:t>'| nothing raised'</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try: r.raise_for_status()</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except requests.HTTPError as e: print(</a:t>
            </a:r>
            <a:r>
              <a:rPr lang="en-US" sz="700" dirty="0">
                <a:solidFill>
                  <a:srgbClr val="9ECBFF"/>
                </a:solidFill>
                <a:latin typeface="Courier New" pitchFamily="34" charset="0"/>
                <a:ea typeface="Courier New" pitchFamily="34" charset="-122"/>
                <a:cs typeface="Courier New" pitchFamily="34" charset="-120"/>
              </a:rPr>
              <a:t>'raise_for_status -&gt;'</a:t>
            </a:r>
            <a:r>
              <a:rPr lang="en-US" sz="700" dirty="0">
                <a:solidFill>
                  <a:srgbClr val="E6EDF3"/>
                </a:solidFill>
                <a:latin typeface="Courier New" pitchFamily="34" charset="0"/>
                <a:ea typeface="Courier New" pitchFamily="34" charset="-122"/>
                <a:cs typeface="Courier New" pitchFamily="34" charset="-120"/>
              </a:rPr>
              <a:t>, type(e).__name__)</a:t>
            </a:r>
            <a:endParaRPr lang="en-US" sz="700" dirty="0"/>
          </a:p>
          <a:p>
            <a:pPr indent="0" marL="0">
              <a:buNone/>
            </a:pPr>
            <a:r>
              <a:rPr lang="en-US" sz="700" b="1" dirty="0">
                <a:solidFill>
                  <a:srgbClr val="D97A14"/>
                </a:solidFill>
                <a:latin typeface="Courier New" pitchFamily="34" charset="0"/>
                <a:ea typeface="Courier New" pitchFamily="34" charset="-122"/>
                <a:cs typeface="Courier New" pitchFamily="34" charset="-120"/>
              </a:rPr>
              <a:t>prints </a:t>
            </a:r>
            <a:r>
              <a:rPr lang="en-US" sz="700" dirty="0">
                <a:solidFill>
                  <a:srgbClr val="7EE787"/>
                </a:solidFill>
                <a:latin typeface="Courier New" pitchFamily="34" charset="0"/>
                <a:ea typeface="Courier New" pitchFamily="34" charset="-122"/>
                <a:cs typeface="Courier New" pitchFamily="34" charset="-120"/>
              </a:rPr>
              <a:t>{'Priority': 5} -&gt; InvalidHeader</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{'Title': 'Yedekleme tamamlandı'} -&gt; UnicodeEncodeError</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wire: b'Yedekleme tamamland\xc4\xb1' | bytes 21 | chars 20</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refused post: ok False | nothing raised</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raise_for_status -&gt; HTTPError</a:t>
            </a:r>
            <a:endParaRPr lang="en-US" sz="700" dirty="0"/>
          </a:p>
        </p:txBody>
      </p:sp>
      <p:sp>
        <p:nvSpPr>
          <p:cNvPr id="9" name="Shape 7"/>
          <p:cNvSpPr/>
          <p:nvPr/>
        </p:nvSpPr>
        <p:spPr>
          <a:xfrm>
            <a:off x="5952744" y="1371600"/>
            <a:ext cx="2734056" cy="1554480"/>
          </a:xfrm>
          <a:prstGeom prst="roundRect">
            <a:avLst>
              <a:gd name="adj" fmla="val 5882"/>
            </a:avLst>
          </a:prstGeom>
          <a:solidFill>
            <a:srgbClr val="F2ECE1"/>
          </a:solidFill>
          <a:ln w="12700">
            <a:solidFill>
              <a:srgbClr val="F2ECE1"/>
            </a:solidFill>
            <a:prstDash val="solid"/>
          </a:ln>
        </p:spPr>
      </p:sp>
      <p:sp>
        <p:nvSpPr>
          <p:cNvPr id="10" name="Text 8"/>
          <p:cNvSpPr txBox="1"/>
          <p:nvPr/>
        </p:nvSpPr>
        <p:spPr>
          <a:xfrm>
            <a:off x="6135624" y="1490472"/>
            <a:ext cx="2368296" cy="347472"/>
          </a:xfrm>
          <a:prstGeom prst="rect">
            <a:avLst/>
          </a:prstGeom>
          <a:noFill/>
          <a:ln/>
        </p:spPr>
        <p:txBody>
          <a:bodyPr wrap="square" lIns="0" tIns="0" rIns="0" bIns="0" rtlCol="0" anchor="ctr"/>
          <a:lstStyle/>
          <a:p>
            <a:pPr indent="0" marL="0">
              <a:buNone/>
            </a:pPr>
            <a:r>
              <a:rPr lang="en-US" sz="1600" b="1" dirty="0">
                <a:solidFill>
                  <a:srgbClr val="D97A14"/>
                </a:solidFill>
                <a:latin typeface="Cambria" pitchFamily="34" charset="0"/>
                <a:ea typeface="Cambria" pitchFamily="34" charset="-122"/>
                <a:cs typeface="Cambria" pitchFamily="34" charset="-120"/>
              </a:rPr>
              <a:t>A header is latin-1</a:t>
            </a:r>
            <a:endParaRPr lang="en-US" sz="1600" dirty="0"/>
          </a:p>
        </p:txBody>
      </p:sp>
      <p:sp>
        <p:nvSpPr>
          <p:cNvPr id="11" name="Text 9"/>
          <p:cNvSpPr txBox="1"/>
          <p:nvPr/>
        </p:nvSpPr>
        <p:spPr>
          <a:xfrm>
            <a:off x="6135624" y="1874520"/>
            <a:ext cx="2368296" cy="914400"/>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Requests encodes header values as latin-1, so a Title with the dotless i fails with UnicodeEncodeError, and the integer 5 for Priority with InvalidHeader.</a:t>
            </a:r>
            <a:endParaRPr lang="en-US" sz="950" dirty="0"/>
          </a:p>
        </p:txBody>
      </p:sp>
      <p:sp>
        <p:nvSpPr>
          <p:cNvPr id="12" name="Shape 10"/>
          <p:cNvSpPr/>
          <p:nvPr/>
        </p:nvSpPr>
        <p:spPr>
          <a:xfrm>
            <a:off x="5952744" y="3017520"/>
            <a:ext cx="2734056" cy="1463040"/>
          </a:xfrm>
          <a:prstGeom prst="roundRect">
            <a:avLst>
              <a:gd name="adj" fmla="val 6250"/>
            </a:avLst>
          </a:prstGeom>
          <a:solidFill>
            <a:srgbClr val="F2ECE1"/>
          </a:solidFill>
          <a:ln w="12700">
            <a:solidFill>
              <a:srgbClr val="F2ECE1"/>
            </a:solidFill>
            <a:prstDash val="solid"/>
          </a:ln>
        </p:spPr>
      </p:sp>
      <p:sp>
        <p:nvSpPr>
          <p:cNvPr id="13" name="Text 11"/>
          <p:cNvSpPr txBox="1"/>
          <p:nvPr/>
        </p:nvSpPr>
        <p:spPr>
          <a:xfrm>
            <a:off x="6135624" y="3136392"/>
            <a:ext cx="2368296" cy="347472"/>
          </a:xfrm>
          <a:prstGeom prst="rect">
            <a:avLst/>
          </a:prstGeom>
          <a:noFill/>
          <a:ln/>
        </p:spPr>
        <p:txBody>
          <a:bodyPr wrap="square" lIns="0" tIns="0" rIns="0" bIns="0" rtlCol="0" anchor="ctr"/>
          <a:lstStyle/>
          <a:p>
            <a:pPr indent="0" marL="0">
              <a:buNone/>
            </a:pPr>
            <a:r>
              <a:rPr lang="en-US" sz="1600" b="1" dirty="0">
                <a:solidFill>
                  <a:srgbClr val="2F6D62"/>
                </a:solidFill>
                <a:latin typeface="Cambria" pitchFamily="34" charset="0"/>
                <a:ea typeface="Cambria" pitchFamily="34" charset="-122"/>
                <a:cs typeface="Cambria" pitchFamily="34" charset="-120"/>
              </a:rPr>
              <a:t>Recorded, pinned</a:t>
            </a:r>
            <a:endParaRPr lang="en-US" sz="1600" dirty="0"/>
          </a:p>
        </p:txBody>
      </p:sp>
      <p:sp>
        <p:nvSpPr>
          <p:cNvPr id="14" name="Text 12"/>
          <p:cNvSpPr txBox="1"/>
          <p:nvPr/>
        </p:nvSpPr>
        <p:spPr>
          <a:xfrm>
            <a:off x="6135624" y="3520440"/>
            <a:ext cx="2368296" cy="822960"/>
          </a:xfrm>
          <a:prstGeom prst="rect">
            <a:avLst/>
          </a:prstGeom>
          <a:noFill/>
          <a:ln/>
        </p:spPr>
        <p:txBody>
          <a:bodyPr wrap="square" lIns="0" tIns="0" rIns="0" bIns="0" rtlCol="0" anchor="t"/>
          <a:lstStyle/>
          <a:p>
            <a:pPr indent="0" marL="0">
              <a:buNone/>
            </a:pPr>
            <a:r>
              <a:rPr lang="en-US" sz="900" dirty="0">
                <a:solidFill>
                  <a:srgbClr val="2B2622"/>
                </a:solidFill>
                <a:latin typeface="Calibri" pitchFamily="34" charset="0"/>
                <a:ea typeface="Calibri" pitchFamily="34" charset="-122"/>
                <a:cs typeface="Calibri" pitchFamily="34" charset="-120"/>
              </a:rPr>
              <a:t>Appendix A pins requests 2.32.3. In that environment: requests 2.32.3, ezgmail 2026.4.28; Priority 5 gives InvalidHeader.</a:t>
            </a:r>
            <a:endParaRPr lang="en-US" sz="900" dirty="0"/>
          </a:p>
        </p:txBody>
      </p:sp>
      <p:sp>
        <p:nvSpPr>
          <p:cNvPr id="15" name="Text 13"/>
          <p:cNvSpPr txBox="1"/>
          <p:nvPr/>
        </p:nvSpPr>
        <p:spPr>
          <a:xfrm>
            <a:off x="457200" y="3904488"/>
            <a:ext cx="5266944" cy="301752"/>
          </a:xfrm>
          <a:prstGeom prst="rect">
            <a:avLst/>
          </a:prstGeom>
          <a:noFill/>
          <a:ln/>
        </p:spPr>
        <p:txBody>
          <a:bodyPr wrap="square" lIns="0" tIns="0" rIns="0" bIns="0" rtlCol="0" anchor="t"/>
          <a:lstStyle/>
          <a:p>
            <a:pPr indent="0" marL="0">
              <a:buNone/>
            </a:pPr>
            <a:r>
              <a:rPr lang="en-US" sz="850" i="1" dirty="0">
                <a:solidFill>
                  <a:srgbClr val="6E655C"/>
                </a:solidFill>
                <a:latin typeface="Calibri" pitchFamily="34" charset="0"/>
                <a:ea typeface="Calibri" pitchFamily="34" charset="-122"/>
                <a:cs typeface="Calibri" pitchFamily="34" charset="-120"/>
              </a:rPr>
              <a:t>Stand-in for ntfy: a recorder on 127.0.0.1, a local stand-in; it is not ntfy and says nothing about ntfy.sh. Lines 1 to 25 (imports, the recorder and a comment) are not shown.</a:t>
            </a:r>
            <a:endParaRPr lang="en-US" sz="850" dirty="0"/>
          </a:p>
        </p:txBody>
      </p:sp>
      <p:sp>
        <p:nvSpPr>
          <p:cNvPr id="16" name="Shape 14"/>
          <p:cNvSpPr/>
          <p:nvPr/>
        </p:nvSpPr>
        <p:spPr>
          <a:xfrm>
            <a:off x="457200" y="4636008"/>
            <a:ext cx="91440" cy="310896"/>
          </a:xfrm>
          <a:prstGeom prst="rect">
            <a:avLst/>
          </a:prstGeom>
          <a:solidFill>
            <a:srgbClr val="D97A14"/>
          </a:solidFill>
          <a:ln w="12700">
            <a:solidFill>
              <a:srgbClr val="D97A14"/>
            </a:solidFill>
            <a:prstDash val="solid"/>
          </a:ln>
        </p:spPr>
      </p:sp>
      <p:sp>
        <p:nvSpPr>
          <p:cNvPr id="17" name="Text 1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Send bytes you can name: a UTF-8 body and latin-1 headers.</a:t>
            </a:r>
            <a:endParaRPr lang="en-US" sz="1350" dirty="0"/>
          </a:p>
        </p:txBody>
      </p:sp>
      <p:sp>
        <p:nvSpPr>
          <p:cNvPr id="18"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19 / 26</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Receiving: poll, lines and JSON</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poll answer is one JSON object on each line; json.loads of the whole text fails</a:t>
            </a:r>
            <a:endParaRPr lang="en-US" sz="1300" dirty="0"/>
          </a:p>
        </p:txBody>
      </p:sp>
      <p:sp>
        <p:nvSpPr>
          <p:cNvPr id="6" name="Shape 4"/>
          <p:cNvSpPr/>
          <p:nvPr/>
        </p:nvSpPr>
        <p:spPr>
          <a:xfrm>
            <a:off x="457200" y="1295705"/>
            <a:ext cx="2011680" cy="457200"/>
          </a:xfrm>
          <a:prstGeom prst="roundRect">
            <a:avLst>
              <a:gd name="adj" fmla="val 16000"/>
            </a:avLst>
          </a:prstGeom>
          <a:solidFill>
            <a:srgbClr val="F2ECE1"/>
          </a:solidFill>
          <a:ln w="15875">
            <a:solidFill>
              <a:srgbClr val="2F6D62"/>
            </a:solidFill>
            <a:prstDash val="solid"/>
          </a:ln>
        </p:spPr>
      </p:sp>
      <p:sp>
        <p:nvSpPr>
          <p:cNvPr id="7" name="Text 5"/>
          <p:cNvSpPr txBox="1"/>
          <p:nvPr/>
        </p:nvSpPr>
        <p:spPr>
          <a:xfrm>
            <a:off x="521208" y="1391717"/>
            <a:ext cx="1883664" cy="264262"/>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Call requests.get() with the topic URL that ends in /json?poll=1</a:t>
            </a:r>
            <a:endParaRPr lang="en-US" sz="800" dirty="0"/>
          </a:p>
        </p:txBody>
      </p:sp>
      <p:sp>
        <p:nvSpPr>
          <p:cNvPr id="8" name="Shape 6"/>
          <p:cNvSpPr/>
          <p:nvPr/>
        </p:nvSpPr>
        <p:spPr>
          <a:xfrm>
            <a:off x="457200" y="1783080"/>
            <a:ext cx="2011680" cy="457200"/>
          </a:xfrm>
          <a:prstGeom prst="roundRect">
            <a:avLst>
              <a:gd name="adj" fmla="val 16000"/>
            </a:avLst>
          </a:prstGeom>
          <a:solidFill>
            <a:srgbClr val="F2ECE1"/>
          </a:solidFill>
          <a:ln w="15875">
            <a:solidFill>
              <a:srgbClr val="2F6D62"/>
            </a:solidFill>
            <a:prstDash val="solid"/>
          </a:ln>
        </p:spPr>
      </p:sp>
      <p:sp>
        <p:nvSpPr>
          <p:cNvPr id="9" name="Text 7"/>
          <p:cNvSpPr txBox="1"/>
          <p:nvPr/>
        </p:nvSpPr>
        <p:spPr>
          <a:xfrm>
            <a:off x="521208" y="1880006"/>
            <a:ext cx="1883664" cy="264262"/>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Add since to get the messages of the last minutes</a:t>
            </a:r>
            <a:endParaRPr lang="en-US" sz="800" dirty="0"/>
          </a:p>
        </p:txBody>
      </p:sp>
      <p:sp>
        <p:nvSpPr>
          <p:cNvPr id="10" name="Shape 8"/>
          <p:cNvSpPr/>
          <p:nvPr/>
        </p:nvSpPr>
        <p:spPr>
          <a:xfrm>
            <a:off x="457200" y="2270455"/>
            <a:ext cx="2011680" cy="457200"/>
          </a:xfrm>
          <a:prstGeom prst="roundRect">
            <a:avLst>
              <a:gd name="adj" fmla="val 16000"/>
            </a:avLst>
          </a:prstGeom>
          <a:solidFill>
            <a:srgbClr val="F2ECE1"/>
          </a:solidFill>
          <a:ln w="15875">
            <a:solidFill>
              <a:srgbClr val="2F6D62"/>
            </a:solidFill>
            <a:prstDash val="solid"/>
          </a:ln>
        </p:spPr>
      </p:sp>
      <p:sp>
        <p:nvSpPr>
          <p:cNvPr id="11" name="Text 9"/>
          <p:cNvSpPr txBox="1"/>
          <p:nvPr/>
        </p:nvSpPr>
        <p:spPr>
          <a:xfrm>
            <a:off x="521208" y="2367382"/>
            <a:ext cx="1883664" cy="264262"/>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Split the text of the answer into lines with splitlines()</a:t>
            </a:r>
            <a:endParaRPr lang="en-US" sz="800" dirty="0"/>
          </a:p>
        </p:txBody>
      </p:sp>
      <p:sp>
        <p:nvSpPr>
          <p:cNvPr id="12" name="Shape 10"/>
          <p:cNvSpPr/>
          <p:nvPr/>
        </p:nvSpPr>
        <p:spPr>
          <a:xfrm>
            <a:off x="457200" y="2758745"/>
            <a:ext cx="2011680" cy="457200"/>
          </a:xfrm>
          <a:prstGeom prst="roundRect">
            <a:avLst>
              <a:gd name="adj" fmla="val 16000"/>
            </a:avLst>
          </a:prstGeom>
          <a:solidFill>
            <a:srgbClr val="F2ECE1"/>
          </a:solidFill>
          <a:ln w="15875">
            <a:solidFill>
              <a:srgbClr val="2F6D62"/>
            </a:solidFill>
            <a:prstDash val="solid"/>
          </a:ln>
        </p:spPr>
      </p:sp>
      <p:sp>
        <p:nvSpPr>
          <p:cNvPr id="13" name="Text 11"/>
          <p:cNvSpPr txBox="1"/>
          <p:nvPr/>
        </p:nvSpPr>
        <p:spPr>
          <a:xfrm>
            <a:off x="521208" y="2916022"/>
            <a:ext cx="1883664" cy="140818"/>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Parse each line with json.loads()</a:t>
            </a:r>
            <a:endParaRPr lang="en-US" sz="800" dirty="0"/>
          </a:p>
        </p:txBody>
      </p:sp>
      <p:sp>
        <p:nvSpPr>
          <p:cNvPr id="14" name="Shape 12"/>
          <p:cNvSpPr/>
          <p:nvPr/>
        </p:nvSpPr>
        <p:spPr>
          <a:xfrm>
            <a:off x="457200" y="3246120"/>
            <a:ext cx="2011680" cy="457200"/>
          </a:xfrm>
          <a:prstGeom prst="hexagon">
            <a:avLst/>
          </a:prstGeom>
          <a:solidFill>
            <a:srgbClr val="D97A14"/>
          </a:solidFill>
          <a:ln w="15875">
            <a:solidFill>
              <a:srgbClr val="D97A14"/>
            </a:solidFill>
            <a:prstDash val="solid"/>
          </a:ln>
        </p:spPr>
      </p:sp>
      <p:sp>
        <p:nvSpPr>
          <p:cNvPr id="15" name="Text 13"/>
          <p:cNvSpPr txBox="1"/>
          <p:nvPr/>
        </p:nvSpPr>
        <p:spPr>
          <a:xfrm>
            <a:off x="612648" y="3404311"/>
            <a:ext cx="1700784" cy="14081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Is the event a message?</a:t>
            </a:r>
            <a:endParaRPr lang="en-US" sz="800" dirty="0"/>
          </a:p>
        </p:txBody>
      </p:sp>
      <p:sp>
        <p:nvSpPr>
          <p:cNvPr id="16" name="Shape 14"/>
          <p:cNvSpPr/>
          <p:nvPr/>
        </p:nvSpPr>
        <p:spPr>
          <a:xfrm>
            <a:off x="457200" y="3733495"/>
            <a:ext cx="2011680" cy="457200"/>
          </a:xfrm>
          <a:prstGeom prst="roundRect">
            <a:avLst>
              <a:gd name="adj" fmla="val 16000"/>
            </a:avLst>
          </a:prstGeom>
          <a:solidFill>
            <a:srgbClr val="F2ECE1"/>
          </a:solidFill>
          <a:ln w="15875">
            <a:solidFill>
              <a:srgbClr val="2F6D62"/>
            </a:solidFill>
            <a:prstDash val="solid"/>
          </a:ln>
        </p:spPr>
      </p:sp>
      <p:sp>
        <p:nvSpPr>
          <p:cNvPr id="17" name="Text 15"/>
          <p:cNvSpPr txBox="1"/>
          <p:nvPr/>
        </p:nvSpPr>
        <p:spPr>
          <a:xfrm>
            <a:off x="521208" y="3830422"/>
            <a:ext cx="1883664" cy="264262"/>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Wait a minute, then the program polls again</a:t>
            </a:r>
            <a:endParaRPr lang="en-US" sz="800" dirty="0"/>
          </a:p>
        </p:txBody>
      </p:sp>
      <p:sp>
        <p:nvSpPr>
          <p:cNvPr id="18" name="Shape 16"/>
          <p:cNvSpPr/>
          <p:nvPr/>
        </p:nvSpPr>
        <p:spPr>
          <a:xfrm>
            <a:off x="2788920" y="3246120"/>
            <a:ext cx="1417320" cy="457200"/>
          </a:xfrm>
          <a:prstGeom prst="roundRect">
            <a:avLst>
              <a:gd name="adj" fmla="val 16000"/>
            </a:avLst>
          </a:prstGeom>
          <a:solidFill>
            <a:srgbClr val="F2ECE1"/>
          </a:solidFill>
          <a:ln w="15875">
            <a:solidFill>
              <a:srgbClr val="2F6D62"/>
            </a:solidFill>
            <a:prstDash val="solid"/>
          </a:ln>
        </p:spPr>
      </p:sp>
      <p:sp>
        <p:nvSpPr>
          <p:cNvPr id="19" name="Text 17"/>
          <p:cNvSpPr txBox="1"/>
          <p:nvPr/>
        </p:nvSpPr>
        <p:spPr>
          <a:xfrm>
            <a:off x="2852928" y="3280867"/>
            <a:ext cx="1289304" cy="386791"/>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Read the message, the title, the priority and the tags</a:t>
            </a:r>
            <a:endParaRPr lang="en-US" sz="800" dirty="0"/>
          </a:p>
        </p:txBody>
      </p:sp>
      <p:sp>
        <p:nvSpPr>
          <p:cNvPr id="20" name="Shape 18"/>
          <p:cNvSpPr/>
          <p:nvPr/>
        </p:nvSpPr>
        <p:spPr>
          <a:xfrm>
            <a:off x="3406140" y="1432865"/>
            <a:ext cx="182880" cy="182880"/>
          </a:xfrm>
          <a:prstGeom prst="ellipse">
            <a:avLst/>
          </a:prstGeom>
          <a:solidFill>
            <a:srgbClr val="2B2622"/>
          </a:solidFill>
          <a:ln w="15875">
            <a:solidFill>
              <a:srgbClr val="2B2622"/>
            </a:solidFill>
            <a:prstDash val="solid"/>
          </a:ln>
        </p:spPr>
      </p:sp>
      <p:sp>
        <p:nvSpPr>
          <p:cNvPr id="21" name="Shape 19"/>
          <p:cNvSpPr/>
          <p:nvPr/>
        </p:nvSpPr>
        <p:spPr>
          <a:xfrm>
            <a:off x="3369564" y="3834079"/>
            <a:ext cx="256032" cy="256032"/>
          </a:xfrm>
          <a:prstGeom prst="ellipse">
            <a:avLst/>
          </a:prstGeom>
          <a:solidFill>
            <a:srgbClr val="FFFFFF"/>
          </a:solidFill>
          <a:ln w="25400">
            <a:solidFill>
              <a:srgbClr val="2B2622"/>
            </a:solidFill>
            <a:prstDash val="solid"/>
          </a:ln>
        </p:spPr>
      </p:sp>
      <p:sp>
        <p:nvSpPr>
          <p:cNvPr id="22" name="Shape 20"/>
          <p:cNvSpPr/>
          <p:nvPr/>
        </p:nvSpPr>
        <p:spPr>
          <a:xfrm>
            <a:off x="3424428" y="3888943"/>
            <a:ext cx="146304" cy="146304"/>
          </a:xfrm>
          <a:prstGeom prst="ellipse">
            <a:avLst/>
          </a:prstGeom>
          <a:solidFill>
            <a:srgbClr val="2B2622"/>
          </a:solidFill>
          <a:ln w="15875">
            <a:solidFill>
              <a:srgbClr val="2B2622"/>
            </a:solidFill>
            <a:prstDash val="solid"/>
          </a:ln>
        </p:spPr>
      </p:sp>
      <p:sp>
        <p:nvSpPr>
          <p:cNvPr id="23" name="Shape 21"/>
          <p:cNvSpPr/>
          <p:nvPr/>
        </p:nvSpPr>
        <p:spPr>
          <a:xfrm flipH="1">
            <a:off x="2468880" y="1524305"/>
            <a:ext cx="937260" cy="0"/>
          </a:xfrm>
          <a:prstGeom prst="line">
            <a:avLst/>
          </a:prstGeom>
          <a:noFill/>
          <a:ln w="15875">
            <a:solidFill>
              <a:srgbClr val="6E655C"/>
            </a:solidFill>
            <a:prstDash val="solid"/>
            <a:tailEnd type="triangle"/>
          </a:ln>
        </p:spPr>
      </p:sp>
      <p:sp>
        <p:nvSpPr>
          <p:cNvPr id="24" name="Shape 22"/>
          <p:cNvSpPr/>
          <p:nvPr/>
        </p:nvSpPr>
        <p:spPr>
          <a:xfrm>
            <a:off x="1463040" y="1752905"/>
            <a:ext cx="0" cy="30175"/>
          </a:xfrm>
          <a:prstGeom prst="line">
            <a:avLst/>
          </a:prstGeom>
          <a:noFill/>
          <a:ln w="15875">
            <a:solidFill>
              <a:srgbClr val="6E655C"/>
            </a:solidFill>
            <a:prstDash val="solid"/>
            <a:tailEnd type="triangle"/>
          </a:ln>
        </p:spPr>
      </p:sp>
      <p:sp>
        <p:nvSpPr>
          <p:cNvPr id="25" name="Shape 23"/>
          <p:cNvSpPr/>
          <p:nvPr/>
        </p:nvSpPr>
        <p:spPr>
          <a:xfrm>
            <a:off x="1463040" y="2240280"/>
            <a:ext cx="0" cy="30175"/>
          </a:xfrm>
          <a:prstGeom prst="line">
            <a:avLst/>
          </a:prstGeom>
          <a:noFill/>
          <a:ln w="15875">
            <a:solidFill>
              <a:srgbClr val="6E655C"/>
            </a:solidFill>
            <a:prstDash val="solid"/>
            <a:tailEnd type="triangle"/>
          </a:ln>
        </p:spPr>
      </p:sp>
      <p:sp>
        <p:nvSpPr>
          <p:cNvPr id="26" name="Shape 24"/>
          <p:cNvSpPr/>
          <p:nvPr/>
        </p:nvSpPr>
        <p:spPr>
          <a:xfrm>
            <a:off x="1463040" y="2727655"/>
            <a:ext cx="0" cy="31090"/>
          </a:xfrm>
          <a:prstGeom prst="line">
            <a:avLst/>
          </a:prstGeom>
          <a:noFill/>
          <a:ln w="15875">
            <a:solidFill>
              <a:srgbClr val="6E655C"/>
            </a:solidFill>
            <a:prstDash val="solid"/>
            <a:tailEnd type="triangle"/>
          </a:ln>
        </p:spPr>
      </p:sp>
      <p:sp>
        <p:nvSpPr>
          <p:cNvPr id="27" name="Shape 25"/>
          <p:cNvSpPr/>
          <p:nvPr/>
        </p:nvSpPr>
        <p:spPr>
          <a:xfrm>
            <a:off x="1463040" y="3215945"/>
            <a:ext cx="0" cy="30175"/>
          </a:xfrm>
          <a:prstGeom prst="line">
            <a:avLst/>
          </a:prstGeom>
          <a:noFill/>
          <a:ln w="15875">
            <a:solidFill>
              <a:srgbClr val="6E655C"/>
            </a:solidFill>
            <a:prstDash val="solid"/>
            <a:tailEnd type="triangle"/>
          </a:ln>
        </p:spPr>
      </p:sp>
      <p:sp>
        <p:nvSpPr>
          <p:cNvPr id="28" name="Shape 26"/>
          <p:cNvSpPr/>
          <p:nvPr/>
        </p:nvSpPr>
        <p:spPr>
          <a:xfrm>
            <a:off x="2468880" y="3474720"/>
            <a:ext cx="320040" cy="0"/>
          </a:xfrm>
          <a:prstGeom prst="line">
            <a:avLst/>
          </a:prstGeom>
          <a:noFill/>
          <a:ln w="15875">
            <a:solidFill>
              <a:srgbClr val="6E655C"/>
            </a:solidFill>
            <a:prstDash val="solid"/>
            <a:tailEnd type="triangle"/>
          </a:ln>
        </p:spPr>
      </p:sp>
      <p:sp>
        <p:nvSpPr>
          <p:cNvPr id="29" name="Text 27"/>
          <p:cNvSpPr txBox="1"/>
          <p:nvPr/>
        </p:nvSpPr>
        <p:spPr>
          <a:xfrm>
            <a:off x="2514600" y="3291840"/>
            <a:ext cx="310896" cy="164592"/>
          </a:xfrm>
          <a:prstGeom prst="rect">
            <a:avLst/>
          </a:prstGeom>
          <a:solidFill>
            <a:srgbClr val="FAF6EF"/>
          </a:solidFill>
          <a:ln/>
        </p:spPr>
        <p:txBody>
          <a:bodyPr wrap="square" lIns="0" tIns="0" rIns="0" bIns="0" rtlCol="0" anchor="ctr"/>
          <a:lstStyle/>
          <a:p>
            <a:pPr algn="l" indent="0" marL="0">
              <a:buNone/>
            </a:pPr>
            <a:r>
              <a:rPr lang="en-US" sz="800" i="1" dirty="0">
                <a:solidFill>
                  <a:srgbClr val="6E655C"/>
                </a:solidFill>
                <a:latin typeface="Calibri" pitchFamily="34" charset="0"/>
                <a:ea typeface="Calibri" pitchFamily="34" charset="-122"/>
                <a:cs typeface="Calibri" pitchFamily="34" charset="-120"/>
              </a:rPr>
              <a:t>yes</a:t>
            </a:r>
            <a:endParaRPr lang="en-US" sz="800" dirty="0"/>
          </a:p>
        </p:txBody>
      </p:sp>
      <p:sp>
        <p:nvSpPr>
          <p:cNvPr id="30" name="Shape 28"/>
          <p:cNvSpPr/>
          <p:nvPr/>
        </p:nvSpPr>
        <p:spPr>
          <a:xfrm>
            <a:off x="1463040" y="3703320"/>
            <a:ext cx="0" cy="30175"/>
          </a:xfrm>
          <a:prstGeom prst="line">
            <a:avLst/>
          </a:prstGeom>
          <a:noFill/>
          <a:ln w="15875">
            <a:solidFill>
              <a:srgbClr val="6E655C"/>
            </a:solidFill>
            <a:prstDash val="solid"/>
            <a:tailEnd type="triangle"/>
          </a:ln>
        </p:spPr>
      </p:sp>
      <p:sp>
        <p:nvSpPr>
          <p:cNvPr id="31" name="Text 29"/>
          <p:cNvSpPr txBox="1"/>
          <p:nvPr/>
        </p:nvSpPr>
        <p:spPr>
          <a:xfrm>
            <a:off x="1517904" y="3636569"/>
            <a:ext cx="310896" cy="164592"/>
          </a:xfrm>
          <a:prstGeom prst="rect">
            <a:avLst/>
          </a:prstGeom>
          <a:solidFill>
            <a:srgbClr val="FAF6EF"/>
          </a:solidFill>
          <a:ln/>
        </p:spPr>
        <p:txBody>
          <a:bodyPr wrap="square" lIns="0" tIns="0" rIns="0" bIns="0" rtlCol="0" anchor="ctr"/>
          <a:lstStyle/>
          <a:p>
            <a:pPr algn="l" indent="0" marL="0">
              <a:buNone/>
            </a:pPr>
            <a:r>
              <a:rPr lang="en-US" sz="800" i="1" dirty="0">
                <a:solidFill>
                  <a:srgbClr val="6E655C"/>
                </a:solidFill>
                <a:latin typeface="Calibri" pitchFamily="34" charset="0"/>
                <a:ea typeface="Calibri" pitchFamily="34" charset="-122"/>
                <a:cs typeface="Calibri" pitchFamily="34" charset="-120"/>
              </a:rPr>
              <a:t>no</a:t>
            </a:r>
            <a:endParaRPr lang="en-US" sz="800" dirty="0"/>
          </a:p>
        </p:txBody>
      </p:sp>
      <p:sp>
        <p:nvSpPr>
          <p:cNvPr id="32" name="Shape 30"/>
          <p:cNvSpPr/>
          <p:nvPr/>
        </p:nvSpPr>
        <p:spPr>
          <a:xfrm>
            <a:off x="3497580" y="3703320"/>
            <a:ext cx="0" cy="258775"/>
          </a:xfrm>
          <a:prstGeom prst="line">
            <a:avLst/>
          </a:prstGeom>
          <a:noFill/>
          <a:ln w="15875">
            <a:solidFill>
              <a:srgbClr val="6E655C"/>
            </a:solidFill>
            <a:prstDash val="solid"/>
          </a:ln>
        </p:spPr>
      </p:sp>
      <p:sp>
        <p:nvSpPr>
          <p:cNvPr id="33" name="Shape 31"/>
          <p:cNvSpPr/>
          <p:nvPr/>
        </p:nvSpPr>
        <p:spPr>
          <a:xfrm flipH="1">
            <a:off x="2468880" y="3962095"/>
            <a:ext cx="1028700" cy="0"/>
          </a:xfrm>
          <a:prstGeom prst="line">
            <a:avLst/>
          </a:prstGeom>
          <a:noFill/>
          <a:ln w="15875">
            <a:solidFill>
              <a:srgbClr val="6E655C"/>
            </a:solidFill>
            <a:prstDash val="solid"/>
            <a:tailEnd type="triangle"/>
          </a:ln>
        </p:spPr>
      </p:sp>
      <p:sp>
        <p:nvSpPr>
          <p:cNvPr id="34" name="Shape 32"/>
          <p:cNvSpPr/>
          <p:nvPr/>
        </p:nvSpPr>
        <p:spPr>
          <a:xfrm flipH="1">
            <a:off x="256032" y="3962095"/>
            <a:ext cx="201168" cy="0"/>
          </a:xfrm>
          <a:prstGeom prst="line">
            <a:avLst/>
          </a:prstGeom>
          <a:noFill/>
          <a:ln w="15875">
            <a:solidFill>
              <a:srgbClr val="6E655C"/>
            </a:solidFill>
            <a:prstDash val="solid"/>
          </a:ln>
        </p:spPr>
      </p:sp>
      <p:sp>
        <p:nvSpPr>
          <p:cNvPr id="35" name="Shape 33"/>
          <p:cNvSpPr/>
          <p:nvPr/>
        </p:nvSpPr>
        <p:spPr>
          <a:xfrm flipV="1">
            <a:off x="256032" y="1524305"/>
            <a:ext cx="0" cy="2437790"/>
          </a:xfrm>
          <a:prstGeom prst="line">
            <a:avLst/>
          </a:prstGeom>
          <a:noFill/>
          <a:ln w="15875">
            <a:solidFill>
              <a:srgbClr val="6E655C"/>
            </a:solidFill>
            <a:prstDash val="solid"/>
          </a:ln>
        </p:spPr>
      </p:sp>
      <p:sp>
        <p:nvSpPr>
          <p:cNvPr id="36" name="Shape 34"/>
          <p:cNvSpPr/>
          <p:nvPr/>
        </p:nvSpPr>
        <p:spPr>
          <a:xfrm>
            <a:off x="256032" y="1524305"/>
            <a:ext cx="201168" cy="0"/>
          </a:xfrm>
          <a:prstGeom prst="line">
            <a:avLst/>
          </a:prstGeom>
          <a:noFill/>
          <a:ln w="15875">
            <a:solidFill>
              <a:srgbClr val="6E655C"/>
            </a:solidFill>
            <a:prstDash val="solid"/>
            <a:tailEnd type="triangle"/>
          </a:ln>
        </p:spPr>
      </p:sp>
      <p:sp>
        <p:nvSpPr>
          <p:cNvPr id="37" name="Shape 35"/>
          <p:cNvSpPr/>
          <p:nvPr/>
        </p:nvSpPr>
        <p:spPr>
          <a:xfrm>
            <a:off x="2468880" y="3962095"/>
            <a:ext cx="900684" cy="0"/>
          </a:xfrm>
          <a:prstGeom prst="line">
            <a:avLst/>
          </a:prstGeom>
          <a:noFill/>
          <a:ln w="15875">
            <a:solidFill>
              <a:srgbClr val="6E655C"/>
            </a:solidFill>
            <a:prstDash val="solid"/>
            <a:tailEnd type="triangle"/>
          </a:ln>
        </p:spPr>
      </p:sp>
      <p:sp>
        <p:nvSpPr>
          <p:cNvPr id="38" name="Text 36"/>
          <p:cNvSpPr txBox="1"/>
          <p:nvPr/>
        </p:nvSpPr>
        <p:spPr>
          <a:xfrm>
            <a:off x="457200" y="4233672"/>
            <a:ext cx="3749040" cy="301752"/>
          </a:xfrm>
          <a:prstGeom prst="rect">
            <a:avLst/>
          </a:prstGeom>
          <a:noFill/>
          <a:ln/>
        </p:spPr>
        <p:txBody>
          <a:bodyPr wrap="square" lIns="0" tIns="0" rIns="0" bIns="0" rtlCol="0" anchor="t"/>
          <a:lstStyle/>
          <a:p>
            <a:pPr indent="0" marL="0">
              <a:buNone/>
            </a:pPr>
            <a:r>
              <a:rPr lang="en-US" sz="850" i="1" dirty="0">
                <a:solidFill>
                  <a:srgbClr val="6E655C"/>
                </a:solidFill>
                <a:latin typeface="Calibri" pitchFamily="34" charset="0"/>
                <a:ea typeface="Calibri" pitchFamily="34" charset="-122"/>
                <a:cs typeface="Calibri" pitchFamily="34" charset="-120"/>
              </a:rPr>
              <a:t>diagram ReadingMessagesFromANtfyTopic - Workflow pattern, 35 of 37 words grounded in the chapter's text</a:t>
            </a:r>
            <a:endParaRPr lang="en-US" sz="850" dirty="0"/>
          </a:p>
        </p:txBody>
      </p:sp>
      <p:sp>
        <p:nvSpPr>
          <p:cNvPr id="39" name="Text 37"/>
          <p:cNvSpPr txBox="1"/>
          <p:nvPr/>
        </p:nvSpPr>
        <p:spPr>
          <a:xfrm>
            <a:off x="4343400" y="1143000"/>
            <a:ext cx="4142232"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program ntfyPollCut_v1_0_0.py, lines 28 to 37 of 37</a:t>
            </a:r>
            <a:endParaRPr lang="en-US" sz="1000" dirty="0"/>
          </a:p>
        </p:txBody>
      </p:sp>
      <p:sp>
        <p:nvSpPr>
          <p:cNvPr id="40" name="Shape 38"/>
          <p:cNvSpPr/>
          <p:nvPr/>
        </p:nvSpPr>
        <p:spPr>
          <a:xfrm>
            <a:off x="4343400" y="1417320"/>
            <a:ext cx="4142232" cy="2176272"/>
          </a:xfrm>
          <a:prstGeom prst="roundRect">
            <a:avLst>
              <a:gd name="adj" fmla="val 4202"/>
            </a:avLst>
          </a:prstGeom>
          <a:solidFill>
            <a:srgbClr val="23272E"/>
          </a:solidFill>
          <a:ln w="12700">
            <a:solidFill>
              <a:srgbClr val="23272E"/>
            </a:solidFill>
            <a:prstDash val="solid"/>
          </a:ln>
        </p:spPr>
      </p:sp>
      <p:sp>
        <p:nvSpPr>
          <p:cNvPr id="41" name="Text 39"/>
          <p:cNvSpPr txBox="1"/>
          <p:nvPr/>
        </p:nvSpPr>
        <p:spPr>
          <a:xfrm>
            <a:off x="4526280" y="1536192"/>
            <a:ext cx="3776472" cy="1938528"/>
          </a:xfrm>
          <a:prstGeom prst="rect">
            <a:avLst/>
          </a:prstGeom>
          <a:noFill/>
          <a:ln/>
        </p:spPr>
        <p:txBody>
          <a:bodyPr wrap="square" lIns="0" tIns="0" rIns="0" bIns="0" rtlCol="0" anchor="t"/>
          <a:lstStyle/>
          <a:p>
            <a:pPr indent="0" marL="0">
              <a:buNone/>
            </a:pPr>
            <a:r>
              <a:rPr lang="en-US" sz="700" dirty="0">
                <a:solidFill>
                  <a:srgbClr val="E6EDF3"/>
                </a:solidFill>
                <a:latin typeface="Courier New" pitchFamily="34" charset="0"/>
                <a:ea typeface="Courier New" pitchFamily="34" charset="-122"/>
                <a:cs typeface="Courier New" pitchFamily="34" charset="-120"/>
              </a:rPr>
              <a:t>srv, log, base = recorder(</a:t>
            </a:r>
            <a:r>
              <a:rPr lang="en-US" sz="700" dirty="0">
                <a:solidFill>
                  <a:srgbClr val="FFD28A"/>
                </a:solidFill>
                <a:latin typeface="Courier New" pitchFamily="34" charset="0"/>
                <a:ea typeface="Courier New" pitchFamily="34" charset="-122"/>
                <a:cs typeface="Courier New" pitchFamily="34" charset="-120"/>
              </a:rPr>
              <a:t>200</a:t>
            </a:r>
            <a:r>
              <a:rPr lang="en-US" sz="700" dirty="0">
                <a:solidFill>
                  <a:srgbClr val="E6EDF3"/>
                </a:solidFill>
                <a:latin typeface="Courier New" pitchFamily="34" charset="0"/>
                <a:ea typeface="Courier New" pitchFamily="34" charset="-122"/>
                <a:cs typeface="Courier New" pitchFamily="34" charset="-120"/>
              </a:rPr>
              <a:t>, TXT)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resp = requests.get(base + </a:t>
            </a:r>
            <a:r>
              <a:rPr lang="en-US" sz="700" dirty="0">
                <a:solidFill>
                  <a:srgbClr val="9ECBFF"/>
                </a:solidFill>
                <a:latin typeface="Courier New" pitchFamily="34" charset="0"/>
                <a:ea typeface="Courier New" pitchFamily="34" charset="-122"/>
                <a:cs typeface="Courier New" pitchFamily="34" charset="-120"/>
              </a:rPr>
              <a:t>'/AlSweigartZPgxBQ42/json?poll=1'</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try: json.loads(resp.text)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except json.JSONDecodeError as e: print(</a:t>
            </a:r>
            <a:r>
              <a:rPr lang="en-US" sz="700" dirty="0">
                <a:solidFill>
                  <a:srgbClr val="9ECBFF"/>
                </a:solidFill>
                <a:latin typeface="Courier New" pitchFamily="34" charset="0"/>
                <a:ea typeface="Courier New" pitchFamily="34" charset="-122"/>
                <a:cs typeface="Courier New" pitchFamily="34" charset="-120"/>
              </a:rPr>
              <a:t>'whole text:'</a:t>
            </a:r>
            <a:r>
              <a:rPr lang="en-US" sz="700" dirty="0">
                <a:solidFill>
                  <a:srgbClr val="E6EDF3"/>
                </a:solidFill>
                <a:latin typeface="Courier New" pitchFamily="34" charset="0"/>
                <a:ea typeface="Courier New" pitchFamily="34" charset="-122"/>
                <a:cs typeface="Courier New" pitchFamily="34" charset="-120"/>
              </a:rPr>
              <a:t>, e.msg)</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n = [json.loads(x) </a:t>
            </a: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x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resp.text.splitlines()]</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print(len(n), [x[</a:t>
            </a:r>
            <a:r>
              <a:rPr lang="en-US" sz="700" dirty="0">
                <a:solidFill>
                  <a:srgbClr val="9ECBFF"/>
                </a:solidFill>
                <a:latin typeface="Courier New" pitchFamily="34" charset="0"/>
                <a:ea typeface="Courier New" pitchFamily="34" charset="-122"/>
                <a:cs typeface="Courier New" pitchFamily="34" charset="-120"/>
              </a:rPr>
              <a:t>'message'</a:t>
            </a: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x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n])</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print(sorted(set(n[</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 - set(n[</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z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'America/Chicago'</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'UTC'</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print(z.ljust(</a:t>
            </a:r>
            <a:r>
              <a:rPr lang="en-US" sz="700" dirty="0">
                <a:solidFill>
                  <a:srgbClr val="FFD28A"/>
                </a:solidFill>
                <a:latin typeface="Courier New" pitchFamily="34" charset="0"/>
                <a:ea typeface="Courier New" pitchFamily="34" charset="-122"/>
                <a:cs typeface="Courier New" pitchFamily="34" charset="-120"/>
              </a:rPr>
              <a:t>16</a:t>
            </a:r>
            <a:r>
              <a:rPr lang="en-US" sz="700" dirty="0">
                <a:solidFill>
                  <a:srgbClr val="E6EDF3"/>
                </a:solidFill>
                <a:latin typeface="Courier New" pitchFamily="34" charset="0"/>
                <a:ea typeface="Courier New" pitchFamily="34" charset="-122"/>
                <a:cs typeface="Courier New" pitchFamily="34" charset="-120"/>
              </a:rPr>
              <a:t>), DT.fromtimestamp(n[</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a:t>
            </a:r>
            <a:r>
              <a:rPr lang="en-US" sz="700" dirty="0">
                <a:solidFill>
                  <a:srgbClr val="9ECBFF"/>
                </a:solidFill>
                <a:latin typeface="Courier New" pitchFamily="34" charset="0"/>
                <a:ea typeface="Courier New" pitchFamily="34" charset="-122"/>
                <a:cs typeface="Courier New" pitchFamily="34" charset="-120"/>
              </a:rPr>
              <a:t>'time'</a:t>
            </a:r>
            <a:r>
              <a:rPr lang="en-US" sz="700" dirty="0">
                <a:solidFill>
                  <a:srgbClr val="E6EDF3"/>
                </a:solidFill>
                <a:latin typeface="Courier New" pitchFamily="34" charset="0"/>
                <a:ea typeface="Courier New" pitchFamily="34" charset="-122"/>
                <a:cs typeface="Courier New" pitchFamily="34" charset="-120"/>
              </a:rPr>
              <a:t>], ZoneInfo(z)))</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srv.shutdown()</a:t>
            </a:r>
            <a:endParaRPr lang="en-US" sz="700" dirty="0"/>
          </a:p>
          <a:p>
            <a:pPr indent="0" marL="0">
              <a:buNone/>
            </a:pPr>
            <a:r>
              <a:rPr lang="en-US" sz="700" b="1" dirty="0">
                <a:solidFill>
                  <a:srgbClr val="D97A14"/>
                </a:solidFill>
                <a:latin typeface="Courier New" pitchFamily="34" charset="0"/>
                <a:ea typeface="Courier New" pitchFamily="34" charset="-122"/>
                <a:cs typeface="Courier New" pitchFamily="34" charset="-120"/>
              </a:rPr>
              <a:t>prints </a:t>
            </a:r>
            <a:r>
              <a:rPr lang="en-US" sz="700" dirty="0">
                <a:solidFill>
                  <a:srgbClr val="7EE787"/>
                </a:solidFill>
                <a:latin typeface="Courier New" pitchFamily="34" charset="0"/>
                <a:ea typeface="Courier New" pitchFamily="34" charset="-122"/>
                <a:cs typeface="Courier New" pitchFamily="34" charset="-120"/>
              </a:rPr>
              <a:t>whole text: Extra data</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2 ['Hello, world!', 'The rent is too high!']</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['priority', 'tags', 'title']</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America/Chicago  2026-12-20 21:28:32-06:00</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UTC              2026-12-21 03:28:32+00:00</a:t>
            </a:r>
            <a:endParaRPr lang="en-US" sz="700" dirty="0"/>
          </a:p>
        </p:txBody>
      </p:sp>
      <p:sp>
        <p:nvSpPr>
          <p:cNvPr id="42" name="Text 40"/>
          <p:cNvSpPr txBox="1"/>
          <p:nvPr/>
        </p:nvSpPr>
        <p:spPr>
          <a:xfrm>
            <a:off x="4343400" y="3630168"/>
            <a:ext cx="4343400" cy="402336"/>
          </a:xfrm>
          <a:prstGeom prst="rect">
            <a:avLst/>
          </a:prstGeom>
          <a:noFill/>
          <a:ln/>
        </p:spPr>
        <p:txBody>
          <a:bodyPr wrap="square" lIns="0" tIns="0" rIns="0" bIns="0" rtlCol="0" anchor="t"/>
          <a:lstStyle/>
          <a:p>
            <a:pPr indent="0" marL="0">
              <a:buNone/>
            </a:pPr>
            <a:r>
              <a:rPr lang="en-US" sz="800" i="1" dirty="0">
                <a:solidFill>
                  <a:srgbClr val="6E655C"/>
                </a:solidFill>
                <a:latin typeface="Calibri" pitchFamily="34" charset="0"/>
                <a:ea typeface="Calibri" pitchFamily="34" charset="-122"/>
                <a:cs typeface="Calibri" pitchFamily="34" charset="-120"/>
              </a:rPr>
              <a:t>Stand-in for ntfy: a recorder on 127.0.0.1, a local stand-in; it is not ntfy and says nothing about ntfy.sh. Lines 1 to 27 (imports, the recorder and a comment) are not shown.</a:t>
            </a:r>
            <a:endParaRPr lang="en-US" sz="800" dirty="0"/>
          </a:p>
        </p:txBody>
      </p:sp>
      <p:sp>
        <p:nvSpPr>
          <p:cNvPr id="43" name="Text 41"/>
          <p:cNvSpPr txBox="1"/>
          <p:nvPr/>
        </p:nvSpPr>
        <p:spPr>
          <a:xfrm>
            <a:off x="4343400" y="4069080"/>
            <a:ext cx="4343400" cy="283464"/>
          </a:xfrm>
          <a:prstGeom prst="rect">
            <a:avLst/>
          </a:prstGeom>
          <a:noFill/>
          <a:ln/>
        </p:spPr>
        <p:txBody>
          <a:bodyPr wrap="square" lIns="0" tIns="0" rIns="0" bIns="0" rtlCol="0" anchor="t"/>
          <a:lstStyle/>
          <a:p>
            <a:pPr indent="0" marL="0">
              <a:buNone/>
            </a:pPr>
            <a:r>
              <a:rPr lang="en-US" sz="800" i="1" dirty="0">
                <a:solidFill>
                  <a:srgbClr val="6E655C"/>
                </a:solidFill>
                <a:latin typeface="Calibri" pitchFamily="34" charset="0"/>
                <a:ea typeface="Calibri" pitchFamily="34" charset="-122"/>
                <a:cs typeface="Calibri" pitchFamily="34" charset="-120"/>
              </a:rPr>
              <a:t>Recorded 13 Oct 2026: ntfy.sh/v1/health answered 200. NOT EXECUTED: any message sent to or received from ntfy.sh.</a:t>
            </a:r>
            <a:endParaRPr lang="en-US" sz="800" dirty="0"/>
          </a:p>
        </p:txBody>
      </p:sp>
      <p:sp>
        <p:nvSpPr>
          <p:cNvPr id="44" name="Shape 42"/>
          <p:cNvSpPr/>
          <p:nvPr/>
        </p:nvSpPr>
        <p:spPr>
          <a:xfrm>
            <a:off x="457200" y="4636008"/>
            <a:ext cx="91440" cy="310896"/>
          </a:xfrm>
          <a:prstGeom prst="rect">
            <a:avLst/>
          </a:prstGeom>
          <a:solidFill>
            <a:srgbClr val="D97A14"/>
          </a:solidFill>
          <a:ln w="12700">
            <a:solidFill>
              <a:srgbClr val="D97A14"/>
            </a:solidFill>
            <a:prstDash val="solid"/>
          </a:ln>
        </p:spPr>
      </p:sp>
      <p:sp>
        <p:nvSpPr>
          <p:cNvPr id="45" name="Text 4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poll answer is one JSON object on each line.</a:t>
            </a:r>
            <a:endParaRPr lang="en-US" sz="1350" dirty="0"/>
          </a:p>
        </p:txBody>
      </p:sp>
      <p:sp>
        <p:nvSpPr>
          <p:cNvPr id="46" name="Text 4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20 / 26</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topic name is the password</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Anyone who knows the name can read and post; the limit is 4,096 bytes, not characters</a:t>
            </a:r>
            <a:endParaRPr lang="en-US" sz="1300" dirty="0"/>
          </a:p>
        </p:txBody>
      </p:sp>
      <p:sp>
        <p:nvSpPr>
          <p:cNvPr id="6" name="Text 4"/>
          <p:cNvSpPr txBox="1"/>
          <p:nvPr/>
        </p:nvSpPr>
        <p:spPr>
          <a:xfrm>
            <a:off x="457200" y="1143000"/>
            <a:ext cx="4361688"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program secrecyCut_v1_0_0.py, lines 14 to 23 of 23</a:t>
            </a:r>
            <a:endParaRPr lang="en-US" sz="1000" dirty="0"/>
          </a:p>
        </p:txBody>
      </p:sp>
      <p:sp>
        <p:nvSpPr>
          <p:cNvPr id="7" name="Shape 5"/>
          <p:cNvSpPr/>
          <p:nvPr/>
        </p:nvSpPr>
        <p:spPr>
          <a:xfrm>
            <a:off x="457200" y="1417320"/>
            <a:ext cx="4361688" cy="2304288"/>
          </a:xfrm>
          <a:prstGeom prst="roundRect">
            <a:avLst>
              <a:gd name="adj" fmla="val 3968"/>
            </a:avLst>
          </a:prstGeom>
          <a:solidFill>
            <a:srgbClr val="23272E"/>
          </a:solidFill>
          <a:ln w="12700">
            <a:solidFill>
              <a:srgbClr val="23272E"/>
            </a:solidFill>
            <a:prstDash val="solid"/>
          </a:ln>
        </p:spPr>
      </p:sp>
      <p:sp>
        <p:nvSpPr>
          <p:cNvPr id="8" name="Text 6"/>
          <p:cNvSpPr txBox="1"/>
          <p:nvPr/>
        </p:nvSpPr>
        <p:spPr>
          <a:xfrm>
            <a:off x="640080" y="1536192"/>
            <a:ext cx="3995928" cy="2066544"/>
          </a:xfrm>
          <a:prstGeom prst="rect">
            <a:avLst/>
          </a:prstGeom>
          <a:noFill/>
          <a:ln/>
        </p:spPr>
        <p:txBody>
          <a:bodyPr wrap="square" lIns="0" tIns="0" rIns="0" bIns="0" rtlCol="0" anchor="t"/>
          <a:lstStyle/>
          <a:p>
            <a:pPr indent="0" marL="0">
              <a:buNone/>
            </a:pPr>
            <a:r>
              <a:rPr lang="en-US" sz="700" dirty="0">
                <a:solidFill>
                  <a:srgbClr val="E6EDF3"/>
                </a:solidFill>
                <a:latin typeface="Courier New" pitchFamily="34" charset="0"/>
                <a:ea typeface="Courier New" pitchFamily="34" charset="-122"/>
                <a:cs typeface="Courier New" pitchFamily="34" charset="-120"/>
              </a:rPr>
              <a:t>book = </a:t>
            </a:r>
            <a:r>
              <a:rPr lang="en-US" sz="700" dirty="0">
                <a:solidFill>
                  <a:srgbClr val="9ECBFF"/>
                </a:solidFill>
                <a:latin typeface="Courier New" pitchFamily="34" charset="0"/>
                <a:ea typeface="Courier New" pitchFamily="34" charset="-122"/>
                <a:cs typeface="Courier New" pitchFamily="34" charset="-120"/>
              </a:rPr>
              <a:t>'AlSweigartZPgxBQ42'</a:t>
            </a:r>
            <a:r>
              <a:rPr lang="en-US" sz="700" dirty="0">
                <a:solidFill>
                  <a:srgbClr val="E6EDF3"/>
                </a:solidFill>
                <a:latin typeface="Courier New" pitchFamily="34" charset="0"/>
                <a:ea typeface="Courier New" pitchFamily="34" charset="-122"/>
                <a:cs typeface="Courier New" pitchFamily="34" charset="-120"/>
              </a:rPr>
              <a:t>; rnd = book[len(</a:t>
            </a:r>
            <a:r>
              <a:rPr lang="en-US" sz="700" dirty="0">
                <a:solidFill>
                  <a:srgbClr val="9ECBFF"/>
                </a:solidFill>
                <a:latin typeface="Courier New" pitchFamily="34" charset="0"/>
                <a:ea typeface="Courier New" pitchFamily="34" charset="-122"/>
                <a:cs typeface="Courier New" pitchFamily="34" charset="-120"/>
              </a:rPr>
              <a:t>'AlSweigart'</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bits = round(len(rnd) * math.log2(</a:t>
            </a:r>
            <a:r>
              <a:rPr lang="en-US" sz="700" dirty="0">
                <a:solidFill>
                  <a:srgbClr val="FFD28A"/>
                </a:solidFill>
                <a:latin typeface="Courier New" pitchFamily="34" charset="0"/>
                <a:ea typeface="Courier New" pitchFamily="34" charset="-122"/>
                <a:cs typeface="Courier New" pitchFamily="34" charset="-120"/>
              </a:rPr>
              <a:t>62</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print(rnd, len(rnd), </a:t>
            </a:r>
            <a:r>
              <a:rPr lang="en-US" sz="700" dirty="0">
                <a:solidFill>
                  <a:srgbClr val="9ECBFF"/>
                </a:solidFill>
                <a:latin typeface="Courier New" pitchFamily="34" charset="0"/>
                <a:ea typeface="Courier New" pitchFamily="34" charset="-122"/>
                <a:cs typeface="Courier New" pitchFamily="34" charset="-120"/>
              </a:rPr>
              <a:t>'chars of 62 -&gt;'</a:t>
            </a:r>
            <a:r>
              <a:rPr lang="en-US" sz="700" dirty="0">
                <a:solidFill>
                  <a:srgbClr val="E6EDF3"/>
                </a:solidFill>
                <a:latin typeface="Courier New" pitchFamily="34" charset="0"/>
                <a:ea typeface="Courier New" pitchFamily="34" charset="-122"/>
                <a:cs typeface="Courier New" pitchFamily="34" charset="-120"/>
              </a:rPr>
              <a:t>, bits, </a:t>
            </a:r>
            <a:r>
              <a:rPr lang="en-US" sz="700" dirty="0">
                <a:solidFill>
                  <a:srgbClr val="9ECBFF"/>
                </a:solidFill>
                <a:latin typeface="Courier New" pitchFamily="34" charset="0"/>
                <a:ea typeface="Courier New" pitchFamily="34" charset="-122"/>
                <a:cs typeface="Courier New" pitchFamily="34" charset="-120"/>
              </a:rPr>
              <a:t>'bits'</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t = secrets.token_urlsafe(</a:t>
            </a:r>
            <a:r>
              <a:rPr lang="en-US" sz="700" dirty="0">
                <a:solidFill>
                  <a:srgbClr val="FFD28A"/>
                </a:solidFill>
                <a:latin typeface="Courier New" pitchFamily="34" charset="0"/>
                <a:ea typeface="Courier New" pitchFamily="34" charset="-122"/>
                <a:cs typeface="Courier New" pitchFamily="34" charset="-120"/>
              </a:rPr>
              <a:t>16</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'token_urlsafe(16):'</a:t>
            </a:r>
            <a:r>
              <a:rPr lang="en-US" sz="700" dirty="0">
                <a:solidFill>
                  <a:srgbClr val="E6EDF3"/>
                </a:solidFill>
                <a:latin typeface="Courier New" pitchFamily="34" charset="0"/>
                <a:ea typeface="Courier New" pitchFamily="34" charset="-122"/>
                <a:cs typeface="Courier New" pitchFamily="34" charset="-120"/>
              </a:rPr>
              <a:t>, len(t), </a:t>
            </a:r>
            <a:r>
              <a:rPr lang="en-US" sz="700" dirty="0">
                <a:solidFill>
                  <a:srgbClr val="9ECBFF"/>
                </a:solidFill>
                <a:latin typeface="Courier New" pitchFamily="34" charset="0"/>
                <a:ea typeface="Courier New" pitchFamily="34" charset="-122"/>
                <a:cs typeface="Courier New" pitchFamily="34" charset="-120"/>
              </a:rPr>
              <a:t>'characters, 128 bits'</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'the topic is in the URL path: https://ntfy.sh/'</a:t>
            </a:r>
            <a:r>
              <a:rPr lang="en-US" sz="700" dirty="0">
                <a:solidFill>
                  <a:srgbClr val="E6EDF3"/>
                </a:solidFill>
                <a:latin typeface="Courier New" pitchFamily="34" charset="0"/>
                <a:ea typeface="Courier New" pitchFamily="34" charset="-122"/>
                <a:cs typeface="Courier New" pitchFamily="34" charset="-120"/>
              </a:rPr>
              <a:t> + book)</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ok, tr = </a:t>
            </a:r>
            <a:r>
              <a:rPr lang="en-US" sz="700" dirty="0">
                <a:solidFill>
                  <a:srgbClr val="9ECBFF"/>
                </a:solidFill>
                <a:latin typeface="Courier New" pitchFamily="34" charset="0"/>
                <a:ea typeface="Courier New" pitchFamily="34" charset="-122"/>
                <a:cs typeface="Courier New" pitchFamily="34" charset="-120"/>
              </a:rPr>
              <a:t>'a'</a:t>
            </a:r>
            <a:r>
              <a:rPr lang="en-US" sz="700" dirty="0">
                <a:solidFill>
                  <a:srgbClr val="E6EDF3"/>
                </a:solidFill>
                <a:latin typeface="Courier New" pitchFamily="34" charset="0"/>
                <a:ea typeface="Courier New" pitchFamily="34" charset="-122"/>
                <a:cs typeface="Courier New" pitchFamily="34" charset="-120"/>
              </a:rPr>
              <a:t> * </a:t>
            </a:r>
            <a:r>
              <a:rPr lang="en-US" sz="700" dirty="0">
                <a:solidFill>
                  <a:srgbClr val="FFD28A"/>
                </a:solidFill>
                <a:latin typeface="Courier New" pitchFamily="34" charset="0"/>
                <a:ea typeface="Courier New" pitchFamily="34" charset="-122"/>
                <a:cs typeface="Courier New" pitchFamily="34" charset="-120"/>
              </a:rPr>
              <a:t>4096</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'ı'</a:t>
            </a:r>
            <a:r>
              <a:rPr lang="en-US" sz="700" dirty="0">
                <a:solidFill>
                  <a:srgbClr val="E6EDF3"/>
                </a:solidFill>
                <a:latin typeface="Courier New" pitchFamily="34" charset="0"/>
                <a:ea typeface="Courier New" pitchFamily="34" charset="-122"/>
                <a:cs typeface="Courier New" pitchFamily="34" charset="-120"/>
              </a:rPr>
              <a:t> * </a:t>
            </a:r>
            <a:r>
              <a:rPr lang="en-US" sz="700" dirty="0">
                <a:solidFill>
                  <a:srgbClr val="FFD28A"/>
                </a:solidFill>
                <a:latin typeface="Courier New" pitchFamily="34" charset="0"/>
                <a:ea typeface="Courier New" pitchFamily="34" charset="-122"/>
                <a:cs typeface="Courier New" pitchFamily="34" charset="-120"/>
              </a:rPr>
              <a:t>2049</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print(len(ok.encode()), </a:t>
            </a:r>
            <a:r>
              <a:rPr lang="en-US" sz="700" dirty="0">
                <a:solidFill>
                  <a:srgbClr val="9ECBFF"/>
                </a:solidFill>
                <a:latin typeface="Courier New" pitchFamily="34" charset="0"/>
                <a:ea typeface="Courier New" pitchFamily="34" charset="-122"/>
                <a:cs typeface="Courier New" pitchFamily="34" charset="-120"/>
              </a:rPr>
              <a:t>'bytes for 4096 characters'</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print(len(tr), </a:t>
            </a:r>
            <a:r>
              <a:rPr lang="en-US" sz="700" dirty="0">
                <a:solidFill>
                  <a:srgbClr val="9ECBFF"/>
                </a:solidFill>
                <a:latin typeface="Courier New" pitchFamily="34" charset="0"/>
                <a:ea typeface="Courier New" pitchFamily="34" charset="-122"/>
                <a:cs typeface="Courier New" pitchFamily="34" charset="-120"/>
              </a:rPr>
              <a:t>'dotless i:'</a:t>
            </a:r>
            <a:r>
              <a:rPr lang="en-US" sz="700" dirty="0">
                <a:solidFill>
                  <a:srgbClr val="E6EDF3"/>
                </a:solidFill>
                <a:latin typeface="Courier New" pitchFamily="34" charset="0"/>
                <a:ea typeface="Courier New" pitchFamily="34" charset="-122"/>
                <a:cs typeface="Courier New" pitchFamily="34" charset="-120"/>
              </a:rPr>
              <a:t>, len(tr.encode()), </a:t>
            </a:r>
            <a:r>
              <a:rPr lang="en-US" sz="700" dirty="0">
                <a:solidFill>
                  <a:srgbClr val="9ECBFF"/>
                </a:solidFill>
                <a:latin typeface="Courier New" pitchFamily="34" charset="0"/>
                <a:ea typeface="Courier New" pitchFamily="34" charset="-122"/>
                <a:cs typeface="Courier New" pitchFamily="34" charset="-120"/>
              </a:rPr>
              <a:t>'bytes, over the limit'</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'250 messages of 4096 bytes ='</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250</a:t>
            </a:r>
            <a:r>
              <a:rPr lang="en-US" sz="700" dirty="0">
                <a:solidFill>
                  <a:srgbClr val="E6EDF3"/>
                </a:solidFill>
                <a:latin typeface="Courier New" pitchFamily="34" charset="0"/>
                <a:ea typeface="Courier New" pitchFamily="34" charset="-122"/>
                <a:cs typeface="Courier New" pitchFamily="34" charset="-120"/>
              </a:rPr>
              <a:t> * </a:t>
            </a:r>
            <a:r>
              <a:rPr lang="en-US" sz="700" dirty="0">
                <a:solidFill>
                  <a:srgbClr val="FFD28A"/>
                </a:solidFill>
                <a:latin typeface="Courier New" pitchFamily="34" charset="0"/>
                <a:ea typeface="Courier New" pitchFamily="34" charset="-122"/>
                <a:cs typeface="Courier New" pitchFamily="34" charset="-120"/>
              </a:rPr>
              <a:t>4096</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'bytes a day'</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b="1" dirty="0">
                <a:solidFill>
                  <a:srgbClr val="D97A14"/>
                </a:solidFill>
                <a:latin typeface="Courier New" pitchFamily="34" charset="0"/>
                <a:ea typeface="Courier New" pitchFamily="34" charset="-122"/>
                <a:cs typeface="Courier New" pitchFamily="34" charset="-120"/>
              </a:rPr>
              <a:t>prints </a:t>
            </a:r>
            <a:r>
              <a:rPr lang="en-US" sz="700" dirty="0">
                <a:solidFill>
                  <a:srgbClr val="7EE787"/>
                </a:solidFill>
                <a:latin typeface="Courier New" pitchFamily="34" charset="0"/>
                <a:ea typeface="Courier New" pitchFamily="34" charset="-122"/>
                <a:cs typeface="Courier New" pitchFamily="34" charset="-120"/>
              </a:rPr>
              <a:t>ZPgxBQ42 8 chars of 62 -&gt; 47.6 bits</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token_urlsafe(16): 22 characters, 128 bits</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the topic is in the URL path: https://ntfy.sh/AlSweigartZPgxBQ42</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4096 bytes for 4096 characters</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2049 dotless i: 4098 bytes, over the limit</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250 messages of 4096 bytes = 1024000 bytes a day</a:t>
            </a:r>
            <a:endParaRPr lang="en-US" sz="700" dirty="0"/>
          </a:p>
        </p:txBody>
      </p:sp>
      <p:graphicFrame>
        <p:nvGraphicFramePr>
          <p:cNvPr id="9" name="Chart 0" descr=""/>
          <p:cNvGraphicFramePr/>
          <p:nvPr/>
        </p:nvGraphicFramePr>
        <p:xfrm>
          <a:off x="5047488" y="1325880"/>
          <a:ext cx="3639312" cy="2331720"/>
        </p:xfrm>
        <a:graphic xmlns:a="http://schemas.openxmlformats.org/drawingml/2006/main">
          <a:graphicData uri="http://schemas.openxmlformats.org/drawingml/2006/chart">
            <c:chart xmlns:c="http://schemas.openxmlformats.org/drawingml/2006/chart" r:id="rId1"/>
          </a:graphicData>
        </a:graphic>
      </p:graphicFrame>
      <p:sp>
        <p:nvSpPr>
          <p:cNvPr id="10" name="Text 7"/>
          <p:cNvSpPr txBox="1"/>
          <p:nvPr/>
        </p:nvSpPr>
        <p:spPr>
          <a:xfrm>
            <a:off x="457200" y="3776472"/>
            <a:ext cx="4361688" cy="301752"/>
          </a:xfrm>
          <a:prstGeom prst="rect">
            <a:avLst/>
          </a:prstGeom>
          <a:noFill/>
          <a:ln/>
        </p:spPr>
        <p:txBody>
          <a:bodyPr wrap="square" lIns="0" tIns="0" rIns="0" bIns="0" rtlCol="0" anchor="t"/>
          <a:lstStyle/>
          <a:p>
            <a:pPr indent="0" marL="0">
              <a:buNone/>
            </a:pPr>
            <a:r>
              <a:rPr lang="en-US" sz="850" i="1" dirty="0">
                <a:solidFill>
                  <a:srgbClr val="6E655C"/>
                </a:solidFill>
                <a:latin typeface="Calibri" pitchFamily="34" charset="0"/>
                <a:ea typeface="Calibri" pitchFamily="34" charset="-122"/>
                <a:cs typeface="Calibri" pitchFamily="34" charset="-120"/>
              </a:rPr>
              <a:t>Lines 1 to 13 (imports and a comment) are not shown. Arithmetic only; nothing is published.</a:t>
            </a:r>
            <a:endParaRPr lang="en-US" sz="850" dirty="0"/>
          </a:p>
        </p:txBody>
      </p:sp>
      <p:sp>
        <p:nvSpPr>
          <p:cNvPr id="11" name="Text 8"/>
          <p:cNvSpPr txBox="1"/>
          <p:nvPr/>
        </p:nvSpPr>
        <p:spPr>
          <a:xfrm>
            <a:off x="5047488" y="3749040"/>
            <a:ext cx="3639312" cy="621792"/>
          </a:xfrm>
          <a:prstGeom prst="rect">
            <a:avLst/>
          </a:prstGeom>
          <a:noFill/>
          <a:ln/>
        </p:spPr>
        <p:txBody>
          <a:bodyPr wrap="square" lIns="0" tIns="0" rIns="0" bIns="0" rtlCol="0" anchor="t"/>
          <a:lstStyle/>
          <a:p>
            <a:pPr indent="0" marL="0">
              <a:buNone/>
            </a:pPr>
            <a:r>
              <a:rPr lang="en-US" sz="950" i="1" dirty="0">
                <a:solidFill>
                  <a:srgbClr val="6E655C"/>
                </a:solidFill>
                <a:latin typeface="Calibri" pitchFamily="34" charset="0"/>
                <a:ea typeface="Calibri" pitchFamily="34" charset="-122"/>
                <a:cs typeface="Calibri" pitchFamily="34" charset="-120"/>
              </a:rPr>
              <a:t>ntfy's FAQ says that without access control the topic name is the password, and the chapter says to treat it like one. The name of the book's example is half the author's name and half 8 random characters.</a:t>
            </a:r>
            <a:endParaRPr lang="en-US" sz="950" dirty="0"/>
          </a:p>
        </p:txBody>
      </p:sp>
      <p:sp>
        <p:nvSpPr>
          <p:cNvPr id="12" name="Shape 9"/>
          <p:cNvSpPr/>
          <p:nvPr/>
        </p:nvSpPr>
        <p:spPr>
          <a:xfrm>
            <a:off x="457200" y="4636008"/>
            <a:ext cx="91440" cy="310896"/>
          </a:xfrm>
          <a:prstGeom prst="rect">
            <a:avLst/>
          </a:prstGeom>
          <a:solidFill>
            <a:srgbClr val="D97A14"/>
          </a:solidFill>
          <a:ln w="12700">
            <a:solidFill>
              <a:srgbClr val="D97A14"/>
            </a:solidFill>
            <a:prstDash val="solid"/>
          </a:ln>
        </p:spPr>
      </p:sp>
      <p:sp>
        <p:nvSpPr>
          <p:cNvPr id="13" name="Text 1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topic name is the only secret, so make it random.</a:t>
            </a:r>
            <a:endParaRPr lang="en-US" sz="1350" dirty="0"/>
          </a:p>
        </p:txBody>
      </p:sp>
      <p:sp>
        <p:nvSpPr>
          <p:cNvPr id="14" name="Text 1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21 / 26</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Umbrella Reminder and Auto Unsubscriber</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Compare a number, not a word; read the header, not the HTML</a:t>
            </a:r>
            <a:endParaRPr lang="en-US" sz="1300" dirty="0"/>
          </a:p>
        </p:txBody>
      </p:sp>
      <p:sp>
        <p:nvSpPr>
          <p:cNvPr id="6" name="Text 4"/>
          <p:cNvSpPr txBox="1"/>
          <p:nvPr/>
        </p:nvSpPr>
        <p:spPr>
          <a:xfrm>
            <a:off x="457200" y="1143000"/>
            <a:ext cx="4425696"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program unsubCut_v1_0_0.py, lines 28 to 38 of 38</a:t>
            </a:r>
            <a:endParaRPr lang="en-US" sz="1000" dirty="0"/>
          </a:p>
        </p:txBody>
      </p:sp>
      <p:sp>
        <p:nvSpPr>
          <p:cNvPr id="7" name="Shape 5"/>
          <p:cNvSpPr/>
          <p:nvPr/>
        </p:nvSpPr>
        <p:spPr>
          <a:xfrm>
            <a:off x="457200" y="1417320"/>
            <a:ext cx="4425696" cy="2304288"/>
          </a:xfrm>
          <a:prstGeom prst="roundRect">
            <a:avLst>
              <a:gd name="adj" fmla="val 3968"/>
            </a:avLst>
          </a:prstGeom>
          <a:solidFill>
            <a:srgbClr val="23272E"/>
          </a:solidFill>
          <a:ln w="12700">
            <a:solidFill>
              <a:srgbClr val="23272E"/>
            </a:solidFill>
            <a:prstDash val="solid"/>
          </a:ln>
        </p:spPr>
      </p:sp>
      <p:sp>
        <p:nvSpPr>
          <p:cNvPr id="8" name="Text 6"/>
          <p:cNvSpPr txBox="1"/>
          <p:nvPr/>
        </p:nvSpPr>
        <p:spPr>
          <a:xfrm>
            <a:off x="640080" y="1536192"/>
            <a:ext cx="4059936" cy="2066544"/>
          </a:xfrm>
          <a:prstGeom prst="rect">
            <a:avLst/>
          </a:prstGeom>
          <a:noFill/>
          <a:ln/>
        </p:spPr>
        <p:txBody>
          <a:bodyPr wrap="square" lIns="0" tIns="0" rIns="0" bIns="0" rtlCol="0" anchor="t"/>
          <a:lstStyle/>
          <a:p>
            <a:pPr indent="0" marL="0">
              <a:buNone/>
            </a:pPr>
            <a:r>
              <a:rPr lang="en-US" sz="700" dirty="0">
                <a:solidFill>
                  <a:srgbClr val="E6EDF3"/>
                </a:solidFill>
                <a:latin typeface="Courier New" pitchFamily="34" charset="0"/>
                <a:ea typeface="Courier New" pitchFamily="34" charset="-122"/>
                <a:cs typeface="Courier New" pitchFamily="34" charset="-120"/>
              </a:rPr>
              <a:t>p = P(); p.feed(HTML)</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'links whose text says unsubscribe:'</a:t>
            </a:r>
            <a:r>
              <a:rPr lang="en-US" sz="700" dirty="0">
                <a:solidFill>
                  <a:srgbClr val="E6EDF3"/>
                </a:solidFill>
                <a:latin typeface="Courier New" pitchFamily="34" charset="0"/>
                <a:ea typeface="Courier New" pitchFamily="34" charset="-122"/>
                <a:cs typeface="Courier New" pitchFamily="34" charset="-120"/>
              </a:rPr>
              <a:t>, p.found)</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m = EmailMessage()</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a = </a:t>
            </a:r>
            <a:r>
              <a:rPr lang="en-US" sz="700" dirty="0">
                <a:solidFill>
                  <a:srgbClr val="9ECBFF"/>
                </a:solidFill>
                <a:latin typeface="Courier New" pitchFamily="34" charset="0"/>
                <a:ea typeface="Courier New" pitchFamily="34" charset="-122"/>
                <a:cs typeface="Courier New" pitchFamily="34" charset="-120"/>
              </a:rPr>
              <a:t>'&lt;mailto:unsub@example.com?subject=unsubscribe&gt;'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m[</a:t>
            </a:r>
            <a:r>
              <a:rPr lang="en-US" sz="700" dirty="0">
                <a:solidFill>
                  <a:srgbClr val="9ECBFF"/>
                </a:solidFill>
                <a:latin typeface="Courier New" pitchFamily="34" charset="0"/>
                <a:ea typeface="Courier New" pitchFamily="34" charset="-122"/>
                <a:cs typeface="Courier New" pitchFamily="34" charset="-120"/>
              </a:rPr>
              <a:t>'List-Unsubscribe'</a:t>
            </a:r>
            <a:r>
              <a:rPr lang="en-US" sz="700" dirty="0">
                <a:solidFill>
                  <a:srgbClr val="E6EDF3"/>
                </a:solidFill>
                <a:latin typeface="Courier New" pitchFamily="34" charset="0"/>
                <a:ea typeface="Courier New" pitchFamily="34" charset="-122"/>
                <a:cs typeface="Courier New" pitchFamily="34" charset="-120"/>
              </a:rPr>
              <a:t>] = a + </a:t>
            </a:r>
            <a:r>
              <a:rPr lang="en-US" sz="700" dirty="0">
                <a:solidFill>
                  <a:srgbClr val="9ECBFF"/>
                </a:solidFill>
                <a:latin typeface="Courier New" pitchFamily="34" charset="0"/>
                <a:ea typeface="Courier New" pitchFamily="34" charset="-122"/>
                <a:cs typeface="Courier New" pitchFamily="34" charset="-120"/>
              </a:rPr>
              <a:t>', &lt;https://example.com/u?id=1&gt;'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lu = [x.strip(</a:t>
            </a:r>
            <a:r>
              <a:rPr lang="en-US" sz="700" dirty="0">
                <a:solidFill>
                  <a:srgbClr val="9ECBFF"/>
                </a:solidFill>
                <a:latin typeface="Courier New" pitchFamily="34" charset="0"/>
                <a:ea typeface="Courier New" pitchFamily="34" charset="-122"/>
                <a:cs typeface="Courier New" pitchFamily="34" charset="-120"/>
              </a:rPr>
              <a:t>'&lt;&gt;'</a:t>
            </a: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x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m[</a:t>
            </a:r>
            <a:r>
              <a:rPr lang="en-US" sz="700" dirty="0">
                <a:solidFill>
                  <a:srgbClr val="9ECBFF"/>
                </a:solidFill>
                <a:latin typeface="Courier New" pitchFamily="34" charset="0"/>
                <a:ea typeface="Courier New" pitchFamily="34" charset="-122"/>
                <a:cs typeface="Courier New" pitchFamily="34" charset="-120"/>
              </a:rPr>
              <a:t>'List-Unsubscribe'</a:t>
            </a:r>
            <a:r>
              <a:rPr lang="en-US" sz="700" dirty="0">
                <a:solidFill>
                  <a:srgbClr val="E6EDF3"/>
                </a:solidFill>
                <a:latin typeface="Courier New" pitchFamily="34" charset="0"/>
                <a:ea typeface="Courier New" pitchFamily="34" charset="-122"/>
                <a:cs typeface="Courier New" pitchFamily="34" charset="-120"/>
              </a:rPr>
              <a:t>].split(</a:t>
            </a:r>
            <a:r>
              <a:rPr lang="en-US" sz="700" dirty="0">
                <a:solidFill>
                  <a:srgbClr val="9ECBFF"/>
                </a:solidFill>
                <a:latin typeface="Courier New" pitchFamily="34" charset="0"/>
                <a:ea typeface="Courier New" pitchFamily="34" charset="-122"/>
                <a:cs typeface="Courier New" pitchFamily="34" charset="-120"/>
              </a:rPr>
              <a:t>', '</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print(f</a:t>
            </a:r>
            <a:r>
              <a:rPr lang="en-US" sz="700" dirty="0">
                <a:solidFill>
                  <a:srgbClr val="9ECBFF"/>
                </a:solidFill>
                <a:latin typeface="Courier New" pitchFamily="34" charset="0"/>
                <a:ea typeface="Courier New" pitchFamily="34" charset="-122"/>
                <a:cs typeface="Courier New" pitchFamily="34" charset="-120"/>
              </a:rPr>
              <a:t>'List-Unsubscribe gives {len(lu)} addresses:'</a:t>
            </a:r>
            <a:r>
              <a:rPr lang="en-US" sz="700" dirty="0">
                <a:solidFill>
                  <a:srgbClr val="E6EDF3"/>
                </a:solidFill>
                <a:latin typeface="Courier New" pitchFamily="34" charset="0"/>
                <a:ea typeface="Courier New" pitchFamily="34" charset="-122"/>
                <a:cs typeface="Courier New" pitchFamily="34" charset="-120"/>
              </a:rPr>
              <a:t>, *lu, sep=</a:t>
            </a:r>
            <a:r>
              <a:rPr lang="en-US" sz="700" dirty="0">
                <a:solidFill>
                  <a:srgbClr val="9ECBFF"/>
                </a:solidFill>
                <a:latin typeface="Courier New" pitchFamily="34" charset="0"/>
                <a:ea typeface="Courier New" pitchFamily="34" charset="-122"/>
                <a:cs typeface="Courier New" pitchFamily="34" charset="-120"/>
              </a:rPr>
              <a:t>'\n  '</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opened = []</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webbrowser.open = </a:t>
            </a:r>
            <a:r>
              <a:rPr lang="en-US" sz="700" b="1" dirty="0">
                <a:solidFill>
                  <a:srgbClr val="F2A860"/>
                </a:solidFill>
                <a:latin typeface="Courier New" pitchFamily="34" charset="0"/>
                <a:ea typeface="Courier New" pitchFamily="34" charset="-122"/>
                <a:cs typeface="Courier New" pitchFamily="34" charset="-120"/>
              </a:rPr>
              <a:t>lambda</a:t>
            </a:r>
            <a:r>
              <a:rPr lang="en-US" sz="700" dirty="0">
                <a:solidFill>
                  <a:srgbClr val="E6EDF3"/>
                </a:solidFill>
                <a:latin typeface="Courier New" pitchFamily="34" charset="0"/>
                <a:ea typeface="Courier New" pitchFamily="34" charset="-122"/>
                <a:cs typeface="Courier New" pitchFamily="34" charset="-120"/>
              </a:rPr>
              <a:t> u: opened.append(u) </a:t>
            </a:r>
            <a:r>
              <a:rPr lang="en-US" sz="700" b="1" dirty="0">
                <a:solidFill>
                  <a:srgbClr val="F2A860"/>
                </a:solidFill>
                <a:latin typeface="Courier New" pitchFamily="34" charset="0"/>
                <a:ea typeface="Courier New" pitchFamily="34" charset="-122"/>
                <a:cs typeface="Courier New" pitchFamily="34" charset="-120"/>
              </a:rPr>
              <a:t>or</a:t>
            </a: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True</a:t>
            </a:r>
            <a:endParaRPr lang="en-US" sz="700" dirty="0"/>
          </a:p>
          <a:p>
            <a:pPr indent="0" marL="0">
              <a:buNone/>
            </a:pP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u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p.found: webbrowser.open(u)</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'the recorder was asked to open'</a:t>
            </a:r>
            <a:r>
              <a:rPr lang="en-US" sz="700" dirty="0">
                <a:solidFill>
                  <a:srgbClr val="E6EDF3"/>
                </a:solidFill>
                <a:latin typeface="Courier New" pitchFamily="34" charset="0"/>
                <a:ea typeface="Courier New" pitchFamily="34" charset="-122"/>
                <a:cs typeface="Courier New" pitchFamily="34" charset="-120"/>
              </a:rPr>
              <a:t>, opened)</a:t>
            </a:r>
            <a:endParaRPr lang="en-US" sz="700" dirty="0"/>
          </a:p>
          <a:p>
            <a:pPr indent="0" marL="0">
              <a:buNone/>
            </a:pPr>
            <a:r>
              <a:rPr lang="en-US" sz="700" b="1" dirty="0">
                <a:solidFill>
                  <a:srgbClr val="D97A14"/>
                </a:solidFill>
                <a:latin typeface="Courier New" pitchFamily="34" charset="0"/>
                <a:ea typeface="Courier New" pitchFamily="34" charset="-122"/>
                <a:cs typeface="Courier New" pitchFamily="34" charset="-120"/>
              </a:rPr>
              <a:t>prints </a:t>
            </a:r>
            <a:r>
              <a:rPr lang="en-US" sz="700" dirty="0">
                <a:solidFill>
                  <a:srgbClr val="7EE787"/>
                </a:solidFill>
                <a:latin typeface="Courier New" pitchFamily="34" charset="0"/>
                <a:ea typeface="Courier New" pitchFamily="34" charset="-122"/>
                <a:cs typeface="Courier New" pitchFamily="34" charset="-120"/>
              </a:rPr>
              <a:t>links whose text says unsubscribe: ['https://example.com/u?id=1']</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List-Unsubscribe gives 2 addresses:</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  mailto:unsub@example.com?subject=unsubscribe</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  https://example.com/u?id=1</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the recorder was asked to open ['https://example.com/u?id=1']</a:t>
            </a:r>
            <a:endParaRPr lang="en-US" sz="700" dirty="0"/>
          </a:p>
        </p:txBody>
      </p:sp>
      <p:sp>
        <p:nvSpPr>
          <p:cNvPr id="9" name="Text 7"/>
          <p:cNvSpPr txBox="1"/>
          <p:nvPr/>
        </p:nvSpPr>
        <p:spPr>
          <a:xfrm>
            <a:off x="5065776" y="1143000"/>
            <a:ext cx="3520440"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program umbrellaCut_v1_0_0.py, lines 20 to 22 of 22</a:t>
            </a:r>
            <a:endParaRPr lang="en-US" sz="1000" dirty="0"/>
          </a:p>
        </p:txBody>
      </p:sp>
      <p:sp>
        <p:nvSpPr>
          <p:cNvPr id="10" name="Shape 8"/>
          <p:cNvSpPr/>
          <p:nvPr/>
        </p:nvSpPr>
        <p:spPr>
          <a:xfrm>
            <a:off x="5065776" y="1417320"/>
            <a:ext cx="3520440" cy="1033272"/>
          </a:xfrm>
          <a:prstGeom prst="roundRect">
            <a:avLst>
              <a:gd name="adj" fmla="val 8850"/>
            </a:avLst>
          </a:prstGeom>
          <a:solidFill>
            <a:srgbClr val="23272E"/>
          </a:solidFill>
          <a:ln w="12700">
            <a:solidFill>
              <a:srgbClr val="23272E"/>
            </a:solidFill>
            <a:prstDash val="solid"/>
          </a:ln>
        </p:spPr>
      </p:sp>
      <p:sp>
        <p:nvSpPr>
          <p:cNvPr id="11" name="Text 9"/>
          <p:cNvSpPr txBox="1"/>
          <p:nvPr/>
        </p:nvSpPr>
        <p:spPr>
          <a:xfrm>
            <a:off x="5248656" y="1536192"/>
            <a:ext cx="3154680" cy="795528"/>
          </a:xfrm>
          <a:prstGeom prst="rect">
            <a:avLst/>
          </a:prstGeom>
          <a:noFill/>
          <a:ln/>
        </p:spPr>
        <p:txBody>
          <a:bodyPr wrap="square" lIns="0" tIns="0" rIns="0" bIns="0" rtlCol="0" anchor="t"/>
          <a:lstStyle/>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'text has rain:'</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'rain'</a:t>
            </a: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words(p) </a:t>
            </a: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p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P])</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'limit 40:'</a:t>
            </a:r>
            <a:r>
              <a:rPr lang="en-US" sz="700" dirty="0">
                <a:solidFill>
                  <a:srgbClr val="E6EDF3"/>
                </a:solidFill>
                <a:latin typeface="Courier New" pitchFamily="34" charset="0"/>
                <a:ea typeface="Courier New" pitchFamily="34" charset="-122"/>
                <a:cs typeface="Courier New" pitchFamily="34" charset="-120"/>
              </a:rPr>
              <a:t>, [(chance(p) </a:t>
            </a:r>
            <a:r>
              <a:rPr lang="en-US" sz="700" b="1" dirty="0">
                <a:solidFill>
                  <a:srgbClr val="F2A860"/>
                </a:solidFill>
                <a:latin typeface="Courier New" pitchFamily="34" charset="0"/>
                <a:ea typeface="Courier New" pitchFamily="34" charset="-122"/>
                <a:cs typeface="Courier New" pitchFamily="34" charset="-120"/>
              </a:rPr>
              <a:t>or</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 &gt;= </a:t>
            </a:r>
            <a:r>
              <a:rPr lang="en-US" sz="700" dirty="0">
                <a:solidFill>
                  <a:srgbClr val="FFD28A"/>
                </a:solidFill>
                <a:latin typeface="Courier New" pitchFamily="34" charset="0"/>
                <a:ea typeface="Courier New" pitchFamily="34" charset="-122"/>
                <a:cs typeface="Courier New" pitchFamily="34" charset="-120"/>
              </a:rPr>
              <a:t>40</a:t>
            </a: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p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P])</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'chances:'</a:t>
            </a:r>
            <a:r>
              <a:rPr lang="en-US" sz="700" dirty="0">
                <a:solidFill>
                  <a:srgbClr val="E6EDF3"/>
                </a:solidFill>
                <a:latin typeface="Courier New" pitchFamily="34" charset="0"/>
                <a:ea typeface="Courier New" pitchFamily="34" charset="-122"/>
                <a:cs typeface="Courier New" pitchFamily="34" charset="-120"/>
              </a:rPr>
              <a:t>, [chance(p) </a:t>
            </a: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p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P])</a:t>
            </a:r>
            <a:endParaRPr lang="en-US" sz="700" dirty="0"/>
          </a:p>
          <a:p>
            <a:pPr indent="0" marL="0">
              <a:buNone/>
            </a:pPr>
            <a:r>
              <a:rPr lang="en-US" sz="700" b="1" dirty="0">
                <a:solidFill>
                  <a:srgbClr val="D97A14"/>
                </a:solidFill>
                <a:latin typeface="Courier New" pitchFamily="34" charset="0"/>
                <a:ea typeface="Courier New" pitchFamily="34" charset="-122"/>
                <a:cs typeface="Courier New" pitchFamily="34" charset="-120"/>
              </a:rPr>
              <a:t>prints </a:t>
            </a:r>
            <a:r>
              <a:rPr lang="en-US" sz="700" dirty="0">
                <a:solidFill>
                  <a:srgbClr val="7EE787"/>
                </a:solidFill>
                <a:latin typeface="Courier New" pitchFamily="34" charset="0"/>
                <a:ea typeface="Courier New" pitchFamily="34" charset="-122"/>
                <a:cs typeface="Courier New" pitchFamily="34" charset="-120"/>
              </a:rPr>
              <a:t>text has rain: [False, False]</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limit 40: [True, False]</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chances: [60, None]</a:t>
            </a:r>
            <a:endParaRPr lang="en-US" sz="700" dirty="0"/>
          </a:p>
        </p:txBody>
      </p:sp>
      <p:sp>
        <p:nvSpPr>
          <p:cNvPr id="12" name="Text 10"/>
          <p:cNvSpPr txBox="1"/>
          <p:nvPr/>
        </p:nvSpPr>
        <p:spPr>
          <a:xfrm>
            <a:off x="457200" y="3749040"/>
            <a:ext cx="4425696" cy="402336"/>
          </a:xfrm>
          <a:prstGeom prst="rect">
            <a:avLst/>
          </a:prstGeom>
          <a:noFill/>
          <a:ln/>
        </p:spPr>
        <p:txBody>
          <a:bodyPr wrap="square" lIns="0" tIns="0" rIns="0" bIns="0" rtlCol="0" anchor="t"/>
          <a:lstStyle/>
          <a:p>
            <a:pPr indent="0" marL="0">
              <a:buNone/>
            </a:pPr>
            <a:r>
              <a:rPr lang="en-US" sz="800" i="1" dirty="0">
                <a:solidFill>
                  <a:srgbClr val="6E655C"/>
                </a:solidFill>
                <a:latin typeface="Calibri" pitchFamily="34" charset="0"/>
                <a:ea typeface="Calibri" pitchFamily="34" charset="-122"/>
                <a:cs typeface="Calibri" pitchFamily="34" charset="-120"/>
              </a:rPr>
              <a:t>Stand-in for the browser: webbrowser.open is replaced by a local stand-in that records the address; no page was opened. Lines 1 to 27 (imports, the parser class and the sample HTML) are not shown.</a:t>
            </a:r>
            <a:endParaRPr lang="en-US" sz="800" dirty="0"/>
          </a:p>
        </p:txBody>
      </p:sp>
      <p:sp>
        <p:nvSpPr>
          <p:cNvPr id="13" name="Text 11"/>
          <p:cNvSpPr txBox="1"/>
          <p:nvPr/>
        </p:nvSpPr>
        <p:spPr>
          <a:xfrm>
            <a:off x="5065776" y="2505456"/>
            <a:ext cx="3621024" cy="557784"/>
          </a:xfrm>
          <a:prstGeom prst="rect">
            <a:avLst/>
          </a:prstGeom>
          <a:noFill/>
          <a:ln/>
        </p:spPr>
        <p:txBody>
          <a:bodyPr wrap="square" lIns="0" tIns="0" rIns="0" bIns="0" rtlCol="0" anchor="t"/>
          <a:lstStyle/>
          <a:p>
            <a:pPr indent="0" marL="0">
              <a:buNone/>
            </a:pPr>
            <a:r>
              <a:rPr lang="en-US" sz="850" i="1" dirty="0">
                <a:solidFill>
                  <a:srgbClr val="6E655C"/>
                </a:solidFill>
                <a:latin typeface="Calibri" pitchFamily="34" charset="0"/>
                <a:ea typeface="Calibri" pitchFamily="34" charset="-122"/>
                <a:cs typeface="Calibri" pitchFamily="34" charset="-120"/>
              </a:rPr>
              <a:t>Sample forecast data: two periods written for this study in the shape of api.weather.gov, a local stand-in; no network. Lines 1 to 19 (imports, the two sample periods and two helpers) are not shown.</a:t>
            </a:r>
            <a:endParaRPr lang="en-US" sz="850" dirty="0"/>
          </a:p>
        </p:txBody>
      </p:sp>
      <p:sp>
        <p:nvSpPr>
          <p:cNvPr id="14" name="Text 12"/>
          <p:cNvSpPr txBox="1"/>
          <p:nvPr/>
        </p:nvSpPr>
        <p:spPr>
          <a:xfrm>
            <a:off x="5065776" y="3099816"/>
            <a:ext cx="3621024" cy="429768"/>
          </a:xfrm>
          <a:prstGeom prst="rect">
            <a:avLst/>
          </a:prstGeom>
          <a:noFill/>
          <a:ln/>
        </p:spPr>
        <p:txBody>
          <a:bodyPr wrap="square" lIns="0" tIns="0" rIns="0" bIns="0" rtlCol="0" anchor="t"/>
          <a:lstStyle/>
          <a:p>
            <a:pPr indent="0" marL="0">
              <a:buNone/>
            </a:pPr>
            <a:r>
              <a:rPr lang="en-US" sz="850" i="1" dirty="0">
                <a:solidFill>
                  <a:srgbClr val="6E655C"/>
                </a:solidFill>
                <a:latin typeface="Calibri" pitchFamily="34" charset="0"/>
                <a:ea typeface="Calibri" pitchFamily="34" charset="-122"/>
                <a:cs typeface="Calibri" pitchFamily="34" charset="-120"/>
              </a:rPr>
              <a:t>Recorded 13 Oct 2026: api.weather.gov answered the point lookup for Chicago and its forecast with 14 periods, each with a probabilityOfPrecipitation; this deck does not run that again.</a:t>
            </a:r>
            <a:endParaRPr lang="en-US" sz="850" dirty="0"/>
          </a:p>
        </p:txBody>
      </p:sp>
      <p:sp>
        <p:nvSpPr>
          <p:cNvPr id="15" name="Shape 13"/>
          <p:cNvSpPr/>
          <p:nvPr/>
        </p:nvSpPr>
        <p:spPr>
          <a:xfrm>
            <a:off x="457200" y="4636008"/>
            <a:ext cx="91440" cy="310896"/>
          </a:xfrm>
          <a:prstGeom prst="rect">
            <a:avLst/>
          </a:prstGeom>
          <a:solidFill>
            <a:srgbClr val="D97A14"/>
          </a:solidFill>
          <a:ln w="12700">
            <a:solidFill>
              <a:srgbClr val="D97A14"/>
            </a:solidFill>
            <a:prstDash val="solid"/>
          </a:ln>
        </p:spPr>
      </p:sp>
      <p:sp>
        <p:nvSpPr>
          <p:cNvPr id="16" name="Text 14"/>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Compare a number, not a word; read the header, not the HTML.</a:t>
            </a:r>
            <a:endParaRPr lang="en-US" sz="1350" dirty="0"/>
          </a:p>
        </p:txBody>
      </p:sp>
      <p:sp>
        <p:nvSpPr>
          <p:cNvPr id="17" name="Text 1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22 / 26</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Email-Based Computer Control</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Check the password, run only an allow-list, never pass the subject to a shell</a:t>
            </a:r>
            <a:endParaRPr lang="en-US" sz="1300" dirty="0"/>
          </a:p>
        </p:txBody>
      </p:sp>
      <p:sp>
        <p:nvSpPr>
          <p:cNvPr id="6" name="Shape 4"/>
          <p:cNvSpPr/>
          <p:nvPr/>
        </p:nvSpPr>
        <p:spPr>
          <a:xfrm>
            <a:off x="685800" y="1312164"/>
            <a:ext cx="2514600" cy="256032"/>
          </a:xfrm>
          <a:prstGeom prst="roundRect">
            <a:avLst>
              <a:gd name="adj" fmla="val 28571"/>
            </a:avLst>
          </a:prstGeom>
          <a:solidFill>
            <a:srgbClr val="F2ECE1"/>
          </a:solidFill>
          <a:ln w="15875">
            <a:solidFill>
              <a:srgbClr val="2F6D62"/>
            </a:solidFill>
            <a:prstDash val="solid"/>
          </a:ln>
        </p:spPr>
      </p:sp>
      <p:sp>
        <p:nvSpPr>
          <p:cNvPr id="7" name="Text 5"/>
          <p:cNvSpPr txBox="1"/>
          <p:nvPr/>
        </p:nvSpPr>
        <p:spPr>
          <a:xfrm>
            <a:off x="749808" y="1369771"/>
            <a:ext cx="2386584" cy="140818"/>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Check the mail for instructions</a:t>
            </a:r>
            <a:endParaRPr lang="en-US" sz="800" dirty="0"/>
          </a:p>
        </p:txBody>
      </p:sp>
      <p:sp>
        <p:nvSpPr>
          <p:cNvPr id="8" name="Shape 6"/>
          <p:cNvSpPr/>
          <p:nvPr/>
        </p:nvSpPr>
        <p:spPr>
          <a:xfrm>
            <a:off x="685800" y="1609344"/>
            <a:ext cx="2514600" cy="301752"/>
          </a:xfrm>
          <a:prstGeom prst="hexagon">
            <a:avLst/>
          </a:prstGeom>
          <a:solidFill>
            <a:srgbClr val="D97A14"/>
          </a:solidFill>
          <a:ln w="15875">
            <a:solidFill>
              <a:srgbClr val="D97A14"/>
            </a:solidFill>
            <a:prstDash val="solid"/>
          </a:ln>
        </p:spPr>
      </p:sp>
      <p:sp>
        <p:nvSpPr>
          <p:cNvPr id="9" name="Text 7"/>
          <p:cNvSpPr txBox="1"/>
          <p:nvPr/>
        </p:nvSpPr>
        <p:spPr>
          <a:xfrm>
            <a:off x="841248" y="1689811"/>
            <a:ext cx="2203704" cy="14081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Is the password in the message?</a:t>
            </a:r>
            <a:endParaRPr lang="en-US" sz="800" dirty="0"/>
          </a:p>
        </p:txBody>
      </p:sp>
      <p:sp>
        <p:nvSpPr>
          <p:cNvPr id="10" name="Shape 8"/>
          <p:cNvSpPr/>
          <p:nvPr/>
        </p:nvSpPr>
        <p:spPr>
          <a:xfrm>
            <a:off x="685800" y="1929384"/>
            <a:ext cx="2514600" cy="301752"/>
          </a:xfrm>
          <a:prstGeom prst="hexagon">
            <a:avLst/>
          </a:prstGeom>
          <a:solidFill>
            <a:srgbClr val="D97A14"/>
          </a:solidFill>
          <a:ln w="15875">
            <a:solidFill>
              <a:srgbClr val="D97A14"/>
            </a:solidFill>
            <a:prstDash val="solid"/>
          </a:ln>
        </p:spPr>
      </p:sp>
      <p:sp>
        <p:nvSpPr>
          <p:cNvPr id="11" name="Text 9"/>
          <p:cNvSpPr txBox="1"/>
          <p:nvPr/>
        </p:nvSpPr>
        <p:spPr>
          <a:xfrm>
            <a:off x="841248" y="2009851"/>
            <a:ext cx="2203704" cy="14081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Is the command on the allow-list?</a:t>
            </a:r>
            <a:endParaRPr lang="en-US" sz="800" dirty="0"/>
          </a:p>
        </p:txBody>
      </p:sp>
      <p:sp>
        <p:nvSpPr>
          <p:cNvPr id="12" name="Shape 10"/>
          <p:cNvSpPr/>
          <p:nvPr/>
        </p:nvSpPr>
        <p:spPr>
          <a:xfrm>
            <a:off x="685800" y="2272284"/>
            <a:ext cx="2514600" cy="256032"/>
          </a:xfrm>
          <a:prstGeom prst="roundRect">
            <a:avLst>
              <a:gd name="adj" fmla="val 28571"/>
            </a:avLst>
          </a:prstGeom>
          <a:solidFill>
            <a:srgbClr val="F2ECE1"/>
          </a:solidFill>
          <a:ln w="15875">
            <a:solidFill>
              <a:srgbClr val="2F6D62"/>
            </a:solidFill>
            <a:prstDash val="solid"/>
          </a:ln>
        </p:spPr>
      </p:sp>
      <p:sp>
        <p:nvSpPr>
          <p:cNvPr id="13" name="Text 11"/>
          <p:cNvSpPr txBox="1"/>
          <p:nvPr/>
        </p:nvSpPr>
        <p:spPr>
          <a:xfrm>
            <a:off x="749808" y="2329891"/>
            <a:ext cx="2386584" cy="140818"/>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Launch the program with Popen</a:t>
            </a:r>
            <a:endParaRPr lang="en-US" sz="800" dirty="0"/>
          </a:p>
        </p:txBody>
      </p:sp>
      <p:sp>
        <p:nvSpPr>
          <p:cNvPr id="14" name="Shape 12"/>
          <p:cNvSpPr/>
          <p:nvPr/>
        </p:nvSpPr>
        <p:spPr>
          <a:xfrm>
            <a:off x="685800" y="2592324"/>
            <a:ext cx="2514600" cy="256032"/>
          </a:xfrm>
          <a:prstGeom prst="roundRect">
            <a:avLst>
              <a:gd name="adj" fmla="val 28571"/>
            </a:avLst>
          </a:prstGeom>
          <a:solidFill>
            <a:srgbClr val="F2ECE1"/>
          </a:solidFill>
          <a:ln w="15875">
            <a:solidFill>
              <a:srgbClr val="2F6D62"/>
            </a:solidFill>
            <a:prstDash val="solid"/>
          </a:ln>
        </p:spPr>
      </p:sp>
      <p:sp>
        <p:nvSpPr>
          <p:cNvPr id="15" name="Text 13"/>
          <p:cNvSpPr txBox="1"/>
          <p:nvPr/>
        </p:nvSpPr>
        <p:spPr>
          <a:xfrm>
            <a:off x="749808" y="2649931"/>
            <a:ext cx="2386584" cy="140818"/>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Wait for the program with wait()</a:t>
            </a:r>
            <a:endParaRPr lang="en-US" sz="800" dirty="0"/>
          </a:p>
        </p:txBody>
      </p:sp>
      <p:sp>
        <p:nvSpPr>
          <p:cNvPr id="16" name="Shape 14"/>
          <p:cNvSpPr/>
          <p:nvPr/>
        </p:nvSpPr>
        <p:spPr>
          <a:xfrm>
            <a:off x="685800" y="2912364"/>
            <a:ext cx="2514600" cy="256032"/>
          </a:xfrm>
          <a:prstGeom prst="roundRect">
            <a:avLst>
              <a:gd name="adj" fmla="val 28571"/>
            </a:avLst>
          </a:prstGeom>
          <a:solidFill>
            <a:srgbClr val="F2ECE1"/>
          </a:solidFill>
          <a:ln w="15875">
            <a:solidFill>
              <a:srgbClr val="2F6D62"/>
            </a:solidFill>
            <a:prstDash val="solid"/>
          </a:ln>
        </p:spPr>
      </p:sp>
      <p:sp>
        <p:nvSpPr>
          <p:cNvPr id="17" name="Text 15"/>
          <p:cNvSpPr txBox="1"/>
          <p:nvPr/>
        </p:nvSpPr>
        <p:spPr>
          <a:xfrm>
            <a:off x="749808" y="2969971"/>
            <a:ext cx="2386584" cy="140818"/>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Delete the emails the loop handled</a:t>
            </a:r>
            <a:endParaRPr lang="en-US" sz="800" dirty="0"/>
          </a:p>
        </p:txBody>
      </p:sp>
      <p:sp>
        <p:nvSpPr>
          <p:cNvPr id="18" name="Shape 16"/>
          <p:cNvSpPr/>
          <p:nvPr/>
        </p:nvSpPr>
        <p:spPr>
          <a:xfrm>
            <a:off x="685800" y="3232404"/>
            <a:ext cx="2514600" cy="256032"/>
          </a:xfrm>
          <a:prstGeom prst="roundRect">
            <a:avLst>
              <a:gd name="adj" fmla="val 28571"/>
            </a:avLst>
          </a:prstGeom>
          <a:solidFill>
            <a:srgbClr val="F2ECE1"/>
          </a:solidFill>
          <a:ln w="15875">
            <a:solidFill>
              <a:srgbClr val="2F6D62"/>
            </a:solidFill>
            <a:prstDash val="solid"/>
          </a:ln>
        </p:spPr>
      </p:sp>
      <p:sp>
        <p:nvSpPr>
          <p:cNvPr id="19" name="Text 17"/>
          <p:cNvSpPr txBox="1"/>
          <p:nvPr/>
        </p:nvSpPr>
        <p:spPr>
          <a:xfrm>
            <a:off x="749808" y="3290011"/>
            <a:ext cx="2386584" cy="140818"/>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Wait 15 minutes</a:t>
            </a:r>
            <a:endParaRPr lang="en-US" sz="800" dirty="0"/>
          </a:p>
        </p:txBody>
      </p:sp>
      <p:sp>
        <p:nvSpPr>
          <p:cNvPr id="20" name="Shape 18"/>
          <p:cNvSpPr/>
          <p:nvPr/>
        </p:nvSpPr>
        <p:spPr>
          <a:xfrm>
            <a:off x="3520440" y="1348740"/>
            <a:ext cx="182880" cy="182880"/>
          </a:xfrm>
          <a:prstGeom prst="ellipse">
            <a:avLst/>
          </a:prstGeom>
          <a:solidFill>
            <a:srgbClr val="2B2622"/>
          </a:solidFill>
          <a:ln w="15875">
            <a:solidFill>
              <a:srgbClr val="2B2622"/>
            </a:solidFill>
            <a:prstDash val="solid"/>
          </a:ln>
        </p:spPr>
      </p:sp>
      <p:sp>
        <p:nvSpPr>
          <p:cNvPr id="21" name="Shape 19"/>
          <p:cNvSpPr/>
          <p:nvPr/>
        </p:nvSpPr>
        <p:spPr>
          <a:xfrm>
            <a:off x="1815084" y="3552444"/>
            <a:ext cx="256032" cy="256032"/>
          </a:xfrm>
          <a:prstGeom prst="ellipse">
            <a:avLst/>
          </a:prstGeom>
          <a:solidFill>
            <a:srgbClr val="FFFFFF"/>
          </a:solidFill>
          <a:ln w="25400">
            <a:solidFill>
              <a:srgbClr val="2B2622"/>
            </a:solidFill>
            <a:prstDash val="solid"/>
          </a:ln>
        </p:spPr>
      </p:sp>
      <p:sp>
        <p:nvSpPr>
          <p:cNvPr id="22" name="Shape 20"/>
          <p:cNvSpPr/>
          <p:nvPr/>
        </p:nvSpPr>
        <p:spPr>
          <a:xfrm>
            <a:off x="1869948" y="3607308"/>
            <a:ext cx="146304" cy="146304"/>
          </a:xfrm>
          <a:prstGeom prst="ellipse">
            <a:avLst/>
          </a:prstGeom>
          <a:solidFill>
            <a:srgbClr val="2B2622"/>
          </a:solidFill>
          <a:ln w="15875">
            <a:solidFill>
              <a:srgbClr val="2B2622"/>
            </a:solidFill>
            <a:prstDash val="solid"/>
          </a:ln>
        </p:spPr>
      </p:sp>
      <p:sp>
        <p:nvSpPr>
          <p:cNvPr id="23" name="Shape 21"/>
          <p:cNvSpPr/>
          <p:nvPr/>
        </p:nvSpPr>
        <p:spPr>
          <a:xfrm flipH="1">
            <a:off x="3200400" y="1440180"/>
            <a:ext cx="320040" cy="0"/>
          </a:xfrm>
          <a:prstGeom prst="line">
            <a:avLst/>
          </a:prstGeom>
          <a:noFill/>
          <a:ln w="15875">
            <a:solidFill>
              <a:srgbClr val="6E655C"/>
            </a:solidFill>
            <a:prstDash val="solid"/>
            <a:tailEnd type="triangle"/>
          </a:ln>
        </p:spPr>
      </p:sp>
      <p:sp>
        <p:nvSpPr>
          <p:cNvPr id="24" name="Shape 22"/>
          <p:cNvSpPr/>
          <p:nvPr/>
        </p:nvSpPr>
        <p:spPr>
          <a:xfrm>
            <a:off x="1943100" y="1568196"/>
            <a:ext cx="0" cy="41148"/>
          </a:xfrm>
          <a:prstGeom prst="line">
            <a:avLst/>
          </a:prstGeom>
          <a:noFill/>
          <a:ln w="15875">
            <a:solidFill>
              <a:srgbClr val="6E655C"/>
            </a:solidFill>
            <a:prstDash val="solid"/>
            <a:tailEnd type="triangle"/>
          </a:ln>
        </p:spPr>
      </p:sp>
      <p:sp>
        <p:nvSpPr>
          <p:cNvPr id="25" name="Shape 23"/>
          <p:cNvSpPr/>
          <p:nvPr/>
        </p:nvSpPr>
        <p:spPr>
          <a:xfrm>
            <a:off x="1943100" y="1911096"/>
            <a:ext cx="0" cy="18288"/>
          </a:xfrm>
          <a:prstGeom prst="line">
            <a:avLst/>
          </a:prstGeom>
          <a:noFill/>
          <a:ln w="15875">
            <a:solidFill>
              <a:srgbClr val="6E655C"/>
            </a:solidFill>
            <a:prstDash val="solid"/>
            <a:tailEnd type="triangle"/>
          </a:ln>
        </p:spPr>
      </p:sp>
      <p:sp>
        <p:nvSpPr>
          <p:cNvPr id="26" name="Text 24"/>
          <p:cNvSpPr txBox="1"/>
          <p:nvPr/>
        </p:nvSpPr>
        <p:spPr>
          <a:xfrm>
            <a:off x="1997964" y="1837944"/>
            <a:ext cx="310896" cy="164592"/>
          </a:xfrm>
          <a:prstGeom prst="rect">
            <a:avLst/>
          </a:prstGeom>
          <a:solidFill>
            <a:srgbClr val="FAF6EF"/>
          </a:solidFill>
          <a:ln/>
        </p:spPr>
        <p:txBody>
          <a:bodyPr wrap="square" lIns="0" tIns="0" rIns="0" bIns="0" rtlCol="0" anchor="ctr"/>
          <a:lstStyle/>
          <a:p>
            <a:pPr algn="l" indent="0" marL="0">
              <a:buNone/>
            </a:pPr>
            <a:r>
              <a:rPr lang="en-US" sz="800" i="1" dirty="0">
                <a:solidFill>
                  <a:srgbClr val="6E655C"/>
                </a:solidFill>
                <a:latin typeface="Calibri" pitchFamily="34" charset="0"/>
                <a:ea typeface="Calibri" pitchFamily="34" charset="-122"/>
                <a:cs typeface="Calibri" pitchFamily="34" charset="-120"/>
              </a:rPr>
              <a:t>yes</a:t>
            </a:r>
            <a:endParaRPr lang="en-US" sz="800" dirty="0"/>
          </a:p>
        </p:txBody>
      </p:sp>
      <p:sp>
        <p:nvSpPr>
          <p:cNvPr id="27" name="Shape 25"/>
          <p:cNvSpPr/>
          <p:nvPr/>
        </p:nvSpPr>
        <p:spPr>
          <a:xfrm>
            <a:off x="3200400" y="1760220"/>
            <a:ext cx="201168" cy="0"/>
          </a:xfrm>
          <a:prstGeom prst="line">
            <a:avLst/>
          </a:prstGeom>
          <a:noFill/>
          <a:ln w="15875">
            <a:solidFill>
              <a:srgbClr val="6E655C"/>
            </a:solidFill>
            <a:prstDash val="solid"/>
          </a:ln>
        </p:spPr>
      </p:sp>
      <p:sp>
        <p:nvSpPr>
          <p:cNvPr id="28" name="Shape 26"/>
          <p:cNvSpPr/>
          <p:nvPr/>
        </p:nvSpPr>
        <p:spPr>
          <a:xfrm>
            <a:off x="3401568" y="1760220"/>
            <a:ext cx="0" cy="1280160"/>
          </a:xfrm>
          <a:prstGeom prst="line">
            <a:avLst/>
          </a:prstGeom>
          <a:noFill/>
          <a:ln w="15875">
            <a:solidFill>
              <a:srgbClr val="6E655C"/>
            </a:solidFill>
            <a:prstDash val="solid"/>
          </a:ln>
        </p:spPr>
      </p:sp>
      <p:sp>
        <p:nvSpPr>
          <p:cNvPr id="29" name="Shape 27"/>
          <p:cNvSpPr/>
          <p:nvPr/>
        </p:nvSpPr>
        <p:spPr>
          <a:xfrm flipH="1">
            <a:off x="3200400" y="3040380"/>
            <a:ext cx="201168" cy="0"/>
          </a:xfrm>
          <a:prstGeom prst="line">
            <a:avLst/>
          </a:prstGeom>
          <a:noFill/>
          <a:ln w="15875">
            <a:solidFill>
              <a:srgbClr val="6E655C"/>
            </a:solidFill>
            <a:prstDash val="solid"/>
            <a:tailEnd type="triangle"/>
          </a:ln>
        </p:spPr>
      </p:sp>
      <p:sp>
        <p:nvSpPr>
          <p:cNvPr id="30" name="Text 28"/>
          <p:cNvSpPr txBox="1"/>
          <p:nvPr/>
        </p:nvSpPr>
        <p:spPr>
          <a:xfrm>
            <a:off x="3236976" y="1787652"/>
            <a:ext cx="310896" cy="164592"/>
          </a:xfrm>
          <a:prstGeom prst="rect">
            <a:avLst/>
          </a:prstGeom>
          <a:solidFill>
            <a:srgbClr val="FAF6EF"/>
          </a:solidFill>
          <a:ln/>
        </p:spPr>
        <p:txBody>
          <a:bodyPr wrap="square" lIns="0" tIns="0" rIns="0" bIns="0" rtlCol="0" anchor="ctr"/>
          <a:lstStyle/>
          <a:p>
            <a:pPr algn="l" indent="0" marL="0">
              <a:buNone/>
            </a:pPr>
            <a:r>
              <a:rPr lang="en-US" sz="800" i="1" dirty="0">
                <a:solidFill>
                  <a:srgbClr val="6E655C"/>
                </a:solidFill>
                <a:latin typeface="Calibri" pitchFamily="34" charset="0"/>
                <a:ea typeface="Calibri" pitchFamily="34" charset="-122"/>
                <a:cs typeface="Calibri" pitchFamily="34" charset="-120"/>
              </a:rPr>
              <a:t>no</a:t>
            </a:r>
            <a:endParaRPr lang="en-US" sz="800" dirty="0"/>
          </a:p>
        </p:txBody>
      </p:sp>
      <p:sp>
        <p:nvSpPr>
          <p:cNvPr id="31" name="Shape 29"/>
          <p:cNvSpPr/>
          <p:nvPr/>
        </p:nvSpPr>
        <p:spPr>
          <a:xfrm>
            <a:off x="1943100" y="2231136"/>
            <a:ext cx="0" cy="41148"/>
          </a:xfrm>
          <a:prstGeom prst="line">
            <a:avLst/>
          </a:prstGeom>
          <a:noFill/>
          <a:ln w="15875">
            <a:solidFill>
              <a:srgbClr val="6E655C"/>
            </a:solidFill>
            <a:prstDash val="solid"/>
            <a:tailEnd type="triangle"/>
          </a:ln>
        </p:spPr>
      </p:sp>
      <p:sp>
        <p:nvSpPr>
          <p:cNvPr id="32" name="Text 30"/>
          <p:cNvSpPr txBox="1"/>
          <p:nvPr/>
        </p:nvSpPr>
        <p:spPr>
          <a:xfrm>
            <a:off x="1997964" y="2168957"/>
            <a:ext cx="310896" cy="164592"/>
          </a:xfrm>
          <a:prstGeom prst="rect">
            <a:avLst/>
          </a:prstGeom>
          <a:solidFill>
            <a:srgbClr val="FAF6EF"/>
          </a:solidFill>
          <a:ln/>
        </p:spPr>
        <p:txBody>
          <a:bodyPr wrap="square" lIns="0" tIns="0" rIns="0" bIns="0" rtlCol="0" anchor="ctr"/>
          <a:lstStyle/>
          <a:p>
            <a:pPr algn="l" indent="0" marL="0">
              <a:buNone/>
            </a:pPr>
            <a:r>
              <a:rPr lang="en-US" sz="800" i="1" dirty="0">
                <a:solidFill>
                  <a:srgbClr val="6E655C"/>
                </a:solidFill>
                <a:latin typeface="Calibri" pitchFamily="34" charset="0"/>
                <a:ea typeface="Calibri" pitchFamily="34" charset="-122"/>
                <a:cs typeface="Calibri" pitchFamily="34" charset="-120"/>
              </a:rPr>
              <a:t>yes</a:t>
            </a:r>
            <a:endParaRPr lang="en-US" sz="800" dirty="0"/>
          </a:p>
        </p:txBody>
      </p:sp>
      <p:sp>
        <p:nvSpPr>
          <p:cNvPr id="33" name="Shape 31"/>
          <p:cNvSpPr/>
          <p:nvPr/>
        </p:nvSpPr>
        <p:spPr>
          <a:xfrm>
            <a:off x="3200400" y="2080260"/>
            <a:ext cx="201168" cy="0"/>
          </a:xfrm>
          <a:prstGeom prst="line">
            <a:avLst/>
          </a:prstGeom>
          <a:noFill/>
          <a:ln w="15875">
            <a:solidFill>
              <a:srgbClr val="6E655C"/>
            </a:solidFill>
            <a:prstDash val="solid"/>
          </a:ln>
        </p:spPr>
      </p:sp>
      <p:sp>
        <p:nvSpPr>
          <p:cNvPr id="34" name="Shape 32"/>
          <p:cNvSpPr/>
          <p:nvPr/>
        </p:nvSpPr>
        <p:spPr>
          <a:xfrm>
            <a:off x="3401568" y="2080260"/>
            <a:ext cx="0" cy="960120"/>
          </a:xfrm>
          <a:prstGeom prst="line">
            <a:avLst/>
          </a:prstGeom>
          <a:noFill/>
          <a:ln w="15875">
            <a:solidFill>
              <a:srgbClr val="6E655C"/>
            </a:solidFill>
            <a:prstDash val="solid"/>
          </a:ln>
        </p:spPr>
      </p:sp>
      <p:sp>
        <p:nvSpPr>
          <p:cNvPr id="35" name="Shape 33"/>
          <p:cNvSpPr/>
          <p:nvPr/>
        </p:nvSpPr>
        <p:spPr>
          <a:xfrm flipH="1">
            <a:off x="3200400" y="3040380"/>
            <a:ext cx="201168" cy="0"/>
          </a:xfrm>
          <a:prstGeom prst="line">
            <a:avLst/>
          </a:prstGeom>
          <a:noFill/>
          <a:ln w="15875">
            <a:solidFill>
              <a:srgbClr val="6E655C"/>
            </a:solidFill>
            <a:prstDash val="solid"/>
            <a:tailEnd type="triangle"/>
          </a:ln>
        </p:spPr>
      </p:sp>
      <p:sp>
        <p:nvSpPr>
          <p:cNvPr id="36" name="Text 34"/>
          <p:cNvSpPr txBox="1"/>
          <p:nvPr/>
        </p:nvSpPr>
        <p:spPr>
          <a:xfrm>
            <a:off x="3236976" y="2107692"/>
            <a:ext cx="310896" cy="164592"/>
          </a:xfrm>
          <a:prstGeom prst="rect">
            <a:avLst/>
          </a:prstGeom>
          <a:solidFill>
            <a:srgbClr val="FAF6EF"/>
          </a:solidFill>
          <a:ln/>
        </p:spPr>
        <p:txBody>
          <a:bodyPr wrap="square" lIns="0" tIns="0" rIns="0" bIns="0" rtlCol="0" anchor="ctr"/>
          <a:lstStyle/>
          <a:p>
            <a:pPr algn="l" indent="0" marL="0">
              <a:buNone/>
            </a:pPr>
            <a:r>
              <a:rPr lang="en-US" sz="800" i="1" dirty="0">
                <a:solidFill>
                  <a:srgbClr val="6E655C"/>
                </a:solidFill>
                <a:latin typeface="Calibri" pitchFamily="34" charset="0"/>
                <a:ea typeface="Calibri" pitchFamily="34" charset="-122"/>
                <a:cs typeface="Calibri" pitchFamily="34" charset="-120"/>
              </a:rPr>
              <a:t>no</a:t>
            </a:r>
            <a:endParaRPr lang="en-US" sz="800" dirty="0"/>
          </a:p>
        </p:txBody>
      </p:sp>
      <p:sp>
        <p:nvSpPr>
          <p:cNvPr id="37" name="Shape 35"/>
          <p:cNvSpPr/>
          <p:nvPr/>
        </p:nvSpPr>
        <p:spPr>
          <a:xfrm>
            <a:off x="1943100" y="2528316"/>
            <a:ext cx="0" cy="64008"/>
          </a:xfrm>
          <a:prstGeom prst="line">
            <a:avLst/>
          </a:prstGeom>
          <a:noFill/>
          <a:ln w="15875">
            <a:solidFill>
              <a:srgbClr val="6E655C"/>
            </a:solidFill>
            <a:prstDash val="solid"/>
            <a:tailEnd type="triangle"/>
          </a:ln>
        </p:spPr>
      </p:sp>
      <p:sp>
        <p:nvSpPr>
          <p:cNvPr id="38" name="Shape 36"/>
          <p:cNvSpPr/>
          <p:nvPr/>
        </p:nvSpPr>
        <p:spPr>
          <a:xfrm>
            <a:off x="1943100" y="2848356"/>
            <a:ext cx="0" cy="64008"/>
          </a:xfrm>
          <a:prstGeom prst="line">
            <a:avLst/>
          </a:prstGeom>
          <a:noFill/>
          <a:ln w="15875">
            <a:solidFill>
              <a:srgbClr val="6E655C"/>
            </a:solidFill>
            <a:prstDash val="solid"/>
            <a:tailEnd type="triangle"/>
          </a:ln>
        </p:spPr>
      </p:sp>
      <p:sp>
        <p:nvSpPr>
          <p:cNvPr id="39" name="Shape 37"/>
          <p:cNvSpPr/>
          <p:nvPr/>
        </p:nvSpPr>
        <p:spPr>
          <a:xfrm>
            <a:off x="1943100" y="3168396"/>
            <a:ext cx="0" cy="64008"/>
          </a:xfrm>
          <a:prstGeom prst="line">
            <a:avLst/>
          </a:prstGeom>
          <a:noFill/>
          <a:ln w="15875">
            <a:solidFill>
              <a:srgbClr val="6E655C"/>
            </a:solidFill>
            <a:prstDash val="solid"/>
            <a:tailEnd type="triangle"/>
          </a:ln>
        </p:spPr>
      </p:sp>
      <p:sp>
        <p:nvSpPr>
          <p:cNvPr id="40" name="Shape 38"/>
          <p:cNvSpPr/>
          <p:nvPr/>
        </p:nvSpPr>
        <p:spPr>
          <a:xfrm flipH="1">
            <a:off x="484632" y="3360420"/>
            <a:ext cx="201168" cy="0"/>
          </a:xfrm>
          <a:prstGeom prst="line">
            <a:avLst/>
          </a:prstGeom>
          <a:noFill/>
          <a:ln w="15875">
            <a:solidFill>
              <a:srgbClr val="6E655C"/>
            </a:solidFill>
            <a:prstDash val="solid"/>
          </a:ln>
        </p:spPr>
      </p:sp>
      <p:sp>
        <p:nvSpPr>
          <p:cNvPr id="41" name="Shape 39"/>
          <p:cNvSpPr/>
          <p:nvPr/>
        </p:nvSpPr>
        <p:spPr>
          <a:xfrm flipV="1">
            <a:off x="484632" y="1440180"/>
            <a:ext cx="0" cy="1920240"/>
          </a:xfrm>
          <a:prstGeom prst="line">
            <a:avLst/>
          </a:prstGeom>
          <a:noFill/>
          <a:ln w="15875">
            <a:solidFill>
              <a:srgbClr val="6E655C"/>
            </a:solidFill>
            <a:prstDash val="solid"/>
          </a:ln>
        </p:spPr>
      </p:sp>
      <p:sp>
        <p:nvSpPr>
          <p:cNvPr id="42" name="Shape 40"/>
          <p:cNvSpPr/>
          <p:nvPr/>
        </p:nvSpPr>
        <p:spPr>
          <a:xfrm>
            <a:off x="484632" y="1440180"/>
            <a:ext cx="201168" cy="0"/>
          </a:xfrm>
          <a:prstGeom prst="line">
            <a:avLst/>
          </a:prstGeom>
          <a:noFill/>
          <a:ln w="15875">
            <a:solidFill>
              <a:srgbClr val="6E655C"/>
            </a:solidFill>
            <a:prstDash val="solid"/>
            <a:tailEnd type="triangle"/>
          </a:ln>
        </p:spPr>
      </p:sp>
      <p:sp>
        <p:nvSpPr>
          <p:cNvPr id="43" name="Shape 41"/>
          <p:cNvSpPr/>
          <p:nvPr/>
        </p:nvSpPr>
        <p:spPr>
          <a:xfrm>
            <a:off x="1943100" y="3488436"/>
            <a:ext cx="0" cy="64008"/>
          </a:xfrm>
          <a:prstGeom prst="line">
            <a:avLst/>
          </a:prstGeom>
          <a:noFill/>
          <a:ln w="15875">
            <a:solidFill>
              <a:srgbClr val="6E655C"/>
            </a:solidFill>
            <a:prstDash val="solid"/>
            <a:tailEnd type="triangle"/>
          </a:ln>
        </p:spPr>
      </p:sp>
      <p:sp>
        <p:nvSpPr>
          <p:cNvPr id="44" name="Text 42"/>
          <p:cNvSpPr txBox="1"/>
          <p:nvPr/>
        </p:nvSpPr>
        <p:spPr>
          <a:xfrm>
            <a:off x="457200" y="3867912"/>
            <a:ext cx="3383280" cy="301752"/>
          </a:xfrm>
          <a:prstGeom prst="rect">
            <a:avLst/>
          </a:prstGeom>
          <a:noFill/>
          <a:ln/>
        </p:spPr>
        <p:txBody>
          <a:bodyPr wrap="square" lIns="0" tIns="0" rIns="0" bIns="0" rtlCol="0" anchor="t"/>
          <a:lstStyle/>
          <a:p>
            <a:pPr indent="0" marL="0">
              <a:buNone/>
            </a:pPr>
            <a:r>
              <a:rPr lang="en-US" sz="850" i="1" dirty="0">
                <a:solidFill>
                  <a:srgbClr val="6E655C"/>
                </a:solidFill>
                <a:latin typeface="Calibri" pitchFamily="34" charset="0"/>
                <a:ea typeface="Calibri" pitchFamily="34" charset="-122"/>
                <a:cs typeface="Calibri" pitchFamily="34" charset="-120"/>
              </a:rPr>
              <a:t>diagram ControllingAComputerByEmail - Workflow pattern, 20 of 20 words grounded in the chapter's text</a:t>
            </a:r>
            <a:endParaRPr lang="en-US" sz="850" dirty="0"/>
          </a:p>
        </p:txBody>
      </p:sp>
      <p:sp>
        <p:nvSpPr>
          <p:cNvPr id="45" name="Text 43"/>
          <p:cNvSpPr txBox="1"/>
          <p:nvPr/>
        </p:nvSpPr>
        <p:spPr>
          <a:xfrm>
            <a:off x="3931920" y="1143000"/>
            <a:ext cx="3803904"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program controlCut_v1_0_0.py, lines 16 to 25 of 25</a:t>
            </a:r>
            <a:endParaRPr lang="en-US" sz="1000" dirty="0"/>
          </a:p>
        </p:txBody>
      </p:sp>
      <p:sp>
        <p:nvSpPr>
          <p:cNvPr id="46" name="Shape 44"/>
          <p:cNvSpPr/>
          <p:nvPr/>
        </p:nvSpPr>
        <p:spPr>
          <a:xfrm>
            <a:off x="3931920" y="1417320"/>
            <a:ext cx="3803904" cy="1920240"/>
          </a:xfrm>
          <a:prstGeom prst="roundRect">
            <a:avLst>
              <a:gd name="adj" fmla="val 4762"/>
            </a:avLst>
          </a:prstGeom>
          <a:solidFill>
            <a:srgbClr val="23272E"/>
          </a:solidFill>
          <a:ln w="12700">
            <a:solidFill>
              <a:srgbClr val="23272E"/>
            </a:solidFill>
            <a:prstDash val="solid"/>
          </a:ln>
        </p:spPr>
      </p:sp>
      <p:sp>
        <p:nvSpPr>
          <p:cNvPr id="47" name="Text 45"/>
          <p:cNvSpPr txBox="1"/>
          <p:nvPr/>
        </p:nvSpPr>
        <p:spPr>
          <a:xfrm>
            <a:off x="4114800" y="1536192"/>
            <a:ext cx="3438144" cy="1682496"/>
          </a:xfrm>
          <a:prstGeom prst="rect">
            <a:avLst/>
          </a:prstGeom>
          <a:noFill/>
          <a:ln/>
        </p:spPr>
        <p:txBody>
          <a:bodyPr wrap="square" lIns="0" tIns="0" rIns="0" bIns="0" rtlCol="0" anchor="t"/>
          <a:lstStyle/>
          <a:p>
            <a:pPr indent="0" marL="0">
              <a:buNone/>
            </a:pPr>
            <a:r>
              <a:rPr lang="en-US" sz="700" dirty="0">
                <a:solidFill>
                  <a:srgbClr val="E6EDF3"/>
                </a:solidFill>
                <a:latin typeface="Courier New" pitchFamily="34" charset="0"/>
                <a:ea typeface="Courier New" pitchFamily="34" charset="-122"/>
                <a:cs typeface="Courier New" pitchFamily="34" charset="-120"/>
              </a:rPr>
              <a:t>SECRET = </a:t>
            </a:r>
            <a:r>
              <a:rPr lang="en-US" sz="700" dirty="0">
                <a:solidFill>
                  <a:srgbClr val="9ECBFF"/>
                </a:solidFill>
                <a:latin typeface="Courier New" pitchFamily="34" charset="0"/>
                <a:ea typeface="Courier New" pitchFamily="34" charset="-122"/>
                <a:cs typeface="Courier New" pitchFamily="34" charset="-120"/>
              </a:rPr>
              <a:t>'correct horse'</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ALLOW = {</a:t>
            </a:r>
            <a:r>
              <a:rPr lang="en-US" sz="700" dirty="0">
                <a:solidFill>
                  <a:srgbClr val="9ECBFF"/>
                </a:solidFill>
                <a:latin typeface="Courier New" pitchFamily="34" charset="0"/>
                <a:ea typeface="Courier New" pitchFamily="34" charset="-122"/>
                <a:cs typeface="Courier New" pitchFamily="34" charset="-120"/>
              </a:rPr>
              <a:t>'noop'</a:t>
            </a:r>
            <a:r>
              <a:rPr lang="en-US" sz="700" dirty="0">
                <a:solidFill>
                  <a:srgbClr val="E6EDF3"/>
                </a:solidFill>
                <a:latin typeface="Courier New" pitchFamily="34" charset="0"/>
                <a:ea typeface="Courier New" pitchFamily="34" charset="-122"/>
                <a:cs typeface="Courier New" pitchFamily="34" charset="-120"/>
              </a:rPr>
              <a:t>: [sys.executable, </a:t>
            </a:r>
            <a:r>
              <a:rPr lang="en-US" sz="700" dirty="0">
                <a:solidFill>
                  <a:srgbClr val="9ECBFF"/>
                </a:solidFill>
                <a:latin typeface="Courier New" pitchFamily="34" charset="0"/>
                <a:ea typeface="Courier New" pitchFamily="34" charset="-122"/>
                <a:cs typeface="Courier New" pitchFamily="34" charset="-120"/>
              </a:rPr>
              <a:t>'-c'</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'pass'</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b="1" dirty="0">
                <a:solidFill>
                  <a:srgbClr val="F2A860"/>
                </a:solidFill>
                <a:latin typeface="Courier New" pitchFamily="34" charset="0"/>
                <a:ea typeface="Courier New" pitchFamily="34" charset="-122"/>
                <a:cs typeface="Courier New" pitchFamily="34" charset="-120"/>
              </a:rPr>
              <a:t>def</a:t>
            </a:r>
            <a:r>
              <a:rPr lang="en-US" sz="700" dirty="0">
                <a:solidFill>
                  <a:srgbClr val="E6EDF3"/>
                </a:solidFill>
                <a:latin typeface="Courier New" pitchFamily="34" charset="0"/>
                <a:ea typeface="Courier New" pitchFamily="34" charset="-122"/>
                <a:cs typeface="Courier New" pitchFamily="34" charset="-120"/>
              </a:rPr>
              <a:t> handle(frm, body):</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pw, _, cmd = body.partition(</a:t>
            </a:r>
            <a:r>
              <a:rPr lang="en-US" sz="700" dirty="0">
                <a:solidFill>
                  <a:srgbClr val="9ECBFF"/>
                </a:solidFill>
                <a:latin typeface="Courier New" pitchFamily="34" charset="0"/>
                <a:ea typeface="Courier New" pitchFamily="34" charset="-122"/>
                <a:cs typeface="Courier New" pitchFamily="34" charset="-120"/>
              </a:rPr>
              <a:t>':'</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if</a:t>
            </a: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not</a:t>
            </a:r>
            <a:r>
              <a:rPr lang="en-US" sz="700" dirty="0">
                <a:solidFill>
                  <a:srgbClr val="E6EDF3"/>
                </a:solidFill>
                <a:latin typeface="Courier New" pitchFamily="34" charset="0"/>
                <a:ea typeface="Courier New" pitchFamily="34" charset="-122"/>
                <a:cs typeface="Courier New" pitchFamily="34" charset="-120"/>
              </a:rPr>
              <a:t> hmac.compare_digest(pw.encode(), SECRET.encode()):</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return</a:t>
            </a:r>
            <a:r>
              <a:rPr lang="en-US" sz="700" dirty="0">
                <a:solidFill>
                  <a:srgbClr val="E6EDF3"/>
                </a:solidFill>
                <a:latin typeface="Courier New" pitchFamily="34" charset="0"/>
                <a:ea typeface="Courier New" pitchFamily="34" charset="-122"/>
                <a:cs typeface="Courier New" pitchFamily="34" charset="-120"/>
              </a:rPr>
              <a:t> (frm, </a:t>
            </a:r>
            <a:r>
              <a:rPr lang="en-US" sz="700" dirty="0">
                <a:solidFill>
                  <a:srgbClr val="9ECBFF"/>
                </a:solidFill>
                <a:latin typeface="Courier New" pitchFamily="34" charset="0"/>
                <a:ea typeface="Courier New" pitchFamily="34" charset="-122"/>
                <a:cs typeface="Courier New" pitchFamily="34" charset="-120"/>
              </a:rPr>
              <a:t>'bad password'</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if</a:t>
            </a:r>
            <a:r>
              <a:rPr lang="en-US" sz="700" dirty="0">
                <a:solidFill>
                  <a:srgbClr val="E6EDF3"/>
                </a:solidFill>
                <a:latin typeface="Courier New" pitchFamily="34" charset="0"/>
                <a:ea typeface="Courier New" pitchFamily="34" charset="-122"/>
                <a:cs typeface="Courier New" pitchFamily="34" charset="-120"/>
              </a:rPr>
              <a:t> cmd </a:t>
            </a:r>
            <a:r>
              <a:rPr lang="en-US" sz="700" b="1" dirty="0">
                <a:solidFill>
                  <a:srgbClr val="F2A860"/>
                </a:solidFill>
                <a:latin typeface="Courier New" pitchFamily="34" charset="0"/>
                <a:ea typeface="Courier New" pitchFamily="34" charset="-122"/>
                <a:cs typeface="Courier New" pitchFamily="34" charset="-120"/>
              </a:rPr>
              <a:t>not</a:t>
            </a: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ALLOW:</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return</a:t>
            </a:r>
            <a:r>
              <a:rPr lang="en-US" sz="700" dirty="0">
                <a:solidFill>
                  <a:srgbClr val="E6EDF3"/>
                </a:solidFill>
                <a:latin typeface="Courier New" pitchFamily="34" charset="0"/>
                <a:ea typeface="Courier New" pitchFamily="34" charset="-122"/>
                <a:cs typeface="Courier New" pitchFamily="34" charset="-120"/>
              </a:rPr>
              <a:t> (frm, </a:t>
            </a:r>
            <a:r>
              <a:rPr lang="en-US" sz="700" dirty="0">
                <a:solidFill>
                  <a:srgbClr val="9ECBFF"/>
                </a:solidFill>
                <a:latin typeface="Courier New" pitchFamily="34" charset="0"/>
                <a:ea typeface="Courier New" pitchFamily="34" charset="-122"/>
                <a:cs typeface="Courier New" pitchFamily="34" charset="-120"/>
              </a:rPr>
              <a:t>'refused '</a:t>
            </a:r>
            <a:r>
              <a:rPr lang="en-US" sz="700" dirty="0">
                <a:solidFill>
                  <a:srgbClr val="E6EDF3"/>
                </a:solidFill>
                <a:latin typeface="Courier New" pitchFamily="34" charset="0"/>
                <a:ea typeface="Courier New" pitchFamily="34" charset="-122"/>
                <a:cs typeface="Courier New" pitchFamily="34" charset="-120"/>
              </a:rPr>
              <a:t> + cmd)</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return</a:t>
            </a:r>
            <a:r>
              <a:rPr lang="en-US" sz="700" dirty="0">
                <a:solidFill>
                  <a:srgbClr val="E6EDF3"/>
                </a:solidFill>
                <a:latin typeface="Courier New" pitchFamily="34" charset="0"/>
                <a:ea typeface="Courier New" pitchFamily="34" charset="-122"/>
                <a:cs typeface="Courier New" pitchFamily="34" charset="-120"/>
              </a:rPr>
              <a:t> (frm, cmd, subprocess.Popen(ALLOW[cmd]).wait())</a:t>
            </a:r>
            <a:endParaRPr lang="en-US" sz="700" dirty="0"/>
          </a:p>
          <a:p>
            <a:pPr indent="0" marL="0">
              <a:buNone/>
            </a:pP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m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inbox: print(handle(*m))</a:t>
            </a:r>
            <a:endParaRPr lang="en-US" sz="700" dirty="0"/>
          </a:p>
          <a:p>
            <a:pPr indent="0" marL="0">
              <a:buNone/>
            </a:pPr>
            <a:r>
              <a:rPr lang="en-US" sz="700" b="1" dirty="0">
                <a:solidFill>
                  <a:srgbClr val="D97A14"/>
                </a:solidFill>
                <a:latin typeface="Courier New" pitchFamily="34" charset="0"/>
                <a:ea typeface="Courier New" pitchFamily="34" charset="-122"/>
                <a:cs typeface="Courier New" pitchFamily="34" charset="-120"/>
              </a:rPr>
              <a:t>prints </a:t>
            </a:r>
            <a:r>
              <a:rPr lang="en-US" sz="700" dirty="0">
                <a:solidFill>
                  <a:srgbClr val="7EE787"/>
                </a:solidFill>
                <a:latin typeface="Courier New" pitchFamily="34" charset="0"/>
                <a:ea typeface="Courier New" pitchFamily="34" charset="-122"/>
                <a:cs typeface="Courier New" pitchFamily="34" charset="-120"/>
              </a:rPr>
              <a:t>('me@a.org', 'noop', 0)</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('x@b.net', 'bad password')</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('me@a.org', 'refused rm')</a:t>
            </a:r>
            <a:endParaRPr lang="en-US" sz="700" dirty="0"/>
          </a:p>
        </p:txBody>
      </p:sp>
      <p:sp>
        <p:nvSpPr>
          <p:cNvPr id="48" name="Shape 46"/>
          <p:cNvSpPr/>
          <p:nvPr/>
        </p:nvSpPr>
        <p:spPr>
          <a:xfrm>
            <a:off x="3931920" y="3383280"/>
            <a:ext cx="4754880" cy="987552"/>
          </a:xfrm>
          <a:prstGeom prst="roundRect">
            <a:avLst>
              <a:gd name="adj" fmla="val 9259"/>
            </a:avLst>
          </a:prstGeom>
          <a:solidFill>
            <a:srgbClr val="23272E"/>
          </a:solidFill>
          <a:ln w="12700">
            <a:solidFill>
              <a:srgbClr val="23272E"/>
            </a:solidFill>
            <a:prstDash val="solid"/>
          </a:ln>
        </p:spPr>
      </p:sp>
      <p:sp>
        <p:nvSpPr>
          <p:cNvPr id="49" name="Text 47"/>
          <p:cNvSpPr txBox="1"/>
          <p:nvPr/>
        </p:nvSpPr>
        <p:spPr>
          <a:xfrm>
            <a:off x="4114800" y="3502152"/>
            <a:ext cx="4389120" cy="749808"/>
          </a:xfrm>
          <a:prstGeom prst="rect">
            <a:avLst/>
          </a:prstGeom>
          <a:noFill/>
          <a:ln/>
        </p:spPr>
        <p:txBody>
          <a:bodyPr wrap="square" lIns="0" tIns="0" rIns="0" bIns="0" rtlCol="0" anchor="t"/>
          <a:lstStyle/>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import subprocess as sp</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sp.run('echo a; echo PWNED', shell=True, capture_output=True).stdout</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b'a\nPWNED\n'</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sp.run(['echo', 'a; echo PWNED'], capture_output=True).stdout</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b'a; echo PWNED\n'</a:t>
            </a:r>
            <a:endParaRPr lang="en-US" sz="750" dirty="0"/>
          </a:p>
        </p:txBody>
      </p:sp>
      <p:sp>
        <p:nvSpPr>
          <p:cNvPr id="50" name="Text 48"/>
          <p:cNvSpPr txBox="1"/>
          <p:nvPr/>
        </p:nvSpPr>
        <p:spPr>
          <a:xfrm>
            <a:off x="3931920" y="4370832"/>
            <a:ext cx="4754880" cy="155448"/>
          </a:xfrm>
          <a:prstGeom prst="rect">
            <a:avLst/>
          </a:prstGeom>
          <a:noFill/>
          <a:ln/>
        </p:spPr>
        <p:txBody>
          <a:bodyPr wrap="square" lIns="0" tIns="0" rIns="0" bIns="0" rtlCol="0" anchor="t"/>
          <a:lstStyle/>
          <a:p>
            <a:pPr indent="0" marL="0">
              <a:buNone/>
            </a:pPr>
            <a:r>
              <a:rPr lang="en-US" sz="800" i="1" dirty="0">
                <a:solidFill>
                  <a:srgbClr val="6E655C"/>
                </a:solidFill>
                <a:latin typeface="Calibri" pitchFamily="34" charset="0"/>
                <a:ea typeface="Calibri" pitchFamily="34" charset="-122"/>
                <a:cs typeface="Calibri" pitchFamily="34" charset="-120"/>
              </a:rPr>
              <a:t>Stand-in mailbox: a list, a local stand-in. Lines 1 to 15 (imports, mailbox) are not shown.</a:t>
            </a:r>
            <a:endParaRPr lang="en-US" sz="800" dirty="0"/>
          </a:p>
        </p:txBody>
      </p:sp>
      <p:sp>
        <p:nvSpPr>
          <p:cNvPr id="51" name="Text 49"/>
          <p:cNvSpPr txBox="1"/>
          <p:nvPr/>
        </p:nvSpPr>
        <p:spPr>
          <a:xfrm>
            <a:off x="457200" y="4206240"/>
            <a:ext cx="3383280" cy="283464"/>
          </a:xfrm>
          <a:prstGeom prst="rect">
            <a:avLst/>
          </a:prstGeom>
          <a:noFill/>
          <a:ln/>
        </p:spPr>
        <p:txBody>
          <a:bodyPr wrap="square" lIns="0" tIns="0" rIns="0" bIns="0" rtlCol="0" anchor="t"/>
          <a:lstStyle/>
          <a:p>
            <a:pPr indent="0" marL="0">
              <a:buNone/>
            </a:pPr>
            <a:r>
              <a:rPr lang="en-US" sz="800" i="1" dirty="0">
                <a:solidFill>
                  <a:srgbClr val="6E655C"/>
                </a:solidFill>
                <a:latin typeface="Calibri" pitchFamily="34" charset="0"/>
                <a:ea typeface="Calibri" pitchFamily="34" charset="-122"/>
                <a:cs typeface="Calibri" pitchFamily="34" charset="-120"/>
              </a:rPr>
              <a:t>NOT EXECUTED: the Popen of qBittorrent on Windows or macOS; Linux raised FileNotFoundError.</a:t>
            </a:r>
            <a:endParaRPr lang="en-US" sz="800" dirty="0"/>
          </a:p>
        </p:txBody>
      </p:sp>
      <p:sp>
        <p:nvSpPr>
          <p:cNvPr id="52" name="Shape 50"/>
          <p:cNvSpPr/>
          <p:nvPr/>
        </p:nvSpPr>
        <p:spPr>
          <a:xfrm>
            <a:off x="457200" y="4636008"/>
            <a:ext cx="91440" cy="310896"/>
          </a:xfrm>
          <a:prstGeom prst="rect">
            <a:avLst/>
          </a:prstGeom>
          <a:solidFill>
            <a:srgbClr val="D97A14"/>
          </a:solidFill>
          <a:ln w="12700">
            <a:solidFill>
              <a:srgbClr val="D97A14"/>
            </a:solidFill>
            <a:prstDash val="solid"/>
          </a:ln>
        </p:spPr>
      </p:sp>
      <p:sp>
        <p:nvSpPr>
          <p:cNvPr id="53" name="Text 5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Run only an allow-list, check the password, never use a shell.</a:t>
            </a:r>
            <a:endParaRPr lang="en-US" sz="1350" dirty="0"/>
          </a:p>
        </p:txBody>
      </p:sp>
      <p:sp>
        <p:nvSpPr>
          <p:cNvPr id="54" name="Text 5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23 / 26</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chapter in one map</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Six branches; the slides of each branch hold the examples</a:t>
            </a:r>
            <a:endParaRPr lang="en-US" sz="1300" dirty="0"/>
          </a:p>
        </p:txBody>
      </p:sp>
      <p:sp>
        <p:nvSpPr>
          <p:cNvPr id="6" name="Shape 4"/>
          <p:cNvSpPr/>
          <p:nvPr/>
        </p:nvSpPr>
        <p:spPr>
          <a:xfrm>
            <a:off x="3657600" y="2217420"/>
            <a:ext cx="1828800" cy="1051560"/>
          </a:xfrm>
          <a:prstGeom prst="roundRect">
            <a:avLst>
              <a:gd name="adj" fmla="val 6957"/>
            </a:avLst>
          </a:prstGeom>
          <a:solidFill>
            <a:srgbClr val="D97A14"/>
          </a:solidFill>
          <a:ln w="15875">
            <a:solidFill>
              <a:srgbClr val="D97A14"/>
            </a:solidFill>
            <a:prstDash val="solid"/>
          </a:ln>
        </p:spPr>
      </p:sp>
      <p:sp>
        <p:nvSpPr>
          <p:cNvPr id="7" name="Text 5"/>
          <p:cNvSpPr txBox="1"/>
          <p:nvPr/>
        </p:nvSpPr>
        <p:spPr>
          <a:xfrm>
            <a:off x="3730752" y="2480767"/>
            <a:ext cx="1682496" cy="5257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 program reaches a person by email, text or push notification</a:t>
            </a:r>
            <a:endParaRPr lang="en-US" sz="1100" dirty="0"/>
          </a:p>
        </p:txBody>
      </p:sp>
      <p:sp>
        <p:nvSpPr>
          <p:cNvPr id="8" name="Shape 6"/>
          <p:cNvSpPr/>
          <p:nvPr/>
        </p:nvSpPr>
        <p:spPr>
          <a:xfrm>
            <a:off x="457200" y="1280160"/>
            <a:ext cx="2834640" cy="932688"/>
          </a:xfrm>
          <a:prstGeom prst="roundRect">
            <a:avLst>
              <a:gd name="adj" fmla="val 7843"/>
            </a:avLst>
          </a:prstGeom>
          <a:solidFill>
            <a:srgbClr val="F2ECE1"/>
          </a:solidFill>
          <a:ln w="15875">
            <a:solidFill>
              <a:srgbClr val="2F6D62"/>
            </a:solidFill>
            <a:prstDash val="solid"/>
          </a:ln>
        </p:spPr>
      </p:sp>
      <p:sp>
        <p:nvSpPr>
          <p:cNvPr id="9" name="Shape 7"/>
          <p:cNvSpPr/>
          <p:nvPr/>
        </p:nvSpPr>
        <p:spPr>
          <a:xfrm>
            <a:off x="3291840" y="1746504"/>
            <a:ext cx="365760" cy="996696"/>
          </a:xfrm>
          <a:prstGeom prst="line">
            <a:avLst/>
          </a:prstGeom>
          <a:noFill/>
          <a:ln w="15875">
            <a:solidFill>
              <a:srgbClr val="C9BFAE"/>
            </a:solidFill>
            <a:prstDash val="solid"/>
          </a:ln>
        </p:spPr>
      </p:sp>
      <p:sp>
        <p:nvSpPr>
          <p:cNvPr id="10" name="Text 8"/>
          <p:cNvSpPr txBox="1"/>
          <p:nvPr/>
        </p:nvSpPr>
        <p:spPr>
          <a:xfrm>
            <a:off x="548640" y="1325880"/>
            <a:ext cx="2651760" cy="171907"/>
          </a:xfrm>
          <a:prstGeom prst="rect">
            <a:avLst/>
          </a:prstGeom>
          <a:noFill/>
          <a:ln/>
        </p:spPr>
        <p:txBody>
          <a:bodyPr wrap="square" lIns="0" tIns="0" rIns="0" bIns="0" rtlCol="0" anchor="t"/>
          <a:lstStyle/>
          <a:p>
            <a:pPr algn="l" indent="0" marL="0">
              <a:buNone/>
            </a:pPr>
            <a:r>
              <a:rPr lang="en-US" sz="1000" b="1" dirty="0">
                <a:solidFill>
                  <a:srgbClr val="2F6D62"/>
                </a:solidFill>
                <a:latin typeface="Calibri" pitchFamily="34" charset="0"/>
                <a:ea typeface="Calibri" pitchFamily="34" charset="-122"/>
                <a:cs typeface="Calibri" pitchFamily="34" charset="-120"/>
              </a:rPr>
              <a:t>The Gmail API</a:t>
            </a:r>
            <a:endParaRPr lang="en-US" sz="1000" dirty="0"/>
          </a:p>
        </p:txBody>
      </p:sp>
      <p:sp>
        <p:nvSpPr>
          <p:cNvPr id="11" name="Text 9"/>
          <p:cNvSpPr txBox="1"/>
          <p:nvPr/>
        </p:nvSpPr>
        <p:spPr>
          <a:xfrm>
            <a:off x="548640" y="1506931"/>
            <a:ext cx="2651760" cy="447142"/>
          </a:xfrm>
          <a:prstGeom prst="rect">
            <a:avLst/>
          </a:prstGeom>
          <a:noFill/>
          <a:ln/>
        </p:spPr>
        <p:txBody>
          <a:bodyPr wrap="square" lIns="0" tIns="0" rIns="0" bIns="0" rtlCol="0" anchor="t"/>
          <a:lstStyle/>
          <a:p>
            <a:pPr algn="l" indent="0" marL="0">
              <a:buNone/>
            </a:pPr>
            <a:r>
              <a:rPr lang="en-US" sz="850" dirty="0">
                <a:solidFill>
                  <a:srgbClr val="2B2622"/>
                </a:solidFill>
                <a:latin typeface="Calibri" pitchFamily="34" charset="0"/>
                <a:ea typeface="Calibri" pitchFamily="34" charset="-122"/>
                <a:cs typeface="Calibri" pitchFamily="34" charset="-120"/>
              </a:rPr>
              <a:t>The token file is a password</a:t>
            </a:r>
            <a:endParaRPr lang="en-US" sz="850" dirty="0"/>
          </a:p>
          <a:p>
            <a:pPr algn="l" indent="0" marL="0">
              <a:buNone/>
            </a:pPr>
            <a:r>
              <a:rPr lang="en-US" sz="850" dirty="0">
                <a:solidFill>
                  <a:srgbClr val="2B2622"/>
                </a:solidFill>
                <a:latin typeface="Calibri" pitchFamily="34" charset="0"/>
                <a:ea typeface="Calibri" pitchFamily="34" charset="-122"/>
                <a:cs typeface="Calibri" pitchFamily="34" charset="-120"/>
              </a:rPr>
              <a:t>A reply keeps the thread id only</a:t>
            </a:r>
            <a:endParaRPr lang="en-US" sz="850" dirty="0"/>
          </a:p>
          <a:p>
            <a:pPr algn="l" indent="0" marL="0">
              <a:buNone/>
            </a:pPr>
            <a:r>
              <a:rPr lang="en-US" sz="850" dirty="0">
                <a:solidFill>
                  <a:srgbClr val="2B2622"/>
                </a:solidFill>
                <a:latin typeface="Calibri" pitchFamily="34" charset="0"/>
                <a:ea typeface="Calibri" pitchFamily="34" charset="-122"/>
                <a:cs typeface="Calibri" pitchFamily="34" charset="-120"/>
              </a:rPr>
              <a:t>A name with a path is written outside</a:t>
            </a:r>
            <a:endParaRPr lang="en-US" sz="850" dirty="0"/>
          </a:p>
        </p:txBody>
      </p:sp>
      <p:sp>
        <p:nvSpPr>
          <p:cNvPr id="12" name="Shape 10"/>
          <p:cNvSpPr/>
          <p:nvPr/>
        </p:nvSpPr>
        <p:spPr>
          <a:xfrm>
            <a:off x="457200" y="2276856"/>
            <a:ext cx="2834640" cy="932688"/>
          </a:xfrm>
          <a:prstGeom prst="roundRect">
            <a:avLst>
              <a:gd name="adj" fmla="val 7843"/>
            </a:avLst>
          </a:prstGeom>
          <a:solidFill>
            <a:srgbClr val="F2ECE1"/>
          </a:solidFill>
          <a:ln w="15875">
            <a:solidFill>
              <a:srgbClr val="2F6D62"/>
            </a:solidFill>
            <a:prstDash val="solid"/>
          </a:ln>
        </p:spPr>
      </p:sp>
      <p:sp>
        <p:nvSpPr>
          <p:cNvPr id="13" name="Shape 11"/>
          <p:cNvSpPr/>
          <p:nvPr/>
        </p:nvSpPr>
        <p:spPr>
          <a:xfrm>
            <a:off x="3291840" y="2743200"/>
            <a:ext cx="365760" cy="0"/>
          </a:xfrm>
          <a:prstGeom prst="line">
            <a:avLst/>
          </a:prstGeom>
          <a:noFill/>
          <a:ln w="15875">
            <a:solidFill>
              <a:srgbClr val="C9BFAE"/>
            </a:solidFill>
            <a:prstDash val="solid"/>
          </a:ln>
        </p:spPr>
      </p:sp>
      <p:sp>
        <p:nvSpPr>
          <p:cNvPr id="14" name="Text 12"/>
          <p:cNvSpPr txBox="1"/>
          <p:nvPr/>
        </p:nvSpPr>
        <p:spPr>
          <a:xfrm>
            <a:off x="548640" y="2322576"/>
            <a:ext cx="2651760" cy="171907"/>
          </a:xfrm>
          <a:prstGeom prst="rect">
            <a:avLst/>
          </a:prstGeom>
          <a:noFill/>
          <a:ln/>
        </p:spPr>
        <p:txBody>
          <a:bodyPr wrap="square" lIns="0" tIns="0" rIns="0" bIns="0" rtlCol="0" anchor="t"/>
          <a:lstStyle/>
          <a:p>
            <a:pPr algn="l" indent="0" marL="0">
              <a:buNone/>
            </a:pPr>
            <a:r>
              <a:rPr lang="en-US" sz="1000" b="1" dirty="0">
                <a:solidFill>
                  <a:srgbClr val="2F6D62"/>
                </a:solidFill>
                <a:latin typeface="Calibri" pitchFamily="34" charset="0"/>
                <a:ea typeface="Calibri" pitchFamily="34" charset="-122"/>
                <a:cs typeface="Calibri" pitchFamily="34" charset="-120"/>
              </a:rPr>
              <a:t>The standard library</a:t>
            </a:r>
            <a:endParaRPr lang="en-US" sz="1000" dirty="0"/>
          </a:p>
        </p:txBody>
      </p:sp>
      <p:sp>
        <p:nvSpPr>
          <p:cNvPr id="15" name="Text 13"/>
          <p:cNvSpPr txBox="1"/>
          <p:nvPr/>
        </p:nvSpPr>
        <p:spPr>
          <a:xfrm>
            <a:off x="548640" y="2503627"/>
            <a:ext cx="2651760" cy="447142"/>
          </a:xfrm>
          <a:prstGeom prst="rect">
            <a:avLst/>
          </a:prstGeom>
          <a:noFill/>
          <a:ln/>
        </p:spPr>
        <p:txBody>
          <a:bodyPr wrap="square" lIns="0" tIns="0" rIns="0" bIns="0" rtlCol="0" anchor="t"/>
          <a:lstStyle/>
          <a:p>
            <a:pPr algn="l" indent="0" marL="0">
              <a:buNone/>
            </a:pPr>
            <a:r>
              <a:rPr lang="en-US" sz="850" dirty="0">
                <a:solidFill>
                  <a:srgbClr val="2B2622"/>
                </a:solidFill>
                <a:latin typeface="Calibri" pitchFamily="34" charset="0"/>
                <a:ea typeface="Calibri" pitchFamily="34" charset="-122"/>
                <a:cs typeface="Calibri" pitchFamily="34" charset="-120"/>
              </a:rPr>
              <a:t>STARTTLS comes before the login</a:t>
            </a:r>
            <a:endParaRPr lang="en-US" sz="850" dirty="0"/>
          </a:p>
          <a:p>
            <a:pPr algn="l" indent="0" marL="0">
              <a:buNone/>
            </a:pPr>
            <a:r>
              <a:rPr lang="en-US" sz="850" dirty="0">
                <a:solidFill>
                  <a:srgbClr val="2B2622"/>
                </a:solidFill>
                <a:latin typeface="Calibri" pitchFamily="34" charset="0"/>
                <a:ea typeface="Calibri" pitchFamily="34" charset="-122"/>
                <a:cs typeface="Calibri" pitchFamily="34" charset="-120"/>
              </a:rPr>
              <a:t>A Bcc recipient is in the envelope</a:t>
            </a:r>
            <a:endParaRPr lang="en-US" sz="850" dirty="0"/>
          </a:p>
          <a:p>
            <a:pPr algn="l" indent="0" marL="0">
              <a:buNone/>
            </a:pPr>
            <a:r>
              <a:rPr lang="en-US" sz="850" dirty="0">
                <a:solidFill>
                  <a:srgbClr val="2B2622"/>
                </a:solidFill>
                <a:latin typeface="Calibri" pitchFamily="34" charset="0"/>
                <a:ea typeface="Calibri" pitchFamily="34" charset="-122"/>
                <a:cs typeface="Calibri" pitchFamily="34" charset="-120"/>
              </a:rPr>
              <a:t>IDLE is new in Python 3.14</a:t>
            </a:r>
            <a:endParaRPr lang="en-US" sz="850" dirty="0"/>
          </a:p>
        </p:txBody>
      </p:sp>
      <p:sp>
        <p:nvSpPr>
          <p:cNvPr id="16" name="Shape 14"/>
          <p:cNvSpPr/>
          <p:nvPr/>
        </p:nvSpPr>
        <p:spPr>
          <a:xfrm>
            <a:off x="457200" y="3273552"/>
            <a:ext cx="2834640" cy="932688"/>
          </a:xfrm>
          <a:prstGeom prst="roundRect">
            <a:avLst>
              <a:gd name="adj" fmla="val 7843"/>
            </a:avLst>
          </a:prstGeom>
          <a:solidFill>
            <a:srgbClr val="F2ECE1"/>
          </a:solidFill>
          <a:ln w="15875">
            <a:solidFill>
              <a:srgbClr val="2F6D62"/>
            </a:solidFill>
            <a:prstDash val="solid"/>
          </a:ln>
        </p:spPr>
      </p:sp>
      <p:sp>
        <p:nvSpPr>
          <p:cNvPr id="17" name="Shape 15"/>
          <p:cNvSpPr/>
          <p:nvPr/>
        </p:nvSpPr>
        <p:spPr>
          <a:xfrm flipV="1">
            <a:off x="3291840" y="2743200"/>
            <a:ext cx="365760" cy="996696"/>
          </a:xfrm>
          <a:prstGeom prst="line">
            <a:avLst/>
          </a:prstGeom>
          <a:noFill/>
          <a:ln w="15875">
            <a:solidFill>
              <a:srgbClr val="C9BFAE"/>
            </a:solidFill>
            <a:prstDash val="solid"/>
          </a:ln>
        </p:spPr>
      </p:sp>
      <p:sp>
        <p:nvSpPr>
          <p:cNvPr id="18" name="Text 16"/>
          <p:cNvSpPr txBox="1"/>
          <p:nvPr/>
        </p:nvSpPr>
        <p:spPr>
          <a:xfrm>
            <a:off x="548640" y="3319272"/>
            <a:ext cx="2651760" cy="171907"/>
          </a:xfrm>
          <a:prstGeom prst="rect">
            <a:avLst/>
          </a:prstGeom>
          <a:noFill/>
          <a:ln/>
        </p:spPr>
        <p:txBody>
          <a:bodyPr wrap="square" lIns="0" tIns="0" rIns="0" bIns="0" rtlCol="0" anchor="t"/>
          <a:lstStyle/>
          <a:p>
            <a:pPr algn="l" indent="0" marL="0">
              <a:buNone/>
            </a:pPr>
            <a:r>
              <a:rPr lang="en-US" sz="1000" b="1" dirty="0">
                <a:solidFill>
                  <a:srgbClr val="2F6D62"/>
                </a:solidFill>
                <a:latin typeface="Calibri" pitchFamily="34" charset="0"/>
                <a:ea typeface="Calibri" pitchFamily="34" charset="-122"/>
                <a:cs typeface="Calibri" pitchFamily="34" charset="-120"/>
              </a:rPr>
              <a:t>SMS email gateways</a:t>
            </a:r>
            <a:endParaRPr lang="en-US" sz="1000" dirty="0"/>
          </a:p>
        </p:txBody>
      </p:sp>
      <p:sp>
        <p:nvSpPr>
          <p:cNvPr id="19" name="Text 17"/>
          <p:cNvSpPr txBox="1"/>
          <p:nvPr/>
        </p:nvSpPr>
        <p:spPr>
          <a:xfrm>
            <a:off x="548640" y="3500323"/>
            <a:ext cx="2651760" cy="447142"/>
          </a:xfrm>
          <a:prstGeom prst="rect">
            <a:avLst/>
          </a:prstGeom>
          <a:noFill/>
          <a:ln/>
        </p:spPr>
        <p:txBody>
          <a:bodyPr wrap="square" lIns="0" tIns="0" rIns="0" bIns="0" rtlCol="0" anchor="t"/>
          <a:lstStyle/>
          <a:p>
            <a:pPr algn="l" indent="0" marL="0">
              <a:buNone/>
            </a:pPr>
            <a:r>
              <a:rPr lang="en-US" sz="850" dirty="0">
                <a:solidFill>
                  <a:srgbClr val="2B2622"/>
                </a:solidFill>
                <a:latin typeface="Calibri" pitchFamily="34" charset="0"/>
                <a:ea typeface="Calibri" pitchFamily="34" charset="-122"/>
                <a:cs typeface="Calibri" pitchFamily="34" charset="-120"/>
              </a:rPr>
              <a:t>ATT ended its gateway in 2025</a:t>
            </a:r>
            <a:endParaRPr lang="en-US" sz="850" dirty="0"/>
          </a:p>
          <a:p>
            <a:pPr algn="l" indent="0" marL="0">
              <a:buNone/>
            </a:pPr>
            <a:r>
              <a:rPr lang="en-US" sz="850" dirty="0">
                <a:solidFill>
                  <a:srgbClr val="2B2622"/>
                </a:solidFill>
                <a:latin typeface="Calibri" pitchFamily="34" charset="0"/>
                <a:ea typeface="Calibri" pitchFamily="34" charset="-122"/>
                <a:cs typeface="Calibri" pitchFamily="34" charset="-120"/>
              </a:rPr>
              <a:t>Verizon ends its gateway in 2027</a:t>
            </a:r>
            <a:endParaRPr lang="en-US" sz="850" dirty="0"/>
          </a:p>
          <a:p>
            <a:pPr algn="l" indent="0" marL="0">
              <a:buNone/>
            </a:pPr>
            <a:r>
              <a:rPr lang="en-US" sz="850" dirty="0">
                <a:solidFill>
                  <a:srgbClr val="2B2622"/>
                </a:solidFill>
                <a:latin typeface="Calibri" pitchFamily="34" charset="0"/>
                <a:ea typeface="Calibri" pitchFamily="34" charset="-122"/>
                <a:cs typeface="Calibri" pitchFamily="34" charset="-120"/>
              </a:rPr>
              <a:t>160 characters in GSM-7, 70 in UCS-2</a:t>
            </a:r>
            <a:endParaRPr lang="en-US" sz="850" dirty="0"/>
          </a:p>
        </p:txBody>
      </p:sp>
      <p:sp>
        <p:nvSpPr>
          <p:cNvPr id="20" name="Shape 18"/>
          <p:cNvSpPr/>
          <p:nvPr/>
        </p:nvSpPr>
        <p:spPr>
          <a:xfrm>
            <a:off x="5852160" y="1280160"/>
            <a:ext cx="2834640" cy="932688"/>
          </a:xfrm>
          <a:prstGeom prst="roundRect">
            <a:avLst>
              <a:gd name="adj" fmla="val 7843"/>
            </a:avLst>
          </a:prstGeom>
          <a:solidFill>
            <a:srgbClr val="F2ECE1"/>
          </a:solidFill>
          <a:ln w="15875">
            <a:solidFill>
              <a:srgbClr val="2F6D62"/>
            </a:solidFill>
            <a:prstDash val="solid"/>
          </a:ln>
        </p:spPr>
      </p:sp>
      <p:sp>
        <p:nvSpPr>
          <p:cNvPr id="21" name="Shape 19"/>
          <p:cNvSpPr/>
          <p:nvPr/>
        </p:nvSpPr>
        <p:spPr>
          <a:xfrm flipH="1">
            <a:off x="5486400" y="1746504"/>
            <a:ext cx="365760" cy="996696"/>
          </a:xfrm>
          <a:prstGeom prst="line">
            <a:avLst/>
          </a:prstGeom>
          <a:noFill/>
          <a:ln w="15875">
            <a:solidFill>
              <a:srgbClr val="C9BFAE"/>
            </a:solidFill>
            <a:prstDash val="solid"/>
          </a:ln>
        </p:spPr>
      </p:sp>
      <p:sp>
        <p:nvSpPr>
          <p:cNvPr id="22" name="Text 20"/>
          <p:cNvSpPr txBox="1"/>
          <p:nvPr/>
        </p:nvSpPr>
        <p:spPr>
          <a:xfrm>
            <a:off x="5943600" y="1325880"/>
            <a:ext cx="2651760" cy="171907"/>
          </a:xfrm>
          <a:prstGeom prst="rect">
            <a:avLst/>
          </a:prstGeom>
          <a:noFill/>
          <a:ln/>
        </p:spPr>
        <p:txBody>
          <a:bodyPr wrap="square" lIns="0" tIns="0" rIns="0" bIns="0" rtlCol="0" anchor="t"/>
          <a:lstStyle/>
          <a:p>
            <a:pPr algn="l" indent="0" marL="0">
              <a:buNone/>
            </a:pPr>
            <a:r>
              <a:rPr lang="en-US" sz="1000" b="1" dirty="0">
                <a:solidFill>
                  <a:srgbClr val="2F6D62"/>
                </a:solidFill>
                <a:latin typeface="Calibri" pitchFamily="34" charset="0"/>
                <a:ea typeface="Calibri" pitchFamily="34" charset="-122"/>
                <a:cs typeface="Calibri" pitchFamily="34" charset="-120"/>
              </a:rPr>
              <a:t>ntfy</a:t>
            </a:r>
            <a:endParaRPr lang="en-US" sz="1000" dirty="0"/>
          </a:p>
        </p:txBody>
      </p:sp>
      <p:sp>
        <p:nvSpPr>
          <p:cNvPr id="23" name="Text 21"/>
          <p:cNvSpPr txBox="1"/>
          <p:nvPr/>
        </p:nvSpPr>
        <p:spPr>
          <a:xfrm>
            <a:off x="5943600" y="1506931"/>
            <a:ext cx="2651760" cy="447142"/>
          </a:xfrm>
          <a:prstGeom prst="rect">
            <a:avLst/>
          </a:prstGeom>
          <a:noFill/>
          <a:ln/>
        </p:spPr>
        <p:txBody>
          <a:bodyPr wrap="square" lIns="0" tIns="0" rIns="0" bIns="0" rtlCol="0" anchor="t"/>
          <a:lstStyle/>
          <a:p>
            <a:pPr algn="l" indent="0" marL="0">
              <a:buNone/>
            </a:pPr>
            <a:r>
              <a:rPr lang="en-US" sz="850" dirty="0">
                <a:solidFill>
                  <a:srgbClr val="2B2622"/>
                </a:solidFill>
                <a:latin typeface="Calibri" pitchFamily="34" charset="0"/>
                <a:ea typeface="Calibri" pitchFamily="34" charset="-122"/>
                <a:cs typeface="Calibri" pitchFamily="34" charset="-120"/>
              </a:rPr>
              <a:t>The topic name is the password</a:t>
            </a:r>
            <a:endParaRPr lang="en-US" sz="850" dirty="0"/>
          </a:p>
          <a:p>
            <a:pPr algn="l" indent="0" marL="0">
              <a:buNone/>
            </a:pPr>
            <a:r>
              <a:rPr lang="en-US" sz="850" dirty="0">
                <a:solidFill>
                  <a:srgbClr val="2B2622"/>
                </a:solidFill>
                <a:latin typeface="Calibri" pitchFamily="34" charset="0"/>
                <a:ea typeface="Calibri" pitchFamily="34" charset="-122"/>
                <a:cs typeface="Calibri" pitchFamily="34" charset="-120"/>
              </a:rPr>
              <a:t>The limit is 4096 bytes</a:t>
            </a:r>
            <a:endParaRPr lang="en-US" sz="850" dirty="0"/>
          </a:p>
          <a:p>
            <a:pPr algn="l" indent="0" marL="0">
              <a:buNone/>
            </a:pPr>
            <a:r>
              <a:rPr lang="en-US" sz="850" dirty="0">
                <a:solidFill>
                  <a:srgbClr val="2B2622"/>
                </a:solidFill>
                <a:latin typeface="Calibri" pitchFamily="34" charset="0"/>
                <a:ea typeface="Calibri" pitchFamily="34" charset="-122"/>
                <a:cs typeface="Calibri" pitchFamily="34" charset="-120"/>
              </a:rPr>
              <a:t>The answer is one JSON object on each line</a:t>
            </a:r>
            <a:endParaRPr lang="en-US" sz="850" dirty="0"/>
          </a:p>
        </p:txBody>
      </p:sp>
      <p:sp>
        <p:nvSpPr>
          <p:cNvPr id="24" name="Shape 22"/>
          <p:cNvSpPr/>
          <p:nvPr/>
        </p:nvSpPr>
        <p:spPr>
          <a:xfrm>
            <a:off x="5852160" y="2276856"/>
            <a:ext cx="2834640" cy="932688"/>
          </a:xfrm>
          <a:prstGeom prst="roundRect">
            <a:avLst>
              <a:gd name="adj" fmla="val 7843"/>
            </a:avLst>
          </a:prstGeom>
          <a:solidFill>
            <a:srgbClr val="F2ECE1"/>
          </a:solidFill>
          <a:ln w="15875">
            <a:solidFill>
              <a:srgbClr val="2F6D62"/>
            </a:solidFill>
            <a:prstDash val="solid"/>
          </a:ln>
        </p:spPr>
      </p:sp>
      <p:sp>
        <p:nvSpPr>
          <p:cNvPr id="25" name="Shape 23"/>
          <p:cNvSpPr/>
          <p:nvPr/>
        </p:nvSpPr>
        <p:spPr>
          <a:xfrm flipH="1">
            <a:off x="5486400" y="2743200"/>
            <a:ext cx="365760" cy="0"/>
          </a:xfrm>
          <a:prstGeom prst="line">
            <a:avLst/>
          </a:prstGeom>
          <a:noFill/>
          <a:ln w="15875">
            <a:solidFill>
              <a:srgbClr val="C9BFAE"/>
            </a:solidFill>
            <a:prstDash val="solid"/>
          </a:ln>
        </p:spPr>
      </p:sp>
      <p:sp>
        <p:nvSpPr>
          <p:cNvPr id="26" name="Text 24"/>
          <p:cNvSpPr txBox="1"/>
          <p:nvPr/>
        </p:nvSpPr>
        <p:spPr>
          <a:xfrm>
            <a:off x="5943600" y="2322576"/>
            <a:ext cx="2651760" cy="171907"/>
          </a:xfrm>
          <a:prstGeom prst="rect">
            <a:avLst/>
          </a:prstGeom>
          <a:noFill/>
          <a:ln/>
        </p:spPr>
        <p:txBody>
          <a:bodyPr wrap="square" lIns="0" tIns="0" rIns="0" bIns="0" rtlCol="0" anchor="t"/>
          <a:lstStyle/>
          <a:p>
            <a:pPr algn="l" indent="0" marL="0">
              <a:buNone/>
            </a:pPr>
            <a:r>
              <a:rPr lang="en-US" sz="1000" b="1" dirty="0">
                <a:solidFill>
                  <a:srgbClr val="2F6D62"/>
                </a:solidFill>
                <a:latin typeface="Calibri" pitchFamily="34" charset="0"/>
                <a:ea typeface="Calibri" pitchFamily="34" charset="-122"/>
                <a:cs typeface="Calibri" pitchFamily="34" charset="-120"/>
              </a:rPr>
              <a:t>Trust in an email</a:t>
            </a:r>
            <a:endParaRPr lang="en-US" sz="1000" dirty="0"/>
          </a:p>
        </p:txBody>
      </p:sp>
      <p:sp>
        <p:nvSpPr>
          <p:cNvPr id="27" name="Text 25"/>
          <p:cNvSpPr txBox="1"/>
          <p:nvPr/>
        </p:nvSpPr>
        <p:spPr>
          <a:xfrm>
            <a:off x="5943600" y="2503627"/>
            <a:ext cx="2651760" cy="447142"/>
          </a:xfrm>
          <a:prstGeom prst="rect">
            <a:avLst/>
          </a:prstGeom>
          <a:noFill/>
          <a:ln/>
        </p:spPr>
        <p:txBody>
          <a:bodyPr wrap="square" lIns="0" tIns="0" rIns="0" bIns="0" rtlCol="0" anchor="t"/>
          <a:lstStyle/>
          <a:p>
            <a:pPr algn="l" indent="0" marL="0">
              <a:buNone/>
            </a:pPr>
            <a:r>
              <a:rPr lang="en-US" sz="850" dirty="0">
                <a:solidFill>
                  <a:srgbClr val="2B2622"/>
                </a:solidFill>
                <a:latin typeface="Calibri" pitchFamily="34" charset="0"/>
                <a:ea typeface="Calibri" pitchFamily="34" charset="-122"/>
                <a:cs typeface="Calibri" pitchFamily="34" charset="-120"/>
              </a:rPr>
              <a:t>The envelope and the From header differ</a:t>
            </a:r>
            <a:endParaRPr lang="en-US" sz="850" dirty="0"/>
          </a:p>
          <a:p>
            <a:pPr algn="l" indent="0" marL="0">
              <a:buNone/>
            </a:pPr>
            <a:r>
              <a:rPr lang="en-US" sz="850" dirty="0">
                <a:solidFill>
                  <a:srgbClr val="2B2622"/>
                </a:solidFill>
                <a:latin typeface="Calibri" pitchFamily="34" charset="0"/>
                <a:ea typeface="Calibri" pitchFamily="34" charset="-122"/>
                <a:cs typeface="Calibri" pitchFamily="34" charset="-120"/>
              </a:rPr>
              <a:t>A line break in a header is refused</a:t>
            </a:r>
            <a:endParaRPr lang="en-US" sz="850" dirty="0"/>
          </a:p>
          <a:p>
            <a:pPr algn="l" indent="0" marL="0">
              <a:buNone/>
            </a:pPr>
            <a:r>
              <a:rPr lang="en-US" sz="850" dirty="0">
                <a:solidFill>
                  <a:srgbClr val="2B2622"/>
                </a:solidFill>
                <a:latin typeface="Calibri" pitchFamily="34" charset="0"/>
                <a:ea typeface="Calibri" pitchFamily="34" charset="-122"/>
                <a:cs typeface="Calibri" pitchFamily="34" charset="-120"/>
              </a:rPr>
              <a:t>A command in a subject needs an allow-list</a:t>
            </a:r>
            <a:endParaRPr lang="en-US" sz="850" dirty="0"/>
          </a:p>
        </p:txBody>
      </p:sp>
      <p:sp>
        <p:nvSpPr>
          <p:cNvPr id="28" name="Shape 26"/>
          <p:cNvSpPr/>
          <p:nvPr/>
        </p:nvSpPr>
        <p:spPr>
          <a:xfrm>
            <a:off x="5852160" y="3273552"/>
            <a:ext cx="2834640" cy="932688"/>
          </a:xfrm>
          <a:prstGeom prst="roundRect">
            <a:avLst>
              <a:gd name="adj" fmla="val 7843"/>
            </a:avLst>
          </a:prstGeom>
          <a:solidFill>
            <a:srgbClr val="F2ECE1"/>
          </a:solidFill>
          <a:ln w="15875">
            <a:solidFill>
              <a:srgbClr val="2F6D62"/>
            </a:solidFill>
            <a:prstDash val="solid"/>
          </a:ln>
        </p:spPr>
      </p:sp>
      <p:sp>
        <p:nvSpPr>
          <p:cNvPr id="29" name="Shape 27"/>
          <p:cNvSpPr/>
          <p:nvPr/>
        </p:nvSpPr>
        <p:spPr>
          <a:xfrm flipH="1" flipV="1">
            <a:off x="5486400" y="2743200"/>
            <a:ext cx="365760" cy="996696"/>
          </a:xfrm>
          <a:prstGeom prst="line">
            <a:avLst/>
          </a:prstGeom>
          <a:noFill/>
          <a:ln w="15875">
            <a:solidFill>
              <a:srgbClr val="C9BFAE"/>
            </a:solidFill>
            <a:prstDash val="solid"/>
          </a:ln>
        </p:spPr>
      </p:sp>
      <p:sp>
        <p:nvSpPr>
          <p:cNvPr id="30" name="Text 28"/>
          <p:cNvSpPr txBox="1"/>
          <p:nvPr/>
        </p:nvSpPr>
        <p:spPr>
          <a:xfrm>
            <a:off x="5943600" y="3319272"/>
            <a:ext cx="2651760" cy="171907"/>
          </a:xfrm>
          <a:prstGeom prst="rect">
            <a:avLst/>
          </a:prstGeom>
          <a:noFill/>
          <a:ln/>
        </p:spPr>
        <p:txBody>
          <a:bodyPr wrap="square" lIns="0" tIns="0" rIns="0" bIns="0" rtlCol="0" anchor="t"/>
          <a:lstStyle/>
          <a:p>
            <a:pPr algn="l" indent="0" marL="0">
              <a:buNone/>
            </a:pPr>
            <a:r>
              <a:rPr lang="en-US" sz="1000" b="1" dirty="0">
                <a:solidFill>
                  <a:srgbClr val="2F6D62"/>
                </a:solidFill>
                <a:latin typeface="Calibri" pitchFamily="34" charset="0"/>
                <a:ea typeface="Calibri" pitchFamily="34" charset="-122"/>
                <a:cs typeface="Calibri" pitchFamily="34" charset="-120"/>
              </a:rPr>
              <a:t>The book and practice</a:t>
            </a:r>
            <a:endParaRPr lang="en-US" sz="1000" dirty="0"/>
          </a:p>
        </p:txBody>
      </p:sp>
      <p:sp>
        <p:nvSpPr>
          <p:cNvPr id="31" name="Text 29"/>
          <p:cNvSpPr txBox="1"/>
          <p:nvPr/>
        </p:nvSpPr>
        <p:spPr>
          <a:xfrm>
            <a:off x="5943600" y="3500323"/>
            <a:ext cx="2651760" cy="447142"/>
          </a:xfrm>
          <a:prstGeom prst="rect">
            <a:avLst/>
          </a:prstGeom>
          <a:noFill/>
          <a:ln/>
        </p:spPr>
        <p:txBody>
          <a:bodyPr wrap="square" lIns="0" tIns="0" rIns="0" bIns="0" rtlCol="0" anchor="t"/>
          <a:lstStyle/>
          <a:p>
            <a:pPr algn="l" indent="0" marL="0">
              <a:buNone/>
            </a:pPr>
            <a:r>
              <a:rPr lang="en-US" sz="850" dirty="0">
                <a:solidFill>
                  <a:srgbClr val="2B2622"/>
                </a:solidFill>
                <a:latin typeface="Calibri" pitchFamily="34" charset="0"/>
                <a:ea typeface="Calibri" pitchFamily="34" charset="-122"/>
                <a:cs typeface="Calibri" pitchFamily="34" charset="-120"/>
              </a:rPr>
              <a:t>The online materials hold no file</a:t>
            </a:r>
            <a:endParaRPr lang="en-US" sz="850" dirty="0"/>
          </a:p>
          <a:p>
            <a:pPr algn="l" indent="0" marL="0">
              <a:buNone/>
            </a:pPr>
            <a:r>
              <a:rPr lang="en-US" sz="850" dirty="0">
                <a:solidFill>
                  <a:srgbClr val="2B2622"/>
                </a:solidFill>
                <a:latin typeface="Calibri" pitchFamily="34" charset="0"/>
                <a:ea typeface="Calibri" pitchFamily="34" charset="-122"/>
                <a:cs typeface="Calibri" pitchFamily="34" charset="-120"/>
              </a:rPr>
              <a:t>The 2nd edition taught smtplib</a:t>
            </a:r>
            <a:endParaRPr lang="en-US" sz="850" dirty="0"/>
          </a:p>
          <a:p>
            <a:pPr algn="l" indent="0" marL="0">
              <a:buNone/>
            </a:pPr>
            <a:r>
              <a:rPr lang="en-US" sz="850" dirty="0">
                <a:solidFill>
                  <a:srgbClr val="2B2622"/>
                </a:solidFill>
                <a:latin typeface="Calibri" pitchFamily="34" charset="0"/>
                <a:ea typeface="Calibri" pitchFamily="34" charset="-122"/>
                <a:cs typeface="Calibri" pitchFamily="34" charset="-120"/>
              </a:rPr>
              <a:t>The forecast has a chance of precipitation</a:t>
            </a:r>
            <a:endParaRPr lang="en-US" sz="850" dirty="0"/>
          </a:p>
        </p:txBody>
      </p:sp>
      <p:sp>
        <p:nvSpPr>
          <p:cNvPr id="32" name="Text 30"/>
          <p:cNvSpPr txBox="1"/>
          <p:nvPr/>
        </p:nvSpPr>
        <p:spPr>
          <a:xfrm>
            <a:off x="457200" y="4233672"/>
            <a:ext cx="8229600" cy="164592"/>
          </a:xfrm>
          <a:prstGeom prst="rect">
            <a:avLst/>
          </a:prstGeom>
          <a:noFill/>
          <a:ln/>
        </p:spPr>
        <p:txBody>
          <a:bodyPr wrap="square" lIns="0" tIns="0" rIns="0" bIns="0" rtlCol="0" anchor="t"/>
          <a:lstStyle/>
          <a:p>
            <a:pPr indent="0" marL="0">
              <a:buNone/>
            </a:pPr>
            <a:r>
              <a:rPr lang="en-US" sz="850" i="1" dirty="0">
                <a:solidFill>
                  <a:srgbClr val="6E655C"/>
                </a:solidFill>
                <a:latin typeface="Calibri" pitchFamily="34" charset="0"/>
                <a:ea typeface="Calibri" pitchFamily="34" charset="-122"/>
                <a:cs typeface="Calibri" pitchFamily="34" charset="-120"/>
              </a:rPr>
              <a:t>diagram SendingEmailTextsAndPushesAtAGlance - TopicAndParts pattern, 86 of 89 words grounded in the chapter's text</a:t>
            </a:r>
            <a:endParaRPr lang="en-US" sz="850" dirty="0"/>
          </a:p>
        </p:txBody>
      </p:sp>
      <p:sp>
        <p:nvSpPr>
          <p:cNvPr id="33" name="Shape 31"/>
          <p:cNvSpPr/>
          <p:nvPr/>
        </p:nvSpPr>
        <p:spPr>
          <a:xfrm>
            <a:off x="457200" y="4636008"/>
            <a:ext cx="91440" cy="310896"/>
          </a:xfrm>
          <a:prstGeom prst="rect">
            <a:avLst/>
          </a:prstGeom>
          <a:solidFill>
            <a:srgbClr val="D97A14"/>
          </a:solidFill>
          <a:ln w="12700">
            <a:solidFill>
              <a:srgbClr val="D97A14"/>
            </a:solidFill>
            <a:prstDash val="solid"/>
          </a:ln>
        </p:spPr>
      </p:sp>
      <p:sp>
        <p:nvSpPr>
          <p:cNvPr id="34" name="Text 3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If a branch feels unproven, its slides hold the example.</a:t>
            </a:r>
            <a:endParaRPr lang="en-US" sz="1350" dirty="0"/>
          </a:p>
        </p:txBody>
      </p:sp>
      <p:sp>
        <p:nvSpPr>
          <p:cNvPr id="35" name="Text 3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24 / 26</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Where to go from here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Every link was opened on the day this deck was made</a:t>
            </a:r>
            <a:endParaRPr lang="en-US" sz="1300" dirty="0"/>
          </a:p>
        </p:txBody>
      </p:sp>
      <p:sp>
        <p:nvSpPr>
          <p:cNvPr id="6" name="Text 4"/>
          <p:cNvSpPr txBox="1"/>
          <p:nvPr/>
        </p:nvSpPr>
        <p:spPr>
          <a:xfrm>
            <a:off x="457200" y="1280160"/>
            <a:ext cx="3954780" cy="274320"/>
          </a:xfrm>
          <a:prstGeom prst="rect">
            <a:avLst/>
          </a:prstGeom>
          <a:noFill/>
          <a:ln/>
        </p:spPr>
        <p:txBody>
          <a:bodyPr wrap="square" lIns="0" tIns="0" rIns="0" bIns="0" rtlCol="0" anchor="ctr"/>
          <a:lstStyle/>
          <a:p>
            <a:pPr indent="0" marL="0">
              <a:buNone/>
            </a:pPr>
            <a:r>
              <a:rPr lang="en-US" sz="1200" b="1" dirty="0">
                <a:solidFill>
                  <a:srgbClr val="2F6D62"/>
                </a:solidFill>
                <a:latin typeface="Cambria" pitchFamily="34" charset="0"/>
                <a:ea typeface="Cambria" pitchFamily="34" charset="-122"/>
                <a:cs typeface="Cambria" pitchFamily="34" charset="-120"/>
              </a:rPr>
              <a:t>Read</a:t>
            </a:r>
            <a:endParaRPr lang="en-US" sz="1200" dirty="0"/>
          </a:p>
        </p:txBody>
      </p:sp>
      <p:sp>
        <p:nvSpPr>
          <p:cNvPr id="7" name="Shape 5"/>
          <p:cNvSpPr/>
          <p:nvPr/>
        </p:nvSpPr>
        <p:spPr>
          <a:xfrm>
            <a:off x="493776" y="1627632"/>
            <a:ext cx="82296" cy="82296"/>
          </a:xfrm>
          <a:prstGeom prst="ellipse">
            <a:avLst/>
          </a:prstGeom>
          <a:solidFill>
            <a:srgbClr val="D97A14"/>
          </a:solidFill>
          <a:ln w="12700">
            <a:solidFill>
              <a:srgbClr val="D97A14"/>
            </a:solidFill>
            <a:prstDash val="solid"/>
          </a:ln>
        </p:spPr>
      </p:sp>
      <p:sp>
        <p:nvSpPr>
          <p:cNvPr id="8" name="Text 6"/>
          <p:cNvSpPr txBox="1"/>
          <p:nvPr/>
        </p:nvSpPr>
        <p:spPr>
          <a:xfrm>
            <a:off x="658368" y="1554480"/>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The textbook, chapter 20 - free online  </a:t>
            </a:r>
            <a:r>
              <a:rPr lang="en-US" sz="950" u="sng" dirty="0">
                <a:solidFill>
                  <a:srgbClr val="2F6D62"/>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automatetheboringstuff.com/3e/chapter20.html</a:t>
            </a:r>
            <a:endParaRPr lang="en-US" sz="950" dirty="0"/>
          </a:p>
        </p:txBody>
      </p:sp>
      <p:sp>
        <p:nvSpPr>
          <p:cNvPr id="9" name="Shape 7"/>
          <p:cNvSpPr/>
          <p:nvPr/>
        </p:nvSpPr>
        <p:spPr>
          <a:xfrm>
            <a:off x="493776" y="1956816"/>
            <a:ext cx="82296" cy="82296"/>
          </a:xfrm>
          <a:prstGeom prst="ellipse">
            <a:avLst/>
          </a:prstGeom>
          <a:solidFill>
            <a:srgbClr val="D97A14"/>
          </a:solidFill>
          <a:ln w="12700">
            <a:solidFill>
              <a:srgbClr val="D97A14"/>
            </a:solidFill>
            <a:prstDash val="solid"/>
          </a:ln>
        </p:spPr>
      </p:sp>
      <p:sp>
        <p:nvSpPr>
          <p:cNvPr id="10" name="Text 8"/>
          <p:cNvSpPr txBox="1"/>
          <p:nvPr/>
        </p:nvSpPr>
        <p:spPr>
          <a:xfrm>
            <a:off x="658368" y="1883664"/>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email.message documentation  </a:t>
            </a:r>
            <a:r>
              <a:rPr lang="en-US" sz="950" u="sng" dirty="0">
                <a:solidFill>
                  <a:srgbClr val="2F6D62"/>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docs.python.org/3.14/library/email.message.html</a:t>
            </a:r>
            <a:endParaRPr lang="en-US" sz="950" dirty="0"/>
          </a:p>
        </p:txBody>
      </p:sp>
      <p:sp>
        <p:nvSpPr>
          <p:cNvPr id="11" name="Shape 9"/>
          <p:cNvSpPr/>
          <p:nvPr/>
        </p:nvSpPr>
        <p:spPr>
          <a:xfrm>
            <a:off x="493776" y="2286000"/>
            <a:ext cx="82296" cy="82296"/>
          </a:xfrm>
          <a:prstGeom prst="ellipse">
            <a:avLst/>
          </a:prstGeom>
          <a:solidFill>
            <a:srgbClr val="D97A14"/>
          </a:solidFill>
          <a:ln w="12700">
            <a:solidFill>
              <a:srgbClr val="D97A14"/>
            </a:solidFill>
            <a:prstDash val="solid"/>
          </a:ln>
        </p:spPr>
      </p:sp>
      <p:sp>
        <p:nvSpPr>
          <p:cNvPr id="12" name="Text 10"/>
          <p:cNvSpPr txBox="1"/>
          <p:nvPr/>
        </p:nvSpPr>
        <p:spPr>
          <a:xfrm>
            <a:off x="658368" y="2212848"/>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smtplib documentation  </a:t>
            </a:r>
            <a:r>
              <a:rPr lang="en-US" sz="950" u="sng" dirty="0">
                <a:solidFill>
                  <a:srgbClr val="2F6D62"/>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docs.python.org/3.14/library/smtplib.html</a:t>
            </a:r>
            <a:endParaRPr lang="en-US" sz="950" dirty="0"/>
          </a:p>
        </p:txBody>
      </p:sp>
      <p:sp>
        <p:nvSpPr>
          <p:cNvPr id="13" name="Text 11"/>
          <p:cNvSpPr txBox="1"/>
          <p:nvPr/>
        </p:nvSpPr>
        <p:spPr>
          <a:xfrm>
            <a:off x="457200" y="2615184"/>
            <a:ext cx="3954780" cy="274320"/>
          </a:xfrm>
          <a:prstGeom prst="rect">
            <a:avLst/>
          </a:prstGeom>
          <a:noFill/>
          <a:ln/>
        </p:spPr>
        <p:txBody>
          <a:bodyPr wrap="square" lIns="0" tIns="0" rIns="0" bIns="0" rtlCol="0" anchor="ctr"/>
          <a:lstStyle/>
          <a:p>
            <a:pPr indent="0" marL="0">
              <a:buNone/>
            </a:pPr>
            <a:r>
              <a:rPr lang="en-US" sz="1200" b="1" dirty="0">
                <a:solidFill>
                  <a:srgbClr val="2F6D62"/>
                </a:solidFill>
                <a:latin typeface="Cambria" pitchFamily="34" charset="0"/>
                <a:ea typeface="Cambria" pitchFamily="34" charset="-122"/>
                <a:cs typeface="Cambria" pitchFamily="34" charset="-120"/>
              </a:rPr>
              <a:t>Reference</a:t>
            </a:r>
            <a:endParaRPr lang="en-US" sz="1200" dirty="0"/>
          </a:p>
        </p:txBody>
      </p:sp>
      <p:sp>
        <p:nvSpPr>
          <p:cNvPr id="14" name="Shape 12"/>
          <p:cNvSpPr/>
          <p:nvPr/>
        </p:nvSpPr>
        <p:spPr>
          <a:xfrm>
            <a:off x="493776" y="2962656"/>
            <a:ext cx="82296" cy="82296"/>
          </a:xfrm>
          <a:prstGeom prst="ellipse">
            <a:avLst/>
          </a:prstGeom>
          <a:solidFill>
            <a:srgbClr val="D97A14"/>
          </a:solidFill>
          <a:ln w="12700">
            <a:solidFill>
              <a:srgbClr val="D97A14"/>
            </a:solidFill>
            <a:prstDash val="solid"/>
          </a:ln>
        </p:spPr>
      </p:sp>
      <p:sp>
        <p:nvSpPr>
          <p:cNvPr id="15" name="Text 13"/>
          <p:cNvSpPr txBox="1"/>
          <p:nvPr/>
        </p:nvSpPr>
        <p:spPr>
          <a:xfrm>
            <a:off x="658368" y="2889504"/>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Gmail API: sending email  </a:t>
            </a:r>
            <a:r>
              <a:rPr lang="en-US" sz="950" u="sng" dirty="0">
                <a:solidFill>
                  <a:srgbClr val="2F6D62"/>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developers.google.com/workspace/gmail/api/guides/sending</a:t>
            </a:r>
            <a:endParaRPr lang="en-US" sz="950" dirty="0"/>
          </a:p>
        </p:txBody>
      </p:sp>
      <p:sp>
        <p:nvSpPr>
          <p:cNvPr id="16" name="Shape 14"/>
          <p:cNvSpPr/>
          <p:nvPr/>
        </p:nvSpPr>
        <p:spPr>
          <a:xfrm>
            <a:off x="493776" y="3291840"/>
            <a:ext cx="82296" cy="82296"/>
          </a:xfrm>
          <a:prstGeom prst="ellipse">
            <a:avLst/>
          </a:prstGeom>
          <a:solidFill>
            <a:srgbClr val="D97A14"/>
          </a:solidFill>
          <a:ln w="12700">
            <a:solidFill>
              <a:srgbClr val="D97A14"/>
            </a:solidFill>
            <a:prstDash val="solid"/>
          </a:ln>
        </p:spPr>
      </p:sp>
      <p:sp>
        <p:nvSpPr>
          <p:cNvPr id="17" name="Text 15"/>
          <p:cNvSpPr txBox="1"/>
          <p:nvPr/>
        </p:nvSpPr>
        <p:spPr>
          <a:xfrm>
            <a:off x="658368" y="3218688"/>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ntfy: publishing  </a:t>
            </a:r>
            <a:r>
              <a:rPr lang="en-US" sz="950" u="sng" dirty="0">
                <a:solidFill>
                  <a:srgbClr val="2F6D62"/>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docs.ntfy.sh/publish/</a:t>
            </a:r>
            <a:endParaRPr lang="en-US" sz="950" dirty="0"/>
          </a:p>
        </p:txBody>
      </p:sp>
      <p:sp>
        <p:nvSpPr>
          <p:cNvPr id="18" name="Shape 16"/>
          <p:cNvSpPr/>
          <p:nvPr/>
        </p:nvSpPr>
        <p:spPr>
          <a:xfrm>
            <a:off x="493776" y="3621024"/>
            <a:ext cx="82296" cy="82296"/>
          </a:xfrm>
          <a:prstGeom prst="ellipse">
            <a:avLst/>
          </a:prstGeom>
          <a:solidFill>
            <a:srgbClr val="D97A14"/>
          </a:solidFill>
          <a:ln w="12700">
            <a:solidFill>
              <a:srgbClr val="D97A14"/>
            </a:solidFill>
            <a:prstDash val="solid"/>
          </a:ln>
        </p:spPr>
      </p:sp>
      <p:sp>
        <p:nvSpPr>
          <p:cNvPr id="19" name="Text 17"/>
          <p:cNvSpPr txBox="1"/>
          <p:nvPr/>
        </p:nvSpPr>
        <p:spPr>
          <a:xfrm>
            <a:off x="658368" y="3547872"/>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ntfy: subscribe through the API  </a:t>
            </a:r>
            <a:r>
              <a:rPr lang="en-US" sz="950" u="sng" dirty="0">
                <a:solidFill>
                  <a:srgbClr val="2F6D62"/>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docs.ntfy.sh/subscribe/api/</a:t>
            </a:r>
            <a:endParaRPr lang="en-US" sz="950" dirty="0"/>
          </a:p>
        </p:txBody>
      </p:sp>
      <p:sp>
        <p:nvSpPr>
          <p:cNvPr id="20" name="Text 18"/>
          <p:cNvSpPr txBox="1"/>
          <p:nvPr/>
        </p:nvSpPr>
        <p:spPr>
          <a:xfrm>
            <a:off x="4732020" y="1280160"/>
            <a:ext cx="3954780" cy="274320"/>
          </a:xfrm>
          <a:prstGeom prst="rect">
            <a:avLst/>
          </a:prstGeom>
          <a:noFill/>
          <a:ln/>
        </p:spPr>
        <p:txBody>
          <a:bodyPr wrap="square" lIns="0" tIns="0" rIns="0" bIns="0" rtlCol="0" anchor="ctr"/>
          <a:lstStyle/>
          <a:p>
            <a:pPr indent="0" marL="0">
              <a:buNone/>
            </a:pPr>
            <a:r>
              <a:rPr lang="en-US" sz="1200" b="1" dirty="0">
                <a:solidFill>
                  <a:srgbClr val="2F6D62"/>
                </a:solidFill>
                <a:latin typeface="Cambria" pitchFamily="34" charset="0"/>
                <a:ea typeface="Cambria" pitchFamily="34" charset="-122"/>
                <a:cs typeface="Cambria" pitchFamily="34" charset="-120"/>
              </a:rPr>
              <a:t>History and standards</a:t>
            </a:r>
            <a:endParaRPr lang="en-US" sz="1200" dirty="0"/>
          </a:p>
        </p:txBody>
      </p:sp>
      <p:sp>
        <p:nvSpPr>
          <p:cNvPr id="21" name="Shape 19"/>
          <p:cNvSpPr/>
          <p:nvPr/>
        </p:nvSpPr>
        <p:spPr>
          <a:xfrm>
            <a:off x="4768596" y="1627632"/>
            <a:ext cx="82296" cy="82296"/>
          </a:xfrm>
          <a:prstGeom prst="ellipse">
            <a:avLst/>
          </a:prstGeom>
          <a:solidFill>
            <a:srgbClr val="D97A14"/>
          </a:solidFill>
          <a:ln w="12700">
            <a:solidFill>
              <a:srgbClr val="D97A14"/>
            </a:solidFill>
            <a:prstDash val="solid"/>
          </a:ln>
        </p:spPr>
      </p:sp>
      <p:sp>
        <p:nvSpPr>
          <p:cNvPr id="22" name="Text 20"/>
          <p:cNvSpPr txBox="1"/>
          <p:nvPr/>
        </p:nvSpPr>
        <p:spPr>
          <a:xfrm>
            <a:off x="4933188" y="1554480"/>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Ray Tomlinson (Wikipedia)  </a:t>
            </a:r>
            <a:r>
              <a:rPr lang="en-US" sz="950" u="sng" dirty="0">
                <a:solidFill>
                  <a:srgbClr val="2F6D62"/>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en.wikipedia.org/wiki/Ray_Tomlinson</a:t>
            </a:r>
            <a:endParaRPr lang="en-US" sz="950" dirty="0"/>
          </a:p>
        </p:txBody>
      </p:sp>
      <p:sp>
        <p:nvSpPr>
          <p:cNvPr id="23" name="Shape 21"/>
          <p:cNvSpPr/>
          <p:nvPr/>
        </p:nvSpPr>
        <p:spPr>
          <a:xfrm>
            <a:off x="4768596" y="1956816"/>
            <a:ext cx="82296" cy="82296"/>
          </a:xfrm>
          <a:prstGeom prst="ellipse">
            <a:avLst/>
          </a:prstGeom>
          <a:solidFill>
            <a:srgbClr val="D97A14"/>
          </a:solidFill>
          <a:ln w="12700">
            <a:solidFill>
              <a:srgbClr val="D97A14"/>
            </a:solidFill>
            <a:prstDash val="solid"/>
          </a:ln>
        </p:spPr>
      </p:sp>
      <p:sp>
        <p:nvSpPr>
          <p:cNvPr id="24" name="Text 22"/>
          <p:cNvSpPr txBox="1"/>
          <p:nvPr/>
        </p:nvSpPr>
        <p:spPr>
          <a:xfrm>
            <a:off x="4933188" y="1883664"/>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Email spam (Wikipedia)  </a:t>
            </a:r>
            <a:r>
              <a:rPr lang="en-US" sz="950" u="sng" dirty="0">
                <a:solidFill>
                  <a:srgbClr val="2F6D62"/>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en.wikipedia.org/wiki/Email_spam</a:t>
            </a:r>
            <a:endParaRPr lang="en-US" sz="950" dirty="0"/>
          </a:p>
        </p:txBody>
      </p:sp>
      <p:sp>
        <p:nvSpPr>
          <p:cNvPr id="25" name="Shape 23"/>
          <p:cNvSpPr/>
          <p:nvPr/>
        </p:nvSpPr>
        <p:spPr>
          <a:xfrm>
            <a:off x="4768596" y="2286000"/>
            <a:ext cx="82296" cy="82296"/>
          </a:xfrm>
          <a:prstGeom prst="ellipse">
            <a:avLst/>
          </a:prstGeom>
          <a:solidFill>
            <a:srgbClr val="D97A14"/>
          </a:solidFill>
          <a:ln w="12700">
            <a:solidFill>
              <a:srgbClr val="D97A14"/>
            </a:solidFill>
            <a:prstDash val="solid"/>
          </a:ln>
        </p:spPr>
      </p:sp>
      <p:sp>
        <p:nvSpPr>
          <p:cNvPr id="26" name="Text 24"/>
          <p:cNvSpPr txBox="1"/>
          <p:nvPr/>
        </p:nvSpPr>
        <p:spPr>
          <a:xfrm>
            <a:off x="4933188" y="2212848"/>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SMS (Wikipedia)  </a:t>
            </a:r>
            <a:r>
              <a:rPr lang="en-US" sz="950" u="sng" dirty="0">
                <a:solidFill>
                  <a:srgbClr val="2F6D62"/>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en.wikipedia.org/wiki/SMS</a:t>
            </a:r>
            <a:endParaRPr lang="en-US" sz="950" dirty="0"/>
          </a:p>
        </p:txBody>
      </p:sp>
      <p:sp>
        <p:nvSpPr>
          <p:cNvPr id="27" name="Shape 25"/>
          <p:cNvSpPr/>
          <p:nvPr/>
        </p:nvSpPr>
        <p:spPr>
          <a:xfrm>
            <a:off x="4768596" y="2615184"/>
            <a:ext cx="82296" cy="82296"/>
          </a:xfrm>
          <a:prstGeom prst="ellipse">
            <a:avLst/>
          </a:prstGeom>
          <a:solidFill>
            <a:srgbClr val="D97A14"/>
          </a:solidFill>
          <a:ln w="12700">
            <a:solidFill>
              <a:srgbClr val="D97A14"/>
            </a:solidFill>
            <a:prstDash val="solid"/>
          </a:ln>
        </p:spPr>
      </p:sp>
      <p:sp>
        <p:nvSpPr>
          <p:cNvPr id="28" name="Text 26"/>
          <p:cNvSpPr txBox="1"/>
          <p:nvPr/>
        </p:nvSpPr>
        <p:spPr>
          <a:xfrm>
            <a:off x="4933188" y="2542032"/>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AT&amp;T ends email-to-text  </a:t>
            </a:r>
            <a:r>
              <a:rPr lang="en-US" sz="950" u="sng" dirty="0">
                <a:solidFill>
                  <a:srgbClr val="2F6D62"/>
                </a:solidFill>
                <a:latin typeface="Calibri" pitchFamily="34" charset="0"/>
                <a:ea typeface="Calibri" pitchFamily="34" charset="-122"/>
                <a:cs typeface="Calibri" pitchFamily="34" charset="-120"/>
                <a:hlinkClick r:id="rId10" invalidUrl="" action="" tgtFrame="" tooltip="" history="1" highlightClick="0" endSnd="0">
                  <a:extLst>
                    <a:ext uri="{A12FA001-AC4F-418D-AE19-62706E023703}">
                      <ahyp:hlinkClr xmlns:ahyp="http://schemas.microsoft.com/office/drawing/2018/hyperlinkcolor" val="tx"/>
                    </a:ext>
                  </a:extLst>
                </a:hlinkClick>
              </a:rPr>
              <a:t>att.com/support/article/wireless/KM1061254/</a:t>
            </a:r>
            <a:endParaRPr lang="en-US" sz="950" dirty="0"/>
          </a:p>
        </p:txBody>
      </p:sp>
      <p:sp>
        <p:nvSpPr>
          <p:cNvPr id="29" name="Text 27"/>
          <p:cNvSpPr txBox="1"/>
          <p:nvPr/>
        </p:nvSpPr>
        <p:spPr>
          <a:xfrm>
            <a:off x="4732020" y="2944368"/>
            <a:ext cx="3954780" cy="274320"/>
          </a:xfrm>
          <a:prstGeom prst="rect">
            <a:avLst/>
          </a:prstGeom>
          <a:noFill/>
          <a:ln/>
        </p:spPr>
        <p:txBody>
          <a:bodyPr wrap="square" lIns="0" tIns="0" rIns="0" bIns="0" rtlCol="0" anchor="ctr"/>
          <a:lstStyle/>
          <a:p>
            <a:pPr indent="0" marL="0">
              <a:buNone/>
            </a:pPr>
            <a:r>
              <a:rPr lang="en-US" sz="1200" b="1" dirty="0">
                <a:solidFill>
                  <a:srgbClr val="2F6D62"/>
                </a:solidFill>
                <a:latin typeface="Cambria" pitchFamily="34" charset="0"/>
                <a:ea typeface="Cambria" pitchFamily="34" charset="-122"/>
                <a:cs typeface="Cambria" pitchFamily="34" charset="-120"/>
              </a:rPr>
              <a:t>The two packages</a:t>
            </a:r>
            <a:endParaRPr lang="en-US" sz="1200" dirty="0"/>
          </a:p>
        </p:txBody>
      </p:sp>
      <p:sp>
        <p:nvSpPr>
          <p:cNvPr id="30" name="Shape 28"/>
          <p:cNvSpPr/>
          <p:nvPr/>
        </p:nvSpPr>
        <p:spPr>
          <a:xfrm>
            <a:off x="4768596" y="3291840"/>
            <a:ext cx="82296" cy="82296"/>
          </a:xfrm>
          <a:prstGeom prst="ellipse">
            <a:avLst/>
          </a:prstGeom>
          <a:solidFill>
            <a:srgbClr val="D97A14"/>
          </a:solidFill>
          <a:ln w="12700">
            <a:solidFill>
              <a:srgbClr val="D97A14"/>
            </a:solidFill>
            <a:prstDash val="solid"/>
          </a:ln>
        </p:spPr>
      </p:sp>
      <p:sp>
        <p:nvSpPr>
          <p:cNvPr id="31" name="Text 29"/>
          <p:cNvSpPr txBox="1"/>
          <p:nvPr/>
        </p:nvSpPr>
        <p:spPr>
          <a:xfrm>
            <a:off x="4933188" y="3218688"/>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ezgmail on PyPI  </a:t>
            </a:r>
            <a:r>
              <a:rPr lang="en-US" sz="950" u="sng" dirty="0">
                <a:solidFill>
                  <a:srgbClr val="2F6D62"/>
                </a:solidFill>
                <a:latin typeface="Calibri" pitchFamily="34" charset="0"/>
                <a:ea typeface="Calibri" pitchFamily="34" charset="-122"/>
                <a:cs typeface="Calibri" pitchFamily="34" charset="-120"/>
                <a:hlinkClick r:id="rId11" invalidUrl="" action="" tgtFrame="" tooltip="" history="1" highlightClick="0" endSnd="0">
                  <a:extLst>
                    <a:ext uri="{A12FA001-AC4F-418D-AE19-62706E023703}">
                      <ahyp:hlinkClr xmlns:ahyp="http://schemas.microsoft.com/office/drawing/2018/hyperlinkcolor" val="tx"/>
                    </a:ext>
                  </a:extLst>
                </a:hlinkClick>
              </a:rPr>
              <a:t>pypi.org/pypi/ezgmail/json</a:t>
            </a:r>
            <a:endParaRPr lang="en-US" sz="950" dirty="0"/>
          </a:p>
        </p:txBody>
      </p:sp>
      <p:sp>
        <p:nvSpPr>
          <p:cNvPr id="32" name="Shape 30"/>
          <p:cNvSpPr/>
          <p:nvPr/>
        </p:nvSpPr>
        <p:spPr>
          <a:xfrm>
            <a:off x="4768596" y="3621024"/>
            <a:ext cx="82296" cy="82296"/>
          </a:xfrm>
          <a:prstGeom prst="ellipse">
            <a:avLst/>
          </a:prstGeom>
          <a:solidFill>
            <a:srgbClr val="D97A14"/>
          </a:solidFill>
          <a:ln w="12700">
            <a:solidFill>
              <a:srgbClr val="D97A14"/>
            </a:solidFill>
            <a:prstDash val="solid"/>
          </a:ln>
        </p:spPr>
      </p:sp>
      <p:sp>
        <p:nvSpPr>
          <p:cNvPr id="33" name="Text 31"/>
          <p:cNvSpPr txBox="1"/>
          <p:nvPr/>
        </p:nvSpPr>
        <p:spPr>
          <a:xfrm>
            <a:off x="4933188" y="3547872"/>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requests on PyPI  </a:t>
            </a:r>
            <a:r>
              <a:rPr lang="en-US" sz="950" u="sng" dirty="0">
                <a:solidFill>
                  <a:srgbClr val="2F6D62"/>
                </a:solidFill>
                <a:latin typeface="Calibri" pitchFamily="34" charset="0"/>
                <a:ea typeface="Calibri" pitchFamily="34" charset="-122"/>
                <a:cs typeface="Calibri" pitchFamily="34" charset="-120"/>
                <a:hlinkClick r:id="rId12" invalidUrl="" action="" tgtFrame="" tooltip="" history="1" highlightClick="0" endSnd="0">
                  <a:extLst>
                    <a:ext uri="{A12FA001-AC4F-418D-AE19-62706E023703}">
                      <ahyp:hlinkClr xmlns:ahyp="http://schemas.microsoft.com/office/drawing/2018/hyperlinkcolor" val="tx"/>
                    </a:ext>
                  </a:extLst>
                </a:hlinkClick>
              </a:rPr>
              <a:t>pypi.org/pypi/requests/json</a:t>
            </a:r>
            <a:endParaRPr lang="en-US" sz="950" dirty="0"/>
          </a:p>
        </p:txBody>
      </p:sp>
      <p:sp>
        <p:nvSpPr>
          <p:cNvPr id="34" name="Shape 32"/>
          <p:cNvSpPr/>
          <p:nvPr/>
        </p:nvSpPr>
        <p:spPr>
          <a:xfrm>
            <a:off x="457200" y="4636008"/>
            <a:ext cx="91440" cy="310896"/>
          </a:xfrm>
          <a:prstGeom prst="rect">
            <a:avLst/>
          </a:prstGeom>
          <a:solidFill>
            <a:srgbClr val="D97A14"/>
          </a:solidFill>
          <a:ln w="12700">
            <a:solidFill>
              <a:srgbClr val="D97A14"/>
            </a:solidFill>
            <a:prstDash val="solid"/>
          </a:ln>
        </p:spPr>
      </p:sp>
      <p:sp>
        <p:nvSpPr>
          <p:cNvPr id="35" name="Text 3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Textbook, documentation, notices and history, all opened today.</a:t>
            </a:r>
            <a:endParaRPr lang="en-US" sz="1350" dirty="0"/>
          </a:p>
        </p:txBody>
      </p:sp>
      <p:sp>
        <p:nvSpPr>
          <p:cNvPr id="36" name="Text 3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25 / 26</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What you should now be able to say</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Four claims, each carried by a result you saw printed</a:t>
            </a:r>
            <a:endParaRPr lang="en-US" sz="1300" dirty="0"/>
          </a:p>
        </p:txBody>
      </p:sp>
      <p:sp>
        <p:nvSpPr>
          <p:cNvPr id="6" name="Text 4"/>
          <p:cNvSpPr txBox="1"/>
          <p:nvPr/>
        </p:nvSpPr>
        <p:spPr>
          <a:xfrm>
            <a:off x="548640" y="1371600"/>
            <a:ext cx="8046720" cy="2194560"/>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2B2622"/>
                </a:solidFill>
                <a:latin typeface="Calibri" pitchFamily="34" charset="0"/>
                <a:ea typeface="Calibri" pitchFamily="34" charset="-122"/>
                <a:cs typeface="Calibri" pitchFamily="34" charset="-120"/>
              </a:rPr>
              <a:t>EZGmail needs credentials and a token; the token is a password, and a reply keeps only the thread id.</a:t>
            </a:r>
            <a:endParaRPr lang="en-US" sz="1500" dirty="0"/>
          </a:p>
          <a:p>
            <a:pPr marL="342900" indent="-342900">
              <a:spcAft>
                <a:spcPts val="400"/>
              </a:spcAft>
              <a:buSzPct val="100000"/>
              <a:buChar char="•"/>
            </a:pPr>
            <a:r>
              <a:rPr lang="en-US" sz="1500" dirty="0">
                <a:solidFill>
                  <a:srgbClr val="2B2622"/>
                </a:solidFill>
                <a:latin typeface="Calibri" pitchFamily="34" charset="0"/>
                <a:ea typeface="Calibri" pitchFamily="34" charset="-122"/>
                <a:cs typeface="Calibri" pitchFamily="34" charset="-120"/>
              </a:rPr>
              <a:t>Use STARTTLS and a verified context; the envelope decides who gets the mail, not the From line.</a:t>
            </a:r>
            <a:endParaRPr lang="en-US" sz="1500" dirty="0"/>
          </a:p>
          <a:p>
            <a:pPr marL="342900" indent="-342900">
              <a:spcAft>
                <a:spcPts val="400"/>
              </a:spcAft>
              <a:buSzPct val="100000"/>
              <a:buChar char="•"/>
            </a:pPr>
            <a:r>
              <a:rPr lang="en-US" sz="1500" dirty="0">
                <a:solidFill>
                  <a:srgbClr val="2B2622"/>
                </a:solidFill>
                <a:latin typeface="Calibri" pitchFamily="34" charset="0"/>
                <a:ea typeface="Calibri" pitchFamily="34" charset="-122"/>
                <a:cs typeface="Calibri" pitchFamily="34" charset="-120"/>
              </a:rPr>
              <a:t>A gateway can be switched off; count a text in the phone's coding, and a topic name is a password.</a:t>
            </a:r>
            <a:endParaRPr lang="en-US" sz="1500" dirty="0"/>
          </a:p>
          <a:p>
            <a:pPr marL="342900" indent="-342900">
              <a:spcAft>
                <a:spcPts val="400"/>
              </a:spcAft>
              <a:buSzPct val="100000"/>
              <a:buChar char="•"/>
            </a:pPr>
            <a:r>
              <a:rPr lang="en-US" sz="1500" dirty="0">
                <a:solidFill>
                  <a:srgbClr val="2B2622"/>
                </a:solidFill>
                <a:latin typeface="Calibri" pitchFamily="34" charset="0"/>
                <a:ea typeface="Calibri" pitchFamily="34" charset="-122"/>
                <a:cs typeface="Calibri" pitchFamily="34" charset="-120"/>
              </a:rPr>
              <a:t>Check the password, run an allow-list, and never pass the text of an email to a shell.</a:t>
            </a:r>
            <a:endParaRPr lang="en-US" sz="1500" dirty="0"/>
          </a:p>
        </p:txBody>
      </p:sp>
      <p:sp>
        <p:nvSpPr>
          <p:cNvPr id="7" name="Shape 5"/>
          <p:cNvSpPr/>
          <p:nvPr/>
        </p:nvSpPr>
        <p:spPr>
          <a:xfrm>
            <a:off x="548640" y="3749040"/>
            <a:ext cx="2434590" cy="530352"/>
          </a:xfrm>
          <a:prstGeom prst="roundRect">
            <a:avLst>
              <a:gd name="adj" fmla="val 50000"/>
            </a:avLst>
          </a:prstGeom>
          <a:solidFill>
            <a:srgbClr val="F2ECE1"/>
          </a:solidFill>
          <a:ln w="12700">
            <a:solidFill>
              <a:srgbClr val="D97A14"/>
            </a:solidFill>
            <a:prstDash val="solid"/>
          </a:ln>
        </p:spPr>
      </p:sp>
      <p:sp>
        <p:nvSpPr>
          <p:cNvPr id="8" name="Text 6"/>
          <p:cNvSpPr txBox="1"/>
          <p:nvPr/>
        </p:nvSpPr>
        <p:spPr>
          <a:xfrm>
            <a:off x="548640" y="3749040"/>
            <a:ext cx="2434590" cy="530352"/>
          </a:xfrm>
          <a:prstGeom prst="rect">
            <a:avLst/>
          </a:prstGeom>
          <a:noFill/>
          <a:ln/>
        </p:spPr>
        <p:txBody>
          <a:bodyPr wrap="square" lIns="0" tIns="0" rIns="0" bIns="0" rtlCol="0" anchor="ctr"/>
          <a:lstStyle/>
          <a:p>
            <a:pPr algn="ctr" indent="0" marL="0">
              <a:buNone/>
            </a:pPr>
            <a:r>
              <a:rPr lang="en-US" sz="1300" b="1" dirty="0">
                <a:solidFill>
                  <a:srgbClr val="2B2622"/>
                </a:solidFill>
                <a:latin typeface="Calibri" pitchFamily="34" charset="0"/>
                <a:ea typeface="Calibri" pitchFamily="34" charset="-122"/>
                <a:cs typeface="Calibri" pitchFamily="34" charset="-120"/>
              </a:rPr>
              <a:t>22 console rows</a:t>
            </a:r>
            <a:endParaRPr lang="en-US" sz="1300" dirty="0"/>
          </a:p>
        </p:txBody>
      </p:sp>
      <p:sp>
        <p:nvSpPr>
          <p:cNvPr id="9" name="Shape 7"/>
          <p:cNvSpPr/>
          <p:nvPr/>
        </p:nvSpPr>
        <p:spPr>
          <a:xfrm>
            <a:off x="3184398" y="3749040"/>
            <a:ext cx="2434590" cy="530352"/>
          </a:xfrm>
          <a:prstGeom prst="roundRect">
            <a:avLst>
              <a:gd name="adj" fmla="val 50000"/>
            </a:avLst>
          </a:prstGeom>
          <a:solidFill>
            <a:srgbClr val="F2ECE1"/>
          </a:solidFill>
          <a:ln w="12700">
            <a:solidFill>
              <a:srgbClr val="D97A14"/>
            </a:solidFill>
            <a:prstDash val="solid"/>
          </a:ln>
        </p:spPr>
      </p:sp>
      <p:sp>
        <p:nvSpPr>
          <p:cNvPr id="10" name="Text 8"/>
          <p:cNvSpPr txBox="1"/>
          <p:nvPr/>
        </p:nvSpPr>
        <p:spPr>
          <a:xfrm>
            <a:off x="3184398" y="3749040"/>
            <a:ext cx="2434590" cy="530352"/>
          </a:xfrm>
          <a:prstGeom prst="rect">
            <a:avLst/>
          </a:prstGeom>
          <a:noFill/>
          <a:ln/>
        </p:spPr>
        <p:txBody>
          <a:bodyPr wrap="square" lIns="0" tIns="0" rIns="0" bIns="0" rtlCol="0" anchor="ctr"/>
          <a:lstStyle/>
          <a:p>
            <a:pPr algn="ctr" indent="0" marL="0">
              <a:buNone/>
            </a:pPr>
            <a:r>
              <a:rPr lang="en-US" sz="1300" b="1" dirty="0">
                <a:solidFill>
                  <a:srgbClr val="2B2622"/>
                </a:solidFill>
                <a:latin typeface="Calibri" pitchFamily="34" charset="0"/>
                <a:ea typeface="Calibri" pitchFamily="34" charset="-122"/>
                <a:cs typeface="Calibri" pitchFamily="34" charset="-120"/>
              </a:rPr>
              <a:t>31 programs run</a:t>
            </a:r>
            <a:endParaRPr lang="en-US" sz="1300" dirty="0"/>
          </a:p>
        </p:txBody>
      </p:sp>
      <p:sp>
        <p:nvSpPr>
          <p:cNvPr id="11" name="Shape 9"/>
          <p:cNvSpPr/>
          <p:nvPr/>
        </p:nvSpPr>
        <p:spPr>
          <a:xfrm>
            <a:off x="5820156" y="3749040"/>
            <a:ext cx="1751076" cy="530352"/>
          </a:xfrm>
          <a:prstGeom prst="roundRect">
            <a:avLst>
              <a:gd name="adj" fmla="val 50000"/>
            </a:avLst>
          </a:prstGeom>
          <a:solidFill>
            <a:srgbClr val="F2ECE1"/>
          </a:solidFill>
          <a:ln w="12700">
            <a:solidFill>
              <a:srgbClr val="D97A14"/>
            </a:solidFill>
            <a:prstDash val="solid"/>
          </a:ln>
        </p:spPr>
      </p:sp>
      <p:sp>
        <p:nvSpPr>
          <p:cNvPr id="12" name="Text 10"/>
          <p:cNvSpPr txBox="1"/>
          <p:nvPr/>
        </p:nvSpPr>
        <p:spPr>
          <a:xfrm>
            <a:off x="5820156" y="3749040"/>
            <a:ext cx="1751076" cy="530352"/>
          </a:xfrm>
          <a:prstGeom prst="rect">
            <a:avLst/>
          </a:prstGeom>
          <a:noFill/>
          <a:ln/>
        </p:spPr>
        <p:txBody>
          <a:bodyPr wrap="square" lIns="0" tIns="0" rIns="0" bIns="0" rtlCol="0" anchor="ctr"/>
          <a:lstStyle/>
          <a:p>
            <a:pPr algn="ctr" indent="0" marL="0">
              <a:buNone/>
            </a:pPr>
            <a:r>
              <a:rPr lang="en-US" sz="1300" b="1" dirty="0">
                <a:solidFill>
                  <a:srgbClr val="2B2622"/>
                </a:solidFill>
                <a:latin typeface="Calibri" pitchFamily="34" charset="0"/>
                <a:ea typeface="Calibri" pitchFamily="34" charset="-122"/>
                <a:cs typeface="Calibri" pitchFamily="34" charset="-120"/>
              </a:rPr>
              <a:t>8 diagrams</a:t>
            </a:r>
            <a:endParaRPr lang="en-US" sz="1300" dirty="0"/>
          </a:p>
        </p:txBody>
      </p:sp>
      <p:sp>
        <p:nvSpPr>
          <p:cNvPr id="13" name="Shape 11"/>
          <p:cNvSpPr/>
          <p:nvPr/>
        </p:nvSpPr>
        <p:spPr>
          <a:xfrm>
            <a:off x="457200" y="4636008"/>
            <a:ext cx="91440" cy="310896"/>
          </a:xfrm>
          <a:prstGeom prst="rect">
            <a:avLst/>
          </a:prstGeom>
          <a:solidFill>
            <a:srgbClr val="D97A14"/>
          </a:solidFill>
          <a:ln w="12700">
            <a:solidFill>
              <a:srgbClr val="D97A14"/>
            </a:solidFill>
            <a:prstDash val="solid"/>
          </a:ln>
        </p:spPr>
      </p:sp>
      <p:sp>
        <p:nvSpPr>
          <p:cNvPr id="14" name="Text 1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Questions are welcome; bring an email problem to run.</a:t>
            </a:r>
            <a:endParaRPr lang="en-US" sz="1350" dirty="0"/>
          </a:p>
        </p:txBody>
      </p:sp>
      <p:sp>
        <p:nvSpPr>
          <p:cNvPr id="15" name="Text 1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26 / 26</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SEN0414 Chapter 20 - Sending Email, Texts, and Push Notifications</dc:title>
  <dc:subject>PptxGenJS Presentation</dc:subject>
  <dc:creator>Yusuf Altunel</dc:creator>
  <cp:lastModifiedBy>Yusuf Altunel</cp:lastModifiedBy>
  <cp:revision>1</cp:revision>
  <dcterms:created xsi:type="dcterms:W3CDTF">2026-10-13T09:32:27Z</dcterms:created>
  <dcterms:modified xsi:type="dcterms:W3CDTF">2026-10-13T09:32:27Z</dcterms:modified>
  <cp:version>1.0.0</cp:version>
</cp:coreProperties>
</file>