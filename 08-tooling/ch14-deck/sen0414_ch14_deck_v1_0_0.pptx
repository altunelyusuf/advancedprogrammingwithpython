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Cells A1 to A10: the squares</a:t>
            </a:r>
          </a:p>
        </c:rich>
      </c:tx>
      <c:layout/>
      <c:overlay val="0"/>
    </c:title>
    <c:autoTitleDeleted val="0"/>
    <c:plotArea>
      <c:layout/>
      <c:barChart>
        <c:barDir val="col"/>
        <c:grouping val="clustered"/>
        <c:varyColors val="0"/>
        <c:ser>
          <c:idx val="0"/>
          <c:order val="0"/>
          <c:tx>
            <c:strRef>
              <c:f>Sheet1!$B$1</c:f>
              <c:strCache>
                <c:ptCount val="1"/>
                <c:pt idx="0">
                  <c:v>First series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4</c:v>
                </c:pt>
                <c:pt idx="2">
                  <c:v>9</c:v>
                </c:pt>
                <c:pt idx="3">
                  <c:v>16</c:v>
                </c:pt>
                <c:pt idx="4">
                  <c:v>25</c:v>
                </c:pt>
                <c:pt idx="5">
                  <c:v>36</c:v>
                </c:pt>
                <c:pt idx="6">
                  <c:v>49</c:v>
                </c:pt>
                <c:pt idx="7">
                  <c:v>64</c:v>
                </c:pt>
                <c:pt idx="8">
                  <c:v>81</c:v>
                </c:pt>
                <c:pt idx="9">
                  <c:v>100</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this chapter a program's data lived in text files and on web pages. Chapter 14 turns to the file that offices keep their numbers in: a program can open an Excel workbook, take its sheets and cells, count and add what it finds, write new workbooks with formulas, fonts, merged cells, frozen panes and charts, and save the result under a new name. This deck follows the chapter in that order and adds what the chapter leaves out, which is what a formula does when no spreadsheet program has calculated it, why looking at a cell changes the sheet, the places where the book's listings and files differ from what runs today, and the safe way to open a file one did not make. Every example was run under Python 3.14.6 on Ubuntu with openpyxl 3.1.5, the newest stable release on 12 October 2026, and the result printed beside it is the result that run gave. The book's three Excel files are not part of this repository, so each program first makes a stand-in with the same sheets, columns and formulas; the two projects were also run whole on the real files of the book's online materials, and the one program marked live downloaded example3.xlsx from the book's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It starts with files, sheets and cells, the openpyxl library and the way a workbook is opened and a cell is named, then Project 9, which reads a census sheet and tallies it by county, then writing workbooks and Project 10, which corrects prices and saves a copy, then formulas and the question of who calculates them, then formatting with fonts, sizes, merged cells and frozen panes, then charts, then the chapter's practice programs and the safe way to open a file one did not make, ending with a one-map summary and the resources. The ranges name the exact slides, so you can return to the part you need. Three of the slides are true stories that explain where a tool or an idea of this chapter came from, and three more are told in the notes; the eight narrative diagrams of the chapter are drawn from the same specifications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 workbook is a file, a sheet is a page of it, a cell is one box of that page, and openpyxl gives each its own object: Workbook, Worksheet, Cell, and beside them a Font for a style, a string for a formula, a Reference and a Series and a BarChart for a chart. What the question asks for is what each object keeps of what the spreadsheet application stored, and the answer the deck gives is that values and formulas are kept, while the results of formulas, the way fonts and charts are drawn and the position of the window are not calculated or drawn by Python. The second question is the watch-out of the deck. The chapter's examples are sound and its two projects run on the real files, but the two Python scripts that ship with the files are in the style of the second edition and do not run, one sentence about the order of the arguments of Reference is backwards, and a few typeset marks and practice questions need a note, so each slide says where a printed line differs and on what evidence. The chips give the size of the chapter as this deck covers it: six branches, the topics beneath them, the console rows and programs that were run, and the eight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openpyxl is a third-party package and not part of Python. Its newest stable release on 12 October 2026 was 3.1.5, uploaded on 28 June 2024, its one dependency is et-xmlfile, and the same program printed the same results under every release of Python 3.14 from 3.14.0 to 3.14.6 and under 3.13 and 3.12, with no warning even when warnings were turned into errors. An .xlsx file is a zip of XML parts, so the console saves an empty workbook into memory and counts nine parts, two of them the workbook and its first sheet. The use-case diagram lists what a program can do through the module: open a workbook and read its cells, create and remove sheets, write values and formulas, set fonts, merge cells and freeze panes, and add a chart. XlsxWriter writes .xlsx files but cannot read or modify one, and xlrd 2.0.2 reads only the historical .xls format, which is why openpyxl is the module of the chapter. load_workbook judges a file by its name before reading it: a name ending .xls or .txt is refused with InvalidFileException, and one ending .xlsx or .xlsm is read whatever name the bytes had when they were written. The library has a story of its own. Its documentation says it was born from the lack of a Python library to read and write the Office Open XML format natively, initially based on PHPExcel, by Eric Gazoni and Charlie Clark; the first upload to the Python Package Index, openpyxl 1.1.0, is dated 11 August 2010, and the project describes itself as maintained by volunteers in their spare time. Because the project is quiet, a course should say which release it ran, and this deck ran 3.1.5. These accounts rest on the openpyxl documentation and the PyPI record of the package, read on 12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submitted documentation of its Office Open XML formats to Ecma International, which set up its technical committee TC45 in December 2005 to review them. The document was approved as ECMA 376 in December 2006 and submitted for standardization through ISO/IEC JTC 1 in early 2007, and approval as ISO/IEC 29500 followed in early 2008. A spreadsheet file in the family is an XLSX file, specified through SpreadsheetML inside a package based on ZIP, which is what openpyxl opens when chapter 14 calls load_workbook. The account rests on these sources. Library of Congress, Sustainability of Digital Formats, 'OOXML Format Family - ISO/IEC 29500 and ECMA 376' (fdd000395): TC45 established in December 2005, ECMA 376 approved in December 2006, ISO/IEC 29500 approval in early 2008, XLSX specified via SpreadsheetML, ZIP-based package. The Ecma and ISO pages could not be opened from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review in seven steps. openpyxl.load_workbook() reads an .xlsx file and returns a Workbook object that stands for the whole file, a bit as a File object stands for an opened text file. The sheetnames attribute is the list of sheet names in the order of the tabs, and wb.active is the sheet that was on top when the file was saved; a workbook made in memory has its first sheet active. A Worksheet is got by its name in square brackets like a dictionary key, and a name that does not exist raises KeyError with the message printed. The one choice in the diagram is how the cell is named, by its letter and row number, as in sheet['A1'], or by two integers that start at 1, as in sheet.cell(row=1, column=2), which suits a loop; a row or column of 0 is refused with ValueError. The Cell's value attribute is the last step. The console builds a workbook with a second sheet in memory, saves it to a BytesIO object and loads it again, because the book's example3.xlsx is not in this repository; the same calls were run on the real file downloaded from the book's site, which the last slides show. One caution comes from the files that ship with the book: its script readCensusExcel.py still calls wb.get_sheet_by_name, which only draws a DeprecationWarning, and sheet.get_highest_row(), which no longer exists, so it stops with AttributeError; the chapter's own listing uses wb[...] and max_row and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cell is got by its name in square brackets, its value is in the value attribute, columns start at A and rows at 1. A slice of two cell names gives a tuple of rows, each a tuple of the cells of that row, even when the range is a single row, which is why the console reads the values with a nested list. max_row and max_column are integers, and the column is a number and not the letter Excel shows; get_column_letter and column_index_from_string convert, 27 being AA and 900 being AHP. They accept columns up to ZZZ, number 18278, which is beyond the last column of Excel, XFD, number 16384, so they do not apply the limit of the application. The right-hand console shows the side effect the chapter does not mention. A worksheet starts with no cells and creates one the first time it is asked for, so cell(row=40, column=1) raises max_row to 40, makes the dimensions A40:A40, and a later read of A2 gives None, on which arithmetic raises TypeError. The sheet's size is therefore what was touched, not what was typed, and the same holds for int(None) in the loop of Project 9. Dates are numbers with a date format; openpyxl gives datetime values back, a date written as a date comes back as a datetime and a text that looks like a date stays text, and every cell has a one-letter data type: n, s, b, d or f. Two stories sit behind this. Excel was announced for the Macintosh on 2 May 1985 at Tavern on the Green in New York by Steve Jobs of Apple and Bill Gates, went on sale on 30 September 1985, and still treats 29 February 1900 as a day, a bug that began in Lotus 1-2-3 and was kept on purpose for compatibility, so the file format keeps the habits and the bugs of its program; that account rests on the Wikipedia article on Microsoft Excel and its sources. And in 2016 Ziemann, Eren and El-Osta found that Excel with its default settings turns gene symbols such as SEPT2 into dates, with errors in 987 files from 704 articles, 19.6 percent of the published articles with gene lists in the journals they selected, in Genome Biology 17, 177; a symbol written into a cell by openpyxl as a string keeps the data type s and no date is made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 Bricklin had the idea for an electronic spreadsheet in the spring of 1978, as an MBA student at Harvard Business School, and decided that summer to turn it into a product. He prototyped the screen in Basic on the school's timesharing system, and that is when the wish to place numbers, formula results and text turned into rows and columns with human-friendly names. His work journal dates the first prototype on an Apple II, borrowed from Dan Fylstra of Personal Software, to October 8, 1978. With Bob Frankston he made VisiCalc, which Personal Software published and which first came out on the Apple II in 1979. The account rests on these sources. Dan Bricklin, 'The Idea', bricklin.com/history/saiidea.htm (spring and summer 1978, journal entry of October 8, 1978); Dan Bricklin, 'VisiCalc executable', bricklin.com/history/vcexecutable.htm (the original VisiCalc first came out on the Apple II in 1979).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9 reads a sheet of census data, one row for each census tract, and tallies tracts and population for each county in a dictionary of dictionaries: state to county to a dictionary with the keys tracts and pop. The listing is the chapter's three steps assembled, with the step markers removed. The typeset listing of Step 1 has call-out markers inside the code and raises SyntaxError at the marker as printed, and Step 2 compiles only when the marker is replaced by one space and not removed, which is why this run uses the repaired listing. The loop starts at row 2 to skip the header and reads columns B, C and D of each row. The excerpt is lines 15 to 33 of the 39 in the recording; the first 14 lines make the stand-in file, a short sheet with the columns of the real census file, and the last lines, not shown, import census2010 and print the Anchorage entry, then the file itself. A script's own folder is on sys.path, so the import finds the file the program wrote, and importing runs it. The run on the stand-in tallied three tracts and 12,515 people in Anchorage. Run whole on the real censuspopdata.xlsx of the book's online materials, 72,865 tract rows, the same program left {'pop': 291826, 'tracts': 55} for Anchorage. The shipped script readCensusExcel.py does not run today, as the previous slide on opening workbooks said, and the shipped census2010.py equals the generated file except that its line endings are Windows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drawn as an activity. It opens the workbook and gets the census sheet, then loops: it reads the state, county and population of the next row, and asks whether the state and the county exist in county_data yet. If not, setdefault adds the state, the county and the two counters; either way one tract and the tract's population are added to the county, and the loop goes on while a row is left up to max_row. When it ends, pprint.pformat writes the dictionary into census2010.py and import census2010 reads the result as a module. setdefault inserts a key with a default only when the key is missing and always returns the value, so one call on every row is enough; without it the first row of a state raises KeyError. The table is the dictionary the program wrote on the stand-in sheet, one row for each county, computed again from the stand-in sheet by the deck's check. Two cautions from the research belong here. The bounds of the loop are the sheet's size, so a sheet with touched empty rows runs the loop over rows that hold no data and int(None) raises TypeError, as the previous slide showed. And the result file is Python source that is run when imported, so ast.literal_eval is the safer way to read a dictionary written by someone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starts from openpyxl.Workbook(), which holds one sheet named Sheet; wb.active is that sheet, and assigning to its title attribute renames it. save() writes the workbook to the file name it is given, and when that name exists the old file is replaced without a question, which is why the chapter's projects save under a new name. create_sheet adds a sheet named SheetN at the end, or at an index with a title, and returns the new Worksheet, so print shows it; the del operator removes a sheet by its name like a key from a dictionary, and assigning to a cell's value writes it. The excerpt is lines 14 to 33 of the 35 in the recording. The last two lines of the program, not shown, create three sheets with the titles Dup, Dup and dup and print Dup Dup1 dup2, the last line of the transcript: titles are kept unique without regard to case by adding a number. A title with a slash, a bracket, a star or a question mark is refused with ValueError, and a title longer than 31 characters, the limit of Excel, only draws a warning. The excerpt's sheet names also show what the chapter's session shows, ['First Sheet', 'Sheet', 'Middle Sheet', 'Sheet1'] before the two deletions and ['First Sheet', 'Sheet'] after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10 corrects the price of three kinds of produce in a spreadsheet of sales. The corrections are in a dictionary at the top of the program, so the loop needs one if statement and a new correction changes data and not code. The loop starts at row 2 to skip the header, reads column 1 with cell() and writes column 2 only for names in the dictionary, and the workbook is saved as updatedProduceSales3.xlsx so that the original is not overwritten. The excerpt is lines 15 to 29 of the 33 in the recording; lines 30 and 31 compare the old and new sheets row by row, and line 33 reads D2 of the saved copy. The transcript shows the corrections applied: Garlic 1.19 became 3.07 in rows 3, 7 and 11, Celery 3.07 became 1.19 and Lemon 1.29 became 1.27, while the formula in column D is unchanged. Run whole on the real produce file, the same program changed Garlic in 630 rows, Celery in 586 and Lemon in 607. The script updateProduce.py that ships with the book does not run today: it opens a file named produceSales.xlsx that is not in the zip, the file being produceSales3.xlsx, and its loop range(2, get_highest_row()) calls a method that no longer exists and would leave the last row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of the project, and its last two boxes are the finding. The loop reads the produce name of each row from row 2, asks whether it is a key of PRICE_UPDATES, writes the new price in column 2 if so, and goes on while a row is left up to max_row + 1; then the workbook is saved under the new name. The saved formulas hold no stored results: a workbook that openpyxl saved keeps the formulas but not the results Excel had stored for them, so every TOTAL cell reads as None after Project 10 saves its copy, until a spreadsheet program opens and saves the copy again. On the real produce file D2 held 18.58 in the original and None in the copy. The chapter's remedy is to open the copy in Excel; LibreOffice 24.2.7.2, run headless on the saved file, recalculated all 23,757 rows with 0 differences from the totals Excel had stored, so the step is a calculation any spreadsheet program can do and not something Python can do with openpyxl alone. The same loss happens to a chart or a picture only when the library cannot read it, which is not the case for a chart openpyxl wrote itself, as the chart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formula is stored by assigning text that begins with an equal sign. openpyxl marks the cell as data type f, does not evaluate it and does not check that the function exists, so '=NOSUCHFUNC(1' is stored as it is typed. Loaded as usual, a formula cell gives back its formula text; loaded with data_only=True the same cell gives the value a spreadsheet program stored, or None when none did. In the transcript the first three lines are the type and text of A3, the formula read back, and the None that data_only=True gives for a file nobody has calculated. The excerpt is lines 14 to 25 of the 37 in the recording. The remaining lines make a copy of the saved file in which the result 500 has been put into the XML of A3, as Excel or LibreOffice would store it, and the transcript shows what follows: data_only=True now reads 500, and after openpyxl loads and saves that file again the formula is still there and the stored result is gone. That is the same loss as the totals of Project 10. The chapter says the file must be opened and saved in Excel for the result to be stored, and the research confirmed that this is the calculation; a program cannot take its place with openpyxl alone. The two details that matter most to a student are that a formula is text, so a typing mistake in it is not found until a spreadsheet program opens the file, and that data_only chooses between the formula and the stored value but never calculates.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between the program and a spreadsheet application is drawn as a sequence because the order matters. The program assigns '=SUM(A1:A2)' to A3 and saves the file. The file is then opened and saved by the application, which calculates the formula and stores the result 500, and the saved file holds the formula and its result. Only then does load_workbook() without data_only read the formula and data_only=True read the stored result, 500. data_only=True chooses between the formula and the value stored at the last save by a spreadsheet program; it never calculates, so a file whose formulas were never calculated gives None for every formula cell. The library XlsxWriter, which writes formulas, stores the value 0 as the result unless it is given another, and sets a flag that makes the application recalculate on opening, so data_only=True reads 0 from a file that never held a calculated total. The step of opening and saving the file in Excel is therefore the calculation, and a recalculation is the job of a spreadsheet program: the next slide runs LibreOffice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spreadsheet program does the calculating, and LibreOffice can be driven without a window. The program checks that soffice is on the machine, then, in the line the excerpt does not show, runs it headless with --convert-to xlsx, which opens the stand-in produce file and saves it again, so that every TOTAL cell gets a stored result. It then compares those stored totals with Python's round(b * c, 2) and prints how many differ: 4 of the 10 rows of the stand-in. The reason is that a spreadsheet's ROUND and Python's round can disagree on an exact half: Python rounds the binary number its float holds, and 1.89 times 34.5 is held a little under the exact half 65.205, so Python gives 65.2 where Excel stores 65.21. On the real produce file Excel's stored total differed from Python's in 629 of 23,757 rows, and LibreOffice's recalculation of the updated file in 695. A program that checks a total therefore has to allow the difference or use the decimal module. The last line of the transcript shows that LibreOffice stored 11.9 for D3 and that the formula text is unchanged. LibreOffice 24.2.7.2 and the stand-in file were used here; Microsoft Excel itself was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April 2013 Herndon, Ash and Pollin published a working paper that replicated Reinhart and Rogoff's study of public debt and economic growth. Using the authors' working spreadsheet, they found a coding error that entirely excluded five countries, Australia, Austria, Belgium, Canada and Denmark, from the analysis. With the selective exclusion of data and an unusual weighting, they found that average real growth for debt above 90 percent of GDP was 2.2 percent a year and not the -0.1 percent that Reinhart and Rogoff published. The spreadsheet error, together with other errors, accounts for a -0.3 percentage-point error in the published average of the highest debt category. The account rests on these sources. Herndon, Ash and Pollin, 'Does High Public Debt Consistently Stifle Economic Growth? A Critique of Reinhart and Rogoff', PERI Working Paper, April 15, 2013 (abstract; section 'Spreadsheet coding error'); the PERI publication page, peri.umass.edu, read on 2026-10-12.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Font object holds styling, is made with keyword arguments and is assigned to a cell's font attribute; a value assigned to the cell afterwards keeps the font. Table 14-2 of the chapter lists name, size, bold and italic. The research found that the defaults the chapter states are only half true. A Font made without a name or size writes neither into the file, so Font(size=24, italic=True) has no name and Font(name='Times New Roman', bold=True) has no size, as the first two lines of the transcript show, while the untouched cell C5 reads Calibri 11. A cell with such a font is drawn in whatever the application chooses; LibreOffice 24.2 drew the cell with no name in Caladea, a substitute for Cambria, and Excel itself was not available to say what it draws. Style objects are shared between cells and cannot be changed in place: assigning cell.font.bold raises AttributeError, so the style must be replaced by a new Font. Row heights and column widths are set through row_dimensions and column_dimensions, a row addressed by its number and a column by its letter. The hidden attribute hides a column, which the chapter's Practice Question 16 asks for and the chapter never shows, and the file records hidden=1 in the transcript's second col element. Reading a dimension creates it: looking at row_dimensions[3].height adds a row that is saved as an empty row element, and looking at column_dimensions['A'].width adds a column entry saved with a custom width of 13. This program is the font, size and hide lines of the corpus program layoutFontMergeFreeze, with the prints cut to lines that fit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Merging joins a rectangle of cells into one. After merge_cells('F1:I3') only F1 is a real Cell; the others are MergedCell objects whose value is read-only, so assigning to G2 raises AttributeError, and the values the other cells held are discarded at once. unmerge_cells gives back empty separate cells with the text in the top-left one, the last two lines of the transcript before the freeze settings. The state diagram follows one rectangle: merge_cells takes it from individual cells to one merged cell with the value of the top-left cell, unmerge_cells takes it back, and assigning to a MergedCell is the loop that raises an error. Freezing panes freezes the rows above and the columns left of the named cell, not that cell's own row and column: A2 freezes row 1, B1 column A, C1 columns A and B, and C2 row 1 with columns A and B, which the xSplit and ySplit values in the transcript show. Setting freeze_panes to None or to A1 removes them. Freezing does not move the view: the book's produceSales3.xlsx was saved scrolled to row 23736 and a copy frozen at A2 still opened at that row, so the frozen copy of Figure 14-8 shows the bottom of the data unless the program also resets the view. This program is the merge and freeze lines of the corpus program layoutFontMergeFreeze, with its prints cut to lines that fit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make a chart in openpyxl: a Reference names a rectangle of cells, Series builds a series from the reference with a title given as text, a chart object such as BarChart is made empty and given a title, and the series is added with append; add_chart anchors the chart to the cell named in its second argument. The excerpt is lines 14 to 26 of the 32 in the recording. The transcript's first line is the Reference, 'Sheet'!$A$1:$A$10. The chapter states the order of the arguments the wrong way round: it says the row comes first, whereas the signature of openpyxl 3.1.5 is Reference(worksheet, min_col, min_row, max_col, max_row), column first, and Reference(sheet, 2, 1, 2, 10) is B1:B10. The chapter's example hides the mistake because it is a square block of cells, and leaving max_row out silently gives a single cell, the last reference printed. The second line lists the three parts of the zip that a chart adds, xl/charts/chart1.xml and the drawing that anchors it. The two 1s are the numbers of charts found after loading the saved file and after loading a file saved again: a chart that openpyxl wrote survives a load and a save. The chapter's use of openpyxl.chart after import openpyxl alone works in 3.1.5, so the call is correct as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list of five steps, each depending on the one before it, with no choice on the way, so it is drawn as a workflow. A Reference names a rectangle of cells from min_col, min_row, max_col and max_row; Series(ref_obj, title='First series') builds a series from it; BarChart() creates the chart object and its title is set; chart_obj.append(series_obj) adds the series; and sheet.add_chart(chart_obj, 'C5') adds the chart to the sheet at a cell. save() then writes the chart into xl/charts/chart1.xml. The chapter names four chart classes, BarChart, LineChart, ScatterChart and PieChart, and each is written into the file as a chart element of its own kind; a scatter chart needs the x values too, passed as xvalues. The native chart on the right is not the chart Excel will draw. It is a PowerPoint chart of the ten cells the Reference names, A1 to A10, which hold the squares 1 to 100, and the deck check reads those cells from the saved workbook again and compares them with the chart. How the real chart looks is decided by the application that opens the file: LibreOffice 24.2 drew the chapter's chart with a value axis from 0 to 120, the labels 1 to 10 and the legend First series, and Excel was not available to compare. copy_worksheet copies cells and leaves charts behind, contrary to the warning in the documentation that shapes are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two practice programs take their numbers from sys.argv, a list of strings with the script name first, so int() converts them and a missing argument raises IndexError; here the first line sets sys.argv instead of the command line. Multiplication Table Maker puts the labels 1 to N in bold along row 1 from B1 and down column A from A2, with the products inside, so the table for 6 spans A1 to G7, D5 is 12, G7 is 36 and A1 is empty. Blank Row Inserter reads N, M and a file name and makes one call, insert_rows(idx, amount), which inserts blank rows before row idx and moves the cells below it down with their values and styles. That is correct for values and incomplete for everything else, and the chapter says nothing of it. insert_rows does not rewrite the references inside formulas: the SUM over B1:B5 stays over B1:B5, as the printed '=SUM(B1:B5)' at C8 shows, and C6 is now empty. It does not move merged ranges, and it does not move row heights: a height of 50 set on row 4 stayed on row 4 after two rows were inserted at row 3. The program must fix the rest itself, or the formulas will add the wrong cells. Four further notes on the chapter's practice questions: Question 10 asks for the string name of row 14, which does not exist because rows have numbers and only columns have letters; Question 11 has sheet['A1':'F1'] return a tuple of one tuple; Question 16 asks how to hide a column, which the chapter never shows; and Question 18 lists Reference, Series, BarChart, append and add_chart.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.xlsx file is a zip of XML parts that openpyxl parses without guarding against entity attacks, and the chapter opens files it did not make. The first program is the only one in this deck that reaches the real web: it downloads example3.xlsx from automatetheboringstuff.com, 9,904 bytes with status 200, loads it from memory with io.BytesIO and prints its three sheets, its size of 7 rows by 3 columns and the first three rows, the first of them 'Apples', 73 with the datetime of 5 April 2035. The second transcript is the safe-loading program. It builds a workbook whose sheet has a nested entity, ten copies of ten copies and so on, in a file under six kilobytes, and loads it with openpyxl. The page of the openpyxl documentation says openpyxl does not guard against quadratic blowup or billion laughs and advises installing defusedxml. Run on Python 3.14.6, whose bundled Expat is 2.8.1, a nested entity of depth 4 loaded into 100,000 characters in a cell without defusedxml and a depth of 6, ten million characters, was refused by Expat with a limit on input amplification; with defusedxml installed, as in this transcript, load_workbook refused both with ValueError. The Python documentation says Expat versions below 2.7.2 may still be vulnerable, so the protection depends on the library the interpreter was built with. The program names defusedxml, so it is run with that package added to the interpreter, the only package besides openpyxl and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Workbooks and sheets come first: load_workbook() returns a Workbook object, the active sheet is the one on top, and create_sheet() and del add and remove sheets. Cells and ranges follow: a cell is got by its name or by row and column numbers, max_row and max_column give the size of the sheet, and a slice of two cell names gives a tuple of rows. The projects put these together: Project 9 tallies tracts and population by county, Project 10 corrects prices in the produce sheet, and the practice programs make a table and insert rows. Formulas are text that begins with an equal sign, openpyxl does not calculate them, and data_only=True reads the stored result. Formatting is Font() for the name, size, bold and italic, row heights and column widths through dimensions, and merge_cells() and freeze_panes for how cells show. Charts are a Reference that names a rectangle of cells, a Series appended to a chart object, and add_chart() anchoring the chart to a cell. Together they answer the first question of the chapter, which object keeps what, and the slides that say where a printed line differs answer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openpyxl documentation and tutorial cover what this deck added to the chapter, and the reference links are the official pages for the worksheet methods, the styles and the charts, including the arguments of Reference. The history links are the sources behind five of the six stories of the chapter. Two of them are slides: the grid of named rows and columns of Bricklin's idea and the standardisation of the Office Open XML format. The other three were told in the notes: the birth of openpyxl in 2010 on the library slide, Excel and its 1900 leap-year bug in 1985 and the gene symbols that Excel turns into dates in 2016 on the slide about cells. The sixth story, the Herndon, Ash and Pollin paper, has its source link on its own slide, because the address is too long for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of the book works with Google Sheets, where a program reaches a spreadsheet through a web service instead of a file, and everything this chapter taught about sheets, cells and formulas carries over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loc.gov/preservation/digital/formats/fdd/fdd000395.s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www.bricklin.com/history/saiidea.ht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peri.umass.edu/publication/does-high-public-debt-consistently-stifle-economic-growth-a-critique-of-reinhart-and-rogoff/"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4.html" TargetMode="External"/><Relationship Id="rId2" Type="http://schemas.openxmlformats.org/officeDocument/2006/relationships/hyperlink" Target="https://openpyxl.readthedocs.io/en/stable/" TargetMode="External"/><Relationship Id="rId3" Type="http://schemas.openxmlformats.org/officeDocument/2006/relationships/hyperlink" Target="https://openpyxl.readthedocs.io/en/stable/tutorial.html" TargetMode="External"/><Relationship Id="rId4" Type="http://schemas.openxmlformats.org/officeDocument/2006/relationships/hyperlink" Target="https://openpyxl.readthedocs.io/en/stable/api/openpyxl.worksheet.worksheet.html" TargetMode="External"/><Relationship Id="rId5" Type="http://schemas.openxmlformats.org/officeDocument/2006/relationships/hyperlink" Target="https://openpyxl.readthedocs.io/en/stable/styles.html" TargetMode="External"/><Relationship Id="rId6" Type="http://schemas.openxmlformats.org/officeDocument/2006/relationships/hyperlink" Target="https://openpyxl.readthedocs.io/en/stable/charts/introduction.html" TargetMode="External"/><Relationship Id="rId7" Type="http://schemas.openxmlformats.org/officeDocument/2006/relationships/hyperlink" Target="https://openpyxl.readthedocs.io/en/stable/api/openpyxl.chart.reference.html" TargetMode="External"/><Relationship Id="rId8" Type="http://schemas.openxmlformats.org/officeDocument/2006/relationships/hyperlink" Target="http://www.bricklin.com/history/saiidea.htm" TargetMode="External"/><Relationship Id="rId9" Type="http://schemas.openxmlformats.org/officeDocument/2006/relationships/hyperlink" Target="https://en.wikipedia.org/wiki/Microsoft_Excel" TargetMode="External"/><Relationship Id="rId10" Type="http://schemas.openxmlformats.org/officeDocument/2006/relationships/hyperlink" Target="https://www.loc.gov/preservation/digital/formats/fdd/fdd000395.shtml" TargetMode="External"/><Relationship Id="rId11" Type="http://schemas.openxmlformats.org/officeDocument/2006/relationships/hyperlink" Target="https://openpyxl.readthedocs.io/en/stable/" TargetMode="External"/><Relationship Id="rId12" Type="http://schemas.openxmlformats.org/officeDocument/2006/relationships/hyperlink" Target="https://genomebiology.biomedcentral.com/articles/10.1186/s13059-016-1044-7" TargetMode="External"/><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Excel Spreadsheets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a program reads and writes workbooks: openpyxl, cells, formulas, formatting, charts and two projects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777240"/>
            <a:ext cx="4114800" cy="859536"/>
          </a:xfrm>
          <a:prstGeom prst="roundRect">
            <a:avLst>
              <a:gd name="adj" fmla="val 10638"/>
            </a:avLst>
          </a:prstGeom>
          <a:solidFill>
            <a:srgbClr val="23272E"/>
          </a:solidFill>
          <a:ln w="12700">
            <a:solidFill>
              <a:srgbClr val="23272E"/>
            </a:solidFill>
            <a:prstDash val="solid"/>
          </a:ln>
        </p:spPr>
      </p:sp>
      <p:sp>
        <p:nvSpPr>
          <p:cNvPr id="12" name="Text 10"/>
          <p:cNvSpPr txBox="1"/>
          <p:nvPr/>
        </p:nvSpPr>
        <p:spPr>
          <a:xfrm>
            <a:off x="4754880" y="896112"/>
            <a:ext cx="3749040" cy="621792"/>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import openpyxl</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openpyxl.__version__</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'3.1.5'</a:t>
            </a:r>
            <a:endParaRPr lang="en-US" sz="1050" dirty="0"/>
          </a:p>
        </p:txBody>
      </p:sp>
      <p:sp>
        <p:nvSpPr>
          <p:cNvPr id="13" name="Text 11"/>
          <p:cNvSpPr txBox="1"/>
          <p:nvPr/>
        </p:nvSpPr>
        <p:spPr>
          <a:xfrm>
            <a:off x="4572000" y="1655064"/>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Files, sheets and cells (slides 4-8)</a:t>
            </a:r>
            <a:endParaRPr lang="en-US" sz="1100" dirty="0"/>
          </a:p>
        </p:txBody>
      </p:sp>
      <p:sp>
        <p:nvSpPr>
          <p:cNvPr id="9" name="Shape 7"/>
          <p:cNvSpPr/>
          <p:nvPr/>
        </p:nvSpPr>
        <p:spPr>
          <a:xfrm>
            <a:off x="457200" y="1722501"/>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2250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8592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Project 9: reading data (slides 9-10)</a:t>
            </a:r>
            <a:endParaRPr lang="en-US" sz="1100" dirty="0"/>
          </a:p>
        </p:txBody>
      </p:sp>
      <p:sp>
        <p:nvSpPr>
          <p:cNvPr id="12" name="Shape 10"/>
          <p:cNvSpPr/>
          <p:nvPr/>
        </p:nvSpPr>
        <p:spPr>
          <a:xfrm>
            <a:off x="457200" y="212826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282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9169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Writing workbooks and Project 10 (slides 11-13)</a:t>
            </a:r>
            <a:endParaRPr lang="en-US" sz="1100" dirty="0"/>
          </a:p>
        </p:txBody>
      </p:sp>
      <p:sp>
        <p:nvSpPr>
          <p:cNvPr id="15" name="Shape 13"/>
          <p:cNvSpPr/>
          <p:nvPr/>
        </p:nvSpPr>
        <p:spPr>
          <a:xfrm>
            <a:off x="457200" y="2534031"/>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403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49745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Formulas and who calculates (slides 14-17)</a:t>
            </a:r>
            <a:endParaRPr lang="en-US" sz="1100" dirty="0"/>
          </a:p>
        </p:txBody>
      </p:sp>
      <p:sp>
        <p:nvSpPr>
          <p:cNvPr id="18" name="Shape 16"/>
          <p:cNvSpPr/>
          <p:nvPr/>
        </p:nvSpPr>
        <p:spPr>
          <a:xfrm>
            <a:off x="457200" y="293979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0322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Formatting cells (slides 18-19)</a:t>
            </a:r>
            <a:endParaRPr lang="en-US" sz="1100" dirty="0"/>
          </a:p>
        </p:txBody>
      </p:sp>
      <p:sp>
        <p:nvSpPr>
          <p:cNvPr id="21" name="Shape 19"/>
          <p:cNvSpPr/>
          <p:nvPr/>
        </p:nvSpPr>
        <p:spPr>
          <a:xfrm>
            <a:off x="457200" y="3345561"/>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4556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0898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Charts (slides 20-21)</a:t>
            </a:r>
            <a:endParaRPr lang="en-US" sz="1100" dirty="0"/>
          </a:p>
        </p:txBody>
      </p:sp>
      <p:sp>
        <p:nvSpPr>
          <p:cNvPr id="24" name="Shape 22"/>
          <p:cNvSpPr/>
          <p:nvPr/>
        </p:nvSpPr>
        <p:spPr>
          <a:xfrm>
            <a:off x="457200" y="375132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7513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14750"/>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Practice programs and untrusted files (slides 22-23)</a:t>
            </a:r>
            <a:endParaRPr lang="en-US" sz="1100" dirty="0"/>
          </a:p>
        </p:txBody>
      </p:sp>
      <p:sp>
        <p:nvSpPr>
          <p:cNvPr id="27" name="Shape 25"/>
          <p:cNvSpPr/>
          <p:nvPr/>
        </p:nvSpPr>
        <p:spPr>
          <a:xfrm>
            <a:off x="457200" y="4157091"/>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15709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20515"/>
            <a:ext cx="5193792" cy="369189"/>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Summary and resources (slides 24-25)</a:t>
            </a:r>
            <a:endParaRPr lang="en-US" sz="1100" dirty="0"/>
          </a:p>
        </p:txBody>
      </p:sp>
      <p:sp>
        <p:nvSpPr>
          <p:cNvPr id="30" name="Shape 28"/>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32" name="Text 30"/>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3" name="Shape 31"/>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 + 3</a:t>
            </a:r>
            <a:endParaRPr lang="en-US" sz="2600" dirty="0"/>
          </a:p>
        </p:txBody>
      </p:sp>
      <p:sp>
        <p:nvSpPr>
          <p:cNvPr id="35" name="Text 33"/>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3 on slides, 3 in the notes</a:t>
            </a:r>
            <a:endParaRPr lang="en-US" sz="1100" dirty="0"/>
          </a:p>
        </p:txBody>
      </p:sp>
      <p:sp>
        <p:nvSpPr>
          <p:cNvPr id="36" name="Shape 34"/>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7" name="Text 35"/>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38" name="Text 36"/>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from a file to a chart.</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object of openpyxl stands for which part of a workbook - the file, a sheet, a row or column, a cell, a style, a formula, a chart - and what does each keep of what the spreadsheet application stored?</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files and statements of the chapter differ in current Python, in the current library or in the files the book ships,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 branches</a:t>
            </a:r>
            <a:endParaRPr lang="en-US" sz="1150" dirty="0"/>
          </a:p>
        </p:txBody>
      </p:sp>
      <p:sp>
        <p:nvSpPr>
          <p:cNvPr id="14" name="Shape 12"/>
          <p:cNvSpPr/>
          <p:nvPr/>
        </p:nvSpPr>
        <p:spPr>
          <a:xfrm>
            <a:off x="2251710" y="3474720"/>
            <a:ext cx="147241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472413"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93 topics</a:t>
            </a:r>
            <a:endParaRPr lang="en-US" sz="1150" dirty="0"/>
          </a:p>
        </p:txBody>
      </p:sp>
      <p:sp>
        <p:nvSpPr>
          <p:cNvPr id="16" name="Shape 14"/>
          <p:cNvSpPr/>
          <p:nvPr/>
        </p:nvSpPr>
        <p:spPr>
          <a:xfrm>
            <a:off x="3925291"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925291"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34 console rows</a:t>
            </a:r>
            <a:endParaRPr lang="en-US" sz="1150" dirty="0"/>
          </a:p>
        </p:txBody>
      </p:sp>
      <p:sp>
        <p:nvSpPr>
          <p:cNvPr id="18" name="Shape 16"/>
          <p:cNvSpPr/>
          <p:nvPr/>
        </p:nvSpPr>
        <p:spPr>
          <a:xfrm>
            <a:off x="6324448" y="3474720"/>
            <a:ext cx="219798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324448"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14 programs run</a:t>
            </a:r>
            <a:endParaRPr lang="en-US" sz="1150" dirty="0"/>
          </a:p>
        </p:txBody>
      </p:sp>
      <p:sp>
        <p:nvSpPr>
          <p:cNvPr id="20" name="Shape 18"/>
          <p:cNvSpPr/>
          <p:nvPr/>
        </p:nvSpPr>
        <p:spPr>
          <a:xfrm>
            <a:off x="457200" y="4059936"/>
            <a:ext cx="159334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 diagrams</a:t>
            </a:r>
            <a:endParaRPr lang="en-US" sz="1150" dirty="0"/>
          </a:p>
        </p:txBody>
      </p:sp>
      <p:sp>
        <p:nvSpPr>
          <p:cNvPr id="22" name="Shape 20"/>
          <p:cNvSpPr/>
          <p:nvPr/>
        </p:nvSpPr>
        <p:spPr>
          <a:xfrm>
            <a:off x="2251710" y="4059936"/>
            <a:ext cx="195613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251710" y="4059936"/>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each object keeps; then check what the book printed.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openpyxl and the .xlsx file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third-party library that reads and writes the zip of XML parts Excel saves</a:t>
            </a:r>
            <a:endParaRPr lang="en-US" sz="1300" dirty="0"/>
          </a:p>
        </p:txBody>
      </p:sp>
      <p:sp>
        <p:nvSpPr>
          <p:cNvPr id="6" name="Text 4"/>
          <p:cNvSpPr txBox="1"/>
          <p:nvPr/>
        </p:nvSpPr>
        <p:spPr>
          <a:xfrm>
            <a:off x="457200" y="1097280"/>
            <a:ext cx="45720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openpyxl is a package; an .xlsx file is a zip of XML parts</a:t>
            </a:r>
            <a:endParaRPr lang="en-US" sz="1000" dirty="0"/>
          </a:p>
        </p:txBody>
      </p:sp>
      <p:sp>
        <p:nvSpPr>
          <p:cNvPr id="7" name="Shape 5"/>
          <p:cNvSpPr/>
          <p:nvPr/>
        </p:nvSpPr>
        <p:spPr>
          <a:xfrm>
            <a:off x="457200" y="1371600"/>
            <a:ext cx="4572000" cy="1664208"/>
          </a:xfrm>
          <a:prstGeom prst="roundRect">
            <a:avLst>
              <a:gd name="adj" fmla="val 5495"/>
            </a:avLst>
          </a:prstGeom>
          <a:solidFill>
            <a:srgbClr val="23272E"/>
          </a:solidFill>
          <a:ln w="12700">
            <a:solidFill>
              <a:srgbClr val="23272E"/>
            </a:solidFill>
            <a:prstDash val="solid"/>
          </a:ln>
        </p:spPr>
      </p:sp>
      <p:sp>
        <p:nvSpPr>
          <p:cNvPr id="8" name="Text 6"/>
          <p:cNvSpPr txBox="1"/>
          <p:nvPr/>
        </p:nvSpPr>
        <p:spPr>
          <a:xfrm>
            <a:off x="640080" y="1490472"/>
            <a:ext cx="4206240" cy="142646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openpyxl, io, zipfile, importlib.metadata as 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openpyxl.__version__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'3.1.5'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[r.split()[0] for r in m.requires('openpyxl')]</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['et-xmlfile']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 = io.BytesIO(); openpyxl.Workbook().save(b)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len(zipfile.ZipFile(b).namelist())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[n for n in zipfile.ZipFile(b).namelist() if n.startswith('xl/w')]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['xl/worksheets/sheet1.xml', 'xl/workbook.xml']</a:t>
            </a:r>
            <a:endParaRPr lang="en-US" sz="750" dirty="0"/>
          </a:p>
        </p:txBody>
      </p:sp>
      <p:sp>
        <p:nvSpPr>
          <p:cNvPr id="9" name="Text 7"/>
          <p:cNvSpPr txBox="1"/>
          <p:nvPr/>
        </p:nvSpPr>
        <p:spPr>
          <a:xfrm>
            <a:off x="457200" y="3054096"/>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97880" y="1581912"/>
            <a:ext cx="2834640" cy="2624328"/>
          </a:xfrm>
          <a:prstGeom prst="rect">
            <a:avLst/>
          </a:prstGeom>
          <a:solidFill>
            <a:srgbClr val="FBF8F2"/>
          </a:solidFill>
          <a:ln w="12700">
            <a:solidFill>
              <a:srgbClr val="6E655C"/>
            </a:solidFill>
            <a:prstDash val="solid"/>
          </a:ln>
        </p:spPr>
      </p:sp>
      <p:sp>
        <p:nvSpPr>
          <p:cNvPr id="11" name="Text 9"/>
          <p:cNvSpPr txBox="1"/>
          <p:nvPr/>
        </p:nvSpPr>
        <p:spPr>
          <a:xfrm>
            <a:off x="597103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WORKBOOK FILE IN OPENPYXL</a:t>
            </a:r>
            <a:endParaRPr lang="en-US" sz="850" dirty="0"/>
          </a:p>
        </p:txBody>
      </p:sp>
      <p:sp>
        <p:nvSpPr>
          <p:cNvPr id="12" name="Shape 10"/>
          <p:cNvSpPr/>
          <p:nvPr/>
        </p:nvSpPr>
        <p:spPr>
          <a:xfrm>
            <a:off x="6035040" y="1682496"/>
            <a:ext cx="2560320" cy="370332"/>
          </a:xfrm>
          <a:prstGeom prst="ellipse">
            <a:avLst/>
          </a:prstGeom>
          <a:solidFill>
            <a:srgbClr val="F2ECE1"/>
          </a:solidFill>
          <a:ln w="15875">
            <a:solidFill>
              <a:srgbClr val="2F6D62"/>
            </a:solidFill>
            <a:prstDash val="solid"/>
          </a:ln>
        </p:spPr>
      </p:sp>
      <p:sp>
        <p:nvSpPr>
          <p:cNvPr id="13" name="Text 11"/>
          <p:cNvSpPr txBox="1"/>
          <p:nvPr/>
        </p:nvSpPr>
        <p:spPr>
          <a:xfrm>
            <a:off x="6291072" y="1735531"/>
            <a:ext cx="204825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a workbook with load_workbook() and read its cells</a:t>
            </a:r>
            <a:endParaRPr lang="en-US" sz="800" dirty="0"/>
          </a:p>
        </p:txBody>
      </p:sp>
      <p:sp>
        <p:nvSpPr>
          <p:cNvPr id="14" name="Shape 12"/>
          <p:cNvSpPr/>
          <p:nvPr/>
        </p:nvSpPr>
        <p:spPr>
          <a:xfrm>
            <a:off x="6035040" y="2107692"/>
            <a:ext cx="2560320" cy="370332"/>
          </a:xfrm>
          <a:prstGeom prst="ellipse">
            <a:avLst/>
          </a:prstGeom>
          <a:solidFill>
            <a:srgbClr val="F2ECE1"/>
          </a:solidFill>
          <a:ln w="15875">
            <a:solidFill>
              <a:srgbClr val="2F6D62"/>
            </a:solidFill>
            <a:prstDash val="solid"/>
          </a:ln>
        </p:spPr>
      </p:sp>
      <p:sp>
        <p:nvSpPr>
          <p:cNvPr id="15" name="Text 13"/>
          <p:cNvSpPr txBox="1"/>
          <p:nvPr/>
        </p:nvSpPr>
        <p:spPr>
          <a:xfrm>
            <a:off x="6291072" y="2160727"/>
            <a:ext cx="204825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and remove sheets with create_sheet()</a:t>
            </a:r>
            <a:endParaRPr lang="en-US" sz="800" dirty="0"/>
          </a:p>
        </p:txBody>
      </p:sp>
      <p:sp>
        <p:nvSpPr>
          <p:cNvPr id="16" name="Shape 14"/>
          <p:cNvSpPr/>
          <p:nvPr/>
        </p:nvSpPr>
        <p:spPr>
          <a:xfrm>
            <a:off x="6035040" y="2532888"/>
            <a:ext cx="2560320" cy="370332"/>
          </a:xfrm>
          <a:prstGeom prst="ellipse">
            <a:avLst/>
          </a:prstGeom>
          <a:solidFill>
            <a:srgbClr val="F2ECE1"/>
          </a:solidFill>
          <a:ln w="15875">
            <a:solidFill>
              <a:srgbClr val="2F6D62"/>
            </a:solidFill>
            <a:prstDash val="solid"/>
          </a:ln>
        </p:spPr>
      </p:sp>
      <p:sp>
        <p:nvSpPr>
          <p:cNvPr id="17" name="Text 15"/>
          <p:cNvSpPr txBox="1"/>
          <p:nvPr/>
        </p:nvSpPr>
        <p:spPr>
          <a:xfrm>
            <a:off x="6291072" y="2647188"/>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values and formulas into cells</a:t>
            </a:r>
            <a:endParaRPr lang="en-US" sz="800" dirty="0"/>
          </a:p>
        </p:txBody>
      </p:sp>
      <p:sp>
        <p:nvSpPr>
          <p:cNvPr id="18" name="Shape 16"/>
          <p:cNvSpPr/>
          <p:nvPr/>
        </p:nvSpPr>
        <p:spPr>
          <a:xfrm>
            <a:off x="6035040" y="2958084"/>
            <a:ext cx="2560320" cy="370332"/>
          </a:xfrm>
          <a:prstGeom prst="ellipse">
            <a:avLst/>
          </a:prstGeom>
          <a:solidFill>
            <a:srgbClr val="F2ECE1"/>
          </a:solidFill>
          <a:ln w="15875">
            <a:solidFill>
              <a:srgbClr val="2F6D62"/>
            </a:solidFill>
            <a:prstDash val="solid"/>
          </a:ln>
        </p:spPr>
      </p:sp>
      <p:sp>
        <p:nvSpPr>
          <p:cNvPr id="19" name="Text 17"/>
          <p:cNvSpPr txBox="1"/>
          <p:nvPr/>
        </p:nvSpPr>
        <p:spPr>
          <a:xfrm>
            <a:off x="6291072" y="307238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Set the font style of cells with Font()</a:t>
            </a:r>
            <a:endParaRPr lang="en-US" sz="800" dirty="0"/>
          </a:p>
        </p:txBody>
      </p:sp>
      <p:sp>
        <p:nvSpPr>
          <p:cNvPr id="20" name="Shape 18"/>
          <p:cNvSpPr/>
          <p:nvPr/>
        </p:nvSpPr>
        <p:spPr>
          <a:xfrm>
            <a:off x="6035040" y="3383280"/>
            <a:ext cx="2560320" cy="370332"/>
          </a:xfrm>
          <a:prstGeom prst="ellipse">
            <a:avLst/>
          </a:prstGeom>
          <a:solidFill>
            <a:srgbClr val="F2ECE1"/>
          </a:solidFill>
          <a:ln w="15875">
            <a:solidFill>
              <a:srgbClr val="2F6D62"/>
            </a:solidFill>
            <a:prstDash val="solid"/>
          </a:ln>
        </p:spPr>
      </p:sp>
      <p:sp>
        <p:nvSpPr>
          <p:cNvPr id="21" name="Text 19"/>
          <p:cNvSpPr txBox="1"/>
          <p:nvPr/>
        </p:nvSpPr>
        <p:spPr>
          <a:xfrm>
            <a:off x="6291072" y="349758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Merge cells and freeze panes</a:t>
            </a:r>
            <a:endParaRPr lang="en-US" sz="800" dirty="0"/>
          </a:p>
        </p:txBody>
      </p:sp>
      <p:sp>
        <p:nvSpPr>
          <p:cNvPr id="22" name="Shape 20"/>
          <p:cNvSpPr/>
          <p:nvPr/>
        </p:nvSpPr>
        <p:spPr>
          <a:xfrm>
            <a:off x="6035040" y="3808476"/>
            <a:ext cx="2560320" cy="370332"/>
          </a:xfrm>
          <a:prstGeom prst="ellipse">
            <a:avLst/>
          </a:prstGeom>
          <a:solidFill>
            <a:srgbClr val="F2ECE1"/>
          </a:solidFill>
          <a:ln w="15875">
            <a:solidFill>
              <a:srgbClr val="2F6D62"/>
            </a:solidFill>
            <a:prstDash val="solid"/>
          </a:ln>
        </p:spPr>
      </p:sp>
      <p:sp>
        <p:nvSpPr>
          <p:cNvPr id="23" name="Text 21"/>
          <p:cNvSpPr txBox="1"/>
          <p:nvPr/>
        </p:nvSpPr>
        <p:spPr>
          <a:xfrm>
            <a:off x="6291072" y="392277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chart with add_chart()</a:t>
            </a:r>
            <a:endParaRPr lang="en-US" sz="800" dirty="0"/>
          </a:p>
        </p:txBody>
      </p:sp>
      <p:sp>
        <p:nvSpPr>
          <p:cNvPr id="24" name="Shape 22"/>
          <p:cNvSpPr/>
          <p:nvPr/>
        </p:nvSpPr>
        <p:spPr>
          <a:xfrm>
            <a:off x="5385816" y="2125980"/>
            <a:ext cx="201168" cy="201168"/>
          </a:xfrm>
          <a:prstGeom prst="ellipse">
            <a:avLst/>
          </a:prstGeom>
          <a:solidFill>
            <a:srgbClr val="FFFFFF"/>
          </a:solidFill>
          <a:ln w="19050">
            <a:solidFill>
              <a:srgbClr val="2B2622"/>
            </a:solidFill>
            <a:prstDash val="solid"/>
          </a:ln>
        </p:spPr>
      </p:sp>
      <p:sp>
        <p:nvSpPr>
          <p:cNvPr id="25" name="Shape 23"/>
          <p:cNvSpPr/>
          <p:nvPr/>
        </p:nvSpPr>
        <p:spPr>
          <a:xfrm>
            <a:off x="5486400" y="2327148"/>
            <a:ext cx="0" cy="347472"/>
          </a:xfrm>
          <a:prstGeom prst="line">
            <a:avLst/>
          </a:prstGeom>
          <a:noFill/>
          <a:ln w="19050">
            <a:solidFill>
              <a:srgbClr val="2B2622"/>
            </a:solidFill>
            <a:prstDash val="solid"/>
          </a:ln>
        </p:spPr>
      </p:sp>
      <p:sp>
        <p:nvSpPr>
          <p:cNvPr id="26" name="Shape 24"/>
          <p:cNvSpPr/>
          <p:nvPr/>
        </p:nvSpPr>
        <p:spPr>
          <a:xfrm>
            <a:off x="5303520" y="2418588"/>
            <a:ext cx="365760" cy="0"/>
          </a:xfrm>
          <a:prstGeom prst="line">
            <a:avLst/>
          </a:prstGeom>
          <a:noFill/>
          <a:ln w="19050">
            <a:solidFill>
              <a:srgbClr val="2B2622"/>
            </a:solidFill>
            <a:prstDash val="solid"/>
          </a:ln>
        </p:spPr>
      </p:sp>
      <p:sp>
        <p:nvSpPr>
          <p:cNvPr id="27" name="Shape 25"/>
          <p:cNvSpPr/>
          <p:nvPr/>
        </p:nvSpPr>
        <p:spPr>
          <a:xfrm flipH="1">
            <a:off x="5340096" y="2674620"/>
            <a:ext cx="146304" cy="228600"/>
          </a:xfrm>
          <a:prstGeom prst="line">
            <a:avLst/>
          </a:prstGeom>
          <a:noFill/>
          <a:ln w="19050">
            <a:solidFill>
              <a:srgbClr val="2B2622"/>
            </a:solidFill>
            <a:prstDash val="solid"/>
          </a:ln>
        </p:spPr>
      </p:sp>
      <p:sp>
        <p:nvSpPr>
          <p:cNvPr id="28" name="Shape 26"/>
          <p:cNvSpPr/>
          <p:nvPr/>
        </p:nvSpPr>
        <p:spPr>
          <a:xfrm>
            <a:off x="5486400" y="2674620"/>
            <a:ext cx="146304" cy="228600"/>
          </a:xfrm>
          <a:prstGeom prst="line">
            <a:avLst/>
          </a:prstGeom>
          <a:noFill/>
          <a:ln w="19050">
            <a:solidFill>
              <a:srgbClr val="2B2622"/>
            </a:solidFill>
            <a:prstDash val="solid"/>
          </a:ln>
        </p:spPr>
      </p:sp>
      <p:sp>
        <p:nvSpPr>
          <p:cNvPr id="29" name="Text 27"/>
          <p:cNvSpPr txBox="1"/>
          <p:nvPr/>
        </p:nvSpPr>
        <p:spPr>
          <a:xfrm>
            <a:off x="5166360" y="2948940"/>
            <a:ext cx="731520" cy="279806"/>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Python program</a:t>
            </a:r>
            <a:endParaRPr lang="en-US" sz="850" dirty="0"/>
          </a:p>
        </p:txBody>
      </p:sp>
      <p:sp>
        <p:nvSpPr>
          <p:cNvPr id="30" name="Shape 28"/>
          <p:cNvSpPr/>
          <p:nvPr/>
        </p:nvSpPr>
        <p:spPr>
          <a:xfrm flipV="1">
            <a:off x="5669280" y="1867205"/>
            <a:ext cx="365760" cy="624535"/>
          </a:xfrm>
          <a:prstGeom prst="line">
            <a:avLst/>
          </a:prstGeom>
          <a:noFill/>
          <a:ln w="12700">
            <a:solidFill>
              <a:srgbClr val="6E655C"/>
            </a:solidFill>
            <a:prstDash val="solid"/>
          </a:ln>
        </p:spPr>
      </p:sp>
      <p:sp>
        <p:nvSpPr>
          <p:cNvPr id="31" name="Shape 29"/>
          <p:cNvSpPr/>
          <p:nvPr/>
        </p:nvSpPr>
        <p:spPr>
          <a:xfrm flipV="1">
            <a:off x="5669280" y="2292401"/>
            <a:ext cx="365760" cy="199339"/>
          </a:xfrm>
          <a:prstGeom prst="line">
            <a:avLst/>
          </a:prstGeom>
          <a:noFill/>
          <a:ln w="12700">
            <a:solidFill>
              <a:srgbClr val="6E655C"/>
            </a:solidFill>
            <a:prstDash val="solid"/>
          </a:ln>
        </p:spPr>
      </p:sp>
      <p:sp>
        <p:nvSpPr>
          <p:cNvPr id="32" name="Shape 30"/>
          <p:cNvSpPr/>
          <p:nvPr/>
        </p:nvSpPr>
        <p:spPr>
          <a:xfrm>
            <a:off x="5669280" y="2491740"/>
            <a:ext cx="365760" cy="226771"/>
          </a:xfrm>
          <a:prstGeom prst="line">
            <a:avLst/>
          </a:prstGeom>
          <a:noFill/>
          <a:ln w="12700">
            <a:solidFill>
              <a:srgbClr val="6E655C"/>
            </a:solidFill>
            <a:prstDash val="solid"/>
          </a:ln>
        </p:spPr>
      </p:sp>
      <p:sp>
        <p:nvSpPr>
          <p:cNvPr id="33" name="Shape 31"/>
          <p:cNvSpPr/>
          <p:nvPr/>
        </p:nvSpPr>
        <p:spPr>
          <a:xfrm>
            <a:off x="5669280" y="2491740"/>
            <a:ext cx="365760" cy="651967"/>
          </a:xfrm>
          <a:prstGeom prst="line">
            <a:avLst/>
          </a:prstGeom>
          <a:noFill/>
          <a:ln w="12700">
            <a:solidFill>
              <a:srgbClr val="6E655C"/>
            </a:solidFill>
            <a:prstDash val="solid"/>
          </a:ln>
        </p:spPr>
      </p:sp>
      <p:sp>
        <p:nvSpPr>
          <p:cNvPr id="34" name="Shape 32"/>
          <p:cNvSpPr/>
          <p:nvPr/>
        </p:nvSpPr>
        <p:spPr>
          <a:xfrm>
            <a:off x="5669280" y="2491740"/>
            <a:ext cx="365760" cy="1076249"/>
          </a:xfrm>
          <a:prstGeom prst="line">
            <a:avLst/>
          </a:prstGeom>
          <a:noFill/>
          <a:ln w="12700">
            <a:solidFill>
              <a:srgbClr val="6E655C"/>
            </a:solidFill>
            <a:prstDash val="solid"/>
          </a:ln>
        </p:spPr>
      </p:sp>
      <p:sp>
        <p:nvSpPr>
          <p:cNvPr id="35" name="Shape 33"/>
          <p:cNvSpPr/>
          <p:nvPr/>
        </p:nvSpPr>
        <p:spPr>
          <a:xfrm>
            <a:off x="5669280" y="2491740"/>
            <a:ext cx="365760" cy="1501445"/>
          </a:xfrm>
          <a:prstGeom prst="line">
            <a:avLst/>
          </a:prstGeom>
          <a:noFill/>
          <a:ln w="12700">
            <a:solidFill>
              <a:srgbClr val="6E655C"/>
            </a:solidFill>
            <a:prstDash val="solid"/>
          </a:ln>
        </p:spPr>
      </p:sp>
      <p:sp>
        <p:nvSpPr>
          <p:cNvPr id="36" name="Text 34"/>
          <p:cNvSpPr txBox="1"/>
          <p:nvPr/>
        </p:nvSpPr>
        <p:spPr>
          <a:xfrm>
            <a:off x="516636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WhatOpenpyxlCanDo - SetOfUses pattern, 31 of 34 words grounded in the chapter's text</a:t>
            </a:r>
            <a:endParaRPr lang="en-US" sz="850" dirty="0"/>
          </a:p>
        </p:txBody>
      </p:sp>
      <p:sp>
        <p:nvSpPr>
          <p:cNvPr id="37" name="Shape 35"/>
          <p:cNvSpPr/>
          <p:nvPr/>
        </p:nvSpPr>
        <p:spPr>
          <a:xfrm>
            <a:off x="457200" y="3319272"/>
            <a:ext cx="4572000" cy="1207008"/>
          </a:xfrm>
          <a:prstGeom prst="roundRect">
            <a:avLst>
              <a:gd name="adj" fmla="val 7576"/>
            </a:avLst>
          </a:prstGeom>
          <a:solidFill>
            <a:srgbClr val="F2ECE1"/>
          </a:solidFill>
          <a:ln w="12700">
            <a:solidFill>
              <a:srgbClr val="F2ECE1"/>
            </a:solidFill>
            <a:prstDash val="solid"/>
          </a:ln>
        </p:spPr>
      </p:sp>
      <p:sp>
        <p:nvSpPr>
          <p:cNvPr id="38" name="Text 36"/>
          <p:cNvSpPr txBox="1"/>
          <p:nvPr/>
        </p:nvSpPr>
        <p:spPr>
          <a:xfrm>
            <a:off x="640080" y="3438144"/>
            <a:ext cx="4206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Only this one reads and writes</a:t>
            </a:r>
            <a:endParaRPr lang="en-US" sz="1600" dirty="0"/>
          </a:p>
        </p:txBody>
      </p:sp>
      <p:sp>
        <p:nvSpPr>
          <p:cNvPr id="39" name="Text 37"/>
          <p:cNvSpPr txBox="1"/>
          <p:nvPr/>
        </p:nvSpPr>
        <p:spPr>
          <a:xfrm>
            <a:off x="640080" y="3822192"/>
            <a:ext cx="4206240" cy="566928"/>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XlsxWriter writes .xlsx files but cannot read or modify one; xlrd 2 reads only the old .xls format. A file named .xls or .txt is refused with InvalidFileException.</a:t>
            </a:r>
            <a:endParaRPr lang="en-US" sz="105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openpyxl reads and writes .xlsx; say which release you ran.</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.xlsx format, a standard since 2006</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2006</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Ecma International and ISO</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Microsoft submitted documentation of its Office Open XML formats to Ecma International. ECMA 376 was approved in December 2006, and approval as ISO/IEC 29500 followed in early 2008.</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 2005: Ecma sets up committee TC45</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 2006: ECMA 376 approved</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Early 2008: ISO/IEC 29500 approved</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An .xlsx is SpreadsheetML in a ZIP package</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Microsoft and Ecma International's tec…</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Ecma International and ISO/IEC JTC 1</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2006</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loc.gov</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.xlsx file is a documented zip of XML that any program may read.</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file to the value of a cell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load_workbook() gives a Workbook; a name picks the Worksheet; two ways pick the Cell</a:t>
            </a:r>
            <a:endParaRPr lang="en-US" sz="1300" dirty="0"/>
          </a:p>
        </p:txBody>
      </p:sp>
      <p:sp>
        <p:nvSpPr>
          <p:cNvPr id="6" name="Shape 4"/>
          <p:cNvSpPr/>
          <p:nvPr/>
        </p:nvSpPr>
        <p:spPr>
          <a:xfrm>
            <a:off x="457200" y="1351483"/>
            <a:ext cx="265176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430122"/>
            <a:ext cx="2523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openpyxl.load_workbook() returns a Workbook object</a:t>
            </a:r>
            <a:endParaRPr lang="en-US" sz="800" dirty="0"/>
          </a:p>
        </p:txBody>
      </p:sp>
      <p:sp>
        <p:nvSpPr>
          <p:cNvPr id="8" name="Shape 6"/>
          <p:cNvSpPr/>
          <p:nvPr/>
        </p:nvSpPr>
        <p:spPr>
          <a:xfrm>
            <a:off x="457200" y="1824228"/>
            <a:ext cx="265176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521208" y="1902866"/>
            <a:ext cx="2523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Get a Worksheet by its name or from the active attribute</a:t>
            </a:r>
            <a:endParaRPr lang="en-US" sz="800" dirty="0"/>
          </a:p>
        </p:txBody>
      </p:sp>
      <p:sp>
        <p:nvSpPr>
          <p:cNvPr id="10" name="Shape 8"/>
          <p:cNvSpPr/>
          <p:nvPr/>
        </p:nvSpPr>
        <p:spPr>
          <a:xfrm>
            <a:off x="457200" y="2296973"/>
            <a:ext cx="2651760" cy="420624"/>
          </a:xfrm>
          <a:prstGeom prst="hexagon">
            <a:avLst/>
          </a:prstGeom>
          <a:solidFill>
            <a:srgbClr val="D97A14"/>
          </a:solidFill>
          <a:ln w="15875">
            <a:solidFill>
              <a:srgbClr val="D97A14"/>
            </a:solidFill>
            <a:prstDash val="solid"/>
          </a:ln>
        </p:spPr>
      </p:sp>
      <p:sp>
        <p:nvSpPr>
          <p:cNvPr id="11" name="Text 9"/>
          <p:cNvSpPr txBox="1"/>
          <p:nvPr/>
        </p:nvSpPr>
        <p:spPr>
          <a:xfrm>
            <a:off x="612648" y="2435962"/>
            <a:ext cx="234086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cell named by letter and row number?</a:t>
            </a:r>
            <a:endParaRPr lang="en-US" sz="800" dirty="0"/>
          </a:p>
        </p:txBody>
      </p:sp>
      <p:sp>
        <p:nvSpPr>
          <p:cNvPr id="12" name="Shape 10"/>
          <p:cNvSpPr/>
          <p:nvPr/>
        </p:nvSpPr>
        <p:spPr>
          <a:xfrm>
            <a:off x="457200" y="2768803"/>
            <a:ext cx="265176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21208" y="2908706"/>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sheet['A1'] gets the Cell object by its name</a:t>
            </a:r>
            <a:endParaRPr lang="en-US" sz="800" dirty="0"/>
          </a:p>
        </p:txBody>
      </p:sp>
      <p:sp>
        <p:nvSpPr>
          <p:cNvPr id="14" name="Shape 12"/>
          <p:cNvSpPr/>
          <p:nvPr/>
        </p:nvSpPr>
        <p:spPr>
          <a:xfrm>
            <a:off x="3931920" y="2296973"/>
            <a:ext cx="137160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3995928" y="2313432"/>
            <a:ext cx="124358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sheet.cell(row=1, column=2) gets it by two integers</a:t>
            </a:r>
            <a:endParaRPr lang="en-US" sz="800" dirty="0"/>
          </a:p>
        </p:txBody>
      </p:sp>
      <p:sp>
        <p:nvSpPr>
          <p:cNvPr id="16" name="Shape 14"/>
          <p:cNvSpPr/>
          <p:nvPr/>
        </p:nvSpPr>
        <p:spPr>
          <a:xfrm>
            <a:off x="457200" y="3241548"/>
            <a:ext cx="265176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521208" y="3381451"/>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value attribute of the Cell</a:t>
            </a:r>
            <a:endParaRPr lang="en-US" sz="800" dirty="0"/>
          </a:p>
        </p:txBody>
      </p:sp>
      <p:sp>
        <p:nvSpPr>
          <p:cNvPr id="18" name="Shape 16"/>
          <p:cNvSpPr/>
          <p:nvPr/>
        </p:nvSpPr>
        <p:spPr>
          <a:xfrm>
            <a:off x="4526280" y="1470355"/>
            <a:ext cx="182880" cy="182880"/>
          </a:xfrm>
          <a:prstGeom prst="ellipse">
            <a:avLst/>
          </a:prstGeom>
          <a:solidFill>
            <a:srgbClr val="2B2622"/>
          </a:solidFill>
          <a:ln w="15875">
            <a:solidFill>
              <a:srgbClr val="2B2622"/>
            </a:solidFill>
            <a:prstDash val="solid"/>
          </a:ln>
        </p:spPr>
      </p:sp>
      <p:sp>
        <p:nvSpPr>
          <p:cNvPr id="19" name="Shape 17"/>
          <p:cNvSpPr/>
          <p:nvPr/>
        </p:nvSpPr>
        <p:spPr>
          <a:xfrm>
            <a:off x="1655064" y="3796589"/>
            <a:ext cx="256032" cy="256032"/>
          </a:xfrm>
          <a:prstGeom prst="ellipse">
            <a:avLst/>
          </a:prstGeom>
          <a:solidFill>
            <a:srgbClr val="FFFFFF"/>
          </a:solidFill>
          <a:ln w="25400">
            <a:solidFill>
              <a:srgbClr val="2B2622"/>
            </a:solidFill>
            <a:prstDash val="solid"/>
          </a:ln>
        </p:spPr>
      </p:sp>
      <p:sp>
        <p:nvSpPr>
          <p:cNvPr id="20" name="Shape 18"/>
          <p:cNvSpPr/>
          <p:nvPr/>
        </p:nvSpPr>
        <p:spPr>
          <a:xfrm>
            <a:off x="1709928" y="3851453"/>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3108960" y="1561795"/>
            <a:ext cx="1417320" cy="0"/>
          </a:xfrm>
          <a:prstGeom prst="line">
            <a:avLst/>
          </a:prstGeom>
          <a:noFill/>
          <a:ln w="15875">
            <a:solidFill>
              <a:srgbClr val="6E655C"/>
            </a:solidFill>
            <a:prstDash val="solid"/>
            <a:tailEnd type="triangle"/>
          </a:ln>
        </p:spPr>
      </p:sp>
      <p:sp>
        <p:nvSpPr>
          <p:cNvPr id="22" name="Shape 20"/>
          <p:cNvSpPr/>
          <p:nvPr/>
        </p:nvSpPr>
        <p:spPr>
          <a:xfrm>
            <a:off x="1783080" y="1772107"/>
            <a:ext cx="0" cy="52121"/>
          </a:xfrm>
          <a:prstGeom prst="line">
            <a:avLst/>
          </a:prstGeom>
          <a:noFill/>
          <a:ln w="15875">
            <a:solidFill>
              <a:srgbClr val="6E655C"/>
            </a:solidFill>
            <a:prstDash val="solid"/>
            <a:tailEnd type="triangle"/>
          </a:ln>
        </p:spPr>
      </p:sp>
      <p:sp>
        <p:nvSpPr>
          <p:cNvPr id="23" name="Shape 21"/>
          <p:cNvSpPr/>
          <p:nvPr/>
        </p:nvSpPr>
        <p:spPr>
          <a:xfrm>
            <a:off x="1783080" y="2244852"/>
            <a:ext cx="0" cy="52121"/>
          </a:xfrm>
          <a:prstGeom prst="line">
            <a:avLst/>
          </a:prstGeom>
          <a:noFill/>
          <a:ln w="15875">
            <a:solidFill>
              <a:srgbClr val="6E655C"/>
            </a:solidFill>
            <a:prstDash val="solid"/>
            <a:tailEnd type="triangle"/>
          </a:ln>
        </p:spPr>
      </p:sp>
      <p:sp>
        <p:nvSpPr>
          <p:cNvPr id="24" name="Shape 22"/>
          <p:cNvSpPr/>
          <p:nvPr/>
        </p:nvSpPr>
        <p:spPr>
          <a:xfrm>
            <a:off x="1783080" y="2717597"/>
            <a:ext cx="0" cy="51206"/>
          </a:xfrm>
          <a:prstGeom prst="line">
            <a:avLst/>
          </a:prstGeom>
          <a:noFill/>
          <a:ln w="15875">
            <a:solidFill>
              <a:srgbClr val="6E655C"/>
            </a:solidFill>
            <a:prstDash val="solid"/>
            <a:tailEnd type="triangle"/>
          </a:ln>
        </p:spPr>
      </p:sp>
      <p:sp>
        <p:nvSpPr>
          <p:cNvPr id="25" name="Text 23"/>
          <p:cNvSpPr txBox="1"/>
          <p:nvPr/>
        </p:nvSpPr>
        <p:spPr>
          <a:xfrm>
            <a:off x="1837944" y="266090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6" name="Shape 24"/>
          <p:cNvSpPr/>
          <p:nvPr/>
        </p:nvSpPr>
        <p:spPr>
          <a:xfrm>
            <a:off x="3108960" y="2507285"/>
            <a:ext cx="822960" cy="0"/>
          </a:xfrm>
          <a:prstGeom prst="line">
            <a:avLst/>
          </a:prstGeom>
          <a:noFill/>
          <a:ln w="15875">
            <a:solidFill>
              <a:srgbClr val="6E655C"/>
            </a:solidFill>
            <a:prstDash val="solid"/>
            <a:tailEnd type="triangle"/>
          </a:ln>
        </p:spPr>
      </p:sp>
      <p:sp>
        <p:nvSpPr>
          <p:cNvPr id="27" name="Text 25"/>
          <p:cNvSpPr txBox="1"/>
          <p:nvPr/>
        </p:nvSpPr>
        <p:spPr>
          <a:xfrm>
            <a:off x="3154680" y="2324405"/>
            <a:ext cx="751637"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 in a loop</a:t>
            </a:r>
            <a:endParaRPr lang="en-US" sz="800" dirty="0"/>
          </a:p>
        </p:txBody>
      </p:sp>
      <p:sp>
        <p:nvSpPr>
          <p:cNvPr id="28" name="Shape 26"/>
          <p:cNvSpPr/>
          <p:nvPr/>
        </p:nvSpPr>
        <p:spPr>
          <a:xfrm>
            <a:off x="1783080" y="3189427"/>
            <a:ext cx="0" cy="52121"/>
          </a:xfrm>
          <a:prstGeom prst="line">
            <a:avLst/>
          </a:prstGeom>
          <a:noFill/>
          <a:ln w="15875">
            <a:solidFill>
              <a:srgbClr val="6E655C"/>
            </a:solidFill>
            <a:prstDash val="solid"/>
            <a:tailEnd type="triangle"/>
          </a:ln>
        </p:spPr>
      </p:sp>
      <p:sp>
        <p:nvSpPr>
          <p:cNvPr id="29" name="Shape 27"/>
          <p:cNvSpPr/>
          <p:nvPr/>
        </p:nvSpPr>
        <p:spPr>
          <a:xfrm>
            <a:off x="4617720" y="2717597"/>
            <a:ext cx="0" cy="734263"/>
          </a:xfrm>
          <a:prstGeom prst="line">
            <a:avLst/>
          </a:prstGeom>
          <a:noFill/>
          <a:ln w="15875">
            <a:solidFill>
              <a:srgbClr val="6E655C"/>
            </a:solidFill>
            <a:prstDash val="solid"/>
          </a:ln>
        </p:spPr>
      </p:sp>
      <p:sp>
        <p:nvSpPr>
          <p:cNvPr id="30" name="Shape 28"/>
          <p:cNvSpPr/>
          <p:nvPr/>
        </p:nvSpPr>
        <p:spPr>
          <a:xfrm flipH="1">
            <a:off x="3108960" y="3451860"/>
            <a:ext cx="1508760" cy="0"/>
          </a:xfrm>
          <a:prstGeom prst="line">
            <a:avLst/>
          </a:prstGeom>
          <a:noFill/>
          <a:ln w="15875">
            <a:solidFill>
              <a:srgbClr val="6E655C"/>
            </a:solidFill>
            <a:prstDash val="solid"/>
            <a:tailEnd type="triangle"/>
          </a:ln>
        </p:spPr>
      </p:sp>
      <p:sp>
        <p:nvSpPr>
          <p:cNvPr id="31" name="Shape 29"/>
          <p:cNvSpPr/>
          <p:nvPr/>
        </p:nvSpPr>
        <p:spPr>
          <a:xfrm>
            <a:off x="1783080" y="3662172"/>
            <a:ext cx="0" cy="134417"/>
          </a:xfrm>
          <a:prstGeom prst="line">
            <a:avLst/>
          </a:prstGeom>
          <a:noFill/>
          <a:ln w="15875">
            <a:solidFill>
              <a:srgbClr val="6E655C"/>
            </a:solidFill>
            <a:prstDash val="solid"/>
            <a:tailEnd type="triangle"/>
          </a:ln>
        </p:spPr>
      </p:sp>
      <p:sp>
        <p:nvSpPr>
          <p:cNvPr id="32" name="Text 30"/>
          <p:cNvSpPr txBox="1"/>
          <p:nvPr/>
        </p:nvSpPr>
        <p:spPr>
          <a:xfrm>
            <a:off x="457200" y="4187952"/>
            <a:ext cx="48463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FromFileToCellValue - Workflow pattern, 33 of 34 words grounded in the chapter's text</a:t>
            </a:r>
            <a:endParaRPr lang="en-US" sz="850" dirty="0"/>
          </a:p>
        </p:txBody>
      </p:sp>
      <p:sp>
        <p:nvSpPr>
          <p:cNvPr id="33" name="Text 31"/>
          <p:cNvSpPr txBox="1"/>
          <p:nvPr/>
        </p:nvSpPr>
        <p:spPr>
          <a:xfrm>
            <a:off x="5440680" y="1097280"/>
            <a:ext cx="32461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a workbook, its sheets, a missing name</a:t>
            </a:r>
            <a:endParaRPr lang="en-US" sz="1000" dirty="0"/>
          </a:p>
        </p:txBody>
      </p:sp>
      <p:sp>
        <p:nvSpPr>
          <p:cNvPr id="34" name="Shape 32"/>
          <p:cNvSpPr/>
          <p:nvPr/>
        </p:nvSpPr>
        <p:spPr>
          <a:xfrm>
            <a:off x="5440680" y="1371600"/>
            <a:ext cx="3246120" cy="2423160"/>
          </a:xfrm>
          <a:prstGeom prst="roundRect">
            <a:avLst>
              <a:gd name="adj" fmla="val 3774"/>
            </a:avLst>
          </a:prstGeom>
          <a:solidFill>
            <a:srgbClr val="23272E"/>
          </a:solidFill>
          <a:ln w="12700">
            <a:solidFill>
              <a:srgbClr val="23272E"/>
            </a:solidFill>
            <a:prstDash val="solid"/>
          </a:ln>
        </p:spPr>
      </p:sp>
      <p:sp>
        <p:nvSpPr>
          <p:cNvPr id="35" name="Text 33"/>
          <p:cNvSpPr txBox="1"/>
          <p:nvPr/>
        </p:nvSpPr>
        <p:spPr>
          <a:xfrm>
            <a:off x="5623560" y="1490472"/>
            <a:ext cx="2880360" cy="2185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import openpyxl, io</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 = openpyxl.Workbook()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wb.create_sheet('Sheet2')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&lt;Worksheet "Sheet2"&gt;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 = io.BytesIO(); wb.save(b)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 = openpyxl.load_workbook(b)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wb.sheetnames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['Sheet', 'Sheet2']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wb.active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&lt;Worksheet "Sheet"&gt;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wb['Sheet2'].title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'Sheet2'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wb['Nope']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KeyError: 'Worksheet Nope does not exist.'</a:t>
            </a:r>
            <a:endParaRPr lang="en-US" sz="850" dirty="0"/>
          </a:p>
        </p:txBody>
      </p:sp>
      <p:sp>
        <p:nvSpPr>
          <p:cNvPr id="36" name="Text 34"/>
          <p:cNvSpPr txBox="1"/>
          <p:nvPr/>
        </p:nvSpPr>
        <p:spPr>
          <a:xfrm>
            <a:off x="5440680" y="3813048"/>
            <a:ext cx="3246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37" name="Text 35"/>
          <p:cNvSpPr txBox="1"/>
          <p:nvPr/>
        </p:nvSpPr>
        <p:spPr>
          <a:xfrm>
            <a:off x="5440680" y="4069080"/>
            <a:ext cx="3246120" cy="457200"/>
          </a:xfrm>
          <a:prstGeom prst="rect">
            <a:avLst/>
          </a:prstGeom>
          <a:noFill/>
          <a:ln/>
        </p:spPr>
        <p:txBody>
          <a:bodyPr wrap="square" lIns="0" tIns="0" rIns="0" bIns="0" rtlCol="0" anchor="t"/>
          <a:lstStyle/>
          <a:p>
            <a:pPr indent="0" marL="0">
              <a:buNone/>
            </a:pPr>
            <a:r>
              <a:rPr lang="en-US" sz="950" i="1" dirty="0">
                <a:solidFill>
                  <a:srgbClr val="6E655C"/>
                </a:solidFill>
                <a:latin typeface="Calibri" pitchFamily="34" charset="0"/>
                <a:ea typeface="Calibri" pitchFamily="34" charset="-122"/>
                <a:cs typeface="Calibri" pitchFamily="34" charset="-120"/>
              </a:rPr>
              <a:t>A sheet name that does not exist raises KeyError. Run on a small workbook built in memory, because example3.xlsx is not here.</a:t>
            </a:r>
            <a:endParaRPr lang="en-US" sz="9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workbook holds sheets, a sheet holds cells; pick by name or by number.</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Cells, ranges and column letters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By name or by number; one cell or a slice; and what merely looking at a cell does</a:t>
            </a:r>
            <a:endParaRPr lang="en-US" sz="1300" dirty="0"/>
          </a:p>
        </p:txBody>
      </p:sp>
      <p:sp>
        <p:nvSpPr>
          <p:cNvPr id="6" name="Text 4"/>
          <p:cNvSpPr txBox="1"/>
          <p:nvPr/>
        </p:nvSpPr>
        <p:spPr>
          <a:xfrm>
            <a:off x="457200" y="1097280"/>
            <a:ext cx="45720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cells by name and by number, slices, letters, dates</a:t>
            </a:r>
            <a:endParaRPr lang="en-US" sz="1000" dirty="0"/>
          </a:p>
        </p:txBody>
      </p:sp>
      <p:sp>
        <p:nvSpPr>
          <p:cNvPr id="7" name="Shape 5"/>
          <p:cNvSpPr/>
          <p:nvPr/>
        </p:nvSpPr>
        <p:spPr>
          <a:xfrm>
            <a:off x="457200" y="1371600"/>
            <a:ext cx="4572000" cy="2743200"/>
          </a:xfrm>
          <a:prstGeom prst="roundRect">
            <a:avLst>
              <a:gd name="adj" fmla="val 3333"/>
            </a:avLst>
          </a:prstGeom>
          <a:solidFill>
            <a:srgbClr val="23272E"/>
          </a:solidFill>
          <a:ln w="12700">
            <a:solidFill>
              <a:srgbClr val="23272E"/>
            </a:solidFill>
            <a:prstDash val="solid"/>
          </a:ln>
        </p:spPr>
      </p:sp>
      <p:sp>
        <p:nvSpPr>
          <p:cNvPr id="8" name="Text 6"/>
          <p:cNvSpPr txBox="1"/>
          <p:nvPr/>
        </p:nvSpPr>
        <p:spPr>
          <a:xfrm>
            <a:off x="640080" y="1490472"/>
            <a:ext cx="4206240" cy="25054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openpyxl, datetime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 = openpyxl.Workbook().active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data = [('Apples', 73), ('Cherries', 85), ('Pears', 14)]</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for row in data: ws.append(row)</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ws['A1'].value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'Apples'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ws.cell(row=2, column=2).value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85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ws['B3'].coordinate, ws.max_row, ws.max_column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('B3', 3,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[[c.value for c in r] for r in ws['A1':'B2']]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[['Apples', 73], ['Cherries', 85]]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openpyxl.utils.get_column_letter(27)</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'AA'</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ws['D1'] = datetime.datetime(2035, 4, 5, 13, 34,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ws['D1'].value, ws['D1'].data_type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(datetime.datetime(2035, 4, 5, 13, 34, 2), 'd')</a:t>
            </a:r>
            <a:endParaRPr lang="en-US" sz="800" dirty="0"/>
          </a:p>
        </p:txBody>
      </p:sp>
      <p:sp>
        <p:nvSpPr>
          <p:cNvPr id="9" name="Text 7"/>
          <p:cNvSpPr txBox="1"/>
          <p:nvPr/>
        </p:nvSpPr>
        <p:spPr>
          <a:xfrm>
            <a:off x="457200" y="4133088"/>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5212080" y="1097280"/>
            <a:ext cx="347472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looking at a cell creates it</a:t>
            </a:r>
            <a:endParaRPr lang="en-US" sz="1000" dirty="0"/>
          </a:p>
        </p:txBody>
      </p:sp>
      <p:sp>
        <p:nvSpPr>
          <p:cNvPr id="11" name="Shape 9"/>
          <p:cNvSpPr/>
          <p:nvPr/>
        </p:nvSpPr>
        <p:spPr>
          <a:xfrm>
            <a:off x="5212080" y="1371600"/>
            <a:ext cx="3474720" cy="1728216"/>
          </a:xfrm>
          <a:prstGeom prst="roundRect">
            <a:avLst>
              <a:gd name="adj" fmla="val 5291"/>
            </a:avLst>
          </a:prstGeom>
          <a:solidFill>
            <a:srgbClr val="23272E"/>
          </a:solidFill>
          <a:ln w="12700">
            <a:solidFill>
              <a:srgbClr val="23272E"/>
            </a:solidFill>
            <a:prstDash val="solid"/>
          </a:ln>
        </p:spPr>
      </p:sp>
      <p:sp>
        <p:nvSpPr>
          <p:cNvPr id="12" name="Text 10"/>
          <p:cNvSpPr txBox="1"/>
          <p:nvPr/>
        </p:nvSpPr>
        <p:spPr>
          <a:xfrm>
            <a:off x="5394960" y="1490472"/>
            <a:ext cx="3108960" cy="1490472"/>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import openpyxl</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ws = openpyxl.Workbook().active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ws.max_row</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ws.cell(row=40, column=1).value is None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ws.max_row, ws.dimensions</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(40, 'A40:A40')</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abs(ws['A2'].value)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TypeError: bad operand type for abs(): 'NoneType'</a:t>
            </a:r>
            <a:endParaRPr lang="en-US" sz="790" dirty="0"/>
          </a:p>
        </p:txBody>
      </p:sp>
      <p:sp>
        <p:nvSpPr>
          <p:cNvPr id="13" name="Text 11"/>
          <p:cNvSpPr txBox="1"/>
          <p:nvPr/>
        </p:nvSpPr>
        <p:spPr>
          <a:xfrm>
            <a:off x="5212080" y="3118104"/>
            <a:ext cx="3474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5212080" y="3383280"/>
            <a:ext cx="3474720" cy="1143000"/>
          </a:xfrm>
          <a:prstGeom prst="roundRect">
            <a:avLst>
              <a:gd name="adj" fmla="val 8000"/>
            </a:avLst>
          </a:prstGeom>
          <a:solidFill>
            <a:srgbClr val="F2ECE1"/>
          </a:solidFill>
          <a:ln w="12700">
            <a:solidFill>
              <a:srgbClr val="F2ECE1"/>
            </a:solidFill>
            <a:prstDash val="solid"/>
          </a:ln>
        </p:spPr>
      </p:sp>
      <p:sp>
        <p:nvSpPr>
          <p:cNvPr id="15" name="Text 13"/>
          <p:cNvSpPr txBox="1"/>
          <p:nvPr/>
        </p:nvSpPr>
        <p:spPr>
          <a:xfrm>
            <a:off x="5394960" y="3502152"/>
            <a:ext cx="31089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loop that only looks</a:t>
            </a:r>
            <a:endParaRPr lang="en-US" sz="1600" dirty="0"/>
          </a:p>
        </p:txBody>
      </p:sp>
      <p:sp>
        <p:nvSpPr>
          <p:cNvPr id="16" name="Text 14"/>
          <p:cNvSpPr txBox="1"/>
          <p:nvPr/>
        </p:nvSpPr>
        <p:spPr>
          <a:xfrm>
            <a:off x="5394960" y="3886200"/>
            <a:ext cx="3108960" cy="5029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touched cell adds a row of None to Project 9's loop. On the real census file the book's cell loop peaked at 114 MB of traced memory; read_only iter_rows at 11 MB.</a:t>
            </a:r>
            <a:endParaRPr lang="en-US" sz="9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Looking at a cell creates it, so max_row counts what was touched.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grid of named rows and columns, 1978</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1979</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Dan Bricklin and Bob Frankston</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Bricklin pictured an electronic spreadsheet in the spring of 1978 as an MBA student at Harvard Business School. With Bob Frankston he made VisiCalc, which came out on the Apple II in 1979.</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Spring 1978: the idea, at Harvard Business School</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8 Oct 1978: first prototype on an Apple II</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1979: VisiCalc, published by Personal Software</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Today: sheet['A1'] still names a cell by letter and row</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Dan Bricklin and Bob Frankston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Harvard Business School, Cambridge, Ma…</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bricklin.com</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grid of named rows and columns is the idea openpyxl still addresses.</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9: tally the census, county by county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 the sheet, loop over the rows, count tracts and add populations</a:t>
            </a:r>
            <a:endParaRPr lang="en-US" sz="1300" dirty="0"/>
          </a:p>
        </p:txBody>
      </p:sp>
      <p:sp>
        <p:nvSpPr>
          <p:cNvPr id="6" name="Text 4"/>
          <p:cNvSpPr txBox="1"/>
          <p:nvPr/>
        </p:nvSpPr>
        <p:spPr>
          <a:xfrm>
            <a:off x="45720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project9CensusTally_v1_0_0.py, lines 15 to 33 of 39</a:t>
            </a:r>
            <a:endParaRPr lang="en-US" sz="1000" dirty="0"/>
          </a:p>
        </p:txBody>
      </p:sp>
      <p:sp>
        <p:nvSpPr>
          <p:cNvPr id="7" name="Shape 5"/>
          <p:cNvSpPr/>
          <p:nvPr/>
        </p:nvSpPr>
        <p:spPr>
          <a:xfrm>
            <a:off x="457200" y="1417320"/>
            <a:ext cx="4087368"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721608"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 pprint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'Opening workbook...'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openpyxl.load_workbook(</a:t>
            </a:r>
            <a:r>
              <a:rPr lang="en-US" sz="700" dirty="0">
                <a:solidFill>
                  <a:srgbClr val="9ECBFF"/>
                </a:solidFill>
                <a:latin typeface="Courier New" pitchFamily="34" charset="0"/>
                <a:ea typeface="Courier New" pitchFamily="34" charset="-122"/>
                <a:cs typeface="Courier New" pitchFamily="34" charset="-120"/>
              </a:rPr>
              <a:t>'censuspopdata.xlsx'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t>
            </a:r>
            <a:r>
              <a:rPr lang="en-US" sz="700" dirty="0">
                <a:solidFill>
                  <a:srgbClr val="9ECBFF"/>
                </a:solidFill>
                <a:latin typeface="Courier New" pitchFamily="34" charset="0"/>
                <a:ea typeface="Courier New" pitchFamily="34" charset="-122"/>
                <a:cs typeface="Courier New" pitchFamily="34" charset="-120"/>
              </a:rPr>
              <a:t>'Population by Census Tract'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county_data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'Reading rows...'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sheet.max_row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state  = sheet[</a:t>
            </a:r>
            <a:r>
              <a:rPr lang="en-US" sz="700" dirty="0">
                <a:solidFill>
                  <a:srgbClr val="9ECBFF"/>
                </a:solidFill>
                <a:latin typeface="Courier New" pitchFamily="34" charset="0"/>
                <a:ea typeface="Courier New" pitchFamily="34" charset="-122"/>
                <a:cs typeface="Courier New" pitchFamily="34" charset="-120"/>
              </a:rPr>
              <a:t>'B'</a:t>
            </a:r>
            <a:r>
              <a:rPr lang="en-US" sz="700" dirty="0">
                <a:solidFill>
                  <a:srgbClr val="E6EDF3"/>
                </a:solidFill>
                <a:latin typeface="Courier New" pitchFamily="34" charset="0"/>
                <a:ea typeface="Courier New" pitchFamily="34" charset="-122"/>
                <a:cs typeface="Courier New" pitchFamily="34" charset="-120"/>
              </a:rPr>
              <a:t> + str(row)].value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county = sheet[</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 str(row)].value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pop    = sheet[</a:t>
            </a:r>
            <a:r>
              <a:rPr lang="en-US" sz="700" dirty="0">
                <a:solidFill>
                  <a:srgbClr val="9ECBFF"/>
                </a:solidFill>
                <a:latin typeface="Courier New" pitchFamily="34" charset="0"/>
                <a:ea typeface="Courier New" pitchFamily="34" charset="-122"/>
                <a:cs typeface="Courier New" pitchFamily="34" charset="-120"/>
              </a:rPr>
              <a:t>'D'</a:t>
            </a:r>
            <a:r>
              <a:rPr lang="en-US" sz="700" dirty="0">
                <a:solidFill>
                  <a:srgbClr val="E6EDF3"/>
                </a:solidFill>
                <a:latin typeface="Courier New" pitchFamily="34" charset="0"/>
                <a:ea typeface="Courier New" pitchFamily="34" charset="-122"/>
                <a:cs typeface="Courier New" pitchFamily="34" charset="-120"/>
              </a:rPr>
              <a:t> + str(row)].value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county_data.setdefault(state,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county_data[state].setdefault(county, {</a:t>
            </a:r>
            <a:r>
              <a:rPr lang="en-US" sz="700" dirty="0">
                <a:solidFill>
                  <a:srgbClr val="9ECBFF"/>
                </a:solidFill>
                <a:latin typeface="Courier New" pitchFamily="34" charset="0"/>
                <a:ea typeface="Courier New" pitchFamily="34" charset="-122"/>
                <a:cs typeface="Courier New" pitchFamily="34" charset="-120"/>
              </a:rPr>
              <a:t>'tracts'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'pop'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county_data[state][county][</a:t>
            </a:r>
            <a:r>
              <a:rPr lang="en-US" sz="700" dirty="0">
                <a:solidFill>
                  <a:srgbClr val="9ECBFF"/>
                </a:solidFill>
                <a:latin typeface="Courier New" pitchFamily="34" charset="0"/>
                <a:ea typeface="Courier New" pitchFamily="34" charset="-122"/>
                <a:cs typeface="Courier New" pitchFamily="34" charset="-120"/>
              </a:rPr>
              <a:t>'tracts'</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county_data[state][county][</a:t>
            </a:r>
            <a:r>
              <a:rPr lang="en-US" sz="700" dirty="0">
                <a:solidFill>
                  <a:srgbClr val="9ECBFF"/>
                </a:solidFill>
                <a:latin typeface="Courier New" pitchFamily="34" charset="0"/>
                <a:ea typeface="Courier New" pitchFamily="34" charset="-122"/>
                <a:cs typeface="Courier New" pitchFamily="34" charset="-120"/>
              </a:rPr>
              <a:t>'pop'</a:t>
            </a:r>
            <a:r>
              <a:rPr lang="en-US" sz="700" dirty="0">
                <a:solidFill>
                  <a:srgbClr val="E6EDF3"/>
                </a:solidFill>
                <a:latin typeface="Courier New" pitchFamily="34" charset="0"/>
                <a:ea typeface="Courier New" pitchFamily="34" charset="-122"/>
                <a:cs typeface="Courier New" pitchFamily="34" charset="-120"/>
              </a:rPr>
              <a:t>] += int(pop)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'Writing results...'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result_file = open(</a:t>
            </a:r>
            <a:r>
              <a:rPr lang="en-US" sz="700" dirty="0">
                <a:solidFill>
                  <a:srgbClr val="9ECBFF"/>
                </a:solidFill>
                <a:latin typeface="Courier New" pitchFamily="34" charset="0"/>
                <a:ea typeface="Courier New" pitchFamily="34" charset="-122"/>
                <a:cs typeface="Courier New" pitchFamily="34" charset="-120"/>
              </a:rPr>
              <a:t>'census2010.py'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result_file.write(</a:t>
            </a:r>
            <a:r>
              <a:rPr lang="en-US" sz="700" dirty="0">
                <a:solidFill>
                  <a:srgbClr val="9ECBFF"/>
                </a:solidFill>
                <a:latin typeface="Courier New" pitchFamily="34" charset="0"/>
                <a:ea typeface="Courier New" pitchFamily="34" charset="-122"/>
                <a:cs typeface="Courier New" pitchFamily="34" charset="-120"/>
              </a:rPr>
              <a:t>'allData = '</a:t>
            </a:r>
            <a:r>
              <a:rPr lang="en-US" sz="700" dirty="0">
                <a:solidFill>
                  <a:srgbClr val="E6EDF3"/>
                </a:solidFill>
                <a:latin typeface="Courier New" pitchFamily="34" charset="0"/>
                <a:ea typeface="Courier New" pitchFamily="34" charset="-122"/>
                <a:cs typeface="Courier New" pitchFamily="34" charset="-120"/>
              </a:rPr>
              <a:t> + pprint.pformat(county_data))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result_file.close()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'Done.'</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4681728" y="1143000"/>
            <a:ext cx="405079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4681728" y="1417320"/>
            <a:ext cx="4050792" cy="1664208"/>
          </a:xfrm>
          <a:prstGeom prst="roundRect">
            <a:avLst>
              <a:gd name="adj" fmla="val 5495"/>
            </a:avLst>
          </a:prstGeom>
          <a:solidFill>
            <a:srgbClr val="23272E"/>
          </a:solidFill>
          <a:ln w="12700">
            <a:solidFill>
              <a:srgbClr val="23272E"/>
            </a:solidFill>
            <a:prstDash val="solid"/>
          </a:ln>
        </p:spPr>
      </p:sp>
      <p:sp>
        <p:nvSpPr>
          <p:cNvPr id="11" name="Text 9"/>
          <p:cNvSpPr txBox="1"/>
          <p:nvPr/>
        </p:nvSpPr>
        <p:spPr>
          <a:xfrm>
            <a:off x="4864608" y="1536192"/>
            <a:ext cx="3685032" cy="142646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Opening workbook...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Reading rows...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Writing results...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{'pop': 12515, 'tracts':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2010 population of Anchorage was 12515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allData = {'AK': {'Aleutians East': {'pop': 3141, 'tracts':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'Anchorage': {'pop': 12515, 'tracts':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'AL': {'Autauga': {'pop': 4082, 'tracts':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'Baldwin': {'pop': 7100, 'tracts':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'CA': {'San Francisco': {'pop': 4000, 'tracts': 1}}}</a:t>
            </a:r>
            <a:endParaRPr lang="en-US" sz="700" dirty="0"/>
          </a:p>
        </p:txBody>
      </p:sp>
      <p:sp>
        <p:nvSpPr>
          <p:cNvPr id="12" name="Shape 10"/>
          <p:cNvSpPr/>
          <p:nvPr/>
        </p:nvSpPr>
        <p:spPr>
          <a:xfrm>
            <a:off x="4681728" y="3218688"/>
            <a:ext cx="4050792" cy="1307592"/>
          </a:xfrm>
          <a:prstGeom prst="roundRect">
            <a:avLst>
              <a:gd name="adj" fmla="val 6993"/>
            </a:avLst>
          </a:prstGeom>
          <a:solidFill>
            <a:srgbClr val="F2ECE1"/>
          </a:solidFill>
          <a:ln w="12700">
            <a:solidFill>
              <a:srgbClr val="F2ECE1"/>
            </a:solidFill>
            <a:prstDash val="solid"/>
          </a:ln>
        </p:spPr>
      </p:sp>
      <p:sp>
        <p:nvSpPr>
          <p:cNvPr id="13" name="Text 11"/>
          <p:cNvSpPr txBox="1"/>
          <p:nvPr/>
        </p:nvSpPr>
        <p:spPr>
          <a:xfrm>
            <a:off x="4864608" y="3337560"/>
            <a:ext cx="368503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result is a module</a:t>
            </a:r>
            <a:endParaRPr lang="en-US" sz="1600" dirty="0"/>
          </a:p>
        </p:txBody>
      </p:sp>
      <p:sp>
        <p:nvSpPr>
          <p:cNvPr id="14" name="Text 12"/>
          <p:cNvSpPr txBox="1"/>
          <p:nvPr/>
        </p:nvSpPr>
        <p:spPr>
          <a:xfrm>
            <a:off x="4864608" y="3721608"/>
            <a:ext cx="3685032" cy="6675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lines not shown import census2010, the file the program has just written, and print the Anchorage entry. pprint.pformat returns a dictionary as valid Python with its keys sorted.</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Loop over the rows, tally in a dictionary, write the result as Python.</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Project 9 as a workflow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pass over the rows, one decision about the dictionary, one about the loop</a:t>
            </a:r>
            <a:endParaRPr lang="en-US" sz="1300" dirty="0"/>
          </a:p>
        </p:txBody>
      </p:sp>
      <p:sp>
        <p:nvSpPr>
          <p:cNvPr id="6" name="Shape 4"/>
          <p:cNvSpPr/>
          <p:nvPr/>
        </p:nvSpPr>
        <p:spPr>
          <a:xfrm>
            <a:off x="731520" y="1355141"/>
            <a:ext cx="246888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795528" y="1495044"/>
            <a:ext cx="23408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workbook and get the census sheet</a:t>
            </a:r>
            <a:endParaRPr lang="en-US" sz="800" dirty="0"/>
          </a:p>
        </p:txBody>
      </p:sp>
      <p:sp>
        <p:nvSpPr>
          <p:cNvPr id="8" name="Shape 6"/>
          <p:cNvSpPr/>
          <p:nvPr/>
        </p:nvSpPr>
        <p:spPr>
          <a:xfrm>
            <a:off x="731520" y="1836115"/>
            <a:ext cx="246888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795528" y="1913839"/>
            <a:ext cx="2340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state, county and population of the next row</a:t>
            </a:r>
            <a:endParaRPr lang="en-US" sz="800" dirty="0"/>
          </a:p>
        </p:txBody>
      </p:sp>
      <p:sp>
        <p:nvSpPr>
          <p:cNvPr id="10" name="Shape 8"/>
          <p:cNvSpPr/>
          <p:nvPr/>
        </p:nvSpPr>
        <p:spPr>
          <a:xfrm>
            <a:off x="731520" y="2316175"/>
            <a:ext cx="2468880" cy="420624"/>
          </a:xfrm>
          <a:prstGeom prst="hexagon">
            <a:avLst/>
          </a:prstGeom>
          <a:solidFill>
            <a:srgbClr val="D97A14"/>
          </a:solidFill>
          <a:ln w="15875">
            <a:solidFill>
              <a:srgbClr val="D97A14"/>
            </a:solidFill>
            <a:prstDash val="solid"/>
          </a:ln>
        </p:spPr>
      </p:sp>
      <p:sp>
        <p:nvSpPr>
          <p:cNvPr id="11" name="Text 9"/>
          <p:cNvSpPr txBox="1"/>
          <p:nvPr/>
        </p:nvSpPr>
        <p:spPr>
          <a:xfrm>
            <a:off x="886968" y="2393899"/>
            <a:ext cx="215798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 the state and the county exist in county_data yet?</a:t>
            </a:r>
            <a:endParaRPr lang="en-US" sz="800" dirty="0"/>
          </a:p>
        </p:txBody>
      </p:sp>
      <p:sp>
        <p:nvSpPr>
          <p:cNvPr id="12" name="Shape 10"/>
          <p:cNvSpPr/>
          <p:nvPr/>
        </p:nvSpPr>
        <p:spPr>
          <a:xfrm>
            <a:off x="3703320" y="2316175"/>
            <a:ext cx="182880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3767328" y="2393899"/>
            <a:ext cx="17007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setdefault() adds the state, the county, tracts and pop</a:t>
            </a:r>
            <a:endParaRPr lang="en-US" sz="800" dirty="0"/>
          </a:p>
        </p:txBody>
      </p:sp>
      <p:sp>
        <p:nvSpPr>
          <p:cNvPr id="14" name="Shape 12"/>
          <p:cNvSpPr/>
          <p:nvPr/>
        </p:nvSpPr>
        <p:spPr>
          <a:xfrm>
            <a:off x="731520" y="2796235"/>
            <a:ext cx="246888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795528" y="2873959"/>
            <a:ext cx="2340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one tract and the population to the county</a:t>
            </a:r>
            <a:endParaRPr lang="en-US" sz="800" dirty="0"/>
          </a:p>
        </p:txBody>
      </p:sp>
      <p:sp>
        <p:nvSpPr>
          <p:cNvPr id="16" name="Shape 14"/>
          <p:cNvSpPr/>
          <p:nvPr/>
        </p:nvSpPr>
        <p:spPr>
          <a:xfrm>
            <a:off x="731520" y="3276295"/>
            <a:ext cx="2468880" cy="420624"/>
          </a:xfrm>
          <a:prstGeom prst="hexagon">
            <a:avLst/>
          </a:prstGeom>
          <a:solidFill>
            <a:srgbClr val="D97A14"/>
          </a:solidFill>
          <a:ln w="15875">
            <a:solidFill>
              <a:srgbClr val="D97A14"/>
            </a:solidFill>
            <a:prstDash val="solid"/>
          </a:ln>
        </p:spPr>
      </p:sp>
      <p:sp>
        <p:nvSpPr>
          <p:cNvPr id="17" name="Text 15"/>
          <p:cNvSpPr txBox="1"/>
          <p:nvPr/>
        </p:nvSpPr>
        <p:spPr>
          <a:xfrm>
            <a:off x="886968" y="3415284"/>
            <a:ext cx="21579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 row left up to max_row?</a:t>
            </a:r>
            <a:endParaRPr lang="en-US" sz="800" dirty="0"/>
          </a:p>
        </p:txBody>
      </p:sp>
      <p:sp>
        <p:nvSpPr>
          <p:cNvPr id="18" name="Shape 16"/>
          <p:cNvSpPr/>
          <p:nvPr/>
        </p:nvSpPr>
        <p:spPr>
          <a:xfrm>
            <a:off x="3703320" y="3276295"/>
            <a:ext cx="182880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3767328" y="3354019"/>
            <a:ext cx="17007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pprint.pformat() writes the dictionary into census2010.py</a:t>
            </a:r>
            <a:endParaRPr lang="en-US" sz="800" dirty="0"/>
          </a:p>
        </p:txBody>
      </p:sp>
      <p:sp>
        <p:nvSpPr>
          <p:cNvPr id="20" name="Shape 18"/>
          <p:cNvSpPr/>
          <p:nvPr/>
        </p:nvSpPr>
        <p:spPr>
          <a:xfrm>
            <a:off x="3703320" y="3755441"/>
            <a:ext cx="1828800" cy="420624"/>
          </a:xfrm>
          <a:prstGeom prst="roundRect">
            <a:avLst>
              <a:gd name="adj" fmla="val 17391"/>
            </a:avLst>
          </a:prstGeom>
          <a:solidFill>
            <a:srgbClr val="F2ECE1"/>
          </a:solidFill>
          <a:ln w="15875">
            <a:solidFill>
              <a:srgbClr val="2F6D62"/>
            </a:solidFill>
            <a:prstDash val="solid"/>
          </a:ln>
        </p:spPr>
      </p:sp>
      <p:sp>
        <p:nvSpPr>
          <p:cNvPr id="21" name="Text 19"/>
          <p:cNvSpPr txBox="1"/>
          <p:nvPr/>
        </p:nvSpPr>
        <p:spPr>
          <a:xfrm>
            <a:off x="3767328" y="3834079"/>
            <a:ext cx="17007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import census2010 reads the result as a module</a:t>
            </a:r>
            <a:endParaRPr lang="en-US" sz="800" dirty="0"/>
          </a:p>
        </p:txBody>
      </p:sp>
      <p:sp>
        <p:nvSpPr>
          <p:cNvPr id="22" name="Shape 20"/>
          <p:cNvSpPr/>
          <p:nvPr/>
        </p:nvSpPr>
        <p:spPr>
          <a:xfrm>
            <a:off x="4526280" y="1474927"/>
            <a:ext cx="182880" cy="182880"/>
          </a:xfrm>
          <a:prstGeom prst="ellipse">
            <a:avLst/>
          </a:prstGeom>
          <a:solidFill>
            <a:srgbClr val="2B2622"/>
          </a:solidFill>
          <a:ln w="15875">
            <a:solidFill>
              <a:srgbClr val="2B2622"/>
            </a:solidFill>
            <a:prstDash val="solid"/>
          </a:ln>
        </p:spPr>
      </p:sp>
      <p:sp>
        <p:nvSpPr>
          <p:cNvPr id="23" name="Shape 21"/>
          <p:cNvSpPr/>
          <p:nvPr/>
        </p:nvSpPr>
        <p:spPr>
          <a:xfrm>
            <a:off x="5586984" y="3837737"/>
            <a:ext cx="256032" cy="256032"/>
          </a:xfrm>
          <a:prstGeom prst="ellipse">
            <a:avLst/>
          </a:prstGeom>
          <a:solidFill>
            <a:srgbClr val="FFFFFF"/>
          </a:solidFill>
          <a:ln w="25400">
            <a:solidFill>
              <a:srgbClr val="2B2622"/>
            </a:solidFill>
            <a:prstDash val="solid"/>
          </a:ln>
        </p:spPr>
      </p:sp>
      <p:sp>
        <p:nvSpPr>
          <p:cNvPr id="24" name="Shape 22"/>
          <p:cNvSpPr/>
          <p:nvPr/>
        </p:nvSpPr>
        <p:spPr>
          <a:xfrm>
            <a:off x="5641848" y="3892601"/>
            <a:ext cx="146304" cy="146304"/>
          </a:xfrm>
          <a:prstGeom prst="ellipse">
            <a:avLst/>
          </a:prstGeom>
          <a:solidFill>
            <a:srgbClr val="2B2622"/>
          </a:solidFill>
          <a:ln w="15875">
            <a:solidFill>
              <a:srgbClr val="2B2622"/>
            </a:solidFill>
            <a:prstDash val="solid"/>
          </a:ln>
        </p:spPr>
      </p:sp>
      <p:sp>
        <p:nvSpPr>
          <p:cNvPr id="25" name="Shape 23"/>
          <p:cNvSpPr/>
          <p:nvPr/>
        </p:nvSpPr>
        <p:spPr>
          <a:xfrm flipH="1" flipV="1">
            <a:off x="3200400" y="1565453"/>
            <a:ext cx="1325880" cy="914"/>
          </a:xfrm>
          <a:prstGeom prst="line">
            <a:avLst/>
          </a:prstGeom>
          <a:noFill/>
          <a:ln w="15875">
            <a:solidFill>
              <a:srgbClr val="6E655C"/>
            </a:solidFill>
            <a:prstDash val="solid"/>
            <a:tailEnd type="triangle"/>
          </a:ln>
        </p:spPr>
      </p:sp>
      <p:sp>
        <p:nvSpPr>
          <p:cNvPr id="26" name="Shape 24"/>
          <p:cNvSpPr/>
          <p:nvPr/>
        </p:nvSpPr>
        <p:spPr>
          <a:xfrm>
            <a:off x="1965960" y="1775765"/>
            <a:ext cx="0" cy="60350"/>
          </a:xfrm>
          <a:prstGeom prst="line">
            <a:avLst/>
          </a:prstGeom>
          <a:noFill/>
          <a:ln w="15875">
            <a:solidFill>
              <a:srgbClr val="6E655C"/>
            </a:solidFill>
            <a:prstDash val="solid"/>
            <a:tailEnd type="triangle"/>
          </a:ln>
        </p:spPr>
      </p:sp>
      <p:sp>
        <p:nvSpPr>
          <p:cNvPr id="27" name="Shape 25"/>
          <p:cNvSpPr/>
          <p:nvPr/>
        </p:nvSpPr>
        <p:spPr>
          <a:xfrm>
            <a:off x="1965960" y="2256739"/>
            <a:ext cx="0" cy="59436"/>
          </a:xfrm>
          <a:prstGeom prst="line">
            <a:avLst/>
          </a:prstGeom>
          <a:noFill/>
          <a:ln w="15875">
            <a:solidFill>
              <a:srgbClr val="6E655C"/>
            </a:solidFill>
            <a:prstDash val="solid"/>
            <a:tailEnd type="triangle"/>
          </a:ln>
        </p:spPr>
      </p:sp>
      <p:sp>
        <p:nvSpPr>
          <p:cNvPr id="28" name="Shape 26"/>
          <p:cNvSpPr/>
          <p:nvPr/>
        </p:nvSpPr>
        <p:spPr>
          <a:xfrm>
            <a:off x="3200400" y="2526487"/>
            <a:ext cx="502920" cy="0"/>
          </a:xfrm>
          <a:prstGeom prst="line">
            <a:avLst/>
          </a:prstGeom>
          <a:noFill/>
          <a:ln w="15875">
            <a:solidFill>
              <a:srgbClr val="6E655C"/>
            </a:solidFill>
            <a:prstDash val="solid"/>
            <a:tailEnd type="triangle"/>
          </a:ln>
        </p:spPr>
      </p:sp>
      <p:sp>
        <p:nvSpPr>
          <p:cNvPr id="29" name="Text 27"/>
          <p:cNvSpPr txBox="1"/>
          <p:nvPr/>
        </p:nvSpPr>
        <p:spPr>
          <a:xfrm>
            <a:off x="3246120" y="234269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1965960" y="2736799"/>
            <a:ext cx="0" cy="59436"/>
          </a:xfrm>
          <a:prstGeom prst="line">
            <a:avLst/>
          </a:prstGeom>
          <a:noFill/>
          <a:ln w="15875">
            <a:solidFill>
              <a:srgbClr val="6E655C"/>
            </a:solidFill>
            <a:prstDash val="solid"/>
            <a:tailEnd type="triangle"/>
          </a:ln>
        </p:spPr>
      </p:sp>
      <p:sp>
        <p:nvSpPr>
          <p:cNvPr id="31" name="Text 29"/>
          <p:cNvSpPr txBox="1"/>
          <p:nvPr/>
        </p:nvSpPr>
        <p:spPr>
          <a:xfrm>
            <a:off x="2020824" y="268376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2" name="Shape 30"/>
          <p:cNvSpPr/>
          <p:nvPr/>
        </p:nvSpPr>
        <p:spPr>
          <a:xfrm>
            <a:off x="4617720" y="2736799"/>
            <a:ext cx="0" cy="269748"/>
          </a:xfrm>
          <a:prstGeom prst="line">
            <a:avLst/>
          </a:prstGeom>
          <a:noFill/>
          <a:ln w="15875">
            <a:solidFill>
              <a:srgbClr val="6E655C"/>
            </a:solidFill>
            <a:prstDash val="solid"/>
          </a:ln>
        </p:spPr>
      </p:sp>
      <p:sp>
        <p:nvSpPr>
          <p:cNvPr id="33" name="Shape 31"/>
          <p:cNvSpPr/>
          <p:nvPr/>
        </p:nvSpPr>
        <p:spPr>
          <a:xfrm flipH="1">
            <a:off x="3200400" y="3006547"/>
            <a:ext cx="1417320" cy="0"/>
          </a:xfrm>
          <a:prstGeom prst="line">
            <a:avLst/>
          </a:prstGeom>
          <a:noFill/>
          <a:ln w="15875">
            <a:solidFill>
              <a:srgbClr val="6E655C"/>
            </a:solidFill>
            <a:prstDash val="solid"/>
            <a:tailEnd type="triangle"/>
          </a:ln>
        </p:spPr>
      </p:sp>
      <p:sp>
        <p:nvSpPr>
          <p:cNvPr id="34" name="Shape 32"/>
          <p:cNvSpPr/>
          <p:nvPr/>
        </p:nvSpPr>
        <p:spPr>
          <a:xfrm>
            <a:off x="1965960" y="3216859"/>
            <a:ext cx="0" cy="59436"/>
          </a:xfrm>
          <a:prstGeom prst="line">
            <a:avLst/>
          </a:prstGeom>
          <a:noFill/>
          <a:ln w="15875">
            <a:solidFill>
              <a:srgbClr val="6E655C"/>
            </a:solidFill>
            <a:prstDash val="solid"/>
            <a:tailEnd type="triangle"/>
          </a:ln>
        </p:spPr>
      </p:sp>
      <p:sp>
        <p:nvSpPr>
          <p:cNvPr id="35" name="Shape 33"/>
          <p:cNvSpPr/>
          <p:nvPr/>
        </p:nvSpPr>
        <p:spPr>
          <a:xfrm flipH="1">
            <a:off x="530352" y="3485693"/>
            <a:ext cx="201168" cy="0"/>
          </a:xfrm>
          <a:prstGeom prst="line">
            <a:avLst/>
          </a:prstGeom>
          <a:noFill/>
          <a:ln w="15875">
            <a:solidFill>
              <a:srgbClr val="6E655C"/>
            </a:solidFill>
            <a:prstDash val="solid"/>
          </a:ln>
        </p:spPr>
      </p:sp>
      <p:sp>
        <p:nvSpPr>
          <p:cNvPr id="36" name="Shape 34"/>
          <p:cNvSpPr/>
          <p:nvPr/>
        </p:nvSpPr>
        <p:spPr>
          <a:xfrm flipV="1">
            <a:off x="530352" y="2046427"/>
            <a:ext cx="0" cy="1439266"/>
          </a:xfrm>
          <a:prstGeom prst="line">
            <a:avLst/>
          </a:prstGeom>
          <a:noFill/>
          <a:ln w="15875">
            <a:solidFill>
              <a:srgbClr val="6E655C"/>
            </a:solidFill>
            <a:prstDash val="solid"/>
          </a:ln>
        </p:spPr>
      </p:sp>
      <p:sp>
        <p:nvSpPr>
          <p:cNvPr id="37" name="Shape 35"/>
          <p:cNvSpPr/>
          <p:nvPr/>
        </p:nvSpPr>
        <p:spPr>
          <a:xfrm>
            <a:off x="530352" y="2046427"/>
            <a:ext cx="201168" cy="0"/>
          </a:xfrm>
          <a:prstGeom prst="line">
            <a:avLst/>
          </a:prstGeom>
          <a:noFill/>
          <a:ln w="15875">
            <a:solidFill>
              <a:srgbClr val="6E655C"/>
            </a:solidFill>
            <a:prstDash val="solid"/>
            <a:tailEnd type="triangle"/>
          </a:ln>
        </p:spPr>
      </p:sp>
      <p:sp>
        <p:nvSpPr>
          <p:cNvPr id="38" name="Text 36"/>
          <p:cNvSpPr txBox="1"/>
          <p:nvPr/>
        </p:nvSpPr>
        <p:spPr>
          <a:xfrm>
            <a:off x="530352" y="330281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9" name="Shape 37"/>
          <p:cNvSpPr/>
          <p:nvPr/>
        </p:nvSpPr>
        <p:spPr>
          <a:xfrm>
            <a:off x="3200400" y="3485693"/>
            <a:ext cx="502920" cy="0"/>
          </a:xfrm>
          <a:prstGeom prst="line">
            <a:avLst/>
          </a:prstGeom>
          <a:noFill/>
          <a:ln w="15875">
            <a:solidFill>
              <a:srgbClr val="6E655C"/>
            </a:solidFill>
            <a:prstDash val="solid"/>
            <a:tailEnd type="triangle"/>
          </a:ln>
        </p:spPr>
      </p:sp>
      <p:sp>
        <p:nvSpPr>
          <p:cNvPr id="40" name="Text 38"/>
          <p:cNvSpPr txBox="1"/>
          <p:nvPr/>
        </p:nvSpPr>
        <p:spPr>
          <a:xfrm>
            <a:off x="3246120" y="330281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41" name="Shape 39"/>
          <p:cNvSpPr/>
          <p:nvPr/>
        </p:nvSpPr>
        <p:spPr>
          <a:xfrm>
            <a:off x="4617720" y="3696919"/>
            <a:ext cx="0" cy="58522"/>
          </a:xfrm>
          <a:prstGeom prst="line">
            <a:avLst/>
          </a:prstGeom>
          <a:noFill/>
          <a:ln w="15875">
            <a:solidFill>
              <a:srgbClr val="6E655C"/>
            </a:solidFill>
            <a:prstDash val="solid"/>
            <a:tailEnd type="triangle"/>
          </a:ln>
        </p:spPr>
      </p:sp>
      <p:sp>
        <p:nvSpPr>
          <p:cNvPr id="42" name="Shape 40"/>
          <p:cNvSpPr/>
          <p:nvPr/>
        </p:nvSpPr>
        <p:spPr>
          <a:xfrm>
            <a:off x="5532120" y="3966667"/>
            <a:ext cx="54864" cy="0"/>
          </a:xfrm>
          <a:prstGeom prst="line">
            <a:avLst/>
          </a:prstGeom>
          <a:noFill/>
          <a:ln w="15875">
            <a:solidFill>
              <a:srgbClr val="6E655C"/>
            </a:solidFill>
            <a:prstDash val="solid"/>
            <a:tailEnd type="triangle"/>
          </a:ln>
        </p:spPr>
      </p:sp>
      <p:sp>
        <p:nvSpPr>
          <p:cNvPr id="43" name="Text 41"/>
          <p:cNvSpPr txBox="1"/>
          <p:nvPr/>
        </p:nvSpPr>
        <p:spPr>
          <a:xfrm>
            <a:off x="457200" y="4233672"/>
            <a:ext cx="53949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ProjectNineTally - Workflow pattern, 39 of 44 words grounded in the chapter's text</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80760" y="1371600"/>
          <a:ext cx="2606040" cy="914400"/>
        </p:xfrm>
        <a:graphic>
          <a:graphicData uri="http://schemas.openxmlformats.org/drawingml/2006/table">
            <a:tbl>
              <a:tblPr/>
              <a:tblGrid>
                <a:gridCol w="502920"/>
                <a:gridCol w="868680"/>
                <a:gridCol w="457200"/>
                <a:gridCol w="777240"/>
              </a:tblGrid>
              <a:tr h="24688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State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County</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Tracts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Population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4688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Aleutians East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Anchorage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12,515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Autauga</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4,082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Baldwin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7,100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CA</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San Francisco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45" name="Shape 42"/>
          <p:cNvSpPr/>
          <p:nvPr/>
        </p:nvSpPr>
        <p:spPr>
          <a:xfrm>
            <a:off x="6080760" y="2971800"/>
            <a:ext cx="2606040" cy="1554480"/>
          </a:xfrm>
          <a:prstGeom prst="roundRect">
            <a:avLst>
              <a:gd name="adj" fmla="val 5882"/>
            </a:avLst>
          </a:prstGeom>
          <a:solidFill>
            <a:srgbClr val="F2ECE1"/>
          </a:solidFill>
          <a:ln w="12700">
            <a:solidFill>
              <a:srgbClr val="F2ECE1"/>
            </a:solidFill>
            <a:prstDash val="solid"/>
          </a:ln>
        </p:spPr>
      </p:sp>
      <p:sp>
        <p:nvSpPr>
          <p:cNvPr id="46" name="Text 43"/>
          <p:cNvSpPr txBox="1"/>
          <p:nvPr/>
        </p:nvSpPr>
        <p:spPr>
          <a:xfrm>
            <a:off x="6263640" y="3090672"/>
            <a:ext cx="22402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One setdefault call</a:t>
            </a:r>
            <a:endParaRPr lang="en-US" sz="1600" dirty="0"/>
          </a:p>
        </p:txBody>
      </p:sp>
      <p:sp>
        <p:nvSpPr>
          <p:cNvPr id="47" name="Text 44"/>
          <p:cNvSpPr txBox="1"/>
          <p:nvPr/>
        </p:nvSpPr>
        <p:spPr>
          <a:xfrm>
            <a:off x="6263640" y="3474720"/>
            <a:ext cx="2240280" cy="91440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It inserts a key only when the key is missing and always returns the value, so the loop can call it on every row. Without it the first row of a state raises KeyError.</a:t>
            </a:r>
            <a:endParaRPr lang="en-US" sz="1000" dirty="0"/>
          </a:p>
        </p:txBody>
      </p:sp>
      <p:sp>
        <p:nvSpPr>
          <p:cNvPr id="48" name="Shape 45"/>
          <p:cNvSpPr/>
          <p:nvPr/>
        </p:nvSpPr>
        <p:spPr>
          <a:xfrm>
            <a:off x="457200" y="4636008"/>
            <a:ext cx="91440" cy="310896"/>
          </a:xfrm>
          <a:prstGeom prst="rect">
            <a:avLst/>
          </a:prstGeom>
          <a:solidFill>
            <a:srgbClr val="D97A14"/>
          </a:solidFill>
          <a:ln w="12700">
            <a:solidFill>
              <a:srgbClr val="D97A14"/>
            </a:solidFill>
            <a:prstDash val="solid"/>
          </a:ln>
        </p:spPr>
      </p:sp>
      <p:sp>
        <p:nvSpPr>
          <p:cNvPr id="49" name="Text 4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a row, make sure the keys exist, add, and repeat to max_row.</a:t>
            </a:r>
            <a:endParaRPr lang="en-US" sz="1350" dirty="0"/>
          </a:p>
        </p:txBody>
      </p:sp>
      <p:sp>
        <p:nvSpPr>
          <p:cNvPr id="50" name="Text 4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workbooks and saving them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new Workbook starts with one sheet called Sheet; save() writes the file</a:t>
            </a:r>
            <a:endParaRPr lang="en-US" sz="1300" dirty="0"/>
          </a:p>
        </p:txBody>
      </p:sp>
      <p:sp>
        <p:nvSpPr>
          <p:cNvPr id="6" name="Text 4"/>
          <p:cNvSpPr txBox="1"/>
          <p:nvPr/>
        </p:nvSpPr>
        <p:spPr>
          <a:xfrm>
            <a:off x="45720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writingWorkbooks_v1_0_0.py, lines 14 to 33 of 35</a:t>
            </a:r>
            <a:endParaRPr lang="en-US" sz="1000" dirty="0"/>
          </a:p>
        </p:txBody>
      </p:sp>
      <p:sp>
        <p:nvSpPr>
          <p:cNvPr id="7" name="Shape 5"/>
          <p:cNvSpPr/>
          <p:nvPr/>
        </p:nvSpPr>
        <p:spPr>
          <a:xfrm>
            <a:off x="457200" y="1417320"/>
            <a:ext cx="3858768"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3493008"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openpyxl.Workbook()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sheet.title = </a:t>
            </a:r>
            <a:r>
              <a:rPr lang="en-US" sz="700" dirty="0">
                <a:solidFill>
                  <a:srgbClr val="9ECBFF"/>
                </a:solidFill>
                <a:latin typeface="Courier New" pitchFamily="34" charset="0"/>
                <a:ea typeface="Courier New" pitchFamily="34" charset="-122"/>
                <a:cs typeface="Courier New" pitchFamily="34" charset="-120"/>
              </a:rPr>
              <a:t>'Spam Bacon Eggs Sheet'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wb.save(</a:t>
            </a:r>
            <a:r>
              <a:rPr lang="en-US" sz="700" dirty="0">
                <a:solidFill>
                  <a:srgbClr val="9ECBFF"/>
                </a:solidFill>
                <a:latin typeface="Courier New" pitchFamily="34" charset="0"/>
                <a:ea typeface="Courier New" pitchFamily="34" charset="-122"/>
                <a:cs typeface="Courier New" pitchFamily="34" charset="-120"/>
              </a:rPr>
              <a:t>'example3_copy.xlsx'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print(openpyxl.load_workbook(</a:t>
            </a:r>
            <a:r>
              <a:rPr lang="en-US" sz="700" dirty="0">
                <a:solidFill>
                  <a:srgbClr val="9ECBFF"/>
                </a:solidFill>
                <a:latin typeface="Courier New" pitchFamily="34" charset="0"/>
                <a:ea typeface="Courier New" pitchFamily="34" charset="-122"/>
                <a:cs typeface="Courier New" pitchFamily="34" charset="-120"/>
              </a:rPr>
              <a:t>'example3_copy.xlsx'</a:t>
            </a:r>
            <a:r>
              <a:rPr lang="en-US" sz="700" dirty="0">
                <a:solidFill>
                  <a:srgbClr val="E6EDF3"/>
                </a:solidFill>
                <a:latin typeface="Courier New" pitchFamily="34" charset="0"/>
                <a:ea typeface="Courier New" pitchFamily="34" charset="-122"/>
                <a:cs typeface="Courier New" pitchFamily="34" charset="-120"/>
              </a:rPr>
              <a:t>).sheetnames)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openpyxl.Workbook()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print(wb.create_sheet())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wb.create_sheet(index=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title=</a:t>
            </a:r>
            <a:r>
              <a:rPr lang="en-US" sz="700" dirty="0">
                <a:solidFill>
                  <a:srgbClr val="9ECBFF"/>
                </a:solidFill>
                <a:latin typeface="Courier New" pitchFamily="34" charset="0"/>
                <a:ea typeface="Courier New" pitchFamily="34" charset="-122"/>
                <a:cs typeface="Courier New" pitchFamily="34" charset="-120"/>
              </a:rPr>
              <a:t>'First 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wb.create_sheet(index=</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title=</a:t>
            </a:r>
            <a:r>
              <a:rPr lang="en-US" sz="700" dirty="0">
                <a:solidFill>
                  <a:srgbClr val="9ECBFF"/>
                </a:solidFill>
                <a:latin typeface="Courier New" pitchFamily="34" charset="0"/>
                <a:ea typeface="Courier New" pitchFamily="34" charset="-122"/>
                <a:cs typeface="Courier New" pitchFamily="34" charset="-120"/>
              </a:rPr>
              <a:t>'Middle 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del wb[</a:t>
            </a:r>
            <a:r>
              <a:rPr lang="en-US" sz="700" dirty="0">
                <a:solidFill>
                  <a:srgbClr val="9ECBFF"/>
                </a:solidFill>
                <a:latin typeface="Courier New" pitchFamily="34" charset="0"/>
                <a:ea typeface="Courier New" pitchFamily="34" charset="-122"/>
                <a:cs typeface="Courier New" pitchFamily="34" charset="-120"/>
              </a:rPr>
              <a:t>'Middle 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del wb[</a:t>
            </a:r>
            <a:r>
              <a:rPr lang="en-US" sz="700" dirty="0">
                <a:solidFill>
                  <a:srgbClr val="9ECBFF"/>
                </a:solidFill>
                <a:latin typeface="Courier New" pitchFamily="34" charset="0"/>
                <a:ea typeface="Courier New" pitchFamily="34" charset="-122"/>
                <a:cs typeface="Courier New" pitchFamily="34" charset="-120"/>
              </a:rPr>
              <a:t>'Sheet1'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t>
            </a:r>
            <a:r>
              <a:rPr lang="en-US" sz="700" dirty="0">
                <a:solidFill>
                  <a:srgbClr val="9ECBFF"/>
                </a:solidFill>
                <a:latin typeface="Courier New" pitchFamily="34" charset="0"/>
                <a:ea typeface="Courier New" pitchFamily="34" charset="-122"/>
                <a:cs typeface="Courier New" pitchFamily="34" charset="-120"/>
              </a:rPr>
              <a:t>'Sheet'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].value)</a:t>
            </a:r>
            <a:endParaRPr lang="en-US" sz="700" dirty="0"/>
          </a:p>
        </p:txBody>
      </p:sp>
      <p:sp>
        <p:nvSpPr>
          <p:cNvPr id="9" name="Text 7"/>
          <p:cNvSpPr txBox="1"/>
          <p:nvPr/>
        </p:nvSpPr>
        <p:spPr>
          <a:xfrm>
            <a:off x="4453128" y="1143000"/>
            <a:ext cx="427939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4453128" y="1417320"/>
            <a:ext cx="4279392" cy="1408176"/>
          </a:xfrm>
          <a:prstGeom prst="roundRect">
            <a:avLst>
              <a:gd name="adj" fmla="val 6494"/>
            </a:avLst>
          </a:prstGeom>
          <a:solidFill>
            <a:srgbClr val="23272E"/>
          </a:solidFill>
          <a:ln w="12700">
            <a:solidFill>
              <a:srgbClr val="23272E"/>
            </a:solidFill>
            <a:prstDash val="solid"/>
          </a:ln>
        </p:spPr>
      </p:sp>
      <p:sp>
        <p:nvSpPr>
          <p:cNvPr id="11" name="Text 9"/>
          <p:cNvSpPr txBox="1"/>
          <p:nvPr/>
        </p:nvSpPr>
        <p:spPr>
          <a:xfrm>
            <a:off x="4636008" y="1536192"/>
            <a:ext cx="3913632" cy="1170432"/>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['Spam Bacon Eggs 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['Spam Bacon Eggs 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&lt;Worksheet "Sheet1"&gt;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['Sheet', 'Sheet1']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['First Sheet', 'Sheet', 'Middle Sheet', 'Sheet1']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['First Sheet', 'Sheet']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Dup Dup1 dup2</a:t>
            </a:r>
            <a:endParaRPr lang="en-US" sz="700" dirty="0"/>
          </a:p>
        </p:txBody>
      </p:sp>
      <p:sp>
        <p:nvSpPr>
          <p:cNvPr id="12" name="Shape 10"/>
          <p:cNvSpPr/>
          <p:nvPr/>
        </p:nvSpPr>
        <p:spPr>
          <a:xfrm>
            <a:off x="4453128" y="2962656"/>
            <a:ext cx="4279392" cy="1563624"/>
          </a:xfrm>
          <a:prstGeom prst="roundRect">
            <a:avLst>
              <a:gd name="adj" fmla="val 5848"/>
            </a:avLst>
          </a:prstGeom>
          <a:solidFill>
            <a:srgbClr val="F2ECE1"/>
          </a:solidFill>
          <a:ln w="12700">
            <a:solidFill>
              <a:srgbClr val="F2ECE1"/>
            </a:solidFill>
            <a:prstDash val="solid"/>
          </a:ln>
        </p:spPr>
      </p:sp>
      <p:sp>
        <p:nvSpPr>
          <p:cNvPr id="13" name="Text 11"/>
          <p:cNvSpPr txBox="1"/>
          <p:nvPr/>
        </p:nvSpPr>
        <p:spPr>
          <a:xfrm>
            <a:off x="4636008" y="3081528"/>
            <a:ext cx="391363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Titles are checked, files are not</a:t>
            </a:r>
            <a:endParaRPr lang="en-US" sz="1600" dirty="0"/>
          </a:p>
        </p:txBody>
      </p:sp>
      <p:sp>
        <p:nvSpPr>
          <p:cNvPr id="14" name="Text 12"/>
          <p:cNvSpPr txBox="1"/>
          <p:nvPr/>
        </p:nvSpPr>
        <p:spPr>
          <a:xfrm>
            <a:off x="4636008" y="3465576"/>
            <a:ext cx="3913632" cy="923544"/>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Sheet titles stay unique without regard to case, and a slash is refused with ValueError. save() replaces an existing file without a question.</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Workbook() makes a file in memory; nothing exists on disk until save().</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Project 10: correct the prices, keep the original</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dictionary holds the corrections; the loop writes column 2; save() uses a new name</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project10UpdateProduce_v1_0_0.py, lines 15 to 27 of 33</a:t>
            </a:r>
            <a:endParaRPr lang="en-US" sz="1000" dirty="0"/>
          </a:p>
        </p:txBody>
      </p:sp>
      <p:sp>
        <p:nvSpPr>
          <p:cNvPr id="7" name="Shape 5"/>
          <p:cNvSpPr/>
          <p:nvPr/>
        </p:nvSpPr>
        <p:spPr>
          <a:xfrm>
            <a:off x="457200" y="1417320"/>
            <a:ext cx="4700016" cy="1911096"/>
          </a:xfrm>
          <a:prstGeom prst="roundRect">
            <a:avLst>
              <a:gd name="adj" fmla="val 4785"/>
            </a:avLst>
          </a:prstGeom>
          <a:solidFill>
            <a:srgbClr val="23272E"/>
          </a:solidFill>
          <a:ln w="12700">
            <a:solidFill>
              <a:srgbClr val="23272E"/>
            </a:solidFill>
            <a:prstDash val="solid"/>
          </a:ln>
        </p:spPr>
      </p:sp>
      <p:sp>
        <p:nvSpPr>
          <p:cNvPr id="8" name="Text 6"/>
          <p:cNvSpPr txBox="1"/>
          <p:nvPr/>
        </p:nvSpPr>
        <p:spPr>
          <a:xfrm>
            <a:off x="640080" y="1536192"/>
            <a:ext cx="4334256" cy="167335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openpyxl.load_workbook(</a:t>
            </a:r>
            <a:r>
              <a:rPr lang="en-US" sz="700" dirty="0">
                <a:solidFill>
                  <a:srgbClr val="9ECBFF"/>
                </a:solidFill>
                <a:latin typeface="Courier New" pitchFamily="34" charset="0"/>
                <a:ea typeface="Courier New" pitchFamily="34" charset="-122"/>
                <a:cs typeface="Courier New" pitchFamily="34" charset="-120"/>
              </a:rPr>
              <a:t>'produceSales3.xlsx'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t>
            </a:r>
            <a:r>
              <a:rPr lang="en-US" sz="700" dirty="0">
                <a:solidFill>
                  <a:srgbClr val="9ECBFF"/>
                </a:solidFill>
                <a:latin typeface="Courier New" pitchFamily="34" charset="0"/>
                <a:ea typeface="Courier New" pitchFamily="34" charset="-122"/>
                <a:cs typeface="Courier New" pitchFamily="34" charset="-120"/>
              </a:rPr>
              <a:t>'Sheet'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i="1" dirty="0">
                <a:solidFill>
                  <a:srgbClr val="8FA98F"/>
                </a:solidFill>
                <a:latin typeface="Courier New" pitchFamily="34" charset="0"/>
                <a:ea typeface="Courier New" pitchFamily="34" charset="-122"/>
                <a:cs typeface="Courier New" pitchFamily="34" charset="-120"/>
              </a:rPr>
              <a:t># The produce types and their updated prices: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PRICE_UPDATES = {</a:t>
            </a:r>
            <a:r>
              <a:rPr lang="en-US" sz="700" dirty="0">
                <a:solidFill>
                  <a:srgbClr val="9ECBFF"/>
                </a:solidFill>
                <a:latin typeface="Courier New" pitchFamily="34" charset="0"/>
                <a:ea typeface="Courier New" pitchFamily="34" charset="-122"/>
                <a:cs typeface="Courier New" pitchFamily="34" charset="-120"/>
              </a:rPr>
              <a:t>'Garlic'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3.07</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'Celery'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'Lemon'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1.27</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i="1" dirty="0">
                <a:solidFill>
                  <a:srgbClr val="8FA98F"/>
                </a:solidFill>
                <a:latin typeface="Courier New" pitchFamily="34" charset="0"/>
                <a:ea typeface="Courier New" pitchFamily="34" charset="-122"/>
                <a:cs typeface="Courier New" pitchFamily="34" charset="-120"/>
              </a:rPr>
              <a:t># Loop through the rows and update the prices.</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row_num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sheet.max_row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Skip the first 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produce_name = sheet.cell(row=row_num, column=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produce_name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PRICE_UPDATES: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sheet.cell(row=row_num, column=</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).value = PRICE_UPDATES[produce_name]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wb.save(</a:t>
            </a:r>
            <a:r>
              <a:rPr lang="en-US" sz="700" dirty="0">
                <a:solidFill>
                  <a:srgbClr val="9ECBFF"/>
                </a:solidFill>
                <a:latin typeface="Courier New" pitchFamily="34" charset="0"/>
                <a:ea typeface="Courier New" pitchFamily="34" charset="-122"/>
                <a:cs typeface="Courier New" pitchFamily="34" charset="-120"/>
              </a:rPr>
              <a:t>'updatedProduceSales3.xlsx'</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5294376" y="1143000"/>
            <a:ext cx="34381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5294376" y="1417320"/>
            <a:ext cx="3438144" cy="1783080"/>
          </a:xfrm>
          <a:prstGeom prst="roundRect">
            <a:avLst>
              <a:gd name="adj" fmla="val 5128"/>
            </a:avLst>
          </a:prstGeom>
          <a:solidFill>
            <a:srgbClr val="23272E"/>
          </a:solidFill>
          <a:ln w="12700">
            <a:solidFill>
              <a:srgbClr val="23272E"/>
            </a:solidFill>
            <a:prstDash val="solid"/>
          </a:ln>
        </p:spPr>
      </p:sp>
      <p:sp>
        <p:nvSpPr>
          <p:cNvPr id="11" name="Text 9"/>
          <p:cNvSpPr txBox="1"/>
          <p:nvPr/>
        </p:nvSpPr>
        <p:spPr>
          <a:xfrm>
            <a:off x="5477256" y="1536192"/>
            <a:ext cx="3072384" cy="154533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PRODUCE COST PER POUND -&gt; COST PER POUND TOTAL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Potatoes 0.86 -&gt; 0.86 =ROUND(B2*C2,2)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Garlic 1.19 -&gt; 3.07 =ROUND(B3*C3,2)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Celery 3.07 -&gt; 1.19 =ROUND(B4*C4,2)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Lemon 1.29 -&gt; 1.27 =ROUND(B5*C5,2)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Okra 2.26 -&gt; 2.26 =ROUND(B6*C6,2)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Garlic 1.19 -&gt; 3.07 =ROUND(B7*C7,2)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Celery 3.07 -&gt; 1.19 =ROUND(B8*C8,2)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Parsnips 2.27 -&gt; 2.27 =ROUND(B9*C9,2)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Lemon 1.29 -&gt; 1.27 =ROUND(B10*C10,2)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Garlic 1.19 -&gt; 3.07 =ROUND(B11*C11,2)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None</a:t>
            </a:r>
            <a:endParaRPr lang="en-US" sz="700" dirty="0"/>
          </a:p>
        </p:txBody>
      </p:sp>
      <p:sp>
        <p:nvSpPr>
          <p:cNvPr id="12" name="Shape 10"/>
          <p:cNvSpPr/>
          <p:nvPr/>
        </p:nvSpPr>
        <p:spPr>
          <a:xfrm>
            <a:off x="457200" y="3438144"/>
            <a:ext cx="4700016" cy="1088136"/>
          </a:xfrm>
          <a:prstGeom prst="roundRect">
            <a:avLst>
              <a:gd name="adj" fmla="val 8403"/>
            </a:avLst>
          </a:prstGeom>
          <a:solidFill>
            <a:srgbClr val="F2ECE1"/>
          </a:solidFill>
          <a:ln w="12700">
            <a:solidFill>
              <a:srgbClr val="F2ECE1"/>
            </a:solidFill>
            <a:prstDash val="solid"/>
          </a:ln>
        </p:spPr>
      </p:sp>
      <p:sp>
        <p:nvSpPr>
          <p:cNvPr id="13" name="Text 11"/>
          <p:cNvSpPr txBox="1"/>
          <p:nvPr/>
        </p:nvSpPr>
        <p:spPr>
          <a:xfrm>
            <a:off x="640080" y="3557016"/>
            <a:ext cx="433425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Row 2 to max_row</a:t>
            </a:r>
            <a:endParaRPr lang="en-US" sz="1600" dirty="0"/>
          </a:p>
        </p:txBody>
      </p:sp>
      <p:sp>
        <p:nvSpPr>
          <p:cNvPr id="14" name="Text 12"/>
          <p:cNvSpPr txBox="1"/>
          <p:nvPr/>
        </p:nvSpPr>
        <p:spPr>
          <a:xfrm>
            <a:off x="640080" y="3941064"/>
            <a:ext cx="4334256" cy="448056"/>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range(2, sheet.max_row + 1) skips the header and reaches the last row; with range(2, sheet.max_row) the last row would be left out.</a:t>
            </a:r>
            <a:endParaRPr lang="en-US" sz="1050" dirty="0"/>
          </a:p>
        </p:txBody>
      </p:sp>
      <p:sp>
        <p:nvSpPr>
          <p:cNvPr id="15" name="Shape 13"/>
          <p:cNvSpPr/>
          <p:nvPr/>
        </p:nvSpPr>
        <p:spPr>
          <a:xfrm>
            <a:off x="5294376" y="3310128"/>
            <a:ext cx="3438144" cy="1216152"/>
          </a:xfrm>
          <a:prstGeom prst="roundRect">
            <a:avLst>
              <a:gd name="adj" fmla="val 7519"/>
            </a:avLst>
          </a:prstGeom>
          <a:solidFill>
            <a:srgbClr val="F2ECE1"/>
          </a:solidFill>
          <a:ln w="12700">
            <a:solidFill>
              <a:srgbClr val="F2ECE1"/>
            </a:solidFill>
            <a:prstDash val="solid"/>
          </a:ln>
        </p:spPr>
      </p:sp>
      <p:sp>
        <p:nvSpPr>
          <p:cNvPr id="16" name="Text 14"/>
          <p:cNvSpPr txBox="1"/>
          <p:nvPr/>
        </p:nvSpPr>
        <p:spPr>
          <a:xfrm>
            <a:off x="5477256" y="3429000"/>
            <a:ext cx="307238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last line</a:t>
            </a:r>
            <a:endParaRPr lang="en-US" sz="1600" dirty="0"/>
          </a:p>
        </p:txBody>
      </p:sp>
      <p:sp>
        <p:nvSpPr>
          <p:cNvPr id="17" name="Text 15"/>
          <p:cNvSpPr txBox="1"/>
          <p:nvPr/>
        </p:nvSpPr>
        <p:spPr>
          <a:xfrm>
            <a:off x="5477256" y="3813048"/>
            <a:ext cx="3072384" cy="57607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Each line not shown prints old price, new price and formula. The final None is D2 of the saved copy read with data_only=True.</a:t>
            </a:r>
            <a:endParaRPr lang="en-US" sz="10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Corrections live in a dictionary; the loop applies them and saves a copy.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10 as a workflow, and what it loses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last box is the one the chapter does not draw: the results Excel stored are gone</a:t>
            </a:r>
            <a:endParaRPr lang="en-US" sz="1300" dirty="0"/>
          </a:p>
        </p:txBody>
      </p:sp>
      <p:sp>
        <p:nvSpPr>
          <p:cNvPr id="6" name="Shape 4"/>
          <p:cNvSpPr/>
          <p:nvPr/>
        </p:nvSpPr>
        <p:spPr>
          <a:xfrm>
            <a:off x="731520" y="1355141"/>
            <a:ext cx="251460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795528" y="1495044"/>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PRICE_UPDATES holds the corrected prices</a:t>
            </a:r>
            <a:endParaRPr lang="en-US" sz="800" dirty="0"/>
          </a:p>
        </p:txBody>
      </p:sp>
      <p:sp>
        <p:nvSpPr>
          <p:cNvPr id="8" name="Shape 6"/>
          <p:cNvSpPr/>
          <p:nvPr/>
        </p:nvSpPr>
        <p:spPr>
          <a:xfrm>
            <a:off x="731520" y="1836115"/>
            <a:ext cx="251460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795528" y="1975104"/>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Load produceSales3.xlsx and get its sheet</a:t>
            </a:r>
            <a:endParaRPr lang="en-US" sz="800" dirty="0"/>
          </a:p>
        </p:txBody>
      </p:sp>
      <p:sp>
        <p:nvSpPr>
          <p:cNvPr id="10" name="Shape 8"/>
          <p:cNvSpPr/>
          <p:nvPr/>
        </p:nvSpPr>
        <p:spPr>
          <a:xfrm>
            <a:off x="731520" y="2316175"/>
            <a:ext cx="251460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795528" y="2393899"/>
            <a:ext cx="23865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produce name of the next row from row 2</a:t>
            </a:r>
            <a:endParaRPr lang="en-US" sz="800" dirty="0"/>
          </a:p>
        </p:txBody>
      </p:sp>
      <p:sp>
        <p:nvSpPr>
          <p:cNvPr id="12" name="Shape 10"/>
          <p:cNvSpPr/>
          <p:nvPr/>
        </p:nvSpPr>
        <p:spPr>
          <a:xfrm>
            <a:off x="731520" y="2796235"/>
            <a:ext cx="2514600" cy="420624"/>
          </a:xfrm>
          <a:prstGeom prst="hexagon">
            <a:avLst/>
          </a:prstGeom>
          <a:solidFill>
            <a:srgbClr val="D97A14"/>
          </a:solidFill>
          <a:ln w="15875">
            <a:solidFill>
              <a:srgbClr val="D97A14"/>
            </a:solidFill>
            <a:prstDash val="solid"/>
          </a:ln>
        </p:spPr>
      </p:sp>
      <p:sp>
        <p:nvSpPr>
          <p:cNvPr id="13" name="Text 11"/>
          <p:cNvSpPr txBox="1"/>
          <p:nvPr/>
        </p:nvSpPr>
        <p:spPr>
          <a:xfrm>
            <a:off x="886968" y="2873959"/>
            <a:ext cx="220370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produce name a key of PRICE_UPDATES?</a:t>
            </a:r>
            <a:endParaRPr lang="en-US" sz="800" dirty="0"/>
          </a:p>
        </p:txBody>
      </p:sp>
      <p:sp>
        <p:nvSpPr>
          <p:cNvPr id="14" name="Shape 12"/>
          <p:cNvSpPr/>
          <p:nvPr/>
        </p:nvSpPr>
        <p:spPr>
          <a:xfrm>
            <a:off x="3840480" y="2796235"/>
            <a:ext cx="182880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3904488" y="2935224"/>
            <a:ext cx="17007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the new price in column 2</a:t>
            </a:r>
            <a:endParaRPr lang="en-US" sz="800" dirty="0"/>
          </a:p>
        </p:txBody>
      </p:sp>
      <p:sp>
        <p:nvSpPr>
          <p:cNvPr id="16" name="Shape 14"/>
          <p:cNvSpPr/>
          <p:nvPr/>
        </p:nvSpPr>
        <p:spPr>
          <a:xfrm>
            <a:off x="731520" y="3276295"/>
            <a:ext cx="2514600" cy="420624"/>
          </a:xfrm>
          <a:prstGeom prst="hexagon">
            <a:avLst/>
          </a:prstGeom>
          <a:solidFill>
            <a:srgbClr val="D97A14"/>
          </a:solidFill>
          <a:ln w="15875">
            <a:solidFill>
              <a:srgbClr val="D97A14"/>
            </a:solidFill>
            <a:prstDash val="solid"/>
          </a:ln>
        </p:spPr>
      </p:sp>
      <p:sp>
        <p:nvSpPr>
          <p:cNvPr id="17" name="Text 15"/>
          <p:cNvSpPr txBox="1"/>
          <p:nvPr/>
        </p:nvSpPr>
        <p:spPr>
          <a:xfrm>
            <a:off x="886968" y="3415284"/>
            <a:ext cx="22037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 row left up to max_row + 1?</a:t>
            </a:r>
            <a:endParaRPr lang="en-US" sz="800" dirty="0"/>
          </a:p>
        </p:txBody>
      </p:sp>
      <p:sp>
        <p:nvSpPr>
          <p:cNvPr id="18" name="Shape 16"/>
          <p:cNvSpPr/>
          <p:nvPr/>
        </p:nvSpPr>
        <p:spPr>
          <a:xfrm>
            <a:off x="731520" y="3755441"/>
            <a:ext cx="251460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795528" y="3895344"/>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workbook as updatedProduceSales3.xlsx</a:t>
            </a:r>
            <a:endParaRPr lang="en-US" sz="800" dirty="0"/>
          </a:p>
        </p:txBody>
      </p:sp>
      <p:sp>
        <p:nvSpPr>
          <p:cNvPr id="20" name="Shape 18"/>
          <p:cNvSpPr/>
          <p:nvPr/>
        </p:nvSpPr>
        <p:spPr>
          <a:xfrm>
            <a:off x="3840480" y="3755441"/>
            <a:ext cx="1828800" cy="420624"/>
          </a:xfrm>
          <a:prstGeom prst="roundRect">
            <a:avLst>
              <a:gd name="adj" fmla="val 17391"/>
            </a:avLst>
          </a:prstGeom>
          <a:solidFill>
            <a:srgbClr val="F2ECE1"/>
          </a:solidFill>
          <a:ln w="15875">
            <a:solidFill>
              <a:srgbClr val="2F6D62"/>
            </a:solidFill>
            <a:prstDash val="solid"/>
          </a:ln>
        </p:spPr>
      </p:sp>
      <p:sp>
        <p:nvSpPr>
          <p:cNvPr id="21" name="Text 19"/>
          <p:cNvSpPr txBox="1"/>
          <p:nvPr/>
        </p:nvSpPr>
        <p:spPr>
          <a:xfrm>
            <a:off x="3904488" y="3834079"/>
            <a:ext cx="170078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The saved formulas hold no stored results</a:t>
            </a:r>
            <a:endParaRPr lang="en-US" sz="800" dirty="0"/>
          </a:p>
        </p:txBody>
      </p:sp>
      <p:sp>
        <p:nvSpPr>
          <p:cNvPr id="22" name="Shape 20"/>
          <p:cNvSpPr/>
          <p:nvPr/>
        </p:nvSpPr>
        <p:spPr>
          <a:xfrm>
            <a:off x="4663440" y="1474927"/>
            <a:ext cx="182880" cy="182880"/>
          </a:xfrm>
          <a:prstGeom prst="ellipse">
            <a:avLst/>
          </a:prstGeom>
          <a:solidFill>
            <a:srgbClr val="2B2622"/>
          </a:solidFill>
          <a:ln w="15875">
            <a:solidFill>
              <a:srgbClr val="2B2622"/>
            </a:solidFill>
            <a:prstDash val="solid"/>
          </a:ln>
        </p:spPr>
      </p:sp>
      <p:sp>
        <p:nvSpPr>
          <p:cNvPr id="23" name="Shape 21"/>
          <p:cNvSpPr/>
          <p:nvPr/>
        </p:nvSpPr>
        <p:spPr>
          <a:xfrm>
            <a:off x="5678424" y="3837737"/>
            <a:ext cx="256032" cy="256032"/>
          </a:xfrm>
          <a:prstGeom prst="ellipse">
            <a:avLst/>
          </a:prstGeom>
          <a:solidFill>
            <a:srgbClr val="FFFFFF"/>
          </a:solidFill>
          <a:ln w="25400">
            <a:solidFill>
              <a:srgbClr val="2B2622"/>
            </a:solidFill>
            <a:prstDash val="solid"/>
          </a:ln>
        </p:spPr>
      </p:sp>
      <p:sp>
        <p:nvSpPr>
          <p:cNvPr id="24" name="Shape 22"/>
          <p:cNvSpPr/>
          <p:nvPr/>
        </p:nvSpPr>
        <p:spPr>
          <a:xfrm>
            <a:off x="5733288" y="3892601"/>
            <a:ext cx="146304" cy="146304"/>
          </a:xfrm>
          <a:prstGeom prst="ellipse">
            <a:avLst/>
          </a:prstGeom>
          <a:solidFill>
            <a:srgbClr val="2B2622"/>
          </a:solidFill>
          <a:ln w="15875">
            <a:solidFill>
              <a:srgbClr val="2B2622"/>
            </a:solidFill>
            <a:prstDash val="solid"/>
          </a:ln>
        </p:spPr>
      </p:sp>
      <p:sp>
        <p:nvSpPr>
          <p:cNvPr id="25" name="Shape 23"/>
          <p:cNvSpPr/>
          <p:nvPr/>
        </p:nvSpPr>
        <p:spPr>
          <a:xfrm flipH="1" flipV="1">
            <a:off x="3246120" y="1565453"/>
            <a:ext cx="1417320" cy="914"/>
          </a:xfrm>
          <a:prstGeom prst="line">
            <a:avLst/>
          </a:prstGeom>
          <a:noFill/>
          <a:ln w="15875">
            <a:solidFill>
              <a:srgbClr val="6E655C"/>
            </a:solidFill>
            <a:prstDash val="solid"/>
            <a:tailEnd type="triangle"/>
          </a:ln>
        </p:spPr>
      </p:sp>
      <p:sp>
        <p:nvSpPr>
          <p:cNvPr id="26" name="Shape 24"/>
          <p:cNvSpPr/>
          <p:nvPr/>
        </p:nvSpPr>
        <p:spPr>
          <a:xfrm>
            <a:off x="1988820" y="1775765"/>
            <a:ext cx="0" cy="60350"/>
          </a:xfrm>
          <a:prstGeom prst="line">
            <a:avLst/>
          </a:prstGeom>
          <a:noFill/>
          <a:ln w="15875">
            <a:solidFill>
              <a:srgbClr val="6E655C"/>
            </a:solidFill>
            <a:prstDash val="solid"/>
            <a:tailEnd type="triangle"/>
          </a:ln>
        </p:spPr>
      </p:sp>
      <p:sp>
        <p:nvSpPr>
          <p:cNvPr id="27" name="Shape 25"/>
          <p:cNvSpPr/>
          <p:nvPr/>
        </p:nvSpPr>
        <p:spPr>
          <a:xfrm>
            <a:off x="1988820" y="2256739"/>
            <a:ext cx="0" cy="59436"/>
          </a:xfrm>
          <a:prstGeom prst="line">
            <a:avLst/>
          </a:prstGeom>
          <a:noFill/>
          <a:ln w="15875">
            <a:solidFill>
              <a:srgbClr val="6E655C"/>
            </a:solidFill>
            <a:prstDash val="solid"/>
            <a:tailEnd type="triangle"/>
          </a:ln>
        </p:spPr>
      </p:sp>
      <p:sp>
        <p:nvSpPr>
          <p:cNvPr id="28" name="Shape 26"/>
          <p:cNvSpPr/>
          <p:nvPr/>
        </p:nvSpPr>
        <p:spPr>
          <a:xfrm>
            <a:off x="1988820" y="2736799"/>
            <a:ext cx="0" cy="59436"/>
          </a:xfrm>
          <a:prstGeom prst="line">
            <a:avLst/>
          </a:prstGeom>
          <a:noFill/>
          <a:ln w="15875">
            <a:solidFill>
              <a:srgbClr val="6E655C"/>
            </a:solidFill>
            <a:prstDash val="solid"/>
            <a:tailEnd type="triangle"/>
          </a:ln>
        </p:spPr>
      </p:sp>
      <p:sp>
        <p:nvSpPr>
          <p:cNvPr id="29" name="Shape 27"/>
          <p:cNvSpPr/>
          <p:nvPr/>
        </p:nvSpPr>
        <p:spPr>
          <a:xfrm>
            <a:off x="3246120" y="3006547"/>
            <a:ext cx="594360" cy="0"/>
          </a:xfrm>
          <a:prstGeom prst="line">
            <a:avLst/>
          </a:prstGeom>
          <a:noFill/>
          <a:ln w="15875">
            <a:solidFill>
              <a:srgbClr val="6E655C"/>
            </a:solidFill>
            <a:prstDash val="solid"/>
            <a:tailEnd type="triangle"/>
          </a:ln>
        </p:spPr>
      </p:sp>
      <p:sp>
        <p:nvSpPr>
          <p:cNvPr id="30" name="Text 28"/>
          <p:cNvSpPr txBox="1"/>
          <p:nvPr/>
        </p:nvSpPr>
        <p:spPr>
          <a:xfrm>
            <a:off x="3291840" y="282366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1" name="Shape 29"/>
          <p:cNvSpPr/>
          <p:nvPr/>
        </p:nvSpPr>
        <p:spPr>
          <a:xfrm>
            <a:off x="1988820" y="3216859"/>
            <a:ext cx="0" cy="59436"/>
          </a:xfrm>
          <a:prstGeom prst="line">
            <a:avLst/>
          </a:prstGeom>
          <a:noFill/>
          <a:ln w="15875">
            <a:solidFill>
              <a:srgbClr val="6E655C"/>
            </a:solidFill>
            <a:prstDash val="solid"/>
            <a:tailEnd type="triangle"/>
          </a:ln>
        </p:spPr>
      </p:sp>
      <p:sp>
        <p:nvSpPr>
          <p:cNvPr id="32" name="Text 30"/>
          <p:cNvSpPr txBox="1"/>
          <p:nvPr/>
        </p:nvSpPr>
        <p:spPr>
          <a:xfrm>
            <a:off x="2043684" y="316382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3" name="Shape 31"/>
          <p:cNvSpPr/>
          <p:nvPr/>
        </p:nvSpPr>
        <p:spPr>
          <a:xfrm>
            <a:off x="4754880" y="3216859"/>
            <a:ext cx="0" cy="268834"/>
          </a:xfrm>
          <a:prstGeom prst="line">
            <a:avLst/>
          </a:prstGeom>
          <a:noFill/>
          <a:ln w="15875">
            <a:solidFill>
              <a:srgbClr val="6E655C"/>
            </a:solidFill>
            <a:prstDash val="solid"/>
          </a:ln>
        </p:spPr>
      </p:sp>
      <p:sp>
        <p:nvSpPr>
          <p:cNvPr id="34" name="Shape 32"/>
          <p:cNvSpPr/>
          <p:nvPr/>
        </p:nvSpPr>
        <p:spPr>
          <a:xfrm flipH="1">
            <a:off x="3246120" y="3485693"/>
            <a:ext cx="1508760" cy="0"/>
          </a:xfrm>
          <a:prstGeom prst="line">
            <a:avLst/>
          </a:prstGeom>
          <a:noFill/>
          <a:ln w="15875">
            <a:solidFill>
              <a:srgbClr val="6E655C"/>
            </a:solidFill>
            <a:prstDash val="solid"/>
            <a:tailEnd type="triangle"/>
          </a:ln>
        </p:spPr>
      </p:sp>
      <p:sp>
        <p:nvSpPr>
          <p:cNvPr id="35" name="Shape 33"/>
          <p:cNvSpPr/>
          <p:nvPr/>
        </p:nvSpPr>
        <p:spPr>
          <a:xfrm flipH="1">
            <a:off x="530352" y="3485693"/>
            <a:ext cx="201168" cy="0"/>
          </a:xfrm>
          <a:prstGeom prst="line">
            <a:avLst/>
          </a:prstGeom>
          <a:noFill/>
          <a:ln w="15875">
            <a:solidFill>
              <a:srgbClr val="6E655C"/>
            </a:solidFill>
            <a:prstDash val="solid"/>
          </a:ln>
        </p:spPr>
      </p:sp>
      <p:sp>
        <p:nvSpPr>
          <p:cNvPr id="36" name="Shape 34"/>
          <p:cNvSpPr/>
          <p:nvPr/>
        </p:nvSpPr>
        <p:spPr>
          <a:xfrm flipV="1">
            <a:off x="530352" y="2526487"/>
            <a:ext cx="0" cy="959206"/>
          </a:xfrm>
          <a:prstGeom prst="line">
            <a:avLst/>
          </a:prstGeom>
          <a:noFill/>
          <a:ln w="15875">
            <a:solidFill>
              <a:srgbClr val="6E655C"/>
            </a:solidFill>
            <a:prstDash val="solid"/>
          </a:ln>
        </p:spPr>
      </p:sp>
      <p:sp>
        <p:nvSpPr>
          <p:cNvPr id="37" name="Shape 35"/>
          <p:cNvSpPr/>
          <p:nvPr/>
        </p:nvSpPr>
        <p:spPr>
          <a:xfrm>
            <a:off x="530352" y="2526487"/>
            <a:ext cx="201168" cy="0"/>
          </a:xfrm>
          <a:prstGeom prst="line">
            <a:avLst/>
          </a:prstGeom>
          <a:noFill/>
          <a:ln w="15875">
            <a:solidFill>
              <a:srgbClr val="6E655C"/>
            </a:solidFill>
            <a:prstDash val="solid"/>
            <a:tailEnd type="triangle"/>
          </a:ln>
        </p:spPr>
      </p:sp>
      <p:sp>
        <p:nvSpPr>
          <p:cNvPr id="38" name="Text 36"/>
          <p:cNvSpPr txBox="1"/>
          <p:nvPr/>
        </p:nvSpPr>
        <p:spPr>
          <a:xfrm>
            <a:off x="530352" y="330281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9" name="Shape 37"/>
          <p:cNvSpPr/>
          <p:nvPr/>
        </p:nvSpPr>
        <p:spPr>
          <a:xfrm>
            <a:off x="1988820" y="3696919"/>
            <a:ext cx="0" cy="58522"/>
          </a:xfrm>
          <a:prstGeom prst="line">
            <a:avLst/>
          </a:prstGeom>
          <a:noFill/>
          <a:ln w="15875">
            <a:solidFill>
              <a:srgbClr val="6E655C"/>
            </a:solidFill>
            <a:prstDash val="solid"/>
            <a:tailEnd type="triangle"/>
          </a:ln>
        </p:spPr>
      </p:sp>
      <p:sp>
        <p:nvSpPr>
          <p:cNvPr id="40" name="Text 38"/>
          <p:cNvSpPr txBox="1"/>
          <p:nvPr/>
        </p:nvSpPr>
        <p:spPr>
          <a:xfrm>
            <a:off x="2043684" y="364388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41" name="Shape 39"/>
          <p:cNvSpPr/>
          <p:nvPr/>
        </p:nvSpPr>
        <p:spPr>
          <a:xfrm>
            <a:off x="3246120" y="3966667"/>
            <a:ext cx="594360" cy="0"/>
          </a:xfrm>
          <a:prstGeom prst="line">
            <a:avLst/>
          </a:prstGeom>
          <a:noFill/>
          <a:ln w="15875">
            <a:solidFill>
              <a:srgbClr val="6E655C"/>
            </a:solidFill>
            <a:prstDash val="solid"/>
            <a:tailEnd type="triangle"/>
          </a:ln>
        </p:spPr>
      </p:sp>
      <p:sp>
        <p:nvSpPr>
          <p:cNvPr id="42" name="Shape 40"/>
          <p:cNvSpPr/>
          <p:nvPr/>
        </p:nvSpPr>
        <p:spPr>
          <a:xfrm>
            <a:off x="5669280" y="3966667"/>
            <a:ext cx="9144" cy="0"/>
          </a:xfrm>
          <a:prstGeom prst="line">
            <a:avLst/>
          </a:prstGeom>
          <a:noFill/>
          <a:ln w="15875">
            <a:solidFill>
              <a:srgbClr val="6E655C"/>
            </a:solidFill>
            <a:prstDash val="solid"/>
            <a:tailEnd type="triangle"/>
          </a:ln>
        </p:spPr>
      </p:sp>
      <p:sp>
        <p:nvSpPr>
          <p:cNvPr id="43" name="Text 41"/>
          <p:cNvSpPr txBox="1"/>
          <p:nvPr/>
        </p:nvSpPr>
        <p:spPr>
          <a:xfrm>
            <a:off x="457200" y="4233672"/>
            <a:ext cx="54864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ProjectTenUpdate - Workflow pattern, 37 of 39 words grounded in the chapter's text</a:t>
            </a:r>
            <a:endParaRPr lang="en-US" sz="850" dirty="0"/>
          </a:p>
        </p:txBody>
      </p:sp>
      <p:sp>
        <p:nvSpPr>
          <p:cNvPr id="44" name="Shape 42"/>
          <p:cNvSpPr/>
          <p:nvPr/>
        </p:nvSpPr>
        <p:spPr>
          <a:xfrm>
            <a:off x="6126480" y="1371600"/>
            <a:ext cx="2560320" cy="1508760"/>
          </a:xfrm>
          <a:prstGeom prst="roundRect">
            <a:avLst>
              <a:gd name="adj" fmla="val 6061"/>
            </a:avLst>
          </a:prstGeom>
          <a:solidFill>
            <a:srgbClr val="F2ECE1"/>
          </a:solidFill>
          <a:ln w="12700">
            <a:solidFill>
              <a:srgbClr val="F2ECE1"/>
            </a:solidFill>
            <a:prstDash val="solid"/>
          </a:ln>
        </p:spPr>
      </p:sp>
      <p:sp>
        <p:nvSpPr>
          <p:cNvPr id="45" name="Text 43"/>
          <p:cNvSpPr txBox="1"/>
          <p:nvPr/>
        </p:nvSpPr>
        <p:spPr>
          <a:xfrm>
            <a:off x="6309360" y="1490472"/>
            <a:ext cx="21945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Saved totals: gone</a:t>
            </a:r>
            <a:endParaRPr lang="en-US" sz="1600" dirty="0"/>
          </a:p>
        </p:txBody>
      </p:sp>
      <p:sp>
        <p:nvSpPr>
          <p:cNvPr id="46" name="Text 44"/>
          <p:cNvSpPr txBox="1"/>
          <p:nvPr/>
        </p:nvSpPr>
        <p:spPr>
          <a:xfrm>
            <a:off x="6309360" y="1874520"/>
            <a:ext cx="2194560" cy="86868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openpyxl keeps the formulas but not the results Excel stored. On the real produce file D2 held 18.58 in the original and None in the copy.</a:t>
            </a:r>
            <a:endParaRPr lang="en-US" sz="1000" dirty="0"/>
          </a:p>
        </p:txBody>
      </p:sp>
      <p:sp>
        <p:nvSpPr>
          <p:cNvPr id="47" name="Shape 45"/>
          <p:cNvSpPr/>
          <p:nvPr/>
        </p:nvSpPr>
        <p:spPr>
          <a:xfrm>
            <a:off x="6126480" y="3017520"/>
            <a:ext cx="2560320" cy="1508760"/>
          </a:xfrm>
          <a:prstGeom prst="roundRect">
            <a:avLst>
              <a:gd name="adj" fmla="val 6061"/>
            </a:avLst>
          </a:prstGeom>
          <a:solidFill>
            <a:srgbClr val="F2ECE1"/>
          </a:solidFill>
          <a:ln w="12700">
            <a:solidFill>
              <a:srgbClr val="F2ECE1"/>
            </a:solidFill>
            <a:prstDash val="solid"/>
          </a:ln>
        </p:spPr>
      </p:sp>
      <p:sp>
        <p:nvSpPr>
          <p:cNvPr id="48" name="Text 46"/>
          <p:cNvSpPr txBox="1"/>
          <p:nvPr/>
        </p:nvSpPr>
        <p:spPr>
          <a:xfrm>
            <a:off x="6309360" y="3136392"/>
            <a:ext cx="21945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Office app restores</a:t>
            </a:r>
            <a:endParaRPr lang="en-US" sz="1600" dirty="0"/>
          </a:p>
        </p:txBody>
      </p:sp>
      <p:sp>
        <p:nvSpPr>
          <p:cNvPr id="49" name="Text 47"/>
          <p:cNvSpPr txBox="1"/>
          <p:nvPr/>
        </p:nvSpPr>
        <p:spPr>
          <a:xfrm>
            <a:off x="6309360" y="3520440"/>
            <a:ext cx="2194560" cy="86868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Run headless on the saved file, LibreOffice 24.2.7.2 recalculated all 23,757 rows with 0 differences from the totals Excel had stored.</a:t>
            </a:r>
            <a:endParaRPr lang="en-US" sz="1000" dirty="0"/>
          </a:p>
        </p:txBody>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Saving through openpyxl drops the stored results of every formula.</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Formulas: text that begins with an equal sign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openpyxl stores the text, marks the cell f, and never calculates it</a:t>
            </a:r>
            <a:endParaRPr lang="en-US" sz="1300" dirty="0"/>
          </a:p>
        </p:txBody>
      </p:sp>
      <p:sp>
        <p:nvSpPr>
          <p:cNvPr id="6" name="Text 4"/>
          <p:cNvSpPr txBox="1"/>
          <p:nvPr/>
        </p:nvSpPr>
        <p:spPr>
          <a:xfrm>
            <a:off x="457200" y="1143000"/>
            <a:ext cx="5733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formulasAndResults_v1_0_0.py, lines 14 to 25 of 37 - Python 3.14.6</a:t>
            </a:r>
            <a:endParaRPr lang="en-US" sz="1000" dirty="0"/>
          </a:p>
        </p:txBody>
      </p:sp>
      <p:sp>
        <p:nvSpPr>
          <p:cNvPr id="7" name="Shape 5"/>
          <p:cNvSpPr/>
          <p:nvPr/>
        </p:nvSpPr>
        <p:spPr>
          <a:xfrm>
            <a:off x="457200" y="1417320"/>
            <a:ext cx="5733288" cy="1883664"/>
          </a:xfrm>
          <a:prstGeom prst="roundRect">
            <a:avLst>
              <a:gd name="adj" fmla="val 4854"/>
            </a:avLst>
          </a:prstGeom>
          <a:solidFill>
            <a:srgbClr val="23272E"/>
          </a:solidFill>
          <a:ln w="12700">
            <a:solidFill>
              <a:srgbClr val="23272E"/>
            </a:solidFill>
            <a:prstDash val="solid"/>
          </a:ln>
        </p:spPr>
      </p:sp>
      <p:sp>
        <p:nvSpPr>
          <p:cNvPr id="8" name="Text 6"/>
          <p:cNvSpPr txBox="1"/>
          <p:nvPr/>
        </p:nvSpPr>
        <p:spPr>
          <a:xfrm>
            <a:off x="640080" y="1536192"/>
            <a:ext cx="5367528" cy="1645920"/>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r>
              <a:rPr lang="en-US" sz="750" dirty="0">
                <a:solidFill>
                  <a:srgbClr val="E6EDF3"/>
                </a:solidFill>
                <a:latin typeface="Courier New" pitchFamily="34" charset="0"/>
                <a:ea typeface="Courier New" pitchFamily="34" charset="-122"/>
                <a:cs typeface="Courier New" pitchFamily="34" charset="-120"/>
              </a:rPr>
              <a:t> openpyxl, io, zipfile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wb = openpyxl.Workbook()</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sheet = wb.active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sheet[</a:t>
            </a:r>
            <a:r>
              <a:rPr lang="en-US" sz="750" dirty="0">
                <a:solidFill>
                  <a:srgbClr val="9ECBFF"/>
                </a:solidFill>
                <a:latin typeface="Courier New" pitchFamily="34" charset="0"/>
                <a:ea typeface="Courier New" pitchFamily="34" charset="-122"/>
                <a:cs typeface="Courier New" pitchFamily="34" charset="-120"/>
              </a:rPr>
              <a:t>'A1'</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200</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sheet[</a:t>
            </a:r>
            <a:r>
              <a:rPr lang="en-US" sz="750" dirty="0">
                <a:solidFill>
                  <a:srgbClr val="9ECBFF"/>
                </a:solidFill>
                <a:latin typeface="Courier New" pitchFamily="34" charset="0"/>
                <a:ea typeface="Courier New" pitchFamily="34" charset="-122"/>
                <a:cs typeface="Courier New" pitchFamily="34" charset="-120"/>
              </a:rPr>
              <a:t>'A2'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300</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sheet[</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'=SUM(A1:A2)'</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wb.save(</a:t>
            </a:r>
            <a:r>
              <a:rPr lang="en-US" sz="750" dirty="0">
                <a:solidFill>
                  <a:srgbClr val="9ECBFF"/>
                </a:solidFill>
                <a:latin typeface="Courier New" pitchFamily="34" charset="0"/>
                <a:ea typeface="Courier New" pitchFamily="34" charset="-122"/>
                <a:cs typeface="Courier New" pitchFamily="34" charset="-120"/>
              </a:rPr>
              <a:t>'writeFormula3.xlsx'</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print(sheet[</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].data_type, sheet[</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].value)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wb = openpyxl.load_workbook(</a:t>
            </a:r>
            <a:r>
              <a:rPr lang="en-US" sz="750" dirty="0">
                <a:solidFill>
                  <a:srgbClr val="9ECBFF"/>
                </a:solidFill>
                <a:latin typeface="Courier New" pitchFamily="34" charset="0"/>
                <a:ea typeface="Courier New" pitchFamily="34" charset="-122"/>
                <a:cs typeface="Courier New" pitchFamily="34" charset="-120"/>
              </a:rPr>
              <a:t>'writeFormula3.xlsx'</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print(wb.active[</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].value)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wb_data_only = openpyxl.load_workbook(</a:t>
            </a:r>
            <a:r>
              <a:rPr lang="en-US" sz="750" dirty="0">
                <a:solidFill>
                  <a:srgbClr val="9ECBFF"/>
                </a:solidFill>
                <a:latin typeface="Courier New" pitchFamily="34" charset="0"/>
                <a:ea typeface="Courier New" pitchFamily="34" charset="-122"/>
                <a:cs typeface="Courier New" pitchFamily="34" charset="-120"/>
              </a:rPr>
              <a:t>'writeFormula3.xlsx'</a:t>
            </a:r>
            <a:r>
              <a:rPr lang="en-US" sz="750" dirty="0">
                <a:solidFill>
                  <a:srgbClr val="E6EDF3"/>
                </a:solidFill>
                <a:latin typeface="Courier New" pitchFamily="34" charset="0"/>
                <a:ea typeface="Courier New" pitchFamily="34" charset="-122"/>
                <a:cs typeface="Courier New" pitchFamily="34" charset="-120"/>
              </a:rPr>
              <a:t>, data_only=</a:t>
            </a:r>
            <a:r>
              <a:rPr lang="en-US" sz="750" b="1" dirty="0">
                <a:solidFill>
                  <a:srgbClr val="F2A860"/>
                </a:solidFill>
                <a:latin typeface="Courier New" pitchFamily="34" charset="0"/>
                <a:ea typeface="Courier New" pitchFamily="34" charset="-122"/>
                <a:cs typeface="Courier New" pitchFamily="34" charset="-120"/>
              </a:rPr>
              <a:t>True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print(wb_data_only.active[</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].value)          </a:t>
            </a:r>
            <a:r>
              <a:rPr lang="en-US" sz="750" i="1" dirty="0">
                <a:solidFill>
                  <a:srgbClr val="8FA98F"/>
                </a:solidFill>
                <a:latin typeface="Courier New" pitchFamily="34" charset="0"/>
                <a:ea typeface="Courier New" pitchFamily="34" charset="-122"/>
                <a:cs typeface="Courier New" pitchFamily="34" charset="-120"/>
              </a:rPr>
              <a:t># None: nobody has calculated the formula</a:t>
            </a:r>
            <a:endParaRPr lang="en-US" sz="750" dirty="0"/>
          </a:p>
        </p:txBody>
      </p:sp>
      <p:sp>
        <p:nvSpPr>
          <p:cNvPr id="9" name="Text 7"/>
          <p:cNvSpPr txBox="1"/>
          <p:nvPr/>
        </p:nvSpPr>
        <p:spPr>
          <a:xfrm>
            <a:off x="6327648" y="1143000"/>
            <a:ext cx="240487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6327648" y="1417320"/>
            <a:ext cx="2404872" cy="1069848"/>
          </a:xfrm>
          <a:prstGeom prst="roundRect">
            <a:avLst>
              <a:gd name="adj" fmla="val 8547"/>
            </a:avLst>
          </a:prstGeom>
          <a:solidFill>
            <a:srgbClr val="23272E"/>
          </a:solidFill>
          <a:ln w="12700">
            <a:solidFill>
              <a:srgbClr val="23272E"/>
            </a:solidFill>
            <a:prstDash val="solid"/>
          </a:ln>
        </p:spPr>
      </p:sp>
      <p:sp>
        <p:nvSpPr>
          <p:cNvPr id="11" name="Text 9"/>
          <p:cNvSpPr txBox="1"/>
          <p:nvPr/>
        </p:nvSpPr>
        <p:spPr>
          <a:xfrm>
            <a:off x="6510528" y="1536192"/>
            <a:ext cx="2039112" cy="83210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f =SUM(A1:A2)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=SUM(A1:A2)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=SUM(A1:A2) None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 =NOSUCHFUNC(1</a:t>
            </a:r>
            <a:endParaRPr lang="en-US" sz="750" dirty="0"/>
          </a:p>
        </p:txBody>
      </p:sp>
      <p:sp>
        <p:nvSpPr>
          <p:cNvPr id="12" name="Shape 10"/>
          <p:cNvSpPr/>
          <p:nvPr/>
        </p:nvSpPr>
        <p:spPr>
          <a:xfrm>
            <a:off x="457200" y="3410712"/>
            <a:ext cx="5733288" cy="1115568"/>
          </a:xfrm>
          <a:prstGeom prst="roundRect">
            <a:avLst>
              <a:gd name="adj" fmla="val 8197"/>
            </a:avLst>
          </a:prstGeom>
          <a:solidFill>
            <a:srgbClr val="F2ECE1"/>
          </a:solidFill>
          <a:ln w="12700">
            <a:solidFill>
              <a:srgbClr val="F2ECE1"/>
            </a:solidFill>
            <a:prstDash val="solid"/>
          </a:ln>
        </p:spPr>
      </p:sp>
      <p:sp>
        <p:nvSpPr>
          <p:cNvPr id="13" name="Text 11"/>
          <p:cNvSpPr txBox="1"/>
          <p:nvPr/>
        </p:nvSpPr>
        <p:spPr>
          <a:xfrm>
            <a:off x="640080" y="3529584"/>
            <a:ext cx="536752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Lines 26 to 37 play Excel's part</a:t>
            </a:r>
            <a:endParaRPr lang="en-US" sz="1600" dirty="0"/>
          </a:p>
        </p:txBody>
      </p:sp>
      <p:sp>
        <p:nvSpPr>
          <p:cNvPr id="14" name="Text 12"/>
          <p:cNvSpPr txBox="1"/>
          <p:nvPr/>
        </p:nvSpPr>
        <p:spPr>
          <a:xfrm>
            <a:off x="640080" y="3913632"/>
            <a:ext cx="5367528" cy="475488"/>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They put the result 500 into the file's XML as a spreadsheet program does, so data_only=True reads 500. Loading and saving with openpyxl keeps the formula and drops the 500 ('=SUM(A1:A2) None'). The last line: =NOSUCHFUNC(1 is accepted unchecked.</a:t>
            </a:r>
            <a:endParaRPr lang="en-US" sz="9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formula is text; data_only=True reads what a spreadsheet program stored.</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calculates a formula?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program writes it; Excel or LibreOffice calculates it; the program reads the result</a:t>
            </a:r>
            <a:endParaRPr lang="en-US" sz="1300" dirty="0"/>
          </a:p>
        </p:txBody>
      </p:sp>
      <p:sp>
        <p:nvSpPr>
          <p:cNvPr id="6" name="Shape 4"/>
          <p:cNvSpPr/>
          <p:nvPr/>
        </p:nvSpPr>
        <p:spPr>
          <a:xfrm>
            <a:off x="502920" y="1325880"/>
            <a:ext cx="17373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Python program</a:t>
            </a:r>
            <a:endParaRPr lang="en-US" sz="1000" dirty="0"/>
          </a:p>
        </p:txBody>
      </p:sp>
      <p:sp>
        <p:nvSpPr>
          <p:cNvPr id="8" name="Shape 6"/>
          <p:cNvSpPr/>
          <p:nvPr/>
        </p:nvSpPr>
        <p:spPr>
          <a:xfrm>
            <a:off x="1371600" y="1709928"/>
            <a:ext cx="0" cy="2221992"/>
          </a:xfrm>
          <a:prstGeom prst="line">
            <a:avLst/>
          </a:prstGeom>
          <a:noFill/>
          <a:ln w="19050">
            <a:solidFill>
              <a:srgbClr val="DFD6C7"/>
            </a:solidFill>
            <a:prstDash val="dash"/>
          </a:ln>
        </p:spPr>
      </p:sp>
      <p:sp>
        <p:nvSpPr>
          <p:cNvPr id="9" name="Shape 7"/>
          <p:cNvSpPr/>
          <p:nvPr/>
        </p:nvSpPr>
        <p:spPr>
          <a:xfrm>
            <a:off x="6903720" y="1325880"/>
            <a:ext cx="17373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6958584" y="1431950"/>
            <a:ext cx="16276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Excel or LibreOffice</a:t>
            </a:r>
            <a:endParaRPr lang="en-US" sz="1000" dirty="0"/>
          </a:p>
        </p:txBody>
      </p:sp>
      <p:sp>
        <p:nvSpPr>
          <p:cNvPr id="11" name="Shape 9"/>
          <p:cNvSpPr/>
          <p:nvPr/>
        </p:nvSpPr>
        <p:spPr>
          <a:xfrm>
            <a:off x="7772400" y="1709928"/>
            <a:ext cx="0" cy="2221992"/>
          </a:xfrm>
          <a:prstGeom prst="line">
            <a:avLst/>
          </a:prstGeom>
          <a:noFill/>
          <a:ln w="19050">
            <a:solidFill>
              <a:srgbClr val="DFD6C7"/>
            </a:solidFill>
            <a:prstDash val="dash"/>
          </a:ln>
        </p:spPr>
      </p:sp>
      <p:sp>
        <p:nvSpPr>
          <p:cNvPr id="12" name="Shape 10"/>
          <p:cNvSpPr/>
          <p:nvPr/>
        </p:nvSpPr>
        <p:spPr>
          <a:xfrm>
            <a:off x="1481328" y="1847088"/>
            <a:ext cx="3291840" cy="211226"/>
          </a:xfrm>
          <a:prstGeom prst="rect">
            <a:avLst/>
          </a:prstGeom>
          <a:solidFill>
            <a:srgbClr val="FFF4E0"/>
          </a:solidFill>
          <a:ln w="12700">
            <a:solidFill>
              <a:srgbClr val="D97A14"/>
            </a:solidFill>
            <a:prstDash val="solid"/>
          </a:ln>
        </p:spPr>
      </p:sp>
      <p:sp>
        <p:nvSpPr>
          <p:cNvPr id="13" name="Text 11"/>
          <p:cNvSpPr txBox="1"/>
          <p:nvPr/>
        </p:nvSpPr>
        <p:spPr>
          <a:xfrm>
            <a:off x="1545336" y="1883664"/>
            <a:ext cx="3163824" cy="156362"/>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Assigns '=SUM(A1:A2)' to A3 and saves the file</a:t>
            </a:r>
            <a:endParaRPr lang="en-US" sz="900" dirty="0"/>
          </a:p>
        </p:txBody>
      </p:sp>
      <p:sp>
        <p:nvSpPr>
          <p:cNvPr id="14" name="Shape 12"/>
          <p:cNvSpPr/>
          <p:nvPr/>
        </p:nvSpPr>
        <p:spPr>
          <a:xfrm>
            <a:off x="1371600" y="2412187"/>
            <a:ext cx="6400800" cy="0"/>
          </a:xfrm>
          <a:prstGeom prst="line">
            <a:avLst/>
          </a:prstGeom>
          <a:noFill/>
          <a:ln w="22225">
            <a:solidFill>
              <a:srgbClr val="D97A14"/>
            </a:solidFill>
            <a:prstDash val="solid"/>
            <a:tailEnd type="triangle"/>
          </a:ln>
        </p:spPr>
      </p:sp>
      <p:sp>
        <p:nvSpPr>
          <p:cNvPr id="15" name="Text 13"/>
          <p:cNvSpPr txBox="1"/>
          <p:nvPr/>
        </p:nvSpPr>
        <p:spPr>
          <a:xfrm>
            <a:off x="1463040" y="2210105"/>
            <a:ext cx="6217920" cy="156362"/>
          </a:xfrm>
          <a:prstGeom prst="rect">
            <a:avLst/>
          </a:prstGeom>
          <a:noFill/>
          <a:ln/>
        </p:spPr>
        <p:txBody>
          <a:bodyPr wrap="square" lIns="0" tIns="0" rIns="0" bIns="0" rtlCol="0" anchor="b"/>
          <a:lstStyle/>
          <a:p>
            <a:pPr algn="ctr" indent="0" marL="0">
              <a:buNone/>
            </a:pPr>
            <a:r>
              <a:rPr lang="en-US" sz="900" dirty="0">
                <a:solidFill>
                  <a:srgbClr val="2B2622"/>
                </a:solidFill>
                <a:latin typeface="Calibri" pitchFamily="34" charset="0"/>
                <a:ea typeface="Calibri" pitchFamily="34" charset="-122"/>
                <a:cs typeface="Calibri" pitchFamily="34" charset="-120"/>
              </a:rPr>
              <a:t>The file is opened and saved by the application</a:t>
            </a:r>
            <a:endParaRPr lang="en-US" sz="900" dirty="0"/>
          </a:p>
        </p:txBody>
      </p:sp>
      <p:sp>
        <p:nvSpPr>
          <p:cNvPr id="16" name="Shape 14"/>
          <p:cNvSpPr/>
          <p:nvPr/>
        </p:nvSpPr>
        <p:spPr>
          <a:xfrm>
            <a:off x="4370832" y="2557577"/>
            <a:ext cx="3291840" cy="211226"/>
          </a:xfrm>
          <a:prstGeom prst="rect">
            <a:avLst/>
          </a:prstGeom>
          <a:solidFill>
            <a:srgbClr val="FFF4E0"/>
          </a:solidFill>
          <a:ln w="12700">
            <a:solidFill>
              <a:srgbClr val="D97A14"/>
            </a:solidFill>
            <a:prstDash val="solid"/>
          </a:ln>
        </p:spPr>
      </p:sp>
      <p:sp>
        <p:nvSpPr>
          <p:cNvPr id="17" name="Text 15"/>
          <p:cNvSpPr txBox="1"/>
          <p:nvPr/>
        </p:nvSpPr>
        <p:spPr>
          <a:xfrm>
            <a:off x="4434840" y="2594153"/>
            <a:ext cx="3163824" cy="156362"/>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Calculates the formula and stores the result 500</a:t>
            </a:r>
            <a:endParaRPr lang="en-US" sz="900" dirty="0"/>
          </a:p>
        </p:txBody>
      </p:sp>
      <p:sp>
        <p:nvSpPr>
          <p:cNvPr id="18" name="Shape 16"/>
          <p:cNvSpPr/>
          <p:nvPr/>
        </p:nvSpPr>
        <p:spPr>
          <a:xfrm flipH="1">
            <a:off x="1371600" y="3122676"/>
            <a:ext cx="6400800" cy="0"/>
          </a:xfrm>
          <a:prstGeom prst="line">
            <a:avLst/>
          </a:prstGeom>
          <a:noFill/>
          <a:ln w="22225">
            <a:solidFill>
              <a:srgbClr val="6E655C"/>
            </a:solidFill>
            <a:prstDash val="dash"/>
            <a:tailEnd type="triangle"/>
          </a:ln>
        </p:spPr>
      </p:sp>
      <p:sp>
        <p:nvSpPr>
          <p:cNvPr id="19" name="Text 17"/>
          <p:cNvSpPr txBox="1"/>
          <p:nvPr/>
        </p:nvSpPr>
        <p:spPr>
          <a:xfrm>
            <a:off x="1463040" y="2919679"/>
            <a:ext cx="6217920" cy="156362"/>
          </a:xfrm>
          <a:prstGeom prst="rect">
            <a:avLst/>
          </a:prstGeom>
          <a:noFill/>
          <a:ln/>
        </p:spPr>
        <p:txBody>
          <a:bodyPr wrap="square" lIns="0" tIns="0" rIns="0" bIns="0" rtlCol="0" anchor="b"/>
          <a:lstStyle/>
          <a:p>
            <a:pPr algn="ctr" indent="0" marL="0">
              <a:buNone/>
            </a:pPr>
            <a:r>
              <a:rPr lang="en-US" sz="900" i="1" dirty="0">
                <a:solidFill>
                  <a:srgbClr val="2B2622"/>
                </a:solidFill>
                <a:latin typeface="Calibri" pitchFamily="34" charset="0"/>
                <a:ea typeface="Calibri" pitchFamily="34" charset="-122"/>
                <a:cs typeface="Calibri" pitchFamily="34" charset="-120"/>
              </a:rPr>
              <a:t>The saved file holds the formula and its result</a:t>
            </a:r>
            <a:endParaRPr lang="en-US" sz="900" dirty="0"/>
          </a:p>
        </p:txBody>
      </p:sp>
      <p:sp>
        <p:nvSpPr>
          <p:cNvPr id="20" name="Shape 18"/>
          <p:cNvSpPr/>
          <p:nvPr/>
        </p:nvSpPr>
        <p:spPr>
          <a:xfrm>
            <a:off x="1481328" y="3267151"/>
            <a:ext cx="3291840" cy="211226"/>
          </a:xfrm>
          <a:prstGeom prst="rect">
            <a:avLst/>
          </a:prstGeom>
          <a:solidFill>
            <a:srgbClr val="FFF4E0"/>
          </a:solidFill>
          <a:ln w="12700">
            <a:solidFill>
              <a:srgbClr val="D97A14"/>
            </a:solidFill>
            <a:prstDash val="solid"/>
          </a:ln>
        </p:spPr>
      </p:sp>
      <p:sp>
        <p:nvSpPr>
          <p:cNvPr id="21" name="Text 19"/>
          <p:cNvSpPr txBox="1"/>
          <p:nvPr/>
        </p:nvSpPr>
        <p:spPr>
          <a:xfrm>
            <a:off x="1545336" y="3303727"/>
            <a:ext cx="3163824" cy="156362"/>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load_workbook() without data_only reads the formula</a:t>
            </a:r>
            <a:endParaRPr lang="en-US" sz="900" dirty="0"/>
          </a:p>
        </p:txBody>
      </p:sp>
      <p:sp>
        <p:nvSpPr>
          <p:cNvPr id="22" name="Shape 20"/>
          <p:cNvSpPr/>
          <p:nvPr/>
        </p:nvSpPr>
        <p:spPr>
          <a:xfrm>
            <a:off x="1481328" y="3622853"/>
            <a:ext cx="3291840" cy="211226"/>
          </a:xfrm>
          <a:prstGeom prst="rect">
            <a:avLst/>
          </a:prstGeom>
          <a:solidFill>
            <a:srgbClr val="FFF4E0"/>
          </a:solidFill>
          <a:ln w="12700">
            <a:solidFill>
              <a:srgbClr val="D97A14"/>
            </a:solidFill>
            <a:prstDash val="solid"/>
          </a:ln>
        </p:spPr>
      </p:sp>
      <p:sp>
        <p:nvSpPr>
          <p:cNvPr id="23" name="Text 21"/>
          <p:cNvSpPr txBox="1"/>
          <p:nvPr/>
        </p:nvSpPr>
        <p:spPr>
          <a:xfrm>
            <a:off x="1545336" y="3659429"/>
            <a:ext cx="3163824" cy="156362"/>
          </a:xfrm>
          <a:prstGeom prst="rect">
            <a:avLst/>
          </a:prstGeom>
          <a:noFill/>
          <a:ln/>
        </p:spPr>
        <p:txBody>
          <a:bodyPr wrap="square" lIns="0" tIns="0" rIns="0" bIns="0" rtlCol="0" anchor="ctr"/>
          <a:lstStyle/>
          <a:p>
            <a:pPr algn="l" indent="0" marL="0">
              <a:buNone/>
            </a:pPr>
            <a:r>
              <a:rPr lang="en-US" sz="900" dirty="0">
                <a:solidFill>
                  <a:srgbClr val="2B2622"/>
                </a:solidFill>
                <a:latin typeface="Calibri" pitchFamily="34" charset="0"/>
                <a:ea typeface="Calibri" pitchFamily="34" charset="-122"/>
                <a:cs typeface="Calibri" pitchFamily="34" charset="-120"/>
              </a:rPr>
              <a:t>data_only=True reads the stored result, 500</a:t>
            </a:r>
            <a:endParaRPr lang="en-US" sz="900" dirty="0"/>
          </a:p>
        </p:txBody>
      </p:sp>
      <p:sp>
        <p:nvSpPr>
          <p:cNvPr id="24" name="Text 22"/>
          <p:cNvSpPr txBox="1"/>
          <p:nvPr/>
        </p:nvSpPr>
        <p:spPr>
          <a:xfrm>
            <a:off x="457200" y="395935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AFormulaResult - Interaction pattern, 38 of 39 words grounded in the chapter's text</a:t>
            </a:r>
            <a:endParaRPr lang="en-US" sz="850" dirty="0"/>
          </a:p>
        </p:txBody>
      </p:sp>
      <p:sp>
        <p:nvSpPr>
          <p:cNvPr id="25" name="Shape 23"/>
          <p:cNvSpPr/>
          <p:nvPr/>
        </p:nvSpPr>
        <p:spPr>
          <a:xfrm>
            <a:off x="457200" y="4114800"/>
            <a:ext cx="2645664" cy="457200"/>
          </a:xfrm>
          <a:prstGeom prst="roundRect">
            <a:avLst>
              <a:gd name="adj" fmla="val 16000"/>
            </a:avLst>
          </a:prstGeom>
          <a:solidFill>
            <a:srgbClr val="D97A14"/>
          </a:solidFill>
          <a:ln w="12700">
            <a:solidFill>
              <a:srgbClr val="D97A14"/>
            </a:solidFill>
            <a:prstDash val="solid"/>
          </a:ln>
        </p:spPr>
      </p:sp>
      <p:sp>
        <p:nvSpPr>
          <p:cNvPr id="26" name="Text 24"/>
          <p:cNvSpPr txBox="1"/>
          <p:nvPr/>
        </p:nvSpPr>
        <p:spPr>
          <a:xfrm>
            <a:off x="548640" y="4169664"/>
            <a:ext cx="2462784"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data_only=True</a:t>
            </a:r>
            <a:endParaRPr lang="en-US" sz="1050" dirty="0"/>
          </a:p>
          <a:p>
            <a:pPr algn="ctr" indent="0" marL="0">
              <a:buNone/>
            </a:pPr>
            <a:r>
              <a:rPr lang="en-US" sz="850" dirty="0">
                <a:solidFill>
                  <a:srgbClr val="FFFFFF"/>
                </a:solidFill>
                <a:latin typeface="Calibri" pitchFamily="34" charset="0"/>
                <a:ea typeface="Calibri" pitchFamily="34" charset="-122"/>
                <a:cs typeface="Calibri" pitchFamily="34" charset="-120"/>
              </a:rPr>
              <a:t>reads a stored result, never calculates</a:t>
            </a:r>
            <a:endParaRPr lang="en-US" sz="1050" dirty="0"/>
          </a:p>
        </p:txBody>
      </p:sp>
      <p:sp>
        <p:nvSpPr>
          <p:cNvPr id="27" name="Shape 25"/>
          <p:cNvSpPr/>
          <p:nvPr/>
        </p:nvSpPr>
        <p:spPr>
          <a:xfrm>
            <a:off x="3249168" y="4114800"/>
            <a:ext cx="2645664" cy="457200"/>
          </a:xfrm>
          <a:prstGeom prst="roundRect">
            <a:avLst>
              <a:gd name="adj" fmla="val 16000"/>
            </a:avLst>
          </a:prstGeom>
          <a:solidFill>
            <a:srgbClr val="F2ECE1"/>
          </a:solidFill>
          <a:ln w="12700">
            <a:solidFill>
              <a:srgbClr val="DFD6C7"/>
            </a:solidFill>
            <a:prstDash val="solid"/>
          </a:ln>
        </p:spPr>
      </p:sp>
      <p:sp>
        <p:nvSpPr>
          <p:cNvPr id="28" name="Text 26"/>
          <p:cNvSpPr txBox="1"/>
          <p:nvPr/>
        </p:nvSpPr>
        <p:spPr>
          <a:xfrm>
            <a:off x="3340608" y="4169664"/>
            <a:ext cx="2462784" cy="347472"/>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XlsxWriter stores 0</a:t>
            </a:r>
            <a:endParaRPr lang="en-US" sz="1050" dirty="0"/>
          </a:p>
          <a:p>
            <a:pPr algn="ctr" indent="0" marL="0">
              <a:buNone/>
            </a:pPr>
            <a:r>
              <a:rPr lang="en-US" sz="850" dirty="0">
                <a:solidFill>
                  <a:srgbClr val="6E655C"/>
                </a:solidFill>
                <a:latin typeface="Calibri" pitchFamily="34" charset="0"/>
                <a:ea typeface="Calibri" pitchFamily="34" charset="-122"/>
                <a:cs typeface="Calibri" pitchFamily="34" charset="-120"/>
              </a:rPr>
              <a:t>unless it is given another result</a:t>
            </a:r>
            <a:endParaRPr lang="en-US" sz="1050" dirty="0"/>
          </a:p>
        </p:txBody>
      </p:sp>
      <p:sp>
        <p:nvSpPr>
          <p:cNvPr id="29" name="Shape 27"/>
          <p:cNvSpPr/>
          <p:nvPr/>
        </p:nvSpPr>
        <p:spPr>
          <a:xfrm>
            <a:off x="6041136" y="4114800"/>
            <a:ext cx="2645664" cy="457200"/>
          </a:xfrm>
          <a:prstGeom prst="roundRect">
            <a:avLst>
              <a:gd name="adj" fmla="val 16000"/>
            </a:avLst>
          </a:prstGeom>
          <a:solidFill>
            <a:srgbClr val="F2ECE1"/>
          </a:solidFill>
          <a:ln w="12700">
            <a:solidFill>
              <a:srgbClr val="DFD6C7"/>
            </a:solidFill>
            <a:prstDash val="solid"/>
          </a:ln>
        </p:spPr>
      </p:sp>
      <p:sp>
        <p:nvSpPr>
          <p:cNvPr id="30" name="Text 28"/>
          <p:cNvSpPr txBox="1"/>
          <p:nvPr/>
        </p:nvSpPr>
        <p:spPr>
          <a:xfrm>
            <a:off x="6132576" y="4169664"/>
            <a:ext cx="2462784" cy="347472"/>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Spreadsheet program</a:t>
            </a:r>
            <a:endParaRPr lang="en-US" sz="1050" dirty="0"/>
          </a:p>
          <a:p>
            <a:pPr algn="ctr" indent="0" marL="0">
              <a:buNone/>
            </a:pPr>
            <a:r>
              <a:rPr lang="en-US" sz="850" dirty="0">
                <a:solidFill>
                  <a:srgbClr val="6E655C"/>
                </a:solidFill>
                <a:latin typeface="Calibri" pitchFamily="34" charset="0"/>
                <a:ea typeface="Calibri" pitchFamily="34" charset="-122"/>
                <a:cs typeface="Calibri" pitchFamily="34" charset="-120"/>
              </a:rPr>
              <a:t>stores the result when it saves</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 the formula with Python; let a spreadsheet program calculate it.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calculates? A spreadsheet program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LibreOffice, run headless, stores the results; ROUND and round() disagree on exact halves</a:t>
            </a:r>
            <a:endParaRPr lang="en-US" sz="1300" dirty="0"/>
          </a:p>
        </p:txBody>
      </p:sp>
      <p:sp>
        <p:nvSpPr>
          <p:cNvPr id="6" name="Text 4"/>
          <p:cNvSpPr txBox="1"/>
          <p:nvPr/>
        </p:nvSpPr>
        <p:spPr>
          <a:xfrm>
            <a:off x="457200" y="1143000"/>
            <a:ext cx="57698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recalcWithLibreOffice_v1_0_0.py, lines 21 to 29 of 29 - Python 3.14.6</a:t>
            </a:r>
            <a:endParaRPr lang="en-US" sz="1000" dirty="0"/>
          </a:p>
        </p:txBody>
      </p:sp>
      <p:sp>
        <p:nvSpPr>
          <p:cNvPr id="7" name="Shape 5"/>
          <p:cNvSpPr/>
          <p:nvPr/>
        </p:nvSpPr>
        <p:spPr>
          <a:xfrm>
            <a:off x="457200" y="1417320"/>
            <a:ext cx="5769864" cy="1911096"/>
          </a:xfrm>
          <a:prstGeom prst="roundRect">
            <a:avLst>
              <a:gd name="adj" fmla="val 4785"/>
            </a:avLst>
          </a:prstGeom>
          <a:solidFill>
            <a:srgbClr val="23272E"/>
          </a:solidFill>
          <a:ln w="12700">
            <a:solidFill>
              <a:srgbClr val="23272E"/>
            </a:solidFill>
            <a:prstDash val="solid"/>
          </a:ln>
        </p:spPr>
      </p:sp>
      <p:sp>
        <p:nvSpPr>
          <p:cNvPr id="8" name="Text 6"/>
          <p:cNvSpPr txBox="1"/>
          <p:nvPr/>
        </p:nvSpPr>
        <p:spPr>
          <a:xfrm>
            <a:off x="640080" y="1536192"/>
            <a:ext cx="5404104" cy="167335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'exit'</a:t>
            </a:r>
            <a:r>
              <a:rPr lang="en-US" sz="700" dirty="0">
                <a:solidFill>
                  <a:srgbClr val="E6EDF3"/>
                </a:solidFill>
                <a:latin typeface="Courier New" pitchFamily="34" charset="0"/>
                <a:ea typeface="Courier New" pitchFamily="34" charset="-122"/>
                <a:cs typeface="Courier New" pitchFamily="34" charset="-120"/>
              </a:rPr>
              <a:t>, r.returncode)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src = openpyxl.load_workbook(</a:t>
            </a:r>
            <a:r>
              <a:rPr lang="en-US" sz="700" dirty="0">
                <a:solidFill>
                  <a:srgbClr val="9ECBFF"/>
                </a:solidFill>
                <a:latin typeface="Courier New" pitchFamily="34" charset="0"/>
                <a:ea typeface="Courier New" pitchFamily="34" charset="-122"/>
                <a:cs typeface="Courier New" pitchFamily="34" charset="-120"/>
              </a:rPr>
              <a:t>'produceSales3.xlsx'</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lo = openpyxl.load_workbook(</a:t>
            </a:r>
            <a:r>
              <a:rPr lang="en-US" sz="700" dirty="0">
                <a:solidFill>
                  <a:srgbClr val="9ECBFF"/>
                </a:solidFill>
                <a:latin typeface="Courier New" pitchFamily="34" charset="0"/>
                <a:ea typeface="Courier New" pitchFamily="34" charset="-122"/>
                <a:cs typeface="Courier New" pitchFamily="34" charset="-120"/>
              </a:rPr>
              <a:t>'out/produceSales3.xlsx'</a:t>
            </a:r>
            <a:r>
              <a:rPr lang="en-US" sz="700" dirty="0">
                <a:solidFill>
                  <a:srgbClr val="E6EDF3"/>
                </a:solidFill>
                <a:latin typeface="Courier New" pitchFamily="34" charset="0"/>
                <a:ea typeface="Courier New" pitchFamily="34" charset="-122"/>
                <a:cs typeface="Courier New" pitchFamily="34" charset="-120"/>
              </a:rPr>
              <a:t>, data_only=</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'Sheet'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differ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src.max_row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 c, d = src.cell(row,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).value, src.cell(row,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).value, lo.cell(row,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round(b * c,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d: differ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'rows'</a:t>
            </a:r>
            <a:r>
              <a:rPr lang="en-US" sz="700" dirty="0">
                <a:solidFill>
                  <a:srgbClr val="E6EDF3"/>
                </a:solidFill>
                <a:latin typeface="Courier New" pitchFamily="34" charset="0"/>
                <a:ea typeface="Courier New" pitchFamily="34" charset="-122"/>
                <a:cs typeface="Courier New" pitchFamily="34" charset="-120"/>
              </a:rPr>
              <a:t>, src.max_row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'LibreOffice total differs from round(b * c, 2):'</a:t>
            </a:r>
            <a:r>
              <a:rPr lang="en-US" sz="700" dirty="0">
                <a:solidFill>
                  <a:srgbClr val="E6EDF3"/>
                </a:solidFill>
                <a:latin typeface="Courier New" pitchFamily="34" charset="0"/>
                <a:ea typeface="Courier New" pitchFamily="34" charset="-122"/>
                <a:cs typeface="Courier New" pitchFamily="34" charset="-120"/>
              </a:rPr>
              <a:t>, differ)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print(lo[</a:t>
            </a:r>
            <a:r>
              <a:rPr lang="en-US" sz="700" dirty="0">
                <a:solidFill>
                  <a:srgbClr val="9ECBFF"/>
                </a:solidFill>
                <a:latin typeface="Courier New" pitchFamily="34" charset="0"/>
                <a:ea typeface="Courier New" pitchFamily="34" charset="-122"/>
                <a:cs typeface="Courier New" pitchFamily="34" charset="-120"/>
              </a:rPr>
              <a:t>'D3'</a:t>
            </a:r>
            <a:r>
              <a:rPr lang="en-US" sz="700" dirty="0">
                <a:solidFill>
                  <a:srgbClr val="E6EDF3"/>
                </a:solidFill>
                <a:latin typeface="Courier New" pitchFamily="34" charset="0"/>
                <a:ea typeface="Courier New" pitchFamily="34" charset="-122"/>
                <a:cs typeface="Courier New" pitchFamily="34" charset="-120"/>
              </a:rPr>
              <a:t>].value, openpyxl.load_workbook(</a:t>
            </a:r>
            <a:r>
              <a:rPr lang="en-US" sz="700" dirty="0">
                <a:solidFill>
                  <a:srgbClr val="9ECBFF"/>
                </a:solidFill>
                <a:latin typeface="Courier New" pitchFamily="34" charset="0"/>
                <a:ea typeface="Courier New" pitchFamily="34" charset="-122"/>
                <a:cs typeface="Courier New" pitchFamily="34" charset="-120"/>
              </a:rPr>
              <a:t>'out/produceSales3.xlsx'</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'Sheet'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'D3'</a:t>
            </a:r>
            <a:r>
              <a:rPr lang="en-US" sz="700" dirty="0">
                <a:solidFill>
                  <a:srgbClr val="E6EDF3"/>
                </a:solidFill>
                <a:latin typeface="Courier New" pitchFamily="34" charset="0"/>
                <a:ea typeface="Courier New" pitchFamily="34" charset="-122"/>
                <a:cs typeface="Courier New" pitchFamily="34" charset="-120"/>
              </a:rPr>
              <a:t>].value)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LibreOffice found: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exit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rows 10 LibreOffice total differs from round(b * c, 2): 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11.9 =ROUND(B3*C3,2)</a:t>
            </a:r>
            <a:endParaRPr lang="en-US" sz="700" dirty="0"/>
          </a:p>
        </p:txBody>
      </p:sp>
      <p:sp>
        <p:nvSpPr>
          <p:cNvPr id="9" name="Shape 7"/>
          <p:cNvSpPr/>
          <p:nvPr/>
        </p:nvSpPr>
        <p:spPr>
          <a:xfrm>
            <a:off x="457200" y="3438144"/>
            <a:ext cx="5769864" cy="1088136"/>
          </a:xfrm>
          <a:prstGeom prst="roundRect">
            <a:avLst>
              <a:gd name="adj" fmla="val 8403"/>
            </a:avLst>
          </a:prstGeom>
          <a:solidFill>
            <a:srgbClr val="F2ECE1"/>
          </a:solidFill>
          <a:ln w="12700">
            <a:solidFill>
              <a:srgbClr val="F2ECE1"/>
            </a:solidFill>
            <a:prstDash val="solid"/>
          </a:ln>
        </p:spPr>
      </p:sp>
      <p:sp>
        <p:nvSpPr>
          <p:cNvPr id="10" name="Text 8"/>
          <p:cNvSpPr txBox="1"/>
          <p:nvPr/>
        </p:nvSpPr>
        <p:spPr>
          <a:xfrm>
            <a:off x="640080" y="3557016"/>
            <a:ext cx="540410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Line 20 runs soffice</a:t>
            </a:r>
            <a:endParaRPr lang="en-US" sz="1600" dirty="0"/>
          </a:p>
        </p:txBody>
      </p:sp>
      <p:sp>
        <p:nvSpPr>
          <p:cNvPr id="11" name="Text 9"/>
          <p:cNvSpPr txBox="1"/>
          <p:nvPr/>
        </p:nvSpPr>
        <p:spPr>
          <a:xfrm>
            <a:off x="640080" y="3941064"/>
            <a:ext cx="5404104" cy="44805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soffice --headless --convert-to xlsx --outdir out produceSales3.xlsx opens and saves the stand-in produce file, so its TOTAL cells get stored results again. D3 now reads 11.9.</a:t>
            </a:r>
            <a:endParaRPr lang="en-US" sz="950" dirty="0"/>
          </a:p>
        </p:txBody>
      </p:sp>
      <p:sp>
        <p:nvSpPr>
          <p:cNvPr id="12" name="Shape 10"/>
          <p:cNvSpPr/>
          <p:nvPr/>
        </p:nvSpPr>
        <p:spPr>
          <a:xfrm>
            <a:off x="6364224" y="1417320"/>
            <a:ext cx="2368296" cy="3108960"/>
          </a:xfrm>
          <a:prstGeom prst="roundRect">
            <a:avLst>
              <a:gd name="adj" fmla="val 3861"/>
            </a:avLst>
          </a:prstGeom>
          <a:solidFill>
            <a:srgbClr val="F2ECE1"/>
          </a:solidFill>
          <a:ln w="12700">
            <a:solidFill>
              <a:srgbClr val="F2ECE1"/>
            </a:solidFill>
            <a:prstDash val="solid"/>
          </a:ln>
        </p:spPr>
      </p:sp>
      <p:sp>
        <p:nvSpPr>
          <p:cNvPr id="13" name="Text 11"/>
          <p:cNvSpPr txBox="1"/>
          <p:nvPr/>
        </p:nvSpPr>
        <p:spPr>
          <a:xfrm>
            <a:off x="6547104" y="1536192"/>
            <a:ext cx="200253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ROUND, not round()</a:t>
            </a:r>
            <a:endParaRPr lang="en-US" sz="1600" dirty="0"/>
          </a:p>
        </p:txBody>
      </p:sp>
      <p:sp>
        <p:nvSpPr>
          <p:cNvPr id="14" name="Text 12"/>
          <p:cNvSpPr txBox="1"/>
          <p:nvPr/>
        </p:nvSpPr>
        <p:spPr>
          <a:xfrm>
            <a:off x="6547104" y="1920240"/>
            <a:ext cx="2002536" cy="246888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 the real produce file Excel's stored =ROUND(B*C,2) differed from Python's round(price * pounds, 2) in 629 of 23,757 rows. 1.89 * 34.5 is held a hair under 65.205.</a:t>
            </a:r>
            <a:endParaRPr lang="en-US" sz="10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Recalculate with a spreadsheet program, and expect ROUND to differ from round().</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spreadsheet error that left five countries out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2013</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Herndon, Ash and Pollin</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In April 2013 their working paper replicated Reinhart and Rogoff's study of public debt and growth. A spreadsheet coding error had excluded five countries from the analysis.</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 2013: the working paper is published</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Left out: Australia, Austria, Belgium, Canada, Denmark</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Growth above 90% debt: 2.2% a year, not -0.1%</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formula is code: give it a second reader</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Thomas Herndon, Michael Ash and Robert…</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Political Economy Research Institute, …</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peri.umass.edu</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spreadsheet formula is code, so it needs a second reader and a test.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Fonts, row heights and column widths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Font is an object you assign; sizes live in row_dimensions and column_dimensions</a:t>
            </a:r>
            <a:endParaRPr lang="en-US" sz="1300" dirty="0"/>
          </a:p>
        </p:txBody>
      </p:sp>
      <p:sp>
        <p:nvSpPr>
          <p:cNvPr id="6" name="Text 4"/>
          <p:cNvSpPr txBox="1"/>
          <p:nvPr/>
        </p:nvSpPr>
        <p:spPr>
          <a:xfrm>
            <a:off x="45720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fontsAndSizes_v1_0_0.py, lines 1 to 19 of 19</a:t>
            </a:r>
            <a:endParaRPr lang="en-US" sz="1000" dirty="0"/>
          </a:p>
        </p:txBody>
      </p:sp>
      <p:sp>
        <p:nvSpPr>
          <p:cNvPr id="7" name="Shape 5"/>
          <p:cNvSpPr/>
          <p:nvPr/>
        </p:nvSpPr>
        <p:spPr>
          <a:xfrm>
            <a:off x="457200" y="1417320"/>
            <a:ext cx="4087368"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721608"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 io, zipfile, re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openpyxl.styles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Font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openpyxl.Workbook().active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'Hello, world!'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].font = Font(size=</a:t>
            </a:r>
            <a:r>
              <a:rPr lang="en-US" sz="700" dirty="0">
                <a:solidFill>
                  <a:srgbClr val="FFD28A"/>
                </a:solidFill>
                <a:latin typeface="Courier New" pitchFamily="34" charset="0"/>
                <a:ea typeface="Courier New" pitchFamily="34" charset="-122"/>
                <a:cs typeface="Courier New" pitchFamily="34" charset="-120"/>
              </a:rPr>
              <a:t>24</a:t>
            </a:r>
            <a:r>
              <a:rPr lang="en-US" sz="700" dirty="0">
                <a:solidFill>
                  <a:srgbClr val="E6EDF3"/>
                </a:solidFill>
                <a:latin typeface="Courier New" pitchFamily="34" charset="0"/>
                <a:ea typeface="Courier New" pitchFamily="34" charset="-122"/>
                <a:cs typeface="Courier New" pitchFamily="34" charset="-120"/>
              </a:rPr>
              <a:t>, italic=</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'B3'</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'Bold Times New Roman'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'B3'</a:t>
            </a:r>
            <a:r>
              <a:rPr lang="en-US" sz="700" dirty="0">
                <a:solidFill>
                  <a:srgbClr val="E6EDF3"/>
                </a:solidFill>
                <a:latin typeface="Courier New" pitchFamily="34" charset="0"/>
                <a:ea typeface="Courier New" pitchFamily="34" charset="-122"/>
                <a:cs typeface="Courier New" pitchFamily="34" charset="-120"/>
              </a:rPr>
              <a:t>].font = Font(name=</a:t>
            </a:r>
            <a:r>
              <a:rPr lang="en-US" sz="700" dirty="0">
                <a:solidFill>
                  <a:srgbClr val="9ECBFF"/>
                </a:solidFill>
                <a:latin typeface="Courier New" pitchFamily="34" charset="0"/>
                <a:ea typeface="Courier New" pitchFamily="34" charset="-122"/>
                <a:cs typeface="Courier New" pitchFamily="34" charset="-120"/>
              </a:rPr>
              <a:t>'Times New Roman'</a:t>
            </a:r>
            <a:r>
              <a:rPr lang="en-US" sz="700" dirty="0">
                <a:solidFill>
                  <a:srgbClr val="E6EDF3"/>
                </a:solidFill>
                <a:latin typeface="Courier New" pitchFamily="34" charset="0"/>
                <a:ea typeface="Courier New" pitchFamily="34" charset="-122"/>
                <a:cs typeface="Courier New" pitchFamily="34" charset="-120"/>
              </a:rPr>
              <a:t>, bold=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cell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9ECBFF"/>
                </a:solidFill>
                <a:latin typeface="Courier New" pitchFamily="34" charset="0"/>
                <a:ea typeface="Courier New" pitchFamily="34" charset="-122"/>
                <a:cs typeface="Courier New" pitchFamily="34" charset="-120"/>
              </a:rPr>
              <a:t>'B3'</a:t>
            </a: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9ECBFF"/>
                </a:solidFill>
                <a:latin typeface="Courier New" pitchFamily="34" charset="0"/>
                <a:ea typeface="Courier New" pitchFamily="34" charset="-122"/>
                <a:cs typeface="Courier New" pitchFamily="34" charset="-120"/>
              </a:rPr>
              <a:t>'C5'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print(cell.coordinate, cell.font.name, cell.font.sz)</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sheet[</a:t>
            </a:r>
            <a:r>
              <a:rPr lang="en-US" sz="700" dirty="0">
                <a:solidFill>
                  <a:srgbClr val="9ECBFF"/>
                </a:solidFill>
                <a:latin typeface="Courier New" pitchFamily="34" charset="0"/>
                <a:ea typeface="Courier New" pitchFamily="34" charset="-122"/>
                <a:cs typeface="Courier New" pitchFamily="34" charset="-120"/>
              </a:rPr>
              <a:t>'A1'</a:t>
            </a:r>
            <a:r>
              <a:rPr lang="en-US" sz="700" dirty="0">
                <a:solidFill>
                  <a:srgbClr val="E6EDF3"/>
                </a:solidFill>
                <a:latin typeface="Courier New" pitchFamily="34" charset="0"/>
                <a:ea typeface="Courier New" pitchFamily="34" charset="-122"/>
                <a:cs typeface="Courier New" pitchFamily="34" charset="-120"/>
              </a:rPr>
              <a:t>].font.bold = </a:t>
            </a:r>
            <a:r>
              <a:rPr lang="en-US" sz="700" b="1" dirty="0">
                <a:solidFill>
                  <a:srgbClr val="F2A860"/>
                </a:solidFill>
                <a:latin typeface="Courier New" pitchFamily="34" charset="0"/>
                <a:ea typeface="Courier New" pitchFamily="34" charset="-122"/>
                <a:cs typeface="Courier New" pitchFamily="34" charset="-120"/>
              </a:rPr>
              <a:t>False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AttributeError as e: print(</a:t>
            </a:r>
            <a:r>
              <a:rPr lang="en-US" sz="700" dirty="0">
                <a:solidFill>
                  <a:srgbClr val="9ECBFF"/>
                </a:solidFill>
                <a:latin typeface="Courier New" pitchFamily="34" charset="0"/>
                <a:ea typeface="Courier New" pitchFamily="34" charset="-122"/>
                <a:cs typeface="Courier New" pitchFamily="34" charset="-120"/>
              </a:rPr>
              <a:t>'AttributeError'</a:t>
            </a:r>
            <a:r>
              <a:rPr lang="en-US" sz="700" dirty="0">
                <a:solidFill>
                  <a:srgbClr val="E6EDF3"/>
                </a:solidFill>
                <a:latin typeface="Courier New" pitchFamily="34" charset="0"/>
                <a:ea typeface="Courier New" pitchFamily="34" charset="-122"/>
                <a:cs typeface="Courier New" pitchFamily="34" charset="-120"/>
              </a:rPr>
              <a:t>, str(e)[:</a:t>
            </a:r>
            <a:r>
              <a:rPr lang="en-US" sz="700" dirty="0">
                <a:solidFill>
                  <a:srgbClr val="FFD28A"/>
                </a:solidFill>
                <a:latin typeface="Courier New" pitchFamily="34" charset="0"/>
                <a:ea typeface="Courier New" pitchFamily="34" charset="-122"/>
                <a:cs typeface="Courier New" pitchFamily="34" charset="-120"/>
              </a:rPr>
              <a:t>36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'A5'</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'Tall row'</a:t>
            </a: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9ECBFF"/>
                </a:solidFill>
                <a:latin typeface="Courier New" pitchFamily="34" charset="0"/>
                <a:ea typeface="Courier New" pitchFamily="34" charset="-122"/>
                <a:cs typeface="Courier New" pitchFamily="34" charset="-120"/>
              </a:rPr>
              <a:t>'B5'</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'Wide column'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sheet.row_dimensions[</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].height = </a:t>
            </a:r>
            <a:r>
              <a:rPr lang="en-US" sz="700" dirty="0">
                <a:solidFill>
                  <a:srgbClr val="FFD28A"/>
                </a:solidFill>
                <a:latin typeface="Courier New" pitchFamily="34" charset="0"/>
                <a:ea typeface="Courier New" pitchFamily="34" charset="-122"/>
                <a:cs typeface="Courier New" pitchFamily="34" charset="-120"/>
              </a:rPr>
              <a:t>70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sheet.column_dimensions[</a:t>
            </a:r>
            <a:r>
              <a:rPr lang="en-US" sz="700" dirty="0">
                <a:solidFill>
                  <a:srgbClr val="9ECBFF"/>
                </a:solidFill>
                <a:latin typeface="Courier New" pitchFamily="34" charset="0"/>
                <a:ea typeface="Courier New" pitchFamily="34" charset="-122"/>
                <a:cs typeface="Courier New" pitchFamily="34" charset="-120"/>
              </a:rPr>
              <a:t>'B'</a:t>
            </a:r>
            <a:r>
              <a:rPr lang="en-US" sz="700" dirty="0">
                <a:solidFill>
                  <a:srgbClr val="E6EDF3"/>
                </a:solidFill>
                <a:latin typeface="Courier New" pitchFamily="34" charset="0"/>
                <a:ea typeface="Courier New" pitchFamily="34" charset="-122"/>
                <a:cs typeface="Courier New" pitchFamily="34" charset="-120"/>
              </a:rPr>
              <a:t>].width = </a:t>
            </a:r>
            <a:r>
              <a:rPr lang="en-US" sz="700" dirty="0">
                <a:solidFill>
                  <a:srgbClr val="FFD28A"/>
                </a:solidFill>
                <a:latin typeface="Courier New" pitchFamily="34" charset="0"/>
                <a:ea typeface="Courier New" pitchFamily="34" charset="-122"/>
                <a:cs typeface="Courier New" pitchFamily="34" charset="-120"/>
              </a:rPr>
              <a:t>20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sheet.column_dimensions[</a:t>
            </a:r>
            <a:r>
              <a:rPr lang="en-US" sz="700" dirty="0">
                <a:solidFill>
                  <a:srgbClr val="9ECBFF"/>
                </a:solidFill>
                <a:latin typeface="Courier New" pitchFamily="34" charset="0"/>
                <a:ea typeface="Courier New" pitchFamily="34" charset="-122"/>
                <a:cs typeface="Courier New" pitchFamily="34" charset="-120"/>
              </a:rPr>
              <a:t>'D'</a:t>
            </a:r>
            <a:r>
              <a:rPr lang="en-US" sz="700" dirty="0">
                <a:solidFill>
                  <a:srgbClr val="E6EDF3"/>
                </a:solidFill>
                <a:latin typeface="Courier New" pitchFamily="34" charset="0"/>
                <a:ea typeface="Courier New" pitchFamily="34" charset="-122"/>
                <a:cs typeface="Courier New" pitchFamily="34" charset="-120"/>
              </a:rPr>
              <a:t>].hidden =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io.BytesIO(); sheet.parent.save(b)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xml = zipfile.ZipFile(b).read(</a:t>
            </a:r>
            <a:r>
              <a:rPr lang="en-US" sz="700" dirty="0">
                <a:solidFill>
                  <a:srgbClr val="9ECBFF"/>
                </a:solidFill>
                <a:latin typeface="Courier New" pitchFamily="34" charset="0"/>
                <a:ea typeface="Courier New" pitchFamily="34" charset="-122"/>
                <a:cs typeface="Courier New" pitchFamily="34" charset="-120"/>
              </a:rPr>
              <a:t>'xl/worksheets/sheet1.xml'</a:t>
            </a:r>
            <a:r>
              <a:rPr lang="en-US" sz="700" dirty="0">
                <a:solidFill>
                  <a:srgbClr val="E6EDF3"/>
                </a:solidFill>
                <a:latin typeface="Courier New" pitchFamily="34" charset="0"/>
                <a:ea typeface="Courier New" pitchFamily="34" charset="-122"/>
                <a:cs typeface="Courier New" pitchFamily="34" charset="-120"/>
              </a:rPr>
              <a:t>).decode()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print(*re.findall(r</a:t>
            </a:r>
            <a:r>
              <a:rPr lang="en-US" sz="700" dirty="0">
                <a:solidFill>
                  <a:srgbClr val="9ECBFF"/>
                </a:solidFill>
                <a:latin typeface="Courier New" pitchFamily="34" charset="0"/>
                <a:ea typeface="Courier New" pitchFamily="34" charset="-122"/>
                <a:cs typeface="Courier New" pitchFamily="34" charset="-120"/>
              </a:rPr>
              <a:t>'&lt;col [^&gt;]*&gt;'</a:t>
            </a:r>
            <a:r>
              <a:rPr lang="en-US" sz="700" dirty="0">
                <a:solidFill>
                  <a:srgbClr val="E6EDF3"/>
                </a:solidFill>
                <a:latin typeface="Courier New" pitchFamily="34" charset="0"/>
                <a:ea typeface="Courier New" pitchFamily="34" charset="-122"/>
                <a:cs typeface="Courier New" pitchFamily="34" charset="-120"/>
              </a:rPr>
              <a:t>, xml), sep=</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print(*re.findall(r</a:t>
            </a:r>
            <a:r>
              <a:rPr lang="en-US" sz="700" dirty="0">
                <a:solidFill>
                  <a:srgbClr val="9ECBFF"/>
                </a:solidFill>
                <a:latin typeface="Courier New" pitchFamily="34" charset="0"/>
                <a:ea typeface="Courier New" pitchFamily="34" charset="-122"/>
                <a:cs typeface="Courier New" pitchFamily="34" charset="-120"/>
              </a:rPr>
              <a:t>'&lt;row r="5"[^&gt;]*&gt;'</a:t>
            </a:r>
            <a:r>
              <a:rPr lang="en-US" sz="700" dirty="0">
                <a:solidFill>
                  <a:srgbClr val="E6EDF3"/>
                </a:solidFill>
                <a:latin typeface="Courier New" pitchFamily="34" charset="0"/>
                <a:ea typeface="Courier New" pitchFamily="34" charset="-122"/>
                <a:cs typeface="Courier New" pitchFamily="34" charset="-120"/>
              </a:rPr>
              <a:t>, xml))</a:t>
            </a:r>
            <a:endParaRPr lang="en-US" sz="700" dirty="0"/>
          </a:p>
        </p:txBody>
      </p:sp>
      <p:sp>
        <p:nvSpPr>
          <p:cNvPr id="9" name="Text 7"/>
          <p:cNvSpPr txBox="1"/>
          <p:nvPr/>
        </p:nvSpPr>
        <p:spPr>
          <a:xfrm>
            <a:off x="4681728" y="1143000"/>
            <a:ext cx="405079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run printed</a:t>
            </a:r>
            <a:endParaRPr lang="en-US" sz="1000" dirty="0"/>
          </a:p>
        </p:txBody>
      </p:sp>
      <p:sp>
        <p:nvSpPr>
          <p:cNvPr id="10" name="Shape 8"/>
          <p:cNvSpPr/>
          <p:nvPr/>
        </p:nvSpPr>
        <p:spPr>
          <a:xfrm>
            <a:off x="4681728" y="1417320"/>
            <a:ext cx="4050792" cy="1152144"/>
          </a:xfrm>
          <a:prstGeom prst="roundRect">
            <a:avLst>
              <a:gd name="adj" fmla="val 7937"/>
            </a:avLst>
          </a:prstGeom>
          <a:solidFill>
            <a:srgbClr val="23272E"/>
          </a:solidFill>
          <a:ln w="12700">
            <a:solidFill>
              <a:srgbClr val="23272E"/>
            </a:solidFill>
            <a:prstDash val="solid"/>
          </a:ln>
        </p:spPr>
      </p:sp>
      <p:sp>
        <p:nvSpPr>
          <p:cNvPr id="11" name="Text 9"/>
          <p:cNvSpPr txBox="1"/>
          <p:nvPr/>
        </p:nvSpPr>
        <p:spPr>
          <a:xfrm>
            <a:off x="4864608" y="1536192"/>
            <a:ext cx="3685032" cy="914400"/>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A1 None 24.0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B3 Times New Roman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C5 Calibri 11.0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AttributeError Style objects are immutable and cann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&lt;col width="20" customWidth="1" min="2" max="2" /&gt;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&lt;col hidden="1" width="13" customWidth="1" min="4" max="4" /&gt;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&lt;row r="5" ht="70" customHeight="1"&gt;</a:t>
            </a:r>
            <a:endParaRPr lang="en-US" sz="700" dirty="0"/>
          </a:p>
        </p:txBody>
      </p:sp>
      <p:sp>
        <p:nvSpPr>
          <p:cNvPr id="12" name="Shape 10"/>
          <p:cNvSpPr/>
          <p:nvPr/>
        </p:nvSpPr>
        <p:spPr>
          <a:xfrm>
            <a:off x="4681728" y="2706624"/>
            <a:ext cx="4050792" cy="1819656"/>
          </a:xfrm>
          <a:prstGeom prst="roundRect">
            <a:avLst>
              <a:gd name="adj" fmla="val 5025"/>
            </a:avLst>
          </a:prstGeom>
          <a:solidFill>
            <a:srgbClr val="F2ECE1"/>
          </a:solidFill>
          <a:ln w="12700">
            <a:solidFill>
              <a:srgbClr val="F2ECE1"/>
            </a:solidFill>
            <a:prstDash val="solid"/>
          </a:ln>
        </p:spPr>
      </p:sp>
      <p:sp>
        <p:nvSpPr>
          <p:cNvPr id="13" name="Text 11"/>
          <p:cNvSpPr txBox="1"/>
          <p:nvPr/>
        </p:nvSpPr>
        <p:spPr>
          <a:xfrm>
            <a:off x="4864608" y="2825496"/>
            <a:ext cx="368503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Font keeps only what it is given</a:t>
            </a:r>
            <a:endParaRPr lang="en-US" sz="1600" dirty="0"/>
          </a:p>
        </p:txBody>
      </p:sp>
      <p:sp>
        <p:nvSpPr>
          <p:cNvPr id="14" name="Text 12"/>
          <p:cNvSpPr txBox="1"/>
          <p:nvPr/>
        </p:nvSpPr>
        <p:spPr>
          <a:xfrm>
            <a:off x="4864608" y="3209544"/>
            <a:ext cx="3685032" cy="117957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Font(size=24, italic=True) writes no name, and the book's Calibri 11 holds only for cells never styled. A style cannot be changed in place; assign a new Font.</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style is a new object; a size lives in the sheet's dimensions.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Merge cells and freeze panes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merged range keeps one real cell; a frozen pane keeps the rows above and columns left</a:t>
            </a:r>
            <a:endParaRPr lang="en-US" sz="1300" dirty="0"/>
          </a:p>
        </p:txBody>
      </p:sp>
      <p:sp>
        <p:nvSpPr>
          <p:cNvPr id="6" name="Shape 4"/>
          <p:cNvSpPr/>
          <p:nvPr/>
        </p:nvSpPr>
        <p:spPr>
          <a:xfrm>
            <a:off x="548640" y="1828800"/>
            <a:ext cx="1280160" cy="960120"/>
          </a:xfrm>
          <a:prstGeom prst="roundRect">
            <a:avLst>
              <a:gd name="adj" fmla="val 7619"/>
            </a:avLst>
          </a:prstGeom>
          <a:solidFill>
            <a:srgbClr val="2F6D62"/>
          </a:solidFill>
          <a:ln w="15875">
            <a:solidFill>
              <a:srgbClr val="2F6D62"/>
            </a:solidFill>
            <a:prstDash val="solid"/>
          </a:ln>
        </p:spPr>
      </p:sp>
      <p:sp>
        <p:nvSpPr>
          <p:cNvPr id="7" name="Text 5"/>
          <p:cNvSpPr txBox="1"/>
          <p:nvPr/>
        </p:nvSpPr>
        <p:spPr>
          <a:xfrm>
            <a:off x="603504" y="2234794"/>
            <a:ext cx="1170432" cy="149047"/>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Individual cells</a:t>
            </a:r>
            <a:endParaRPr lang="en-US" sz="850" dirty="0"/>
          </a:p>
        </p:txBody>
      </p:sp>
      <p:sp>
        <p:nvSpPr>
          <p:cNvPr id="8" name="Shape 6"/>
          <p:cNvSpPr/>
          <p:nvPr/>
        </p:nvSpPr>
        <p:spPr>
          <a:xfrm>
            <a:off x="3200400" y="1828800"/>
            <a:ext cx="1280160" cy="960120"/>
          </a:xfrm>
          <a:prstGeom prst="roundRect">
            <a:avLst>
              <a:gd name="adj" fmla="val 7619"/>
            </a:avLst>
          </a:prstGeom>
          <a:solidFill>
            <a:srgbClr val="2F6D62"/>
          </a:solidFill>
          <a:ln w="15875">
            <a:solidFill>
              <a:srgbClr val="2F6D62"/>
            </a:solidFill>
            <a:prstDash val="solid"/>
          </a:ln>
        </p:spPr>
      </p:sp>
      <p:sp>
        <p:nvSpPr>
          <p:cNvPr id="9" name="Text 7"/>
          <p:cNvSpPr txBox="1"/>
          <p:nvPr/>
        </p:nvSpPr>
        <p:spPr>
          <a:xfrm>
            <a:off x="3255264" y="2104034"/>
            <a:ext cx="1170432" cy="41056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One merged cell, with the value of the top-left cell</a:t>
            </a:r>
            <a:endParaRPr lang="en-US" sz="850" dirty="0"/>
          </a:p>
        </p:txBody>
      </p:sp>
      <p:sp>
        <p:nvSpPr>
          <p:cNvPr id="10" name="Shape 8"/>
          <p:cNvSpPr/>
          <p:nvPr/>
        </p:nvSpPr>
        <p:spPr>
          <a:xfrm>
            <a:off x="1097280" y="1371600"/>
            <a:ext cx="182880" cy="182880"/>
          </a:xfrm>
          <a:prstGeom prst="ellipse">
            <a:avLst/>
          </a:prstGeom>
          <a:solidFill>
            <a:srgbClr val="2B2622"/>
          </a:solidFill>
          <a:ln w="15875">
            <a:solidFill>
              <a:srgbClr val="2B2622"/>
            </a:solidFill>
            <a:prstDash val="solid"/>
          </a:ln>
        </p:spPr>
      </p:sp>
      <p:sp>
        <p:nvSpPr>
          <p:cNvPr id="11" name="Shape 9"/>
          <p:cNvSpPr/>
          <p:nvPr/>
        </p:nvSpPr>
        <p:spPr>
          <a:xfrm>
            <a:off x="1188720" y="1554480"/>
            <a:ext cx="0" cy="274320"/>
          </a:xfrm>
          <a:prstGeom prst="line">
            <a:avLst/>
          </a:prstGeom>
          <a:noFill/>
          <a:ln w="15875">
            <a:solidFill>
              <a:srgbClr val="6E655C"/>
            </a:solidFill>
            <a:prstDash val="solid"/>
            <a:tailEnd type="triangle"/>
          </a:ln>
        </p:spPr>
      </p:sp>
      <p:sp>
        <p:nvSpPr>
          <p:cNvPr id="12" name="Shape 10"/>
          <p:cNvSpPr/>
          <p:nvPr/>
        </p:nvSpPr>
        <p:spPr>
          <a:xfrm>
            <a:off x="1828800" y="2011680"/>
            <a:ext cx="1371600" cy="0"/>
          </a:xfrm>
          <a:prstGeom prst="line">
            <a:avLst/>
          </a:prstGeom>
          <a:noFill/>
          <a:ln w="22225">
            <a:solidFill>
              <a:srgbClr val="D97A14"/>
            </a:solidFill>
            <a:prstDash val="solid"/>
            <a:tailEnd type="triangle"/>
          </a:ln>
        </p:spPr>
      </p:sp>
      <p:sp>
        <p:nvSpPr>
          <p:cNvPr id="13" name="Text 11"/>
          <p:cNvSpPr txBox="1"/>
          <p:nvPr/>
        </p:nvSpPr>
        <p:spPr>
          <a:xfrm>
            <a:off x="1874520" y="1597457"/>
            <a:ext cx="128016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merge_cells('A1:D3') discards the other values</a:t>
            </a:r>
            <a:endParaRPr lang="en-US" sz="800" dirty="0"/>
          </a:p>
        </p:txBody>
      </p:sp>
      <p:sp>
        <p:nvSpPr>
          <p:cNvPr id="14" name="Shape 12"/>
          <p:cNvSpPr/>
          <p:nvPr/>
        </p:nvSpPr>
        <p:spPr>
          <a:xfrm flipH="1">
            <a:off x="1828800" y="2468880"/>
            <a:ext cx="1371600" cy="0"/>
          </a:xfrm>
          <a:prstGeom prst="line">
            <a:avLst/>
          </a:prstGeom>
          <a:noFill/>
          <a:ln w="22225">
            <a:solidFill>
              <a:srgbClr val="2F6D62"/>
            </a:solidFill>
            <a:prstDash val="solid"/>
            <a:tailEnd type="triangle"/>
          </a:ln>
        </p:spPr>
      </p:sp>
      <p:sp>
        <p:nvSpPr>
          <p:cNvPr id="15" name="Text 13"/>
          <p:cNvSpPr txBox="1"/>
          <p:nvPr/>
        </p:nvSpPr>
        <p:spPr>
          <a:xfrm>
            <a:off x="1874520" y="2177186"/>
            <a:ext cx="12801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unmerge_cells('A1:D3') gives individual cells</a:t>
            </a:r>
            <a:endParaRPr lang="en-US" sz="800" dirty="0"/>
          </a:p>
        </p:txBody>
      </p:sp>
      <p:sp>
        <p:nvSpPr>
          <p:cNvPr id="16" name="Shape 14"/>
          <p:cNvSpPr/>
          <p:nvPr/>
        </p:nvSpPr>
        <p:spPr>
          <a:xfrm>
            <a:off x="3611880" y="2788920"/>
            <a:ext cx="0" cy="347472"/>
          </a:xfrm>
          <a:prstGeom prst="line">
            <a:avLst/>
          </a:prstGeom>
          <a:noFill/>
          <a:ln w="19050">
            <a:solidFill>
              <a:srgbClr val="2F6D62"/>
            </a:solidFill>
            <a:prstDash val="solid"/>
          </a:ln>
        </p:spPr>
      </p:sp>
      <p:sp>
        <p:nvSpPr>
          <p:cNvPr id="17" name="Shape 15"/>
          <p:cNvSpPr/>
          <p:nvPr/>
        </p:nvSpPr>
        <p:spPr>
          <a:xfrm>
            <a:off x="3611880" y="3136392"/>
            <a:ext cx="457200" cy="0"/>
          </a:xfrm>
          <a:prstGeom prst="line">
            <a:avLst/>
          </a:prstGeom>
          <a:noFill/>
          <a:ln w="19050">
            <a:solidFill>
              <a:srgbClr val="2F6D62"/>
            </a:solidFill>
            <a:prstDash val="solid"/>
          </a:ln>
        </p:spPr>
      </p:sp>
      <p:sp>
        <p:nvSpPr>
          <p:cNvPr id="18" name="Shape 16"/>
          <p:cNvSpPr/>
          <p:nvPr/>
        </p:nvSpPr>
        <p:spPr>
          <a:xfrm flipV="1">
            <a:off x="4069080" y="2788920"/>
            <a:ext cx="0" cy="347472"/>
          </a:xfrm>
          <a:prstGeom prst="line">
            <a:avLst/>
          </a:prstGeom>
          <a:noFill/>
          <a:ln w="19050">
            <a:solidFill>
              <a:srgbClr val="2F6D62"/>
            </a:solidFill>
            <a:prstDash val="solid"/>
            <a:tailEnd type="triangle"/>
          </a:ln>
        </p:spPr>
      </p:sp>
      <p:sp>
        <p:nvSpPr>
          <p:cNvPr id="19" name="Text 17"/>
          <p:cNvSpPr txBox="1"/>
          <p:nvPr/>
        </p:nvSpPr>
        <p:spPr>
          <a:xfrm>
            <a:off x="3172968" y="3172968"/>
            <a:ext cx="1335024" cy="264262"/>
          </a:xfrm>
          <a:prstGeom prst="rect">
            <a:avLst/>
          </a:prstGeom>
          <a:noFill/>
          <a:ln/>
        </p:spPr>
        <p:txBody>
          <a:bodyPr wrap="square" lIns="0" tIns="0" rIns="0" bIns="0" rtlCol="0" anchor="t"/>
          <a:lstStyle/>
          <a:p>
            <a:pPr algn="ctr" indent="0" marL="0">
              <a:buNone/>
            </a:pPr>
            <a:r>
              <a:rPr lang="en-US" sz="800" dirty="0">
                <a:solidFill>
                  <a:srgbClr val="2B2622"/>
                </a:solidFill>
                <a:latin typeface="Calibri" pitchFamily="34" charset="0"/>
                <a:ea typeface="Calibri" pitchFamily="34" charset="-122"/>
                <a:cs typeface="Calibri" pitchFamily="34" charset="-120"/>
              </a:rPr>
              <a:t>Assigning to a MergedCell value raises an error</a:t>
            </a:r>
            <a:endParaRPr lang="en-US" sz="800" dirty="0"/>
          </a:p>
        </p:txBody>
      </p:sp>
      <p:sp>
        <p:nvSpPr>
          <p:cNvPr id="20" name="Text 18"/>
          <p:cNvSpPr txBox="1"/>
          <p:nvPr/>
        </p:nvSpPr>
        <p:spPr>
          <a:xfrm>
            <a:off x="457200" y="3730752"/>
            <a:ext cx="41148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AMergedRange - LifeCycle pattern, 25 of 26 words grounded in the chapter's text</a:t>
            </a:r>
            <a:endParaRPr lang="en-US" sz="850" dirty="0"/>
          </a:p>
        </p:txBody>
      </p:sp>
      <p:sp>
        <p:nvSpPr>
          <p:cNvPr id="21" name="Text 19"/>
          <p:cNvSpPr txBox="1"/>
          <p:nvPr/>
        </p:nvSpPr>
        <p:spPr>
          <a:xfrm>
            <a:off x="470916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mergeAndFreeze_v1_0_0.py, lines 1 to 14 of 14</a:t>
            </a:r>
            <a:endParaRPr lang="en-US" sz="1000" dirty="0"/>
          </a:p>
        </p:txBody>
      </p:sp>
      <p:sp>
        <p:nvSpPr>
          <p:cNvPr id="22" name="Shape 20"/>
          <p:cNvSpPr/>
          <p:nvPr/>
        </p:nvSpPr>
        <p:spPr>
          <a:xfrm>
            <a:off x="4709160" y="1417320"/>
            <a:ext cx="4023360" cy="2935224"/>
          </a:xfrm>
          <a:prstGeom prst="roundRect">
            <a:avLst>
              <a:gd name="adj" fmla="val 3115"/>
            </a:avLst>
          </a:prstGeom>
          <a:solidFill>
            <a:srgbClr val="23272E"/>
          </a:solidFill>
          <a:ln w="12700">
            <a:solidFill>
              <a:srgbClr val="23272E"/>
            </a:solidFill>
            <a:prstDash val="solid"/>
          </a:ln>
        </p:spPr>
      </p:sp>
      <p:sp>
        <p:nvSpPr>
          <p:cNvPr id="23" name="Text 21"/>
          <p:cNvSpPr txBox="1"/>
          <p:nvPr/>
        </p:nvSpPr>
        <p:spPr>
          <a:xfrm>
            <a:off x="4892040" y="1536192"/>
            <a:ext cx="3657600" cy="269748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openpyxl.Workbook().active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sheet.merge_cells(</a:t>
            </a:r>
            <a:r>
              <a:rPr lang="en-US" sz="700" dirty="0">
                <a:solidFill>
                  <a:srgbClr val="9ECBFF"/>
                </a:solidFill>
                <a:latin typeface="Courier New" pitchFamily="34" charset="0"/>
                <a:ea typeface="Courier New" pitchFamily="34" charset="-122"/>
                <a:cs typeface="Courier New" pitchFamily="34" charset="-120"/>
              </a:rPr>
              <a:t>'F1:I3'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t>
            </a:r>
            <a:r>
              <a:rPr lang="en-US" sz="700" dirty="0">
                <a:solidFill>
                  <a:srgbClr val="9ECBFF"/>
                </a:solidFill>
                <a:latin typeface="Courier New" pitchFamily="34" charset="0"/>
                <a:ea typeface="Courier New" pitchFamily="34" charset="-122"/>
                <a:cs typeface="Courier New" pitchFamily="34" charset="-120"/>
              </a:rPr>
              <a:t>'F1'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'Twelve cells merged together.'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print(*sheet.merged_cells.ranges, type(sheet[</a:t>
            </a:r>
            <a:r>
              <a:rPr lang="en-US" sz="700" dirty="0">
                <a:solidFill>
                  <a:srgbClr val="9ECBFF"/>
                </a:solidFill>
                <a:latin typeface="Courier New" pitchFamily="34" charset="0"/>
                <a:ea typeface="Courier New" pitchFamily="34" charset="-122"/>
                <a:cs typeface="Courier New" pitchFamily="34" charset="-120"/>
              </a:rPr>
              <a:t>'G2'</a:t>
            </a:r>
            <a:r>
              <a:rPr lang="en-US" sz="700" dirty="0">
                <a:solidFill>
                  <a:srgbClr val="E6EDF3"/>
                </a:solidFill>
                <a:latin typeface="Courier New" pitchFamily="34" charset="0"/>
                <a:ea typeface="Courier New" pitchFamily="34" charset="-122"/>
                <a:cs typeface="Courier New" pitchFamily="34" charset="-120"/>
              </a:rPr>
              <a:t>]).__name__)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sheet[</a:t>
            </a:r>
            <a:r>
              <a:rPr lang="en-US" sz="700" dirty="0">
                <a:solidFill>
                  <a:srgbClr val="9ECBFF"/>
                </a:solidFill>
                <a:latin typeface="Courier New" pitchFamily="34" charset="0"/>
                <a:ea typeface="Courier New" pitchFamily="34" charset="-122"/>
                <a:cs typeface="Courier New" pitchFamily="34" charset="-120"/>
              </a:rPr>
              <a:t>'G2'</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AttributeError as e: print(e)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sheet.unmerge_cells(</a:t>
            </a:r>
            <a:r>
              <a:rPr lang="en-US" sz="700" dirty="0">
                <a:solidFill>
                  <a:srgbClr val="9ECBFF"/>
                </a:solidFill>
                <a:latin typeface="Courier New" pitchFamily="34" charset="0"/>
                <a:ea typeface="Courier New" pitchFamily="34" charset="-122"/>
                <a:cs typeface="Courier New" pitchFamily="34" charset="-120"/>
              </a:rPr>
              <a:t>'F1:I3'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print(len(sheet.merged_cells.ranges), type(sheet[</a:t>
            </a:r>
            <a:r>
              <a:rPr lang="en-US" sz="700" dirty="0">
                <a:solidFill>
                  <a:srgbClr val="9ECBFF"/>
                </a:solidFill>
                <a:latin typeface="Courier New" pitchFamily="34" charset="0"/>
                <a:ea typeface="Courier New" pitchFamily="34" charset="-122"/>
                <a:cs typeface="Courier New" pitchFamily="34" charset="-120"/>
              </a:rPr>
              <a:t>'G2'</a:t>
            </a:r>
            <a:r>
              <a:rPr lang="en-US" sz="700" dirty="0">
                <a:solidFill>
                  <a:srgbClr val="E6EDF3"/>
                </a:solidFill>
                <a:latin typeface="Courier New" pitchFamily="34" charset="0"/>
                <a:ea typeface="Courier New" pitchFamily="34" charset="-122"/>
                <a:cs typeface="Courier New" pitchFamily="34" charset="-120"/>
              </a:rPr>
              <a:t>]).__name__)</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setting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ws = openpyxl.Workbook().active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ws.freeze_panes = setting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pane = ws.sheet_view.pane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print(setting, pane.xSplit, pane.ySplit)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F1:I3 MergedCell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'MergedCell' object attribute 'value' is read-only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Cell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A2 None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B1 1.0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C1 2.0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C2 2.0 1.0</a:t>
            </a:r>
            <a:endParaRPr lang="en-US" sz="700" dirty="0"/>
          </a:p>
        </p:txBody>
      </p:sp>
      <p:sp>
        <p:nvSpPr>
          <p:cNvPr id="24" name="Text 22"/>
          <p:cNvSpPr txBox="1"/>
          <p:nvPr/>
        </p:nvSpPr>
        <p:spPr>
          <a:xfrm>
            <a:off x="457200" y="4087368"/>
            <a:ext cx="4114800" cy="365760"/>
          </a:xfrm>
          <a:prstGeom prst="rect">
            <a:avLst/>
          </a:prstGeom>
          <a:noFill/>
          <a:ln/>
        </p:spPr>
        <p:txBody>
          <a:bodyPr wrap="square" lIns="0" tIns="0" rIns="0" bIns="0" rtlCol="0" anchor="t"/>
          <a:lstStyle/>
          <a:p>
            <a:pPr indent="0" marL="0">
              <a:buNone/>
            </a:pPr>
            <a:r>
              <a:rPr lang="en-US" sz="950" i="1" dirty="0">
                <a:solidFill>
                  <a:srgbClr val="6E655C"/>
                </a:solidFill>
                <a:latin typeface="Calibri" pitchFamily="34" charset="0"/>
                <a:ea typeface="Calibri" pitchFamily="34" charset="-122"/>
                <a:cs typeface="Calibri" pitchFamily="34" charset="-120"/>
              </a:rPr>
              <a:t>freeze_panes = 'A2' freezes row 1, 'B1' column A, 'C2' row 1 and columns A, B. It does not move the view.</a:t>
            </a:r>
            <a:endParaRPr lang="en-US" sz="9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merged range keeps one real cell; freeze_panes freezes above and left.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Charts: Reference, Series, BarChart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chart is built from a rectangle of cells and anchored to a cell</a:t>
            </a:r>
            <a:endParaRPr lang="en-US" sz="1300" dirty="0"/>
          </a:p>
        </p:txBody>
      </p:sp>
      <p:sp>
        <p:nvSpPr>
          <p:cNvPr id="6" name="Text 4"/>
          <p:cNvSpPr txBox="1"/>
          <p:nvPr/>
        </p:nvSpPr>
        <p:spPr>
          <a:xfrm>
            <a:off x="457200" y="1143000"/>
            <a:ext cx="583387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barChart_v1_0_0.py, lines 14 to 26 of 32 - Python 3.14.6</a:t>
            </a:r>
            <a:endParaRPr lang="en-US" sz="1000" dirty="0"/>
          </a:p>
        </p:txBody>
      </p:sp>
      <p:sp>
        <p:nvSpPr>
          <p:cNvPr id="7" name="Shape 5"/>
          <p:cNvSpPr/>
          <p:nvPr/>
        </p:nvSpPr>
        <p:spPr>
          <a:xfrm>
            <a:off x="457200" y="1417320"/>
            <a:ext cx="5833872" cy="1911096"/>
          </a:xfrm>
          <a:prstGeom prst="roundRect">
            <a:avLst>
              <a:gd name="adj" fmla="val 4785"/>
            </a:avLst>
          </a:prstGeom>
          <a:solidFill>
            <a:srgbClr val="23272E"/>
          </a:solidFill>
          <a:ln w="12700">
            <a:solidFill>
              <a:srgbClr val="23272E"/>
            </a:solidFill>
            <a:prstDash val="solid"/>
          </a:ln>
        </p:spPr>
      </p:sp>
      <p:sp>
        <p:nvSpPr>
          <p:cNvPr id="8" name="Text 6"/>
          <p:cNvSpPr txBox="1"/>
          <p:nvPr/>
        </p:nvSpPr>
        <p:spPr>
          <a:xfrm>
            <a:off x="640080" y="1536192"/>
            <a:ext cx="5468112" cy="167335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openpyxl, io, zipfile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openpyxl.Workbook()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wb.active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Create some data in column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str(i)] = i * 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ref_obj = openpyxl.chart.Reference(sheet,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min_col, min_row, max_col, max_row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print(ref_obj)</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series_obj = openpyxl.chart.Series(ref_obj, title=</a:t>
            </a:r>
            <a:r>
              <a:rPr lang="en-US" sz="700" dirty="0">
                <a:solidFill>
                  <a:srgbClr val="9ECBFF"/>
                </a:solidFill>
                <a:latin typeface="Courier New" pitchFamily="34" charset="0"/>
                <a:ea typeface="Courier New" pitchFamily="34" charset="-122"/>
                <a:cs typeface="Courier New" pitchFamily="34" charset="-120"/>
              </a:rPr>
              <a:t>'First series'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chart_obj = openpyxl.chart.BarChart()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chart_obj.title = </a:t>
            </a:r>
            <a:r>
              <a:rPr lang="en-US" sz="700" dirty="0">
                <a:solidFill>
                  <a:srgbClr val="9ECBFF"/>
                </a:solidFill>
                <a:latin typeface="Courier New" pitchFamily="34" charset="0"/>
                <a:ea typeface="Courier New" pitchFamily="34" charset="-122"/>
                <a:cs typeface="Courier New" pitchFamily="34" charset="-120"/>
              </a:rPr>
              <a:t>'My Chart'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chart_obj.append(series_obj)</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sheet.add_chart(chart_obj, </a:t>
            </a:r>
            <a:r>
              <a:rPr lang="en-US" sz="700" dirty="0">
                <a:solidFill>
                  <a:srgbClr val="9ECBFF"/>
                </a:solidFill>
                <a:latin typeface="Courier New" pitchFamily="34" charset="0"/>
                <a:ea typeface="Courier New" pitchFamily="34" charset="-122"/>
                <a:cs typeface="Courier New" pitchFamily="34" charset="-120"/>
              </a:rPr>
              <a:t>'C5'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wb.save(</a:t>
            </a:r>
            <a:r>
              <a:rPr lang="en-US" sz="700" dirty="0">
                <a:solidFill>
                  <a:srgbClr val="9ECBFF"/>
                </a:solidFill>
                <a:latin typeface="Courier New" pitchFamily="34" charset="0"/>
                <a:ea typeface="Courier New" pitchFamily="34" charset="-122"/>
                <a:cs typeface="Courier New" pitchFamily="34" charset="-120"/>
              </a:rPr>
              <a:t>'sampleChart3.xlsx'</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457200" y="3364992"/>
            <a:ext cx="54955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what the whole run printed</a:t>
            </a:r>
            <a:endParaRPr lang="en-US" sz="1000" dirty="0"/>
          </a:p>
        </p:txBody>
      </p:sp>
      <p:sp>
        <p:nvSpPr>
          <p:cNvPr id="10" name="Shape 8"/>
          <p:cNvSpPr/>
          <p:nvPr/>
        </p:nvSpPr>
        <p:spPr>
          <a:xfrm>
            <a:off x="457200" y="3639312"/>
            <a:ext cx="5495544" cy="896112"/>
          </a:xfrm>
          <a:prstGeom prst="roundRect">
            <a:avLst>
              <a:gd name="adj" fmla="val 10204"/>
            </a:avLst>
          </a:prstGeom>
          <a:solidFill>
            <a:srgbClr val="23272E"/>
          </a:solidFill>
          <a:ln w="12700">
            <a:solidFill>
              <a:srgbClr val="23272E"/>
            </a:solidFill>
            <a:prstDash val="solid"/>
          </a:ln>
        </p:spPr>
      </p:sp>
      <p:sp>
        <p:nvSpPr>
          <p:cNvPr id="11" name="Text 9"/>
          <p:cNvSpPr txBox="1"/>
          <p:nvPr/>
        </p:nvSpPr>
        <p:spPr>
          <a:xfrm>
            <a:off x="640080" y="3758184"/>
            <a:ext cx="5129784" cy="658368"/>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'Sheet'!$A$1:$A$10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['xl/drawings/drawing1.xml', 'xl/drawings/_rels/drawing1.xml.rels', 'xl/charts/chart1.xml']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'Sheet'!$B$1:$B$10 'Sheet'!$A$1</a:t>
            </a:r>
            <a:endParaRPr lang="en-US" sz="700" dirty="0"/>
          </a:p>
        </p:txBody>
      </p:sp>
      <p:sp>
        <p:nvSpPr>
          <p:cNvPr id="12" name="Shape 10"/>
          <p:cNvSpPr/>
          <p:nvPr/>
        </p:nvSpPr>
        <p:spPr>
          <a:xfrm>
            <a:off x="6428232" y="1417320"/>
            <a:ext cx="2304288" cy="3108960"/>
          </a:xfrm>
          <a:prstGeom prst="roundRect">
            <a:avLst>
              <a:gd name="adj" fmla="val 3968"/>
            </a:avLst>
          </a:prstGeom>
          <a:solidFill>
            <a:srgbClr val="F2ECE1"/>
          </a:solidFill>
          <a:ln w="12700">
            <a:solidFill>
              <a:srgbClr val="F2ECE1"/>
            </a:solidFill>
            <a:prstDash val="solid"/>
          </a:ln>
        </p:spPr>
      </p:sp>
      <p:sp>
        <p:nvSpPr>
          <p:cNvPr id="13" name="Text 11"/>
          <p:cNvSpPr txBox="1"/>
          <p:nvPr/>
        </p:nvSpPr>
        <p:spPr>
          <a:xfrm>
            <a:off x="6611112" y="1536192"/>
            <a:ext cx="193852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Column first</a:t>
            </a:r>
            <a:endParaRPr lang="en-US" sz="1600" dirty="0"/>
          </a:p>
        </p:txBody>
      </p:sp>
      <p:sp>
        <p:nvSpPr>
          <p:cNvPr id="14" name="Text 12"/>
          <p:cNvSpPr txBox="1"/>
          <p:nvPr/>
        </p:nvSpPr>
        <p:spPr>
          <a:xfrm>
            <a:off x="6611112" y="1920240"/>
            <a:ext cx="1938528" cy="2468880"/>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Reference(sheet, 2, 1, 2, 10) is B1:B10. The signature is min_col, min_row, max_col, max_row; the chapter's sentence that the row comes first has it backwards.</a:t>
            </a:r>
            <a:endParaRPr lang="en-US" sz="10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Reference is column first: min_col, min_row, max_col, max_row.</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bar chart in five steps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five steps of the chapter, then the ten cells they chart, drawn here as a native chart</a:t>
            </a:r>
            <a:endParaRPr lang="en-US" sz="1300" dirty="0"/>
          </a:p>
        </p:txBody>
      </p:sp>
      <p:sp>
        <p:nvSpPr>
          <p:cNvPr id="6" name="Shape 4"/>
          <p:cNvSpPr/>
          <p:nvPr/>
        </p:nvSpPr>
        <p:spPr>
          <a:xfrm>
            <a:off x="457200" y="1355141"/>
            <a:ext cx="411480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521208" y="149138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Reference(sheet, min_col, min_row, max_col, max_row)</a:t>
            </a:r>
            <a:endParaRPr lang="en-US" sz="850" dirty="0"/>
          </a:p>
        </p:txBody>
      </p:sp>
      <p:sp>
        <p:nvSpPr>
          <p:cNvPr id="8" name="Shape 6"/>
          <p:cNvSpPr/>
          <p:nvPr/>
        </p:nvSpPr>
        <p:spPr>
          <a:xfrm>
            <a:off x="457200" y="1836115"/>
            <a:ext cx="4114800" cy="420624"/>
          </a:xfrm>
          <a:prstGeom prst="roundRect">
            <a:avLst>
              <a:gd name="adj" fmla="val 17391"/>
            </a:avLst>
          </a:prstGeom>
          <a:solidFill>
            <a:srgbClr val="F2ECE1"/>
          </a:solidFill>
          <a:ln w="15875">
            <a:solidFill>
              <a:srgbClr val="2F6D62"/>
            </a:solidFill>
            <a:prstDash val="solid"/>
          </a:ln>
        </p:spPr>
      </p:sp>
      <p:sp>
        <p:nvSpPr>
          <p:cNvPr id="9" name="Text 7"/>
          <p:cNvSpPr txBox="1"/>
          <p:nvPr/>
        </p:nvSpPr>
        <p:spPr>
          <a:xfrm>
            <a:off x="521208" y="197144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Series(ref_obj, title='First series') from the Reference</a:t>
            </a:r>
            <a:endParaRPr lang="en-US" sz="850" dirty="0"/>
          </a:p>
        </p:txBody>
      </p:sp>
      <p:sp>
        <p:nvSpPr>
          <p:cNvPr id="10" name="Shape 8"/>
          <p:cNvSpPr/>
          <p:nvPr/>
        </p:nvSpPr>
        <p:spPr>
          <a:xfrm>
            <a:off x="457200" y="2316175"/>
            <a:ext cx="411480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521208" y="245150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BarChart() creates the Chart object; set its title</a:t>
            </a:r>
            <a:endParaRPr lang="en-US" sz="850" dirty="0"/>
          </a:p>
        </p:txBody>
      </p:sp>
      <p:sp>
        <p:nvSpPr>
          <p:cNvPr id="12" name="Shape 10"/>
          <p:cNvSpPr/>
          <p:nvPr/>
        </p:nvSpPr>
        <p:spPr>
          <a:xfrm>
            <a:off x="457200" y="2796235"/>
            <a:ext cx="4114800" cy="420624"/>
          </a:xfrm>
          <a:prstGeom prst="roundRect">
            <a:avLst>
              <a:gd name="adj" fmla="val 17391"/>
            </a:avLst>
          </a:prstGeom>
          <a:solidFill>
            <a:srgbClr val="F2ECE1"/>
          </a:solidFill>
          <a:ln w="15875">
            <a:solidFill>
              <a:srgbClr val="2F6D62"/>
            </a:solidFill>
            <a:prstDash val="solid"/>
          </a:ln>
        </p:spPr>
      </p:sp>
      <p:sp>
        <p:nvSpPr>
          <p:cNvPr id="13" name="Text 11"/>
          <p:cNvSpPr txBox="1"/>
          <p:nvPr/>
        </p:nvSpPr>
        <p:spPr>
          <a:xfrm>
            <a:off x="521208" y="293156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chart_obj.append(series_obj) adds the Series</a:t>
            </a:r>
            <a:endParaRPr lang="en-US" sz="850" dirty="0"/>
          </a:p>
        </p:txBody>
      </p:sp>
      <p:sp>
        <p:nvSpPr>
          <p:cNvPr id="14" name="Shape 12"/>
          <p:cNvSpPr/>
          <p:nvPr/>
        </p:nvSpPr>
        <p:spPr>
          <a:xfrm>
            <a:off x="457200" y="3276295"/>
            <a:ext cx="411480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521208" y="341162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sheet.add_chart(chart_obj, 'C5') adds the Chart to the sheet</a:t>
            </a:r>
            <a:endParaRPr lang="en-US" sz="850" dirty="0"/>
          </a:p>
        </p:txBody>
      </p:sp>
      <p:sp>
        <p:nvSpPr>
          <p:cNvPr id="16" name="Shape 14"/>
          <p:cNvSpPr/>
          <p:nvPr/>
        </p:nvSpPr>
        <p:spPr>
          <a:xfrm>
            <a:off x="457200" y="3755441"/>
            <a:ext cx="4114800"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521208" y="3891686"/>
            <a:ext cx="3986784" cy="149047"/>
          </a:xfrm>
          <a:prstGeom prst="rect">
            <a:avLst/>
          </a:prstGeom>
          <a:noFill/>
          <a:ln/>
        </p:spPr>
        <p:txBody>
          <a:bodyPr wrap="square" lIns="0" tIns="0" rIns="0" bIns="0" rtlCol="0" anchor="ctr"/>
          <a:lstStyle/>
          <a:p>
            <a:pPr algn="ctr" indent="0" marL="0">
              <a:buNone/>
            </a:pPr>
            <a:r>
              <a:rPr lang="en-US" sz="850" dirty="0">
                <a:solidFill>
                  <a:srgbClr val="2B2622"/>
                </a:solidFill>
                <a:latin typeface="Calibri" pitchFamily="34" charset="0"/>
                <a:ea typeface="Calibri" pitchFamily="34" charset="-122"/>
                <a:cs typeface="Calibri" pitchFamily="34" charset="-120"/>
              </a:rPr>
              <a:t>save() writes the chart into xl/charts/chart1.xml</a:t>
            </a:r>
            <a:endParaRPr lang="en-US" sz="850" dirty="0"/>
          </a:p>
        </p:txBody>
      </p:sp>
      <p:sp>
        <p:nvSpPr>
          <p:cNvPr id="18" name="Shape 16"/>
          <p:cNvSpPr/>
          <p:nvPr/>
        </p:nvSpPr>
        <p:spPr>
          <a:xfrm>
            <a:off x="4892040" y="1474927"/>
            <a:ext cx="182880" cy="182880"/>
          </a:xfrm>
          <a:prstGeom prst="ellipse">
            <a:avLst/>
          </a:prstGeom>
          <a:solidFill>
            <a:srgbClr val="2B2622"/>
          </a:solidFill>
          <a:ln w="15875">
            <a:solidFill>
              <a:srgbClr val="2B2622"/>
            </a:solidFill>
            <a:prstDash val="solid"/>
          </a:ln>
        </p:spPr>
      </p:sp>
      <p:sp>
        <p:nvSpPr>
          <p:cNvPr id="19" name="Shape 17"/>
          <p:cNvSpPr/>
          <p:nvPr/>
        </p:nvSpPr>
        <p:spPr>
          <a:xfrm>
            <a:off x="4855464" y="3837737"/>
            <a:ext cx="256032" cy="256032"/>
          </a:xfrm>
          <a:prstGeom prst="ellipse">
            <a:avLst/>
          </a:prstGeom>
          <a:solidFill>
            <a:srgbClr val="FFFFFF"/>
          </a:solidFill>
          <a:ln w="25400">
            <a:solidFill>
              <a:srgbClr val="2B2622"/>
            </a:solidFill>
            <a:prstDash val="solid"/>
          </a:ln>
        </p:spPr>
      </p:sp>
      <p:sp>
        <p:nvSpPr>
          <p:cNvPr id="20" name="Shape 18"/>
          <p:cNvSpPr/>
          <p:nvPr/>
        </p:nvSpPr>
        <p:spPr>
          <a:xfrm>
            <a:off x="4910328" y="3892601"/>
            <a:ext cx="146304" cy="146304"/>
          </a:xfrm>
          <a:prstGeom prst="ellipse">
            <a:avLst/>
          </a:prstGeom>
          <a:solidFill>
            <a:srgbClr val="2B2622"/>
          </a:solidFill>
          <a:ln w="15875">
            <a:solidFill>
              <a:srgbClr val="2B2622"/>
            </a:solidFill>
            <a:prstDash val="solid"/>
          </a:ln>
        </p:spPr>
      </p:sp>
      <p:sp>
        <p:nvSpPr>
          <p:cNvPr id="21" name="Shape 19"/>
          <p:cNvSpPr/>
          <p:nvPr/>
        </p:nvSpPr>
        <p:spPr>
          <a:xfrm flipH="1" flipV="1">
            <a:off x="4572000" y="1565453"/>
            <a:ext cx="320040" cy="914"/>
          </a:xfrm>
          <a:prstGeom prst="line">
            <a:avLst/>
          </a:prstGeom>
          <a:noFill/>
          <a:ln w="15875">
            <a:solidFill>
              <a:srgbClr val="6E655C"/>
            </a:solidFill>
            <a:prstDash val="solid"/>
            <a:tailEnd type="triangle"/>
          </a:ln>
        </p:spPr>
      </p:sp>
      <p:sp>
        <p:nvSpPr>
          <p:cNvPr id="22" name="Shape 20"/>
          <p:cNvSpPr/>
          <p:nvPr/>
        </p:nvSpPr>
        <p:spPr>
          <a:xfrm>
            <a:off x="2514600" y="1775765"/>
            <a:ext cx="0" cy="60350"/>
          </a:xfrm>
          <a:prstGeom prst="line">
            <a:avLst/>
          </a:prstGeom>
          <a:noFill/>
          <a:ln w="15875">
            <a:solidFill>
              <a:srgbClr val="6E655C"/>
            </a:solidFill>
            <a:prstDash val="solid"/>
            <a:tailEnd type="triangle"/>
          </a:ln>
        </p:spPr>
      </p:sp>
      <p:sp>
        <p:nvSpPr>
          <p:cNvPr id="23" name="Shape 21"/>
          <p:cNvSpPr/>
          <p:nvPr/>
        </p:nvSpPr>
        <p:spPr>
          <a:xfrm>
            <a:off x="2514600" y="2256739"/>
            <a:ext cx="0" cy="59436"/>
          </a:xfrm>
          <a:prstGeom prst="line">
            <a:avLst/>
          </a:prstGeom>
          <a:noFill/>
          <a:ln w="15875">
            <a:solidFill>
              <a:srgbClr val="6E655C"/>
            </a:solidFill>
            <a:prstDash val="solid"/>
            <a:tailEnd type="triangle"/>
          </a:ln>
        </p:spPr>
      </p:sp>
      <p:sp>
        <p:nvSpPr>
          <p:cNvPr id="24" name="Shape 22"/>
          <p:cNvSpPr/>
          <p:nvPr/>
        </p:nvSpPr>
        <p:spPr>
          <a:xfrm>
            <a:off x="2514600" y="2736799"/>
            <a:ext cx="0" cy="59436"/>
          </a:xfrm>
          <a:prstGeom prst="line">
            <a:avLst/>
          </a:prstGeom>
          <a:noFill/>
          <a:ln w="15875">
            <a:solidFill>
              <a:srgbClr val="6E655C"/>
            </a:solidFill>
            <a:prstDash val="solid"/>
            <a:tailEnd type="triangle"/>
          </a:ln>
        </p:spPr>
      </p:sp>
      <p:sp>
        <p:nvSpPr>
          <p:cNvPr id="25" name="Shape 23"/>
          <p:cNvSpPr/>
          <p:nvPr/>
        </p:nvSpPr>
        <p:spPr>
          <a:xfrm>
            <a:off x="2514600" y="3216859"/>
            <a:ext cx="0" cy="59436"/>
          </a:xfrm>
          <a:prstGeom prst="line">
            <a:avLst/>
          </a:prstGeom>
          <a:noFill/>
          <a:ln w="15875">
            <a:solidFill>
              <a:srgbClr val="6E655C"/>
            </a:solidFill>
            <a:prstDash val="solid"/>
            <a:tailEnd type="triangle"/>
          </a:ln>
        </p:spPr>
      </p:sp>
      <p:sp>
        <p:nvSpPr>
          <p:cNvPr id="26" name="Shape 24"/>
          <p:cNvSpPr/>
          <p:nvPr/>
        </p:nvSpPr>
        <p:spPr>
          <a:xfrm>
            <a:off x="2514600" y="3696919"/>
            <a:ext cx="0" cy="58522"/>
          </a:xfrm>
          <a:prstGeom prst="line">
            <a:avLst/>
          </a:prstGeom>
          <a:noFill/>
          <a:ln w="15875">
            <a:solidFill>
              <a:srgbClr val="6E655C"/>
            </a:solidFill>
            <a:prstDash val="solid"/>
            <a:tailEnd type="triangle"/>
          </a:ln>
        </p:spPr>
      </p:sp>
      <p:sp>
        <p:nvSpPr>
          <p:cNvPr id="27" name="Shape 25"/>
          <p:cNvSpPr/>
          <p:nvPr/>
        </p:nvSpPr>
        <p:spPr>
          <a:xfrm>
            <a:off x="4572000" y="3966667"/>
            <a:ext cx="283464" cy="0"/>
          </a:xfrm>
          <a:prstGeom prst="line">
            <a:avLst/>
          </a:prstGeom>
          <a:noFill/>
          <a:ln w="15875">
            <a:solidFill>
              <a:srgbClr val="6E655C"/>
            </a:solidFill>
            <a:prstDash val="solid"/>
            <a:tailEnd type="triangle"/>
          </a:ln>
        </p:spPr>
      </p:sp>
      <p:sp>
        <p:nvSpPr>
          <p:cNvPr id="28" name="Text 26"/>
          <p:cNvSpPr txBox="1"/>
          <p:nvPr/>
        </p:nvSpPr>
        <p:spPr>
          <a:xfrm>
            <a:off x="457200" y="4233672"/>
            <a:ext cx="47548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ABarChartInFiveSteps - Workflow pattern, 45 of 47 words grounded in the chapter's text</a:t>
            </a:r>
            <a:endParaRPr lang="en-US" sz="850" dirty="0"/>
          </a:p>
        </p:txBody>
      </p:sp>
      <p:graphicFrame>
        <p:nvGraphicFramePr>
          <p:cNvPr id="29" name="Chart 0" descr=""/>
          <p:cNvGraphicFramePr/>
          <p:nvPr/>
        </p:nvGraphicFramePr>
        <p:xfrm>
          <a:off x="5394960" y="1325880"/>
          <a:ext cx="3291840" cy="1874520"/>
        </p:xfrm>
        <a:graphic xmlns:a="http://schemas.openxmlformats.org/drawingml/2006/main">
          <a:graphicData uri="http://schemas.openxmlformats.org/drawingml/2006/chart">
            <c:chart xmlns:c="http://schemas.openxmlformats.org/drawingml/2006/chart" r:id="rId1"/>
          </a:graphicData>
        </a:graphic>
      </p:graphicFrame>
      <p:sp>
        <p:nvSpPr>
          <p:cNvPr id="30" name="Shape 27"/>
          <p:cNvSpPr/>
          <p:nvPr/>
        </p:nvSpPr>
        <p:spPr>
          <a:xfrm>
            <a:off x="5394960" y="3291840"/>
            <a:ext cx="3291840" cy="1234440"/>
          </a:xfrm>
          <a:prstGeom prst="roundRect">
            <a:avLst>
              <a:gd name="adj" fmla="val 7407"/>
            </a:avLst>
          </a:prstGeom>
          <a:solidFill>
            <a:srgbClr val="F2ECE1"/>
          </a:solidFill>
          <a:ln w="12700">
            <a:solidFill>
              <a:srgbClr val="F2ECE1"/>
            </a:solidFill>
            <a:prstDash val="solid"/>
          </a:ln>
        </p:spPr>
      </p:sp>
      <p:sp>
        <p:nvSpPr>
          <p:cNvPr id="31" name="Text 28"/>
          <p:cNvSpPr txBox="1"/>
          <p:nvPr/>
        </p:nvSpPr>
        <p:spPr>
          <a:xfrm>
            <a:off x="5577840" y="3410712"/>
            <a:ext cx="29260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Saved as XML</a:t>
            </a:r>
            <a:endParaRPr lang="en-US" sz="1600" dirty="0"/>
          </a:p>
        </p:txBody>
      </p:sp>
      <p:sp>
        <p:nvSpPr>
          <p:cNvPr id="32" name="Text 29"/>
          <p:cNvSpPr txBox="1"/>
          <p:nvPr/>
        </p:nvSpPr>
        <p:spPr>
          <a:xfrm>
            <a:off x="5577840" y="3794760"/>
            <a:ext cx="2926080" cy="5943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Saved as xl/charts/chart1.xml with a drawing part that anchors it. C5 is column index 2 and row index 4: the file counts from zero.</a:t>
            </a:r>
            <a:endParaRPr lang="en-US" sz="9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steps: Reference, Series, chart, append, add_chart.</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programs: a table and blank rows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multiplication table, and blank rows inserted into a sheet</a:t>
            </a:r>
            <a:endParaRPr lang="en-US" sz="1300" dirty="0"/>
          </a:p>
        </p:txBody>
      </p:sp>
      <p:sp>
        <p:nvSpPr>
          <p:cNvPr id="6" name="Text 4"/>
          <p:cNvSpPr txBox="1"/>
          <p:nvPr/>
        </p:nvSpPr>
        <p:spPr>
          <a:xfrm>
            <a:off x="457200" y="1143000"/>
            <a:ext cx="560527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multiplicationTable_v1_0_0.py, lines 22 to 26 of 30 - Python 3.14.6</a:t>
            </a:r>
            <a:endParaRPr lang="en-US" sz="1000" dirty="0"/>
          </a:p>
        </p:txBody>
      </p:sp>
      <p:sp>
        <p:nvSpPr>
          <p:cNvPr id="7" name="Shape 5"/>
          <p:cNvSpPr/>
          <p:nvPr/>
        </p:nvSpPr>
        <p:spPr>
          <a:xfrm>
            <a:off x="457200" y="1417320"/>
            <a:ext cx="5605272" cy="1408176"/>
          </a:xfrm>
          <a:prstGeom prst="roundRect">
            <a:avLst>
              <a:gd name="adj" fmla="val 6494"/>
            </a:avLst>
          </a:prstGeom>
          <a:solidFill>
            <a:srgbClr val="23272E"/>
          </a:solidFill>
          <a:ln w="12700">
            <a:solidFill>
              <a:srgbClr val="23272E"/>
            </a:solidFill>
            <a:prstDash val="solid"/>
          </a:ln>
        </p:spPr>
      </p:sp>
      <p:sp>
        <p:nvSpPr>
          <p:cNvPr id="8" name="Text 6"/>
          <p:cNvSpPr txBox="1"/>
          <p:nvPr/>
        </p:nvSpPr>
        <p:spPr>
          <a:xfrm>
            <a:off x="640080" y="1536192"/>
            <a:ext cx="5239512" cy="117043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sheet.cell(row=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column=i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value=i).font = bold      </a:t>
            </a:r>
            <a:r>
              <a:rPr lang="en-US" sz="700" i="1" dirty="0">
                <a:solidFill>
                  <a:srgbClr val="8FA98F"/>
                </a:solidFill>
                <a:latin typeface="Courier New" pitchFamily="34" charset="0"/>
                <a:ea typeface="Courier New" pitchFamily="34" charset="-122"/>
                <a:cs typeface="Courier New" pitchFamily="34" charset="-120"/>
              </a:rPr>
              <a:t># labels along row 1, from B1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sheet.cell(row=i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column=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value=i).font = bold      </a:t>
            </a:r>
            <a:r>
              <a:rPr lang="en-US" sz="700" i="1" dirty="0">
                <a:solidFill>
                  <a:srgbClr val="8FA98F"/>
                </a:solidFill>
                <a:latin typeface="Courier New" pitchFamily="34" charset="0"/>
                <a:ea typeface="Courier New" pitchFamily="34" charset="-122"/>
                <a:cs typeface="Courier New" pitchFamily="34" charset="-120"/>
              </a:rPr>
              <a:t># labels down column A, from A2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j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sheet.cell(row=i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column=j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value=i * j)</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A1:G7 12 36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(None, 1, 2, 3, 4, 5, 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(1, 1, 2, 3, 4, 5, 6)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(2, 2, 4, 6, 8, 10, 12)</a:t>
            </a:r>
            <a:endParaRPr lang="en-US" sz="700" dirty="0"/>
          </a:p>
        </p:txBody>
      </p:sp>
      <p:sp>
        <p:nvSpPr>
          <p:cNvPr id="9" name="Text 7"/>
          <p:cNvSpPr txBox="1"/>
          <p:nvPr/>
        </p:nvSpPr>
        <p:spPr>
          <a:xfrm>
            <a:off x="457200" y="2916936"/>
            <a:ext cx="537667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blankRowInserter_v1_0_0.py, lines 24 to 27 of 28 - Python 3.14.6</a:t>
            </a:r>
            <a:endParaRPr lang="en-US" sz="1000" dirty="0"/>
          </a:p>
        </p:txBody>
      </p:sp>
      <p:sp>
        <p:nvSpPr>
          <p:cNvPr id="10" name="Shape 8"/>
          <p:cNvSpPr/>
          <p:nvPr/>
        </p:nvSpPr>
        <p:spPr>
          <a:xfrm>
            <a:off x="457200" y="3191256"/>
            <a:ext cx="5376672" cy="1024128"/>
          </a:xfrm>
          <a:prstGeom prst="roundRect">
            <a:avLst>
              <a:gd name="adj" fmla="val 8929"/>
            </a:avLst>
          </a:prstGeom>
          <a:solidFill>
            <a:srgbClr val="23272E"/>
          </a:solidFill>
          <a:ln w="12700">
            <a:solidFill>
              <a:srgbClr val="23272E"/>
            </a:solidFill>
            <a:prstDash val="solid"/>
          </a:ln>
        </p:spPr>
      </p:sp>
      <p:sp>
        <p:nvSpPr>
          <p:cNvPr id="11" name="Text 9"/>
          <p:cNvSpPr txBox="1"/>
          <p:nvPr/>
        </p:nvSpPr>
        <p:spPr>
          <a:xfrm>
            <a:off x="640080" y="3310128"/>
            <a:ext cx="5010912" cy="78638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sheet.insert_rows(n, m)                         </a:t>
            </a:r>
            <a:r>
              <a:rPr lang="en-US" sz="700" i="1" dirty="0">
                <a:solidFill>
                  <a:srgbClr val="8FA98F"/>
                </a:solidFill>
                <a:latin typeface="Courier New" pitchFamily="34" charset="0"/>
                <a:ea typeface="Courier New" pitchFamily="34" charset="-122"/>
                <a:cs typeface="Courier New" pitchFamily="34" charset="-120"/>
              </a:rPr>
              <a:t># m blank rows before row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wb.save(</a:t>
            </a:r>
            <a:r>
              <a:rPr lang="en-US" sz="700" dirty="0">
                <a:solidFill>
                  <a:srgbClr val="9ECBFF"/>
                </a:solidFill>
                <a:latin typeface="Courier New" pitchFamily="34" charset="0"/>
                <a:ea typeface="Courier New" pitchFamily="34" charset="-122"/>
                <a:cs typeface="Courier New" pitchFamily="34" charset="-120"/>
              </a:rPr>
              <a:t>'blankRowsInserted.xlsx'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out = openpyxl.load_workbook(</a:t>
            </a:r>
            <a:r>
              <a:rPr lang="en-US" sz="700" dirty="0">
                <a:solidFill>
                  <a:srgbClr val="9ECBFF"/>
                </a:solidFill>
                <a:latin typeface="Courier New" pitchFamily="34" charset="0"/>
                <a:ea typeface="Courier New" pitchFamily="34" charset="-122"/>
                <a:cs typeface="Courier New" pitchFamily="34" charset="-120"/>
              </a:rPr>
              <a:t>'blankRowsInserted.xlsx'</a:t>
            </a:r>
            <a:r>
              <a:rPr lang="en-US" sz="700" dirty="0">
                <a:solidFill>
                  <a:srgbClr val="E6EDF3"/>
                </a:solidFill>
                <a:latin typeface="Courier New" pitchFamily="34" charset="0"/>
                <a:ea typeface="Courier New" pitchFamily="34" charset="-122"/>
                <a:cs typeface="Courier New" pitchFamily="34" charset="-120"/>
              </a:rPr>
              <a:t>).active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print([out.cell(row=r, column=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).value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['Potatoes', 'Okra', None, None, 'Fava beans', 'Watermelon', 'Garlic', 'Parsnips']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=SUM(B1:B5) None</a:t>
            </a:r>
            <a:endParaRPr lang="en-US" sz="700" dirty="0"/>
          </a:p>
        </p:txBody>
      </p:sp>
      <p:sp>
        <p:nvSpPr>
          <p:cNvPr id="12" name="Shape 10"/>
          <p:cNvSpPr/>
          <p:nvPr/>
        </p:nvSpPr>
        <p:spPr>
          <a:xfrm>
            <a:off x="6199632" y="1417320"/>
            <a:ext cx="2532888" cy="1408176"/>
          </a:xfrm>
          <a:prstGeom prst="roundRect">
            <a:avLst>
              <a:gd name="adj" fmla="val 6494"/>
            </a:avLst>
          </a:prstGeom>
          <a:solidFill>
            <a:srgbClr val="F2ECE1"/>
          </a:solidFill>
          <a:ln w="12700">
            <a:solidFill>
              <a:srgbClr val="F2ECE1"/>
            </a:solidFill>
            <a:prstDash val="solid"/>
          </a:ln>
        </p:spPr>
      </p:sp>
      <p:sp>
        <p:nvSpPr>
          <p:cNvPr id="13" name="Text 11"/>
          <p:cNvSpPr txBox="1"/>
          <p:nvPr/>
        </p:nvSpPr>
        <p:spPr>
          <a:xfrm>
            <a:off x="6382512" y="1536192"/>
            <a:ext cx="216712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Labels in bold</a:t>
            </a:r>
            <a:endParaRPr lang="en-US" sz="1600" dirty="0"/>
          </a:p>
        </p:txBody>
      </p:sp>
      <p:sp>
        <p:nvSpPr>
          <p:cNvPr id="14" name="Text 12"/>
          <p:cNvSpPr txBox="1"/>
          <p:nvPr/>
        </p:nvSpPr>
        <p:spPr>
          <a:xfrm>
            <a:off x="6382512" y="1920240"/>
            <a:ext cx="2167128" cy="7680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Row 1 from B1 and column A from A2 hold the labels 1 to 6, products fill B2 to G7; the table spans A1:G7.</a:t>
            </a:r>
            <a:endParaRPr lang="en-US" sz="900" dirty="0"/>
          </a:p>
        </p:txBody>
      </p:sp>
      <p:sp>
        <p:nvSpPr>
          <p:cNvPr id="15" name="Shape 13"/>
          <p:cNvSpPr/>
          <p:nvPr/>
        </p:nvSpPr>
        <p:spPr>
          <a:xfrm>
            <a:off x="5971032" y="3191256"/>
            <a:ext cx="2761488" cy="1024128"/>
          </a:xfrm>
          <a:prstGeom prst="roundRect">
            <a:avLst>
              <a:gd name="adj" fmla="val 8929"/>
            </a:avLst>
          </a:prstGeom>
          <a:solidFill>
            <a:srgbClr val="F2ECE1"/>
          </a:solidFill>
          <a:ln w="12700">
            <a:solidFill>
              <a:srgbClr val="F2ECE1"/>
            </a:solidFill>
            <a:prstDash val="solid"/>
          </a:ln>
        </p:spPr>
      </p:sp>
      <p:sp>
        <p:nvSpPr>
          <p:cNvPr id="16" name="Text 14"/>
          <p:cNvSpPr txBox="1"/>
          <p:nvPr/>
        </p:nvSpPr>
        <p:spPr>
          <a:xfrm>
            <a:off x="6153912" y="3310128"/>
            <a:ext cx="239572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Formulas stay</a:t>
            </a:r>
            <a:endParaRPr lang="en-US" sz="1600" dirty="0"/>
          </a:p>
        </p:txBody>
      </p:sp>
      <p:sp>
        <p:nvSpPr>
          <p:cNvPr id="17" name="Text 15"/>
          <p:cNvSpPr txBox="1"/>
          <p:nvPr/>
        </p:nvSpPr>
        <p:spPr>
          <a:xfrm>
            <a:off x="6153912" y="3694176"/>
            <a:ext cx="2395728" cy="384048"/>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SUM stayed over B1:B5, merged ranges stayed, and row heights stayed.</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insert_rows moves values and styles; formulas, merges and heights stay put.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Files you did not make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Download example3.xlsx from the book's site; load a zip bomb safely</a:t>
            </a:r>
            <a:endParaRPr lang="en-US" sz="1300" dirty="0"/>
          </a:p>
        </p:txBody>
      </p:sp>
      <p:sp>
        <p:nvSpPr>
          <p:cNvPr id="6" name="Text 4"/>
          <p:cNvSpPr txBox="1"/>
          <p:nvPr/>
        </p:nvSpPr>
        <p:spPr>
          <a:xfrm>
            <a:off x="457200" y="1143000"/>
            <a:ext cx="53218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liveExample3_v1_0_0.py, lines 1 to 7 of 7 - Python 3.14.6</a:t>
            </a:r>
            <a:endParaRPr lang="en-US" sz="1000" dirty="0"/>
          </a:p>
        </p:txBody>
      </p:sp>
      <p:sp>
        <p:nvSpPr>
          <p:cNvPr id="7" name="Shape 5"/>
          <p:cNvSpPr/>
          <p:nvPr/>
        </p:nvSpPr>
        <p:spPr>
          <a:xfrm>
            <a:off x="457200" y="1417320"/>
            <a:ext cx="5321808"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536192"/>
            <a:ext cx="4956048" cy="154533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io, requests, openpyxl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 = requests.get(</a:t>
            </a:r>
            <a:r>
              <a:rPr lang="en-US" sz="700" dirty="0">
                <a:solidFill>
                  <a:srgbClr val="9ECBFF"/>
                </a:solidFill>
                <a:latin typeface="Courier New" pitchFamily="34" charset="0"/>
                <a:ea typeface="Courier New" pitchFamily="34" charset="-122"/>
                <a:cs typeface="Courier New" pitchFamily="34" charset="-120"/>
              </a:rPr>
              <a:t>'https://automatetheboringstuff.com/files/example3.xlsx'</a:t>
            </a:r>
            <a:r>
              <a:rPr lang="en-US" sz="700" dirty="0">
                <a:solidFill>
                  <a:srgbClr val="E6EDF3"/>
                </a:solidFill>
                <a:latin typeface="Courier New" pitchFamily="34" charset="0"/>
                <a:ea typeface="Courier New" pitchFamily="34" charset="-122"/>
                <a:cs typeface="Courier New" pitchFamily="34" charset="-120"/>
              </a:rPr>
              <a:t>, timeout=</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print(res.status_code, len(res.content))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wb = openpyxl.load_workbook(io.BytesIO(res.content))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print(wb.sheetnames, wb.active.title, wb.active.max_row, wb.active.max_column)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wb[</a:t>
            </a:r>
            <a:r>
              <a:rPr lang="en-US" sz="700" dirty="0">
                <a:solidFill>
                  <a:srgbClr val="9ECBFF"/>
                </a:solidFill>
                <a:latin typeface="Courier New" pitchFamily="34" charset="0"/>
                <a:ea typeface="Courier New" pitchFamily="34" charset="-122"/>
                <a:cs typeface="Courier New" pitchFamily="34" charset="-120"/>
              </a:rPr>
              <a:t>'Sheet1'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row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sheet.iter_rows(min_row=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max_row=</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values_only=</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print(row)</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200 9904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['Sheet1', 'Sheet2', 'Sheet3'] Sheet1 7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(datetime.datetime(2035, 4, 5, 13, 34, 2), 'Apples', 73)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(datetime.datetime(2035, 4, 5, 3, 41, 23), 'Cherries', 85)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(datetime.datetime(2035, 4, 6, 12, 46, 51), 'Pears', 14)</a:t>
            </a:r>
            <a:endParaRPr lang="en-US" sz="700" dirty="0"/>
          </a:p>
        </p:txBody>
      </p:sp>
      <p:sp>
        <p:nvSpPr>
          <p:cNvPr id="9" name="Text 7"/>
          <p:cNvSpPr txBox="1"/>
          <p:nvPr/>
        </p:nvSpPr>
        <p:spPr>
          <a:xfrm>
            <a:off x="457200" y="3310128"/>
            <a:ext cx="62270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safeLoadEntityBomb_v1_0_0.py: needs defusedxml</a:t>
            </a:r>
            <a:endParaRPr lang="en-US" sz="1000" dirty="0"/>
          </a:p>
        </p:txBody>
      </p:sp>
      <p:sp>
        <p:nvSpPr>
          <p:cNvPr id="10" name="Shape 8"/>
          <p:cNvSpPr/>
          <p:nvPr/>
        </p:nvSpPr>
        <p:spPr>
          <a:xfrm>
            <a:off x="457200" y="3584448"/>
            <a:ext cx="6227064" cy="640080"/>
          </a:xfrm>
          <a:prstGeom prst="roundRect">
            <a:avLst>
              <a:gd name="adj" fmla="val 14286"/>
            </a:avLst>
          </a:prstGeom>
          <a:solidFill>
            <a:srgbClr val="23272E"/>
          </a:solidFill>
          <a:ln w="12700">
            <a:solidFill>
              <a:srgbClr val="23272E"/>
            </a:solidFill>
            <a:prstDash val="solid"/>
          </a:ln>
        </p:spPr>
      </p:sp>
      <p:sp>
        <p:nvSpPr>
          <p:cNvPr id="11" name="Text 9"/>
          <p:cNvSpPr txBox="1"/>
          <p:nvPr/>
        </p:nvSpPr>
        <p:spPr>
          <a:xfrm>
            <a:off x="640080" y="3703320"/>
            <a:ext cx="5861304" cy="40233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expat expat_2.8.1 | defusedxml in use: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 file under 6000 bytes: True -&gt; ValueError Unable to read workbook: could not read worksheets from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6 file under 6000 bytes: True -&gt; ValueError Unable to read workbook: could not read worksheets from None</a:t>
            </a:r>
            <a:endParaRPr lang="en-US" sz="700" dirty="0"/>
          </a:p>
        </p:txBody>
      </p:sp>
      <p:sp>
        <p:nvSpPr>
          <p:cNvPr id="12" name="Shape 10"/>
          <p:cNvSpPr/>
          <p:nvPr/>
        </p:nvSpPr>
        <p:spPr>
          <a:xfrm>
            <a:off x="5916168" y="1417320"/>
            <a:ext cx="2816352" cy="1783080"/>
          </a:xfrm>
          <a:prstGeom prst="roundRect">
            <a:avLst>
              <a:gd name="adj" fmla="val 5128"/>
            </a:avLst>
          </a:prstGeom>
          <a:solidFill>
            <a:srgbClr val="F2ECE1"/>
          </a:solidFill>
          <a:ln w="12700">
            <a:solidFill>
              <a:srgbClr val="F2ECE1"/>
            </a:solidFill>
            <a:prstDash val="solid"/>
          </a:ln>
        </p:spPr>
      </p:sp>
      <p:sp>
        <p:nvSpPr>
          <p:cNvPr id="13" name="Text 11"/>
          <p:cNvSpPr txBox="1"/>
          <p:nvPr/>
        </p:nvSpPr>
        <p:spPr>
          <a:xfrm>
            <a:off x="6099048" y="1536192"/>
            <a:ext cx="245059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Live download</a:t>
            </a:r>
            <a:endParaRPr lang="en-US" sz="1600" dirty="0"/>
          </a:p>
        </p:txBody>
      </p:sp>
      <p:sp>
        <p:nvSpPr>
          <p:cNvPr id="14" name="Text 12"/>
          <p:cNvSpPr txBox="1"/>
          <p:nvPr/>
        </p:nvSpPr>
        <p:spPr>
          <a:xfrm>
            <a:off x="6099048" y="1920240"/>
            <a:ext cx="2450592" cy="11430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requests.get fetched example3.xlsx and openpyxl read it from memory. The transcript is LIVE: it is what the book's site answered on 12 October 2026.</a:t>
            </a:r>
            <a:endParaRPr lang="en-US" sz="950" dirty="0"/>
          </a:p>
        </p:txBody>
      </p:sp>
      <p:sp>
        <p:nvSpPr>
          <p:cNvPr id="15" name="Text 13"/>
          <p:cNvSpPr txBox="1"/>
          <p:nvPr/>
        </p:nvSpPr>
        <p:spPr>
          <a:xfrm>
            <a:off x="457200" y="4279392"/>
            <a:ext cx="8229600" cy="24688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Ten nested entities of ten copies each fit in under 6000 bytes. With defusedxml installed, load_workbook refused both files with ValueError.</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Treat a workbook you did not make as untrusted input: install defusedxml.</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886200" y="2286000"/>
            <a:ext cx="13716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959352" y="2464308"/>
            <a:ext cx="122529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Excel spreadsheets: a program reads and writes workbooks</a:t>
            </a:r>
            <a:endParaRPr lang="en-US" sz="1100" dirty="0"/>
          </a:p>
        </p:txBody>
      </p:sp>
      <p:sp>
        <p:nvSpPr>
          <p:cNvPr id="8" name="Shape 6"/>
          <p:cNvSpPr/>
          <p:nvPr/>
        </p:nvSpPr>
        <p:spPr>
          <a:xfrm>
            <a:off x="457200" y="1280160"/>
            <a:ext cx="3063240" cy="978408"/>
          </a:xfrm>
          <a:prstGeom prst="roundRect">
            <a:avLst>
              <a:gd name="adj" fmla="val 7477"/>
            </a:avLst>
          </a:prstGeom>
          <a:solidFill>
            <a:srgbClr val="F2ECE1"/>
          </a:solidFill>
          <a:ln w="15875">
            <a:solidFill>
              <a:srgbClr val="2F6D62"/>
            </a:solidFill>
            <a:prstDash val="solid"/>
          </a:ln>
        </p:spPr>
      </p:sp>
      <p:sp>
        <p:nvSpPr>
          <p:cNvPr id="9" name="Shape 7"/>
          <p:cNvSpPr/>
          <p:nvPr/>
        </p:nvSpPr>
        <p:spPr>
          <a:xfrm>
            <a:off x="3520440" y="1769364"/>
            <a:ext cx="365760" cy="1042416"/>
          </a:xfrm>
          <a:prstGeom prst="line">
            <a:avLst/>
          </a:prstGeom>
          <a:noFill/>
          <a:ln w="15875">
            <a:solidFill>
              <a:srgbClr val="C9BFAE"/>
            </a:solidFill>
            <a:prstDash val="solid"/>
          </a:ln>
        </p:spPr>
      </p:sp>
      <p:sp>
        <p:nvSpPr>
          <p:cNvPr id="10" name="Text 8"/>
          <p:cNvSpPr txBox="1"/>
          <p:nvPr/>
        </p:nvSpPr>
        <p:spPr>
          <a:xfrm>
            <a:off x="548640" y="1325880"/>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Workbooks and sheets</a:t>
            </a:r>
            <a:endParaRPr lang="en-US" sz="1000" dirty="0"/>
          </a:p>
        </p:txBody>
      </p:sp>
      <p:sp>
        <p:nvSpPr>
          <p:cNvPr id="11" name="Text 9"/>
          <p:cNvSpPr txBox="1"/>
          <p:nvPr/>
        </p:nvSpPr>
        <p:spPr>
          <a:xfrm>
            <a:off x="548640" y="1506931"/>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load_workbook() returns a Workbook object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active sheet is the one on top</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create_sheet() and del add and remove sheets</a:t>
            </a:r>
            <a:endParaRPr lang="en-US" sz="850" dirty="0"/>
          </a:p>
        </p:txBody>
      </p:sp>
      <p:sp>
        <p:nvSpPr>
          <p:cNvPr id="12" name="Shape 10"/>
          <p:cNvSpPr/>
          <p:nvPr/>
        </p:nvSpPr>
        <p:spPr>
          <a:xfrm>
            <a:off x="457200" y="2322576"/>
            <a:ext cx="3063240" cy="978408"/>
          </a:xfrm>
          <a:prstGeom prst="roundRect">
            <a:avLst>
              <a:gd name="adj" fmla="val 7477"/>
            </a:avLst>
          </a:prstGeom>
          <a:solidFill>
            <a:srgbClr val="F2ECE1"/>
          </a:solidFill>
          <a:ln w="15875">
            <a:solidFill>
              <a:srgbClr val="2F6D62"/>
            </a:solidFill>
            <a:prstDash val="solid"/>
          </a:ln>
        </p:spPr>
      </p:sp>
      <p:sp>
        <p:nvSpPr>
          <p:cNvPr id="13" name="Shape 11"/>
          <p:cNvSpPr/>
          <p:nvPr/>
        </p:nvSpPr>
        <p:spPr>
          <a:xfrm>
            <a:off x="3520440" y="2811780"/>
            <a:ext cx="365760" cy="0"/>
          </a:xfrm>
          <a:prstGeom prst="line">
            <a:avLst/>
          </a:prstGeom>
          <a:noFill/>
          <a:ln w="15875">
            <a:solidFill>
              <a:srgbClr val="C9BFAE"/>
            </a:solidFill>
            <a:prstDash val="solid"/>
          </a:ln>
        </p:spPr>
      </p:sp>
      <p:sp>
        <p:nvSpPr>
          <p:cNvPr id="14" name="Text 12"/>
          <p:cNvSpPr txBox="1"/>
          <p:nvPr/>
        </p:nvSpPr>
        <p:spPr>
          <a:xfrm>
            <a:off x="548640" y="2368296"/>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Cells and ranges</a:t>
            </a:r>
            <a:endParaRPr lang="en-US" sz="1000" dirty="0"/>
          </a:p>
        </p:txBody>
      </p:sp>
      <p:sp>
        <p:nvSpPr>
          <p:cNvPr id="15" name="Text 13"/>
          <p:cNvSpPr txBox="1"/>
          <p:nvPr/>
        </p:nvSpPr>
        <p:spPr>
          <a:xfrm>
            <a:off x="548640" y="2549347"/>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cell is got by its name or by row and column numbers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max_row and max_column give the size of the sheet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slice of two cell names gives a tuple of rows</a:t>
            </a:r>
            <a:endParaRPr lang="en-US" sz="850" dirty="0"/>
          </a:p>
        </p:txBody>
      </p:sp>
      <p:sp>
        <p:nvSpPr>
          <p:cNvPr id="16" name="Shape 14"/>
          <p:cNvSpPr/>
          <p:nvPr/>
        </p:nvSpPr>
        <p:spPr>
          <a:xfrm>
            <a:off x="457200" y="3364992"/>
            <a:ext cx="3063240" cy="978408"/>
          </a:xfrm>
          <a:prstGeom prst="roundRect">
            <a:avLst>
              <a:gd name="adj" fmla="val 7477"/>
            </a:avLst>
          </a:prstGeom>
          <a:solidFill>
            <a:srgbClr val="F2ECE1"/>
          </a:solidFill>
          <a:ln w="15875">
            <a:solidFill>
              <a:srgbClr val="2F6D62"/>
            </a:solidFill>
            <a:prstDash val="solid"/>
          </a:ln>
        </p:spPr>
      </p:sp>
      <p:sp>
        <p:nvSpPr>
          <p:cNvPr id="17" name="Shape 15"/>
          <p:cNvSpPr/>
          <p:nvPr/>
        </p:nvSpPr>
        <p:spPr>
          <a:xfrm flipV="1">
            <a:off x="3520440" y="2811780"/>
            <a:ext cx="365760" cy="1042416"/>
          </a:xfrm>
          <a:prstGeom prst="line">
            <a:avLst/>
          </a:prstGeom>
          <a:noFill/>
          <a:ln w="15875">
            <a:solidFill>
              <a:srgbClr val="C9BFAE"/>
            </a:solidFill>
            <a:prstDash val="solid"/>
          </a:ln>
        </p:spPr>
      </p:sp>
      <p:sp>
        <p:nvSpPr>
          <p:cNvPr id="18" name="Text 16"/>
          <p:cNvSpPr txBox="1"/>
          <p:nvPr/>
        </p:nvSpPr>
        <p:spPr>
          <a:xfrm>
            <a:off x="548640" y="3410712"/>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Projects</a:t>
            </a:r>
            <a:endParaRPr lang="en-US" sz="1000" dirty="0"/>
          </a:p>
        </p:txBody>
      </p:sp>
      <p:sp>
        <p:nvSpPr>
          <p:cNvPr id="19" name="Text 17"/>
          <p:cNvSpPr txBox="1"/>
          <p:nvPr/>
        </p:nvSpPr>
        <p:spPr>
          <a:xfrm>
            <a:off x="548640" y="3591763"/>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Project 9 tallies tracts and population by county</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Project 10 corrects prices in the produce sheet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practice programs make a table and insert rows</a:t>
            </a:r>
            <a:endParaRPr lang="en-US" sz="850" dirty="0"/>
          </a:p>
        </p:txBody>
      </p:sp>
      <p:sp>
        <p:nvSpPr>
          <p:cNvPr id="20" name="Shape 18"/>
          <p:cNvSpPr/>
          <p:nvPr/>
        </p:nvSpPr>
        <p:spPr>
          <a:xfrm>
            <a:off x="5623560" y="1280160"/>
            <a:ext cx="3063240" cy="978408"/>
          </a:xfrm>
          <a:prstGeom prst="roundRect">
            <a:avLst>
              <a:gd name="adj" fmla="val 7477"/>
            </a:avLst>
          </a:prstGeom>
          <a:solidFill>
            <a:srgbClr val="F2ECE1"/>
          </a:solidFill>
          <a:ln w="15875">
            <a:solidFill>
              <a:srgbClr val="2F6D62"/>
            </a:solidFill>
            <a:prstDash val="solid"/>
          </a:ln>
        </p:spPr>
      </p:sp>
      <p:sp>
        <p:nvSpPr>
          <p:cNvPr id="21" name="Shape 19"/>
          <p:cNvSpPr/>
          <p:nvPr/>
        </p:nvSpPr>
        <p:spPr>
          <a:xfrm flipH="1">
            <a:off x="5257800" y="1769364"/>
            <a:ext cx="365760" cy="1042416"/>
          </a:xfrm>
          <a:prstGeom prst="line">
            <a:avLst/>
          </a:prstGeom>
          <a:noFill/>
          <a:ln w="15875">
            <a:solidFill>
              <a:srgbClr val="C9BFAE"/>
            </a:solidFill>
            <a:prstDash val="solid"/>
          </a:ln>
        </p:spPr>
      </p:sp>
      <p:sp>
        <p:nvSpPr>
          <p:cNvPr id="22" name="Text 20"/>
          <p:cNvSpPr txBox="1"/>
          <p:nvPr/>
        </p:nvSpPr>
        <p:spPr>
          <a:xfrm>
            <a:off x="5715000" y="1325880"/>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Formulas</a:t>
            </a:r>
            <a:endParaRPr lang="en-US" sz="1000" dirty="0"/>
          </a:p>
        </p:txBody>
      </p:sp>
      <p:sp>
        <p:nvSpPr>
          <p:cNvPr id="23" name="Text 21"/>
          <p:cNvSpPr txBox="1"/>
          <p:nvPr/>
        </p:nvSpPr>
        <p:spPr>
          <a:xfrm>
            <a:off x="5715000" y="1506931"/>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formula is text that begins with an equal sign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openpyxl does not calculate a formula</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data_only=True reads the stored result</a:t>
            </a:r>
            <a:endParaRPr lang="en-US" sz="850" dirty="0"/>
          </a:p>
        </p:txBody>
      </p:sp>
      <p:sp>
        <p:nvSpPr>
          <p:cNvPr id="24" name="Shape 22"/>
          <p:cNvSpPr/>
          <p:nvPr/>
        </p:nvSpPr>
        <p:spPr>
          <a:xfrm>
            <a:off x="5623560" y="2322576"/>
            <a:ext cx="3063240" cy="978408"/>
          </a:xfrm>
          <a:prstGeom prst="roundRect">
            <a:avLst>
              <a:gd name="adj" fmla="val 7477"/>
            </a:avLst>
          </a:prstGeom>
          <a:solidFill>
            <a:srgbClr val="F2ECE1"/>
          </a:solidFill>
          <a:ln w="15875">
            <a:solidFill>
              <a:srgbClr val="2F6D62"/>
            </a:solidFill>
            <a:prstDash val="solid"/>
          </a:ln>
        </p:spPr>
      </p:sp>
      <p:sp>
        <p:nvSpPr>
          <p:cNvPr id="25" name="Shape 23"/>
          <p:cNvSpPr/>
          <p:nvPr/>
        </p:nvSpPr>
        <p:spPr>
          <a:xfrm flipH="1">
            <a:off x="5257800" y="2811780"/>
            <a:ext cx="365760" cy="0"/>
          </a:xfrm>
          <a:prstGeom prst="line">
            <a:avLst/>
          </a:prstGeom>
          <a:noFill/>
          <a:ln w="15875">
            <a:solidFill>
              <a:srgbClr val="C9BFAE"/>
            </a:solidFill>
            <a:prstDash val="solid"/>
          </a:ln>
        </p:spPr>
      </p:sp>
      <p:sp>
        <p:nvSpPr>
          <p:cNvPr id="26" name="Text 24"/>
          <p:cNvSpPr txBox="1"/>
          <p:nvPr/>
        </p:nvSpPr>
        <p:spPr>
          <a:xfrm>
            <a:off x="5715000" y="2368296"/>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Formatting</a:t>
            </a:r>
            <a:endParaRPr lang="en-US" sz="1000" dirty="0"/>
          </a:p>
        </p:txBody>
      </p:sp>
      <p:sp>
        <p:nvSpPr>
          <p:cNvPr id="27" name="Text 25"/>
          <p:cNvSpPr txBox="1"/>
          <p:nvPr/>
        </p:nvSpPr>
        <p:spPr>
          <a:xfrm>
            <a:off x="5715000" y="2549347"/>
            <a:ext cx="28803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Font() sets the name, size, bold and italic</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Row heights and column widths are set through dimensions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merge_cells() and freeze_panes change how cells show</a:t>
            </a:r>
            <a:endParaRPr lang="en-US" sz="850" dirty="0"/>
          </a:p>
        </p:txBody>
      </p:sp>
      <p:sp>
        <p:nvSpPr>
          <p:cNvPr id="28" name="Shape 26"/>
          <p:cNvSpPr/>
          <p:nvPr/>
        </p:nvSpPr>
        <p:spPr>
          <a:xfrm>
            <a:off x="5623560" y="3364992"/>
            <a:ext cx="3063240" cy="978408"/>
          </a:xfrm>
          <a:prstGeom prst="roundRect">
            <a:avLst>
              <a:gd name="adj" fmla="val 7477"/>
            </a:avLst>
          </a:prstGeom>
          <a:solidFill>
            <a:srgbClr val="F2ECE1"/>
          </a:solidFill>
          <a:ln w="15875">
            <a:solidFill>
              <a:srgbClr val="2F6D62"/>
            </a:solidFill>
            <a:prstDash val="solid"/>
          </a:ln>
        </p:spPr>
      </p:sp>
      <p:sp>
        <p:nvSpPr>
          <p:cNvPr id="29" name="Shape 27"/>
          <p:cNvSpPr/>
          <p:nvPr/>
        </p:nvSpPr>
        <p:spPr>
          <a:xfrm flipH="1" flipV="1">
            <a:off x="5257800" y="2811780"/>
            <a:ext cx="365760" cy="1042416"/>
          </a:xfrm>
          <a:prstGeom prst="line">
            <a:avLst/>
          </a:prstGeom>
          <a:noFill/>
          <a:ln w="15875">
            <a:solidFill>
              <a:srgbClr val="C9BFAE"/>
            </a:solidFill>
            <a:prstDash val="solid"/>
          </a:ln>
        </p:spPr>
      </p:sp>
      <p:sp>
        <p:nvSpPr>
          <p:cNvPr id="30" name="Text 28"/>
          <p:cNvSpPr txBox="1"/>
          <p:nvPr/>
        </p:nvSpPr>
        <p:spPr>
          <a:xfrm>
            <a:off x="5715000" y="3410712"/>
            <a:ext cx="28803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Charts</a:t>
            </a:r>
            <a:endParaRPr lang="en-US" sz="1000" dirty="0"/>
          </a:p>
        </p:txBody>
      </p:sp>
      <p:sp>
        <p:nvSpPr>
          <p:cNvPr id="31" name="Text 29"/>
          <p:cNvSpPr txBox="1"/>
          <p:nvPr/>
        </p:nvSpPr>
        <p:spPr>
          <a:xfrm>
            <a:off x="5715000" y="3591763"/>
            <a:ext cx="28803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Reference names a rectangle of cells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Series is appended to a chart object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add_chart() anchors the chart to a cell</a:t>
            </a:r>
            <a:endParaRPr lang="en-US" sz="850" dirty="0"/>
          </a:p>
        </p:txBody>
      </p:sp>
      <p:sp>
        <p:nvSpPr>
          <p:cNvPr id="32" name="Text 30"/>
          <p:cNvSpPr txBox="1"/>
          <p:nvPr/>
        </p:nvSpPr>
        <p:spPr>
          <a:xfrm>
            <a:off x="457200" y="437083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ExcelSpreadsheetsAtAGlance - TopicAndParts pattern, 108 of 114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14 -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automatetheboringstuff.com/3e/chapter14.html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openpyxl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openpyxl.readthedocs.io/en/stable/</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openpyxl tutorial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openpyxl.readthedocs.io/en/stable/tutorial.html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Worksheet API: merge, freeze, insert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openpyxl.readthedocs.io/en/stable/api/openpyxl.worksheet.worksheet.html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Working with styles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openpyxl.readthedocs.io/en/stable/styles.html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Charts: introduction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openpyxl.readthedocs.io/en/stable/charts/introduction.html</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Chart Reference arguments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openpyxl.readthedocs.io/en/stable/api/openpyxl.chart.reference.html</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VisiCalc: Bricklin's idea, 1978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bricklin.com/history/saiidea.htm</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Microsoft Excel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en.wikipedia.org/wiki/Microsoft_Excel</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Office Open XML (Library of Congress)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loc.gov/preservation/digital/formats/fdd/fdd000395.shtml</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openpyxl, by Gazoni and Clark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openpyxl.readthedocs.io/en/stable/</a:t>
            </a:r>
            <a:endParaRPr lang="en-US" sz="95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Gene name errors (Genome Biology)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genomebiology.biomedcentral.com/articles/10.1186/s13059-016-1044-7</a:t>
            </a:r>
            <a:endParaRPr lang="en-US" sz="9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opened the day this deck was built.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open a workbook, pick a sheet by name and a cell by name or by two numbers.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openpyxl stores formulas and loses their stored results: a spreadsheet program calculates.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look before I loop, because a touched cell enlarges the sheet.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 save under a new name, and I treat a file I did not make as untrusted.</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34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14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workbook to read.</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14 - Excel Spreadsheets</dc:title>
  <dc:subject>PptxGenJS Presentation</dc:subject>
  <dc:creator>Yusuf Altunel</dc:creator>
  <cp:lastModifiedBy>Yusuf Altunel</cp:lastModifiedBy>
  <cp:revision>1</cp:revision>
  <dcterms:created xsi:type="dcterms:W3CDTF">2026-10-12T11:30:05Z</dcterms:created>
  <dcterms:modified xsi:type="dcterms:W3CDTF">2026-10-12T11:30:05Z</dcterms:modified>
  <cp:version>1.0.0</cp:version>
</cp:coreProperties>
</file>