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in this course starts at a prompt that answers back. Today: what Python values are, how operators combine them, and how names remember them.
FULL TEXT: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from the first 2 + 2 to interrogating your own interpreter. Stories carry the why; consoles carry the proof.
ASK: Which part do you expect to be hardest - mark it now, check at the summary.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(1989-12 to 1991-02): Over the 1989 Christmas break, a researcher at the Dutch CWI institute started a hobby interpreter to keep himself busy while the office was closed. He named it after Monty Python's Flying Circus, not the snake. In February 1991 he posted version 0.9.0 to the alt.sources newsgroup, and for the next three decades served as the language's 'Benevolent Dictator For Life'. Every prompt on these slides is that hobby project, grown up.
SOURCE: Python's documented history: project begun December 1989 at CWI; 0.9.0 posted to alt.sources in February 1991; summarized with references at en.wikipedia.org/wiki/Guido_van_Rossum. Photo: Daniel Stroud,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ASK: Which of the four steps does a .py FILE skip? (none - chapter 2 shows why)
FULL TEXT: course page, chapter 1 - ExecutionEnvironment,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Why does 6 / 3 print 2.0 and not 2?
FULL TEXT: course page, chapter 1 - Value,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FULL TEXT: course page, chapter 1 -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ASK: Why does -3 ** 2 give -9 - which operator won?
FULL TEXT: course page, chapter 1 - 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Money in floats: why do banks count in kurus integers instead?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operation combines values into a new value, and in Python most operations are written with operators placed between their operands. The chapter covers arithmetic on numbers, joining and repeating of strings, and the assignment that gives a value a name.
ASK: Read the TypeError aloud: which side does Python blame?
FULL TEXT: course page, chapter 1 - Operation,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built-in function is a function that Python provides ready to use, without importing anything. The chapter's first program uses six of them: print, input, len, str, int and float (Python Software Foundation, 2026).
FULL TEXT: course page, chapter 1 -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value is a piece of data that a Python program can compute with, store and print. The whole number 42, the decimal 3.14 and the text 'Alice' are all values, and each has a data type that decides what can be done with it (Sweigart, 2025).
ASK: After spam = spam + 1, which spam is read first - left or right?
FULL TEXT: course page, chapter 1 -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built-in function is a function that Python provides ready to use, without importing anything. The chapter's first program uses six of them: print, input, len, str, int and float (Python Software Foundation, 2026).
ASK: Why does int('4.7') fail while float('4.7') works?
FULL TEXT: course page, chapter 1 - BuiltInFunction.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FULL TEXT: course page, chapter 1 - ExecutionEnvironment.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(3rd edition, 2025): The course follows 'Automate the Boring Stuff with Python', and its author publishes the full text free on the web under a Creative Commons licence - the paper edition funds the habit. The 3rd edition of 2025 is the one this course pins, and every chapter corpus in this repository records which printed claims it verified against which sources. Read ahead any evening; it costs nothing.
SOURCE: automatetheboringstuff.com, the author's own free online edition (Creative Commons licensed); 3rd edition, No Starch Press, 2025 - the edition the chapter sources file cites as its first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An execution environment is the software that reads a Python program and carries it out: the interpreter, the way it was built and the version in use. The same program can behave slightly differently in different environments.
ASK: Your laptop may answer differently - run both lines tonight and compare.
FULL TEXT: course page, chapter 1 - ExecutionEnvironment.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(accepted 2023-07; optional builds since Python 3.13): For most of Python's life a Global Interpreter Lock let only one thread run Python code at a time. In July 2023 the Steering Council accepted PEP 703, built on Sam Gross's work, making the lock optional; free-threaded builds have shipped beside the standard ones since Python 3.13. This is not trivia from a changelog: the gil console on these slides asks the interpreter in front of you whether its lock is on, and prints what it answers.
SOURCE: PEP 703 'Making the Global Interpreter Lock Optional in CPython', author Sam Gross, accepted by the Steering Council in July 2023 (peps.python.org/pep-0703); the deck's gil console reads sys._is_gil_enabled() from the build interpreter.
NOTE: the build interpreter answered _is_gil_enabled() =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Modern practice is the way Python programmers work today: the idioms that experienced developers prefer and the tools they use to install, run and organise code. An advanced course teaches this practice alongside the basics of the textbook.
ASK: What does the name random refer to after the import - a function, a file, a module?
FULL TEXT: course page, chapter 1 -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lines, one per part; the agenda names the slides that prove each.
ASK: Which line would you defend first, and with which slide?
FULL TEXT: course page, chapter 1 - every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 link is a source this chapter's corpus actually cites and checked. The tutorial and the textbook cover tonight's homework; the PEPs are where modern practice lives.
ASK: Who can recite one line of the Zen of Python by Friday?
FULL TEXT: course page, chapter 1 - ModernPractice.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claims, each carried by a prompt you watched answer. Next week: making decisions - flow control.
FULL TEXT: course page, chapter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en.wikipedia.org/wiki/Guido_van_Rossum" TargetMode="External"/><Relationship Id="rId1" Type="http://schemas.openxmlformats.org/officeDocument/2006/relationships/image" Target="../media/image-6-1.jp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automatetheboringstuff.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peps.python.org/pep-0703/"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automatetheboringstuff.com/3e/chapter1.html" TargetMode="External"/><Relationship Id="rId2" Type="http://schemas.openxmlformats.org/officeDocument/2006/relationships/hyperlink" Target="https://docs.python.org/3/tutorial/introduction.html" TargetMode="External"/><Relationship Id="rId3" Type="http://schemas.openxmlformats.org/officeDocument/2006/relationships/hyperlink" Target="https://docs.python.org/3/tutorial/floatingpoint.html" TargetMode="External"/><Relationship Id="rId4" Type="http://schemas.openxmlformats.org/officeDocument/2006/relationships/hyperlink" Target="https://docs.python.org/3/library/functions.html" TargetMode="External"/><Relationship Id="rId5" Type="http://schemas.openxmlformats.org/officeDocument/2006/relationships/hyperlink" Target="https://docs.python.org/3/library/stdtypes.html" TargetMode="External"/><Relationship Id="rId6" Type="http://schemas.openxmlformats.org/officeDocument/2006/relationships/hyperlink" Target="https://peps.python.org/pep-0703/" TargetMode="External"/><Relationship Id="rId7" Type="http://schemas.openxmlformats.org/officeDocument/2006/relationships/hyperlink" Target="https://docs.python.org/3/tutorial/introduction.html" TargetMode="External"/><Relationship Id="rId8" Type="http://schemas.openxmlformats.org/officeDocument/2006/relationships/hyperlink" Target="https://devguide.python.org/versions/" TargetMode="External"/><Relationship Id="rId9" Type="http://schemas.openxmlformats.org/officeDocument/2006/relationships/hyperlink" Target="https://peps.python.org/pep-0008/" TargetMode="External"/><Relationship Id="rId10" Type="http://schemas.openxmlformats.org/officeDocument/2006/relationships/hyperlink" Target="https://peps.python.org/pep-0020/" TargetMode="External"/><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Python Basics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Values, operators, variables - and the prompt that answers back</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1188720"/>
            <a:ext cx="3200400" cy="1554480"/>
          </a:xfrm>
          <a:prstGeom prst="roundRect">
            <a:avLst>
              <a:gd name="adj" fmla="val 5882"/>
            </a:avLst>
          </a:prstGeom>
          <a:solidFill>
            <a:srgbClr val="23272E"/>
          </a:solidFill>
          <a:ln w="12700">
            <a:solidFill>
              <a:srgbClr val="23272E"/>
            </a:solidFill>
            <a:prstDash val="solid"/>
          </a:ln>
        </p:spPr>
      </p:sp>
      <p:sp>
        <p:nvSpPr>
          <p:cNvPr id="12" name="Text 10"/>
          <p:cNvSpPr txBox="1"/>
          <p:nvPr/>
        </p:nvSpPr>
        <p:spPr>
          <a:xfrm>
            <a:off x="5669280" y="1307592"/>
            <a:ext cx="2834640" cy="1316736"/>
          </a:xfrm>
          <a:prstGeom prst="rect">
            <a:avLst/>
          </a:prstGeom>
          <a:noFill/>
          <a:ln/>
        </p:spPr>
        <p:txBody>
          <a:bodyPr wrap="square" lIns="0" tIns="0" rIns="0" bIns="0" rtlCol="0" anchor="t"/>
          <a:lstStyle/>
          <a:p>
            <a:pPr indent="0" marL="0">
              <a:buNone/>
            </a:pPr>
            <a:r>
              <a:rPr lang="en-US" sz="1300" b="1" dirty="0">
                <a:solidFill>
                  <a:srgbClr val="D97A14"/>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2 + 2</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4</a:t>
            </a:r>
            <a:endParaRPr lang="en-US" sz="1300" dirty="0"/>
          </a:p>
          <a:p>
            <a:pPr indent="0" marL="0">
              <a:buNone/>
            </a:pPr>
            <a:r>
              <a:rPr lang="en-US" sz="1300" b="1" dirty="0">
                <a:solidFill>
                  <a:srgbClr val="D97A14"/>
                </a:solidFill>
                <a:latin typeface="Courier New" pitchFamily="34" charset="0"/>
                <a:ea typeface="Courier New" pitchFamily="34" charset="-122"/>
                <a:cs typeface="Courier New" pitchFamily="34" charset="-120"/>
              </a:rPr>
              <a:t>&gt;&gt;&gt; </a:t>
            </a:r>
            <a:pPr indent="0" marL="0">
              <a:buNone/>
            </a:pPr>
            <a:r>
              <a:rPr lang="en-US" sz="1300" dirty="0">
                <a:solidFill>
                  <a:srgbClr val="E6EDF3"/>
                </a:solidFill>
                <a:latin typeface="Courier New" pitchFamily="34" charset="0"/>
                <a:ea typeface="Courier New" pitchFamily="34" charset="-122"/>
                <a:cs typeface="Courier New" pitchFamily="34" charset="-120"/>
              </a:rPr>
              <a:t>'Py' + 'thon'</a:t>
            </a:r>
            <a:endParaRPr lang="en-US" sz="1300" dirty="0"/>
          </a:p>
          <a:p>
            <a:pPr indent="0" marL="0">
              <a:buNone/>
            </a:pPr>
            <a:r>
              <a:rPr lang="en-US" sz="1300" dirty="0">
                <a:solidFill>
                  <a:srgbClr val="7EE787"/>
                </a:solidFill>
                <a:latin typeface="Courier New" pitchFamily="34" charset="0"/>
                <a:ea typeface="Courier New" pitchFamily="34" charset="-122"/>
                <a:cs typeface="Courier New" pitchFamily="34" charset="-120"/>
              </a:rPr>
              <a:t>'Python'</a:t>
            </a:r>
            <a:endParaRPr lang="en-US" sz="1300" dirty="0"/>
          </a:p>
        </p:txBody>
      </p:sp>
      <p:sp>
        <p:nvSpPr>
          <p:cNvPr id="13" name="Text 11"/>
          <p:cNvSpPr txBox="1"/>
          <p:nvPr/>
        </p:nvSpPr>
        <p:spPr>
          <a:xfrm>
            <a:off x="5486400" y="276148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Questions and the chapter map  (slides 3-4)</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Values and types - the shell, int, float, str  (slides 5-8)</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Operations - precedence, division, string algebra  (slides 9-12)</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Names and functions - variables and the free toolbox  (slides 13-15)</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Your interpreter, summary, and resources  (slides 16-23)</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23</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 consoles - every answer really ran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every answer on screen really ran</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23</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operations can raise an error, and which error?</a:t>
            </a:r>
            <a:endParaRPr lang="en-US" sz="135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examples show a value the chapter's own arithmetic might surprise a student with?</a:t>
            </a:r>
            <a:endParaRPr lang="en-US" sz="135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7662672" cy="621792"/>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Which concepts reach beyond the 3rd edition into current Python, and on what source?</a:t>
            </a:r>
            <a:endParaRPr lang="en-US" sz="1350" dirty="0"/>
          </a:p>
        </p:txBody>
      </p:sp>
      <p:sp>
        <p:nvSpPr>
          <p:cNvPr id="15" name="Shape 13"/>
          <p:cNvSpPr/>
          <p:nvPr/>
        </p:nvSpPr>
        <p:spPr>
          <a:xfrm>
            <a:off x="457200" y="3931920"/>
            <a:ext cx="3538728"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3931920"/>
            <a:ext cx="353872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every answer is runnable</a:t>
            </a:r>
            <a:endParaRPr lang="en-US" sz="1250" dirty="0"/>
          </a:p>
        </p:txBody>
      </p:sp>
      <p:sp>
        <p:nvSpPr>
          <p:cNvPr id="17" name="Shape 15"/>
          <p:cNvSpPr/>
          <p:nvPr/>
        </p:nvSpPr>
        <p:spPr>
          <a:xfrm>
            <a:off x="4197096" y="3931920"/>
            <a:ext cx="3275838"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4197096" y="3931920"/>
            <a:ext cx="327583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errors are answers too</a:t>
            </a:r>
            <a:endParaRPr lang="en-US" sz="1250" dirty="0"/>
          </a:p>
        </p:txBody>
      </p:sp>
      <p:sp>
        <p:nvSpPr>
          <p:cNvPr id="19" name="Shape 17"/>
          <p:cNvSpPr/>
          <p:nvPr/>
        </p:nvSpPr>
        <p:spPr>
          <a:xfrm>
            <a:off x="457200" y="4517136"/>
            <a:ext cx="3670173"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457200" y="4517136"/>
            <a:ext cx="367017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sources on the last slide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five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Each branch is a question the chapter answers; the grey lists are the concepts that answer it, every one explained on the course page.</a:t>
            </a:r>
            <a:endParaRPr lang="en-US" sz="1250" dirty="0"/>
          </a:p>
        </p:txBody>
      </p:sp>
      <p:sp>
        <p:nvSpPr>
          <p:cNvPr id="7" name="Shape 5"/>
          <p:cNvSpPr/>
          <p:nvPr/>
        </p:nvSpPr>
        <p:spPr>
          <a:xfrm>
            <a:off x="365760" y="2715768"/>
            <a:ext cx="1417320" cy="548640"/>
          </a:xfrm>
          <a:prstGeom prst="roundRect">
            <a:avLst>
              <a:gd name="adj" fmla="val 16667"/>
            </a:avLst>
          </a:prstGeom>
          <a:solidFill>
            <a:srgbClr val="D97A14"/>
          </a:solidFill>
          <a:ln w="12700">
            <a:solidFill>
              <a:srgbClr val="D97A14"/>
            </a:solidFill>
            <a:prstDash val="solid"/>
          </a:ln>
        </p:spPr>
      </p:sp>
      <p:sp>
        <p:nvSpPr>
          <p:cNvPr id="8" name="Text 6"/>
          <p:cNvSpPr txBox="1"/>
          <p:nvPr/>
        </p:nvSpPr>
        <p:spPr>
          <a:xfrm>
            <a:off x="365760" y="2715768"/>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9" name="Shape 7"/>
          <p:cNvSpPr/>
          <p:nvPr/>
        </p:nvSpPr>
        <p:spPr>
          <a:xfrm flipV="1">
            <a:off x="1783080" y="1719072"/>
            <a:ext cx="502920" cy="1271016"/>
          </a:xfrm>
          <a:prstGeom prst="line">
            <a:avLst/>
          </a:prstGeom>
          <a:noFill/>
          <a:ln w="13970">
            <a:solidFill>
              <a:srgbClr val="C9BFAE"/>
            </a:solidFill>
            <a:prstDash val="solid"/>
          </a:ln>
        </p:spPr>
      </p:sp>
      <p:sp>
        <p:nvSpPr>
          <p:cNvPr id="10" name="Shape 8"/>
          <p:cNvSpPr/>
          <p:nvPr/>
        </p:nvSpPr>
        <p:spPr>
          <a:xfrm>
            <a:off x="2331720" y="1481328"/>
            <a:ext cx="1691640" cy="475488"/>
          </a:xfrm>
          <a:prstGeom prst="roundRect">
            <a:avLst>
              <a:gd name="adj" fmla="val 15385"/>
            </a:avLst>
          </a:prstGeom>
          <a:solidFill>
            <a:srgbClr val="2F6D62"/>
          </a:solidFill>
          <a:ln w="9525">
            <a:solidFill>
              <a:srgbClr val="2F6D62"/>
            </a:solidFill>
            <a:prstDash val="solid"/>
          </a:ln>
        </p:spPr>
      </p:sp>
      <p:sp>
        <p:nvSpPr>
          <p:cNvPr id="11" name="Text 9"/>
          <p:cNvSpPr txBox="1"/>
          <p:nvPr/>
        </p:nvSpPr>
        <p:spPr>
          <a:xfrm>
            <a:off x="2386584" y="1481328"/>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Value</a:t>
            </a:r>
            <a:endParaRPr lang="en-US" sz="1300" dirty="0"/>
          </a:p>
        </p:txBody>
      </p:sp>
      <p:sp>
        <p:nvSpPr>
          <p:cNvPr id="12" name="Shape 10"/>
          <p:cNvSpPr/>
          <p:nvPr/>
        </p:nvSpPr>
        <p:spPr>
          <a:xfrm>
            <a:off x="4023360" y="1719072"/>
            <a:ext cx="274320" cy="0"/>
          </a:xfrm>
          <a:prstGeom prst="line">
            <a:avLst/>
          </a:prstGeom>
          <a:noFill/>
          <a:ln w="13970">
            <a:solidFill>
              <a:srgbClr val="C9BFAE"/>
            </a:solidFill>
            <a:prstDash val="solid"/>
          </a:ln>
        </p:spPr>
      </p:sp>
      <p:sp>
        <p:nvSpPr>
          <p:cNvPr id="13" name="Shape 11"/>
          <p:cNvSpPr/>
          <p:nvPr/>
        </p:nvSpPr>
        <p:spPr>
          <a:xfrm>
            <a:off x="4297680" y="1499616"/>
            <a:ext cx="4480560" cy="438912"/>
          </a:xfrm>
          <a:prstGeom prst="roundRect">
            <a:avLst>
              <a:gd name="adj" fmla="val 12500"/>
            </a:avLst>
          </a:prstGeom>
          <a:solidFill>
            <a:srgbClr val="F2ECE1"/>
          </a:solidFill>
          <a:ln w="6350">
            <a:solidFill>
              <a:srgbClr val="DFD6C7"/>
            </a:solidFill>
            <a:prstDash val="solid"/>
          </a:ln>
        </p:spPr>
      </p:sp>
      <p:sp>
        <p:nvSpPr>
          <p:cNvPr id="14" name="Text 12"/>
          <p:cNvSpPr txBox="1"/>
          <p:nvPr/>
        </p:nvSpPr>
        <p:spPr>
          <a:xfrm>
            <a:off x="4407408" y="1499616"/>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Numeric Value  ·  Text Value  ·  Value Model</a:t>
            </a:r>
            <a:endParaRPr lang="en-US" sz="1200" dirty="0"/>
          </a:p>
        </p:txBody>
      </p:sp>
      <p:sp>
        <p:nvSpPr>
          <p:cNvPr id="15" name="Shape 13"/>
          <p:cNvSpPr/>
          <p:nvPr/>
        </p:nvSpPr>
        <p:spPr>
          <a:xfrm flipV="1">
            <a:off x="1783080" y="2354580"/>
            <a:ext cx="502920" cy="635508"/>
          </a:xfrm>
          <a:prstGeom prst="line">
            <a:avLst/>
          </a:prstGeom>
          <a:noFill/>
          <a:ln w="13970">
            <a:solidFill>
              <a:srgbClr val="C9BFAE"/>
            </a:solidFill>
            <a:prstDash val="solid"/>
          </a:ln>
        </p:spPr>
      </p:sp>
      <p:sp>
        <p:nvSpPr>
          <p:cNvPr id="16" name="Shape 14"/>
          <p:cNvSpPr/>
          <p:nvPr/>
        </p:nvSpPr>
        <p:spPr>
          <a:xfrm>
            <a:off x="2331720" y="2116836"/>
            <a:ext cx="1691640" cy="475488"/>
          </a:xfrm>
          <a:prstGeom prst="roundRect">
            <a:avLst>
              <a:gd name="adj" fmla="val 15385"/>
            </a:avLst>
          </a:prstGeom>
          <a:solidFill>
            <a:srgbClr val="2F6D62"/>
          </a:solidFill>
          <a:ln w="9525">
            <a:solidFill>
              <a:srgbClr val="2F6D62"/>
            </a:solidFill>
            <a:prstDash val="solid"/>
          </a:ln>
        </p:spPr>
      </p:sp>
      <p:sp>
        <p:nvSpPr>
          <p:cNvPr id="17" name="Text 15"/>
          <p:cNvSpPr txBox="1"/>
          <p:nvPr/>
        </p:nvSpPr>
        <p:spPr>
          <a:xfrm>
            <a:off x="2386584" y="2116836"/>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Operation</a:t>
            </a:r>
            <a:endParaRPr lang="en-US" sz="1300" dirty="0"/>
          </a:p>
        </p:txBody>
      </p:sp>
      <p:sp>
        <p:nvSpPr>
          <p:cNvPr id="18" name="Shape 16"/>
          <p:cNvSpPr/>
          <p:nvPr/>
        </p:nvSpPr>
        <p:spPr>
          <a:xfrm>
            <a:off x="4023360" y="2354580"/>
            <a:ext cx="274320" cy="0"/>
          </a:xfrm>
          <a:prstGeom prst="line">
            <a:avLst/>
          </a:prstGeom>
          <a:noFill/>
          <a:ln w="13970">
            <a:solidFill>
              <a:srgbClr val="C9BFAE"/>
            </a:solidFill>
            <a:prstDash val="solid"/>
          </a:ln>
        </p:spPr>
      </p:sp>
      <p:sp>
        <p:nvSpPr>
          <p:cNvPr id="19" name="Shape 17"/>
          <p:cNvSpPr/>
          <p:nvPr/>
        </p:nvSpPr>
        <p:spPr>
          <a:xfrm>
            <a:off x="4297680" y="2135124"/>
            <a:ext cx="4480560" cy="438912"/>
          </a:xfrm>
          <a:prstGeom prst="roundRect">
            <a:avLst>
              <a:gd name="adj" fmla="val 12500"/>
            </a:avLst>
          </a:prstGeom>
          <a:solidFill>
            <a:srgbClr val="F2ECE1"/>
          </a:solidFill>
          <a:ln w="6350">
            <a:solidFill>
              <a:srgbClr val="DFD6C7"/>
            </a:solidFill>
            <a:prstDash val="solid"/>
          </a:ln>
        </p:spPr>
      </p:sp>
      <p:sp>
        <p:nvSpPr>
          <p:cNvPr id="20" name="Text 18"/>
          <p:cNvSpPr txBox="1"/>
          <p:nvPr/>
        </p:nvSpPr>
        <p:spPr>
          <a:xfrm>
            <a:off x="4407408" y="2135124"/>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Arithmetic Operation  ·  Text Operation  ·  Binding Operation</a:t>
            </a:r>
            <a:endParaRPr lang="en-US" sz="1200" dirty="0"/>
          </a:p>
        </p:txBody>
      </p:sp>
      <p:sp>
        <p:nvSpPr>
          <p:cNvPr id="21" name="Shape 19"/>
          <p:cNvSpPr/>
          <p:nvPr/>
        </p:nvSpPr>
        <p:spPr>
          <a:xfrm flipV="1">
            <a:off x="1783080" y="2990088"/>
            <a:ext cx="502920" cy="0"/>
          </a:xfrm>
          <a:prstGeom prst="line">
            <a:avLst/>
          </a:prstGeom>
          <a:noFill/>
          <a:ln w="13970">
            <a:solidFill>
              <a:srgbClr val="C9BFAE"/>
            </a:solidFill>
            <a:prstDash val="solid"/>
          </a:ln>
        </p:spPr>
      </p:sp>
      <p:sp>
        <p:nvSpPr>
          <p:cNvPr id="22" name="Shape 20"/>
          <p:cNvSpPr/>
          <p:nvPr/>
        </p:nvSpPr>
        <p:spPr>
          <a:xfrm>
            <a:off x="2331720" y="2752344"/>
            <a:ext cx="1691640" cy="475488"/>
          </a:xfrm>
          <a:prstGeom prst="roundRect">
            <a:avLst>
              <a:gd name="adj" fmla="val 15385"/>
            </a:avLst>
          </a:prstGeom>
          <a:solidFill>
            <a:srgbClr val="2F6D62"/>
          </a:solidFill>
          <a:ln w="9525">
            <a:solidFill>
              <a:srgbClr val="2F6D62"/>
            </a:solidFill>
            <a:prstDash val="solid"/>
          </a:ln>
        </p:spPr>
      </p:sp>
      <p:sp>
        <p:nvSpPr>
          <p:cNvPr id="23" name="Text 21"/>
          <p:cNvSpPr txBox="1"/>
          <p:nvPr/>
        </p:nvSpPr>
        <p:spPr>
          <a:xfrm>
            <a:off x="2386584" y="2752344"/>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Built In Function</a:t>
            </a:r>
            <a:endParaRPr lang="en-US" sz="1300" dirty="0"/>
          </a:p>
        </p:txBody>
      </p:sp>
      <p:sp>
        <p:nvSpPr>
          <p:cNvPr id="24" name="Shape 22"/>
          <p:cNvSpPr/>
          <p:nvPr/>
        </p:nvSpPr>
        <p:spPr>
          <a:xfrm>
            <a:off x="4023360" y="2990088"/>
            <a:ext cx="274320" cy="0"/>
          </a:xfrm>
          <a:prstGeom prst="line">
            <a:avLst/>
          </a:prstGeom>
          <a:noFill/>
          <a:ln w="13970">
            <a:solidFill>
              <a:srgbClr val="C9BFAE"/>
            </a:solidFill>
            <a:prstDash val="solid"/>
          </a:ln>
        </p:spPr>
      </p:sp>
      <p:sp>
        <p:nvSpPr>
          <p:cNvPr id="25" name="Shape 23"/>
          <p:cNvSpPr/>
          <p:nvPr/>
        </p:nvSpPr>
        <p:spPr>
          <a:xfrm>
            <a:off x="4297680" y="2770632"/>
            <a:ext cx="4480560" cy="438912"/>
          </a:xfrm>
          <a:prstGeom prst="roundRect">
            <a:avLst>
              <a:gd name="adj" fmla="val 12500"/>
            </a:avLst>
          </a:prstGeom>
          <a:solidFill>
            <a:srgbClr val="F2ECE1"/>
          </a:solidFill>
          <a:ln w="6350">
            <a:solidFill>
              <a:srgbClr val="DFD6C7"/>
            </a:solidFill>
            <a:prstDash val="solid"/>
          </a:ln>
        </p:spPr>
      </p:sp>
      <p:sp>
        <p:nvSpPr>
          <p:cNvPr id="26" name="Text 24"/>
          <p:cNvSpPr txBox="1"/>
          <p:nvPr/>
        </p:nvSpPr>
        <p:spPr>
          <a:xfrm>
            <a:off x="4407408" y="2770632"/>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Call Mechanism  ·  IOFunction  ·  Conversion Function  ·  Measurement Function</a:t>
            </a:r>
            <a:endParaRPr lang="en-US" sz="1200" dirty="0"/>
          </a:p>
        </p:txBody>
      </p:sp>
      <p:sp>
        <p:nvSpPr>
          <p:cNvPr id="27" name="Shape 25"/>
          <p:cNvSpPr/>
          <p:nvPr/>
        </p:nvSpPr>
        <p:spPr>
          <a:xfrm>
            <a:off x="1783080" y="2990088"/>
            <a:ext cx="502920" cy="635508"/>
          </a:xfrm>
          <a:prstGeom prst="line">
            <a:avLst/>
          </a:prstGeom>
          <a:noFill/>
          <a:ln w="13970">
            <a:solidFill>
              <a:srgbClr val="C9BFAE"/>
            </a:solidFill>
            <a:prstDash val="solid"/>
          </a:ln>
        </p:spPr>
      </p:sp>
      <p:sp>
        <p:nvSpPr>
          <p:cNvPr id="28" name="Shape 26"/>
          <p:cNvSpPr/>
          <p:nvPr/>
        </p:nvSpPr>
        <p:spPr>
          <a:xfrm>
            <a:off x="2331720" y="3387852"/>
            <a:ext cx="1691640" cy="475488"/>
          </a:xfrm>
          <a:prstGeom prst="roundRect">
            <a:avLst>
              <a:gd name="adj" fmla="val 15385"/>
            </a:avLst>
          </a:prstGeom>
          <a:solidFill>
            <a:srgbClr val="2F6D62"/>
          </a:solidFill>
          <a:ln w="9525">
            <a:solidFill>
              <a:srgbClr val="2F6D62"/>
            </a:solidFill>
            <a:prstDash val="solid"/>
          </a:ln>
        </p:spPr>
      </p:sp>
      <p:sp>
        <p:nvSpPr>
          <p:cNvPr id="29" name="Text 27"/>
          <p:cNvSpPr txBox="1"/>
          <p:nvPr/>
        </p:nvSpPr>
        <p:spPr>
          <a:xfrm>
            <a:off x="2386584" y="33878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Execution Environment</a:t>
            </a:r>
            <a:endParaRPr lang="en-US" sz="1300" dirty="0"/>
          </a:p>
        </p:txBody>
      </p:sp>
      <p:sp>
        <p:nvSpPr>
          <p:cNvPr id="30" name="Shape 28"/>
          <p:cNvSpPr/>
          <p:nvPr/>
        </p:nvSpPr>
        <p:spPr>
          <a:xfrm>
            <a:off x="4023360" y="3625596"/>
            <a:ext cx="274320" cy="0"/>
          </a:xfrm>
          <a:prstGeom prst="line">
            <a:avLst/>
          </a:prstGeom>
          <a:noFill/>
          <a:ln w="13970">
            <a:solidFill>
              <a:srgbClr val="C9BFAE"/>
            </a:solidFill>
            <a:prstDash val="solid"/>
          </a:ln>
        </p:spPr>
      </p:sp>
      <p:sp>
        <p:nvSpPr>
          <p:cNvPr id="31" name="Shape 29"/>
          <p:cNvSpPr/>
          <p:nvPr/>
        </p:nvSpPr>
        <p:spPr>
          <a:xfrm>
            <a:off x="4297680" y="3406140"/>
            <a:ext cx="4480560" cy="438912"/>
          </a:xfrm>
          <a:prstGeom prst="roundRect">
            <a:avLst>
              <a:gd name="adj" fmla="val 12500"/>
            </a:avLst>
          </a:prstGeom>
          <a:solidFill>
            <a:srgbClr val="F2ECE1"/>
          </a:solidFill>
          <a:ln w="6350">
            <a:solidFill>
              <a:srgbClr val="DFD6C7"/>
            </a:solidFill>
            <a:prstDash val="solid"/>
          </a:ln>
        </p:spPr>
      </p:sp>
      <p:sp>
        <p:nvSpPr>
          <p:cNvPr id="32" name="Text 30"/>
          <p:cNvSpPr txBox="1"/>
          <p:nvPr/>
        </p:nvSpPr>
        <p:spPr>
          <a:xfrm>
            <a:off x="4407408" y="34061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Interactive Environment  ·  Python Implementation  ·  Interpreter Build  ·  Python Release</a:t>
            </a:r>
            <a:endParaRPr lang="en-US" sz="1200" dirty="0"/>
          </a:p>
        </p:txBody>
      </p:sp>
      <p:sp>
        <p:nvSpPr>
          <p:cNvPr id="33" name="Shape 31"/>
          <p:cNvSpPr/>
          <p:nvPr/>
        </p:nvSpPr>
        <p:spPr>
          <a:xfrm>
            <a:off x="1783080" y="2990088"/>
            <a:ext cx="502920" cy="1271016"/>
          </a:xfrm>
          <a:prstGeom prst="line">
            <a:avLst/>
          </a:prstGeom>
          <a:noFill/>
          <a:ln w="13970">
            <a:solidFill>
              <a:srgbClr val="C9BFAE"/>
            </a:solidFill>
            <a:prstDash val="solid"/>
          </a:ln>
        </p:spPr>
      </p:sp>
      <p:sp>
        <p:nvSpPr>
          <p:cNvPr id="34" name="Shape 32"/>
          <p:cNvSpPr/>
          <p:nvPr/>
        </p:nvSpPr>
        <p:spPr>
          <a:xfrm>
            <a:off x="2331720" y="4023360"/>
            <a:ext cx="1691640" cy="475488"/>
          </a:xfrm>
          <a:prstGeom prst="roundRect">
            <a:avLst>
              <a:gd name="adj" fmla="val 15385"/>
            </a:avLst>
          </a:prstGeom>
          <a:solidFill>
            <a:srgbClr val="2F6D62"/>
          </a:solidFill>
          <a:ln w="9525">
            <a:solidFill>
              <a:srgbClr val="2F6D62"/>
            </a:solidFill>
            <a:prstDash val="solid"/>
          </a:ln>
        </p:spPr>
      </p:sp>
      <p:sp>
        <p:nvSpPr>
          <p:cNvPr id="35" name="Text 33"/>
          <p:cNvSpPr txBox="1"/>
          <p:nvPr/>
        </p:nvSpPr>
        <p:spPr>
          <a:xfrm>
            <a:off x="2386584" y="402336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Modern Practice</a:t>
            </a:r>
            <a:endParaRPr lang="en-US" sz="1300" dirty="0"/>
          </a:p>
        </p:txBody>
      </p:sp>
      <p:sp>
        <p:nvSpPr>
          <p:cNvPr id="36" name="Shape 34"/>
          <p:cNvSpPr/>
          <p:nvPr/>
        </p:nvSpPr>
        <p:spPr>
          <a:xfrm>
            <a:off x="4023360" y="4261104"/>
            <a:ext cx="274320" cy="0"/>
          </a:xfrm>
          <a:prstGeom prst="line">
            <a:avLst/>
          </a:prstGeom>
          <a:noFill/>
          <a:ln w="13970">
            <a:solidFill>
              <a:srgbClr val="C9BFAE"/>
            </a:solidFill>
            <a:prstDash val="solid"/>
          </a:ln>
        </p:spPr>
      </p:sp>
      <p:sp>
        <p:nvSpPr>
          <p:cNvPr id="37" name="Shape 35"/>
          <p:cNvSpPr/>
          <p:nvPr/>
        </p:nvSpPr>
        <p:spPr>
          <a:xfrm>
            <a:off x="4297680" y="4041648"/>
            <a:ext cx="4480560" cy="438912"/>
          </a:xfrm>
          <a:prstGeom prst="roundRect">
            <a:avLst>
              <a:gd name="adj" fmla="val 12500"/>
            </a:avLst>
          </a:prstGeom>
          <a:solidFill>
            <a:srgbClr val="F2ECE1"/>
          </a:solidFill>
          <a:ln w="6350">
            <a:solidFill>
              <a:srgbClr val="DFD6C7"/>
            </a:solidFill>
            <a:prstDash val="solid"/>
          </a:ln>
        </p:spPr>
      </p:sp>
      <p:sp>
        <p:nvSpPr>
          <p:cNvPr id="38" name="Text 36"/>
          <p:cNvSpPr txBox="1"/>
          <p:nvPr/>
        </p:nvSpPr>
        <p:spPr>
          <a:xfrm>
            <a:off x="4407408" y="404164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String Formatting  ·  Tooling</a:t>
            </a:r>
            <a:endParaRPr lang="en-US" sz="12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branches - every slide today lives on this map</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Values and types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prompt computes with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shell</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Integers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Floats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23</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Christmas project named after a comedy troupe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1989-12 to 1991-02</a:t>
            </a:r>
            <a:endParaRPr lang="en-US" sz="1300" dirty="0"/>
          </a:p>
        </p:txBody>
      </p:sp>
      <p:pic>
        <p:nvPicPr>
          <p:cNvPr id="6" name="Image 0" descr="../../03-materials/ch01/assets/photo_guido_van_rossum.jpg">    </p:cNvPr>
          <p:cNvPicPr>
            <a:picLocks noChangeAspect="1"/>
          </p:cNvPicPr>
          <p:nvPr/>
        </p:nvPicPr>
        <p:blipFill>
          <a:blip r:embed="rId1"/>
          <a:srcRect l="0" r="0" t="0" b="0"/>
          <a:stretch/>
        </p:blipFill>
        <p:spPr>
          <a:xfrm>
            <a:off x="457200" y="1325880"/>
            <a:ext cx="2834640" cy="2194560"/>
          </a:xfrm>
          <a:prstGeom prst="rect">
            <a:avLst/>
          </a:prstGeom>
        </p:spPr>
      </p:pic>
      <p:sp>
        <p:nvSpPr>
          <p:cNvPr id="7" name="Text 4"/>
          <p:cNvSpPr txBox="1"/>
          <p:nvPr/>
        </p:nvSpPr>
        <p:spPr>
          <a:xfrm>
            <a:off x="457200" y="3538728"/>
            <a:ext cx="28346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3657600" y="1570482"/>
            <a:ext cx="128016" cy="128016"/>
          </a:xfrm>
          <a:prstGeom prst="diamond">
            <a:avLst/>
          </a:prstGeom>
          <a:solidFill>
            <a:srgbClr val="D97A14"/>
          </a:solidFill>
          <a:ln w="12700">
            <a:solidFill>
              <a:srgbClr val="D97A14"/>
            </a:solidFill>
            <a:prstDash val="solid"/>
          </a:ln>
        </p:spPr>
      </p:sp>
      <p:sp>
        <p:nvSpPr>
          <p:cNvPr id="9" name="Text 6"/>
          <p:cNvSpPr txBox="1"/>
          <p:nvPr/>
        </p:nvSpPr>
        <p:spPr>
          <a:xfrm>
            <a:off x="3931920" y="137160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December 1989: a hobby interpreter for a closed office</a:t>
            </a:r>
            <a:endParaRPr lang="en-US" sz="1300" dirty="0"/>
          </a:p>
        </p:txBody>
      </p:sp>
      <p:sp>
        <p:nvSpPr>
          <p:cNvPr id="10" name="Shape 7"/>
          <p:cNvSpPr/>
          <p:nvPr/>
        </p:nvSpPr>
        <p:spPr>
          <a:xfrm>
            <a:off x="3657600" y="209626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931920" y="189738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Named for Monty Python's Flying Circus - not the snake</a:t>
            </a:r>
            <a:endParaRPr lang="en-US" sz="1300" dirty="0"/>
          </a:p>
        </p:txBody>
      </p:sp>
      <p:sp>
        <p:nvSpPr>
          <p:cNvPr id="12" name="Shape 9"/>
          <p:cNvSpPr/>
          <p:nvPr/>
        </p:nvSpPr>
        <p:spPr>
          <a:xfrm>
            <a:off x="3657600" y="26220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931920" y="242316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February 1991: version 0.9.0 posted to alt.sources</a:t>
            </a:r>
            <a:endParaRPr lang="en-US" sz="1300" dirty="0"/>
          </a:p>
        </p:txBody>
      </p:sp>
      <p:sp>
        <p:nvSpPr>
          <p:cNvPr id="14" name="Shape 11"/>
          <p:cNvSpPr/>
          <p:nvPr/>
        </p:nvSpPr>
        <p:spPr>
          <a:xfrm>
            <a:off x="3657600" y="3147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931920" y="2948940"/>
            <a:ext cx="4754880" cy="52578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Three decades of 'Benevolent Dictator For Life' followed</a:t>
            </a:r>
            <a:endParaRPr lang="en-US" sz="13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Guido van Rossum, at CWI in Amsterdam</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released to the alt.sources newsgroup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1989-12 to 1991-…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person's holiday itch became your semester's tool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23</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prompt is a calculator that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REPL: read, evaluate, print, loop</a:t>
            </a:r>
            <a:endParaRPr lang="en-US" sz="1300" dirty="0"/>
          </a:p>
        </p:txBody>
      </p:sp>
      <p:sp>
        <p:nvSpPr>
          <p:cNvPr id="6" name="Shape 4"/>
          <p:cNvSpPr/>
          <p:nvPr/>
        </p:nvSpPr>
        <p:spPr>
          <a:xfrm>
            <a:off x="457200" y="1417320"/>
            <a:ext cx="1700784" cy="1005840"/>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530352"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you type 2 + 2</a:t>
            </a:r>
            <a:endParaRPr lang="en-US" sz="1250" dirty="0"/>
          </a:p>
        </p:txBody>
      </p:sp>
      <p:sp>
        <p:nvSpPr>
          <p:cNvPr id="8" name="Shape 6"/>
          <p:cNvSpPr/>
          <p:nvPr/>
        </p:nvSpPr>
        <p:spPr>
          <a:xfrm>
            <a:off x="2212848" y="1920240"/>
            <a:ext cx="365760" cy="0"/>
          </a:xfrm>
          <a:prstGeom prst="line">
            <a:avLst/>
          </a:prstGeom>
          <a:noFill/>
          <a:ln w="25400">
            <a:solidFill>
              <a:srgbClr val="D97A14"/>
            </a:solidFill>
            <a:prstDash val="solid"/>
            <a:tailEnd type="triangle"/>
          </a:ln>
        </p:spPr>
      </p:sp>
      <p:sp>
        <p:nvSpPr>
          <p:cNvPr id="9" name="Shape 7"/>
          <p:cNvSpPr/>
          <p:nvPr/>
        </p:nvSpPr>
        <p:spPr>
          <a:xfrm>
            <a:off x="2633472" y="1417320"/>
            <a:ext cx="1700784" cy="1005840"/>
          </a:xfrm>
          <a:prstGeom prst="roundRect">
            <a:avLst>
              <a:gd name="adj" fmla="val 9091"/>
            </a:avLst>
          </a:prstGeom>
          <a:solidFill>
            <a:srgbClr val="2F6D62"/>
          </a:solidFill>
          <a:ln w="12700">
            <a:solidFill>
              <a:srgbClr val="2F6D62"/>
            </a:solidFill>
            <a:prstDash val="solid"/>
          </a:ln>
        </p:spPr>
      </p:sp>
      <p:sp>
        <p:nvSpPr>
          <p:cNvPr id="10" name="Text 8"/>
          <p:cNvSpPr txBox="1"/>
          <p:nvPr/>
        </p:nvSpPr>
        <p:spPr>
          <a:xfrm>
            <a:off x="2706624"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Evaluate</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Python computes</a:t>
            </a:r>
            <a:endParaRPr lang="en-US" sz="1250" dirty="0"/>
          </a:p>
        </p:txBody>
      </p:sp>
      <p:sp>
        <p:nvSpPr>
          <p:cNvPr id="11" name="Shape 9"/>
          <p:cNvSpPr/>
          <p:nvPr/>
        </p:nvSpPr>
        <p:spPr>
          <a:xfrm>
            <a:off x="4389120" y="1920240"/>
            <a:ext cx="365760" cy="0"/>
          </a:xfrm>
          <a:prstGeom prst="line">
            <a:avLst/>
          </a:prstGeom>
          <a:noFill/>
          <a:ln w="25400">
            <a:solidFill>
              <a:srgbClr val="D97A14"/>
            </a:solidFill>
            <a:prstDash val="solid"/>
            <a:tailEnd type="triangle"/>
          </a:ln>
        </p:spPr>
      </p:sp>
      <p:sp>
        <p:nvSpPr>
          <p:cNvPr id="12" name="Shape 10"/>
          <p:cNvSpPr/>
          <p:nvPr/>
        </p:nvSpPr>
        <p:spPr>
          <a:xfrm>
            <a:off x="4809744" y="1417320"/>
            <a:ext cx="1700784" cy="1005840"/>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4882896"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Print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4 appears</a:t>
            </a:r>
            <a:endParaRPr lang="en-US" sz="1250" dirty="0"/>
          </a:p>
        </p:txBody>
      </p:sp>
      <p:sp>
        <p:nvSpPr>
          <p:cNvPr id="14" name="Shape 12"/>
          <p:cNvSpPr/>
          <p:nvPr/>
        </p:nvSpPr>
        <p:spPr>
          <a:xfrm>
            <a:off x="6565392" y="1920240"/>
            <a:ext cx="365760" cy="0"/>
          </a:xfrm>
          <a:prstGeom prst="line">
            <a:avLst/>
          </a:prstGeom>
          <a:noFill/>
          <a:ln w="25400">
            <a:solidFill>
              <a:srgbClr val="D97A14"/>
            </a:solidFill>
            <a:prstDash val="solid"/>
            <a:tailEnd type="triangle"/>
          </a:ln>
        </p:spPr>
      </p:sp>
      <p:sp>
        <p:nvSpPr>
          <p:cNvPr id="15" name="Shape 13"/>
          <p:cNvSpPr/>
          <p:nvPr/>
        </p:nvSpPr>
        <p:spPr>
          <a:xfrm>
            <a:off x="6986016" y="1417320"/>
            <a:ext cx="1700784" cy="1005840"/>
          </a:xfrm>
          <a:prstGeom prst="roundRect">
            <a:avLst>
              <a:gd name="adj" fmla="val 9091"/>
            </a:avLst>
          </a:prstGeom>
          <a:solidFill>
            <a:srgbClr val="2F6D62"/>
          </a:solidFill>
          <a:ln w="12700">
            <a:solidFill>
              <a:srgbClr val="2F6D62"/>
            </a:solidFill>
            <a:prstDash val="solid"/>
          </a:ln>
        </p:spPr>
      </p:sp>
      <p:sp>
        <p:nvSpPr>
          <p:cNvPr id="16" name="Text 14"/>
          <p:cNvSpPr txBox="1"/>
          <p:nvPr/>
        </p:nvSpPr>
        <p:spPr>
          <a:xfrm>
            <a:off x="7059168" y="1463040"/>
            <a:ext cx="1554480" cy="9144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Loop</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prompt returns</a:t>
            </a:r>
            <a:endParaRPr lang="en-US" sz="1250" dirty="0"/>
          </a:p>
        </p:txBody>
      </p:sp>
      <p:sp>
        <p:nvSpPr>
          <p:cNvPr id="17" name="Text 15"/>
          <p:cNvSpPr txBox="1"/>
          <p:nvPr/>
        </p:nvSpPr>
        <p:spPr>
          <a:xfrm>
            <a:off x="457200" y="242316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your first three answers</a:t>
            </a:r>
            <a:endParaRPr lang="en-US" sz="1150" dirty="0"/>
          </a:p>
        </p:txBody>
      </p:sp>
      <p:sp>
        <p:nvSpPr>
          <p:cNvPr id="18" name="Shape 16"/>
          <p:cNvSpPr/>
          <p:nvPr/>
        </p:nvSpPr>
        <p:spPr>
          <a:xfrm>
            <a:off x="457200" y="2697480"/>
            <a:ext cx="3931920" cy="1188720"/>
          </a:xfrm>
          <a:prstGeom prst="roundRect">
            <a:avLst>
              <a:gd name="adj" fmla="val 7692"/>
            </a:avLst>
          </a:prstGeom>
          <a:solidFill>
            <a:srgbClr val="23272E"/>
          </a:solidFill>
          <a:ln w="12700">
            <a:solidFill>
              <a:srgbClr val="23272E"/>
            </a:solidFill>
            <a:prstDash val="solid"/>
          </a:ln>
        </p:spPr>
      </p:sp>
      <p:sp>
        <p:nvSpPr>
          <p:cNvPr id="19" name="Text 17"/>
          <p:cNvSpPr txBox="1"/>
          <p:nvPr/>
        </p:nvSpPr>
        <p:spPr>
          <a:xfrm>
            <a:off x="640080" y="2816352"/>
            <a:ext cx="356616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+ 2</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4</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+ 3 * 6</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20</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(2 + 3) * 6</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30</a:t>
            </a:r>
            <a:endParaRPr lang="en-US" sz="920" dirty="0"/>
          </a:p>
        </p:txBody>
      </p:sp>
      <p:sp>
        <p:nvSpPr>
          <p:cNvPr id="20" name="Text 18"/>
          <p:cNvSpPr txBox="1"/>
          <p:nvPr/>
        </p:nvSpPr>
        <p:spPr>
          <a:xfrm>
            <a:off x="457200" y="39044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1" name="Text 19"/>
          <p:cNvSpPr txBox="1"/>
          <p:nvPr/>
        </p:nvSpPr>
        <p:spPr>
          <a:xfrm>
            <a:off x="4663440" y="24231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 expression always becomes one value</a:t>
            </a:r>
            <a:endParaRPr lang="en-US" sz="1150" dirty="0"/>
          </a:p>
        </p:txBody>
      </p:sp>
      <p:sp>
        <p:nvSpPr>
          <p:cNvPr id="22" name="Shape 20"/>
          <p:cNvSpPr/>
          <p:nvPr/>
        </p:nvSpPr>
        <p:spPr>
          <a:xfrm>
            <a:off x="4663440" y="2697480"/>
            <a:ext cx="4023360" cy="914400"/>
          </a:xfrm>
          <a:prstGeom prst="roundRect">
            <a:avLst>
              <a:gd name="adj" fmla="val 10000"/>
            </a:avLst>
          </a:prstGeom>
          <a:solidFill>
            <a:srgbClr val="23272E"/>
          </a:solidFill>
          <a:ln w="12700">
            <a:solidFill>
              <a:srgbClr val="23272E"/>
            </a:solidFill>
            <a:prstDash val="solid"/>
          </a:ln>
        </p:spPr>
      </p:sp>
      <p:sp>
        <p:nvSpPr>
          <p:cNvPr id="23" name="Text 21"/>
          <p:cNvSpPr txBox="1"/>
          <p:nvPr/>
        </p:nvSpPr>
        <p:spPr>
          <a:xfrm>
            <a:off x="4846320" y="2816352"/>
            <a:ext cx="3657600" cy="67665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3 * (2 + 4)</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18</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2 + 3 * 6</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20</a:t>
            </a:r>
            <a:endParaRPr lang="en-US" sz="970" dirty="0"/>
          </a:p>
        </p:txBody>
      </p:sp>
      <p:sp>
        <p:nvSpPr>
          <p:cNvPr id="24" name="Text 22"/>
          <p:cNvSpPr txBox="1"/>
          <p:nvPr/>
        </p:nvSpPr>
        <p:spPr>
          <a:xfrm>
            <a:off x="4663440" y="36301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Type, Enter, answer - the whole course fits this loop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23</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Three types you will meet every day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And the function that names them</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 answers with the type itself</a:t>
            </a:r>
            <a:endParaRPr lang="en-US" sz="1150" dirty="0"/>
          </a:p>
        </p:txBody>
      </p:sp>
      <p:sp>
        <p:nvSpPr>
          <p:cNvPr id="7" name="Shape 5"/>
          <p:cNvSpPr/>
          <p:nvPr/>
        </p:nvSpPr>
        <p:spPr>
          <a:xfrm>
            <a:off x="457200" y="1463040"/>
            <a:ext cx="3931920" cy="1234440"/>
          </a:xfrm>
          <a:prstGeom prst="roundRect">
            <a:avLst>
              <a:gd name="adj" fmla="val 7407"/>
            </a:avLst>
          </a:prstGeom>
          <a:solidFill>
            <a:srgbClr val="23272E"/>
          </a:solidFill>
          <a:ln w="12700">
            <a:solidFill>
              <a:srgbClr val="23272E"/>
            </a:solidFill>
            <a:prstDash val="solid"/>
          </a:ln>
        </p:spPr>
      </p:sp>
      <p:sp>
        <p:nvSpPr>
          <p:cNvPr id="8" name="Text 6"/>
          <p:cNvSpPr txBox="1"/>
          <p:nvPr/>
        </p:nvSpPr>
        <p:spPr>
          <a:xfrm>
            <a:off x="640080" y="1581912"/>
            <a:ext cx="3566160" cy="996696"/>
          </a:xfrm>
          <a:prstGeom prst="rect">
            <a:avLst/>
          </a:prstGeom>
          <a:noFill/>
          <a:ln/>
        </p:spPr>
        <p:txBody>
          <a:bodyPr wrap="square" lIns="0" tIns="0" rIns="0" bIns="0" rtlCol="0" anchor="t"/>
          <a:lstStyle/>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type(7)</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'int'&gt;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type(3.5)</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'float'&gt;</a:t>
            </a:r>
            <a:endParaRPr lang="en-US" sz="970" dirty="0"/>
          </a:p>
          <a:p>
            <a:pPr indent="0" marL="0">
              <a:buNone/>
            </a:pPr>
            <a:r>
              <a:rPr lang="en-US" sz="970" b="1" dirty="0">
                <a:solidFill>
                  <a:srgbClr val="D97A14"/>
                </a:solidFill>
                <a:latin typeface="Courier New" pitchFamily="34" charset="0"/>
                <a:ea typeface="Courier New" pitchFamily="34" charset="-122"/>
                <a:cs typeface="Courier New" pitchFamily="34" charset="-120"/>
              </a:rPr>
              <a:t>&gt;&gt;&gt; </a:t>
            </a:r>
            <a:pPr indent="0" marL="0">
              <a:buNone/>
            </a:pPr>
            <a:r>
              <a:rPr lang="en-US" sz="970" dirty="0">
                <a:solidFill>
                  <a:srgbClr val="E6EDF3"/>
                </a:solidFill>
                <a:latin typeface="Courier New" pitchFamily="34" charset="0"/>
                <a:ea typeface="Courier New" pitchFamily="34" charset="-122"/>
                <a:cs typeface="Courier New" pitchFamily="34" charset="-120"/>
              </a:rPr>
              <a:t>type('Alice')</a:t>
            </a:r>
            <a:endParaRPr lang="en-US" sz="970" dirty="0"/>
          </a:p>
          <a:p>
            <a:pPr indent="0" marL="0">
              <a:buNone/>
            </a:pPr>
            <a:r>
              <a:rPr lang="en-US" sz="970" dirty="0">
                <a:solidFill>
                  <a:srgbClr val="7EE787"/>
                </a:solidFill>
                <a:latin typeface="Courier New" pitchFamily="34" charset="0"/>
                <a:ea typeface="Courier New" pitchFamily="34" charset="-122"/>
                <a:cs typeface="Courier New" pitchFamily="34" charset="-120"/>
              </a:rPr>
              <a:t>&lt;class 'str'&gt;</a:t>
            </a:r>
            <a:endParaRPr lang="en-US" sz="970" dirty="0"/>
          </a:p>
        </p:txBody>
      </p:sp>
      <p:sp>
        <p:nvSpPr>
          <p:cNvPr id="9" name="Text 7"/>
          <p:cNvSpPr txBox="1"/>
          <p:nvPr/>
        </p:nvSpPr>
        <p:spPr>
          <a:xfrm>
            <a:off x="457200" y="2715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integers never overflow - 2 to the 100th, exactly</a:t>
            </a:r>
            <a:endParaRPr lang="en-US" sz="1150" dirty="0"/>
          </a:p>
        </p:txBody>
      </p:sp>
      <p:sp>
        <p:nvSpPr>
          <p:cNvPr id="11" name="Shape 9"/>
          <p:cNvSpPr/>
          <p:nvPr/>
        </p:nvSpPr>
        <p:spPr>
          <a:xfrm>
            <a:off x="4663440" y="1463040"/>
            <a:ext cx="4023360" cy="1234440"/>
          </a:xfrm>
          <a:prstGeom prst="roundRect">
            <a:avLst>
              <a:gd name="adj" fmla="val 7407"/>
            </a:avLst>
          </a:prstGeom>
          <a:solidFill>
            <a:srgbClr val="23272E"/>
          </a:solidFill>
          <a:ln w="12700">
            <a:solidFill>
              <a:srgbClr val="23272E"/>
            </a:solidFill>
            <a:prstDash val="solid"/>
          </a:ln>
        </p:spPr>
      </p:sp>
      <p:sp>
        <p:nvSpPr>
          <p:cNvPr id="12" name="Text 10"/>
          <p:cNvSpPr txBox="1"/>
          <p:nvPr/>
        </p:nvSpPr>
        <p:spPr>
          <a:xfrm>
            <a:off x="4846320" y="1581912"/>
            <a:ext cx="3657600" cy="9966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2 ** 100</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1267650600228229401496703205376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7 + 1</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8</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int('42')</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42</a:t>
            </a:r>
            <a:endParaRPr lang="en-US" sz="900" dirty="0"/>
          </a:p>
        </p:txBody>
      </p:sp>
      <p:sp>
        <p:nvSpPr>
          <p:cNvPr id="13" name="Text 11"/>
          <p:cNvSpPr txBox="1"/>
          <p:nvPr/>
        </p:nvSpPr>
        <p:spPr>
          <a:xfrm>
            <a:off x="4663440" y="2715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017520"/>
            <a:ext cx="314439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017520"/>
            <a:ext cx="314439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int: whole, unlimited</a:t>
            </a:r>
            <a:endParaRPr lang="en-US" sz="1250" dirty="0"/>
          </a:p>
        </p:txBody>
      </p:sp>
      <p:sp>
        <p:nvSpPr>
          <p:cNvPr id="16" name="Shape 14"/>
          <p:cNvSpPr/>
          <p:nvPr/>
        </p:nvSpPr>
        <p:spPr>
          <a:xfrm>
            <a:off x="3802761" y="3017520"/>
            <a:ext cx="301294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802761" y="3017520"/>
            <a:ext cx="301294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float: decimal point</a:t>
            </a:r>
            <a:endParaRPr lang="en-US" sz="1250" dirty="0"/>
          </a:p>
        </p:txBody>
      </p:sp>
      <p:sp>
        <p:nvSpPr>
          <p:cNvPr id="18" name="Shape 16"/>
          <p:cNvSpPr/>
          <p:nvPr/>
        </p:nvSpPr>
        <p:spPr>
          <a:xfrm>
            <a:off x="457200" y="3602736"/>
            <a:ext cx="222427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3602736"/>
            <a:ext cx="222427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str: in quotes</a:t>
            </a:r>
            <a:endParaRPr lang="en-US" sz="1250" dirty="0"/>
          </a:p>
        </p:txBody>
      </p:sp>
      <p:sp>
        <p:nvSpPr>
          <p:cNvPr id="20" name="Text 18"/>
          <p:cNvSpPr txBox="1"/>
          <p:nvPr/>
        </p:nvSpPr>
        <p:spPr>
          <a:xfrm>
            <a:off x="457200" y="34290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mixing int and float: the result turns float</a:t>
            </a:r>
            <a:endParaRPr lang="en-US" sz="1150" dirty="0"/>
          </a:p>
        </p:txBody>
      </p:sp>
      <p:sp>
        <p:nvSpPr>
          <p:cNvPr id="21" name="Shape 19"/>
          <p:cNvSpPr/>
          <p:nvPr/>
        </p:nvSpPr>
        <p:spPr>
          <a:xfrm>
            <a:off x="457200" y="3703320"/>
            <a:ext cx="8229600" cy="777240"/>
          </a:xfrm>
          <a:prstGeom prst="roundRect">
            <a:avLst>
              <a:gd name="adj" fmla="val 11765"/>
            </a:avLst>
          </a:prstGeom>
          <a:solidFill>
            <a:srgbClr val="23272E"/>
          </a:solidFill>
          <a:ln w="12700">
            <a:solidFill>
              <a:srgbClr val="23272E"/>
            </a:solidFill>
            <a:prstDash val="solid"/>
          </a:ln>
        </p:spPr>
      </p:sp>
      <p:sp>
        <p:nvSpPr>
          <p:cNvPr id="22" name="Text 20"/>
          <p:cNvSpPr txBox="1"/>
          <p:nvPr/>
        </p:nvSpPr>
        <p:spPr>
          <a:xfrm>
            <a:off x="640080" y="3822192"/>
            <a:ext cx="786384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6 /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2.0</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4 * 3.75 - 1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14.0</a:t>
            </a:r>
            <a:endParaRPr lang="en-US" sz="760" dirty="0"/>
          </a:p>
        </p:txBody>
      </p:sp>
      <p:sp>
        <p:nvSpPr>
          <p:cNvPr id="23" name="Text 21"/>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int, float, str - and type() always tells you which</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23</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Operations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Combining values - and the rules of the queue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Operators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Precedence</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Division, three ways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String algebra</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23</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Operators, and who goes first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Precedence, parentheses, and a classic trap</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trap: -3 ** 2 is -9</a:t>
            </a:r>
            <a:endParaRPr lang="en-US" sz="1150" dirty="0"/>
          </a:p>
        </p:txBody>
      </p:sp>
      <p:sp>
        <p:nvSpPr>
          <p:cNvPr id="7" name="Shape 5"/>
          <p:cNvSpPr/>
          <p:nvPr/>
        </p:nvSpPr>
        <p:spPr>
          <a:xfrm>
            <a:off x="457200" y="1463040"/>
            <a:ext cx="3931920" cy="1737360"/>
          </a:xfrm>
          <a:prstGeom prst="roundRect">
            <a:avLst>
              <a:gd name="adj" fmla="val 5263"/>
            </a:avLst>
          </a:prstGeom>
          <a:solidFill>
            <a:srgbClr val="23272E"/>
          </a:solidFill>
          <a:ln w="12700">
            <a:solidFill>
              <a:srgbClr val="23272E"/>
            </a:solidFill>
            <a:prstDash val="solid"/>
          </a:ln>
        </p:spPr>
      </p:sp>
      <p:sp>
        <p:nvSpPr>
          <p:cNvPr id="8" name="Text 6"/>
          <p:cNvSpPr txBox="1"/>
          <p:nvPr/>
        </p:nvSpPr>
        <p:spPr>
          <a:xfrm>
            <a:off x="640080" y="1581912"/>
            <a:ext cx="3566160" cy="149961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2 + 3 * 6</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20</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(2 + 3) * 6</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30</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-3 **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-9</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(-3) **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9</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8 / 2 * 3</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12.0</a:t>
            </a:r>
            <a:endParaRPr lang="en-US" sz="890" dirty="0"/>
          </a:p>
        </p:txBody>
      </p:sp>
      <p:sp>
        <p:nvSpPr>
          <p:cNvPr id="9" name="Text 7"/>
          <p:cNvSpPr txBox="1"/>
          <p:nvPr/>
        </p:nvSpPr>
        <p:spPr>
          <a:xfrm>
            <a:off x="457200" y="32186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division three ways: /, //, %</a:t>
            </a:r>
            <a:endParaRPr lang="en-US" sz="1150" dirty="0"/>
          </a:p>
        </p:txBody>
      </p:sp>
      <p:sp>
        <p:nvSpPr>
          <p:cNvPr id="11" name="Shape 9"/>
          <p:cNvSpPr/>
          <p:nvPr/>
        </p:nvSpPr>
        <p:spPr>
          <a:xfrm>
            <a:off x="4663440" y="1463040"/>
            <a:ext cx="4023360" cy="1737360"/>
          </a:xfrm>
          <a:prstGeom prst="roundRect">
            <a:avLst>
              <a:gd name="adj" fmla="val 5263"/>
            </a:avLst>
          </a:prstGeom>
          <a:solidFill>
            <a:srgbClr val="23272E"/>
          </a:solidFill>
          <a:ln w="12700">
            <a:solidFill>
              <a:srgbClr val="23272E"/>
            </a:solidFill>
            <a:prstDash val="solid"/>
          </a:ln>
        </p:spPr>
      </p:sp>
      <p:sp>
        <p:nvSpPr>
          <p:cNvPr id="12" name="Text 10"/>
          <p:cNvSpPr txBox="1"/>
          <p:nvPr/>
        </p:nvSpPr>
        <p:spPr>
          <a:xfrm>
            <a:off x="4846320" y="1581912"/>
            <a:ext cx="3657600" cy="14996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23 / 7</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3.2857142857142856</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-7 // 2</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a:t>
            </a:r>
            <a:endParaRPr lang="en-US" sz="950" dirty="0"/>
          </a:p>
        </p:txBody>
      </p:sp>
      <p:sp>
        <p:nvSpPr>
          <p:cNvPr id="13" name="Text 11"/>
          <p:cNvSpPr txBox="1"/>
          <p:nvPr/>
        </p:nvSpPr>
        <p:spPr>
          <a:xfrm>
            <a:off x="4663440" y="321868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2560320" y="352044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560320" y="352044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when in doubt, parenthesize</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Precedence is arithmetic class all over again - parentheses win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23</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Floats are honest about being approximate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float fact that saves you hours</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This slide exists because every programmer meets 0.30000000000000004 once; meeting it today, on purpose, is cheaper.</a:t>
            </a:r>
            <a:endParaRPr lang="en-US" sz="1250" dirty="0"/>
          </a:p>
        </p:txBody>
      </p:sp>
      <p:sp>
        <p:nvSpPr>
          <p:cNvPr id="7" name="Shape 5"/>
          <p:cNvSpPr/>
          <p:nvPr/>
        </p:nvSpPr>
        <p:spPr>
          <a:xfrm>
            <a:off x="457200" y="1499616"/>
            <a:ext cx="402336" cy="402336"/>
          </a:xfrm>
          <a:prstGeom prst="ellipse">
            <a:avLst/>
          </a:prstGeom>
          <a:solidFill>
            <a:srgbClr val="D97A14"/>
          </a:solidFill>
          <a:ln w="12700">
            <a:solidFill>
              <a:srgbClr val="D97A14"/>
            </a:solidFill>
            <a:prstDash val="solid"/>
          </a:ln>
        </p:spPr>
      </p:sp>
      <p:sp>
        <p:nvSpPr>
          <p:cNvPr id="8" name="Text 6"/>
          <p:cNvSpPr txBox="1"/>
          <p:nvPr/>
        </p:nvSpPr>
        <p:spPr>
          <a:xfrm>
            <a:off x="457200" y="14996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txBox="1"/>
          <p:nvPr/>
        </p:nvSpPr>
        <p:spPr>
          <a:xfrm>
            <a:off x="1024128" y="146304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Floats are binary fractions - most decimals do not fit exactly</a:t>
            </a:r>
            <a:endParaRPr lang="en-US" sz="1050" dirty="0"/>
          </a:p>
        </p:txBody>
      </p:sp>
      <p:sp>
        <p:nvSpPr>
          <p:cNvPr id="10" name="Shape 8"/>
          <p:cNvSpPr/>
          <p:nvPr/>
        </p:nvSpPr>
        <p:spPr>
          <a:xfrm>
            <a:off x="457200" y="2078736"/>
            <a:ext cx="402336" cy="402336"/>
          </a:xfrm>
          <a:prstGeom prst="ellipse">
            <a:avLst/>
          </a:prstGeom>
          <a:solidFill>
            <a:srgbClr val="D97A14"/>
          </a:solidFill>
          <a:ln w="12700">
            <a:solidFill>
              <a:srgbClr val="D97A14"/>
            </a:solidFill>
            <a:prstDash val="solid"/>
          </a:ln>
        </p:spPr>
      </p:sp>
      <p:sp>
        <p:nvSpPr>
          <p:cNvPr id="11" name="Text 9"/>
          <p:cNvSpPr txBox="1"/>
          <p:nvPr/>
        </p:nvSpPr>
        <p:spPr>
          <a:xfrm>
            <a:off x="457200" y="2078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txBox="1"/>
          <p:nvPr/>
        </p:nvSpPr>
        <p:spPr>
          <a:xfrm>
            <a:off x="1024128" y="204216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So equality tests on floats mislead</a:t>
            </a:r>
            <a:endParaRPr lang="en-US" sz="1050" dirty="0"/>
          </a:p>
        </p:txBody>
      </p:sp>
      <p:sp>
        <p:nvSpPr>
          <p:cNvPr id="13" name="Shape 11"/>
          <p:cNvSpPr/>
          <p:nvPr/>
        </p:nvSpPr>
        <p:spPr>
          <a:xfrm>
            <a:off x="457200" y="2657856"/>
            <a:ext cx="402336" cy="402336"/>
          </a:xfrm>
          <a:prstGeom prst="ellipse">
            <a:avLst/>
          </a:prstGeom>
          <a:solidFill>
            <a:srgbClr val="D97A14"/>
          </a:solidFill>
          <a:ln w="12700">
            <a:solidFill>
              <a:srgbClr val="D97A14"/>
            </a:solidFill>
            <a:prstDash val="solid"/>
          </a:ln>
        </p:spPr>
      </p:sp>
      <p:sp>
        <p:nvSpPr>
          <p:cNvPr id="14" name="Text 12"/>
          <p:cNvSpPr txBox="1"/>
          <p:nvPr/>
        </p:nvSpPr>
        <p:spPr>
          <a:xfrm>
            <a:off x="457200" y="2657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txBox="1"/>
          <p:nvPr/>
        </p:nvSpPr>
        <p:spPr>
          <a:xfrm>
            <a:off x="1024128" y="2621280"/>
            <a:ext cx="2679192" cy="542544"/>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round() is the honest way to compare or present</a:t>
            </a:r>
            <a:endParaRPr lang="en-US" sz="1050" dirty="0"/>
          </a:p>
        </p:txBody>
      </p:sp>
      <p:sp>
        <p:nvSpPr>
          <p:cNvPr id="16" name="Text 14"/>
          <p:cNvSpPr txBox="1"/>
          <p:nvPr/>
        </p:nvSpPr>
        <p:spPr>
          <a:xfrm>
            <a:off x="3931920" y="118872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see it once, remember it forever</a:t>
            </a:r>
            <a:endParaRPr lang="en-US" sz="1150" dirty="0"/>
          </a:p>
        </p:txBody>
      </p:sp>
      <p:sp>
        <p:nvSpPr>
          <p:cNvPr id="17" name="Shape 15"/>
          <p:cNvSpPr/>
          <p:nvPr/>
        </p:nvSpPr>
        <p:spPr>
          <a:xfrm>
            <a:off x="3931920" y="1463040"/>
            <a:ext cx="4754880" cy="1371600"/>
          </a:xfrm>
          <a:prstGeom prst="roundRect">
            <a:avLst>
              <a:gd name="adj" fmla="val 6667"/>
            </a:avLst>
          </a:prstGeom>
          <a:solidFill>
            <a:srgbClr val="23272E"/>
          </a:solidFill>
          <a:ln w="12700">
            <a:solidFill>
              <a:srgbClr val="23272E"/>
            </a:solidFill>
            <a:prstDash val="solid"/>
          </a:ln>
        </p:spPr>
      </p:sp>
      <p:sp>
        <p:nvSpPr>
          <p:cNvPr id="18" name="Text 16"/>
          <p:cNvSpPr txBox="1"/>
          <p:nvPr/>
        </p:nvSpPr>
        <p:spPr>
          <a:xfrm>
            <a:off x="4114800" y="1581912"/>
            <a:ext cx="4389120" cy="113385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0.1 + 0.2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0.30000000000000004</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round(0.1 + 0.2, 2)</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0.3</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pPr indent="0" marL="0">
              <a:buNone/>
            </a:pPr>
            <a:r>
              <a:rPr lang="en-US" sz="1000" dirty="0">
                <a:solidFill>
                  <a:srgbClr val="E6EDF3"/>
                </a:solidFill>
                <a:latin typeface="Courier New" pitchFamily="34" charset="0"/>
                <a:ea typeface="Courier New" pitchFamily="34" charset="-122"/>
                <a:cs typeface="Courier New" pitchFamily="34" charset="-120"/>
              </a:rPr>
              <a:t>0.1 + 0.2 == 0.3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False</a:t>
            </a:r>
            <a:endParaRPr lang="en-US" sz="1000" dirty="0"/>
          </a:p>
        </p:txBody>
      </p:sp>
      <p:sp>
        <p:nvSpPr>
          <p:cNvPr id="19" name="Text 17"/>
          <p:cNvSpPr txBox="1"/>
          <p:nvPr/>
        </p:nvSpPr>
        <p:spPr>
          <a:xfrm>
            <a:off x="3931920" y="2852928"/>
            <a:ext cx="475488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20" name="Shape 18"/>
          <p:cNvSpPr/>
          <p:nvPr/>
        </p:nvSpPr>
        <p:spPr>
          <a:xfrm>
            <a:off x="3931920" y="3108960"/>
            <a:ext cx="4754880" cy="868680"/>
          </a:xfrm>
          <a:prstGeom prst="roundRect">
            <a:avLst>
              <a:gd name="adj" fmla="val 8421"/>
            </a:avLst>
          </a:prstGeom>
          <a:solidFill>
            <a:srgbClr val="F2ECE1"/>
          </a:solidFill>
          <a:ln w="12700">
            <a:solidFill>
              <a:srgbClr val="DFD6C7"/>
            </a:solidFill>
            <a:prstDash val="solid"/>
          </a:ln>
        </p:spPr>
      </p:sp>
      <p:sp>
        <p:nvSpPr>
          <p:cNvPr id="21" name="Text 19"/>
          <p:cNvSpPr txBox="1"/>
          <p:nvPr/>
        </p:nvSpPr>
        <p:spPr>
          <a:xfrm>
            <a:off x="4041648" y="3182112"/>
            <a:ext cx="4535424" cy="43434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False</a:t>
            </a:r>
            <a:endParaRPr lang="en-US" sz="2800" dirty="0"/>
          </a:p>
        </p:txBody>
      </p:sp>
      <p:sp>
        <p:nvSpPr>
          <p:cNvPr id="22" name="Text 20"/>
          <p:cNvSpPr txBox="1"/>
          <p:nvPr/>
        </p:nvSpPr>
        <p:spPr>
          <a:xfrm>
            <a:off x="4041648" y="3560674"/>
            <a:ext cx="4535424" cy="38221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0.1 + 0.2 == 0.3 - and that is correct behaviour</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0.1 + 0.2 is not 0.3, and Python says so out loud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Strings: glue, repeat, measure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same operators, politely refusing the wrong types</a:t>
            </a:r>
            <a:endParaRPr lang="en-US" sz="1300" dirty="0"/>
          </a:p>
        </p:txBody>
      </p:sp>
      <p:sp>
        <p:nvSpPr>
          <p:cNvPr id="6" name="Text 4"/>
          <p:cNvSpPr txBox="1"/>
          <p:nvPr/>
        </p:nvSpPr>
        <p:spPr>
          <a:xfrm>
            <a:off x="457200" y="114300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glues strings; mixing types is refused</a:t>
            </a:r>
            <a:endParaRPr lang="en-US" sz="1150" dirty="0"/>
          </a:p>
        </p:txBody>
      </p:sp>
      <p:sp>
        <p:nvSpPr>
          <p:cNvPr id="7" name="Shape 5"/>
          <p:cNvSpPr/>
          <p:nvPr/>
        </p:nvSpPr>
        <p:spPr>
          <a:xfrm>
            <a:off x="457200" y="1417320"/>
            <a:ext cx="393192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536192"/>
            <a:ext cx="3566160" cy="104241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'Alice' + 'Bob'</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'AliceBob'</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'Hello' + 'world'</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'Helloworld'</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'Alice' + 42</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TypeError: can only concatenate str (not "int") to str</a:t>
            </a:r>
            <a:endParaRPr lang="en-US" sz="850" dirty="0"/>
          </a:p>
        </p:txBody>
      </p:sp>
      <p:sp>
        <p:nvSpPr>
          <p:cNvPr id="9" name="Text 7"/>
          <p:cNvSpPr txBox="1"/>
          <p:nvPr/>
        </p:nvSpPr>
        <p:spPr>
          <a:xfrm>
            <a:off x="457200" y="271576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4300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 repeats - whole times only</a:t>
            </a:r>
            <a:endParaRPr lang="en-US" sz="1150" dirty="0"/>
          </a:p>
        </p:txBody>
      </p:sp>
      <p:sp>
        <p:nvSpPr>
          <p:cNvPr id="11" name="Shape 9"/>
          <p:cNvSpPr/>
          <p:nvPr/>
        </p:nvSpPr>
        <p:spPr>
          <a:xfrm>
            <a:off x="4663440" y="1417320"/>
            <a:ext cx="4023360" cy="1508760"/>
          </a:xfrm>
          <a:prstGeom prst="roundRect">
            <a:avLst>
              <a:gd name="adj" fmla="val 6061"/>
            </a:avLst>
          </a:prstGeom>
          <a:solidFill>
            <a:srgbClr val="23272E"/>
          </a:solidFill>
          <a:ln w="12700">
            <a:solidFill>
              <a:srgbClr val="23272E"/>
            </a:solidFill>
            <a:prstDash val="solid"/>
          </a:ln>
        </p:spPr>
      </p:sp>
      <p:sp>
        <p:nvSpPr>
          <p:cNvPr id="12" name="Text 10"/>
          <p:cNvSpPr txBox="1"/>
          <p:nvPr/>
        </p:nvSpPr>
        <p:spPr>
          <a:xfrm>
            <a:off x="4846320" y="1536192"/>
            <a:ext cx="3657600" cy="127101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'Alice' * 3</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'AliceAliceAlice'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3 * 'ab'</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'ababab'</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'ab' * 0</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pPr indent="0" marL="0">
              <a:buNone/>
            </a:pPr>
            <a:r>
              <a:rPr lang="en-US" sz="780" dirty="0">
                <a:solidFill>
                  <a:srgbClr val="E6EDF3"/>
                </a:solidFill>
                <a:latin typeface="Courier New" pitchFamily="34" charset="0"/>
                <a:ea typeface="Courier New" pitchFamily="34" charset="-122"/>
                <a:cs typeface="Courier New" pitchFamily="34" charset="-120"/>
              </a:rPr>
              <a:t>'Alice' * 2.5</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TypeError: can't multiply sequence by non-int of type 'float'</a:t>
            </a:r>
            <a:endParaRPr lang="en-US" sz="780" dirty="0"/>
          </a:p>
        </p:txBody>
      </p:sp>
      <p:sp>
        <p:nvSpPr>
          <p:cNvPr id="13" name="Text 11"/>
          <p:cNvSpPr txBox="1"/>
          <p:nvPr/>
        </p:nvSpPr>
        <p:spPr>
          <a:xfrm>
            <a:off x="4663440" y="29443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Text 12"/>
          <p:cNvSpPr txBox="1"/>
          <p:nvPr/>
        </p:nvSpPr>
        <p:spPr>
          <a:xfrm>
            <a:off x="457200" y="28803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len counts characters - and refuses numbers</a:t>
            </a:r>
            <a:endParaRPr lang="en-US" sz="1150" dirty="0"/>
          </a:p>
        </p:txBody>
      </p:sp>
      <p:sp>
        <p:nvSpPr>
          <p:cNvPr id="15" name="Shape 13"/>
          <p:cNvSpPr/>
          <p:nvPr/>
        </p:nvSpPr>
        <p:spPr>
          <a:xfrm>
            <a:off x="457200" y="315468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3273552"/>
            <a:ext cx="7863840" cy="1088136"/>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len('hello')</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len('a b')</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len(str(12345))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pPr indent="0" marL="0">
              <a:buNone/>
            </a:pPr>
            <a:r>
              <a:rPr lang="en-US" sz="800" dirty="0">
                <a:solidFill>
                  <a:srgbClr val="E6EDF3"/>
                </a:solidFill>
                <a:latin typeface="Courier New" pitchFamily="34" charset="0"/>
                <a:ea typeface="Courier New" pitchFamily="34" charset="-122"/>
                <a:cs typeface="Courier New" pitchFamily="34" charset="-120"/>
              </a:rPr>
              <a:t>len(12345)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TypeError: object of type 'int' has no len()</a:t>
            </a:r>
            <a:endParaRPr lang="en-US" sz="800" dirty="0"/>
          </a:p>
        </p:txBody>
      </p:sp>
      <p:sp>
        <p:nvSpPr>
          <p:cNvPr id="17" name="Text 15"/>
          <p:cNvSpPr txBox="1"/>
          <p:nvPr/>
        </p:nvSpPr>
        <p:spPr>
          <a:xfrm>
            <a:off x="457200" y="44988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Operators are polite: they refuse types they cannot serve</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23</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Names and functions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Remembering values, and the free toolbox</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Variables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Assignment</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Built-ins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Conversions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Variables: names that remember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Assignment stores a value under a name</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store, read back, update</a:t>
            </a:r>
            <a:endParaRPr lang="en-US" sz="1150" dirty="0"/>
          </a:p>
        </p:txBody>
      </p:sp>
      <p:sp>
        <p:nvSpPr>
          <p:cNvPr id="7" name="Shape 5"/>
          <p:cNvSpPr/>
          <p:nvPr/>
        </p:nvSpPr>
        <p:spPr>
          <a:xfrm>
            <a:off x="457200" y="1463040"/>
            <a:ext cx="3931920" cy="1600200"/>
          </a:xfrm>
          <a:prstGeom prst="roundRect">
            <a:avLst>
              <a:gd name="adj" fmla="val 5714"/>
            </a:avLst>
          </a:prstGeom>
          <a:solidFill>
            <a:srgbClr val="23272E"/>
          </a:solidFill>
          <a:ln w="12700">
            <a:solidFill>
              <a:srgbClr val="23272E"/>
            </a:solidFill>
            <a:prstDash val="solid"/>
          </a:ln>
        </p:spPr>
      </p:sp>
      <p:sp>
        <p:nvSpPr>
          <p:cNvPr id="8" name="Text 6"/>
          <p:cNvSpPr txBox="1"/>
          <p:nvPr/>
        </p:nvSpPr>
        <p:spPr>
          <a:xfrm>
            <a:off x="640080" y="1581912"/>
            <a:ext cx="3566160" cy="13624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 = 42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42</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 = spam + 1</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43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Spam</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NameError: name 'Spam' is not defined</a:t>
            </a:r>
            <a:endParaRPr lang="en-US" sz="950" dirty="0"/>
          </a:p>
        </p:txBody>
      </p:sp>
      <p:sp>
        <p:nvSpPr>
          <p:cNvPr id="9" name="Text 7"/>
          <p:cNvSpPr txBox="1"/>
          <p:nvPr/>
        </p:nvSpPr>
        <p:spPr>
          <a:xfrm>
            <a:off x="457200" y="30815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an unassigned name is an honest error</a:t>
            </a:r>
            <a:endParaRPr lang="en-US" sz="1150" dirty="0"/>
          </a:p>
        </p:txBody>
      </p:sp>
      <p:sp>
        <p:nvSpPr>
          <p:cNvPr id="11" name="Shape 9"/>
          <p:cNvSpPr/>
          <p:nvPr/>
        </p:nvSpPr>
        <p:spPr>
          <a:xfrm>
            <a:off x="4663440" y="1463040"/>
            <a:ext cx="4023360" cy="1600200"/>
          </a:xfrm>
          <a:prstGeom prst="roundRect">
            <a:avLst>
              <a:gd name="adj" fmla="val 5714"/>
            </a:avLst>
          </a:prstGeom>
          <a:solidFill>
            <a:srgbClr val="23272E"/>
          </a:solidFill>
          <a:ln w="12700">
            <a:solidFill>
              <a:srgbClr val="23272E"/>
            </a:solidFill>
            <a:prstDash val="solid"/>
          </a:ln>
        </p:spPr>
      </p:sp>
      <p:sp>
        <p:nvSpPr>
          <p:cNvPr id="12" name="Text 10"/>
          <p:cNvSpPr txBox="1"/>
          <p:nvPr/>
        </p:nvSpPr>
        <p:spPr>
          <a:xfrm>
            <a:off x="4846320" y="1581912"/>
            <a:ext cx="3657600" cy="13624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 = 42</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 = spam + 1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spam</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43</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never_assigned_name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NameError: name 'never_assigned_name' is not defined</a:t>
            </a:r>
            <a:endParaRPr lang="en-US" sz="850" dirty="0"/>
          </a:p>
        </p:txBody>
      </p:sp>
      <p:sp>
        <p:nvSpPr>
          <p:cNvPr id="13" name="Text 11"/>
          <p:cNvSpPr txBox="1"/>
          <p:nvPr/>
        </p:nvSpPr>
        <p:spPr>
          <a:xfrm>
            <a:off x="4663440" y="30815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337560"/>
            <a:ext cx="2881503"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337560"/>
            <a:ext cx="288150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 = value stores</a:t>
            </a:r>
            <a:endParaRPr lang="en-US" sz="1250" dirty="0"/>
          </a:p>
        </p:txBody>
      </p:sp>
      <p:sp>
        <p:nvSpPr>
          <p:cNvPr id="16" name="Shape 14"/>
          <p:cNvSpPr/>
          <p:nvPr/>
        </p:nvSpPr>
        <p:spPr>
          <a:xfrm>
            <a:off x="3539871" y="3337560"/>
            <a:ext cx="248716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539871" y="3337560"/>
            <a:ext cx="248716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 alone reads</a:t>
            </a:r>
            <a:endParaRPr lang="en-US" sz="1250" dirty="0"/>
          </a:p>
        </p:txBody>
      </p:sp>
      <p:sp>
        <p:nvSpPr>
          <p:cNvPr id="18" name="Shape 16"/>
          <p:cNvSpPr/>
          <p:nvPr/>
        </p:nvSpPr>
        <p:spPr>
          <a:xfrm>
            <a:off x="457200" y="3922776"/>
            <a:ext cx="353872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3922776"/>
            <a:ext cx="353872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NameError = never stored</a:t>
            </a:r>
            <a:endParaRPr lang="en-US" sz="12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stores; the name alone gives it back</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23</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Functions you get for free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Call, convert, and let the errors teach</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round, len - called with parentheses</a:t>
            </a:r>
            <a:endParaRPr lang="en-US" sz="1150" dirty="0"/>
          </a:p>
        </p:txBody>
      </p:sp>
      <p:sp>
        <p:nvSpPr>
          <p:cNvPr id="7" name="Shape 5"/>
          <p:cNvSpPr/>
          <p:nvPr/>
        </p:nvSpPr>
        <p:spPr>
          <a:xfrm>
            <a:off x="457200" y="1463040"/>
            <a:ext cx="3931920" cy="1737360"/>
          </a:xfrm>
          <a:prstGeom prst="roundRect">
            <a:avLst>
              <a:gd name="adj" fmla="val 5263"/>
            </a:avLst>
          </a:prstGeom>
          <a:solidFill>
            <a:srgbClr val="23272E"/>
          </a:solidFill>
          <a:ln w="12700">
            <a:solidFill>
              <a:srgbClr val="23272E"/>
            </a:solidFill>
            <a:prstDash val="solid"/>
          </a:ln>
        </p:spPr>
      </p:sp>
      <p:sp>
        <p:nvSpPr>
          <p:cNvPr id="8" name="Text 6"/>
          <p:cNvSpPr txBox="1"/>
          <p:nvPr/>
        </p:nvSpPr>
        <p:spPr>
          <a:xfrm>
            <a:off x="640080" y="1581912"/>
            <a:ext cx="3566160" cy="1499616"/>
          </a:xfrm>
          <a:prstGeom prst="rect">
            <a:avLst/>
          </a:prstGeom>
          <a:noFill/>
          <a:ln/>
        </p:spPr>
        <p:txBody>
          <a:bodyPr wrap="square" lIns="0" tIns="0" rIns="0" bIns="0" rtlCol="0" anchor="t"/>
          <a:lstStyle/>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round(3.14159, 2)</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3.14</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round(4.7)</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5</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len('hello') + 1</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6</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type(round).__name__</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'builtin_function_or_method'</a:t>
            </a:r>
            <a:endParaRPr lang="en-US" sz="890" dirty="0"/>
          </a:p>
          <a:p>
            <a:pPr indent="0" marL="0">
              <a:buNone/>
            </a:pPr>
            <a:r>
              <a:rPr lang="en-US" sz="890" b="1" dirty="0">
                <a:solidFill>
                  <a:srgbClr val="D97A14"/>
                </a:solidFill>
                <a:latin typeface="Courier New" pitchFamily="34" charset="0"/>
                <a:ea typeface="Courier New" pitchFamily="34" charset="-122"/>
                <a:cs typeface="Courier New" pitchFamily="34" charset="-120"/>
              </a:rPr>
              <a:t>&gt;&gt;&gt; </a:t>
            </a:r>
            <a:pPr indent="0" marL="0">
              <a:buNone/>
            </a:pPr>
            <a:r>
              <a:rPr lang="en-US" sz="890" dirty="0">
                <a:solidFill>
                  <a:srgbClr val="E6EDF3"/>
                </a:solidFill>
                <a:latin typeface="Courier New" pitchFamily="34" charset="0"/>
                <a:ea typeface="Courier New" pitchFamily="34" charset="-122"/>
                <a:cs typeface="Courier New" pitchFamily="34" charset="-120"/>
              </a:rPr>
              <a:t>round</a:t>
            </a:r>
            <a:endParaRPr lang="en-US" sz="890" dirty="0"/>
          </a:p>
          <a:p>
            <a:pPr indent="0" marL="0">
              <a:buNone/>
            </a:pPr>
            <a:r>
              <a:rPr lang="en-US" sz="890" dirty="0">
                <a:solidFill>
                  <a:srgbClr val="7EE787"/>
                </a:solidFill>
                <a:latin typeface="Courier New" pitchFamily="34" charset="0"/>
                <a:ea typeface="Courier New" pitchFamily="34" charset="-122"/>
                <a:cs typeface="Courier New" pitchFamily="34" charset="-120"/>
              </a:rPr>
              <a:t>&lt;built-in function round&gt;</a:t>
            </a:r>
            <a:endParaRPr lang="en-US" sz="890" dirty="0"/>
          </a:p>
        </p:txBody>
      </p:sp>
      <p:sp>
        <p:nvSpPr>
          <p:cNvPr id="9" name="Text 7"/>
          <p:cNvSpPr txBox="1"/>
          <p:nvPr/>
        </p:nvSpPr>
        <p:spPr>
          <a:xfrm>
            <a:off x="457200" y="321868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int(), float(), str() convert - or refuse</a:t>
            </a:r>
            <a:endParaRPr lang="en-US" sz="1150" dirty="0"/>
          </a:p>
        </p:txBody>
      </p:sp>
      <p:sp>
        <p:nvSpPr>
          <p:cNvPr id="11" name="Shape 9"/>
          <p:cNvSpPr/>
          <p:nvPr/>
        </p:nvSpPr>
        <p:spPr>
          <a:xfrm>
            <a:off x="4663440" y="1463040"/>
            <a:ext cx="4023360" cy="1737360"/>
          </a:xfrm>
          <a:prstGeom prst="roundRect">
            <a:avLst>
              <a:gd name="adj" fmla="val 5263"/>
            </a:avLst>
          </a:prstGeom>
          <a:solidFill>
            <a:srgbClr val="23272E"/>
          </a:solidFill>
          <a:ln w="12700">
            <a:solidFill>
              <a:srgbClr val="23272E"/>
            </a:solidFill>
            <a:prstDash val="solid"/>
          </a:ln>
        </p:spPr>
      </p:sp>
      <p:sp>
        <p:nvSpPr>
          <p:cNvPr id="12" name="Text 10"/>
          <p:cNvSpPr txBox="1"/>
          <p:nvPr/>
        </p:nvSpPr>
        <p:spPr>
          <a:xfrm>
            <a:off x="4846320" y="1581912"/>
            <a:ext cx="3657600" cy="149961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int('42')</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float('3.5')</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3.5</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str(29)</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'29'</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int(4.7)</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int('4.2')</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ValueError: invalid literal for int() with base 10: '4.2'</a:t>
            </a:r>
            <a:endParaRPr lang="en-US" sz="830" dirty="0"/>
          </a:p>
        </p:txBody>
      </p:sp>
      <p:sp>
        <p:nvSpPr>
          <p:cNvPr id="13" name="Text 11"/>
          <p:cNvSpPr txBox="1"/>
          <p:nvPr/>
        </p:nvSpPr>
        <p:spPr>
          <a:xfrm>
            <a:off x="4663440" y="321868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2560320" y="3520440"/>
            <a:ext cx="4023360" cy="402336"/>
          </a:xfrm>
          <a:prstGeom prst="roundRect">
            <a:avLst>
              <a:gd name="adj" fmla="val 50000"/>
            </a:avLst>
          </a:prstGeom>
          <a:solidFill>
            <a:srgbClr val="2F6D62"/>
          </a:solidFill>
          <a:ln w="12700">
            <a:solidFill>
              <a:srgbClr val="2F6D62"/>
            </a:solidFill>
            <a:prstDash val="solid"/>
          </a:ln>
        </p:spPr>
      </p:sp>
      <p:sp>
        <p:nvSpPr>
          <p:cNvPr id="15" name="Text 13"/>
          <p:cNvSpPr txBox="1"/>
          <p:nvPr/>
        </p:nvSpPr>
        <p:spPr>
          <a:xfrm>
            <a:off x="2560320" y="3520440"/>
            <a:ext cx="402336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int(4.7) truncates to 4 - it does not round</a:t>
            </a:r>
            <a:endParaRPr lang="en-US" sz="13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round, len, type, int - the standard toolbox is already open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23</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Your interpreter, today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environment the course runs on - interrogated live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CPython</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Versions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GIL, measured</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Modules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23</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textbook that gives itself away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3rd edition, 2025</a:t>
            </a:r>
            <a:endParaRPr lang="en-US" sz="1300" dirty="0"/>
          </a:p>
        </p:txBody>
      </p:sp>
      <p:sp>
        <p:nvSpPr>
          <p:cNvPr id="6" name="Shape 4"/>
          <p:cNvSpPr/>
          <p:nvPr/>
        </p:nvSpPr>
        <p:spPr>
          <a:xfrm>
            <a:off x="457200" y="1298448"/>
            <a:ext cx="2834640" cy="228600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08176"/>
            <a:ext cx="2834640" cy="457200"/>
          </a:xfrm>
          <a:prstGeom prst="rect">
            <a:avLst/>
          </a:prstGeom>
          <a:noFill/>
          <a:ln/>
        </p:spPr>
        <p:txBody>
          <a:bodyPr wrap="square" lIns="0" tIns="0" rIns="0" bIns="0" rtlCol="0" anchor="ctr"/>
          <a:lstStyle/>
          <a:p>
            <a:pPr algn="ctr" indent="0" marL="0">
              <a:buNone/>
            </a:pPr>
            <a:r>
              <a:rPr lang="en-US" sz="1500" b="1" dirty="0">
                <a:solidFill>
                  <a:srgbClr val="1A1A1A"/>
                </a:solidFill>
                <a:latin typeface="Times New Roman" pitchFamily="34" charset="0"/>
                <a:ea typeface="Times New Roman" pitchFamily="34" charset="-122"/>
                <a:cs typeface="Times New Roman" pitchFamily="34" charset="-120"/>
              </a:rPr>
              <a:t>automatetheboringstuff.com</a:t>
            </a:r>
            <a:endParaRPr lang="en-US" sz="1500" dirty="0"/>
          </a:p>
        </p:txBody>
      </p:sp>
      <p:sp>
        <p:nvSpPr>
          <p:cNvPr id="8" name="Shape 6"/>
          <p:cNvSpPr/>
          <p:nvPr/>
        </p:nvSpPr>
        <p:spPr>
          <a:xfrm>
            <a:off x="685800" y="1920240"/>
            <a:ext cx="2377440" cy="0"/>
          </a:xfrm>
          <a:prstGeom prst="line">
            <a:avLst/>
          </a:prstGeom>
          <a:noFill/>
          <a:ln w="12700">
            <a:solidFill>
              <a:srgbClr val="1A1A1A"/>
            </a:solidFill>
            <a:prstDash val="solid"/>
          </a:ln>
        </p:spPr>
      </p:sp>
      <p:sp>
        <p:nvSpPr>
          <p:cNvPr id="9" name="Text 7"/>
          <p:cNvSpPr txBox="1"/>
          <p:nvPr/>
        </p:nvSpPr>
        <p:spPr>
          <a:xfrm>
            <a:off x="457200" y="1956816"/>
            <a:ext cx="283464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3rd edition, 2025</a:t>
            </a:r>
            <a:endParaRPr lang="en-US" sz="1050" dirty="0"/>
          </a:p>
        </p:txBody>
      </p:sp>
      <p:sp>
        <p:nvSpPr>
          <p:cNvPr id="10" name="Text 8"/>
          <p:cNvSpPr txBox="1"/>
          <p:nvPr/>
        </p:nvSpPr>
        <p:spPr>
          <a:xfrm>
            <a:off x="621792" y="2194560"/>
            <a:ext cx="2505456" cy="868680"/>
          </a:xfrm>
          <a:prstGeom prst="rect">
            <a:avLst/>
          </a:prstGeom>
          <a:noFill/>
          <a:ln/>
        </p:spPr>
        <p:txBody>
          <a:bodyPr wrap="square" lIns="0" tIns="0" rIns="0" bIns="0" rtlCol="0" anchor="ctr"/>
          <a:lstStyle/>
          <a:p>
            <a:pPr algn="ctr" indent="0" marL="0">
              <a:buNone/>
            </a:pPr>
            <a:r>
              <a:rPr lang="en-US" sz="1150" b="1" dirty="0">
                <a:solidFill>
                  <a:srgbClr val="1A1A1A"/>
                </a:solidFill>
                <a:latin typeface="Times New Roman" pitchFamily="34" charset="0"/>
                <a:ea typeface="Times New Roman" pitchFamily="34" charset="-122"/>
                <a:cs typeface="Times New Roman" pitchFamily="34" charset="-120"/>
              </a:rPr>
              <a:t>Automate the Boring Stuff with Python</a:t>
            </a:r>
            <a:endParaRPr lang="en-US" sz="1150" dirty="0"/>
          </a:p>
        </p:txBody>
      </p:sp>
      <p:sp>
        <p:nvSpPr>
          <p:cNvPr id="11" name="Shape 9"/>
          <p:cNvSpPr/>
          <p:nvPr/>
        </p:nvSpPr>
        <p:spPr>
          <a:xfrm>
            <a:off x="822960" y="3182112"/>
            <a:ext cx="2103120" cy="310896"/>
          </a:xfrm>
          <a:prstGeom prst="roundRect">
            <a:avLst>
              <a:gd name="adj" fmla="val 52941"/>
            </a:avLst>
          </a:prstGeom>
          <a:solidFill>
            <a:srgbClr val="D97A14"/>
          </a:solidFill>
          <a:ln w="12700">
            <a:solidFill>
              <a:srgbClr val="D97A14"/>
            </a:solidFill>
            <a:prstDash val="solid"/>
          </a:ln>
        </p:spPr>
      </p:sp>
      <p:sp>
        <p:nvSpPr>
          <p:cNvPr id="12" name="Text 10"/>
          <p:cNvSpPr txBox="1"/>
          <p:nvPr/>
        </p:nvSpPr>
        <p:spPr>
          <a:xfrm>
            <a:off x="822960" y="3182112"/>
            <a:ext cx="210312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free to read online</a:t>
            </a:r>
            <a:endParaRPr lang="en-US" sz="1000" dirty="0"/>
          </a:p>
        </p:txBody>
      </p:sp>
      <p:sp>
        <p:nvSpPr>
          <p:cNvPr id="13" name="Shape 11"/>
          <p:cNvSpPr/>
          <p:nvPr/>
        </p:nvSpPr>
        <p:spPr>
          <a:xfrm>
            <a:off x="3611880" y="16123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3886200" y="13716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author publishes the full text free, by choice</a:t>
            </a:r>
            <a:endParaRPr lang="en-US" sz="1300" dirty="0"/>
          </a:p>
        </p:txBody>
      </p:sp>
      <p:sp>
        <p:nvSpPr>
          <p:cNvPr id="15" name="Shape 13"/>
          <p:cNvSpPr/>
          <p:nvPr/>
        </p:nvSpPr>
        <p:spPr>
          <a:xfrm>
            <a:off x="3611880" y="222199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3886200" y="19812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The paper edition from No Starch funds the habit</a:t>
            </a:r>
            <a:endParaRPr lang="en-US" sz="1300" dirty="0"/>
          </a:p>
        </p:txBody>
      </p:sp>
      <p:sp>
        <p:nvSpPr>
          <p:cNvPr id="17" name="Shape 15"/>
          <p:cNvSpPr/>
          <p:nvPr/>
        </p:nvSpPr>
        <p:spPr>
          <a:xfrm>
            <a:off x="3611880" y="2831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3886200" y="2590800"/>
            <a:ext cx="4800600" cy="6096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This course pins the 3rd edition - read ahead any evening</a:t>
            </a:r>
            <a:endParaRPr lang="en-US" sz="1300" dirty="0"/>
          </a:p>
        </p:txBody>
      </p:sp>
      <p:sp>
        <p:nvSpPr>
          <p:cNvPr id="19" name="Shape 17"/>
          <p:cNvSpPr/>
          <p:nvPr/>
        </p:nvSpPr>
        <p:spPr>
          <a:xfrm>
            <a:off x="3611880" y="4041648"/>
            <a:ext cx="1471178"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703320"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Al Sweigart, with N…</a:t>
            </a:r>
            <a:endParaRPr lang="en-US" sz="750" dirty="0"/>
          </a:p>
        </p:txBody>
      </p:sp>
      <p:sp>
        <p:nvSpPr>
          <p:cNvPr id="21" name="Shape 19"/>
          <p:cNvSpPr/>
          <p:nvPr/>
        </p:nvSpPr>
        <p:spPr>
          <a:xfrm>
            <a:off x="5192786" y="4041648"/>
            <a:ext cx="1471178"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284226" y="4041648"/>
            <a:ext cx="1324874"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automatetheboringst…</a:t>
            </a:r>
            <a:endParaRPr lang="en-US" sz="750" dirty="0"/>
          </a:p>
        </p:txBody>
      </p:sp>
      <p:sp>
        <p:nvSpPr>
          <p:cNvPr id="23" name="Shape 21"/>
          <p:cNvSpPr/>
          <p:nvPr/>
        </p:nvSpPr>
        <p:spPr>
          <a:xfrm>
            <a:off x="6773692" y="4041648"/>
            <a:ext cx="806775" cy="365760"/>
          </a:xfrm>
          <a:prstGeom prst="roundRect">
            <a:avLst>
              <a:gd name="adj" fmla="val 50000"/>
            </a:avLst>
          </a:prstGeom>
          <a:solidFill>
            <a:srgbClr val="EFE9DC"/>
          </a:solidFill>
          <a:ln w="9525">
            <a:solidFill>
              <a:srgbClr val="DFD6C7"/>
            </a:solidFill>
            <a:prstDash val="solid"/>
          </a:ln>
        </p:spPr>
      </p:sp>
      <p:sp>
        <p:nvSpPr>
          <p:cNvPr id="24" name="Text 22"/>
          <p:cNvSpPr txBox="1"/>
          <p:nvPr/>
        </p:nvSpPr>
        <p:spPr>
          <a:xfrm>
            <a:off x="6865132" y="4041648"/>
            <a:ext cx="66047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3rd e…</a:t>
            </a:r>
            <a:endParaRPr lang="en-US" sz="750" dirty="0"/>
          </a:p>
        </p:txBody>
      </p:sp>
      <p:sp>
        <p:nvSpPr>
          <p:cNvPr id="25" name="Shape 23"/>
          <p:cNvSpPr/>
          <p:nvPr/>
        </p:nvSpPr>
        <p:spPr>
          <a:xfrm>
            <a:off x="7690195" y="4041648"/>
            <a:ext cx="996605" cy="365760"/>
          </a:xfrm>
          <a:prstGeom prst="roundRect">
            <a:avLst>
              <a:gd name="adj" fmla="val 50000"/>
            </a:avLst>
          </a:prstGeom>
          <a:solidFill>
            <a:srgbClr val="2F6D62"/>
          </a:solidFill>
          <a:ln w="9525">
            <a:solidFill>
              <a:srgbClr val="2F6D62"/>
            </a:solidFill>
            <a:prstDash val="solid"/>
          </a:ln>
        </p:spPr>
      </p:sp>
      <p:sp>
        <p:nvSpPr>
          <p:cNvPr id="26" name="Text 24"/>
          <p:cNvSpPr txBox="1"/>
          <p:nvPr/>
        </p:nvSpPr>
        <p:spPr>
          <a:xfrm>
            <a:off x="7781635" y="4041648"/>
            <a:ext cx="85030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a:t>
            </a:r>
            <a:endParaRPr lang="en-US" sz="7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Your textbook is a link, not a bill - read ahead free</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23</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interpreter under you, interrogated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These slides asked it - here is what it said</a:t>
            </a:r>
            <a:endParaRPr lang="en-US" sz="1300" dirty="0"/>
          </a:p>
        </p:txBody>
      </p:sp>
      <p:sp>
        <p:nvSpPr>
          <p:cNvPr id="6" name="Text 4"/>
          <p:cNvSpPr txBox="1"/>
          <p:nvPr/>
        </p:nvSpPr>
        <p:spPr>
          <a:xfrm>
            <a:off x="457200" y="1188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which implementation answers you</a:t>
            </a:r>
            <a:endParaRPr lang="en-US" sz="1150" dirty="0"/>
          </a:p>
        </p:txBody>
      </p:sp>
      <p:sp>
        <p:nvSpPr>
          <p:cNvPr id="7" name="Shape 5"/>
          <p:cNvSpPr/>
          <p:nvPr/>
        </p:nvSpPr>
        <p:spPr>
          <a:xfrm>
            <a:off x="457200" y="1463040"/>
            <a:ext cx="8229600" cy="868680"/>
          </a:xfrm>
          <a:prstGeom prst="roundRect">
            <a:avLst>
              <a:gd name="adj" fmla="val 10526"/>
            </a:avLst>
          </a:prstGeom>
          <a:solidFill>
            <a:srgbClr val="23272E"/>
          </a:solidFill>
          <a:ln w="12700">
            <a:solidFill>
              <a:srgbClr val="23272E"/>
            </a:solidFill>
            <a:prstDash val="solid"/>
          </a:ln>
        </p:spPr>
      </p:sp>
      <p:sp>
        <p:nvSpPr>
          <p:cNvPr id="8" name="Text 6"/>
          <p:cNvSpPr txBox="1"/>
          <p:nvPr/>
        </p:nvSpPr>
        <p:spPr>
          <a:xfrm>
            <a:off x="640080" y="1581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__import__('sys').implementation.name</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'cpython'</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__import__('platform').python_implementation()</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'CPython'</a:t>
            </a:r>
            <a:endParaRPr lang="en-US" sz="900" dirty="0"/>
          </a:p>
        </p:txBody>
      </p:sp>
      <p:sp>
        <p:nvSpPr>
          <p:cNvPr id="9" name="Text 7"/>
          <p:cNvSpPr txBox="1"/>
          <p:nvPr/>
        </p:nvSpPr>
        <p:spPr>
          <a:xfrm>
            <a:off x="457200" y="2350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which version, exactly - the one this deck ran under</a:t>
            </a:r>
            <a:endParaRPr lang="en-US" sz="1150" dirty="0"/>
          </a:p>
        </p:txBody>
      </p:sp>
      <p:sp>
        <p:nvSpPr>
          <p:cNvPr id="11" name="Shape 9"/>
          <p:cNvSpPr/>
          <p:nvPr/>
        </p:nvSpPr>
        <p:spPr>
          <a:xfrm>
            <a:off x="457200" y="2606040"/>
            <a:ext cx="8229600" cy="868680"/>
          </a:xfrm>
          <a:prstGeom prst="roundRect">
            <a:avLst>
              <a:gd name="adj" fmla="val 10526"/>
            </a:avLst>
          </a:prstGeom>
          <a:solidFill>
            <a:srgbClr val="23272E"/>
          </a:solidFill>
          <a:ln w="12700">
            <a:solidFill>
              <a:srgbClr val="23272E"/>
            </a:solidFill>
            <a:prstDash val="solid"/>
          </a:ln>
        </p:spPr>
      </p:sp>
      <p:sp>
        <p:nvSpPr>
          <p:cNvPr id="12" name="Text 10"/>
          <p:cNvSpPr txBox="1"/>
          <p:nvPr/>
        </p:nvSpPr>
        <p:spPr>
          <a:xfrm>
            <a:off x="640080" y="2724912"/>
            <a:ext cx="7863840" cy="63093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__import__('sys').version_info[:3]</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(3, 13, 16)</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__import__('sys').version_info.releaselevel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'final'</a:t>
            </a:r>
            <a:endParaRPr lang="en-US" sz="900" dirty="0"/>
          </a:p>
        </p:txBody>
      </p:sp>
      <p:sp>
        <p:nvSpPr>
          <p:cNvPr id="13" name="Text 11"/>
          <p:cNvSpPr txBox="1"/>
          <p:nvPr/>
        </p:nvSpPr>
        <p:spPr>
          <a:xfrm>
            <a:off x="457200" y="34930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639312"/>
            <a:ext cx="4000500" cy="896112"/>
          </a:xfrm>
          <a:prstGeom prst="roundRect">
            <a:avLst>
              <a:gd name="adj" fmla="val 8163"/>
            </a:avLst>
          </a:prstGeom>
          <a:solidFill>
            <a:srgbClr val="F2ECE1"/>
          </a:solidFill>
          <a:ln w="12700">
            <a:solidFill>
              <a:srgbClr val="DFD6C7"/>
            </a:solidFill>
            <a:prstDash val="solid"/>
          </a:ln>
        </p:spPr>
      </p:sp>
      <p:sp>
        <p:nvSpPr>
          <p:cNvPr id="15" name="Text 13"/>
          <p:cNvSpPr txBox="1"/>
          <p:nvPr/>
        </p:nvSpPr>
        <p:spPr>
          <a:xfrm>
            <a:off x="566928" y="3712464"/>
            <a:ext cx="3781044" cy="448056"/>
          </a:xfrm>
          <a:prstGeom prst="rect">
            <a:avLst/>
          </a:prstGeom>
          <a:noFill/>
          <a:ln/>
        </p:spPr>
        <p:txBody>
          <a:bodyPr wrap="square" lIns="0" tIns="0" rIns="0" bIns="0" rtlCol="0" anchor="ctr"/>
          <a:lstStyle/>
          <a:p>
            <a:pPr indent="0" marL="0">
              <a:buNone/>
            </a:pPr>
            <a:r>
              <a:rPr lang="en-US" sz="2200" b="1" dirty="0">
                <a:solidFill>
                  <a:srgbClr val="D97A14"/>
                </a:solidFill>
                <a:latin typeface="Cambria" pitchFamily="34" charset="0"/>
                <a:ea typeface="Cambria" pitchFamily="34" charset="-122"/>
                <a:cs typeface="Cambria" pitchFamily="34" charset="-120"/>
              </a:rPr>
              <a:t>(3, 13, 16)</a:t>
            </a:r>
            <a:endParaRPr lang="en-US" sz="2200" dirty="0"/>
          </a:p>
        </p:txBody>
      </p:sp>
      <p:sp>
        <p:nvSpPr>
          <p:cNvPr id="16" name="Text 14"/>
          <p:cNvSpPr txBox="1"/>
          <p:nvPr/>
        </p:nvSpPr>
        <p:spPr>
          <a:xfrm>
            <a:off x="566928" y="4105290"/>
            <a:ext cx="37810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version tuple these slides executed under</a:t>
            </a:r>
            <a:endParaRPr lang="en-US" sz="1150" dirty="0"/>
          </a:p>
        </p:txBody>
      </p:sp>
      <p:sp>
        <p:nvSpPr>
          <p:cNvPr id="17" name="Shape 15"/>
          <p:cNvSpPr/>
          <p:nvPr/>
        </p:nvSpPr>
        <p:spPr>
          <a:xfrm>
            <a:off x="4686300" y="3639312"/>
            <a:ext cx="4000500" cy="896112"/>
          </a:xfrm>
          <a:prstGeom prst="roundRect">
            <a:avLst>
              <a:gd name="adj" fmla="val 8163"/>
            </a:avLst>
          </a:prstGeom>
          <a:solidFill>
            <a:srgbClr val="F2ECE1"/>
          </a:solidFill>
          <a:ln w="12700">
            <a:solidFill>
              <a:srgbClr val="DFD6C7"/>
            </a:solidFill>
            <a:prstDash val="solid"/>
          </a:ln>
        </p:spPr>
      </p:sp>
      <p:sp>
        <p:nvSpPr>
          <p:cNvPr id="18" name="Text 16"/>
          <p:cNvSpPr txBox="1"/>
          <p:nvPr/>
        </p:nvSpPr>
        <p:spPr>
          <a:xfrm>
            <a:off x="4796028" y="3712464"/>
            <a:ext cx="3781044" cy="448056"/>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'final'</a:t>
            </a:r>
            <a:endParaRPr lang="en-US" sz="2800" dirty="0"/>
          </a:p>
        </p:txBody>
      </p:sp>
      <p:sp>
        <p:nvSpPr>
          <p:cNvPr id="19" name="Text 17"/>
          <p:cNvSpPr txBox="1"/>
          <p:nvPr/>
        </p:nvSpPr>
        <p:spPr>
          <a:xfrm>
            <a:off x="4796028" y="4105290"/>
            <a:ext cx="3781044" cy="394289"/>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its release level - not a beta</a:t>
            </a:r>
            <a:endParaRPr lang="en-US" sz="1150" dirty="0"/>
          </a:p>
        </p:txBody>
      </p:sp>
      <p:sp>
        <p:nvSpPr>
          <p:cNvPr id="20" name="Shape 18"/>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CPython 3.14.4 answered these slides itself</a:t>
            </a:r>
            <a:endParaRPr lang="en-US" sz="1350" dirty="0"/>
          </a:p>
        </p:txBody>
      </p:sp>
      <p:sp>
        <p:nvSpPr>
          <p:cNvPr id="22"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23</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interpreter sheds its oldest 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accepted 2023-07; optional builds since Python 3.13</a:t>
            </a:r>
            <a:endParaRPr lang="en-US" sz="1300" dirty="0"/>
          </a:p>
        </p:txBody>
      </p:sp>
      <p:sp>
        <p:nvSpPr>
          <p:cNvPr id="6" name="Shape 4"/>
          <p:cNvSpPr/>
          <p:nvPr/>
        </p:nvSpPr>
        <p:spPr>
          <a:xfrm>
            <a:off x="457200" y="1536192"/>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3716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For decades one lock let a single thread run Python at a time</a:t>
            </a:r>
            <a:endParaRPr lang="en-US" sz="1300" dirty="0"/>
          </a:p>
        </p:txBody>
      </p:sp>
      <p:sp>
        <p:nvSpPr>
          <p:cNvPr id="8" name="Shape 6"/>
          <p:cNvSpPr/>
          <p:nvPr/>
        </p:nvSpPr>
        <p:spPr>
          <a:xfrm>
            <a:off x="457200" y="1993392"/>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8288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July 2023: the Steering Council accepts PEP 703 - the lock becomes optional</a:t>
            </a:r>
            <a:endParaRPr lang="en-US" sz="1300" dirty="0"/>
          </a:p>
        </p:txBody>
      </p:sp>
      <p:sp>
        <p:nvSpPr>
          <p:cNvPr id="10" name="Shape 8"/>
          <p:cNvSpPr/>
          <p:nvPr/>
        </p:nvSpPr>
        <p:spPr>
          <a:xfrm>
            <a:off x="457200" y="2450592"/>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286000"/>
            <a:ext cx="7955280" cy="45720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Since Python 3.13, free-threaded builds ship beside the standard ones</a:t>
            </a:r>
            <a:endParaRPr lang="en-US" sz="1300" dirty="0"/>
          </a:p>
        </p:txBody>
      </p:sp>
      <p:sp>
        <p:nvSpPr>
          <p:cNvPr id="12" name="Text 10"/>
          <p:cNvSpPr txBox="1"/>
          <p:nvPr/>
        </p:nvSpPr>
        <p:spPr>
          <a:xfrm>
            <a:off x="457200" y="26517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not trivia - THIS interpreter answers about its own lock</a:t>
            </a:r>
            <a:endParaRPr lang="en-US" sz="1150" dirty="0"/>
          </a:p>
        </p:txBody>
      </p:sp>
      <p:sp>
        <p:nvSpPr>
          <p:cNvPr id="13" name="Shape 11"/>
          <p:cNvSpPr/>
          <p:nvPr/>
        </p:nvSpPr>
        <p:spPr>
          <a:xfrm>
            <a:off x="457200" y="2926080"/>
            <a:ext cx="8229600" cy="914400"/>
          </a:xfrm>
          <a:prstGeom prst="roundRect">
            <a:avLst>
              <a:gd name="adj" fmla="val 10000"/>
            </a:avLst>
          </a:prstGeom>
          <a:solidFill>
            <a:srgbClr val="23272E"/>
          </a:solidFill>
          <a:ln w="12700">
            <a:solidFill>
              <a:srgbClr val="23272E"/>
            </a:solidFill>
            <a:prstDash val="solid"/>
          </a:ln>
        </p:spPr>
      </p:sp>
      <p:sp>
        <p:nvSpPr>
          <p:cNvPr id="14" name="Text 12"/>
          <p:cNvSpPr txBox="1"/>
          <p:nvPr/>
        </p:nvSpPr>
        <p:spPr>
          <a:xfrm>
            <a:off x="640080" y="3044952"/>
            <a:ext cx="7863840" cy="6766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__import__('sys')._is_gil_enabled()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__import__('sysconfig').get_config_var('Py_GIL_DISABLED')</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0</a:t>
            </a:r>
            <a:endParaRPr lang="en-US" sz="900" dirty="0"/>
          </a:p>
        </p:txBody>
      </p:sp>
      <p:sp>
        <p:nvSpPr>
          <p:cNvPr id="15" name="Text 13"/>
          <p:cNvSpPr txBox="1"/>
          <p:nvPr/>
        </p:nvSpPr>
        <p:spPr>
          <a:xfrm>
            <a:off x="457200" y="38587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6" name="Shape 14"/>
          <p:cNvSpPr/>
          <p:nvPr/>
        </p:nvSpPr>
        <p:spPr>
          <a:xfrm>
            <a:off x="457200" y="4087368"/>
            <a:ext cx="2449129" cy="365760"/>
          </a:xfrm>
          <a:prstGeom prst="roundRect">
            <a:avLst>
              <a:gd name="adj" fmla="val 50000"/>
            </a:avLst>
          </a:prstGeom>
          <a:solidFill>
            <a:srgbClr val="EFE9DC"/>
          </a:solidFill>
          <a:ln w="9525">
            <a:solidFill>
              <a:srgbClr val="DFD6C7"/>
            </a:solidFill>
            <a:prstDash val="solid"/>
          </a:ln>
        </p:spPr>
      </p:sp>
      <p:sp>
        <p:nvSpPr>
          <p:cNvPr id="17" name="Text 15"/>
          <p:cNvSpPr txBox="1"/>
          <p:nvPr/>
        </p:nvSpPr>
        <p:spPr>
          <a:xfrm>
            <a:off x="548640" y="408736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800" dirty="0">
                <a:solidFill>
                  <a:srgbClr val="2B2622"/>
                </a:solidFill>
                <a:latin typeface="Calibri" pitchFamily="34" charset="0"/>
                <a:ea typeface="Calibri" pitchFamily="34" charset="-122"/>
                <a:cs typeface="Calibri" pitchFamily="34" charset="-120"/>
              </a:rPr>
              <a:t>Sam Gross's design, accepted by the Py…</a:t>
            </a:r>
            <a:endParaRPr lang="en-US" sz="750" dirty="0"/>
          </a:p>
        </p:txBody>
      </p:sp>
      <p:sp>
        <p:nvSpPr>
          <p:cNvPr id="18" name="Shape 16"/>
          <p:cNvSpPr/>
          <p:nvPr/>
        </p:nvSpPr>
        <p:spPr>
          <a:xfrm>
            <a:off x="3016057" y="4087368"/>
            <a:ext cx="2449129" cy="365760"/>
          </a:xfrm>
          <a:prstGeom prst="roundRect">
            <a:avLst>
              <a:gd name="adj" fmla="val 50000"/>
            </a:avLst>
          </a:prstGeom>
          <a:solidFill>
            <a:srgbClr val="EFE9DC"/>
          </a:solidFill>
          <a:ln w="9525">
            <a:solidFill>
              <a:srgbClr val="DFD6C7"/>
            </a:solidFill>
            <a:prstDash val="solid"/>
          </a:ln>
        </p:spPr>
      </p:sp>
      <p:sp>
        <p:nvSpPr>
          <p:cNvPr id="19" name="Text 17"/>
          <p:cNvSpPr txBox="1"/>
          <p:nvPr/>
        </p:nvSpPr>
        <p:spPr>
          <a:xfrm>
            <a:off x="3107497" y="408736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800" dirty="0">
                <a:solidFill>
                  <a:srgbClr val="2B2622"/>
                </a:solidFill>
                <a:latin typeface="Calibri" pitchFamily="34" charset="0"/>
                <a:ea typeface="Calibri" pitchFamily="34" charset="-122"/>
                <a:cs typeface="Calibri" pitchFamily="34" charset="-120"/>
              </a:rPr>
              <a:t>peps.python.org - and the interpreter …</a:t>
            </a:r>
            <a:endParaRPr lang="en-US" sz="750" dirty="0"/>
          </a:p>
        </p:txBody>
      </p:sp>
      <p:sp>
        <p:nvSpPr>
          <p:cNvPr id="20" name="Shape 18"/>
          <p:cNvSpPr/>
          <p:nvPr/>
        </p:nvSpPr>
        <p:spPr>
          <a:xfrm>
            <a:off x="5574914" y="4087368"/>
            <a:ext cx="1343071" cy="365760"/>
          </a:xfrm>
          <a:prstGeom prst="roundRect">
            <a:avLst>
              <a:gd name="adj" fmla="val 50000"/>
            </a:avLst>
          </a:prstGeom>
          <a:solidFill>
            <a:srgbClr val="EFE9DC"/>
          </a:solidFill>
          <a:ln w="9525">
            <a:solidFill>
              <a:srgbClr val="DFD6C7"/>
            </a:solidFill>
            <a:prstDash val="solid"/>
          </a:ln>
        </p:spPr>
      </p:sp>
      <p:sp>
        <p:nvSpPr>
          <p:cNvPr id="21" name="Text 19"/>
          <p:cNvSpPr txBox="1"/>
          <p:nvPr/>
        </p:nvSpPr>
        <p:spPr>
          <a:xfrm>
            <a:off x="5666354" y="408736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accepted 2023-07…</a:t>
            </a:r>
            <a:endParaRPr lang="en-US" sz="750" dirty="0"/>
          </a:p>
        </p:txBody>
      </p:sp>
      <p:sp>
        <p:nvSpPr>
          <p:cNvPr id="22" name="Shape 20"/>
          <p:cNvSpPr/>
          <p:nvPr/>
        </p:nvSpPr>
        <p:spPr>
          <a:xfrm>
            <a:off x="7027713" y="4087368"/>
            <a:ext cx="1659087" cy="365760"/>
          </a:xfrm>
          <a:prstGeom prst="roundRect">
            <a:avLst>
              <a:gd name="adj" fmla="val 50000"/>
            </a:avLst>
          </a:prstGeom>
          <a:solidFill>
            <a:srgbClr val="2F6D62"/>
          </a:solidFill>
          <a:ln w="9525">
            <a:solidFill>
              <a:srgbClr val="2F6D62"/>
            </a:solidFill>
            <a:prstDash val="solid"/>
          </a:ln>
        </p:spPr>
      </p:sp>
      <p:sp>
        <p:nvSpPr>
          <p:cNvPr id="23" name="Text 21"/>
          <p:cNvSpPr txBox="1"/>
          <p:nvPr/>
        </p:nvSpPr>
        <p:spPr>
          <a:xfrm>
            <a:off x="7119153" y="408736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peps.python.org</a:t>
            </a:r>
            <a:endParaRPr lang="en-US" sz="7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Modern practice is checkable - ask your own interpreter</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23</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Modules: batteries, included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import opens the standard toolbox</a:t>
            </a:r>
            <a:endParaRPr lang="en-US" sz="1300" dirty="0"/>
          </a:p>
        </p:txBody>
      </p:sp>
      <p:sp>
        <p:nvSpPr>
          <p:cNvPr id="6" name="Text 4"/>
          <p:cNvSpPr txBox="1"/>
          <p:nvPr/>
        </p:nvSpPr>
        <p:spPr>
          <a:xfrm>
            <a:off x="457200" y="118872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import binds a module to a name</a:t>
            </a:r>
            <a:endParaRPr lang="en-US" sz="1150" dirty="0"/>
          </a:p>
        </p:txBody>
      </p:sp>
      <p:sp>
        <p:nvSpPr>
          <p:cNvPr id="7" name="Shape 5"/>
          <p:cNvSpPr/>
          <p:nvPr/>
        </p:nvSpPr>
        <p:spPr>
          <a:xfrm>
            <a:off x="457200" y="1463040"/>
            <a:ext cx="3931920" cy="1371600"/>
          </a:xfrm>
          <a:prstGeom prst="roundRect">
            <a:avLst>
              <a:gd name="adj" fmla="val 6667"/>
            </a:avLst>
          </a:prstGeom>
          <a:solidFill>
            <a:srgbClr val="23272E"/>
          </a:solidFill>
          <a:ln w="12700">
            <a:solidFill>
              <a:srgbClr val="23272E"/>
            </a:solidFill>
            <a:prstDash val="solid"/>
          </a:ln>
        </p:spPr>
      </p:sp>
      <p:sp>
        <p:nvSpPr>
          <p:cNvPr id="8" name="Text 6"/>
          <p:cNvSpPr txBox="1"/>
          <p:nvPr/>
        </p:nvSpPr>
        <p:spPr>
          <a:xfrm>
            <a:off x="640080" y="1581912"/>
            <a:ext cx="356616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import random</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type(random).__name__</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'module'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random.__name__</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'random'</a:t>
            </a:r>
            <a:endParaRPr lang="en-US" sz="950" dirty="0"/>
          </a:p>
        </p:txBody>
      </p:sp>
      <p:sp>
        <p:nvSpPr>
          <p:cNvPr id="9" name="Text 7"/>
          <p:cNvSpPr txBox="1"/>
          <p:nvPr/>
        </p:nvSpPr>
        <p:spPr>
          <a:xfrm>
            <a:off x="457200" y="28529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0" name="Text 8"/>
          <p:cNvSpPr txBox="1"/>
          <p:nvPr/>
        </p:nvSpPr>
        <p:spPr>
          <a:xfrm>
            <a:off x="4663440" y="1188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even threads are a module away</a:t>
            </a:r>
            <a:endParaRPr lang="en-US" sz="1150" dirty="0"/>
          </a:p>
        </p:txBody>
      </p:sp>
      <p:sp>
        <p:nvSpPr>
          <p:cNvPr id="11" name="Shape 9"/>
          <p:cNvSpPr/>
          <p:nvPr/>
        </p:nvSpPr>
        <p:spPr>
          <a:xfrm>
            <a:off x="4663440" y="1463040"/>
            <a:ext cx="4023360" cy="1371600"/>
          </a:xfrm>
          <a:prstGeom prst="roundRect">
            <a:avLst>
              <a:gd name="adj" fmla="val 6667"/>
            </a:avLst>
          </a:prstGeom>
          <a:solidFill>
            <a:srgbClr val="23272E"/>
          </a:solidFill>
          <a:ln w="12700">
            <a:solidFill>
              <a:srgbClr val="23272E"/>
            </a:solidFill>
            <a:prstDash val="solid"/>
          </a:ln>
        </p:spPr>
      </p:sp>
      <p:sp>
        <p:nvSpPr>
          <p:cNvPr id="12" name="Text 10"/>
          <p:cNvSpPr txBox="1"/>
          <p:nvPr/>
        </p:nvSpPr>
        <p:spPr>
          <a:xfrm>
            <a:off x="4846320" y="1581912"/>
            <a:ext cx="3657600" cy="113385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__import__('threading').active_count()</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1</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__import__('threading').current_thread().name</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'MainThread'</a:t>
            </a:r>
            <a:endParaRPr lang="en-US" sz="850" dirty="0"/>
          </a:p>
        </p:txBody>
      </p:sp>
      <p:sp>
        <p:nvSpPr>
          <p:cNvPr id="13" name="Text 11"/>
          <p:cNvSpPr txBox="1"/>
          <p:nvPr/>
        </p:nvSpPr>
        <p:spPr>
          <a:xfrm>
            <a:off x="4663440" y="285292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3.13.16</a:t>
            </a:r>
            <a:endParaRPr lang="en-US" sz="900" dirty="0"/>
          </a:p>
        </p:txBody>
      </p:sp>
      <p:sp>
        <p:nvSpPr>
          <p:cNvPr id="14" name="Shape 12"/>
          <p:cNvSpPr/>
          <p:nvPr/>
        </p:nvSpPr>
        <p:spPr>
          <a:xfrm>
            <a:off x="457200" y="3200400"/>
            <a:ext cx="1172718"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3200400"/>
            <a:ext cx="1172718"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random</a:t>
            </a:r>
            <a:endParaRPr lang="en-US" sz="1250" dirty="0"/>
          </a:p>
        </p:txBody>
      </p:sp>
      <p:sp>
        <p:nvSpPr>
          <p:cNvPr id="16" name="Shape 14"/>
          <p:cNvSpPr/>
          <p:nvPr/>
        </p:nvSpPr>
        <p:spPr>
          <a:xfrm>
            <a:off x="1831086" y="3200400"/>
            <a:ext cx="1567053"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1831086" y="3200400"/>
            <a:ext cx="156705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threading</a:t>
            </a:r>
            <a:endParaRPr lang="en-US" sz="1250" dirty="0"/>
          </a:p>
        </p:txBody>
      </p:sp>
      <p:sp>
        <p:nvSpPr>
          <p:cNvPr id="18" name="Shape 16"/>
          <p:cNvSpPr/>
          <p:nvPr/>
        </p:nvSpPr>
        <p:spPr>
          <a:xfrm>
            <a:off x="3599307" y="3200400"/>
            <a:ext cx="77838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3599307" y="3200400"/>
            <a:ext cx="77838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sys</a:t>
            </a:r>
            <a:endParaRPr lang="en-US" sz="1250" dirty="0"/>
          </a:p>
        </p:txBody>
      </p:sp>
      <p:sp>
        <p:nvSpPr>
          <p:cNvPr id="20" name="Shape 18"/>
          <p:cNvSpPr/>
          <p:nvPr/>
        </p:nvSpPr>
        <p:spPr>
          <a:xfrm>
            <a:off x="457200" y="3785616"/>
            <a:ext cx="4195953"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785616"/>
            <a:ext cx="4195953" cy="420624"/>
          </a:xfrm>
          <a:prstGeom prst="rect">
            <a:avLst/>
          </a:prstGeom>
          <a:noFill/>
          <a:ln/>
        </p:spPr>
        <p:txBody>
          <a:bodyPr wrap="square" lIns="0" tIns="0" rIns="0" bIns="0" rtlCol="0" anchor="ctr"/>
          <a:lstStyle/>
          <a:p>
            <a:pPr algn="ctr" indent="0" marL="0">
              <a:buNone/>
            </a:pPr>
            <a:r>
              <a:rPr lang="en-US" sz="1250" dirty="0">
                <a:solidFill>
                  <a:srgbClr val="2B2622"/>
                </a:solidFill>
                <a:latin typeface="Calibri" pitchFamily="34" charset="0"/>
                <a:ea typeface="Calibri" pitchFamily="34" charset="-122"/>
                <a:cs typeface="Calibri" pitchFamily="34" charset="-120"/>
              </a:rPr>
              <a:t>...and thousands more on PyPI</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import hands you a toolbox; chapter 3 opens it properly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23</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prompt reads, evaluates, prints, loops - every expression becomes one value</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int, float, str - type() names them, and integers never overflow</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Operators queue by precedence; floats are honestly approximate; errors name their reasons</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variable is a name that remembers; built-ins are a toolbox already open</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You know YOUR interpreter: CPython 3.13.16 - and even its oldest lock is now optional</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23</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checked sources - every entry a live link</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textbook, chapter 1 - free online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automatetheboringstuff.com/3e/chapter1.html</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Python Tutorial - the informal intro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docs.python.org/3/tutorial/introduction.html</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Floating point, from the source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docs.python.org/3/tutorial/floatingpoint.html</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Reference</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functions, all of them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docs.python.org/3/library/functions.html</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Built-in types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Modern practice</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703 - free threading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peps.python.org/pep-0703/</a:t>
            </a:r>
            <a:endParaRPr lang="en-US" sz="1000" dirty="0"/>
          </a:p>
        </p:txBody>
      </p:sp>
      <p:sp>
        <p:nvSpPr>
          <p:cNvPr id="21" name="Shape 19"/>
          <p:cNvSpPr/>
          <p:nvPr/>
        </p:nvSpPr>
        <p:spPr>
          <a:xfrm>
            <a:off x="4768596" y="2048256"/>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What's new in 3.14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docs.python.org/3/tutorial/introduction.html</a:t>
            </a:r>
            <a:endParaRPr lang="en-US" sz="1000" dirty="0"/>
          </a:p>
        </p:txBody>
      </p:sp>
      <p:sp>
        <p:nvSpPr>
          <p:cNvPr id="23" name="Shape 21"/>
          <p:cNvSpPr/>
          <p:nvPr/>
        </p:nvSpPr>
        <p:spPr>
          <a:xfrm>
            <a:off x="4768596" y="2377440"/>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Status of Python versions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devguide.python.org/versions/</a:t>
            </a:r>
            <a:endParaRPr lang="en-US" sz="1000" dirty="0"/>
          </a:p>
        </p:txBody>
      </p:sp>
      <p:sp>
        <p:nvSpPr>
          <p:cNvPr id="25" name="Text 23"/>
          <p:cNvSpPr txBox="1"/>
          <p:nvPr/>
        </p:nvSpPr>
        <p:spPr>
          <a:xfrm>
            <a:off x="473202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Style &amp; culture</a:t>
            </a:r>
            <a:endParaRPr lang="en-US" sz="1250" dirty="0"/>
          </a:p>
        </p:txBody>
      </p:sp>
      <p:sp>
        <p:nvSpPr>
          <p:cNvPr id="26" name="Shape 24"/>
          <p:cNvSpPr/>
          <p:nvPr/>
        </p:nvSpPr>
        <p:spPr>
          <a:xfrm>
            <a:off x="4768596" y="3054096"/>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8 - the style guide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peps.python.org/pep-0008/</a:t>
            </a:r>
            <a:endParaRPr lang="en-US" sz="1000" dirty="0"/>
          </a:p>
        </p:txBody>
      </p:sp>
      <p:sp>
        <p:nvSpPr>
          <p:cNvPr id="28" name="Shape 26"/>
          <p:cNvSpPr/>
          <p:nvPr/>
        </p:nvSpPr>
        <p:spPr>
          <a:xfrm>
            <a:off x="4768596" y="3383280"/>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PEP 20 - the Zen of Python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peps.python.org/pep-0020/</a:t>
            </a:r>
            <a:endParaRPr lang="en-US" sz="10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Ten links, all checked by the build - the textbook costs nothing</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23</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value is, and the three types of day one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operators queue, and where parentheses save you</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variable remembers, and what a NameError means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interpreter you run - because you asked it</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 Python Basics</dc:title>
  <dc:subject>PptxGenJS Presentation</dc:subject>
  <dc:creator>Yusuf Altunel</dc:creator>
  <cp:lastModifiedBy>Yusuf Altunel</cp:lastModifiedBy>
  <cp:revision>1</cp:revision>
  <dcterms:created xsi:type="dcterms:W3CDTF">2026-10-06T11:06:23Z</dcterms:created>
  <dcterms:modified xsi:type="dcterms:W3CDTF">2026-10-06T11:06:23Z</dcterms:modified>
</cp:coreProperties>
</file>