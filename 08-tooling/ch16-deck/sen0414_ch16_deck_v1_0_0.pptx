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10,000 rows, KiB</a:t>
            </a:r>
          </a:p>
        </c:rich>
      </c:tx>
      <c:layout/>
      <c:overlay val="0"/>
    </c:title>
    <c:autoTitleDeleted val="0"/>
    <c:plotArea>
      <c:layout/>
      <c:barChart>
        <c:barDir val="col"/>
        <c:grouping val="clustered"/>
        <c:varyColors val="0"/>
        <c:ser>
          <c:idx val="0"/>
          <c:order val="0"/>
          <c:tx>
            <c:strRef>
              <c:f>Sheet1!$B$1</c:f>
              <c:strCache>
                <c:ptCount val="1"/>
                <c:pt idx="0">
                  <c:v>KiB</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no index</c:v>
                  </c:pt>
                  <c:pt idx="1">
                    <c:v>index on name</c:v>
                  </c:pt>
                  <c:pt idx="2">
                    <c:v>two indexes</c:v>
                  </c:pt>
                </c:lvl>
              </c:multiLvlStrCache>
            </c:multiLvlStrRef>
          </c:cat>
          <c:val>
            <c:numRef>
              <c:f>Sheet1!$B$2:$B$4</c:f>
              <c:numCache>
                <c:formatCode>General</c:formatCode>
                <c:ptCount val="3"/>
                <c:pt idx="0">
                  <c:v>216</c:v>
                </c:pt>
                <c:pt idx="1">
                  <c:v>380</c:v>
                </c:pt>
                <c:pt idx="2">
                  <c:v>512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14 and 15 worked on spreadsheets: a file that a program opens from its own disk, and a sheet that lives on Google's servers. Chapter 16 turns to the tool that replaces both when the data has to be searched, changed by several statements at once and kept consistent, a database, and to the one database that needs no server at all, SQLite. This deck follows the chapter in its own order: what a database table is and how it differs from a spreadsheet; how a program connects to a file and creates a table with types; the four operations of create, read, update and delete, with placeholders instead of pasted text; transactions that keep or undo a group of changes; the structure of tables, with foreign keys and joins; and copies, tools and the two practice programs. It adds what the chapter leaves out and what the research found when every printed output was run again: the foreign key of the chapter's second table cannot be enforced, the dump of the book's own database fails from Python 3.13, the number of data types is miscounted, a rowid can be handed out twice, and a database in memory is not the fast one. Everything printed on these slides was produced by Python 3.14.6, installed with uv, whose sqlite3 module links SQLite 3.53.1, and nothing needed a network except the two programs that fetch the book's database and check its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seven parts. It starts with the idea of a database, what a program can do with SQLite, the beginning of SQLite and the way a table is a list of tuples with a hidden rowid, then the connection, the types, the schema and the values that go in, then the four operations with placeholders, the traps of a WHERE clause and the index, then transactions and the two writers of one file, then the rowid, the foreign key that works and the one in the book that cannot be enforced, then copies, the first practice program and the tools, ending with a one-map summary and the resources. The ranges name the exact slides, so you can return to the part you need. Two of the slides are true stories and four more are told in the notes; the eight narrative diagrams of the chapter are drawn from the same specifications as the interactive page. Every output was printed by Python 3.14.6 with SQLite 3.53.1, the programs that read the book's database say so,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spine, and it is a question about words. INSERT, UPDATE and DELETE change a database; SELECT only reads it; CREATE TABLE, ALTER TABLE and DROP TABLE change its structure. What decides whether a change is kept, undone or refused is the transaction: a statement that breaks a rule, such as a NOT NULL column or a STRICT type, is refused and leaves nothing behind, a group of statements is kept by commit() and undone by rollback(), and the module itself has two ways of deciding when a transaction begins. The second question is the watch-out of the deck. The chapter is sound in outline, but when its 131 interactive statements were replayed on the book's own database, 103 printed what the page prints, 27 differed and one was a placeholder; and several claims do not hold for the module or the library of today: the foreign key of the second table cannot be enforced, the dump of the shipped file fails from Python 3.13, the count of six data types lists five, and the index does not serve the chapter's own LIKE queries. Each slide says where a printed line differs and on what evidence. The chips give the size of the chapter as this deck covers it: six branches, the topics beneath them, the console rows and the programs that were run, the eight diagrams, and the Python and SQLite releases that printed every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SQLite is not a server that a program talks to; it is a library that the program loads, and the database is one ordinary file. Because there is no server there are also no accounts to manage, and the console shows it: GRANT and CREATE USER are syntax errors. The same console shows how large such a file may grow. The default page is 4096 bytes and the default maximum is 4,294,967,294 pages, which is 17,592,186,036,224 bytes at that page size; at the largest page of 65,536 bytes the limit is 281,474,976,579,584 bytes, the 281 terabytes that SQLite's page on limits gives. The module is part of the Python standard library since release 2.5 of 19 September 2006, when the pysqlite wrapper was added under the name sqlite3. The library inside it belongs to the build, not to the language: the ten interpreters of the study, Python 3.11, 3.12, 3.13 and the seven releases 3.14.0 to 3.14.6, link SQLite 3.45.1, 3.50.4 or 3.53.1, and sqlite.org offered release 3.54.0 on 12 October 2026. SQLite is in the public domain, its authors describe it as the most widely deployed database engine, and it is tested with simulated power loss. The use-case diagram lists what a program can do with one database through the module: insert rows, read them with a query, update and delete them, alter and drop tables, join tables through a foreign key, and back a database up or dump it as text. The rest of the deck takes these in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history of SQLite says D. Richard Hipp designed it in the spring of 2000 while he worked for General Dynamics on a contract with the United States Navy. He was writing software for the damage-control system aboard guided-missile destroyers, a system that first used HP-UX with an Informix database as its back end. The article dates the first release of SQLite to 17 August 2000 and calls the software public domain. A database that is one file with no server to start, and no user accounts to grant, is the SQLite that chapter 16 opens with Python. The account rests on these sources. Wikipedia, 'SQLite' (History: designed in the spring of 2000 by D. Richard Hipp at General Dynamics for the US Navy; initial release 2000-08-17; public domain), read 2026-10-12; sqlite.org/about.html and sqlite.org/serverless.html. Two of the facts on the slide were also read on SQLite's own pages: that the code is in the public domain, and that a database is a single file read and written through a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sets a table against a spreadsheet: a row is a record, a column has a name and a type, and SQLite adds a column of its own, the rowid, a whole number that identifies the row. The console builds the chapter's cats table with the keyword STRICT, which the next slides explain, stores two cats and reads them back. What comes back is a list, and each item of the list is a tuple, the first being ('Zophie', '2021-01-24', 'black', 5.6); that is the chapter's picture of a table as a list of tuples, and it holds. The rowid is hidden: SELECT * lists the four columns, SELECT rowid, * puts the rowid first, and rowid, oid and _rowid_ are three names for the same value. The helper do() runs a statement that returns no rows and prints nothing, and run() returns the rows of a statement, so the console prints only what matters; run it in any Python, because it uses a database in memory and the standard library alone. The chapter claims the rowid does not change when other rows are deleted, which is true of the rows that stay but not of the number itself; slide 19 shows when it is handed out again. The chapter's opening question, the cats between 3 and 5 kilograms born before October 2023, was also run on the book's database: the query and a Python loop over all 100 rows returned the same six cats.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own sequence of steps, drawn as a workflow: connect to a database file, create the table if it does not exist, insert the rows, commit if the statement changed the data, read the rows with fetchall, and close the connection. The console runs the ends of it on a database in memory. A connection starts outside a transaction, SELECT sqlite_version() returns the library's release, 3.53.1 here, and after close() any statement raises ProgrammingError: Cannot operate on a closed database. A few more facts come from the study. connect() creates the file at once but writes nothing: a new example.db was 0 bytes after connect and after a SELECT, and 8,192 bytes after the first CREATE TABLE. A text file connects without an error and fails at the first statement with file is not a database. A with block commits or rolls back but does not close the connection; closing() from contextlib does, and a connection that is simply dropped raises a ResourceWarning. The chapter says a database in memory is much faster than one in a file, and the card gives the measurement behind the correction. The numbers are one run on one machine on 12 October 2026 and vary with the machine, and what they show is that speed is decided by the commit, not by the place. Each connect(':memory:') is a separate database, so two connections to memory do not see each other's tables. The story of the module is short: Python 2.5, released on 19 September 2006, added the pysqlite wrapper to the standard library as sqlite3, which is why a program can open a database with no 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makes two tables with an INTEGER column, one STRICT and one ordinary, and tries to insert five values into each: the text 'Hello', the real 3.5, the text '42', the real 42.0 and NULL. In the STRICT table 'Hello' and 3.5 are refused with IntegrityError, cannot store TEXT value in INTEGER column s.i, and cannot store REAL value in INTEGER column; '42' is converted to the integer 42, 42.0 is stored as 42, and NULL is stored. In the ordinary table all five go in, because the declared type is only an affinity, a preference: '42' became the integer 42, 42.0 became 42, but 'Hello' stayed text and 3.5 stayed real, which typeof() shows. The last statement tries a column of type BOOLEAN in a STRICT table and gets OperationalError, unknown datatype for bad.a. The chapter's own count is off by one: it says that SQLite has six data types and lists five, and the five it lists are the storage classes NULL, INTEGER, REAL, TEXT and BLOB. A STRICT table accepts the six type words INT, INTEGER, REAL, TEXT, BLOB and ANY, and the names the chapter's lists use, such as BOOLEAN, DATE, VARCHAR, NUMERIC and FLOAT, are refused in a STRICT table and only have an affinity in an ordinary one. The chapter's claim that STRICT came with a SQLite version used by Python 3.11 and later is right: the release log of SQLite 3.37.0 is dated 27 November 2021, and Python 3.11 was run with SQLite 3.45.1. The release log opens with STRICT tables as a prescriptive style of data type management for developers who prefer that kind of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listing of the chapter runs from top to bottom without a surprise, and the transcript is what it printed. connect() with isolation_level=None opens the file example.db, which the chapter treats as autocommit; CREATE TABLE IF NOT EXISTS makes the STRICT table of cats; the query on sqlite_schema, where the type is a table, lists [('cats',)]; PRAGMA table_info(cats) returns one tuple for each column with the fields cid, name, type, notnull, dflt_value and pk, so the name column shows notnull 1; and the second CREATE TABLE IF NOT EXISTS, with a different column list, does nothing, because the table exists, so the stored SQL is still the first one. Without the words IF NOT EXISTS the same statement raises OperationalError, table cats already exists, for cats and for CATS alike, because table names are not case-sensitive. sqlite_schema lists tables, indexes and views in the order they were created, and sqlite_master returned the same rows under the name that older programs use. The default value of a text column comes back as SQL text with its quotes, so a default of x is shown as 'x'. Finally the program asks whether the file has a size above zero, which is True because the CREATE TABLE has written the first pages; the study measured 8,192 bytes, two pages of 4,096 bytes, and the file was the only file left in the directory after the connection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computed, not typed: for each Python value the program stores it in a column with no type, asks typeof() for the storage class SQLite chose and reads the value back to see which Python type returns. None becomes null and comes back as None, an int becomes integer, a float real, a str text and bytes a blob; True is stored as the integer 1 and comes back as an int, because SQLite has no boolean. The module binds exactly these five Python types and the boolean; a value of any other type is refused. The console shows two of the refusals: an int of 2 to the power 63 is too large for the 64 bits of an INTEGER and raises OverflowError, Python int too large to convert to SQLite INTEGER, and a list raises ProgrammingError, because the module cannot bind it. Dates have no type either. They are stored as text, as a real number or as an integer and read by the date functions, and the functions are forgiving in odd ways: date('31/10/2035') returns None, but date('2035-02-30') returns the invented date 2035-03-02. Python's default adapter for datetime.date objects is deprecated since Python 3.12 and warns under every interpreter from 3.12, so a program should write the text of the date itself. TRUE and FALSE are accepted in SQL and are 1 and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excerpt the program builds the cats table in memory and inserts four cats with executemany, one call for four rows. The excerpt then shows each operation with its answer. SELECT with ORDER BY and LIMIT 2 returns the two heaviest cats as (rowid, name); UPDATE with a question mark placeholder adds 0.1 to every black cat, and cur.rowcount is 2; DELETE ... WHERE name = ? RETURNING rowid, name deletes Jacob and hands back [(3, 'Jacob')] in one call; an INSERT of a name alone stores NULL in the other columns and lastrowid is 5; a SELECT with LIKE and ORDER BY lists the names with an o; and the last line aggregates: 4 rows, 3 with a fur, an average weight of 6.27. Look at the long number in the transcript: Toby's weight is shown as 6.8999999999999995 and Zophie's as 5.699999999999999, because 0.1 cannot be written exactly in binary floating point and SQLite's REAL is a double, so a program should round what it shows. The study also found how rowcount behaves: an UPDATE by rowid changed one row, the same UPDATE by name changed two cats named Zophie, UPDATE with a true condition changed all rows, DELETE with no condition removed every row and left the empty table in place. executemany is not all or nothing: when the second row of a second batch broke NOT NULL, the row before it stayed.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query with a question mark is an exchange in a fixed order. The program calls execute() with the statement and, as a separate tuple, the value; the module sends the statement and binds the value as data; SQLite returns the rows that match the whole value, and the module hands back a cursor. The console runs the attack. The text x' OR '1'='1 pasted into the query with an f-string closes the quote early and adds a condition that is always true, so every row comes back (both rows here, all four in the program of the next slide); the same text bound as a parameter is compared as one name and matches none. The third statement is the comic's attack: execute() refuses a second statement after a semicolon with ProgrammingError, You can only execute one statement at a time, so the table survives; executescript() runs several statements and would not refuse. OWASP and MITRE name the weakness, CWE-89, and recommend parameterised queries. The chapter's example is sound and, if anything, understated: the strangers whose text reaches a query include a file, a form or a spreadsheet read by an earlier chapter. A placeholder can stand for a value only, never for a table or column name. Named placeholders use a colon and a dictionary, and the errors are specific: a list given for :fur raises ProgrammingError, because a named parameter needs a mapping, and a dictionary without the key says You did not supply a value for binding parameter. A bare string such as 'black' is read as a sequence of five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xkcd number 327, 'Exploits of a Mom', was published on 10 October 2007. In it a school phones a mother about her son, whose name was written as text that closes a statement and drops the table of student records. The mother ends by hoping the school has learned to sanitize its database inputs. Chapter 16 answers the comic with the ? placeholder, and this study ran the attack: pasted into an f-string the text changed the query, bound as a parameter it matched nothing. The account rests on these sources. xkcd.com/327/ and xkcd.com/327/info.0.json (number 327, 2007-10-10, 'Exploits of a Mom', read 2026-10-12); this study's leaf SqlInjection. The transcript is the whole run of the chapter's injection program: four rows with the f-string, none with the placeholder, the refusal of the second statement, the table intact, and the three binding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filters with WHERE, and four details decide whether the filter does what the author means. NULL is not equal to anything, including NULL: fur = NULL matches no row, fur != 'black' skips the cat with no fur, because comparing NULL with anything gives NULL, which is not true, and IS NULL finds it; count(*) counts four rows where count(fur) counts three. The chapter writes its text in double quotes, as in WHERE name LIKE "Ja%", and that works only because SQLite accepts a double-quoted word that matches no column as a string. The study showed the other face of it: fur = "fur" compared the column with itself and matched every row with a fur, and the compile options of the build list no setting for it, so the legacy behaviour is on; SQLite's page on quirks lists double-quoted string literals among its gotchas, and the compile-time options call it a misfeature that SQLITE_DQS=0 disables. Use single quotes for text. Finally LIKE is case-insensitive for ASCII characters only by default, so 'a' LIKE 'A' is 1 but 'É' LIKE 'é' is 0, while GLOB is case-sensitive and uses * and ?. SQLite also accepts both = and == and both &lt;&gt; and !=, and BETWEEN is inclusive.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builds a table of 1,000 cats, creates an index on the name and asks EXPLAIN QUERY PLAN for six searches. The plan says SEARCH ... USING INDEX idx_name for name = 'Cat0042', for name GLOB 'Cat00*' and for the range name &gt;= 'Cat00' AND name &lt; 'Cat01', and SCAN cats, a read of every row, for name LIKE 'Cat00%', for name LIKE '%42' and for fur = 'black', which has no index. LIKE does not use the index because the default index uses the BINARY collation and LIKE is case-insensitive, so the chapter's own LIKE queries would not use the index it builds; a leading wildcard could not use any ordinary index anyway. The last line counts the 100 names LIKE finds. An index is not free, and the chart shows the first price: the same 10,000 rows take 216 KiB in 54 pages of 4,096 bytes, 380 KiB with an index on the name and 512 KiB with a second index, each number computed again when the deck is checked. The card gives the other prices, in time, from the research record: a search by indexed name on 300,000 rows took 0.0033 ms against 10.27 ms for a scan, and 300,000 inserts took 4.7 times as long with two indexes. These are single runs on one machine and are not repeated by any check of the deck; the query plans and the sizes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the chapter's section on rolling back transactions. BEGIN starts a transaction, the statements change the data, and one choice ends it: if every statement succeeded, commit() keeps the changes, and otherwise rollback() undoes them. The console runs it with isolation_level=None, the chapter's switch for autocommit, so nothing is inside a transaction until BEGIN. After BEGIN and one INSERT, in_transaction is True; rollback() leaves count(*) at 0; a second BEGIN with an INSERT and commit() keeps one row; and one INSERT of three rows, the last with NULL in a NOT NULL column, is refused as a whole, with IntegrityError, and the count is still 1, because a single statement is atomic. The study also found that DDL is part of a transaction: a CREATE TABLE and a DROP TABLE inside BEGIN were undone by rollback(), and a rollback() after a lone INSERT in this mode undid nothing, because the INSERT had already been committed. The ACID properties, atomicity, consistency, isolation and durability, were named by Theo Haerder and Andreas Reuter in their 1983 paper, Principles of Transaction-Oriented Database Recovery, in ACM Computing Surveys, building on earlier work of researchers including Jim Gray. SQLite's own pages describe it as transactional and test it with simulated power loss. In the study an open transaction was invisible to a second connection until commit(), and a committed row survived closing and reopening while an uncommitted one did not. Another feature is that executescript() commits any pending transaction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has two models of transaction control, and the transcript shows both. The first three lines come from a loop that opens a connection three times, with the default mode, with autocommit=False and with autocommit=True, creates a table, commits, inserts a row and calls rollback(). In the default mode, the legacy one, in_transaction is True after the INSERT but would stay False after a CREATE TABLE, and rollback() removes the row; with autocommit=False the module opens a transaction itself, rollback() removes the row and a new transaction opens at once; with autocommit=True the INSERT is committed immediately, in_transaction is False and rollback() leaves the row. The autocommit attribute exists from Python 3.12 on, it was absent on 3.11.17 and the 3.14 documentation calls autocommit=False the recommended value, so the chapter's isolation_level=None is the older switch. The excerpt then shows the context manager: a with block commits when it ends and rolls back when it raises, so the block that inserted 1 and then NULL left no rows, the transcript says NOT NULL constraint failed: t.a and rows after the failed block: 0. Finally one statement that inserts three rows, the last with NULL, is atomic and leaves none. In autocommit=False mode, execute('BEGIN') fails with cannot start a transaction within a transaction, because the module has opened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warns that SQLite is not the right choice for hundreds or thousands of simultaneous write operations, and the program tries the smallest case of it. Two connections open the same file with timeout 0. The first runs BEGIN IMMEDIATE and an INSERT and holds the write lock; the second asks to write at the same time and is answered with OperationalError, database is locked; in the default journal mode, delete, a reader sees 0 rows; the first commits and releases the lock. Then PRAGMA journal_mode = WAL switches the database to write-ahead logging, the first connection opens a write again and the second reads the committed count, 1, without being blocked; after the commit it reads 2. The directory then holds shared.db, shared.db-shm and shared.db-wal, and after both connections close only shared.db remains. The module's default busy timeout is 5 seconds, so a writer waits for the lock rather than failing at once, and only a writer that waits longer gets the error. The research tried the chapter's warning with 100 and then 1,000 operating-system processes that each inserted 5 rows into one file: nothing was lost, and the cost showed in time, so the limit is throughput and not correctness. Both numbers on the slide are one run on one machine on 12 October 2026 and vary with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that the rowid does not change when other rows are deleted, and the state diagram follows one rowid to show where the sentence is too strong. A row is inserted and receives the next rowid. If the row is deleted and it was the one with the largest rowid, the next insert receives that same number again, 4 and then 5 on the table with AUTOINCREMENT in the transcript, where a plain table gave 4 twice. A table with no INTEGER PRIMARY KEY can have its rowids renumbered by VACUUM: after deleting rows 1 and 2 of four, the rows (3, 'c') and (4, 'e') became (1, 'c') and (2, 'e'). A column declared INTEGER PRIMARY KEY is an alias for the rowid and keeps its values through VACUUM, and with AUTOINCREMENT a deleted number is never handed out again, which costs the table sqlite_sequence, the only name beginning with sqlite_ in the last line of the transcript. Why this matters comes two slides on: the chapter's foreign key points at the rowid, the very number VACUUM may change. The first row and the transitions all come from the chapter's paragraph on the rowid and from SQLite's pages on rowid tables, VACUUM and AUTOINCREMENT, which the research read and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practice program of the chapter, the meal ingredients database, made so that it works. The book specifies a table of meals with a name and a foreign key REFERENCES meals (rowid); as printed, the first INSERT into ingredients fails with foreign key mismatch, so the program here gives the parent table an id INTEGER PRIMARY KEY and references meals (id), and switches enforcement on with PRAGMA foreign_keys = ON, which is off by default and per connection. The first excerpt is the two CREATE TABLE statements, the second the checks: the join returns ('Pancakes', 'flour, milk, egg', 600.0) and ('Omelette', 'egg, butter', 170.0); an ingredient for meal 99 is refused with FOREIGN KEY constraint failed; PRAGMA foreign_key_check lists no orphans; and the meals that have no butter are [('Pancakes',)]. The program shown is the deck's copy of the corpus program with its SQL cut into pieces that fit a slide, and a check of the build requires that it print exactly what the corpus original prints. The idea behind the two tables is old. In June 1970 Edgar F. Codd, a mathematician at IBM's San Jose Research Lab, published A Relational Model of Data for Large Shared Data Banks in Communications of the ACM, volume 13, number 6; IBM's history page tells how, before it, getting data out of the large information systems of the 1960s took specialists who often wrote whole programs to reach one fact. A table for each kind of fact, linked by a number and read back with a join, is the relational model in a few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shipped database holds the cats table without a primary key and the vaccinations table with FOREIGN KEY(cat_id) REFERENCES cats(rowid), and that declaration cannot be enforced. SQLite's page on foreign keys requires the parent key to be the primary key or a column with a UNIQUE index, and rowid is neither unless it is an alias, so with PRAGMA foreign_keys = ON every INSERT into vaccinations fails with OperationalError, foreign key mismatch - 'vaccinations' referencing 'cats', exactly as the transcript shows; it is off by default, which is why the book's examples seem to work. The identical result came from Python 3.14.0 to 3.14.6, 3.13 and 3.12, and from SQLite 3.45.1, 3.50.4 and 3.53.1. A table rebuilt with id INTEGER PRIMARY KEY and REFERENCES cats(id) enforced the constraint and reported the orphan with PRAGMA foreign_key_check. The chapter's join works because a join does not need the constraint. The second finding follows from the first: Connection.iterdump() runs PRAGMA foreign_key_check first from Python 3.13, so on this file it raises the same OperationalError, while Python 3.12 and 3.11 return 395 lines of the same file. The file is the one the program fetches from the online materials of the third edition, 24,576 bytes with 4,096-byte pages, passing integrity_check, with 100 cats and 291 vaccinations; the zip also ships it a second time as sweigartcats-original.db, byte for byte equal. The deck's program is the corpus program with its long printed line cut in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one real choice: is the copy to be a database or a text of SQL statements? A database copy is made with backup(), which copies the pages of one connection into another, and the program saves a database held in memory to the file copy.db, which then holds both rows in 8,192 bytes; backing up a connection onto itself raises ValueError, target cannot be the same connection instance. A text copy is made with iterdump(), which yields the statements of a database one at a time, and the transcript lists them: BEGIN TRANSACTION, the CREATE TABLE, one INSERT for each row, with the table name in double quotes, and COMMIT. Running them with executescript in an empty database rebuilt identical rows, and filter='cats' leaves out the index line. In the study backup() with pages=1 called its progress function several times and ended with status 101, SQLITE_DONE. The decision on the second branch is the finding of the research: on the book's own file iterdump() raises OperationalError, foreign key mismatch, from Python 3.13, because it runs PRAGMA foreign_key_check first, so the repair is to give the cats table a real key and dump again. The sqlite3 shell of release 3.54.0 has its own .dump command; the study ran it on a script and its dump began with PRAGMA foreign_keys=OFF.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of the chapter walks the book's own database and looks for the planted errors. The query joins vaccinations to cats and finds three vaccinations dated before the cat was born: Ruby, Java and Rocket, each with FVRCP and a date from 2001 to 2004 against a birth in 2013 to 2023. A second query, with a LEFT JOIN and a count of distinct vaccines, finds seven cats that lack at least one of the three vaccines, rabies, FeLV and FVRCP: Molly, Sage, Hugh, Chester, Snowflake, Luke and Muffin, none lacking all three. There are 97 vaccinations of each vaccine, no orphan rows, and two cats named Tiger, so the name cannot identify a cat. The program is the deck's copy of the corpus program, with the long queries cut and one result printed per line. The tools were checked in part. The sqlite3 shell of release 3.54.0 was downloaded from sqlite.org, its SHA3-256 checked against the download page, and run on a script and in a terminal, where it prints a boxed table and the prompt SQLite-3.54 example.db-&gt; where the book shows the list mode. python -m sqlite3 is a second shell inside Python. The page of SQLiteStudio now answers with a redirect to a page titled Letos, and DB Browser for SQLite and DBeaver Community answered 200. The three applications were not installed, and the installers and sudo apt install sqlite3 were not run, so nothing on this slide is claimed about how they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The idea of a database comes first: a table is like a spreadsheet with a rowid, SQLite is one file with no server, and a query replaces a loop over a list. Connection and schema follow: connect() opens or creates the file, a STRICT table checks the types and the schema is read from sqlite_schema. CRUD operations are the largest branch: insert, update and delete change the rows, a placeholder keeps a value as data and an index speeds up a search. Transactions keep or undo changes, and a failed statement changes nothing; write-ahead logging helps several writers. Table structure covers alter and drop, the foreign key that links two tables and the join that reads them together. The last branch is copies, tools and practice: backup() and iterdump() copy a database, the sqlite3 shell and three graphical applications, and two practice programs use the shipped file. Together they answer the first question of the chapter, which statements change the database and what keeps the change, and the slides that say where a printed line differs answer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Python documentation describes the sqlite3 module of release 3.14, and Practical SQL by Anthony DeBarros is the book the chapter points to for further SQL. The reference links are SQLite's own pages for the topics where the deck corrected the chapter: STRICT tables, foreign keys, transactions and write-ahead logging; the rest of the sixty-odd sources of the research, among them the pages on rowid tables, on VACUUM, on the query optimizer and on locking, are in the research package. The history links are the sources behind the six stories of the chapter. Two of them are slides, the beginning of SQLite and Little Bobby Tables; the other four were told in the notes: Codd's paper of 1970 on the slide of the meal ingredients, the arrival of sqlite3 in Python 2.5 on the slide of the connection, the strict mode of SQLite 3.37.0 on the slide of the types, and the name ACID of 1983 on the slide of the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console rows use only the standard library and a database in memory, so they can be typed into any Python, including one in a browser; the programs that build their own database need nothing else, and the two that read the book's file fetch it and check its hash first. The rows were run again under Python 3.14.6 with SQLite 3.53.1 each time the deck was built, and the programs were run again by the check that compares the slides with the recording. The next chapter of the book works with PDF and Word documents, where a program reads and writes files that other people made, and what this chapter taught about rows, types, keys and the cost of every commit carries over to any data that has to be kept in one place and kept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wikipedia.org/wiki/SQLite"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xkcd.com/327/"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16.html" TargetMode="External"/><Relationship Id="rId2" Type="http://schemas.openxmlformats.org/officeDocument/2006/relationships/hyperlink" Target="https://docs.python.org/3.14/library/sqlite3.html" TargetMode="External"/><Relationship Id="rId3" Type="http://schemas.openxmlformats.org/officeDocument/2006/relationships/hyperlink" Target="https://nostarch.com/practical-sql-2nd-edition" TargetMode="External"/><Relationship Id="rId4" Type="http://schemas.openxmlformats.org/officeDocument/2006/relationships/hyperlink" Target="https://www.sqlite.org/stricttables.html" TargetMode="External"/><Relationship Id="rId5" Type="http://schemas.openxmlformats.org/officeDocument/2006/relationships/hyperlink" Target="https://www.sqlite.org/foreignkeys.html" TargetMode="External"/><Relationship Id="rId6" Type="http://schemas.openxmlformats.org/officeDocument/2006/relationships/hyperlink" Target="https://www.sqlite.org/lang_transaction.html" TargetMode="External"/><Relationship Id="rId7" Type="http://schemas.openxmlformats.org/officeDocument/2006/relationships/hyperlink" Target="https://www.sqlite.org/wal.html" TargetMode="External"/><Relationship Id="rId8" Type="http://schemas.openxmlformats.org/officeDocument/2006/relationships/hyperlink" Target="https://en.wikipedia.org/wiki/SQLite" TargetMode="External"/><Relationship Id="rId9" Type="http://schemas.openxmlformats.org/officeDocument/2006/relationships/hyperlink" Target="https://www.ibm.com/history/relational-database" TargetMode="External"/><Relationship Id="rId10" Type="http://schemas.openxmlformats.org/officeDocument/2006/relationships/hyperlink" Target="https://docs.python.org/3.14/whatsnew/2.5.html" TargetMode="External"/><Relationship Id="rId11" Type="http://schemas.openxmlformats.org/officeDocument/2006/relationships/hyperlink" Target="https://xkcd.com/327/" TargetMode="External"/><Relationship Id="rId12" Type="http://schemas.openxmlformats.org/officeDocument/2006/relationships/hyperlink" Target="https://sqlite.org/releaselog/3_37_0.html" TargetMode="External"/><Relationship Id="rId13" Type="http://schemas.openxmlformats.org/officeDocument/2006/relationships/hyperlink" Target="https://en.wikipedia.org/wiki/ACID" TargetMode="External"/><Relationship Id="rId14" Type="http://schemas.openxmlformats.org/officeDocument/2006/relationships/slideLayout" Target="../slideLayouts/slideLayout1.xml"/><Relationship Id="rId1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16: SQLite Databases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a program keeps its data in one file: the sqlite3 module, tables and types, CRUD, transactions, keys and rowids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777240"/>
            <a:ext cx="4114800" cy="1225296"/>
          </a:xfrm>
          <a:prstGeom prst="roundRect">
            <a:avLst>
              <a:gd name="adj" fmla="val 7463"/>
            </a:avLst>
          </a:prstGeom>
          <a:solidFill>
            <a:srgbClr val="23272E"/>
          </a:solidFill>
          <a:ln w="12700">
            <a:solidFill>
              <a:srgbClr val="23272E"/>
            </a:solidFill>
            <a:prstDash val="solid"/>
          </a:ln>
        </p:spPr>
      </p:sp>
      <p:sp>
        <p:nvSpPr>
          <p:cNvPr id="12" name="Text 10"/>
          <p:cNvSpPr txBox="1"/>
          <p:nvPr/>
        </p:nvSpPr>
        <p:spPr>
          <a:xfrm>
            <a:off x="4754880" y="896112"/>
            <a:ext cx="3749040" cy="987552"/>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import platform, sqlite3</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platform.python_version()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'3.14.6'</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sqlite3.sqlite_version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'3.53.1'</a:t>
            </a:r>
            <a:endParaRPr lang="en-US" sz="1050" dirty="0"/>
          </a:p>
        </p:txBody>
      </p:sp>
      <p:sp>
        <p:nvSpPr>
          <p:cNvPr id="13" name="Text 11"/>
          <p:cNvSpPr txBox="1"/>
          <p:nvPr/>
        </p:nvSpPr>
        <p:spPr>
          <a:xfrm>
            <a:off x="548640" y="3520440"/>
            <a:ext cx="8046720" cy="374904"/>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The book's own database and the sqlite3 shell were fetched and hash-checked;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idea of a database (slides 4-6)</a:t>
            </a:r>
            <a:endParaRPr lang="en-US" sz="1150" dirty="0"/>
          </a:p>
        </p:txBody>
      </p:sp>
      <p:sp>
        <p:nvSpPr>
          <p:cNvPr id="9" name="Shape 7"/>
          <p:cNvSpPr/>
          <p:nvPr/>
        </p:nvSpPr>
        <p:spPr>
          <a:xfrm>
            <a:off x="457200" y="1780467"/>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804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43891"/>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Connection, types and schema (slides 7-10)</a:t>
            </a:r>
            <a:endParaRPr lang="en-US" sz="1150" dirty="0"/>
          </a:p>
        </p:txBody>
      </p:sp>
      <p:sp>
        <p:nvSpPr>
          <p:cNvPr id="12" name="Shape 10"/>
          <p:cNvSpPr/>
          <p:nvPr/>
        </p:nvSpPr>
        <p:spPr>
          <a:xfrm>
            <a:off x="457200" y="2244199"/>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441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7623"/>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CRUD, parameters and indexes (slides 11-15)</a:t>
            </a:r>
            <a:endParaRPr lang="en-US" sz="1150" dirty="0"/>
          </a:p>
        </p:txBody>
      </p:sp>
      <p:sp>
        <p:nvSpPr>
          <p:cNvPr id="15" name="Shape 13"/>
          <p:cNvSpPr/>
          <p:nvPr/>
        </p:nvSpPr>
        <p:spPr>
          <a:xfrm>
            <a:off x="457200" y="270793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0793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71354"/>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Transactions and writers (slides 16-18)</a:t>
            </a:r>
            <a:endParaRPr lang="en-US" sz="1150" dirty="0"/>
          </a:p>
        </p:txBody>
      </p:sp>
      <p:sp>
        <p:nvSpPr>
          <p:cNvPr id="18" name="Shape 16"/>
          <p:cNvSpPr/>
          <p:nvPr/>
        </p:nvSpPr>
        <p:spPr>
          <a:xfrm>
            <a:off x="457200" y="317166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716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35086"/>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Keys, rowids and joins (slides 19-21)</a:t>
            </a:r>
            <a:endParaRPr lang="en-US" sz="1150" dirty="0"/>
          </a:p>
        </p:txBody>
      </p:sp>
      <p:sp>
        <p:nvSpPr>
          <p:cNvPr id="21" name="Shape 19"/>
          <p:cNvSpPr/>
          <p:nvPr/>
        </p:nvSpPr>
        <p:spPr>
          <a:xfrm>
            <a:off x="457200" y="3635393"/>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353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98817"/>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Copies, practice and tools (slides 22-23)</a:t>
            </a:r>
            <a:endParaRPr lang="en-US" sz="1150" dirty="0"/>
          </a:p>
        </p:txBody>
      </p:sp>
      <p:sp>
        <p:nvSpPr>
          <p:cNvPr id="24" name="Shape 22"/>
          <p:cNvSpPr/>
          <p:nvPr/>
        </p:nvSpPr>
        <p:spPr>
          <a:xfrm>
            <a:off x="457200" y="4099125"/>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991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62549"/>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7" name="Shape 25"/>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9" name="Text 27"/>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0" name="Shape 28"/>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 + 4</a:t>
            </a:r>
            <a:endParaRPr lang="en-US" sz="2600" dirty="0"/>
          </a:p>
        </p:txBody>
      </p:sp>
      <p:sp>
        <p:nvSpPr>
          <p:cNvPr id="32" name="Text 30"/>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2 on slides, 4 in the notes</a:t>
            </a:r>
            <a:endParaRPr lang="en-US" sz="1100" dirty="0"/>
          </a:p>
        </p:txBody>
      </p:sp>
      <p:sp>
        <p:nvSpPr>
          <p:cNvPr id="33" name="Shape 31"/>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a:t>
            </a:r>
            <a:endParaRPr lang="en-US" sz="2600" dirty="0"/>
          </a:p>
        </p:txBody>
      </p:sp>
      <p:sp>
        <p:nvSpPr>
          <p:cNvPr id="35" name="Text 33"/>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parts, from one file to a copy of it.</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statements change the database, which only read it, and what decides whether a change is kept, undone or refused?</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Python, in current SQLite, in the files the book ships or in the pages it points to, and on what source?</a:t>
            </a:r>
            <a:endParaRPr lang="en-US" sz="1300" dirty="0"/>
          </a:p>
        </p:txBody>
      </p:sp>
      <p:sp>
        <p:nvSpPr>
          <p:cNvPr id="12" name="Shape 10"/>
          <p:cNvSpPr/>
          <p:nvPr/>
        </p:nvSpPr>
        <p:spPr>
          <a:xfrm>
            <a:off x="457200" y="347472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 branches</a:t>
            </a:r>
            <a:endParaRPr lang="en-US" sz="1150" dirty="0"/>
          </a:p>
        </p:txBody>
      </p:sp>
      <p:sp>
        <p:nvSpPr>
          <p:cNvPr id="14" name="Shape 12"/>
          <p:cNvSpPr/>
          <p:nvPr/>
        </p:nvSpPr>
        <p:spPr>
          <a:xfrm>
            <a:off x="2251710" y="3474720"/>
            <a:ext cx="159334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100 topics</a:t>
            </a:r>
            <a:endParaRPr lang="en-US" sz="1150" dirty="0"/>
          </a:p>
        </p:txBody>
      </p:sp>
      <p:sp>
        <p:nvSpPr>
          <p:cNvPr id="16" name="Shape 14"/>
          <p:cNvSpPr/>
          <p:nvPr/>
        </p:nvSpPr>
        <p:spPr>
          <a:xfrm>
            <a:off x="4046220" y="3474720"/>
            <a:ext cx="219798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046220"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70 console rows</a:t>
            </a:r>
            <a:endParaRPr lang="en-US" sz="1150" dirty="0"/>
          </a:p>
        </p:txBody>
      </p:sp>
      <p:sp>
        <p:nvSpPr>
          <p:cNvPr id="18" name="Shape 16"/>
          <p:cNvSpPr/>
          <p:nvPr/>
        </p:nvSpPr>
        <p:spPr>
          <a:xfrm>
            <a:off x="6445377" y="3474720"/>
            <a:ext cx="219798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445377"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15 programs run</a:t>
            </a:r>
            <a:endParaRPr lang="en-US" sz="1150" dirty="0"/>
          </a:p>
        </p:txBody>
      </p:sp>
      <p:sp>
        <p:nvSpPr>
          <p:cNvPr id="20" name="Shape 18"/>
          <p:cNvSpPr/>
          <p:nvPr/>
        </p:nvSpPr>
        <p:spPr>
          <a:xfrm>
            <a:off x="457200" y="4059936"/>
            <a:ext cx="159334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8 diagrams</a:t>
            </a:r>
            <a:endParaRPr lang="en-US" sz="1150" dirty="0"/>
          </a:p>
        </p:txBody>
      </p:sp>
      <p:sp>
        <p:nvSpPr>
          <p:cNvPr id="22" name="Shape 20"/>
          <p:cNvSpPr/>
          <p:nvPr/>
        </p:nvSpPr>
        <p:spPr>
          <a:xfrm>
            <a:off x="2251710" y="4059936"/>
            <a:ext cx="195613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251710" y="4059936"/>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4" name="Shape 22"/>
          <p:cNvSpPr/>
          <p:nvPr/>
        </p:nvSpPr>
        <p:spPr>
          <a:xfrm>
            <a:off x="4409008" y="4059936"/>
            <a:ext cx="1956130"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4409008" y="4059936"/>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SQLite 3.53.1</a:t>
            </a:r>
            <a:endParaRPr lang="en-US" sz="11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changes the data and what keeps it; then check what the book printed.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SQLite and what a program can do with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library and one file: no server to start, no user to grant</a:t>
            </a:r>
            <a:endParaRPr lang="en-US" sz="1300" dirty="0"/>
          </a:p>
        </p:txBody>
      </p:sp>
      <p:sp>
        <p:nvSpPr>
          <p:cNvPr id="6" name="Shape 4"/>
          <p:cNvSpPr/>
          <p:nvPr/>
        </p:nvSpPr>
        <p:spPr>
          <a:xfrm>
            <a:off x="5897880" y="1581912"/>
            <a:ext cx="2834640" cy="2624328"/>
          </a:xfrm>
          <a:prstGeom prst="rect">
            <a:avLst/>
          </a:prstGeom>
          <a:solidFill>
            <a:srgbClr val="FBF8F2"/>
          </a:solidFill>
          <a:ln w="12700">
            <a:solidFill>
              <a:srgbClr val="6E655C"/>
            </a:solidFill>
            <a:prstDash val="solid"/>
          </a:ln>
        </p:spPr>
      </p:sp>
      <p:sp>
        <p:nvSpPr>
          <p:cNvPr id="7" name="Text 5"/>
          <p:cNvSpPr txBox="1"/>
          <p:nvPr/>
        </p:nvSpPr>
        <p:spPr>
          <a:xfrm>
            <a:off x="5971032" y="1344168"/>
            <a:ext cx="269748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 SQLITE DATABASE IN PYTHON</a:t>
            </a:r>
            <a:endParaRPr lang="en-US" sz="850" dirty="0"/>
          </a:p>
        </p:txBody>
      </p:sp>
      <p:sp>
        <p:nvSpPr>
          <p:cNvPr id="8" name="Shape 6"/>
          <p:cNvSpPr/>
          <p:nvPr/>
        </p:nvSpPr>
        <p:spPr>
          <a:xfrm>
            <a:off x="6035040" y="1682496"/>
            <a:ext cx="2560320" cy="370332"/>
          </a:xfrm>
          <a:prstGeom prst="ellipse">
            <a:avLst/>
          </a:prstGeom>
          <a:solidFill>
            <a:srgbClr val="F2ECE1"/>
          </a:solidFill>
          <a:ln w="15875">
            <a:solidFill>
              <a:srgbClr val="2F6D62"/>
            </a:solidFill>
            <a:prstDash val="solid"/>
          </a:ln>
        </p:spPr>
      </p:sp>
      <p:sp>
        <p:nvSpPr>
          <p:cNvPr id="9" name="Text 7"/>
          <p:cNvSpPr txBox="1"/>
          <p:nvPr/>
        </p:nvSpPr>
        <p:spPr>
          <a:xfrm>
            <a:off x="6291072" y="1796796"/>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Insert rows into a table</a:t>
            </a:r>
            <a:endParaRPr lang="en-US" sz="800" dirty="0"/>
          </a:p>
        </p:txBody>
      </p:sp>
      <p:sp>
        <p:nvSpPr>
          <p:cNvPr id="10" name="Shape 8"/>
          <p:cNvSpPr/>
          <p:nvPr/>
        </p:nvSpPr>
        <p:spPr>
          <a:xfrm>
            <a:off x="6035040" y="2107692"/>
            <a:ext cx="2560320" cy="370332"/>
          </a:xfrm>
          <a:prstGeom prst="ellipse">
            <a:avLst/>
          </a:prstGeom>
          <a:solidFill>
            <a:srgbClr val="F2ECE1"/>
          </a:solidFill>
          <a:ln w="15875">
            <a:solidFill>
              <a:srgbClr val="2F6D62"/>
            </a:solidFill>
            <a:prstDash val="solid"/>
          </a:ln>
        </p:spPr>
      </p:sp>
      <p:sp>
        <p:nvSpPr>
          <p:cNvPr id="11" name="Text 9"/>
          <p:cNvSpPr txBox="1"/>
          <p:nvPr/>
        </p:nvSpPr>
        <p:spPr>
          <a:xfrm>
            <a:off x="6291072" y="2221992"/>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rows with a query</a:t>
            </a:r>
            <a:endParaRPr lang="en-US" sz="800" dirty="0"/>
          </a:p>
        </p:txBody>
      </p:sp>
      <p:sp>
        <p:nvSpPr>
          <p:cNvPr id="12" name="Shape 10"/>
          <p:cNvSpPr/>
          <p:nvPr/>
        </p:nvSpPr>
        <p:spPr>
          <a:xfrm>
            <a:off x="6035040" y="2532888"/>
            <a:ext cx="2560320" cy="370332"/>
          </a:xfrm>
          <a:prstGeom prst="ellipse">
            <a:avLst/>
          </a:prstGeom>
          <a:solidFill>
            <a:srgbClr val="F2ECE1"/>
          </a:solidFill>
          <a:ln w="15875">
            <a:solidFill>
              <a:srgbClr val="2F6D62"/>
            </a:solidFill>
            <a:prstDash val="solid"/>
          </a:ln>
        </p:spPr>
      </p:sp>
      <p:sp>
        <p:nvSpPr>
          <p:cNvPr id="13" name="Text 11"/>
          <p:cNvSpPr txBox="1"/>
          <p:nvPr/>
        </p:nvSpPr>
        <p:spPr>
          <a:xfrm>
            <a:off x="6291072" y="2647188"/>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Update and delete rows</a:t>
            </a:r>
            <a:endParaRPr lang="en-US" sz="800" dirty="0"/>
          </a:p>
        </p:txBody>
      </p:sp>
      <p:sp>
        <p:nvSpPr>
          <p:cNvPr id="14" name="Shape 12"/>
          <p:cNvSpPr/>
          <p:nvPr/>
        </p:nvSpPr>
        <p:spPr>
          <a:xfrm>
            <a:off x="6035040" y="2958084"/>
            <a:ext cx="2560320" cy="370332"/>
          </a:xfrm>
          <a:prstGeom prst="ellipse">
            <a:avLst/>
          </a:prstGeom>
          <a:solidFill>
            <a:srgbClr val="F2ECE1"/>
          </a:solidFill>
          <a:ln w="15875">
            <a:solidFill>
              <a:srgbClr val="2F6D62"/>
            </a:solidFill>
            <a:prstDash val="solid"/>
          </a:ln>
        </p:spPr>
      </p:sp>
      <p:sp>
        <p:nvSpPr>
          <p:cNvPr id="15" name="Text 13"/>
          <p:cNvSpPr txBox="1"/>
          <p:nvPr/>
        </p:nvSpPr>
        <p:spPr>
          <a:xfrm>
            <a:off x="6291072" y="3072384"/>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Alter and drop tables</a:t>
            </a:r>
            <a:endParaRPr lang="en-US" sz="800" dirty="0"/>
          </a:p>
        </p:txBody>
      </p:sp>
      <p:sp>
        <p:nvSpPr>
          <p:cNvPr id="16" name="Shape 14"/>
          <p:cNvSpPr/>
          <p:nvPr/>
        </p:nvSpPr>
        <p:spPr>
          <a:xfrm>
            <a:off x="6035040" y="3383280"/>
            <a:ext cx="2560320" cy="370332"/>
          </a:xfrm>
          <a:prstGeom prst="ellipse">
            <a:avLst/>
          </a:prstGeom>
          <a:solidFill>
            <a:srgbClr val="F2ECE1"/>
          </a:solidFill>
          <a:ln w="15875">
            <a:solidFill>
              <a:srgbClr val="2F6D62"/>
            </a:solidFill>
            <a:prstDash val="solid"/>
          </a:ln>
        </p:spPr>
      </p:sp>
      <p:sp>
        <p:nvSpPr>
          <p:cNvPr id="17" name="Text 15"/>
          <p:cNvSpPr txBox="1"/>
          <p:nvPr/>
        </p:nvSpPr>
        <p:spPr>
          <a:xfrm>
            <a:off x="6291072" y="3497580"/>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Join tables with a foreign key</a:t>
            </a:r>
            <a:endParaRPr lang="en-US" sz="800" dirty="0"/>
          </a:p>
        </p:txBody>
      </p:sp>
      <p:sp>
        <p:nvSpPr>
          <p:cNvPr id="18" name="Shape 16"/>
          <p:cNvSpPr/>
          <p:nvPr/>
        </p:nvSpPr>
        <p:spPr>
          <a:xfrm>
            <a:off x="6035040" y="3808476"/>
            <a:ext cx="2560320" cy="370332"/>
          </a:xfrm>
          <a:prstGeom prst="ellipse">
            <a:avLst/>
          </a:prstGeom>
          <a:solidFill>
            <a:srgbClr val="F2ECE1"/>
          </a:solidFill>
          <a:ln w="15875">
            <a:solidFill>
              <a:srgbClr val="2F6D62"/>
            </a:solidFill>
            <a:prstDash val="solid"/>
          </a:ln>
        </p:spPr>
      </p:sp>
      <p:sp>
        <p:nvSpPr>
          <p:cNvPr id="19" name="Text 17"/>
          <p:cNvSpPr txBox="1"/>
          <p:nvPr/>
        </p:nvSpPr>
        <p:spPr>
          <a:xfrm>
            <a:off x="6291072" y="3922776"/>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Back up and dump a database</a:t>
            </a:r>
            <a:endParaRPr lang="en-US" sz="800" dirty="0"/>
          </a:p>
        </p:txBody>
      </p:sp>
      <p:sp>
        <p:nvSpPr>
          <p:cNvPr id="20" name="Shape 18"/>
          <p:cNvSpPr/>
          <p:nvPr/>
        </p:nvSpPr>
        <p:spPr>
          <a:xfrm>
            <a:off x="5385816" y="2125980"/>
            <a:ext cx="201168" cy="201168"/>
          </a:xfrm>
          <a:prstGeom prst="ellipse">
            <a:avLst/>
          </a:prstGeom>
          <a:solidFill>
            <a:srgbClr val="FFFFFF"/>
          </a:solidFill>
          <a:ln w="19050">
            <a:solidFill>
              <a:srgbClr val="2B2622"/>
            </a:solidFill>
            <a:prstDash val="solid"/>
          </a:ln>
        </p:spPr>
      </p:sp>
      <p:sp>
        <p:nvSpPr>
          <p:cNvPr id="21" name="Shape 19"/>
          <p:cNvSpPr/>
          <p:nvPr/>
        </p:nvSpPr>
        <p:spPr>
          <a:xfrm>
            <a:off x="5486400" y="2327148"/>
            <a:ext cx="0" cy="347472"/>
          </a:xfrm>
          <a:prstGeom prst="line">
            <a:avLst/>
          </a:prstGeom>
          <a:noFill/>
          <a:ln w="19050">
            <a:solidFill>
              <a:srgbClr val="2B2622"/>
            </a:solidFill>
            <a:prstDash val="solid"/>
          </a:ln>
        </p:spPr>
      </p:sp>
      <p:sp>
        <p:nvSpPr>
          <p:cNvPr id="22" name="Shape 20"/>
          <p:cNvSpPr/>
          <p:nvPr/>
        </p:nvSpPr>
        <p:spPr>
          <a:xfrm>
            <a:off x="5303520" y="2418588"/>
            <a:ext cx="365760" cy="0"/>
          </a:xfrm>
          <a:prstGeom prst="line">
            <a:avLst/>
          </a:prstGeom>
          <a:noFill/>
          <a:ln w="19050">
            <a:solidFill>
              <a:srgbClr val="2B2622"/>
            </a:solidFill>
            <a:prstDash val="solid"/>
          </a:ln>
        </p:spPr>
      </p:sp>
      <p:sp>
        <p:nvSpPr>
          <p:cNvPr id="23" name="Shape 21"/>
          <p:cNvSpPr/>
          <p:nvPr/>
        </p:nvSpPr>
        <p:spPr>
          <a:xfrm flipH="1">
            <a:off x="5340096" y="2674620"/>
            <a:ext cx="146304" cy="228600"/>
          </a:xfrm>
          <a:prstGeom prst="line">
            <a:avLst/>
          </a:prstGeom>
          <a:noFill/>
          <a:ln w="19050">
            <a:solidFill>
              <a:srgbClr val="2B2622"/>
            </a:solidFill>
            <a:prstDash val="solid"/>
          </a:ln>
        </p:spPr>
      </p:sp>
      <p:sp>
        <p:nvSpPr>
          <p:cNvPr id="24" name="Shape 22"/>
          <p:cNvSpPr/>
          <p:nvPr/>
        </p:nvSpPr>
        <p:spPr>
          <a:xfrm>
            <a:off x="5486400" y="2674620"/>
            <a:ext cx="146304" cy="228600"/>
          </a:xfrm>
          <a:prstGeom prst="line">
            <a:avLst/>
          </a:prstGeom>
          <a:noFill/>
          <a:ln w="19050">
            <a:solidFill>
              <a:srgbClr val="2B2622"/>
            </a:solidFill>
            <a:prstDash val="solid"/>
          </a:ln>
        </p:spPr>
      </p:sp>
      <p:sp>
        <p:nvSpPr>
          <p:cNvPr id="25" name="Text 23"/>
          <p:cNvSpPr txBox="1"/>
          <p:nvPr/>
        </p:nvSpPr>
        <p:spPr>
          <a:xfrm>
            <a:off x="516636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6" name="Shape 24"/>
          <p:cNvSpPr/>
          <p:nvPr/>
        </p:nvSpPr>
        <p:spPr>
          <a:xfrm flipV="1">
            <a:off x="5669280" y="1867205"/>
            <a:ext cx="365760" cy="624535"/>
          </a:xfrm>
          <a:prstGeom prst="line">
            <a:avLst/>
          </a:prstGeom>
          <a:noFill/>
          <a:ln w="12700">
            <a:solidFill>
              <a:srgbClr val="6E655C"/>
            </a:solidFill>
            <a:prstDash val="solid"/>
          </a:ln>
        </p:spPr>
      </p:sp>
      <p:sp>
        <p:nvSpPr>
          <p:cNvPr id="27" name="Shape 25"/>
          <p:cNvSpPr/>
          <p:nvPr/>
        </p:nvSpPr>
        <p:spPr>
          <a:xfrm flipV="1">
            <a:off x="5669280" y="2292401"/>
            <a:ext cx="365760" cy="199339"/>
          </a:xfrm>
          <a:prstGeom prst="line">
            <a:avLst/>
          </a:prstGeom>
          <a:noFill/>
          <a:ln w="12700">
            <a:solidFill>
              <a:srgbClr val="6E655C"/>
            </a:solidFill>
            <a:prstDash val="solid"/>
          </a:ln>
        </p:spPr>
      </p:sp>
      <p:sp>
        <p:nvSpPr>
          <p:cNvPr id="28" name="Shape 26"/>
          <p:cNvSpPr/>
          <p:nvPr/>
        </p:nvSpPr>
        <p:spPr>
          <a:xfrm>
            <a:off x="5669280" y="2491740"/>
            <a:ext cx="365760" cy="226771"/>
          </a:xfrm>
          <a:prstGeom prst="line">
            <a:avLst/>
          </a:prstGeom>
          <a:noFill/>
          <a:ln w="12700">
            <a:solidFill>
              <a:srgbClr val="6E655C"/>
            </a:solidFill>
            <a:prstDash val="solid"/>
          </a:ln>
        </p:spPr>
      </p:sp>
      <p:sp>
        <p:nvSpPr>
          <p:cNvPr id="29" name="Shape 27"/>
          <p:cNvSpPr/>
          <p:nvPr/>
        </p:nvSpPr>
        <p:spPr>
          <a:xfrm>
            <a:off x="5669280" y="2491740"/>
            <a:ext cx="365760" cy="651967"/>
          </a:xfrm>
          <a:prstGeom prst="line">
            <a:avLst/>
          </a:prstGeom>
          <a:noFill/>
          <a:ln w="12700">
            <a:solidFill>
              <a:srgbClr val="6E655C"/>
            </a:solidFill>
            <a:prstDash val="solid"/>
          </a:ln>
        </p:spPr>
      </p:sp>
      <p:sp>
        <p:nvSpPr>
          <p:cNvPr id="30" name="Shape 28"/>
          <p:cNvSpPr/>
          <p:nvPr/>
        </p:nvSpPr>
        <p:spPr>
          <a:xfrm>
            <a:off x="5669280" y="2491740"/>
            <a:ext cx="365760" cy="1076249"/>
          </a:xfrm>
          <a:prstGeom prst="line">
            <a:avLst/>
          </a:prstGeom>
          <a:noFill/>
          <a:ln w="12700">
            <a:solidFill>
              <a:srgbClr val="6E655C"/>
            </a:solidFill>
            <a:prstDash val="solid"/>
          </a:ln>
        </p:spPr>
      </p:sp>
      <p:sp>
        <p:nvSpPr>
          <p:cNvPr id="31" name="Shape 29"/>
          <p:cNvSpPr/>
          <p:nvPr/>
        </p:nvSpPr>
        <p:spPr>
          <a:xfrm>
            <a:off x="5669280" y="2491740"/>
            <a:ext cx="365760" cy="1501445"/>
          </a:xfrm>
          <a:prstGeom prst="line">
            <a:avLst/>
          </a:prstGeom>
          <a:noFill/>
          <a:ln w="12700">
            <a:solidFill>
              <a:srgbClr val="6E655C"/>
            </a:solidFill>
            <a:prstDash val="solid"/>
          </a:ln>
        </p:spPr>
      </p:sp>
      <p:sp>
        <p:nvSpPr>
          <p:cNvPr id="32" name="Text 30"/>
          <p:cNvSpPr txBox="1"/>
          <p:nvPr/>
        </p:nvSpPr>
        <p:spPr>
          <a:xfrm>
            <a:off x="5166360" y="4233672"/>
            <a:ext cx="35661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WhatAProgramCanDoWithSqlite - SetOfUses pattern, 24 of 25 words grounded in the chapter's text</a:t>
            </a:r>
            <a:endParaRPr lang="en-US" sz="850" dirty="0"/>
          </a:p>
        </p:txBody>
      </p:sp>
      <p:sp>
        <p:nvSpPr>
          <p:cNvPr id="33" name="Shape 31"/>
          <p:cNvSpPr/>
          <p:nvPr/>
        </p:nvSpPr>
        <p:spPr>
          <a:xfrm>
            <a:off x="457200" y="1371600"/>
            <a:ext cx="4572000" cy="1901952"/>
          </a:xfrm>
          <a:prstGeom prst="roundRect">
            <a:avLst>
              <a:gd name="adj" fmla="val 4808"/>
            </a:avLst>
          </a:prstGeom>
          <a:solidFill>
            <a:srgbClr val="23272E"/>
          </a:solidFill>
          <a:ln w="12700">
            <a:solidFill>
              <a:srgbClr val="23272E"/>
            </a:solidFill>
            <a:prstDash val="solid"/>
          </a:ln>
        </p:spPr>
      </p:sp>
      <p:sp>
        <p:nvSpPr>
          <p:cNvPr id="34" name="Text 32"/>
          <p:cNvSpPr txBox="1"/>
          <p:nvPr/>
        </p:nvSpPr>
        <p:spPr>
          <a:xfrm>
            <a:off x="640080" y="1490472"/>
            <a:ext cx="4206240" cy="166420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import sqlite3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conn = sqlite3.connect(':memory:')</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conn.execute('GRANT SELECT ON cats TO bob')</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OperationalError: near "GRANT": syntax error</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conn.execute('CREATE USER bob')</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OperationalError: near "USER": syntax error</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conn.execute('PRAGMA max_page_count').fetchone()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(4294967294,)</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4096 * 4294967294</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17592186036224</a:t>
            </a:r>
            <a:endParaRPr lang="en-US" sz="900" dirty="0"/>
          </a:p>
        </p:txBody>
      </p:sp>
      <p:sp>
        <p:nvSpPr>
          <p:cNvPr id="35" name="Shape 33"/>
          <p:cNvSpPr/>
          <p:nvPr/>
        </p:nvSpPr>
        <p:spPr>
          <a:xfrm>
            <a:off x="457200" y="3410712"/>
            <a:ext cx="4572000" cy="1115568"/>
          </a:xfrm>
          <a:prstGeom prst="roundRect">
            <a:avLst>
              <a:gd name="adj" fmla="val 8197"/>
            </a:avLst>
          </a:prstGeom>
          <a:solidFill>
            <a:srgbClr val="F2ECE1"/>
          </a:solidFill>
          <a:ln w="12700">
            <a:solidFill>
              <a:srgbClr val="F2ECE1"/>
            </a:solidFill>
            <a:prstDash val="solid"/>
          </a:ln>
        </p:spPr>
      </p:sp>
      <p:sp>
        <p:nvSpPr>
          <p:cNvPr id="36" name="Text 34"/>
          <p:cNvSpPr txBox="1"/>
          <p:nvPr/>
        </p:nvSpPr>
        <p:spPr>
          <a:xfrm>
            <a:off x="640080" y="3529584"/>
            <a:ext cx="42062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A library, and a module</a:t>
            </a:r>
            <a:endParaRPr lang="en-US" sz="1600" dirty="0"/>
          </a:p>
        </p:txBody>
      </p:sp>
      <p:sp>
        <p:nvSpPr>
          <p:cNvPr id="37" name="Text 35"/>
          <p:cNvSpPr txBox="1"/>
          <p:nvPr/>
        </p:nvSpPr>
        <p:spPr>
          <a:xfrm>
            <a:off x="640080" y="3913632"/>
            <a:ext cx="4206240" cy="475488"/>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ships sqlite3 since release 2.5 (2006); the SQLite inside is the build's: 3.45.1, 3.50.4 or 3.53.1 on ten interpreters.</a:t>
            </a:r>
            <a:endParaRPr lang="en-US" sz="950" dirty="0"/>
          </a:p>
        </p:txBody>
      </p:sp>
      <p:sp>
        <p:nvSpPr>
          <p:cNvPr id="38" name="Shape 36"/>
          <p:cNvSpPr/>
          <p:nvPr/>
        </p:nvSpPr>
        <p:spPr>
          <a:xfrm>
            <a:off x="457200" y="4636008"/>
            <a:ext cx="91440" cy="310896"/>
          </a:xfrm>
          <a:prstGeom prst="rect">
            <a:avLst/>
          </a:prstGeom>
          <a:solidFill>
            <a:srgbClr val="D97A14"/>
          </a:solidFill>
          <a:ln w="12700">
            <a:solidFill>
              <a:srgbClr val="D97A14"/>
            </a:solidFill>
            <a:prstDash val="solid"/>
          </a:ln>
        </p:spPr>
      </p:sp>
      <p:sp>
        <p:nvSpPr>
          <p:cNvPr id="39" name="Text 3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SQLite is a library and a file, and the build chooses its version.</a:t>
            </a:r>
            <a:endParaRPr lang="en-US" sz="1350" dirty="0"/>
          </a:p>
        </p:txBody>
      </p:sp>
      <p:sp>
        <p:nvSpPr>
          <p:cNvPr id="40" name="Text 3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SQLite began in 2000 on a Navy program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Spring 2000</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database without a server</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D. Richard Hipp designed SQLite while working for General Dynamics on a US Navy contract: software for the damage-control system of guided-missile destroyers. The first release is dated 17 August 2000.</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Spring 2000: designed for a Navy contract</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17 Aug 2000: first release</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library and one file: no server to run</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Public domain: no licence to sign</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 Richard Hipp, then working for Gene…</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Software for the damage-control system…</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Spring 2000</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database can be a library and a file, not a server.</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Rows are tuples, and every row has a rowid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 Python a table is a list of tuples; SQLite numbers each row itself</a:t>
            </a:r>
            <a:endParaRPr lang="en-US" sz="1300" dirty="0"/>
          </a:p>
        </p:txBody>
      </p:sp>
      <p:sp>
        <p:nvSpPr>
          <p:cNvPr id="6" name="Shape 4"/>
          <p:cNvSpPr/>
          <p:nvPr/>
        </p:nvSpPr>
        <p:spPr>
          <a:xfrm>
            <a:off x="457200" y="1371600"/>
            <a:ext cx="8229600" cy="2478024"/>
          </a:xfrm>
          <a:prstGeom prst="roundRect">
            <a:avLst>
              <a:gd name="adj" fmla="val 3690"/>
            </a:avLst>
          </a:prstGeom>
          <a:solidFill>
            <a:srgbClr val="23272E"/>
          </a:solidFill>
          <a:ln w="12700">
            <a:solidFill>
              <a:srgbClr val="23272E"/>
            </a:solidFill>
            <a:prstDash val="solid"/>
          </a:ln>
        </p:spPr>
      </p:sp>
      <p:sp>
        <p:nvSpPr>
          <p:cNvPr id="7" name="Text 5"/>
          <p:cNvSpPr txBox="1"/>
          <p:nvPr/>
        </p:nvSpPr>
        <p:spPr>
          <a:xfrm>
            <a:off x="640080" y="1490472"/>
            <a:ext cx="7863840" cy="224028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import sqlite3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conn = sqlite3.connect(':memory:', isolation_level=None)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do = lambda sql: conn.execute(sql).close()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run = lambda sql: conn.execute(sql).fetchall()</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do('CREATE TABLE cats (name TEXT NOT NULL, birthdate TEXT, fur TEXT, weight_kg REAL) STRICT')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do("INSERT INTO cats VALUES ('Zophie', '2021-01-24', 'black', 5.6)")</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do("INSERT INTO cats VALUES ('Miguel', '2016-12-24', 'siamese', 6.2)")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run('SELECT * FROM cats')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[('Zophie', '2021-01-24', 'black', 5.6), ('Miguel', '2016-12-24', 'siamese', 6.2)]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run('SELECT rowid, * FROM cats')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'Zophie', '2021-01-24', 'black', 5.6), (2, 'Miguel', '2016-12-24', 'siamese', 6.2)]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run('SELECT rowid, oid, _rowid_ FROM cats LIMIT 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1, 1)]</a:t>
            </a:r>
            <a:endParaRPr lang="en-US" sz="950" dirty="0"/>
          </a:p>
        </p:txBody>
      </p:sp>
      <p:sp>
        <p:nvSpPr>
          <p:cNvPr id="8" name="Text 6"/>
          <p:cNvSpPr txBox="1"/>
          <p:nvPr/>
        </p:nvSpPr>
        <p:spPr>
          <a:xfrm>
            <a:off x="457200" y="386791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SQLite 3.53.1</a:t>
            </a:r>
            <a:endParaRPr lang="en-US" sz="900" dirty="0"/>
          </a:p>
        </p:txBody>
      </p:sp>
      <p:sp>
        <p:nvSpPr>
          <p:cNvPr id="9" name="Text 7"/>
          <p:cNvSpPr txBox="1"/>
          <p:nvPr/>
        </p:nvSpPr>
        <p:spPr>
          <a:xfrm>
            <a:off x="457200" y="4133088"/>
            <a:ext cx="8229600" cy="411480"/>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fetchall() returns a list with one tuple per row and one item per column, in the order of CREATE TABLE. SELECT * leaves the rowid out; naming it, or oid, or _rowid_, brings back the same number, here 1 for the first row.</a:t>
            </a:r>
            <a:endParaRPr lang="en-US" sz="11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table is a list of tuples, plus a hidden number for each row.</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connect() to rows, and a closed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steps of the chapter in order, and what a connection to memory shows</a:t>
            </a:r>
            <a:endParaRPr lang="en-US" sz="1300" dirty="0"/>
          </a:p>
        </p:txBody>
      </p:sp>
      <p:sp>
        <p:nvSpPr>
          <p:cNvPr id="6" name="Shape 4"/>
          <p:cNvSpPr/>
          <p:nvPr/>
        </p:nvSpPr>
        <p:spPr>
          <a:xfrm>
            <a:off x="457200" y="1382573"/>
            <a:ext cx="2560320" cy="365760"/>
          </a:xfrm>
          <a:prstGeom prst="roundRect">
            <a:avLst>
              <a:gd name="adj" fmla="val 20000"/>
            </a:avLst>
          </a:prstGeom>
          <a:solidFill>
            <a:srgbClr val="F2ECE1"/>
          </a:solidFill>
          <a:ln w="15875">
            <a:solidFill>
              <a:srgbClr val="2F6D62"/>
            </a:solidFill>
            <a:prstDash val="solid"/>
          </a:ln>
        </p:spPr>
      </p:sp>
      <p:sp>
        <p:nvSpPr>
          <p:cNvPr id="7" name="Text 5"/>
          <p:cNvSpPr txBox="1"/>
          <p:nvPr/>
        </p:nvSpPr>
        <p:spPr>
          <a:xfrm>
            <a:off x="521208" y="1495044"/>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Connect to a database file with connect()</a:t>
            </a:r>
            <a:endParaRPr lang="en-US" sz="800" dirty="0"/>
          </a:p>
        </p:txBody>
      </p:sp>
      <p:sp>
        <p:nvSpPr>
          <p:cNvPr id="8" name="Shape 6"/>
          <p:cNvSpPr/>
          <p:nvPr/>
        </p:nvSpPr>
        <p:spPr>
          <a:xfrm>
            <a:off x="457200" y="1863547"/>
            <a:ext cx="2560320" cy="365760"/>
          </a:xfrm>
          <a:prstGeom prst="roundRect">
            <a:avLst>
              <a:gd name="adj" fmla="val 20000"/>
            </a:avLst>
          </a:prstGeom>
          <a:solidFill>
            <a:srgbClr val="F2ECE1"/>
          </a:solidFill>
          <a:ln w="15875">
            <a:solidFill>
              <a:srgbClr val="2F6D62"/>
            </a:solidFill>
            <a:prstDash val="solid"/>
          </a:ln>
        </p:spPr>
      </p:sp>
      <p:sp>
        <p:nvSpPr>
          <p:cNvPr id="9" name="Text 7"/>
          <p:cNvSpPr txBox="1"/>
          <p:nvPr/>
        </p:nvSpPr>
        <p:spPr>
          <a:xfrm>
            <a:off x="521208" y="1975104"/>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Create the table if it does not exist</a:t>
            </a:r>
            <a:endParaRPr lang="en-US" sz="800" dirty="0"/>
          </a:p>
        </p:txBody>
      </p:sp>
      <p:sp>
        <p:nvSpPr>
          <p:cNvPr id="10" name="Shape 8"/>
          <p:cNvSpPr/>
          <p:nvPr/>
        </p:nvSpPr>
        <p:spPr>
          <a:xfrm>
            <a:off x="457200" y="2342693"/>
            <a:ext cx="2560320" cy="365760"/>
          </a:xfrm>
          <a:prstGeom prst="roundRect">
            <a:avLst>
              <a:gd name="adj" fmla="val 20000"/>
            </a:avLst>
          </a:prstGeom>
          <a:solidFill>
            <a:srgbClr val="F2ECE1"/>
          </a:solidFill>
          <a:ln w="15875">
            <a:solidFill>
              <a:srgbClr val="2F6D62"/>
            </a:solidFill>
            <a:prstDash val="solid"/>
          </a:ln>
        </p:spPr>
      </p:sp>
      <p:sp>
        <p:nvSpPr>
          <p:cNvPr id="11" name="Text 9"/>
          <p:cNvSpPr txBox="1"/>
          <p:nvPr/>
        </p:nvSpPr>
        <p:spPr>
          <a:xfrm>
            <a:off x="521208" y="2455164"/>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Insert the rows with execute()</a:t>
            </a:r>
            <a:endParaRPr lang="en-US" sz="800" dirty="0"/>
          </a:p>
        </p:txBody>
      </p:sp>
      <p:sp>
        <p:nvSpPr>
          <p:cNvPr id="12" name="Shape 10"/>
          <p:cNvSpPr/>
          <p:nvPr/>
        </p:nvSpPr>
        <p:spPr>
          <a:xfrm>
            <a:off x="457200" y="2777947"/>
            <a:ext cx="2560320" cy="457200"/>
          </a:xfrm>
          <a:prstGeom prst="hexagon">
            <a:avLst/>
          </a:prstGeom>
          <a:solidFill>
            <a:srgbClr val="D97A14"/>
          </a:solidFill>
          <a:ln w="15875">
            <a:solidFill>
              <a:srgbClr val="D97A14"/>
            </a:solidFill>
            <a:prstDash val="solid"/>
          </a:ln>
        </p:spPr>
      </p:sp>
      <p:sp>
        <p:nvSpPr>
          <p:cNvPr id="13" name="Text 11"/>
          <p:cNvSpPr txBox="1"/>
          <p:nvPr/>
        </p:nvSpPr>
        <p:spPr>
          <a:xfrm>
            <a:off x="612648" y="2935224"/>
            <a:ext cx="22494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Did the statement change the data?</a:t>
            </a:r>
            <a:endParaRPr lang="en-US" sz="800" dirty="0"/>
          </a:p>
        </p:txBody>
      </p:sp>
      <p:sp>
        <p:nvSpPr>
          <p:cNvPr id="14" name="Shape 12"/>
          <p:cNvSpPr/>
          <p:nvPr/>
        </p:nvSpPr>
        <p:spPr>
          <a:xfrm>
            <a:off x="457200" y="3302813"/>
            <a:ext cx="2560320" cy="365760"/>
          </a:xfrm>
          <a:prstGeom prst="roundRect">
            <a:avLst>
              <a:gd name="adj" fmla="val 20000"/>
            </a:avLst>
          </a:prstGeom>
          <a:solidFill>
            <a:srgbClr val="F2ECE1"/>
          </a:solidFill>
          <a:ln w="15875">
            <a:solidFill>
              <a:srgbClr val="2F6D62"/>
            </a:solidFill>
            <a:prstDash val="solid"/>
          </a:ln>
        </p:spPr>
      </p:sp>
      <p:sp>
        <p:nvSpPr>
          <p:cNvPr id="15" name="Text 13"/>
          <p:cNvSpPr txBox="1"/>
          <p:nvPr/>
        </p:nvSpPr>
        <p:spPr>
          <a:xfrm>
            <a:off x="521208" y="3415284"/>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rows with fetchall()</a:t>
            </a:r>
            <a:endParaRPr lang="en-US" sz="800" dirty="0"/>
          </a:p>
        </p:txBody>
      </p:sp>
      <p:sp>
        <p:nvSpPr>
          <p:cNvPr id="16" name="Shape 14"/>
          <p:cNvSpPr/>
          <p:nvPr/>
        </p:nvSpPr>
        <p:spPr>
          <a:xfrm>
            <a:off x="457200" y="3783787"/>
            <a:ext cx="2560320" cy="365760"/>
          </a:xfrm>
          <a:prstGeom prst="roundRect">
            <a:avLst>
              <a:gd name="adj" fmla="val 20000"/>
            </a:avLst>
          </a:prstGeom>
          <a:solidFill>
            <a:srgbClr val="F2ECE1"/>
          </a:solidFill>
          <a:ln w="15875">
            <a:solidFill>
              <a:srgbClr val="2F6D62"/>
            </a:solidFill>
            <a:prstDash val="solid"/>
          </a:ln>
        </p:spPr>
      </p:sp>
      <p:sp>
        <p:nvSpPr>
          <p:cNvPr id="17" name="Text 15"/>
          <p:cNvSpPr txBox="1"/>
          <p:nvPr/>
        </p:nvSpPr>
        <p:spPr>
          <a:xfrm>
            <a:off x="521208" y="3895344"/>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Close the connection</a:t>
            </a:r>
            <a:endParaRPr lang="en-US" sz="800" dirty="0"/>
          </a:p>
        </p:txBody>
      </p:sp>
      <p:sp>
        <p:nvSpPr>
          <p:cNvPr id="18" name="Shape 16"/>
          <p:cNvSpPr/>
          <p:nvPr/>
        </p:nvSpPr>
        <p:spPr>
          <a:xfrm>
            <a:off x="3429000" y="2823667"/>
            <a:ext cx="1234440" cy="365760"/>
          </a:xfrm>
          <a:prstGeom prst="roundRect">
            <a:avLst>
              <a:gd name="adj" fmla="val 20000"/>
            </a:avLst>
          </a:prstGeom>
          <a:solidFill>
            <a:srgbClr val="F2ECE1"/>
          </a:solidFill>
          <a:ln w="15875">
            <a:solidFill>
              <a:srgbClr val="2F6D62"/>
            </a:solidFill>
            <a:prstDash val="solid"/>
          </a:ln>
        </p:spPr>
      </p:sp>
      <p:sp>
        <p:nvSpPr>
          <p:cNvPr id="19" name="Text 17"/>
          <p:cNvSpPr txBox="1"/>
          <p:nvPr/>
        </p:nvSpPr>
        <p:spPr>
          <a:xfrm>
            <a:off x="3493008" y="2935224"/>
            <a:ext cx="110642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Commit the changes</a:t>
            </a:r>
            <a:endParaRPr lang="en-US" sz="800" dirty="0"/>
          </a:p>
        </p:txBody>
      </p:sp>
      <p:sp>
        <p:nvSpPr>
          <p:cNvPr id="20" name="Shape 18"/>
          <p:cNvSpPr/>
          <p:nvPr/>
        </p:nvSpPr>
        <p:spPr>
          <a:xfrm>
            <a:off x="3954780" y="1474927"/>
            <a:ext cx="182880" cy="182880"/>
          </a:xfrm>
          <a:prstGeom prst="ellipse">
            <a:avLst/>
          </a:prstGeom>
          <a:solidFill>
            <a:srgbClr val="2B2622"/>
          </a:solidFill>
          <a:ln w="15875">
            <a:solidFill>
              <a:srgbClr val="2B2622"/>
            </a:solidFill>
            <a:prstDash val="solid"/>
          </a:ln>
        </p:spPr>
      </p:sp>
      <p:sp>
        <p:nvSpPr>
          <p:cNvPr id="21" name="Shape 19"/>
          <p:cNvSpPr/>
          <p:nvPr/>
        </p:nvSpPr>
        <p:spPr>
          <a:xfrm>
            <a:off x="3918204" y="3837737"/>
            <a:ext cx="256032" cy="256032"/>
          </a:xfrm>
          <a:prstGeom prst="ellipse">
            <a:avLst/>
          </a:prstGeom>
          <a:solidFill>
            <a:srgbClr val="FFFFFF"/>
          </a:solidFill>
          <a:ln w="25400">
            <a:solidFill>
              <a:srgbClr val="2B2622"/>
            </a:solidFill>
            <a:prstDash val="solid"/>
          </a:ln>
        </p:spPr>
      </p:sp>
      <p:sp>
        <p:nvSpPr>
          <p:cNvPr id="22" name="Shape 20"/>
          <p:cNvSpPr/>
          <p:nvPr/>
        </p:nvSpPr>
        <p:spPr>
          <a:xfrm>
            <a:off x="3973068" y="3892601"/>
            <a:ext cx="146304" cy="146304"/>
          </a:xfrm>
          <a:prstGeom prst="ellipse">
            <a:avLst/>
          </a:prstGeom>
          <a:solidFill>
            <a:srgbClr val="2B2622"/>
          </a:solidFill>
          <a:ln w="15875">
            <a:solidFill>
              <a:srgbClr val="2B2622"/>
            </a:solidFill>
            <a:prstDash val="solid"/>
          </a:ln>
        </p:spPr>
      </p:sp>
      <p:sp>
        <p:nvSpPr>
          <p:cNvPr id="23" name="Shape 21"/>
          <p:cNvSpPr/>
          <p:nvPr/>
        </p:nvSpPr>
        <p:spPr>
          <a:xfrm flipH="1" flipV="1">
            <a:off x="3017520" y="1565453"/>
            <a:ext cx="937260" cy="914"/>
          </a:xfrm>
          <a:prstGeom prst="line">
            <a:avLst/>
          </a:prstGeom>
          <a:noFill/>
          <a:ln w="15875">
            <a:solidFill>
              <a:srgbClr val="6E655C"/>
            </a:solidFill>
            <a:prstDash val="solid"/>
            <a:tailEnd type="triangle"/>
          </a:ln>
        </p:spPr>
      </p:sp>
      <p:sp>
        <p:nvSpPr>
          <p:cNvPr id="24" name="Shape 22"/>
          <p:cNvSpPr/>
          <p:nvPr/>
        </p:nvSpPr>
        <p:spPr>
          <a:xfrm>
            <a:off x="1737360" y="1749247"/>
            <a:ext cx="0" cy="114300"/>
          </a:xfrm>
          <a:prstGeom prst="line">
            <a:avLst/>
          </a:prstGeom>
          <a:noFill/>
          <a:ln w="15875">
            <a:solidFill>
              <a:srgbClr val="6E655C"/>
            </a:solidFill>
            <a:prstDash val="solid"/>
            <a:tailEnd type="triangle"/>
          </a:ln>
        </p:spPr>
      </p:sp>
      <p:sp>
        <p:nvSpPr>
          <p:cNvPr id="25" name="Shape 23"/>
          <p:cNvSpPr/>
          <p:nvPr/>
        </p:nvSpPr>
        <p:spPr>
          <a:xfrm>
            <a:off x="1737360" y="2229307"/>
            <a:ext cx="0" cy="113386"/>
          </a:xfrm>
          <a:prstGeom prst="line">
            <a:avLst/>
          </a:prstGeom>
          <a:noFill/>
          <a:ln w="15875">
            <a:solidFill>
              <a:srgbClr val="6E655C"/>
            </a:solidFill>
            <a:prstDash val="solid"/>
            <a:tailEnd type="triangle"/>
          </a:ln>
        </p:spPr>
      </p:sp>
      <p:sp>
        <p:nvSpPr>
          <p:cNvPr id="26" name="Shape 24"/>
          <p:cNvSpPr/>
          <p:nvPr/>
        </p:nvSpPr>
        <p:spPr>
          <a:xfrm>
            <a:off x="1737360" y="2708453"/>
            <a:ext cx="0" cy="69494"/>
          </a:xfrm>
          <a:prstGeom prst="line">
            <a:avLst/>
          </a:prstGeom>
          <a:noFill/>
          <a:ln w="15875">
            <a:solidFill>
              <a:srgbClr val="6E655C"/>
            </a:solidFill>
            <a:prstDash val="solid"/>
            <a:tailEnd type="triangle"/>
          </a:ln>
        </p:spPr>
      </p:sp>
      <p:sp>
        <p:nvSpPr>
          <p:cNvPr id="27" name="Shape 25"/>
          <p:cNvSpPr/>
          <p:nvPr/>
        </p:nvSpPr>
        <p:spPr>
          <a:xfrm>
            <a:off x="3017520" y="3006547"/>
            <a:ext cx="411480" cy="0"/>
          </a:xfrm>
          <a:prstGeom prst="line">
            <a:avLst/>
          </a:prstGeom>
          <a:noFill/>
          <a:ln w="15875">
            <a:solidFill>
              <a:srgbClr val="6E655C"/>
            </a:solidFill>
            <a:prstDash val="solid"/>
            <a:tailEnd type="triangle"/>
          </a:ln>
        </p:spPr>
      </p:sp>
      <p:sp>
        <p:nvSpPr>
          <p:cNvPr id="28" name="Text 26"/>
          <p:cNvSpPr txBox="1"/>
          <p:nvPr/>
        </p:nvSpPr>
        <p:spPr>
          <a:xfrm>
            <a:off x="3063240" y="2823667"/>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9" name="Shape 27"/>
          <p:cNvSpPr/>
          <p:nvPr/>
        </p:nvSpPr>
        <p:spPr>
          <a:xfrm>
            <a:off x="1737360" y="3235147"/>
            <a:ext cx="0" cy="67666"/>
          </a:xfrm>
          <a:prstGeom prst="line">
            <a:avLst/>
          </a:prstGeom>
          <a:noFill/>
          <a:ln w="15875">
            <a:solidFill>
              <a:srgbClr val="6E655C"/>
            </a:solidFill>
            <a:prstDash val="solid"/>
            <a:tailEnd type="triangle"/>
          </a:ln>
        </p:spPr>
      </p:sp>
      <p:sp>
        <p:nvSpPr>
          <p:cNvPr id="30" name="Text 28"/>
          <p:cNvSpPr txBox="1"/>
          <p:nvPr/>
        </p:nvSpPr>
        <p:spPr>
          <a:xfrm>
            <a:off x="1792224" y="318668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1" name="Shape 29"/>
          <p:cNvSpPr/>
          <p:nvPr/>
        </p:nvSpPr>
        <p:spPr>
          <a:xfrm>
            <a:off x="4046220" y="3189427"/>
            <a:ext cx="0" cy="296266"/>
          </a:xfrm>
          <a:prstGeom prst="line">
            <a:avLst/>
          </a:prstGeom>
          <a:noFill/>
          <a:ln w="15875">
            <a:solidFill>
              <a:srgbClr val="6E655C"/>
            </a:solidFill>
            <a:prstDash val="solid"/>
          </a:ln>
        </p:spPr>
      </p:sp>
      <p:sp>
        <p:nvSpPr>
          <p:cNvPr id="32" name="Shape 30"/>
          <p:cNvSpPr/>
          <p:nvPr/>
        </p:nvSpPr>
        <p:spPr>
          <a:xfrm flipH="1">
            <a:off x="3017520" y="3485693"/>
            <a:ext cx="1028700" cy="0"/>
          </a:xfrm>
          <a:prstGeom prst="line">
            <a:avLst/>
          </a:prstGeom>
          <a:noFill/>
          <a:ln w="15875">
            <a:solidFill>
              <a:srgbClr val="6E655C"/>
            </a:solidFill>
            <a:prstDash val="solid"/>
            <a:tailEnd type="triangle"/>
          </a:ln>
        </p:spPr>
      </p:sp>
      <p:sp>
        <p:nvSpPr>
          <p:cNvPr id="33" name="Shape 31"/>
          <p:cNvSpPr/>
          <p:nvPr/>
        </p:nvSpPr>
        <p:spPr>
          <a:xfrm>
            <a:off x="1737360" y="3669487"/>
            <a:ext cx="0" cy="114300"/>
          </a:xfrm>
          <a:prstGeom prst="line">
            <a:avLst/>
          </a:prstGeom>
          <a:noFill/>
          <a:ln w="15875">
            <a:solidFill>
              <a:srgbClr val="6E655C"/>
            </a:solidFill>
            <a:prstDash val="solid"/>
            <a:tailEnd type="triangle"/>
          </a:ln>
        </p:spPr>
      </p:sp>
      <p:sp>
        <p:nvSpPr>
          <p:cNvPr id="34" name="Shape 32"/>
          <p:cNvSpPr/>
          <p:nvPr/>
        </p:nvSpPr>
        <p:spPr>
          <a:xfrm>
            <a:off x="3017520" y="3966667"/>
            <a:ext cx="900684" cy="0"/>
          </a:xfrm>
          <a:prstGeom prst="line">
            <a:avLst/>
          </a:prstGeom>
          <a:noFill/>
          <a:ln w="15875">
            <a:solidFill>
              <a:srgbClr val="6E655C"/>
            </a:solidFill>
            <a:prstDash val="solid"/>
            <a:tailEnd type="triangle"/>
          </a:ln>
        </p:spPr>
      </p:sp>
      <p:sp>
        <p:nvSpPr>
          <p:cNvPr id="35" name="Text 33"/>
          <p:cNvSpPr txBox="1"/>
          <p:nvPr/>
        </p:nvSpPr>
        <p:spPr>
          <a:xfrm>
            <a:off x="457200" y="4233672"/>
            <a:ext cx="42062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FromConnectToRows - Workflow pattern, 23 of 23 words grounded in the chapter's text</a:t>
            </a:r>
            <a:endParaRPr lang="en-US" sz="850" dirty="0"/>
          </a:p>
        </p:txBody>
      </p:sp>
      <p:sp>
        <p:nvSpPr>
          <p:cNvPr id="36" name="Shape 34"/>
          <p:cNvSpPr/>
          <p:nvPr/>
        </p:nvSpPr>
        <p:spPr>
          <a:xfrm>
            <a:off x="4846320" y="1371600"/>
            <a:ext cx="3840480" cy="1600200"/>
          </a:xfrm>
          <a:prstGeom prst="roundRect">
            <a:avLst>
              <a:gd name="adj" fmla="val 5714"/>
            </a:avLst>
          </a:prstGeom>
          <a:solidFill>
            <a:srgbClr val="23272E"/>
          </a:solidFill>
          <a:ln w="12700">
            <a:solidFill>
              <a:srgbClr val="23272E"/>
            </a:solidFill>
            <a:prstDash val="solid"/>
          </a:ln>
        </p:spPr>
      </p:sp>
      <p:sp>
        <p:nvSpPr>
          <p:cNvPr id="37" name="Text 35"/>
          <p:cNvSpPr txBox="1"/>
          <p:nvPr/>
        </p:nvSpPr>
        <p:spPr>
          <a:xfrm>
            <a:off x="5029200" y="1490472"/>
            <a:ext cx="3474720" cy="13624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sqlite3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conn = sqlite3.connect(':memory:')</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conn.in_transaction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conn.execute('SELECT sqlite_version()').fetchone()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('3.53.1',)</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conn.close()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conn.execute('SELECT 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ProgrammingError: Cannot operate on a closed database.</a:t>
            </a:r>
            <a:endParaRPr lang="en-US" sz="800" dirty="0"/>
          </a:p>
        </p:txBody>
      </p:sp>
      <p:sp>
        <p:nvSpPr>
          <p:cNvPr id="38" name="Text 36"/>
          <p:cNvSpPr txBox="1"/>
          <p:nvPr/>
        </p:nvSpPr>
        <p:spPr>
          <a:xfrm>
            <a:off x="4846320" y="2990088"/>
            <a:ext cx="38404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SQLite 3.53.1</a:t>
            </a:r>
            <a:endParaRPr lang="en-US" sz="900" dirty="0"/>
          </a:p>
        </p:txBody>
      </p:sp>
      <p:sp>
        <p:nvSpPr>
          <p:cNvPr id="39" name="Shape 37"/>
          <p:cNvSpPr/>
          <p:nvPr/>
        </p:nvSpPr>
        <p:spPr>
          <a:xfrm>
            <a:off x="4846320" y="3319272"/>
            <a:ext cx="3840480" cy="1207008"/>
          </a:xfrm>
          <a:prstGeom prst="roundRect">
            <a:avLst>
              <a:gd name="adj" fmla="val 7576"/>
            </a:avLst>
          </a:prstGeom>
          <a:solidFill>
            <a:srgbClr val="F2ECE1"/>
          </a:solidFill>
          <a:ln w="12700">
            <a:solidFill>
              <a:srgbClr val="F2ECE1"/>
            </a:solidFill>
            <a:prstDash val="solid"/>
          </a:ln>
        </p:spPr>
      </p:sp>
      <p:sp>
        <p:nvSpPr>
          <p:cNvPr id="40" name="Text 38"/>
          <p:cNvSpPr txBox="1"/>
          <p:nvPr/>
        </p:nvSpPr>
        <p:spPr>
          <a:xfrm>
            <a:off x="5029200" y="3438144"/>
            <a:ext cx="34747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In memory is not the speed-up</a:t>
            </a:r>
            <a:endParaRPr lang="en-US" sz="1600" dirty="0"/>
          </a:p>
        </p:txBody>
      </p:sp>
      <p:sp>
        <p:nvSpPr>
          <p:cNvPr id="41" name="Text 39"/>
          <p:cNvSpPr txBox="1"/>
          <p:nvPr/>
        </p:nvSpPr>
        <p:spPr>
          <a:xfrm>
            <a:off x="5029200" y="3822192"/>
            <a:ext cx="3474720" cy="566928"/>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2,000 single inserts, one run: 0.002 s in memory, 2.236 s in a file, because each is a durable commit; in one transaction the file took 0.0025 s. Measured as a single run on 12 Oct 2026.</a:t>
            </a:r>
            <a:endParaRPr lang="en-US" sz="900" dirty="0"/>
          </a:p>
        </p:txBody>
      </p:sp>
      <p:sp>
        <p:nvSpPr>
          <p:cNvPr id="42" name="Shape 40"/>
          <p:cNvSpPr/>
          <p:nvPr/>
        </p:nvSpPr>
        <p:spPr>
          <a:xfrm>
            <a:off x="457200" y="4636008"/>
            <a:ext cx="91440" cy="310896"/>
          </a:xfrm>
          <a:prstGeom prst="rect">
            <a:avLst/>
          </a:prstGeom>
          <a:solidFill>
            <a:srgbClr val="D97A14"/>
          </a:solidFill>
          <a:ln w="12700">
            <a:solidFill>
              <a:srgbClr val="D97A14"/>
            </a:solidFill>
            <a:prstDash val="solid"/>
          </a:ln>
        </p:spPr>
      </p:sp>
      <p:sp>
        <p:nvSpPr>
          <p:cNvPr id="43" name="Text 4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connection is the file; the commit, not the memory, sets the speed.</a:t>
            </a:r>
            <a:endParaRPr lang="en-US" sz="1350" dirty="0"/>
          </a:p>
        </p:txBody>
      </p:sp>
      <p:sp>
        <p:nvSpPr>
          <p:cNvPr id="44" name="Text 4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STRICT, affinity and the six that are five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STRICT table refuses a wrong type; an ordinary table only has a preference</a:t>
            </a:r>
            <a:endParaRPr lang="en-US" sz="1300" dirty="0"/>
          </a:p>
        </p:txBody>
      </p:sp>
      <p:sp>
        <p:nvSpPr>
          <p:cNvPr id="6" name="Text 4"/>
          <p:cNvSpPr txBox="1"/>
          <p:nvPr/>
        </p:nvSpPr>
        <p:spPr>
          <a:xfrm>
            <a:off x="457200" y="1143000"/>
            <a:ext cx="50932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strictTypes_v1_0_0.py, lines 4 to 18 of 18</a:t>
            </a:r>
            <a:endParaRPr lang="en-US" sz="1000" dirty="0"/>
          </a:p>
        </p:txBody>
      </p:sp>
      <p:sp>
        <p:nvSpPr>
          <p:cNvPr id="7" name="Shape 5"/>
          <p:cNvSpPr/>
          <p:nvPr/>
        </p:nvSpPr>
        <p:spPr>
          <a:xfrm>
            <a:off x="457200" y="1417320"/>
            <a:ext cx="5093208"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4727448"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conn = sqlite3.connect(</a:t>
            </a:r>
            <a:r>
              <a:rPr lang="en-US" sz="700" dirty="0">
                <a:solidFill>
                  <a:srgbClr val="9ECBFF"/>
                </a:solidFill>
                <a:latin typeface="Courier New" pitchFamily="34" charset="0"/>
                <a:ea typeface="Courier New" pitchFamily="34" charset="-122"/>
                <a:cs typeface="Courier New" pitchFamily="34" charset="-120"/>
              </a:rPr>
              <a:t>':memory:'</a:t>
            </a:r>
            <a:r>
              <a:rPr lang="en-US" sz="700" dirty="0">
                <a:solidFill>
                  <a:srgbClr val="E6EDF3"/>
                </a:solidFill>
                <a:latin typeface="Courier New" pitchFamily="34" charset="0"/>
                <a:ea typeface="Courier New" pitchFamily="34" charset="-122"/>
                <a:cs typeface="Courier New" pitchFamily="34" charset="-120"/>
              </a:rPr>
              <a:t>, isolation_level=</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conn.execute(</a:t>
            </a:r>
            <a:r>
              <a:rPr lang="en-US" sz="700" dirty="0">
                <a:solidFill>
                  <a:srgbClr val="9ECBFF"/>
                </a:solidFill>
                <a:latin typeface="Courier New" pitchFamily="34" charset="0"/>
                <a:ea typeface="Courier New" pitchFamily="34" charset="-122"/>
                <a:cs typeface="Courier New" pitchFamily="34" charset="-120"/>
              </a:rPr>
              <a:t>'CREATE TABLE s (i INTEGER) STRICT'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conn.execute(</a:t>
            </a:r>
            <a:r>
              <a:rPr lang="en-US" sz="700" dirty="0">
                <a:solidFill>
                  <a:srgbClr val="9ECBFF"/>
                </a:solidFill>
                <a:latin typeface="Courier New" pitchFamily="34" charset="0"/>
                <a:ea typeface="Courier New" pitchFamily="34" charset="-122"/>
                <a:cs typeface="Courier New" pitchFamily="34" charset="-120"/>
              </a:rPr>
              <a:t>'CREATE TABLE plain (i INTEGER)'</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value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table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'plain'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conn.execute(</a:t>
            </a:r>
            <a:r>
              <a:rPr lang="en-US" sz="700" dirty="0">
                <a:solidFill>
                  <a:srgbClr val="9ECBFF"/>
                </a:solidFill>
                <a:latin typeface="Courier New" pitchFamily="34" charset="0"/>
                <a:ea typeface="Courier New" pitchFamily="34" charset="-122"/>
                <a:cs typeface="Courier New" pitchFamily="34" charset="-120"/>
              </a:rPr>
              <a:t>'INSERT INTO %s VALUES (?)'</a:t>
            </a:r>
            <a:r>
              <a:rPr lang="en-US" sz="700" dirty="0">
                <a:solidFill>
                  <a:srgbClr val="E6EDF3"/>
                </a:solidFill>
                <a:latin typeface="Courier New" pitchFamily="34" charset="0"/>
                <a:ea typeface="Courier New" pitchFamily="34" charset="-122"/>
                <a:cs typeface="Courier New" pitchFamily="34" charset="-120"/>
              </a:rPr>
              <a:t> % table, (value,))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sqlite3.IntegrityError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print(table, repr(value), </a:t>
            </a:r>
            <a:r>
              <a:rPr lang="en-US" sz="700" dirty="0">
                <a:solidFill>
                  <a:srgbClr val="9ECBFF"/>
                </a:solidFill>
                <a:latin typeface="Courier New" pitchFamily="34" charset="0"/>
                <a:ea typeface="Courier New" pitchFamily="34" charset="-122"/>
                <a:cs typeface="Courier New" pitchFamily="34" charset="-120"/>
              </a:rPr>
              <a:t>'refused:'</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print(conn.execute(</a:t>
            </a:r>
            <a:r>
              <a:rPr lang="en-US" sz="700" dirty="0">
                <a:solidFill>
                  <a:srgbClr val="9ECBFF"/>
                </a:solidFill>
                <a:latin typeface="Courier New" pitchFamily="34" charset="0"/>
                <a:ea typeface="Courier New" pitchFamily="34" charset="-122"/>
                <a:cs typeface="Courier New" pitchFamily="34" charset="-120"/>
              </a:rPr>
              <a:t>'SELECT i, typeof(i) FROM s'</a:t>
            </a:r>
            <a:r>
              <a:rPr lang="en-US" sz="700" dirty="0">
                <a:solidFill>
                  <a:srgbClr val="E6EDF3"/>
                </a:solidFill>
                <a:latin typeface="Courier New" pitchFamily="34" charset="0"/>
                <a:ea typeface="Courier New" pitchFamily="34" charset="-122"/>
                <a:cs typeface="Courier New" pitchFamily="34" charset="-120"/>
              </a:rPr>
              <a:t>).fetchall())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print(conn.execute(</a:t>
            </a:r>
            <a:r>
              <a:rPr lang="en-US" sz="700" dirty="0">
                <a:solidFill>
                  <a:srgbClr val="9ECBFF"/>
                </a:solidFill>
                <a:latin typeface="Courier New" pitchFamily="34" charset="0"/>
                <a:ea typeface="Courier New" pitchFamily="34" charset="-122"/>
                <a:cs typeface="Courier New" pitchFamily="34" charset="-120"/>
              </a:rPr>
              <a:t>'SELECT i, typeof(i) FROM plain'</a:t>
            </a:r>
            <a:r>
              <a:rPr lang="en-US" sz="700" dirty="0">
                <a:solidFill>
                  <a:srgbClr val="E6EDF3"/>
                </a:solidFill>
                <a:latin typeface="Courier New" pitchFamily="34" charset="0"/>
                <a:ea typeface="Courier New" pitchFamily="34" charset="-122"/>
                <a:cs typeface="Courier New" pitchFamily="34" charset="-120"/>
              </a:rPr>
              <a:t>).fetchall())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conn.execute(</a:t>
            </a:r>
            <a:r>
              <a:rPr lang="en-US" sz="700" dirty="0">
                <a:solidFill>
                  <a:srgbClr val="9ECBFF"/>
                </a:solidFill>
                <a:latin typeface="Courier New" pitchFamily="34" charset="0"/>
                <a:ea typeface="Courier New" pitchFamily="34" charset="-122"/>
                <a:cs typeface="Courier New" pitchFamily="34" charset="-120"/>
              </a:rPr>
              <a:t>'CREATE TABLE bad (a BOOLEAN) STRICT'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sqlite3.Error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print(type(e).__name__, 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 'Hello' refused: cannot store TEXT value in INTEGER column s.i</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 3.5 refused: cannot store REAL value in INTEGER column s.i</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[(42, 'integer'), (42, 'integer'), (None, 'null')]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 'text'), (3.5, 'real'), (42, 'integer'), (42, 'integer'), (None, 'null')]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OperationalError unknown datatype for bad.a: "BOOLEAN"</a:t>
            </a:r>
            <a:endParaRPr lang="en-US" sz="700" dirty="0"/>
          </a:p>
        </p:txBody>
      </p:sp>
      <p:sp>
        <p:nvSpPr>
          <p:cNvPr id="9" name="Shape 7"/>
          <p:cNvSpPr/>
          <p:nvPr/>
        </p:nvSpPr>
        <p:spPr>
          <a:xfrm>
            <a:off x="5687568" y="1371600"/>
            <a:ext cx="2999232" cy="1783080"/>
          </a:xfrm>
          <a:prstGeom prst="roundRect">
            <a:avLst>
              <a:gd name="adj" fmla="val 5128"/>
            </a:avLst>
          </a:prstGeom>
          <a:solidFill>
            <a:srgbClr val="F2ECE1"/>
          </a:solidFill>
          <a:ln w="12700">
            <a:solidFill>
              <a:srgbClr val="F2ECE1"/>
            </a:solidFill>
            <a:prstDash val="solid"/>
          </a:ln>
        </p:spPr>
      </p:sp>
      <p:sp>
        <p:nvSpPr>
          <p:cNvPr id="10" name="Text 8"/>
          <p:cNvSpPr txBox="1"/>
          <p:nvPr/>
        </p:nvSpPr>
        <p:spPr>
          <a:xfrm>
            <a:off x="5870448" y="1490472"/>
            <a:ext cx="263347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Six types? Count again</a:t>
            </a:r>
            <a:endParaRPr lang="en-US" sz="1600" dirty="0"/>
          </a:p>
        </p:txBody>
      </p:sp>
      <p:sp>
        <p:nvSpPr>
          <p:cNvPr id="11" name="Text 9"/>
          <p:cNvSpPr txBox="1"/>
          <p:nvPr/>
        </p:nvSpPr>
        <p:spPr>
          <a:xfrm>
            <a:off x="5870448" y="1874520"/>
            <a:ext cx="2633472" cy="11430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chapter says SQLite has six and lists five. STRICT accepts six type words (INT, INTEGER, REAL, TEXT, BLOB, ANY); the storage classes are five.</a:t>
            </a:r>
            <a:endParaRPr lang="en-US" sz="950" dirty="0"/>
          </a:p>
        </p:txBody>
      </p:sp>
      <p:sp>
        <p:nvSpPr>
          <p:cNvPr id="12" name="Shape 10"/>
          <p:cNvSpPr/>
          <p:nvPr/>
        </p:nvSpPr>
        <p:spPr>
          <a:xfrm>
            <a:off x="5687568" y="3246120"/>
            <a:ext cx="2999232" cy="1280160"/>
          </a:xfrm>
          <a:prstGeom prst="roundRect">
            <a:avLst>
              <a:gd name="adj" fmla="val 7143"/>
            </a:avLst>
          </a:prstGeom>
          <a:solidFill>
            <a:srgbClr val="F2ECE1"/>
          </a:solidFill>
          <a:ln w="12700">
            <a:solidFill>
              <a:srgbClr val="F2ECE1"/>
            </a:solidFill>
            <a:prstDash val="solid"/>
          </a:ln>
        </p:spPr>
      </p:sp>
      <p:sp>
        <p:nvSpPr>
          <p:cNvPr id="13" name="Text 11"/>
          <p:cNvSpPr txBox="1"/>
          <p:nvPr/>
        </p:nvSpPr>
        <p:spPr>
          <a:xfrm>
            <a:off x="5870448" y="3364992"/>
            <a:ext cx="263347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STRICT came in 3.37.0</a:t>
            </a:r>
            <a:endParaRPr lang="en-US" sz="1600" dirty="0"/>
          </a:p>
        </p:txBody>
      </p:sp>
      <p:sp>
        <p:nvSpPr>
          <p:cNvPr id="14" name="Text 12"/>
          <p:cNvSpPr txBox="1"/>
          <p:nvPr/>
        </p:nvSpPr>
        <p:spPr>
          <a:xfrm>
            <a:off x="5870448" y="3749040"/>
            <a:ext cx="2633472" cy="6400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Released on 27 November 2021; BOOLEAN, DATE, VARCHAR, NUMERIC and FLOAT are refused in a STRICT table.</a:t>
            </a:r>
            <a:endParaRPr lang="en-US" sz="9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Declare STRICT so a column's type is a rule, not a hint.</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the schema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first session: create a table, list the tables and read the columns back</a:t>
            </a:r>
            <a:endParaRPr lang="en-US" sz="1300" dirty="0"/>
          </a:p>
        </p:txBody>
      </p:sp>
      <p:sp>
        <p:nvSpPr>
          <p:cNvPr id="6" name="Text 4"/>
          <p:cNvSpPr txBox="1"/>
          <p:nvPr/>
        </p:nvSpPr>
        <p:spPr>
          <a:xfrm>
            <a:off x="457200" y="1143000"/>
            <a:ext cx="742492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firstSession_v1_0_0.py, lines 4 to 12 of 12</a:t>
            </a:r>
            <a:endParaRPr lang="en-US" sz="1000" dirty="0"/>
          </a:p>
        </p:txBody>
      </p:sp>
      <p:sp>
        <p:nvSpPr>
          <p:cNvPr id="7" name="Shape 5"/>
          <p:cNvSpPr/>
          <p:nvPr/>
        </p:nvSpPr>
        <p:spPr>
          <a:xfrm>
            <a:off x="457200" y="1417320"/>
            <a:ext cx="7424928" cy="2423160"/>
          </a:xfrm>
          <a:prstGeom prst="roundRect">
            <a:avLst>
              <a:gd name="adj" fmla="val 3774"/>
            </a:avLst>
          </a:prstGeom>
          <a:solidFill>
            <a:srgbClr val="23272E"/>
          </a:solidFill>
          <a:ln w="12700">
            <a:solidFill>
              <a:srgbClr val="23272E"/>
            </a:solidFill>
            <a:prstDash val="solid"/>
          </a:ln>
        </p:spPr>
      </p:sp>
      <p:sp>
        <p:nvSpPr>
          <p:cNvPr id="8" name="Text 6"/>
          <p:cNvSpPr txBox="1"/>
          <p:nvPr/>
        </p:nvSpPr>
        <p:spPr>
          <a:xfrm>
            <a:off x="640080" y="1536192"/>
            <a:ext cx="7059168" cy="2185416"/>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conn = sqlite3.connect(</a:t>
            </a:r>
            <a:r>
              <a:rPr lang="en-US" sz="750" dirty="0">
                <a:solidFill>
                  <a:srgbClr val="9ECBFF"/>
                </a:solidFill>
                <a:latin typeface="Courier New" pitchFamily="34" charset="0"/>
                <a:ea typeface="Courier New" pitchFamily="34" charset="-122"/>
                <a:cs typeface="Courier New" pitchFamily="34" charset="-120"/>
              </a:rPr>
              <a:t>'example.db'</a:t>
            </a:r>
            <a:r>
              <a:rPr lang="en-US" sz="750" dirty="0">
                <a:solidFill>
                  <a:srgbClr val="E6EDF3"/>
                </a:solidFill>
                <a:latin typeface="Courier New" pitchFamily="34" charset="0"/>
                <a:ea typeface="Courier New" pitchFamily="34" charset="-122"/>
                <a:cs typeface="Courier New" pitchFamily="34" charset="-120"/>
              </a:rPr>
              <a:t>, isolation_level=</a:t>
            </a:r>
            <a:r>
              <a:rPr lang="en-US" sz="750" b="1" dirty="0">
                <a:solidFill>
                  <a:srgbClr val="F2A860"/>
                </a:solidFill>
                <a:latin typeface="Courier New" pitchFamily="34" charset="0"/>
                <a:ea typeface="Courier New" pitchFamily="34" charset="-122"/>
                <a:cs typeface="Courier New" pitchFamily="34" charset="-120"/>
              </a:rPr>
              <a:t>None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conn.execute(</a:t>
            </a:r>
            <a:r>
              <a:rPr lang="en-US" sz="750" dirty="0">
                <a:solidFill>
                  <a:srgbClr val="9ECBFF"/>
                </a:solidFill>
                <a:latin typeface="Courier New" pitchFamily="34" charset="0"/>
                <a:ea typeface="Courier New" pitchFamily="34" charset="-122"/>
                <a:cs typeface="Courier New" pitchFamily="34" charset="-120"/>
              </a:rPr>
              <a:t>'CREATE TABLE IF NOT EXISTS cats (name TEXT NOT NULL, birthdate TEXT, fur TEXT, weight_kg REAL) STRICT'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print(conn.execute(</a:t>
            </a:r>
            <a:r>
              <a:rPr lang="en-US" sz="750" dirty="0">
                <a:solidFill>
                  <a:srgbClr val="9ECBFF"/>
                </a:solidFill>
                <a:latin typeface="Courier New" pitchFamily="34" charset="0"/>
                <a:ea typeface="Courier New" pitchFamily="34" charset="-122"/>
                <a:cs typeface="Courier New" pitchFamily="34" charset="-120"/>
              </a:rPr>
              <a:t>"SELECT name FROM sqlite_schema WHERE type = 'table'"</a:t>
            </a:r>
            <a:r>
              <a:rPr lang="en-US" sz="750" dirty="0">
                <a:solidFill>
                  <a:srgbClr val="E6EDF3"/>
                </a:solidFill>
                <a:latin typeface="Courier New" pitchFamily="34" charset="0"/>
                <a:ea typeface="Courier New" pitchFamily="34" charset="-122"/>
                <a:cs typeface="Courier New" pitchFamily="34" charset="-120"/>
              </a:rPr>
              <a:t>).fetchall())</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row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conn.execute(</a:t>
            </a:r>
            <a:r>
              <a:rPr lang="en-US" sz="750" dirty="0">
                <a:solidFill>
                  <a:srgbClr val="9ECBFF"/>
                </a:solidFill>
                <a:latin typeface="Courier New" pitchFamily="34" charset="0"/>
                <a:ea typeface="Courier New" pitchFamily="34" charset="-122"/>
                <a:cs typeface="Courier New" pitchFamily="34" charset="-120"/>
              </a:rPr>
              <a:t>'PRAGMA table_info(cats)'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print(row)</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conn.execute(</a:t>
            </a:r>
            <a:r>
              <a:rPr lang="en-US" sz="750" dirty="0">
                <a:solidFill>
                  <a:srgbClr val="9ECBFF"/>
                </a:solidFill>
                <a:latin typeface="Courier New" pitchFamily="34" charset="0"/>
                <a:ea typeface="Courier New" pitchFamily="34" charset="-122"/>
                <a:cs typeface="Courier New" pitchFamily="34" charset="-120"/>
              </a:rPr>
              <a:t>'CREATE TABLE IF NOT EXISTS cats (name TEXT)'</a:t>
            </a:r>
            <a:r>
              <a:rPr lang="en-US" sz="750" dirty="0">
                <a:solidFill>
                  <a:srgbClr val="E6EDF3"/>
                </a:solidFill>
                <a:latin typeface="Courier New" pitchFamily="34" charset="0"/>
                <a:ea typeface="Courier New" pitchFamily="34" charset="-122"/>
                <a:cs typeface="Courier New" pitchFamily="34" charset="-120"/>
              </a:rPr>
              <a:t>)   </a:t>
            </a:r>
            <a:r>
              <a:rPr lang="en-US" sz="750" i="1" dirty="0">
                <a:solidFill>
                  <a:srgbClr val="8FA98F"/>
                </a:solidFill>
                <a:latin typeface="Courier New" pitchFamily="34" charset="0"/>
                <a:ea typeface="Courier New" pitchFamily="34" charset="-122"/>
                <a:cs typeface="Courier New" pitchFamily="34" charset="-120"/>
              </a:rPr>
              <a:t># the second statement does nothing: the table exists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print(conn.execute(</a:t>
            </a:r>
            <a:r>
              <a:rPr lang="en-US" sz="750" dirty="0">
                <a:solidFill>
                  <a:srgbClr val="9ECBFF"/>
                </a:solidFill>
                <a:latin typeface="Courier New" pitchFamily="34" charset="0"/>
                <a:ea typeface="Courier New" pitchFamily="34" charset="-122"/>
                <a:cs typeface="Courier New" pitchFamily="34" charset="-120"/>
              </a:rPr>
              <a:t>'SELECT sql FROM sqlite_schema'</a:t>
            </a:r>
            <a:r>
              <a:rPr lang="en-US" sz="750" dirty="0">
                <a:solidFill>
                  <a:srgbClr val="E6EDF3"/>
                </a:solidFill>
                <a:latin typeface="Courier New" pitchFamily="34" charset="0"/>
                <a:ea typeface="Courier New" pitchFamily="34" charset="-122"/>
                <a:cs typeface="Courier New" pitchFamily="34" charset="-120"/>
              </a:rPr>
              <a:t>).fetchone()[</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conn.close()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print(os.path.getsize(</a:t>
            </a:r>
            <a:r>
              <a:rPr lang="en-US" sz="750" dirty="0">
                <a:solidFill>
                  <a:srgbClr val="9ECBFF"/>
                </a:solidFill>
                <a:latin typeface="Courier New" pitchFamily="34" charset="0"/>
                <a:ea typeface="Courier New" pitchFamily="34" charset="-122"/>
                <a:cs typeface="Courier New" pitchFamily="34" charset="-120"/>
              </a:rPr>
              <a:t>'example.db'</a:t>
            </a:r>
            <a:r>
              <a:rPr lang="en-US" sz="750" dirty="0">
                <a:solidFill>
                  <a:srgbClr val="E6EDF3"/>
                </a:solidFill>
                <a:latin typeface="Courier New" pitchFamily="34" charset="0"/>
                <a:ea typeface="Courier New" pitchFamily="34" charset="-122"/>
                <a:cs typeface="Courier New" pitchFamily="34" charset="-120"/>
              </a:rPr>
              <a:t>) &gt;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[('cats',)]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 'name', 'TEXT', 1, None,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 'birthdate', 'TEXT', 0, None,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 'fur', 'TEXT', 0, None,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 'weight_kg', 'REAL', 0, None,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CREATE TABLE cats (name TEXT NOT NULL, birthdate TEXT, fur TEXT, weight_kg REAL) STRICT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9" name="Text 7"/>
          <p:cNvSpPr txBox="1"/>
          <p:nvPr/>
        </p:nvSpPr>
        <p:spPr>
          <a:xfrm>
            <a:off x="457200" y="3931920"/>
            <a:ext cx="8229600" cy="49377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sqlite_schema lists every table and index with the SQL that made it; sqlite_master is the old name for the same rows. PRAGMA table_info returns cid, name, type, notnull, dflt_value and pk for each column. CREATE TABLE IF NOT EXISTS with another column list changes nothing: the first definition stays.</a:t>
            </a:r>
            <a:endParaRPr lang="en-US" sz="10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schema is data too: SQLite keeps it in sqlite_schema.</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Python values and the five storage classes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goes in, how SQLite stores it, and what comes back</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3566160" cy="914400"/>
        </p:xfrm>
        <a:graphic>
          <a:graphicData uri="http://schemas.openxmlformats.org/drawingml/2006/table">
            <a:tbl>
              <a:tblPr/>
              <a:tblGrid>
                <a:gridCol w="914400"/>
                <a:gridCol w="1097280"/>
                <a:gridCol w="155448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Python value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Stored as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Read back as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null</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NoneType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integer</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int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real</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float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text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str</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b'\x00'</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blob</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bytes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integer</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int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206240" y="1371600"/>
            <a:ext cx="4480560" cy="1719072"/>
          </a:xfrm>
          <a:prstGeom prst="roundRect">
            <a:avLst>
              <a:gd name="adj" fmla="val 5319"/>
            </a:avLst>
          </a:prstGeom>
          <a:solidFill>
            <a:srgbClr val="23272E"/>
          </a:solidFill>
          <a:ln w="12700">
            <a:solidFill>
              <a:srgbClr val="23272E"/>
            </a:solidFill>
            <a:prstDash val="solid"/>
          </a:ln>
        </p:spPr>
      </p:sp>
      <p:sp>
        <p:nvSpPr>
          <p:cNvPr id="8" name="Text 5"/>
          <p:cNvSpPr txBox="1"/>
          <p:nvPr/>
        </p:nvSpPr>
        <p:spPr>
          <a:xfrm>
            <a:off x="4389120" y="1490472"/>
            <a:ext cx="4114800" cy="1481328"/>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import sqlite3</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conn = sqlite3.connect(':memory:')</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run = lambda sql, *args: conn.execute(sql, args).fetchall()</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run("SELECT date('2035-02-30'), date('31/10/2035')")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[('2035-03-02', None)]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run('SELECT TRUE,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0)]</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run('SELECT ?', 2 ** 63)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OverflowError: Python int too large to convert to SQLite INTEGER</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run('SELECT ?',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ProgrammingError: Error binding parameter 1: type 'list' is not supported</a:t>
            </a:r>
            <a:endParaRPr lang="en-US" sz="700" dirty="0"/>
          </a:p>
        </p:txBody>
      </p:sp>
      <p:sp>
        <p:nvSpPr>
          <p:cNvPr id="9" name="Text 6"/>
          <p:cNvSpPr txBox="1"/>
          <p:nvPr/>
        </p:nvSpPr>
        <p:spPr>
          <a:xfrm>
            <a:off x="4206240" y="3108960"/>
            <a:ext cx="44805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SQLite 3.53.1</a:t>
            </a:r>
            <a:endParaRPr lang="en-US" sz="900" dirty="0"/>
          </a:p>
        </p:txBody>
      </p:sp>
      <p:sp>
        <p:nvSpPr>
          <p:cNvPr id="10" name="Shape 7"/>
          <p:cNvSpPr/>
          <p:nvPr/>
        </p:nvSpPr>
        <p:spPr>
          <a:xfrm>
            <a:off x="457200" y="3429000"/>
            <a:ext cx="4114800" cy="1097280"/>
          </a:xfrm>
          <a:prstGeom prst="roundRect">
            <a:avLst>
              <a:gd name="adj" fmla="val 8333"/>
            </a:avLst>
          </a:prstGeom>
          <a:solidFill>
            <a:srgbClr val="F2ECE1"/>
          </a:solidFill>
          <a:ln w="12700">
            <a:solidFill>
              <a:srgbClr val="F2ECE1"/>
            </a:solidFill>
            <a:prstDash val="solid"/>
          </a:ln>
        </p:spPr>
      </p:sp>
      <p:sp>
        <p:nvSpPr>
          <p:cNvPr id="11" name="Text 8"/>
          <p:cNvSpPr txBox="1"/>
          <p:nvPr/>
        </p:nvSpPr>
        <p:spPr>
          <a:xfrm>
            <a:off x="640080" y="3547872"/>
            <a:ext cx="37490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No boolean and no date type</a:t>
            </a:r>
            <a:endParaRPr lang="en-US" sz="1600" dirty="0"/>
          </a:p>
        </p:txBody>
      </p:sp>
      <p:sp>
        <p:nvSpPr>
          <p:cNvPr id="12" name="Text 9"/>
          <p:cNvSpPr txBox="1"/>
          <p:nvPr/>
        </p:nvSpPr>
        <p:spPr>
          <a:xfrm>
            <a:off x="640080" y="3931920"/>
            <a:ext cx="3749040" cy="4572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True is stored as 1; TRUE and FALSE are 1 and 0 in SQL. Dates are text, real or integer read by date functions: date('2035-02-30') gave 2035-03-02.</a:t>
            </a:r>
            <a:endParaRPr lang="en-US" sz="950" dirty="0"/>
          </a:p>
        </p:txBody>
      </p:sp>
      <p:sp>
        <p:nvSpPr>
          <p:cNvPr id="13" name="Shape 10"/>
          <p:cNvSpPr/>
          <p:nvPr/>
        </p:nvSpPr>
        <p:spPr>
          <a:xfrm>
            <a:off x="4754880" y="3419856"/>
            <a:ext cx="3931920" cy="1106424"/>
          </a:xfrm>
          <a:prstGeom prst="roundRect">
            <a:avLst>
              <a:gd name="adj" fmla="val 8264"/>
            </a:avLst>
          </a:prstGeom>
          <a:solidFill>
            <a:srgbClr val="F2ECE1"/>
          </a:solidFill>
          <a:ln w="12700">
            <a:solidFill>
              <a:srgbClr val="F2ECE1"/>
            </a:solidFill>
            <a:prstDash val="solid"/>
          </a:ln>
        </p:spPr>
      </p:sp>
      <p:sp>
        <p:nvSpPr>
          <p:cNvPr id="14" name="Text 11"/>
          <p:cNvSpPr txBox="1"/>
          <p:nvPr/>
        </p:nvSpPr>
        <p:spPr>
          <a:xfrm>
            <a:off x="4937760" y="3538728"/>
            <a:ext cx="35661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Only five Python types</a:t>
            </a:r>
            <a:endParaRPr lang="en-US" sz="1600" dirty="0"/>
          </a:p>
        </p:txBody>
      </p:sp>
      <p:sp>
        <p:nvSpPr>
          <p:cNvPr id="15" name="Text 12"/>
          <p:cNvSpPr txBox="1"/>
          <p:nvPr/>
        </p:nvSpPr>
        <p:spPr>
          <a:xfrm>
            <a:off x="4937760" y="3922776"/>
            <a:ext cx="3566160" cy="46634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None, int, float, str and bytes are bound; a list is refused, and an int past 63 bits raises OverflowError.</a:t>
            </a:r>
            <a:endParaRPr lang="en-US" sz="95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Booleans and dates are conventions you keep, not types SQLite checks.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Create, read, update and delete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statements, and what each gives back: rows, a count, RETURNING, a rowid</a:t>
            </a:r>
            <a:endParaRPr lang="en-US" sz="1300" dirty="0"/>
          </a:p>
        </p:txBody>
      </p:sp>
      <p:sp>
        <p:nvSpPr>
          <p:cNvPr id="6" name="Text 4"/>
          <p:cNvSpPr txBox="1"/>
          <p:nvPr/>
        </p:nvSpPr>
        <p:spPr>
          <a:xfrm>
            <a:off x="457200" y="1143000"/>
            <a:ext cx="80284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crudCats_v1_0_0.py, lines 8 to 14 of 14</a:t>
            </a:r>
            <a:endParaRPr lang="en-US" sz="1000" dirty="0"/>
          </a:p>
        </p:txBody>
      </p:sp>
      <p:sp>
        <p:nvSpPr>
          <p:cNvPr id="7" name="Shape 5"/>
          <p:cNvSpPr/>
          <p:nvPr/>
        </p:nvSpPr>
        <p:spPr>
          <a:xfrm>
            <a:off x="457200" y="1417320"/>
            <a:ext cx="8028432"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536192"/>
            <a:ext cx="7662672" cy="1682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print(conn.execute(</a:t>
            </a:r>
            <a:r>
              <a:rPr lang="en-US" sz="700" dirty="0">
                <a:solidFill>
                  <a:srgbClr val="9ECBFF"/>
                </a:solidFill>
                <a:latin typeface="Courier New" pitchFamily="34" charset="0"/>
                <a:ea typeface="Courier New" pitchFamily="34" charset="-122"/>
                <a:cs typeface="Courier New" pitchFamily="34" charset="-120"/>
              </a:rPr>
              <a:t>'SELECT rowid, name FROM cats ORDER BY weight_kg DESC LIMIT 2'</a:t>
            </a:r>
            <a:r>
              <a:rPr lang="en-US" sz="700" dirty="0">
                <a:solidFill>
                  <a:srgbClr val="E6EDF3"/>
                </a:solidFill>
                <a:latin typeface="Courier New" pitchFamily="34" charset="0"/>
                <a:ea typeface="Courier New" pitchFamily="34" charset="-122"/>
                <a:cs typeface="Courier New" pitchFamily="34" charset="-120"/>
              </a:rPr>
              <a:t>).fetchall())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cur = conn.execute(</a:t>
            </a:r>
            <a:r>
              <a:rPr lang="en-US" sz="700" dirty="0">
                <a:solidFill>
                  <a:srgbClr val="9ECBFF"/>
                </a:solidFill>
                <a:latin typeface="Courier New" pitchFamily="34" charset="0"/>
                <a:ea typeface="Courier New" pitchFamily="34" charset="-122"/>
                <a:cs typeface="Courier New" pitchFamily="34" charset="-120"/>
              </a:rPr>
              <a:t>'UPDATE cats SET weight_kg = weight_kg + 0.1 WHERE fur =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'black'</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'updated'</a:t>
            </a:r>
            <a:r>
              <a:rPr lang="en-US" sz="700" dirty="0">
                <a:solidFill>
                  <a:srgbClr val="E6EDF3"/>
                </a:solidFill>
                <a:latin typeface="Courier New" pitchFamily="34" charset="0"/>
                <a:ea typeface="Courier New" pitchFamily="34" charset="-122"/>
                <a:cs typeface="Courier New" pitchFamily="34" charset="-120"/>
              </a:rPr>
              <a:t>, cur.rowcount)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print(conn.execute(</a:t>
            </a:r>
            <a:r>
              <a:rPr lang="en-US" sz="700" dirty="0">
                <a:solidFill>
                  <a:srgbClr val="9ECBFF"/>
                </a:solidFill>
                <a:latin typeface="Courier New" pitchFamily="34" charset="0"/>
                <a:ea typeface="Courier New" pitchFamily="34" charset="-122"/>
                <a:cs typeface="Courier New" pitchFamily="34" charset="-120"/>
              </a:rPr>
              <a:t>'DELETE FROM cats WHERE name = ? RETURNING rowid, 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'Jacob'</a:t>
            </a:r>
            <a:r>
              <a:rPr lang="en-US" sz="700" dirty="0">
                <a:solidFill>
                  <a:srgbClr val="E6EDF3"/>
                </a:solidFill>
                <a:latin typeface="Courier New" pitchFamily="34" charset="0"/>
                <a:ea typeface="Courier New" pitchFamily="34" charset="-122"/>
                <a:cs typeface="Courier New" pitchFamily="34" charset="-120"/>
              </a:rPr>
              <a:t>,)).fetchall())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print(conn.execute(</a:t>
            </a:r>
            <a:r>
              <a:rPr lang="en-US" sz="700" dirty="0">
                <a:solidFill>
                  <a:srgbClr val="9ECBFF"/>
                </a:solidFill>
                <a:latin typeface="Courier New" pitchFamily="34" charset="0"/>
                <a:ea typeface="Courier New" pitchFamily="34" charset="-122"/>
                <a:cs typeface="Courier New" pitchFamily="34" charset="-120"/>
              </a:rPr>
              <a:t>'INSERT INTO cats (name) VALUES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'Mango'</a:t>
            </a:r>
            <a:r>
              <a:rPr lang="en-US" sz="700" dirty="0">
                <a:solidFill>
                  <a:srgbClr val="E6EDF3"/>
                </a:solidFill>
                <a:latin typeface="Courier New" pitchFamily="34" charset="0"/>
                <a:ea typeface="Courier New" pitchFamily="34" charset="-122"/>
                <a:cs typeface="Courier New" pitchFamily="34" charset="-120"/>
              </a:rPr>
              <a:t>,)).lastrowid)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print(conn.execute(</a:t>
            </a:r>
            <a:r>
              <a:rPr lang="en-US" sz="700" dirty="0">
                <a:solidFill>
                  <a:srgbClr val="9ECBFF"/>
                </a:solidFill>
                <a:latin typeface="Courier New" pitchFamily="34" charset="0"/>
                <a:ea typeface="Courier New" pitchFamily="34" charset="-122"/>
                <a:cs typeface="Courier New" pitchFamily="34" charset="-120"/>
              </a:rPr>
              <a:t>'SELECT * FROM cats WHERE name LIKE ? ORDER BY 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a:t>
            </a:r>
            <a:r>
              <a:rPr lang="en-US" sz="700" dirty="0">
                <a:solidFill>
                  <a:srgbClr val="E6EDF3"/>
                </a:solidFill>
                <a:latin typeface="Courier New" pitchFamily="34" charset="0"/>
                <a:ea typeface="Courier New" pitchFamily="34" charset="-122"/>
                <a:cs typeface="Courier New" pitchFamily="34" charset="-120"/>
              </a:rPr>
              <a:t>,)).fetchall())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print(conn.execute(</a:t>
            </a:r>
            <a:r>
              <a:rPr lang="en-US" sz="700" dirty="0">
                <a:solidFill>
                  <a:srgbClr val="9ECBFF"/>
                </a:solidFill>
                <a:latin typeface="Courier New" pitchFamily="34" charset="0"/>
                <a:ea typeface="Courier New" pitchFamily="34" charset="-122"/>
                <a:cs typeface="Courier New" pitchFamily="34" charset="-120"/>
              </a:rPr>
              <a:t>'SELECT count(*), count(fur), round(avg(weight_kg), 2) FROM cats'</a:t>
            </a:r>
            <a:r>
              <a:rPr lang="en-US" sz="700" dirty="0">
                <a:solidFill>
                  <a:srgbClr val="E6EDF3"/>
                </a:solidFill>
                <a:latin typeface="Courier New" pitchFamily="34" charset="0"/>
                <a:ea typeface="Courier New" pitchFamily="34" charset="-122"/>
                <a:cs typeface="Courier New" pitchFamily="34" charset="-120"/>
              </a:rPr>
              <a:t>).fetchone())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'Toby'), (2, 'Miguel')]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updated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[(3, 'Jacob')]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[('Mango', None, None, None), ('Toby', '2021-05-17', 'black', 6.8999999999999995), ('Zophie', '2021-01-24', 'black', 5.699999999999999)]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(4, 3, 6.27)</a:t>
            </a:r>
            <a:endParaRPr lang="en-US" sz="700" dirty="0"/>
          </a:p>
        </p:txBody>
      </p:sp>
      <p:sp>
        <p:nvSpPr>
          <p:cNvPr id="9" name="Shape 7"/>
          <p:cNvSpPr/>
          <p:nvPr/>
        </p:nvSpPr>
        <p:spPr>
          <a:xfrm>
            <a:off x="457200" y="3474720"/>
            <a:ext cx="2645664" cy="1051560"/>
          </a:xfrm>
          <a:prstGeom prst="roundRect">
            <a:avLst>
              <a:gd name="adj" fmla="val 6957"/>
            </a:avLst>
          </a:prstGeom>
          <a:solidFill>
            <a:srgbClr val="F2ECE1"/>
          </a:solidFill>
          <a:ln w="12700">
            <a:solidFill>
              <a:srgbClr val="DFD6C7"/>
            </a:solidFill>
            <a:prstDash val="solid"/>
          </a:ln>
        </p:spPr>
      </p:sp>
      <p:sp>
        <p:nvSpPr>
          <p:cNvPr id="10" name="Text 8"/>
          <p:cNvSpPr txBox="1"/>
          <p:nvPr/>
        </p:nvSpPr>
        <p:spPr>
          <a:xfrm>
            <a:off x="548640" y="3529584"/>
            <a:ext cx="2462784" cy="941832"/>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UPDATE ... WHERE</a:t>
            </a:r>
            <a:endParaRPr lang="en-US" sz="1150" dirty="0"/>
          </a:p>
          <a:p>
            <a:pPr algn="ctr" indent="0" marL="0">
              <a:buNone/>
            </a:pPr>
            <a:r>
              <a:rPr lang="en-US" sz="950" dirty="0">
                <a:solidFill>
                  <a:srgbClr val="6E655C"/>
                </a:solidFill>
                <a:latin typeface="Calibri" pitchFamily="34" charset="0"/>
                <a:ea typeface="Calibri" pitchFamily="34" charset="-122"/>
                <a:cs typeface="Calibri" pitchFamily="34" charset="-120"/>
              </a:rPr>
              <a:t>rowcount says how many rows changed: 2</a:t>
            </a:r>
            <a:endParaRPr lang="en-US" sz="1150" dirty="0"/>
          </a:p>
        </p:txBody>
      </p:sp>
      <p:sp>
        <p:nvSpPr>
          <p:cNvPr id="11" name="Shape 9"/>
          <p:cNvSpPr/>
          <p:nvPr/>
        </p:nvSpPr>
        <p:spPr>
          <a:xfrm>
            <a:off x="3249168" y="3474720"/>
            <a:ext cx="2645664" cy="1051560"/>
          </a:xfrm>
          <a:prstGeom prst="roundRect">
            <a:avLst>
              <a:gd name="adj" fmla="val 6957"/>
            </a:avLst>
          </a:prstGeom>
          <a:solidFill>
            <a:srgbClr val="F2ECE1"/>
          </a:solidFill>
          <a:ln w="12700">
            <a:solidFill>
              <a:srgbClr val="DFD6C7"/>
            </a:solidFill>
            <a:prstDash val="solid"/>
          </a:ln>
        </p:spPr>
      </p:sp>
      <p:sp>
        <p:nvSpPr>
          <p:cNvPr id="12" name="Text 10"/>
          <p:cNvSpPr txBox="1"/>
          <p:nvPr/>
        </p:nvSpPr>
        <p:spPr>
          <a:xfrm>
            <a:off x="3340608" y="3529584"/>
            <a:ext cx="2462784" cy="941832"/>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DELETE ... RETURNING</a:t>
            </a:r>
            <a:endParaRPr lang="en-US" sz="1150" dirty="0"/>
          </a:p>
          <a:p>
            <a:pPr algn="ctr" indent="0" marL="0">
              <a:buNone/>
            </a:pPr>
            <a:r>
              <a:rPr lang="en-US" sz="950" dirty="0">
                <a:solidFill>
                  <a:srgbClr val="6E655C"/>
                </a:solidFill>
                <a:latin typeface="Calibri" pitchFamily="34" charset="0"/>
                <a:ea typeface="Calibri" pitchFamily="34" charset="-122"/>
                <a:cs typeface="Calibri" pitchFamily="34" charset="-120"/>
              </a:rPr>
              <a:t>returns the deleted row in the same call</a:t>
            </a:r>
            <a:endParaRPr lang="en-US" sz="1150" dirty="0"/>
          </a:p>
        </p:txBody>
      </p:sp>
      <p:sp>
        <p:nvSpPr>
          <p:cNvPr id="13" name="Shape 11"/>
          <p:cNvSpPr/>
          <p:nvPr/>
        </p:nvSpPr>
        <p:spPr>
          <a:xfrm>
            <a:off x="6041136" y="3474720"/>
            <a:ext cx="2645664" cy="1051560"/>
          </a:xfrm>
          <a:prstGeom prst="roundRect">
            <a:avLst>
              <a:gd name="adj" fmla="val 6957"/>
            </a:avLst>
          </a:prstGeom>
          <a:solidFill>
            <a:srgbClr val="F2ECE1"/>
          </a:solidFill>
          <a:ln w="12700">
            <a:solidFill>
              <a:srgbClr val="DFD6C7"/>
            </a:solidFill>
            <a:prstDash val="solid"/>
          </a:ln>
        </p:spPr>
      </p:sp>
      <p:sp>
        <p:nvSpPr>
          <p:cNvPr id="14" name="Text 12"/>
          <p:cNvSpPr txBox="1"/>
          <p:nvPr/>
        </p:nvSpPr>
        <p:spPr>
          <a:xfrm>
            <a:off x="6132576" y="3529584"/>
            <a:ext cx="2462784" cy="941832"/>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INSERT, then lastrowid</a:t>
            </a:r>
            <a:endParaRPr lang="en-US" sz="1150" dirty="0"/>
          </a:p>
          <a:p>
            <a:pPr algn="ctr" indent="0" marL="0">
              <a:buNone/>
            </a:pPr>
            <a:r>
              <a:rPr lang="en-US" sz="950" dirty="0">
                <a:solidFill>
                  <a:srgbClr val="6E655C"/>
                </a:solidFill>
                <a:latin typeface="Calibri" pitchFamily="34" charset="0"/>
                <a:ea typeface="Calibri" pitchFamily="34" charset="-122"/>
                <a:cs typeface="Calibri" pitchFamily="34" charset="-120"/>
              </a:rPr>
              <a:t>the rowid of the new row: 5</a:t>
            </a:r>
            <a:endParaRPr lang="en-US" sz="11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statement gives back something: rows, a count or a rowid.</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placeholder keeps a value as data</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Statement and value travel apart: pasted text changes the query, a bound value cannot</a:t>
            </a:r>
            <a:endParaRPr lang="en-US" sz="1300" dirty="0"/>
          </a:p>
        </p:txBody>
      </p:sp>
      <p:sp>
        <p:nvSpPr>
          <p:cNvPr id="6" name="Shape 4"/>
          <p:cNvSpPr/>
          <p:nvPr/>
        </p:nvSpPr>
        <p:spPr>
          <a:xfrm>
            <a:off x="502920" y="1325880"/>
            <a:ext cx="118872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431950"/>
            <a:ext cx="107899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097280" y="1709928"/>
            <a:ext cx="0" cy="2496312"/>
          </a:xfrm>
          <a:prstGeom prst="line">
            <a:avLst/>
          </a:prstGeom>
          <a:noFill/>
          <a:ln w="19050">
            <a:solidFill>
              <a:srgbClr val="DFD6C7"/>
            </a:solidFill>
            <a:prstDash val="dash"/>
          </a:ln>
        </p:spPr>
      </p:sp>
      <p:sp>
        <p:nvSpPr>
          <p:cNvPr id="9" name="Shape 7"/>
          <p:cNvSpPr/>
          <p:nvPr/>
        </p:nvSpPr>
        <p:spPr>
          <a:xfrm>
            <a:off x="1874520" y="1325880"/>
            <a:ext cx="118872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1929384" y="1355141"/>
            <a:ext cx="107899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sqlite3 module</a:t>
            </a:r>
            <a:endParaRPr lang="en-US" sz="1000" dirty="0"/>
          </a:p>
        </p:txBody>
      </p:sp>
      <p:sp>
        <p:nvSpPr>
          <p:cNvPr id="11" name="Shape 9"/>
          <p:cNvSpPr/>
          <p:nvPr/>
        </p:nvSpPr>
        <p:spPr>
          <a:xfrm>
            <a:off x="2468880" y="1709928"/>
            <a:ext cx="0" cy="2496312"/>
          </a:xfrm>
          <a:prstGeom prst="line">
            <a:avLst/>
          </a:prstGeom>
          <a:noFill/>
          <a:ln w="19050">
            <a:solidFill>
              <a:srgbClr val="DFD6C7"/>
            </a:solidFill>
            <a:prstDash val="dash"/>
          </a:ln>
        </p:spPr>
      </p:sp>
      <p:sp>
        <p:nvSpPr>
          <p:cNvPr id="12" name="Shape 10"/>
          <p:cNvSpPr/>
          <p:nvPr/>
        </p:nvSpPr>
        <p:spPr>
          <a:xfrm>
            <a:off x="3246120" y="1325880"/>
            <a:ext cx="118872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300984" y="1431950"/>
            <a:ext cx="107899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SQLite</a:t>
            </a:r>
            <a:endParaRPr lang="en-US" sz="1000" dirty="0"/>
          </a:p>
        </p:txBody>
      </p:sp>
      <p:sp>
        <p:nvSpPr>
          <p:cNvPr id="14" name="Shape 12"/>
          <p:cNvSpPr/>
          <p:nvPr/>
        </p:nvSpPr>
        <p:spPr>
          <a:xfrm>
            <a:off x="3840480" y="1709928"/>
            <a:ext cx="0" cy="2496312"/>
          </a:xfrm>
          <a:prstGeom prst="line">
            <a:avLst/>
          </a:prstGeom>
          <a:noFill/>
          <a:ln w="19050">
            <a:solidFill>
              <a:srgbClr val="DFD6C7"/>
            </a:solidFill>
            <a:prstDash val="dash"/>
          </a:ln>
        </p:spPr>
      </p:sp>
      <p:sp>
        <p:nvSpPr>
          <p:cNvPr id="15" name="Shape 13"/>
          <p:cNvSpPr/>
          <p:nvPr/>
        </p:nvSpPr>
        <p:spPr>
          <a:xfrm>
            <a:off x="1097280" y="2147926"/>
            <a:ext cx="1371600" cy="0"/>
          </a:xfrm>
          <a:prstGeom prst="line">
            <a:avLst/>
          </a:prstGeom>
          <a:noFill/>
          <a:ln w="22225">
            <a:solidFill>
              <a:srgbClr val="D97A14"/>
            </a:solidFill>
            <a:prstDash val="solid"/>
            <a:tailEnd type="triangle"/>
          </a:ln>
        </p:spPr>
      </p:sp>
      <p:sp>
        <p:nvSpPr>
          <p:cNvPr id="16" name="Text 14"/>
          <p:cNvSpPr txBox="1"/>
          <p:nvPr/>
        </p:nvSpPr>
        <p:spPr>
          <a:xfrm>
            <a:off x="1188720" y="1714500"/>
            <a:ext cx="118872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execute() with a statement that has a placeholder</a:t>
            </a:r>
            <a:endParaRPr lang="en-US" sz="800" dirty="0"/>
          </a:p>
        </p:txBody>
      </p:sp>
      <p:sp>
        <p:nvSpPr>
          <p:cNvPr id="17" name="Shape 15"/>
          <p:cNvSpPr/>
          <p:nvPr/>
        </p:nvSpPr>
        <p:spPr>
          <a:xfrm>
            <a:off x="1097280" y="2628900"/>
            <a:ext cx="1371600" cy="0"/>
          </a:xfrm>
          <a:prstGeom prst="line">
            <a:avLst/>
          </a:prstGeom>
          <a:noFill/>
          <a:ln w="22225">
            <a:solidFill>
              <a:srgbClr val="D97A14"/>
            </a:solidFill>
            <a:prstDash val="solid"/>
            <a:tailEnd type="triangle"/>
          </a:ln>
        </p:spPr>
      </p:sp>
      <p:sp>
        <p:nvSpPr>
          <p:cNvPr id="18" name="Text 16"/>
          <p:cNvSpPr txBox="1"/>
          <p:nvPr/>
        </p:nvSpPr>
        <p:spPr>
          <a:xfrm>
            <a:off x="1188720" y="2318918"/>
            <a:ext cx="118872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Passes the value in a tuple</a:t>
            </a:r>
            <a:endParaRPr lang="en-US" sz="800" dirty="0"/>
          </a:p>
        </p:txBody>
      </p:sp>
      <p:sp>
        <p:nvSpPr>
          <p:cNvPr id="19" name="Shape 17"/>
          <p:cNvSpPr/>
          <p:nvPr/>
        </p:nvSpPr>
        <p:spPr>
          <a:xfrm>
            <a:off x="2468880" y="3109874"/>
            <a:ext cx="1371600" cy="0"/>
          </a:xfrm>
          <a:prstGeom prst="line">
            <a:avLst/>
          </a:prstGeom>
          <a:noFill/>
          <a:ln w="22225">
            <a:solidFill>
              <a:srgbClr val="D97A14"/>
            </a:solidFill>
            <a:prstDash val="solid"/>
            <a:tailEnd type="triangle"/>
          </a:ln>
        </p:spPr>
      </p:sp>
      <p:sp>
        <p:nvSpPr>
          <p:cNvPr id="20" name="Text 18"/>
          <p:cNvSpPr txBox="1"/>
          <p:nvPr/>
        </p:nvSpPr>
        <p:spPr>
          <a:xfrm>
            <a:off x="2560320" y="2676449"/>
            <a:ext cx="118872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Sends the statement and binds the value as data</a:t>
            </a:r>
            <a:endParaRPr lang="en-US" sz="800" dirty="0"/>
          </a:p>
        </p:txBody>
      </p:sp>
      <p:sp>
        <p:nvSpPr>
          <p:cNvPr id="21" name="Shape 19"/>
          <p:cNvSpPr/>
          <p:nvPr/>
        </p:nvSpPr>
        <p:spPr>
          <a:xfrm flipH="1">
            <a:off x="2468880" y="3590849"/>
            <a:ext cx="1371600" cy="0"/>
          </a:xfrm>
          <a:prstGeom prst="line">
            <a:avLst/>
          </a:prstGeom>
          <a:noFill/>
          <a:ln w="22225">
            <a:solidFill>
              <a:srgbClr val="6E655C"/>
            </a:solidFill>
            <a:prstDash val="dash"/>
            <a:tailEnd type="triangle"/>
          </a:ln>
        </p:spPr>
      </p:sp>
      <p:sp>
        <p:nvSpPr>
          <p:cNvPr id="22" name="Text 20"/>
          <p:cNvSpPr txBox="1"/>
          <p:nvPr/>
        </p:nvSpPr>
        <p:spPr>
          <a:xfrm>
            <a:off x="2560320" y="3280867"/>
            <a:ext cx="118872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rows that match the name</a:t>
            </a:r>
            <a:endParaRPr lang="en-US" sz="800" dirty="0"/>
          </a:p>
        </p:txBody>
      </p:sp>
      <p:sp>
        <p:nvSpPr>
          <p:cNvPr id="23" name="Shape 21"/>
          <p:cNvSpPr/>
          <p:nvPr/>
        </p:nvSpPr>
        <p:spPr>
          <a:xfrm flipH="1">
            <a:off x="1097280" y="4071823"/>
            <a:ext cx="1371600" cy="0"/>
          </a:xfrm>
          <a:prstGeom prst="line">
            <a:avLst/>
          </a:prstGeom>
          <a:noFill/>
          <a:ln w="22225">
            <a:solidFill>
              <a:srgbClr val="6E655C"/>
            </a:solidFill>
            <a:prstDash val="dash"/>
            <a:tailEnd type="triangle"/>
          </a:ln>
        </p:spPr>
      </p:sp>
      <p:sp>
        <p:nvSpPr>
          <p:cNvPr id="24" name="Text 22"/>
          <p:cNvSpPr txBox="1"/>
          <p:nvPr/>
        </p:nvSpPr>
        <p:spPr>
          <a:xfrm>
            <a:off x="1188720" y="3761842"/>
            <a:ext cx="118872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a cursor to read the rows</a:t>
            </a:r>
            <a:endParaRPr lang="en-US" sz="800" dirty="0"/>
          </a:p>
        </p:txBody>
      </p:sp>
      <p:sp>
        <p:nvSpPr>
          <p:cNvPr id="25" name="Text 23"/>
          <p:cNvSpPr txBox="1"/>
          <p:nvPr/>
        </p:nvSpPr>
        <p:spPr>
          <a:xfrm>
            <a:off x="457200" y="423367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AParameterisedQuery - Interaction pattern, 22 of 25 words grounded in the chapter's text</a:t>
            </a:r>
            <a:endParaRPr lang="en-US" sz="850" dirty="0"/>
          </a:p>
        </p:txBody>
      </p:sp>
      <p:sp>
        <p:nvSpPr>
          <p:cNvPr id="26" name="Shape 24"/>
          <p:cNvSpPr/>
          <p:nvPr/>
        </p:nvSpPr>
        <p:spPr>
          <a:xfrm>
            <a:off x="4617720" y="1371600"/>
            <a:ext cx="4069080" cy="2167128"/>
          </a:xfrm>
          <a:prstGeom prst="roundRect">
            <a:avLst>
              <a:gd name="adj" fmla="val 4219"/>
            </a:avLst>
          </a:prstGeom>
          <a:solidFill>
            <a:srgbClr val="23272E"/>
          </a:solidFill>
          <a:ln w="12700">
            <a:solidFill>
              <a:srgbClr val="23272E"/>
            </a:solidFill>
            <a:prstDash val="solid"/>
          </a:ln>
        </p:spPr>
      </p:sp>
      <p:sp>
        <p:nvSpPr>
          <p:cNvPr id="27" name="Text 25"/>
          <p:cNvSpPr txBox="1"/>
          <p:nvPr/>
        </p:nvSpPr>
        <p:spPr>
          <a:xfrm>
            <a:off x="4800600" y="1490472"/>
            <a:ext cx="3703320" cy="1929384"/>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import sqlite3</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conn = sqlite3.connect(':memory:')</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run = lambda sql, *args: conn.execute(sql, args).fetchall()</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run('CREATE TABLE cats (name TEXT)')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run("INSERT INTO cats VALUES ('Zophie'), ('Toby')")</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attack = "x' OR '1'='1"</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len(run(f"SELECT * FROM cats WHERE name = '{attack}'"))</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2</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len(run('SELECT * FROM cats WHERE name = ?', attack))</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0</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run('SELECT 1; DROP TABLE cats')</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ProgrammingError: You can only execute one statement at a time.</a:t>
            </a:r>
            <a:endParaRPr lang="en-US" sz="730" dirty="0"/>
          </a:p>
        </p:txBody>
      </p:sp>
      <p:sp>
        <p:nvSpPr>
          <p:cNvPr id="28" name="Text 26"/>
          <p:cNvSpPr txBox="1"/>
          <p:nvPr/>
        </p:nvSpPr>
        <p:spPr>
          <a:xfrm>
            <a:off x="4617720" y="3557016"/>
            <a:ext cx="40690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SQLite 3.53.1</a:t>
            </a:r>
            <a:endParaRPr lang="en-US" sz="900" dirty="0"/>
          </a:p>
        </p:txBody>
      </p:sp>
      <p:sp>
        <p:nvSpPr>
          <p:cNvPr id="29" name="Text 27"/>
          <p:cNvSpPr txBox="1"/>
          <p:nvPr/>
        </p:nvSpPr>
        <p:spPr>
          <a:xfrm>
            <a:off x="4617720" y="3822192"/>
            <a:ext cx="4069080" cy="329184"/>
          </a:xfrm>
          <a:prstGeom prst="rect">
            <a:avLst/>
          </a:prstGeom>
          <a:noFill/>
          <a:ln/>
        </p:spPr>
        <p:txBody>
          <a:bodyPr wrap="square" lIns="0" tIns="0" rIns="0" bIns="0" rtlCol="0" anchor="t"/>
          <a:lstStyle/>
          <a:p>
            <a:pPr indent="0" marL="0">
              <a:buNone/>
            </a:pPr>
            <a:r>
              <a:rPr lang="en-US" sz="950" i="1" dirty="0">
                <a:solidFill>
                  <a:srgbClr val="6E655C"/>
                </a:solidFill>
                <a:latin typeface="Calibri" pitchFamily="34" charset="0"/>
                <a:ea typeface="Calibri" pitchFamily="34" charset="-122"/>
                <a:cs typeface="Calibri" pitchFamily="34" charset="-120"/>
              </a:rPr>
              <a:t>execute() refuses a second statement, so the comic's attack cannot drop a table through it; executescript() would run it.</a:t>
            </a:r>
            <a:endParaRPr lang="en-US" sz="9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Bind values with placeholders; never paste them into SQL.</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Little Bobby Tables, 2007</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 October 2007</a:t>
            </a:r>
            <a:endParaRPr lang="en-US" sz="1300" dirty="0"/>
          </a:p>
        </p:txBody>
      </p:sp>
      <p:sp>
        <p:nvSpPr>
          <p:cNvPr id="6" name="Shape 4"/>
          <p:cNvSpPr/>
          <p:nvPr/>
        </p:nvSpPr>
        <p:spPr>
          <a:xfrm>
            <a:off x="457200" y="1280160"/>
            <a:ext cx="4114800" cy="1325880"/>
          </a:xfrm>
          <a:prstGeom prst="roundRect">
            <a:avLst>
              <a:gd name="adj" fmla="val 6897"/>
            </a:avLst>
          </a:prstGeom>
          <a:solidFill>
            <a:srgbClr val="F2ECE1"/>
          </a:solidFill>
          <a:ln w="12700">
            <a:solidFill>
              <a:srgbClr val="F2ECE1"/>
            </a:solidFill>
            <a:prstDash val="solid"/>
          </a:ln>
        </p:spPr>
      </p:sp>
      <p:sp>
        <p:nvSpPr>
          <p:cNvPr id="7" name="Text 5"/>
          <p:cNvSpPr txBox="1"/>
          <p:nvPr/>
        </p:nvSpPr>
        <p:spPr>
          <a:xfrm>
            <a:off x="640080" y="139903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The comic every course quotes</a:t>
            </a:r>
            <a:endParaRPr lang="en-US" sz="1600" dirty="0"/>
          </a:p>
        </p:txBody>
      </p:sp>
      <p:sp>
        <p:nvSpPr>
          <p:cNvPr id="8" name="Text 6"/>
          <p:cNvSpPr txBox="1"/>
          <p:nvPr/>
        </p:nvSpPr>
        <p:spPr>
          <a:xfrm>
            <a:off x="640080" y="1783080"/>
            <a:ext cx="3749040" cy="68580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xkcd number 327, 'Exploits of a Mom' by Randall Munroe: a school phones a mother about her son, whose name is text that closes a statement and drops the table of student records.</a:t>
            </a:r>
            <a:endParaRPr lang="en-US" sz="1050" dirty="0"/>
          </a:p>
        </p:txBody>
      </p:sp>
      <p:sp>
        <p:nvSpPr>
          <p:cNvPr id="9" name="Shape 7"/>
          <p:cNvSpPr/>
          <p:nvPr/>
        </p:nvSpPr>
        <p:spPr>
          <a:xfrm>
            <a:off x="4846320" y="1381887"/>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280160"/>
            <a:ext cx="3566160" cy="33147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10 Oct 2007: xkcd 327 is published</a:t>
            </a:r>
            <a:endParaRPr lang="en-US" sz="1100" dirty="0"/>
          </a:p>
        </p:txBody>
      </p:sp>
      <p:sp>
        <p:nvSpPr>
          <p:cNvPr id="11" name="Shape 9"/>
          <p:cNvSpPr/>
          <p:nvPr/>
        </p:nvSpPr>
        <p:spPr>
          <a:xfrm>
            <a:off x="4846320" y="1713357"/>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1611630"/>
            <a:ext cx="3566160" cy="33147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son's 'name' ends the statement</a:t>
            </a:r>
            <a:endParaRPr lang="en-US" sz="1100" dirty="0"/>
          </a:p>
        </p:txBody>
      </p:sp>
      <p:sp>
        <p:nvSpPr>
          <p:cNvPr id="13" name="Shape 11"/>
          <p:cNvSpPr/>
          <p:nvPr/>
        </p:nvSpPr>
        <p:spPr>
          <a:xfrm>
            <a:off x="4846320" y="2044827"/>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1943100"/>
            <a:ext cx="3566160" cy="33147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student table is dropped</a:t>
            </a:r>
            <a:endParaRPr lang="en-US" sz="1100" dirty="0"/>
          </a:p>
        </p:txBody>
      </p:sp>
      <p:sp>
        <p:nvSpPr>
          <p:cNvPr id="15" name="Shape 13"/>
          <p:cNvSpPr/>
          <p:nvPr/>
        </p:nvSpPr>
        <p:spPr>
          <a:xfrm>
            <a:off x="4846320" y="2376297"/>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2274570"/>
            <a:ext cx="3566160" cy="33147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Her advice: sanitize the inputs</a:t>
            </a:r>
            <a:endParaRPr lang="en-US" sz="1100" dirty="0"/>
          </a:p>
        </p:txBody>
      </p:sp>
      <p:sp>
        <p:nvSpPr>
          <p:cNvPr id="17" name="Shape 15"/>
          <p:cNvSpPr/>
          <p:nvPr/>
        </p:nvSpPr>
        <p:spPr>
          <a:xfrm>
            <a:off x="457200" y="2724912"/>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272491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Randall Munroe, the author of xkcd</a:t>
            </a:r>
            <a:endParaRPr lang="en-US" sz="750" dirty="0"/>
          </a:p>
        </p:txBody>
      </p:sp>
      <p:sp>
        <p:nvSpPr>
          <p:cNvPr id="19" name="Shape 17"/>
          <p:cNvSpPr/>
          <p:nvPr/>
        </p:nvSpPr>
        <p:spPr>
          <a:xfrm>
            <a:off x="3016057" y="2724912"/>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272491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xkcd comic number 327, 'Exploits of a …</a:t>
            </a:r>
            <a:endParaRPr lang="en-US" sz="750" dirty="0"/>
          </a:p>
        </p:txBody>
      </p:sp>
      <p:sp>
        <p:nvSpPr>
          <p:cNvPr id="21" name="Shape 19"/>
          <p:cNvSpPr/>
          <p:nvPr/>
        </p:nvSpPr>
        <p:spPr>
          <a:xfrm>
            <a:off x="5574914" y="2724912"/>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272491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10 October 2007</a:t>
            </a:r>
            <a:endParaRPr lang="en-US" sz="750" dirty="0"/>
          </a:p>
        </p:txBody>
      </p:sp>
      <p:sp>
        <p:nvSpPr>
          <p:cNvPr id="23" name="Shape 21"/>
          <p:cNvSpPr/>
          <p:nvPr/>
        </p:nvSpPr>
        <p:spPr>
          <a:xfrm>
            <a:off x="7027713" y="2724912"/>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272491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xkcd.com</a:t>
            </a:r>
            <a:endParaRPr lang="en-US" sz="750" dirty="0"/>
          </a:p>
        </p:txBody>
      </p:sp>
      <p:sp>
        <p:nvSpPr>
          <p:cNvPr id="25" name="Text 23"/>
          <p:cNvSpPr txBox="1"/>
          <p:nvPr/>
        </p:nvSpPr>
        <p:spPr>
          <a:xfrm>
            <a:off x="457200" y="3108960"/>
            <a:ext cx="53035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placeholdersAndInjection_v1_0_0.py</a:t>
            </a:r>
            <a:endParaRPr lang="en-US" sz="1000" dirty="0"/>
          </a:p>
        </p:txBody>
      </p:sp>
      <p:sp>
        <p:nvSpPr>
          <p:cNvPr id="26" name="Shape 24"/>
          <p:cNvSpPr/>
          <p:nvPr/>
        </p:nvSpPr>
        <p:spPr>
          <a:xfrm>
            <a:off x="457200" y="3383280"/>
            <a:ext cx="5303520" cy="1161288"/>
          </a:xfrm>
          <a:prstGeom prst="roundRect">
            <a:avLst>
              <a:gd name="adj" fmla="val 7874"/>
            </a:avLst>
          </a:prstGeom>
          <a:solidFill>
            <a:srgbClr val="23272E"/>
          </a:solidFill>
          <a:ln w="12700">
            <a:solidFill>
              <a:srgbClr val="23272E"/>
            </a:solidFill>
            <a:prstDash val="solid"/>
          </a:ln>
        </p:spPr>
      </p:sp>
      <p:sp>
        <p:nvSpPr>
          <p:cNvPr id="27" name="Text 25"/>
          <p:cNvSpPr txBox="1"/>
          <p:nvPr/>
        </p:nvSpPr>
        <p:spPr>
          <a:xfrm>
            <a:off x="640080" y="3502152"/>
            <a:ext cx="4937760" cy="92354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rows with the f-string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rows with the placeholder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ProgrammingError You can only execute one statement at a time.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ProgrammingError Incorrect number of bindings supplied. The current statement uses 2, 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ProgrammingError Binding 1 (':a') is a named parameter, but you supplied a sequence whi</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ProgrammingError You did not supply a value for binding parameter :a.</a:t>
            </a:r>
            <a:endParaRPr lang="en-US" sz="700" dirty="0"/>
          </a:p>
        </p:txBody>
      </p:sp>
      <p:sp>
        <p:nvSpPr>
          <p:cNvPr id="28" name="Shape 26"/>
          <p:cNvSpPr/>
          <p:nvPr/>
        </p:nvSpPr>
        <p:spPr>
          <a:xfrm>
            <a:off x="5897880" y="3383280"/>
            <a:ext cx="2788920" cy="1143000"/>
          </a:xfrm>
          <a:prstGeom prst="roundRect">
            <a:avLst>
              <a:gd name="adj" fmla="val 8000"/>
            </a:avLst>
          </a:prstGeom>
          <a:solidFill>
            <a:srgbClr val="F2ECE1"/>
          </a:solidFill>
          <a:ln w="12700">
            <a:solidFill>
              <a:srgbClr val="F2ECE1"/>
            </a:solidFill>
            <a:prstDash val="solid"/>
          </a:ln>
        </p:spPr>
      </p:sp>
      <p:sp>
        <p:nvSpPr>
          <p:cNvPr id="29" name="Text 27"/>
          <p:cNvSpPr txBox="1"/>
          <p:nvPr/>
        </p:nvSpPr>
        <p:spPr>
          <a:xfrm>
            <a:off x="6080760" y="3502152"/>
            <a:ext cx="24231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Bound, not pasted</a:t>
            </a:r>
            <a:endParaRPr lang="en-US" sz="1600" dirty="0"/>
          </a:p>
        </p:txBody>
      </p:sp>
      <p:sp>
        <p:nvSpPr>
          <p:cNvPr id="30" name="Text 28"/>
          <p:cNvSpPr txBox="1"/>
          <p:nvPr/>
        </p:nvSpPr>
        <p:spPr>
          <a:xfrm>
            <a:off x="6080760" y="3886200"/>
            <a:ext cx="2423160" cy="5029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Too few values, a list for a named placeholder and a missing key are each a ProgrammingError.</a:t>
            </a:r>
            <a:endParaRPr lang="en-US" sz="9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Never paste text into SQL; the comic made the point in 2007.</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NULL, double quotes, LIKE and GLOB</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traps in a WHERE clause that run without an error</a:t>
            </a:r>
            <a:endParaRPr lang="en-US" sz="1300" dirty="0"/>
          </a:p>
        </p:txBody>
      </p:sp>
      <p:sp>
        <p:nvSpPr>
          <p:cNvPr id="6" name="Shape 4"/>
          <p:cNvSpPr/>
          <p:nvPr/>
        </p:nvSpPr>
        <p:spPr>
          <a:xfrm>
            <a:off x="457200" y="1371600"/>
            <a:ext cx="4754880" cy="2999232"/>
          </a:xfrm>
          <a:prstGeom prst="roundRect">
            <a:avLst>
              <a:gd name="adj" fmla="val 3049"/>
            </a:avLst>
          </a:prstGeom>
          <a:solidFill>
            <a:srgbClr val="23272E"/>
          </a:solidFill>
          <a:ln w="12700">
            <a:solidFill>
              <a:srgbClr val="23272E"/>
            </a:solidFill>
            <a:prstDash val="solid"/>
          </a:ln>
        </p:spPr>
      </p:sp>
      <p:sp>
        <p:nvSpPr>
          <p:cNvPr id="7" name="Text 5"/>
          <p:cNvSpPr txBox="1"/>
          <p:nvPr/>
        </p:nvSpPr>
        <p:spPr>
          <a:xfrm>
            <a:off x="640080" y="1490472"/>
            <a:ext cx="4389120" cy="2761488"/>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import sqlite3</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conn = sqlite3.connect(':memory:')</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do = lambda sql: conn.execute(sql).close()</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run = lambda sql: conn.execute(sql).fetchall()</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do('CREATE TABLE c (name TEXT, fur TEXT)')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do("INSERT INTO c VALUES ('Zophie', 'black'), ('Toby', 'black')")</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do("INSERT INTO c VALUES ('Jacob', 'orange'), ('Mandy', NULL)")</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run('SELECT name FROM c WHERE fur = NULL')</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run("SELECT name FROM c WHERE fur != 'black'")</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[('Jacob',)]</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run('SELECT name FROM c WHERE fur IS NULL')</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[('Mandy',)]</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run('SELECT count(*), count(fur) FROM c')</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[(4, 3)]</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run('SELECT name FROM c WHERE fur = "fur"')</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[('Zophie',), ('Toby',), ('Jacob',)]</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run("SELECT 'a' LIKE 'A', 'a' GLOB 'A', 'É' LIKE 'é'")</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 0, 0)]</a:t>
            </a:r>
            <a:endParaRPr lang="en-US" sz="790" dirty="0"/>
          </a:p>
        </p:txBody>
      </p:sp>
      <p:sp>
        <p:nvSpPr>
          <p:cNvPr id="8" name="Shape 6"/>
          <p:cNvSpPr/>
          <p:nvPr/>
        </p:nvSpPr>
        <p:spPr>
          <a:xfrm>
            <a:off x="5394960" y="1371600"/>
            <a:ext cx="3291840" cy="1005840"/>
          </a:xfrm>
          <a:prstGeom prst="roundRect">
            <a:avLst>
              <a:gd name="adj" fmla="val 9091"/>
            </a:avLst>
          </a:prstGeom>
          <a:solidFill>
            <a:srgbClr val="F2ECE1"/>
          </a:solidFill>
          <a:ln w="12700">
            <a:solidFill>
              <a:srgbClr val="F2ECE1"/>
            </a:solidFill>
            <a:prstDash val="solid"/>
          </a:ln>
        </p:spPr>
      </p:sp>
      <p:sp>
        <p:nvSpPr>
          <p:cNvPr id="9" name="Text 7"/>
          <p:cNvSpPr txBox="1"/>
          <p:nvPr/>
        </p:nvSpPr>
        <p:spPr>
          <a:xfrm>
            <a:off x="5577840" y="1490472"/>
            <a:ext cx="29260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NULL equals nothing</a:t>
            </a:r>
            <a:endParaRPr lang="en-US" sz="1600" dirty="0"/>
          </a:p>
        </p:txBody>
      </p:sp>
      <p:sp>
        <p:nvSpPr>
          <p:cNvPr id="10" name="Text 8"/>
          <p:cNvSpPr txBox="1"/>
          <p:nvPr/>
        </p:nvSpPr>
        <p:spPr>
          <a:xfrm>
            <a:off x="5577840" y="1874520"/>
            <a:ext cx="2926080" cy="36576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fur = NULL found no row, != 'black' skipped Mandy, IS NULL found her.</a:t>
            </a:r>
            <a:endParaRPr lang="en-US" sz="900" dirty="0"/>
          </a:p>
        </p:txBody>
      </p:sp>
      <p:sp>
        <p:nvSpPr>
          <p:cNvPr id="11" name="Shape 9"/>
          <p:cNvSpPr/>
          <p:nvPr/>
        </p:nvSpPr>
        <p:spPr>
          <a:xfrm>
            <a:off x="5394960" y="2468880"/>
            <a:ext cx="3291840" cy="1051560"/>
          </a:xfrm>
          <a:prstGeom prst="roundRect">
            <a:avLst>
              <a:gd name="adj" fmla="val 8696"/>
            </a:avLst>
          </a:prstGeom>
          <a:solidFill>
            <a:srgbClr val="F2ECE1"/>
          </a:solidFill>
          <a:ln w="12700">
            <a:solidFill>
              <a:srgbClr val="F2ECE1"/>
            </a:solidFill>
            <a:prstDash val="solid"/>
          </a:ln>
        </p:spPr>
      </p:sp>
      <p:sp>
        <p:nvSpPr>
          <p:cNvPr id="12" name="Text 10"/>
          <p:cNvSpPr txBox="1"/>
          <p:nvPr/>
        </p:nvSpPr>
        <p:spPr>
          <a:xfrm>
            <a:off x="5577840" y="2587752"/>
            <a:ext cx="29260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double quote: a column?</a:t>
            </a:r>
            <a:endParaRPr lang="en-US" sz="1600" dirty="0"/>
          </a:p>
        </p:txBody>
      </p:sp>
      <p:sp>
        <p:nvSpPr>
          <p:cNvPr id="13" name="Text 11"/>
          <p:cNvSpPr txBox="1"/>
          <p:nvPr/>
        </p:nvSpPr>
        <p:spPr>
          <a:xfrm>
            <a:off x="5577840" y="2971800"/>
            <a:ext cx="2926080" cy="41148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fur = "fur" compared the column with itself and matched every cat with a fur. Use single quotes.</a:t>
            </a:r>
            <a:endParaRPr lang="en-US" sz="900" dirty="0"/>
          </a:p>
        </p:txBody>
      </p:sp>
      <p:sp>
        <p:nvSpPr>
          <p:cNvPr id="14" name="Shape 12"/>
          <p:cNvSpPr/>
          <p:nvPr/>
        </p:nvSpPr>
        <p:spPr>
          <a:xfrm>
            <a:off x="5394960" y="3611880"/>
            <a:ext cx="3291840" cy="914400"/>
          </a:xfrm>
          <a:prstGeom prst="roundRect">
            <a:avLst>
              <a:gd name="adj" fmla="val 10000"/>
            </a:avLst>
          </a:prstGeom>
          <a:solidFill>
            <a:srgbClr val="F2ECE1"/>
          </a:solidFill>
          <a:ln w="12700">
            <a:solidFill>
              <a:srgbClr val="F2ECE1"/>
            </a:solidFill>
            <a:prstDash val="solid"/>
          </a:ln>
        </p:spPr>
      </p:sp>
      <p:sp>
        <p:nvSpPr>
          <p:cNvPr id="15" name="Text 13"/>
          <p:cNvSpPr txBox="1"/>
          <p:nvPr/>
        </p:nvSpPr>
        <p:spPr>
          <a:xfrm>
            <a:off x="5577840" y="3730752"/>
            <a:ext cx="29260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LIKE: ASCII case only</a:t>
            </a:r>
            <a:endParaRPr lang="en-US" sz="1600" dirty="0"/>
          </a:p>
        </p:txBody>
      </p:sp>
      <p:sp>
        <p:nvSpPr>
          <p:cNvPr id="16" name="Text 14"/>
          <p:cNvSpPr txBox="1"/>
          <p:nvPr/>
        </p:nvSpPr>
        <p:spPr>
          <a:xfrm>
            <a:off x="5577840" y="4114800"/>
            <a:ext cx="2926080" cy="27432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LIKE 'A' is 1; GLOB is case-sensitive (0); 'É' LIKE 'é' is 0.</a:t>
            </a:r>
            <a:endParaRPr lang="en-US" sz="9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WHERE trusts you: NULL, double quotes and LIKE each have a trap.</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index serves some searches, not all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SEARCH uses the index, SCAN reads every row; LIKE scans, GLOB and a range search</a:t>
            </a:r>
            <a:endParaRPr lang="en-US" sz="1300" dirty="0"/>
          </a:p>
        </p:txBody>
      </p:sp>
      <p:sp>
        <p:nvSpPr>
          <p:cNvPr id="6" name="Text 4"/>
          <p:cNvSpPr txBox="1"/>
          <p:nvPr/>
        </p:nvSpPr>
        <p:spPr>
          <a:xfrm>
            <a:off x="457200" y="1371600"/>
            <a:ext cx="56235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indexPlans_v1_0_0.py</a:t>
            </a:r>
            <a:endParaRPr lang="en-US" sz="1000" dirty="0"/>
          </a:p>
        </p:txBody>
      </p:sp>
      <p:sp>
        <p:nvSpPr>
          <p:cNvPr id="7" name="Shape 5"/>
          <p:cNvSpPr/>
          <p:nvPr/>
        </p:nvSpPr>
        <p:spPr>
          <a:xfrm>
            <a:off x="457200" y="1645920"/>
            <a:ext cx="5623560" cy="1289304"/>
          </a:xfrm>
          <a:prstGeom prst="roundRect">
            <a:avLst>
              <a:gd name="adj" fmla="val 7092"/>
            </a:avLst>
          </a:prstGeom>
          <a:solidFill>
            <a:srgbClr val="23272E"/>
          </a:solidFill>
          <a:ln w="12700">
            <a:solidFill>
              <a:srgbClr val="23272E"/>
            </a:solidFill>
            <a:prstDash val="solid"/>
          </a:ln>
        </p:spPr>
      </p:sp>
      <p:sp>
        <p:nvSpPr>
          <p:cNvPr id="8" name="Text 6"/>
          <p:cNvSpPr txBox="1"/>
          <p:nvPr/>
        </p:nvSpPr>
        <p:spPr>
          <a:xfrm>
            <a:off x="640080" y="1764792"/>
            <a:ext cx="5257800" cy="1051560"/>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 'Cat0042'                       SEARCH cats USING INDEX idx_name (name=?)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GLOB 'Cat00*'                     SEARCH cats USING INDEX idx_name (name&gt;? AND name&lt;?)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&gt;= 'Cat00' AND name &lt; 'Cat01'     SEARCH cats USING INDEX idx_name (name&gt;? AND name&lt;?)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LIKE 'Cat00%'                     SCAN cats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LIKE '%42'                        SCAN cats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fur = 'black'                          SCAN cats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(100,)</a:t>
            </a:r>
            <a:endParaRPr lang="en-US" sz="700" dirty="0"/>
          </a:p>
        </p:txBody>
      </p:sp>
      <p:graphicFrame>
        <p:nvGraphicFramePr>
          <p:cNvPr id="9" name="Chart 0" descr=""/>
          <p:cNvGraphicFramePr/>
          <p:nvPr/>
        </p:nvGraphicFramePr>
        <p:xfrm>
          <a:off x="6217920" y="1325880"/>
          <a:ext cx="2468880" cy="21488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57200" y="3063240"/>
            <a:ext cx="5623560" cy="1463040"/>
          </a:xfrm>
          <a:prstGeom prst="roundRect">
            <a:avLst>
              <a:gd name="adj" fmla="val 6250"/>
            </a:avLst>
          </a:prstGeom>
          <a:solidFill>
            <a:srgbClr val="F2ECE1"/>
          </a:solidFill>
          <a:ln w="12700">
            <a:solidFill>
              <a:srgbClr val="F2ECE1"/>
            </a:solidFill>
            <a:prstDash val="solid"/>
          </a:ln>
        </p:spPr>
      </p:sp>
      <p:sp>
        <p:nvSpPr>
          <p:cNvPr id="11" name="Text 8"/>
          <p:cNvSpPr txBox="1"/>
          <p:nvPr/>
        </p:nvSpPr>
        <p:spPr>
          <a:xfrm>
            <a:off x="640080" y="3182112"/>
            <a:ext cx="52578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an index costs</a:t>
            </a:r>
            <a:endParaRPr lang="en-US" sz="1600" dirty="0"/>
          </a:p>
        </p:txBody>
      </p:sp>
      <p:sp>
        <p:nvSpPr>
          <p:cNvPr id="12" name="Text 9"/>
          <p:cNvSpPr txBox="1"/>
          <p:nvPr/>
        </p:nvSpPr>
        <p:spPr>
          <a:xfrm>
            <a:off x="640080" y="3566160"/>
            <a:ext cx="5257800" cy="82296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On 300,000 rows one search by indexed name took 0.0033 ms against 10.27 ms for a scan (3,087 times); 300,000 inserts took 4.7 times as long with two indexes (0.56 s against 0.12 s). Single runs on 12 Oct 2026; they vary with the machine.</a:t>
            </a:r>
            <a:endParaRPr lang="en-US" sz="1000" dirty="0"/>
          </a:p>
        </p:txBody>
      </p:sp>
      <p:sp>
        <p:nvSpPr>
          <p:cNvPr id="13" name="Text 10"/>
          <p:cNvSpPr txBox="1"/>
          <p:nvPr/>
        </p:nvSpPr>
        <p:spPr>
          <a:xfrm>
            <a:off x="6217920" y="3520440"/>
            <a:ext cx="24688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The chart is computed: the size of the same 10,000 rows with no index, one and two.</a:t>
            </a:r>
            <a:endParaRPr lang="en-US" sz="85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index makes a search fast and every write slower.</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Begin, then commit or roll back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transaction keeps all its changes or none; a failed statement leaves nothing behind</a:t>
            </a:r>
            <a:endParaRPr lang="en-US" sz="1300" dirty="0"/>
          </a:p>
        </p:txBody>
      </p:sp>
      <p:sp>
        <p:nvSpPr>
          <p:cNvPr id="6" name="Shape 4"/>
          <p:cNvSpPr/>
          <p:nvPr/>
        </p:nvSpPr>
        <p:spPr>
          <a:xfrm>
            <a:off x="457200" y="1475842"/>
            <a:ext cx="228600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521208" y="1615745"/>
            <a:ext cx="21579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Begin a transaction</a:t>
            </a:r>
            <a:endParaRPr lang="en-US" sz="800" dirty="0"/>
          </a:p>
        </p:txBody>
      </p:sp>
      <p:sp>
        <p:nvSpPr>
          <p:cNvPr id="8" name="Shape 6"/>
          <p:cNvSpPr/>
          <p:nvPr/>
        </p:nvSpPr>
        <p:spPr>
          <a:xfrm>
            <a:off x="457200" y="2195474"/>
            <a:ext cx="2286000" cy="420624"/>
          </a:xfrm>
          <a:prstGeom prst="roundRect">
            <a:avLst>
              <a:gd name="adj" fmla="val 17391"/>
            </a:avLst>
          </a:prstGeom>
          <a:solidFill>
            <a:srgbClr val="F2ECE1"/>
          </a:solidFill>
          <a:ln w="15875">
            <a:solidFill>
              <a:srgbClr val="2F6D62"/>
            </a:solidFill>
            <a:prstDash val="solid"/>
          </a:ln>
        </p:spPr>
      </p:sp>
      <p:sp>
        <p:nvSpPr>
          <p:cNvPr id="9" name="Text 7"/>
          <p:cNvSpPr txBox="1"/>
          <p:nvPr/>
        </p:nvSpPr>
        <p:spPr>
          <a:xfrm>
            <a:off x="521208" y="2335378"/>
            <a:ext cx="21579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Run the statements that change the data</a:t>
            </a:r>
            <a:endParaRPr lang="en-US" sz="800" dirty="0"/>
          </a:p>
        </p:txBody>
      </p:sp>
      <p:sp>
        <p:nvSpPr>
          <p:cNvPr id="10" name="Shape 8"/>
          <p:cNvSpPr/>
          <p:nvPr/>
        </p:nvSpPr>
        <p:spPr>
          <a:xfrm>
            <a:off x="457200" y="2861158"/>
            <a:ext cx="2286000" cy="530352"/>
          </a:xfrm>
          <a:prstGeom prst="hexagon">
            <a:avLst/>
          </a:prstGeom>
          <a:solidFill>
            <a:srgbClr val="D97A14"/>
          </a:solidFill>
          <a:ln w="15875">
            <a:solidFill>
              <a:srgbClr val="D97A14"/>
            </a:solidFill>
            <a:prstDash val="solid"/>
          </a:ln>
        </p:spPr>
      </p:sp>
      <p:sp>
        <p:nvSpPr>
          <p:cNvPr id="11" name="Text 9"/>
          <p:cNvSpPr txBox="1"/>
          <p:nvPr/>
        </p:nvSpPr>
        <p:spPr>
          <a:xfrm>
            <a:off x="612648" y="3055925"/>
            <a:ext cx="197510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Did every statement succeed?</a:t>
            </a:r>
            <a:endParaRPr lang="en-US" sz="800" dirty="0"/>
          </a:p>
        </p:txBody>
      </p:sp>
      <p:sp>
        <p:nvSpPr>
          <p:cNvPr id="12" name="Shape 10"/>
          <p:cNvSpPr/>
          <p:nvPr/>
        </p:nvSpPr>
        <p:spPr>
          <a:xfrm>
            <a:off x="457200" y="3635654"/>
            <a:ext cx="2286000" cy="420624"/>
          </a:xfrm>
          <a:prstGeom prst="roundRect">
            <a:avLst>
              <a:gd name="adj" fmla="val 17391"/>
            </a:avLst>
          </a:prstGeom>
          <a:solidFill>
            <a:srgbClr val="F2ECE1"/>
          </a:solidFill>
          <a:ln w="15875">
            <a:solidFill>
              <a:srgbClr val="2F6D62"/>
            </a:solidFill>
            <a:prstDash val="solid"/>
          </a:ln>
        </p:spPr>
      </p:sp>
      <p:sp>
        <p:nvSpPr>
          <p:cNvPr id="13" name="Text 11"/>
          <p:cNvSpPr txBox="1"/>
          <p:nvPr/>
        </p:nvSpPr>
        <p:spPr>
          <a:xfrm>
            <a:off x="521208" y="3775558"/>
            <a:ext cx="21579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Commit: the changes are kept</a:t>
            </a:r>
            <a:endParaRPr lang="en-US" sz="800" dirty="0"/>
          </a:p>
        </p:txBody>
      </p:sp>
      <p:sp>
        <p:nvSpPr>
          <p:cNvPr id="14" name="Shape 12"/>
          <p:cNvSpPr/>
          <p:nvPr/>
        </p:nvSpPr>
        <p:spPr>
          <a:xfrm>
            <a:off x="3063240" y="2916022"/>
            <a:ext cx="141732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3127248" y="2993746"/>
            <a:ext cx="12893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Roll back: the changes are undone</a:t>
            </a:r>
            <a:endParaRPr lang="en-US" sz="800" dirty="0"/>
          </a:p>
        </p:txBody>
      </p:sp>
      <p:sp>
        <p:nvSpPr>
          <p:cNvPr id="16" name="Shape 14"/>
          <p:cNvSpPr/>
          <p:nvPr/>
        </p:nvSpPr>
        <p:spPr>
          <a:xfrm>
            <a:off x="3680460" y="1594714"/>
            <a:ext cx="182880" cy="182880"/>
          </a:xfrm>
          <a:prstGeom prst="ellipse">
            <a:avLst/>
          </a:prstGeom>
          <a:solidFill>
            <a:srgbClr val="2B2622"/>
          </a:solidFill>
          <a:ln w="15875">
            <a:solidFill>
              <a:srgbClr val="2B2622"/>
            </a:solidFill>
            <a:prstDash val="solid"/>
          </a:ln>
        </p:spPr>
      </p:sp>
      <p:sp>
        <p:nvSpPr>
          <p:cNvPr id="17" name="Shape 15"/>
          <p:cNvSpPr/>
          <p:nvPr/>
        </p:nvSpPr>
        <p:spPr>
          <a:xfrm>
            <a:off x="3643884" y="3717950"/>
            <a:ext cx="256032" cy="256032"/>
          </a:xfrm>
          <a:prstGeom prst="ellipse">
            <a:avLst/>
          </a:prstGeom>
          <a:solidFill>
            <a:srgbClr val="FFFFFF"/>
          </a:solidFill>
          <a:ln w="25400">
            <a:solidFill>
              <a:srgbClr val="2B2622"/>
            </a:solidFill>
            <a:prstDash val="solid"/>
          </a:ln>
        </p:spPr>
      </p:sp>
      <p:sp>
        <p:nvSpPr>
          <p:cNvPr id="18" name="Shape 16"/>
          <p:cNvSpPr/>
          <p:nvPr/>
        </p:nvSpPr>
        <p:spPr>
          <a:xfrm>
            <a:off x="3698748" y="3772814"/>
            <a:ext cx="146304" cy="146304"/>
          </a:xfrm>
          <a:prstGeom prst="ellipse">
            <a:avLst/>
          </a:prstGeom>
          <a:solidFill>
            <a:srgbClr val="2B2622"/>
          </a:solidFill>
          <a:ln w="15875">
            <a:solidFill>
              <a:srgbClr val="2B2622"/>
            </a:solidFill>
            <a:prstDash val="solid"/>
          </a:ln>
        </p:spPr>
      </p:sp>
      <p:sp>
        <p:nvSpPr>
          <p:cNvPr id="19" name="Shape 17"/>
          <p:cNvSpPr/>
          <p:nvPr/>
        </p:nvSpPr>
        <p:spPr>
          <a:xfrm flipH="1">
            <a:off x="2743200" y="1686154"/>
            <a:ext cx="937260" cy="0"/>
          </a:xfrm>
          <a:prstGeom prst="line">
            <a:avLst/>
          </a:prstGeom>
          <a:noFill/>
          <a:ln w="15875">
            <a:solidFill>
              <a:srgbClr val="6E655C"/>
            </a:solidFill>
            <a:prstDash val="solid"/>
            <a:tailEnd type="triangle"/>
          </a:ln>
        </p:spPr>
      </p:sp>
      <p:sp>
        <p:nvSpPr>
          <p:cNvPr id="20" name="Shape 18"/>
          <p:cNvSpPr/>
          <p:nvPr/>
        </p:nvSpPr>
        <p:spPr>
          <a:xfrm>
            <a:off x="1600200" y="1896466"/>
            <a:ext cx="0" cy="299009"/>
          </a:xfrm>
          <a:prstGeom prst="line">
            <a:avLst/>
          </a:prstGeom>
          <a:noFill/>
          <a:ln w="15875">
            <a:solidFill>
              <a:srgbClr val="6E655C"/>
            </a:solidFill>
            <a:prstDash val="solid"/>
            <a:tailEnd type="triangle"/>
          </a:ln>
        </p:spPr>
      </p:sp>
      <p:sp>
        <p:nvSpPr>
          <p:cNvPr id="21" name="Shape 19"/>
          <p:cNvSpPr/>
          <p:nvPr/>
        </p:nvSpPr>
        <p:spPr>
          <a:xfrm>
            <a:off x="1600200" y="2616098"/>
            <a:ext cx="0" cy="245059"/>
          </a:xfrm>
          <a:prstGeom prst="line">
            <a:avLst/>
          </a:prstGeom>
          <a:noFill/>
          <a:ln w="15875">
            <a:solidFill>
              <a:srgbClr val="6E655C"/>
            </a:solidFill>
            <a:prstDash val="solid"/>
            <a:tailEnd type="triangle"/>
          </a:ln>
        </p:spPr>
      </p:sp>
      <p:sp>
        <p:nvSpPr>
          <p:cNvPr id="22" name="Shape 20"/>
          <p:cNvSpPr/>
          <p:nvPr/>
        </p:nvSpPr>
        <p:spPr>
          <a:xfrm>
            <a:off x="1600200" y="3391510"/>
            <a:ext cx="0" cy="244145"/>
          </a:xfrm>
          <a:prstGeom prst="line">
            <a:avLst/>
          </a:prstGeom>
          <a:noFill/>
          <a:ln w="15875">
            <a:solidFill>
              <a:srgbClr val="6E655C"/>
            </a:solidFill>
            <a:prstDash val="solid"/>
            <a:tailEnd type="triangle"/>
          </a:ln>
        </p:spPr>
      </p:sp>
      <p:sp>
        <p:nvSpPr>
          <p:cNvPr id="23" name="Text 21"/>
          <p:cNvSpPr txBox="1"/>
          <p:nvPr/>
        </p:nvSpPr>
        <p:spPr>
          <a:xfrm>
            <a:off x="1655064" y="3431743"/>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4" name="Shape 22"/>
          <p:cNvSpPr/>
          <p:nvPr/>
        </p:nvSpPr>
        <p:spPr>
          <a:xfrm>
            <a:off x="2743200" y="3126334"/>
            <a:ext cx="320040" cy="0"/>
          </a:xfrm>
          <a:prstGeom prst="line">
            <a:avLst/>
          </a:prstGeom>
          <a:noFill/>
          <a:ln w="15875">
            <a:solidFill>
              <a:srgbClr val="6E655C"/>
            </a:solidFill>
            <a:prstDash val="solid"/>
            <a:tailEnd type="triangle"/>
          </a:ln>
        </p:spPr>
      </p:sp>
      <p:sp>
        <p:nvSpPr>
          <p:cNvPr id="25" name="Text 23"/>
          <p:cNvSpPr txBox="1"/>
          <p:nvPr/>
        </p:nvSpPr>
        <p:spPr>
          <a:xfrm>
            <a:off x="2788920" y="294345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6" name="Shape 24"/>
          <p:cNvSpPr/>
          <p:nvPr/>
        </p:nvSpPr>
        <p:spPr>
          <a:xfrm>
            <a:off x="2743200" y="3845966"/>
            <a:ext cx="900684" cy="0"/>
          </a:xfrm>
          <a:prstGeom prst="line">
            <a:avLst/>
          </a:prstGeom>
          <a:noFill/>
          <a:ln w="15875">
            <a:solidFill>
              <a:srgbClr val="6E655C"/>
            </a:solidFill>
            <a:prstDash val="solid"/>
            <a:tailEnd type="triangle"/>
          </a:ln>
        </p:spPr>
      </p:sp>
      <p:sp>
        <p:nvSpPr>
          <p:cNvPr id="27" name="Shape 25"/>
          <p:cNvSpPr/>
          <p:nvPr/>
        </p:nvSpPr>
        <p:spPr>
          <a:xfrm>
            <a:off x="3771900" y="3336646"/>
            <a:ext cx="0" cy="381305"/>
          </a:xfrm>
          <a:prstGeom prst="line">
            <a:avLst/>
          </a:prstGeom>
          <a:noFill/>
          <a:ln w="15875">
            <a:solidFill>
              <a:srgbClr val="6E655C"/>
            </a:solidFill>
            <a:prstDash val="solid"/>
            <a:tailEnd type="triangle"/>
          </a:ln>
        </p:spPr>
      </p:sp>
      <p:sp>
        <p:nvSpPr>
          <p:cNvPr id="28" name="Text 26"/>
          <p:cNvSpPr txBox="1"/>
          <p:nvPr/>
        </p:nvSpPr>
        <p:spPr>
          <a:xfrm>
            <a:off x="457200" y="423367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ATransactionEnds - Workflow pattern, 16 of 16 words grounded in the chapter's text</a:t>
            </a:r>
            <a:endParaRPr lang="en-US" sz="850" dirty="0"/>
          </a:p>
        </p:txBody>
      </p:sp>
      <p:sp>
        <p:nvSpPr>
          <p:cNvPr id="29" name="Shape 27"/>
          <p:cNvSpPr/>
          <p:nvPr/>
        </p:nvSpPr>
        <p:spPr>
          <a:xfrm>
            <a:off x="4663440" y="1371600"/>
            <a:ext cx="4023360" cy="3191256"/>
          </a:xfrm>
          <a:prstGeom prst="roundRect">
            <a:avLst>
              <a:gd name="adj" fmla="val 2865"/>
            </a:avLst>
          </a:prstGeom>
          <a:solidFill>
            <a:srgbClr val="23272E"/>
          </a:solidFill>
          <a:ln w="12700">
            <a:solidFill>
              <a:srgbClr val="23272E"/>
            </a:solidFill>
            <a:prstDash val="solid"/>
          </a:ln>
        </p:spPr>
      </p:sp>
      <p:sp>
        <p:nvSpPr>
          <p:cNvPr id="30" name="Text 28"/>
          <p:cNvSpPr txBox="1"/>
          <p:nvPr/>
        </p:nvSpPr>
        <p:spPr>
          <a:xfrm>
            <a:off x="4846320" y="1490472"/>
            <a:ext cx="3657600" cy="2953512"/>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import sqlite3</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conn = sqlite3.connect(':memory:', isolation_level=None)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do = lambda sql: conn.execute(sql).close()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run = lambda sql: conn.execute(sql).fetchall()</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do('CREATE TABLE t (a INTEGER NOT NULL)')</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do('BEGIN')</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do('INSERT INTO t VALUES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conn.in_transaction</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True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conn.rollback()</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run('SELECT count(*) FROM 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[(0,)]</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do('BEGIN')</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do('INSERT INTO t VALUES (2)')</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conn.commit()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run('SELECT count(*) FROM 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do('INSERT INTO t VALUES (3), (4), (NULL)')</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IntegrityError: NOT NULL constraint failed: t.a</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run('SELECT count(*) FROM 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a:t>
            </a:r>
            <a:endParaRPr lang="en-US" sz="76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is all of its changes or none.</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ways to begin a transaction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default, autocommit=False and autocommit=True answer rollback() differently</a:t>
            </a:r>
            <a:endParaRPr lang="en-US" sz="1300" dirty="0"/>
          </a:p>
        </p:txBody>
      </p:sp>
      <p:sp>
        <p:nvSpPr>
          <p:cNvPr id="6" name="Text 4"/>
          <p:cNvSpPr txBox="1"/>
          <p:nvPr/>
        </p:nvSpPr>
        <p:spPr>
          <a:xfrm>
            <a:off x="457200" y="1143000"/>
            <a:ext cx="737006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transactions_v1_0_0.py, lines 13 to 24 of 24</a:t>
            </a:r>
            <a:endParaRPr lang="en-US" sz="1000" dirty="0"/>
          </a:p>
        </p:txBody>
      </p:sp>
      <p:sp>
        <p:nvSpPr>
          <p:cNvPr id="7" name="Shape 5"/>
          <p:cNvSpPr/>
          <p:nvPr/>
        </p:nvSpPr>
        <p:spPr>
          <a:xfrm>
            <a:off x="457200" y="1417320"/>
            <a:ext cx="7370064" cy="2697480"/>
          </a:xfrm>
          <a:prstGeom prst="roundRect">
            <a:avLst>
              <a:gd name="adj" fmla="val 3390"/>
            </a:avLst>
          </a:prstGeom>
          <a:solidFill>
            <a:srgbClr val="23272E"/>
          </a:solidFill>
          <a:ln w="12700">
            <a:solidFill>
              <a:srgbClr val="23272E"/>
            </a:solidFill>
            <a:prstDash val="solid"/>
          </a:ln>
        </p:spPr>
      </p:sp>
      <p:sp>
        <p:nvSpPr>
          <p:cNvPr id="8" name="Text 6"/>
          <p:cNvSpPr txBox="1"/>
          <p:nvPr/>
        </p:nvSpPr>
        <p:spPr>
          <a:xfrm>
            <a:off x="640080" y="1536192"/>
            <a:ext cx="7004304" cy="2459736"/>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conn = sqlite3.connect(</a:t>
            </a:r>
            <a:r>
              <a:rPr lang="en-US" sz="750" dirty="0">
                <a:solidFill>
                  <a:srgbClr val="9ECBFF"/>
                </a:solidFill>
                <a:latin typeface="Courier New" pitchFamily="34" charset="0"/>
                <a:ea typeface="Courier New" pitchFamily="34" charset="-122"/>
                <a:cs typeface="Courier New" pitchFamily="34" charset="-120"/>
              </a:rPr>
              <a:t>':memory:'</a:t>
            </a:r>
            <a:r>
              <a:rPr lang="en-US" sz="750" dirty="0">
                <a:solidFill>
                  <a:srgbClr val="E6EDF3"/>
                </a:solidFill>
                <a:latin typeface="Courier New" pitchFamily="34" charset="0"/>
                <a:ea typeface="Courier New" pitchFamily="34" charset="-122"/>
                <a:cs typeface="Courier New" pitchFamily="34" charset="-120"/>
              </a:rPr>
              <a:t>, isolation_level=</a:t>
            </a:r>
            <a:r>
              <a:rPr lang="en-US" sz="750" b="1" dirty="0">
                <a:solidFill>
                  <a:srgbClr val="F2A860"/>
                </a:solidFill>
                <a:latin typeface="Courier New" pitchFamily="34" charset="0"/>
                <a:ea typeface="Courier New" pitchFamily="34" charset="-122"/>
                <a:cs typeface="Courier New" pitchFamily="34" charset="-120"/>
              </a:rPr>
              <a:t>None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conn.execute(</a:t>
            </a:r>
            <a:r>
              <a:rPr lang="en-US" sz="750" dirty="0">
                <a:solidFill>
                  <a:srgbClr val="9ECBFF"/>
                </a:solidFill>
                <a:latin typeface="Courier New" pitchFamily="34" charset="0"/>
                <a:ea typeface="Courier New" pitchFamily="34" charset="-122"/>
                <a:cs typeface="Courier New" pitchFamily="34" charset="-120"/>
              </a:rPr>
              <a:t>'CREATE TABLE t (a INTEGER NOT NULL)'</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try: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conn:</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conn.execute(</a:t>
            </a:r>
            <a:r>
              <a:rPr lang="en-US" sz="750" dirty="0">
                <a:solidFill>
                  <a:srgbClr val="9ECBFF"/>
                </a:solidFill>
                <a:latin typeface="Courier New" pitchFamily="34" charset="0"/>
                <a:ea typeface="Courier New" pitchFamily="34" charset="-122"/>
                <a:cs typeface="Courier New" pitchFamily="34" charset="-120"/>
              </a:rPr>
              <a:t>'BEGIN'</a:t>
            </a:r>
            <a:r>
              <a:rPr lang="en-US" sz="750" dirty="0">
                <a:solidFill>
                  <a:srgbClr val="E6EDF3"/>
                </a:solidFill>
                <a:latin typeface="Courier New" pitchFamily="34" charset="0"/>
                <a:ea typeface="Courier New" pitchFamily="34" charset="-122"/>
                <a:cs typeface="Courier New" pitchFamily="34" charset="-120"/>
              </a:rPr>
              <a:t>); conn.execute(</a:t>
            </a:r>
            <a:r>
              <a:rPr lang="en-US" sz="750" dirty="0">
                <a:solidFill>
                  <a:srgbClr val="9ECBFF"/>
                </a:solidFill>
                <a:latin typeface="Courier New" pitchFamily="34" charset="0"/>
                <a:ea typeface="Courier New" pitchFamily="34" charset="-122"/>
                <a:cs typeface="Courier New" pitchFamily="34" charset="-120"/>
              </a:rPr>
              <a:t>'INSERT INTO t VALUES (1)'</a:t>
            </a:r>
            <a:r>
              <a:rPr lang="en-US" sz="750" dirty="0">
                <a:solidFill>
                  <a:srgbClr val="E6EDF3"/>
                </a:solidFill>
                <a:latin typeface="Courier New" pitchFamily="34" charset="0"/>
                <a:ea typeface="Courier New" pitchFamily="34" charset="-122"/>
                <a:cs typeface="Courier New" pitchFamily="34" charset="-120"/>
              </a:rPr>
              <a:t>); conn.execute(</a:t>
            </a:r>
            <a:r>
              <a:rPr lang="en-US" sz="750" dirty="0">
                <a:solidFill>
                  <a:srgbClr val="9ECBFF"/>
                </a:solidFill>
                <a:latin typeface="Courier New" pitchFamily="34" charset="0"/>
                <a:ea typeface="Courier New" pitchFamily="34" charset="-122"/>
                <a:cs typeface="Courier New" pitchFamily="34" charset="-120"/>
              </a:rPr>
              <a:t>'INSERT INTO t VALUES (NULL)'</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except sqlite3.IntegrityError as 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'rows after the failed block:'</a:t>
            </a:r>
            <a:r>
              <a:rPr lang="en-US" sz="750" dirty="0">
                <a:solidFill>
                  <a:srgbClr val="E6EDF3"/>
                </a:solidFill>
                <a:latin typeface="Courier New" pitchFamily="34" charset="0"/>
                <a:ea typeface="Courier New" pitchFamily="34" charset="-122"/>
                <a:cs typeface="Courier New" pitchFamily="34" charset="-120"/>
              </a:rPr>
              <a:t>, conn.execute(</a:t>
            </a:r>
            <a:r>
              <a:rPr lang="en-US" sz="750" dirty="0">
                <a:solidFill>
                  <a:srgbClr val="9ECBFF"/>
                </a:solidFill>
                <a:latin typeface="Courier New" pitchFamily="34" charset="0"/>
                <a:ea typeface="Courier New" pitchFamily="34" charset="-122"/>
                <a:cs typeface="Courier New" pitchFamily="34" charset="-120"/>
              </a:rPr>
              <a:t>'SELECT count(*) FROM t'</a:t>
            </a:r>
            <a:r>
              <a:rPr lang="en-US" sz="750" dirty="0">
                <a:solidFill>
                  <a:srgbClr val="E6EDF3"/>
                </a:solidFill>
                <a:latin typeface="Courier New" pitchFamily="34" charset="0"/>
                <a:ea typeface="Courier New" pitchFamily="34" charset="-122"/>
                <a:cs typeface="Courier New" pitchFamily="34" charset="-120"/>
              </a:rPr>
              <a:t>).fetchone()[</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try: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conn.execute(</a:t>
            </a:r>
            <a:r>
              <a:rPr lang="en-US" sz="750" dirty="0">
                <a:solidFill>
                  <a:srgbClr val="9ECBFF"/>
                </a:solidFill>
                <a:latin typeface="Courier New" pitchFamily="34" charset="0"/>
                <a:ea typeface="Courier New" pitchFamily="34" charset="-122"/>
                <a:cs typeface="Courier New" pitchFamily="34" charset="-120"/>
              </a:rPr>
              <a:t>'INSERT INTO t VALUES (1), (2), (NULL)'</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except sqlite3.IntegrityError:</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'one statement is atomic, rows:'</a:t>
            </a:r>
            <a:r>
              <a:rPr lang="en-US" sz="750" dirty="0">
                <a:solidFill>
                  <a:srgbClr val="E6EDF3"/>
                </a:solidFill>
                <a:latin typeface="Courier New" pitchFamily="34" charset="0"/>
                <a:ea typeface="Courier New" pitchFamily="34" charset="-122"/>
                <a:cs typeface="Courier New" pitchFamily="34" charset="-120"/>
              </a:rPr>
              <a:t>, conn.execute(</a:t>
            </a:r>
            <a:r>
              <a:rPr lang="en-US" sz="750" dirty="0">
                <a:solidFill>
                  <a:srgbClr val="9ECBFF"/>
                </a:solidFill>
                <a:latin typeface="Courier New" pitchFamily="34" charset="0"/>
                <a:ea typeface="Courier New" pitchFamily="34" charset="-122"/>
                <a:cs typeface="Courier New" pitchFamily="34" charset="-120"/>
              </a:rPr>
              <a:t>'SELECT count(*) FROM t'</a:t>
            </a:r>
            <a:r>
              <a:rPr lang="en-US" sz="750" dirty="0">
                <a:solidFill>
                  <a:srgbClr val="E6EDF3"/>
                </a:solidFill>
                <a:latin typeface="Courier New" pitchFamily="34" charset="0"/>
                <a:ea typeface="Courier New" pitchFamily="34" charset="-122"/>
                <a:cs typeface="Courier New" pitchFamily="34" charset="-120"/>
              </a:rPr>
              <a:t>).fetchone()[</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default | in a transaction before rollback: True | rows after rollback: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autocommit=False | in a transaction before rollback: True | rows after rollback: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autocommit=True | in a transaction before rollback: False | rows after rollback: 1</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NOT NULL constraint failed: t.a</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rows after the failed block: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one statement is atomic, rows: 0</a:t>
            </a:r>
            <a:endParaRPr lang="en-US" sz="750" dirty="0"/>
          </a:p>
        </p:txBody>
      </p:sp>
      <p:sp>
        <p:nvSpPr>
          <p:cNvPr id="9" name="Text 7"/>
          <p:cNvSpPr txBox="1"/>
          <p:nvPr/>
        </p:nvSpPr>
        <p:spPr>
          <a:xfrm>
            <a:off x="457200" y="4160520"/>
            <a:ext cx="82296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The first three lines of the transcript come from a loop over the three modes (lines 3 to 12, not shown). Python 3.12 added the autocommit attribute, absent on 3.11.17; with autocommit=True a rollback() left the row. A with block commits or rolls back and does not close.</a:t>
            </a:r>
            <a:endParaRPr lang="en-US" sz="8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which mode you are in before you trust rollback().</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writers, one file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writer holds the lock, the other is told it is locked; WAL lets readers in</a:t>
            </a:r>
            <a:endParaRPr lang="en-US" sz="1300" dirty="0"/>
          </a:p>
        </p:txBody>
      </p:sp>
      <p:sp>
        <p:nvSpPr>
          <p:cNvPr id="6" name="Shape 4"/>
          <p:cNvSpPr/>
          <p:nvPr/>
        </p:nvSpPr>
        <p:spPr>
          <a:xfrm>
            <a:off x="502920" y="1325880"/>
            <a:ext cx="132588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431950"/>
            <a:ext cx="12161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first writer</a:t>
            </a:r>
            <a:endParaRPr lang="en-US" sz="1000" dirty="0"/>
          </a:p>
        </p:txBody>
      </p:sp>
      <p:sp>
        <p:nvSpPr>
          <p:cNvPr id="8" name="Shape 6"/>
          <p:cNvSpPr/>
          <p:nvPr/>
        </p:nvSpPr>
        <p:spPr>
          <a:xfrm>
            <a:off x="1165860" y="1709928"/>
            <a:ext cx="0" cy="2496312"/>
          </a:xfrm>
          <a:prstGeom prst="line">
            <a:avLst/>
          </a:prstGeom>
          <a:noFill/>
          <a:ln w="19050">
            <a:solidFill>
              <a:srgbClr val="DFD6C7"/>
            </a:solidFill>
            <a:prstDash val="dash"/>
          </a:ln>
        </p:spPr>
      </p:sp>
      <p:sp>
        <p:nvSpPr>
          <p:cNvPr id="9" name="Shape 7"/>
          <p:cNvSpPr/>
          <p:nvPr/>
        </p:nvSpPr>
        <p:spPr>
          <a:xfrm>
            <a:off x="2080260" y="1325880"/>
            <a:ext cx="132588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2135124" y="1431950"/>
            <a:ext cx="12161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second writer</a:t>
            </a:r>
            <a:endParaRPr lang="en-US" sz="1000" dirty="0"/>
          </a:p>
        </p:txBody>
      </p:sp>
      <p:sp>
        <p:nvSpPr>
          <p:cNvPr id="11" name="Shape 9"/>
          <p:cNvSpPr/>
          <p:nvPr/>
        </p:nvSpPr>
        <p:spPr>
          <a:xfrm>
            <a:off x="2743200" y="1709928"/>
            <a:ext cx="0" cy="2496312"/>
          </a:xfrm>
          <a:prstGeom prst="line">
            <a:avLst/>
          </a:prstGeom>
          <a:noFill/>
          <a:ln w="19050">
            <a:solidFill>
              <a:srgbClr val="DFD6C7"/>
            </a:solidFill>
            <a:prstDash val="dash"/>
          </a:ln>
        </p:spPr>
      </p:sp>
      <p:sp>
        <p:nvSpPr>
          <p:cNvPr id="12" name="Shape 10"/>
          <p:cNvSpPr/>
          <p:nvPr/>
        </p:nvSpPr>
        <p:spPr>
          <a:xfrm>
            <a:off x="3657600" y="1325880"/>
            <a:ext cx="132588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712464" y="1431950"/>
            <a:ext cx="12161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database file</a:t>
            </a:r>
            <a:endParaRPr lang="en-US" sz="1000" dirty="0"/>
          </a:p>
        </p:txBody>
      </p:sp>
      <p:sp>
        <p:nvSpPr>
          <p:cNvPr id="14" name="Shape 12"/>
          <p:cNvSpPr/>
          <p:nvPr/>
        </p:nvSpPr>
        <p:spPr>
          <a:xfrm>
            <a:off x="4320540" y="1709928"/>
            <a:ext cx="0" cy="2496312"/>
          </a:xfrm>
          <a:prstGeom prst="line">
            <a:avLst/>
          </a:prstGeom>
          <a:noFill/>
          <a:ln w="19050">
            <a:solidFill>
              <a:srgbClr val="DFD6C7"/>
            </a:solidFill>
            <a:prstDash val="dash"/>
          </a:ln>
        </p:spPr>
      </p:sp>
      <p:sp>
        <p:nvSpPr>
          <p:cNvPr id="15" name="Shape 13"/>
          <p:cNvSpPr/>
          <p:nvPr/>
        </p:nvSpPr>
        <p:spPr>
          <a:xfrm>
            <a:off x="1165860" y="2090318"/>
            <a:ext cx="3154680" cy="0"/>
          </a:xfrm>
          <a:prstGeom prst="line">
            <a:avLst/>
          </a:prstGeom>
          <a:noFill/>
          <a:ln w="22225">
            <a:solidFill>
              <a:srgbClr val="D97A14"/>
            </a:solidFill>
            <a:prstDash val="solid"/>
            <a:tailEnd type="triangle"/>
          </a:ln>
        </p:spPr>
      </p:sp>
      <p:sp>
        <p:nvSpPr>
          <p:cNvPr id="16" name="Text 14"/>
          <p:cNvSpPr txBox="1"/>
          <p:nvPr/>
        </p:nvSpPr>
        <p:spPr>
          <a:xfrm>
            <a:off x="1257300" y="1902866"/>
            <a:ext cx="297180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Begins a write and holds the lock</a:t>
            </a:r>
            <a:endParaRPr lang="en-US" sz="800" dirty="0"/>
          </a:p>
        </p:txBody>
      </p:sp>
      <p:sp>
        <p:nvSpPr>
          <p:cNvPr id="17" name="Shape 15"/>
          <p:cNvSpPr/>
          <p:nvPr/>
        </p:nvSpPr>
        <p:spPr>
          <a:xfrm>
            <a:off x="2743200" y="2490826"/>
            <a:ext cx="1577340" cy="0"/>
          </a:xfrm>
          <a:prstGeom prst="line">
            <a:avLst/>
          </a:prstGeom>
          <a:noFill/>
          <a:ln w="22225">
            <a:solidFill>
              <a:srgbClr val="D97A14"/>
            </a:solidFill>
            <a:prstDash val="solid"/>
            <a:tailEnd type="triangle"/>
          </a:ln>
        </p:spPr>
      </p:sp>
      <p:sp>
        <p:nvSpPr>
          <p:cNvPr id="18" name="Text 16"/>
          <p:cNvSpPr txBox="1"/>
          <p:nvPr/>
        </p:nvSpPr>
        <p:spPr>
          <a:xfrm>
            <a:off x="2834640" y="2180844"/>
            <a:ext cx="139446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Asks to write at the same time</a:t>
            </a:r>
            <a:endParaRPr lang="en-US" sz="800" dirty="0"/>
          </a:p>
        </p:txBody>
      </p:sp>
      <p:sp>
        <p:nvSpPr>
          <p:cNvPr id="19" name="Shape 17"/>
          <p:cNvSpPr/>
          <p:nvPr/>
        </p:nvSpPr>
        <p:spPr>
          <a:xfrm flipH="1">
            <a:off x="2743200" y="2891333"/>
            <a:ext cx="1577340" cy="0"/>
          </a:xfrm>
          <a:prstGeom prst="line">
            <a:avLst/>
          </a:prstGeom>
          <a:noFill/>
          <a:ln w="22225">
            <a:solidFill>
              <a:srgbClr val="6E655C"/>
            </a:solidFill>
            <a:prstDash val="dash"/>
            <a:tailEnd type="triangle"/>
          </a:ln>
        </p:spPr>
      </p:sp>
      <p:sp>
        <p:nvSpPr>
          <p:cNvPr id="20" name="Text 18"/>
          <p:cNvSpPr txBox="1"/>
          <p:nvPr/>
        </p:nvSpPr>
        <p:spPr>
          <a:xfrm>
            <a:off x="2834640" y="2581351"/>
            <a:ext cx="13944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Answers that the database is locked</a:t>
            </a:r>
            <a:endParaRPr lang="en-US" sz="800" dirty="0"/>
          </a:p>
        </p:txBody>
      </p:sp>
      <p:sp>
        <p:nvSpPr>
          <p:cNvPr id="21" name="Shape 19"/>
          <p:cNvSpPr/>
          <p:nvPr/>
        </p:nvSpPr>
        <p:spPr>
          <a:xfrm>
            <a:off x="1165860" y="3292754"/>
            <a:ext cx="3154680" cy="0"/>
          </a:xfrm>
          <a:prstGeom prst="line">
            <a:avLst/>
          </a:prstGeom>
          <a:noFill/>
          <a:ln w="22225">
            <a:solidFill>
              <a:srgbClr val="D97A14"/>
            </a:solidFill>
            <a:prstDash val="solid"/>
            <a:tailEnd type="triangle"/>
          </a:ln>
        </p:spPr>
      </p:sp>
      <p:sp>
        <p:nvSpPr>
          <p:cNvPr id="22" name="Text 20"/>
          <p:cNvSpPr txBox="1"/>
          <p:nvPr/>
        </p:nvSpPr>
        <p:spPr>
          <a:xfrm>
            <a:off x="1257300" y="3105302"/>
            <a:ext cx="297180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Commits the transaction and releases the lock</a:t>
            </a:r>
            <a:endParaRPr lang="en-US" sz="800" dirty="0"/>
          </a:p>
        </p:txBody>
      </p:sp>
      <p:sp>
        <p:nvSpPr>
          <p:cNvPr id="23" name="Shape 21"/>
          <p:cNvSpPr/>
          <p:nvPr/>
        </p:nvSpPr>
        <p:spPr>
          <a:xfrm>
            <a:off x="2743200" y="3693262"/>
            <a:ext cx="1577340" cy="0"/>
          </a:xfrm>
          <a:prstGeom prst="line">
            <a:avLst/>
          </a:prstGeom>
          <a:noFill/>
          <a:ln w="22225">
            <a:solidFill>
              <a:srgbClr val="D97A14"/>
            </a:solidFill>
            <a:prstDash val="solid"/>
            <a:tailEnd type="triangle"/>
          </a:ln>
        </p:spPr>
      </p:sp>
      <p:sp>
        <p:nvSpPr>
          <p:cNvPr id="24" name="Text 22"/>
          <p:cNvSpPr txBox="1"/>
          <p:nvPr/>
        </p:nvSpPr>
        <p:spPr>
          <a:xfrm>
            <a:off x="2834640" y="3383280"/>
            <a:ext cx="139446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Writes after waiting for the lock</a:t>
            </a:r>
            <a:endParaRPr lang="en-US" sz="800" dirty="0"/>
          </a:p>
        </p:txBody>
      </p:sp>
      <p:sp>
        <p:nvSpPr>
          <p:cNvPr id="25" name="Shape 23"/>
          <p:cNvSpPr/>
          <p:nvPr/>
        </p:nvSpPr>
        <p:spPr>
          <a:xfrm flipH="1">
            <a:off x="2743200" y="4093769"/>
            <a:ext cx="1577340" cy="0"/>
          </a:xfrm>
          <a:prstGeom prst="line">
            <a:avLst/>
          </a:prstGeom>
          <a:noFill/>
          <a:ln w="22225">
            <a:solidFill>
              <a:srgbClr val="6E655C"/>
            </a:solidFill>
            <a:prstDash val="dash"/>
            <a:tailEnd type="triangle"/>
          </a:ln>
        </p:spPr>
      </p:sp>
      <p:sp>
        <p:nvSpPr>
          <p:cNvPr id="26" name="Text 24"/>
          <p:cNvSpPr txBox="1"/>
          <p:nvPr/>
        </p:nvSpPr>
        <p:spPr>
          <a:xfrm>
            <a:off x="2834640" y="3907231"/>
            <a:ext cx="139446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Confirms the write</a:t>
            </a:r>
            <a:endParaRPr lang="en-US" sz="800" dirty="0"/>
          </a:p>
        </p:txBody>
      </p:sp>
      <p:sp>
        <p:nvSpPr>
          <p:cNvPr id="27" name="Text 25"/>
          <p:cNvSpPr txBox="1"/>
          <p:nvPr/>
        </p:nvSpPr>
        <p:spPr>
          <a:xfrm>
            <a:off x="457200" y="4233672"/>
            <a:ext cx="45720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TwoWritersOneFile - Interaction pattern, 23 of 27 words grounded in the chapter's text</a:t>
            </a:r>
            <a:endParaRPr lang="en-US" sz="850" dirty="0"/>
          </a:p>
        </p:txBody>
      </p:sp>
      <p:sp>
        <p:nvSpPr>
          <p:cNvPr id="28" name="Text 26"/>
          <p:cNvSpPr txBox="1"/>
          <p:nvPr/>
        </p:nvSpPr>
        <p:spPr>
          <a:xfrm>
            <a:off x="5212080" y="1097280"/>
            <a:ext cx="34747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twoWriters_v1_0_0.py</a:t>
            </a:r>
            <a:endParaRPr lang="en-US" sz="1000" dirty="0"/>
          </a:p>
        </p:txBody>
      </p:sp>
      <p:sp>
        <p:nvSpPr>
          <p:cNvPr id="29" name="Shape 27"/>
          <p:cNvSpPr/>
          <p:nvPr/>
        </p:nvSpPr>
        <p:spPr>
          <a:xfrm>
            <a:off x="5212080" y="1371600"/>
            <a:ext cx="3474720" cy="1161288"/>
          </a:xfrm>
          <a:prstGeom prst="roundRect">
            <a:avLst>
              <a:gd name="adj" fmla="val 7874"/>
            </a:avLst>
          </a:prstGeom>
          <a:solidFill>
            <a:srgbClr val="23272E"/>
          </a:solidFill>
          <a:ln w="12700">
            <a:solidFill>
              <a:srgbClr val="23272E"/>
            </a:solidFill>
            <a:prstDash val="solid"/>
          </a:ln>
        </p:spPr>
      </p:sp>
      <p:sp>
        <p:nvSpPr>
          <p:cNvPr id="30" name="Text 28"/>
          <p:cNvSpPr txBox="1"/>
          <p:nvPr/>
        </p:nvSpPr>
        <p:spPr>
          <a:xfrm>
            <a:off x="5394960" y="1490472"/>
            <a:ext cx="3108960" cy="92354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journal mode delete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second writer: database is locked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reader in delete mode: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journal mode wal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reader in WAL mode: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commit: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['shared.db', 'shared.db-shm', 'shared.db-wal']</a:t>
            </a:r>
            <a:endParaRPr lang="en-US" sz="700" dirty="0"/>
          </a:p>
        </p:txBody>
      </p:sp>
      <p:sp>
        <p:nvSpPr>
          <p:cNvPr id="31" name="Shape 29"/>
          <p:cNvSpPr/>
          <p:nvPr/>
        </p:nvSpPr>
        <p:spPr>
          <a:xfrm>
            <a:off x="5212080" y="2670048"/>
            <a:ext cx="3474720" cy="1856232"/>
          </a:xfrm>
          <a:prstGeom prst="roundRect">
            <a:avLst>
              <a:gd name="adj" fmla="val 4926"/>
            </a:avLst>
          </a:prstGeom>
          <a:solidFill>
            <a:srgbClr val="F2ECE1"/>
          </a:solidFill>
          <a:ln w="12700">
            <a:solidFill>
              <a:srgbClr val="F2ECE1"/>
            </a:solidFill>
            <a:prstDash val="solid"/>
          </a:ln>
        </p:spPr>
      </p:sp>
      <p:sp>
        <p:nvSpPr>
          <p:cNvPr id="32" name="Text 30"/>
          <p:cNvSpPr txBox="1"/>
          <p:nvPr/>
        </p:nvSpPr>
        <p:spPr>
          <a:xfrm>
            <a:off x="5394960" y="2788920"/>
            <a:ext cx="31089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1,000 writers, one file</a:t>
            </a:r>
            <a:endParaRPr lang="en-US" sz="1600" dirty="0"/>
          </a:p>
        </p:txBody>
      </p:sp>
      <p:sp>
        <p:nvSpPr>
          <p:cNvPr id="33" name="Text 31"/>
          <p:cNvSpPr txBox="1"/>
          <p:nvPr/>
        </p:nvSpPr>
        <p:spPr>
          <a:xfrm>
            <a:off x="5394960" y="3172968"/>
            <a:ext cx="3108960" cy="1216152"/>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5,000 rows stored, no error: 52.6 s with the rollback journal, 4.24 s with WAL (100 writers: 1.80 s and 0.83 s). Single run on one machine, 12 Oct 2026: the limit is throughput, not correctness.</a:t>
            </a:r>
            <a:endParaRPr lang="en-US" sz="9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Many writers do not lose data in SQLite; they wait.</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rowid is not a promise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largest rowid is handed out again; VACUUM renumbers a table without a key</a:t>
            </a:r>
            <a:endParaRPr lang="en-US" sz="1300" dirty="0"/>
          </a:p>
        </p:txBody>
      </p:sp>
      <p:sp>
        <p:nvSpPr>
          <p:cNvPr id="6" name="Shape 4"/>
          <p:cNvSpPr/>
          <p:nvPr/>
        </p:nvSpPr>
        <p:spPr>
          <a:xfrm>
            <a:off x="457200" y="1600200"/>
            <a:ext cx="1417320" cy="530352"/>
          </a:xfrm>
          <a:prstGeom prst="roundRect">
            <a:avLst>
              <a:gd name="adj" fmla="val 13793"/>
            </a:avLst>
          </a:prstGeom>
          <a:solidFill>
            <a:srgbClr val="2F6D62"/>
          </a:solidFill>
          <a:ln w="15875">
            <a:solidFill>
              <a:srgbClr val="2F6D62"/>
            </a:solidFill>
            <a:prstDash val="solid"/>
          </a:ln>
        </p:spPr>
      </p:sp>
      <p:sp>
        <p:nvSpPr>
          <p:cNvPr id="7" name="Text 5"/>
          <p:cNvSpPr txBox="1"/>
          <p:nvPr/>
        </p:nvSpPr>
        <p:spPr>
          <a:xfrm>
            <a:off x="512064" y="1779422"/>
            <a:ext cx="130759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 row yet</a:t>
            </a:r>
            <a:endParaRPr lang="en-US" sz="1000" dirty="0"/>
          </a:p>
        </p:txBody>
      </p:sp>
      <p:sp>
        <p:nvSpPr>
          <p:cNvPr id="8" name="Shape 6"/>
          <p:cNvSpPr/>
          <p:nvPr/>
        </p:nvSpPr>
        <p:spPr>
          <a:xfrm>
            <a:off x="3863340" y="1600200"/>
            <a:ext cx="1417320" cy="530352"/>
          </a:xfrm>
          <a:prstGeom prst="roundRect">
            <a:avLst>
              <a:gd name="adj" fmla="val 13793"/>
            </a:avLst>
          </a:prstGeom>
          <a:solidFill>
            <a:srgbClr val="2F6D62"/>
          </a:solidFill>
          <a:ln w="15875">
            <a:solidFill>
              <a:srgbClr val="2F6D62"/>
            </a:solidFill>
            <a:prstDash val="solid"/>
          </a:ln>
        </p:spPr>
      </p:sp>
      <p:sp>
        <p:nvSpPr>
          <p:cNvPr id="9" name="Text 7"/>
          <p:cNvSpPr txBox="1"/>
          <p:nvPr/>
        </p:nvSpPr>
        <p:spPr>
          <a:xfrm>
            <a:off x="3918204" y="1779422"/>
            <a:ext cx="130759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row with a rowid</a:t>
            </a:r>
            <a:endParaRPr lang="en-US" sz="1000" dirty="0"/>
          </a:p>
        </p:txBody>
      </p:sp>
      <p:sp>
        <p:nvSpPr>
          <p:cNvPr id="10" name="Shape 8"/>
          <p:cNvSpPr/>
          <p:nvPr/>
        </p:nvSpPr>
        <p:spPr>
          <a:xfrm>
            <a:off x="7269480" y="1600200"/>
            <a:ext cx="1417320" cy="530352"/>
          </a:xfrm>
          <a:prstGeom prst="roundRect">
            <a:avLst>
              <a:gd name="adj" fmla="val 13793"/>
            </a:avLst>
          </a:prstGeom>
          <a:solidFill>
            <a:srgbClr val="2F6D62"/>
          </a:solidFill>
          <a:ln w="15875">
            <a:solidFill>
              <a:srgbClr val="2F6D62"/>
            </a:solidFill>
            <a:prstDash val="solid"/>
          </a:ln>
        </p:spPr>
      </p:sp>
      <p:sp>
        <p:nvSpPr>
          <p:cNvPr id="11" name="Text 9"/>
          <p:cNvSpPr txBox="1"/>
          <p:nvPr/>
        </p:nvSpPr>
        <p:spPr>
          <a:xfrm>
            <a:off x="7324344" y="1779422"/>
            <a:ext cx="130759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row is deleted</a:t>
            </a:r>
            <a:endParaRPr lang="en-US" sz="1000" dirty="0"/>
          </a:p>
        </p:txBody>
      </p:sp>
      <p:sp>
        <p:nvSpPr>
          <p:cNvPr id="12" name="Shape 10"/>
          <p:cNvSpPr/>
          <p:nvPr/>
        </p:nvSpPr>
        <p:spPr>
          <a:xfrm>
            <a:off x="7269480" y="2404872"/>
            <a:ext cx="1417320" cy="530352"/>
          </a:xfrm>
          <a:prstGeom prst="roundRect">
            <a:avLst>
              <a:gd name="adj" fmla="val 13793"/>
            </a:avLst>
          </a:prstGeom>
          <a:solidFill>
            <a:srgbClr val="2F6D62"/>
          </a:solidFill>
          <a:ln w="15875">
            <a:solidFill>
              <a:srgbClr val="2F6D62"/>
            </a:solidFill>
            <a:prstDash val="solid"/>
          </a:ln>
        </p:spPr>
      </p:sp>
      <p:sp>
        <p:nvSpPr>
          <p:cNvPr id="13" name="Text 11"/>
          <p:cNvSpPr txBox="1"/>
          <p:nvPr/>
        </p:nvSpPr>
        <p:spPr>
          <a:xfrm>
            <a:off x="7324344" y="2507285"/>
            <a:ext cx="130759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rowid is handed out again</a:t>
            </a:r>
            <a:endParaRPr lang="en-US" sz="1000" dirty="0"/>
          </a:p>
        </p:txBody>
      </p:sp>
      <p:sp>
        <p:nvSpPr>
          <p:cNvPr id="14" name="Shape 12"/>
          <p:cNvSpPr/>
          <p:nvPr/>
        </p:nvSpPr>
        <p:spPr>
          <a:xfrm>
            <a:off x="457200" y="2404872"/>
            <a:ext cx="1417320" cy="530352"/>
          </a:xfrm>
          <a:prstGeom prst="roundRect">
            <a:avLst>
              <a:gd name="adj" fmla="val 13793"/>
            </a:avLst>
          </a:prstGeom>
          <a:solidFill>
            <a:srgbClr val="2F6D62"/>
          </a:solidFill>
          <a:ln w="15875">
            <a:solidFill>
              <a:srgbClr val="2F6D62"/>
            </a:solidFill>
            <a:prstDash val="solid"/>
          </a:ln>
        </p:spPr>
      </p:sp>
      <p:sp>
        <p:nvSpPr>
          <p:cNvPr id="15" name="Text 13"/>
          <p:cNvSpPr txBox="1"/>
          <p:nvPr/>
        </p:nvSpPr>
        <p:spPr>
          <a:xfrm>
            <a:off x="512064" y="2507285"/>
            <a:ext cx="130759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rowid changes after VACUUM</a:t>
            </a:r>
            <a:endParaRPr lang="en-US" sz="1000" dirty="0"/>
          </a:p>
        </p:txBody>
      </p:sp>
      <p:sp>
        <p:nvSpPr>
          <p:cNvPr id="16" name="Shape 14"/>
          <p:cNvSpPr/>
          <p:nvPr/>
        </p:nvSpPr>
        <p:spPr>
          <a:xfrm>
            <a:off x="1074420" y="1207008"/>
            <a:ext cx="182880" cy="182880"/>
          </a:xfrm>
          <a:prstGeom prst="ellipse">
            <a:avLst/>
          </a:prstGeom>
          <a:solidFill>
            <a:srgbClr val="2B2622"/>
          </a:solidFill>
          <a:ln w="15875">
            <a:solidFill>
              <a:srgbClr val="2B2622"/>
            </a:solidFill>
            <a:prstDash val="solid"/>
          </a:ln>
        </p:spPr>
      </p:sp>
      <p:sp>
        <p:nvSpPr>
          <p:cNvPr id="17" name="Shape 15"/>
          <p:cNvSpPr/>
          <p:nvPr/>
        </p:nvSpPr>
        <p:spPr>
          <a:xfrm>
            <a:off x="1165860" y="1389888"/>
            <a:ext cx="0" cy="210312"/>
          </a:xfrm>
          <a:prstGeom prst="line">
            <a:avLst/>
          </a:prstGeom>
          <a:noFill/>
          <a:ln w="15875">
            <a:solidFill>
              <a:srgbClr val="6E655C"/>
            </a:solidFill>
            <a:prstDash val="solid"/>
            <a:tailEnd type="triangle"/>
          </a:ln>
        </p:spPr>
      </p:sp>
      <p:sp>
        <p:nvSpPr>
          <p:cNvPr id="18" name="Shape 16"/>
          <p:cNvSpPr/>
          <p:nvPr/>
        </p:nvSpPr>
        <p:spPr>
          <a:xfrm>
            <a:off x="1874520" y="1865376"/>
            <a:ext cx="1988820" cy="0"/>
          </a:xfrm>
          <a:prstGeom prst="line">
            <a:avLst/>
          </a:prstGeom>
          <a:noFill/>
          <a:ln w="22225">
            <a:solidFill>
              <a:srgbClr val="D97A14"/>
            </a:solidFill>
            <a:prstDash val="solid"/>
            <a:tailEnd type="triangle"/>
          </a:ln>
        </p:spPr>
      </p:sp>
      <p:sp>
        <p:nvSpPr>
          <p:cNvPr id="19" name="Text 17"/>
          <p:cNvSpPr txBox="1"/>
          <p:nvPr/>
        </p:nvSpPr>
        <p:spPr>
          <a:xfrm>
            <a:off x="1929384" y="1548994"/>
            <a:ext cx="1879092"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An insert adds the row with the next rowid</a:t>
            </a:r>
            <a:endParaRPr lang="en-US" sz="850" dirty="0"/>
          </a:p>
        </p:txBody>
      </p:sp>
      <p:sp>
        <p:nvSpPr>
          <p:cNvPr id="20" name="Shape 18"/>
          <p:cNvSpPr/>
          <p:nvPr/>
        </p:nvSpPr>
        <p:spPr>
          <a:xfrm>
            <a:off x="5280660" y="1865376"/>
            <a:ext cx="1988820" cy="0"/>
          </a:xfrm>
          <a:prstGeom prst="line">
            <a:avLst/>
          </a:prstGeom>
          <a:noFill/>
          <a:ln w="22225">
            <a:solidFill>
              <a:srgbClr val="D97A14"/>
            </a:solidFill>
            <a:prstDash val="solid"/>
            <a:tailEnd type="triangle"/>
          </a:ln>
        </p:spPr>
      </p:sp>
      <p:sp>
        <p:nvSpPr>
          <p:cNvPr id="21" name="Text 19"/>
          <p:cNvSpPr txBox="1"/>
          <p:nvPr/>
        </p:nvSpPr>
        <p:spPr>
          <a:xfrm>
            <a:off x="5335524" y="1548994"/>
            <a:ext cx="1879092"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The delete statement deletes the row</a:t>
            </a:r>
            <a:endParaRPr lang="en-US" sz="850" dirty="0"/>
          </a:p>
        </p:txBody>
      </p:sp>
      <p:sp>
        <p:nvSpPr>
          <p:cNvPr id="22" name="Shape 20"/>
          <p:cNvSpPr/>
          <p:nvPr/>
        </p:nvSpPr>
        <p:spPr>
          <a:xfrm>
            <a:off x="7978140" y="2130552"/>
            <a:ext cx="0" cy="274320"/>
          </a:xfrm>
          <a:prstGeom prst="line">
            <a:avLst/>
          </a:prstGeom>
          <a:noFill/>
          <a:ln w="22225">
            <a:solidFill>
              <a:srgbClr val="D97A14"/>
            </a:solidFill>
            <a:prstDash val="solid"/>
            <a:tailEnd type="triangle"/>
          </a:ln>
        </p:spPr>
      </p:sp>
      <p:sp>
        <p:nvSpPr>
          <p:cNvPr id="23" name="Text 21"/>
          <p:cNvSpPr txBox="1"/>
          <p:nvPr/>
        </p:nvSpPr>
        <p:spPr>
          <a:xfrm>
            <a:off x="6286500" y="2053742"/>
            <a:ext cx="1600200" cy="410566"/>
          </a:xfrm>
          <a:prstGeom prst="rect">
            <a:avLst/>
          </a:prstGeom>
          <a:noFill/>
          <a:ln/>
        </p:spPr>
        <p:txBody>
          <a:bodyPr wrap="square" lIns="0" tIns="0" rIns="0" bIns="0" rtlCol="0" anchor="ctr"/>
          <a:lstStyle/>
          <a:p>
            <a:pPr algn="r" indent="0" marL="0">
              <a:buNone/>
            </a:pPr>
            <a:r>
              <a:rPr lang="en-US" sz="850" dirty="0">
                <a:solidFill>
                  <a:srgbClr val="2B2622"/>
                </a:solidFill>
                <a:latin typeface="Calibri" pitchFamily="34" charset="0"/>
                <a:ea typeface="Calibri" pitchFamily="34" charset="-122"/>
                <a:cs typeface="Calibri" pitchFamily="34" charset="-120"/>
              </a:rPr>
              <a:t>A new insert reuses the rowid when it was the largest</a:t>
            </a:r>
            <a:endParaRPr lang="en-US" sz="850" dirty="0"/>
          </a:p>
        </p:txBody>
      </p:sp>
      <p:sp>
        <p:nvSpPr>
          <p:cNvPr id="24" name="Shape 22"/>
          <p:cNvSpPr/>
          <p:nvPr/>
        </p:nvSpPr>
        <p:spPr>
          <a:xfrm>
            <a:off x="4279392" y="2130552"/>
            <a:ext cx="0" cy="539496"/>
          </a:xfrm>
          <a:prstGeom prst="line">
            <a:avLst/>
          </a:prstGeom>
          <a:noFill/>
          <a:ln w="22225">
            <a:solidFill>
              <a:srgbClr val="2F6D62"/>
            </a:solidFill>
            <a:prstDash val="solid"/>
          </a:ln>
        </p:spPr>
      </p:sp>
      <p:sp>
        <p:nvSpPr>
          <p:cNvPr id="25" name="Shape 23"/>
          <p:cNvSpPr/>
          <p:nvPr/>
        </p:nvSpPr>
        <p:spPr>
          <a:xfrm flipH="1">
            <a:off x="1874520" y="2670048"/>
            <a:ext cx="2404872" cy="0"/>
          </a:xfrm>
          <a:prstGeom prst="line">
            <a:avLst/>
          </a:prstGeom>
          <a:noFill/>
          <a:ln w="22225">
            <a:solidFill>
              <a:srgbClr val="2F6D62"/>
            </a:solidFill>
            <a:prstDash val="solid"/>
            <a:tailEnd type="triangle"/>
          </a:ln>
        </p:spPr>
      </p:sp>
      <p:sp>
        <p:nvSpPr>
          <p:cNvPr id="26" name="Text 24"/>
          <p:cNvSpPr txBox="1"/>
          <p:nvPr/>
        </p:nvSpPr>
        <p:spPr>
          <a:xfrm>
            <a:off x="1929384" y="2353666"/>
            <a:ext cx="2313432" cy="279806"/>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VACUUM renumbers a table with no primary key</a:t>
            </a:r>
            <a:endParaRPr lang="en-US" sz="850" dirty="0"/>
          </a:p>
        </p:txBody>
      </p:sp>
      <p:sp>
        <p:nvSpPr>
          <p:cNvPr id="27" name="Shape 25"/>
          <p:cNvSpPr/>
          <p:nvPr/>
        </p:nvSpPr>
        <p:spPr>
          <a:xfrm flipH="1">
            <a:off x="4864608" y="2670048"/>
            <a:ext cx="2404872" cy="0"/>
          </a:xfrm>
          <a:prstGeom prst="line">
            <a:avLst/>
          </a:prstGeom>
          <a:noFill/>
          <a:ln w="22225">
            <a:solidFill>
              <a:srgbClr val="2F6D62"/>
            </a:solidFill>
            <a:prstDash val="solid"/>
          </a:ln>
        </p:spPr>
      </p:sp>
      <p:sp>
        <p:nvSpPr>
          <p:cNvPr id="28" name="Shape 26"/>
          <p:cNvSpPr/>
          <p:nvPr/>
        </p:nvSpPr>
        <p:spPr>
          <a:xfrm flipV="1">
            <a:off x="4864608" y="2130552"/>
            <a:ext cx="0" cy="539496"/>
          </a:xfrm>
          <a:prstGeom prst="line">
            <a:avLst/>
          </a:prstGeom>
          <a:noFill/>
          <a:ln w="22225">
            <a:solidFill>
              <a:srgbClr val="2F6D62"/>
            </a:solidFill>
            <a:prstDash val="solid"/>
            <a:tailEnd type="triangle"/>
          </a:ln>
        </p:spPr>
      </p:sp>
      <p:sp>
        <p:nvSpPr>
          <p:cNvPr id="29" name="Text 27"/>
          <p:cNvSpPr txBox="1"/>
          <p:nvPr/>
        </p:nvSpPr>
        <p:spPr>
          <a:xfrm>
            <a:off x="4919472" y="2484425"/>
            <a:ext cx="2295144" cy="149047"/>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The new row holds the rowid</a:t>
            </a:r>
            <a:endParaRPr lang="en-US" sz="850" dirty="0"/>
          </a:p>
        </p:txBody>
      </p:sp>
      <p:sp>
        <p:nvSpPr>
          <p:cNvPr id="30" name="Text 28"/>
          <p:cNvSpPr txBox="1"/>
          <p:nvPr/>
        </p:nvSpPr>
        <p:spPr>
          <a:xfrm>
            <a:off x="457200" y="299923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ARowidThroughItsLife - LifeCycle pattern, 35 of 38 words grounded in the chapter's text</a:t>
            </a:r>
            <a:endParaRPr lang="en-US" sz="850" dirty="0"/>
          </a:p>
        </p:txBody>
      </p:sp>
      <p:sp>
        <p:nvSpPr>
          <p:cNvPr id="31" name="Text 29"/>
          <p:cNvSpPr txBox="1"/>
          <p:nvPr/>
        </p:nvSpPr>
        <p:spPr>
          <a:xfrm>
            <a:off x="457200" y="3246120"/>
            <a:ext cx="30175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rowids_v1_0_0.py</a:t>
            </a:r>
            <a:endParaRPr lang="en-US" sz="1000" dirty="0"/>
          </a:p>
        </p:txBody>
      </p:sp>
      <p:sp>
        <p:nvSpPr>
          <p:cNvPr id="32" name="Shape 30"/>
          <p:cNvSpPr/>
          <p:nvPr/>
        </p:nvSpPr>
        <p:spPr>
          <a:xfrm>
            <a:off x="457200" y="3520440"/>
            <a:ext cx="3017520" cy="905256"/>
          </a:xfrm>
          <a:prstGeom prst="roundRect">
            <a:avLst>
              <a:gd name="adj" fmla="val 10101"/>
            </a:avLst>
          </a:prstGeom>
          <a:solidFill>
            <a:srgbClr val="23272E"/>
          </a:solidFill>
          <a:ln w="12700">
            <a:solidFill>
              <a:srgbClr val="23272E"/>
            </a:solidFill>
            <a:prstDash val="solid"/>
          </a:ln>
        </p:spPr>
      </p:sp>
      <p:sp>
        <p:nvSpPr>
          <p:cNvPr id="33" name="Text 31"/>
          <p:cNvSpPr txBox="1"/>
          <p:nvPr/>
        </p:nvSpPr>
        <p:spPr>
          <a:xfrm>
            <a:off x="640080" y="3639312"/>
            <a:ext cx="2651760" cy="667512"/>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 next rowid after deleting 4: 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k next rowid after deleting 4: 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before VACUUM [(3, 'c'), (4, 'e')]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VACUUM  [(1, 'c'), (2, 'e')]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['sqlite_sequence']</a:t>
            </a:r>
            <a:endParaRPr lang="en-US" sz="700" dirty="0"/>
          </a:p>
        </p:txBody>
      </p:sp>
      <p:sp>
        <p:nvSpPr>
          <p:cNvPr id="34" name="Shape 32"/>
          <p:cNvSpPr/>
          <p:nvPr/>
        </p:nvSpPr>
        <p:spPr>
          <a:xfrm>
            <a:off x="3657600" y="3337560"/>
            <a:ext cx="5029200" cy="1188720"/>
          </a:xfrm>
          <a:prstGeom prst="roundRect">
            <a:avLst>
              <a:gd name="adj" fmla="val 7692"/>
            </a:avLst>
          </a:prstGeom>
          <a:solidFill>
            <a:srgbClr val="F2ECE1"/>
          </a:solidFill>
          <a:ln w="12700">
            <a:solidFill>
              <a:srgbClr val="F2ECE1"/>
            </a:solidFill>
            <a:prstDash val="solid"/>
          </a:ln>
        </p:spPr>
      </p:sp>
      <p:sp>
        <p:nvSpPr>
          <p:cNvPr id="35" name="Text 33"/>
          <p:cNvSpPr txBox="1"/>
          <p:nvPr/>
        </p:nvSpPr>
        <p:spPr>
          <a:xfrm>
            <a:off x="3840480" y="3456432"/>
            <a:ext cx="46634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INTEGER PRIMARY KEY keeps it</a:t>
            </a:r>
            <a:endParaRPr lang="en-US" sz="1600" dirty="0"/>
          </a:p>
        </p:txBody>
      </p:sp>
      <p:sp>
        <p:nvSpPr>
          <p:cNvPr id="36" name="Text 34"/>
          <p:cNvSpPr txBox="1"/>
          <p:nvPr/>
        </p:nvSpPr>
        <p:spPr>
          <a:xfrm>
            <a:off x="3840480" y="3840480"/>
            <a:ext cx="4663440" cy="54864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A column declared INTEGER PRIMARY KEY is an alias of the rowid and keeps its value through VACUUM; AUTOINCREMENT never hands out a number twice, at the price of the sqlite_sequence table.</a:t>
            </a:r>
            <a:endParaRPr lang="en-US" sz="100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an INTEGER PRIMARY KEY if a number must keep its meaning.</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foreign key that works, and a join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second practice program: meals and ingredients linked by a real key</a:t>
            </a:r>
            <a:endParaRPr lang="en-US" sz="1300" dirty="0"/>
          </a:p>
        </p:txBody>
      </p:sp>
      <p:sp>
        <p:nvSpPr>
          <p:cNvPr id="6" name="Text 4"/>
          <p:cNvSpPr txBox="1"/>
          <p:nvPr/>
        </p:nvSpPr>
        <p:spPr>
          <a:xfrm>
            <a:off x="457200" y="1143000"/>
            <a:ext cx="46634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matchingMealIngredients_v1_0_0.py, lines 8 to 11 of 29</a:t>
            </a:r>
            <a:endParaRPr lang="en-US" sz="1000" dirty="0"/>
          </a:p>
        </p:txBody>
      </p:sp>
      <p:sp>
        <p:nvSpPr>
          <p:cNvPr id="7" name="Shape 5"/>
          <p:cNvSpPr/>
          <p:nvPr/>
        </p:nvSpPr>
        <p:spPr>
          <a:xfrm>
            <a:off x="457200" y="1417320"/>
            <a:ext cx="4663440" cy="777240"/>
          </a:xfrm>
          <a:prstGeom prst="roundRect">
            <a:avLst>
              <a:gd name="adj" fmla="val 11765"/>
            </a:avLst>
          </a:prstGeom>
          <a:solidFill>
            <a:srgbClr val="23272E"/>
          </a:solidFill>
          <a:ln w="12700">
            <a:solidFill>
              <a:srgbClr val="23272E"/>
            </a:solidFill>
            <a:prstDash val="solid"/>
          </a:ln>
        </p:spPr>
      </p:sp>
      <p:sp>
        <p:nvSpPr>
          <p:cNvPr id="8" name="Text 6"/>
          <p:cNvSpPr txBox="1"/>
          <p:nvPr/>
        </p:nvSpPr>
        <p:spPr>
          <a:xfrm>
            <a:off x="640080" y="1536192"/>
            <a:ext cx="4297680" cy="539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conn.execute(</a:t>
            </a:r>
            <a:r>
              <a:rPr lang="en-US" sz="700" dirty="0">
                <a:solidFill>
                  <a:srgbClr val="9ECBFF"/>
                </a:solidFill>
                <a:latin typeface="Courier New" pitchFamily="34" charset="0"/>
                <a:ea typeface="Courier New" pitchFamily="34" charset="-122"/>
                <a:cs typeface="Courier New" pitchFamily="34" charset="-120"/>
              </a:rPr>
              <a:t>'CREATE TABLE ingredients (id INTEGER PRIMARY KEY,'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meal_id INTEGER NOT NULL, ingredient TEXT NOT NULL,'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grams REAL, FOREIGN KEY (meal_id) REFERENCES meals (id))'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STRICT'</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457200" y="2331720"/>
            <a:ext cx="46634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matchingMealIngredients_v1_0_0.py, lines 21 to 26 of 29</a:t>
            </a:r>
            <a:endParaRPr lang="en-US" sz="1000" dirty="0"/>
          </a:p>
        </p:txBody>
      </p:sp>
      <p:sp>
        <p:nvSpPr>
          <p:cNvPr id="10" name="Shape 8"/>
          <p:cNvSpPr/>
          <p:nvPr/>
        </p:nvSpPr>
        <p:spPr>
          <a:xfrm>
            <a:off x="457200" y="2606040"/>
            <a:ext cx="4663440" cy="1837944"/>
          </a:xfrm>
          <a:prstGeom prst="roundRect">
            <a:avLst>
              <a:gd name="adj" fmla="val 4975"/>
            </a:avLst>
          </a:prstGeom>
          <a:solidFill>
            <a:srgbClr val="23272E"/>
          </a:solidFill>
          <a:ln w="12700">
            <a:solidFill>
              <a:srgbClr val="23272E"/>
            </a:solidFill>
            <a:prstDash val="solid"/>
          </a:ln>
        </p:spPr>
      </p:sp>
      <p:sp>
        <p:nvSpPr>
          <p:cNvPr id="11" name="Text 9"/>
          <p:cNvSpPr txBox="1"/>
          <p:nvPr/>
        </p:nvSpPr>
        <p:spPr>
          <a:xfrm>
            <a:off x="640080" y="2724912"/>
            <a:ext cx="4297680" cy="1600200"/>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try: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conn.execute(</a:t>
            </a:r>
            <a:r>
              <a:rPr lang="en-US" sz="800" dirty="0">
                <a:solidFill>
                  <a:srgbClr val="9ECBFF"/>
                </a:solidFill>
                <a:latin typeface="Courier New" pitchFamily="34" charset="0"/>
                <a:ea typeface="Courier New" pitchFamily="34" charset="-122"/>
                <a:cs typeface="Courier New" pitchFamily="34" charset="-120"/>
              </a:rPr>
              <a:t>"INSERT INTO ingredients (meal_id, ingredient)"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 VALUES (99, 'salt')"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except sqlite3.IntegrityError as 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print(conn.execute(</a:t>
            </a:r>
            <a:r>
              <a:rPr lang="en-US" sz="800" dirty="0">
                <a:solidFill>
                  <a:srgbClr val="9ECBFF"/>
                </a:solidFill>
                <a:latin typeface="Courier New" pitchFamily="34" charset="0"/>
                <a:ea typeface="Courier New" pitchFamily="34" charset="-122"/>
                <a:cs typeface="Courier New" pitchFamily="34" charset="-120"/>
              </a:rPr>
              <a:t>'PRAGMA foreign_key_check'</a:t>
            </a:r>
            <a:r>
              <a:rPr lang="en-US" sz="800" dirty="0">
                <a:solidFill>
                  <a:srgbClr val="E6EDF3"/>
                </a:solidFill>
                <a:latin typeface="Courier New" pitchFamily="34" charset="0"/>
                <a:ea typeface="Courier New" pitchFamily="34" charset="-122"/>
                <a:cs typeface="Courier New" pitchFamily="34" charset="-120"/>
              </a:rPr>
              <a:t>).fetchall())</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('Pancakes', 'flour, milk, egg', 600.0)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('Omelette', 'egg, butter', 170.0)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FOREIGN KEY constraint failed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[('Pancakes',)]</a:t>
            </a:r>
            <a:endParaRPr lang="en-US" sz="800" dirty="0"/>
          </a:p>
        </p:txBody>
      </p:sp>
      <p:sp>
        <p:nvSpPr>
          <p:cNvPr id="12" name="Shape 10"/>
          <p:cNvSpPr/>
          <p:nvPr/>
        </p:nvSpPr>
        <p:spPr>
          <a:xfrm>
            <a:off x="5303520" y="1371600"/>
            <a:ext cx="3383280" cy="1600200"/>
          </a:xfrm>
          <a:prstGeom prst="roundRect">
            <a:avLst>
              <a:gd name="adj" fmla="val 5714"/>
            </a:avLst>
          </a:prstGeom>
          <a:solidFill>
            <a:srgbClr val="F2ECE1"/>
          </a:solidFill>
          <a:ln w="12700">
            <a:solidFill>
              <a:srgbClr val="F2ECE1"/>
            </a:solidFill>
            <a:prstDash val="solid"/>
          </a:ln>
        </p:spPr>
      </p:sp>
      <p:sp>
        <p:nvSpPr>
          <p:cNvPr id="13" name="Text 11"/>
          <p:cNvSpPr txBox="1"/>
          <p:nvPr/>
        </p:nvSpPr>
        <p:spPr>
          <a:xfrm>
            <a:off x="5486400" y="1490472"/>
            <a:ext cx="301752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Switch it on, per connection</a:t>
            </a:r>
            <a:endParaRPr lang="en-US" sz="1600" dirty="0"/>
          </a:p>
        </p:txBody>
      </p:sp>
      <p:sp>
        <p:nvSpPr>
          <p:cNvPr id="14" name="Text 12"/>
          <p:cNvSpPr txBox="1"/>
          <p:nvPr/>
        </p:nvSpPr>
        <p:spPr>
          <a:xfrm>
            <a:off x="5486400" y="1874520"/>
            <a:ext cx="3017520" cy="9601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PRAGMA foreign_keys = ON; the parent key is an INTEGER PRIMARY KEY. An orphan row is refused with FOREIGN KEY constraint failed, and foreign_key_check lists none.</a:t>
            </a:r>
            <a:endParaRPr lang="en-US" sz="950" dirty="0"/>
          </a:p>
        </p:txBody>
      </p:sp>
      <p:sp>
        <p:nvSpPr>
          <p:cNvPr id="15" name="Shape 13"/>
          <p:cNvSpPr/>
          <p:nvPr/>
        </p:nvSpPr>
        <p:spPr>
          <a:xfrm>
            <a:off x="5303520" y="3063240"/>
            <a:ext cx="3383280" cy="1417320"/>
          </a:xfrm>
          <a:prstGeom prst="roundRect">
            <a:avLst>
              <a:gd name="adj" fmla="val 6452"/>
            </a:avLst>
          </a:prstGeom>
          <a:solidFill>
            <a:srgbClr val="F2ECE1"/>
          </a:solidFill>
          <a:ln w="12700">
            <a:solidFill>
              <a:srgbClr val="F2ECE1"/>
            </a:solidFill>
            <a:prstDash val="solid"/>
          </a:ln>
        </p:spPr>
      </p:sp>
      <p:sp>
        <p:nvSpPr>
          <p:cNvPr id="16" name="Text 14"/>
          <p:cNvSpPr txBox="1"/>
          <p:nvPr/>
        </p:nvSpPr>
        <p:spPr>
          <a:xfrm>
            <a:off x="5486400" y="3182112"/>
            <a:ext cx="30175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Joined and grouped</a:t>
            </a:r>
            <a:endParaRPr lang="en-US" sz="1600" dirty="0"/>
          </a:p>
        </p:txBody>
      </p:sp>
      <p:sp>
        <p:nvSpPr>
          <p:cNvPr id="17" name="Text 15"/>
          <p:cNvSpPr txBox="1"/>
          <p:nvPr/>
        </p:nvSpPr>
        <p:spPr>
          <a:xfrm>
            <a:off x="5486400" y="3566160"/>
            <a:ext cx="3017520" cy="7772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JOIN reads the two tables together, group_concat(...) joins the ingredients of each meal, and NOT IN finds the meals without butter.</a:t>
            </a:r>
            <a:endParaRPr lang="en-US" sz="9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Put each kind of fact in its own table and join them.</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book's foreign key cannot be enforced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REFERENCES cats(rowid) names no real column; dumping the file fails from Python 3.13</a:t>
            </a:r>
            <a:endParaRPr lang="en-US" sz="1300" dirty="0"/>
          </a:p>
        </p:txBody>
      </p:sp>
      <p:sp>
        <p:nvSpPr>
          <p:cNvPr id="6" name="Text 4"/>
          <p:cNvSpPr txBox="1"/>
          <p:nvPr/>
        </p:nvSpPr>
        <p:spPr>
          <a:xfrm>
            <a:off x="457200" y="1143000"/>
            <a:ext cx="64465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shippedDatabaseCut_v1_0_0.py, lines 20 to 31 of 32</a:t>
            </a:r>
            <a:endParaRPr lang="en-US" sz="1000" dirty="0"/>
          </a:p>
        </p:txBody>
      </p:sp>
      <p:sp>
        <p:nvSpPr>
          <p:cNvPr id="7" name="Shape 5"/>
          <p:cNvSpPr/>
          <p:nvPr/>
        </p:nvSpPr>
        <p:spPr>
          <a:xfrm>
            <a:off x="457200" y="1417320"/>
            <a:ext cx="6446520" cy="2551176"/>
          </a:xfrm>
          <a:prstGeom prst="roundRect">
            <a:avLst>
              <a:gd name="adj" fmla="val 3584"/>
            </a:avLst>
          </a:prstGeom>
          <a:solidFill>
            <a:srgbClr val="23272E"/>
          </a:solidFill>
          <a:ln w="12700">
            <a:solidFill>
              <a:srgbClr val="23272E"/>
            </a:solidFill>
            <a:prstDash val="solid"/>
          </a:ln>
        </p:spPr>
      </p:sp>
      <p:sp>
        <p:nvSpPr>
          <p:cNvPr id="8" name="Text 6"/>
          <p:cNvSpPr txBox="1"/>
          <p:nvPr/>
        </p:nvSpPr>
        <p:spPr>
          <a:xfrm>
            <a:off x="640080" y="1536192"/>
            <a:ext cx="6080760"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conn.execute(</a:t>
            </a:r>
            <a:r>
              <a:rPr lang="en-US" sz="700" dirty="0">
                <a:solidFill>
                  <a:srgbClr val="9ECBFF"/>
                </a:solidFill>
                <a:latin typeface="Courier New" pitchFamily="34" charset="0"/>
                <a:ea typeface="Courier New" pitchFamily="34" charset="-122"/>
                <a:cs typeface="Courier New" pitchFamily="34" charset="-120"/>
              </a:rPr>
              <a:t>'PRAGMA foreign_keys = 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conn.execute(</a:t>
            </a:r>
            <a:r>
              <a:rPr lang="en-US" sz="700" dirty="0">
                <a:solidFill>
                  <a:srgbClr val="9ECBFF"/>
                </a:solidFill>
                <a:latin typeface="Courier New" pitchFamily="34" charset="0"/>
                <a:ea typeface="Courier New" pitchFamily="34" charset="-122"/>
                <a:cs typeface="Courier New" pitchFamily="34" charset="-120"/>
              </a:rPr>
              <a:t>"INSERT INTO vaccinations VALUES"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('rabies', '2023-06-06', 'Dr. Echo', 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sqlite3.Error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print(type(e).__name__,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conn.execute(</a:t>
            </a:r>
            <a:r>
              <a:rPr lang="en-US" sz="700" dirty="0">
                <a:solidFill>
                  <a:srgbClr val="9ECBFF"/>
                </a:solidFill>
                <a:latin typeface="Courier New" pitchFamily="34" charset="0"/>
                <a:ea typeface="Courier New" pitchFamily="34" charset="-122"/>
                <a:cs typeface="Courier New" pitchFamily="34" charset="-120"/>
              </a:rPr>
              <a:t>'PRAGMA foreign_keys = OFF'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print(len(list(conn.iterdump())))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sqlite3.Error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'iterdump:'</a:t>
            </a:r>
            <a:r>
              <a:rPr lang="en-US" sz="700" dirty="0">
                <a:solidFill>
                  <a:srgbClr val="E6EDF3"/>
                </a:solidFill>
                <a:latin typeface="Courier New" pitchFamily="34" charset="0"/>
                <a:ea typeface="Courier New" pitchFamily="34" charset="-122"/>
                <a:cs typeface="Courier New" pitchFamily="34" charset="-120"/>
              </a:rPr>
              <a:t>, type(e).__name__,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print(conn.execute(</a:t>
            </a:r>
            <a:r>
              <a:rPr lang="en-US" sz="700" dirty="0">
                <a:solidFill>
                  <a:srgbClr val="9ECBFF"/>
                </a:solidFill>
                <a:latin typeface="Courier New" pitchFamily="34" charset="0"/>
                <a:ea typeface="Courier New" pitchFamily="34" charset="-122"/>
                <a:cs typeface="Courier New" pitchFamily="34" charset="-120"/>
              </a:rPr>
              <a:t>'PRAGMA integrity_check'</a:t>
            </a:r>
            <a:r>
              <a:rPr lang="en-US" sz="700" dirty="0">
                <a:solidFill>
                  <a:srgbClr val="E6EDF3"/>
                </a:solidFill>
                <a:latin typeface="Courier New" pitchFamily="34" charset="0"/>
                <a:ea typeface="Courier New" pitchFamily="34" charset="-122"/>
                <a:cs typeface="Courier New" pitchFamily="34" charset="-120"/>
              </a:rPr>
              <a:t>).fetchall())</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CREATE TABLE vaccinations (vaccine TEXT,date_administered TEXT, administered_by TEXT, cat_id INTEGER,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FOREIGN KEY(cat_id) REFERENCES cats(rowid)) STRICT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foreign_keys is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OperationalError foreign key mismatch - "vaccinations" referencing "cats"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iterdump: OperationalError foreign key mismatch - "vaccinations" referencing "cats"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[('ok',)]</a:t>
            </a:r>
            <a:endParaRPr lang="en-US" sz="700" dirty="0"/>
          </a:p>
        </p:txBody>
      </p:sp>
      <p:sp>
        <p:nvSpPr>
          <p:cNvPr id="9" name="Shape 7"/>
          <p:cNvSpPr/>
          <p:nvPr/>
        </p:nvSpPr>
        <p:spPr>
          <a:xfrm>
            <a:off x="7086600" y="1371600"/>
            <a:ext cx="1600200" cy="813816"/>
          </a:xfrm>
          <a:prstGeom prst="roundRect">
            <a:avLst>
              <a:gd name="adj" fmla="val 8989"/>
            </a:avLst>
          </a:prstGeom>
          <a:solidFill>
            <a:srgbClr val="F2ECE1"/>
          </a:solidFill>
          <a:ln w="12700">
            <a:solidFill>
              <a:srgbClr val="DFD6C7"/>
            </a:solidFill>
            <a:prstDash val="solid"/>
          </a:ln>
        </p:spPr>
      </p:sp>
      <p:sp>
        <p:nvSpPr>
          <p:cNvPr id="10" name="Text 8"/>
          <p:cNvSpPr txBox="1"/>
          <p:nvPr/>
        </p:nvSpPr>
        <p:spPr>
          <a:xfrm>
            <a:off x="7196328" y="1408176"/>
            <a:ext cx="1380744" cy="42318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100</a:t>
            </a:r>
            <a:endParaRPr lang="en-US" sz="2600" dirty="0"/>
          </a:p>
        </p:txBody>
      </p:sp>
      <p:sp>
        <p:nvSpPr>
          <p:cNvPr id="11" name="Text 9"/>
          <p:cNvSpPr txBox="1"/>
          <p:nvPr/>
        </p:nvSpPr>
        <p:spPr>
          <a:xfrm>
            <a:off x="7196328" y="1794784"/>
            <a:ext cx="1380744" cy="35807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cats in the file</a:t>
            </a:r>
            <a:endParaRPr lang="en-US" sz="1100" dirty="0"/>
          </a:p>
        </p:txBody>
      </p:sp>
      <p:sp>
        <p:nvSpPr>
          <p:cNvPr id="12" name="Shape 10"/>
          <p:cNvSpPr/>
          <p:nvPr/>
        </p:nvSpPr>
        <p:spPr>
          <a:xfrm>
            <a:off x="7086600" y="2313432"/>
            <a:ext cx="1600200" cy="813816"/>
          </a:xfrm>
          <a:prstGeom prst="roundRect">
            <a:avLst>
              <a:gd name="adj" fmla="val 8989"/>
            </a:avLst>
          </a:prstGeom>
          <a:solidFill>
            <a:srgbClr val="F2ECE1"/>
          </a:solidFill>
          <a:ln w="12700">
            <a:solidFill>
              <a:srgbClr val="DFD6C7"/>
            </a:solidFill>
            <a:prstDash val="solid"/>
          </a:ln>
        </p:spPr>
      </p:sp>
      <p:sp>
        <p:nvSpPr>
          <p:cNvPr id="13" name="Text 11"/>
          <p:cNvSpPr txBox="1"/>
          <p:nvPr/>
        </p:nvSpPr>
        <p:spPr>
          <a:xfrm>
            <a:off x="7196328" y="2350008"/>
            <a:ext cx="1380744" cy="42318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291</a:t>
            </a:r>
            <a:endParaRPr lang="en-US" sz="2600" dirty="0"/>
          </a:p>
        </p:txBody>
      </p:sp>
      <p:sp>
        <p:nvSpPr>
          <p:cNvPr id="14" name="Text 12"/>
          <p:cNvSpPr txBox="1"/>
          <p:nvPr/>
        </p:nvSpPr>
        <p:spPr>
          <a:xfrm>
            <a:off x="7196328" y="2736616"/>
            <a:ext cx="1380744" cy="35807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vaccinations</a:t>
            </a:r>
            <a:endParaRPr lang="en-US" sz="1100" dirty="0"/>
          </a:p>
        </p:txBody>
      </p:sp>
      <p:sp>
        <p:nvSpPr>
          <p:cNvPr id="15" name="Shape 13"/>
          <p:cNvSpPr/>
          <p:nvPr/>
        </p:nvSpPr>
        <p:spPr>
          <a:xfrm>
            <a:off x="7086600" y="3255264"/>
            <a:ext cx="1600200" cy="813816"/>
          </a:xfrm>
          <a:prstGeom prst="roundRect">
            <a:avLst>
              <a:gd name="adj" fmla="val 8989"/>
            </a:avLst>
          </a:prstGeom>
          <a:solidFill>
            <a:srgbClr val="F2ECE1"/>
          </a:solidFill>
          <a:ln w="12700">
            <a:solidFill>
              <a:srgbClr val="DFD6C7"/>
            </a:solidFill>
            <a:prstDash val="solid"/>
          </a:ln>
        </p:spPr>
      </p:sp>
      <p:sp>
        <p:nvSpPr>
          <p:cNvPr id="16" name="Text 14"/>
          <p:cNvSpPr txBox="1"/>
          <p:nvPr/>
        </p:nvSpPr>
        <p:spPr>
          <a:xfrm>
            <a:off x="7196328" y="3291840"/>
            <a:ext cx="1380744" cy="42318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24,576</a:t>
            </a:r>
            <a:endParaRPr lang="en-US" sz="2600" dirty="0"/>
          </a:p>
        </p:txBody>
      </p:sp>
      <p:sp>
        <p:nvSpPr>
          <p:cNvPr id="17" name="Text 15"/>
          <p:cNvSpPr txBox="1"/>
          <p:nvPr/>
        </p:nvSpPr>
        <p:spPr>
          <a:xfrm>
            <a:off x="7196328" y="3678448"/>
            <a:ext cx="1380744" cy="35807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bytes, 6 pages</a:t>
            </a:r>
            <a:endParaRPr lang="en-US" sz="1100" dirty="0"/>
          </a:p>
        </p:txBody>
      </p:sp>
      <p:sp>
        <p:nvSpPr>
          <p:cNvPr id="18" name="Text 16"/>
          <p:cNvSpPr txBox="1"/>
          <p:nvPr/>
        </p:nvSpPr>
        <p:spPr>
          <a:xfrm>
            <a:off x="457200" y="4041648"/>
            <a:ext cx="82296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Shipped database: sweigartcats.db of the book's online materials, fetched from nostarch.com at run time, sha256 41f0d0b5bc2e... checked. Rows, bytes and the schema as the file holds them.</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key to the rowid cannot be enforced; give the parent a real key.</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Copy a database: backup() or iterdump()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database copy goes through backup(); the SQL text of one goes through iterdump()</a:t>
            </a:r>
            <a:endParaRPr lang="en-US" sz="1300" dirty="0"/>
          </a:p>
        </p:txBody>
      </p:sp>
      <p:sp>
        <p:nvSpPr>
          <p:cNvPr id="6" name="Shape 4"/>
          <p:cNvSpPr/>
          <p:nvPr/>
        </p:nvSpPr>
        <p:spPr>
          <a:xfrm>
            <a:off x="457200" y="1344168"/>
            <a:ext cx="1554480" cy="457200"/>
          </a:xfrm>
          <a:prstGeom prst="roundRect">
            <a:avLst>
              <a:gd name="adj" fmla="val 16000"/>
            </a:avLst>
          </a:prstGeom>
          <a:solidFill>
            <a:srgbClr val="F2ECE1"/>
          </a:solidFill>
          <a:ln w="15875">
            <a:solidFill>
              <a:srgbClr val="2F6D62"/>
            </a:solidFill>
            <a:prstDash val="solid"/>
          </a:ln>
        </p:spPr>
      </p:sp>
      <p:sp>
        <p:nvSpPr>
          <p:cNvPr id="7" name="Text 5"/>
          <p:cNvSpPr txBox="1"/>
          <p:nvPr/>
        </p:nvSpPr>
        <p:spPr>
          <a:xfrm>
            <a:off x="521208" y="1441094"/>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Connect to the database to copy</a:t>
            </a:r>
            <a:endParaRPr lang="en-US" sz="800" dirty="0"/>
          </a:p>
        </p:txBody>
      </p:sp>
      <p:sp>
        <p:nvSpPr>
          <p:cNvPr id="8" name="Shape 6"/>
          <p:cNvSpPr/>
          <p:nvPr/>
        </p:nvSpPr>
        <p:spPr>
          <a:xfrm>
            <a:off x="457200" y="1901952"/>
            <a:ext cx="1554480" cy="512064"/>
          </a:xfrm>
          <a:prstGeom prst="hexagon">
            <a:avLst/>
          </a:prstGeom>
          <a:solidFill>
            <a:srgbClr val="D97A14"/>
          </a:solidFill>
          <a:ln w="15875">
            <a:solidFill>
              <a:srgbClr val="D97A14"/>
            </a:solidFill>
            <a:prstDash val="solid"/>
          </a:ln>
        </p:spPr>
      </p:sp>
      <p:sp>
        <p:nvSpPr>
          <p:cNvPr id="9" name="Text 7"/>
          <p:cNvSpPr txBox="1"/>
          <p:nvPr/>
        </p:nvSpPr>
        <p:spPr>
          <a:xfrm>
            <a:off x="612648" y="2087575"/>
            <a:ext cx="124358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copy a database?</a:t>
            </a:r>
            <a:endParaRPr lang="en-US" sz="800" dirty="0"/>
          </a:p>
        </p:txBody>
      </p:sp>
      <p:sp>
        <p:nvSpPr>
          <p:cNvPr id="10" name="Shape 8"/>
          <p:cNvSpPr/>
          <p:nvPr/>
        </p:nvSpPr>
        <p:spPr>
          <a:xfrm>
            <a:off x="457200" y="2514600"/>
            <a:ext cx="1554480" cy="457200"/>
          </a:xfrm>
          <a:prstGeom prst="roundRect">
            <a:avLst>
              <a:gd name="adj" fmla="val 16000"/>
            </a:avLst>
          </a:prstGeom>
          <a:solidFill>
            <a:srgbClr val="F2ECE1"/>
          </a:solidFill>
          <a:ln w="15875">
            <a:solidFill>
              <a:srgbClr val="2F6D62"/>
            </a:solidFill>
            <a:prstDash val="solid"/>
          </a:ln>
        </p:spPr>
      </p:sp>
      <p:sp>
        <p:nvSpPr>
          <p:cNvPr id="11" name="Text 9"/>
          <p:cNvSpPr txBox="1"/>
          <p:nvPr/>
        </p:nvSpPr>
        <p:spPr>
          <a:xfrm>
            <a:off x="521208" y="2611526"/>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backup() to copy into another connection</a:t>
            </a:r>
            <a:endParaRPr lang="en-US" sz="800" dirty="0"/>
          </a:p>
        </p:txBody>
      </p:sp>
      <p:sp>
        <p:nvSpPr>
          <p:cNvPr id="12" name="Shape 10"/>
          <p:cNvSpPr/>
          <p:nvPr/>
        </p:nvSpPr>
        <p:spPr>
          <a:xfrm>
            <a:off x="457200" y="3099816"/>
            <a:ext cx="1554480" cy="457200"/>
          </a:xfrm>
          <a:prstGeom prst="roundRect">
            <a:avLst>
              <a:gd name="adj" fmla="val 16000"/>
            </a:avLst>
          </a:prstGeom>
          <a:solidFill>
            <a:srgbClr val="F2ECE1"/>
          </a:solidFill>
          <a:ln w="15875">
            <a:solidFill>
              <a:srgbClr val="2F6D62"/>
            </a:solidFill>
            <a:prstDash val="solid"/>
          </a:ln>
        </p:spPr>
      </p:sp>
      <p:sp>
        <p:nvSpPr>
          <p:cNvPr id="13" name="Text 11"/>
          <p:cNvSpPr txBox="1"/>
          <p:nvPr/>
        </p:nvSpPr>
        <p:spPr>
          <a:xfrm>
            <a:off x="521208" y="3196742"/>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Finish with both connections</a:t>
            </a:r>
            <a:endParaRPr lang="en-US" sz="800" dirty="0"/>
          </a:p>
        </p:txBody>
      </p:sp>
      <p:sp>
        <p:nvSpPr>
          <p:cNvPr id="14" name="Shape 12"/>
          <p:cNvSpPr/>
          <p:nvPr/>
        </p:nvSpPr>
        <p:spPr>
          <a:xfrm>
            <a:off x="2423160" y="1929384"/>
            <a:ext cx="1280160" cy="457200"/>
          </a:xfrm>
          <a:prstGeom prst="roundRect">
            <a:avLst>
              <a:gd name="adj" fmla="val 16000"/>
            </a:avLst>
          </a:prstGeom>
          <a:solidFill>
            <a:srgbClr val="F2ECE1"/>
          </a:solidFill>
          <a:ln w="15875">
            <a:solidFill>
              <a:srgbClr val="2F6D62"/>
            </a:solidFill>
            <a:prstDash val="solid"/>
          </a:ln>
        </p:spPr>
      </p:sp>
      <p:sp>
        <p:nvSpPr>
          <p:cNvPr id="15" name="Text 13"/>
          <p:cNvSpPr txBox="1"/>
          <p:nvPr/>
        </p:nvSpPr>
        <p:spPr>
          <a:xfrm>
            <a:off x="2487168" y="1964131"/>
            <a:ext cx="115214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iterdump() to get the SQL statements</a:t>
            </a:r>
            <a:endParaRPr lang="en-US" sz="800" dirty="0"/>
          </a:p>
        </p:txBody>
      </p:sp>
      <p:sp>
        <p:nvSpPr>
          <p:cNvPr id="16" name="Shape 14"/>
          <p:cNvSpPr/>
          <p:nvPr/>
        </p:nvSpPr>
        <p:spPr>
          <a:xfrm>
            <a:off x="2423160" y="2487168"/>
            <a:ext cx="1280160" cy="512064"/>
          </a:xfrm>
          <a:prstGeom prst="hexagon">
            <a:avLst/>
          </a:prstGeom>
          <a:solidFill>
            <a:srgbClr val="D97A14"/>
          </a:solidFill>
          <a:ln w="15875">
            <a:solidFill>
              <a:srgbClr val="D97A14"/>
            </a:solidFill>
            <a:prstDash val="solid"/>
          </a:ln>
        </p:spPr>
      </p:sp>
      <p:sp>
        <p:nvSpPr>
          <p:cNvPr id="17" name="Text 15"/>
          <p:cNvSpPr txBox="1"/>
          <p:nvPr/>
        </p:nvSpPr>
        <p:spPr>
          <a:xfrm>
            <a:off x="2578608" y="2611526"/>
            <a:ext cx="96926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there an error in the dump?</a:t>
            </a:r>
            <a:endParaRPr lang="en-US" sz="800" dirty="0"/>
          </a:p>
        </p:txBody>
      </p:sp>
      <p:sp>
        <p:nvSpPr>
          <p:cNvPr id="18" name="Shape 16"/>
          <p:cNvSpPr/>
          <p:nvPr/>
        </p:nvSpPr>
        <p:spPr>
          <a:xfrm>
            <a:off x="4069080" y="2514600"/>
            <a:ext cx="1005840" cy="457200"/>
          </a:xfrm>
          <a:prstGeom prst="roundRect">
            <a:avLst>
              <a:gd name="adj" fmla="val 16000"/>
            </a:avLst>
          </a:prstGeom>
          <a:solidFill>
            <a:srgbClr val="F2ECE1"/>
          </a:solidFill>
          <a:ln w="15875">
            <a:solidFill>
              <a:srgbClr val="2F6D62"/>
            </a:solidFill>
            <a:prstDash val="solid"/>
          </a:ln>
        </p:spPr>
      </p:sp>
      <p:sp>
        <p:nvSpPr>
          <p:cNvPr id="19" name="Text 17"/>
          <p:cNvSpPr txBox="1"/>
          <p:nvPr/>
        </p:nvSpPr>
        <p:spPr>
          <a:xfrm>
            <a:off x="4133088" y="2549347"/>
            <a:ext cx="87782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Repair the foreign key and dump again</a:t>
            </a:r>
            <a:endParaRPr lang="en-US" sz="800" dirty="0"/>
          </a:p>
        </p:txBody>
      </p:sp>
      <p:sp>
        <p:nvSpPr>
          <p:cNvPr id="20" name="Shape 18"/>
          <p:cNvSpPr/>
          <p:nvPr/>
        </p:nvSpPr>
        <p:spPr>
          <a:xfrm>
            <a:off x="2971800" y="1481328"/>
            <a:ext cx="182880" cy="182880"/>
          </a:xfrm>
          <a:prstGeom prst="ellipse">
            <a:avLst/>
          </a:prstGeom>
          <a:solidFill>
            <a:srgbClr val="2B2622"/>
          </a:solidFill>
          <a:ln w="15875">
            <a:solidFill>
              <a:srgbClr val="2B2622"/>
            </a:solidFill>
            <a:prstDash val="solid"/>
          </a:ln>
        </p:spPr>
      </p:sp>
      <p:sp>
        <p:nvSpPr>
          <p:cNvPr id="21" name="Shape 19"/>
          <p:cNvSpPr/>
          <p:nvPr/>
        </p:nvSpPr>
        <p:spPr>
          <a:xfrm>
            <a:off x="1106424" y="3785616"/>
            <a:ext cx="256032" cy="256032"/>
          </a:xfrm>
          <a:prstGeom prst="ellipse">
            <a:avLst/>
          </a:prstGeom>
          <a:solidFill>
            <a:srgbClr val="FFFFFF"/>
          </a:solidFill>
          <a:ln w="25400">
            <a:solidFill>
              <a:srgbClr val="2B2622"/>
            </a:solidFill>
            <a:prstDash val="solid"/>
          </a:ln>
        </p:spPr>
      </p:sp>
      <p:sp>
        <p:nvSpPr>
          <p:cNvPr id="22" name="Shape 20"/>
          <p:cNvSpPr/>
          <p:nvPr/>
        </p:nvSpPr>
        <p:spPr>
          <a:xfrm>
            <a:off x="1161288" y="3840480"/>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011680" y="1572768"/>
            <a:ext cx="960120" cy="0"/>
          </a:xfrm>
          <a:prstGeom prst="line">
            <a:avLst/>
          </a:prstGeom>
          <a:noFill/>
          <a:ln w="15875">
            <a:solidFill>
              <a:srgbClr val="6E655C"/>
            </a:solidFill>
            <a:prstDash val="solid"/>
            <a:tailEnd type="triangle"/>
          </a:ln>
        </p:spPr>
      </p:sp>
      <p:sp>
        <p:nvSpPr>
          <p:cNvPr id="24" name="Shape 22"/>
          <p:cNvSpPr/>
          <p:nvPr/>
        </p:nvSpPr>
        <p:spPr>
          <a:xfrm>
            <a:off x="1234440" y="1801368"/>
            <a:ext cx="0" cy="100584"/>
          </a:xfrm>
          <a:prstGeom prst="line">
            <a:avLst/>
          </a:prstGeom>
          <a:noFill/>
          <a:ln w="15875">
            <a:solidFill>
              <a:srgbClr val="6E655C"/>
            </a:solidFill>
            <a:prstDash val="solid"/>
            <a:tailEnd type="triangle"/>
          </a:ln>
        </p:spPr>
      </p:sp>
      <p:sp>
        <p:nvSpPr>
          <p:cNvPr id="25" name="Shape 23"/>
          <p:cNvSpPr/>
          <p:nvPr/>
        </p:nvSpPr>
        <p:spPr>
          <a:xfrm>
            <a:off x="1234440" y="2414016"/>
            <a:ext cx="0" cy="100584"/>
          </a:xfrm>
          <a:prstGeom prst="line">
            <a:avLst/>
          </a:prstGeom>
          <a:noFill/>
          <a:ln w="15875">
            <a:solidFill>
              <a:srgbClr val="6E655C"/>
            </a:solidFill>
            <a:prstDash val="solid"/>
            <a:tailEnd type="triangle"/>
          </a:ln>
        </p:spPr>
      </p:sp>
      <p:sp>
        <p:nvSpPr>
          <p:cNvPr id="26" name="Text 24"/>
          <p:cNvSpPr txBox="1"/>
          <p:nvPr/>
        </p:nvSpPr>
        <p:spPr>
          <a:xfrm>
            <a:off x="1289304" y="238201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2011680" y="2157984"/>
            <a:ext cx="411480" cy="0"/>
          </a:xfrm>
          <a:prstGeom prst="line">
            <a:avLst/>
          </a:prstGeom>
          <a:noFill/>
          <a:ln w="15875">
            <a:solidFill>
              <a:srgbClr val="6E655C"/>
            </a:solidFill>
            <a:prstDash val="solid"/>
            <a:tailEnd type="triangle"/>
          </a:ln>
        </p:spPr>
      </p:sp>
      <p:sp>
        <p:nvSpPr>
          <p:cNvPr id="28" name="Text 26"/>
          <p:cNvSpPr txBox="1"/>
          <p:nvPr/>
        </p:nvSpPr>
        <p:spPr>
          <a:xfrm>
            <a:off x="2057400" y="197510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9" name="Shape 27"/>
          <p:cNvSpPr/>
          <p:nvPr/>
        </p:nvSpPr>
        <p:spPr>
          <a:xfrm>
            <a:off x="1234440" y="2971800"/>
            <a:ext cx="0" cy="128016"/>
          </a:xfrm>
          <a:prstGeom prst="line">
            <a:avLst/>
          </a:prstGeom>
          <a:noFill/>
          <a:ln w="15875">
            <a:solidFill>
              <a:srgbClr val="6E655C"/>
            </a:solidFill>
            <a:prstDash val="solid"/>
            <a:tailEnd type="triangle"/>
          </a:ln>
        </p:spPr>
      </p:sp>
      <p:sp>
        <p:nvSpPr>
          <p:cNvPr id="30" name="Shape 28"/>
          <p:cNvSpPr/>
          <p:nvPr/>
        </p:nvSpPr>
        <p:spPr>
          <a:xfrm>
            <a:off x="3063240" y="2386584"/>
            <a:ext cx="0" cy="100584"/>
          </a:xfrm>
          <a:prstGeom prst="line">
            <a:avLst/>
          </a:prstGeom>
          <a:noFill/>
          <a:ln w="15875">
            <a:solidFill>
              <a:srgbClr val="6E655C"/>
            </a:solidFill>
            <a:prstDash val="solid"/>
            <a:tailEnd type="triangle"/>
          </a:ln>
        </p:spPr>
      </p:sp>
      <p:sp>
        <p:nvSpPr>
          <p:cNvPr id="31" name="Shape 29"/>
          <p:cNvSpPr/>
          <p:nvPr/>
        </p:nvSpPr>
        <p:spPr>
          <a:xfrm>
            <a:off x="3703320" y="2743200"/>
            <a:ext cx="365760" cy="0"/>
          </a:xfrm>
          <a:prstGeom prst="line">
            <a:avLst/>
          </a:prstGeom>
          <a:noFill/>
          <a:ln w="15875">
            <a:solidFill>
              <a:srgbClr val="6E655C"/>
            </a:solidFill>
            <a:prstDash val="solid"/>
            <a:tailEnd type="triangle"/>
          </a:ln>
        </p:spPr>
      </p:sp>
      <p:sp>
        <p:nvSpPr>
          <p:cNvPr id="32" name="Text 30"/>
          <p:cNvSpPr txBox="1"/>
          <p:nvPr/>
        </p:nvSpPr>
        <p:spPr>
          <a:xfrm>
            <a:off x="3749040" y="256032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Shape 31"/>
          <p:cNvSpPr/>
          <p:nvPr/>
        </p:nvSpPr>
        <p:spPr>
          <a:xfrm>
            <a:off x="3063240" y="2999232"/>
            <a:ext cx="0" cy="329184"/>
          </a:xfrm>
          <a:prstGeom prst="line">
            <a:avLst/>
          </a:prstGeom>
          <a:noFill/>
          <a:ln w="15875">
            <a:solidFill>
              <a:srgbClr val="6E655C"/>
            </a:solidFill>
            <a:prstDash val="solid"/>
          </a:ln>
        </p:spPr>
      </p:sp>
      <p:sp>
        <p:nvSpPr>
          <p:cNvPr id="34" name="Shape 32"/>
          <p:cNvSpPr/>
          <p:nvPr/>
        </p:nvSpPr>
        <p:spPr>
          <a:xfrm flipH="1">
            <a:off x="2011680" y="3328416"/>
            <a:ext cx="1051560" cy="0"/>
          </a:xfrm>
          <a:prstGeom prst="line">
            <a:avLst/>
          </a:prstGeom>
          <a:noFill/>
          <a:ln w="15875">
            <a:solidFill>
              <a:srgbClr val="6E655C"/>
            </a:solidFill>
            <a:prstDash val="solid"/>
            <a:tailEnd type="triangle"/>
          </a:ln>
        </p:spPr>
      </p:sp>
      <p:sp>
        <p:nvSpPr>
          <p:cNvPr id="35" name="Text 33"/>
          <p:cNvSpPr txBox="1"/>
          <p:nvPr/>
        </p:nvSpPr>
        <p:spPr>
          <a:xfrm>
            <a:off x="3127248" y="299923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6" name="Shape 34"/>
          <p:cNvSpPr/>
          <p:nvPr/>
        </p:nvSpPr>
        <p:spPr>
          <a:xfrm flipV="1">
            <a:off x="4572000" y="2157984"/>
            <a:ext cx="0" cy="356616"/>
          </a:xfrm>
          <a:prstGeom prst="line">
            <a:avLst/>
          </a:prstGeom>
          <a:noFill/>
          <a:ln w="15875">
            <a:solidFill>
              <a:srgbClr val="6E655C"/>
            </a:solidFill>
            <a:prstDash val="solid"/>
          </a:ln>
        </p:spPr>
      </p:sp>
      <p:sp>
        <p:nvSpPr>
          <p:cNvPr id="37" name="Shape 35"/>
          <p:cNvSpPr/>
          <p:nvPr/>
        </p:nvSpPr>
        <p:spPr>
          <a:xfrm flipH="1">
            <a:off x="3703320" y="2157984"/>
            <a:ext cx="868680" cy="0"/>
          </a:xfrm>
          <a:prstGeom prst="line">
            <a:avLst/>
          </a:prstGeom>
          <a:noFill/>
          <a:ln w="15875">
            <a:solidFill>
              <a:srgbClr val="6E655C"/>
            </a:solidFill>
            <a:prstDash val="solid"/>
            <a:tailEnd type="triangle"/>
          </a:ln>
        </p:spPr>
      </p:sp>
      <p:sp>
        <p:nvSpPr>
          <p:cNvPr id="38" name="Shape 36"/>
          <p:cNvSpPr/>
          <p:nvPr/>
        </p:nvSpPr>
        <p:spPr>
          <a:xfrm>
            <a:off x="1234440" y="3557016"/>
            <a:ext cx="0" cy="228600"/>
          </a:xfrm>
          <a:prstGeom prst="line">
            <a:avLst/>
          </a:prstGeom>
          <a:noFill/>
          <a:ln w="15875">
            <a:solidFill>
              <a:srgbClr val="6E655C"/>
            </a:solidFill>
            <a:prstDash val="solid"/>
            <a:tailEnd type="triangle"/>
          </a:ln>
        </p:spPr>
      </p:sp>
      <p:sp>
        <p:nvSpPr>
          <p:cNvPr id="39" name="Text 37"/>
          <p:cNvSpPr txBox="1"/>
          <p:nvPr/>
        </p:nvSpPr>
        <p:spPr>
          <a:xfrm>
            <a:off x="457200" y="4233672"/>
            <a:ext cx="46177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ChoosingHowToCopy - Workflow pattern, 24 of 27 words grounded in the chapter's text</a:t>
            </a:r>
            <a:endParaRPr lang="en-US" sz="850" dirty="0"/>
          </a:p>
        </p:txBody>
      </p:sp>
      <p:sp>
        <p:nvSpPr>
          <p:cNvPr id="40" name="Text 38"/>
          <p:cNvSpPr txBox="1"/>
          <p:nvPr/>
        </p:nvSpPr>
        <p:spPr>
          <a:xfrm>
            <a:off x="5166360" y="1143000"/>
            <a:ext cx="35204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backupAndDump_v1_0_0.py</a:t>
            </a:r>
            <a:endParaRPr lang="en-US" sz="1000" dirty="0"/>
          </a:p>
        </p:txBody>
      </p:sp>
      <p:sp>
        <p:nvSpPr>
          <p:cNvPr id="41" name="Shape 39"/>
          <p:cNvSpPr/>
          <p:nvPr/>
        </p:nvSpPr>
        <p:spPr>
          <a:xfrm>
            <a:off x="5166360" y="1417320"/>
            <a:ext cx="3520440" cy="1289304"/>
          </a:xfrm>
          <a:prstGeom prst="roundRect">
            <a:avLst>
              <a:gd name="adj" fmla="val 7092"/>
            </a:avLst>
          </a:prstGeom>
          <a:solidFill>
            <a:srgbClr val="23272E"/>
          </a:solidFill>
          <a:ln w="12700">
            <a:solidFill>
              <a:srgbClr val="23272E"/>
            </a:solidFill>
            <a:prstDash val="solid"/>
          </a:ln>
        </p:spPr>
      </p:sp>
      <p:sp>
        <p:nvSpPr>
          <p:cNvPr id="42" name="Text 40"/>
          <p:cNvSpPr txBox="1"/>
          <p:nvPr/>
        </p:nvSpPr>
        <p:spPr>
          <a:xfrm>
            <a:off x="5349240" y="1536192"/>
            <a:ext cx="3154680" cy="1051560"/>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[('Zophie', 'black'), ('Toby', 'black')] 8192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BEGIN TRANSACTION;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CREATE TABLE cats (name TEXT NOT NULL, fur TEXT) STRICT;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INSERT INTO "cats" VALUES('Zophie','black');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INSERT INTO "cats" VALUES('Toby','black');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COMMIT;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target cannot be the same connection instance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a:t>
            </a:r>
            <a:endParaRPr lang="en-US" sz="700" dirty="0"/>
          </a:p>
        </p:txBody>
      </p:sp>
      <p:sp>
        <p:nvSpPr>
          <p:cNvPr id="43" name="Shape 41"/>
          <p:cNvSpPr/>
          <p:nvPr/>
        </p:nvSpPr>
        <p:spPr>
          <a:xfrm>
            <a:off x="5166360" y="2843784"/>
            <a:ext cx="3520440" cy="1682496"/>
          </a:xfrm>
          <a:prstGeom prst="roundRect">
            <a:avLst>
              <a:gd name="adj" fmla="val 5435"/>
            </a:avLst>
          </a:prstGeom>
          <a:solidFill>
            <a:srgbClr val="F2ECE1"/>
          </a:solidFill>
          <a:ln w="12700">
            <a:solidFill>
              <a:srgbClr val="F2ECE1"/>
            </a:solidFill>
            <a:prstDash val="solid"/>
          </a:ln>
        </p:spPr>
      </p:sp>
      <p:sp>
        <p:nvSpPr>
          <p:cNvPr id="44" name="Text 42"/>
          <p:cNvSpPr txBox="1"/>
          <p:nvPr/>
        </p:nvSpPr>
        <p:spPr>
          <a:xfrm>
            <a:off x="5349240" y="2962656"/>
            <a:ext cx="31546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Two copies, one catch</a:t>
            </a:r>
            <a:endParaRPr lang="en-US" sz="1600" dirty="0"/>
          </a:p>
        </p:txBody>
      </p:sp>
      <p:sp>
        <p:nvSpPr>
          <p:cNvPr id="45" name="Text 43"/>
          <p:cNvSpPr txBox="1"/>
          <p:nvPr/>
        </p:nvSpPr>
        <p:spPr>
          <a:xfrm>
            <a:off x="5349240" y="3346704"/>
            <a:ext cx="3154680" cy="104241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backup(target) copies pages into another connection, even from memory to a file; iterdump() yields the SQL text. On the shipped file the dump fails from Python 3.13.</a:t>
            </a:r>
            <a:endParaRPr lang="en-US" sz="950" dirty="0"/>
          </a:p>
        </p:txBody>
      </p:sp>
      <p:sp>
        <p:nvSpPr>
          <p:cNvPr id="46" name="Shape 44"/>
          <p:cNvSpPr/>
          <p:nvPr/>
        </p:nvSpPr>
        <p:spPr>
          <a:xfrm>
            <a:off x="457200" y="4636008"/>
            <a:ext cx="91440" cy="310896"/>
          </a:xfrm>
          <a:prstGeom prst="rect">
            <a:avLst/>
          </a:prstGeom>
          <a:solidFill>
            <a:srgbClr val="D97A14"/>
          </a:solidFill>
          <a:ln w="12700">
            <a:solidFill>
              <a:srgbClr val="D97A14"/>
            </a:solidFill>
            <a:prstDash val="solid"/>
          </a:ln>
        </p:spPr>
      </p:sp>
      <p:sp>
        <p:nvSpPr>
          <p:cNvPr id="47" name="Text 4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backup() copies a database; iterdump() copies its text.</a:t>
            </a:r>
            <a:endParaRPr lang="en-US" sz="1350" dirty="0"/>
          </a:p>
        </p:txBody>
      </p:sp>
      <p:sp>
        <p:nvSpPr>
          <p:cNvPr id="48" name="Text 4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practice program, and the tools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Cat Vaccination Checker on the book's own file; the shell and three apps</a:t>
            </a:r>
            <a:endParaRPr lang="en-US" sz="1300" dirty="0"/>
          </a:p>
        </p:txBody>
      </p:sp>
      <p:sp>
        <p:nvSpPr>
          <p:cNvPr id="6" name="Text 4"/>
          <p:cNvSpPr txBox="1"/>
          <p:nvPr/>
        </p:nvSpPr>
        <p:spPr>
          <a:xfrm>
            <a:off x="457200" y="1143000"/>
            <a:ext cx="47000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catCheckerCut_v1_0_0.py, lines 16 to 29 of 30</a:t>
            </a:r>
            <a:endParaRPr lang="en-US" sz="1000" dirty="0"/>
          </a:p>
        </p:txBody>
      </p:sp>
      <p:sp>
        <p:nvSpPr>
          <p:cNvPr id="7" name="Shape 5"/>
          <p:cNvSpPr/>
          <p:nvPr/>
        </p:nvSpPr>
        <p:spPr>
          <a:xfrm>
            <a:off x="457200" y="1417320"/>
            <a:ext cx="4700016"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334256"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print(q(</a:t>
            </a:r>
            <a:r>
              <a:rPr lang="en-US" sz="700" dirty="0">
                <a:solidFill>
                  <a:srgbClr val="9ECBFF"/>
                </a:solidFill>
                <a:latin typeface="Courier New" pitchFamily="34" charset="0"/>
                <a:ea typeface="Courier New" pitchFamily="34" charset="-122"/>
                <a:cs typeface="Courier New" pitchFamily="34" charset="-120"/>
              </a:rPr>
              <a:t>'SELECT count(*) FROM cats'</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q(</a:t>
            </a:r>
            <a:r>
              <a:rPr lang="en-US" sz="700" dirty="0">
                <a:solidFill>
                  <a:srgbClr val="9ECBFF"/>
                </a:solidFill>
                <a:latin typeface="Courier New" pitchFamily="34" charset="0"/>
                <a:ea typeface="Courier New" pitchFamily="34" charset="-122"/>
                <a:cs typeface="Courier New" pitchFamily="34" charset="-120"/>
              </a:rPr>
              <a:t>'SELECT count(*) FROM vaccinations'</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'vaccinations'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early = q(</a:t>
            </a:r>
            <a:r>
              <a:rPr lang="en-US" sz="700" dirty="0">
                <a:solidFill>
                  <a:srgbClr val="9ECBFF"/>
                </a:solidFill>
                <a:latin typeface="Courier New" pitchFamily="34" charset="0"/>
                <a:ea typeface="Courier New" pitchFamily="34" charset="-122"/>
                <a:cs typeface="Courier New" pitchFamily="34" charset="-120"/>
              </a:rPr>
              <a:t>'SELECT c.name, c.birthdate, v.vaccine, v.date_administered'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FROM vaccinations v JOIN cats c ON v.cat_id = c.rowid'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WHERE v.date_administered &lt; c.birthdate ORDER BY v.rowid'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early: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'given before birth:'</a:t>
            </a:r>
            <a:r>
              <a:rPr lang="en-US" sz="700" dirty="0">
                <a:solidFill>
                  <a:srgbClr val="E6EDF3"/>
                </a:solidFill>
                <a:latin typeface="Courier New" pitchFamily="34" charset="0"/>
                <a:ea typeface="Courier New" pitchFamily="34" charset="-122"/>
                <a:cs typeface="Courier New" pitchFamily="34" charset="-120"/>
              </a:rPr>
              <a:t>, row)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missing = q(</a:t>
            </a:r>
            <a:r>
              <a:rPr lang="en-US" sz="700" dirty="0">
                <a:solidFill>
                  <a:srgbClr val="9ECBFF"/>
                </a:solidFill>
                <a:latin typeface="Courier New" pitchFamily="34" charset="0"/>
                <a:ea typeface="Courier New" pitchFamily="34" charset="-122"/>
                <a:cs typeface="Courier New" pitchFamily="34" charset="-120"/>
              </a:rPr>
              <a:t>'SELECT c.rowid, c.name FROM cats 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LEFT JOIN vaccinations v ON v.cat_id = c.rowid'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GROUP BY c.rowid HAVING count(DISTINCT v.vaccine) &lt; 3'</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ORDER BY c.rowid'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'missing a vaccine:'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.join(name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name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missing))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print(q(</a:t>
            </a:r>
            <a:r>
              <a:rPr lang="en-US" sz="700" dirty="0">
                <a:solidFill>
                  <a:srgbClr val="9ECBFF"/>
                </a:solidFill>
                <a:latin typeface="Courier New" pitchFamily="34" charset="0"/>
                <a:ea typeface="Courier New" pitchFamily="34" charset="-122"/>
                <a:cs typeface="Courier New" pitchFamily="34" charset="-120"/>
              </a:rPr>
              <a:t>'SELECT vaccine, count(*) FROM vaccinations GROUP BY vaccine'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print(q(</a:t>
            </a:r>
            <a:r>
              <a:rPr lang="en-US" sz="700" dirty="0">
                <a:solidFill>
                  <a:srgbClr val="9ECBFF"/>
                </a:solidFill>
                <a:latin typeface="Courier New" pitchFamily="34" charset="0"/>
                <a:ea typeface="Courier New" pitchFamily="34" charset="-122"/>
                <a:cs typeface="Courier New" pitchFamily="34" charset="-120"/>
              </a:rPr>
              <a:t>'SELECT name, count(*) FROM cats GROUP BY name HAVING count(*) &gt; 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100 cats, 291 vaccinations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given before birth: ('Ruby', '2023-12-22', 'FVRCP', '2004-12-24')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given before birth: ('Java', '2019-12-19', 'FVRCP', '2001-03-13')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given before birth: ('Rocket', '2013-03-28', 'FVRCP', '2003-12-25')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missing a vaccine: Molly, Sage, Hugh, Chester, Snowflake, Luke, Muffin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[('FVRCP', 97), ('FeLV', 97), ('rabies', 97)]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[('Tiger', 2)]</a:t>
            </a:r>
            <a:endParaRPr lang="en-US" sz="700" dirty="0"/>
          </a:p>
        </p:txBody>
      </p:sp>
      <p:sp>
        <p:nvSpPr>
          <p:cNvPr id="9" name="Shape 7"/>
          <p:cNvSpPr/>
          <p:nvPr/>
        </p:nvSpPr>
        <p:spPr>
          <a:xfrm>
            <a:off x="5340096" y="1325880"/>
            <a:ext cx="3346704" cy="1325880"/>
          </a:xfrm>
          <a:prstGeom prst="roundRect">
            <a:avLst>
              <a:gd name="adj" fmla="val 6897"/>
            </a:avLst>
          </a:prstGeom>
          <a:solidFill>
            <a:srgbClr val="F2ECE1"/>
          </a:solidFill>
          <a:ln w="12700">
            <a:solidFill>
              <a:srgbClr val="F2ECE1"/>
            </a:solidFill>
            <a:prstDash val="solid"/>
          </a:ln>
        </p:spPr>
      </p:sp>
      <p:sp>
        <p:nvSpPr>
          <p:cNvPr id="10" name="Text 8"/>
          <p:cNvSpPr txBox="1"/>
          <p:nvPr/>
        </p:nvSpPr>
        <p:spPr>
          <a:xfrm>
            <a:off x="5522976" y="1444752"/>
            <a:ext cx="2980944"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The shell, and Python's own</a:t>
            </a:r>
            <a:endParaRPr lang="en-US" sz="1600" dirty="0"/>
          </a:p>
        </p:txBody>
      </p:sp>
      <p:sp>
        <p:nvSpPr>
          <p:cNvPr id="11" name="Text 9"/>
          <p:cNvSpPr txBox="1"/>
          <p:nvPr/>
        </p:nvSpPr>
        <p:spPr>
          <a:xfrm>
            <a:off x="5522976" y="1828800"/>
            <a:ext cx="2980944" cy="6858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official sqlite3 shell, release 3.54.0, ran a script and boxed its tables in a terminal. python -m sqlite3 example.db opens a second shell with no install.</a:t>
            </a:r>
            <a:endParaRPr lang="en-US" sz="900" dirty="0"/>
          </a:p>
        </p:txBody>
      </p:sp>
      <p:sp>
        <p:nvSpPr>
          <p:cNvPr id="12" name="Shape 10"/>
          <p:cNvSpPr/>
          <p:nvPr/>
        </p:nvSpPr>
        <p:spPr>
          <a:xfrm>
            <a:off x="5340096" y="2724912"/>
            <a:ext cx="3346704"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522976" y="2843784"/>
            <a:ext cx="2980944"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5522976" y="3227832"/>
            <a:ext cx="2980944" cy="5486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DB Browser for SQLite, Letos (once SQLiteStudio), DBeaver, sudo apt install sqlite3 and the Windows and macOS installers were not run.</a:t>
            </a:r>
            <a:endParaRPr lang="en-US" sz="900" dirty="0"/>
          </a:p>
        </p:txBody>
      </p:sp>
      <p:sp>
        <p:nvSpPr>
          <p:cNvPr id="15" name="Text 13"/>
          <p:cNvSpPr txBox="1"/>
          <p:nvPr/>
        </p:nvSpPr>
        <p:spPr>
          <a:xfrm>
            <a:off x="5340096" y="3931920"/>
            <a:ext cx="3346704"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Shipped database: sweigartcats.db of the book's online materials, fetched from nostarch.com at run time, sha256 41f0d0b5bc2e... checked.</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the checker on the book's file; the tools differ from the book.</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840480" y="2286000"/>
            <a:ext cx="146304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913632" y="2464308"/>
            <a:ext cx="1316736" cy="69403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SQLite: a database in one file that a program reads and writes with SQL</a:t>
            </a:r>
            <a:endParaRPr lang="en-US" sz="1100" dirty="0"/>
          </a:p>
        </p:txBody>
      </p:sp>
      <p:sp>
        <p:nvSpPr>
          <p:cNvPr id="8" name="Shape 6"/>
          <p:cNvSpPr/>
          <p:nvPr/>
        </p:nvSpPr>
        <p:spPr>
          <a:xfrm>
            <a:off x="457200" y="1280160"/>
            <a:ext cx="3017520" cy="978408"/>
          </a:xfrm>
          <a:prstGeom prst="roundRect">
            <a:avLst>
              <a:gd name="adj" fmla="val 7477"/>
            </a:avLst>
          </a:prstGeom>
          <a:solidFill>
            <a:srgbClr val="F2ECE1"/>
          </a:solidFill>
          <a:ln w="15875">
            <a:solidFill>
              <a:srgbClr val="2F6D62"/>
            </a:solidFill>
            <a:prstDash val="solid"/>
          </a:ln>
        </p:spPr>
      </p:sp>
      <p:sp>
        <p:nvSpPr>
          <p:cNvPr id="9" name="Shape 7"/>
          <p:cNvSpPr/>
          <p:nvPr/>
        </p:nvSpPr>
        <p:spPr>
          <a:xfrm>
            <a:off x="3474720" y="1769364"/>
            <a:ext cx="365760" cy="1042416"/>
          </a:xfrm>
          <a:prstGeom prst="line">
            <a:avLst/>
          </a:prstGeom>
          <a:noFill/>
          <a:ln w="15875">
            <a:solidFill>
              <a:srgbClr val="C9BFAE"/>
            </a:solidFill>
            <a:prstDash val="solid"/>
          </a:ln>
        </p:spPr>
      </p:sp>
      <p:sp>
        <p:nvSpPr>
          <p:cNvPr id="10" name="Text 8"/>
          <p:cNvSpPr txBox="1"/>
          <p:nvPr/>
        </p:nvSpPr>
        <p:spPr>
          <a:xfrm>
            <a:off x="548640" y="1325880"/>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idea of a database</a:t>
            </a:r>
            <a:endParaRPr lang="en-US" sz="1000" dirty="0"/>
          </a:p>
        </p:txBody>
      </p:sp>
      <p:sp>
        <p:nvSpPr>
          <p:cNvPr id="11" name="Text 9"/>
          <p:cNvSpPr txBox="1"/>
          <p:nvPr/>
        </p:nvSpPr>
        <p:spPr>
          <a:xfrm>
            <a:off x="548640" y="1506931"/>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table is like a spreadsheet with a rowid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SQLite is one file with no server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query replaces a loop over a list</a:t>
            </a:r>
            <a:endParaRPr lang="en-US" sz="850" dirty="0"/>
          </a:p>
        </p:txBody>
      </p:sp>
      <p:sp>
        <p:nvSpPr>
          <p:cNvPr id="12" name="Shape 10"/>
          <p:cNvSpPr/>
          <p:nvPr/>
        </p:nvSpPr>
        <p:spPr>
          <a:xfrm>
            <a:off x="457200" y="2322576"/>
            <a:ext cx="3017520" cy="978408"/>
          </a:xfrm>
          <a:prstGeom prst="roundRect">
            <a:avLst>
              <a:gd name="adj" fmla="val 7477"/>
            </a:avLst>
          </a:prstGeom>
          <a:solidFill>
            <a:srgbClr val="F2ECE1"/>
          </a:solidFill>
          <a:ln w="15875">
            <a:solidFill>
              <a:srgbClr val="2F6D62"/>
            </a:solidFill>
            <a:prstDash val="solid"/>
          </a:ln>
        </p:spPr>
      </p:sp>
      <p:sp>
        <p:nvSpPr>
          <p:cNvPr id="13" name="Shape 11"/>
          <p:cNvSpPr/>
          <p:nvPr/>
        </p:nvSpPr>
        <p:spPr>
          <a:xfrm>
            <a:off x="3474720" y="2811780"/>
            <a:ext cx="365760" cy="0"/>
          </a:xfrm>
          <a:prstGeom prst="line">
            <a:avLst/>
          </a:prstGeom>
          <a:noFill/>
          <a:ln w="15875">
            <a:solidFill>
              <a:srgbClr val="C9BFAE"/>
            </a:solidFill>
            <a:prstDash val="solid"/>
          </a:ln>
        </p:spPr>
      </p:sp>
      <p:sp>
        <p:nvSpPr>
          <p:cNvPr id="14" name="Text 12"/>
          <p:cNvSpPr txBox="1"/>
          <p:nvPr/>
        </p:nvSpPr>
        <p:spPr>
          <a:xfrm>
            <a:off x="548640" y="2368296"/>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Connection and schema</a:t>
            </a:r>
            <a:endParaRPr lang="en-US" sz="1000" dirty="0"/>
          </a:p>
        </p:txBody>
      </p:sp>
      <p:sp>
        <p:nvSpPr>
          <p:cNvPr id="15" name="Text 13"/>
          <p:cNvSpPr txBox="1"/>
          <p:nvPr/>
        </p:nvSpPr>
        <p:spPr>
          <a:xfrm>
            <a:off x="548640" y="2549347"/>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connect() opens or creates the file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STRICT table checks the types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schema is read from sqlite_schema</a:t>
            </a:r>
            <a:endParaRPr lang="en-US" sz="850" dirty="0"/>
          </a:p>
        </p:txBody>
      </p:sp>
      <p:sp>
        <p:nvSpPr>
          <p:cNvPr id="16" name="Shape 14"/>
          <p:cNvSpPr/>
          <p:nvPr/>
        </p:nvSpPr>
        <p:spPr>
          <a:xfrm>
            <a:off x="457200" y="3364992"/>
            <a:ext cx="3017520" cy="978408"/>
          </a:xfrm>
          <a:prstGeom prst="roundRect">
            <a:avLst>
              <a:gd name="adj" fmla="val 7477"/>
            </a:avLst>
          </a:prstGeom>
          <a:solidFill>
            <a:srgbClr val="F2ECE1"/>
          </a:solidFill>
          <a:ln w="15875">
            <a:solidFill>
              <a:srgbClr val="2F6D62"/>
            </a:solidFill>
            <a:prstDash val="solid"/>
          </a:ln>
        </p:spPr>
      </p:sp>
      <p:sp>
        <p:nvSpPr>
          <p:cNvPr id="17" name="Shape 15"/>
          <p:cNvSpPr/>
          <p:nvPr/>
        </p:nvSpPr>
        <p:spPr>
          <a:xfrm flipV="1">
            <a:off x="3474720" y="2811780"/>
            <a:ext cx="365760" cy="1042416"/>
          </a:xfrm>
          <a:prstGeom prst="line">
            <a:avLst/>
          </a:prstGeom>
          <a:noFill/>
          <a:ln w="15875">
            <a:solidFill>
              <a:srgbClr val="C9BFAE"/>
            </a:solidFill>
            <a:prstDash val="solid"/>
          </a:ln>
        </p:spPr>
      </p:sp>
      <p:sp>
        <p:nvSpPr>
          <p:cNvPr id="18" name="Text 16"/>
          <p:cNvSpPr txBox="1"/>
          <p:nvPr/>
        </p:nvSpPr>
        <p:spPr>
          <a:xfrm>
            <a:off x="548640" y="3410712"/>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CRUD operations</a:t>
            </a:r>
            <a:endParaRPr lang="en-US" sz="1000" dirty="0"/>
          </a:p>
        </p:txBody>
      </p:sp>
      <p:sp>
        <p:nvSpPr>
          <p:cNvPr id="19" name="Text 17"/>
          <p:cNvSpPr txBox="1"/>
          <p:nvPr/>
        </p:nvSpPr>
        <p:spPr>
          <a:xfrm>
            <a:off x="548640" y="3591763"/>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Insert, update and delete change the rows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placeholder keeps a value as data</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An index speeds up a search</a:t>
            </a:r>
            <a:endParaRPr lang="en-US" sz="850" dirty="0"/>
          </a:p>
        </p:txBody>
      </p:sp>
      <p:sp>
        <p:nvSpPr>
          <p:cNvPr id="20" name="Shape 18"/>
          <p:cNvSpPr/>
          <p:nvPr/>
        </p:nvSpPr>
        <p:spPr>
          <a:xfrm>
            <a:off x="5669280" y="1280160"/>
            <a:ext cx="3017520" cy="978408"/>
          </a:xfrm>
          <a:prstGeom prst="roundRect">
            <a:avLst>
              <a:gd name="adj" fmla="val 7477"/>
            </a:avLst>
          </a:prstGeom>
          <a:solidFill>
            <a:srgbClr val="F2ECE1"/>
          </a:solidFill>
          <a:ln w="15875">
            <a:solidFill>
              <a:srgbClr val="2F6D62"/>
            </a:solidFill>
            <a:prstDash val="solid"/>
          </a:ln>
        </p:spPr>
      </p:sp>
      <p:sp>
        <p:nvSpPr>
          <p:cNvPr id="21" name="Shape 19"/>
          <p:cNvSpPr/>
          <p:nvPr/>
        </p:nvSpPr>
        <p:spPr>
          <a:xfrm flipH="1">
            <a:off x="5303520" y="1769364"/>
            <a:ext cx="365760" cy="1042416"/>
          </a:xfrm>
          <a:prstGeom prst="line">
            <a:avLst/>
          </a:prstGeom>
          <a:noFill/>
          <a:ln w="15875">
            <a:solidFill>
              <a:srgbClr val="C9BFAE"/>
            </a:solidFill>
            <a:prstDash val="solid"/>
          </a:ln>
        </p:spPr>
      </p:sp>
      <p:sp>
        <p:nvSpPr>
          <p:cNvPr id="22" name="Text 20"/>
          <p:cNvSpPr txBox="1"/>
          <p:nvPr/>
        </p:nvSpPr>
        <p:spPr>
          <a:xfrm>
            <a:off x="5760720" y="1325880"/>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Transactions</a:t>
            </a:r>
            <a:endParaRPr lang="en-US" sz="1000" dirty="0"/>
          </a:p>
        </p:txBody>
      </p:sp>
      <p:sp>
        <p:nvSpPr>
          <p:cNvPr id="23" name="Text 21"/>
          <p:cNvSpPr txBox="1"/>
          <p:nvPr/>
        </p:nvSpPr>
        <p:spPr>
          <a:xfrm>
            <a:off x="5760720" y="1506931"/>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Commit keeps the changes and rollback undoes them</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failed statement changes nothing</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Write-ahead logging helps several writers</a:t>
            </a:r>
            <a:endParaRPr lang="en-US" sz="850" dirty="0"/>
          </a:p>
        </p:txBody>
      </p:sp>
      <p:sp>
        <p:nvSpPr>
          <p:cNvPr id="24" name="Shape 22"/>
          <p:cNvSpPr/>
          <p:nvPr/>
        </p:nvSpPr>
        <p:spPr>
          <a:xfrm>
            <a:off x="5669280" y="2322576"/>
            <a:ext cx="3017520" cy="978408"/>
          </a:xfrm>
          <a:prstGeom prst="roundRect">
            <a:avLst>
              <a:gd name="adj" fmla="val 7477"/>
            </a:avLst>
          </a:prstGeom>
          <a:solidFill>
            <a:srgbClr val="F2ECE1"/>
          </a:solidFill>
          <a:ln w="15875">
            <a:solidFill>
              <a:srgbClr val="2F6D62"/>
            </a:solidFill>
            <a:prstDash val="solid"/>
          </a:ln>
        </p:spPr>
      </p:sp>
      <p:sp>
        <p:nvSpPr>
          <p:cNvPr id="25" name="Shape 23"/>
          <p:cNvSpPr/>
          <p:nvPr/>
        </p:nvSpPr>
        <p:spPr>
          <a:xfrm flipH="1">
            <a:off x="5303520" y="2811780"/>
            <a:ext cx="365760" cy="0"/>
          </a:xfrm>
          <a:prstGeom prst="line">
            <a:avLst/>
          </a:prstGeom>
          <a:noFill/>
          <a:ln w="15875">
            <a:solidFill>
              <a:srgbClr val="C9BFAE"/>
            </a:solidFill>
            <a:prstDash val="solid"/>
          </a:ln>
        </p:spPr>
      </p:sp>
      <p:sp>
        <p:nvSpPr>
          <p:cNvPr id="26" name="Text 24"/>
          <p:cNvSpPr txBox="1"/>
          <p:nvPr/>
        </p:nvSpPr>
        <p:spPr>
          <a:xfrm>
            <a:off x="5760720" y="2368296"/>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Table structure</a:t>
            </a:r>
            <a:endParaRPr lang="en-US" sz="1000" dirty="0"/>
          </a:p>
        </p:txBody>
      </p:sp>
      <p:sp>
        <p:nvSpPr>
          <p:cNvPr id="27" name="Text 25"/>
          <p:cNvSpPr txBox="1"/>
          <p:nvPr/>
        </p:nvSpPr>
        <p:spPr>
          <a:xfrm>
            <a:off x="5760720" y="2549347"/>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Alter and drop change a table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foreign key links two tables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join reads them together</a:t>
            </a:r>
            <a:endParaRPr lang="en-US" sz="850" dirty="0"/>
          </a:p>
        </p:txBody>
      </p:sp>
      <p:sp>
        <p:nvSpPr>
          <p:cNvPr id="28" name="Shape 26"/>
          <p:cNvSpPr/>
          <p:nvPr/>
        </p:nvSpPr>
        <p:spPr>
          <a:xfrm>
            <a:off x="5669280" y="3364992"/>
            <a:ext cx="3017520" cy="978408"/>
          </a:xfrm>
          <a:prstGeom prst="roundRect">
            <a:avLst>
              <a:gd name="adj" fmla="val 7477"/>
            </a:avLst>
          </a:prstGeom>
          <a:solidFill>
            <a:srgbClr val="F2ECE1"/>
          </a:solidFill>
          <a:ln w="15875">
            <a:solidFill>
              <a:srgbClr val="2F6D62"/>
            </a:solidFill>
            <a:prstDash val="solid"/>
          </a:ln>
        </p:spPr>
      </p:sp>
      <p:sp>
        <p:nvSpPr>
          <p:cNvPr id="29" name="Shape 27"/>
          <p:cNvSpPr/>
          <p:nvPr/>
        </p:nvSpPr>
        <p:spPr>
          <a:xfrm flipH="1" flipV="1">
            <a:off x="5303520" y="2811780"/>
            <a:ext cx="365760" cy="1042416"/>
          </a:xfrm>
          <a:prstGeom prst="line">
            <a:avLst/>
          </a:prstGeom>
          <a:noFill/>
          <a:ln w="15875">
            <a:solidFill>
              <a:srgbClr val="C9BFAE"/>
            </a:solidFill>
            <a:prstDash val="solid"/>
          </a:ln>
        </p:spPr>
      </p:sp>
      <p:sp>
        <p:nvSpPr>
          <p:cNvPr id="30" name="Text 28"/>
          <p:cNvSpPr txBox="1"/>
          <p:nvPr/>
        </p:nvSpPr>
        <p:spPr>
          <a:xfrm>
            <a:off x="5760720" y="3410712"/>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Copies, tools and practice</a:t>
            </a:r>
            <a:endParaRPr lang="en-US" sz="1000" dirty="0"/>
          </a:p>
        </p:txBody>
      </p:sp>
      <p:sp>
        <p:nvSpPr>
          <p:cNvPr id="31" name="Text 29"/>
          <p:cNvSpPr txBox="1"/>
          <p:nvPr/>
        </p:nvSpPr>
        <p:spPr>
          <a:xfrm>
            <a:off x="5760720" y="3591763"/>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backup() and iterdump() copy a database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sqlite3 shell and three graphical apps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Two practice programs use the shipped file</a:t>
            </a:r>
            <a:endParaRPr lang="en-US" sz="850" dirty="0"/>
          </a:p>
        </p:txBody>
      </p:sp>
      <p:sp>
        <p:nvSpPr>
          <p:cNvPr id="32" name="Text 30"/>
          <p:cNvSpPr txBox="1"/>
          <p:nvPr/>
        </p:nvSpPr>
        <p:spPr>
          <a:xfrm>
            <a:off x="457200" y="437083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SqliteDatabasesAtAGlance - TopicAndParts pattern, 88 of 99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16 -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automatetheboringstuff.com/3e/chapter16.html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sqlite3 in the Python 3.14 documentation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docs.python.org/3.14/library/sqlite3.html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Practical SQL, 2nd edition (the book to read next)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nostarch.com/practical-sql-2nd-edition</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STRICT tables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sqlite.org/stricttables.html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SQLite foreign key support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sqlite.org/foreignkeys.html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Transactions: BEGIN, COMMIT, ROLLBACK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sqlite.org/lang_transaction.html</a:t>
            </a:r>
            <a:endParaRPr lang="en-US" sz="95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Write-ahead logging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sqlite.org/wal.html</a:t>
            </a:r>
            <a:endParaRPr lang="en-US" sz="95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standards</a:t>
            </a:r>
            <a:endParaRPr lang="en-US" sz="120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SQLite and D. Richard Hipp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en.wikipedia.org/wiki/SQLite</a:t>
            </a:r>
            <a:endParaRPr lang="en-US" sz="95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IBM: the relational database, after Codd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ibm.com/history/relational-database</a:t>
            </a:r>
            <a:endParaRPr lang="en-US" sz="95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What's new in Python 2.5: sqlite3 arrives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docs.python.org/3.14/whatsnew/2.5.html</a:t>
            </a:r>
            <a:endParaRPr lang="en-US" sz="95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xkcd 327, Exploits of a Mom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xkcd.com/327/</a:t>
            </a:r>
            <a:endParaRPr lang="en-US" sz="950" dirty="0"/>
          </a:p>
        </p:txBody>
      </p:sp>
      <p:sp>
        <p:nvSpPr>
          <p:cNvPr id="31" name="Shape 29"/>
          <p:cNvSpPr/>
          <p:nvPr/>
        </p:nvSpPr>
        <p:spPr>
          <a:xfrm>
            <a:off x="4768596" y="2944368"/>
            <a:ext cx="82296" cy="82296"/>
          </a:xfrm>
          <a:prstGeom prst="ellipse">
            <a:avLst/>
          </a:prstGeom>
          <a:solidFill>
            <a:srgbClr val="D97A14"/>
          </a:solidFill>
          <a:ln w="12700">
            <a:solidFill>
              <a:srgbClr val="D97A14"/>
            </a:solidFill>
            <a:prstDash val="solid"/>
          </a:ln>
        </p:spPr>
      </p:sp>
      <p:sp>
        <p:nvSpPr>
          <p:cNvPr id="32" name="Text 30"/>
          <p:cNvSpPr txBox="1"/>
          <p:nvPr/>
        </p:nvSpPr>
        <p:spPr>
          <a:xfrm>
            <a:off x="4933188" y="287121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SQLite 3.37.0 release log: STRICT tables  </a:t>
            </a:r>
            <a:r>
              <a:rPr lang="en-US" sz="95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sqlite.org/releaselog/3_37_0.html</a:t>
            </a:r>
            <a:endParaRPr lang="en-US" sz="950" dirty="0"/>
          </a:p>
        </p:txBody>
      </p:sp>
      <p:sp>
        <p:nvSpPr>
          <p:cNvPr id="33" name="Shape 31"/>
          <p:cNvSpPr/>
          <p:nvPr/>
        </p:nvSpPr>
        <p:spPr>
          <a:xfrm>
            <a:off x="4768596" y="3273552"/>
            <a:ext cx="82296" cy="82296"/>
          </a:xfrm>
          <a:prstGeom prst="ellipse">
            <a:avLst/>
          </a:prstGeom>
          <a:solidFill>
            <a:srgbClr val="D97A14"/>
          </a:solidFill>
          <a:ln w="12700">
            <a:solidFill>
              <a:srgbClr val="D97A14"/>
            </a:solidFill>
            <a:prstDash val="solid"/>
          </a:ln>
        </p:spPr>
      </p:sp>
      <p:sp>
        <p:nvSpPr>
          <p:cNvPr id="34" name="Text 32"/>
          <p:cNvSpPr txBox="1"/>
          <p:nvPr/>
        </p:nvSpPr>
        <p:spPr>
          <a:xfrm>
            <a:off x="4933188" y="320040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ACID (Wikipedia)  </a:t>
            </a:r>
            <a:r>
              <a:rPr lang="en-US" sz="950"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en.wikipedia.org/wiki/ACID</a:t>
            </a:r>
            <a:endParaRPr lang="en-US" sz="9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SQLite's pages and history, opened the day this deck was built.</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value goes in with a placeholder, and a statement is all or nothing.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STRICT makes a type a rule; the rowid is a number SQLite may hand out again.</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key must name a real column: the book's rowid key cannot be enforced.</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In memory is not the fast part; the commit is, and many writers wait.</a:t>
            </a:r>
            <a:endParaRPr lang="en-US" sz="1500" dirty="0"/>
          </a:p>
        </p:txBody>
      </p:sp>
      <p:sp>
        <p:nvSpPr>
          <p:cNvPr id="7" name="Shape 5"/>
          <p:cNvSpPr/>
          <p:nvPr/>
        </p:nvSpPr>
        <p:spPr>
          <a:xfrm>
            <a:off x="548640" y="3749040"/>
            <a:ext cx="1887779"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887779"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70 rows run</a:t>
            </a:r>
            <a:endParaRPr lang="en-US" sz="1300" dirty="0"/>
          </a:p>
        </p:txBody>
      </p:sp>
      <p:sp>
        <p:nvSpPr>
          <p:cNvPr id="9" name="Shape 7"/>
          <p:cNvSpPr/>
          <p:nvPr/>
        </p:nvSpPr>
        <p:spPr>
          <a:xfrm>
            <a:off x="2637587"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637587"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15 programs run</a:t>
            </a:r>
            <a:endParaRPr lang="en-US" sz="1300" dirty="0"/>
          </a:p>
        </p:txBody>
      </p:sp>
      <p:sp>
        <p:nvSpPr>
          <p:cNvPr id="11" name="Shape 9"/>
          <p:cNvSpPr/>
          <p:nvPr/>
        </p:nvSpPr>
        <p:spPr>
          <a:xfrm>
            <a:off x="5273345"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273345"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database to open.</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16 - SQLite Databases</dc:title>
  <dc:subject>PptxGenJS Presentation</dc:subject>
  <dc:creator>Yusuf Altunel</dc:creator>
  <cp:lastModifiedBy>Yusuf Altunel</cp:lastModifiedBy>
  <cp:revision>1</cp:revision>
  <dcterms:created xsi:type="dcterms:W3CDTF">2026-10-12T17:51:09Z</dcterms:created>
  <dcterms:modified xsi:type="dcterms:W3CDTF">2026-10-12T17:51:09Z</dcterms:modified>
  <cp:version>1.0.0</cp:version>
</cp:coreProperties>
</file>