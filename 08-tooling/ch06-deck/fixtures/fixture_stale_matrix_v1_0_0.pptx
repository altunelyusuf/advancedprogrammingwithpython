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Chapter 6 of the book (Sweigart, 2025) is about lists, and this lecture reads it the way an advanced course should: for every operation on a list, ask whether it changes the list in place, returns a new list, or only shares the list. Every result on these slides was produced by running it under Python 3.14.4, and the diagrams are drawn from recorded runs. The chapter page has the same diagrams, and its Lecture tab carries this talk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with a surprise the chapter itself prints. A list is made and given a second name; the second name is used to change one item; and the original name shows the change, because both names reach one list (Sweigart, 2025). Click for the surprise, and once more for the question that organises this lecture: which operations change a list, which return a new list, and which only share it. Ask the room to predict, before each section, which of the three an operation will turn out to be.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subjects, one row each, and each row is what you should be able to do at the end. They are the six top-level subjects of the chapter’s ontology, which holds 38 topics in all: the list type and its positions; changing lists; the operations that join, search and order them; loops and unpacking; sequences and references; and the random functions with the two short programs. Click through the rows. The last row is the reward: the Magic 8 Ball and the Matrix screensaver, both of which use only what the first five rows teach.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organising idea, and it comes from a design rule of the documentation: a method that mutates a mutable object returns None (Python Software Foundation, 2026). So append, sort and shuffle change the list itself and give back None. Sorted, a slice, the plus operator and a comprehension leave the original alone and give back a new list. Assignment, passing an argument and the star operator do not copy anything: they only share. Each chip was run on a real list, and the small line under it is what the run showed. Click one column at a time. Every later slide asks which column an operation belongs to.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The list type and where its items sit: the list, its length, indexing and slicing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 is an ordered sequence of values between square brackets; its items may have different types and may even be lists themselves (Sweigart, 2025). Each box has two indexes: counted from 0 at the front, and from -1 at the back, so the third item from the end is index -3. Click through the three lookups: the front, the back, and a negative index. The dashed box beyond the last item is the position that does not exist, and asking for it raises IndexError, exactly the message in the red chip. len returns the number of items. The last line of the session reaches into a list of lists, and the answer is 50.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slice such as one to three is a new list of the items from the start index up to but not including the end index (Sweigart, 2025). Each row is the same four boxes; the filled boxes are the items the slice selects, the bracket under them shows the run, and the small line names the indexes it picked. Click row by row. Leaving out an end means the front or the back. An end past the last item is clipped rather than raising an error, which the fourth row shows. A step of two takes every second item, and a step of minus one walks the list backwards, so that row is a reversed copy (Python Software Foundation, 2026).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Unlike a string or a tuple, a list can be changed in the same object, by adding, replacing and removing items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ways to put something into a list, and all four change the list itself. Append adds one item at the end. Insert puts a value before the item at the given index and moves the later items along. Assigning to an index replaces that item, and assigning a list to a slice replaces a run of items and may change the length of the list (Sweigart, 2025; Python Software Foundation, 2026). Each lane is one real run: the list before, the list after, and what the call returned. Green boxes are new, red boxes were replaced. Click lane by lane. Notice the amber chips: append and insert return None, which is why writing spam equals spam dot append loses the list.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to take items out, and again the list itself changes. Remove deletes only the first item equal to the value, so from a list with three cats only one cat leaves, and it raises ValueError when there is no such item. Pop removes the item at an index, by default the last one, and is the only one of the three that returns it: here it returns 7. Del is a statement, so it has no value; the items after the one it removes move up by one index (Sweigart, 2025; Python Software Foundation, 2026). The red boxes are the items that leave. The two red bars at the bottom are the real messages of the two errors. Click lane by lane.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Joining, searching and ordering lists: the operations the chapter builds on the list type (Sweigart, 2025). Ordering has four topics, because sorting is where in-place and new-list operations sit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plus operator joins two lists into a new list, and the star operator with an integer repeats a list into a new list; neither changes its operands (Sweigart, 2025). The two lanes on top are real runs and both are in the new-list column. The four small pictures below are the trap with the augmented operator. After b equals a, both names reach one list. The augmented assignment a plus-equals a list extends that same list in place, so b shows the change too. But a equals a plus another list builds a new list and only rebinds a: b is left behind, still holding the shorter list (Python Software Foundation, 2026). The reference calls the augmented form similar to, not the same as, the longhand. Click through the four steps.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 operator answers yes or no, and the index method answers with a position. Index returns the position of the first item equal to the value, so the first Pooka is at 1; an optional start argument finds the later one at 3; and a missing value raises ValueError, whose message reads list.index(x): x not in list under Python 3.14.4, where the chapter prints the value in the message (Sweigart, 2025). The four cards: on a string, in tests for a substring; on a list, only for a whole item, so gg is in the string eggs but not in the list holding eggs. The last two cards are short-circuiting. And and or stop as soon as the left operand decides the result and return that operand, not a Boolean, so a test that the list is not empty guards an index that would raise IndexError when the list is empty (Python Software Foundation, 2026).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pair that the whole chapter’s advice about None is about. Sort orders the list in place and returns None, so writing spam equals spam dot sort leaves spam holding None. Reverse also works in place and returns None. Sorted returns a new sorted list from any iterable and leaves the original unchanged, which the third lane shows: three, one, two is still three, one, two in the before row (Sweigart, 2025; Python Software Foundation, 2026). The fourth lane is the chapter’s reminder that strings sort with uppercase letters before lowercase ones, and the red bar is the TypeError raised when a list mixes numbers and strings, because sort compares with the less-than operator only. Click lane by lane.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and reverse are keyword-only arguments of sort and sorted. In the first picture the key is str.lower; the amber line under each input box is the key the function really returned, and the output row is the result. The lower-case a and the upper-case A have the same key, so they keep the order they had: that is what stability means, and both sort and sorted are stable (Python Software Foundation, 2026). The second picture is the chapter’s reverse equals True: it sorts as if each comparison were reversed. The third picture sorts pairs by their first item only; the two blue pairs and the two red pairs keep their original order among themselves. Click example by example.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A for loop and a multiple assignment are the two ways the chapter takes a list apart, and this section adds the comprehension and the trap of changing a list while it is walked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loops were run over the chapter’s list of four supplies and every pass was recorded. The first uses range of len to produce each index, and then indexes the list; the second lets enumerate hand over the index and the item together, so the loop needs neither len nor range (Sweigart, 2025). The printed column is identical in both tables. Enumerate takes a start argument: counting from 1 gives the pair 1 and pens first, which is the amber bar. Assigning to i inside the loop does not change which index comes next, because the range supplies the next value regardless (Python Software Foundation, 2026).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trap the chapter does not present, and the commonest bug with lists. The program removes every item below 3 while a for loop walks the list, and it prints [2, 3, 4]: the 2 was never removed. The three rows are the passes of a line trace of that very program. In pass one the loop is at position 0, sees 1 and removes it, so 2 moves into position 0. The iterator counts positions, so pass two is at position 1, which now holds 3; the 2 is never visited (Python Software Foundation, 2026). Build a new list instead, or loop over a copy: the fixed program prints [3, 4]. Click pass by pass.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Assigning a list to several names is the chapter’s multiple assignment, technically tuple unpacking: the names take the items left to right, and one name too many raises ValueError, which the red box shows with its real message (Sweigart, 2025). Current Python adds one starred name that takes whatever is left over, so the number of names no longer has to match the number of items: first and the rest, or head, the middle and last (Brandl, 2007). A star inside a list display splices a list into a new list (Landau, 2013). On the right, the list comprehension builds a new list from a rule without an append loop; it appeared in Python 2.0 (Warsaw, 2000), and its loop variable does not stay behind afterwards (Python Software Foundation, 2026).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five. Lists, strings and tuples share the sequence operations, and what a variable holds decides what copying a list means (Sweigart, 2025). This is the section that pays off the 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names lists, strings, range objects and tuples as sequence types and separates the mutable from the immutable ones (Sweigart, 2025). Each card ran one item assignment on a real value: it worked on the list, and raised TypeError on the string, the tuple and the range. So a changed string is not changed at all: it is rebuilt from slices of the old one, which the first bottom card shows. A tuple is written with commas, usually in parentheses; a one-item tuple needs its trailing comma, and without it you have just a string in parentheses (Python Software Foundation, 2026).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the hook. A variable holds a reference to a value; assigning one variable to another copies the reference, not the value (Sweigart, 2025). In the top row, the second statement gives the list a second name. The third changes an item through eggs, and because both names reach one list, spam shows the change too: both name tags point at the same box. In the bottom row, the same three statements on a number end differently, because giving spam a new value only rebinds the name spam; the number 42 that eggs holds is left alone (Python Software Foundation, 2026). Click statement by statement.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program passes a list to a function (Sweigart, 2025). The function receives a reference to the list it is called with, so a method that changes the list inside the function changes the caller’s list: the left pair of pictures, where the parameter and spam are two names for one box, and back in the caller the box holds Hello. The right pair is the other function, which assigns a new list to the parameter: that only rebinds the local name. Inside the function the parameter now points at a new box, and back in the caller spam still holds the original three items. Arguments are passed by assignment, so there is no call by reference (Python Software Foundation, 2026). The pictures are frames of a line trace of the program on the left. Click frame by frame.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dot copy makes a new list that holds references to the same items (Sweigart, 2025). For a flat list that is enough: on the right, changing an item of the copy leaves the original alone. For a nested list it is not: on the left, nested and shallow are two different outer lists, but the arrows from both go to the same two inner lists, so appending to an inner list of nested shows in shallow as well. Deep copy copies the inner lists as well, recursively, so nothing is shared with the original; the two lines in the session confirm it with the identity operator. The slice, the copy method and list() also make shallow copies (Python Software Foundation, 2026). Click through.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trap the chapter does not present. Replicating a list repeats references to the same items, so a list of one empty list, times three, holds one inner list three times: the three arrows on the left end at a single box, and appending to the first item shows in all three. The comprehension on the right runs its expression once for each pass and so makes three separate lists (Python Software Foundation, 2026). The session underneath is the same two experiments as real code: the first ends in three threes, the second in one three and two empty lists. Use the star operator for immutable items such as numbers; use a comprehension for lists of lists.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six. The random functions, the two short programs and the practice work show lists in use (Sweigart, 2025). Nothing new is taught here; it is the payoff for the first five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short program of the chapter keeps nine answers in a list and prints one, chosen by a random index (Sweigart, 2025). The index runs from 0 to len minus 1, which is 8, because randint includes both ends, so every answer can appear: the bars on the right are the counts of two thousand seeded draws, and every index from 0 to 8 was drawn. The one line added to the chapter’s program is the seed, so that this deck prints the same answer each time. Below the bars, the three random functions that take a list: choice returns one item and leaves the list alone; shuffle reorders the list itself and returns None; sample with k equal to the length returns a shuffled new list (Python Software Foundation, 2026). Ask the room to type a question of their own.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short program keeps one counter per column in a list of 70 zeros (Sweigart, 2025). For each column on each row: a small chance restarts a stream by setting the counter to a random number from 4 to 14; a counter above zero prints a random 0 or 1 and counts down; a counter at zero prints a space. The two green panels are rows printed by a real run of the chapter’s program with time.sleep replaced, so it finishes at once: at the start a few streams begin, and at the end many streams run at once. The table follows one column, number 45, through one whole stream: a space, four digits while the counter falls from 3 to 0, then a space again. Now the hazard at the bottom: the streams end only because the decrement sits in the branch for a counter above zero. If it is applied to every column, a counter at zero runs negative and the column prints digits forever; the last row of that variant has no spaces at all. Both variants were executed for this study.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on the hook: two names, one list, one change. The chapter on one page is six verbs that match the six sections. Read a list by index and slice. Change it in place, remembering what each call returns. Combine, search and order it. Loop over it without changing what you walk. Trace what assignment, a function call, a copy and star share. And run the two programs. The three questions are the summary: did the list change, did I get a new one, or do two names reach one list. Those verbs are the chapter’s learning objectives on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aloud first, then read the answer. Question one revisits sort: it returns None and the list is sorted. Question two is the augmented assignment: b shows the change, because plus-equals extends the shared list. Question three counts distinct lists in a list of one empty list times three: one. Question four is the loop that skips. The bottom row is the chapter’s own practice: 17 practice questions and 2 practice programs (Sweigart, 2025). The cards show the answer to question 3 of the chapter, the comma code program, whose function joins a list into a comma-separated string with and before the last item, and the exact chance that 100 coin flips hold a streak of six, about 0.807, which the chapter’s 10,000-experiment count approximates. The solution and the exact probability were written for this study. Sources: the book chapter, the Python 3.14 documentation (tutorial, built-in types, data model, simple statements, copy, random, the Sorting HOWTO and the Programming FAQ), and PEP 202, PEP 448 and PEP 3132. The full source list is in the chapter’s research record, 03-materials/ch06/rdodi/sen0414_ch06_research_v1_0_0.ttl.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docs.python.org/3/reference/datamodel.html" TargetMode="External"/><Relationship Id="rId2" Type="http://schemas.openxmlformats.org/officeDocument/2006/relationships/hyperlink" Target="https://docs.python.org/3/library/stdtypes.html" TargetMode="Externa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tutorial/introduction.html"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tutorial/introduction.html"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howto/sorting.html"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howto/sorting.html"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docs.python.org/3/reference/compound_stmts.html" TargetMode="External"/><Relationship Id="rId2" Type="http://schemas.openxmlformats.org/officeDocument/2006/relationships/hyperlink" Target="https://docs.python.org/3/faq/programming.html" TargetMode="Externa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reference/datamodel.html"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faq/programming.html" TargetMode="External"/><Relationship Id="rId3" Type="http://schemas.openxmlformats.org/officeDocument/2006/relationships/hyperlink" Target="https://docs.python.org/3/reference/datamodel.html" TargetMode="External"/><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library/copy.html" TargetMode="External"/><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docs.python.org/3/faq/programming.html" TargetMode="External"/><Relationship Id="rId2" Type="http://schemas.openxmlformats.org/officeDocument/2006/relationships/hyperlink" Target="https://automatetheboringstuff.com/3e/chapter6.html" TargetMode="External"/><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hyperlink" Target="https://docs.python.org/3/library/random.html" TargetMode="External"/><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automatetheboringstuff.com/3e/chapter6.html" TargetMode="Externa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x"/>
          <p:cNvSpPr/>
          <p:nvPr/>
        </p:nvSpPr>
        <p:spPr>
          <a:xfrm>
            <a:off x="548640" y="914400"/>
            <a:ext cx="1097280" cy="731520"/>
          </a:xfrm>
          <a:prstGeom prst="roundRect">
            <a:avLst>
              <a:gd name="adj" fmla="val 15000"/>
            </a:avLst>
          </a:prstGeom>
          <a:solidFill>
            <a:srgbClr val="FFD43B"/>
          </a:solidFill>
          <a:ln w="12700">
            <a:solidFill>
              <a:srgbClr val="FFD43B"/>
            </a:solidFill>
            <a:prstDash val="solid"/>
          </a:ln>
        </p:spPr>
      </p:sp>
      <p:sp>
        <p:nvSpPr>
          <p:cNvPr id="3" name="x"/>
          <p:cNvSpPr txBox="1"/>
          <p:nvPr/>
        </p:nvSpPr>
        <p:spPr>
          <a:xfrm>
            <a:off x="548640" y="914400"/>
            <a:ext cx="1097280" cy="731520"/>
          </a:xfrm>
          <a:prstGeom prst="rect">
            <a:avLst/>
          </a:prstGeom>
          <a:noFill/>
          <a:ln/>
        </p:spPr>
        <p:txBody>
          <a:bodyPr wrap="square" lIns="0" tIns="0" rIns="0" bIns="0" rtlCol="0" anchor="ctr"/>
          <a:lstStyle/>
          <a:p>
            <a:pPr algn="ctr" indent="0" marL="0">
              <a:buNone/>
            </a:pPr>
            <a:r>
              <a:rPr lang="en-US" sz="3000" b="1" dirty="0">
                <a:solidFill>
                  <a:srgbClr val="1E2A3A"/>
                </a:solidFill>
                <a:latin typeface="Courier New" pitchFamily="34" charset="0"/>
                <a:ea typeface="Courier New" pitchFamily="34" charset="-122"/>
                <a:cs typeface="Courier New" pitchFamily="34" charset="-120"/>
              </a:rPr>
              <a:t>&gt;&gt;&gt;</a:t>
            </a:r>
            <a:endParaRPr lang="en-US" sz="3000" dirty="0"/>
          </a:p>
        </p:txBody>
      </p:sp>
      <p:sp>
        <p:nvSpPr>
          <p:cNvPr id="4" name="x"/>
          <p:cNvSpPr txBox="1"/>
          <p:nvPr/>
        </p:nvSpPr>
        <p:spPr>
          <a:xfrm>
            <a:off x="548640" y="1828800"/>
            <a:ext cx="80467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Chapter 6: Lists</a:t>
            </a:r>
            <a:endParaRPr lang="en-US" sz="3800" dirty="0"/>
          </a:p>
        </p:txBody>
      </p:sp>
      <p:sp>
        <p:nvSpPr>
          <p:cNvPr id="5" name="x"/>
          <p:cNvSpPr txBox="1"/>
          <p:nvPr/>
        </p:nvSpPr>
        <p:spPr>
          <a:xfrm>
            <a:off x="548640" y="2606040"/>
            <a:ext cx="8046720" cy="822960"/>
          </a:xfrm>
          <a:prstGeom prst="rect">
            <a:avLst/>
          </a:prstGeom>
          <a:noFill/>
          <a:ln/>
        </p:spPr>
        <p:txBody>
          <a:bodyPr wrap="square" lIns="0" tIns="0" rIns="0" bIns="0" rtlCol="0" anchor="t"/>
          <a:lstStyle/>
          <a:p>
            <a:pPr indent="0" marL="0">
              <a:buNone/>
            </a:pPr>
            <a:r>
              <a:rPr lang="en-US" sz="1800" i="1" dirty="0">
                <a:solidFill>
                  <a:srgbClr val="FFD43B"/>
                </a:solidFill>
                <a:latin typeface="Calibri" pitchFamily="34" charset="0"/>
                <a:ea typeface="Calibri" pitchFamily="34" charset="-122"/>
                <a:cs typeface="Calibri" pitchFamily="34" charset="-120"/>
              </a:rPr>
              <a:t>Changed in place, made new, or only shared: three questions for every operation</a:t>
            </a:r>
            <a:endParaRPr lang="en-US" sz="1800" dirty="0"/>
          </a:p>
        </p:txBody>
      </p:sp>
      <p:sp>
        <p:nvSpPr>
          <p:cNvPr id="6" name="x"/>
          <p:cNvSpPr txBox="1"/>
          <p:nvPr/>
        </p:nvSpPr>
        <p:spPr>
          <a:xfrm>
            <a:off x="548640" y="4069080"/>
            <a:ext cx="8046720" cy="320040"/>
          </a:xfrm>
          <a:prstGeom prst="rect">
            <a:avLst/>
          </a:prstGeom>
          <a:noFill/>
          <a:ln/>
        </p:spPr>
        <p:txBody>
          <a:bodyPr wrap="square" lIns="0" tIns="0" rIns="0" bIns="0" rtlCol="0" anchor="ctr"/>
          <a:lstStyle/>
          <a:p>
            <a:pPr indent="0" marL="0">
              <a:buNone/>
            </a:pPr>
            <a:r>
              <a:rPr lang="en-US" sz="1300" dirty="0">
                <a:solidFill>
                  <a:srgbClr val="C9D4E0"/>
                </a:solidFill>
                <a:latin typeface="Calibri" pitchFamily="34" charset="0"/>
                <a:ea typeface="Calibri" pitchFamily="34" charset="-122"/>
                <a:cs typeface="Calibri" pitchFamily="34" charset="-120"/>
              </a:rPr>
              <a:t>SEN0414 Advanced Programming · Fall 2026 · Yusuf Altunel, PhD · İstanbul Kültür University</a:t>
            </a:r>
            <a:endParaRPr lang="en-US" sz="1300" dirty="0"/>
          </a:p>
        </p:txBody>
      </p:sp>
      <p:sp>
        <p:nvSpPr>
          <p:cNvPr id="7" name="x"/>
          <p:cNvSpPr txBox="1"/>
          <p:nvPr/>
        </p:nvSpPr>
        <p:spPr>
          <a:xfrm>
            <a:off x="548640" y="4434840"/>
            <a:ext cx="8046720" cy="274320"/>
          </a:xfrm>
          <a:prstGeom prst="rect">
            <a:avLst/>
          </a:prstGeom>
          <a:noFill/>
          <a:ln/>
        </p:spPr>
        <p:txBody>
          <a:bodyPr wrap="square" lIns="0" tIns="0" rIns="0" bIns="0" rtlCol="0" anchor="ctr"/>
          <a:lstStyle/>
          <a:p>
            <a:pPr indent="0" marL="0">
              <a:buNone/>
            </a:pPr>
            <a:r>
              <a:rPr lang="en-US" sz="1050" i="1" dirty="0">
                <a:solidFill>
                  <a:srgbClr val="9FB0C4"/>
                </a:solidFill>
                <a:latin typeface="Calibri" pitchFamily="34" charset="0"/>
                <a:ea typeface="Calibri" pitchFamily="34" charset="-122"/>
                <a:cs typeface="Calibri" pitchFamily="34" charset="-120"/>
              </a:rPr>
              <a:t>Adapted from Automate the Boring Stuff with Python, 3rd edition, chapter 6 (Sweigart, 2025). Every result was produced under Python 3.14.4.</a:t>
            </a:r>
            <a:endParaRPr lang="en-US" sz="105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502920"/>
            <a:ext cx="786384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One list. Two names. One change.</a:t>
            </a:r>
            <a:endParaRPr lang="en-US" sz="3400" dirty="0"/>
          </a:p>
        </p:txBody>
      </p:sp>
      <p:sp>
        <p:nvSpPr>
          <p:cNvPr id="3" name="codecardbox|b1"/>
          <p:cNvSpPr/>
          <p:nvPr/>
        </p:nvSpPr>
        <p:spPr>
          <a:xfrm>
            <a:off x="640080" y="1508760"/>
            <a:ext cx="4846320" cy="1463040"/>
          </a:xfrm>
          <a:prstGeom prst="roundRect">
            <a:avLst>
              <a:gd name="adj" fmla="val 6250"/>
            </a:avLst>
          </a:prstGeom>
          <a:solidFill>
            <a:srgbClr val="17202B"/>
          </a:solidFill>
          <a:ln w="12700">
            <a:solidFill>
              <a:srgbClr val="3B5B87"/>
            </a:solidFill>
            <a:prstDash val="solid"/>
          </a:ln>
        </p:spPr>
      </p:sp>
      <p:sp>
        <p:nvSpPr>
          <p:cNvPr id="4" name="codecard|b1"/>
          <p:cNvSpPr txBox="1"/>
          <p:nvPr/>
        </p:nvSpPr>
        <p:spPr>
          <a:xfrm>
            <a:off x="804672" y="1581912"/>
            <a:ext cx="4517136" cy="1316736"/>
          </a:xfrm>
          <a:prstGeom prst="rect">
            <a:avLst/>
          </a:prstGeom>
          <a:noFill/>
          <a:ln/>
        </p:spPr>
        <p:txBody>
          <a:bodyPr wrap="square" lIns="0" tIns="0" rIns="0" bIns="0" rtlCol="0" anchor="t"/>
          <a:lstStyle/>
          <a:p>
            <a:pPr indent="0" marL="0">
              <a:spcAft>
                <a:spcPts val="100"/>
              </a:spcAft>
              <a:buNone/>
            </a:pPr>
            <a:r>
              <a:rPr lang="en-US" sz="1400" b="1" dirty="0">
                <a:solidFill>
                  <a:srgbClr val="FFD43B"/>
                </a:solidFill>
                <a:latin typeface="Courier New" pitchFamily="34" charset="0"/>
                <a:ea typeface="Courier New" pitchFamily="34" charset="-122"/>
                <a:cs typeface="Courier New" pitchFamily="34" charset="-120"/>
              </a:rPr>
              <a:t>&gt;&gt;&gt; </a:t>
            </a:r>
            <a:r>
              <a:rPr lang="en-US" sz="1400" dirty="0">
                <a:solidFill>
                  <a:srgbClr val="E6EDF3"/>
                </a:solidFill>
                <a:latin typeface="Courier New" pitchFamily="34" charset="0"/>
                <a:ea typeface="Courier New" pitchFamily="34" charset="-122"/>
                <a:cs typeface="Courier New" pitchFamily="34" charset="-120"/>
              </a:rPr>
              <a:t>spam = [0, 1, 2, 3]</a:t>
            </a:r>
            <a:endParaRPr lang="en-US" sz="1400" dirty="0"/>
          </a:p>
          <a:p>
            <a:pPr indent="0" marL="0">
              <a:spcAft>
                <a:spcPts val="100"/>
              </a:spcAft>
              <a:buNone/>
            </a:pPr>
            <a:r>
              <a:rPr lang="en-US" sz="1400" b="1" dirty="0">
                <a:solidFill>
                  <a:srgbClr val="FFD43B"/>
                </a:solidFill>
                <a:latin typeface="Courier New" pitchFamily="34" charset="0"/>
                <a:ea typeface="Courier New" pitchFamily="34" charset="-122"/>
                <a:cs typeface="Courier New" pitchFamily="34" charset="-120"/>
              </a:rPr>
              <a:t>&gt;&gt;&gt; </a:t>
            </a:r>
            <a:r>
              <a:rPr lang="en-US" sz="1400" dirty="0">
                <a:solidFill>
                  <a:srgbClr val="E6EDF3"/>
                </a:solidFill>
                <a:latin typeface="Courier New" pitchFamily="34" charset="0"/>
                <a:ea typeface="Courier New" pitchFamily="34" charset="-122"/>
                <a:cs typeface="Courier New" pitchFamily="34" charset="-120"/>
              </a:rPr>
              <a:t>eggs = spam</a:t>
            </a:r>
            <a:endParaRPr lang="en-US" sz="1400" dirty="0"/>
          </a:p>
          <a:p>
            <a:pPr indent="0" marL="0">
              <a:spcAft>
                <a:spcPts val="100"/>
              </a:spcAft>
              <a:buNone/>
            </a:pPr>
            <a:r>
              <a:rPr lang="en-US" sz="1400" b="1" dirty="0">
                <a:solidFill>
                  <a:srgbClr val="FFD43B"/>
                </a:solidFill>
                <a:latin typeface="Courier New" pitchFamily="34" charset="0"/>
                <a:ea typeface="Courier New" pitchFamily="34" charset="-122"/>
                <a:cs typeface="Courier New" pitchFamily="34" charset="-120"/>
              </a:rPr>
              <a:t>&gt;&gt;&gt; </a:t>
            </a:r>
            <a:r>
              <a:rPr lang="en-US" sz="1400" dirty="0">
                <a:solidFill>
                  <a:srgbClr val="E6EDF3"/>
                </a:solidFill>
                <a:latin typeface="Courier New" pitchFamily="34" charset="0"/>
                <a:ea typeface="Courier New" pitchFamily="34" charset="-122"/>
                <a:cs typeface="Courier New" pitchFamily="34" charset="-120"/>
              </a:rPr>
              <a:t>eggs[1] = 'Hello!'</a:t>
            </a:r>
            <a:endParaRPr lang="en-US" sz="1400" dirty="0"/>
          </a:p>
          <a:p>
            <a:pPr indent="0" marL="0">
              <a:spcAft>
                <a:spcPts val="100"/>
              </a:spcAft>
              <a:buNone/>
            </a:pPr>
            <a:r>
              <a:rPr lang="en-US" sz="1400" b="1" dirty="0">
                <a:solidFill>
                  <a:srgbClr val="FFD43B"/>
                </a:solidFill>
                <a:latin typeface="Courier New" pitchFamily="34" charset="0"/>
                <a:ea typeface="Courier New" pitchFamily="34" charset="-122"/>
                <a:cs typeface="Courier New" pitchFamily="34" charset="-120"/>
              </a:rPr>
              <a:t>&gt;&gt;&gt; </a:t>
            </a:r>
            <a:r>
              <a:rPr lang="en-US" sz="1400" dirty="0">
                <a:solidFill>
                  <a:srgbClr val="E6EDF3"/>
                </a:solidFill>
                <a:latin typeface="Courier New" pitchFamily="34" charset="0"/>
                <a:ea typeface="Courier New" pitchFamily="34" charset="-122"/>
                <a:cs typeface="Courier New" pitchFamily="34" charset="-120"/>
              </a:rPr>
              <a:t>spam</a:t>
            </a:r>
            <a:endParaRPr lang="en-US" sz="1400" dirty="0"/>
          </a:p>
          <a:p>
            <a:pPr indent="0" marL="0">
              <a:spcAft>
                <a:spcPts val="100"/>
              </a:spcAft>
              <a:buNone/>
            </a:pPr>
            <a:r>
              <a:rPr lang="en-US" sz="1400" dirty="0">
                <a:solidFill>
                  <a:srgbClr val="7EE787"/>
                </a:solidFill>
                <a:latin typeface="Courier New" pitchFamily="34" charset="0"/>
                <a:ea typeface="Courier New" pitchFamily="34" charset="-122"/>
                <a:cs typeface="Courier New" pitchFamily="34" charset="-120"/>
              </a:rPr>
              <a:t>[0, 'Hello!', 2, 3]</a:t>
            </a:r>
            <a:endParaRPr lang="en-US" sz="1400" dirty="0"/>
          </a:p>
        </p:txBody>
      </p:sp>
      <p:sp>
        <p:nvSpPr>
          <p:cNvPr id="5" name="say|b2"/>
          <p:cNvSpPr txBox="1"/>
          <p:nvPr/>
        </p:nvSpPr>
        <p:spPr>
          <a:xfrm>
            <a:off x="640080" y="3154680"/>
            <a:ext cx="7863840" cy="640080"/>
          </a:xfrm>
          <a:prstGeom prst="rect">
            <a:avLst/>
          </a:prstGeom>
          <a:noFill/>
          <a:ln/>
        </p:spPr>
        <p:txBody>
          <a:bodyPr wrap="square" lIns="0" tIns="0" rIns="0" bIns="0" rtlCol="0" anchor="t"/>
          <a:lstStyle/>
          <a:p>
            <a:pPr indent="0" marL="0">
              <a:buNone/>
            </a:pPr>
            <a:r>
              <a:rPr lang="en-US" sz="1900" i="1" dirty="0">
                <a:solidFill>
                  <a:srgbClr val="FFD43B"/>
                </a:solidFill>
                <a:latin typeface="Calibri" pitchFamily="34" charset="0"/>
                <a:ea typeface="Calibri" pitchFamily="34" charset="-122"/>
                <a:cs typeface="Calibri" pitchFamily="34" charset="-120"/>
              </a:rPr>
              <a:t>Nothing crashed. No message. Yet the list you called spam is not the list you wrote.</a:t>
            </a:r>
            <a:endParaRPr lang="en-US" sz="1900" dirty="0"/>
          </a:p>
        </p:txBody>
      </p:sp>
      <p:sp>
        <p:nvSpPr>
          <p:cNvPr id="6" name="say|b3"/>
          <p:cNvSpPr txBox="1"/>
          <p:nvPr/>
        </p:nvSpPr>
        <p:spPr>
          <a:xfrm>
            <a:off x="640080" y="3840480"/>
            <a:ext cx="7863840" cy="731520"/>
          </a:xfrm>
          <a:prstGeom prst="rect">
            <a:avLst/>
          </a:prstGeom>
          <a:noFill/>
          <a:ln/>
        </p:spPr>
        <p:txBody>
          <a:bodyPr wrap="square" lIns="0" tIns="0" rIns="0" bIns="0" rtlCol="0" anchor="t"/>
          <a:lstStyle/>
          <a:p>
            <a:pPr indent="0" marL="0">
              <a:buNone/>
            </a:pPr>
            <a:r>
              <a:rPr lang="en-US" sz="2300" b="1" dirty="0">
                <a:solidFill>
                  <a:srgbClr val="FFFFFF"/>
                </a:solidFill>
                <a:latin typeface="Cambria" pitchFamily="34" charset="0"/>
                <a:ea typeface="Cambria" pitchFamily="34" charset="-122"/>
                <a:cs typeface="Cambria" pitchFamily="34" charset="-120"/>
              </a:rPr>
              <a:t>Which operations change a list, which make a new one, and which only share it?</a:t>
            </a:r>
            <a:endParaRPr lang="en-US" sz="2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400"/>
                                        <p:tgtEl>
                                          <p:spTgt spid="4"/>
                                        </p:tgtEl>
                                      </p:cBhvr>
                                    </p:animEffect>
                                  </p:childTnLst>
                                </p:cTn>
                              </p:par>
                            </p:childTnLst>
                          </p:cTn>
                        </p:par>
                      </p:childTnLst>
                    </p:cTn>
                  </p:par>
                  <p:par>
                    <p:cTn id="14" fill="hold">
                      <p:stCondLst>
                        <p:cond delay="indefinite"/>
                      </p:stCondLst>
                      <p:childTnLst>
                        <p:par>
                          <p:cTn id="15"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childTnLst>
                          </p:cTn>
                        </p:par>
                      </p:childTnLst>
                    </p:cTn>
                  </p:par>
                  <p:par>
                    <p:cTn id="19" fill="hold">
                      <p:stCondLst>
                        <p:cond delay="indefinite"/>
                      </p:stCondLst>
                      <p:childTnLst>
                        <p:par>
                          <p:cTn id="20"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What you will be able to do with a list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6 subjects and 38 topics: the chapter as the course’s ontology draws it</a:t>
            </a:r>
            <a:endParaRPr lang="en-US" sz="1400" dirty="0"/>
          </a:p>
        </p:txBody>
      </p:sp>
      <p:sp>
        <p:nvSpPr>
          <p:cNvPr id="6" name="objchip|b1"/>
          <p:cNvSpPr/>
          <p:nvPr/>
        </p:nvSpPr>
        <p:spPr>
          <a:xfrm>
            <a:off x="457200" y="1280160"/>
            <a:ext cx="2606040" cy="457200"/>
          </a:xfrm>
          <a:prstGeom prst="roundRect">
            <a:avLst>
              <a:gd name="adj" fmla="val 20000"/>
            </a:avLst>
          </a:prstGeom>
          <a:solidFill>
            <a:srgbClr val="306998"/>
          </a:solidFill>
          <a:ln w="12700">
            <a:solidFill>
              <a:srgbClr val="306998"/>
            </a:solidFill>
            <a:prstDash val="solid"/>
          </a:ln>
        </p:spPr>
      </p:sp>
      <p:sp>
        <p:nvSpPr>
          <p:cNvPr id="7" name="objchipt|b1"/>
          <p:cNvSpPr txBox="1"/>
          <p:nvPr/>
        </p:nvSpPr>
        <p:spPr>
          <a:xfrm>
            <a:off x="457200" y="1280160"/>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List basics</a:t>
            </a:r>
            <a:endParaRPr lang="en-US" sz="1500" dirty="0"/>
          </a:p>
        </p:txBody>
      </p:sp>
      <p:sp>
        <p:nvSpPr>
          <p:cNvPr id="8" name="objtxt|b1"/>
          <p:cNvSpPr txBox="1"/>
          <p:nvPr/>
        </p:nvSpPr>
        <p:spPr>
          <a:xfrm>
            <a:off x="3246120" y="1280160"/>
            <a:ext cx="5577840" cy="45720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Read and write a list with indexes, negative indexes and slices</a:t>
            </a:r>
            <a:endParaRPr lang="en-US" sz="1450" dirty="0"/>
          </a:p>
        </p:txBody>
      </p:sp>
      <p:sp>
        <p:nvSpPr>
          <p:cNvPr id="9" name="objchip|b2"/>
          <p:cNvSpPr/>
          <p:nvPr/>
        </p:nvSpPr>
        <p:spPr>
          <a:xfrm>
            <a:off x="457200" y="1837944"/>
            <a:ext cx="2606040" cy="457200"/>
          </a:xfrm>
          <a:prstGeom prst="roundRect">
            <a:avLst>
              <a:gd name="adj" fmla="val 20000"/>
            </a:avLst>
          </a:prstGeom>
          <a:solidFill>
            <a:srgbClr val="306998"/>
          </a:solidFill>
          <a:ln w="12700">
            <a:solidFill>
              <a:srgbClr val="306998"/>
            </a:solidFill>
            <a:prstDash val="solid"/>
          </a:ln>
        </p:spPr>
      </p:sp>
      <p:sp>
        <p:nvSpPr>
          <p:cNvPr id="10" name="objchipt|b2"/>
          <p:cNvSpPr txBox="1"/>
          <p:nvPr/>
        </p:nvSpPr>
        <p:spPr>
          <a:xfrm>
            <a:off x="457200" y="1837944"/>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Changing lists</a:t>
            </a:r>
            <a:endParaRPr lang="en-US" sz="1500" dirty="0"/>
          </a:p>
        </p:txBody>
      </p:sp>
      <p:sp>
        <p:nvSpPr>
          <p:cNvPr id="11" name="objtxt|b2"/>
          <p:cNvSpPr txBox="1"/>
          <p:nvPr/>
        </p:nvSpPr>
        <p:spPr>
          <a:xfrm>
            <a:off x="3246120" y="1837944"/>
            <a:ext cx="5577840" cy="45720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Add, replace and remove items, and say what each call returns</a:t>
            </a:r>
            <a:endParaRPr lang="en-US" sz="1450" dirty="0"/>
          </a:p>
        </p:txBody>
      </p:sp>
      <p:sp>
        <p:nvSpPr>
          <p:cNvPr id="12" name="objchip|b3"/>
          <p:cNvSpPr/>
          <p:nvPr/>
        </p:nvSpPr>
        <p:spPr>
          <a:xfrm>
            <a:off x="457200" y="2395728"/>
            <a:ext cx="2606040" cy="457200"/>
          </a:xfrm>
          <a:prstGeom prst="roundRect">
            <a:avLst>
              <a:gd name="adj" fmla="val 20000"/>
            </a:avLst>
          </a:prstGeom>
          <a:solidFill>
            <a:srgbClr val="306998"/>
          </a:solidFill>
          <a:ln w="12700">
            <a:solidFill>
              <a:srgbClr val="306998"/>
            </a:solidFill>
            <a:prstDash val="solid"/>
          </a:ln>
        </p:spPr>
      </p:sp>
      <p:sp>
        <p:nvSpPr>
          <p:cNvPr id="13" name="objchipt|b3"/>
          <p:cNvSpPr txBox="1"/>
          <p:nvPr/>
        </p:nvSpPr>
        <p:spPr>
          <a:xfrm>
            <a:off x="457200" y="2395728"/>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List operations</a:t>
            </a:r>
            <a:endParaRPr lang="en-US" sz="1500" dirty="0"/>
          </a:p>
        </p:txBody>
      </p:sp>
      <p:sp>
        <p:nvSpPr>
          <p:cNvPr id="14" name="objtxt|b3"/>
          <p:cNvSpPr txBox="1"/>
          <p:nvPr/>
        </p:nvSpPr>
        <p:spPr>
          <a:xfrm>
            <a:off x="3246120" y="2395728"/>
            <a:ext cx="5577840" cy="45720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Combine, search and order lists, and tell sort() from sorted()</a:t>
            </a:r>
            <a:endParaRPr lang="en-US" sz="1450" dirty="0"/>
          </a:p>
        </p:txBody>
      </p:sp>
      <p:sp>
        <p:nvSpPr>
          <p:cNvPr id="15" name="objchip|b4"/>
          <p:cNvSpPr/>
          <p:nvPr/>
        </p:nvSpPr>
        <p:spPr>
          <a:xfrm>
            <a:off x="457200" y="2953512"/>
            <a:ext cx="2606040" cy="457200"/>
          </a:xfrm>
          <a:prstGeom prst="roundRect">
            <a:avLst>
              <a:gd name="adj" fmla="val 20000"/>
            </a:avLst>
          </a:prstGeom>
          <a:solidFill>
            <a:srgbClr val="306998"/>
          </a:solidFill>
          <a:ln w="12700">
            <a:solidFill>
              <a:srgbClr val="306998"/>
            </a:solidFill>
            <a:prstDash val="solid"/>
          </a:ln>
        </p:spPr>
      </p:sp>
      <p:sp>
        <p:nvSpPr>
          <p:cNvPr id="16" name="objchipt|b4"/>
          <p:cNvSpPr txBox="1"/>
          <p:nvPr/>
        </p:nvSpPr>
        <p:spPr>
          <a:xfrm>
            <a:off x="457200" y="2953512"/>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Loops and unpacking</a:t>
            </a:r>
            <a:endParaRPr lang="en-US" sz="1500" dirty="0"/>
          </a:p>
        </p:txBody>
      </p:sp>
      <p:sp>
        <p:nvSpPr>
          <p:cNvPr id="17" name="objtxt|b4"/>
          <p:cNvSpPr txBox="1"/>
          <p:nvPr/>
        </p:nvSpPr>
        <p:spPr>
          <a:xfrm>
            <a:off x="3246120" y="2953512"/>
            <a:ext cx="5577840" cy="45720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Loop over a list and unpack it, without changing it in the middle of the loop</a:t>
            </a:r>
            <a:endParaRPr lang="en-US" sz="1450" dirty="0"/>
          </a:p>
        </p:txBody>
      </p:sp>
      <p:sp>
        <p:nvSpPr>
          <p:cNvPr id="18" name="objchip|b5"/>
          <p:cNvSpPr/>
          <p:nvPr/>
        </p:nvSpPr>
        <p:spPr>
          <a:xfrm>
            <a:off x="457200" y="3511296"/>
            <a:ext cx="2606040" cy="457200"/>
          </a:xfrm>
          <a:prstGeom prst="roundRect">
            <a:avLst>
              <a:gd name="adj" fmla="val 20000"/>
            </a:avLst>
          </a:prstGeom>
          <a:solidFill>
            <a:srgbClr val="306998"/>
          </a:solidFill>
          <a:ln w="12700">
            <a:solidFill>
              <a:srgbClr val="306998"/>
            </a:solidFill>
            <a:prstDash val="solid"/>
          </a:ln>
        </p:spPr>
      </p:sp>
      <p:sp>
        <p:nvSpPr>
          <p:cNvPr id="19" name="objchipt|b5"/>
          <p:cNvSpPr txBox="1"/>
          <p:nvPr/>
        </p:nvSpPr>
        <p:spPr>
          <a:xfrm>
            <a:off x="457200" y="3511296"/>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Sequences and references</a:t>
            </a:r>
            <a:endParaRPr lang="en-US" sz="1500" dirty="0"/>
          </a:p>
        </p:txBody>
      </p:sp>
      <p:sp>
        <p:nvSpPr>
          <p:cNvPr id="20" name="objtxt|b5"/>
          <p:cNvSpPr txBox="1"/>
          <p:nvPr/>
        </p:nvSpPr>
        <p:spPr>
          <a:xfrm>
            <a:off x="3246120" y="3511296"/>
            <a:ext cx="5577840" cy="45720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Say what assignment, a function call, a copy and * share, and what they copy</a:t>
            </a:r>
            <a:endParaRPr lang="en-US" sz="1450" dirty="0"/>
          </a:p>
        </p:txBody>
      </p:sp>
      <p:sp>
        <p:nvSpPr>
          <p:cNvPr id="21" name="objchip|b6"/>
          <p:cNvSpPr/>
          <p:nvPr/>
        </p:nvSpPr>
        <p:spPr>
          <a:xfrm>
            <a:off x="457200" y="4069080"/>
            <a:ext cx="2606040" cy="457200"/>
          </a:xfrm>
          <a:prstGeom prst="roundRect">
            <a:avLst>
              <a:gd name="adj" fmla="val 20000"/>
            </a:avLst>
          </a:prstGeom>
          <a:solidFill>
            <a:srgbClr val="306998"/>
          </a:solidFill>
          <a:ln w="12700">
            <a:solidFill>
              <a:srgbClr val="306998"/>
            </a:solidFill>
            <a:prstDash val="solid"/>
          </a:ln>
        </p:spPr>
      </p:sp>
      <p:sp>
        <p:nvSpPr>
          <p:cNvPr id="22" name="objchipt|b6"/>
          <p:cNvSpPr txBox="1"/>
          <p:nvPr/>
        </p:nvSpPr>
        <p:spPr>
          <a:xfrm>
            <a:off x="457200" y="4069080"/>
            <a:ext cx="26060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Random and programs</a:t>
            </a:r>
            <a:endParaRPr lang="en-US" sz="1500" dirty="0"/>
          </a:p>
        </p:txBody>
      </p:sp>
      <p:sp>
        <p:nvSpPr>
          <p:cNvPr id="23" name="objtxt|b6"/>
          <p:cNvSpPr txBox="1"/>
          <p:nvPr/>
        </p:nvSpPr>
        <p:spPr>
          <a:xfrm>
            <a:off x="3246120" y="4069080"/>
            <a:ext cx="5577840" cy="45720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Read the Magic 8 Ball and the Matrix screensaver programs</a:t>
            </a:r>
            <a:endParaRPr lang="en-US" sz="1450" dirty="0"/>
          </a:p>
        </p:txBody>
      </p:sp>
      <p:sp>
        <p:nvSpPr>
          <p:cNvPr id="24"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25"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6"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the six subjects of the chapter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childTnLst>
                          </p:cTn>
                        </p:par>
                      </p:childTnLst>
                    </p:cTn>
                  </p:par>
                  <p:par>
                    <p:cTn id="45" fill="hold">
                      <p:stCondLst>
                        <p:cond delay="indefinite"/>
                      </p:stCondLst>
                      <p:childTnLst>
                        <p:par>
                          <p:cTn id="46"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childTnLst>
                          </p:cTn>
                        </p:par>
                      </p:childTnLst>
                    </p:cTn>
                  </p:par>
                  <p:par>
                    <p:cTn id="56" fill="hold">
                      <p:stCondLst>
                        <p:cond delay="indefinite"/>
                      </p:stCondLst>
                      <p:childTnLst>
                        <p:par>
                          <p:cTn id="57"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00"/>
                                        <p:tgtEl>
                                          <p:spTgt spid="20"/>
                                        </p:tgtEl>
                                      </p:cBhvr>
                                    </p:animEffect>
                                  </p:childTnLst>
                                </p:cTn>
                              </p:par>
                            </p:childTnLst>
                          </p:cTn>
                        </p:par>
                      </p:childTnLst>
                    </p:cTn>
                  </p:par>
                  <p:par>
                    <p:cTn id="67" fill="hold">
                      <p:stCondLst>
                        <p:cond delay="indefinite"/>
                      </p:stCondLst>
                      <p:childTnLst>
                        <p:par>
                          <p:cTn id="68"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4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P spid="14" grpId="0" animBg="1"/>
      <p:bldP spid="16" grpId="0" animBg="1"/>
      <p:bldP spid="17" grpId="0" animBg="1"/>
      <p:bldP spid="19" grpId="0" animBg="1"/>
      <p:bldP spid="20" grpId="0" animBg="1"/>
      <p:bldP spid="22" grpId="0" animBg="1"/>
      <p:bldP spid="2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Three questions to ask of every list operation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chapter’s operations, sorted by what a real run showed they do</a:t>
            </a:r>
            <a:endParaRPr lang="en-US" sz="1400" dirty="0"/>
          </a:p>
        </p:txBody>
      </p:sp>
      <p:sp>
        <p:nvSpPr>
          <p:cNvPr id="6" name="v:ThreeQuestions:c0box:box|b1"/>
          <p:cNvSpPr/>
          <p:nvPr/>
        </p:nvSpPr>
        <p:spPr>
          <a:xfrm>
            <a:off x="365760" y="1234440"/>
            <a:ext cx="2712720" cy="3246120"/>
          </a:xfrm>
          <a:prstGeom prst="roundRect">
            <a:avLst>
              <a:gd name="adj" fmla="val 3371"/>
            </a:avLst>
          </a:prstGeom>
          <a:solidFill>
            <a:srgbClr val="F1F4F8"/>
          </a:solidFill>
          <a:ln w="25400">
            <a:solidFill>
              <a:srgbClr val="2E9E5B"/>
            </a:solidFill>
            <a:prstDash val="solid"/>
          </a:ln>
        </p:spPr>
      </p:sp>
      <p:sp>
        <p:nvSpPr>
          <p:cNvPr id="7" name="v:ThreeQuestions:c0q|b1"/>
          <p:cNvSpPr txBox="1"/>
          <p:nvPr/>
        </p:nvSpPr>
        <p:spPr>
          <a:xfrm>
            <a:off x="502920" y="1307592"/>
            <a:ext cx="2438400" cy="27432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Did the list itself change?</a:t>
            </a:r>
            <a:endParaRPr lang="en-US" sz="1250" dirty="0"/>
          </a:p>
        </p:txBody>
      </p:sp>
      <p:sp>
        <p:nvSpPr>
          <p:cNvPr id="8" name="v:ThreeQuestions:c0h|b1"/>
          <p:cNvSpPr txBox="1"/>
          <p:nvPr/>
        </p:nvSpPr>
        <p:spPr>
          <a:xfrm>
            <a:off x="502920" y="1600200"/>
            <a:ext cx="2438400" cy="365760"/>
          </a:xfrm>
          <a:prstGeom prst="rect">
            <a:avLst/>
          </a:prstGeom>
          <a:noFill/>
          <a:ln/>
        </p:spPr>
        <p:txBody>
          <a:bodyPr wrap="square" lIns="0" tIns="0" rIns="0" bIns="0" rtlCol="0" anchor="ctr"/>
          <a:lstStyle/>
          <a:p>
            <a:pPr indent="0" marL="0">
              <a:buNone/>
            </a:pPr>
            <a:r>
              <a:rPr lang="en-US" sz="1700" b="1" dirty="0">
                <a:solidFill>
                  <a:srgbClr val="2E9E5B"/>
                </a:solidFill>
                <a:latin typeface="Cambria" pitchFamily="34" charset="0"/>
                <a:ea typeface="Cambria" pitchFamily="34" charset="-122"/>
                <a:cs typeface="Cambria" pitchFamily="34" charset="-120"/>
              </a:rPr>
              <a:t>It changes in place</a:t>
            </a:r>
            <a:endParaRPr lang="en-US" sz="1700" dirty="0"/>
          </a:p>
        </p:txBody>
      </p:sp>
      <p:sp>
        <p:nvSpPr>
          <p:cNvPr id="9" name="v:ThreeQuestions:c0k0box:box|b1"/>
          <p:cNvSpPr/>
          <p:nvPr/>
        </p:nvSpPr>
        <p:spPr>
          <a:xfrm>
            <a:off x="475488" y="2057400"/>
            <a:ext cx="2493264" cy="530352"/>
          </a:xfrm>
          <a:prstGeom prst="roundRect">
            <a:avLst>
              <a:gd name="adj" fmla="val 10345"/>
            </a:avLst>
          </a:prstGeom>
          <a:solidFill>
            <a:srgbClr val="DDF3E6"/>
          </a:solidFill>
          <a:ln w="12700">
            <a:solidFill>
              <a:srgbClr val="2E9E5B"/>
            </a:solidFill>
            <a:prstDash val="solid"/>
          </a:ln>
        </p:spPr>
      </p:sp>
      <p:sp>
        <p:nvSpPr>
          <p:cNvPr id="10" name="v:ThreeQuestions:c0k0|b1"/>
          <p:cNvSpPr txBox="1"/>
          <p:nvPr/>
        </p:nvSpPr>
        <p:spPr>
          <a:xfrm>
            <a:off x="548640" y="207568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a.append(4)</a:t>
            </a:r>
            <a:endParaRPr lang="en-US" sz="1250" dirty="0"/>
          </a:p>
        </p:txBody>
      </p:sp>
      <p:sp>
        <p:nvSpPr>
          <p:cNvPr id="11" name="v:ThreeQuestions:c0k0ev|b1"/>
          <p:cNvSpPr txBox="1"/>
          <p:nvPr/>
        </p:nvSpPr>
        <p:spPr>
          <a:xfrm>
            <a:off x="548640" y="234086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None; the list itself changed</a:t>
            </a:r>
            <a:endParaRPr lang="en-US" sz="1000" dirty="0"/>
          </a:p>
        </p:txBody>
      </p:sp>
      <p:sp>
        <p:nvSpPr>
          <p:cNvPr id="12" name="v:ThreeQuestions:c0k1box:box|b1"/>
          <p:cNvSpPr/>
          <p:nvPr/>
        </p:nvSpPr>
        <p:spPr>
          <a:xfrm>
            <a:off x="475488" y="2651760"/>
            <a:ext cx="2493264" cy="530352"/>
          </a:xfrm>
          <a:prstGeom prst="roundRect">
            <a:avLst>
              <a:gd name="adj" fmla="val 10345"/>
            </a:avLst>
          </a:prstGeom>
          <a:solidFill>
            <a:srgbClr val="DDF3E6"/>
          </a:solidFill>
          <a:ln w="12700">
            <a:solidFill>
              <a:srgbClr val="2E9E5B"/>
            </a:solidFill>
            <a:prstDash val="solid"/>
          </a:ln>
        </p:spPr>
      </p:sp>
      <p:sp>
        <p:nvSpPr>
          <p:cNvPr id="13" name="v:ThreeQuestions:c0k1|b1"/>
          <p:cNvSpPr txBox="1"/>
          <p:nvPr/>
        </p:nvSpPr>
        <p:spPr>
          <a:xfrm>
            <a:off x="548640" y="267004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a.sort()</a:t>
            </a:r>
            <a:endParaRPr lang="en-US" sz="1250" dirty="0"/>
          </a:p>
        </p:txBody>
      </p:sp>
      <p:sp>
        <p:nvSpPr>
          <p:cNvPr id="14" name="v:ThreeQuestions:c0k1ev|b1"/>
          <p:cNvSpPr txBox="1"/>
          <p:nvPr/>
        </p:nvSpPr>
        <p:spPr>
          <a:xfrm>
            <a:off x="548640" y="293522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None; the list itself changed</a:t>
            </a:r>
            <a:endParaRPr lang="en-US" sz="1000" dirty="0"/>
          </a:p>
        </p:txBody>
      </p:sp>
      <p:sp>
        <p:nvSpPr>
          <p:cNvPr id="15" name="v:ThreeQuestions:c0k2box:box|b1"/>
          <p:cNvSpPr/>
          <p:nvPr/>
        </p:nvSpPr>
        <p:spPr>
          <a:xfrm>
            <a:off x="475488" y="3246120"/>
            <a:ext cx="2493264" cy="530352"/>
          </a:xfrm>
          <a:prstGeom prst="roundRect">
            <a:avLst>
              <a:gd name="adj" fmla="val 10345"/>
            </a:avLst>
          </a:prstGeom>
          <a:solidFill>
            <a:srgbClr val="DDF3E6"/>
          </a:solidFill>
          <a:ln w="12700">
            <a:solidFill>
              <a:srgbClr val="2E9E5B"/>
            </a:solidFill>
            <a:prstDash val="solid"/>
          </a:ln>
        </p:spPr>
      </p:sp>
      <p:sp>
        <p:nvSpPr>
          <p:cNvPr id="16" name="v:ThreeQuestions:c0k2|b1"/>
          <p:cNvSpPr txBox="1"/>
          <p:nvPr/>
        </p:nvSpPr>
        <p:spPr>
          <a:xfrm>
            <a:off x="548640" y="326440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random.shuffle(a)</a:t>
            </a:r>
            <a:endParaRPr lang="en-US" sz="1250" dirty="0"/>
          </a:p>
        </p:txBody>
      </p:sp>
      <p:sp>
        <p:nvSpPr>
          <p:cNvPr id="17" name="v:ThreeQuestions:c0k2ev|b1"/>
          <p:cNvSpPr txBox="1"/>
          <p:nvPr/>
        </p:nvSpPr>
        <p:spPr>
          <a:xfrm>
            <a:off x="548640" y="352958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None; the list itself changed</a:t>
            </a:r>
            <a:endParaRPr lang="en-US" sz="1000" dirty="0"/>
          </a:p>
        </p:txBody>
      </p:sp>
      <p:sp>
        <p:nvSpPr>
          <p:cNvPr id="18" name="v:ThreeQuestions:c1box:box|b2"/>
          <p:cNvSpPr/>
          <p:nvPr/>
        </p:nvSpPr>
        <p:spPr>
          <a:xfrm>
            <a:off x="3215640" y="1234440"/>
            <a:ext cx="2712720" cy="3246120"/>
          </a:xfrm>
          <a:prstGeom prst="roundRect">
            <a:avLst>
              <a:gd name="adj" fmla="val 3371"/>
            </a:avLst>
          </a:prstGeom>
          <a:solidFill>
            <a:srgbClr val="F1F4F8"/>
          </a:solidFill>
          <a:ln w="25400">
            <a:solidFill>
              <a:srgbClr val="306998"/>
            </a:solidFill>
            <a:prstDash val="solid"/>
          </a:ln>
        </p:spPr>
      </p:sp>
      <p:sp>
        <p:nvSpPr>
          <p:cNvPr id="19" name="v:ThreeQuestions:c1q|b2"/>
          <p:cNvSpPr txBox="1"/>
          <p:nvPr/>
        </p:nvSpPr>
        <p:spPr>
          <a:xfrm>
            <a:off x="3352800" y="1307592"/>
            <a:ext cx="2438400" cy="27432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Did it give back a new list?</a:t>
            </a:r>
            <a:endParaRPr lang="en-US" sz="1250" dirty="0"/>
          </a:p>
        </p:txBody>
      </p:sp>
      <p:sp>
        <p:nvSpPr>
          <p:cNvPr id="20" name="v:ThreeQuestions:c1h|b2"/>
          <p:cNvSpPr txBox="1"/>
          <p:nvPr/>
        </p:nvSpPr>
        <p:spPr>
          <a:xfrm>
            <a:off x="3352800" y="1600200"/>
            <a:ext cx="243840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It returns a new list</a:t>
            </a:r>
            <a:endParaRPr lang="en-US" sz="1700" dirty="0"/>
          </a:p>
        </p:txBody>
      </p:sp>
      <p:sp>
        <p:nvSpPr>
          <p:cNvPr id="21" name="v:ThreeQuestions:c1k0box:box|b2"/>
          <p:cNvSpPr/>
          <p:nvPr/>
        </p:nvSpPr>
        <p:spPr>
          <a:xfrm>
            <a:off x="3325368" y="2057400"/>
            <a:ext cx="2493264" cy="530352"/>
          </a:xfrm>
          <a:prstGeom prst="roundRect">
            <a:avLst>
              <a:gd name="adj" fmla="val 10345"/>
            </a:avLst>
          </a:prstGeom>
          <a:solidFill>
            <a:srgbClr val="E3EEF8"/>
          </a:solidFill>
          <a:ln w="12700">
            <a:solidFill>
              <a:srgbClr val="306998"/>
            </a:solidFill>
            <a:prstDash val="solid"/>
          </a:ln>
        </p:spPr>
      </p:sp>
      <p:sp>
        <p:nvSpPr>
          <p:cNvPr id="22" name="v:ThreeQuestions:c1k0|b2"/>
          <p:cNvSpPr txBox="1"/>
          <p:nvPr/>
        </p:nvSpPr>
        <p:spPr>
          <a:xfrm>
            <a:off x="3398520" y="207568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sorted(a)</a:t>
            </a:r>
            <a:endParaRPr lang="en-US" sz="1250" dirty="0"/>
          </a:p>
        </p:txBody>
      </p:sp>
      <p:sp>
        <p:nvSpPr>
          <p:cNvPr id="23" name="v:ThreeQuestions:c1k0ev|b2"/>
          <p:cNvSpPr txBox="1"/>
          <p:nvPr/>
        </p:nvSpPr>
        <p:spPr>
          <a:xfrm>
            <a:off x="3398520" y="234086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a new list; the original is unchanged</a:t>
            </a:r>
            <a:endParaRPr lang="en-US" sz="1000" dirty="0"/>
          </a:p>
        </p:txBody>
      </p:sp>
      <p:sp>
        <p:nvSpPr>
          <p:cNvPr id="24" name="v:ThreeQuestions:c1k1box:box|b2"/>
          <p:cNvSpPr/>
          <p:nvPr/>
        </p:nvSpPr>
        <p:spPr>
          <a:xfrm>
            <a:off x="3325368" y="2651760"/>
            <a:ext cx="2493264" cy="530352"/>
          </a:xfrm>
          <a:prstGeom prst="roundRect">
            <a:avLst>
              <a:gd name="adj" fmla="val 10345"/>
            </a:avLst>
          </a:prstGeom>
          <a:solidFill>
            <a:srgbClr val="E3EEF8"/>
          </a:solidFill>
          <a:ln w="12700">
            <a:solidFill>
              <a:srgbClr val="306998"/>
            </a:solidFill>
            <a:prstDash val="solid"/>
          </a:ln>
        </p:spPr>
      </p:sp>
      <p:sp>
        <p:nvSpPr>
          <p:cNvPr id="25" name="v:ThreeQuestions:c1k1|b2"/>
          <p:cNvSpPr txBox="1"/>
          <p:nvPr/>
        </p:nvSpPr>
        <p:spPr>
          <a:xfrm>
            <a:off x="3398520" y="267004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a[1:]</a:t>
            </a:r>
            <a:endParaRPr lang="en-US" sz="1250" dirty="0"/>
          </a:p>
        </p:txBody>
      </p:sp>
      <p:sp>
        <p:nvSpPr>
          <p:cNvPr id="26" name="v:ThreeQuestions:c1k1ev|b2"/>
          <p:cNvSpPr txBox="1"/>
          <p:nvPr/>
        </p:nvSpPr>
        <p:spPr>
          <a:xfrm>
            <a:off x="3398520" y="293522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a new list; the original is unchanged</a:t>
            </a:r>
            <a:endParaRPr lang="en-US" sz="1000" dirty="0"/>
          </a:p>
        </p:txBody>
      </p:sp>
      <p:sp>
        <p:nvSpPr>
          <p:cNvPr id="27" name="v:ThreeQuestions:c1k2box:box|b2"/>
          <p:cNvSpPr/>
          <p:nvPr/>
        </p:nvSpPr>
        <p:spPr>
          <a:xfrm>
            <a:off x="3325368" y="3246120"/>
            <a:ext cx="2493264" cy="530352"/>
          </a:xfrm>
          <a:prstGeom prst="roundRect">
            <a:avLst>
              <a:gd name="adj" fmla="val 10345"/>
            </a:avLst>
          </a:prstGeom>
          <a:solidFill>
            <a:srgbClr val="E3EEF8"/>
          </a:solidFill>
          <a:ln w="12700">
            <a:solidFill>
              <a:srgbClr val="306998"/>
            </a:solidFill>
            <a:prstDash val="solid"/>
          </a:ln>
        </p:spPr>
      </p:sp>
      <p:sp>
        <p:nvSpPr>
          <p:cNvPr id="28" name="v:ThreeQuestions:c1k2|b2"/>
          <p:cNvSpPr txBox="1"/>
          <p:nvPr/>
        </p:nvSpPr>
        <p:spPr>
          <a:xfrm>
            <a:off x="3398520" y="326440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a + [9]</a:t>
            </a:r>
            <a:endParaRPr lang="en-US" sz="1250" dirty="0"/>
          </a:p>
        </p:txBody>
      </p:sp>
      <p:sp>
        <p:nvSpPr>
          <p:cNvPr id="29" name="v:ThreeQuestions:c1k2ev|b2"/>
          <p:cNvSpPr txBox="1"/>
          <p:nvPr/>
        </p:nvSpPr>
        <p:spPr>
          <a:xfrm>
            <a:off x="3398520" y="352958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a new list; the original is unchanged</a:t>
            </a:r>
            <a:endParaRPr lang="en-US" sz="1000" dirty="0"/>
          </a:p>
        </p:txBody>
      </p:sp>
      <p:sp>
        <p:nvSpPr>
          <p:cNvPr id="30" name="v:ThreeQuestions:c1k3box:box|b2"/>
          <p:cNvSpPr/>
          <p:nvPr/>
        </p:nvSpPr>
        <p:spPr>
          <a:xfrm>
            <a:off x="3325368" y="3840480"/>
            <a:ext cx="2493264" cy="530352"/>
          </a:xfrm>
          <a:prstGeom prst="roundRect">
            <a:avLst>
              <a:gd name="adj" fmla="val 10345"/>
            </a:avLst>
          </a:prstGeom>
          <a:solidFill>
            <a:srgbClr val="E3EEF8"/>
          </a:solidFill>
          <a:ln w="12700">
            <a:solidFill>
              <a:srgbClr val="306998"/>
            </a:solidFill>
            <a:prstDash val="solid"/>
          </a:ln>
        </p:spPr>
      </p:sp>
      <p:sp>
        <p:nvSpPr>
          <p:cNvPr id="31" name="v:ThreeQuestions:c1k3|b2"/>
          <p:cNvSpPr txBox="1"/>
          <p:nvPr/>
        </p:nvSpPr>
        <p:spPr>
          <a:xfrm>
            <a:off x="3398520" y="385876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[x for x in a]</a:t>
            </a:r>
            <a:endParaRPr lang="en-US" sz="1250" dirty="0"/>
          </a:p>
        </p:txBody>
      </p:sp>
      <p:sp>
        <p:nvSpPr>
          <p:cNvPr id="32" name="v:ThreeQuestions:c1k3ev|b2"/>
          <p:cNvSpPr txBox="1"/>
          <p:nvPr/>
        </p:nvSpPr>
        <p:spPr>
          <a:xfrm>
            <a:off x="3398520" y="412394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returns a new list; the original is unchanged</a:t>
            </a:r>
            <a:endParaRPr lang="en-US" sz="1000" dirty="0"/>
          </a:p>
        </p:txBody>
      </p:sp>
      <p:sp>
        <p:nvSpPr>
          <p:cNvPr id="33" name="v:ThreeQuestions:c2box:box|b3"/>
          <p:cNvSpPr/>
          <p:nvPr/>
        </p:nvSpPr>
        <p:spPr>
          <a:xfrm>
            <a:off x="6065520" y="1234440"/>
            <a:ext cx="2712720" cy="3246120"/>
          </a:xfrm>
          <a:prstGeom prst="roundRect">
            <a:avLst>
              <a:gd name="adj" fmla="val 3371"/>
            </a:avLst>
          </a:prstGeom>
          <a:solidFill>
            <a:srgbClr val="F1F4F8"/>
          </a:solidFill>
          <a:ln w="25400">
            <a:solidFill>
              <a:srgbClr val="B7791F"/>
            </a:solidFill>
            <a:prstDash val="solid"/>
          </a:ln>
        </p:spPr>
      </p:sp>
      <p:sp>
        <p:nvSpPr>
          <p:cNvPr id="34" name="v:ThreeQuestions:c2q|b3"/>
          <p:cNvSpPr txBox="1"/>
          <p:nvPr/>
        </p:nvSpPr>
        <p:spPr>
          <a:xfrm>
            <a:off x="6202680" y="1307592"/>
            <a:ext cx="2438400" cy="274320"/>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Do two names reach one list?</a:t>
            </a:r>
            <a:endParaRPr lang="en-US" sz="1250" dirty="0"/>
          </a:p>
        </p:txBody>
      </p:sp>
      <p:sp>
        <p:nvSpPr>
          <p:cNvPr id="35" name="v:ThreeQuestions:c2h|b3"/>
          <p:cNvSpPr txBox="1"/>
          <p:nvPr/>
        </p:nvSpPr>
        <p:spPr>
          <a:xfrm>
            <a:off x="6202680" y="1600200"/>
            <a:ext cx="2438400" cy="365760"/>
          </a:xfrm>
          <a:prstGeom prst="rect">
            <a:avLst/>
          </a:prstGeom>
          <a:noFill/>
          <a:ln/>
        </p:spPr>
        <p:txBody>
          <a:bodyPr wrap="square" lIns="0" tIns="0" rIns="0" bIns="0" rtlCol="0" anchor="ctr"/>
          <a:lstStyle/>
          <a:p>
            <a:pPr indent="0" marL="0">
              <a:buNone/>
            </a:pPr>
            <a:r>
              <a:rPr lang="en-US" sz="1700" b="1" dirty="0">
                <a:solidFill>
                  <a:srgbClr val="B7791F"/>
                </a:solidFill>
                <a:latin typeface="Cambria" pitchFamily="34" charset="0"/>
                <a:ea typeface="Cambria" pitchFamily="34" charset="-122"/>
                <a:cs typeface="Cambria" pitchFamily="34" charset="-120"/>
              </a:rPr>
              <a:t>It only shares the list</a:t>
            </a:r>
            <a:endParaRPr lang="en-US" sz="1700" dirty="0"/>
          </a:p>
        </p:txBody>
      </p:sp>
      <p:sp>
        <p:nvSpPr>
          <p:cNvPr id="36" name="v:ThreeQuestions:c2k0box:box|b3"/>
          <p:cNvSpPr/>
          <p:nvPr/>
        </p:nvSpPr>
        <p:spPr>
          <a:xfrm>
            <a:off x="6175248" y="2057400"/>
            <a:ext cx="2493264" cy="530352"/>
          </a:xfrm>
          <a:prstGeom prst="roundRect">
            <a:avLst>
              <a:gd name="adj" fmla="val 10345"/>
            </a:avLst>
          </a:prstGeom>
          <a:solidFill>
            <a:srgbClr val="FCEFD0"/>
          </a:solidFill>
          <a:ln w="12700">
            <a:solidFill>
              <a:srgbClr val="B7791F"/>
            </a:solidFill>
            <a:prstDash val="solid"/>
          </a:ln>
        </p:spPr>
      </p:sp>
      <p:sp>
        <p:nvSpPr>
          <p:cNvPr id="37" name="v:ThreeQuestions:c2k0|b3"/>
          <p:cNvSpPr txBox="1"/>
          <p:nvPr/>
        </p:nvSpPr>
        <p:spPr>
          <a:xfrm>
            <a:off x="6248400" y="207568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b = a</a:t>
            </a:r>
            <a:endParaRPr lang="en-US" sz="1250" dirty="0"/>
          </a:p>
        </p:txBody>
      </p:sp>
      <p:sp>
        <p:nvSpPr>
          <p:cNvPr id="38" name="v:ThreeQuestions:c2k0ev|b3"/>
          <p:cNvSpPr txBox="1"/>
          <p:nvPr/>
        </p:nvSpPr>
        <p:spPr>
          <a:xfrm>
            <a:off x="6248400" y="234086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both names reach one list</a:t>
            </a:r>
            <a:endParaRPr lang="en-US" sz="1000" dirty="0"/>
          </a:p>
        </p:txBody>
      </p:sp>
      <p:sp>
        <p:nvSpPr>
          <p:cNvPr id="39" name="v:ThreeQuestions:c2k1box:box|b3"/>
          <p:cNvSpPr/>
          <p:nvPr/>
        </p:nvSpPr>
        <p:spPr>
          <a:xfrm>
            <a:off x="6175248" y="2651760"/>
            <a:ext cx="2493264" cy="530352"/>
          </a:xfrm>
          <a:prstGeom prst="roundRect">
            <a:avLst>
              <a:gd name="adj" fmla="val 10345"/>
            </a:avLst>
          </a:prstGeom>
          <a:solidFill>
            <a:srgbClr val="FCEFD0"/>
          </a:solidFill>
          <a:ln w="12700">
            <a:solidFill>
              <a:srgbClr val="B7791F"/>
            </a:solidFill>
            <a:prstDash val="solid"/>
          </a:ln>
        </p:spPr>
      </p:sp>
      <p:sp>
        <p:nvSpPr>
          <p:cNvPr id="40" name="v:ThreeQuestions:c2k1|b3"/>
          <p:cNvSpPr txBox="1"/>
          <p:nvPr/>
        </p:nvSpPr>
        <p:spPr>
          <a:xfrm>
            <a:off x="6248400" y="267004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f(a)</a:t>
            </a:r>
            <a:endParaRPr lang="en-US" sz="1250" dirty="0"/>
          </a:p>
        </p:txBody>
      </p:sp>
      <p:sp>
        <p:nvSpPr>
          <p:cNvPr id="41" name="v:ThreeQuestions:c2k1ev|b3"/>
          <p:cNvSpPr txBox="1"/>
          <p:nvPr/>
        </p:nvSpPr>
        <p:spPr>
          <a:xfrm>
            <a:off x="6248400" y="293522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the parameter reaches the caller's list</a:t>
            </a:r>
            <a:endParaRPr lang="en-US" sz="1000" dirty="0"/>
          </a:p>
        </p:txBody>
      </p:sp>
      <p:sp>
        <p:nvSpPr>
          <p:cNvPr id="42" name="v:ThreeQuestions:c2k2box:box|b3"/>
          <p:cNvSpPr/>
          <p:nvPr/>
        </p:nvSpPr>
        <p:spPr>
          <a:xfrm>
            <a:off x="6175248" y="3246120"/>
            <a:ext cx="2493264" cy="530352"/>
          </a:xfrm>
          <a:prstGeom prst="roundRect">
            <a:avLst>
              <a:gd name="adj" fmla="val 10345"/>
            </a:avLst>
          </a:prstGeom>
          <a:solidFill>
            <a:srgbClr val="FCEFD0"/>
          </a:solidFill>
          <a:ln w="12700">
            <a:solidFill>
              <a:srgbClr val="B7791F"/>
            </a:solidFill>
            <a:prstDash val="solid"/>
          </a:ln>
        </p:spPr>
      </p:sp>
      <p:sp>
        <p:nvSpPr>
          <p:cNvPr id="43" name="v:ThreeQuestions:c2k2|b3"/>
          <p:cNvSpPr txBox="1"/>
          <p:nvPr/>
        </p:nvSpPr>
        <p:spPr>
          <a:xfrm>
            <a:off x="6248400" y="3264408"/>
            <a:ext cx="2346960" cy="274320"/>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 * 3</a:t>
            </a:r>
            <a:endParaRPr lang="en-US" sz="1250" dirty="0"/>
          </a:p>
        </p:txBody>
      </p:sp>
      <p:sp>
        <p:nvSpPr>
          <p:cNvPr id="44" name="v:ThreeQuestions:c2k2ev|b3"/>
          <p:cNvSpPr txBox="1"/>
          <p:nvPr/>
        </p:nvSpPr>
        <p:spPr>
          <a:xfrm>
            <a:off x="6248400" y="3529584"/>
            <a:ext cx="2346960" cy="219456"/>
          </a:xfrm>
          <a:prstGeom prst="rect">
            <a:avLst/>
          </a:prstGeom>
          <a:noFill/>
          <a:ln/>
        </p:spPr>
        <p:txBody>
          <a:bodyPr wrap="square" lIns="0" tIns="0" rIns="0" bIns="0" rtlCol="0" anchor="ctr">
            <a:normAutofit/>
          </a:bodyPr>
          <a:lstStyle/>
          <a:p>
            <a:pPr indent="0" marL="0">
              <a:buNone/>
            </a:pPr>
            <a:r>
              <a:rPr lang="en-US" sz="1000" i="1" dirty="0">
                <a:solidFill>
                  <a:srgbClr val="1F2933"/>
                </a:solidFill>
                <a:latin typeface="Calibri" pitchFamily="34" charset="0"/>
                <a:ea typeface="Calibri" pitchFamily="34" charset="-122"/>
                <a:cs typeface="Calibri" pitchFamily="34" charset="-120"/>
              </a:rPr>
              <a:t>three items, one inner list</a:t>
            </a:r>
            <a:endParaRPr lang="en-US" sz="1000" dirty="0"/>
          </a:p>
        </p:txBody>
      </p:sp>
      <p:sp>
        <p:nvSpPr>
          <p:cNvPr id="4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the spine of the whole chapter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datamodel.html" history="1" highlightClick="0" endSnd="0">
                  <a:extLst>
                    <a:ext uri="{A12FA001-AC4F-418D-AE19-62706E023703}">
                      <ahyp:hlinkClr xmlns:ahyp="http://schemas.microsoft.com/office/drawing/2018/hyperlinkcolor" val="tx"/>
                    </a:ext>
                  </a:extLst>
                </a:hlinkClick>
              </a:rPr>
              <a:t>Data model</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stdtypes.html" history="1" highlightClick="0" endSnd="0">
                  <a:extLst>
                    <a:ext uri="{A12FA001-AC4F-418D-AE19-62706E023703}">
                      <ahyp:hlinkClr xmlns:ahyp="http://schemas.microsoft.com/office/drawing/2018/hyperlinkcolor" val="tx"/>
                    </a:ext>
                  </a:extLst>
                </a:hlinkClick>
              </a:rPr>
              <a:t>Built-in types: sequences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childTnLst>
                          </p:cTn>
                        </p:par>
                      </p:childTnLst>
                    </p:cTn>
                  </p:par>
                  <p:par>
                    <p:cTn id="86" fill="hold">
                      <p:stCondLst>
                        <p:cond delay="indefinite"/>
                      </p:stCondLst>
                      <p:childTnLst>
                        <p:par>
                          <p:cTn id="87"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0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0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400"/>
                                        <p:tgtEl>
                                          <p:spTgt spid="23"/>
                                        </p:tgtEl>
                                      </p:cBhvr>
                                    </p:animEffect>
                                  </p:childTnLst>
                                </p:cTn>
                              </p:par>
                              <p:par>
                                <p:cTn id="59" presetID="10" presetClass="entr" presetSubtype="0" fill="hold"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00"/>
                                        <p:tgtEl>
                                          <p:spTgt spid="2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00"/>
                                        <p:tgtEl>
                                          <p:spTgt spid="2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0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00"/>
                                        <p:tgtEl>
                                          <p:spTgt spid="2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00"/>
                                        <p:tgtEl>
                                          <p:spTgt spid="2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00"/>
                                        <p:tgtEl>
                                          <p:spTgt spid="29"/>
                                        </p:tgtEl>
                                      </p:cBhvr>
                                    </p:animEffect>
                                  </p:childTnLst>
                                </p:cTn>
                              </p:par>
                              <p:par>
                                <p:cTn id="77" presetID="10" presetClass="entr" presetSubtype="0" fill="hold"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00"/>
                                        <p:tgtEl>
                                          <p:spTgt spid="3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00"/>
                                        <p:tgtEl>
                                          <p:spTgt spid="3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childTnLst>
                          </p:cTn>
                        </p:par>
                      </p:childTnLst>
                    </p:cTn>
                  </p:par>
                  <p:par>
                    <p:cTn id="124" fill="hold">
                      <p:stCondLst>
                        <p:cond delay="indefinite"/>
                      </p:stCondLst>
                      <p:childTnLst>
                        <p:par>
                          <p:cTn id="125"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400"/>
                                        <p:tgtEl>
                                          <p:spTgt spid="33"/>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400"/>
                                        <p:tgtEl>
                                          <p:spTgt spid="3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5"/>
                                        </p:tgtEl>
                                        <p:attrNameLst>
                                          <p:attrName>style.visibility</p:attrName>
                                        </p:attrNameLst>
                                      </p:cBhvr>
                                      <p:to>
                                        <p:strVal val="visible"/>
                                      </p:to>
                                    </p:set>
                                    <p:animEffect transition="in" filter="fade">
                                      <p:cBhvr>
                                        <p:cTn id="96" dur="400"/>
                                        <p:tgtEl>
                                          <p:spTgt spid="35"/>
                                        </p:tgtEl>
                                      </p:cBhvr>
                                    </p:animEffect>
                                  </p:childTnLst>
                                </p:cTn>
                              </p:par>
                              <p:par>
                                <p:cTn id="97" presetID="10" presetClass="entr" presetSubtype="0" fill="hold" nodeType="withEffect">
                                  <p:stCondLst>
                                    <p:cond delay="0"/>
                                  </p:stCondLst>
                                  <p:childTnLst>
                                    <p:set>
                                      <p:cBhvr>
                                        <p:cTn id="98" dur="1" fill="hold">
                                          <p:stCondLst>
                                            <p:cond delay="0"/>
                                          </p:stCondLst>
                                        </p:cTn>
                                        <p:tgtEl>
                                          <p:spTgt spid="36"/>
                                        </p:tgtEl>
                                        <p:attrNameLst>
                                          <p:attrName>style.visibility</p:attrName>
                                        </p:attrNameLst>
                                      </p:cBhvr>
                                      <p:to>
                                        <p:strVal val="visible"/>
                                      </p:to>
                                    </p:set>
                                    <p:animEffect transition="in" filter="fade">
                                      <p:cBhvr>
                                        <p:cTn id="99" dur="400"/>
                                        <p:tgtEl>
                                          <p:spTgt spid="36"/>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7"/>
                                        </p:tgtEl>
                                        <p:attrNameLst>
                                          <p:attrName>style.visibility</p:attrName>
                                        </p:attrNameLst>
                                      </p:cBhvr>
                                      <p:to>
                                        <p:strVal val="visible"/>
                                      </p:to>
                                    </p:set>
                                    <p:animEffect transition="in" filter="fade">
                                      <p:cBhvr>
                                        <p:cTn id="102" dur="400"/>
                                        <p:tgtEl>
                                          <p:spTgt spid="37"/>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8"/>
                                        </p:tgtEl>
                                        <p:attrNameLst>
                                          <p:attrName>style.visibility</p:attrName>
                                        </p:attrNameLst>
                                      </p:cBhvr>
                                      <p:to>
                                        <p:strVal val="visible"/>
                                      </p:to>
                                    </p:set>
                                    <p:animEffect transition="in" filter="fade">
                                      <p:cBhvr>
                                        <p:cTn id="105" dur="400"/>
                                        <p:tgtEl>
                                          <p:spTgt spid="38"/>
                                        </p:tgtEl>
                                      </p:cBhvr>
                                    </p:animEffect>
                                  </p:childTnLst>
                                </p:cTn>
                              </p:par>
                              <p:par>
                                <p:cTn id="106" presetID="10" presetClass="entr" presetSubtype="0" fill="hold" nodeType="withEffect">
                                  <p:stCondLst>
                                    <p:cond delay="0"/>
                                  </p:stCondLst>
                                  <p:childTnLst>
                                    <p:set>
                                      <p:cBhvr>
                                        <p:cTn id="107" dur="1" fill="hold">
                                          <p:stCondLst>
                                            <p:cond delay="0"/>
                                          </p:stCondLst>
                                        </p:cTn>
                                        <p:tgtEl>
                                          <p:spTgt spid="39"/>
                                        </p:tgtEl>
                                        <p:attrNameLst>
                                          <p:attrName>style.visibility</p:attrName>
                                        </p:attrNameLst>
                                      </p:cBhvr>
                                      <p:to>
                                        <p:strVal val="visible"/>
                                      </p:to>
                                    </p:set>
                                    <p:animEffect transition="in" filter="fade">
                                      <p:cBhvr>
                                        <p:cTn id="108" dur="400"/>
                                        <p:tgtEl>
                                          <p:spTgt spid="39"/>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0"/>
                                        </p:tgtEl>
                                        <p:attrNameLst>
                                          <p:attrName>style.visibility</p:attrName>
                                        </p:attrNameLst>
                                      </p:cBhvr>
                                      <p:to>
                                        <p:strVal val="visible"/>
                                      </p:to>
                                    </p:set>
                                    <p:animEffect transition="in" filter="fade">
                                      <p:cBhvr>
                                        <p:cTn id="111" dur="400"/>
                                        <p:tgtEl>
                                          <p:spTgt spid="40"/>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1"/>
                                        </p:tgtEl>
                                        <p:attrNameLst>
                                          <p:attrName>style.visibility</p:attrName>
                                        </p:attrNameLst>
                                      </p:cBhvr>
                                      <p:to>
                                        <p:strVal val="visible"/>
                                      </p:to>
                                    </p:set>
                                    <p:animEffect transition="in" filter="fade">
                                      <p:cBhvr>
                                        <p:cTn id="114" dur="400"/>
                                        <p:tgtEl>
                                          <p:spTgt spid="41"/>
                                        </p:tgtEl>
                                      </p:cBhvr>
                                    </p:animEffect>
                                  </p:childTnLst>
                                </p:cTn>
                              </p:par>
                              <p:par>
                                <p:cTn id="115" presetID="10" presetClass="entr" presetSubtype="0" fill="hold" nodeType="withEffect">
                                  <p:stCondLst>
                                    <p:cond delay="0"/>
                                  </p:stCondLst>
                                  <p:childTnLst>
                                    <p:set>
                                      <p:cBhvr>
                                        <p:cTn id="116" dur="1" fill="hold">
                                          <p:stCondLst>
                                            <p:cond delay="0"/>
                                          </p:stCondLst>
                                        </p:cTn>
                                        <p:tgtEl>
                                          <p:spTgt spid="42"/>
                                        </p:tgtEl>
                                        <p:attrNameLst>
                                          <p:attrName>style.visibility</p:attrName>
                                        </p:attrNameLst>
                                      </p:cBhvr>
                                      <p:to>
                                        <p:strVal val="visible"/>
                                      </p:to>
                                    </p:set>
                                    <p:animEffect transition="in" filter="fade">
                                      <p:cBhvr>
                                        <p:cTn id="117" dur="400"/>
                                        <p:tgtEl>
                                          <p:spTgt spid="42"/>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3"/>
                                        </p:tgtEl>
                                        <p:attrNameLst>
                                          <p:attrName>style.visibility</p:attrName>
                                        </p:attrNameLst>
                                      </p:cBhvr>
                                      <p:to>
                                        <p:strVal val="visible"/>
                                      </p:to>
                                    </p:set>
                                    <p:animEffect transition="in" filter="fade">
                                      <p:cBhvr>
                                        <p:cTn id="120" dur="400"/>
                                        <p:tgtEl>
                                          <p:spTgt spid="43"/>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4"/>
                                        </p:tgtEl>
                                        <p:attrNameLst>
                                          <p:attrName>style.visibility</p:attrName>
                                        </p:attrNameLst>
                                      </p:cBhvr>
                                      <p:to>
                                        <p:strVal val="visible"/>
                                      </p:to>
                                    </p:set>
                                    <p:animEffect transition="in" filter="fade">
                                      <p:cBhvr>
                                        <p:cTn id="123"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P spid="14" grpId="0" animBg="1"/>
      <p:bldP spid="16" grpId="0" animBg="1"/>
      <p:bldP spid="17" grpId="0" animBg="1"/>
      <p:bldP spid="19" grpId="0" animBg="1"/>
      <p:bldP spid="20" grpId="0" animBg="1"/>
      <p:bldP spid="22" grpId="0" animBg="1"/>
      <p:bldP spid="23" grpId="0" animBg="1"/>
      <p:bldP spid="25" grpId="0" animBg="1"/>
      <p:bldP spid="26" grpId="0" animBg="1"/>
      <p:bldP spid="28" grpId="0" animBg="1"/>
      <p:bldP spid="29" grpId="0" animBg="1"/>
      <p:bldP spid="31" grpId="0" animBg="1"/>
      <p:bldP spid="32" grpId="0" animBg="1"/>
      <p:bldP spid="34" grpId="0" animBg="1"/>
      <p:bldP spid="35" grpId="0" animBg="1"/>
      <p:bldP spid="37" grpId="0" animBg="1"/>
      <p:bldP spid="38" grpId="0" animBg="1"/>
      <p:bldP spid="40" grpId="0" animBg="1"/>
      <p:bldP spid="41" grpId="0" animBg="1"/>
      <p:bldP spid="43" grpId="0" animBg="1"/>
      <p:bldP spid="4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502920"/>
            <a:ext cx="914400" cy="1005840"/>
          </a:xfrm>
          <a:prstGeom prst="rect">
            <a:avLst/>
          </a:prstGeom>
          <a:noFill/>
          <a:ln/>
        </p:spPr>
        <p:txBody>
          <a:bodyPr wrap="square" lIns="0" tIns="0" rIns="0" bIns="0" rtlCol="0" anchor="ctr"/>
          <a:lstStyle/>
          <a:p>
            <a:pPr indent="0" marL="0">
              <a:buNone/>
            </a:pPr>
            <a:r>
              <a:rPr lang="en-US" sz="6600" b="1" dirty="0">
                <a:solidFill>
                  <a:srgbClr val="FFD43B"/>
                </a:solidFill>
                <a:latin typeface="Cambria" pitchFamily="34" charset="0"/>
                <a:ea typeface="Cambria" pitchFamily="34" charset="-122"/>
                <a:cs typeface="Cambria" pitchFamily="34" charset="-120"/>
              </a:rPr>
              <a:t>1</a:t>
            </a:r>
            <a:endParaRPr lang="en-US" sz="6600" dirty="0"/>
          </a:p>
        </p:txBody>
      </p:sp>
      <p:sp>
        <p:nvSpPr>
          <p:cNvPr id="3" name="x"/>
          <p:cNvSpPr txBox="1"/>
          <p:nvPr/>
        </p:nvSpPr>
        <p:spPr>
          <a:xfrm>
            <a:off x="1371600" y="1005840"/>
            <a:ext cx="1097280" cy="457200"/>
          </a:xfrm>
          <a:prstGeom prst="rect">
            <a:avLst/>
          </a:prstGeom>
          <a:noFill/>
          <a:ln/>
        </p:spPr>
        <p:txBody>
          <a:bodyPr wrap="square" lIns="0" tIns="0" rIns="0" bIns="0" rtlCol="0" anchor="ctr"/>
          <a:lstStyle/>
          <a:p>
            <a:pPr indent="0" marL="0">
              <a:buNone/>
            </a:pPr>
            <a:r>
              <a:rPr lang="en-US" sz="1600" i="1" dirty="0">
                <a:solidFill>
                  <a:srgbClr val="C9D4E0"/>
                </a:solidFill>
                <a:latin typeface="Calibri" pitchFamily="34" charset="0"/>
                <a:ea typeface="Calibri" pitchFamily="34" charset="-122"/>
                <a:cs typeface="Calibri" pitchFamily="34" charset="-120"/>
              </a:rPr>
              <a:t>of 6</a:t>
            </a:r>
            <a:endParaRPr lang="en-US" sz="1600" dirty="0"/>
          </a:p>
        </p:txBody>
      </p:sp>
      <p:sp>
        <p:nvSpPr>
          <p:cNvPr id="4" name="x"/>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List basics</a:t>
            </a:r>
            <a:endParaRPr lang="en-US" sz="3600" dirty="0"/>
          </a:p>
        </p:txBody>
      </p:sp>
      <p:sp>
        <p:nvSpPr>
          <p:cNvPr id="5" name="x"/>
          <p:cNvSpPr txBox="1"/>
          <p:nvPr/>
        </p:nvSpPr>
        <p:spPr>
          <a:xfrm>
            <a:off x="548640" y="2148840"/>
            <a:ext cx="8046720" cy="502920"/>
          </a:xfrm>
          <a:prstGeom prst="rect">
            <a:avLst/>
          </a:prstGeom>
          <a:noFill/>
          <a:ln/>
        </p:spPr>
        <p:txBody>
          <a:bodyPr wrap="square" lIns="0" tIns="0" rIns="0" bIns="0" rtlCol="0" anchor="t"/>
          <a:lstStyle/>
          <a:p>
            <a:pPr indent="0" marL="0">
              <a:buNone/>
            </a:pPr>
            <a:r>
              <a:rPr lang="en-US" sz="1500" i="1" dirty="0">
                <a:solidFill>
                  <a:srgbClr val="FFD43B"/>
                </a:solidFill>
                <a:latin typeface="Calibri" pitchFamily="34" charset="0"/>
                <a:ea typeface="Calibri" pitchFamily="34" charset="-122"/>
                <a:cs typeface="Calibri" pitchFamily="34" charset="-120"/>
              </a:rPr>
              <a:t>The list type, its length and the positions of its items are the base of Chapter 6.</a:t>
            </a:r>
            <a:endParaRPr lang="en-US" sz="1500" dirty="0"/>
          </a:p>
        </p:txBody>
      </p:sp>
      <p:sp>
        <p:nvSpPr>
          <p:cNvPr id="6" name="divmid|b1"/>
          <p:cNvSpPr txBox="1"/>
          <p:nvPr/>
        </p:nvSpPr>
        <p:spPr>
          <a:xfrm>
            <a:off x="5486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Structure</a:t>
            </a:r>
            <a:endParaRPr lang="en-US" sz="1500" dirty="0"/>
          </a:p>
        </p:txBody>
      </p:sp>
      <p:sp>
        <p:nvSpPr>
          <p:cNvPr id="7" name="divleafbox|b1"/>
          <p:cNvSpPr/>
          <p:nvPr/>
        </p:nvSpPr>
        <p:spPr>
          <a:xfrm>
            <a:off x="548640" y="3108960"/>
            <a:ext cx="3931920" cy="246888"/>
          </a:xfrm>
          <a:prstGeom prst="roundRect">
            <a:avLst>
              <a:gd name="adj" fmla="val 22222"/>
            </a:avLst>
          </a:prstGeom>
          <a:solidFill>
            <a:srgbClr val="2C3E54"/>
          </a:solidFill>
          <a:ln w="12700">
            <a:solidFill>
              <a:srgbClr val="3B5B87"/>
            </a:solidFill>
            <a:prstDash val="solid"/>
          </a:ln>
        </p:spPr>
      </p:sp>
      <p:sp>
        <p:nvSpPr>
          <p:cNvPr id="8" name="divleaf|b1"/>
          <p:cNvSpPr txBox="1"/>
          <p:nvPr/>
        </p:nvSpPr>
        <p:spPr>
          <a:xfrm>
            <a:off x="6400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List type</a:t>
            </a:r>
            <a:endParaRPr lang="en-US" sz="1200" dirty="0"/>
          </a:p>
        </p:txBody>
      </p:sp>
      <p:sp>
        <p:nvSpPr>
          <p:cNvPr id="9" name="divleafbox|b1"/>
          <p:cNvSpPr/>
          <p:nvPr/>
        </p:nvSpPr>
        <p:spPr>
          <a:xfrm>
            <a:off x="548640" y="3392424"/>
            <a:ext cx="3931920" cy="246888"/>
          </a:xfrm>
          <a:prstGeom prst="roundRect">
            <a:avLst>
              <a:gd name="adj" fmla="val 22222"/>
            </a:avLst>
          </a:prstGeom>
          <a:solidFill>
            <a:srgbClr val="2C3E54"/>
          </a:solidFill>
          <a:ln w="12700">
            <a:solidFill>
              <a:srgbClr val="3B5B87"/>
            </a:solidFill>
            <a:prstDash val="solid"/>
          </a:ln>
        </p:spPr>
      </p:sp>
      <p:sp>
        <p:nvSpPr>
          <p:cNvPr id="10" name="divleaf|b1"/>
          <p:cNvSpPr txBox="1"/>
          <p:nvPr/>
        </p:nvSpPr>
        <p:spPr>
          <a:xfrm>
            <a:off x="6400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List length</a:t>
            </a:r>
            <a:endParaRPr lang="en-US" sz="1200" dirty="0"/>
          </a:p>
        </p:txBody>
      </p:sp>
      <p:sp>
        <p:nvSpPr>
          <p:cNvPr id="11" name="divmid|b2"/>
          <p:cNvSpPr txBox="1"/>
          <p:nvPr/>
        </p:nvSpPr>
        <p:spPr>
          <a:xfrm>
            <a:off x="46634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Positions</a:t>
            </a:r>
            <a:endParaRPr lang="en-US" sz="1500" dirty="0"/>
          </a:p>
        </p:txBody>
      </p:sp>
      <p:sp>
        <p:nvSpPr>
          <p:cNvPr id="12" name="divleafbox|b2"/>
          <p:cNvSpPr/>
          <p:nvPr/>
        </p:nvSpPr>
        <p:spPr>
          <a:xfrm>
            <a:off x="4663440" y="3108960"/>
            <a:ext cx="3931920" cy="246888"/>
          </a:xfrm>
          <a:prstGeom prst="roundRect">
            <a:avLst>
              <a:gd name="adj" fmla="val 22222"/>
            </a:avLst>
          </a:prstGeom>
          <a:solidFill>
            <a:srgbClr val="2C3E54"/>
          </a:solidFill>
          <a:ln w="12700">
            <a:solidFill>
              <a:srgbClr val="3B5B87"/>
            </a:solidFill>
            <a:prstDash val="solid"/>
          </a:ln>
        </p:spPr>
      </p:sp>
      <p:sp>
        <p:nvSpPr>
          <p:cNvPr id="13" name="divleaf|b2"/>
          <p:cNvSpPr txBox="1"/>
          <p:nvPr/>
        </p:nvSpPr>
        <p:spPr>
          <a:xfrm>
            <a:off x="47548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Indexing</a:t>
            </a:r>
            <a:endParaRPr lang="en-US" sz="1200" dirty="0"/>
          </a:p>
        </p:txBody>
      </p:sp>
      <p:sp>
        <p:nvSpPr>
          <p:cNvPr id="14" name="divleafbox|b2"/>
          <p:cNvSpPr/>
          <p:nvPr/>
        </p:nvSpPr>
        <p:spPr>
          <a:xfrm>
            <a:off x="4663440" y="3392424"/>
            <a:ext cx="3931920" cy="246888"/>
          </a:xfrm>
          <a:prstGeom prst="roundRect">
            <a:avLst>
              <a:gd name="adj" fmla="val 22222"/>
            </a:avLst>
          </a:prstGeom>
          <a:solidFill>
            <a:srgbClr val="2C3E54"/>
          </a:solidFill>
          <a:ln w="12700">
            <a:solidFill>
              <a:srgbClr val="3B5B87"/>
            </a:solidFill>
            <a:prstDash val="solid"/>
          </a:ln>
        </p:spPr>
      </p:sp>
      <p:sp>
        <p:nvSpPr>
          <p:cNvPr id="15" name="divleaf|b2"/>
          <p:cNvSpPr txBox="1"/>
          <p:nvPr/>
        </p:nvSpPr>
        <p:spPr>
          <a:xfrm>
            <a:off x="47548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Slicing</a:t>
            </a:r>
            <a:endParaRPr lang="en-US" sz="1200" dirty="0"/>
          </a:p>
        </p:txBody>
      </p:sp>
      <p:sp>
        <p:nvSpPr>
          <p:cNvPr id="16" name="x"/>
          <p:cNvSpPr/>
          <p:nvPr/>
        </p:nvSpPr>
        <p:spPr>
          <a:xfrm>
            <a:off x="548640" y="4572000"/>
            <a:ext cx="1267968" cy="64008"/>
          </a:xfrm>
          <a:prstGeom prst="rect">
            <a:avLst/>
          </a:prstGeom>
          <a:solidFill>
            <a:srgbClr val="FFD43B"/>
          </a:solidFill>
          <a:ln w="12700">
            <a:solidFill>
              <a:srgbClr val="FFD43B"/>
            </a:solidFill>
            <a:prstDash val="solid"/>
          </a:ln>
        </p:spPr>
      </p:sp>
      <p:sp>
        <p:nvSpPr>
          <p:cNvPr id="17" name="x"/>
          <p:cNvSpPr/>
          <p:nvPr/>
        </p:nvSpPr>
        <p:spPr>
          <a:xfrm>
            <a:off x="1889760" y="4572000"/>
            <a:ext cx="1267968" cy="64008"/>
          </a:xfrm>
          <a:prstGeom prst="rect">
            <a:avLst/>
          </a:prstGeom>
          <a:solidFill>
            <a:srgbClr val="4A5D75"/>
          </a:solidFill>
          <a:ln w="12700">
            <a:solidFill>
              <a:srgbClr val="4A5D75"/>
            </a:solidFill>
            <a:prstDash val="solid"/>
          </a:ln>
        </p:spPr>
      </p:sp>
      <p:sp>
        <p:nvSpPr>
          <p:cNvPr id="18" name="x"/>
          <p:cNvSpPr/>
          <p:nvPr/>
        </p:nvSpPr>
        <p:spPr>
          <a:xfrm>
            <a:off x="3230880" y="4572000"/>
            <a:ext cx="1267968" cy="64008"/>
          </a:xfrm>
          <a:prstGeom prst="rect">
            <a:avLst/>
          </a:prstGeom>
          <a:solidFill>
            <a:srgbClr val="4A5D75"/>
          </a:solidFill>
          <a:ln w="12700">
            <a:solidFill>
              <a:srgbClr val="4A5D75"/>
            </a:solidFill>
            <a:prstDash val="solid"/>
          </a:ln>
        </p:spPr>
      </p:sp>
      <p:sp>
        <p:nvSpPr>
          <p:cNvPr id="19" name="x"/>
          <p:cNvSpPr/>
          <p:nvPr/>
        </p:nvSpPr>
        <p:spPr>
          <a:xfrm>
            <a:off x="4572000" y="4572000"/>
            <a:ext cx="1267968" cy="64008"/>
          </a:xfrm>
          <a:prstGeom prst="rect">
            <a:avLst/>
          </a:prstGeom>
          <a:solidFill>
            <a:srgbClr val="4A5D75"/>
          </a:solidFill>
          <a:ln w="12700">
            <a:solidFill>
              <a:srgbClr val="4A5D75"/>
            </a:solidFill>
            <a:prstDash val="solid"/>
          </a:ln>
        </p:spPr>
      </p:sp>
      <p:sp>
        <p:nvSpPr>
          <p:cNvPr id="20" name="x"/>
          <p:cNvSpPr/>
          <p:nvPr/>
        </p:nvSpPr>
        <p:spPr>
          <a:xfrm>
            <a:off x="5913120" y="4572000"/>
            <a:ext cx="1267968" cy="64008"/>
          </a:xfrm>
          <a:prstGeom prst="rect">
            <a:avLst/>
          </a:prstGeom>
          <a:solidFill>
            <a:srgbClr val="4A5D75"/>
          </a:solidFill>
          <a:ln w="12700">
            <a:solidFill>
              <a:srgbClr val="4A5D75"/>
            </a:solidFill>
            <a:prstDash val="solid"/>
          </a:ln>
        </p:spPr>
      </p:sp>
      <p:sp>
        <p:nvSpPr>
          <p:cNvPr id="21" name="x"/>
          <p:cNvSpPr/>
          <p:nvPr/>
        </p:nvSpPr>
        <p:spPr>
          <a:xfrm>
            <a:off x="7254240" y="4572000"/>
            <a:ext cx="1267968" cy="64008"/>
          </a:xfrm>
          <a:prstGeom prst="rect">
            <a:avLst/>
          </a:prstGeom>
          <a:solidFill>
            <a:srgbClr val="4A5D75"/>
          </a:solidFill>
          <a:ln w="12700">
            <a:solidFill>
              <a:srgbClr val="4A5D75"/>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P spid="13"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list is a row of boxes, each with two numbers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Counted from the front (0, 1, 2 ...) and from the back (-1, -2 ...)</a:t>
            </a:r>
            <a:endParaRPr lang="en-US" sz="1400" dirty="0"/>
          </a:p>
        </p:txBody>
      </p:sp>
      <p:sp>
        <p:nvSpPr>
          <p:cNvPr id="6" name="v:Indexing:ix0"/>
          <p:cNvSpPr txBox="1"/>
          <p:nvPr/>
        </p:nvSpPr>
        <p:spPr>
          <a:xfrm>
            <a:off x="457200"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0</a:t>
            </a:r>
            <a:endParaRPr lang="en-US" sz="1200" dirty="0"/>
          </a:p>
        </p:txBody>
      </p:sp>
      <p:sp>
        <p:nvSpPr>
          <p:cNvPr id="7" name="v:Indexing:i0:box"/>
          <p:cNvSpPr/>
          <p:nvPr/>
        </p:nvSpPr>
        <p:spPr>
          <a:xfrm>
            <a:off x="457200" y="1426464"/>
            <a:ext cx="1234440" cy="502920"/>
          </a:xfrm>
          <a:prstGeom prst="roundRect">
            <a:avLst>
              <a:gd name="adj" fmla="val 10909"/>
            </a:avLst>
          </a:prstGeom>
          <a:solidFill>
            <a:srgbClr val="FFD43B"/>
          </a:solidFill>
          <a:ln w="22225">
            <a:solidFill>
              <a:srgbClr val="B7791F"/>
            </a:solidFill>
            <a:prstDash val="solid"/>
          </a:ln>
        </p:spPr>
      </p:sp>
      <p:sp>
        <p:nvSpPr>
          <p:cNvPr id="8" name="v:Indexing:i0"/>
          <p:cNvSpPr txBox="1"/>
          <p:nvPr/>
        </p:nvSpPr>
        <p:spPr>
          <a:xfrm>
            <a:off x="484632"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'cat'</a:t>
            </a:r>
            <a:endParaRPr lang="en-US" sz="1300" dirty="0"/>
          </a:p>
        </p:txBody>
      </p:sp>
      <p:sp>
        <p:nvSpPr>
          <p:cNvPr id="9" name="v:Indexing:nx0"/>
          <p:cNvSpPr txBox="1"/>
          <p:nvPr/>
        </p:nvSpPr>
        <p:spPr>
          <a:xfrm>
            <a:off x="457200"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-4</a:t>
            </a:r>
            <a:endParaRPr lang="en-US" sz="1200" dirty="0"/>
          </a:p>
        </p:txBody>
      </p:sp>
      <p:sp>
        <p:nvSpPr>
          <p:cNvPr id="10" name="v:Indexing:ix1"/>
          <p:cNvSpPr txBox="1"/>
          <p:nvPr/>
        </p:nvSpPr>
        <p:spPr>
          <a:xfrm>
            <a:off x="1764792"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1</a:t>
            </a:r>
            <a:endParaRPr lang="en-US" sz="1200" dirty="0"/>
          </a:p>
        </p:txBody>
      </p:sp>
      <p:sp>
        <p:nvSpPr>
          <p:cNvPr id="11" name="v:Indexing:i1:box"/>
          <p:cNvSpPr/>
          <p:nvPr/>
        </p:nvSpPr>
        <p:spPr>
          <a:xfrm>
            <a:off x="1764792" y="1426464"/>
            <a:ext cx="1234440" cy="502920"/>
          </a:xfrm>
          <a:prstGeom prst="roundRect">
            <a:avLst>
              <a:gd name="adj" fmla="val 10909"/>
            </a:avLst>
          </a:prstGeom>
          <a:solidFill>
            <a:srgbClr val="FFD43B"/>
          </a:solidFill>
          <a:ln w="22225">
            <a:solidFill>
              <a:srgbClr val="B7791F"/>
            </a:solidFill>
            <a:prstDash val="solid"/>
          </a:ln>
        </p:spPr>
      </p:sp>
      <p:sp>
        <p:nvSpPr>
          <p:cNvPr id="12" name="v:Indexing:i1"/>
          <p:cNvSpPr txBox="1"/>
          <p:nvPr/>
        </p:nvSpPr>
        <p:spPr>
          <a:xfrm>
            <a:off x="1792224"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'bat'</a:t>
            </a:r>
            <a:endParaRPr lang="en-US" sz="1300" dirty="0"/>
          </a:p>
        </p:txBody>
      </p:sp>
      <p:sp>
        <p:nvSpPr>
          <p:cNvPr id="13" name="v:Indexing:nx1"/>
          <p:cNvSpPr txBox="1"/>
          <p:nvPr/>
        </p:nvSpPr>
        <p:spPr>
          <a:xfrm>
            <a:off x="1764792"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-3</a:t>
            </a:r>
            <a:endParaRPr lang="en-US" sz="1200" dirty="0"/>
          </a:p>
        </p:txBody>
      </p:sp>
      <p:sp>
        <p:nvSpPr>
          <p:cNvPr id="14" name="v:Indexing:ix2"/>
          <p:cNvSpPr txBox="1"/>
          <p:nvPr/>
        </p:nvSpPr>
        <p:spPr>
          <a:xfrm>
            <a:off x="3072384"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2</a:t>
            </a:r>
            <a:endParaRPr lang="en-US" sz="1200" dirty="0"/>
          </a:p>
        </p:txBody>
      </p:sp>
      <p:sp>
        <p:nvSpPr>
          <p:cNvPr id="15" name="v:Indexing:i2:box"/>
          <p:cNvSpPr/>
          <p:nvPr/>
        </p:nvSpPr>
        <p:spPr>
          <a:xfrm>
            <a:off x="3072384" y="1426464"/>
            <a:ext cx="1234440" cy="502920"/>
          </a:xfrm>
          <a:prstGeom prst="roundRect">
            <a:avLst>
              <a:gd name="adj" fmla="val 10909"/>
            </a:avLst>
          </a:prstGeom>
          <a:solidFill>
            <a:srgbClr val="E3EEF8"/>
          </a:solidFill>
          <a:ln w="22225">
            <a:solidFill>
              <a:srgbClr val="306998"/>
            </a:solidFill>
            <a:prstDash val="solid"/>
          </a:ln>
        </p:spPr>
      </p:sp>
      <p:sp>
        <p:nvSpPr>
          <p:cNvPr id="16" name="v:Indexing:i2"/>
          <p:cNvSpPr txBox="1"/>
          <p:nvPr/>
        </p:nvSpPr>
        <p:spPr>
          <a:xfrm>
            <a:off x="3099816"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'rat'</a:t>
            </a:r>
            <a:endParaRPr lang="en-US" sz="1300" dirty="0"/>
          </a:p>
        </p:txBody>
      </p:sp>
      <p:sp>
        <p:nvSpPr>
          <p:cNvPr id="17" name="v:Indexing:nx2"/>
          <p:cNvSpPr txBox="1"/>
          <p:nvPr/>
        </p:nvSpPr>
        <p:spPr>
          <a:xfrm>
            <a:off x="3072384"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-2</a:t>
            </a:r>
            <a:endParaRPr lang="en-US" sz="1200" dirty="0"/>
          </a:p>
        </p:txBody>
      </p:sp>
      <p:sp>
        <p:nvSpPr>
          <p:cNvPr id="18" name="v:Indexing:ix3"/>
          <p:cNvSpPr txBox="1"/>
          <p:nvPr/>
        </p:nvSpPr>
        <p:spPr>
          <a:xfrm>
            <a:off x="4379976"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3</a:t>
            </a:r>
            <a:endParaRPr lang="en-US" sz="1200" dirty="0"/>
          </a:p>
        </p:txBody>
      </p:sp>
      <p:sp>
        <p:nvSpPr>
          <p:cNvPr id="19" name="v:Indexing:i3:box"/>
          <p:cNvSpPr/>
          <p:nvPr/>
        </p:nvSpPr>
        <p:spPr>
          <a:xfrm>
            <a:off x="4379976" y="1426464"/>
            <a:ext cx="1234440" cy="502920"/>
          </a:xfrm>
          <a:prstGeom prst="roundRect">
            <a:avLst>
              <a:gd name="adj" fmla="val 10909"/>
            </a:avLst>
          </a:prstGeom>
          <a:solidFill>
            <a:srgbClr val="FFD43B"/>
          </a:solidFill>
          <a:ln w="22225">
            <a:solidFill>
              <a:srgbClr val="B7791F"/>
            </a:solidFill>
            <a:prstDash val="solid"/>
          </a:ln>
        </p:spPr>
      </p:sp>
      <p:sp>
        <p:nvSpPr>
          <p:cNvPr id="20" name="v:Indexing:i3"/>
          <p:cNvSpPr txBox="1"/>
          <p:nvPr/>
        </p:nvSpPr>
        <p:spPr>
          <a:xfrm>
            <a:off x="4407408"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'elephant'</a:t>
            </a:r>
            <a:endParaRPr lang="en-US" sz="1300" dirty="0"/>
          </a:p>
        </p:txBody>
      </p:sp>
      <p:sp>
        <p:nvSpPr>
          <p:cNvPr id="21" name="v:Indexing:nx3"/>
          <p:cNvSpPr txBox="1"/>
          <p:nvPr/>
        </p:nvSpPr>
        <p:spPr>
          <a:xfrm>
            <a:off x="4379976"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-1</a:t>
            </a:r>
            <a:endParaRPr lang="en-US" sz="1200" dirty="0"/>
          </a:p>
        </p:txBody>
      </p:sp>
      <p:sp>
        <p:nvSpPr>
          <p:cNvPr id="22" name="arrow|b1"/>
          <p:cNvSpPr/>
          <p:nvPr/>
        </p:nvSpPr>
        <p:spPr>
          <a:xfrm>
            <a:off x="4997196" y="2203704"/>
            <a:ext cx="0" cy="182880"/>
          </a:xfrm>
          <a:prstGeom prst="line">
            <a:avLst/>
          </a:prstGeom>
          <a:noFill/>
          <a:ln w="22225">
            <a:solidFill>
              <a:srgbClr val="B7791F"/>
            </a:solidFill>
            <a:prstDash val="solid"/>
          </a:ln>
        </p:spPr>
      </p:sp>
      <p:sp>
        <p:nvSpPr>
          <p:cNvPr id="23" name="v:Indexing:p1|b1"/>
          <p:cNvSpPr txBox="1"/>
          <p:nvPr/>
        </p:nvSpPr>
        <p:spPr>
          <a:xfrm>
            <a:off x="5052060" y="2258568"/>
            <a:ext cx="3566160" cy="256032"/>
          </a:xfrm>
          <a:prstGeom prst="rect">
            <a:avLst/>
          </a:prstGeom>
          <a:noFill/>
          <a:ln/>
        </p:spPr>
        <p:txBody>
          <a:bodyPr wrap="square" lIns="0" tIns="0" rIns="0" bIns="0" rtlCol="0" anchor="ctr"/>
          <a:lstStyle/>
          <a:p>
            <a:pPr indent="0" marL="0">
              <a:buNone/>
            </a:pPr>
            <a:r>
              <a:rPr lang="en-US" sz="1200" b="1" dirty="0">
                <a:solidFill>
                  <a:srgbClr val="B7791F"/>
                </a:solidFill>
                <a:latin typeface="Courier New" pitchFamily="34" charset="0"/>
                <a:ea typeface="Courier New" pitchFamily="34" charset="-122"/>
                <a:cs typeface="Courier New" pitchFamily="34" charset="-120"/>
              </a:rPr>
              <a:t>spam[-1]  →  'elephant'</a:t>
            </a:r>
            <a:endParaRPr lang="en-US" sz="1200" dirty="0"/>
          </a:p>
        </p:txBody>
      </p:sp>
      <p:sp>
        <p:nvSpPr>
          <p:cNvPr id="24" name="arrow|b2"/>
          <p:cNvSpPr/>
          <p:nvPr/>
        </p:nvSpPr>
        <p:spPr>
          <a:xfrm>
            <a:off x="2382012" y="2203704"/>
            <a:ext cx="0" cy="457200"/>
          </a:xfrm>
          <a:prstGeom prst="line">
            <a:avLst/>
          </a:prstGeom>
          <a:noFill/>
          <a:ln w="22225">
            <a:solidFill>
              <a:srgbClr val="B7791F"/>
            </a:solidFill>
            <a:prstDash val="solid"/>
          </a:ln>
        </p:spPr>
      </p:sp>
      <p:sp>
        <p:nvSpPr>
          <p:cNvPr id="25" name="v:Indexing:p2|b2"/>
          <p:cNvSpPr txBox="1"/>
          <p:nvPr/>
        </p:nvSpPr>
        <p:spPr>
          <a:xfrm>
            <a:off x="2436876" y="2532888"/>
            <a:ext cx="3566160" cy="256032"/>
          </a:xfrm>
          <a:prstGeom prst="rect">
            <a:avLst/>
          </a:prstGeom>
          <a:noFill/>
          <a:ln/>
        </p:spPr>
        <p:txBody>
          <a:bodyPr wrap="square" lIns="0" tIns="0" rIns="0" bIns="0" rtlCol="0" anchor="ctr"/>
          <a:lstStyle/>
          <a:p>
            <a:pPr indent="0" marL="0">
              <a:buNone/>
            </a:pPr>
            <a:r>
              <a:rPr lang="en-US" sz="1200" b="1" dirty="0">
                <a:solidFill>
                  <a:srgbClr val="B7791F"/>
                </a:solidFill>
                <a:latin typeface="Courier New" pitchFamily="34" charset="0"/>
                <a:ea typeface="Courier New" pitchFamily="34" charset="-122"/>
                <a:cs typeface="Courier New" pitchFamily="34" charset="-120"/>
              </a:rPr>
              <a:t>spam[-3]  →  'bat'</a:t>
            </a:r>
            <a:endParaRPr lang="en-US" sz="1200" dirty="0"/>
          </a:p>
        </p:txBody>
      </p:sp>
      <p:sp>
        <p:nvSpPr>
          <p:cNvPr id="26" name="arrow|b3"/>
          <p:cNvSpPr/>
          <p:nvPr/>
        </p:nvSpPr>
        <p:spPr>
          <a:xfrm>
            <a:off x="1074420" y="2203704"/>
            <a:ext cx="0" cy="731520"/>
          </a:xfrm>
          <a:prstGeom prst="line">
            <a:avLst/>
          </a:prstGeom>
          <a:noFill/>
          <a:ln w="22225">
            <a:solidFill>
              <a:srgbClr val="B7791F"/>
            </a:solidFill>
            <a:prstDash val="solid"/>
          </a:ln>
        </p:spPr>
      </p:sp>
      <p:sp>
        <p:nvSpPr>
          <p:cNvPr id="27" name="v:Indexing:p0|b3"/>
          <p:cNvSpPr txBox="1"/>
          <p:nvPr/>
        </p:nvSpPr>
        <p:spPr>
          <a:xfrm>
            <a:off x="1129284" y="2807208"/>
            <a:ext cx="3566160" cy="256032"/>
          </a:xfrm>
          <a:prstGeom prst="rect">
            <a:avLst/>
          </a:prstGeom>
          <a:noFill/>
          <a:ln/>
        </p:spPr>
        <p:txBody>
          <a:bodyPr wrap="square" lIns="0" tIns="0" rIns="0" bIns="0" rtlCol="0" anchor="ctr"/>
          <a:lstStyle/>
          <a:p>
            <a:pPr indent="0" marL="0">
              <a:buNone/>
            </a:pPr>
            <a:r>
              <a:rPr lang="en-US" sz="1200" b="1" dirty="0">
                <a:solidFill>
                  <a:srgbClr val="B7791F"/>
                </a:solidFill>
                <a:latin typeface="Courier New" pitchFamily="34" charset="0"/>
                <a:ea typeface="Courier New" pitchFamily="34" charset="-122"/>
                <a:cs typeface="Courier New" pitchFamily="34" charset="-120"/>
              </a:rPr>
              <a:t>spam[0]  →  'cat'</a:t>
            </a:r>
            <a:endParaRPr lang="en-US" sz="1200" dirty="0"/>
          </a:p>
        </p:txBody>
      </p:sp>
      <p:sp>
        <p:nvSpPr>
          <p:cNvPr id="28" name="ghost:box|b4"/>
          <p:cNvSpPr/>
          <p:nvPr/>
        </p:nvSpPr>
        <p:spPr>
          <a:xfrm>
            <a:off x="5687568" y="1426464"/>
            <a:ext cx="457200" cy="502920"/>
          </a:xfrm>
          <a:prstGeom prst="roundRect">
            <a:avLst>
              <a:gd name="adj" fmla="val 12000"/>
            </a:avLst>
          </a:prstGeom>
          <a:solidFill>
            <a:srgbClr val="FFFFFF"/>
          </a:solidFill>
          <a:ln w="19050">
            <a:solidFill>
              <a:srgbClr val="D64545"/>
            </a:solidFill>
            <a:prstDash val="dash"/>
          </a:ln>
        </p:spPr>
      </p:sp>
      <p:sp>
        <p:nvSpPr>
          <p:cNvPr id="29" name="v:Indexing:errbox:box|b4"/>
          <p:cNvSpPr/>
          <p:nvPr/>
        </p:nvSpPr>
        <p:spPr>
          <a:xfrm>
            <a:off x="6281928" y="1335024"/>
            <a:ext cx="2404872" cy="685800"/>
          </a:xfrm>
          <a:prstGeom prst="roundRect">
            <a:avLst>
              <a:gd name="adj" fmla="val 10667"/>
            </a:avLst>
          </a:prstGeom>
          <a:solidFill>
            <a:srgbClr val="FBE1E1"/>
          </a:solidFill>
          <a:ln w="12700">
            <a:solidFill>
              <a:srgbClr val="D64545"/>
            </a:solidFill>
            <a:prstDash val="solid"/>
          </a:ln>
        </p:spPr>
      </p:sp>
      <p:sp>
        <p:nvSpPr>
          <p:cNvPr id="30" name="v:Indexing:err|b4"/>
          <p:cNvSpPr txBox="1"/>
          <p:nvPr/>
        </p:nvSpPr>
        <p:spPr>
          <a:xfrm>
            <a:off x="6355080" y="1335024"/>
            <a:ext cx="2258568" cy="685800"/>
          </a:xfrm>
          <a:prstGeom prst="rect">
            <a:avLst/>
          </a:prstGeom>
          <a:noFill/>
          <a:ln/>
        </p:spPr>
        <p:txBody>
          <a:bodyPr wrap="square" lIns="0" tIns="0" rIns="0" bIns="0" rtlCol="0" anchor="ctr"/>
          <a:lstStyle/>
          <a:p>
            <a:pPr indent="0" marL="0">
              <a:buNone/>
            </a:pPr>
            <a:r>
              <a:rPr lang="en-US" sz="1000" b="1" dirty="0">
                <a:solidFill>
                  <a:srgbClr val="D64545"/>
                </a:solidFill>
                <a:latin typeface="Courier New" pitchFamily="34" charset="0"/>
                <a:ea typeface="Courier New" pitchFamily="34" charset="-122"/>
                <a:cs typeface="Courier New" pitchFamily="34" charset="-120"/>
              </a:rPr>
              <a:t>spam[10000]  →  IndexError: list index out of range</a:t>
            </a:r>
            <a:endParaRPr lang="en-US" sz="1000" dirty="0"/>
          </a:p>
        </p:txBody>
      </p:sp>
      <p:sp>
        <p:nvSpPr>
          <p:cNvPr id="31" name="codecardbox|b5"/>
          <p:cNvSpPr/>
          <p:nvPr/>
        </p:nvSpPr>
        <p:spPr>
          <a:xfrm>
            <a:off x="457200" y="3200400"/>
            <a:ext cx="8229600" cy="1389888"/>
          </a:xfrm>
          <a:prstGeom prst="roundRect">
            <a:avLst>
              <a:gd name="adj" fmla="val 6579"/>
            </a:avLst>
          </a:prstGeom>
          <a:solidFill>
            <a:srgbClr val="17202B"/>
          </a:solidFill>
          <a:ln w="12700">
            <a:solidFill>
              <a:srgbClr val="17202B"/>
            </a:solidFill>
            <a:prstDash val="solid"/>
          </a:ln>
        </p:spPr>
      </p:sp>
      <p:sp>
        <p:nvSpPr>
          <p:cNvPr id="32" name="codecard|b5"/>
          <p:cNvSpPr txBox="1"/>
          <p:nvPr/>
        </p:nvSpPr>
        <p:spPr>
          <a:xfrm>
            <a:off x="621792" y="3273552"/>
            <a:ext cx="7900416" cy="1243584"/>
          </a:xfrm>
          <a:prstGeom prst="rect">
            <a:avLst/>
          </a:prstGeom>
          <a:noFill/>
          <a:ln/>
        </p:spPr>
        <p:txBody>
          <a:bodyPr wrap="square" lIns="0" tIns="0" rIns="0" bIns="0" rtlCol="0" anchor="t"/>
          <a:lstStyle/>
          <a:p>
            <a:pPr indent="0" marL="0">
              <a:spcAft>
                <a:spcPts val="100"/>
              </a:spcAft>
              <a:buNone/>
            </a:pPr>
            <a:r>
              <a:rPr lang="en-US" sz="1050" b="1" dirty="0">
                <a:solidFill>
                  <a:srgbClr val="FFD43B"/>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 = ['cat', 'bat', 'rat', 'elephant']</a:t>
            </a:r>
            <a:endParaRPr lang="en-US" sz="1050" dirty="0"/>
          </a:p>
          <a:p>
            <a:pPr indent="0" marL="0">
              <a:spcAft>
                <a:spcPts val="100"/>
              </a:spcAft>
              <a:buNone/>
            </a:pPr>
            <a:r>
              <a:rPr lang="en-US" sz="1050" b="1" dirty="0">
                <a:solidFill>
                  <a:srgbClr val="FFD43B"/>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(spam[0], spam[-1], spam[-3], len(spam))</a:t>
            </a:r>
            <a:endParaRPr lang="en-US" sz="1050" dirty="0"/>
          </a:p>
          <a:p>
            <a:pPr indent="0" marL="0">
              <a:spcAft>
                <a:spcPts val="100"/>
              </a:spcAft>
              <a:buNone/>
            </a:pPr>
            <a:r>
              <a:rPr lang="en-US" sz="1050" dirty="0">
                <a:solidFill>
                  <a:srgbClr val="7EE787"/>
                </a:solidFill>
                <a:latin typeface="Courier New" pitchFamily="34" charset="0"/>
                <a:ea typeface="Courier New" pitchFamily="34" charset="-122"/>
                <a:cs typeface="Courier New" pitchFamily="34" charset="-120"/>
              </a:rPr>
              <a:t>('cat', 'elephant', 'bat', 4)</a:t>
            </a:r>
            <a:endParaRPr lang="en-US" sz="1050" dirty="0"/>
          </a:p>
          <a:p>
            <a:pPr indent="0" marL="0">
              <a:spcAft>
                <a:spcPts val="100"/>
              </a:spcAft>
              <a:buNone/>
            </a:pPr>
            <a:r>
              <a:rPr lang="en-US" sz="1050" b="1" dirty="0">
                <a:solidFill>
                  <a:srgbClr val="FFD43B"/>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spam[10000]</a:t>
            </a:r>
            <a:endParaRPr lang="en-US" sz="1050" dirty="0"/>
          </a:p>
          <a:p>
            <a:pPr indent="0" marL="0">
              <a:spcAft>
                <a:spcPts val="100"/>
              </a:spcAft>
              <a:buNone/>
            </a:pPr>
            <a:r>
              <a:rPr lang="en-US" sz="1050" dirty="0">
                <a:solidFill>
                  <a:srgbClr val="FF7B72"/>
                </a:solidFill>
                <a:latin typeface="Courier New" pitchFamily="34" charset="0"/>
                <a:ea typeface="Courier New" pitchFamily="34" charset="-122"/>
                <a:cs typeface="Courier New" pitchFamily="34" charset="-120"/>
              </a:rPr>
              <a:t>IndexError: list index out of range</a:t>
            </a:r>
            <a:endParaRPr lang="en-US" sz="1050" dirty="0"/>
          </a:p>
          <a:p>
            <a:pPr indent="0" marL="0">
              <a:spcAft>
                <a:spcPts val="100"/>
              </a:spcAft>
              <a:buNone/>
            </a:pPr>
            <a:r>
              <a:rPr lang="en-US" sz="1050" b="1" dirty="0">
                <a:solidFill>
                  <a:srgbClr val="FFD43B"/>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[['cat', 'bat'], [10, 20, 30, 40, 50]][1][4]</a:t>
            </a:r>
            <a:endParaRPr lang="en-US" sz="1050" dirty="0"/>
          </a:p>
          <a:p>
            <a:pPr indent="0" marL="0">
              <a:spcAft>
                <a:spcPts val="100"/>
              </a:spcAft>
              <a:buNone/>
            </a:pPr>
            <a:r>
              <a:rPr lang="en-US" sz="1050" dirty="0">
                <a:solidFill>
                  <a:srgbClr val="7EE787"/>
                </a:solidFill>
                <a:latin typeface="Courier New" pitchFamily="34" charset="0"/>
                <a:ea typeface="Courier New" pitchFamily="34" charset="-122"/>
                <a:cs typeface="Courier New" pitchFamily="34" charset="-120"/>
              </a:rPr>
              <a:t>50</a:t>
            </a:r>
            <a:endParaRPr lang="en-US" sz="1050" dirty="0"/>
          </a:p>
        </p:txBody>
      </p:sp>
      <p:sp>
        <p:nvSpPr>
          <p:cNvPr id="3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3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3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List basics ▸ List type, List length, Indexing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introduction.html" history="1" highlightClick="0" endSnd="0">
                  <a:extLst>
                    <a:ext uri="{A12FA001-AC4F-418D-AE19-62706E023703}">
                      <ahyp:hlinkClr xmlns:ahyp="http://schemas.microsoft.com/office/drawing/2018/hyperlinkcolor" val="tx"/>
                    </a:ext>
                  </a:extLst>
                </a:hlinkClick>
              </a:rPr>
              <a:t>Tutorial: lists and slices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400"/>
                                        <p:tgtEl>
                                          <p:spTgt spid="2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4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40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400"/>
                                        <p:tgtEl>
                                          <p:spTgt spid="25"/>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400"/>
                                        <p:tgtEl>
                                          <p:spTgt spid="2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400"/>
                                        <p:tgtEl>
                                          <p:spTgt spid="27"/>
                                        </p:tgtEl>
                                      </p:cBhvr>
                                    </p:animEffect>
                                  </p:childTnLst>
                                </p:cTn>
                              </p:par>
                            </p:childTnLst>
                          </p:cTn>
                        </p:par>
                      </p:childTnLst>
                    </p:cTn>
                  </p:par>
                  <p:par>
                    <p:cTn id="36" fill="hold">
                      <p:stCondLst>
                        <p:cond delay="indefinite"/>
                      </p:stCondLst>
                      <p:childTnLst>
                        <p:par>
                          <p:cTn id="37"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fade">
                                      <p:cBhvr>
                                        <p:cTn id="29" dur="400"/>
                                        <p:tgtEl>
                                          <p:spTgt spid="28"/>
                                        </p:tgtEl>
                                      </p:cBhvr>
                                    </p:animEffect>
                                  </p:childTnLst>
                                </p:cTn>
                              </p:par>
                              <p:par>
                                <p:cTn id="30" presetID="10" presetClass="entr" presetSubtype="0" fill="hold" nodeType="with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400"/>
                                        <p:tgtEl>
                                          <p:spTgt spid="2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400"/>
                                        <p:tgtEl>
                                          <p:spTgt spid="30"/>
                                        </p:tgtEl>
                                      </p:cBhvr>
                                    </p:animEffect>
                                  </p:childTnLst>
                                </p:cTn>
                              </p:par>
                            </p:childTnLst>
                          </p:cTn>
                        </p:par>
                      </p:childTnLst>
                    </p:cTn>
                  </p:par>
                  <p:par>
                    <p:cTn id="44" fill="hold">
                      <p:stCondLst>
                        <p:cond delay="indefinite"/>
                      </p:stCondLst>
                      <p:childTnLst>
                        <p:par>
                          <p:cTn id="45"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400"/>
                                        <p:tgtEl>
                                          <p:spTgt spid="3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5" grpId="0" animBg="1"/>
      <p:bldP spid="27" grpId="0" animBg="1"/>
      <p:bldP spid="30" grpId="0" animBg="1"/>
      <p:bldP spid="3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slice is a bracket over some of the boxes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Every slice is a new list; the original keeps all its items</a:t>
            </a:r>
            <a:endParaRPr lang="en-US" sz="1400" dirty="0"/>
          </a:p>
        </p:txBody>
      </p:sp>
      <p:sp>
        <p:nvSpPr>
          <p:cNvPr id="6" name="v:Slicing:hx0"/>
          <p:cNvSpPr txBox="1"/>
          <p:nvPr/>
        </p:nvSpPr>
        <p:spPr>
          <a:xfrm>
            <a:off x="1783080" y="1188720"/>
            <a:ext cx="896112" cy="219456"/>
          </a:xfrm>
          <a:prstGeom prst="rect">
            <a:avLst/>
          </a:prstGeom>
          <a:noFill/>
          <a:ln/>
        </p:spPr>
        <p:txBody>
          <a:bodyPr wrap="square" lIns="0" tIns="0" rIns="0" bIns="0" rtlCol="0" anchor="ctr"/>
          <a:lstStyle/>
          <a:p>
            <a:pPr algn="ctr" indent="0" marL="0">
              <a:buNone/>
            </a:pPr>
            <a:r>
              <a:rPr lang="en-US" sz="1100" dirty="0">
                <a:solidFill>
                  <a:srgbClr val="5B6B7B"/>
                </a:solidFill>
                <a:latin typeface="Courier New" pitchFamily="34" charset="0"/>
                <a:ea typeface="Courier New" pitchFamily="34" charset="-122"/>
                <a:cs typeface="Courier New" pitchFamily="34" charset="-120"/>
              </a:rPr>
              <a:t>0</a:t>
            </a:r>
            <a:endParaRPr lang="en-US" sz="1100" dirty="0"/>
          </a:p>
        </p:txBody>
      </p:sp>
      <p:sp>
        <p:nvSpPr>
          <p:cNvPr id="7" name="v:Slicing:hx1"/>
          <p:cNvSpPr txBox="1"/>
          <p:nvPr/>
        </p:nvSpPr>
        <p:spPr>
          <a:xfrm>
            <a:off x="2724912" y="1188720"/>
            <a:ext cx="896112" cy="219456"/>
          </a:xfrm>
          <a:prstGeom prst="rect">
            <a:avLst/>
          </a:prstGeom>
          <a:noFill/>
          <a:ln/>
        </p:spPr>
        <p:txBody>
          <a:bodyPr wrap="square" lIns="0" tIns="0" rIns="0" bIns="0" rtlCol="0" anchor="ctr"/>
          <a:lstStyle/>
          <a:p>
            <a:pPr algn="ctr" indent="0" marL="0">
              <a:buNone/>
            </a:pPr>
            <a:r>
              <a:rPr lang="en-US" sz="1100" dirty="0">
                <a:solidFill>
                  <a:srgbClr val="5B6B7B"/>
                </a:solidFill>
                <a:latin typeface="Courier New" pitchFamily="34" charset="0"/>
                <a:ea typeface="Courier New" pitchFamily="34" charset="-122"/>
                <a:cs typeface="Courier New" pitchFamily="34" charset="-120"/>
              </a:rPr>
              <a:t>1</a:t>
            </a:r>
            <a:endParaRPr lang="en-US" sz="1100" dirty="0"/>
          </a:p>
        </p:txBody>
      </p:sp>
      <p:sp>
        <p:nvSpPr>
          <p:cNvPr id="8" name="v:Slicing:hx2"/>
          <p:cNvSpPr txBox="1"/>
          <p:nvPr/>
        </p:nvSpPr>
        <p:spPr>
          <a:xfrm>
            <a:off x="3666744" y="1188720"/>
            <a:ext cx="896112" cy="219456"/>
          </a:xfrm>
          <a:prstGeom prst="rect">
            <a:avLst/>
          </a:prstGeom>
          <a:noFill/>
          <a:ln/>
        </p:spPr>
        <p:txBody>
          <a:bodyPr wrap="square" lIns="0" tIns="0" rIns="0" bIns="0" rtlCol="0" anchor="ctr"/>
          <a:lstStyle/>
          <a:p>
            <a:pPr algn="ctr" indent="0" marL="0">
              <a:buNone/>
            </a:pPr>
            <a:r>
              <a:rPr lang="en-US" sz="1100" dirty="0">
                <a:solidFill>
                  <a:srgbClr val="5B6B7B"/>
                </a:solidFill>
                <a:latin typeface="Courier New" pitchFamily="34" charset="0"/>
                <a:ea typeface="Courier New" pitchFamily="34" charset="-122"/>
                <a:cs typeface="Courier New" pitchFamily="34" charset="-120"/>
              </a:rPr>
              <a:t>2</a:t>
            </a:r>
            <a:endParaRPr lang="en-US" sz="1100" dirty="0"/>
          </a:p>
        </p:txBody>
      </p:sp>
      <p:sp>
        <p:nvSpPr>
          <p:cNvPr id="9" name="v:Slicing:hx3"/>
          <p:cNvSpPr txBox="1"/>
          <p:nvPr/>
        </p:nvSpPr>
        <p:spPr>
          <a:xfrm>
            <a:off x="4608576" y="1188720"/>
            <a:ext cx="896112" cy="219456"/>
          </a:xfrm>
          <a:prstGeom prst="rect">
            <a:avLst/>
          </a:prstGeom>
          <a:noFill/>
          <a:ln/>
        </p:spPr>
        <p:txBody>
          <a:bodyPr wrap="square" lIns="0" tIns="0" rIns="0" bIns="0" rtlCol="0" anchor="ctr"/>
          <a:lstStyle/>
          <a:p>
            <a:pPr algn="ctr" indent="0" marL="0">
              <a:buNone/>
            </a:pPr>
            <a:r>
              <a:rPr lang="en-US" sz="1100" dirty="0">
                <a:solidFill>
                  <a:srgbClr val="5B6B7B"/>
                </a:solidFill>
                <a:latin typeface="Courier New" pitchFamily="34" charset="0"/>
                <a:ea typeface="Courier New" pitchFamily="34" charset="-122"/>
                <a:cs typeface="Courier New" pitchFamily="34" charset="-120"/>
              </a:rPr>
              <a:t>3</a:t>
            </a:r>
            <a:endParaRPr lang="en-US" sz="1100" dirty="0"/>
          </a:p>
        </p:txBody>
      </p:sp>
      <p:sp>
        <p:nvSpPr>
          <p:cNvPr id="10" name="v:Slicing:e0x|b1"/>
          <p:cNvSpPr txBox="1"/>
          <p:nvPr/>
        </p:nvSpPr>
        <p:spPr>
          <a:xfrm>
            <a:off x="365760" y="1463040"/>
            <a:ext cx="1371600" cy="292608"/>
          </a:xfrm>
          <a:prstGeom prst="rect">
            <a:avLst/>
          </a:prstGeom>
          <a:noFill/>
          <a:ln/>
        </p:spPr>
        <p:txBody>
          <a:bodyPr wrap="square" lIns="0" tIns="0" rIns="0" bIns="0" rtlCol="0" anchor="ctr"/>
          <a:lstStyle/>
          <a:p>
            <a:pPr indent="0" marL="0">
              <a:buNone/>
            </a:pPr>
            <a:r>
              <a:rPr lang="en-US" sz="1300" b="1" dirty="0">
                <a:solidFill>
                  <a:srgbClr val="1E2A3A"/>
                </a:solidFill>
                <a:latin typeface="Courier New" pitchFamily="34" charset="0"/>
                <a:ea typeface="Courier New" pitchFamily="34" charset="-122"/>
                <a:cs typeface="Courier New" pitchFamily="34" charset="-120"/>
              </a:rPr>
              <a:t>spam[1:3]</a:t>
            </a:r>
            <a:endParaRPr lang="en-US" sz="1300" dirty="0"/>
          </a:p>
        </p:txBody>
      </p:sp>
      <p:sp>
        <p:nvSpPr>
          <p:cNvPr id="11" name="v:Slicing:e0c0:box|b1"/>
          <p:cNvSpPr/>
          <p:nvPr/>
        </p:nvSpPr>
        <p:spPr>
          <a:xfrm>
            <a:off x="1783080" y="1463040"/>
            <a:ext cx="896112" cy="292608"/>
          </a:xfrm>
          <a:prstGeom prst="roundRect">
            <a:avLst>
              <a:gd name="adj" fmla="val 15625"/>
            </a:avLst>
          </a:prstGeom>
          <a:solidFill>
            <a:srgbClr val="F1F4F8"/>
          </a:solidFill>
          <a:ln w="12700">
            <a:solidFill>
              <a:srgbClr val="9AA8B8"/>
            </a:solidFill>
            <a:prstDash val="solid"/>
          </a:ln>
        </p:spPr>
      </p:sp>
      <p:sp>
        <p:nvSpPr>
          <p:cNvPr id="12" name="v:Slicing:e0c0|b1"/>
          <p:cNvSpPr txBox="1"/>
          <p:nvPr/>
        </p:nvSpPr>
        <p:spPr>
          <a:xfrm>
            <a:off x="1801368" y="1463040"/>
            <a:ext cx="859536" cy="292608"/>
          </a:xfrm>
          <a:prstGeom prst="rect">
            <a:avLst/>
          </a:prstGeom>
          <a:noFill/>
          <a:ln/>
        </p:spPr>
        <p:txBody>
          <a:bodyPr wrap="square" lIns="0" tIns="0" rIns="0" bIns="0" rtlCol="0" anchor="ctr">
            <a:normAutofit/>
          </a:bodyPr>
          <a:lstStyle/>
          <a:p>
            <a:pPr algn="ctr" indent="0" marL="0">
              <a:buNone/>
            </a:pPr>
            <a:r>
              <a:rPr lang="en-US" sz="1050" dirty="0">
                <a:solidFill>
                  <a:srgbClr val="5B6B7B"/>
                </a:solidFill>
                <a:latin typeface="Courier New" pitchFamily="34" charset="0"/>
                <a:ea typeface="Courier New" pitchFamily="34" charset="-122"/>
                <a:cs typeface="Courier New" pitchFamily="34" charset="-120"/>
              </a:rPr>
              <a:t>'cat'</a:t>
            </a:r>
            <a:endParaRPr lang="en-US" sz="1050" dirty="0"/>
          </a:p>
        </p:txBody>
      </p:sp>
      <p:sp>
        <p:nvSpPr>
          <p:cNvPr id="13" name="v:Slicing:e0c1:box|b1"/>
          <p:cNvSpPr/>
          <p:nvPr/>
        </p:nvSpPr>
        <p:spPr>
          <a:xfrm>
            <a:off x="2724912" y="1463040"/>
            <a:ext cx="896112" cy="292608"/>
          </a:xfrm>
          <a:prstGeom prst="roundRect">
            <a:avLst>
              <a:gd name="adj" fmla="val 15625"/>
            </a:avLst>
          </a:prstGeom>
          <a:solidFill>
            <a:srgbClr val="306998"/>
          </a:solidFill>
          <a:ln w="12700">
            <a:solidFill>
              <a:srgbClr val="306998"/>
            </a:solidFill>
            <a:prstDash val="solid"/>
          </a:ln>
        </p:spPr>
      </p:sp>
      <p:sp>
        <p:nvSpPr>
          <p:cNvPr id="14" name="v:Slicing:e0c1|b1"/>
          <p:cNvSpPr txBox="1"/>
          <p:nvPr/>
        </p:nvSpPr>
        <p:spPr>
          <a:xfrm>
            <a:off x="2743200" y="14630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'bat'</a:t>
            </a:r>
            <a:endParaRPr lang="en-US" sz="1050" dirty="0"/>
          </a:p>
        </p:txBody>
      </p:sp>
      <p:sp>
        <p:nvSpPr>
          <p:cNvPr id="15" name="v:Slicing:e0c2:box|b1"/>
          <p:cNvSpPr/>
          <p:nvPr/>
        </p:nvSpPr>
        <p:spPr>
          <a:xfrm>
            <a:off x="3666744" y="1463040"/>
            <a:ext cx="896112" cy="292608"/>
          </a:xfrm>
          <a:prstGeom prst="roundRect">
            <a:avLst>
              <a:gd name="adj" fmla="val 15625"/>
            </a:avLst>
          </a:prstGeom>
          <a:solidFill>
            <a:srgbClr val="306998"/>
          </a:solidFill>
          <a:ln w="12700">
            <a:solidFill>
              <a:srgbClr val="306998"/>
            </a:solidFill>
            <a:prstDash val="solid"/>
          </a:ln>
        </p:spPr>
      </p:sp>
      <p:sp>
        <p:nvSpPr>
          <p:cNvPr id="16" name="v:Slicing:e0c2|b1"/>
          <p:cNvSpPr txBox="1"/>
          <p:nvPr/>
        </p:nvSpPr>
        <p:spPr>
          <a:xfrm>
            <a:off x="3685032" y="14630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'rat'</a:t>
            </a:r>
            <a:endParaRPr lang="en-US" sz="1050" dirty="0"/>
          </a:p>
        </p:txBody>
      </p:sp>
      <p:sp>
        <p:nvSpPr>
          <p:cNvPr id="17" name="v:Slicing:e0c3:box|b1"/>
          <p:cNvSpPr/>
          <p:nvPr/>
        </p:nvSpPr>
        <p:spPr>
          <a:xfrm>
            <a:off x="4608576" y="1463040"/>
            <a:ext cx="896112" cy="292608"/>
          </a:xfrm>
          <a:prstGeom prst="roundRect">
            <a:avLst>
              <a:gd name="adj" fmla="val 15625"/>
            </a:avLst>
          </a:prstGeom>
          <a:solidFill>
            <a:srgbClr val="F1F4F8"/>
          </a:solidFill>
          <a:ln w="12700">
            <a:solidFill>
              <a:srgbClr val="9AA8B8"/>
            </a:solidFill>
            <a:prstDash val="solid"/>
          </a:ln>
        </p:spPr>
      </p:sp>
      <p:sp>
        <p:nvSpPr>
          <p:cNvPr id="18" name="v:Slicing:e0c3|b1"/>
          <p:cNvSpPr txBox="1"/>
          <p:nvPr/>
        </p:nvSpPr>
        <p:spPr>
          <a:xfrm>
            <a:off x="4626864" y="1463040"/>
            <a:ext cx="859536" cy="292608"/>
          </a:xfrm>
          <a:prstGeom prst="rect">
            <a:avLst/>
          </a:prstGeom>
          <a:noFill/>
          <a:ln/>
        </p:spPr>
        <p:txBody>
          <a:bodyPr wrap="square" lIns="0" tIns="0" rIns="0" bIns="0" rtlCol="0" anchor="ctr">
            <a:normAutofit/>
          </a:bodyPr>
          <a:lstStyle/>
          <a:p>
            <a:pPr algn="ctr" indent="0" marL="0">
              <a:buNone/>
            </a:pPr>
            <a:r>
              <a:rPr lang="en-US" sz="1045" dirty="0">
                <a:solidFill>
                  <a:srgbClr val="5B6B7B"/>
                </a:solidFill>
                <a:latin typeface="Courier New" pitchFamily="34" charset="0"/>
                <a:ea typeface="Courier New" pitchFamily="34" charset="-122"/>
                <a:cs typeface="Courier New" pitchFamily="34" charset="-120"/>
              </a:rPr>
              <a:t>'elephant'</a:t>
            </a:r>
            <a:endParaRPr lang="en-US" sz="1045" dirty="0"/>
          </a:p>
        </p:txBody>
      </p:sp>
      <p:sp>
        <p:nvSpPr>
          <p:cNvPr id="19" name="arrow|b1"/>
          <p:cNvSpPr/>
          <p:nvPr/>
        </p:nvSpPr>
        <p:spPr>
          <a:xfrm>
            <a:off x="2724912" y="1792224"/>
            <a:ext cx="1837944" cy="0"/>
          </a:xfrm>
          <a:prstGeom prst="line">
            <a:avLst/>
          </a:prstGeom>
          <a:noFill/>
          <a:ln w="31750">
            <a:solidFill>
              <a:srgbClr val="2E9E5B"/>
            </a:solidFill>
            <a:prstDash val="solid"/>
          </a:ln>
        </p:spPr>
      </p:sp>
      <p:sp>
        <p:nvSpPr>
          <p:cNvPr id="20" name="v:Slicing:e0r|b1"/>
          <p:cNvSpPr txBox="1"/>
          <p:nvPr/>
        </p:nvSpPr>
        <p:spPr>
          <a:xfrm>
            <a:off x="5660136" y="1435608"/>
            <a:ext cx="3118104" cy="237744"/>
          </a:xfrm>
          <a:prstGeom prst="rect">
            <a:avLst/>
          </a:prstGeom>
          <a:noFill/>
          <a:ln/>
        </p:spPr>
        <p:txBody>
          <a:bodyPr wrap="square" lIns="0" tIns="0" rIns="0" bIns="0" rtlCol="0" anchor="ctr"/>
          <a:lstStyle/>
          <a:p>
            <a:pPr indent="0" marL="0">
              <a:buNone/>
            </a:pPr>
            <a:r>
              <a:rPr lang="en-US" sz="1200" b="1" dirty="0">
                <a:solidFill>
                  <a:srgbClr val="2E9E5B"/>
                </a:solidFill>
                <a:latin typeface="Courier New" pitchFamily="34" charset="0"/>
                <a:ea typeface="Courier New" pitchFamily="34" charset="-122"/>
                <a:cs typeface="Courier New" pitchFamily="34" charset="-120"/>
              </a:rPr>
              <a:t>['bat', 'rat']</a:t>
            </a:r>
            <a:endParaRPr lang="en-US" sz="1200" dirty="0"/>
          </a:p>
        </p:txBody>
      </p:sp>
      <p:sp>
        <p:nvSpPr>
          <p:cNvPr id="21" name="v:Slicing:e0p|b1"/>
          <p:cNvSpPr txBox="1"/>
          <p:nvPr/>
        </p:nvSpPr>
        <p:spPr>
          <a:xfrm>
            <a:off x="5660136" y="1664208"/>
            <a:ext cx="3118104" cy="18288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from indexes 1, 2</a:t>
            </a:r>
            <a:endParaRPr lang="en-US" sz="1000" dirty="0"/>
          </a:p>
        </p:txBody>
      </p:sp>
      <p:sp>
        <p:nvSpPr>
          <p:cNvPr id="22" name="v:Slicing:e1x|b2"/>
          <p:cNvSpPr txBox="1"/>
          <p:nvPr/>
        </p:nvSpPr>
        <p:spPr>
          <a:xfrm>
            <a:off x="365760" y="1920240"/>
            <a:ext cx="1371600" cy="292608"/>
          </a:xfrm>
          <a:prstGeom prst="rect">
            <a:avLst/>
          </a:prstGeom>
          <a:noFill/>
          <a:ln/>
        </p:spPr>
        <p:txBody>
          <a:bodyPr wrap="square" lIns="0" tIns="0" rIns="0" bIns="0" rtlCol="0" anchor="ctr"/>
          <a:lstStyle/>
          <a:p>
            <a:pPr indent="0" marL="0">
              <a:buNone/>
            </a:pPr>
            <a:r>
              <a:rPr lang="en-US" sz="1300" b="1" dirty="0">
                <a:solidFill>
                  <a:srgbClr val="1E2A3A"/>
                </a:solidFill>
                <a:latin typeface="Courier New" pitchFamily="34" charset="0"/>
                <a:ea typeface="Courier New" pitchFamily="34" charset="-122"/>
                <a:cs typeface="Courier New" pitchFamily="34" charset="-120"/>
              </a:rPr>
              <a:t>spam[:2]</a:t>
            </a:r>
            <a:endParaRPr lang="en-US" sz="1300" dirty="0"/>
          </a:p>
        </p:txBody>
      </p:sp>
      <p:sp>
        <p:nvSpPr>
          <p:cNvPr id="23" name="v:Slicing:e1c0:box|b2"/>
          <p:cNvSpPr/>
          <p:nvPr/>
        </p:nvSpPr>
        <p:spPr>
          <a:xfrm>
            <a:off x="1783080" y="1920240"/>
            <a:ext cx="896112" cy="292608"/>
          </a:xfrm>
          <a:prstGeom prst="roundRect">
            <a:avLst>
              <a:gd name="adj" fmla="val 15625"/>
            </a:avLst>
          </a:prstGeom>
          <a:solidFill>
            <a:srgbClr val="306998"/>
          </a:solidFill>
          <a:ln w="12700">
            <a:solidFill>
              <a:srgbClr val="306998"/>
            </a:solidFill>
            <a:prstDash val="solid"/>
          </a:ln>
        </p:spPr>
      </p:sp>
      <p:sp>
        <p:nvSpPr>
          <p:cNvPr id="24" name="v:Slicing:e1c0|b2"/>
          <p:cNvSpPr txBox="1"/>
          <p:nvPr/>
        </p:nvSpPr>
        <p:spPr>
          <a:xfrm>
            <a:off x="1801368" y="19202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'cat'</a:t>
            </a:r>
            <a:endParaRPr lang="en-US" sz="1050" dirty="0"/>
          </a:p>
        </p:txBody>
      </p:sp>
      <p:sp>
        <p:nvSpPr>
          <p:cNvPr id="25" name="v:Slicing:e1c1:box|b2"/>
          <p:cNvSpPr/>
          <p:nvPr/>
        </p:nvSpPr>
        <p:spPr>
          <a:xfrm>
            <a:off x="2724912" y="1920240"/>
            <a:ext cx="896112" cy="292608"/>
          </a:xfrm>
          <a:prstGeom prst="roundRect">
            <a:avLst>
              <a:gd name="adj" fmla="val 15625"/>
            </a:avLst>
          </a:prstGeom>
          <a:solidFill>
            <a:srgbClr val="306998"/>
          </a:solidFill>
          <a:ln w="12700">
            <a:solidFill>
              <a:srgbClr val="306998"/>
            </a:solidFill>
            <a:prstDash val="solid"/>
          </a:ln>
        </p:spPr>
      </p:sp>
      <p:sp>
        <p:nvSpPr>
          <p:cNvPr id="26" name="v:Slicing:e1c1|b2"/>
          <p:cNvSpPr txBox="1"/>
          <p:nvPr/>
        </p:nvSpPr>
        <p:spPr>
          <a:xfrm>
            <a:off x="2743200" y="19202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'bat'</a:t>
            </a:r>
            <a:endParaRPr lang="en-US" sz="1050" dirty="0"/>
          </a:p>
        </p:txBody>
      </p:sp>
      <p:sp>
        <p:nvSpPr>
          <p:cNvPr id="27" name="v:Slicing:e1c2:box|b2"/>
          <p:cNvSpPr/>
          <p:nvPr/>
        </p:nvSpPr>
        <p:spPr>
          <a:xfrm>
            <a:off x="3666744" y="1920240"/>
            <a:ext cx="896112" cy="292608"/>
          </a:xfrm>
          <a:prstGeom prst="roundRect">
            <a:avLst>
              <a:gd name="adj" fmla="val 15625"/>
            </a:avLst>
          </a:prstGeom>
          <a:solidFill>
            <a:srgbClr val="F1F4F8"/>
          </a:solidFill>
          <a:ln w="12700">
            <a:solidFill>
              <a:srgbClr val="9AA8B8"/>
            </a:solidFill>
            <a:prstDash val="solid"/>
          </a:ln>
        </p:spPr>
      </p:sp>
      <p:sp>
        <p:nvSpPr>
          <p:cNvPr id="28" name="v:Slicing:e1c2|b2"/>
          <p:cNvSpPr txBox="1"/>
          <p:nvPr/>
        </p:nvSpPr>
        <p:spPr>
          <a:xfrm>
            <a:off x="3685032" y="1920240"/>
            <a:ext cx="859536" cy="292608"/>
          </a:xfrm>
          <a:prstGeom prst="rect">
            <a:avLst/>
          </a:prstGeom>
          <a:noFill/>
          <a:ln/>
        </p:spPr>
        <p:txBody>
          <a:bodyPr wrap="square" lIns="0" tIns="0" rIns="0" bIns="0" rtlCol="0" anchor="ctr">
            <a:normAutofit/>
          </a:bodyPr>
          <a:lstStyle/>
          <a:p>
            <a:pPr algn="ctr" indent="0" marL="0">
              <a:buNone/>
            </a:pPr>
            <a:r>
              <a:rPr lang="en-US" sz="1050" dirty="0">
                <a:solidFill>
                  <a:srgbClr val="5B6B7B"/>
                </a:solidFill>
                <a:latin typeface="Courier New" pitchFamily="34" charset="0"/>
                <a:ea typeface="Courier New" pitchFamily="34" charset="-122"/>
                <a:cs typeface="Courier New" pitchFamily="34" charset="-120"/>
              </a:rPr>
              <a:t>'rat'</a:t>
            </a:r>
            <a:endParaRPr lang="en-US" sz="1050" dirty="0"/>
          </a:p>
        </p:txBody>
      </p:sp>
      <p:sp>
        <p:nvSpPr>
          <p:cNvPr id="29" name="v:Slicing:e1c3:box|b2"/>
          <p:cNvSpPr/>
          <p:nvPr/>
        </p:nvSpPr>
        <p:spPr>
          <a:xfrm>
            <a:off x="4608576" y="1920240"/>
            <a:ext cx="896112" cy="292608"/>
          </a:xfrm>
          <a:prstGeom prst="roundRect">
            <a:avLst>
              <a:gd name="adj" fmla="val 15625"/>
            </a:avLst>
          </a:prstGeom>
          <a:solidFill>
            <a:srgbClr val="F1F4F8"/>
          </a:solidFill>
          <a:ln w="12700">
            <a:solidFill>
              <a:srgbClr val="9AA8B8"/>
            </a:solidFill>
            <a:prstDash val="solid"/>
          </a:ln>
        </p:spPr>
      </p:sp>
      <p:sp>
        <p:nvSpPr>
          <p:cNvPr id="30" name="v:Slicing:e1c3|b2"/>
          <p:cNvSpPr txBox="1"/>
          <p:nvPr/>
        </p:nvSpPr>
        <p:spPr>
          <a:xfrm>
            <a:off x="4626864" y="1920240"/>
            <a:ext cx="859536" cy="292608"/>
          </a:xfrm>
          <a:prstGeom prst="rect">
            <a:avLst/>
          </a:prstGeom>
          <a:noFill/>
          <a:ln/>
        </p:spPr>
        <p:txBody>
          <a:bodyPr wrap="square" lIns="0" tIns="0" rIns="0" bIns="0" rtlCol="0" anchor="ctr">
            <a:normAutofit/>
          </a:bodyPr>
          <a:lstStyle/>
          <a:p>
            <a:pPr algn="ctr" indent="0" marL="0">
              <a:buNone/>
            </a:pPr>
            <a:r>
              <a:rPr lang="en-US" sz="1045" dirty="0">
                <a:solidFill>
                  <a:srgbClr val="5B6B7B"/>
                </a:solidFill>
                <a:latin typeface="Courier New" pitchFamily="34" charset="0"/>
                <a:ea typeface="Courier New" pitchFamily="34" charset="-122"/>
                <a:cs typeface="Courier New" pitchFamily="34" charset="-120"/>
              </a:rPr>
              <a:t>'elephant'</a:t>
            </a:r>
            <a:endParaRPr lang="en-US" sz="1045" dirty="0"/>
          </a:p>
        </p:txBody>
      </p:sp>
      <p:sp>
        <p:nvSpPr>
          <p:cNvPr id="31" name="arrow|b2"/>
          <p:cNvSpPr/>
          <p:nvPr/>
        </p:nvSpPr>
        <p:spPr>
          <a:xfrm>
            <a:off x="1783080" y="2249424"/>
            <a:ext cx="1837944" cy="0"/>
          </a:xfrm>
          <a:prstGeom prst="line">
            <a:avLst/>
          </a:prstGeom>
          <a:noFill/>
          <a:ln w="31750">
            <a:solidFill>
              <a:srgbClr val="2E9E5B"/>
            </a:solidFill>
            <a:prstDash val="solid"/>
          </a:ln>
        </p:spPr>
      </p:sp>
      <p:sp>
        <p:nvSpPr>
          <p:cNvPr id="32" name="v:Slicing:e1r|b2"/>
          <p:cNvSpPr txBox="1"/>
          <p:nvPr/>
        </p:nvSpPr>
        <p:spPr>
          <a:xfrm>
            <a:off x="5660136" y="1892808"/>
            <a:ext cx="3118104" cy="237744"/>
          </a:xfrm>
          <a:prstGeom prst="rect">
            <a:avLst/>
          </a:prstGeom>
          <a:noFill/>
          <a:ln/>
        </p:spPr>
        <p:txBody>
          <a:bodyPr wrap="square" lIns="0" tIns="0" rIns="0" bIns="0" rtlCol="0" anchor="ctr"/>
          <a:lstStyle/>
          <a:p>
            <a:pPr indent="0" marL="0">
              <a:buNone/>
            </a:pPr>
            <a:r>
              <a:rPr lang="en-US" sz="1200" b="1" dirty="0">
                <a:solidFill>
                  <a:srgbClr val="2E9E5B"/>
                </a:solidFill>
                <a:latin typeface="Courier New" pitchFamily="34" charset="0"/>
                <a:ea typeface="Courier New" pitchFamily="34" charset="-122"/>
                <a:cs typeface="Courier New" pitchFamily="34" charset="-120"/>
              </a:rPr>
              <a:t>['cat', 'bat']</a:t>
            </a:r>
            <a:endParaRPr lang="en-US" sz="1200" dirty="0"/>
          </a:p>
        </p:txBody>
      </p:sp>
      <p:sp>
        <p:nvSpPr>
          <p:cNvPr id="33" name="v:Slicing:e1p|b2"/>
          <p:cNvSpPr txBox="1"/>
          <p:nvPr/>
        </p:nvSpPr>
        <p:spPr>
          <a:xfrm>
            <a:off x="5660136" y="2121408"/>
            <a:ext cx="3118104" cy="18288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from indexes 0, 1</a:t>
            </a:r>
            <a:endParaRPr lang="en-US" sz="1000" dirty="0"/>
          </a:p>
        </p:txBody>
      </p:sp>
      <p:sp>
        <p:nvSpPr>
          <p:cNvPr id="34" name="v:Slicing:e2x|b3"/>
          <p:cNvSpPr txBox="1"/>
          <p:nvPr/>
        </p:nvSpPr>
        <p:spPr>
          <a:xfrm>
            <a:off x="365760" y="2377440"/>
            <a:ext cx="1371600" cy="292608"/>
          </a:xfrm>
          <a:prstGeom prst="rect">
            <a:avLst/>
          </a:prstGeom>
          <a:noFill/>
          <a:ln/>
        </p:spPr>
        <p:txBody>
          <a:bodyPr wrap="square" lIns="0" tIns="0" rIns="0" bIns="0" rtlCol="0" anchor="ctr"/>
          <a:lstStyle/>
          <a:p>
            <a:pPr indent="0" marL="0">
              <a:buNone/>
            </a:pPr>
            <a:r>
              <a:rPr lang="en-US" sz="1300" b="1" dirty="0">
                <a:solidFill>
                  <a:srgbClr val="1E2A3A"/>
                </a:solidFill>
                <a:latin typeface="Courier New" pitchFamily="34" charset="0"/>
                <a:ea typeface="Courier New" pitchFamily="34" charset="-122"/>
                <a:cs typeface="Courier New" pitchFamily="34" charset="-120"/>
              </a:rPr>
              <a:t>spam[1:]</a:t>
            </a:r>
            <a:endParaRPr lang="en-US" sz="1300" dirty="0"/>
          </a:p>
        </p:txBody>
      </p:sp>
      <p:sp>
        <p:nvSpPr>
          <p:cNvPr id="35" name="v:Slicing:e2c0:box|b3"/>
          <p:cNvSpPr/>
          <p:nvPr/>
        </p:nvSpPr>
        <p:spPr>
          <a:xfrm>
            <a:off x="1783080" y="2377440"/>
            <a:ext cx="896112" cy="292608"/>
          </a:xfrm>
          <a:prstGeom prst="roundRect">
            <a:avLst>
              <a:gd name="adj" fmla="val 15625"/>
            </a:avLst>
          </a:prstGeom>
          <a:solidFill>
            <a:srgbClr val="F1F4F8"/>
          </a:solidFill>
          <a:ln w="12700">
            <a:solidFill>
              <a:srgbClr val="9AA8B8"/>
            </a:solidFill>
            <a:prstDash val="solid"/>
          </a:ln>
        </p:spPr>
      </p:sp>
      <p:sp>
        <p:nvSpPr>
          <p:cNvPr id="36" name="v:Slicing:e2c0|b3"/>
          <p:cNvSpPr txBox="1"/>
          <p:nvPr/>
        </p:nvSpPr>
        <p:spPr>
          <a:xfrm>
            <a:off x="1801368" y="2377440"/>
            <a:ext cx="859536" cy="292608"/>
          </a:xfrm>
          <a:prstGeom prst="rect">
            <a:avLst/>
          </a:prstGeom>
          <a:noFill/>
          <a:ln/>
        </p:spPr>
        <p:txBody>
          <a:bodyPr wrap="square" lIns="0" tIns="0" rIns="0" bIns="0" rtlCol="0" anchor="ctr">
            <a:normAutofit/>
          </a:bodyPr>
          <a:lstStyle/>
          <a:p>
            <a:pPr algn="ctr" indent="0" marL="0">
              <a:buNone/>
            </a:pPr>
            <a:r>
              <a:rPr lang="en-US" sz="1050" dirty="0">
                <a:solidFill>
                  <a:srgbClr val="5B6B7B"/>
                </a:solidFill>
                <a:latin typeface="Courier New" pitchFamily="34" charset="0"/>
                <a:ea typeface="Courier New" pitchFamily="34" charset="-122"/>
                <a:cs typeface="Courier New" pitchFamily="34" charset="-120"/>
              </a:rPr>
              <a:t>'cat'</a:t>
            </a:r>
            <a:endParaRPr lang="en-US" sz="1050" dirty="0"/>
          </a:p>
        </p:txBody>
      </p:sp>
      <p:sp>
        <p:nvSpPr>
          <p:cNvPr id="37" name="v:Slicing:e2c1:box|b3"/>
          <p:cNvSpPr/>
          <p:nvPr/>
        </p:nvSpPr>
        <p:spPr>
          <a:xfrm>
            <a:off x="2724912" y="2377440"/>
            <a:ext cx="896112" cy="292608"/>
          </a:xfrm>
          <a:prstGeom prst="roundRect">
            <a:avLst>
              <a:gd name="adj" fmla="val 15625"/>
            </a:avLst>
          </a:prstGeom>
          <a:solidFill>
            <a:srgbClr val="306998"/>
          </a:solidFill>
          <a:ln w="12700">
            <a:solidFill>
              <a:srgbClr val="306998"/>
            </a:solidFill>
            <a:prstDash val="solid"/>
          </a:ln>
        </p:spPr>
      </p:sp>
      <p:sp>
        <p:nvSpPr>
          <p:cNvPr id="38" name="v:Slicing:e2c1|b3"/>
          <p:cNvSpPr txBox="1"/>
          <p:nvPr/>
        </p:nvSpPr>
        <p:spPr>
          <a:xfrm>
            <a:off x="2743200" y="23774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'bat'</a:t>
            </a:r>
            <a:endParaRPr lang="en-US" sz="1050" dirty="0"/>
          </a:p>
        </p:txBody>
      </p:sp>
      <p:sp>
        <p:nvSpPr>
          <p:cNvPr id="39" name="v:Slicing:e2c2:box|b3"/>
          <p:cNvSpPr/>
          <p:nvPr/>
        </p:nvSpPr>
        <p:spPr>
          <a:xfrm>
            <a:off x="3666744" y="2377440"/>
            <a:ext cx="896112" cy="292608"/>
          </a:xfrm>
          <a:prstGeom prst="roundRect">
            <a:avLst>
              <a:gd name="adj" fmla="val 15625"/>
            </a:avLst>
          </a:prstGeom>
          <a:solidFill>
            <a:srgbClr val="306998"/>
          </a:solidFill>
          <a:ln w="12700">
            <a:solidFill>
              <a:srgbClr val="306998"/>
            </a:solidFill>
            <a:prstDash val="solid"/>
          </a:ln>
        </p:spPr>
      </p:sp>
      <p:sp>
        <p:nvSpPr>
          <p:cNvPr id="40" name="v:Slicing:e2c2|b3"/>
          <p:cNvSpPr txBox="1"/>
          <p:nvPr/>
        </p:nvSpPr>
        <p:spPr>
          <a:xfrm>
            <a:off x="3685032" y="23774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'rat'</a:t>
            </a:r>
            <a:endParaRPr lang="en-US" sz="1050" dirty="0"/>
          </a:p>
        </p:txBody>
      </p:sp>
      <p:sp>
        <p:nvSpPr>
          <p:cNvPr id="41" name="v:Slicing:e2c3:box|b3"/>
          <p:cNvSpPr/>
          <p:nvPr/>
        </p:nvSpPr>
        <p:spPr>
          <a:xfrm>
            <a:off x="4608576" y="2377440"/>
            <a:ext cx="896112" cy="292608"/>
          </a:xfrm>
          <a:prstGeom prst="roundRect">
            <a:avLst>
              <a:gd name="adj" fmla="val 15625"/>
            </a:avLst>
          </a:prstGeom>
          <a:solidFill>
            <a:srgbClr val="306998"/>
          </a:solidFill>
          <a:ln w="12700">
            <a:solidFill>
              <a:srgbClr val="306998"/>
            </a:solidFill>
            <a:prstDash val="solid"/>
          </a:ln>
        </p:spPr>
      </p:sp>
      <p:sp>
        <p:nvSpPr>
          <p:cNvPr id="42" name="v:Slicing:e2c3|b3"/>
          <p:cNvSpPr txBox="1"/>
          <p:nvPr/>
        </p:nvSpPr>
        <p:spPr>
          <a:xfrm>
            <a:off x="4626864" y="2377440"/>
            <a:ext cx="859536" cy="292608"/>
          </a:xfrm>
          <a:prstGeom prst="rect">
            <a:avLst/>
          </a:prstGeom>
          <a:noFill/>
          <a:ln/>
        </p:spPr>
        <p:txBody>
          <a:bodyPr wrap="square" lIns="0" tIns="0" rIns="0" bIns="0" rtlCol="0" anchor="ctr">
            <a:normAutofit/>
          </a:bodyPr>
          <a:lstStyle/>
          <a:p>
            <a:pPr algn="ctr" indent="0" marL="0">
              <a:buNone/>
            </a:pPr>
            <a:r>
              <a:rPr lang="en-US" sz="1045" b="1" dirty="0">
                <a:solidFill>
                  <a:srgbClr val="FFFFFF"/>
                </a:solidFill>
                <a:latin typeface="Courier New" pitchFamily="34" charset="0"/>
                <a:ea typeface="Courier New" pitchFamily="34" charset="-122"/>
                <a:cs typeface="Courier New" pitchFamily="34" charset="-120"/>
              </a:rPr>
              <a:t>'elephant'</a:t>
            </a:r>
            <a:endParaRPr lang="en-US" sz="1045" dirty="0"/>
          </a:p>
        </p:txBody>
      </p:sp>
      <p:sp>
        <p:nvSpPr>
          <p:cNvPr id="43" name="arrow|b3"/>
          <p:cNvSpPr/>
          <p:nvPr/>
        </p:nvSpPr>
        <p:spPr>
          <a:xfrm>
            <a:off x="2724912" y="2706624"/>
            <a:ext cx="2779776" cy="0"/>
          </a:xfrm>
          <a:prstGeom prst="line">
            <a:avLst/>
          </a:prstGeom>
          <a:noFill/>
          <a:ln w="31750">
            <a:solidFill>
              <a:srgbClr val="2E9E5B"/>
            </a:solidFill>
            <a:prstDash val="solid"/>
          </a:ln>
        </p:spPr>
      </p:sp>
      <p:sp>
        <p:nvSpPr>
          <p:cNvPr id="44" name="v:Slicing:e2r|b3"/>
          <p:cNvSpPr txBox="1"/>
          <p:nvPr/>
        </p:nvSpPr>
        <p:spPr>
          <a:xfrm>
            <a:off x="5660136" y="2350008"/>
            <a:ext cx="3118104" cy="237744"/>
          </a:xfrm>
          <a:prstGeom prst="rect">
            <a:avLst/>
          </a:prstGeom>
          <a:noFill/>
          <a:ln/>
        </p:spPr>
        <p:txBody>
          <a:bodyPr wrap="square" lIns="0" tIns="0" rIns="0" bIns="0" rtlCol="0" anchor="ctr"/>
          <a:lstStyle/>
          <a:p>
            <a:pPr indent="0" marL="0">
              <a:buNone/>
            </a:pPr>
            <a:r>
              <a:rPr lang="en-US" sz="1200" b="1" dirty="0">
                <a:solidFill>
                  <a:srgbClr val="2E9E5B"/>
                </a:solidFill>
                <a:latin typeface="Courier New" pitchFamily="34" charset="0"/>
                <a:ea typeface="Courier New" pitchFamily="34" charset="-122"/>
                <a:cs typeface="Courier New" pitchFamily="34" charset="-120"/>
              </a:rPr>
              <a:t>['bat', 'rat', 'elephant']</a:t>
            </a:r>
            <a:endParaRPr lang="en-US" sz="1200" dirty="0"/>
          </a:p>
        </p:txBody>
      </p:sp>
      <p:sp>
        <p:nvSpPr>
          <p:cNvPr id="45" name="v:Slicing:e2p|b3"/>
          <p:cNvSpPr txBox="1"/>
          <p:nvPr/>
        </p:nvSpPr>
        <p:spPr>
          <a:xfrm>
            <a:off x="5660136" y="2578608"/>
            <a:ext cx="3118104" cy="18288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from indexes 1, 2, 3</a:t>
            </a:r>
            <a:endParaRPr lang="en-US" sz="1000" dirty="0"/>
          </a:p>
        </p:txBody>
      </p:sp>
      <p:sp>
        <p:nvSpPr>
          <p:cNvPr id="46" name="v:Slicing:e3x|b4"/>
          <p:cNvSpPr txBox="1"/>
          <p:nvPr/>
        </p:nvSpPr>
        <p:spPr>
          <a:xfrm>
            <a:off x="365760" y="2834640"/>
            <a:ext cx="1371600" cy="292608"/>
          </a:xfrm>
          <a:prstGeom prst="rect">
            <a:avLst/>
          </a:prstGeom>
          <a:noFill/>
          <a:ln/>
        </p:spPr>
        <p:txBody>
          <a:bodyPr wrap="square" lIns="0" tIns="0" rIns="0" bIns="0" rtlCol="0" anchor="ctr"/>
          <a:lstStyle/>
          <a:p>
            <a:pPr indent="0" marL="0">
              <a:buNone/>
            </a:pPr>
            <a:r>
              <a:rPr lang="en-US" sz="1300" b="1" dirty="0">
                <a:solidFill>
                  <a:srgbClr val="1E2A3A"/>
                </a:solidFill>
                <a:latin typeface="Courier New" pitchFamily="34" charset="0"/>
                <a:ea typeface="Courier New" pitchFamily="34" charset="-122"/>
                <a:cs typeface="Courier New" pitchFamily="34" charset="-120"/>
              </a:rPr>
              <a:t>spam[1:10]</a:t>
            </a:r>
            <a:endParaRPr lang="en-US" sz="1300" dirty="0"/>
          </a:p>
        </p:txBody>
      </p:sp>
      <p:sp>
        <p:nvSpPr>
          <p:cNvPr id="47" name="v:Slicing:e3c0:box|b4"/>
          <p:cNvSpPr/>
          <p:nvPr/>
        </p:nvSpPr>
        <p:spPr>
          <a:xfrm>
            <a:off x="1783080" y="2834640"/>
            <a:ext cx="896112" cy="292608"/>
          </a:xfrm>
          <a:prstGeom prst="roundRect">
            <a:avLst>
              <a:gd name="adj" fmla="val 15625"/>
            </a:avLst>
          </a:prstGeom>
          <a:solidFill>
            <a:srgbClr val="F1F4F8"/>
          </a:solidFill>
          <a:ln w="12700">
            <a:solidFill>
              <a:srgbClr val="9AA8B8"/>
            </a:solidFill>
            <a:prstDash val="solid"/>
          </a:ln>
        </p:spPr>
      </p:sp>
      <p:sp>
        <p:nvSpPr>
          <p:cNvPr id="48" name="v:Slicing:e3c0|b4"/>
          <p:cNvSpPr txBox="1"/>
          <p:nvPr/>
        </p:nvSpPr>
        <p:spPr>
          <a:xfrm>
            <a:off x="1801368" y="2834640"/>
            <a:ext cx="859536" cy="292608"/>
          </a:xfrm>
          <a:prstGeom prst="rect">
            <a:avLst/>
          </a:prstGeom>
          <a:noFill/>
          <a:ln/>
        </p:spPr>
        <p:txBody>
          <a:bodyPr wrap="square" lIns="0" tIns="0" rIns="0" bIns="0" rtlCol="0" anchor="ctr">
            <a:normAutofit/>
          </a:bodyPr>
          <a:lstStyle/>
          <a:p>
            <a:pPr algn="ctr" indent="0" marL="0">
              <a:buNone/>
            </a:pPr>
            <a:r>
              <a:rPr lang="en-US" sz="1050" dirty="0">
                <a:solidFill>
                  <a:srgbClr val="5B6B7B"/>
                </a:solidFill>
                <a:latin typeface="Courier New" pitchFamily="34" charset="0"/>
                <a:ea typeface="Courier New" pitchFamily="34" charset="-122"/>
                <a:cs typeface="Courier New" pitchFamily="34" charset="-120"/>
              </a:rPr>
              <a:t>'cat'</a:t>
            </a:r>
            <a:endParaRPr lang="en-US" sz="1050" dirty="0"/>
          </a:p>
        </p:txBody>
      </p:sp>
      <p:sp>
        <p:nvSpPr>
          <p:cNvPr id="49" name="v:Slicing:e3c1:box|b4"/>
          <p:cNvSpPr/>
          <p:nvPr/>
        </p:nvSpPr>
        <p:spPr>
          <a:xfrm>
            <a:off x="2724912" y="2834640"/>
            <a:ext cx="896112" cy="292608"/>
          </a:xfrm>
          <a:prstGeom prst="roundRect">
            <a:avLst>
              <a:gd name="adj" fmla="val 15625"/>
            </a:avLst>
          </a:prstGeom>
          <a:solidFill>
            <a:srgbClr val="306998"/>
          </a:solidFill>
          <a:ln w="12700">
            <a:solidFill>
              <a:srgbClr val="306998"/>
            </a:solidFill>
            <a:prstDash val="solid"/>
          </a:ln>
        </p:spPr>
      </p:sp>
      <p:sp>
        <p:nvSpPr>
          <p:cNvPr id="50" name="v:Slicing:e3c1|b4"/>
          <p:cNvSpPr txBox="1"/>
          <p:nvPr/>
        </p:nvSpPr>
        <p:spPr>
          <a:xfrm>
            <a:off x="2743200" y="28346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'bat'</a:t>
            </a:r>
            <a:endParaRPr lang="en-US" sz="1050" dirty="0"/>
          </a:p>
        </p:txBody>
      </p:sp>
      <p:sp>
        <p:nvSpPr>
          <p:cNvPr id="51" name="v:Slicing:e3c2:box|b4"/>
          <p:cNvSpPr/>
          <p:nvPr/>
        </p:nvSpPr>
        <p:spPr>
          <a:xfrm>
            <a:off x="3666744" y="2834640"/>
            <a:ext cx="896112" cy="292608"/>
          </a:xfrm>
          <a:prstGeom prst="roundRect">
            <a:avLst>
              <a:gd name="adj" fmla="val 15625"/>
            </a:avLst>
          </a:prstGeom>
          <a:solidFill>
            <a:srgbClr val="306998"/>
          </a:solidFill>
          <a:ln w="12700">
            <a:solidFill>
              <a:srgbClr val="306998"/>
            </a:solidFill>
            <a:prstDash val="solid"/>
          </a:ln>
        </p:spPr>
      </p:sp>
      <p:sp>
        <p:nvSpPr>
          <p:cNvPr id="52" name="v:Slicing:e3c2|b4"/>
          <p:cNvSpPr txBox="1"/>
          <p:nvPr/>
        </p:nvSpPr>
        <p:spPr>
          <a:xfrm>
            <a:off x="3685032" y="28346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'rat'</a:t>
            </a:r>
            <a:endParaRPr lang="en-US" sz="1050" dirty="0"/>
          </a:p>
        </p:txBody>
      </p:sp>
      <p:sp>
        <p:nvSpPr>
          <p:cNvPr id="53" name="v:Slicing:e3c3:box|b4"/>
          <p:cNvSpPr/>
          <p:nvPr/>
        </p:nvSpPr>
        <p:spPr>
          <a:xfrm>
            <a:off x="4608576" y="2834640"/>
            <a:ext cx="896112" cy="292608"/>
          </a:xfrm>
          <a:prstGeom prst="roundRect">
            <a:avLst>
              <a:gd name="adj" fmla="val 15625"/>
            </a:avLst>
          </a:prstGeom>
          <a:solidFill>
            <a:srgbClr val="306998"/>
          </a:solidFill>
          <a:ln w="12700">
            <a:solidFill>
              <a:srgbClr val="306998"/>
            </a:solidFill>
            <a:prstDash val="solid"/>
          </a:ln>
        </p:spPr>
      </p:sp>
      <p:sp>
        <p:nvSpPr>
          <p:cNvPr id="54" name="v:Slicing:e3c3|b4"/>
          <p:cNvSpPr txBox="1"/>
          <p:nvPr/>
        </p:nvSpPr>
        <p:spPr>
          <a:xfrm>
            <a:off x="4626864" y="2834640"/>
            <a:ext cx="859536" cy="292608"/>
          </a:xfrm>
          <a:prstGeom prst="rect">
            <a:avLst/>
          </a:prstGeom>
          <a:noFill/>
          <a:ln/>
        </p:spPr>
        <p:txBody>
          <a:bodyPr wrap="square" lIns="0" tIns="0" rIns="0" bIns="0" rtlCol="0" anchor="ctr">
            <a:normAutofit/>
          </a:bodyPr>
          <a:lstStyle/>
          <a:p>
            <a:pPr algn="ctr" indent="0" marL="0">
              <a:buNone/>
            </a:pPr>
            <a:r>
              <a:rPr lang="en-US" sz="1045" b="1" dirty="0">
                <a:solidFill>
                  <a:srgbClr val="FFFFFF"/>
                </a:solidFill>
                <a:latin typeface="Courier New" pitchFamily="34" charset="0"/>
                <a:ea typeface="Courier New" pitchFamily="34" charset="-122"/>
                <a:cs typeface="Courier New" pitchFamily="34" charset="-120"/>
              </a:rPr>
              <a:t>'elephant'</a:t>
            </a:r>
            <a:endParaRPr lang="en-US" sz="1045" dirty="0"/>
          </a:p>
        </p:txBody>
      </p:sp>
      <p:sp>
        <p:nvSpPr>
          <p:cNvPr id="55" name="arrow|b4"/>
          <p:cNvSpPr/>
          <p:nvPr/>
        </p:nvSpPr>
        <p:spPr>
          <a:xfrm>
            <a:off x="2724912" y="3163824"/>
            <a:ext cx="2779776" cy="0"/>
          </a:xfrm>
          <a:prstGeom prst="line">
            <a:avLst/>
          </a:prstGeom>
          <a:noFill/>
          <a:ln w="31750">
            <a:solidFill>
              <a:srgbClr val="2E9E5B"/>
            </a:solidFill>
            <a:prstDash val="solid"/>
          </a:ln>
        </p:spPr>
      </p:sp>
      <p:sp>
        <p:nvSpPr>
          <p:cNvPr id="56" name="v:Slicing:e3r|b4"/>
          <p:cNvSpPr txBox="1"/>
          <p:nvPr/>
        </p:nvSpPr>
        <p:spPr>
          <a:xfrm>
            <a:off x="5660136" y="2807208"/>
            <a:ext cx="3118104" cy="237744"/>
          </a:xfrm>
          <a:prstGeom prst="rect">
            <a:avLst/>
          </a:prstGeom>
          <a:noFill/>
          <a:ln/>
        </p:spPr>
        <p:txBody>
          <a:bodyPr wrap="square" lIns="0" tIns="0" rIns="0" bIns="0" rtlCol="0" anchor="ctr"/>
          <a:lstStyle/>
          <a:p>
            <a:pPr indent="0" marL="0">
              <a:buNone/>
            </a:pPr>
            <a:r>
              <a:rPr lang="en-US" sz="1200" b="1" dirty="0">
                <a:solidFill>
                  <a:srgbClr val="2E9E5B"/>
                </a:solidFill>
                <a:latin typeface="Courier New" pitchFamily="34" charset="0"/>
                <a:ea typeface="Courier New" pitchFamily="34" charset="-122"/>
                <a:cs typeface="Courier New" pitchFamily="34" charset="-120"/>
              </a:rPr>
              <a:t>['bat', 'rat', 'elephant']</a:t>
            </a:r>
            <a:endParaRPr lang="en-US" sz="1200" dirty="0"/>
          </a:p>
        </p:txBody>
      </p:sp>
      <p:sp>
        <p:nvSpPr>
          <p:cNvPr id="57" name="v:Slicing:e3p|b4"/>
          <p:cNvSpPr txBox="1"/>
          <p:nvPr/>
        </p:nvSpPr>
        <p:spPr>
          <a:xfrm>
            <a:off x="5660136" y="3035808"/>
            <a:ext cx="3118104" cy="18288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from indexes 1, 2, 3</a:t>
            </a:r>
            <a:endParaRPr lang="en-US" sz="1000" dirty="0"/>
          </a:p>
        </p:txBody>
      </p:sp>
      <p:sp>
        <p:nvSpPr>
          <p:cNvPr id="58" name="v:Slicing:e4x|b5"/>
          <p:cNvSpPr txBox="1"/>
          <p:nvPr/>
        </p:nvSpPr>
        <p:spPr>
          <a:xfrm>
            <a:off x="365760" y="3291840"/>
            <a:ext cx="1371600" cy="292608"/>
          </a:xfrm>
          <a:prstGeom prst="rect">
            <a:avLst/>
          </a:prstGeom>
          <a:noFill/>
          <a:ln/>
        </p:spPr>
        <p:txBody>
          <a:bodyPr wrap="square" lIns="0" tIns="0" rIns="0" bIns="0" rtlCol="0" anchor="ctr"/>
          <a:lstStyle/>
          <a:p>
            <a:pPr indent="0" marL="0">
              <a:buNone/>
            </a:pPr>
            <a:r>
              <a:rPr lang="en-US" sz="1300" b="1" dirty="0">
                <a:solidFill>
                  <a:srgbClr val="1E2A3A"/>
                </a:solidFill>
                <a:latin typeface="Courier New" pitchFamily="34" charset="0"/>
                <a:ea typeface="Courier New" pitchFamily="34" charset="-122"/>
                <a:cs typeface="Courier New" pitchFamily="34" charset="-120"/>
              </a:rPr>
              <a:t>spam[::2]</a:t>
            </a:r>
            <a:endParaRPr lang="en-US" sz="1300" dirty="0"/>
          </a:p>
        </p:txBody>
      </p:sp>
      <p:sp>
        <p:nvSpPr>
          <p:cNvPr id="59" name="v:Slicing:e4c0:box|b5"/>
          <p:cNvSpPr/>
          <p:nvPr/>
        </p:nvSpPr>
        <p:spPr>
          <a:xfrm>
            <a:off x="1783080" y="3291840"/>
            <a:ext cx="896112" cy="292608"/>
          </a:xfrm>
          <a:prstGeom prst="roundRect">
            <a:avLst>
              <a:gd name="adj" fmla="val 15625"/>
            </a:avLst>
          </a:prstGeom>
          <a:solidFill>
            <a:srgbClr val="306998"/>
          </a:solidFill>
          <a:ln w="12700">
            <a:solidFill>
              <a:srgbClr val="306998"/>
            </a:solidFill>
            <a:prstDash val="solid"/>
          </a:ln>
        </p:spPr>
      </p:sp>
      <p:sp>
        <p:nvSpPr>
          <p:cNvPr id="60" name="v:Slicing:e4c0|b5"/>
          <p:cNvSpPr txBox="1"/>
          <p:nvPr/>
        </p:nvSpPr>
        <p:spPr>
          <a:xfrm>
            <a:off x="1801368" y="32918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'cat'</a:t>
            </a:r>
            <a:endParaRPr lang="en-US" sz="1050" dirty="0"/>
          </a:p>
        </p:txBody>
      </p:sp>
      <p:sp>
        <p:nvSpPr>
          <p:cNvPr id="61" name="v:Slicing:e4c1:box|b5"/>
          <p:cNvSpPr/>
          <p:nvPr/>
        </p:nvSpPr>
        <p:spPr>
          <a:xfrm>
            <a:off x="2724912" y="3291840"/>
            <a:ext cx="896112" cy="292608"/>
          </a:xfrm>
          <a:prstGeom prst="roundRect">
            <a:avLst>
              <a:gd name="adj" fmla="val 15625"/>
            </a:avLst>
          </a:prstGeom>
          <a:solidFill>
            <a:srgbClr val="F1F4F8"/>
          </a:solidFill>
          <a:ln w="12700">
            <a:solidFill>
              <a:srgbClr val="9AA8B8"/>
            </a:solidFill>
            <a:prstDash val="solid"/>
          </a:ln>
        </p:spPr>
      </p:sp>
      <p:sp>
        <p:nvSpPr>
          <p:cNvPr id="62" name="v:Slicing:e4c1|b5"/>
          <p:cNvSpPr txBox="1"/>
          <p:nvPr/>
        </p:nvSpPr>
        <p:spPr>
          <a:xfrm>
            <a:off x="2743200" y="3291840"/>
            <a:ext cx="859536" cy="292608"/>
          </a:xfrm>
          <a:prstGeom prst="rect">
            <a:avLst/>
          </a:prstGeom>
          <a:noFill/>
          <a:ln/>
        </p:spPr>
        <p:txBody>
          <a:bodyPr wrap="square" lIns="0" tIns="0" rIns="0" bIns="0" rtlCol="0" anchor="ctr">
            <a:normAutofit/>
          </a:bodyPr>
          <a:lstStyle/>
          <a:p>
            <a:pPr algn="ctr" indent="0" marL="0">
              <a:buNone/>
            </a:pPr>
            <a:r>
              <a:rPr lang="en-US" sz="1050" dirty="0">
                <a:solidFill>
                  <a:srgbClr val="5B6B7B"/>
                </a:solidFill>
                <a:latin typeface="Courier New" pitchFamily="34" charset="0"/>
                <a:ea typeface="Courier New" pitchFamily="34" charset="-122"/>
                <a:cs typeface="Courier New" pitchFamily="34" charset="-120"/>
              </a:rPr>
              <a:t>'bat'</a:t>
            </a:r>
            <a:endParaRPr lang="en-US" sz="1050" dirty="0"/>
          </a:p>
        </p:txBody>
      </p:sp>
      <p:sp>
        <p:nvSpPr>
          <p:cNvPr id="63" name="v:Slicing:e4c2:box|b5"/>
          <p:cNvSpPr/>
          <p:nvPr/>
        </p:nvSpPr>
        <p:spPr>
          <a:xfrm>
            <a:off x="3666744" y="3291840"/>
            <a:ext cx="896112" cy="292608"/>
          </a:xfrm>
          <a:prstGeom prst="roundRect">
            <a:avLst>
              <a:gd name="adj" fmla="val 15625"/>
            </a:avLst>
          </a:prstGeom>
          <a:solidFill>
            <a:srgbClr val="306998"/>
          </a:solidFill>
          <a:ln w="12700">
            <a:solidFill>
              <a:srgbClr val="306998"/>
            </a:solidFill>
            <a:prstDash val="solid"/>
          </a:ln>
        </p:spPr>
      </p:sp>
      <p:sp>
        <p:nvSpPr>
          <p:cNvPr id="64" name="v:Slicing:e4c2|b5"/>
          <p:cNvSpPr txBox="1"/>
          <p:nvPr/>
        </p:nvSpPr>
        <p:spPr>
          <a:xfrm>
            <a:off x="3685032" y="32918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'rat'</a:t>
            </a:r>
            <a:endParaRPr lang="en-US" sz="1050" dirty="0"/>
          </a:p>
        </p:txBody>
      </p:sp>
      <p:sp>
        <p:nvSpPr>
          <p:cNvPr id="65" name="v:Slicing:e4c3:box|b5"/>
          <p:cNvSpPr/>
          <p:nvPr/>
        </p:nvSpPr>
        <p:spPr>
          <a:xfrm>
            <a:off x="4608576" y="3291840"/>
            <a:ext cx="896112" cy="292608"/>
          </a:xfrm>
          <a:prstGeom prst="roundRect">
            <a:avLst>
              <a:gd name="adj" fmla="val 15625"/>
            </a:avLst>
          </a:prstGeom>
          <a:solidFill>
            <a:srgbClr val="F1F4F8"/>
          </a:solidFill>
          <a:ln w="12700">
            <a:solidFill>
              <a:srgbClr val="9AA8B8"/>
            </a:solidFill>
            <a:prstDash val="solid"/>
          </a:ln>
        </p:spPr>
      </p:sp>
      <p:sp>
        <p:nvSpPr>
          <p:cNvPr id="66" name="v:Slicing:e4c3|b5"/>
          <p:cNvSpPr txBox="1"/>
          <p:nvPr/>
        </p:nvSpPr>
        <p:spPr>
          <a:xfrm>
            <a:off x="4626864" y="3291840"/>
            <a:ext cx="859536" cy="292608"/>
          </a:xfrm>
          <a:prstGeom prst="rect">
            <a:avLst/>
          </a:prstGeom>
          <a:noFill/>
          <a:ln/>
        </p:spPr>
        <p:txBody>
          <a:bodyPr wrap="square" lIns="0" tIns="0" rIns="0" bIns="0" rtlCol="0" anchor="ctr">
            <a:normAutofit/>
          </a:bodyPr>
          <a:lstStyle/>
          <a:p>
            <a:pPr algn="ctr" indent="0" marL="0">
              <a:buNone/>
            </a:pPr>
            <a:r>
              <a:rPr lang="en-US" sz="1045" dirty="0">
                <a:solidFill>
                  <a:srgbClr val="5B6B7B"/>
                </a:solidFill>
                <a:latin typeface="Courier New" pitchFamily="34" charset="0"/>
                <a:ea typeface="Courier New" pitchFamily="34" charset="-122"/>
                <a:cs typeface="Courier New" pitchFamily="34" charset="-120"/>
              </a:rPr>
              <a:t>'elephant'</a:t>
            </a:r>
            <a:endParaRPr lang="en-US" sz="1045" dirty="0"/>
          </a:p>
        </p:txBody>
      </p:sp>
      <p:sp>
        <p:nvSpPr>
          <p:cNvPr id="67" name="arrow|b5"/>
          <p:cNvSpPr/>
          <p:nvPr/>
        </p:nvSpPr>
        <p:spPr>
          <a:xfrm>
            <a:off x="1920240" y="3621024"/>
            <a:ext cx="621792" cy="0"/>
          </a:xfrm>
          <a:prstGeom prst="line">
            <a:avLst/>
          </a:prstGeom>
          <a:noFill/>
          <a:ln w="31750">
            <a:solidFill>
              <a:srgbClr val="2E9E5B"/>
            </a:solidFill>
            <a:prstDash val="solid"/>
          </a:ln>
        </p:spPr>
      </p:sp>
      <p:sp>
        <p:nvSpPr>
          <p:cNvPr id="68" name="arrow|b5"/>
          <p:cNvSpPr/>
          <p:nvPr/>
        </p:nvSpPr>
        <p:spPr>
          <a:xfrm>
            <a:off x="3803904" y="3621024"/>
            <a:ext cx="621792" cy="0"/>
          </a:xfrm>
          <a:prstGeom prst="line">
            <a:avLst/>
          </a:prstGeom>
          <a:noFill/>
          <a:ln w="31750">
            <a:solidFill>
              <a:srgbClr val="2E9E5B"/>
            </a:solidFill>
            <a:prstDash val="solid"/>
          </a:ln>
        </p:spPr>
      </p:sp>
      <p:sp>
        <p:nvSpPr>
          <p:cNvPr id="69" name="v:Slicing:e4r|b5"/>
          <p:cNvSpPr txBox="1"/>
          <p:nvPr/>
        </p:nvSpPr>
        <p:spPr>
          <a:xfrm>
            <a:off x="5660136" y="3264408"/>
            <a:ext cx="3118104" cy="237744"/>
          </a:xfrm>
          <a:prstGeom prst="rect">
            <a:avLst/>
          </a:prstGeom>
          <a:noFill/>
          <a:ln/>
        </p:spPr>
        <p:txBody>
          <a:bodyPr wrap="square" lIns="0" tIns="0" rIns="0" bIns="0" rtlCol="0" anchor="ctr"/>
          <a:lstStyle/>
          <a:p>
            <a:pPr indent="0" marL="0">
              <a:buNone/>
            </a:pPr>
            <a:r>
              <a:rPr lang="en-US" sz="1200" b="1" dirty="0">
                <a:solidFill>
                  <a:srgbClr val="2E9E5B"/>
                </a:solidFill>
                <a:latin typeface="Courier New" pitchFamily="34" charset="0"/>
                <a:ea typeface="Courier New" pitchFamily="34" charset="-122"/>
                <a:cs typeface="Courier New" pitchFamily="34" charset="-120"/>
              </a:rPr>
              <a:t>['cat', 'rat']</a:t>
            </a:r>
            <a:endParaRPr lang="en-US" sz="1200" dirty="0"/>
          </a:p>
        </p:txBody>
      </p:sp>
      <p:sp>
        <p:nvSpPr>
          <p:cNvPr id="70" name="v:Slicing:e4p|b5"/>
          <p:cNvSpPr txBox="1"/>
          <p:nvPr/>
        </p:nvSpPr>
        <p:spPr>
          <a:xfrm>
            <a:off x="5660136" y="3493008"/>
            <a:ext cx="3118104" cy="18288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from indexes 0, 2</a:t>
            </a:r>
            <a:endParaRPr lang="en-US" sz="1000" dirty="0"/>
          </a:p>
        </p:txBody>
      </p:sp>
      <p:sp>
        <p:nvSpPr>
          <p:cNvPr id="71" name="v:Slicing:e5x|b6"/>
          <p:cNvSpPr txBox="1"/>
          <p:nvPr/>
        </p:nvSpPr>
        <p:spPr>
          <a:xfrm>
            <a:off x="365760" y="3749040"/>
            <a:ext cx="1371600" cy="292608"/>
          </a:xfrm>
          <a:prstGeom prst="rect">
            <a:avLst/>
          </a:prstGeom>
          <a:noFill/>
          <a:ln/>
        </p:spPr>
        <p:txBody>
          <a:bodyPr wrap="square" lIns="0" tIns="0" rIns="0" bIns="0" rtlCol="0" anchor="ctr"/>
          <a:lstStyle/>
          <a:p>
            <a:pPr indent="0" marL="0">
              <a:buNone/>
            </a:pPr>
            <a:r>
              <a:rPr lang="en-US" sz="1300" b="1" dirty="0">
                <a:solidFill>
                  <a:srgbClr val="1E2A3A"/>
                </a:solidFill>
                <a:latin typeface="Courier New" pitchFamily="34" charset="0"/>
                <a:ea typeface="Courier New" pitchFamily="34" charset="-122"/>
                <a:cs typeface="Courier New" pitchFamily="34" charset="-120"/>
              </a:rPr>
              <a:t>spam[::-1]</a:t>
            </a:r>
            <a:endParaRPr lang="en-US" sz="1300" dirty="0"/>
          </a:p>
        </p:txBody>
      </p:sp>
      <p:sp>
        <p:nvSpPr>
          <p:cNvPr id="72" name="v:Slicing:e5c0:box|b6"/>
          <p:cNvSpPr/>
          <p:nvPr/>
        </p:nvSpPr>
        <p:spPr>
          <a:xfrm>
            <a:off x="1783080" y="3749040"/>
            <a:ext cx="896112" cy="292608"/>
          </a:xfrm>
          <a:prstGeom prst="roundRect">
            <a:avLst>
              <a:gd name="adj" fmla="val 15625"/>
            </a:avLst>
          </a:prstGeom>
          <a:solidFill>
            <a:srgbClr val="306998"/>
          </a:solidFill>
          <a:ln w="12700">
            <a:solidFill>
              <a:srgbClr val="306998"/>
            </a:solidFill>
            <a:prstDash val="solid"/>
          </a:ln>
        </p:spPr>
      </p:sp>
      <p:sp>
        <p:nvSpPr>
          <p:cNvPr id="73" name="v:Slicing:e5c0|b6"/>
          <p:cNvSpPr txBox="1"/>
          <p:nvPr/>
        </p:nvSpPr>
        <p:spPr>
          <a:xfrm>
            <a:off x="1801368" y="37490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'cat'</a:t>
            </a:r>
            <a:endParaRPr lang="en-US" sz="1050" dirty="0"/>
          </a:p>
        </p:txBody>
      </p:sp>
      <p:sp>
        <p:nvSpPr>
          <p:cNvPr id="74" name="v:Slicing:e5c1:box|b6"/>
          <p:cNvSpPr/>
          <p:nvPr/>
        </p:nvSpPr>
        <p:spPr>
          <a:xfrm>
            <a:off x="2724912" y="3749040"/>
            <a:ext cx="896112" cy="292608"/>
          </a:xfrm>
          <a:prstGeom prst="roundRect">
            <a:avLst>
              <a:gd name="adj" fmla="val 15625"/>
            </a:avLst>
          </a:prstGeom>
          <a:solidFill>
            <a:srgbClr val="306998"/>
          </a:solidFill>
          <a:ln w="12700">
            <a:solidFill>
              <a:srgbClr val="306998"/>
            </a:solidFill>
            <a:prstDash val="solid"/>
          </a:ln>
        </p:spPr>
      </p:sp>
      <p:sp>
        <p:nvSpPr>
          <p:cNvPr id="75" name="v:Slicing:e5c1|b6"/>
          <p:cNvSpPr txBox="1"/>
          <p:nvPr/>
        </p:nvSpPr>
        <p:spPr>
          <a:xfrm>
            <a:off x="2743200" y="37490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'bat'</a:t>
            </a:r>
            <a:endParaRPr lang="en-US" sz="1050" dirty="0"/>
          </a:p>
        </p:txBody>
      </p:sp>
      <p:sp>
        <p:nvSpPr>
          <p:cNvPr id="76" name="v:Slicing:e5c2:box|b6"/>
          <p:cNvSpPr/>
          <p:nvPr/>
        </p:nvSpPr>
        <p:spPr>
          <a:xfrm>
            <a:off x="3666744" y="3749040"/>
            <a:ext cx="896112" cy="292608"/>
          </a:xfrm>
          <a:prstGeom prst="roundRect">
            <a:avLst>
              <a:gd name="adj" fmla="val 15625"/>
            </a:avLst>
          </a:prstGeom>
          <a:solidFill>
            <a:srgbClr val="306998"/>
          </a:solidFill>
          <a:ln w="12700">
            <a:solidFill>
              <a:srgbClr val="306998"/>
            </a:solidFill>
            <a:prstDash val="solid"/>
          </a:ln>
        </p:spPr>
      </p:sp>
      <p:sp>
        <p:nvSpPr>
          <p:cNvPr id="77" name="v:Slicing:e5c2|b6"/>
          <p:cNvSpPr txBox="1"/>
          <p:nvPr/>
        </p:nvSpPr>
        <p:spPr>
          <a:xfrm>
            <a:off x="3685032" y="3749040"/>
            <a:ext cx="859536"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'rat'</a:t>
            </a:r>
            <a:endParaRPr lang="en-US" sz="1050" dirty="0"/>
          </a:p>
        </p:txBody>
      </p:sp>
      <p:sp>
        <p:nvSpPr>
          <p:cNvPr id="78" name="v:Slicing:e5c3:box|b6"/>
          <p:cNvSpPr/>
          <p:nvPr/>
        </p:nvSpPr>
        <p:spPr>
          <a:xfrm>
            <a:off x="4608576" y="3749040"/>
            <a:ext cx="896112" cy="292608"/>
          </a:xfrm>
          <a:prstGeom prst="roundRect">
            <a:avLst>
              <a:gd name="adj" fmla="val 15625"/>
            </a:avLst>
          </a:prstGeom>
          <a:solidFill>
            <a:srgbClr val="306998"/>
          </a:solidFill>
          <a:ln w="12700">
            <a:solidFill>
              <a:srgbClr val="306998"/>
            </a:solidFill>
            <a:prstDash val="solid"/>
          </a:ln>
        </p:spPr>
      </p:sp>
      <p:sp>
        <p:nvSpPr>
          <p:cNvPr id="79" name="v:Slicing:e5c3|b6"/>
          <p:cNvSpPr txBox="1"/>
          <p:nvPr/>
        </p:nvSpPr>
        <p:spPr>
          <a:xfrm>
            <a:off x="4626864" y="3749040"/>
            <a:ext cx="859536" cy="292608"/>
          </a:xfrm>
          <a:prstGeom prst="rect">
            <a:avLst/>
          </a:prstGeom>
          <a:noFill/>
          <a:ln/>
        </p:spPr>
        <p:txBody>
          <a:bodyPr wrap="square" lIns="0" tIns="0" rIns="0" bIns="0" rtlCol="0" anchor="ctr">
            <a:normAutofit/>
          </a:bodyPr>
          <a:lstStyle/>
          <a:p>
            <a:pPr algn="ctr" indent="0" marL="0">
              <a:buNone/>
            </a:pPr>
            <a:r>
              <a:rPr lang="en-US" sz="1045" b="1" dirty="0">
                <a:solidFill>
                  <a:srgbClr val="FFFFFF"/>
                </a:solidFill>
                <a:latin typeface="Courier New" pitchFamily="34" charset="0"/>
                <a:ea typeface="Courier New" pitchFamily="34" charset="-122"/>
                <a:cs typeface="Courier New" pitchFamily="34" charset="-120"/>
              </a:rPr>
              <a:t>'elephant'</a:t>
            </a:r>
            <a:endParaRPr lang="en-US" sz="1045" dirty="0"/>
          </a:p>
        </p:txBody>
      </p:sp>
      <p:sp>
        <p:nvSpPr>
          <p:cNvPr id="80" name="arrow|b6"/>
          <p:cNvSpPr/>
          <p:nvPr/>
        </p:nvSpPr>
        <p:spPr>
          <a:xfrm>
            <a:off x="4745736" y="4078224"/>
            <a:ext cx="621792" cy="0"/>
          </a:xfrm>
          <a:prstGeom prst="line">
            <a:avLst/>
          </a:prstGeom>
          <a:noFill/>
          <a:ln w="31750">
            <a:solidFill>
              <a:srgbClr val="2E9E5B"/>
            </a:solidFill>
            <a:prstDash val="solid"/>
          </a:ln>
        </p:spPr>
      </p:sp>
      <p:sp>
        <p:nvSpPr>
          <p:cNvPr id="81" name="arrow|b6"/>
          <p:cNvSpPr/>
          <p:nvPr/>
        </p:nvSpPr>
        <p:spPr>
          <a:xfrm>
            <a:off x="3803904" y="4078224"/>
            <a:ext cx="621792" cy="0"/>
          </a:xfrm>
          <a:prstGeom prst="line">
            <a:avLst/>
          </a:prstGeom>
          <a:noFill/>
          <a:ln w="31750">
            <a:solidFill>
              <a:srgbClr val="2E9E5B"/>
            </a:solidFill>
            <a:prstDash val="solid"/>
          </a:ln>
        </p:spPr>
      </p:sp>
      <p:sp>
        <p:nvSpPr>
          <p:cNvPr id="82" name="arrow|b6"/>
          <p:cNvSpPr/>
          <p:nvPr/>
        </p:nvSpPr>
        <p:spPr>
          <a:xfrm>
            <a:off x="2862072" y="4078224"/>
            <a:ext cx="621792" cy="0"/>
          </a:xfrm>
          <a:prstGeom prst="line">
            <a:avLst/>
          </a:prstGeom>
          <a:noFill/>
          <a:ln w="31750">
            <a:solidFill>
              <a:srgbClr val="2E9E5B"/>
            </a:solidFill>
            <a:prstDash val="solid"/>
          </a:ln>
        </p:spPr>
      </p:sp>
      <p:sp>
        <p:nvSpPr>
          <p:cNvPr id="83" name="arrow|b6"/>
          <p:cNvSpPr/>
          <p:nvPr/>
        </p:nvSpPr>
        <p:spPr>
          <a:xfrm>
            <a:off x="1920240" y="4078224"/>
            <a:ext cx="621792" cy="0"/>
          </a:xfrm>
          <a:prstGeom prst="line">
            <a:avLst/>
          </a:prstGeom>
          <a:noFill/>
          <a:ln w="31750">
            <a:solidFill>
              <a:srgbClr val="2E9E5B"/>
            </a:solidFill>
            <a:prstDash val="solid"/>
          </a:ln>
        </p:spPr>
      </p:sp>
      <p:sp>
        <p:nvSpPr>
          <p:cNvPr id="84" name="v:Slicing:e5r|b6"/>
          <p:cNvSpPr txBox="1"/>
          <p:nvPr/>
        </p:nvSpPr>
        <p:spPr>
          <a:xfrm>
            <a:off x="5660136" y="3721608"/>
            <a:ext cx="3118104" cy="237744"/>
          </a:xfrm>
          <a:prstGeom prst="rect">
            <a:avLst/>
          </a:prstGeom>
          <a:noFill/>
          <a:ln/>
        </p:spPr>
        <p:txBody>
          <a:bodyPr wrap="square" lIns="0" tIns="0" rIns="0" bIns="0" rtlCol="0" anchor="ctr"/>
          <a:lstStyle/>
          <a:p>
            <a:pPr indent="0" marL="0">
              <a:buNone/>
            </a:pPr>
            <a:r>
              <a:rPr lang="en-US" sz="1200" b="1" dirty="0">
                <a:solidFill>
                  <a:srgbClr val="2E9E5B"/>
                </a:solidFill>
                <a:latin typeface="Courier New" pitchFamily="34" charset="0"/>
                <a:ea typeface="Courier New" pitchFamily="34" charset="-122"/>
                <a:cs typeface="Courier New" pitchFamily="34" charset="-120"/>
              </a:rPr>
              <a:t>['elephant', 'rat', 'bat', 'cat']</a:t>
            </a:r>
            <a:endParaRPr lang="en-US" sz="1200" dirty="0"/>
          </a:p>
        </p:txBody>
      </p:sp>
      <p:sp>
        <p:nvSpPr>
          <p:cNvPr id="85" name="v:Slicing:e5p|b6"/>
          <p:cNvSpPr txBox="1"/>
          <p:nvPr/>
        </p:nvSpPr>
        <p:spPr>
          <a:xfrm>
            <a:off x="5660136" y="3950208"/>
            <a:ext cx="3118104" cy="18288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from indexes 3, 2, 1, 0</a:t>
            </a:r>
            <a:endParaRPr lang="en-US" sz="1000" dirty="0"/>
          </a:p>
        </p:txBody>
      </p:sp>
      <p:sp>
        <p:nvSpPr>
          <p:cNvPr id="86" name="say"/>
          <p:cNvSpPr txBox="1"/>
          <p:nvPr/>
        </p:nvSpPr>
        <p:spPr>
          <a:xfrm>
            <a:off x="365760" y="4279392"/>
            <a:ext cx="8412480" cy="32004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A slice is a new list of the items whose indexes it selects; an end outside the list is clipped, not an error.</a:t>
            </a:r>
            <a:endParaRPr lang="en-US" sz="1250" dirty="0"/>
          </a:p>
        </p:txBody>
      </p:sp>
      <p:sp>
        <p:nvSpPr>
          <p:cNvPr id="87"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88"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89"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List basics ▸ Slicing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introduction.html" history="1" highlightClick="0" endSnd="0">
                  <a:extLst>
                    <a:ext uri="{A12FA001-AC4F-418D-AE19-62706E023703}">
                      <ahyp:hlinkClr xmlns:ahyp="http://schemas.microsoft.com/office/drawing/2018/hyperlinkcolor" val="tx"/>
                    </a:ext>
                  </a:extLst>
                </a:hlinkClick>
              </a:rPr>
              <a:t>Tutorial: lists and slices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00"/>
                                        <p:tgtEl>
                                          <p:spTgt spid="10"/>
                                        </p:tgtEl>
                                      </p:cBhvr>
                                    </p:animEffect>
                                  </p:childTnLst>
                                </p:cTn>
                              </p:par>
                              <p:par>
                                <p:cTn id="6" presetID="10" presetClass="entr" presetSubtype="0" fill="hold" nodeType="with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400"/>
                                        <p:tgtEl>
                                          <p:spTgt spid="1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par>
                                <p:cTn id="18" presetID="10" presetClass="entr" presetSubtype="0" fill="hold"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0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00"/>
                                        <p:tgtEl>
                                          <p:spTgt spid="16"/>
                                        </p:tgtEl>
                                      </p:cBhvr>
                                    </p:animEffect>
                                  </p:childTnLst>
                                </p:cTn>
                              </p:par>
                              <p:par>
                                <p:cTn id="24" presetID="10" presetClass="entr" presetSubtype="0" fill="hold"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400"/>
                                        <p:tgtEl>
                                          <p:spTgt spid="1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400"/>
                                        <p:tgtEl>
                                          <p:spTgt spid="18"/>
                                        </p:tgtEl>
                                      </p:cBhvr>
                                    </p:animEffect>
                                  </p:childTnLst>
                                </p:cTn>
                              </p:par>
                              <p:par>
                                <p:cTn id="30" presetID="10" presetClass="entr" presetSubtype="0"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00"/>
                                        <p:tgtEl>
                                          <p:spTgt spid="1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00"/>
                                        <p:tgtEl>
                                          <p:spTgt spid="2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00"/>
                                        <p:tgtEl>
                                          <p:spTgt spid="21"/>
                                        </p:tgtEl>
                                      </p:cBhvr>
                                    </p:animEffect>
                                  </p:childTnLst>
                                </p:cTn>
                              </p:par>
                            </p:childTnLst>
                          </p:cTn>
                        </p:par>
                      </p:childTnLst>
                    </p:cTn>
                  </p:par>
                  <p:par>
                    <p:cTn id="77" fill="hold">
                      <p:stCondLst>
                        <p:cond delay="indefinite"/>
                      </p:stCondLst>
                      <p:childTnLst>
                        <p:par>
                          <p:cTn id="78"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00"/>
                                        <p:tgtEl>
                                          <p:spTgt spid="26"/>
                                        </p:tgtEl>
                                      </p:cBhvr>
                                    </p:animEffect>
                                  </p:childTnLst>
                                </p:cTn>
                              </p:par>
                              <p:par>
                                <p:cTn id="56" presetID="10" presetClass="entr" presetSubtype="0" fill="hold" nodeType="with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00"/>
                                        <p:tgtEl>
                                          <p:spTgt spid="2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00"/>
                                        <p:tgtEl>
                                          <p:spTgt spid="28"/>
                                        </p:tgtEl>
                                      </p:cBhvr>
                                    </p:animEffect>
                                  </p:childTnLst>
                                </p:cTn>
                              </p:par>
                              <p:par>
                                <p:cTn id="62" presetID="10" presetClass="entr" presetSubtype="0" fill="hold" nodeType="with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00"/>
                                        <p:tgtEl>
                                          <p:spTgt spid="29"/>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00"/>
                                        <p:tgtEl>
                                          <p:spTgt spid="30"/>
                                        </p:tgtEl>
                                      </p:cBhvr>
                                    </p:animEffect>
                                  </p:childTnLst>
                                </p:cTn>
                              </p:par>
                              <p:par>
                                <p:cTn id="68" presetID="10" presetClass="entr" presetSubtype="0" fill="hold" nodeType="withEffect">
                                  <p:stCondLst>
                                    <p:cond delay="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400"/>
                                        <p:tgtEl>
                                          <p:spTgt spid="31"/>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400"/>
                                        <p:tgtEl>
                                          <p:spTgt spid="3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3"/>
                                        </p:tgtEl>
                                        <p:attrNameLst>
                                          <p:attrName>style.visibility</p:attrName>
                                        </p:attrNameLst>
                                      </p:cBhvr>
                                      <p:to>
                                        <p:strVal val="visible"/>
                                      </p:to>
                                    </p:set>
                                    <p:animEffect transition="in" filter="fade">
                                      <p:cBhvr>
                                        <p:cTn id="76" dur="400"/>
                                        <p:tgtEl>
                                          <p:spTgt spid="33"/>
                                        </p:tgtEl>
                                      </p:cBhvr>
                                    </p:animEffect>
                                  </p:childTnLst>
                                </p:cTn>
                              </p:par>
                            </p:childTnLst>
                          </p:cTn>
                        </p:par>
                      </p:childTnLst>
                    </p:cTn>
                  </p:par>
                  <p:par>
                    <p:cTn id="115" fill="hold">
                      <p:stCondLst>
                        <p:cond delay="indefinite"/>
                      </p:stCondLst>
                      <p:childTnLst>
                        <p:par>
                          <p:cTn id="116"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34"/>
                                        </p:tgtEl>
                                        <p:attrNameLst>
                                          <p:attrName>style.visibility</p:attrName>
                                        </p:attrNameLst>
                                      </p:cBhvr>
                                      <p:to>
                                        <p:strVal val="visible"/>
                                      </p:to>
                                    </p:set>
                                    <p:animEffect transition="in" filter="fade">
                                      <p:cBhvr>
                                        <p:cTn id="81" dur="400"/>
                                        <p:tgtEl>
                                          <p:spTgt spid="34"/>
                                        </p:tgtEl>
                                      </p:cBhvr>
                                    </p:animEffect>
                                  </p:childTnLst>
                                </p:cTn>
                              </p:par>
                              <p:par>
                                <p:cTn id="82" presetID="10" presetClass="entr" presetSubtype="0" fill="hold" nodeType="withEffect">
                                  <p:stCondLst>
                                    <p:cond delay="0"/>
                                  </p:stCondLst>
                                  <p:childTnLst>
                                    <p:set>
                                      <p:cBhvr>
                                        <p:cTn id="83" dur="1" fill="hold">
                                          <p:stCondLst>
                                            <p:cond delay="0"/>
                                          </p:stCondLst>
                                        </p:cTn>
                                        <p:tgtEl>
                                          <p:spTgt spid="35"/>
                                        </p:tgtEl>
                                        <p:attrNameLst>
                                          <p:attrName>style.visibility</p:attrName>
                                        </p:attrNameLst>
                                      </p:cBhvr>
                                      <p:to>
                                        <p:strVal val="visible"/>
                                      </p:to>
                                    </p:set>
                                    <p:animEffect transition="in" filter="fade">
                                      <p:cBhvr>
                                        <p:cTn id="84" dur="400"/>
                                        <p:tgtEl>
                                          <p:spTgt spid="35"/>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6"/>
                                        </p:tgtEl>
                                        <p:attrNameLst>
                                          <p:attrName>style.visibility</p:attrName>
                                        </p:attrNameLst>
                                      </p:cBhvr>
                                      <p:to>
                                        <p:strVal val="visible"/>
                                      </p:to>
                                    </p:set>
                                    <p:animEffect transition="in" filter="fade">
                                      <p:cBhvr>
                                        <p:cTn id="87" dur="400"/>
                                        <p:tgtEl>
                                          <p:spTgt spid="36"/>
                                        </p:tgtEl>
                                      </p:cBhvr>
                                    </p:animEffect>
                                  </p:childTnLst>
                                </p:cTn>
                              </p:par>
                              <p:par>
                                <p:cTn id="88" presetID="10" presetClass="entr" presetSubtype="0" fill="hold" nodeType="withEffect">
                                  <p:stCondLst>
                                    <p:cond delay="0"/>
                                  </p:stCondLst>
                                  <p:childTnLst>
                                    <p:set>
                                      <p:cBhvr>
                                        <p:cTn id="89" dur="1" fill="hold">
                                          <p:stCondLst>
                                            <p:cond delay="0"/>
                                          </p:stCondLst>
                                        </p:cTn>
                                        <p:tgtEl>
                                          <p:spTgt spid="37"/>
                                        </p:tgtEl>
                                        <p:attrNameLst>
                                          <p:attrName>style.visibility</p:attrName>
                                        </p:attrNameLst>
                                      </p:cBhvr>
                                      <p:to>
                                        <p:strVal val="visible"/>
                                      </p:to>
                                    </p:set>
                                    <p:animEffect transition="in" filter="fade">
                                      <p:cBhvr>
                                        <p:cTn id="90" dur="400"/>
                                        <p:tgtEl>
                                          <p:spTgt spid="37"/>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8"/>
                                        </p:tgtEl>
                                        <p:attrNameLst>
                                          <p:attrName>style.visibility</p:attrName>
                                        </p:attrNameLst>
                                      </p:cBhvr>
                                      <p:to>
                                        <p:strVal val="visible"/>
                                      </p:to>
                                    </p:set>
                                    <p:animEffect transition="in" filter="fade">
                                      <p:cBhvr>
                                        <p:cTn id="93" dur="400"/>
                                        <p:tgtEl>
                                          <p:spTgt spid="38"/>
                                        </p:tgtEl>
                                      </p:cBhvr>
                                    </p:animEffect>
                                  </p:childTnLst>
                                </p:cTn>
                              </p:par>
                              <p:par>
                                <p:cTn id="94" presetID="10" presetClass="entr" presetSubtype="0" fill="hold" nodeType="withEffect">
                                  <p:stCondLst>
                                    <p:cond delay="0"/>
                                  </p:stCondLst>
                                  <p:childTnLst>
                                    <p:set>
                                      <p:cBhvr>
                                        <p:cTn id="95" dur="1" fill="hold">
                                          <p:stCondLst>
                                            <p:cond delay="0"/>
                                          </p:stCondLst>
                                        </p:cTn>
                                        <p:tgtEl>
                                          <p:spTgt spid="39"/>
                                        </p:tgtEl>
                                        <p:attrNameLst>
                                          <p:attrName>style.visibility</p:attrName>
                                        </p:attrNameLst>
                                      </p:cBhvr>
                                      <p:to>
                                        <p:strVal val="visible"/>
                                      </p:to>
                                    </p:set>
                                    <p:animEffect transition="in" filter="fade">
                                      <p:cBhvr>
                                        <p:cTn id="96" dur="400"/>
                                        <p:tgtEl>
                                          <p:spTgt spid="39"/>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40"/>
                                        </p:tgtEl>
                                        <p:attrNameLst>
                                          <p:attrName>style.visibility</p:attrName>
                                        </p:attrNameLst>
                                      </p:cBhvr>
                                      <p:to>
                                        <p:strVal val="visible"/>
                                      </p:to>
                                    </p:set>
                                    <p:animEffect transition="in" filter="fade">
                                      <p:cBhvr>
                                        <p:cTn id="99" dur="400"/>
                                        <p:tgtEl>
                                          <p:spTgt spid="40"/>
                                        </p:tgtEl>
                                      </p:cBhvr>
                                    </p:animEffect>
                                  </p:childTnLst>
                                </p:cTn>
                              </p:par>
                              <p:par>
                                <p:cTn id="100" presetID="10" presetClass="entr" presetSubtype="0" fill="hold" nodeType="withEffect">
                                  <p:stCondLst>
                                    <p:cond delay="0"/>
                                  </p:stCondLst>
                                  <p:childTnLst>
                                    <p:set>
                                      <p:cBhvr>
                                        <p:cTn id="101" dur="1" fill="hold">
                                          <p:stCondLst>
                                            <p:cond delay="0"/>
                                          </p:stCondLst>
                                        </p:cTn>
                                        <p:tgtEl>
                                          <p:spTgt spid="41"/>
                                        </p:tgtEl>
                                        <p:attrNameLst>
                                          <p:attrName>style.visibility</p:attrName>
                                        </p:attrNameLst>
                                      </p:cBhvr>
                                      <p:to>
                                        <p:strVal val="visible"/>
                                      </p:to>
                                    </p:set>
                                    <p:animEffect transition="in" filter="fade">
                                      <p:cBhvr>
                                        <p:cTn id="102" dur="400"/>
                                        <p:tgtEl>
                                          <p:spTgt spid="41"/>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42"/>
                                        </p:tgtEl>
                                        <p:attrNameLst>
                                          <p:attrName>style.visibility</p:attrName>
                                        </p:attrNameLst>
                                      </p:cBhvr>
                                      <p:to>
                                        <p:strVal val="visible"/>
                                      </p:to>
                                    </p:set>
                                    <p:animEffect transition="in" filter="fade">
                                      <p:cBhvr>
                                        <p:cTn id="105" dur="400"/>
                                        <p:tgtEl>
                                          <p:spTgt spid="42"/>
                                        </p:tgtEl>
                                      </p:cBhvr>
                                    </p:animEffect>
                                  </p:childTnLst>
                                </p:cTn>
                              </p:par>
                              <p:par>
                                <p:cTn id="106" presetID="10" presetClass="entr" presetSubtype="0" fill="hold" nodeType="withEffect">
                                  <p:stCondLst>
                                    <p:cond delay="0"/>
                                  </p:stCondLst>
                                  <p:childTnLst>
                                    <p:set>
                                      <p:cBhvr>
                                        <p:cTn id="107" dur="1" fill="hold">
                                          <p:stCondLst>
                                            <p:cond delay="0"/>
                                          </p:stCondLst>
                                        </p:cTn>
                                        <p:tgtEl>
                                          <p:spTgt spid="43"/>
                                        </p:tgtEl>
                                        <p:attrNameLst>
                                          <p:attrName>style.visibility</p:attrName>
                                        </p:attrNameLst>
                                      </p:cBhvr>
                                      <p:to>
                                        <p:strVal val="visible"/>
                                      </p:to>
                                    </p:set>
                                    <p:animEffect transition="in" filter="fade">
                                      <p:cBhvr>
                                        <p:cTn id="108" dur="400"/>
                                        <p:tgtEl>
                                          <p:spTgt spid="43"/>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4"/>
                                        </p:tgtEl>
                                        <p:attrNameLst>
                                          <p:attrName>style.visibility</p:attrName>
                                        </p:attrNameLst>
                                      </p:cBhvr>
                                      <p:to>
                                        <p:strVal val="visible"/>
                                      </p:to>
                                    </p:set>
                                    <p:animEffect transition="in" filter="fade">
                                      <p:cBhvr>
                                        <p:cTn id="111" dur="400"/>
                                        <p:tgtEl>
                                          <p:spTgt spid="44"/>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5"/>
                                        </p:tgtEl>
                                        <p:attrNameLst>
                                          <p:attrName>style.visibility</p:attrName>
                                        </p:attrNameLst>
                                      </p:cBhvr>
                                      <p:to>
                                        <p:strVal val="visible"/>
                                      </p:to>
                                    </p:set>
                                    <p:animEffect transition="in" filter="fade">
                                      <p:cBhvr>
                                        <p:cTn id="114" dur="400"/>
                                        <p:tgtEl>
                                          <p:spTgt spid="45"/>
                                        </p:tgtEl>
                                      </p:cBhvr>
                                    </p:animEffect>
                                  </p:childTnLst>
                                </p:cTn>
                              </p:par>
                            </p:childTnLst>
                          </p:cTn>
                        </p:par>
                      </p:childTnLst>
                    </p:cTn>
                  </p:par>
                  <p:par>
                    <p:cTn id="153" fill="hold">
                      <p:stCondLst>
                        <p:cond delay="indefinite"/>
                      </p:stCondLst>
                      <p:childTnLst>
                        <p:par>
                          <p:cTn id="154"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46"/>
                                        </p:tgtEl>
                                        <p:attrNameLst>
                                          <p:attrName>style.visibility</p:attrName>
                                        </p:attrNameLst>
                                      </p:cBhvr>
                                      <p:to>
                                        <p:strVal val="visible"/>
                                      </p:to>
                                    </p:set>
                                    <p:animEffect transition="in" filter="fade">
                                      <p:cBhvr>
                                        <p:cTn id="119" dur="400"/>
                                        <p:tgtEl>
                                          <p:spTgt spid="46"/>
                                        </p:tgtEl>
                                      </p:cBhvr>
                                    </p:animEffect>
                                  </p:childTnLst>
                                </p:cTn>
                              </p:par>
                              <p:par>
                                <p:cTn id="120" presetID="10" presetClass="entr" presetSubtype="0" fill="hold" nodeType="withEffect">
                                  <p:stCondLst>
                                    <p:cond delay="0"/>
                                  </p:stCondLst>
                                  <p:childTnLst>
                                    <p:set>
                                      <p:cBhvr>
                                        <p:cTn id="121" dur="1" fill="hold">
                                          <p:stCondLst>
                                            <p:cond delay="0"/>
                                          </p:stCondLst>
                                        </p:cTn>
                                        <p:tgtEl>
                                          <p:spTgt spid="47"/>
                                        </p:tgtEl>
                                        <p:attrNameLst>
                                          <p:attrName>style.visibility</p:attrName>
                                        </p:attrNameLst>
                                      </p:cBhvr>
                                      <p:to>
                                        <p:strVal val="visible"/>
                                      </p:to>
                                    </p:set>
                                    <p:animEffect transition="in" filter="fade">
                                      <p:cBhvr>
                                        <p:cTn id="122" dur="400"/>
                                        <p:tgtEl>
                                          <p:spTgt spid="47"/>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8"/>
                                        </p:tgtEl>
                                        <p:attrNameLst>
                                          <p:attrName>style.visibility</p:attrName>
                                        </p:attrNameLst>
                                      </p:cBhvr>
                                      <p:to>
                                        <p:strVal val="visible"/>
                                      </p:to>
                                    </p:set>
                                    <p:animEffect transition="in" filter="fade">
                                      <p:cBhvr>
                                        <p:cTn id="125" dur="400"/>
                                        <p:tgtEl>
                                          <p:spTgt spid="48"/>
                                        </p:tgtEl>
                                      </p:cBhvr>
                                    </p:animEffect>
                                  </p:childTnLst>
                                </p:cTn>
                              </p:par>
                              <p:par>
                                <p:cTn id="126" presetID="10" presetClass="entr" presetSubtype="0" fill="hold" nodeType="withEffect">
                                  <p:stCondLst>
                                    <p:cond delay="0"/>
                                  </p:stCondLst>
                                  <p:childTnLst>
                                    <p:set>
                                      <p:cBhvr>
                                        <p:cTn id="127" dur="1" fill="hold">
                                          <p:stCondLst>
                                            <p:cond delay="0"/>
                                          </p:stCondLst>
                                        </p:cTn>
                                        <p:tgtEl>
                                          <p:spTgt spid="49"/>
                                        </p:tgtEl>
                                        <p:attrNameLst>
                                          <p:attrName>style.visibility</p:attrName>
                                        </p:attrNameLst>
                                      </p:cBhvr>
                                      <p:to>
                                        <p:strVal val="visible"/>
                                      </p:to>
                                    </p:set>
                                    <p:animEffect transition="in" filter="fade">
                                      <p:cBhvr>
                                        <p:cTn id="128" dur="400"/>
                                        <p:tgtEl>
                                          <p:spTgt spid="49"/>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50"/>
                                        </p:tgtEl>
                                        <p:attrNameLst>
                                          <p:attrName>style.visibility</p:attrName>
                                        </p:attrNameLst>
                                      </p:cBhvr>
                                      <p:to>
                                        <p:strVal val="visible"/>
                                      </p:to>
                                    </p:set>
                                    <p:animEffect transition="in" filter="fade">
                                      <p:cBhvr>
                                        <p:cTn id="131" dur="400"/>
                                        <p:tgtEl>
                                          <p:spTgt spid="50"/>
                                        </p:tgtEl>
                                      </p:cBhvr>
                                    </p:animEffect>
                                  </p:childTnLst>
                                </p:cTn>
                              </p:par>
                              <p:par>
                                <p:cTn id="132" presetID="10" presetClass="entr" presetSubtype="0" fill="hold" nodeType="withEffect">
                                  <p:stCondLst>
                                    <p:cond delay="0"/>
                                  </p:stCondLst>
                                  <p:childTnLst>
                                    <p:set>
                                      <p:cBhvr>
                                        <p:cTn id="133" dur="1" fill="hold">
                                          <p:stCondLst>
                                            <p:cond delay="0"/>
                                          </p:stCondLst>
                                        </p:cTn>
                                        <p:tgtEl>
                                          <p:spTgt spid="51"/>
                                        </p:tgtEl>
                                        <p:attrNameLst>
                                          <p:attrName>style.visibility</p:attrName>
                                        </p:attrNameLst>
                                      </p:cBhvr>
                                      <p:to>
                                        <p:strVal val="visible"/>
                                      </p:to>
                                    </p:set>
                                    <p:animEffect transition="in" filter="fade">
                                      <p:cBhvr>
                                        <p:cTn id="134" dur="400"/>
                                        <p:tgtEl>
                                          <p:spTgt spid="51"/>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52"/>
                                        </p:tgtEl>
                                        <p:attrNameLst>
                                          <p:attrName>style.visibility</p:attrName>
                                        </p:attrNameLst>
                                      </p:cBhvr>
                                      <p:to>
                                        <p:strVal val="visible"/>
                                      </p:to>
                                    </p:set>
                                    <p:animEffect transition="in" filter="fade">
                                      <p:cBhvr>
                                        <p:cTn id="137" dur="400"/>
                                        <p:tgtEl>
                                          <p:spTgt spid="52"/>
                                        </p:tgtEl>
                                      </p:cBhvr>
                                    </p:animEffect>
                                  </p:childTnLst>
                                </p:cTn>
                              </p:par>
                              <p:par>
                                <p:cTn id="138" presetID="10" presetClass="entr" presetSubtype="0" fill="hold" nodeType="withEffect">
                                  <p:stCondLst>
                                    <p:cond delay="0"/>
                                  </p:stCondLst>
                                  <p:childTnLst>
                                    <p:set>
                                      <p:cBhvr>
                                        <p:cTn id="139" dur="1" fill="hold">
                                          <p:stCondLst>
                                            <p:cond delay="0"/>
                                          </p:stCondLst>
                                        </p:cTn>
                                        <p:tgtEl>
                                          <p:spTgt spid="53"/>
                                        </p:tgtEl>
                                        <p:attrNameLst>
                                          <p:attrName>style.visibility</p:attrName>
                                        </p:attrNameLst>
                                      </p:cBhvr>
                                      <p:to>
                                        <p:strVal val="visible"/>
                                      </p:to>
                                    </p:set>
                                    <p:animEffect transition="in" filter="fade">
                                      <p:cBhvr>
                                        <p:cTn id="140" dur="400"/>
                                        <p:tgtEl>
                                          <p:spTgt spid="53"/>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4"/>
                                        </p:tgtEl>
                                        <p:attrNameLst>
                                          <p:attrName>style.visibility</p:attrName>
                                        </p:attrNameLst>
                                      </p:cBhvr>
                                      <p:to>
                                        <p:strVal val="visible"/>
                                      </p:to>
                                    </p:set>
                                    <p:animEffect transition="in" filter="fade">
                                      <p:cBhvr>
                                        <p:cTn id="143" dur="400"/>
                                        <p:tgtEl>
                                          <p:spTgt spid="54"/>
                                        </p:tgtEl>
                                      </p:cBhvr>
                                    </p:animEffect>
                                  </p:childTnLst>
                                </p:cTn>
                              </p:par>
                              <p:par>
                                <p:cTn id="144" presetID="10" presetClass="entr" presetSubtype="0" fill="hold" nodeType="withEffect">
                                  <p:stCondLst>
                                    <p:cond delay="0"/>
                                  </p:stCondLst>
                                  <p:childTnLst>
                                    <p:set>
                                      <p:cBhvr>
                                        <p:cTn id="145" dur="1" fill="hold">
                                          <p:stCondLst>
                                            <p:cond delay="0"/>
                                          </p:stCondLst>
                                        </p:cTn>
                                        <p:tgtEl>
                                          <p:spTgt spid="55"/>
                                        </p:tgtEl>
                                        <p:attrNameLst>
                                          <p:attrName>style.visibility</p:attrName>
                                        </p:attrNameLst>
                                      </p:cBhvr>
                                      <p:to>
                                        <p:strVal val="visible"/>
                                      </p:to>
                                    </p:set>
                                    <p:animEffect transition="in" filter="fade">
                                      <p:cBhvr>
                                        <p:cTn id="146" dur="400"/>
                                        <p:tgtEl>
                                          <p:spTgt spid="55"/>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6"/>
                                        </p:tgtEl>
                                        <p:attrNameLst>
                                          <p:attrName>style.visibility</p:attrName>
                                        </p:attrNameLst>
                                      </p:cBhvr>
                                      <p:to>
                                        <p:strVal val="visible"/>
                                      </p:to>
                                    </p:set>
                                    <p:animEffect transition="in" filter="fade">
                                      <p:cBhvr>
                                        <p:cTn id="149" dur="400"/>
                                        <p:tgtEl>
                                          <p:spTgt spid="56"/>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7"/>
                                        </p:tgtEl>
                                        <p:attrNameLst>
                                          <p:attrName>style.visibility</p:attrName>
                                        </p:attrNameLst>
                                      </p:cBhvr>
                                      <p:to>
                                        <p:strVal val="visible"/>
                                      </p:to>
                                    </p:set>
                                    <p:animEffect transition="in" filter="fade">
                                      <p:cBhvr>
                                        <p:cTn id="152" dur="400"/>
                                        <p:tgtEl>
                                          <p:spTgt spid="57"/>
                                        </p:tgtEl>
                                      </p:cBhvr>
                                    </p:animEffect>
                                  </p:childTnLst>
                                </p:cTn>
                              </p:par>
                            </p:childTnLst>
                          </p:cTn>
                        </p:par>
                      </p:childTnLst>
                    </p:cTn>
                  </p:par>
                  <p:par>
                    <p:cTn id="194" fill="hold">
                      <p:stCondLst>
                        <p:cond delay="indefinite"/>
                      </p:stCondLst>
                      <p:childTnLst>
                        <p:par>
                          <p:cTn id="195" fill="hold">
                            <p:stCondLst>
                              <p:cond delay="0"/>
                            </p:stCondLst>
                            <p:childTnLst>
                              <p:par>
                                <p:cTn id="155" presetID="10" presetClass="entr" presetSubtype="0" fill="hold" grpId="0" nodeType="clickEffect">
                                  <p:stCondLst>
                                    <p:cond delay="0"/>
                                  </p:stCondLst>
                                  <p:childTnLst>
                                    <p:set>
                                      <p:cBhvr>
                                        <p:cTn id="156" dur="1" fill="hold">
                                          <p:stCondLst>
                                            <p:cond delay="0"/>
                                          </p:stCondLst>
                                        </p:cTn>
                                        <p:tgtEl>
                                          <p:spTgt spid="58"/>
                                        </p:tgtEl>
                                        <p:attrNameLst>
                                          <p:attrName>style.visibility</p:attrName>
                                        </p:attrNameLst>
                                      </p:cBhvr>
                                      <p:to>
                                        <p:strVal val="visible"/>
                                      </p:to>
                                    </p:set>
                                    <p:animEffect transition="in" filter="fade">
                                      <p:cBhvr>
                                        <p:cTn id="157" dur="400"/>
                                        <p:tgtEl>
                                          <p:spTgt spid="58"/>
                                        </p:tgtEl>
                                      </p:cBhvr>
                                    </p:animEffect>
                                  </p:childTnLst>
                                </p:cTn>
                              </p:par>
                              <p:par>
                                <p:cTn id="158" presetID="10" presetClass="entr" presetSubtype="0" fill="hold" nodeType="withEffect">
                                  <p:stCondLst>
                                    <p:cond delay="0"/>
                                  </p:stCondLst>
                                  <p:childTnLst>
                                    <p:set>
                                      <p:cBhvr>
                                        <p:cTn id="159" dur="1" fill="hold">
                                          <p:stCondLst>
                                            <p:cond delay="0"/>
                                          </p:stCondLst>
                                        </p:cTn>
                                        <p:tgtEl>
                                          <p:spTgt spid="59"/>
                                        </p:tgtEl>
                                        <p:attrNameLst>
                                          <p:attrName>style.visibility</p:attrName>
                                        </p:attrNameLst>
                                      </p:cBhvr>
                                      <p:to>
                                        <p:strVal val="visible"/>
                                      </p:to>
                                    </p:set>
                                    <p:animEffect transition="in" filter="fade">
                                      <p:cBhvr>
                                        <p:cTn id="160" dur="400"/>
                                        <p:tgtEl>
                                          <p:spTgt spid="59"/>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60"/>
                                        </p:tgtEl>
                                        <p:attrNameLst>
                                          <p:attrName>style.visibility</p:attrName>
                                        </p:attrNameLst>
                                      </p:cBhvr>
                                      <p:to>
                                        <p:strVal val="visible"/>
                                      </p:to>
                                    </p:set>
                                    <p:animEffect transition="in" filter="fade">
                                      <p:cBhvr>
                                        <p:cTn id="163" dur="400"/>
                                        <p:tgtEl>
                                          <p:spTgt spid="60"/>
                                        </p:tgtEl>
                                      </p:cBhvr>
                                    </p:animEffect>
                                  </p:childTnLst>
                                </p:cTn>
                              </p:par>
                              <p:par>
                                <p:cTn id="164" presetID="10" presetClass="entr" presetSubtype="0" fill="hold" nodeType="withEffect">
                                  <p:stCondLst>
                                    <p:cond delay="0"/>
                                  </p:stCondLst>
                                  <p:childTnLst>
                                    <p:set>
                                      <p:cBhvr>
                                        <p:cTn id="165" dur="1" fill="hold">
                                          <p:stCondLst>
                                            <p:cond delay="0"/>
                                          </p:stCondLst>
                                        </p:cTn>
                                        <p:tgtEl>
                                          <p:spTgt spid="61"/>
                                        </p:tgtEl>
                                        <p:attrNameLst>
                                          <p:attrName>style.visibility</p:attrName>
                                        </p:attrNameLst>
                                      </p:cBhvr>
                                      <p:to>
                                        <p:strVal val="visible"/>
                                      </p:to>
                                    </p:set>
                                    <p:animEffect transition="in" filter="fade">
                                      <p:cBhvr>
                                        <p:cTn id="166" dur="400"/>
                                        <p:tgtEl>
                                          <p:spTgt spid="61"/>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62"/>
                                        </p:tgtEl>
                                        <p:attrNameLst>
                                          <p:attrName>style.visibility</p:attrName>
                                        </p:attrNameLst>
                                      </p:cBhvr>
                                      <p:to>
                                        <p:strVal val="visible"/>
                                      </p:to>
                                    </p:set>
                                    <p:animEffect transition="in" filter="fade">
                                      <p:cBhvr>
                                        <p:cTn id="169" dur="400"/>
                                        <p:tgtEl>
                                          <p:spTgt spid="62"/>
                                        </p:tgtEl>
                                      </p:cBhvr>
                                    </p:animEffect>
                                  </p:childTnLst>
                                </p:cTn>
                              </p:par>
                              <p:par>
                                <p:cTn id="170" presetID="10" presetClass="entr" presetSubtype="0" fill="hold" nodeType="withEffect">
                                  <p:stCondLst>
                                    <p:cond delay="0"/>
                                  </p:stCondLst>
                                  <p:childTnLst>
                                    <p:set>
                                      <p:cBhvr>
                                        <p:cTn id="171" dur="1" fill="hold">
                                          <p:stCondLst>
                                            <p:cond delay="0"/>
                                          </p:stCondLst>
                                        </p:cTn>
                                        <p:tgtEl>
                                          <p:spTgt spid="63"/>
                                        </p:tgtEl>
                                        <p:attrNameLst>
                                          <p:attrName>style.visibility</p:attrName>
                                        </p:attrNameLst>
                                      </p:cBhvr>
                                      <p:to>
                                        <p:strVal val="visible"/>
                                      </p:to>
                                    </p:set>
                                    <p:animEffect transition="in" filter="fade">
                                      <p:cBhvr>
                                        <p:cTn id="172" dur="400"/>
                                        <p:tgtEl>
                                          <p:spTgt spid="63"/>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64"/>
                                        </p:tgtEl>
                                        <p:attrNameLst>
                                          <p:attrName>style.visibility</p:attrName>
                                        </p:attrNameLst>
                                      </p:cBhvr>
                                      <p:to>
                                        <p:strVal val="visible"/>
                                      </p:to>
                                    </p:set>
                                    <p:animEffect transition="in" filter="fade">
                                      <p:cBhvr>
                                        <p:cTn id="175" dur="400"/>
                                        <p:tgtEl>
                                          <p:spTgt spid="64"/>
                                        </p:tgtEl>
                                      </p:cBhvr>
                                    </p:animEffect>
                                  </p:childTnLst>
                                </p:cTn>
                              </p:par>
                              <p:par>
                                <p:cTn id="176" presetID="10" presetClass="entr" presetSubtype="0" fill="hold" nodeType="withEffect">
                                  <p:stCondLst>
                                    <p:cond delay="0"/>
                                  </p:stCondLst>
                                  <p:childTnLst>
                                    <p:set>
                                      <p:cBhvr>
                                        <p:cTn id="177" dur="1" fill="hold">
                                          <p:stCondLst>
                                            <p:cond delay="0"/>
                                          </p:stCondLst>
                                        </p:cTn>
                                        <p:tgtEl>
                                          <p:spTgt spid="65"/>
                                        </p:tgtEl>
                                        <p:attrNameLst>
                                          <p:attrName>style.visibility</p:attrName>
                                        </p:attrNameLst>
                                      </p:cBhvr>
                                      <p:to>
                                        <p:strVal val="visible"/>
                                      </p:to>
                                    </p:set>
                                    <p:animEffect transition="in" filter="fade">
                                      <p:cBhvr>
                                        <p:cTn id="178" dur="400"/>
                                        <p:tgtEl>
                                          <p:spTgt spid="65"/>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66"/>
                                        </p:tgtEl>
                                        <p:attrNameLst>
                                          <p:attrName>style.visibility</p:attrName>
                                        </p:attrNameLst>
                                      </p:cBhvr>
                                      <p:to>
                                        <p:strVal val="visible"/>
                                      </p:to>
                                    </p:set>
                                    <p:animEffect transition="in" filter="fade">
                                      <p:cBhvr>
                                        <p:cTn id="181" dur="400"/>
                                        <p:tgtEl>
                                          <p:spTgt spid="66"/>
                                        </p:tgtEl>
                                      </p:cBhvr>
                                    </p:animEffect>
                                  </p:childTnLst>
                                </p:cTn>
                              </p:par>
                              <p:par>
                                <p:cTn id="182" presetID="10" presetClass="entr" presetSubtype="0" fill="hold" nodeType="withEffect">
                                  <p:stCondLst>
                                    <p:cond delay="0"/>
                                  </p:stCondLst>
                                  <p:childTnLst>
                                    <p:set>
                                      <p:cBhvr>
                                        <p:cTn id="183" dur="1" fill="hold">
                                          <p:stCondLst>
                                            <p:cond delay="0"/>
                                          </p:stCondLst>
                                        </p:cTn>
                                        <p:tgtEl>
                                          <p:spTgt spid="67"/>
                                        </p:tgtEl>
                                        <p:attrNameLst>
                                          <p:attrName>style.visibility</p:attrName>
                                        </p:attrNameLst>
                                      </p:cBhvr>
                                      <p:to>
                                        <p:strVal val="visible"/>
                                      </p:to>
                                    </p:set>
                                    <p:animEffect transition="in" filter="fade">
                                      <p:cBhvr>
                                        <p:cTn id="184" dur="400"/>
                                        <p:tgtEl>
                                          <p:spTgt spid="67"/>
                                        </p:tgtEl>
                                      </p:cBhvr>
                                    </p:animEffect>
                                  </p:childTnLst>
                                </p:cTn>
                              </p:par>
                              <p:par>
                                <p:cTn id="185" presetID="10" presetClass="entr" presetSubtype="0" fill="hold" nodeType="withEffect">
                                  <p:stCondLst>
                                    <p:cond delay="0"/>
                                  </p:stCondLst>
                                  <p:childTnLst>
                                    <p:set>
                                      <p:cBhvr>
                                        <p:cTn id="186" dur="1" fill="hold">
                                          <p:stCondLst>
                                            <p:cond delay="0"/>
                                          </p:stCondLst>
                                        </p:cTn>
                                        <p:tgtEl>
                                          <p:spTgt spid="68"/>
                                        </p:tgtEl>
                                        <p:attrNameLst>
                                          <p:attrName>style.visibility</p:attrName>
                                        </p:attrNameLst>
                                      </p:cBhvr>
                                      <p:to>
                                        <p:strVal val="visible"/>
                                      </p:to>
                                    </p:set>
                                    <p:animEffect transition="in" filter="fade">
                                      <p:cBhvr>
                                        <p:cTn id="187" dur="400"/>
                                        <p:tgtEl>
                                          <p:spTgt spid="68"/>
                                        </p:tgtEl>
                                      </p:cBhvr>
                                    </p:animEffect>
                                  </p:childTnLst>
                                </p:cTn>
                              </p:par>
                              <p:par>
                                <p:cTn id="188" presetID="10" presetClass="entr" presetSubtype="0" fill="hold" grpId="0" nodeType="withEffect">
                                  <p:stCondLst>
                                    <p:cond delay="0"/>
                                  </p:stCondLst>
                                  <p:childTnLst>
                                    <p:set>
                                      <p:cBhvr>
                                        <p:cTn id="189" dur="1" fill="hold">
                                          <p:stCondLst>
                                            <p:cond delay="0"/>
                                          </p:stCondLst>
                                        </p:cTn>
                                        <p:tgtEl>
                                          <p:spTgt spid="69"/>
                                        </p:tgtEl>
                                        <p:attrNameLst>
                                          <p:attrName>style.visibility</p:attrName>
                                        </p:attrNameLst>
                                      </p:cBhvr>
                                      <p:to>
                                        <p:strVal val="visible"/>
                                      </p:to>
                                    </p:set>
                                    <p:animEffect transition="in" filter="fade">
                                      <p:cBhvr>
                                        <p:cTn id="190" dur="400"/>
                                        <p:tgtEl>
                                          <p:spTgt spid="69"/>
                                        </p:tgtEl>
                                      </p:cBhvr>
                                    </p:animEffect>
                                  </p:childTnLst>
                                </p:cTn>
                              </p:par>
                              <p:par>
                                <p:cTn id="191" presetID="10" presetClass="entr" presetSubtype="0" fill="hold" grpId="0" nodeType="withEffect">
                                  <p:stCondLst>
                                    <p:cond delay="0"/>
                                  </p:stCondLst>
                                  <p:childTnLst>
                                    <p:set>
                                      <p:cBhvr>
                                        <p:cTn id="192" dur="1" fill="hold">
                                          <p:stCondLst>
                                            <p:cond delay="0"/>
                                          </p:stCondLst>
                                        </p:cTn>
                                        <p:tgtEl>
                                          <p:spTgt spid="70"/>
                                        </p:tgtEl>
                                        <p:attrNameLst>
                                          <p:attrName>style.visibility</p:attrName>
                                        </p:attrNameLst>
                                      </p:cBhvr>
                                      <p:to>
                                        <p:strVal val="visible"/>
                                      </p:to>
                                    </p:set>
                                    <p:animEffect transition="in" filter="fade">
                                      <p:cBhvr>
                                        <p:cTn id="193" dur="400"/>
                                        <p:tgtEl>
                                          <p:spTgt spid="70"/>
                                        </p:tgtEl>
                                      </p:cBhvr>
                                    </p:animEffect>
                                  </p:childTnLst>
                                </p:cTn>
                              </p:par>
                            </p:childTnLst>
                          </p:cTn>
                        </p:par>
                      </p:childTnLst>
                    </p:cTn>
                  </p:par>
                  <p:par>
                    <p:cTn id="241" fill="hold">
                      <p:stCondLst>
                        <p:cond delay="indefinite"/>
                      </p:stCondLst>
                      <p:childTnLst>
                        <p:par>
                          <p:cTn id="242" fill="hold">
                            <p:stCondLst>
                              <p:cond delay="0"/>
                            </p:stCondLst>
                            <p:childTnLst>
                              <p:par>
                                <p:cTn id="196" presetID="10" presetClass="entr" presetSubtype="0" fill="hold" grpId="0" nodeType="clickEffect">
                                  <p:stCondLst>
                                    <p:cond delay="0"/>
                                  </p:stCondLst>
                                  <p:childTnLst>
                                    <p:set>
                                      <p:cBhvr>
                                        <p:cTn id="197" dur="1" fill="hold">
                                          <p:stCondLst>
                                            <p:cond delay="0"/>
                                          </p:stCondLst>
                                        </p:cTn>
                                        <p:tgtEl>
                                          <p:spTgt spid="71"/>
                                        </p:tgtEl>
                                        <p:attrNameLst>
                                          <p:attrName>style.visibility</p:attrName>
                                        </p:attrNameLst>
                                      </p:cBhvr>
                                      <p:to>
                                        <p:strVal val="visible"/>
                                      </p:to>
                                    </p:set>
                                    <p:animEffect transition="in" filter="fade">
                                      <p:cBhvr>
                                        <p:cTn id="198" dur="400"/>
                                        <p:tgtEl>
                                          <p:spTgt spid="71"/>
                                        </p:tgtEl>
                                      </p:cBhvr>
                                    </p:animEffect>
                                  </p:childTnLst>
                                </p:cTn>
                              </p:par>
                              <p:par>
                                <p:cTn id="199" presetID="10" presetClass="entr" presetSubtype="0" fill="hold" nodeType="withEffect">
                                  <p:stCondLst>
                                    <p:cond delay="0"/>
                                  </p:stCondLst>
                                  <p:childTnLst>
                                    <p:set>
                                      <p:cBhvr>
                                        <p:cTn id="200" dur="1" fill="hold">
                                          <p:stCondLst>
                                            <p:cond delay="0"/>
                                          </p:stCondLst>
                                        </p:cTn>
                                        <p:tgtEl>
                                          <p:spTgt spid="72"/>
                                        </p:tgtEl>
                                        <p:attrNameLst>
                                          <p:attrName>style.visibility</p:attrName>
                                        </p:attrNameLst>
                                      </p:cBhvr>
                                      <p:to>
                                        <p:strVal val="visible"/>
                                      </p:to>
                                    </p:set>
                                    <p:animEffect transition="in" filter="fade">
                                      <p:cBhvr>
                                        <p:cTn id="201" dur="400"/>
                                        <p:tgtEl>
                                          <p:spTgt spid="72"/>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73"/>
                                        </p:tgtEl>
                                        <p:attrNameLst>
                                          <p:attrName>style.visibility</p:attrName>
                                        </p:attrNameLst>
                                      </p:cBhvr>
                                      <p:to>
                                        <p:strVal val="visible"/>
                                      </p:to>
                                    </p:set>
                                    <p:animEffect transition="in" filter="fade">
                                      <p:cBhvr>
                                        <p:cTn id="204" dur="400"/>
                                        <p:tgtEl>
                                          <p:spTgt spid="73"/>
                                        </p:tgtEl>
                                      </p:cBhvr>
                                    </p:animEffect>
                                  </p:childTnLst>
                                </p:cTn>
                              </p:par>
                              <p:par>
                                <p:cTn id="205" presetID="10" presetClass="entr" presetSubtype="0" fill="hold" nodeType="withEffect">
                                  <p:stCondLst>
                                    <p:cond delay="0"/>
                                  </p:stCondLst>
                                  <p:childTnLst>
                                    <p:set>
                                      <p:cBhvr>
                                        <p:cTn id="206" dur="1" fill="hold">
                                          <p:stCondLst>
                                            <p:cond delay="0"/>
                                          </p:stCondLst>
                                        </p:cTn>
                                        <p:tgtEl>
                                          <p:spTgt spid="74"/>
                                        </p:tgtEl>
                                        <p:attrNameLst>
                                          <p:attrName>style.visibility</p:attrName>
                                        </p:attrNameLst>
                                      </p:cBhvr>
                                      <p:to>
                                        <p:strVal val="visible"/>
                                      </p:to>
                                    </p:set>
                                    <p:animEffect transition="in" filter="fade">
                                      <p:cBhvr>
                                        <p:cTn id="207" dur="400"/>
                                        <p:tgtEl>
                                          <p:spTgt spid="74"/>
                                        </p:tgtEl>
                                      </p:cBhvr>
                                    </p:animEffect>
                                  </p:childTnLst>
                                </p:cTn>
                              </p:par>
                              <p:par>
                                <p:cTn id="208" presetID="10" presetClass="entr" presetSubtype="0" fill="hold" grpId="0" nodeType="withEffect">
                                  <p:stCondLst>
                                    <p:cond delay="0"/>
                                  </p:stCondLst>
                                  <p:childTnLst>
                                    <p:set>
                                      <p:cBhvr>
                                        <p:cTn id="209" dur="1" fill="hold">
                                          <p:stCondLst>
                                            <p:cond delay="0"/>
                                          </p:stCondLst>
                                        </p:cTn>
                                        <p:tgtEl>
                                          <p:spTgt spid="75"/>
                                        </p:tgtEl>
                                        <p:attrNameLst>
                                          <p:attrName>style.visibility</p:attrName>
                                        </p:attrNameLst>
                                      </p:cBhvr>
                                      <p:to>
                                        <p:strVal val="visible"/>
                                      </p:to>
                                    </p:set>
                                    <p:animEffect transition="in" filter="fade">
                                      <p:cBhvr>
                                        <p:cTn id="210" dur="400"/>
                                        <p:tgtEl>
                                          <p:spTgt spid="75"/>
                                        </p:tgtEl>
                                      </p:cBhvr>
                                    </p:animEffect>
                                  </p:childTnLst>
                                </p:cTn>
                              </p:par>
                              <p:par>
                                <p:cTn id="211" presetID="10" presetClass="entr" presetSubtype="0" fill="hold" nodeType="withEffect">
                                  <p:stCondLst>
                                    <p:cond delay="0"/>
                                  </p:stCondLst>
                                  <p:childTnLst>
                                    <p:set>
                                      <p:cBhvr>
                                        <p:cTn id="212" dur="1" fill="hold">
                                          <p:stCondLst>
                                            <p:cond delay="0"/>
                                          </p:stCondLst>
                                        </p:cTn>
                                        <p:tgtEl>
                                          <p:spTgt spid="76"/>
                                        </p:tgtEl>
                                        <p:attrNameLst>
                                          <p:attrName>style.visibility</p:attrName>
                                        </p:attrNameLst>
                                      </p:cBhvr>
                                      <p:to>
                                        <p:strVal val="visible"/>
                                      </p:to>
                                    </p:set>
                                    <p:animEffect transition="in" filter="fade">
                                      <p:cBhvr>
                                        <p:cTn id="213" dur="400"/>
                                        <p:tgtEl>
                                          <p:spTgt spid="76"/>
                                        </p:tgtEl>
                                      </p:cBhvr>
                                    </p:animEffect>
                                  </p:childTnLst>
                                </p:cTn>
                              </p:par>
                              <p:par>
                                <p:cTn id="214" presetID="10" presetClass="entr" presetSubtype="0" fill="hold" grpId="0" nodeType="withEffect">
                                  <p:stCondLst>
                                    <p:cond delay="0"/>
                                  </p:stCondLst>
                                  <p:childTnLst>
                                    <p:set>
                                      <p:cBhvr>
                                        <p:cTn id="215" dur="1" fill="hold">
                                          <p:stCondLst>
                                            <p:cond delay="0"/>
                                          </p:stCondLst>
                                        </p:cTn>
                                        <p:tgtEl>
                                          <p:spTgt spid="77"/>
                                        </p:tgtEl>
                                        <p:attrNameLst>
                                          <p:attrName>style.visibility</p:attrName>
                                        </p:attrNameLst>
                                      </p:cBhvr>
                                      <p:to>
                                        <p:strVal val="visible"/>
                                      </p:to>
                                    </p:set>
                                    <p:animEffect transition="in" filter="fade">
                                      <p:cBhvr>
                                        <p:cTn id="216" dur="400"/>
                                        <p:tgtEl>
                                          <p:spTgt spid="77"/>
                                        </p:tgtEl>
                                      </p:cBhvr>
                                    </p:animEffect>
                                  </p:childTnLst>
                                </p:cTn>
                              </p:par>
                              <p:par>
                                <p:cTn id="217" presetID="10" presetClass="entr" presetSubtype="0" fill="hold" nodeType="withEffect">
                                  <p:stCondLst>
                                    <p:cond delay="0"/>
                                  </p:stCondLst>
                                  <p:childTnLst>
                                    <p:set>
                                      <p:cBhvr>
                                        <p:cTn id="218" dur="1" fill="hold">
                                          <p:stCondLst>
                                            <p:cond delay="0"/>
                                          </p:stCondLst>
                                        </p:cTn>
                                        <p:tgtEl>
                                          <p:spTgt spid="78"/>
                                        </p:tgtEl>
                                        <p:attrNameLst>
                                          <p:attrName>style.visibility</p:attrName>
                                        </p:attrNameLst>
                                      </p:cBhvr>
                                      <p:to>
                                        <p:strVal val="visible"/>
                                      </p:to>
                                    </p:set>
                                    <p:animEffect transition="in" filter="fade">
                                      <p:cBhvr>
                                        <p:cTn id="219" dur="400"/>
                                        <p:tgtEl>
                                          <p:spTgt spid="78"/>
                                        </p:tgtEl>
                                      </p:cBhvr>
                                    </p:animEffect>
                                  </p:childTnLst>
                                </p:cTn>
                              </p:par>
                              <p:par>
                                <p:cTn id="220" presetID="10" presetClass="entr" presetSubtype="0" fill="hold" grpId="0" nodeType="withEffect">
                                  <p:stCondLst>
                                    <p:cond delay="0"/>
                                  </p:stCondLst>
                                  <p:childTnLst>
                                    <p:set>
                                      <p:cBhvr>
                                        <p:cTn id="221" dur="1" fill="hold">
                                          <p:stCondLst>
                                            <p:cond delay="0"/>
                                          </p:stCondLst>
                                        </p:cTn>
                                        <p:tgtEl>
                                          <p:spTgt spid="79"/>
                                        </p:tgtEl>
                                        <p:attrNameLst>
                                          <p:attrName>style.visibility</p:attrName>
                                        </p:attrNameLst>
                                      </p:cBhvr>
                                      <p:to>
                                        <p:strVal val="visible"/>
                                      </p:to>
                                    </p:set>
                                    <p:animEffect transition="in" filter="fade">
                                      <p:cBhvr>
                                        <p:cTn id="222" dur="400"/>
                                        <p:tgtEl>
                                          <p:spTgt spid="79"/>
                                        </p:tgtEl>
                                      </p:cBhvr>
                                    </p:animEffect>
                                  </p:childTnLst>
                                </p:cTn>
                              </p:par>
                              <p:par>
                                <p:cTn id="223" presetID="10" presetClass="entr" presetSubtype="0" fill="hold" nodeType="withEffect">
                                  <p:stCondLst>
                                    <p:cond delay="0"/>
                                  </p:stCondLst>
                                  <p:childTnLst>
                                    <p:set>
                                      <p:cBhvr>
                                        <p:cTn id="224" dur="1" fill="hold">
                                          <p:stCondLst>
                                            <p:cond delay="0"/>
                                          </p:stCondLst>
                                        </p:cTn>
                                        <p:tgtEl>
                                          <p:spTgt spid="80"/>
                                        </p:tgtEl>
                                        <p:attrNameLst>
                                          <p:attrName>style.visibility</p:attrName>
                                        </p:attrNameLst>
                                      </p:cBhvr>
                                      <p:to>
                                        <p:strVal val="visible"/>
                                      </p:to>
                                    </p:set>
                                    <p:animEffect transition="in" filter="fade">
                                      <p:cBhvr>
                                        <p:cTn id="225" dur="400"/>
                                        <p:tgtEl>
                                          <p:spTgt spid="80"/>
                                        </p:tgtEl>
                                      </p:cBhvr>
                                    </p:animEffect>
                                  </p:childTnLst>
                                </p:cTn>
                              </p:par>
                              <p:par>
                                <p:cTn id="226" presetID="10" presetClass="entr" presetSubtype="0" fill="hold" nodeType="withEffect">
                                  <p:stCondLst>
                                    <p:cond delay="0"/>
                                  </p:stCondLst>
                                  <p:childTnLst>
                                    <p:set>
                                      <p:cBhvr>
                                        <p:cTn id="227" dur="1" fill="hold">
                                          <p:stCondLst>
                                            <p:cond delay="0"/>
                                          </p:stCondLst>
                                        </p:cTn>
                                        <p:tgtEl>
                                          <p:spTgt spid="81"/>
                                        </p:tgtEl>
                                        <p:attrNameLst>
                                          <p:attrName>style.visibility</p:attrName>
                                        </p:attrNameLst>
                                      </p:cBhvr>
                                      <p:to>
                                        <p:strVal val="visible"/>
                                      </p:to>
                                    </p:set>
                                    <p:animEffect transition="in" filter="fade">
                                      <p:cBhvr>
                                        <p:cTn id="228" dur="400"/>
                                        <p:tgtEl>
                                          <p:spTgt spid="81"/>
                                        </p:tgtEl>
                                      </p:cBhvr>
                                    </p:animEffect>
                                  </p:childTnLst>
                                </p:cTn>
                              </p:par>
                              <p:par>
                                <p:cTn id="229" presetID="10" presetClass="entr" presetSubtype="0" fill="hold" nodeType="withEffect">
                                  <p:stCondLst>
                                    <p:cond delay="0"/>
                                  </p:stCondLst>
                                  <p:childTnLst>
                                    <p:set>
                                      <p:cBhvr>
                                        <p:cTn id="230" dur="1" fill="hold">
                                          <p:stCondLst>
                                            <p:cond delay="0"/>
                                          </p:stCondLst>
                                        </p:cTn>
                                        <p:tgtEl>
                                          <p:spTgt spid="82"/>
                                        </p:tgtEl>
                                        <p:attrNameLst>
                                          <p:attrName>style.visibility</p:attrName>
                                        </p:attrNameLst>
                                      </p:cBhvr>
                                      <p:to>
                                        <p:strVal val="visible"/>
                                      </p:to>
                                    </p:set>
                                    <p:animEffect transition="in" filter="fade">
                                      <p:cBhvr>
                                        <p:cTn id="231" dur="400"/>
                                        <p:tgtEl>
                                          <p:spTgt spid="82"/>
                                        </p:tgtEl>
                                      </p:cBhvr>
                                    </p:animEffect>
                                  </p:childTnLst>
                                </p:cTn>
                              </p:par>
                              <p:par>
                                <p:cTn id="232" presetID="10" presetClass="entr" presetSubtype="0" fill="hold" nodeType="withEffect">
                                  <p:stCondLst>
                                    <p:cond delay="0"/>
                                  </p:stCondLst>
                                  <p:childTnLst>
                                    <p:set>
                                      <p:cBhvr>
                                        <p:cTn id="233" dur="1" fill="hold">
                                          <p:stCondLst>
                                            <p:cond delay="0"/>
                                          </p:stCondLst>
                                        </p:cTn>
                                        <p:tgtEl>
                                          <p:spTgt spid="83"/>
                                        </p:tgtEl>
                                        <p:attrNameLst>
                                          <p:attrName>style.visibility</p:attrName>
                                        </p:attrNameLst>
                                      </p:cBhvr>
                                      <p:to>
                                        <p:strVal val="visible"/>
                                      </p:to>
                                    </p:set>
                                    <p:animEffect transition="in" filter="fade">
                                      <p:cBhvr>
                                        <p:cTn id="234" dur="400"/>
                                        <p:tgtEl>
                                          <p:spTgt spid="83"/>
                                        </p:tgtEl>
                                      </p:cBhvr>
                                    </p:animEffect>
                                  </p:childTnLst>
                                </p:cTn>
                              </p:par>
                              <p:par>
                                <p:cTn id="235" presetID="10" presetClass="entr" presetSubtype="0" fill="hold" grpId="0" nodeType="withEffect">
                                  <p:stCondLst>
                                    <p:cond delay="0"/>
                                  </p:stCondLst>
                                  <p:childTnLst>
                                    <p:set>
                                      <p:cBhvr>
                                        <p:cTn id="236" dur="1" fill="hold">
                                          <p:stCondLst>
                                            <p:cond delay="0"/>
                                          </p:stCondLst>
                                        </p:cTn>
                                        <p:tgtEl>
                                          <p:spTgt spid="84"/>
                                        </p:tgtEl>
                                        <p:attrNameLst>
                                          <p:attrName>style.visibility</p:attrName>
                                        </p:attrNameLst>
                                      </p:cBhvr>
                                      <p:to>
                                        <p:strVal val="visible"/>
                                      </p:to>
                                    </p:set>
                                    <p:animEffect transition="in" filter="fade">
                                      <p:cBhvr>
                                        <p:cTn id="237" dur="400"/>
                                        <p:tgtEl>
                                          <p:spTgt spid="84"/>
                                        </p:tgtEl>
                                      </p:cBhvr>
                                    </p:animEffect>
                                  </p:childTnLst>
                                </p:cTn>
                              </p:par>
                              <p:par>
                                <p:cTn id="238" presetID="10" presetClass="entr" presetSubtype="0" fill="hold" grpId="0" nodeType="withEffect">
                                  <p:stCondLst>
                                    <p:cond delay="0"/>
                                  </p:stCondLst>
                                  <p:childTnLst>
                                    <p:set>
                                      <p:cBhvr>
                                        <p:cTn id="239" dur="1" fill="hold">
                                          <p:stCondLst>
                                            <p:cond delay="0"/>
                                          </p:stCondLst>
                                        </p:cTn>
                                        <p:tgtEl>
                                          <p:spTgt spid="85"/>
                                        </p:tgtEl>
                                        <p:attrNameLst>
                                          <p:attrName>style.visibility</p:attrName>
                                        </p:attrNameLst>
                                      </p:cBhvr>
                                      <p:to>
                                        <p:strVal val="visible"/>
                                      </p:to>
                                    </p:set>
                                    <p:animEffect transition="in" filter="fade">
                                      <p:cBhvr>
                                        <p:cTn id="240" dur="4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4" grpId="0" animBg="1"/>
      <p:bldP spid="16" grpId="0" animBg="1"/>
      <p:bldP spid="18" grpId="0" animBg="1"/>
      <p:bldP spid="20" grpId="0" animBg="1"/>
      <p:bldP spid="21" grpId="0" animBg="1"/>
      <p:bldP spid="22" grpId="0" animBg="1"/>
      <p:bldP spid="24" grpId="0" animBg="1"/>
      <p:bldP spid="26" grpId="0" animBg="1"/>
      <p:bldP spid="28" grpId="0" animBg="1"/>
      <p:bldP spid="30" grpId="0" animBg="1"/>
      <p:bldP spid="32" grpId="0" animBg="1"/>
      <p:bldP spid="33" grpId="0" animBg="1"/>
      <p:bldP spid="34" grpId="0" animBg="1"/>
      <p:bldP spid="36" grpId="0" animBg="1"/>
      <p:bldP spid="38" grpId="0" animBg="1"/>
      <p:bldP spid="40" grpId="0" animBg="1"/>
      <p:bldP spid="42" grpId="0" animBg="1"/>
      <p:bldP spid="44" grpId="0" animBg="1"/>
      <p:bldP spid="45" grpId="0" animBg="1"/>
      <p:bldP spid="46" grpId="0" animBg="1"/>
      <p:bldP spid="48" grpId="0" animBg="1"/>
      <p:bldP spid="50" grpId="0" animBg="1"/>
      <p:bldP spid="52" grpId="0" animBg="1"/>
      <p:bldP spid="54" grpId="0" animBg="1"/>
      <p:bldP spid="56" grpId="0" animBg="1"/>
      <p:bldP spid="57" grpId="0" animBg="1"/>
      <p:bldP spid="58" grpId="0" animBg="1"/>
      <p:bldP spid="60" grpId="0" animBg="1"/>
      <p:bldP spid="62" grpId="0" animBg="1"/>
      <p:bldP spid="64" grpId="0" animBg="1"/>
      <p:bldP spid="66" grpId="0" animBg="1"/>
      <p:bldP spid="69" grpId="0" animBg="1"/>
      <p:bldP spid="70" grpId="0" animBg="1"/>
      <p:bldP spid="71" grpId="0" animBg="1"/>
      <p:bldP spid="73" grpId="0" animBg="1"/>
      <p:bldP spid="75" grpId="0" animBg="1"/>
      <p:bldP spid="77" grpId="0" animBg="1"/>
      <p:bldP spid="79" grpId="0" animBg="1"/>
      <p:bldP spid="84" grpId="0" animBg="1"/>
      <p:bldP spid="8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502920"/>
            <a:ext cx="914400" cy="1005840"/>
          </a:xfrm>
          <a:prstGeom prst="rect">
            <a:avLst/>
          </a:prstGeom>
          <a:noFill/>
          <a:ln/>
        </p:spPr>
        <p:txBody>
          <a:bodyPr wrap="square" lIns="0" tIns="0" rIns="0" bIns="0" rtlCol="0" anchor="ctr"/>
          <a:lstStyle/>
          <a:p>
            <a:pPr indent="0" marL="0">
              <a:buNone/>
            </a:pPr>
            <a:r>
              <a:rPr lang="en-US" sz="6600" b="1" dirty="0">
                <a:solidFill>
                  <a:srgbClr val="FFD43B"/>
                </a:solidFill>
                <a:latin typeface="Cambria" pitchFamily="34" charset="0"/>
                <a:ea typeface="Cambria" pitchFamily="34" charset="-122"/>
                <a:cs typeface="Cambria" pitchFamily="34" charset="-120"/>
              </a:rPr>
              <a:t>2</a:t>
            </a:r>
            <a:endParaRPr lang="en-US" sz="6600" dirty="0"/>
          </a:p>
        </p:txBody>
      </p:sp>
      <p:sp>
        <p:nvSpPr>
          <p:cNvPr id="3" name="x"/>
          <p:cNvSpPr txBox="1"/>
          <p:nvPr/>
        </p:nvSpPr>
        <p:spPr>
          <a:xfrm>
            <a:off x="1371600" y="1005840"/>
            <a:ext cx="1097280" cy="457200"/>
          </a:xfrm>
          <a:prstGeom prst="rect">
            <a:avLst/>
          </a:prstGeom>
          <a:noFill/>
          <a:ln/>
        </p:spPr>
        <p:txBody>
          <a:bodyPr wrap="square" lIns="0" tIns="0" rIns="0" bIns="0" rtlCol="0" anchor="ctr"/>
          <a:lstStyle/>
          <a:p>
            <a:pPr indent="0" marL="0">
              <a:buNone/>
            </a:pPr>
            <a:r>
              <a:rPr lang="en-US" sz="1600" i="1" dirty="0">
                <a:solidFill>
                  <a:srgbClr val="C9D4E0"/>
                </a:solidFill>
                <a:latin typeface="Calibri" pitchFamily="34" charset="0"/>
                <a:ea typeface="Calibri" pitchFamily="34" charset="-122"/>
                <a:cs typeface="Calibri" pitchFamily="34" charset="-120"/>
              </a:rPr>
              <a:t>of 6</a:t>
            </a:r>
            <a:endParaRPr lang="en-US" sz="1600" dirty="0"/>
          </a:p>
        </p:txBody>
      </p:sp>
      <p:sp>
        <p:nvSpPr>
          <p:cNvPr id="4" name="x"/>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Changing lists</a:t>
            </a:r>
            <a:endParaRPr lang="en-US" sz="3600" dirty="0"/>
          </a:p>
        </p:txBody>
      </p:sp>
      <p:sp>
        <p:nvSpPr>
          <p:cNvPr id="5" name="x"/>
          <p:cNvSpPr txBox="1"/>
          <p:nvPr/>
        </p:nvSpPr>
        <p:spPr>
          <a:xfrm>
            <a:off x="548640" y="2148840"/>
            <a:ext cx="8046720" cy="502920"/>
          </a:xfrm>
          <a:prstGeom prst="rect">
            <a:avLst/>
          </a:prstGeom>
          <a:noFill/>
          <a:ln/>
        </p:spPr>
        <p:txBody>
          <a:bodyPr wrap="square" lIns="0" tIns="0" rIns="0" bIns="0" rtlCol="0" anchor="t"/>
          <a:lstStyle/>
          <a:p>
            <a:pPr indent="0" marL="0">
              <a:buNone/>
            </a:pPr>
            <a:r>
              <a:rPr lang="en-US" sz="1500" i="1" dirty="0">
                <a:solidFill>
                  <a:srgbClr val="FFD43B"/>
                </a:solidFill>
                <a:latin typeface="Calibri" pitchFamily="34" charset="0"/>
                <a:ea typeface="Calibri" pitchFamily="34" charset="-122"/>
                <a:cs typeface="Calibri" pitchFamily="34" charset="-120"/>
              </a:rPr>
              <a:t>Unlike a string or a tuple, a list can be changed in the same object, by adding, replacing and removing items.</a:t>
            </a:r>
            <a:endParaRPr lang="en-US" sz="1500" dirty="0"/>
          </a:p>
        </p:txBody>
      </p:sp>
      <p:sp>
        <p:nvSpPr>
          <p:cNvPr id="6" name="divmid|b1"/>
          <p:cNvSpPr txBox="1"/>
          <p:nvPr/>
        </p:nvSpPr>
        <p:spPr>
          <a:xfrm>
            <a:off x="5486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Adding and replacing</a:t>
            </a:r>
            <a:endParaRPr lang="en-US" sz="1500" dirty="0"/>
          </a:p>
        </p:txBody>
      </p:sp>
      <p:sp>
        <p:nvSpPr>
          <p:cNvPr id="7" name="divleafbox|b1"/>
          <p:cNvSpPr/>
          <p:nvPr/>
        </p:nvSpPr>
        <p:spPr>
          <a:xfrm>
            <a:off x="548640" y="3108960"/>
            <a:ext cx="3931920" cy="246888"/>
          </a:xfrm>
          <a:prstGeom prst="roundRect">
            <a:avLst>
              <a:gd name="adj" fmla="val 22222"/>
            </a:avLst>
          </a:prstGeom>
          <a:solidFill>
            <a:srgbClr val="2C3E54"/>
          </a:solidFill>
          <a:ln w="12700">
            <a:solidFill>
              <a:srgbClr val="3B5B87"/>
            </a:solidFill>
            <a:prstDash val="solid"/>
          </a:ln>
        </p:spPr>
      </p:sp>
      <p:sp>
        <p:nvSpPr>
          <p:cNvPr id="8" name="divleaf|b1"/>
          <p:cNvSpPr txBox="1"/>
          <p:nvPr/>
        </p:nvSpPr>
        <p:spPr>
          <a:xfrm>
            <a:off x="6400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Append method</a:t>
            </a:r>
            <a:endParaRPr lang="en-US" sz="1200" dirty="0"/>
          </a:p>
        </p:txBody>
      </p:sp>
      <p:sp>
        <p:nvSpPr>
          <p:cNvPr id="9" name="divleafbox|b1"/>
          <p:cNvSpPr/>
          <p:nvPr/>
        </p:nvSpPr>
        <p:spPr>
          <a:xfrm>
            <a:off x="548640" y="3392424"/>
            <a:ext cx="3931920" cy="246888"/>
          </a:xfrm>
          <a:prstGeom prst="roundRect">
            <a:avLst>
              <a:gd name="adj" fmla="val 22222"/>
            </a:avLst>
          </a:prstGeom>
          <a:solidFill>
            <a:srgbClr val="2C3E54"/>
          </a:solidFill>
          <a:ln w="12700">
            <a:solidFill>
              <a:srgbClr val="3B5B87"/>
            </a:solidFill>
            <a:prstDash val="solid"/>
          </a:ln>
        </p:spPr>
      </p:sp>
      <p:sp>
        <p:nvSpPr>
          <p:cNvPr id="10" name="divleaf|b1"/>
          <p:cNvSpPr txBox="1"/>
          <p:nvPr/>
        </p:nvSpPr>
        <p:spPr>
          <a:xfrm>
            <a:off x="6400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Insert method</a:t>
            </a:r>
            <a:endParaRPr lang="en-US" sz="1200" dirty="0"/>
          </a:p>
        </p:txBody>
      </p:sp>
      <p:sp>
        <p:nvSpPr>
          <p:cNvPr id="11" name="divleafbox|b1"/>
          <p:cNvSpPr/>
          <p:nvPr/>
        </p:nvSpPr>
        <p:spPr>
          <a:xfrm>
            <a:off x="548640" y="3675888"/>
            <a:ext cx="3931920" cy="246888"/>
          </a:xfrm>
          <a:prstGeom prst="roundRect">
            <a:avLst>
              <a:gd name="adj" fmla="val 22222"/>
            </a:avLst>
          </a:prstGeom>
          <a:solidFill>
            <a:srgbClr val="2C3E54"/>
          </a:solidFill>
          <a:ln w="12700">
            <a:solidFill>
              <a:srgbClr val="3B5B87"/>
            </a:solidFill>
            <a:prstDash val="solid"/>
          </a:ln>
        </p:spPr>
      </p:sp>
      <p:sp>
        <p:nvSpPr>
          <p:cNvPr id="12" name="divleaf|b1"/>
          <p:cNvSpPr txBox="1"/>
          <p:nvPr/>
        </p:nvSpPr>
        <p:spPr>
          <a:xfrm>
            <a:off x="640080" y="3675888"/>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Item assignment</a:t>
            </a:r>
            <a:endParaRPr lang="en-US" sz="1200" dirty="0"/>
          </a:p>
        </p:txBody>
      </p:sp>
      <p:sp>
        <p:nvSpPr>
          <p:cNvPr id="13" name="divleafbox|b1"/>
          <p:cNvSpPr/>
          <p:nvPr/>
        </p:nvSpPr>
        <p:spPr>
          <a:xfrm>
            <a:off x="548640" y="3959352"/>
            <a:ext cx="3931920" cy="246888"/>
          </a:xfrm>
          <a:prstGeom prst="roundRect">
            <a:avLst>
              <a:gd name="adj" fmla="val 22222"/>
            </a:avLst>
          </a:prstGeom>
          <a:solidFill>
            <a:srgbClr val="2C3E54"/>
          </a:solidFill>
          <a:ln w="12700">
            <a:solidFill>
              <a:srgbClr val="3B5B87"/>
            </a:solidFill>
            <a:prstDash val="solid"/>
          </a:ln>
        </p:spPr>
      </p:sp>
      <p:sp>
        <p:nvSpPr>
          <p:cNvPr id="14" name="divleaf|b1"/>
          <p:cNvSpPr txBox="1"/>
          <p:nvPr/>
        </p:nvSpPr>
        <p:spPr>
          <a:xfrm>
            <a:off x="640080" y="3959352"/>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Slice assignment</a:t>
            </a:r>
            <a:endParaRPr lang="en-US" sz="1200" dirty="0"/>
          </a:p>
        </p:txBody>
      </p:sp>
      <p:sp>
        <p:nvSpPr>
          <p:cNvPr id="15" name="divmid|b2"/>
          <p:cNvSpPr txBox="1"/>
          <p:nvPr/>
        </p:nvSpPr>
        <p:spPr>
          <a:xfrm>
            <a:off x="46634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Removing</a:t>
            </a:r>
            <a:endParaRPr lang="en-US" sz="1500" dirty="0"/>
          </a:p>
        </p:txBody>
      </p:sp>
      <p:sp>
        <p:nvSpPr>
          <p:cNvPr id="16" name="divleafbox|b2"/>
          <p:cNvSpPr/>
          <p:nvPr/>
        </p:nvSpPr>
        <p:spPr>
          <a:xfrm>
            <a:off x="4663440" y="3108960"/>
            <a:ext cx="3931920" cy="246888"/>
          </a:xfrm>
          <a:prstGeom prst="roundRect">
            <a:avLst>
              <a:gd name="adj" fmla="val 22222"/>
            </a:avLst>
          </a:prstGeom>
          <a:solidFill>
            <a:srgbClr val="2C3E54"/>
          </a:solidFill>
          <a:ln w="12700">
            <a:solidFill>
              <a:srgbClr val="3B5B87"/>
            </a:solidFill>
            <a:prstDash val="solid"/>
          </a:ln>
        </p:spPr>
      </p:sp>
      <p:sp>
        <p:nvSpPr>
          <p:cNvPr id="17" name="divleaf|b2"/>
          <p:cNvSpPr txBox="1"/>
          <p:nvPr/>
        </p:nvSpPr>
        <p:spPr>
          <a:xfrm>
            <a:off x="47548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Remove method</a:t>
            </a:r>
            <a:endParaRPr lang="en-US" sz="1200" dirty="0"/>
          </a:p>
        </p:txBody>
      </p:sp>
      <p:sp>
        <p:nvSpPr>
          <p:cNvPr id="18" name="divleafbox|b2"/>
          <p:cNvSpPr/>
          <p:nvPr/>
        </p:nvSpPr>
        <p:spPr>
          <a:xfrm>
            <a:off x="4663440" y="3392424"/>
            <a:ext cx="3931920" cy="246888"/>
          </a:xfrm>
          <a:prstGeom prst="roundRect">
            <a:avLst>
              <a:gd name="adj" fmla="val 22222"/>
            </a:avLst>
          </a:prstGeom>
          <a:solidFill>
            <a:srgbClr val="2C3E54"/>
          </a:solidFill>
          <a:ln w="12700">
            <a:solidFill>
              <a:srgbClr val="3B5B87"/>
            </a:solidFill>
            <a:prstDash val="solid"/>
          </a:ln>
        </p:spPr>
      </p:sp>
      <p:sp>
        <p:nvSpPr>
          <p:cNvPr id="19" name="divleaf|b2"/>
          <p:cNvSpPr txBox="1"/>
          <p:nvPr/>
        </p:nvSpPr>
        <p:spPr>
          <a:xfrm>
            <a:off x="47548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Pop method</a:t>
            </a:r>
            <a:endParaRPr lang="en-US" sz="1200" dirty="0"/>
          </a:p>
        </p:txBody>
      </p:sp>
      <p:sp>
        <p:nvSpPr>
          <p:cNvPr id="20" name="divleafbox|b2"/>
          <p:cNvSpPr/>
          <p:nvPr/>
        </p:nvSpPr>
        <p:spPr>
          <a:xfrm>
            <a:off x="4663440" y="3675888"/>
            <a:ext cx="3931920" cy="246888"/>
          </a:xfrm>
          <a:prstGeom prst="roundRect">
            <a:avLst>
              <a:gd name="adj" fmla="val 22222"/>
            </a:avLst>
          </a:prstGeom>
          <a:solidFill>
            <a:srgbClr val="2C3E54"/>
          </a:solidFill>
          <a:ln w="12700">
            <a:solidFill>
              <a:srgbClr val="3B5B87"/>
            </a:solidFill>
            <a:prstDash val="solid"/>
          </a:ln>
        </p:spPr>
      </p:sp>
      <p:sp>
        <p:nvSpPr>
          <p:cNvPr id="21" name="divleaf|b2"/>
          <p:cNvSpPr txBox="1"/>
          <p:nvPr/>
        </p:nvSpPr>
        <p:spPr>
          <a:xfrm>
            <a:off x="4754880" y="3675888"/>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Del statement</a:t>
            </a:r>
            <a:endParaRPr lang="en-US" sz="1200" dirty="0"/>
          </a:p>
        </p:txBody>
      </p:sp>
      <p:sp>
        <p:nvSpPr>
          <p:cNvPr id="22" name="x"/>
          <p:cNvSpPr/>
          <p:nvPr/>
        </p:nvSpPr>
        <p:spPr>
          <a:xfrm>
            <a:off x="548640" y="4572000"/>
            <a:ext cx="1267968" cy="64008"/>
          </a:xfrm>
          <a:prstGeom prst="rect">
            <a:avLst/>
          </a:prstGeom>
          <a:solidFill>
            <a:srgbClr val="4A5D75"/>
          </a:solidFill>
          <a:ln w="12700">
            <a:solidFill>
              <a:srgbClr val="4A5D75"/>
            </a:solidFill>
            <a:prstDash val="solid"/>
          </a:ln>
        </p:spPr>
      </p:sp>
      <p:sp>
        <p:nvSpPr>
          <p:cNvPr id="23" name="x"/>
          <p:cNvSpPr/>
          <p:nvPr/>
        </p:nvSpPr>
        <p:spPr>
          <a:xfrm>
            <a:off x="1889760" y="4572000"/>
            <a:ext cx="1267968" cy="64008"/>
          </a:xfrm>
          <a:prstGeom prst="rect">
            <a:avLst/>
          </a:prstGeom>
          <a:solidFill>
            <a:srgbClr val="FFD43B"/>
          </a:solidFill>
          <a:ln w="12700">
            <a:solidFill>
              <a:srgbClr val="FFD43B"/>
            </a:solidFill>
            <a:prstDash val="solid"/>
          </a:ln>
        </p:spPr>
      </p:sp>
      <p:sp>
        <p:nvSpPr>
          <p:cNvPr id="24" name="x"/>
          <p:cNvSpPr/>
          <p:nvPr/>
        </p:nvSpPr>
        <p:spPr>
          <a:xfrm>
            <a:off x="3230880" y="4572000"/>
            <a:ext cx="1267968" cy="64008"/>
          </a:xfrm>
          <a:prstGeom prst="rect">
            <a:avLst/>
          </a:prstGeom>
          <a:solidFill>
            <a:srgbClr val="4A5D75"/>
          </a:solidFill>
          <a:ln w="12700">
            <a:solidFill>
              <a:srgbClr val="4A5D75"/>
            </a:solidFill>
            <a:prstDash val="solid"/>
          </a:ln>
        </p:spPr>
      </p:sp>
      <p:sp>
        <p:nvSpPr>
          <p:cNvPr id="25" name="x"/>
          <p:cNvSpPr/>
          <p:nvPr/>
        </p:nvSpPr>
        <p:spPr>
          <a:xfrm>
            <a:off x="4572000" y="4572000"/>
            <a:ext cx="1267968" cy="64008"/>
          </a:xfrm>
          <a:prstGeom prst="rect">
            <a:avLst/>
          </a:prstGeom>
          <a:solidFill>
            <a:srgbClr val="4A5D75"/>
          </a:solidFill>
          <a:ln w="12700">
            <a:solidFill>
              <a:srgbClr val="4A5D75"/>
            </a:solidFill>
            <a:prstDash val="solid"/>
          </a:ln>
        </p:spPr>
      </p:sp>
      <p:sp>
        <p:nvSpPr>
          <p:cNvPr id="26" name="x"/>
          <p:cNvSpPr/>
          <p:nvPr/>
        </p:nvSpPr>
        <p:spPr>
          <a:xfrm>
            <a:off x="5913120" y="4572000"/>
            <a:ext cx="1267968" cy="64008"/>
          </a:xfrm>
          <a:prstGeom prst="rect">
            <a:avLst/>
          </a:prstGeom>
          <a:solidFill>
            <a:srgbClr val="4A5D75"/>
          </a:solidFill>
          <a:ln w="12700">
            <a:solidFill>
              <a:srgbClr val="4A5D75"/>
            </a:solidFill>
            <a:prstDash val="solid"/>
          </a:ln>
        </p:spPr>
      </p:sp>
      <p:sp>
        <p:nvSpPr>
          <p:cNvPr id="27" name="x"/>
          <p:cNvSpPr/>
          <p:nvPr/>
        </p:nvSpPr>
        <p:spPr>
          <a:xfrm>
            <a:off x="7254240" y="4572000"/>
            <a:ext cx="1267968" cy="64008"/>
          </a:xfrm>
          <a:prstGeom prst="rect">
            <a:avLst/>
          </a:prstGeom>
          <a:solidFill>
            <a:srgbClr val="4A5D75"/>
          </a:solidFill>
          <a:ln w="12700">
            <a:solidFill>
              <a:srgbClr val="4A5D75"/>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childTnLst>
                          </p:cTn>
                        </p:par>
                      </p:childTnLst>
                    </p:cTn>
                  </p:par>
                  <p:par>
                    <p:cTn id="53" fill="hold">
                      <p:stCondLst>
                        <p:cond delay="indefinite"/>
                      </p:stCondLst>
                      <p:childTnLst>
                        <p:par>
                          <p:cTn id="54"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par>
                                <p:cTn id="41" presetID="10" presetClass="entr" presetSubtype="0"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par>
                                <p:cTn id="47" presetID="10" presetClass="entr" presetSubtype="0"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14" grpId="0" animBg="1"/>
      <p:bldP spid="15" grpId="0" animBg="1"/>
      <p:bldP spid="17" grpId="0" animBg="1"/>
      <p:bldP spid="19" grpId="0" animBg="1"/>
      <p:bldP spid="2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Putting items in: the list itself changes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append and insert return None; assignment is a statement and has no value</a:t>
            </a:r>
            <a:endParaRPr lang="en-US" sz="1400" dirty="0"/>
          </a:p>
        </p:txBody>
      </p:sp>
      <p:sp>
        <p:nvSpPr>
          <p:cNvPr id="6" name="lanebox|b1"/>
          <p:cNvSpPr/>
          <p:nvPr/>
        </p:nvSpPr>
        <p:spPr>
          <a:xfrm>
            <a:off x="365760" y="1170432"/>
            <a:ext cx="8412480" cy="621792"/>
          </a:xfrm>
          <a:prstGeom prst="roundRect">
            <a:avLst>
              <a:gd name="adj" fmla="val 8824"/>
            </a:avLst>
          </a:prstGeom>
          <a:solidFill>
            <a:srgbClr val="FFFFFF"/>
          </a:solidFill>
          <a:ln w="9525">
            <a:solidFill>
              <a:srgbClr val="9AA8B8"/>
            </a:solidFill>
            <a:prstDash val="solid"/>
          </a:ln>
        </p:spPr>
      </p:sp>
      <p:sp>
        <p:nvSpPr>
          <p:cNvPr id="7" name="v:AddingAndReplacing:l0op|b1"/>
          <p:cNvSpPr txBox="1"/>
          <p:nvPr/>
        </p:nvSpPr>
        <p:spPr>
          <a:xfrm>
            <a:off x="457200" y="1188720"/>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spam.append('moose')</a:t>
            </a:r>
            <a:endParaRPr lang="en-US" sz="1250" dirty="0"/>
          </a:p>
        </p:txBody>
      </p:sp>
      <p:sp>
        <p:nvSpPr>
          <p:cNvPr id="8" name="v:AddingAndReplacing:l0cat|b1"/>
          <p:cNvSpPr txBox="1"/>
          <p:nvPr/>
        </p:nvSpPr>
        <p:spPr>
          <a:xfrm>
            <a:off x="3611880" y="1188720"/>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9" name="v:AddingAndReplacing:l0retbox:box|b1"/>
          <p:cNvSpPr/>
          <p:nvPr/>
        </p:nvSpPr>
        <p:spPr>
          <a:xfrm>
            <a:off x="6812280" y="1216152"/>
            <a:ext cx="1874520" cy="246888"/>
          </a:xfrm>
          <a:prstGeom prst="roundRect">
            <a:avLst>
              <a:gd name="adj" fmla="val 29630"/>
            </a:avLst>
          </a:prstGeom>
          <a:solidFill>
            <a:srgbClr val="FCEFD0"/>
          </a:solidFill>
          <a:ln w="12700">
            <a:solidFill>
              <a:srgbClr val="B7791F"/>
            </a:solidFill>
            <a:prstDash val="solid"/>
          </a:ln>
        </p:spPr>
      </p:sp>
      <p:sp>
        <p:nvSpPr>
          <p:cNvPr id="10" name="v:AddingAndReplacing:l0ret|b1"/>
          <p:cNvSpPr txBox="1"/>
          <p:nvPr/>
        </p:nvSpPr>
        <p:spPr>
          <a:xfrm>
            <a:off x="6812280" y="1216152"/>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None</a:t>
            </a:r>
            <a:endParaRPr lang="en-US" sz="1050" dirty="0"/>
          </a:p>
        </p:txBody>
      </p:sp>
      <p:sp>
        <p:nvSpPr>
          <p:cNvPr id="11" name="v:AddingAndReplacing:l0b0:box|b1"/>
          <p:cNvSpPr/>
          <p:nvPr/>
        </p:nvSpPr>
        <p:spPr>
          <a:xfrm>
            <a:off x="457200" y="1508760"/>
            <a:ext cx="777240" cy="228600"/>
          </a:xfrm>
          <a:prstGeom prst="roundRect">
            <a:avLst>
              <a:gd name="adj" fmla="val 20000"/>
            </a:avLst>
          </a:prstGeom>
          <a:solidFill>
            <a:srgbClr val="E3EEF8"/>
          </a:solidFill>
          <a:ln w="15875">
            <a:solidFill>
              <a:srgbClr val="306998"/>
            </a:solidFill>
            <a:prstDash val="solid"/>
          </a:ln>
        </p:spPr>
      </p:sp>
      <p:sp>
        <p:nvSpPr>
          <p:cNvPr id="12" name="v:AddingAndReplacing:l0b0|b1"/>
          <p:cNvSpPr txBox="1"/>
          <p:nvPr/>
        </p:nvSpPr>
        <p:spPr>
          <a:xfrm>
            <a:off x="475488"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13" name="v:AddingAndReplacing:l0b1:box|b1"/>
          <p:cNvSpPr/>
          <p:nvPr/>
        </p:nvSpPr>
        <p:spPr>
          <a:xfrm>
            <a:off x="1280160" y="1508760"/>
            <a:ext cx="777240" cy="228600"/>
          </a:xfrm>
          <a:prstGeom prst="roundRect">
            <a:avLst>
              <a:gd name="adj" fmla="val 20000"/>
            </a:avLst>
          </a:prstGeom>
          <a:solidFill>
            <a:srgbClr val="E3EEF8"/>
          </a:solidFill>
          <a:ln w="15875">
            <a:solidFill>
              <a:srgbClr val="306998"/>
            </a:solidFill>
            <a:prstDash val="solid"/>
          </a:ln>
        </p:spPr>
      </p:sp>
      <p:sp>
        <p:nvSpPr>
          <p:cNvPr id="14" name="v:AddingAndReplacing:l0b1|b1"/>
          <p:cNvSpPr txBox="1"/>
          <p:nvPr/>
        </p:nvSpPr>
        <p:spPr>
          <a:xfrm>
            <a:off x="1298448"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'dog'</a:t>
            </a:r>
            <a:endParaRPr lang="en-US" sz="1000" dirty="0"/>
          </a:p>
        </p:txBody>
      </p:sp>
      <p:sp>
        <p:nvSpPr>
          <p:cNvPr id="15" name="v:AddingAndReplacing:l0b2:box|b1"/>
          <p:cNvSpPr/>
          <p:nvPr/>
        </p:nvSpPr>
        <p:spPr>
          <a:xfrm>
            <a:off x="2103120" y="1508760"/>
            <a:ext cx="777240" cy="228600"/>
          </a:xfrm>
          <a:prstGeom prst="roundRect">
            <a:avLst>
              <a:gd name="adj" fmla="val 20000"/>
            </a:avLst>
          </a:prstGeom>
          <a:solidFill>
            <a:srgbClr val="E3EEF8"/>
          </a:solidFill>
          <a:ln w="15875">
            <a:solidFill>
              <a:srgbClr val="306998"/>
            </a:solidFill>
            <a:prstDash val="solid"/>
          </a:ln>
        </p:spPr>
      </p:sp>
      <p:sp>
        <p:nvSpPr>
          <p:cNvPr id="16" name="v:AddingAndReplacing:l0b2|b1"/>
          <p:cNvSpPr txBox="1"/>
          <p:nvPr/>
        </p:nvSpPr>
        <p:spPr>
          <a:xfrm>
            <a:off x="2121408"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17" name="arrow|b1"/>
          <p:cNvSpPr/>
          <p:nvPr/>
        </p:nvSpPr>
        <p:spPr>
          <a:xfrm>
            <a:off x="4069080" y="1623060"/>
            <a:ext cx="411480" cy="0"/>
          </a:xfrm>
          <a:prstGeom prst="line">
            <a:avLst/>
          </a:prstGeom>
          <a:noFill/>
          <a:ln w="31750">
            <a:solidFill>
              <a:srgbClr val="2E9E5B"/>
            </a:solidFill>
            <a:prstDash val="solid"/>
            <a:tailEnd type="triangle"/>
          </a:ln>
        </p:spPr>
      </p:sp>
      <p:sp>
        <p:nvSpPr>
          <p:cNvPr id="18" name="v:AddingAndReplacing:l0a0:box|b1"/>
          <p:cNvSpPr/>
          <p:nvPr/>
        </p:nvSpPr>
        <p:spPr>
          <a:xfrm>
            <a:off x="4590288" y="1508760"/>
            <a:ext cx="777240" cy="228600"/>
          </a:xfrm>
          <a:prstGeom prst="roundRect">
            <a:avLst>
              <a:gd name="adj" fmla="val 20000"/>
            </a:avLst>
          </a:prstGeom>
          <a:solidFill>
            <a:srgbClr val="E3EEF8"/>
          </a:solidFill>
          <a:ln w="15875">
            <a:solidFill>
              <a:srgbClr val="306998"/>
            </a:solidFill>
            <a:prstDash val="solid"/>
          </a:ln>
        </p:spPr>
      </p:sp>
      <p:sp>
        <p:nvSpPr>
          <p:cNvPr id="19" name="v:AddingAndReplacing:l0a0|b1"/>
          <p:cNvSpPr txBox="1"/>
          <p:nvPr/>
        </p:nvSpPr>
        <p:spPr>
          <a:xfrm>
            <a:off x="4608576"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20" name="v:AddingAndReplacing:l0a1:box|b1"/>
          <p:cNvSpPr/>
          <p:nvPr/>
        </p:nvSpPr>
        <p:spPr>
          <a:xfrm>
            <a:off x="5413248" y="1508760"/>
            <a:ext cx="777240" cy="228600"/>
          </a:xfrm>
          <a:prstGeom prst="roundRect">
            <a:avLst>
              <a:gd name="adj" fmla="val 20000"/>
            </a:avLst>
          </a:prstGeom>
          <a:solidFill>
            <a:srgbClr val="E3EEF8"/>
          </a:solidFill>
          <a:ln w="15875">
            <a:solidFill>
              <a:srgbClr val="306998"/>
            </a:solidFill>
            <a:prstDash val="solid"/>
          </a:ln>
        </p:spPr>
      </p:sp>
      <p:sp>
        <p:nvSpPr>
          <p:cNvPr id="21" name="v:AddingAndReplacing:l0a1|b1"/>
          <p:cNvSpPr txBox="1"/>
          <p:nvPr/>
        </p:nvSpPr>
        <p:spPr>
          <a:xfrm>
            <a:off x="5431536"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'dog'</a:t>
            </a:r>
            <a:endParaRPr lang="en-US" sz="1000" dirty="0"/>
          </a:p>
        </p:txBody>
      </p:sp>
      <p:sp>
        <p:nvSpPr>
          <p:cNvPr id="22" name="v:AddingAndReplacing:l0a2:box|b1"/>
          <p:cNvSpPr/>
          <p:nvPr/>
        </p:nvSpPr>
        <p:spPr>
          <a:xfrm>
            <a:off x="6236208" y="1508760"/>
            <a:ext cx="777240" cy="228600"/>
          </a:xfrm>
          <a:prstGeom prst="roundRect">
            <a:avLst>
              <a:gd name="adj" fmla="val 20000"/>
            </a:avLst>
          </a:prstGeom>
          <a:solidFill>
            <a:srgbClr val="E3EEF8"/>
          </a:solidFill>
          <a:ln w="15875">
            <a:solidFill>
              <a:srgbClr val="306998"/>
            </a:solidFill>
            <a:prstDash val="solid"/>
          </a:ln>
        </p:spPr>
      </p:sp>
      <p:sp>
        <p:nvSpPr>
          <p:cNvPr id="23" name="v:AddingAndReplacing:l0a2|b1"/>
          <p:cNvSpPr txBox="1"/>
          <p:nvPr/>
        </p:nvSpPr>
        <p:spPr>
          <a:xfrm>
            <a:off x="6254496"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24" name="v:AddingAndReplacing:l0a3:box|b1"/>
          <p:cNvSpPr/>
          <p:nvPr/>
        </p:nvSpPr>
        <p:spPr>
          <a:xfrm>
            <a:off x="7059168" y="1508760"/>
            <a:ext cx="777240" cy="228600"/>
          </a:xfrm>
          <a:prstGeom prst="roundRect">
            <a:avLst>
              <a:gd name="adj" fmla="val 20000"/>
            </a:avLst>
          </a:prstGeom>
          <a:solidFill>
            <a:srgbClr val="DDF3E6"/>
          </a:solidFill>
          <a:ln w="15875">
            <a:solidFill>
              <a:srgbClr val="2E9E5B"/>
            </a:solidFill>
            <a:prstDash val="solid"/>
          </a:ln>
        </p:spPr>
      </p:sp>
      <p:sp>
        <p:nvSpPr>
          <p:cNvPr id="25" name="v:AddingAndReplacing:l0a3|b1"/>
          <p:cNvSpPr txBox="1"/>
          <p:nvPr/>
        </p:nvSpPr>
        <p:spPr>
          <a:xfrm>
            <a:off x="7077456" y="1508760"/>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'moose'</a:t>
            </a:r>
            <a:endParaRPr lang="en-US" sz="1000" dirty="0"/>
          </a:p>
        </p:txBody>
      </p:sp>
      <p:sp>
        <p:nvSpPr>
          <p:cNvPr id="26" name="lanebox|b2"/>
          <p:cNvSpPr/>
          <p:nvPr/>
        </p:nvSpPr>
        <p:spPr>
          <a:xfrm>
            <a:off x="365760" y="1847088"/>
            <a:ext cx="8412480" cy="621792"/>
          </a:xfrm>
          <a:prstGeom prst="roundRect">
            <a:avLst>
              <a:gd name="adj" fmla="val 8824"/>
            </a:avLst>
          </a:prstGeom>
          <a:solidFill>
            <a:srgbClr val="FFFFFF"/>
          </a:solidFill>
          <a:ln w="9525">
            <a:solidFill>
              <a:srgbClr val="9AA8B8"/>
            </a:solidFill>
            <a:prstDash val="solid"/>
          </a:ln>
        </p:spPr>
      </p:sp>
      <p:sp>
        <p:nvSpPr>
          <p:cNvPr id="27" name="v:AddingAndReplacing:l1op|b2"/>
          <p:cNvSpPr txBox="1"/>
          <p:nvPr/>
        </p:nvSpPr>
        <p:spPr>
          <a:xfrm>
            <a:off x="457200" y="1865376"/>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spam.insert(1, 'chicken')</a:t>
            </a:r>
            <a:endParaRPr lang="en-US" sz="1250" dirty="0"/>
          </a:p>
        </p:txBody>
      </p:sp>
      <p:sp>
        <p:nvSpPr>
          <p:cNvPr id="28" name="v:AddingAndReplacing:l1cat|b2"/>
          <p:cNvSpPr txBox="1"/>
          <p:nvPr/>
        </p:nvSpPr>
        <p:spPr>
          <a:xfrm>
            <a:off x="3611880" y="1865376"/>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29" name="v:AddingAndReplacing:l1retbox:box|b2"/>
          <p:cNvSpPr/>
          <p:nvPr/>
        </p:nvSpPr>
        <p:spPr>
          <a:xfrm>
            <a:off x="6812280" y="1892808"/>
            <a:ext cx="1874520" cy="246888"/>
          </a:xfrm>
          <a:prstGeom prst="roundRect">
            <a:avLst>
              <a:gd name="adj" fmla="val 29630"/>
            </a:avLst>
          </a:prstGeom>
          <a:solidFill>
            <a:srgbClr val="FCEFD0"/>
          </a:solidFill>
          <a:ln w="12700">
            <a:solidFill>
              <a:srgbClr val="B7791F"/>
            </a:solidFill>
            <a:prstDash val="solid"/>
          </a:ln>
        </p:spPr>
      </p:sp>
      <p:sp>
        <p:nvSpPr>
          <p:cNvPr id="30" name="v:AddingAndReplacing:l1ret|b2"/>
          <p:cNvSpPr txBox="1"/>
          <p:nvPr/>
        </p:nvSpPr>
        <p:spPr>
          <a:xfrm>
            <a:off x="6812280" y="1892808"/>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None</a:t>
            </a:r>
            <a:endParaRPr lang="en-US" sz="1050" dirty="0"/>
          </a:p>
        </p:txBody>
      </p:sp>
      <p:sp>
        <p:nvSpPr>
          <p:cNvPr id="31" name="v:AddingAndReplacing:l1b0:box|b2"/>
          <p:cNvSpPr/>
          <p:nvPr/>
        </p:nvSpPr>
        <p:spPr>
          <a:xfrm>
            <a:off x="457200" y="2185416"/>
            <a:ext cx="777240" cy="228600"/>
          </a:xfrm>
          <a:prstGeom prst="roundRect">
            <a:avLst>
              <a:gd name="adj" fmla="val 20000"/>
            </a:avLst>
          </a:prstGeom>
          <a:solidFill>
            <a:srgbClr val="E3EEF8"/>
          </a:solidFill>
          <a:ln w="15875">
            <a:solidFill>
              <a:srgbClr val="306998"/>
            </a:solidFill>
            <a:prstDash val="solid"/>
          </a:ln>
        </p:spPr>
      </p:sp>
      <p:sp>
        <p:nvSpPr>
          <p:cNvPr id="32" name="v:AddingAndReplacing:l1b0|b2"/>
          <p:cNvSpPr txBox="1"/>
          <p:nvPr/>
        </p:nvSpPr>
        <p:spPr>
          <a:xfrm>
            <a:off x="475488" y="2185416"/>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33" name="v:AddingAndReplacing:l1b1:box|b2"/>
          <p:cNvSpPr/>
          <p:nvPr/>
        </p:nvSpPr>
        <p:spPr>
          <a:xfrm>
            <a:off x="1280160" y="2185416"/>
            <a:ext cx="777240" cy="228600"/>
          </a:xfrm>
          <a:prstGeom prst="roundRect">
            <a:avLst>
              <a:gd name="adj" fmla="val 20000"/>
            </a:avLst>
          </a:prstGeom>
          <a:solidFill>
            <a:srgbClr val="E3EEF8"/>
          </a:solidFill>
          <a:ln w="15875">
            <a:solidFill>
              <a:srgbClr val="306998"/>
            </a:solidFill>
            <a:prstDash val="solid"/>
          </a:ln>
        </p:spPr>
      </p:sp>
      <p:sp>
        <p:nvSpPr>
          <p:cNvPr id="34" name="v:AddingAndReplacing:l1b1|b2"/>
          <p:cNvSpPr txBox="1"/>
          <p:nvPr/>
        </p:nvSpPr>
        <p:spPr>
          <a:xfrm>
            <a:off x="1298448" y="2185416"/>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'dog'</a:t>
            </a:r>
            <a:endParaRPr lang="en-US" sz="1000" dirty="0"/>
          </a:p>
        </p:txBody>
      </p:sp>
      <p:sp>
        <p:nvSpPr>
          <p:cNvPr id="35" name="v:AddingAndReplacing:l1b2:box|b2"/>
          <p:cNvSpPr/>
          <p:nvPr/>
        </p:nvSpPr>
        <p:spPr>
          <a:xfrm>
            <a:off x="2103120" y="2185416"/>
            <a:ext cx="777240" cy="228600"/>
          </a:xfrm>
          <a:prstGeom prst="roundRect">
            <a:avLst>
              <a:gd name="adj" fmla="val 20000"/>
            </a:avLst>
          </a:prstGeom>
          <a:solidFill>
            <a:srgbClr val="E3EEF8"/>
          </a:solidFill>
          <a:ln w="15875">
            <a:solidFill>
              <a:srgbClr val="306998"/>
            </a:solidFill>
            <a:prstDash val="solid"/>
          </a:ln>
        </p:spPr>
      </p:sp>
      <p:sp>
        <p:nvSpPr>
          <p:cNvPr id="36" name="v:AddingAndReplacing:l1b2|b2"/>
          <p:cNvSpPr txBox="1"/>
          <p:nvPr/>
        </p:nvSpPr>
        <p:spPr>
          <a:xfrm>
            <a:off x="2121408" y="2185416"/>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37" name="arrow|b2"/>
          <p:cNvSpPr/>
          <p:nvPr/>
        </p:nvSpPr>
        <p:spPr>
          <a:xfrm>
            <a:off x="4069080" y="2299716"/>
            <a:ext cx="411480" cy="0"/>
          </a:xfrm>
          <a:prstGeom prst="line">
            <a:avLst/>
          </a:prstGeom>
          <a:noFill/>
          <a:ln w="31750">
            <a:solidFill>
              <a:srgbClr val="2E9E5B"/>
            </a:solidFill>
            <a:prstDash val="solid"/>
            <a:tailEnd type="triangle"/>
          </a:ln>
        </p:spPr>
      </p:sp>
      <p:sp>
        <p:nvSpPr>
          <p:cNvPr id="38" name="v:AddingAndReplacing:l1a0:box|b2"/>
          <p:cNvSpPr/>
          <p:nvPr/>
        </p:nvSpPr>
        <p:spPr>
          <a:xfrm>
            <a:off x="4590288" y="2185416"/>
            <a:ext cx="777240" cy="228600"/>
          </a:xfrm>
          <a:prstGeom prst="roundRect">
            <a:avLst>
              <a:gd name="adj" fmla="val 20000"/>
            </a:avLst>
          </a:prstGeom>
          <a:solidFill>
            <a:srgbClr val="E3EEF8"/>
          </a:solidFill>
          <a:ln w="15875">
            <a:solidFill>
              <a:srgbClr val="306998"/>
            </a:solidFill>
            <a:prstDash val="solid"/>
          </a:ln>
        </p:spPr>
      </p:sp>
      <p:sp>
        <p:nvSpPr>
          <p:cNvPr id="39" name="v:AddingAndReplacing:l1a0|b2"/>
          <p:cNvSpPr txBox="1"/>
          <p:nvPr/>
        </p:nvSpPr>
        <p:spPr>
          <a:xfrm>
            <a:off x="4608576" y="2185416"/>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40" name="v:AddingAndReplacing:l1a1:box|b2"/>
          <p:cNvSpPr/>
          <p:nvPr/>
        </p:nvSpPr>
        <p:spPr>
          <a:xfrm>
            <a:off x="5413248" y="2185416"/>
            <a:ext cx="777240" cy="228600"/>
          </a:xfrm>
          <a:prstGeom prst="roundRect">
            <a:avLst>
              <a:gd name="adj" fmla="val 20000"/>
            </a:avLst>
          </a:prstGeom>
          <a:solidFill>
            <a:srgbClr val="DDF3E6"/>
          </a:solidFill>
          <a:ln w="15875">
            <a:solidFill>
              <a:srgbClr val="2E9E5B"/>
            </a:solidFill>
            <a:prstDash val="solid"/>
          </a:ln>
        </p:spPr>
      </p:sp>
      <p:sp>
        <p:nvSpPr>
          <p:cNvPr id="41" name="v:AddingAndReplacing:l1a1|b2"/>
          <p:cNvSpPr txBox="1"/>
          <p:nvPr/>
        </p:nvSpPr>
        <p:spPr>
          <a:xfrm>
            <a:off x="5431536" y="2185416"/>
            <a:ext cx="740664" cy="228600"/>
          </a:xfrm>
          <a:prstGeom prst="rect">
            <a:avLst/>
          </a:prstGeom>
          <a:noFill/>
          <a:ln/>
        </p:spPr>
        <p:txBody>
          <a:bodyPr wrap="square" lIns="0" tIns="0" rIns="0" bIns="0" rtlCol="0" anchor="ctr">
            <a:normAutofit/>
          </a:bodyPr>
          <a:lstStyle/>
          <a:p>
            <a:pPr algn="ctr" indent="0" marL="0">
              <a:buNone/>
            </a:pPr>
            <a:r>
              <a:rPr lang="en-US" sz="987" b="1" dirty="0">
                <a:solidFill>
                  <a:srgbClr val="2E9E5B"/>
                </a:solidFill>
                <a:latin typeface="Courier New" pitchFamily="34" charset="0"/>
                <a:ea typeface="Courier New" pitchFamily="34" charset="-122"/>
                <a:cs typeface="Courier New" pitchFamily="34" charset="-120"/>
              </a:rPr>
              <a:t>'chicken'</a:t>
            </a:r>
            <a:endParaRPr lang="en-US" sz="987" dirty="0"/>
          </a:p>
        </p:txBody>
      </p:sp>
      <p:sp>
        <p:nvSpPr>
          <p:cNvPr id="42" name="v:AddingAndReplacing:l1a2:box|b2"/>
          <p:cNvSpPr/>
          <p:nvPr/>
        </p:nvSpPr>
        <p:spPr>
          <a:xfrm>
            <a:off x="6236208" y="2185416"/>
            <a:ext cx="777240" cy="228600"/>
          </a:xfrm>
          <a:prstGeom prst="roundRect">
            <a:avLst>
              <a:gd name="adj" fmla="val 20000"/>
            </a:avLst>
          </a:prstGeom>
          <a:solidFill>
            <a:srgbClr val="E3EEF8"/>
          </a:solidFill>
          <a:ln w="15875">
            <a:solidFill>
              <a:srgbClr val="306998"/>
            </a:solidFill>
            <a:prstDash val="solid"/>
          </a:ln>
        </p:spPr>
      </p:sp>
      <p:sp>
        <p:nvSpPr>
          <p:cNvPr id="43" name="v:AddingAndReplacing:l1a2|b2"/>
          <p:cNvSpPr txBox="1"/>
          <p:nvPr/>
        </p:nvSpPr>
        <p:spPr>
          <a:xfrm>
            <a:off x="6254496" y="2185416"/>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'dog'</a:t>
            </a:r>
            <a:endParaRPr lang="en-US" sz="1000" dirty="0"/>
          </a:p>
        </p:txBody>
      </p:sp>
      <p:sp>
        <p:nvSpPr>
          <p:cNvPr id="44" name="v:AddingAndReplacing:l1a3:box|b2"/>
          <p:cNvSpPr/>
          <p:nvPr/>
        </p:nvSpPr>
        <p:spPr>
          <a:xfrm>
            <a:off x="7059168" y="2185416"/>
            <a:ext cx="777240" cy="228600"/>
          </a:xfrm>
          <a:prstGeom prst="roundRect">
            <a:avLst>
              <a:gd name="adj" fmla="val 20000"/>
            </a:avLst>
          </a:prstGeom>
          <a:solidFill>
            <a:srgbClr val="E3EEF8"/>
          </a:solidFill>
          <a:ln w="15875">
            <a:solidFill>
              <a:srgbClr val="306998"/>
            </a:solidFill>
            <a:prstDash val="solid"/>
          </a:ln>
        </p:spPr>
      </p:sp>
      <p:sp>
        <p:nvSpPr>
          <p:cNvPr id="45" name="v:AddingAndReplacing:l1a3|b2"/>
          <p:cNvSpPr txBox="1"/>
          <p:nvPr/>
        </p:nvSpPr>
        <p:spPr>
          <a:xfrm>
            <a:off x="7077456" y="2185416"/>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46" name="lanebox|b3"/>
          <p:cNvSpPr/>
          <p:nvPr/>
        </p:nvSpPr>
        <p:spPr>
          <a:xfrm>
            <a:off x="365760" y="2523744"/>
            <a:ext cx="8412480" cy="621792"/>
          </a:xfrm>
          <a:prstGeom prst="roundRect">
            <a:avLst>
              <a:gd name="adj" fmla="val 8824"/>
            </a:avLst>
          </a:prstGeom>
          <a:solidFill>
            <a:srgbClr val="FFFFFF"/>
          </a:solidFill>
          <a:ln w="9525">
            <a:solidFill>
              <a:srgbClr val="9AA8B8"/>
            </a:solidFill>
            <a:prstDash val="solid"/>
          </a:ln>
        </p:spPr>
      </p:sp>
      <p:sp>
        <p:nvSpPr>
          <p:cNvPr id="47" name="v:AddingAndReplacing:l2op|b3"/>
          <p:cNvSpPr txBox="1"/>
          <p:nvPr/>
        </p:nvSpPr>
        <p:spPr>
          <a:xfrm>
            <a:off x="457200" y="2542032"/>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spam[1] = 'aardvark'</a:t>
            </a:r>
            <a:endParaRPr lang="en-US" sz="1250" dirty="0"/>
          </a:p>
        </p:txBody>
      </p:sp>
      <p:sp>
        <p:nvSpPr>
          <p:cNvPr id="48" name="v:AddingAndReplacing:l2cat|b3"/>
          <p:cNvSpPr txBox="1"/>
          <p:nvPr/>
        </p:nvSpPr>
        <p:spPr>
          <a:xfrm>
            <a:off x="3611880" y="2542032"/>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49" name="v:AddingAndReplacing:l2retbox:box|b3"/>
          <p:cNvSpPr/>
          <p:nvPr/>
        </p:nvSpPr>
        <p:spPr>
          <a:xfrm>
            <a:off x="6812280" y="2569464"/>
            <a:ext cx="1874520" cy="246888"/>
          </a:xfrm>
          <a:prstGeom prst="roundRect">
            <a:avLst>
              <a:gd name="adj" fmla="val 29630"/>
            </a:avLst>
          </a:prstGeom>
          <a:solidFill>
            <a:srgbClr val="F1F4F8"/>
          </a:solidFill>
          <a:ln w="12700">
            <a:solidFill>
              <a:srgbClr val="9AA8B8"/>
            </a:solidFill>
            <a:prstDash val="solid"/>
          </a:ln>
        </p:spPr>
      </p:sp>
      <p:sp>
        <p:nvSpPr>
          <p:cNvPr id="50" name="v:AddingAndReplacing:l2ret|b3"/>
          <p:cNvSpPr txBox="1"/>
          <p:nvPr/>
        </p:nvSpPr>
        <p:spPr>
          <a:xfrm>
            <a:off x="6812280" y="2569464"/>
            <a:ext cx="1874520" cy="246888"/>
          </a:xfrm>
          <a:prstGeom prst="rect">
            <a:avLst/>
          </a:prstGeom>
          <a:noFill/>
          <a:ln/>
        </p:spPr>
        <p:txBody>
          <a:bodyPr wrap="square" lIns="0" tIns="0" rIns="0" bIns="0" rtlCol="0" anchor="ctr"/>
          <a:lstStyle/>
          <a:p>
            <a:pPr algn="ctr" indent="0" marL="0">
              <a:buNone/>
            </a:pPr>
            <a:r>
              <a:rPr lang="en-US" sz="1050" b="1" dirty="0">
                <a:solidFill>
                  <a:srgbClr val="5B6B7B"/>
                </a:solidFill>
                <a:latin typeface="Calibri" pitchFamily="34" charset="0"/>
                <a:ea typeface="Calibri" pitchFamily="34" charset="-122"/>
                <a:cs typeface="Calibri" pitchFamily="34" charset="-120"/>
              </a:rPr>
              <a:t>a statement: no value</a:t>
            </a:r>
            <a:endParaRPr lang="en-US" sz="1050" dirty="0"/>
          </a:p>
        </p:txBody>
      </p:sp>
      <p:sp>
        <p:nvSpPr>
          <p:cNvPr id="51" name="v:AddingAndReplacing:l2b0:box|b3"/>
          <p:cNvSpPr/>
          <p:nvPr/>
        </p:nvSpPr>
        <p:spPr>
          <a:xfrm>
            <a:off x="457200" y="2862072"/>
            <a:ext cx="777240" cy="228600"/>
          </a:xfrm>
          <a:prstGeom prst="roundRect">
            <a:avLst>
              <a:gd name="adj" fmla="val 20000"/>
            </a:avLst>
          </a:prstGeom>
          <a:solidFill>
            <a:srgbClr val="E3EEF8"/>
          </a:solidFill>
          <a:ln w="15875">
            <a:solidFill>
              <a:srgbClr val="306998"/>
            </a:solidFill>
            <a:prstDash val="solid"/>
          </a:ln>
        </p:spPr>
      </p:sp>
      <p:sp>
        <p:nvSpPr>
          <p:cNvPr id="52" name="v:AddingAndReplacing:l2b0|b3"/>
          <p:cNvSpPr txBox="1"/>
          <p:nvPr/>
        </p:nvSpPr>
        <p:spPr>
          <a:xfrm>
            <a:off x="475488" y="2862072"/>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53" name="v:AddingAndReplacing:l2b1:box|b3"/>
          <p:cNvSpPr/>
          <p:nvPr/>
        </p:nvSpPr>
        <p:spPr>
          <a:xfrm>
            <a:off x="1280160" y="2862072"/>
            <a:ext cx="777240" cy="228600"/>
          </a:xfrm>
          <a:prstGeom prst="roundRect">
            <a:avLst>
              <a:gd name="adj" fmla="val 20000"/>
            </a:avLst>
          </a:prstGeom>
          <a:solidFill>
            <a:srgbClr val="FBE1E1"/>
          </a:solidFill>
          <a:ln w="15875">
            <a:solidFill>
              <a:srgbClr val="D64545"/>
            </a:solidFill>
            <a:prstDash val="solid"/>
          </a:ln>
        </p:spPr>
      </p:sp>
      <p:sp>
        <p:nvSpPr>
          <p:cNvPr id="54" name="v:AddingAndReplacing:l2b1|b3"/>
          <p:cNvSpPr txBox="1"/>
          <p:nvPr/>
        </p:nvSpPr>
        <p:spPr>
          <a:xfrm>
            <a:off x="1298448" y="2862072"/>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'bat'</a:t>
            </a:r>
            <a:endParaRPr lang="en-US" sz="1000" dirty="0"/>
          </a:p>
        </p:txBody>
      </p:sp>
      <p:sp>
        <p:nvSpPr>
          <p:cNvPr id="55" name="v:AddingAndReplacing:l2b2:box|b3"/>
          <p:cNvSpPr/>
          <p:nvPr/>
        </p:nvSpPr>
        <p:spPr>
          <a:xfrm>
            <a:off x="2103120" y="2862072"/>
            <a:ext cx="777240" cy="228600"/>
          </a:xfrm>
          <a:prstGeom prst="roundRect">
            <a:avLst>
              <a:gd name="adj" fmla="val 20000"/>
            </a:avLst>
          </a:prstGeom>
          <a:solidFill>
            <a:srgbClr val="E3EEF8"/>
          </a:solidFill>
          <a:ln w="15875">
            <a:solidFill>
              <a:srgbClr val="306998"/>
            </a:solidFill>
            <a:prstDash val="solid"/>
          </a:ln>
        </p:spPr>
      </p:sp>
      <p:sp>
        <p:nvSpPr>
          <p:cNvPr id="56" name="v:AddingAndReplacing:l2b2|b3"/>
          <p:cNvSpPr txBox="1"/>
          <p:nvPr/>
        </p:nvSpPr>
        <p:spPr>
          <a:xfrm>
            <a:off x="2121408" y="2862072"/>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'rat'</a:t>
            </a:r>
            <a:endParaRPr lang="en-US" sz="1000" dirty="0"/>
          </a:p>
        </p:txBody>
      </p:sp>
      <p:sp>
        <p:nvSpPr>
          <p:cNvPr id="57" name="v:AddingAndReplacing:l2b3:box|b3"/>
          <p:cNvSpPr/>
          <p:nvPr/>
        </p:nvSpPr>
        <p:spPr>
          <a:xfrm>
            <a:off x="2926080" y="2862072"/>
            <a:ext cx="777240" cy="228600"/>
          </a:xfrm>
          <a:prstGeom prst="roundRect">
            <a:avLst>
              <a:gd name="adj" fmla="val 20000"/>
            </a:avLst>
          </a:prstGeom>
          <a:solidFill>
            <a:srgbClr val="E3EEF8"/>
          </a:solidFill>
          <a:ln w="15875">
            <a:solidFill>
              <a:srgbClr val="306998"/>
            </a:solidFill>
            <a:prstDash val="solid"/>
          </a:ln>
        </p:spPr>
      </p:sp>
      <p:sp>
        <p:nvSpPr>
          <p:cNvPr id="58" name="v:AddingAndReplacing:l2b3|b3"/>
          <p:cNvSpPr txBox="1"/>
          <p:nvPr/>
        </p:nvSpPr>
        <p:spPr>
          <a:xfrm>
            <a:off x="2944368" y="2862072"/>
            <a:ext cx="740664" cy="228600"/>
          </a:xfrm>
          <a:prstGeom prst="rect">
            <a:avLst/>
          </a:prstGeom>
          <a:noFill/>
          <a:ln/>
        </p:spPr>
        <p:txBody>
          <a:bodyPr wrap="square" lIns="0" tIns="0" rIns="0" bIns="0" rtlCol="0" anchor="ctr">
            <a:normAutofit/>
          </a:bodyPr>
          <a:lstStyle/>
          <a:p>
            <a:pPr algn="ctr" indent="0" marL="0">
              <a:buNone/>
            </a:pPr>
            <a:r>
              <a:rPr lang="en-US" sz="889" b="1" dirty="0">
                <a:solidFill>
                  <a:srgbClr val="1E2A3A"/>
                </a:solidFill>
                <a:latin typeface="Courier New" pitchFamily="34" charset="0"/>
                <a:ea typeface="Courier New" pitchFamily="34" charset="-122"/>
                <a:cs typeface="Courier New" pitchFamily="34" charset="-120"/>
              </a:rPr>
              <a:t>'elephant'</a:t>
            </a:r>
            <a:endParaRPr lang="en-US" sz="889" dirty="0"/>
          </a:p>
        </p:txBody>
      </p:sp>
      <p:sp>
        <p:nvSpPr>
          <p:cNvPr id="59" name="arrow|b3"/>
          <p:cNvSpPr/>
          <p:nvPr/>
        </p:nvSpPr>
        <p:spPr>
          <a:xfrm>
            <a:off x="4069080" y="2976372"/>
            <a:ext cx="411480" cy="0"/>
          </a:xfrm>
          <a:prstGeom prst="line">
            <a:avLst/>
          </a:prstGeom>
          <a:noFill/>
          <a:ln w="31750">
            <a:solidFill>
              <a:srgbClr val="2E9E5B"/>
            </a:solidFill>
            <a:prstDash val="solid"/>
            <a:tailEnd type="triangle"/>
          </a:ln>
        </p:spPr>
      </p:sp>
      <p:sp>
        <p:nvSpPr>
          <p:cNvPr id="60" name="v:AddingAndReplacing:l2a0:box|b3"/>
          <p:cNvSpPr/>
          <p:nvPr/>
        </p:nvSpPr>
        <p:spPr>
          <a:xfrm>
            <a:off x="4590288" y="2862072"/>
            <a:ext cx="777240" cy="228600"/>
          </a:xfrm>
          <a:prstGeom prst="roundRect">
            <a:avLst>
              <a:gd name="adj" fmla="val 20000"/>
            </a:avLst>
          </a:prstGeom>
          <a:solidFill>
            <a:srgbClr val="E3EEF8"/>
          </a:solidFill>
          <a:ln w="15875">
            <a:solidFill>
              <a:srgbClr val="306998"/>
            </a:solidFill>
            <a:prstDash val="solid"/>
          </a:ln>
        </p:spPr>
      </p:sp>
      <p:sp>
        <p:nvSpPr>
          <p:cNvPr id="61" name="v:AddingAndReplacing:l2a0|b3"/>
          <p:cNvSpPr txBox="1"/>
          <p:nvPr/>
        </p:nvSpPr>
        <p:spPr>
          <a:xfrm>
            <a:off x="4608576" y="2862072"/>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62" name="v:AddingAndReplacing:l2a1:box|b3"/>
          <p:cNvSpPr/>
          <p:nvPr/>
        </p:nvSpPr>
        <p:spPr>
          <a:xfrm>
            <a:off x="5413248" y="2862072"/>
            <a:ext cx="777240" cy="228600"/>
          </a:xfrm>
          <a:prstGeom prst="roundRect">
            <a:avLst>
              <a:gd name="adj" fmla="val 20000"/>
            </a:avLst>
          </a:prstGeom>
          <a:solidFill>
            <a:srgbClr val="DDF3E6"/>
          </a:solidFill>
          <a:ln w="15875">
            <a:solidFill>
              <a:srgbClr val="2E9E5B"/>
            </a:solidFill>
            <a:prstDash val="solid"/>
          </a:ln>
        </p:spPr>
      </p:sp>
      <p:sp>
        <p:nvSpPr>
          <p:cNvPr id="63" name="v:AddingAndReplacing:l2a1|b3"/>
          <p:cNvSpPr txBox="1"/>
          <p:nvPr/>
        </p:nvSpPr>
        <p:spPr>
          <a:xfrm>
            <a:off x="5431536" y="2862072"/>
            <a:ext cx="740664" cy="228600"/>
          </a:xfrm>
          <a:prstGeom prst="rect">
            <a:avLst/>
          </a:prstGeom>
          <a:noFill/>
          <a:ln/>
        </p:spPr>
        <p:txBody>
          <a:bodyPr wrap="square" lIns="0" tIns="0" rIns="0" bIns="0" rtlCol="0" anchor="ctr">
            <a:normAutofit/>
          </a:bodyPr>
          <a:lstStyle/>
          <a:p>
            <a:pPr algn="ctr" indent="0" marL="0">
              <a:buNone/>
            </a:pPr>
            <a:r>
              <a:rPr lang="en-US" sz="889" b="1" dirty="0">
                <a:solidFill>
                  <a:srgbClr val="2E9E5B"/>
                </a:solidFill>
                <a:latin typeface="Courier New" pitchFamily="34" charset="0"/>
                <a:ea typeface="Courier New" pitchFamily="34" charset="-122"/>
                <a:cs typeface="Courier New" pitchFamily="34" charset="-120"/>
              </a:rPr>
              <a:t>'aardvark'</a:t>
            </a:r>
            <a:endParaRPr lang="en-US" sz="889" dirty="0"/>
          </a:p>
        </p:txBody>
      </p:sp>
      <p:sp>
        <p:nvSpPr>
          <p:cNvPr id="64" name="v:AddingAndReplacing:l2a2:box|b3"/>
          <p:cNvSpPr/>
          <p:nvPr/>
        </p:nvSpPr>
        <p:spPr>
          <a:xfrm>
            <a:off x="6236208" y="2862072"/>
            <a:ext cx="777240" cy="228600"/>
          </a:xfrm>
          <a:prstGeom prst="roundRect">
            <a:avLst>
              <a:gd name="adj" fmla="val 20000"/>
            </a:avLst>
          </a:prstGeom>
          <a:solidFill>
            <a:srgbClr val="E3EEF8"/>
          </a:solidFill>
          <a:ln w="15875">
            <a:solidFill>
              <a:srgbClr val="306998"/>
            </a:solidFill>
            <a:prstDash val="solid"/>
          </a:ln>
        </p:spPr>
      </p:sp>
      <p:sp>
        <p:nvSpPr>
          <p:cNvPr id="65" name="v:AddingAndReplacing:l2a2|b3"/>
          <p:cNvSpPr txBox="1"/>
          <p:nvPr/>
        </p:nvSpPr>
        <p:spPr>
          <a:xfrm>
            <a:off x="6254496" y="2862072"/>
            <a:ext cx="740664"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'rat'</a:t>
            </a:r>
            <a:endParaRPr lang="en-US" sz="1000" dirty="0"/>
          </a:p>
        </p:txBody>
      </p:sp>
      <p:sp>
        <p:nvSpPr>
          <p:cNvPr id="66" name="v:AddingAndReplacing:l2a3:box|b3"/>
          <p:cNvSpPr/>
          <p:nvPr/>
        </p:nvSpPr>
        <p:spPr>
          <a:xfrm>
            <a:off x="7059168" y="2862072"/>
            <a:ext cx="777240" cy="228600"/>
          </a:xfrm>
          <a:prstGeom prst="roundRect">
            <a:avLst>
              <a:gd name="adj" fmla="val 20000"/>
            </a:avLst>
          </a:prstGeom>
          <a:solidFill>
            <a:srgbClr val="E3EEF8"/>
          </a:solidFill>
          <a:ln w="15875">
            <a:solidFill>
              <a:srgbClr val="306998"/>
            </a:solidFill>
            <a:prstDash val="solid"/>
          </a:ln>
        </p:spPr>
      </p:sp>
      <p:sp>
        <p:nvSpPr>
          <p:cNvPr id="67" name="v:AddingAndReplacing:l2a3|b3"/>
          <p:cNvSpPr txBox="1"/>
          <p:nvPr/>
        </p:nvSpPr>
        <p:spPr>
          <a:xfrm>
            <a:off x="7077456" y="2862072"/>
            <a:ext cx="740664" cy="228600"/>
          </a:xfrm>
          <a:prstGeom prst="rect">
            <a:avLst/>
          </a:prstGeom>
          <a:noFill/>
          <a:ln/>
        </p:spPr>
        <p:txBody>
          <a:bodyPr wrap="square" lIns="0" tIns="0" rIns="0" bIns="0" rtlCol="0" anchor="ctr">
            <a:normAutofit/>
          </a:bodyPr>
          <a:lstStyle/>
          <a:p>
            <a:pPr algn="ctr" indent="0" marL="0">
              <a:buNone/>
            </a:pPr>
            <a:r>
              <a:rPr lang="en-US" sz="889" b="1" dirty="0">
                <a:solidFill>
                  <a:srgbClr val="1E2A3A"/>
                </a:solidFill>
                <a:latin typeface="Courier New" pitchFamily="34" charset="0"/>
                <a:ea typeface="Courier New" pitchFamily="34" charset="-122"/>
                <a:cs typeface="Courier New" pitchFamily="34" charset="-120"/>
              </a:rPr>
              <a:t>'elephant'</a:t>
            </a:r>
            <a:endParaRPr lang="en-US" sz="889" dirty="0"/>
          </a:p>
        </p:txBody>
      </p:sp>
      <p:sp>
        <p:nvSpPr>
          <p:cNvPr id="68" name="lanebox|b4"/>
          <p:cNvSpPr/>
          <p:nvPr/>
        </p:nvSpPr>
        <p:spPr>
          <a:xfrm>
            <a:off x="365760" y="3200400"/>
            <a:ext cx="8412480" cy="621792"/>
          </a:xfrm>
          <a:prstGeom prst="roundRect">
            <a:avLst>
              <a:gd name="adj" fmla="val 8824"/>
            </a:avLst>
          </a:prstGeom>
          <a:solidFill>
            <a:srgbClr val="FFFFFF"/>
          </a:solidFill>
          <a:ln w="9525">
            <a:solidFill>
              <a:srgbClr val="9AA8B8"/>
            </a:solidFill>
            <a:prstDash val="solid"/>
          </a:ln>
        </p:spPr>
      </p:sp>
      <p:sp>
        <p:nvSpPr>
          <p:cNvPr id="69" name="v:AddingAndReplacing:l3op|b4"/>
          <p:cNvSpPr txBox="1"/>
          <p:nvPr/>
        </p:nvSpPr>
        <p:spPr>
          <a:xfrm>
            <a:off x="457200" y="3218688"/>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letters[2:5] = ['C', 'D', 'E']</a:t>
            </a:r>
            <a:endParaRPr lang="en-US" sz="1250" dirty="0"/>
          </a:p>
        </p:txBody>
      </p:sp>
      <p:sp>
        <p:nvSpPr>
          <p:cNvPr id="70" name="v:AddingAndReplacing:l3cat|b4"/>
          <p:cNvSpPr txBox="1"/>
          <p:nvPr/>
        </p:nvSpPr>
        <p:spPr>
          <a:xfrm>
            <a:off x="3611880" y="3218688"/>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71" name="v:AddingAndReplacing:l3retbox:box|b4"/>
          <p:cNvSpPr/>
          <p:nvPr/>
        </p:nvSpPr>
        <p:spPr>
          <a:xfrm>
            <a:off x="6812280" y="3246120"/>
            <a:ext cx="1874520" cy="246888"/>
          </a:xfrm>
          <a:prstGeom prst="roundRect">
            <a:avLst>
              <a:gd name="adj" fmla="val 29630"/>
            </a:avLst>
          </a:prstGeom>
          <a:solidFill>
            <a:srgbClr val="F1F4F8"/>
          </a:solidFill>
          <a:ln w="12700">
            <a:solidFill>
              <a:srgbClr val="9AA8B8"/>
            </a:solidFill>
            <a:prstDash val="solid"/>
          </a:ln>
        </p:spPr>
      </p:sp>
      <p:sp>
        <p:nvSpPr>
          <p:cNvPr id="72" name="v:AddingAndReplacing:l3ret|b4"/>
          <p:cNvSpPr txBox="1"/>
          <p:nvPr/>
        </p:nvSpPr>
        <p:spPr>
          <a:xfrm>
            <a:off x="6812280" y="3246120"/>
            <a:ext cx="1874520" cy="246888"/>
          </a:xfrm>
          <a:prstGeom prst="rect">
            <a:avLst/>
          </a:prstGeom>
          <a:noFill/>
          <a:ln/>
        </p:spPr>
        <p:txBody>
          <a:bodyPr wrap="square" lIns="0" tIns="0" rIns="0" bIns="0" rtlCol="0" anchor="ctr"/>
          <a:lstStyle/>
          <a:p>
            <a:pPr algn="ctr" indent="0" marL="0">
              <a:buNone/>
            </a:pPr>
            <a:r>
              <a:rPr lang="en-US" sz="1050" b="1" dirty="0">
                <a:solidFill>
                  <a:srgbClr val="5B6B7B"/>
                </a:solidFill>
                <a:latin typeface="Calibri" pitchFamily="34" charset="0"/>
                <a:ea typeface="Calibri" pitchFamily="34" charset="-122"/>
                <a:cs typeface="Calibri" pitchFamily="34" charset="-120"/>
              </a:rPr>
              <a:t>a statement: no value</a:t>
            </a:r>
            <a:endParaRPr lang="en-US" sz="1050" dirty="0"/>
          </a:p>
        </p:txBody>
      </p:sp>
      <p:sp>
        <p:nvSpPr>
          <p:cNvPr id="73" name="v:AddingAndReplacing:l3b0:box|b4"/>
          <p:cNvSpPr/>
          <p:nvPr/>
        </p:nvSpPr>
        <p:spPr>
          <a:xfrm>
            <a:off x="457200" y="3538728"/>
            <a:ext cx="463731" cy="228600"/>
          </a:xfrm>
          <a:prstGeom prst="roundRect">
            <a:avLst>
              <a:gd name="adj" fmla="val 20000"/>
            </a:avLst>
          </a:prstGeom>
          <a:solidFill>
            <a:srgbClr val="E3EEF8"/>
          </a:solidFill>
          <a:ln w="15875">
            <a:solidFill>
              <a:srgbClr val="306998"/>
            </a:solidFill>
            <a:prstDash val="solid"/>
          </a:ln>
        </p:spPr>
      </p:sp>
      <p:sp>
        <p:nvSpPr>
          <p:cNvPr id="74" name="v:AddingAndReplacing:l3b0|b4"/>
          <p:cNvSpPr txBox="1"/>
          <p:nvPr/>
        </p:nvSpPr>
        <p:spPr>
          <a:xfrm>
            <a:off x="475488"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'a'</a:t>
            </a:r>
            <a:endParaRPr lang="en-US" sz="1000" dirty="0"/>
          </a:p>
        </p:txBody>
      </p:sp>
      <p:sp>
        <p:nvSpPr>
          <p:cNvPr id="75" name="v:AddingAndReplacing:l3b1:box|b4"/>
          <p:cNvSpPr/>
          <p:nvPr/>
        </p:nvSpPr>
        <p:spPr>
          <a:xfrm>
            <a:off x="966651" y="3538728"/>
            <a:ext cx="463731" cy="228600"/>
          </a:xfrm>
          <a:prstGeom prst="roundRect">
            <a:avLst>
              <a:gd name="adj" fmla="val 20000"/>
            </a:avLst>
          </a:prstGeom>
          <a:solidFill>
            <a:srgbClr val="E3EEF8"/>
          </a:solidFill>
          <a:ln w="15875">
            <a:solidFill>
              <a:srgbClr val="306998"/>
            </a:solidFill>
            <a:prstDash val="solid"/>
          </a:ln>
        </p:spPr>
      </p:sp>
      <p:sp>
        <p:nvSpPr>
          <p:cNvPr id="76" name="v:AddingAndReplacing:l3b1|b4"/>
          <p:cNvSpPr txBox="1"/>
          <p:nvPr/>
        </p:nvSpPr>
        <p:spPr>
          <a:xfrm>
            <a:off x="984939"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
            </a:r>
            <a:endParaRPr lang="en-US" sz="1000" dirty="0"/>
          </a:p>
        </p:txBody>
      </p:sp>
      <p:sp>
        <p:nvSpPr>
          <p:cNvPr id="77" name="v:AddingAndReplacing:l3b2:box|b4"/>
          <p:cNvSpPr/>
          <p:nvPr/>
        </p:nvSpPr>
        <p:spPr>
          <a:xfrm>
            <a:off x="1476103" y="3538728"/>
            <a:ext cx="463731" cy="228600"/>
          </a:xfrm>
          <a:prstGeom prst="roundRect">
            <a:avLst>
              <a:gd name="adj" fmla="val 20000"/>
            </a:avLst>
          </a:prstGeom>
          <a:solidFill>
            <a:srgbClr val="FBE1E1"/>
          </a:solidFill>
          <a:ln w="15875">
            <a:solidFill>
              <a:srgbClr val="D64545"/>
            </a:solidFill>
            <a:prstDash val="solid"/>
          </a:ln>
        </p:spPr>
      </p:sp>
      <p:sp>
        <p:nvSpPr>
          <p:cNvPr id="78" name="v:AddingAndReplacing:l3b2|b4"/>
          <p:cNvSpPr txBox="1"/>
          <p:nvPr/>
        </p:nvSpPr>
        <p:spPr>
          <a:xfrm>
            <a:off x="1494391"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'c'</a:t>
            </a:r>
            <a:endParaRPr lang="en-US" sz="1000" dirty="0"/>
          </a:p>
        </p:txBody>
      </p:sp>
      <p:sp>
        <p:nvSpPr>
          <p:cNvPr id="79" name="v:AddingAndReplacing:l3b3:box|b4"/>
          <p:cNvSpPr/>
          <p:nvPr/>
        </p:nvSpPr>
        <p:spPr>
          <a:xfrm>
            <a:off x="1985554" y="3538728"/>
            <a:ext cx="463731" cy="228600"/>
          </a:xfrm>
          <a:prstGeom prst="roundRect">
            <a:avLst>
              <a:gd name="adj" fmla="val 20000"/>
            </a:avLst>
          </a:prstGeom>
          <a:solidFill>
            <a:srgbClr val="FBE1E1"/>
          </a:solidFill>
          <a:ln w="15875">
            <a:solidFill>
              <a:srgbClr val="D64545"/>
            </a:solidFill>
            <a:prstDash val="solid"/>
          </a:ln>
        </p:spPr>
      </p:sp>
      <p:sp>
        <p:nvSpPr>
          <p:cNvPr id="80" name="v:AddingAndReplacing:l3b3|b4"/>
          <p:cNvSpPr txBox="1"/>
          <p:nvPr/>
        </p:nvSpPr>
        <p:spPr>
          <a:xfrm>
            <a:off x="2003842"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'd'</a:t>
            </a:r>
            <a:endParaRPr lang="en-US" sz="1000" dirty="0"/>
          </a:p>
        </p:txBody>
      </p:sp>
      <p:sp>
        <p:nvSpPr>
          <p:cNvPr id="81" name="v:AddingAndReplacing:l3b4:box|b4"/>
          <p:cNvSpPr/>
          <p:nvPr/>
        </p:nvSpPr>
        <p:spPr>
          <a:xfrm>
            <a:off x="2495006" y="3538728"/>
            <a:ext cx="463731" cy="228600"/>
          </a:xfrm>
          <a:prstGeom prst="roundRect">
            <a:avLst>
              <a:gd name="adj" fmla="val 20000"/>
            </a:avLst>
          </a:prstGeom>
          <a:solidFill>
            <a:srgbClr val="FBE1E1"/>
          </a:solidFill>
          <a:ln w="15875">
            <a:solidFill>
              <a:srgbClr val="D64545"/>
            </a:solidFill>
            <a:prstDash val="solid"/>
          </a:ln>
        </p:spPr>
      </p:sp>
      <p:sp>
        <p:nvSpPr>
          <p:cNvPr id="82" name="v:AddingAndReplacing:l3b4|b4"/>
          <p:cNvSpPr txBox="1"/>
          <p:nvPr/>
        </p:nvSpPr>
        <p:spPr>
          <a:xfrm>
            <a:off x="2513294"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'e'</a:t>
            </a:r>
            <a:endParaRPr lang="en-US" sz="1000" dirty="0"/>
          </a:p>
        </p:txBody>
      </p:sp>
      <p:sp>
        <p:nvSpPr>
          <p:cNvPr id="83" name="v:AddingAndReplacing:l3b5:box|b4"/>
          <p:cNvSpPr/>
          <p:nvPr/>
        </p:nvSpPr>
        <p:spPr>
          <a:xfrm>
            <a:off x="3004457" y="3538728"/>
            <a:ext cx="463731" cy="228600"/>
          </a:xfrm>
          <a:prstGeom prst="roundRect">
            <a:avLst>
              <a:gd name="adj" fmla="val 20000"/>
            </a:avLst>
          </a:prstGeom>
          <a:solidFill>
            <a:srgbClr val="E3EEF8"/>
          </a:solidFill>
          <a:ln w="15875">
            <a:solidFill>
              <a:srgbClr val="306998"/>
            </a:solidFill>
            <a:prstDash val="solid"/>
          </a:ln>
        </p:spPr>
      </p:sp>
      <p:sp>
        <p:nvSpPr>
          <p:cNvPr id="84" name="v:AddingAndReplacing:l3b5|b4"/>
          <p:cNvSpPr txBox="1"/>
          <p:nvPr/>
        </p:nvSpPr>
        <p:spPr>
          <a:xfrm>
            <a:off x="3022745"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'f'</a:t>
            </a:r>
            <a:endParaRPr lang="en-US" sz="1000" dirty="0"/>
          </a:p>
        </p:txBody>
      </p:sp>
      <p:sp>
        <p:nvSpPr>
          <p:cNvPr id="85" name="v:AddingAndReplacing:l3b6:box|b4"/>
          <p:cNvSpPr/>
          <p:nvPr/>
        </p:nvSpPr>
        <p:spPr>
          <a:xfrm>
            <a:off x="3513909" y="3538728"/>
            <a:ext cx="463731" cy="228600"/>
          </a:xfrm>
          <a:prstGeom prst="roundRect">
            <a:avLst>
              <a:gd name="adj" fmla="val 20000"/>
            </a:avLst>
          </a:prstGeom>
          <a:solidFill>
            <a:srgbClr val="E3EEF8"/>
          </a:solidFill>
          <a:ln w="15875">
            <a:solidFill>
              <a:srgbClr val="306998"/>
            </a:solidFill>
            <a:prstDash val="solid"/>
          </a:ln>
        </p:spPr>
      </p:sp>
      <p:sp>
        <p:nvSpPr>
          <p:cNvPr id="86" name="v:AddingAndReplacing:l3b6|b4"/>
          <p:cNvSpPr txBox="1"/>
          <p:nvPr/>
        </p:nvSpPr>
        <p:spPr>
          <a:xfrm>
            <a:off x="3532197" y="3538728"/>
            <a:ext cx="427155"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'g'</a:t>
            </a:r>
            <a:endParaRPr lang="en-US" sz="1000" dirty="0"/>
          </a:p>
        </p:txBody>
      </p:sp>
      <p:sp>
        <p:nvSpPr>
          <p:cNvPr id="87" name="arrow|b4"/>
          <p:cNvSpPr/>
          <p:nvPr/>
        </p:nvSpPr>
        <p:spPr>
          <a:xfrm>
            <a:off x="4069080" y="3653028"/>
            <a:ext cx="411480" cy="0"/>
          </a:xfrm>
          <a:prstGeom prst="line">
            <a:avLst/>
          </a:prstGeom>
          <a:noFill/>
          <a:ln w="31750">
            <a:solidFill>
              <a:srgbClr val="2E9E5B"/>
            </a:solidFill>
            <a:prstDash val="solid"/>
            <a:tailEnd type="triangle"/>
          </a:ln>
        </p:spPr>
      </p:sp>
      <p:sp>
        <p:nvSpPr>
          <p:cNvPr id="88" name="v:AddingAndReplacing:l3a0:box|b4"/>
          <p:cNvSpPr/>
          <p:nvPr/>
        </p:nvSpPr>
        <p:spPr>
          <a:xfrm>
            <a:off x="4590288" y="3538728"/>
            <a:ext cx="542109" cy="228600"/>
          </a:xfrm>
          <a:prstGeom prst="roundRect">
            <a:avLst>
              <a:gd name="adj" fmla="val 20000"/>
            </a:avLst>
          </a:prstGeom>
          <a:solidFill>
            <a:srgbClr val="E3EEF8"/>
          </a:solidFill>
          <a:ln w="15875">
            <a:solidFill>
              <a:srgbClr val="306998"/>
            </a:solidFill>
            <a:prstDash val="solid"/>
          </a:ln>
        </p:spPr>
      </p:sp>
      <p:sp>
        <p:nvSpPr>
          <p:cNvPr id="89" name="v:AddingAndReplacing:l3a0|b4"/>
          <p:cNvSpPr txBox="1"/>
          <p:nvPr/>
        </p:nvSpPr>
        <p:spPr>
          <a:xfrm>
            <a:off x="4608576"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'a'</a:t>
            </a:r>
            <a:endParaRPr lang="en-US" sz="1000" dirty="0"/>
          </a:p>
        </p:txBody>
      </p:sp>
      <p:sp>
        <p:nvSpPr>
          <p:cNvPr id="90" name="v:AddingAndReplacing:l3a1:box|b4"/>
          <p:cNvSpPr/>
          <p:nvPr/>
        </p:nvSpPr>
        <p:spPr>
          <a:xfrm>
            <a:off x="5178117" y="3538728"/>
            <a:ext cx="542109" cy="228600"/>
          </a:xfrm>
          <a:prstGeom prst="roundRect">
            <a:avLst>
              <a:gd name="adj" fmla="val 20000"/>
            </a:avLst>
          </a:prstGeom>
          <a:solidFill>
            <a:srgbClr val="E3EEF8"/>
          </a:solidFill>
          <a:ln w="15875">
            <a:solidFill>
              <a:srgbClr val="306998"/>
            </a:solidFill>
            <a:prstDash val="solid"/>
          </a:ln>
        </p:spPr>
      </p:sp>
      <p:sp>
        <p:nvSpPr>
          <p:cNvPr id="91" name="v:AddingAndReplacing:l3a1|b4"/>
          <p:cNvSpPr txBox="1"/>
          <p:nvPr/>
        </p:nvSpPr>
        <p:spPr>
          <a:xfrm>
            <a:off x="5196405"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
            </a:r>
            <a:endParaRPr lang="en-US" sz="1000" dirty="0"/>
          </a:p>
        </p:txBody>
      </p:sp>
      <p:sp>
        <p:nvSpPr>
          <p:cNvPr id="92" name="v:AddingAndReplacing:l3a2:box|b4"/>
          <p:cNvSpPr/>
          <p:nvPr/>
        </p:nvSpPr>
        <p:spPr>
          <a:xfrm>
            <a:off x="5765945" y="3538728"/>
            <a:ext cx="542109" cy="228600"/>
          </a:xfrm>
          <a:prstGeom prst="roundRect">
            <a:avLst>
              <a:gd name="adj" fmla="val 20000"/>
            </a:avLst>
          </a:prstGeom>
          <a:solidFill>
            <a:srgbClr val="DDF3E6"/>
          </a:solidFill>
          <a:ln w="15875">
            <a:solidFill>
              <a:srgbClr val="2E9E5B"/>
            </a:solidFill>
            <a:prstDash val="solid"/>
          </a:ln>
        </p:spPr>
      </p:sp>
      <p:sp>
        <p:nvSpPr>
          <p:cNvPr id="93" name="v:AddingAndReplacing:l3a2|b4"/>
          <p:cNvSpPr txBox="1"/>
          <p:nvPr/>
        </p:nvSpPr>
        <p:spPr>
          <a:xfrm>
            <a:off x="5784233"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'C'</a:t>
            </a:r>
            <a:endParaRPr lang="en-US" sz="1000" dirty="0"/>
          </a:p>
        </p:txBody>
      </p:sp>
      <p:sp>
        <p:nvSpPr>
          <p:cNvPr id="94" name="v:AddingAndReplacing:l3a3:box|b4"/>
          <p:cNvSpPr/>
          <p:nvPr/>
        </p:nvSpPr>
        <p:spPr>
          <a:xfrm>
            <a:off x="6353774" y="3538728"/>
            <a:ext cx="542109" cy="228600"/>
          </a:xfrm>
          <a:prstGeom prst="roundRect">
            <a:avLst>
              <a:gd name="adj" fmla="val 20000"/>
            </a:avLst>
          </a:prstGeom>
          <a:solidFill>
            <a:srgbClr val="DDF3E6"/>
          </a:solidFill>
          <a:ln w="15875">
            <a:solidFill>
              <a:srgbClr val="2E9E5B"/>
            </a:solidFill>
            <a:prstDash val="solid"/>
          </a:ln>
        </p:spPr>
      </p:sp>
      <p:sp>
        <p:nvSpPr>
          <p:cNvPr id="95" name="v:AddingAndReplacing:l3a3|b4"/>
          <p:cNvSpPr txBox="1"/>
          <p:nvPr/>
        </p:nvSpPr>
        <p:spPr>
          <a:xfrm>
            <a:off x="6372062"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'D'</a:t>
            </a:r>
            <a:endParaRPr lang="en-US" sz="1000" dirty="0"/>
          </a:p>
        </p:txBody>
      </p:sp>
      <p:sp>
        <p:nvSpPr>
          <p:cNvPr id="96" name="v:AddingAndReplacing:l3a4:box|b4"/>
          <p:cNvSpPr/>
          <p:nvPr/>
        </p:nvSpPr>
        <p:spPr>
          <a:xfrm>
            <a:off x="6941602" y="3538728"/>
            <a:ext cx="542109" cy="228600"/>
          </a:xfrm>
          <a:prstGeom prst="roundRect">
            <a:avLst>
              <a:gd name="adj" fmla="val 20000"/>
            </a:avLst>
          </a:prstGeom>
          <a:solidFill>
            <a:srgbClr val="DDF3E6"/>
          </a:solidFill>
          <a:ln w="15875">
            <a:solidFill>
              <a:srgbClr val="2E9E5B"/>
            </a:solidFill>
            <a:prstDash val="solid"/>
          </a:ln>
        </p:spPr>
      </p:sp>
      <p:sp>
        <p:nvSpPr>
          <p:cNvPr id="97" name="v:AddingAndReplacing:l3a4|b4"/>
          <p:cNvSpPr txBox="1"/>
          <p:nvPr/>
        </p:nvSpPr>
        <p:spPr>
          <a:xfrm>
            <a:off x="6959890"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'E'</a:t>
            </a:r>
            <a:endParaRPr lang="en-US" sz="1000" dirty="0"/>
          </a:p>
        </p:txBody>
      </p:sp>
      <p:sp>
        <p:nvSpPr>
          <p:cNvPr id="98" name="v:AddingAndReplacing:l3a5:box|b4"/>
          <p:cNvSpPr/>
          <p:nvPr/>
        </p:nvSpPr>
        <p:spPr>
          <a:xfrm>
            <a:off x="7529431" y="3538728"/>
            <a:ext cx="542109" cy="228600"/>
          </a:xfrm>
          <a:prstGeom prst="roundRect">
            <a:avLst>
              <a:gd name="adj" fmla="val 20000"/>
            </a:avLst>
          </a:prstGeom>
          <a:solidFill>
            <a:srgbClr val="E3EEF8"/>
          </a:solidFill>
          <a:ln w="15875">
            <a:solidFill>
              <a:srgbClr val="306998"/>
            </a:solidFill>
            <a:prstDash val="solid"/>
          </a:ln>
        </p:spPr>
      </p:sp>
      <p:sp>
        <p:nvSpPr>
          <p:cNvPr id="99" name="v:AddingAndReplacing:l3a5|b4"/>
          <p:cNvSpPr txBox="1"/>
          <p:nvPr/>
        </p:nvSpPr>
        <p:spPr>
          <a:xfrm>
            <a:off x="7547719"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'f'</a:t>
            </a:r>
            <a:endParaRPr lang="en-US" sz="1000" dirty="0"/>
          </a:p>
        </p:txBody>
      </p:sp>
      <p:sp>
        <p:nvSpPr>
          <p:cNvPr id="100" name="v:AddingAndReplacing:l3a6:box|b4"/>
          <p:cNvSpPr/>
          <p:nvPr/>
        </p:nvSpPr>
        <p:spPr>
          <a:xfrm>
            <a:off x="8117259" y="3538728"/>
            <a:ext cx="542109" cy="228600"/>
          </a:xfrm>
          <a:prstGeom prst="roundRect">
            <a:avLst>
              <a:gd name="adj" fmla="val 20000"/>
            </a:avLst>
          </a:prstGeom>
          <a:solidFill>
            <a:srgbClr val="E3EEF8"/>
          </a:solidFill>
          <a:ln w="15875">
            <a:solidFill>
              <a:srgbClr val="306998"/>
            </a:solidFill>
            <a:prstDash val="solid"/>
          </a:ln>
        </p:spPr>
      </p:sp>
      <p:sp>
        <p:nvSpPr>
          <p:cNvPr id="101" name="v:AddingAndReplacing:l3a6|b4"/>
          <p:cNvSpPr txBox="1"/>
          <p:nvPr/>
        </p:nvSpPr>
        <p:spPr>
          <a:xfrm>
            <a:off x="8135547" y="3538728"/>
            <a:ext cx="505533" cy="228600"/>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'g'</a:t>
            </a:r>
            <a:endParaRPr lang="en-US" sz="1000" dirty="0"/>
          </a:p>
        </p:txBody>
      </p:sp>
      <p:sp>
        <p:nvSpPr>
          <p:cNvPr id="102" name="codecardbox|b5"/>
          <p:cNvSpPr/>
          <p:nvPr/>
        </p:nvSpPr>
        <p:spPr>
          <a:xfrm>
            <a:off x="365760" y="3886200"/>
            <a:ext cx="4389120" cy="768096"/>
          </a:xfrm>
          <a:prstGeom prst="roundRect">
            <a:avLst>
              <a:gd name="adj" fmla="val 11905"/>
            </a:avLst>
          </a:prstGeom>
          <a:solidFill>
            <a:srgbClr val="17202B"/>
          </a:solidFill>
          <a:ln w="12700">
            <a:solidFill>
              <a:srgbClr val="17202B"/>
            </a:solidFill>
            <a:prstDash val="solid"/>
          </a:ln>
        </p:spPr>
      </p:sp>
      <p:sp>
        <p:nvSpPr>
          <p:cNvPr id="103" name="codecard|b5"/>
          <p:cNvSpPr txBox="1"/>
          <p:nvPr/>
        </p:nvSpPr>
        <p:spPr>
          <a:xfrm>
            <a:off x="530352" y="3959352"/>
            <a:ext cx="4059936" cy="621792"/>
          </a:xfrm>
          <a:prstGeom prst="rect">
            <a:avLst/>
          </a:prstGeom>
          <a:noFill/>
          <a:ln/>
        </p:spPr>
        <p:txBody>
          <a:bodyPr wrap="square" lIns="0" tIns="0" rIns="0" bIns="0" rtlCol="0" anchor="t"/>
          <a:lstStyle/>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spam = ['cat', 'dog', 'bat']</a:t>
            </a:r>
            <a:endParaRPr lang="en-US" sz="950" dirty="0"/>
          </a:p>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spam = spam.append('moose')</a:t>
            </a:r>
            <a:endParaRPr lang="en-US" sz="950" dirty="0"/>
          </a:p>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print(spam)</a:t>
            </a:r>
            <a:endParaRPr lang="en-US" sz="950" dirty="0"/>
          </a:p>
          <a:p>
            <a:pPr indent="0" marL="0">
              <a:spcAft>
                <a:spcPts val="100"/>
              </a:spcAft>
              <a:buNone/>
            </a:pPr>
            <a:r>
              <a:rPr lang="en-US" sz="950" dirty="0">
                <a:solidFill>
                  <a:srgbClr val="7EE787"/>
                </a:solidFill>
                <a:latin typeface="Courier New" pitchFamily="34" charset="0"/>
                <a:ea typeface="Courier New" pitchFamily="34" charset="-122"/>
                <a:cs typeface="Courier New" pitchFamily="34" charset="-120"/>
              </a:rPr>
              <a:t>None</a:t>
            </a:r>
            <a:endParaRPr lang="en-US" sz="950" dirty="0"/>
          </a:p>
        </p:txBody>
      </p:sp>
      <p:sp>
        <p:nvSpPr>
          <p:cNvPr id="104" name="say|b5"/>
          <p:cNvSpPr txBox="1"/>
          <p:nvPr/>
        </p:nvSpPr>
        <p:spPr>
          <a:xfrm>
            <a:off x="4937760" y="3950208"/>
            <a:ext cx="3840480" cy="640080"/>
          </a:xfrm>
          <a:prstGeom prst="rect">
            <a:avLst/>
          </a:prstGeom>
          <a:noFill/>
          <a:ln/>
        </p:spPr>
        <p:txBody>
          <a:bodyPr wrap="square" lIns="0" tIns="0" rIns="0" bIns="0" rtlCol="0" anchor="t"/>
          <a:lstStyle/>
          <a:p>
            <a:pPr indent="0" marL="0">
              <a:buNone/>
            </a:pPr>
            <a:r>
              <a:rPr lang="en-US" sz="1250" b="1" dirty="0">
                <a:solidFill>
                  <a:srgbClr val="D64545"/>
                </a:solidFill>
                <a:latin typeface="Calibri" pitchFamily="34" charset="0"/>
                <a:ea typeface="Calibri" pitchFamily="34" charset="-122"/>
                <a:cs typeface="Calibri" pitchFamily="34" charset="-120"/>
              </a:rPr>
              <a:t>Assigning the result of append to spam leaves spam holding None: the list is lost.</a:t>
            </a:r>
            <a:endParaRPr lang="en-US" sz="1250" dirty="0"/>
          </a:p>
        </p:txBody>
      </p:sp>
      <p:sp>
        <p:nvSpPr>
          <p:cNvPr id="10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0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0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Changing lists ▸ Append method, Insert method, Item assignment, Slice assignment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3" fill="hold">
                      <p:stCondLst>
                        <p:cond delay="indefinite"/>
                      </p:stCondLst>
                      <p:childTnLst>
                        <p:par>
                          <p:cTn id="64"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childTnLst>
                          </p:cTn>
                        </p:par>
                      </p:childTnLst>
                    </p:cTn>
                  </p:par>
                  <p:par>
                    <p:cTn id="125" fill="hold">
                      <p:stCondLst>
                        <p:cond delay="indefinite"/>
                      </p:stCondLst>
                      <p:childTnLst>
                        <p:par>
                          <p:cTn id="126"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00"/>
                                        <p:tgtEl>
                                          <p:spTgt spid="2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00"/>
                                        <p:tgtEl>
                                          <p:spTgt spid="2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00"/>
                                        <p:tgtEl>
                                          <p:spTgt spid="28"/>
                                        </p:tgtEl>
                                      </p:cBhvr>
                                    </p:animEffect>
                                  </p:childTnLst>
                                </p:cTn>
                              </p:par>
                              <p:par>
                                <p:cTn id="74" presetID="10" presetClass="entr" presetSubtype="0" fill="hold"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00"/>
                                        <p:tgtEl>
                                          <p:spTgt spid="2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00"/>
                                        <p:tgtEl>
                                          <p:spTgt spid="30"/>
                                        </p:tgtEl>
                                      </p:cBhvr>
                                    </p:animEffect>
                                  </p:childTnLst>
                                </p:cTn>
                              </p:par>
                              <p:par>
                                <p:cTn id="80" presetID="10" presetClass="entr" presetSubtype="0" fill="hold"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00"/>
                                        <p:tgtEl>
                                          <p:spTgt spid="3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par>
                                <p:cTn id="86" presetID="10" presetClass="entr" presetSubtype="0" fill="hold"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0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par>
                                <p:cTn id="107" presetID="10" presetClass="entr" presetSubtype="0" fill="hold"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00"/>
                                        <p:tgtEl>
                                          <p:spTgt spid="4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400"/>
                                        <p:tgtEl>
                                          <p:spTgt spid="41"/>
                                        </p:tgtEl>
                                      </p:cBhvr>
                                    </p:animEffect>
                                  </p:childTnLst>
                                </p:cTn>
                              </p:par>
                              <p:par>
                                <p:cTn id="113" presetID="10" presetClass="entr" presetSubtype="0" fill="hold"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00"/>
                                        <p:tgtEl>
                                          <p:spTgt spid="4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00"/>
                                        <p:tgtEl>
                                          <p:spTgt spid="43"/>
                                        </p:tgtEl>
                                      </p:cBhvr>
                                    </p:animEffect>
                                  </p:childTnLst>
                                </p:cTn>
                              </p:par>
                              <p:par>
                                <p:cTn id="119" presetID="10" presetClass="entr" presetSubtype="0" fill="hold"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400"/>
                                        <p:tgtEl>
                                          <p:spTgt spid="44"/>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400"/>
                                        <p:tgtEl>
                                          <p:spTgt spid="45"/>
                                        </p:tgtEl>
                                      </p:cBhvr>
                                    </p:animEffect>
                                  </p:childTnLst>
                                </p:cTn>
                              </p:par>
                            </p:childTnLst>
                          </p:cTn>
                        </p:par>
                      </p:childTnLst>
                    </p:cTn>
                  </p:par>
                  <p:par>
                    <p:cTn id="193" fill="hold">
                      <p:stCondLst>
                        <p:cond delay="indefinite"/>
                      </p:stCondLst>
                      <p:childTnLst>
                        <p:par>
                          <p:cTn id="194" fill="hold">
                            <p:stCondLst>
                              <p:cond delay="0"/>
                            </p:stCondLst>
                            <p:childTnLst>
                              <p:par>
                                <p:cTn id="127" presetID="10" presetClass="entr" presetSubtype="0" fill="hold" nodeType="clickEffect">
                                  <p:stCondLst>
                                    <p:cond delay="0"/>
                                  </p:stCondLst>
                                  <p:childTnLst>
                                    <p:set>
                                      <p:cBhvr>
                                        <p:cTn id="128" dur="1" fill="hold">
                                          <p:stCondLst>
                                            <p:cond delay="0"/>
                                          </p:stCondLst>
                                        </p:cTn>
                                        <p:tgtEl>
                                          <p:spTgt spid="46"/>
                                        </p:tgtEl>
                                        <p:attrNameLst>
                                          <p:attrName>style.visibility</p:attrName>
                                        </p:attrNameLst>
                                      </p:cBhvr>
                                      <p:to>
                                        <p:strVal val="visible"/>
                                      </p:to>
                                    </p:set>
                                    <p:animEffect transition="in" filter="fade">
                                      <p:cBhvr>
                                        <p:cTn id="129" dur="400"/>
                                        <p:tgtEl>
                                          <p:spTgt spid="46"/>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7"/>
                                        </p:tgtEl>
                                        <p:attrNameLst>
                                          <p:attrName>style.visibility</p:attrName>
                                        </p:attrNameLst>
                                      </p:cBhvr>
                                      <p:to>
                                        <p:strVal val="visible"/>
                                      </p:to>
                                    </p:set>
                                    <p:animEffect transition="in" filter="fade">
                                      <p:cBhvr>
                                        <p:cTn id="132" dur="400"/>
                                        <p:tgtEl>
                                          <p:spTgt spid="47"/>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48"/>
                                        </p:tgtEl>
                                        <p:attrNameLst>
                                          <p:attrName>style.visibility</p:attrName>
                                        </p:attrNameLst>
                                      </p:cBhvr>
                                      <p:to>
                                        <p:strVal val="visible"/>
                                      </p:to>
                                    </p:set>
                                    <p:animEffect transition="in" filter="fade">
                                      <p:cBhvr>
                                        <p:cTn id="135" dur="400"/>
                                        <p:tgtEl>
                                          <p:spTgt spid="48"/>
                                        </p:tgtEl>
                                      </p:cBhvr>
                                    </p:animEffect>
                                  </p:childTnLst>
                                </p:cTn>
                              </p:par>
                              <p:par>
                                <p:cTn id="136" presetID="10" presetClass="entr" presetSubtype="0" fill="hold" nodeType="withEffect">
                                  <p:stCondLst>
                                    <p:cond delay="0"/>
                                  </p:stCondLst>
                                  <p:childTnLst>
                                    <p:set>
                                      <p:cBhvr>
                                        <p:cTn id="137" dur="1" fill="hold">
                                          <p:stCondLst>
                                            <p:cond delay="0"/>
                                          </p:stCondLst>
                                        </p:cTn>
                                        <p:tgtEl>
                                          <p:spTgt spid="49"/>
                                        </p:tgtEl>
                                        <p:attrNameLst>
                                          <p:attrName>style.visibility</p:attrName>
                                        </p:attrNameLst>
                                      </p:cBhvr>
                                      <p:to>
                                        <p:strVal val="visible"/>
                                      </p:to>
                                    </p:set>
                                    <p:animEffect transition="in" filter="fade">
                                      <p:cBhvr>
                                        <p:cTn id="138" dur="400"/>
                                        <p:tgtEl>
                                          <p:spTgt spid="49"/>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50"/>
                                        </p:tgtEl>
                                        <p:attrNameLst>
                                          <p:attrName>style.visibility</p:attrName>
                                        </p:attrNameLst>
                                      </p:cBhvr>
                                      <p:to>
                                        <p:strVal val="visible"/>
                                      </p:to>
                                    </p:set>
                                    <p:animEffect transition="in" filter="fade">
                                      <p:cBhvr>
                                        <p:cTn id="141" dur="400"/>
                                        <p:tgtEl>
                                          <p:spTgt spid="50"/>
                                        </p:tgtEl>
                                      </p:cBhvr>
                                    </p:animEffect>
                                  </p:childTnLst>
                                </p:cTn>
                              </p:par>
                              <p:par>
                                <p:cTn id="142" presetID="10" presetClass="entr" presetSubtype="0" fill="hold" nodeType="withEffect">
                                  <p:stCondLst>
                                    <p:cond delay="0"/>
                                  </p:stCondLst>
                                  <p:childTnLst>
                                    <p:set>
                                      <p:cBhvr>
                                        <p:cTn id="143" dur="1" fill="hold">
                                          <p:stCondLst>
                                            <p:cond delay="0"/>
                                          </p:stCondLst>
                                        </p:cTn>
                                        <p:tgtEl>
                                          <p:spTgt spid="51"/>
                                        </p:tgtEl>
                                        <p:attrNameLst>
                                          <p:attrName>style.visibility</p:attrName>
                                        </p:attrNameLst>
                                      </p:cBhvr>
                                      <p:to>
                                        <p:strVal val="visible"/>
                                      </p:to>
                                    </p:set>
                                    <p:animEffect transition="in" filter="fade">
                                      <p:cBhvr>
                                        <p:cTn id="144" dur="400"/>
                                        <p:tgtEl>
                                          <p:spTgt spid="51"/>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52"/>
                                        </p:tgtEl>
                                        <p:attrNameLst>
                                          <p:attrName>style.visibility</p:attrName>
                                        </p:attrNameLst>
                                      </p:cBhvr>
                                      <p:to>
                                        <p:strVal val="visible"/>
                                      </p:to>
                                    </p:set>
                                    <p:animEffect transition="in" filter="fade">
                                      <p:cBhvr>
                                        <p:cTn id="147" dur="400"/>
                                        <p:tgtEl>
                                          <p:spTgt spid="52"/>
                                        </p:tgtEl>
                                      </p:cBhvr>
                                    </p:animEffect>
                                  </p:childTnLst>
                                </p:cTn>
                              </p:par>
                              <p:par>
                                <p:cTn id="148" presetID="10" presetClass="entr" presetSubtype="0" fill="hold" nodeType="withEffect">
                                  <p:stCondLst>
                                    <p:cond delay="0"/>
                                  </p:stCondLst>
                                  <p:childTnLst>
                                    <p:set>
                                      <p:cBhvr>
                                        <p:cTn id="149" dur="1" fill="hold">
                                          <p:stCondLst>
                                            <p:cond delay="0"/>
                                          </p:stCondLst>
                                        </p:cTn>
                                        <p:tgtEl>
                                          <p:spTgt spid="53"/>
                                        </p:tgtEl>
                                        <p:attrNameLst>
                                          <p:attrName>style.visibility</p:attrName>
                                        </p:attrNameLst>
                                      </p:cBhvr>
                                      <p:to>
                                        <p:strVal val="visible"/>
                                      </p:to>
                                    </p:set>
                                    <p:animEffect transition="in" filter="fade">
                                      <p:cBhvr>
                                        <p:cTn id="150" dur="400"/>
                                        <p:tgtEl>
                                          <p:spTgt spid="53"/>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4"/>
                                        </p:tgtEl>
                                        <p:attrNameLst>
                                          <p:attrName>style.visibility</p:attrName>
                                        </p:attrNameLst>
                                      </p:cBhvr>
                                      <p:to>
                                        <p:strVal val="visible"/>
                                      </p:to>
                                    </p:set>
                                    <p:animEffect transition="in" filter="fade">
                                      <p:cBhvr>
                                        <p:cTn id="153" dur="400"/>
                                        <p:tgtEl>
                                          <p:spTgt spid="54"/>
                                        </p:tgtEl>
                                      </p:cBhvr>
                                    </p:animEffect>
                                  </p:childTnLst>
                                </p:cTn>
                              </p:par>
                              <p:par>
                                <p:cTn id="154" presetID="10" presetClass="entr" presetSubtype="0" fill="hold" nodeType="withEffect">
                                  <p:stCondLst>
                                    <p:cond delay="0"/>
                                  </p:stCondLst>
                                  <p:childTnLst>
                                    <p:set>
                                      <p:cBhvr>
                                        <p:cTn id="155" dur="1" fill="hold">
                                          <p:stCondLst>
                                            <p:cond delay="0"/>
                                          </p:stCondLst>
                                        </p:cTn>
                                        <p:tgtEl>
                                          <p:spTgt spid="55"/>
                                        </p:tgtEl>
                                        <p:attrNameLst>
                                          <p:attrName>style.visibility</p:attrName>
                                        </p:attrNameLst>
                                      </p:cBhvr>
                                      <p:to>
                                        <p:strVal val="visible"/>
                                      </p:to>
                                    </p:set>
                                    <p:animEffect transition="in" filter="fade">
                                      <p:cBhvr>
                                        <p:cTn id="156" dur="400"/>
                                        <p:tgtEl>
                                          <p:spTgt spid="55"/>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56"/>
                                        </p:tgtEl>
                                        <p:attrNameLst>
                                          <p:attrName>style.visibility</p:attrName>
                                        </p:attrNameLst>
                                      </p:cBhvr>
                                      <p:to>
                                        <p:strVal val="visible"/>
                                      </p:to>
                                    </p:set>
                                    <p:animEffect transition="in" filter="fade">
                                      <p:cBhvr>
                                        <p:cTn id="159" dur="400"/>
                                        <p:tgtEl>
                                          <p:spTgt spid="56"/>
                                        </p:tgtEl>
                                      </p:cBhvr>
                                    </p:animEffect>
                                  </p:childTnLst>
                                </p:cTn>
                              </p:par>
                              <p:par>
                                <p:cTn id="160" presetID="10" presetClass="entr" presetSubtype="0" fill="hold" nodeType="withEffect">
                                  <p:stCondLst>
                                    <p:cond delay="0"/>
                                  </p:stCondLst>
                                  <p:childTnLst>
                                    <p:set>
                                      <p:cBhvr>
                                        <p:cTn id="161" dur="1" fill="hold">
                                          <p:stCondLst>
                                            <p:cond delay="0"/>
                                          </p:stCondLst>
                                        </p:cTn>
                                        <p:tgtEl>
                                          <p:spTgt spid="57"/>
                                        </p:tgtEl>
                                        <p:attrNameLst>
                                          <p:attrName>style.visibility</p:attrName>
                                        </p:attrNameLst>
                                      </p:cBhvr>
                                      <p:to>
                                        <p:strVal val="visible"/>
                                      </p:to>
                                    </p:set>
                                    <p:animEffect transition="in" filter="fade">
                                      <p:cBhvr>
                                        <p:cTn id="162" dur="400"/>
                                        <p:tgtEl>
                                          <p:spTgt spid="57"/>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58"/>
                                        </p:tgtEl>
                                        <p:attrNameLst>
                                          <p:attrName>style.visibility</p:attrName>
                                        </p:attrNameLst>
                                      </p:cBhvr>
                                      <p:to>
                                        <p:strVal val="visible"/>
                                      </p:to>
                                    </p:set>
                                    <p:animEffect transition="in" filter="fade">
                                      <p:cBhvr>
                                        <p:cTn id="165" dur="400"/>
                                        <p:tgtEl>
                                          <p:spTgt spid="58"/>
                                        </p:tgtEl>
                                      </p:cBhvr>
                                    </p:animEffect>
                                  </p:childTnLst>
                                </p:cTn>
                              </p:par>
                              <p:par>
                                <p:cTn id="166" presetID="10" presetClass="entr" presetSubtype="0" fill="hold" nodeType="withEffect">
                                  <p:stCondLst>
                                    <p:cond delay="0"/>
                                  </p:stCondLst>
                                  <p:childTnLst>
                                    <p:set>
                                      <p:cBhvr>
                                        <p:cTn id="167" dur="1" fill="hold">
                                          <p:stCondLst>
                                            <p:cond delay="0"/>
                                          </p:stCondLst>
                                        </p:cTn>
                                        <p:tgtEl>
                                          <p:spTgt spid="59"/>
                                        </p:tgtEl>
                                        <p:attrNameLst>
                                          <p:attrName>style.visibility</p:attrName>
                                        </p:attrNameLst>
                                      </p:cBhvr>
                                      <p:to>
                                        <p:strVal val="visible"/>
                                      </p:to>
                                    </p:set>
                                    <p:animEffect transition="in" filter="fade">
                                      <p:cBhvr>
                                        <p:cTn id="168" dur="400"/>
                                        <p:tgtEl>
                                          <p:spTgt spid="59"/>
                                        </p:tgtEl>
                                      </p:cBhvr>
                                    </p:animEffect>
                                  </p:childTnLst>
                                </p:cTn>
                              </p:par>
                              <p:par>
                                <p:cTn id="169" presetID="10" presetClass="entr" presetSubtype="0" fill="hold" nodeType="withEffect">
                                  <p:stCondLst>
                                    <p:cond delay="0"/>
                                  </p:stCondLst>
                                  <p:childTnLst>
                                    <p:set>
                                      <p:cBhvr>
                                        <p:cTn id="170" dur="1" fill="hold">
                                          <p:stCondLst>
                                            <p:cond delay="0"/>
                                          </p:stCondLst>
                                        </p:cTn>
                                        <p:tgtEl>
                                          <p:spTgt spid="60"/>
                                        </p:tgtEl>
                                        <p:attrNameLst>
                                          <p:attrName>style.visibility</p:attrName>
                                        </p:attrNameLst>
                                      </p:cBhvr>
                                      <p:to>
                                        <p:strVal val="visible"/>
                                      </p:to>
                                    </p:set>
                                    <p:animEffect transition="in" filter="fade">
                                      <p:cBhvr>
                                        <p:cTn id="171" dur="400"/>
                                        <p:tgtEl>
                                          <p:spTgt spid="60"/>
                                        </p:tgtEl>
                                      </p:cBhvr>
                                    </p:animEffect>
                                  </p:childTnLst>
                                </p:cTn>
                              </p:par>
                              <p:par>
                                <p:cTn id="172" presetID="10" presetClass="entr" presetSubtype="0" fill="hold" grpId="0" nodeType="withEffect">
                                  <p:stCondLst>
                                    <p:cond delay="0"/>
                                  </p:stCondLst>
                                  <p:childTnLst>
                                    <p:set>
                                      <p:cBhvr>
                                        <p:cTn id="173" dur="1" fill="hold">
                                          <p:stCondLst>
                                            <p:cond delay="0"/>
                                          </p:stCondLst>
                                        </p:cTn>
                                        <p:tgtEl>
                                          <p:spTgt spid="61"/>
                                        </p:tgtEl>
                                        <p:attrNameLst>
                                          <p:attrName>style.visibility</p:attrName>
                                        </p:attrNameLst>
                                      </p:cBhvr>
                                      <p:to>
                                        <p:strVal val="visible"/>
                                      </p:to>
                                    </p:set>
                                    <p:animEffect transition="in" filter="fade">
                                      <p:cBhvr>
                                        <p:cTn id="174" dur="400"/>
                                        <p:tgtEl>
                                          <p:spTgt spid="61"/>
                                        </p:tgtEl>
                                      </p:cBhvr>
                                    </p:animEffect>
                                  </p:childTnLst>
                                </p:cTn>
                              </p:par>
                              <p:par>
                                <p:cTn id="175" presetID="10" presetClass="entr" presetSubtype="0" fill="hold" nodeType="withEffect">
                                  <p:stCondLst>
                                    <p:cond delay="0"/>
                                  </p:stCondLst>
                                  <p:childTnLst>
                                    <p:set>
                                      <p:cBhvr>
                                        <p:cTn id="176" dur="1" fill="hold">
                                          <p:stCondLst>
                                            <p:cond delay="0"/>
                                          </p:stCondLst>
                                        </p:cTn>
                                        <p:tgtEl>
                                          <p:spTgt spid="62"/>
                                        </p:tgtEl>
                                        <p:attrNameLst>
                                          <p:attrName>style.visibility</p:attrName>
                                        </p:attrNameLst>
                                      </p:cBhvr>
                                      <p:to>
                                        <p:strVal val="visible"/>
                                      </p:to>
                                    </p:set>
                                    <p:animEffect transition="in" filter="fade">
                                      <p:cBhvr>
                                        <p:cTn id="177" dur="400"/>
                                        <p:tgtEl>
                                          <p:spTgt spid="62"/>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63"/>
                                        </p:tgtEl>
                                        <p:attrNameLst>
                                          <p:attrName>style.visibility</p:attrName>
                                        </p:attrNameLst>
                                      </p:cBhvr>
                                      <p:to>
                                        <p:strVal val="visible"/>
                                      </p:to>
                                    </p:set>
                                    <p:animEffect transition="in" filter="fade">
                                      <p:cBhvr>
                                        <p:cTn id="180" dur="400"/>
                                        <p:tgtEl>
                                          <p:spTgt spid="63"/>
                                        </p:tgtEl>
                                      </p:cBhvr>
                                    </p:animEffect>
                                  </p:childTnLst>
                                </p:cTn>
                              </p:par>
                              <p:par>
                                <p:cTn id="181" presetID="10" presetClass="entr" presetSubtype="0" fill="hold" nodeType="withEffect">
                                  <p:stCondLst>
                                    <p:cond delay="0"/>
                                  </p:stCondLst>
                                  <p:childTnLst>
                                    <p:set>
                                      <p:cBhvr>
                                        <p:cTn id="182" dur="1" fill="hold">
                                          <p:stCondLst>
                                            <p:cond delay="0"/>
                                          </p:stCondLst>
                                        </p:cTn>
                                        <p:tgtEl>
                                          <p:spTgt spid="64"/>
                                        </p:tgtEl>
                                        <p:attrNameLst>
                                          <p:attrName>style.visibility</p:attrName>
                                        </p:attrNameLst>
                                      </p:cBhvr>
                                      <p:to>
                                        <p:strVal val="visible"/>
                                      </p:to>
                                    </p:set>
                                    <p:animEffect transition="in" filter="fade">
                                      <p:cBhvr>
                                        <p:cTn id="183" dur="400"/>
                                        <p:tgtEl>
                                          <p:spTgt spid="64"/>
                                        </p:tgtEl>
                                      </p:cBhvr>
                                    </p:animEffect>
                                  </p:childTnLst>
                                </p:cTn>
                              </p:par>
                              <p:par>
                                <p:cTn id="184" presetID="10" presetClass="entr" presetSubtype="0" fill="hold" grpId="0" nodeType="withEffect">
                                  <p:stCondLst>
                                    <p:cond delay="0"/>
                                  </p:stCondLst>
                                  <p:childTnLst>
                                    <p:set>
                                      <p:cBhvr>
                                        <p:cTn id="185" dur="1" fill="hold">
                                          <p:stCondLst>
                                            <p:cond delay="0"/>
                                          </p:stCondLst>
                                        </p:cTn>
                                        <p:tgtEl>
                                          <p:spTgt spid="65"/>
                                        </p:tgtEl>
                                        <p:attrNameLst>
                                          <p:attrName>style.visibility</p:attrName>
                                        </p:attrNameLst>
                                      </p:cBhvr>
                                      <p:to>
                                        <p:strVal val="visible"/>
                                      </p:to>
                                    </p:set>
                                    <p:animEffect transition="in" filter="fade">
                                      <p:cBhvr>
                                        <p:cTn id="186" dur="400"/>
                                        <p:tgtEl>
                                          <p:spTgt spid="65"/>
                                        </p:tgtEl>
                                      </p:cBhvr>
                                    </p:animEffect>
                                  </p:childTnLst>
                                </p:cTn>
                              </p:par>
                              <p:par>
                                <p:cTn id="187" presetID="10" presetClass="entr" presetSubtype="0" fill="hold" nodeType="withEffect">
                                  <p:stCondLst>
                                    <p:cond delay="0"/>
                                  </p:stCondLst>
                                  <p:childTnLst>
                                    <p:set>
                                      <p:cBhvr>
                                        <p:cTn id="188" dur="1" fill="hold">
                                          <p:stCondLst>
                                            <p:cond delay="0"/>
                                          </p:stCondLst>
                                        </p:cTn>
                                        <p:tgtEl>
                                          <p:spTgt spid="66"/>
                                        </p:tgtEl>
                                        <p:attrNameLst>
                                          <p:attrName>style.visibility</p:attrName>
                                        </p:attrNameLst>
                                      </p:cBhvr>
                                      <p:to>
                                        <p:strVal val="visible"/>
                                      </p:to>
                                    </p:set>
                                    <p:animEffect transition="in" filter="fade">
                                      <p:cBhvr>
                                        <p:cTn id="189" dur="400"/>
                                        <p:tgtEl>
                                          <p:spTgt spid="66"/>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7"/>
                                        </p:tgtEl>
                                        <p:attrNameLst>
                                          <p:attrName>style.visibility</p:attrName>
                                        </p:attrNameLst>
                                      </p:cBhvr>
                                      <p:to>
                                        <p:strVal val="visible"/>
                                      </p:to>
                                    </p:set>
                                    <p:animEffect transition="in" filter="fade">
                                      <p:cBhvr>
                                        <p:cTn id="192" dur="400"/>
                                        <p:tgtEl>
                                          <p:spTgt spid="67"/>
                                        </p:tgtEl>
                                      </p:cBhvr>
                                    </p:animEffect>
                                  </p:childTnLst>
                                </p:cTn>
                              </p:par>
                            </p:childTnLst>
                          </p:cTn>
                        </p:par>
                      </p:childTnLst>
                    </p:cTn>
                  </p:par>
                  <p:par>
                    <p:cTn id="297" fill="hold">
                      <p:stCondLst>
                        <p:cond delay="indefinite"/>
                      </p:stCondLst>
                      <p:childTnLst>
                        <p:par>
                          <p:cTn id="298" fill="hold">
                            <p:stCondLst>
                              <p:cond delay="0"/>
                            </p:stCondLst>
                            <p:childTnLst>
                              <p:par>
                                <p:cTn id="195" presetID="10" presetClass="entr" presetSubtype="0" fill="hold" nodeType="clickEffect">
                                  <p:stCondLst>
                                    <p:cond delay="0"/>
                                  </p:stCondLst>
                                  <p:childTnLst>
                                    <p:set>
                                      <p:cBhvr>
                                        <p:cTn id="196" dur="1" fill="hold">
                                          <p:stCondLst>
                                            <p:cond delay="0"/>
                                          </p:stCondLst>
                                        </p:cTn>
                                        <p:tgtEl>
                                          <p:spTgt spid="68"/>
                                        </p:tgtEl>
                                        <p:attrNameLst>
                                          <p:attrName>style.visibility</p:attrName>
                                        </p:attrNameLst>
                                      </p:cBhvr>
                                      <p:to>
                                        <p:strVal val="visible"/>
                                      </p:to>
                                    </p:set>
                                    <p:animEffect transition="in" filter="fade">
                                      <p:cBhvr>
                                        <p:cTn id="197" dur="400"/>
                                        <p:tgtEl>
                                          <p:spTgt spid="68"/>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69"/>
                                        </p:tgtEl>
                                        <p:attrNameLst>
                                          <p:attrName>style.visibility</p:attrName>
                                        </p:attrNameLst>
                                      </p:cBhvr>
                                      <p:to>
                                        <p:strVal val="visible"/>
                                      </p:to>
                                    </p:set>
                                    <p:animEffect transition="in" filter="fade">
                                      <p:cBhvr>
                                        <p:cTn id="200" dur="400"/>
                                        <p:tgtEl>
                                          <p:spTgt spid="69"/>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70"/>
                                        </p:tgtEl>
                                        <p:attrNameLst>
                                          <p:attrName>style.visibility</p:attrName>
                                        </p:attrNameLst>
                                      </p:cBhvr>
                                      <p:to>
                                        <p:strVal val="visible"/>
                                      </p:to>
                                    </p:set>
                                    <p:animEffect transition="in" filter="fade">
                                      <p:cBhvr>
                                        <p:cTn id="203" dur="400"/>
                                        <p:tgtEl>
                                          <p:spTgt spid="70"/>
                                        </p:tgtEl>
                                      </p:cBhvr>
                                    </p:animEffect>
                                  </p:childTnLst>
                                </p:cTn>
                              </p:par>
                              <p:par>
                                <p:cTn id="204" presetID="10" presetClass="entr" presetSubtype="0" fill="hold" nodeType="withEffect">
                                  <p:stCondLst>
                                    <p:cond delay="0"/>
                                  </p:stCondLst>
                                  <p:childTnLst>
                                    <p:set>
                                      <p:cBhvr>
                                        <p:cTn id="205" dur="1" fill="hold">
                                          <p:stCondLst>
                                            <p:cond delay="0"/>
                                          </p:stCondLst>
                                        </p:cTn>
                                        <p:tgtEl>
                                          <p:spTgt spid="71"/>
                                        </p:tgtEl>
                                        <p:attrNameLst>
                                          <p:attrName>style.visibility</p:attrName>
                                        </p:attrNameLst>
                                      </p:cBhvr>
                                      <p:to>
                                        <p:strVal val="visible"/>
                                      </p:to>
                                    </p:set>
                                    <p:animEffect transition="in" filter="fade">
                                      <p:cBhvr>
                                        <p:cTn id="206" dur="400"/>
                                        <p:tgtEl>
                                          <p:spTgt spid="71"/>
                                        </p:tgtEl>
                                      </p:cBhvr>
                                    </p:animEffect>
                                  </p:childTnLst>
                                </p:cTn>
                              </p:par>
                              <p:par>
                                <p:cTn id="207" presetID="10" presetClass="entr" presetSubtype="0" fill="hold" grpId="0" nodeType="withEffect">
                                  <p:stCondLst>
                                    <p:cond delay="0"/>
                                  </p:stCondLst>
                                  <p:childTnLst>
                                    <p:set>
                                      <p:cBhvr>
                                        <p:cTn id="208" dur="1" fill="hold">
                                          <p:stCondLst>
                                            <p:cond delay="0"/>
                                          </p:stCondLst>
                                        </p:cTn>
                                        <p:tgtEl>
                                          <p:spTgt spid="72"/>
                                        </p:tgtEl>
                                        <p:attrNameLst>
                                          <p:attrName>style.visibility</p:attrName>
                                        </p:attrNameLst>
                                      </p:cBhvr>
                                      <p:to>
                                        <p:strVal val="visible"/>
                                      </p:to>
                                    </p:set>
                                    <p:animEffect transition="in" filter="fade">
                                      <p:cBhvr>
                                        <p:cTn id="209" dur="400"/>
                                        <p:tgtEl>
                                          <p:spTgt spid="72"/>
                                        </p:tgtEl>
                                      </p:cBhvr>
                                    </p:animEffect>
                                  </p:childTnLst>
                                </p:cTn>
                              </p:par>
                              <p:par>
                                <p:cTn id="210" presetID="10" presetClass="entr" presetSubtype="0" fill="hold" nodeType="withEffect">
                                  <p:stCondLst>
                                    <p:cond delay="0"/>
                                  </p:stCondLst>
                                  <p:childTnLst>
                                    <p:set>
                                      <p:cBhvr>
                                        <p:cTn id="211" dur="1" fill="hold">
                                          <p:stCondLst>
                                            <p:cond delay="0"/>
                                          </p:stCondLst>
                                        </p:cTn>
                                        <p:tgtEl>
                                          <p:spTgt spid="73"/>
                                        </p:tgtEl>
                                        <p:attrNameLst>
                                          <p:attrName>style.visibility</p:attrName>
                                        </p:attrNameLst>
                                      </p:cBhvr>
                                      <p:to>
                                        <p:strVal val="visible"/>
                                      </p:to>
                                    </p:set>
                                    <p:animEffect transition="in" filter="fade">
                                      <p:cBhvr>
                                        <p:cTn id="212" dur="400"/>
                                        <p:tgtEl>
                                          <p:spTgt spid="73"/>
                                        </p:tgtEl>
                                      </p:cBhvr>
                                    </p:animEffect>
                                  </p:childTnLst>
                                </p:cTn>
                              </p:par>
                              <p:par>
                                <p:cTn id="213" presetID="10" presetClass="entr" presetSubtype="0" fill="hold" grpId="0" nodeType="withEffect">
                                  <p:stCondLst>
                                    <p:cond delay="0"/>
                                  </p:stCondLst>
                                  <p:childTnLst>
                                    <p:set>
                                      <p:cBhvr>
                                        <p:cTn id="214" dur="1" fill="hold">
                                          <p:stCondLst>
                                            <p:cond delay="0"/>
                                          </p:stCondLst>
                                        </p:cTn>
                                        <p:tgtEl>
                                          <p:spTgt spid="74"/>
                                        </p:tgtEl>
                                        <p:attrNameLst>
                                          <p:attrName>style.visibility</p:attrName>
                                        </p:attrNameLst>
                                      </p:cBhvr>
                                      <p:to>
                                        <p:strVal val="visible"/>
                                      </p:to>
                                    </p:set>
                                    <p:animEffect transition="in" filter="fade">
                                      <p:cBhvr>
                                        <p:cTn id="215" dur="400"/>
                                        <p:tgtEl>
                                          <p:spTgt spid="74"/>
                                        </p:tgtEl>
                                      </p:cBhvr>
                                    </p:animEffect>
                                  </p:childTnLst>
                                </p:cTn>
                              </p:par>
                              <p:par>
                                <p:cTn id="216" presetID="10" presetClass="entr" presetSubtype="0" fill="hold" nodeType="withEffect">
                                  <p:stCondLst>
                                    <p:cond delay="0"/>
                                  </p:stCondLst>
                                  <p:childTnLst>
                                    <p:set>
                                      <p:cBhvr>
                                        <p:cTn id="217" dur="1" fill="hold">
                                          <p:stCondLst>
                                            <p:cond delay="0"/>
                                          </p:stCondLst>
                                        </p:cTn>
                                        <p:tgtEl>
                                          <p:spTgt spid="75"/>
                                        </p:tgtEl>
                                        <p:attrNameLst>
                                          <p:attrName>style.visibility</p:attrName>
                                        </p:attrNameLst>
                                      </p:cBhvr>
                                      <p:to>
                                        <p:strVal val="visible"/>
                                      </p:to>
                                    </p:set>
                                    <p:animEffect transition="in" filter="fade">
                                      <p:cBhvr>
                                        <p:cTn id="218" dur="400"/>
                                        <p:tgtEl>
                                          <p:spTgt spid="75"/>
                                        </p:tgtEl>
                                      </p:cBhvr>
                                    </p:animEffect>
                                  </p:childTnLst>
                                </p:cTn>
                              </p:par>
                              <p:par>
                                <p:cTn id="219" presetID="10" presetClass="entr" presetSubtype="0" fill="hold" grpId="0" nodeType="withEffect">
                                  <p:stCondLst>
                                    <p:cond delay="0"/>
                                  </p:stCondLst>
                                  <p:childTnLst>
                                    <p:set>
                                      <p:cBhvr>
                                        <p:cTn id="220" dur="1" fill="hold">
                                          <p:stCondLst>
                                            <p:cond delay="0"/>
                                          </p:stCondLst>
                                        </p:cTn>
                                        <p:tgtEl>
                                          <p:spTgt spid="76"/>
                                        </p:tgtEl>
                                        <p:attrNameLst>
                                          <p:attrName>style.visibility</p:attrName>
                                        </p:attrNameLst>
                                      </p:cBhvr>
                                      <p:to>
                                        <p:strVal val="visible"/>
                                      </p:to>
                                    </p:set>
                                    <p:animEffect transition="in" filter="fade">
                                      <p:cBhvr>
                                        <p:cTn id="221" dur="400"/>
                                        <p:tgtEl>
                                          <p:spTgt spid="76"/>
                                        </p:tgtEl>
                                      </p:cBhvr>
                                    </p:animEffect>
                                  </p:childTnLst>
                                </p:cTn>
                              </p:par>
                              <p:par>
                                <p:cTn id="222" presetID="10" presetClass="entr" presetSubtype="0" fill="hold" nodeType="withEffect">
                                  <p:stCondLst>
                                    <p:cond delay="0"/>
                                  </p:stCondLst>
                                  <p:childTnLst>
                                    <p:set>
                                      <p:cBhvr>
                                        <p:cTn id="223" dur="1" fill="hold">
                                          <p:stCondLst>
                                            <p:cond delay="0"/>
                                          </p:stCondLst>
                                        </p:cTn>
                                        <p:tgtEl>
                                          <p:spTgt spid="77"/>
                                        </p:tgtEl>
                                        <p:attrNameLst>
                                          <p:attrName>style.visibility</p:attrName>
                                        </p:attrNameLst>
                                      </p:cBhvr>
                                      <p:to>
                                        <p:strVal val="visible"/>
                                      </p:to>
                                    </p:set>
                                    <p:animEffect transition="in" filter="fade">
                                      <p:cBhvr>
                                        <p:cTn id="224" dur="400"/>
                                        <p:tgtEl>
                                          <p:spTgt spid="77"/>
                                        </p:tgtEl>
                                      </p:cBhvr>
                                    </p:animEffect>
                                  </p:childTnLst>
                                </p:cTn>
                              </p:par>
                              <p:par>
                                <p:cTn id="225" presetID="10" presetClass="entr" presetSubtype="0" fill="hold" grpId="0" nodeType="withEffect">
                                  <p:stCondLst>
                                    <p:cond delay="0"/>
                                  </p:stCondLst>
                                  <p:childTnLst>
                                    <p:set>
                                      <p:cBhvr>
                                        <p:cTn id="226" dur="1" fill="hold">
                                          <p:stCondLst>
                                            <p:cond delay="0"/>
                                          </p:stCondLst>
                                        </p:cTn>
                                        <p:tgtEl>
                                          <p:spTgt spid="78"/>
                                        </p:tgtEl>
                                        <p:attrNameLst>
                                          <p:attrName>style.visibility</p:attrName>
                                        </p:attrNameLst>
                                      </p:cBhvr>
                                      <p:to>
                                        <p:strVal val="visible"/>
                                      </p:to>
                                    </p:set>
                                    <p:animEffect transition="in" filter="fade">
                                      <p:cBhvr>
                                        <p:cTn id="227" dur="400"/>
                                        <p:tgtEl>
                                          <p:spTgt spid="78"/>
                                        </p:tgtEl>
                                      </p:cBhvr>
                                    </p:animEffect>
                                  </p:childTnLst>
                                </p:cTn>
                              </p:par>
                              <p:par>
                                <p:cTn id="228" presetID="10" presetClass="entr" presetSubtype="0" fill="hold" nodeType="withEffect">
                                  <p:stCondLst>
                                    <p:cond delay="0"/>
                                  </p:stCondLst>
                                  <p:childTnLst>
                                    <p:set>
                                      <p:cBhvr>
                                        <p:cTn id="229" dur="1" fill="hold">
                                          <p:stCondLst>
                                            <p:cond delay="0"/>
                                          </p:stCondLst>
                                        </p:cTn>
                                        <p:tgtEl>
                                          <p:spTgt spid="79"/>
                                        </p:tgtEl>
                                        <p:attrNameLst>
                                          <p:attrName>style.visibility</p:attrName>
                                        </p:attrNameLst>
                                      </p:cBhvr>
                                      <p:to>
                                        <p:strVal val="visible"/>
                                      </p:to>
                                    </p:set>
                                    <p:animEffect transition="in" filter="fade">
                                      <p:cBhvr>
                                        <p:cTn id="230" dur="400"/>
                                        <p:tgtEl>
                                          <p:spTgt spid="79"/>
                                        </p:tgtEl>
                                      </p:cBhvr>
                                    </p:animEffect>
                                  </p:childTnLst>
                                </p:cTn>
                              </p:par>
                              <p:par>
                                <p:cTn id="231" presetID="10" presetClass="entr" presetSubtype="0" fill="hold" grpId="0" nodeType="withEffect">
                                  <p:stCondLst>
                                    <p:cond delay="0"/>
                                  </p:stCondLst>
                                  <p:childTnLst>
                                    <p:set>
                                      <p:cBhvr>
                                        <p:cTn id="232" dur="1" fill="hold">
                                          <p:stCondLst>
                                            <p:cond delay="0"/>
                                          </p:stCondLst>
                                        </p:cTn>
                                        <p:tgtEl>
                                          <p:spTgt spid="80"/>
                                        </p:tgtEl>
                                        <p:attrNameLst>
                                          <p:attrName>style.visibility</p:attrName>
                                        </p:attrNameLst>
                                      </p:cBhvr>
                                      <p:to>
                                        <p:strVal val="visible"/>
                                      </p:to>
                                    </p:set>
                                    <p:animEffect transition="in" filter="fade">
                                      <p:cBhvr>
                                        <p:cTn id="233" dur="400"/>
                                        <p:tgtEl>
                                          <p:spTgt spid="80"/>
                                        </p:tgtEl>
                                      </p:cBhvr>
                                    </p:animEffect>
                                  </p:childTnLst>
                                </p:cTn>
                              </p:par>
                              <p:par>
                                <p:cTn id="234" presetID="10" presetClass="entr" presetSubtype="0" fill="hold" nodeType="withEffect">
                                  <p:stCondLst>
                                    <p:cond delay="0"/>
                                  </p:stCondLst>
                                  <p:childTnLst>
                                    <p:set>
                                      <p:cBhvr>
                                        <p:cTn id="235" dur="1" fill="hold">
                                          <p:stCondLst>
                                            <p:cond delay="0"/>
                                          </p:stCondLst>
                                        </p:cTn>
                                        <p:tgtEl>
                                          <p:spTgt spid="81"/>
                                        </p:tgtEl>
                                        <p:attrNameLst>
                                          <p:attrName>style.visibility</p:attrName>
                                        </p:attrNameLst>
                                      </p:cBhvr>
                                      <p:to>
                                        <p:strVal val="visible"/>
                                      </p:to>
                                    </p:set>
                                    <p:animEffect transition="in" filter="fade">
                                      <p:cBhvr>
                                        <p:cTn id="236" dur="400"/>
                                        <p:tgtEl>
                                          <p:spTgt spid="81"/>
                                        </p:tgtEl>
                                      </p:cBhvr>
                                    </p:animEffect>
                                  </p:childTnLst>
                                </p:cTn>
                              </p:par>
                              <p:par>
                                <p:cTn id="237" presetID="10" presetClass="entr" presetSubtype="0" fill="hold" grpId="0" nodeType="withEffect">
                                  <p:stCondLst>
                                    <p:cond delay="0"/>
                                  </p:stCondLst>
                                  <p:childTnLst>
                                    <p:set>
                                      <p:cBhvr>
                                        <p:cTn id="238" dur="1" fill="hold">
                                          <p:stCondLst>
                                            <p:cond delay="0"/>
                                          </p:stCondLst>
                                        </p:cTn>
                                        <p:tgtEl>
                                          <p:spTgt spid="82"/>
                                        </p:tgtEl>
                                        <p:attrNameLst>
                                          <p:attrName>style.visibility</p:attrName>
                                        </p:attrNameLst>
                                      </p:cBhvr>
                                      <p:to>
                                        <p:strVal val="visible"/>
                                      </p:to>
                                    </p:set>
                                    <p:animEffect transition="in" filter="fade">
                                      <p:cBhvr>
                                        <p:cTn id="239" dur="400"/>
                                        <p:tgtEl>
                                          <p:spTgt spid="82"/>
                                        </p:tgtEl>
                                      </p:cBhvr>
                                    </p:animEffect>
                                  </p:childTnLst>
                                </p:cTn>
                              </p:par>
                              <p:par>
                                <p:cTn id="240" presetID="10" presetClass="entr" presetSubtype="0" fill="hold" nodeType="withEffect">
                                  <p:stCondLst>
                                    <p:cond delay="0"/>
                                  </p:stCondLst>
                                  <p:childTnLst>
                                    <p:set>
                                      <p:cBhvr>
                                        <p:cTn id="241" dur="1" fill="hold">
                                          <p:stCondLst>
                                            <p:cond delay="0"/>
                                          </p:stCondLst>
                                        </p:cTn>
                                        <p:tgtEl>
                                          <p:spTgt spid="83"/>
                                        </p:tgtEl>
                                        <p:attrNameLst>
                                          <p:attrName>style.visibility</p:attrName>
                                        </p:attrNameLst>
                                      </p:cBhvr>
                                      <p:to>
                                        <p:strVal val="visible"/>
                                      </p:to>
                                    </p:set>
                                    <p:animEffect transition="in" filter="fade">
                                      <p:cBhvr>
                                        <p:cTn id="242" dur="400"/>
                                        <p:tgtEl>
                                          <p:spTgt spid="83"/>
                                        </p:tgtEl>
                                      </p:cBhvr>
                                    </p:animEffect>
                                  </p:childTnLst>
                                </p:cTn>
                              </p:par>
                              <p:par>
                                <p:cTn id="243" presetID="10" presetClass="entr" presetSubtype="0" fill="hold" grpId="0" nodeType="withEffect">
                                  <p:stCondLst>
                                    <p:cond delay="0"/>
                                  </p:stCondLst>
                                  <p:childTnLst>
                                    <p:set>
                                      <p:cBhvr>
                                        <p:cTn id="244" dur="1" fill="hold">
                                          <p:stCondLst>
                                            <p:cond delay="0"/>
                                          </p:stCondLst>
                                        </p:cTn>
                                        <p:tgtEl>
                                          <p:spTgt spid="84"/>
                                        </p:tgtEl>
                                        <p:attrNameLst>
                                          <p:attrName>style.visibility</p:attrName>
                                        </p:attrNameLst>
                                      </p:cBhvr>
                                      <p:to>
                                        <p:strVal val="visible"/>
                                      </p:to>
                                    </p:set>
                                    <p:animEffect transition="in" filter="fade">
                                      <p:cBhvr>
                                        <p:cTn id="245" dur="400"/>
                                        <p:tgtEl>
                                          <p:spTgt spid="84"/>
                                        </p:tgtEl>
                                      </p:cBhvr>
                                    </p:animEffect>
                                  </p:childTnLst>
                                </p:cTn>
                              </p:par>
                              <p:par>
                                <p:cTn id="246" presetID="10" presetClass="entr" presetSubtype="0" fill="hold" nodeType="withEffect">
                                  <p:stCondLst>
                                    <p:cond delay="0"/>
                                  </p:stCondLst>
                                  <p:childTnLst>
                                    <p:set>
                                      <p:cBhvr>
                                        <p:cTn id="247" dur="1" fill="hold">
                                          <p:stCondLst>
                                            <p:cond delay="0"/>
                                          </p:stCondLst>
                                        </p:cTn>
                                        <p:tgtEl>
                                          <p:spTgt spid="85"/>
                                        </p:tgtEl>
                                        <p:attrNameLst>
                                          <p:attrName>style.visibility</p:attrName>
                                        </p:attrNameLst>
                                      </p:cBhvr>
                                      <p:to>
                                        <p:strVal val="visible"/>
                                      </p:to>
                                    </p:set>
                                    <p:animEffect transition="in" filter="fade">
                                      <p:cBhvr>
                                        <p:cTn id="248" dur="400"/>
                                        <p:tgtEl>
                                          <p:spTgt spid="85"/>
                                        </p:tgtEl>
                                      </p:cBhvr>
                                    </p:animEffect>
                                  </p:childTnLst>
                                </p:cTn>
                              </p:par>
                              <p:par>
                                <p:cTn id="249" presetID="10" presetClass="entr" presetSubtype="0" fill="hold" grpId="0" nodeType="withEffect">
                                  <p:stCondLst>
                                    <p:cond delay="0"/>
                                  </p:stCondLst>
                                  <p:childTnLst>
                                    <p:set>
                                      <p:cBhvr>
                                        <p:cTn id="250" dur="1" fill="hold">
                                          <p:stCondLst>
                                            <p:cond delay="0"/>
                                          </p:stCondLst>
                                        </p:cTn>
                                        <p:tgtEl>
                                          <p:spTgt spid="86"/>
                                        </p:tgtEl>
                                        <p:attrNameLst>
                                          <p:attrName>style.visibility</p:attrName>
                                        </p:attrNameLst>
                                      </p:cBhvr>
                                      <p:to>
                                        <p:strVal val="visible"/>
                                      </p:to>
                                    </p:set>
                                    <p:animEffect transition="in" filter="fade">
                                      <p:cBhvr>
                                        <p:cTn id="251" dur="400"/>
                                        <p:tgtEl>
                                          <p:spTgt spid="86"/>
                                        </p:tgtEl>
                                      </p:cBhvr>
                                    </p:animEffect>
                                  </p:childTnLst>
                                </p:cTn>
                              </p:par>
                              <p:par>
                                <p:cTn id="252" presetID="10" presetClass="entr" presetSubtype="0" fill="hold" nodeType="withEffect">
                                  <p:stCondLst>
                                    <p:cond delay="0"/>
                                  </p:stCondLst>
                                  <p:childTnLst>
                                    <p:set>
                                      <p:cBhvr>
                                        <p:cTn id="253" dur="1" fill="hold">
                                          <p:stCondLst>
                                            <p:cond delay="0"/>
                                          </p:stCondLst>
                                        </p:cTn>
                                        <p:tgtEl>
                                          <p:spTgt spid="87"/>
                                        </p:tgtEl>
                                        <p:attrNameLst>
                                          <p:attrName>style.visibility</p:attrName>
                                        </p:attrNameLst>
                                      </p:cBhvr>
                                      <p:to>
                                        <p:strVal val="visible"/>
                                      </p:to>
                                    </p:set>
                                    <p:animEffect transition="in" filter="fade">
                                      <p:cBhvr>
                                        <p:cTn id="254" dur="400"/>
                                        <p:tgtEl>
                                          <p:spTgt spid="87"/>
                                        </p:tgtEl>
                                      </p:cBhvr>
                                    </p:animEffect>
                                  </p:childTnLst>
                                </p:cTn>
                              </p:par>
                              <p:par>
                                <p:cTn id="255" presetID="10" presetClass="entr" presetSubtype="0" fill="hold" nodeType="withEffect">
                                  <p:stCondLst>
                                    <p:cond delay="0"/>
                                  </p:stCondLst>
                                  <p:childTnLst>
                                    <p:set>
                                      <p:cBhvr>
                                        <p:cTn id="256" dur="1" fill="hold">
                                          <p:stCondLst>
                                            <p:cond delay="0"/>
                                          </p:stCondLst>
                                        </p:cTn>
                                        <p:tgtEl>
                                          <p:spTgt spid="88"/>
                                        </p:tgtEl>
                                        <p:attrNameLst>
                                          <p:attrName>style.visibility</p:attrName>
                                        </p:attrNameLst>
                                      </p:cBhvr>
                                      <p:to>
                                        <p:strVal val="visible"/>
                                      </p:to>
                                    </p:set>
                                    <p:animEffect transition="in" filter="fade">
                                      <p:cBhvr>
                                        <p:cTn id="257" dur="400"/>
                                        <p:tgtEl>
                                          <p:spTgt spid="88"/>
                                        </p:tgtEl>
                                      </p:cBhvr>
                                    </p:animEffect>
                                  </p:childTnLst>
                                </p:cTn>
                              </p:par>
                              <p:par>
                                <p:cTn id="258" presetID="10" presetClass="entr" presetSubtype="0" fill="hold" grpId="0" nodeType="withEffect">
                                  <p:stCondLst>
                                    <p:cond delay="0"/>
                                  </p:stCondLst>
                                  <p:childTnLst>
                                    <p:set>
                                      <p:cBhvr>
                                        <p:cTn id="259" dur="1" fill="hold">
                                          <p:stCondLst>
                                            <p:cond delay="0"/>
                                          </p:stCondLst>
                                        </p:cTn>
                                        <p:tgtEl>
                                          <p:spTgt spid="89"/>
                                        </p:tgtEl>
                                        <p:attrNameLst>
                                          <p:attrName>style.visibility</p:attrName>
                                        </p:attrNameLst>
                                      </p:cBhvr>
                                      <p:to>
                                        <p:strVal val="visible"/>
                                      </p:to>
                                    </p:set>
                                    <p:animEffect transition="in" filter="fade">
                                      <p:cBhvr>
                                        <p:cTn id="260" dur="400"/>
                                        <p:tgtEl>
                                          <p:spTgt spid="89"/>
                                        </p:tgtEl>
                                      </p:cBhvr>
                                    </p:animEffect>
                                  </p:childTnLst>
                                </p:cTn>
                              </p:par>
                              <p:par>
                                <p:cTn id="261" presetID="10" presetClass="entr" presetSubtype="0" fill="hold" nodeType="withEffect">
                                  <p:stCondLst>
                                    <p:cond delay="0"/>
                                  </p:stCondLst>
                                  <p:childTnLst>
                                    <p:set>
                                      <p:cBhvr>
                                        <p:cTn id="262" dur="1" fill="hold">
                                          <p:stCondLst>
                                            <p:cond delay="0"/>
                                          </p:stCondLst>
                                        </p:cTn>
                                        <p:tgtEl>
                                          <p:spTgt spid="90"/>
                                        </p:tgtEl>
                                        <p:attrNameLst>
                                          <p:attrName>style.visibility</p:attrName>
                                        </p:attrNameLst>
                                      </p:cBhvr>
                                      <p:to>
                                        <p:strVal val="visible"/>
                                      </p:to>
                                    </p:set>
                                    <p:animEffect transition="in" filter="fade">
                                      <p:cBhvr>
                                        <p:cTn id="263" dur="400"/>
                                        <p:tgtEl>
                                          <p:spTgt spid="90"/>
                                        </p:tgtEl>
                                      </p:cBhvr>
                                    </p:animEffect>
                                  </p:childTnLst>
                                </p:cTn>
                              </p:par>
                              <p:par>
                                <p:cTn id="264" presetID="10" presetClass="entr" presetSubtype="0" fill="hold" grpId="0" nodeType="withEffect">
                                  <p:stCondLst>
                                    <p:cond delay="0"/>
                                  </p:stCondLst>
                                  <p:childTnLst>
                                    <p:set>
                                      <p:cBhvr>
                                        <p:cTn id="265" dur="1" fill="hold">
                                          <p:stCondLst>
                                            <p:cond delay="0"/>
                                          </p:stCondLst>
                                        </p:cTn>
                                        <p:tgtEl>
                                          <p:spTgt spid="91"/>
                                        </p:tgtEl>
                                        <p:attrNameLst>
                                          <p:attrName>style.visibility</p:attrName>
                                        </p:attrNameLst>
                                      </p:cBhvr>
                                      <p:to>
                                        <p:strVal val="visible"/>
                                      </p:to>
                                    </p:set>
                                    <p:animEffect transition="in" filter="fade">
                                      <p:cBhvr>
                                        <p:cTn id="266" dur="400"/>
                                        <p:tgtEl>
                                          <p:spTgt spid="91"/>
                                        </p:tgtEl>
                                      </p:cBhvr>
                                    </p:animEffect>
                                  </p:childTnLst>
                                </p:cTn>
                              </p:par>
                              <p:par>
                                <p:cTn id="267" presetID="10" presetClass="entr" presetSubtype="0" fill="hold" nodeType="withEffect">
                                  <p:stCondLst>
                                    <p:cond delay="0"/>
                                  </p:stCondLst>
                                  <p:childTnLst>
                                    <p:set>
                                      <p:cBhvr>
                                        <p:cTn id="268" dur="1" fill="hold">
                                          <p:stCondLst>
                                            <p:cond delay="0"/>
                                          </p:stCondLst>
                                        </p:cTn>
                                        <p:tgtEl>
                                          <p:spTgt spid="92"/>
                                        </p:tgtEl>
                                        <p:attrNameLst>
                                          <p:attrName>style.visibility</p:attrName>
                                        </p:attrNameLst>
                                      </p:cBhvr>
                                      <p:to>
                                        <p:strVal val="visible"/>
                                      </p:to>
                                    </p:set>
                                    <p:animEffect transition="in" filter="fade">
                                      <p:cBhvr>
                                        <p:cTn id="269" dur="400"/>
                                        <p:tgtEl>
                                          <p:spTgt spid="92"/>
                                        </p:tgtEl>
                                      </p:cBhvr>
                                    </p:animEffect>
                                  </p:childTnLst>
                                </p:cTn>
                              </p:par>
                              <p:par>
                                <p:cTn id="270" presetID="10" presetClass="entr" presetSubtype="0" fill="hold" grpId="0" nodeType="withEffect">
                                  <p:stCondLst>
                                    <p:cond delay="0"/>
                                  </p:stCondLst>
                                  <p:childTnLst>
                                    <p:set>
                                      <p:cBhvr>
                                        <p:cTn id="271" dur="1" fill="hold">
                                          <p:stCondLst>
                                            <p:cond delay="0"/>
                                          </p:stCondLst>
                                        </p:cTn>
                                        <p:tgtEl>
                                          <p:spTgt spid="93"/>
                                        </p:tgtEl>
                                        <p:attrNameLst>
                                          <p:attrName>style.visibility</p:attrName>
                                        </p:attrNameLst>
                                      </p:cBhvr>
                                      <p:to>
                                        <p:strVal val="visible"/>
                                      </p:to>
                                    </p:set>
                                    <p:animEffect transition="in" filter="fade">
                                      <p:cBhvr>
                                        <p:cTn id="272" dur="400"/>
                                        <p:tgtEl>
                                          <p:spTgt spid="93"/>
                                        </p:tgtEl>
                                      </p:cBhvr>
                                    </p:animEffect>
                                  </p:childTnLst>
                                </p:cTn>
                              </p:par>
                              <p:par>
                                <p:cTn id="273" presetID="10" presetClass="entr" presetSubtype="0" fill="hold" nodeType="withEffect">
                                  <p:stCondLst>
                                    <p:cond delay="0"/>
                                  </p:stCondLst>
                                  <p:childTnLst>
                                    <p:set>
                                      <p:cBhvr>
                                        <p:cTn id="274" dur="1" fill="hold">
                                          <p:stCondLst>
                                            <p:cond delay="0"/>
                                          </p:stCondLst>
                                        </p:cTn>
                                        <p:tgtEl>
                                          <p:spTgt spid="94"/>
                                        </p:tgtEl>
                                        <p:attrNameLst>
                                          <p:attrName>style.visibility</p:attrName>
                                        </p:attrNameLst>
                                      </p:cBhvr>
                                      <p:to>
                                        <p:strVal val="visible"/>
                                      </p:to>
                                    </p:set>
                                    <p:animEffect transition="in" filter="fade">
                                      <p:cBhvr>
                                        <p:cTn id="275" dur="400"/>
                                        <p:tgtEl>
                                          <p:spTgt spid="94"/>
                                        </p:tgtEl>
                                      </p:cBhvr>
                                    </p:animEffect>
                                  </p:childTnLst>
                                </p:cTn>
                              </p:par>
                              <p:par>
                                <p:cTn id="276" presetID="10" presetClass="entr" presetSubtype="0" fill="hold" grpId="0" nodeType="withEffect">
                                  <p:stCondLst>
                                    <p:cond delay="0"/>
                                  </p:stCondLst>
                                  <p:childTnLst>
                                    <p:set>
                                      <p:cBhvr>
                                        <p:cTn id="277" dur="1" fill="hold">
                                          <p:stCondLst>
                                            <p:cond delay="0"/>
                                          </p:stCondLst>
                                        </p:cTn>
                                        <p:tgtEl>
                                          <p:spTgt spid="95"/>
                                        </p:tgtEl>
                                        <p:attrNameLst>
                                          <p:attrName>style.visibility</p:attrName>
                                        </p:attrNameLst>
                                      </p:cBhvr>
                                      <p:to>
                                        <p:strVal val="visible"/>
                                      </p:to>
                                    </p:set>
                                    <p:animEffect transition="in" filter="fade">
                                      <p:cBhvr>
                                        <p:cTn id="278" dur="400"/>
                                        <p:tgtEl>
                                          <p:spTgt spid="95"/>
                                        </p:tgtEl>
                                      </p:cBhvr>
                                    </p:animEffect>
                                  </p:childTnLst>
                                </p:cTn>
                              </p:par>
                              <p:par>
                                <p:cTn id="279" presetID="10" presetClass="entr" presetSubtype="0" fill="hold" nodeType="withEffect">
                                  <p:stCondLst>
                                    <p:cond delay="0"/>
                                  </p:stCondLst>
                                  <p:childTnLst>
                                    <p:set>
                                      <p:cBhvr>
                                        <p:cTn id="280" dur="1" fill="hold">
                                          <p:stCondLst>
                                            <p:cond delay="0"/>
                                          </p:stCondLst>
                                        </p:cTn>
                                        <p:tgtEl>
                                          <p:spTgt spid="96"/>
                                        </p:tgtEl>
                                        <p:attrNameLst>
                                          <p:attrName>style.visibility</p:attrName>
                                        </p:attrNameLst>
                                      </p:cBhvr>
                                      <p:to>
                                        <p:strVal val="visible"/>
                                      </p:to>
                                    </p:set>
                                    <p:animEffect transition="in" filter="fade">
                                      <p:cBhvr>
                                        <p:cTn id="281" dur="400"/>
                                        <p:tgtEl>
                                          <p:spTgt spid="96"/>
                                        </p:tgtEl>
                                      </p:cBhvr>
                                    </p:animEffect>
                                  </p:childTnLst>
                                </p:cTn>
                              </p:par>
                              <p:par>
                                <p:cTn id="282" presetID="10" presetClass="entr" presetSubtype="0" fill="hold" grpId="0" nodeType="withEffect">
                                  <p:stCondLst>
                                    <p:cond delay="0"/>
                                  </p:stCondLst>
                                  <p:childTnLst>
                                    <p:set>
                                      <p:cBhvr>
                                        <p:cTn id="283" dur="1" fill="hold">
                                          <p:stCondLst>
                                            <p:cond delay="0"/>
                                          </p:stCondLst>
                                        </p:cTn>
                                        <p:tgtEl>
                                          <p:spTgt spid="97"/>
                                        </p:tgtEl>
                                        <p:attrNameLst>
                                          <p:attrName>style.visibility</p:attrName>
                                        </p:attrNameLst>
                                      </p:cBhvr>
                                      <p:to>
                                        <p:strVal val="visible"/>
                                      </p:to>
                                    </p:set>
                                    <p:animEffect transition="in" filter="fade">
                                      <p:cBhvr>
                                        <p:cTn id="284" dur="400"/>
                                        <p:tgtEl>
                                          <p:spTgt spid="97"/>
                                        </p:tgtEl>
                                      </p:cBhvr>
                                    </p:animEffect>
                                  </p:childTnLst>
                                </p:cTn>
                              </p:par>
                              <p:par>
                                <p:cTn id="285" presetID="10" presetClass="entr" presetSubtype="0" fill="hold" nodeType="withEffect">
                                  <p:stCondLst>
                                    <p:cond delay="0"/>
                                  </p:stCondLst>
                                  <p:childTnLst>
                                    <p:set>
                                      <p:cBhvr>
                                        <p:cTn id="286" dur="1" fill="hold">
                                          <p:stCondLst>
                                            <p:cond delay="0"/>
                                          </p:stCondLst>
                                        </p:cTn>
                                        <p:tgtEl>
                                          <p:spTgt spid="98"/>
                                        </p:tgtEl>
                                        <p:attrNameLst>
                                          <p:attrName>style.visibility</p:attrName>
                                        </p:attrNameLst>
                                      </p:cBhvr>
                                      <p:to>
                                        <p:strVal val="visible"/>
                                      </p:to>
                                    </p:set>
                                    <p:animEffect transition="in" filter="fade">
                                      <p:cBhvr>
                                        <p:cTn id="287" dur="400"/>
                                        <p:tgtEl>
                                          <p:spTgt spid="98"/>
                                        </p:tgtEl>
                                      </p:cBhvr>
                                    </p:animEffect>
                                  </p:childTnLst>
                                </p:cTn>
                              </p:par>
                              <p:par>
                                <p:cTn id="288" presetID="10" presetClass="entr" presetSubtype="0" fill="hold" grpId="0" nodeType="withEffect">
                                  <p:stCondLst>
                                    <p:cond delay="0"/>
                                  </p:stCondLst>
                                  <p:childTnLst>
                                    <p:set>
                                      <p:cBhvr>
                                        <p:cTn id="289" dur="1" fill="hold">
                                          <p:stCondLst>
                                            <p:cond delay="0"/>
                                          </p:stCondLst>
                                        </p:cTn>
                                        <p:tgtEl>
                                          <p:spTgt spid="99"/>
                                        </p:tgtEl>
                                        <p:attrNameLst>
                                          <p:attrName>style.visibility</p:attrName>
                                        </p:attrNameLst>
                                      </p:cBhvr>
                                      <p:to>
                                        <p:strVal val="visible"/>
                                      </p:to>
                                    </p:set>
                                    <p:animEffect transition="in" filter="fade">
                                      <p:cBhvr>
                                        <p:cTn id="290" dur="400"/>
                                        <p:tgtEl>
                                          <p:spTgt spid="99"/>
                                        </p:tgtEl>
                                      </p:cBhvr>
                                    </p:animEffect>
                                  </p:childTnLst>
                                </p:cTn>
                              </p:par>
                              <p:par>
                                <p:cTn id="291" presetID="10" presetClass="entr" presetSubtype="0" fill="hold" nodeType="withEffect">
                                  <p:stCondLst>
                                    <p:cond delay="0"/>
                                  </p:stCondLst>
                                  <p:childTnLst>
                                    <p:set>
                                      <p:cBhvr>
                                        <p:cTn id="292" dur="1" fill="hold">
                                          <p:stCondLst>
                                            <p:cond delay="0"/>
                                          </p:stCondLst>
                                        </p:cTn>
                                        <p:tgtEl>
                                          <p:spTgt spid="100"/>
                                        </p:tgtEl>
                                        <p:attrNameLst>
                                          <p:attrName>style.visibility</p:attrName>
                                        </p:attrNameLst>
                                      </p:cBhvr>
                                      <p:to>
                                        <p:strVal val="visible"/>
                                      </p:to>
                                    </p:set>
                                    <p:animEffect transition="in" filter="fade">
                                      <p:cBhvr>
                                        <p:cTn id="293" dur="400"/>
                                        <p:tgtEl>
                                          <p:spTgt spid="100"/>
                                        </p:tgtEl>
                                      </p:cBhvr>
                                    </p:animEffect>
                                  </p:childTnLst>
                                </p:cTn>
                              </p:par>
                              <p:par>
                                <p:cTn id="294" presetID="10" presetClass="entr" presetSubtype="0" fill="hold" grpId="0" nodeType="withEffect">
                                  <p:stCondLst>
                                    <p:cond delay="0"/>
                                  </p:stCondLst>
                                  <p:childTnLst>
                                    <p:set>
                                      <p:cBhvr>
                                        <p:cTn id="295" dur="1" fill="hold">
                                          <p:stCondLst>
                                            <p:cond delay="0"/>
                                          </p:stCondLst>
                                        </p:cTn>
                                        <p:tgtEl>
                                          <p:spTgt spid="101"/>
                                        </p:tgtEl>
                                        <p:attrNameLst>
                                          <p:attrName>style.visibility</p:attrName>
                                        </p:attrNameLst>
                                      </p:cBhvr>
                                      <p:to>
                                        <p:strVal val="visible"/>
                                      </p:to>
                                    </p:set>
                                    <p:animEffect transition="in" filter="fade">
                                      <p:cBhvr>
                                        <p:cTn id="296" dur="400"/>
                                        <p:tgtEl>
                                          <p:spTgt spid="101"/>
                                        </p:tgtEl>
                                      </p:cBhvr>
                                    </p:animEffect>
                                  </p:childTnLst>
                                </p:cTn>
                              </p:par>
                            </p:childTnLst>
                          </p:cTn>
                        </p:par>
                      </p:childTnLst>
                    </p:cTn>
                  </p:par>
                  <p:par>
                    <p:cTn id="308" fill="hold">
                      <p:stCondLst>
                        <p:cond delay="indefinite"/>
                      </p:stCondLst>
                      <p:childTnLst>
                        <p:par>
                          <p:cTn id="309" fill="hold">
                            <p:stCondLst>
                              <p:cond delay="0"/>
                            </p:stCondLst>
                            <p:childTnLst>
                              <p:par>
                                <p:cTn id="299" presetID="10" presetClass="entr" presetSubtype="0" fill="hold" nodeType="clickEffect">
                                  <p:stCondLst>
                                    <p:cond delay="0"/>
                                  </p:stCondLst>
                                  <p:childTnLst>
                                    <p:set>
                                      <p:cBhvr>
                                        <p:cTn id="300" dur="1" fill="hold">
                                          <p:stCondLst>
                                            <p:cond delay="0"/>
                                          </p:stCondLst>
                                        </p:cTn>
                                        <p:tgtEl>
                                          <p:spTgt spid="102"/>
                                        </p:tgtEl>
                                        <p:attrNameLst>
                                          <p:attrName>style.visibility</p:attrName>
                                        </p:attrNameLst>
                                      </p:cBhvr>
                                      <p:to>
                                        <p:strVal val="visible"/>
                                      </p:to>
                                    </p:set>
                                    <p:animEffect transition="in" filter="fade">
                                      <p:cBhvr>
                                        <p:cTn id="301" dur="400"/>
                                        <p:tgtEl>
                                          <p:spTgt spid="102"/>
                                        </p:tgtEl>
                                      </p:cBhvr>
                                    </p:animEffect>
                                  </p:childTnLst>
                                </p:cTn>
                              </p:par>
                              <p:par>
                                <p:cTn id="302" presetID="10" presetClass="entr" presetSubtype="0" fill="hold" grpId="0" nodeType="withEffect">
                                  <p:stCondLst>
                                    <p:cond delay="0"/>
                                  </p:stCondLst>
                                  <p:childTnLst>
                                    <p:set>
                                      <p:cBhvr>
                                        <p:cTn id="303" dur="1" fill="hold">
                                          <p:stCondLst>
                                            <p:cond delay="0"/>
                                          </p:stCondLst>
                                        </p:cTn>
                                        <p:tgtEl>
                                          <p:spTgt spid="103"/>
                                        </p:tgtEl>
                                        <p:attrNameLst>
                                          <p:attrName>style.visibility</p:attrName>
                                        </p:attrNameLst>
                                      </p:cBhvr>
                                      <p:to>
                                        <p:strVal val="visible"/>
                                      </p:to>
                                    </p:set>
                                    <p:animEffect transition="in" filter="fade">
                                      <p:cBhvr>
                                        <p:cTn id="304" dur="400"/>
                                        <p:tgtEl>
                                          <p:spTgt spid="103"/>
                                        </p:tgtEl>
                                      </p:cBhvr>
                                    </p:animEffect>
                                  </p:childTnLst>
                                </p:cTn>
                              </p:par>
                              <p:par>
                                <p:cTn id="305" presetID="10" presetClass="entr" presetSubtype="0" fill="hold" grpId="0" nodeType="withEffect">
                                  <p:stCondLst>
                                    <p:cond delay="0"/>
                                  </p:stCondLst>
                                  <p:childTnLst>
                                    <p:set>
                                      <p:cBhvr>
                                        <p:cTn id="306" dur="1" fill="hold">
                                          <p:stCondLst>
                                            <p:cond delay="0"/>
                                          </p:stCondLst>
                                        </p:cTn>
                                        <p:tgtEl>
                                          <p:spTgt spid="104"/>
                                        </p:tgtEl>
                                        <p:attrNameLst>
                                          <p:attrName>style.visibility</p:attrName>
                                        </p:attrNameLst>
                                      </p:cBhvr>
                                      <p:to>
                                        <p:strVal val="visible"/>
                                      </p:to>
                                    </p:set>
                                    <p:animEffect transition="in" filter="fade">
                                      <p:cBhvr>
                                        <p:cTn id="307" dur="4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2" grpId="0" animBg="1"/>
      <p:bldP spid="14" grpId="0" animBg="1"/>
      <p:bldP spid="16" grpId="0" animBg="1"/>
      <p:bldP spid="19" grpId="0" animBg="1"/>
      <p:bldP spid="21" grpId="0" animBg="1"/>
      <p:bldP spid="23" grpId="0" animBg="1"/>
      <p:bldP spid="25" grpId="0" animBg="1"/>
      <p:bldP spid="27" grpId="0" animBg="1"/>
      <p:bldP spid="28" grpId="0" animBg="1"/>
      <p:bldP spid="30" grpId="0" animBg="1"/>
      <p:bldP spid="32" grpId="0" animBg="1"/>
      <p:bldP spid="34" grpId="0" animBg="1"/>
      <p:bldP spid="36" grpId="0" animBg="1"/>
      <p:bldP spid="39" grpId="0" animBg="1"/>
      <p:bldP spid="41" grpId="0" animBg="1"/>
      <p:bldP spid="43" grpId="0" animBg="1"/>
      <p:bldP spid="45" grpId="0" animBg="1"/>
      <p:bldP spid="47" grpId="0" animBg="1"/>
      <p:bldP spid="48" grpId="0" animBg="1"/>
      <p:bldP spid="50" grpId="0" animBg="1"/>
      <p:bldP spid="52" grpId="0" animBg="1"/>
      <p:bldP spid="54" grpId="0" animBg="1"/>
      <p:bldP spid="56" grpId="0" animBg="1"/>
      <p:bldP spid="58" grpId="0" animBg="1"/>
      <p:bldP spid="61" grpId="0" animBg="1"/>
      <p:bldP spid="63" grpId="0" animBg="1"/>
      <p:bldP spid="65" grpId="0" animBg="1"/>
      <p:bldP spid="67" grpId="0" animBg="1"/>
      <p:bldP spid="69" grpId="0" animBg="1"/>
      <p:bldP spid="70" grpId="0" animBg="1"/>
      <p:bldP spid="72" grpId="0" animBg="1"/>
      <p:bldP spid="74" grpId="0" animBg="1"/>
      <p:bldP spid="76" grpId="0" animBg="1"/>
      <p:bldP spid="78" grpId="0" animBg="1"/>
      <p:bldP spid="80" grpId="0" animBg="1"/>
      <p:bldP spid="82" grpId="0" animBg="1"/>
      <p:bldP spid="84" grpId="0" animBg="1"/>
      <p:bldP spid="86" grpId="0" animBg="1"/>
      <p:bldP spid="89" grpId="0" animBg="1"/>
      <p:bldP spid="91" grpId="0" animBg="1"/>
      <p:bldP spid="93" grpId="0" animBg="1"/>
      <p:bldP spid="95" grpId="0" animBg="1"/>
      <p:bldP spid="97" grpId="0" animBg="1"/>
      <p:bldP spid="99" grpId="0" animBg="1"/>
      <p:bldP spid="101" grpId="0" animBg="1"/>
      <p:bldP spid="103" grpId="0" animBg="1"/>
      <p:bldP spid="10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Taking items out: remove, pop and del</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remove and pop are methods; del is a statement</a:t>
            </a:r>
            <a:endParaRPr lang="en-US" sz="1400" dirty="0"/>
          </a:p>
        </p:txBody>
      </p:sp>
      <p:sp>
        <p:nvSpPr>
          <p:cNvPr id="6" name="lanebox|b1"/>
          <p:cNvSpPr/>
          <p:nvPr/>
        </p:nvSpPr>
        <p:spPr>
          <a:xfrm>
            <a:off x="365760" y="1188720"/>
            <a:ext cx="8412480" cy="676656"/>
          </a:xfrm>
          <a:prstGeom prst="roundRect">
            <a:avLst>
              <a:gd name="adj" fmla="val 8108"/>
            </a:avLst>
          </a:prstGeom>
          <a:solidFill>
            <a:srgbClr val="FFFFFF"/>
          </a:solidFill>
          <a:ln w="9525">
            <a:solidFill>
              <a:srgbClr val="9AA8B8"/>
            </a:solidFill>
            <a:prstDash val="solid"/>
          </a:ln>
        </p:spPr>
      </p:sp>
      <p:sp>
        <p:nvSpPr>
          <p:cNvPr id="7" name="v:Removing:l0op|b1"/>
          <p:cNvSpPr txBox="1"/>
          <p:nvPr/>
        </p:nvSpPr>
        <p:spPr>
          <a:xfrm>
            <a:off x="457200" y="1207008"/>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spam.remove('cat')</a:t>
            </a:r>
            <a:endParaRPr lang="en-US" sz="1250" dirty="0"/>
          </a:p>
        </p:txBody>
      </p:sp>
      <p:sp>
        <p:nvSpPr>
          <p:cNvPr id="8" name="v:Removing:l0cat|b1"/>
          <p:cNvSpPr txBox="1"/>
          <p:nvPr/>
        </p:nvSpPr>
        <p:spPr>
          <a:xfrm>
            <a:off x="3611880" y="1207008"/>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9" name="v:Removing:l0retbox:box|b1"/>
          <p:cNvSpPr/>
          <p:nvPr/>
        </p:nvSpPr>
        <p:spPr>
          <a:xfrm>
            <a:off x="6812280" y="1234440"/>
            <a:ext cx="1874520" cy="246888"/>
          </a:xfrm>
          <a:prstGeom prst="roundRect">
            <a:avLst>
              <a:gd name="adj" fmla="val 29630"/>
            </a:avLst>
          </a:prstGeom>
          <a:solidFill>
            <a:srgbClr val="FCEFD0"/>
          </a:solidFill>
          <a:ln w="12700">
            <a:solidFill>
              <a:srgbClr val="B7791F"/>
            </a:solidFill>
            <a:prstDash val="solid"/>
          </a:ln>
        </p:spPr>
      </p:sp>
      <p:sp>
        <p:nvSpPr>
          <p:cNvPr id="10" name="v:Removing:l0ret|b1"/>
          <p:cNvSpPr txBox="1"/>
          <p:nvPr/>
        </p:nvSpPr>
        <p:spPr>
          <a:xfrm>
            <a:off x="6812280" y="1234440"/>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None</a:t>
            </a:r>
            <a:endParaRPr lang="en-US" sz="1050" dirty="0"/>
          </a:p>
        </p:txBody>
      </p:sp>
      <p:sp>
        <p:nvSpPr>
          <p:cNvPr id="11" name="v:Removing:l0b0:box|b1"/>
          <p:cNvSpPr/>
          <p:nvPr/>
        </p:nvSpPr>
        <p:spPr>
          <a:xfrm>
            <a:off x="457200" y="1527048"/>
            <a:ext cx="548640" cy="283464"/>
          </a:xfrm>
          <a:prstGeom prst="roundRect">
            <a:avLst>
              <a:gd name="adj" fmla="val 16129"/>
            </a:avLst>
          </a:prstGeom>
          <a:solidFill>
            <a:srgbClr val="FBE1E1"/>
          </a:solidFill>
          <a:ln w="15875">
            <a:solidFill>
              <a:srgbClr val="D64545"/>
            </a:solidFill>
            <a:prstDash val="solid"/>
          </a:ln>
        </p:spPr>
      </p:sp>
      <p:sp>
        <p:nvSpPr>
          <p:cNvPr id="12" name="v:Removing:l0b0|b1"/>
          <p:cNvSpPr txBox="1"/>
          <p:nvPr/>
        </p:nvSpPr>
        <p:spPr>
          <a:xfrm>
            <a:off x="475488" y="1527048"/>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'cat'</a:t>
            </a:r>
            <a:endParaRPr lang="en-US" sz="1000" dirty="0"/>
          </a:p>
        </p:txBody>
      </p:sp>
      <p:sp>
        <p:nvSpPr>
          <p:cNvPr id="13" name="v:Removing:l0b1:box|b1"/>
          <p:cNvSpPr/>
          <p:nvPr/>
        </p:nvSpPr>
        <p:spPr>
          <a:xfrm>
            <a:off x="1051560" y="1527048"/>
            <a:ext cx="548640" cy="283464"/>
          </a:xfrm>
          <a:prstGeom prst="roundRect">
            <a:avLst>
              <a:gd name="adj" fmla="val 16129"/>
            </a:avLst>
          </a:prstGeom>
          <a:solidFill>
            <a:srgbClr val="E3EEF8"/>
          </a:solidFill>
          <a:ln w="15875">
            <a:solidFill>
              <a:srgbClr val="306998"/>
            </a:solidFill>
            <a:prstDash val="solid"/>
          </a:ln>
        </p:spPr>
      </p:sp>
      <p:sp>
        <p:nvSpPr>
          <p:cNvPr id="14" name="v:Removing:l0b1|b1"/>
          <p:cNvSpPr txBox="1"/>
          <p:nvPr/>
        </p:nvSpPr>
        <p:spPr>
          <a:xfrm>
            <a:off x="1069848" y="1527048"/>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15" name="v:Removing:l0b2:box|b1"/>
          <p:cNvSpPr/>
          <p:nvPr/>
        </p:nvSpPr>
        <p:spPr>
          <a:xfrm>
            <a:off x="1645920" y="1527048"/>
            <a:ext cx="548640" cy="283464"/>
          </a:xfrm>
          <a:prstGeom prst="roundRect">
            <a:avLst>
              <a:gd name="adj" fmla="val 16129"/>
            </a:avLst>
          </a:prstGeom>
          <a:solidFill>
            <a:srgbClr val="E3EEF8"/>
          </a:solidFill>
          <a:ln w="15875">
            <a:solidFill>
              <a:srgbClr val="306998"/>
            </a:solidFill>
            <a:prstDash val="solid"/>
          </a:ln>
        </p:spPr>
      </p:sp>
      <p:sp>
        <p:nvSpPr>
          <p:cNvPr id="16" name="v:Removing:l0b2|b1"/>
          <p:cNvSpPr txBox="1"/>
          <p:nvPr/>
        </p:nvSpPr>
        <p:spPr>
          <a:xfrm>
            <a:off x="1664208" y="1527048"/>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'rat'</a:t>
            </a:r>
            <a:endParaRPr lang="en-US" sz="1000" dirty="0"/>
          </a:p>
        </p:txBody>
      </p:sp>
      <p:sp>
        <p:nvSpPr>
          <p:cNvPr id="17" name="v:Removing:l0b3:box|b1"/>
          <p:cNvSpPr/>
          <p:nvPr/>
        </p:nvSpPr>
        <p:spPr>
          <a:xfrm>
            <a:off x="2240280" y="1527048"/>
            <a:ext cx="548640" cy="283464"/>
          </a:xfrm>
          <a:prstGeom prst="roundRect">
            <a:avLst>
              <a:gd name="adj" fmla="val 16129"/>
            </a:avLst>
          </a:prstGeom>
          <a:solidFill>
            <a:srgbClr val="E3EEF8"/>
          </a:solidFill>
          <a:ln w="15875">
            <a:solidFill>
              <a:srgbClr val="306998"/>
            </a:solidFill>
            <a:prstDash val="solid"/>
          </a:ln>
        </p:spPr>
      </p:sp>
      <p:sp>
        <p:nvSpPr>
          <p:cNvPr id="18" name="v:Removing:l0b3|b1"/>
          <p:cNvSpPr txBox="1"/>
          <p:nvPr/>
        </p:nvSpPr>
        <p:spPr>
          <a:xfrm>
            <a:off x="2258568" y="1527048"/>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19" name="v:Removing:l0b4:box|b1"/>
          <p:cNvSpPr/>
          <p:nvPr/>
        </p:nvSpPr>
        <p:spPr>
          <a:xfrm>
            <a:off x="2834640" y="1527048"/>
            <a:ext cx="548640" cy="283464"/>
          </a:xfrm>
          <a:prstGeom prst="roundRect">
            <a:avLst>
              <a:gd name="adj" fmla="val 16129"/>
            </a:avLst>
          </a:prstGeom>
          <a:solidFill>
            <a:srgbClr val="E3EEF8"/>
          </a:solidFill>
          <a:ln w="15875">
            <a:solidFill>
              <a:srgbClr val="306998"/>
            </a:solidFill>
            <a:prstDash val="solid"/>
          </a:ln>
        </p:spPr>
      </p:sp>
      <p:sp>
        <p:nvSpPr>
          <p:cNvPr id="20" name="v:Removing:l0b4|b1"/>
          <p:cNvSpPr txBox="1"/>
          <p:nvPr/>
        </p:nvSpPr>
        <p:spPr>
          <a:xfrm>
            <a:off x="2852928" y="1527048"/>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'hat'</a:t>
            </a:r>
            <a:endParaRPr lang="en-US" sz="1000" dirty="0"/>
          </a:p>
        </p:txBody>
      </p:sp>
      <p:sp>
        <p:nvSpPr>
          <p:cNvPr id="21" name="v:Removing:l0b5:box|b1"/>
          <p:cNvSpPr/>
          <p:nvPr/>
        </p:nvSpPr>
        <p:spPr>
          <a:xfrm>
            <a:off x="3429000" y="1527048"/>
            <a:ext cx="548640" cy="283464"/>
          </a:xfrm>
          <a:prstGeom prst="roundRect">
            <a:avLst>
              <a:gd name="adj" fmla="val 16129"/>
            </a:avLst>
          </a:prstGeom>
          <a:solidFill>
            <a:srgbClr val="E3EEF8"/>
          </a:solidFill>
          <a:ln w="15875">
            <a:solidFill>
              <a:srgbClr val="306998"/>
            </a:solidFill>
            <a:prstDash val="solid"/>
          </a:ln>
        </p:spPr>
      </p:sp>
      <p:sp>
        <p:nvSpPr>
          <p:cNvPr id="22" name="v:Removing:l0b5|b1"/>
          <p:cNvSpPr txBox="1"/>
          <p:nvPr/>
        </p:nvSpPr>
        <p:spPr>
          <a:xfrm>
            <a:off x="3447288" y="1527048"/>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23" name="arrow|b1"/>
          <p:cNvSpPr/>
          <p:nvPr/>
        </p:nvSpPr>
        <p:spPr>
          <a:xfrm>
            <a:off x="4069080" y="1668780"/>
            <a:ext cx="411480" cy="0"/>
          </a:xfrm>
          <a:prstGeom prst="line">
            <a:avLst/>
          </a:prstGeom>
          <a:noFill/>
          <a:ln w="31750">
            <a:solidFill>
              <a:srgbClr val="2E9E5B"/>
            </a:solidFill>
            <a:prstDash val="solid"/>
            <a:tailEnd type="triangle"/>
          </a:ln>
        </p:spPr>
      </p:sp>
      <p:sp>
        <p:nvSpPr>
          <p:cNvPr id="24" name="v:Removing:l0a0:box|b1"/>
          <p:cNvSpPr/>
          <p:nvPr/>
        </p:nvSpPr>
        <p:spPr>
          <a:xfrm>
            <a:off x="4590288" y="1527048"/>
            <a:ext cx="777240" cy="283464"/>
          </a:xfrm>
          <a:prstGeom prst="roundRect">
            <a:avLst>
              <a:gd name="adj" fmla="val 16129"/>
            </a:avLst>
          </a:prstGeom>
          <a:solidFill>
            <a:srgbClr val="E3EEF8"/>
          </a:solidFill>
          <a:ln w="15875">
            <a:solidFill>
              <a:srgbClr val="306998"/>
            </a:solidFill>
            <a:prstDash val="solid"/>
          </a:ln>
        </p:spPr>
      </p:sp>
      <p:sp>
        <p:nvSpPr>
          <p:cNvPr id="25" name="v:Removing:l0a0|b1"/>
          <p:cNvSpPr txBox="1"/>
          <p:nvPr/>
        </p:nvSpPr>
        <p:spPr>
          <a:xfrm>
            <a:off x="4608576" y="152704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26" name="v:Removing:l0a1:box|b1"/>
          <p:cNvSpPr/>
          <p:nvPr/>
        </p:nvSpPr>
        <p:spPr>
          <a:xfrm>
            <a:off x="5413248" y="1527048"/>
            <a:ext cx="777240" cy="283464"/>
          </a:xfrm>
          <a:prstGeom prst="roundRect">
            <a:avLst>
              <a:gd name="adj" fmla="val 16129"/>
            </a:avLst>
          </a:prstGeom>
          <a:solidFill>
            <a:srgbClr val="E3EEF8"/>
          </a:solidFill>
          <a:ln w="15875">
            <a:solidFill>
              <a:srgbClr val="306998"/>
            </a:solidFill>
            <a:prstDash val="solid"/>
          </a:ln>
        </p:spPr>
      </p:sp>
      <p:sp>
        <p:nvSpPr>
          <p:cNvPr id="27" name="v:Removing:l0a1|b1"/>
          <p:cNvSpPr txBox="1"/>
          <p:nvPr/>
        </p:nvSpPr>
        <p:spPr>
          <a:xfrm>
            <a:off x="5431536" y="152704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'rat'</a:t>
            </a:r>
            <a:endParaRPr lang="en-US" sz="1000" dirty="0"/>
          </a:p>
        </p:txBody>
      </p:sp>
      <p:sp>
        <p:nvSpPr>
          <p:cNvPr id="28" name="v:Removing:l0a2:box|b1"/>
          <p:cNvSpPr/>
          <p:nvPr/>
        </p:nvSpPr>
        <p:spPr>
          <a:xfrm>
            <a:off x="6236208" y="1527048"/>
            <a:ext cx="777240" cy="283464"/>
          </a:xfrm>
          <a:prstGeom prst="roundRect">
            <a:avLst>
              <a:gd name="adj" fmla="val 16129"/>
            </a:avLst>
          </a:prstGeom>
          <a:solidFill>
            <a:srgbClr val="E3EEF8"/>
          </a:solidFill>
          <a:ln w="15875">
            <a:solidFill>
              <a:srgbClr val="306998"/>
            </a:solidFill>
            <a:prstDash val="solid"/>
          </a:ln>
        </p:spPr>
      </p:sp>
      <p:sp>
        <p:nvSpPr>
          <p:cNvPr id="29" name="v:Removing:l0a2|b1"/>
          <p:cNvSpPr txBox="1"/>
          <p:nvPr/>
        </p:nvSpPr>
        <p:spPr>
          <a:xfrm>
            <a:off x="6254496" y="152704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30" name="v:Removing:l0a3:box|b1"/>
          <p:cNvSpPr/>
          <p:nvPr/>
        </p:nvSpPr>
        <p:spPr>
          <a:xfrm>
            <a:off x="7059168" y="1527048"/>
            <a:ext cx="777240" cy="283464"/>
          </a:xfrm>
          <a:prstGeom prst="roundRect">
            <a:avLst>
              <a:gd name="adj" fmla="val 16129"/>
            </a:avLst>
          </a:prstGeom>
          <a:solidFill>
            <a:srgbClr val="E3EEF8"/>
          </a:solidFill>
          <a:ln w="15875">
            <a:solidFill>
              <a:srgbClr val="306998"/>
            </a:solidFill>
            <a:prstDash val="solid"/>
          </a:ln>
        </p:spPr>
      </p:sp>
      <p:sp>
        <p:nvSpPr>
          <p:cNvPr id="31" name="v:Removing:l0a3|b1"/>
          <p:cNvSpPr txBox="1"/>
          <p:nvPr/>
        </p:nvSpPr>
        <p:spPr>
          <a:xfrm>
            <a:off x="7077456" y="152704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'hat'</a:t>
            </a:r>
            <a:endParaRPr lang="en-US" sz="1000" dirty="0"/>
          </a:p>
        </p:txBody>
      </p:sp>
      <p:sp>
        <p:nvSpPr>
          <p:cNvPr id="32" name="v:Removing:l0a4:box|b1"/>
          <p:cNvSpPr/>
          <p:nvPr/>
        </p:nvSpPr>
        <p:spPr>
          <a:xfrm>
            <a:off x="7882128" y="1527048"/>
            <a:ext cx="777240" cy="283464"/>
          </a:xfrm>
          <a:prstGeom prst="roundRect">
            <a:avLst>
              <a:gd name="adj" fmla="val 16129"/>
            </a:avLst>
          </a:prstGeom>
          <a:solidFill>
            <a:srgbClr val="E3EEF8"/>
          </a:solidFill>
          <a:ln w="15875">
            <a:solidFill>
              <a:srgbClr val="306998"/>
            </a:solidFill>
            <a:prstDash val="solid"/>
          </a:ln>
        </p:spPr>
      </p:sp>
      <p:sp>
        <p:nvSpPr>
          <p:cNvPr id="33" name="v:Removing:l0a4|b1"/>
          <p:cNvSpPr txBox="1"/>
          <p:nvPr/>
        </p:nvSpPr>
        <p:spPr>
          <a:xfrm>
            <a:off x="7900416" y="152704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34" name="lanebox|b2"/>
          <p:cNvSpPr/>
          <p:nvPr/>
        </p:nvSpPr>
        <p:spPr>
          <a:xfrm>
            <a:off x="365760" y="1920240"/>
            <a:ext cx="8412480" cy="676656"/>
          </a:xfrm>
          <a:prstGeom prst="roundRect">
            <a:avLst>
              <a:gd name="adj" fmla="val 8108"/>
            </a:avLst>
          </a:prstGeom>
          <a:solidFill>
            <a:srgbClr val="FFFFFF"/>
          </a:solidFill>
          <a:ln w="9525">
            <a:solidFill>
              <a:srgbClr val="9AA8B8"/>
            </a:solidFill>
            <a:prstDash val="solid"/>
          </a:ln>
        </p:spPr>
      </p:sp>
      <p:sp>
        <p:nvSpPr>
          <p:cNvPr id="35" name="v:Removing:l1op|b2"/>
          <p:cNvSpPr txBox="1"/>
          <p:nvPr/>
        </p:nvSpPr>
        <p:spPr>
          <a:xfrm>
            <a:off x="457200" y="1938528"/>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stack.pop()</a:t>
            </a:r>
            <a:endParaRPr lang="en-US" sz="1250" dirty="0"/>
          </a:p>
        </p:txBody>
      </p:sp>
      <p:sp>
        <p:nvSpPr>
          <p:cNvPr id="36" name="v:Removing:l1cat|b2"/>
          <p:cNvSpPr txBox="1"/>
          <p:nvPr/>
        </p:nvSpPr>
        <p:spPr>
          <a:xfrm>
            <a:off x="3611880" y="1938528"/>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37" name="v:Removing:l1retbox:box|b2"/>
          <p:cNvSpPr/>
          <p:nvPr/>
        </p:nvSpPr>
        <p:spPr>
          <a:xfrm>
            <a:off x="6812280" y="1965960"/>
            <a:ext cx="1874520" cy="246888"/>
          </a:xfrm>
          <a:prstGeom prst="roundRect">
            <a:avLst>
              <a:gd name="adj" fmla="val 29630"/>
            </a:avLst>
          </a:prstGeom>
          <a:solidFill>
            <a:srgbClr val="FCEFD0"/>
          </a:solidFill>
          <a:ln w="12700">
            <a:solidFill>
              <a:srgbClr val="B7791F"/>
            </a:solidFill>
            <a:prstDash val="solid"/>
          </a:ln>
        </p:spPr>
      </p:sp>
      <p:sp>
        <p:nvSpPr>
          <p:cNvPr id="38" name="v:Removing:l1ret|b2"/>
          <p:cNvSpPr txBox="1"/>
          <p:nvPr/>
        </p:nvSpPr>
        <p:spPr>
          <a:xfrm>
            <a:off x="6812280" y="1965960"/>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7</a:t>
            </a:r>
            <a:endParaRPr lang="en-US" sz="1050" dirty="0"/>
          </a:p>
        </p:txBody>
      </p:sp>
      <p:sp>
        <p:nvSpPr>
          <p:cNvPr id="39" name="v:Removing:l1b0:box|b2"/>
          <p:cNvSpPr/>
          <p:nvPr/>
        </p:nvSpPr>
        <p:spPr>
          <a:xfrm>
            <a:off x="457200" y="2258568"/>
            <a:ext cx="667512" cy="283464"/>
          </a:xfrm>
          <a:prstGeom prst="roundRect">
            <a:avLst>
              <a:gd name="adj" fmla="val 16129"/>
            </a:avLst>
          </a:prstGeom>
          <a:solidFill>
            <a:srgbClr val="E3EEF8"/>
          </a:solidFill>
          <a:ln w="15875">
            <a:solidFill>
              <a:srgbClr val="306998"/>
            </a:solidFill>
            <a:prstDash val="solid"/>
          </a:ln>
        </p:spPr>
      </p:sp>
      <p:sp>
        <p:nvSpPr>
          <p:cNvPr id="40" name="v:Removing:l1b0|b2"/>
          <p:cNvSpPr txBox="1"/>
          <p:nvPr/>
        </p:nvSpPr>
        <p:spPr>
          <a:xfrm>
            <a:off x="475488" y="2258568"/>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a:t>
            </a:r>
            <a:endParaRPr lang="en-US" sz="1000" dirty="0"/>
          </a:p>
        </p:txBody>
      </p:sp>
      <p:sp>
        <p:nvSpPr>
          <p:cNvPr id="41" name="v:Removing:l1b1:box|b2"/>
          <p:cNvSpPr/>
          <p:nvPr/>
        </p:nvSpPr>
        <p:spPr>
          <a:xfrm>
            <a:off x="1170432" y="2258568"/>
            <a:ext cx="667512" cy="283464"/>
          </a:xfrm>
          <a:prstGeom prst="roundRect">
            <a:avLst>
              <a:gd name="adj" fmla="val 16129"/>
            </a:avLst>
          </a:prstGeom>
          <a:solidFill>
            <a:srgbClr val="E3EEF8"/>
          </a:solidFill>
          <a:ln w="15875">
            <a:solidFill>
              <a:srgbClr val="306998"/>
            </a:solidFill>
            <a:prstDash val="solid"/>
          </a:ln>
        </p:spPr>
      </p:sp>
      <p:sp>
        <p:nvSpPr>
          <p:cNvPr id="42" name="v:Removing:l1b1|b2"/>
          <p:cNvSpPr txBox="1"/>
          <p:nvPr/>
        </p:nvSpPr>
        <p:spPr>
          <a:xfrm>
            <a:off x="1188720" y="2258568"/>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4</a:t>
            </a:r>
            <a:endParaRPr lang="en-US" sz="1000" dirty="0"/>
          </a:p>
        </p:txBody>
      </p:sp>
      <p:sp>
        <p:nvSpPr>
          <p:cNvPr id="43" name="v:Removing:l1b2:box|b2"/>
          <p:cNvSpPr/>
          <p:nvPr/>
        </p:nvSpPr>
        <p:spPr>
          <a:xfrm>
            <a:off x="1883664" y="2258568"/>
            <a:ext cx="667512" cy="283464"/>
          </a:xfrm>
          <a:prstGeom prst="roundRect">
            <a:avLst>
              <a:gd name="adj" fmla="val 16129"/>
            </a:avLst>
          </a:prstGeom>
          <a:solidFill>
            <a:srgbClr val="E3EEF8"/>
          </a:solidFill>
          <a:ln w="15875">
            <a:solidFill>
              <a:srgbClr val="306998"/>
            </a:solidFill>
            <a:prstDash val="solid"/>
          </a:ln>
        </p:spPr>
      </p:sp>
      <p:sp>
        <p:nvSpPr>
          <p:cNvPr id="44" name="v:Removing:l1b2|b2"/>
          <p:cNvSpPr txBox="1"/>
          <p:nvPr/>
        </p:nvSpPr>
        <p:spPr>
          <a:xfrm>
            <a:off x="1901952" y="2258568"/>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5</a:t>
            </a:r>
            <a:endParaRPr lang="en-US" sz="1000" dirty="0"/>
          </a:p>
        </p:txBody>
      </p:sp>
      <p:sp>
        <p:nvSpPr>
          <p:cNvPr id="45" name="v:Removing:l1b3:box|b2"/>
          <p:cNvSpPr/>
          <p:nvPr/>
        </p:nvSpPr>
        <p:spPr>
          <a:xfrm>
            <a:off x="2596896" y="2258568"/>
            <a:ext cx="667512" cy="283464"/>
          </a:xfrm>
          <a:prstGeom prst="roundRect">
            <a:avLst>
              <a:gd name="adj" fmla="val 16129"/>
            </a:avLst>
          </a:prstGeom>
          <a:solidFill>
            <a:srgbClr val="E3EEF8"/>
          </a:solidFill>
          <a:ln w="15875">
            <a:solidFill>
              <a:srgbClr val="306998"/>
            </a:solidFill>
            <a:prstDash val="solid"/>
          </a:ln>
        </p:spPr>
      </p:sp>
      <p:sp>
        <p:nvSpPr>
          <p:cNvPr id="46" name="v:Removing:l1b3|b2"/>
          <p:cNvSpPr txBox="1"/>
          <p:nvPr/>
        </p:nvSpPr>
        <p:spPr>
          <a:xfrm>
            <a:off x="2615184" y="2258568"/>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6</a:t>
            </a:r>
            <a:endParaRPr lang="en-US" sz="1000" dirty="0"/>
          </a:p>
        </p:txBody>
      </p:sp>
      <p:sp>
        <p:nvSpPr>
          <p:cNvPr id="47" name="v:Removing:l1b4:box|b2"/>
          <p:cNvSpPr/>
          <p:nvPr/>
        </p:nvSpPr>
        <p:spPr>
          <a:xfrm>
            <a:off x="3310128" y="2258568"/>
            <a:ext cx="667512" cy="283464"/>
          </a:xfrm>
          <a:prstGeom prst="roundRect">
            <a:avLst>
              <a:gd name="adj" fmla="val 16129"/>
            </a:avLst>
          </a:prstGeom>
          <a:solidFill>
            <a:srgbClr val="FBE1E1"/>
          </a:solidFill>
          <a:ln w="15875">
            <a:solidFill>
              <a:srgbClr val="D64545"/>
            </a:solidFill>
            <a:prstDash val="solid"/>
          </a:ln>
        </p:spPr>
      </p:sp>
      <p:sp>
        <p:nvSpPr>
          <p:cNvPr id="48" name="v:Removing:l1b4|b2"/>
          <p:cNvSpPr txBox="1"/>
          <p:nvPr/>
        </p:nvSpPr>
        <p:spPr>
          <a:xfrm>
            <a:off x="3328416" y="2258568"/>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7</a:t>
            </a:r>
            <a:endParaRPr lang="en-US" sz="1000" dirty="0"/>
          </a:p>
        </p:txBody>
      </p:sp>
      <p:sp>
        <p:nvSpPr>
          <p:cNvPr id="49" name="arrow|b2"/>
          <p:cNvSpPr/>
          <p:nvPr/>
        </p:nvSpPr>
        <p:spPr>
          <a:xfrm>
            <a:off x="4069080" y="2400300"/>
            <a:ext cx="411480" cy="0"/>
          </a:xfrm>
          <a:prstGeom prst="line">
            <a:avLst/>
          </a:prstGeom>
          <a:noFill/>
          <a:ln w="31750">
            <a:solidFill>
              <a:srgbClr val="2E9E5B"/>
            </a:solidFill>
            <a:prstDash val="solid"/>
            <a:tailEnd type="triangle"/>
          </a:ln>
        </p:spPr>
      </p:sp>
      <p:sp>
        <p:nvSpPr>
          <p:cNvPr id="50" name="v:Removing:l1a0:box|b2"/>
          <p:cNvSpPr/>
          <p:nvPr/>
        </p:nvSpPr>
        <p:spPr>
          <a:xfrm>
            <a:off x="4590288" y="2258568"/>
            <a:ext cx="777240" cy="283464"/>
          </a:xfrm>
          <a:prstGeom prst="roundRect">
            <a:avLst>
              <a:gd name="adj" fmla="val 16129"/>
            </a:avLst>
          </a:prstGeom>
          <a:solidFill>
            <a:srgbClr val="E3EEF8"/>
          </a:solidFill>
          <a:ln w="15875">
            <a:solidFill>
              <a:srgbClr val="306998"/>
            </a:solidFill>
            <a:prstDash val="solid"/>
          </a:ln>
        </p:spPr>
      </p:sp>
      <p:sp>
        <p:nvSpPr>
          <p:cNvPr id="51" name="v:Removing:l1a0|b2"/>
          <p:cNvSpPr txBox="1"/>
          <p:nvPr/>
        </p:nvSpPr>
        <p:spPr>
          <a:xfrm>
            <a:off x="4608576" y="225856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a:t>
            </a:r>
            <a:endParaRPr lang="en-US" sz="1000" dirty="0"/>
          </a:p>
        </p:txBody>
      </p:sp>
      <p:sp>
        <p:nvSpPr>
          <p:cNvPr id="52" name="v:Removing:l1a1:box|b2"/>
          <p:cNvSpPr/>
          <p:nvPr/>
        </p:nvSpPr>
        <p:spPr>
          <a:xfrm>
            <a:off x="5413248" y="2258568"/>
            <a:ext cx="777240" cy="283464"/>
          </a:xfrm>
          <a:prstGeom prst="roundRect">
            <a:avLst>
              <a:gd name="adj" fmla="val 16129"/>
            </a:avLst>
          </a:prstGeom>
          <a:solidFill>
            <a:srgbClr val="E3EEF8"/>
          </a:solidFill>
          <a:ln w="15875">
            <a:solidFill>
              <a:srgbClr val="306998"/>
            </a:solidFill>
            <a:prstDash val="solid"/>
          </a:ln>
        </p:spPr>
      </p:sp>
      <p:sp>
        <p:nvSpPr>
          <p:cNvPr id="53" name="v:Removing:l1a1|b2"/>
          <p:cNvSpPr txBox="1"/>
          <p:nvPr/>
        </p:nvSpPr>
        <p:spPr>
          <a:xfrm>
            <a:off x="5431536" y="225856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4</a:t>
            </a:r>
            <a:endParaRPr lang="en-US" sz="1000" dirty="0"/>
          </a:p>
        </p:txBody>
      </p:sp>
      <p:sp>
        <p:nvSpPr>
          <p:cNvPr id="54" name="v:Removing:l1a2:box|b2"/>
          <p:cNvSpPr/>
          <p:nvPr/>
        </p:nvSpPr>
        <p:spPr>
          <a:xfrm>
            <a:off x="6236208" y="2258568"/>
            <a:ext cx="777240" cy="283464"/>
          </a:xfrm>
          <a:prstGeom prst="roundRect">
            <a:avLst>
              <a:gd name="adj" fmla="val 16129"/>
            </a:avLst>
          </a:prstGeom>
          <a:solidFill>
            <a:srgbClr val="E3EEF8"/>
          </a:solidFill>
          <a:ln w="15875">
            <a:solidFill>
              <a:srgbClr val="306998"/>
            </a:solidFill>
            <a:prstDash val="solid"/>
          </a:ln>
        </p:spPr>
      </p:sp>
      <p:sp>
        <p:nvSpPr>
          <p:cNvPr id="55" name="v:Removing:l1a2|b2"/>
          <p:cNvSpPr txBox="1"/>
          <p:nvPr/>
        </p:nvSpPr>
        <p:spPr>
          <a:xfrm>
            <a:off x="6254496" y="225856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5</a:t>
            </a:r>
            <a:endParaRPr lang="en-US" sz="1000" dirty="0"/>
          </a:p>
        </p:txBody>
      </p:sp>
      <p:sp>
        <p:nvSpPr>
          <p:cNvPr id="56" name="v:Removing:l1a3:box|b2"/>
          <p:cNvSpPr/>
          <p:nvPr/>
        </p:nvSpPr>
        <p:spPr>
          <a:xfrm>
            <a:off x="7059168" y="2258568"/>
            <a:ext cx="777240" cy="283464"/>
          </a:xfrm>
          <a:prstGeom prst="roundRect">
            <a:avLst>
              <a:gd name="adj" fmla="val 16129"/>
            </a:avLst>
          </a:prstGeom>
          <a:solidFill>
            <a:srgbClr val="E3EEF8"/>
          </a:solidFill>
          <a:ln w="15875">
            <a:solidFill>
              <a:srgbClr val="306998"/>
            </a:solidFill>
            <a:prstDash val="solid"/>
          </a:ln>
        </p:spPr>
      </p:sp>
      <p:sp>
        <p:nvSpPr>
          <p:cNvPr id="57" name="v:Removing:l1a3|b2"/>
          <p:cNvSpPr txBox="1"/>
          <p:nvPr/>
        </p:nvSpPr>
        <p:spPr>
          <a:xfrm>
            <a:off x="7077456" y="225856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6</a:t>
            </a:r>
            <a:endParaRPr lang="en-US" sz="1000" dirty="0"/>
          </a:p>
        </p:txBody>
      </p:sp>
      <p:sp>
        <p:nvSpPr>
          <p:cNvPr id="58" name="lanebox|b3"/>
          <p:cNvSpPr/>
          <p:nvPr/>
        </p:nvSpPr>
        <p:spPr>
          <a:xfrm>
            <a:off x="365760" y="2651760"/>
            <a:ext cx="8412480" cy="676656"/>
          </a:xfrm>
          <a:prstGeom prst="roundRect">
            <a:avLst>
              <a:gd name="adj" fmla="val 8108"/>
            </a:avLst>
          </a:prstGeom>
          <a:solidFill>
            <a:srgbClr val="FFFFFF"/>
          </a:solidFill>
          <a:ln w="9525">
            <a:solidFill>
              <a:srgbClr val="9AA8B8"/>
            </a:solidFill>
            <a:prstDash val="solid"/>
          </a:ln>
        </p:spPr>
      </p:sp>
      <p:sp>
        <p:nvSpPr>
          <p:cNvPr id="59" name="v:Removing:l2op|b3"/>
          <p:cNvSpPr txBox="1"/>
          <p:nvPr/>
        </p:nvSpPr>
        <p:spPr>
          <a:xfrm>
            <a:off x="457200" y="2670048"/>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del spam[2]</a:t>
            </a:r>
            <a:endParaRPr lang="en-US" sz="1250" dirty="0"/>
          </a:p>
        </p:txBody>
      </p:sp>
      <p:sp>
        <p:nvSpPr>
          <p:cNvPr id="60" name="v:Removing:l2cat|b3"/>
          <p:cNvSpPr txBox="1"/>
          <p:nvPr/>
        </p:nvSpPr>
        <p:spPr>
          <a:xfrm>
            <a:off x="3611880" y="2670048"/>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61" name="v:Removing:l2retbox:box|b3"/>
          <p:cNvSpPr/>
          <p:nvPr/>
        </p:nvSpPr>
        <p:spPr>
          <a:xfrm>
            <a:off x="6812280" y="2697480"/>
            <a:ext cx="1874520" cy="246888"/>
          </a:xfrm>
          <a:prstGeom prst="roundRect">
            <a:avLst>
              <a:gd name="adj" fmla="val 29630"/>
            </a:avLst>
          </a:prstGeom>
          <a:solidFill>
            <a:srgbClr val="F1F4F8"/>
          </a:solidFill>
          <a:ln w="12700">
            <a:solidFill>
              <a:srgbClr val="9AA8B8"/>
            </a:solidFill>
            <a:prstDash val="solid"/>
          </a:ln>
        </p:spPr>
      </p:sp>
      <p:sp>
        <p:nvSpPr>
          <p:cNvPr id="62" name="v:Removing:l2ret|b3"/>
          <p:cNvSpPr txBox="1"/>
          <p:nvPr/>
        </p:nvSpPr>
        <p:spPr>
          <a:xfrm>
            <a:off x="6812280" y="2697480"/>
            <a:ext cx="1874520" cy="246888"/>
          </a:xfrm>
          <a:prstGeom prst="rect">
            <a:avLst/>
          </a:prstGeom>
          <a:noFill/>
          <a:ln/>
        </p:spPr>
        <p:txBody>
          <a:bodyPr wrap="square" lIns="0" tIns="0" rIns="0" bIns="0" rtlCol="0" anchor="ctr"/>
          <a:lstStyle/>
          <a:p>
            <a:pPr algn="ctr" indent="0" marL="0">
              <a:buNone/>
            </a:pPr>
            <a:r>
              <a:rPr lang="en-US" sz="1050" b="1" dirty="0">
                <a:solidFill>
                  <a:srgbClr val="5B6B7B"/>
                </a:solidFill>
                <a:latin typeface="Calibri" pitchFamily="34" charset="0"/>
                <a:ea typeface="Calibri" pitchFamily="34" charset="-122"/>
                <a:cs typeface="Calibri" pitchFamily="34" charset="-120"/>
              </a:rPr>
              <a:t>a statement: no value</a:t>
            </a:r>
            <a:endParaRPr lang="en-US" sz="1050" dirty="0"/>
          </a:p>
        </p:txBody>
      </p:sp>
      <p:sp>
        <p:nvSpPr>
          <p:cNvPr id="63" name="v:Removing:l2b0:box|b3"/>
          <p:cNvSpPr/>
          <p:nvPr/>
        </p:nvSpPr>
        <p:spPr>
          <a:xfrm>
            <a:off x="457200" y="2990088"/>
            <a:ext cx="777240" cy="283464"/>
          </a:xfrm>
          <a:prstGeom prst="roundRect">
            <a:avLst>
              <a:gd name="adj" fmla="val 16129"/>
            </a:avLst>
          </a:prstGeom>
          <a:solidFill>
            <a:srgbClr val="E3EEF8"/>
          </a:solidFill>
          <a:ln w="15875">
            <a:solidFill>
              <a:srgbClr val="306998"/>
            </a:solidFill>
            <a:prstDash val="solid"/>
          </a:ln>
        </p:spPr>
      </p:sp>
      <p:sp>
        <p:nvSpPr>
          <p:cNvPr id="64" name="v:Removing:l2b0|b3"/>
          <p:cNvSpPr txBox="1"/>
          <p:nvPr/>
        </p:nvSpPr>
        <p:spPr>
          <a:xfrm>
            <a:off x="475488" y="299008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65" name="v:Removing:l2b1:box|b3"/>
          <p:cNvSpPr/>
          <p:nvPr/>
        </p:nvSpPr>
        <p:spPr>
          <a:xfrm>
            <a:off x="1280160" y="2990088"/>
            <a:ext cx="777240" cy="283464"/>
          </a:xfrm>
          <a:prstGeom prst="roundRect">
            <a:avLst>
              <a:gd name="adj" fmla="val 16129"/>
            </a:avLst>
          </a:prstGeom>
          <a:solidFill>
            <a:srgbClr val="E3EEF8"/>
          </a:solidFill>
          <a:ln w="15875">
            <a:solidFill>
              <a:srgbClr val="306998"/>
            </a:solidFill>
            <a:prstDash val="solid"/>
          </a:ln>
        </p:spPr>
      </p:sp>
      <p:sp>
        <p:nvSpPr>
          <p:cNvPr id="66" name="v:Removing:l2b1|b3"/>
          <p:cNvSpPr txBox="1"/>
          <p:nvPr/>
        </p:nvSpPr>
        <p:spPr>
          <a:xfrm>
            <a:off x="1298448" y="299008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67" name="v:Removing:l2b2:box|b3"/>
          <p:cNvSpPr/>
          <p:nvPr/>
        </p:nvSpPr>
        <p:spPr>
          <a:xfrm>
            <a:off x="2103120" y="2990088"/>
            <a:ext cx="777240" cy="283464"/>
          </a:xfrm>
          <a:prstGeom prst="roundRect">
            <a:avLst>
              <a:gd name="adj" fmla="val 16129"/>
            </a:avLst>
          </a:prstGeom>
          <a:solidFill>
            <a:srgbClr val="FBE1E1"/>
          </a:solidFill>
          <a:ln w="15875">
            <a:solidFill>
              <a:srgbClr val="D64545"/>
            </a:solidFill>
            <a:prstDash val="solid"/>
          </a:ln>
        </p:spPr>
      </p:sp>
      <p:sp>
        <p:nvSpPr>
          <p:cNvPr id="68" name="v:Removing:l2b2|b3"/>
          <p:cNvSpPr txBox="1"/>
          <p:nvPr/>
        </p:nvSpPr>
        <p:spPr>
          <a:xfrm>
            <a:off x="2121408" y="299008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D64545"/>
                </a:solidFill>
                <a:latin typeface="Courier New" pitchFamily="34" charset="0"/>
                <a:ea typeface="Courier New" pitchFamily="34" charset="-122"/>
                <a:cs typeface="Courier New" pitchFamily="34" charset="-120"/>
              </a:rPr>
              <a:t>'rat'</a:t>
            </a:r>
            <a:endParaRPr lang="en-US" sz="1000" dirty="0"/>
          </a:p>
        </p:txBody>
      </p:sp>
      <p:sp>
        <p:nvSpPr>
          <p:cNvPr id="69" name="v:Removing:l2b3:box|b3"/>
          <p:cNvSpPr/>
          <p:nvPr/>
        </p:nvSpPr>
        <p:spPr>
          <a:xfrm>
            <a:off x="2926080" y="2990088"/>
            <a:ext cx="777240" cy="283464"/>
          </a:xfrm>
          <a:prstGeom prst="roundRect">
            <a:avLst>
              <a:gd name="adj" fmla="val 16129"/>
            </a:avLst>
          </a:prstGeom>
          <a:solidFill>
            <a:srgbClr val="E3EEF8"/>
          </a:solidFill>
          <a:ln w="15875">
            <a:solidFill>
              <a:srgbClr val="306998"/>
            </a:solidFill>
            <a:prstDash val="solid"/>
          </a:ln>
        </p:spPr>
      </p:sp>
      <p:sp>
        <p:nvSpPr>
          <p:cNvPr id="70" name="v:Removing:l2b3|b3"/>
          <p:cNvSpPr txBox="1"/>
          <p:nvPr/>
        </p:nvSpPr>
        <p:spPr>
          <a:xfrm>
            <a:off x="2944368" y="2990088"/>
            <a:ext cx="740664" cy="283464"/>
          </a:xfrm>
          <a:prstGeom prst="rect">
            <a:avLst/>
          </a:prstGeom>
          <a:noFill/>
          <a:ln/>
        </p:spPr>
        <p:txBody>
          <a:bodyPr wrap="square" lIns="0" tIns="0" rIns="0" bIns="0" rtlCol="0" anchor="ctr">
            <a:normAutofit/>
          </a:bodyPr>
          <a:lstStyle/>
          <a:p>
            <a:pPr algn="ctr" indent="0" marL="0">
              <a:buNone/>
            </a:pPr>
            <a:r>
              <a:rPr lang="en-US" sz="889" b="1" dirty="0">
                <a:solidFill>
                  <a:srgbClr val="1E2A3A"/>
                </a:solidFill>
                <a:latin typeface="Courier New" pitchFamily="34" charset="0"/>
                <a:ea typeface="Courier New" pitchFamily="34" charset="-122"/>
                <a:cs typeface="Courier New" pitchFamily="34" charset="-120"/>
              </a:rPr>
              <a:t>'elephant'</a:t>
            </a:r>
            <a:endParaRPr lang="en-US" sz="889" dirty="0"/>
          </a:p>
        </p:txBody>
      </p:sp>
      <p:sp>
        <p:nvSpPr>
          <p:cNvPr id="71" name="arrow|b3"/>
          <p:cNvSpPr/>
          <p:nvPr/>
        </p:nvSpPr>
        <p:spPr>
          <a:xfrm>
            <a:off x="4069080" y="3131820"/>
            <a:ext cx="411480" cy="0"/>
          </a:xfrm>
          <a:prstGeom prst="line">
            <a:avLst/>
          </a:prstGeom>
          <a:noFill/>
          <a:ln w="31750">
            <a:solidFill>
              <a:srgbClr val="2E9E5B"/>
            </a:solidFill>
            <a:prstDash val="solid"/>
            <a:tailEnd type="triangle"/>
          </a:ln>
        </p:spPr>
      </p:sp>
      <p:sp>
        <p:nvSpPr>
          <p:cNvPr id="72" name="v:Removing:l2a0:box|b3"/>
          <p:cNvSpPr/>
          <p:nvPr/>
        </p:nvSpPr>
        <p:spPr>
          <a:xfrm>
            <a:off x="4590288" y="2990088"/>
            <a:ext cx="777240" cy="283464"/>
          </a:xfrm>
          <a:prstGeom prst="roundRect">
            <a:avLst>
              <a:gd name="adj" fmla="val 16129"/>
            </a:avLst>
          </a:prstGeom>
          <a:solidFill>
            <a:srgbClr val="E3EEF8"/>
          </a:solidFill>
          <a:ln w="15875">
            <a:solidFill>
              <a:srgbClr val="306998"/>
            </a:solidFill>
            <a:prstDash val="solid"/>
          </a:ln>
        </p:spPr>
      </p:sp>
      <p:sp>
        <p:nvSpPr>
          <p:cNvPr id="73" name="v:Removing:l2a0|b3"/>
          <p:cNvSpPr txBox="1"/>
          <p:nvPr/>
        </p:nvSpPr>
        <p:spPr>
          <a:xfrm>
            <a:off x="4608576" y="299008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74" name="v:Removing:l2a1:box|b3"/>
          <p:cNvSpPr/>
          <p:nvPr/>
        </p:nvSpPr>
        <p:spPr>
          <a:xfrm>
            <a:off x="5413248" y="2990088"/>
            <a:ext cx="777240" cy="283464"/>
          </a:xfrm>
          <a:prstGeom prst="roundRect">
            <a:avLst>
              <a:gd name="adj" fmla="val 16129"/>
            </a:avLst>
          </a:prstGeom>
          <a:solidFill>
            <a:srgbClr val="E3EEF8"/>
          </a:solidFill>
          <a:ln w="15875">
            <a:solidFill>
              <a:srgbClr val="306998"/>
            </a:solidFill>
            <a:prstDash val="solid"/>
          </a:ln>
        </p:spPr>
      </p:sp>
      <p:sp>
        <p:nvSpPr>
          <p:cNvPr id="75" name="v:Removing:l2a1|b3"/>
          <p:cNvSpPr txBox="1"/>
          <p:nvPr/>
        </p:nvSpPr>
        <p:spPr>
          <a:xfrm>
            <a:off x="5431536" y="2990088"/>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'bat'</a:t>
            </a:r>
            <a:endParaRPr lang="en-US" sz="1000" dirty="0"/>
          </a:p>
        </p:txBody>
      </p:sp>
      <p:sp>
        <p:nvSpPr>
          <p:cNvPr id="76" name="v:Removing:l2a2:box|b3"/>
          <p:cNvSpPr/>
          <p:nvPr/>
        </p:nvSpPr>
        <p:spPr>
          <a:xfrm>
            <a:off x="6236208" y="2990088"/>
            <a:ext cx="777240" cy="283464"/>
          </a:xfrm>
          <a:prstGeom prst="roundRect">
            <a:avLst>
              <a:gd name="adj" fmla="val 16129"/>
            </a:avLst>
          </a:prstGeom>
          <a:solidFill>
            <a:srgbClr val="E3EEF8"/>
          </a:solidFill>
          <a:ln w="15875">
            <a:solidFill>
              <a:srgbClr val="306998"/>
            </a:solidFill>
            <a:prstDash val="solid"/>
          </a:ln>
        </p:spPr>
      </p:sp>
      <p:sp>
        <p:nvSpPr>
          <p:cNvPr id="77" name="v:Removing:l2a2|b3"/>
          <p:cNvSpPr txBox="1"/>
          <p:nvPr/>
        </p:nvSpPr>
        <p:spPr>
          <a:xfrm>
            <a:off x="6254496" y="2990088"/>
            <a:ext cx="740664" cy="283464"/>
          </a:xfrm>
          <a:prstGeom prst="rect">
            <a:avLst/>
          </a:prstGeom>
          <a:noFill/>
          <a:ln/>
        </p:spPr>
        <p:txBody>
          <a:bodyPr wrap="square" lIns="0" tIns="0" rIns="0" bIns="0" rtlCol="0" anchor="ctr">
            <a:normAutofit/>
          </a:bodyPr>
          <a:lstStyle/>
          <a:p>
            <a:pPr algn="ctr" indent="0" marL="0">
              <a:buNone/>
            </a:pPr>
            <a:r>
              <a:rPr lang="en-US" sz="889" b="1" dirty="0">
                <a:solidFill>
                  <a:srgbClr val="1E2A3A"/>
                </a:solidFill>
                <a:latin typeface="Courier New" pitchFamily="34" charset="0"/>
                <a:ea typeface="Courier New" pitchFamily="34" charset="-122"/>
                <a:cs typeface="Courier New" pitchFamily="34" charset="-120"/>
              </a:rPr>
              <a:t>'elephant'</a:t>
            </a:r>
            <a:endParaRPr lang="en-US" sz="889" dirty="0"/>
          </a:p>
        </p:txBody>
      </p:sp>
      <p:sp>
        <p:nvSpPr>
          <p:cNvPr id="78" name="v:Removing:e0box:box|b4"/>
          <p:cNvSpPr/>
          <p:nvPr/>
        </p:nvSpPr>
        <p:spPr>
          <a:xfrm>
            <a:off x="365760" y="3383280"/>
            <a:ext cx="8412480" cy="274320"/>
          </a:xfrm>
          <a:prstGeom prst="roundRect">
            <a:avLst>
              <a:gd name="adj" fmla="val 20000"/>
            </a:avLst>
          </a:prstGeom>
          <a:solidFill>
            <a:srgbClr val="FBE1E1"/>
          </a:solidFill>
          <a:ln w="12700">
            <a:solidFill>
              <a:srgbClr val="D64545"/>
            </a:solidFill>
            <a:prstDash val="solid"/>
          </a:ln>
        </p:spPr>
      </p:sp>
      <p:sp>
        <p:nvSpPr>
          <p:cNvPr id="79" name="v:Removing:e0|b4"/>
          <p:cNvSpPr txBox="1"/>
          <p:nvPr/>
        </p:nvSpPr>
        <p:spPr>
          <a:xfrm>
            <a:off x="457200" y="3383280"/>
            <a:ext cx="8229600" cy="274320"/>
          </a:xfrm>
          <a:prstGeom prst="rect">
            <a:avLst/>
          </a:prstGeom>
          <a:noFill/>
          <a:ln/>
        </p:spPr>
        <p:txBody>
          <a:bodyPr wrap="square" lIns="0" tIns="0" rIns="0" bIns="0" rtlCol="0" anchor="ctr">
            <a:normAutofit/>
          </a:bodyPr>
          <a:lstStyle/>
          <a:p>
            <a:pPr indent="0" marL="0">
              <a:buNone/>
            </a:pPr>
            <a:r>
              <a:rPr lang="en-US" sz="1050" b="1" dirty="0">
                <a:solidFill>
                  <a:srgbClr val="D64545"/>
                </a:solidFill>
                <a:latin typeface="Courier New" pitchFamily="34" charset="0"/>
                <a:ea typeface="Courier New" pitchFamily="34" charset="-122"/>
                <a:cs typeface="Courier New" pitchFamily="34" charset="-120"/>
              </a:rPr>
              <a:t>spam.remove('chicken')   →   ValueError: list.remove(x): x not in list</a:t>
            </a:r>
            <a:endParaRPr lang="en-US" sz="1050" dirty="0"/>
          </a:p>
        </p:txBody>
      </p:sp>
      <p:sp>
        <p:nvSpPr>
          <p:cNvPr id="80" name="v:Removing:e1box:box|b4"/>
          <p:cNvSpPr/>
          <p:nvPr/>
        </p:nvSpPr>
        <p:spPr>
          <a:xfrm>
            <a:off x="365760" y="3694176"/>
            <a:ext cx="8412480" cy="274320"/>
          </a:xfrm>
          <a:prstGeom prst="roundRect">
            <a:avLst>
              <a:gd name="adj" fmla="val 20000"/>
            </a:avLst>
          </a:prstGeom>
          <a:solidFill>
            <a:srgbClr val="FBE1E1"/>
          </a:solidFill>
          <a:ln w="12700">
            <a:solidFill>
              <a:srgbClr val="D64545"/>
            </a:solidFill>
            <a:prstDash val="solid"/>
          </a:ln>
        </p:spPr>
      </p:sp>
      <p:sp>
        <p:nvSpPr>
          <p:cNvPr id="81" name="v:Removing:e1|b4"/>
          <p:cNvSpPr txBox="1"/>
          <p:nvPr/>
        </p:nvSpPr>
        <p:spPr>
          <a:xfrm>
            <a:off x="457200" y="3694176"/>
            <a:ext cx="8229600" cy="274320"/>
          </a:xfrm>
          <a:prstGeom prst="rect">
            <a:avLst/>
          </a:prstGeom>
          <a:noFill/>
          <a:ln/>
        </p:spPr>
        <p:txBody>
          <a:bodyPr wrap="square" lIns="0" tIns="0" rIns="0" bIns="0" rtlCol="0" anchor="ctr">
            <a:normAutofit/>
          </a:bodyPr>
          <a:lstStyle/>
          <a:p>
            <a:pPr indent="0" marL="0">
              <a:buNone/>
            </a:pPr>
            <a:r>
              <a:rPr lang="en-US" sz="1050" b="1" dirty="0">
                <a:solidFill>
                  <a:srgbClr val="D64545"/>
                </a:solidFill>
                <a:latin typeface="Courier New" pitchFamily="34" charset="0"/>
                <a:ea typeface="Courier New" pitchFamily="34" charset="-122"/>
                <a:cs typeface="Courier New" pitchFamily="34" charset="-120"/>
              </a:rPr>
              <a:t>[].pop()   →   IndexError: pop from empty list</a:t>
            </a:r>
            <a:endParaRPr lang="en-US" sz="1050" dirty="0"/>
          </a:p>
        </p:txBody>
      </p:sp>
      <p:sp>
        <p:nvSpPr>
          <p:cNvPr id="82" name="say|b4"/>
          <p:cNvSpPr txBox="1"/>
          <p:nvPr/>
        </p:nvSpPr>
        <p:spPr>
          <a:xfrm>
            <a:off x="365760" y="4114800"/>
            <a:ext cx="8412480" cy="457200"/>
          </a:xfrm>
          <a:prstGeom prst="rect">
            <a:avLst/>
          </a:prstGeom>
          <a:noFill/>
          <a:ln/>
        </p:spPr>
        <p:txBody>
          <a:bodyPr wrap="square" lIns="0" tIns="0" rIns="0" bIns="0" rtlCol="0" anchor="t"/>
          <a:lstStyle/>
          <a:p>
            <a:pPr indent="0" marL="0">
              <a:buNone/>
            </a:pPr>
            <a:r>
              <a:rPr lang="en-US" sz="1350" b="1" dirty="0">
                <a:solidFill>
                  <a:srgbClr val="1E2A3A"/>
                </a:solidFill>
                <a:latin typeface="Calibri" pitchFamily="34" charset="0"/>
                <a:ea typeface="Calibri" pitchFamily="34" charset="-122"/>
                <a:cs typeface="Calibri" pitchFamily="34" charset="-120"/>
              </a:rPr>
              <a:t>pop is the one that hands the removed item back; remove looks for a value, del and pop take an index.</a:t>
            </a:r>
            <a:endParaRPr lang="en-US" sz="1350" dirty="0"/>
          </a:p>
        </p:txBody>
      </p:sp>
      <p:sp>
        <p:nvSpPr>
          <p:cNvPr id="8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8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8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Changing lists ▸ Remove method, Pop method, Del statement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87" fill="hold">
                      <p:stCondLst>
                        <p:cond delay="indefinite"/>
                      </p:stCondLst>
                      <p:childTnLst>
                        <p:par>
                          <p:cTn id="88"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00"/>
                                        <p:tgtEl>
                                          <p:spTgt spid="27"/>
                                        </p:tgtEl>
                                      </p:cBhvr>
                                    </p:animEffect>
                                  </p:childTnLst>
                                </p:cTn>
                              </p:par>
                              <p:par>
                                <p:cTn id="69" presetID="10" presetClass="entr" presetSubtype="0" fill="hold" nodeType="with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00"/>
                                        <p:tgtEl>
                                          <p:spTgt spid="2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400"/>
                                        <p:tgtEl>
                                          <p:spTgt spid="29"/>
                                        </p:tgtEl>
                                      </p:cBhvr>
                                    </p:animEffect>
                                  </p:childTnLst>
                                </p:cTn>
                              </p:par>
                              <p:par>
                                <p:cTn id="75" presetID="10" presetClass="entr" presetSubtype="0" fill="hold" nodeType="with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400"/>
                                        <p:tgtEl>
                                          <p:spTgt spid="3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400"/>
                                        <p:tgtEl>
                                          <p:spTgt spid="31"/>
                                        </p:tgtEl>
                                      </p:cBhvr>
                                    </p:animEffect>
                                  </p:childTnLst>
                                </p:cTn>
                              </p:par>
                              <p:par>
                                <p:cTn id="81" presetID="10" presetClass="entr" presetSubtype="0" fill="hold" nodeType="withEffect">
                                  <p:stCondLst>
                                    <p:cond delay="0"/>
                                  </p:stCondLst>
                                  <p:childTnLst>
                                    <p:set>
                                      <p:cBhvr>
                                        <p:cTn id="82" dur="1" fill="hold">
                                          <p:stCondLst>
                                            <p:cond delay="0"/>
                                          </p:stCondLst>
                                        </p:cTn>
                                        <p:tgtEl>
                                          <p:spTgt spid="32"/>
                                        </p:tgtEl>
                                        <p:attrNameLst>
                                          <p:attrName>style.visibility</p:attrName>
                                        </p:attrNameLst>
                                      </p:cBhvr>
                                      <p:to>
                                        <p:strVal val="visible"/>
                                      </p:to>
                                    </p:set>
                                    <p:animEffect transition="in" filter="fade">
                                      <p:cBhvr>
                                        <p:cTn id="83" dur="400"/>
                                        <p:tgtEl>
                                          <p:spTgt spid="3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3"/>
                                        </p:tgtEl>
                                        <p:attrNameLst>
                                          <p:attrName>style.visibility</p:attrName>
                                        </p:attrNameLst>
                                      </p:cBhvr>
                                      <p:to>
                                        <p:strVal val="visible"/>
                                      </p:to>
                                    </p:set>
                                    <p:animEffect transition="in" filter="fade">
                                      <p:cBhvr>
                                        <p:cTn id="86" dur="400"/>
                                        <p:tgtEl>
                                          <p:spTgt spid="33"/>
                                        </p:tgtEl>
                                      </p:cBhvr>
                                    </p:animEffect>
                                  </p:childTnLst>
                                </p:cTn>
                              </p:par>
                            </p:childTnLst>
                          </p:cTn>
                        </p:par>
                      </p:childTnLst>
                    </p:cTn>
                  </p:par>
                  <p:par>
                    <p:cTn id="161" fill="hold">
                      <p:stCondLst>
                        <p:cond delay="indefinite"/>
                      </p:stCondLst>
                      <p:childTnLst>
                        <p:par>
                          <p:cTn id="162"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00"/>
                                        <p:tgtEl>
                                          <p:spTgt spid="40"/>
                                        </p:tgtEl>
                                      </p:cBhvr>
                                    </p:animEffect>
                                  </p:childTnLst>
                                </p:cTn>
                              </p:par>
                              <p:par>
                                <p:cTn id="110" presetID="10" presetClass="entr" presetSubtype="0" fill="hold"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400"/>
                                        <p:tgtEl>
                                          <p:spTgt spid="41"/>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00"/>
                                        <p:tgtEl>
                                          <p:spTgt spid="42"/>
                                        </p:tgtEl>
                                      </p:cBhvr>
                                    </p:animEffect>
                                  </p:childTnLst>
                                </p:cTn>
                              </p:par>
                              <p:par>
                                <p:cTn id="116" presetID="10" presetClass="entr" presetSubtype="0" fill="hold"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00"/>
                                        <p:tgtEl>
                                          <p:spTgt spid="43"/>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400"/>
                                        <p:tgtEl>
                                          <p:spTgt spid="44"/>
                                        </p:tgtEl>
                                      </p:cBhvr>
                                    </p:animEffect>
                                  </p:childTnLst>
                                </p:cTn>
                              </p:par>
                              <p:par>
                                <p:cTn id="122" presetID="10" presetClass="entr" presetSubtype="0" fill="hold"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400"/>
                                        <p:tgtEl>
                                          <p:spTgt spid="45"/>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400"/>
                                        <p:tgtEl>
                                          <p:spTgt spid="46"/>
                                        </p:tgtEl>
                                      </p:cBhvr>
                                    </p:animEffect>
                                  </p:childTnLst>
                                </p:cTn>
                              </p:par>
                              <p:par>
                                <p:cTn id="128" presetID="10" presetClass="entr" presetSubtype="0" fill="hold"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400"/>
                                        <p:tgtEl>
                                          <p:spTgt spid="47"/>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fade">
                                      <p:cBhvr>
                                        <p:cTn id="133" dur="400"/>
                                        <p:tgtEl>
                                          <p:spTgt spid="48"/>
                                        </p:tgtEl>
                                      </p:cBhvr>
                                    </p:animEffect>
                                  </p:childTnLst>
                                </p:cTn>
                              </p:par>
                              <p:par>
                                <p:cTn id="134" presetID="10" presetClass="entr" presetSubtype="0" fill="hold" nodeType="withEffect">
                                  <p:stCondLst>
                                    <p:cond delay="0"/>
                                  </p:stCondLst>
                                  <p:childTnLst>
                                    <p:set>
                                      <p:cBhvr>
                                        <p:cTn id="135" dur="1" fill="hold">
                                          <p:stCondLst>
                                            <p:cond delay="0"/>
                                          </p:stCondLst>
                                        </p:cTn>
                                        <p:tgtEl>
                                          <p:spTgt spid="49"/>
                                        </p:tgtEl>
                                        <p:attrNameLst>
                                          <p:attrName>style.visibility</p:attrName>
                                        </p:attrNameLst>
                                      </p:cBhvr>
                                      <p:to>
                                        <p:strVal val="visible"/>
                                      </p:to>
                                    </p:set>
                                    <p:animEffect transition="in" filter="fade">
                                      <p:cBhvr>
                                        <p:cTn id="136" dur="400"/>
                                        <p:tgtEl>
                                          <p:spTgt spid="49"/>
                                        </p:tgtEl>
                                      </p:cBhvr>
                                    </p:animEffect>
                                  </p:childTnLst>
                                </p:cTn>
                              </p:par>
                              <p:par>
                                <p:cTn id="137" presetID="10" presetClass="entr" presetSubtype="0" fill="hold" nodeType="withEffect">
                                  <p:stCondLst>
                                    <p:cond delay="0"/>
                                  </p:stCondLst>
                                  <p:childTnLst>
                                    <p:set>
                                      <p:cBhvr>
                                        <p:cTn id="138" dur="1" fill="hold">
                                          <p:stCondLst>
                                            <p:cond delay="0"/>
                                          </p:stCondLst>
                                        </p:cTn>
                                        <p:tgtEl>
                                          <p:spTgt spid="50"/>
                                        </p:tgtEl>
                                        <p:attrNameLst>
                                          <p:attrName>style.visibility</p:attrName>
                                        </p:attrNameLst>
                                      </p:cBhvr>
                                      <p:to>
                                        <p:strVal val="visible"/>
                                      </p:to>
                                    </p:set>
                                    <p:animEffect transition="in" filter="fade">
                                      <p:cBhvr>
                                        <p:cTn id="139" dur="400"/>
                                        <p:tgtEl>
                                          <p:spTgt spid="50"/>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51"/>
                                        </p:tgtEl>
                                        <p:attrNameLst>
                                          <p:attrName>style.visibility</p:attrName>
                                        </p:attrNameLst>
                                      </p:cBhvr>
                                      <p:to>
                                        <p:strVal val="visible"/>
                                      </p:to>
                                    </p:set>
                                    <p:animEffect transition="in" filter="fade">
                                      <p:cBhvr>
                                        <p:cTn id="142" dur="400"/>
                                        <p:tgtEl>
                                          <p:spTgt spid="51"/>
                                        </p:tgtEl>
                                      </p:cBhvr>
                                    </p:animEffect>
                                  </p:childTnLst>
                                </p:cTn>
                              </p:par>
                              <p:par>
                                <p:cTn id="143" presetID="10" presetClass="entr" presetSubtype="0" fill="hold" nodeType="withEffect">
                                  <p:stCondLst>
                                    <p:cond delay="0"/>
                                  </p:stCondLst>
                                  <p:childTnLst>
                                    <p:set>
                                      <p:cBhvr>
                                        <p:cTn id="144" dur="1" fill="hold">
                                          <p:stCondLst>
                                            <p:cond delay="0"/>
                                          </p:stCondLst>
                                        </p:cTn>
                                        <p:tgtEl>
                                          <p:spTgt spid="52"/>
                                        </p:tgtEl>
                                        <p:attrNameLst>
                                          <p:attrName>style.visibility</p:attrName>
                                        </p:attrNameLst>
                                      </p:cBhvr>
                                      <p:to>
                                        <p:strVal val="visible"/>
                                      </p:to>
                                    </p:set>
                                    <p:animEffect transition="in" filter="fade">
                                      <p:cBhvr>
                                        <p:cTn id="145" dur="400"/>
                                        <p:tgtEl>
                                          <p:spTgt spid="52"/>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53"/>
                                        </p:tgtEl>
                                        <p:attrNameLst>
                                          <p:attrName>style.visibility</p:attrName>
                                        </p:attrNameLst>
                                      </p:cBhvr>
                                      <p:to>
                                        <p:strVal val="visible"/>
                                      </p:to>
                                    </p:set>
                                    <p:animEffect transition="in" filter="fade">
                                      <p:cBhvr>
                                        <p:cTn id="148" dur="400"/>
                                        <p:tgtEl>
                                          <p:spTgt spid="53"/>
                                        </p:tgtEl>
                                      </p:cBhvr>
                                    </p:animEffect>
                                  </p:childTnLst>
                                </p:cTn>
                              </p:par>
                              <p:par>
                                <p:cTn id="149" presetID="10" presetClass="entr" presetSubtype="0" fill="hold" nodeType="withEffect">
                                  <p:stCondLst>
                                    <p:cond delay="0"/>
                                  </p:stCondLst>
                                  <p:childTnLst>
                                    <p:set>
                                      <p:cBhvr>
                                        <p:cTn id="150" dur="1" fill="hold">
                                          <p:stCondLst>
                                            <p:cond delay="0"/>
                                          </p:stCondLst>
                                        </p:cTn>
                                        <p:tgtEl>
                                          <p:spTgt spid="54"/>
                                        </p:tgtEl>
                                        <p:attrNameLst>
                                          <p:attrName>style.visibility</p:attrName>
                                        </p:attrNameLst>
                                      </p:cBhvr>
                                      <p:to>
                                        <p:strVal val="visible"/>
                                      </p:to>
                                    </p:set>
                                    <p:animEffect transition="in" filter="fade">
                                      <p:cBhvr>
                                        <p:cTn id="151" dur="400"/>
                                        <p:tgtEl>
                                          <p:spTgt spid="54"/>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55"/>
                                        </p:tgtEl>
                                        <p:attrNameLst>
                                          <p:attrName>style.visibility</p:attrName>
                                        </p:attrNameLst>
                                      </p:cBhvr>
                                      <p:to>
                                        <p:strVal val="visible"/>
                                      </p:to>
                                    </p:set>
                                    <p:animEffect transition="in" filter="fade">
                                      <p:cBhvr>
                                        <p:cTn id="154" dur="400"/>
                                        <p:tgtEl>
                                          <p:spTgt spid="55"/>
                                        </p:tgtEl>
                                      </p:cBhvr>
                                    </p:animEffect>
                                  </p:childTnLst>
                                </p:cTn>
                              </p:par>
                              <p:par>
                                <p:cTn id="155" presetID="10" presetClass="entr" presetSubtype="0" fill="hold" nodeType="withEffect">
                                  <p:stCondLst>
                                    <p:cond delay="0"/>
                                  </p:stCondLst>
                                  <p:childTnLst>
                                    <p:set>
                                      <p:cBhvr>
                                        <p:cTn id="156" dur="1" fill="hold">
                                          <p:stCondLst>
                                            <p:cond delay="0"/>
                                          </p:stCondLst>
                                        </p:cTn>
                                        <p:tgtEl>
                                          <p:spTgt spid="56"/>
                                        </p:tgtEl>
                                        <p:attrNameLst>
                                          <p:attrName>style.visibility</p:attrName>
                                        </p:attrNameLst>
                                      </p:cBhvr>
                                      <p:to>
                                        <p:strVal val="visible"/>
                                      </p:to>
                                    </p:set>
                                    <p:animEffect transition="in" filter="fade">
                                      <p:cBhvr>
                                        <p:cTn id="157" dur="400"/>
                                        <p:tgtEl>
                                          <p:spTgt spid="56"/>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57"/>
                                        </p:tgtEl>
                                        <p:attrNameLst>
                                          <p:attrName>style.visibility</p:attrName>
                                        </p:attrNameLst>
                                      </p:cBhvr>
                                      <p:to>
                                        <p:strVal val="visible"/>
                                      </p:to>
                                    </p:set>
                                    <p:animEffect transition="in" filter="fade">
                                      <p:cBhvr>
                                        <p:cTn id="160" dur="400"/>
                                        <p:tgtEl>
                                          <p:spTgt spid="57"/>
                                        </p:tgtEl>
                                      </p:cBhvr>
                                    </p:animEffect>
                                  </p:childTnLst>
                                </p:cTn>
                              </p:par>
                            </p:childTnLst>
                          </p:cTn>
                        </p:par>
                      </p:childTnLst>
                    </p:cTn>
                  </p:par>
                  <p:par>
                    <p:cTn id="223" fill="hold">
                      <p:stCondLst>
                        <p:cond delay="indefinite"/>
                      </p:stCondLst>
                      <p:childTnLst>
                        <p:par>
                          <p:cTn id="224" fill="hold">
                            <p:stCondLst>
                              <p:cond delay="0"/>
                            </p:stCondLst>
                            <p:childTnLst>
                              <p:par>
                                <p:cTn id="163" presetID="10" presetClass="entr" presetSubtype="0" fill="hold" nodeType="clickEffect">
                                  <p:stCondLst>
                                    <p:cond delay="0"/>
                                  </p:stCondLst>
                                  <p:childTnLst>
                                    <p:set>
                                      <p:cBhvr>
                                        <p:cTn id="164" dur="1" fill="hold">
                                          <p:stCondLst>
                                            <p:cond delay="0"/>
                                          </p:stCondLst>
                                        </p:cTn>
                                        <p:tgtEl>
                                          <p:spTgt spid="58"/>
                                        </p:tgtEl>
                                        <p:attrNameLst>
                                          <p:attrName>style.visibility</p:attrName>
                                        </p:attrNameLst>
                                      </p:cBhvr>
                                      <p:to>
                                        <p:strVal val="visible"/>
                                      </p:to>
                                    </p:set>
                                    <p:animEffect transition="in" filter="fade">
                                      <p:cBhvr>
                                        <p:cTn id="165" dur="400"/>
                                        <p:tgtEl>
                                          <p:spTgt spid="58"/>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59"/>
                                        </p:tgtEl>
                                        <p:attrNameLst>
                                          <p:attrName>style.visibility</p:attrName>
                                        </p:attrNameLst>
                                      </p:cBhvr>
                                      <p:to>
                                        <p:strVal val="visible"/>
                                      </p:to>
                                    </p:set>
                                    <p:animEffect transition="in" filter="fade">
                                      <p:cBhvr>
                                        <p:cTn id="168" dur="400"/>
                                        <p:tgtEl>
                                          <p:spTgt spid="59"/>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60"/>
                                        </p:tgtEl>
                                        <p:attrNameLst>
                                          <p:attrName>style.visibility</p:attrName>
                                        </p:attrNameLst>
                                      </p:cBhvr>
                                      <p:to>
                                        <p:strVal val="visible"/>
                                      </p:to>
                                    </p:set>
                                    <p:animEffect transition="in" filter="fade">
                                      <p:cBhvr>
                                        <p:cTn id="171" dur="400"/>
                                        <p:tgtEl>
                                          <p:spTgt spid="60"/>
                                        </p:tgtEl>
                                      </p:cBhvr>
                                    </p:animEffect>
                                  </p:childTnLst>
                                </p:cTn>
                              </p:par>
                              <p:par>
                                <p:cTn id="172" presetID="10" presetClass="entr" presetSubtype="0" fill="hold" nodeType="withEffect">
                                  <p:stCondLst>
                                    <p:cond delay="0"/>
                                  </p:stCondLst>
                                  <p:childTnLst>
                                    <p:set>
                                      <p:cBhvr>
                                        <p:cTn id="173" dur="1" fill="hold">
                                          <p:stCondLst>
                                            <p:cond delay="0"/>
                                          </p:stCondLst>
                                        </p:cTn>
                                        <p:tgtEl>
                                          <p:spTgt spid="61"/>
                                        </p:tgtEl>
                                        <p:attrNameLst>
                                          <p:attrName>style.visibility</p:attrName>
                                        </p:attrNameLst>
                                      </p:cBhvr>
                                      <p:to>
                                        <p:strVal val="visible"/>
                                      </p:to>
                                    </p:set>
                                    <p:animEffect transition="in" filter="fade">
                                      <p:cBhvr>
                                        <p:cTn id="174" dur="400"/>
                                        <p:tgtEl>
                                          <p:spTgt spid="61"/>
                                        </p:tgtEl>
                                      </p:cBhvr>
                                    </p:animEffect>
                                  </p:childTnLst>
                                </p:cTn>
                              </p:par>
                              <p:par>
                                <p:cTn id="175" presetID="10" presetClass="entr" presetSubtype="0" fill="hold" grpId="0" nodeType="withEffect">
                                  <p:stCondLst>
                                    <p:cond delay="0"/>
                                  </p:stCondLst>
                                  <p:childTnLst>
                                    <p:set>
                                      <p:cBhvr>
                                        <p:cTn id="176" dur="1" fill="hold">
                                          <p:stCondLst>
                                            <p:cond delay="0"/>
                                          </p:stCondLst>
                                        </p:cTn>
                                        <p:tgtEl>
                                          <p:spTgt spid="62"/>
                                        </p:tgtEl>
                                        <p:attrNameLst>
                                          <p:attrName>style.visibility</p:attrName>
                                        </p:attrNameLst>
                                      </p:cBhvr>
                                      <p:to>
                                        <p:strVal val="visible"/>
                                      </p:to>
                                    </p:set>
                                    <p:animEffect transition="in" filter="fade">
                                      <p:cBhvr>
                                        <p:cTn id="177" dur="400"/>
                                        <p:tgtEl>
                                          <p:spTgt spid="62"/>
                                        </p:tgtEl>
                                      </p:cBhvr>
                                    </p:animEffect>
                                  </p:childTnLst>
                                </p:cTn>
                              </p:par>
                              <p:par>
                                <p:cTn id="178" presetID="10" presetClass="entr" presetSubtype="0" fill="hold" nodeType="withEffect">
                                  <p:stCondLst>
                                    <p:cond delay="0"/>
                                  </p:stCondLst>
                                  <p:childTnLst>
                                    <p:set>
                                      <p:cBhvr>
                                        <p:cTn id="179" dur="1" fill="hold">
                                          <p:stCondLst>
                                            <p:cond delay="0"/>
                                          </p:stCondLst>
                                        </p:cTn>
                                        <p:tgtEl>
                                          <p:spTgt spid="63"/>
                                        </p:tgtEl>
                                        <p:attrNameLst>
                                          <p:attrName>style.visibility</p:attrName>
                                        </p:attrNameLst>
                                      </p:cBhvr>
                                      <p:to>
                                        <p:strVal val="visible"/>
                                      </p:to>
                                    </p:set>
                                    <p:animEffect transition="in" filter="fade">
                                      <p:cBhvr>
                                        <p:cTn id="180" dur="400"/>
                                        <p:tgtEl>
                                          <p:spTgt spid="63"/>
                                        </p:tgtEl>
                                      </p:cBhvr>
                                    </p:animEffect>
                                  </p:childTnLst>
                                </p:cTn>
                              </p:par>
                              <p:par>
                                <p:cTn id="181" presetID="10" presetClass="entr" presetSubtype="0" fill="hold" grpId="0" nodeType="withEffect">
                                  <p:stCondLst>
                                    <p:cond delay="0"/>
                                  </p:stCondLst>
                                  <p:childTnLst>
                                    <p:set>
                                      <p:cBhvr>
                                        <p:cTn id="182" dur="1" fill="hold">
                                          <p:stCondLst>
                                            <p:cond delay="0"/>
                                          </p:stCondLst>
                                        </p:cTn>
                                        <p:tgtEl>
                                          <p:spTgt spid="64"/>
                                        </p:tgtEl>
                                        <p:attrNameLst>
                                          <p:attrName>style.visibility</p:attrName>
                                        </p:attrNameLst>
                                      </p:cBhvr>
                                      <p:to>
                                        <p:strVal val="visible"/>
                                      </p:to>
                                    </p:set>
                                    <p:animEffect transition="in" filter="fade">
                                      <p:cBhvr>
                                        <p:cTn id="183" dur="400"/>
                                        <p:tgtEl>
                                          <p:spTgt spid="64"/>
                                        </p:tgtEl>
                                      </p:cBhvr>
                                    </p:animEffect>
                                  </p:childTnLst>
                                </p:cTn>
                              </p:par>
                              <p:par>
                                <p:cTn id="184" presetID="10" presetClass="entr" presetSubtype="0" fill="hold" nodeType="withEffect">
                                  <p:stCondLst>
                                    <p:cond delay="0"/>
                                  </p:stCondLst>
                                  <p:childTnLst>
                                    <p:set>
                                      <p:cBhvr>
                                        <p:cTn id="185" dur="1" fill="hold">
                                          <p:stCondLst>
                                            <p:cond delay="0"/>
                                          </p:stCondLst>
                                        </p:cTn>
                                        <p:tgtEl>
                                          <p:spTgt spid="65"/>
                                        </p:tgtEl>
                                        <p:attrNameLst>
                                          <p:attrName>style.visibility</p:attrName>
                                        </p:attrNameLst>
                                      </p:cBhvr>
                                      <p:to>
                                        <p:strVal val="visible"/>
                                      </p:to>
                                    </p:set>
                                    <p:animEffect transition="in" filter="fade">
                                      <p:cBhvr>
                                        <p:cTn id="186" dur="400"/>
                                        <p:tgtEl>
                                          <p:spTgt spid="65"/>
                                        </p:tgtEl>
                                      </p:cBhvr>
                                    </p:animEffect>
                                  </p:childTnLst>
                                </p:cTn>
                              </p:par>
                              <p:par>
                                <p:cTn id="187" presetID="10" presetClass="entr" presetSubtype="0" fill="hold" grpId="0" nodeType="withEffect">
                                  <p:stCondLst>
                                    <p:cond delay="0"/>
                                  </p:stCondLst>
                                  <p:childTnLst>
                                    <p:set>
                                      <p:cBhvr>
                                        <p:cTn id="188" dur="1" fill="hold">
                                          <p:stCondLst>
                                            <p:cond delay="0"/>
                                          </p:stCondLst>
                                        </p:cTn>
                                        <p:tgtEl>
                                          <p:spTgt spid="66"/>
                                        </p:tgtEl>
                                        <p:attrNameLst>
                                          <p:attrName>style.visibility</p:attrName>
                                        </p:attrNameLst>
                                      </p:cBhvr>
                                      <p:to>
                                        <p:strVal val="visible"/>
                                      </p:to>
                                    </p:set>
                                    <p:animEffect transition="in" filter="fade">
                                      <p:cBhvr>
                                        <p:cTn id="189" dur="400"/>
                                        <p:tgtEl>
                                          <p:spTgt spid="66"/>
                                        </p:tgtEl>
                                      </p:cBhvr>
                                    </p:animEffect>
                                  </p:childTnLst>
                                </p:cTn>
                              </p:par>
                              <p:par>
                                <p:cTn id="190" presetID="10" presetClass="entr" presetSubtype="0" fill="hold" nodeType="withEffect">
                                  <p:stCondLst>
                                    <p:cond delay="0"/>
                                  </p:stCondLst>
                                  <p:childTnLst>
                                    <p:set>
                                      <p:cBhvr>
                                        <p:cTn id="191" dur="1" fill="hold">
                                          <p:stCondLst>
                                            <p:cond delay="0"/>
                                          </p:stCondLst>
                                        </p:cTn>
                                        <p:tgtEl>
                                          <p:spTgt spid="67"/>
                                        </p:tgtEl>
                                        <p:attrNameLst>
                                          <p:attrName>style.visibility</p:attrName>
                                        </p:attrNameLst>
                                      </p:cBhvr>
                                      <p:to>
                                        <p:strVal val="visible"/>
                                      </p:to>
                                    </p:set>
                                    <p:animEffect transition="in" filter="fade">
                                      <p:cBhvr>
                                        <p:cTn id="192" dur="400"/>
                                        <p:tgtEl>
                                          <p:spTgt spid="67"/>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68"/>
                                        </p:tgtEl>
                                        <p:attrNameLst>
                                          <p:attrName>style.visibility</p:attrName>
                                        </p:attrNameLst>
                                      </p:cBhvr>
                                      <p:to>
                                        <p:strVal val="visible"/>
                                      </p:to>
                                    </p:set>
                                    <p:animEffect transition="in" filter="fade">
                                      <p:cBhvr>
                                        <p:cTn id="195" dur="400"/>
                                        <p:tgtEl>
                                          <p:spTgt spid="68"/>
                                        </p:tgtEl>
                                      </p:cBhvr>
                                    </p:animEffect>
                                  </p:childTnLst>
                                </p:cTn>
                              </p:par>
                              <p:par>
                                <p:cTn id="196" presetID="10" presetClass="entr" presetSubtype="0" fill="hold" nodeType="withEffect">
                                  <p:stCondLst>
                                    <p:cond delay="0"/>
                                  </p:stCondLst>
                                  <p:childTnLst>
                                    <p:set>
                                      <p:cBhvr>
                                        <p:cTn id="197" dur="1" fill="hold">
                                          <p:stCondLst>
                                            <p:cond delay="0"/>
                                          </p:stCondLst>
                                        </p:cTn>
                                        <p:tgtEl>
                                          <p:spTgt spid="69"/>
                                        </p:tgtEl>
                                        <p:attrNameLst>
                                          <p:attrName>style.visibility</p:attrName>
                                        </p:attrNameLst>
                                      </p:cBhvr>
                                      <p:to>
                                        <p:strVal val="visible"/>
                                      </p:to>
                                    </p:set>
                                    <p:animEffect transition="in" filter="fade">
                                      <p:cBhvr>
                                        <p:cTn id="198" dur="400"/>
                                        <p:tgtEl>
                                          <p:spTgt spid="69"/>
                                        </p:tgtEl>
                                      </p:cBhvr>
                                    </p:animEffect>
                                  </p:childTnLst>
                                </p:cTn>
                              </p:par>
                              <p:par>
                                <p:cTn id="199" presetID="10" presetClass="entr" presetSubtype="0" fill="hold" grpId="0" nodeType="withEffect">
                                  <p:stCondLst>
                                    <p:cond delay="0"/>
                                  </p:stCondLst>
                                  <p:childTnLst>
                                    <p:set>
                                      <p:cBhvr>
                                        <p:cTn id="200" dur="1" fill="hold">
                                          <p:stCondLst>
                                            <p:cond delay="0"/>
                                          </p:stCondLst>
                                        </p:cTn>
                                        <p:tgtEl>
                                          <p:spTgt spid="70"/>
                                        </p:tgtEl>
                                        <p:attrNameLst>
                                          <p:attrName>style.visibility</p:attrName>
                                        </p:attrNameLst>
                                      </p:cBhvr>
                                      <p:to>
                                        <p:strVal val="visible"/>
                                      </p:to>
                                    </p:set>
                                    <p:animEffect transition="in" filter="fade">
                                      <p:cBhvr>
                                        <p:cTn id="201" dur="400"/>
                                        <p:tgtEl>
                                          <p:spTgt spid="70"/>
                                        </p:tgtEl>
                                      </p:cBhvr>
                                    </p:animEffect>
                                  </p:childTnLst>
                                </p:cTn>
                              </p:par>
                              <p:par>
                                <p:cTn id="202" presetID="10" presetClass="entr" presetSubtype="0" fill="hold" nodeType="withEffect">
                                  <p:stCondLst>
                                    <p:cond delay="0"/>
                                  </p:stCondLst>
                                  <p:childTnLst>
                                    <p:set>
                                      <p:cBhvr>
                                        <p:cTn id="203" dur="1" fill="hold">
                                          <p:stCondLst>
                                            <p:cond delay="0"/>
                                          </p:stCondLst>
                                        </p:cTn>
                                        <p:tgtEl>
                                          <p:spTgt spid="71"/>
                                        </p:tgtEl>
                                        <p:attrNameLst>
                                          <p:attrName>style.visibility</p:attrName>
                                        </p:attrNameLst>
                                      </p:cBhvr>
                                      <p:to>
                                        <p:strVal val="visible"/>
                                      </p:to>
                                    </p:set>
                                    <p:animEffect transition="in" filter="fade">
                                      <p:cBhvr>
                                        <p:cTn id="204" dur="400"/>
                                        <p:tgtEl>
                                          <p:spTgt spid="71"/>
                                        </p:tgtEl>
                                      </p:cBhvr>
                                    </p:animEffect>
                                  </p:childTnLst>
                                </p:cTn>
                              </p:par>
                              <p:par>
                                <p:cTn id="205" presetID="10" presetClass="entr" presetSubtype="0" fill="hold" nodeType="withEffect">
                                  <p:stCondLst>
                                    <p:cond delay="0"/>
                                  </p:stCondLst>
                                  <p:childTnLst>
                                    <p:set>
                                      <p:cBhvr>
                                        <p:cTn id="206" dur="1" fill="hold">
                                          <p:stCondLst>
                                            <p:cond delay="0"/>
                                          </p:stCondLst>
                                        </p:cTn>
                                        <p:tgtEl>
                                          <p:spTgt spid="72"/>
                                        </p:tgtEl>
                                        <p:attrNameLst>
                                          <p:attrName>style.visibility</p:attrName>
                                        </p:attrNameLst>
                                      </p:cBhvr>
                                      <p:to>
                                        <p:strVal val="visible"/>
                                      </p:to>
                                    </p:set>
                                    <p:animEffect transition="in" filter="fade">
                                      <p:cBhvr>
                                        <p:cTn id="207" dur="400"/>
                                        <p:tgtEl>
                                          <p:spTgt spid="72"/>
                                        </p:tgtEl>
                                      </p:cBhvr>
                                    </p:animEffect>
                                  </p:childTnLst>
                                </p:cTn>
                              </p:par>
                              <p:par>
                                <p:cTn id="208" presetID="10" presetClass="entr" presetSubtype="0" fill="hold" grpId="0" nodeType="withEffect">
                                  <p:stCondLst>
                                    <p:cond delay="0"/>
                                  </p:stCondLst>
                                  <p:childTnLst>
                                    <p:set>
                                      <p:cBhvr>
                                        <p:cTn id="209" dur="1" fill="hold">
                                          <p:stCondLst>
                                            <p:cond delay="0"/>
                                          </p:stCondLst>
                                        </p:cTn>
                                        <p:tgtEl>
                                          <p:spTgt spid="73"/>
                                        </p:tgtEl>
                                        <p:attrNameLst>
                                          <p:attrName>style.visibility</p:attrName>
                                        </p:attrNameLst>
                                      </p:cBhvr>
                                      <p:to>
                                        <p:strVal val="visible"/>
                                      </p:to>
                                    </p:set>
                                    <p:animEffect transition="in" filter="fade">
                                      <p:cBhvr>
                                        <p:cTn id="210" dur="400"/>
                                        <p:tgtEl>
                                          <p:spTgt spid="73"/>
                                        </p:tgtEl>
                                      </p:cBhvr>
                                    </p:animEffect>
                                  </p:childTnLst>
                                </p:cTn>
                              </p:par>
                              <p:par>
                                <p:cTn id="211" presetID="10" presetClass="entr" presetSubtype="0" fill="hold" nodeType="withEffect">
                                  <p:stCondLst>
                                    <p:cond delay="0"/>
                                  </p:stCondLst>
                                  <p:childTnLst>
                                    <p:set>
                                      <p:cBhvr>
                                        <p:cTn id="212" dur="1" fill="hold">
                                          <p:stCondLst>
                                            <p:cond delay="0"/>
                                          </p:stCondLst>
                                        </p:cTn>
                                        <p:tgtEl>
                                          <p:spTgt spid="74"/>
                                        </p:tgtEl>
                                        <p:attrNameLst>
                                          <p:attrName>style.visibility</p:attrName>
                                        </p:attrNameLst>
                                      </p:cBhvr>
                                      <p:to>
                                        <p:strVal val="visible"/>
                                      </p:to>
                                    </p:set>
                                    <p:animEffect transition="in" filter="fade">
                                      <p:cBhvr>
                                        <p:cTn id="213" dur="400"/>
                                        <p:tgtEl>
                                          <p:spTgt spid="74"/>
                                        </p:tgtEl>
                                      </p:cBhvr>
                                    </p:animEffect>
                                  </p:childTnLst>
                                </p:cTn>
                              </p:par>
                              <p:par>
                                <p:cTn id="214" presetID="10" presetClass="entr" presetSubtype="0" fill="hold" grpId="0" nodeType="withEffect">
                                  <p:stCondLst>
                                    <p:cond delay="0"/>
                                  </p:stCondLst>
                                  <p:childTnLst>
                                    <p:set>
                                      <p:cBhvr>
                                        <p:cTn id="215" dur="1" fill="hold">
                                          <p:stCondLst>
                                            <p:cond delay="0"/>
                                          </p:stCondLst>
                                        </p:cTn>
                                        <p:tgtEl>
                                          <p:spTgt spid="75"/>
                                        </p:tgtEl>
                                        <p:attrNameLst>
                                          <p:attrName>style.visibility</p:attrName>
                                        </p:attrNameLst>
                                      </p:cBhvr>
                                      <p:to>
                                        <p:strVal val="visible"/>
                                      </p:to>
                                    </p:set>
                                    <p:animEffect transition="in" filter="fade">
                                      <p:cBhvr>
                                        <p:cTn id="216" dur="400"/>
                                        <p:tgtEl>
                                          <p:spTgt spid="75"/>
                                        </p:tgtEl>
                                      </p:cBhvr>
                                    </p:animEffect>
                                  </p:childTnLst>
                                </p:cTn>
                              </p:par>
                              <p:par>
                                <p:cTn id="217" presetID="10" presetClass="entr" presetSubtype="0" fill="hold" nodeType="withEffect">
                                  <p:stCondLst>
                                    <p:cond delay="0"/>
                                  </p:stCondLst>
                                  <p:childTnLst>
                                    <p:set>
                                      <p:cBhvr>
                                        <p:cTn id="218" dur="1" fill="hold">
                                          <p:stCondLst>
                                            <p:cond delay="0"/>
                                          </p:stCondLst>
                                        </p:cTn>
                                        <p:tgtEl>
                                          <p:spTgt spid="76"/>
                                        </p:tgtEl>
                                        <p:attrNameLst>
                                          <p:attrName>style.visibility</p:attrName>
                                        </p:attrNameLst>
                                      </p:cBhvr>
                                      <p:to>
                                        <p:strVal val="visible"/>
                                      </p:to>
                                    </p:set>
                                    <p:animEffect transition="in" filter="fade">
                                      <p:cBhvr>
                                        <p:cTn id="219" dur="400"/>
                                        <p:tgtEl>
                                          <p:spTgt spid="76"/>
                                        </p:tgtEl>
                                      </p:cBhvr>
                                    </p:animEffect>
                                  </p:childTnLst>
                                </p:cTn>
                              </p:par>
                              <p:par>
                                <p:cTn id="220" presetID="10" presetClass="entr" presetSubtype="0" fill="hold" grpId="0" nodeType="withEffect">
                                  <p:stCondLst>
                                    <p:cond delay="0"/>
                                  </p:stCondLst>
                                  <p:childTnLst>
                                    <p:set>
                                      <p:cBhvr>
                                        <p:cTn id="221" dur="1" fill="hold">
                                          <p:stCondLst>
                                            <p:cond delay="0"/>
                                          </p:stCondLst>
                                        </p:cTn>
                                        <p:tgtEl>
                                          <p:spTgt spid="77"/>
                                        </p:tgtEl>
                                        <p:attrNameLst>
                                          <p:attrName>style.visibility</p:attrName>
                                        </p:attrNameLst>
                                      </p:cBhvr>
                                      <p:to>
                                        <p:strVal val="visible"/>
                                      </p:to>
                                    </p:set>
                                    <p:animEffect transition="in" filter="fade">
                                      <p:cBhvr>
                                        <p:cTn id="222" dur="400"/>
                                        <p:tgtEl>
                                          <p:spTgt spid="77"/>
                                        </p:tgtEl>
                                      </p:cBhvr>
                                    </p:animEffect>
                                  </p:childTnLst>
                                </p:cTn>
                              </p:par>
                            </p:childTnLst>
                          </p:cTn>
                        </p:par>
                      </p:childTnLst>
                    </p:cTn>
                  </p:par>
                  <p:par>
                    <p:cTn id="240" fill="hold">
                      <p:stCondLst>
                        <p:cond delay="indefinite"/>
                      </p:stCondLst>
                      <p:childTnLst>
                        <p:par>
                          <p:cTn id="241" fill="hold">
                            <p:stCondLst>
                              <p:cond delay="0"/>
                            </p:stCondLst>
                            <p:childTnLst>
                              <p:par>
                                <p:cTn id="225" presetID="10" presetClass="entr" presetSubtype="0" fill="hold" nodeType="clickEffect">
                                  <p:stCondLst>
                                    <p:cond delay="0"/>
                                  </p:stCondLst>
                                  <p:childTnLst>
                                    <p:set>
                                      <p:cBhvr>
                                        <p:cTn id="226" dur="1" fill="hold">
                                          <p:stCondLst>
                                            <p:cond delay="0"/>
                                          </p:stCondLst>
                                        </p:cTn>
                                        <p:tgtEl>
                                          <p:spTgt spid="78"/>
                                        </p:tgtEl>
                                        <p:attrNameLst>
                                          <p:attrName>style.visibility</p:attrName>
                                        </p:attrNameLst>
                                      </p:cBhvr>
                                      <p:to>
                                        <p:strVal val="visible"/>
                                      </p:to>
                                    </p:set>
                                    <p:animEffect transition="in" filter="fade">
                                      <p:cBhvr>
                                        <p:cTn id="227" dur="400"/>
                                        <p:tgtEl>
                                          <p:spTgt spid="78"/>
                                        </p:tgtEl>
                                      </p:cBhvr>
                                    </p:animEffect>
                                  </p:childTnLst>
                                </p:cTn>
                              </p:par>
                              <p:par>
                                <p:cTn id="228" presetID="10" presetClass="entr" presetSubtype="0" fill="hold" grpId="0" nodeType="withEffect">
                                  <p:stCondLst>
                                    <p:cond delay="0"/>
                                  </p:stCondLst>
                                  <p:childTnLst>
                                    <p:set>
                                      <p:cBhvr>
                                        <p:cTn id="229" dur="1" fill="hold">
                                          <p:stCondLst>
                                            <p:cond delay="0"/>
                                          </p:stCondLst>
                                        </p:cTn>
                                        <p:tgtEl>
                                          <p:spTgt spid="79"/>
                                        </p:tgtEl>
                                        <p:attrNameLst>
                                          <p:attrName>style.visibility</p:attrName>
                                        </p:attrNameLst>
                                      </p:cBhvr>
                                      <p:to>
                                        <p:strVal val="visible"/>
                                      </p:to>
                                    </p:set>
                                    <p:animEffect transition="in" filter="fade">
                                      <p:cBhvr>
                                        <p:cTn id="230" dur="400"/>
                                        <p:tgtEl>
                                          <p:spTgt spid="79"/>
                                        </p:tgtEl>
                                      </p:cBhvr>
                                    </p:animEffect>
                                  </p:childTnLst>
                                </p:cTn>
                              </p:par>
                              <p:par>
                                <p:cTn id="231" presetID="10" presetClass="entr" presetSubtype="0" fill="hold" nodeType="withEffect">
                                  <p:stCondLst>
                                    <p:cond delay="0"/>
                                  </p:stCondLst>
                                  <p:childTnLst>
                                    <p:set>
                                      <p:cBhvr>
                                        <p:cTn id="232" dur="1" fill="hold">
                                          <p:stCondLst>
                                            <p:cond delay="0"/>
                                          </p:stCondLst>
                                        </p:cTn>
                                        <p:tgtEl>
                                          <p:spTgt spid="80"/>
                                        </p:tgtEl>
                                        <p:attrNameLst>
                                          <p:attrName>style.visibility</p:attrName>
                                        </p:attrNameLst>
                                      </p:cBhvr>
                                      <p:to>
                                        <p:strVal val="visible"/>
                                      </p:to>
                                    </p:set>
                                    <p:animEffect transition="in" filter="fade">
                                      <p:cBhvr>
                                        <p:cTn id="233" dur="400"/>
                                        <p:tgtEl>
                                          <p:spTgt spid="80"/>
                                        </p:tgtEl>
                                      </p:cBhvr>
                                    </p:animEffect>
                                  </p:childTnLst>
                                </p:cTn>
                              </p:par>
                              <p:par>
                                <p:cTn id="234" presetID="10" presetClass="entr" presetSubtype="0" fill="hold" grpId="0" nodeType="withEffect">
                                  <p:stCondLst>
                                    <p:cond delay="0"/>
                                  </p:stCondLst>
                                  <p:childTnLst>
                                    <p:set>
                                      <p:cBhvr>
                                        <p:cTn id="235" dur="1" fill="hold">
                                          <p:stCondLst>
                                            <p:cond delay="0"/>
                                          </p:stCondLst>
                                        </p:cTn>
                                        <p:tgtEl>
                                          <p:spTgt spid="81"/>
                                        </p:tgtEl>
                                        <p:attrNameLst>
                                          <p:attrName>style.visibility</p:attrName>
                                        </p:attrNameLst>
                                      </p:cBhvr>
                                      <p:to>
                                        <p:strVal val="visible"/>
                                      </p:to>
                                    </p:set>
                                    <p:animEffect transition="in" filter="fade">
                                      <p:cBhvr>
                                        <p:cTn id="236" dur="400"/>
                                        <p:tgtEl>
                                          <p:spTgt spid="81"/>
                                        </p:tgtEl>
                                      </p:cBhvr>
                                    </p:animEffect>
                                  </p:childTnLst>
                                </p:cTn>
                              </p:par>
                              <p:par>
                                <p:cTn id="237" presetID="10" presetClass="entr" presetSubtype="0" fill="hold" grpId="0" nodeType="withEffect">
                                  <p:stCondLst>
                                    <p:cond delay="0"/>
                                  </p:stCondLst>
                                  <p:childTnLst>
                                    <p:set>
                                      <p:cBhvr>
                                        <p:cTn id="238" dur="1" fill="hold">
                                          <p:stCondLst>
                                            <p:cond delay="0"/>
                                          </p:stCondLst>
                                        </p:cTn>
                                        <p:tgtEl>
                                          <p:spTgt spid="82"/>
                                        </p:tgtEl>
                                        <p:attrNameLst>
                                          <p:attrName>style.visibility</p:attrName>
                                        </p:attrNameLst>
                                      </p:cBhvr>
                                      <p:to>
                                        <p:strVal val="visible"/>
                                      </p:to>
                                    </p:set>
                                    <p:animEffect transition="in" filter="fade">
                                      <p:cBhvr>
                                        <p:cTn id="239" dur="4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2" grpId="0" animBg="1"/>
      <p:bldP spid="14" grpId="0" animBg="1"/>
      <p:bldP spid="16" grpId="0" animBg="1"/>
      <p:bldP spid="18" grpId="0" animBg="1"/>
      <p:bldP spid="20" grpId="0" animBg="1"/>
      <p:bldP spid="22" grpId="0" animBg="1"/>
      <p:bldP spid="25" grpId="0" animBg="1"/>
      <p:bldP spid="27" grpId="0" animBg="1"/>
      <p:bldP spid="29" grpId="0" animBg="1"/>
      <p:bldP spid="31" grpId="0" animBg="1"/>
      <p:bldP spid="33" grpId="0" animBg="1"/>
      <p:bldP spid="35" grpId="0" animBg="1"/>
      <p:bldP spid="36" grpId="0" animBg="1"/>
      <p:bldP spid="38" grpId="0" animBg="1"/>
      <p:bldP spid="40" grpId="0" animBg="1"/>
      <p:bldP spid="42" grpId="0" animBg="1"/>
      <p:bldP spid="44" grpId="0" animBg="1"/>
      <p:bldP spid="46" grpId="0" animBg="1"/>
      <p:bldP spid="48" grpId="0" animBg="1"/>
      <p:bldP spid="51" grpId="0" animBg="1"/>
      <p:bldP spid="53" grpId="0" animBg="1"/>
      <p:bldP spid="55" grpId="0" animBg="1"/>
      <p:bldP spid="57" grpId="0" animBg="1"/>
      <p:bldP spid="59" grpId="0" animBg="1"/>
      <p:bldP spid="60" grpId="0" animBg="1"/>
      <p:bldP spid="62" grpId="0" animBg="1"/>
      <p:bldP spid="64" grpId="0" animBg="1"/>
      <p:bldP spid="66" grpId="0" animBg="1"/>
      <p:bldP spid="68" grpId="0" animBg="1"/>
      <p:bldP spid="70" grpId="0" animBg="1"/>
      <p:bldP spid="73" grpId="0" animBg="1"/>
      <p:bldP spid="75" grpId="0" animBg="1"/>
      <p:bldP spid="77" grpId="0" animBg="1"/>
      <p:bldP spid="79" grpId="0" animBg="1"/>
      <p:bldP spid="81" grpId="0" animBg="1"/>
      <p:bldP spid="8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502920"/>
            <a:ext cx="914400" cy="1005840"/>
          </a:xfrm>
          <a:prstGeom prst="rect">
            <a:avLst/>
          </a:prstGeom>
          <a:noFill/>
          <a:ln/>
        </p:spPr>
        <p:txBody>
          <a:bodyPr wrap="square" lIns="0" tIns="0" rIns="0" bIns="0" rtlCol="0" anchor="ctr"/>
          <a:lstStyle/>
          <a:p>
            <a:pPr indent="0" marL="0">
              <a:buNone/>
            </a:pPr>
            <a:r>
              <a:rPr lang="en-US" sz="6600" b="1" dirty="0">
                <a:solidFill>
                  <a:srgbClr val="FFD43B"/>
                </a:solidFill>
                <a:latin typeface="Cambria" pitchFamily="34" charset="0"/>
                <a:ea typeface="Cambria" pitchFamily="34" charset="-122"/>
                <a:cs typeface="Cambria" pitchFamily="34" charset="-120"/>
              </a:rPr>
              <a:t>3</a:t>
            </a:r>
            <a:endParaRPr lang="en-US" sz="6600" dirty="0"/>
          </a:p>
        </p:txBody>
      </p:sp>
      <p:sp>
        <p:nvSpPr>
          <p:cNvPr id="3" name="x"/>
          <p:cNvSpPr txBox="1"/>
          <p:nvPr/>
        </p:nvSpPr>
        <p:spPr>
          <a:xfrm>
            <a:off x="1371600" y="1005840"/>
            <a:ext cx="1097280" cy="457200"/>
          </a:xfrm>
          <a:prstGeom prst="rect">
            <a:avLst/>
          </a:prstGeom>
          <a:noFill/>
          <a:ln/>
        </p:spPr>
        <p:txBody>
          <a:bodyPr wrap="square" lIns="0" tIns="0" rIns="0" bIns="0" rtlCol="0" anchor="ctr"/>
          <a:lstStyle/>
          <a:p>
            <a:pPr indent="0" marL="0">
              <a:buNone/>
            </a:pPr>
            <a:r>
              <a:rPr lang="en-US" sz="1600" i="1" dirty="0">
                <a:solidFill>
                  <a:srgbClr val="C9D4E0"/>
                </a:solidFill>
                <a:latin typeface="Calibri" pitchFamily="34" charset="0"/>
                <a:ea typeface="Calibri" pitchFamily="34" charset="-122"/>
                <a:cs typeface="Calibri" pitchFamily="34" charset="-120"/>
              </a:rPr>
              <a:t>of 6</a:t>
            </a:r>
            <a:endParaRPr lang="en-US" sz="1600" dirty="0"/>
          </a:p>
        </p:txBody>
      </p:sp>
      <p:sp>
        <p:nvSpPr>
          <p:cNvPr id="4" name="x"/>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List operations</a:t>
            </a:r>
            <a:endParaRPr lang="en-US" sz="3600" dirty="0"/>
          </a:p>
        </p:txBody>
      </p:sp>
      <p:sp>
        <p:nvSpPr>
          <p:cNvPr id="5" name="x"/>
          <p:cNvSpPr txBox="1"/>
          <p:nvPr/>
        </p:nvSpPr>
        <p:spPr>
          <a:xfrm>
            <a:off x="548640" y="2148840"/>
            <a:ext cx="8046720" cy="502920"/>
          </a:xfrm>
          <a:prstGeom prst="rect">
            <a:avLst/>
          </a:prstGeom>
          <a:noFill/>
          <a:ln/>
        </p:spPr>
        <p:txBody>
          <a:bodyPr wrap="square" lIns="0" tIns="0" rIns="0" bIns="0" rtlCol="0" anchor="t"/>
          <a:lstStyle/>
          <a:p>
            <a:pPr indent="0" marL="0">
              <a:buNone/>
            </a:pPr>
            <a:r>
              <a:rPr lang="en-US" sz="1500" i="1" dirty="0">
                <a:solidFill>
                  <a:srgbClr val="FFD43B"/>
                </a:solidFill>
                <a:latin typeface="Calibri" pitchFamily="34" charset="0"/>
                <a:ea typeface="Calibri" pitchFamily="34" charset="-122"/>
                <a:cs typeface="Calibri" pitchFamily="34" charset="-120"/>
              </a:rPr>
              <a:t>Joining, searching and ordering lists are the operations the chapter builds on the list type.</a:t>
            </a:r>
            <a:endParaRPr lang="en-US" sz="1500" dirty="0"/>
          </a:p>
        </p:txBody>
      </p:sp>
      <p:sp>
        <p:nvSpPr>
          <p:cNvPr id="6" name="divmid|b1"/>
          <p:cNvSpPr txBox="1"/>
          <p:nvPr/>
        </p:nvSpPr>
        <p:spPr>
          <a:xfrm>
            <a:off x="548640" y="2788920"/>
            <a:ext cx="25603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Combining</a:t>
            </a:r>
            <a:endParaRPr lang="en-US" sz="1500" dirty="0"/>
          </a:p>
        </p:txBody>
      </p:sp>
      <p:sp>
        <p:nvSpPr>
          <p:cNvPr id="7" name="divleafbox|b1"/>
          <p:cNvSpPr/>
          <p:nvPr/>
        </p:nvSpPr>
        <p:spPr>
          <a:xfrm>
            <a:off x="548640" y="3108960"/>
            <a:ext cx="2560320" cy="246888"/>
          </a:xfrm>
          <a:prstGeom prst="roundRect">
            <a:avLst>
              <a:gd name="adj" fmla="val 22222"/>
            </a:avLst>
          </a:prstGeom>
          <a:solidFill>
            <a:srgbClr val="2C3E54"/>
          </a:solidFill>
          <a:ln w="12700">
            <a:solidFill>
              <a:srgbClr val="3B5B87"/>
            </a:solidFill>
            <a:prstDash val="solid"/>
          </a:ln>
        </p:spPr>
      </p:sp>
      <p:sp>
        <p:nvSpPr>
          <p:cNvPr id="8" name="divleaf|b1"/>
          <p:cNvSpPr txBox="1"/>
          <p:nvPr/>
        </p:nvSpPr>
        <p:spPr>
          <a:xfrm>
            <a:off x="640080" y="3108960"/>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Concatenation replication</a:t>
            </a:r>
            <a:endParaRPr lang="en-US" sz="1200" dirty="0"/>
          </a:p>
        </p:txBody>
      </p:sp>
      <p:sp>
        <p:nvSpPr>
          <p:cNvPr id="9" name="divleafbox|b1"/>
          <p:cNvSpPr/>
          <p:nvPr/>
        </p:nvSpPr>
        <p:spPr>
          <a:xfrm>
            <a:off x="548640" y="3392424"/>
            <a:ext cx="2560320" cy="246888"/>
          </a:xfrm>
          <a:prstGeom prst="roundRect">
            <a:avLst>
              <a:gd name="adj" fmla="val 22222"/>
            </a:avLst>
          </a:prstGeom>
          <a:solidFill>
            <a:srgbClr val="2C3E54"/>
          </a:solidFill>
          <a:ln w="12700">
            <a:solidFill>
              <a:srgbClr val="3B5B87"/>
            </a:solidFill>
            <a:prstDash val="solid"/>
          </a:ln>
        </p:spPr>
      </p:sp>
      <p:sp>
        <p:nvSpPr>
          <p:cNvPr id="10" name="divleaf|b1"/>
          <p:cNvSpPr txBox="1"/>
          <p:nvPr/>
        </p:nvSpPr>
        <p:spPr>
          <a:xfrm>
            <a:off x="640080" y="3392424"/>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Augmented assignment</a:t>
            </a:r>
            <a:endParaRPr lang="en-US" sz="1200" dirty="0"/>
          </a:p>
        </p:txBody>
      </p:sp>
      <p:sp>
        <p:nvSpPr>
          <p:cNvPr id="11" name="divmid|b2"/>
          <p:cNvSpPr txBox="1"/>
          <p:nvPr/>
        </p:nvSpPr>
        <p:spPr>
          <a:xfrm>
            <a:off x="3291840" y="2788920"/>
            <a:ext cx="25603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Searching</a:t>
            </a:r>
            <a:endParaRPr lang="en-US" sz="1500" dirty="0"/>
          </a:p>
        </p:txBody>
      </p:sp>
      <p:sp>
        <p:nvSpPr>
          <p:cNvPr id="12" name="divleafbox|b2"/>
          <p:cNvSpPr/>
          <p:nvPr/>
        </p:nvSpPr>
        <p:spPr>
          <a:xfrm>
            <a:off x="3291840" y="3108960"/>
            <a:ext cx="2560320" cy="246888"/>
          </a:xfrm>
          <a:prstGeom prst="roundRect">
            <a:avLst>
              <a:gd name="adj" fmla="val 22222"/>
            </a:avLst>
          </a:prstGeom>
          <a:solidFill>
            <a:srgbClr val="2C3E54"/>
          </a:solidFill>
          <a:ln w="12700">
            <a:solidFill>
              <a:srgbClr val="3B5B87"/>
            </a:solidFill>
            <a:prstDash val="solid"/>
          </a:ln>
        </p:spPr>
      </p:sp>
      <p:sp>
        <p:nvSpPr>
          <p:cNvPr id="13" name="divleaf|b2"/>
          <p:cNvSpPr txBox="1"/>
          <p:nvPr/>
        </p:nvSpPr>
        <p:spPr>
          <a:xfrm>
            <a:off x="3383280" y="3108960"/>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Membership operators</a:t>
            </a:r>
            <a:endParaRPr lang="en-US" sz="1200" dirty="0"/>
          </a:p>
        </p:txBody>
      </p:sp>
      <p:sp>
        <p:nvSpPr>
          <p:cNvPr id="14" name="divleafbox|b2"/>
          <p:cNvSpPr/>
          <p:nvPr/>
        </p:nvSpPr>
        <p:spPr>
          <a:xfrm>
            <a:off x="3291840" y="3392424"/>
            <a:ext cx="2560320" cy="246888"/>
          </a:xfrm>
          <a:prstGeom prst="roundRect">
            <a:avLst>
              <a:gd name="adj" fmla="val 22222"/>
            </a:avLst>
          </a:prstGeom>
          <a:solidFill>
            <a:srgbClr val="2C3E54"/>
          </a:solidFill>
          <a:ln w="12700">
            <a:solidFill>
              <a:srgbClr val="3B5B87"/>
            </a:solidFill>
            <a:prstDash val="solid"/>
          </a:ln>
        </p:spPr>
      </p:sp>
      <p:sp>
        <p:nvSpPr>
          <p:cNvPr id="15" name="divleaf|b2"/>
          <p:cNvSpPr txBox="1"/>
          <p:nvPr/>
        </p:nvSpPr>
        <p:spPr>
          <a:xfrm>
            <a:off x="3383280" y="3392424"/>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Index method</a:t>
            </a:r>
            <a:endParaRPr lang="en-US" sz="1200" dirty="0"/>
          </a:p>
        </p:txBody>
      </p:sp>
      <p:sp>
        <p:nvSpPr>
          <p:cNvPr id="16" name="divleafbox|b2"/>
          <p:cNvSpPr/>
          <p:nvPr/>
        </p:nvSpPr>
        <p:spPr>
          <a:xfrm>
            <a:off x="3291840" y="3675888"/>
            <a:ext cx="2560320" cy="246888"/>
          </a:xfrm>
          <a:prstGeom prst="roundRect">
            <a:avLst>
              <a:gd name="adj" fmla="val 22222"/>
            </a:avLst>
          </a:prstGeom>
          <a:solidFill>
            <a:srgbClr val="2C3E54"/>
          </a:solidFill>
          <a:ln w="12700">
            <a:solidFill>
              <a:srgbClr val="3B5B87"/>
            </a:solidFill>
            <a:prstDash val="solid"/>
          </a:ln>
        </p:spPr>
      </p:sp>
      <p:sp>
        <p:nvSpPr>
          <p:cNvPr id="17" name="divleaf|b2"/>
          <p:cNvSpPr txBox="1"/>
          <p:nvPr/>
        </p:nvSpPr>
        <p:spPr>
          <a:xfrm>
            <a:off x="3383280" y="3675888"/>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Short circuit guard</a:t>
            </a:r>
            <a:endParaRPr lang="en-US" sz="1200" dirty="0"/>
          </a:p>
        </p:txBody>
      </p:sp>
      <p:sp>
        <p:nvSpPr>
          <p:cNvPr id="18" name="divmid|b3"/>
          <p:cNvSpPr txBox="1"/>
          <p:nvPr/>
        </p:nvSpPr>
        <p:spPr>
          <a:xfrm>
            <a:off x="6035040" y="2788920"/>
            <a:ext cx="25603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Ordering</a:t>
            </a:r>
            <a:endParaRPr lang="en-US" sz="1500" dirty="0"/>
          </a:p>
        </p:txBody>
      </p:sp>
      <p:sp>
        <p:nvSpPr>
          <p:cNvPr id="19" name="divleafbox|b3"/>
          <p:cNvSpPr/>
          <p:nvPr/>
        </p:nvSpPr>
        <p:spPr>
          <a:xfrm>
            <a:off x="6035040" y="3108960"/>
            <a:ext cx="2560320" cy="246888"/>
          </a:xfrm>
          <a:prstGeom prst="roundRect">
            <a:avLst>
              <a:gd name="adj" fmla="val 22222"/>
            </a:avLst>
          </a:prstGeom>
          <a:solidFill>
            <a:srgbClr val="2C3E54"/>
          </a:solidFill>
          <a:ln w="12700">
            <a:solidFill>
              <a:srgbClr val="3B5B87"/>
            </a:solidFill>
            <a:prstDash val="solid"/>
          </a:ln>
        </p:spPr>
      </p:sp>
      <p:sp>
        <p:nvSpPr>
          <p:cNvPr id="20" name="divleaf|b3"/>
          <p:cNvSpPr txBox="1"/>
          <p:nvPr/>
        </p:nvSpPr>
        <p:spPr>
          <a:xfrm>
            <a:off x="6126480" y="3108960"/>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Sort method</a:t>
            </a:r>
            <a:endParaRPr lang="en-US" sz="1200" dirty="0"/>
          </a:p>
        </p:txBody>
      </p:sp>
      <p:sp>
        <p:nvSpPr>
          <p:cNvPr id="21" name="divleafbox|b3"/>
          <p:cNvSpPr/>
          <p:nvPr/>
        </p:nvSpPr>
        <p:spPr>
          <a:xfrm>
            <a:off x="6035040" y="3392424"/>
            <a:ext cx="2560320" cy="246888"/>
          </a:xfrm>
          <a:prstGeom prst="roundRect">
            <a:avLst>
              <a:gd name="adj" fmla="val 22222"/>
            </a:avLst>
          </a:prstGeom>
          <a:solidFill>
            <a:srgbClr val="2C3E54"/>
          </a:solidFill>
          <a:ln w="12700">
            <a:solidFill>
              <a:srgbClr val="3B5B87"/>
            </a:solidFill>
            <a:prstDash val="solid"/>
          </a:ln>
        </p:spPr>
      </p:sp>
      <p:sp>
        <p:nvSpPr>
          <p:cNvPr id="22" name="divleaf|b3"/>
          <p:cNvSpPr txBox="1"/>
          <p:nvPr/>
        </p:nvSpPr>
        <p:spPr>
          <a:xfrm>
            <a:off x="6126480" y="3392424"/>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Sort key and reverse</a:t>
            </a:r>
            <a:endParaRPr lang="en-US" sz="1200" dirty="0"/>
          </a:p>
        </p:txBody>
      </p:sp>
      <p:sp>
        <p:nvSpPr>
          <p:cNvPr id="23" name="divleafbox|b3"/>
          <p:cNvSpPr/>
          <p:nvPr/>
        </p:nvSpPr>
        <p:spPr>
          <a:xfrm>
            <a:off x="6035040" y="3675888"/>
            <a:ext cx="2560320" cy="246888"/>
          </a:xfrm>
          <a:prstGeom prst="roundRect">
            <a:avLst>
              <a:gd name="adj" fmla="val 22222"/>
            </a:avLst>
          </a:prstGeom>
          <a:solidFill>
            <a:srgbClr val="2C3E54"/>
          </a:solidFill>
          <a:ln w="12700">
            <a:solidFill>
              <a:srgbClr val="3B5B87"/>
            </a:solidFill>
            <a:prstDash val="solid"/>
          </a:ln>
        </p:spPr>
      </p:sp>
      <p:sp>
        <p:nvSpPr>
          <p:cNvPr id="24" name="divleaf|b3"/>
          <p:cNvSpPr txBox="1"/>
          <p:nvPr/>
        </p:nvSpPr>
        <p:spPr>
          <a:xfrm>
            <a:off x="6126480" y="3675888"/>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Reverse method</a:t>
            </a:r>
            <a:endParaRPr lang="en-US" sz="1200" dirty="0"/>
          </a:p>
        </p:txBody>
      </p:sp>
      <p:sp>
        <p:nvSpPr>
          <p:cNvPr id="25" name="divleafbox|b3"/>
          <p:cNvSpPr/>
          <p:nvPr/>
        </p:nvSpPr>
        <p:spPr>
          <a:xfrm>
            <a:off x="6035040" y="3959352"/>
            <a:ext cx="2560320" cy="246888"/>
          </a:xfrm>
          <a:prstGeom prst="roundRect">
            <a:avLst>
              <a:gd name="adj" fmla="val 22222"/>
            </a:avLst>
          </a:prstGeom>
          <a:solidFill>
            <a:srgbClr val="2C3E54"/>
          </a:solidFill>
          <a:ln w="12700">
            <a:solidFill>
              <a:srgbClr val="3B5B87"/>
            </a:solidFill>
            <a:prstDash val="solid"/>
          </a:ln>
        </p:spPr>
      </p:sp>
      <p:sp>
        <p:nvSpPr>
          <p:cNvPr id="26" name="divleaf|b3"/>
          <p:cNvSpPr txBox="1"/>
          <p:nvPr/>
        </p:nvSpPr>
        <p:spPr>
          <a:xfrm>
            <a:off x="6126480" y="3959352"/>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Sorted function</a:t>
            </a:r>
            <a:endParaRPr lang="en-US" sz="1200" dirty="0"/>
          </a:p>
        </p:txBody>
      </p:sp>
      <p:sp>
        <p:nvSpPr>
          <p:cNvPr id="27" name="x"/>
          <p:cNvSpPr/>
          <p:nvPr/>
        </p:nvSpPr>
        <p:spPr>
          <a:xfrm>
            <a:off x="548640" y="4572000"/>
            <a:ext cx="1267968" cy="64008"/>
          </a:xfrm>
          <a:prstGeom prst="rect">
            <a:avLst/>
          </a:prstGeom>
          <a:solidFill>
            <a:srgbClr val="4A5D75"/>
          </a:solidFill>
          <a:ln w="12700">
            <a:solidFill>
              <a:srgbClr val="4A5D75"/>
            </a:solidFill>
            <a:prstDash val="solid"/>
          </a:ln>
        </p:spPr>
      </p:sp>
      <p:sp>
        <p:nvSpPr>
          <p:cNvPr id="28" name="x"/>
          <p:cNvSpPr/>
          <p:nvPr/>
        </p:nvSpPr>
        <p:spPr>
          <a:xfrm>
            <a:off x="1889760" y="4572000"/>
            <a:ext cx="1267968" cy="64008"/>
          </a:xfrm>
          <a:prstGeom prst="rect">
            <a:avLst/>
          </a:prstGeom>
          <a:solidFill>
            <a:srgbClr val="4A5D75"/>
          </a:solidFill>
          <a:ln w="12700">
            <a:solidFill>
              <a:srgbClr val="4A5D75"/>
            </a:solidFill>
            <a:prstDash val="solid"/>
          </a:ln>
        </p:spPr>
      </p:sp>
      <p:sp>
        <p:nvSpPr>
          <p:cNvPr id="29" name="x"/>
          <p:cNvSpPr/>
          <p:nvPr/>
        </p:nvSpPr>
        <p:spPr>
          <a:xfrm>
            <a:off x="3230880" y="4572000"/>
            <a:ext cx="1267968" cy="64008"/>
          </a:xfrm>
          <a:prstGeom prst="rect">
            <a:avLst/>
          </a:prstGeom>
          <a:solidFill>
            <a:srgbClr val="FFD43B"/>
          </a:solidFill>
          <a:ln w="12700">
            <a:solidFill>
              <a:srgbClr val="FFD43B"/>
            </a:solidFill>
            <a:prstDash val="solid"/>
          </a:ln>
        </p:spPr>
      </p:sp>
      <p:sp>
        <p:nvSpPr>
          <p:cNvPr id="30" name="x"/>
          <p:cNvSpPr/>
          <p:nvPr/>
        </p:nvSpPr>
        <p:spPr>
          <a:xfrm>
            <a:off x="4572000" y="4572000"/>
            <a:ext cx="1267968" cy="64008"/>
          </a:xfrm>
          <a:prstGeom prst="rect">
            <a:avLst/>
          </a:prstGeom>
          <a:solidFill>
            <a:srgbClr val="4A5D75"/>
          </a:solidFill>
          <a:ln w="12700">
            <a:solidFill>
              <a:srgbClr val="4A5D75"/>
            </a:solidFill>
            <a:prstDash val="solid"/>
          </a:ln>
        </p:spPr>
      </p:sp>
      <p:sp>
        <p:nvSpPr>
          <p:cNvPr id="31" name="x"/>
          <p:cNvSpPr/>
          <p:nvPr/>
        </p:nvSpPr>
        <p:spPr>
          <a:xfrm>
            <a:off x="5913120" y="4572000"/>
            <a:ext cx="1267968" cy="64008"/>
          </a:xfrm>
          <a:prstGeom prst="rect">
            <a:avLst/>
          </a:prstGeom>
          <a:solidFill>
            <a:srgbClr val="4A5D75"/>
          </a:solidFill>
          <a:ln w="12700">
            <a:solidFill>
              <a:srgbClr val="4A5D75"/>
            </a:solidFill>
            <a:prstDash val="solid"/>
          </a:ln>
        </p:spPr>
      </p:sp>
      <p:sp>
        <p:nvSpPr>
          <p:cNvPr id="32" name="x"/>
          <p:cNvSpPr/>
          <p:nvPr/>
        </p:nvSpPr>
        <p:spPr>
          <a:xfrm>
            <a:off x="7254240" y="4572000"/>
            <a:ext cx="1267968" cy="64008"/>
          </a:xfrm>
          <a:prstGeom prst="rect">
            <a:avLst/>
          </a:prstGeom>
          <a:solidFill>
            <a:srgbClr val="4A5D75"/>
          </a:solidFill>
          <a:ln w="12700">
            <a:solidFill>
              <a:srgbClr val="4A5D75"/>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41" fill="hold">
                      <p:stCondLst>
                        <p:cond delay="indefinite"/>
                      </p:stCondLst>
                      <p:childTnLst>
                        <p:par>
                          <p:cTn id="42"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childTnLst>
                          </p:cTn>
                        </p:par>
                      </p:childTnLst>
                    </p:cTn>
                  </p:par>
                  <p:par>
                    <p:cTn id="70" fill="hold">
                      <p:stCondLst>
                        <p:cond delay="indefinite"/>
                      </p:stCondLst>
                      <p:childTnLst>
                        <p:par>
                          <p:cTn id="71"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par>
                                <p:cTn id="46" presetID="10" presetClass="entr" presetSubtype="0" fill="hold"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par>
                                <p:cTn id="52" presetID="10" presetClass="entr" presetSubtype="0" fill="hold"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par>
                                <p:cTn id="58" presetID="10" presetClass="entr" presetSubtype="0" fill="hold"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0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00"/>
                                        <p:tgtEl>
                                          <p:spTgt spid="24"/>
                                        </p:tgtEl>
                                      </p:cBhvr>
                                    </p:animEffect>
                                  </p:childTnLst>
                                </p:cTn>
                              </p:par>
                              <p:par>
                                <p:cTn id="64" presetID="10" presetClass="entr" presetSubtype="0" fill="hold"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0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P spid="13" grpId="0" animBg="1"/>
      <p:bldP spid="15" grpId="0" animBg="1"/>
      <p:bldP spid="17" grpId="0" animBg="1"/>
      <p:bldP spid="18" grpId="0" animBg="1"/>
      <p:bldP spid="20" grpId="0" animBg="1"/>
      <p:bldP spid="22" grpId="0" animBg="1"/>
      <p:bldP spid="24" grpId="0" animBg="1"/>
      <p:bldP spid="2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 and * make new lists; += changes the one you have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Concatenation and replication leave their operands alone</a:t>
            </a:r>
            <a:endParaRPr lang="en-US" sz="1400" dirty="0"/>
          </a:p>
        </p:txBody>
      </p:sp>
      <p:sp>
        <p:nvSpPr>
          <p:cNvPr id="6" name="lanebox|b1"/>
          <p:cNvSpPr/>
          <p:nvPr/>
        </p:nvSpPr>
        <p:spPr>
          <a:xfrm>
            <a:off x="365760" y="1170432"/>
            <a:ext cx="8412480" cy="694944"/>
          </a:xfrm>
          <a:prstGeom prst="roundRect">
            <a:avLst>
              <a:gd name="adj" fmla="val 7895"/>
            </a:avLst>
          </a:prstGeom>
          <a:solidFill>
            <a:srgbClr val="FFFFFF"/>
          </a:solidFill>
          <a:ln w="9525">
            <a:solidFill>
              <a:srgbClr val="9AA8B8"/>
            </a:solidFill>
            <a:prstDash val="solid"/>
          </a:ln>
        </p:spPr>
      </p:sp>
      <p:sp>
        <p:nvSpPr>
          <p:cNvPr id="7" name="v:Combining:l0op|b1"/>
          <p:cNvSpPr txBox="1"/>
          <p:nvPr/>
        </p:nvSpPr>
        <p:spPr>
          <a:xfrm>
            <a:off x="457200" y="1188720"/>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a + ['A', 'B', 'C']</a:t>
            </a:r>
            <a:endParaRPr lang="en-US" sz="1250" dirty="0"/>
          </a:p>
        </p:txBody>
      </p:sp>
      <p:sp>
        <p:nvSpPr>
          <p:cNvPr id="8" name="v:Combining:l0cat|b1"/>
          <p:cNvSpPr txBox="1"/>
          <p:nvPr/>
        </p:nvSpPr>
        <p:spPr>
          <a:xfrm>
            <a:off x="3611880" y="1188720"/>
            <a:ext cx="3063240" cy="292608"/>
          </a:xfrm>
          <a:prstGeom prst="rect">
            <a:avLst/>
          </a:prstGeom>
          <a:noFill/>
          <a:ln/>
        </p:spPr>
        <p:txBody>
          <a:bodyPr wrap="square" lIns="0" tIns="0" rIns="0" bIns="0" rtlCol="0" anchor="ctr"/>
          <a:lstStyle/>
          <a:p>
            <a:pPr indent="0" marL="0">
              <a:buNone/>
            </a:pPr>
            <a:r>
              <a:rPr lang="en-US" sz="1050" b="1" dirty="0">
                <a:solidFill>
                  <a:srgbClr val="306998"/>
                </a:solidFill>
                <a:latin typeface="Calibri" pitchFamily="34" charset="0"/>
                <a:ea typeface="Calibri" pitchFamily="34" charset="-122"/>
                <a:cs typeface="Calibri" pitchFamily="34" charset="-120"/>
              </a:rPr>
              <a:t>makes a new list; the original is unchanged</a:t>
            </a:r>
            <a:endParaRPr lang="en-US" sz="1050" dirty="0"/>
          </a:p>
        </p:txBody>
      </p:sp>
      <p:sp>
        <p:nvSpPr>
          <p:cNvPr id="9" name="v:Combining:l0retbox:box|b1"/>
          <p:cNvSpPr/>
          <p:nvPr/>
        </p:nvSpPr>
        <p:spPr>
          <a:xfrm>
            <a:off x="6812280" y="1216152"/>
            <a:ext cx="1874520" cy="246888"/>
          </a:xfrm>
          <a:prstGeom prst="roundRect">
            <a:avLst>
              <a:gd name="adj" fmla="val 29630"/>
            </a:avLst>
          </a:prstGeom>
          <a:solidFill>
            <a:srgbClr val="FCEFD0"/>
          </a:solidFill>
          <a:ln w="12700">
            <a:solidFill>
              <a:srgbClr val="B7791F"/>
            </a:solidFill>
            <a:prstDash val="solid"/>
          </a:ln>
        </p:spPr>
      </p:sp>
      <p:sp>
        <p:nvSpPr>
          <p:cNvPr id="10" name="v:Combining:l0ret|b1"/>
          <p:cNvSpPr txBox="1"/>
          <p:nvPr/>
        </p:nvSpPr>
        <p:spPr>
          <a:xfrm>
            <a:off x="6812280" y="1216152"/>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a new list</a:t>
            </a:r>
            <a:endParaRPr lang="en-US" sz="1050" dirty="0"/>
          </a:p>
        </p:txBody>
      </p:sp>
      <p:sp>
        <p:nvSpPr>
          <p:cNvPr id="11" name="v:Combining:l0b0:box|b1"/>
          <p:cNvSpPr/>
          <p:nvPr/>
        </p:nvSpPr>
        <p:spPr>
          <a:xfrm>
            <a:off x="457200" y="1508760"/>
            <a:ext cx="777240" cy="301752"/>
          </a:xfrm>
          <a:prstGeom prst="roundRect">
            <a:avLst>
              <a:gd name="adj" fmla="val 15152"/>
            </a:avLst>
          </a:prstGeom>
          <a:solidFill>
            <a:srgbClr val="E3EEF8"/>
          </a:solidFill>
          <a:ln w="15875">
            <a:solidFill>
              <a:srgbClr val="306998"/>
            </a:solidFill>
            <a:prstDash val="solid"/>
          </a:ln>
        </p:spPr>
      </p:sp>
      <p:sp>
        <p:nvSpPr>
          <p:cNvPr id="12" name="v:Combining:l0b0|b1"/>
          <p:cNvSpPr txBox="1"/>
          <p:nvPr/>
        </p:nvSpPr>
        <p:spPr>
          <a:xfrm>
            <a:off x="475488" y="1508760"/>
            <a:ext cx="74066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1</a:t>
            </a:r>
            <a:endParaRPr lang="en-US" sz="1000" dirty="0"/>
          </a:p>
        </p:txBody>
      </p:sp>
      <p:sp>
        <p:nvSpPr>
          <p:cNvPr id="13" name="v:Combining:l0b1:box|b1"/>
          <p:cNvSpPr/>
          <p:nvPr/>
        </p:nvSpPr>
        <p:spPr>
          <a:xfrm>
            <a:off x="1280160" y="1508760"/>
            <a:ext cx="777240" cy="301752"/>
          </a:xfrm>
          <a:prstGeom prst="roundRect">
            <a:avLst>
              <a:gd name="adj" fmla="val 15152"/>
            </a:avLst>
          </a:prstGeom>
          <a:solidFill>
            <a:srgbClr val="E3EEF8"/>
          </a:solidFill>
          <a:ln w="15875">
            <a:solidFill>
              <a:srgbClr val="306998"/>
            </a:solidFill>
            <a:prstDash val="solid"/>
          </a:ln>
        </p:spPr>
      </p:sp>
      <p:sp>
        <p:nvSpPr>
          <p:cNvPr id="14" name="v:Combining:l0b1|b1"/>
          <p:cNvSpPr txBox="1"/>
          <p:nvPr/>
        </p:nvSpPr>
        <p:spPr>
          <a:xfrm>
            <a:off x="1298448" y="1508760"/>
            <a:ext cx="74066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2</a:t>
            </a:r>
            <a:endParaRPr lang="en-US" sz="1000" dirty="0"/>
          </a:p>
        </p:txBody>
      </p:sp>
      <p:sp>
        <p:nvSpPr>
          <p:cNvPr id="15" name="v:Combining:l0b2:box|b1"/>
          <p:cNvSpPr/>
          <p:nvPr/>
        </p:nvSpPr>
        <p:spPr>
          <a:xfrm>
            <a:off x="2103120" y="1508760"/>
            <a:ext cx="777240" cy="301752"/>
          </a:xfrm>
          <a:prstGeom prst="roundRect">
            <a:avLst>
              <a:gd name="adj" fmla="val 15152"/>
            </a:avLst>
          </a:prstGeom>
          <a:solidFill>
            <a:srgbClr val="E3EEF8"/>
          </a:solidFill>
          <a:ln w="15875">
            <a:solidFill>
              <a:srgbClr val="306998"/>
            </a:solidFill>
            <a:prstDash val="solid"/>
          </a:ln>
        </p:spPr>
      </p:sp>
      <p:sp>
        <p:nvSpPr>
          <p:cNvPr id="16" name="v:Combining:l0b2|b1"/>
          <p:cNvSpPr txBox="1"/>
          <p:nvPr/>
        </p:nvSpPr>
        <p:spPr>
          <a:xfrm>
            <a:off x="2121408" y="1508760"/>
            <a:ext cx="74066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a:t>
            </a:r>
            <a:endParaRPr lang="en-US" sz="1000" dirty="0"/>
          </a:p>
        </p:txBody>
      </p:sp>
      <p:sp>
        <p:nvSpPr>
          <p:cNvPr id="17" name="arrow|b1"/>
          <p:cNvSpPr/>
          <p:nvPr/>
        </p:nvSpPr>
        <p:spPr>
          <a:xfrm>
            <a:off x="4069080" y="1659636"/>
            <a:ext cx="411480" cy="0"/>
          </a:xfrm>
          <a:prstGeom prst="line">
            <a:avLst/>
          </a:prstGeom>
          <a:noFill/>
          <a:ln w="31750">
            <a:solidFill>
              <a:srgbClr val="306998"/>
            </a:solidFill>
            <a:prstDash val="solid"/>
            <a:tailEnd type="triangle"/>
          </a:ln>
        </p:spPr>
      </p:sp>
      <p:sp>
        <p:nvSpPr>
          <p:cNvPr id="18" name="v:Combining:l0a0:box|b1"/>
          <p:cNvSpPr/>
          <p:nvPr/>
        </p:nvSpPr>
        <p:spPr>
          <a:xfrm>
            <a:off x="4590288" y="1508760"/>
            <a:ext cx="640080" cy="301752"/>
          </a:xfrm>
          <a:prstGeom prst="roundRect">
            <a:avLst>
              <a:gd name="adj" fmla="val 15152"/>
            </a:avLst>
          </a:prstGeom>
          <a:solidFill>
            <a:srgbClr val="E3EEF8"/>
          </a:solidFill>
          <a:ln w="15875">
            <a:solidFill>
              <a:srgbClr val="306998"/>
            </a:solidFill>
            <a:prstDash val="solid"/>
          </a:ln>
        </p:spPr>
      </p:sp>
      <p:sp>
        <p:nvSpPr>
          <p:cNvPr id="19" name="v:Combining:l0a0|b1"/>
          <p:cNvSpPr txBox="1"/>
          <p:nvPr/>
        </p:nvSpPr>
        <p:spPr>
          <a:xfrm>
            <a:off x="4608576" y="1508760"/>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1</a:t>
            </a:r>
            <a:endParaRPr lang="en-US" sz="1000" dirty="0"/>
          </a:p>
        </p:txBody>
      </p:sp>
      <p:sp>
        <p:nvSpPr>
          <p:cNvPr id="20" name="v:Combining:l0a1:box|b1"/>
          <p:cNvSpPr/>
          <p:nvPr/>
        </p:nvSpPr>
        <p:spPr>
          <a:xfrm>
            <a:off x="5276088" y="1508760"/>
            <a:ext cx="640080" cy="301752"/>
          </a:xfrm>
          <a:prstGeom prst="roundRect">
            <a:avLst>
              <a:gd name="adj" fmla="val 15152"/>
            </a:avLst>
          </a:prstGeom>
          <a:solidFill>
            <a:srgbClr val="E3EEF8"/>
          </a:solidFill>
          <a:ln w="15875">
            <a:solidFill>
              <a:srgbClr val="306998"/>
            </a:solidFill>
            <a:prstDash val="solid"/>
          </a:ln>
        </p:spPr>
      </p:sp>
      <p:sp>
        <p:nvSpPr>
          <p:cNvPr id="21" name="v:Combining:l0a1|b1"/>
          <p:cNvSpPr txBox="1"/>
          <p:nvPr/>
        </p:nvSpPr>
        <p:spPr>
          <a:xfrm>
            <a:off x="5294376" y="1508760"/>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2</a:t>
            </a:r>
            <a:endParaRPr lang="en-US" sz="1000" dirty="0"/>
          </a:p>
        </p:txBody>
      </p:sp>
      <p:sp>
        <p:nvSpPr>
          <p:cNvPr id="22" name="v:Combining:l0a2:box|b1"/>
          <p:cNvSpPr/>
          <p:nvPr/>
        </p:nvSpPr>
        <p:spPr>
          <a:xfrm>
            <a:off x="5961888" y="1508760"/>
            <a:ext cx="640080" cy="301752"/>
          </a:xfrm>
          <a:prstGeom prst="roundRect">
            <a:avLst>
              <a:gd name="adj" fmla="val 15152"/>
            </a:avLst>
          </a:prstGeom>
          <a:solidFill>
            <a:srgbClr val="E3EEF8"/>
          </a:solidFill>
          <a:ln w="15875">
            <a:solidFill>
              <a:srgbClr val="306998"/>
            </a:solidFill>
            <a:prstDash val="solid"/>
          </a:ln>
        </p:spPr>
      </p:sp>
      <p:sp>
        <p:nvSpPr>
          <p:cNvPr id="23" name="v:Combining:l0a2|b1"/>
          <p:cNvSpPr txBox="1"/>
          <p:nvPr/>
        </p:nvSpPr>
        <p:spPr>
          <a:xfrm>
            <a:off x="5980176" y="1508760"/>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a:t>
            </a:r>
            <a:endParaRPr lang="en-US" sz="1000" dirty="0"/>
          </a:p>
        </p:txBody>
      </p:sp>
      <p:sp>
        <p:nvSpPr>
          <p:cNvPr id="24" name="v:Combining:l0a3:box|b1"/>
          <p:cNvSpPr/>
          <p:nvPr/>
        </p:nvSpPr>
        <p:spPr>
          <a:xfrm>
            <a:off x="6647688" y="1508760"/>
            <a:ext cx="640080" cy="301752"/>
          </a:xfrm>
          <a:prstGeom prst="roundRect">
            <a:avLst>
              <a:gd name="adj" fmla="val 15152"/>
            </a:avLst>
          </a:prstGeom>
          <a:solidFill>
            <a:srgbClr val="DDF3E6"/>
          </a:solidFill>
          <a:ln w="15875">
            <a:solidFill>
              <a:srgbClr val="2E9E5B"/>
            </a:solidFill>
            <a:prstDash val="solid"/>
          </a:ln>
        </p:spPr>
      </p:sp>
      <p:sp>
        <p:nvSpPr>
          <p:cNvPr id="25" name="v:Combining:l0a3|b1"/>
          <p:cNvSpPr txBox="1"/>
          <p:nvPr/>
        </p:nvSpPr>
        <p:spPr>
          <a:xfrm>
            <a:off x="6665976" y="1508760"/>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'A'</a:t>
            </a:r>
            <a:endParaRPr lang="en-US" sz="1000" dirty="0"/>
          </a:p>
        </p:txBody>
      </p:sp>
      <p:sp>
        <p:nvSpPr>
          <p:cNvPr id="26" name="v:Combining:l0a4:box|b1"/>
          <p:cNvSpPr/>
          <p:nvPr/>
        </p:nvSpPr>
        <p:spPr>
          <a:xfrm>
            <a:off x="7333488" y="1508760"/>
            <a:ext cx="640080" cy="301752"/>
          </a:xfrm>
          <a:prstGeom prst="roundRect">
            <a:avLst>
              <a:gd name="adj" fmla="val 15152"/>
            </a:avLst>
          </a:prstGeom>
          <a:solidFill>
            <a:srgbClr val="DDF3E6"/>
          </a:solidFill>
          <a:ln w="15875">
            <a:solidFill>
              <a:srgbClr val="2E9E5B"/>
            </a:solidFill>
            <a:prstDash val="solid"/>
          </a:ln>
        </p:spPr>
      </p:sp>
      <p:sp>
        <p:nvSpPr>
          <p:cNvPr id="27" name="v:Combining:l0a4|b1"/>
          <p:cNvSpPr txBox="1"/>
          <p:nvPr/>
        </p:nvSpPr>
        <p:spPr>
          <a:xfrm>
            <a:off x="7351776" y="1508760"/>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'B'</a:t>
            </a:r>
            <a:endParaRPr lang="en-US" sz="1000" dirty="0"/>
          </a:p>
        </p:txBody>
      </p:sp>
      <p:sp>
        <p:nvSpPr>
          <p:cNvPr id="28" name="v:Combining:l0a5:box|b1"/>
          <p:cNvSpPr/>
          <p:nvPr/>
        </p:nvSpPr>
        <p:spPr>
          <a:xfrm>
            <a:off x="8019288" y="1508760"/>
            <a:ext cx="640080" cy="301752"/>
          </a:xfrm>
          <a:prstGeom prst="roundRect">
            <a:avLst>
              <a:gd name="adj" fmla="val 15152"/>
            </a:avLst>
          </a:prstGeom>
          <a:solidFill>
            <a:srgbClr val="DDF3E6"/>
          </a:solidFill>
          <a:ln w="15875">
            <a:solidFill>
              <a:srgbClr val="2E9E5B"/>
            </a:solidFill>
            <a:prstDash val="solid"/>
          </a:ln>
        </p:spPr>
      </p:sp>
      <p:sp>
        <p:nvSpPr>
          <p:cNvPr id="29" name="v:Combining:l0a5|b1"/>
          <p:cNvSpPr txBox="1"/>
          <p:nvPr/>
        </p:nvSpPr>
        <p:spPr>
          <a:xfrm>
            <a:off x="8037576" y="1508760"/>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'C'</a:t>
            </a:r>
            <a:endParaRPr lang="en-US" sz="1000" dirty="0"/>
          </a:p>
        </p:txBody>
      </p:sp>
      <p:sp>
        <p:nvSpPr>
          <p:cNvPr id="30" name="lanebox|b2"/>
          <p:cNvSpPr/>
          <p:nvPr/>
        </p:nvSpPr>
        <p:spPr>
          <a:xfrm>
            <a:off x="365760" y="1920240"/>
            <a:ext cx="8412480" cy="694944"/>
          </a:xfrm>
          <a:prstGeom prst="roundRect">
            <a:avLst>
              <a:gd name="adj" fmla="val 7895"/>
            </a:avLst>
          </a:prstGeom>
          <a:solidFill>
            <a:srgbClr val="FFFFFF"/>
          </a:solidFill>
          <a:ln w="9525">
            <a:solidFill>
              <a:srgbClr val="9AA8B8"/>
            </a:solidFill>
            <a:prstDash val="solid"/>
          </a:ln>
        </p:spPr>
      </p:sp>
      <p:sp>
        <p:nvSpPr>
          <p:cNvPr id="31" name="v:Combining:l1op|b2"/>
          <p:cNvSpPr txBox="1"/>
          <p:nvPr/>
        </p:nvSpPr>
        <p:spPr>
          <a:xfrm>
            <a:off x="457200" y="1938528"/>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a * 3</a:t>
            </a:r>
            <a:endParaRPr lang="en-US" sz="1250" dirty="0"/>
          </a:p>
        </p:txBody>
      </p:sp>
      <p:sp>
        <p:nvSpPr>
          <p:cNvPr id="32" name="v:Combining:l1cat|b2"/>
          <p:cNvSpPr txBox="1"/>
          <p:nvPr/>
        </p:nvSpPr>
        <p:spPr>
          <a:xfrm>
            <a:off x="3611880" y="1938528"/>
            <a:ext cx="3063240" cy="292608"/>
          </a:xfrm>
          <a:prstGeom prst="rect">
            <a:avLst/>
          </a:prstGeom>
          <a:noFill/>
          <a:ln/>
        </p:spPr>
        <p:txBody>
          <a:bodyPr wrap="square" lIns="0" tIns="0" rIns="0" bIns="0" rtlCol="0" anchor="ctr"/>
          <a:lstStyle/>
          <a:p>
            <a:pPr indent="0" marL="0">
              <a:buNone/>
            </a:pPr>
            <a:r>
              <a:rPr lang="en-US" sz="1050" b="1" dirty="0">
                <a:solidFill>
                  <a:srgbClr val="306998"/>
                </a:solidFill>
                <a:latin typeface="Calibri" pitchFamily="34" charset="0"/>
                <a:ea typeface="Calibri" pitchFamily="34" charset="-122"/>
                <a:cs typeface="Calibri" pitchFamily="34" charset="-120"/>
              </a:rPr>
              <a:t>makes a new list; the original is unchanged</a:t>
            </a:r>
            <a:endParaRPr lang="en-US" sz="1050" dirty="0"/>
          </a:p>
        </p:txBody>
      </p:sp>
      <p:sp>
        <p:nvSpPr>
          <p:cNvPr id="33" name="v:Combining:l1retbox:box|b2"/>
          <p:cNvSpPr/>
          <p:nvPr/>
        </p:nvSpPr>
        <p:spPr>
          <a:xfrm>
            <a:off x="6812280" y="1965960"/>
            <a:ext cx="1874520" cy="246888"/>
          </a:xfrm>
          <a:prstGeom prst="roundRect">
            <a:avLst>
              <a:gd name="adj" fmla="val 29630"/>
            </a:avLst>
          </a:prstGeom>
          <a:solidFill>
            <a:srgbClr val="FCEFD0"/>
          </a:solidFill>
          <a:ln w="12700">
            <a:solidFill>
              <a:srgbClr val="B7791F"/>
            </a:solidFill>
            <a:prstDash val="solid"/>
          </a:ln>
        </p:spPr>
      </p:sp>
      <p:sp>
        <p:nvSpPr>
          <p:cNvPr id="34" name="v:Combining:l1ret|b2"/>
          <p:cNvSpPr txBox="1"/>
          <p:nvPr/>
        </p:nvSpPr>
        <p:spPr>
          <a:xfrm>
            <a:off x="6812280" y="1965960"/>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a new list</a:t>
            </a:r>
            <a:endParaRPr lang="en-US" sz="1050" dirty="0"/>
          </a:p>
        </p:txBody>
      </p:sp>
      <p:sp>
        <p:nvSpPr>
          <p:cNvPr id="35" name="v:Combining:l1b0:box|b2"/>
          <p:cNvSpPr/>
          <p:nvPr/>
        </p:nvSpPr>
        <p:spPr>
          <a:xfrm>
            <a:off x="457200" y="2258568"/>
            <a:ext cx="777240" cy="301752"/>
          </a:xfrm>
          <a:prstGeom prst="roundRect">
            <a:avLst>
              <a:gd name="adj" fmla="val 15152"/>
            </a:avLst>
          </a:prstGeom>
          <a:solidFill>
            <a:srgbClr val="E3EEF8"/>
          </a:solidFill>
          <a:ln w="15875">
            <a:solidFill>
              <a:srgbClr val="306998"/>
            </a:solidFill>
            <a:prstDash val="solid"/>
          </a:ln>
        </p:spPr>
      </p:sp>
      <p:sp>
        <p:nvSpPr>
          <p:cNvPr id="36" name="v:Combining:l1b0|b2"/>
          <p:cNvSpPr txBox="1"/>
          <p:nvPr/>
        </p:nvSpPr>
        <p:spPr>
          <a:xfrm>
            <a:off x="475488" y="2258568"/>
            <a:ext cx="74066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'X'</a:t>
            </a:r>
            <a:endParaRPr lang="en-US" sz="1000" dirty="0"/>
          </a:p>
        </p:txBody>
      </p:sp>
      <p:sp>
        <p:nvSpPr>
          <p:cNvPr id="37" name="v:Combining:l1b1:box|b2"/>
          <p:cNvSpPr/>
          <p:nvPr/>
        </p:nvSpPr>
        <p:spPr>
          <a:xfrm>
            <a:off x="1280160" y="2258568"/>
            <a:ext cx="777240" cy="301752"/>
          </a:xfrm>
          <a:prstGeom prst="roundRect">
            <a:avLst>
              <a:gd name="adj" fmla="val 15152"/>
            </a:avLst>
          </a:prstGeom>
          <a:solidFill>
            <a:srgbClr val="E3EEF8"/>
          </a:solidFill>
          <a:ln w="15875">
            <a:solidFill>
              <a:srgbClr val="306998"/>
            </a:solidFill>
            <a:prstDash val="solid"/>
          </a:ln>
        </p:spPr>
      </p:sp>
      <p:sp>
        <p:nvSpPr>
          <p:cNvPr id="38" name="v:Combining:l1b1|b2"/>
          <p:cNvSpPr txBox="1"/>
          <p:nvPr/>
        </p:nvSpPr>
        <p:spPr>
          <a:xfrm>
            <a:off x="1298448" y="2258568"/>
            <a:ext cx="74066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'Y'</a:t>
            </a:r>
            <a:endParaRPr lang="en-US" sz="1000" dirty="0"/>
          </a:p>
        </p:txBody>
      </p:sp>
      <p:sp>
        <p:nvSpPr>
          <p:cNvPr id="39" name="arrow|b2"/>
          <p:cNvSpPr/>
          <p:nvPr/>
        </p:nvSpPr>
        <p:spPr>
          <a:xfrm>
            <a:off x="4069080" y="2409444"/>
            <a:ext cx="411480" cy="0"/>
          </a:xfrm>
          <a:prstGeom prst="line">
            <a:avLst/>
          </a:prstGeom>
          <a:noFill/>
          <a:ln w="31750">
            <a:solidFill>
              <a:srgbClr val="306998"/>
            </a:solidFill>
            <a:prstDash val="solid"/>
            <a:tailEnd type="triangle"/>
          </a:ln>
        </p:spPr>
      </p:sp>
      <p:sp>
        <p:nvSpPr>
          <p:cNvPr id="40" name="v:Combining:l1a0:box|b2"/>
          <p:cNvSpPr/>
          <p:nvPr/>
        </p:nvSpPr>
        <p:spPr>
          <a:xfrm>
            <a:off x="4590288" y="2258568"/>
            <a:ext cx="640080" cy="301752"/>
          </a:xfrm>
          <a:prstGeom prst="roundRect">
            <a:avLst>
              <a:gd name="adj" fmla="val 15152"/>
            </a:avLst>
          </a:prstGeom>
          <a:solidFill>
            <a:srgbClr val="E3EEF8"/>
          </a:solidFill>
          <a:ln w="15875">
            <a:solidFill>
              <a:srgbClr val="306998"/>
            </a:solidFill>
            <a:prstDash val="solid"/>
          </a:ln>
        </p:spPr>
      </p:sp>
      <p:sp>
        <p:nvSpPr>
          <p:cNvPr id="41" name="v:Combining:l1a0|b2"/>
          <p:cNvSpPr txBox="1"/>
          <p:nvPr/>
        </p:nvSpPr>
        <p:spPr>
          <a:xfrm>
            <a:off x="4608576" y="2258568"/>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'X'</a:t>
            </a:r>
            <a:endParaRPr lang="en-US" sz="1000" dirty="0"/>
          </a:p>
        </p:txBody>
      </p:sp>
      <p:sp>
        <p:nvSpPr>
          <p:cNvPr id="42" name="v:Combining:l1a1:box|b2"/>
          <p:cNvSpPr/>
          <p:nvPr/>
        </p:nvSpPr>
        <p:spPr>
          <a:xfrm>
            <a:off x="5276088" y="2258568"/>
            <a:ext cx="640080" cy="301752"/>
          </a:xfrm>
          <a:prstGeom prst="roundRect">
            <a:avLst>
              <a:gd name="adj" fmla="val 15152"/>
            </a:avLst>
          </a:prstGeom>
          <a:solidFill>
            <a:srgbClr val="E3EEF8"/>
          </a:solidFill>
          <a:ln w="15875">
            <a:solidFill>
              <a:srgbClr val="306998"/>
            </a:solidFill>
            <a:prstDash val="solid"/>
          </a:ln>
        </p:spPr>
      </p:sp>
      <p:sp>
        <p:nvSpPr>
          <p:cNvPr id="43" name="v:Combining:l1a1|b2"/>
          <p:cNvSpPr txBox="1"/>
          <p:nvPr/>
        </p:nvSpPr>
        <p:spPr>
          <a:xfrm>
            <a:off x="5294376" y="2258568"/>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'Y'</a:t>
            </a:r>
            <a:endParaRPr lang="en-US" sz="1000" dirty="0"/>
          </a:p>
        </p:txBody>
      </p:sp>
      <p:sp>
        <p:nvSpPr>
          <p:cNvPr id="44" name="v:Combining:l1a2:box|b2"/>
          <p:cNvSpPr/>
          <p:nvPr/>
        </p:nvSpPr>
        <p:spPr>
          <a:xfrm>
            <a:off x="5961888" y="2258568"/>
            <a:ext cx="640080" cy="301752"/>
          </a:xfrm>
          <a:prstGeom prst="roundRect">
            <a:avLst>
              <a:gd name="adj" fmla="val 15152"/>
            </a:avLst>
          </a:prstGeom>
          <a:solidFill>
            <a:srgbClr val="DDF3E6"/>
          </a:solidFill>
          <a:ln w="15875">
            <a:solidFill>
              <a:srgbClr val="2E9E5B"/>
            </a:solidFill>
            <a:prstDash val="solid"/>
          </a:ln>
        </p:spPr>
      </p:sp>
      <p:sp>
        <p:nvSpPr>
          <p:cNvPr id="45" name="v:Combining:l1a2|b2"/>
          <p:cNvSpPr txBox="1"/>
          <p:nvPr/>
        </p:nvSpPr>
        <p:spPr>
          <a:xfrm>
            <a:off x="5980176" y="2258568"/>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'X'</a:t>
            </a:r>
            <a:endParaRPr lang="en-US" sz="1000" dirty="0"/>
          </a:p>
        </p:txBody>
      </p:sp>
      <p:sp>
        <p:nvSpPr>
          <p:cNvPr id="46" name="v:Combining:l1a3:box|b2"/>
          <p:cNvSpPr/>
          <p:nvPr/>
        </p:nvSpPr>
        <p:spPr>
          <a:xfrm>
            <a:off x="6647688" y="2258568"/>
            <a:ext cx="640080" cy="301752"/>
          </a:xfrm>
          <a:prstGeom prst="roundRect">
            <a:avLst>
              <a:gd name="adj" fmla="val 15152"/>
            </a:avLst>
          </a:prstGeom>
          <a:solidFill>
            <a:srgbClr val="DDF3E6"/>
          </a:solidFill>
          <a:ln w="15875">
            <a:solidFill>
              <a:srgbClr val="2E9E5B"/>
            </a:solidFill>
            <a:prstDash val="solid"/>
          </a:ln>
        </p:spPr>
      </p:sp>
      <p:sp>
        <p:nvSpPr>
          <p:cNvPr id="47" name="v:Combining:l1a3|b2"/>
          <p:cNvSpPr txBox="1"/>
          <p:nvPr/>
        </p:nvSpPr>
        <p:spPr>
          <a:xfrm>
            <a:off x="6665976" y="2258568"/>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'Y'</a:t>
            </a:r>
            <a:endParaRPr lang="en-US" sz="1000" dirty="0"/>
          </a:p>
        </p:txBody>
      </p:sp>
      <p:sp>
        <p:nvSpPr>
          <p:cNvPr id="48" name="v:Combining:l1a4:box|b2"/>
          <p:cNvSpPr/>
          <p:nvPr/>
        </p:nvSpPr>
        <p:spPr>
          <a:xfrm>
            <a:off x="7333488" y="2258568"/>
            <a:ext cx="640080" cy="301752"/>
          </a:xfrm>
          <a:prstGeom prst="roundRect">
            <a:avLst>
              <a:gd name="adj" fmla="val 15152"/>
            </a:avLst>
          </a:prstGeom>
          <a:solidFill>
            <a:srgbClr val="DDF3E6"/>
          </a:solidFill>
          <a:ln w="15875">
            <a:solidFill>
              <a:srgbClr val="2E9E5B"/>
            </a:solidFill>
            <a:prstDash val="solid"/>
          </a:ln>
        </p:spPr>
      </p:sp>
      <p:sp>
        <p:nvSpPr>
          <p:cNvPr id="49" name="v:Combining:l1a4|b2"/>
          <p:cNvSpPr txBox="1"/>
          <p:nvPr/>
        </p:nvSpPr>
        <p:spPr>
          <a:xfrm>
            <a:off x="7351776" y="2258568"/>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'X'</a:t>
            </a:r>
            <a:endParaRPr lang="en-US" sz="1000" dirty="0"/>
          </a:p>
        </p:txBody>
      </p:sp>
      <p:sp>
        <p:nvSpPr>
          <p:cNvPr id="50" name="v:Combining:l1a5:box|b2"/>
          <p:cNvSpPr/>
          <p:nvPr/>
        </p:nvSpPr>
        <p:spPr>
          <a:xfrm>
            <a:off x="8019288" y="2258568"/>
            <a:ext cx="640080" cy="301752"/>
          </a:xfrm>
          <a:prstGeom prst="roundRect">
            <a:avLst>
              <a:gd name="adj" fmla="val 15152"/>
            </a:avLst>
          </a:prstGeom>
          <a:solidFill>
            <a:srgbClr val="DDF3E6"/>
          </a:solidFill>
          <a:ln w="15875">
            <a:solidFill>
              <a:srgbClr val="2E9E5B"/>
            </a:solidFill>
            <a:prstDash val="solid"/>
          </a:ln>
        </p:spPr>
      </p:sp>
      <p:sp>
        <p:nvSpPr>
          <p:cNvPr id="51" name="v:Combining:l1a5|b2"/>
          <p:cNvSpPr txBox="1"/>
          <p:nvPr/>
        </p:nvSpPr>
        <p:spPr>
          <a:xfrm>
            <a:off x="8037576" y="2258568"/>
            <a:ext cx="603504" cy="301752"/>
          </a:xfrm>
          <a:prstGeom prst="rect">
            <a:avLst/>
          </a:prstGeom>
          <a:noFill/>
          <a:ln/>
        </p:spPr>
        <p:txBody>
          <a:bodyPr wrap="square" lIns="0" tIns="0" rIns="0" bIns="0" rtlCol="0" anchor="ctr">
            <a:normAutofit/>
          </a:bodyPr>
          <a:lstStyle/>
          <a:p>
            <a:pPr algn="ctr" indent="0" marL="0">
              <a:buNone/>
            </a:pPr>
            <a:r>
              <a:rPr lang="en-US" sz="1000" b="1" dirty="0">
                <a:solidFill>
                  <a:srgbClr val="2E9E5B"/>
                </a:solidFill>
                <a:latin typeface="Courier New" pitchFamily="34" charset="0"/>
                <a:ea typeface="Courier New" pitchFamily="34" charset="-122"/>
                <a:cs typeface="Courier New" pitchFamily="34" charset="-120"/>
              </a:rPr>
              <a:t>'Y'</a:t>
            </a:r>
            <a:endParaRPr lang="en-US" sz="1000" dirty="0"/>
          </a:p>
        </p:txBody>
      </p:sp>
      <p:sp>
        <p:nvSpPr>
          <p:cNvPr id="52" name="v:AugmentedAssignment:g0.0.c|b3"/>
          <p:cNvSpPr txBox="1"/>
          <p:nvPr/>
        </p:nvSpPr>
        <p:spPr>
          <a:xfrm>
            <a:off x="365760" y="2788920"/>
            <a:ext cx="2029968"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a = [1]</a:t>
            </a:r>
            <a:endParaRPr lang="en-US" sz="1200" dirty="0"/>
          </a:p>
        </p:txBody>
      </p:sp>
      <p:sp>
        <p:nvSpPr>
          <p:cNvPr id="53" name="v:AugmentedAssignment:g0.0.o1i0:box|b3"/>
          <p:cNvSpPr/>
          <p:nvPr/>
        </p:nvSpPr>
        <p:spPr>
          <a:xfrm>
            <a:off x="1143000" y="3154680"/>
            <a:ext cx="365760" cy="310896"/>
          </a:xfrm>
          <a:prstGeom prst="roundRect">
            <a:avLst>
              <a:gd name="adj" fmla="val 11765"/>
            </a:avLst>
          </a:prstGeom>
          <a:solidFill>
            <a:srgbClr val="E3EEF8"/>
          </a:solidFill>
          <a:ln w="19050">
            <a:solidFill>
              <a:srgbClr val="306998"/>
            </a:solidFill>
            <a:prstDash val="solid"/>
          </a:ln>
        </p:spPr>
      </p:sp>
      <p:sp>
        <p:nvSpPr>
          <p:cNvPr id="54" name="v:AugmentedAssignment:g0.0.o1i0|b3"/>
          <p:cNvSpPr txBox="1"/>
          <p:nvPr/>
        </p:nvSpPr>
        <p:spPr>
          <a:xfrm>
            <a:off x="1152144" y="315468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55" name="v:AugmentedAssignment:g0.0.n.a:box|b3"/>
          <p:cNvSpPr/>
          <p:nvPr/>
        </p:nvSpPr>
        <p:spPr>
          <a:xfrm>
            <a:off x="365760" y="3191256"/>
            <a:ext cx="548640" cy="237744"/>
          </a:xfrm>
          <a:prstGeom prst="roundRect">
            <a:avLst>
              <a:gd name="adj" fmla="val 30769"/>
            </a:avLst>
          </a:prstGeom>
          <a:solidFill>
            <a:srgbClr val="FFFFFF"/>
          </a:solidFill>
          <a:ln w="19050">
            <a:solidFill>
              <a:srgbClr val="306998"/>
            </a:solidFill>
            <a:prstDash val="solid"/>
          </a:ln>
        </p:spPr>
      </p:sp>
      <p:sp>
        <p:nvSpPr>
          <p:cNvPr id="56" name="v:AugmentedAssignment:g0.0.n.a|b3"/>
          <p:cNvSpPr txBox="1"/>
          <p:nvPr/>
        </p:nvSpPr>
        <p:spPr>
          <a:xfrm>
            <a:off x="365760" y="3191256"/>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a</a:t>
            </a:r>
            <a:endParaRPr lang="en-US" sz="1050" dirty="0"/>
          </a:p>
        </p:txBody>
      </p:sp>
      <p:sp>
        <p:nvSpPr>
          <p:cNvPr id="57" name="namearrow|b3"/>
          <p:cNvSpPr/>
          <p:nvPr/>
        </p:nvSpPr>
        <p:spPr>
          <a:xfrm>
            <a:off x="914400" y="3310128"/>
            <a:ext cx="228600" cy="0"/>
          </a:xfrm>
          <a:prstGeom prst="line">
            <a:avLst/>
          </a:prstGeom>
          <a:noFill/>
          <a:ln w="25400">
            <a:solidFill>
              <a:srgbClr val="306998"/>
            </a:solidFill>
            <a:prstDash val="solid"/>
            <a:tailEnd type="triangle"/>
          </a:ln>
        </p:spPr>
      </p:sp>
      <p:sp>
        <p:nvSpPr>
          <p:cNvPr id="58" name="v:AugmentedAssignment:g0.1.c|b4"/>
          <p:cNvSpPr txBox="1"/>
          <p:nvPr/>
        </p:nvSpPr>
        <p:spPr>
          <a:xfrm>
            <a:off x="2487168" y="2788920"/>
            <a:ext cx="2029968"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b = a</a:t>
            </a:r>
            <a:endParaRPr lang="en-US" sz="1200" dirty="0"/>
          </a:p>
        </p:txBody>
      </p:sp>
      <p:sp>
        <p:nvSpPr>
          <p:cNvPr id="59" name="v:AugmentedAssignment:g0.1.o1i0:box|b4"/>
          <p:cNvSpPr/>
          <p:nvPr/>
        </p:nvSpPr>
        <p:spPr>
          <a:xfrm>
            <a:off x="3264408" y="3246120"/>
            <a:ext cx="365760" cy="310896"/>
          </a:xfrm>
          <a:prstGeom prst="roundRect">
            <a:avLst>
              <a:gd name="adj" fmla="val 11765"/>
            </a:avLst>
          </a:prstGeom>
          <a:solidFill>
            <a:srgbClr val="E3EEF8"/>
          </a:solidFill>
          <a:ln w="19050">
            <a:solidFill>
              <a:srgbClr val="306998"/>
            </a:solidFill>
            <a:prstDash val="solid"/>
          </a:ln>
        </p:spPr>
      </p:sp>
      <p:sp>
        <p:nvSpPr>
          <p:cNvPr id="60" name="v:AugmentedAssignment:g0.1.o1i0|b4"/>
          <p:cNvSpPr txBox="1"/>
          <p:nvPr/>
        </p:nvSpPr>
        <p:spPr>
          <a:xfrm>
            <a:off x="3273552" y="324612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61" name="v:AugmentedAssignment:g0.1.n.a:box|b4"/>
          <p:cNvSpPr/>
          <p:nvPr/>
        </p:nvSpPr>
        <p:spPr>
          <a:xfrm>
            <a:off x="2487168" y="3145536"/>
            <a:ext cx="548640" cy="237744"/>
          </a:xfrm>
          <a:prstGeom prst="roundRect">
            <a:avLst>
              <a:gd name="adj" fmla="val 30769"/>
            </a:avLst>
          </a:prstGeom>
          <a:solidFill>
            <a:srgbClr val="FFFFFF"/>
          </a:solidFill>
          <a:ln w="19050">
            <a:solidFill>
              <a:srgbClr val="306998"/>
            </a:solidFill>
            <a:prstDash val="solid"/>
          </a:ln>
        </p:spPr>
      </p:sp>
      <p:sp>
        <p:nvSpPr>
          <p:cNvPr id="62" name="v:AugmentedAssignment:g0.1.n.a|b4"/>
          <p:cNvSpPr txBox="1"/>
          <p:nvPr/>
        </p:nvSpPr>
        <p:spPr>
          <a:xfrm>
            <a:off x="2487168" y="3145536"/>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a</a:t>
            </a:r>
            <a:endParaRPr lang="en-US" sz="1050" dirty="0"/>
          </a:p>
        </p:txBody>
      </p:sp>
      <p:sp>
        <p:nvSpPr>
          <p:cNvPr id="63" name="namearrow|b4"/>
          <p:cNvSpPr/>
          <p:nvPr/>
        </p:nvSpPr>
        <p:spPr>
          <a:xfrm>
            <a:off x="3035808" y="3264408"/>
            <a:ext cx="228600" cy="137160"/>
          </a:xfrm>
          <a:prstGeom prst="line">
            <a:avLst/>
          </a:prstGeom>
          <a:noFill/>
          <a:ln w="25400">
            <a:solidFill>
              <a:srgbClr val="306998"/>
            </a:solidFill>
            <a:prstDash val="solid"/>
            <a:tailEnd type="triangle"/>
          </a:ln>
        </p:spPr>
      </p:sp>
      <p:sp>
        <p:nvSpPr>
          <p:cNvPr id="64" name="v:AugmentedAssignment:g0.1.n.b:box|b4"/>
          <p:cNvSpPr/>
          <p:nvPr/>
        </p:nvSpPr>
        <p:spPr>
          <a:xfrm>
            <a:off x="2487168" y="3419856"/>
            <a:ext cx="548640" cy="237744"/>
          </a:xfrm>
          <a:prstGeom prst="roundRect">
            <a:avLst>
              <a:gd name="adj" fmla="val 30769"/>
            </a:avLst>
          </a:prstGeom>
          <a:solidFill>
            <a:srgbClr val="FFFFFF"/>
          </a:solidFill>
          <a:ln w="19050">
            <a:solidFill>
              <a:srgbClr val="306998"/>
            </a:solidFill>
            <a:prstDash val="solid"/>
          </a:ln>
        </p:spPr>
      </p:sp>
      <p:sp>
        <p:nvSpPr>
          <p:cNvPr id="65" name="v:AugmentedAssignment:g0.1.n.b|b4"/>
          <p:cNvSpPr txBox="1"/>
          <p:nvPr/>
        </p:nvSpPr>
        <p:spPr>
          <a:xfrm>
            <a:off x="2487168" y="3419856"/>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b</a:t>
            </a:r>
            <a:endParaRPr lang="en-US" sz="1050" dirty="0"/>
          </a:p>
        </p:txBody>
      </p:sp>
      <p:sp>
        <p:nvSpPr>
          <p:cNvPr id="66" name="namearrow|b4"/>
          <p:cNvSpPr/>
          <p:nvPr/>
        </p:nvSpPr>
        <p:spPr>
          <a:xfrm flipV="1">
            <a:off x="3035808" y="3401568"/>
            <a:ext cx="228600" cy="137160"/>
          </a:xfrm>
          <a:prstGeom prst="line">
            <a:avLst/>
          </a:prstGeom>
          <a:noFill/>
          <a:ln w="25400">
            <a:solidFill>
              <a:srgbClr val="306998"/>
            </a:solidFill>
            <a:prstDash val="solid"/>
            <a:tailEnd type="triangle"/>
          </a:ln>
        </p:spPr>
      </p:sp>
      <p:sp>
        <p:nvSpPr>
          <p:cNvPr id="67" name="v:AugmentedAssignment:g0.2.c|b5"/>
          <p:cNvSpPr txBox="1"/>
          <p:nvPr/>
        </p:nvSpPr>
        <p:spPr>
          <a:xfrm>
            <a:off x="4608576" y="2788920"/>
            <a:ext cx="2029968"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a += [2]</a:t>
            </a:r>
            <a:endParaRPr lang="en-US" sz="1200" dirty="0"/>
          </a:p>
        </p:txBody>
      </p:sp>
      <p:sp>
        <p:nvSpPr>
          <p:cNvPr id="68" name="v:AugmentedAssignment:g0.2.o1i0:box|b5"/>
          <p:cNvSpPr/>
          <p:nvPr/>
        </p:nvSpPr>
        <p:spPr>
          <a:xfrm>
            <a:off x="5385816" y="3246120"/>
            <a:ext cx="365760" cy="310896"/>
          </a:xfrm>
          <a:prstGeom prst="roundRect">
            <a:avLst>
              <a:gd name="adj" fmla="val 11765"/>
            </a:avLst>
          </a:prstGeom>
          <a:solidFill>
            <a:srgbClr val="E3EEF8"/>
          </a:solidFill>
          <a:ln w="19050">
            <a:solidFill>
              <a:srgbClr val="306998"/>
            </a:solidFill>
            <a:prstDash val="solid"/>
          </a:ln>
        </p:spPr>
      </p:sp>
      <p:sp>
        <p:nvSpPr>
          <p:cNvPr id="69" name="v:AugmentedAssignment:g0.2.o1i0|b5"/>
          <p:cNvSpPr txBox="1"/>
          <p:nvPr/>
        </p:nvSpPr>
        <p:spPr>
          <a:xfrm>
            <a:off x="5394960" y="324612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70" name="v:AugmentedAssignment:g0.2.o1i1:box|b5"/>
          <p:cNvSpPr/>
          <p:nvPr/>
        </p:nvSpPr>
        <p:spPr>
          <a:xfrm>
            <a:off x="5788152" y="3246120"/>
            <a:ext cx="365760" cy="310896"/>
          </a:xfrm>
          <a:prstGeom prst="roundRect">
            <a:avLst>
              <a:gd name="adj" fmla="val 11765"/>
            </a:avLst>
          </a:prstGeom>
          <a:solidFill>
            <a:srgbClr val="E3EEF8"/>
          </a:solidFill>
          <a:ln w="19050">
            <a:solidFill>
              <a:srgbClr val="306998"/>
            </a:solidFill>
            <a:prstDash val="solid"/>
          </a:ln>
        </p:spPr>
      </p:sp>
      <p:sp>
        <p:nvSpPr>
          <p:cNvPr id="71" name="v:AugmentedAssignment:g0.2.o1i1|b5"/>
          <p:cNvSpPr txBox="1"/>
          <p:nvPr/>
        </p:nvSpPr>
        <p:spPr>
          <a:xfrm>
            <a:off x="5797296" y="324612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72" name="v:AugmentedAssignment:g0.2.n.a:box|b5"/>
          <p:cNvSpPr/>
          <p:nvPr/>
        </p:nvSpPr>
        <p:spPr>
          <a:xfrm>
            <a:off x="4608576" y="3145536"/>
            <a:ext cx="548640" cy="237744"/>
          </a:xfrm>
          <a:prstGeom prst="roundRect">
            <a:avLst>
              <a:gd name="adj" fmla="val 30769"/>
            </a:avLst>
          </a:prstGeom>
          <a:solidFill>
            <a:srgbClr val="FFFFFF"/>
          </a:solidFill>
          <a:ln w="19050">
            <a:solidFill>
              <a:srgbClr val="306998"/>
            </a:solidFill>
            <a:prstDash val="solid"/>
          </a:ln>
        </p:spPr>
      </p:sp>
      <p:sp>
        <p:nvSpPr>
          <p:cNvPr id="73" name="v:AugmentedAssignment:g0.2.n.a|b5"/>
          <p:cNvSpPr txBox="1"/>
          <p:nvPr/>
        </p:nvSpPr>
        <p:spPr>
          <a:xfrm>
            <a:off x="4608576" y="3145536"/>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a</a:t>
            </a:r>
            <a:endParaRPr lang="en-US" sz="1050" dirty="0"/>
          </a:p>
        </p:txBody>
      </p:sp>
      <p:sp>
        <p:nvSpPr>
          <p:cNvPr id="74" name="namearrow|b5"/>
          <p:cNvSpPr/>
          <p:nvPr/>
        </p:nvSpPr>
        <p:spPr>
          <a:xfrm>
            <a:off x="5157216" y="3264408"/>
            <a:ext cx="228600" cy="137160"/>
          </a:xfrm>
          <a:prstGeom prst="line">
            <a:avLst/>
          </a:prstGeom>
          <a:noFill/>
          <a:ln w="25400">
            <a:solidFill>
              <a:srgbClr val="306998"/>
            </a:solidFill>
            <a:prstDash val="solid"/>
            <a:tailEnd type="triangle"/>
          </a:ln>
        </p:spPr>
      </p:sp>
      <p:sp>
        <p:nvSpPr>
          <p:cNvPr id="75" name="v:AugmentedAssignment:g0.2.n.b:box|b5"/>
          <p:cNvSpPr/>
          <p:nvPr/>
        </p:nvSpPr>
        <p:spPr>
          <a:xfrm>
            <a:off x="4608576" y="3419856"/>
            <a:ext cx="548640" cy="237744"/>
          </a:xfrm>
          <a:prstGeom prst="roundRect">
            <a:avLst>
              <a:gd name="adj" fmla="val 30769"/>
            </a:avLst>
          </a:prstGeom>
          <a:solidFill>
            <a:srgbClr val="FFFFFF"/>
          </a:solidFill>
          <a:ln w="19050">
            <a:solidFill>
              <a:srgbClr val="306998"/>
            </a:solidFill>
            <a:prstDash val="solid"/>
          </a:ln>
        </p:spPr>
      </p:sp>
      <p:sp>
        <p:nvSpPr>
          <p:cNvPr id="76" name="v:AugmentedAssignment:g0.2.n.b|b5"/>
          <p:cNvSpPr txBox="1"/>
          <p:nvPr/>
        </p:nvSpPr>
        <p:spPr>
          <a:xfrm>
            <a:off x="4608576" y="3419856"/>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b</a:t>
            </a:r>
            <a:endParaRPr lang="en-US" sz="1050" dirty="0"/>
          </a:p>
        </p:txBody>
      </p:sp>
      <p:sp>
        <p:nvSpPr>
          <p:cNvPr id="77" name="namearrow|b5"/>
          <p:cNvSpPr/>
          <p:nvPr/>
        </p:nvSpPr>
        <p:spPr>
          <a:xfrm flipV="1">
            <a:off x="5157216" y="3401568"/>
            <a:ext cx="228600" cy="137160"/>
          </a:xfrm>
          <a:prstGeom prst="line">
            <a:avLst/>
          </a:prstGeom>
          <a:noFill/>
          <a:ln w="25400">
            <a:solidFill>
              <a:srgbClr val="306998"/>
            </a:solidFill>
            <a:prstDash val="solid"/>
            <a:tailEnd type="triangle"/>
          </a:ln>
        </p:spPr>
      </p:sp>
      <p:sp>
        <p:nvSpPr>
          <p:cNvPr id="78" name="v:AugmentedAssignment:g0.3.c|b6"/>
          <p:cNvSpPr txBox="1"/>
          <p:nvPr/>
        </p:nvSpPr>
        <p:spPr>
          <a:xfrm>
            <a:off x="6729984" y="2788920"/>
            <a:ext cx="2029968"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a = a + [3]</a:t>
            </a:r>
            <a:endParaRPr lang="en-US" sz="1200" dirty="0"/>
          </a:p>
        </p:txBody>
      </p:sp>
      <p:sp>
        <p:nvSpPr>
          <p:cNvPr id="79" name="v:AugmentedAssignment:g0.3.o2i0:box|b6"/>
          <p:cNvSpPr/>
          <p:nvPr/>
        </p:nvSpPr>
        <p:spPr>
          <a:xfrm>
            <a:off x="7507224" y="3154680"/>
            <a:ext cx="365760" cy="310896"/>
          </a:xfrm>
          <a:prstGeom prst="roundRect">
            <a:avLst>
              <a:gd name="adj" fmla="val 11765"/>
            </a:avLst>
          </a:prstGeom>
          <a:solidFill>
            <a:srgbClr val="E3EEF8"/>
          </a:solidFill>
          <a:ln w="19050">
            <a:solidFill>
              <a:srgbClr val="306998"/>
            </a:solidFill>
            <a:prstDash val="solid"/>
          </a:ln>
        </p:spPr>
      </p:sp>
      <p:sp>
        <p:nvSpPr>
          <p:cNvPr id="80" name="v:AugmentedAssignment:g0.3.o2i0|b6"/>
          <p:cNvSpPr txBox="1"/>
          <p:nvPr/>
        </p:nvSpPr>
        <p:spPr>
          <a:xfrm>
            <a:off x="7516368" y="315468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81" name="v:AugmentedAssignment:g0.3.o2i1:box|b6"/>
          <p:cNvSpPr/>
          <p:nvPr/>
        </p:nvSpPr>
        <p:spPr>
          <a:xfrm>
            <a:off x="7909560" y="3154680"/>
            <a:ext cx="365760" cy="310896"/>
          </a:xfrm>
          <a:prstGeom prst="roundRect">
            <a:avLst>
              <a:gd name="adj" fmla="val 11765"/>
            </a:avLst>
          </a:prstGeom>
          <a:solidFill>
            <a:srgbClr val="E3EEF8"/>
          </a:solidFill>
          <a:ln w="19050">
            <a:solidFill>
              <a:srgbClr val="306998"/>
            </a:solidFill>
            <a:prstDash val="solid"/>
          </a:ln>
        </p:spPr>
      </p:sp>
      <p:sp>
        <p:nvSpPr>
          <p:cNvPr id="82" name="v:AugmentedAssignment:g0.3.o2i1|b6"/>
          <p:cNvSpPr txBox="1"/>
          <p:nvPr/>
        </p:nvSpPr>
        <p:spPr>
          <a:xfrm>
            <a:off x="7918704" y="315468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83" name="v:AugmentedAssignment:g0.3.o2i2:box|b6"/>
          <p:cNvSpPr/>
          <p:nvPr/>
        </p:nvSpPr>
        <p:spPr>
          <a:xfrm>
            <a:off x="8311896" y="3154680"/>
            <a:ext cx="365760" cy="310896"/>
          </a:xfrm>
          <a:prstGeom prst="roundRect">
            <a:avLst>
              <a:gd name="adj" fmla="val 11765"/>
            </a:avLst>
          </a:prstGeom>
          <a:solidFill>
            <a:srgbClr val="E3EEF8"/>
          </a:solidFill>
          <a:ln w="19050">
            <a:solidFill>
              <a:srgbClr val="306998"/>
            </a:solidFill>
            <a:prstDash val="solid"/>
          </a:ln>
        </p:spPr>
      </p:sp>
      <p:sp>
        <p:nvSpPr>
          <p:cNvPr id="84" name="v:AugmentedAssignment:g0.3.o2i2|b6"/>
          <p:cNvSpPr txBox="1"/>
          <p:nvPr/>
        </p:nvSpPr>
        <p:spPr>
          <a:xfrm>
            <a:off x="8321040" y="3154680"/>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85" name="v:AugmentedAssignment:g0.3.o1i0:box|b6"/>
          <p:cNvSpPr/>
          <p:nvPr/>
        </p:nvSpPr>
        <p:spPr>
          <a:xfrm>
            <a:off x="7507224" y="3666744"/>
            <a:ext cx="365760" cy="310896"/>
          </a:xfrm>
          <a:prstGeom prst="roundRect">
            <a:avLst>
              <a:gd name="adj" fmla="val 11765"/>
            </a:avLst>
          </a:prstGeom>
          <a:solidFill>
            <a:srgbClr val="E3EEF8"/>
          </a:solidFill>
          <a:ln w="19050">
            <a:solidFill>
              <a:srgbClr val="306998"/>
            </a:solidFill>
            <a:prstDash val="solid"/>
          </a:ln>
        </p:spPr>
      </p:sp>
      <p:sp>
        <p:nvSpPr>
          <p:cNvPr id="86" name="v:AugmentedAssignment:g0.3.o1i0|b6"/>
          <p:cNvSpPr txBox="1"/>
          <p:nvPr/>
        </p:nvSpPr>
        <p:spPr>
          <a:xfrm>
            <a:off x="7516368" y="3666744"/>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87" name="v:AugmentedAssignment:g0.3.o1i1:box|b6"/>
          <p:cNvSpPr/>
          <p:nvPr/>
        </p:nvSpPr>
        <p:spPr>
          <a:xfrm>
            <a:off x="7909560" y="3666744"/>
            <a:ext cx="365760" cy="310896"/>
          </a:xfrm>
          <a:prstGeom prst="roundRect">
            <a:avLst>
              <a:gd name="adj" fmla="val 11765"/>
            </a:avLst>
          </a:prstGeom>
          <a:solidFill>
            <a:srgbClr val="E3EEF8"/>
          </a:solidFill>
          <a:ln w="19050">
            <a:solidFill>
              <a:srgbClr val="306998"/>
            </a:solidFill>
            <a:prstDash val="solid"/>
          </a:ln>
        </p:spPr>
      </p:sp>
      <p:sp>
        <p:nvSpPr>
          <p:cNvPr id="88" name="v:AugmentedAssignment:g0.3.o1i1|b6"/>
          <p:cNvSpPr txBox="1"/>
          <p:nvPr/>
        </p:nvSpPr>
        <p:spPr>
          <a:xfrm>
            <a:off x="7918704" y="3666744"/>
            <a:ext cx="34747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89" name="v:AugmentedAssignment:g0.3.n.a:box|b6"/>
          <p:cNvSpPr/>
          <p:nvPr/>
        </p:nvSpPr>
        <p:spPr>
          <a:xfrm>
            <a:off x="6729984" y="3191256"/>
            <a:ext cx="548640" cy="237744"/>
          </a:xfrm>
          <a:prstGeom prst="roundRect">
            <a:avLst>
              <a:gd name="adj" fmla="val 30769"/>
            </a:avLst>
          </a:prstGeom>
          <a:solidFill>
            <a:srgbClr val="FFFFFF"/>
          </a:solidFill>
          <a:ln w="19050">
            <a:solidFill>
              <a:srgbClr val="306998"/>
            </a:solidFill>
            <a:prstDash val="solid"/>
          </a:ln>
        </p:spPr>
      </p:sp>
      <p:sp>
        <p:nvSpPr>
          <p:cNvPr id="90" name="v:AugmentedAssignment:g0.3.n.a|b6"/>
          <p:cNvSpPr txBox="1"/>
          <p:nvPr/>
        </p:nvSpPr>
        <p:spPr>
          <a:xfrm>
            <a:off x="6729984" y="3191256"/>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a</a:t>
            </a:r>
            <a:endParaRPr lang="en-US" sz="1050" dirty="0"/>
          </a:p>
        </p:txBody>
      </p:sp>
      <p:sp>
        <p:nvSpPr>
          <p:cNvPr id="91" name="namearrow|b6"/>
          <p:cNvSpPr/>
          <p:nvPr/>
        </p:nvSpPr>
        <p:spPr>
          <a:xfrm>
            <a:off x="7278624" y="3310128"/>
            <a:ext cx="228600" cy="0"/>
          </a:xfrm>
          <a:prstGeom prst="line">
            <a:avLst/>
          </a:prstGeom>
          <a:noFill/>
          <a:ln w="25400">
            <a:solidFill>
              <a:srgbClr val="306998"/>
            </a:solidFill>
            <a:prstDash val="solid"/>
            <a:tailEnd type="triangle"/>
          </a:ln>
        </p:spPr>
      </p:sp>
      <p:sp>
        <p:nvSpPr>
          <p:cNvPr id="92" name="v:AugmentedAssignment:g0.3.n.b:box|b6"/>
          <p:cNvSpPr/>
          <p:nvPr/>
        </p:nvSpPr>
        <p:spPr>
          <a:xfrm>
            <a:off x="6729984" y="3703320"/>
            <a:ext cx="548640" cy="237744"/>
          </a:xfrm>
          <a:prstGeom prst="roundRect">
            <a:avLst>
              <a:gd name="adj" fmla="val 30769"/>
            </a:avLst>
          </a:prstGeom>
          <a:solidFill>
            <a:srgbClr val="FFFFFF"/>
          </a:solidFill>
          <a:ln w="19050">
            <a:solidFill>
              <a:srgbClr val="306998"/>
            </a:solidFill>
            <a:prstDash val="solid"/>
          </a:ln>
        </p:spPr>
      </p:sp>
      <p:sp>
        <p:nvSpPr>
          <p:cNvPr id="93" name="v:AugmentedAssignment:g0.3.n.b|b6"/>
          <p:cNvSpPr txBox="1"/>
          <p:nvPr/>
        </p:nvSpPr>
        <p:spPr>
          <a:xfrm>
            <a:off x="6729984" y="3703320"/>
            <a:ext cx="5486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b</a:t>
            </a:r>
            <a:endParaRPr lang="en-US" sz="1050" dirty="0"/>
          </a:p>
        </p:txBody>
      </p:sp>
      <p:sp>
        <p:nvSpPr>
          <p:cNvPr id="94" name="namearrow|b6"/>
          <p:cNvSpPr/>
          <p:nvPr/>
        </p:nvSpPr>
        <p:spPr>
          <a:xfrm>
            <a:off x="7278624" y="3822192"/>
            <a:ext cx="228600" cy="0"/>
          </a:xfrm>
          <a:prstGeom prst="line">
            <a:avLst/>
          </a:prstGeom>
          <a:noFill/>
          <a:ln w="25400">
            <a:solidFill>
              <a:srgbClr val="306998"/>
            </a:solidFill>
            <a:prstDash val="solid"/>
            <a:tailEnd type="triangle"/>
          </a:ln>
        </p:spPr>
      </p:sp>
      <p:sp>
        <p:nvSpPr>
          <p:cNvPr id="9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9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9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List operations ▸ Concatenation replication, Augmented assignment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75" fill="hold">
                      <p:stCondLst>
                        <p:cond delay="indefinite"/>
                      </p:stCondLst>
                      <p:childTnLst>
                        <p:par>
                          <p:cTn id="7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00"/>
                                        <p:tgtEl>
                                          <p:spTgt spid="27"/>
                                        </p:tgtEl>
                                      </p:cBhvr>
                                    </p:animEffect>
                                  </p:childTnLst>
                                </p:cTn>
                              </p:par>
                              <p:par>
                                <p:cTn id="69" presetID="10" presetClass="entr" presetSubtype="0" fill="hold" nodeType="with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00"/>
                                        <p:tgtEl>
                                          <p:spTgt spid="2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400"/>
                                        <p:tgtEl>
                                          <p:spTgt spid="29"/>
                                        </p:tgtEl>
                                      </p:cBhvr>
                                    </p:animEffect>
                                  </p:childTnLst>
                                </p:cTn>
                              </p:par>
                            </p:childTnLst>
                          </p:cTn>
                        </p:par>
                      </p:childTnLst>
                    </p:cTn>
                  </p:par>
                  <p:par>
                    <p:cTn id="143" fill="hold">
                      <p:stCondLst>
                        <p:cond delay="indefinite"/>
                      </p:stCondLst>
                      <p:childTnLst>
                        <p:par>
                          <p:cTn id="144"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00"/>
                                        <p:tgtEl>
                                          <p:spTgt spid="3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00"/>
                                        <p:tgtEl>
                                          <p:spTgt spid="3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par>
                                <p:cTn id="86" presetID="10" presetClass="entr" presetSubtype="0" fill="hold"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0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par>
                                <p:cTn id="107" presetID="10" presetClass="entr" presetSubtype="0" fill="hold"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00"/>
                                        <p:tgtEl>
                                          <p:spTgt spid="4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400"/>
                                        <p:tgtEl>
                                          <p:spTgt spid="41"/>
                                        </p:tgtEl>
                                      </p:cBhvr>
                                    </p:animEffect>
                                  </p:childTnLst>
                                </p:cTn>
                              </p:par>
                              <p:par>
                                <p:cTn id="113" presetID="10" presetClass="entr" presetSubtype="0" fill="hold"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00"/>
                                        <p:tgtEl>
                                          <p:spTgt spid="4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00"/>
                                        <p:tgtEl>
                                          <p:spTgt spid="43"/>
                                        </p:tgtEl>
                                      </p:cBhvr>
                                    </p:animEffect>
                                  </p:childTnLst>
                                </p:cTn>
                              </p:par>
                              <p:par>
                                <p:cTn id="119" presetID="10" presetClass="entr" presetSubtype="0" fill="hold"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400"/>
                                        <p:tgtEl>
                                          <p:spTgt spid="44"/>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400"/>
                                        <p:tgtEl>
                                          <p:spTgt spid="45"/>
                                        </p:tgtEl>
                                      </p:cBhvr>
                                    </p:animEffect>
                                  </p:childTnLst>
                                </p:cTn>
                              </p:par>
                              <p:par>
                                <p:cTn id="125" presetID="10" presetClass="entr" presetSubtype="0" fill="hold"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400"/>
                                        <p:tgtEl>
                                          <p:spTgt spid="46"/>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400"/>
                                        <p:tgtEl>
                                          <p:spTgt spid="47"/>
                                        </p:tgtEl>
                                      </p:cBhvr>
                                    </p:animEffect>
                                  </p:childTnLst>
                                </p:cTn>
                              </p:par>
                              <p:par>
                                <p:cTn id="131" presetID="10" presetClass="entr" presetSubtype="0" fill="hold"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fade">
                                      <p:cBhvr>
                                        <p:cTn id="133" dur="400"/>
                                        <p:tgtEl>
                                          <p:spTgt spid="48"/>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9"/>
                                        </p:tgtEl>
                                        <p:attrNameLst>
                                          <p:attrName>style.visibility</p:attrName>
                                        </p:attrNameLst>
                                      </p:cBhvr>
                                      <p:to>
                                        <p:strVal val="visible"/>
                                      </p:to>
                                    </p:set>
                                    <p:animEffect transition="in" filter="fade">
                                      <p:cBhvr>
                                        <p:cTn id="136" dur="400"/>
                                        <p:tgtEl>
                                          <p:spTgt spid="49"/>
                                        </p:tgtEl>
                                      </p:cBhvr>
                                    </p:animEffect>
                                  </p:childTnLst>
                                </p:cTn>
                              </p:par>
                              <p:par>
                                <p:cTn id="137" presetID="10" presetClass="entr" presetSubtype="0" fill="hold" nodeType="withEffect">
                                  <p:stCondLst>
                                    <p:cond delay="0"/>
                                  </p:stCondLst>
                                  <p:childTnLst>
                                    <p:set>
                                      <p:cBhvr>
                                        <p:cTn id="138" dur="1" fill="hold">
                                          <p:stCondLst>
                                            <p:cond delay="0"/>
                                          </p:stCondLst>
                                        </p:cTn>
                                        <p:tgtEl>
                                          <p:spTgt spid="50"/>
                                        </p:tgtEl>
                                        <p:attrNameLst>
                                          <p:attrName>style.visibility</p:attrName>
                                        </p:attrNameLst>
                                      </p:cBhvr>
                                      <p:to>
                                        <p:strVal val="visible"/>
                                      </p:to>
                                    </p:set>
                                    <p:animEffect transition="in" filter="fade">
                                      <p:cBhvr>
                                        <p:cTn id="139" dur="400"/>
                                        <p:tgtEl>
                                          <p:spTgt spid="50"/>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51"/>
                                        </p:tgtEl>
                                        <p:attrNameLst>
                                          <p:attrName>style.visibility</p:attrName>
                                        </p:attrNameLst>
                                      </p:cBhvr>
                                      <p:to>
                                        <p:strVal val="visible"/>
                                      </p:to>
                                    </p:set>
                                    <p:animEffect transition="in" filter="fade">
                                      <p:cBhvr>
                                        <p:cTn id="142" dur="400"/>
                                        <p:tgtEl>
                                          <p:spTgt spid="51"/>
                                        </p:tgtEl>
                                      </p:cBhvr>
                                    </p:animEffect>
                                  </p:childTnLst>
                                </p:cTn>
                              </p:par>
                            </p:childTnLst>
                          </p:cTn>
                        </p:par>
                      </p:childTnLst>
                    </p:cTn>
                  </p:par>
                  <p:par>
                    <p:cTn id="163" fill="hold">
                      <p:stCondLst>
                        <p:cond delay="indefinite"/>
                      </p:stCondLst>
                      <p:childTnLst>
                        <p:par>
                          <p:cTn id="164" fill="hold">
                            <p:stCondLst>
                              <p:cond delay="0"/>
                            </p:stCondLst>
                            <p:childTnLst>
                              <p:par>
                                <p:cTn id="145" presetID="10" presetClass="entr" presetSubtype="0" fill="hold" grpId="0" nodeType="clickEffect">
                                  <p:stCondLst>
                                    <p:cond delay="0"/>
                                  </p:stCondLst>
                                  <p:childTnLst>
                                    <p:set>
                                      <p:cBhvr>
                                        <p:cTn id="146" dur="1" fill="hold">
                                          <p:stCondLst>
                                            <p:cond delay="0"/>
                                          </p:stCondLst>
                                        </p:cTn>
                                        <p:tgtEl>
                                          <p:spTgt spid="52"/>
                                        </p:tgtEl>
                                        <p:attrNameLst>
                                          <p:attrName>style.visibility</p:attrName>
                                        </p:attrNameLst>
                                      </p:cBhvr>
                                      <p:to>
                                        <p:strVal val="visible"/>
                                      </p:to>
                                    </p:set>
                                    <p:animEffect transition="in" filter="fade">
                                      <p:cBhvr>
                                        <p:cTn id="147" dur="400"/>
                                        <p:tgtEl>
                                          <p:spTgt spid="52"/>
                                        </p:tgtEl>
                                      </p:cBhvr>
                                    </p:animEffect>
                                  </p:childTnLst>
                                </p:cTn>
                              </p:par>
                              <p:par>
                                <p:cTn id="148" presetID="10" presetClass="entr" presetSubtype="0" fill="hold" nodeType="withEffect">
                                  <p:stCondLst>
                                    <p:cond delay="0"/>
                                  </p:stCondLst>
                                  <p:childTnLst>
                                    <p:set>
                                      <p:cBhvr>
                                        <p:cTn id="149" dur="1" fill="hold">
                                          <p:stCondLst>
                                            <p:cond delay="0"/>
                                          </p:stCondLst>
                                        </p:cTn>
                                        <p:tgtEl>
                                          <p:spTgt spid="53"/>
                                        </p:tgtEl>
                                        <p:attrNameLst>
                                          <p:attrName>style.visibility</p:attrName>
                                        </p:attrNameLst>
                                      </p:cBhvr>
                                      <p:to>
                                        <p:strVal val="visible"/>
                                      </p:to>
                                    </p:set>
                                    <p:animEffect transition="in" filter="fade">
                                      <p:cBhvr>
                                        <p:cTn id="150" dur="400"/>
                                        <p:tgtEl>
                                          <p:spTgt spid="53"/>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4"/>
                                        </p:tgtEl>
                                        <p:attrNameLst>
                                          <p:attrName>style.visibility</p:attrName>
                                        </p:attrNameLst>
                                      </p:cBhvr>
                                      <p:to>
                                        <p:strVal val="visible"/>
                                      </p:to>
                                    </p:set>
                                    <p:animEffect transition="in" filter="fade">
                                      <p:cBhvr>
                                        <p:cTn id="153" dur="400"/>
                                        <p:tgtEl>
                                          <p:spTgt spid="54"/>
                                        </p:tgtEl>
                                      </p:cBhvr>
                                    </p:animEffect>
                                  </p:childTnLst>
                                </p:cTn>
                              </p:par>
                              <p:par>
                                <p:cTn id="154" presetID="10" presetClass="entr" presetSubtype="0" fill="hold" nodeType="withEffect">
                                  <p:stCondLst>
                                    <p:cond delay="0"/>
                                  </p:stCondLst>
                                  <p:childTnLst>
                                    <p:set>
                                      <p:cBhvr>
                                        <p:cTn id="155" dur="1" fill="hold">
                                          <p:stCondLst>
                                            <p:cond delay="0"/>
                                          </p:stCondLst>
                                        </p:cTn>
                                        <p:tgtEl>
                                          <p:spTgt spid="55"/>
                                        </p:tgtEl>
                                        <p:attrNameLst>
                                          <p:attrName>style.visibility</p:attrName>
                                        </p:attrNameLst>
                                      </p:cBhvr>
                                      <p:to>
                                        <p:strVal val="visible"/>
                                      </p:to>
                                    </p:set>
                                    <p:animEffect transition="in" filter="fade">
                                      <p:cBhvr>
                                        <p:cTn id="156" dur="400"/>
                                        <p:tgtEl>
                                          <p:spTgt spid="55"/>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56"/>
                                        </p:tgtEl>
                                        <p:attrNameLst>
                                          <p:attrName>style.visibility</p:attrName>
                                        </p:attrNameLst>
                                      </p:cBhvr>
                                      <p:to>
                                        <p:strVal val="visible"/>
                                      </p:to>
                                    </p:set>
                                    <p:animEffect transition="in" filter="fade">
                                      <p:cBhvr>
                                        <p:cTn id="159" dur="400"/>
                                        <p:tgtEl>
                                          <p:spTgt spid="56"/>
                                        </p:tgtEl>
                                      </p:cBhvr>
                                    </p:animEffect>
                                  </p:childTnLst>
                                </p:cTn>
                              </p:par>
                              <p:par>
                                <p:cTn id="160" presetID="10" presetClass="entr" presetSubtype="0" fill="hold" nodeType="withEffect">
                                  <p:stCondLst>
                                    <p:cond delay="0"/>
                                  </p:stCondLst>
                                  <p:childTnLst>
                                    <p:set>
                                      <p:cBhvr>
                                        <p:cTn id="161" dur="1" fill="hold">
                                          <p:stCondLst>
                                            <p:cond delay="0"/>
                                          </p:stCondLst>
                                        </p:cTn>
                                        <p:tgtEl>
                                          <p:spTgt spid="57"/>
                                        </p:tgtEl>
                                        <p:attrNameLst>
                                          <p:attrName>style.visibility</p:attrName>
                                        </p:attrNameLst>
                                      </p:cBhvr>
                                      <p:to>
                                        <p:strVal val="visible"/>
                                      </p:to>
                                    </p:set>
                                    <p:animEffect transition="in" filter="fade">
                                      <p:cBhvr>
                                        <p:cTn id="162" dur="400"/>
                                        <p:tgtEl>
                                          <p:spTgt spid="57"/>
                                        </p:tgtEl>
                                      </p:cBhvr>
                                    </p:animEffect>
                                  </p:childTnLst>
                                </p:cTn>
                              </p:par>
                            </p:childTnLst>
                          </p:cTn>
                        </p:par>
                      </p:childTnLst>
                    </p:cTn>
                  </p:par>
                  <p:par>
                    <p:cTn id="192" fill="hold">
                      <p:stCondLst>
                        <p:cond delay="indefinite"/>
                      </p:stCondLst>
                      <p:childTnLst>
                        <p:par>
                          <p:cTn id="193" fill="hold">
                            <p:stCondLst>
                              <p:cond delay="0"/>
                            </p:stCondLst>
                            <p:childTnLst>
                              <p:par>
                                <p:cTn id="165" presetID="10" presetClass="entr" presetSubtype="0" fill="hold" grpId="0" nodeType="clickEffect">
                                  <p:stCondLst>
                                    <p:cond delay="0"/>
                                  </p:stCondLst>
                                  <p:childTnLst>
                                    <p:set>
                                      <p:cBhvr>
                                        <p:cTn id="166" dur="1" fill="hold">
                                          <p:stCondLst>
                                            <p:cond delay="0"/>
                                          </p:stCondLst>
                                        </p:cTn>
                                        <p:tgtEl>
                                          <p:spTgt spid="58"/>
                                        </p:tgtEl>
                                        <p:attrNameLst>
                                          <p:attrName>style.visibility</p:attrName>
                                        </p:attrNameLst>
                                      </p:cBhvr>
                                      <p:to>
                                        <p:strVal val="visible"/>
                                      </p:to>
                                    </p:set>
                                    <p:animEffect transition="in" filter="fade">
                                      <p:cBhvr>
                                        <p:cTn id="167" dur="400"/>
                                        <p:tgtEl>
                                          <p:spTgt spid="58"/>
                                        </p:tgtEl>
                                      </p:cBhvr>
                                    </p:animEffect>
                                  </p:childTnLst>
                                </p:cTn>
                              </p:par>
                              <p:par>
                                <p:cTn id="168" presetID="10" presetClass="entr" presetSubtype="0" fill="hold" nodeType="withEffect">
                                  <p:stCondLst>
                                    <p:cond delay="0"/>
                                  </p:stCondLst>
                                  <p:childTnLst>
                                    <p:set>
                                      <p:cBhvr>
                                        <p:cTn id="169" dur="1" fill="hold">
                                          <p:stCondLst>
                                            <p:cond delay="0"/>
                                          </p:stCondLst>
                                        </p:cTn>
                                        <p:tgtEl>
                                          <p:spTgt spid="59"/>
                                        </p:tgtEl>
                                        <p:attrNameLst>
                                          <p:attrName>style.visibility</p:attrName>
                                        </p:attrNameLst>
                                      </p:cBhvr>
                                      <p:to>
                                        <p:strVal val="visible"/>
                                      </p:to>
                                    </p:set>
                                    <p:animEffect transition="in" filter="fade">
                                      <p:cBhvr>
                                        <p:cTn id="170" dur="400"/>
                                        <p:tgtEl>
                                          <p:spTgt spid="59"/>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60"/>
                                        </p:tgtEl>
                                        <p:attrNameLst>
                                          <p:attrName>style.visibility</p:attrName>
                                        </p:attrNameLst>
                                      </p:cBhvr>
                                      <p:to>
                                        <p:strVal val="visible"/>
                                      </p:to>
                                    </p:set>
                                    <p:animEffect transition="in" filter="fade">
                                      <p:cBhvr>
                                        <p:cTn id="173" dur="400"/>
                                        <p:tgtEl>
                                          <p:spTgt spid="60"/>
                                        </p:tgtEl>
                                      </p:cBhvr>
                                    </p:animEffect>
                                  </p:childTnLst>
                                </p:cTn>
                              </p:par>
                              <p:par>
                                <p:cTn id="174" presetID="10" presetClass="entr" presetSubtype="0" fill="hold" nodeType="withEffect">
                                  <p:stCondLst>
                                    <p:cond delay="0"/>
                                  </p:stCondLst>
                                  <p:childTnLst>
                                    <p:set>
                                      <p:cBhvr>
                                        <p:cTn id="175" dur="1" fill="hold">
                                          <p:stCondLst>
                                            <p:cond delay="0"/>
                                          </p:stCondLst>
                                        </p:cTn>
                                        <p:tgtEl>
                                          <p:spTgt spid="61"/>
                                        </p:tgtEl>
                                        <p:attrNameLst>
                                          <p:attrName>style.visibility</p:attrName>
                                        </p:attrNameLst>
                                      </p:cBhvr>
                                      <p:to>
                                        <p:strVal val="visible"/>
                                      </p:to>
                                    </p:set>
                                    <p:animEffect transition="in" filter="fade">
                                      <p:cBhvr>
                                        <p:cTn id="176" dur="400"/>
                                        <p:tgtEl>
                                          <p:spTgt spid="61"/>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62"/>
                                        </p:tgtEl>
                                        <p:attrNameLst>
                                          <p:attrName>style.visibility</p:attrName>
                                        </p:attrNameLst>
                                      </p:cBhvr>
                                      <p:to>
                                        <p:strVal val="visible"/>
                                      </p:to>
                                    </p:set>
                                    <p:animEffect transition="in" filter="fade">
                                      <p:cBhvr>
                                        <p:cTn id="179" dur="400"/>
                                        <p:tgtEl>
                                          <p:spTgt spid="62"/>
                                        </p:tgtEl>
                                      </p:cBhvr>
                                    </p:animEffect>
                                  </p:childTnLst>
                                </p:cTn>
                              </p:par>
                              <p:par>
                                <p:cTn id="180" presetID="10" presetClass="entr" presetSubtype="0" fill="hold" nodeType="withEffect">
                                  <p:stCondLst>
                                    <p:cond delay="0"/>
                                  </p:stCondLst>
                                  <p:childTnLst>
                                    <p:set>
                                      <p:cBhvr>
                                        <p:cTn id="181" dur="1" fill="hold">
                                          <p:stCondLst>
                                            <p:cond delay="0"/>
                                          </p:stCondLst>
                                        </p:cTn>
                                        <p:tgtEl>
                                          <p:spTgt spid="63"/>
                                        </p:tgtEl>
                                        <p:attrNameLst>
                                          <p:attrName>style.visibility</p:attrName>
                                        </p:attrNameLst>
                                      </p:cBhvr>
                                      <p:to>
                                        <p:strVal val="visible"/>
                                      </p:to>
                                    </p:set>
                                    <p:animEffect transition="in" filter="fade">
                                      <p:cBhvr>
                                        <p:cTn id="182" dur="400"/>
                                        <p:tgtEl>
                                          <p:spTgt spid="63"/>
                                        </p:tgtEl>
                                      </p:cBhvr>
                                    </p:animEffect>
                                  </p:childTnLst>
                                </p:cTn>
                              </p:par>
                              <p:par>
                                <p:cTn id="183" presetID="10" presetClass="entr" presetSubtype="0" fill="hold" nodeType="withEffect">
                                  <p:stCondLst>
                                    <p:cond delay="0"/>
                                  </p:stCondLst>
                                  <p:childTnLst>
                                    <p:set>
                                      <p:cBhvr>
                                        <p:cTn id="184" dur="1" fill="hold">
                                          <p:stCondLst>
                                            <p:cond delay="0"/>
                                          </p:stCondLst>
                                        </p:cTn>
                                        <p:tgtEl>
                                          <p:spTgt spid="64"/>
                                        </p:tgtEl>
                                        <p:attrNameLst>
                                          <p:attrName>style.visibility</p:attrName>
                                        </p:attrNameLst>
                                      </p:cBhvr>
                                      <p:to>
                                        <p:strVal val="visible"/>
                                      </p:to>
                                    </p:set>
                                    <p:animEffect transition="in" filter="fade">
                                      <p:cBhvr>
                                        <p:cTn id="185" dur="400"/>
                                        <p:tgtEl>
                                          <p:spTgt spid="64"/>
                                        </p:tgtEl>
                                      </p:cBhvr>
                                    </p:animEffect>
                                  </p:childTnLst>
                                </p:cTn>
                              </p:par>
                              <p:par>
                                <p:cTn id="186" presetID="10" presetClass="entr" presetSubtype="0" fill="hold" grpId="0" nodeType="withEffect">
                                  <p:stCondLst>
                                    <p:cond delay="0"/>
                                  </p:stCondLst>
                                  <p:childTnLst>
                                    <p:set>
                                      <p:cBhvr>
                                        <p:cTn id="187" dur="1" fill="hold">
                                          <p:stCondLst>
                                            <p:cond delay="0"/>
                                          </p:stCondLst>
                                        </p:cTn>
                                        <p:tgtEl>
                                          <p:spTgt spid="65"/>
                                        </p:tgtEl>
                                        <p:attrNameLst>
                                          <p:attrName>style.visibility</p:attrName>
                                        </p:attrNameLst>
                                      </p:cBhvr>
                                      <p:to>
                                        <p:strVal val="visible"/>
                                      </p:to>
                                    </p:set>
                                    <p:animEffect transition="in" filter="fade">
                                      <p:cBhvr>
                                        <p:cTn id="188" dur="400"/>
                                        <p:tgtEl>
                                          <p:spTgt spid="65"/>
                                        </p:tgtEl>
                                      </p:cBhvr>
                                    </p:animEffect>
                                  </p:childTnLst>
                                </p:cTn>
                              </p:par>
                              <p:par>
                                <p:cTn id="189" presetID="10" presetClass="entr" presetSubtype="0" fill="hold" nodeType="withEffect">
                                  <p:stCondLst>
                                    <p:cond delay="0"/>
                                  </p:stCondLst>
                                  <p:childTnLst>
                                    <p:set>
                                      <p:cBhvr>
                                        <p:cTn id="190" dur="1" fill="hold">
                                          <p:stCondLst>
                                            <p:cond delay="0"/>
                                          </p:stCondLst>
                                        </p:cTn>
                                        <p:tgtEl>
                                          <p:spTgt spid="66"/>
                                        </p:tgtEl>
                                        <p:attrNameLst>
                                          <p:attrName>style.visibility</p:attrName>
                                        </p:attrNameLst>
                                      </p:cBhvr>
                                      <p:to>
                                        <p:strVal val="visible"/>
                                      </p:to>
                                    </p:set>
                                    <p:animEffect transition="in" filter="fade">
                                      <p:cBhvr>
                                        <p:cTn id="191" dur="400"/>
                                        <p:tgtEl>
                                          <p:spTgt spid="66"/>
                                        </p:tgtEl>
                                      </p:cBhvr>
                                    </p:animEffect>
                                  </p:childTnLst>
                                </p:cTn>
                              </p:par>
                            </p:childTnLst>
                          </p:cTn>
                        </p:par>
                      </p:childTnLst>
                    </p:cTn>
                  </p:par>
                  <p:par>
                    <p:cTn id="227" fill="hold">
                      <p:stCondLst>
                        <p:cond delay="indefinite"/>
                      </p:stCondLst>
                      <p:childTnLst>
                        <p:par>
                          <p:cTn id="228" fill="hold">
                            <p:stCondLst>
                              <p:cond delay="0"/>
                            </p:stCondLst>
                            <p:childTnLst>
                              <p:par>
                                <p:cTn id="194" presetID="10" presetClass="entr" presetSubtype="0" fill="hold" grpId="0" nodeType="clickEffect">
                                  <p:stCondLst>
                                    <p:cond delay="0"/>
                                  </p:stCondLst>
                                  <p:childTnLst>
                                    <p:set>
                                      <p:cBhvr>
                                        <p:cTn id="195" dur="1" fill="hold">
                                          <p:stCondLst>
                                            <p:cond delay="0"/>
                                          </p:stCondLst>
                                        </p:cTn>
                                        <p:tgtEl>
                                          <p:spTgt spid="67"/>
                                        </p:tgtEl>
                                        <p:attrNameLst>
                                          <p:attrName>style.visibility</p:attrName>
                                        </p:attrNameLst>
                                      </p:cBhvr>
                                      <p:to>
                                        <p:strVal val="visible"/>
                                      </p:to>
                                    </p:set>
                                    <p:animEffect transition="in" filter="fade">
                                      <p:cBhvr>
                                        <p:cTn id="196" dur="400"/>
                                        <p:tgtEl>
                                          <p:spTgt spid="67"/>
                                        </p:tgtEl>
                                      </p:cBhvr>
                                    </p:animEffect>
                                  </p:childTnLst>
                                </p:cTn>
                              </p:par>
                              <p:par>
                                <p:cTn id="197" presetID="10" presetClass="entr" presetSubtype="0" fill="hold" nodeType="withEffect">
                                  <p:stCondLst>
                                    <p:cond delay="0"/>
                                  </p:stCondLst>
                                  <p:childTnLst>
                                    <p:set>
                                      <p:cBhvr>
                                        <p:cTn id="198" dur="1" fill="hold">
                                          <p:stCondLst>
                                            <p:cond delay="0"/>
                                          </p:stCondLst>
                                        </p:cTn>
                                        <p:tgtEl>
                                          <p:spTgt spid="68"/>
                                        </p:tgtEl>
                                        <p:attrNameLst>
                                          <p:attrName>style.visibility</p:attrName>
                                        </p:attrNameLst>
                                      </p:cBhvr>
                                      <p:to>
                                        <p:strVal val="visible"/>
                                      </p:to>
                                    </p:set>
                                    <p:animEffect transition="in" filter="fade">
                                      <p:cBhvr>
                                        <p:cTn id="199" dur="400"/>
                                        <p:tgtEl>
                                          <p:spTgt spid="68"/>
                                        </p:tgtEl>
                                      </p:cBhvr>
                                    </p:animEffect>
                                  </p:childTnLst>
                                </p:cTn>
                              </p:par>
                              <p:par>
                                <p:cTn id="200" presetID="10" presetClass="entr" presetSubtype="0" fill="hold" grpId="0" nodeType="withEffect">
                                  <p:stCondLst>
                                    <p:cond delay="0"/>
                                  </p:stCondLst>
                                  <p:childTnLst>
                                    <p:set>
                                      <p:cBhvr>
                                        <p:cTn id="201" dur="1" fill="hold">
                                          <p:stCondLst>
                                            <p:cond delay="0"/>
                                          </p:stCondLst>
                                        </p:cTn>
                                        <p:tgtEl>
                                          <p:spTgt spid="69"/>
                                        </p:tgtEl>
                                        <p:attrNameLst>
                                          <p:attrName>style.visibility</p:attrName>
                                        </p:attrNameLst>
                                      </p:cBhvr>
                                      <p:to>
                                        <p:strVal val="visible"/>
                                      </p:to>
                                    </p:set>
                                    <p:animEffect transition="in" filter="fade">
                                      <p:cBhvr>
                                        <p:cTn id="202" dur="400"/>
                                        <p:tgtEl>
                                          <p:spTgt spid="69"/>
                                        </p:tgtEl>
                                      </p:cBhvr>
                                    </p:animEffect>
                                  </p:childTnLst>
                                </p:cTn>
                              </p:par>
                              <p:par>
                                <p:cTn id="203" presetID="10" presetClass="entr" presetSubtype="0" fill="hold" nodeType="withEffect">
                                  <p:stCondLst>
                                    <p:cond delay="0"/>
                                  </p:stCondLst>
                                  <p:childTnLst>
                                    <p:set>
                                      <p:cBhvr>
                                        <p:cTn id="204" dur="1" fill="hold">
                                          <p:stCondLst>
                                            <p:cond delay="0"/>
                                          </p:stCondLst>
                                        </p:cTn>
                                        <p:tgtEl>
                                          <p:spTgt spid="70"/>
                                        </p:tgtEl>
                                        <p:attrNameLst>
                                          <p:attrName>style.visibility</p:attrName>
                                        </p:attrNameLst>
                                      </p:cBhvr>
                                      <p:to>
                                        <p:strVal val="visible"/>
                                      </p:to>
                                    </p:set>
                                    <p:animEffect transition="in" filter="fade">
                                      <p:cBhvr>
                                        <p:cTn id="205" dur="400"/>
                                        <p:tgtEl>
                                          <p:spTgt spid="70"/>
                                        </p:tgtEl>
                                      </p:cBhvr>
                                    </p:animEffect>
                                  </p:childTnLst>
                                </p:cTn>
                              </p:par>
                              <p:par>
                                <p:cTn id="206" presetID="10" presetClass="entr" presetSubtype="0" fill="hold" grpId="0" nodeType="withEffect">
                                  <p:stCondLst>
                                    <p:cond delay="0"/>
                                  </p:stCondLst>
                                  <p:childTnLst>
                                    <p:set>
                                      <p:cBhvr>
                                        <p:cTn id="207" dur="1" fill="hold">
                                          <p:stCondLst>
                                            <p:cond delay="0"/>
                                          </p:stCondLst>
                                        </p:cTn>
                                        <p:tgtEl>
                                          <p:spTgt spid="71"/>
                                        </p:tgtEl>
                                        <p:attrNameLst>
                                          <p:attrName>style.visibility</p:attrName>
                                        </p:attrNameLst>
                                      </p:cBhvr>
                                      <p:to>
                                        <p:strVal val="visible"/>
                                      </p:to>
                                    </p:set>
                                    <p:animEffect transition="in" filter="fade">
                                      <p:cBhvr>
                                        <p:cTn id="208" dur="400"/>
                                        <p:tgtEl>
                                          <p:spTgt spid="71"/>
                                        </p:tgtEl>
                                      </p:cBhvr>
                                    </p:animEffect>
                                  </p:childTnLst>
                                </p:cTn>
                              </p:par>
                              <p:par>
                                <p:cTn id="209" presetID="10" presetClass="entr" presetSubtype="0" fill="hold" nodeType="withEffect">
                                  <p:stCondLst>
                                    <p:cond delay="0"/>
                                  </p:stCondLst>
                                  <p:childTnLst>
                                    <p:set>
                                      <p:cBhvr>
                                        <p:cTn id="210" dur="1" fill="hold">
                                          <p:stCondLst>
                                            <p:cond delay="0"/>
                                          </p:stCondLst>
                                        </p:cTn>
                                        <p:tgtEl>
                                          <p:spTgt spid="72"/>
                                        </p:tgtEl>
                                        <p:attrNameLst>
                                          <p:attrName>style.visibility</p:attrName>
                                        </p:attrNameLst>
                                      </p:cBhvr>
                                      <p:to>
                                        <p:strVal val="visible"/>
                                      </p:to>
                                    </p:set>
                                    <p:animEffect transition="in" filter="fade">
                                      <p:cBhvr>
                                        <p:cTn id="211" dur="400"/>
                                        <p:tgtEl>
                                          <p:spTgt spid="72"/>
                                        </p:tgtEl>
                                      </p:cBhvr>
                                    </p:animEffect>
                                  </p:childTnLst>
                                </p:cTn>
                              </p:par>
                              <p:par>
                                <p:cTn id="212" presetID="10" presetClass="entr" presetSubtype="0" fill="hold" grpId="0" nodeType="withEffect">
                                  <p:stCondLst>
                                    <p:cond delay="0"/>
                                  </p:stCondLst>
                                  <p:childTnLst>
                                    <p:set>
                                      <p:cBhvr>
                                        <p:cTn id="213" dur="1" fill="hold">
                                          <p:stCondLst>
                                            <p:cond delay="0"/>
                                          </p:stCondLst>
                                        </p:cTn>
                                        <p:tgtEl>
                                          <p:spTgt spid="73"/>
                                        </p:tgtEl>
                                        <p:attrNameLst>
                                          <p:attrName>style.visibility</p:attrName>
                                        </p:attrNameLst>
                                      </p:cBhvr>
                                      <p:to>
                                        <p:strVal val="visible"/>
                                      </p:to>
                                    </p:set>
                                    <p:animEffect transition="in" filter="fade">
                                      <p:cBhvr>
                                        <p:cTn id="214" dur="400"/>
                                        <p:tgtEl>
                                          <p:spTgt spid="73"/>
                                        </p:tgtEl>
                                      </p:cBhvr>
                                    </p:animEffect>
                                  </p:childTnLst>
                                </p:cTn>
                              </p:par>
                              <p:par>
                                <p:cTn id="215" presetID="10" presetClass="entr" presetSubtype="0" fill="hold" nodeType="withEffect">
                                  <p:stCondLst>
                                    <p:cond delay="0"/>
                                  </p:stCondLst>
                                  <p:childTnLst>
                                    <p:set>
                                      <p:cBhvr>
                                        <p:cTn id="216" dur="1" fill="hold">
                                          <p:stCondLst>
                                            <p:cond delay="0"/>
                                          </p:stCondLst>
                                        </p:cTn>
                                        <p:tgtEl>
                                          <p:spTgt spid="74"/>
                                        </p:tgtEl>
                                        <p:attrNameLst>
                                          <p:attrName>style.visibility</p:attrName>
                                        </p:attrNameLst>
                                      </p:cBhvr>
                                      <p:to>
                                        <p:strVal val="visible"/>
                                      </p:to>
                                    </p:set>
                                    <p:animEffect transition="in" filter="fade">
                                      <p:cBhvr>
                                        <p:cTn id="217" dur="400"/>
                                        <p:tgtEl>
                                          <p:spTgt spid="74"/>
                                        </p:tgtEl>
                                      </p:cBhvr>
                                    </p:animEffect>
                                  </p:childTnLst>
                                </p:cTn>
                              </p:par>
                              <p:par>
                                <p:cTn id="218" presetID="10" presetClass="entr" presetSubtype="0" fill="hold" nodeType="withEffect">
                                  <p:stCondLst>
                                    <p:cond delay="0"/>
                                  </p:stCondLst>
                                  <p:childTnLst>
                                    <p:set>
                                      <p:cBhvr>
                                        <p:cTn id="219" dur="1" fill="hold">
                                          <p:stCondLst>
                                            <p:cond delay="0"/>
                                          </p:stCondLst>
                                        </p:cTn>
                                        <p:tgtEl>
                                          <p:spTgt spid="75"/>
                                        </p:tgtEl>
                                        <p:attrNameLst>
                                          <p:attrName>style.visibility</p:attrName>
                                        </p:attrNameLst>
                                      </p:cBhvr>
                                      <p:to>
                                        <p:strVal val="visible"/>
                                      </p:to>
                                    </p:set>
                                    <p:animEffect transition="in" filter="fade">
                                      <p:cBhvr>
                                        <p:cTn id="220" dur="400"/>
                                        <p:tgtEl>
                                          <p:spTgt spid="75"/>
                                        </p:tgtEl>
                                      </p:cBhvr>
                                    </p:animEffect>
                                  </p:childTnLst>
                                </p:cTn>
                              </p:par>
                              <p:par>
                                <p:cTn id="221" presetID="10" presetClass="entr" presetSubtype="0" fill="hold" grpId="0" nodeType="withEffect">
                                  <p:stCondLst>
                                    <p:cond delay="0"/>
                                  </p:stCondLst>
                                  <p:childTnLst>
                                    <p:set>
                                      <p:cBhvr>
                                        <p:cTn id="222" dur="1" fill="hold">
                                          <p:stCondLst>
                                            <p:cond delay="0"/>
                                          </p:stCondLst>
                                        </p:cTn>
                                        <p:tgtEl>
                                          <p:spTgt spid="76"/>
                                        </p:tgtEl>
                                        <p:attrNameLst>
                                          <p:attrName>style.visibility</p:attrName>
                                        </p:attrNameLst>
                                      </p:cBhvr>
                                      <p:to>
                                        <p:strVal val="visible"/>
                                      </p:to>
                                    </p:set>
                                    <p:animEffect transition="in" filter="fade">
                                      <p:cBhvr>
                                        <p:cTn id="223" dur="400"/>
                                        <p:tgtEl>
                                          <p:spTgt spid="76"/>
                                        </p:tgtEl>
                                      </p:cBhvr>
                                    </p:animEffect>
                                  </p:childTnLst>
                                </p:cTn>
                              </p:par>
                              <p:par>
                                <p:cTn id="224" presetID="10" presetClass="entr" presetSubtype="0" fill="hold" nodeType="withEffect">
                                  <p:stCondLst>
                                    <p:cond delay="0"/>
                                  </p:stCondLst>
                                  <p:childTnLst>
                                    <p:set>
                                      <p:cBhvr>
                                        <p:cTn id="225" dur="1" fill="hold">
                                          <p:stCondLst>
                                            <p:cond delay="0"/>
                                          </p:stCondLst>
                                        </p:cTn>
                                        <p:tgtEl>
                                          <p:spTgt spid="77"/>
                                        </p:tgtEl>
                                        <p:attrNameLst>
                                          <p:attrName>style.visibility</p:attrName>
                                        </p:attrNameLst>
                                      </p:cBhvr>
                                      <p:to>
                                        <p:strVal val="visible"/>
                                      </p:to>
                                    </p:set>
                                    <p:animEffect transition="in" filter="fade">
                                      <p:cBhvr>
                                        <p:cTn id="226" dur="400"/>
                                        <p:tgtEl>
                                          <p:spTgt spid="77"/>
                                        </p:tgtEl>
                                      </p:cBhvr>
                                    </p:animEffect>
                                  </p:childTnLst>
                                </p:cTn>
                              </p:par>
                            </p:childTnLst>
                          </p:cTn>
                        </p:par>
                      </p:childTnLst>
                    </p:cTn>
                  </p:par>
                  <p:par>
                    <p:cTn id="280" fill="hold">
                      <p:stCondLst>
                        <p:cond delay="indefinite"/>
                      </p:stCondLst>
                      <p:childTnLst>
                        <p:par>
                          <p:cTn id="281" fill="hold">
                            <p:stCondLst>
                              <p:cond delay="0"/>
                            </p:stCondLst>
                            <p:childTnLst>
                              <p:par>
                                <p:cTn id="229" presetID="10" presetClass="entr" presetSubtype="0" fill="hold" grpId="0" nodeType="clickEffect">
                                  <p:stCondLst>
                                    <p:cond delay="0"/>
                                  </p:stCondLst>
                                  <p:childTnLst>
                                    <p:set>
                                      <p:cBhvr>
                                        <p:cTn id="230" dur="1" fill="hold">
                                          <p:stCondLst>
                                            <p:cond delay="0"/>
                                          </p:stCondLst>
                                        </p:cTn>
                                        <p:tgtEl>
                                          <p:spTgt spid="78"/>
                                        </p:tgtEl>
                                        <p:attrNameLst>
                                          <p:attrName>style.visibility</p:attrName>
                                        </p:attrNameLst>
                                      </p:cBhvr>
                                      <p:to>
                                        <p:strVal val="visible"/>
                                      </p:to>
                                    </p:set>
                                    <p:animEffect transition="in" filter="fade">
                                      <p:cBhvr>
                                        <p:cTn id="231" dur="400"/>
                                        <p:tgtEl>
                                          <p:spTgt spid="78"/>
                                        </p:tgtEl>
                                      </p:cBhvr>
                                    </p:animEffect>
                                  </p:childTnLst>
                                </p:cTn>
                              </p:par>
                              <p:par>
                                <p:cTn id="232" presetID="10" presetClass="entr" presetSubtype="0" fill="hold" nodeType="withEffect">
                                  <p:stCondLst>
                                    <p:cond delay="0"/>
                                  </p:stCondLst>
                                  <p:childTnLst>
                                    <p:set>
                                      <p:cBhvr>
                                        <p:cTn id="233" dur="1" fill="hold">
                                          <p:stCondLst>
                                            <p:cond delay="0"/>
                                          </p:stCondLst>
                                        </p:cTn>
                                        <p:tgtEl>
                                          <p:spTgt spid="79"/>
                                        </p:tgtEl>
                                        <p:attrNameLst>
                                          <p:attrName>style.visibility</p:attrName>
                                        </p:attrNameLst>
                                      </p:cBhvr>
                                      <p:to>
                                        <p:strVal val="visible"/>
                                      </p:to>
                                    </p:set>
                                    <p:animEffect transition="in" filter="fade">
                                      <p:cBhvr>
                                        <p:cTn id="234" dur="400"/>
                                        <p:tgtEl>
                                          <p:spTgt spid="79"/>
                                        </p:tgtEl>
                                      </p:cBhvr>
                                    </p:animEffect>
                                  </p:childTnLst>
                                </p:cTn>
                              </p:par>
                              <p:par>
                                <p:cTn id="235" presetID="10" presetClass="entr" presetSubtype="0" fill="hold" grpId="0" nodeType="withEffect">
                                  <p:stCondLst>
                                    <p:cond delay="0"/>
                                  </p:stCondLst>
                                  <p:childTnLst>
                                    <p:set>
                                      <p:cBhvr>
                                        <p:cTn id="236" dur="1" fill="hold">
                                          <p:stCondLst>
                                            <p:cond delay="0"/>
                                          </p:stCondLst>
                                        </p:cTn>
                                        <p:tgtEl>
                                          <p:spTgt spid="80"/>
                                        </p:tgtEl>
                                        <p:attrNameLst>
                                          <p:attrName>style.visibility</p:attrName>
                                        </p:attrNameLst>
                                      </p:cBhvr>
                                      <p:to>
                                        <p:strVal val="visible"/>
                                      </p:to>
                                    </p:set>
                                    <p:animEffect transition="in" filter="fade">
                                      <p:cBhvr>
                                        <p:cTn id="237" dur="400"/>
                                        <p:tgtEl>
                                          <p:spTgt spid="80"/>
                                        </p:tgtEl>
                                      </p:cBhvr>
                                    </p:animEffect>
                                  </p:childTnLst>
                                </p:cTn>
                              </p:par>
                              <p:par>
                                <p:cTn id="238" presetID="10" presetClass="entr" presetSubtype="0" fill="hold" nodeType="withEffect">
                                  <p:stCondLst>
                                    <p:cond delay="0"/>
                                  </p:stCondLst>
                                  <p:childTnLst>
                                    <p:set>
                                      <p:cBhvr>
                                        <p:cTn id="239" dur="1" fill="hold">
                                          <p:stCondLst>
                                            <p:cond delay="0"/>
                                          </p:stCondLst>
                                        </p:cTn>
                                        <p:tgtEl>
                                          <p:spTgt spid="81"/>
                                        </p:tgtEl>
                                        <p:attrNameLst>
                                          <p:attrName>style.visibility</p:attrName>
                                        </p:attrNameLst>
                                      </p:cBhvr>
                                      <p:to>
                                        <p:strVal val="visible"/>
                                      </p:to>
                                    </p:set>
                                    <p:animEffect transition="in" filter="fade">
                                      <p:cBhvr>
                                        <p:cTn id="240" dur="400"/>
                                        <p:tgtEl>
                                          <p:spTgt spid="81"/>
                                        </p:tgtEl>
                                      </p:cBhvr>
                                    </p:animEffect>
                                  </p:childTnLst>
                                </p:cTn>
                              </p:par>
                              <p:par>
                                <p:cTn id="241" presetID="10" presetClass="entr" presetSubtype="0" fill="hold" grpId="0" nodeType="withEffect">
                                  <p:stCondLst>
                                    <p:cond delay="0"/>
                                  </p:stCondLst>
                                  <p:childTnLst>
                                    <p:set>
                                      <p:cBhvr>
                                        <p:cTn id="242" dur="1" fill="hold">
                                          <p:stCondLst>
                                            <p:cond delay="0"/>
                                          </p:stCondLst>
                                        </p:cTn>
                                        <p:tgtEl>
                                          <p:spTgt spid="82"/>
                                        </p:tgtEl>
                                        <p:attrNameLst>
                                          <p:attrName>style.visibility</p:attrName>
                                        </p:attrNameLst>
                                      </p:cBhvr>
                                      <p:to>
                                        <p:strVal val="visible"/>
                                      </p:to>
                                    </p:set>
                                    <p:animEffect transition="in" filter="fade">
                                      <p:cBhvr>
                                        <p:cTn id="243" dur="400"/>
                                        <p:tgtEl>
                                          <p:spTgt spid="82"/>
                                        </p:tgtEl>
                                      </p:cBhvr>
                                    </p:animEffect>
                                  </p:childTnLst>
                                </p:cTn>
                              </p:par>
                              <p:par>
                                <p:cTn id="244" presetID="10" presetClass="entr" presetSubtype="0" fill="hold" nodeType="withEffect">
                                  <p:stCondLst>
                                    <p:cond delay="0"/>
                                  </p:stCondLst>
                                  <p:childTnLst>
                                    <p:set>
                                      <p:cBhvr>
                                        <p:cTn id="245" dur="1" fill="hold">
                                          <p:stCondLst>
                                            <p:cond delay="0"/>
                                          </p:stCondLst>
                                        </p:cTn>
                                        <p:tgtEl>
                                          <p:spTgt spid="83"/>
                                        </p:tgtEl>
                                        <p:attrNameLst>
                                          <p:attrName>style.visibility</p:attrName>
                                        </p:attrNameLst>
                                      </p:cBhvr>
                                      <p:to>
                                        <p:strVal val="visible"/>
                                      </p:to>
                                    </p:set>
                                    <p:animEffect transition="in" filter="fade">
                                      <p:cBhvr>
                                        <p:cTn id="246" dur="400"/>
                                        <p:tgtEl>
                                          <p:spTgt spid="83"/>
                                        </p:tgtEl>
                                      </p:cBhvr>
                                    </p:animEffect>
                                  </p:childTnLst>
                                </p:cTn>
                              </p:par>
                              <p:par>
                                <p:cTn id="247" presetID="10" presetClass="entr" presetSubtype="0" fill="hold" grpId="0" nodeType="withEffect">
                                  <p:stCondLst>
                                    <p:cond delay="0"/>
                                  </p:stCondLst>
                                  <p:childTnLst>
                                    <p:set>
                                      <p:cBhvr>
                                        <p:cTn id="248" dur="1" fill="hold">
                                          <p:stCondLst>
                                            <p:cond delay="0"/>
                                          </p:stCondLst>
                                        </p:cTn>
                                        <p:tgtEl>
                                          <p:spTgt spid="84"/>
                                        </p:tgtEl>
                                        <p:attrNameLst>
                                          <p:attrName>style.visibility</p:attrName>
                                        </p:attrNameLst>
                                      </p:cBhvr>
                                      <p:to>
                                        <p:strVal val="visible"/>
                                      </p:to>
                                    </p:set>
                                    <p:animEffect transition="in" filter="fade">
                                      <p:cBhvr>
                                        <p:cTn id="249" dur="400"/>
                                        <p:tgtEl>
                                          <p:spTgt spid="84"/>
                                        </p:tgtEl>
                                      </p:cBhvr>
                                    </p:animEffect>
                                  </p:childTnLst>
                                </p:cTn>
                              </p:par>
                              <p:par>
                                <p:cTn id="250" presetID="10" presetClass="entr" presetSubtype="0" fill="hold" nodeType="withEffect">
                                  <p:stCondLst>
                                    <p:cond delay="0"/>
                                  </p:stCondLst>
                                  <p:childTnLst>
                                    <p:set>
                                      <p:cBhvr>
                                        <p:cTn id="251" dur="1" fill="hold">
                                          <p:stCondLst>
                                            <p:cond delay="0"/>
                                          </p:stCondLst>
                                        </p:cTn>
                                        <p:tgtEl>
                                          <p:spTgt spid="85"/>
                                        </p:tgtEl>
                                        <p:attrNameLst>
                                          <p:attrName>style.visibility</p:attrName>
                                        </p:attrNameLst>
                                      </p:cBhvr>
                                      <p:to>
                                        <p:strVal val="visible"/>
                                      </p:to>
                                    </p:set>
                                    <p:animEffect transition="in" filter="fade">
                                      <p:cBhvr>
                                        <p:cTn id="252" dur="400"/>
                                        <p:tgtEl>
                                          <p:spTgt spid="85"/>
                                        </p:tgtEl>
                                      </p:cBhvr>
                                    </p:animEffect>
                                  </p:childTnLst>
                                </p:cTn>
                              </p:par>
                              <p:par>
                                <p:cTn id="253" presetID="10" presetClass="entr" presetSubtype="0" fill="hold" grpId="0" nodeType="withEffect">
                                  <p:stCondLst>
                                    <p:cond delay="0"/>
                                  </p:stCondLst>
                                  <p:childTnLst>
                                    <p:set>
                                      <p:cBhvr>
                                        <p:cTn id="254" dur="1" fill="hold">
                                          <p:stCondLst>
                                            <p:cond delay="0"/>
                                          </p:stCondLst>
                                        </p:cTn>
                                        <p:tgtEl>
                                          <p:spTgt spid="86"/>
                                        </p:tgtEl>
                                        <p:attrNameLst>
                                          <p:attrName>style.visibility</p:attrName>
                                        </p:attrNameLst>
                                      </p:cBhvr>
                                      <p:to>
                                        <p:strVal val="visible"/>
                                      </p:to>
                                    </p:set>
                                    <p:animEffect transition="in" filter="fade">
                                      <p:cBhvr>
                                        <p:cTn id="255" dur="400"/>
                                        <p:tgtEl>
                                          <p:spTgt spid="86"/>
                                        </p:tgtEl>
                                      </p:cBhvr>
                                    </p:animEffect>
                                  </p:childTnLst>
                                </p:cTn>
                              </p:par>
                              <p:par>
                                <p:cTn id="256" presetID="10" presetClass="entr" presetSubtype="0" fill="hold" nodeType="withEffect">
                                  <p:stCondLst>
                                    <p:cond delay="0"/>
                                  </p:stCondLst>
                                  <p:childTnLst>
                                    <p:set>
                                      <p:cBhvr>
                                        <p:cTn id="257" dur="1" fill="hold">
                                          <p:stCondLst>
                                            <p:cond delay="0"/>
                                          </p:stCondLst>
                                        </p:cTn>
                                        <p:tgtEl>
                                          <p:spTgt spid="87"/>
                                        </p:tgtEl>
                                        <p:attrNameLst>
                                          <p:attrName>style.visibility</p:attrName>
                                        </p:attrNameLst>
                                      </p:cBhvr>
                                      <p:to>
                                        <p:strVal val="visible"/>
                                      </p:to>
                                    </p:set>
                                    <p:animEffect transition="in" filter="fade">
                                      <p:cBhvr>
                                        <p:cTn id="258" dur="400"/>
                                        <p:tgtEl>
                                          <p:spTgt spid="87"/>
                                        </p:tgtEl>
                                      </p:cBhvr>
                                    </p:animEffect>
                                  </p:childTnLst>
                                </p:cTn>
                              </p:par>
                              <p:par>
                                <p:cTn id="259" presetID="10" presetClass="entr" presetSubtype="0" fill="hold" grpId="0" nodeType="withEffect">
                                  <p:stCondLst>
                                    <p:cond delay="0"/>
                                  </p:stCondLst>
                                  <p:childTnLst>
                                    <p:set>
                                      <p:cBhvr>
                                        <p:cTn id="260" dur="1" fill="hold">
                                          <p:stCondLst>
                                            <p:cond delay="0"/>
                                          </p:stCondLst>
                                        </p:cTn>
                                        <p:tgtEl>
                                          <p:spTgt spid="88"/>
                                        </p:tgtEl>
                                        <p:attrNameLst>
                                          <p:attrName>style.visibility</p:attrName>
                                        </p:attrNameLst>
                                      </p:cBhvr>
                                      <p:to>
                                        <p:strVal val="visible"/>
                                      </p:to>
                                    </p:set>
                                    <p:animEffect transition="in" filter="fade">
                                      <p:cBhvr>
                                        <p:cTn id="261" dur="400"/>
                                        <p:tgtEl>
                                          <p:spTgt spid="88"/>
                                        </p:tgtEl>
                                      </p:cBhvr>
                                    </p:animEffect>
                                  </p:childTnLst>
                                </p:cTn>
                              </p:par>
                              <p:par>
                                <p:cTn id="262" presetID="10" presetClass="entr" presetSubtype="0" fill="hold" nodeType="withEffect">
                                  <p:stCondLst>
                                    <p:cond delay="0"/>
                                  </p:stCondLst>
                                  <p:childTnLst>
                                    <p:set>
                                      <p:cBhvr>
                                        <p:cTn id="263" dur="1" fill="hold">
                                          <p:stCondLst>
                                            <p:cond delay="0"/>
                                          </p:stCondLst>
                                        </p:cTn>
                                        <p:tgtEl>
                                          <p:spTgt spid="89"/>
                                        </p:tgtEl>
                                        <p:attrNameLst>
                                          <p:attrName>style.visibility</p:attrName>
                                        </p:attrNameLst>
                                      </p:cBhvr>
                                      <p:to>
                                        <p:strVal val="visible"/>
                                      </p:to>
                                    </p:set>
                                    <p:animEffect transition="in" filter="fade">
                                      <p:cBhvr>
                                        <p:cTn id="264" dur="400"/>
                                        <p:tgtEl>
                                          <p:spTgt spid="89"/>
                                        </p:tgtEl>
                                      </p:cBhvr>
                                    </p:animEffect>
                                  </p:childTnLst>
                                </p:cTn>
                              </p:par>
                              <p:par>
                                <p:cTn id="265" presetID="10" presetClass="entr" presetSubtype="0" fill="hold" grpId="0" nodeType="withEffect">
                                  <p:stCondLst>
                                    <p:cond delay="0"/>
                                  </p:stCondLst>
                                  <p:childTnLst>
                                    <p:set>
                                      <p:cBhvr>
                                        <p:cTn id="266" dur="1" fill="hold">
                                          <p:stCondLst>
                                            <p:cond delay="0"/>
                                          </p:stCondLst>
                                        </p:cTn>
                                        <p:tgtEl>
                                          <p:spTgt spid="90"/>
                                        </p:tgtEl>
                                        <p:attrNameLst>
                                          <p:attrName>style.visibility</p:attrName>
                                        </p:attrNameLst>
                                      </p:cBhvr>
                                      <p:to>
                                        <p:strVal val="visible"/>
                                      </p:to>
                                    </p:set>
                                    <p:animEffect transition="in" filter="fade">
                                      <p:cBhvr>
                                        <p:cTn id="267" dur="400"/>
                                        <p:tgtEl>
                                          <p:spTgt spid="90"/>
                                        </p:tgtEl>
                                      </p:cBhvr>
                                    </p:animEffect>
                                  </p:childTnLst>
                                </p:cTn>
                              </p:par>
                              <p:par>
                                <p:cTn id="268" presetID="10" presetClass="entr" presetSubtype="0" fill="hold" nodeType="withEffect">
                                  <p:stCondLst>
                                    <p:cond delay="0"/>
                                  </p:stCondLst>
                                  <p:childTnLst>
                                    <p:set>
                                      <p:cBhvr>
                                        <p:cTn id="269" dur="1" fill="hold">
                                          <p:stCondLst>
                                            <p:cond delay="0"/>
                                          </p:stCondLst>
                                        </p:cTn>
                                        <p:tgtEl>
                                          <p:spTgt spid="91"/>
                                        </p:tgtEl>
                                        <p:attrNameLst>
                                          <p:attrName>style.visibility</p:attrName>
                                        </p:attrNameLst>
                                      </p:cBhvr>
                                      <p:to>
                                        <p:strVal val="visible"/>
                                      </p:to>
                                    </p:set>
                                    <p:animEffect transition="in" filter="fade">
                                      <p:cBhvr>
                                        <p:cTn id="270" dur="400"/>
                                        <p:tgtEl>
                                          <p:spTgt spid="91"/>
                                        </p:tgtEl>
                                      </p:cBhvr>
                                    </p:animEffect>
                                  </p:childTnLst>
                                </p:cTn>
                              </p:par>
                              <p:par>
                                <p:cTn id="271" presetID="10" presetClass="entr" presetSubtype="0" fill="hold" nodeType="withEffect">
                                  <p:stCondLst>
                                    <p:cond delay="0"/>
                                  </p:stCondLst>
                                  <p:childTnLst>
                                    <p:set>
                                      <p:cBhvr>
                                        <p:cTn id="272" dur="1" fill="hold">
                                          <p:stCondLst>
                                            <p:cond delay="0"/>
                                          </p:stCondLst>
                                        </p:cTn>
                                        <p:tgtEl>
                                          <p:spTgt spid="92"/>
                                        </p:tgtEl>
                                        <p:attrNameLst>
                                          <p:attrName>style.visibility</p:attrName>
                                        </p:attrNameLst>
                                      </p:cBhvr>
                                      <p:to>
                                        <p:strVal val="visible"/>
                                      </p:to>
                                    </p:set>
                                    <p:animEffect transition="in" filter="fade">
                                      <p:cBhvr>
                                        <p:cTn id="273" dur="400"/>
                                        <p:tgtEl>
                                          <p:spTgt spid="92"/>
                                        </p:tgtEl>
                                      </p:cBhvr>
                                    </p:animEffect>
                                  </p:childTnLst>
                                </p:cTn>
                              </p:par>
                              <p:par>
                                <p:cTn id="274" presetID="10" presetClass="entr" presetSubtype="0" fill="hold" grpId="0" nodeType="withEffect">
                                  <p:stCondLst>
                                    <p:cond delay="0"/>
                                  </p:stCondLst>
                                  <p:childTnLst>
                                    <p:set>
                                      <p:cBhvr>
                                        <p:cTn id="275" dur="1" fill="hold">
                                          <p:stCondLst>
                                            <p:cond delay="0"/>
                                          </p:stCondLst>
                                        </p:cTn>
                                        <p:tgtEl>
                                          <p:spTgt spid="93"/>
                                        </p:tgtEl>
                                        <p:attrNameLst>
                                          <p:attrName>style.visibility</p:attrName>
                                        </p:attrNameLst>
                                      </p:cBhvr>
                                      <p:to>
                                        <p:strVal val="visible"/>
                                      </p:to>
                                    </p:set>
                                    <p:animEffect transition="in" filter="fade">
                                      <p:cBhvr>
                                        <p:cTn id="276" dur="400"/>
                                        <p:tgtEl>
                                          <p:spTgt spid="93"/>
                                        </p:tgtEl>
                                      </p:cBhvr>
                                    </p:animEffect>
                                  </p:childTnLst>
                                </p:cTn>
                              </p:par>
                              <p:par>
                                <p:cTn id="277" presetID="10" presetClass="entr" presetSubtype="0" fill="hold" nodeType="withEffect">
                                  <p:stCondLst>
                                    <p:cond delay="0"/>
                                  </p:stCondLst>
                                  <p:childTnLst>
                                    <p:set>
                                      <p:cBhvr>
                                        <p:cTn id="278" dur="1" fill="hold">
                                          <p:stCondLst>
                                            <p:cond delay="0"/>
                                          </p:stCondLst>
                                        </p:cTn>
                                        <p:tgtEl>
                                          <p:spTgt spid="94"/>
                                        </p:tgtEl>
                                        <p:attrNameLst>
                                          <p:attrName>style.visibility</p:attrName>
                                        </p:attrNameLst>
                                      </p:cBhvr>
                                      <p:to>
                                        <p:strVal val="visible"/>
                                      </p:to>
                                    </p:set>
                                    <p:animEffect transition="in" filter="fade">
                                      <p:cBhvr>
                                        <p:cTn id="279" dur="4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2" grpId="0" animBg="1"/>
      <p:bldP spid="14" grpId="0" animBg="1"/>
      <p:bldP spid="16" grpId="0" animBg="1"/>
      <p:bldP spid="19" grpId="0" animBg="1"/>
      <p:bldP spid="21" grpId="0" animBg="1"/>
      <p:bldP spid="23" grpId="0" animBg="1"/>
      <p:bldP spid="25" grpId="0" animBg="1"/>
      <p:bldP spid="27" grpId="0" animBg="1"/>
      <p:bldP spid="29" grpId="0" animBg="1"/>
      <p:bldP spid="31" grpId="0" animBg="1"/>
      <p:bldP spid="32" grpId="0" animBg="1"/>
      <p:bldP spid="34" grpId="0" animBg="1"/>
      <p:bldP spid="36" grpId="0" animBg="1"/>
      <p:bldP spid="38" grpId="0" animBg="1"/>
      <p:bldP spid="41" grpId="0" animBg="1"/>
      <p:bldP spid="43" grpId="0" animBg="1"/>
      <p:bldP spid="45" grpId="0" animBg="1"/>
      <p:bldP spid="47" grpId="0" animBg="1"/>
      <p:bldP spid="49" grpId="0" animBg="1"/>
      <p:bldP spid="51" grpId="0" animBg="1"/>
      <p:bldP spid="52" grpId="0" animBg="1"/>
      <p:bldP spid="54" grpId="0" animBg="1"/>
      <p:bldP spid="56" grpId="0" animBg="1"/>
      <p:bldP spid="58" grpId="0" animBg="1"/>
      <p:bldP spid="60" grpId="0" animBg="1"/>
      <p:bldP spid="62" grpId="0" animBg="1"/>
      <p:bldP spid="65" grpId="0" animBg="1"/>
      <p:bldP spid="67" grpId="0" animBg="1"/>
      <p:bldP spid="69" grpId="0" animBg="1"/>
      <p:bldP spid="71" grpId="0" animBg="1"/>
      <p:bldP spid="73" grpId="0" animBg="1"/>
      <p:bldP spid="76" grpId="0" animBg="1"/>
      <p:bldP spid="78" grpId="0" animBg="1"/>
      <p:bldP spid="80" grpId="0" animBg="1"/>
      <p:bldP spid="82" grpId="0" animBg="1"/>
      <p:bldP spid="84" grpId="0" animBg="1"/>
      <p:bldP spid="86" grpId="0" animBg="1"/>
      <p:bldP spid="88" grpId="0" animBg="1"/>
      <p:bldP spid="90" grpId="0" animBg="1"/>
      <p:bldP spid="9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Finding a value: in tells whether, index tells where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and a length test keeps an empty list from raising IndexError</a:t>
            </a:r>
            <a:endParaRPr lang="en-US" sz="1400" dirty="0"/>
          </a:p>
        </p:txBody>
      </p:sp>
      <p:sp>
        <p:nvSpPr>
          <p:cNvPr id="6" name="v:IndexMethod:ix0"/>
          <p:cNvSpPr txBox="1"/>
          <p:nvPr/>
        </p:nvSpPr>
        <p:spPr>
          <a:xfrm>
            <a:off x="457200"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0</a:t>
            </a:r>
            <a:endParaRPr lang="en-US" sz="1200" dirty="0"/>
          </a:p>
        </p:txBody>
      </p:sp>
      <p:sp>
        <p:nvSpPr>
          <p:cNvPr id="7" name="v:IndexMethod:i0:box"/>
          <p:cNvSpPr/>
          <p:nvPr/>
        </p:nvSpPr>
        <p:spPr>
          <a:xfrm>
            <a:off x="457200" y="1426464"/>
            <a:ext cx="1234440" cy="502920"/>
          </a:xfrm>
          <a:prstGeom prst="roundRect">
            <a:avLst>
              <a:gd name="adj" fmla="val 10909"/>
            </a:avLst>
          </a:prstGeom>
          <a:solidFill>
            <a:srgbClr val="E3EEF8"/>
          </a:solidFill>
          <a:ln w="22225">
            <a:solidFill>
              <a:srgbClr val="306998"/>
            </a:solidFill>
            <a:prstDash val="solid"/>
          </a:ln>
        </p:spPr>
      </p:sp>
      <p:sp>
        <p:nvSpPr>
          <p:cNvPr id="8" name="v:IndexMethod:i0"/>
          <p:cNvSpPr txBox="1"/>
          <p:nvPr/>
        </p:nvSpPr>
        <p:spPr>
          <a:xfrm>
            <a:off x="484632"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'Zophie'</a:t>
            </a:r>
            <a:endParaRPr lang="en-US" sz="1300" dirty="0"/>
          </a:p>
        </p:txBody>
      </p:sp>
      <p:sp>
        <p:nvSpPr>
          <p:cNvPr id="9" name="v:IndexMethod:nx0"/>
          <p:cNvSpPr txBox="1"/>
          <p:nvPr/>
        </p:nvSpPr>
        <p:spPr>
          <a:xfrm>
            <a:off x="457200"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-4</a:t>
            </a:r>
            <a:endParaRPr lang="en-US" sz="1200" dirty="0"/>
          </a:p>
        </p:txBody>
      </p:sp>
      <p:sp>
        <p:nvSpPr>
          <p:cNvPr id="10" name="v:IndexMethod:ix1"/>
          <p:cNvSpPr txBox="1"/>
          <p:nvPr/>
        </p:nvSpPr>
        <p:spPr>
          <a:xfrm>
            <a:off x="1764792"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1</a:t>
            </a:r>
            <a:endParaRPr lang="en-US" sz="1200" dirty="0"/>
          </a:p>
        </p:txBody>
      </p:sp>
      <p:sp>
        <p:nvSpPr>
          <p:cNvPr id="11" name="v:IndexMethod:i1:box"/>
          <p:cNvSpPr/>
          <p:nvPr/>
        </p:nvSpPr>
        <p:spPr>
          <a:xfrm>
            <a:off x="1764792" y="1426464"/>
            <a:ext cx="1234440" cy="502920"/>
          </a:xfrm>
          <a:prstGeom prst="roundRect">
            <a:avLst>
              <a:gd name="adj" fmla="val 10909"/>
            </a:avLst>
          </a:prstGeom>
          <a:solidFill>
            <a:srgbClr val="FFD43B"/>
          </a:solidFill>
          <a:ln w="22225">
            <a:solidFill>
              <a:srgbClr val="B7791F"/>
            </a:solidFill>
            <a:prstDash val="solid"/>
          </a:ln>
        </p:spPr>
      </p:sp>
      <p:sp>
        <p:nvSpPr>
          <p:cNvPr id="12" name="v:IndexMethod:i1"/>
          <p:cNvSpPr txBox="1"/>
          <p:nvPr/>
        </p:nvSpPr>
        <p:spPr>
          <a:xfrm>
            <a:off x="1792224"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'Pooka'</a:t>
            </a:r>
            <a:endParaRPr lang="en-US" sz="1300" dirty="0"/>
          </a:p>
        </p:txBody>
      </p:sp>
      <p:sp>
        <p:nvSpPr>
          <p:cNvPr id="13" name="v:IndexMethod:nx1"/>
          <p:cNvSpPr txBox="1"/>
          <p:nvPr/>
        </p:nvSpPr>
        <p:spPr>
          <a:xfrm>
            <a:off x="1764792"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-3</a:t>
            </a:r>
            <a:endParaRPr lang="en-US" sz="1200" dirty="0"/>
          </a:p>
        </p:txBody>
      </p:sp>
      <p:sp>
        <p:nvSpPr>
          <p:cNvPr id="14" name="v:IndexMethod:ix2"/>
          <p:cNvSpPr txBox="1"/>
          <p:nvPr/>
        </p:nvSpPr>
        <p:spPr>
          <a:xfrm>
            <a:off x="3072384"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2</a:t>
            </a:r>
            <a:endParaRPr lang="en-US" sz="1200" dirty="0"/>
          </a:p>
        </p:txBody>
      </p:sp>
      <p:sp>
        <p:nvSpPr>
          <p:cNvPr id="15" name="v:IndexMethod:i2:box"/>
          <p:cNvSpPr/>
          <p:nvPr/>
        </p:nvSpPr>
        <p:spPr>
          <a:xfrm>
            <a:off x="3072384" y="1426464"/>
            <a:ext cx="1234440" cy="502920"/>
          </a:xfrm>
          <a:prstGeom prst="roundRect">
            <a:avLst>
              <a:gd name="adj" fmla="val 10909"/>
            </a:avLst>
          </a:prstGeom>
          <a:solidFill>
            <a:srgbClr val="E3EEF8"/>
          </a:solidFill>
          <a:ln w="22225">
            <a:solidFill>
              <a:srgbClr val="306998"/>
            </a:solidFill>
            <a:prstDash val="solid"/>
          </a:ln>
        </p:spPr>
      </p:sp>
      <p:sp>
        <p:nvSpPr>
          <p:cNvPr id="16" name="v:IndexMethod:i2"/>
          <p:cNvSpPr txBox="1"/>
          <p:nvPr/>
        </p:nvSpPr>
        <p:spPr>
          <a:xfrm>
            <a:off x="3099816"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'Fat-tail'</a:t>
            </a:r>
            <a:endParaRPr lang="en-US" sz="1300" dirty="0"/>
          </a:p>
        </p:txBody>
      </p:sp>
      <p:sp>
        <p:nvSpPr>
          <p:cNvPr id="17" name="v:IndexMethod:nx2"/>
          <p:cNvSpPr txBox="1"/>
          <p:nvPr/>
        </p:nvSpPr>
        <p:spPr>
          <a:xfrm>
            <a:off x="3072384"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-2</a:t>
            </a:r>
            <a:endParaRPr lang="en-US" sz="1200" dirty="0"/>
          </a:p>
        </p:txBody>
      </p:sp>
      <p:sp>
        <p:nvSpPr>
          <p:cNvPr id="18" name="v:IndexMethod:ix3"/>
          <p:cNvSpPr txBox="1"/>
          <p:nvPr/>
        </p:nvSpPr>
        <p:spPr>
          <a:xfrm>
            <a:off x="4379976" y="1170432"/>
            <a:ext cx="1234440" cy="237744"/>
          </a:xfrm>
          <a:prstGeom prst="rect">
            <a:avLst/>
          </a:prstGeom>
          <a:noFill/>
          <a:ln/>
        </p:spPr>
        <p:txBody>
          <a:bodyPr wrap="square" lIns="0" tIns="0" rIns="0" bIns="0" rtlCol="0" anchor="ctr"/>
          <a:lstStyle/>
          <a:p>
            <a:pPr algn="ctr" indent="0" marL="0">
              <a:buNone/>
            </a:pPr>
            <a:r>
              <a:rPr lang="en-US" sz="1200" dirty="0">
                <a:solidFill>
                  <a:srgbClr val="5B6B7B"/>
                </a:solidFill>
                <a:latin typeface="Courier New" pitchFamily="34" charset="0"/>
                <a:ea typeface="Courier New" pitchFamily="34" charset="-122"/>
                <a:cs typeface="Courier New" pitchFamily="34" charset="-120"/>
              </a:rPr>
              <a:t>3</a:t>
            </a:r>
            <a:endParaRPr lang="en-US" sz="1200" dirty="0"/>
          </a:p>
        </p:txBody>
      </p:sp>
      <p:sp>
        <p:nvSpPr>
          <p:cNvPr id="19" name="v:IndexMethod:i3:box"/>
          <p:cNvSpPr/>
          <p:nvPr/>
        </p:nvSpPr>
        <p:spPr>
          <a:xfrm>
            <a:off x="4379976" y="1426464"/>
            <a:ext cx="1234440" cy="502920"/>
          </a:xfrm>
          <a:prstGeom prst="roundRect">
            <a:avLst>
              <a:gd name="adj" fmla="val 10909"/>
            </a:avLst>
          </a:prstGeom>
          <a:solidFill>
            <a:srgbClr val="FFD43B"/>
          </a:solidFill>
          <a:ln w="22225">
            <a:solidFill>
              <a:srgbClr val="B7791F"/>
            </a:solidFill>
            <a:prstDash val="solid"/>
          </a:ln>
        </p:spPr>
      </p:sp>
      <p:sp>
        <p:nvSpPr>
          <p:cNvPr id="20" name="v:IndexMethod:i3"/>
          <p:cNvSpPr txBox="1"/>
          <p:nvPr/>
        </p:nvSpPr>
        <p:spPr>
          <a:xfrm>
            <a:off x="4407408" y="1426464"/>
            <a:ext cx="1179576" cy="502920"/>
          </a:xfrm>
          <a:prstGeom prst="rect">
            <a:avLst/>
          </a:prstGeom>
          <a:noFill/>
          <a:ln/>
        </p:spPr>
        <p:txBody>
          <a:bodyPr wrap="square" lIns="0" tIns="0" rIns="0" bIns="0" rtlCol="0" anchor="ctr">
            <a:normAutofit/>
          </a:bodyP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'Pooka'</a:t>
            </a:r>
            <a:endParaRPr lang="en-US" sz="1300" dirty="0"/>
          </a:p>
        </p:txBody>
      </p:sp>
      <p:sp>
        <p:nvSpPr>
          <p:cNvPr id="21" name="v:IndexMethod:nx3"/>
          <p:cNvSpPr txBox="1"/>
          <p:nvPr/>
        </p:nvSpPr>
        <p:spPr>
          <a:xfrm>
            <a:off x="4379976" y="1947672"/>
            <a:ext cx="1234440" cy="237744"/>
          </a:xfrm>
          <a:prstGeom prst="rect">
            <a:avLst/>
          </a:prstGeom>
          <a:noFill/>
          <a:ln/>
        </p:spPr>
        <p:txBody>
          <a:bodyPr wrap="square" lIns="0" tIns="0" rIns="0" bIns="0" rtlCol="0" anchor="ctr"/>
          <a:lstStyle/>
          <a:p>
            <a:pPr algn="ctr" indent="0" marL="0">
              <a:buNone/>
            </a:pPr>
            <a:r>
              <a:rPr lang="en-US" sz="1200" dirty="0">
                <a:solidFill>
                  <a:srgbClr val="306998"/>
                </a:solidFill>
                <a:latin typeface="Courier New" pitchFamily="34" charset="0"/>
                <a:ea typeface="Courier New" pitchFamily="34" charset="-122"/>
                <a:cs typeface="Courier New" pitchFamily="34" charset="-120"/>
              </a:rPr>
              <a:t>-1</a:t>
            </a:r>
            <a:endParaRPr lang="en-US" sz="1200" dirty="0"/>
          </a:p>
        </p:txBody>
      </p:sp>
      <p:sp>
        <p:nvSpPr>
          <p:cNvPr id="22" name="arrow|b1"/>
          <p:cNvSpPr/>
          <p:nvPr/>
        </p:nvSpPr>
        <p:spPr>
          <a:xfrm>
            <a:off x="4997196" y="2203704"/>
            <a:ext cx="0" cy="182880"/>
          </a:xfrm>
          <a:prstGeom prst="line">
            <a:avLst/>
          </a:prstGeom>
          <a:noFill/>
          <a:ln w="22225">
            <a:solidFill>
              <a:srgbClr val="B7791F"/>
            </a:solidFill>
            <a:prstDash val="solid"/>
          </a:ln>
        </p:spPr>
      </p:sp>
      <p:sp>
        <p:nvSpPr>
          <p:cNvPr id="23" name="v:IndexMethod:p1|b1"/>
          <p:cNvSpPr txBox="1"/>
          <p:nvPr/>
        </p:nvSpPr>
        <p:spPr>
          <a:xfrm>
            <a:off x="5052060" y="2258568"/>
            <a:ext cx="3566160" cy="256032"/>
          </a:xfrm>
          <a:prstGeom prst="rect">
            <a:avLst/>
          </a:prstGeom>
          <a:noFill/>
          <a:ln/>
        </p:spPr>
        <p:txBody>
          <a:bodyPr wrap="square" lIns="0" tIns="0" rIns="0" bIns="0" rtlCol="0" anchor="ctr"/>
          <a:lstStyle/>
          <a:p>
            <a:pPr indent="0" marL="0">
              <a:buNone/>
            </a:pPr>
            <a:r>
              <a:rPr lang="en-US" sz="1200" b="1" dirty="0">
                <a:solidFill>
                  <a:srgbClr val="B7791F"/>
                </a:solidFill>
                <a:latin typeface="Courier New" pitchFamily="34" charset="0"/>
                <a:ea typeface="Courier New" pitchFamily="34" charset="-122"/>
                <a:cs typeface="Courier New" pitchFamily="34" charset="-120"/>
              </a:rPr>
              <a:t>spam.index('Pooka', 2)  →  3</a:t>
            </a:r>
            <a:endParaRPr lang="en-US" sz="1200" dirty="0"/>
          </a:p>
        </p:txBody>
      </p:sp>
      <p:sp>
        <p:nvSpPr>
          <p:cNvPr id="24" name="arrow|b2"/>
          <p:cNvSpPr/>
          <p:nvPr/>
        </p:nvSpPr>
        <p:spPr>
          <a:xfrm>
            <a:off x="2382012" y="2203704"/>
            <a:ext cx="0" cy="457200"/>
          </a:xfrm>
          <a:prstGeom prst="line">
            <a:avLst/>
          </a:prstGeom>
          <a:noFill/>
          <a:ln w="22225">
            <a:solidFill>
              <a:srgbClr val="B7791F"/>
            </a:solidFill>
            <a:prstDash val="solid"/>
          </a:ln>
        </p:spPr>
      </p:sp>
      <p:sp>
        <p:nvSpPr>
          <p:cNvPr id="25" name="v:IndexMethod:p0|b2"/>
          <p:cNvSpPr txBox="1"/>
          <p:nvPr/>
        </p:nvSpPr>
        <p:spPr>
          <a:xfrm>
            <a:off x="2436876" y="2532888"/>
            <a:ext cx="3566160" cy="256032"/>
          </a:xfrm>
          <a:prstGeom prst="rect">
            <a:avLst/>
          </a:prstGeom>
          <a:noFill/>
          <a:ln/>
        </p:spPr>
        <p:txBody>
          <a:bodyPr wrap="square" lIns="0" tIns="0" rIns="0" bIns="0" rtlCol="0" anchor="ctr"/>
          <a:lstStyle/>
          <a:p>
            <a:pPr indent="0" marL="0">
              <a:buNone/>
            </a:pPr>
            <a:r>
              <a:rPr lang="en-US" sz="1200" b="1" dirty="0">
                <a:solidFill>
                  <a:srgbClr val="B7791F"/>
                </a:solidFill>
                <a:latin typeface="Courier New" pitchFamily="34" charset="0"/>
                <a:ea typeface="Courier New" pitchFamily="34" charset="-122"/>
                <a:cs typeface="Courier New" pitchFamily="34" charset="-120"/>
              </a:rPr>
              <a:t>spam.index('Pooka')  →  1</a:t>
            </a:r>
            <a:endParaRPr lang="en-US" sz="1200" dirty="0"/>
          </a:p>
        </p:txBody>
      </p:sp>
      <p:sp>
        <p:nvSpPr>
          <p:cNvPr id="26" name="ghost:box|b4"/>
          <p:cNvSpPr/>
          <p:nvPr/>
        </p:nvSpPr>
        <p:spPr>
          <a:xfrm>
            <a:off x="5687568" y="1426464"/>
            <a:ext cx="457200" cy="502920"/>
          </a:xfrm>
          <a:prstGeom prst="roundRect">
            <a:avLst>
              <a:gd name="adj" fmla="val 12000"/>
            </a:avLst>
          </a:prstGeom>
          <a:solidFill>
            <a:srgbClr val="FFFFFF"/>
          </a:solidFill>
          <a:ln w="19050">
            <a:solidFill>
              <a:srgbClr val="D64545"/>
            </a:solidFill>
            <a:prstDash val="dash"/>
          </a:ln>
        </p:spPr>
      </p:sp>
      <p:sp>
        <p:nvSpPr>
          <p:cNvPr id="27" name="v:IndexMethod:errbox:box|b4"/>
          <p:cNvSpPr/>
          <p:nvPr/>
        </p:nvSpPr>
        <p:spPr>
          <a:xfrm>
            <a:off x="6281928" y="1335024"/>
            <a:ext cx="2404872" cy="685800"/>
          </a:xfrm>
          <a:prstGeom prst="roundRect">
            <a:avLst>
              <a:gd name="adj" fmla="val 10667"/>
            </a:avLst>
          </a:prstGeom>
          <a:solidFill>
            <a:srgbClr val="FBE1E1"/>
          </a:solidFill>
          <a:ln w="12700">
            <a:solidFill>
              <a:srgbClr val="D64545"/>
            </a:solidFill>
            <a:prstDash val="solid"/>
          </a:ln>
        </p:spPr>
      </p:sp>
      <p:sp>
        <p:nvSpPr>
          <p:cNvPr id="28" name="v:IndexMethod:err|b4"/>
          <p:cNvSpPr txBox="1"/>
          <p:nvPr/>
        </p:nvSpPr>
        <p:spPr>
          <a:xfrm>
            <a:off x="6355080" y="1335024"/>
            <a:ext cx="2258568" cy="685800"/>
          </a:xfrm>
          <a:prstGeom prst="rect">
            <a:avLst/>
          </a:prstGeom>
          <a:noFill/>
          <a:ln/>
        </p:spPr>
        <p:txBody>
          <a:bodyPr wrap="square" lIns="0" tIns="0" rIns="0" bIns="0" rtlCol="0" anchor="ctr"/>
          <a:lstStyle/>
          <a:p>
            <a:pPr indent="0" marL="0">
              <a:buNone/>
            </a:pPr>
            <a:r>
              <a:rPr lang="en-US" sz="1000" b="1" dirty="0">
                <a:solidFill>
                  <a:srgbClr val="D64545"/>
                </a:solidFill>
                <a:latin typeface="Courier New" pitchFamily="34" charset="0"/>
                <a:ea typeface="Courier New" pitchFamily="34" charset="-122"/>
                <a:cs typeface="Courier New" pitchFamily="34" charset="-120"/>
              </a:rPr>
              <a:t>spam.index('howdy howdy howdy')  →  ValueError: list.index(x): x not in list</a:t>
            </a:r>
            <a:endParaRPr lang="en-US" sz="1000" dirty="0"/>
          </a:p>
        </p:txBody>
      </p:sp>
      <p:sp>
        <p:nvSpPr>
          <p:cNvPr id="29" name="v:MembershipOperators:f0box:box|b4"/>
          <p:cNvSpPr/>
          <p:nvPr/>
        </p:nvSpPr>
        <p:spPr>
          <a:xfrm>
            <a:off x="365760" y="3154680"/>
            <a:ext cx="2020824" cy="1371600"/>
          </a:xfrm>
          <a:prstGeom prst="roundRect">
            <a:avLst>
              <a:gd name="adj" fmla="val 5333"/>
            </a:avLst>
          </a:prstGeom>
          <a:solidFill>
            <a:srgbClr val="F1F4F8"/>
          </a:solidFill>
          <a:ln w="12700">
            <a:solidFill>
              <a:srgbClr val="F1F4F8"/>
            </a:solidFill>
            <a:prstDash val="solid"/>
          </a:ln>
        </p:spPr>
      </p:sp>
      <p:sp>
        <p:nvSpPr>
          <p:cNvPr id="30" name="v:MembershipOperators:f0t|b4"/>
          <p:cNvSpPr txBox="1"/>
          <p:nvPr/>
        </p:nvSpPr>
        <p:spPr>
          <a:xfrm>
            <a:off x="475488" y="3200400"/>
            <a:ext cx="1801368"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On a string: is it inside?</a:t>
            </a:r>
            <a:endParaRPr lang="en-US" sz="1100" dirty="0"/>
          </a:p>
        </p:txBody>
      </p:sp>
      <p:sp>
        <p:nvSpPr>
          <p:cNvPr id="31" name="v:MembershipOperators:f0e|b4"/>
          <p:cNvSpPr txBox="1"/>
          <p:nvPr/>
        </p:nvSpPr>
        <p:spPr>
          <a:xfrm>
            <a:off x="475488" y="3575304"/>
            <a:ext cx="1801368" cy="60350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'gg' in 'eggs'</a:t>
            </a:r>
            <a:endParaRPr lang="en-US" sz="1050" dirty="0"/>
          </a:p>
        </p:txBody>
      </p:sp>
      <p:sp>
        <p:nvSpPr>
          <p:cNvPr id="32" name="v:MembershipOperators:f0r|b4"/>
          <p:cNvSpPr txBox="1"/>
          <p:nvPr/>
        </p:nvSpPr>
        <p:spPr>
          <a:xfrm>
            <a:off x="475488" y="4160520"/>
            <a:ext cx="1801368"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True</a:t>
            </a:r>
            <a:endParaRPr lang="en-US" sz="1400" dirty="0"/>
          </a:p>
        </p:txBody>
      </p:sp>
      <p:sp>
        <p:nvSpPr>
          <p:cNvPr id="33" name="v:MembershipOperators:f1box:box|b5"/>
          <p:cNvSpPr/>
          <p:nvPr/>
        </p:nvSpPr>
        <p:spPr>
          <a:xfrm>
            <a:off x="2496312" y="3154680"/>
            <a:ext cx="2020824" cy="1371600"/>
          </a:xfrm>
          <a:prstGeom prst="roundRect">
            <a:avLst>
              <a:gd name="adj" fmla="val 5333"/>
            </a:avLst>
          </a:prstGeom>
          <a:solidFill>
            <a:srgbClr val="F1F4F8"/>
          </a:solidFill>
          <a:ln w="12700">
            <a:solidFill>
              <a:srgbClr val="F1F4F8"/>
            </a:solidFill>
            <a:prstDash val="solid"/>
          </a:ln>
        </p:spPr>
      </p:sp>
      <p:sp>
        <p:nvSpPr>
          <p:cNvPr id="34" name="v:MembershipOperators:f1t|b5"/>
          <p:cNvSpPr txBox="1"/>
          <p:nvPr/>
        </p:nvSpPr>
        <p:spPr>
          <a:xfrm>
            <a:off x="2606040" y="3200400"/>
            <a:ext cx="1801368"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On a list: is it an item?</a:t>
            </a:r>
            <a:endParaRPr lang="en-US" sz="1100" dirty="0"/>
          </a:p>
        </p:txBody>
      </p:sp>
      <p:sp>
        <p:nvSpPr>
          <p:cNvPr id="35" name="v:MembershipOperators:f1e|b5"/>
          <p:cNvSpPr txBox="1"/>
          <p:nvPr/>
        </p:nvSpPr>
        <p:spPr>
          <a:xfrm>
            <a:off x="2606040" y="3575304"/>
            <a:ext cx="1801368" cy="60350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'gg' in ['eggs']</a:t>
            </a:r>
            <a:endParaRPr lang="en-US" sz="1050" dirty="0"/>
          </a:p>
        </p:txBody>
      </p:sp>
      <p:sp>
        <p:nvSpPr>
          <p:cNvPr id="36" name="v:MembershipOperators:f1r|b5"/>
          <p:cNvSpPr txBox="1"/>
          <p:nvPr/>
        </p:nvSpPr>
        <p:spPr>
          <a:xfrm>
            <a:off x="2606040" y="4160520"/>
            <a:ext cx="1801368"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False</a:t>
            </a:r>
            <a:endParaRPr lang="en-US" sz="1400" dirty="0"/>
          </a:p>
        </p:txBody>
      </p:sp>
      <p:sp>
        <p:nvSpPr>
          <p:cNvPr id="37" name="v:MembershipOperators:f2box:box|b6"/>
          <p:cNvSpPr/>
          <p:nvPr/>
        </p:nvSpPr>
        <p:spPr>
          <a:xfrm>
            <a:off x="4626864" y="3154680"/>
            <a:ext cx="2020824" cy="1371600"/>
          </a:xfrm>
          <a:prstGeom prst="roundRect">
            <a:avLst>
              <a:gd name="adj" fmla="val 5333"/>
            </a:avLst>
          </a:prstGeom>
          <a:solidFill>
            <a:srgbClr val="F1F4F8"/>
          </a:solidFill>
          <a:ln w="12700">
            <a:solidFill>
              <a:srgbClr val="F1F4F8"/>
            </a:solidFill>
            <a:prstDash val="solid"/>
          </a:ln>
        </p:spPr>
      </p:sp>
      <p:sp>
        <p:nvSpPr>
          <p:cNvPr id="38" name="v:MembershipOperators:f2t|b6"/>
          <p:cNvSpPr txBox="1"/>
          <p:nvPr/>
        </p:nvSpPr>
        <p:spPr>
          <a:xfrm>
            <a:off x="4736592" y="3200400"/>
            <a:ext cx="1801368"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and stops at the left operand</a:t>
            </a:r>
            <a:endParaRPr lang="en-US" sz="1100" dirty="0"/>
          </a:p>
        </p:txBody>
      </p:sp>
      <p:sp>
        <p:nvSpPr>
          <p:cNvPr id="39" name="v:MembershipOperators:f2e|b6"/>
          <p:cNvSpPr txBox="1"/>
          <p:nvPr/>
        </p:nvSpPr>
        <p:spPr>
          <a:xfrm>
            <a:off x="4736592" y="3575304"/>
            <a:ext cx="1801368" cy="60350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 and 'not evaluated'</a:t>
            </a:r>
            <a:endParaRPr lang="en-US" sz="1050" dirty="0"/>
          </a:p>
        </p:txBody>
      </p:sp>
      <p:sp>
        <p:nvSpPr>
          <p:cNvPr id="40" name="v:MembershipOperators:f2r|b6"/>
          <p:cNvSpPr txBox="1"/>
          <p:nvPr/>
        </p:nvSpPr>
        <p:spPr>
          <a:xfrm>
            <a:off x="4736592" y="4160520"/>
            <a:ext cx="1801368"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a:t>
            </a:r>
            <a:endParaRPr lang="en-US" sz="1400" dirty="0"/>
          </a:p>
        </p:txBody>
      </p:sp>
      <p:sp>
        <p:nvSpPr>
          <p:cNvPr id="41" name="v:MembershipOperators:f3box:box|b7"/>
          <p:cNvSpPr/>
          <p:nvPr/>
        </p:nvSpPr>
        <p:spPr>
          <a:xfrm>
            <a:off x="6757416" y="3154680"/>
            <a:ext cx="2020824" cy="1371600"/>
          </a:xfrm>
          <a:prstGeom prst="roundRect">
            <a:avLst>
              <a:gd name="adj" fmla="val 5333"/>
            </a:avLst>
          </a:prstGeom>
          <a:solidFill>
            <a:srgbClr val="F1F4F8"/>
          </a:solidFill>
          <a:ln w="12700">
            <a:solidFill>
              <a:srgbClr val="F1F4F8"/>
            </a:solidFill>
            <a:prstDash val="solid"/>
          </a:ln>
        </p:spPr>
      </p:sp>
      <p:sp>
        <p:nvSpPr>
          <p:cNvPr id="42" name="v:MembershipOperators:f3t|b7"/>
          <p:cNvSpPr txBox="1"/>
          <p:nvPr/>
        </p:nvSpPr>
        <p:spPr>
          <a:xfrm>
            <a:off x="6867144" y="3200400"/>
            <a:ext cx="1801368"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so a length test guards an index</a:t>
            </a:r>
            <a:endParaRPr lang="en-US" sz="1100" dirty="0"/>
          </a:p>
        </p:txBody>
      </p:sp>
      <p:sp>
        <p:nvSpPr>
          <p:cNvPr id="43" name="v:MembershipOperators:f3e|b7"/>
          <p:cNvSpPr txBox="1"/>
          <p:nvPr/>
        </p:nvSpPr>
        <p:spPr>
          <a:xfrm>
            <a:off x="6867144" y="3575304"/>
            <a:ext cx="1801368" cy="60350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len(spam) &gt; 0 and spam[0] == 'cat'</a:t>
            </a:r>
            <a:endParaRPr lang="en-US" sz="1050" dirty="0"/>
          </a:p>
        </p:txBody>
      </p:sp>
      <p:sp>
        <p:nvSpPr>
          <p:cNvPr id="44" name="v:MembershipOperators:f3r|b7"/>
          <p:cNvSpPr txBox="1"/>
          <p:nvPr/>
        </p:nvSpPr>
        <p:spPr>
          <a:xfrm>
            <a:off x="6867144" y="4160520"/>
            <a:ext cx="1801368"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False</a:t>
            </a:r>
            <a:endParaRPr lang="en-US" sz="1400" dirty="0"/>
          </a:p>
        </p:txBody>
      </p:sp>
      <p:sp>
        <p:nvSpPr>
          <p:cNvPr id="4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List operations ▸ Membership operators, Index method, Short circuit guard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400"/>
                                        <p:tgtEl>
                                          <p:spTgt spid="2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4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40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400"/>
                                        <p:tgtEl>
                                          <p:spTgt spid="25"/>
                                        </p:tgtEl>
                                      </p:cBhvr>
                                    </p:animEffect>
                                  </p:childTnLst>
                                </p:cTn>
                              </p:par>
                            </p:childTnLst>
                          </p:cTn>
                        </p:par>
                      </p:childTnLst>
                    </p:cTn>
                  </p:par>
                  <p:par>
                    <p:cTn id="40" fill="hold">
                      <p:stCondLst>
                        <p:cond delay="indefinite"/>
                      </p:stCondLst>
                      <p:childTnLst>
                        <p:par>
                          <p:cTn id="41"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400"/>
                                        <p:tgtEl>
                                          <p:spTgt spid="26"/>
                                        </p:tgtEl>
                                      </p:cBhvr>
                                    </p:animEffect>
                                  </p:childTnLst>
                                </p:cTn>
                              </p:par>
                              <p:par>
                                <p:cTn id="22" presetID="10" presetClass="entr" presetSubtype="0" fill="hold"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400"/>
                                        <p:tgtEl>
                                          <p:spTgt spid="2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400"/>
                                        <p:tgtEl>
                                          <p:spTgt spid="28"/>
                                        </p:tgtEl>
                                      </p:cBhvr>
                                    </p:animEffect>
                                  </p:childTnLst>
                                </p:cTn>
                              </p:par>
                              <p:par>
                                <p:cTn id="28" presetID="10" presetClass="entr" presetSubtype="0" fill="hold" nodeType="with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400"/>
                                        <p:tgtEl>
                                          <p:spTgt spid="2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fade">
                                      <p:cBhvr>
                                        <p:cTn id="33" dur="400"/>
                                        <p:tgtEl>
                                          <p:spTgt spid="3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400"/>
                                        <p:tgtEl>
                                          <p:spTgt spid="3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par>
                    <p:cTn id="54" fill="hold">
                      <p:stCondLst>
                        <p:cond delay="indefinite"/>
                      </p:stCondLst>
                      <p:childTnLst>
                        <p:par>
                          <p:cTn id="55"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3"/>
                                        </p:tgtEl>
                                        <p:attrNameLst>
                                          <p:attrName>style.visibility</p:attrName>
                                        </p:attrNameLst>
                                      </p:cBhvr>
                                      <p:to>
                                        <p:strVal val="visible"/>
                                      </p:to>
                                    </p:set>
                                    <p:animEffect transition="in" filter="fade">
                                      <p:cBhvr>
                                        <p:cTn id="44" dur="400"/>
                                        <p:tgtEl>
                                          <p:spTgt spid="3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400"/>
                                        <p:tgtEl>
                                          <p:spTgt spid="3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fade">
                                      <p:cBhvr>
                                        <p:cTn id="50" dur="400"/>
                                        <p:tgtEl>
                                          <p:spTgt spid="3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fade">
                                      <p:cBhvr>
                                        <p:cTn id="53" dur="400"/>
                                        <p:tgtEl>
                                          <p:spTgt spid="36"/>
                                        </p:tgtEl>
                                      </p:cBhvr>
                                    </p:animEffect>
                                  </p:childTnLst>
                                </p:cTn>
                              </p:par>
                            </p:childTnLst>
                          </p:cTn>
                        </p:par>
                      </p:childTnLst>
                    </p:cTn>
                  </p:par>
                  <p:par>
                    <p:cTn id="68" fill="hold">
                      <p:stCondLst>
                        <p:cond delay="indefinite"/>
                      </p:stCondLst>
                      <p:childTnLst>
                        <p:par>
                          <p:cTn id="69"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37"/>
                                        </p:tgtEl>
                                        <p:attrNameLst>
                                          <p:attrName>style.visibility</p:attrName>
                                        </p:attrNameLst>
                                      </p:cBhvr>
                                      <p:to>
                                        <p:strVal val="visible"/>
                                      </p:to>
                                    </p:set>
                                    <p:animEffect transition="in" filter="fade">
                                      <p:cBhvr>
                                        <p:cTn id="58" dur="400"/>
                                        <p:tgtEl>
                                          <p:spTgt spid="3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8"/>
                                        </p:tgtEl>
                                        <p:attrNameLst>
                                          <p:attrName>style.visibility</p:attrName>
                                        </p:attrNameLst>
                                      </p:cBhvr>
                                      <p:to>
                                        <p:strVal val="visible"/>
                                      </p:to>
                                    </p:set>
                                    <p:animEffect transition="in" filter="fade">
                                      <p:cBhvr>
                                        <p:cTn id="61" dur="400"/>
                                        <p:tgtEl>
                                          <p:spTgt spid="38"/>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9"/>
                                        </p:tgtEl>
                                        <p:attrNameLst>
                                          <p:attrName>style.visibility</p:attrName>
                                        </p:attrNameLst>
                                      </p:cBhvr>
                                      <p:to>
                                        <p:strVal val="visible"/>
                                      </p:to>
                                    </p:set>
                                    <p:animEffect transition="in" filter="fade">
                                      <p:cBhvr>
                                        <p:cTn id="64" dur="400"/>
                                        <p:tgtEl>
                                          <p:spTgt spid="39"/>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0"/>
                                        </p:tgtEl>
                                        <p:attrNameLst>
                                          <p:attrName>style.visibility</p:attrName>
                                        </p:attrNameLst>
                                      </p:cBhvr>
                                      <p:to>
                                        <p:strVal val="visible"/>
                                      </p:to>
                                    </p:set>
                                    <p:animEffect transition="in" filter="fade">
                                      <p:cBhvr>
                                        <p:cTn id="67" dur="400"/>
                                        <p:tgtEl>
                                          <p:spTgt spid="40"/>
                                        </p:tgtEl>
                                      </p:cBhvr>
                                    </p:animEffect>
                                  </p:childTnLst>
                                </p:cTn>
                              </p:par>
                            </p:childTnLst>
                          </p:cTn>
                        </p:par>
                      </p:childTnLst>
                    </p:cTn>
                  </p:par>
                  <p:par>
                    <p:cTn id="82" fill="hold">
                      <p:stCondLst>
                        <p:cond delay="indefinite"/>
                      </p:stCondLst>
                      <p:childTnLst>
                        <p:par>
                          <p:cTn id="83"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41"/>
                                        </p:tgtEl>
                                        <p:attrNameLst>
                                          <p:attrName>style.visibility</p:attrName>
                                        </p:attrNameLst>
                                      </p:cBhvr>
                                      <p:to>
                                        <p:strVal val="visible"/>
                                      </p:to>
                                    </p:set>
                                    <p:animEffect transition="in" filter="fade">
                                      <p:cBhvr>
                                        <p:cTn id="72" dur="400"/>
                                        <p:tgtEl>
                                          <p:spTgt spid="41"/>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2"/>
                                        </p:tgtEl>
                                        <p:attrNameLst>
                                          <p:attrName>style.visibility</p:attrName>
                                        </p:attrNameLst>
                                      </p:cBhvr>
                                      <p:to>
                                        <p:strVal val="visible"/>
                                      </p:to>
                                    </p:set>
                                    <p:animEffect transition="in" filter="fade">
                                      <p:cBhvr>
                                        <p:cTn id="75" dur="400"/>
                                        <p:tgtEl>
                                          <p:spTgt spid="4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fade">
                                      <p:cBhvr>
                                        <p:cTn id="78" dur="400"/>
                                        <p:tgtEl>
                                          <p:spTgt spid="43"/>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4"/>
                                        </p:tgtEl>
                                        <p:attrNameLst>
                                          <p:attrName>style.visibility</p:attrName>
                                        </p:attrNameLst>
                                      </p:cBhvr>
                                      <p:to>
                                        <p:strVal val="visible"/>
                                      </p:to>
                                    </p:set>
                                    <p:animEffect transition="in" filter="fade">
                                      <p:cBhvr>
                                        <p:cTn id="81"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5" grpId="0" animBg="1"/>
      <p:bldP spid="28" grpId="0" animBg="1"/>
      <p:bldP spid="30" grpId="0" animBg="1"/>
      <p:bldP spid="31" grpId="0" animBg="1"/>
      <p:bldP spid="32" grpId="0" animBg="1"/>
      <p:bldP spid="34" grpId="0" animBg="1"/>
      <p:bldP spid="35" grpId="0" animBg="1"/>
      <p:bldP spid="36" grpId="0" animBg="1"/>
      <p:bldP spid="38" grpId="0" animBg="1"/>
      <p:bldP spid="39" grpId="0" animBg="1"/>
      <p:bldP spid="40" grpId="0" animBg="1"/>
      <p:bldP spid="42" grpId="0" animBg="1"/>
      <p:bldP spid="43" grpId="0" animBg="1"/>
      <p:bldP spid="4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sort() and reverse() change the list; sorted() does not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Only sorted() leaves the original alone and returns the result</a:t>
            </a:r>
            <a:endParaRPr lang="en-US" sz="1400" dirty="0"/>
          </a:p>
        </p:txBody>
      </p:sp>
      <p:sp>
        <p:nvSpPr>
          <p:cNvPr id="6" name="lanebox|b1"/>
          <p:cNvSpPr/>
          <p:nvPr/>
        </p:nvSpPr>
        <p:spPr>
          <a:xfrm>
            <a:off x="365760" y="1170432"/>
            <a:ext cx="8412480" cy="676656"/>
          </a:xfrm>
          <a:prstGeom prst="roundRect">
            <a:avLst>
              <a:gd name="adj" fmla="val 8108"/>
            </a:avLst>
          </a:prstGeom>
          <a:solidFill>
            <a:srgbClr val="FFFFFF"/>
          </a:solidFill>
          <a:ln w="9525">
            <a:solidFill>
              <a:srgbClr val="9AA8B8"/>
            </a:solidFill>
            <a:prstDash val="solid"/>
          </a:ln>
        </p:spPr>
      </p:sp>
      <p:sp>
        <p:nvSpPr>
          <p:cNvPr id="7" name="v:Ordering:l0op|b1"/>
          <p:cNvSpPr txBox="1"/>
          <p:nvPr/>
        </p:nvSpPr>
        <p:spPr>
          <a:xfrm>
            <a:off x="457200" y="1188720"/>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spam.sort()</a:t>
            </a:r>
            <a:endParaRPr lang="en-US" sz="1250" dirty="0"/>
          </a:p>
        </p:txBody>
      </p:sp>
      <p:sp>
        <p:nvSpPr>
          <p:cNvPr id="8" name="v:Ordering:l0cat|b1"/>
          <p:cNvSpPr txBox="1"/>
          <p:nvPr/>
        </p:nvSpPr>
        <p:spPr>
          <a:xfrm>
            <a:off x="3611880" y="1188720"/>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9" name="v:Ordering:l0retbox:box|b1"/>
          <p:cNvSpPr/>
          <p:nvPr/>
        </p:nvSpPr>
        <p:spPr>
          <a:xfrm>
            <a:off x="6812280" y="1216152"/>
            <a:ext cx="1874520" cy="246888"/>
          </a:xfrm>
          <a:prstGeom prst="roundRect">
            <a:avLst>
              <a:gd name="adj" fmla="val 29630"/>
            </a:avLst>
          </a:prstGeom>
          <a:solidFill>
            <a:srgbClr val="FCEFD0"/>
          </a:solidFill>
          <a:ln w="12700">
            <a:solidFill>
              <a:srgbClr val="B7791F"/>
            </a:solidFill>
            <a:prstDash val="solid"/>
          </a:ln>
        </p:spPr>
      </p:sp>
      <p:sp>
        <p:nvSpPr>
          <p:cNvPr id="10" name="v:Ordering:l0ret|b1"/>
          <p:cNvSpPr txBox="1"/>
          <p:nvPr/>
        </p:nvSpPr>
        <p:spPr>
          <a:xfrm>
            <a:off x="6812280" y="1216152"/>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None</a:t>
            </a:r>
            <a:endParaRPr lang="en-US" sz="1050" dirty="0"/>
          </a:p>
        </p:txBody>
      </p:sp>
      <p:sp>
        <p:nvSpPr>
          <p:cNvPr id="11" name="v:Ordering:l0b0:box|b1"/>
          <p:cNvSpPr/>
          <p:nvPr/>
        </p:nvSpPr>
        <p:spPr>
          <a:xfrm>
            <a:off x="457200" y="1508760"/>
            <a:ext cx="667512" cy="283464"/>
          </a:xfrm>
          <a:prstGeom prst="roundRect">
            <a:avLst>
              <a:gd name="adj" fmla="val 16129"/>
            </a:avLst>
          </a:prstGeom>
          <a:solidFill>
            <a:srgbClr val="E3EEF8"/>
          </a:solidFill>
          <a:ln w="15875">
            <a:solidFill>
              <a:srgbClr val="306998"/>
            </a:solidFill>
            <a:prstDash val="solid"/>
          </a:ln>
        </p:spPr>
      </p:sp>
      <p:sp>
        <p:nvSpPr>
          <p:cNvPr id="12" name="v:Ordering:l0b0|b1"/>
          <p:cNvSpPr txBox="1"/>
          <p:nvPr/>
        </p:nvSpPr>
        <p:spPr>
          <a:xfrm>
            <a:off x="475488" y="1508760"/>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2</a:t>
            </a:r>
            <a:endParaRPr lang="en-US" sz="1000" dirty="0"/>
          </a:p>
        </p:txBody>
      </p:sp>
      <p:sp>
        <p:nvSpPr>
          <p:cNvPr id="13" name="v:Ordering:l0b1:box|b1"/>
          <p:cNvSpPr/>
          <p:nvPr/>
        </p:nvSpPr>
        <p:spPr>
          <a:xfrm>
            <a:off x="1170432" y="1508760"/>
            <a:ext cx="667512" cy="283464"/>
          </a:xfrm>
          <a:prstGeom prst="roundRect">
            <a:avLst>
              <a:gd name="adj" fmla="val 16129"/>
            </a:avLst>
          </a:prstGeom>
          <a:solidFill>
            <a:srgbClr val="E3EEF8"/>
          </a:solidFill>
          <a:ln w="15875">
            <a:solidFill>
              <a:srgbClr val="306998"/>
            </a:solidFill>
            <a:prstDash val="solid"/>
          </a:ln>
        </p:spPr>
      </p:sp>
      <p:sp>
        <p:nvSpPr>
          <p:cNvPr id="14" name="v:Ordering:l0b1|b1"/>
          <p:cNvSpPr txBox="1"/>
          <p:nvPr/>
        </p:nvSpPr>
        <p:spPr>
          <a:xfrm>
            <a:off x="1188720" y="1508760"/>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5</a:t>
            </a:r>
            <a:endParaRPr lang="en-US" sz="1000" dirty="0"/>
          </a:p>
        </p:txBody>
      </p:sp>
      <p:sp>
        <p:nvSpPr>
          <p:cNvPr id="15" name="v:Ordering:l0b2:box|b1"/>
          <p:cNvSpPr/>
          <p:nvPr/>
        </p:nvSpPr>
        <p:spPr>
          <a:xfrm>
            <a:off x="1883664" y="1508760"/>
            <a:ext cx="667512" cy="283464"/>
          </a:xfrm>
          <a:prstGeom prst="roundRect">
            <a:avLst>
              <a:gd name="adj" fmla="val 16129"/>
            </a:avLst>
          </a:prstGeom>
          <a:solidFill>
            <a:srgbClr val="E3EEF8"/>
          </a:solidFill>
          <a:ln w="15875">
            <a:solidFill>
              <a:srgbClr val="306998"/>
            </a:solidFill>
            <a:prstDash val="solid"/>
          </a:ln>
        </p:spPr>
      </p:sp>
      <p:sp>
        <p:nvSpPr>
          <p:cNvPr id="16" name="v:Ordering:l0b2|b1"/>
          <p:cNvSpPr txBox="1"/>
          <p:nvPr/>
        </p:nvSpPr>
        <p:spPr>
          <a:xfrm>
            <a:off x="1901952" y="1508760"/>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3.14</a:t>
            </a:r>
            <a:endParaRPr lang="en-US" sz="1000" dirty="0"/>
          </a:p>
        </p:txBody>
      </p:sp>
      <p:sp>
        <p:nvSpPr>
          <p:cNvPr id="17" name="v:Ordering:l0b3:box|b1"/>
          <p:cNvSpPr/>
          <p:nvPr/>
        </p:nvSpPr>
        <p:spPr>
          <a:xfrm>
            <a:off x="2596896" y="1508760"/>
            <a:ext cx="667512" cy="283464"/>
          </a:xfrm>
          <a:prstGeom prst="roundRect">
            <a:avLst>
              <a:gd name="adj" fmla="val 16129"/>
            </a:avLst>
          </a:prstGeom>
          <a:solidFill>
            <a:srgbClr val="E3EEF8"/>
          </a:solidFill>
          <a:ln w="15875">
            <a:solidFill>
              <a:srgbClr val="306998"/>
            </a:solidFill>
            <a:prstDash val="solid"/>
          </a:ln>
        </p:spPr>
      </p:sp>
      <p:sp>
        <p:nvSpPr>
          <p:cNvPr id="18" name="v:Ordering:l0b3|b1"/>
          <p:cNvSpPr txBox="1"/>
          <p:nvPr/>
        </p:nvSpPr>
        <p:spPr>
          <a:xfrm>
            <a:off x="2615184" y="1508760"/>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1</a:t>
            </a:r>
            <a:endParaRPr lang="en-US" sz="1000" dirty="0"/>
          </a:p>
        </p:txBody>
      </p:sp>
      <p:sp>
        <p:nvSpPr>
          <p:cNvPr id="19" name="v:Ordering:l0b4:box|b1"/>
          <p:cNvSpPr/>
          <p:nvPr/>
        </p:nvSpPr>
        <p:spPr>
          <a:xfrm>
            <a:off x="3310128" y="1508760"/>
            <a:ext cx="667512" cy="283464"/>
          </a:xfrm>
          <a:prstGeom prst="roundRect">
            <a:avLst>
              <a:gd name="adj" fmla="val 16129"/>
            </a:avLst>
          </a:prstGeom>
          <a:solidFill>
            <a:srgbClr val="E3EEF8"/>
          </a:solidFill>
          <a:ln w="15875">
            <a:solidFill>
              <a:srgbClr val="306998"/>
            </a:solidFill>
            <a:prstDash val="solid"/>
          </a:ln>
        </p:spPr>
      </p:sp>
      <p:sp>
        <p:nvSpPr>
          <p:cNvPr id="20" name="v:Ordering:l0b4|b1"/>
          <p:cNvSpPr txBox="1"/>
          <p:nvPr/>
        </p:nvSpPr>
        <p:spPr>
          <a:xfrm>
            <a:off x="3328416" y="1508760"/>
            <a:ext cx="630936"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-7</a:t>
            </a:r>
            <a:endParaRPr lang="en-US" sz="1000" dirty="0"/>
          </a:p>
        </p:txBody>
      </p:sp>
      <p:sp>
        <p:nvSpPr>
          <p:cNvPr id="21" name="arrow|b1"/>
          <p:cNvSpPr/>
          <p:nvPr/>
        </p:nvSpPr>
        <p:spPr>
          <a:xfrm>
            <a:off x="4069080" y="1650492"/>
            <a:ext cx="411480" cy="0"/>
          </a:xfrm>
          <a:prstGeom prst="line">
            <a:avLst/>
          </a:prstGeom>
          <a:noFill/>
          <a:ln w="31750">
            <a:solidFill>
              <a:srgbClr val="2E9E5B"/>
            </a:solidFill>
            <a:prstDash val="solid"/>
            <a:tailEnd type="triangle"/>
          </a:ln>
        </p:spPr>
      </p:sp>
      <p:sp>
        <p:nvSpPr>
          <p:cNvPr id="22" name="v:Ordering:l0a0:box|b1"/>
          <p:cNvSpPr/>
          <p:nvPr/>
        </p:nvSpPr>
        <p:spPr>
          <a:xfrm>
            <a:off x="4590288" y="1508760"/>
            <a:ext cx="777240" cy="283464"/>
          </a:xfrm>
          <a:prstGeom prst="roundRect">
            <a:avLst>
              <a:gd name="adj" fmla="val 16129"/>
            </a:avLst>
          </a:prstGeom>
          <a:solidFill>
            <a:srgbClr val="E3EEF8"/>
          </a:solidFill>
          <a:ln w="15875">
            <a:solidFill>
              <a:srgbClr val="306998"/>
            </a:solidFill>
            <a:prstDash val="solid"/>
          </a:ln>
        </p:spPr>
      </p:sp>
      <p:sp>
        <p:nvSpPr>
          <p:cNvPr id="23" name="v:Ordering:l0a0|b1"/>
          <p:cNvSpPr txBox="1"/>
          <p:nvPr/>
        </p:nvSpPr>
        <p:spPr>
          <a:xfrm>
            <a:off x="4608576" y="150876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-7</a:t>
            </a:r>
            <a:endParaRPr lang="en-US" sz="1000" dirty="0"/>
          </a:p>
        </p:txBody>
      </p:sp>
      <p:sp>
        <p:nvSpPr>
          <p:cNvPr id="24" name="v:Ordering:l0a1:box|b1"/>
          <p:cNvSpPr/>
          <p:nvPr/>
        </p:nvSpPr>
        <p:spPr>
          <a:xfrm>
            <a:off x="5413248" y="1508760"/>
            <a:ext cx="777240" cy="283464"/>
          </a:xfrm>
          <a:prstGeom prst="roundRect">
            <a:avLst>
              <a:gd name="adj" fmla="val 16129"/>
            </a:avLst>
          </a:prstGeom>
          <a:solidFill>
            <a:srgbClr val="E3EEF8"/>
          </a:solidFill>
          <a:ln w="15875">
            <a:solidFill>
              <a:srgbClr val="306998"/>
            </a:solidFill>
            <a:prstDash val="solid"/>
          </a:ln>
        </p:spPr>
      </p:sp>
      <p:sp>
        <p:nvSpPr>
          <p:cNvPr id="25" name="v:Ordering:l0a1|b1"/>
          <p:cNvSpPr txBox="1"/>
          <p:nvPr/>
        </p:nvSpPr>
        <p:spPr>
          <a:xfrm>
            <a:off x="5431536" y="150876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1</a:t>
            </a:r>
            <a:endParaRPr lang="en-US" sz="1000" dirty="0"/>
          </a:p>
        </p:txBody>
      </p:sp>
      <p:sp>
        <p:nvSpPr>
          <p:cNvPr id="26" name="v:Ordering:l0a2:box|b1"/>
          <p:cNvSpPr/>
          <p:nvPr/>
        </p:nvSpPr>
        <p:spPr>
          <a:xfrm>
            <a:off x="6236208" y="1508760"/>
            <a:ext cx="777240" cy="283464"/>
          </a:xfrm>
          <a:prstGeom prst="roundRect">
            <a:avLst>
              <a:gd name="adj" fmla="val 16129"/>
            </a:avLst>
          </a:prstGeom>
          <a:solidFill>
            <a:srgbClr val="E3EEF8"/>
          </a:solidFill>
          <a:ln w="15875">
            <a:solidFill>
              <a:srgbClr val="306998"/>
            </a:solidFill>
            <a:prstDash val="solid"/>
          </a:ln>
        </p:spPr>
      </p:sp>
      <p:sp>
        <p:nvSpPr>
          <p:cNvPr id="27" name="v:Ordering:l0a2|b1"/>
          <p:cNvSpPr txBox="1"/>
          <p:nvPr/>
        </p:nvSpPr>
        <p:spPr>
          <a:xfrm>
            <a:off x="6254496" y="150876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2</a:t>
            </a:r>
            <a:endParaRPr lang="en-US" sz="1000" dirty="0"/>
          </a:p>
        </p:txBody>
      </p:sp>
      <p:sp>
        <p:nvSpPr>
          <p:cNvPr id="28" name="v:Ordering:l0a3:box|b1"/>
          <p:cNvSpPr/>
          <p:nvPr/>
        </p:nvSpPr>
        <p:spPr>
          <a:xfrm>
            <a:off x="7059168" y="1508760"/>
            <a:ext cx="777240" cy="283464"/>
          </a:xfrm>
          <a:prstGeom prst="roundRect">
            <a:avLst>
              <a:gd name="adj" fmla="val 16129"/>
            </a:avLst>
          </a:prstGeom>
          <a:solidFill>
            <a:srgbClr val="E3EEF8"/>
          </a:solidFill>
          <a:ln w="15875">
            <a:solidFill>
              <a:srgbClr val="306998"/>
            </a:solidFill>
            <a:prstDash val="solid"/>
          </a:ln>
        </p:spPr>
      </p:sp>
      <p:sp>
        <p:nvSpPr>
          <p:cNvPr id="29" name="v:Ordering:l0a3|b1"/>
          <p:cNvSpPr txBox="1"/>
          <p:nvPr/>
        </p:nvSpPr>
        <p:spPr>
          <a:xfrm>
            <a:off x="7077456" y="150876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3.14</a:t>
            </a:r>
            <a:endParaRPr lang="en-US" sz="1000" dirty="0"/>
          </a:p>
        </p:txBody>
      </p:sp>
      <p:sp>
        <p:nvSpPr>
          <p:cNvPr id="30" name="v:Ordering:l0a4:box|b1"/>
          <p:cNvSpPr/>
          <p:nvPr/>
        </p:nvSpPr>
        <p:spPr>
          <a:xfrm>
            <a:off x="7882128" y="1508760"/>
            <a:ext cx="777240" cy="283464"/>
          </a:xfrm>
          <a:prstGeom prst="roundRect">
            <a:avLst>
              <a:gd name="adj" fmla="val 16129"/>
            </a:avLst>
          </a:prstGeom>
          <a:solidFill>
            <a:srgbClr val="E3EEF8"/>
          </a:solidFill>
          <a:ln w="15875">
            <a:solidFill>
              <a:srgbClr val="306998"/>
            </a:solidFill>
            <a:prstDash val="solid"/>
          </a:ln>
        </p:spPr>
      </p:sp>
      <p:sp>
        <p:nvSpPr>
          <p:cNvPr id="31" name="v:Ordering:l0a4|b1"/>
          <p:cNvSpPr txBox="1"/>
          <p:nvPr/>
        </p:nvSpPr>
        <p:spPr>
          <a:xfrm>
            <a:off x="7900416" y="150876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5</a:t>
            </a:r>
            <a:endParaRPr lang="en-US" sz="1000" dirty="0"/>
          </a:p>
        </p:txBody>
      </p:sp>
      <p:sp>
        <p:nvSpPr>
          <p:cNvPr id="32" name="lanebox|b2"/>
          <p:cNvSpPr/>
          <p:nvPr/>
        </p:nvSpPr>
        <p:spPr>
          <a:xfrm>
            <a:off x="365760" y="1901952"/>
            <a:ext cx="8412480" cy="676656"/>
          </a:xfrm>
          <a:prstGeom prst="roundRect">
            <a:avLst>
              <a:gd name="adj" fmla="val 8108"/>
            </a:avLst>
          </a:prstGeom>
          <a:solidFill>
            <a:srgbClr val="FFFFFF"/>
          </a:solidFill>
          <a:ln w="9525">
            <a:solidFill>
              <a:srgbClr val="9AA8B8"/>
            </a:solidFill>
            <a:prstDash val="solid"/>
          </a:ln>
        </p:spPr>
      </p:sp>
      <p:sp>
        <p:nvSpPr>
          <p:cNvPr id="33" name="v:Ordering:l1op|b2"/>
          <p:cNvSpPr txBox="1"/>
          <p:nvPr/>
        </p:nvSpPr>
        <p:spPr>
          <a:xfrm>
            <a:off x="457200" y="1920240"/>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spam.reverse()</a:t>
            </a:r>
            <a:endParaRPr lang="en-US" sz="1250" dirty="0"/>
          </a:p>
        </p:txBody>
      </p:sp>
      <p:sp>
        <p:nvSpPr>
          <p:cNvPr id="34" name="v:Ordering:l1cat|b2"/>
          <p:cNvSpPr txBox="1"/>
          <p:nvPr/>
        </p:nvSpPr>
        <p:spPr>
          <a:xfrm>
            <a:off x="3611880" y="1920240"/>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35" name="v:Ordering:l1retbox:box|b2"/>
          <p:cNvSpPr/>
          <p:nvPr/>
        </p:nvSpPr>
        <p:spPr>
          <a:xfrm>
            <a:off x="6812280" y="1947672"/>
            <a:ext cx="1874520" cy="246888"/>
          </a:xfrm>
          <a:prstGeom prst="roundRect">
            <a:avLst>
              <a:gd name="adj" fmla="val 29630"/>
            </a:avLst>
          </a:prstGeom>
          <a:solidFill>
            <a:srgbClr val="FCEFD0"/>
          </a:solidFill>
          <a:ln w="12700">
            <a:solidFill>
              <a:srgbClr val="B7791F"/>
            </a:solidFill>
            <a:prstDash val="solid"/>
          </a:ln>
        </p:spPr>
      </p:sp>
      <p:sp>
        <p:nvSpPr>
          <p:cNvPr id="36" name="v:Ordering:l1ret|b2"/>
          <p:cNvSpPr txBox="1"/>
          <p:nvPr/>
        </p:nvSpPr>
        <p:spPr>
          <a:xfrm>
            <a:off x="6812280" y="1947672"/>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None</a:t>
            </a:r>
            <a:endParaRPr lang="en-US" sz="1050" dirty="0"/>
          </a:p>
        </p:txBody>
      </p:sp>
      <p:sp>
        <p:nvSpPr>
          <p:cNvPr id="37" name="v:Ordering:l1b0:box|b2"/>
          <p:cNvSpPr/>
          <p:nvPr/>
        </p:nvSpPr>
        <p:spPr>
          <a:xfrm>
            <a:off x="457200" y="2240280"/>
            <a:ext cx="777240" cy="283464"/>
          </a:xfrm>
          <a:prstGeom prst="roundRect">
            <a:avLst>
              <a:gd name="adj" fmla="val 16129"/>
            </a:avLst>
          </a:prstGeom>
          <a:solidFill>
            <a:srgbClr val="E3EEF8"/>
          </a:solidFill>
          <a:ln w="15875">
            <a:solidFill>
              <a:srgbClr val="306998"/>
            </a:solidFill>
            <a:prstDash val="solid"/>
          </a:ln>
        </p:spPr>
      </p:sp>
      <p:sp>
        <p:nvSpPr>
          <p:cNvPr id="38" name="v:Ordering:l1b0|b2"/>
          <p:cNvSpPr txBox="1"/>
          <p:nvPr/>
        </p:nvSpPr>
        <p:spPr>
          <a:xfrm>
            <a:off x="475488" y="224028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39" name="v:Ordering:l1b1:box|b2"/>
          <p:cNvSpPr/>
          <p:nvPr/>
        </p:nvSpPr>
        <p:spPr>
          <a:xfrm>
            <a:off x="1280160" y="2240280"/>
            <a:ext cx="777240" cy="283464"/>
          </a:xfrm>
          <a:prstGeom prst="roundRect">
            <a:avLst>
              <a:gd name="adj" fmla="val 16129"/>
            </a:avLst>
          </a:prstGeom>
          <a:solidFill>
            <a:srgbClr val="E3EEF8"/>
          </a:solidFill>
          <a:ln w="15875">
            <a:solidFill>
              <a:srgbClr val="306998"/>
            </a:solidFill>
            <a:prstDash val="solid"/>
          </a:ln>
        </p:spPr>
      </p:sp>
      <p:sp>
        <p:nvSpPr>
          <p:cNvPr id="40" name="v:Ordering:l1b1|b2"/>
          <p:cNvSpPr txBox="1"/>
          <p:nvPr/>
        </p:nvSpPr>
        <p:spPr>
          <a:xfrm>
            <a:off x="1298448" y="224028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'dog'</a:t>
            </a:r>
            <a:endParaRPr lang="en-US" sz="1000" dirty="0"/>
          </a:p>
        </p:txBody>
      </p:sp>
      <p:sp>
        <p:nvSpPr>
          <p:cNvPr id="41" name="v:Ordering:l1b2:box|b2"/>
          <p:cNvSpPr/>
          <p:nvPr/>
        </p:nvSpPr>
        <p:spPr>
          <a:xfrm>
            <a:off x="2103120" y="2240280"/>
            <a:ext cx="777240" cy="283464"/>
          </a:xfrm>
          <a:prstGeom prst="roundRect">
            <a:avLst>
              <a:gd name="adj" fmla="val 16129"/>
            </a:avLst>
          </a:prstGeom>
          <a:solidFill>
            <a:srgbClr val="E3EEF8"/>
          </a:solidFill>
          <a:ln w="15875">
            <a:solidFill>
              <a:srgbClr val="306998"/>
            </a:solidFill>
            <a:prstDash val="solid"/>
          </a:ln>
        </p:spPr>
      </p:sp>
      <p:sp>
        <p:nvSpPr>
          <p:cNvPr id="42" name="v:Ordering:l1b2|b2"/>
          <p:cNvSpPr txBox="1"/>
          <p:nvPr/>
        </p:nvSpPr>
        <p:spPr>
          <a:xfrm>
            <a:off x="2121408" y="224028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'moose'</a:t>
            </a:r>
            <a:endParaRPr lang="en-US" sz="1000" dirty="0"/>
          </a:p>
        </p:txBody>
      </p:sp>
      <p:sp>
        <p:nvSpPr>
          <p:cNvPr id="43" name="arrow|b2"/>
          <p:cNvSpPr/>
          <p:nvPr/>
        </p:nvSpPr>
        <p:spPr>
          <a:xfrm>
            <a:off x="4069080" y="2382012"/>
            <a:ext cx="411480" cy="0"/>
          </a:xfrm>
          <a:prstGeom prst="line">
            <a:avLst/>
          </a:prstGeom>
          <a:noFill/>
          <a:ln w="31750">
            <a:solidFill>
              <a:srgbClr val="2E9E5B"/>
            </a:solidFill>
            <a:prstDash val="solid"/>
            <a:tailEnd type="triangle"/>
          </a:ln>
        </p:spPr>
      </p:sp>
      <p:sp>
        <p:nvSpPr>
          <p:cNvPr id="44" name="v:Ordering:l1a0:box|b2"/>
          <p:cNvSpPr/>
          <p:nvPr/>
        </p:nvSpPr>
        <p:spPr>
          <a:xfrm>
            <a:off x="4590288" y="2240280"/>
            <a:ext cx="777240" cy="283464"/>
          </a:xfrm>
          <a:prstGeom prst="roundRect">
            <a:avLst>
              <a:gd name="adj" fmla="val 16129"/>
            </a:avLst>
          </a:prstGeom>
          <a:solidFill>
            <a:srgbClr val="E3EEF8"/>
          </a:solidFill>
          <a:ln w="15875">
            <a:solidFill>
              <a:srgbClr val="306998"/>
            </a:solidFill>
            <a:prstDash val="solid"/>
          </a:ln>
        </p:spPr>
      </p:sp>
      <p:sp>
        <p:nvSpPr>
          <p:cNvPr id="45" name="v:Ordering:l1a0|b2"/>
          <p:cNvSpPr txBox="1"/>
          <p:nvPr/>
        </p:nvSpPr>
        <p:spPr>
          <a:xfrm>
            <a:off x="4608576" y="224028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'moose'</a:t>
            </a:r>
            <a:endParaRPr lang="en-US" sz="1000" dirty="0"/>
          </a:p>
        </p:txBody>
      </p:sp>
      <p:sp>
        <p:nvSpPr>
          <p:cNvPr id="46" name="v:Ordering:l1a1:box|b2"/>
          <p:cNvSpPr/>
          <p:nvPr/>
        </p:nvSpPr>
        <p:spPr>
          <a:xfrm>
            <a:off x="5413248" y="2240280"/>
            <a:ext cx="777240" cy="283464"/>
          </a:xfrm>
          <a:prstGeom prst="roundRect">
            <a:avLst>
              <a:gd name="adj" fmla="val 16129"/>
            </a:avLst>
          </a:prstGeom>
          <a:solidFill>
            <a:srgbClr val="E3EEF8"/>
          </a:solidFill>
          <a:ln w="15875">
            <a:solidFill>
              <a:srgbClr val="306998"/>
            </a:solidFill>
            <a:prstDash val="solid"/>
          </a:ln>
        </p:spPr>
      </p:sp>
      <p:sp>
        <p:nvSpPr>
          <p:cNvPr id="47" name="v:Ordering:l1a1|b2"/>
          <p:cNvSpPr txBox="1"/>
          <p:nvPr/>
        </p:nvSpPr>
        <p:spPr>
          <a:xfrm>
            <a:off x="5431536" y="224028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'dog'</a:t>
            </a:r>
            <a:endParaRPr lang="en-US" sz="1000" dirty="0"/>
          </a:p>
        </p:txBody>
      </p:sp>
      <p:sp>
        <p:nvSpPr>
          <p:cNvPr id="48" name="v:Ordering:l1a2:box|b2"/>
          <p:cNvSpPr/>
          <p:nvPr/>
        </p:nvSpPr>
        <p:spPr>
          <a:xfrm>
            <a:off x="6236208" y="2240280"/>
            <a:ext cx="777240" cy="283464"/>
          </a:xfrm>
          <a:prstGeom prst="roundRect">
            <a:avLst>
              <a:gd name="adj" fmla="val 16129"/>
            </a:avLst>
          </a:prstGeom>
          <a:solidFill>
            <a:srgbClr val="E3EEF8"/>
          </a:solidFill>
          <a:ln w="15875">
            <a:solidFill>
              <a:srgbClr val="306998"/>
            </a:solidFill>
            <a:prstDash val="solid"/>
          </a:ln>
        </p:spPr>
      </p:sp>
      <p:sp>
        <p:nvSpPr>
          <p:cNvPr id="49" name="v:Ordering:l1a2|b2"/>
          <p:cNvSpPr txBox="1"/>
          <p:nvPr/>
        </p:nvSpPr>
        <p:spPr>
          <a:xfrm>
            <a:off x="6254496" y="224028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a:t>
            </a:r>
            <a:endParaRPr lang="en-US" sz="1000" dirty="0"/>
          </a:p>
        </p:txBody>
      </p:sp>
      <p:sp>
        <p:nvSpPr>
          <p:cNvPr id="50" name="lanebox|b3"/>
          <p:cNvSpPr/>
          <p:nvPr/>
        </p:nvSpPr>
        <p:spPr>
          <a:xfrm>
            <a:off x="365760" y="2633472"/>
            <a:ext cx="8412480" cy="676656"/>
          </a:xfrm>
          <a:prstGeom prst="roundRect">
            <a:avLst>
              <a:gd name="adj" fmla="val 8108"/>
            </a:avLst>
          </a:prstGeom>
          <a:solidFill>
            <a:srgbClr val="FFFFFF"/>
          </a:solidFill>
          <a:ln w="9525">
            <a:solidFill>
              <a:srgbClr val="9AA8B8"/>
            </a:solidFill>
            <a:prstDash val="solid"/>
          </a:ln>
        </p:spPr>
      </p:sp>
      <p:sp>
        <p:nvSpPr>
          <p:cNvPr id="51" name="v:Ordering:l2op|b3"/>
          <p:cNvSpPr txBox="1"/>
          <p:nvPr/>
        </p:nvSpPr>
        <p:spPr>
          <a:xfrm>
            <a:off x="457200" y="2651760"/>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sorted(nums)</a:t>
            </a:r>
            <a:endParaRPr lang="en-US" sz="1250" dirty="0"/>
          </a:p>
        </p:txBody>
      </p:sp>
      <p:sp>
        <p:nvSpPr>
          <p:cNvPr id="52" name="v:Ordering:l2cat|b3"/>
          <p:cNvSpPr txBox="1"/>
          <p:nvPr/>
        </p:nvSpPr>
        <p:spPr>
          <a:xfrm>
            <a:off x="3611880" y="2651760"/>
            <a:ext cx="3063240" cy="292608"/>
          </a:xfrm>
          <a:prstGeom prst="rect">
            <a:avLst/>
          </a:prstGeom>
          <a:noFill/>
          <a:ln/>
        </p:spPr>
        <p:txBody>
          <a:bodyPr wrap="square" lIns="0" tIns="0" rIns="0" bIns="0" rtlCol="0" anchor="ctr"/>
          <a:lstStyle/>
          <a:p>
            <a:pPr indent="0" marL="0">
              <a:buNone/>
            </a:pPr>
            <a:r>
              <a:rPr lang="en-US" sz="1050" b="1" dirty="0">
                <a:solidFill>
                  <a:srgbClr val="306998"/>
                </a:solidFill>
                <a:latin typeface="Calibri" pitchFamily="34" charset="0"/>
                <a:ea typeface="Calibri" pitchFamily="34" charset="-122"/>
                <a:cs typeface="Calibri" pitchFamily="34" charset="-120"/>
              </a:rPr>
              <a:t>makes a new list; the original is unchanged</a:t>
            </a:r>
            <a:endParaRPr lang="en-US" sz="1050" dirty="0"/>
          </a:p>
        </p:txBody>
      </p:sp>
      <p:sp>
        <p:nvSpPr>
          <p:cNvPr id="53" name="v:Ordering:l2retbox:box|b3"/>
          <p:cNvSpPr/>
          <p:nvPr/>
        </p:nvSpPr>
        <p:spPr>
          <a:xfrm>
            <a:off x="6812280" y="2679192"/>
            <a:ext cx="1874520" cy="246888"/>
          </a:xfrm>
          <a:prstGeom prst="roundRect">
            <a:avLst>
              <a:gd name="adj" fmla="val 29630"/>
            </a:avLst>
          </a:prstGeom>
          <a:solidFill>
            <a:srgbClr val="FCEFD0"/>
          </a:solidFill>
          <a:ln w="12700">
            <a:solidFill>
              <a:srgbClr val="B7791F"/>
            </a:solidFill>
            <a:prstDash val="solid"/>
          </a:ln>
        </p:spPr>
      </p:sp>
      <p:sp>
        <p:nvSpPr>
          <p:cNvPr id="54" name="v:Ordering:l2ret|b3"/>
          <p:cNvSpPr txBox="1"/>
          <p:nvPr/>
        </p:nvSpPr>
        <p:spPr>
          <a:xfrm>
            <a:off x="6812280" y="2679192"/>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a new list</a:t>
            </a:r>
            <a:endParaRPr lang="en-US" sz="1050" dirty="0"/>
          </a:p>
        </p:txBody>
      </p:sp>
      <p:sp>
        <p:nvSpPr>
          <p:cNvPr id="55" name="v:Ordering:l2b0:box|b3"/>
          <p:cNvSpPr/>
          <p:nvPr/>
        </p:nvSpPr>
        <p:spPr>
          <a:xfrm>
            <a:off x="457200" y="2971800"/>
            <a:ext cx="777240" cy="283464"/>
          </a:xfrm>
          <a:prstGeom prst="roundRect">
            <a:avLst>
              <a:gd name="adj" fmla="val 16129"/>
            </a:avLst>
          </a:prstGeom>
          <a:solidFill>
            <a:srgbClr val="E3EEF8"/>
          </a:solidFill>
          <a:ln w="15875">
            <a:solidFill>
              <a:srgbClr val="306998"/>
            </a:solidFill>
            <a:prstDash val="solid"/>
          </a:ln>
        </p:spPr>
      </p:sp>
      <p:sp>
        <p:nvSpPr>
          <p:cNvPr id="56" name="v:Ordering:l2b0|b3"/>
          <p:cNvSpPr txBox="1"/>
          <p:nvPr/>
        </p:nvSpPr>
        <p:spPr>
          <a:xfrm>
            <a:off x="475488" y="297180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a:t>
            </a:r>
            <a:endParaRPr lang="en-US" sz="1000" dirty="0"/>
          </a:p>
        </p:txBody>
      </p:sp>
      <p:sp>
        <p:nvSpPr>
          <p:cNvPr id="57" name="v:Ordering:l2b1:box|b3"/>
          <p:cNvSpPr/>
          <p:nvPr/>
        </p:nvSpPr>
        <p:spPr>
          <a:xfrm>
            <a:off x="1280160" y="2971800"/>
            <a:ext cx="777240" cy="283464"/>
          </a:xfrm>
          <a:prstGeom prst="roundRect">
            <a:avLst>
              <a:gd name="adj" fmla="val 16129"/>
            </a:avLst>
          </a:prstGeom>
          <a:solidFill>
            <a:srgbClr val="E3EEF8"/>
          </a:solidFill>
          <a:ln w="15875">
            <a:solidFill>
              <a:srgbClr val="306998"/>
            </a:solidFill>
            <a:prstDash val="solid"/>
          </a:ln>
        </p:spPr>
      </p:sp>
      <p:sp>
        <p:nvSpPr>
          <p:cNvPr id="58" name="v:Ordering:l2b1|b3"/>
          <p:cNvSpPr txBox="1"/>
          <p:nvPr/>
        </p:nvSpPr>
        <p:spPr>
          <a:xfrm>
            <a:off x="1298448" y="297180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1</a:t>
            </a:r>
            <a:endParaRPr lang="en-US" sz="1000" dirty="0"/>
          </a:p>
        </p:txBody>
      </p:sp>
      <p:sp>
        <p:nvSpPr>
          <p:cNvPr id="59" name="v:Ordering:l2b2:box|b3"/>
          <p:cNvSpPr/>
          <p:nvPr/>
        </p:nvSpPr>
        <p:spPr>
          <a:xfrm>
            <a:off x="2103120" y="2971800"/>
            <a:ext cx="777240" cy="283464"/>
          </a:xfrm>
          <a:prstGeom prst="roundRect">
            <a:avLst>
              <a:gd name="adj" fmla="val 16129"/>
            </a:avLst>
          </a:prstGeom>
          <a:solidFill>
            <a:srgbClr val="E3EEF8"/>
          </a:solidFill>
          <a:ln w="15875">
            <a:solidFill>
              <a:srgbClr val="306998"/>
            </a:solidFill>
            <a:prstDash val="solid"/>
          </a:ln>
        </p:spPr>
      </p:sp>
      <p:sp>
        <p:nvSpPr>
          <p:cNvPr id="60" name="v:Ordering:l2b2|b3"/>
          <p:cNvSpPr txBox="1"/>
          <p:nvPr/>
        </p:nvSpPr>
        <p:spPr>
          <a:xfrm>
            <a:off x="2121408" y="297180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2</a:t>
            </a:r>
            <a:endParaRPr lang="en-US" sz="1000" dirty="0"/>
          </a:p>
        </p:txBody>
      </p:sp>
      <p:sp>
        <p:nvSpPr>
          <p:cNvPr id="61" name="arrow|b3"/>
          <p:cNvSpPr/>
          <p:nvPr/>
        </p:nvSpPr>
        <p:spPr>
          <a:xfrm>
            <a:off x="4069080" y="3113532"/>
            <a:ext cx="411480" cy="0"/>
          </a:xfrm>
          <a:prstGeom prst="line">
            <a:avLst/>
          </a:prstGeom>
          <a:noFill/>
          <a:ln w="31750">
            <a:solidFill>
              <a:srgbClr val="306998"/>
            </a:solidFill>
            <a:prstDash val="solid"/>
            <a:tailEnd type="triangle"/>
          </a:ln>
        </p:spPr>
      </p:sp>
      <p:sp>
        <p:nvSpPr>
          <p:cNvPr id="62" name="v:Ordering:l2a0:box|b3"/>
          <p:cNvSpPr/>
          <p:nvPr/>
        </p:nvSpPr>
        <p:spPr>
          <a:xfrm>
            <a:off x="4590288" y="2971800"/>
            <a:ext cx="777240" cy="283464"/>
          </a:xfrm>
          <a:prstGeom prst="roundRect">
            <a:avLst>
              <a:gd name="adj" fmla="val 16129"/>
            </a:avLst>
          </a:prstGeom>
          <a:solidFill>
            <a:srgbClr val="E3EEF8"/>
          </a:solidFill>
          <a:ln w="15875">
            <a:solidFill>
              <a:srgbClr val="306998"/>
            </a:solidFill>
            <a:prstDash val="solid"/>
          </a:ln>
        </p:spPr>
      </p:sp>
      <p:sp>
        <p:nvSpPr>
          <p:cNvPr id="63" name="v:Ordering:l2a0|b3"/>
          <p:cNvSpPr txBox="1"/>
          <p:nvPr/>
        </p:nvSpPr>
        <p:spPr>
          <a:xfrm>
            <a:off x="4608576" y="297180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1</a:t>
            </a:r>
            <a:endParaRPr lang="en-US" sz="1000" dirty="0"/>
          </a:p>
        </p:txBody>
      </p:sp>
      <p:sp>
        <p:nvSpPr>
          <p:cNvPr id="64" name="v:Ordering:l2a1:box|b3"/>
          <p:cNvSpPr/>
          <p:nvPr/>
        </p:nvSpPr>
        <p:spPr>
          <a:xfrm>
            <a:off x="5413248" y="2971800"/>
            <a:ext cx="777240" cy="283464"/>
          </a:xfrm>
          <a:prstGeom prst="roundRect">
            <a:avLst>
              <a:gd name="adj" fmla="val 16129"/>
            </a:avLst>
          </a:prstGeom>
          <a:solidFill>
            <a:srgbClr val="E3EEF8"/>
          </a:solidFill>
          <a:ln w="15875">
            <a:solidFill>
              <a:srgbClr val="306998"/>
            </a:solidFill>
            <a:prstDash val="solid"/>
          </a:ln>
        </p:spPr>
      </p:sp>
      <p:sp>
        <p:nvSpPr>
          <p:cNvPr id="65" name="v:Ordering:l2a1|b3"/>
          <p:cNvSpPr txBox="1"/>
          <p:nvPr/>
        </p:nvSpPr>
        <p:spPr>
          <a:xfrm>
            <a:off x="5431536" y="297180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2</a:t>
            </a:r>
            <a:endParaRPr lang="en-US" sz="1000" dirty="0"/>
          </a:p>
        </p:txBody>
      </p:sp>
      <p:sp>
        <p:nvSpPr>
          <p:cNvPr id="66" name="v:Ordering:l2a2:box|b3"/>
          <p:cNvSpPr/>
          <p:nvPr/>
        </p:nvSpPr>
        <p:spPr>
          <a:xfrm>
            <a:off x="6236208" y="2971800"/>
            <a:ext cx="777240" cy="283464"/>
          </a:xfrm>
          <a:prstGeom prst="roundRect">
            <a:avLst>
              <a:gd name="adj" fmla="val 16129"/>
            </a:avLst>
          </a:prstGeom>
          <a:solidFill>
            <a:srgbClr val="E3EEF8"/>
          </a:solidFill>
          <a:ln w="15875">
            <a:solidFill>
              <a:srgbClr val="306998"/>
            </a:solidFill>
            <a:prstDash val="solid"/>
          </a:ln>
        </p:spPr>
      </p:sp>
      <p:sp>
        <p:nvSpPr>
          <p:cNvPr id="67" name="v:Ordering:l2a2|b3"/>
          <p:cNvSpPr txBox="1"/>
          <p:nvPr/>
        </p:nvSpPr>
        <p:spPr>
          <a:xfrm>
            <a:off x="6254496" y="2971800"/>
            <a:ext cx="7406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3</a:t>
            </a:r>
            <a:endParaRPr lang="en-US" sz="1000" dirty="0"/>
          </a:p>
        </p:txBody>
      </p:sp>
      <p:sp>
        <p:nvSpPr>
          <p:cNvPr id="68" name="lanebox|b4"/>
          <p:cNvSpPr/>
          <p:nvPr/>
        </p:nvSpPr>
        <p:spPr>
          <a:xfrm>
            <a:off x="365760" y="3364992"/>
            <a:ext cx="8412480" cy="676656"/>
          </a:xfrm>
          <a:prstGeom prst="roundRect">
            <a:avLst>
              <a:gd name="adj" fmla="val 8108"/>
            </a:avLst>
          </a:prstGeom>
          <a:solidFill>
            <a:srgbClr val="FFFFFF"/>
          </a:solidFill>
          <a:ln w="9525">
            <a:solidFill>
              <a:srgbClr val="9AA8B8"/>
            </a:solidFill>
            <a:prstDash val="solid"/>
          </a:ln>
        </p:spPr>
      </p:sp>
      <p:sp>
        <p:nvSpPr>
          <p:cNvPr id="69" name="v:Ordering:l3op|b4"/>
          <p:cNvSpPr txBox="1"/>
          <p:nvPr/>
        </p:nvSpPr>
        <p:spPr>
          <a:xfrm>
            <a:off x="457200" y="3383280"/>
            <a:ext cx="3108960" cy="292608"/>
          </a:xfrm>
          <a:prstGeom prst="rect">
            <a:avLst/>
          </a:prstGeom>
          <a:noFill/>
          <a:ln/>
        </p:spPr>
        <p:txBody>
          <a:bodyPr wrap="square" lIns="0" tIns="0" rIns="0" bIns="0" rtlCol="0" anchor="ctr"/>
          <a:lstStyle/>
          <a:p>
            <a:pPr indent="0" marL="0">
              <a:buNone/>
            </a:pPr>
            <a:r>
              <a:rPr lang="en-US" sz="1250" b="1" dirty="0">
                <a:solidFill>
                  <a:srgbClr val="1E2A3A"/>
                </a:solidFill>
                <a:latin typeface="Courier New" pitchFamily="34" charset="0"/>
                <a:ea typeface="Courier New" pitchFamily="34" charset="-122"/>
                <a:cs typeface="Courier New" pitchFamily="34" charset="-120"/>
              </a:rPr>
              <a:t>spam.sort()</a:t>
            </a:r>
            <a:endParaRPr lang="en-US" sz="1250" dirty="0"/>
          </a:p>
        </p:txBody>
      </p:sp>
      <p:sp>
        <p:nvSpPr>
          <p:cNvPr id="70" name="v:Ordering:l3cat|b4"/>
          <p:cNvSpPr txBox="1"/>
          <p:nvPr/>
        </p:nvSpPr>
        <p:spPr>
          <a:xfrm>
            <a:off x="3611880" y="3383280"/>
            <a:ext cx="3063240" cy="29260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changes the same list in place</a:t>
            </a:r>
            <a:endParaRPr lang="en-US" sz="1050" dirty="0"/>
          </a:p>
        </p:txBody>
      </p:sp>
      <p:sp>
        <p:nvSpPr>
          <p:cNvPr id="71" name="v:Ordering:l3retbox:box|b4"/>
          <p:cNvSpPr/>
          <p:nvPr/>
        </p:nvSpPr>
        <p:spPr>
          <a:xfrm>
            <a:off x="6812280" y="3410712"/>
            <a:ext cx="1874520" cy="246888"/>
          </a:xfrm>
          <a:prstGeom prst="roundRect">
            <a:avLst>
              <a:gd name="adj" fmla="val 29630"/>
            </a:avLst>
          </a:prstGeom>
          <a:solidFill>
            <a:srgbClr val="FCEFD0"/>
          </a:solidFill>
          <a:ln w="12700">
            <a:solidFill>
              <a:srgbClr val="B7791F"/>
            </a:solidFill>
            <a:prstDash val="solid"/>
          </a:ln>
        </p:spPr>
      </p:sp>
      <p:sp>
        <p:nvSpPr>
          <p:cNvPr id="72" name="v:Ordering:l3ret|b4"/>
          <p:cNvSpPr txBox="1"/>
          <p:nvPr/>
        </p:nvSpPr>
        <p:spPr>
          <a:xfrm>
            <a:off x="6812280" y="3410712"/>
            <a:ext cx="1874520" cy="246888"/>
          </a:xfrm>
          <a:prstGeom prst="rect">
            <a:avLst/>
          </a:prstGeom>
          <a:noFill/>
          <a:ln/>
        </p:spPr>
        <p:txBody>
          <a:bodyPr wrap="square" lIns="0" tIns="0" rIns="0" bIns="0" rtlCol="0" anchor="ctr"/>
          <a:lstStyle/>
          <a:p>
            <a:pPr algn="ctr" indent="0" marL="0">
              <a:buNone/>
            </a:pPr>
            <a:r>
              <a:rPr lang="en-US" sz="1050" b="1" dirty="0">
                <a:solidFill>
                  <a:srgbClr val="B7791F"/>
                </a:solidFill>
                <a:latin typeface="Calibri" pitchFamily="34" charset="0"/>
                <a:ea typeface="Calibri" pitchFamily="34" charset="-122"/>
                <a:cs typeface="Calibri" pitchFamily="34" charset="-120"/>
              </a:rPr>
              <a:t>returns None</a:t>
            </a:r>
            <a:endParaRPr lang="en-US" sz="1050" dirty="0"/>
          </a:p>
        </p:txBody>
      </p:sp>
      <p:sp>
        <p:nvSpPr>
          <p:cNvPr id="73" name="v:Ordering:l3b0:box|b4"/>
          <p:cNvSpPr/>
          <p:nvPr/>
        </p:nvSpPr>
        <p:spPr>
          <a:xfrm>
            <a:off x="457200" y="3703320"/>
            <a:ext cx="548640" cy="283464"/>
          </a:xfrm>
          <a:prstGeom prst="roundRect">
            <a:avLst>
              <a:gd name="adj" fmla="val 16129"/>
            </a:avLst>
          </a:prstGeom>
          <a:solidFill>
            <a:srgbClr val="E3EEF8"/>
          </a:solidFill>
          <a:ln w="15875">
            <a:solidFill>
              <a:srgbClr val="306998"/>
            </a:solidFill>
            <a:prstDash val="solid"/>
          </a:ln>
        </p:spPr>
      </p:sp>
      <p:sp>
        <p:nvSpPr>
          <p:cNvPr id="74" name="v:Ordering:l3b0|b4"/>
          <p:cNvSpPr txBox="1"/>
          <p:nvPr/>
        </p:nvSpPr>
        <p:spPr>
          <a:xfrm>
            <a:off x="475488" y="3703320"/>
            <a:ext cx="512064" cy="283464"/>
          </a:xfrm>
          <a:prstGeom prst="rect">
            <a:avLst/>
          </a:prstGeom>
          <a:noFill/>
          <a:ln/>
        </p:spPr>
        <p:txBody>
          <a:bodyPr wrap="square" lIns="0" tIns="0" rIns="0" bIns="0" rtlCol="0" anchor="ctr">
            <a:normAutofit/>
          </a:bodyPr>
          <a:lstStyle/>
          <a:p>
            <a:pPr algn="ctr" indent="0" marL="0">
              <a:buNone/>
            </a:pPr>
            <a:r>
              <a:rPr lang="en-US" sz="841" b="1" dirty="0">
                <a:solidFill>
                  <a:srgbClr val="1E2A3A"/>
                </a:solidFill>
                <a:latin typeface="Courier New" pitchFamily="34" charset="0"/>
                <a:ea typeface="Courier New" pitchFamily="34" charset="-122"/>
                <a:cs typeface="Courier New" pitchFamily="34" charset="-120"/>
              </a:rPr>
              <a:t>'Alice'</a:t>
            </a:r>
            <a:endParaRPr lang="en-US" sz="841" dirty="0"/>
          </a:p>
        </p:txBody>
      </p:sp>
      <p:sp>
        <p:nvSpPr>
          <p:cNvPr id="75" name="v:Ordering:l3b1:box|b4"/>
          <p:cNvSpPr/>
          <p:nvPr/>
        </p:nvSpPr>
        <p:spPr>
          <a:xfrm>
            <a:off x="1051560" y="3703320"/>
            <a:ext cx="548640" cy="283464"/>
          </a:xfrm>
          <a:prstGeom prst="roundRect">
            <a:avLst>
              <a:gd name="adj" fmla="val 16129"/>
            </a:avLst>
          </a:prstGeom>
          <a:solidFill>
            <a:srgbClr val="E3EEF8"/>
          </a:solidFill>
          <a:ln w="15875">
            <a:solidFill>
              <a:srgbClr val="306998"/>
            </a:solidFill>
            <a:prstDash val="solid"/>
          </a:ln>
        </p:spPr>
      </p:sp>
      <p:sp>
        <p:nvSpPr>
          <p:cNvPr id="76" name="v:Ordering:l3b1|b4"/>
          <p:cNvSpPr txBox="1"/>
          <p:nvPr/>
        </p:nvSpPr>
        <p:spPr>
          <a:xfrm>
            <a:off x="1069848" y="3703320"/>
            <a:ext cx="512064" cy="283464"/>
          </a:xfrm>
          <a:prstGeom prst="rect">
            <a:avLst/>
          </a:prstGeom>
          <a:noFill/>
          <a:ln/>
        </p:spPr>
        <p:txBody>
          <a:bodyPr wrap="square" lIns="0" tIns="0" rIns="0" bIns="0" rtlCol="0" anchor="ctr">
            <a:normAutofit/>
          </a:bodyPr>
          <a:lstStyle/>
          <a:p>
            <a:pPr algn="ctr" indent="0" marL="0">
              <a:buNone/>
            </a:pPr>
            <a:r>
              <a:rPr lang="en-US" sz="981" b="1" dirty="0">
                <a:solidFill>
                  <a:srgbClr val="1E2A3A"/>
                </a:solidFill>
                <a:latin typeface="Courier New" pitchFamily="34" charset="0"/>
                <a:ea typeface="Courier New" pitchFamily="34" charset="-122"/>
                <a:cs typeface="Courier New" pitchFamily="34" charset="-120"/>
              </a:rPr>
              <a:t>'ants'</a:t>
            </a:r>
            <a:endParaRPr lang="en-US" sz="981" dirty="0"/>
          </a:p>
        </p:txBody>
      </p:sp>
      <p:sp>
        <p:nvSpPr>
          <p:cNvPr id="77" name="v:Ordering:l3b2:box|b4"/>
          <p:cNvSpPr/>
          <p:nvPr/>
        </p:nvSpPr>
        <p:spPr>
          <a:xfrm>
            <a:off x="1645920" y="3703320"/>
            <a:ext cx="548640" cy="283464"/>
          </a:xfrm>
          <a:prstGeom prst="roundRect">
            <a:avLst>
              <a:gd name="adj" fmla="val 16129"/>
            </a:avLst>
          </a:prstGeom>
          <a:solidFill>
            <a:srgbClr val="E3EEF8"/>
          </a:solidFill>
          <a:ln w="15875">
            <a:solidFill>
              <a:srgbClr val="306998"/>
            </a:solidFill>
            <a:prstDash val="solid"/>
          </a:ln>
        </p:spPr>
      </p:sp>
      <p:sp>
        <p:nvSpPr>
          <p:cNvPr id="78" name="v:Ordering:l3b2|b4"/>
          <p:cNvSpPr txBox="1"/>
          <p:nvPr/>
        </p:nvSpPr>
        <p:spPr>
          <a:xfrm>
            <a:off x="1664208" y="3703320"/>
            <a:ext cx="51206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'Bob'</a:t>
            </a:r>
            <a:endParaRPr lang="en-US" sz="1000" dirty="0"/>
          </a:p>
        </p:txBody>
      </p:sp>
      <p:sp>
        <p:nvSpPr>
          <p:cNvPr id="79" name="v:Ordering:l3b3:box|b4"/>
          <p:cNvSpPr/>
          <p:nvPr/>
        </p:nvSpPr>
        <p:spPr>
          <a:xfrm>
            <a:off x="2240280" y="3703320"/>
            <a:ext cx="548640" cy="283464"/>
          </a:xfrm>
          <a:prstGeom prst="roundRect">
            <a:avLst>
              <a:gd name="adj" fmla="val 16129"/>
            </a:avLst>
          </a:prstGeom>
          <a:solidFill>
            <a:srgbClr val="E3EEF8"/>
          </a:solidFill>
          <a:ln w="15875">
            <a:solidFill>
              <a:srgbClr val="306998"/>
            </a:solidFill>
            <a:prstDash val="solid"/>
          </a:ln>
        </p:spPr>
      </p:sp>
      <p:sp>
        <p:nvSpPr>
          <p:cNvPr id="80" name="v:Ordering:l3b3|b4"/>
          <p:cNvSpPr txBox="1"/>
          <p:nvPr/>
        </p:nvSpPr>
        <p:spPr>
          <a:xfrm>
            <a:off x="2258568" y="3703320"/>
            <a:ext cx="512064" cy="283464"/>
          </a:xfrm>
          <a:prstGeom prst="rect">
            <a:avLst/>
          </a:prstGeom>
          <a:noFill/>
          <a:ln/>
        </p:spPr>
        <p:txBody>
          <a:bodyPr wrap="square" lIns="0" tIns="0" rIns="0" bIns="0" rtlCol="0" anchor="ctr">
            <a:normAutofit/>
          </a:bodyPr>
          <a:lstStyle/>
          <a:p>
            <a:pPr algn="ctr" indent="0" marL="0">
              <a:buNone/>
            </a:pPr>
            <a:r>
              <a:rPr lang="en-US" sz="654" b="1" dirty="0">
                <a:solidFill>
                  <a:srgbClr val="1E2A3A"/>
                </a:solidFill>
                <a:latin typeface="Courier New" pitchFamily="34" charset="0"/>
                <a:ea typeface="Courier New" pitchFamily="34" charset="-122"/>
                <a:cs typeface="Courier New" pitchFamily="34" charset="-120"/>
              </a:rPr>
              <a:t>'badgers'</a:t>
            </a:r>
            <a:endParaRPr lang="en-US" sz="654" dirty="0"/>
          </a:p>
        </p:txBody>
      </p:sp>
      <p:sp>
        <p:nvSpPr>
          <p:cNvPr id="81" name="v:Ordering:l3b4:box|b4"/>
          <p:cNvSpPr/>
          <p:nvPr/>
        </p:nvSpPr>
        <p:spPr>
          <a:xfrm>
            <a:off x="2834640" y="3703320"/>
            <a:ext cx="548640" cy="283464"/>
          </a:xfrm>
          <a:prstGeom prst="roundRect">
            <a:avLst>
              <a:gd name="adj" fmla="val 16129"/>
            </a:avLst>
          </a:prstGeom>
          <a:solidFill>
            <a:srgbClr val="E3EEF8"/>
          </a:solidFill>
          <a:ln w="15875">
            <a:solidFill>
              <a:srgbClr val="306998"/>
            </a:solidFill>
            <a:prstDash val="solid"/>
          </a:ln>
        </p:spPr>
      </p:sp>
      <p:sp>
        <p:nvSpPr>
          <p:cNvPr id="82" name="v:Ordering:l3b4|b4"/>
          <p:cNvSpPr txBox="1"/>
          <p:nvPr/>
        </p:nvSpPr>
        <p:spPr>
          <a:xfrm>
            <a:off x="2852928" y="3703320"/>
            <a:ext cx="512064" cy="283464"/>
          </a:xfrm>
          <a:prstGeom prst="rect">
            <a:avLst/>
          </a:prstGeom>
          <a:noFill/>
          <a:ln/>
        </p:spPr>
        <p:txBody>
          <a:bodyPr wrap="square" lIns="0" tIns="0" rIns="0" bIns="0" rtlCol="0" anchor="ctr">
            <a:normAutofit/>
          </a:bodyPr>
          <a:lstStyle/>
          <a:p>
            <a:pPr algn="ctr" indent="0" marL="0">
              <a:buNone/>
            </a:pPr>
            <a:r>
              <a:rPr lang="en-US" sz="841" b="1" dirty="0">
                <a:solidFill>
                  <a:srgbClr val="1E2A3A"/>
                </a:solidFill>
                <a:latin typeface="Courier New" pitchFamily="34" charset="0"/>
                <a:ea typeface="Courier New" pitchFamily="34" charset="-122"/>
                <a:cs typeface="Courier New" pitchFamily="34" charset="-120"/>
              </a:rPr>
              <a:t>'Carol'</a:t>
            </a:r>
            <a:endParaRPr lang="en-US" sz="841" dirty="0"/>
          </a:p>
        </p:txBody>
      </p:sp>
      <p:sp>
        <p:nvSpPr>
          <p:cNvPr id="83" name="v:Ordering:l3b5:box|b4"/>
          <p:cNvSpPr/>
          <p:nvPr/>
        </p:nvSpPr>
        <p:spPr>
          <a:xfrm>
            <a:off x="3429000" y="3703320"/>
            <a:ext cx="548640" cy="283464"/>
          </a:xfrm>
          <a:prstGeom prst="roundRect">
            <a:avLst>
              <a:gd name="adj" fmla="val 16129"/>
            </a:avLst>
          </a:prstGeom>
          <a:solidFill>
            <a:srgbClr val="E3EEF8"/>
          </a:solidFill>
          <a:ln w="15875">
            <a:solidFill>
              <a:srgbClr val="306998"/>
            </a:solidFill>
            <a:prstDash val="solid"/>
          </a:ln>
        </p:spPr>
      </p:sp>
      <p:sp>
        <p:nvSpPr>
          <p:cNvPr id="84" name="v:Ordering:l3b5|b4"/>
          <p:cNvSpPr txBox="1"/>
          <p:nvPr/>
        </p:nvSpPr>
        <p:spPr>
          <a:xfrm>
            <a:off x="3447288" y="3703320"/>
            <a:ext cx="512064" cy="283464"/>
          </a:xfrm>
          <a:prstGeom prst="rect">
            <a:avLst/>
          </a:prstGeom>
          <a:noFill/>
          <a:ln/>
        </p:spPr>
        <p:txBody>
          <a:bodyPr wrap="square" lIns="0" tIns="0" rIns="0" bIns="0" rtlCol="0" anchor="ctr">
            <a:normAutofit/>
          </a:bodyPr>
          <a:lstStyle/>
          <a:p>
            <a:pPr algn="ctr" indent="0" marL="0">
              <a:buNone/>
            </a:pPr>
            <a:r>
              <a:rPr lang="en-US" sz="981" b="1" dirty="0">
                <a:solidFill>
                  <a:srgbClr val="1E2A3A"/>
                </a:solidFill>
                <a:latin typeface="Courier New" pitchFamily="34" charset="0"/>
                <a:ea typeface="Courier New" pitchFamily="34" charset="-122"/>
                <a:cs typeface="Courier New" pitchFamily="34" charset="-120"/>
              </a:rPr>
              <a:t>'cats'</a:t>
            </a:r>
            <a:endParaRPr lang="en-US" sz="981" dirty="0"/>
          </a:p>
        </p:txBody>
      </p:sp>
      <p:sp>
        <p:nvSpPr>
          <p:cNvPr id="85" name="arrow|b4"/>
          <p:cNvSpPr/>
          <p:nvPr/>
        </p:nvSpPr>
        <p:spPr>
          <a:xfrm>
            <a:off x="4069080" y="3845052"/>
            <a:ext cx="411480" cy="0"/>
          </a:xfrm>
          <a:prstGeom prst="line">
            <a:avLst/>
          </a:prstGeom>
          <a:noFill/>
          <a:ln w="31750">
            <a:solidFill>
              <a:srgbClr val="2E9E5B"/>
            </a:solidFill>
            <a:prstDash val="solid"/>
            <a:tailEnd type="triangle"/>
          </a:ln>
        </p:spPr>
      </p:sp>
      <p:sp>
        <p:nvSpPr>
          <p:cNvPr id="86" name="v:Ordering:l3a0:box|b4"/>
          <p:cNvSpPr/>
          <p:nvPr/>
        </p:nvSpPr>
        <p:spPr>
          <a:xfrm>
            <a:off x="4590288" y="3703320"/>
            <a:ext cx="640080" cy="283464"/>
          </a:xfrm>
          <a:prstGeom prst="roundRect">
            <a:avLst>
              <a:gd name="adj" fmla="val 16129"/>
            </a:avLst>
          </a:prstGeom>
          <a:solidFill>
            <a:srgbClr val="E3EEF8"/>
          </a:solidFill>
          <a:ln w="15875">
            <a:solidFill>
              <a:srgbClr val="306998"/>
            </a:solidFill>
            <a:prstDash val="solid"/>
          </a:ln>
        </p:spPr>
      </p:sp>
      <p:sp>
        <p:nvSpPr>
          <p:cNvPr id="87" name="v:Ordering:l3a0|b4"/>
          <p:cNvSpPr txBox="1"/>
          <p:nvPr/>
        </p:nvSpPr>
        <p:spPr>
          <a:xfrm>
            <a:off x="4608576" y="3703320"/>
            <a:ext cx="60350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'Alice'</a:t>
            </a:r>
            <a:endParaRPr lang="en-US" sz="1000" dirty="0"/>
          </a:p>
        </p:txBody>
      </p:sp>
      <p:sp>
        <p:nvSpPr>
          <p:cNvPr id="88" name="v:Ordering:l3a1:box|b4"/>
          <p:cNvSpPr/>
          <p:nvPr/>
        </p:nvSpPr>
        <p:spPr>
          <a:xfrm>
            <a:off x="5276088" y="3703320"/>
            <a:ext cx="640080" cy="283464"/>
          </a:xfrm>
          <a:prstGeom prst="roundRect">
            <a:avLst>
              <a:gd name="adj" fmla="val 16129"/>
            </a:avLst>
          </a:prstGeom>
          <a:solidFill>
            <a:srgbClr val="E3EEF8"/>
          </a:solidFill>
          <a:ln w="15875">
            <a:solidFill>
              <a:srgbClr val="306998"/>
            </a:solidFill>
            <a:prstDash val="solid"/>
          </a:ln>
        </p:spPr>
      </p:sp>
      <p:sp>
        <p:nvSpPr>
          <p:cNvPr id="89" name="v:Ordering:l3a1|b4"/>
          <p:cNvSpPr txBox="1"/>
          <p:nvPr/>
        </p:nvSpPr>
        <p:spPr>
          <a:xfrm>
            <a:off x="5294376" y="3703320"/>
            <a:ext cx="60350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'Bob'</a:t>
            </a:r>
            <a:endParaRPr lang="en-US" sz="1000" dirty="0"/>
          </a:p>
        </p:txBody>
      </p:sp>
      <p:sp>
        <p:nvSpPr>
          <p:cNvPr id="90" name="v:Ordering:l3a2:box|b4"/>
          <p:cNvSpPr/>
          <p:nvPr/>
        </p:nvSpPr>
        <p:spPr>
          <a:xfrm>
            <a:off x="5961888" y="3703320"/>
            <a:ext cx="640080" cy="283464"/>
          </a:xfrm>
          <a:prstGeom prst="roundRect">
            <a:avLst>
              <a:gd name="adj" fmla="val 16129"/>
            </a:avLst>
          </a:prstGeom>
          <a:solidFill>
            <a:srgbClr val="E3EEF8"/>
          </a:solidFill>
          <a:ln w="15875">
            <a:solidFill>
              <a:srgbClr val="306998"/>
            </a:solidFill>
            <a:prstDash val="solid"/>
          </a:ln>
        </p:spPr>
      </p:sp>
      <p:sp>
        <p:nvSpPr>
          <p:cNvPr id="91" name="v:Ordering:l3a2|b4"/>
          <p:cNvSpPr txBox="1"/>
          <p:nvPr/>
        </p:nvSpPr>
        <p:spPr>
          <a:xfrm>
            <a:off x="5980176" y="3703320"/>
            <a:ext cx="60350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'Carol'</a:t>
            </a:r>
            <a:endParaRPr lang="en-US" sz="1000" dirty="0"/>
          </a:p>
        </p:txBody>
      </p:sp>
      <p:sp>
        <p:nvSpPr>
          <p:cNvPr id="92" name="v:Ordering:l3a3:box|b4"/>
          <p:cNvSpPr/>
          <p:nvPr/>
        </p:nvSpPr>
        <p:spPr>
          <a:xfrm>
            <a:off x="6647688" y="3703320"/>
            <a:ext cx="640080" cy="283464"/>
          </a:xfrm>
          <a:prstGeom prst="roundRect">
            <a:avLst>
              <a:gd name="adj" fmla="val 16129"/>
            </a:avLst>
          </a:prstGeom>
          <a:solidFill>
            <a:srgbClr val="E3EEF8"/>
          </a:solidFill>
          <a:ln w="15875">
            <a:solidFill>
              <a:srgbClr val="306998"/>
            </a:solidFill>
            <a:prstDash val="solid"/>
          </a:ln>
        </p:spPr>
      </p:sp>
      <p:sp>
        <p:nvSpPr>
          <p:cNvPr id="93" name="v:Ordering:l3a3|b4"/>
          <p:cNvSpPr txBox="1"/>
          <p:nvPr/>
        </p:nvSpPr>
        <p:spPr>
          <a:xfrm>
            <a:off x="6665976" y="3703320"/>
            <a:ext cx="60350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'ants'</a:t>
            </a:r>
            <a:endParaRPr lang="en-US" sz="1000" dirty="0"/>
          </a:p>
        </p:txBody>
      </p:sp>
      <p:sp>
        <p:nvSpPr>
          <p:cNvPr id="94" name="v:Ordering:l3a4:box|b4"/>
          <p:cNvSpPr/>
          <p:nvPr/>
        </p:nvSpPr>
        <p:spPr>
          <a:xfrm>
            <a:off x="7333488" y="3703320"/>
            <a:ext cx="640080" cy="283464"/>
          </a:xfrm>
          <a:prstGeom prst="roundRect">
            <a:avLst>
              <a:gd name="adj" fmla="val 16129"/>
            </a:avLst>
          </a:prstGeom>
          <a:solidFill>
            <a:srgbClr val="E3EEF8"/>
          </a:solidFill>
          <a:ln w="15875">
            <a:solidFill>
              <a:srgbClr val="306998"/>
            </a:solidFill>
            <a:prstDash val="solid"/>
          </a:ln>
        </p:spPr>
      </p:sp>
      <p:sp>
        <p:nvSpPr>
          <p:cNvPr id="95" name="v:Ordering:l3a4|b4"/>
          <p:cNvSpPr txBox="1"/>
          <p:nvPr/>
        </p:nvSpPr>
        <p:spPr>
          <a:xfrm>
            <a:off x="7351776" y="3703320"/>
            <a:ext cx="603504" cy="283464"/>
          </a:xfrm>
          <a:prstGeom prst="rect">
            <a:avLst/>
          </a:prstGeom>
          <a:noFill/>
          <a:ln/>
        </p:spPr>
        <p:txBody>
          <a:bodyPr wrap="square" lIns="0" tIns="0" rIns="0" bIns="0" rtlCol="0" anchor="ctr">
            <a:normAutofit/>
          </a:bodyPr>
          <a:lstStyle/>
          <a:p>
            <a:pPr algn="ctr" indent="0" marL="0">
              <a:buNone/>
            </a:pPr>
            <a:r>
              <a:rPr lang="en-US" sz="787" b="1" dirty="0">
                <a:solidFill>
                  <a:srgbClr val="1E2A3A"/>
                </a:solidFill>
                <a:latin typeface="Courier New" pitchFamily="34" charset="0"/>
                <a:ea typeface="Courier New" pitchFamily="34" charset="-122"/>
                <a:cs typeface="Courier New" pitchFamily="34" charset="-120"/>
              </a:rPr>
              <a:t>'badgers'</a:t>
            </a:r>
            <a:endParaRPr lang="en-US" sz="787" dirty="0"/>
          </a:p>
        </p:txBody>
      </p:sp>
      <p:sp>
        <p:nvSpPr>
          <p:cNvPr id="96" name="v:Ordering:l3a5:box|b4"/>
          <p:cNvSpPr/>
          <p:nvPr/>
        </p:nvSpPr>
        <p:spPr>
          <a:xfrm>
            <a:off x="8019288" y="3703320"/>
            <a:ext cx="640080" cy="283464"/>
          </a:xfrm>
          <a:prstGeom prst="roundRect">
            <a:avLst>
              <a:gd name="adj" fmla="val 16129"/>
            </a:avLst>
          </a:prstGeom>
          <a:solidFill>
            <a:srgbClr val="E3EEF8"/>
          </a:solidFill>
          <a:ln w="15875">
            <a:solidFill>
              <a:srgbClr val="306998"/>
            </a:solidFill>
            <a:prstDash val="solid"/>
          </a:ln>
        </p:spPr>
      </p:sp>
      <p:sp>
        <p:nvSpPr>
          <p:cNvPr id="97" name="v:Ordering:l3a5|b4"/>
          <p:cNvSpPr txBox="1"/>
          <p:nvPr/>
        </p:nvSpPr>
        <p:spPr>
          <a:xfrm>
            <a:off x="8037576" y="3703320"/>
            <a:ext cx="603504" cy="283464"/>
          </a:xfrm>
          <a:prstGeom prst="rect">
            <a:avLst/>
          </a:prstGeom>
          <a:noFill/>
          <a:ln/>
        </p:spPr>
        <p:txBody>
          <a:bodyPr wrap="square" lIns="0" tIns="0" rIns="0" bIns="0" rtlCol="0" anchor="ctr">
            <a:normAutofit/>
          </a:bodyPr>
          <a:lstStyle/>
          <a:p>
            <a:pPr algn="ctr" indent="0" marL="0">
              <a:buNone/>
            </a:pPr>
            <a:r>
              <a:rPr lang="en-US" sz="1000" b="1" dirty="0">
                <a:solidFill>
                  <a:srgbClr val="1E2A3A"/>
                </a:solidFill>
                <a:latin typeface="Courier New" pitchFamily="34" charset="0"/>
                <a:ea typeface="Courier New" pitchFamily="34" charset="-122"/>
                <a:cs typeface="Courier New" pitchFamily="34" charset="-120"/>
              </a:rPr>
              <a:t>'cats'</a:t>
            </a:r>
            <a:endParaRPr lang="en-US" sz="1000" dirty="0"/>
          </a:p>
        </p:txBody>
      </p:sp>
      <p:sp>
        <p:nvSpPr>
          <p:cNvPr id="98" name="v:Ordering:e0box:box|b5"/>
          <p:cNvSpPr/>
          <p:nvPr/>
        </p:nvSpPr>
        <p:spPr>
          <a:xfrm>
            <a:off x="365760" y="4096512"/>
            <a:ext cx="8412480" cy="274320"/>
          </a:xfrm>
          <a:prstGeom prst="roundRect">
            <a:avLst>
              <a:gd name="adj" fmla="val 20000"/>
            </a:avLst>
          </a:prstGeom>
          <a:solidFill>
            <a:srgbClr val="FBE1E1"/>
          </a:solidFill>
          <a:ln w="12700">
            <a:solidFill>
              <a:srgbClr val="D64545"/>
            </a:solidFill>
            <a:prstDash val="solid"/>
          </a:ln>
        </p:spPr>
      </p:sp>
      <p:sp>
        <p:nvSpPr>
          <p:cNvPr id="99" name="v:Ordering:e0|b5"/>
          <p:cNvSpPr txBox="1"/>
          <p:nvPr/>
        </p:nvSpPr>
        <p:spPr>
          <a:xfrm>
            <a:off x="457200" y="4096512"/>
            <a:ext cx="8229600" cy="274320"/>
          </a:xfrm>
          <a:prstGeom prst="rect">
            <a:avLst/>
          </a:prstGeom>
          <a:noFill/>
          <a:ln/>
        </p:spPr>
        <p:txBody>
          <a:bodyPr wrap="square" lIns="0" tIns="0" rIns="0" bIns="0" rtlCol="0" anchor="ctr">
            <a:normAutofit/>
          </a:bodyPr>
          <a:lstStyle/>
          <a:p>
            <a:pPr indent="0" marL="0">
              <a:buNone/>
            </a:pPr>
            <a:r>
              <a:rPr lang="en-US" sz="1050" b="1" dirty="0">
                <a:solidFill>
                  <a:srgbClr val="D64545"/>
                </a:solidFill>
                <a:latin typeface="Courier New" pitchFamily="34" charset="0"/>
                <a:ea typeface="Courier New" pitchFamily="34" charset="-122"/>
                <a:cs typeface="Courier New" pitchFamily="34" charset="-120"/>
              </a:rPr>
              <a:t>spam.sort()   →   TypeError: '&lt;' not supported between instances of 'str' and 'int'</a:t>
            </a:r>
            <a:endParaRPr lang="en-US" sz="1050" dirty="0"/>
          </a:p>
        </p:txBody>
      </p:sp>
      <p:sp>
        <p:nvSpPr>
          <p:cNvPr id="100"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01"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02"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List operations ▸ Sort method, Reverse method, Sorted function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howto/sorting.html" history="1" highlightClick="0" endSnd="0">
                  <a:extLst>
                    <a:ext uri="{A12FA001-AC4F-418D-AE19-62706E023703}">
                      <ahyp:hlinkClr xmlns:ahyp="http://schemas.microsoft.com/office/drawing/2018/hyperlinkcolor" val="tx"/>
                    </a:ext>
                  </a:extLst>
                </a:hlinkClick>
              </a:rPr>
              <a:t>Sorting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81" fill="hold">
                      <p:stCondLst>
                        <p:cond delay="indefinite"/>
                      </p:stCondLst>
                      <p:childTnLst>
                        <p:par>
                          <p:cTn id="8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00"/>
                                        <p:tgtEl>
                                          <p:spTgt spid="27"/>
                                        </p:tgtEl>
                                      </p:cBhvr>
                                    </p:animEffect>
                                  </p:childTnLst>
                                </p:cTn>
                              </p:par>
                              <p:par>
                                <p:cTn id="69" presetID="10" presetClass="entr" presetSubtype="0" fill="hold" nodeType="with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00"/>
                                        <p:tgtEl>
                                          <p:spTgt spid="2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400"/>
                                        <p:tgtEl>
                                          <p:spTgt spid="29"/>
                                        </p:tgtEl>
                                      </p:cBhvr>
                                    </p:animEffect>
                                  </p:childTnLst>
                                </p:cTn>
                              </p:par>
                              <p:par>
                                <p:cTn id="75" presetID="10" presetClass="entr" presetSubtype="0" fill="hold" nodeType="with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400"/>
                                        <p:tgtEl>
                                          <p:spTgt spid="3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400"/>
                                        <p:tgtEl>
                                          <p:spTgt spid="31"/>
                                        </p:tgtEl>
                                      </p:cBhvr>
                                    </p:animEffect>
                                  </p:childTnLst>
                                </p:cTn>
                              </p:par>
                            </p:childTnLst>
                          </p:cTn>
                        </p:par>
                      </p:childTnLst>
                    </p:cTn>
                  </p:par>
                  <p:par>
                    <p:cTn id="137" fill="hold">
                      <p:stCondLst>
                        <p:cond delay="indefinite"/>
                      </p:stCondLst>
                      <p:childTnLst>
                        <p:par>
                          <p:cTn id="138"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0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00"/>
                                        <p:tgtEl>
                                          <p:spTgt spid="40"/>
                                        </p:tgtEl>
                                      </p:cBhvr>
                                    </p:animEffect>
                                  </p:childTnLst>
                                </p:cTn>
                              </p:par>
                              <p:par>
                                <p:cTn id="110" presetID="10" presetClass="entr" presetSubtype="0" fill="hold"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400"/>
                                        <p:tgtEl>
                                          <p:spTgt spid="41"/>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00"/>
                                        <p:tgtEl>
                                          <p:spTgt spid="42"/>
                                        </p:tgtEl>
                                      </p:cBhvr>
                                    </p:animEffect>
                                  </p:childTnLst>
                                </p:cTn>
                              </p:par>
                              <p:par>
                                <p:cTn id="116" presetID="10" presetClass="entr" presetSubtype="0" fill="hold"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00"/>
                                        <p:tgtEl>
                                          <p:spTgt spid="43"/>
                                        </p:tgtEl>
                                      </p:cBhvr>
                                    </p:animEffect>
                                  </p:childTnLst>
                                </p:cTn>
                              </p:par>
                              <p:par>
                                <p:cTn id="119" presetID="10" presetClass="entr" presetSubtype="0" fill="hold"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400"/>
                                        <p:tgtEl>
                                          <p:spTgt spid="44"/>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400"/>
                                        <p:tgtEl>
                                          <p:spTgt spid="45"/>
                                        </p:tgtEl>
                                      </p:cBhvr>
                                    </p:animEffect>
                                  </p:childTnLst>
                                </p:cTn>
                              </p:par>
                              <p:par>
                                <p:cTn id="125" presetID="10" presetClass="entr" presetSubtype="0" fill="hold"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400"/>
                                        <p:tgtEl>
                                          <p:spTgt spid="46"/>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400"/>
                                        <p:tgtEl>
                                          <p:spTgt spid="47"/>
                                        </p:tgtEl>
                                      </p:cBhvr>
                                    </p:animEffect>
                                  </p:childTnLst>
                                </p:cTn>
                              </p:par>
                              <p:par>
                                <p:cTn id="131" presetID="10" presetClass="entr" presetSubtype="0" fill="hold"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fade">
                                      <p:cBhvr>
                                        <p:cTn id="133" dur="400"/>
                                        <p:tgtEl>
                                          <p:spTgt spid="48"/>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9"/>
                                        </p:tgtEl>
                                        <p:attrNameLst>
                                          <p:attrName>style.visibility</p:attrName>
                                        </p:attrNameLst>
                                      </p:cBhvr>
                                      <p:to>
                                        <p:strVal val="visible"/>
                                      </p:to>
                                    </p:set>
                                    <p:animEffect transition="in" filter="fade">
                                      <p:cBhvr>
                                        <p:cTn id="136" dur="400"/>
                                        <p:tgtEl>
                                          <p:spTgt spid="49"/>
                                        </p:tgtEl>
                                      </p:cBhvr>
                                    </p:animEffect>
                                  </p:childTnLst>
                                </p:cTn>
                              </p:par>
                            </p:childTnLst>
                          </p:cTn>
                        </p:par>
                      </p:childTnLst>
                    </p:cTn>
                  </p:par>
                  <p:par>
                    <p:cTn id="193" fill="hold">
                      <p:stCondLst>
                        <p:cond delay="indefinite"/>
                      </p:stCondLst>
                      <p:childTnLst>
                        <p:par>
                          <p:cTn id="194" fill="hold">
                            <p:stCondLst>
                              <p:cond delay="0"/>
                            </p:stCondLst>
                            <p:childTnLst>
                              <p:par>
                                <p:cTn id="139" presetID="10" presetClass="entr" presetSubtype="0" fill="hold" nodeType="clickEffect">
                                  <p:stCondLst>
                                    <p:cond delay="0"/>
                                  </p:stCondLst>
                                  <p:childTnLst>
                                    <p:set>
                                      <p:cBhvr>
                                        <p:cTn id="140" dur="1" fill="hold">
                                          <p:stCondLst>
                                            <p:cond delay="0"/>
                                          </p:stCondLst>
                                        </p:cTn>
                                        <p:tgtEl>
                                          <p:spTgt spid="50"/>
                                        </p:tgtEl>
                                        <p:attrNameLst>
                                          <p:attrName>style.visibility</p:attrName>
                                        </p:attrNameLst>
                                      </p:cBhvr>
                                      <p:to>
                                        <p:strVal val="visible"/>
                                      </p:to>
                                    </p:set>
                                    <p:animEffect transition="in" filter="fade">
                                      <p:cBhvr>
                                        <p:cTn id="141" dur="400"/>
                                        <p:tgtEl>
                                          <p:spTgt spid="50"/>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1"/>
                                        </p:tgtEl>
                                        <p:attrNameLst>
                                          <p:attrName>style.visibility</p:attrName>
                                        </p:attrNameLst>
                                      </p:cBhvr>
                                      <p:to>
                                        <p:strVal val="visible"/>
                                      </p:to>
                                    </p:set>
                                    <p:animEffect transition="in" filter="fade">
                                      <p:cBhvr>
                                        <p:cTn id="144" dur="400"/>
                                        <p:tgtEl>
                                          <p:spTgt spid="51"/>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52"/>
                                        </p:tgtEl>
                                        <p:attrNameLst>
                                          <p:attrName>style.visibility</p:attrName>
                                        </p:attrNameLst>
                                      </p:cBhvr>
                                      <p:to>
                                        <p:strVal val="visible"/>
                                      </p:to>
                                    </p:set>
                                    <p:animEffect transition="in" filter="fade">
                                      <p:cBhvr>
                                        <p:cTn id="147" dur="400"/>
                                        <p:tgtEl>
                                          <p:spTgt spid="52"/>
                                        </p:tgtEl>
                                      </p:cBhvr>
                                    </p:animEffect>
                                  </p:childTnLst>
                                </p:cTn>
                              </p:par>
                              <p:par>
                                <p:cTn id="148" presetID="10" presetClass="entr" presetSubtype="0" fill="hold" nodeType="withEffect">
                                  <p:stCondLst>
                                    <p:cond delay="0"/>
                                  </p:stCondLst>
                                  <p:childTnLst>
                                    <p:set>
                                      <p:cBhvr>
                                        <p:cTn id="149" dur="1" fill="hold">
                                          <p:stCondLst>
                                            <p:cond delay="0"/>
                                          </p:stCondLst>
                                        </p:cTn>
                                        <p:tgtEl>
                                          <p:spTgt spid="53"/>
                                        </p:tgtEl>
                                        <p:attrNameLst>
                                          <p:attrName>style.visibility</p:attrName>
                                        </p:attrNameLst>
                                      </p:cBhvr>
                                      <p:to>
                                        <p:strVal val="visible"/>
                                      </p:to>
                                    </p:set>
                                    <p:animEffect transition="in" filter="fade">
                                      <p:cBhvr>
                                        <p:cTn id="150" dur="400"/>
                                        <p:tgtEl>
                                          <p:spTgt spid="53"/>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4"/>
                                        </p:tgtEl>
                                        <p:attrNameLst>
                                          <p:attrName>style.visibility</p:attrName>
                                        </p:attrNameLst>
                                      </p:cBhvr>
                                      <p:to>
                                        <p:strVal val="visible"/>
                                      </p:to>
                                    </p:set>
                                    <p:animEffect transition="in" filter="fade">
                                      <p:cBhvr>
                                        <p:cTn id="153" dur="400"/>
                                        <p:tgtEl>
                                          <p:spTgt spid="54"/>
                                        </p:tgtEl>
                                      </p:cBhvr>
                                    </p:animEffect>
                                  </p:childTnLst>
                                </p:cTn>
                              </p:par>
                              <p:par>
                                <p:cTn id="154" presetID="10" presetClass="entr" presetSubtype="0" fill="hold" nodeType="withEffect">
                                  <p:stCondLst>
                                    <p:cond delay="0"/>
                                  </p:stCondLst>
                                  <p:childTnLst>
                                    <p:set>
                                      <p:cBhvr>
                                        <p:cTn id="155" dur="1" fill="hold">
                                          <p:stCondLst>
                                            <p:cond delay="0"/>
                                          </p:stCondLst>
                                        </p:cTn>
                                        <p:tgtEl>
                                          <p:spTgt spid="55"/>
                                        </p:tgtEl>
                                        <p:attrNameLst>
                                          <p:attrName>style.visibility</p:attrName>
                                        </p:attrNameLst>
                                      </p:cBhvr>
                                      <p:to>
                                        <p:strVal val="visible"/>
                                      </p:to>
                                    </p:set>
                                    <p:animEffect transition="in" filter="fade">
                                      <p:cBhvr>
                                        <p:cTn id="156" dur="400"/>
                                        <p:tgtEl>
                                          <p:spTgt spid="55"/>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56"/>
                                        </p:tgtEl>
                                        <p:attrNameLst>
                                          <p:attrName>style.visibility</p:attrName>
                                        </p:attrNameLst>
                                      </p:cBhvr>
                                      <p:to>
                                        <p:strVal val="visible"/>
                                      </p:to>
                                    </p:set>
                                    <p:animEffect transition="in" filter="fade">
                                      <p:cBhvr>
                                        <p:cTn id="159" dur="400"/>
                                        <p:tgtEl>
                                          <p:spTgt spid="56"/>
                                        </p:tgtEl>
                                      </p:cBhvr>
                                    </p:animEffect>
                                  </p:childTnLst>
                                </p:cTn>
                              </p:par>
                              <p:par>
                                <p:cTn id="160" presetID="10" presetClass="entr" presetSubtype="0" fill="hold" nodeType="withEffect">
                                  <p:stCondLst>
                                    <p:cond delay="0"/>
                                  </p:stCondLst>
                                  <p:childTnLst>
                                    <p:set>
                                      <p:cBhvr>
                                        <p:cTn id="161" dur="1" fill="hold">
                                          <p:stCondLst>
                                            <p:cond delay="0"/>
                                          </p:stCondLst>
                                        </p:cTn>
                                        <p:tgtEl>
                                          <p:spTgt spid="57"/>
                                        </p:tgtEl>
                                        <p:attrNameLst>
                                          <p:attrName>style.visibility</p:attrName>
                                        </p:attrNameLst>
                                      </p:cBhvr>
                                      <p:to>
                                        <p:strVal val="visible"/>
                                      </p:to>
                                    </p:set>
                                    <p:animEffect transition="in" filter="fade">
                                      <p:cBhvr>
                                        <p:cTn id="162" dur="400"/>
                                        <p:tgtEl>
                                          <p:spTgt spid="57"/>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58"/>
                                        </p:tgtEl>
                                        <p:attrNameLst>
                                          <p:attrName>style.visibility</p:attrName>
                                        </p:attrNameLst>
                                      </p:cBhvr>
                                      <p:to>
                                        <p:strVal val="visible"/>
                                      </p:to>
                                    </p:set>
                                    <p:animEffect transition="in" filter="fade">
                                      <p:cBhvr>
                                        <p:cTn id="165" dur="400"/>
                                        <p:tgtEl>
                                          <p:spTgt spid="58"/>
                                        </p:tgtEl>
                                      </p:cBhvr>
                                    </p:animEffect>
                                  </p:childTnLst>
                                </p:cTn>
                              </p:par>
                              <p:par>
                                <p:cTn id="166" presetID="10" presetClass="entr" presetSubtype="0" fill="hold" nodeType="withEffect">
                                  <p:stCondLst>
                                    <p:cond delay="0"/>
                                  </p:stCondLst>
                                  <p:childTnLst>
                                    <p:set>
                                      <p:cBhvr>
                                        <p:cTn id="167" dur="1" fill="hold">
                                          <p:stCondLst>
                                            <p:cond delay="0"/>
                                          </p:stCondLst>
                                        </p:cTn>
                                        <p:tgtEl>
                                          <p:spTgt spid="59"/>
                                        </p:tgtEl>
                                        <p:attrNameLst>
                                          <p:attrName>style.visibility</p:attrName>
                                        </p:attrNameLst>
                                      </p:cBhvr>
                                      <p:to>
                                        <p:strVal val="visible"/>
                                      </p:to>
                                    </p:set>
                                    <p:animEffect transition="in" filter="fade">
                                      <p:cBhvr>
                                        <p:cTn id="168" dur="400"/>
                                        <p:tgtEl>
                                          <p:spTgt spid="59"/>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60"/>
                                        </p:tgtEl>
                                        <p:attrNameLst>
                                          <p:attrName>style.visibility</p:attrName>
                                        </p:attrNameLst>
                                      </p:cBhvr>
                                      <p:to>
                                        <p:strVal val="visible"/>
                                      </p:to>
                                    </p:set>
                                    <p:animEffect transition="in" filter="fade">
                                      <p:cBhvr>
                                        <p:cTn id="171" dur="400"/>
                                        <p:tgtEl>
                                          <p:spTgt spid="60"/>
                                        </p:tgtEl>
                                      </p:cBhvr>
                                    </p:animEffect>
                                  </p:childTnLst>
                                </p:cTn>
                              </p:par>
                              <p:par>
                                <p:cTn id="172" presetID="10" presetClass="entr" presetSubtype="0" fill="hold" nodeType="withEffect">
                                  <p:stCondLst>
                                    <p:cond delay="0"/>
                                  </p:stCondLst>
                                  <p:childTnLst>
                                    <p:set>
                                      <p:cBhvr>
                                        <p:cTn id="173" dur="1" fill="hold">
                                          <p:stCondLst>
                                            <p:cond delay="0"/>
                                          </p:stCondLst>
                                        </p:cTn>
                                        <p:tgtEl>
                                          <p:spTgt spid="61"/>
                                        </p:tgtEl>
                                        <p:attrNameLst>
                                          <p:attrName>style.visibility</p:attrName>
                                        </p:attrNameLst>
                                      </p:cBhvr>
                                      <p:to>
                                        <p:strVal val="visible"/>
                                      </p:to>
                                    </p:set>
                                    <p:animEffect transition="in" filter="fade">
                                      <p:cBhvr>
                                        <p:cTn id="174" dur="400"/>
                                        <p:tgtEl>
                                          <p:spTgt spid="61"/>
                                        </p:tgtEl>
                                      </p:cBhvr>
                                    </p:animEffect>
                                  </p:childTnLst>
                                </p:cTn>
                              </p:par>
                              <p:par>
                                <p:cTn id="175" presetID="10" presetClass="entr" presetSubtype="0" fill="hold" nodeType="withEffect">
                                  <p:stCondLst>
                                    <p:cond delay="0"/>
                                  </p:stCondLst>
                                  <p:childTnLst>
                                    <p:set>
                                      <p:cBhvr>
                                        <p:cTn id="176" dur="1" fill="hold">
                                          <p:stCondLst>
                                            <p:cond delay="0"/>
                                          </p:stCondLst>
                                        </p:cTn>
                                        <p:tgtEl>
                                          <p:spTgt spid="62"/>
                                        </p:tgtEl>
                                        <p:attrNameLst>
                                          <p:attrName>style.visibility</p:attrName>
                                        </p:attrNameLst>
                                      </p:cBhvr>
                                      <p:to>
                                        <p:strVal val="visible"/>
                                      </p:to>
                                    </p:set>
                                    <p:animEffect transition="in" filter="fade">
                                      <p:cBhvr>
                                        <p:cTn id="177" dur="400"/>
                                        <p:tgtEl>
                                          <p:spTgt spid="62"/>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63"/>
                                        </p:tgtEl>
                                        <p:attrNameLst>
                                          <p:attrName>style.visibility</p:attrName>
                                        </p:attrNameLst>
                                      </p:cBhvr>
                                      <p:to>
                                        <p:strVal val="visible"/>
                                      </p:to>
                                    </p:set>
                                    <p:animEffect transition="in" filter="fade">
                                      <p:cBhvr>
                                        <p:cTn id="180" dur="400"/>
                                        <p:tgtEl>
                                          <p:spTgt spid="63"/>
                                        </p:tgtEl>
                                      </p:cBhvr>
                                    </p:animEffect>
                                  </p:childTnLst>
                                </p:cTn>
                              </p:par>
                              <p:par>
                                <p:cTn id="181" presetID="10" presetClass="entr" presetSubtype="0" fill="hold" nodeType="withEffect">
                                  <p:stCondLst>
                                    <p:cond delay="0"/>
                                  </p:stCondLst>
                                  <p:childTnLst>
                                    <p:set>
                                      <p:cBhvr>
                                        <p:cTn id="182" dur="1" fill="hold">
                                          <p:stCondLst>
                                            <p:cond delay="0"/>
                                          </p:stCondLst>
                                        </p:cTn>
                                        <p:tgtEl>
                                          <p:spTgt spid="64"/>
                                        </p:tgtEl>
                                        <p:attrNameLst>
                                          <p:attrName>style.visibility</p:attrName>
                                        </p:attrNameLst>
                                      </p:cBhvr>
                                      <p:to>
                                        <p:strVal val="visible"/>
                                      </p:to>
                                    </p:set>
                                    <p:animEffect transition="in" filter="fade">
                                      <p:cBhvr>
                                        <p:cTn id="183" dur="400"/>
                                        <p:tgtEl>
                                          <p:spTgt spid="64"/>
                                        </p:tgtEl>
                                      </p:cBhvr>
                                    </p:animEffect>
                                  </p:childTnLst>
                                </p:cTn>
                              </p:par>
                              <p:par>
                                <p:cTn id="184" presetID="10" presetClass="entr" presetSubtype="0" fill="hold" grpId="0" nodeType="withEffect">
                                  <p:stCondLst>
                                    <p:cond delay="0"/>
                                  </p:stCondLst>
                                  <p:childTnLst>
                                    <p:set>
                                      <p:cBhvr>
                                        <p:cTn id="185" dur="1" fill="hold">
                                          <p:stCondLst>
                                            <p:cond delay="0"/>
                                          </p:stCondLst>
                                        </p:cTn>
                                        <p:tgtEl>
                                          <p:spTgt spid="65"/>
                                        </p:tgtEl>
                                        <p:attrNameLst>
                                          <p:attrName>style.visibility</p:attrName>
                                        </p:attrNameLst>
                                      </p:cBhvr>
                                      <p:to>
                                        <p:strVal val="visible"/>
                                      </p:to>
                                    </p:set>
                                    <p:animEffect transition="in" filter="fade">
                                      <p:cBhvr>
                                        <p:cTn id="186" dur="400"/>
                                        <p:tgtEl>
                                          <p:spTgt spid="65"/>
                                        </p:tgtEl>
                                      </p:cBhvr>
                                    </p:animEffect>
                                  </p:childTnLst>
                                </p:cTn>
                              </p:par>
                              <p:par>
                                <p:cTn id="187" presetID="10" presetClass="entr" presetSubtype="0" fill="hold" nodeType="withEffect">
                                  <p:stCondLst>
                                    <p:cond delay="0"/>
                                  </p:stCondLst>
                                  <p:childTnLst>
                                    <p:set>
                                      <p:cBhvr>
                                        <p:cTn id="188" dur="1" fill="hold">
                                          <p:stCondLst>
                                            <p:cond delay="0"/>
                                          </p:stCondLst>
                                        </p:cTn>
                                        <p:tgtEl>
                                          <p:spTgt spid="66"/>
                                        </p:tgtEl>
                                        <p:attrNameLst>
                                          <p:attrName>style.visibility</p:attrName>
                                        </p:attrNameLst>
                                      </p:cBhvr>
                                      <p:to>
                                        <p:strVal val="visible"/>
                                      </p:to>
                                    </p:set>
                                    <p:animEffect transition="in" filter="fade">
                                      <p:cBhvr>
                                        <p:cTn id="189" dur="400"/>
                                        <p:tgtEl>
                                          <p:spTgt spid="66"/>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7"/>
                                        </p:tgtEl>
                                        <p:attrNameLst>
                                          <p:attrName>style.visibility</p:attrName>
                                        </p:attrNameLst>
                                      </p:cBhvr>
                                      <p:to>
                                        <p:strVal val="visible"/>
                                      </p:to>
                                    </p:set>
                                    <p:animEffect transition="in" filter="fade">
                                      <p:cBhvr>
                                        <p:cTn id="192" dur="400"/>
                                        <p:tgtEl>
                                          <p:spTgt spid="67"/>
                                        </p:tgtEl>
                                      </p:cBhvr>
                                    </p:animEffect>
                                  </p:childTnLst>
                                </p:cTn>
                              </p:par>
                            </p:childTnLst>
                          </p:cTn>
                        </p:par>
                      </p:childTnLst>
                    </p:cTn>
                  </p:par>
                  <p:par>
                    <p:cTn id="285" fill="hold">
                      <p:stCondLst>
                        <p:cond delay="indefinite"/>
                      </p:stCondLst>
                      <p:childTnLst>
                        <p:par>
                          <p:cTn id="286" fill="hold">
                            <p:stCondLst>
                              <p:cond delay="0"/>
                            </p:stCondLst>
                            <p:childTnLst>
                              <p:par>
                                <p:cTn id="195" presetID="10" presetClass="entr" presetSubtype="0" fill="hold" nodeType="clickEffect">
                                  <p:stCondLst>
                                    <p:cond delay="0"/>
                                  </p:stCondLst>
                                  <p:childTnLst>
                                    <p:set>
                                      <p:cBhvr>
                                        <p:cTn id="196" dur="1" fill="hold">
                                          <p:stCondLst>
                                            <p:cond delay="0"/>
                                          </p:stCondLst>
                                        </p:cTn>
                                        <p:tgtEl>
                                          <p:spTgt spid="68"/>
                                        </p:tgtEl>
                                        <p:attrNameLst>
                                          <p:attrName>style.visibility</p:attrName>
                                        </p:attrNameLst>
                                      </p:cBhvr>
                                      <p:to>
                                        <p:strVal val="visible"/>
                                      </p:to>
                                    </p:set>
                                    <p:animEffect transition="in" filter="fade">
                                      <p:cBhvr>
                                        <p:cTn id="197" dur="400"/>
                                        <p:tgtEl>
                                          <p:spTgt spid="68"/>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69"/>
                                        </p:tgtEl>
                                        <p:attrNameLst>
                                          <p:attrName>style.visibility</p:attrName>
                                        </p:attrNameLst>
                                      </p:cBhvr>
                                      <p:to>
                                        <p:strVal val="visible"/>
                                      </p:to>
                                    </p:set>
                                    <p:animEffect transition="in" filter="fade">
                                      <p:cBhvr>
                                        <p:cTn id="200" dur="400"/>
                                        <p:tgtEl>
                                          <p:spTgt spid="69"/>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70"/>
                                        </p:tgtEl>
                                        <p:attrNameLst>
                                          <p:attrName>style.visibility</p:attrName>
                                        </p:attrNameLst>
                                      </p:cBhvr>
                                      <p:to>
                                        <p:strVal val="visible"/>
                                      </p:to>
                                    </p:set>
                                    <p:animEffect transition="in" filter="fade">
                                      <p:cBhvr>
                                        <p:cTn id="203" dur="400"/>
                                        <p:tgtEl>
                                          <p:spTgt spid="70"/>
                                        </p:tgtEl>
                                      </p:cBhvr>
                                    </p:animEffect>
                                  </p:childTnLst>
                                </p:cTn>
                              </p:par>
                              <p:par>
                                <p:cTn id="204" presetID="10" presetClass="entr" presetSubtype="0" fill="hold" nodeType="withEffect">
                                  <p:stCondLst>
                                    <p:cond delay="0"/>
                                  </p:stCondLst>
                                  <p:childTnLst>
                                    <p:set>
                                      <p:cBhvr>
                                        <p:cTn id="205" dur="1" fill="hold">
                                          <p:stCondLst>
                                            <p:cond delay="0"/>
                                          </p:stCondLst>
                                        </p:cTn>
                                        <p:tgtEl>
                                          <p:spTgt spid="71"/>
                                        </p:tgtEl>
                                        <p:attrNameLst>
                                          <p:attrName>style.visibility</p:attrName>
                                        </p:attrNameLst>
                                      </p:cBhvr>
                                      <p:to>
                                        <p:strVal val="visible"/>
                                      </p:to>
                                    </p:set>
                                    <p:animEffect transition="in" filter="fade">
                                      <p:cBhvr>
                                        <p:cTn id="206" dur="400"/>
                                        <p:tgtEl>
                                          <p:spTgt spid="71"/>
                                        </p:tgtEl>
                                      </p:cBhvr>
                                    </p:animEffect>
                                  </p:childTnLst>
                                </p:cTn>
                              </p:par>
                              <p:par>
                                <p:cTn id="207" presetID="10" presetClass="entr" presetSubtype="0" fill="hold" grpId="0" nodeType="withEffect">
                                  <p:stCondLst>
                                    <p:cond delay="0"/>
                                  </p:stCondLst>
                                  <p:childTnLst>
                                    <p:set>
                                      <p:cBhvr>
                                        <p:cTn id="208" dur="1" fill="hold">
                                          <p:stCondLst>
                                            <p:cond delay="0"/>
                                          </p:stCondLst>
                                        </p:cTn>
                                        <p:tgtEl>
                                          <p:spTgt spid="72"/>
                                        </p:tgtEl>
                                        <p:attrNameLst>
                                          <p:attrName>style.visibility</p:attrName>
                                        </p:attrNameLst>
                                      </p:cBhvr>
                                      <p:to>
                                        <p:strVal val="visible"/>
                                      </p:to>
                                    </p:set>
                                    <p:animEffect transition="in" filter="fade">
                                      <p:cBhvr>
                                        <p:cTn id="209" dur="400"/>
                                        <p:tgtEl>
                                          <p:spTgt spid="72"/>
                                        </p:tgtEl>
                                      </p:cBhvr>
                                    </p:animEffect>
                                  </p:childTnLst>
                                </p:cTn>
                              </p:par>
                              <p:par>
                                <p:cTn id="210" presetID="10" presetClass="entr" presetSubtype="0" fill="hold" nodeType="withEffect">
                                  <p:stCondLst>
                                    <p:cond delay="0"/>
                                  </p:stCondLst>
                                  <p:childTnLst>
                                    <p:set>
                                      <p:cBhvr>
                                        <p:cTn id="211" dur="1" fill="hold">
                                          <p:stCondLst>
                                            <p:cond delay="0"/>
                                          </p:stCondLst>
                                        </p:cTn>
                                        <p:tgtEl>
                                          <p:spTgt spid="73"/>
                                        </p:tgtEl>
                                        <p:attrNameLst>
                                          <p:attrName>style.visibility</p:attrName>
                                        </p:attrNameLst>
                                      </p:cBhvr>
                                      <p:to>
                                        <p:strVal val="visible"/>
                                      </p:to>
                                    </p:set>
                                    <p:animEffect transition="in" filter="fade">
                                      <p:cBhvr>
                                        <p:cTn id="212" dur="400"/>
                                        <p:tgtEl>
                                          <p:spTgt spid="73"/>
                                        </p:tgtEl>
                                      </p:cBhvr>
                                    </p:animEffect>
                                  </p:childTnLst>
                                </p:cTn>
                              </p:par>
                              <p:par>
                                <p:cTn id="213" presetID="10" presetClass="entr" presetSubtype="0" fill="hold" grpId="0" nodeType="withEffect">
                                  <p:stCondLst>
                                    <p:cond delay="0"/>
                                  </p:stCondLst>
                                  <p:childTnLst>
                                    <p:set>
                                      <p:cBhvr>
                                        <p:cTn id="214" dur="1" fill="hold">
                                          <p:stCondLst>
                                            <p:cond delay="0"/>
                                          </p:stCondLst>
                                        </p:cTn>
                                        <p:tgtEl>
                                          <p:spTgt spid="74"/>
                                        </p:tgtEl>
                                        <p:attrNameLst>
                                          <p:attrName>style.visibility</p:attrName>
                                        </p:attrNameLst>
                                      </p:cBhvr>
                                      <p:to>
                                        <p:strVal val="visible"/>
                                      </p:to>
                                    </p:set>
                                    <p:animEffect transition="in" filter="fade">
                                      <p:cBhvr>
                                        <p:cTn id="215" dur="400"/>
                                        <p:tgtEl>
                                          <p:spTgt spid="74"/>
                                        </p:tgtEl>
                                      </p:cBhvr>
                                    </p:animEffect>
                                  </p:childTnLst>
                                </p:cTn>
                              </p:par>
                              <p:par>
                                <p:cTn id="216" presetID="10" presetClass="entr" presetSubtype="0" fill="hold" nodeType="withEffect">
                                  <p:stCondLst>
                                    <p:cond delay="0"/>
                                  </p:stCondLst>
                                  <p:childTnLst>
                                    <p:set>
                                      <p:cBhvr>
                                        <p:cTn id="217" dur="1" fill="hold">
                                          <p:stCondLst>
                                            <p:cond delay="0"/>
                                          </p:stCondLst>
                                        </p:cTn>
                                        <p:tgtEl>
                                          <p:spTgt spid="75"/>
                                        </p:tgtEl>
                                        <p:attrNameLst>
                                          <p:attrName>style.visibility</p:attrName>
                                        </p:attrNameLst>
                                      </p:cBhvr>
                                      <p:to>
                                        <p:strVal val="visible"/>
                                      </p:to>
                                    </p:set>
                                    <p:animEffect transition="in" filter="fade">
                                      <p:cBhvr>
                                        <p:cTn id="218" dur="400"/>
                                        <p:tgtEl>
                                          <p:spTgt spid="75"/>
                                        </p:tgtEl>
                                      </p:cBhvr>
                                    </p:animEffect>
                                  </p:childTnLst>
                                </p:cTn>
                              </p:par>
                              <p:par>
                                <p:cTn id="219" presetID="10" presetClass="entr" presetSubtype="0" fill="hold" grpId="0" nodeType="withEffect">
                                  <p:stCondLst>
                                    <p:cond delay="0"/>
                                  </p:stCondLst>
                                  <p:childTnLst>
                                    <p:set>
                                      <p:cBhvr>
                                        <p:cTn id="220" dur="1" fill="hold">
                                          <p:stCondLst>
                                            <p:cond delay="0"/>
                                          </p:stCondLst>
                                        </p:cTn>
                                        <p:tgtEl>
                                          <p:spTgt spid="76"/>
                                        </p:tgtEl>
                                        <p:attrNameLst>
                                          <p:attrName>style.visibility</p:attrName>
                                        </p:attrNameLst>
                                      </p:cBhvr>
                                      <p:to>
                                        <p:strVal val="visible"/>
                                      </p:to>
                                    </p:set>
                                    <p:animEffect transition="in" filter="fade">
                                      <p:cBhvr>
                                        <p:cTn id="221" dur="400"/>
                                        <p:tgtEl>
                                          <p:spTgt spid="76"/>
                                        </p:tgtEl>
                                      </p:cBhvr>
                                    </p:animEffect>
                                  </p:childTnLst>
                                </p:cTn>
                              </p:par>
                              <p:par>
                                <p:cTn id="222" presetID="10" presetClass="entr" presetSubtype="0" fill="hold" nodeType="withEffect">
                                  <p:stCondLst>
                                    <p:cond delay="0"/>
                                  </p:stCondLst>
                                  <p:childTnLst>
                                    <p:set>
                                      <p:cBhvr>
                                        <p:cTn id="223" dur="1" fill="hold">
                                          <p:stCondLst>
                                            <p:cond delay="0"/>
                                          </p:stCondLst>
                                        </p:cTn>
                                        <p:tgtEl>
                                          <p:spTgt spid="77"/>
                                        </p:tgtEl>
                                        <p:attrNameLst>
                                          <p:attrName>style.visibility</p:attrName>
                                        </p:attrNameLst>
                                      </p:cBhvr>
                                      <p:to>
                                        <p:strVal val="visible"/>
                                      </p:to>
                                    </p:set>
                                    <p:animEffect transition="in" filter="fade">
                                      <p:cBhvr>
                                        <p:cTn id="224" dur="400"/>
                                        <p:tgtEl>
                                          <p:spTgt spid="77"/>
                                        </p:tgtEl>
                                      </p:cBhvr>
                                    </p:animEffect>
                                  </p:childTnLst>
                                </p:cTn>
                              </p:par>
                              <p:par>
                                <p:cTn id="225" presetID="10" presetClass="entr" presetSubtype="0" fill="hold" grpId="0" nodeType="withEffect">
                                  <p:stCondLst>
                                    <p:cond delay="0"/>
                                  </p:stCondLst>
                                  <p:childTnLst>
                                    <p:set>
                                      <p:cBhvr>
                                        <p:cTn id="226" dur="1" fill="hold">
                                          <p:stCondLst>
                                            <p:cond delay="0"/>
                                          </p:stCondLst>
                                        </p:cTn>
                                        <p:tgtEl>
                                          <p:spTgt spid="78"/>
                                        </p:tgtEl>
                                        <p:attrNameLst>
                                          <p:attrName>style.visibility</p:attrName>
                                        </p:attrNameLst>
                                      </p:cBhvr>
                                      <p:to>
                                        <p:strVal val="visible"/>
                                      </p:to>
                                    </p:set>
                                    <p:animEffect transition="in" filter="fade">
                                      <p:cBhvr>
                                        <p:cTn id="227" dur="400"/>
                                        <p:tgtEl>
                                          <p:spTgt spid="78"/>
                                        </p:tgtEl>
                                      </p:cBhvr>
                                    </p:animEffect>
                                  </p:childTnLst>
                                </p:cTn>
                              </p:par>
                              <p:par>
                                <p:cTn id="228" presetID="10" presetClass="entr" presetSubtype="0" fill="hold" nodeType="withEffect">
                                  <p:stCondLst>
                                    <p:cond delay="0"/>
                                  </p:stCondLst>
                                  <p:childTnLst>
                                    <p:set>
                                      <p:cBhvr>
                                        <p:cTn id="229" dur="1" fill="hold">
                                          <p:stCondLst>
                                            <p:cond delay="0"/>
                                          </p:stCondLst>
                                        </p:cTn>
                                        <p:tgtEl>
                                          <p:spTgt spid="79"/>
                                        </p:tgtEl>
                                        <p:attrNameLst>
                                          <p:attrName>style.visibility</p:attrName>
                                        </p:attrNameLst>
                                      </p:cBhvr>
                                      <p:to>
                                        <p:strVal val="visible"/>
                                      </p:to>
                                    </p:set>
                                    <p:animEffect transition="in" filter="fade">
                                      <p:cBhvr>
                                        <p:cTn id="230" dur="400"/>
                                        <p:tgtEl>
                                          <p:spTgt spid="79"/>
                                        </p:tgtEl>
                                      </p:cBhvr>
                                    </p:animEffect>
                                  </p:childTnLst>
                                </p:cTn>
                              </p:par>
                              <p:par>
                                <p:cTn id="231" presetID="10" presetClass="entr" presetSubtype="0" fill="hold" grpId="0" nodeType="withEffect">
                                  <p:stCondLst>
                                    <p:cond delay="0"/>
                                  </p:stCondLst>
                                  <p:childTnLst>
                                    <p:set>
                                      <p:cBhvr>
                                        <p:cTn id="232" dur="1" fill="hold">
                                          <p:stCondLst>
                                            <p:cond delay="0"/>
                                          </p:stCondLst>
                                        </p:cTn>
                                        <p:tgtEl>
                                          <p:spTgt spid="80"/>
                                        </p:tgtEl>
                                        <p:attrNameLst>
                                          <p:attrName>style.visibility</p:attrName>
                                        </p:attrNameLst>
                                      </p:cBhvr>
                                      <p:to>
                                        <p:strVal val="visible"/>
                                      </p:to>
                                    </p:set>
                                    <p:animEffect transition="in" filter="fade">
                                      <p:cBhvr>
                                        <p:cTn id="233" dur="400"/>
                                        <p:tgtEl>
                                          <p:spTgt spid="80"/>
                                        </p:tgtEl>
                                      </p:cBhvr>
                                    </p:animEffect>
                                  </p:childTnLst>
                                </p:cTn>
                              </p:par>
                              <p:par>
                                <p:cTn id="234" presetID="10" presetClass="entr" presetSubtype="0" fill="hold" nodeType="withEffect">
                                  <p:stCondLst>
                                    <p:cond delay="0"/>
                                  </p:stCondLst>
                                  <p:childTnLst>
                                    <p:set>
                                      <p:cBhvr>
                                        <p:cTn id="235" dur="1" fill="hold">
                                          <p:stCondLst>
                                            <p:cond delay="0"/>
                                          </p:stCondLst>
                                        </p:cTn>
                                        <p:tgtEl>
                                          <p:spTgt spid="81"/>
                                        </p:tgtEl>
                                        <p:attrNameLst>
                                          <p:attrName>style.visibility</p:attrName>
                                        </p:attrNameLst>
                                      </p:cBhvr>
                                      <p:to>
                                        <p:strVal val="visible"/>
                                      </p:to>
                                    </p:set>
                                    <p:animEffect transition="in" filter="fade">
                                      <p:cBhvr>
                                        <p:cTn id="236" dur="400"/>
                                        <p:tgtEl>
                                          <p:spTgt spid="81"/>
                                        </p:tgtEl>
                                      </p:cBhvr>
                                    </p:animEffect>
                                  </p:childTnLst>
                                </p:cTn>
                              </p:par>
                              <p:par>
                                <p:cTn id="237" presetID="10" presetClass="entr" presetSubtype="0" fill="hold" grpId="0" nodeType="withEffect">
                                  <p:stCondLst>
                                    <p:cond delay="0"/>
                                  </p:stCondLst>
                                  <p:childTnLst>
                                    <p:set>
                                      <p:cBhvr>
                                        <p:cTn id="238" dur="1" fill="hold">
                                          <p:stCondLst>
                                            <p:cond delay="0"/>
                                          </p:stCondLst>
                                        </p:cTn>
                                        <p:tgtEl>
                                          <p:spTgt spid="82"/>
                                        </p:tgtEl>
                                        <p:attrNameLst>
                                          <p:attrName>style.visibility</p:attrName>
                                        </p:attrNameLst>
                                      </p:cBhvr>
                                      <p:to>
                                        <p:strVal val="visible"/>
                                      </p:to>
                                    </p:set>
                                    <p:animEffect transition="in" filter="fade">
                                      <p:cBhvr>
                                        <p:cTn id="239" dur="400"/>
                                        <p:tgtEl>
                                          <p:spTgt spid="82"/>
                                        </p:tgtEl>
                                      </p:cBhvr>
                                    </p:animEffect>
                                  </p:childTnLst>
                                </p:cTn>
                              </p:par>
                              <p:par>
                                <p:cTn id="240" presetID="10" presetClass="entr" presetSubtype="0" fill="hold" nodeType="withEffect">
                                  <p:stCondLst>
                                    <p:cond delay="0"/>
                                  </p:stCondLst>
                                  <p:childTnLst>
                                    <p:set>
                                      <p:cBhvr>
                                        <p:cTn id="241" dur="1" fill="hold">
                                          <p:stCondLst>
                                            <p:cond delay="0"/>
                                          </p:stCondLst>
                                        </p:cTn>
                                        <p:tgtEl>
                                          <p:spTgt spid="83"/>
                                        </p:tgtEl>
                                        <p:attrNameLst>
                                          <p:attrName>style.visibility</p:attrName>
                                        </p:attrNameLst>
                                      </p:cBhvr>
                                      <p:to>
                                        <p:strVal val="visible"/>
                                      </p:to>
                                    </p:set>
                                    <p:animEffect transition="in" filter="fade">
                                      <p:cBhvr>
                                        <p:cTn id="242" dur="400"/>
                                        <p:tgtEl>
                                          <p:spTgt spid="83"/>
                                        </p:tgtEl>
                                      </p:cBhvr>
                                    </p:animEffect>
                                  </p:childTnLst>
                                </p:cTn>
                              </p:par>
                              <p:par>
                                <p:cTn id="243" presetID="10" presetClass="entr" presetSubtype="0" fill="hold" grpId="0" nodeType="withEffect">
                                  <p:stCondLst>
                                    <p:cond delay="0"/>
                                  </p:stCondLst>
                                  <p:childTnLst>
                                    <p:set>
                                      <p:cBhvr>
                                        <p:cTn id="244" dur="1" fill="hold">
                                          <p:stCondLst>
                                            <p:cond delay="0"/>
                                          </p:stCondLst>
                                        </p:cTn>
                                        <p:tgtEl>
                                          <p:spTgt spid="84"/>
                                        </p:tgtEl>
                                        <p:attrNameLst>
                                          <p:attrName>style.visibility</p:attrName>
                                        </p:attrNameLst>
                                      </p:cBhvr>
                                      <p:to>
                                        <p:strVal val="visible"/>
                                      </p:to>
                                    </p:set>
                                    <p:animEffect transition="in" filter="fade">
                                      <p:cBhvr>
                                        <p:cTn id="245" dur="400"/>
                                        <p:tgtEl>
                                          <p:spTgt spid="84"/>
                                        </p:tgtEl>
                                      </p:cBhvr>
                                    </p:animEffect>
                                  </p:childTnLst>
                                </p:cTn>
                              </p:par>
                              <p:par>
                                <p:cTn id="246" presetID="10" presetClass="entr" presetSubtype="0" fill="hold" nodeType="withEffect">
                                  <p:stCondLst>
                                    <p:cond delay="0"/>
                                  </p:stCondLst>
                                  <p:childTnLst>
                                    <p:set>
                                      <p:cBhvr>
                                        <p:cTn id="247" dur="1" fill="hold">
                                          <p:stCondLst>
                                            <p:cond delay="0"/>
                                          </p:stCondLst>
                                        </p:cTn>
                                        <p:tgtEl>
                                          <p:spTgt spid="85"/>
                                        </p:tgtEl>
                                        <p:attrNameLst>
                                          <p:attrName>style.visibility</p:attrName>
                                        </p:attrNameLst>
                                      </p:cBhvr>
                                      <p:to>
                                        <p:strVal val="visible"/>
                                      </p:to>
                                    </p:set>
                                    <p:animEffect transition="in" filter="fade">
                                      <p:cBhvr>
                                        <p:cTn id="248" dur="400"/>
                                        <p:tgtEl>
                                          <p:spTgt spid="85"/>
                                        </p:tgtEl>
                                      </p:cBhvr>
                                    </p:animEffect>
                                  </p:childTnLst>
                                </p:cTn>
                              </p:par>
                              <p:par>
                                <p:cTn id="249" presetID="10" presetClass="entr" presetSubtype="0" fill="hold" nodeType="withEffect">
                                  <p:stCondLst>
                                    <p:cond delay="0"/>
                                  </p:stCondLst>
                                  <p:childTnLst>
                                    <p:set>
                                      <p:cBhvr>
                                        <p:cTn id="250" dur="1" fill="hold">
                                          <p:stCondLst>
                                            <p:cond delay="0"/>
                                          </p:stCondLst>
                                        </p:cTn>
                                        <p:tgtEl>
                                          <p:spTgt spid="86"/>
                                        </p:tgtEl>
                                        <p:attrNameLst>
                                          <p:attrName>style.visibility</p:attrName>
                                        </p:attrNameLst>
                                      </p:cBhvr>
                                      <p:to>
                                        <p:strVal val="visible"/>
                                      </p:to>
                                    </p:set>
                                    <p:animEffect transition="in" filter="fade">
                                      <p:cBhvr>
                                        <p:cTn id="251" dur="400"/>
                                        <p:tgtEl>
                                          <p:spTgt spid="86"/>
                                        </p:tgtEl>
                                      </p:cBhvr>
                                    </p:animEffect>
                                  </p:childTnLst>
                                </p:cTn>
                              </p:par>
                              <p:par>
                                <p:cTn id="252" presetID="10" presetClass="entr" presetSubtype="0" fill="hold" grpId="0" nodeType="withEffect">
                                  <p:stCondLst>
                                    <p:cond delay="0"/>
                                  </p:stCondLst>
                                  <p:childTnLst>
                                    <p:set>
                                      <p:cBhvr>
                                        <p:cTn id="253" dur="1" fill="hold">
                                          <p:stCondLst>
                                            <p:cond delay="0"/>
                                          </p:stCondLst>
                                        </p:cTn>
                                        <p:tgtEl>
                                          <p:spTgt spid="87"/>
                                        </p:tgtEl>
                                        <p:attrNameLst>
                                          <p:attrName>style.visibility</p:attrName>
                                        </p:attrNameLst>
                                      </p:cBhvr>
                                      <p:to>
                                        <p:strVal val="visible"/>
                                      </p:to>
                                    </p:set>
                                    <p:animEffect transition="in" filter="fade">
                                      <p:cBhvr>
                                        <p:cTn id="254" dur="400"/>
                                        <p:tgtEl>
                                          <p:spTgt spid="87"/>
                                        </p:tgtEl>
                                      </p:cBhvr>
                                    </p:animEffect>
                                  </p:childTnLst>
                                </p:cTn>
                              </p:par>
                              <p:par>
                                <p:cTn id="255" presetID="10" presetClass="entr" presetSubtype="0" fill="hold" nodeType="withEffect">
                                  <p:stCondLst>
                                    <p:cond delay="0"/>
                                  </p:stCondLst>
                                  <p:childTnLst>
                                    <p:set>
                                      <p:cBhvr>
                                        <p:cTn id="256" dur="1" fill="hold">
                                          <p:stCondLst>
                                            <p:cond delay="0"/>
                                          </p:stCondLst>
                                        </p:cTn>
                                        <p:tgtEl>
                                          <p:spTgt spid="88"/>
                                        </p:tgtEl>
                                        <p:attrNameLst>
                                          <p:attrName>style.visibility</p:attrName>
                                        </p:attrNameLst>
                                      </p:cBhvr>
                                      <p:to>
                                        <p:strVal val="visible"/>
                                      </p:to>
                                    </p:set>
                                    <p:animEffect transition="in" filter="fade">
                                      <p:cBhvr>
                                        <p:cTn id="257" dur="400"/>
                                        <p:tgtEl>
                                          <p:spTgt spid="88"/>
                                        </p:tgtEl>
                                      </p:cBhvr>
                                    </p:animEffect>
                                  </p:childTnLst>
                                </p:cTn>
                              </p:par>
                              <p:par>
                                <p:cTn id="258" presetID="10" presetClass="entr" presetSubtype="0" fill="hold" grpId="0" nodeType="withEffect">
                                  <p:stCondLst>
                                    <p:cond delay="0"/>
                                  </p:stCondLst>
                                  <p:childTnLst>
                                    <p:set>
                                      <p:cBhvr>
                                        <p:cTn id="259" dur="1" fill="hold">
                                          <p:stCondLst>
                                            <p:cond delay="0"/>
                                          </p:stCondLst>
                                        </p:cTn>
                                        <p:tgtEl>
                                          <p:spTgt spid="89"/>
                                        </p:tgtEl>
                                        <p:attrNameLst>
                                          <p:attrName>style.visibility</p:attrName>
                                        </p:attrNameLst>
                                      </p:cBhvr>
                                      <p:to>
                                        <p:strVal val="visible"/>
                                      </p:to>
                                    </p:set>
                                    <p:animEffect transition="in" filter="fade">
                                      <p:cBhvr>
                                        <p:cTn id="260" dur="400"/>
                                        <p:tgtEl>
                                          <p:spTgt spid="89"/>
                                        </p:tgtEl>
                                      </p:cBhvr>
                                    </p:animEffect>
                                  </p:childTnLst>
                                </p:cTn>
                              </p:par>
                              <p:par>
                                <p:cTn id="261" presetID="10" presetClass="entr" presetSubtype="0" fill="hold" nodeType="withEffect">
                                  <p:stCondLst>
                                    <p:cond delay="0"/>
                                  </p:stCondLst>
                                  <p:childTnLst>
                                    <p:set>
                                      <p:cBhvr>
                                        <p:cTn id="262" dur="1" fill="hold">
                                          <p:stCondLst>
                                            <p:cond delay="0"/>
                                          </p:stCondLst>
                                        </p:cTn>
                                        <p:tgtEl>
                                          <p:spTgt spid="90"/>
                                        </p:tgtEl>
                                        <p:attrNameLst>
                                          <p:attrName>style.visibility</p:attrName>
                                        </p:attrNameLst>
                                      </p:cBhvr>
                                      <p:to>
                                        <p:strVal val="visible"/>
                                      </p:to>
                                    </p:set>
                                    <p:animEffect transition="in" filter="fade">
                                      <p:cBhvr>
                                        <p:cTn id="263" dur="400"/>
                                        <p:tgtEl>
                                          <p:spTgt spid="90"/>
                                        </p:tgtEl>
                                      </p:cBhvr>
                                    </p:animEffect>
                                  </p:childTnLst>
                                </p:cTn>
                              </p:par>
                              <p:par>
                                <p:cTn id="264" presetID="10" presetClass="entr" presetSubtype="0" fill="hold" grpId="0" nodeType="withEffect">
                                  <p:stCondLst>
                                    <p:cond delay="0"/>
                                  </p:stCondLst>
                                  <p:childTnLst>
                                    <p:set>
                                      <p:cBhvr>
                                        <p:cTn id="265" dur="1" fill="hold">
                                          <p:stCondLst>
                                            <p:cond delay="0"/>
                                          </p:stCondLst>
                                        </p:cTn>
                                        <p:tgtEl>
                                          <p:spTgt spid="91"/>
                                        </p:tgtEl>
                                        <p:attrNameLst>
                                          <p:attrName>style.visibility</p:attrName>
                                        </p:attrNameLst>
                                      </p:cBhvr>
                                      <p:to>
                                        <p:strVal val="visible"/>
                                      </p:to>
                                    </p:set>
                                    <p:animEffect transition="in" filter="fade">
                                      <p:cBhvr>
                                        <p:cTn id="266" dur="400"/>
                                        <p:tgtEl>
                                          <p:spTgt spid="91"/>
                                        </p:tgtEl>
                                      </p:cBhvr>
                                    </p:animEffect>
                                  </p:childTnLst>
                                </p:cTn>
                              </p:par>
                              <p:par>
                                <p:cTn id="267" presetID="10" presetClass="entr" presetSubtype="0" fill="hold" nodeType="withEffect">
                                  <p:stCondLst>
                                    <p:cond delay="0"/>
                                  </p:stCondLst>
                                  <p:childTnLst>
                                    <p:set>
                                      <p:cBhvr>
                                        <p:cTn id="268" dur="1" fill="hold">
                                          <p:stCondLst>
                                            <p:cond delay="0"/>
                                          </p:stCondLst>
                                        </p:cTn>
                                        <p:tgtEl>
                                          <p:spTgt spid="92"/>
                                        </p:tgtEl>
                                        <p:attrNameLst>
                                          <p:attrName>style.visibility</p:attrName>
                                        </p:attrNameLst>
                                      </p:cBhvr>
                                      <p:to>
                                        <p:strVal val="visible"/>
                                      </p:to>
                                    </p:set>
                                    <p:animEffect transition="in" filter="fade">
                                      <p:cBhvr>
                                        <p:cTn id="269" dur="400"/>
                                        <p:tgtEl>
                                          <p:spTgt spid="92"/>
                                        </p:tgtEl>
                                      </p:cBhvr>
                                    </p:animEffect>
                                  </p:childTnLst>
                                </p:cTn>
                              </p:par>
                              <p:par>
                                <p:cTn id="270" presetID="10" presetClass="entr" presetSubtype="0" fill="hold" grpId="0" nodeType="withEffect">
                                  <p:stCondLst>
                                    <p:cond delay="0"/>
                                  </p:stCondLst>
                                  <p:childTnLst>
                                    <p:set>
                                      <p:cBhvr>
                                        <p:cTn id="271" dur="1" fill="hold">
                                          <p:stCondLst>
                                            <p:cond delay="0"/>
                                          </p:stCondLst>
                                        </p:cTn>
                                        <p:tgtEl>
                                          <p:spTgt spid="93"/>
                                        </p:tgtEl>
                                        <p:attrNameLst>
                                          <p:attrName>style.visibility</p:attrName>
                                        </p:attrNameLst>
                                      </p:cBhvr>
                                      <p:to>
                                        <p:strVal val="visible"/>
                                      </p:to>
                                    </p:set>
                                    <p:animEffect transition="in" filter="fade">
                                      <p:cBhvr>
                                        <p:cTn id="272" dur="400"/>
                                        <p:tgtEl>
                                          <p:spTgt spid="93"/>
                                        </p:tgtEl>
                                      </p:cBhvr>
                                    </p:animEffect>
                                  </p:childTnLst>
                                </p:cTn>
                              </p:par>
                              <p:par>
                                <p:cTn id="273" presetID="10" presetClass="entr" presetSubtype="0" fill="hold" nodeType="withEffect">
                                  <p:stCondLst>
                                    <p:cond delay="0"/>
                                  </p:stCondLst>
                                  <p:childTnLst>
                                    <p:set>
                                      <p:cBhvr>
                                        <p:cTn id="274" dur="1" fill="hold">
                                          <p:stCondLst>
                                            <p:cond delay="0"/>
                                          </p:stCondLst>
                                        </p:cTn>
                                        <p:tgtEl>
                                          <p:spTgt spid="94"/>
                                        </p:tgtEl>
                                        <p:attrNameLst>
                                          <p:attrName>style.visibility</p:attrName>
                                        </p:attrNameLst>
                                      </p:cBhvr>
                                      <p:to>
                                        <p:strVal val="visible"/>
                                      </p:to>
                                    </p:set>
                                    <p:animEffect transition="in" filter="fade">
                                      <p:cBhvr>
                                        <p:cTn id="275" dur="400"/>
                                        <p:tgtEl>
                                          <p:spTgt spid="94"/>
                                        </p:tgtEl>
                                      </p:cBhvr>
                                    </p:animEffect>
                                  </p:childTnLst>
                                </p:cTn>
                              </p:par>
                              <p:par>
                                <p:cTn id="276" presetID="10" presetClass="entr" presetSubtype="0" fill="hold" grpId="0" nodeType="withEffect">
                                  <p:stCondLst>
                                    <p:cond delay="0"/>
                                  </p:stCondLst>
                                  <p:childTnLst>
                                    <p:set>
                                      <p:cBhvr>
                                        <p:cTn id="277" dur="1" fill="hold">
                                          <p:stCondLst>
                                            <p:cond delay="0"/>
                                          </p:stCondLst>
                                        </p:cTn>
                                        <p:tgtEl>
                                          <p:spTgt spid="95"/>
                                        </p:tgtEl>
                                        <p:attrNameLst>
                                          <p:attrName>style.visibility</p:attrName>
                                        </p:attrNameLst>
                                      </p:cBhvr>
                                      <p:to>
                                        <p:strVal val="visible"/>
                                      </p:to>
                                    </p:set>
                                    <p:animEffect transition="in" filter="fade">
                                      <p:cBhvr>
                                        <p:cTn id="278" dur="400"/>
                                        <p:tgtEl>
                                          <p:spTgt spid="95"/>
                                        </p:tgtEl>
                                      </p:cBhvr>
                                    </p:animEffect>
                                  </p:childTnLst>
                                </p:cTn>
                              </p:par>
                              <p:par>
                                <p:cTn id="279" presetID="10" presetClass="entr" presetSubtype="0" fill="hold" nodeType="withEffect">
                                  <p:stCondLst>
                                    <p:cond delay="0"/>
                                  </p:stCondLst>
                                  <p:childTnLst>
                                    <p:set>
                                      <p:cBhvr>
                                        <p:cTn id="280" dur="1" fill="hold">
                                          <p:stCondLst>
                                            <p:cond delay="0"/>
                                          </p:stCondLst>
                                        </p:cTn>
                                        <p:tgtEl>
                                          <p:spTgt spid="96"/>
                                        </p:tgtEl>
                                        <p:attrNameLst>
                                          <p:attrName>style.visibility</p:attrName>
                                        </p:attrNameLst>
                                      </p:cBhvr>
                                      <p:to>
                                        <p:strVal val="visible"/>
                                      </p:to>
                                    </p:set>
                                    <p:animEffect transition="in" filter="fade">
                                      <p:cBhvr>
                                        <p:cTn id="281" dur="400"/>
                                        <p:tgtEl>
                                          <p:spTgt spid="96"/>
                                        </p:tgtEl>
                                      </p:cBhvr>
                                    </p:animEffect>
                                  </p:childTnLst>
                                </p:cTn>
                              </p:par>
                              <p:par>
                                <p:cTn id="282" presetID="10" presetClass="entr" presetSubtype="0" fill="hold" grpId="0" nodeType="withEffect">
                                  <p:stCondLst>
                                    <p:cond delay="0"/>
                                  </p:stCondLst>
                                  <p:childTnLst>
                                    <p:set>
                                      <p:cBhvr>
                                        <p:cTn id="283" dur="1" fill="hold">
                                          <p:stCondLst>
                                            <p:cond delay="0"/>
                                          </p:stCondLst>
                                        </p:cTn>
                                        <p:tgtEl>
                                          <p:spTgt spid="97"/>
                                        </p:tgtEl>
                                        <p:attrNameLst>
                                          <p:attrName>style.visibility</p:attrName>
                                        </p:attrNameLst>
                                      </p:cBhvr>
                                      <p:to>
                                        <p:strVal val="visible"/>
                                      </p:to>
                                    </p:set>
                                    <p:animEffect transition="in" filter="fade">
                                      <p:cBhvr>
                                        <p:cTn id="284" dur="400"/>
                                        <p:tgtEl>
                                          <p:spTgt spid="97"/>
                                        </p:tgtEl>
                                      </p:cBhvr>
                                    </p:animEffect>
                                  </p:childTnLst>
                                </p:cTn>
                              </p:par>
                            </p:childTnLst>
                          </p:cTn>
                        </p:par>
                      </p:childTnLst>
                    </p:cTn>
                  </p:par>
                  <p:par>
                    <p:cTn id="293" fill="hold">
                      <p:stCondLst>
                        <p:cond delay="indefinite"/>
                      </p:stCondLst>
                      <p:childTnLst>
                        <p:par>
                          <p:cTn id="294" fill="hold">
                            <p:stCondLst>
                              <p:cond delay="0"/>
                            </p:stCondLst>
                            <p:childTnLst>
                              <p:par>
                                <p:cTn id="287" presetID="10" presetClass="entr" presetSubtype="0" fill="hold" nodeType="clickEffect">
                                  <p:stCondLst>
                                    <p:cond delay="0"/>
                                  </p:stCondLst>
                                  <p:childTnLst>
                                    <p:set>
                                      <p:cBhvr>
                                        <p:cTn id="288" dur="1" fill="hold">
                                          <p:stCondLst>
                                            <p:cond delay="0"/>
                                          </p:stCondLst>
                                        </p:cTn>
                                        <p:tgtEl>
                                          <p:spTgt spid="98"/>
                                        </p:tgtEl>
                                        <p:attrNameLst>
                                          <p:attrName>style.visibility</p:attrName>
                                        </p:attrNameLst>
                                      </p:cBhvr>
                                      <p:to>
                                        <p:strVal val="visible"/>
                                      </p:to>
                                    </p:set>
                                    <p:animEffect transition="in" filter="fade">
                                      <p:cBhvr>
                                        <p:cTn id="289" dur="400"/>
                                        <p:tgtEl>
                                          <p:spTgt spid="98"/>
                                        </p:tgtEl>
                                      </p:cBhvr>
                                    </p:animEffect>
                                  </p:childTnLst>
                                </p:cTn>
                              </p:par>
                              <p:par>
                                <p:cTn id="290" presetID="10" presetClass="entr" presetSubtype="0" fill="hold" grpId="0" nodeType="withEffect">
                                  <p:stCondLst>
                                    <p:cond delay="0"/>
                                  </p:stCondLst>
                                  <p:childTnLst>
                                    <p:set>
                                      <p:cBhvr>
                                        <p:cTn id="291" dur="1" fill="hold">
                                          <p:stCondLst>
                                            <p:cond delay="0"/>
                                          </p:stCondLst>
                                        </p:cTn>
                                        <p:tgtEl>
                                          <p:spTgt spid="99"/>
                                        </p:tgtEl>
                                        <p:attrNameLst>
                                          <p:attrName>style.visibility</p:attrName>
                                        </p:attrNameLst>
                                      </p:cBhvr>
                                      <p:to>
                                        <p:strVal val="visible"/>
                                      </p:to>
                                    </p:set>
                                    <p:animEffect transition="in" filter="fade">
                                      <p:cBhvr>
                                        <p:cTn id="292" dur="4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2" grpId="0" animBg="1"/>
      <p:bldP spid="14" grpId="0" animBg="1"/>
      <p:bldP spid="16" grpId="0" animBg="1"/>
      <p:bldP spid="18" grpId="0" animBg="1"/>
      <p:bldP spid="20" grpId="0" animBg="1"/>
      <p:bldP spid="23" grpId="0" animBg="1"/>
      <p:bldP spid="25" grpId="0" animBg="1"/>
      <p:bldP spid="27" grpId="0" animBg="1"/>
      <p:bldP spid="29" grpId="0" animBg="1"/>
      <p:bldP spid="31" grpId="0" animBg="1"/>
      <p:bldP spid="33" grpId="0" animBg="1"/>
      <p:bldP spid="34" grpId="0" animBg="1"/>
      <p:bldP spid="36" grpId="0" animBg="1"/>
      <p:bldP spid="38" grpId="0" animBg="1"/>
      <p:bldP spid="40" grpId="0" animBg="1"/>
      <p:bldP spid="42" grpId="0" animBg="1"/>
      <p:bldP spid="45" grpId="0" animBg="1"/>
      <p:bldP spid="47" grpId="0" animBg="1"/>
      <p:bldP spid="49" grpId="0" animBg="1"/>
      <p:bldP spid="51" grpId="0" animBg="1"/>
      <p:bldP spid="52" grpId="0" animBg="1"/>
      <p:bldP spid="54" grpId="0" animBg="1"/>
      <p:bldP spid="56" grpId="0" animBg="1"/>
      <p:bldP spid="58" grpId="0" animBg="1"/>
      <p:bldP spid="60" grpId="0" animBg="1"/>
      <p:bldP spid="63" grpId="0" animBg="1"/>
      <p:bldP spid="65" grpId="0" animBg="1"/>
      <p:bldP spid="67" grpId="0" animBg="1"/>
      <p:bldP spid="69" grpId="0" animBg="1"/>
      <p:bldP spid="70" grpId="0" animBg="1"/>
      <p:bldP spid="72" grpId="0" animBg="1"/>
      <p:bldP spid="74" grpId="0" animBg="1"/>
      <p:bldP spid="76" grpId="0" animBg="1"/>
      <p:bldP spid="78" grpId="0" animBg="1"/>
      <p:bldP spid="80" grpId="0" animBg="1"/>
      <p:bldP spid="82" grpId="0" animBg="1"/>
      <p:bldP spid="84" grpId="0" animBg="1"/>
      <p:bldP spid="87" grpId="0" animBg="1"/>
      <p:bldP spid="89" grpId="0" animBg="1"/>
      <p:bldP spid="91" grpId="0" animBg="1"/>
      <p:bldP spid="93" grpId="0" animBg="1"/>
      <p:bldP spid="95" grpId="0" animBg="1"/>
      <p:bldP spid="97" grpId="0" animBg="1"/>
      <p:bldP spid="9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key decides the order, and ties keep their places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key function is called once for each item; the sort is stable</a:t>
            </a:r>
            <a:endParaRPr lang="en-US" sz="1400" dirty="0"/>
          </a:p>
        </p:txBody>
      </p:sp>
      <p:sp>
        <p:nvSpPr>
          <p:cNvPr id="6" name="v:SortKeyAndReverse:x0t|b1"/>
          <p:cNvSpPr txBox="1"/>
          <p:nvPr/>
        </p:nvSpPr>
        <p:spPr>
          <a:xfrm>
            <a:off x="365760" y="1188720"/>
            <a:ext cx="2377440" cy="237744"/>
          </a:xfrm>
          <a:prstGeom prst="rect">
            <a:avLst/>
          </a:prstGeom>
          <a:noFill/>
          <a:ln/>
        </p:spPr>
        <p:txBody>
          <a:bodyPr wrap="square" lIns="0" tIns="0" rIns="0" bIns="0" rtlCol="0" anchor="ctr"/>
          <a:lstStyle/>
          <a:p>
            <a:pPr indent="0" marL="0">
              <a:buNone/>
            </a:pPr>
            <a:r>
              <a:rPr lang="en-US" sz="1300" b="1" dirty="0">
                <a:solidFill>
                  <a:srgbClr val="306998"/>
                </a:solidFill>
                <a:latin typeface="Cambria" pitchFamily="34" charset="0"/>
                <a:ea typeface="Cambria" pitchFamily="34" charset="-122"/>
                <a:cs typeface="Cambria" pitchFamily="34" charset="-120"/>
              </a:rPr>
              <a:t>key=str.lower</a:t>
            </a:r>
            <a:endParaRPr lang="en-US" sz="1300" dirty="0"/>
          </a:p>
        </p:txBody>
      </p:sp>
      <p:sp>
        <p:nvSpPr>
          <p:cNvPr id="7" name="v:SortKeyAndReverse:x0expr|b1"/>
          <p:cNvSpPr txBox="1"/>
          <p:nvPr/>
        </p:nvSpPr>
        <p:spPr>
          <a:xfrm>
            <a:off x="365760" y="1444752"/>
            <a:ext cx="2377440" cy="658368"/>
          </a:xfrm>
          <a:prstGeom prst="rect">
            <a:avLst/>
          </a:prstGeom>
          <a:noFill/>
          <a:ln/>
        </p:spPr>
        <p:txBody>
          <a:bodyPr wrap="square" lIns="0" tIns="0" rIns="0" bIns="0" rtlCol="0" anchor="t"/>
          <a:lstStyle/>
          <a:p>
            <a:pPr indent="0" marL="0">
              <a:buNone/>
            </a:pPr>
            <a:r>
              <a:rPr lang="en-US" sz="900" dirty="0">
                <a:solidFill>
                  <a:srgbClr val="5B6B7B"/>
                </a:solidFill>
                <a:latin typeface="Courier New" pitchFamily="34" charset="0"/>
                <a:ea typeface="Courier New" pitchFamily="34" charset="-122"/>
                <a:cs typeface="Courier New" pitchFamily="34" charset="-120"/>
              </a:rPr>
              <a:t>sorted(['a', 'z', 'A', 'Z'], key=str.lower)</a:t>
            </a:r>
            <a:endParaRPr lang="en-US" sz="900" dirty="0"/>
          </a:p>
        </p:txBody>
      </p:sp>
      <p:sp>
        <p:nvSpPr>
          <p:cNvPr id="8" name="v:SortKeyAndReverse:x0in0:box|b1"/>
          <p:cNvSpPr/>
          <p:nvPr/>
        </p:nvSpPr>
        <p:spPr>
          <a:xfrm>
            <a:off x="2880360" y="1188720"/>
            <a:ext cx="1051560" cy="457200"/>
          </a:xfrm>
          <a:prstGeom prst="roundRect">
            <a:avLst>
              <a:gd name="adj" fmla="val 10000"/>
            </a:avLst>
          </a:prstGeom>
          <a:solidFill>
            <a:srgbClr val="E3EEF8"/>
          </a:solidFill>
          <a:ln w="19050">
            <a:solidFill>
              <a:srgbClr val="306998"/>
            </a:solidFill>
            <a:prstDash val="solid"/>
          </a:ln>
        </p:spPr>
      </p:sp>
      <p:sp>
        <p:nvSpPr>
          <p:cNvPr id="9" name="v:SortKeyAndReverse:x0in0|b1"/>
          <p:cNvSpPr txBox="1"/>
          <p:nvPr/>
        </p:nvSpPr>
        <p:spPr>
          <a:xfrm>
            <a:off x="2898648" y="1207008"/>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'a'</a:t>
            </a:r>
            <a:endParaRPr lang="en-US" sz="1050" dirty="0"/>
          </a:p>
        </p:txBody>
      </p:sp>
      <p:sp>
        <p:nvSpPr>
          <p:cNvPr id="10" name="v:SortKeyAndReverse:x0key0|b1"/>
          <p:cNvSpPr txBox="1"/>
          <p:nvPr/>
        </p:nvSpPr>
        <p:spPr>
          <a:xfrm>
            <a:off x="2898648" y="1444752"/>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'a'</a:t>
            </a:r>
            <a:endParaRPr lang="en-US" sz="900" dirty="0"/>
          </a:p>
        </p:txBody>
      </p:sp>
      <p:sp>
        <p:nvSpPr>
          <p:cNvPr id="11" name="v:SortKeyAndReverse:x0in1:box|b1"/>
          <p:cNvSpPr/>
          <p:nvPr/>
        </p:nvSpPr>
        <p:spPr>
          <a:xfrm>
            <a:off x="4023360" y="1188720"/>
            <a:ext cx="1051560" cy="457200"/>
          </a:xfrm>
          <a:prstGeom prst="roundRect">
            <a:avLst>
              <a:gd name="adj" fmla="val 10000"/>
            </a:avLst>
          </a:prstGeom>
          <a:solidFill>
            <a:srgbClr val="E3EEF8"/>
          </a:solidFill>
          <a:ln w="19050">
            <a:solidFill>
              <a:srgbClr val="306998"/>
            </a:solidFill>
            <a:prstDash val="solid"/>
          </a:ln>
        </p:spPr>
      </p:sp>
      <p:sp>
        <p:nvSpPr>
          <p:cNvPr id="12" name="v:SortKeyAndReverse:x0in1|b1"/>
          <p:cNvSpPr txBox="1"/>
          <p:nvPr/>
        </p:nvSpPr>
        <p:spPr>
          <a:xfrm>
            <a:off x="4041648" y="1207008"/>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'z'</a:t>
            </a:r>
            <a:endParaRPr lang="en-US" sz="1050" dirty="0"/>
          </a:p>
        </p:txBody>
      </p:sp>
      <p:sp>
        <p:nvSpPr>
          <p:cNvPr id="13" name="v:SortKeyAndReverse:x0key1|b1"/>
          <p:cNvSpPr txBox="1"/>
          <p:nvPr/>
        </p:nvSpPr>
        <p:spPr>
          <a:xfrm>
            <a:off x="4041648" y="1444752"/>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'z'</a:t>
            </a:r>
            <a:endParaRPr lang="en-US" sz="900" dirty="0"/>
          </a:p>
        </p:txBody>
      </p:sp>
      <p:sp>
        <p:nvSpPr>
          <p:cNvPr id="14" name="v:SortKeyAndReverse:x0in2:box|b1"/>
          <p:cNvSpPr/>
          <p:nvPr/>
        </p:nvSpPr>
        <p:spPr>
          <a:xfrm>
            <a:off x="5166360" y="1188720"/>
            <a:ext cx="1051560" cy="457200"/>
          </a:xfrm>
          <a:prstGeom prst="roundRect">
            <a:avLst>
              <a:gd name="adj" fmla="val 10000"/>
            </a:avLst>
          </a:prstGeom>
          <a:solidFill>
            <a:srgbClr val="E3EEF8"/>
          </a:solidFill>
          <a:ln w="19050">
            <a:solidFill>
              <a:srgbClr val="306998"/>
            </a:solidFill>
            <a:prstDash val="solid"/>
          </a:ln>
        </p:spPr>
      </p:sp>
      <p:sp>
        <p:nvSpPr>
          <p:cNvPr id="15" name="v:SortKeyAndReverse:x0in2|b1"/>
          <p:cNvSpPr txBox="1"/>
          <p:nvPr/>
        </p:nvSpPr>
        <p:spPr>
          <a:xfrm>
            <a:off x="5184648" y="1207008"/>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'A'</a:t>
            </a:r>
            <a:endParaRPr lang="en-US" sz="1050" dirty="0"/>
          </a:p>
        </p:txBody>
      </p:sp>
      <p:sp>
        <p:nvSpPr>
          <p:cNvPr id="16" name="v:SortKeyAndReverse:x0key2|b1"/>
          <p:cNvSpPr txBox="1"/>
          <p:nvPr/>
        </p:nvSpPr>
        <p:spPr>
          <a:xfrm>
            <a:off x="5184648" y="1444752"/>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'a'</a:t>
            </a:r>
            <a:endParaRPr lang="en-US" sz="900" dirty="0"/>
          </a:p>
        </p:txBody>
      </p:sp>
      <p:sp>
        <p:nvSpPr>
          <p:cNvPr id="17" name="v:SortKeyAndReverse:x0in3:box|b1"/>
          <p:cNvSpPr/>
          <p:nvPr/>
        </p:nvSpPr>
        <p:spPr>
          <a:xfrm>
            <a:off x="6309360" y="1188720"/>
            <a:ext cx="1051560" cy="457200"/>
          </a:xfrm>
          <a:prstGeom prst="roundRect">
            <a:avLst>
              <a:gd name="adj" fmla="val 10000"/>
            </a:avLst>
          </a:prstGeom>
          <a:solidFill>
            <a:srgbClr val="E3EEF8"/>
          </a:solidFill>
          <a:ln w="19050">
            <a:solidFill>
              <a:srgbClr val="306998"/>
            </a:solidFill>
            <a:prstDash val="solid"/>
          </a:ln>
        </p:spPr>
      </p:sp>
      <p:sp>
        <p:nvSpPr>
          <p:cNvPr id="18" name="v:SortKeyAndReverse:x0in3|b1"/>
          <p:cNvSpPr txBox="1"/>
          <p:nvPr/>
        </p:nvSpPr>
        <p:spPr>
          <a:xfrm>
            <a:off x="6327648" y="1207008"/>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'Z'</a:t>
            </a:r>
            <a:endParaRPr lang="en-US" sz="1050" dirty="0"/>
          </a:p>
        </p:txBody>
      </p:sp>
      <p:sp>
        <p:nvSpPr>
          <p:cNvPr id="19" name="v:SortKeyAndReverse:x0key3|b1"/>
          <p:cNvSpPr txBox="1"/>
          <p:nvPr/>
        </p:nvSpPr>
        <p:spPr>
          <a:xfrm>
            <a:off x="6327648" y="1444752"/>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'z'</a:t>
            </a:r>
            <a:endParaRPr lang="en-US" sz="900" dirty="0"/>
          </a:p>
        </p:txBody>
      </p:sp>
      <p:sp>
        <p:nvSpPr>
          <p:cNvPr id="20" name="sortline|b1"/>
          <p:cNvSpPr/>
          <p:nvPr/>
        </p:nvSpPr>
        <p:spPr>
          <a:xfrm>
            <a:off x="3406140" y="1645920"/>
            <a:ext cx="0" cy="274320"/>
          </a:xfrm>
          <a:prstGeom prst="line">
            <a:avLst/>
          </a:prstGeom>
          <a:noFill/>
          <a:ln w="19050">
            <a:solidFill>
              <a:srgbClr val="9AA8B8"/>
            </a:solidFill>
            <a:prstDash val="solid"/>
            <a:tailEnd type="triangle"/>
          </a:ln>
        </p:spPr>
      </p:sp>
      <p:sp>
        <p:nvSpPr>
          <p:cNvPr id="21" name="sortline|b1"/>
          <p:cNvSpPr/>
          <p:nvPr/>
        </p:nvSpPr>
        <p:spPr>
          <a:xfrm flipH="1">
            <a:off x="4549140" y="1645920"/>
            <a:ext cx="1143000" cy="274320"/>
          </a:xfrm>
          <a:prstGeom prst="line">
            <a:avLst/>
          </a:prstGeom>
          <a:noFill/>
          <a:ln w="19050">
            <a:solidFill>
              <a:srgbClr val="9AA8B8"/>
            </a:solidFill>
            <a:prstDash val="solid"/>
            <a:tailEnd type="triangle"/>
          </a:ln>
        </p:spPr>
      </p:sp>
      <p:sp>
        <p:nvSpPr>
          <p:cNvPr id="22" name="sortline|b1"/>
          <p:cNvSpPr/>
          <p:nvPr/>
        </p:nvSpPr>
        <p:spPr>
          <a:xfrm>
            <a:off x="4549140" y="1645920"/>
            <a:ext cx="1143000" cy="274320"/>
          </a:xfrm>
          <a:prstGeom prst="line">
            <a:avLst/>
          </a:prstGeom>
          <a:noFill/>
          <a:ln w="19050">
            <a:solidFill>
              <a:srgbClr val="9AA8B8"/>
            </a:solidFill>
            <a:prstDash val="solid"/>
            <a:tailEnd type="triangle"/>
          </a:ln>
        </p:spPr>
      </p:sp>
      <p:sp>
        <p:nvSpPr>
          <p:cNvPr id="23" name="sortline|b1"/>
          <p:cNvSpPr/>
          <p:nvPr/>
        </p:nvSpPr>
        <p:spPr>
          <a:xfrm>
            <a:off x="6835140" y="1645920"/>
            <a:ext cx="0" cy="274320"/>
          </a:xfrm>
          <a:prstGeom prst="line">
            <a:avLst/>
          </a:prstGeom>
          <a:noFill/>
          <a:ln w="19050">
            <a:solidFill>
              <a:srgbClr val="9AA8B8"/>
            </a:solidFill>
            <a:prstDash val="solid"/>
            <a:tailEnd type="triangle"/>
          </a:ln>
        </p:spPr>
      </p:sp>
      <p:sp>
        <p:nvSpPr>
          <p:cNvPr id="24" name="v:SortKeyAndReverse:x0out0:box|b1"/>
          <p:cNvSpPr/>
          <p:nvPr/>
        </p:nvSpPr>
        <p:spPr>
          <a:xfrm>
            <a:off x="2880360" y="1920240"/>
            <a:ext cx="1051560" cy="274320"/>
          </a:xfrm>
          <a:prstGeom prst="roundRect">
            <a:avLst>
              <a:gd name="adj" fmla="val 16667"/>
            </a:avLst>
          </a:prstGeom>
          <a:solidFill>
            <a:srgbClr val="DDF3E6"/>
          </a:solidFill>
          <a:ln w="19050">
            <a:solidFill>
              <a:srgbClr val="2E9E5B"/>
            </a:solidFill>
            <a:prstDash val="solid"/>
          </a:ln>
        </p:spPr>
      </p:sp>
      <p:sp>
        <p:nvSpPr>
          <p:cNvPr id="25" name="v:SortKeyAndReverse:x0out0|b1"/>
          <p:cNvSpPr txBox="1"/>
          <p:nvPr/>
        </p:nvSpPr>
        <p:spPr>
          <a:xfrm>
            <a:off x="2898648" y="1920240"/>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'a'</a:t>
            </a:r>
            <a:endParaRPr lang="en-US" sz="1050" dirty="0"/>
          </a:p>
        </p:txBody>
      </p:sp>
      <p:sp>
        <p:nvSpPr>
          <p:cNvPr id="26" name="v:SortKeyAndReverse:x0out1:box|b1"/>
          <p:cNvSpPr/>
          <p:nvPr/>
        </p:nvSpPr>
        <p:spPr>
          <a:xfrm>
            <a:off x="4023360" y="1920240"/>
            <a:ext cx="1051560" cy="274320"/>
          </a:xfrm>
          <a:prstGeom prst="roundRect">
            <a:avLst>
              <a:gd name="adj" fmla="val 16667"/>
            </a:avLst>
          </a:prstGeom>
          <a:solidFill>
            <a:srgbClr val="DDF3E6"/>
          </a:solidFill>
          <a:ln w="19050">
            <a:solidFill>
              <a:srgbClr val="2E9E5B"/>
            </a:solidFill>
            <a:prstDash val="solid"/>
          </a:ln>
        </p:spPr>
      </p:sp>
      <p:sp>
        <p:nvSpPr>
          <p:cNvPr id="27" name="v:SortKeyAndReverse:x0out1|b1"/>
          <p:cNvSpPr txBox="1"/>
          <p:nvPr/>
        </p:nvSpPr>
        <p:spPr>
          <a:xfrm>
            <a:off x="4041648" y="1920240"/>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'A'</a:t>
            </a:r>
            <a:endParaRPr lang="en-US" sz="1050" dirty="0"/>
          </a:p>
        </p:txBody>
      </p:sp>
      <p:sp>
        <p:nvSpPr>
          <p:cNvPr id="28" name="v:SortKeyAndReverse:x0out2:box|b1"/>
          <p:cNvSpPr/>
          <p:nvPr/>
        </p:nvSpPr>
        <p:spPr>
          <a:xfrm>
            <a:off x="5166360" y="1920240"/>
            <a:ext cx="1051560" cy="274320"/>
          </a:xfrm>
          <a:prstGeom prst="roundRect">
            <a:avLst>
              <a:gd name="adj" fmla="val 16667"/>
            </a:avLst>
          </a:prstGeom>
          <a:solidFill>
            <a:srgbClr val="DDF3E6"/>
          </a:solidFill>
          <a:ln w="19050">
            <a:solidFill>
              <a:srgbClr val="2E9E5B"/>
            </a:solidFill>
            <a:prstDash val="solid"/>
          </a:ln>
        </p:spPr>
      </p:sp>
      <p:sp>
        <p:nvSpPr>
          <p:cNvPr id="29" name="v:SortKeyAndReverse:x0out2|b1"/>
          <p:cNvSpPr txBox="1"/>
          <p:nvPr/>
        </p:nvSpPr>
        <p:spPr>
          <a:xfrm>
            <a:off x="5184648" y="1920240"/>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'z'</a:t>
            </a:r>
            <a:endParaRPr lang="en-US" sz="1050" dirty="0"/>
          </a:p>
        </p:txBody>
      </p:sp>
      <p:sp>
        <p:nvSpPr>
          <p:cNvPr id="30" name="v:SortKeyAndReverse:x0out3:box|b1"/>
          <p:cNvSpPr/>
          <p:nvPr/>
        </p:nvSpPr>
        <p:spPr>
          <a:xfrm>
            <a:off x="6309360" y="1920240"/>
            <a:ext cx="1051560" cy="274320"/>
          </a:xfrm>
          <a:prstGeom prst="roundRect">
            <a:avLst>
              <a:gd name="adj" fmla="val 16667"/>
            </a:avLst>
          </a:prstGeom>
          <a:solidFill>
            <a:srgbClr val="DDF3E6"/>
          </a:solidFill>
          <a:ln w="19050">
            <a:solidFill>
              <a:srgbClr val="2E9E5B"/>
            </a:solidFill>
            <a:prstDash val="solid"/>
          </a:ln>
        </p:spPr>
      </p:sp>
      <p:sp>
        <p:nvSpPr>
          <p:cNvPr id="31" name="v:SortKeyAndReverse:x0out3|b1"/>
          <p:cNvSpPr txBox="1"/>
          <p:nvPr/>
        </p:nvSpPr>
        <p:spPr>
          <a:xfrm>
            <a:off x="6327648" y="1920240"/>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'Z'</a:t>
            </a:r>
            <a:endParaRPr lang="en-US" sz="1050" dirty="0"/>
          </a:p>
        </p:txBody>
      </p:sp>
      <p:sp>
        <p:nvSpPr>
          <p:cNvPr id="32" name="v:SortKeyAndReverse:x1t|b2"/>
          <p:cNvSpPr txBox="1"/>
          <p:nvPr/>
        </p:nvSpPr>
        <p:spPr>
          <a:xfrm>
            <a:off x="365760" y="2258568"/>
            <a:ext cx="2377440" cy="237744"/>
          </a:xfrm>
          <a:prstGeom prst="rect">
            <a:avLst/>
          </a:prstGeom>
          <a:noFill/>
          <a:ln/>
        </p:spPr>
        <p:txBody>
          <a:bodyPr wrap="square" lIns="0" tIns="0" rIns="0" bIns="0" rtlCol="0" anchor="ctr"/>
          <a:lstStyle/>
          <a:p>
            <a:pPr indent="0" marL="0">
              <a:buNone/>
            </a:pPr>
            <a:r>
              <a:rPr lang="en-US" sz="1300" b="1" dirty="0">
                <a:solidFill>
                  <a:srgbClr val="306998"/>
                </a:solidFill>
                <a:latin typeface="Cambria" pitchFamily="34" charset="0"/>
                <a:ea typeface="Cambria" pitchFamily="34" charset="-122"/>
                <a:cs typeface="Cambria" pitchFamily="34" charset="-120"/>
              </a:rPr>
              <a:t>reverse=True</a:t>
            </a:r>
            <a:endParaRPr lang="en-US" sz="1300" dirty="0"/>
          </a:p>
        </p:txBody>
      </p:sp>
      <p:sp>
        <p:nvSpPr>
          <p:cNvPr id="33" name="v:SortKeyAndReverse:x1expr|b2"/>
          <p:cNvSpPr txBox="1"/>
          <p:nvPr/>
        </p:nvSpPr>
        <p:spPr>
          <a:xfrm>
            <a:off x="365760" y="2514600"/>
            <a:ext cx="2377440" cy="658368"/>
          </a:xfrm>
          <a:prstGeom prst="rect">
            <a:avLst/>
          </a:prstGeom>
          <a:noFill/>
          <a:ln/>
        </p:spPr>
        <p:txBody>
          <a:bodyPr wrap="square" lIns="0" tIns="0" rIns="0" bIns="0" rtlCol="0" anchor="t"/>
          <a:lstStyle/>
          <a:p>
            <a:pPr indent="0" marL="0">
              <a:buNone/>
            </a:pPr>
            <a:r>
              <a:rPr lang="en-US" sz="900" dirty="0">
                <a:solidFill>
                  <a:srgbClr val="5B6B7B"/>
                </a:solidFill>
                <a:latin typeface="Courier New" pitchFamily="34" charset="0"/>
                <a:ea typeface="Courier New" pitchFamily="34" charset="-122"/>
                <a:cs typeface="Courier New" pitchFamily="34" charset="-120"/>
              </a:rPr>
              <a:t>sorted(['Ants', 'Badgers', 'Cats', 'Dogs', 'Elephants'], reverse=True)</a:t>
            </a:r>
            <a:endParaRPr lang="en-US" sz="900" dirty="0"/>
          </a:p>
        </p:txBody>
      </p:sp>
      <p:sp>
        <p:nvSpPr>
          <p:cNvPr id="34" name="v:SortKeyAndReverse:x1in0:box|b2"/>
          <p:cNvSpPr/>
          <p:nvPr/>
        </p:nvSpPr>
        <p:spPr>
          <a:xfrm>
            <a:off x="2880360" y="2258568"/>
            <a:ext cx="1051560" cy="457200"/>
          </a:xfrm>
          <a:prstGeom prst="roundRect">
            <a:avLst>
              <a:gd name="adj" fmla="val 10000"/>
            </a:avLst>
          </a:prstGeom>
          <a:solidFill>
            <a:srgbClr val="E3EEF8"/>
          </a:solidFill>
          <a:ln w="19050">
            <a:solidFill>
              <a:srgbClr val="306998"/>
            </a:solidFill>
            <a:prstDash val="solid"/>
          </a:ln>
        </p:spPr>
      </p:sp>
      <p:sp>
        <p:nvSpPr>
          <p:cNvPr id="35" name="v:SortKeyAndReverse:x1in0|b2"/>
          <p:cNvSpPr txBox="1"/>
          <p:nvPr/>
        </p:nvSpPr>
        <p:spPr>
          <a:xfrm>
            <a:off x="2898648" y="2276856"/>
            <a:ext cx="1014984" cy="42062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'Ants'</a:t>
            </a:r>
            <a:endParaRPr lang="en-US" sz="1050" dirty="0"/>
          </a:p>
        </p:txBody>
      </p:sp>
      <p:sp>
        <p:nvSpPr>
          <p:cNvPr id="36" name="v:SortKeyAndReverse:x1in1:box|b2"/>
          <p:cNvSpPr/>
          <p:nvPr/>
        </p:nvSpPr>
        <p:spPr>
          <a:xfrm>
            <a:off x="4023360" y="2258568"/>
            <a:ext cx="1051560" cy="457200"/>
          </a:xfrm>
          <a:prstGeom prst="roundRect">
            <a:avLst>
              <a:gd name="adj" fmla="val 10000"/>
            </a:avLst>
          </a:prstGeom>
          <a:solidFill>
            <a:srgbClr val="E3EEF8"/>
          </a:solidFill>
          <a:ln w="19050">
            <a:solidFill>
              <a:srgbClr val="306998"/>
            </a:solidFill>
            <a:prstDash val="solid"/>
          </a:ln>
        </p:spPr>
      </p:sp>
      <p:sp>
        <p:nvSpPr>
          <p:cNvPr id="37" name="v:SortKeyAndReverse:x1in1|b2"/>
          <p:cNvSpPr txBox="1"/>
          <p:nvPr/>
        </p:nvSpPr>
        <p:spPr>
          <a:xfrm>
            <a:off x="4041648" y="2276856"/>
            <a:ext cx="1014984" cy="42062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'Badgers'</a:t>
            </a:r>
            <a:endParaRPr lang="en-US" sz="1050" dirty="0"/>
          </a:p>
        </p:txBody>
      </p:sp>
      <p:sp>
        <p:nvSpPr>
          <p:cNvPr id="38" name="v:SortKeyAndReverse:x1in2:box|b2"/>
          <p:cNvSpPr/>
          <p:nvPr/>
        </p:nvSpPr>
        <p:spPr>
          <a:xfrm>
            <a:off x="5166360" y="2258568"/>
            <a:ext cx="1051560" cy="457200"/>
          </a:xfrm>
          <a:prstGeom prst="roundRect">
            <a:avLst>
              <a:gd name="adj" fmla="val 10000"/>
            </a:avLst>
          </a:prstGeom>
          <a:solidFill>
            <a:srgbClr val="E3EEF8"/>
          </a:solidFill>
          <a:ln w="19050">
            <a:solidFill>
              <a:srgbClr val="306998"/>
            </a:solidFill>
            <a:prstDash val="solid"/>
          </a:ln>
        </p:spPr>
      </p:sp>
      <p:sp>
        <p:nvSpPr>
          <p:cNvPr id="39" name="v:SortKeyAndReverse:x1in2|b2"/>
          <p:cNvSpPr txBox="1"/>
          <p:nvPr/>
        </p:nvSpPr>
        <p:spPr>
          <a:xfrm>
            <a:off x="5184648" y="2276856"/>
            <a:ext cx="1014984" cy="42062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'Cats'</a:t>
            </a:r>
            <a:endParaRPr lang="en-US" sz="1050" dirty="0"/>
          </a:p>
        </p:txBody>
      </p:sp>
      <p:sp>
        <p:nvSpPr>
          <p:cNvPr id="40" name="v:SortKeyAndReverse:x1in3:box|b2"/>
          <p:cNvSpPr/>
          <p:nvPr/>
        </p:nvSpPr>
        <p:spPr>
          <a:xfrm>
            <a:off x="6309360" y="2258568"/>
            <a:ext cx="1051560" cy="457200"/>
          </a:xfrm>
          <a:prstGeom prst="roundRect">
            <a:avLst>
              <a:gd name="adj" fmla="val 10000"/>
            </a:avLst>
          </a:prstGeom>
          <a:solidFill>
            <a:srgbClr val="E3EEF8"/>
          </a:solidFill>
          <a:ln w="19050">
            <a:solidFill>
              <a:srgbClr val="306998"/>
            </a:solidFill>
            <a:prstDash val="solid"/>
          </a:ln>
        </p:spPr>
      </p:sp>
      <p:sp>
        <p:nvSpPr>
          <p:cNvPr id="41" name="v:SortKeyAndReverse:x1in3|b2"/>
          <p:cNvSpPr txBox="1"/>
          <p:nvPr/>
        </p:nvSpPr>
        <p:spPr>
          <a:xfrm>
            <a:off x="6327648" y="2276856"/>
            <a:ext cx="1014984" cy="42062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'Dogs'</a:t>
            </a:r>
            <a:endParaRPr lang="en-US" sz="1050" dirty="0"/>
          </a:p>
        </p:txBody>
      </p:sp>
      <p:sp>
        <p:nvSpPr>
          <p:cNvPr id="42" name="v:SortKeyAndReverse:x1in4:box|b2"/>
          <p:cNvSpPr/>
          <p:nvPr/>
        </p:nvSpPr>
        <p:spPr>
          <a:xfrm>
            <a:off x="7452360" y="2258568"/>
            <a:ext cx="1051560" cy="457200"/>
          </a:xfrm>
          <a:prstGeom prst="roundRect">
            <a:avLst>
              <a:gd name="adj" fmla="val 10000"/>
            </a:avLst>
          </a:prstGeom>
          <a:solidFill>
            <a:srgbClr val="E3EEF8"/>
          </a:solidFill>
          <a:ln w="19050">
            <a:solidFill>
              <a:srgbClr val="306998"/>
            </a:solidFill>
            <a:prstDash val="solid"/>
          </a:ln>
        </p:spPr>
      </p:sp>
      <p:sp>
        <p:nvSpPr>
          <p:cNvPr id="43" name="v:SortKeyAndReverse:x1in4|b2"/>
          <p:cNvSpPr txBox="1"/>
          <p:nvPr/>
        </p:nvSpPr>
        <p:spPr>
          <a:xfrm>
            <a:off x="7470648" y="2276856"/>
            <a:ext cx="1014984" cy="42062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'Elephants'</a:t>
            </a:r>
            <a:endParaRPr lang="en-US" sz="1050" dirty="0"/>
          </a:p>
        </p:txBody>
      </p:sp>
      <p:sp>
        <p:nvSpPr>
          <p:cNvPr id="44" name="sortline|b2"/>
          <p:cNvSpPr/>
          <p:nvPr/>
        </p:nvSpPr>
        <p:spPr>
          <a:xfrm flipH="1">
            <a:off x="3406140" y="2715768"/>
            <a:ext cx="4572000" cy="274320"/>
          </a:xfrm>
          <a:prstGeom prst="line">
            <a:avLst/>
          </a:prstGeom>
          <a:noFill/>
          <a:ln w="19050">
            <a:solidFill>
              <a:srgbClr val="9AA8B8"/>
            </a:solidFill>
            <a:prstDash val="solid"/>
            <a:tailEnd type="triangle"/>
          </a:ln>
        </p:spPr>
      </p:sp>
      <p:sp>
        <p:nvSpPr>
          <p:cNvPr id="45" name="sortline|b2"/>
          <p:cNvSpPr/>
          <p:nvPr/>
        </p:nvSpPr>
        <p:spPr>
          <a:xfrm flipH="1">
            <a:off x="4549140" y="2715768"/>
            <a:ext cx="2286000" cy="274320"/>
          </a:xfrm>
          <a:prstGeom prst="line">
            <a:avLst/>
          </a:prstGeom>
          <a:noFill/>
          <a:ln w="19050">
            <a:solidFill>
              <a:srgbClr val="9AA8B8"/>
            </a:solidFill>
            <a:prstDash val="solid"/>
            <a:tailEnd type="triangle"/>
          </a:ln>
        </p:spPr>
      </p:sp>
      <p:sp>
        <p:nvSpPr>
          <p:cNvPr id="46" name="sortline|b2"/>
          <p:cNvSpPr/>
          <p:nvPr/>
        </p:nvSpPr>
        <p:spPr>
          <a:xfrm>
            <a:off x="5692140" y="2715768"/>
            <a:ext cx="0" cy="274320"/>
          </a:xfrm>
          <a:prstGeom prst="line">
            <a:avLst/>
          </a:prstGeom>
          <a:noFill/>
          <a:ln w="19050">
            <a:solidFill>
              <a:srgbClr val="9AA8B8"/>
            </a:solidFill>
            <a:prstDash val="solid"/>
            <a:tailEnd type="triangle"/>
          </a:ln>
        </p:spPr>
      </p:sp>
      <p:sp>
        <p:nvSpPr>
          <p:cNvPr id="47" name="sortline|b2"/>
          <p:cNvSpPr/>
          <p:nvPr/>
        </p:nvSpPr>
        <p:spPr>
          <a:xfrm>
            <a:off x="4549140" y="2715768"/>
            <a:ext cx="2286000" cy="274320"/>
          </a:xfrm>
          <a:prstGeom prst="line">
            <a:avLst/>
          </a:prstGeom>
          <a:noFill/>
          <a:ln w="19050">
            <a:solidFill>
              <a:srgbClr val="9AA8B8"/>
            </a:solidFill>
            <a:prstDash val="solid"/>
            <a:tailEnd type="triangle"/>
          </a:ln>
        </p:spPr>
      </p:sp>
      <p:sp>
        <p:nvSpPr>
          <p:cNvPr id="48" name="sortline|b2"/>
          <p:cNvSpPr/>
          <p:nvPr/>
        </p:nvSpPr>
        <p:spPr>
          <a:xfrm>
            <a:off x="3406140" y="2715768"/>
            <a:ext cx="4572000" cy="274320"/>
          </a:xfrm>
          <a:prstGeom prst="line">
            <a:avLst/>
          </a:prstGeom>
          <a:noFill/>
          <a:ln w="19050">
            <a:solidFill>
              <a:srgbClr val="9AA8B8"/>
            </a:solidFill>
            <a:prstDash val="solid"/>
            <a:tailEnd type="triangle"/>
          </a:ln>
        </p:spPr>
      </p:sp>
      <p:sp>
        <p:nvSpPr>
          <p:cNvPr id="49" name="v:SortKeyAndReverse:x1out0:box|b2"/>
          <p:cNvSpPr/>
          <p:nvPr/>
        </p:nvSpPr>
        <p:spPr>
          <a:xfrm>
            <a:off x="2880360" y="2990088"/>
            <a:ext cx="1051560" cy="274320"/>
          </a:xfrm>
          <a:prstGeom prst="roundRect">
            <a:avLst>
              <a:gd name="adj" fmla="val 16667"/>
            </a:avLst>
          </a:prstGeom>
          <a:solidFill>
            <a:srgbClr val="DDF3E6"/>
          </a:solidFill>
          <a:ln w="19050">
            <a:solidFill>
              <a:srgbClr val="2E9E5B"/>
            </a:solidFill>
            <a:prstDash val="solid"/>
          </a:ln>
        </p:spPr>
      </p:sp>
      <p:sp>
        <p:nvSpPr>
          <p:cNvPr id="50" name="v:SortKeyAndReverse:x1out0|b2"/>
          <p:cNvSpPr txBox="1"/>
          <p:nvPr/>
        </p:nvSpPr>
        <p:spPr>
          <a:xfrm>
            <a:off x="2898648" y="2990088"/>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'Elephants'</a:t>
            </a:r>
            <a:endParaRPr lang="en-US" sz="1050" dirty="0"/>
          </a:p>
        </p:txBody>
      </p:sp>
      <p:sp>
        <p:nvSpPr>
          <p:cNvPr id="51" name="v:SortKeyAndReverse:x1out1:box|b2"/>
          <p:cNvSpPr/>
          <p:nvPr/>
        </p:nvSpPr>
        <p:spPr>
          <a:xfrm>
            <a:off x="4023360" y="2990088"/>
            <a:ext cx="1051560" cy="274320"/>
          </a:xfrm>
          <a:prstGeom prst="roundRect">
            <a:avLst>
              <a:gd name="adj" fmla="val 16667"/>
            </a:avLst>
          </a:prstGeom>
          <a:solidFill>
            <a:srgbClr val="DDF3E6"/>
          </a:solidFill>
          <a:ln w="19050">
            <a:solidFill>
              <a:srgbClr val="2E9E5B"/>
            </a:solidFill>
            <a:prstDash val="solid"/>
          </a:ln>
        </p:spPr>
      </p:sp>
      <p:sp>
        <p:nvSpPr>
          <p:cNvPr id="52" name="v:SortKeyAndReverse:x1out1|b2"/>
          <p:cNvSpPr txBox="1"/>
          <p:nvPr/>
        </p:nvSpPr>
        <p:spPr>
          <a:xfrm>
            <a:off x="4041648" y="2990088"/>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'Dogs'</a:t>
            </a:r>
            <a:endParaRPr lang="en-US" sz="1050" dirty="0"/>
          </a:p>
        </p:txBody>
      </p:sp>
      <p:sp>
        <p:nvSpPr>
          <p:cNvPr id="53" name="v:SortKeyAndReverse:x1out2:box|b2"/>
          <p:cNvSpPr/>
          <p:nvPr/>
        </p:nvSpPr>
        <p:spPr>
          <a:xfrm>
            <a:off x="5166360" y="2990088"/>
            <a:ext cx="1051560" cy="274320"/>
          </a:xfrm>
          <a:prstGeom prst="roundRect">
            <a:avLst>
              <a:gd name="adj" fmla="val 16667"/>
            </a:avLst>
          </a:prstGeom>
          <a:solidFill>
            <a:srgbClr val="DDF3E6"/>
          </a:solidFill>
          <a:ln w="19050">
            <a:solidFill>
              <a:srgbClr val="2E9E5B"/>
            </a:solidFill>
            <a:prstDash val="solid"/>
          </a:ln>
        </p:spPr>
      </p:sp>
      <p:sp>
        <p:nvSpPr>
          <p:cNvPr id="54" name="v:SortKeyAndReverse:x1out2|b2"/>
          <p:cNvSpPr txBox="1"/>
          <p:nvPr/>
        </p:nvSpPr>
        <p:spPr>
          <a:xfrm>
            <a:off x="5184648" y="2990088"/>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'Cats'</a:t>
            </a:r>
            <a:endParaRPr lang="en-US" sz="1050" dirty="0"/>
          </a:p>
        </p:txBody>
      </p:sp>
      <p:sp>
        <p:nvSpPr>
          <p:cNvPr id="55" name="v:SortKeyAndReverse:x1out3:box|b2"/>
          <p:cNvSpPr/>
          <p:nvPr/>
        </p:nvSpPr>
        <p:spPr>
          <a:xfrm>
            <a:off x="6309360" y="2990088"/>
            <a:ext cx="1051560" cy="274320"/>
          </a:xfrm>
          <a:prstGeom prst="roundRect">
            <a:avLst>
              <a:gd name="adj" fmla="val 16667"/>
            </a:avLst>
          </a:prstGeom>
          <a:solidFill>
            <a:srgbClr val="DDF3E6"/>
          </a:solidFill>
          <a:ln w="19050">
            <a:solidFill>
              <a:srgbClr val="2E9E5B"/>
            </a:solidFill>
            <a:prstDash val="solid"/>
          </a:ln>
        </p:spPr>
      </p:sp>
      <p:sp>
        <p:nvSpPr>
          <p:cNvPr id="56" name="v:SortKeyAndReverse:x1out3|b2"/>
          <p:cNvSpPr txBox="1"/>
          <p:nvPr/>
        </p:nvSpPr>
        <p:spPr>
          <a:xfrm>
            <a:off x="6327648" y="2990088"/>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'Badgers'</a:t>
            </a:r>
            <a:endParaRPr lang="en-US" sz="1050" dirty="0"/>
          </a:p>
        </p:txBody>
      </p:sp>
      <p:sp>
        <p:nvSpPr>
          <p:cNvPr id="57" name="v:SortKeyAndReverse:x1out4:box|b2"/>
          <p:cNvSpPr/>
          <p:nvPr/>
        </p:nvSpPr>
        <p:spPr>
          <a:xfrm>
            <a:off x="7452360" y="2990088"/>
            <a:ext cx="1051560" cy="274320"/>
          </a:xfrm>
          <a:prstGeom prst="roundRect">
            <a:avLst>
              <a:gd name="adj" fmla="val 16667"/>
            </a:avLst>
          </a:prstGeom>
          <a:solidFill>
            <a:srgbClr val="DDF3E6"/>
          </a:solidFill>
          <a:ln w="19050">
            <a:solidFill>
              <a:srgbClr val="2E9E5B"/>
            </a:solidFill>
            <a:prstDash val="solid"/>
          </a:ln>
        </p:spPr>
      </p:sp>
      <p:sp>
        <p:nvSpPr>
          <p:cNvPr id="58" name="v:SortKeyAndReverse:x1out4|b2"/>
          <p:cNvSpPr txBox="1"/>
          <p:nvPr/>
        </p:nvSpPr>
        <p:spPr>
          <a:xfrm>
            <a:off x="7470648" y="2990088"/>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'Ants'</a:t>
            </a:r>
            <a:endParaRPr lang="en-US" sz="1050" dirty="0"/>
          </a:p>
        </p:txBody>
      </p:sp>
      <p:sp>
        <p:nvSpPr>
          <p:cNvPr id="59" name="v:SortKeyAndReverse:x2t|b3"/>
          <p:cNvSpPr txBox="1"/>
          <p:nvPr/>
        </p:nvSpPr>
        <p:spPr>
          <a:xfrm>
            <a:off x="365760" y="3328416"/>
            <a:ext cx="2377440" cy="237744"/>
          </a:xfrm>
          <a:prstGeom prst="rect">
            <a:avLst/>
          </a:prstGeom>
          <a:noFill/>
          <a:ln/>
        </p:spPr>
        <p:txBody>
          <a:bodyPr wrap="square" lIns="0" tIns="0" rIns="0" bIns="0" rtlCol="0" anchor="ctr"/>
          <a:lstStyle/>
          <a:p>
            <a:pPr indent="0" marL="0">
              <a:buNone/>
            </a:pPr>
            <a:r>
              <a:rPr lang="en-US" sz="1300" b="1" dirty="0">
                <a:solidFill>
                  <a:srgbClr val="306998"/>
                </a:solidFill>
                <a:latin typeface="Cambria" pitchFamily="34" charset="0"/>
                <a:ea typeface="Cambria" pitchFamily="34" charset="-122"/>
                <a:cs typeface="Cambria" pitchFamily="34" charset="-120"/>
              </a:rPr>
              <a:t>equal keys stay in order</a:t>
            </a:r>
            <a:endParaRPr lang="en-US" sz="1300" dirty="0"/>
          </a:p>
        </p:txBody>
      </p:sp>
      <p:sp>
        <p:nvSpPr>
          <p:cNvPr id="60" name="v:SortKeyAndReverse:x2expr|b3"/>
          <p:cNvSpPr txBox="1"/>
          <p:nvPr/>
        </p:nvSpPr>
        <p:spPr>
          <a:xfrm>
            <a:off x="365760" y="3584448"/>
            <a:ext cx="2377440" cy="658368"/>
          </a:xfrm>
          <a:prstGeom prst="rect">
            <a:avLst/>
          </a:prstGeom>
          <a:noFill/>
          <a:ln/>
        </p:spPr>
        <p:txBody>
          <a:bodyPr wrap="square" lIns="0" tIns="0" rIns="0" bIns="0" rtlCol="0" anchor="t"/>
          <a:lstStyle/>
          <a:p>
            <a:pPr indent="0" marL="0">
              <a:buNone/>
            </a:pPr>
            <a:r>
              <a:rPr lang="en-US" sz="900" dirty="0">
                <a:solidFill>
                  <a:srgbClr val="5B6B7B"/>
                </a:solidFill>
                <a:latin typeface="Courier New" pitchFamily="34" charset="0"/>
                <a:ea typeface="Courier New" pitchFamily="34" charset="-122"/>
                <a:cs typeface="Courier New" pitchFamily="34" charset="-120"/>
              </a:rPr>
              <a:t>sorted([('red', 1), ('blue', 1), ('red', 2), ('blue', 2)], key=lambda t: t[0])</a:t>
            </a:r>
            <a:endParaRPr lang="en-US" sz="900" dirty="0"/>
          </a:p>
        </p:txBody>
      </p:sp>
      <p:sp>
        <p:nvSpPr>
          <p:cNvPr id="61" name="v:SortKeyAndReverse:x2in0:box|b3"/>
          <p:cNvSpPr/>
          <p:nvPr/>
        </p:nvSpPr>
        <p:spPr>
          <a:xfrm>
            <a:off x="2880360" y="3328416"/>
            <a:ext cx="1051560" cy="457200"/>
          </a:xfrm>
          <a:prstGeom prst="roundRect">
            <a:avLst>
              <a:gd name="adj" fmla="val 10000"/>
            </a:avLst>
          </a:prstGeom>
          <a:solidFill>
            <a:srgbClr val="E3EEF8"/>
          </a:solidFill>
          <a:ln w="19050">
            <a:solidFill>
              <a:srgbClr val="306998"/>
            </a:solidFill>
            <a:prstDash val="solid"/>
          </a:ln>
        </p:spPr>
      </p:sp>
      <p:sp>
        <p:nvSpPr>
          <p:cNvPr id="62" name="v:SortKeyAndReverse:x2in0|b3"/>
          <p:cNvSpPr txBox="1"/>
          <p:nvPr/>
        </p:nvSpPr>
        <p:spPr>
          <a:xfrm>
            <a:off x="2898648" y="3346704"/>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('red', 1)</a:t>
            </a:r>
            <a:endParaRPr lang="en-US" sz="1050" dirty="0"/>
          </a:p>
        </p:txBody>
      </p:sp>
      <p:sp>
        <p:nvSpPr>
          <p:cNvPr id="63" name="v:SortKeyAndReverse:x2key0|b3"/>
          <p:cNvSpPr txBox="1"/>
          <p:nvPr/>
        </p:nvSpPr>
        <p:spPr>
          <a:xfrm>
            <a:off x="2898648" y="3584448"/>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'red'</a:t>
            </a:r>
            <a:endParaRPr lang="en-US" sz="900" dirty="0"/>
          </a:p>
        </p:txBody>
      </p:sp>
      <p:sp>
        <p:nvSpPr>
          <p:cNvPr id="64" name="v:SortKeyAndReverse:x2in1:box|b3"/>
          <p:cNvSpPr/>
          <p:nvPr/>
        </p:nvSpPr>
        <p:spPr>
          <a:xfrm>
            <a:off x="4023360" y="3328416"/>
            <a:ext cx="1051560" cy="457200"/>
          </a:xfrm>
          <a:prstGeom prst="roundRect">
            <a:avLst>
              <a:gd name="adj" fmla="val 10000"/>
            </a:avLst>
          </a:prstGeom>
          <a:solidFill>
            <a:srgbClr val="E3EEF8"/>
          </a:solidFill>
          <a:ln w="19050">
            <a:solidFill>
              <a:srgbClr val="306998"/>
            </a:solidFill>
            <a:prstDash val="solid"/>
          </a:ln>
        </p:spPr>
      </p:sp>
      <p:sp>
        <p:nvSpPr>
          <p:cNvPr id="65" name="v:SortKeyAndReverse:x2in1|b3"/>
          <p:cNvSpPr txBox="1"/>
          <p:nvPr/>
        </p:nvSpPr>
        <p:spPr>
          <a:xfrm>
            <a:off x="4041648" y="3346704"/>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('blue', 1)</a:t>
            </a:r>
            <a:endParaRPr lang="en-US" sz="1050" dirty="0"/>
          </a:p>
        </p:txBody>
      </p:sp>
      <p:sp>
        <p:nvSpPr>
          <p:cNvPr id="66" name="v:SortKeyAndReverse:x2key1|b3"/>
          <p:cNvSpPr txBox="1"/>
          <p:nvPr/>
        </p:nvSpPr>
        <p:spPr>
          <a:xfrm>
            <a:off x="4041648" y="3584448"/>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'blue'</a:t>
            </a:r>
            <a:endParaRPr lang="en-US" sz="900" dirty="0"/>
          </a:p>
        </p:txBody>
      </p:sp>
      <p:sp>
        <p:nvSpPr>
          <p:cNvPr id="67" name="v:SortKeyAndReverse:x2in2:box|b3"/>
          <p:cNvSpPr/>
          <p:nvPr/>
        </p:nvSpPr>
        <p:spPr>
          <a:xfrm>
            <a:off x="5166360" y="3328416"/>
            <a:ext cx="1051560" cy="457200"/>
          </a:xfrm>
          <a:prstGeom prst="roundRect">
            <a:avLst>
              <a:gd name="adj" fmla="val 10000"/>
            </a:avLst>
          </a:prstGeom>
          <a:solidFill>
            <a:srgbClr val="E3EEF8"/>
          </a:solidFill>
          <a:ln w="19050">
            <a:solidFill>
              <a:srgbClr val="306998"/>
            </a:solidFill>
            <a:prstDash val="solid"/>
          </a:ln>
        </p:spPr>
      </p:sp>
      <p:sp>
        <p:nvSpPr>
          <p:cNvPr id="68" name="v:SortKeyAndReverse:x2in2|b3"/>
          <p:cNvSpPr txBox="1"/>
          <p:nvPr/>
        </p:nvSpPr>
        <p:spPr>
          <a:xfrm>
            <a:off x="5184648" y="3346704"/>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('red', 2)</a:t>
            </a:r>
            <a:endParaRPr lang="en-US" sz="1050" dirty="0"/>
          </a:p>
        </p:txBody>
      </p:sp>
      <p:sp>
        <p:nvSpPr>
          <p:cNvPr id="69" name="v:SortKeyAndReverse:x2key2|b3"/>
          <p:cNvSpPr txBox="1"/>
          <p:nvPr/>
        </p:nvSpPr>
        <p:spPr>
          <a:xfrm>
            <a:off x="5184648" y="3584448"/>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'red'</a:t>
            </a:r>
            <a:endParaRPr lang="en-US" sz="900" dirty="0"/>
          </a:p>
        </p:txBody>
      </p:sp>
      <p:sp>
        <p:nvSpPr>
          <p:cNvPr id="70" name="v:SortKeyAndReverse:x2in3:box|b3"/>
          <p:cNvSpPr/>
          <p:nvPr/>
        </p:nvSpPr>
        <p:spPr>
          <a:xfrm>
            <a:off x="6309360" y="3328416"/>
            <a:ext cx="1051560" cy="457200"/>
          </a:xfrm>
          <a:prstGeom prst="roundRect">
            <a:avLst>
              <a:gd name="adj" fmla="val 10000"/>
            </a:avLst>
          </a:prstGeom>
          <a:solidFill>
            <a:srgbClr val="E3EEF8"/>
          </a:solidFill>
          <a:ln w="19050">
            <a:solidFill>
              <a:srgbClr val="306998"/>
            </a:solidFill>
            <a:prstDash val="solid"/>
          </a:ln>
        </p:spPr>
      </p:sp>
      <p:sp>
        <p:nvSpPr>
          <p:cNvPr id="71" name="v:SortKeyAndReverse:x2in3|b3"/>
          <p:cNvSpPr txBox="1"/>
          <p:nvPr/>
        </p:nvSpPr>
        <p:spPr>
          <a:xfrm>
            <a:off x="6327648" y="3346704"/>
            <a:ext cx="1014984" cy="237744"/>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('blue', 2)</a:t>
            </a:r>
            <a:endParaRPr lang="en-US" sz="1050" dirty="0"/>
          </a:p>
        </p:txBody>
      </p:sp>
      <p:sp>
        <p:nvSpPr>
          <p:cNvPr id="72" name="v:SortKeyAndReverse:x2key3|b3"/>
          <p:cNvSpPr txBox="1"/>
          <p:nvPr/>
        </p:nvSpPr>
        <p:spPr>
          <a:xfrm>
            <a:off x="6327648" y="3584448"/>
            <a:ext cx="1014984" cy="182880"/>
          </a:xfrm>
          <a:prstGeom prst="rect">
            <a:avLst/>
          </a:prstGeom>
          <a:noFill/>
          <a:ln/>
        </p:spPr>
        <p:txBody>
          <a:bodyPr wrap="square" lIns="0" tIns="0" rIns="0" bIns="0" rtlCol="0" anchor="ctr">
            <a:normAutofit/>
          </a:bodyPr>
          <a:lstStyle/>
          <a:p>
            <a:pPr algn="ctr" indent="0" marL="0">
              <a:buNone/>
            </a:pPr>
            <a:r>
              <a:rPr lang="en-US" sz="900" i="1" dirty="0">
                <a:solidFill>
                  <a:srgbClr val="B7791F"/>
                </a:solidFill>
                <a:latin typeface="Courier New" pitchFamily="34" charset="0"/>
                <a:ea typeface="Courier New" pitchFamily="34" charset="-122"/>
                <a:cs typeface="Courier New" pitchFamily="34" charset="-120"/>
              </a:rPr>
              <a:t>'blue'</a:t>
            </a:r>
            <a:endParaRPr lang="en-US" sz="900" dirty="0"/>
          </a:p>
        </p:txBody>
      </p:sp>
      <p:sp>
        <p:nvSpPr>
          <p:cNvPr id="73" name="sortline|b3"/>
          <p:cNvSpPr/>
          <p:nvPr/>
        </p:nvSpPr>
        <p:spPr>
          <a:xfrm flipH="1">
            <a:off x="3406140" y="3785616"/>
            <a:ext cx="1143000" cy="274320"/>
          </a:xfrm>
          <a:prstGeom prst="line">
            <a:avLst/>
          </a:prstGeom>
          <a:noFill/>
          <a:ln w="19050">
            <a:solidFill>
              <a:srgbClr val="9AA8B8"/>
            </a:solidFill>
            <a:prstDash val="solid"/>
            <a:tailEnd type="triangle"/>
          </a:ln>
        </p:spPr>
      </p:sp>
      <p:sp>
        <p:nvSpPr>
          <p:cNvPr id="74" name="sortline|b3"/>
          <p:cNvSpPr/>
          <p:nvPr/>
        </p:nvSpPr>
        <p:spPr>
          <a:xfrm flipH="1">
            <a:off x="4549140" y="3785616"/>
            <a:ext cx="2286000" cy="274320"/>
          </a:xfrm>
          <a:prstGeom prst="line">
            <a:avLst/>
          </a:prstGeom>
          <a:noFill/>
          <a:ln w="19050">
            <a:solidFill>
              <a:srgbClr val="9AA8B8"/>
            </a:solidFill>
            <a:prstDash val="solid"/>
            <a:tailEnd type="triangle"/>
          </a:ln>
        </p:spPr>
      </p:sp>
      <p:sp>
        <p:nvSpPr>
          <p:cNvPr id="75" name="sortline|b3"/>
          <p:cNvSpPr/>
          <p:nvPr/>
        </p:nvSpPr>
        <p:spPr>
          <a:xfrm>
            <a:off x="3406140" y="3785616"/>
            <a:ext cx="2286000" cy="274320"/>
          </a:xfrm>
          <a:prstGeom prst="line">
            <a:avLst/>
          </a:prstGeom>
          <a:noFill/>
          <a:ln w="19050">
            <a:solidFill>
              <a:srgbClr val="9AA8B8"/>
            </a:solidFill>
            <a:prstDash val="solid"/>
            <a:tailEnd type="triangle"/>
          </a:ln>
        </p:spPr>
      </p:sp>
      <p:sp>
        <p:nvSpPr>
          <p:cNvPr id="76" name="sortline|b3"/>
          <p:cNvSpPr/>
          <p:nvPr/>
        </p:nvSpPr>
        <p:spPr>
          <a:xfrm>
            <a:off x="5692140" y="3785616"/>
            <a:ext cx="1143000" cy="274320"/>
          </a:xfrm>
          <a:prstGeom prst="line">
            <a:avLst/>
          </a:prstGeom>
          <a:noFill/>
          <a:ln w="19050">
            <a:solidFill>
              <a:srgbClr val="9AA8B8"/>
            </a:solidFill>
            <a:prstDash val="solid"/>
            <a:tailEnd type="triangle"/>
          </a:ln>
        </p:spPr>
      </p:sp>
      <p:sp>
        <p:nvSpPr>
          <p:cNvPr id="77" name="v:SortKeyAndReverse:x2out0:box|b3"/>
          <p:cNvSpPr/>
          <p:nvPr/>
        </p:nvSpPr>
        <p:spPr>
          <a:xfrm>
            <a:off x="2880360" y="4059936"/>
            <a:ext cx="1051560" cy="274320"/>
          </a:xfrm>
          <a:prstGeom prst="roundRect">
            <a:avLst>
              <a:gd name="adj" fmla="val 16667"/>
            </a:avLst>
          </a:prstGeom>
          <a:solidFill>
            <a:srgbClr val="DDF3E6"/>
          </a:solidFill>
          <a:ln w="19050">
            <a:solidFill>
              <a:srgbClr val="2E9E5B"/>
            </a:solidFill>
            <a:prstDash val="solid"/>
          </a:ln>
        </p:spPr>
      </p:sp>
      <p:sp>
        <p:nvSpPr>
          <p:cNvPr id="78" name="v:SortKeyAndReverse:x2out0|b3"/>
          <p:cNvSpPr txBox="1"/>
          <p:nvPr/>
        </p:nvSpPr>
        <p:spPr>
          <a:xfrm>
            <a:off x="2898648" y="4059936"/>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('blue', 1)</a:t>
            </a:r>
            <a:endParaRPr lang="en-US" sz="1050" dirty="0"/>
          </a:p>
        </p:txBody>
      </p:sp>
      <p:sp>
        <p:nvSpPr>
          <p:cNvPr id="79" name="v:SortKeyAndReverse:x2out1:box|b3"/>
          <p:cNvSpPr/>
          <p:nvPr/>
        </p:nvSpPr>
        <p:spPr>
          <a:xfrm>
            <a:off x="4023360" y="4059936"/>
            <a:ext cx="1051560" cy="274320"/>
          </a:xfrm>
          <a:prstGeom prst="roundRect">
            <a:avLst>
              <a:gd name="adj" fmla="val 16667"/>
            </a:avLst>
          </a:prstGeom>
          <a:solidFill>
            <a:srgbClr val="DDF3E6"/>
          </a:solidFill>
          <a:ln w="19050">
            <a:solidFill>
              <a:srgbClr val="2E9E5B"/>
            </a:solidFill>
            <a:prstDash val="solid"/>
          </a:ln>
        </p:spPr>
      </p:sp>
      <p:sp>
        <p:nvSpPr>
          <p:cNvPr id="80" name="v:SortKeyAndReverse:x2out1|b3"/>
          <p:cNvSpPr txBox="1"/>
          <p:nvPr/>
        </p:nvSpPr>
        <p:spPr>
          <a:xfrm>
            <a:off x="4041648" y="4059936"/>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('blue', 2)</a:t>
            </a:r>
            <a:endParaRPr lang="en-US" sz="1050" dirty="0"/>
          </a:p>
        </p:txBody>
      </p:sp>
      <p:sp>
        <p:nvSpPr>
          <p:cNvPr id="81" name="v:SortKeyAndReverse:x2out2:box|b3"/>
          <p:cNvSpPr/>
          <p:nvPr/>
        </p:nvSpPr>
        <p:spPr>
          <a:xfrm>
            <a:off x="5166360" y="4059936"/>
            <a:ext cx="1051560" cy="274320"/>
          </a:xfrm>
          <a:prstGeom prst="roundRect">
            <a:avLst>
              <a:gd name="adj" fmla="val 16667"/>
            </a:avLst>
          </a:prstGeom>
          <a:solidFill>
            <a:srgbClr val="DDF3E6"/>
          </a:solidFill>
          <a:ln w="19050">
            <a:solidFill>
              <a:srgbClr val="2E9E5B"/>
            </a:solidFill>
            <a:prstDash val="solid"/>
          </a:ln>
        </p:spPr>
      </p:sp>
      <p:sp>
        <p:nvSpPr>
          <p:cNvPr id="82" name="v:SortKeyAndReverse:x2out2|b3"/>
          <p:cNvSpPr txBox="1"/>
          <p:nvPr/>
        </p:nvSpPr>
        <p:spPr>
          <a:xfrm>
            <a:off x="5184648" y="4059936"/>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('red', 1)</a:t>
            </a:r>
            <a:endParaRPr lang="en-US" sz="1050" dirty="0"/>
          </a:p>
        </p:txBody>
      </p:sp>
      <p:sp>
        <p:nvSpPr>
          <p:cNvPr id="83" name="v:SortKeyAndReverse:x2out3:box|b3"/>
          <p:cNvSpPr/>
          <p:nvPr/>
        </p:nvSpPr>
        <p:spPr>
          <a:xfrm>
            <a:off x="6309360" y="4059936"/>
            <a:ext cx="1051560" cy="274320"/>
          </a:xfrm>
          <a:prstGeom prst="roundRect">
            <a:avLst>
              <a:gd name="adj" fmla="val 16667"/>
            </a:avLst>
          </a:prstGeom>
          <a:solidFill>
            <a:srgbClr val="DDF3E6"/>
          </a:solidFill>
          <a:ln w="19050">
            <a:solidFill>
              <a:srgbClr val="2E9E5B"/>
            </a:solidFill>
            <a:prstDash val="solid"/>
          </a:ln>
        </p:spPr>
      </p:sp>
      <p:sp>
        <p:nvSpPr>
          <p:cNvPr id="84" name="v:SortKeyAndReverse:x2out3|b3"/>
          <p:cNvSpPr txBox="1"/>
          <p:nvPr/>
        </p:nvSpPr>
        <p:spPr>
          <a:xfrm>
            <a:off x="6327648" y="4059936"/>
            <a:ext cx="1014984" cy="274320"/>
          </a:xfrm>
          <a:prstGeom prst="rect">
            <a:avLst/>
          </a:prstGeom>
          <a:noFill/>
          <a:ln/>
        </p:spPr>
        <p:txBody>
          <a:bodyPr wrap="square" lIns="0" tIns="0" rIns="0" bIns="0" rtlCol="0" anchor="ctr">
            <a:normAutofit/>
          </a:bodyPr>
          <a:lstStyle/>
          <a:p>
            <a:pPr algn="ctr" indent="0" marL="0">
              <a:buNone/>
            </a:pPr>
            <a:r>
              <a:rPr lang="en-US" sz="1050" b="1" dirty="0">
                <a:solidFill>
                  <a:srgbClr val="2E9E5B"/>
                </a:solidFill>
                <a:latin typeface="Courier New" pitchFamily="34" charset="0"/>
                <a:ea typeface="Courier New" pitchFamily="34" charset="-122"/>
                <a:cs typeface="Courier New" pitchFamily="34" charset="-120"/>
              </a:rPr>
              <a:t>('red', 2)</a:t>
            </a:r>
            <a:endParaRPr lang="en-US" sz="1050" dirty="0"/>
          </a:p>
        </p:txBody>
      </p:sp>
      <p:sp>
        <p:nvSpPr>
          <p:cNvPr id="8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8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8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List operations ▸ Sort key and reverse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howto/sorting.html" history="1" highlightClick="0" endSnd="0">
                  <a:extLst>
                    <a:ext uri="{A12FA001-AC4F-418D-AE19-62706E023703}">
                      <ahyp:hlinkClr xmlns:ahyp="http://schemas.microsoft.com/office/drawing/2018/hyperlinkcolor" val="tx"/>
                    </a:ext>
                  </a:extLst>
                </a:hlinkClick>
              </a:rPr>
              <a:t>Sorting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81" fill="hold">
                      <p:stCondLst>
                        <p:cond delay="indefinite"/>
                      </p:stCondLst>
                      <p:childTnLst>
                        <p:par>
                          <p:cTn id="8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00"/>
                                        <p:tgtEl>
                                          <p:spTgt spid="27"/>
                                        </p:tgtEl>
                                      </p:cBhvr>
                                    </p:animEffect>
                                  </p:childTnLst>
                                </p:cTn>
                              </p:par>
                              <p:par>
                                <p:cTn id="69" presetID="10" presetClass="entr" presetSubtype="0" fill="hold" nodeType="with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00"/>
                                        <p:tgtEl>
                                          <p:spTgt spid="2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400"/>
                                        <p:tgtEl>
                                          <p:spTgt spid="29"/>
                                        </p:tgtEl>
                                      </p:cBhvr>
                                    </p:animEffect>
                                  </p:childTnLst>
                                </p:cTn>
                              </p:par>
                              <p:par>
                                <p:cTn id="75" presetID="10" presetClass="entr" presetSubtype="0" fill="hold" nodeType="with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400"/>
                                        <p:tgtEl>
                                          <p:spTgt spid="3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400"/>
                                        <p:tgtEl>
                                          <p:spTgt spid="31"/>
                                        </p:tgtEl>
                                      </p:cBhvr>
                                    </p:animEffect>
                                  </p:childTnLst>
                                </p:cTn>
                              </p:par>
                            </p:childTnLst>
                          </p:cTn>
                        </p:par>
                      </p:childTnLst>
                    </p:cTn>
                  </p:par>
                  <p:par>
                    <p:cTn id="164" fill="hold">
                      <p:stCondLst>
                        <p:cond delay="indefinite"/>
                      </p:stCondLst>
                      <p:childTnLst>
                        <p:par>
                          <p:cTn id="165"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00"/>
                                        <p:tgtEl>
                                          <p:spTgt spid="33"/>
                                        </p:tgtEl>
                                      </p:cBhvr>
                                    </p:animEffect>
                                  </p:childTnLst>
                                </p:cTn>
                              </p:par>
                              <p:par>
                                <p:cTn id="89" presetID="10" presetClass="entr" presetSubtype="0" fill="hold"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par>
                                <p:cTn id="107" presetID="10" presetClass="entr" presetSubtype="0" fill="hold"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00"/>
                                        <p:tgtEl>
                                          <p:spTgt spid="4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400"/>
                                        <p:tgtEl>
                                          <p:spTgt spid="41"/>
                                        </p:tgtEl>
                                      </p:cBhvr>
                                    </p:animEffect>
                                  </p:childTnLst>
                                </p:cTn>
                              </p:par>
                              <p:par>
                                <p:cTn id="113" presetID="10" presetClass="entr" presetSubtype="0" fill="hold"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00"/>
                                        <p:tgtEl>
                                          <p:spTgt spid="4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00"/>
                                        <p:tgtEl>
                                          <p:spTgt spid="43"/>
                                        </p:tgtEl>
                                      </p:cBhvr>
                                    </p:animEffect>
                                  </p:childTnLst>
                                </p:cTn>
                              </p:par>
                              <p:par>
                                <p:cTn id="119" presetID="10" presetClass="entr" presetSubtype="0" fill="hold"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400"/>
                                        <p:tgtEl>
                                          <p:spTgt spid="44"/>
                                        </p:tgtEl>
                                      </p:cBhvr>
                                    </p:animEffect>
                                  </p:childTnLst>
                                </p:cTn>
                              </p:par>
                              <p:par>
                                <p:cTn id="122" presetID="10" presetClass="entr" presetSubtype="0" fill="hold"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400"/>
                                        <p:tgtEl>
                                          <p:spTgt spid="45"/>
                                        </p:tgtEl>
                                      </p:cBhvr>
                                    </p:animEffect>
                                  </p:childTnLst>
                                </p:cTn>
                              </p:par>
                              <p:par>
                                <p:cTn id="125" presetID="10" presetClass="entr" presetSubtype="0" fill="hold"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400"/>
                                        <p:tgtEl>
                                          <p:spTgt spid="46"/>
                                        </p:tgtEl>
                                      </p:cBhvr>
                                    </p:animEffect>
                                  </p:childTnLst>
                                </p:cTn>
                              </p:par>
                              <p:par>
                                <p:cTn id="128" presetID="10" presetClass="entr" presetSubtype="0" fill="hold"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400"/>
                                        <p:tgtEl>
                                          <p:spTgt spid="47"/>
                                        </p:tgtEl>
                                      </p:cBhvr>
                                    </p:animEffect>
                                  </p:childTnLst>
                                </p:cTn>
                              </p:par>
                              <p:par>
                                <p:cTn id="131" presetID="10" presetClass="entr" presetSubtype="0" fill="hold"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fade">
                                      <p:cBhvr>
                                        <p:cTn id="133" dur="400"/>
                                        <p:tgtEl>
                                          <p:spTgt spid="48"/>
                                        </p:tgtEl>
                                      </p:cBhvr>
                                    </p:animEffect>
                                  </p:childTnLst>
                                </p:cTn>
                              </p:par>
                              <p:par>
                                <p:cTn id="134" presetID="10" presetClass="entr" presetSubtype="0" fill="hold" nodeType="withEffect">
                                  <p:stCondLst>
                                    <p:cond delay="0"/>
                                  </p:stCondLst>
                                  <p:childTnLst>
                                    <p:set>
                                      <p:cBhvr>
                                        <p:cTn id="135" dur="1" fill="hold">
                                          <p:stCondLst>
                                            <p:cond delay="0"/>
                                          </p:stCondLst>
                                        </p:cTn>
                                        <p:tgtEl>
                                          <p:spTgt spid="49"/>
                                        </p:tgtEl>
                                        <p:attrNameLst>
                                          <p:attrName>style.visibility</p:attrName>
                                        </p:attrNameLst>
                                      </p:cBhvr>
                                      <p:to>
                                        <p:strVal val="visible"/>
                                      </p:to>
                                    </p:set>
                                    <p:animEffect transition="in" filter="fade">
                                      <p:cBhvr>
                                        <p:cTn id="136" dur="400"/>
                                        <p:tgtEl>
                                          <p:spTgt spid="49"/>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0"/>
                                        </p:tgtEl>
                                        <p:attrNameLst>
                                          <p:attrName>style.visibility</p:attrName>
                                        </p:attrNameLst>
                                      </p:cBhvr>
                                      <p:to>
                                        <p:strVal val="visible"/>
                                      </p:to>
                                    </p:set>
                                    <p:animEffect transition="in" filter="fade">
                                      <p:cBhvr>
                                        <p:cTn id="139" dur="400"/>
                                        <p:tgtEl>
                                          <p:spTgt spid="50"/>
                                        </p:tgtEl>
                                      </p:cBhvr>
                                    </p:animEffect>
                                  </p:childTnLst>
                                </p:cTn>
                              </p:par>
                              <p:par>
                                <p:cTn id="140" presetID="10" presetClass="entr" presetSubtype="0" fill="hold" nodeType="withEffect">
                                  <p:stCondLst>
                                    <p:cond delay="0"/>
                                  </p:stCondLst>
                                  <p:childTnLst>
                                    <p:set>
                                      <p:cBhvr>
                                        <p:cTn id="141" dur="1" fill="hold">
                                          <p:stCondLst>
                                            <p:cond delay="0"/>
                                          </p:stCondLst>
                                        </p:cTn>
                                        <p:tgtEl>
                                          <p:spTgt spid="51"/>
                                        </p:tgtEl>
                                        <p:attrNameLst>
                                          <p:attrName>style.visibility</p:attrName>
                                        </p:attrNameLst>
                                      </p:cBhvr>
                                      <p:to>
                                        <p:strVal val="visible"/>
                                      </p:to>
                                    </p:set>
                                    <p:animEffect transition="in" filter="fade">
                                      <p:cBhvr>
                                        <p:cTn id="142" dur="400"/>
                                        <p:tgtEl>
                                          <p:spTgt spid="51"/>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52"/>
                                        </p:tgtEl>
                                        <p:attrNameLst>
                                          <p:attrName>style.visibility</p:attrName>
                                        </p:attrNameLst>
                                      </p:cBhvr>
                                      <p:to>
                                        <p:strVal val="visible"/>
                                      </p:to>
                                    </p:set>
                                    <p:animEffect transition="in" filter="fade">
                                      <p:cBhvr>
                                        <p:cTn id="145" dur="400"/>
                                        <p:tgtEl>
                                          <p:spTgt spid="52"/>
                                        </p:tgtEl>
                                      </p:cBhvr>
                                    </p:animEffect>
                                  </p:childTnLst>
                                </p:cTn>
                              </p:par>
                              <p:par>
                                <p:cTn id="146" presetID="10" presetClass="entr" presetSubtype="0" fill="hold" nodeType="withEffect">
                                  <p:stCondLst>
                                    <p:cond delay="0"/>
                                  </p:stCondLst>
                                  <p:childTnLst>
                                    <p:set>
                                      <p:cBhvr>
                                        <p:cTn id="147" dur="1" fill="hold">
                                          <p:stCondLst>
                                            <p:cond delay="0"/>
                                          </p:stCondLst>
                                        </p:cTn>
                                        <p:tgtEl>
                                          <p:spTgt spid="53"/>
                                        </p:tgtEl>
                                        <p:attrNameLst>
                                          <p:attrName>style.visibility</p:attrName>
                                        </p:attrNameLst>
                                      </p:cBhvr>
                                      <p:to>
                                        <p:strVal val="visible"/>
                                      </p:to>
                                    </p:set>
                                    <p:animEffect transition="in" filter="fade">
                                      <p:cBhvr>
                                        <p:cTn id="148" dur="400"/>
                                        <p:tgtEl>
                                          <p:spTgt spid="53"/>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54"/>
                                        </p:tgtEl>
                                        <p:attrNameLst>
                                          <p:attrName>style.visibility</p:attrName>
                                        </p:attrNameLst>
                                      </p:cBhvr>
                                      <p:to>
                                        <p:strVal val="visible"/>
                                      </p:to>
                                    </p:set>
                                    <p:animEffect transition="in" filter="fade">
                                      <p:cBhvr>
                                        <p:cTn id="151" dur="400"/>
                                        <p:tgtEl>
                                          <p:spTgt spid="54"/>
                                        </p:tgtEl>
                                      </p:cBhvr>
                                    </p:animEffect>
                                  </p:childTnLst>
                                </p:cTn>
                              </p:par>
                              <p:par>
                                <p:cTn id="152" presetID="10" presetClass="entr" presetSubtype="0" fill="hold" nodeType="withEffect">
                                  <p:stCondLst>
                                    <p:cond delay="0"/>
                                  </p:stCondLst>
                                  <p:childTnLst>
                                    <p:set>
                                      <p:cBhvr>
                                        <p:cTn id="153" dur="1" fill="hold">
                                          <p:stCondLst>
                                            <p:cond delay="0"/>
                                          </p:stCondLst>
                                        </p:cTn>
                                        <p:tgtEl>
                                          <p:spTgt spid="55"/>
                                        </p:tgtEl>
                                        <p:attrNameLst>
                                          <p:attrName>style.visibility</p:attrName>
                                        </p:attrNameLst>
                                      </p:cBhvr>
                                      <p:to>
                                        <p:strVal val="visible"/>
                                      </p:to>
                                    </p:set>
                                    <p:animEffect transition="in" filter="fade">
                                      <p:cBhvr>
                                        <p:cTn id="154" dur="400"/>
                                        <p:tgtEl>
                                          <p:spTgt spid="55"/>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56"/>
                                        </p:tgtEl>
                                        <p:attrNameLst>
                                          <p:attrName>style.visibility</p:attrName>
                                        </p:attrNameLst>
                                      </p:cBhvr>
                                      <p:to>
                                        <p:strVal val="visible"/>
                                      </p:to>
                                    </p:set>
                                    <p:animEffect transition="in" filter="fade">
                                      <p:cBhvr>
                                        <p:cTn id="157" dur="400"/>
                                        <p:tgtEl>
                                          <p:spTgt spid="56"/>
                                        </p:tgtEl>
                                      </p:cBhvr>
                                    </p:animEffect>
                                  </p:childTnLst>
                                </p:cTn>
                              </p:par>
                              <p:par>
                                <p:cTn id="158" presetID="10" presetClass="entr" presetSubtype="0" fill="hold" nodeType="withEffect">
                                  <p:stCondLst>
                                    <p:cond delay="0"/>
                                  </p:stCondLst>
                                  <p:childTnLst>
                                    <p:set>
                                      <p:cBhvr>
                                        <p:cTn id="159" dur="1" fill="hold">
                                          <p:stCondLst>
                                            <p:cond delay="0"/>
                                          </p:stCondLst>
                                        </p:cTn>
                                        <p:tgtEl>
                                          <p:spTgt spid="57"/>
                                        </p:tgtEl>
                                        <p:attrNameLst>
                                          <p:attrName>style.visibility</p:attrName>
                                        </p:attrNameLst>
                                      </p:cBhvr>
                                      <p:to>
                                        <p:strVal val="visible"/>
                                      </p:to>
                                    </p:set>
                                    <p:animEffect transition="in" filter="fade">
                                      <p:cBhvr>
                                        <p:cTn id="160" dur="400"/>
                                        <p:tgtEl>
                                          <p:spTgt spid="57"/>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58"/>
                                        </p:tgtEl>
                                        <p:attrNameLst>
                                          <p:attrName>style.visibility</p:attrName>
                                        </p:attrNameLst>
                                      </p:cBhvr>
                                      <p:to>
                                        <p:strVal val="visible"/>
                                      </p:to>
                                    </p:set>
                                    <p:animEffect transition="in" filter="fade">
                                      <p:cBhvr>
                                        <p:cTn id="163" dur="400"/>
                                        <p:tgtEl>
                                          <p:spTgt spid="58"/>
                                        </p:tgtEl>
                                      </p:cBhvr>
                                    </p:animEffect>
                                  </p:childTnLst>
                                </p:cTn>
                              </p:par>
                            </p:childTnLst>
                          </p:cTn>
                        </p:par>
                      </p:childTnLst>
                    </p:cTn>
                  </p:par>
                  <p:par>
                    <p:cTn id="244" fill="hold">
                      <p:stCondLst>
                        <p:cond delay="indefinite"/>
                      </p:stCondLst>
                      <p:childTnLst>
                        <p:par>
                          <p:cTn id="245" fill="hold">
                            <p:stCondLst>
                              <p:cond delay="0"/>
                            </p:stCondLst>
                            <p:childTnLst>
                              <p:par>
                                <p:cTn id="166" presetID="10" presetClass="entr" presetSubtype="0" fill="hold" grpId="0" nodeType="clickEffect">
                                  <p:stCondLst>
                                    <p:cond delay="0"/>
                                  </p:stCondLst>
                                  <p:childTnLst>
                                    <p:set>
                                      <p:cBhvr>
                                        <p:cTn id="167" dur="1" fill="hold">
                                          <p:stCondLst>
                                            <p:cond delay="0"/>
                                          </p:stCondLst>
                                        </p:cTn>
                                        <p:tgtEl>
                                          <p:spTgt spid="59"/>
                                        </p:tgtEl>
                                        <p:attrNameLst>
                                          <p:attrName>style.visibility</p:attrName>
                                        </p:attrNameLst>
                                      </p:cBhvr>
                                      <p:to>
                                        <p:strVal val="visible"/>
                                      </p:to>
                                    </p:set>
                                    <p:animEffect transition="in" filter="fade">
                                      <p:cBhvr>
                                        <p:cTn id="168" dur="400"/>
                                        <p:tgtEl>
                                          <p:spTgt spid="59"/>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60"/>
                                        </p:tgtEl>
                                        <p:attrNameLst>
                                          <p:attrName>style.visibility</p:attrName>
                                        </p:attrNameLst>
                                      </p:cBhvr>
                                      <p:to>
                                        <p:strVal val="visible"/>
                                      </p:to>
                                    </p:set>
                                    <p:animEffect transition="in" filter="fade">
                                      <p:cBhvr>
                                        <p:cTn id="171" dur="400"/>
                                        <p:tgtEl>
                                          <p:spTgt spid="60"/>
                                        </p:tgtEl>
                                      </p:cBhvr>
                                    </p:animEffect>
                                  </p:childTnLst>
                                </p:cTn>
                              </p:par>
                              <p:par>
                                <p:cTn id="172" presetID="10" presetClass="entr" presetSubtype="0" fill="hold" nodeType="withEffect">
                                  <p:stCondLst>
                                    <p:cond delay="0"/>
                                  </p:stCondLst>
                                  <p:childTnLst>
                                    <p:set>
                                      <p:cBhvr>
                                        <p:cTn id="173" dur="1" fill="hold">
                                          <p:stCondLst>
                                            <p:cond delay="0"/>
                                          </p:stCondLst>
                                        </p:cTn>
                                        <p:tgtEl>
                                          <p:spTgt spid="61"/>
                                        </p:tgtEl>
                                        <p:attrNameLst>
                                          <p:attrName>style.visibility</p:attrName>
                                        </p:attrNameLst>
                                      </p:cBhvr>
                                      <p:to>
                                        <p:strVal val="visible"/>
                                      </p:to>
                                    </p:set>
                                    <p:animEffect transition="in" filter="fade">
                                      <p:cBhvr>
                                        <p:cTn id="174" dur="400"/>
                                        <p:tgtEl>
                                          <p:spTgt spid="61"/>
                                        </p:tgtEl>
                                      </p:cBhvr>
                                    </p:animEffect>
                                  </p:childTnLst>
                                </p:cTn>
                              </p:par>
                              <p:par>
                                <p:cTn id="175" presetID="10" presetClass="entr" presetSubtype="0" fill="hold" grpId="0" nodeType="withEffect">
                                  <p:stCondLst>
                                    <p:cond delay="0"/>
                                  </p:stCondLst>
                                  <p:childTnLst>
                                    <p:set>
                                      <p:cBhvr>
                                        <p:cTn id="176" dur="1" fill="hold">
                                          <p:stCondLst>
                                            <p:cond delay="0"/>
                                          </p:stCondLst>
                                        </p:cTn>
                                        <p:tgtEl>
                                          <p:spTgt spid="62"/>
                                        </p:tgtEl>
                                        <p:attrNameLst>
                                          <p:attrName>style.visibility</p:attrName>
                                        </p:attrNameLst>
                                      </p:cBhvr>
                                      <p:to>
                                        <p:strVal val="visible"/>
                                      </p:to>
                                    </p:set>
                                    <p:animEffect transition="in" filter="fade">
                                      <p:cBhvr>
                                        <p:cTn id="177" dur="400"/>
                                        <p:tgtEl>
                                          <p:spTgt spid="62"/>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63"/>
                                        </p:tgtEl>
                                        <p:attrNameLst>
                                          <p:attrName>style.visibility</p:attrName>
                                        </p:attrNameLst>
                                      </p:cBhvr>
                                      <p:to>
                                        <p:strVal val="visible"/>
                                      </p:to>
                                    </p:set>
                                    <p:animEffect transition="in" filter="fade">
                                      <p:cBhvr>
                                        <p:cTn id="180" dur="400"/>
                                        <p:tgtEl>
                                          <p:spTgt spid="63"/>
                                        </p:tgtEl>
                                      </p:cBhvr>
                                    </p:animEffect>
                                  </p:childTnLst>
                                </p:cTn>
                              </p:par>
                              <p:par>
                                <p:cTn id="181" presetID="10" presetClass="entr" presetSubtype="0" fill="hold" nodeType="withEffect">
                                  <p:stCondLst>
                                    <p:cond delay="0"/>
                                  </p:stCondLst>
                                  <p:childTnLst>
                                    <p:set>
                                      <p:cBhvr>
                                        <p:cTn id="182" dur="1" fill="hold">
                                          <p:stCondLst>
                                            <p:cond delay="0"/>
                                          </p:stCondLst>
                                        </p:cTn>
                                        <p:tgtEl>
                                          <p:spTgt spid="64"/>
                                        </p:tgtEl>
                                        <p:attrNameLst>
                                          <p:attrName>style.visibility</p:attrName>
                                        </p:attrNameLst>
                                      </p:cBhvr>
                                      <p:to>
                                        <p:strVal val="visible"/>
                                      </p:to>
                                    </p:set>
                                    <p:animEffect transition="in" filter="fade">
                                      <p:cBhvr>
                                        <p:cTn id="183" dur="400"/>
                                        <p:tgtEl>
                                          <p:spTgt spid="64"/>
                                        </p:tgtEl>
                                      </p:cBhvr>
                                    </p:animEffect>
                                  </p:childTnLst>
                                </p:cTn>
                              </p:par>
                              <p:par>
                                <p:cTn id="184" presetID="10" presetClass="entr" presetSubtype="0" fill="hold" grpId="0" nodeType="withEffect">
                                  <p:stCondLst>
                                    <p:cond delay="0"/>
                                  </p:stCondLst>
                                  <p:childTnLst>
                                    <p:set>
                                      <p:cBhvr>
                                        <p:cTn id="185" dur="1" fill="hold">
                                          <p:stCondLst>
                                            <p:cond delay="0"/>
                                          </p:stCondLst>
                                        </p:cTn>
                                        <p:tgtEl>
                                          <p:spTgt spid="65"/>
                                        </p:tgtEl>
                                        <p:attrNameLst>
                                          <p:attrName>style.visibility</p:attrName>
                                        </p:attrNameLst>
                                      </p:cBhvr>
                                      <p:to>
                                        <p:strVal val="visible"/>
                                      </p:to>
                                    </p:set>
                                    <p:animEffect transition="in" filter="fade">
                                      <p:cBhvr>
                                        <p:cTn id="186" dur="400"/>
                                        <p:tgtEl>
                                          <p:spTgt spid="65"/>
                                        </p:tgtEl>
                                      </p:cBhvr>
                                    </p:animEffect>
                                  </p:childTnLst>
                                </p:cTn>
                              </p:par>
                              <p:par>
                                <p:cTn id="187" presetID="10" presetClass="entr" presetSubtype="0" fill="hold" grpId="0" nodeType="withEffect">
                                  <p:stCondLst>
                                    <p:cond delay="0"/>
                                  </p:stCondLst>
                                  <p:childTnLst>
                                    <p:set>
                                      <p:cBhvr>
                                        <p:cTn id="188" dur="1" fill="hold">
                                          <p:stCondLst>
                                            <p:cond delay="0"/>
                                          </p:stCondLst>
                                        </p:cTn>
                                        <p:tgtEl>
                                          <p:spTgt spid="66"/>
                                        </p:tgtEl>
                                        <p:attrNameLst>
                                          <p:attrName>style.visibility</p:attrName>
                                        </p:attrNameLst>
                                      </p:cBhvr>
                                      <p:to>
                                        <p:strVal val="visible"/>
                                      </p:to>
                                    </p:set>
                                    <p:animEffect transition="in" filter="fade">
                                      <p:cBhvr>
                                        <p:cTn id="189" dur="400"/>
                                        <p:tgtEl>
                                          <p:spTgt spid="66"/>
                                        </p:tgtEl>
                                      </p:cBhvr>
                                    </p:animEffect>
                                  </p:childTnLst>
                                </p:cTn>
                              </p:par>
                              <p:par>
                                <p:cTn id="190" presetID="10" presetClass="entr" presetSubtype="0" fill="hold" nodeType="withEffect">
                                  <p:stCondLst>
                                    <p:cond delay="0"/>
                                  </p:stCondLst>
                                  <p:childTnLst>
                                    <p:set>
                                      <p:cBhvr>
                                        <p:cTn id="191" dur="1" fill="hold">
                                          <p:stCondLst>
                                            <p:cond delay="0"/>
                                          </p:stCondLst>
                                        </p:cTn>
                                        <p:tgtEl>
                                          <p:spTgt spid="67"/>
                                        </p:tgtEl>
                                        <p:attrNameLst>
                                          <p:attrName>style.visibility</p:attrName>
                                        </p:attrNameLst>
                                      </p:cBhvr>
                                      <p:to>
                                        <p:strVal val="visible"/>
                                      </p:to>
                                    </p:set>
                                    <p:animEffect transition="in" filter="fade">
                                      <p:cBhvr>
                                        <p:cTn id="192" dur="400"/>
                                        <p:tgtEl>
                                          <p:spTgt spid="67"/>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68"/>
                                        </p:tgtEl>
                                        <p:attrNameLst>
                                          <p:attrName>style.visibility</p:attrName>
                                        </p:attrNameLst>
                                      </p:cBhvr>
                                      <p:to>
                                        <p:strVal val="visible"/>
                                      </p:to>
                                    </p:set>
                                    <p:animEffect transition="in" filter="fade">
                                      <p:cBhvr>
                                        <p:cTn id="195" dur="400"/>
                                        <p:tgtEl>
                                          <p:spTgt spid="68"/>
                                        </p:tgtEl>
                                      </p:cBhvr>
                                    </p:animEffect>
                                  </p:childTnLst>
                                </p:cTn>
                              </p:par>
                              <p:par>
                                <p:cTn id="196" presetID="10" presetClass="entr" presetSubtype="0" fill="hold" grpId="0" nodeType="withEffect">
                                  <p:stCondLst>
                                    <p:cond delay="0"/>
                                  </p:stCondLst>
                                  <p:childTnLst>
                                    <p:set>
                                      <p:cBhvr>
                                        <p:cTn id="197" dur="1" fill="hold">
                                          <p:stCondLst>
                                            <p:cond delay="0"/>
                                          </p:stCondLst>
                                        </p:cTn>
                                        <p:tgtEl>
                                          <p:spTgt spid="69"/>
                                        </p:tgtEl>
                                        <p:attrNameLst>
                                          <p:attrName>style.visibility</p:attrName>
                                        </p:attrNameLst>
                                      </p:cBhvr>
                                      <p:to>
                                        <p:strVal val="visible"/>
                                      </p:to>
                                    </p:set>
                                    <p:animEffect transition="in" filter="fade">
                                      <p:cBhvr>
                                        <p:cTn id="198" dur="400"/>
                                        <p:tgtEl>
                                          <p:spTgt spid="69"/>
                                        </p:tgtEl>
                                      </p:cBhvr>
                                    </p:animEffect>
                                  </p:childTnLst>
                                </p:cTn>
                              </p:par>
                              <p:par>
                                <p:cTn id="199" presetID="10" presetClass="entr" presetSubtype="0" fill="hold" nodeType="withEffect">
                                  <p:stCondLst>
                                    <p:cond delay="0"/>
                                  </p:stCondLst>
                                  <p:childTnLst>
                                    <p:set>
                                      <p:cBhvr>
                                        <p:cTn id="200" dur="1" fill="hold">
                                          <p:stCondLst>
                                            <p:cond delay="0"/>
                                          </p:stCondLst>
                                        </p:cTn>
                                        <p:tgtEl>
                                          <p:spTgt spid="70"/>
                                        </p:tgtEl>
                                        <p:attrNameLst>
                                          <p:attrName>style.visibility</p:attrName>
                                        </p:attrNameLst>
                                      </p:cBhvr>
                                      <p:to>
                                        <p:strVal val="visible"/>
                                      </p:to>
                                    </p:set>
                                    <p:animEffect transition="in" filter="fade">
                                      <p:cBhvr>
                                        <p:cTn id="201" dur="400"/>
                                        <p:tgtEl>
                                          <p:spTgt spid="70"/>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71"/>
                                        </p:tgtEl>
                                        <p:attrNameLst>
                                          <p:attrName>style.visibility</p:attrName>
                                        </p:attrNameLst>
                                      </p:cBhvr>
                                      <p:to>
                                        <p:strVal val="visible"/>
                                      </p:to>
                                    </p:set>
                                    <p:animEffect transition="in" filter="fade">
                                      <p:cBhvr>
                                        <p:cTn id="204" dur="400"/>
                                        <p:tgtEl>
                                          <p:spTgt spid="71"/>
                                        </p:tgtEl>
                                      </p:cBhvr>
                                    </p:animEffect>
                                  </p:childTnLst>
                                </p:cTn>
                              </p:par>
                              <p:par>
                                <p:cTn id="205" presetID="10" presetClass="entr" presetSubtype="0" fill="hold" grpId="0" nodeType="withEffect">
                                  <p:stCondLst>
                                    <p:cond delay="0"/>
                                  </p:stCondLst>
                                  <p:childTnLst>
                                    <p:set>
                                      <p:cBhvr>
                                        <p:cTn id="206" dur="1" fill="hold">
                                          <p:stCondLst>
                                            <p:cond delay="0"/>
                                          </p:stCondLst>
                                        </p:cTn>
                                        <p:tgtEl>
                                          <p:spTgt spid="72"/>
                                        </p:tgtEl>
                                        <p:attrNameLst>
                                          <p:attrName>style.visibility</p:attrName>
                                        </p:attrNameLst>
                                      </p:cBhvr>
                                      <p:to>
                                        <p:strVal val="visible"/>
                                      </p:to>
                                    </p:set>
                                    <p:animEffect transition="in" filter="fade">
                                      <p:cBhvr>
                                        <p:cTn id="207" dur="400"/>
                                        <p:tgtEl>
                                          <p:spTgt spid="72"/>
                                        </p:tgtEl>
                                      </p:cBhvr>
                                    </p:animEffect>
                                  </p:childTnLst>
                                </p:cTn>
                              </p:par>
                              <p:par>
                                <p:cTn id="208" presetID="10" presetClass="entr" presetSubtype="0" fill="hold" nodeType="withEffect">
                                  <p:stCondLst>
                                    <p:cond delay="0"/>
                                  </p:stCondLst>
                                  <p:childTnLst>
                                    <p:set>
                                      <p:cBhvr>
                                        <p:cTn id="209" dur="1" fill="hold">
                                          <p:stCondLst>
                                            <p:cond delay="0"/>
                                          </p:stCondLst>
                                        </p:cTn>
                                        <p:tgtEl>
                                          <p:spTgt spid="73"/>
                                        </p:tgtEl>
                                        <p:attrNameLst>
                                          <p:attrName>style.visibility</p:attrName>
                                        </p:attrNameLst>
                                      </p:cBhvr>
                                      <p:to>
                                        <p:strVal val="visible"/>
                                      </p:to>
                                    </p:set>
                                    <p:animEffect transition="in" filter="fade">
                                      <p:cBhvr>
                                        <p:cTn id="210" dur="400"/>
                                        <p:tgtEl>
                                          <p:spTgt spid="73"/>
                                        </p:tgtEl>
                                      </p:cBhvr>
                                    </p:animEffect>
                                  </p:childTnLst>
                                </p:cTn>
                              </p:par>
                              <p:par>
                                <p:cTn id="211" presetID="10" presetClass="entr" presetSubtype="0" fill="hold" nodeType="withEffect">
                                  <p:stCondLst>
                                    <p:cond delay="0"/>
                                  </p:stCondLst>
                                  <p:childTnLst>
                                    <p:set>
                                      <p:cBhvr>
                                        <p:cTn id="212" dur="1" fill="hold">
                                          <p:stCondLst>
                                            <p:cond delay="0"/>
                                          </p:stCondLst>
                                        </p:cTn>
                                        <p:tgtEl>
                                          <p:spTgt spid="74"/>
                                        </p:tgtEl>
                                        <p:attrNameLst>
                                          <p:attrName>style.visibility</p:attrName>
                                        </p:attrNameLst>
                                      </p:cBhvr>
                                      <p:to>
                                        <p:strVal val="visible"/>
                                      </p:to>
                                    </p:set>
                                    <p:animEffect transition="in" filter="fade">
                                      <p:cBhvr>
                                        <p:cTn id="213" dur="400"/>
                                        <p:tgtEl>
                                          <p:spTgt spid="74"/>
                                        </p:tgtEl>
                                      </p:cBhvr>
                                    </p:animEffect>
                                  </p:childTnLst>
                                </p:cTn>
                              </p:par>
                              <p:par>
                                <p:cTn id="214" presetID="10" presetClass="entr" presetSubtype="0" fill="hold" nodeType="withEffect">
                                  <p:stCondLst>
                                    <p:cond delay="0"/>
                                  </p:stCondLst>
                                  <p:childTnLst>
                                    <p:set>
                                      <p:cBhvr>
                                        <p:cTn id="215" dur="1" fill="hold">
                                          <p:stCondLst>
                                            <p:cond delay="0"/>
                                          </p:stCondLst>
                                        </p:cTn>
                                        <p:tgtEl>
                                          <p:spTgt spid="75"/>
                                        </p:tgtEl>
                                        <p:attrNameLst>
                                          <p:attrName>style.visibility</p:attrName>
                                        </p:attrNameLst>
                                      </p:cBhvr>
                                      <p:to>
                                        <p:strVal val="visible"/>
                                      </p:to>
                                    </p:set>
                                    <p:animEffect transition="in" filter="fade">
                                      <p:cBhvr>
                                        <p:cTn id="216" dur="400"/>
                                        <p:tgtEl>
                                          <p:spTgt spid="75"/>
                                        </p:tgtEl>
                                      </p:cBhvr>
                                    </p:animEffect>
                                  </p:childTnLst>
                                </p:cTn>
                              </p:par>
                              <p:par>
                                <p:cTn id="217" presetID="10" presetClass="entr" presetSubtype="0" fill="hold" nodeType="withEffect">
                                  <p:stCondLst>
                                    <p:cond delay="0"/>
                                  </p:stCondLst>
                                  <p:childTnLst>
                                    <p:set>
                                      <p:cBhvr>
                                        <p:cTn id="218" dur="1" fill="hold">
                                          <p:stCondLst>
                                            <p:cond delay="0"/>
                                          </p:stCondLst>
                                        </p:cTn>
                                        <p:tgtEl>
                                          <p:spTgt spid="76"/>
                                        </p:tgtEl>
                                        <p:attrNameLst>
                                          <p:attrName>style.visibility</p:attrName>
                                        </p:attrNameLst>
                                      </p:cBhvr>
                                      <p:to>
                                        <p:strVal val="visible"/>
                                      </p:to>
                                    </p:set>
                                    <p:animEffect transition="in" filter="fade">
                                      <p:cBhvr>
                                        <p:cTn id="219" dur="400"/>
                                        <p:tgtEl>
                                          <p:spTgt spid="76"/>
                                        </p:tgtEl>
                                      </p:cBhvr>
                                    </p:animEffect>
                                  </p:childTnLst>
                                </p:cTn>
                              </p:par>
                              <p:par>
                                <p:cTn id="220" presetID="10" presetClass="entr" presetSubtype="0" fill="hold" nodeType="withEffect">
                                  <p:stCondLst>
                                    <p:cond delay="0"/>
                                  </p:stCondLst>
                                  <p:childTnLst>
                                    <p:set>
                                      <p:cBhvr>
                                        <p:cTn id="221" dur="1" fill="hold">
                                          <p:stCondLst>
                                            <p:cond delay="0"/>
                                          </p:stCondLst>
                                        </p:cTn>
                                        <p:tgtEl>
                                          <p:spTgt spid="77"/>
                                        </p:tgtEl>
                                        <p:attrNameLst>
                                          <p:attrName>style.visibility</p:attrName>
                                        </p:attrNameLst>
                                      </p:cBhvr>
                                      <p:to>
                                        <p:strVal val="visible"/>
                                      </p:to>
                                    </p:set>
                                    <p:animEffect transition="in" filter="fade">
                                      <p:cBhvr>
                                        <p:cTn id="222" dur="400"/>
                                        <p:tgtEl>
                                          <p:spTgt spid="77"/>
                                        </p:tgtEl>
                                      </p:cBhvr>
                                    </p:animEffect>
                                  </p:childTnLst>
                                </p:cTn>
                              </p:par>
                              <p:par>
                                <p:cTn id="223" presetID="10" presetClass="entr" presetSubtype="0" fill="hold" grpId="0" nodeType="withEffect">
                                  <p:stCondLst>
                                    <p:cond delay="0"/>
                                  </p:stCondLst>
                                  <p:childTnLst>
                                    <p:set>
                                      <p:cBhvr>
                                        <p:cTn id="224" dur="1" fill="hold">
                                          <p:stCondLst>
                                            <p:cond delay="0"/>
                                          </p:stCondLst>
                                        </p:cTn>
                                        <p:tgtEl>
                                          <p:spTgt spid="78"/>
                                        </p:tgtEl>
                                        <p:attrNameLst>
                                          <p:attrName>style.visibility</p:attrName>
                                        </p:attrNameLst>
                                      </p:cBhvr>
                                      <p:to>
                                        <p:strVal val="visible"/>
                                      </p:to>
                                    </p:set>
                                    <p:animEffect transition="in" filter="fade">
                                      <p:cBhvr>
                                        <p:cTn id="225" dur="400"/>
                                        <p:tgtEl>
                                          <p:spTgt spid="78"/>
                                        </p:tgtEl>
                                      </p:cBhvr>
                                    </p:animEffect>
                                  </p:childTnLst>
                                </p:cTn>
                              </p:par>
                              <p:par>
                                <p:cTn id="226" presetID="10" presetClass="entr" presetSubtype="0" fill="hold" nodeType="withEffect">
                                  <p:stCondLst>
                                    <p:cond delay="0"/>
                                  </p:stCondLst>
                                  <p:childTnLst>
                                    <p:set>
                                      <p:cBhvr>
                                        <p:cTn id="227" dur="1" fill="hold">
                                          <p:stCondLst>
                                            <p:cond delay="0"/>
                                          </p:stCondLst>
                                        </p:cTn>
                                        <p:tgtEl>
                                          <p:spTgt spid="79"/>
                                        </p:tgtEl>
                                        <p:attrNameLst>
                                          <p:attrName>style.visibility</p:attrName>
                                        </p:attrNameLst>
                                      </p:cBhvr>
                                      <p:to>
                                        <p:strVal val="visible"/>
                                      </p:to>
                                    </p:set>
                                    <p:animEffect transition="in" filter="fade">
                                      <p:cBhvr>
                                        <p:cTn id="228" dur="400"/>
                                        <p:tgtEl>
                                          <p:spTgt spid="79"/>
                                        </p:tgtEl>
                                      </p:cBhvr>
                                    </p:animEffect>
                                  </p:childTnLst>
                                </p:cTn>
                              </p:par>
                              <p:par>
                                <p:cTn id="229" presetID="10" presetClass="entr" presetSubtype="0" fill="hold" grpId="0" nodeType="withEffect">
                                  <p:stCondLst>
                                    <p:cond delay="0"/>
                                  </p:stCondLst>
                                  <p:childTnLst>
                                    <p:set>
                                      <p:cBhvr>
                                        <p:cTn id="230" dur="1" fill="hold">
                                          <p:stCondLst>
                                            <p:cond delay="0"/>
                                          </p:stCondLst>
                                        </p:cTn>
                                        <p:tgtEl>
                                          <p:spTgt spid="80"/>
                                        </p:tgtEl>
                                        <p:attrNameLst>
                                          <p:attrName>style.visibility</p:attrName>
                                        </p:attrNameLst>
                                      </p:cBhvr>
                                      <p:to>
                                        <p:strVal val="visible"/>
                                      </p:to>
                                    </p:set>
                                    <p:animEffect transition="in" filter="fade">
                                      <p:cBhvr>
                                        <p:cTn id="231" dur="400"/>
                                        <p:tgtEl>
                                          <p:spTgt spid="80"/>
                                        </p:tgtEl>
                                      </p:cBhvr>
                                    </p:animEffect>
                                  </p:childTnLst>
                                </p:cTn>
                              </p:par>
                              <p:par>
                                <p:cTn id="232" presetID="10" presetClass="entr" presetSubtype="0" fill="hold" nodeType="withEffect">
                                  <p:stCondLst>
                                    <p:cond delay="0"/>
                                  </p:stCondLst>
                                  <p:childTnLst>
                                    <p:set>
                                      <p:cBhvr>
                                        <p:cTn id="233" dur="1" fill="hold">
                                          <p:stCondLst>
                                            <p:cond delay="0"/>
                                          </p:stCondLst>
                                        </p:cTn>
                                        <p:tgtEl>
                                          <p:spTgt spid="81"/>
                                        </p:tgtEl>
                                        <p:attrNameLst>
                                          <p:attrName>style.visibility</p:attrName>
                                        </p:attrNameLst>
                                      </p:cBhvr>
                                      <p:to>
                                        <p:strVal val="visible"/>
                                      </p:to>
                                    </p:set>
                                    <p:animEffect transition="in" filter="fade">
                                      <p:cBhvr>
                                        <p:cTn id="234" dur="400"/>
                                        <p:tgtEl>
                                          <p:spTgt spid="81"/>
                                        </p:tgtEl>
                                      </p:cBhvr>
                                    </p:animEffect>
                                  </p:childTnLst>
                                </p:cTn>
                              </p:par>
                              <p:par>
                                <p:cTn id="235" presetID="10" presetClass="entr" presetSubtype="0" fill="hold" grpId="0" nodeType="withEffect">
                                  <p:stCondLst>
                                    <p:cond delay="0"/>
                                  </p:stCondLst>
                                  <p:childTnLst>
                                    <p:set>
                                      <p:cBhvr>
                                        <p:cTn id="236" dur="1" fill="hold">
                                          <p:stCondLst>
                                            <p:cond delay="0"/>
                                          </p:stCondLst>
                                        </p:cTn>
                                        <p:tgtEl>
                                          <p:spTgt spid="82"/>
                                        </p:tgtEl>
                                        <p:attrNameLst>
                                          <p:attrName>style.visibility</p:attrName>
                                        </p:attrNameLst>
                                      </p:cBhvr>
                                      <p:to>
                                        <p:strVal val="visible"/>
                                      </p:to>
                                    </p:set>
                                    <p:animEffect transition="in" filter="fade">
                                      <p:cBhvr>
                                        <p:cTn id="237" dur="400"/>
                                        <p:tgtEl>
                                          <p:spTgt spid="82"/>
                                        </p:tgtEl>
                                      </p:cBhvr>
                                    </p:animEffect>
                                  </p:childTnLst>
                                </p:cTn>
                              </p:par>
                              <p:par>
                                <p:cTn id="238" presetID="10" presetClass="entr" presetSubtype="0" fill="hold" nodeType="withEffect">
                                  <p:stCondLst>
                                    <p:cond delay="0"/>
                                  </p:stCondLst>
                                  <p:childTnLst>
                                    <p:set>
                                      <p:cBhvr>
                                        <p:cTn id="239" dur="1" fill="hold">
                                          <p:stCondLst>
                                            <p:cond delay="0"/>
                                          </p:stCondLst>
                                        </p:cTn>
                                        <p:tgtEl>
                                          <p:spTgt spid="83"/>
                                        </p:tgtEl>
                                        <p:attrNameLst>
                                          <p:attrName>style.visibility</p:attrName>
                                        </p:attrNameLst>
                                      </p:cBhvr>
                                      <p:to>
                                        <p:strVal val="visible"/>
                                      </p:to>
                                    </p:set>
                                    <p:animEffect transition="in" filter="fade">
                                      <p:cBhvr>
                                        <p:cTn id="240" dur="400"/>
                                        <p:tgtEl>
                                          <p:spTgt spid="83"/>
                                        </p:tgtEl>
                                      </p:cBhvr>
                                    </p:animEffect>
                                  </p:childTnLst>
                                </p:cTn>
                              </p:par>
                              <p:par>
                                <p:cTn id="241" presetID="10" presetClass="entr" presetSubtype="0" fill="hold" grpId="0" nodeType="withEffect">
                                  <p:stCondLst>
                                    <p:cond delay="0"/>
                                  </p:stCondLst>
                                  <p:childTnLst>
                                    <p:set>
                                      <p:cBhvr>
                                        <p:cTn id="242" dur="1" fill="hold">
                                          <p:stCondLst>
                                            <p:cond delay="0"/>
                                          </p:stCondLst>
                                        </p:cTn>
                                        <p:tgtEl>
                                          <p:spTgt spid="84"/>
                                        </p:tgtEl>
                                        <p:attrNameLst>
                                          <p:attrName>style.visibility</p:attrName>
                                        </p:attrNameLst>
                                      </p:cBhvr>
                                      <p:to>
                                        <p:strVal val="visible"/>
                                      </p:to>
                                    </p:set>
                                    <p:animEffect transition="in" filter="fade">
                                      <p:cBhvr>
                                        <p:cTn id="243" dur="4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2" grpId="0" animBg="1"/>
      <p:bldP spid="13" grpId="0" animBg="1"/>
      <p:bldP spid="15" grpId="0" animBg="1"/>
      <p:bldP spid="16" grpId="0" animBg="1"/>
      <p:bldP spid="18" grpId="0" animBg="1"/>
      <p:bldP spid="19" grpId="0" animBg="1"/>
      <p:bldP spid="25" grpId="0" animBg="1"/>
      <p:bldP spid="27" grpId="0" animBg="1"/>
      <p:bldP spid="29" grpId="0" animBg="1"/>
      <p:bldP spid="31" grpId="0" animBg="1"/>
      <p:bldP spid="32" grpId="0" animBg="1"/>
      <p:bldP spid="33" grpId="0" animBg="1"/>
      <p:bldP spid="35" grpId="0" animBg="1"/>
      <p:bldP spid="37" grpId="0" animBg="1"/>
      <p:bldP spid="39" grpId="0" animBg="1"/>
      <p:bldP spid="41" grpId="0" animBg="1"/>
      <p:bldP spid="43" grpId="0" animBg="1"/>
      <p:bldP spid="50" grpId="0" animBg="1"/>
      <p:bldP spid="52" grpId="0" animBg="1"/>
      <p:bldP spid="54" grpId="0" animBg="1"/>
      <p:bldP spid="56" grpId="0" animBg="1"/>
      <p:bldP spid="58" grpId="0" animBg="1"/>
      <p:bldP spid="59" grpId="0" animBg="1"/>
      <p:bldP spid="60" grpId="0" animBg="1"/>
      <p:bldP spid="62" grpId="0" animBg="1"/>
      <p:bldP spid="63" grpId="0" animBg="1"/>
      <p:bldP spid="65" grpId="0" animBg="1"/>
      <p:bldP spid="66" grpId="0" animBg="1"/>
      <p:bldP spid="68" grpId="0" animBg="1"/>
      <p:bldP spid="69" grpId="0" animBg="1"/>
      <p:bldP spid="71" grpId="0" animBg="1"/>
      <p:bldP spid="72" grpId="0" animBg="1"/>
      <p:bldP spid="78" grpId="0" animBg="1"/>
      <p:bldP spid="80" grpId="0" animBg="1"/>
      <p:bldP spid="82" grpId="0" animBg="1"/>
      <p:bldP spid="8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502920"/>
            <a:ext cx="914400" cy="1005840"/>
          </a:xfrm>
          <a:prstGeom prst="rect">
            <a:avLst/>
          </a:prstGeom>
          <a:noFill/>
          <a:ln/>
        </p:spPr>
        <p:txBody>
          <a:bodyPr wrap="square" lIns="0" tIns="0" rIns="0" bIns="0" rtlCol="0" anchor="ctr"/>
          <a:lstStyle/>
          <a:p>
            <a:pPr indent="0" marL="0">
              <a:buNone/>
            </a:pPr>
            <a:r>
              <a:rPr lang="en-US" sz="6600" b="1" dirty="0">
                <a:solidFill>
                  <a:srgbClr val="FFD43B"/>
                </a:solidFill>
                <a:latin typeface="Cambria" pitchFamily="34" charset="0"/>
                <a:ea typeface="Cambria" pitchFamily="34" charset="-122"/>
                <a:cs typeface="Cambria" pitchFamily="34" charset="-120"/>
              </a:rPr>
              <a:t>4</a:t>
            </a:r>
            <a:endParaRPr lang="en-US" sz="6600" dirty="0"/>
          </a:p>
        </p:txBody>
      </p:sp>
      <p:sp>
        <p:nvSpPr>
          <p:cNvPr id="3" name="x"/>
          <p:cNvSpPr txBox="1"/>
          <p:nvPr/>
        </p:nvSpPr>
        <p:spPr>
          <a:xfrm>
            <a:off x="1371600" y="1005840"/>
            <a:ext cx="1097280" cy="457200"/>
          </a:xfrm>
          <a:prstGeom prst="rect">
            <a:avLst/>
          </a:prstGeom>
          <a:noFill/>
          <a:ln/>
        </p:spPr>
        <p:txBody>
          <a:bodyPr wrap="square" lIns="0" tIns="0" rIns="0" bIns="0" rtlCol="0" anchor="ctr"/>
          <a:lstStyle/>
          <a:p>
            <a:pPr indent="0" marL="0">
              <a:buNone/>
            </a:pPr>
            <a:r>
              <a:rPr lang="en-US" sz="1600" i="1" dirty="0">
                <a:solidFill>
                  <a:srgbClr val="C9D4E0"/>
                </a:solidFill>
                <a:latin typeface="Calibri" pitchFamily="34" charset="0"/>
                <a:ea typeface="Calibri" pitchFamily="34" charset="-122"/>
                <a:cs typeface="Calibri" pitchFamily="34" charset="-120"/>
              </a:rPr>
              <a:t>of 6</a:t>
            </a:r>
            <a:endParaRPr lang="en-US" sz="1600" dirty="0"/>
          </a:p>
        </p:txBody>
      </p:sp>
      <p:sp>
        <p:nvSpPr>
          <p:cNvPr id="4" name="x"/>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Loops and unpacking</a:t>
            </a:r>
            <a:endParaRPr lang="en-US" sz="3600" dirty="0"/>
          </a:p>
        </p:txBody>
      </p:sp>
      <p:sp>
        <p:nvSpPr>
          <p:cNvPr id="5" name="x"/>
          <p:cNvSpPr txBox="1"/>
          <p:nvPr/>
        </p:nvSpPr>
        <p:spPr>
          <a:xfrm>
            <a:off x="548640" y="2148840"/>
            <a:ext cx="8046720" cy="502920"/>
          </a:xfrm>
          <a:prstGeom prst="rect">
            <a:avLst/>
          </a:prstGeom>
          <a:noFill/>
          <a:ln/>
        </p:spPr>
        <p:txBody>
          <a:bodyPr wrap="square" lIns="0" tIns="0" rIns="0" bIns="0" rtlCol="0" anchor="t"/>
          <a:lstStyle/>
          <a:p>
            <a:pPr indent="0" marL="0">
              <a:buNone/>
            </a:pPr>
            <a:r>
              <a:rPr lang="en-US" sz="1500" i="1" dirty="0">
                <a:solidFill>
                  <a:srgbClr val="FFD43B"/>
                </a:solidFill>
                <a:latin typeface="Calibri" pitchFamily="34" charset="0"/>
                <a:ea typeface="Calibri" pitchFamily="34" charset="-122"/>
                <a:cs typeface="Calibri" pitchFamily="34" charset="-120"/>
              </a:rPr>
              <a:t>A for loop and a multiple assignment are the two ways the chapter takes a list apart.</a:t>
            </a:r>
            <a:endParaRPr lang="en-US" sz="1500" dirty="0"/>
          </a:p>
        </p:txBody>
      </p:sp>
      <p:sp>
        <p:nvSpPr>
          <p:cNvPr id="6" name="divmid|b1"/>
          <p:cNvSpPr txBox="1"/>
          <p:nvPr/>
        </p:nvSpPr>
        <p:spPr>
          <a:xfrm>
            <a:off x="5486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Looping</a:t>
            </a:r>
            <a:endParaRPr lang="en-US" sz="1500" dirty="0"/>
          </a:p>
        </p:txBody>
      </p:sp>
      <p:sp>
        <p:nvSpPr>
          <p:cNvPr id="7" name="divleafbox|b1"/>
          <p:cNvSpPr/>
          <p:nvPr/>
        </p:nvSpPr>
        <p:spPr>
          <a:xfrm>
            <a:off x="548640" y="3108960"/>
            <a:ext cx="3931920" cy="246888"/>
          </a:xfrm>
          <a:prstGeom prst="roundRect">
            <a:avLst>
              <a:gd name="adj" fmla="val 22222"/>
            </a:avLst>
          </a:prstGeom>
          <a:solidFill>
            <a:srgbClr val="2C3E54"/>
          </a:solidFill>
          <a:ln w="12700">
            <a:solidFill>
              <a:srgbClr val="3B5B87"/>
            </a:solidFill>
            <a:prstDash val="solid"/>
          </a:ln>
        </p:spPr>
      </p:sp>
      <p:sp>
        <p:nvSpPr>
          <p:cNvPr id="8" name="divleaf|b1"/>
          <p:cNvSpPr txBox="1"/>
          <p:nvPr/>
        </p:nvSpPr>
        <p:spPr>
          <a:xfrm>
            <a:off x="6400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Range len loop</a:t>
            </a:r>
            <a:endParaRPr lang="en-US" sz="1200" dirty="0"/>
          </a:p>
        </p:txBody>
      </p:sp>
      <p:sp>
        <p:nvSpPr>
          <p:cNvPr id="9" name="divleafbox|b1"/>
          <p:cNvSpPr/>
          <p:nvPr/>
        </p:nvSpPr>
        <p:spPr>
          <a:xfrm>
            <a:off x="548640" y="3392424"/>
            <a:ext cx="3931920" cy="246888"/>
          </a:xfrm>
          <a:prstGeom prst="roundRect">
            <a:avLst>
              <a:gd name="adj" fmla="val 22222"/>
            </a:avLst>
          </a:prstGeom>
          <a:solidFill>
            <a:srgbClr val="2C3E54"/>
          </a:solidFill>
          <a:ln w="12700">
            <a:solidFill>
              <a:srgbClr val="3B5B87"/>
            </a:solidFill>
            <a:prstDash val="solid"/>
          </a:ln>
        </p:spPr>
      </p:sp>
      <p:sp>
        <p:nvSpPr>
          <p:cNvPr id="10" name="divleaf|b1"/>
          <p:cNvSpPr txBox="1"/>
          <p:nvPr/>
        </p:nvSpPr>
        <p:spPr>
          <a:xfrm>
            <a:off x="6400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Enumerate loop</a:t>
            </a:r>
            <a:endParaRPr lang="en-US" sz="1200" dirty="0"/>
          </a:p>
        </p:txBody>
      </p:sp>
      <p:sp>
        <p:nvSpPr>
          <p:cNvPr id="11" name="divleafbox|b1"/>
          <p:cNvSpPr/>
          <p:nvPr/>
        </p:nvSpPr>
        <p:spPr>
          <a:xfrm>
            <a:off x="548640" y="3675888"/>
            <a:ext cx="3931920" cy="246888"/>
          </a:xfrm>
          <a:prstGeom prst="roundRect">
            <a:avLst>
              <a:gd name="adj" fmla="val 22222"/>
            </a:avLst>
          </a:prstGeom>
          <a:solidFill>
            <a:srgbClr val="2C3E54"/>
          </a:solidFill>
          <a:ln w="12700">
            <a:solidFill>
              <a:srgbClr val="3B5B87"/>
            </a:solidFill>
            <a:prstDash val="solid"/>
          </a:ln>
        </p:spPr>
      </p:sp>
      <p:sp>
        <p:nvSpPr>
          <p:cNvPr id="12" name="divleaf|b1"/>
          <p:cNvSpPr txBox="1"/>
          <p:nvPr/>
        </p:nvSpPr>
        <p:spPr>
          <a:xfrm>
            <a:off x="640080" y="3675888"/>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Mutation while iterating</a:t>
            </a:r>
            <a:endParaRPr lang="en-US" sz="1200" dirty="0"/>
          </a:p>
        </p:txBody>
      </p:sp>
      <p:sp>
        <p:nvSpPr>
          <p:cNvPr id="13" name="divleafbox|b1"/>
          <p:cNvSpPr/>
          <p:nvPr/>
        </p:nvSpPr>
        <p:spPr>
          <a:xfrm>
            <a:off x="548640" y="3959352"/>
            <a:ext cx="3931920" cy="246888"/>
          </a:xfrm>
          <a:prstGeom prst="roundRect">
            <a:avLst>
              <a:gd name="adj" fmla="val 22222"/>
            </a:avLst>
          </a:prstGeom>
          <a:solidFill>
            <a:srgbClr val="2C3E54"/>
          </a:solidFill>
          <a:ln w="12700">
            <a:solidFill>
              <a:srgbClr val="3B5B87"/>
            </a:solidFill>
            <a:prstDash val="solid"/>
          </a:ln>
        </p:spPr>
      </p:sp>
      <p:sp>
        <p:nvSpPr>
          <p:cNvPr id="14" name="divleaf|b1"/>
          <p:cNvSpPr txBox="1"/>
          <p:nvPr/>
        </p:nvSpPr>
        <p:spPr>
          <a:xfrm>
            <a:off x="640080" y="3959352"/>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List comprehension</a:t>
            </a:r>
            <a:endParaRPr lang="en-US" sz="1200" dirty="0"/>
          </a:p>
        </p:txBody>
      </p:sp>
      <p:sp>
        <p:nvSpPr>
          <p:cNvPr id="15" name="divmid|b2"/>
          <p:cNvSpPr txBox="1"/>
          <p:nvPr/>
        </p:nvSpPr>
        <p:spPr>
          <a:xfrm>
            <a:off x="46634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Unpacking</a:t>
            </a:r>
            <a:endParaRPr lang="en-US" sz="1500" dirty="0"/>
          </a:p>
        </p:txBody>
      </p:sp>
      <p:sp>
        <p:nvSpPr>
          <p:cNvPr id="16" name="divleafbox|b2"/>
          <p:cNvSpPr/>
          <p:nvPr/>
        </p:nvSpPr>
        <p:spPr>
          <a:xfrm>
            <a:off x="4663440" y="3108960"/>
            <a:ext cx="3931920" cy="246888"/>
          </a:xfrm>
          <a:prstGeom prst="roundRect">
            <a:avLst>
              <a:gd name="adj" fmla="val 22222"/>
            </a:avLst>
          </a:prstGeom>
          <a:solidFill>
            <a:srgbClr val="2C3E54"/>
          </a:solidFill>
          <a:ln w="12700">
            <a:solidFill>
              <a:srgbClr val="3B5B87"/>
            </a:solidFill>
            <a:prstDash val="solid"/>
          </a:ln>
        </p:spPr>
      </p:sp>
      <p:sp>
        <p:nvSpPr>
          <p:cNvPr id="17" name="divleaf|b2"/>
          <p:cNvSpPr txBox="1"/>
          <p:nvPr/>
        </p:nvSpPr>
        <p:spPr>
          <a:xfrm>
            <a:off x="47548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Multiple assignment</a:t>
            </a:r>
            <a:endParaRPr lang="en-US" sz="1200" dirty="0"/>
          </a:p>
        </p:txBody>
      </p:sp>
      <p:sp>
        <p:nvSpPr>
          <p:cNvPr id="18" name="divleafbox|b2"/>
          <p:cNvSpPr/>
          <p:nvPr/>
        </p:nvSpPr>
        <p:spPr>
          <a:xfrm>
            <a:off x="4663440" y="3392424"/>
            <a:ext cx="3931920" cy="246888"/>
          </a:xfrm>
          <a:prstGeom prst="roundRect">
            <a:avLst>
              <a:gd name="adj" fmla="val 22222"/>
            </a:avLst>
          </a:prstGeom>
          <a:solidFill>
            <a:srgbClr val="2C3E54"/>
          </a:solidFill>
          <a:ln w="12700">
            <a:solidFill>
              <a:srgbClr val="3B5B87"/>
            </a:solidFill>
            <a:prstDash val="solid"/>
          </a:ln>
        </p:spPr>
      </p:sp>
      <p:sp>
        <p:nvSpPr>
          <p:cNvPr id="19" name="divleaf|b2"/>
          <p:cNvSpPr txBox="1"/>
          <p:nvPr/>
        </p:nvSpPr>
        <p:spPr>
          <a:xfrm>
            <a:off x="47548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Starred unpacking</a:t>
            </a:r>
            <a:endParaRPr lang="en-US" sz="1200" dirty="0"/>
          </a:p>
        </p:txBody>
      </p:sp>
      <p:sp>
        <p:nvSpPr>
          <p:cNvPr id="20" name="x"/>
          <p:cNvSpPr/>
          <p:nvPr/>
        </p:nvSpPr>
        <p:spPr>
          <a:xfrm>
            <a:off x="548640" y="4572000"/>
            <a:ext cx="1267968" cy="64008"/>
          </a:xfrm>
          <a:prstGeom prst="rect">
            <a:avLst/>
          </a:prstGeom>
          <a:solidFill>
            <a:srgbClr val="4A5D75"/>
          </a:solidFill>
          <a:ln w="12700">
            <a:solidFill>
              <a:srgbClr val="4A5D75"/>
            </a:solidFill>
            <a:prstDash val="solid"/>
          </a:ln>
        </p:spPr>
      </p:sp>
      <p:sp>
        <p:nvSpPr>
          <p:cNvPr id="21" name="x"/>
          <p:cNvSpPr/>
          <p:nvPr/>
        </p:nvSpPr>
        <p:spPr>
          <a:xfrm>
            <a:off x="1889760" y="4572000"/>
            <a:ext cx="1267968" cy="64008"/>
          </a:xfrm>
          <a:prstGeom prst="rect">
            <a:avLst/>
          </a:prstGeom>
          <a:solidFill>
            <a:srgbClr val="4A5D75"/>
          </a:solidFill>
          <a:ln w="12700">
            <a:solidFill>
              <a:srgbClr val="4A5D75"/>
            </a:solidFill>
            <a:prstDash val="solid"/>
          </a:ln>
        </p:spPr>
      </p:sp>
      <p:sp>
        <p:nvSpPr>
          <p:cNvPr id="22" name="x"/>
          <p:cNvSpPr/>
          <p:nvPr/>
        </p:nvSpPr>
        <p:spPr>
          <a:xfrm>
            <a:off x="3230880" y="4572000"/>
            <a:ext cx="1267968" cy="64008"/>
          </a:xfrm>
          <a:prstGeom prst="rect">
            <a:avLst/>
          </a:prstGeom>
          <a:solidFill>
            <a:srgbClr val="4A5D75"/>
          </a:solidFill>
          <a:ln w="12700">
            <a:solidFill>
              <a:srgbClr val="4A5D75"/>
            </a:solidFill>
            <a:prstDash val="solid"/>
          </a:ln>
        </p:spPr>
      </p:sp>
      <p:sp>
        <p:nvSpPr>
          <p:cNvPr id="23" name="x"/>
          <p:cNvSpPr/>
          <p:nvPr/>
        </p:nvSpPr>
        <p:spPr>
          <a:xfrm>
            <a:off x="4572000" y="4572000"/>
            <a:ext cx="1267968" cy="64008"/>
          </a:xfrm>
          <a:prstGeom prst="rect">
            <a:avLst/>
          </a:prstGeom>
          <a:solidFill>
            <a:srgbClr val="FFD43B"/>
          </a:solidFill>
          <a:ln w="12700">
            <a:solidFill>
              <a:srgbClr val="FFD43B"/>
            </a:solidFill>
            <a:prstDash val="solid"/>
          </a:ln>
        </p:spPr>
      </p:sp>
      <p:sp>
        <p:nvSpPr>
          <p:cNvPr id="24" name="x"/>
          <p:cNvSpPr/>
          <p:nvPr/>
        </p:nvSpPr>
        <p:spPr>
          <a:xfrm>
            <a:off x="5913120" y="4572000"/>
            <a:ext cx="1267968" cy="64008"/>
          </a:xfrm>
          <a:prstGeom prst="rect">
            <a:avLst/>
          </a:prstGeom>
          <a:solidFill>
            <a:srgbClr val="4A5D75"/>
          </a:solidFill>
          <a:ln w="12700">
            <a:solidFill>
              <a:srgbClr val="4A5D75"/>
            </a:solidFill>
            <a:prstDash val="solid"/>
          </a:ln>
        </p:spPr>
      </p:sp>
      <p:sp>
        <p:nvSpPr>
          <p:cNvPr id="25" name="x"/>
          <p:cNvSpPr/>
          <p:nvPr/>
        </p:nvSpPr>
        <p:spPr>
          <a:xfrm>
            <a:off x="7254240" y="4572000"/>
            <a:ext cx="1267968" cy="64008"/>
          </a:xfrm>
          <a:prstGeom prst="rect">
            <a:avLst/>
          </a:prstGeom>
          <a:solidFill>
            <a:srgbClr val="4A5D75"/>
          </a:solidFill>
          <a:ln w="12700">
            <a:solidFill>
              <a:srgbClr val="4A5D75"/>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childTnLst>
                          </p:cTn>
                        </p:par>
                      </p:childTnLst>
                    </p:cTn>
                  </p:par>
                  <p:par>
                    <p:cTn id="47" fill="hold">
                      <p:stCondLst>
                        <p:cond delay="indefinite"/>
                      </p:stCondLst>
                      <p:childTnLst>
                        <p:par>
                          <p:cTn id="48"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par>
                                <p:cTn id="41" presetID="10" presetClass="entr" presetSubtype="0"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14" grpId="0" animBg="1"/>
      <p:bldP spid="15" grpId="0" animBg="1"/>
      <p:bldP spid="17" grpId="0" animBg="1"/>
      <p:bldP spid="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range(len()) and enumerate() visit the same items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Two loops, the same four passes, the same four lines</a:t>
            </a:r>
            <a:endParaRPr lang="en-US" sz="1400" dirty="0"/>
          </a:p>
        </p:txBody>
      </p:sp>
      <p:sp>
        <p:nvSpPr>
          <p:cNvPr id="6" name="v:Looping:t0head|b1"/>
          <p:cNvSpPr txBox="1"/>
          <p:nvPr/>
        </p:nvSpPr>
        <p:spPr>
          <a:xfrm>
            <a:off x="365760" y="1188720"/>
            <a:ext cx="2651760" cy="274320"/>
          </a:xfrm>
          <a:prstGeom prst="rect">
            <a:avLst/>
          </a:prstGeom>
          <a:noFill/>
          <a:ln/>
        </p:spPr>
        <p:txBody>
          <a:bodyPr wrap="square" lIns="0" tIns="0" rIns="0" bIns="0" rtlCol="0" anchor="ctr"/>
          <a:lstStyle/>
          <a:p>
            <a:pPr indent="0" marL="0">
              <a:buNone/>
            </a:pPr>
            <a:r>
              <a:rPr lang="en-US" sz="1100" b="1" dirty="0">
                <a:solidFill>
                  <a:srgbClr val="1E2A3A"/>
                </a:solidFill>
                <a:latin typeface="Courier New" pitchFamily="34" charset="0"/>
                <a:ea typeface="Courier New" pitchFamily="34" charset="-122"/>
                <a:cs typeface="Courier New" pitchFamily="34" charset="-120"/>
              </a:rPr>
              <a:t>for i in range(len(supplies)):</a:t>
            </a:r>
            <a:endParaRPr lang="en-US" sz="1100" dirty="0"/>
          </a:p>
        </p:txBody>
      </p:sp>
      <p:sp>
        <p:nvSpPr>
          <p:cNvPr id="7" name="v:Looping:t0h0:box|b1"/>
          <p:cNvSpPr/>
          <p:nvPr/>
        </p:nvSpPr>
        <p:spPr>
          <a:xfrm>
            <a:off x="365760" y="1517904"/>
            <a:ext cx="740664" cy="274320"/>
          </a:xfrm>
          <a:prstGeom prst="rect">
            <a:avLst/>
          </a:prstGeom>
          <a:solidFill>
            <a:srgbClr val="1E2A3A"/>
          </a:solidFill>
          <a:ln w="12700">
            <a:solidFill>
              <a:srgbClr val="1E2A3A"/>
            </a:solidFill>
            <a:prstDash val="solid"/>
          </a:ln>
        </p:spPr>
      </p:sp>
      <p:sp>
        <p:nvSpPr>
          <p:cNvPr id="8" name="v:Looping:t0h0|b1"/>
          <p:cNvSpPr txBox="1"/>
          <p:nvPr/>
        </p:nvSpPr>
        <p:spPr>
          <a:xfrm>
            <a:off x="411480" y="1517904"/>
            <a:ext cx="649224" cy="274320"/>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Courier New" pitchFamily="34" charset="0"/>
                <a:ea typeface="Courier New" pitchFamily="34" charset="-122"/>
                <a:cs typeface="Courier New" pitchFamily="34" charset="-120"/>
              </a:rPr>
              <a:t>i</a:t>
            </a:r>
            <a:endParaRPr lang="en-US" sz="1050" dirty="0"/>
          </a:p>
        </p:txBody>
      </p:sp>
      <p:sp>
        <p:nvSpPr>
          <p:cNvPr id="9" name="v:Looping:t0h1:box|b1"/>
          <p:cNvSpPr/>
          <p:nvPr/>
        </p:nvSpPr>
        <p:spPr>
          <a:xfrm>
            <a:off x="1143000" y="1517904"/>
            <a:ext cx="1837944" cy="274320"/>
          </a:xfrm>
          <a:prstGeom prst="rect">
            <a:avLst/>
          </a:prstGeom>
          <a:solidFill>
            <a:srgbClr val="1E2A3A"/>
          </a:solidFill>
          <a:ln w="12700">
            <a:solidFill>
              <a:srgbClr val="1E2A3A"/>
            </a:solidFill>
            <a:prstDash val="solid"/>
          </a:ln>
        </p:spPr>
      </p:sp>
      <p:sp>
        <p:nvSpPr>
          <p:cNvPr id="10" name="v:Looping:t0h1|b1"/>
          <p:cNvSpPr txBox="1"/>
          <p:nvPr/>
        </p:nvSpPr>
        <p:spPr>
          <a:xfrm>
            <a:off x="1188720" y="1517904"/>
            <a:ext cx="1746504" cy="274320"/>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Courier New" pitchFamily="34" charset="0"/>
                <a:ea typeface="Courier New" pitchFamily="34" charset="-122"/>
                <a:cs typeface="Courier New" pitchFamily="34" charset="-120"/>
              </a:rPr>
              <a:t>supplies[i]</a:t>
            </a:r>
            <a:endParaRPr lang="en-US" sz="1050" dirty="0"/>
          </a:p>
        </p:txBody>
      </p:sp>
      <p:sp>
        <p:nvSpPr>
          <p:cNvPr id="11" name="v:Looping:t0r0c0:box|b1"/>
          <p:cNvSpPr/>
          <p:nvPr/>
        </p:nvSpPr>
        <p:spPr>
          <a:xfrm>
            <a:off x="365760" y="1828800"/>
            <a:ext cx="740664" cy="292608"/>
          </a:xfrm>
          <a:prstGeom prst="rect">
            <a:avLst/>
          </a:prstGeom>
          <a:solidFill>
            <a:srgbClr val="F1F4F8"/>
          </a:solidFill>
          <a:ln w="12700">
            <a:solidFill>
              <a:srgbClr val="F1F4F8"/>
            </a:solidFill>
            <a:prstDash val="solid"/>
          </a:ln>
        </p:spPr>
      </p:sp>
      <p:sp>
        <p:nvSpPr>
          <p:cNvPr id="12" name="v:Looping:t0r0c0|b1"/>
          <p:cNvSpPr txBox="1"/>
          <p:nvPr/>
        </p:nvSpPr>
        <p:spPr>
          <a:xfrm>
            <a:off x="411480" y="1828800"/>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13" name="v:Looping:t0r0c1:box|b1"/>
          <p:cNvSpPr/>
          <p:nvPr/>
        </p:nvSpPr>
        <p:spPr>
          <a:xfrm>
            <a:off x="1143000" y="1828800"/>
            <a:ext cx="1837944" cy="292608"/>
          </a:xfrm>
          <a:prstGeom prst="rect">
            <a:avLst/>
          </a:prstGeom>
          <a:solidFill>
            <a:srgbClr val="F1F4F8"/>
          </a:solidFill>
          <a:ln w="12700">
            <a:solidFill>
              <a:srgbClr val="F1F4F8"/>
            </a:solidFill>
            <a:prstDash val="solid"/>
          </a:ln>
        </p:spPr>
      </p:sp>
      <p:sp>
        <p:nvSpPr>
          <p:cNvPr id="14" name="v:Looping:t0r0c1|b1"/>
          <p:cNvSpPr txBox="1"/>
          <p:nvPr/>
        </p:nvSpPr>
        <p:spPr>
          <a:xfrm>
            <a:off x="1188720" y="1828800"/>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pens</a:t>
            </a:r>
            <a:endParaRPr lang="en-US" sz="1100" dirty="0"/>
          </a:p>
        </p:txBody>
      </p:sp>
      <p:sp>
        <p:nvSpPr>
          <p:cNvPr id="15" name="v:Looping:t0r1c0:box|b1"/>
          <p:cNvSpPr/>
          <p:nvPr/>
        </p:nvSpPr>
        <p:spPr>
          <a:xfrm>
            <a:off x="365760" y="2157984"/>
            <a:ext cx="740664" cy="292608"/>
          </a:xfrm>
          <a:prstGeom prst="rect">
            <a:avLst/>
          </a:prstGeom>
          <a:solidFill>
            <a:srgbClr val="F1F4F8"/>
          </a:solidFill>
          <a:ln w="12700">
            <a:solidFill>
              <a:srgbClr val="F1F4F8"/>
            </a:solidFill>
            <a:prstDash val="solid"/>
          </a:ln>
        </p:spPr>
      </p:sp>
      <p:sp>
        <p:nvSpPr>
          <p:cNvPr id="16" name="v:Looping:t0r1c0|b1"/>
          <p:cNvSpPr txBox="1"/>
          <p:nvPr/>
        </p:nvSpPr>
        <p:spPr>
          <a:xfrm>
            <a:off x="411480" y="2157984"/>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a:t>
            </a:r>
            <a:endParaRPr lang="en-US" sz="1100" dirty="0"/>
          </a:p>
        </p:txBody>
      </p:sp>
      <p:sp>
        <p:nvSpPr>
          <p:cNvPr id="17" name="v:Looping:t0r1c1:box|b1"/>
          <p:cNvSpPr/>
          <p:nvPr/>
        </p:nvSpPr>
        <p:spPr>
          <a:xfrm>
            <a:off x="1143000" y="2157984"/>
            <a:ext cx="1837944" cy="292608"/>
          </a:xfrm>
          <a:prstGeom prst="rect">
            <a:avLst/>
          </a:prstGeom>
          <a:solidFill>
            <a:srgbClr val="F1F4F8"/>
          </a:solidFill>
          <a:ln w="12700">
            <a:solidFill>
              <a:srgbClr val="F1F4F8"/>
            </a:solidFill>
            <a:prstDash val="solid"/>
          </a:ln>
        </p:spPr>
      </p:sp>
      <p:sp>
        <p:nvSpPr>
          <p:cNvPr id="18" name="v:Looping:t0r1c1|b1"/>
          <p:cNvSpPr txBox="1"/>
          <p:nvPr/>
        </p:nvSpPr>
        <p:spPr>
          <a:xfrm>
            <a:off x="1188720" y="2157984"/>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staplers</a:t>
            </a:r>
            <a:endParaRPr lang="en-US" sz="1100" dirty="0"/>
          </a:p>
        </p:txBody>
      </p:sp>
      <p:sp>
        <p:nvSpPr>
          <p:cNvPr id="19" name="v:Looping:t0r2c0:box|b1"/>
          <p:cNvSpPr/>
          <p:nvPr/>
        </p:nvSpPr>
        <p:spPr>
          <a:xfrm>
            <a:off x="365760" y="2487168"/>
            <a:ext cx="740664" cy="292608"/>
          </a:xfrm>
          <a:prstGeom prst="rect">
            <a:avLst/>
          </a:prstGeom>
          <a:solidFill>
            <a:srgbClr val="F1F4F8"/>
          </a:solidFill>
          <a:ln w="12700">
            <a:solidFill>
              <a:srgbClr val="F1F4F8"/>
            </a:solidFill>
            <a:prstDash val="solid"/>
          </a:ln>
        </p:spPr>
      </p:sp>
      <p:sp>
        <p:nvSpPr>
          <p:cNvPr id="20" name="v:Looping:t0r2c0|b1"/>
          <p:cNvSpPr txBox="1"/>
          <p:nvPr/>
        </p:nvSpPr>
        <p:spPr>
          <a:xfrm>
            <a:off x="411480" y="2487168"/>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2</a:t>
            </a:r>
            <a:endParaRPr lang="en-US" sz="1100" dirty="0"/>
          </a:p>
        </p:txBody>
      </p:sp>
      <p:sp>
        <p:nvSpPr>
          <p:cNvPr id="21" name="v:Looping:t0r2c1:box|b1"/>
          <p:cNvSpPr/>
          <p:nvPr/>
        </p:nvSpPr>
        <p:spPr>
          <a:xfrm>
            <a:off x="1143000" y="2487168"/>
            <a:ext cx="1837944" cy="292608"/>
          </a:xfrm>
          <a:prstGeom prst="rect">
            <a:avLst/>
          </a:prstGeom>
          <a:solidFill>
            <a:srgbClr val="F1F4F8"/>
          </a:solidFill>
          <a:ln w="12700">
            <a:solidFill>
              <a:srgbClr val="F1F4F8"/>
            </a:solidFill>
            <a:prstDash val="solid"/>
          </a:ln>
        </p:spPr>
      </p:sp>
      <p:sp>
        <p:nvSpPr>
          <p:cNvPr id="22" name="v:Looping:t0r2c1|b1"/>
          <p:cNvSpPr txBox="1"/>
          <p:nvPr/>
        </p:nvSpPr>
        <p:spPr>
          <a:xfrm>
            <a:off x="1188720" y="2487168"/>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flamethrowers</a:t>
            </a:r>
            <a:endParaRPr lang="en-US" sz="1100" dirty="0"/>
          </a:p>
        </p:txBody>
      </p:sp>
      <p:sp>
        <p:nvSpPr>
          <p:cNvPr id="23" name="v:Looping:t0r3c0:box|b1"/>
          <p:cNvSpPr/>
          <p:nvPr/>
        </p:nvSpPr>
        <p:spPr>
          <a:xfrm>
            <a:off x="365760" y="2816352"/>
            <a:ext cx="740664" cy="292608"/>
          </a:xfrm>
          <a:prstGeom prst="rect">
            <a:avLst/>
          </a:prstGeom>
          <a:solidFill>
            <a:srgbClr val="F1F4F8"/>
          </a:solidFill>
          <a:ln w="12700">
            <a:solidFill>
              <a:srgbClr val="F1F4F8"/>
            </a:solidFill>
            <a:prstDash val="solid"/>
          </a:ln>
        </p:spPr>
      </p:sp>
      <p:sp>
        <p:nvSpPr>
          <p:cNvPr id="24" name="v:Looping:t0r3c0|b1"/>
          <p:cNvSpPr txBox="1"/>
          <p:nvPr/>
        </p:nvSpPr>
        <p:spPr>
          <a:xfrm>
            <a:off x="411480" y="2816352"/>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3</a:t>
            </a:r>
            <a:endParaRPr lang="en-US" sz="1100" dirty="0"/>
          </a:p>
        </p:txBody>
      </p:sp>
      <p:sp>
        <p:nvSpPr>
          <p:cNvPr id="25" name="v:Looping:t0r3c1:box|b1"/>
          <p:cNvSpPr/>
          <p:nvPr/>
        </p:nvSpPr>
        <p:spPr>
          <a:xfrm>
            <a:off x="1143000" y="2816352"/>
            <a:ext cx="1837944" cy="292608"/>
          </a:xfrm>
          <a:prstGeom prst="rect">
            <a:avLst/>
          </a:prstGeom>
          <a:solidFill>
            <a:srgbClr val="F1F4F8"/>
          </a:solidFill>
          <a:ln w="12700">
            <a:solidFill>
              <a:srgbClr val="F1F4F8"/>
            </a:solidFill>
            <a:prstDash val="solid"/>
          </a:ln>
        </p:spPr>
      </p:sp>
      <p:sp>
        <p:nvSpPr>
          <p:cNvPr id="26" name="v:Looping:t0r3c1|b1"/>
          <p:cNvSpPr txBox="1"/>
          <p:nvPr/>
        </p:nvSpPr>
        <p:spPr>
          <a:xfrm>
            <a:off x="1188720" y="2816352"/>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binders</a:t>
            </a:r>
            <a:endParaRPr lang="en-US" sz="1100" dirty="0"/>
          </a:p>
        </p:txBody>
      </p:sp>
      <p:sp>
        <p:nvSpPr>
          <p:cNvPr id="27" name="v:Looping:t1head|b2"/>
          <p:cNvSpPr txBox="1"/>
          <p:nvPr/>
        </p:nvSpPr>
        <p:spPr>
          <a:xfrm>
            <a:off x="3154680" y="1188720"/>
            <a:ext cx="2651760" cy="274320"/>
          </a:xfrm>
          <a:prstGeom prst="rect">
            <a:avLst/>
          </a:prstGeom>
          <a:noFill/>
          <a:ln/>
        </p:spPr>
        <p:txBody>
          <a:bodyPr wrap="square" lIns="0" tIns="0" rIns="0" bIns="0" rtlCol="0" anchor="ctr"/>
          <a:lstStyle/>
          <a:p>
            <a:pPr indent="0" marL="0">
              <a:buNone/>
            </a:pPr>
            <a:r>
              <a:rPr lang="en-US" sz="871" b="1" dirty="0">
                <a:solidFill>
                  <a:srgbClr val="1E2A3A"/>
                </a:solidFill>
                <a:latin typeface="Courier New" pitchFamily="34" charset="0"/>
                <a:ea typeface="Courier New" pitchFamily="34" charset="-122"/>
                <a:cs typeface="Courier New" pitchFamily="34" charset="-120"/>
              </a:rPr>
              <a:t>for index, item in enumerate(supplies):</a:t>
            </a:r>
            <a:endParaRPr lang="en-US" sz="871" dirty="0"/>
          </a:p>
        </p:txBody>
      </p:sp>
      <p:sp>
        <p:nvSpPr>
          <p:cNvPr id="28" name="v:Looping:t1h0:box|b2"/>
          <p:cNvSpPr/>
          <p:nvPr/>
        </p:nvSpPr>
        <p:spPr>
          <a:xfrm>
            <a:off x="3154680" y="1517904"/>
            <a:ext cx="740664" cy="274320"/>
          </a:xfrm>
          <a:prstGeom prst="rect">
            <a:avLst/>
          </a:prstGeom>
          <a:solidFill>
            <a:srgbClr val="1E2A3A"/>
          </a:solidFill>
          <a:ln w="12700">
            <a:solidFill>
              <a:srgbClr val="1E2A3A"/>
            </a:solidFill>
            <a:prstDash val="solid"/>
          </a:ln>
        </p:spPr>
      </p:sp>
      <p:sp>
        <p:nvSpPr>
          <p:cNvPr id="29" name="v:Looping:t1h0|b2"/>
          <p:cNvSpPr txBox="1"/>
          <p:nvPr/>
        </p:nvSpPr>
        <p:spPr>
          <a:xfrm>
            <a:off x="3200400" y="1517904"/>
            <a:ext cx="649224" cy="274320"/>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Courier New" pitchFamily="34" charset="0"/>
                <a:ea typeface="Courier New" pitchFamily="34" charset="-122"/>
                <a:cs typeface="Courier New" pitchFamily="34" charset="-120"/>
              </a:rPr>
              <a:t>index</a:t>
            </a:r>
            <a:endParaRPr lang="en-US" sz="1050" dirty="0"/>
          </a:p>
        </p:txBody>
      </p:sp>
      <p:sp>
        <p:nvSpPr>
          <p:cNvPr id="30" name="v:Looping:t1h1:box|b2"/>
          <p:cNvSpPr/>
          <p:nvPr/>
        </p:nvSpPr>
        <p:spPr>
          <a:xfrm>
            <a:off x="3931920" y="1517904"/>
            <a:ext cx="1837944" cy="274320"/>
          </a:xfrm>
          <a:prstGeom prst="rect">
            <a:avLst/>
          </a:prstGeom>
          <a:solidFill>
            <a:srgbClr val="1E2A3A"/>
          </a:solidFill>
          <a:ln w="12700">
            <a:solidFill>
              <a:srgbClr val="1E2A3A"/>
            </a:solidFill>
            <a:prstDash val="solid"/>
          </a:ln>
        </p:spPr>
      </p:sp>
      <p:sp>
        <p:nvSpPr>
          <p:cNvPr id="31" name="v:Looping:t1h1|b2"/>
          <p:cNvSpPr txBox="1"/>
          <p:nvPr/>
        </p:nvSpPr>
        <p:spPr>
          <a:xfrm>
            <a:off x="3977640" y="1517904"/>
            <a:ext cx="1746504" cy="274320"/>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Courier New" pitchFamily="34" charset="0"/>
                <a:ea typeface="Courier New" pitchFamily="34" charset="-122"/>
                <a:cs typeface="Courier New" pitchFamily="34" charset="-120"/>
              </a:rPr>
              <a:t>item</a:t>
            </a:r>
            <a:endParaRPr lang="en-US" sz="1050" dirty="0"/>
          </a:p>
        </p:txBody>
      </p:sp>
      <p:sp>
        <p:nvSpPr>
          <p:cNvPr id="32" name="v:Looping:t1r0c0:box|b2"/>
          <p:cNvSpPr/>
          <p:nvPr/>
        </p:nvSpPr>
        <p:spPr>
          <a:xfrm>
            <a:off x="3154680" y="1828800"/>
            <a:ext cx="740664" cy="292608"/>
          </a:xfrm>
          <a:prstGeom prst="rect">
            <a:avLst/>
          </a:prstGeom>
          <a:solidFill>
            <a:srgbClr val="F1F4F8"/>
          </a:solidFill>
          <a:ln w="12700">
            <a:solidFill>
              <a:srgbClr val="F1F4F8"/>
            </a:solidFill>
            <a:prstDash val="solid"/>
          </a:ln>
        </p:spPr>
      </p:sp>
      <p:sp>
        <p:nvSpPr>
          <p:cNvPr id="33" name="v:Looping:t1r0c0|b2"/>
          <p:cNvSpPr txBox="1"/>
          <p:nvPr/>
        </p:nvSpPr>
        <p:spPr>
          <a:xfrm>
            <a:off x="3200400" y="1828800"/>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34" name="v:Looping:t1r0c1:box|b2"/>
          <p:cNvSpPr/>
          <p:nvPr/>
        </p:nvSpPr>
        <p:spPr>
          <a:xfrm>
            <a:off x="3931920" y="1828800"/>
            <a:ext cx="1837944" cy="292608"/>
          </a:xfrm>
          <a:prstGeom prst="rect">
            <a:avLst/>
          </a:prstGeom>
          <a:solidFill>
            <a:srgbClr val="F1F4F8"/>
          </a:solidFill>
          <a:ln w="12700">
            <a:solidFill>
              <a:srgbClr val="F1F4F8"/>
            </a:solidFill>
            <a:prstDash val="solid"/>
          </a:ln>
        </p:spPr>
      </p:sp>
      <p:sp>
        <p:nvSpPr>
          <p:cNvPr id="35" name="v:Looping:t1r0c1|b2"/>
          <p:cNvSpPr txBox="1"/>
          <p:nvPr/>
        </p:nvSpPr>
        <p:spPr>
          <a:xfrm>
            <a:off x="3977640" y="1828800"/>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pens</a:t>
            </a:r>
            <a:endParaRPr lang="en-US" sz="1100" dirty="0"/>
          </a:p>
        </p:txBody>
      </p:sp>
      <p:sp>
        <p:nvSpPr>
          <p:cNvPr id="36" name="v:Looping:t1r1c0:box|b2"/>
          <p:cNvSpPr/>
          <p:nvPr/>
        </p:nvSpPr>
        <p:spPr>
          <a:xfrm>
            <a:off x="3154680" y="2157984"/>
            <a:ext cx="740664" cy="292608"/>
          </a:xfrm>
          <a:prstGeom prst="rect">
            <a:avLst/>
          </a:prstGeom>
          <a:solidFill>
            <a:srgbClr val="F1F4F8"/>
          </a:solidFill>
          <a:ln w="12700">
            <a:solidFill>
              <a:srgbClr val="F1F4F8"/>
            </a:solidFill>
            <a:prstDash val="solid"/>
          </a:ln>
        </p:spPr>
      </p:sp>
      <p:sp>
        <p:nvSpPr>
          <p:cNvPr id="37" name="v:Looping:t1r1c0|b2"/>
          <p:cNvSpPr txBox="1"/>
          <p:nvPr/>
        </p:nvSpPr>
        <p:spPr>
          <a:xfrm>
            <a:off x="3200400" y="2157984"/>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a:t>
            </a:r>
            <a:endParaRPr lang="en-US" sz="1100" dirty="0"/>
          </a:p>
        </p:txBody>
      </p:sp>
      <p:sp>
        <p:nvSpPr>
          <p:cNvPr id="38" name="v:Looping:t1r1c1:box|b2"/>
          <p:cNvSpPr/>
          <p:nvPr/>
        </p:nvSpPr>
        <p:spPr>
          <a:xfrm>
            <a:off x="3931920" y="2157984"/>
            <a:ext cx="1837944" cy="292608"/>
          </a:xfrm>
          <a:prstGeom prst="rect">
            <a:avLst/>
          </a:prstGeom>
          <a:solidFill>
            <a:srgbClr val="F1F4F8"/>
          </a:solidFill>
          <a:ln w="12700">
            <a:solidFill>
              <a:srgbClr val="F1F4F8"/>
            </a:solidFill>
            <a:prstDash val="solid"/>
          </a:ln>
        </p:spPr>
      </p:sp>
      <p:sp>
        <p:nvSpPr>
          <p:cNvPr id="39" name="v:Looping:t1r1c1|b2"/>
          <p:cNvSpPr txBox="1"/>
          <p:nvPr/>
        </p:nvSpPr>
        <p:spPr>
          <a:xfrm>
            <a:off x="3977640" y="2157984"/>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staplers</a:t>
            </a:r>
            <a:endParaRPr lang="en-US" sz="1100" dirty="0"/>
          </a:p>
        </p:txBody>
      </p:sp>
      <p:sp>
        <p:nvSpPr>
          <p:cNvPr id="40" name="v:Looping:t1r2c0:box|b2"/>
          <p:cNvSpPr/>
          <p:nvPr/>
        </p:nvSpPr>
        <p:spPr>
          <a:xfrm>
            <a:off x="3154680" y="2487168"/>
            <a:ext cx="740664" cy="292608"/>
          </a:xfrm>
          <a:prstGeom prst="rect">
            <a:avLst/>
          </a:prstGeom>
          <a:solidFill>
            <a:srgbClr val="F1F4F8"/>
          </a:solidFill>
          <a:ln w="12700">
            <a:solidFill>
              <a:srgbClr val="F1F4F8"/>
            </a:solidFill>
            <a:prstDash val="solid"/>
          </a:ln>
        </p:spPr>
      </p:sp>
      <p:sp>
        <p:nvSpPr>
          <p:cNvPr id="41" name="v:Looping:t1r2c0|b2"/>
          <p:cNvSpPr txBox="1"/>
          <p:nvPr/>
        </p:nvSpPr>
        <p:spPr>
          <a:xfrm>
            <a:off x="3200400" y="2487168"/>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2</a:t>
            </a:r>
            <a:endParaRPr lang="en-US" sz="1100" dirty="0"/>
          </a:p>
        </p:txBody>
      </p:sp>
      <p:sp>
        <p:nvSpPr>
          <p:cNvPr id="42" name="v:Looping:t1r2c1:box|b2"/>
          <p:cNvSpPr/>
          <p:nvPr/>
        </p:nvSpPr>
        <p:spPr>
          <a:xfrm>
            <a:off x="3931920" y="2487168"/>
            <a:ext cx="1837944" cy="292608"/>
          </a:xfrm>
          <a:prstGeom prst="rect">
            <a:avLst/>
          </a:prstGeom>
          <a:solidFill>
            <a:srgbClr val="F1F4F8"/>
          </a:solidFill>
          <a:ln w="12700">
            <a:solidFill>
              <a:srgbClr val="F1F4F8"/>
            </a:solidFill>
            <a:prstDash val="solid"/>
          </a:ln>
        </p:spPr>
      </p:sp>
      <p:sp>
        <p:nvSpPr>
          <p:cNvPr id="43" name="v:Looping:t1r2c1|b2"/>
          <p:cNvSpPr txBox="1"/>
          <p:nvPr/>
        </p:nvSpPr>
        <p:spPr>
          <a:xfrm>
            <a:off x="3977640" y="2487168"/>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flamethrowers</a:t>
            </a:r>
            <a:endParaRPr lang="en-US" sz="1100" dirty="0"/>
          </a:p>
        </p:txBody>
      </p:sp>
      <p:sp>
        <p:nvSpPr>
          <p:cNvPr id="44" name="v:Looping:t1r3c0:box|b2"/>
          <p:cNvSpPr/>
          <p:nvPr/>
        </p:nvSpPr>
        <p:spPr>
          <a:xfrm>
            <a:off x="3154680" y="2816352"/>
            <a:ext cx="740664" cy="292608"/>
          </a:xfrm>
          <a:prstGeom prst="rect">
            <a:avLst/>
          </a:prstGeom>
          <a:solidFill>
            <a:srgbClr val="F1F4F8"/>
          </a:solidFill>
          <a:ln w="12700">
            <a:solidFill>
              <a:srgbClr val="F1F4F8"/>
            </a:solidFill>
            <a:prstDash val="solid"/>
          </a:ln>
        </p:spPr>
      </p:sp>
      <p:sp>
        <p:nvSpPr>
          <p:cNvPr id="45" name="v:Looping:t1r3c0|b2"/>
          <p:cNvSpPr txBox="1"/>
          <p:nvPr/>
        </p:nvSpPr>
        <p:spPr>
          <a:xfrm>
            <a:off x="3200400" y="2816352"/>
            <a:ext cx="64922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3</a:t>
            </a:r>
            <a:endParaRPr lang="en-US" sz="1100" dirty="0"/>
          </a:p>
        </p:txBody>
      </p:sp>
      <p:sp>
        <p:nvSpPr>
          <p:cNvPr id="46" name="v:Looping:t1r3c1:box|b2"/>
          <p:cNvSpPr/>
          <p:nvPr/>
        </p:nvSpPr>
        <p:spPr>
          <a:xfrm>
            <a:off x="3931920" y="2816352"/>
            <a:ext cx="1837944" cy="292608"/>
          </a:xfrm>
          <a:prstGeom prst="rect">
            <a:avLst/>
          </a:prstGeom>
          <a:solidFill>
            <a:srgbClr val="F1F4F8"/>
          </a:solidFill>
          <a:ln w="12700">
            <a:solidFill>
              <a:srgbClr val="F1F4F8"/>
            </a:solidFill>
            <a:prstDash val="solid"/>
          </a:ln>
        </p:spPr>
      </p:sp>
      <p:sp>
        <p:nvSpPr>
          <p:cNvPr id="47" name="v:Looping:t1r3c1|b2"/>
          <p:cNvSpPr txBox="1"/>
          <p:nvPr/>
        </p:nvSpPr>
        <p:spPr>
          <a:xfrm>
            <a:off x="3977640" y="2816352"/>
            <a:ext cx="1746504" cy="2926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binders</a:t>
            </a:r>
            <a:endParaRPr lang="en-US" sz="1100" dirty="0"/>
          </a:p>
        </p:txBody>
      </p:sp>
      <p:sp>
        <p:nvSpPr>
          <p:cNvPr id="48" name="v:Looping:plabel|b3"/>
          <p:cNvSpPr txBox="1"/>
          <p:nvPr/>
        </p:nvSpPr>
        <p:spPr>
          <a:xfrm>
            <a:off x="6035040" y="1188720"/>
            <a:ext cx="2743200" cy="274320"/>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both loops printed</a:t>
            </a:r>
            <a:endParaRPr lang="en-US" sz="1200" dirty="0"/>
          </a:p>
        </p:txBody>
      </p:sp>
      <p:sp>
        <p:nvSpPr>
          <p:cNvPr id="49" name="v:Looping:pbox:box|b3"/>
          <p:cNvSpPr/>
          <p:nvPr/>
        </p:nvSpPr>
        <p:spPr>
          <a:xfrm>
            <a:off x="6035040" y="1517904"/>
            <a:ext cx="2743200" cy="1335024"/>
          </a:xfrm>
          <a:prstGeom prst="roundRect">
            <a:avLst>
              <a:gd name="adj" fmla="val 5479"/>
            </a:avLst>
          </a:prstGeom>
          <a:solidFill>
            <a:srgbClr val="17202B"/>
          </a:solidFill>
          <a:ln w="12700">
            <a:solidFill>
              <a:srgbClr val="17202B"/>
            </a:solidFill>
            <a:prstDash val="solid"/>
          </a:ln>
        </p:spPr>
      </p:sp>
      <p:sp>
        <p:nvSpPr>
          <p:cNvPr id="50" name="v:Looping:p0|b3"/>
          <p:cNvSpPr txBox="1"/>
          <p:nvPr/>
        </p:nvSpPr>
        <p:spPr>
          <a:xfrm>
            <a:off x="6144768" y="1554480"/>
            <a:ext cx="2560320" cy="292608"/>
          </a:xfrm>
          <a:prstGeom prst="rect">
            <a:avLst/>
          </a:prstGeom>
          <a:noFill/>
          <a:ln/>
        </p:spPr>
        <p:txBody>
          <a:bodyPr wrap="square" lIns="0" tIns="0" rIns="0" bIns="0" rtlCol="0" anchor="ctr"/>
          <a:lstStyle/>
          <a:p>
            <a:pPr indent="0" marL="0">
              <a:buNone/>
            </a:pPr>
            <a:r>
              <a:rPr lang="en-US" sz="1100" dirty="0">
                <a:solidFill>
                  <a:srgbClr val="E6EDF3"/>
                </a:solidFill>
                <a:latin typeface="Courier New" pitchFamily="34" charset="0"/>
                <a:ea typeface="Courier New" pitchFamily="34" charset="-122"/>
                <a:cs typeface="Courier New" pitchFamily="34" charset="-120"/>
              </a:rPr>
              <a:t>Index 0 in supplies is: pens</a:t>
            </a:r>
            <a:endParaRPr lang="en-US" sz="1100" dirty="0"/>
          </a:p>
        </p:txBody>
      </p:sp>
      <p:sp>
        <p:nvSpPr>
          <p:cNvPr id="51" name="v:Looping:p1|b3"/>
          <p:cNvSpPr txBox="1"/>
          <p:nvPr/>
        </p:nvSpPr>
        <p:spPr>
          <a:xfrm>
            <a:off x="6144768" y="1883664"/>
            <a:ext cx="2560320" cy="292608"/>
          </a:xfrm>
          <a:prstGeom prst="rect">
            <a:avLst/>
          </a:prstGeom>
          <a:noFill/>
          <a:ln/>
        </p:spPr>
        <p:txBody>
          <a:bodyPr wrap="square" lIns="0" tIns="0" rIns="0" bIns="0" rtlCol="0" anchor="ctr"/>
          <a:lstStyle/>
          <a:p>
            <a:pPr indent="0" marL="0">
              <a:buNone/>
            </a:pPr>
            <a:r>
              <a:rPr lang="en-US" sz="1024" dirty="0">
                <a:solidFill>
                  <a:srgbClr val="E6EDF3"/>
                </a:solidFill>
                <a:latin typeface="Courier New" pitchFamily="34" charset="0"/>
                <a:ea typeface="Courier New" pitchFamily="34" charset="-122"/>
                <a:cs typeface="Courier New" pitchFamily="34" charset="-120"/>
              </a:rPr>
              <a:t>Index 1 in supplies is: staplers</a:t>
            </a:r>
            <a:endParaRPr lang="en-US" sz="1024" dirty="0"/>
          </a:p>
        </p:txBody>
      </p:sp>
      <p:sp>
        <p:nvSpPr>
          <p:cNvPr id="52" name="v:Looping:p2|b3"/>
          <p:cNvSpPr txBox="1"/>
          <p:nvPr/>
        </p:nvSpPr>
        <p:spPr>
          <a:xfrm>
            <a:off x="6144768" y="2212848"/>
            <a:ext cx="2560320" cy="292608"/>
          </a:xfrm>
          <a:prstGeom prst="rect">
            <a:avLst/>
          </a:prstGeom>
          <a:noFill/>
          <a:ln/>
        </p:spPr>
        <p:txBody>
          <a:bodyPr wrap="square" lIns="0" tIns="0" rIns="0" bIns="0" rtlCol="0" anchor="ctr"/>
          <a:lstStyle/>
          <a:p>
            <a:pPr indent="0" marL="0">
              <a:buNone/>
            </a:pPr>
            <a:r>
              <a:rPr lang="en-US" sz="886" dirty="0">
                <a:solidFill>
                  <a:srgbClr val="E6EDF3"/>
                </a:solidFill>
                <a:latin typeface="Courier New" pitchFamily="34" charset="0"/>
                <a:ea typeface="Courier New" pitchFamily="34" charset="-122"/>
                <a:cs typeface="Courier New" pitchFamily="34" charset="-120"/>
              </a:rPr>
              <a:t>Index 2 in supplies is: flamethrowers</a:t>
            </a:r>
            <a:endParaRPr lang="en-US" sz="886" dirty="0"/>
          </a:p>
        </p:txBody>
      </p:sp>
      <p:sp>
        <p:nvSpPr>
          <p:cNvPr id="53" name="v:Looping:p3|b3"/>
          <p:cNvSpPr txBox="1"/>
          <p:nvPr/>
        </p:nvSpPr>
        <p:spPr>
          <a:xfrm>
            <a:off x="6144768" y="2542032"/>
            <a:ext cx="2560320" cy="292608"/>
          </a:xfrm>
          <a:prstGeom prst="rect">
            <a:avLst/>
          </a:prstGeom>
          <a:noFill/>
          <a:ln/>
        </p:spPr>
        <p:txBody>
          <a:bodyPr wrap="square" lIns="0" tIns="0" rIns="0" bIns="0" rtlCol="0" anchor="ctr"/>
          <a:lstStyle/>
          <a:p>
            <a:pPr indent="0" marL="0">
              <a:buNone/>
            </a:pPr>
            <a:r>
              <a:rPr lang="en-US" sz="1057" dirty="0">
                <a:solidFill>
                  <a:srgbClr val="E6EDF3"/>
                </a:solidFill>
                <a:latin typeface="Courier New" pitchFamily="34" charset="0"/>
                <a:ea typeface="Courier New" pitchFamily="34" charset="-122"/>
                <a:cs typeface="Courier New" pitchFamily="34" charset="-120"/>
              </a:rPr>
              <a:t>Index 3 in supplies is: binders</a:t>
            </a:r>
            <a:endParaRPr lang="en-US" sz="1057" dirty="0"/>
          </a:p>
        </p:txBody>
      </p:sp>
      <p:sp>
        <p:nvSpPr>
          <p:cNvPr id="54" name="v:Looping:startbox:box|b4"/>
          <p:cNvSpPr/>
          <p:nvPr/>
        </p:nvSpPr>
        <p:spPr>
          <a:xfrm>
            <a:off x="365760" y="3273552"/>
            <a:ext cx="8412480" cy="365760"/>
          </a:xfrm>
          <a:prstGeom prst="roundRect">
            <a:avLst>
              <a:gd name="adj" fmla="val 20000"/>
            </a:avLst>
          </a:prstGeom>
          <a:solidFill>
            <a:srgbClr val="FCEFD0"/>
          </a:solidFill>
          <a:ln w="12700">
            <a:solidFill>
              <a:srgbClr val="B7791F"/>
            </a:solidFill>
            <a:prstDash val="solid"/>
          </a:ln>
        </p:spPr>
      </p:sp>
      <p:sp>
        <p:nvSpPr>
          <p:cNvPr id="55" name="v:Looping:startexpr|b4"/>
          <p:cNvSpPr txBox="1"/>
          <p:nvPr/>
        </p:nvSpPr>
        <p:spPr>
          <a:xfrm>
            <a:off x="475488" y="3273552"/>
            <a:ext cx="4754880" cy="365760"/>
          </a:xfrm>
          <a:prstGeom prst="rect">
            <a:avLst/>
          </a:prstGeom>
          <a:noFill/>
          <a:ln/>
        </p:spPr>
        <p:txBody>
          <a:bodyPr wrap="square" lIns="0" tIns="0" rIns="0" bIns="0" rtlCol="0" anchor="ctr"/>
          <a:lstStyle/>
          <a:p>
            <a:pPr indent="0" marL="0">
              <a:buNone/>
            </a:pPr>
            <a:r>
              <a:rPr lang="en-US" sz="1150" b="1" dirty="0">
                <a:solidFill>
                  <a:srgbClr val="1E2A3A"/>
                </a:solidFill>
                <a:latin typeface="Courier New" pitchFamily="34" charset="0"/>
                <a:ea typeface="Courier New" pitchFamily="34" charset="-122"/>
                <a:cs typeface="Courier New" pitchFamily="34" charset="-120"/>
              </a:rPr>
              <a:t>list(enumerate(supplies, start=1))[0]</a:t>
            </a:r>
            <a:endParaRPr lang="en-US" sz="1150" dirty="0"/>
          </a:p>
        </p:txBody>
      </p:sp>
      <p:sp>
        <p:nvSpPr>
          <p:cNvPr id="56" name="v:Looping:startres|b4"/>
          <p:cNvSpPr txBox="1"/>
          <p:nvPr/>
        </p:nvSpPr>
        <p:spPr>
          <a:xfrm>
            <a:off x="5303520" y="3273552"/>
            <a:ext cx="3383280" cy="365760"/>
          </a:xfrm>
          <a:prstGeom prst="rect">
            <a:avLst/>
          </a:prstGeom>
          <a:noFill/>
          <a:ln/>
        </p:spPr>
        <p:txBody>
          <a:bodyPr wrap="square" lIns="0" tIns="0" rIns="0" bIns="0" rtlCol="0" anchor="ctr"/>
          <a:lstStyle/>
          <a:p>
            <a:pPr indent="0" marL="0">
              <a:buNone/>
            </a:pPr>
            <a:r>
              <a:rPr lang="en-US" sz="1200" b="1" dirty="0">
                <a:solidFill>
                  <a:srgbClr val="B7791F"/>
                </a:solidFill>
                <a:latin typeface="Courier New" pitchFamily="34" charset="0"/>
                <a:ea typeface="Courier New" pitchFamily="34" charset="-122"/>
                <a:cs typeface="Courier New" pitchFamily="34" charset="-120"/>
              </a:rPr>
              <a:t>(1, 'pens')</a:t>
            </a:r>
            <a:endParaRPr lang="en-US" sz="1200" dirty="0"/>
          </a:p>
        </p:txBody>
      </p:sp>
      <p:sp>
        <p:nvSpPr>
          <p:cNvPr id="57" name="say"/>
          <p:cNvSpPr txBox="1"/>
          <p:nvPr/>
        </p:nvSpPr>
        <p:spPr>
          <a:xfrm>
            <a:off x="365760" y="3794760"/>
            <a:ext cx="8412480" cy="6858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Both loops visit indexes 0 to 3 and print the same four lines; enumerate needs neither len nor range. Assigning to i inside the body does not change which index comes next.</a:t>
            </a:r>
            <a:endParaRPr lang="en-US" sz="1400" dirty="0"/>
          </a:p>
        </p:txBody>
      </p:sp>
      <p:sp>
        <p:nvSpPr>
          <p:cNvPr id="5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5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6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Loops and unpacking ▸ Range len loop, Enumerate loop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6" fill="hold">
                      <p:stCondLst>
                        <p:cond delay="indefinite"/>
                      </p:stCondLst>
                      <p:childTnLst>
                        <p:par>
                          <p:cTn id="6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00"/>
                                        <p:tgtEl>
                                          <p:spTgt spid="24"/>
                                        </p:tgtEl>
                                      </p:cBhvr>
                                    </p:animEffect>
                                  </p:childTnLst>
                                </p:cTn>
                              </p:par>
                              <p:par>
                                <p:cTn id="60" presetID="10" presetClass="entr" presetSubtype="0" fill="hold"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00"/>
                                        <p:tgtEl>
                                          <p:spTgt spid="2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00"/>
                                        <p:tgtEl>
                                          <p:spTgt spid="26"/>
                                        </p:tgtEl>
                                      </p:cBhvr>
                                    </p:animEffect>
                                  </p:childTnLst>
                                </p:cTn>
                              </p:par>
                            </p:childTnLst>
                          </p:cTn>
                        </p:par>
                      </p:childTnLst>
                    </p:cTn>
                  </p:par>
                  <p:par>
                    <p:cTn id="131" fill="hold">
                      <p:stCondLst>
                        <p:cond delay="indefinite"/>
                      </p:stCondLst>
                      <p:childTnLst>
                        <p:par>
                          <p:cTn id="132"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00"/>
                                        <p:tgtEl>
                                          <p:spTgt spid="27"/>
                                        </p:tgtEl>
                                      </p:cBhvr>
                                    </p:animEffect>
                                  </p:childTnLst>
                                </p:cTn>
                              </p:par>
                              <p:par>
                                <p:cTn id="71" presetID="10" presetClass="entr" presetSubtype="0" fill="hold"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00"/>
                                        <p:tgtEl>
                                          <p:spTgt spid="2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00"/>
                                        <p:tgtEl>
                                          <p:spTgt spid="29"/>
                                        </p:tgtEl>
                                      </p:cBhvr>
                                    </p:animEffect>
                                  </p:childTnLst>
                                </p:cTn>
                              </p:par>
                              <p:par>
                                <p:cTn id="77" presetID="10" presetClass="entr" presetSubtype="0" fill="hold"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00"/>
                                        <p:tgtEl>
                                          <p:spTgt spid="3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00"/>
                                        <p:tgtEl>
                                          <p:spTgt spid="31"/>
                                        </p:tgtEl>
                                      </p:cBhvr>
                                    </p:animEffect>
                                  </p:childTnLst>
                                </p:cTn>
                              </p:par>
                              <p:par>
                                <p:cTn id="83" presetID="10" presetClass="entr" presetSubtype="0" fill="hold"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00"/>
                                        <p:tgtEl>
                                          <p:spTgt spid="33"/>
                                        </p:tgtEl>
                                      </p:cBhvr>
                                    </p:animEffect>
                                  </p:childTnLst>
                                </p:cTn>
                              </p:par>
                              <p:par>
                                <p:cTn id="89" presetID="10" presetClass="entr" presetSubtype="0" fill="hold"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par>
                                <p:cTn id="107" presetID="10" presetClass="entr" presetSubtype="0" fill="hold"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400"/>
                                        <p:tgtEl>
                                          <p:spTgt spid="4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400"/>
                                        <p:tgtEl>
                                          <p:spTgt spid="41"/>
                                        </p:tgtEl>
                                      </p:cBhvr>
                                    </p:animEffect>
                                  </p:childTnLst>
                                </p:cTn>
                              </p:par>
                              <p:par>
                                <p:cTn id="113" presetID="10" presetClass="entr" presetSubtype="0" fill="hold"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00"/>
                                        <p:tgtEl>
                                          <p:spTgt spid="4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00"/>
                                        <p:tgtEl>
                                          <p:spTgt spid="43"/>
                                        </p:tgtEl>
                                      </p:cBhvr>
                                    </p:animEffect>
                                  </p:childTnLst>
                                </p:cTn>
                              </p:par>
                              <p:par>
                                <p:cTn id="119" presetID="10" presetClass="entr" presetSubtype="0" fill="hold"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400"/>
                                        <p:tgtEl>
                                          <p:spTgt spid="44"/>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400"/>
                                        <p:tgtEl>
                                          <p:spTgt spid="45"/>
                                        </p:tgtEl>
                                      </p:cBhvr>
                                    </p:animEffect>
                                  </p:childTnLst>
                                </p:cTn>
                              </p:par>
                              <p:par>
                                <p:cTn id="125" presetID="10" presetClass="entr" presetSubtype="0" fill="hold"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400"/>
                                        <p:tgtEl>
                                          <p:spTgt spid="46"/>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400"/>
                                        <p:tgtEl>
                                          <p:spTgt spid="47"/>
                                        </p:tgtEl>
                                      </p:cBhvr>
                                    </p:animEffect>
                                  </p:childTnLst>
                                </p:cTn>
                              </p:par>
                            </p:childTnLst>
                          </p:cTn>
                        </p:par>
                      </p:childTnLst>
                    </p:cTn>
                  </p:par>
                  <p:par>
                    <p:cTn id="151" fill="hold">
                      <p:stCondLst>
                        <p:cond delay="indefinite"/>
                      </p:stCondLst>
                      <p:childTnLst>
                        <p:par>
                          <p:cTn id="152" fill="hold">
                            <p:stCondLst>
                              <p:cond delay="0"/>
                            </p:stCondLst>
                            <p:childTnLst>
                              <p:par>
                                <p:cTn id="133" presetID="10" presetClass="entr" presetSubtype="0" fill="hold" grpId="0" nodeType="clickEffect">
                                  <p:stCondLst>
                                    <p:cond delay="0"/>
                                  </p:stCondLst>
                                  <p:childTnLst>
                                    <p:set>
                                      <p:cBhvr>
                                        <p:cTn id="134" dur="1" fill="hold">
                                          <p:stCondLst>
                                            <p:cond delay="0"/>
                                          </p:stCondLst>
                                        </p:cTn>
                                        <p:tgtEl>
                                          <p:spTgt spid="48"/>
                                        </p:tgtEl>
                                        <p:attrNameLst>
                                          <p:attrName>style.visibility</p:attrName>
                                        </p:attrNameLst>
                                      </p:cBhvr>
                                      <p:to>
                                        <p:strVal val="visible"/>
                                      </p:to>
                                    </p:set>
                                    <p:animEffect transition="in" filter="fade">
                                      <p:cBhvr>
                                        <p:cTn id="135" dur="400"/>
                                        <p:tgtEl>
                                          <p:spTgt spid="48"/>
                                        </p:tgtEl>
                                      </p:cBhvr>
                                    </p:animEffect>
                                  </p:childTnLst>
                                </p:cTn>
                              </p:par>
                              <p:par>
                                <p:cTn id="136" presetID="10" presetClass="entr" presetSubtype="0" fill="hold" nodeType="withEffect">
                                  <p:stCondLst>
                                    <p:cond delay="0"/>
                                  </p:stCondLst>
                                  <p:childTnLst>
                                    <p:set>
                                      <p:cBhvr>
                                        <p:cTn id="137" dur="1" fill="hold">
                                          <p:stCondLst>
                                            <p:cond delay="0"/>
                                          </p:stCondLst>
                                        </p:cTn>
                                        <p:tgtEl>
                                          <p:spTgt spid="49"/>
                                        </p:tgtEl>
                                        <p:attrNameLst>
                                          <p:attrName>style.visibility</p:attrName>
                                        </p:attrNameLst>
                                      </p:cBhvr>
                                      <p:to>
                                        <p:strVal val="visible"/>
                                      </p:to>
                                    </p:set>
                                    <p:animEffect transition="in" filter="fade">
                                      <p:cBhvr>
                                        <p:cTn id="138" dur="400"/>
                                        <p:tgtEl>
                                          <p:spTgt spid="49"/>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50"/>
                                        </p:tgtEl>
                                        <p:attrNameLst>
                                          <p:attrName>style.visibility</p:attrName>
                                        </p:attrNameLst>
                                      </p:cBhvr>
                                      <p:to>
                                        <p:strVal val="visible"/>
                                      </p:to>
                                    </p:set>
                                    <p:animEffect transition="in" filter="fade">
                                      <p:cBhvr>
                                        <p:cTn id="141" dur="400"/>
                                        <p:tgtEl>
                                          <p:spTgt spid="50"/>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1"/>
                                        </p:tgtEl>
                                        <p:attrNameLst>
                                          <p:attrName>style.visibility</p:attrName>
                                        </p:attrNameLst>
                                      </p:cBhvr>
                                      <p:to>
                                        <p:strVal val="visible"/>
                                      </p:to>
                                    </p:set>
                                    <p:animEffect transition="in" filter="fade">
                                      <p:cBhvr>
                                        <p:cTn id="144" dur="400"/>
                                        <p:tgtEl>
                                          <p:spTgt spid="51"/>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52"/>
                                        </p:tgtEl>
                                        <p:attrNameLst>
                                          <p:attrName>style.visibility</p:attrName>
                                        </p:attrNameLst>
                                      </p:cBhvr>
                                      <p:to>
                                        <p:strVal val="visible"/>
                                      </p:to>
                                    </p:set>
                                    <p:animEffect transition="in" filter="fade">
                                      <p:cBhvr>
                                        <p:cTn id="147" dur="400"/>
                                        <p:tgtEl>
                                          <p:spTgt spid="52"/>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53"/>
                                        </p:tgtEl>
                                        <p:attrNameLst>
                                          <p:attrName>style.visibility</p:attrName>
                                        </p:attrNameLst>
                                      </p:cBhvr>
                                      <p:to>
                                        <p:strVal val="visible"/>
                                      </p:to>
                                    </p:set>
                                    <p:animEffect transition="in" filter="fade">
                                      <p:cBhvr>
                                        <p:cTn id="150" dur="400"/>
                                        <p:tgtEl>
                                          <p:spTgt spid="53"/>
                                        </p:tgtEl>
                                      </p:cBhvr>
                                    </p:animEffect>
                                  </p:childTnLst>
                                </p:cTn>
                              </p:par>
                            </p:childTnLst>
                          </p:cTn>
                        </p:par>
                      </p:childTnLst>
                    </p:cTn>
                  </p:par>
                  <p:par>
                    <p:cTn id="162" fill="hold">
                      <p:stCondLst>
                        <p:cond delay="indefinite"/>
                      </p:stCondLst>
                      <p:childTnLst>
                        <p:par>
                          <p:cTn id="163" fill="hold">
                            <p:stCondLst>
                              <p:cond delay="0"/>
                            </p:stCondLst>
                            <p:childTnLst>
                              <p:par>
                                <p:cTn id="153" presetID="10" presetClass="entr" presetSubtype="0" fill="hold" nodeType="clickEffect">
                                  <p:stCondLst>
                                    <p:cond delay="0"/>
                                  </p:stCondLst>
                                  <p:childTnLst>
                                    <p:set>
                                      <p:cBhvr>
                                        <p:cTn id="154" dur="1" fill="hold">
                                          <p:stCondLst>
                                            <p:cond delay="0"/>
                                          </p:stCondLst>
                                        </p:cTn>
                                        <p:tgtEl>
                                          <p:spTgt spid="54"/>
                                        </p:tgtEl>
                                        <p:attrNameLst>
                                          <p:attrName>style.visibility</p:attrName>
                                        </p:attrNameLst>
                                      </p:cBhvr>
                                      <p:to>
                                        <p:strVal val="visible"/>
                                      </p:to>
                                    </p:set>
                                    <p:animEffect transition="in" filter="fade">
                                      <p:cBhvr>
                                        <p:cTn id="155" dur="400"/>
                                        <p:tgtEl>
                                          <p:spTgt spid="54"/>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55"/>
                                        </p:tgtEl>
                                        <p:attrNameLst>
                                          <p:attrName>style.visibility</p:attrName>
                                        </p:attrNameLst>
                                      </p:cBhvr>
                                      <p:to>
                                        <p:strVal val="visible"/>
                                      </p:to>
                                    </p:set>
                                    <p:animEffect transition="in" filter="fade">
                                      <p:cBhvr>
                                        <p:cTn id="158" dur="400"/>
                                        <p:tgtEl>
                                          <p:spTgt spid="55"/>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56"/>
                                        </p:tgtEl>
                                        <p:attrNameLst>
                                          <p:attrName>style.visibility</p:attrName>
                                        </p:attrNameLst>
                                      </p:cBhvr>
                                      <p:to>
                                        <p:strVal val="visible"/>
                                      </p:to>
                                    </p:set>
                                    <p:animEffect transition="in" filter="fade">
                                      <p:cBhvr>
                                        <p:cTn id="161"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14" grpId="0" animBg="1"/>
      <p:bldP spid="16" grpId="0" animBg="1"/>
      <p:bldP spid="18" grpId="0" animBg="1"/>
      <p:bldP spid="20" grpId="0" animBg="1"/>
      <p:bldP spid="22" grpId="0" animBg="1"/>
      <p:bldP spid="24" grpId="0" animBg="1"/>
      <p:bldP spid="26" grpId="0" animBg="1"/>
      <p:bldP spid="27" grpId="0" animBg="1"/>
      <p:bldP spid="29" grpId="0" animBg="1"/>
      <p:bldP spid="31" grpId="0" animBg="1"/>
      <p:bldP spid="33" grpId="0" animBg="1"/>
      <p:bldP spid="35" grpId="0" animBg="1"/>
      <p:bldP spid="37" grpId="0" animBg="1"/>
      <p:bldP spid="39" grpId="0" animBg="1"/>
      <p:bldP spid="41" grpId="0" animBg="1"/>
      <p:bldP spid="43" grpId="0" animBg="1"/>
      <p:bldP spid="45" grpId="0" animBg="1"/>
      <p:bldP spid="47" grpId="0" animBg="1"/>
      <p:bldP spid="48" grpId="0" animBg="1"/>
      <p:bldP spid="50" grpId="0" animBg="1"/>
      <p:bldP spid="51" grpId="0" animBg="1"/>
      <p:bldP spid="52" grpId="0" animBg="1"/>
      <p:bldP spid="53" grpId="0" animBg="1"/>
      <p:bldP spid="55" grpId="0" animBg="1"/>
      <p:bldP spid="5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Pitfall: removing while looping skips items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list iterator counts positions, not values</a:t>
            </a:r>
            <a:endParaRPr lang="en-US" sz="1400" dirty="0"/>
          </a:p>
        </p:txBody>
      </p:sp>
      <p:sp>
        <p:nvSpPr>
          <p:cNvPr id="6" name="l1"/>
          <p:cNvSpPr txBox="1"/>
          <p:nvPr/>
        </p:nvSpPr>
        <p:spPr>
          <a:xfrm>
            <a:off x="365760" y="1143000"/>
            <a:ext cx="3291840" cy="237744"/>
          </a:xfrm>
          <a:prstGeom prst="rect">
            <a:avLst/>
          </a:prstGeom>
          <a:noFill/>
          <a:ln/>
        </p:spPr>
        <p:txBody>
          <a:bodyPr wrap="square" lIns="0" tIns="0" rIns="0" bIns="0" rtlCol="0" anchor="ctr"/>
          <a:lstStyle/>
          <a:p>
            <a:pPr indent="0" marL="0">
              <a:buNone/>
            </a:pPr>
            <a:r>
              <a:rPr lang="en-US" sz="1200" b="1" dirty="0">
                <a:solidFill>
                  <a:srgbClr val="D64545"/>
                </a:solidFill>
                <a:latin typeface="Calibri" pitchFamily="34" charset="0"/>
                <a:ea typeface="Calibri" pitchFamily="34" charset="-122"/>
                <a:cs typeface="Calibri" pitchFamily="34" charset="-120"/>
              </a:rPr>
              <a:t>Before: remove while walking</a:t>
            </a:r>
            <a:endParaRPr lang="en-US" sz="1200" dirty="0"/>
          </a:p>
        </p:txBody>
      </p:sp>
      <p:sp>
        <p:nvSpPr>
          <p:cNvPr id="7" name="progbox"/>
          <p:cNvSpPr/>
          <p:nvPr/>
        </p:nvSpPr>
        <p:spPr>
          <a:xfrm>
            <a:off x="365760" y="1389888"/>
            <a:ext cx="3520440" cy="1115568"/>
          </a:xfrm>
          <a:prstGeom prst="roundRect">
            <a:avLst>
              <a:gd name="adj" fmla="val 8197"/>
            </a:avLst>
          </a:prstGeom>
          <a:solidFill>
            <a:srgbClr val="17202B"/>
          </a:solidFill>
          <a:ln w="12700">
            <a:solidFill>
              <a:srgbClr val="17202B"/>
            </a:solidFill>
            <a:prstDash val="solid"/>
          </a:ln>
        </p:spPr>
      </p:sp>
      <p:sp>
        <p:nvSpPr>
          <p:cNvPr id="8" name="prog"/>
          <p:cNvSpPr txBox="1"/>
          <p:nvPr/>
        </p:nvSpPr>
        <p:spPr>
          <a:xfrm>
            <a:off x="502920" y="1463040"/>
            <a:ext cx="3246120" cy="969264"/>
          </a:xfrm>
          <a:prstGeom prst="rect">
            <a:avLst/>
          </a:prstGeom>
          <a:noFill/>
          <a:ln/>
        </p:spPr>
        <p:txBody>
          <a:bodyPr wrap="square" lIns="0" tIns="0" rIns="0" bIns="0" rtlCol="0" anchor="t"/>
          <a:lstStyle/>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items = [1, 2, 3, 4]</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for x in items:</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if x &lt; 3:</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items.remove(x)</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print(items)</a:t>
            </a:r>
            <a:endParaRPr lang="en-US" sz="1100" dirty="0"/>
          </a:p>
        </p:txBody>
      </p:sp>
      <p:sp>
        <p:nvSpPr>
          <p:cNvPr id="9" name="transbox"/>
          <p:cNvSpPr/>
          <p:nvPr/>
        </p:nvSpPr>
        <p:spPr>
          <a:xfrm>
            <a:off x="365760" y="2542032"/>
            <a:ext cx="3520440" cy="329184"/>
          </a:xfrm>
          <a:prstGeom prst="roundRect">
            <a:avLst>
              <a:gd name="adj" fmla="val 27778"/>
            </a:avLst>
          </a:prstGeom>
          <a:solidFill>
            <a:srgbClr val="F1F4F8"/>
          </a:solidFill>
          <a:ln w="12700">
            <a:solidFill>
              <a:srgbClr val="F1F4F8"/>
            </a:solidFill>
            <a:prstDash val="solid"/>
          </a:ln>
        </p:spPr>
      </p:sp>
      <p:sp>
        <p:nvSpPr>
          <p:cNvPr id="10" name="trans"/>
          <p:cNvSpPr txBox="1"/>
          <p:nvPr/>
        </p:nvSpPr>
        <p:spPr>
          <a:xfrm>
            <a:off x="475488" y="2596896"/>
            <a:ext cx="3300984" cy="21945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[2, 3, 4]</a:t>
            </a:r>
            <a:endParaRPr lang="en-US" sz="1200" dirty="0"/>
          </a:p>
        </p:txBody>
      </p:sp>
      <p:sp>
        <p:nvSpPr>
          <p:cNvPr id="11" name="transcap"/>
          <p:cNvSpPr txBox="1"/>
          <p:nvPr/>
        </p:nvSpPr>
        <p:spPr>
          <a:xfrm>
            <a:off x="365760" y="2889504"/>
            <a:ext cx="3520440" cy="182880"/>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2" name="l2|b6"/>
          <p:cNvSpPr txBox="1"/>
          <p:nvPr/>
        </p:nvSpPr>
        <p:spPr>
          <a:xfrm>
            <a:off x="365760" y="3154680"/>
            <a:ext cx="3520440" cy="237744"/>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After: build a new list</a:t>
            </a:r>
            <a:endParaRPr lang="en-US" sz="1200" dirty="0"/>
          </a:p>
        </p:txBody>
      </p:sp>
      <p:sp>
        <p:nvSpPr>
          <p:cNvPr id="13" name="progbox|b6"/>
          <p:cNvSpPr/>
          <p:nvPr/>
        </p:nvSpPr>
        <p:spPr>
          <a:xfrm>
            <a:off x="365760" y="3401568"/>
            <a:ext cx="3520440" cy="685800"/>
          </a:xfrm>
          <a:prstGeom prst="roundRect">
            <a:avLst>
              <a:gd name="adj" fmla="val 13333"/>
            </a:avLst>
          </a:prstGeom>
          <a:solidFill>
            <a:srgbClr val="17202B"/>
          </a:solidFill>
          <a:ln w="12700">
            <a:solidFill>
              <a:srgbClr val="17202B"/>
            </a:solidFill>
            <a:prstDash val="solid"/>
          </a:ln>
        </p:spPr>
      </p:sp>
      <p:sp>
        <p:nvSpPr>
          <p:cNvPr id="14" name="prog|b6"/>
          <p:cNvSpPr txBox="1"/>
          <p:nvPr/>
        </p:nvSpPr>
        <p:spPr>
          <a:xfrm>
            <a:off x="502920" y="3474720"/>
            <a:ext cx="3246120" cy="539496"/>
          </a:xfrm>
          <a:prstGeom prst="rect">
            <a:avLst/>
          </a:prstGeom>
          <a:noFill/>
          <a:ln/>
        </p:spPr>
        <p:txBody>
          <a:bodyPr wrap="square" lIns="0" tIns="0" rIns="0" bIns="0" rtlCol="0" anchor="t"/>
          <a:lstStyle/>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items = [1, 2, 3, 4]</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items = [x for x in items if x &gt;= 3]</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print(items)</a:t>
            </a:r>
            <a:endParaRPr lang="en-US" sz="1050" dirty="0"/>
          </a:p>
        </p:txBody>
      </p:sp>
      <p:sp>
        <p:nvSpPr>
          <p:cNvPr id="15" name="transbox|b6"/>
          <p:cNvSpPr/>
          <p:nvPr/>
        </p:nvSpPr>
        <p:spPr>
          <a:xfrm>
            <a:off x="365760" y="4114800"/>
            <a:ext cx="3520440" cy="329184"/>
          </a:xfrm>
          <a:prstGeom prst="roundRect">
            <a:avLst>
              <a:gd name="adj" fmla="val 27778"/>
            </a:avLst>
          </a:prstGeom>
          <a:solidFill>
            <a:srgbClr val="F1F4F8"/>
          </a:solidFill>
          <a:ln w="12700">
            <a:solidFill>
              <a:srgbClr val="F1F4F8"/>
            </a:solidFill>
            <a:prstDash val="solid"/>
          </a:ln>
        </p:spPr>
      </p:sp>
      <p:sp>
        <p:nvSpPr>
          <p:cNvPr id="16" name="trans|b6"/>
          <p:cNvSpPr txBox="1"/>
          <p:nvPr/>
        </p:nvSpPr>
        <p:spPr>
          <a:xfrm>
            <a:off x="475488" y="4169664"/>
            <a:ext cx="3300984" cy="21945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[3, 4]</a:t>
            </a:r>
            <a:endParaRPr lang="en-US" sz="1200" dirty="0"/>
          </a:p>
        </p:txBody>
      </p:sp>
      <p:sp>
        <p:nvSpPr>
          <p:cNvPr id="17" name="transcap|b6"/>
          <p:cNvSpPr txBox="1"/>
          <p:nvPr/>
        </p:nvSpPr>
        <p:spPr>
          <a:xfrm>
            <a:off x="365760" y="4462272"/>
            <a:ext cx="3520440" cy="182880"/>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8" name="mutrow|b1"/>
          <p:cNvSpPr/>
          <p:nvPr/>
        </p:nvSpPr>
        <p:spPr>
          <a:xfrm>
            <a:off x="4069080" y="1188720"/>
            <a:ext cx="4709160" cy="475488"/>
          </a:xfrm>
          <a:prstGeom prst="roundRect">
            <a:avLst>
              <a:gd name="adj" fmla="val 11538"/>
            </a:avLst>
          </a:prstGeom>
          <a:solidFill>
            <a:srgbClr val="F1F4F8"/>
          </a:solidFill>
          <a:ln w="12700">
            <a:solidFill>
              <a:srgbClr val="F1F4F8"/>
            </a:solidFill>
            <a:prstDash val="solid"/>
          </a:ln>
        </p:spPr>
      </p:sp>
      <p:sp>
        <p:nvSpPr>
          <p:cNvPr id="19" name="v:MutationWhileIterating:p0h|b1"/>
          <p:cNvSpPr txBox="1"/>
          <p:nvPr/>
        </p:nvSpPr>
        <p:spPr>
          <a:xfrm>
            <a:off x="4160520" y="1188720"/>
            <a:ext cx="1600200" cy="475488"/>
          </a:xfrm>
          <a:prstGeom prst="rect">
            <a:avLst/>
          </a:prstGeom>
          <a:noFill/>
          <a:ln/>
        </p:spPr>
        <p:txBody>
          <a:bodyPr wrap="square" lIns="0" tIns="0" rIns="0" bIns="0" rtlCol="0" anchor="ctr"/>
          <a:lstStyle/>
          <a:p>
            <a:pPr indent="0" marL="0">
              <a:buNone/>
            </a:pPr>
            <a:r>
              <a:rPr lang="en-US" sz="1000" b="1" dirty="0">
                <a:solidFill>
                  <a:srgbClr val="1E2A3A"/>
                </a:solidFill>
                <a:latin typeface="Courier New" pitchFamily="34" charset="0"/>
                <a:ea typeface="Courier New" pitchFamily="34" charset="-122"/>
                <a:cs typeface="Courier New" pitchFamily="34" charset="-120"/>
              </a:rPr>
              <a:t>pass 1 · position 0 · x = 1</a:t>
            </a:r>
            <a:endParaRPr lang="en-US" sz="1000" dirty="0"/>
          </a:p>
        </p:txBody>
      </p:sp>
      <p:sp>
        <p:nvSpPr>
          <p:cNvPr id="20" name="v:MutationWhileIterating:p0b0:box|b1"/>
          <p:cNvSpPr/>
          <p:nvPr/>
        </p:nvSpPr>
        <p:spPr>
          <a:xfrm>
            <a:off x="5852160" y="1280160"/>
            <a:ext cx="457200" cy="292608"/>
          </a:xfrm>
          <a:prstGeom prst="roundRect">
            <a:avLst>
              <a:gd name="adj" fmla="val 15625"/>
            </a:avLst>
          </a:prstGeom>
          <a:solidFill>
            <a:srgbClr val="FFD43B"/>
          </a:solidFill>
          <a:ln w="25400">
            <a:solidFill>
              <a:srgbClr val="B7791F"/>
            </a:solidFill>
            <a:prstDash val="solid"/>
          </a:ln>
        </p:spPr>
      </p:sp>
      <p:sp>
        <p:nvSpPr>
          <p:cNvPr id="21" name="v:MutationWhileIterating:p0b0|b1"/>
          <p:cNvSpPr txBox="1"/>
          <p:nvPr/>
        </p:nvSpPr>
        <p:spPr>
          <a:xfrm>
            <a:off x="5870448" y="128016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1</a:t>
            </a:r>
            <a:endParaRPr lang="en-US" sz="1200" dirty="0"/>
          </a:p>
        </p:txBody>
      </p:sp>
      <p:sp>
        <p:nvSpPr>
          <p:cNvPr id="22" name="v:MutationWhileIterating:p0b1:box|b1"/>
          <p:cNvSpPr/>
          <p:nvPr/>
        </p:nvSpPr>
        <p:spPr>
          <a:xfrm>
            <a:off x="6355080" y="1280160"/>
            <a:ext cx="457200" cy="292608"/>
          </a:xfrm>
          <a:prstGeom prst="roundRect">
            <a:avLst>
              <a:gd name="adj" fmla="val 15625"/>
            </a:avLst>
          </a:prstGeom>
          <a:solidFill>
            <a:srgbClr val="E3EEF8"/>
          </a:solidFill>
          <a:ln w="15875">
            <a:solidFill>
              <a:srgbClr val="306998"/>
            </a:solidFill>
            <a:prstDash val="solid"/>
          </a:ln>
        </p:spPr>
      </p:sp>
      <p:sp>
        <p:nvSpPr>
          <p:cNvPr id="23" name="v:MutationWhileIterating:p0b1|b1"/>
          <p:cNvSpPr txBox="1"/>
          <p:nvPr/>
        </p:nvSpPr>
        <p:spPr>
          <a:xfrm>
            <a:off x="6373368" y="128016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2</a:t>
            </a:r>
            <a:endParaRPr lang="en-US" sz="1200" dirty="0"/>
          </a:p>
        </p:txBody>
      </p:sp>
      <p:sp>
        <p:nvSpPr>
          <p:cNvPr id="24" name="v:MutationWhileIterating:p0b2:box|b1"/>
          <p:cNvSpPr/>
          <p:nvPr/>
        </p:nvSpPr>
        <p:spPr>
          <a:xfrm>
            <a:off x="6858000" y="1280160"/>
            <a:ext cx="457200" cy="292608"/>
          </a:xfrm>
          <a:prstGeom prst="roundRect">
            <a:avLst>
              <a:gd name="adj" fmla="val 15625"/>
            </a:avLst>
          </a:prstGeom>
          <a:solidFill>
            <a:srgbClr val="E3EEF8"/>
          </a:solidFill>
          <a:ln w="15875">
            <a:solidFill>
              <a:srgbClr val="306998"/>
            </a:solidFill>
            <a:prstDash val="solid"/>
          </a:ln>
        </p:spPr>
      </p:sp>
      <p:sp>
        <p:nvSpPr>
          <p:cNvPr id="25" name="v:MutationWhileIterating:p0b2|b1"/>
          <p:cNvSpPr txBox="1"/>
          <p:nvPr/>
        </p:nvSpPr>
        <p:spPr>
          <a:xfrm>
            <a:off x="6876288" y="128016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3</a:t>
            </a:r>
            <a:endParaRPr lang="en-US" sz="1200" dirty="0"/>
          </a:p>
        </p:txBody>
      </p:sp>
      <p:sp>
        <p:nvSpPr>
          <p:cNvPr id="26" name="v:MutationWhileIterating:p0b3:box|b1"/>
          <p:cNvSpPr/>
          <p:nvPr/>
        </p:nvSpPr>
        <p:spPr>
          <a:xfrm>
            <a:off x="7360920" y="1280160"/>
            <a:ext cx="457200" cy="292608"/>
          </a:xfrm>
          <a:prstGeom prst="roundRect">
            <a:avLst>
              <a:gd name="adj" fmla="val 15625"/>
            </a:avLst>
          </a:prstGeom>
          <a:solidFill>
            <a:srgbClr val="E3EEF8"/>
          </a:solidFill>
          <a:ln w="15875">
            <a:solidFill>
              <a:srgbClr val="306998"/>
            </a:solidFill>
            <a:prstDash val="solid"/>
          </a:ln>
        </p:spPr>
      </p:sp>
      <p:sp>
        <p:nvSpPr>
          <p:cNvPr id="27" name="v:MutationWhileIterating:p0b3|b1"/>
          <p:cNvSpPr txBox="1"/>
          <p:nvPr/>
        </p:nvSpPr>
        <p:spPr>
          <a:xfrm>
            <a:off x="7379208" y="128016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4</a:t>
            </a:r>
            <a:endParaRPr lang="en-US" sz="1200" dirty="0"/>
          </a:p>
        </p:txBody>
      </p:sp>
      <p:sp>
        <p:nvSpPr>
          <p:cNvPr id="28" name="v:MutationWhileIterating:p0a|b1"/>
          <p:cNvSpPr txBox="1"/>
          <p:nvPr/>
        </p:nvSpPr>
        <p:spPr>
          <a:xfrm>
            <a:off x="7955280" y="1188720"/>
            <a:ext cx="731520" cy="475488"/>
          </a:xfrm>
          <a:prstGeom prst="rect">
            <a:avLst/>
          </a:prstGeom>
          <a:noFill/>
          <a:ln/>
        </p:spPr>
        <p:txBody>
          <a:bodyPr wrap="square" lIns="0" tIns="0" rIns="0" bIns="0" rtlCol="0" anchor="ctr"/>
          <a:lstStyle/>
          <a:p>
            <a:pPr indent="0" marL="0">
              <a:buNone/>
            </a:pPr>
            <a:r>
              <a:rPr lang="en-US" sz="1200" b="1" dirty="0">
                <a:solidFill>
                  <a:srgbClr val="D64545"/>
                </a:solidFill>
                <a:latin typeface="Calibri" pitchFamily="34" charset="0"/>
                <a:ea typeface="Calibri" pitchFamily="34" charset="-122"/>
                <a:cs typeface="Calibri" pitchFamily="34" charset="-120"/>
              </a:rPr>
              <a:t>removes 1</a:t>
            </a:r>
            <a:endParaRPr lang="en-US" sz="1200" dirty="0"/>
          </a:p>
        </p:txBody>
      </p:sp>
      <p:sp>
        <p:nvSpPr>
          <p:cNvPr id="29" name="mutrow|b2"/>
          <p:cNvSpPr/>
          <p:nvPr/>
        </p:nvSpPr>
        <p:spPr>
          <a:xfrm>
            <a:off x="4069080" y="1737360"/>
            <a:ext cx="4709160" cy="475488"/>
          </a:xfrm>
          <a:prstGeom prst="roundRect">
            <a:avLst>
              <a:gd name="adj" fmla="val 11538"/>
            </a:avLst>
          </a:prstGeom>
          <a:solidFill>
            <a:srgbClr val="F1F4F8"/>
          </a:solidFill>
          <a:ln w="12700">
            <a:solidFill>
              <a:srgbClr val="F1F4F8"/>
            </a:solidFill>
            <a:prstDash val="solid"/>
          </a:ln>
        </p:spPr>
      </p:sp>
      <p:sp>
        <p:nvSpPr>
          <p:cNvPr id="30" name="v:MutationWhileIterating:p1h|b2"/>
          <p:cNvSpPr txBox="1"/>
          <p:nvPr/>
        </p:nvSpPr>
        <p:spPr>
          <a:xfrm>
            <a:off x="4160520" y="1737360"/>
            <a:ext cx="1600200" cy="475488"/>
          </a:xfrm>
          <a:prstGeom prst="rect">
            <a:avLst/>
          </a:prstGeom>
          <a:noFill/>
          <a:ln/>
        </p:spPr>
        <p:txBody>
          <a:bodyPr wrap="square" lIns="0" tIns="0" rIns="0" bIns="0" rtlCol="0" anchor="ctr"/>
          <a:lstStyle/>
          <a:p>
            <a:pPr indent="0" marL="0">
              <a:buNone/>
            </a:pPr>
            <a:r>
              <a:rPr lang="en-US" sz="1000" b="1" dirty="0">
                <a:solidFill>
                  <a:srgbClr val="1E2A3A"/>
                </a:solidFill>
                <a:latin typeface="Courier New" pitchFamily="34" charset="0"/>
                <a:ea typeface="Courier New" pitchFamily="34" charset="-122"/>
                <a:cs typeface="Courier New" pitchFamily="34" charset="-120"/>
              </a:rPr>
              <a:t>pass 2 · position 1 · x = 3</a:t>
            </a:r>
            <a:endParaRPr lang="en-US" sz="1000" dirty="0"/>
          </a:p>
        </p:txBody>
      </p:sp>
      <p:sp>
        <p:nvSpPr>
          <p:cNvPr id="31" name="v:MutationWhileIterating:p1b0:box|b2"/>
          <p:cNvSpPr/>
          <p:nvPr/>
        </p:nvSpPr>
        <p:spPr>
          <a:xfrm>
            <a:off x="5852160" y="1828800"/>
            <a:ext cx="457200" cy="292608"/>
          </a:xfrm>
          <a:prstGeom prst="roundRect">
            <a:avLst>
              <a:gd name="adj" fmla="val 15625"/>
            </a:avLst>
          </a:prstGeom>
          <a:solidFill>
            <a:srgbClr val="E3EEF8"/>
          </a:solidFill>
          <a:ln w="15875">
            <a:solidFill>
              <a:srgbClr val="306998"/>
            </a:solidFill>
            <a:prstDash val="solid"/>
          </a:ln>
        </p:spPr>
      </p:sp>
      <p:sp>
        <p:nvSpPr>
          <p:cNvPr id="32" name="v:MutationWhileIterating:p1b0|b2"/>
          <p:cNvSpPr txBox="1"/>
          <p:nvPr/>
        </p:nvSpPr>
        <p:spPr>
          <a:xfrm>
            <a:off x="5870448" y="182880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2</a:t>
            </a:r>
            <a:endParaRPr lang="en-US" sz="1200" dirty="0"/>
          </a:p>
        </p:txBody>
      </p:sp>
      <p:sp>
        <p:nvSpPr>
          <p:cNvPr id="33" name="v:MutationWhileIterating:p1b1:box|b2"/>
          <p:cNvSpPr/>
          <p:nvPr/>
        </p:nvSpPr>
        <p:spPr>
          <a:xfrm>
            <a:off x="6355080" y="1828800"/>
            <a:ext cx="457200" cy="292608"/>
          </a:xfrm>
          <a:prstGeom prst="roundRect">
            <a:avLst>
              <a:gd name="adj" fmla="val 15625"/>
            </a:avLst>
          </a:prstGeom>
          <a:solidFill>
            <a:srgbClr val="FFD43B"/>
          </a:solidFill>
          <a:ln w="25400">
            <a:solidFill>
              <a:srgbClr val="B7791F"/>
            </a:solidFill>
            <a:prstDash val="solid"/>
          </a:ln>
        </p:spPr>
      </p:sp>
      <p:sp>
        <p:nvSpPr>
          <p:cNvPr id="34" name="v:MutationWhileIterating:p1b1|b2"/>
          <p:cNvSpPr txBox="1"/>
          <p:nvPr/>
        </p:nvSpPr>
        <p:spPr>
          <a:xfrm>
            <a:off x="6373368" y="182880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3</a:t>
            </a:r>
            <a:endParaRPr lang="en-US" sz="1200" dirty="0"/>
          </a:p>
        </p:txBody>
      </p:sp>
      <p:sp>
        <p:nvSpPr>
          <p:cNvPr id="35" name="v:MutationWhileIterating:p1b2:box|b2"/>
          <p:cNvSpPr/>
          <p:nvPr/>
        </p:nvSpPr>
        <p:spPr>
          <a:xfrm>
            <a:off x="6858000" y="1828800"/>
            <a:ext cx="457200" cy="292608"/>
          </a:xfrm>
          <a:prstGeom prst="roundRect">
            <a:avLst>
              <a:gd name="adj" fmla="val 15625"/>
            </a:avLst>
          </a:prstGeom>
          <a:solidFill>
            <a:srgbClr val="E3EEF8"/>
          </a:solidFill>
          <a:ln w="15875">
            <a:solidFill>
              <a:srgbClr val="306998"/>
            </a:solidFill>
            <a:prstDash val="solid"/>
          </a:ln>
        </p:spPr>
      </p:sp>
      <p:sp>
        <p:nvSpPr>
          <p:cNvPr id="36" name="v:MutationWhileIterating:p1b2|b2"/>
          <p:cNvSpPr txBox="1"/>
          <p:nvPr/>
        </p:nvSpPr>
        <p:spPr>
          <a:xfrm>
            <a:off x="6876288" y="182880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4</a:t>
            </a:r>
            <a:endParaRPr lang="en-US" sz="1200" dirty="0"/>
          </a:p>
        </p:txBody>
      </p:sp>
      <p:sp>
        <p:nvSpPr>
          <p:cNvPr id="37" name="v:MutationWhileIterating:p1a|b2"/>
          <p:cNvSpPr txBox="1"/>
          <p:nvPr/>
        </p:nvSpPr>
        <p:spPr>
          <a:xfrm>
            <a:off x="7955280" y="1737360"/>
            <a:ext cx="731520" cy="475488"/>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keeps 3</a:t>
            </a:r>
            <a:endParaRPr lang="en-US" sz="1200" dirty="0"/>
          </a:p>
        </p:txBody>
      </p:sp>
      <p:sp>
        <p:nvSpPr>
          <p:cNvPr id="38" name="mutrow|b3"/>
          <p:cNvSpPr/>
          <p:nvPr/>
        </p:nvSpPr>
        <p:spPr>
          <a:xfrm>
            <a:off x="4069080" y="2286000"/>
            <a:ext cx="4709160" cy="475488"/>
          </a:xfrm>
          <a:prstGeom prst="roundRect">
            <a:avLst>
              <a:gd name="adj" fmla="val 11538"/>
            </a:avLst>
          </a:prstGeom>
          <a:solidFill>
            <a:srgbClr val="F1F4F8"/>
          </a:solidFill>
          <a:ln w="12700">
            <a:solidFill>
              <a:srgbClr val="F1F4F8"/>
            </a:solidFill>
            <a:prstDash val="solid"/>
          </a:ln>
        </p:spPr>
      </p:sp>
      <p:sp>
        <p:nvSpPr>
          <p:cNvPr id="39" name="v:MutationWhileIterating:p2h|b3"/>
          <p:cNvSpPr txBox="1"/>
          <p:nvPr/>
        </p:nvSpPr>
        <p:spPr>
          <a:xfrm>
            <a:off x="4160520" y="2286000"/>
            <a:ext cx="1600200" cy="475488"/>
          </a:xfrm>
          <a:prstGeom prst="rect">
            <a:avLst/>
          </a:prstGeom>
          <a:noFill/>
          <a:ln/>
        </p:spPr>
        <p:txBody>
          <a:bodyPr wrap="square" lIns="0" tIns="0" rIns="0" bIns="0" rtlCol="0" anchor="ctr"/>
          <a:lstStyle/>
          <a:p>
            <a:pPr indent="0" marL="0">
              <a:buNone/>
            </a:pPr>
            <a:r>
              <a:rPr lang="en-US" sz="1000" b="1" dirty="0">
                <a:solidFill>
                  <a:srgbClr val="1E2A3A"/>
                </a:solidFill>
                <a:latin typeface="Courier New" pitchFamily="34" charset="0"/>
                <a:ea typeface="Courier New" pitchFamily="34" charset="-122"/>
                <a:cs typeface="Courier New" pitchFamily="34" charset="-120"/>
              </a:rPr>
              <a:t>pass 3 · position 2 · x = 4</a:t>
            </a:r>
            <a:endParaRPr lang="en-US" sz="1000" dirty="0"/>
          </a:p>
        </p:txBody>
      </p:sp>
      <p:sp>
        <p:nvSpPr>
          <p:cNvPr id="40" name="v:MutationWhileIterating:p2b0:box|b3"/>
          <p:cNvSpPr/>
          <p:nvPr/>
        </p:nvSpPr>
        <p:spPr>
          <a:xfrm>
            <a:off x="5852160" y="2377440"/>
            <a:ext cx="457200" cy="292608"/>
          </a:xfrm>
          <a:prstGeom prst="roundRect">
            <a:avLst>
              <a:gd name="adj" fmla="val 15625"/>
            </a:avLst>
          </a:prstGeom>
          <a:solidFill>
            <a:srgbClr val="E3EEF8"/>
          </a:solidFill>
          <a:ln w="15875">
            <a:solidFill>
              <a:srgbClr val="306998"/>
            </a:solidFill>
            <a:prstDash val="solid"/>
          </a:ln>
        </p:spPr>
      </p:sp>
      <p:sp>
        <p:nvSpPr>
          <p:cNvPr id="41" name="v:MutationWhileIterating:p2b0|b3"/>
          <p:cNvSpPr txBox="1"/>
          <p:nvPr/>
        </p:nvSpPr>
        <p:spPr>
          <a:xfrm>
            <a:off x="5870448" y="237744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2</a:t>
            </a:r>
            <a:endParaRPr lang="en-US" sz="1200" dirty="0"/>
          </a:p>
        </p:txBody>
      </p:sp>
      <p:sp>
        <p:nvSpPr>
          <p:cNvPr id="42" name="v:MutationWhileIterating:p2b1:box|b3"/>
          <p:cNvSpPr/>
          <p:nvPr/>
        </p:nvSpPr>
        <p:spPr>
          <a:xfrm>
            <a:off x="6355080" y="2377440"/>
            <a:ext cx="457200" cy="292608"/>
          </a:xfrm>
          <a:prstGeom prst="roundRect">
            <a:avLst>
              <a:gd name="adj" fmla="val 15625"/>
            </a:avLst>
          </a:prstGeom>
          <a:solidFill>
            <a:srgbClr val="E3EEF8"/>
          </a:solidFill>
          <a:ln w="15875">
            <a:solidFill>
              <a:srgbClr val="306998"/>
            </a:solidFill>
            <a:prstDash val="solid"/>
          </a:ln>
        </p:spPr>
      </p:sp>
      <p:sp>
        <p:nvSpPr>
          <p:cNvPr id="43" name="v:MutationWhileIterating:p2b1|b3"/>
          <p:cNvSpPr txBox="1"/>
          <p:nvPr/>
        </p:nvSpPr>
        <p:spPr>
          <a:xfrm>
            <a:off x="6373368" y="237744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3</a:t>
            </a:r>
            <a:endParaRPr lang="en-US" sz="1200" dirty="0"/>
          </a:p>
        </p:txBody>
      </p:sp>
      <p:sp>
        <p:nvSpPr>
          <p:cNvPr id="44" name="v:MutationWhileIterating:p2b2:box|b3"/>
          <p:cNvSpPr/>
          <p:nvPr/>
        </p:nvSpPr>
        <p:spPr>
          <a:xfrm>
            <a:off x="6858000" y="2377440"/>
            <a:ext cx="457200" cy="292608"/>
          </a:xfrm>
          <a:prstGeom prst="roundRect">
            <a:avLst>
              <a:gd name="adj" fmla="val 15625"/>
            </a:avLst>
          </a:prstGeom>
          <a:solidFill>
            <a:srgbClr val="FFD43B"/>
          </a:solidFill>
          <a:ln w="25400">
            <a:solidFill>
              <a:srgbClr val="B7791F"/>
            </a:solidFill>
            <a:prstDash val="solid"/>
          </a:ln>
        </p:spPr>
      </p:sp>
      <p:sp>
        <p:nvSpPr>
          <p:cNvPr id="45" name="v:MutationWhileIterating:p2b2|b3"/>
          <p:cNvSpPr txBox="1"/>
          <p:nvPr/>
        </p:nvSpPr>
        <p:spPr>
          <a:xfrm>
            <a:off x="6876288" y="2377440"/>
            <a:ext cx="420624" cy="292608"/>
          </a:xfrm>
          <a:prstGeom prst="rect">
            <a:avLst/>
          </a:prstGeom>
          <a:noFill/>
          <a:ln/>
        </p:spPr>
        <p:txBody>
          <a:bodyPr wrap="square" lIns="0" tIns="0" rIns="0" bIns="0" rtlCol="0" anchor="ctr">
            <a:normAutofit/>
          </a:bodyPr>
          <a:lstStyle/>
          <a:p>
            <a:pPr algn="ctr" indent="0" marL="0">
              <a:buNone/>
            </a:pPr>
            <a:r>
              <a:rPr lang="en-US" sz="1200" b="1" dirty="0">
                <a:solidFill>
                  <a:srgbClr val="1E2A3A"/>
                </a:solidFill>
                <a:latin typeface="Courier New" pitchFamily="34" charset="0"/>
                <a:ea typeface="Courier New" pitchFamily="34" charset="-122"/>
                <a:cs typeface="Courier New" pitchFamily="34" charset="-120"/>
              </a:rPr>
              <a:t>4</a:t>
            </a:r>
            <a:endParaRPr lang="en-US" sz="1200" dirty="0"/>
          </a:p>
        </p:txBody>
      </p:sp>
      <p:sp>
        <p:nvSpPr>
          <p:cNvPr id="46" name="v:MutationWhileIterating:p2a|b3"/>
          <p:cNvSpPr txBox="1"/>
          <p:nvPr/>
        </p:nvSpPr>
        <p:spPr>
          <a:xfrm>
            <a:off x="7955280" y="2286000"/>
            <a:ext cx="731520" cy="475488"/>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keeps 4</a:t>
            </a:r>
            <a:endParaRPr lang="en-US" sz="1200" dirty="0"/>
          </a:p>
        </p:txBody>
      </p:sp>
      <p:sp>
        <p:nvSpPr>
          <p:cNvPr id="47" name="v:MutationWhileIterating:finbox:box|b4"/>
          <p:cNvSpPr/>
          <p:nvPr/>
        </p:nvSpPr>
        <p:spPr>
          <a:xfrm>
            <a:off x="4069080" y="2834640"/>
            <a:ext cx="4709160" cy="365760"/>
          </a:xfrm>
          <a:prstGeom prst="roundRect">
            <a:avLst>
              <a:gd name="adj" fmla="val 15000"/>
            </a:avLst>
          </a:prstGeom>
          <a:solidFill>
            <a:srgbClr val="FBE1E1"/>
          </a:solidFill>
          <a:ln w="12700">
            <a:solidFill>
              <a:srgbClr val="D64545"/>
            </a:solidFill>
            <a:prstDash val="solid"/>
          </a:ln>
        </p:spPr>
      </p:sp>
      <p:sp>
        <p:nvSpPr>
          <p:cNvPr id="48" name="v:MutationWhileIterating:fin|b4"/>
          <p:cNvSpPr txBox="1"/>
          <p:nvPr/>
        </p:nvSpPr>
        <p:spPr>
          <a:xfrm>
            <a:off x="4160520" y="2834640"/>
            <a:ext cx="2377440" cy="365760"/>
          </a:xfrm>
          <a:prstGeom prst="rect">
            <a:avLst/>
          </a:prstGeom>
          <a:noFill/>
          <a:ln/>
        </p:spPr>
        <p:txBody>
          <a:bodyPr wrap="square" lIns="0" tIns="0" rIns="0" bIns="0" rtlCol="0" anchor="ctr"/>
          <a:lstStyle/>
          <a:p>
            <a:pPr indent="0" marL="0">
              <a:buNone/>
            </a:pPr>
            <a:r>
              <a:rPr lang="en-US" sz="1100" b="1" dirty="0">
                <a:solidFill>
                  <a:srgbClr val="D64545"/>
                </a:solidFill>
                <a:latin typeface="Courier New" pitchFamily="34" charset="0"/>
                <a:ea typeface="Courier New" pitchFamily="34" charset="-122"/>
                <a:cs typeface="Courier New" pitchFamily="34" charset="-120"/>
              </a:rPr>
              <a:t>after the loop: [2, 3, 4]</a:t>
            </a:r>
            <a:endParaRPr lang="en-US" sz="1100" dirty="0"/>
          </a:p>
        </p:txBody>
      </p:sp>
      <p:sp>
        <p:nvSpPr>
          <p:cNvPr id="49" name="v:MutationWhileIterating:skip|b4"/>
          <p:cNvSpPr txBox="1"/>
          <p:nvPr/>
        </p:nvSpPr>
        <p:spPr>
          <a:xfrm>
            <a:off x="6720840" y="2834640"/>
            <a:ext cx="1965960" cy="365760"/>
          </a:xfrm>
          <a:prstGeom prst="rect">
            <a:avLst/>
          </a:prstGeom>
          <a:noFill/>
          <a:ln/>
        </p:spPr>
        <p:txBody>
          <a:bodyPr wrap="square" lIns="0" tIns="0" rIns="0" bIns="0" rtlCol="0" anchor="ctr"/>
          <a:lstStyle/>
          <a:p>
            <a:pPr indent="0" marL="0">
              <a:buNone/>
            </a:pPr>
            <a:r>
              <a:rPr lang="en-US" sz="1250" b="1" dirty="0">
                <a:solidFill>
                  <a:srgbClr val="D64545"/>
                </a:solidFill>
                <a:latin typeface="Calibri" pitchFamily="34" charset="0"/>
                <a:ea typeface="Calibri" pitchFamily="34" charset="-122"/>
                <a:cs typeface="Calibri" pitchFamily="34" charset="-120"/>
              </a:rPr>
              <a:t>2 was never visited</a:t>
            </a:r>
            <a:endParaRPr lang="en-US" sz="1250" dirty="0"/>
          </a:p>
        </p:txBody>
      </p:sp>
      <p:sp>
        <p:nvSpPr>
          <p:cNvPr id="50" name="say|b5"/>
          <p:cNvSpPr txBox="1"/>
          <p:nvPr/>
        </p:nvSpPr>
        <p:spPr>
          <a:xfrm>
            <a:off x="4069080" y="3611880"/>
            <a:ext cx="4709160" cy="8686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loop counts positions. After 1 is removed, 2 moves into position 0, which the loop has already passed.</a:t>
            </a:r>
            <a:endParaRPr lang="en-US" sz="1300" dirty="0"/>
          </a:p>
        </p:txBody>
      </p:sp>
      <p:sp>
        <p:nvSpPr>
          <p:cNvPr id="51"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52"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53"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Loops and unpacking ▸ Mutation while iterating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compound_stmts.html" history="1" highlightClick="0" endSnd="0">
                  <a:extLst>
                    <a:ext uri="{A12FA001-AC4F-418D-AE19-62706E023703}">
                      <ahyp:hlinkClr xmlns:ahyp="http://schemas.microsoft.com/office/drawing/2018/hyperlinkcolor" val="tx"/>
                    </a:ext>
                  </a:extLst>
                </a:hlinkClick>
              </a:rPr>
              <a:t>Reference: the for statement</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faq/programming.html" history="1" highlightClick="0" endSnd="0">
                  <a:extLst>
                    <a:ext uri="{A12FA001-AC4F-418D-AE19-62706E023703}">
                      <ahyp:hlinkClr xmlns:ahyp="http://schemas.microsoft.com/office/drawing/2018/hyperlinkcolor" val="tx"/>
                    </a:ext>
                  </a:extLst>
                </a:hlinkClick>
              </a:rPr>
              <a:t>Programming FAQ</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6" fill="hold">
                      <p:stCondLst>
                        <p:cond delay="indefinite"/>
                      </p:stCondLst>
                      <p:childTnLst>
                        <p:par>
                          <p:cTn id="3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8"/>
                                        </p:tgtEl>
                                        <p:attrNameLst>
                                          <p:attrName>style.visibility</p:attrName>
                                        </p:attrNameLst>
                                      </p:cBhvr>
                                      <p:to>
                                        <p:strVal val="visible"/>
                                      </p:to>
                                    </p:set>
                                    <p:animEffect transition="in" filter="fade">
                                      <p:cBhvr>
                                        <p:cTn id="5" dur="400"/>
                                        <p:tgtEl>
                                          <p:spTgt spid="1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9"/>
                                        </p:tgtEl>
                                        <p:attrNameLst>
                                          <p:attrName>style.visibility</p:attrName>
                                        </p:attrNameLst>
                                      </p:cBhvr>
                                      <p:to>
                                        <p:strVal val="visible"/>
                                      </p:to>
                                    </p:set>
                                    <p:animEffect transition="in" filter="fade">
                                      <p:cBhvr>
                                        <p:cTn id="8" dur="400"/>
                                        <p:tgtEl>
                                          <p:spTgt spid="19"/>
                                        </p:tgtEl>
                                      </p:cBhvr>
                                    </p:animEffect>
                                  </p:childTnLst>
                                </p:cTn>
                              </p:par>
                              <p:par>
                                <p:cTn id="9" presetID="10"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400"/>
                                        <p:tgtEl>
                                          <p:spTgt spid="2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400"/>
                                        <p:tgtEl>
                                          <p:spTgt spid="21"/>
                                        </p:tgtEl>
                                      </p:cBhvr>
                                    </p:animEffect>
                                  </p:childTnLst>
                                </p:cTn>
                              </p:par>
                              <p:par>
                                <p:cTn id="15" presetID="10"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400"/>
                                        <p:tgtEl>
                                          <p:spTgt spid="23"/>
                                        </p:tgtEl>
                                      </p:cBhvr>
                                    </p:animEffect>
                                  </p:childTnLst>
                                </p:cTn>
                              </p:par>
                              <p:par>
                                <p:cTn id="21" presetID="10"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par>
                                <p:cTn id="27" presetID="10" presetClass="entr" presetSubtype="0" fill="hold"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400"/>
                                        <p:tgtEl>
                                          <p:spTgt spid="2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400"/>
                                        <p:tgtEl>
                                          <p:spTgt spid="28"/>
                                        </p:tgtEl>
                                      </p:cBhvr>
                                    </p:animEffect>
                                  </p:childTnLst>
                                </p:cTn>
                              </p:par>
                            </p:childTnLst>
                          </p:cTn>
                        </p:par>
                      </p:childTnLst>
                    </p:cTn>
                  </p:par>
                  <p:par>
                    <p:cTn id="65" fill="hold">
                      <p:stCondLst>
                        <p:cond delay="indefinite"/>
                      </p:stCondLst>
                      <p:childTnLst>
                        <p:par>
                          <p:cTn id="66"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400"/>
                                        <p:tgtEl>
                                          <p:spTgt spid="2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fade">
                                      <p:cBhvr>
                                        <p:cTn id="43" dur="400"/>
                                        <p:tgtEl>
                                          <p:spTgt spid="30"/>
                                        </p:tgtEl>
                                      </p:cBhvr>
                                    </p:animEffect>
                                  </p:childTnLst>
                                </p:cTn>
                              </p:par>
                              <p:par>
                                <p:cTn id="44" presetID="10" presetClass="entr" presetSubtype="0" fill="hold" nodeType="with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fade">
                                      <p:cBhvr>
                                        <p:cTn id="46" dur="400"/>
                                        <p:tgtEl>
                                          <p:spTgt spid="3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fade">
                                      <p:cBhvr>
                                        <p:cTn id="49" dur="400"/>
                                        <p:tgtEl>
                                          <p:spTgt spid="32"/>
                                        </p:tgtEl>
                                      </p:cBhvr>
                                    </p:animEffect>
                                  </p:childTnLst>
                                </p:cTn>
                              </p:par>
                              <p:par>
                                <p:cTn id="50" presetID="10" presetClass="entr" presetSubtype="0" fill="hold" nodeType="with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fade">
                                      <p:cBhvr>
                                        <p:cTn id="52" dur="400"/>
                                        <p:tgtEl>
                                          <p:spTgt spid="3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fade">
                                      <p:cBhvr>
                                        <p:cTn id="55" dur="400"/>
                                        <p:tgtEl>
                                          <p:spTgt spid="34"/>
                                        </p:tgtEl>
                                      </p:cBhvr>
                                    </p:animEffect>
                                  </p:childTnLst>
                                </p:cTn>
                              </p:par>
                              <p:par>
                                <p:cTn id="56" presetID="10" presetClass="entr" presetSubtype="0" fill="hold" nodeType="withEffect">
                                  <p:stCondLst>
                                    <p:cond delay="0"/>
                                  </p:stCondLst>
                                  <p:childTnLst>
                                    <p:set>
                                      <p:cBhvr>
                                        <p:cTn id="57" dur="1" fill="hold">
                                          <p:stCondLst>
                                            <p:cond delay="0"/>
                                          </p:stCondLst>
                                        </p:cTn>
                                        <p:tgtEl>
                                          <p:spTgt spid="35"/>
                                        </p:tgtEl>
                                        <p:attrNameLst>
                                          <p:attrName>style.visibility</p:attrName>
                                        </p:attrNameLst>
                                      </p:cBhvr>
                                      <p:to>
                                        <p:strVal val="visible"/>
                                      </p:to>
                                    </p:set>
                                    <p:animEffect transition="in" filter="fade">
                                      <p:cBhvr>
                                        <p:cTn id="58" dur="400"/>
                                        <p:tgtEl>
                                          <p:spTgt spid="3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6"/>
                                        </p:tgtEl>
                                        <p:attrNameLst>
                                          <p:attrName>style.visibility</p:attrName>
                                        </p:attrNameLst>
                                      </p:cBhvr>
                                      <p:to>
                                        <p:strVal val="visible"/>
                                      </p:to>
                                    </p:set>
                                    <p:animEffect transition="in" filter="fade">
                                      <p:cBhvr>
                                        <p:cTn id="61" dur="400"/>
                                        <p:tgtEl>
                                          <p:spTgt spid="3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7"/>
                                        </p:tgtEl>
                                        <p:attrNameLst>
                                          <p:attrName>style.visibility</p:attrName>
                                        </p:attrNameLst>
                                      </p:cBhvr>
                                      <p:to>
                                        <p:strVal val="visible"/>
                                      </p:to>
                                    </p:set>
                                    <p:animEffect transition="in" filter="fade">
                                      <p:cBhvr>
                                        <p:cTn id="64" dur="400"/>
                                        <p:tgtEl>
                                          <p:spTgt spid="37"/>
                                        </p:tgtEl>
                                      </p:cBhvr>
                                    </p:animEffect>
                                  </p:childTnLst>
                                </p:cTn>
                              </p:par>
                            </p:childTnLst>
                          </p:cTn>
                        </p:par>
                      </p:childTnLst>
                    </p:cTn>
                  </p:par>
                  <p:par>
                    <p:cTn id="94" fill="hold">
                      <p:stCondLst>
                        <p:cond delay="indefinite"/>
                      </p:stCondLst>
                      <p:childTnLst>
                        <p:par>
                          <p:cTn id="95"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8"/>
                                        </p:tgtEl>
                                        <p:attrNameLst>
                                          <p:attrName>style.visibility</p:attrName>
                                        </p:attrNameLst>
                                      </p:cBhvr>
                                      <p:to>
                                        <p:strVal val="visible"/>
                                      </p:to>
                                    </p:set>
                                    <p:animEffect transition="in" filter="fade">
                                      <p:cBhvr>
                                        <p:cTn id="69" dur="400"/>
                                        <p:tgtEl>
                                          <p:spTgt spid="3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9"/>
                                        </p:tgtEl>
                                        <p:attrNameLst>
                                          <p:attrName>style.visibility</p:attrName>
                                        </p:attrNameLst>
                                      </p:cBhvr>
                                      <p:to>
                                        <p:strVal val="visible"/>
                                      </p:to>
                                    </p:set>
                                    <p:animEffect transition="in" filter="fade">
                                      <p:cBhvr>
                                        <p:cTn id="72" dur="400"/>
                                        <p:tgtEl>
                                          <p:spTgt spid="39"/>
                                        </p:tgtEl>
                                      </p:cBhvr>
                                    </p:animEffect>
                                  </p:childTnLst>
                                </p:cTn>
                              </p:par>
                              <p:par>
                                <p:cTn id="73" presetID="10" presetClass="entr" presetSubtype="0" fill="hold" nodeType="withEffect">
                                  <p:stCondLst>
                                    <p:cond delay="0"/>
                                  </p:stCondLst>
                                  <p:childTnLst>
                                    <p:set>
                                      <p:cBhvr>
                                        <p:cTn id="74" dur="1" fill="hold">
                                          <p:stCondLst>
                                            <p:cond delay="0"/>
                                          </p:stCondLst>
                                        </p:cTn>
                                        <p:tgtEl>
                                          <p:spTgt spid="40"/>
                                        </p:tgtEl>
                                        <p:attrNameLst>
                                          <p:attrName>style.visibility</p:attrName>
                                        </p:attrNameLst>
                                      </p:cBhvr>
                                      <p:to>
                                        <p:strVal val="visible"/>
                                      </p:to>
                                    </p:set>
                                    <p:animEffect transition="in" filter="fade">
                                      <p:cBhvr>
                                        <p:cTn id="75" dur="400"/>
                                        <p:tgtEl>
                                          <p:spTgt spid="40"/>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1"/>
                                        </p:tgtEl>
                                        <p:attrNameLst>
                                          <p:attrName>style.visibility</p:attrName>
                                        </p:attrNameLst>
                                      </p:cBhvr>
                                      <p:to>
                                        <p:strVal val="visible"/>
                                      </p:to>
                                    </p:set>
                                    <p:animEffect transition="in" filter="fade">
                                      <p:cBhvr>
                                        <p:cTn id="78" dur="400"/>
                                        <p:tgtEl>
                                          <p:spTgt spid="41"/>
                                        </p:tgtEl>
                                      </p:cBhvr>
                                    </p:animEffect>
                                  </p:childTnLst>
                                </p:cTn>
                              </p:par>
                              <p:par>
                                <p:cTn id="79" presetID="10" presetClass="entr" presetSubtype="0" fill="hold" nodeType="withEffect">
                                  <p:stCondLst>
                                    <p:cond delay="0"/>
                                  </p:stCondLst>
                                  <p:childTnLst>
                                    <p:set>
                                      <p:cBhvr>
                                        <p:cTn id="80" dur="1" fill="hold">
                                          <p:stCondLst>
                                            <p:cond delay="0"/>
                                          </p:stCondLst>
                                        </p:cTn>
                                        <p:tgtEl>
                                          <p:spTgt spid="42"/>
                                        </p:tgtEl>
                                        <p:attrNameLst>
                                          <p:attrName>style.visibility</p:attrName>
                                        </p:attrNameLst>
                                      </p:cBhvr>
                                      <p:to>
                                        <p:strVal val="visible"/>
                                      </p:to>
                                    </p:set>
                                    <p:animEffect transition="in" filter="fade">
                                      <p:cBhvr>
                                        <p:cTn id="81" dur="400"/>
                                        <p:tgtEl>
                                          <p:spTgt spid="42"/>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3"/>
                                        </p:tgtEl>
                                        <p:attrNameLst>
                                          <p:attrName>style.visibility</p:attrName>
                                        </p:attrNameLst>
                                      </p:cBhvr>
                                      <p:to>
                                        <p:strVal val="visible"/>
                                      </p:to>
                                    </p:set>
                                    <p:animEffect transition="in" filter="fade">
                                      <p:cBhvr>
                                        <p:cTn id="84" dur="400"/>
                                        <p:tgtEl>
                                          <p:spTgt spid="43"/>
                                        </p:tgtEl>
                                      </p:cBhvr>
                                    </p:animEffect>
                                  </p:childTnLst>
                                </p:cTn>
                              </p:par>
                              <p:par>
                                <p:cTn id="85" presetID="10" presetClass="entr" presetSubtype="0" fill="hold" nodeType="withEffect">
                                  <p:stCondLst>
                                    <p:cond delay="0"/>
                                  </p:stCondLst>
                                  <p:childTnLst>
                                    <p:set>
                                      <p:cBhvr>
                                        <p:cTn id="86" dur="1" fill="hold">
                                          <p:stCondLst>
                                            <p:cond delay="0"/>
                                          </p:stCondLst>
                                        </p:cTn>
                                        <p:tgtEl>
                                          <p:spTgt spid="44"/>
                                        </p:tgtEl>
                                        <p:attrNameLst>
                                          <p:attrName>style.visibility</p:attrName>
                                        </p:attrNameLst>
                                      </p:cBhvr>
                                      <p:to>
                                        <p:strVal val="visible"/>
                                      </p:to>
                                    </p:set>
                                    <p:animEffect transition="in" filter="fade">
                                      <p:cBhvr>
                                        <p:cTn id="87" dur="400"/>
                                        <p:tgtEl>
                                          <p:spTgt spid="44"/>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5"/>
                                        </p:tgtEl>
                                        <p:attrNameLst>
                                          <p:attrName>style.visibility</p:attrName>
                                        </p:attrNameLst>
                                      </p:cBhvr>
                                      <p:to>
                                        <p:strVal val="visible"/>
                                      </p:to>
                                    </p:set>
                                    <p:animEffect transition="in" filter="fade">
                                      <p:cBhvr>
                                        <p:cTn id="90" dur="400"/>
                                        <p:tgtEl>
                                          <p:spTgt spid="45"/>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6"/>
                                        </p:tgtEl>
                                        <p:attrNameLst>
                                          <p:attrName>style.visibility</p:attrName>
                                        </p:attrNameLst>
                                      </p:cBhvr>
                                      <p:to>
                                        <p:strVal val="visible"/>
                                      </p:to>
                                    </p:set>
                                    <p:animEffect transition="in" filter="fade">
                                      <p:cBhvr>
                                        <p:cTn id="93" dur="400"/>
                                        <p:tgtEl>
                                          <p:spTgt spid="46"/>
                                        </p:tgtEl>
                                      </p:cBhvr>
                                    </p:animEffect>
                                  </p:childTnLst>
                                </p:cTn>
                              </p:par>
                            </p:childTnLst>
                          </p:cTn>
                        </p:par>
                      </p:childTnLst>
                    </p:cTn>
                  </p:par>
                  <p:par>
                    <p:cTn id="105" fill="hold">
                      <p:stCondLst>
                        <p:cond delay="indefinite"/>
                      </p:stCondLst>
                      <p:childTnLst>
                        <p:par>
                          <p:cTn id="106"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47"/>
                                        </p:tgtEl>
                                        <p:attrNameLst>
                                          <p:attrName>style.visibility</p:attrName>
                                        </p:attrNameLst>
                                      </p:cBhvr>
                                      <p:to>
                                        <p:strVal val="visible"/>
                                      </p:to>
                                    </p:set>
                                    <p:animEffect transition="in" filter="fade">
                                      <p:cBhvr>
                                        <p:cTn id="98" dur="400"/>
                                        <p:tgtEl>
                                          <p:spTgt spid="47"/>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8"/>
                                        </p:tgtEl>
                                        <p:attrNameLst>
                                          <p:attrName>style.visibility</p:attrName>
                                        </p:attrNameLst>
                                      </p:cBhvr>
                                      <p:to>
                                        <p:strVal val="visible"/>
                                      </p:to>
                                    </p:set>
                                    <p:animEffect transition="in" filter="fade">
                                      <p:cBhvr>
                                        <p:cTn id="101" dur="400"/>
                                        <p:tgtEl>
                                          <p:spTgt spid="48"/>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9"/>
                                        </p:tgtEl>
                                        <p:attrNameLst>
                                          <p:attrName>style.visibility</p:attrName>
                                        </p:attrNameLst>
                                      </p:cBhvr>
                                      <p:to>
                                        <p:strVal val="visible"/>
                                      </p:to>
                                    </p:set>
                                    <p:animEffect transition="in" filter="fade">
                                      <p:cBhvr>
                                        <p:cTn id="104" dur="400"/>
                                        <p:tgtEl>
                                          <p:spTgt spid="49"/>
                                        </p:tgtEl>
                                      </p:cBhvr>
                                    </p:animEffect>
                                  </p:childTnLst>
                                </p:cTn>
                              </p:par>
                            </p:childTnLst>
                          </p:cTn>
                        </p:par>
                      </p:childTnLst>
                    </p:cTn>
                  </p:par>
                  <p:par>
                    <p:cTn id="110" fill="hold">
                      <p:stCondLst>
                        <p:cond delay="indefinite"/>
                      </p:stCondLst>
                      <p:childTnLst>
                        <p:par>
                          <p:cTn id="111"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50"/>
                                        </p:tgtEl>
                                        <p:attrNameLst>
                                          <p:attrName>style.visibility</p:attrName>
                                        </p:attrNameLst>
                                      </p:cBhvr>
                                      <p:to>
                                        <p:strVal val="visible"/>
                                      </p:to>
                                    </p:set>
                                    <p:animEffect transition="in" filter="fade">
                                      <p:cBhvr>
                                        <p:cTn id="109" dur="400"/>
                                        <p:tgtEl>
                                          <p:spTgt spid="50"/>
                                        </p:tgtEl>
                                      </p:cBhvr>
                                    </p:animEffect>
                                  </p:childTnLst>
                                </p:cTn>
                              </p:par>
                            </p:childTnLst>
                          </p:cTn>
                        </p:par>
                      </p:childTnLst>
                    </p:cTn>
                  </p:par>
                  <p:par>
                    <p:cTn id="130" fill="hold">
                      <p:stCondLst>
                        <p:cond delay="indefinite"/>
                      </p:stCondLst>
                      <p:childTnLst>
                        <p:par>
                          <p:cTn id="131"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12"/>
                                        </p:tgtEl>
                                        <p:attrNameLst>
                                          <p:attrName>style.visibility</p:attrName>
                                        </p:attrNameLst>
                                      </p:cBhvr>
                                      <p:to>
                                        <p:strVal val="visible"/>
                                      </p:to>
                                    </p:set>
                                    <p:animEffect transition="in" filter="fade">
                                      <p:cBhvr>
                                        <p:cTn id="114" dur="400"/>
                                        <p:tgtEl>
                                          <p:spTgt spid="12"/>
                                        </p:tgtEl>
                                      </p:cBhvr>
                                    </p:animEffect>
                                  </p:childTnLst>
                                </p:cTn>
                              </p:par>
                              <p:par>
                                <p:cTn id="115" presetID="10" presetClass="entr" presetSubtype="0" fill="hold" nodeType="withEffect">
                                  <p:stCondLst>
                                    <p:cond delay="0"/>
                                  </p:stCondLst>
                                  <p:childTnLst>
                                    <p:set>
                                      <p:cBhvr>
                                        <p:cTn id="116" dur="1" fill="hold">
                                          <p:stCondLst>
                                            <p:cond delay="0"/>
                                          </p:stCondLst>
                                        </p:cTn>
                                        <p:tgtEl>
                                          <p:spTgt spid="13"/>
                                        </p:tgtEl>
                                        <p:attrNameLst>
                                          <p:attrName>style.visibility</p:attrName>
                                        </p:attrNameLst>
                                      </p:cBhvr>
                                      <p:to>
                                        <p:strVal val="visible"/>
                                      </p:to>
                                    </p:set>
                                    <p:animEffect transition="in" filter="fade">
                                      <p:cBhvr>
                                        <p:cTn id="117" dur="400"/>
                                        <p:tgtEl>
                                          <p:spTgt spid="13"/>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14"/>
                                        </p:tgtEl>
                                        <p:attrNameLst>
                                          <p:attrName>style.visibility</p:attrName>
                                        </p:attrNameLst>
                                      </p:cBhvr>
                                      <p:to>
                                        <p:strVal val="visible"/>
                                      </p:to>
                                    </p:set>
                                    <p:animEffect transition="in" filter="fade">
                                      <p:cBhvr>
                                        <p:cTn id="120" dur="400"/>
                                        <p:tgtEl>
                                          <p:spTgt spid="14"/>
                                        </p:tgtEl>
                                      </p:cBhvr>
                                    </p:animEffect>
                                  </p:childTnLst>
                                </p:cTn>
                              </p:par>
                              <p:par>
                                <p:cTn id="121" presetID="10" presetClass="entr" presetSubtype="0" fill="hold" nodeType="withEffect">
                                  <p:stCondLst>
                                    <p:cond delay="0"/>
                                  </p:stCondLst>
                                  <p:childTnLst>
                                    <p:set>
                                      <p:cBhvr>
                                        <p:cTn id="122" dur="1" fill="hold">
                                          <p:stCondLst>
                                            <p:cond delay="0"/>
                                          </p:stCondLst>
                                        </p:cTn>
                                        <p:tgtEl>
                                          <p:spTgt spid="15"/>
                                        </p:tgtEl>
                                        <p:attrNameLst>
                                          <p:attrName>style.visibility</p:attrName>
                                        </p:attrNameLst>
                                      </p:cBhvr>
                                      <p:to>
                                        <p:strVal val="visible"/>
                                      </p:to>
                                    </p:set>
                                    <p:animEffect transition="in" filter="fade">
                                      <p:cBhvr>
                                        <p:cTn id="123" dur="400"/>
                                        <p:tgtEl>
                                          <p:spTgt spid="15"/>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16"/>
                                        </p:tgtEl>
                                        <p:attrNameLst>
                                          <p:attrName>style.visibility</p:attrName>
                                        </p:attrNameLst>
                                      </p:cBhvr>
                                      <p:to>
                                        <p:strVal val="visible"/>
                                      </p:to>
                                    </p:set>
                                    <p:animEffect transition="in" filter="fade">
                                      <p:cBhvr>
                                        <p:cTn id="126" dur="400"/>
                                        <p:tgtEl>
                                          <p:spTgt spid="16"/>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17"/>
                                        </p:tgtEl>
                                        <p:attrNameLst>
                                          <p:attrName>style.visibility</p:attrName>
                                        </p:attrNameLst>
                                      </p:cBhvr>
                                      <p:to>
                                        <p:strVal val="visible"/>
                                      </p:to>
                                    </p:set>
                                    <p:animEffect transition="in" filter="fade">
                                      <p:cBhvr>
                                        <p:cTn id="129"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7" grpId="0" animBg="1"/>
      <p:bldP spid="19" grpId="0" animBg="1"/>
      <p:bldP spid="21" grpId="0" animBg="1"/>
      <p:bldP spid="23" grpId="0" animBg="1"/>
      <p:bldP spid="25" grpId="0" animBg="1"/>
      <p:bldP spid="27" grpId="0" animBg="1"/>
      <p:bldP spid="28" grpId="0" animBg="1"/>
      <p:bldP spid="30" grpId="0" animBg="1"/>
      <p:bldP spid="32" grpId="0" animBg="1"/>
      <p:bldP spid="34" grpId="0" animBg="1"/>
      <p:bldP spid="36" grpId="0" animBg="1"/>
      <p:bldP spid="37" grpId="0" animBg="1"/>
      <p:bldP spid="39" grpId="0" animBg="1"/>
      <p:bldP spid="41" grpId="0" animBg="1"/>
      <p:bldP spid="43" grpId="0" animBg="1"/>
      <p:bldP spid="45" grpId="0" animBg="1"/>
      <p:bldP spid="46" grpId="0" animBg="1"/>
      <p:bldP spid="48" grpId="0" animBg="1"/>
      <p:bldP spid="49" grpId="0" animBg="1"/>
      <p:bldP spid="5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Take a list apart with names; build one with a rule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Multiple assignment, one starred name, and the list comprehension</a:t>
            </a:r>
            <a:endParaRPr lang="en-US" sz="1400" dirty="0"/>
          </a:p>
        </p:txBody>
      </p:sp>
      <p:sp>
        <p:nvSpPr>
          <p:cNvPr id="6" name="v:Unpacking:u0stmt|b1"/>
          <p:cNvSpPr txBox="1"/>
          <p:nvPr/>
        </p:nvSpPr>
        <p:spPr>
          <a:xfrm>
            <a:off x="365760" y="1188720"/>
            <a:ext cx="41148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size, color, disposition = cat</a:t>
            </a:r>
            <a:endParaRPr lang="en-US" sz="1200" dirty="0"/>
          </a:p>
        </p:txBody>
      </p:sp>
      <p:sp>
        <p:nvSpPr>
          <p:cNvPr id="7" name="v:Unpacking:u0i0:box|b1"/>
          <p:cNvSpPr/>
          <p:nvPr/>
        </p:nvSpPr>
        <p:spPr>
          <a:xfrm>
            <a:off x="365760" y="1453896"/>
            <a:ext cx="1152144" cy="274320"/>
          </a:xfrm>
          <a:prstGeom prst="roundRect">
            <a:avLst>
              <a:gd name="adj" fmla="val 16667"/>
            </a:avLst>
          </a:prstGeom>
          <a:solidFill>
            <a:srgbClr val="E3EEF8"/>
          </a:solidFill>
          <a:ln w="15875">
            <a:solidFill>
              <a:srgbClr val="306998"/>
            </a:solidFill>
            <a:prstDash val="solid"/>
          </a:ln>
        </p:spPr>
      </p:sp>
      <p:sp>
        <p:nvSpPr>
          <p:cNvPr id="8" name="v:Unpacking:u0i0|b1"/>
          <p:cNvSpPr txBox="1"/>
          <p:nvPr/>
        </p:nvSpPr>
        <p:spPr>
          <a:xfrm>
            <a:off x="384048" y="1453896"/>
            <a:ext cx="1115568"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'fat'</a:t>
            </a:r>
            <a:endParaRPr lang="en-US" sz="1100" dirty="0"/>
          </a:p>
        </p:txBody>
      </p:sp>
      <p:sp>
        <p:nvSpPr>
          <p:cNvPr id="9" name="v:Unpacking:u0i1:box|b1"/>
          <p:cNvSpPr/>
          <p:nvPr/>
        </p:nvSpPr>
        <p:spPr>
          <a:xfrm>
            <a:off x="1572768" y="1453896"/>
            <a:ext cx="1152144" cy="274320"/>
          </a:xfrm>
          <a:prstGeom prst="roundRect">
            <a:avLst>
              <a:gd name="adj" fmla="val 16667"/>
            </a:avLst>
          </a:prstGeom>
          <a:solidFill>
            <a:srgbClr val="E3EEF8"/>
          </a:solidFill>
          <a:ln w="15875">
            <a:solidFill>
              <a:srgbClr val="306998"/>
            </a:solidFill>
            <a:prstDash val="solid"/>
          </a:ln>
        </p:spPr>
      </p:sp>
      <p:sp>
        <p:nvSpPr>
          <p:cNvPr id="10" name="v:Unpacking:u0i1|b1"/>
          <p:cNvSpPr txBox="1"/>
          <p:nvPr/>
        </p:nvSpPr>
        <p:spPr>
          <a:xfrm>
            <a:off x="1591056" y="1453896"/>
            <a:ext cx="1115568"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'gray'</a:t>
            </a:r>
            <a:endParaRPr lang="en-US" sz="1100" dirty="0"/>
          </a:p>
        </p:txBody>
      </p:sp>
      <p:sp>
        <p:nvSpPr>
          <p:cNvPr id="11" name="v:Unpacking:u0i2:box|b1"/>
          <p:cNvSpPr/>
          <p:nvPr/>
        </p:nvSpPr>
        <p:spPr>
          <a:xfrm>
            <a:off x="2779776" y="1453896"/>
            <a:ext cx="1152144" cy="274320"/>
          </a:xfrm>
          <a:prstGeom prst="roundRect">
            <a:avLst>
              <a:gd name="adj" fmla="val 16667"/>
            </a:avLst>
          </a:prstGeom>
          <a:solidFill>
            <a:srgbClr val="E3EEF8"/>
          </a:solidFill>
          <a:ln w="15875">
            <a:solidFill>
              <a:srgbClr val="306998"/>
            </a:solidFill>
            <a:prstDash val="solid"/>
          </a:ln>
        </p:spPr>
      </p:sp>
      <p:sp>
        <p:nvSpPr>
          <p:cNvPr id="12" name="v:Unpacking:u0i2|b1"/>
          <p:cNvSpPr txBox="1"/>
          <p:nvPr/>
        </p:nvSpPr>
        <p:spPr>
          <a:xfrm>
            <a:off x="2798064" y="1453896"/>
            <a:ext cx="1115568"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'loud'</a:t>
            </a:r>
            <a:endParaRPr lang="en-US" sz="1100" dirty="0"/>
          </a:p>
        </p:txBody>
      </p:sp>
      <p:sp>
        <p:nvSpPr>
          <p:cNvPr id="13" name="arrow|b1"/>
          <p:cNvSpPr/>
          <p:nvPr/>
        </p:nvSpPr>
        <p:spPr>
          <a:xfrm>
            <a:off x="365760" y="1792224"/>
            <a:ext cx="1152144" cy="0"/>
          </a:xfrm>
          <a:prstGeom prst="line">
            <a:avLst/>
          </a:prstGeom>
          <a:noFill/>
          <a:ln w="38100">
            <a:solidFill>
              <a:srgbClr val="2E9E5B"/>
            </a:solidFill>
            <a:prstDash val="solid"/>
          </a:ln>
        </p:spPr>
      </p:sp>
      <p:sp>
        <p:nvSpPr>
          <p:cNvPr id="14" name="v:Unpacking:u0n0|b1"/>
          <p:cNvSpPr txBox="1"/>
          <p:nvPr/>
        </p:nvSpPr>
        <p:spPr>
          <a:xfrm>
            <a:off x="365760" y="1810512"/>
            <a:ext cx="1152144" cy="201168"/>
          </a:xfrm>
          <a:prstGeom prst="rect">
            <a:avLst/>
          </a:prstGeom>
          <a:noFill/>
          <a:ln/>
        </p:spPr>
        <p:txBody>
          <a:bodyPr wrap="square" lIns="0" tIns="0" rIns="0" bIns="0" rtlCol="0" anchor="ctr">
            <a:normAutofit/>
          </a:bodyP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size</a:t>
            </a:r>
            <a:endParaRPr lang="en-US" sz="1100" dirty="0"/>
          </a:p>
        </p:txBody>
      </p:sp>
      <p:sp>
        <p:nvSpPr>
          <p:cNvPr id="15" name="v:Unpacking:u0v0|b1"/>
          <p:cNvSpPr txBox="1"/>
          <p:nvPr/>
        </p:nvSpPr>
        <p:spPr>
          <a:xfrm>
            <a:off x="365760" y="2002536"/>
            <a:ext cx="1152144"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'fat'</a:t>
            </a:r>
            <a:endParaRPr lang="en-US" sz="950" dirty="0"/>
          </a:p>
        </p:txBody>
      </p:sp>
      <p:sp>
        <p:nvSpPr>
          <p:cNvPr id="16" name="arrow|b1"/>
          <p:cNvSpPr/>
          <p:nvPr/>
        </p:nvSpPr>
        <p:spPr>
          <a:xfrm>
            <a:off x="1572768" y="1792224"/>
            <a:ext cx="1152144" cy="0"/>
          </a:xfrm>
          <a:prstGeom prst="line">
            <a:avLst/>
          </a:prstGeom>
          <a:noFill/>
          <a:ln w="38100">
            <a:solidFill>
              <a:srgbClr val="2E9E5B"/>
            </a:solidFill>
            <a:prstDash val="solid"/>
          </a:ln>
        </p:spPr>
      </p:sp>
      <p:sp>
        <p:nvSpPr>
          <p:cNvPr id="17" name="v:Unpacking:u0n1|b1"/>
          <p:cNvSpPr txBox="1"/>
          <p:nvPr/>
        </p:nvSpPr>
        <p:spPr>
          <a:xfrm>
            <a:off x="1572768" y="1810512"/>
            <a:ext cx="1152144" cy="201168"/>
          </a:xfrm>
          <a:prstGeom prst="rect">
            <a:avLst/>
          </a:prstGeom>
          <a:noFill/>
          <a:ln/>
        </p:spPr>
        <p:txBody>
          <a:bodyPr wrap="square" lIns="0" tIns="0" rIns="0" bIns="0" rtlCol="0" anchor="ctr">
            <a:normAutofit/>
          </a:bodyP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color</a:t>
            </a:r>
            <a:endParaRPr lang="en-US" sz="1100" dirty="0"/>
          </a:p>
        </p:txBody>
      </p:sp>
      <p:sp>
        <p:nvSpPr>
          <p:cNvPr id="18" name="v:Unpacking:u0v1|b1"/>
          <p:cNvSpPr txBox="1"/>
          <p:nvPr/>
        </p:nvSpPr>
        <p:spPr>
          <a:xfrm>
            <a:off x="1572768" y="2002536"/>
            <a:ext cx="1152144"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'gray'</a:t>
            </a:r>
            <a:endParaRPr lang="en-US" sz="950" dirty="0"/>
          </a:p>
        </p:txBody>
      </p:sp>
      <p:sp>
        <p:nvSpPr>
          <p:cNvPr id="19" name="arrow|b1"/>
          <p:cNvSpPr/>
          <p:nvPr/>
        </p:nvSpPr>
        <p:spPr>
          <a:xfrm>
            <a:off x="2779776" y="1792224"/>
            <a:ext cx="1152144" cy="0"/>
          </a:xfrm>
          <a:prstGeom prst="line">
            <a:avLst/>
          </a:prstGeom>
          <a:noFill/>
          <a:ln w="38100">
            <a:solidFill>
              <a:srgbClr val="2E9E5B"/>
            </a:solidFill>
            <a:prstDash val="solid"/>
          </a:ln>
        </p:spPr>
      </p:sp>
      <p:sp>
        <p:nvSpPr>
          <p:cNvPr id="20" name="v:Unpacking:u0n2|b1"/>
          <p:cNvSpPr txBox="1"/>
          <p:nvPr/>
        </p:nvSpPr>
        <p:spPr>
          <a:xfrm>
            <a:off x="2779776" y="1810512"/>
            <a:ext cx="1152144" cy="201168"/>
          </a:xfrm>
          <a:prstGeom prst="rect">
            <a:avLst/>
          </a:prstGeom>
          <a:noFill/>
          <a:ln/>
        </p:spPr>
        <p:txBody>
          <a:bodyPr wrap="square" lIns="0" tIns="0" rIns="0" bIns="0" rtlCol="0" anchor="ctr">
            <a:normAutofit/>
          </a:bodyP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disposition</a:t>
            </a:r>
            <a:endParaRPr lang="en-US" sz="1100" dirty="0"/>
          </a:p>
        </p:txBody>
      </p:sp>
      <p:sp>
        <p:nvSpPr>
          <p:cNvPr id="21" name="v:Unpacking:u0v2|b1"/>
          <p:cNvSpPr txBox="1"/>
          <p:nvPr/>
        </p:nvSpPr>
        <p:spPr>
          <a:xfrm>
            <a:off x="2779776" y="2002536"/>
            <a:ext cx="1152144"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'loud'</a:t>
            </a:r>
            <a:endParaRPr lang="en-US" sz="950" dirty="0"/>
          </a:p>
        </p:txBody>
      </p:sp>
      <p:sp>
        <p:nvSpPr>
          <p:cNvPr id="22" name="v:Unpacking:u1stmt|b2"/>
          <p:cNvSpPr txBox="1"/>
          <p:nvPr/>
        </p:nvSpPr>
        <p:spPr>
          <a:xfrm>
            <a:off x="365760" y="2221992"/>
            <a:ext cx="41148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first, *rest = cat</a:t>
            </a:r>
            <a:endParaRPr lang="en-US" sz="1200" dirty="0"/>
          </a:p>
        </p:txBody>
      </p:sp>
      <p:sp>
        <p:nvSpPr>
          <p:cNvPr id="23" name="v:Unpacking:u1i0:box|b2"/>
          <p:cNvSpPr/>
          <p:nvPr/>
        </p:nvSpPr>
        <p:spPr>
          <a:xfrm>
            <a:off x="365760" y="2487168"/>
            <a:ext cx="1152144" cy="274320"/>
          </a:xfrm>
          <a:prstGeom prst="roundRect">
            <a:avLst>
              <a:gd name="adj" fmla="val 16667"/>
            </a:avLst>
          </a:prstGeom>
          <a:solidFill>
            <a:srgbClr val="E3EEF8"/>
          </a:solidFill>
          <a:ln w="15875">
            <a:solidFill>
              <a:srgbClr val="306998"/>
            </a:solidFill>
            <a:prstDash val="solid"/>
          </a:ln>
        </p:spPr>
      </p:sp>
      <p:sp>
        <p:nvSpPr>
          <p:cNvPr id="24" name="v:Unpacking:u1i0|b2"/>
          <p:cNvSpPr txBox="1"/>
          <p:nvPr/>
        </p:nvSpPr>
        <p:spPr>
          <a:xfrm>
            <a:off x="384048" y="2487168"/>
            <a:ext cx="1115568"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'fat'</a:t>
            </a:r>
            <a:endParaRPr lang="en-US" sz="1100" dirty="0"/>
          </a:p>
        </p:txBody>
      </p:sp>
      <p:sp>
        <p:nvSpPr>
          <p:cNvPr id="25" name="v:Unpacking:u1i1:box|b2"/>
          <p:cNvSpPr/>
          <p:nvPr/>
        </p:nvSpPr>
        <p:spPr>
          <a:xfrm>
            <a:off x="1572768" y="2487168"/>
            <a:ext cx="1152144" cy="274320"/>
          </a:xfrm>
          <a:prstGeom prst="roundRect">
            <a:avLst>
              <a:gd name="adj" fmla="val 16667"/>
            </a:avLst>
          </a:prstGeom>
          <a:solidFill>
            <a:srgbClr val="E3EEF8"/>
          </a:solidFill>
          <a:ln w="15875">
            <a:solidFill>
              <a:srgbClr val="306998"/>
            </a:solidFill>
            <a:prstDash val="solid"/>
          </a:ln>
        </p:spPr>
      </p:sp>
      <p:sp>
        <p:nvSpPr>
          <p:cNvPr id="26" name="v:Unpacking:u1i1|b2"/>
          <p:cNvSpPr txBox="1"/>
          <p:nvPr/>
        </p:nvSpPr>
        <p:spPr>
          <a:xfrm>
            <a:off x="1591056" y="2487168"/>
            <a:ext cx="1115568"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'gray'</a:t>
            </a:r>
            <a:endParaRPr lang="en-US" sz="1100" dirty="0"/>
          </a:p>
        </p:txBody>
      </p:sp>
      <p:sp>
        <p:nvSpPr>
          <p:cNvPr id="27" name="v:Unpacking:u1i2:box|b2"/>
          <p:cNvSpPr/>
          <p:nvPr/>
        </p:nvSpPr>
        <p:spPr>
          <a:xfrm>
            <a:off x="2779776" y="2487168"/>
            <a:ext cx="1152144" cy="274320"/>
          </a:xfrm>
          <a:prstGeom prst="roundRect">
            <a:avLst>
              <a:gd name="adj" fmla="val 16667"/>
            </a:avLst>
          </a:prstGeom>
          <a:solidFill>
            <a:srgbClr val="E3EEF8"/>
          </a:solidFill>
          <a:ln w="15875">
            <a:solidFill>
              <a:srgbClr val="306998"/>
            </a:solidFill>
            <a:prstDash val="solid"/>
          </a:ln>
        </p:spPr>
      </p:sp>
      <p:sp>
        <p:nvSpPr>
          <p:cNvPr id="28" name="v:Unpacking:u1i2|b2"/>
          <p:cNvSpPr txBox="1"/>
          <p:nvPr/>
        </p:nvSpPr>
        <p:spPr>
          <a:xfrm>
            <a:off x="2798064" y="2487168"/>
            <a:ext cx="1115568"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'loud'</a:t>
            </a:r>
            <a:endParaRPr lang="en-US" sz="1100" dirty="0"/>
          </a:p>
        </p:txBody>
      </p:sp>
      <p:sp>
        <p:nvSpPr>
          <p:cNvPr id="29" name="arrow|b2"/>
          <p:cNvSpPr/>
          <p:nvPr/>
        </p:nvSpPr>
        <p:spPr>
          <a:xfrm>
            <a:off x="365760" y="2825496"/>
            <a:ext cx="1152144" cy="0"/>
          </a:xfrm>
          <a:prstGeom prst="line">
            <a:avLst/>
          </a:prstGeom>
          <a:noFill/>
          <a:ln w="38100">
            <a:solidFill>
              <a:srgbClr val="2E9E5B"/>
            </a:solidFill>
            <a:prstDash val="solid"/>
          </a:ln>
        </p:spPr>
      </p:sp>
      <p:sp>
        <p:nvSpPr>
          <p:cNvPr id="30" name="v:Unpacking:u1n0|b2"/>
          <p:cNvSpPr txBox="1"/>
          <p:nvPr/>
        </p:nvSpPr>
        <p:spPr>
          <a:xfrm>
            <a:off x="365760" y="2843784"/>
            <a:ext cx="1152144" cy="201168"/>
          </a:xfrm>
          <a:prstGeom prst="rect">
            <a:avLst/>
          </a:prstGeom>
          <a:noFill/>
          <a:ln/>
        </p:spPr>
        <p:txBody>
          <a:bodyPr wrap="square" lIns="0" tIns="0" rIns="0" bIns="0" rtlCol="0" anchor="ctr">
            <a:normAutofit/>
          </a:bodyP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first</a:t>
            </a:r>
            <a:endParaRPr lang="en-US" sz="1100" dirty="0"/>
          </a:p>
        </p:txBody>
      </p:sp>
      <p:sp>
        <p:nvSpPr>
          <p:cNvPr id="31" name="v:Unpacking:u1v0|b2"/>
          <p:cNvSpPr txBox="1"/>
          <p:nvPr/>
        </p:nvSpPr>
        <p:spPr>
          <a:xfrm>
            <a:off x="365760" y="3035808"/>
            <a:ext cx="1152144"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'fat'</a:t>
            </a:r>
            <a:endParaRPr lang="en-US" sz="950" dirty="0"/>
          </a:p>
        </p:txBody>
      </p:sp>
      <p:sp>
        <p:nvSpPr>
          <p:cNvPr id="32" name="arrow|b2"/>
          <p:cNvSpPr/>
          <p:nvPr/>
        </p:nvSpPr>
        <p:spPr>
          <a:xfrm>
            <a:off x="1572768" y="2825496"/>
            <a:ext cx="2359152" cy="0"/>
          </a:xfrm>
          <a:prstGeom prst="line">
            <a:avLst/>
          </a:prstGeom>
          <a:noFill/>
          <a:ln w="38100">
            <a:solidFill>
              <a:srgbClr val="B7791F"/>
            </a:solidFill>
            <a:prstDash val="solid"/>
          </a:ln>
        </p:spPr>
      </p:sp>
      <p:sp>
        <p:nvSpPr>
          <p:cNvPr id="33" name="v:Unpacking:u1n1|b2"/>
          <p:cNvSpPr txBox="1"/>
          <p:nvPr/>
        </p:nvSpPr>
        <p:spPr>
          <a:xfrm>
            <a:off x="1572768" y="2843784"/>
            <a:ext cx="2359152" cy="201168"/>
          </a:xfrm>
          <a:prstGeom prst="rect">
            <a:avLst/>
          </a:prstGeom>
          <a:noFill/>
          <a:ln/>
        </p:spPr>
        <p:txBody>
          <a:bodyPr wrap="square" lIns="0" tIns="0" rIns="0" bIns="0" rtlCol="0" anchor="ctr">
            <a:normAutofit/>
          </a:bodyPr>
          <a:lstStyle/>
          <a:p>
            <a:pPr algn="ctr" indent="0" marL="0">
              <a:buNone/>
            </a:pPr>
            <a:r>
              <a:rPr lang="en-US" sz="1100" b="1" dirty="0">
                <a:solidFill>
                  <a:srgbClr val="B7791F"/>
                </a:solidFill>
                <a:latin typeface="Courier New" pitchFamily="34" charset="0"/>
                <a:ea typeface="Courier New" pitchFamily="34" charset="-122"/>
                <a:cs typeface="Courier New" pitchFamily="34" charset="-120"/>
              </a:rPr>
              <a:t>*rest</a:t>
            </a:r>
            <a:endParaRPr lang="en-US" sz="1100" dirty="0"/>
          </a:p>
        </p:txBody>
      </p:sp>
      <p:sp>
        <p:nvSpPr>
          <p:cNvPr id="34" name="v:Unpacking:u1v1|b2"/>
          <p:cNvSpPr txBox="1"/>
          <p:nvPr/>
        </p:nvSpPr>
        <p:spPr>
          <a:xfrm>
            <a:off x="1572768" y="3035808"/>
            <a:ext cx="2359152"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['gray', 'loud']</a:t>
            </a:r>
            <a:endParaRPr lang="en-US" sz="950" dirty="0"/>
          </a:p>
        </p:txBody>
      </p:sp>
      <p:sp>
        <p:nvSpPr>
          <p:cNvPr id="35" name="v:Unpacking:u2stmt|b3"/>
          <p:cNvSpPr txBox="1"/>
          <p:nvPr/>
        </p:nvSpPr>
        <p:spPr>
          <a:xfrm>
            <a:off x="365760" y="3255264"/>
            <a:ext cx="41148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head, *middle, last = range(5)</a:t>
            </a:r>
            <a:endParaRPr lang="en-US" sz="1200" dirty="0"/>
          </a:p>
        </p:txBody>
      </p:sp>
      <p:sp>
        <p:nvSpPr>
          <p:cNvPr id="36" name="v:Unpacking:u2i0:box|b3"/>
          <p:cNvSpPr/>
          <p:nvPr/>
        </p:nvSpPr>
        <p:spPr>
          <a:xfrm>
            <a:off x="365760" y="3520440"/>
            <a:ext cx="669341" cy="274320"/>
          </a:xfrm>
          <a:prstGeom prst="roundRect">
            <a:avLst>
              <a:gd name="adj" fmla="val 16667"/>
            </a:avLst>
          </a:prstGeom>
          <a:solidFill>
            <a:srgbClr val="E3EEF8"/>
          </a:solidFill>
          <a:ln w="15875">
            <a:solidFill>
              <a:srgbClr val="306998"/>
            </a:solidFill>
            <a:prstDash val="solid"/>
          </a:ln>
        </p:spPr>
      </p:sp>
      <p:sp>
        <p:nvSpPr>
          <p:cNvPr id="37" name="v:Unpacking:u2i0|b3"/>
          <p:cNvSpPr txBox="1"/>
          <p:nvPr/>
        </p:nvSpPr>
        <p:spPr>
          <a:xfrm>
            <a:off x="384048" y="3520440"/>
            <a:ext cx="632765"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0</a:t>
            </a:r>
            <a:endParaRPr lang="en-US" sz="1100" dirty="0"/>
          </a:p>
        </p:txBody>
      </p:sp>
      <p:sp>
        <p:nvSpPr>
          <p:cNvPr id="38" name="v:Unpacking:u2i1:box|b3"/>
          <p:cNvSpPr/>
          <p:nvPr/>
        </p:nvSpPr>
        <p:spPr>
          <a:xfrm>
            <a:off x="1089965" y="3520440"/>
            <a:ext cx="669341" cy="274320"/>
          </a:xfrm>
          <a:prstGeom prst="roundRect">
            <a:avLst>
              <a:gd name="adj" fmla="val 16667"/>
            </a:avLst>
          </a:prstGeom>
          <a:solidFill>
            <a:srgbClr val="E3EEF8"/>
          </a:solidFill>
          <a:ln w="15875">
            <a:solidFill>
              <a:srgbClr val="306998"/>
            </a:solidFill>
            <a:prstDash val="solid"/>
          </a:ln>
        </p:spPr>
      </p:sp>
      <p:sp>
        <p:nvSpPr>
          <p:cNvPr id="39" name="v:Unpacking:u2i1|b3"/>
          <p:cNvSpPr txBox="1"/>
          <p:nvPr/>
        </p:nvSpPr>
        <p:spPr>
          <a:xfrm>
            <a:off x="1108253" y="3520440"/>
            <a:ext cx="632765"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1</a:t>
            </a:r>
            <a:endParaRPr lang="en-US" sz="1100" dirty="0"/>
          </a:p>
        </p:txBody>
      </p:sp>
      <p:sp>
        <p:nvSpPr>
          <p:cNvPr id="40" name="v:Unpacking:u2i2:box|b3"/>
          <p:cNvSpPr/>
          <p:nvPr/>
        </p:nvSpPr>
        <p:spPr>
          <a:xfrm>
            <a:off x="1814170" y="3520440"/>
            <a:ext cx="669341" cy="274320"/>
          </a:xfrm>
          <a:prstGeom prst="roundRect">
            <a:avLst>
              <a:gd name="adj" fmla="val 16667"/>
            </a:avLst>
          </a:prstGeom>
          <a:solidFill>
            <a:srgbClr val="E3EEF8"/>
          </a:solidFill>
          <a:ln w="15875">
            <a:solidFill>
              <a:srgbClr val="306998"/>
            </a:solidFill>
            <a:prstDash val="solid"/>
          </a:ln>
        </p:spPr>
      </p:sp>
      <p:sp>
        <p:nvSpPr>
          <p:cNvPr id="41" name="v:Unpacking:u2i2|b3"/>
          <p:cNvSpPr txBox="1"/>
          <p:nvPr/>
        </p:nvSpPr>
        <p:spPr>
          <a:xfrm>
            <a:off x="1832458" y="3520440"/>
            <a:ext cx="632765"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2</a:t>
            </a:r>
            <a:endParaRPr lang="en-US" sz="1100" dirty="0"/>
          </a:p>
        </p:txBody>
      </p:sp>
      <p:sp>
        <p:nvSpPr>
          <p:cNvPr id="42" name="v:Unpacking:u2i3:box|b3"/>
          <p:cNvSpPr/>
          <p:nvPr/>
        </p:nvSpPr>
        <p:spPr>
          <a:xfrm>
            <a:off x="2538374" y="3520440"/>
            <a:ext cx="669341" cy="274320"/>
          </a:xfrm>
          <a:prstGeom prst="roundRect">
            <a:avLst>
              <a:gd name="adj" fmla="val 16667"/>
            </a:avLst>
          </a:prstGeom>
          <a:solidFill>
            <a:srgbClr val="E3EEF8"/>
          </a:solidFill>
          <a:ln w="15875">
            <a:solidFill>
              <a:srgbClr val="306998"/>
            </a:solidFill>
            <a:prstDash val="solid"/>
          </a:ln>
        </p:spPr>
      </p:sp>
      <p:sp>
        <p:nvSpPr>
          <p:cNvPr id="43" name="v:Unpacking:u2i3|b3"/>
          <p:cNvSpPr txBox="1"/>
          <p:nvPr/>
        </p:nvSpPr>
        <p:spPr>
          <a:xfrm>
            <a:off x="2556662" y="3520440"/>
            <a:ext cx="632765"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3</a:t>
            </a:r>
            <a:endParaRPr lang="en-US" sz="1100" dirty="0"/>
          </a:p>
        </p:txBody>
      </p:sp>
      <p:sp>
        <p:nvSpPr>
          <p:cNvPr id="44" name="v:Unpacking:u2i4:box|b3"/>
          <p:cNvSpPr/>
          <p:nvPr/>
        </p:nvSpPr>
        <p:spPr>
          <a:xfrm>
            <a:off x="3262579" y="3520440"/>
            <a:ext cx="669341" cy="274320"/>
          </a:xfrm>
          <a:prstGeom prst="roundRect">
            <a:avLst>
              <a:gd name="adj" fmla="val 16667"/>
            </a:avLst>
          </a:prstGeom>
          <a:solidFill>
            <a:srgbClr val="E3EEF8"/>
          </a:solidFill>
          <a:ln w="15875">
            <a:solidFill>
              <a:srgbClr val="306998"/>
            </a:solidFill>
            <a:prstDash val="solid"/>
          </a:ln>
        </p:spPr>
      </p:sp>
      <p:sp>
        <p:nvSpPr>
          <p:cNvPr id="45" name="v:Unpacking:u2i4|b3"/>
          <p:cNvSpPr txBox="1"/>
          <p:nvPr/>
        </p:nvSpPr>
        <p:spPr>
          <a:xfrm>
            <a:off x="3280867" y="3520440"/>
            <a:ext cx="632765" cy="274320"/>
          </a:xfrm>
          <a:prstGeom prst="rect">
            <a:avLst/>
          </a:prstGeom>
          <a:noFill/>
          <a:ln/>
        </p:spPr>
        <p:txBody>
          <a:bodyPr wrap="square" lIns="0" tIns="0" rIns="0" bIns="0" rtlCol="0" anchor="ctr">
            <a:normAutofit/>
          </a:bodyPr>
          <a:lstStyle/>
          <a:p>
            <a:pPr algn="ctr" indent="0" marL="0">
              <a:buNone/>
            </a:pPr>
            <a:r>
              <a:rPr lang="en-US" sz="1100" b="1" dirty="0">
                <a:solidFill>
                  <a:srgbClr val="1E2A3A"/>
                </a:solidFill>
                <a:latin typeface="Courier New" pitchFamily="34" charset="0"/>
                <a:ea typeface="Courier New" pitchFamily="34" charset="-122"/>
                <a:cs typeface="Courier New" pitchFamily="34" charset="-120"/>
              </a:rPr>
              <a:t>4</a:t>
            </a:r>
            <a:endParaRPr lang="en-US" sz="1100" dirty="0"/>
          </a:p>
        </p:txBody>
      </p:sp>
      <p:sp>
        <p:nvSpPr>
          <p:cNvPr id="46" name="arrow|b3"/>
          <p:cNvSpPr/>
          <p:nvPr/>
        </p:nvSpPr>
        <p:spPr>
          <a:xfrm>
            <a:off x="365760" y="3858768"/>
            <a:ext cx="669341" cy="0"/>
          </a:xfrm>
          <a:prstGeom prst="line">
            <a:avLst/>
          </a:prstGeom>
          <a:noFill/>
          <a:ln w="38100">
            <a:solidFill>
              <a:srgbClr val="2E9E5B"/>
            </a:solidFill>
            <a:prstDash val="solid"/>
          </a:ln>
        </p:spPr>
      </p:sp>
      <p:sp>
        <p:nvSpPr>
          <p:cNvPr id="47" name="v:Unpacking:u2n0|b3"/>
          <p:cNvSpPr txBox="1"/>
          <p:nvPr/>
        </p:nvSpPr>
        <p:spPr>
          <a:xfrm>
            <a:off x="365760" y="3877056"/>
            <a:ext cx="669341" cy="201168"/>
          </a:xfrm>
          <a:prstGeom prst="rect">
            <a:avLst/>
          </a:prstGeom>
          <a:noFill/>
          <a:ln/>
        </p:spPr>
        <p:txBody>
          <a:bodyPr wrap="square" lIns="0" tIns="0" rIns="0" bIns="0" rtlCol="0" anchor="ctr">
            <a:normAutofit/>
          </a:bodyP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head</a:t>
            </a:r>
            <a:endParaRPr lang="en-US" sz="1100" dirty="0"/>
          </a:p>
        </p:txBody>
      </p:sp>
      <p:sp>
        <p:nvSpPr>
          <p:cNvPr id="48" name="v:Unpacking:u2v0|b3"/>
          <p:cNvSpPr txBox="1"/>
          <p:nvPr/>
        </p:nvSpPr>
        <p:spPr>
          <a:xfrm>
            <a:off x="365760" y="4069080"/>
            <a:ext cx="669341"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0</a:t>
            </a:r>
            <a:endParaRPr lang="en-US" sz="950" dirty="0"/>
          </a:p>
        </p:txBody>
      </p:sp>
      <p:sp>
        <p:nvSpPr>
          <p:cNvPr id="49" name="arrow|b3"/>
          <p:cNvSpPr/>
          <p:nvPr/>
        </p:nvSpPr>
        <p:spPr>
          <a:xfrm>
            <a:off x="1089965" y="3858768"/>
            <a:ext cx="2117750" cy="0"/>
          </a:xfrm>
          <a:prstGeom prst="line">
            <a:avLst/>
          </a:prstGeom>
          <a:noFill/>
          <a:ln w="38100">
            <a:solidFill>
              <a:srgbClr val="B7791F"/>
            </a:solidFill>
            <a:prstDash val="solid"/>
          </a:ln>
        </p:spPr>
      </p:sp>
      <p:sp>
        <p:nvSpPr>
          <p:cNvPr id="50" name="v:Unpacking:u2n1|b3"/>
          <p:cNvSpPr txBox="1"/>
          <p:nvPr/>
        </p:nvSpPr>
        <p:spPr>
          <a:xfrm>
            <a:off x="1089965" y="3877056"/>
            <a:ext cx="2117750" cy="201168"/>
          </a:xfrm>
          <a:prstGeom prst="rect">
            <a:avLst/>
          </a:prstGeom>
          <a:noFill/>
          <a:ln/>
        </p:spPr>
        <p:txBody>
          <a:bodyPr wrap="square" lIns="0" tIns="0" rIns="0" bIns="0" rtlCol="0" anchor="ctr">
            <a:normAutofit/>
          </a:bodyPr>
          <a:lstStyle/>
          <a:p>
            <a:pPr algn="ctr" indent="0" marL="0">
              <a:buNone/>
            </a:pPr>
            <a:r>
              <a:rPr lang="en-US" sz="1100" b="1" dirty="0">
                <a:solidFill>
                  <a:srgbClr val="B7791F"/>
                </a:solidFill>
                <a:latin typeface="Courier New" pitchFamily="34" charset="0"/>
                <a:ea typeface="Courier New" pitchFamily="34" charset="-122"/>
                <a:cs typeface="Courier New" pitchFamily="34" charset="-120"/>
              </a:rPr>
              <a:t>*middle</a:t>
            </a:r>
            <a:endParaRPr lang="en-US" sz="1100" dirty="0"/>
          </a:p>
        </p:txBody>
      </p:sp>
      <p:sp>
        <p:nvSpPr>
          <p:cNvPr id="51" name="v:Unpacking:u2v1|b3"/>
          <p:cNvSpPr txBox="1"/>
          <p:nvPr/>
        </p:nvSpPr>
        <p:spPr>
          <a:xfrm>
            <a:off x="1089965" y="4069080"/>
            <a:ext cx="2117750"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[1, 2, 3]</a:t>
            </a:r>
            <a:endParaRPr lang="en-US" sz="950" dirty="0"/>
          </a:p>
        </p:txBody>
      </p:sp>
      <p:sp>
        <p:nvSpPr>
          <p:cNvPr id="52" name="arrow|b3"/>
          <p:cNvSpPr/>
          <p:nvPr/>
        </p:nvSpPr>
        <p:spPr>
          <a:xfrm>
            <a:off x="3262579" y="3858768"/>
            <a:ext cx="669341" cy="0"/>
          </a:xfrm>
          <a:prstGeom prst="line">
            <a:avLst/>
          </a:prstGeom>
          <a:noFill/>
          <a:ln w="38100">
            <a:solidFill>
              <a:srgbClr val="2E9E5B"/>
            </a:solidFill>
            <a:prstDash val="solid"/>
          </a:ln>
        </p:spPr>
      </p:sp>
      <p:sp>
        <p:nvSpPr>
          <p:cNvPr id="53" name="v:Unpacking:u2n2|b3"/>
          <p:cNvSpPr txBox="1"/>
          <p:nvPr/>
        </p:nvSpPr>
        <p:spPr>
          <a:xfrm>
            <a:off x="3262579" y="3877056"/>
            <a:ext cx="669341" cy="201168"/>
          </a:xfrm>
          <a:prstGeom prst="rect">
            <a:avLst/>
          </a:prstGeom>
          <a:noFill/>
          <a:ln/>
        </p:spPr>
        <p:txBody>
          <a:bodyPr wrap="square" lIns="0" tIns="0" rIns="0" bIns="0" rtlCol="0" anchor="ctr">
            <a:normAutofit/>
          </a:bodyP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last</a:t>
            </a:r>
            <a:endParaRPr lang="en-US" sz="1100" dirty="0"/>
          </a:p>
        </p:txBody>
      </p:sp>
      <p:sp>
        <p:nvSpPr>
          <p:cNvPr id="54" name="v:Unpacking:u2v2|b3"/>
          <p:cNvSpPr txBox="1"/>
          <p:nvPr/>
        </p:nvSpPr>
        <p:spPr>
          <a:xfrm>
            <a:off x="3262579" y="4069080"/>
            <a:ext cx="669341" cy="182880"/>
          </a:xfrm>
          <a:prstGeom prst="rect">
            <a:avLst/>
          </a:prstGeom>
          <a:noFill/>
          <a:ln/>
        </p:spPr>
        <p:txBody>
          <a:bodyPr wrap="square" lIns="0" tIns="0" rIns="0" bIns="0" rtlCol="0" anchor="ctr">
            <a:normAutofit/>
          </a:bodyPr>
          <a:lstStyle/>
          <a:p>
            <a:pPr algn="ctr" indent="0" marL="0">
              <a:buNone/>
            </a:pPr>
            <a:r>
              <a:rPr lang="en-US" sz="950" dirty="0">
                <a:solidFill>
                  <a:srgbClr val="5B6B7B"/>
                </a:solidFill>
                <a:latin typeface="Courier New" pitchFamily="34" charset="0"/>
                <a:ea typeface="Courier New" pitchFamily="34" charset="-122"/>
                <a:cs typeface="Courier New" pitchFamily="34" charset="-120"/>
              </a:rPr>
              <a:t>4</a:t>
            </a:r>
            <a:endParaRPr lang="en-US" sz="950" dirty="0"/>
          </a:p>
        </p:txBody>
      </p:sp>
      <p:sp>
        <p:nvSpPr>
          <p:cNvPr id="55" name="v:ListComprehension:f0box:box|b4"/>
          <p:cNvSpPr/>
          <p:nvPr/>
        </p:nvSpPr>
        <p:spPr>
          <a:xfrm>
            <a:off x="4754880" y="1188720"/>
            <a:ext cx="4023360" cy="713232"/>
          </a:xfrm>
          <a:prstGeom prst="roundRect">
            <a:avLst>
              <a:gd name="adj" fmla="val 10256"/>
            </a:avLst>
          </a:prstGeom>
          <a:solidFill>
            <a:srgbClr val="F1F4F8"/>
          </a:solidFill>
          <a:ln w="12700">
            <a:solidFill>
              <a:srgbClr val="F1F4F8"/>
            </a:solidFill>
            <a:prstDash val="solid"/>
          </a:ln>
        </p:spPr>
      </p:sp>
      <p:sp>
        <p:nvSpPr>
          <p:cNvPr id="56" name="v:ListComprehension:f0t|b4"/>
          <p:cNvSpPr txBox="1"/>
          <p:nvPr/>
        </p:nvSpPr>
        <p:spPr>
          <a:xfrm>
            <a:off x="4864608" y="1207008"/>
            <a:ext cx="3803904" cy="173736"/>
          </a:xfrm>
          <a:prstGeom prst="rect">
            <a:avLst/>
          </a:prstGeom>
          <a:noFill/>
          <a:ln/>
        </p:spPr>
        <p:txBody>
          <a:bodyPr wrap="square" lIns="0" tIns="0" rIns="0" bIns="0" rtlCol="0" anchor="ctr">
            <a:normAutofit/>
          </a:bodyPr>
          <a:lstStyle/>
          <a:p>
            <a:pPr indent="0" marL="0">
              <a:buNone/>
            </a:pPr>
            <a:r>
              <a:rPr lang="en-US" sz="1050" b="1" dirty="0">
                <a:solidFill>
                  <a:srgbClr val="306998"/>
                </a:solidFill>
                <a:latin typeface="Calibri" pitchFamily="34" charset="0"/>
                <a:ea typeface="Calibri" pitchFamily="34" charset="-122"/>
                <a:cs typeface="Calibri" pitchFamily="34" charset="-120"/>
              </a:rPr>
              <a:t>Build a list from a rule</a:t>
            </a:r>
            <a:endParaRPr lang="en-US" sz="1050" dirty="0"/>
          </a:p>
        </p:txBody>
      </p:sp>
      <p:sp>
        <p:nvSpPr>
          <p:cNvPr id="57" name="v:ListComprehension:f0e|b4"/>
          <p:cNvSpPr txBox="1"/>
          <p:nvPr/>
        </p:nvSpPr>
        <p:spPr>
          <a:xfrm>
            <a:off x="4864608" y="1380744"/>
            <a:ext cx="3803904" cy="173736"/>
          </a:xfrm>
          <a:prstGeom prst="rect">
            <a:avLst/>
          </a:prstGeom>
          <a:noFill/>
          <a:ln/>
        </p:spPr>
        <p:txBody>
          <a:bodyPr wrap="square" lIns="0" tIns="0" rIns="0" bIns="0" rtlCol="0" anchor="ctr">
            <a:normAutofit/>
          </a:bodyPr>
          <a:lstStyle/>
          <a:p>
            <a:pPr indent="0" marL="0">
              <a:buNone/>
            </a:pPr>
            <a:r>
              <a:rPr lang="en-US" sz="1000" dirty="0">
                <a:solidFill>
                  <a:srgbClr val="5B6B7B"/>
                </a:solidFill>
                <a:latin typeface="Courier New" pitchFamily="34" charset="0"/>
                <a:ea typeface="Courier New" pitchFamily="34" charset="-122"/>
                <a:cs typeface="Courier New" pitchFamily="34" charset="-120"/>
              </a:rPr>
              <a:t>[x**2 for x in range(10)]</a:t>
            </a:r>
            <a:endParaRPr lang="en-US" sz="1000" dirty="0"/>
          </a:p>
        </p:txBody>
      </p:sp>
      <p:sp>
        <p:nvSpPr>
          <p:cNvPr id="58" name="v:ListComprehension:f0r|b4"/>
          <p:cNvSpPr txBox="1"/>
          <p:nvPr/>
        </p:nvSpPr>
        <p:spPr>
          <a:xfrm>
            <a:off x="4864608" y="1554480"/>
            <a:ext cx="3803904" cy="201168"/>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ourier New" pitchFamily="34" charset="0"/>
                <a:ea typeface="Courier New" pitchFamily="34" charset="-122"/>
                <a:cs typeface="Courier New" pitchFamily="34" charset="-120"/>
              </a:rPr>
              <a:t>[0, 1, 4, 9, 16, 25, 36, 49, 64, 81]</a:t>
            </a:r>
            <a:endParaRPr lang="en-US" sz="1200" dirty="0"/>
          </a:p>
        </p:txBody>
      </p:sp>
      <p:sp>
        <p:nvSpPr>
          <p:cNvPr id="59" name="v:ListComprehension:f1box:box|b5"/>
          <p:cNvSpPr/>
          <p:nvPr/>
        </p:nvSpPr>
        <p:spPr>
          <a:xfrm>
            <a:off x="4754880" y="1975104"/>
            <a:ext cx="4023360" cy="713232"/>
          </a:xfrm>
          <a:prstGeom prst="roundRect">
            <a:avLst>
              <a:gd name="adj" fmla="val 10256"/>
            </a:avLst>
          </a:prstGeom>
          <a:solidFill>
            <a:srgbClr val="F1F4F8"/>
          </a:solidFill>
          <a:ln w="12700">
            <a:solidFill>
              <a:srgbClr val="F1F4F8"/>
            </a:solidFill>
            <a:prstDash val="solid"/>
          </a:ln>
        </p:spPr>
      </p:sp>
      <p:sp>
        <p:nvSpPr>
          <p:cNvPr id="60" name="v:ListComprehension:f1t|b5"/>
          <p:cNvSpPr txBox="1"/>
          <p:nvPr/>
        </p:nvSpPr>
        <p:spPr>
          <a:xfrm>
            <a:off x="4864608" y="1993392"/>
            <a:ext cx="3803904" cy="173736"/>
          </a:xfrm>
          <a:prstGeom prst="rect">
            <a:avLst/>
          </a:prstGeom>
          <a:noFill/>
          <a:ln/>
        </p:spPr>
        <p:txBody>
          <a:bodyPr wrap="square" lIns="0" tIns="0" rIns="0" bIns="0" rtlCol="0" anchor="ctr">
            <a:normAutofit/>
          </a:bodyPr>
          <a:lstStyle/>
          <a:p>
            <a:pPr indent="0" marL="0">
              <a:buNone/>
            </a:pPr>
            <a:r>
              <a:rPr lang="en-US" sz="1050" b="1" dirty="0">
                <a:solidFill>
                  <a:srgbClr val="306998"/>
                </a:solidFill>
                <a:latin typeface="Calibri" pitchFamily="34" charset="0"/>
                <a:ea typeface="Calibri" pitchFamily="34" charset="-122"/>
                <a:cs typeface="Calibri" pitchFamily="34" charset="-120"/>
              </a:rPr>
              <a:t>Keep only some items</a:t>
            </a:r>
            <a:endParaRPr lang="en-US" sz="1050" dirty="0"/>
          </a:p>
        </p:txBody>
      </p:sp>
      <p:sp>
        <p:nvSpPr>
          <p:cNvPr id="61" name="v:ListComprehension:f1e|b5"/>
          <p:cNvSpPr txBox="1"/>
          <p:nvPr/>
        </p:nvSpPr>
        <p:spPr>
          <a:xfrm>
            <a:off x="4864608" y="2167128"/>
            <a:ext cx="3803904" cy="173736"/>
          </a:xfrm>
          <a:prstGeom prst="rect">
            <a:avLst/>
          </a:prstGeom>
          <a:noFill/>
          <a:ln/>
        </p:spPr>
        <p:txBody>
          <a:bodyPr wrap="square" lIns="0" tIns="0" rIns="0" bIns="0" rtlCol="0" anchor="ctr">
            <a:normAutofit/>
          </a:bodyPr>
          <a:lstStyle/>
          <a:p>
            <a:pPr indent="0" marL="0">
              <a:buNone/>
            </a:pPr>
            <a:r>
              <a:rPr lang="en-US" sz="1000" dirty="0">
                <a:solidFill>
                  <a:srgbClr val="5B6B7B"/>
                </a:solidFill>
                <a:latin typeface="Courier New" pitchFamily="34" charset="0"/>
                <a:ea typeface="Courier New" pitchFamily="34" charset="-122"/>
                <a:cs typeface="Courier New" pitchFamily="34" charset="-120"/>
              </a:rPr>
              <a:t>[x for x in vec if x &gt;= 0]</a:t>
            </a:r>
            <a:endParaRPr lang="en-US" sz="1000" dirty="0"/>
          </a:p>
        </p:txBody>
      </p:sp>
      <p:sp>
        <p:nvSpPr>
          <p:cNvPr id="62" name="v:ListComprehension:f1r|b5"/>
          <p:cNvSpPr txBox="1"/>
          <p:nvPr/>
        </p:nvSpPr>
        <p:spPr>
          <a:xfrm>
            <a:off x="4864608" y="2340864"/>
            <a:ext cx="3803904" cy="201168"/>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ourier New" pitchFamily="34" charset="0"/>
                <a:ea typeface="Courier New" pitchFamily="34" charset="-122"/>
                <a:cs typeface="Courier New" pitchFamily="34" charset="-120"/>
              </a:rPr>
              <a:t>[0, 2, 4]</a:t>
            </a:r>
            <a:endParaRPr lang="en-US" sz="1200" dirty="0"/>
          </a:p>
        </p:txBody>
      </p:sp>
      <p:sp>
        <p:nvSpPr>
          <p:cNvPr id="63" name="v:ListComprehension:f2box:box|b6"/>
          <p:cNvSpPr/>
          <p:nvPr/>
        </p:nvSpPr>
        <p:spPr>
          <a:xfrm>
            <a:off x="4754880" y="2761488"/>
            <a:ext cx="4023360" cy="713232"/>
          </a:xfrm>
          <a:prstGeom prst="roundRect">
            <a:avLst>
              <a:gd name="adj" fmla="val 10256"/>
            </a:avLst>
          </a:prstGeom>
          <a:solidFill>
            <a:srgbClr val="F1F4F8"/>
          </a:solidFill>
          <a:ln w="12700">
            <a:solidFill>
              <a:srgbClr val="F1F4F8"/>
            </a:solidFill>
            <a:prstDash val="solid"/>
          </a:ln>
        </p:spPr>
      </p:sp>
      <p:sp>
        <p:nvSpPr>
          <p:cNvPr id="64" name="v:ListComprehension:f2t|b6"/>
          <p:cNvSpPr txBox="1"/>
          <p:nvPr/>
        </p:nvSpPr>
        <p:spPr>
          <a:xfrm>
            <a:off x="4864608" y="2779776"/>
            <a:ext cx="3803904" cy="173736"/>
          </a:xfrm>
          <a:prstGeom prst="rect">
            <a:avLst/>
          </a:prstGeom>
          <a:noFill/>
          <a:ln/>
        </p:spPr>
        <p:txBody>
          <a:bodyPr wrap="square" lIns="0" tIns="0" rIns="0" bIns="0" rtlCol="0" anchor="ctr">
            <a:normAutofit/>
          </a:bodyPr>
          <a:lstStyle/>
          <a:p>
            <a:pPr indent="0" marL="0">
              <a:buNone/>
            </a:pPr>
            <a:r>
              <a:rPr lang="en-US" sz="1050" b="1" dirty="0">
                <a:solidFill>
                  <a:srgbClr val="306998"/>
                </a:solidFill>
                <a:latin typeface="Calibri" pitchFamily="34" charset="0"/>
                <a:ea typeface="Calibri" pitchFamily="34" charset="-122"/>
                <a:cs typeface="Calibri" pitchFamily="34" charset="-120"/>
              </a:rPr>
              <a:t>A star splices a list into a list</a:t>
            </a:r>
            <a:endParaRPr lang="en-US" sz="1050" dirty="0"/>
          </a:p>
        </p:txBody>
      </p:sp>
      <p:sp>
        <p:nvSpPr>
          <p:cNvPr id="65" name="v:ListComprehension:f2e|b6"/>
          <p:cNvSpPr txBox="1"/>
          <p:nvPr/>
        </p:nvSpPr>
        <p:spPr>
          <a:xfrm>
            <a:off x="4864608" y="2953512"/>
            <a:ext cx="3803904" cy="173736"/>
          </a:xfrm>
          <a:prstGeom prst="rect">
            <a:avLst/>
          </a:prstGeom>
          <a:noFill/>
          <a:ln/>
        </p:spPr>
        <p:txBody>
          <a:bodyPr wrap="square" lIns="0" tIns="0" rIns="0" bIns="0" rtlCol="0" anchor="ctr">
            <a:normAutofit/>
          </a:bodyPr>
          <a:lstStyle/>
          <a:p>
            <a:pPr indent="0" marL="0">
              <a:buNone/>
            </a:pPr>
            <a:r>
              <a:rPr lang="en-US" sz="1000" dirty="0">
                <a:solidFill>
                  <a:srgbClr val="5B6B7B"/>
                </a:solidFill>
                <a:latin typeface="Courier New" pitchFamily="34" charset="0"/>
                <a:ea typeface="Courier New" pitchFamily="34" charset="-122"/>
                <a:cs typeface="Courier New" pitchFamily="34" charset="-120"/>
              </a:rPr>
              <a:t>[*[1, 2], *[3]]</a:t>
            </a:r>
            <a:endParaRPr lang="en-US" sz="1000" dirty="0"/>
          </a:p>
        </p:txBody>
      </p:sp>
      <p:sp>
        <p:nvSpPr>
          <p:cNvPr id="66" name="v:ListComprehension:f2r|b6"/>
          <p:cNvSpPr txBox="1"/>
          <p:nvPr/>
        </p:nvSpPr>
        <p:spPr>
          <a:xfrm>
            <a:off x="4864608" y="3127248"/>
            <a:ext cx="3803904" cy="201168"/>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ourier New" pitchFamily="34" charset="0"/>
                <a:ea typeface="Courier New" pitchFamily="34" charset="-122"/>
                <a:cs typeface="Courier New" pitchFamily="34" charset="-120"/>
              </a:rPr>
              <a:t>[1, 2, 3]</a:t>
            </a:r>
            <a:endParaRPr lang="en-US" sz="1200" dirty="0"/>
          </a:p>
        </p:txBody>
      </p:sp>
      <p:sp>
        <p:nvSpPr>
          <p:cNvPr id="67" name="v:Unpacking:errbox:box|b7"/>
          <p:cNvSpPr/>
          <p:nvPr/>
        </p:nvSpPr>
        <p:spPr>
          <a:xfrm>
            <a:off x="4754880" y="3639312"/>
            <a:ext cx="4023360" cy="868680"/>
          </a:xfrm>
          <a:prstGeom prst="roundRect">
            <a:avLst>
              <a:gd name="adj" fmla="val 8421"/>
            </a:avLst>
          </a:prstGeom>
          <a:solidFill>
            <a:srgbClr val="FBE1E1"/>
          </a:solidFill>
          <a:ln w="12700">
            <a:solidFill>
              <a:srgbClr val="D64545"/>
            </a:solidFill>
            <a:prstDash val="solid"/>
          </a:ln>
        </p:spPr>
      </p:sp>
      <p:sp>
        <p:nvSpPr>
          <p:cNvPr id="68" name="v:Unpacking:err|b7"/>
          <p:cNvSpPr txBox="1"/>
          <p:nvPr/>
        </p:nvSpPr>
        <p:spPr>
          <a:xfrm>
            <a:off x="4864608" y="3639312"/>
            <a:ext cx="3803904" cy="868680"/>
          </a:xfrm>
          <a:prstGeom prst="rect">
            <a:avLst/>
          </a:prstGeom>
          <a:noFill/>
          <a:ln/>
        </p:spPr>
        <p:txBody>
          <a:bodyPr wrap="square" lIns="0" tIns="0" rIns="0" bIns="0" rtlCol="0" anchor="ctr"/>
          <a:lstStyle/>
          <a:p>
            <a:pPr indent="0" marL="0">
              <a:buNone/>
            </a:pPr>
            <a:r>
              <a:rPr lang="en-US" sz="1000" b="1" dirty="0">
                <a:solidFill>
                  <a:srgbClr val="D64545"/>
                </a:solidFill>
                <a:latin typeface="Courier New" pitchFamily="34" charset="0"/>
                <a:ea typeface="Courier New" pitchFamily="34" charset="-122"/>
                <a:cs typeface="Courier New" pitchFamily="34" charset="-120"/>
              </a:rPr>
              <a:t>size, color, disposition, name = cat  →  ValueError: not enough values to unpack (expected 4, got 3)</a:t>
            </a:r>
            <a:endParaRPr lang="en-US" sz="1000" dirty="0"/>
          </a:p>
        </p:txBody>
      </p:sp>
      <p:sp>
        <p:nvSpPr>
          <p:cNvPr id="69"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70"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71"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Loops and unpacking ▸ Multiple assignment, Starred unpacking, List comprehension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childTnLst>
                          </p:cTn>
                        </p:par>
                      </p:childTnLst>
                    </p:cTn>
                  </p:par>
                  <p:par>
                    <p:cTn id="92" fill="hold">
                      <p:stCondLst>
                        <p:cond delay="indefinite"/>
                      </p:stCondLst>
                      <p:childTnLst>
                        <p:par>
                          <p:cTn id="93"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00"/>
                                        <p:tgtEl>
                                          <p:spTgt spid="22"/>
                                        </p:tgtEl>
                                      </p:cBhvr>
                                    </p:animEffect>
                                  </p:childTnLst>
                                </p:cTn>
                              </p:par>
                              <p:par>
                                <p:cTn id="56" presetID="10" presetClass="entr" presetSubtype="0" fill="hold"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400"/>
                                        <p:tgtEl>
                                          <p:spTgt spid="2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0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00"/>
                                        <p:tgtEl>
                                          <p:spTgt spid="2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0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00"/>
                                        <p:tgtEl>
                                          <p:spTgt spid="2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00"/>
                                        <p:tgtEl>
                                          <p:spTgt spid="28"/>
                                        </p:tgtEl>
                                      </p:cBhvr>
                                    </p:animEffect>
                                  </p:childTnLst>
                                </p:cTn>
                              </p:par>
                              <p:par>
                                <p:cTn id="74" presetID="10" presetClass="entr" presetSubtype="0" fill="hold"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00"/>
                                        <p:tgtEl>
                                          <p:spTgt spid="2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00"/>
                                        <p:tgtEl>
                                          <p:spTgt spid="3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00"/>
                                        <p:tgtEl>
                                          <p:spTgt spid="31"/>
                                        </p:tgtEl>
                                      </p:cBhvr>
                                    </p:animEffect>
                                  </p:childTnLst>
                                </p:cTn>
                              </p:par>
                              <p:par>
                                <p:cTn id="83" presetID="10" presetClass="entr" presetSubtype="0" fill="hold"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0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childTnLst>
                          </p:cTn>
                        </p:par>
                      </p:childTnLst>
                    </p:cTn>
                  </p:par>
                  <p:par>
                    <p:cTn id="154" fill="hold">
                      <p:stCondLst>
                        <p:cond delay="indefinite"/>
                      </p:stCondLst>
                      <p:childTnLst>
                        <p:par>
                          <p:cTn id="155"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5"/>
                                        </p:tgtEl>
                                        <p:attrNameLst>
                                          <p:attrName>style.visibility</p:attrName>
                                        </p:attrNameLst>
                                      </p:cBhvr>
                                      <p:to>
                                        <p:strVal val="visible"/>
                                      </p:to>
                                    </p:set>
                                    <p:animEffect transition="in" filter="fade">
                                      <p:cBhvr>
                                        <p:cTn id="96" dur="400"/>
                                        <p:tgtEl>
                                          <p:spTgt spid="35"/>
                                        </p:tgtEl>
                                      </p:cBhvr>
                                    </p:animEffect>
                                  </p:childTnLst>
                                </p:cTn>
                              </p:par>
                              <p:par>
                                <p:cTn id="97" presetID="10" presetClass="entr" presetSubtype="0" fill="hold" nodeType="withEffect">
                                  <p:stCondLst>
                                    <p:cond delay="0"/>
                                  </p:stCondLst>
                                  <p:childTnLst>
                                    <p:set>
                                      <p:cBhvr>
                                        <p:cTn id="98" dur="1" fill="hold">
                                          <p:stCondLst>
                                            <p:cond delay="0"/>
                                          </p:stCondLst>
                                        </p:cTn>
                                        <p:tgtEl>
                                          <p:spTgt spid="36"/>
                                        </p:tgtEl>
                                        <p:attrNameLst>
                                          <p:attrName>style.visibility</p:attrName>
                                        </p:attrNameLst>
                                      </p:cBhvr>
                                      <p:to>
                                        <p:strVal val="visible"/>
                                      </p:to>
                                    </p:set>
                                    <p:animEffect transition="in" filter="fade">
                                      <p:cBhvr>
                                        <p:cTn id="99" dur="400"/>
                                        <p:tgtEl>
                                          <p:spTgt spid="36"/>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7"/>
                                        </p:tgtEl>
                                        <p:attrNameLst>
                                          <p:attrName>style.visibility</p:attrName>
                                        </p:attrNameLst>
                                      </p:cBhvr>
                                      <p:to>
                                        <p:strVal val="visible"/>
                                      </p:to>
                                    </p:set>
                                    <p:animEffect transition="in" filter="fade">
                                      <p:cBhvr>
                                        <p:cTn id="102" dur="400"/>
                                        <p:tgtEl>
                                          <p:spTgt spid="37"/>
                                        </p:tgtEl>
                                      </p:cBhvr>
                                    </p:animEffect>
                                  </p:childTnLst>
                                </p:cTn>
                              </p:par>
                              <p:par>
                                <p:cTn id="103" presetID="10" presetClass="entr" presetSubtype="0" fill="hold" nodeType="withEffect">
                                  <p:stCondLst>
                                    <p:cond delay="0"/>
                                  </p:stCondLst>
                                  <p:childTnLst>
                                    <p:set>
                                      <p:cBhvr>
                                        <p:cTn id="104" dur="1" fill="hold">
                                          <p:stCondLst>
                                            <p:cond delay="0"/>
                                          </p:stCondLst>
                                        </p:cTn>
                                        <p:tgtEl>
                                          <p:spTgt spid="38"/>
                                        </p:tgtEl>
                                        <p:attrNameLst>
                                          <p:attrName>style.visibility</p:attrName>
                                        </p:attrNameLst>
                                      </p:cBhvr>
                                      <p:to>
                                        <p:strVal val="visible"/>
                                      </p:to>
                                    </p:set>
                                    <p:animEffect transition="in" filter="fade">
                                      <p:cBhvr>
                                        <p:cTn id="105" dur="400"/>
                                        <p:tgtEl>
                                          <p:spTgt spid="38"/>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9"/>
                                        </p:tgtEl>
                                        <p:attrNameLst>
                                          <p:attrName>style.visibility</p:attrName>
                                        </p:attrNameLst>
                                      </p:cBhvr>
                                      <p:to>
                                        <p:strVal val="visible"/>
                                      </p:to>
                                    </p:set>
                                    <p:animEffect transition="in" filter="fade">
                                      <p:cBhvr>
                                        <p:cTn id="108" dur="400"/>
                                        <p:tgtEl>
                                          <p:spTgt spid="39"/>
                                        </p:tgtEl>
                                      </p:cBhvr>
                                    </p:animEffect>
                                  </p:childTnLst>
                                </p:cTn>
                              </p:par>
                              <p:par>
                                <p:cTn id="109" presetID="10" presetClass="entr" presetSubtype="0" fill="hold" nodeType="withEffect">
                                  <p:stCondLst>
                                    <p:cond delay="0"/>
                                  </p:stCondLst>
                                  <p:childTnLst>
                                    <p:set>
                                      <p:cBhvr>
                                        <p:cTn id="110" dur="1" fill="hold">
                                          <p:stCondLst>
                                            <p:cond delay="0"/>
                                          </p:stCondLst>
                                        </p:cTn>
                                        <p:tgtEl>
                                          <p:spTgt spid="40"/>
                                        </p:tgtEl>
                                        <p:attrNameLst>
                                          <p:attrName>style.visibility</p:attrName>
                                        </p:attrNameLst>
                                      </p:cBhvr>
                                      <p:to>
                                        <p:strVal val="visible"/>
                                      </p:to>
                                    </p:set>
                                    <p:animEffect transition="in" filter="fade">
                                      <p:cBhvr>
                                        <p:cTn id="111" dur="400"/>
                                        <p:tgtEl>
                                          <p:spTgt spid="40"/>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1"/>
                                        </p:tgtEl>
                                        <p:attrNameLst>
                                          <p:attrName>style.visibility</p:attrName>
                                        </p:attrNameLst>
                                      </p:cBhvr>
                                      <p:to>
                                        <p:strVal val="visible"/>
                                      </p:to>
                                    </p:set>
                                    <p:animEffect transition="in" filter="fade">
                                      <p:cBhvr>
                                        <p:cTn id="114" dur="400"/>
                                        <p:tgtEl>
                                          <p:spTgt spid="41"/>
                                        </p:tgtEl>
                                      </p:cBhvr>
                                    </p:animEffect>
                                  </p:childTnLst>
                                </p:cTn>
                              </p:par>
                              <p:par>
                                <p:cTn id="115" presetID="10" presetClass="entr" presetSubtype="0" fill="hold" nodeType="withEffect">
                                  <p:stCondLst>
                                    <p:cond delay="0"/>
                                  </p:stCondLst>
                                  <p:childTnLst>
                                    <p:set>
                                      <p:cBhvr>
                                        <p:cTn id="116" dur="1" fill="hold">
                                          <p:stCondLst>
                                            <p:cond delay="0"/>
                                          </p:stCondLst>
                                        </p:cTn>
                                        <p:tgtEl>
                                          <p:spTgt spid="42"/>
                                        </p:tgtEl>
                                        <p:attrNameLst>
                                          <p:attrName>style.visibility</p:attrName>
                                        </p:attrNameLst>
                                      </p:cBhvr>
                                      <p:to>
                                        <p:strVal val="visible"/>
                                      </p:to>
                                    </p:set>
                                    <p:animEffect transition="in" filter="fade">
                                      <p:cBhvr>
                                        <p:cTn id="117" dur="400"/>
                                        <p:tgtEl>
                                          <p:spTgt spid="42"/>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3"/>
                                        </p:tgtEl>
                                        <p:attrNameLst>
                                          <p:attrName>style.visibility</p:attrName>
                                        </p:attrNameLst>
                                      </p:cBhvr>
                                      <p:to>
                                        <p:strVal val="visible"/>
                                      </p:to>
                                    </p:set>
                                    <p:animEffect transition="in" filter="fade">
                                      <p:cBhvr>
                                        <p:cTn id="120" dur="400"/>
                                        <p:tgtEl>
                                          <p:spTgt spid="43"/>
                                        </p:tgtEl>
                                      </p:cBhvr>
                                    </p:animEffect>
                                  </p:childTnLst>
                                </p:cTn>
                              </p:par>
                              <p:par>
                                <p:cTn id="121" presetID="10" presetClass="entr" presetSubtype="0" fill="hold" nodeType="withEffect">
                                  <p:stCondLst>
                                    <p:cond delay="0"/>
                                  </p:stCondLst>
                                  <p:childTnLst>
                                    <p:set>
                                      <p:cBhvr>
                                        <p:cTn id="122" dur="1" fill="hold">
                                          <p:stCondLst>
                                            <p:cond delay="0"/>
                                          </p:stCondLst>
                                        </p:cTn>
                                        <p:tgtEl>
                                          <p:spTgt spid="44"/>
                                        </p:tgtEl>
                                        <p:attrNameLst>
                                          <p:attrName>style.visibility</p:attrName>
                                        </p:attrNameLst>
                                      </p:cBhvr>
                                      <p:to>
                                        <p:strVal val="visible"/>
                                      </p:to>
                                    </p:set>
                                    <p:animEffect transition="in" filter="fade">
                                      <p:cBhvr>
                                        <p:cTn id="123" dur="400"/>
                                        <p:tgtEl>
                                          <p:spTgt spid="44"/>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45"/>
                                        </p:tgtEl>
                                        <p:attrNameLst>
                                          <p:attrName>style.visibility</p:attrName>
                                        </p:attrNameLst>
                                      </p:cBhvr>
                                      <p:to>
                                        <p:strVal val="visible"/>
                                      </p:to>
                                    </p:set>
                                    <p:animEffect transition="in" filter="fade">
                                      <p:cBhvr>
                                        <p:cTn id="126" dur="400"/>
                                        <p:tgtEl>
                                          <p:spTgt spid="45"/>
                                        </p:tgtEl>
                                      </p:cBhvr>
                                    </p:animEffect>
                                  </p:childTnLst>
                                </p:cTn>
                              </p:par>
                              <p:par>
                                <p:cTn id="127" presetID="10" presetClass="entr" presetSubtype="0" fill="hold" nodeType="withEffect">
                                  <p:stCondLst>
                                    <p:cond delay="0"/>
                                  </p:stCondLst>
                                  <p:childTnLst>
                                    <p:set>
                                      <p:cBhvr>
                                        <p:cTn id="128" dur="1" fill="hold">
                                          <p:stCondLst>
                                            <p:cond delay="0"/>
                                          </p:stCondLst>
                                        </p:cTn>
                                        <p:tgtEl>
                                          <p:spTgt spid="46"/>
                                        </p:tgtEl>
                                        <p:attrNameLst>
                                          <p:attrName>style.visibility</p:attrName>
                                        </p:attrNameLst>
                                      </p:cBhvr>
                                      <p:to>
                                        <p:strVal val="visible"/>
                                      </p:to>
                                    </p:set>
                                    <p:animEffect transition="in" filter="fade">
                                      <p:cBhvr>
                                        <p:cTn id="129" dur="400"/>
                                        <p:tgtEl>
                                          <p:spTgt spid="46"/>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7"/>
                                        </p:tgtEl>
                                        <p:attrNameLst>
                                          <p:attrName>style.visibility</p:attrName>
                                        </p:attrNameLst>
                                      </p:cBhvr>
                                      <p:to>
                                        <p:strVal val="visible"/>
                                      </p:to>
                                    </p:set>
                                    <p:animEffect transition="in" filter="fade">
                                      <p:cBhvr>
                                        <p:cTn id="132" dur="400"/>
                                        <p:tgtEl>
                                          <p:spTgt spid="47"/>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48"/>
                                        </p:tgtEl>
                                        <p:attrNameLst>
                                          <p:attrName>style.visibility</p:attrName>
                                        </p:attrNameLst>
                                      </p:cBhvr>
                                      <p:to>
                                        <p:strVal val="visible"/>
                                      </p:to>
                                    </p:set>
                                    <p:animEffect transition="in" filter="fade">
                                      <p:cBhvr>
                                        <p:cTn id="135" dur="400"/>
                                        <p:tgtEl>
                                          <p:spTgt spid="48"/>
                                        </p:tgtEl>
                                      </p:cBhvr>
                                    </p:animEffect>
                                  </p:childTnLst>
                                </p:cTn>
                              </p:par>
                              <p:par>
                                <p:cTn id="136" presetID="10" presetClass="entr" presetSubtype="0" fill="hold" nodeType="withEffect">
                                  <p:stCondLst>
                                    <p:cond delay="0"/>
                                  </p:stCondLst>
                                  <p:childTnLst>
                                    <p:set>
                                      <p:cBhvr>
                                        <p:cTn id="137" dur="1" fill="hold">
                                          <p:stCondLst>
                                            <p:cond delay="0"/>
                                          </p:stCondLst>
                                        </p:cTn>
                                        <p:tgtEl>
                                          <p:spTgt spid="49"/>
                                        </p:tgtEl>
                                        <p:attrNameLst>
                                          <p:attrName>style.visibility</p:attrName>
                                        </p:attrNameLst>
                                      </p:cBhvr>
                                      <p:to>
                                        <p:strVal val="visible"/>
                                      </p:to>
                                    </p:set>
                                    <p:animEffect transition="in" filter="fade">
                                      <p:cBhvr>
                                        <p:cTn id="138" dur="400"/>
                                        <p:tgtEl>
                                          <p:spTgt spid="49"/>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50"/>
                                        </p:tgtEl>
                                        <p:attrNameLst>
                                          <p:attrName>style.visibility</p:attrName>
                                        </p:attrNameLst>
                                      </p:cBhvr>
                                      <p:to>
                                        <p:strVal val="visible"/>
                                      </p:to>
                                    </p:set>
                                    <p:animEffect transition="in" filter="fade">
                                      <p:cBhvr>
                                        <p:cTn id="141" dur="400"/>
                                        <p:tgtEl>
                                          <p:spTgt spid="50"/>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1"/>
                                        </p:tgtEl>
                                        <p:attrNameLst>
                                          <p:attrName>style.visibility</p:attrName>
                                        </p:attrNameLst>
                                      </p:cBhvr>
                                      <p:to>
                                        <p:strVal val="visible"/>
                                      </p:to>
                                    </p:set>
                                    <p:animEffect transition="in" filter="fade">
                                      <p:cBhvr>
                                        <p:cTn id="144" dur="400"/>
                                        <p:tgtEl>
                                          <p:spTgt spid="51"/>
                                        </p:tgtEl>
                                      </p:cBhvr>
                                    </p:animEffect>
                                  </p:childTnLst>
                                </p:cTn>
                              </p:par>
                              <p:par>
                                <p:cTn id="145" presetID="10" presetClass="entr" presetSubtype="0" fill="hold" nodeType="withEffect">
                                  <p:stCondLst>
                                    <p:cond delay="0"/>
                                  </p:stCondLst>
                                  <p:childTnLst>
                                    <p:set>
                                      <p:cBhvr>
                                        <p:cTn id="146" dur="1" fill="hold">
                                          <p:stCondLst>
                                            <p:cond delay="0"/>
                                          </p:stCondLst>
                                        </p:cTn>
                                        <p:tgtEl>
                                          <p:spTgt spid="52"/>
                                        </p:tgtEl>
                                        <p:attrNameLst>
                                          <p:attrName>style.visibility</p:attrName>
                                        </p:attrNameLst>
                                      </p:cBhvr>
                                      <p:to>
                                        <p:strVal val="visible"/>
                                      </p:to>
                                    </p:set>
                                    <p:animEffect transition="in" filter="fade">
                                      <p:cBhvr>
                                        <p:cTn id="147" dur="400"/>
                                        <p:tgtEl>
                                          <p:spTgt spid="52"/>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53"/>
                                        </p:tgtEl>
                                        <p:attrNameLst>
                                          <p:attrName>style.visibility</p:attrName>
                                        </p:attrNameLst>
                                      </p:cBhvr>
                                      <p:to>
                                        <p:strVal val="visible"/>
                                      </p:to>
                                    </p:set>
                                    <p:animEffect transition="in" filter="fade">
                                      <p:cBhvr>
                                        <p:cTn id="150" dur="400"/>
                                        <p:tgtEl>
                                          <p:spTgt spid="53"/>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4"/>
                                        </p:tgtEl>
                                        <p:attrNameLst>
                                          <p:attrName>style.visibility</p:attrName>
                                        </p:attrNameLst>
                                      </p:cBhvr>
                                      <p:to>
                                        <p:strVal val="visible"/>
                                      </p:to>
                                    </p:set>
                                    <p:animEffect transition="in" filter="fade">
                                      <p:cBhvr>
                                        <p:cTn id="153" dur="400"/>
                                        <p:tgtEl>
                                          <p:spTgt spid="54"/>
                                        </p:tgtEl>
                                      </p:cBhvr>
                                    </p:animEffect>
                                  </p:childTnLst>
                                </p:cTn>
                              </p:par>
                            </p:childTnLst>
                          </p:cTn>
                        </p:par>
                      </p:childTnLst>
                    </p:cTn>
                  </p:par>
                  <p:par>
                    <p:cTn id="168" fill="hold">
                      <p:stCondLst>
                        <p:cond delay="indefinite"/>
                      </p:stCondLst>
                      <p:childTnLst>
                        <p:par>
                          <p:cTn id="169" fill="hold">
                            <p:stCondLst>
                              <p:cond delay="0"/>
                            </p:stCondLst>
                            <p:childTnLst>
                              <p:par>
                                <p:cTn id="156" presetID="10" presetClass="entr" presetSubtype="0" fill="hold" nodeType="clickEffect">
                                  <p:stCondLst>
                                    <p:cond delay="0"/>
                                  </p:stCondLst>
                                  <p:childTnLst>
                                    <p:set>
                                      <p:cBhvr>
                                        <p:cTn id="157" dur="1" fill="hold">
                                          <p:stCondLst>
                                            <p:cond delay="0"/>
                                          </p:stCondLst>
                                        </p:cTn>
                                        <p:tgtEl>
                                          <p:spTgt spid="55"/>
                                        </p:tgtEl>
                                        <p:attrNameLst>
                                          <p:attrName>style.visibility</p:attrName>
                                        </p:attrNameLst>
                                      </p:cBhvr>
                                      <p:to>
                                        <p:strVal val="visible"/>
                                      </p:to>
                                    </p:set>
                                    <p:animEffect transition="in" filter="fade">
                                      <p:cBhvr>
                                        <p:cTn id="158" dur="400"/>
                                        <p:tgtEl>
                                          <p:spTgt spid="55"/>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56"/>
                                        </p:tgtEl>
                                        <p:attrNameLst>
                                          <p:attrName>style.visibility</p:attrName>
                                        </p:attrNameLst>
                                      </p:cBhvr>
                                      <p:to>
                                        <p:strVal val="visible"/>
                                      </p:to>
                                    </p:set>
                                    <p:animEffect transition="in" filter="fade">
                                      <p:cBhvr>
                                        <p:cTn id="161" dur="400"/>
                                        <p:tgtEl>
                                          <p:spTgt spid="56"/>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57"/>
                                        </p:tgtEl>
                                        <p:attrNameLst>
                                          <p:attrName>style.visibility</p:attrName>
                                        </p:attrNameLst>
                                      </p:cBhvr>
                                      <p:to>
                                        <p:strVal val="visible"/>
                                      </p:to>
                                    </p:set>
                                    <p:animEffect transition="in" filter="fade">
                                      <p:cBhvr>
                                        <p:cTn id="164" dur="400"/>
                                        <p:tgtEl>
                                          <p:spTgt spid="57"/>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58"/>
                                        </p:tgtEl>
                                        <p:attrNameLst>
                                          <p:attrName>style.visibility</p:attrName>
                                        </p:attrNameLst>
                                      </p:cBhvr>
                                      <p:to>
                                        <p:strVal val="visible"/>
                                      </p:to>
                                    </p:set>
                                    <p:animEffect transition="in" filter="fade">
                                      <p:cBhvr>
                                        <p:cTn id="167" dur="400"/>
                                        <p:tgtEl>
                                          <p:spTgt spid="58"/>
                                        </p:tgtEl>
                                      </p:cBhvr>
                                    </p:animEffect>
                                  </p:childTnLst>
                                </p:cTn>
                              </p:par>
                            </p:childTnLst>
                          </p:cTn>
                        </p:par>
                      </p:childTnLst>
                    </p:cTn>
                  </p:par>
                  <p:par>
                    <p:cTn id="182" fill="hold">
                      <p:stCondLst>
                        <p:cond delay="indefinite"/>
                      </p:stCondLst>
                      <p:childTnLst>
                        <p:par>
                          <p:cTn id="183" fill="hold">
                            <p:stCondLst>
                              <p:cond delay="0"/>
                            </p:stCondLst>
                            <p:childTnLst>
                              <p:par>
                                <p:cTn id="170" presetID="10" presetClass="entr" presetSubtype="0" fill="hold" nodeType="clickEffect">
                                  <p:stCondLst>
                                    <p:cond delay="0"/>
                                  </p:stCondLst>
                                  <p:childTnLst>
                                    <p:set>
                                      <p:cBhvr>
                                        <p:cTn id="171" dur="1" fill="hold">
                                          <p:stCondLst>
                                            <p:cond delay="0"/>
                                          </p:stCondLst>
                                        </p:cTn>
                                        <p:tgtEl>
                                          <p:spTgt spid="59"/>
                                        </p:tgtEl>
                                        <p:attrNameLst>
                                          <p:attrName>style.visibility</p:attrName>
                                        </p:attrNameLst>
                                      </p:cBhvr>
                                      <p:to>
                                        <p:strVal val="visible"/>
                                      </p:to>
                                    </p:set>
                                    <p:animEffect transition="in" filter="fade">
                                      <p:cBhvr>
                                        <p:cTn id="172" dur="400"/>
                                        <p:tgtEl>
                                          <p:spTgt spid="59"/>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60"/>
                                        </p:tgtEl>
                                        <p:attrNameLst>
                                          <p:attrName>style.visibility</p:attrName>
                                        </p:attrNameLst>
                                      </p:cBhvr>
                                      <p:to>
                                        <p:strVal val="visible"/>
                                      </p:to>
                                    </p:set>
                                    <p:animEffect transition="in" filter="fade">
                                      <p:cBhvr>
                                        <p:cTn id="175" dur="400"/>
                                        <p:tgtEl>
                                          <p:spTgt spid="60"/>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61"/>
                                        </p:tgtEl>
                                        <p:attrNameLst>
                                          <p:attrName>style.visibility</p:attrName>
                                        </p:attrNameLst>
                                      </p:cBhvr>
                                      <p:to>
                                        <p:strVal val="visible"/>
                                      </p:to>
                                    </p:set>
                                    <p:animEffect transition="in" filter="fade">
                                      <p:cBhvr>
                                        <p:cTn id="178" dur="400"/>
                                        <p:tgtEl>
                                          <p:spTgt spid="61"/>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62"/>
                                        </p:tgtEl>
                                        <p:attrNameLst>
                                          <p:attrName>style.visibility</p:attrName>
                                        </p:attrNameLst>
                                      </p:cBhvr>
                                      <p:to>
                                        <p:strVal val="visible"/>
                                      </p:to>
                                    </p:set>
                                    <p:animEffect transition="in" filter="fade">
                                      <p:cBhvr>
                                        <p:cTn id="181" dur="400"/>
                                        <p:tgtEl>
                                          <p:spTgt spid="62"/>
                                        </p:tgtEl>
                                      </p:cBhvr>
                                    </p:animEffect>
                                  </p:childTnLst>
                                </p:cTn>
                              </p:par>
                            </p:childTnLst>
                          </p:cTn>
                        </p:par>
                      </p:childTnLst>
                    </p:cTn>
                  </p:par>
                  <p:par>
                    <p:cTn id="196" fill="hold">
                      <p:stCondLst>
                        <p:cond delay="indefinite"/>
                      </p:stCondLst>
                      <p:childTnLst>
                        <p:par>
                          <p:cTn id="197" fill="hold">
                            <p:stCondLst>
                              <p:cond delay="0"/>
                            </p:stCondLst>
                            <p:childTnLst>
                              <p:par>
                                <p:cTn id="184" presetID="10" presetClass="entr" presetSubtype="0" fill="hold" nodeType="clickEffect">
                                  <p:stCondLst>
                                    <p:cond delay="0"/>
                                  </p:stCondLst>
                                  <p:childTnLst>
                                    <p:set>
                                      <p:cBhvr>
                                        <p:cTn id="185" dur="1" fill="hold">
                                          <p:stCondLst>
                                            <p:cond delay="0"/>
                                          </p:stCondLst>
                                        </p:cTn>
                                        <p:tgtEl>
                                          <p:spTgt spid="63"/>
                                        </p:tgtEl>
                                        <p:attrNameLst>
                                          <p:attrName>style.visibility</p:attrName>
                                        </p:attrNameLst>
                                      </p:cBhvr>
                                      <p:to>
                                        <p:strVal val="visible"/>
                                      </p:to>
                                    </p:set>
                                    <p:animEffect transition="in" filter="fade">
                                      <p:cBhvr>
                                        <p:cTn id="186" dur="400"/>
                                        <p:tgtEl>
                                          <p:spTgt spid="63"/>
                                        </p:tgtEl>
                                      </p:cBhvr>
                                    </p:animEffect>
                                  </p:childTnLst>
                                </p:cTn>
                              </p:par>
                              <p:par>
                                <p:cTn id="187" presetID="10" presetClass="entr" presetSubtype="0" fill="hold" grpId="0" nodeType="withEffect">
                                  <p:stCondLst>
                                    <p:cond delay="0"/>
                                  </p:stCondLst>
                                  <p:childTnLst>
                                    <p:set>
                                      <p:cBhvr>
                                        <p:cTn id="188" dur="1" fill="hold">
                                          <p:stCondLst>
                                            <p:cond delay="0"/>
                                          </p:stCondLst>
                                        </p:cTn>
                                        <p:tgtEl>
                                          <p:spTgt spid="64"/>
                                        </p:tgtEl>
                                        <p:attrNameLst>
                                          <p:attrName>style.visibility</p:attrName>
                                        </p:attrNameLst>
                                      </p:cBhvr>
                                      <p:to>
                                        <p:strVal val="visible"/>
                                      </p:to>
                                    </p:set>
                                    <p:animEffect transition="in" filter="fade">
                                      <p:cBhvr>
                                        <p:cTn id="189" dur="400"/>
                                        <p:tgtEl>
                                          <p:spTgt spid="64"/>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5"/>
                                        </p:tgtEl>
                                        <p:attrNameLst>
                                          <p:attrName>style.visibility</p:attrName>
                                        </p:attrNameLst>
                                      </p:cBhvr>
                                      <p:to>
                                        <p:strVal val="visible"/>
                                      </p:to>
                                    </p:set>
                                    <p:animEffect transition="in" filter="fade">
                                      <p:cBhvr>
                                        <p:cTn id="192" dur="400"/>
                                        <p:tgtEl>
                                          <p:spTgt spid="65"/>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66"/>
                                        </p:tgtEl>
                                        <p:attrNameLst>
                                          <p:attrName>style.visibility</p:attrName>
                                        </p:attrNameLst>
                                      </p:cBhvr>
                                      <p:to>
                                        <p:strVal val="visible"/>
                                      </p:to>
                                    </p:set>
                                    <p:animEffect transition="in" filter="fade">
                                      <p:cBhvr>
                                        <p:cTn id="195" dur="400"/>
                                        <p:tgtEl>
                                          <p:spTgt spid="66"/>
                                        </p:tgtEl>
                                      </p:cBhvr>
                                    </p:animEffect>
                                  </p:childTnLst>
                                </p:cTn>
                              </p:par>
                            </p:childTnLst>
                          </p:cTn>
                        </p:par>
                      </p:childTnLst>
                    </p:cTn>
                  </p:par>
                  <p:par>
                    <p:cTn id="204" fill="hold">
                      <p:stCondLst>
                        <p:cond delay="indefinite"/>
                      </p:stCondLst>
                      <p:childTnLst>
                        <p:par>
                          <p:cTn id="205" fill="hold">
                            <p:stCondLst>
                              <p:cond delay="0"/>
                            </p:stCondLst>
                            <p:childTnLst>
                              <p:par>
                                <p:cTn id="198" presetID="10" presetClass="entr" presetSubtype="0" fill="hold" nodeType="clickEffect">
                                  <p:stCondLst>
                                    <p:cond delay="0"/>
                                  </p:stCondLst>
                                  <p:childTnLst>
                                    <p:set>
                                      <p:cBhvr>
                                        <p:cTn id="199" dur="1" fill="hold">
                                          <p:stCondLst>
                                            <p:cond delay="0"/>
                                          </p:stCondLst>
                                        </p:cTn>
                                        <p:tgtEl>
                                          <p:spTgt spid="67"/>
                                        </p:tgtEl>
                                        <p:attrNameLst>
                                          <p:attrName>style.visibility</p:attrName>
                                        </p:attrNameLst>
                                      </p:cBhvr>
                                      <p:to>
                                        <p:strVal val="visible"/>
                                      </p:to>
                                    </p:set>
                                    <p:animEffect transition="in" filter="fade">
                                      <p:cBhvr>
                                        <p:cTn id="200" dur="400"/>
                                        <p:tgtEl>
                                          <p:spTgt spid="67"/>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68"/>
                                        </p:tgtEl>
                                        <p:attrNameLst>
                                          <p:attrName>style.visibility</p:attrName>
                                        </p:attrNameLst>
                                      </p:cBhvr>
                                      <p:to>
                                        <p:strVal val="visible"/>
                                      </p:to>
                                    </p:set>
                                    <p:animEffect transition="in" filter="fade">
                                      <p:cBhvr>
                                        <p:cTn id="203" dur="4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14" grpId="0" animBg="1"/>
      <p:bldP spid="15" grpId="0" animBg="1"/>
      <p:bldP spid="17" grpId="0" animBg="1"/>
      <p:bldP spid="18" grpId="0" animBg="1"/>
      <p:bldP spid="20" grpId="0" animBg="1"/>
      <p:bldP spid="21" grpId="0" animBg="1"/>
      <p:bldP spid="22" grpId="0" animBg="1"/>
      <p:bldP spid="24" grpId="0" animBg="1"/>
      <p:bldP spid="26" grpId="0" animBg="1"/>
      <p:bldP spid="28" grpId="0" animBg="1"/>
      <p:bldP spid="30" grpId="0" animBg="1"/>
      <p:bldP spid="31" grpId="0" animBg="1"/>
      <p:bldP spid="33" grpId="0" animBg="1"/>
      <p:bldP spid="34" grpId="0" animBg="1"/>
      <p:bldP spid="35" grpId="0" animBg="1"/>
      <p:bldP spid="37" grpId="0" animBg="1"/>
      <p:bldP spid="39" grpId="0" animBg="1"/>
      <p:bldP spid="41" grpId="0" animBg="1"/>
      <p:bldP spid="43" grpId="0" animBg="1"/>
      <p:bldP spid="45" grpId="0" animBg="1"/>
      <p:bldP spid="47" grpId="0" animBg="1"/>
      <p:bldP spid="48" grpId="0" animBg="1"/>
      <p:bldP spid="50" grpId="0" animBg="1"/>
      <p:bldP spid="51" grpId="0" animBg="1"/>
      <p:bldP spid="53" grpId="0" animBg="1"/>
      <p:bldP spid="54" grpId="0" animBg="1"/>
      <p:bldP spid="56" grpId="0" animBg="1"/>
      <p:bldP spid="57" grpId="0" animBg="1"/>
      <p:bldP spid="58" grpId="0" animBg="1"/>
      <p:bldP spid="60" grpId="0" animBg="1"/>
      <p:bldP spid="61" grpId="0" animBg="1"/>
      <p:bldP spid="62" grpId="0" animBg="1"/>
      <p:bldP spid="64" grpId="0" animBg="1"/>
      <p:bldP spid="65" grpId="0" animBg="1"/>
      <p:bldP spid="66" grpId="0" animBg="1"/>
      <p:bldP spid="6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502920"/>
            <a:ext cx="914400" cy="1005840"/>
          </a:xfrm>
          <a:prstGeom prst="rect">
            <a:avLst/>
          </a:prstGeom>
          <a:noFill/>
          <a:ln/>
        </p:spPr>
        <p:txBody>
          <a:bodyPr wrap="square" lIns="0" tIns="0" rIns="0" bIns="0" rtlCol="0" anchor="ctr"/>
          <a:lstStyle/>
          <a:p>
            <a:pPr indent="0" marL="0">
              <a:buNone/>
            </a:pPr>
            <a:r>
              <a:rPr lang="en-US" sz="6600" b="1" dirty="0">
                <a:solidFill>
                  <a:srgbClr val="FFD43B"/>
                </a:solidFill>
                <a:latin typeface="Cambria" pitchFamily="34" charset="0"/>
                <a:ea typeface="Cambria" pitchFamily="34" charset="-122"/>
                <a:cs typeface="Cambria" pitchFamily="34" charset="-120"/>
              </a:rPr>
              <a:t>5</a:t>
            </a:r>
            <a:endParaRPr lang="en-US" sz="6600" dirty="0"/>
          </a:p>
        </p:txBody>
      </p:sp>
      <p:sp>
        <p:nvSpPr>
          <p:cNvPr id="3" name="x"/>
          <p:cNvSpPr txBox="1"/>
          <p:nvPr/>
        </p:nvSpPr>
        <p:spPr>
          <a:xfrm>
            <a:off x="1371600" y="1005840"/>
            <a:ext cx="1097280" cy="457200"/>
          </a:xfrm>
          <a:prstGeom prst="rect">
            <a:avLst/>
          </a:prstGeom>
          <a:noFill/>
          <a:ln/>
        </p:spPr>
        <p:txBody>
          <a:bodyPr wrap="square" lIns="0" tIns="0" rIns="0" bIns="0" rtlCol="0" anchor="ctr"/>
          <a:lstStyle/>
          <a:p>
            <a:pPr indent="0" marL="0">
              <a:buNone/>
            </a:pPr>
            <a:r>
              <a:rPr lang="en-US" sz="1600" i="1" dirty="0">
                <a:solidFill>
                  <a:srgbClr val="C9D4E0"/>
                </a:solidFill>
                <a:latin typeface="Calibri" pitchFamily="34" charset="0"/>
                <a:ea typeface="Calibri" pitchFamily="34" charset="-122"/>
                <a:cs typeface="Calibri" pitchFamily="34" charset="-120"/>
              </a:rPr>
              <a:t>of 6</a:t>
            </a:r>
            <a:endParaRPr lang="en-US" sz="1600" dirty="0"/>
          </a:p>
        </p:txBody>
      </p:sp>
      <p:sp>
        <p:nvSpPr>
          <p:cNvPr id="4" name="x"/>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Sequences and references</a:t>
            </a:r>
            <a:endParaRPr lang="en-US" sz="3600" dirty="0"/>
          </a:p>
        </p:txBody>
      </p:sp>
      <p:sp>
        <p:nvSpPr>
          <p:cNvPr id="5" name="x"/>
          <p:cNvSpPr txBox="1"/>
          <p:nvPr/>
        </p:nvSpPr>
        <p:spPr>
          <a:xfrm>
            <a:off x="548640" y="2148840"/>
            <a:ext cx="8046720" cy="502920"/>
          </a:xfrm>
          <a:prstGeom prst="rect">
            <a:avLst/>
          </a:prstGeom>
          <a:noFill/>
          <a:ln/>
        </p:spPr>
        <p:txBody>
          <a:bodyPr wrap="square" lIns="0" tIns="0" rIns="0" bIns="0" rtlCol="0" anchor="t"/>
          <a:lstStyle/>
          <a:p>
            <a:pPr indent="0" marL="0">
              <a:buNone/>
            </a:pPr>
            <a:r>
              <a:rPr lang="en-US" sz="1500" i="1" dirty="0">
                <a:solidFill>
                  <a:srgbClr val="FFD43B"/>
                </a:solidFill>
                <a:latin typeface="Calibri" pitchFamily="34" charset="0"/>
                <a:ea typeface="Calibri" pitchFamily="34" charset="-122"/>
                <a:cs typeface="Calibri" pitchFamily="34" charset="-120"/>
              </a:rPr>
              <a:t>Lists, strings and tuples share the sequence operations, and what a variable holds decides what copying a list means.</a:t>
            </a:r>
            <a:endParaRPr lang="en-US" sz="1500" dirty="0"/>
          </a:p>
        </p:txBody>
      </p:sp>
      <p:sp>
        <p:nvSpPr>
          <p:cNvPr id="6" name="divmid|b1"/>
          <p:cNvSpPr txBox="1"/>
          <p:nvPr/>
        </p:nvSpPr>
        <p:spPr>
          <a:xfrm>
            <a:off x="548640" y="2788920"/>
            <a:ext cx="25603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Sequence types</a:t>
            </a:r>
            <a:endParaRPr lang="en-US" sz="1500" dirty="0"/>
          </a:p>
        </p:txBody>
      </p:sp>
      <p:sp>
        <p:nvSpPr>
          <p:cNvPr id="7" name="divleafbox|b1"/>
          <p:cNvSpPr/>
          <p:nvPr/>
        </p:nvSpPr>
        <p:spPr>
          <a:xfrm>
            <a:off x="548640" y="3108960"/>
            <a:ext cx="2560320" cy="246888"/>
          </a:xfrm>
          <a:prstGeom prst="roundRect">
            <a:avLst>
              <a:gd name="adj" fmla="val 22222"/>
            </a:avLst>
          </a:prstGeom>
          <a:solidFill>
            <a:srgbClr val="2C3E54"/>
          </a:solidFill>
          <a:ln w="12700">
            <a:solidFill>
              <a:srgbClr val="3B5B87"/>
            </a:solidFill>
            <a:prstDash val="solid"/>
          </a:ln>
        </p:spPr>
      </p:sp>
      <p:sp>
        <p:nvSpPr>
          <p:cNvPr id="8" name="divleaf|b1"/>
          <p:cNvSpPr txBox="1"/>
          <p:nvPr/>
        </p:nvSpPr>
        <p:spPr>
          <a:xfrm>
            <a:off x="640080" y="3108960"/>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Mutable versus immutable</a:t>
            </a:r>
            <a:endParaRPr lang="en-US" sz="1200" dirty="0"/>
          </a:p>
        </p:txBody>
      </p:sp>
      <p:sp>
        <p:nvSpPr>
          <p:cNvPr id="9" name="divleafbox|b1"/>
          <p:cNvSpPr/>
          <p:nvPr/>
        </p:nvSpPr>
        <p:spPr>
          <a:xfrm>
            <a:off x="548640" y="3392424"/>
            <a:ext cx="2560320" cy="246888"/>
          </a:xfrm>
          <a:prstGeom prst="roundRect">
            <a:avLst>
              <a:gd name="adj" fmla="val 22222"/>
            </a:avLst>
          </a:prstGeom>
          <a:solidFill>
            <a:srgbClr val="2C3E54"/>
          </a:solidFill>
          <a:ln w="12700">
            <a:solidFill>
              <a:srgbClr val="3B5B87"/>
            </a:solidFill>
            <a:prstDash val="solid"/>
          </a:ln>
        </p:spPr>
      </p:sp>
      <p:sp>
        <p:nvSpPr>
          <p:cNvPr id="10" name="divleaf|b1"/>
          <p:cNvSpPr txBox="1"/>
          <p:nvPr/>
        </p:nvSpPr>
        <p:spPr>
          <a:xfrm>
            <a:off x="640080" y="3392424"/>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Tuple type</a:t>
            </a:r>
            <a:endParaRPr lang="en-US" sz="1200" dirty="0"/>
          </a:p>
        </p:txBody>
      </p:sp>
      <p:sp>
        <p:nvSpPr>
          <p:cNvPr id="11" name="divmid|b2"/>
          <p:cNvSpPr txBox="1"/>
          <p:nvPr/>
        </p:nvSpPr>
        <p:spPr>
          <a:xfrm>
            <a:off x="3291840" y="2788920"/>
            <a:ext cx="25603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References</a:t>
            </a:r>
            <a:endParaRPr lang="en-US" sz="1500" dirty="0"/>
          </a:p>
        </p:txBody>
      </p:sp>
      <p:sp>
        <p:nvSpPr>
          <p:cNvPr id="12" name="divleafbox|b2"/>
          <p:cNvSpPr/>
          <p:nvPr/>
        </p:nvSpPr>
        <p:spPr>
          <a:xfrm>
            <a:off x="3291840" y="3108960"/>
            <a:ext cx="2560320" cy="246888"/>
          </a:xfrm>
          <a:prstGeom prst="roundRect">
            <a:avLst>
              <a:gd name="adj" fmla="val 22222"/>
            </a:avLst>
          </a:prstGeom>
          <a:solidFill>
            <a:srgbClr val="2C3E54"/>
          </a:solidFill>
          <a:ln w="12700">
            <a:solidFill>
              <a:srgbClr val="3B5B87"/>
            </a:solidFill>
            <a:prstDash val="solid"/>
          </a:ln>
        </p:spPr>
      </p:sp>
      <p:sp>
        <p:nvSpPr>
          <p:cNvPr id="13" name="divleaf|b2"/>
          <p:cNvSpPr txBox="1"/>
          <p:nvPr/>
        </p:nvSpPr>
        <p:spPr>
          <a:xfrm>
            <a:off x="3383280" y="3108960"/>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References and aliasing</a:t>
            </a:r>
            <a:endParaRPr lang="en-US" sz="1200" dirty="0"/>
          </a:p>
        </p:txBody>
      </p:sp>
      <p:sp>
        <p:nvSpPr>
          <p:cNvPr id="14" name="divleafbox|b2"/>
          <p:cNvSpPr/>
          <p:nvPr/>
        </p:nvSpPr>
        <p:spPr>
          <a:xfrm>
            <a:off x="3291840" y="3392424"/>
            <a:ext cx="2560320" cy="246888"/>
          </a:xfrm>
          <a:prstGeom prst="roundRect">
            <a:avLst>
              <a:gd name="adj" fmla="val 22222"/>
            </a:avLst>
          </a:prstGeom>
          <a:solidFill>
            <a:srgbClr val="2C3E54"/>
          </a:solidFill>
          <a:ln w="12700">
            <a:solidFill>
              <a:srgbClr val="3B5B87"/>
            </a:solidFill>
            <a:prstDash val="solid"/>
          </a:ln>
        </p:spPr>
      </p:sp>
      <p:sp>
        <p:nvSpPr>
          <p:cNvPr id="15" name="divleaf|b2"/>
          <p:cNvSpPr txBox="1"/>
          <p:nvPr/>
        </p:nvSpPr>
        <p:spPr>
          <a:xfrm>
            <a:off x="3383280" y="3392424"/>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List arguments</a:t>
            </a:r>
            <a:endParaRPr lang="en-US" sz="1200" dirty="0"/>
          </a:p>
        </p:txBody>
      </p:sp>
      <p:sp>
        <p:nvSpPr>
          <p:cNvPr id="16" name="divleafbox|b2"/>
          <p:cNvSpPr/>
          <p:nvPr/>
        </p:nvSpPr>
        <p:spPr>
          <a:xfrm>
            <a:off x="3291840" y="3675888"/>
            <a:ext cx="2560320" cy="246888"/>
          </a:xfrm>
          <a:prstGeom prst="roundRect">
            <a:avLst>
              <a:gd name="adj" fmla="val 22222"/>
            </a:avLst>
          </a:prstGeom>
          <a:solidFill>
            <a:srgbClr val="2C3E54"/>
          </a:solidFill>
          <a:ln w="12700">
            <a:solidFill>
              <a:srgbClr val="3B5B87"/>
            </a:solidFill>
            <a:prstDash val="solid"/>
          </a:ln>
        </p:spPr>
      </p:sp>
      <p:sp>
        <p:nvSpPr>
          <p:cNvPr id="17" name="divleaf|b2"/>
          <p:cNvSpPr txBox="1"/>
          <p:nvPr/>
        </p:nvSpPr>
        <p:spPr>
          <a:xfrm>
            <a:off x="3383280" y="3675888"/>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Replication aliasing</a:t>
            </a:r>
            <a:endParaRPr lang="en-US" sz="1200" dirty="0"/>
          </a:p>
        </p:txBody>
      </p:sp>
      <p:sp>
        <p:nvSpPr>
          <p:cNvPr id="18" name="divmid|b3"/>
          <p:cNvSpPr txBox="1"/>
          <p:nvPr/>
        </p:nvSpPr>
        <p:spPr>
          <a:xfrm>
            <a:off x="6035040" y="2788920"/>
            <a:ext cx="25603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Copying</a:t>
            </a:r>
            <a:endParaRPr lang="en-US" sz="1500" dirty="0"/>
          </a:p>
        </p:txBody>
      </p:sp>
      <p:sp>
        <p:nvSpPr>
          <p:cNvPr id="19" name="divleafbox|b3"/>
          <p:cNvSpPr/>
          <p:nvPr/>
        </p:nvSpPr>
        <p:spPr>
          <a:xfrm>
            <a:off x="6035040" y="3108960"/>
            <a:ext cx="2560320" cy="246888"/>
          </a:xfrm>
          <a:prstGeom prst="roundRect">
            <a:avLst>
              <a:gd name="adj" fmla="val 22222"/>
            </a:avLst>
          </a:prstGeom>
          <a:solidFill>
            <a:srgbClr val="2C3E54"/>
          </a:solidFill>
          <a:ln w="12700">
            <a:solidFill>
              <a:srgbClr val="3B5B87"/>
            </a:solidFill>
            <a:prstDash val="solid"/>
          </a:ln>
        </p:spPr>
      </p:sp>
      <p:sp>
        <p:nvSpPr>
          <p:cNvPr id="20" name="divleaf|b3"/>
          <p:cNvSpPr txBox="1"/>
          <p:nvPr/>
        </p:nvSpPr>
        <p:spPr>
          <a:xfrm>
            <a:off x="6126480" y="3108960"/>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Shallow copy</a:t>
            </a:r>
            <a:endParaRPr lang="en-US" sz="1200" dirty="0"/>
          </a:p>
        </p:txBody>
      </p:sp>
      <p:sp>
        <p:nvSpPr>
          <p:cNvPr id="21" name="divleafbox|b3"/>
          <p:cNvSpPr/>
          <p:nvPr/>
        </p:nvSpPr>
        <p:spPr>
          <a:xfrm>
            <a:off x="6035040" y="3392424"/>
            <a:ext cx="2560320" cy="246888"/>
          </a:xfrm>
          <a:prstGeom prst="roundRect">
            <a:avLst>
              <a:gd name="adj" fmla="val 22222"/>
            </a:avLst>
          </a:prstGeom>
          <a:solidFill>
            <a:srgbClr val="2C3E54"/>
          </a:solidFill>
          <a:ln w="12700">
            <a:solidFill>
              <a:srgbClr val="3B5B87"/>
            </a:solidFill>
            <a:prstDash val="solid"/>
          </a:ln>
        </p:spPr>
      </p:sp>
      <p:sp>
        <p:nvSpPr>
          <p:cNvPr id="22" name="divleaf|b3"/>
          <p:cNvSpPr txBox="1"/>
          <p:nvPr/>
        </p:nvSpPr>
        <p:spPr>
          <a:xfrm>
            <a:off x="6126480" y="3392424"/>
            <a:ext cx="23774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Deep copy</a:t>
            </a:r>
            <a:endParaRPr lang="en-US" sz="1200" dirty="0"/>
          </a:p>
        </p:txBody>
      </p:sp>
      <p:sp>
        <p:nvSpPr>
          <p:cNvPr id="23" name="x"/>
          <p:cNvSpPr/>
          <p:nvPr/>
        </p:nvSpPr>
        <p:spPr>
          <a:xfrm>
            <a:off x="548640" y="4572000"/>
            <a:ext cx="1267968" cy="64008"/>
          </a:xfrm>
          <a:prstGeom prst="rect">
            <a:avLst/>
          </a:prstGeom>
          <a:solidFill>
            <a:srgbClr val="4A5D75"/>
          </a:solidFill>
          <a:ln w="12700">
            <a:solidFill>
              <a:srgbClr val="4A5D75"/>
            </a:solidFill>
            <a:prstDash val="solid"/>
          </a:ln>
        </p:spPr>
      </p:sp>
      <p:sp>
        <p:nvSpPr>
          <p:cNvPr id="24" name="x"/>
          <p:cNvSpPr/>
          <p:nvPr/>
        </p:nvSpPr>
        <p:spPr>
          <a:xfrm>
            <a:off x="1889760" y="4572000"/>
            <a:ext cx="1267968" cy="64008"/>
          </a:xfrm>
          <a:prstGeom prst="rect">
            <a:avLst/>
          </a:prstGeom>
          <a:solidFill>
            <a:srgbClr val="4A5D75"/>
          </a:solidFill>
          <a:ln w="12700">
            <a:solidFill>
              <a:srgbClr val="4A5D75"/>
            </a:solidFill>
            <a:prstDash val="solid"/>
          </a:ln>
        </p:spPr>
      </p:sp>
      <p:sp>
        <p:nvSpPr>
          <p:cNvPr id="25" name="x"/>
          <p:cNvSpPr/>
          <p:nvPr/>
        </p:nvSpPr>
        <p:spPr>
          <a:xfrm>
            <a:off x="3230880" y="4572000"/>
            <a:ext cx="1267968" cy="64008"/>
          </a:xfrm>
          <a:prstGeom prst="rect">
            <a:avLst/>
          </a:prstGeom>
          <a:solidFill>
            <a:srgbClr val="4A5D75"/>
          </a:solidFill>
          <a:ln w="12700">
            <a:solidFill>
              <a:srgbClr val="4A5D75"/>
            </a:solidFill>
            <a:prstDash val="solid"/>
          </a:ln>
        </p:spPr>
      </p:sp>
      <p:sp>
        <p:nvSpPr>
          <p:cNvPr id="26" name="x"/>
          <p:cNvSpPr/>
          <p:nvPr/>
        </p:nvSpPr>
        <p:spPr>
          <a:xfrm>
            <a:off x="4572000" y="4572000"/>
            <a:ext cx="1267968" cy="64008"/>
          </a:xfrm>
          <a:prstGeom prst="rect">
            <a:avLst/>
          </a:prstGeom>
          <a:solidFill>
            <a:srgbClr val="4A5D75"/>
          </a:solidFill>
          <a:ln w="12700">
            <a:solidFill>
              <a:srgbClr val="4A5D75"/>
            </a:solidFill>
            <a:prstDash val="solid"/>
          </a:ln>
        </p:spPr>
      </p:sp>
      <p:sp>
        <p:nvSpPr>
          <p:cNvPr id="27" name="x"/>
          <p:cNvSpPr/>
          <p:nvPr/>
        </p:nvSpPr>
        <p:spPr>
          <a:xfrm>
            <a:off x="5913120" y="4572000"/>
            <a:ext cx="1267968" cy="64008"/>
          </a:xfrm>
          <a:prstGeom prst="rect">
            <a:avLst/>
          </a:prstGeom>
          <a:solidFill>
            <a:srgbClr val="FFD43B"/>
          </a:solidFill>
          <a:ln w="12700">
            <a:solidFill>
              <a:srgbClr val="FFD43B"/>
            </a:solidFill>
            <a:prstDash val="solid"/>
          </a:ln>
        </p:spPr>
      </p:sp>
      <p:sp>
        <p:nvSpPr>
          <p:cNvPr id="28" name="x"/>
          <p:cNvSpPr/>
          <p:nvPr/>
        </p:nvSpPr>
        <p:spPr>
          <a:xfrm>
            <a:off x="7254240" y="4572000"/>
            <a:ext cx="1267968" cy="64008"/>
          </a:xfrm>
          <a:prstGeom prst="rect">
            <a:avLst/>
          </a:prstGeom>
          <a:solidFill>
            <a:srgbClr val="4A5D75"/>
          </a:solidFill>
          <a:ln w="12700">
            <a:solidFill>
              <a:srgbClr val="4A5D75"/>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41" fill="hold">
                      <p:stCondLst>
                        <p:cond delay="indefinite"/>
                      </p:stCondLst>
                      <p:childTnLst>
                        <p:par>
                          <p:cTn id="42"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childTnLst>
                          </p:cTn>
                        </p:par>
                      </p:childTnLst>
                    </p:cTn>
                  </p:par>
                  <p:par>
                    <p:cTn id="58" fill="hold">
                      <p:stCondLst>
                        <p:cond delay="indefinite"/>
                      </p:stCondLst>
                      <p:childTnLst>
                        <p:par>
                          <p:cTn id="59"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par>
                                <p:cTn id="46" presetID="10" presetClass="entr" presetSubtype="0" fill="hold"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par>
                                <p:cTn id="52" presetID="10" presetClass="entr" presetSubtype="0" fill="hold"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P spid="13" grpId="0" animBg="1"/>
      <p:bldP spid="15" grpId="0" animBg="1"/>
      <p:bldP spid="17" grpId="0" animBg="1"/>
      <p:bldP spid="18" grpId="0" animBg="1"/>
      <p:bldP spid="20" grpId="0" animBg="1"/>
      <p:bldP spid="2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Lists change in place; strings and tuples do not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Among list, str, tuple and range only the list is a mutable sequence</a:t>
            </a:r>
            <a:endParaRPr lang="en-US" sz="1400" dirty="0"/>
          </a:p>
        </p:txBody>
      </p:sp>
      <p:sp>
        <p:nvSpPr>
          <p:cNvPr id="6" name="v:MutableVersusImmutable:s0box:box|b1"/>
          <p:cNvSpPr/>
          <p:nvPr/>
        </p:nvSpPr>
        <p:spPr>
          <a:xfrm>
            <a:off x="365760" y="1188720"/>
            <a:ext cx="2020824" cy="1828800"/>
          </a:xfrm>
          <a:prstGeom prst="roundRect">
            <a:avLst>
              <a:gd name="adj" fmla="val 4000"/>
            </a:avLst>
          </a:prstGeom>
          <a:solidFill>
            <a:srgbClr val="F1F4F8"/>
          </a:solidFill>
          <a:ln w="25400">
            <a:solidFill>
              <a:srgbClr val="2E9E5B"/>
            </a:solidFill>
            <a:prstDash val="solid"/>
          </a:ln>
        </p:spPr>
      </p:sp>
      <p:sp>
        <p:nvSpPr>
          <p:cNvPr id="7" name="v:MutableVersusImmutable:s0name|b1"/>
          <p:cNvSpPr txBox="1"/>
          <p:nvPr/>
        </p:nvSpPr>
        <p:spPr>
          <a:xfrm>
            <a:off x="475488" y="1243584"/>
            <a:ext cx="1801368" cy="310896"/>
          </a:xfrm>
          <a:prstGeom prst="rect">
            <a:avLst/>
          </a:prstGeom>
          <a:noFill/>
          <a:ln/>
        </p:spPr>
        <p:txBody>
          <a:bodyPr wrap="square" lIns="0" tIns="0" rIns="0" bIns="0" rtlCol="0" anchor="ctr"/>
          <a:lstStyle/>
          <a:p>
            <a:pPr indent="0" marL="0">
              <a:buNone/>
            </a:pPr>
            <a:r>
              <a:rPr lang="en-US" sz="1700" b="1" dirty="0">
                <a:solidFill>
                  <a:srgbClr val="2E9E5B"/>
                </a:solidFill>
                <a:latin typeface="Courier New" pitchFamily="34" charset="0"/>
                <a:ea typeface="Courier New" pitchFamily="34" charset="-122"/>
                <a:cs typeface="Courier New" pitchFamily="34" charset="-120"/>
              </a:rPr>
              <a:t>list</a:t>
            </a:r>
            <a:endParaRPr lang="en-US" sz="1700" dirty="0"/>
          </a:p>
        </p:txBody>
      </p:sp>
      <p:sp>
        <p:nvSpPr>
          <p:cNvPr id="8" name="v:MutableVersusImmutable:s0sample|b1"/>
          <p:cNvSpPr txBox="1"/>
          <p:nvPr/>
        </p:nvSpPr>
        <p:spPr>
          <a:xfrm>
            <a:off x="475488" y="1572768"/>
            <a:ext cx="1801368" cy="237744"/>
          </a:xfrm>
          <a:prstGeom prst="rect">
            <a:avLst/>
          </a:prstGeom>
          <a:noFill/>
          <a:ln/>
        </p:spPr>
        <p:txBody>
          <a:bodyPr wrap="square" lIns="0" tIns="0" rIns="0" bIns="0" rtlCol="0" anchor="ctr">
            <a:normAutofit/>
          </a:bodyPr>
          <a:lstStyle/>
          <a:p>
            <a:pPr indent="0" marL="0">
              <a:buNone/>
            </a:pPr>
            <a:r>
              <a:rPr lang="en-US" sz="1050" dirty="0">
                <a:solidFill>
                  <a:srgbClr val="1F2933"/>
                </a:solidFill>
                <a:latin typeface="Courier New" pitchFamily="34" charset="0"/>
                <a:ea typeface="Courier New" pitchFamily="34" charset="-122"/>
                <a:cs typeface="Courier New" pitchFamily="34" charset="-120"/>
              </a:rPr>
              <a:t>['A', 'B', 'C']</a:t>
            </a:r>
            <a:endParaRPr lang="en-US" sz="1050" dirty="0"/>
          </a:p>
        </p:txBody>
      </p:sp>
      <p:sp>
        <p:nvSpPr>
          <p:cNvPr id="9" name="v:MutableVersusImmutable:s0chip:box|b1"/>
          <p:cNvSpPr/>
          <p:nvPr/>
        </p:nvSpPr>
        <p:spPr>
          <a:xfrm>
            <a:off x="475488" y="1865376"/>
            <a:ext cx="960120" cy="237744"/>
          </a:xfrm>
          <a:prstGeom prst="roundRect">
            <a:avLst>
              <a:gd name="adj" fmla="val 30769"/>
            </a:avLst>
          </a:prstGeom>
          <a:solidFill>
            <a:srgbClr val="DDF3E6"/>
          </a:solidFill>
          <a:ln w="12700">
            <a:solidFill>
              <a:srgbClr val="2E9E5B"/>
            </a:solidFill>
            <a:prstDash val="solid"/>
          </a:ln>
        </p:spPr>
      </p:sp>
      <p:sp>
        <p:nvSpPr>
          <p:cNvPr id="10" name="v:MutableVersusImmutable:s0mut|b1"/>
          <p:cNvSpPr txBox="1"/>
          <p:nvPr/>
        </p:nvSpPr>
        <p:spPr>
          <a:xfrm>
            <a:off x="475488" y="1865376"/>
            <a:ext cx="960120" cy="237744"/>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mutable</a:t>
            </a:r>
            <a:endParaRPr lang="en-US" sz="1100" dirty="0"/>
          </a:p>
        </p:txBody>
      </p:sp>
      <p:sp>
        <p:nvSpPr>
          <p:cNvPr id="11" name="v:MutableVersusImmutable:s0assign|b1"/>
          <p:cNvSpPr txBox="1"/>
          <p:nvPr/>
        </p:nvSpPr>
        <p:spPr>
          <a:xfrm>
            <a:off x="475488" y="2157984"/>
            <a:ext cx="1801368" cy="219456"/>
          </a:xfrm>
          <a:prstGeom prst="rect">
            <a:avLst/>
          </a:prstGeom>
          <a:noFill/>
          <a:ln/>
        </p:spPr>
        <p:txBody>
          <a:bodyPr wrap="square" lIns="0" tIns="0" rIns="0" bIns="0" rtlCol="0" anchor="ctr"/>
          <a:lstStyle/>
          <a:p>
            <a:pPr indent="0" marL="0">
              <a:buNone/>
            </a:pPr>
            <a:r>
              <a:rPr lang="en-US" sz="1050" b="1" dirty="0">
                <a:solidFill>
                  <a:srgbClr val="1E2A3A"/>
                </a:solidFill>
                <a:latin typeface="Courier New" pitchFamily="34" charset="0"/>
                <a:ea typeface="Courier New" pitchFamily="34" charset="-122"/>
                <a:cs typeface="Courier New" pitchFamily="34" charset="-120"/>
              </a:rPr>
              <a:t>x[1] = 'X'</a:t>
            </a:r>
            <a:endParaRPr lang="en-US" sz="1050" dirty="0"/>
          </a:p>
        </p:txBody>
      </p:sp>
      <p:sp>
        <p:nvSpPr>
          <p:cNvPr id="12" name="v:MutableVersusImmutable:s0result|b1"/>
          <p:cNvSpPr txBox="1"/>
          <p:nvPr/>
        </p:nvSpPr>
        <p:spPr>
          <a:xfrm>
            <a:off x="475488" y="2377440"/>
            <a:ext cx="1801368" cy="585216"/>
          </a:xfrm>
          <a:prstGeom prst="rect">
            <a:avLst/>
          </a:prstGeom>
          <a:noFill/>
          <a:ln/>
        </p:spPr>
        <p:txBody>
          <a:bodyPr wrap="square" lIns="0" tIns="0" rIns="0" bIns="0" rtlCol="0" anchor="t"/>
          <a:lstStyle/>
          <a:p>
            <a:pPr indent="0" marL="0">
              <a:buNone/>
            </a:pPr>
            <a:r>
              <a:rPr lang="en-US" sz="950" dirty="0">
                <a:solidFill>
                  <a:srgbClr val="2E9E5B"/>
                </a:solidFill>
                <a:latin typeface="Courier New" pitchFamily="34" charset="0"/>
                <a:ea typeface="Courier New" pitchFamily="34" charset="-122"/>
                <a:cs typeface="Courier New" pitchFamily="34" charset="-120"/>
              </a:rPr>
              <a:t>ok: ['A', 'X', 'C']</a:t>
            </a:r>
            <a:endParaRPr lang="en-US" sz="950" dirty="0"/>
          </a:p>
        </p:txBody>
      </p:sp>
      <p:sp>
        <p:nvSpPr>
          <p:cNvPr id="13" name="v:MutableVersusImmutable:s1box:box|b2"/>
          <p:cNvSpPr/>
          <p:nvPr/>
        </p:nvSpPr>
        <p:spPr>
          <a:xfrm>
            <a:off x="2496312" y="1188720"/>
            <a:ext cx="2020824" cy="1828800"/>
          </a:xfrm>
          <a:prstGeom prst="roundRect">
            <a:avLst>
              <a:gd name="adj" fmla="val 4000"/>
            </a:avLst>
          </a:prstGeom>
          <a:solidFill>
            <a:srgbClr val="F1F4F8"/>
          </a:solidFill>
          <a:ln w="25400">
            <a:solidFill>
              <a:srgbClr val="D64545"/>
            </a:solidFill>
            <a:prstDash val="solid"/>
          </a:ln>
        </p:spPr>
      </p:sp>
      <p:sp>
        <p:nvSpPr>
          <p:cNvPr id="14" name="v:MutableVersusImmutable:s1name|b2"/>
          <p:cNvSpPr txBox="1"/>
          <p:nvPr/>
        </p:nvSpPr>
        <p:spPr>
          <a:xfrm>
            <a:off x="2606040" y="1243584"/>
            <a:ext cx="1801368" cy="310896"/>
          </a:xfrm>
          <a:prstGeom prst="rect">
            <a:avLst/>
          </a:prstGeom>
          <a:noFill/>
          <a:ln/>
        </p:spPr>
        <p:txBody>
          <a:bodyPr wrap="square" lIns="0" tIns="0" rIns="0" bIns="0" rtlCol="0" anchor="ctr"/>
          <a:lstStyle/>
          <a:p>
            <a:pPr indent="0" marL="0">
              <a:buNone/>
            </a:pPr>
            <a:r>
              <a:rPr lang="en-US" sz="1700" b="1" dirty="0">
                <a:solidFill>
                  <a:srgbClr val="D64545"/>
                </a:solidFill>
                <a:latin typeface="Courier New" pitchFamily="34" charset="0"/>
                <a:ea typeface="Courier New" pitchFamily="34" charset="-122"/>
                <a:cs typeface="Courier New" pitchFamily="34" charset="-120"/>
              </a:rPr>
              <a:t>str</a:t>
            </a:r>
            <a:endParaRPr lang="en-US" sz="1700" dirty="0"/>
          </a:p>
        </p:txBody>
      </p:sp>
      <p:sp>
        <p:nvSpPr>
          <p:cNvPr id="15" name="v:MutableVersusImmutable:s1sample|b2"/>
          <p:cNvSpPr txBox="1"/>
          <p:nvPr/>
        </p:nvSpPr>
        <p:spPr>
          <a:xfrm>
            <a:off x="2606040" y="1572768"/>
            <a:ext cx="1801368" cy="237744"/>
          </a:xfrm>
          <a:prstGeom prst="rect">
            <a:avLst/>
          </a:prstGeom>
          <a:noFill/>
          <a:ln/>
        </p:spPr>
        <p:txBody>
          <a:bodyPr wrap="square" lIns="0" tIns="0" rIns="0" bIns="0" rtlCol="0" anchor="ctr">
            <a:normAutofit/>
          </a:bodyPr>
          <a:lstStyle/>
          <a:p>
            <a:pPr indent="0" marL="0">
              <a:buNone/>
            </a:pPr>
            <a:r>
              <a:rPr lang="en-US" sz="1050" dirty="0">
                <a:solidFill>
                  <a:srgbClr val="1F2933"/>
                </a:solidFill>
                <a:latin typeface="Courier New" pitchFamily="34" charset="0"/>
                <a:ea typeface="Courier New" pitchFamily="34" charset="-122"/>
                <a:cs typeface="Courier New" pitchFamily="34" charset="-120"/>
              </a:rPr>
              <a:t>'Zophie a cat'</a:t>
            </a:r>
            <a:endParaRPr lang="en-US" sz="1050" dirty="0"/>
          </a:p>
        </p:txBody>
      </p:sp>
      <p:sp>
        <p:nvSpPr>
          <p:cNvPr id="16" name="v:MutableVersusImmutable:s1chip:box|b2"/>
          <p:cNvSpPr/>
          <p:nvPr/>
        </p:nvSpPr>
        <p:spPr>
          <a:xfrm>
            <a:off x="2606040" y="1865376"/>
            <a:ext cx="960120" cy="237744"/>
          </a:xfrm>
          <a:prstGeom prst="roundRect">
            <a:avLst>
              <a:gd name="adj" fmla="val 30769"/>
            </a:avLst>
          </a:prstGeom>
          <a:solidFill>
            <a:srgbClr val="FBE1E1"/>
          </a:solidFill>
          <a:ln w="12700">
            <a:solidFill>
              <a:srgbClr val="D64545"/>
            </a:solidFill>
            <a:prstDash val="solid"/>
          </a:ln>
        </p:spPr>
      </p:sp>
      <p:sp>
        <p:nvSpPr>
          <p:cNvPr id="17" name="v:MutableVersusImmutable:s1mut|b2"/>
          <p:cNvSpPr txBox="1"/>
          <p:nvPr/>
        </p:nvSpPr>
        <p:spPr>
          <a:xfrm>
            <a:off x="2606040" y="1865376"/>
            <a:ext cx="960120" cy="237744"/>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immutable</a:t>
            </a:r>
            <a:endParaRPr lang="en-US" sz="1100" dirty="0"/>
          </a:p>
        </p:txBody>
      </p:sp>
      <p:sp>
        <p:nvSpPr>
          <p:cNvPr id="18" name="v:MutableVersusImmutable:s1assign|b2"/>
          <p:cNvSpPr txBox="1"/>
          <p:nvPr/>
        </p:nvSpPr>
        <p:spPr>
          <a:xfrm>
            <a:off x="2606040" y="2157984"/>
            <a:ext cx="1801368" cy="219456"/>
          </a:xfrm>
          <a:prstGeom prst="rect">
            <a:avLst/>
          </a:prstGeom>
          <a:noFill/>
          <a:ln/>
        </p:spPr>
        <p:txBody>
          <a:bodyPr wrap="square" lIns="0" tIns="0" rIns="0" bIns="0" rtlCol="0" anchor="ctr"/>
          <a:lstStyle/>
          <a:p>
            <a:pPr indent="0" marL="0">
              <a:buNone/>
            </a:pPr>
            <a:r>
              <a:rPr lang="en-US" sz="1050" b="1" dirty="0">
                <a:solidFill>
                  <a:srgbClr val="1E2A3A"/>
                </a:solidFill>
                <a:latin typeface="Courier New" pitchFamily="34" charset="0"/>
                <a:ea typeface="Courier New" pitchFamily="34" charset="-122"/>
                <a:cs typeface="Courier New" pitchFamily="34" charset="-120"/>
              </a:rPr>
              <a:t>x[7] = 'the'</a:t>
            </a:r>
            <a:endParaRPr lang="en-US" sz="1050" dirty="0"/>
          </a:p>
        </p:txBody>
      </p:sp>
      <p:sp>
        <p:nvSpPr>
          <p:cNvPr id="19" name="v:MutableVersusImmutable:s1result|b2"/>
          <p:cNvSpPr txBox="1"/>
          <p:nvPr/>
        </p:nvSpPr>
        <p:spPr>
          <a:xfrm>
            <a:off x="2606040" y="2377440"/>
            <a:ext cx="1801368" cy="585216"/>
          </a:xfrm>
          <a:prstGeom prst="rect">
            <a:avLst/>
          </a:prstGeom>
          <a:noFill/>
          <a:ln/>
        </p:spPr>
        <p:txBody>
          <a:bodyPr wrap="square" lIns="0" tIns="0" rIns="0" bIns="0" rtlCol="0" anchor="t"/>
          <a:lstStyle/>
          <a:p>
            <a:pPr indent="0" marL="0">
              <a:buNone/>
            </a:pPr>
            <a:r>
              <a:rPr lang="en-US" sz="950" dirty="0">
                <a:solidFill>
                  <a:srgbClr val="D64545"/>
                </a:solidFill>
                <a:latin typeface="Courier New" pitchFamily="34" charset="0"/>
                <a:ea typeface="Courier New" pitchFamily="34" charset="-122"/>
                <a:cs typeface="Courier New" pitchFamily="34" charset="-120"/>
              </a:rPr>
              <a:t>TypeError: 'str' object does not support item assignment</a:t>
            </a:r>
            <a:endParaRPr lang="en-US" sz="950" dirty="0"/>
          </a:p>
        </p:txBody>
      </p:sp>
      <p:sp>
        <p:nvSpPr>
          <p:cNvPr id="20" name="v:MutableVersusImmutable:s2box:box|b3"/>
          <p:cNvSpPr/>
          <p:nvPr/>
        </p:nvSpPr>
        <p:spPr>
          <a:xfrm>
            <a:off x="4626864" y="1188720"/>
            <a:ext cx="2020824" cy="1828800"/>
          </a:xfrm>
          <a:prstGeom prst="roundRect">
            <a:avLst>
              <a:gd name="adj" fmla="val 4000"/>
            </a:avLst>
          </a:prstGeom>
          <a:solidFill>
            <a:srgbClr val="F1F4F8"/>
          </a:solidFill>
          <a:ln w="25400">
            <a:solidFill>
              <a:srgbClr val="D64545"/>
            </a:solidFill>
            <a:prstDash val="solid"/>
          </a:ln>
        </p:spPr>
      </p:sp>
      <p:sp>
        <p:nvSpPr>
          <p:cNvPr id="21" name="v:MutableVersusImmutable:s2name|b3"/>
          <p:cNvSpPr txBox="1"/>
          <p:nvPr/>
        </p:nvSpPr>
        <p:spPr>
          <a:xfrm>
            <a:off x="4736592" y="1243584"/>
            <a:ext cx="1801368" cy="310896"/>
          </a:xfrm>
          <a:prstGeom prst="rect">
            <a:avLst/>
          </a:prstGeom>
          <a:noFill/>
          <a:ln/>
        </p:spPr>
        <p:txBody>
          <a:bodyPr wrap="square" lIns="0" tIns="0" rIns="0" bIns="0" rtlCol="0" anchor="ctr"/>
          <a:lstStyle/>
          <a:p>
            <a:pPr indent="0" marL="0">
              <a:buNone/>
            </a:pPr>
            <a:r>
              <a:rPr lang="en-US" sz="1700" b="1" dirty="0">
                <a:solidFill>
                  <a:srgbClr val="D64545"/>
                </a:solidFill>
                <a:latin typeface="Courier New" pitchFamily="34" charset="0"/>
                <a:ea typeface="Courier New" pitchFamily="34" charset="-122"/>
                <a:cs typeface="Courier New" pitchFamily="34" charset="-120"/>
              </a:rPr>
              <a:t>tuple</a:t>
            </a:r>
            <a:endParaRPr lang="en-US" sz="1700" dirty="0"/>
          </a:p>
        </p:txBody>
      </p:sp>
      <p:sp>
        <p:nvSpPr>
          <p:cNvPr id="22" name="v:MutableVersusImmutable:s2sample|b3"/>
          <p:cNvSpPr txBox="1"/>
          <p:nvPr/>
        </p:nvSpPr>
        <p:spPr>
          <a:xfrm>
            <a:off x="4736592" y="1572768"/>
            <a:ext cx="1801368" cy="237744"/>
          </a:xfrm>
          <a:prstGeom prst="rect">
            <a:avLst/>
          </a:prstGeom>
          <a:noFill/>
          <a:ln/>
        </p:spPr>
        <p:txBody>
          <a:bodyPr wrap="square" lIns="0" tIns="0" rIns="0" bIns="0" rtlCol="0" anchor="ctr">
            <a:normAutofit/>
          </a:bodyPr>
          <a:lstStyle/>
          <a:p>
            <a:pPr indent="0" marL="0">
              <a:buNone/>
            </a:pPr>
            <a:r>
              <a:rPr lang="en-US" sz="1050" dirty="0">
                <a:solidFill>
                  <a:srgbClr val="1F2933"/>
                </a:solidFill>
                <a:latin typeface="Courier New" pitchFamily="34" charset="0"/>
                <a:ea typeface="Courier New" pitchFamily="34" charset="-122"/>
                <a:cs typeface="Courier New" pitchFamily="34" charset="-120"/>
              </a:rPr>
              <a:t>('hello', 42, 0.5)</a:t>
            </a:r>
            <a:endParaRPr lang="en-US" sz="1050" dirty="0"/>
          </a:p>
        </p:txBody>
      </p:sp>
      <p:sp>
        <p:nvSpPr>
          <p:cNvPr id="23" name="v:MutableVersusImmutable:s2chip:box|b3"/>
          <p:cNvSpPr/>
          <p:nvPr/>
        </p:nvSpPr>
        <p:spPr>
          <a:xfrm>
            <a:off x="4736592" y="1865376"/>
            <a:ext cx="960120" cy="237744"/>
          </a:xfrm>
          <a:prstGeom prst="roundRect">
            <a:avLst>
              <a:gd name="adj" fmla="val 30769"/>
            </a:avLst>
          </a:prstGeom>
          <a:solidFill>
            <a:srgbClr val="FBE1E1"/>
          </a:solidFill>
          <a:ln w="12700">
            <a:solidFill>
              <a:srgbClr val="D64545"/>
            </a:solidFill>
            <a:prstDash val="solid"/>
          </a:ln>
        </p:spPr>
      </p:sp>
      <p:sp>
        <p:nvSpPr>
          <p:cNvPr id="24" name="v:MutableVersusImmutable:s2mut|b3"/>
          <p:cNvSpPr txBox="1"/>
          <p:nvPr/>
        </p:nvSpPr>
        <p:spPr>
          <a:xfrm>
            <a:off x="4736592" y="1865376"/>
            <a:ext cx="960120" cy="237744"/>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immutable</a:t>
            </a:r>
            <a:endParaRPr lang="en-US" sz="1100" dirty="0"/>
          </a:p>
        </p:txBody>
      </p:sp>
      <p:sp>
        <p:nvSpPr>
          <p:cNvPr id="25" name="v:MutableVersusImmutable:s2assign|b3"/>
          <p:cNvSpPr txBox="1"/>
          <p:nvPr/>
        </p:nvSpPr>
        <p:spPr>
          <a:xfrm>
            <a:off x="4736592" y="2157984"/>
            <a:ext cx="1801368" cy="219456"/>
          </a:xfrm>
          <a:prstGeom prst="rect">
            <a:avLst/>
          </a:prstGeom>
          <a:noFill/>
          <a:ln/>
        </p:spPr>
        <p:txBody>
          <a:bodyPr wrap="square" lIns="0" tIns="0" rIns="0" bIns="0" rtlCol="0" anchor="ctr"/>
          <a:lstStyle/>
          <a:p>
            <a:pPr indent="0" marL="0">
              <a:buNone/>
            </a:pPr>
            <a:r>
              <a:rPr lang="en-US" sz="1050" b="1" dirty="0">
                <a:solidFill>
                  <a:srgbClr val="1E2A3A"/>
                </a:solidFill>
                <a:latin typeface="Courier New" pitchFamily="34" charset="0"/>
                <a:ea typeface="Courier New" pitchFamily="34" charset="-122"/>
                <a:cs typeface="Courier New" pitchFamily="34" charset="-120"/>
              </a:rPr>
              <a:t>x[1] = 99</a:t>
            </a:r>
            <a:endParaRPr lang="en-US" sz="1050" dirty="0"/>
          </a:p>
        </p:txBody>
      </p:sp>
      <p:sp>
        <p:nvSpPr>
          <p:cNvPr id="26" name="v:MutableVersusImmutable:s2result|b3"/>
          <p:cNvSpPr txBox="1"/>
          <p:nvPr/>
        </p:nvSpPr>
        <p:spPr>
          <a:xfrm>
            <a:off x="4736592" y="2377440"/>
            <a:ext cx="1801368" cy="585216"/>
          </a:xfrm>
          <a:prstGeom prst="rect">
            <a:avLst/>
          </a:prstGeom>
          <a:noFill/>
          <a:ln/>
        </p:spPr>
        <p:txBody>
          <a:bodyPr wrap="square" lIns="0" tIns="0" rIns="0" bIns="0" rtlCol="0" anchor="t"/>
          <a:lstStyle/>
          <a:p>
            <a:pPr indent="0" marL="0">
              <a:buNone/>
            </a:pPr>
            <a:r>
              <a:rPr lang="en-US" sz="950" dirty="0">
                <a:solidFill>
                  <a:srgbClr val="D64545"/>
                </a:solidFill>
                <a:latin typeface="Courier New" pitchFamily="34" charset="0"/>
                <a:ea typeface="Courier New" pitchFamily="34" charset="-122"/>
                <a:cs typeface="Courier New" pitchFamily="34" charset="-120"/>
              </a:rPr>
              <a:t>TypeError: 'tuple' object does not support item assignment</a:t>
            </a:r>
            <a:endParaRPr lang="en-US" sz="950" dirty="0"/>
          </a:p>
        </p:txBody>
      </p:sp>
      <p:sp>
        <p:nvSpPr>
          <p:cNvPr id="27" name="v:MutableVersusImmutable:s3box:box|b4"/>
          <p:cNvSpPr/>
          <p:nvPr/>
        </p:nvSpPr>
        <p:spPr>
          <a:xfrm>
            <a:off x="6757416" y="1188720"/>
            <a:ext cx="2020824" cy="1828800"/>
          </a:xfrm>
          <a:prstGeom prst="roundRect">
            <a:avLst>
              <a:gd name="adj" fmla="val 4000"/>
            </a:avLst>
          </a:prstGeom>
          <a:solidFill>
            <a:srgbClr val="F1F4F8"/>
          </a:solidFill>
          <a:ln w="25400">
            <a:solidFill>
              <a:srgbClr val="D64545"/>
            </a:solidFill>
            <a:prstDash val="solid"/>
          </a:ln>
        </p:spPr>
      </p:sp>
      <p:sp>
        <p:nvSpPr>
          <p:cNvPr id="28" name="v:MutableVersusImmutable:s3name|b4"/>
          <p:cNvSpPr txBox="1"/>
          <p:nvPr/>
        </p:nvSpPr>
        <p:spPr>
          <a:xfrm>
            <a:off x="6867144" y="1243584"/>
            <a:ext cx="1801368" cy="310896"/>
          </a:xfrm>
          <a:prstGeom prst="rect">
            <a:avLst/>
          </a:prstGeom>
          <a:noFill/>
          <a:ln/>
        </p:spPr>
        <p:txBody>
          <a:bodyPr wrap="square" lIns="0" tIns="0" rIns="0" bIns="0" rtlCol="0" anchor="ctr"/>
          <a:lstStyle/>
          <a:p>
            <a:pPr indent="0" marL="0">
              <a:buNone/>
            </a:pPr>
            <a:r>
              <a:rPr lang="en-US" sz="1700" b="1" dirty="0">
                <a:solidFill>
                  <a:srgbClr val="D64545"/>
                </a:solidFill>
                <a:latin typeface="Courier New" pitchFamily="34" charset="0"/>
                <a:ea typeface="Courier New" pitchFamily="34" charset="-122"/>
                <a:cs typeface="Courier New" pitchFamily="34" charset="-120"/>
              </a:rPr>
              <a:t>range</a:t>
            </a:r>
            <a:endParaRPr lang="en-US" sz="1700" dirty="0"/>
          </a:p>
        </p:txBody>
      </p:sp>
      <p:sp>
        <p:nvSpPr>
          <p:cNvPr id="29" name="v:MutableVersusImmutable:s3sample|b4"/>
          <p:cNvSpPr txBox="1"/>
          <p:nvPr/>
        </p:nvSpPr>
        <p:spPr>
          <a:xfrm>
            <a:off x="6867144" y="1572768"/>
            <a:ext cx="1801368" cy="237744"/>
          </a:xfrm>
          <a:prstGeom prst="rect">
            <a:avLst/>
          </a:prstGeom>
          <a:noFill/>
          <a:ln/>
        </p:spPr>
        <p:txBody>
          <a:bodyPr wrap="square" lIns="0" tIns="0" rIns="0" bIns="0" rtlCol="0" anchor="ctr">
            <a:normAutofit/>
          </a:bodyPr>
          <a:lstStyle/>
          <a:p>
            <a:pPr indent="0" marL="0">
              <a:buNone/>
            </a:pPr>
            <a:r>
              <a:rPr lang="en-US" sz="1050" dirty="0">
                <a:solidFill>
                  <a:srgbClr val="1F2933"/>
                </a:solidFill>
                <a:latin typeface="Courier New" pitchFamily="34" charset="0"/>
                <a:ea typeface="Courier New" pitchFamily="34" charset="-122"/>
                <a:cs typeface="Courier New" pitchFamily="34" charset="-120"/>
              </a:rPr>
              <a:t>range(3)</a:t>
            </a:r>
            <a:endParaRPr lang="en-US" sz="1050" dirty="0"/>
          </a:p>
        </p:txBody>
      </p:sp>
      <p:sp>
        <p:nvSpPr>
          <p:cNvPr id="30" name="v:MutableVersusImmutable:s3chip:box|b4"/>
          <p:cNvSpPr/>
          <p:nvPr/>
        </p:nvSpPr>
        <p:spPr>
          <a:xfrm>
            <a:off x="6867144" y="1865376"/>
            <a:ext cx="960120" cy="237744"/>
          </a:xfrm>
          <a:prstGeom prst="roundRect">
            <a:avLst>
              <a:gd name="adj" fmla="val 30769"/>
            </a:avLst>
          </a:prstGeom>
          <a:solidFill>
            <a:srgbClr val="FBE1E1"/>
          </a:solidFill>
          <a:ln w="12700">
            <a:solidFill>
              <a:srgbClr val="D64545"/>
            </a:solidFill>
            <a:prstDash val="solid"/>
          </a:ln>
        </p:spPr>
      </p:sp>
      <p:sp>
        <p:nvSpPr>
          <p:cNvPr id="31" name="v:MutableVersusImmutable:s3mut|b4"/>
          <p:cNvSpPr txBox="1"/>
          <p:nvPr/>
        </p:nvSpPr>
        <p:spPr>
          <a:xfrm>
            <a:off x="6867144" y="1865376"/>
            <a:ext cx="960120" cy="237744"/>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immutable</a:t>
            </a:r>
            <a:endParaRPr lang="en-US" sz="1100" dirty="0"/>
          </a:p>
        </p:txBody>
      </p:sp>
      <p:sp>
        <p:nvSpPr>
          <p:cNvPr id="32" name="v:MutableVersusImmutable:s3assign|b4"/>
          <p:cNvSpPr txBox="1"/>
          <p:nvPr/>
        </p:nvSpPr>
        <p:spPr>
          <a:xfrm>
            <a:off x="6867144" y="2157984"/>
            <a:ext cx="1801368" cy="219456"/>
          </a:xfrm>
          <a:prstGeom prst="rect">
            <a:avLst/>
          </a:prstGeom>
          <a:noFill/>
          <a:ln/>
        </p:spPr>
        <p:txBody>
          <a:bodyPr wrap="square" lIns="0" tIns="0" rIns="0" bIns="0" rtlCol="0" anchor="ctr"/>
          <a:lstStyle/>
          <a:p>
            <a:pPr indent="0" marL="0">
              <a:buNone/>
            </a:pPr>
            <a:r>
              <a:rPr lang="en-US" sz="1050" b="1" dirty="0">
                <a:solidFill>
                  <a:srgbClr val="1E2A3A"/>
                </a:solidFill>
                <a:latin typeface="Courier New" pitchFamily="34" charset="0"/>
                <a:ea typeface="Courier New" pitchFamily="34" charset="-122"/>
                <a:cs typeface="Courier New" pitchFamily="34" charset="-120"/>
              </a:rPr>
              <a:t>x[1] = 5</a:t>
            </a:r>
            <a:endParaRPr lang="en-US" sz="1050" dirty="0"/>
          </a:p>
        </p:txBody>
      </p:sp>
      <p:sp>
        <p:nvSpPr>
          <p:cNvPr id="33" name="v:MutableVersusImmutable:s3result|b4"/>
          <p:cNvSpPr txBox="1"/>
          <p:nvPr/>
        </p:nvSpPr>
        <p:spPr>
          <a:xfrm>
            <a:off x="6867144" y="2377440"/>
            <a:ext cx="1801368" cy="585216"/>
          </a:xfrm>
          <a:prstGeom prst="rect">
            <a:avLst/>
          </a:prstGeom>
          <a:noFill/>
          <a:ln/>
        </p:spPr>
        <p:txBody>
          <a:bodyPr wrap="square" lIns="0" tIns="0" rIns="0" bIns="0" rtlCol="0" anchor="t"/>
          <a:lstStyle/>
          <a:p>
            <a:pPr indent="0" marL="0">
              <a:buNone/>
            </a:pPr>
            <a:r>
              <a:rPr lang="en-US" sz="950" dirty="0">
                <a:solidFill>
                  <a:srgbClr val="D64545"/>
                </a:solidFill>
                <a:latin typeface="Courier New" pitchFamily="34" charset="0"/>
                <a:ea typeface="Courier New" pitchFamily="34" charset="-122"/>
                <a:cs typeface="Courier New" pitchFamily="34" charset="-120"/>
              </a:rPr>
              <a:t>TypeError: 'range' object does not support item assignment</a:t>
            </a:r>
            <a:endParaRPr lang="en-US" sz="950" dirty="0"/>
          </a:p>
        </p:txBody>
      </p:sp>
      <p:sp>
        <p:nvSpPr>
          <p:cNvPr id="34" name="v:TupleType:f0box:box|b5"/>
          <p:cNvSpPr/>
          <p:nvPr/>
        </p:nvSpPr>
        <p:spPr>
          <a:xfrm>
            <a:off x="365760" y="3200400"/>
            <a:ext cx="2731008" cy="1325880"/>
          </a:xfrm>
          <a:prstGeom prst="roundRect">
            <a:avLst>
              <a:gd name="adj" fmla="val 5517"/>
            </a:avLst>
          </a:prstGeom>
          <a:solidFill>
            <a:srgbClr val="F1F4F8"/>
          </a:solidFill>
          <a:ln w="12700">
            <a:solidFill>
              <a:srgbClr val="F1F4F8"/>
            </a:solidFill>
            <a:prstDash val="solid"/>
          </a:ln>
        </p:spPr>
      </p:sp>
      <p:sp>
        <p:nvSpPr>
          <p:cNvPr id="35" name="v:TupleType:f0t|b5"/>
          <p:cNvSpPr txBox="1"/>
          <p:nvPr/>
        </p:nvSpPr>
        <p:spPr>
          <a:xfrm>
            <a:off x="475488" y="3246120"/>
            <a:ext cx="2511552"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A comma makes the tuple</a:t>
            </a:r>
            <a:endParaRPr lang="en-US" sz="1100" dirty="0"/>
          </a:p>
        </p:txBody>
      </p:sp>
      <p:sp>
        <p:nvSpPr>
          <p:cNvPr id="36" name="v:TupleType:f0e|b5"/>
          <p:cNvSpPr txBox="1"/>
          <p:nvPr/>
        </p:nvSpPr>
        <p:spPr>
          <a:xfrm>
            <a:off x="475488" y="3621024"/>
            <a:ext cx="2511552" cy="55778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type(('hello',))</a:t>
            </a:r>
            <a:endParaRPr lang="en-US" sz="1050" dirty="0"/>
          </a:p>
        </p:txBody>
      </p:sp>
      <p:sp>
        <p:nvSpPr>
          <p:cNvPr id="37" name="v:TupleType:f0r|b5"/>
          <p:cNvSpPr txBox="1"/>
          <p:nvPr/>
        </p:nvSpPr>
        <p:spPr>
          <a:xfrm>
            <a:off x="475488" y="4160520"/>
            <a:ext cx="2511552"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&lt;class 'tuple'&gt;</a:t>
            </a:r>
            <a:endParaRPr lang="en-US" sz="1400" dirty="0"/>
          </a:p>
        </p:txBody>
      </p:sp>
      <p:sp>
        <p:nvSpPr>
          <p:cNvPr id="38" name="v:TupleType:f1box:box|b6"/>
          <p:cNvSpPr/>
          <p:nvPr/>
        </p:nvSpPr>
        <p:spPr>
          <a:xfrm>
            <a:off x="3206496" y="3200400"/>
            <a:ext cx="2731008" cy="1325880"/>
          </a:xfrm>
          <a:prstGeom prst="roundRect">
            <a:avLst>
              <a:gd name="adj" fmla="val 5517"/>
            </a:avLst>
          </a:prstGeom>
          <a:solidFill>
            <a:srgbClr val="F1F4F8"/>
          </a:solidFill>
          <a:ln w="12700">
            <a:solidFill>
              <a:srgbClr val="F1F4F8"/>
            </a:solidFill>
            <a:prstDash val="solid"/>
          </a:ln>
        </p:spPr>
      </p:sp>
      <p:sp>
        <p:nvSpPr>
          <p:cNvPr id="39" name="v:TupleType:f1t|b6"/>
          <p:cNvSpPr txBox="1"/>
          <p:nvPr/>
        </p:nvSpPr>
        <p:spPr>
          <a:xfrm>
            <a:off x="3316224" y="3246120"/>
            <a:ext cx="2511552"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Parentheses alone do not</a:t>
            </a:r>
            <a:endParaRPr lang="en-US" sz="1100" dirty="0"/>
          </a:p>
        </p:txBody>
      </p:sp>
      <p:sp>
        <p:nvSpPr>
          <p:cNvPr id="40" name="v:TupleType:f1e|b6"/>
          <p:cNvSpPr txBox="1"/>
          <p:nvPr/>
        </p:nvSpPr>
        <p:spPr>
          <a:xfrm>
            <a:off x="3316224" y="3621024"/>
            <a:ext cx="2511552" cy="55778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type(('hello'))</a:t>
            </a:r>
            <a:endParaRPr lang="en-US" sz="1050" dirty="0"/>
          </a:p>
        </p:txBody>
      </p:sp>
      <p:sp>
        <p:nvSpPr>
          <p:cNvPr id="41" name="v:TupleType:f1r|b6"/>
          <p:cNvSpPr txBox="1"/>
          <p:nvPr/>
        </p:nvSpPr>
        <p:spPr>
          <a:xfrm>
            <a:off x="3316224" y="4160520"/>
            <a:ext cx="2511552"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&lt;class 'str'&gt;</a:t>
            </a:r>
            <a:endParaRPr lang="en-US" sz="1400" dirty="0"/>
          </a:p>
        </p:txBody>
      </p:sp>
      <p:sp>
        <p:nvSpPr>
          <p:cNvPr id="42" name="v:TupleType:f2box:box|b7"/>
          <p:cNvSpPr/>
          <p:nvPr/>
        </p:nvSpPr>
        <p:spPr>
          <a:xfrm>
            <a:off x="6047232" y="3200400"/>
            <a:ext cx="2731008" cy="1325880"/>
          </a:xfrm>
          <a:prstGeom prst="roundRect">
            <a:avLst>
              <a:gd name="adj" fmla="val 5517"/>
            </a:avLst>
          </a:prstGeom>
          <a:solidFill>
            <a:srgbClr val="F1F4F8"/>
          </a:solidFill>
          <a:ln w="12700">
            <a:solidFill>
              <a:srgbClr val="F1F4F8"/>
            </a:solidFill>
            <a:prstDash val="solid"/>
          </a:ln>
        </p:spPr>
      </p:sp>
      <p:sp>
        <p:nvSpPr>
          <p:cNvPr id="43" name="v:TupleType:f2t|b7"/>
          <p:cNvSpPr txBox="1"/>
          <p:nvPr/>
        </p:nvSpPr>
        <p:spPr>
          <a:xfrm>
            <a:off x="6156960" y="3246120"/>
            <a:ext cx="2511552" cy="365760"/>
          </a:xfrm>
          <a:prstGeom prst="rect">
            <a:avLst/>
          </a:prstGeom>
          <a:noFill/>
          <a:ln/>
        </p:spPr>
        <p:txBody>
          <a:bodyPr wrap="square" lIns="0" tIns="0" rIns="0" bIns="0" rtlCol="0" anchor="t"/>
          <a:lstStyle/>
          <a:p>
            <a:pPr indent="0" marL="0">
              <a:buNone/>
            </a:pPr>
            <a:r>
              <a:rPr lang="en-US" sz="1100" b="1" dirty="0">
                <a:solidFill>
                  <a:srgbClr val="306998"/>
                </a:solidFill>
                <a:latin typeface="Calibri" pitchFamily="34" charset="0"/>
                <a:ea typeface="Calibri" pitchFamily="34" charset="-122"/>
                <a:cs typeface="Calibri" pitchFamily="34" charset="-120"/>
              </a:rPr>
              <a:t>A changed string is rebuilt from slices</a:t>
            </a:r>
            <a:endParaRPr lang="en-US" sz="1100" dirty="0"/>
          </a:p>
        </p:txBody>
      </p:sp>
      <p:sp>
        <p:nvSpPr>
          <p:cNvPr id="44" name="v:TupleType:f2e|b7"/>
          <p:cNvSpPr txBox="1"/>
          <p:nvPr/>
        </p:nvSpPr>
        <p:spPr>
          <a:xfrm>
            <a:off x="6156960" y="3621024"/>
            <a:ext cx="2511552" cy="557784"/>
          </a:xfrm>
          <a:prstGeom prst="rect">
            <a:avLst/>
          </a:prstGeom>
          <a:noFill/>
          <a:ln/>
        </p:spPr>
        <p:txBody>
          <a:bodyPr wrap="square" lIns="0" tIns="0" rIns="0" bIns="0" rtlCol="0" anchor="t">
            <a:normAutofit/>
          </a:bodyPr>
          <a:lstStyle/>
          <a:p>
            <a:pPr indent="0" marL="0">
              <a:buNone/>
            </a:pPr>
            <a:r>
              <a:rPr lang="en-US" sz="1050" dirty="0">
                <a:solidFill>
                  <a:srgbClr val="5B6B7B"/>
                </a:solidFill>
                <a:latin typeface="Courier New" pitchFamily="34" charset="0"/>
                <a:ea typeface="Courier New" pitchFamily="34" charset="-122"/>
                <a:cs typeface="Courier New" pitchFamily="34" charset="-120"/>
              </a:rPr>
              <a:t>name[0:7] + 'the' + name[8:12]</a:t>
            </a:r>
            <a:endParaRPr lang="en-US" sz="1050" dirty="0"/>
          </a:p>
        </p:txBody>
      </p:sp>
      <p:sp>
        <p:nvSpPr>
          <p:cNvPr id="45" name="v:TupleType:f2r|b7"/>
          <p:cNvSpPr txBox="1"/>
          <p:nvPr/>
        </p:nvSpPr>
        <p:spPr>
          <a:xfrm>
            <a:off x="6156960" y="4160520"/>
            <a:ext cx="2511552" cy="310896"/>
          </a:xfrm>
          <a:prstGeom prst="rect">
            <a:avLst/>
          </a:prstGeom>
          <a:noFill/>
          <a:ln/>
        </p:spPr>
        <p:txBody>
          <a:bodyPr wrap="square" lIns="0" tIns="0" rIns="0" bIns="0" rtlCol="0" anchor="ctr">
            <a:normAutofit/>
          </a:bodyPr>
          <a:lstStyle/>
          <a:p>
            <a:pPr indent="0" marL="0">
              <a:buNone/>
            </a:pPr>
            <a:r>
              <a:rPr lang="en-US" sz="1400" b="1" dirty="0">
                <a:solidFill>
                  <a:srgbClr val="2E9E5B"/>
                </a:solidFill>
                <a:latin typeface="Courier New" pitchFamily="34" charset="0"/>
                <a:ea typeface="Courier New" pitchFamily="34" charset="-122"/>
                <a:cs typeface="Courier New" pitchFamily="34" charset="-120"/>
              </a:rPr>
              <a:t>'Zophie the cat'</a:t>
            </a:r>
            <a:endParaRPr lang="en-US" sz="1400" dirty="0"/>
          </a:p>
        </p:txBody>
      </p:sp>
      <p:sp>
        <p:nvSpPr>
          <p:cNvPr id="4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Sequences and references ▸ Mutable versus immutable, Tuple type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childTnLst>
                          </p:cTn>
                        </p:par>
                      </p:childTnLst>
                    </p:cTn>
                  </p:par>
                  <p:par>
                    <p:cTn id="47" fill="hold">
                      <p:stCondLst>
                        <p:cond delay="indefinite"/>
                      </p:stCondLst>
                      <p:childTnLst>
                        <p:par>
                          <p:cTn id="48"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childTnLst>
                          </p:cTn>
                        </p:par>
                      </p:childTnLst>
                    </p:cTn>
                  </p:par>
                  <p:par>
                    <p:cTn id="70" fill="hold">
                      <p:stCondLst>
                        <p:cond delay="indefinite"/>
                      </p:stCondLst>
                      <p:childTnLst>
                        <p:par>
                          <p:cTn id="71"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par>
                                <p:cTn id="58" presetID="10" presetClass="entr" presetSubtype="0" fill="hold"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0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0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0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00"/>
                                        <p:tgtEl>
                                          <p:spTgt spid="26"/>
                                        </p:tgtEl>
                                      </p:cBhvr>
                                    </p:animEffect>
                                  </p:childTnLst>
                                </p:cTn>
                              </p:par>
                            </p:childTnLst>
                          </p:cTn>
                        </p:par>
                      </p:childTnLst>
                    </p:cTn>
                  </p:par>
                  <p:par>
                    <p:cTn id="93" fill="hold">
                      <p:stCondLst>
                        <p:cond delay="indefinite"/>
                      </p:stCondLst>
                      <p:childTnLst>
                        <p:par>
                          <p:cTn id="94"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0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00"/>
                                        <p:tgtEl>
                                          <p:spTgt spid="29"/>
                                        </p:tgtEl>
                                      </p:cBhvr>
                                    </p:animEffect>
                                  </p:childTnLst>
                                </p:cTn>
                              </p:par>
                              <p:par>
                                <p:cTn id="81" presetID="10" presetClass="entr" presetSubtype="0" fill="hold"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400"/>
                                        <p:tgtEl>
                                          <p:spTgt spid="30"/>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400"/>
                                        <p:tgtEl>
                                          <p:spTgt spid="31"/>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400"/>
                                        <p:tgtEl>
                                          <p:spTgt spid="32"/>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3"/>
                                        </p:tgtEl>
                                        <p:attrNameLst>
                                          <p:attrName>style.visibility</p:attrName>
                                        </p:attrNameLst>
                                      </p:cBhvr>
                                      <p:to>
                                        <p:strVal val="visible"/>
                                      </p:to>
                                    </p:set>
                                    <p:animEffect transition="in" filter="fade">
                                      <p:cBhvr>
                                        <p:cTn id="92" dur="400"/>
                                        <p:tgtEl>
                                          <p:spTgt spid="33"/>
                                        </p:tgtEl>
                                      </p:cBhvr>
                                    </p:animEffect>
                                  </p:childTnLst>
                                </p:cTn>
                              </p:par>
                            </p:childTnLst>
                          </p:cTn>
                        </p:par>
                      </p:childTnLst>
                    </p:cTn>
                  </p:par>
                  <p:par>
                    <p:cTn id="107" fill="hold">
                      <p:stCondLst>
                        <p:cond delay="indefinite"/>
                      </p:stCondLst>
                      <p:childTnLst>
                        <p:par>
                          <p:cTn id="108"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00"/>
                                        <p:tgtEl>
                                          <p:spTgt spid="34"/>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400"/>
                                        <p:tgtEl>
                                          <p:spTgt spid="35"/>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400"/>
                                        <p:tgtEl>
                                          <p:spTgt spid="3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400"/>
                                        <p:tgtEl>
                                          <p:spTgt spid="37"/>
                                        </p:tgtEl>
                                      </p:cBhvr>
                                    </p:animEffect>
                                  </p:childTnLst>
                                </p:cTn>
                              </p:par>
                            </p:childTnLst>
                          </p:cTn>
                        </p:par>
                      </p:childTnLst>
                    </p:cTn>
                  </p:par>
                  <p:par>
                    <p:cTn id="121" fill="hold">
                      <p:stCondLst>
                        <p:cond delay="indefinite"/>
                      </p:stCondLst>
                      <p:childTnLst>
                        <p:par>
                          <p:cTn id="122"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400"/>
                                        <p:tgtEl>
                                          <p:spTgt spid="38"/>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400"/>
                                        <p:tgtEl>
                                          <p:spTgt spid="39"/>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400"/>
                                        <p:tgtEl>
                                          <p:spTgt spid="40"/>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1"/>
                                        </p:tgtEl>
                                        <p:attrNameLst>
                                          <p:attrName>style.visibility</p:attrName>
                                        </p:attrNameLst>
                                      </p:cBhvr>
                                      <p:to>
                                        <p:strVal val="visible"/>
                                      </p:to>
                                    </p:set>
                                    <p:animEffect transition="in" filter="fade">
                                      <p:cBhvr>
                                        <p:cTn id="120" dur="400"/>
                                        <p:tgtEl>
                                          <p:spTgt spid="41"/>
                                        </p:tgtEl>
                                      </p:cBhvr>
                                    </p:animEffect>
                                  </p:childTnLst>
                                </p:cTn>
                              </p:par>
                            </p:childTnLst>
                          </p:cTn>
                        </p:par>
                      </p:childTnLst>
                    </p:cTn>
                  </p:par>
                  <p:par>
                    <p:cTn id="135" fill="hold">
                      <p:stCondLst>
                        <p:cond delay="indefinite"/>
                      </p:stCondLst>
                      <p:childTnLst>
                        <p:par>
                          <p:cTn id="136" fill="hold">
                            <p:stCondLst>
                              <p:cond delay="0"/>
                            </p:stCondLst>
                            <p:childTnLst>
                              <p:par>
                                <p:cTn id="123" presetID="10" presetClass="entr" presetSubtype="0" fill="hold" nodeType="clickEffect">
                                  <p:stCondLst>
                                    <p:cond delay="0"/>
                                  </p:stCondLst>
                                  <p:childTnLst>
                                    <p:set>
                                      <p:cBhvr>
                                        <p:cTn id="124" dur="1" fill="hold">
                                          <p:stCondLst>
                                            <p:cond delay="0"/>
                                          </p:stCondLst>
                                        </p:cTn>
                                        <p:tgtEl>
                                          <p:spTgt spid="42"/>
                                        </p:tgtEl>
                                        <p:attrNameLst>
                                          <p:attrName>style.visibility</p:attrName>
                                        </p:attrNameLst>
                                      </p:cBhvr>
                                      <p:to>
                                        <p:strVal val="visible"/>
                                      </p:to>
                                    </p:set>
                                    <p:animEffect transition="in" filter="fade">
                                      <p:cBhvr>
                                        <p:cTn id="125" dur="400"/>
                                        <p:tgtEl>
                                          <p:spTgt spid="42"/>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3"/>
                                        </p:tgtEl>
                                        <p:attrNameLst>
                                          <p:attrName>style.visibility</p:attrName>
                                        </p:attrNameLst>
                                      </p:cBhvr>
                                      <p:to>
                                        <p:strVal val="visible"/>
                                      </p:to>
                                    </p:set>
                                    <p:animEffect transition="in" filter="fade">
                                      <p:cBhvr>
                                        <p:cTn id="128" dur="400"/>
                                        <p:tgtEl>
                                          <p:spTgt spid="43"/>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4"/>
                                        </p:tgtEl>
                                        <p:attrNameLst>
                                          <p:attrName>style.visibility</p:attrName>
                                        </p:attrNameLst>
                                      </p:cBhvr>
                                      <p:to>
                                        <p:strVal val="visible"/>
                                      </p:to>
                                    </p:set>
                                    <p:animEffect transition="in" filter="fade">
                                      <p:cBhvr>
                                        <p:cTn id="131" dur="400"/>
                                        <p:tgtEl>
                                          <p:spTgt spid="44"/>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45"/>
                                        </p:tgtEl>
                                        <p:attrNameLst>
                                          <p:attrName>style.visibility</p:attrName>
                                        </p:attrNameLst>
                                      </p:cBhvr>
                                      <p:to>
                                        <p:strVal val="visible"/>
                                      </p:to>
                                    </p:set>
                                    <p:animEffect transition="in" filter="fade">
                                      <p:cBhvr>
                                        <p:cTn id="134"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2" grpId="0" animBg="1"/>
      <p:bldP spid="14" grpId="0" animBg="1"/>
      <p:bldP spid="15" grpId="0" animBg="1"/>
      <p:bldP spid="17" grpId="0" animBg="1"/>
      <p:bldP spid="18" grpId="0" animBg="1"/>
      <p:bldP spid="19" grpId="0" animBg="1"/>
      <p:bldP spid="21" grpId="0" animBg="1"/>
      <p:bldP spid="22" grpId="0" animBg="1"/>
      <p:bldP spid="24" grpId="0" animBg="1"/>
      <p:bldP spid="25" grpId="0" animBg="1"/>
      <p:bldP spid="26" grpId="0" animBg="1"/>
      <p:bldP spid="28" grpId="0" animBg="1"/>
      <p:bldP spid="29" grpId="0" animBg="1"/>
      <p:bldP spid="31" grpId="0" animBg="1"/>
      <p:bldP spid="32" grpId="0" animBg="1"/>
      <p:bldP spid="33" grpId="0" animBg="1"/>
      <p:bldP spid="35" grpId="0" animBg="1"/>
      <p:bldP spid="36" grpId="0" animBg="1"/>
      <p:bldP spid="37" grpId="0" animBg="1"/>
      <p:bldP spid="39" grpId="0" animBg="1"/>
      <p:bldP spid="40" grpId="0" animBg="1"/>
      <p:bldP spid="41" grpId="0" animBg="1"/>
      <p:bldP spid="43" grpId="0" animBg="1"/>
      <p:bldP spid="44" grpId="0" animBg="1"/>
      <p:bldP spid="4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Assignment copies nothing: two names, one box</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number is replaced; a list is shared</a:t>
            </a:r>
            <a:endParaRPr lang="en-US" sz="1400" dirty="0"/>
          </a:p>
        </p:txBody>
      </p:sp>
      <p:sp>
        <p:nvSpPr>
          <p:cNvPr id="6" name="v:ReferencesAndAliasing:sc0t"/>
          <p:cNvSpPr txBox="1"/>
          <p:nvPr/>
        </p:nvSpPr>
        <p:spPr>
          <a:xfrm>
            <a:off x="365760" y="1143000"/>
            <a:ext cx="8412480" cy="237744"/>
          </a:xfrm>
          <a:prstGeom prst="rect">
            <a:avLst/>
          </a:prstGeom>
          <a:noFill/>
          <a:ln/>
        </p:spPr>
        <p:txBody>
          <a:bodyPr wrap="square" lIns="0" tIns="0" rIns="0" bIns="0" rtlCol="0" anchor="ctr">
            <a:normAutofit/>
          </a:bodyPr>
          <a:lstStyle/>
          <a:p>
            <a:pPr indent="0" marL="0">
              <a:buNone/>
            </a:pPr>
            <a:r>
              <a:rPr lang="en-US" sz="1200" b="1" dirty="0">
                <a:solidFill>
                  <a:srgbClr val="D64545"/>
                </a:solidFill>
                <a:latin typeface="Calibri" pitchFamily="34" charset="0"/>
                <a:ea typeface="Calibri" pitchFamily="34" charset="-122"/>
                <a:cs typeface="Calibri" pitchFamily="34" charset="-120"/>
              </a:rPr>
              <a:t>a list is shared</a:t>
            </a:r>
            <a:endParaRPr lang="en-US" sz="1200" dirty="0"/>
          </a:p>
        </p:txBody>
      </p:sp>
      <p:sp>
        <p:nvSpPr>
          <p:cNvPr id="7" name="v:ReferencesAndAliasing:g0.0.c|b1"/>
          <p:cNvSpPr txBox="1"/>
          <p:nvPr/>
        </p:nvSpPr>
        <p:spPr>
          <a:xfrm>
            <a:off x="365760" y="1417320"/>
            <a:ext cx="27432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spam = [0, 1, 2, 3]</a:t>
            </a:r>
            <a:endParaRPr lang="en-US" sz="1200" dirty="0"/>
          </a:p>
        </p:txBody>
      </p:sp>
      <p:sp>
        <p:nvSpPr>
          <p:cNvPr id="8" name="v:ReferencesAndAliasing:g0.0.o1i0:box|b1"/>
          <p:cNvSpPr/>
          <p:nvPr/>
        </p:nvSpPr>
        <p:spPr>
          <a:xfrm>
            <a:off x="1371600" y="1783080"/>
            <a:ext cx="384048" cy="310896"/>
          </a:xfrm>
          <a:prstGeom prst="roundRect">
            <a:avLst>
              <a:gd name="adj" fmla="val 11765"/>
            </a:avLst>
          </a:prstGeom>
          <a:solidFill>
            <a:srgbClr val="E3EEF8"/>
          </a:solidFill>
          <a:ln w="19050">
            <a:solidFill>
              <a:srgbClr val="306998"/>
            </a:solidFill>
            <a:prstDash val="solid"/>
          </a:ln>
        </p:spPr>
      </p:sp>
      <p:sp>
        <p:nvSpPr>
          <p:cNvPr id="9" name="v:ReferencesAndAliasing:g0.0.o1i0|b1"/>
          <p:cNvSpPr txBox="1"/>
          <p:nvPr/>
        </p:nvSpPr>
        <p:spPr>
          <a:xfrm>
            <a:off x="1380744"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0</a:t>
            </a:r>
            <a:endParaRPr lang="en-US" sz="1050" dirty="0"/>
          </a:p>
        </p:txBody>
      </p:sp>
      <p:sp>
        <p:nvSpPr>
          <p:cNvPr id="10" name="v:ReferencesAndAliasing:g0.0.o1i1:box|b1"/>
          <p:cNvSpPr/>
          <p:nvPr/>
        </p:nvSpPr>
        <p:spPr>
          <a:xfrm>
            <a:off x="1792224" y="1783080"/>
            <a:ext cx="384048" cy="310896"/>
          </a:xfrm>
          <a:prstGeom prst="roundRect">
            <a:avLst>
              <a:gd name="adj" fmla="val 11765"/>
            </a:avLst>
          </a:prstGeom>
          <a:solidFill>
            <a:srgbClr val="E3EEF8"/>
          </a:solidFill>
          <a:ln w="19050">
            <a:solidFill>
              <a:srgbClr val="306998"/>
            </a:solidFill>
            <a:prstDash val="solid"/>
          </a:ln>
        </p:spPr>
      </p:sp>
      <p:sp>
        <p:nvSpPr>
          <p:cNvPr id="11" name="v:ReferencesAndAliasing:g0.0.o1i1|b1"/>
          <p:cNvSpPr txBox="1"/>
          <p:nvPr/>
        </p:nvSpPr>
        <p:spPr>
          <a:xfrm>
            <a:off x="1801368"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12" name="v:ReferencesAndAliasing:g0.0.o1i2:box|b1"/>
          <p:cNvSpPr/>
          <p:nvPr/>
        </p:nvSpPr>
        <p:spPr>
          <a:xfrm>
            <a:off x="2212848" y="1783080"/>
            <a:ext cx="384048" cy="310896"/>
          </a:xfrm>
          <a:prstGeom prst="roundRect">
            <a:avLst>
              <a:gd name="adj" fmla="val 11765"/>
            </a:avLst>
          </a:prstGeom>
          <a:solidFill>
            <a:srgbClr val="E3EEF8"/>
          </a:solidFill>
          <a:ln w="19050">
            <a:solidFill>
              <a:srgbClr val="306998"/>
            </a:solidFill>
            <a:prstDash val="solid"/>
          </a:ln>
        </p:spPr>
      </p:sp>
      <p:sp>
        <p:nvSpPr>
          <p:cNvPr id="13" name="v:ReferencesAndAliasing:g0.0.o1i2|b1"/>
          <p:cNvSpPr txBox="1"/>
          <p:nvPr/>
        </p:nvSpPr>
        <p:spPr>
          <a:xfrm>
            <a:off x="2221992"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14" name="v:ReferencesAndAliasing:g0.0.o1i3:box|b1"/>
          <p:cNvSpPr/>
          <p:nvPr/>
        </p:nvSpPr>
        <p:spPr>
          <a:xfrm>
            <a:off x="2633472" y="1783080"/>
            <a:ext cx="384048" cy="310896"/>
          </a:xfrm>
          <a:prstGeom prst="roundRect">
            <a:avLst>
              <a:gd name="adj" fmla="val 11765"/>
            </a:avLst>
          </a:prstGeom>
          <a:solidFill>
            <a:srgbClr val="E3EEF8"/>
          </a:solidFill>
          <a:ln w="19050">
            <a:solidFill>
              <a:srgbClr val="306998"/>
            </a:solidFill>
            <a:prstDash val="solid"/>
          </a:ln>
        </p:spPr>
      </p:sp>
      <p:sp>
        <p:nvSpPr>
          <p:cNvPr id="15" name="v:ReferencesAndAliasing:g0.0.o1i3|b1"/>
          <p:cNvSpPr txBox="1"/>
          <p:nvPr/>
        </p:nvSpPr>
        <p:spPr>
          <a:xfrm>
            <a:off x="2642616"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16" name="v:ReferencesAndAliasing:g0.0.n.spam:box|b1"/>
          <p:cNvSpPr/>
          <p:nvPr/>
        </p:nvSpPr>
        <p:spPr>
          <a:xfrm>
            <a:off x="365760" y="1819656"/>
            <a:ext cx="777240" cy="237744"/>
          </a:xfrm>
          <a:prstGeom prst="roundRect">
            <a:avLst>
              <a:gd name="adj" fmla="val 30769"/>
            </a:avLst>
          </a:prstGeom>
          <a:solidFill>
            <a:srgbClr val="FFFFFF"/>
          </a:solidFill>
          <a:ln w="19050">
            <a:solidFill>
              <a:srgbClr val="306998"/>
            </a:solidFill>
            <a:prstDash val="solid"/>
          </a:ln>
        </p:spPr>
      </p:sp>
      <p:sp>
        <p:nvSpPr>
          <p:cNvPr id="17" name="v:ReferencesAndAliasing:g0.0.n.spam|b1"/>
          <p:cNvSpPr txBox="1"/>
          <p:nvPr/>
        </p:nvSpPr>
        <p:spPr>
          <a:xfrm>
            <a:off x="365760" y="181965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18" name="namearrow|b1"/>
          <p:cNvSpPr/>
          <p:nvPr/>
        </p:nvSpPr>
        <p:spPr>
          <a:xfrm>
            <a:off x="1143000" y="1938528"/>
            <a:ext cx="228600" cy="0"/>
          </a:xfrm>
          <a:prstGeom prst="line">
            <a:avLst/>
          </a:prstGeom>
          <a:noFill/>
          <a:ln w="25400">
            <a:solidFill>
              <a:srgbClr val="306998"/>
            </a:solidFill>
            <a:prstDash val="solid"/>
            <a:tailEnd type="triangle"/>
          </a:ln>
        </p:spPr>
      </p:sp>
      <p:sp>
        <p:nvSpPr>
          <p:cNvPr id="19" name="v:ReferencesAndAliasing:g0.1.c|b2"/>
          <p:cNvSpPr txBox="1"/>
          <p:nvPr/>
        </p:nvSpPr>
        <p:spPr>
          <a:xfrm>
            <a:off x="3200400" y="1417320"/>
            <a:ext cx="27432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eggs = spam</a:t>
            </a:r>
            <a:endParaRPr lang="en-US" sz="1200" dirty="0"/>
          </a:p>
        </p:txBody>
      </p:sp>
      <p:sp>
        <p:nvSpPr>
          <p:cNvPr id="20" name="v:ReferencesAndAliasing:g0.1.o1i0:box|b2"/>
          <p:cNvSpPr/>
          <p:nvPr/>
        </p:nvSpPr>
        <p:spPr>
          <a:xfrm>
            <a:off x="4206240" y="1874520"/>
            <a:ext cx="384048" cy="310896"/>
          </a:xfrm>
          <a:prstGeom prst="roundRect">
            <a:avLst>
              <a:gd name="adj" fmla="val 11765"/>
            </a:avLst>
          </a:prstGeom>
          <a:solidFill>
            <a:srgbClr val="E3EEF8"/>
          </a:solidFill>
          <a:ln w="19050">
            <a:solidFill>
              <a:srgbClr val="306998"/>
            </a:solidFill>
            <a:prstDash val="solid"/>
          </a:ln>
        </p:spPr>
      </p:sp>
      <p:sp>
        <p:nvSpPr>
          <p:cNvPr id="21" name="v:ReferencesAndAliasing:g0.1.o1i0|b2"/>
          <p:cNvSpPr txBox="1"/>
          <p:nvPr/>
        </p:nvSpPr>
        <p:spPr>
          <a:xfrm>
            <a:off x="4215384"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0</a:t>
            </a:r>
            <a:endParaRPr lang="en-US" sz="1050" dirty="0"/>
          </a:p>
        </p:txBody>
      </p:sp>
      <p:sp>
        <p:nvSpPr>
          <p:cNvPr id="22" name="v:ReferencesAndAliasing:g0.1.o1i1:box|b2"/>
          <p:cNvSpPr/>
          <p:nvPr/>
        </p:nvSpPr>
        <p:spPr>
          <a:xfrm>
            <a:off x="4626864" y="1874520"/>
            <a:ext cx="384048" cy="310896"/>
          </a:xfrm>
          <a:prstGeom prst="roundRect">
            <a:avLst>
              <a:gd name="adj" fmla="val 11765"/>
            </a:avLst>
          </a:prstGeom>
          <a:solidFill>
            <a:srgbClr val="E3EEF8"/>
          </a:solidFill>
          <a:ln w="19050">
            <a:solidFill>
              <a:srgbClr val="306998"/>
            </a:solidFill>
            <a:prstDash val="solid"/>
          </a:ln>
        </p:spPr>
      </p:sp>
      <p:sp>
        <p:nvSpPr>
          <p:cNvPr id="23" name="v:ReferencesAndAliasing:g0.1.o1i1|b2"/>
          <p:cNvSpPr txBox="1"/>
          <p:nvPr/>
        </p:nvSpPr>
        <p:spPr>
          <a:xfrm>
            <a:off x="4636008"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24" name="v:ReferencesAndAliasing:g0.1.o1i2:box|b2"/>
          <p:cNvSpPr/>
          <p:nvPr/>
        </p:nvSpPr>
        <p:spPr>
          <a:xfrm>
            <a:off x="5047488" y="1874520"/>
            <a:ext cx="384048" cy="310896"/>
          </a:xfrm>
          <a:prstGeom prst="roundRect">
            <a:avLst>
              <a:gd name="adj" fmla="val 11765"/>
            </a:avLst>
          </a:prstGeom>
          <a:solidFill>
            <a:srgbClr val="E3EEF8"/>
          </a:solidFill>
          <a:ln w="19050">
            <a:solidFill>
              <a:srgbClr val="306998"/>
            </a:solidFill>
            <a:prstDash val="solid"/>
          </a:ln>
        </p:spPr>
      </p:sp>
      <p:sp>
        <p:nvSpPr>
          <p:cNvPr id="25" name="v:ReferencesAndAliasing:g0.1.o1i2|b2"/>
          <p:cNvSpPr txBox="1"/>
          <p:nvPr/>
        </p:nvSpPr>
        <p:spPr>
          <a:xfrm>
            <a:off x="5056632"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26" name="v:ReferencesAndAliasing:g0.1.o1i3:box|b2"/>
          <p:cNvSpPr/>
          <p:nvPr/>
        </p:nvSpPr>
        <p:spPr>
          <a:xfrm>
            <a:off x="5468112" y="1874520"/>
            <a:ext cx="384048" cy="310896"/>
          </a:xfrm>
          <a:prstGeom prst="roundRect">
            <a:avLst>
              <a:gd name="adj" fmla="val 11765"/>
            </a:avLst>
          </a:prstGeom>
          <a:solidFill>
            <a:srgbClr val="E3EEF8"/>
          </a:solidFill>
          <a:ln w="19050">
            <a:solidFill>
              <a:srgbClr val="306998"/>
            </a:solidFill>
            <a:prstDash val="solid"/>
          </a:ln>
        </p:spPr>
      </p:sp>
      <p:sp>
        <p:nvSpPr>
          <p:cNvPr id="27" name="v:ReferencesAndAliasing:g0.1.o1i3|b2"/>
          <p:cNvSpPr txBox="1"/>
          <p:nvPr/>
        </p:nvSpPr>
        <p:spPr>
          <a:xfrm>
            <a:off x="5477256"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28" name="v:ReferencesAndAliasing:g0.1.n.spam:box|b2"/>
          <p:cNvSpPr/>
          <p:nvPr/>
        </p:nvSpPr>
        <p:spPr>
          <a:xfrm>
            <a:off x="3200400" y="1773936"/>
            <a:ext cx="777240" cy="237744"/>
          </a:xfrm>
          <a:prstGeom prst="roundRect">
            <a:avLst>
              <a:gd name="adj" fmla="val 30769"/>
            </a:avLst>
          </a:prstGeom>
          <a:solidFill>
            <a:srgbClr val="FFFFFF"/>
          </a:solidFill>
          <a:ln w="19050">
            <a:solidFill>
              <a:srgbClr val="306998"/>
            </a:solidFill>
            <a:prstDash val="solid"/>
          </a:ln>
        </p:spPr>
      </p:sp>
      <p:sp>
        <p:nvSpPr>
          <p:cNvPr id="29" name="v:ReferencesAndAliasing:g0.1.n.spam|b2"/>
          <p:cNvSpPr txBox="1"/>
          <p:nvPr/>
        </p:nvSpPr>
        <p:spPr>
          <a:xfrm>
            <a:off x="3200400" y="177393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30" name="namearrow|b2"/>
          <p:cNvSpPr/>
          <p:nvPr/>
        </p:nvSpPr>
        <p:spPr>
          <a:xfrm>
            <a:off x="3977640" y="1892808"/>
            <a:ext cx="228600" cy="137160"/>
          </a:xfrm>
          <a:prstGeom prst="line">
            <a:avLst/>
          </a:prstGeom>
          <a:noFill/>
          <a:ln w="25400">
            <a:solidFill>
              <a:srgbClr val="306998"/>
            </a:solidFill>
            <a:prstDash val="solid"/>
            <a:tailEnd type="triangle"/>
          </a:ln>
        </p:spPr>
      </p:sp>
      <p:sp>
        <p:nvSpPr>
          <p:cNvPr id="31" name="v:ReferencesAndAliasing:g0.1.n.eggs:box|b2"/>
          <p:cNvSpPr/>
          <p:nvPr/>
        </p:nvSpPr>
        <p:spPr>
          <a:xfrm>
            <a:off x="3200400" y="2048256"/>
            <a:ext cx="777240" cy="237744"/>
          </a:xfrm>
          <a:prstGeom prst="roundRect">
            <a:avLst>
              <a:gd name="adj" fmla="val 30769"/>
            </a:avLst>
          </a:prstGeom>
          <a:solidFill>
            <a:srgbClr val="FFFFFF"/>
          </a:solidFill>
          <a:ln w="19050">
            <a:solidFill>
              <a:srgbClr val="306998"/>
            </a:solidFill>
            <a:prstDash val="solid"/>
          </a:ln>
        </p:spPr>
      </p:sp>
      <p:sp>
        <p:nvSpPr>
          <p:cNvPr id="32" name="v:ReferencesAndAliasing:g0.1.n.eggs|b2"/>
          <p:cNvSpPr txBox="1"/>
          <p:nvPr/>
        </p:nvSpPr>
        <p:spPr>
          <a:xfrm>
            <a:off x="3200400" y="204825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eggs</a:t>
            </a:r>
            <a:endParaRPr lang="en-US" sz="1050" dirty="0"/>
          </a:p>
        </p:txBody>
      </p:sp>
      <p:sp>
        <p:nvSpPr>
          <p:cNvPr id="33" name="namearrow|b2"/>
          <p:cNvSpPr/>
          <p:nvPr/>
        </p:nvSpPr>
        <p:spPr>
          <a:xfrm flipV="1">
            <a:off x="3977640" y="2029968"/>
            <a:ext cx="228600" cy="137160"/>
          </a:xfrm>
          <a:prstGeom prst="line">
            <a:avLst/>
          </a:prstGeom>
          <a:noFill/>
          <a:ln w="25400">
            <a:solidFill>
              <a:srgbClr val="306998"/>
            </a:solidFill>
            <a:prstDash val="solid"/>
            <a:tailEnd type="triangle"/>
          </a:ln>
        </p:spPr>
      </p:sp>
      <p:sp>
        <p:nvSpPr>
          <p:cNvPr id="34" name="v:ReferencesAndAliasing:g0.2.c|b3"/>
          <p:cNvSpPr txBox="1"/>
          <p:nvPr/>
        </p:nvSpPr>
        <p:spPr>
          <a:xfrm>
            <a:off x="6035040" y="1417320"/>
            <a:ext cx="27432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eggs[1] = 'Hello!'</a:t>
            </a:r>
            <a:endParaRPr lang="en-US" sz="1200" dirty="0"/>
          </a:p>
        </p:txBody>
      </p:sp>
      <p:sp>
        <p:nvSpPr>
          <p:cNvPr id="35" name="v:ReferencesAndAliasing:g0.2.o1i0:box|b3"/>
          <p:cNvSpPr/>
          <p:nvPr/>
        </p:nvSpPr>
        <p:spPr>
          <a:xfrm>
            <a:off x="7040880" y="1874520"/>
            <a:ext cx="384048" cy="310896"/>
          </a:xfrm>
          <a:prstGeom prst="roundRect">
            <a:avLst>
              <a:gd name="adj" fmla="val 11765"/>
            </a:avLst>
          </a:prstGeom>
          <a:solidFill>
            <a:srgbClr val="E3EEF8"/>
          </a:solidFill>
          <a:ln w="19050">
            <a:solidFill>
              <a:srgbClr val="306998"/>
            </a:solidFill>
            <a:prstDash val="solid"/>
          </a:ln>
        </p:spPr>
      </p:sp>
      <p:sp>
        <p:nvSpPr>
          <p:cNvPr id="36" name="v:ReferencesAndAliasing:g0.2.o1i0|b3"/>
          <p:cNvSpPr txBox="1"/>
          <p:nvPr/>
        </p:nvSpPr>
        <p:spPr>
          <a:xfrm>
            <a:off x="7050024"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0</a:t>
            </a:r>
            <a:endParaRPr lang="en-US" sz="1050" dirty="0"/>
          </a:p>
        </p:txBody>
      </p:sp>
      <p:sp>
        <p:nvSpPr>
          <p:cNvPr id="37" name="v:ReferencesAndAliasing:g0.2.o1i1:box|b3"/>
          <p:cNvSpPr/>
          <p:nvPr/>
        </p:nvSpPr>
        <p:spPr>
          <a:xfrm>
            <a:off x="7461504" y="1874520"/>
            <a:ext cx="640080" cy="310896"/>
          </a:xfrm>
          <a:prstGeom prst="roundRect">
            <a:avLst>
              <a:gd name="adj" fmla="val 11765"/>
            </a:avLst>
          </a:prstGeom>
          <a:solidFill>
            <a:srgbClr val="E3EEF8"/>
          </a:solidFill>
          <a:ln w="19050">
            <a:solidFill>
              <a:srgbClr val="306998"/>
            </a:solidFill>
            <a:prstDash val="solid"/>
          </a:ln>
        </p:spPr>
      </p:sp>
      <p:sp>
        <p:nvSpPr>
          <p:cNvPr id="38" name="v:ReferencesAndAliasing:g0.2.o1i1|b3"/>
          <p:cNvSpPr txBox="1"/>
          <p:nvPr/>
        </p:nvSpPr>
        <p:spPr>
          <a:xfrm>
            <a:off x="7470648" y="1874520"/>
            <a:ext cx="621792" cy="310896"/>
          </a:xfrm>
          <a:prstGeom prst="rect">
            <a:avLst/>
          </a:prstGeom>
          <a:noFill/>
          <a:ln/>
        </p:spPr>
        <p:txBody>
          <a:bodyPr wrap="square" lIns="0" tIns="0" rIns="0" bIns="0" rtlCol="0" anchor="ctr">
            <a:normAutofit/>
          </a:bodyPr>
          <a:lstStyle/>
          <a:p>
            <a:pPr algn="ctr" indent="0" marL="0">
              <a:buNone/>
            </a:pPr>
            <a:r>
              <a:rPr lang="en-US" sz="916" b="1" dirty="0">
                <a:solidFill>
                  <a:srgbClr val="1E2A3A"/>
                </a:solidFill>
                <a:latin typeface="Courier New" pitchFamily="34" charset="0"/>
                <a:ea typeface="Courier New" pitchFamily="34" charset="-122"/>
                <a:cs typeface="Courier New" pitchFamily="34" charset="-120"/>
              </a:rPr>
              <a:t>'Hello!'</a:t>
            </a:r>
            <a:endParaRPr lang="en-US" sz="916" dirty="0"/>
          </a:p>
        </p:txBody>
      </p:sp>
      <p:sp>
        <p:nvSpPr>
          <p:cNvPr id="39" name="v:ReferencesAndAliasing:g0.2.o1i2:box|b3"/>
          <p:cNvSpPr/>
          <p:nvPr/>
        </p:nvSpPr>
        <p:spPr>
          <a:xfrm>
            <a:off x="8138160" y="1874520"/>
            <a:ext cx="384048" cy="310896"/>
          </a:xfrm>
          <a:prstGeom prst="roundRect">
            <a:avLst>
              <a:gd name="adj" fmla="val 11765"/>
            </a:avLst>
          </a:prstGeom>
          <a:solidFill>
            <a:srgbClr val="E3EEF8"/>
          </a:solidFill>
          <a:ln w="19050">
            <a:solidFill>
              <a:srgbClr val="306998"/>
            </a:solidFill>
            <a:prstDash val="solid"/>
          </a:ln>
        </p:spPr>
      </p:sp>
      <p:sp>
        <p:nvSpPr>
          <p:cNvPr id="40" name="v:ReferencesAndAliasing:g0.2.o1i2|b3"/>
          <p:cNvSpPr txBox="1"/>
          <p:nvPr/>
        </p:nvSpPr>
        <p:spPr>
          <a:xfrm>
            <a:off x="8147304"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41" name="v:ReferencesAndAliasing:g0.2.o1i3:box|b3"/>
          <p:cNvSpPr/>
          <p:nvPr/>
        </p:nvSpPr>
        <p:spPr>
          <a:xfrm>
            <a:off x="8558784" y="1874520"/>
            <a:ext cx="384048" cy="310896"/>
          </a:xfrm>
          <a:prstGeom prst="roundRect">
            <a:avLst>
              <a:gd name="adj" fmla="val 11765"/>
            </a:avLst>
          </a:prstGeom>
          <a:solidFill>
            <a:srgbClr val="E3EEF8"/>
          </a:solidFill>
          <a:ln w="19050">
            <a:solidFill>
              <a:srgbClr val="306998"/>
            </a:solidFill>
            <a:prstDash val="solid"/>
          </a:ln>
        </p:spPr>
      </p:sp>
      <p:sp>
        <p:nvSpPr>
          <p:cNvPr id="42" name="v:ReferencesAndAliasing:g0.2.o1i3|b3"/>
          <p:cNvSpPr txBox="1"/>
          <p:nvPr/>
        </p:nvSpPr>
        <p:spPr>
          <a:xfrm>
            <a:off x="8567928" y="1874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43" name="v:ReferencesAndAliasing:g0.2.n.spam:box|b3"/>
          <p:cNvSpPr/>
          <p:nvPr/>
        </p:nvSpPr>
        <p:spPr>
          <a:xfrm>
            <a:off x="6035040" y="1773936"/>
            <a:ext cx="777240" cy="237744"/>
          </a:xfrm>
          <a:prstGeom prst="roundRect">
            <a:avLst>
              <a:gd name="adj" fmla="val 30769"/>
            </a:avLst>
          </a:prstGeom>
          <a:solidFill>
            <a:srgbClr val="FFFFFF"/>
          </a:solidFill>
          <a:ln w="19050">
            <a:solidFill>
              <a:srgbClr val="306998"/>
            </a:solidFill>
            <a:prstDash val="solid"/>
          </a:ln>
        </p:spPr>
      </p:sp>
      <p:sp>
        <p:nvSpPr>
          <p:cNvPr id="44" name="v:ReferencesAndAliasing:g0.2.n.spam|b3"/>
          <p:cNvSpPr txBox="1"/>
          <p:nvPr/>
        </p:nvSpPr>
        <p:spPr>
          <a:xfrm>
            <a:off x="6035040" y="177393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45" name="namearrow|b3"/>
          <p:cNvSpPr/>
          <p:nvPr/>
        </p:nvSpPr>
        <p:spPr>
          <a:xfrm>
            <a:off x="6812280" y="1892808"/>
            <a:ext cx="228600" cy="137160"/>
          </a:xfrm>
          <a:prstGeom prst="line">
            <a:avLst/>
          </a:prstGeom>
          <a:noFill/>
          <a:ln w="25400">
            <a:solidFill>
              <a:srgbClr val="306998"/>
            </a:solidFill>
            <a:prstDash val="solid"/>
            <a:tailEnd type="triangle"/>
          </a:ln>
        </p:spPr>
      </p:sp>
      <p:sp>
        <p:nvSpPr>
          <p:cNvPr id="46" name="v:ReferencesAndAliasing:g0.2.n.eggs:box|b3"/>
          <p:cNvSpPr/>
          <p:nvPr/>
        </p:nvSpPr>
        <p:spPr>
          <a:xfrm>
            <a:off x="6035040" y="2048256"/>
            <a:ext cx="777240" cy="237744"/>
          </a:xfrm>
          <a:prstGeom prst="roundRect">
            <a:avLst>
              <a:gd name="adj" fmla="val 30769"/>
            </a:avLst>
          </a:prstGeom>
          <a:solidFill>
            <a:srgbClr val="FFFFFF"/>
          </a:solidFill>
          <a:ln w="19050">
            <a:solidFill>
              <a:srgbClr val="306998"/>
            </a:solidFill>
            <a:prstDash val="solid"/>
          </a:ln>
        </p:spPr>
      </p:sp>
      <p:sp>
        <p:nvSpPr>
          <p:cNvPr id="47" name="v:ReferencesAndAliasing:g0.2.n.eggs|b3"/>
          <p:cNvSpPr txBox="1"/>
          <p:nvPr/>
        </p:nvSpPr>
        <p:spPr>
          <a:xfrm>
            <a:off x="6035040" y="204825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eggs</a:t>
            </a:r>
            <a:endParaRPr lang="en-US" sz="1050" dirty="0"/>
          </a:p>
        </p:txBody>
      </p:sp>
      <p:sp>
        <p:nvSpPr>
          <p:cNvPr id="48" name="namearrow|b3"/>
          <p:cNvSpPr/>
          <p:nvPr/>
        </p:nvSpPr>
        <p:spPr>
          <a:xfrm flipV="1">
            <a:off x="6812280" y="2029968"/>
            <a:ext cx="228600" cy="137160"/>
          </a:xfrm>
          <a:prstGeom prst="line">
            <a:avLst/>
          </a:prstGeom>
          <a:noFill/>
          <a:ln w="25400">
            <a:solidFill>
              <a:srgbClr val="306998"/>
            </a:solidFill>
            <a:prstDash val="solid"/>
            <a:tailEnd type="triangle"/>
          </a:ln>
        </p:spPr>
      </p:sp>
      <p:sp>
        <p:nvSpPr>
          <p:cNvPr id="49" name="v:ReferencesAndAliasing:sc1t"/>
          <p:cNvSpPr txBox="1"/>
          <p:nvPr/>
        </p:nvSpPr>
        <p:spPr>
          <a:xfrm>
            <a:off x="365760" y="2880360"/>
            <a:ext cx="8412480" cy="237744"/>
          </a:xfrm>
          <a:prstGeom prst="rect">
            <a:avLst/>
          </a:prstGeom>
          <a:noFill/>
          <a:ln/>
        </p:spPr>
        <p:txBody>
          <a:bodyPr wrap="square" lIns="0" tIns="0" rIns="0" bIns="0" rtlCol="0" anchor="ctr">
            <a:normAutofit/>
          </a:bodyPr>
          <a:lstStyle/>
          <a:p>
            <a:pPr indent="0" marL="0">
              <a:buNone/>
            </a:pPr>
            <a:r>
              <a:rPr lang="en-US" sz="1200" b="1" dirty="0">
                <a:solidFill>
                  <a:srgbClr val="306998"/>
                </a:solidFill>
                <a:latin typeface="Calibri" pitchFamily="34" charset="0"/>
                <a:ea typeface="Calibri" pitchFamily="34" charset="-122"/>
                <a:cs typeface="Calibri" pitchFamily="34" charset="-120"/>
              </a:rPr>
              <a:t>a number is only rebound</a:t>
            </a:r>
            <a:endParaRPr lang="en-US" sz="1200" dirty="0"/>
          </a:p>
        </p:txBody>
      </p:sp>
      <p:sp>
        <p:nvSpPr>
          <p:cNvPr id="50" name="v:ReferencesAndAliasing:g1.0.c|b4"/>
          <p:cNvSpPr txBox="1"/>
          <p:nvPr/>
        </p:nvSpPr>
        <p:spPr>
          <a:xfrm>
            <a:off x="365760" y="3154680"/>
            <a:ext cx="27432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spam = 42</a:t>
            </a:r>
            <a:endParaRPr lang="en-US" sz="1200" dirty="0"/>
          </a:p>
        </p:txBody>
      </p:sp>
      <p:sp>
        <p:nvSpPr>
          <p:cNvPr id="51" name="v:ReferencesAndAliasing:g1.0.o1v:box|b4"/>
          <p:cNvSpPr/>
          <p:nvPr/>
        </p:nvSpPr>
        <p:spPr>
          <a:xfrm>
            <a:off x="1371600" y="3520440"/>
            <a:ext cx="457200" cy="310896"/>
          </a:xfrm>
          <a:prstGeom prst="roundRect">
            <a:avLst>
              <a:gd name="adj" fmla="val 11765"/>
            </a:avLst>
          </a:prstGeom>
          <a:solidFill>
            <a:srgbClr val="E3EEF8"/>
          </a:solidFill>
          <a:ln w="19050">
            <a:solidFill>
              <a:srgbClr val="306998"/>
            </a:solidFill>
            <a:prstDash val="solid"/>
          </a:ln>
        </p:spPr>
      </p:sp>
      <p:sp>
        <p:nvSpPr>
          <p:cNvPr id="52" name="v:ReferencesAndAliasing:g1.0.o1v|b4"/>
          <p:cNvSpPr txBox="1"/>
          <p:nvPr/>
        </p:nvSpPr>
        <p:spPr>
          <a:xfrm>
            <a:off x="1380744" y="3520440"/>
            <a:ext cx="43891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42</a:t>
            </a:r>
            <a:endParaRPr lang="en-US" sz="1050" dirty="0"/>
          </a:p>
        </p:txBody>
      </p:sp>
      <p:sp>
        <p:nvSpPr>
          <p:cNvPr id="53" name="v:ReferencesAndAliasing:g1.0.n.spam:box|b4"/>
          <p:cNvSpPr/>
          <p:nvPr/>
        </p:nvSpPr>
        <p:spPr>
          <a:xfrm>
            <a:off x="365760" y="3557016"/>
            <a:ext cx="777240" cy="237744"/>
          </a:xfrm>
          <a:prstGeom prst="roundRect">
            <a:avLst>
              <a:gd name="adj" fmla="val 30769"/>
            </a:avLst>
          </a:prstGeom>
          <a:solidFill>
            <a:srgbClr val="FFFFFF"/>
          </a:solidFill>
          <a:ln w="19050">
            <a:solidFill>
              <a:srgbClr val="306998"/>
            </a:solidFill>
            <a:prstDash val="solid"/>
          </a:ln>
        </p:spPr>
      </p:sp>
      <p:sp>
        <p:nvSpPr>
          <p:cNvPr id="54" name="v:ReferencesAndAliasing:g1.0.n.spam|b4"/>
          <p:cNvSpPr txBox="1"/>
          <p:nvPr/>
        </p:nvSpPr>
        <p:spPr>
          <a:xfrm>
            <a:off x="365760" y="355701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55" name="namearrow|b4"/>
          <p:cNvSpPr/>
          <p:nvPr/>
        </p:nvSpPr>
        <p:spPr>
          <a:xfrm>
            <a:off x="1143000" y="3675888"/>
            <a:ext cx="228600" cy="0"/>
          </a:xfrm>
          <a:prstGeom prst="line">
            <a:avLst/>
          </a:prstGeom>
          <a:noFill/>
          <a:ln w="25400">
            <a:solidFill>
              <a:srgbClr val="306998"/>
            </a:solidFill>
            <a:prstDash val="solid"/>
            <a:tailEnd type="triangle"/>
          </a:ln>
        </p:spPr>
      </p:sp>
      <p:sp>
        <p:nvSpPr>
          <p:cNvPr id="56" name="v:ReferencesAndAliasing:g1.1.c|b5"/>
          <p:cNvSpPr txBox="1"/>
          <p:nvPr/>
        </p:nvSpPr>
        <p:spPr>
          <a:xfrm>
            <a:off x="3200400" y="3154680"/>
            <a:ext cx="27432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eggs = spam</a:t>
            </a:r>
            <a:endParaRPr lang="en-US" sz="1200" dirty="0"/>
          </a:p>
        </p:txBody>
      </p:sp>
      <p:sp>
        <p:nvSpPr>
          <p:cNvPr id="57" name="v:ReferencesAndAliasing:g1.1.o1v:box|b5"/>
          <p:cNvSpPr/>
          <p:nvPr/>
        </p:nvSpPr>
        <p:spPr>
          <a:xfrm>
            <a:off x="4206240" y="3611880"/>
            <a:ext cx="457200" cy="310896"/>
          </a:xfrm>
          <a:prstGeom prst="roundRect">
            <a:avLst>
              <a:gd name="adj" fmla="val 11765"/>
            </a:avLst>
          </a:prstGeom>
          <a:solidFill>
            <a:srgbClr val="E3EEF8"/>
          </a:solidFill>
          <a:ln w="19050">
            <a:solidFill>
              <a:srgbClr val="306998"/>
            </a:solidFill>
            <a:prstDash val="solid"/>
          </a:ln>
        </p:spPr>
      </p:sp>
      <p:sp>
        <p:nvSpPr>
          <p:cNvPr id="58" name="v:ReferencesAndAliasing:g1.1.o1v|b5"/>
          <p:cNvSpPr txBox="1"/>
          <p:nvPr/>
        </p:nvSpPr>
        <p:spPr>
          <a:xfrm>
            <a:off x="4215384" y="3611880"/>
            <a:ext cx="43891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42</a:t>
            </a:r>
            <a:endParaRPr lang="en-US" sz="1050" dirty="0"/>
          </a:p>
        </p:txBody>
      </p:sp>
      <p:sp>
        <p:nvSpPr>
          <p:cNvPr id="59" name="v:ReferencesAndAliasing:g1.1.n.spam:box|b5"/>
          <p:cNvSpPr/>
          <p:nvPr/>
        </p:nvSpPr>
        <p:spPr>
          <a:xfrm>
            <a:off x="3200400" y="3511296"/>
            <a:ext cx="777240" cy="237744"/>
          </a:xfrm>
          <a:prstGeom prst="roundRect">
            <a:avLst>
              <a:gd name="adj" fmla="val 30769"/>
            </a:avLst>
          </a:prstGeom>
          <a:solidFill>
            <a:srgbClr val="FFFFFF"/>
          </a:solidFill>
          <a:ln w="19050">
            <a:solidFill>
              <a:srgbClr val="306998"/>
            </a:solidFill>
            <a:prstDash val="solid"/>
          </a:ln>
        </p:spPr>
      </p:sp>
      <p:sp>
        <p:nvSpPr>
          <p:cNvPr id="60" name="v:ReferencesAndAliasing:g1.1.n.spam|b5"/>
          <p:cNvSpPr txBox="1"/>
          <p:nvPr/>
        </p:nvSpPr>
        <p:spPr>
          <a:xfrm>
            <a:off x="3200400" y="351129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61" name="namearrow|b5"/>
          <p:cNvSpPr/>
          <p:nvPr/>
        </p:nvSpPr>
        <p:spPr>
          <a:xfrm>
            <a:off x="3977640" y="3630168"/>
            <a:ext cx="228600" cy="137160"/>
          </a:xfrm>
          <a:prstGeom prst="line">
            <a:avLst/>
          </a:prstGeom>
          <a:noFill/>
          <a:ln w="25400">
            <a:solidFill>
              <a:srgbClr val="306998"/>
            </a:solidFill>
            <a:prstDash val="solid"/>
            <a:tailEnd type="triangle"/>
          </a:ln>
        </p:spPr>
      </p:sp>
      <p:sp>
        <p:nvSpPr>
          <p:cNvPr id="62" name="v:ReferencesAndAliasing:g1.1.n.eggs:box|b5"/>
          <p:cNvSpPr/>
          <p:nvPr/>
        </p:nvSpPr>
        <p:spPr>
          <a:xfrm>
            <a:off x="3200400" y="3785616"/>
            <a:ext cx="777240" cy="237744"/>
          </a:xfrm>
          <a:prstGeom prst="roundRect">
            <a:avLst>
              <a:gd name="adj" fmla="val 30769"/>
            </a:avLst>
          </a:prstGeom>
          <a:solidFill>
            <a:srgbClr val="FFFFFF"/>
          </a:solidFill>
          <a:ln w="19050">
            <a:solidFill>
              <a:srgbClr val="306998"/>
            </a:solidFill>
            <a:prstDash val="solid"/>
          </a:ln>
        </p:spPr>
      </p:sp>
      <p:sp>
        <p:nvSpPr>
          <p:cNvPr id="63" name="v:ReferencesAndAliasing:g1.1.n.eggs|b5"/>
          <p:cNvSpPr txBox="1"/>
          <p:nvPr/>
        </p:nvSpPr>
        <p:spPr>
          <a:xfrm>
            <a:off x="3200400" y="378561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eggs</a:t>
            </a:r>
            <a:endParaRPr lang="en-US" sz="1050" dirty="0"/>
          </a:p>
        </p:txBody>
      </p:sp>
      <p:sp>
        <p:nvSpPr>
          <p:cNvPr id="64" name="namearrow|b5"/>
          <p:cNvSpPr/>
          <p:nvPr/>
        </p:nvSpPr>
        <p:spPr>
          <a:xfrm flipV="1">
            <a:off x="3977640" y="3767328"/>
            <a:ext cx="228600" cy="137160"/>
          </a:xfrm>
          <a:prstGeom prst="line">
            <a:avLst/>
          </a:prstGeom>
          <a:noFill/>
          <a:ln w="25400">
            <a:solidFill>
              <a:srgbClr val="306998"/>
            </a:solidFill>
            <a:prstDash val="solid"/>
            <a:tailEnd type="triangle"/>
          </a:ln>
        </p:spPr>
      </p:sp>
      <p:sp>
        <p:nvSpPr>
          <p:cNvPr id="65" name="v:ReferencesAndAliasing:g1.2.c|b6"/>
          <p:cNvSpPr txBox="1"/>
          <p:nvPr/>
        </p:nvSpPr>
        <p:spPr>
          <a:xfrm>
            <a:off x="6035040" y="3154680"/>
            <a:ext cx="2743200" cy="237744"/>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spam = 99</a:t>
            </a:r>
            <a:endParaRPr lang="en-US" sz="1200" dirty="0"/>
          </a:p>
        </p:txBody>
      </p:sp>
      <p:sp>
        <p:nvSpPr>
          <p:cNvPr id="66" name="v:ReferencesAndAliasing:g1.2.o2v:box|b6"/>
          <p:cNvSpPr/>
          <p:nvPr/>
        </p:nvSpPr>
        <p:spPr>
          <a:xfrm>
            <a:off x="7040880" y="3520440"/>
            <a:ext cx="457200" cy="310896"/>
          </a:xfrm>
          <a:prstGeom prst="roundRect">
            <a:avLst>
              <a:gd name="adj" fmla="val 11765"/>
            </a:avLst>
          </a:prstGeom>
          <a:solidFill>
            <a:srgbClr val="E3EEF8"/>
          </a:solidFill>
          <a:ln w="19050">
            <a:solidFill>
              <a:srgbClr val="306998"/>
            </a:solidFill>
            <a:prstDash val="solid"/>
          </a:ln>
        </p:spPr>
      </p:sp>
      <p:sp>
        <p:nvSpPr>
          <p:cNvPr id="67" name="v:ReferencesAndAliasing:g1.2.o2v|b6"/>
          <p:cNvSpPr txBox="1"/>
          <p:nvPr/>
        </p:nvSpPr>
        <p:spPr>
          <a:xfrm>
            <a:off x="7050024" y="3520440"/>
            <a:ext cx="43891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99</a:t>
            </a:r>
            <a:endParaRPr lang="en-US" sz="1050" dirty="0"/>
          </a:p>
        </p:txBody>
      </p:sp>
      <p:sp>
        <p:nvSpPr>
          <p:cNvPr id="68" name="v:ReferencesAndAliasing:g1.2.o1v:box|b6"/>
          <p:cNvSpPr/>
          <p:nvPr/>
        </p:nvSpPr>
        <p:spPr>
          <a:xfrm>
            <a:off x="7040880" y="4032504"/>
            <a:ext cx="457200" cy="310896"/>
          </a:xfrm>
          <a:prstGeom prst="roundRect">
            <a:avLst>
              <a:gd name="adj" fmla="val 11765"/>
            </a:avLst>
          </a:prstGeom>
          <a:solidFill>
            <a:srgbClr val="E3EEF8"/>
          </a:solidFill>
          <a:ln w="19050">
            <a:solidFill>
              <a:srgbClr val="306998"/>
            </a:solidFill>
            <a:prstDash val="solid"/>
          </a:ln>
        </p:spPr>
      </p:sp>
      <p:sp>
        <p:nvSpPr>
          <p:cNvPr id="69" name="v:ReferencesAndAliasing:g1.2.o1v|b6"/>
          <p:cNvSpPr txBox="1"/>
          <p:nvPr/>
        </p:nvSpPr>
        <p:spPr>
          <a:xfrm>
            <a:off x="7050024" y="4032504"/>
            <a:ext cx="43891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42</a:t>
            </a:r>
            <a:endParaRPr lang="en-US" sz="1050" dirty="0"/>
          </a:p>
        </p:txBody>
      </p:sp>
      <p:sp>
        <p:nvSpPr>
          <p:cNvPr id="70" name="v:ReferencesAndAliasing:g1.2.n.spam:box|b6"/>
          <p:cNvSpPr/>
          <p:nvPr/>
        </p:nvSpPr>
        <p:spPr>
          <a:xfrm>
            <a:off x="6035040" y="3557016"/>
            <a:ext cx="777240" cy="237744"/>
          </a:xfrm>
          <a:prstGeom prst="roundRect">
            <a:avLst>
              <a:gd name="adj" fmla="val 30769"/>
            </a:avLst>
          </a:prstGeom>
          <a:solidFill>
            <a:srgbClr val="FFFFFF"/>
          </a:solidFill>
          <a:ln w="19050">
            <a:solidFill>
              <a:srgbClr val="306998"/>
            </a:solidFill>
            <a:prstDash val="solid"/>
          </a:ln>
        </p:spPr>
      </p:sp>
      <p:sp>
        <p:nvSpPr>
          <p:cNvPr id="71" name="v:ReferencesAndAliasing:g1.2.n.spam|b6"/>
          <p:cNvSpPr txBox="1"/>
          <p:nvPr/>
        </p:nvSpPr>
        <p:spPr>
          <a:xfrm>
            <a:off x="6035040" y="3557016"/>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72" name="namearrow|b6"/>
          <p:cNvSpPr/>
          <p:nvPr/>
        </p:nvSpPr>
        <p:spPr>
          <a:xfrm>
            <a:off x="6812280" y="3675888"/>
            <a:ext cx="228600" cy="0"/>
          </a:xfrm>
          <a:prstGeom prst="line">
            <a:avLst/>
          </a:prstGeom>
          <a:noFill/>
          <a:ln w="25400">
            <a:solidFill>
              <a:srgbClr val="306998"/>
            </a:solidFill>
            <a:prstDash val="solid"/>
            <a:tailEnd type="triangle"/>
          </a:ln>
        </p:spPr>
      </p:sp>
      <p:sp>
        <p:nvSpPr>
          <p:cNvPr id="73" name="v:ReferencesAndAliasing:g1.2.n.eggs:box|b6"/>
          <p:cNvSpPr/>
          <p:nvPr/>
        </p:nvSpPr>
        <p:spPr>
          <a:xfrm>
            <a:off x="6035040" y="4069080"/>
            <a:ext cx="777240" cy="237744"/>
          </a:xfrm>
          <a:prstGeom prst="roundRect">
            <a:avLst>
              <a:gd name="adj" fmla="val 30769"/>
            </a:avLst>
          </a:prstGeom>
          <a:solidFill>
            <a:srgbClr val="FFFFFF"/>
          </a:solidFill>
          <a:ln w="19050">
            <a:solidFill>
              <a:srgbClr val="306998"/>
            </a:solidFill>
            <a:prstDash val="solid"/>
          </a:ln>
        </p:spPr>
      </p:sp>
      <p:sp>
        <p:nvSpPr>
          <p:cNvPr id="74" name="v:ReferencesAndAliasing:g1.2.n.eggs|b6"/>
          <p:cNvSpPr txBox="1"/>
          <p:nvPr/>
        </p:nvSpPr>
        <p:spPr>
          <a:xfrm>
            <a:off x="6035040" y="4069080"/>
            <a:ext cx="77724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eggs</a:t>
            </a:r>
            <a:endParaRPr lang="en-US" sz="1050" dirty="0"/>
          </a:p>
        </p:txBody>
      </p:sp>
      <p:sp>
        <p:nvSpPr>
          <p:cNvPr id="75" name="namearrow|b6"/>
          <p:cNvSpPr/>
          <p:nvPr/>
        </p:nvSpPr>
        <p:spPr>
          <a:xfrm>
            <a:off x="6812280" y="4187952"/>
            <a:ext cx="228600" cy="0"/>
          </a:xfrm>
          <a:prstGeom prst="line">
            <a:avLst/>
          </a:prstGeom>
          <a:noFill/>
          <a:ln w="25400">
            <a:solidFill>
              <a:srgbClr val="306998"/>
            </a:solidFill>
            <a:prstDash val="solid"/>
            <a:tailEnd type="triangle"/>
          </a:ln>
        </p:spPr>
      </p:sp>
      <p:sp>
        <p:nvSpPr>
          <p:cNvPr id="7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7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7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Sequences and references ▸ References and aliasing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reference/datamodel.html" history="1" highlightClick="0" endSnd="0">
                  <a:extLst>
                    <a:ext uri="{A12FA001-AC4F-418D-AE19-62706E023703}">
                      <ahyp:hlinkClr xmlns:ahyp="http://schemas.microsoft.com/office/drawing/2018/hyperlinkcolor" val="tx"/>
                    </a:ext>
                  </a:extLst>
                </a:hlinkClick>
              </a:rPr>
              <a:t>Data model</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par>
                                <p:cTn id="12" presetID="10"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00"/>
                                        <p:tgtEl>
                                          <p:spTgt spid="1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00"/>
                                        <p:tgtEl>
                                          <p:spTgt spid="1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400"/>
                                        <p:tgtEl>
                                          <p:spTgt spid="13"/>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40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par>
                                <p:cTn id="30" presetID="10" presetClass="entr" presetSubtype="0" fill="hold"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0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par>
                                <p:cTn id="36" presetID="10" presetClass="entr" presetSubtype="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00"/>
                                        <p:tgtEl>
                                          <p:spTgt spid="18"/>
                                        </p:tgtEl>
                                      </p:cBhvr>
                                    </p:animEffect>
                                  </p:childTnLst>
                                </p:cTn>
                              </p:par>
                            </p:childTnLst>
                          </p:cTn>
                        </p:par>
                      </p:childTnLst>
                    </p:cTn>
                  </p:par>
                  <p:par>
                    <p:cTn id="86" fill="hold">
                      <p:stCondLst>
                        <p:cond delay="indefinite"/>
                      </p:stCondLst>
                      <p:childTnLst>
                        <p:par>
                          <p:cTn id="87"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400"/>
                                        <p:tgtEl>
                                          <p:spTgt spid="19"/>
                                        </p:tgtEl>
                                      </p:cBhvr>
                                    </p:animEffect>
                                  </p:childTnLst>
                                </p:cTn>
                              </p:par>
                              <p:par>
                                <p:cTn id="44" presetID="10" presetClass="entr" presetSubtype="0" fill="hold"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400"/>
                                        <p:tgtEl>
                                          <p:spTgt spid="2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400"/>
                                        <p:tgtEl>
                                          <p:spTgt spid="21"/>
                                        </p:tgtEl>
                                      </p:cBhvr>
                                    </p:animEffect>
                                  </p:childTnLst>
                                </p:cTn>
                              </p:par>
                              <p:par>
                                <p:cTn id="50" presetID="10" presetClass="entr" presetSubtype="0" fill="hold"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400"/>
                                        <p:tgtEl>
                                          <p:spTgt spid="2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400"/>
                                        <p:tgtEl>
                                          <p:spTgt spid="23"/>
                                        </p:tgtEl>
                                      </p:cBhvr>
                                    </p:animEffect>
                                  </p:childTnLst>
                                </p:cTn>
                              </p:par>
                              <p:par>
                                <p:cTn id="56" presetID="10" presetClass="entr" presetSubtype="0" fill="hold"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400"/>
                                        <p:tgtEl>
                                          <p:spTgt spid="2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400"/>
                                        <p:tgtEl>
                                          <p:spTgt spid="25"/>
                                        </p:tgtEl>
                                      </p:cBhvr>
                                    </p:animEffect>
                                  </p:childTnLst>
                                </p:cTn>
                              </p:par>
                              <p:par>
                                <p:cTn id="62" presetID="10" presetClass="entr" presetSubtype="0" fill="hold"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00"/>
                                        <p:tgtEl>
                                          <p:spTgt spid="2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400"/>
                                        <p:tgtEl>
                                          <p:spTgt spid="27"/>
                                        </p:tgtEl>
                                      </p:cBhvr>
                                    </p:animEffect>
                                  </p:childTnLst>
                                </p:cTn>
                              </p:par>
                              <p:par>
                                <p:cTn id="68" presetID="10" presetClass="entr" presetSubtype="0" fill="hold" nodeType="with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fade">
                                      <p:cBhvr>
                                        <p:cTn id="70" dur="400"/>
                                        <p:tgtEl>
                                          <p:spTgt spid="2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400"/>
                                        <p:tgtEl>
                                          <p:spTgt spid="29"/>
                                        </p:tgtEl>
                                      </p:cBhvr>
                                    </p:animEffect>
                                  </p:childTnLst>
                                </p:cTn>
                              </p:par>
                              <p:par>
                                <p:cTn id="74" presetID="10" presetClass="entr" presetSubtype="0" fill="hold" nodeType="withEffect">
                                  <p:stCondLst>
                                    <p:cond delay="0"/>
                                  </p:stCondLst>
                                  <p:childTnLst>
                                    <p:set>
                                      <p:cBhvr>
                                        <p:cTn id="75" dur="1" fill="hold">
                                          <p:stCondLst>
                                            <p:cond delay="0"/>
                                          </p:stCondLst>
                                        </p:cTn>
                                        <p:tgtEl>
                                          <p:spTgt spid="30"/>
                                        </p:tgtEl>
                                        <p:attrNameLst>
                                          <p:attrName>style.visibility</p:attrName>
                                        </p:attrNameLst>
                                      </p:cBhvr>
                                      <p:to>
                                        <p:strVal val="visible"/>
                                      </p:to>
                                    </p:set>
                                    <p:animEffect transition="in" filter="fade">
                                      <p:cBhvr>
                                        <p:cTn id="76" dur="400"/>
                                        <p:tgtEl>
                                          <p:spTgt spid="30"/>
                                        </p:tgtEl>
                                      </p:cBhvr>
                                    </p:animEffect>
                                  </p:childTnLst>
                                </p:cTn>
                              </p:par>
                              <p:par>
                                <p:cTn id="77" presetID="10" presetClass="entr" presetSubtype="0" fill="hold" nodeType="withEffect">
                                  <p:stCondLst>
                                    <p:cond delay="0"/>
                                  </p:stCondLst>
                                  <p:childTnLst>
                                    <p:set>
                                      <p:cBhvr>
                                        <p:cTn id="78" dur="1" fill="hold">
                                          <p:stCondLst>
                                            <p:cond delay="0"/>
                                          </p:stCondLst>
                                        </p:cTn>
                                        <p:tgtEl>
                                          <p:spTgt spid="31"/>
                                        </p:tgtEl>
                                        <p:attrNameLst>
                                          <p:attrName>style.visibility</p:attrName>
                                        </p:attrNameLst>
                                      </p:cBhvr>
                                      <p:to>
                                        <p:strVal val="visible"/>
                                      </p:to>
                                    </p:set>
                                    <p:animEffect transition="in" filter="fade">
                                      <p:cBhvr>
                                        <p:cTn id="79" dur="400"/>
                                        <p:tgtEl>
                                          <p:spTgt spid="31"/>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2"/>
                                        </p:tgtEl>
                                        <p:attrNameLst>
                                          <p:attrName>style.visibility</p:attrName>
                                        </p:attrNameLst>
                                      </p:cBhvr>
                                      <p:to>
                                        <p:strVal val="visible"/>
                                      </p:to>
                                    </p:set>
                                    <p:animEffect transition="in" filter="fade">
                                      <p:cBhvr>
                                        <p:cTn id="82" dur="400"/>
                                        <p:tgtEl>
                                          <p:spTgt spid="32"/>
                                        </p:tgtEl>
                                      </p:cBhvr>
                                    </p:animEffect>
                                  </p:childTnLst>
                                </p:cTn>
                              </p:par>
                              <p:par>
                                <p:cTn id="83" presetID="10" presetClass="entr" presetSubtype="0" fill="hold" nodeType="withEffect">
                                  <p:stCondLst>
                                    <p:cond delay="0"/>
                                  </p:stCondLst>
                                  <p:childTnLst>
                                    <p:set>
                                      <p:cBhvr>
                                        <p:cTn id="84" dur="1" fill="hold">
                                          <p:stCondLst>
                                            <p:cond delay="0"/>
                                          </p:stCondLst>
                                        </p:cTn>
                                        <p:tgtEl>
                                          <p:spTgt spid="33"/>
                                        </p:tgtEl>
                                        <p:attrNameLst>
                                          <p:attrName>style.visibility</p:attrName>
                                        </p:attrNameLst>
                                      </p:cBhvr>
                                      <p:to>
                                        <p:strVal val="visible"/>
                                      </p:to>
                                    </p:set>
                                    <p:animEffect transition="in" filter="fade">
                                      <p:cBhvr>
                                        <p:cTn id="85" dur="400"/>
                                        <p:tgtEl>
                                          <p:spTgt spid="33"/>
                                        </p:tgtEl>
                                      </p:cBhvr>
                                    </p:animEffect>
                                  </p:childTnLst>
                                </p:cTn>
                              </p:par>
                            </p:childTnLst>
                          </p:cTn>
                        </p:par>
                      </p:childTnLst>
                    </p:cTn>
                  </p:par>
                  <p:par>
                    <p:cTn id="133" fill="hold">
                      <p:stCondLst>
                        <p:cond delay="indefinite"/>
                      </p:stCondLst>
                      <p:childTnLst>
                        <p:par>
                          <p:cTn id="134"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fade">
                                      <p:cBhvr>
                                        <p:cTn id="90" dur="400"/>
                                        <p:tgtEl>
                                          <p:spTgt spid="34"/>
                                        </p:tgtEl>
                                      </p:cBhvr>
                                    </p:animEffect>
                                  </p:childTnLst>
                                </p:cTn>
                              </p:par>
                              <p:par>
                                <p:cTn id="91" presetID="10" presetClass="entr" presetSubtype="0" fill="hold" nodeType="withEffect">
                                  <p:stCondLst>
                                    <p:cond delay="0"/>
                                  </p:stCondLst>
                                  <p:childTnLst>
                                    <p:set>
                                      <p:cBhvr>
                                        <p:cTn id="92" dur="1" fill="hold">
                                          <p:stCondLst>
                                            <p:cond delay="0"/>
                                          </p:stCondLst>
                                        </p:cTn>
                                        <p:tgtEl>
                                          <p:spTgt spid="35"/>
                                        </p:tgtEl>
                                        <p:attrNameLst>
                                          <p:attrName>style.visibility</p:attrName>
                                        </p:attrNameLst>
                                      </p:cBhvr>
                                      <p:to>
                                        <p:strVal val="visible"/>
                                      </p:to>
                                    </p:set>
                                    <p:animEffect transition="in" filter="fade">
                                      <p:cBhvr>
                                        <p:cTn id="93" dur="400"/>
                                        <p:tgtEl>
                                          <p:spTgt spid="35"/>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6"/>
                                        </p:tgtEl>
                                        <p:attrNameLst>
                                          <p:attrName>style.visibility</p:attrName>
                                        </p:attrNameLst>
                                      </p:cBhvr>
                                      <p:to>
                                        <p:strVal val="visible"/>
                                      </p:to>
                                    </p:set>
                                    <p:animEffect transition="in" filter="fade">
                                      <p:cBhvr>
                                        <p:cTn id="96" dur="400"/>
                                        <p:tgtEl>
                                          <p:spTgt spid="36"/>
                                        </p:tgtEl>
                                      </p:cBhvr>
                                    </p:animEffect>
                                  </p:childTnLst>
                                </p:cTn>
                              </p:par>
                              <p:par>
                                <p:cTn id="97" presetID="10" presetClass="entr" presetSubtype="0" fill="hold" nodeType="withEffect">
                                  <p:stCondLst>
                                    <p:cond delay="0"/>
                                  </p:stCondLst>
                                  <p:childTnLst>
                                    <p:set>
                                      <p:cBhvr>
                                        <p:cTn id="98" dur="1" fill="hold">
                                          <p:stCondLst>
                                            <p:cond delay="0"/>
                                          </p:stCondLst>
                                        </p:cTn>
                                        <p:tgtEl>
                                          <p:spTgt spid="37"/>
                                        </p:tgtEl>
                                        <p:attrNameLst>
                                          <p:attrName>style.visibility</p:attrName>
                                        </p:attrNameLst>
                                      </p:cBhvr>
                                      <p:to>
                                        <p:strVal val="visible"/>
                                      </p:to>
                                    </p:set>
                                    <p:animEffect transition="in" filter="fade">
                                      <p:cBhvr>
                                        <p:cTn id="99" dur="400"/>
                                        <p:tgtEl>
                                          <p:spTgt spid="37"/>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8"/>
                                        </p:tgtEl>
                                        <p:attrNameLst>
                                          <p:attrName>style.visibility</p:attrName>
                                        </p:attrNameLst>
                                      </p:cBhvr>
                                      <p:to>
                                        <p:strVal val="visible"/>
                                      </p:to>
                                    </p:set>
                                    <p:animEffect transition="in" filter="fade">
                                      <p:cBhvr>
                                        <p:cTn id="102" dur="400"/>
                                        <p:tgtEl>
                                          <p:spTgt spid="38"/>
                                        </p:tgtEl>
                                      </p:cBhvr>
                                    </p:animEffect>
                                  </p:childTnLst>
                                </p:cTn>
                              </p:par>
                              <p:par>
                                <p:cTn id="103" presetID="10" presetClass="entr" presetSubtype="0" fill="hold" nodeType="withEffect">
                                  <p:stCondLst>
                                    <p:cond delay="0"/>
                                  </p:stCondLst>
                                  <p:childTnLst>
                                    <p:set>
                                      <p:cBhvr>
                                        <p:cTn id="104" dur="1" fill="hold">
                                          <p:stCondLst>
                                            <p:cond delay="0"/>
                                          </p:stCondLst>
                                        </p:cTn>
                                        <p:tgtEl>
                                          <p:spTgt spid="39"/>
                                        </p:tgtEl>
                                        <p:attrNameLst>
                                          <p:attrName>style.visibility</p:attrName>
                                        </p:attrNameLst>
                                      </p:cBhvr>
                                      <p:to>
                                        <p:strVal val="visible"/>
                                      </p:to>
                                    </p:set>
                                    <p:animEffect transition="in" filter="fade">
                                      <p:cBhvr>
                                        <p:cTn id="105" dur="400"/>
                                        <p:tgtEl>
                                          <p:spTgt spid="39"/>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0"/>
                                        </p:tgtEl>
                                        <p:attrNameLst>
                                          <p:attrName>style.visibility</p:attrName>
                                        </p:attrNameLst>
                                      </p:cBhvr>
                                      <p:to>
                                        <p:strVal val="visible"/>
                                      </p:to>
                                    </p:set>
                                    <p:animEffect transition="in" filter="fade">
                                      <p:cBhvr>
                                        <p:cTn id="108" dur="400"/>
                                        <p:tgtEl>
                                          <p:spTgt spid="40"/>
                                        </p:tgtEl>
                                      </p:cBhvr>
                                    </p:animEffect>
                                  </p:childTnLst>
                                </p:cTn>
                              </p:par>
                              <p:par>
                                <p:cTn id="109" presetID="10" presetClass="entr" presetSubtype="0" fill="hold" nodeType="withEffect">
                                  <p:stCondLst>
                                    <p:cond delay="0"/>
                                  </p:stCondLst>
                                  <p:childTnLst>
                                    <p:set>
                                      <p:cBhvr>
                                        <p:cTn id="110" dur="1" fill="hold">
                                          <p:stCondLst>
                                            <p:cond delay="0"/>
                                          </p:stCondLst>
                                        </p:cTn>
                                        <p:tgtEl>
                                          <p:spTgt spid="41"/>
                                        </p:tgtEl>
                                        <p:attrNameLst>
                                          <p:attrName>style.visibility</p:attrName>
                                        </p:attrNameLst>
                                      </p:cBhvr>
                                      <p:to>
                                        <p:strVal val="visible"/>
                                      </p:to>
                                    </p:set>
                                    <p:animEffect transition="in" filter="fade">
                                      <p:cBhvr>
                                        <p:cTn id="111" dur="400"/>
                                        <p:tgtEl>
                                          <p:spTgt spid="41"/>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2"/>
                                        </p:tgtEl>
                                        <p:attrNameLst>
                                          <p:attrName>style.visibility</p:attrName>
                                        </p:attrNameLst>
                                      </p:cBhvr>
                                      <p:to>
                                        <p:strVal val="visible"/>
                                      </p:to>
                                    </p:set>
                                    <p:animEffect transition="in" filter="fade">
                                      <p:cBhvr>
                                        <p:cTn id="114" dur="400"/>
                                        <p:tgtEl>
                                          <p:spTgt spid="42"/>
                                        </p:tgtEl>
                                      </p:cBhvr>
                                    </p:animEffect>
                                  </p:childTnLst>
                                </p:cTn>
                              </p:par>
                              <p:par>
                                <p:cTn id="115" presetID="10" presetClass="entr" presetSubtype="0" fill="hold" nodeType="withEffect">
                                  <p:stCondLst>
                                    <p:cond delay="0"/>
                                  </p:stCondLst>
                                  <p:childTnLst>
                                    <p:set>
                                      <p:cBhvr>
                                        <p:cTn id="116" dur="1" fill="hold">
                                          <p:stCondLst>
                                            <p:cond delay="0"/>
                                          </p:stCondLst>
                                        </p:cTn>
                                        <p:tgtEl>
                                          <p:spTgt spid="43"/>
                                        </p:tgtEl>
                                        <p:attrNameLst>
                                          <p:attrName>style.visibility</p:attrName>
                                        </p:attrNameLst>
                                      </p:cBhvr>
                                      <p:to>
                                        <p:strVal val="visible"/>
                                      </p:to>
                                    </p:set>
                                    <p:animEffect transition="in" filter="fade">
                                      <p:cBhvr>
                                        <p:cTn id="117" dur="400"/>
                                        <p:tgtEl>
                                          <p:spTgt spid="43"/>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4"/>
                                        </p:tgtEl>
                                        <p:attrNameLst>
                                          <p:attrName>style.visibility</p:attrName>
                                        </p:attrNameLst>
                                      </p:cBhvr>
                                      <p:to>
                                        <p:strVal val="visible"/>
                                      </p:to>
                                    </p:set>
                                    <p:animEffect transition="in" filter="fade">
                                      <p:cBhvr>
                                        <p:cTn id="120" dur="400"/>
                                        <p:tgtEl>
                                          <p:spTgt spid="44"/>
                                        </p:tgtEl>
                                      </p:cBhvr>
                                    </p:animEffect>
                                  </p:childTnLst>
                                </p:cTn>
                              </p:par>
                              <p:par>
                                <p:cTn id="121" presetID="10" presetClass="entr" presetSubtype="0" fill="hold" nodeType="withEffect">
                                  <p:stCondLst>
                                    <p:cond delay="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3" dur="400"/>
                                        <p:tgtEl>
                                          <p:spTgt spid="45"/>
                                        </p:tgtEl>
                                      </p:cBhvr>
                                    </p:animEffect>
                                  </p:childTnLst>
                                </p:cTn>
                              </p:par>
                              <p:par>
                                <p:cTn id="124" presetID="10" presetClass="entr" presetSubtype="0" fill="hold" nodeType="withEffect">
                                  <p:stCondLst>
                                    <p:cond delay="0"/>
                                  </p:stCondLst>
                                  <p:childTnLst>
                                    <p:set>
                                      <p:cBhvr>
                                        <p:cTn id="125" dur="1" fill="hold">
                                          <p:stCondLst>
                                            <p:cond delay="0"/>
                                          </p:stCondLst>
                                        </p:cTn>
                                        <p:tgtEl>
                                          <p:spTgt spid="46"/>
                                        </p:tgtEl>
                                        <p:attrNameLst>
                                          <p:attrName>style.visibility</p:attrName>
                                        </p:attrNameLst>
                                      </p:cBhvr>
                                      <p:to>
                                        <p:strVal val="visible"/>
                                      </p:to>
                                    </p:set>
                                    <p:animEffect transition="in" filter="fade">
                                      <p:cBhvr>
                                        <p:cTn id="126" dur="400"/>
                                        <p:tgtEl>
                                          <p:spTgt spid="46"/>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47"/>
                                        </p:tgtEl>
                                        <p:attrNameLst>
                                          <p:attrName>style.visibility</p:attrName>
                                        </p:attrNameLst>
                                      </p:cBhvr>
                                      <p:to>
                                        <p:strVal val="visible"/>
                                      </p:to>
                                    </p:set>
                                    <p:animEffect transition="in" filter="fade">
                                      <p:cBhvr>
                                        <p:cTn id="129" dur="400"/>
                                        <p:tgtEl>
                                          <p:spTgt spid="47"/>
                                        </p:tgtEl>
                                      </p:cBhvr>
                                    </p:animEffect>
                                  </p:childTnLst>
                                </p:cTn>
                              </p:par>
                              <p:par>
                                <p:cTn id="130" presetID="10" presetClass="entr" presetSubtype="0" fill="hold" nodeType="withEffect">
                                  <p:stCondLst>
                                    <p:cond delay="0"/>
                                  </p:stCondLst>
                                  <p:childTnLst>
                                    <p:set>
                                      <p:cBhvr>
                                        <p:cTn id="131" dur="1" fill="hold">
                                          <p:stCondLst>
                                            <p:cond delay="0"/>
                                          </p:stCondLst>
                                        </p:cTn>
                                        <p:tgtEl>
                                          <p:spTgt spid="48"/>
                                        </p:tgtEl>
                                        <p:attrNameLst>
                                          <p:attrName>style.visibility</p:attrName>
                                        </p:attrNameLst>
                                      </p:cBhvr>
                                      <p:to>
                                        <p:strVal val="visible"/>
                                      </p:to>
                                    </p:set>
                                    <p:animEffect transition="in" filter="fade">
                                      <p:cBhvr>
                                        <p:cTn id="132" dur="400"/>
                                        <p:tgtEl>
                                          <p:spTgt spid="48"/>
                                        </p:tgtEl>
                                      </p:cBhvr>
                                    </p:animEffect>
                                  </p:childTnLst>
                                </p:cTn>
                              </p:par>
                            </p:childTnLst>
                          </p:cTn>
                        </p:par>
                      </p:childTnLst>
                    </p:cTn>
                  </p:par>
                  <p:par>
                    <p:cTn id="153" fill="hold">
                      <p:stCondLst>
                        <p:cond delay="indefinite"/>
                      </p:stCondLst>
                      <p:childTnLst>
                        <p:par>
                          <p:cTn id="154" fill="hold">
                            <p:stCondLst>
                              <p:cond delay="0"/>
                            </p:stCondLst>
                            <p:childTnLst>
                              <p:par>
                                <p:cTn id="135" presetID="10" presetClass="entr" presetSubtype="0" fill="hold" grpId="0" nodeType="clickEffect">
                                  <p:stCondLst>
                                    <p:cond delay="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7" dur="400"/>
                                        <p:tgtEl>
                                          <p:spTgt spid="50"/>
                                        </p:tgtEl>
                                      </p:cBhvr>
                                    </p:animEffect>
                                  </p:childTnLst>
                                </p:cTn>
                              </p:par>
                              <p:par>
                                <p:cTn id="138" presetID="10" presetClass="entr" presetSubtype="0" fill="hold" nodeType="withEffect">
                                  <p:stCondLst>
                                    <p:cond delay="0"/>
                                  </p:stCondLst>
                                  <p:childTnLst>
                                    <p:set>
                                      <p:cBhvr>
                                        <p:cTn id="139" dur="1" fill="hold">
                                          <p:stCondLst>
                                            <p:cond delay="0"/>
                                          </p:stCondLst>
                                        </p:cTn>
                                        <p:tgtEl>
                                          <p:spTgt spid="51"/>
                                        </p:tgtEl>
                                        <p:attrNameLst>
                                          <p:attrName>style.visibility</p:attrName>
                                        </p:attrNameLst>
                                      </p:cBhvr>
                                      <p:to>
                                        <p:strVal val="visible"/>
                                      </p:to>
                                    </p:set>
                                    <p:animEffect transition="in" filter="fade">
                                      <p:cBhvr>
                                        <p:cTn id="140" dur="400"/>
                                        <p:tgtEl>
                                          <p:spTgt spid="51"/>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3" dur="400"/>
                                        <p:tgtEl>
                                          <p:spTgt spid="52"/>
                                        </p:tgtEl>
                                      </p:cBhvr>
                                    </p:animEffect>
                                  </p:childTnLst>
                                </p:cTn>
                              </p:par>
                              <p:par>
                                <p:cTn id="144" presetID="10" presetClass="entr" presetSubtype="0" fill="hold" nodeType="withEffect">
                                  <p:stCondLst>
                                    <p:cond delay="0"/>
                                  </p:stCondLst>
                                  <p:childTnLst>
                                    <p:set>
                                      <p:cBhvr>
                                        <p:cTn id="145" dur="1" fill="hold">
                                          <p:stCondLst>
                                            <p:cond delay="0"/>
                                          </p:stCondLst>
                                        </p:cTn>
                                        <p:tgtEl>
                                          <p:spTgt spid="53"/>
                                        </p:tgtEl>
                                        <p:attrNameLst>
                                          <p:attrName>style.visibility</p:attrName>
                                        </p:attrNameLst>
                                      </p:cBhvr>
                                      <p:to>
                                        <p:strVal val="visible"/>
                                      </p:to>
                                    </p:set>
                                    <p:animEffect transition="in" filter="fade">
                                      <p:cBhvr>
                                        <p:cTn id="146" dur="400"/>
                                        <p:tgtEl>
                                          <p:spTgt spid="53"/>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4"/>
                                        </p:tgtEl>
                                        <p:attrNameLst>
                                          <p:attrName>style.visibility</p:attrName>
                                        </p:attrNameLst>
                                      </p:cBhvr>
                                      <p:to>
                                        <p:strVal val="visible"/>
                                      </p:to>
                                    </p:set>
                                    <p:animEffect transition="in" filter="fade">
                                      <p:cBhvr>
                                        <p:cTn id="149" dur="400"/>
                                        <p:tgtEl>
                                          <p:spTgt spid="54"/>
                                        </p:tgtEl>
                                      </p:cBhvr>
                                    </p:animEffect>
                                  </p:childTnLst>
                                </p:cTn>
                              </p:par>
                              <p:par>
                                <p:cTn id="150" presetID="10" presetClass="entr" presetSubtype="0" fill="hold" nodeType="withEffect">
                                  <p:stCondLst>
                                    <p:cond delay="0"/>
                                  </p:stCondLst>
                                  <p:childTnLst>
                                    <p:set>
                                      <p:cBhvr>
                                        <p:cTn id="151" dur="1" fill="hold">
                                          <p:stCondLst>
                                            <p:cond delay="0"/>
                                          </p:stCondLst>
                                        </p:cTn>
                                        <p:tgtEl>
                                          <p:spTgt spid="55"/>
                                        </p:tgtEl>
                                        <p:attrNameLst>
                                          <p:attrName>style.visibility</p:attrName>
                                        </p:attrNameLst>
                                      </p:cBhvr>
                                      <p:to>
                                        <p:strVal val="visible"/>
                                      </p:to>
                                    </p:set>
                                    <p:animEffect transition="in" filter="fade">
                                      <p:cBhvr>
                                        <p:cTn id="152" dur="400"/>
                                        <p:tgtEl>
                                          <p:spTgt spid="55"/>
                                        </p:tgtEl>
                                      </p:cBhvr>
                                    </p:animEffect>
                                  </p:childTnLst>
                                </p:cTn>
                              </p:par>
                            </p:childTnLst>
                          </p:cTn>
                        </p:par>
                      </p:childTnLst>
                    </p:cTn>
                  </p:par>
                  <p:par>
                    <p:cTn id="182" fill="hold">
                      <p:stCondLst>
                        <p:cond delay="indefinite"/>
                      </p:stCondLst>
                      <p:childTnLst>
                        <p:par>
                          <p:cTn id="183" fill="hold">
                            <p:stCondLst>
                              <p:cond delay="0"/>
                            </p:stCondLst>
                            <p:childTnLst>
                              <p:par>
                                <p:cTn id="155" presetID="10" presetClass="entr" presetSubtype="0" fill="hold" grpId="0" nodeType="clickEffect">
                                  <p:stCondLst>
                                    <p:cond delay="0"/>
                                  </p:stCondLst>
                                  <p:childTnLst>
                                    <p:set>
                                      <p:cBhvr>
                                        <p:cTn id="156" dur="1" fill="hold">
                                          <p:stCondLst>
                                            <p:cond delay="0"/>
                                          </p:stCondLst>
                                        </p:cTn>
                                        <p:tgtEl>
                                          <p:spTgt spid="56"/>
                                        </p:tgtEl>
                                        <p:attrNameLst>
                                          <p:attrName>style.visibility</p:attrName>
                                        </p:attrNameLst>
                                      </p:cBhvr>
                                      <p:to>
                                        <p:strVal val="visible"/>
                                      </p:to>
                                    </p:set>
                                    <p:animEffect transition="in" filter="fade">
                                      <p:cBhvr>
                                        <p:cTn id="157" dur="400"/>
                                        <p:tgtEl>
                                          <p:spTgt spid="56"/>
                                        </p:tgtEl>
                                      </p:cBhvr>
                                    </p:animEffect>
                                  </p:childTnLst>
                                </p:cTn>
                              </p:par>
                              <p:par>
                                <p:cTn id="158" presetID="10" presetClass="entr" presetSubtype="0" fill="hold" nodeType="withEffect">
                                  <p:stCondLst>
                                    <p:cond delay="0"/>
                                  </p:stCondLst>
                                  <p:childTnLst>
                                    <p:set>
                                      <p:cBhvr>
                                        <p:cTn id="159" dur="1" fill="hold">
                                          <p:stCondLst>
                                            <p:cond delay="0"/>
                                          </p:stCondLst>
                                        </p:cTn>
                                        <p:tgtEl>
                                          <p:spTgt spid="57"/>
                                        </p:tgtEl>
                                        <p:attrNameLst>
                                          <p:attrName>style.visibility</p:attrName>
                                        </p:attrNameLst>
                                      </p:cBhvr>
                                      <p:to>
                                        <p:strVal val="visible"/>
                                      </p:to>
                                    </p:set>
                                    <p:animEffect transition="in" filter="fade">
                                      <p:cBhvr>
                                        <p:cTn id="160" dur="400"/>
                                        <p:tgtEl>
                                          <p:spTgt spid="57"/>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58"/>
                                        </p:tgtEl>
                                        <p:attrNameLst>
                                          <p:attrName>style.visibility</p:attrName>
                                        </p:attrNameLst>
                                      </p:cBhvr>
                                      <p:to>
                                        <p:strVal val="visible"/>
                                      </p:to>
                                    </p:set>
                                    <p:animEffect transition="in" filter="fade">
                                      <p:cBhvr>
                                        <p:cTn id="163" dur="400"/>
                                        <p:tgtEl>
                                          <p:spTgt spid="58"/>
                                        </p:tgtEl>
                                      </p:cBhvr>
                                    </p:animEffect>
                                  </p:childTnLst>
                                </p:cTn>
                              </p:par>
                              <p:par>
                                <p:cTn id="164" presetID="10" presetClass="entr" presetSubtype="0" fill="hold" nodeType="withEffect">
                                  <p:stCondLst>
                                    <p:cond delay="0"/>
                                  </p:stCondLst>
                                  <p:childTnLst>
                                    <p:set>
                                      <p:cBhvr>
                                        <p:cTn id="165" dur="1" fill="hold">
                                          <p:stCondLst>
                                            <p:cond delay="0"/>
                                          </p:stCondLst>
                                        </p:cTn>
                                        <p:tgtEl>
                                          <p:spTgt spid="59"/>
                                        </p:tgtEl>
                                        <p:attrNameLst>
                                          <p:attrName>style.visibility</p:attrName>
                                        </p:attrNameLst>
                                      </p:cBhvr>
                                      <p:to>
                                        <p:strVal val="visible"/>
                                      </p:to>
                                    </p:set>
                                    <p:animEffect transition="in" filter="fade">
                                      <p:cBhvr>
                                        <p:cTn id="166" dur="400"/>
                                        <p:tgtEl>
                                          <p:spTgt spid="59"/>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60"/>
                                        </p:tgtEl>
                                        <p:attrNameLst>
                                          <p:attrName>style.visibility</p:attrName>
                                        </p:attrNameLst>
                                      </p:cBhvr>
                                      <p:to>
                                        <p:strVal val="visible"/>
                                      </p:to>
                                    </p:set>
                                    <p:animEffect transition="in" filter="fade">
                                      <p:cBhvr>
                                        <p:cTn id="169" dur="400"/>
                                        <p:tgtEl>
                                          <p:spTgt spid="60"/>
                                        </p:tgtEl>
                                      </p:cBhvr>
                                    </p:animEffect>
                                  </p:childTnLst>
                                </p:cTn>
                              </p:par>
                              <p:par>
                                <p:cTn id="170" presetID="10" presetClass="entr" presetSubtype="0" fill="hold" nodeType="withEffect">
                                  <p:stCondLst>
                                    <p:cond delay="0"/>
                                  </p:stCondLst>
                                  <p:childTnLst>
                                    <p:set>
                                      <p:cBhvr>
                                        <p:cTn id="171" dur="1" fill="hold">
                                          <p:stCondLst>
                                            <p:cond delay="0"/>
                                          </p:stCondLst>
                                        </p:cTn>
                                        <p:tgtEl>
                                          <p:spTgt spid="61"/>
                                        </p:tgtEl>
                                        <p:attrNameLst>
                                          <p:attrName>style.visibility</p:attrName>
                                        </p:attrNameLst>
                                      </p:cBhvr>
                                      <p:to>
                                        <p:strVal val="visible"/>
                                      </p:to>
                                    </p:set>
                                    <p:animEffect transition="in" filter="fade">
                                      <p:cBhvr>
                                        <p:cTn id="172" dur="400"/>
                                        <p:tgtEl>
                                          <p:spTgt spid="61"/>
                                        </p:tgtEl>
                                      </p:cBhvr>
                                    </p:animEffect>
                                  </p:childTnLst>
                                </p:cTn>
                              </p:par>
                              <p:par>
                                <p:cTn id="173" presetID="10" presetClass="entr" presetSubtype="0" fill="hold" nodeType="withEffect">
                                  <p:stCondLst>
                                    <p:cond delay="0"/>
                                  </p:stCondLst>
                                  <p:childTnLst>
                                    <p:set>
                                      <p:cBhvr>
                                        <p:cTn id="174" dur="1" fill="hold">
                                          <p:stCondLst>
                                            <p:cond delay="0"/>
                                          </p:stCondLst>
                                        </p:cTn>
                                        <p:tgtEl>
                                          <p:spTgt spid="62"/>
                                        </p:tgtEl>
                                        <p:attrNameLst>
                                          <p:attrName>style.visibility</p:attrName>
                                        </p:attrNameLst>
                                      </p:cBhvr>
                                      <p:to>
                                        <p:strVal val="visible"/>
                                      </p:to>
                                    </p:set>
                                    <p:animEffect transition="in" filter="fade">
                                      <p:cBhvr>
                                        <p:cTn id="175" dur="400"/>
                                        <p:tgtEl>
                                          <p:spTgt spid="62"/>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63"/>
                                        </p:tgtEl>
                                        <p:attrNameLst>
                                          <p:attrName>style.visibility</p:attrName>
                                        </p:attrNameLst>
                                      </p:cBhvr>
                                      <p:to>
                                        <p:strVal val="visible"/>
                                      </p:to>
                                    </p:set>
                                    <p:animEffect transition="in" filter="fade">
                                      <p:cBhvr>
                                        <p:cTn id="178" dur="400"/>
                                        <p:tgtEl>
                                          <p:spTgt spid="63"/>
                                        </p:tgtEl>
                                      </p:cBhvr>
                                    </p:animEffect>
                                  </p:childTnLst>
                                </p:cTn>
                              </p:par>
                              <p:par>
                                <p:cTn id="179" presetID="10" presetClass="entr" presetSubtype="0" fill="hold" nodeType="withEffect">
                                  <p:stCondLst>
                                    <p:cond delay="0"/>
                                  </p:stCondLst>
                                  <p:childTnLst>
                                    <p:set>
                                      <p:cBhvr>
                                        <p:cTn id="180" dur="1" fill="hold">
                                          <p:stCondLst>
                                            <p:cond delay="0"/>
                                          </p:stCondLst>
                                        </p:cTn>
                                        <p:tgtEl>
                                          <p:spTgt spid="64"/>
                                        </p:tgtEl>
                                        <p:attrNameLst>
                                          <p:attrName>style.visibility</p:attrName>
                                        </p:attrNameLst>
                                      </p:cBhvr>
                                      <p:to>
                                        <p:strVal val="visible"/>
                                      </p:to>
                                    </p:set>
                                    <p:animEffect transition="in" filter="fade">
                                      <p:cBhvr>
                                        <p:cTn id="181" dur="400"/>
                                        <p:tgtEl>
                                          <p:spTgt spid="64"/>
                                        </p:tgtEl>
                                      </p:cBhvr>
                                    </p:animEffect>
                                  </p:childTnLst>
                                </p:cTn>
                              </p:par>
                            </p:childTnLst>
                          </p:cTn>
                        </p:par>
                      </p:childTnLst>
                    </p:cTn>
                  </p:par>
                  <p:par>
                    <p:cTn id="217" fill="hold">
                      <p:stCondLst>
                        <p:cond delay="indefinite"/>
                      </p:stCondLst>
                      <p:childTnLst>
                        <p:par>
                          <p:cTn id="218" fill="hold">
                            <p:stCondLst>
                              <p:cond delay="0"/>
                            </p:stCondLst>
                            <p:childTnLst>
                              <p:par>
                                <p:cTn id="184" presetID="10" presetClass="entr" presetSubtype="0" fill="hold" grpId="0" nodeType="clickEffect">
                                  <p:stCondLst>
                                    <p:cond delay="0"/>
                                  </p:stCondLst>
                                  <p:childTnLst>
                                    <p:set>
                                      <p:cBhvr>
                                        <p:cTn id="185" dur="1" fill="hold">
                                          <p:stCondLst>
                                            <p:cond delay="0"/>
                                          </p:stCondLst>
                                        </p:cTn>
                                        <p:tgtEl>
                                          <p:spTgt spid="65"/>
                                        </p:tgtEl>
                                        <p:attrNameLst>
                                          <p:attrName>style.visibility</p:attrName>
                                        </p:attrNameLst>
                                      </p:cBhvr>
                                      <p:to>
                                        <p:strVal val="visible"/>
                                      </p:to>
                                    </p:set>
                                    <p:animEffect transition="in" filter="fade">
                                      <p:cBhvr>
                                        <p:cTn id="186" dur="400"/>
                                        <p:tgtEl>
                                          <p:spTgt spid="65"/>
                                        </p:tgtEl>
                                      </p:cBhvr>
                                    </p:animEffect>
                                  </p:childTnLst>
                                </p:cTn>
                              </p:par>
                              <p:par>
                                <p:cTn id="187" presetID="10" presetClass="entr" presetSubtype="0" fill="hold" nodeType="withEffect">
                                  <p:stCondLst>
                                    <p:cond delay="0"/>
                                  </p:stCondLst>
                                  <p:childTnLst>
                                    <p:set>
                                      <p:cBhvr>
                                        <p:cTn id="188" dur="1" fill="hold">
                                          <p:stCondLst>
                                            <p:cond delay="0"/>
                                          </p:stCondLst>
                                        </p:cTn>
                                        <p:tgtEl>
                                          <p:spTgt spid="66"/>
                                        </p:tgtEl>
                                        <p:attrNameLst>
                                          <p:attrName>style.visibility</p:attrName>
                                        </p:attrNameLst>
                                      </p:cBhvr>
                                      <p:to>
                                        <p:strVal val="visible"/>
                                      </p:to>
                                    </p:set>
                                    <p:animEffect transition="in" filter="fade">
                                      <p:cBhvr>
                                        <p:cTn id="189" dur="400"/>
                                        <p:tgtEl>
                                          <p:spTgt spid="66"/>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7"/>
                                        </p:tgtEl>
                                        <p:attrNameLst>
                                          <p:attrName>style.visibility</p:attrName>
                                        </p:attrNameLst>
                                      </p:cBhvr>
                                      <p:to>
                                        <p:strVal val="visible"/>
                                      </p:to>
                                    </p:set>
                                    <p:animEffect transition="in" filter="fade">
                                      <p:cBhvr>
                                        <p:cTn id="192" dur="400"/>
                                        <p:tgtEl>
                                          <p:spTgt spid="67"/>
                                        </p:tgtEl>
                                      </p:cBhvr>
                                    </p:animEffect>
                                  </p:childTnLst>
                                </p:cTn>
                              </p:par>
                              <p:par>
                                <p:cTn id="193" presetID="10" presetClass="entr" presetSubtype="0" fill="hold" nodeType="withEffect">
                                  <p:stCondLst>
                                    <p:cond delay="0"/>
                                  </p:stCondLst>
                                  <p:childTnLst>
                                    <p:set>
                                      <p:cBhvr>
                                        <p:cTn id="194" dur="1" fill="hold">
                                          <p:stCondLst>
                                            <p:cond delay="0"/>
                                          </p:stCondLst>
                                        </p:cTn>
                                        <p:tgtEl>
                                          <p:spTgt spid="68"/>
                                        </p:tgtEl>
                                        <p:attrNameLst>
                                          <p:attrName>style.visibility</p:attrName>
                                        </p:attrNameLst>
                                      </p:cBhvr>
                                      <p:to>
                                        <p:strVal val="visible"/>
                                      </p:to>
                                    </p:set>
                                    <p:animEffect transition="in" filter="fade">
                                      <p:cBhvr>
                                        <p:cTn id="195" dur="400"/>
                                        <p:tgtEl>
                                          <p:spTgt spid="68"/>
                                        </p:tgtEl>
                                      </p:cBhvr>
                                    </p:animEffect>
                                  </p:childTnLst>
                                </p:cTn>
                              </p:par>
                              <p:par>
                                <p:cTn id="196" presetID="10" presetClass="entr" presetSubtype="0" fill="hold" grpId="0" nodeType="withEffect">
                                  <p:stCondLst>
                                    <p:cond delay="0"/>
                                  </p:stCondLst>
                                  <p:childTnLst>
                                    <p:set>
                                      <p:cBhvr>
                                        <p:cTn id="197" dur="1" fill="hold">
                                          <p:stCondLst>
                                            <p:cond delay="0"/>
                                          </p:stCondLst>
                                        </p:cTn>
                                        <p:tgtEl>
                                          <p:spTgt spid="69"/>
                                        </p:tgtEl>
                                        <p:attrNameLst>
                                          <p:attrName>style.visibility</p:attrName>
                                        </p:attrNameLst>
                                      </p:cBhvr>
                                      <p:to>
                                        <p:strVal val="visible"/>
                                      </p:to>
                                    </p:set>
                                    <p:animEffect transition="in" filter="fade">
                                      <p:cBhvr>
                                        <p:cTn id="198" dur="400"/>
                                        <p:tgtEl>
                                          <p:spTgt spid="69"/>
                                        </p:tgtEl>
                                      </p:cBhvr>
                                    </p:animEffect>
                                  </p:childTnLst>
                                </p:cTn>
                              </p:par>
                              <p:par>
                                <p:cTn id="199" presetID="10" presetClass="entr" presetSubtype="0" fill="hold" nodeType="withEffect">
                                  <p:stCondLst>
                                    <p:cond delay="0"/>
                                  </p:stCondLst>
                                  <p:childTnLst>
                                    <p:set>
                                      <p:cBhvr>
                                        <p:cTn id="200" dur="1" fill="hold">
                                          <p:stCondLst>
                                            <p:cond delay="0"/>
                                          </p:stCondLst>
                                        </p:cTn>
                                        <p:tgtEl>
                                          <p:spTgt spid="70"/>
                                        </p:tgtEl>
                                        <p:attrNameLst>
                                          <p:attrName>style.visibility</p:attrName>
                                        </p:attrNameLst>
                                      </p:cBhvr>
                                      <p:to>
                                        <p:strVal val="visible"/>
                                      </p:to>
                                    </p:set>
                                    <p:animEffect transition="in" filter="fade">
                                      <p:cBhvr>
                                        <p:cTn id="201" dur="400"/>
                                        <p:tgtEl>
                                          <p:spTgt spid="70"/>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71"/>
                                        </p:tgtEl>
                                        <p:attrNameLst>
                                          <p:attrName>style.visibility</p:attrName>
                                        </p:attrNameLst>
                                      </p:cBhvr>
                                      <p:to>
                                        <p:strVal val="visible"/>
                                      </p:to>
                                    </p:set>
                                    <p:animEffect transition="in" filter="fade">
                                      <p:cBhvr>
                                        <p:cTn id="204" dur="400"/>
                                        <p:tgtEl>
                                          <p:spTgt spid="71"/>
                                        </p:tgtEl>
                                      </p:cBhvr>
                                    </p:animEffect>
                                  </p:childTnLst>
                                </p:cTn>
                              </p:par>
                              <p:par>
                                <p:cTn id="205" presetID="10" presetClass="entr" presetSubtype="0" fill="hold" nodeType="withEffect">
                                  <p:stCondLst>
                                    <p:cond delay="0"/>
                                  </p:stCondLst>
                                  <p:childTnLst>
                                    <p:set>
                                      <p:cBhvr>
                                        <p:cTn id="206" dur="1" fill="hold">
                                          <p:stCondLst>
                                            <p:cond delay="0"/>
                                          </p:stCondLst>
                                        </p:cTn>
                                        <p:tgtEl>
                                          <p:spTgt spid="72"/>
                                        </p:tgtEl>
                                        <p:attrNameLst>
                                          <p:attrName>style.visibility</p:attrName>
                                        </p:attrNameLst>
                                      </p:cBhvr>
                                      <p:to>
                                        <p:strVal val="visible"/>
                                      </p:to>
                                    </p:set>
                                    <p:animEffect transition="in" filter="fade">
                                      <p:cBhvr>
                                        <p:cTn id="207" dur="400"/>
                                        <p:tgtEl>
                                          <p:spTgt spid="72"/>
                                        </p:tgtEl>
                                      </p:cBhvr>
                                    </p:animEffect>
                                  </p:childTnLst>
                                </p:cTn>
                              </p:par>
                              <p:par>
                                <p:cTn id="208" presetID="10" presetClass="entr" presetSubtype="0" fill="hold" nodeType="withEffect">
                                  <p:stCondLst>
                                    <p:cond delay="0"/>
                                  </p:stCondLst>
                                  <p:childTnLst>
                                    <p:set>
                                      <p:cBhvr>
                                        <p:cTn id="209" dur="1" fill="hold">
                                          <p:stCondLst>
                                            <p:cond delay="0"/>
                                          </p:stCondLst>
                                        </p:cTn>
                                        <p:tgtEl>
                                          <p:spTgt spid="73"/>
                                        </p:tgtEl>
                                        <p:attrNameLst>
                                          <p:attrName>style.visibility</p:attrName>
                                        </p:attrNameLst>
                                      </p:cBhvr>
                                      <p:to>
                                        <p:strVal val="visible"/>
                                      </p:to>
                                    </p:set>
                                    <p:animEffect transition="in" filter="fade">
                                      <p:cBhvr>
                                        <p:cTn id="210" dur="400"/>
                                        <p:tgtEl>
                                          <p:spTgt spid="73"/>
                                        </p:tgtEl>
                                      </p:cBhvr>
                                    </p:animEffect>
                                  </p:childTnLst>
                                </p:cTn>
                              </p:par>
                              <p:par>
                                <p:cTn id="211" presetID="10" presetClass="entr" presetSubtype="0" fill="hold" grpId="0" nodeType="withEffect">
                                  <p:stCondLst>
                                    <p:cond delay="0"/>
                                  </p:stCondLst>
                                  <p:childTnLst>
                                    <p:set>
                                      <p:cBhvr>
                                        <p:cTn id="212" dur="1" fill="hold">
                                          <p:stCondLst>
                                            <p:cond delay="0"/>
                                          </p:stCondLst>
                                        </p:cTn>
                                        <p:tgtEl>
                                          <p:spTgt spid="74"/>
                                        </p:tgtEl>
                                        <p:attrNameLst>
                                          <p:attrName>style.visibility</p:attrName>
                                        </p:attrNameLst>
                                      </p:cBhvr>
                                      <p:to>
                                        <p:strVal val="visible"/>
                                      </p:to>
                                    </p:set>
                                    <p:animEffect transition="in" filter="fade">
                                      <p:cBhvr>
                                        <p:cTn id="213" dur="400"/>
                                        <p:tgtEl>
                                          <p:spTgt spid="74"/>
                                        </p:tgtEl>
                                      </p:cBhvr>
                                    </p:animEffect>
                                  </p:childTnLst>
                                </p:cTn>
                              </p:par>
                              <p:par>
                                <p:cTn id="214" presetID="10" presetClass="entr" presetSubtype="0" fill="hold" nodeType="withEffect">
                                  <p:stCondLst>
                                    <p:cond delay="0"/>
                                  </p:stCondLst>
                                  <p:childTnLst>
                                    <p:set>
                                      <p:cBhvr>
                                        <p:cTn id="215" dur="1" fill="hold">
                                          <p:stCondLst>
                                            <p:cond delay="0"/>
                                          </p:stCondLst>
                                        </p:cTn>
                                        <p:tgtEl>
                                          <p:spTgt spid="75"/>
                                        </p:tgtEl>
                                        <p:attrNameLst>
                                          <p:attrName>style.visibility</p:attrName>
                                        </p:attrNameLst>
                                      </p:cBhvr>
                                      <p:to>
                                        <p:strVal val="visible"/>
                                      </p:to>
                                    </p:set>
                                    <p:animEffect transition="in" filter="fade">
                                      <p:cBhvr>
                                        <p:cTn id="216" dur="4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7" grpId="0" animBg="1"/>
      <p:bldP spid="19" grpId="0" animBg="1"/>
      <p:bldP spid="21" grpId="0" animBg="1"/>
      <p:bldP spid="23" grpId="0" animBg="1"/>
      <p:bldP spid="25" grpId="0" animBg="1"/>
      <p:bldP spid="27" grpId="0" animBg="1"/>
      <p:bldP spid="29" grpId="0" animBg="1"/>
      <p:bldP spid="32" grpId="0" animBg="1"/>
      <p:bldP spid="34" grpId="0" animBg="1"/>
      <p:bldP spid="36" grpId="0" animBg="1"/>
      <p:bldP spid="38" grpId="0" animBg="1"/>
      <p:bldP spid="40" grpId="0" animBg="1"/>
      <p:bldP spid="42" grpId="0" animBg="1"/>
      <p:bldP spid="44" grpId="0" animBg="1"/>
      <p:bldP spid="47" grpId="0" animBg="1"/>
      <p:bldP spid="50" grpId="0" animBg="1"/>
      <p:bldP spid="52" grpId="0" animBg="1"/>
      <p:bldP spid="54" grpId="0" animBg="1"/>
      <p:bldP spid="56" grpId="0" animBg="1"/>
      <p:bldP spid="58" grpId="0" animBg="1"/>
      <p:bldP spid="60" grpId="0" animBg="1"/>
      <p:bldP spid="63" grpId="0" animBg="1"/>
      <p:bldP spid="65" grpId="0" animBg="1"/>
      <p:bldP spid="67" grpId="0" animBg="1"/>
      <p:bldP spid="69" grpId="0" animBg="1"/>
      <p:bldP spid="71" grpId="0" animBg="1"/>
      <p:bldP spid="7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function gets the list itself, not a copy</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method call changes the caller’s list; an assignment only rebinds the parameter</a:t>
            </a:r>
            <a:endParaRPr lang="en-US" sz="1400" dirty="0"/>
          </a:p>
        </p:txBody>
      </p:sp>
      <p:sp>
        <p:nvSpPr>
          <p:cNvPr id="6" name="progbox"/>
          <p:cNvSpPr/>
          <p:nvPr/>
        </p:nvSpPr>
        <p:spPr>
          <a:xfrm>
            <a:off x="365760" y="1188720"/>
            <a:ext cx="2788920" cy="2286000"/>
          </a:xfrm>
          <a:prstGeom prst="roundRect">
            <a:avLst>
              <a:gd name="adj" fmla="val 4000"/>
            </a:avLst>
          </a:prstGeom>
          <a:solidFill>
            <a:srgbClr val="17202B"/>
          </a:solidFill>
          <a:ln w="12700">
            <a:solidFill>
              <a:srgbClr val="17202B"/>
            </a:solidFill>
            <a:prstDash val="solid"/>
          </a:ln>
        </p:spPr>
      </p:sp>
      <p:sp>
        <p:nvSpPr>
          <p:cNvPr id="7" name="prog"/>
          <p:cNvSpPr txBox="1"/>
          <p:nvPr/>
        </p:nvSpPr>
        <p:spPr>
          <a:xfrm>
            <a:off x="502920" y="1261872"/>
            <a:ext cx="2514600" cy="2139696"/>
          </a:xfrm>
          <a:prstGeom prst="rect">
            <a:avLst/>
          </a:prstGeom>
          <a:noFill/>
          <a:ln/>
        </p:spPr>
        <p:txBody>
          <a:bodyPr wrap="square" lIns="0" tIns="0" rIns="0" bIns="0" rtlCol="0" anchor="t"/>
          <a:lstStyle/>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def eggs(some_parameter):</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    some_parameter.append('Hello')</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spam = [1, 2, 3]</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eggs(spam)</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print(spam)</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def reassign(some_parameter):</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    some_parameter = some_parameter + ['Hello']</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spam = [1, 2, 3]</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reassign(spam)</a:t>
            </a:r>
            <a:endParaRPr lang="en-US" sz="850" dirty="0"/>
          </a:p>
          <a:p>
            <a:pPr indent="0" marL="0">
              <a:spcAft>
                <a:spcPts val="100"/>
              </a:spcAft>
              <a:buNone/>
            </a:pPr>
            <a:r>
              <a:rPr lang="en-US" sz="850" dirty="0">
                <a:solidFill>
                  <a:srgbClr val="E6EDF3"/>
                </a:solidFill>
                <a:latin typeface="Courier New" pitchFamily="34" charset="0"/>
                <a:ea typeface="Courier New" pitchFamily="34" charset="-122"/>
                <a:cs typeface="Courier New" pitchFamily="34" charset="-120"/>
              </a:rPr>
              <a:t>print(spam)</a:t>
            </a:r>
            <a:endParaRPr lang="en-US" sz="850" dirty="0"/>
          </a:p>
        </p:txBody>
      </p:sp>
      <p:sp>
        <p:nvSpPr>
          <p:cNvPr id="8" name="transbox"/>
          <p:cNvSpPr/>
          <p:nvPr/>
        </p:nvSpPr>
        <p:spPr>
          <a:xfrm>
            <a:off x="365760" y="3547872"/>
            <a:ext cx="2788920" cy="502920"/>
          </a:xfrm>
          <a:prstGeom prst="roundRect">
            <a:avLst>
              <a:gd name="adj" fmla="val 18182"/>
            </a:avLst>
          </a:prstGeom>
          <a:solidFill>
            <a:srgbClr val="F1F4F8"/>
          </a:solidFill>
          <a:ln w="12700">
            <a:solidFill>
              <a:srgbClr val="F1F4F8"/>
            </a:solidFill>
            <a:prstDash val="solid"/>
          </a:ln>
        </p:spPr>
      </p:sp>
      <p:sp>
        <p:nvSpPr>
          <p:cNvPr id="9" name="trans"/>
          <p:cNvSpPr txBox="1"/>
          <p:nvPr/>
        </p:nvSpPr>
        <p:spPr>
          <a:xfrm>
            <a:off x="475488" y="3602736"/>
            <a:ext cx="2569464" cy="393192"/>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[1, 2, 3, 'Hello']</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[1, 2, 3]</a:t>
            </a:r>
            <a:endParaRPr lang="en-US" sz="1100" dirty="0"/>
          </a:p>
        </p:txBody>
      </p:sp>
      <p:sp>
        <p:nvSpPr>
          <p:cNvPr id="10" name="transcap"/>
          <p:cNvSpPr txBox="1"/>
          <p:nvPr/>
        </p:nvSpPr>
        <p:spPr>
          <a:xfrm>
            <a:off x="365760" y="4069080"/>
            <a:ext cx="2788920" cy="182880"/>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v:ListArguments:sc0t"/>
          <p:cNvSpPr txBox="1"/>
          <p:nvPr/>
        </p:nvSpPr>
        <p:spPr>
          <a:xfrm>
            <a:off x="3291840" y="1170432"/>
            <a:ext cx="2651760" cy="237744"/>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alibri" pitchFamily="34" charset="0"/>
                <a:ea typeface="Calibri" pitchFamily="34" charset="-122"/>
                <a:cs typeface="Calibri" pitchFamily="34" charset="-120"/>
              </a:rPr>
              <a:t>the function calls append</a:t>
            </a:r>
            <a:endParaRPr lang="en-US" sz="1200" dirty="0"/>
          </a:p>
        </p:txBody>
      </p:sp>
      <p:sp>
        <p:nvSpPr>
          <p:cNvPr id="12" name="v:ListArguments:sc1t"/>
          <p:cNvSpPr txBox="1"/>
          <p:nvPr/>
        </p:nvSpPr>
        <p:spPr>
          <a:xfrm>
            <a:off x="6035040" y="1170432"/>
            <a:ext cx="2651760" cy="237744"/>
          </a:xfrm>
          <a:prstGeom prst="rect">
            <a:avLst/>
          </a:prstGeom>
          <a:noFill/>
          <a:ln/>
        </p:spPr>
        <p:txBody>
          <a:bodyPr wrap="square" lIns="0" tIns="0" rIns="0" bIns="0" rtlCol="0" anchor="ctr">
            <a:normAutofit/>
          </a:bodyPr>
          <a:lstStyle/>
          <a:p>
            <a:pPr indent="0" marL="0">
              <a:buNone/>
            </a:pPr>
            <a:r>
              <a:rPr lang="en-US" sz="1200" b="1" dirty="0">
                <a:solidFill>
                  <a:srgbClr val="D64545"/>
                </a:solidFill>
                <a:latin typeface="Calibri" pitchFamily="34" charset="0"/>
                <a:ea typeface="Calibri" pitchFamily="34" charset="-122"/>
                <a:cs typeface="Calibri" pitchFamily="34" charset="-120"/>
              </a:rPr>
              <a:t>the function assigns a new list</a:t>
            </a:r>
            <a:endParaRPr lang="en-US" sz="1200" dirty="0"/>
          </a:p>
        </p:txBody>
      </p:sp>
      <p:sp>
        <p:nvSpPr>
          <p:cNvPr id="13" name="v:ListArguments:g0.0.c|b1"/>
          <p:cNvSpPr txBox="1"/>
          <p:nvPr/>
        </p:nvSpPr>
        <p:spPr>
          <a:xfrm>
            <a:off x="3291840" y="1481328"/>
            <a:ext cx="2651760" cy="237744"/>
          </a:xfrm>
          <a:prstGeom prst="rect">
            <a:avLst/>
          </a:prstGeom>
          <a:noFill/>
          <a:ln/>
        </p:spPr>
        <p:txBody>
          <a:bodyPr wrap="square" lIns="0" tIns="0" rIns="0" bIns="0" rtlCol="0" anchor="ctr"/>
          <a:lstStyle/>
          <a:p>
            <a:pPr indent="0" marL="0">
              <a:buNone/>
            </a:pPr>
            <a:r>
              <a:rPr lang="en-US" sz="1050" b="1" i="1" dirty="0">
                <a:solidFill>
                  <a:srgbClr val="1E2A3A"/>
                </a:solidFill>
                <a:latin typeface="Calibri" pitchFamily="34" charset="0"/>
                <a:ea typeface="Calibri" pitchFamily="34" charset="-122"/>
                <a:cs typeface="Calibri" pitchFamily="34" charset="-120"/>
              </a:rPr>
              <a:t>inside the function, before append</a:t>
            </a:r>
            <a:endParaRPr lang="en-US" sz="1050" dirty="0"/>
          </a:p>
        </p:txBody>
      </p:sp>
      <p:sp>
        <p:nvSpPr>
          <p:cNvPr id="14" name="v:ListArguments:g0.0.sc0|b1"/>
          <p:cNvSpPr txBox="1"/>
          <p:nvPr/>
        </p:nvSpPr>
        <p:spPr>
          <a:xfrm>
            <a:off x="3291840" y="1728216"/>
            <a:ext cx="1143000" cy="182880"/>
          </a:xfrm>
          <a:prstGeom prst="rect">
            <a:avLst/>
          </a:prstGeom>
          <a:noFill/>
          <a:ln/>
        </p:spPr>
        <p:txBody>
          <a:bodyPr wrap="square" lIns="0" tIns="0" rIns="0" bIns="0" rtlCol="0" anchor="ctr"/>
          <a:lstStyle/>
          <a:p>
            <a:pPr indent="0" marL="0">
              <a:buNone/>
            </a:pPr>
            <a:r>
              <a:rPr lang="en-US" sz="950" b="1" i="1" dirty="0">
                <a:solidFill>
                  <a:srgbClr val="306998"/>
                </a:solidFill>
                <a:latin typeface="Calibri" pitchFamily="34" charset="0"/>
                <a:ea typeface="Calibri" pitchFamily="34" charset="-122"/>
                <a:cs typeface="Calibri" pitchFamily="34" charset="-120"/>
              </a:rPr>
              <a:t>module</a:t>
            </a:r>
            <a:endParaRPr lang="en-US" sz="950" dirty="0"/>
          </a:p>
        </p:txBody>
      </p:sp>
      <p:sp>
        <p:nvSpPr>
          <p:cNvPr id="15" name="v:ListArguments:g0.0.sc1|b1"/>
          <p:cNvSpPr txBox="1"/>
          <p:nvPr/>
        </p:nvSpPr>
        <p:spPr>
          <a:xfrm>
            <a:off x="4480560" y="1728216"/>
            <a:ext cx="1143000" cy="182880"/>
          </a:xfrm>
          <a:prstGeom prst="rect">
            <a:avLst/>
          </a:prstGeom>
          <a:noFill/>
          <a:ln/>
        </p:spPr>
        <p:txBody>
          <a:bodyPr wrap="square" lIns="0" tIns="0" rIns="0" bIns="0" rtlCol="0" anchor="ctr"/>
          <a:lstStyle/>
          <a:p>
            <a:pPr indent="0" marL="0">
              <a:buNone/>
            </a:pPr>
            <a:r>
              <a:rPr lang="en-US" sz="950" b="1" i="1" dirty="0">
                <a:solidFill>
                  <a:srgbClr val="B7791F"/>
                </a:solidFill>
                <a:latin typeface="Calibri" pitchFamily="34" charset="0"/>
                <a:ea typeface="Calibri" pitchFamily="34" charset="-122"/>
                <a:cs typeface="Calibri" pitchFamily="34" charset="-120"/>
              </a:rPr>
              <a:t>eggs()</a:t>
            </a:r>
            <a:endParaRPr lang="en-US" sz="950" dirty="0"/>
          </a:p>
        </p:txBody>
      </p:sp>
      <p:sp>
        <p:nvSpPr>
          <p:cNvPr id="16" name="v:ListArguments:g0.0.o1i0:box|b1"/>
          <p:cNvSpPr/>
          <p:nvPr/>
        </p:nvSpPr>
        <p:spPr>
          <a:xfrm>
            <a:off x="4389120" y="2103120"/>
            <a:ext cx="256032" cy="310896"/>
          </a:xfrm>
          <a:prstGeom prst="roundRect">
            <a:avLst>
              <a:gd name="adj" fmla="val 14286"/>
            </a:avLst>
          </a:prstGeom>
          <a:solidFill>
            <a:srgbClr val="E3EEF8"/>
          </a:solidFill>
          <a:ln w="19050">
            <a:solidFill>
              <a:srgbClr val="306998"/>
            </a:solidFill>
            <a:prstDash val="solid"/>
          </a:ln>
        </p:spPr>
      </p:sp>
      <p:sp>
        <p:nvSpPr>
          <p:cNvPr id="17" name="v:ListArguments:g0.0.o1i0|b1"/>
          <p:cNvSpPr txBox="1"/>
          <p:nvPr/>
        </p:nvSpPr>
        <p:spPr>
          <a:xfrm>
            <a:off x="4398264" y="2103120"/>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1</a:t>
            </a:r>
            <a:endParaRPr lang="en-US" sz="950" dirty="0"/>
          </a:p>
        </p:txBody>
      </p:sp>
      <p:sp>
        <p:nvSpPr>
          <p:cNvPr id="18" name="v:ListArguments:g0.0.o1i1:box|b1"/>
          <p:cNvSpPr/>
          <p:nvPr/>
        </p:nvSpPr>
        <p:spPr>
          <a:xfrm>
            <a:off x="4681728" y="2103120"/>
            <a:ext cx="256032" cy="310896"/>
          </a:xfrm>
          <a:prstGeom prst="roundRect">
            <a:avLst>
              <a:gd name="adj" fmla="val 14286"/>
            </a:avLst>
          </a:prstGeom>
          <a:solidFill>
            <a:srgbClr val="E3EEF8"/>
          </a:solidFill>
          <a:ln w="19050">
            <a:solidFill>
              <a:srgbClr val="306998"/>
            </a:solidFill>
            <a:prstDash val="solid"/>
          </a:ln>
        </p:spPr>
      </p:sp>
      <p:sp>
        <p:nvSpPr>
          <p:cNvPr id="19" name="v:ListArguments:g0.0.o1i1|b1"/>
          <p:cNvSpPr txBox="1"/>
          <p:nvPr/>
        </p:nvSpPr>
        <p:spPr>
          <a:xfrm>
            <a:off x="4690872" y="2103120"/>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2</a:t>
            </a:r>
            <a:endParaRPr lang="en-US" sz="950" dirty="0"/>
          </a:p>
        </p:txBody>
      </p:sp>
      <p:sp>
        <p:nvSpPr>
          <p:cNvPr id="20" name="v:ListArguments:g0.0.o1i2:box|b1"/>
          <p:cNvSpPr/>
          <p:nvPr/>
        </p:nvSpPr>
        <p:spPr>
          <a:xfrm>
            <a:off x="4974336" y="2103120"/>
            <a:ext cx="256032" cy="310896"/>
          </a:xfrm>
          <a:prstGeom prst="roundRect">
            <a:avLst>
              <a:gd name="adj" fmla="val 14286"/>
            </a:avLst>
          </a:prstGeom>
          <a:solidFill>
            <a:srgbClr val="E3EEF8"/>
          </a:solidFill>
          <a:ln w="19050">
            <a:solidFill>
              <a:srgbClr val="306998"/>
            </a:solidFill>
            <a:prstDash val="solid"/>
          </a:ln>
        </p:spPr>
      </p:sp>
      <p:sp>
        <p:nvSpPr>
          <p:cNvPr id="21" name="v:ListArguments:g0.0.o1i2|b1"/>
          <p:cNvSpPr txBox="1"/>
          <p:nvPr/>
        </p:nvSpPr>
        <p:spPr>
          <a:xfrm>
            <a:off x="4983480" y="2103120"/>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3</a:t>
            </a:r>
            <a:endParaRPr lang="en-US" sz="950" dirty="0"/>
          </a:p>
        </p:txBody>
      </p:sp>
      <p:sp>
        <p:nvSpPr>
          <p:cNvPr id="22" name="v:ListArguments:g0.0.n.spam:box|b1"/>
          <p:cNvSpPr/>
          <p:nvPr/>
        </p:nvSpPr>
        <p:spPr>
          <a:xfrm>
            <a:off x="3291840" y="2002536"/>
            <a:ext cx="868680" cy="237744"/>
          </a:xfrm>
          <a:prstGeom prst="roundRect">
            <a:avLst>
              <a:gd name="adj" fmla="val 30769"/>
            </a:avLst>
          </a:prstGeom>
          <a:solidFill>
            <a:srgbClr val="FFFFFF"/>
          </a:solidFill>
          <a:ln w="19050">
            <a:solidFill>
              <a:srgbClr val="306998"/>
            </a:solidFill>
            <a:prstDash val="solid"/>
          </a:ln>
        </p:spPr>
      </p:sp>
      <p:sp>
        <p:nvSpPr>
          <p:cNvPr id="23" name="v:ListArguments:g0.0.n.spam|b1"/>
          <p:cNvSpPr txBox="1"/>
          <p:nvPr/>
        </p:nvSpPr>
        <p:spPr>
          <a:xfrm>
            <a:off x="3291840" y="2002536"/>
            <a:ext cx="868680" cy="237744"/>
          </a:xfrm>
          <a:prstGeom prst="rect">
            <a:avLst/>
          </a:prstGeom>
          <a:noFill/>
          <a:ln/>
        </p:spPr>
        <p:txBody>
          <a:bodyPr wrap="square" lIns="0" tIns="0" rIns="0" bIns="0" rtlCol="0" anchor="ctr">
            <a:normAutofit/>
          </a:bodyPr>
          <a:lstStyle/>
          <a:p>
            <a:pPr algn="ctr" indent="0" marL="0">
              <a:buNone/>
            </a:pPr>
            <a:r>
              <a:rPr lang="en-US" sz="950" b="1" dirty="0">
                <a:solidFill>
                  <a:srgbClr val="306998"/>
                </a:solidFill>
                <a:latin typeface="Courier New" pitchFamily="34" charset="0"/>
                <a:ea typeface="Courier New" pitchFamily="34" charset="-122"/>
                <a:cs typeface="Courier New" pitchFamily="34" charset="-120"/>
              </a:rPr>
              <a:t>spam</a:t>
            </a:r>
            <a:endParaRPr lang="en-US" sz="950" dirty="0"/>
          </a:p>
        </p:txBody>
      </p:sp>
      <p:sp>
        <p:nvSpPr>
          <p:cNvPr id="24" name="namearrow|b1"/>
          <p:cNvSpPr/>
          <p:nvPr/>
        </p:nvSpPr>
        <p:spPr>
          <a:xfrm>
            <a:off x="4160520" y="2121408"/>
            <a:ext cx="228600" cy="137160"/>
          </a:xfrm>
          <a:prstGeom prst="line">
            <a:avLst/>
          </a:prstGeom>
          <a:noFill/>
          <a:ln w="25400">
            <a:solidFill>
              <a:srgbClr val="306998"/>
            </a:solidFill>
            <a:prstDash val="solid"/>
            <a:tailEnd type="triangle"/>
          </a:ln>
        </p:spPr>
      </p:sp>
      <p:sp>
        <p:nvSpPr>
          <p:cNvPr id="25" name="v:ListArguments:g0.0.n.some_parameter:box|b1"/>
          <p:cNvSpPr/>
          <p:nvPr/>
        </p:nvSpPr>
        <p:spPr>
          <a:xfrm>
            <a:off x="3291840" y="2276856"/>
            <a:ext cx="868680" cy="237744"/>
          </a:xfrm>
          <a:prstGeom prst="roundRect">
            <a:avLst>
              <a:gd name="adj" fmla="val 30769"/>
            </a:avLst>
          </a:prstGeom>
          <a:solidFill>
            <a:srgbClr val="FFFFFF"/>
          </a:solidFill>
          <a:ln w="19050">
            <a:solidFill>
              <a:srgbClr val="B7791F"/>
            </a:solidFill>
            <a:prstDash val="solid"/>
          </a:ln>
        </p:spPr>
      </p:sp>
      <p:sp>
        <p:nvSpPr>
          <p:cNvPr id="26" name="v:ListArguments:g0.0.n.some_parameter|b1"/>
          <p:cNvSpPr txBox="1"/>
          <p:nvPr/>
        </p:nvSpPr>
        <p:spPr>
          <a:xfrm>
            <a:off x="3291840" y="2276856"/>
            <a:ext cx="868680" cy="237744"/>
          </a:xfrm>
          <a:prstGeom prst="rect">
            <a:avLst/>
          </a:prstGeom>
          <a:noFill/>
          <a:ln/>
        </p:spPr>
        <p:txBody>
          <a:bodyPr wrap="square" lIns="0" tIns="0" rIns="0" bIns="0" rtlCol="0" anchor="ctr">
            <a:normAutofit/>
          </a:bodyPr>
          <a:lstStyle/>
          <a:p>
            <a:pPr algn="ctr" indent="0" marL="0">
              <a:buNone/>
            </a:pPr>
            <a:r>
              <a:rPr lang="en-US" sz="720" b="1" dirty="0">
                <a:solidFill>
                  <a:srgbClr val="B7791F"/>
                </a:solidFill>
                <a:latin typeface="Courier New" pitchFamily="34" charset="0"/>
                <a:ea typeface="Courier New" pitchFamily="34" charset="-122"/>
                <a:cs typeface="Courier New" pitchFamily="34" charset="-120"/>
              </a:rPr>
              <a:t>some_parameter</a:t>
            </a:r>
            <a:endParaRPr lang="en-US" sz="720" dirty="0"/>
          </a:p>
        </p:txBody>
      </p:sp>
      <p:sp>
        <p:nvSpPr>
          <p:cNvPr id="27" name="namearrow|b1"/>
          <p:cNvSpPr/>
          <p:nvPr/>
        </p:nvSpPr>
        <p:spPr>
          <a:xfrm flipV="1">
            <a:off x="4160520" y="2258568"/>
            <a:ext cx="228600" cy="137160"/>
          </a:xfrm>
          <a:prstGeom prst="line">
            <a:avLst/>
          </a:prstGeom>
          <a:noFill/>
          <a:ln w="25400">
            <a:solidFill>
              <a:srgbClr val="B7791F"/>
            </a:solidFill>
            <a:prstDash val="solid"/>
            <a:tailEnd type="triangle"/>
          </a:ln>
        </p:spPr>
      </p:sp>
      <p:sp>
        <p:nvSpPr>
          <p:cNvPr id="28" name="v:ListArguments:g0.1.c|b2"/>
          <p:cNvSpPr txBox="1"/>
          <p:nvPr/>
        </p:nvSpPr>
        <p:spPr>
          <a:xfrm>
            <a:off x="3291840" y="2990088"/>
            <a:ext cx="2651760" cy="237744"/>
          </a:xfrm>
          <a:prstGeom prst="rect">
            <a:avLst/>
          </a:prstGeom>
          <a:noFill/>
          <a:ln/>
        </p:spPr>
        <p:txBody>
          <a:bodyPr wrap="square" lIns="0" tIns="0" rIns="0" bIns="0" rtlCol="0" anchor="ctr"/>
          <a:lstStyle/>
          <a:p>
            <a:pPr indent="0" marL="0">
              <a:buNone/>
            </a:pPr>
            <a:r>
              <a:rPr lang="en-US" sz="1050" b="1" i="1" dirty="0">
                <a:solidFill>
                  <a:srgbClr val="1E2A3A"/>
                </a:solidFill>
                <a:latin typeface="Calibri" pitchFamily="34" charset="0"/>
                <a:ea typeface="Calibri" pitchFamily="34" charset="-122"/>
                <a:cs typeface="Calibri" pitchFamily="34" charset="-120"/>
              </a:rPr>
              <a:t>back in the caller</a:t>
            </a:r>
            <a:endParaRPr lang="en-US" sz="1050" dirty="0"/>
          </a:p>
        </p:txBody>
      </p:sp>
      <p:sp>
        <p:nvSpPr>
          <p:cNvPr id="29" name="v:ListArguments:g0.1.o1i0:box|b2"/>
          <p:cNvSpPr/>
          <p:nvPr/>
        </p:nvSpPr>
        <p:spPr>
          <a:xfrm>
            <a:off x="4389120" y="3355848"/>
            <a:ext cx="256032" cy="310896"/>
          </a:xfrm>
          <a:prstGeom prst="roundRect">
            <a:avLst>
              <a:gd name="adj" fmla="val 14286"/>
            </a:avLst>
          </a:prstGeom>
          <a:solidFill>
            <a:srgbClr val="E3EEF8"/>
          </a:solidFill>
          <a:ln w="19050">
            <a:solidFill>
              <a:srgbClr val="306998"/>
            </a:solidFill>
            <a:prstDash val="solid"/>
          </a:ln>
        </p:spPr>
      </p:sp>
      <p:sp>
        <p:nvSpPr>
          <p:cNvPr id="30" name="v:ListArguments:g0.1.o1i0|b2"/>
          <p:cNvSpPr txBox="1"/>
          <p:nvPr/>
        </p:nvSpPr>
        <p:spPr>
          <a:xfrm>
            <a:off x="4398264" y="3355848"/>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1</a:t>
            </a:r>
            <a:endParaRPr lang="en-US" sz="950" dirty="0"/>
          </a:p>
        </p:txBody>
      </p:sp>
      <p:sp>
        <p:nvSpPr>
          <p:cNvPr id="31" name="v:ListArguments:g0.1.o1i1:box|b2"/>
          <p:cNvSpPr/>
          <p:nvPr/>
        </p:nvSpPr>
        <p:spPr>
          <a:xfrm>
            <a:off x="4681728" y="3355848"/>
            <a:ext cx="256032" cy="310896"/>
          </a:xfrm>
          <a:prstGeom prst="roundRect">
            <a:avLst>
              <a:gd name="adj" fmla="val 14286"/>
            </a:avLst>
          </a:prstGeom>
          <a:solidFill>
            <a:srgbClr val="E3EEF8"/>
          </a:solidFill>
          <a:ln w="19050">
            <a:solidFill>
              <a:srgbClr val="306998"/>
            </a:solidFill>
            <a:prstDash val="solid"/>
          </a:ln>
        </p:spPr>
      </p:sp>
      <p:sp>
        <p:nvSpPr>
          <p:cNvPr id="32" name="v:ListArguments:g0.1.o1i1|b2"/>
          <p:cNvSpPr txBox="1"/>
          <p:nvPr/>
        </p:nvSpPr>
        <p:spPr>
          <a:xfrm>
            <a:off x="4690872" y="3355848"/>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2</a:t>
            </a:r>
            <a:endParaRPr lang="en-US" sz="950" dirty="0"/>
          </a:p>
        </p:txBody>
      </p:sp>
      <p:sp>
        <p:nvSpPr>
          <p:cNvPr id="33" name="v:ListArguments:g0.1.o1i2:box|b2"/>
          <p:cNvSpPr/>
          <p:nvPr/>
        </p:nvSpPr>
        <p:spPr>
          <a:xfrm>
            <a:off x="4974336" y="3355848"/>
            <a:ext cx="256032" cy="310896"/>
          </a:xfrm>
          <a:prstGeom prst="roundRect">
            <a:avLst>
              <a:gd name="adj" fmla="val 14286"/>
            </a:avLst>
          </a:prstGeom>
          <a:solidFill>
            <a:srgbClr val="E3EEF8"/>
          </a:solidFill>
          <a:ln w="19050">
            <a:solidFill>
              <a:srgbClr val="306998"/>
            </a:solidFill>
            <a:prstDash val="solid"/>
          </a:ln>
        </p:spPr>
      </p:sp>
      <p:sp>
        <p:nvSpPr>
          <p:cNvPr id="34" name="v:ListArguments:g0.1.o1i2|b2"/>
          <p:cNvSpPr txBox="1"/>
          <p:nvPr/>
        </p:nvSpPr>
        <p:spPr>
          <a:xfrm>
            <a:off x="4983480" y="3355848"/>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3</a:t>
            </a:r>
            <a:endParaRPr lang="en-US" sz="950" dirty="0"/>
          </a:p>
        </p:txBody>
      </p:sp>
      <p:sp>
        <p:nvSpPr>
          <p:cNvPr id="35" name="v:ListArguments:g0.1.o1i3:box|b2"/>
          <p:cNvSpPr/>
          <p:nvPr/>
        </p:nvSpPr>
        <p:spPr>
          <a:xfrm>
            <a:off x="5266944" y="3355848"/>
            <a:ext cx="571500" cy="310896"/>
          </a:xfrm>
          <a:prstGeom prst="roundRect">
            <a:avLst>
              <a:gd name="adj" fmla="val 11765"/>
            </a:avLst>
          </a:prstGeom>
          <a:solidFill>
            <a:srgbClr val="E3EEF8"/>
          </a:solidFill>
          <a:ln w="19050">
            <a:solidFill>
              <a:srgbClr val="306998"/>
            </a:solidFill>
            <a:prstDash val="solid"/>
          </a:ln>
        </p:spPr>
      </p:sp>
      <p:sp>
        <p:nvSpPr>
          <p:cNvPr id="36" name="v:ListArguments:g0.1.o1i3|b2"/>
          <p:cNvSpPr txBox="1"/>
          <p:nvPr/>
        </p:nvSpPr>
        <p:spPr>
          <a:xfrm>
            <a:off x="5276088" y="3355848"/>
            <a:ext cx="553212" cy="310896"/>
          </a:xfrm>
          <a:prstGeom prst="rect">
            <a:avLst/>
          </a:prstGeom>
          <a:noFill/>
          <a:ln/>
        </p:spPr>
        <p:txBody>
          <a:bodyPr wrap="square" lIns="0" tIns="0" rIns="0" bIns="0" rtlCol="0" anchor="ctr">
            <a:normAutofit/>
          </a:bodyPr>
          <a:lstStyle/>
          <a:p>
            <a:pPr algn="ctr" indent="0" marL="0">
              <a:buNone/>
            </a:pPr>
            <a:r>
              <a:rPr lang="en-US" sz="918" b="1" dirty="0">
                <a:solidFill>
                  <a:srgbClr val="1E2A3A"/>
                </a:solidFill>
                <a:latin typeface="Courier New" pitchFamily="34" charset="0"/>
                <a:ea typeface="Courier New" pitchFamily="34" charset="-122"/>
                <a:cs typeface="Courier New" pitchFamily="34" charset="-120"/>
              </a:rPr>
              <a:t>'Hello'</a:t>
            </a:r>
            <a:endParaRPr lang="en-US" sz="918" dirty="0"/>
          </a:p>
        </p:txBody>
      </p:sp>
      <p:sp>
        <p:nvSpPr>
          <p:cNvPr id="37" name="v:ListArguments:g0.1.n.spam:box|b2"/>
          <p:cNvSpPr/>
          <p:nvPr/>
        </p:nvSpPr>
        <p:spPr>
          <a:xfrm>
            <a:off x="3291840" y="3392424"/>
            <a:ext cx="868680" cy="237744"/>
          </a:xfrm>
          <a:prstGeom prst="roundRect">
            <a:avLst>
              <a:gd name="adj" fmla="val 30769"/>
            </a:avLst>
          </a:prstGeom>
          <a:solidFill>
            <a:srgbClr val="FFFFFF"/>
          </a:solidFill>
          <a:ln w="19050">
            <a:solidFill>
              <a:srgbClr val="306998"/>
            </a:solidFill>
            <a:prstDash val="solid"/>
          </a:ln>
        </p:spPr>
      </p:sp>
      <p:sp>
        <p:nvSpPr>
          <p:cNvPr id="38" name="v:ListArguments:g0.1.n.spam|b2"/>
          <p:cNvSpPr txBox="1"/>
          <p:nvPr/>
        </p:nvSpPr>
        <p:spPr>
          <a:xfrm>
            <a:off x="3291840" y="3392424"/>
            <a:ext cx="868680" cy="237744"/>
          </a:xfrm>
          <a:prstGeom prst="rect">
            <a:avLst/>
          </a:prstGeom>
          <a:noFill/>
          <a:ln/>
        </p:spPr>
        <p:txBody>
          <a:bodyPr wrap="square" lIns="0" tIns="0" rIns="0" bIns="0" rtlCol="0" anchor="ctr">
            <a:normAutofit/>
          </a:bodyPr>
          <a:lstStyle/>
          <a:p>
            <a:pPr algn="ctr" indent="0" marL="0">
              <a:buNone/>
            </a:pPr>
            <a:r>
              <a:rPr lang="en-US" sz="950" b="1" dirty="0">
                <a:solidFill>
                  <a:srgbClr val="306998"/>
                </a:solidFill>
                <a:latin typeface="Courier New" pitchFamily="34" charset="0"/>
                <a:ea typeface="Courier New" pitchFamily="34" charset="-122"/>
                <a:cs typeface="Courier New" pitchFamily="34" charset="-120"/>
              </a:rPr>
              <a:t>spam</a:t>
            </a:r>
            <a:endParaRPr lang="en-US" sz="950" dirty="0"/>
          </a:p>
        </p:txBody>
      </p:sp>
      <p:sp>
        <p:nvSpPr>
          <p:cNvPr id="39" name="namearrow|b2"/>
          <p:cNvSpPr/>
          <p:nvPr/>
        </p:nvSpPr>
        <p:spPr>
          <a:xfrm>
            <a:off x="4160520" y="3511296"/>
            <a:ext cx="228600" cy="0"/>
          </a:xfrm>
          <a:prstGeom prst="line">
            <a:avLst/>
          </a:prstGeom>
          <a:noFill/>
          <a:ln w="25400">
            <a:solidFill>
              <a:srgbClr val="306998"/>
            </a:solidFill>
            <a:prstDash val="solid"/>
            <a:tailEnd type="triangle"/>
          </a:ln>
        </p:spPr>
      </p:sp>
      <p:sp>
        <p:nvSpPr>
          <p:cNvPr id="40" name="v:ListArguments:g1.0.c|b3"/>
          <p:cNvSpPr txBox="1"/>
          <p:nvPr/>
        </p:nvSpPr>
        <p:spPr>
          <a:xfrm>
            <a:off x="6035040" y="1481328"/>
            <a:ext cx="2651760" cy="237744"/>
          </a:xfrm>
          <a:prstGeom prst="rect">
            <a:avLst/>
          </a:prstGeom>
          <a:noFill/>
          <a:ln/>
        </p:spPr>
        <p:txBody>
          <a:bodyPr wrap="square" lIns="0" tIns="0" rIns="0" bIns="0" rtlCol="0" anchor="ctr"/>
          <a:lstStyle/>
          <a:p>
            <a:pPr indent="0" marL="0">
              <a:buNone/>
            </a:pPr>
            <a:r>
              <a:rPr lang="en-US" sz="1050" b="1" i="1" dirty="0">
                <a:solidFill>
                  <a:srgbClr val="1E2A3A"/>
                </a:solidFill>
                <a:latin typeface="Calibri" pitchFamily="34" charset="0"/>
                <a:ea typeface="Calibri" pitchFamily="34" charset="-122"/>
                <a:cs typeface="Calibri" pitchFamily="34" charset="-120"/>
              </a:rPr>
              <a:t>inside the function, after the assignment</a:t>
            </a:r>
            <a:endParaRPr lang="en-US" sz="1050" dirty="0"/>
          </a:p>
        </p:txBody>
      </p:sp>
      <p:sp>
        <p:nvSpPr>
          <p:cNvPr id="41" name="v:ListArguments:g1.0.sc0|b3"/>
          <p:cNvSpPr txBox="1"/>
          <p:nvPr/>
        </p:nvSpPr>
        <p:spPr>
          <a:xfrm>
            <a:off x="6035040" y="1728216"/>
            <a:ext cx="1143000" cy="182880"/>
          </a:xfrm>
          <a:prstGeom prst="rect">
            <a:avLst/>
          </a:prstGeom>
          <a:noFill/>
          <a:ln/>
        </p:spPr>
        <p:txBody>
          <a:bodyPr wrap="square" lIns="0" tIns="0" rIns="0" bIns="0" rtlCol="0" anchor="ctr"/>
          <a:lstStyle/>
          <a:p>
            <a:pPr indent="0" marL="0">
              <a:buNone/>
            </a:pPr>
            <a:r>
              <a:rPr lang="en-US" sz="950" b="1" i="1" dirty="0">
                <a:solidFill>
                  <a:srgbClr val="306998"/>
                </a:solidFill>
                <a:latin typeface="Calibri" pitchFamily="34" charset="0"/>
                <a:ea typeface="Calibri" pitchFamily="34" charset="-122"/>
                <a:cs typeface="Calibri" pitchFamily="34" charset="-120"/>
              </a:rPr>
              <a:t>module</a:t>
            </a:r>
            <a:endParaRPr lang="en-US" sz="950" dirty="0"/>
          </a:p>
        </p:txBody>
      </p:sp>
      <p:sp>
        <p:nvSpPr>
          <p:cNvPr id="42" name="v:ListArguments:g1.0.sc1|b3"/>
          <p:cNvSpPr txBox="1"/>
          <p:nvPr/>
        </p:nvSpPr>
        <p:spPr>
          <a:xfrm>
            <a:off x="7223760" y="1728216"/>
            <a:ext cx="1143000" cy="182880"/>
          </a:xfrm>
          <a:prstGeom prst="rect">
            <a:avLst/>
          </a:prstGeom>
          <a:noFill/>
          <a:ln/>
        </p:spPr>
        <p:txBody>
          <a:bodyPr wrap="square" lIns="0" tIns="0" rIns="0" bIns="0" rtlCol="0" anchor="ctr"/>
          <a:lstStyle/>
          <a:p>
            <a:pPr indent="0" marL="0">
              <a:buNone/>
            </a:pPr>
            <a:r>
              <a:rPr lang="en-US" sz="950" b="1" i="1" dirty="0">
                <a:solidFill>
                  <a:srgbClr val="B7791F"/>
                </a:solidFill>
                <a:latin typeface="Calibri" pitchFamily="34" charset="0"/>
                <a:ea typeface="Calibri" pitchFamily="34" charset="-122"/>
                <a:cs typeface="Calibri" pitchFamily="34" charset="-120"/>
              </a:rPr>
              <a:t>reassign()</a:t>
            </a:r>
            <a:endParaRPr lang="en-US" sz="950" dirty="0"/>
          </a:p>
        </p:txBody>
      </p:sp>
      <p:sp>
        <p:nvSpPr>
          <p:cNvPr id="43" name="v:ListArguments:g1.0.o1i0:box|b3"/>
          <p:cNvSpPr/>
          <p:nvPr/>
        </p:nvSpPr>
        <p:spPr>
          <a:xfrm>
            <a:off x="7132320" y="2011680"/>
            <a:ext cx="256032" cy="310896"/>
          </a:xfrm>
          <a:prstGeom prst="roundRect">
            <a:avLst>
              <a:gd name="adj" fmla="val 14286"/>
            </a:avLst>
          </a:prstGeom>
          <a:solidFill>
            <a:srgbClr val="E3EEF8"/>
          </a:solidFill>
          <a:ln w="19050">
            <a:solidFill>
              <a:srgbClr val="306998"/>
            </a:solidFill>
            <a:prstDash val="solid"/>
          </a:ln>
        </p:spPr>
      </p:sp>
      <p:sp>
        <p:nvSpPr>
          <p:cNvPr id="44" name="v:ListArguments:g1.0.o1i0|b3"/>
          <p:cNvSpPr txBox="1"/>
          <p:nvPr/>
        </p:nvSpPr>
        <p:spPr>
          <a:xfrm>
            <a:off x="7141464" y="2011680"/>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1</a:t>
            </a:r>
            <a:endParaRPr lang="en-US" sz="950" dirty="0"/>
          </a:p>
        </p:txBody>
      </p:sp>
      <p:sp>
        <p:nvSpPr>
          <p:cNvPr id="45" name="v:ListArguments:g1.0.o1i1:box|b3"/>
          <p:cNvSpPr/>
          <p:nvPr/>
        </p:nvSpPr>
        <p:spPr>
          <a:xfrm>
            <a:off x="7424928" y="2011680"/>
            <a:ext cx="256032" cy="310896"/>
          </a:xfrm>
          <a:prstGeom prst="roundRect">
            <a:avLst>
              <a:gd name="adj" fmla="val 14286"/>
            </a:avLst>
          </a:prstGeom>
          <a:solidFill>
            <a:srgbClr val="E3EEF8"/>
          </a:solidFill>
          <a:ln w="19050">
            <a:solidFill>
              <a:srgbClr val="306998"/>
            </a:solidFill>
            <a:prstDash val="solid"/>
          </a:ln>
        </p:spPr>
      </p:sp>
      <p:sp>
        <p:nvSpPr>
          <p:cNvPr id="46" name="v:ListArguments:g1.0.o1i1|b3"/>
          <p:cNvSpPr txBox="1"/>
          <p:nvPr/>
        </p:nvSpPr>
        <p:spPr>
          <a:xfrm>
            <a:off x="7434072" y="2011680"/>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2</a:t>
            </a:r>
            <a:endParaRPr lang="en-US" sz="950" dirty="0"/>
          </a:p>
        </p:txBody>
      </p:sp>
      <p:sp>
        <p:nvSpPr>
          <p:cNvPr id="47" name="v:ListArguments:g1.0.o1i2:box|b3"/>
          <p:cNvSpPr/>
          <p:nvPr/>
        </p:nvSpPr>
        <p:spPr>
          <a:xfrm>
            <a:off x="7717536" y="2011680"/>
            <a:ext cx="256032" cy="310896"/>
          </a:xfrm>
          <a:prstGeom prst="roundRect">
            <a:avLst>
              <a:gd name="adj" fmla="val 14286"/>
            </a:avLst>
          </a:prstGeom>
          <a:solidFill>
            <a:srgbClr val="E3EEF8"/>
          </a:solidFill>
          <a:ln w="19050">
            <a:solidFill>
              <a:srgbClr val="306998"/>
            </a:solidFill>
            <a:prstDash val="solid"/>
          </a:ln>
        </p:spPr>
      </p:sp>
      <p:sp>
        <p:nvSpPr>
          <p:cNvPr id="48" name="v:ListArguments:g1.0.o1i2|b3"/>
          <p:cNvSpPr txBox="1"/>
          <p:nvPr/>
        </p:nvSpPr>
        <p:spPr>
          <a:xfrm>
            <a:off x="7726680" y="2011680"/>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3</a:t>
            </a:r>
            <a:endParaRPr lang="en-US" sz="950" dirty="0"/>
          </a:p>
        </p:txBody>
      </p:sp>
      <p:sp>
        <p:nvSpPr>
          <p:cNvPr id="49" name="v:ListArguments:g1.0.o2i0:box|b3"/>
          <p:cNvSpPr/>
          <p:nvPr/>
        </p:nvSpPr>
        <p:spPr>
          <a:xfrm>
            <a:off x="7132320" y="2523744"/>
            <a:ext cx="256032" cy="310896"/>
          </a:xfrm>
          <a:prstGeom prst="roundRect">
            <a:avLst>
              <a:gd name="adj" fmla="val 14286"/>
            </a:avLst>
          </a:prstGeom>
          <a:solidFill>
            <a:srgbClr val="E3EEF8"/>
          </a:solidFill>
          <a:ln w="19050">
            <a:solidFill>
              <a:srgbClr val="306998"/>
            </a:solidFill>
            <a:prstDash val="solid"/>
          </a:ln>
        </p:spPr>
      </p:sp>
      <p:sp>
        <p:nvSpPr>
          <p:cNvPr id="50" name="v:ListArguments:g1.0.o2i0|b3"/>
          <p:cNvSpPr txBox="1"/>
          <p:nvPr/>
        </p:nvSpPr>
        <p:spPr>
          <a:xfrm>
            <a:off x="7141464" y="2523744"/>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1</a:t>
            </a:r>
            <a:endParaRPr lang="en-US" sz="950" dirty="0"/>
          </a:p>
        </p:txBody>
      </p:sp>
      <p:sp>
        <p:nvSpPr>
          <p:cNvPr id="51" name="v:ListArguments:g1.0.o2i1:box|b3"/>
          <p:cNvSpPr/>
          <p:nvPr/>
        </p:nvSpPr>
        <p:spPr>
          <a:xfrm>
            <a:off x="7424928" y="2523744"/>
            <a:ext cx="256032" cy="310896"/>
          </a:xfrm>
          <a:prstGeom prst="roundRect">
            <a:avLst>
              <a:gd name="adj" fmla="val 14286"/>
            </a:avLst>
          </a:prstGeom>
          <a:solidFill>
            <a:srgbClr val="E3EEF8"/>
          </a:solidFill>
          <a:ln w="19050">
            <a:solidFill>
              <a:srgbClr val="306998"/>
            </a:solidFill>
            <a:prstDash val="solid"/>
          </a:ln>
        </p:spPr>
      </p:sp>
      <p:sp>
        <p:nvSpPr>
          <p:cNvPr id="52" name="v:ListArguments:g1.0.o2i1|b3"/>
          <p:cNvSpPr txBox="1"/>
          <p:nvPr/>
        </p:nvSpPr>
        <p:spPr>
          <a:xfrm>
            <a:off x="7434072" y="2523744"/>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2</a:t>
            </a:r>
            <a:endParaRPr lang="en-US" sz="950" dirty="0"/>
          </a:p>
        </p:txBody>
      </p:sp>
      <p:sp>
        <p:nvSpPr>
          <p:cNvPr id="53" name="v:ListArguments:g1.0.o2i2:box|b3"/>
          <p:cNvSpPr/>
          <p:nvPr/>
        </p:nvSpPr>
        <p:spPr>
          <a:xfrm>
            <a:off x="7717536" y="2523744"/>
            <a:ext cx="256032" cy="310896"/>
          </a:xfrm>
          <a:prstGeom prst="roundRect">
            <a:avLst>
              <a:gd name="adj" fmla="val 14286"/>
            </a:avLst>
          </a:prstGeom>
          <a:solidFill>
            <a:srgbClr val="E3EEF8"/>
          </a:solidFill>
          <a:ln w="19050">
            <a:solidFill>
              <a:srgbClr val="306998"/>
            </a:solidFill>
            <a:prstDash val="solid"/>
          </a:ln>
        </p:spPr>
      </p:sp>
      <p:sp>
        <p:nvSpPr>
          <p:cNvPr id="54" name="v:ListArguments:g1.0.o2i2|b3"/>
          <p:cNvSpPr txBox="1"/>
          <p:nvPr/>
        </p:nvSpPr>
        <p:spPr>
          <a:xfrm>
            <a:off x="7726680" y="2523744"/>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3</a:t>
            </a:r>
            <a:endParaRPr lang="en-US" sz="950" dirty="0"/>
          </a:p>
        </p:txBody>
      </p:sp>
      <p:sp>
        <p:nvSpPr>
          <p:cNvPr id="55" name="v:ListArguments:g1.0.o2i3:box|b3"/>
          <p:cNvSpPr/>
          <p:nvPr/>
        </p:nvSpPr>
        <p:spPr>
          <a:xfrm>
            <a:off x="8010144" y="2523744"/>
            <a:ext cx="571500" cy="310896"/>
          </a:xfrm>
          <a:prstGeom prst="roundRect">
            <a:avLst>
              <a:gd name="adj" fmla="val 11765"/>
            </a:avLst>
          </a:prstGeom>
          <a:solidFill>
            <a:srgbClr val="E3EEF8"/>
          </a:solidFill>
          <a:ln w="19050">
            <a:solidFill>
              <a:srgbClr val="306998"/>
            </a:solidFill>
            <a:prstDash val="solid"/>
          </a:ln>
        </p:spPr>
      </p:sp>
      <p:sp>
        <p:nvSpPr>
          <p:cNvPr id="56" name="v:ListArguments:g1.0.o2i3|b3"/>
          <p:cNvSpPr txBox="1"/>
          <p:nvPr/>
        </p:nvSpPr>
        <p:spPr>
          <a:xfrm>
            <a:off x="8019288" y="2523744"/>
            <a:ext cx="553212" cy="310896"/>
          </a:xfrm>
          <a:prstGeom prst="rect">
            <a:avLst/>
          </a:prstGeom>
          <a:noFill/>
          <a:ln/>
        </p:spPr>
        <p:txBody>
          <a:bodyPr wrap="square" lIns="0" tIns="0" rIns="0" bIns="0" rtlCol="0" anchor="ctr">
            <a:normAutofit/>
          </a:bodyPr>
          <a:lstStyle/>
          <a:p>
            <a:pPr algn="ctr" indent="0" marL="0">
              <a:buNone/>
            </a:pPr>
            <a:r>
              <a:rPr lang="en-US" sz="918" b="1" dirty="0">
                <a:solidFill>
                  <a:srgbClr val="1E2A3A"/>
                </a:solidFill>
                <a:latin typeface="Courier New" pitchFamily="34" charset="0"/>
                <a:ea typeface="Courier New" pitchFamily="34" charset="-122"/>
                <a:cs typeface="Courier New" pitchFamily="34" charset="-120"/>
              </a:rPr>
              <a:t>'Hello'</a:t>
            </a:r>
            <a:endParaRPr lang="en-US" sz="918" dirty="0"/>
          </a:p>
        </p:txBody>
      </p:sp>
      <p:sp>
        <p:nvSpPr>
          <p:cNvPr id="57" name="v:ListArguments:g1.0.n.spam:box|b3"/>
          <p:cNvSpPr/>
          <p:nvPr/>
        </p:nvSpPr>
        <p:spPr>
          <a:xfrm>
            <a:off x="6035040" y="2048256"/>
            <a:ext cx="868680" cy="237744"/>
          </a:xfrm>
          <a:prstGeom prst="roundRect">
            <a:avLst>
              <a:gd name="adj" fmla="val 30769"/>
            </a:avLst>
          </a:prstGeom>
          <a:solidFill>
            <a:srgbClr val="FFFFFF"/>
          </a:solidFill>
          <a:ln w="19050">
            <a:solidFill>
              <a:srgbClr val="306998"/>
            </a:solidFill>
            <a:prstDash val="solid"/>
          </a:ln>
        </p:spPr>
      </p:sp>
      <p:sp>
        <p:nvSpPr>
          <p:cNvPr id="58" name="v:ListArguments:g1.0.n.spam|b3"/>
          <p:cNvSpPr txBox="1"/>
          <p:nvPr/>
        </p:nvSpPr>
        <p:spPr>
          <a:xfrm>
            <a:off x="6035040" y="2048256"/>
            <a:ext cx="868680" cy="237744"/>
          </a:xfrm>
          <a:prstGeom prst="rect">
            <a:avLst/>
          </a:prstGeom>
          <a:noFill/>
          <a:ln/>
        </p:spPr>
        <p:txBody>
          <a:bodyPr wrap="square" lIns="0" tIns="0" rIns="0" bIns="0" rtlCol="0" anchor="ctr">
            <a:normAutofit/>
          </a:bodyPr>
          <a:lstStyle/>
          <a:p>
            <a:pPr algn="ctr" indent="0" marL="0">
              <a:buNone/>
            </a:pPr>
            <a:r>
              <a:rPr lang="en-US" sz="950" b="1" dirty="0">
                <a:solidFill>
                  <a:srgbClr val="306998"/>
                </a:solidFill>
                <a:latin typeface="Courier New" pitchFamily="34" charset="0"/>
                <a:ea typeface="Courier New" pitchFamily="34" charset="-122"/>
                <a:cs typeface="Courier New" pitchFamily="34" charset="-120"/>
              </a:rPr>
              <a:t>spam</a:t>
            </a:r>
            <a:endParaRPr lang="en-US" sz="950" dirty="0"/>
          </a:p>
        </p:txBody>
      </p:sp>
      <p:sp>
        <p:nvSpPr>
          <p:cNvPr id="59" name="namearrow|b3"/>
          <p:cNvSpPr/>
          <p:nvPr/>
        </p:nvSpPr>
        <p:spPr>
          <a:xfrm>
            <a:off x="6903720" y="2167128"/>
            <a:ext cx="228600" cy="0"/>
          </a:xfrm>
          <a:prstGeom prst="line">
            <a:avLst/>
          </a:prstGeom>
          <a:noFill/>
          <a:ln w="25400">
            <a:solidFill>
              <a:srgbClr val="306998"/>
            </a:solidFill>
            <a:prstDash val="solid"/>
            <a:tailEnd type="triangle"/>
          </a:ln>
        </p:spPr>
      </p:sp>
      <p:sp>
        <p:nvSpPr>
          <p:cNvPr id="60" name="v:ListArguments:g1.0.n.some_parameter:box|b3"/>
          <p:cNvSpPr/>
          <p:nvPr/>
        </p:nvSpPr>
        <p:spPr>
          <a:xfrm>
            <a:off x="6035040" y="2560320"/>
            <a:ext cx="868680" cy="237744"/>
          </a:xfrm>
          <a:prstGeom prst="roundRect">
            <a:avLst>
              <a:gd name="adj" fmla="val 30769"/>
            </a:avLst>
          </a:prstGeom>
          <a:solidFill>
            <a:srgbClr val="FFFFFF"/>
          </a:solidFill>
          <a:ln w="19050">
            <a:solidFill>
              <a:srgbClr val="B7791F"/>
            </a:solidFill>
            <a:prstDash val="solid"/>
          </a:ln>
        </p:spPr>
      </p:sp>
      <p:sp>
        <p:nvSpPr>
          <p:cNvPr id="61" name="v:ListArguments:g1.0.n.some_parameter|b3"/>
          <p:cNvSpPr txBox="1"/>
          <p:nvPr/>
        </p:nvSpPr>
        <p:spPr>
          <a:xfrm>
            <a:off x="6035040" y="2560320"/>
            <a:ext cx="868680" cy="237744"/>
          </a:xfrm>
          <a:prstGeom prst="rect">
            <a:avLst/>
          </a:prstGeom>
          <a:noFill/>
          <a:ln/>
        </p:spPr>
        <p:txBody>
          <a:bodyPr wrap="square" lIns="0" tIns="0" rIns="0" bIns="0" rtlCol="0" anchor="ctr">
            <a:normAutofit/>
          </a:bodyPr>
          <a:lstStyle/>
          <a:p>
            <a:pPr algn="ctr" indent="0" marL="0">
              <a:buNone/>
            </a:pPr>
            <a:r>
              <a:rPr lang="en-US" sz="720" b="1" dirty="0">
                <a:solidFill>
                  <a:srgbClr val="B7791F"/>
                </a:solidFill>
                <a:latin typeface="Courier New" pitchFamily="34" charset="0"/>
                <a:ea typeface="Courier New" pitchFamily="34" charset="-122"/>
                <a:cs typeface="Courier New" pitchFamily="34" charset="-120"/>
              </a:rPr>
              <a:t>some_parameter</a:t>
            </a:r>
            <a:endParaRPr lang="en-US" sz="720" dirty="0"/>
          </a:p>
        </p:txBody>
      </p:sp>
      <p:sp>
        <p:nvSpPr>
          <p:cNvPr id="62" name="namearrow|b3"/>
          <p:cNvSpPr/>
          <p:nvPr/>
        </p:nvSpPr>
        <p:spPr>
          <a:xfrm>
            <a:off x="6903720" y="2679192"/>
            <a:ext cx="228600" cy="0"/>
          </a:xfrm>
          <a:prstGeom prst="line">
            <a:avLst/>
          </a:prstGeom>
          <a:noFill/>
          <a:ln w="25400">
            <a:solidFill>
              <a:srgbClr val="B7791F"/>
            </a:solidFill>
            <a:prstDash val="solid"/>
            <a:tailEnd type="triangle"/>
          </a:ln>
        </p:spPr>
      </p:sp>
      <p:sp>
        <p:nvSpPr>
          <p:cNvPr id="63" name="v:ListArguments:g1.1.c|b4"/>
          <p:cNvSpPr txBox="1"/>
          <p:nvPr/>
        </p:nvSpPr>
        <p:spPr>
          <a:xfrm>
            <a:off x="6035040" y="2990088"/>
            <a:ext cx="2651760" cy="237744"/>
          </a:xfrm>
          <a:prstGeom prst="rect">
            <a:avLst/>
          </a:prstGeom>
          <a:noFill/>
          <a:ln/>
        </p:spPr>
        <p:txBody>
          <a:bodyPr wrap="square" lIns="0" tIns="0" rIns="0" bIns="0" rtlCol="0" anchor="ctr"/>
          <a:lstStyle/>
          <a:p>
            <a:pPr indent="0" marL="0">
              <a:buNone/>
            </a:pPr>
            <a:r>
              <a:rPr lang="en-US" sz="1050" b="1" i="1" dirty="0">
                <a:solidFill>
                  <a:srgbClr val="1E2A3A"/>
                </a:solidFill>
                <a:latin typeface="Calibri" pitchFamily="34" charset="0"/>
                <a:ea typeface="Calibri" pitchFamily="34" charset="-122"/>
                <a:cs typeface="Calibri" pitchFamily="34" charset="-120"/>
              </a:rPr>
              <a:t>back in the caller</a:t>
            </a:r>
            <a:endParaRPr lang="en-US" sz="1050" dirty="0"/>
          </a:p>
        </p:txBody>
      </p:sp>
      <p:sp>
        <p:nvSpPr>
          <p:cNvPr id="64" name="v:ListArguments:g1.1.o1i0:box|b4"/>
          <p:cNvSpPr/>
          <p:nvPr/>
        </p:nvSpPr>
        <p:spPr>
          <a:xfrm>
            <a:off x="7132320" y="3355848"/>
            <a:ext cx="256032" cy="310896"/>
          </a:xfrm>
          <a:prstGeom prst="roundRect">
            <a:avLst>
              <a:gd name="adj" fmla="val 14286"/>
            </a:avLst>
          </a:prstGeom>
          <a:solidFill>
            <a:srgbClr val="E3EEF8"/>
          </a:solidFill>
          <a:ln w="19050">
            <a:solidFill>
              <a:srgbClr val="306998"/>
            </a:solidFill>
            <a:prstDash val="solid"/>
          </a:ln>
        </p:spPr>
      </p:sp>
      <p:sp>
        <p:nvSpPr>
          <p:cNvPr id="65" name="v:ListArguments:g1.1.o1i0|b4"/>
          <p:cNvSpPr txBox="1"/>
          <p:nvPr/>
        </p:nvSpPr>
        <p:spPr>
          <a:xfrm>
            <a:off x="7141464" y="3355848"/>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1</a:t>
            </a:r>
            <a:endParaRPr lang="en-US" sz="950" dirty="0"/>
          </a:p>
        </p:txBody>
      </p:sp>
      <p:sp>
        <p:nvSpPr>
          <p:cNvPr id="66" name="v:ListArguments:g1.1.o1i1:box|b4"/>
          <p:cNvSpPr/>
          <p:nvPr/>
        </p:nvSpPr>
        <p:spPr>
          <a:xfrm>
            <a:off x="7424928" y="3355848"/>
            <a:ext cx="256032" cy="310896"/>
          </a:xfrm>
          <a:prstGeom prst="roundRect">
            <a:avLst>
              <a:gd name="adj" fmla="val 14286"/>
            </a:avLst>
          </a:prstGeom>
          <a:solidFill>
            <a:srgbClr val="E3EEF8"/>
          </a:solidFill>
          <a:ln w="19050">
            <a:solidFill>
              <a:srgbClr val="306998"/>
            </a:solidFill>
            <a:prstDash val="solid"/>
          </a:ln>
        </p:spPr>
      </p:sp>
      <p:sp>
        <p:nvSpPr>
          <p:cNvPr id="67" name="v:ListArguments:g1.1.o1i1|b4"/>
          <p:cNvSpPr txBox="1"/>
          <p:nvPr/>
        </p:nvSpPr>
        <p:spPr>
          <a:xfrm>
            <a:off x="7434072" y="3355848"/>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2</a:t>
            </a:r>
            <a:endParaRPr lang="en-US" sz="950" dirty="0"/>
          </a:p>
        </p:txBody>
      </p:sp>
      <p:sp>
        <p:nvSpPr>
          <p:cNvPr id="68" name="v:ListArguments:g1.1.o1i2:box|b4"/>
          <p:cNvSpPr/>
          <p:nvPr/>
        </p:nvSpPr>
        <p:spPr>
          <a:xfrm>
            <a:off x="7717536" y="3355848"/>
            <a:ext cx="256032" cy="310896"/>
          </a:xfrm>
          <a:prstGeom prst="roundRect">
            <a:avLst>
              <a:gd name="adj" fmla="val 14286"/>
            </a:avLst>
          </a:prstGeom>
          <a:solidFill>
            <a:srgbClr val="E3EEF8"/>
          </a:solidFill>
          <a:ln w="19050">
            <a:solidFill>
              <a:srgbClr val="306998"/>
            </a:solidFill>
            <a:prstDash val="solid"/>
          </a:ln>
        </p:spPr>
      </p:sp>
      <p:sp>
        <p:nvSpPr>
          <p:cNvPr id="69" name="v:ListArguments:g1.1.o1i2|b4"/>
          <p:cNvSpPr txBox="1"/>
          <p:nvPr/>
        </p:nvSpPr>
        <p:spPr>
          <a:xfrm>
            <a:off x="7726680" y="3355848"/>
            <a:ext cx="237744" cy="310896"/>
          </a:xfrm>
          <a:prstGeom prst="rect">
            <a:avLst/>
          </a:prstGeom>
          <a:noFill/>
          <a:ln/>
        </p:spPr>
        <p:txBody>
          <a:bodyPr wrap="square" lIns="0" tIns="0" rIns="0" bIns="0" rtlCol="0" anchor="ctr">
            <a:normAutofit/>
          </a:bodyPr>
          <a:lstStyle/>
          <a:p>
            <a:pPr algn="ctr" indent="0" marL="0">
              <a:buNone/>
            </a:pPr>
            <a:r>
              <a:rPr lang="en-US" sz="950" b="1" dirty="0">
                <a:solidFill>
                  <a:srgbClr val="1E2A3A"/>
                </a:solidFill>
                <a:latin typeface="Courier New" pitchFamily="34" charset="0"/>
                <a:ea typeface="Courier New" pitchFamily="34" charset="-122"/>
                <a:cs typeface="Courier New" pitchFamily="34" charset="-120"/>
              </a:rPr>
              <a:t>3</a:t>
            </a:r>
            <a:endParaRPr lang="en-US" sz="950" dirty="0"/>
          </a:p>
        </p:txBody>
      </p:sp>
      <p:sp>
        <p:nvSpPr>
          <p:cNvPr id="70" name="v:ListArguments:g1.1.n.spam:box|b4"/>
          <p:cNvSpPr/>
          <p:nvPr/>
        </p:nvSpPr>
        <p:spPr>
          <a:xfrm>
            <a:off x="6035040" y="3392424"/>
            <a:ext cx="868680" cy="237744"/>
          </a:xfrm>
          <a:prstGeom prst="roundRect">
            <a:avLst>
              <a:gd name="adj" fmla="val 30769"/>
            </a:avLst>
          </a:prstGeom>
          <a:solidFill>
            <a:srgbClr val="FFFFFF"/>
          </a:solidFill>
          <a:ln w="19050">
            <a:solidFill>
              <a:srgbClr val="306998"/>
            </a:solidFill>
            <a:prstDash val="solid"/>
          </a:ln>
        </p:spPr>
      </p:sp>
      <p:sp>
        <p:nvSpPr>
          <p:cNvPr id="71" name="v:ListArguments:g1.1.n.spam|b4"/>
          <p:cNvSpPr txBox="1"/>
          <p:nvPr/>
        </p:nvSpPr>
        <p:spPr>
          <a:xfrm>
            <a:off x="6035040" y="3392424"/>
            <a:ext cx="868680" cy="237744"/>
          </a:xfrm>
          <a:prstGeom prst="rect">
            <a:avLst/>
          </a:prstGeom>
          <a:noFill/>
          <a:ln/>
        </p:spPr>
        <p:txBody>
          <a:bodyPr wrap="square" lIns="0" tIns="0" rIns="0" bIns="0" rtlCol="0" anchor="ctr">
            <a:normAutofit/>
          </a:bodyPr>
          <a:lstStyle/>
          <a:p>
            <a:pPr algn="ctr" indent="0" marL="0">
              <a:buNone/>
            </a:pPr>
            <a:r>
              <a:rPr lang="en-US" sz="950" b="1" dirty="0">
                <a:solidFill>
                  <a:srgbClr val="306998"/>
                </a:solidFill>
                <a:latin typeface="Courier New" pitchFamily="34" charset="0"/>
                <a:ea typeface="Courier New" pitchFamily="34" charset="-122"/>
                <a:cs typeface="Courier New" pitchFamily="34" charset="-120"/>
              </a:rPr>
              <a:t>spam</a:t>
            </a:r>
            <a:endParaRPr lang="en-US" sz="950" dirty="0"/>
          </a:p>
        </p:txBody>
      </p:sp>
      <p:sp>
        <p:nvSpPr>
          <p:cNvPr id="72" name="namearrow|b4"/>
          <p:cNvSpPr/>
          <p:nvPr/>
        </p:nvSpPr>
        <p:spPr>
          <a:xfrm>
            <a:off x="6903720" y="3511296"/>
            <a:ext cx="228600" cy="0"/>
          </a:xfrm>
          <a:prstGeom prst="line">
            <a:avLst/>
          </a:prstGeom>
          <a:noFill/>
          <a:ln w="25400">
            <a:solidFill>
              <a:srgbClr val="306998"/>
            </a:solidFill>
            <a:prstDash val="solid"/>
            <a:tailEnd type="triangle"/>
          </a:ln>
        </p:spPr>
      </p:sp>
      <p:sp>
        <p:nvSpPr>
          <p:cNvPr id="7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7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7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Sequences and references ▸ List arguments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faq/programming.html" history="1" highlightClick="0" endSnd="0">
                  <a:extLst>
                    <a:ext uri="{A12FA001-AC4F-418D-AE19-62706E023703}">
                      <ahyp:hlinkClr xmlns:ahyp="http://schemas.microsoft.com/office/drawing/2018/hyperlinkcolor" val="tx"/>
                    </a:ext>
                  </a:extLst>
                </a:hlinkClick>
              </a:rPr>
              <a:t>Programming FAQ</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3" invalidUrl="" action="" tgtFrame="" tooltip="https://docs.python.org/3/reference/datamodel.html" history="1" highlightClick="0" endSnd="0">
                  <a:extLst>
                    <a:ext uri="{A12FA001-AC4F-418D-AE19-62706E023703}">
                      <ahyp:hlinkClr xmlns:ahyp="http://schemas.microsoft.com/office/drawing/2018/hyperlinkcolor" val="tx"/>
                    </a:ext>
                  </a:extLst>
                </a:hlinkClick>
              </a:rPr>
              <a:t>Data model</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48" fill="hold">
                      <p:stCondLst>
                        <p:cond delay="indefinite"/>
                      </p:stCondLst>
                      <p:childTnLst>
                        <p:par>
                          <p:cTn id="4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00"/>
                                        <p:tgtEl>
                                          <p:spTgt spid="1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00"/>
                                        <p:tgtEl>
                                          <p:spTgt spid="14"/>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00"/>
                                        <p:tgtEl>
                                          <p:spTgt spid="15"/>
                                        </p:tgtEl>
                                      </p:cBhvr>
                                    </p:animEffect>
                                  </p:childTnLst>
                                </p:cTn>
                              </p:par>
                              <p:par>
                                <p:cTn id="12" presetID="10" presetClass="entr" presetSubtype="0" fill="hold"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00"/>
                                        <p:tgtEl>
                                          <p:spTgt spid="1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00"/>
                                        <p:tgtEl>
                                          <p:spTgt spid="17"/>
                                        </p:tgtEl>
                                      </p:cBhvr>
                                    </p:animEffect>
                                  </p:childTnLst>
                                </p:cTn>
                              </p:par>
                              <p:par>
                                <p:cTn id="18" presetID="10" presetClass="entr" presetSubtype="0" fill="hold"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00"/>
                                        <p:tgtEl>
                                          <p:spTgt spid="19"/>
                                        </p:tgtEl>
                                      </p:cBhvr>
                                    </p:animEffect>
                                  </p:childTnLst>
                                </p:cTn>
                              </p:par>
                              <p:par>
                                <p:cTn id="24" presetID="10" presetClass="entr" presetSubtype="0" fill="hold"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00"/>
                                        <p:tgtEl>
                                          <p:spTgt spid="2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00"/>
                                        <p:tgtEl>
                                          <p:spTgt spid="21"/>
                                        </p:tgtEl>
                                      </p:cBhvr>
                                    </p:animEffect>
                                  </p:childTnLst>
                                </p:cTn>
                              </p:par>
                              <p:par>
                                <p:cTn id="30" presetID="10" presetClass="entr" presetSubtype="0" fill="hold"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00"/>
                                        <p:tgtEl>
                                          <p:spTgt spid="2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00"/>
                                        <p:tgtEl>
                                          <p:spTgt spid="23"/>
                                        </p:tgtEl>
                                      </p:cBhvr>
                                    </p:animEffect>
                                  </p:childTnLst>
                                </p:cTn>
                              </p:par>
                              <p:par>
                                <p:cTn id="36" presetID="10" presetClass="entr" presetSubtype="0" fill="hold" nodeType="with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400"/>
                                        <p:tgtEl>
                                          <p:spTgt spid="24"/>
                                        </p:tgtEl>
                                      </p:cBhvr>
                                    </p:animEffect>
                                  </p:childTnLst>
                                </p:cTn>
                              </p:par>
                              <p:par>
                                <p:cTn id="39" presetID="10" presetClass="entr" presetSubtype="0" fill="hold" nodeType="with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400"/>
                                        <p:tgtEl>
                                          <p:spTgt spid="2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400"/>
                                        <p:tgtEl>
                                          <p:spTgt spid="26"/>
                                        </p:tgtEl>
                                      </p:cBhvr>
                                    </p:animEffect>
                                  </p:childTnLst>
                                </p:cTn>
                              </p:par>
                              <p:par>
                                <p:cTn id="45" presetID="10" presetClass="entr" presetSubtype="0" fill="hold"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childTnLst>
                          </p:cTn>
                        </p:par>
                      </p:childTnLst>
                    </p:cTn>
                  </p:par>
                  <p:par>
                    <p:cTn id="86" fill="hold">
                      <p:stCondLst>
                        <p:cond delay="indefinite"/>
                      </p:stCondLst>
                      <p:childTnLst>
                        <p:par>
                          <p:cTn id="87"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fade">
                                      <p:cBhvr>
                                        <p:cTn id="52" dur="400"/>
                                        <p:tgtEl>
                                          <p:spTgt spid="28"/>
                                        </p:tgtEl>
                                      </p:cBhvr>
                                    </p:animEffect>
                                  </p:childTnLst>
                                </p:cTn>
                              </p:par>
                              <p:par>
                                <p:cTn id="53" presetID="10" presetClass="entr" presetSubtype="0" fill="hold" nodeType="with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400"/>
                                        <p:tgtEl>
                                          <p:spTgt spid="2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0"/>
                                        </p:tgtEl>
                                        <p:attrNameLst>
                                          <p:attrName>style.visibility</p:attrName>
                                        </p:attrNameLst>
                                      </p:cBhvr>
                                      <p:to>
                                        <p:strVal val="visible"/>
                                      </p:to>
                                    </p:set>
                                    <p:animEffect transition="in" filter="fade">
                                      <p:cBhvr>
                                        <p:cTn id="58" dur="400"/>
                                        <p:tgtEl>
                                          <p:spTgt spid="30"/>
                                        </p:tgtEl>
                                      </p:cBhvr>
                                    </p:animEffect>
                                  </p:childTnLst>
                                </p:cTn>
                              </p:par>
                              <p:par>
                                <p:cTn id="59" presetID="10" presetClass="entr" presetSubtype="0" fill="hold" nodeType="with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400"/>
                                        <p:tgtEl>
                                          <p:spTgt spid="3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2"/>
                                        </p:tgtEl>
                                        <p:attrNameLst>
                                          <p:attrName>style.visibility</p:attrName>
                                        </p:attrNameLst>
                                      </p:cBhvr>
                                      <p:to>
                                        <p:strVal val="visible"/>
                                      </p:to>
                                    </p:set>
                                    <p:animEffect transition="in" filter="fade">
                                      <p:cBhvr>
                                        <p:cTn id="64" dur="400"/>
                                        <p:tgtEl>
                                          <p:spTgt spid="32"/>
                                        </p:tgtEl>
                                      </p:cBhvr>
                                    </p:animEffect>
                                  </p:childTnLst>
                                </p:cTn>
                              </p:par>
                              <p:par>
                                <p:cTn id="65" presetID="10" presetClass="entr" presetSubtype="0" fill="hold" nodeType="with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400"/>
                                        <p:tgtEl>
                                          <p:spTgt spid="3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4"/>
                                        </p:tgtEl>
                                        <p:attrNameLst>
                                          <p:attrName>style.visibility</p:attrName>
                                        </p:attrNameLst>
                                      </p:cBhvr>
                                      <p:to>
                                        <p:strVal val="visible"/>
                                      </p:to>
                                    </p:set>
                                    <p:animEffect transition="in" filter="fade">
                                      <p:cBhvr>
                                        <p:cTn id="70" dur="400"/>
                                        <p:tgtEl>
                                          <p:spTgt spid="34"/>
                                        </p:tgtEl>
                                      </p:cBhvr>
                                    </p:animEffect>
                                  </p:childTnLst>
                                </p:cTn>
                              </p:par>
                              <p:par>
                                <p:cTn id="71" presetID="10" presetClass="entr" presetSubtype="0" fill="hold" nodeType="withEffect">
                                  <p:stCondLst>
                                    <p:cond delay="0"/>
                                  </p:stCondLst>
                                  <p:childTnLst>
                                    <p:set>
                                      <p:cBhvr>
                                        <p:cTn id="72" dur="1" fill="hold">
                                          <p:stCondLst>
                                            <p:cond delay="0"/>
                                          </p:stCondLst>
                                        </p:cTn>
                                        <p:tgtEl>
                                          <p:spTgt spid="35"/>
                                        </p:tgtEl>
                                        <p:attrNameLst>
                                          <p:attrName>style.visibility</p:attrName>
                                        </p:attrNameLst>
                                      </p:cBhvr>
                                      <p:to>
                                        <p:strVal val="visible"/>
                                      </p:to>
                                    </p:set>
                                    <p:animEffect transition="in" filter="fade">
                                      <p:cBhvr>
                                        <p:cTn id="73" dur="400"/>
                                        <p:tgtEl>
                                          <p:spTgt spid="35"/>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6"/>
                                        </p:tgtEl>
                                        <p:attrNameLst>
                                          <p:attrName>style.visibility</p:attrName>
                                        </p:attrNameLst>
                                      </p:cBhvr>
                                      <p:to>
                                        <p:strVal val="visible"/>
                                      </p:to>
                                    </p:set>
                                    <p:animEffect transition="in" filter="fade">
                                      <p:cBhvr>
                                        <p:cTn id="76" dur="400"/>
                                        <p:tgtEl>
                                          <p:spTgt spid="36"/>
                                        </p:tgtEl>
                                      </p:cBhvr>
                                    </p:animEffect>
                                  </p:childTnLst>
                                </p:cTn>
                              </p:par>
                              <p:par>
                                <p:cTn id="77" presetID="10" presetClass="entr" presetSubtype="0" fill="hold" nodeType="withEffect">
                                  <p:stCondLst>
                                    <p:cond delay="0"/>
                                  </p:stCondLst>
                                  <p:childTnLst>
                                    <p:set>
                                      <p:cBhvr>
                                        <p:cTn id="78" dur="1" fill="hold">
                                          <p:stCondLst>
                                            <p:cond delay="0"/>
                                          </p:stCondLst>
                                        </p:cTn>
                                        <p:tgtEl>
                                          <p:spTgt spid="37"/>
                                        </p:tgtEl>
                                        <p:attrNameLst>
                                          <p:attrName>style.visibility</p:attrName>
                                        </p:attrNameLst>
                                      </p:cBhvr>
                                      <p:to>
                                        <p:strVal val="visible"/>
                                      </p:to>
                                    </p:set>
                                    <p:animEffect transition="in" filter="fade">
                                      <p:cBhvr>
                                        <p:cTn id="79" dur="400"/>
                                        <p:tgtEl>
                                          <p:spTgt spid="37"/>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8"/>
                                        </p:tgtEl>
                                        <p:attrNameLst>
                                          <p:attrName>style.visibility</p:attrName>
                                        </p:attrNameLst>
                                      </p:cBhvr>
                                      <p:to>
                                        <p:strVal val="visible"/>
                                      </p:to>
                                    </p:set>
                                    <p:animEffect transition="in" filter="fade">
                                      <p:cBhvr>
                                        <p:cTn id="82" dur="400"/>
                                        <p:tgtEl>
                                          <p:spTgt spid="38"/>
                                        </p:tgtEl>
                                      </p:cBhvr>
                                    </p:animEffect>
                                  </p:childTnLst>
                                </p:cTn>
                              </p:par>
                              <p:par>
                                <p:cTn id="83" presetID="10" presetClass="entr" presetSubtype="0" fill="hold" nodeType="withEffect">
                                  <p:stCondLst>
                                    <p:cond delay="0"/>
                                  </p:stCondLst>
                                  <p:childTnLst>
                                    <p:set>
                                      <p:cBhvr>
                                        <p:cTn id="84" dur="1" fill="hold">
                                          <p:stCondLst>
                                            <p:cond delay="0"/>
                                          </p:stCondLst>
                                        </p:cTn>
                                        <p:tgtEl>
                                          <p:spTgt spid="39"/>
                                        </p:tgtEl>
                                        <p:attrNameLst>
                                          <p:attrName>style.visibility</p:attrName>
                                        </p:attrNameLst>
                                      </p:cBhvr>
                                      <p:to>
                                        <p:strVal val="visible"/>
                                      </p:to>
                                    </p:set>
                                    <p:animEffect transition="in" filter="fade">
                                      <p:cBhvr>
                                        <p:cTn id="85" dur="400"/>
                                        <p:tgtEl>
                                          <p:spTgt spid="39"/>
                                        </p:tgtEl>
                                      </p:cBhvr>
                                    </p:animEffect>
                                  </p:childTnLst>
                                </p:cTn>
                              </p:par>
                            </p:childTnLst>
                          </p:cTn>
                        </p:par>
                      </p:childTnLst>
                    </p:cTn>
                  </p:par>
                  <p:par>
                    <p:cTn id="157" fill="hold">
                      <p:stCondLst>
                        <p:cond delay="indefinite"/>
                      </p:stCondLst>
                      <p:childTnLst>
                        <p:par>
                          <p:cTn id="158"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40"/>
                                        </p:tgtEl>
                                        <p:attrNameLst>
                                          <p:attrName>style.visibility</p:attrName>
                                        </p:attrNameLst>
                                      </p:cBhvr>
                                      <p:to>
                                        <p:strVal val="visible"/>
                                      </p:to>
                                    </p:set>
                                    <p:animEffect transition="in" filter="fade">
                                      <p:cBhvr>
                                        <p:cTn id="90" dur="400"/>
                                        <p:tgtEl>
                                          <p:spTgt spid="40"/>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1"/>
                                        </p:tgtEl>
                                        <p:attrNameLst>
                                          <p:attrName>style.visibility</p:attrName>
                                        </p:attrNameLst>
                                      </p:cBhvr>
                                      <p:to>
                                        <p:strVal val="visible"/>
                                      </p:to>
                                    </p:set>
                                    <p:animEffect transition="in" filter="fade">
                                      <p:cBhvr>
                                        <p:cTn id="93" dur="400"/>
                                        <p:tgtEl>
                                          <p:spTgt spid="41"/>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2"/>
                                        </p:tgtEl>
                                        <p:attrNameLst>
                                          <p:attrName>style.visibility</p:attrName>
                                        </p:attrNameLst>
                                      </p:cBhvr>
                                      <p:to>
                                        <p:strVal val="visible"/>
                                      </p:to>
                                    </p:set>
                                    <p:animEffect transition="in" filter="fade">
                                      <p:cBhvr>
                                        <p:cTn id="96" dur="400"/>
                                        <p:tgtEl>
                                          <p:spTgt spid="42"/>
                                        </p:tgtEl>
                                      </p:cBhvr>
                                    </p:animEffect>
                                  </p:childTnLst>
                                </p:cTn>
                              </p:par>
                              <p:par>
                                <p:cTn id="97" presetID="10" presetClass="entr" presetSubtype="0" fill="hold" nodeType="withEffect">
                                  <p:stCondLst>
                                    <p:cond delay="0"/>
                                  </p:stCondLst>
                                  <p:childTnLst>
                                    <p:set>
                                      <p:cBhvr>
                                        <p:cTn id="98" dur="1" fill="hold">
                                          <p:stCondLst>
                                            <p:cond delay="0"/>
                                          </p:stCondLst>
                                        </p:cTn>
                                        <p:tgtEl>
                                          <p:spTgt spid="43"/>
                                        </p:tgtEl>
                                        <p:attrNameLst>
                                          <p:attrName>style.visibility</p:attrName>
                                        </p:attrNameLst>
                                      </p:cBhvr>
                                      <p:to>
                                        <p:strVal val="visible"/>
                                      </p:to>
                                    </p:set>
                                    <p:animEffect transition="in" filter="fade">
                                      <p:cBhvr>
                                        <p:cTn id="99" dur="400"/>
                                        <p:tgtEl>
                                          <p:spTgt spid="43"/>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4"/>
                                        </p:tgtEl>
                                        <p:attrNameLst>
                                          <p:attrName>style.visibility</p:attrName>
                                        </p:attrNameLst>
                                      </p:cBhvr>
                                      <p:to>
                                        <p:strVal val="visible"/>
                                      </p:to>
                                    </p:set>
                                    <p:animEffect transition="in" filter="fade">
                                      <p:cBhvr>
                                        <p:cTn id="102" dur="400"/>
                                        <p:tgtEl>
                                          <p:spTgt spid="44"/>
                                        </p:tgtEl>
                                      </p:cBhvr>
                                    </p:animEffect>
                                  </p:childTnLst>
                                </p:cTn>
                              </p:par>
                              <p:par>
                                <p:cTn id="103" presetID="10" presetClass="entr" presetSubtype="0" fill="hold" nodeType="withEffect">
                                  <p:stCondLst>
                                    <p:cond delay="0"/>
                                  </p:stCondLst>
                                  <p:childTnLst>
                                    <p:set>
                                      <p:cBhvr>
                                        <p:cTn id="104" dur="1" fill="hold">
                                          <p:stCondLst>
                                            <p:cond delay="0"/>
                                          </p:stCondLst>
                                        </p:cTn>
                                        <p:tgtEl>
                                          <p:spTgt spid="45"/>
                                        </p:tgtEl>
                                        <p:attrNameLst>
                                          <p:attrName>style.visibility</p:attrName>
                                        </p:attrNameLst>
                                      </p:cBhvr>
                                      <p:to>
                                        <p:strVal val="visible"/>
                                      </p:to>
                                    </p:set>
                                    <p:animEffect transition="in" filter="fade">
                                      <p:cBhvr>
                                        <p:cTn id="105" dur="400"/>
                                        <p:tgtEl>
                                          <p:spTgt spid="45"/>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6"/>
                                        </p:tgtEl>
                                        <p:attrNameLst>
                                          <p:attrName>style.visibility</p:attrName>
                                        </p:attrNameLst>
                                      </p:cBhvr>
                                      <p:to>
                                        <p:strVal val="visible"/>
                                      </p:to>
                                    </p:set>
                                    <p:animEffect transition="in" filter="fade">
                                      <p:cBhvr>
                                        <p:cTn id="108" dur="400"/>
                                        <p:tgtEl>
                                          <p:spTgt spid="46"/>
                                        </p:tgtEl>
                                      </p:cBhvr>
                                    </p:animEffect>
                                  </p:childTnLst>
                                </p:cTn>
                              </p:par>
                              <p:par>
                                <p:cTn id="109" presetID="10" presetClass="entr" presetSubtype="0" fill="hold" nodeType="withEffect">
                                  <p:stCondLst>
                                    <p:cond delay="0"/>
                                  </p:stCondLst>
                                  <p:childTnLst>
                                    <p:set>
                                      <p:cBhvr>
                                        <p:cTn id="110" dur="1" fill="hold">
                                          <p:stCondLst>
                                            <p:cond delay="0"/>
                                          </p:stCondLst>
                                        </p:cTn>
                                        <p:tgtEl>
                                          <p:spTgt spid="47"/>
                                        </p:tgtEl>
                                        <p:attrNameLst>
                                          <p:attrName>style.visibility</p:attrName>
                                        </p:attrNameLst>
                                      </p:cBhvr>
                                      <p:to>
                                        <p:strVal val="visible"/>
                                      </p:to>
                                    </p:set>
                                    <p:animEffect transition="in" filter="fade">
                                      <p:cBhvr>
                                        <p:cTn id="111" dur="400"/>
                                        <p:tgtEl>
                                          <p:spTgt spid="47"/>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8"/>
                                        </p:tgtEl>
                                        <p:attrNameLst>
                                          <p:attrName>style.visibility</p:attrName>
                                        </p:attrNameLst>
                                      </p:cBhvr>
                                      <p:to>
                                        <p:strVal val="visible"/>
                                      </p:to>
                                    </p:set>
                                    <p:animEffect transition="in" filter="fade">
                                      <p:cBhvr>
                                        <p:cTn id="114" dur="400"/>
                                        <p:tgtEl>
                                          <p:spTgt spid="48"/>
                                        </p:tgtEl>
                                      </p:cBhvr>
                                    </p:animEffect>
                                  </p:childTnLst>
                                </p:cTn>
                              </p:par>
                              <p:par>
                                <p:cTn id="115" presetID="10" presetClass="entr" presetSubtype="0" fill="hold" nodeType="withEffect">
                                  <p:stCondLst>
                                    <p:cond delay="0"/>
                                  </p:stCondLst>
                                  <p:childTnLst>
                                    <p:set>
                                      <p:cBhvr>
                                        <p:cTn id="116" dur="1" fill="hold">
                                          <p:stCondLst>
                                            <p:cond delay="0"/>
                                          </p:stCondLst>
                                        </p:cTn>
                                        <p:tgtEl>
                                          <p:spTgt spid="49"/>
                                        </p:tgtEl>
                                        <p:attrNameLst>
                                          <p:attrName>style.visibility</p:attrName>
                                        </p:attrNameLst>
                                      </p:cBhvr>
                                      <p:to>
                                        <p:strVal val="visible"/>
                                      </p:to>
                                    </p:set>
                                    <p:animEffect transition="in" filter="fade">
                                      <p:cBhvr>
                                        <p:cTn id="117" dur="400"/>
                                        <p:tgtEl>
                                          <p:spTgt spid="49"/>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50"/>
                                        </p:tgtEl>
                                        <p:attrNameLst>
                                          <p:attrName>style.visibility</p:attrName>
                                        </p:attrNameLst>
                                      </p:cBhvr>
                                      <p:to>
                                        <p:strVal val="visible"/>
                                      </p:to>
                                    </p:set>
                                    <p:animEffect transition="in" filter="fade">
                                      <p:cBhvr>
                                        <p:cTn id="120" dur="400"/>
                                        <p:tgtEl>
                                          <p:spTgt spid="50"/>
                                        </p:tgtEl>
                                      </p:cBhvr>
                                    </p:animEffect>
                                  </p:childTnLst>
                                </p:cTn>
                              </p:par>
                              <p:par>
                                <p:cTn id="121" presetID="10" presetClass="entr" presetSubtype="0" fill="hold" nodeType="withEffect">
                                  <p:stCondLst>
                                    <p:cond delay="0"/>
                                  </p:stCondLst>
                                  <p:childTnLst>
                                    <p:set>
                                      <p:cBhvr>
                                        <p:cTn id="122" dur="1" fill="hold">
                                          <p:stCondLst>
                                            <p:cond delay="0"/>
                                          </p:stCondLst>
                                        </p:cTn>
                                        <p:tgtEl>
                                          <p:spTgt spid="51"/>
                                        </p:tgtEl>
                                        <p:attrNameLst>
                                          <p:attrName>style.visibility</p:attrName>
                                        </p:attrNameLst>
                                      </p:cBhvr>
                                      <p:to>
                                        <p:strVal val="visible"/>
                                      </p:to>
                                    </p:set>
                                    <p:animEffect transition="in" filter="fade">
                                      <p:cBhvr>
                                        <p:cTn id="123" dur="400"/>
                                        <p:tgtEl>
                                          <p:spTgt spid="51"/>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52"/>
                                        </p:tgtEl>
                                        <p:attrNameLst>
                                          <p:attrName>style.visibility</p:attrName>
                                        </p:attrNameLst>
                                      </p:cBhvr>
                                      <p:to>
                                        <p:strVal val="visible"/>
                                      </p:to>
                                    </p:set>
                                    <p:animEffect transition="in" filter="fade">
                                      <p:cBhvr>
                                        <p:cTn id="126" dur="400"/>
                                        <p:tgtEl>
                                          <p:spTgt spid="52"/>
                                        </p:tgtEl>
                                      </p:cBhvr>
                                    </p:animEffect>
                                  </p:childTnLst>
                                </p:cTn>
                              </p:par>
                              <p:par>
                                <p:cTn id="127" presetID="10" presetClass="entr" presetSubtype="0" fill="hold" nodeType="withEffect">
                                  <p:stCondLst>
                                    <p:cond delay="0"/>
                                  </p:stCondLst>
                                  <p:childTnLst>
                                    <p:set>
                                      <p:cBhvr>
                                        <p:cTn id="128" dur="1" fill="hold">
                                          <p:stCondLst>
                                            <p:cond delay="0"/>
                                          </p:stCondLst>
                                        </p:cTn>
                                        <p:tgtEl>
                                          <p:spTgt spid="53"/>
                                        </p:tgtEl>
                                        <p:attrNameLst>
                                          <p:attrName>style.visibility</p:attrName>
                                        </p:attrNameLst>
                                      </p:cBhvr>
                                      <p:to>
                                        <p:strVal val="visible"/>
                                      </p:to>
                                    </p:set>
                                    <p:animEffect transition="in" filter="fade">
                                      <p:cBhvr>
                                        <p:cTn id="129" dur="400"/>
                                        <p:tgtEl>
                                          <p:spTgt spid="53"/>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54"/>
                                        </p:tgtEl>
                                        <p:attrNameLst>
                                          <p:attrName>style.visibility</p:attrName>
                                        </p:attrNameLst>
                                      </p:cBhvr>
                                      <p:to>
                                        <p:strVal val="visible"/>
                                      </p:to>
                                    </p:set>
                                    <p:animEffect transition="in" filter="fade">
                                      <p:cBhvr>
                                        <p:cTn id="132" dur="400"/>
                                        <p:tgtEl>
                                          <p:spTgt spid="54"/>
                                        </p:tgtEl>
                                      </p:cBhvr>
                                    </p:animEffect>
                                  </p:childTnLst>
                                </p:cTn>
                              </p:par>
                              <p:par>
                                <p:cTn id="133" presetID="10" presetClass="entr" presetSubtype="0" fill="hold" nodeType="withEffect">
                                  <p:stCondLst>
                                    <p:cond delay="0"/>
                                  </p:stCondLst>
                                  <p:childTnLst>
                                    <p:set>
                                      <p:cBhvr>
                                        <p:cTn id="134" dur="1" fill="hold">
                                          <p:stCondLst>
                                            <p:cond delay="0"/>
                                          </p:stCondLst>
                                        </p:cTn>
                                        <p:tgtEl>
                                          <p:spTgt spid="55"/>
                                        </p:tgtEl>
                                        <p:attrNameLst>
                                          <p:attrName>style.visibility</p:attrName>
                                        </p:attrNameLst>
                                      </p:cBhvr>
                                      <p:to>
                                        <p:strVal val="visible"/>
                                      </p:to>
                                    </p:set>
                                    <p:animEffect transition="in" filter="fade">
                                      <p:cBhvr>
                                        <p:cTn id="135" dur="400"/>
                                        <p:tgtEl>
                                          <p:spTgt spid="55"/>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56"/>
                                        </p:tgtEl>
                                        <p:attrNameLst>
                                          <p:attrName>style.visibility</p:attrName>
                                        </p:attrNameLst>
                                      </p:cBhvr>
                                      <p:to>
                                        <p:strVal val="visible"/>
                                      </p:to>
                                    </p:set>
                                    <p:animEffect transition="in" filter="fade">
                                      <p:cBhvr>
                                        <p:cTn id="138" dur="400"/>
                                        <p:tgtEl>
                                          <p:spTgt spid="56"/>
                                        </p:tgtEl>
                                      </p:cBhvr>
                                    </p:animEffect>
                                  </p:childTnLst>
                                </p:cTn>
                              </p:par>
                              <p:par>
                                <p:cTn id="139" presetID="10" presetClass="entr" presetSubtype="0" fill="hold" nodeType="withEffect">
                                  <p:stCondLst>
                                    <p:cond delay="0"/>
                                  </p:stCondLst>
                                  <p:childTnLst>
                                    <p:set>
                                      <p:cBhvr>
                                        <p:cTn id="140" dur="1" fill="hold">
                                          <p:stCondLst>
                                            <p:cond delay="0"/>
                                          </p:stCondLst>
                                        </p:cTn>
                                        <p:tgtEl>
                                          <p:spTgt spid="57"/>
                                        </p:tgtEl>
                                        <p:attrNameLst>
                                          <p:attrName>style.visibility</p:attrName>
                                        </p:attrNameLst>
                                      </p:cBhvr>
                                      <p:to>
                                        <p:strVal val="visible"/>
                                      </p:to>
                                    </p:set>
                                    <p:animEffect transition="in" filter="fade">
                                      <p:cBhvr>
                                        <p:cTn id="141" dur="400"/>
                                        <p:tgtEl>
                                          <p:spTgt spid="57"/>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8"/>
                                        </p:tgtEl>
                                        <p:attrNameLst>
                                          <p:attrName>style.visibility</p:attrName>
                                        </p:attrNameLst>
                                      </p:cBhvr>
                                      <p:to>
                                        <p:strVal val="visible"/>
                                      </p:to>
                                    </p:set>
                                    <p:animEffect transition="in" filter="fade">
                                      <p:cBhvr>
                                        <p:cTn id="144" dur="400"/>
                                        <p:tgtEl>
                                          <p:spTgt spid="58"/>
                                        </p:tgtEl>
                                      </p:cBhvr>
                                    </p:animEffect>
                                  </p:childTnLst>
                                </p:cTn>
                              </p:par>
                              <p:par>
                                <p:cTn id="145" presetID="10" presetClass="entr" presetSubtype="0" fill="hold" nodeType="withEffect">
                                  <p:stCondLst>
                                    <p:cond delay="0"/>
                                  </p:stCondLst>
                                  <p:childTnLst>
                                    <p:set>
                                      <p:cBhvr>
                                        <p:cTn id="146" dur="1" fill="hold">
                                          <p:stCondLst>
                                            <p:cond delay="0"/>
                                          </p:stCondLst>
                                        </p:cTn>
                                        <p:tgtEl>
                                          <p:spTgt spid="59"/>
                                        </p:tgtEl>
                                        <p:attrNameLst>
                                          <p:attrName>style.visibility</p:attrName>
                                        </p:attrNameLst>
                                      </p:cBhvr>
                                      <p:to>
                                        <p:strVal val="visible"/>
                                      </p:to>
                                    </p:set>
                                    <p:animEffect transition="in" filter="fade">
                                      <p:cBhvr>
                                        <p:cTn id="147" dur="400"/>
                                        <p:tgtEl>
                                          <p:spTgt spid="59"/>
                                        </p:tgtEl>
                                      </p:cBhvr>
                                    </p:animEffect>
                                  </p:childTnLst>
                                </p:cTn>
                              </p:par>
                              <p:par>
                                <p:cTn id="148" presetID="10" presetClass="entr" presetSubtype="0" fill="hold" nodeType="withEffect">
                                  <p:stCondLst>
                                    <p:cond delay="0"/>
                                  </p:stCondLst>
                                  <p:childTnLst>
                                    <p:set>
                                      <p:cBhvr>
                                        <p:cTn id="149" dur="1" fill="hold">
                                          <p:stCondLst>
                                            <p:cond delay="0"/>
                                          </p:stCondLst>
                                        </p:cTn>
                                        <p:tgtEl>
                                          <p:spTgt spid="60"/>
                                        </p:tgtEl>
                                        <p:attrNameLst>
                                          <p:attrName>style.visibility</p:attrName>
                                        </p:attrNameLst>
                                      </p:cBhvr>
                                      <p:to>
                                        <p:strVal val="visible"/>
                                      </p:to>
                                    </p:set>
                                    <p:animEffect transition="in" filter="fade">
                                      <p:cBhvr>
                                        <p:cTn id="150" dur="400"/>
                                        <p:tgtEl>
                                          <p:spTgt spid="60"/>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61"/>
                                        </p:tgtEl>
                                        <p:attrNameLst>
                                          <p:attrName>style.visibility</p:attrName>
                                        </p:attrNameLst>
                                      </p:cBhvr>
                                      <p:to>
                                        <p:strVal val="visible"/>
                                      </p:to>
                                    </p:set>
                                    <p:animEffect transition="in" filter="fade">
                                      <p:cBhvr>
                                        <p:cTn id="153" dur="400"/>
                                        <p:tgtEl>
                                          <p:spTgt spid="61"/>
                                        </p:tgtEl>
                                      </p:cBhvr>
                                    </p:animEffect>
                                  </p:childTnLst>
                                </p:cTn>
                              </p:par>
                              <p:par>
                                <p:cTn id="154" presetID="10" presetClass="entr" presetSubtype="0" fill="hold" nodeType="withEffect">
                                  <p:stCondLst>
                                    <p:cond delay="0"/>
                                  </p:stCondLst>
                                  <p:childTnLst>
                                    <p:set>
                                      <p:cBhvr>
                                        <p:cTn id="155" dur="1" fill="hold">
                                          <p:stCondLst>
                                            <p:cond delay="0"/>
                                          </p:stCondLst>
                                        </p:cTn>
                                        <p:tgtEl>
                                          <p:spTgt spid="62"/>
                                        </p:tgtEl>
                                        <p:attrNameLst>
                                          <p:attrName>style.visibility</p:attrName>
                                        </p:attrNameLst>
                                      </p:cBhvr>
                                      <p:to>
                                        <p:strVal val="visible"/>
                                      </p:to>
                                    </p:set>
                                    <p:animEffect transition="in" filter="fade">
                                      <p:cBhvr>
                                        <p:cTn id="156" dur="400"/>
                                        <p:tgtEl>
                                          <p:spTgt spid="62"/>
                                        </p:tgtEl>
                                      </p:cBhvr>
                                    </p:animEffect>
                                  </p:childTnLst>
                                </p:cTn>
                              </p:par>
                            </p:childTnLst>
                          </p:cTn>
                        </p:par>
                      </p:childTnLst>
                    </p:cTn>
                  </p:par>
                  <p:par>
                    <p:cTn id="189" fill="hold">
                      <p:stCondLst>
                        <p:cond delay="indefinite"/>
                      </p:stCondLst>
                      <p:childTnLst>
                        <p:par>
                          <p:cTn id="190" fill="hold">
                            <p:stCondLst>
                              <p:cond delay="0"/>
                            </p:stCondLst>
                            <p:childTnLst>
                              <p:par>
                                <p:cTn id="159" presetID="10" presetClass="entr" presetSubtype="0" fill="hold" grpId="0" nodeType="clickEffect">
                                  <p:stCondLst>
                                    <p:cond delay="0"/>
                                  </p:stCondLst>
                                  <p:childTnLst>
                                    <p:set>
                                      <p:cBhvr>
                                        <p:cTn id="160" dur="1" fill="hold">
                                          <p:stCondLst>
                                            <p:cond delay="0"/>
                                          </p:stCondLst>
                                        </p:cTn>
                                        <p:tgtEl>
                                          <p:spTgt spid="63"/>
                                        </p:tgtEl>
                                        <p:attrNameLst>
                                          <p:attrName>style.visibility</p:attrName>
                                        </p:attrNameLst>
                                      </p:cBhvr>
                                      <p:to>
                                        <p:strVal val="visible"/>
                                      </p:to>
                                    </p:set>
                                    <p:animEffect transition="in" filter="fade">
                                      <p:cBhvr>
                                        <p:cTn id="161" dur="400"/>
                                        <p:tgtEl>
                                          <p:spTgt spid="63"/>
                                        </p:tgtEl>
                                      </p:cBhvr>
                                    </p:animEffect>
                                  </p:childTnLst>
                                </p:cTn>
                              </p:par>
                              <p:par>
                                <p:cTn id="162" presetID="10" presetClass="entr" presetSubtype="0" fill="hold" nodeType="withEffect">
                                  <p:stCondLst>
                                    <p:cond delay="0"/>
                                  </p:stCondLst>
                                  <p:childTnLst>
                                    <p:set>
                                      <p:cBhvr>
                                        <p:cTn id="163" dur="1" fill="hold">
                                          <p:stCondLst>
                                            <p:cond delay="0"/>
                                          </p:stCondLst>
                                        </p:cTn>
                                        <p:tgtEl>
                                          <p:spTgt spid="64"/>
                                        </p:tgtEl>
                                        <p:attrNameLst>
                                          <p:attrName>style.visibility</p:attrName>
                                        </p:attrNameLst>
                                      </p:cBhvr>
                                      <p:to>
                                        <p:strVal val="visible"/>
                                      </p:to>
                                    </p:set>
                                    <p:animEffect transition="in" filter="fade">
                                      <p:cBhvr>
                                        <p:cTn id="164" dur="400"/>
                                        <p:tgtEl>
                                          <p:spTgt spid="64"/>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65"/>
                                        </p:tgtEl>
                                        <p:attrNameLst>
                                          <p:attrName>style.visibility</p:attrName>
                                        </p:attrNameLst>
                                      </p:cBhvr>
                                      <p:to>
                                        <p:strVal val="visible"/>
                                      </p:to>
                                    </p:set>
                                    <p:animEffect transition="in" filter="fade">
                                      <p:cBhvr>
                                        <p:cTn id="167" dur="400"/>
                                        <p:tgtEl>
                                          <p:spTgt spid="65"/>
                                        </p:tgtEl>
                                      </p:cBhvr>
                                    </p:animEffect>
                                  </p:childTnLst>
                                </p:cTn>
                              </p:par>
                              <p:par>
                                <p:cTn id="168" presetID="10" presetClass="entr" presetSubtype="0" fill="hold" nodeType="withEffect">
                                  <p:stCondLst>
                                    <p:cond delay="0"/>
                                  </p:stCondLst>
                                  <p:childTnLst>
                                    <p:set>
                                      <p:cBhvr>
                                        <p:cTn id="169" dur="1" fill="hold">
                                          <p:stCondLst>
                                            <p:cond delay="0"/>
                                          </p:stCondLst>
                                        </p:cTn>
                                        <p:tgtEl>
                                          <p:spTgt spid="66"/>
                                        </p:tgtEl>
                                        <p:attrNameLst>
                                          <p:attrName>style.visibility</p:attrName>
                                        </p:attrNameLst>
                                      </p:cBhvr>
                                      <p:to>
                                        <p:strVal val="visible"/>
                                      </p:to>
                                    </p:set>
                                    <p:animEffect transition="in" filter="fade">
                                      <p:cBhvr>
                                        <p:cTn id="170" dur="400"/>
                                        <p:tgtEl>
                                          <p:spTgt spid="66"/>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67"/>
                                        </p:tgtEl>
                                        <p:attrNameLst>
                                          <p:attrName>style.visibility</p:attrName>
                                        </p:attrNameLst>
                                      </p:cBhvr>
                                      <p:to>
                                        <p:strVal val="visible"/>
                                      </p:to>
                                    </p:set>
                                    <p:animEffect transition="in" filter="fade">
                                      <p:cBhvr>
                                        <p:cTn id="173" dur="400"/>
                                        <p:tgtEl>
                                          <p:spTgt spid="67"/>
                                        </p:tgtEl>
                                      </p:cBhvr>
                                    </p:animEffect>
                                  </p:childTnLst>
                                </p:cTn>
                              </p:par>
                              <p:par>
                                <p:cTn id="174" presetID="10" presetClass="entr" presetSubtype="0" fill="hold" nodeType="withEffect">
                                  <p:stCondLst>
                                    <p:cond delay="0"/>
                                  </p:stCondLst>
                                  <p:childTnLst>
                                    <p:set>
                                      <p:cBhvr>
                                        <p:cTn id="175" dur="1" fill="hold">
                                          <p:stCondLst>
                                            <p:cond delay="0"/>
                                          </p:stCondLst>
                                        </p:cTn>
                                        <p:tgtEl>
                                          <p:spTgt spid="68"/>
                                        </p:tgtEl>
                                        <p:attrNameLst>
                                          <p:attrName>style.visibility</p:attrName>
                                        </p:attrNameLst>
                                      </p:cBhvr>
                                      <p:to>
                                        <p:strVal val="visible"/>
                                      </p:to>
                                    </p:set>
                                    <p:animEffect transition="in" filter="fade">
                                      <p:cBhvr>
                                        <p:cTn id="176" dur="400"/>
                                        <p:tgtEl>
                                          <p:spTgt spid="68"/>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69"/>
                                        </p:tgtEl>
                                        <p:attrNameLst>
                                          <p:attrName>style.visibility</p:attrName>
                                        </p:attrNameLst>
                                      </p:cBhvr>
                                      <p:to>
                                        <p:strVal val="visible"/>
                                      </p:to>
                                    </p:set>
                                    <p:animEffect transition="in" filter="fade">
                                      <p:cBhvr>
                                        <p:cTn id="179" dur="400"/>
                                        <p:tgtEl>
                                          <p:spTgt spid="69"/>
                                        </p:tgtEl>
                                      </p:cBhvr>
                                    </p:animEffect>
                                  </p:childTnLst>
                                </p:cTn>
                              </p:par>
                              <p:par>
                                <p:cTn id="180" presetID="10" presetClass="entr" presetSubtype="0" fill="hold" nodeType="withEffect">
                                  <p:stCondLst>
                                    <p:cond delay="0"/>
                                  </p:stCondLst>
                                  <p:childTnLst>
                                    <p:set>
                                      <p:cBhvr>
                                        <p:cTn id="181" dur="1" fill="hold">
                                          <p:stCondLst>
                                            <p:cond delay="0"/>
                                          </p:stCondLst>
                                        </p:cTn>
                                        <p:tgtEl>
                                          <p:spTgt spid="70"/>
                                        </p:tgtEl>
                                        <p:attrNameLst>
                                          <p:attrName>style.visibility</p:attrName>
                                        </p:attrNameLst>
                                      </p:cBhvr>
                                      <p:to>
                                        <p:strVal val="visible"/>
                                      </p:to>
                                    </p:set>
                                    <p:animEffect transition="in" filter="fade">
                                      <p:cBhvr>
                                        <p:cTn id="182" dur="400"/>
                                        <p:tgtEl>
                                          <p:spTgt spid="70"/>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71"/>
                                        </p:tgtEl>
                                        <p:attrNameLst>
                                          <p:attrName>style.visibility</p:attrName>
                                        </p:attrNameLst>
                                      </p:cBhvr>
                                      <p:to>
                                        <p:strVal val="visible"/>
                                      </p:to>
                                    </p:set>
                                    <p:animEffect transition="in" filter="fade">
                                      <p:cBhvr>
                                        <p:cTn id="185" dur="400"/>
                                        <p:tgtEl>
                                          <p:spTgt spid="71"/>
                                        </p:tgtEl>
                                      </p:cBhvr>
                                    </p:animEffect>
                                  </p:childTnLst>
                                </p:cTn>
                              </p:par>
                              <p:par>
                                <p:cTn id="186" presetID="10" presetClass="entr" presetSubtype="0" fill="hold" nodeType="withEffect">
                                  <p:stCondLst>
                                    <p:cond delay="0"/>
                                  </p:stCondLst>
                                  <p:childTnLst>
                                    <p:set>
                                      <p:cBhvr>
                                        <p:cTn id="187" dur="1" fill="hold">
                                          <p:stCondLst>
                                            <p:cond delay="0"/>
                                          </p:stCondLst>
                                        </p:cTn>
                                        <p:tgtEl>
                                          <p:spTgt spid="72"/>
                                        </p:tgtEl>
                                        <p:attrNameLst>
                                          <p:attrName>style.visibility</p:attrName>
                                        </p:attrNameLst>
                                      </p:cBhvr>
                                      <p:to>
                                        <p:strVal val="visible"/>
                                      </p:to>
                                    </p:set>
                                    <p:animEffect transition="in" filter="fade">
                                      <p:cBhvr>
                                        <p:cTn id="188" dur="4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7" grpId="0" animBg="1"/>
      <p:bldP spid="19" grpId="0" animBg="1"/>
      <p:bldP spid="21" grpId="0" animBg="1"/>
      <p:bldP spid="23" grpId="0" animBg="1"/>
      <p:bldP spid="26" grpId="0" animBg="1"/>
      <p:bldP spid="28" grpId="0" animBg="1"/>
      <p:bldP spid="30" grpId="0" animBg="1"/>
      <p:bldP spid="32" grpId="0" animBg="1"/>
      <p:bldP spid="34" grpId="0" animBg="1"/>
      <p:bldP spid="36" grpId="0" animBg="1"/>
      <p:bldP spid="38" grpId="0" animBg="1"/>
      <p:bldP spid="40" grpId="0" animBg="1"/>
      <p:bldP spid="41" grpId="0" animBg="1"/>
      <p:bldP spid="42" grpId="0" animBg="1"/>
      <p:bldP spid="44" grpId="0" animBg="1"/>
      <p:bldP spid="46" grpId="0" animBg="1"/>
      <p:bldP spid="48" grpId="0" animBg="1"/>
      <p:bldP spid="50" grpId="0" animBg="1"/>
      <p:bldP spid="52" grpId="0" animBg="1"/>
      <p:bldP spid="54" grpId="0" animBg="1"/>
      <p:bldP spid="56" grpId="0" animBg="1"/>
      <p:bldP spid="58" grpId="0" animBg="1"/>
      <p:bldP spid="61" grpId="0" animBg="1"/>
      <p:bldP spid="63" grpId="0" animBg="1"/>
      <p:bldP spid="65" grpId="0" animBg="1"/>
      <p:bldP spid="67" grpId="0" animBg="1"/>
      <p:bldP spid="69" grpId="0" animBg="1"/>
      <p:bldP spid="7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shallow copy shares the inner lists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copy.deepcopy copies them too, and shares nothing</a:t>
            </a:r>
            <a:endParaRPr lang="en-US" sz="1400" dirty="0"/>
          </a:p>
        </p:txBody>
      </p:sp>
      <p:sp>
        <p:nvSpPr>
          <p:cNvPr id="6" name="v:Copying:sc1t"/>
          <p:cNvSpPr txBox="1"/>
          <p:nvPr/>
        </p:nvSpPr>
        <p:spPr>
          <a:xfrm>
            <a:off x="365760" y="1143000"/>
            <a:ext cx="5120640" cy="237744"/>
          </a:xfrm>
          <a:prstGeom prst="rect">
            <a:avLst/>
          </a:prstGeom>
          <a:noFill/>
          <a:ln/>
        </p:spPr>
        <p:txBody>
          <a:bodyPr wrap="square" lIns="0" tIns="0" rIns="0" bIns="0" rtlCol="0" anchor="ctr">
            <a:normAutofit/>
          </a:bodyPr>
          <a:lstStyle/>
          <a:p>
            <a:pPr indent="0" marL="0">
              <a:buNone/>
            </a:pPr>
            <a:r>
              <a:rPr lang="en-US" sz="1200" b="1" dirty="0">
                <a:solidFill>
                  <a:srgbClr val="306998"/>
                </a:solidFill>
                <a:latin typeface="Calibri" pitchFamily="34" charset="0"/>
                <a:ea typeface="Calibri" pitchFamily="34" charset="-122"/>
                <a:cs typeface="Calibri" pitchFamily="34" charset="-120"/>
              </a:rPr>
              <a:t>a nested list</a:t>
            </a:r>
            <a:endParaRPr lang="en-US" sz="1200" dirty="0"/>
          </a:p>
        </p:txBody>
      </p:sp>
      <p:sp>
        <p:nvSpPr>
          <p:cNvPr id="7" name="v:Copying:g1.3.c|b1"/>
          <p:cNvSpPr txBox="1"/>
          <p:nvPr/>
        </p:nvSpPr>
        <p:spPr>
          <a:xfrm>
            <a:off x="365760" y="1389888"/>
            <a:ext cx="5120640" cy="237744"/>
          </a:xfrm>
          <a:prstGeom prst="rect">
            <a:avLst/>
          </a:prstGeom>
          <a:noFill/>
          <a:ln/>
        </p:spPr>
        <p:txBody>
          <a:bodyPr wrap="square" lIns="0" tIns="0" rIns="0" bIns="0" rtlCol="0" anchor="ctr"/>
          <a:lstStyle/>
          <a:p>
            <a:pPr indent="0" marL="0">
              <a:buNone/>
            </a:pPr>
            <a:r>
              <a:rPr lang="en-US" sz="1100" b="1" dirty="0">
                <a:solidFill>
                  <a:srgbClr val="1E2A3A"/>
                </a:solidFill>
                <a:latin typeface="Courier New" pitchFamily="34" charset="0"/>
                <a:ea typeface="Courier New" pitchFamily="34" charset="-122"/>
                <a:cs typeface="Courier New" pitchFamily="34" charset="-120"/>
              </a:rPr>
              <a:t>nested[0].append('changed')</a:t>
            </a:r>
            <a:endParaRPr lang="en-US" sz="1100" dirty="0"/>
          </a:p>
        </p:txBody>
      </p:sp>
      <p:sp>
        <p:nvSpPr>
          <p:cNvPr id="8" name="v:Copying:g1.3.o1i0:box|b1"/>
          <p:cNvSpPr/>
          <p:nvPr/>
        </p:nvSpPr>
        <p:spPr>
          <a:xfrm>
            <a:off x="1508760" y="1755648"/>
            <a:ext cx="384048" cy="310896"/>
          </a:xfrm>
          <a:prstGeom prst="roundRect">
            <a:avLst>
              <a:gd name="adj" fmla="val 11765"/>
            </a:avLst>
          </a:prstGeom>
          <a:solidFill>
            <a:srgbClr val="FFFFFF"/>
          </a:solidFill>
          <a:ln w="19050">
            <a:solidFill>
              <a:srgbClr val="306998"/>
            </a:solidFill>
            <a:prstDash val="solid"/>
          </a:ln>
        </p:spPr>
      </p:sp>
      <p:sp>
        <p:nvSpPr>
          <p:cNvPr id="9" name="dot|b1"/>
          <p:cNvSpPr/>
          <p:nvPr/>
        </p:nvSpPr>
        <p:spPr>
          <a:xfrm>
            <a:off x="1655064" y="1865376"/>
            <a:ext cx="91440" cy="91440"/>
          </a:xfrm>
          <a:prstGeom prst="ellipse">
            <a:avLst/>
          </a:prstGeom>
          <a:solidFill>
            <a:srgbClr val="306998"/>
          </a:solidFill>
          <a:ln w="12700">
            <a:solidFill>
              <a:srgbClr val="306998"/>
            </a:solidFill>
            <a:prstDash val="solid"/>
          </a:ln>
        </p:spPr>
      </p:sp>
      <p:sp>
        <p:nvSpPr>
          <p:cNvPr id="10" name="v:Copying:g1.3.o1i1:box|b1"/>
          <p:cNvSpPr/>
          <p:nvPr/>
        </p:nvSpPr>
        <p:spPr>
          <a:xfrm>
            <a:off x="1929384" y="1755648"/>
            <a:ext cx="384048" cy="310896"/>
          </a:xfrm>
          <a:prstGeom prst="roundRect">
            <a:avLst>
              <a:gd name="adj" fmla="val 11765"/>
            </a:avLst>
          </a:prstGeom>
          <a:solidFill>
            <a:srgbClr val="FFFFFF"/>
          </a:solidFill>
          <a:ln w="19050">
            <a:solidFill>
              <a:srgbClr val="306998"/>
            </a:solidFill>
            <a:prstDash val="solid"/>
          </a:ln>
        </p:spPr>
      </p:sp>
      <p:sp>
        <p:nvSpPr>
          <p:cNvPr id="11" name="dot|b1"/>
          <p:cNvSpPr/>
          <p:nvPr/>
        </p:nvSpPr>
        <p:spPr>
          <a:xfrm>
            <a:off x="2075688" y="1865376"/>
            <a:ext cx="91440" cy="91440"/>
          </a:xfrm>
          <a:prstGeom prst="ellipse">
            <a:avLst/>
          </a:prstGeom>
          <a:solidFill>
            <a:srgbClr val="306998"/>
          </a:solidFill>
          <a:ln w="12700">
            <a:solidFill>
              <a:srgbClr val="306998"/>
            </a:solidFill>
            <a:prstDash val="solid"/>
          </a:ln>
        </p:spPr>
      </p:sp>
      <p:sp>
        <p:nvSpPr>
          <p:cNvPr id="12" name="v:Copying:g1.3.o4i0:box|b1"/>
          <p:cNvSpPr/>
          <p:nvPr/>
        </p:nvSpPr>
        <p:spPr>
          <a:xfrm>
            <a:off x="1508760" y="2267712"/>
            <a:ext cx="384048" cy="310896"/>
          </a:xfrm>
          <a:prstGeom prst="roundRect">
            <a:avLst>
              <a:gd name="adj" fmla="val 11765"/>
            </a:avLst>
          </a:prstGeom>
          <a:solidFill>
            <a:srgbClr val="FFFFFF"/>
          </a:solidFill>
          <a:ln w="19050">
            <a:solidFill>
              <a:srgbClr val="306998"/>
            </a:solidFill>
            <a:prstDash val="solid"/>
          </a:ln>
        </p:spPr>
      </p:sp>
      <p:sp>
        <p:nvSpPr>
          <p:cNvPr id="13" name="dot|b1"/>
          <p:cNvSpPr/>
          <p:nvPr/>
        </p:nvSpPr>
        <p:spPr>
          <a:xfrm>
            <a:off x="1655064" y="2377440"/>
            <a:ext cx="91440" cy="91440"/>
          </a:xfrm>
          <a:prstGeom prst="ellipse">
            <a:avLst/>
          </a:prstGeom>
          <a:solidFill>
            <a:srgbClr val="306998"/>
          </a:solidFill>
          <a:ln w="12700">
            <a:solidFill>
              <a:srgbClr val="306998"/>
            </a:solidFill>
            <a:prstDash val="solid"/>
          </a:ln>
        </p:spPr>
      </p:sp>
      <p:sp>
        <p:nvSpPr>
          <p:cNvPr id="14" name="v:Copying:g1.3.o4i1:box|b1"/>
          <p:cNvSpPr/>
          <p:nvPr/>
        </p:nvSpPr>
        <p:spPr>
          <a:xfrm>
            <a:off x="1929384" y="2267712"/>
            <a:ext cx="384048" cy="310896"/>
          </a:xfrm>
          <a:prstGeom prst="roundRect">
            <a:avLst>
              <a:gd name="adj" fmla="val 11765"/>
            </a:avLst>
          </a:prstGeom>
          <a:solidFill>
            <a:srgbClr val="FFFFFF"/>
          </a:solidFill>
          <a:ln w="19050">
            <a:solidFill>
              <a:srgbClr val="306998"/>
            </a:solidFill>
            <a:prstDash val="solid"/>
          </a:ln>
        </p:spPr>
      </p:sp>
      <p:sp>
        <p:nvSpPr>
          <p:cNvPr id="15" name="dot|b1"/>
          <p:cNvSpPr/>
          <p:nvPr/>
        </p:nvSpPr>
        <p:spPr>
          <a:xfrm>
            <a:off x="2075688" y="2377440"/>
            <a:ext cx="91440" cy="91440"/>
          </a:xfrm>
          <a:prstGeom prst="ellipse">
            <a:avLst/>
          </a:prstGeom>
          <a:solidFill>
            <a:srgbClr val="306998"/>
          </a:solidFill>
          <a:ln w="12700">
            <a:solidFill>
              <a:srgbClr val="306998"/>
            </a:solidFill>
            <a:prstDash val="solid"/>
          </a:ln>
        </p:spPr>
      </p:sp>
      <p:sp>
        <p:nvSpPr>
          <p:cNvPr id="16" name="v:Copying:g1.3.o5i0:box|b1"/>
          <p:cNvSpPr/>
          <p:nvPr/>
        </p:nvSpPr>
        <p:spPr>
          <a:xfrm>
            <a:off x="1508760" y="2779776"/>
            <a:ext cx="384048" cy="310896"/>
          </a:xfrm>
          <a:prstGeom prst="roundRect">
            <a:avLst>
              <a:gd name="adj" fmla="val 11765"/>
            </a:avLst>
          </a:prstGeom>
          <a:solidFill>
            <a:srgbClr val="FFFFFF"/>
          </a:solidFill>
          <a:ln w="19050">
            <a:solidFill>
              <a:srgbClr val="306998"/>
            </a:solidFill>
            <a:prstDash val="solid"/>
          </a:ln>
        </p:spPr>
      </p:sp>
      <p:sp>
        <p:nvSpPr>
          <p:cNvPr id="17" name="dot|b1"/>
          <p:cNvSpPr/>
          <p:nvPr/>
        </p:nvSpPr>
        <p:spPr>
          <a:xfrm>
            <a:off x="1655064" y="2889504"/>
            <a:ext cx="91440" cy="91440"/>
          </a:xfrm>
          <a:prstGeom prst="ellipse">
            <a:avLst/>
          </a:prstGeom>
          <a:solidFill>
            <a:srgbClr val="306998"/>
          </a:solidFill>
          <a:ln w="12700">
            <a:solidFill>
              <a:srgbClr val="306998"/>
            </a:solidFill>
            <a:prstDash val="solid"/>
          </a:ln>
        </p:spPr>
      </p:sp>
      <p:sp>
        <p:nvSpPr>
          <p:cNvPr id="18" name="v:Copying:g1.3.o5i1:box|b1"/>
          <p:cNvSpPr/>
          <p:nvPr/>
        </p:nvSpPr>
        <p:spPr>
          <a:xfrm>
            <a:off x="1929384" y="2779776"/>
            <a:ext cx="384048" cy="310896"/>
          </a:xfrm>
          <a:prstGeom prst="roundRect">
            <a:avLst>
              <a:gd name="adj" fmla="val 11765"/>
            </a:avLst>
          </a:prstGeom>
          <a:solidFill>
            <a:srgbClr val="FFFFFF"/>
          </a:solidFill>
          <a:ln w="19050">
            <a:solidFill>
              <a:srgbClr val="306998"/>
            </a:solidFill>
            <a:prstDash val="solid"/>
          </a:ln>
        </p:spPr>
      </p:sp>
      <p:sp>
        <p:nvSpPr>
          <p:cNvPr id="19" name="dot|b1"/>
          <p:cNvSpPr/>
          <p:nvPr/>
        </p:nvSpPr>
        <p:spPr>
          <a:xfrm>
            <a:off x="2075688" y="2889504"/>
            <a:ext cx="91440" cy="91440"/>
          </a:xfrm>
          <a:prstGeom prst="ellipse">
            <a:avLst/>
          </a:prstGeom>
          <a:solidFill>
            <a:srgbClr val="306998"/>
          </a:solidFill>
          <a:ln w="12700">
            <a:solidFill>
              <a:srgbClr val="306998"/>
            </a:solidFill>
            <a:prstDash val="solid"/>
          </a:ln>
        </p:spPr>
      </p:sp>
      <p:sp>
        <p:nvSpPr>
          <p:cNvPr id="20" name="v:Copying:g1.3.o2i0:box|b1"/>
          <p:cNvSpPr/>
          <p:nvPr/>
        </p:nvSpPr>
        <p:spPr>
          <a:xfrm>
            <a:off x="3566160" y="1700784"/>
            <a:ext cx="384048" cy="310896"/>
          </a:xfrm>
          <a:prstGeom prst="roundRect">
            <a:avLst>
              <a:gd name="adj" fmla="val 11765"/>
            </a:avLst>
          </a:prstGeom>
          <a:solidFill>
            <a:srgbClr val="F1F4F8"/>
          </a:solidFill>
          <a:ln w="19050">
            <a:solidFill>
              <a:srgbClr val="306998"/>
            </a:solidFill>
            <a:prstDash val="solid"/>
          </a:ln>
        </p:spPr>
      </p:sp>
      <p:sp>
        <p:nvSpPr>
          <p:cNvPr id="21" name="v:Copying:g1.3.o2i0|b1"/>
          <p:cNvSpPr txBox="1"/>
          <p:nvPr/>
        </p:nvSpPr>
        <p:spPr>
          <a:xfrm>
            <a:off x="3575304" y="1700784"/>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22" name="v:Copying:g1.3.o2i1:box|b1"/>
          <p:cNvSpPr/>
          <p:nvPr/>
        </p:nvSpPr>
        <p:spPr>
          <a:xfrm>
            <a:off x="3986784" y="1700784"/>
            <a:ext cx="384048" cy="310896"/>
          </a:xfrm>
          <a:prstGeom prst="roundRect">
            <a:avLst>
              <a:gd name="adj" fmla="val 11765"/>
            </a:avLst>
          </a:prstGeom>
          <a:solidFill>
            <a:srgbClr val="F1F4F8"/>
          </a:solidFill>
          <a:ln w="19050">
            <a:solidFill>
              <a:srgbClr val="306998"/>
            </a:solidFill>
            <a:prstDash val="solid"/>
          </a:ln>
        </p:spPr>
      </p:sp>
      <p:sp>
        <p:nvSpPr>
          <p:cNvPr id="23" name="v:Copying:g1.3.o2i1|b1"/>
          <p:cNvSpPr txBox="1"/>
          <p:nvPr/>
        </p:nvSpPr>
        <p:spPr>
          <a:xfrm>
            <a:off x="3995928" y="1700784"/>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24" name="v:Copying:g1.3.o2i2:box|b1"/>
          <p:cNvSpPr/>
          <p:nvPr/>
        </p:nvSpPr>
        <p:spPr>
          <a:xfrm>
            <a:off x="4407408" y="1700784"/>
            <a:ext cx="708660" cy="310896"/>
          </a:xfrm>
          <a:prstGeom prst="roundRect">
            <a:avLst>
              <a:gd name="adj" fmla="val 11765"/>
            </a:avLst>
          </a:prstGeom>
          <a:solidFill>
            <a:srgbClr val="F1F4F8"/>
          </a:solidFill>
          <a:ln w="19050">
            <a:solidFill>
              <a:srgbClr val="306998"/>
            </a:solidFill>
            <a:prstDash val="solid"/>
          </a:ln>
        </p:spPr>
      </p:sp>
      <p:sp>
        <p:nvSpPr>
          <p:cNvPr id="25" name="v:Copying:g1.3.o2i2|b1"/>
          <p:cNvSpPr txBox="1"/>
          <p:nvPr/>
        </p:nvSpPr>
        <p:spPr>
          <a:xfrm>
            <a:off x="4416552" y="1700784"/>
            <a:ext cx="690372" cy="310896"/>
          </a:xfrm>
          <a:prstGeom prst="rect">
            <a:avLst/>
          </a:prstGeom>
          <a:noFill/>
          <a:ln/>
        </p:spPr>
        <p:txBody>
          <a:bodyPr wrap="square" lIns="0" tIns="0" rIns="0" bIns="0" rtlCol="0" anchor="ctr">
            <a:normAutofit/>
          </a:bodyPr>
          <a:lstStyle/>
          <a:p>
            <a:pPr algn="ctr" indent="0" marL="0">
              <a:buNone/>
            </a:pPr>
            <a:r>
              <a:rPr lang="en-US" sz="914" b="1" dirty="0">
                <a:solidFill>
                  <a:srgbClr val="1E2A3A"/>
                </a:solidFill>
                <a:latin typeface="Courier New" pitchFamily="34" charset="0"/>
                <a:ea typeface="Courier New" pitchFamily="34" charset="-122"/>
                <a:cs typeface="Courier New" pitchFamily="34" charset="-120"/>
              </a:rPr>
              <a:t>'changed'</a:t>
            </a:r>
            <a:endParaRPr lang="en-US" sz="914" dirty="0"/>
          </a:p>
        </p:txBody>
      </p:sp>
      <p:sp>
        <p:nvSpPr>
          <p:cNvPr id="26" name="v:Copying:g1.3.o3i0:box|b1"/>
          <p:cNvSpPr/>
          <p:nvPr/>
        </p:nvSpPr>
        <p:spPr>
          <a:xfrm>
            <a:off x="3566160" y="2139696"/>
            <a:ext cx="384048" cy="310896"/>
          </a:xfrm>
          <a:prstGeom prst="roundRect">
            <a:avLst>
              <a:gd name="adj" fmla="val 11765"/>
            </a:avLst>
          </a:prstGeom>
          <a:solidFill>
            <a:srgbClr val="F1F4F8"/>
          </a:solidFill>
          <a:ln w="19050">
            <a:solidFill>
              <a:srgbClr val="306998"/>
            </a:solidFill>
            <a:prstDash val="solid"/>
          </a:ln>
        </p:spPr>
      </p:sp>
      <p:sp>
        <p:nvSpPr>
          <p:cNvPr id="27" name="v:Copying:g1.3.o3i0|b1"/>
          <p:cNvSpPr txBox="1"/>
          <p:nvPr/>
        </p:nvSpPr>
        <p:spPr>
          <a:xfrm>
            <a:off x="3575304" y="2139696"/>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28" name="v:Copying:g1.3.o6i0:box|b1"/>
          <p:cNvSpPr/>
          <p:nvPr/>
        </p:nvSpPr>
        <p:spPr>
          <a:xfrm>
            <a:off x="3566160" y="2578608"/>
            <a:ext cx="384048" cy="310896"/>
          </a:xfrm>
          <a:prstGeom prst="roundRect">
            <a:avLst>
              <a:gd name="adj" fmla="val 11765"/>
            </a:avLst>
          </a:prstGeom>
          <a:solidFill>
            <a:srgbClr val="F1F4F8"/>
          </a:solidFill>
          <a:ln w="19050">
            <a:solidFill>
              <a:srgbClr val="306998"/>
            </a:solidFill>
            <a:prstDash val="solid"/>
          </a:ln>
        </p:spPr>
      </p:sp>
      <p:sp>
        <p:nvSpPr>
          <p:cNvPr id="29" name="v:Copying:g1.3.o6i0|b1"/>
          <p:cNvSpPr txBox="1"/>
          <p:nvPr/>
        </p:nvSpPr>
        <p:spPr>
          <a:xfrm>
            <a:off x="3575304" y="2578608"/>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1</a:t>
            </a:r>
            <a:endParaRPr lang="en-US" sz="1050" dirty="0"/>
          </a:p>
        </p:txBody>
      </p:sp>
      <p:sp>
        <p:nvSpPr>
          <p:cNvPr id="30" name="v:Copying:g1.3.o6i1:box|b1"/>
          <p:cNvSpPr/>
          <p:nvPr/>
        </p:nvSpPr>
        <p:spPr>
          <a:xfrm>
            <a:off x="3986784" y="2578608"/>
            <a:ext cx="384048" cy="310896"/>
          </a:xfrm>
          <a:prstGeom prst="roundRect">
            <a:avLst>
              <a:gd name="adj" fmla="val 11765"/>
            </a:avLst>
          </a:prstGeom>
          <a:solidFill>
            <a:srgbClr val="F1F4F8"/>
          </a:solidFill>
          <a:ln w="19050">
            <a:solidFill>
              <a:srgbClr val="306998"/>
            </a:solidFill>
            <a:prstDash val="solid"/>
          </a:ln>
        </p:spPr>
      </p:sp>
      <p:sp>
        <p:nvSpPr>
          <p:cNvPr id="31" name="v:Copying:g1.3.o6i1|b1"/>
          <p:cNvSpPr txBox="1"/>
          <p:nvPr/>
        </p:nvSpPr>
        <p:spPr>
          <a:xfrm>
            <a:off x="3995928" y="2578608"/>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2</a:t>
            </a:r>
            <a:endParaRPr lang="en-US" sz="1050" dirty="0"/>
          </a:p>
        </p:txBody>
      </p:sp>
      <p:sp>
        <p:nvSpPr>
          <p:cNvPr id="32" name="v:Copying:g1.3.o7i0:box|b1"/>
          <p:cNvSpPr/>
          <p:nvPr/>
        </p:nvSpPr>
        <p:spPr>
          <a:xfrm>
            <a:off x="3566160" y="3017520"/>
            <a:ext cx="384048" cy="310896"/>
          </a:xfrm>
          <a:prstGeom prst="roundRect">
            <a:avLst>
              <a:gd name="adj" fmla="val 11765"/>
            </a:avLst>
          </a:prstGeom>
          <a:solidFill>
            <a:srgbClr val="F1F4F8"/>
          </a:solidFill>
          <a:ln w="19050">
            <a:solidFill>
              <a:srgbClr val="306998"/>
            </a:solidFill>
            <a:prstDash val="solid"/>
          </a:ln>
        </p:spPr>
      </p:sp>
      <p:sp>
        <p:nvSpPr>
          <p:cNvPr id="33" name="v:Copying:g1.3.o7i0|b1"/>
          <p:cNvSpPr txBox="1"/>
          <p:nvPr/>
        </p:nvSpPr>
        <p:spPr>
          <a:xfrm>
            <a:off x="3575304" y="301752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34" name="refarrow|b1"/>
          <p:cNvSpPr/>
          <p:nvPr/>
        </p:nvSpPr>
        <p:spPr>
          <a:xfrm flipV="1">
            <a:off x="1700784" y="1856232"/>
            <a:ext cx="1865376" cy="54864"/>
          </a:xfrm>
          <a:prstGeom prst="line">
            <a:avLst/>
          </a:prstGeom>
          <a:noFill/>
          <a:ln w="19050">
            <a:solidFill>
              <a:srgbClr val="306998"/>
            </a:solidFill>
            <a:prstDash val="solid"/>
            <a:tailEnd type="triangle"/>
          </a:ln>
        </p:spPr>
      </p:sp>
      <p:sp>
        <p:nvSpPr>
          <p:cNvPr id="35" name="refarrow|b1"/>
          <p:cNvSpPr/>
          <p:nvPr/>
        </p:nvSpPr>
        <p:spPr>
          <a:xfrm>
            <a:off x="2121408" y="1911096"/>
            <a:ext cx="1444752" cy="384048"/>
          </a:xfrm>
          <a:prstGeom prst="line">
            <a:avLst/>
          </a:prstGeom>
          <a:noFill/>
          <a:ln w="19050">
            <a:solidFill>
              <a:srgbClr val="306998"/>
            </a:solidFill>
            <a:prstDash val="solid"/>
            <a:tailEnd type="triangle"/>
          </a:ln>
        </p:spPr>
      </p:sp>
      <p:sp>
        <p:nvSpPr>
          <p:cNvPr id="36" name="refarrow|b1"/>
          <p:cNvSpPr/>
          <p:nvPr/>
        </p:nvSpPr>
        <p:spPr>
          <a:xfrm flipV="1">
            <a:off x="1700784" y="1856232"/>
            <a:ext cx="1865376" cy="566928"/>
          </a:xfrm>
          <a:prstGeom prst="line">
            <a:avLst/>
          </a:prstGeom>
          <a:noFill/>
          <a:ln w="19050">
            <a:solidFill>
              <a:srgbClr val="306998"/>
            </a:solidFill>
            <a:prstDash val="solid"/>
            <a:tailEnd type="triangle"/>
          </a:ln>
        </p:spPr>
      </p:sp>
      <p:sp>
        <p:nvSpPr>
          <p:cNvPr id="37" name="refarrow|b1"/>
          <p:cNvSpPr/>
          <p:nvPr/>
        </p:nvSpPr>
        <p:spPr>
          <a:xfrm flipV="1">
            <a:off x="2121408" y="2295144"/>
            <a:ext cx="1444752" cy="128016"/>
          </a:xfrm>
          <a:prstGeom prst="line">
            <a:avLst/>
          </a:prstGeom>
          <a:noFill/>
          <a:ln w="19050">
            <a:solidFill>
              <a:srgbClr val="306998"/>
            </a:solidFill>
            <a:prstDash val="solid"/>
            <a:tailEnd type="triangle"/>
          </a:ln>
        </p:spPr>
      </p:sp>
      <p:sp>
        <p:nvSpPr>
          <p:cNvPr id="38" name="refarrow|b1"/>
          <p:cNvSpPr/>
          <p:nvPr/>
        </p:nvSpPr>
        <p:spPr>
          <a:xfrm flipV="1">
            <a:off x="1700784" y="2734056"/>
            <a:ext cx="1865376" cy="201168"/>
          </a:xfrm>
          <a:prstGeom prst="line">
            <a:avLst/>
          </a:prstGeom>
          <a:noFill/>
          <a:ln w="19050">
            <a:solidFill>
              <a:srgbClr val="306998"/>
            </a:solidFill>
            <a:prstDash val="solid"/>
            <a:tailEnd type="triangle"/>
          </a:ln>
        </p:spPr>
      </p:sp>
      <p:sp>
        <p:nvSpPr>
          <p:cNvPr id="39" name="refarrow|b1"/>
          <p:cNvSpPr/>
          <p:nvPr/>
        </p:nvSpPr>
        <p:spPr>
          <a:xfrm>
            <a:off x="2121408" y="2935224"/>
            <a:ext cx="1444752" cy="237744"/>
          </a:xfrm>
          <a:prstGeom prst="line">
            <a:avLst/>
          </a:prstGeom>
          <a:noFill/>
          <a:ln w="19050">
            <a:solidFill>
              <a:srgbClr val="306998"/>
            </a:solidFill>
            <a:prstDash val="solid"/>
            <a:tailEnd type="triangle"/>
          </a:ln>
        </p:spPr>
      </p:sp>
      <p:sp>
        <p:nvSpPr>
          <p:cNvPr id="40" name="v:Copying:g1.3.n.nested:box|b1"/>
          <p:cNvSpPr/>
          <p:nvPr/>
        </p:nvSpPr>
        <p:spPr>
          <a:xfrm>
            <a:off x="365760" y="1792224"/>
            <a:ext cx="914400" cy="237744"/>
          </a:xfrm>
          <a:prstGeom prst="roundRect">
            <a:avLst>
              <a:gd name="adj" fmla="val 30769"/>
            </a:avLst>
          </a:prstGeom>
          <a:solidFill>
            <a:srgbClr val="FFFFFF"/>
          </a:solidFill>
          <a:ln w="19050">
            <a:solidFill>
              <a:srgbClr val="306998"/>
            </a:solidFill>
            <a:prstDash val="solid"/>
          </a:ln>
        </p:spPr>
      </p:sp>
      <p:sp>
        <p:nvSpPr>
          <p:cNvPr id="41" name="v:Copying:g1.3.n.nested|b1"/>
          <p:cNvSpPr txBox="1"/>
          <p:nvPr/>
        </p:nvSpPr>
        <p:spPr>
          <a:xfrm>
            <a:off x="365760" y="1792224"/>
            <a:ext cx="91440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nested</a:t>
            </a:r>
            <a:endParaRPr lang="en-US" sz="1050" dirty="0"/>
          </a:p>
        </p:txBody>
      </p:sp>
      <p:sp>
        <p:nvSpPr>
          <p:cNvPr id="42" name="namearrow|b1"/>
          <p:cNvSpPr/>
          <p:nvPr/>
        </p:nvSpPr>
        <p:spPr>
          <a:xfrm>
            <a:off x="1280160" y="1911096"/>
            <a:ext cx="228600" cy="0"/>
          </a:xfrm>
          <a:prstGeom prst="line">
            <a:avLst/>
          </a:prstGeom>
          <a:noFill/>
          <a:ln w="25400">
            <a:solidFill>
              <a:srgbClr val="306998"/>
            </a:solidFill>
            <a:prstDash val="solid"/>
            <a:tailEnd type="triangle"/>
          </a:ln>
        </p:spPr>
      </p:sp>
      <p:sp>
        <p:nvSpPr>
          <p:cNvPr id="43" name="v:Copying:g1.3.n.shallow:box|b1"/>
          <p:cNvSpPr/>
          <p:nvPr/>
        </p:nvSpPr>
        <p:spPr>
          <a:xfrm>
            <a:off x="365760" y="2304288"/>
            <a:ext cx="914400" cy="237744"/>
          </a:xfrm>
          <a:prstGeom prst="roundRect">
            <a:avLst>
              <a:gd name="adj" fmla="val 30769"/>
            </a:avLst>
          </a:prstGeom>
          <a:solidFill>
            <a:srgbClr val="FFFFFF"/>
          </a:solidFill>
          <a:ln w="19050">
            <a:solidFill>
              <a:srgbClr val="306998"/>
            </a:solidFill>
            <a:prstDash val="solid"/>
          </a:ln>
        </p:spPr>
      </p:sp>
      <p:sp>
        <p:nvSpPr>
          <p:cNvPr id="44" name="v:Copying:g1.3.n.shallow|b1"/>
          <p:cNvSpPr txBox="1"/>
          <p:nvPr/>
        </p:nvSpPr>
        <p:spPr>
          <a:xfrm>
            <a:off x="365760" y="2304288"/>
            <a:ext cx="91440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shallow</a:t>
            </a:r>
            <a:endParaRPr lang="en-US" sz="1050" dirty="0"/>
          </a:p>
        </p:txBody>
      </p:sp>
      <p:sp>
        <p:nvSpPr>
          <p:cNvPr id="45" name="namearrow|b1"/>
          <p:cNvSpPr/>
          <p:nvPr/>
        </p:nvSpPr>
        <p:spPr>
          <a:xfrm>
            <a:off x="1280160" y="2423160"/>
            <a:ext cx="228600" cy="0"/>
          </a:xfrm>
          <a:prstGeom prst="line">
            <a:avLst/>
          </a:prstGeom>
          <a:noFill/>
          <a:ln w="25400">
            <a:solidFill>
              <a:srgbClr val="306998"/>
            </a:solidFill>
            <a:prstDash val="solid"/>
            <a:tailEnd type="triangle"/>
          </a:ln>
        </p:spPr>
      </p:sp>
      <p:sp>
        <p:nvSpPr>
          <p:cNvPr id="46" name="v:Copying:g1.3.n.deep:box|b1"/>
          <p:cNvSpPr/>
          <p:nvPr/>
        </p:nvSpPr>
        <p:spPr>
          <a:xfrm>
            <a:off x="365760" y="2816352"/>
            <a:ext cx="914400" cy="237744"/>
          </a:xfrm>
          <a:prstGeom prst="roundRect">
            <a:avLst>
              <a:gd name="adj" fmla="val 30769"/>
            </a:avLst>
          </a:prstGeom>
          <a:solidFill>
            <a:srgbClr val="FFFFFF"/>
          </a:solidFill>
          <a:ln w="19050">
            <a:solidFill>
              <a:srgbClr val="306998"/>
            </a:solidFill>
            <a:prstDash val="solid"/>
          </a:ln>
        </p:spPr>
      </p:sp>
      <p:sp>
        <p:nvSpPr>
          <p:cNvPr id="47" name="v:Copying:g1.3.n.deep|b1"/>
          <p:cNvSpPr txBox="1"/>
          <p:nvPr/>
        </p:nvSpPr>
        <p:spPr>
          <a:xfrm>
            <a:off x="365760" y="2816352"/>
            <a:ext cx="91440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deep</a:t>
            </a:r>
            <a:endParaRPr lang="en-US" sz="1050" dirty="0"/>
          </a:p>
        </p:txBody>
      </p:sp>
      <p:sp>
        <p:nvSpPr>
          <p:cNvPr id="48" name="namearrow|b1"/>
          <p:cNvSpPr/>
          <p:nvPr/>
        </p:nvSpPr>
        <p:spPr>
          <a:xfrm>
            <a:off x="1280160" y="2935224"/>
            <a:ext cx="228600" cy="0"/>
          </a:xfrm>
          <a:prstGeom prst="line">
            <a:avLst/>
          </a:prstGeom>
          <a:noFill/>
          <a:ln w="25400">
            <a:solidFill>
              <a:srgbClr val="306998"/>
            </a:solidFill>
            <a:prstDash val="solid"/>
            <a:tailEnd type="triangle"/>
          </a:ln>
        </p:spPr>
      </p:sp>
      <p:sp>
        <p:nvSpPr>
          <p:cNvPr id="49" name="v:Copying:sc0t"/>
          <p:cNvSpPr txBox="1"/>
          <p:nvPr/>
        </p:nvSpPr>
        <p:spPr>
          <a:xfrm>
            <a:off x="5760720" y="1143000"/>
            <a:ext cx="3017520" cy="237744"/>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alibri" pitchFamily="34" charset="0"/>
                <a:ea typeface="Calibri" pitchFamily="34" charset="-122"/>
                <a:cs typeface="Calibri" pitchFamily="34" charset="-120"/>
              </a:rPr>
              <a:t>a flat list: the copy is independent</a:t>
            </a:r>
            <a:endParaRPr lang="en-US" sz="1200" dirty="0"/>
          </a:p>
        </p:txBody>
      </p:sp>
      <p:sp>
        <p:nvSpPr>
          <p:cNvPr id="50" name="v:Copying:g0.2.c|b3"/>
          <p:cNvSpPr txBox="1"/>
          <p:nvPr/>
        </p:nvSpPr>
        <p:spPr>
          <a:xfrm>
            <a:off x="5760720" y="1417320"/>
            <a:ext cx="3017520" cy="237744"/>
          </a:xfrm>
          <a:prstGeom prst="rect">
            <a:avLst/>
          </a:prstGeom>
          <a:noFill/>
          <a:ln/>
        </p:spPr>
        <p:txBody>
          <a:bodyPr wrap="square" lIns="0" tIns="0" rIns="0" bIns="0" rtlCol="0" anchor="ctr"/>
          <a:lstStyle/>
          <a:p>
            <a:pPr indent="0" marL="0">
              <a:buNone/>
            </a:pPr>
            <a:r>
              <a:rPr lang="en-US" sz="1100" b="1" dirty="0">
                <a:solidFill>
                  <a:srgbClr val="1E2A3A"/>
                </a:solidFill>
                <a:latin typeface="Courier New" pitchFamily="34" charset="0"/>
                <a:ea typeface="Courier New" pitchFamily="34" charset="-122"/>
                <a:cs typeface="Courier New" pitchFamily="34" charset="-120"/>
              </a:rPr>
              <a:t>cheese[1] = 42</a:t>
            </a:r>
            <a:endParaRPr lang="en-US" sz="1100" dirty="0"/>
          </a:p>
        </p:txBody>
      </p:sp>
      <p:sp>
        <p:nvSpPr>
          <p:cNvPr id="51" name="v:Copying:g0.2.o1i0:box|b3"/>
          <p:cNvSpPr/>
          <p:nvPr/>
        </p:nvSpPr>
        <p:spPr>
          <a:xfrm>
            <a:off x="6903720" y="1783080"/>
            <a:ext cx="384048" cy="310896"/>
          </a:xfrm>
          <a:prstGeom prst="roundRect">
            <a:avLst>
              <a:gd name="adj" fmla="val 11765"/>
            </a:avLst>
          </a:prstGeom>
          <a:solidFill>
            <a:srgbClr val="E3EEF8"/>
          </a:solidFill>
          <a:ln w="19050">
            <a:solidFill>
              <a:srgbClr val="306998"/>
            </a:solidFill>
            <a:prstDash val="solid"/>
          </a:ln>
        </p:spPr>
      </p:sp>
      <p:sp>
        <p:nvSpPr>
          <p:cNvPr id="52" name="v:Copying:g0.2.o1i0|b3"/>
          <p:cNvSpPr txBox="1"/>
          <p:nvPr/>
        </p:nvSpPr>
        <p:spPr>
          <a:xfrm>
            <a:off x="6912864"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'A'</a:t>
            </a:r>
            <a:endParaRPr lang="en-US" sz="1050" dirty="0"/>
          </a:p>
        </p:txBody>
      </p:sp>
      <p:sp>
        <p:nvSpPr>
          <p:cNvPr id="53" name="v:Copying:g0.2.o1i1:box|b3"/>
          <p:cNvSpPr/>
          <p:nvPr/>
        </p:nvSpPr>
        <p:spPr>
          <a:xfrm>
            <a:off x="7324344" y="1783080"/>
            <a:ext cx="384048" cy="310896"/>
          </a:xfrm>
          <a:prstGeom prst="roundRect">
            <a:avLst>
              <a:gd name="adj" fmla="val 11765"/>
            </a:avLst>
          </a:prstGeom>
          <a:solidFill>
            <a:srgbClr val="E3EEF8"/>
          </a:solidFill>
          <a:ln w="19050">
            <a:solidFill>
              <a:srgbClr val="306998"/>
            </a:solidFill>
            <a:prstDash val="solid"/>
          </a:ln>
        </p:spPr>
      </p:sp>
      <p:sp>
        <p:nvSpPr>
          <p:cNvPr id="54" name="v:Copying:g0.2.o1i1|b3"/>
          <p:cNvSpPr txBox="1"/>
          <p:nvPr/>
        </p:nvSpPr>
        <p:spPr>
          <a:xfrm>
            <a:off x="7333488"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'B'</a:t>
            </a:r>
            <a:endParaRPr lang="en-US" sz="1050" dirty="0"/>
          </a:p>
        </p:txBody>
      </p:sp>
      <p:sp>
        <p:nvSpPr>
          <p:cNvPr id="55" name="v:Copying:g0.2.o1i2:box|b3"/>
          <p:cNvSpPr/>
          <p:nvPr/>
        </p:nvSpPr>
        <p:spPr>
          <a:xfrm>
            <a:off x="7744968" y="1783080"/>
            <a:ext cx="384048" cy="310896"/>
          </a:xfrm>
          <a:prstGeom prst="roundRect">
            <a:avLst>
              <a:gd name="adj" fmla="val 11765"/>
            </a:avLst>
          </a:prstGeom>
          <a:solidFill>
            <a:srgbClr val="E3EEF8"/>
          </a:solidFill>
          <a:ln w="19050">
            <a:solidFill>
              <a:srgbClr val="306998"/>
            </a:solidFill>
            <a:prstDash val="solid"/>
          </a:ln>
        </p:spPr>
      </p:sp>
      <p:sp>
        <p:nvSpPr>
          <p:cNvPr id="56" name="v:Copying:g0.2.o1i2|b3"/>
          <p:cNvSpPr txBox="1"/>
          <p:nvPr/>
        </p:nvSpPr>
        <p:spPr>
          <a:xfrm>
            <a:off x="7754112" y="1783080"/>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'C'</a:t>
            </a:r>
            <a:endParaRPr lang="en-US" sz="1050" dirty="0"/>
          </a:p>
        </p:txBody>
      </p:sp>
      <p:sp>
        <p:nvSpPr>
          <p:cNvPr id="57" name="v:Copying:g0.2.o2i0:box|b3"/>
          <p:cNvSpPr/>
          <p:nvPr/>
        </p:nvSpPr>
        <p:spPr>
          <a:xfrm>
            <a:off x="6903720" y="2295144"/>
            <a:ext cx="384048" cy="310896"/>
          </a:xfrm>
          <a:prstGeom prst="roundRect">
            <a:avLst>
              <a:gd name="adj" fmla="val 11765"/>
            </a:avLst>
          </a:prstGeom>
          <a:solidFill>
            <a:srgbClr val="E3EEF8"/>
          </a:solidFill>
          <a:ln w="19050">
            <a:solidFill>
              <a:srgbClr val="306998"/>
            </a:solidFill>
            <a:prstDash val="solid"/>
          </a:ln>
        </p:spPr>
      </p:sp>
      <p:sp>
        <p:nvSpPr>
          <p:cNvPr id="58" name="v:Copying:g0.2.o2i0|b3"/>
          <p:cNvSpPr txBox="1"/>
          <p:nvPr/>
        </p:nvSpPr>
        <p:spPr>
          <a:xfrm>
            <a:off x="6912864" y="2295144"/>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'A'</a:t>
            </a:r>
            <a:endParaRPr lang="en-US" sz="1050" dirty="0"/>
          </a:p>
        </p:txBody>
      </p:sp>
      <p:sp>
        <p:nvSpPr>
          <p:cNvPr id="59" name="v:Copying:g0.2.o2i1:box|b3"/>
          <p:cNvSpPr/>
          <p:nvPr/>
        </p:nvSpPr>
        <p:spPr>
          <a:xfrm>
            <a:off x="7324344" y="2295144"/>
            <a:ext cx="384048" cy="310896"/>
          </a:xfrm>
          <a:prstGeom prst="roundRect">
            <a:avLst>
              <a:gd name="adj" fmla="val 11765"/>
            </a:avLst>
          </a:prstGeom>
          <a:solidFill>
            <a:srgbClr val="E3EEF8"/>
          </a:solidFill>
          <a:ln w="19050">
            <a:solidFill>
              <a:srgbClr val="306998"/>
            </a:solidFill>
            <a:prstDash val="solid"/>
          </a:ln>
        </p:spPr>
      </p:sp>
      <p:sp>
        <p:nvSpPr>
          <p:cNvPr id="60" name="v:Copying:g0.2.o2i1|b3"/>
          <p:cNvSpPr txBox="1"/>
          <p:nvPr/>
        </p:nvSpPr>
        <p:spPr>
          <a:xfrm>
            <a:off x="7333488" y="2295144"/>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42</a:t>
            </a:r>
            <a:endParaRPr lang="en-US" sz="1050" dirty="0"/>
          </a:p>
        </p:txBody>
      </p:sp>
      <p:sp>
        <p:nvSpPr>
          <p:cNvPr id="61" name="v:Copying:g0.2.o2i2:box|b3"/>
          <p:cNvSpPr/>
          <p:nvPr/>
        </p:nvSpPr>
        <p:spPr>
          <a:xfrm>
            <a:off x="7744968" y="2295144"/>
            <a:ext cx="384048" cy="310896"/>
          </a:xfrm>
          <a:prstGeom prst="roundRect">
            <a:avLst>
              <a:gd name="adj" fmla="val 11765"/>
            </a:avLst>
          </a:prstGeom>
          <a:solidFill>
            <a:srgbClr val="E3EEF8"/>
          </a:solidFill>
          <a:ln w="19050">
            <a:solidFill>
              <a:srgbClr val="306998"/>
            </a:solidFill>
            <a:prstDash val="solid"/>
          </a:ln>
        </p:spPr>
      </p:sp>
      <p:sp>
        <p:nvSpPr>
          <p:cNvPr id="62" name="v:Copying:g0.2.o2i2|b3"/>
          <p:cNvSpPr txBox="1"/>
          <p:nvPr/>
        </p:nvSpPr>
        <p:spPr>
          <a:xfrm>
            <a:off x="7754112" y="2295144"/>
            <a:ext cx="365760"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'C'</a:t>
            </a:r>
            <a:endParaRPr lang="en-US" sz="1050" dirty="0"/>
          </a:p>
        </p:txBody>
      </p:sp>
      <p:sp>
        <p:nvSpPr>
          <p:cNvPr id="63" name="v:Copying:g0.2.n.spam:box|b3"/>
          <p:cNvSpPr/>
          <p:nvPr/>
        </p:nvSpPr>
        <p:spPr>
          <a:xfrm>
            <a:off x="5760720" y="1819656"/>
            <a:ext cx="914400" cy="237744"/>
          </a:xfrm>
          <a:prstGeom prst="roundRect">
            <a:avLst>
              <a:gd name="adj" fmla="val 30769"/>
            </a:avLst>
          </a:prstGeom>
          <a:solidFill>
            <a:srgbClr val="FFFFFF"/>
          </a:solidFill>
          <a:ln w="19050">
            <a:solidFill>
              <a:srgbClr val="306998"/>
            </a:solidFill>
            <a:prstDash val="solid"/>
          </a:ln>
        </p:spPr>
      </p:sp>
      <p:sp>
        <p:nvSpPr>
          <p:cNvPr id="64" name="v:Copying:g0.2.n.spam|b3"/>
          <p:cNvSpPr txBox="1"/>
          <p:nvPr/>
        </p:nvSpPr>
        <p:spPr>
          <a:xfrm>
            <a:off x="5760720" y="1819656"/>
            <a:ext cx="91440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spam</a:t>
            </a:r>
            <a:endParaRPr lang="en-US" sz="1050" dirty="0"/>
          </a:p>
        </p:txBody>
      </p:sp>
      <p:sp>
        <p:nvSpPr>
          <p:cNvPr id="65" name="namearrow|b3"/>
          <p:cNvSpPr/>
          <p:nvPr/>
        </p:nvSpPr>
        <p:spPr>
          <a:xfrm>
            <a:off x="6675120" y="1938528"/>
            <a:ext cx="228600" cy="0"/>
          </a:xfrm>
          <a:prstGeom prst="line">
            <a:avLst/>
          </a:prstGeom>
          <a:noFill/>
          <a:ln w="25400">
            <a:solidFill>
              <a:srgbClr val="306998"/>
            </a:solidFill>
            <a:prstDash val="solid"/>
            <a:tailEnd type="triangle"/>
          </a:ln>
        </p:spPr>
      </p:sp>
      <p:sp>
        <p:nvSpPr>
          <p:cNvPr id="66" name="v:Copying:g0.2.n.cheese:box|b3"/>
          <p:cNvSpPr/>
          <p:nvPr/>
        </p:nvSpPr>
        <p:spPr>
          <a:xfrm>
            <a:off x="5760720" y="2331720"/>
            <a:ext cx="914400" cy="237744"/>
          </a:xfrm>
          <a:prstGeom prst="roundRect">
            <a:avLst>
              <a:gd name="adj" fmla="val 30769"/>
            </a:avLst>
          </a:prstGeom>
          <a:solidFill>
            <a:srgbClr val="FFFFFF"/>
          </a:solidFill>
          <a:ln w="19050">
            <a:solidFill>
              <a:srgbClr val="306998"/>
            </a:solidFill>
            <a:prstDash val="solid"/>
          </a:ln>
        </p:spPr>
      </p:sp>
      <p:sp>
        <p:nvSpPr>
          <p:cNvPr id="67" name="v:Copying:g0.2.n.cheese|b3"/>
          <p:cNvSpPr txBox="1"/>
          <p:nvPr/>
        </p:nvSpPr>
        <p:spPr>
          <a:xfrm>
            <a:off x="5760720" y="2331720"/>
            <a:ext cx="91440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cheese</a:t>
            </a:r>
            <a:endParaRPr lang="en-US" sz="1050" dirty="0"/>
          </a:p>
        </p:txBody>
      </p:sp>
      <p:sp>
        <p:nvSpPr>
          <p:cNvPr id="68" name="namearrow|b3"/>
          <p:cNvSpPr/>
          <p:nvPr/>
        </p:nvSpPr>
        <p:spPr>
          <a:xfrm>
            <a:off x="6675120" y="2450592"/>
            <a:ext cx="228600" cy="0"/>
          </a:xfrm>
          <a:prstGeom prst="line">
            <a:avLst/>
          </a:prstGeom>
          <a:noFill/>
          <a:ln w="25400">
            <a:solidFill>
              <a:srgbClr val="306998"/>
            </a:solidFill>
            <a:prstDash val="solid"/>
            <a:tailEnd type="triangle"/>
          </a:ln>
        </p:spPr>
      </p:sp>
      <p:sp>
        <p:nvSpPr>
          <p:cNvPr id="69" name="codecardbox|b4"/>
          <p:cNvSpPr/>
          <p:nvPr/>
        </p:nvSpPr>
        <p:spPr>
          <a:xfrm>
            <a:off x="365760" y="3529584"/>
            <a:ext cx="8412480" cy="1115568"/>
          </a:xfrm>
          <a:prstGeom prst="roundRect">
            <a:avLst>
              <a:gd name="adj" fmla="val 8197"/>
            </a:avLst>
          </a:prstGeom>
          <a:solidFill>
            <a:srgbClr val="17202B"/>
          </a:solidFill>
          <a:ln w="12700">
            <a:solidFill>
              <a:srgbClr val="17202B"/>
            </a:solidFill>
            <a:prstDash val="solid"/>
          </a:ln>
        </p:spPr>
      </p:sp>
      <p:sp>
        <p:nvSpPr>
          <p:cNvPr id="70" name="codecard|b4"/>
          <p:cNvSpPr txBox="1"/>
          <p:nvPr/>
        </p:nvSpPr>
        <p:spPr>
          <a:xfrm>
            <a:off x="530352" y="3602736"/>
            <a:ext cx="8083296" cy="969264"/>
          </a:xfrm>
          <a:prstGeom prst="rect">
            <a:avLst/>
          </a:prstGeom>
          <a:noFill/>
          <a:ln/>
        </p:spPr>
        <p:txBody>
          <a:bodyPr wrap="square" lIns="0" tIns="0" rIns="0" bIns="0" rtlCol="0" anchor="t"/>
          <a:lstStyle/>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import copy</a:t>
            </a:r>
            <a:endParaRPr lang="en-US" sz="950" dirty="0"/>
          </a:p>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nested = [[1, 2], [3]]</a:t>
            </a:r>
            <a:endParaRPr lang="en-US" sz="950" dirty="0"/>
          </a:p>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shallow = copy.copy(nested)</a:t>
            </a:r>
            <a:endParaRPr lang="en-US" sz="950" dirty="0"/>
          </a:p>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deep = copy.deepcopy(nested)</a:t>
            </a:r>
            <a:endParaRPr lang="en-US" sz="950" dirty="0"/>
          </a:p>
          <a:p>
            <a:pPr indent="0" marL="0">
              <a:spcAft>
                <a:spcPts val="100"/>
              </a:spcAft>
              <a:buNone/>
            </a:pPr>
            <a:r>
              <a:rPr lang="en-US" sz="950" b="1" dirty="0">
                <a:solidFill>
                  <a:srgbClr val="FFD43B"/>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(shallow[0] is nested[0], deep[0] is nested[0])</a:t>
            </a:r>
            <a:endParaRPr lang="en-US" sz="950" dirty="0"/>
          </a:p>
          <a:p>
            <a:pPr indent="0" marL="0">
              <a:spcAft>
                <a:spcPts val="100"/>
              </a:spcAft>
              <a:buNone/>
            </a:pPr>
            <a:r>
              <a:rPr lang="en-US" sz="950" dirty="0">
                <a:solidFill>
                  <a:srgbClr val="7EE787"/>
                </a:solidFill>
                <a:latin typeface="Courier New" pitchFamily="34" charset="0"/>
                <a:ea typeface="Courier New" pitchFamily="34" charset="-122"/>
                <a:cs typeface="Courier New" pitchFamily="34" charset="-120"/>
              </a:rPr>
              <a:t>(True, False)</a:t>
            </a:r>
            <a:endParaRPr lang="en-US" sz="950" dirty="0"/>
          </a:p>
        </p:txBody>
      </p:sp>
      <p:sp>
        <p:nvSpPr>
          <p:cNvPr id="71"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72"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73"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Sequences and references ▸ Shallow copy, Deep copy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copy.html" history="1" highlightClick="0" endSnd="0">
                  <a:extLst>
                    <a:ext uri="{A12FA001-AC4F-418D-AE19-62706E023703}">
                      <ahyp:hlinkClr xmlns:ahyp="http://schemas.microsoft.com/office/drawing/2018/hyperlinkcolor" val="tx"/>
                    </a:ext>
                  </a:extLst>
                </a:hlinkClick>
              </a:rPr>
              <a:t>copy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9" fill="hold">
                      <p:stCondLst>
                        <p:cond delay="indefinite"/>
                      </p:stCondLst>
                      <p:childTnLst>
                        <p:par>
                          <p:cTn id="13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par>
                                <p:cTn id="9" presetID="10"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par>
                                <p:cTn id="12" presetID="10"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00"/>
                                        <p:tgtEl>
                                          <p:spTgt spid="10"/>
                                        </p:tgtEl>
                                      </p:cBhvr>
                                    </p:animEffect>
                                  </p:childTnLst>
                                </p:cTn>
                              </p:par>
                              <p:par>
                                <p:cTn id="15" presetID="10"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00"/>
                                        <p:tgtEl>
                                          <p:spTgt spid="12"/>
                                        </p:tgtEl>
                                      </p:cBhvr>
                                    </p:animEffect>
                                  </p:childTnLst>
                                </p:cTn>
                              </p:par>
                              <p:par>
                                <p:cTn id="21" presetID="10"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400"/>
                                        <p:tgtEl>
                                          <p:spTgt spid="13"/>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400"/>
                                        <p:tgtEl>
                                          <p:spTgt spid="14"/>
                                        </p:tgtEl>
                                      </p:cBhvr>
                                    </p:animEffect>
                                  </p:childTnLst>
                                </p:cTn>
                              </p:par>
                              <p:par>
                                <p:cTn id="27" presetID="10"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par>
                                <p:cTn id="30" presetID="10" presetClass="entr" presetSubtype="0" fill="hold"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00"/>
                                        <p:tgtEl>
                                          <p:spTgt spid="16"/>
                                        </p:tgtEl>
                                      </p:cBhvr>
                                    </p:animEffect>
                                  </p:childTnLst>
                                </p:cTn>
                              </p:par>
                              <p:par>
                                <p:cTn id="33" presetID="10"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par>
                                <p:cTn id="36" presetID="10" presetClass="entr" presetSubtype="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00"/>
                                        <p:tgtEl>
                                          <p:spTgt spid="18"/>
                                        </p:tgtEl>
                                      </p:cBhvr>
                                    </p:animEffect>
                                  </p:childTnLst>
                                </p:cTn>
                              </p:par>
                              <p:par>
                                <p:cTn id="39" presetID="10"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400"/>
                                        <p:tgtEl>
                                          <p:spTgt spid="19"/>
                                        </p:tgtEl>
                                      </p:cBhvr>
                                    </p:animEffect>
                                  </p:childTnLst>
                                </p:cTn>
                              </p:par>
                              <p:par>
                                <p:cTn id="42" presetID="10" presetClass="entr" presetSubtype="0" fill="hold"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400"/>
                                        <p:tgtEl>
                                          <p:spTgt spid="21"/>
                                        </p:tgtEl>
                                      </p:cBhvr>
                                    </p:animEffect>
                                  </p:childTnLst>
                                </p:cTn>
                              </p:par>
                              <p:par>
                                <p:cTn id="48" presetID="10" presetClass="entr" presetSubtype="0" fill="hold"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400"/>
                                        <p:tgtEl>
                                          <p:spTgt spid="22"/>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400"/>
                                        <p:tgtEl>
                                          <p:spTgt spid="23"/>
                                        </p:tgtEl>
                                      </p:cBhvr>
                                    </p:animEffect>
                                  </p:childTnLst>
                                </p:cTn>
                              </p:par>
                              <p:par>
                                <p:cTn id="54" presetID="10" presetClass="entr" presetSubtype="0" fill="hold"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400"/>
                                        <p:tgtEl>
                                          <p:spTgt spid="2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400"/>
                                        <p:tgtEl>
                                          <p:spTgt spid="25"/>
                                        </p:tgtEl>
                                      </p:cBhvr>
                                    </p:animEffect>
                                  </p:childTnLst>
                                </p:cTn>
                              </p:par>
                              <p:par>
                                <p:cTn id="60" presetID="10" presetClass="entr" presetSubtype="0" fill="hold" nodeType="with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400"/>
                                        <p:tgtEl>
                                          <p:spTgt spid="2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400"/>
                                        <p:tgtEl>
                                          <p:spTgt spid="27"/>
                                        </p:tgtEl>
                                      </p:cBhvr>
                                    </p:animEffect>
                                  </p:childTnLst>
                                </p:cTn>
                              </p:par>
                              <p:par>
                                <p:cTn id="66" presetID="10" presetClass="entr" presetSubtype="0" fill="hold"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400"/>
                                        <p:tgtEl>
                                          <p:spTgt spid="28"/>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9"/>
                                        </p:tgtEl>
                                        <p:attrNameLst>
                                          <p:attrName>style.visibility</p:attrName>
                                        </p:attrNameLst>
                                      </p:cBhvr>
                                      <p:to>
                                        <p:strVal val="visible"/>
                                      </p:to>
                                    </p:set>
                                    <p:animEffect transition="in" filter="fade">
                                      <p:cBhvr>
                                        <p:cTn id="71" dur="400"/>
                                        <p:tgtEl>
                                          <p:spTgt spid="29"/>
                                        </p:tgtEl>
                                      </p:cBhvr>
                                    </p:animEffect>
                                  </p:childTnLst>
                                </p:cTn>
                              </p:par>
                              <p:par>
                                <p:cTn id="72" presetID="10" presetClass="entr" presetSubtype="0" fill="hold" nodeType="withEffect">
                                  <p:stCondLst>
                                    <p:cond delay="0"/>
                                  </p:stCondLst>
                                  <p:childTnLst>
                                    <p:set>
                                      <p:cBhvr>
                                        <p:cTn id="73" dur="1" fill="hold">
                                          <p:stCondLst>
                                            <p:cond delay="0"/>
                                          </p:stCondLst>
                                        </p:cTn>
                                        <p:tgtEl>
                                          <p:spTgt spid="30"/>
                                        </p:tgtEl>
                                        <p:attrNameLst>
                                          <p:attrName>style.visibility</p:attrName>
                                        </p:attrNameLst>
                                      </p:cBhvr>
                                      <p:to>
                                        <p:strVal val="visible"/>
                                      </p:to>
                                    </p:set>
                                    <p:animEffect transition="in" filter="fade">
                                      <p:cBhvr>
                                        <p:cTn id="74" dur="400"/>
                                        <p:tgtEl>
                                          <p:spTgt spid="30"/>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1"/>
                                        </p:tgtEl>
                                        <p:attrNameLst>
                                          <p:attrName>style.visibility</p:attrName>
                                        </p:attrNameLst>
                                      </p:cBhvr>
                                      <p:to>
                                        <p:strVal val="visible"/>
                                      </p:to>
                                    </p:set>
                                    <p:animEffect transition="in" filter="fade">
                                      <p:cBhvr>
                                        <p:cTn id="77" dur="400"/>
                                        <p:tgtEl>
                                          <p:spTgt spid="31"/>
                                        </p:tgtEl>
                                      </p:cBhvr>
                                    </p:animEffect>
                                  </p:childTnLst>
                                </p:cTn>
                              </p:par>
                              <p:par>
                                <p:cTn id="78" presetID="10" presetClass="entr" presetSubtype="0" fill="hold" nodeType="withEffect">
                                  <p:stCondLst>
                                    <p:cond delay="0"/>
                                  </p:stCondLst>
                                  <p:childTnLst>
                                    <p:set>
                                      <p:cBhvr>
                                        <p:cTn id="79" dur="1" fill="hold">
                                          <p:stCondLst>
                                            <p:cond delay="0"/>
                                          </p:stCondLst>
                                        </p:cTn>
                                        <p:tgtEl>
                                          <p:spTgt spid="32"/>
                                        </p:tgtEl>
                                        <p:attrNameLst>
                                          <p:attrName>style.visibility</p:attrName>
                                        </p:attrNameLst>
                                      </p:cBhvr>
                                      <p:to>
                                        <p:strVal val="visible"/>
                                      </p:to>
                                    </p:set>
                                    <p:animEffect transition="in" filter="fade">
                                      <p:cBhvr>
                                        <p:cTn id="80" dur="400"/>
                                        <p:tgtEl>
                                          <p:spTgt spid="32"/>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3"/>
                                        </p:tgtEl>
                                        <p:attrNameLst>
                                          <p:attrName>style.visibility</p:attrName>
                                        </p:attrNameLst>
                                      </p:cBhvr>
                                      <p:to>
                                        <p:strVal val="visible"/>
                                      </p:to>
                                    </p:set>
                                    <p:animEffect transition="in" filter="fade">
                                      <p:cBhvr>
                                        <p:cTn id="83" dur="400"/>
                                        <p:tgtEl>
                                          <p:spTgt spid="33"/>
                                        </p:tgtEl>
                                      </p:cBhvr>
                                    </p:animEffect>
                                  </p:childTnLst>
                                </p:cTn>
                              </p:par>
                              <p:par>
                                <p:cTn id="84" presetID="10" presetClass="entr" presetSubtype="0" fill="hold" nodeType="withEffect">
                                  <p:stCondLst>
                                    <p:cond delay="0"/>
                                  </p:stCondLst>
                                  <p:childTnLst>
                                    <p:set>
                                      <p:cBhvr>
                                        <p:cTn id="85" dur="1" fill="hold">
                                          <p:stCondLst>
                                            <p:cond delay="0"/>
                                          </p:stCondLst>
                                        </p:cTn>
                                        <p:tgtEl>
                                          <p:spTgt spid="34"/>
                                        </p:tgtEl>
                                        <p:attrNameLst>
                                          <p:attrName>style.visibility</p:attrName>
                                        </p:attrNameLst>
                                      </p:cBhvr>
                                      <p:to>
                                        <p:strVal val="visible"/>
                                      </p:to>
                                    </p:set>
                                    <p:animEffect transition="in" filter="fade">
                                      <p:cBhvr>
                                        <p:cTn id="86" dur="400"/>
                                        <p:tgtEl>
                                          <p:spTgt spid="34"/>
                                        </p:tgtEl>
                                      </p:cBhvr>
                                    </p:animEffect>
                                  </p:childTnLst>
                                </p:cTn>
                              </p:par>
                              <p:par>
                                <p:cTn id="87" presetID="10" presetClass="entr" presetSubtype="0" fill="hold" nodeType="withEffect">
                                  <p:stCondLst>
                                    <p:cond delay="0"/>
                                  </p:stCondLst>
                                  <p:childTnLst>
                                    <p:set>
                                      <p:cBhvr>
                                        <p:cTn id="88" dur="1" fill="hold">
                                          <p:stCondLst>
                                            <p:cond delay="0"/>
                                          </p:stCondLst>
                                        </p:cTn>
                                        <p:tgtEl>
                                          <p:spTgt spid="35"/>
                                        </p:tgtEl>
                                        <p:attrNameLst>
                                          <p:attrName>style.visibility</p:attrName>
                                        </p:attrNameLst>
                                      </p:cBhvr>
                                      <p:to>
                                        <p:strVal val="visible"/>
                                      </p:to>
                                    </p:set>
                                    <p:animEffect transition="in" filter="fade">
                                      <p:cBhvr>
                                        <p:cTn id="89" dur="400"/>
                                        <p:tgtEl>
                                          <p:spTgt spid="35"/>
                                        </p:tgtEl>
                                      </p:cBhvr>
                                    </p:animEffect>
                                  </p:childTnLst>
                                </p:cTn>
                              </p:par>
                              <p:par>
                                <p:cTn id="90" presetID="10" presetClass="entr" presetSubtype="0" fill="hold" nodeType="withEffect">
                                  <p:stCondLst>
                                    <p:cond delay="0"/>
                                  </p:stCondLst>
                                  <p:childTnLst>
                                    <p:set>
                                      <p:cBhvr>
                                        <p:cTn id="91" dur="1" fill="hold">
                                          <p:stCondLst>
                                            <p:cond delay="0"/>
                                          </p:stCondLst>
                                        </p:cTn>
                                        <p:tgtEl>
                                          <p:spTgt spid="36"/>
                                        </p:tgtEl>
                                        <p:attrNameLst>
                                          <p:attrName>style.visibility</p:attrName>
                                        </p:attrNameLst>
                                      </p:cBhvr>
                                      <p:to>
                                        <p:strVal val="visible"/>
                                      </p:to>
                                    </p:set>
                                    <p:animEffect transition="in" filter="fade">
                                      <p:cBhvr>
                                        <p:cTn id="92" dur="400"/>
                                        <p:tgtEl>
                                          <p:spTgt spid="36"/>
                                        </p:tgtEl>
                                      </p:cBhvr>
                                    </p:animEffect>
                                  </p:childTnLst>
                                </p:cTn>
                              </p:par>
                              <p:par>
                                <p:cTn id="93" presetID="10" presetClass="entr" presetSubtype="0" fill="hold" nodeType="withEffect">
                                  <p:stCondLst>
                                    <p:cond delay="0"/>
                                  </p:stCondLst>
                                  <p:childTnLst>
                                    <p:set>
                                      <p:cBhvr>
                                        <p:cTn id="94" dur="1" fill="hold">
                                          <p:stCondLst>
                                            <p:cond delay="0"/>
                                          </p:stCondLst>
                                        </p:cTn>
                                        <p:tgtEl>
                                          <p:spTgt spid="37"/>
                                        </p:tgtEl>
                                        <p:attrNameLst>
                                          <p:attrName>style.visibility</p:attrName>
                                        </p:attrNameLst>
                                      </p:cBhvr>
                                      <p:to>
                                        <p:strVal val="visible"/>
                                      </p:to>
                                    </p:set>
                                    <p:animEffect transition="in" filter="fade">
                                      <p:cBhvr>
                                        <p:cTn id="95" dur="400"/>
                                        <p:tgtEl>
                                          <p:spTgt spid="37"/>
                                        </p:tgtEl>
                                      </p:cBhvr>
                                    </p:animEffect>
                                  </p:childTnLst>
                                </p:cTn>
                              </p:par>
                              <p:par>
                                <p:cTn id="96" presetID="10" presetClass="entr" presetSubtype="0" fill="hold" nodeType="withEffect">
                                  <p:stCondLst>
                                    <p:cond delay="0"/>
                                  </p:stCondLst>
                                  <p:childTnLst>
                                    <p:set>
                                      <p:cBhvr>
                                        <p:cTn id="97" dur="1" fill="hold">
                                          <p:stCondLst>
                                            <p:cond delay="0"/>
                                          </p:stCondLst>
                                        </p:cTn>
                                        <p:tgtEl>
                                          <p:spTgt spid="38"/>
                                        </p:tgtEl>
                                        <p:attrNameLst>
                                          <p:attrName>style.visibility</p:attrName>
                                        </p:attrNameLst>
                                      </p:cBhvr>
                                      <p:to>
                                        <p:strVal val="visible"/>
                                      </p:to>
                                    </p:set>
                                    <p:animEffect transition="in" filter="fade">
                                      <p:cBhvr>
                                        <p:cTn id="98" dur="400"/>
                                        <p:tgtEl>
                                          <p:spTgt spid="38"/>
                                        </p:tgtEl>
                                      </p:cBhvr>
                                    </p:animEffect>
                                  </p:childTnLst>
                                </p:cTn>
                              </p:par>
                              <p:par>
                                <p:cTn id="99" presetID="10" presetClass="entr" presetSubtype="0" fill="hold" nodeType="withEffect">
                                  <p:stCondLst>
                                    <p:cond delay="0"/>
                                  </p:stCondLst>
                                  <p:childTnLst>
                                    <p:set>
                                      <p:cBhvr>
                                        <p:cTn id="100" dur="1" fill="hold">
                                          <p:stCondLst>
                                            <p:cond delay="0"/>
                                          </p:stCondLst>
                                        </p:cTn>
                                        <p:tgtEl>
                                          <p:spTgt spid="39"/>
                                        </p:tgtEl>
                                        <p:attrNameLst>
                                          <p:attrName>style.visibility</p:attrName>
                                        </p:attrNameLst>
                                      </p:cBhvr>
                                      <p:to>
                                        <p:strVal val="visible"/>
                                      </p:to>
                                    </p:set>
                                    <p:animEffect transition="in" filter="fade">
                                      <p:cBhvr>
                                        <p:cTn id="101" dur="400"/>
                                        <p:tgtEl>
                                          <p:spTgt spid="39"/>
                                        </p:tgtEl>
                                      </p:cBhvr>
                                    </p:animEffect>
                                  </p:childTnLst>
                                </p:cTn>
                              </p:par>
                              <p:par>
                                <p:cTn id="102" presetID="10" presetClass="entr" presetSubtype="0" fill="hold" nodeType="withEffect">
                                  <p:stCondLst>
                                    <p:cond delay="0"/>
                                  </p:stCondLst>
                                  <p:childTnLst>
                                    <p:set>
                                      <p:cBhvr>
                                        <p:cTn id="103" dur="1" fill="hold">
                                          <p:stCondLst>
                                            <p:cond delay="0"/>
                                          </p:stCondLst>
                                        </p:cTn>
                                        <p:tgtEl>
                                          <p:spTgt spid="40"/>
                                        </p:tgtEl>
                                        <p:attrNameLst>
                                          <p:attrName>style.visibility</p:attrName>
                                        </p:attrNameLst>
                                      </p:cBhvr>
                                      <p:to>
                                        <p:strVal val="visible"/>
                                      </p:to>
                                    </p:set>
                                    <p:animEffect transition="in" filter="fade">
                                      <p:cBhvr>
                                        <p:cTn id="104" dur="400"/>
                                        <p:tgtEl>
                                          <p:spTgt spid="40"/>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41"/>
                                        </p:tgtEl>
                                        <p:attrNameLst>
                                          <p:attrName>style.visibility</p:attrName>
                                        </p:attrNameLst>
                                      </p:cBhvr>
                                      <p:to>
                                        <p:strVal val="visible"/>
                                      </p:to>
                                    </p:set>
                                    <p:animEffect transition="in" filter="fade">
                                      <p:cBhvr>
                                        <p:cTn id="107" dur="400"/>
                                        <p:tgtEl>
                                          <p:spTgt spid="41"/>
                                        </p:tgtEl>
                                      </p:cBhvr>
                                    </p:animEffect>
                                  </p:childTnLst>
                                </p:cTn>
                              </p:par>
                              <p:par>
                                <p:cTn id="108" presetID="10" presetClass="entr" presetSubtype="0" fill="hold" nodeType="withEffect">
                                  <p:stCondLst>
                                    <p:cond delay="0"/>
                                  </p:stCondLst>
                                  <p:childTnLst>
                                    <p:set>
                                      <p:cBhvr>
                                        <p:cTn id="109" dur="1" fill="hold">
                                          <p:stCondLst>
                                            <p:cond delay="0"/>
                                          </p:stCondLst>
                                        </p:cTn>
                                        <p:tgtEl>
                                          <p:spTgt spid="42"/>
                                        </p:tgtEl>
                                        <p:attrNameLst>
                                          <p:attrName>style.visibility</p:attrName>
                                        </p:attrNameLst>
                                      </p:cBhvr>
                                      <p:to>
                                        <p:strVal val="visible"/>
                                      </p:to>
                                    </p:set>
                                    <p:animEffect transition="in" filter="fade">
                                      <p:cBhvr>
                                        <p:cTn id="110" dur="400"/>
                                        <p:tgtEl>
                                          <p:spTgt spid="42"/>
                                        </p:tgtEl>
                                      </p:cBhvr>
                                    </p:animEffect>
                                  </p:childTnLst>
                                </p:cTn>
                              </p:par>
                              <p:par>
                                <p:cTn id="111" presetID="10" presetClass="entr" presetSubtype="0" fill="hold" nodeType="withEffect">
                                  <p:stCondLst>
                                    <p:cond delay="0"/>
                                  </p:stCondLst>
                                  <p:childTnLst>
                                    <p:set>
                                      <p:cBhvr>
                                        <p:cTn id="112" dur="1" fill="hold">
                                          <p:stCondLst>
                                            <p:cond delay="0"/>
                                          </p:stCondLst>
                                        </p:cTn>
                                        <p:tgtEl>
                                          <p:spTgt spid="43"/>
                                        </p:tgtEl>
                                        <p:attrNameLst>
                                          <p:attrName>style.visibility</p:attrName>
                                        </p:attrNameLst>
                                      </p:cBhvr>
                                      <p:to>
                                        <p:strVal val="visible"/>
                                      </p:to>
                                    </p:set>
                                    <p:animEffect transition="in" filter="fade">
                                      <p:cBhvr>
                                        <p:cTn id="113" dur="400"/>
                                        <p:tgtEl>
                                          <p:spTgt spid="43"/>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4"/>
                                        </p:tgtEl>
                                        <p:attrNameLst>
                                          <p:attrName>style.visibility</p:attrName>
                                        </p:attrNameLst>
                                      </p:cBhvr>
                                      <p:to>
                                        <p:strVal val="visible"/>
                                      </p:to>
                                    </p:set>
                                    <p:animEffect transition="in" filter="fade">
                                      <p:cBhvr>
                                        <p:cTn id="116" dur="400"/>
                                        <p:tgtEl>
                                          <p:spTgt spid="44"/>
                                        </p:tgtEl>
                                      </p:cBhvr>
                                    </p:animEffect>
                                  </p:childTnLst>
                                </p:cTn>
                              </p:par>
                              <p:par>
                                <p:cTn id="117" presetID="10" presetClass="entr" presetSubtype="0" fill="hold" nodeType="withEffect">
                                  <p:stCondLst>
                                    <p:cond delay="0"/>
                                  </p:stCondLst>
                                  <p:childTnLst>
                                    <p:set>
                                      <p:cBhvr>
                                        <p:cTn id="118" dur="1" fill="hold">
                                          <p:stCondLst>
                                            <p:cond delay="0"/>
                                          </p:stCondLst>
                                        </p:cTn>
                                        <p:tgtEl>
                                          <p:spTgt spid="45"/>
                                        </p:tgtEl>
                                        <p:attrNameLst>
                                          <p:attrName>style.visibility</p:attrName>
                                        </p:attrNameLst>
                                      </p:cBhvr>
                                      <p:to>
                                        <p:strVal val="visible"/>
                                      </p:to>
                                    </p:set>
                                    <p:animEffect transition="in" filter="fade">
                                      <p:cBhvr>
                                        <p:cTn id="119" dur="400"/>
                                        <p:tgtEl>
                                          <p:spTgt spid="45"/>
                                        </p:tgtEl>
                                      </p:cBhvr>
                                    </p:animEffect>
                                  </p:childTnLst>
                                </p:cTn>
                              </p:par>
                              <p:par>
                                <p:cTn id="120" presetID="10" presetClass="entr" presetSubtype="0" fill="hold" nodeType="withEffect">
                                  <p:stCondLst>
                                    <p:cond delay="0"/>
                                  </p:stCondLst>
                                  <p:childTnLst>
                                    <p:set>
                                      <p:cBhvr>
                                        <p:cTn id="121" dur="1" fill="hold">
                                          <p:stCondLst>
                                            <p:cond delay="0"/>
                                          </p:stCondLst>
                                        </p:cTn>
                                        <p:tgtEl>
                                          <p:spTgt spid="46"/>
                                        </p:tgtEl>
                                        <p:attrNameLst>
                                          <p:attrName>style.visibility</p:attrName>
                                        </p:attrNameLst>
                                      </p:cBhvr>
                                      <p:to>
                                        <p:strVal val="visible"/>
                                      </p:to>
                                    </p:set>
                                    <p:animEffect transition="in" filter="fade">
                                      <p:cBhvr>
                                        <p:cTn id="122" dur="400"/>
                                        <p:tgtEl>
                                          <p:spTgt spid="46"/>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7"/>
                                        </p:tgtEl>
                                        <p:attrNameLst>
                                          <p:attrName>style.visibility</p:attrName>
                                        </p:attrNameLst>
                                      </p:cBhvr>
                                      <p:to>
                                        <p:strVal val="visible"/>
                                      </p:to>
                                    </p:set>
                                    <p:animEffect transition="in" filter="fade">
                                      <p:cBhvr>
                                        <p:cTn id="125" dur="400"/>
                                        <p:tgtEl>
                                          <p:spTgt spid="47"/>
                                        </p:tgtEl>
                                      </p:cBhvr>
                                    </p:animEffect>
                                  </p:childTnLst>
                                </p:cTn>
                              </p:par>
                              <p:par>
                                <p:cTn id="126" presetID="10" presetClass="entr" presetSubtype="0" fill="hold" nodeType="withEffect">
                                  <p:stCondLst>
                                    <p:cond delay="0"/>
                                  </p:stCondLst>
                                  <p:childTnLst>
                                    <p:set>
                                      <p:cBhvr>
                                        <p:cTn id="127" dur="1" fill="hold">
                                          <p:stCondLst>
                                            <p:cond delay="0"/>
                                          </p:stCondLst>
                                        </p:cTn>
                                        <p:tgtEl>
                                          <p:spTgt spid="48"/>
                                        </p:tgtEl>
                                        <p:attrNameLst>
                                          <p:attrName>style.visibility</p:attrName>
                                        </p:attrNameLst>
                                      </p:cBhvr>
                                      <p:to>
                                        <p:strVal val="visible"/>
                                      </p:to>
                                    </p:set>
                                    <p:animEffect transition="in" filter="fade">
                                      <p:cBhvr>
                                        <p:cTn id="128" dur="400"/>
                                        <p:tgtEl>
                                          <p:spTgt spid="48"/>
                                        </p:tgtEl>
                                      </p:cBhvr>
                                    </p:animEffect>
                                  </p:childTnLst>
                                </p:cTn>
                              </p:par>
                            </p:childTnLst>
                          </p:cTn>
                        </p:par>
                      </p:childTnLst>
                    </p:cTn>
                  </p:par>
                  <p:par>
                    <p:cTn id="188" fill="hold">
                      <p:stCondLst>
                        <p:cond delay="indefinite"/>
                      </p:stCondLst>
                      <p:childTnLst>
                        <p:par>
                          <p:cTn id="189" fill="hold">
                            <p:stCondLst>
                              <p:cond delay="0"/>
                            </p:stCondLst>
                            <p:childTnLst>
                              <p:par>
                                <p:cTn id="131" presetID="10" presetClass="entr" presetSubtype="0" fill="hold" grpId="0" nodeType="clickEffect">
                                  <p:stCondLst>
                                    <p:cond delay="0"/>
                                  </p:stCondLst>
                                  <p:childTnLst>
                                    <p:set>
                                      <p:cBhvr>
                                        <p:cTn id="132" dur="1" fill="hold">
                                          <p:stCondLst>
                                            <p:cond delay="0"/>
                                          </p:stCondLst>
                                        </p:cTn>
                                        <p:tgtEl>
                                          <p:spTgt spid="50"/>
                                        </p:tgtEl>
                                        <p:attrNameLst>
                                          <p:attrName>style.visibility</p:attrName>
                                        </p:attrNameLst>
                                      </p:cBhvr>
                                      <p:to>
                                        <p:strVal val="visible"/>
                                      </p:to>
                                    </p:set>
                                    <p:animEffect transition="in" filter="fade">
                                      <p:cBhvr>
                                        <p:cTn id="133" dur="400"/>
                                        <p:tgtEl>
                                          <p:spTgt spid="50"/>
                                        </p:tgtEl>
                                      </p:cBhvr>
                                    </p:animEffect>
                                  </p:childTnLst>
                                </p:cTn>
                              </p:par>
                              <p:par>
                                <p:cTn id="134" presetID="10" presetClass="entr" presetSubtype="0" fill="hold" nodeType="withEffect">
                                  <p:stCondLst>
                                    <p:cond delay="0"/>
                                  </p:stCondLst>
                                  <p:childTnLst>
                                    <p:set>
                                      <p:cBhvr>
                                        <p:cTn id="135" dur="1" fill="hold">
                                          <p:stCondLst>
                                            <p:cond delay="0"/>
                                          </p:stCondLst>
                                        </p:cTn>
                                        <p:tgtEl>
                                          <p:spTgt spid="51"/>
                                        </p:tgtEl>
                                        <p:attrNameLst>
                                          <p:attrName>style.visibility</p:attrName>
                                        </p:attrNameLst>
                                      </p:cBhvr>
                                      <p:to>
                                        <p:strVal val="visible"/>
                                      </p:to>
                                    </p:set>
                                    <p:animEffect transition="in" filter="fade">
                                      <p:cBhvr>
                                        <p:cTn id="136" dur="400"/>
                                        <p:tgtEl>
                                          <p:spTgt spid="51"/>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2"/>
                                        </p:tgtEl>
                                        <p:attrNameLst>
                                          <p:attrName>style.visibility</p:attrName>
                                        </p:attrNameLst>
                                      </p:cBhvr>
                                      <p:to>
                                        <p:strVal val="visible"/>
                                      </p:to>
                                    </p:set>
                                    <p:animEffect transition="in" filter="fade">
                                      <p:cBhvr>
                                        <p:cTn id="139" dur="400"/>
                                        <p:tgtEl>
                                          <p:spTgt spid="52"/>
                                        </p:tgtEl>
                                      </p:cBhvr>
                                    </p:animEffect>
                                  </p:childTnLst>
                                </p:cTn>
                              </p:par>
                              <p:par>
                                <p:cTn id="140" presetID="10" presetClass="entr" presetSubtype="0" fill="hold" nodeType="withEffect">
                                  <p:stCondLst>
                                    <p:cond delay="0"/>
                                  </p:stCondLst>
                                  <p:childTnLst>
                                    <p:set>
                                      <p:cBhvr>
                                        <p:cTn id="141" dur="1" fill="hold">
                                          <p:stCondLst>
                                            <p:cond delay="0"/>
                                          </p:stCondLst>
                                        </p:cTn>
                                        <p:tgtEl>
                                          <p:spTgt spid="53"/>
                                        </p:tgtEl>
                                        <p:attrNameLst>
                                          <p:attrName>style.visibility</p:attrName>
                                        </p:attrNameLst>
                                      </p:cBhvr>
                                      <p:to>
                                        <p:strVal val="visible"/>
                                      </p:to>
                                    </p:set>
                                    <p:animEffect transition="in" filter="fade">
                                      <p:cBhvr>
                                        <p:cTn id="142" dur="400"/>
                                        <p:tgtEl>
                                          <p:spTgt spid="53"/>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54"/>
                                        </p:tgtEl>
                                        <p:attrNameLst>
                                          <p:attrName>style.visibility</p:attrName>
                                        </p:attrNameLst>
                                      </p:cBhvr>
                                      <p:to>
                                        <p:strVal val="visible"/>
                                      </p:to>
                                    </p:set>
                                    <p:animEffect transition="in" filter="fade">
                                      <p:cBhvr>
                                        <p:cTn id="145" dur="400"/>
                                        <p:tgtEl>
                                          <p:spTgt spid="54"/>
                                        </p:tgtEl>
                                      </p:cBhvr>
                                    </p:animEffect>
                                  </p:childTnLst>
                                </p:cTn>
                              </p:par>
                              <p:par>
                                <p:cTn id="146" presetID="10" presetClass="entr" presetSubtype="0" fill="hold" nodeType="withEffect">
                                  <p:stCondLst>
                                    <p:cond delay="0"/>
                                  </p:stCondLst>
                                  <p:childTnLst>
                                    <p:set>
                                      <p:cBhvr>
                                        <p:cTn id="147" dur="1" fill="hold">
                                          <p:stCondLst>
                                            <p:cond delay="0"/>
                                          </p:stCondLst>
                                        </p:cTn>
                                        <p:tgtEl>
                                          <p:spTgt spid="55"/>
                                        </p:tgtEl>
                                        <p:attrNameLst>
                                          <p:attrName>style.visibility</p:attrName>
                                        </p:attrNameLst>
                                      </p:cBhvr>
                                      <p:to>
                                        <p:strVal val="visible"/>
                                      </p:to>
                                    </p:set>
                                    <p:animEffect transition="in" filter="fade">
                                      <p:cBhvr>
                                        <p:cTn id="148" dur="400"/>
                                        <p:tgtEl>
                                          <p:spTgt spid="55"/>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56"/>
                                        </p:tgtEl>
                                        <p:attrNameLst>
                                          <p:attrName>style.visibility</p:attrName>
                                        </p:attrNameLst>
                                      </p:cBhvr>
                                      <p:to>
                                        <p:strVal val="visible"/>
                                      </p:to>
                                    </p:set>
                                    <p:animEffect transition="in" filter="fade">
                                      <p:cBhvr>
                                        <p:cTn id="151" dur="400"/>
                                        <p:tgtEl>
                                          <p:spTgt spid="56"/>
                                        </p:tgtEl>
                                      </p:cBhvr>
                                    </p:animEffect>
                                  </p:childTnLst>
                                </p:cTn>
                              </p:par>
                              <p:par>
                                <p:cTn id="152" presetID="10" presetClass="entr" presetSubtype="0" fill="hold" nodeType="withEffect">
                                  <p:stCondLst>
                                    <p:cond delay="0"/>
                                  </p:stCondLst>
                                  <p:childTnLst>
                                    <p:set>
                                      <p:cBhvr>
                                        <p:cTn id="153" dur="1" fill="hold">
                                          <p:stCondLst>
                                            <p:cond delay="0"/>
                                          </p:stCondLst>
                                        </p:cTn>
                                        <p:tgtEl>
                                          <p:spTgt spid="57"/>
                                        </p:tgtEl>
                                        <p:attrNameLst>
                                          <p:attrName>style.visibility</p:attrName>
                                        </p:attrNameLst>
                                      </p:cBhvr>
                                      <p:to>
                                        <p:strVal val="visible"/>
                                      </p:to>
                                    </p:set>
                                    <p:animEffect transition="in" filter="fade">
                                      <p:cBhvr>
                                        <p:cTn id="154" dur="400"/>
                                        <p:tgtEl>
                                          <p:spTgt spid="57"/>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58"/>
                                        </p:tgtEl>
                                        <p:attrNameLst>
                                          <p:attrName>style.visibility</p:attrName>
                                        </p:attrNameLst>
                                      </p:cBhvr>
                                      <p:to>
                                        <p:strVal val="visible"/>
                                      </p:to>
                                    </p:set>
                                    <p:animEffect transition="in" filter="fade">
                                      <p:cBhvr>
                                        <p:cTn id="157" dur="400"/>
                                        <p:tgtEl>
                                          <p:spTgt spid="58"/>
                                        </p:tgtEl>
                                      </p:cBhvr>
                                    </p:animEffect>
                                  </p:childTnLst>
                                </p:cTn>
                              </p:par>
                              <p:par>
                                <p:cTn id="158" presetID="10" presetClass="entr" presetSubtype="0" fill="hold" nodeType="withEffect">
                                  <p:stCondLst>
                                    <p:cond delay="0"/>
                                  </p:stCondLst>
                                  <p:childTnLst>
                                    <p:set>
                                      <p:cBhvr>
                                        <p:cTn id="159" dur="1" fill="hold">
                                          <p:stCondLst>
                                            <p:cond delay="0"/>
                                          </p:stCondLst>
                                        </p:cTn>
                                        <p:tgtEl>
                                          <p:spTgt spid="59"/>
                                        </p:tgtEl>
                                        <p:attrNameLst>
                                          <p:attrName>style.visibility</p:attrName>
                                        </p:attrNameLst>
                                      </p:cBhvr>
                                      <p:to>
                                        <p:strVal val="visible"/>
                                      </p:to>
                                    </p:set>
                                    <p:animEffect transition="in" filter="fade">
                                      <p:cBhvr>
                                        <p:cTn id="160" dur="400"/>
                                        <p:tgtEl>
                                          <p:spTgt spid="59"/>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60"/>
                                        </p:tgtEl>
                                        <p:attrNameLst>
                                          <p:attrName>style.visibility</p:attrName>
                                        </p:attrNameLst>
                                      </p:cBhvr>
                                      <p:to>
                                        <p:strVal val="visible"/>
                                      </p:to>
                                    </p:set>
                                    <p:animEffect transition="in" filter="fade">
                                      <p:cBhvr>
                                        <p:cTn id="163" dur="400"/>
                                        <p:tgtEl>
                                          <p:spTgt spid="60"/>
                                        </p:tgtEl>
                                      </p:cBhvr>
                                    </p:animEffect>
                                  </p:childTnLst>
                                </p:cTn>
                              </p:par>
                              <p:par>
                                <p:cTn id="164" presetID="10" presetClass="entr" presetSubtype="0" fill="hold" nodeType="withEffect">
                                  <p:stCondLst>
                                    <p:cond delay="0"/>
                                  </p:stCondLst>
                                  <p:childTnLst>
                                    <p:set>
                                      <p:cBhvr>
                                        <p:cTn id="165" dur="1" fill="hold">
                                          <p:stCondLst>
                                            <p:cond delay="0"/>
                                          </p:stCondLst>
                                        </p:cTn>
                                        <p:tgtEl>
                                          <p:spTgt spid="61"/>
                                        </p:tgtEl>
                                        <p:attrNameLst>
                                          <p:attrName>style.visibility</p:attrName>
                                        </p:attrNameLst>
                                      </p:cBhvr>
                                      <p:to>
                                        <p:strVal val="visible"/>
                                      </p:to>
                                    </p:set>
                                    <p:animEffect transition="in" filter="fade">
                                      <p:cBhvr>
                                        <p:cTn id="166" dur="400"/>
                                        <p:tgtEl>
                                          <p:spTgt spid="61"/>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62"/>
                                        </p:tgtEl>
                                        <p:attrNameLst>
                                          <p:attrName>style.visibility</p:attrName>
                                        </p:attrNameLst>
                                      </p:cBhvr>
                                      <p:to>
                                        <p:strVal val="visible"/>
                                      </p:to>
                                    </p:set>
                                    <p:animEffect transition="in" filter="fade">
                                      <p:cBhvr>
                                        <p:cTn id="169" dur="400"/>
                                        <p:tgtEl>
                                          <p:spTgt spid="62"/>
                                        </p:tgtEl>
                                      </p:cBhvr>
                                    </p:animEffect>
                                  </p:childTnLst>
                                </p:cTn>
                              </p:par>
                              <p:par>
                                <p:cTn id="170" presetID="10" presetClass="entr" presetSubtype="0" fill="hold" nodeType="withEffect">
                                  <p:stCondLst>
                                    <p:cond delay="0"/>
                                  </p:stCondLst>
                                  <p:childTnLst>
                                    <p:set>
                                      <p:cBhvr>
                                        <p:cTn id="171" dur="1" fill="hold">
                                          <p:stCondLst>
                                            <p:cond delay="0"/>
                                          </p:stCondLst>
                                        </p:cTn>
                                        <p:tgtEl>
                                          <p:spTgt spid="63"/>
                                        </p:tgtEl>
                                        <p:attrNameLst>
                                          <p:attrName>style.visibility</p:attrName>
                                        </p:attrNameLst>
                                      </p:cBhvr>
                                      <p:to>
                                        <p:strVal val="visible"/>
                                      </p:to>
                                    </p:set>
                                    <p:animEffect transition="in" filter="fade">
                                      <p:cBhvr>
                                        <p:cTn id="172" dur="400"/>
                                        <p:tgtEl>
                                          <p:spTgt spid="63"/>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64"/>
                                        </p:tgtEl>
                                        <p:attrNameLst>
                                          <p:attrName>style.visibility</p:attrName>
                                        </p:attrNameLst>
                                      </p:cBhvr>
                                      <p:to>
                                        <p:strVal val="visible"/>
                                      </p:to>
                                    </p:set>
                                    <p:animEffect transition="in" filter="fade">
                                      <p:cBhvr>
                                        <p:cTn id="175" dur="400"/>
                                        <p:tgtEl>
                                          <p:spTgt spid="64"/>
                                        </p:tgtEl>
                                      </p:cBhvr>
                                    </p:animEffect>
                                  </p:childTnLst>
                                </p:cTn>
                              </p:par>
                              <p:par>
                                <p:cTn id="176" presetID="10" presetClass="entr" presetSubtype="0" fill="hold" nodeType="withEffect">
                                  <p:stCondLst>
                                    <p:cond delay="0"/>
                                  </p:stCondLst>
                                  <p:childTnLst>
                                    <p:set>
                                      <p:cBhvr>
                                        <p:cTn id="177" dur="1" fill="hold">
                                          <p:stCondLst>
                                            <p:cond delay="0"/>
                                          </p:stCondLst>
                                        </p:cTn>
                                        <p:tgtEl>
                                          <p:spTgt spid="65"/>
                                        </p:tgtEl>
                                        <p:attrNameLst>
                                          <p:attrName>style.visibility</p:attrName>
                                        </p:attrNameLst>
                                      </p:cBhvr>
                                      <p:to>
                                        <p:strVal val="visible"/>
                                      </p:to>
                                    </p:set>
                                    <p:animEffect transition="in" filter="fade">
                                      <p:cBhvr>
                                        <p:cTn id="178" dur="400"/>
                                        <p:tgtEl>
                                          <p:spTgt spid="65"/>
                                        </p:tgtEl>
                                      </p:cBhvr>
                                    </p:animEffect>
                                  </p:childTnLst>
                                </p:cTn>
                              </p:par>
                              <p:par>
                                <p:cTn id="179" presetID="10" presetClass="entr" presetSubtype="0" fill="hold" nodeType="withEffect">
                                  <p:stCondLst>
                                    <p:cond delay="0"/>
                                  </p:stCondLst>
                                  <p:childTnLst>
                                    <p:set>
                                      <p:cBhvr>
                                        <p:cTn id="180" dur="1" fill="hold">
                                          <p:stCondLst>
                                            <p:cond delay="0"/>
                                          </p:stCondLst>
                                        </p:cTn>
                                        <p:tgtEl>
                                          <p:spTgt spid="66"/>
                                        </p:tgtEl>
                                        <p:attrNameLst>
                                          <p:attrName>style.visibility</p:attrName>
                                        </p:attrNameLst>
                                      </p:cBhvr>
                                      <p:to>
                                        <p:strVal val="visible"/>
                                      </p:to>
                                    </p:set>
                                    <p:animEffect transition="in" filter="fade">
                                      <p:cBhvr>
                                        <p:cTn id="181" dur="400"/>
                                        <p:tgtEl>
                                          <p:spTgt spid="66"/>
                                        </p:tgtEl>
                                      </p:cBhvr>
                                    </p:animEffect>
                                  </p:childTnLst>
                                </p:cTn>
                              </p:par>
                              <p:par>
                                <p:cTn id="182" presetID="10" presetClass="entr" presetSubtype="0" fill="hold" grpId="0" nodeType="withEffect">
                                  <p:stCondLst>
                                    <p:cond delay="0"/>
                                  </p:stCondLst>
                                  <p:childTnLst>
                                    <p:set>
                                      <p:cBhvr>
                                        <p:cTn id="183" dur="1" fill="hold">
                                          <p:stCondLst>
                                            <p:cond delay="0"/>
                                          </p:stCondLst>
                                        </p:cTn>
                                        <p:tgtEl>
                                          <p:spTgt spid="67"/>
                                        </p:tgtEl>
                                        <p:attrNameLst>
                                          <p:attrName>style.visibility</p:attrName>
                                        </p:attrNameLst>
                                      </p:cBhvr>
                                      <p:to>
                                        <p:strVal val="visible"/>
                                      </p:to>
                                    </p:set>
                                    <p:animEffect transition="in" filter="fade">
                                      <p:cBhvr>
                                        <p:cTn id="184" dur="400"/>
                                        <p:tgtEl>
                                          <p:spTgt spid="67"/>
                                        </p:tgtEl>
                                      </p:cBhvr>
                                    </p:animEffect>
                                  </p:childTnLst>
                                </p:cTn>
                              </p:par>
                              <p:par>
                                <p:cTn id="185" presetID="10" presetClass="entr" presetSubtype="0" fill="hold" nodeType="withEffect">
                                  <p:stCondLst>
                                    <p:cond delay="0"/>
                                  </p:stCondLst>
                                  <p:childTnLst>
                                    <p:set>
                                      <p:cBhvr>
                                        <p:cTn id="186" dur="1" fill="hold">
                                          <p:stCondLst>
                                            <p:cond delay="0"/>
                                          </p:stCondLst>
                                        </p:cTn>
                                        <p:tgtEl>
                                          <p:spTgt spid="68"/>
                                        </p:tgtEl>
                                        <p:attrNameLst>
                                          <p:attrName>style.visibility</p:attrName>
                                        </p:attrNameLst>
                                      </p:cBhvr>
                                      <p:to>
                                        <p:strVal val="visible"/>
                                      </p:to>
                                    </p:set>
                                    <p:animEffect transition="in" filter="fade">
                                      <p:cBhvr>
                                        <p:cTn id="187" dur="400"/>
                                        <p:tgtEl>
                                          <p:spTgt spid="68"/>
                                        </p:tgtEl>
                                      </p:cBhvr>
                                    </p:animEffect>
                                  </p:childTnLst>
                                </p:cTn>
                              </p:par>
                            </p:childTnLst>
                          </p:cTn>
                        </p:par>
                      </p:childTnLst>
                    </p:cTn>
                  </p:par>
                  <p:par>
                    <p:cTn id="196" fill="hold">
                      <p:stCondLst>
                        <p:cond delay="indefinite"/>
                      </p:stCondLst>
                      <p:childTnLst>
                        <p:par>
                          <p:cTn id="197" fill="hold">
                            <p:stCondLst>
                              <p:cond delay="0"/>
                            </p:stCondLst>
                            <p:childTnLst>
                              <p:par>
                                <p:cTn id="190" presetID="10" presetClass="entr" presetSubtype="0" fill="hold" nodeType="clickEffect">
                                  <p:stCondLst>
                                    <p:cond delay="0"/>
                                  </p:stCondLst>
                                  <p:childTnLst>
                                    <p:set>
                                      <p:cBhvr>
                                        <p:cTn id="191" dur="1" fill="hold">
                                          <p:stCondLst>
                                            <p:cond delay="0"/>
                                          </p:stCondLst>
                                        </p:cTn>
                                        <p:tgtEl>
                                          <p:spTgt spid="69"/>
                                        </p:tgtEl>
                                        <p:attrNameLst>
                                          <p:attrName>style.visibility</p:attrName>
                                        </p:attrNameLst>
                                      </p:cBhvr>
                                      <p:to>
                                        <p:strVal val="visible"/>
                                      </p:to>
                                    </p:set>
                                    <p:animEffect transition="in" filter="fade">
                                      <p:cBhvr>
                                        <p:cTn id="192" dur="400"/>
                                        <p:tgtEl>
                                          <p:spTgt spid="69"/>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70"/>
                                        </p:tgtEl>
                                        <p:attrNameLst>
                                          <p:attrName>style.visibility</p:attrName>
                                        </p:attrNameLst>
                                      </p:cBhvr>
                                      <p:to>
                                        <p:strVal val="visible"/>
                                      </p:to>
                                    </p:set>
                                    <p:animEffect transition="in" filter="fade">
                                      <p:cBhvr>
                                        <p:cTn id="195"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1" grpId="0" animBg="1"/>
      <p:bldP spid="23" grpId="0" animBg="1"/>
      <p:bldP spid="25" grpId="0" animBg="1"/>
      <p:bldP spid="27" grpId="0" animBg="1"/>
      <p:bldP spid="29" grpId="0" animBg="1"/>
      <p:bldP spid="31" grpId="0" animBg="1"/>
      <p:bldP spid="33" grpId="0" animBg="1"/>
      <p:bldP spid="41" grpId="0" animBg="1"/>
      <p:bldP spid="44" grpId="0" animBg="1"/>
      <p:bldP spid="47" grpId="0" animBg="1"/>
      <p:bldP spid="50" grpId="0" animBg="1"/>
      <p:bldP spid="52" grpId="0" animBg="1"/>
      <p:bldP spid="54" grpId="0" animBg="1"/>
      <p:bldP spid="56" grpId="0" animBg="1"/>
      <p:bldP spid="58" grpId="0" animBg="1"/>
      <p:bldP spid="60" grpId="0" animBg="1"/>
      <p:bldP spid="62" grpId="0" animBg="1"/>
      <p:bldP spid="64" grpId="0" animBg="1"/>
      <p:bldP spid="67" grpId="0" animBg="1"/>
      <p:bldP spid="7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Pitfall: [[]] * 3 is one list three times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Replication repeats references, not the inner lists</a:t>
            </a:r>
            <a:endParaRPr lang="en-US" sz="1400" dirty="0"/>
          </a:p>
        </p:txBody>
      </p:sp>
      <p:sp>
        <p:nvSpPr>
          <p:cNvPr id="6" name="v:ReplicationAliasing:sc0t"/>
          <p:cNvSpPr txBox="1"/>
          <p:nvPr/>
        </p:nvSpPr>
        <p:spPr>
          <a:xfrm>
            <a:off x="365760" y="1143000"/>
            <a:ext cx="4023360" cy="237744"/>
          </a:xfrm>
          <a:prstGeom prst="rect">
            <a:avLst/>
          </a:prstGeom>
          <a:noFill/>
          <a:ln/>
        </p:spPr>
        <p:txBody>
          <a:bodyPr wrap="square" lIns="0" tIns="0" rIns="0" bIns="0" rtlCol="0" anchor="ctr">
            <a:normAutofit/>
          </a:bodyPr>
          <a:lstStyle/>
          <a:p>
            <a:pPr indent="0" marL="0">
              <a:buNone/>
            </a:pPr>
            <a:r>
              <a:rPr lang="en-US" sz="1200" b="1" dirty="0">
                <a:solidFill>
                  <a:srgbClr val="D64545"/>
                </a:solidFill>
                <a:latin typeface="Calibri" pitchFamily="34" charset="0"/>
                <a:ea typeface="Calibri" pitchFamily="34" charset="-122"/>
                <a:cs typeface="Calibri" pitchFamily="34" charset="-120"/>
              </a:rPr>
              <a:t>[[]] * 3</a:t>
            </a:r>
            <a:endParaRPr lang="en-US" sz="1200" dirty="0"/>
          </a:p>
        </p:txBody>
      </p:sp>
      <p:sp>
        <p:nvSpPr>
          <p:cNvPr id="7" name="v:ReplicationAliasing:g0.1.c|b1"/>
          <p:cNvSpPr txBox="1"/>
          <p:nvPr/>
        </p:nvSpPr>
        <p:spPr>
          <a:xfrm>
            <a:off x="365760" y="1389888"/>
            <a:ext cx="4114800" cy="237744"/>
          </a:xfrm>
          <a:prstGeom prst="rect">
            <a:avLst/>
          </a:prstGeom>
          <a:noFill/>
          <a:ln/>
        </p:spPr>
        <p:txBody>
          <a:bodyPr wrap="square" lIns="0" tIns="0" rIns="0" bIns="0" rtlCol="0" anchor="ctr"/>
          <a:lstStyle/>
          <a:p>
            <a:pPr indent="0" marL="0">
              <a:buNone/>
            </a:pPr>
            <a:r>
              <a:rPr lang="en-US" sz="1100" b="1" dirty="0">
                <a:solidFill>
                  <a:srgbClr val="1E2A3A"/>
                </a:solidFill>
                <a:latin typeface="Courier New" pitchFamily="34" charset="0"/>
                <a:ea typeface="Courier New" pitchFamily="34" charset="-122"/>
                <a:cs typeface="Courier New" pitchFamily="34" charset="-120"/>
              </a:rPr>
              <a:t>lists[0].append(3)</a:t>
            </a:r>
            <a:endParaRPr lang="en-US" sz="1100" dirty="0"/>
          </a:p>
        </p:txBody>
      </p:sp>
      <p:sp>
        <p:nvSpPr>
          <p:cNvPr id="8" name="v:ReplicationAliasing:g0.1.o1i0:box|b1"/>
          <p:cNvSpPr/>
          <p:nvPr/>
        </p:nvSpPr>
        <p:spPr>
          <a:xfrm>
            <a:off x="1325880" y="1755648"/>
            <a:ext cx="457200" cy="310896"/>
          </a:xfrm>
          <a:prstGeom prst="roundRect">
            <a:avLst>
              <a:gd name="adj" fmla="val 11765"/>
            </a:avLst>
          </a:prstGeom>
          <a:solidFill>
            <a:srgbClr val="FFFFFF"/>
          </a:solidFill>
          <a:ln w="19050">
            <a:solidFill>
              <a:srgbClr val="306998"/>
            </a:solidFill>
            <a:prstDash val="solid"/>
          </a:ln>
        </p:spPr>
      </p:sp>
      <p:sp>
        <p:nvSpPr>
          <p:cNvPr id="9" name="dot|b1"/>
          <p:cNvSpPr/>
          <p:nvPr/>
        </p:nvSpPr>
        <p:spPr>
          <a:xfrm>
            <a:off x="1508760" y="1865376"/>
            <a:ext cx="91440" cy="91440"/>
          </a:xfrm>
          <a:prstGeom prst="ellipse">
            <a:avLst/>
          </a:prstGeom>
          <a:solidFill>
            <a:srgbClr val="306998"/>
          </a:solidFill>
          <a:ln w="12700">
            <a:solidFill>
              <a:srgbClr val="306998"/>
            </a:solidFill>
            <a:prstDash val="solid"/>
          </a:ln>
        </p:spPr>
      </p:sp>
      <p:sp>
        <p:nvSpPr>
          <p:cNvPr id="10" name="v:ReplicationAliasing:g0.1.o1i1:box|b1"/>
          <p:cNvSpPr/>
          <p:nvPr/>
        </p:nvSpPr>
        <p:spPr>
          <a:xfrm>
            <a:off x="1819656" y="1755648"/>
            <a:ext cx="457200" cy="310896"/>
          </a:xfrm>
          <a:prstGeom prst="roundRect">
            <a:avLst>
              <a:gd name="adj" fmla="val 11765"/>
            </a:avLst>
          </a:prstGeom>
          <a:solidFill>
            <a:srgbClr val="FFFFFF"/>
          </a:solidFill>
          <a:ln w="19050">
            <a:solidFill>
              <a:srgbClr val="306998"/>
            </a:solidFill>
            <a:prstDash val="solid"/>
          </a:ln>
        </p:spPr>
      </p:sp>
      <p:sp>
        <p:nvSpPr>
          <p:cNvPr id="11" name="dot|b1"/>
          <p:cNvSpPr/>
          <p:nvPr/>
        </p:nvSpPr>
        <p:spPr>
          <a:xfrm>
            <a:off x="2002536" y="1865376"/>
            <a:ext cx="91440" cy="91440"/>
          </a:xfrm>
          <a:prstGeom prst="ellipse">
            <a:avLst/>
          </a:prstGeom>
          <a:solidFill>
            <a:srgbClr val="306998"/>
          </a:solidFill>
          <a:ln w="12700">
            <a:solidFill>
              <a:srgbClr val="306998"/>
            </a:solidFill>
            <a:prstDash val="solid"/>
          </a:ln>
        </p:spPr>
      </p:sp>
      <p:sp>
        <p:nvSpPr>
          <p:cNvPr id="12" name="v:ReplicationAliasing:g0.1.o1i2:box|b1"/>
          <p:cNvSpPr/>
          <p:nvPr/>
        </p:nvSpPr>
        <p:spPr>
          <a:xfrm>
            <a:off x="2313432" y="1755648"/>
            <a:ext cx="457200" cy="310896"/>
          </a:xfrm>
          <a:prstGeom prst="roundRect">
            <a:avLst>
              <a:gd name="adj" fmla="val 11765"/>
            </a:avLst>
          </a:prstGeom>
          <a:solidFill>
            <a:srgbClr val="FFFFFF"/>
          </a:solidFill>
          <a:ln w="19050">
            <a:solidFill>
              <a:srgbClr val="306998"/>
            </a:solidFill>
            <a:prstDash val="solid"/>
          </a:ln>
        </p:spPr>
      </p:sp>
      <p:sp>
        <p:nvSpPr>
          <p:cNvPr id="13" name="dot|b1"/>
          <p:cNvSpPr/>
          <p:nvPr/>
        </p:nvSpPr>
        <p:spPr>
          <a:xfrm>
            <a:off x="2496312" y="1865376"/>
            <a:ext cx="91440" cy="91440"/>
          </a:xfrm>
          <a:prstGeom prst="ellipse">
            <a:avLst/>
          </a:prstGeom>
          <a:solidFill>
            <a:srgbClr val="306998"/>
          </a:solidFill>
          <a:ln w="12700">
            <a:solidFill>
              <a:srgbClr val="306998"/>
            </a:solidFill>
            <a:prstDash val="solid"/>
          </a:ln>
        </p:spPr>
      </p:sp>
      <p:sp>
        <p:nvSpPr>
          <p:cNvPr id="14" name="v:ReplicationAliasing:g0.1.o2i0:box|b1"/>
          <p:cNvSpPr/>
          <p:nvPr/>
        </p:nvSpPr>
        <p:spPr>
          <a:xfrm>
            <a:off x="3383280" y="1700784"/>
            <a:ext cx="457200" cy="310896"/>
          </a:xfrm>
          <a:prstGeom prst="roundRect">
            <a:avLst>
              <a:gd name="adj" fmla="val 11765"/>
            </a:avLst>
          </a:prstGeom>
          <a:solidFill>
            <a:srgbClr val="F1F4F8"/>
          </a:solidFill>
          <a:ln w="19050">
            <a:solidFill>
              <a:srgbClr val="306998"/>
            </a:solidFill>
            <a:prstDash val="solid"/>
          </a:ln>
        </p:spPr>
      </p:sp>
      <p:sp>
        <p:nvSpPr>
          <p:cNvPr id="15" name="v:ReplicationAliasing:g0.1.o2i0|b1"/>
          <p:cNvSpPr txBox="1"/>
          <p:nvPr/>
        </p:nvSpPr>
        <p:spPr>
          <a:xfrm>
            <a:off x="3392424" y="1700784"/>
            <a:ext cx="43891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16" name="refarrow|b1"/>
          <p:cNvSpPr/>
          <p:nvPr/>
        </p:nvSpPr>
        <p:spPr>
          <a:xfrm flipV="1">
            <a:off x="1554480" y="1856232"/>
            <a:ext cx="1828800" cy="54864"/>
          </a:xfrm>
          <a:prstGeom prst="line">
            <a:avLst/>
          </a:prstGeom>
          <a:noFill/>
          <a:ln w="19050">
            <a:solidFill>
              <a:srgbClr val="306998"/>
            </a:solidFill>
            <a:prstDash val="solid"/>
            <a:tailEnd type="triangle"/>
          </a:ln>
        </p:spPr>
      </p:sp>
      <p:sp>
        <p:nvSpPr>
          <p:cNvPr id="17" name="refarrow|b1"/>
          <p:cNvSpPr/>
          <p:nvPr/>
        </p:nvSpPr>
        <p:spPr>
          <a:xfrm flipV="1">
            <a:off x="2048256" y="1856232"/>
            <a:ext cx="1335024" cy="54864"/>
          </a:xfrm>
          <a:prstGeom prst="line">
            <a:avLst/>
          </a:prstGeom>
          <a:noFill/>
          <a:ln w="19050">
            <a:solidFill>
              <a:srgbClr val="306998"/>
            </a:solidFill>
            <a:prstDash val="solid"/>
            <a:tailEnd type="triangle"/>
          </a:ln>
        </p:spPr>
      </p:sp>
      <p:sp>
        <p:nvSpPr>
          <p:cNvPr id="18" name="refarrow|b1"/>
          <p:cNvSpPr/>
          <p:nvPr/>
        </p:nvSpPr>
        <p:spPr>
          <a:xfrm flipV="1">
            <a:off x="2542032" y="1856232"/>
            <a:ext cx="841248" cy="54864"/>
          </a:xfrm>
          <a:prstGeom prst="line">
            <a:avLst/>
          </a:prstGeom>
          <a:noFill/>
          <a:ln w="19050">
            <a:solidFill>
              <a:srgbClr val="306998"/>
            </a:solidFill>
            <a:prstDash val="solid"/>
            <a:tailEnd type="triangle"/>
          </a:ln>
        </p:spPr>
      </p:sp>
      <p:sp>
        <p:nvSpPr>
          <p:cNvPr id="19" name="v:ReplicationAliasing:g0.1.n.lists:box|b1"/>
          <p:cNvSpPr/>
          <p:nvPr/>
        </p:nvSpPr>
        <p:spPr>
          <a:xfrm>
            <a:off x="365760" y="1792224"/>
            <a:ext cx="731520" cy="237744"/>
          </a:xfrm>
          <a:prstGeom prst="roundRect">
            <a:avLst>
              <a:gd name="adj" fmla="val 30769"/>
            </a:avLst>
          </a:prstGeom>
          <a:solidFill>
            <a:srgbClr val="FFFFFF"/>
          </a:solidFill>
          <a:ln w="19050">
            <a:solidFill>
              <a:srgbClr val="306998"/>
            </a:solidFill>
            <a:prstDash val="solid"/>
          </a:ln>
        </p:spPr>
      </p:sp>
      <p:sp>
        <p:nvSpPr>
          <p:cNvPr id="20" name="v:ReplicationAliasing:g0.1.n.lists|b1"/>
          <p:cNvSpPr txBox="1"/>
          <p:nvPr/>
        </p:nvSpPr>
        <p:spPr>
          <a:xfrm>
            <a:off x="365760" y="1792224"/>
            <a:ext cx="73152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lists</a:t>
            </a:r>
            <a:endParaRPr lang="en-US" sz="1050" dirty="0"/>
          </a:p>
        </p:txBody>
      </p:sp>
      <p:sp>
        <p:nvSpPr>
          <p:cNvPr id="21" name="namearrow|b1"/>
          <p:cNvSpPr/>
          <p:nvPr/>
        </p:nvSpPr>
        <p:spPr>
          <a:xfrm>
            <a:off x="1097280" y="1911096"/>
            <a:ext cx="228600" cy="0"/>
          </a:xfrm>
          <a:prstGeom prst="line">
            <a:avLst/>
          </a:prstGeom>
          <a:noFill/>
          <a:ln w="25400">
            <a:solidFill>
              <a:srgbClr val="306998"/>
            </a:solidFill>
            <a:prstDash val="solid"/>
            <a:tailEnd type="triangle"/>
          </a:ln>
        </p:spPr>
      </p:sp>
      <p:sp>
        <p:nvSpPr>
          <p:cNvPr id="22" name="v:ReplicationAliasing:sc1t"/>
          <p:cNvSpPr txBox="1"/>
          <p:nvPr/>
        </p:nvSpPr>
        <p:spPr>
          <a:xfrm>
            <a:off x="4663440" y="1143000"/>
            <a:ext cx="4023360" cy="237744"/>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alibri" pitchFamily="34" charset="0"/>
                <a:ea typeface="Calibri" pitchFamily="34" charset="-122"/>
                <a:cs typeface="Calibri" pitchFamily="34" charset="-120"/>
              </a:rPr>
              <a:t>[[] for i in range(3)]</a:t>
            </a:r>
            <a:endParaRPr lang="en-US" sz="1200" dirty="0"/>
          </a:p>
        </p:txBody>
      </p:sp>
      <p:sp>
        <p:nvSpPr>
          <p:cNvPr id="23" name="v:ReplicationAliasing:g1.1.c|b2"/>
          <p:cNvSpPr txBox="1"/>
          <p:nvPr/>
        </p:nvSpPr>
        <p:spPr>
          <a:xfrm>
            <a:off x="4663440" y="1389888"/>
            <a:ext cx="4114800" cy="237744"/>
          </a:xfrm>
          <a:prstGeom prst="rect">
            <a:avLst/>
          </a:prstGeom>
          <a:noFill/>
          <a:ln/>
        </p:spPr>
        <p:txBody>
          <a:bodyPr wrap="square" lIns="0" tIns="0" rIns="0" bIns="0" rtlCol="0" anchor="ctr"/>
          <a:lstStyle/>
          <a:p>
            <a:pPr indent="0" marL="0">
              <a:buNone/>
            </a:pPr>
            <a:r>
              <a:rPr lang="en-US" sz="1100" b="1" dirty="0">
                <a:solidFill>
                  <a:srgbClr val="1E2A3A"/>
                </a:solidFill>
                <a:latin typeface="Courier New" pitchFamily="34" charset="0"/>
                <a:ea typeface="Courier New" pitchFamily="34" charset="-122"/>
                <a:cs typeface="Courier New" pitchFamily="34" charset="-120"/>
              </a:rPr>
              <a:t>lists[0].append(3)</a:t>
            </a:r>
            <a:endParaRPr lang="en-US" sz="1100" dirty="0"/>
          </a:p>
        </p:txBody>
      </p:sp>
      <p:sp>
        <p:nvSpPr>
          <p:cNvPr id="24" name="v:ReplicationAliasing:g1.1.o1i0:box|b2"/>
          <p:cNvSpPr/>
          <p:nvPr/>
        </p:nvSpPr>
        <p:spPr>
          <a:xfrm>
            <a:off x="5623560" y="1755648"/>
            <a:ext cx="457200" cy="310896"/>
          </a:xfrm>
          <a:prstGeom prst="roundRect">
            <a:avLst>
              <a:gd name="adj" fmla="val 11765"/>
            </a:avLst>
          </a:prstGeom>
          <a:solidFill>
            <a:srgbClr val="FFFFFF"/>
          </a:solidFill>
          <a:ln w="19050">
            <a:solidFill>
              <a:srgbClr val="306998"/>
            </a:solidFill>
            <a:prstDash val="solid"/>
          </a:ln>
        </p:spPr>
      </p:sp>
      <p:sp>
        <p:nvSpPr>
          <p:cNvPr id="25" name="dot|b2"/>
          <p:cNvSpPr/>
          <p:nvPr/>
        </p:nvSpPr>
        <p:spPr>
          <a:xfrm>
            <a:off x="5806440" y="1865376"/>
            <a:ext cx="91440" cy="91440"/>
          </a:xfrm>
          <a:prstGeom prst="ellipse">
            <a:avLst/>
          </a:prstGeom>
          <a:solidFill>
            <a:srgbClr val="306998"/>
          </a:solidFill>
          <a:ln w="12700">
            <a:solidFill>
              <a:srgbClr val="306998"/>
            </a:solidFill>
            <a:prstDash val="solid"/>
          </a:ln>
        </p:spPr>
      </p:sp>
      <p:sp>
        <p:nvSpPr>
          <p:cNvPr id="26" name="v:ReplicationAliasing:g1.1.o1i1:box|b2"/>
          <p:cNvSpPr/>
          <p:nvPr/>
        </p:nvSpPr>
        <p:spPr>
          <a:xfrm>
            <a:off x="6117336" y="1755648"/>
            <a:ext cx="457200" cy="310896"/>
          </a:xfrm>
          <a:prstGeom prst="roundRect">
            <a:avLst>
              <a:gd name="adj" fmla="val 11765"/>
            </a:avLst>
          </a:prstGeom>
          <a:solidFill>
            <a:srgbClr val="FFFFFF"/>
          </a:solidFill>
          <a:ln w="19050">
            <a:solidFill>
              <a:srgbClr val="306998"/>
            </a:solidFill>
            <a:prstDash val="solid"/>
          </a:ln>
        </p:spPr>
      </p:sp>
      <p:sp>
        <p:nvSpPr>
          <p:cNvPr id="27" name="dot|b2"/>
          <p:cNvSpPr/>
          <p:nvPr/>
        </p:nvSpPr>
        <p:spPr>
          <a:xfrm>
            <a:off x="6300216" y="1865376"/>
            <a:ext cx="91440" cy="91440"/>
          </a:xfrm>
          <a:prstGeom prst="ellipse">
            <a:avLst/>
          </a:prstGeom>
          <a:solidFill>
            <a:srgbClr val="306998"/>
          </a:solidFill>
          <a:ln w="12700">
            <a:solidFill>
              <a:srgbClr val="306998"/>
            </a:solidFill>
            <a:prstDash val="solid"/>
          </a:ln>
        </p:spPr>
      </p:sp>
      <p:sp>
        <p:nvSpPr>
          <p:cNvPr id="28" name="v:ReplicationAliasing:g1.1.o1i2:box|b2"/>
          <p:cNvSpPr/>
          <p:nvPr/>
        </p:nvSpPr>
        <p:spPr>
          <a:xfrm>
            <a:off x="6611112" y="1755648"/>
            <a:ext cx="457200" cy="310896"/>
          </a:xfrm>
          <a:prstGeom prst="roundRect">
            <a:avLst>
              <a:gd name="adj" fmla="val 11765"/>
            </a:avLst>
          </a:prstGeom>
          <a:solidFill>
            <a:srgbClr val="FFFFFF"/>
          </a:solidFill>
          <a:ln w="19050">
            <a:solidFill>
              <a:srgbClr val="306998"/>
            </a:solidFill>
            <a:prstDash val="solid"/>
          </a:ln>
        </p:spPr>
      </p:sp>
      <p:sp>
        <p:nvSpPr>
          <p:cNvPr id="29" name="dot|b2"/>
          <p:cNvSpPr/>
          <p:nvPr/>
        </p:nvSpPr>
        <p:spPr>
          <a:xfrm>
            <a:off x="6793992" y="1865376"/>
            <a:ext cx="91440" cy="91440"/>
          </a:xfrm>
          <a:prstGeom prst="ellipse">
            <a:avLst/>
          </a:prstGeom>
          <a:solidFill>
            <a:srgbClr val="306998"/>
          </a:solidFill>
          <a:ln w="12700">
            <a:solidFill>
              <a:srgbClr val="306998"/>
            </a:solidFill>
            <a:prstDash val="solid"/>
          </a:ln>
        </p:spPr>
      </p:sp>
      <p:sp>
        <p:nvSpPr>
          <p:cNvPr id="30" name="v:ReplicationAliasing:g1.1.o2i0:box|b2"/>
          <p:cNvSpPr/>
          <p:nvPr/>
        </p:nvSpPr>
        <p:spPr>
          <a:xfrm>
            <a:off x="7680960" y="1700784"/>
            <a:ext cx="457200" cy="310896"/>
          </a:xfrm>
          <a:prstGeom prst="roundRect">
            <a:avLst>
              <a:gd name="adj" fmla="val 11765"/>
            </a:avLst>
          </a:prstGeom>
          <a:solidFill>
            <a:srgbClr val="F1F4F8"/>
          </a:solidFill>
          <a:ln w="19050">
            <a:solidFill>
              <a:srgbClr val="306998"/>
            </a:solidFill>
            <a:prstDash val="solid"/>
          </a:ln>
        </p:spPr>
      </p:sp>
      <p:sp>
        <p:nvSpPr>
          <p:cNvPr id="31" name="v:ReplicationAliasing:g1.1.o2i0|b2"/>
          <p:cNvSpPr txBox="1"/>
          <p:nvPr/>
        </p:nvSpPr>
        <p:spPr>
          <a:xfrm>
            <a:off x="7690104" y="1700784"/>
            <a:ext cx="438912" cy="310896"/>
          </a:xfrm>
          <a:prstGeom prst="rect">
            <a:avLst/>
          </a:prstGeom>
          <a:noFill/>
          <a:ln/>
        </p:spPr>
        <p:txBody>
          <a:bodyPr wrap="square" lIns="0" tIns="0" rIns="0" bIns="0" rtlCol="0" anchor="ctr">
            <a:normAutofit/>
          </a:bodyPr>
          <a:lstStyle/>
          <a:p>
            <a:pPr algn="ctr" indent="0" marL="0">
              <a:buNone/>
            </a:pPr>
            <a:r>
              <a:rPr lang="en-US" sz="1050" b="1" dirty="0">
                <a:solidFill>
                  <a:srgbClr val="1E2A3A"/>
                </a:solidFill>
                <a:latin typeface="Courier New" pitchFamily="34" charset="0"/>
                <a:ea typeface="Courier New" pitchFamily="34" charset="-122"/>
                <a:cs typeface="Courier New" pitchFamily="34" charset="-120"/>
              </a:rPr>
              <a:t>3</a:t>
            </a:r>
            <a:endParaRPr lang="en-US" sz="1050" dirty="0"/>
          </a:p>
        </p:txBody>
      </p:sp>
      <p:sp>
        <p:nvSpPr>
          <p:cNvPr id="32" name="v:ReplicationAliasing:g1.1.o3empty:box|b2"/>
          <p:cNvSpPr/>
          <p:nvPr/>
        </p:nvSpPr>
        <p:spPr>
          <a:xfrm>
            <a:off x="7680960" y="2139696"/>
            <a:ext cx="457200" cy="310896"/>
          </a:xfrm>
          <a:prstGeom prst="roundRect">
            <a:avLst>
              <a:gd name="adj" fmla="val 11765"/>
            </a:avLst>
          </a:prstGeom>
          <a:solidFill>
            <a:srgbClr val="F1F4F8"/>
          </a:solidFill>
          <a:ln w="19050">
            <a:solidFill>
              <a:srgbClr val="306998"/>
            </a:solidFill>
            <a:prstDash val="dash"/>
          </a:ln>
        </p:spPr>
      </p:sp>
      <p:sp>
        <p:nvSpPr>
          <p:cNvPr id="33" name="v:ReplicationAliasing:g1.1.o4empty:box|b2"/>
          <p:cNvSpPr/>
          <p:nvPr/>
        </p:nvSpPr>
        <p:spPr>
          <a:xfrm>
            <a:off x="7680960" y="2578608"/>
            <a:ext cx="457200" cy="310896"/>
          </a:xfrm>
          <a:prstGeom prst="roundRect">
            <a:avLst>
              <a:gd name="adj" fmla="val 11765"/>
            </a:avLst>
          </a:prstGeom>
          <a:solidFill>
            <a:srgbClr val="F1F4F8"/>
          </a:solidFill>
          <a:ln w="19050">
            <a:solidFill>
              <a:srgbClr val="306998"/>
            </a:solidFill>
            <a:prstDash val="dash"/>
          </a:ln>
        </p:spPr>
      </p:sp>
      <p:sp>
        <p:nvSpPr>
          <p:cNvPr id="34" name="refarrow|b2"/>
          <p:cNvSpPr/>
          <p:nvPr/>
        </p:nvSpPr>
        <p:spPr>
          <a:xfrm flipV="1">
            <a:off x="5852160" y="1856232"/>
            <a:ext cx="1828800" cy="54864"/>
          </a:xfrm>
          <a:prstGeom prst="line">
            <a:avLst/>
          </a:prstGeom>
          <a:noFill/>
          <a:ln w="19050">
            <a:solidFill>
              <a:srgbClr val="306998"/>
            </a:solidFill>
            <a:prstDash val="solid"/>
            <a:tailEnd type="triangle"/>
          </a:ln>
        </p:spPr>
      </p:sp>
      <p:sp>
        <p:nvSpPr>
          <p:cNvPr id="35" name="refarrow|b2"/>
          <p:cNvSpPr/>
          <p:nvPr/>
        </p:nvSpPr>
        <p:spPr>
          <a:xfrm>
            <a:off x="6345936" y="1911096"/>
            <a:ext cx="1335024" cy="384048"/>
          </a:xfrm>
          <a:prstGeom prst="line">
            <a:avLst/>
          </a:prstGeom>
          <a:noFill/>
          <a:ln w="19050">
            <a:solidFill>
              <a:srgbClr val="306998"/>
            </a:solidFill>
            <a:prstDash val="solid"/>
            <a:tailEnd type="triangle"/>
          </a:ln>
        </p:spPr>
      </p:sp>
      <p:sp>
        <p:nvSpPr>
          <p:cNvPr id="36" name="refarrow|b2"/>
          <p:cNvSpPr/>
          <p:nvPr/>
        </p:nvSpPr>
        <p:spPr>
          <a:xfrm>
            <a:off x="6839712" y="1911096"/>
            <a:ext cx="841248" cy="822960"/>
          </a:xfrm>
          <a:prstGeom prst="line">
            <a:avLst/>
          </a:prstGeom>
          <a:noFill/>
          <a:ln w="19050">
            <a:solidFill>
              <a:srgbClr val="306998"/>
            </a:solidFill>
            <a:prstDash val="solid"/>
            <a:tailEnd type="triangle"/>
          </a:ln>
        </p:spPr>
      </p:sp>
      <p:sp>
        <p:nvSpPr>
          <p:cNvPr id="37" name="v:ReplicationAliasing:g1.1.n.lists:box|b2"/>
          <p:cNvSpPr/>
          <p:nvPr/>
        </p:nvSpPr>
        <p:spPr>
          <a:xfrm>
            <a:off x="4663440" y="1792224"/>
            <a:ext cx="731520" cy="237744"/>
          </a:xfrm>
          <a:prstGeom prst="roundRect">
            <a:avLst>
              <a:gd name="adj" fmla="val 30769"/>
            </a:avLst>
          </a:prstGeom>
          <a:solidFill>
            <a:srgbClr val="FFFFFF"/>
          </a:solidFill>
          <a:ln w="19050">
            <a:solidFill>
              <a:srgbClr val="306998"/>
            </a:solidFill>
            <a:prstDash val="solid"/>
          </a:ln>
        </p:spPr>
      </p:sp>
      <p:sp>
        <p:nvSpPr>
          <p:cNvPr id="38" name="v:ReplicationAliasing:g1.1.n.lists|b2"/>
          <p:cNvSpPr txBox="1"/>
          <p:nvPr/>
        </p:nvSpPr>
        <p:spPr>
          <a:xfrm>
            <a:off x="4663440" y="1792224"/>
            <a:ext cx="731520" cy="237744"/>
          </a:xfrm>
          <a:prstGeom prst="rect">
            <a:avLst/>
          </a:prstGeom>
          <a:noFill/>
          <a:ln/>
        </p:spPr>
        <p:txBody>
          <a:bodyPr wrap="square" lIns="0" tIns="0" rIns="0" bIns="0" rtlCol="0" anchor="ctr">
            <a:normAutofit/>
          </a:bodyPr>
          <a:lstStyle/>
          <a:p>
            <a:pPr algn="ctr" indent="0" marL="0">
              <a:buNone/>
            </a:pPr>
            <a:r>
              <a:rPr lang="en-US" sz="1050" b="1" dirty="0">
                <a:solidFill>
                  <a:srgbClr val="306998"/>
                </a:solidFill>
                <a:latin typeface="Courier New" pitchFamily="34" charset="0"/>
                <a:ea typeface="Courier New" pitchFamily="34" charset="-122"/>
                <a:cs typeface="Courier New" pitchFamily="34" charset="-120"/>
              </a:rPr>
              <a:t>lists</a:t>
            </a:r>
            <a:endParaRPr lang="en-US" sz="1050" dirty="0"/>
          </a:p>
        </p:txBody>
      </p:sp>
      <p:sp>
        <p:nvSpPr>
          <p:cNvPr id="39" name="namearrow|b2"/>
          <p:cNvSpPr/>
          <p:nvPr/>
        </p:nvSpPr>
        <p:spPr>
          <a:xfrm>
            <a:off x="5394960" y="1911096"/>
            <a:ext cx="228600" cy="0"/>
          </a:xfrm>
          <a:prstGeom prst="line">
            <a:avLst/>
          </a:prstGeom>
          <a:noFill/>
          <a:ln w="25400">
            <a:solidFill>
              <a:srgbClr val="306998"/>
            </a:solidFill>
            <a:prstDash val="solid"/>
            <a:tailEnd type="triangle"/>
          </a:ln>
        </p:spPr>
      </p:sp>
      <p:sp>
        <p:nvSpPr>
          <p:cNvPr id="40" name="codecardbox|b3"/>
          <p:cNvSpPr/>
          <p:nvPr/>
        </p:nvSpPr>
        <p:spPr>
          <a:xfrm>
            <a:off x="365760" y="3017520"/>
            <a:ext cx="8412480" cy="1572768"/>
          </a:xfrm>
          <a:prstGeom prst="roundRect">
            <a:avLst>
              <a:gd name="adj" fmla="val 5814"/>
            </a:avLst>
          </a:prstGeom>
          <a:solidFill>
            <a:srgbClr val="17202B"/>
          </a:solidFill>
          <a:ln w="12700">
            <a:solidFill>
              <a:srgbClr val="17202B"/>
            </a:solidFill>
            <a:prstDash val="solid"/>
          </a:ln>
        </p:spPr>
      </p:sp>
      <p:sp>
        <p:nvSpPr>
          <p:cNvPr id="41" name="codecard|b3"/>
          <p:cNvSpPr txBox="1"/>
          <p:nvPr/>
        </p:nvSpPr>
        <p:spPr>
          <a:xfrm>
            <a:off x="530352" y="3090672"/>
            <a:ext cx="8083296" cy="1426464"/>
          </a:xfrm>
          <a:prstGeom prst="rect">
            <a:avLst/>
          </a:prstGeom>
          <a:noFill/>
          <a:ln/>
        </p:spPr>
        <p:txBody>
          <a:bodyPr wrap="square" lIns="0" tIns="0" rIns="0" bIns="0" rtlCol="0" anchor="t"/>
          <a:lstStyle/>
          <a:p>
            <a:pPr indent="0" marL="0">
              <a:spcAft>
                <a:spcPts val="1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lists = [[]] * 3</a:t>
            </a:r>
            <a:endParaRPr lang="en-US" sz="1100" dirty="0"/>
          </a:p>
          <a:p>
            <a:pPr indent="0" marL="0">
              <a:spcAft>
                <a:spcPts val="1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lists[0].append(3)</a:t>
            </a:r>
            <a:endParaRPr lang="en-US" sz="1100" dirty="0"/>
          </a:p>
          <a:p>
            <a:pPr indent="0" marL="0">
              <a:spcAft>
                <a:spcPts val="1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lists</a:t>
            </a:r>
            <a:endParaRPr lang="en-US" sz="1100" dirty="0"/>
          </a:p>
          <a:p>
            <a:pPr indent="0" marL="0">
              <a:spcAft>
                <a:spcPts val="100"/>
              </a:spcAft>
              <a:buNone/>
            </a:pPr>
            <a:r>
              <a:rPr lang="en-US" sz="1100" dirty="0">
                <a:solidFill>
                  <a:srgbClr val="7EE787"/>
                </a:solidFill>
                <a:latin typeface="Courier New" pitchFamily="34" charset="0"/>
                <a:ea typeface="Courier New" pitchFamily="34" charset="-122"/>
                <a:cs typeface="Courier New" pitchFamily="34" charset="-120"/>
              </a:rPr>
              <a:t>[[3], [3], [3]]</a:t>
            </a:r>
            <a:endParaRPr lang="en-US" sz="1100" dirty="0"/>
          </a:p>
          <a:p>
            <a:pPr indent="0" marL="0">
              <a:spcAft>
                <a:spcPts val="1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lists = [[] for i in range(3)]</a:t>
            </a:r>
            <a:endParaRPr lang="en-US" sz="1100" dirty="0"/>
          </a:p>
          <a:p>
            <a:pPr indent="0" marL="0">
              <a:spcAft>
                <a:spcPts val="1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lists[0].append(3)</a:t>
            </a:r>
            <a:endParaRPr lang="en-US" sz="1100" dirty="0"/>
          </a:p>
          <a:p>
            <a:pPr indent="0" marL="0">
              <a:spcAft>
                <a:spcPts val="100"/>
              </a:spcAft>
              <a:buNone/>
            </a:pPr>
            <a:r>
              <a:rPr lang="en-US" sz="1100" b="1" dirty="0">
                <a:solidFill>
                  <a:srgbClr val="FFD43B"/>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lists</a:t>
            </a:r>
            <a:endParaRPr lang="en-US" sz="1100" dirty="0"/>
          </a:p>
          <a:p>
            <a:pPr indent="0" marL="0">
              <a:spcAft>
                <a:spcPts val="100"/>
              </a:spcAft>
              <a:buNone/>
            </a:pPr>
            <a:r>
              <a:rPr lang="en-US" sz="1100" dirty="0">
                <a:solidFill>
                  <a:srgbClr val="7EE787"/>
                </a:solidFill>
                <a:latin typeface="Courier New" pitchFamily="34" charset="0"/>
                <a:ea typeface="Courier New" pitchFamily="34" charset="-122"/>
                <a:cs typeface="Courier New" pitchFamily="34" charset="-120"/>
              </a:rPr>
              <a:t>[[3], [], []]</a:t>
            </a:r>
            <a:endParaRPr lang="en-US" sz="1100" dirty="0"/>
          </a:p>
        </p:txBody>
      </p:sp>
      <p:sp>
        <p:nvSpPr>
          <p:cNvPr id="4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Sequences and references ▸ Replication aliasing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faq/programming.html" history="1" highlightClick="0" endSnd="0">
                  <a:extLst>
                    <a:ext uri="{A12FA001-AC4F-418D-AE19-62706E023703}">
                      <ahyp:hlinkClr xmlns:ahyp="http://schemas.microsoft.com/office/drawing/2018/hyperlinkcolor" val="tx"/>
                    </a:ext>
                  </a:extLst>
                </a:hlinkClick>
              </a:rPr>
              <a:t>Programming FAQ</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48" fill="hold">
                      <p:stCondLst>
                        <p:cond delay="indefinite"/>
                      </p:stCondLst>
                      <p:childTnLst>
                        <p:par>
                          <p:cTn id="4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par>
                                <p:cTn id="9" presetID="10"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par>
                                <p:cTn id="12" presetID="10"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00"/>
                                        <p:tgtEl>
                                          <p:spTgt spid="10"/>
                                        </p:tgtEl>
                                      </p:cBhvr>
                                    </p:animEffect>
                                  </p:childTnLst>
                                </p:cTn>
                              </p:par>
                              <p:par>
                                <p:cTn id="15" presetID="10"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00"/>
                                        <p:tgtEl>
                                          <p:spTgt spid="12"/>
                                        </p:tgtEl>
                                      </p:cBhvr>
                                    </p:animEffect>
                                  </p:childTnLst>
                                </p:cTn>
                              </p:par>
                              <p:par>
                                <p:cTn id="21" presetID="10"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400"/>
                                        <p:tgtEl>
                                          <p:spTgt spid="13"/>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40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par>
                                <p:cTn id="30" presetID="10" presetClass="entr" presetSubtype="0" fill="hold"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00"/>
                                        <p:tgtEl>
                                          <p:spTgt spid="16"/>
                                        </p:tgtEl>
                                      </p:cBhvr>
                                    </p:animEffect>
                                  </p:childTnLst>
                                </p:cTn>
                              </p:par>
                              <p:par>
                                <p:cTn id="33" presetID="10"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par>
                                <p:cTn id="36" presetID="10" presetClass="entr" presetSubtype="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00"/>
                                        <p:tgtEl>
                                          <p:spTgt spid="18"/>
                                        </p:tgtEl>
                                      </p:cBhvr>
                                    </p:animEffect>
                                  </p:childTnLst>
                                </p:cTn>
                              </p:par>
                              <p:par>
                                <p:cTn id="39" presetID="10"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400"/>
                                        <p:tgtEl>
                                          <p:spTgt spid="1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par>
                                <p:cTn id="45" presetID="10" presetClass="entr" presetSubtype="0" fill="hold"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400"/>
                                        <p:tgtEl>
                                          <p:spTgt spid="21"/>
                                        </p:tgtEl>
                                      </p:cBhvr>
                                    </p:animEffect>
                                  </p:childTnLst>
                                </p:cTn>
                              </p:par>
                            </p:childTnLst>
                          </p:cTn>
                        </p:par>
                      </p:childTnLst>
                    </p:cTn>
                  </p:par>
                  <p:par>
                    <p:cTn id="101" fill="hold">
                      <p:stCondLst>
                        <p:cond delay="indefinite"/>
                      </p:stCondLst>
                      <p:childTnLst>
                        <p:par>
                          <p:cTn id="102"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400"/>
                                        <p:tgtEl>
                                          <p:spTgt spid="23"/>
                                        </p:tgtEl>
                                      </p:cBhvr>
                                    </p:animEffect>
                                  </p:childTnLst>
                                </p:cTn>
                              </p:par>
                              <p:par>
                                <p:cTn id="53" presetID="10" presetClass="entr" presetSubtype="0" fill="hold"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400"/>
                                        <p:tgtEl>
                                          <p:spTgt spid="24"/>
                                        </p:tgtEl>
                                      </p:cBhvr>
                                    </p:animEffect>
                                  </p:childTnLst>
                                </p:cTn>
                              </p:par>
                              <p:par>
                                <p:cTn id="56" presetID="10" presetClass="entr" presetSubtype="0" fill="hold"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400"/>
                                        <p:tgtEl>
                                          <p:spTgt spid="25"/>
                                        </p:tgtEl>
                                      </p:cBhvr>
                                    </p:animEffect>
                                  </p:childTnLst>
                                </p:cTn>
                              </p:par>
                              <p:par>
                                <p:cTn id="59" presetID="10" presetClass="entr" presetSubtype="0" fill="hold"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400"/>
                                        <p:tgtEl>
                                          <p:spTgt spid="26"/>
                                        </p:tgtEl>
                                      </p:cBhvr>
                                    </p:animEffect>
                                  </p:childTnLst>
                                </p:cTn>
                              </p:par>
                              <p:par>
                                <p:cTn id="62" presetID="10" presetClass="entr" presetSubtype="0" fill="hold"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par>
                                <p:cTn id="65" presetID="10" presetClass="entr" presetSubtype="0" fill="hold"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400"/>
                                        <p:tgtEl>
                                          <p:spTgt spid="28"/>
                                        </p:tgtEl>
                                      </p:cBhvr>
                                    </p:animEffect>
                                  </p:childTnLst>
                                </p:cTn>
                              </p:par>
                              <p:par>
                                <p:cTn id="68" presetID="10" presetClass="entr" presetSubtype="0" fill="hold"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400"/>
                                        <p:tgtEl>
                                          <p:spTgt spid="29"/>
                                        </p:tgtEl>
                                      </p:cBhvr>
                                    </p:animEffect>
                                  </p:childTnLst>
                                </p:cTn>
                              </p:par>
                              <p:par>
                                <p:cTn id="71" presetID="10" presetClass="entr" presetSubtype="0" fill="hold" nodeType="with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400"/>
                                        <p:tgtEl>
                                          <p:spTgt spid="30"/>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400"/>
                                        <p:tgtEl>
                                          <p:spTgt spid="31"/>
                                        </p:tgtEl>
                                      </p:cBhvr>
                                    </p:animEffect>
                                  </p:childTnLst>
                                </p:cTn>
                              </p:par>
                              <p:par>
                                <p:cTn id="77" presetID="10" presetClass="entr" presetSubtype="0" fill="hold" nodeType="with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fade">
                                      <p:cBhvr>
                                        <p:cTn id="79" dur="400"/>
                                        <p:tgtEl>
                                          <p:spTgt spid="32"/>
                                        </p:tgtEl>
                                      </p:cBhvr>
                                    </p:animEffect>
                                  </p:childTnLst>
                                </p:cTn>
                              </p:par>
                              <p:par>
                                <p:cTn id="80" presetID="10" presetClass="entr" presetSubtype="0" fill="hold" nodeType="with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fade">
                                      <p:cBhvr>
                                        <p:cTn id="82" dur="400"/>
                                        <p:tgtEl>
                                          <p:spTgt spid="33"/>
                                        </p:tgtEl>
                                      </p:cBhvr>
                                    </p:animEffect>
                                  </p:childTnLst>
                                </p:cTn>
                              </p:par>
                              <p:par>
                                <p:cTn id="83" presetID="10" presetClass="entr" presetSubtype="0" fill="hold" nodeType="with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fade">
                                      <p:cBhvr>
                                        <p:cTn id="85" dur="400"/>
                                        <p:tgtEl>
                                          <p:spTgt spid="34"/>
                                        </p:tgtEl>
                                      </p:cBhvr>
                                    </p:animEffect>
                                  </p:childTnLst>
                                </p:cTn>
                              </p:par>
                              <p:par>
                                <p:cTn id="86" presetID="10" presetClass="entr" presetSubtype="0" fill="hold" nodeType="withEffect">
                                  <p:stCondLst>
                                    <p:cond delay="0"/>
                                  </p:stCondLst>
                                  <p:childTnLst>
                                    <p:set>
                                      <p:cBhvr>
                                        <p:cTn id="87" dur="1" fill="hold">
                                          <p:stCondLst>
                                            <p:cond delay="0"/>
                                          </p:stCondLst>
                                        </p:cTn>
                                        <p:tgtEl>
                                          <p:spTgt spid="35"/>
                                        </p:tgtEl>
                                        <p:attrNameLst>
                                          <p:attrName>style.visibility</p:attrName>
                                        </p:attrNameLst>
                                      </p:cBhvr>
                                      <p:to>
                                        <p:strVal val="visible"/>
                                      </p:to>
                                    </p:set>
                                    <p:animEffect transition="in" filter="fade">
                                      <p:cBhvr>
                                        <p:cTn id="88" dur="400"/>
                                        <p:tgtEl>
                                          <p:spTgt spid="35"/>
                                        </p:tgtEl>
                                      </p:cBhvr>
                                    </p:animEffect>
                                  </p:childTnLst>
                                </p:cTn>
                              </p:par>
                              <p:par>
                                <p:cTn id="89" presetID="10" presetClass="entr" presetSubtype="0" fill="hold" nodeType="with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fade">
                                      <p:cBhvr>
                                        <p:cTn id="91" dur="400"/>
                                        <p:tgtEl>
                                          <p:spTgt spid="36"/>
                                        </p:tgtEl>
                                      </p:cBhvr>
                                    </p:animEffect>
                                  </p:childTnLst>
                                </p:cTn>
                              </p:par>
                              <p:par>
                                <p:cTn id="92" presetID="10" presetClass="entr" presetSubtype="0" fill="hold" nodeType="withEffect">
                                  <p:stCondLst>
                                    <p:cond delay="0"/>
                                  </p:stCondLst>
                                  <p:childTnLst>
                                    <p:set>
                                      <p:cBhvr>
                                        <p:cTn id="93" dur="1" fill="hold">
                                          <p:stCondLst>
                                            <p:cond delay="0"/>
                                          </p:stCondLst>
                                        </p:cTn>
                                        <p:tgtEl>
                                          <p:spTgt spid="37"/>
                                        </p:tgtEl>
                                        <p:attrNameLst>
                                          <p:attrName>style.visibility</p:attrName>
                                        </p:attrNameLst>
                                      </p:cBhvr>
                                      <p:to>
                                        <p:strVal val="visible"/>
                                      </p:to>
                                    </p:set>
                                    <p:animEffect transition="in" filter="fade">
                                      <p:cBhvr>
                                        <p:cTn id="94" dur="400"/>
                                        <p:tgtEl>
                                          <p:spTgt spid="37"/>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8"/>
                                        </p:tgtEl>
                                        <p:attrNameLst>
                                          <p:attrName>style.visibility</p:attrName>
                                        </p:attrNameLst>
                                      </p:cBhvr>
                                      <p:to>
                                        <p:strVal val="visible"/>
                                      </p:to>
                                    </p:set>
                                    <p:animEffect transition="in" filter="fade">
                                      <p:cBhvr>
                                        <p:cTn id="97" dur="400"/>
                                        <p:tgtEl>
                                          <p:spTgt spid="38"/>
                                        </p:tgtEl>
                                      </p:cBhvr>
                                    </p:animEffect>
                                  </p:childTnLst>
                                </p:cTn>
                              </p:par>
                              <p:par>
                                <p:cTn id="98" presetID="10" presetClass="entr" presetSubtype="0" fill="hold" nodeType="withEffect">
                                  <p:stCondLst>
                                    <p:cond delay="0"/>
                                  </p:stCondLst>
                                  <p:childTnLst>
                                    <p:set>
                                      <p:cBhvr>
                                        <p:cTn id="99" dur="1" fill="hold">
                                          <p:stCondLst>
                                            <p:cond delay="0"/>
                                          </p:stCondLst>
                                        </p:cTn>
                                        <p:tgtEl>
                                          <p:spTgt spid="39"/>
                                        </p:tgtEl>
                                        <p:attrNameLst>
                                          <p:attrName>style.visibility</p:attrName>
                                        </p:attrNameLst>
                                      </p:cBhvr>
                                      <p:to>
                                        <p:strVal val="visible"/>
                                      </p:to>
                                    </p:set>
                                    <p:animEffect transition="in" filter="fade">
                                      <p:cBhvr>
                                        <p:cTn id="100" dur="400"/>
                                        <p:tgtEl>
                                          <p:spTgt spid="39"/>
                                        </p:tgtEl>
                                      </p:cBhvr>
                                    </p:animEffect>
                                  </p:childTnLst>
                                </p:cTn>
                              </p:par>
                            </p:childTnLst>
                          </p:cTn>
                        </p:par>
                      </p:childTnLst>
                    </p:cTn>
                  </p:par>
                  <p:par>
                    <p:cTn id="109" fill="hold">
                      <p:stCondLst>
                        <p:cond delay="indefinite"/>
                      </p:stCondLst>
                      <p:childTnLst>
                        <p:par>
                          <p:cTn id="110" fill="hold">
                            <p:stCondLst>
                              <p:cond delay="0"/>
                            </p:stCondLst>
                            <p:childTnLst>
                              <p:par>
                                <p:cTn id="103" presetID="10" presetClass="entr" presetSubtype="0" fill="hold" nodeType="clickEffect">
                                  <p:stCondLst>
                                    <p:cond delay="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5" dur="400"/>
                                        <p:tgtEl>
                                          <p:spTgt spid="40"/>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8"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5" grpId="0" animBg="1"/>
      <p:bldP spid="20" grpId="0" animBg="1"/>
      <p:bldP spid="23" grpId="0" animBg="1"/>
      <p:bldP spid="31" grpId="0" animBg="1"/>
      <p:bldP spid="38" grpId="0" animBg="1"/>
      <p:bldP spid="4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502920"/>
            <a:ext cx="914400" cy="1005840"/>
          </a:xfrm>
          <a:prstGeom prst="rect">
            <a:avLst/>
          </a:prstGeom>
          <a:noFill/>
          <a:ln/>
        </p:spPr>
        <p:txBody>
          <a:bodyPr wrap="square" lIns="0" tIns="0" rIns="0" bIns="0" rtlCol="0" anchor="ctr"/>
          <a:lstStyle/>
          <a:p>
            <a:pPr indent="0" marL="0">
              <a:buNone/>
            </a:pPr>
            <a:r>
              <a:rPr lang="en-US" sz="6600" b="1" dirty="0">
                <a:solidFill>
                  <a:srgbClr val="FFD43B"/>
                </a:solidFill>
                <a:latin typeface="Cambria" pitchFamily="34" charset="0"/>
                <a:ea typeface="Cambria" pitchFamily="34" charset="-122"/>
                <a:cs typeface="Cambria" pitchFamily="34" charset="-120"/>
              </a:rPr>
              <a:t>6</a:t>
            </a:r>
            <a:endParaRPr lang="en-US" sz="6600" dirty="0"/>
          </a:p>
        </p:txBody>
      </p:sp>
      <p:sp>
        <p:nvSpPr>
          <p:cNvPr id="3" name="x"/>
          <p:cNvSpPr txBox="1"/>
          <p:nvPr/>
        </p:nvSpPr>
        <p:spPr>
          <a:xfrm>
            <a:off x="1371600" y="1005840"/>
            <a:ext cx="1097280" cy="457200"/>
          </a:xfrm>
          <a:prstGeom prst="rect">
            <a:avLst/>
          </a:prstGeom>
          <a:noFill/>
          <a:ln/>
        </p:spPr>
        <p:txBody>
          <a:bodyPr wrap="square" lIns="0" tIns="0" rIns="0" bIns="0" rtlCol="0" anchor="ctr"/>
          <a:lstStyle/>
          <a:p>
            <a:pPr indent="0" marL="0">
              <a:buNone/>
            </a:pPr>
            <a:r>
              <a:rPr lang="en-US" sz="1600" i="1" dirty="0">
                <a:solidFill>
                  <a:srgbClr val="C9D4E0"/>
                </a:solidFill>
                <a:latin typeface="Calibri" pitchFamily="34" charset="0"/>
                <a:ea typeface="Calibri" pitchFamily="34" charset="-122"/>
                <a:cs typeface="Calibri" pitchFamily="34" charset="-120"/>
              </a:rPr>
              <a:t>of 6</a:t>
            </a:r>
            <a:endParaRPr lang="en-US" sz="1600" dirty="0"/>
          </a:p>
        </p:txBody>
      </p:sp>
      <p:sp>
        <p:nvSpPr>
          <p:cNvPr id="4" name="x"/>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Random and programs</a:t>
            </a:r>
            <a:endParaRPr lang="en-US" sz="3600" dirty="0"/>
          </a:p>
        </p:txBody>
      </p:sp>
      <p:sp>
        <p:nvSpPr>
          <p:cNvPr id="5" name="x"/>
          <p:cNvSpPr txBox="1"/>
          <p:nvPr/>
        </p:nvSpPr>
        <p:spPr>
          <a:xfrm>
            <a:off x="548640" y="2148840"/>
            <a:ext cx="8046720" cy="502920"/>
          </a:xfrm>
          <a:prstGeom prst="rect">
            <a:avLst/>
          </a:prstGeom>
          <a:noFill/>
          <a:ln/>
        </p:spPr>
        <p:txBody>
          <a:bodyPr wrap="square" lIns="0" tIns="0" rIns="0" bIns="0" rtlCol="0" anchor="t"/>
          <a:lstStyle/>
          <a:p>
            <a:pPr indent="0" marL="0">
              <a:buNone/>
            </a:pPr>
            <a:r>
              <a:rPr lang="en-US" sz="1500" i="1" dirty="0">
                <a:solidFill>
                  <a:srgbClr val="FFD43B"/>
                </a:solidFill>
                <a:latin typeface="Calibri" pitchFamily="34" charset="0"/>
                <a:ea typeface="Calibri" pitchFamily="34" charset="-122"/>
                <a:cs typeface="Calibri" pitchFamily="34" charset="-120"/>
              </a:rPr>
              <a:t>The random functions, the two short programs and the practice work show lists in use.</a:t>
            </a:r>
            <a:endParaRPr lang="en-US" sz="1500" dirty="0"/>
          </a:p>
        </p:txBody>
      </p:sp>
      <p:sp>
        <p:nvSpPr>
          <p:cNvPr id="6" name="divmid|b1"/>
          <p:cNvSpPr txBox="1"/>
          <p:nvPr/>
        </p:nvSpPr>
        <p:spPr>
          <a:xfrm>
            <a:off x="5486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Random lists</a:t>
            </a:r>
            <a:endParaRPr lang="en-US" sz="1500" dirty="0"/>
          </a:p>
        </p:txBody>
      </p:sp>
      <p:sp>
        <p:nvSpPr>
          <p:cNvPr id="7" name="divleafbox|b1"/>
          <p:cNvSpPr/>
          <p:nvPr/>
        </p:nvSpPr>
        <p:spPr>
          <a:xfrm>
            <a:off x="548640" y="3108960"/>
            <a:ext cx="3931920" cy="246888"/>
          </a:xfrm>
          <a:prstGeom prst="roundRect">
            <a:avLst>
              <a:gd name="adj" fmla="val 22222"/>
            </a:avLst>
          </a:prstGeom>
          <a:solidFill>
            <a:srgbClr val="2C3E54"/>
          </a:solidFill>
          <a:ln w="12700">
            <a:solidFill>
              <a:srgbClr val="3B5B87"/>
            </a:solidFill>
            <a:prstDash val="solid"/>
          </a:ln>
        </p:spPr>
      </p:sp>
      <p:sp>
        <p:nvSpPr>
          <p:cNvPr id="8" name="divleaf|b1"/>
          <p:cNvSpPr txBox="1"/>
          <p:nvPr/>
        </p:nvSpPr>
        <p:spPr>
          <a:xfrm>
            <a:off x="6400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Random choice</a:t>
            </a:r>
            <a:endParaRPr lang="en-US" sz="1200" dirty="0"/>
          </a:p>
        </p:txBody>
      </p:sp>
      <p:sp>
        <p:nvSpPr>
          <p:cNvPr id="9" name="divleafbox|b1"/>
          <p:cNvSpPr/>
          <p:nvPr/>
        </p:nvSpPr>
        <p:spPr>
          <a:xfrm>
            <a:off x="548640" y="3392424"/>
            <a:ext cx="3931920" cy="246888"/>
          </a:xfrm>
          <a:prstGeom prst="roundRect">
            <a:avLst>
              <a:gd name="adj" fmla="val 22222"/>
            </a:avLst>
          </a:prstGeom>
          <a:solidFill>
            <a:srgbClr val="2C3E54"/>
          </a:solidFill>
          <a:ln w="12700">
            <a:solidFill>
              <a:srgbClr val="3B5B87"/>
            </a:solidFill>
            <a:prstDash val="solid"/>
          </a:ln>
        </p:spPr>
      </p:sp>
      <p:sp>
        <p:nvSpPr>
          <p:cNvPr id="10" name="divleaf|b1"/>
          <p:cNvSpPr txBox="1"/>
          <p:nvPr/>
        </p:nvSpPr>
        <p:spPr>
          <a:xfrm>
            <a:off x="6400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Random shuffle</a:t>
            </a:r>
            <a:endParaRPr lang="en-US" sz="1200" dirty="0"/>
          </a:p>
        </p:txBody>
      </p:sp>
      <p:sp>
        <p:nvSpPr>
          <p:cNvPr id="11" name="divmid|b2"/>
          <p:cNvSpPr txBox="1"/>
          <p:nvPr/>
        </p:nvSpPr>
        <p:spPr>
          <a:xfrm>
            <a:off x="4663440" y="2788920"/>
            <a:ext cx="3931920" cy="274320"/>
          </a:xfrm>
          <a:prstGeom prst="rect">
            <a:avLst/>
          </a:prstGeom>
          <a:noFill/>
          <a:ln/>
        </p:spPr>
        <p:txBody>
          <a:bodyPr wrap="square" lIns="0" tIns="0" rIns="0" bIns="0" rtlCol="0" anchor="ctr"/>
          <a:lstStyle/>
          <a:p>
            <a:pPr indent="0" marL="0">
              <a:buNone/>
            </a:pPr>
            <a:r>
              <a:rPr lang="en-US" sz="1500" b="1" dirty="0">
                <a:solidFill>
                  <a:srgbClr val="C9D4E0"/>
                </a:solidFill>
                <a:latin typeface="Cambria" pitchFamily="34" charset="0"/>
                <a:ea typeface="Cambria" pitchFamily="34" charset="-122"/>
                <a:cs typeface="Cambria" pitchFamily="34" charset="-120"/>
              </a:rPr>
              <a:t>Programs</a:t>
            </a:r>
            <a:endParaRPr lang="en-US" sz="1500" dirty="0"/>
          </a:p>
        </p:txBody>
      </p:sp>
      <p:sp>
        <p:nvSpPr>
          <p:cNvPr id="12" name="divleafbox|b2"/>
          <p:cNvSpPr/>
          <p:nvPr/>
        </p:nvSpPr>
        <p:spPr>
          <a:xfrm>
            <a:off x="4663440" y="3108960"/>
            <a:ext cx="3931920" cy="246888"/>
          </a:xfrm>
          <a:prstGeom prst="roundRect">
            <a:avLst>
              <a:gd name="adj" fmla="val 22222"/>
            </a:avLst>
          </a:prstGeom>
          <a:solidFill>
            <a:srgbClr val="2C3E54"/>
          </a:solidFill>
          <a:ln w="12700">
            <a:solidFill>
              <a:srgbClr val="3B5B87"/>
            </a:solidFill>
            <a:prstDash val="solid"/>
          </a:ln>
        </p:spPr>
      </p:sp>
      <p:sp>
        <p:nvSpPr>
          <p:cNvPr id="13" name="divleaf|b2"/>
          <p:cNvSpPr txBox="1"/>
          <p:nvPr/>
        </p:nvSpPr>
        <p:spPr>
          <a:xfrm>
            <a:off x="4754880" y="3108960"/>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Magic eight ball</a:t>
            </a:r>
            <a:endParaRPr lang="en-US" sz="1200" dirty="0"/>
          </a:p>
        </p:txBody>
      </p:sp>
      <p:sp>
        <p:nvSpPr>
          <p:cNvPr id="14" name="divleafbox|b2"/>
          <p:cNvSpPr/>
          <p:nvPr/>
        </p:nvSpPr>
        <p:spPr>
          <a:xfrm>
            <a:off x="4663440" y="3392424"/>
            <a:ext cx="3931920" cy="246888"/>
          </a:xfrm>
          <a:prstGeom prst="roundRect">
            <a:avLst>
              <a:gd name="adj" fmla="val 22222"/>
            </a:avLst>
          </a:prstGeom>
          <a:solidFill>
            <a:srgbClr val="2C3E54"/>
          </a:solidFill>
          <a:ln w="12700">
            <a:solidFill>
              <a:srgbClr val="3B5B87"/>
            </a:solidFill>
            <a:prstDash val="solid"/>
          </a:ln>
        </p:spPr>
      </p:sp>
      <p:sp>
        <p:nvSpPr>
          <p:cNvPr id="15" name="divleaf|b2"/>
          <p:cNvSpPr txBox="1"/>
          <p:nvPr/>
        </p:nvSpPr>
        <p:spPr>
          <a:xfrm>
            <a:off x="4754880" y="3392424"/>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Matrix screensaver</a:t>
            </a:r>
            <a:endParaRPr lang="en-US" sz="1200" dirty="0"/>
          </a:p>
        </p:txBody>
      </p:sp>
      <p:sp>
        <p:nvSpPr>
          <p:cNvPr id="16" name="divleafbox|b2"/>
          <p:cNvSpPr/>
          <p:nvPr/>
        </p:nvSpPr>
        <p:spPr>
          <a:xfrm>
            <a:off x="4663440" y="3675888"/>
            <a:ext cx="3931920" cy="246888"/>
          </a:xfrm>
          <a:prstGeom prst="roundRect">
            <a:avLst>
              <a:gd name="adj" fmla="val 22222"/>
            </a:avLst>
          </a:prstGeom>
          <a:solidFill>
            <a:srgbClr val="2C3E54"/>
          </a:solidFill>
          <a:ln w="12700">
            <a:solidFill>
              <a:srgbClr val="3B5B87"/>
            </a:solidFill>
            <a:prstDash val="solid"/>
          </a:ln>
        </p:spPr>
      </p:sp>
      <p:sp>
        <p:nvSpPr>
          <p:cNvPr id="17" name="divleaf|b2"/>
          <p:cNvSpPr txBox="1"/>
          <p:nvPr/>
        </p:nvSpPr>
        <p:spPr>
          <a:xfrm>
            <a:off x="4754880" y="3675888"/>
            <a:ext cx="3749040" cy="24688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Practice programs</a:t>
            </a:r>
            <a:endParaRPr lang="en-US" sz="1200" dirty="0"/>
          </a:p>
        </p:txBody>
      </p:sp>
      <p:sp>
        <p:nvSpPr>
          <p:cNvPr id="18" name="x"/>
          <p:cNvSpPr/>
          <p:nvPr/>
        </p:nvSpPr>
        <p:spPr>
          <a:xfrm>
            <a:off x="548640" y="4572000"/>
            <a:ext cx="1267968" cy="64008"/>
          </a:xfrm>
          <a:prstGeom prst="rect">
            <a:avLst/>
          </a:prstGeom>
          <a:solidFill>
            <a:srgbClr val="4A5D75"/>
          </a:solidFill>
          <a:ln w="12700">
            <a:solidFill>
              <a:srgbClr val="4A5D75"/>
            </a:solidFill>
            <a:prstDash val="solid"/>
          </a:ln>
        </p:spPr>
      </p:sp>
      <p:sp>
        <p:nvSpPr>
          <p:cNvPr id="19" name="x"/>
          <p:cNvSpPr/>
          <p:nvPr/>
        </p:nvSpPr>
        <p:spPr>
          <a:xfrm>
            <a:off x="1889760" y="4572000"/>
            <a:ext cx="1267968" cy="64008"/>
          </a:xfrm>
          <a:prstGeom prst="rect">
            <a:avLst/>
          </a:prstGeom>
          <a:solidFill>
            <a:srgbClr val="4A5D75"/>
          </a:solidFill>
          <a:ln w="12700">
            <a:solidFill>
              <a:srgbClr val="4A5D75"/>
            </a:solidFill>
            <a:prstDash val="solid"/>
          </a:ln>
        </p:spPr>
      </p:sp>
      <p:sp>
        <p:nvSpPr>
          <p:cNvPr id="20" name="x"/>
          <p:cNvSpPr/>
          <p:nvPr/>
        </p:nvSpPr>
        <p:spPr>
          <a:xfrm>
            <a:off x="3230880" y="4572000"/>
            <a:ext cx="1267968" cy="64008"/>
          </a:xfrm>
          <a:prstGeom prst="rect">
            <a:avLst/>
          </a:prstGeom>
          <a:solidFill>
            <a:srgbClr val="4A5D75"/>
          </a:solidFill>
          <a:ln w="12700">
            <a:solidFill>
              <a:srgbClr val="4A5D75"/>
            </a:solidFill>
            <a:prstDash val="solid"/>
          </a:ln>
        </p:spPr>
      </p:sp>
      <p:sp>
        <p:nvSpPr>
          <p:cNvPr id="21" name="x"/>
          <p:cNvSpPr/>
          <p:nvPr/>
        </p:nvSpPr>
        <p:spPr>
          <a:xfrm>
            <a:off x="4572000" y="4572000"/>
            <a:ext cx="1267968" cy="64008"/>
          </a:xfrm>
          <a:prstGeom prst="rect">
            <a:avLst/>
          </a:prstGeom>
          <a:solidFill>
            <a:srgbClr val="4A5D75"/>
          </a:solidFill>
          <a:ln w="12700">
            <a:solidFill>
              <a:srgbClr val="4A5D75"/>
            </a:solidFill>
            <a:prstDash val="solid"/>
          </a:ln>
        </p:spPr>
      </p:sp>
      <p:sp>
        <p:nvSpPr>
          <p:cNvPr id="22" name="x"/>
          <p:cNvSpPr/>
          <p:nvPr/>
        </p:nvSpPr>
        <p:spPr>
          <a:xfrm>
            <a:off x="5913120" y="4572000"/>
            <a:ext cx="1267968" cy="64008"/>
          </a:xfrm>
          <a:prstGeom prst="rect">
            <a:avLst/>
          </a:prstGeom>
          <a:solidFill>
            <a:srgbClr val="4A5D75"/>
          </a:solidFill>
          <a:ln w="12700">
            <a:solidFill>
              <a:srgbClr val="4A5D75"/>
            </a:solidFill>
            <a:prstDash val="solid"/>
          </a:ln>
        </p:spPr>
      </p:sp>
      <p:sp>
        <p:nvSpPr>
          <p:cNvPr id="23" name="x"/>
          <p:cNvSpPr/>
          <p:nvPr/>
        </p:nvSpPr>
        <p:spPr>
          <a:xfrm>
            <a:off x="7254240" y="4572000"/>
            <a:ext cx="1267968" cy="64008"/>
          </a:xfrm>
          <a:prstGeom prst="rect">
            <a:avLst/>
          </a:prstGeom>
          <a:solidFill>
            <a:srgbClr val="FFD43B"/>
          </a:solidFill>
          <a:ln w="12700">
            <a:solidFill>
              <a:srgbClr val="FFD43B"/>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41" fill="hold">
                      <p:stCondLst>
                        <p:cond delay="indefinite"/>
                      </p:stCondLst>
                      <p:childTnLst>
                        <p:par>
                          <p:cTn id="42"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P spid="13" grpId="0" animBg="1"/>
      <p:bldP spid="15" grpId="0" animBg="1"/>
      <p:bldP spid="1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Magic 8 Ball: a list of answers and a random index</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Program 1 of the chapter, with a fixed seed so every run prints the same answer</a:t>
            </a:r>
            <a:endParaRPr lang="en-US" sz="1400" dirty="0"/>
          </a:p>
        </p:txBody>
      </p:sp>
      <p:sp>
        <p:nvSpPr>
          <p:cNvPr id="6" name="progbox"/>
          <p:cNvSpPr/>
          <p:nvPr/>
        </p:nvSpPr>
        <p:spPr>
          <a:xfrm>
            <a:off x="365760" y="1188720"/>
            <a:ext cx="4160520" cy="2286000"/>
          </a:xfrm>
          <a:prstGeom prst="roundRect">
            <a:avLst>
              <a:gd name="adj" fmla="val 4000"/>
            </a:avLst>
          </a:prstGeom>
          <a:solidFill>
            <a:srgbClr val="17202B"/>
          </a:solidFill>
          <a:ln w="12700">
            <a:solidFill>
              <a:srgbClr val="17202B"/>
            </a:solidFill>
            <a:prstDash val="solid"/>
          </a:ln>
        </p:spPr>
      </p:sp>
      <p:sp>
        <p:nvSpPr>
          <p:cNvPr id="7" name="prog"/>
          <p:cNvSpPr txBox="1"/>
          <p:nvPr/>
        </p:nvSpPr>
        <p:spPr>
          <a:xfrm>
            <a:off x="502920" y="1261872"/>
            <a:ext cx="3886200" cy="2139696"/>
          </a:xfrm>
          <a:prstGeom prst="rect">
            <a:avLst/>
          </a:prstGeom>
          <a:noFill/>
          <a:ln/>
        </p:spPr>
        <p:txBody>
          <a:bodyPr wrap="square" lIns="0" tIns="0" rIns="0" bIns="0" rtlCol="0" anchor="t"/>
          <a:lstStyle/>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import random</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random.seed(4)  # the same answer every run</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messages = ['It is certain',</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'It is decidedly so',</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'Yes definitely',</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'Reply hazy try again',</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'Ask again later',</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'Concentrate and ask again',</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'My reply is no',</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'Outlook not so good',</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'Very doubtful']</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print('Ask a yes or no question:')</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input('&gt;')</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print(messages[random.randint(0, len(messages) - 1)])</a:t>
            </a:r>
            <a:endParaRPr lang="en-US" sz="900" dirty="0"/>
          </a:p>
        </p:txBody>
      </p:sp>
      <p:sp>
        <p:nvSpPr>
          <p:cNvPr id="8" name="transbox|b1"/>
          <p:cNvSpPr/>
          <p:nvPr/>
        </p:nvSpPr>
        <p:spPr>
          <a:xfrm>
            <a:off x="365760" y="3566160"/>
            <a:ext cx="4160520" cy="658368"/>
          </a:xfrm>
          <a:prstGeom prst="roundRect">
            <a:avLst>
              <a:gd name="adj" fmla="val 13889"/>
            </a:avLst>
          </a:prstGeom>
          <a:solidFill>
            <a:srgbClr val="F1F4F8"/>
          </a:solidFill>
          <a:ln w="12700">
            <a:solidFill>
              <a:srgbClr val="F1F4F8"/>
            </a:solidFill>
            <a:prstDash val="solid"/>
          </a:ln>
        </p:spPr>
      </p:sp>
      <p:sp>
        <p:nvSpPr>
          <p:cNvPr id="9" name="trans|b1"/>
          <p:cNvSpPr txBox="1"/>
          <p:nvPr/>
        </p:nvSpPr>
        <p:spPr>
          <a:xfrm>
            <a:off x="475488" y="3621024"/>
            <a:ext cx="3941064" cy="548640"/>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Ask a yes or no question:</a:t>
            </a:r>
            <a:endParaRPr lang="en-US" sz="1100" dirty="0"/>
          </a:p>
          <a:p>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&gt;Will it rain?</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Reply hazy try again</a:t>
            </a:r>
            <a:endParaRPr lang="en-US" sz="1100" dirty="0"/>
          </a:p>
        </p:txBody>
      </p:sp>
      <p:sp>
        <p:nvSpPr>
          <p:cNvPr id="10" name="transcap|b1"/>
          <p:cNvSpPr txBox="1"/>
          <p:nvPr/>
        </p:nvSpPr>
        <p:spPr>
          <a:xfrm>
            <a:off x="365760" y="4242816"/>
            <a:ext cx="4160520" cy="182880"/>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1" name="histtitle|b2"/>
          <p:cNvSpPr txBox="1"/>
          <p:nvPr/>
        </p:nvSpPr>
        <p:spPr>
          <a:xfrm>
            <a:off x="4663440" y="1152144"/>
            <a:ext cx="4114800" cy="201168"/>
          </a:xfrm>
          <a:prstGeom prst="rect">
            <a:avLst/>
          </a:prstGeom>
          <a:noFill/>
          <a:ln/>
        </p:spPr>
        <p:txBody>
          <a:bodyPr wrap="square" lIns="0" tIns="0" rIns="0" bIns="0" rtlCol="0" anchor="ctr"/>
          <a:lstStyle/>
          <a:p>
            <a:pPr indent="0" marL="0">
              <a:buNone/>
            </a:pPr>
            <a:r>
              <a:rPr lang="en-US" sz="1050" b="1" dirty="0">
                <a:solidFill>
                  <a:srgbClr val="1E2A3A"/>
                </a:solidFill>
                <a:latin typeface="Calibri" pitchFamily="34" charset="0"/>
                <a:ea typeface="Calibri" pitchFamily="34" charset="-122"/>
                <a:cs typeface="Calibri" pitchFamily="34" charset="-120"/>
              </a:rPr>
              <a:t>2000 draws of randint(0, len(messages) - 1), seed 8</a:t>
            </a:r>
            <a:endParaRPr lang="en-US" sz="1050" dirty="0"/>
          </a:p>
        </p:txBody>
      </p:sp>
      <p:sp>
        <p:nvSpPr>
          <p:cNvPr id="12" name="v:MagicEightBall:h0l|b2"/>
          <p:cNvSpPr txBox="1"/>
          <p:nvPr/>
        </p:nvSpPr>
        <p:spPr>
          <a:xfrm>
            <a:off x="4663440" y="137160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0  It is certain</a:t>
            </a:r>
            <a:endParaRPr lang="en-US" sz="1000" dirty="0"/>
          </a:p>
        </p:txBody>
      </p:sp>
      <p:sp>
        <p:nvSpPr>
          <p:cNvPr id="13" name="v:MagicEightBall:h0bar:box|b2"/>
          <p:cNvSpPr/>
          <p:nvPr/>
        </p:nvSpPr>
        <p:spPr>
          <a:xfrm>
            <a:off x="6812280" y="1389888"/>
            <a:ext cx="1230677" cy="73152"/>
          </a:xfrm>
          <a:prstGeom prst="rect">
            <a:avLst/>
          </a:prstGeom>
          <a:solidFill>
            <a:srgbClr val="306998"/>
          </a:solidFill>
          <a:ln w="12700">
            <a:solidFill>
              <a:srgbClr val="306998"/>
            </a:solidFill>
            <a:prstDash val="solid"/>
          </a:ln>
        </p:spPr>
      </p:sp>
      <p:sp>
        <p:nvSpPr>
          <p:cNvPr id="14" name="v:MagicEightBall:h0n|b2"/>
          <p:cNvSpPr txBox="1"/>
          <p:nvPr/>
        </p:nvSpPr>
        <p:spPr>
          <a:xfrm>
            <a:off x="8088677" y="137160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211</a:t>
            </a:r>
            <a:endParaRPr lang="en-US" sz="1000" dirty="0"/>
          </a:p>
        </p:txBody>
      </p:sp>
      <p:sp>
        <p:nvSpPr>
          <p:cNvPr id="15" name="v:MagicEightBall:h1l|b2"/>
          <p:cNvSpPr txBox="1"/>
          <p:nvPr/>
        </p:nvSpPr>
        <p:spPr>
          <a:xfrm>
            <a:off x="4663440" y="150876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1  It is decidedly so</a:t>
            </a:r>
            <a:endParaRPr lang="en-US" sz="1000" dirty="0"/>
          </a:p>
        </p:txBody>
      </p:sp>
      <p:sp>
        <p:nvSpPr>
          <p:cNvPr id="16" name="v:MagicEightBall:h1bar:box|b2"/>
          <p:cNvSpPr/>
          <p:nvPr/>
        </p:nvSpPr>
        <p:spPr>
          <a:xfrm>
            <a:off x="6812280" y="1527048"/>
            <a:ext cx="1388157" cy="73152"/>
          </a:xfrm>
          <a:prstGeom prst="rect">
            <a:avLst/>
          </a:prstGeom>
          <a:solidFill>
            <a:srgbClr val="306998"/>
          </a:solidFill>
          <a:ln w="12700">
            <a:solidFill>
              <a:srgbClr val="306998"/>
            </a:solidFill>
            <a:prstDash val="solid"/>
          </a:ln>
        </p:spPr>
      </p:sp>
      <p:sp>
        <p:nvSpPr>
          <p:cNvPr id="17" name="v:MagicEightBall:h1n|b2"/>
          <p:cNvSpPr txBox="1"/>
          <p:nvPr/>
        </p:nvSpPr>
        <p:spPr>
          <a:xfrm>
            <a:off x="8246157" y="150876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238</a:t>
            </a:r>
            <a:endParaRPr lang="en-US" sz="1000" dirty="0"/>
          </a:p>
        </p:txBody>
      </p:sp>
      <p:sp>
        <p:nvSpPr>
          <p:cNvPr id="18" name="v:MagicEightBall:h2l|b2"/>
          <p:cNvSpPr txBox="1"/>
          <p:nvPr/>
        </p:nvSpPr>
        <p:spPr>
          <a:xfrm>
            <a:off x="4663440" y="164592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2  Yes definitely</a:t>
            </a:r>
            <a:endParaRPr lang="en-US" sz="1000" dirty="0"/>
          </a:p>
        </p:txBody>
      </p:sp>
      <p:sp>
        <p:nvSpPr>
          <p:cNvPr id="19" name="v:MagicEightBall:h2bar:box|b2"/>
          <p:cNvSpPr/>
          <p:nvPr/>
        </p:nvSpPr>
        <p:spPr>
          <a:xfrm>
            <a:off x="6812280" y="1664208"/>
            <a:ext cx="1300668" cy="73152"/>
          </a:xfrm>
          <a:prstGeom prst="rect">
            <a:avLst/>
          </a:prstGeom>
          <a:solidFill>
            <a:srgbClr val="306998"/>
          </a:solidFill>
          <a:ln w="12700">
            <a:solidFill>
              <a:srgbClr val="306998"/>
            </a:solidFill>
            <a:prstDash val="solid"/>
          </a:ln>
        </p:spPr>
      </p:sp>
      <p:sp>
        <p:nvSpPr>
          <p:cNvPr id="20" name="v:MagicEightBall:h2n|b2"/>
          <p:cNvSpPr txBox="1"/>
          <p:nvPr/>
        </p:nvSpPr>
        <p:spPr>
          <a:xfrm>
            <a:off x="8158668" y="164592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223</a:t>
            </a:r>
            <a:endParaRPr lang="en-US" sz="1000" dirty="0"/>
          </a:p>
        </p:txBody>
      </p:sp>
      <p:sp>
        <p:nvSpPr>
          <p:cNvPr id="21" name="v:MagicEightBall:h3l|b2"/>
          <p:cNvSpPr txBox="1"/>
          <p:nvPr/>
        </p:nvSpPr>
        <p:spPr>
          <a:xfrm>
            <a:off x="4663440" y="178308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3  Reply hazy try again</a:t>
            </a:r>
            <a:endParaRPr lang="en-US" sz="1000" dirty="0"/>
          </a:p>
        </p:txBody>
      </p:sp>
      <p:sp>
        <p:nvSpPr>
          <p:cNvPr id="22" name="v:MagicEightBall:h3bar:box|b2"/>
          <p:cNvSpPr/>
          <p:nvPr/>
        </p:nvSpPr>
        <p:spPr>
          <a:xfrm>
            <a:off x="6812280" y="1801368"/>
            <a:ext cx="1189849" cy="73152"/>
          </a:xfrm>
          <a:prstGeom prst="rect">
            <a:avLst/>
          </a:prstGeom>
          <a:solidFill>
            <a:srgbClr val="306998"/>
          </a:solidFill>
          <a:ln w="12700">
            <a:solidFill>
              <a:srgbClr val="306998"/>
            </a:solidFill>
            <a:prstDash val="solid"/>
          </a:ln>
        </p:spPr>
      </p:sp>
      <p:sp>
        <p:nvSpPr>
          <p:cNvPr id="23" name="v:MagicEightBall:h3n|b2"/>
          <p:cNvSpPr txBox="1"/>
          <p:nvPr/>
        </p:nvSpPr>
        <p:spPr>
          <a:xfrm>
            <a:off x="8047849" y="178308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204</a:t>
            </a:r>
            <a:endParaRPr lang="en-US" sz="1000" dirty="0"/>
          </a:p>
        </p:txBody>
      </p:sp>
      <p:sp>
        <p:nvSpPr>
          <p:cNvPr id="24" name="v:MagicEightBall:h4l|b2"/>
          <p:cNvSpPr txBox="1"/>
          <p:nvPr/>
        </p:nvSpPr>
        <p:spPr>
          <a:xfrm>
            <a:off x="4663440" y="192024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4  Ask again later</a:t>
            </a:r>
            <a:endParaRPr lang="en-US" sz="1000" dirty="0"/>
          </a:p>
        </p:txBody>
      </p:sp>
      <p:sp>
        <p:nvSpPr>
          <p:cNvPr id="25" name="v:MagicEightBall:h4bar:box|b2"/>
          <p:cNvSpPr/>
          <p:nvPr/>
        </p:nvSpPr>
        <p:spPr>
          <a:xfrm>
            <a:off x="6812280" y="1938528"/>
            <a:ext cx="1417320" cy="73152"/>
          </a:xfrm>
          <a:prstGeom prst="rect">
            <a:avLst/>
          </a:prstGeom>
          <a:solidFill>
            <a:srgbClr val="306998"/>
          </a:solidFill>
          <a:ln w="12700">
            <a:solidFill>
              <a:srgbClr val="306998"/>
            </a:solidFill>
            <a:prstDash val="solid"/>
          </a:ln>
        </p:spPr>
      </p:sp>
      <p:sp>
        <p:nvSpPr>
          <p:cNvPr id="26" name="v:MagicEightBall:h4n|b2"/>
          <p:cNvSpPr txBox="1"/>
          <p:nvPr/>
        </p:nvSpPr>
        <p:spPr>
          <a:xfrm>
            <a:off x="8275320" y="192024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243</a:t>
            </a:r>
            <a:endParaRPr lang="en-US" sz="1000" dirty="0"/>
          </a:p>
        </p:txBody>
      </p:sp>
      <p:sp>
        <p:nvSpPr>
          <p:cNvPr id="27" name="v:MagicEightBall:h5l|b2"/>
          <p:cNvSpPr txBox="1"/>
          <p:nvPr/>
        </p:nvSpPr>
        <p:spPr>
          <a:xfrm>
            <a:off x="4663440" y="205740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5  Concentrate and ask again</a:t>
            </a:r>
            <a:endParaRPr lang="en-US" sz="1000" dirty="0"/>
          </a:p>
        </p:txBody>
      </p:sp>
      <p:sp>
        <p:nvSpPr>
          <p:cNvPr id="28" name="v:MagicEightBall:h5bar:box|b2"/>
          <p:cNvSpPr/>
          <p:nvPr/>
        </p:nvSpPr>
        <p:spPr>
          <a:xfrm>
            <a:off x="6812280" y="2075688"/>
            <a:ext cx="1271505" cy="73152"/>
          </a:xfrm>
          <a:prstGeom prst="rect">
            <a:avLst/>
          </a:prstGeom>
          <a:solidFill>
            <a:srgbClr val="306998"/>
          </a:solidFill>
          <a:ln w="12700">
            <a:solidFill>
              <a:srgbClr val="306998"/>
            </a:solidFill>
            <a:prstDash val="solid"/>
          </a:ln>
        </p:spPr>
      </p:sp>
      <p:sp>
        <p:nvSpPr>
          <p:cNvPr id="29" name="v:MagicEightBall:h5n|b2"/>
          <p:cNvSpPr txBox="1"/>
          <p:nvPr/>
        </p:nvSpPr>
        <p:spPr>
          <a:xfrm>
            <a:off x="8129505" y="205740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218</a:t>
            </a:r>
            <a:endParaRPr lang="en-US" sz="1000" dirty="0"/>
          </a:p>
        </p:txBody>
      </p:sp>
      <p:sp>
        <p:nvSpPr>
          <p:cNvPr id="30" name="v:MagicEightBall:h6l|b2"/>
          <p:cNvSpPr txBox="1"/>
          <p:nvPr/>
        </p:nvSpPr>
        <p:spPr>
          <a:xfrm>
            <a:off x="4663440" y="219456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6  My reply is no</a:t>
            </a:r>
            <a:endParaRPr lang="en-US" sz="1000" dirty="0"/>
          </a:p>
        </p:txBody>
      </p:sp>
      <p:sp>
        <p:nvSpPr>
          <p:cNvPr id="31" name="v:MagicEightBall:h6bar:box|b2"/>
          <p:cNvSpPr/>
          <p:nvPr/>
        </p:nvSpPr>
        <p:spPr>
          <a:xfrm>
            <a:off x="6812280" y="2212848"/>
            <a:ext cx="1224844" cy="73152"/>
          </a:xfrm>
          <a:prstGeom prst="rect">
            <a:avLst/>
          </a:prstGeom>
          <a:solidFill>
            <a:srgbClr val="306998"/>
          </a:solidFill>
          <a:ln w="12700">
            <a:solidFill>
              <a:srgbClr val="306998"/>
            </a:solidFill>
            <a:prstDash val="solid"/>
          </a:ln>
        </p:spPr>
      </p:sp>
      <p:sp>
        <p:nvSpPr>
          <p:cNvPr id="32" name="v:MagicEightBall:h6n|b2"/>
          <p:cNvSpPr txBox="1"/>
          <p:nvPr/>
        </p:nvSpPr>
        <p:spPr>
          <a:xfrm>
            <a:off x="8082844" y="219456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210</a:t>
            </a:r>
            <a:endParaRPr lang="en-US" sz="1000" dirty="0"/>
          </a:p>
        </p:txBody>
      </p:sp>
      <p:sp>
        <p:nvSpPr>
          <p:cNvPr id="33" name="v:MagicEightBall:h7l|b2"/>
          <p:cNvSpPr txBox="1"/>
          <p:nvPr/>
        </p:nvSpPr>
        <p:spPr>
          <a:xfrm>
            <a:off x="4663440" y="233172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7  Outlook not so good</a:t>
            </a:r>
            <a:endParaRPr lang="en-US" sz="1000" dirty="0"/>
          </a:p>
        </p:txBody>
      </p:sp>
      <p:sp>
        <p:nvSpPr>
          <p:cNvPr id="34" name="v:MagicEightBall:h7bar:box|b2"/>
          <p:cNvSpPr/>
          <p:nvPr/>
        </p:nvSpPr>
        <p:spPr>
          <a:xfrm>
            <a:off x="6812280" y="2350008"/>
            <a:ext cx="1248175" cy="73152"/>
          </a:xfrm>
          <a:prstGeom prst="rect">
            <a:avLst/>
          </a:prstGeom>
          <a:solidFill>
            <a:srgbClr val="306998"/>
          </a:solidFill>
          <a:ln w="12700">
            <a:solidFill>
              <a:srgbClr val="306998"/>
            </a:solidFill>
            <a:prstDash val="solid"/>
          </a:ln>
        </p:spPr>
      </p:sp>
      <p:sp>
        <p:nvSpPr>
          <p:cNvPr id="35" name="v:MagicEightBall:h7n|b2"/>
          <p:cNvSpPr txBox="1"/>
          <p:nvPr/>
        </p:nvSpPr>
        <p:spPr>
          <a:xfrm>
            <a:off x="8106175" y="233172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214</a:t>
            </a:r>
            <a:endParaRPr lang="en-US" sz="1000" dirty="0"/>
          </a:p>
        </p:txBody>
      </p:sp>
      <p:sp>
        <p:nvSpPr>
          <p:cNvPr id="36" name="v:MagicEightBall:h8l|b2"/>
          <p:cNvSpPr txBox="1"/>
          <p:nvPr/>
        </p:nvSpPr>
        <p:spPr>
          <a:xfrm>
            <a:off x="4663440" y="2468880"/>
            <a:ext cx="2075688" cy="109728"/>
          </a:xfrm>
          <a:prstGeom prst="rect">
            <a:avLst/>
          </a:prstGeom>
          <a:noFill/>
          <a:ln/>
        </p:spPr>
        <p:txBody>
          <a:bodyPr wrap="square" lIns="0" tIns="0" rIns="0" bIns="0" rtlCol="0" anchor="ctr">
            <a:normAutofit/>
          </a:bodyPr>
          <a:lstStyle/>
          <a:p>
            <a:pPr algn="r" indent="0" marL="0">
              <a:buNone/>
            </a:pPr>
            <a:r>
              <a:rPr lang="en-US" sz="1000" dirty="0">
                <a:solidFill>
                  <a:srgbClr val="1F2933"/>
                </a:solidFill>
                <a:latin typeface="Calibri" pitchFamily="34" charset="0"/>
                <a:ea typeface="Calibri" pitchFamily="34" charset="-122"/>
                <a:cs typeface="Calibri" pitchFamily="34" charset="-120"/>
              </a:rPr>
              <a:t>8  Very doubtful</a:t>
            </a:r>
            <a:endParaRPr lang="en-US" sz="1000" dirty="0"/>
          </a:p>
        </p:txBody>
      </p:sp>
      <p:sp>
        <p:nvSpPr>
          <p:cNvPr id="37" name="v:MagicEightBall:h8bar:box|b2"/>
          <p:cNvSpPr/>
          <p:nvPr/>
        </p:nvSpPr>
        <p:spPr>
          <a:xfrm>
            <a:off x="6812280" y="2487168"/>
            <a:ext cx="1393990" cy="73152"/>
          </a:xfrm>
          <a:prstGeom prst="rect">
            <a:avLst/>
          </a:prstGeom>
          <a:solidFill>
            <a:srgbClr val="306998"/>
          </a:solidFill>
          <a:ln w="12700">
            <a:solidFill>
              <a:srgbClr val="306998"/>
            </a:solidFill>
            <a:prstDash val="solid"/>
          </a:ln>
        </p:spPr>
      </p:sp>
      <p:sp>
        <p:nvSpPr>
          <p:cNvPr id="38" name="v:MagicEightBall:h8n|b2"/>
          <p:cNvSpPr txBox="1"/>
          <p:nvPr/>
        </p:nvSpPr>
        <p:spPr>
          <a:xfrm>
            <a:off x="8251990" y="2468880"/>
            <a:ext cx="457200" cy="109728"/>
          </a:xfrm>
          <a:prstGeom prst="rect">
            <a:avLst/>
          </a:prstGeom>
          <a:noFill/>
          <a:ln/>
        </p:spPr>
        <p:txBody>
          <a:bodyPr wrap="square" lIns="0" tIns="0" rIns="0" bIns="0" rtlCol="0" anchor="ctr"/>
          <a:lstStyle/>
          <a:p>
            <a:pPr indent="0" marL="0">
              <a:buNone/>
            </a:pPr>
            <a:r>
              <a:rPr lang="en-US" sz="1000" b="1" dirty="0">
                <a:solidFill>
                  <a:srgbClr val="306998"/>
                </a:solidFill>
                <a:latin typeface="Courier New" pitchFamily="34" charset="0"/>
                <a:ea typeface="Courier New" pitchFamily="34" charset="-122"/>
                <a:cs typeface="Courier New" pitchFamily="34" charset="-120"/>
              </a:rPr>
              <a:t>239</a:t>
            </a:r>
            <a:endParaRPr lang="en-US" sz="1000" dirty="0"/>
          </a:p>
        </p:txBody>
      </p:sp>
      <p:sp>
        <p:nvSpPr>
          <p:cNvPr id="39" name="v:RandomShuffle:f0box:box|b3"/>
          <p:cNvSpPr/>
          <p:nvPr/>
        </p:nvSpPr>
        <p:spPr>
          <a:xfrm>
            <a:off x="4663440" y="2724912"/>
            <a:ext cx="4114800" cy="579120"/>
          </a:xfrm>
          <a:prstGeom prst="roundRect">
            <a:avLst>
              <a:gd name="adj" fmla="val 12632"/>
            </a:avLst>
          </a:prstGeom>
          <a:solidFill>
            <a:srgbClr val="F1F4F8"/>
          </a:solidFill>
          <a:ln w="12700">
            <a:solidFill>
              <a:srgbClr val="F1F4F8"/>
            </a:solidFill>
            <a:prstDash val="solid"/>
          </a:ln>
        </p:spPr>
      </p:sp>
      <p:sp>
        <p:nvSpPr>
          <p:cNvPr id="40" name="v:RandomShuffle:f0t|b3"/>
          <p:cNvSpPr txBox="1"/>
          <p:nvPr/>
        </p:nvSpPr>
        <p:spPr>
          <a:xfrm>
            <a:off x="4773168" y="2743200"/>
            <a:ext cx="3895344" cy="173736"/>
          </a:xfrm>
          <a:prstGeom prst="rect">
            <a:avLst/>
          </a:prstGeom>
          <a:noFill/>
          <a:ln/>
        </p:spPr>
        <p:txBody>
          <a:bodyPr wrap="square" lIns="0" tIns="0" rIns="0" bIns="0" rtlCol="0" anchor="ctr">
            <a:normAutofit/>
          </a:bodyPr>
          <a:lstStyle/>
          <a:p>
            <a:pPr indent="0" marL="0">
              <a:buNone/>
            </a:pPr>
            <a:r>
              <a:rPr lang="en-US" sz="1000" b="1" dirty="0">
                <a:solidFill>
                  <a:srgbClr val="306998"/>
                </a:solidFill>
                <a:latin typeface="Calibri" pitchFamily="34" charset="0"/>
                <a:ea typeface="Calibri" pitchFamily="34" charset="-122"/>
                <a:cs typeface="Calibri" pitchFamily="34" charset="-120"/>
              </a:rPr>
              <a:t>choice returns one item and leaves the list alone</a:t>
            </a:r>
            <a:endParaRPr lang="en-US" sz="1000" dirty="0"/>
          </a:p>
        </p:txBody>
      </p:sp>
      <p:sp>
        <p:nvSpPr>
          <p:cNvPr id="41" name="v:RandomShuffle:f0e|b3"/>
          <p:cNvSpPr txBox="1"/>
          <p:nvPr/>
        </p:nvSpPr>
        <p:spPr>
          <a:xfrm>
            <a:off x="4773168" y="2916936"/>
            <a:ext cx="3895344" cy="173736"/>
          </a:xfrm>
          <a:prstGeom prst="rect">
            <a:avLst/>
          </a:prstGeom>
          <a:noFill/>
          <a:ln/>
        </p:spPr>
        <p:txBody>
          <a:bodyPr wrap="square" lIns="0" tIns="0" rIns="0" bIns="0" rtlCol="0" anchor="ctr">
            <a:normAutofit/>
          </a:bodyPr>
          <a:lstStyle/>
          <a:p>
            <a:pPr indent="0" marL="0">
              <a:buNone/>
            </a:pPr>
            <a:r>
              <a:rPr lang="en-US" sz="950" dirty="0">
                <a:solidFill>
                  <a:srgbClr val="5B6B7B"/>
                </a:solidFill>
                <a:latin typeface="Courier New" pitchFamily="34" charset="0"/>
                <a:ea typeface="Courier New" pitchFamily="34" charset="-122"/>
                <a:cs typeface="Courier New" pitchFamily="34" charset="-120"/>
              </a:rPr>
              <a:t>random.choice(['Dog', 'Cat', 'Moose'])</a:t>
            </a:r>
            <a:endParaRPr lang="en-US" sz="950" dirty="0"/>
          </a:p>
        </p:txBody>
      </p:sp>
      <p:sp>
        <p:nvSpPr>
          <p:cNvPr id="42" name="v:RandomShuffle:f0r|b3"/>
          <p:cNvSpPr txBox="1"/>
          <p:nvPr/>
        </p:nvSpPr>
        <p:spPr>
          <a:xfrm>
            <a:off x="4773168" y="3090672"/>
            <a:ext cx="3895344" cy="201168"/>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ourier New" pitchFamily="34" charset="0"/>
                <a:ea typeface="Courier New" pitchFamily="34" charset="-122"/>
                <a:cs typeface="Courier New" pitchFamily="34" charset="-120"/>
              </a:rPr>
              <a:t>'Dog'</a:t>
            </a:r>
            <a:endParaRPr lang="en-US" sz="1100" dirty="0"/>
          </a:p>
        </p:txBody>
      </p:sp>
      <p:sp>
        <p:nvSpPr>
          <p:cNvPr id="43" name="v:RandomShuffle:f1box:box|b4"/>
          <p:cNvSpPr/>
          <p:nvPr/>
        </p:nvSpPr>
        <p:spPr>
          <a:xfrm>
            <a:off x="4663440" y="3368040"/>
            <a:ext cx="4114800" cy="579120"/>
          </a:xfrm>
          <a:prstGeom prst="roundRect">
            <a:avLst>
              <a:gd name="adj" fmla="val 12632"/>
            </a:avLst>
          </a:prstGeom>
          <a:solidFill>
            <a:srgbClr val="F1F4F8"/>
          </a:solidFill>
          <a:ln w="12700">
            <a:solidFill>
              <a:srgbClr val="F1F4F8"/>
            </a:solidFill>
            <a:prstDash val="solid"/>
          </a:ln>
        </p:spPr>
      </p:sp>
      <p:sp>
        <p:nvSpPr>
          <p:cNvPr id="44" name="v:RandomShuffle:f1t|b4"/>
          <p:cNvSpPr txBox="1"/>
          <p:nvPr/>
        </p:nvSpPr>
        <p:spPr>
          <a:xfrm>
            <a:off x="4773168" y="3386328"/>
            <a:ext cx="3895344" cy="173736"/>
          </a:xfrm>
          <a:prstGeom prst="rect">
            <a:avLst/>
          </a:prstGeom>
          <a:noFill/>
          <a:ln/>
        </p:spPr>
        <p:txBody>
          <a:bodyPr wrap="square" lIns="0" tIns="0" rIns="0" bIns="0" rtlCol="0" anchor="ctr">
            <a:normAutofit/>
          </a:bodyPr>
          <a:lstStyle/>
          <a:p>
            <a:pPr indent="0" marL="0">
              <a:buNone/>
            </a:pPr>
            <a:r>
              <a:rPr lang="en-US" sz="1000" b="1" dirty="0">
                <a:solidFill>
                  <a:srgbClr val="306998"/>
                </a:solidFill>
                <a:latin typeface="Calibri" pitchFamily="34" charset="0"/>
                <a:ea typeface="Calibri" pitchFamily="34" charset="-122"/>
                <a:cs typeface="Calibri" pitchFamily="34" charset="-120"/>
              </a:rPr>
              <a:t>shuffle reorders the list itself and returns None</a:t>
            </a:r>
            <a:endParaRPr lang="en-US" sz="1000" dirty="0"/>
          </a:p>
        </p:txBody>
      </p:sp>
      <p:sp>
        <p:nvSpPr>
          <p:cNvPr id="45" name="v:RandomShuffle:f1e|b4"/>
          <p:cNvSpPr txBox="1"/>
          <p:nvPr/>
        </p:nvSpPr>
        <p:spPr>
          <a:xfrm>
            <a:off x="4773168" y="3560064"/>
            <a:ext cx="3895344" cy="173736"/>
          </a:xfrm>
          <a:prstGeom prst="rect">
            <a:avLst/>
          </a:prstGeom>
          <a:noFill/>
          <a:ln/>
        </p:spPr>
        <p:txBody>
          <a:bodyPr wrap="square" lIns="0" tIns="0" rIns="0" bIns="0" rtlCol="0" anchor="ctr">
            <a:normAutofit/>
          </a:bodyPr>
          <a:lstStyle/>
          <a:p>
            <a:pPr indent="0" marL="0">
              <a:buNone/>
            </a:pPr>
            <a:r>
              <a:rPr lang="en-US" sz="950" dirty="0">
                <a:solidFill>
                  <a:srgbClr val="5B6B7B"/>
                </a:solidFill>
                <a:latin typeface="Courier New" pitchFamily="34" charset="0"/>
                <a:ea typeface="Courier New" pitchFamily="34" charset="-122"/>
                <a:cs typeface="Courier New" pitchFamily="34" charset="-120"/>
              </a:rPr>
              <a:t>(random.shuffle(people), people)</a:t>
            </a:r>
            <a:endParaRPr lang="en-US" sz="950" dirty="0"/>
          </a:p>
        </p:txBody>
      </p:sp>
      <p:sp>
        <p:nvSpPr>
          <p:cNvPr id="46" name="v:RandomShuffle:f1r|b4"/>
          <p:cNvSpPr txBox="1"/>
          <p:nvPr/>
        </p:nvSpPr>
        <p:spPr>
          <a:xfrm>
            <a:off x="4773168" y="3733800"/>
            <a:ext cx="3895344" cy="201168"/>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ourier New" pitchFamily="34" charset="0"/>
                <a:ea typeface="Courier New" pitchFamily="34" charset="-122"/>
                <a:cs typeface="Courier New" pitchFamily="34" charset="-120"/>
              </a:rPr>
              <a:t>(None, ['David', 'Alice', 'Carol', 'Bob'])</a:t>
            </a:r>
            <a:endParaRPr lang="en-US" sz="1100" dirty="0"/>
          </a:p>
        </p:txBody>
      </p:sp>
      <p:sp>
        <p:nvSpPr>
          <p:cNvPr id="47" name="v:RandomShuffle:f2box:box|b5"/>
          <p:cNvSpPr/>
          <p:nvPr/>
        </p:nvSpPr>
        <p:spPr>
          <a:xfrm>
            <a:off x="4663440" y="4011168"/>
            <a:ext cx="4114800" cy="579120"/>
          </a:xfrm>
          <a:prstGeom prst="roundRect">
            <a:avLst>
              <a:gd name="adj" fmla="val 12632"/>
            </a:avLst>
          </a:prstGeom>
          <a:solidFill>
            <a:srgbClr val="F1F4F8"/>
          </a:solidFill>
          <a:ln w="12700">
            <a:solidFill>
              <a:srgbClr val="F1F4F8"/>
            </a:solidFill>
            <a:prstDash val="solid"/>
          </a:ln>
        </p:spPr>
      </p:sp>
      <p:sp>
        <p:nvSpPr>
          <p:cNvPr id="48" name="v:RandomShuffle:f2t|b5"/>
          <p:cNvSpPr txBox="1"/>
          <p:nvPr/>
        </p:nvSpPr>
        <p:spPr>
          <a:xfrm>
            <a:off x="4773168" y="4029456"/>
            <a:ext cx="3895344" cy="173736"/>
          </a:xfrm>
          <a:prstGeom prst="rect">
            <a:avLst/>
          </a:prstGeom>
          <a:noFill/>
          <a:ln/>
        </p:spPr>
        <p:txBody>
          <a:bodyPr wrap="square" lIns="0" tIns="0" rIns="0" bIns="0" rtlCol="0" anchor="ctr">
            <a:normAutofit/>
          </a:bodyPr>
          <a:lstStyle/>
          <a:p>
            <a:pPr indent="0" marL="0">
              <a:buNone/>
            </a:pPr>
            <a:r>
              <a:rPr lang="en-US" sz="1000" b="1" dirty="0">
                <a:solidFill>
                  <a:srgbClr val="306998"/>
                </a:solidFill>
                <a:latin typeface="Calibri" pitchFamily="34" charset="0"/>
                <a:ea typeface="Calibri" pitchFamily="34" charset="-122"/>
                <a:cs typeface="Calibri" pitchFamily="34" charset="-120"/>
              </a:rPr>
              <a:t>sample with k = len returns a new shuffled list</a:t>
            </a:r>
            <a:endParaRPr lang="en-US" sz="1000" dirty="0"/>
          </a:p>
        </p:txBody>
      </p:sp>
      <p:sp>
        <p:nvSpPr>
          <p:cNvPr id="49" name="v:RandomShuffle:f2e|b5"/>
          <p:cNvSpPr txBox="1"/>
          <p:nvPr/>
        </p:nvSpPr>
        <p:spPr>
          <a:xfrm>
            <a:off x="4773168" y="4203192"/>
            <a:ext cx="3895344" cy="173736"/>
          </a:xfrm>
          <a:prstGeom prst="rect">
            <a:avLst/>
          </a:prstGeom>
          <a:noFill/>
          <a:ln/>
        </p:spPr>
        <p:txBody>
          <a:bodyPr wrap="square" lIns="0" tIns="0" rIns="0" bIns="0" rtlCol="0" anchor="ctr">
            <a:normAutofit/>
          </a:bodyPr>
          <a:lstStyle/>
          <a:p>
            <a:pPr indent="0" marL="0">
              <a:buNone/>
            </a:pPr>
            <a:r>
              <a:rPr lang="en-US" sz="950" dirty="0">
                <a:solidFill>
                  <a:srgbClr val="5B6B7B"/>
                </a:solidFill>
                <a:latin typeface="Courier New" pitchFamily="34" charset="0"/>
                <a:ea typeface="Courier New" pitchFamily="34" charset="-122"/>
                <a:cs typeface="Courier New" pitchFamily="34" charset="-120"/>
              </a:rPr>
              <a:t>random.sample(people, k=len(people))</a:t>
            </a:r>
            <a:endParaRPr lang="en-US" sz="950" dirty="0"/>
          </a:p>
        </p:txBody>
      </p:sp>
      <p:sp>
        <p:nvSpPr>
          <p:cNvPr id="50" name="v:RandomShuffle:f2r|b5"/>
          <p:cNvSpPr txBox="1"/>
          <p:nvPr/>
        </p:nvSpPr>
        <p:spPr>
          <a:xfrm>
            <a:off x="4773168" y="4376928"/>
            <a:ext cx="3895344" cy="201168"/>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ourier New" pitchFamily="34" charset="0"/>
                <a:ea typeface="Courier New" pitchFamily="34" charset="-122"/>
                <a:cs typeface="Courier New" pitchFamily="34" charset="-120"/>
              </a:rPr>
              <a:t>['Bob', 'Carol', 'Alice', 'David']</a:t>
            </a:r>
            <a:endParaRPr lang="en-US" sz="1100" dirty="0"/>
          </a:p>
        </p:txBody>
      </p:sp>
      <p:sp>
        <p:nvSpPr>
          <p:cNvPr id="51"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52"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53"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Random and programs ▸ Magic eight ball, Random choice, Random shuffle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98" fill="hold">
                      <p:stCondLst>
                        <p:cond delay="indefinite"/>
                      </p:stCondLst>
                      <p:childTnLst>
                        <p:par>
                          <p:cTn id="99"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00"/>
                                        <p:tgtEl>
                                          <p:spTgt spid="15"/>
                                        </p:tgtEl>
                                      </p:cBhvr>
                                    </p:animEffect>
                                  </p:childTnLst>
                                </p:cTn>
                              </p:par>
                              <p:par>
                                <p:cTn id="29" presetID="10"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40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400"/>
                                        <p:tgtEl>
                                          <p:spTgt spid="1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38"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400"/>
                                        <p:tgtEl>
                                          <p:spTgt spid="21"/>
                                        </p:tgtEl>
                                      </p:cBhvr>
                                    </p:animEffect>
                                  </p:childTnLst>
                                </p:cTn>
                              </p:par>
                              <p:par>
                                <p:cTn id="47" presetID="10" presetClass="entr" presetSubtype="0" fill="hold"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400"/>
                                        <p:tgtEl>
                                          <p:spTgt spid="2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400"/>
                                        <p:tgtEl>
                                          <p:spTgt spid="2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400"/>
                                        <p:tgtEl>
                                          <p:spTgt spid="24"/>
                                        </p:tgtEl>
                                      </p:cBhvr>
                                    </p:animEffect>
                                  </p:childTnLst>
                                </p:cTn>
                              </p:par>
                              <p:par>
                                <p:cTn id="56" presetID="10" presetClass="entr" presetSubtype="0" fill="hold"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400"/>
                                        <p:tgtEl>
                                          <p:spTgt spid="2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400"/>
                                        <p:tgtEl>
                                          <p:spTgt spid="2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par>
                                <p:cTn id="65" presetID="10" presetClass="entr" presetSubtype="0" fill="hold"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400"/>
                                        <p:tgtEl>
                                          <p:spTgt spid="28"/>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400"/>
                                        <p:tgtEl>
                                          <p:spTgt spid="29"/>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400"/>
                                        <p:tgtEl>
                                          <p:spTgt spid="30"/>
                                        </p:tgtEl>
                                      </p:cBhvr>
                                    </p:animEffect>
                                  </p:childTnLst>
                                </p:cTn>
                              </p:par>
                              <p:par>
                                <p:cTn id="74" presetID="10" presetClass="entr" presetSubtype="0" fill="hold" nodeType="with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400"/>
                                        <p:tgtEl>
                                          <p:spTgt spid="31"/>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fade">
                                      <p:cBhvr>
                                        <p:cTn id="79" dur="400"/>
                                        <p:tgtEl>
                                          <p:spTgt spid="32"/>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fade">
                                      <p:cBhvr>
                                        <p:cTn id="82" dur="400"/>
                                        <p:tgtEl>
                                          <p:spTgt spid="33"/>
                                        </p:tgtEl>
                                      </p:cBhvr>
                                    </p:animEffect>
                                  </p:childTnLst>
                                </p:cTn>
                              </p:par>
                              <p:par>
                                <p:cTn id="83" presetID="10" presetClass="entr" presetSubtype="0" fill="hold" nodeType="with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fade">
                                      <p:cBhvr>
                                        <p:cTn id="85" dur="400"/>
                                        <p:tgtEl>
                                          <p:spTgt spid="34"/>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5"/>
                                        </p:tgtEl>
                                        <p:attrNameLst>
                                          <p:attrName>style.visibility</p:attrName>
                                        </p:attrNameLst>
                                      </p:cBhvr>
                                      <p:to>
                                        <p:strVal val="visible"/>
                                      </p:to>
                                    </p:set>
                                    <p:animEffect transition="in" filter="fade">
                                      <p:cBhvr>
                                        <p:cTn id="88" dur="400"/>
                                        <p:tgtEl>
                                          <p:spTgt spid="35"/>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fade">
                                      <p:cBhvr>
                                        <p:cTn id="91" dur="400"/>
                                        <p:tgtEl>
                                          <p:spTgt spid="36"/>
                                        </p:tgtEl>
                                      </p:cBhvr>
                                    </p:animEffect>
                                  </p:childTnLst>
                                </p:cTn>
                              </p:par>
                              <p:par>
                                <p:cTn id="92" presetID="10" presetClass="entr" presetSubtype="0" fill="hold" nodeType="withEffect">
                                  <p:stCondLst>
                                    <p:cond delay="0"/>
                                  </p:stCondLst>
                                  <p:childTnLst>
                                    <p:set>
                                      <p:cBhvr>
                                        <p:cTn id="93" dur="1" fill="hold">
                                          <p:stCondLst>
                                            <p:cond delay="0"/>
                                          </p:stCondLst>
                                        </p:cTn>
                                        <p:tgtEl>
                                          <p:spTgt spid="37"/>
                                        </p:tgtEl>
                                        <p:attrNameLst>
                                          <p:attrName>style.visibility</p:attrName>
                                        </p:attrNameLst>
                                      </p:cBhvr>
                                      <p:to>
                                        <p:strVal val="visible"/>
                                      </p:to>
                                    </p:set>
                                    <p:animEffect transition="in" filter="fade">
                                      <p:cBhvr>
                                        <p:cTn id="94" dur="400"/>
                                        <p:tgtEl>
                                          <p:spTgt spid="37"/>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8"/>
                                        </p:tgtEl>
                                        <p:attrNameLst>
                                          <p:attrName>style.visibility</p:attrName>
                                        </p:attrNameLst>
                                      </p:cBhvr>
                                      <p:to>
                                        <p:strVal val="visible"/>
                                      </p:to>
                                    </p:set>
                                    <p:animEffect transition="in" filter="fade">
                                      <p:cBhvr>
                                        <p:cTn id="97" dur="400"/>
                                        <p:tgtEl>
                                          <p:spTgt spid="38"/>
                                        </p:tgtEl>
                                      </p:cBhvr>
                                    </p:animEffect>
                                  </p:childTnLst>
                                </p:cTn>
                              </p:par>
                            </p:childTnLst>
                          </p:cTn>
                        </p:par>
                      </p:childTnLst>
                    </p:cTn>
                  </p:par>
                  <p:par>
                    <p:cTn id="112" fill="hold">
                      <p:stCondLst>
                        <p:cond delay="indefinite"/>
                      </p:stCondLst>
                      <p:childTnLst>
                        <p:par>
                          <p:cTn id="113"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2" dur="400"/>
                                        <p:tgtEl>
                                          <p:spTgt spid="39"/>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5" dur="400"/>
                                        <p:tgtEl>
                                          <p:spTgt spid="40"/>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8" dur="400"/>
                                        <p:tgtEl>
                                          <p:spTgt spid="41"/>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11" dur="400"/>
                                        <p:tgtEl>
                                          <p:spTgt spid="42"/>
                                        </p:tgtEl>
                                      </p:cBhvr>
                                    </p:animEffect>
                                  </p:childTnLst>
                                </p:cTn>
                              </p:par>
                            </p:childTnLst>
                          </p:cTn>
                        </p:par>
                      </p:childTnLst>
                    </p:cTn>
                  </p:par>
                  <p:par>
                    <p:cTn id="126" fill="hold">
                      <p:stCondLst>
                        <p:cond delay="indefinite"/>
                      </p:stCondLst>
                      <p:childTnLst>
                        <p:par>
                          <p:cTn id="127" fill="hold">
                            <p:stCondLst>
                              <p:cond delay="0"/>
                            </p:stCondLst>
                            <p:childTnLst>
                              <p:par>
                                <p:cTn id="114" presetID="10" presetClass="entr" presetSubtype="0" fill="hold" nodeType="clickEffect">
                                  <p:stCondLst>
                                    <p:cond delay="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6" dur="400"/>
                                        <p:tgtEl>
                                          <p:spTgt spid="43"/>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9" dur="400"/>
                                        <p:tgtEl>
                                          <p:spTgt spid="44"/>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2" dur="400"/>
                                        <p:tgtEl>
                                          <p:spTgt spid="45"/>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5" dur="400"/>
                                        <p:tgtEl>
                                          <p:spTgt spid="46"/>
                                        </p:tgtEl>
                                      </p:cBhvr>
                                    </p:animEffect>
                                  </p:childTnLst>
                                </p:cTn>
                              </p:par>
                            </p:childTnLst>
                          </p:cTn>
                        </p:par>
                      </p:childTnLst>
                    </p:cTn>
                  </p:par>
                  <p:par>
                    <p:cTn id="140" fill="hold">
                      <p:stCondLst>
                        <p:cond delay="indefinite"/>
                      </p:stCondLst>
                      <p:childTnLst>
                        <p:par>
                          <p:cTn id="141" fill="hold">
                            <p:stCondLst>
                              <p:cond delay="0"/>
                            </p:stCondLst>
                            <p:childTnLst>
                              <p:par>
                                <p:cTn id="128" presetID="10" presetClass="entr" presetSubtype="0" fill="hold" nodeType="click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400"/>
                                        <p:tgtEl>
                                          <p:spTgt spid="47"/>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fade">
                                      <p:cBhvr>
                                        <p:cTn id="133" dur="400"/>
                                        <p:tgtEl>
                                          <p:spTgt spid="48"/>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9"/>
                                        </p:tgtEl>
                                        <p:attrNameLst>
                                          <p:attrName>style.visibility</p:attrName>
                                        </p:attrNameLst>
                                      </p:cBhvr>
                                      <p:to>
                                        <p:strVal val="visible"/>
                                      </p:to>
                                    </p:set>
                                    <p:animEffect transition="in" filter="fade">
                                      <p:cBhvr>
                                        <p:cTn id="136" dur="400"/>
                                        <p:tgtEl>
                                          <p:spTgt spid="49"/>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0"/>
                                        </p:tgtEl>
                                        <p:attrNameLst>
                                          <p:attrName>style.visibility</p:attrName>
                                        </p:attrNameLst>
                                      </p:cBhvr>
                                      <p:to>
                                        <p:strVal val="visible"/>
                                      </p:to>
                                    </p:set>
                                    <p:animEffect transition="in" filter="fade">
                                      <p:cBhvr>
                                        <p:cTn id="139"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4" grpId="0" animBg="1"/>
      <p:bldP spid="15" grpId="0" animBg="1"/>
      <p:bldP spid="17" grpId="0" animBg="1"/>
      <p:bldP spid="18" grpId="0" animBg="1"/>
      <p:bldP spid="20" grpId="0" animBg="1"/>
      <p:bldP spid="21" grpId="0" animBg="1"/>
      <p:bldP spid="23" grpId="0" animBg="1"/>
      <p:bldP spid="24" grpId="0" animBg="1"/>
      <p:bldP spid="26" grpId="0" animBg="1"/>
      <p:bldP spid="27" grpId="0" animBg="1"/>
      <p:bldP spid="29" grpId="0" animBg="1"/>
      <p:bldP spid="30" grpId="0" animBg="1"/>
      <p:bldP spid="32" grpId="0" animBg="1"/>
      <p:bldP spid="33" grpId="0" animBg="1"/>
      <p:bldP spid="35" grpId="0" animBg="1"/>
      <p:bldP spid="36" grpId="0" animBg="1"/>
      <p:bldP spid="38" grpId="0" animBg="1"/>
      <p:bldP spid="40" grpId="0" animBg="1"/>
      <p:bldP spid="41" grpId="0" animBg="1"/>
      <p:bldP spid="42" grpId="0" animBg="1"/>
      <p:bldP spid="44" grpId="0" animBg="1"/>
      <p:bldP spid="45" grpId="0" animBg="1"/>
      <p:bldP spid="46" grpId="0" animBg="1"/>
      <p:bldP spid="48" grpId="0" animBg="1"/>
      <p:bldP spid="49" grpId="0" animBg="1"/>
      <p:bldP spid="5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The Matrix screensaver: one counter per column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Program 2 of the chapter: a list of 70 counters, printed row by row</a:t>
            </a:r>
            <a:endParaRPr lang="en-US" sz="1400" dirty="0"/>
          </a:p>
        </p:txBody>
      </p:sp>
      <p:sp>
        <p:nvSpPr>
          <p:cNvPr id="6" name="v:MatrixScreensaver:f0label|b1"/>
          <p:cNvSpPr txBox="1"/>
          <p:nvPr/>
        </p:nvSpPr>
        <p:spPr>
          <a:xfrm>
            <a:off x="365760" y="1170432"/>
            <a:ext cx="5212080" cy="201168"/>
          </a:xfrm>
          <a:prstGeom prst="rect">
            <a:avLst/>
          </a:prstGeom>
          <a:noFill/>
          <a:ln/>
        </p:spPr>
        <p:txBody>
          <a:bodyPr wrap="square" lIns="0" tIns="0" rIns="0" bIns="0" rtlCol="0" anchor="ctr"/>
          <a:lstStyle/>
          <a:p>
            <a:pPr indent="0" marL="0">
              <a:buNone/>
            </a:pPr>
            <a:r>
              <a:rPr lang="en-US" sz="1100" b="1" dirty="0">
                <a:solidFill>
                  <a:srgbClr val="1E2A3A"/>
                </a:solidFill>
                <a:latin typeface="Calibri" pitchFamily="34" charset="0"/>
                <a:ea typeface="Calibri" pitchFamily="34" charset="-122"/>
                <a:cs typeface="Calibri" pitchFamily="34" charset="-120"/>
              </a:rPr>
              <a:t>rows 1 to 6: streams begin</a:t>
            </a:r>
            <a:endParaRPr lang="en-US" sz="1100" dirty="0"/>
          </a:p>
        </p:txBody>
      </p:sp>
      <p:sp>
        <p:nvSpPr>
          <p:cNvPr id="7" name="v:MatrixScreensaver:f0box:box|b1"/>
          <p:cNvSpPr/>
          <p:nvPr/>
        </p:nvSpPr>
        <p:spPr>
          <a:xfrm>
            <a:off x="365760" y="1389888"/>
            <a:ext cx="5212080" cy="943661"/>
          </a:xfrm>
          <a:prstGeom prst="roundRect">
            <a:avLst>
              <a:gd name="adj" fmla="val 5814"/>
            </a:avLst>
          </a:prstGeom>
          <a:solidFill>
            <a:srgbClr val="17202B"/>
          </a:solidFill>
          <a:ln w="12700">
            <a:solidFill>
              <a:srgbClr val="17202B"/>
            </a:solidFill>
            <a:prstDash val="solid"/>
          </a:ln>
        </p:spPr>
      </p:sp>
      <p:sp>
        <p:nvSpPr>
          <p:cNvPr id="8" name="v:MatrixScreensaver:f0r0|b1"/>
          <p:cNvSpPr txBox="1"/>
          <p:nvPr/>
        </p:nvSpPr>
        <p:spPr>
          <a:xfrm>
            <a:off x="475488" y="1444752"/>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1        0                                            </a:t>
            </a:r>
            <a:endParaRPr lang="en-US" sz="900" dirty="0"/>
          </a:p>
        </p:txBody>
      </p:sp>
      <p:sp>
        <p:nvSpPr>
          <p:cNvPr id="9" name="v:MatrixScreensaver:f0r1|b1"/>
          <p:cNvSpPr txBox="1"/>
          <p:nvPr/>
        </p:nvSpPr>
        <p:spPr>
          <a:xfrm>
            <a:off x="475488" y="1583741"/>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0        1                                            </a:t>
            </a:r>
            <a:endParaRPr lang="en-US" sz="900" dirty="0"/>
          </a:p>
        </p:txBody>
      </p:sp>
      <p:sp>
        <p:nvSpPr>
          <p:cNvPr id="10" name="v:MatrixScreensaver:f0r2|b1"/>
          <p:cNvSpPr txBox="1"/>
          <p:nvPr/>
        </p:nvSpPr>
        <p:spPr>
          <a:xfrm>
            <a:off x="475488" y="1722730"/>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1        0                                            </a:t>
            </a:r>
            <a:endParaRPr lang="en-US" sz="900" dirty="0"/>
          </a:p>
        </p:txBody>
      </p:sp>
      <p:sp>
        <p:nvSpPr>
          <p:cNvPr id="11" name="v:MatrixScreensaver:f0r3|b1"/>
          <p:cNvSpPr txBox="1"/>
          <p:nvPr/>
        </p:nvSpPr>
        <p:spPr>
          <a:xfrm>
            <a:off x="475488" y="1861718"/>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1               1        1                             1             1</a:t>
            </a:r>
            <a:endParaRPr lang="en-US" sz="900" dirty="0"/>
          </a:p>
        </p:txBody>
      </p:sp>
      <p:sp>
        <p:nvSpPr>
          <p:cNvPr id="12" name="v:MatrixScreensaver:f0r4|b1"/>
          <p:cNvSpPr txBox="1"/>
          <p:nvPr/>
        </p:nvSpPr>
        <p:spPr>
          <a:xfrm>
            <a:off x="475488" y="2000707"/>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1       1       1        0                             1             0</a:t>
            </a:r>
            <a:endParaRPr lang="en-US" sz="900" dirty="0"/>
          </a:p>
        </p:txBody>
      </p:sp>
      <p:sp>
        <p:nvSpPr>
          <p:cNvPr id="13" name="v:MatrixScreensaver:f0r5|b1"/>
          <p:cNvSpPr txBox="1"/>
          <p:nvPr/>
        </p:nvSpPr>
        <p:spPr>
          <a:xfrm>
            <a:off x="475488" y="2139696"/>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1       1       0     0  1                             0           1 1</a:t>
            </a:r>
            <a:endParaRPr lang="en-US" sz="900" dirty="0"/>
          </a:p>
        </p:txBody>
      </p:sp>
      <p:sp>
        <p:nvSpPr>
          <p:cNvPr id="14" name="v:MatrixScreensaver:f1label|b2"/>
          <p:cNvSpPr txBox="1"/>
          <p:nvPr/>
        </p:nvSpPr>
        <p:spPr>
          <a:xfrm>
            <a:off x="365760" y="2406701"/>
            <a:ext cx="5212080" cy="201168"/>
          </a:xfrm>
          <a:prstGeom prst="rect">
            <a:avLst/>
          </a:prstGeom>
          <a:noFill/>
          <a:ln/>
        </p:spPr>
        <p:txBody>
          <a:bodyPr wrap="square" lIns="0" tIns="0" rIns="0" bIns="0" rtlCol="0" anchor="ctr"/>
          <a:lstStyle/>
          <a:p>
            <a:pPr indent="0" marL="0">
              <a:buNone/>
            </a:pPr>
            <a:r>
              <a:rPr lang="en-US" sz="1100" b="1" dirty="0">
                <a:solidFill>
                  <a:srgbClr val="1E2A3A"/>
                </a:solidFill>
                <a:latin typeface="Calibri" pitchFamily="34" charset="0"/>
                <a:ea typeface="Calibri" pitchFamily="34" charset="-122"/>
                <a:cs typeface="Calibri" pitchFamily="34" charset="-120"/>
              </a:rPr>
              <a:t>rows 295 to 300</a:t>
            </a:r>
            <a:endParaRPr lang="en-US" sz="1100" dirty="0"/>
          </a:p>
        </p:txBody>
      </p:sp>
      <p:sp>
        <p:nvSpPr>
          <p:cNvPr id="15" name="v:MatrixScreensaver:f1box:box|b2"/>
          <p:cNvSpPr/>
          <p:nvPr/>
        </p:nvSpPr>
        <p:spPr>
          <a:xfrm>
            <a:off x="365760" y="2626157"/>
            <a:ext cx="5212080" cy="943661"/>
          </a:xfrm>
          <a:prstGeom prst="roundRect">
            <a:avLst>
              <a:gd name="adj" fmla="val 5814"/>
            </a:avLst>
          </a:prstGeom>
          <a:solidFill>
            <a:srgbClr val="17202B"/>
          </a:solidFill>
          <a:ln w="12700">
            <a:solidFill>
              <a:srgbClr val="17202B"/>
            </a:solidFill>
            <a:prstDash val="solid"/>
          </a:ln>
        </p:spPr>
      </p:sp>
      <p:sp>
        <p:nvSpPr>
          <p:cNvPr id="16" name="v:MatrixScreensaver:f1r0|b2"/>
          <p:cNvSpPr txBox="1"/>
          <p:nvPr/>
        </p:nvSpPr>
        <p:spPr>
          <a:xfrm>
            <a:off x="475488" y="2681021"/>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0      0   1 0 0    0 0  01     0   01  0             01    </a:t>
            </a:r>
            <a:endParaRPr lang="en-US" sz="900" dirty="0"/>
          </a:p>
        </p:txBody>
      </p:sp>
      <p:sp>
        <p:nvSpPr>
          <p:cNvPr id="17" name="v:MatrixScreensaver:f1r1|b2"/>
          <p:cNvSpPr txBox="1"/>
          <p:nvPr/>
        </p:nvSpPr>
        <p:spPr>
          <a:xfrm>
            <a:off x="475488" y="2820010"/>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01          1 0 1    1 1  11     0   01  1             10    </a:t>
            </a:r>
            <a:endParaRPr lang="en-US" sz="900" dirty="0"/>
          </a:p>
        </p:txBody>
      </p:sp>
      <p:sp>
        <p:nvSpPr>
          <p:cNvPr id="18" name="v:MatrixScreensaver:f1r2|b2"/>
          <p:cNvSpPr txBox="1"/>
          <p:nvPr/>
        </p:nvSpPr>
        <p:spPr>
          <a:xfrm>
            <a:off x="475488" y="2958998"/>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01   1        0 1    1 1  10 1   0   01  1             10    </a:t>
            </a:r>
            <a:endParaRPr lang="en-US" sz="900" dirty="0"/>
          </a:p>
        </p:txBody>
      </p:sp>
      <p:sp>
        <p:nvSpPr>
          <p:cNvPr id="19" name="v:MatrixScreensaver:f1r3|b2"/>
          <p:cNvSpPr txBox="1"/>
          <p:nvPr/>
        </p:nvSpPr>
        <p:spPr>
          <a:xfrm>
            <a:off x="475488" y="3097987"/>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0       01   0        0 1 1  0 0  11 0   0    0  0             10    </a:t>
            </a:r>
            <a:endParaRPr lang="en-US" sz="900" dirty="0"/>
          </a:p>
        </p:txBody>
      </p:sp>
      <p:sp>
        <p:nvSpPr>
          <p:cNvPr id="20" name="v:MatrixScreensaver:f1r4|b2"/>
          <p:cNvSpPr txBox="1"/>
          <p:nvPr/>
        </p:nvSpPr>
        <p:spPr>
          <a:xfrm>
            <a:off x="475488" y="3236976"/>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0       0    0        0 1 0    1  00 0   0    0  1             10    </a:t>
            </a:r>
            <a:endParaRPr lang="en-US" sz="900" dirty="0"/>
          </a:p>
        </p:txBody>
      </p:sp>
      <p:sp>
        <p:nvSpPr>
          <p:cNvPr id="21" name="v:MatrixScreensaver:f1r5|b2"/>
          <p:cNvSpPr txBox="1"/>
          <p:nvPr/>
        </p:nvSpPr>
        <p:spPr>
          <a:xfrm>
            <a:off x="475488" y="3375965"/>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0       1    1            1    0  11 1   0    0  0            1 0    </a:t>
            </a:r>
            <a:endParaRPr lang="en-US" sz="900" dirty="0"/>
          </a:p>
        </p:txBody>
      </p:sp>
      <p:sp>
        <p:nvSpPr>
          <p:cNvPr id="22" name="v:MatrixScreensaver:hz0label|b4"/>
          <p:cNvSpPr txBox="1"/>
          <p:nvPr/>
        </p:nvSpPr>
        <p:spPr>
          <a:xfrm>
            <a:off x="365760" y="3642970"/>
            <a:ext cx="3840480" cy="201168"/>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counter decremented only for a column above zero (the chapter)</a:t>
            </a:r>
            <a:endParaRPr lang="en-US" sz="1050" dirty="0"/>
          </a:p>
        </p:txBody>
      </p:sp>
      <p:sp>
        <p:nvSpPr>
          <p:cNvPr id="23" name="v:MatrixScreensaver:hz0n|b4"/>
          <p:cNvSpPr txBox="1"/>
          <p:nvPr/>
        </p:nvSpPr>
        <p:spPr>
          <a:xfrm>
            <a:off x="4206240" y="3642970"/>
            <a:ext cx="1371600" cy="201168"/>
          </a:xfrm>
          <a:prstGeom prst="rect">
            <a:avLst/>
          </a:prstGeom>
          <a:noFill/>
          <a:ln/>
        </p:spPr>
        <p:txBody>
          <a:bodyPr wrap="square" lIns="0" tIns="0" rIns="0" bIns="0" rtlCol="0" anchor="ctr"/>
          <a:lstStyle/>
          <a:p>
            <a:pPr algn="r" indent="0" marL="0">
              <a:buNone/>
            </a:pPr>
            <a:r>
              <a:rPr lang="en-US" sz="1050" b="1" dirty="0">
                <a:solidFill>
                  <a:srgbClr val="2E9E5B"/>
                </a:solidFill>
                <a:latin typeface="Calibri" pitchFamily="34" charset="0"/>
                <a:ea typeface="Calibri" pitchFamily="34" charset="-122"/>
                <a:cs typeface="Calibri" pitchFamily="34" charset="-120"/>
              </a:rPr>
              <a:t>57 spaces</a:t>
            </a:r>
            <a:endParaRPr lang="en-US" sz="1050" dirty="0"/>
          </a:p>
        </p:txBody>
      </p:sp>
      <p:sp>
        <p:nvSpPr>
          <p:cNvPr id="24" name="v:MatrixScreensaver:hz0box:box|b4"/>
          <p:cNvSpPr/>
          <p:nvPr/>
        </p:nvSpPr>
        <p:spPr>
          <a:xfrm>
            <a:off x="365760" y="3853282"/>
            <a:ext cx="5212080" cy="230429"/>
          </a:xfrm>
          <a:prstGeom prst="roundRect">
            <a:avLst>
              <a:gd name="adj" fmla="val 19841"/>
            </a:avLst>
          </a:prstGeom>
          <a:solidFill>
            <a:srgbClr val="17202B"/>
          </a:solidFill>
          <a:ln w="19050">
            <a:solidFill>
              <a:srgbClr val="2E9E5B"/>
            </a:solidFill>
            <a:prstDash val="solid"/>
          </a:ln>
        </p:spPr>
      </p:sp>
      <p:sp>
        <p:nvSpPr>
          <p:cNvPr id="25" name="v:MatrixScreensaver:hz0|b4"/>
          <p:cNvSpPr txBox="1"/>
          <p:nvPr/>
        </p:nvSpPr>
        <p:spPr>
          <a:xfrm>
            <a:off x="475488" y="3899002"/>
            <a:ext cx="5029200" cy="138989"/>
          </a:xfrm>
          <a:prstGeom prst="rect">
            <a:avLst/>
          </a:prstGeom>
          <a:noFill/>
          <a:ln/>
        </p:spPr>
        <p:txBody>
          <a:bodyPr wrap="square" lIns="0" tIns="0" rIns="0" bIns="0" rtlCol="0" anchor="ctr"/>
          <a:lstStyle/>
          <a:p>
            <a:pPr indent="0" marL="0">
              <a:buNone/>
            </a:pPr>
            <a:r>
              <a:rPr lang="en-US" sz="900" dirty="0">
                <a:solidFill>
                  <a:srgbClr val="7EE787"/>
                </a:solidFill>
                <a:latin typeface="Courier New" pitchFamily="34" charset="0"/>
                <a:ea typeface="Courier New" pitchFamily="34" charset="-122"/>
                <a:cs typeface="Courier New" pitchFamily="34" charset="-120"/>
              </a:rPr>
              <a:t> 0       1    1            1    0  11 1   0    0  0            1 0    </a:t>
            </a:r>
            <a:endParaRPr lang="en-US" sz="900" dirty="0"/>
          </a:p>
        </p:txBody>
      </p:sp>
      <p:sp>
        <p:nvSpPr>
          <p:cNvPr id="26" name="v:MatrixScreensaver:hz1label|b4"/>
          <p:cNvSpPr txBox="1"/>
          <p:nvPr/>
        </p:nvSpPr>
        <p:spPr>
          <a:xfrm>
            <a:off x="365760" y="4175150"/>
            <a:ext cx="3840480" cy="201168"/>
          </a:xfrm>
          <a:prstGeom prst="rect">
            <a:avLst/>
          </a:prstGeom>
          <a:noFill/>
          <a:ln/>
        </p:spPr>
        <p:txBody>
          <a:bodyPr wrap="square" lIns="0" tIns="0" rIns="0" bIns="0" rtlCol="0" anchor="ctr"/>
          <a:lstStyle/>
          <a:p>
            <a:pPr indent="0" marL="0">
              <a:buNone/>
            </a:pPr>
            <a:r>
              <a:rPr lang="en-US" sz="1050" b="1" dirty="0">
                <a:solidFill>
                  <a:srgbClr val="D64545"/>
                </a:solidFill>
                <a:latin typeface="Calibri" pitchFamily="34" charset="0"/>
                <a:ea typeface="Calibri" pitchFamily="34" charset="-122"/>
                <a:cs typeface="Calibri" pitchFamily="34" charset="-120"/>
              </a:rPr>
              <a:t>counter decremented for every column</a:t>
            </a:r>
            <a:endParaRPr lang="en-US" sz="1050" dirty="0"/>
          </a:p>
        </p:txBody>
      </p:sp>
      <p:sp>
        <p:nvSpPr>
          <p:cNvPr id="27" name="v:MatrixScreensaver:hz1n|b4"/>
          <p:cNvSpPr txBox="1"/>
          <p:nvPr/>
        </p:nvSpPr>
        <p:spPr>
          <a:xfrm>
            <a:off x="4206240" y="4175150"/>
            <a:ext cx="1371600" cy="201168"/>
          </a:xfrm>
          <a:prstGeom prst="rect">
            <a:avLst/>
          </a:prstGeom>
          <a:noFill/>
          <a:ln/>
        </p:spPr>
        <p:txBody>
          <a:bodyPr wrap="square" lIns="0" tIns="0" rIns="0" bIns="0" rtlCol="0" anchor="ctr"/>
          <a:lstStyle/>
          <a:p>
            <a:pPr algn="r" indent="0" marL="0">
              <a:buNone/>
            </a:pPr>
            <a:r>
              <a:rPr lang="en-US" sz="1050" b="1" dirty="0">
                <a:solidFill>
                  <a:srgbClr val="D64545"/>
                </a:solidFill>
                <a:latin typeface="Calibri" pitchFamily="34" charset="0"/>
                <a:ea typeface="Calibri" pitchFamily="34" charset="-122"/>
                <a:cs typeface="Calibri" pitchFamily="34" charset="-120"/>
              </a:rPr>
              <a:t>0 spaces</a:t>
            </a:r>
            <a:endParaRPr lang="en-US" sz="1050" dirty="0"/>
          </a:p>
        </p:txBody>
      </p:sp>
      <p:sp>
        <p:nvSpPr>
          <p:cNvPr id="28" name="v:MatrixScreensaver:hz1box:box|b4"/>
          <p:cNvSpPr/>
          <p:nvPr/>
        </p:nvSpPr>
        <p:spPr>
          <a:xfrm>
            <a:off x="365760" y="4385462"/>
            <a:ext cx="5212080" cy="230429"/>
          </a:xfrm>
          <a:prstGeom prst="roundRect">
            <a:avLst>
              <a:gd name="adj" fmla="val 19841"/>
            </a:avLst>
          </a:prstGeom>
          <a:solidFill>
            <a:srgbClr val="17202B"/>
          </a:solidFill>
          <a:ln w="19050">
            <a:solidFill>
              <a:srgbClr val="D64545"/>
            </a:solidFill>
            <a:prstDash val="solid"/>
          </a:ln>
        </p:spPr>
      </p:sp>
      <p:sp>
        <p:nvSpPr>
          <p:cNvPr id="29" name="v:MatrixScreensaver:hz1|b4"/>
          <p:cNvSpPr txBox="1"/>
          <p:nvPr/>
        </p:nvSpPr>
        <p:spPr>
          <a:xfrm>
            <a:off x="475488" y="4431182"/>
            <a:ext cx="5029200" cy="138989"/>
          </a:xfrm>
          <a:prstGeom prst="rect">
            <a:avLst/>
          </a:prstGeom>
          <a:noFill/>
          <a:ln/>
        </p:spPr>
        <p:txBody>
          <a:bodyPr wrap="square" lIns="0" tIns="0" rIns="0" bIns="0" rtlCol="0" anchor="ctr"/>
          <a:lstStyle/>
          <a:p>
            <a:pPr indent="0" marL="0">
              <a:buNone/>
            </a:pPr>
            <a:r>
              <a:rPr lang="en-US" sz="900" dirty="0">
                <a:solidFill>
                  <a:srgbClr val="FF7B72"/>
                </a:solidFill>
                <a:latin typeface="Courier New" pitchFamily="34" charset="0"/>
                <a:ea typeface="Courier New" pitchFamily="34" charset="-122"/>
                <a:cs typeface="Courier New" pitchFamily="34" charset="-120"/>
              </a:rPr>
              <a:t>0100100111001010011101010111100000111101000101110111110000101100001101</a:t>
            </a:r>
            <a:endParaRPr lang="en-US" sz="900" dirty="0"/>
          </a:p>
        </p:txBody>
      </p:sp>
      <p:sp>
        <p:nvSpPr>
          <p:cNvPr id="30" name="lifetitle|b2"/>
          <p:cNvSpPr txBox="1"/>
          <p:nvPr/>
        </p:nvSpPr>
        <p:spPr>
          <a:xfrm>
            <a:off x="5852160" y="1188720"/>
            <a:ext cx="2926080" cy="219456"/>
          </a:xfrm>
          <a:prstGeom prst="rect">
            <a:avLst/>
          </a:prstGeom>
          <a:noFill/>
          <a:ln/>
        </p:spPr>
        <p:txBody>
          <a:bodyPr wrap="square" lIns="0" tIns="0" rIns="0" bIns="0" rtlCol="0" anchor="ctr"/>
          <a:lstStyle/>
          <a:p>
            <a:pPr indent="0" marL="0">
              <a:buNone/>
            </a:pPr>
            <a:r>
              <a:rPr lang="en-US" sz="1100" b="1" dirty="0">
                <a:solidFill>
                  <a:srgbClr val="1E2A3A"/>
                </a:solidFill>
                <a:latin typeface="Calibri" pitchFamily="34" charset="0"/>
                <a:ea typeface="Calibri" pitchFamily="34" charset="-122"/>
                <a:cs typeface="Calibri" pitchFamily="34" charset="-120"/>
              </a:rPr>
              <a:t>One column, pass by pass (column 45)</a:t>
            </a:r>
            <a:endParaRPr lang="en-US" sz="1100" dirty="0"/>
          </a:p>
        </p:txBody>
      </p:sp>
      <p:sp>
        <p:nvSpPr>
          <p:cNvPr id="31" name="v:MatrixScreensaver:life.h0:box|b2"/>
          <p:cNvSpPr/>
          <p:nvPr/>
        </p:nvSpPr>
        <p:spPr>
          <a:xfrm>
            <a:off x="5852160" y="1444752"/>
            <a:ext cx="649224" cy="384048"/>
          </a:xfrm>
          <a:prstGeom prst="rect">
            <a:avLst/>
          </a:prstGeom>
          <a:solidFill>
            <a:srgbClr val="1E2A3A"/>
          </a:solidFill>
          <a:ln w="12700">
            <a:solidFill>
              <a:srgbClr val="1E2A3A"/>
            </a:solidFill>
            <a:prstDash val="solid"/>
          </a:ln>
        </p:spPr>
      </p:sp>
      <p:sp>
        <p:nvSpPr>
          <p:cNvPr id="32" name="v:MatrixScreensaver:life.h0|b2"/>
          <p:cNvSpPr txBox="1"/>
          <p:nvPr/>
        </p:nvSpPr>
        <p:spPr>
          <a:xfrm>
            <a:off x="5888736" y="1444752"/>
            <a:ext cx="576072" cy="384048"/>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row</a:t>
            </a:r>
            <a:endParaRPr lang="en-US" sz="1000" dirty="0"/>
          </a:p>
        </p:txBody>
      </p:sp>
      <p:sp>
        <p:nvSpPr>
          <p:cNvPr id="33" name="v:MatrixScreensaver:life.h1:box|b2"/>
          <p:cNvSpPr/>
          <p:nvPr/>
        </p:nvSpPr>
        <p:spPr>
          <a:xfrm>
            <a:off x="6537960" y="1444752"/>
            <a:ext cx="832104" cy="384048"/>
          </a:xfrm>
          <a:prstGeom prst="rect">
            <a:avLst/>
          </a:prstGeom>
          <a:solidFill>
            <a:srgbClr val="1E2A3A"/>
          </a:solidFill>
          <a:ln w="12700">
            <a:solidFill>
              <a:srgbClr val="1E2A3A"/>
            </a:solidFill>
            <a:prstDash val="solid"/>
          </a:ln>
        </p:spPr>
      </p:sp>
      <p:sp>
        <p:nvSpPr>
          <p:cNvPr id="34" name="v:MatrixScreensaver:life.h1|b2"/>
          <p:cNvSpPr txBox="1"/>
          <p:nvPr/>
        </p:nvSpPr>
        <p:spPr>
          <a:xfrm>
            <a:off x="6574536" y="1444752"/>
            <a:ext cx="758952" cy="384048"/>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printed</a:t>
            </a:r>
            <a:endParaRPr lang="en-US" sz="1000" dirty="0"/>
          </a:p>
        </p:txBody>
      </p:sp>
      <p:sp>
        <p:nvSpPr>
          <p:cNvPr id="35" name="v:MatrixScreensaver:life.h2:box|b2"/>
          <p:cNvSpPr/>
          <p:nvPr/>
        </p:nvSpPr>
        <p:spPr>
          <a:xfrm>
            <a:off x="7406640" y="1444752"/>
            <a:ext cx="1335024" cy="384048"/>
          </a:xfrm>
          <a:prstGeom prst="rect">
            <a:avLst/>
          </a:prstGeom>
          <a:solidFill>
            <a:srgbClr val="1E2A3A"/>
          </a:solidFill>
          <a:ln w="12700">
            <a:solidFill>
              <a:srgbClr val="1E2A3A"/>
            </a:solidFill>
            <a:prstDash val="solid"/>
          </a:ln>
        </p:spPr>
      </p:sp>
      <p:sp>
        <p:nvSpPr>
          <p:cNvPr id="36" name="v:MatrixScreensaver:life.h2|b2"/>
          <p:cNvSpPr txBox="1"/>
          <p:nvPr/>
        </p:nvSpPr>
        <p:spPr>
          <a:xfrm>
            <a:off x="7443216" y="1444752"/>
            <a:ext cx="1261872" cy="384048"/>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counter after the row</a:t>
            </a:r>
            <a:endParaRPr lang="en-US" sz="1000" dirty="0"/>
          </a:p>
        </p:txBody>
      </p:sp>
      <p:sp>
        <p:nvSpPr>
          <p:cNvPr id="37" name="v:MatrixScreensaver:life.r0c0:box|b2"/>
          <p:cNvSpPr/>
          <p:nvPr/>
        </p:nvSpPr>
        <p:spPr>
          <a:xfrm>
            <a:off x="5852160" y="1865376"/>
            <a:ext cx="649224" cy="256032"/>
          </a:xfrm>
          <a:prstGeom prst="rect">
            <a:avLst/>
          </a:prstGeom>
          <a:solidFill>
            <a:srgbClr val="F1F4F8"/>
          </a:solidFill>
          <a:ln w="12700">
            <a:solidFill>
              <a:srgbClr val="F1F4F8"/>
            </a:solidFill>
            <a:prstDash val="solid"/>
          </a:ln>
        </p:spPr>
      </p:sp>
      <p:sp>
        <p:nvSpPr>
          <p:cNvPr id="38" name="v:MatrixScreensaver:life.r0c0|b2"/>
          <p:cNvSpPr txBox="1"/>
          <p:nvPr/>
        </p:nvSpPr>
        <p:spPr>
          <a:xfrm>
            <a:off x="5888736" y="1865376"/>
            <a:ext cx="576072" cy="256032"/>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6</a:t>
            </a:r>
            <a:endParaRPr lang="en-US" sz="1100" dirty="0"/>
          </a:p>
        </p:txBody>
      </p:sp>
      <p:sp>
        <p:nvSpPr>
          <p:cNvPr id="39" name="v:MatrixScreensaver:life.r0c1:box|b2"/>
          <p:cNvSpPr/>
          <p:nvPr/>
        </p:nvSpPr>
        <p:spPr>
          <a:xfrm>
            <a:off x="6537960" y="1865376"/>
            <a:ext cx="832104" cy="256032"/>
          </a:xfrm>
          <a:prstGeom prst="rect">
            <a:avLst/>
          </a:prstGeom>
          <a:solidFill>
            <a:srgbClr val="F1F4F8"/>
          </a:solidFill>
          <a:ln w="12700">
            <a:solidFill>
              <a:srgbClr val="F1F4F8"/>
            </a:solidFill>
            <a:prstDash val="solid"/>
          </a:ln>
        </p:spPr>
      </p:sp>
      <p:sp>
        <p:nvSpPr>
          <p:cNvPr id="40" name="v:MatrixScreensaver:life.r0c1|b2"/>
          <p:cNvSpPr txBox="1"/>
          <p:nvPr/>
        </p:nvSpPr>
        <p:spPr>
          <a:xfrm>
            <a:off x="6574536" y="1865376"/>
            <a:ext cx="758952" cy="256032"/>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space</a:t>
            </a:r>
            <a:endParaRPr lang="en-US" sz="1100" dirty="0"/>
          </a:p>
        </p:txBody>
      </p:sp>
      <p:sp>
        <p:nvSpPr>
          <p:cNvPr id="41" name="v:MatrixScreensaver:life.r0c2:box|b2"/>
          <p:cNvSpPr/>
          <p:nvPr/>
        </p:nvSpPr>
        <p:spPr>
          <a:xfrm>
            <a:off x="7406640" y="1865376"/>
            <a:ext cx="1335024" cy="256032"/>
          </a:xfrm>
          <a:prstGeom prst="rect">
            <a:avLst/>
          </a:prstGeom>
          <a:solidFill>
            <a:srgbClr val="F1F4F8"/>
          </a:solidFill>
          <a:ln w="12700">
            <a:solidFill>
              <a:srgbClr val="F1F4F8"/>
            </a:solidFill>
            <a:prstDash val="solid"/>
          </a:ln>
        </p:spPr>
      </p:sp>
      <p:sp>
        <p:nvSpPr>
          <p:cNvPr id="42" name="v:MatrixScreensaver:life.r0c2|b2"/>
          <p:cNvSpPr txBox="1"/>
          <p:nvPr/>
        </p:nvSpPr>
        <p:spPr>
          <a:xfrm>
            <a:off x="7443216" y="1865376"/>
            <a:ext cx="1261872" cy="256032"/>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0</a:t>
            </a:r>
            <a:endParaRPr lang="en-US" sz="1100" dirty="0"/>
          </a:p>
        </p:txBody>
      </p:sp>
      <p:sp>
        <p:nvSpPr>
          <p:cNvPr id="43" name="v:MatrixScreensaver:life.r1c0:box|b2"/>
          <p:cNvSpPr/>
          <p:nvPr/>
        </p:nvSpPr>
        <p:spPr>
          <a:xfrm>
            <a:off x="5852160" y="2148840"/>
            <a:ext cx="649224" cy="256032"/>
          </a:xfrm>
          <a:prstGeom prst="rect">
            <a:avLst/>
          </a:prstGeom>
          <a:solidFill>
            <a:srgbClr val="DDF3E6"/>
          </a:solidFill>
          <a:ln w="12700">
            <a:solidFill>
              <a:srgbClr val="2E9E5B"/>
            </a:solidFill>
            <a:prstDash val="solid"/>
          </a:ln>
        </p:spPr>
      </p:sp>
      <p:sp>
        <p:nvSpPr>
          <p:cNvPr id="44" name="v:MatrixScreensaver:life.r1c0|b2"/>
          <p:cNvSpPr txBox="1"/>
          <p:nvPr/>
        </p:nvSpPr>
        <p:spPr>
          <a:xfrm>
            <a:off x="5888736" y="2148840"/>
            <a:ext cx="5760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7</a:t>
            </a:r>
            <a:endParaRPr lang="en-US" sz="1100" dirty="0"/>
          </a:p>
        </p:txBody>
      </p:sp>
      <p:sp>
        <p:nvSpPr>
          <p:cNvPr id="45" name="v:MatrixScreensaver:life.r1c1:box|b2"/>
          <p:cNvSpPr/>
          <p:nvPr/>
        </p:nvSpPr>
        <p:spPr>
          <a:xfrm>
            <a:off x="6537960" y="2148840"/>
            <a:ext cx="832104" cy="256032"/>
          </a:xfrm>
          <a:prstGeom prst="rect">
            <a:avLst/>
          </a:prstGeom>
          <a:solidFill>
            <a:srgbClr val="DDF3E6"/>
          </a:solidFill>
          <a:ln w="12700">
            <a:solidFill>
              <a:srgbClr val="2E9E5B"/>
            </a:solidFill>
            <a:prstDash val="solid"/>
          </a:ln>
        </p:spPr>
      </p:sp>
      <p:sp>
        <p:nvSpPr>
          <p:cNvPr id="46" name="v:MatrixScreensaver:life.r1c1|b2"/>
          <p:cNvSpPr txBox="1"/>
          <p:nvPr/>
        </p:nvSpPr>
        <p:spPr>
          <a:xfrm>
            <a:off x="6574536" y="2148840"/>
            <a:ext cx="75895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7</a:t>
            </a:r>
            <a:endParaRPr lang="en-US" sz="1100" dirty="0"/>
          </a:p>
        </p:txBody>
      </p:sp>
      <p:sp>
        <p:nvSpPr>
          <p:cNvPr id="47" name="v:MatrixScreensaver:life.r1c2:box|b2"/>
          <p:cNvSpPr/>
          <p:nvPr/>
        </p:nvSpPr>
        <p:spPr>
          <a:xfrm>
            <a:off x="7406640" y="2148840"/>
            <a:ext cx="1335024" cy="256032"/>
          </a:xfrm>
          <a:prstGeom prst="rect">
            <a:avLst/>
          </a:prstGeom>
          <a:solidFill>
            <a:srgbClr val="DDF3E6"/>
          </a:solidFill>
          <a:ln w="12700">
            <a:solidFill>
              <a:srgbClr val="2E9E5B"/>
            </a:solidFill>
            <a:prstDash val="solid"/>
          </a:ln>
        </p:spPr>
      </p:sp>
      <p:sp>
        <p:nvSpPr>
          <p:cNvPr id="48" name="v:MatrixScreensaver:life.r1c2|b2"/>
          <p:cNvSpPr txBox="1"/>
          <p:nvPr/>
        </p:nvSpPr>
        <p:spPr>
          <a:xfrm>
            <a:off x="7443216" y="2148840"/>
            <a:ext cx="12618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3</a:t>
            </a:r>
            <a:endParaRPr lang="en-US" sz="1100" dirty="0"/>
          </a:p>
        </p:txBody>
      </p:sp>
      <p:sp>
        <p:nvSpPr>
          <p:cNvPr id="49" name="v:MatrixScreensaver:life.r2c0:box|b2"/>
          <p:cNvSpPr/>
          <p:nvPr/>
        </p:nvSpPr>
        <p:spPr>
          <a:xfrm>
            <a:off x="5852160" y="2432304"/>
            <a:ext cx="649224" cy="256032"/>
          </a:xfrm>
          <a:prstGeom prst="rect">
            <a:avLst/>
          </a:prstGeom>
          <a:solidFill>
            <a:srgbClr val="DDF3E6"/>
          </a:solidFill>
          <a:ln w="12700">
            <a:solidFill>
              <a:srgbClr val="2E9E5B"/>
            </a:solidFill>
            <a:prstDash val="solid"/>
          </a:ln>
        </p:spPr>
      </p:sp>
      <p:sp>
        <p:nvSpPr>
          <p:cNvPr id="50" name="v:MatrixScreensaver:life.r2c0|b2"/>
          <p:cNvSpPr txBox="1"/>
          <p:nvPr/>
        </p:nvSpPr>
        <p:spPr>
          <a:xfrm>
            <a:off x="5888736" y="2432304"/>
            <a:ext cx="5760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8</a:t>
            </a:r>
            <a:endParaRPr lang="en-US" sz="1100" dirty="0"/>
          </a:p>
        </p:txBody>
      </p:sp>
      <p:sp>
        <p:nvSpPr>
          <p:cNvPr id="51" name="v:MatrixScreensaver:life.r2c1:box|b2"/>
          <p:cNvSpPr/>
          <p:nvPr/>
        </p:nvSpPr>
        <p:spPr>
          <a:xfrm>
            <a:off x="6537960" y="2432304"/>
            <a:ext cx="832104" cy="256032"/>
          </a:xfrm>
          <a:prstGeom prst="rect">
            <a:avLst/>
          </a:prstGeom>
          <a:solidFill>
            <a:srgbClr val="DDF3E6"/>
          </a:solidFill>
          <a:ln w="12700">
            <a:solidFill>
              <a:srgbClr val="2E9E5B"/>
            </a:solidFill>
            <a:prstDash val="solid"/>
          </a:ln>
        </p:spPr>
      </p:sp>
      <p:sp>
        <p:nvSpPr>
          <p:cNvPr id="52" name="v:MatrixScreensaver:life.r2c1|b2"/>
          <p:cNvSpPr txBox="1"/>
          <p:nvPr/>
        </p:nvSpPr>
        <p:spPr>
          <a:xfrm>
            <a:off x="6574536" y="2432304"/>
            <a:ext cx="75895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0</a:t>
            </a:r>
            <a:endParaRPr lang="en-US" sz="1100" dirty="0"/>
          </a:p>
        </p:txBody>
      </p:sp>
      <p:sp>
        <p:nvSpPr>
          <p:cNvPr id="53" name="v:MatrixScreensaver:life.r2c2:box|b2"/>
          <p:cNvSpPr/>
          <p:nvPr/>
        </p:nvSpPr>
        <p:spPr>
          <a:xfrm>
            <a:off x="7406640" y="2432304"/>
            <a:ext cx="1335024" cy="256032"/>
          </a:xfrm>
          <a:prstGeom prst="rect">
            <a:avLst/>
          </a:prstGeom>
          <a:solidFill>
            <a:srgbClr val="DDF3E6"/>
          </a:solidFill>
          <a:ln w="12700">
            <a:solidFill>
              <a:srgbClr val="2E9E5B"/>
            </a:solidFill>
            <a:prstDash val="solid"/>
          </a:ln>
        </p:spPr>
      </p:sp>
      <p:sp>
        <p:nvSpPr>
          <p:cNvPr id="54" name="v:MatrixScreensaver:life.r2c2|b2"/>
          <p:cNvSpPr txBox="1"/>
          <p:nvPr/>
        </p:nvSpPr>
        <p:spPr>
          <a:xfrm>
            <a:off x="7443216" y="2432304"/>
            <a:ext cx="12618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2</a:t>
            </a:r>
            <a:endParaRPr lang="en-US" sz="1100" dirty="0"/>
          </a:p>
        </p:txBody>
      </p:sp>
      <p:sp>
        <p:nvSpPr>
          <p:cNvPr id="55" name="v:MatrixScreensaver:life.r3c0:box|b2"/>
          <p:cNvSpPr/>
          <p:nvPr/>
        </p:nvSpPr>
        <p:spPr>
          <a:xfrm>
            <a:off x="5852160" y="2715768"/>
            <a:ext cx="649224" cy="256032"/>
          </a:xfrm>
          <a:prstGeom prst="rect">
            <a:avLst/>
          </a:prstGeom>
          <a:solidFill>
            <a:srgbClr val="DDF3E6"/>
          </a:solidFill>
          <a:ln w="12700">
            <a:solidFill>
              <a:srgbClr val="2E9E5B"/>
            </a:solidFill>
            <a:prstDash val="solid"/>
          </a:ln>
        </p:spPr>
      </p:sp>
      <p:sp>
        <p:nvSpPr>
          <p:cNvPr id="56" name="v:MatrixScreensaver:life.r3c0|b2"/>
          <p:cNvSpPr txBox="1"/>
          <p:nvPr/>
        </p:nvSpPr>
        <p:spPr>
          <a:xfrm>
            <a:off x="5888736" y="2715768"/>
            <a:ext cx="5760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9</a:t>
            </a:r>
            <a:endParaRPr lang="en-US" sz="1100" dirty="0"/>
          </a:p>
        </p:txBody>
      </p:sp>
      <p:sp>
        <p:nvSpPr>
          <p:cNvPr id="57" name="v:MatrixScreensaver:life.r3c1:box|b2"/>
          <p:cNvSpPr/>
          <p:nvPr/>
        </p:nvSpPr>
        <p:spPr>
          <a:xfrm>
            <a:off x="6537960" y="2715768"/>
            <a:ext cx="832104" cy="256032"/>
          </a:xfrm>
          <a:prstGeom prst="rect">
            <a:avLst/>
          </a:prstGeom>
          <a:solidFill>
            <a:srgbClr val="DDF3E6"/>
          </a:solidFill>
          <a:ln w="12700">
            <a:solidFill>
              <a:srgbClr val="2E9E5B"/>
            </a:solidFill>
            <a:prstDash val="solid"/>
          </a:ln>
        </p:spPr>
      </p:sp>
      <p:sp>
        <p:nvSpPr>
          <p:cNvPr id="58" name="v:MatrixScreensaver:life.r3c1|b2"/>
          <p:cNvSpPr txBox="1"/>
          <p:nvPr/>
        </p:nvSpPr>
        <p:spPr>
          <a:xfrm>
            <a:off x="6574536" y="2715768"/>
            <a:ext cx="75895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1</a:t>
            </a:r>
            <a:endParaRPr lang="en-US" sz="1100" dirty="0"/>
          </a:p>
        </p:txBody>
      </p:sp>
      <p:sp>
        <p:nvSpPr>
          <p:cNvPr id="59" name="v:MatrixScreensaver:life.r3c2:box|b2"/>
          <p:cNvSpPr/>
          <p:nvPr/>
        </p:nvSpPr>
        <p:spPr>
          <a:xfrm>
            <a:off x="7406640" y="2715768"/>
            <a:ext cx="1335024" cy="256032"/>
          </a:xfrm>
          <a:prstGeom prst="rect">
            <a:avLst/>
          </a:prstGeom>
          <a:solidFill>
            <a:srgbClr val="DDF3E6"/>
          </a:solidFill>
          <a:ln w="12700">
            <a:solidFill>
              <a:srgbClr val="2E9E5B"/>
            </a:solidFill>
            <a:prstDash val="solid"/>
          </a:ln>
        </p:spPr>
      </p:sp>
      <p:sp>
        <p:nvSpPr>
          <p:cNvPr id="60" name="v:MatrixScreensaver:life.r3c2|b2"/>
          <p:cNvSpPr txBox="1"/>
          <p:nvPr/>
        </p:nvSpPr>
        <p:spPr>
          <a:xfrm>
            <a:off x="7443216" y="2715768"/>
            <a:ext cx="12618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1</a:t>
            </a:r>
            <a:endParaRPr lang="en-US" sz="1100" dirty="0"/>
          </a:p>
        </p:txBody>
      </p:sp>
      <p:sp>
        <p:nvSpPr>
          <p:cNvPr id="61" name="v:MatrixScreensaver:life.r4c0:box|b2"/>
          <p:cNvSpPr/>
          <p:nvPr/>
        </p:nvSpPr>
        <p:spPr>
          <a:xfrm>
            <a:off x="5852160" y="2999232"/>
            <a:ext cx="649224" cy="256032"/>
          </a:xfrm>
          <a:prstGeom prst="rect">
            <a:avLst/>
          </a:prstGeom>
          <a:solidFill>
            <a:srgbClr val="DDF3E6"/>
          </a:solidFill>
          <a:ln w="12700">
            <a:solidFill>
              <a:srgbClr val="2E9E5B"/>
            </a:solidFill>
            <a:prstDash val="solid"/>
          </a:ln>
        </p:spPr>
      </p:sp>
      <p:sp>
        <p:nvSpPr>
          <p:cNvPr id="62" name="v:MatrixScreensaver:life.r4c0|b2"/>
          <p:cNvSpPr txBox="1"/>
          <p:nvPr/>
        </p:nvSpPr>
        <p:spPr>
          <a:xfrm>
            <a:off x="5888736" y="2999232"/>
            <a:ext cx="5760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10</a:t>
            </a:r>
            <a:endParaRPr lang="en-US" sz="1100" dirty="0"/>
          </a:p>
        </p:txBody>
      </p:sp>
      <p:sp>
        <p:nvSpPr>
          <p:cNvPr id="63" name="v:MatrixScreensaver:life.r4c1:box|b2"/>
          <p:cNvSpPr/>
          <p:nvPr/>
        </p:nvSpPr>
        <p:spPr>
          <a:xfrm>
            <a:off x="6537960" y="2999232"/>
            <a:ext cx="832104" cy="256032"/>
          </a:xfrm>
          <a:prstGeom prst="rect">
            <a:avLst/>
          </a:prstGeom>
          <a:solidFill>
            <a:srgbClr val="DDF3E6"/>
          </a:solidFill>
          <a:ln w="12700">
            <a:solidFill>
              <a:srgbClr val="2E9E5B"/>
            </a:solidFill>
            <a:prstDash val="solid"/>
          </a:ln>
        </p:spPr>
      </p:sp>
      <p:sp>
        <p:nvSpPr>
          <p:cNvPr id="64" name="v:MatrixScreensaver:life.r4c1|b2"/>
          <p:cNvSpPr txBox="1"/>
          <p:nvPr/>
        </p:nvSpPr>
        <p:spPr>
          <a:xfrm>
            <a:off x="6574536" y="2999232"/>
            <a:ext cx="75895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1</a:t>
            </a:r>
            <a:endParaRPr lang="en-US" sz="1100" dirty="0"/>
          </a:p>
        </p:txBody>
      </p:sp>
      <p:sp>
        <p:nvSpPr>
          <p:cNvPr id="65" name="v:MatrixScreensaver:life.r4c2:box|b2"/>
          <p:cNvSpPr/>
          <p:nvPr/>
        </p:nvSpPr>
        <p:spPr>
          <a:xfrm>
            <a:off x="7406640" y="2999232"/>
            <a:ext cx="1335024" cy="256032"/>
          </a:xfrm>
          <a:prstGeom prst="rect">
            <a:avLst/>
          </a:prstGeom>
          <a:solidFill>
            <a:srgbClr val="DDF3E6"/>
          </a:solidFill>
          <a:ln w="12700">
            <a:solidFill>
              <a:srgbClr val="2E9E5B"/>
            </a:solidFill>
            <a:prstDash val="solid"/>
          </a:ln>
        </p:spPr>
      </p:sp>
      <p:sp>
        <p:nvSpPr>
          <p:cNvPr id="66" name="v:MatrixScreensaver:life.r4c2|b2"/>
          <p:cNvSpPr txBox="1"/>
          <p:nvPr/>
        </p:nvSpPr>
        <p:spPr>
          <a:xfrm>
            <a:off x="7443216" y="2999232"/>
            <a:ext cx="1261872" cy="256032"/>
          </a:xfrm>
          <a:prstGeom prst="rect">
            <a:avLst/>
          </a:prstGeom>
          <a:noFill/>
          <a:ln/>
        </p:spPr>
        <p:txBody>
          <a:bodyPr wrap="square" lIns="0" tIns="0" rIns="0" bIns="0" rtlCol="0" anchor="ctr"/>
          <a:lstStyle/>
          <a:p>
            <a:pPr indent="0" marL="0">
              <a:buNone/>
            </a:pPr>
            <a:r>
              <a:rPr lang="en-US" sz="1100" b="1" dirty="0">
                <a:solidFill>
                  <a:srgbClr val="2E9E5B"/>
                </a:solidFill>
                <a:latin typeface="Courier New" pitchFamily="34" charset="0"/>
                <a:ea typeface="Courier New" pitchFamily="34" charset="-122"/>
                <a:cs typeface="Courier New" pitchFamily="34" charset="-120"/>
              </a:rPr>
              <a:t>0</a:t>
            </a:r>
            <a:endParaRPr lang="en-US" sz="1100" dirty="0"/>
          </a:p>
        </p:txBody>
      </p:sp>
      <p:sp>
        <p:nvSpPr>
          <p:cNvPr id="67" name="v:MatrixScreensaver:life.r5c0:box|b2"/>
          <p:cNvSpPr/>
          <p:nvPr/>
        </p:nvSpPr>
        <p:spPr>
          <a:xfrm>
            <a:off x="5852160" y="3282696"/>
            <a:ext cx="649224" cy="256032"/>
          </a:xfrm>
          <a:prstGeom prst="rect">
            <a:avLst/>
          </a:prstGeom>
          <a:solidFill>
            <a:srgbClr val="F1F4F8"/>
          </a:solidFill>
          <a:ln w="12700">
            <a:solidFill>
              <a:srgbClr val="F1F4F8"/>
            </a:solidFill>
            <a:prstDash val="solid"/>
          </a:ln>
        </p:spPr>
      </p:sp>
      <p:sp>
        <p:nvSpPr>
          <p:cNvPr id="68" name="v:MatrixScreensaver:life.r5c0|b2"/>
          <p:cNvSpPr txBox="1"/>
          <p:nvPr/>
        </p:nvSpPr>
        <p:spPr>
          <a:xfrm>
            <a:off x="5888736" y="3282696"/>
            <a:ext cx="576072" cy="256032"/>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11</a:t>
            </a:r>
            <a:endParaRPr lang="en-US" sz="1100" dirty="0"/>
          </a:p>
        </p:txBody>
      </p:sp>
      <p:sp>
        <p:nvSpPr>
          <p:cNvPr id="69" name="v:MatrixScreensaver:life.r5c1:box|b2"/>
          <p:cNvSpPr/>
          <p:nvPr/>
        </p:nvSpPr>
        <p:spPr>
          <a:xfrm>
            <a:off x="6537960" y="3282696"/>
            <a:ext cx="832104" cy="256032"/>
          </a:xfrm>
          <a:prstGeom prst="rect">
            <a:avLst/>
          </a:prstGeom>
          <a:solidFill>
            <a:srgbClr val="F1F4F8"/>
          </a:solidFill>
          <a:ln w="12700">
            <a:solidFill>
              <a:srgbClr val="F1F4F8"/>
            </a:solidFill>
            <a:prstDash val="solid"/>
          </a:ln>
        </p:spPr>
      </p:sp>
      <p:sp>
        <p:nvSpPr>
          <p:cNvPr id="70" name="v:MatrixScreensaver:life.r5c1|b2"/>
          <p:cNvSpPr txBox="1"/>
          <p:nvPr/>
        </p:nvSpPr>
        <p:spPr>
          <a:xfrm>
            <a:off x="6574536" y="3282696"/>
            <a:ext cx="758952" cy="256032"/>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space</a:t>
            </a:r>
            <a:endParaRPr lang="en-US" sz="1100" dirty="0"/>
          </a:p>
        </p:txBody>
      </p:sp>
      <p:sp>
        <p:nvSpPr>
          <p:cNvPr id="71" name="v:MatrixScreensaver:life.r5c2:box|b2"/>
          <p:cNvSpPr/>
          <p:nvPr/>
        </p:nvSpPr>
        <p:spPr>
          <a:xfrm>
            <a:off x="7406640" y="3282696"/>
            <a:ext cx="1335024" cy="256032"/>
          </a:xfrm>
          <a:prstGeom prst="rect">
            <a:avLst/>
          </a:prstGeom>
          <a:solidFill>
            <a:srgbClr val="F1F4F8"/>
          </a:solidFill>
          <a:ln w="12700">
            <a:solidFill>
              <a:srgbClr val="F1F4F8"/>
            </a:solidFill>
            <a:prstDash val="solid"/>
          </a:ln>
        </p:spPr>
      </p:sp>
      <p:sp>
        <p:nvSpPr>
          <p:cNvPr id="72" name="v:MatrixScreensaver:life.r5c2|b2"/>
          <p:cNvSpPr txBox="1"/>
          <p:nvPr/>
        </p:nvSpPr>
        <p:spPr>
          <a:xfrm>
            <a:off x="7443216" y="3282696"/>
            <a:ext cx="1261872" cy="256032"/>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0</a:t>
            </a:r>
            <a:endParaRPr lang="en-US" sz="1100" dirty="0"/>
          </a:p>
        </p:txBody>
      </p:sp>
      <p:sp>
        <p:nvSpPr>
          <p:cNvPr id="73" name="zerolabel|b3"/>
          <p:cNvSpPr txBox="1"/>
          <p:nvPr/>
        </p:nvSpPr>
        <p:spPr>
          <a:xfrm>
            <a:off x="5852160" y="3749040"/>
            <a:ext cx="2926080" cy="219456"/>
          </a:xfrm>
          <a:prstGeom prst="rect">
            <a:avLst/>
          </a:prstGeom>
          <a:noFill/>
          <a:ln/>
        </p:spPr>
        <p:txBody>
          <a:bodyPr wrap="square" lIns="0" tIns="0" rIns="0" bIns="0" rtlCol="0" anchor="ctr"/>
          <a:lstStyle/>
          <a:p>
            <a:pPr indent="0" marL="0">
              <a:buNone/>
            </a:pPr>
            <a:r>
              <a:rPr lang="en-US" sz="1100" b="1" dirty="0">
                <a:solidFill>
                  <a:srgbClr val="1E2A3A"/>
                </a:solidFill>
                <a:latin typeface="Calibri" pitchFamily="34" charset="0"/>
                <a:ea typeface="Calibri" pitchFamily="34" charset="-122"/>
                <a:cs typeface="Calibri" pitchFamily="34" charset="-120"/>
              </a:rPr>
              <a:t>The counters start as a list of zeros</a:t>
            </a:r>
            <a:endParaRPr lang="en-US" sz="1100" dirty="0"/>
          </a:p>
        </p:txBody>
      </p:sp>
      <p:sp>
        <p:nvSpPr>
          <p:cNvPr id="74" name="codecardbox|b3"/>
          <p:cNvSpPr/>
          <p:nvPr/>
        </p:nvSpPr>
        <p:spPr>
          <a:xfrm>
            <a:off x="5852160" y="4005072"/>
            <a:ext cx="2926080" cy="566928"/>
          </a:xfrm>
          <a:prstGeom prst="roundRect">
            <a:avLst>
              <a:gd name="adj" fmla="val 16129"/>
            </a:avLst>
          </a:prstGeom>
          <a:solidFill>
            <a:srgbClr val="17202B"/>
          </a:solidFill>
          <a:ln w="12700">
            <a:solidFill>
              <a:srgbClr val="17202B"/>
            </a:solidFill>
            <a:prstDash val="solid"/>
          </a:ln>
        </p:spPr>
      </p:sp>
      <p:sp>
        <p:nvSpPr>
          <p:cNvPr id="75" name="codecard|b3"/>
          <p:cNvSpPr txBox="1"/>
          <p:nvPr/>
        </p:nvSpPr>
        <p:spPr>
          <a:xfrm>
            <a:off x="6016752" y="4078224"/>
            <a:ext cx="2596896" cy="420624"/>
          </a:xfrm>
          <a:prstGeom prst="rect">
            <a:avLst/>
          </a:prstGeom>
          <a:noFill/>
          <a:ln/>
        </p:spPr>
        <p:txBody>
          <a:bodyPr wrap="square" lIns="0" tIns="0" rIns="0" bIns="0" rtlCol="0" anchor="t"/>
          <a:lstStyle/>
          <a:p>
            <a:pPr indent="0" marL="0">
              <a:spcAft>
                <a:spcPts val="100"/>
              </a:spcAft>
              <a:buNone/>
            </a:pPr>
            <a:r>
              <a:rPr lang="en-US" sz="1200" b="1" dirty="0">
                <a:solidFill>
                  <a:srgbClr val="FFD43B"/>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[0] * 5</a:t>
            </a:r>
            <a:endParaRPr lang="en-US" sz="1200" dirty="0"/>
          </a:p>
          <a:p>
            <a:pPr indent="0" marL="0">
              <a:spcAft>
                <a:spcPts val="100"/>
              </a:spcAft>
              <a:buNone/>
            </a:pPr>
            <a:r>
              <a:rPr lang="en-US" sz="1200" dirty="0">
                <a:solidFill>
                  <a:srgbClr val="7EE787"/>
                </a:solidFill>
                <a:latin typeface="Courier New" pitchFamily="34" charset="0"/>
                <a:ea typeface="Courier New" pitchFamily="34" charset="-122"/>
                <a:cs typeface="Courier New" pitchFamily="34" charset="-120"/>
              </a:rPr>
              <a:t>[0, 0, 0, 0, 0]</a:t>
            </a:r>
            <a:endParaRPr lang="en-US" sz="1200" dirty="0"/>
          </a:p>
        </p:txBody>
      </p:sp>
      <p:sp>
        <p:nvSpPr>
          <p:cNvPr id="7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7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7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Random and programs ▸ Matrix screensaver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random.html" history="1" highlightClick="0" endSnd="0">
                  <a:extLst>
                    <a:ext uri="{A12FA001-AC4F-418D-AE19-62706E023703}">
                      <ahyp:hlinkClr xmlns:ahyp="http://schemas.microsoft.com/office/drawing/2018/hyperlinkcolor" val="tx"/>
                    </a:ext>
                  </a:extLst>
                </a:hlinkClick>
              </a:rPr>
              <a:t>random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childTnLst>
                          </p:cTn>
                        </p:par>
                      </p:childTnLst>
                    </p:cTn>
                  </p:par>
                  <p:par>
                    <p:cTn id="182" fill="hold">
                      <p:stCondLst>
                        <p:cond delay="indefinite"/>
                      </p:stCondLst>
                      <p:childTnLst>
                        <p:par>
                          <p:cTn id="183"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400"/>
                                        <p:tgtEl>
                                          <p:spTgt spid="30"/>
                                        </p:tgtEl>
                                      </p:cBhvr>
                                    </p:animEffect>
                                  </p:childTnLst>
                                </p:cTn>
                              </p:par>
                              <p:par>
                                <p:cTn id="56" presetID="10" presetClass="entr" presetSubtype="0" fill="hold" nodeType="with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fade">
                                      <p:cBhvr>
                                        <p:cTn id="58" dur="400"/>
                                        <p:tgtEl>
                                          <p:spTgt spid="3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fade">
                                      <p:cBhvr>
                                        <p:cTn id="61" dur="400"/>
                                        <p:tgtEl>
                                          <p:spTgt spid="32"/>
                                        </p:tgtEl>
                                      </p:cBhvr>
                                    </p:animEffect>
                                  </p:childTnLst>
                                </p:cTn>
                              </p:par>
                              <p:par>
                                <p:cTn id="62" presetID="10" presetClass="entr" presetSubtype="0" fill="hold" nodeType="withEffect">
                                  <p:stCondLst>
                                    <p:cond delay="0"/>
                                  </p:stCondLst>
                                  <p:childTnLst>
                                    <p:set>
                                      <p:cBhvr>
                                        <p:cTn id="63" dur="1" fill="hold">
                                          <p:stCondLst>
                                            <p:cond delay="0"/>
                                          </p:stCondLst>
                                        </p:cTn>
                                        <p:tgtEl>
                                          <p:spTgt spid="33"/>
                                        </p:tgtEl>
                                        <p:attrNameLst>
                                          <p:attrName>style.visibility</p:attrName>
                                        </p:attrNameLst>
                                      </p:cBhvr>
                                      <p:to>
                                        <p:strVal val="visible"/>
                                      </p:to>
                                    </p:set>
                                    <p:animEffect transition="in" filter="fade">
                                      <p:cBhvr>
                                        <p:cTn id="64" dur="400"/>
                                        <p:tgtEl>
                                          <p:spTgt spid="3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4"/>
                                        </p:tgtEl>
                                        <p:attrNameLst>
                                          <p:attrName>style.visibility</p:attrName>
                                        </p:attrNameLst>
                                      </p:cBhvr>
                                      <p:to>
                                        <p:strVal val="visible"/>
                                      </p:to>
                                    </p:set>
                                    <p:animEffect transition="in" filter="fade">
                                      <p:cBhvr>
                                        <p:cTn id="67" dur="400"/>
                                        <p:tgtEl>
                                          <p:spTgt spid="34"/>
                                        </p:tgtEl>
                                      </p:cBhvr>
                                    </p:animEffect>
                                  </p:childTnLst>
                                </p:cTn>
                              </p:par>
                              <p:par>
                                <p:cTn id="68" presetID="10" presetClass="entr" presetSubtype="0" fill="hold" nodeType="withEffect">
                                  <p:stCondLst>
                                    <p:cond delay="0"/>
                                  </p:stCondLst>
                                  <p:childTnLst>
                                    <p:set>
                                      <p:cBhvr>
                                        <p:cTn id="69" dur="1" fill="hold">
                                          <p:stCondLst>
                                            <p:cond delay="0"/>
                                          </p:stCondLst>
                                        </p:cTn>
                                        <p:tgtEl>
                                          <p:spTgt spid="35"/>
                                        </p:tgtEl>
                                        <p:attrNameLst>
                                          <p:attrName>style.visibility</p:attrName>
                                        </p:attrNameLst>
                                      </p:cBhvr>
                                      <p:to>
                                        <p:strVal val="visible"/>
                                      </p:to>
                                    </p:set>
                                    <p:animEffect transition="in" filter="fade">
                                      <p:cBhvr>
                                        <p:cTn id="70" dur="400"/>
                                        <p:tgtEl>
                                          <p:spTgt spid="3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fade">
                                      <p:cBhvr>
                                        <p:cTn id="73" dur="400"/>
                                        <p:tgtEl>
                                          <p:spTgt spid="36"/>
                                        </p:tgtEl>
                                      </p:cBhvr>
                                    </p:animEffect>
                                  </p:childTnLst>
                                </p:cTn>
                              </p:par>
                              <p:par>
                                <p:cTn id="74" presetID="10" presetClass="entr" presetSubtype="0" fill="hold" nodeType="withEffect">
                                  <p:stCondLst>
                                    <p:cond delay="0"/>
                                  </p:stCondLst>
                                  <p:childTnLst>
                                    <p:set>
                                      <p:cBhvr>
                                        <p:cTn id="75" dur="1" fill="hold">
                                          <p:stCondLst>
                                            <p:cond delay="0"/>
                                          </p:stCondLst>
                                        </p:cTn>
                                        <p:tgtEl>
                                          <p:spTgt spid="37"/>
                                        </p:tgtEl>
                                        <p:attrNameLst>
                                          <p:attrName>style.visibility</p:attrName>
                                        </p:attrNameLst>
                                      </p:cBhvr>
                                      <p:to>
                                        <p:strVal val="visible"/>
                                      </p:to>
                                    </p:set>
                                    <p:animEffect transition="in" filter="fade">
                                      <p:cBhvr>
                                        <p:cTn id="76" dur="400"/>
                                        <p:tgtEl>
                                          <p:spTgt spid="3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8"/>
                                        </p:tgtEl>
                                        <p:attrNameLst>
                                          <p:attrName>style.visibility</p:attrName>
                                        </p:attrNameLst>
                                      </p:cBhvr>
                                      <p:to>
                                        <p:strVal val="visible"/>
                                      </p:to>
                                    </p:set>
                                    <p:animEffect transition="in" filter="fade">
                                      <p:cBhvr>
                                        <p:cTn id="79" dur="400"/>
                                        <p:tgtEl>
                                          <p:spTgt spid="38"/>
                                        </p:tgtEl>
                                      </p:cBhvr>
                                    </p:animEffect>
                                  </p:childTnLst>
                                </p:cTn>
                              </p:par>
                              <p:par>
                                <p:cTn id="80" presetID="10" presetClass="entr" presetSubtype="0" fill="hold" nodeType="withEffect">
                                  <p:stCondLst>
                                    <p:cond delay="0"/>
                                  </p:stCondLst>
                                  <p:childTnLst>
                                    <p:set>
                                      <p:cBhvr>
                                        <p:cTn id="81" dur="1" fill="hold">
                                          <p:stCondLst>
                                            <p:cond delay="0"/>
                                          </p:stCondLst>
                                        </p:cTn>
                                        <p:tgtEl>
                                          <p:spTgt spid="39"/>
                                        </p:tgtEl>
                                        <p:attrNameLst>
                                          <p:attrName>style.visibility</p:attrName>
                                        </p:attrNameLst>
                                      </p:cBhvr>
                                      <p:to>
                                        <p:strVal val="visible"/>
                                      </p:to>
                                    </p:set>
                                    <p:animEffect transition="in" filter="fade">
                                      <p:cBhvr>
                                        <p:cTn id="82" dur="400"/>
                                        <p:tgtEl>
                                          <p:spTgt spid="3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0"/>
                                        </p:tgtEl>
                                        <p:attrNameLst>
                                          <p:attrName>style.visibility</p:attrName>
                                        </p:attrNameLst>
                                      </p:cBhvr>
                                      <p:to>
                                        <p:strVal val="visible"/>
                                      </p:to>
                                    </p:set>
                                    <p:animEffect transition="in" filter="fade">
                                      <p:cBhvr>
                                        <p:cTn id="85" dur="400"/>
                                        <p:tgtEl>
                                          <p:spTgt spid="40"/>
                                        </p:tgtEl>
                                      </p:cBhvr>
                                    </p:animEffect>
                                  </p:childTnLst>
                                </p:cTn>
                              </p:par>
                              <p:par>
                                <p:cTn id="86" presetID="10" presetClass="entr" presetSubtype="0" fill="hold" nodeType="withEffect">
                                  <p:stCondLst>
                                    <p:cond delay="0"/>
                                  </p:stCondLst>
                                  <p:childTnLst>
                                    <p:set>
                                      <p:cBhvr>
                                        <p:cTn id="87" dur="1" fill="hold">
                                          <p:stCondLst>
                                            <p:cond delay="0"/>
                                          </p:stCondLst>
                                        </p:cTn>
                                        <p:tgtEl>
                                          <p:spTgt spid="41"/>
                                        </p:tgtEl>
                                        <p:attrNameLst>
                                          <p:attrName>style.visibility</p:attrName>
                                        </p:attrNameLst>
                                      </p:cBhvr>
                                      <p:to>
                                        <p:strVal val="visible"/>
                                      </p:to>
                                    </p:set>
                                    <p:animEffect transition="in" filter="fade">
                                      <p:cBhvr>
                                        <p:cTn id="88" dur="400"/>
                                        <p:tgtEl>
                                          <p:spTgt spid="4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2"/>
                                        </p:tgtEl>
                                        <p:attrNameLst>
                                          <p:attrName>style.visibility</p:attrName>
                                        </p:attrNameLst>
                                      </p:cBhvr>
                                      <p:to>
                                        <p:strVal val="visible"/>
                                      </p:to>
                                    </p:set>
                                    <p:animEffect transition="in" filter="fade">
                                      <p:cBhvr>
                                        <p:cTn id="91" dur="400"/>
                                        <p:tgtEl>
                                          <p:spTgt spid="42"/>
                                        </p:tgtEl>
                                      </p:cBhvr>
                                    </p:animEffect>
                                  </p:childTnLst>
                                </p:cTn>
                              </p:par>
                              <p:par>
                                <p:cTn id="92" presetID="10" presetClass="entr" presetSubtype="0" fill="hold" nodeType="withEffect">
                                  <p:stCondLst>
                                    <p:cond delay="0"/>
                                  </p:stCondLst>
                                  <p:childTnLst>
                                    <p:set>
                                      <p:cBhvr>
                                        <p:cTn id="93" dur="1" fill="hold">
                                          <p:stCondLst>
                                            <p:cond delay="0"/>
                                          </p:stCondLst>
                                        </p:cTn>
                                        <p:tgtEl>
                                          <p:spTgt spid="43"/>
                                        </p:tgtEl>
                                        <p:attrNameLst>
                                          <p:attrName>style.visibility</p:attrName>
                                        </p:attrNameLst>
                                      </p:cBhvr>
                                      <p:to>
                                        <p:strVal val="visible"/>
                                      </p:to>
                                    </p:set>
                                    <p:animEffect transition="in" filter="fade">
                                      <p:cBhvr>
                                        <p:cTn id="94" dur="400"/>
                                        <p:tgtEl>
                                          <p:spTgt spid="4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4"/>
                                        </p:tgtEl>
                                        <p:attrNameLst>
                                          <p:attrName>style.visibility</p:attrName>
                                        </p:attrNameLst>
                                      </p:cBhvr>
                                      <p:to>
                                        <p:strVal val="visible"/>
                                      </p:to>
                                    </p:set>
                                    <p:animEffect transition="in" filter="fade">
                                      <p:cBhvr>
                                        <p:cTn id="97" dur="400"/>
                                        <p:tgtEl>
                                          <p:spTgt spid="44"/>
                                        </p:tgtEl>
                                      </p:cBhvr>
                                    </p:animEffect>
                                  </p:childTnLst>
                                </p:cTn>
                              </p:par>
                              <p:par>
                                <p:cTn id="98" presetID="10" presetClass="entr" presetSubtype="0" fill="hold" nodeType="withEffect">
                                  <p:stCondLst>
                                    <p:cond delay="0"/>
                                  </p:stCondLst>
                                  <p:childTnLst>
                                    <p:set>
                                      <p:cBhvr>
                                        <p:cTn id="99" dur="1" fill="hold">
                                          <p:stCondLst>
                                            <p:cond delay="0"/>
                                          </p:stCondLst>
                                        </p:cTn>
                                        <p:tgtEl>
                                          <p:spTgt spid="45"/>
                                        </p:tgtEl>
                                        <p:attrNameLst>
                                          <p:attrName>style.visibility</p:attrName>
                                        </p:attrNameLst>
                                      </p:cBhvr>
                                      <p:to>
                                        <p:strVal val="visible"/>
                                      </p:to>
                                    </p:set>
                                    <p:animEffect transition="in" filter="fade">
                                      <p:cBhvr>
                                        <p:cTn id="100" dur="400"/>
                                        <p:tgtEl>
                                          <p:spTgt spid="45"/>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6"/>
                                        </p:tgtEl>
                                        <p:attrNameLst>
                                          <p:attrName>style.visibility</p:attrName>
                                        </p:attrNameLst>
                                      </p:cBhvr>
                                      <p:to>
                                        <p:strVal val="visible"/>
                                      </p:to>
                                    </p:set>
                                    <p:animEffect transition="in" filter="fade">
                                      <p:cBhvr>
                                        <p:cTn id="103" dur="400"/>
                                        <p:tgtEl>
                                          <p:spTgt spid="46"/>
                                        </p:tgtEl>
                                      </p:cBhvr>
                                    </p:animEffect>
                                  </p:childTnLst>
                                </p:cTn>
                              </p:par>
                              <p:par>
                                <p:cTn id="104" presetID="10" presetClass="entr" presetSubtype="0" fill="hold" nodeType="withEffect">
                                  <p:stCondLst>
                                    <p:cond delay="0"/>
                                  </p:stCondLst>
                                  <p:childTnLst>
                                    <p:set>
                                      <p:cBhvr>
                                        <p:cTn id="105" dur="1" fill="hold">
                                          <p:stCondLst>
                                            <p:cond delay="0"/>
                                          </p:stCondLst>
                                        </p:cTn>
                                        <p:tgtEl>
                                          <p:spTgt spid="47"/>
                                        </p:tgtEl>
                                        <p:attrNameLst>
                                          <p:attrName>style.visibility</p:attrName>
                                        </p:attrNameLst>
                                      </p:cBhvr>
                                      <p:to>
                                        <p:strVal val="visible"/>
                                      </p:to>
                                    </p:set>
                                    <p:animEffect transition="in" filter="fade">
                                      <p:cBhvr>
                                        <p:cTn id="106" dur="400"/>
                                        <p:tgtEl>
                                          <p:spTgt spid="47"/>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8"/>
                                        </p:tgtEl>
                                        <p:attrNameLst>
                                          <p:attrName>style.visibility</p:attrName>
                                        </p:attrNameLst>
                                      </p:cBhvr>
                                      <p:to>
                                        <p:strVal val="visible"/>
                                      </p:to>
                                    </p:set>
                                    <p:animEffect transition="in" filter="fade">
                                      <p:cBhvr>
                                        <p:cTn id="109" dur="400"/>
                                        <p:tgtEl>
                                          <p:spTgt spid="48"/>
                                        </p:tgtEl>
                                      </p:cBhvr>
                                    </p:animEffect>
                                  </p:childTnLst>
                                </p:cTn>
                              </p:par>
                              <p:par>
                                <p:cTn id="110" presetID="10" presetClass="entr" presetSubtype="0" fill="hold" nodeType="withEffect">
                                  <p:stCondLst>
                                    <p:cond delay="0"/>
                                  </p:stCondLst>
                                  <p:childTnLst>
                                    <p:set>
                                      <p:cBhvr>
                                        <p:cTn id="111" dur="1" fill="hold">
                                          <p:stCondLst>
                                            <p:cond delay="0"/>
                                          </p:stCondLst>
                                        </p:cTn>
                                        <p:tgtEl>
                                          <p:spTgt spid="49"/>
                                        </p:tgtEl>
                                        <p:attrNameLst>
                                          <p:attrName>style.visibility</p:attrName>
                                        </p:attrNameLst>
                                      </p:cBhvr>
                                      <p:to>
                                        <p:strVal val="visible"/>
                                      </p:to>
                                    </p:set>
                                    <p:animEffect transition="in" filter="fade">
                                      <p:cBhvr>
                                        <p:cTn id="112" dur="400"/>
                                        <p:tgtEl>
                                          <p:spTgt spid="49"/>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50"/>
                                        </p:tgtEl>
                                        <p:attrNameLst>
                                          <p:attrName>style.visibility</p:attrName>
                                        </p:attrNameLst>
                                      </p:cBhvr>
                                      <p:to>
                                        <p:strVal val="visible"/>
                                      </p:to>
                                    </p:set>
                                    <p:animEffect transition="in" filter="fade">
                                      <p:cBhvr>
                                        <p:cTn id="115" dur="400"/>
                                        <p:tgtEl>
                                          <p:spTgt spid="50"/>
                                        </p:tgtEl>
                                      </p:cBhvr>
                                    </p:animEffect>
                                  </p:childTnLst>
                                </p:cTn>
                              </p:par>
                              <p:par>
                                <p:cTn id="116" presetID="10" presetClass="entr" presetSubtype="0" fill="hold" nodeType="withEffect">
                                  <p:stCondLst>
                                    <p:cond delay="0"/>
                                  </p:stCondLst>
                                  <p:childTnLst>
                                    <p:set>
                                      <p:cBhvr>
                                        <p:cTn id="117" dur="1" fill="hold">
                                          <p:stCondLst>
                                            <p:cond delay="0"/>
                                          </p:stCondLst>
                                        </p:cTn>
                                        <p:tgtEl>
                                          <p:spTgt spid="51"/>
                                        </p:tgtEl>
                                        <p:attrNameLst>
                                          <p:attrName>style.visibility</p:attrName>
                                        </p:attrNameLst>
                                      </p:cBhvr>
                                      <p:to>
                                        <p:strVal val="visible"/>
                                      </p:to>
                                    </p:set>
                                    <p:animEffect transition="in" filter="fade">
                                      <p:cBhvr>
                                        <p:cTn id="118" dur="400"/>
                                        <p:tgtEl>
                                          <p:spTgt spid="51"/>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52"/>
                                        </p:tgtEl>
                                        <p:attrNameLst>
                                          <p:attrName>style.visibility</p:attrName>
                                        </p:attrNameLst>
                                      </p:cBhvr>
                                      <p:to>
                                        <p:strVal val="visible"/>
                                      </p:to>
                                    </p:set>
                                    <p:animEffect transition="in" filter="fade">
                                      <p:cBhvr>
                                        <p:cTn id="121" dur="400"/>
                                        <p:tgtEl>
                                          <p:spTgt spid="52"/>
                                        </p:tgtEl>
                                      </p:cBhvr>
                                    </p:animEffect>
                                  </p:childTnLst>
                                </p:cTn>
                              </p:par>
                              <p:par>
                                <p:cTn id="122" presetID="10" presetClass="entr" presetSubtype="0" fill="hold" nodeType="withEffect">
                                  <p:stCondLst>
                                    <p:cond delay="0"/>
                                  </p:stCondLst>
                                  <p:childTnLst>
                                    <p:set>
                                      <p:cBhvr>
                                        <p:cTn id="123" dur="1" fill="hold">
                                          <p:stCondLst>
                                            <p:cond delay="0"/>
                                          </p:stCondLst>
                                        </p:cTn>
                                        <p:tgtEl>
                                          <p:spTgt spid="53"/>
                                        </p:tgtEl>
                                        <p:attrNameLst>
                                          <p:attrName>style.visibility</p:attrName>
                                        </p:attrNameLst>
                                      </p:cBhvr>
                                      <p:to>
                                        <p:strVal val="visible"/>
                                      </p:to>
                                    </p:set>
                                    <p:animEffect transition="in" filter="fade">
                                      <p:cBhvr>
                                        <p:cTn id="124" dur="400"/>
                                        <p:tgtEl>
                                          <p:spTgt spid="53"/>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54"/>
                                        </p:tgtEl>
                                        <p:attrNameLst>
                                          <p:attrName>style.visibility</p:attrName>
                                        </p:attrNameLst>
                                      </p:cBhvr>
                                      <p:to>
                                        <p:strVal val="visible"/>
                                      </p:to>
                                    </p:set>
                                    <p:animEffect transition="in" filter="fade">
                                      <p:cBhvr>
                                        <p:cTn id="127" dur="400"/>
                                        <p:tgtEl>
                                          <p:spTgt spid="54"/>
                                        </p:tgtEl>
                                      </p:cBhvr>
                                    </p:animEffect>
                                  </p:childTnLst>
                                </p:cTn>
                              </p:par>
                              <p:par>
                                <p:cTn id="128" presetID="10" presetClass="entr" presetSubtype="0" fill="hold" nodeType="withEffect">
                                  <p:stCondLst>
                                    <p:cond delay="0"/>
                                  </p:stCondLst>
                                  <p:childTnLst>
                                    <p:set>
                                      <p:cBhvr>
                                        <p:cTn id="129" dur="1" fill="hold">
                                          <p:stCondLst>
                                            <p:cond delay="0"/>
                                          </p:stCondLst>
                                        </p:cTn>
                                        <p:tgtEl>
                                          <p:spTgt spid="55"/>
                                        </p:tgtEl>
                                        <p:attrNameLst>
                                          <p:attrName>style.visibility</p:attrName>
                                        </p:attrNameLst>
                                      </p:cBhvr>
                                      <p:to>
                                        <p:strVal val="visible"/>
                                      </p:to>
                                    </p:set>
                                    <p:animEffect transition="in" filter="fade">
                                      <p:cBhvr>
                                        <p:cTn id="130" dur="400"/>
                                        <p:tgtEl>
                                          <p:spTgt spid="55"/>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56"/>
                                        </p:tgtEl>
                                        <p:attrNameLst>
                                          <p:attrName>style.visibility</p:attrName>
                                        </p:attrNameLst>
                                      </p:cBhvr>
                                      <p:to>
                                        <p:strVal val="visible"/>
                                      </p:to>
                                    </p:set>
                                    <p:animEffect transition="in" filter="fade">
                                      <p:cBhvr>
                                        <p:cTn id="133" dur="400"/>
                                        <p:tgtEl>
                                          <p:spTgt spid="56"/>
                                        </p:tgtEl>
                                      </p:cBhvr>
                                    </p:animEffect>
                                  </p:childTnLst>
                                </p:cTn>
                              </p:par>
                              <p:par>
                                <p:cTn id="134" presetID="10" presetClass="entr" presetSubtype="0" fill="hold" nodeType="withEffect">
                                  <p:stCondLst>
                                    <p:cond delay="0"/>
                                  </p:stCondLst>
                                  <p:childTnLst>
                                    <p:set>
                                      <p:cBhvr>
                                        <p:cTn id="135" dur="1" fill="hold">
                                          <p:stCondLst>
                                            <p:cond delay="0"/>
                                          </p:stCondLst>
                                        </p:cTn>
                                        <p:tgtEl>
                                          <p:spTgt spid="57"/>
                                        </p:tgtEl>
                                        <p:attrNameLst>
                                          <p:attrName>style.visibility</p:attrName>
                                        </p:attrNameLst>
                                      </p:cBhvr>
                                      <p:to>
                                        <p:strVal val="visible"/>
                                      </p:to>
                                    </p:set>
                                    <p:animEffect transition="in" filter="fade">
                                      <p:cBhvr>
                                        <p:cTn id="136" dur="400"/>
                                        <p:tgtEl>
                                          <p:spTgt spid="57"/>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8"/>
                                        </p:tgtEl>
                                        <p:attrNameLst>
                                          <p:attrName>style.visibility</p:attrName>
                                        </p:attrNameLst>
                                      </p:cBhvr>
                                      <p:to>
                                        <p:strVal val="visible"/>
                                      </p:to>
                                    </p:set>
                                    <p:animEffect transition="in" filter="fade">
                                      <p:cBhvr>
                                        <p:cTn id="139" dur="400"/>
                                        <p:tgtEl>
                                          <p:spTgt spid="58"/>
                                        </p:tgtEl>
                                      </p:cBhvr>
                                    </p:animEffect>
                                  </p:childTnLst>
                                </p:cTn>
                              </p:par>
                              <p:par>
                                <p:cTn id="140" presetID="10" presetClass="entr" presetSubtype="0" fill="hold" nodeType="withEffect">
                                  <p:stCondLst>
                                    <p:cond delay="0"/>
                                  </p:stCondLst>
                                  <p:childTnLst>
                                    <p:set>
                                      <p:cBhvr>
                                        <p:cTn id="141" dur="1" fill="hold">
                                          <p:stCondLst>
                                            <p:cond delay="0"/>
                                          </p:stCondLst>
                                        </p:cTn>
                                        <p:tgtEl>
                                          <p:spTgt spid="59"/>
                                        </p:tgtEl>
                                        <p:attrNameLst>
                                          <p:attrName>style.visibility</p:attrName>
                                        </p:attrNameLst>
                                      </p:cBhvr>
                                      <p:to>
                                        <p:strVal val="visible"/>
                                      </p:to>
                                    </p:set>
                                    <p:animEffect transition="in" filter="fade">
                                      <p:cBhvr>
                                        <p:cTn id="142" dur="400"/>
                                        <p:tgtEl>
                                          <p:spTgt spid="59"/>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60"/>
                                        </p:tgtEl>
                                        <p:attrNameLst>
                                          <p:attrName>style.visibility</p:attrName>
                                        </p:attrNameLst>
                                      </p:cBhvr>
                                      <p:to>
                                        <p:strVal val="visible"/>
                                      </p:to>
                                    </p:set>
                                    <p:animEffect transition="in" filter="fade">
                                      <p:cBhvr>
                                        <p:cTn id="145" dur="400"/>
                                        <p:tgtEl>
                                          <p:spTgt spid="60"/>
                                        </p:tgtEl>
                                      </p:cBhvr>
                                    </p:animEffect>
                                  </p:childTnLst>
                                </p:cTn>
                              </p:par>
                              <p:par>
                                <p:cTn id="146" presetID="10" presetClass="entr" presetSubtype="0" fill="hold" nodeType="withEffect">
                                  <p:stCondLst>
                                    <p:cond delay="0"/>
                                  </p:stCondLst>
                                  <p:childTnLst>
                                    <p:set>
                                      <p:cBhvr>
                                        <p:cTn id="147" dur="1" fill="hold">
                                          <p:stCondLst>
                                            <p:cond delay="0"/>
                                          </p:stCondLst>
                                        </p:cTn>
                                        <p:tgtEl>
                                          <p:spTgt spid="61"/>
                                        </p:tgtEl>
                                        <p:attrNameLst>
                                          <p:attrName>style.visibility</p:attrName>
                                        </p:attrNameLst>
                                      </p:cBhvr>
                                      <p:to>
                                        <p:strVal val="visible"/>
                                      </p:to>
                                    </p:set>
                                    <p:animEffect transition="in" filter="fade">
                                      <p:cBhvr>
                                        <p:cTn id="148" dur="400"/>
                                        <p:tgtEl>
                                          <p:spTgt spid="61"/>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62"/>
                                        </p:tgtEl>
                                        <p:attrNameLst>
                                          <p:attrName>style.visibility</p:attrName>
                                        </p:attrNameLst>
                                      </p:cBhvr>
                                      <p:to>
                                        <p:strVal val="visible"/>
                                      </p:to>
                                    </p:set>
                                    <p:animEffect transition="in" filter="fade">
                                      <p:cBhvr>
                                        <p:cTn id="151" dur="400"/>
                                        <p:tgtEl>
                                          <p:spTgt spid="62"/>
                                        </p:tgtEl>
                                      </p:cBhvr>
                                    </p:animEffect>
                                  </p:childTnLst>
                                </p:cTn>
                              </p:par>
                              <p:par>
                                <p:cTn id="152" presetID="10" presetClass="entr" presetSubtype="0" fill="hold" nodeType="withEffect">
                                  <p:stCondLst>
                                    <p:cond delay="0"/>
                                  </p:stCondLst>
                                  <p:childTnLst>
                                    <p:set>
                                      <p:cBhvr>
                                        <p:cTn id="153" dur="1" fill="hold">
                                          <p:stCondLst>
                                            <p:cond delay="0"/>
                                          </p:stCondLst>
                                        </p:cTn>
                                        <p:tgtEl>
                                          <p:spTgt spid="63"/>
                                        </p:tgtEl>
                                        <p:attrNameLst>
                                          <p:attrName>style.visibility</p:attrName>
                                        </p:attrNameLst>
                                      </p:cBhvr>
                                      <p:to>
                                        <p:strVal val="visible"/>
                                      </p:to>
                                    </p:set>
                                    <p:animEffect transition="in" filter="fade">
                                      <p:cBhvr>
                                        <p:cTn id="154" dur="400"/>
                                        <p:tgtEl>
                                          <p:spTgt spid="63"/>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64"/>
                                        </p:tgtEl>
                                        <p:attrNameLst>
                                          <p:attrName>style.visibility</p:attrName>
                                        </p:attrNameLst>
                                      </p:cBhvr>
                                      <p:to>
                                        <p:strVal val="visible"/>
                                      </p:to>
                                    </p:set>
                                    <p:animEffect transition="in" filter="fade">
                                      <p:cBhvr>
                                        <p:cTn id="157" dur="400"/>
                                        <p:tgtEl>
                                          <p:spTgt spid="64"/>
                                        </p:tgtEl>
                                      </p:cBhvr>
                                    </p:animEffect>
                                  </p:childTnLst>
                                </p:cTn>
                              </p:par>
                              <p:par>
                                <p:cTn id="158" presetID="10" presetClass="entr" presetSubtype="0" fill="hold" nodeType="withEffect">
                                  <p:stCondLst>
                                    <p:cond delay="0"/>
                                  </p:stCondLst>
                                  <p:childTnLst>
                                    <p:set>
                                      <p:cBhvr>
                                        <p:cTn id="159" dur="1" fill="hold">
                                          <p:stCondLst>
                                            <p:cond delay="0"/>
                                          </p:stCondLst>
                                        </p:cTn>
                                        <p:tgtEl>
                                          <p:spTgt spid="65"/>
                                        </p:tgtEl>
                                        <p:attrNameLst>
                                          <p:attrName>style.visibility</p:attrName>
                                        </p:attrNameLst>
                                      </p:cBhvr>
                                      <p:to>
                                        <p:strVal val="visible"/>
                                      </p:to>
                                    </p:set>
                                    <p:animEffect transition="in" filter="fade">
                                      <p:cBhvr>
                                        <p:cTn id="160" dur="400"/>
                                        <p:tgtEl>
                                          <p:spTgt spid="65"/>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66"/>
                                        </p:tgtEl>
                                        <p:attrNameLst>
                                          <p:attrName>style.visibility</p:attrName>
                                        </p:attrNameLst>
                                      </p:cBhvr>
                                      <p:to>
                                        <p:strVal val="visible"/>
                                      </p:to>
                                    </p:set>
                                    <p:animEffect transition="in" filter="fade">
                                      <p:cBhvr>
                                        <p:cTn id="163" dur="400"/>
                                        <p:tgtEl>
                                          <p:spTgt spid="66"/>
                                        </p:tgtEl>
                                      </p:cBhvr>
                                    </p:animEffect>
                                  </p:childTnLst>
                                </p:cTn>
                              </p:par>
                              <p:par>
                                <p:cTn id="164" presetID="10" presetClass="entr" presetSubtype="0" fill="hold" nodeType="withEffect">
                                  <p:stCondLst>
                                    <p:cond delay="0"/>
                                  </p:stCondLst>
                                  <p:childTnLst>
                                    <p:set>
                                      <p:cBhvr>
                                        <p:cTn id="165" dur="1" fill="hold">
                                          <p:stCondLst>
                                            <p:cond delay="0"/>
                                          </p:stCondLst>
                                        </p:cTn>
                                        <p:tgtEl>
                                          <p:spTgt spid="67"/>
                                        </p:tgtEl>
                                        <p:attrNameLst>
                                          <p:attrName>style.visibility</p:attrName>
                                        </p:attrNameLst>
                                      </p:cBhvr>
                                      <p:to>
                                        <p:strVal val="visible"/>
                                      </p:to>
                                    </p:set>
                                    <p:animEffect transition="in" filter="fade">
                                      <p:cBhvr>
                                        <p:cTn id="166" dur="400"/>
                                        <p:tgtEl>
                                          <p:spTgt spid="67"/>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68"/>
                                        </p:tgtEl>
                                        <p:attrNameLst>
                                          <p:attrName>style.visibility</p:attrName>
                                        </p:attrNameLst>
                                      </p:cBhvr>
                                      <p:to>
                                        <p:strVal val="visible"/>
                                      </p:to>
                                    </p:set>
                                    <p:animEffect transition="in" filter="fade">
                                      <p:cBhvr>
                                        <p:cTn id="169" dur="400"/>
                                        <p:tgtEl>
                                          <p:spTgt spid="68"/>
                                        </p:tgtEl>
                                      </p:cBhvr>
                                    </p:animEffect>
                                  </p:childTnLst>
                                </p:cTn>
                              </p:par>
                              <p:par>
                                <p:cTn id="170" presetID="10" presetClass="entr" presetSubtype="0" fill="hold" nodeType="withEffect">
                                  <p:stCondLst>
                                    <p:cond delay="0"/>
                                  </p:stCondLst>
                                  <p:childTnLst>
                                    <p:set>
                                      <p:cBhvr>
                                        <p:cTn id="171" dur="1" fill="hold">
                                          <p:stCondLst>
                                            <p:cond delay="0"/>
                                          </p:stCondLst>
                                        </p:cTn>
                                        <p:tgtEl>
                                          <p:spTgt spid="69"/>
                                        </p:tgtEl>
                                        <p:attrNameLst>
                                          <p:attrName>style.visibility</p:attrName>
                                        </p:attrNameLst>
                                      </p:cBhvr>
                                      <p:to>
                                        <p:strVal val="visible"/>
                                      </p:to>
                                    </p:set>
                                    <p:animEffect transition="in" filter="fade">
                                      <p:cBhvr>
                                        <p:cTn id="172" dur="400"/>
                                        <p:tgtEl>
                                          <p:spTgt spid="69"/>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70"/>
                                        </p:tgtEl>
                                        <p:attrNameLst>
                                          <p:attrName>style.visibility</p:attrName>
                                        </p:attrNameLst>
                                      </p:cBhvr>
                                      <p:to>
                                        <p:strVal val="visible"/>
                                      </p:to>
                                    </p:set>
                                    <p:animEffect transition="in" filter="fade">
                                      <p:cBhvr>
                                        <p:cTn id="175" dur="400"/>
                                        <p:tgtEl>
                                          <p:spTgt spid="70"/>
                                        </p:tgtEl>
                                      </p:cBhvr>
                                    </p:animEffect>
                                  </p:childTnLst>
                                </p:cTn>
                              </p:par>
                              <p:par>
                                <p:cTn id="176" presetID="10" presetClass="entr" presetSubtype="0" fill="hold" nodeType="withEffect">
                                  <p:stCondLst>
                                    <p:cond delay="0"/>
                                  </p:stCondLst>
                                  <p:childTnLst>
                                    <p:set>
                                      <p:cBhvr>
                                        <p:cTn id="177" dur="1" fill="hold">
                                          <p:stCondLst>
                                            <p:cond delay="0"/>
                                          </p:stCondLst>
                                        </p:cTn>
                                        <p:tgtEl>
                                          <p:spTgt spid="71"/>
                                        </p:tgtEl>
                                        <p:attrNameLst>
                                          <p:attrName>style.visibility</p:attrName>
                                        </p:attrNameLst>
                                      </p:cBhvr>
                                      <p:to>
                                        <p:strVal val="visible"/>
                                      </p:to>
                                    </p:set>
                                    <p:animEffect transition="in" filter="fade">
                                      <p:cBhvr>
                                        <p:cTn id="178" dur="400"/>
                                        <p:tgtEl>
                                          <p:spTgt spid="71"/>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72"/>
                                        </p:tgtEl>
                                        <p:attrNameLst>
                                          <p:attrName>style.visibility</p:attrName>
                                        </p:attrNameLst>
                                      </p:cBhvr>
                                      <p:to>
                                        <p:strVal val="visible"/>
                                      </p:to>
                                    </p:set>
                                    <p:animEffect transition="in" filter="fade">
                                      <p:cBhvr>
                                        <p:cTn id="181" dur="400"/>
                                        <p:tgtEl>
                                          <p:spTgt spid="72"/>
                                        </p:tgtEl>
                                      </p:cBhvr>
                                    </p:animEffect>
                                  </p:childTnLst>
                                </p:cTn>
                              </p:par>
                            </p:childTnLst>
                          </p:cTn>
                        </p:par>
                      </p:childTnLst>
                    </p:cTn>
                  </p:par>
                  <p:par>
                    <p:cTn id="193" fill="hold">
                      <p:stCondLst>
                        <p:cond delay="indefinite"/>
                      </p:stCondLst>
                      <p:childTnLst>
                        <p:par>
                          <p:cTn id="194" fill="hold">
                            <p:stCondLst>
                              <p:cond delay="0"/>
                            </p:stCondLst>
                            <p:childTnLst>
                              <p:par>
                                <p:cTn id="184" presetID="10" presetClass="entr" presetSubtype="0" fill="hold" grpId="0" nodeType="clickEffect">
                                  <p:stCondLst>
                                    <p:cond delay="0"/>
                                  </p:stCondLst>
                                  <p:childTnLst>
                                    <p:set>
                                      <p:cBhvr>
                                        <p:cTn id="185" dur="1" fill="hold">
                                          <p:stCondLst>
                                            <p:cond delay="0"/>
                                          </p:stCondLst>
                                        </p:cTn>
                                        <p:tgtEl>
                                          <p:spTgt spid="73"/>
                                        </p:tgtEl>
                                        <p:attrNameLst>
                                          <p:attrName>style.visibility</p:attrName>
                                        </p:attrNameLst>
                                      </p:cBhvr>
                                      <p:to>
                                        <p:strVal val="visible"/>
                                      </p:to>
                                    </p:set>
                                    <p:animEffect transition="in" filter="fade">
                                      <p:cBhvr>
                                        <p:cTn id="186" dur="400"/>
                                        <p:tgtEl>
                                          <p:spTgt spid="73"/>
                                        </p:tgtEl>
                                      </p:cBhvr>
                                    </p:animEffect>
                                  </p:childTnLst>
                                </p:cTn>
                              </p:par>
                              <p:par>
                                <p:cTn id="187" presetID="10" presetClass="entr" presetSubtype="0" fill="hold" nodeType="withEffect">
                                  <p:stCondLst>
                                    <p:cond delay="0"/>
                                  </p:stCondLst>
                                  <p:childTnLst>
                                    <p:set>
                                      <p:cBhvr>
                                        <p:cTn id="188" dur="1" fill="hold">
                                          <p:stCondLst>
                                            <p:cond delay="0"/>
                                          </p:stCondLst>
                                        </p:cTn>
                                        <p:tgtEl>
                                          <p:spTgt spid="74"/>
                                        </p:tgtEl>
                                        <p:attrNameLst>
                                          <p:attrName>style.visibility</p:attrName>
                                        </p:attrNameLst>
                                      </p:cBhvr>
                                      <p:to>
                                        <p:strVal val="visible"/>
                                      </p:to>
                                    </p:set>
                                    <p:animEffect transition="in" filter="fade">
                                      <p:cBhvr>
                                        <p:cTn id="189" dur="400"/>
                                        <p:tgtEl>
                                          <p:spTgt spid="74"/>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75"/>
                                        </p:tgtEl>
                                        <p:attrNameLst>
                                          <p:attrName>style.visibility</p:attrName>
                                        </p:attrNameLst>
                                      </p:cBhvr>
                                      <p:to>
                                        <p:strVal val="visible"/>
                                      </p:to>
                                    </p:set>
                                    <p:animEffect transition="in" filter="fade">
                                      <p:cBhvr>
                                        <p:cTn id="192" dur="400"/>
                                        <p:tgtEl>
                                          <p:spTgt spid="75"/>
                                        </p:tgtEl>
                                      </p:cBhvr>
                                    </p:animEffect>
                                  </p:childTnLst>
                                </p:cTn>
                              </p:par>
                            </p:childTnLst>
                          </p:cTn>
                        </p:par>
                      </p:childTnLst>
                    </p:cTn>
                  </p:par>
                  <p:par>
                    <p:cTn id="219" fill="hold">
                      <p:stCondLst>
                        <p:cond delay="indefinite"/>
                      </p:stCondLst>
                      <p:childTnLst>
                        <p:par>
                          <p:cTn id="220" fill="hold">
                            <p:stCondLst>
                              <p:cond delay="0"/>
                            </p:stCondLst>
                            <p:childTnLst>
                              <p:par>
                                <p:cTn id="195" presetID="10" presetClass="entr" presetSubtype="0" fill="hold" grpId="0" nodeType="clickEffect">
                                  <p:stCondLst>
                                    <p:cond delay="0"/>
                                  </p:stCondLst>
                                  <p:childTnLst>
                                    <p:set>
                                      <p:cBhvr>
                                        <p:cTn id="196" dur="1" fill="hold">
                                          <p:stCondLst>
                                            <p:cond delay="0"/>
                                          </p:stCondLst>
                                        </p:cTn>
                                        <p:tgtEl>
                                          <p:spTgt spid="22"/>
                                        </p:tgtEl>
                                        <p:attrNameLst>
                                          <p:attrName>style.visibility</p:attrName>
                                        </p:attrNameLst>
                                      </p:cBhvr>
                                      <p:to>
                                        <p:strVal val="visible"/>
                                      </p:to>
                                    </p:set>
                                    <p:animEffect transition="in" filter="fade">
                                      <p:cBhvr>
                                        <p:cTn id="197" dur="400"/>
                                        <p:tgtEl>
                                          <p:spTgt spid="22"/>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23"/>
                                        </p:tgtEl>
                                        <p:attrNameLst>
                                          <p:attrName>style.visibility</p:attrName>
                                        </p:attrNameLst>
                                      </p:cBhvr>
                                      <p:to>
                                        <p:strVal val="visible"/>
                                      </p:to>
                                    </p:set>
                                    <p:animEffect transition="in" filter="fade">
                                      <p:cBhvr>
                                        <p:cTn id="200" dur="400"/>
                                        <p:tgtEl>
                                          <p:spTgt spid="23"/>
                                        </p:tgtEl>
                                      </p:cBhvr>
                                    </p:animEffect>
                                  </p:childTnLst>
                                </p:cTn>
                              </p:par>
                              <p:par>
                                <p:cTn id="201" presetID="10" presetClass="entr" presetSubtype="0" fill="hold" nodeType="withEffect">
                                  <p:stCondLst>
                                    <p:cond delay="0"/>
                                  </p:stCondLst>
                                  <p:childTnLst>
                                    <p:set>
                                      <p:cBhvr>
                                        <p:cTn id="202" dur="1" fill="hold">
                                          <p:stCondLst>
                                            <p:cond delay="0"/>
                                          </p:stCondLst>
                                        </p:cTn>
                                        <p:tgtEl>
                                          <p:spTgt spid="24"/>
                                        </p:tgtEl>
                                        <p:attrNameLst>
                                          <p:attrName>style.visibility</p:attrName>
                                        </p:attrNameLst>
                                      </p:cBhvr>
                                      <p:to>
                                        <p:strVal val="visible"/>
                                      </p:to>
                                    </p:set>
                                    <p:animEffect transition="in" filter="fade">
                                      <p:cBhvr>
                                        <p:cTn id="203" dur="400"/>
                                        <p:tgtEl>
                                          <p:spTgt spid="24"/>
                                        </p:tgtEl>
                                      </p:cBhvr>
                                    </p:animEffect>
                                  </p:childTnLst>
                                </p:cTn>
                              </p:par>
                              <p:par>
                                <p:cTn id="204" presetID="10" presetClass="entr" presetSubtype="0" fill="hold" grpId="0" nodeType="withEffect">
                                  <p:stCondLst>
                                    <p:cond delay="0"/>
                                  </p:stCondLst>
                                  <p:childTnLst>
                                    <p:set>
                                      <p:cBhvr>
                                        <p:cTn id="205" dur="1" fill="hold">
                                          <p:stCondLst>
                                            <p:cond delay="0"/>
                                          </p:stCondLst>
                                        </p:cTn>
                                        <p:tgtEl>
                                          <p:spTgt spid="25"/>
                                        </p:tgtEl>
                                        <p:attrNameLst>
                                          <p:attrName>style.visibility</p:attrName>
                                        </p:attrNameLst>
                                      </p:cBhvr>
                                      <p:to>
                                        <p:strVal val="visible"/>
                                      </p:to>
                                    </p:set>
                                    <p:animEffect transition="in" filter="fade">
                                      <p:cBhvr>
                                        <p:cTn id="206" dur="400"/>
                                        <p:tgtEl>
                                          <p:spTgt spid="25"/>
                                        </p:tgtEl>
                                      </p:cBhvr>
                                    </p:animEffect>
                                  </p:childTnLst>
                                </p:cTn>
                              </p:par>
                              <p:par>
                                <p:cTn id="207" presetID="10" presetClass="entr" presetSubtype="0" fill="hold" grpId="0" nodeType="withEffect">
                                  <p:stCondLst>
                                    <p:cond delay="0"/>
                                  </p:stCondLst>
                                  <p:childTnLst>
                                    <p:set>
                                      <p:cBhvr>
                                        <p:cTn id="208" dur="1" fill="hold">
                                          <p:stCondLst>
                                            <p:cond delay="0"/>
                                          </p:stCondLst>
                                        </p:cTn>
                                        <p:tgtEl>
                                          <p:spTgt spid="26"/>
                                        </p:tgtEl>
                                        <p:attrNameLst>
                                          <p:attrName>style.visibility</p:attrName>
                                        </p:attrNameLst>
                                      </p:cBhvr>
                                      <p:to>
                                        <p:strVal val="visible"/>
                                      </p:to>
                                    </p:set>
                                    <p:animEffect transition="in" filter="fade">
                                      <p:cBhvr>
                                        <p:cTn id="209" dur="400"/>
                                        <p:tgtEl>
                                          <p:spTgt spid="26"/>
                                        </p:tgtEl>
                                      </p:cBhvr>
                                    </p:animEffect>
                                  </p:childTnLst>
                                </p:cTn>
                              </p:par>
                              <p:par>
                                <p:cTn id="210" presetID="10" presetClass="entr" presetSubtype="0" fill="hold" grpId="0" nodeType="withEffect">
                                  <p:stCondLst>
                                    <p:cond delay="0"/>
                                  </p:stCondLst>
                                  <p:childTnLst>
                                    <p:set>
                                      <p:cBhvr>
                                        <p:cTn id="211" dur="1" fill="hold">
                                          <p:stCondLst>
                                            <p:cond delay="0"/>
                                          </p:stCondLst>
                                        </p:cTn>
                                        <p:tgtEl>
                                          <p:spTgt spid="27"/>
                                        </p:tgtEl>
                                        <p:attrNameLst>
                                          <p:attrName>style.visibility</p:attrName>
                                        </p:attrNameLst>
                                      </p:cBhvr>
                                      <p:to>
                                        <p:strVal val="visible"/>
                                      </p:to>
                                    </p:set>
                                    <p:animEffect transition="in" filter="fade">
                                      <p:cBhvr>
                                        <p:cTn id="212" dur="400"/>
                                        <p:tgtEl>
                                          <p:spTgt spid="27"/>
                                        </p:tgtEl>
                                      </p:cBhvr>
                                    </p:animEffect>
                                  </p:childTnLst>
                                </p:cTn>
                              </p:par>
                              <p:par>
                                <p:cTn id="213" presetID="10" presetClass="entr" presetSubtype="0" fill="hold" nodeType="withEffect">
                                  <p:stCondLst>
                                    <p:cond delay="0"/>
                                  </p:stCondLst>
                                  <p:childTnLst>
                                    <p:set>
                                      <p:cBhvr>
                                        <p:cTn id="214" dur="1" fill="hold">
                                          <p:stCondLst>
                                            <p:cond delay="0"/>
                                          </p:stCondLst>
                                        </p:cTn>
                                        <p:tgtEl>
                                          <p:spTgt spid="28"/>
                                        </p:tgtEl>
                                        <p:attrNameLst>
                                          <p:attrName>style.visibility</p:attrName>
                                        </p:attrNameLst>
                                      </p:cBhvr>
                                      <p:to>
                                        <p:strVal val="visible"/>
                                      </p:to>
                                    </p:set>
                                    <p:animEffect transition="in" filter="fade">
                                      <p:cBhvr>
                                        <p:cTn id="215" dur="400"/>
                                        <p:tgtEl>
                                          <p:spTgt spid="28"/>
                                        </p:tgtEl>
                                      </p:cBhvr>
                                    </p:animEffect>
                                  </p:childTnLst>
                                </p:cTn>
                              </p:par>
                              <p:par>
                                <p:cTn id="216" presetID="10" presetClass="entr" presetSubtype="0" fill="hold" grpId="0" nodeType="withEffect">
                                  <p:stCondLst>
                                    <p:cond delay="0"/>
                                  </p:stCondLst>
                                  <p:childTnLst>
                                    <p:set>
                                      <p:cBhvr>
                                        <p:cTn id="217" dur="1" fill="hold">
                                          <p:stCondLst>
                                            <p:cond delay="0"/>
                                          </p:stCondLst>
                                        </p:cTn>
                                        <p:tgtEl>
                                          <p:spTgt spid="29"/>
                                        </p:tgtEl>
                                        <p:attrNameLst>
                                          <p:attrName>style.visibility</p:attrName>
                                        </p:attrNameLst>
                                      </p:cBhvr>
                                      <p:to>
                                        <p:strVal val="visible"/>
                                      </p:to>
                                    </p:set>
                                    <p:animEffect transition="in" filter="fade">
                                      <p:cBhvr>
                                        <p:cTn id="218"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2" grpId="0" animBg="1"/>
      <p:bldP spid="13" grpId="0" animBg="1"/>
      <p:bldP spid="14" grpId="0" animBg="1"/>
      <p:bldP spid="16" grpId="0" animBg="1"/>
      <p:bldP spid="17" grpId="0" animBg="1"/>
      <p:bldP spid="18" grpId="0" animBg="1"/>
      <p:bldP spid="19" grpId="0" animBg="1"/>
      <p:bldP spid="20" grpId="0" animBg="1"/>
      <p:bldP spid="21" grpId="0" animBg="1"/>
      <p:bldP spid="22" grpId="0" animBg="1"/>
      <p:bldP spid="23" grpId="0" animBg="1"/>
      <p:bldP spid="25" grpId="0" animBg="1"/>
      <p:bldP spid="26" grpId="0" animBg="1"/>
      <p:bldP spid="27" grpId="0" animBg="1"/>
      <p:bldP spid="29" grpId="0" animBg="1"/>
      <p:bldP spid="30" grpId="0" animBg="1"/>
      <p:bldP spid="32" grpId="0" animBg="1"/>
      <p:bldP spid="34" grpId="0" animBg="1"/>
      <p:bldP spid="36" grpId="0" animBg="1"/>
      <p:bldP spid="38" grpId="0" animBg="1"/>
      <p:bldP spid="40" grpId="0" animBg="1"/>
      <p:bldP spid="42" grpId="0" animBg="1"/>
      <p:bldP spid="44" grpId="0" animBg="1"/>
      <p:bldP spid="46" grpId="0" animBg="1"/>
      <p:bldP spid="48" grpId="0" animBg="1"/>
      <p:bldP spid="50" grpId="0" animBg="1"/>
      <p:bldP spid="52" grpId="0" animBg="1"/>
      <p:bldP spid="54" grpId="0" animBg="1"/>
      <p:bldP spid="56" grpId="0" animBg="1"/>
      <p:bldP spid="58" grpId="0" animBg="1"/>
      <p:bldP spid="60" grpId="0" animBg="1"/>
      <p:bldP spid="62" grpId="0" animBg="1"/>
      <p:bldP spid="64" grpId="0" animBg="1"/>
      <p:bldP spid="66" grpId="0" animBg="1"/>
      <p:bldP spid="68" grpId="0" animBg="1"/>
      <p:bldP spid="70" grpId="0" animBg="1"/>
      <p:bldP spid="72" grpId="0" animBg="1"/>
      <p:bldP spid="73" grpId="0" animBg="1"/>
      <p:bldP spid="7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What you can do now</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 on one page: read, change, combine, loop, trace, run</a:t>
            </a:r>
            <a:endParaRPr lang="en-US" sz="1400" dirty="0"/>
          </a:p>
        </p:txBody>
      </p:sp>
      <p:sp>
        <p:nvSpPr>
          <p:cNvPr id="6" name="canchip|b1"/>
          <p:cNvSpPr/>
          <p:nvPr/>
        </p:nvSpPr>
        <p:spPr>
          <a:xfrm>
            <a:off x="457200" y="1188720"/>
            <a:ext cx="1371600" cy="457200"/>
          </a:xfrm>
          <a:prstGeom prst="roundRect">
            <a:avLst>
              <a:gd name="adj" fmla="val 20000"/>
            </a:avLst>
          </a:prstGeom>
          <a:solidFill>
            <a:srgbClr val="306998"/>
          </a:solidFill>
          <a:ln w="12700">
            <a:solidFill>
              <a:srgbClr val="306998"/>
            </a:solidFill>
            <a:prstDash val="solid"/>
          </a:ln>
        </p:spPr>
      </p:sp>
      <p:sp>
        <p:nvSpPr>
          <p:cNvPr id="7" name="canchipt|b1"/>
          <p:cNvSpPr txBox="1"/>
          <p:nvPr/>
        </p:nvSpPr>
        <p:spPr>
          <a:xfrm>
            <a:off x="457200" y="1188720"/>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Read</a:t>
            </a:r>
            <a:endParaRPr lang="en-US" sz="1800" dirty="0"/>
          </a:p>
        </p:txBody>
      </p:sp>
      <p:sp>
        <p:nvSpPr>
          <p:cNvPr id="8" name="cantxt|b1"/>
          <p:cNvSpPr txBox="1"/>
          <p:nvPr/>
        </p:nvSpPr>
        <p:spPr>
          <a:xfrm>
            <a:off x="2011680" y="1188720"/>
            <a:ext cx="6675120" cy="45720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a list by index, negative index and slice: every slice is a new list</a:t>
            </a:r>
            <a:endParaRPr lang="en-US" sz="1500" dirty="0"/>
          </a:p>
        </p:txBody>
      </p:sp>
      <p:sp>
        <p:nvSpPr>
          <p:cNvPr id="9" name="canchip|b2"/>
          <p:cNvSpPr/>
          <p:nvPr/>
        </p:nvSpPr>
        <p:spPr>
          <a:xfrm>
            <a:off x="457200" y="1737360"/>
            <a:ext cx="1371600" cy="457200"/>
          </a:xfrm>
          <a:prstGeom prst="roundRect">
            <a:avLst>
              <a:gd name="adj" fmla="val 20000"/>
            </a:avLst>
          </a:prstGeom>
          <a:solidFill>
            <a:srgbClr val="306998"/>
          </a:solidFill>
          <a:ln w="12700">
            <a:solidFill>
              <a:srgbClr val="306998"/>
            </a:solidFill>
            <a:prstDash val="solid"/>
          </a:ln>
        </p:spPr>
      </p:sp>
      <p:sp>
        <p:nvSpPr>
          <p:cNvPr id="10" name="canchipt|b2"/>
          <p:cNvSpPr txBox="1"/>
          <p:nvPr/>
        </p:nvSpPr>
        <p:spPr>
          <a:xfrm>
            <a:off x="457200" y="1737360"/>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Change</a:t>
            </a:r>
            <a:endParaRPr lang="en-US" sz="1800" dirty="0"/>
          </a:p>
        </p:txBody>
      </p:sp>
      <p:sp>
        <p:nvSpPr>
          <p:cNvPr id="11" name="cantxt|b2"/>
          <p:cNvSpPr txBox="1"/>
          <p:nvPr/>
        </p:nvSpPr>
        <p:spPr>
          <a:xfrm>
            <a:off x="2011680" y="1737360"/>
            <a:ext cx="6675120" cy="45720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a list in place, and know that append, sort and shuffle return None</a:t>
            </a:r>
            <a:endParaRPr lang="en-US" sz="1500" dirty="0"/>
          </a:p>
        </p:txBody>
      </p:sp>
      <p:sp>
        <p:nvSpPr>
          <p:cNvPr id="12" name="canchip|b3"/>
          <p:cNvSpPr/>
          <p:nvPr/>
        </p:nvSpPr>
        <p:spPr>
          <a:xfrm>
            <a:off x="457200" y="2286000"/>
            <a:ext cx="1371600" cy="457200"/>
          </a:xfrm>
          <a:prstGeom prst="roundRect">
            <a:avLst>
              <a:gd name="adj" fmla="val 20000"/>
            </a:avLst>
          </a:prstGeom>
          <a:solidFill>
            <a:srgbClr val="306998"/>
          </a:solidFill>
          <a:ln w="12700">
            <a:solidFill>
              <a:srgbClr val="306998"/>
            </a:solidFill>
            <a:prstDash val="solid"/>
          </a:ln>
        </p:spPr>
      </p:sp>
      <p:sp>
        <p:nvSpPr>
          <p:cNvPr id="13" name="canchipt|b3"/>
          <p:cNvSpPr txBox="1"/>
          <p:nvPr/>
        </p:nvSpPr>
        <p:spPr>
          <a:xfrm>
            <a:off x="457200" y="2286000"/>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Combine</a:t>
            </a:r>
            <a:endParaRPr lang="en-US" sz="1800" dirty="0"/>
          </a:p>
        </p:txBody>
      </p:sp>
      <p:sp>
        <p:nvSpPr>
          <p:cNvPr id="14" name="cantxt|b3"/>
          <p:cNvSpPr txBox="1"/>
          <p:nvPr/>
        </p:nvSpPr>
        <p:spPr>
          <a:xfrm>
            <a:off x="2011680" y="2286000"/>
            <a:ext cx="6675120" cy="45720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with + and *, search with in and index, order with sort and sorted</a:t>
            </a:r>
            <a:endParaRPr lang="en-US" sz="1500" dirty="0"/>
          </a:p>
        </p:txBody>
      </p:sp>
      <p:sp>
        <p:nvSpPr>
          <p:cNvPr id="15" name="canchip|b4"/>
          <p:cNvSpPr/>
          <p:nvPr/>
        </p:nvSpPr>
        <p:spPr>
          <a:xfrm>
            <a:off x="457200" y="2834640"/>
            <a:ext cx="1371600" cy="457200"/>
          </a:xfrm>
          <a:prstGeom prst="roundRect">
            <a:avLst>
              <a:gd name="adj" fmla="val 20000"/>
            </a:avLst>
          </a:prstGeom>
          <a:solidFill>
            <a:srgbClr val="306998"/>
          </a:solidFill>
          <a:ln w="12700">
            <a:solidFill>
              <a:srgbClr val="306998"/>
            </a:solidFill>
            <a:prstDash val="solid"/>
          </a:ln>
        </p:spPr>
      </p:sp>
      <p:sp>
        <p:nvSpPr>
          <p:cNvPr id="16" name="canchipt|b4"/>
          <p:cNvSpPr txBox="1"/>
          <p:nvPr/>
        </p:nvSpPr>
        <p:spPr>
          <a:xfrm>
            <a:off x="457200" y="2834640"/>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Loop</a:t>
            </a:r>
            <a:endParaRPr lang="en-US" sz="1800" dirty="0"/>
          </a:p>
        </p:txBody>
      </p:sp>
      <p:sp>
        <p:nvSpPr>
          <p:cNvPr id="17" name="cantxt|b4"/>
          <p:cNvSpPr txBox="1"/>
          <p:nvPr/>
        </p:nvSpPr>
        <p:spPr>
          <a:xfrm>
            <a:off x="2011680" y="2834640"/>
            <a:ext cx="6675120" cy="45720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with range(len()) or enumerate(), and never remove from what you walk</a:t>
            </a:r>
            <a:endParaRPr lang="en-US" sz="1500" dirty="0"/>
          </a:p>
        </p:txBody>
      </p:sp>
      <p:sp>
        <p:nvSpPr>
          <p:cNvPr id="18" name="canchip|b5"/>
          <p:cNvSpPr/>
          <p:nvPr/>
        </p:nvSpPr>
        <p:spPr>
          <a:xfrm>
            <a:off x="457200" y="3383280"/>
            <a:ext cx="1371600" cy="457200"/>
          </a:xfrm>
          <a:prstGeom prst="roundRect">
            <a:avLst>
              <a:gd name="adj" fmla="val 20000"/>
            </a:avLst>
          </a:prstGeom>
          <a:solidFill>
            <a:srgbClr val="306998"/>
          </a:solidFill>
          <a:ln w="12700">
            <a:solidFill>
              <a:srgbClr val="306998"/>
            </a:solidFill>
            <a:prstDash val="solid"/>
          </a:ln>
        </p:spPr>
      </p:sp>
      <p:sp>
        <p:nvSpPr>
          <p:cNvPr id="19" name="canchipt|b5"/>
          <p:cNvSpPr txBox="1"/>
          <p:nvPr/>
        </p:nvSpPr>
        <p:spPr>
          <a:xfrm>
            <a:off x="457200" y="3383280"/>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Trace</a:t>
            </a:r>
            <a:endParaRPr lang="en-US" sz="1800" dirty="0"/>
          </a:p>
        </p:txBody>
      </p:sp>
      <p:sp>
        <p:nvSpPr>
          <p:cNvPr id="20" name="cantxt|b5"/>
          <p:cNvSpPr txBox="1"/>
          <p:nvPr/>
        </p:nvSpPr>
        <p:spPr>
          <a:xfrm>
            <a:off x="2011680" y="3383280"/>
            <a:ext cx="6675120" cy="45720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assignment, arguments, copies and [[]] * n as names reaching boxes</a:t>
            </a:r>
            <a:endParaRPr lang="en-US" sz="1500" dirty="0"/>
          </a:p>
        </p:txBody>
      </p:sp>
      <p:sp>
        <p:nvSpPr>
          <p:cNvPr id="21" name="canchip|b6"/>
          <p:cNvSpPr/>
          <p:nvPr/>
        </p:nvSpPr>
        <p:spPr>
          <a:xfrm>
            <a:off x="457200" y="3931920"/>
            <a:ext cx="1371600" cy="457200"/>
          </a:xfrm>
          <a:prstGeom prst="roundRect">
            <a:avLst>
              <a:gd name="adj" fmla="val 20000"/>
            </a:avLst>
          </a:prstGeom>
          <a:solidFill>
            <a:srgbClr val="306998"/>
          </a:solidFill>
          <a:ln w="12700">
            <a:solidFill>
              <a:srgbClr val="306998"/>
            </a:solidFill>
            <a:prstDash val="solid"/>
          </a:ln>
        </p:spPr>
      </p:sp>
      <p:sp>
        <p:nvSpPr>
          <p:cNvPr id="22" name="canchipt|b6"/>
          <p:cNvSpPr txBox="1"/>
          <p:nvPr/>
        </p:nvSpPr>
        <p:spPr>
          <a:xfrm>
            <a:off x="457200" y="3931920"/>
            <a:ext cx="1371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Run</a:t>
            </a:r>
            <a:endParaRPr lang="en-US" sz="1800" dirty="0"/>
          </a:p>
        </p:txBody>
      </p:sp>
      <p:sp>
        <p:nvSpPr>
          <p:cNvPr id="23" name="cantxt|b6"/>
          <p:cNvSpPr txBox="1"/>
          <p:nvPr/>
        </p:nvSpPr>
        <p:spPr>
          <a:xfrm>
            <a:off x="2011680" y="3931920"/>
            <a:ext cx="6675120" cy="45720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the Magic 8 Ball and the Matrix screensaver, and say why they work</a:t>
            </a:r>
            <a:endParaRPr lang="en-US" sz="15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childTnLst>
                          </p:cTn>
                        </p:par>
                      </p:childTnLst>
                    </p:cTn>
                  </p:par>
                  <p:par>
                    <p:cTn id="45" fill="hold">
                      <p:stCondLst>
                        <p:cond delay="indefinite"/>
                      </p:stCondLst>
                      <p:childTnLst>
                        <p:par>
                          <p:cTn id="46"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childTnLst>
                          </p:cTn>
                        </p:par>
                      </p:childTnLst>
                    </p:cTn>
                  </p:par>
                  <p:par>
                    <p:cTn id="56" fill="hold">
                      <p:stCondLst>
                        <p:cond delay="indefinite"/>
                      </p:stCondLst>
                      <p:childTnLst>
                        <p:par>
                          <p:cTn id="57"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00"/>
                                        <p:tgtEl>
                                          <p:spTgt spid="20"/>
                                        </p:tgtEl>
                                      </p:cBhvr>
                                    </p:animEffect>
                                  </p:childTnLst>
                                </p:cTn>
                              </p:par>
                            </p:childTnLst>
                          </p:cTn>
                        </p:par>
                      </p:childTnLst>
                    </p:cTn>
                  </p:par>
                  <p:par>
                    <p:cTn id="67" fill="hold">
                      <p:stCondLst>
                        <p:cond delay="indefinite"/>
                      </p:stCondLst>
                      <p:childTnLst>
                        <p:par>
                          <p:cTn id="68"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4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P spid="14" grpId="0" animBg="1"/>
      <p:bldP spid="16" grpId="0" animBg="1"/>
      <p:bldP spid="17" grpId="0" animBg="1"/>
      <p:bldP spid="19" grpId="0" animBg="1"/>
      <p:bldP spid="20" grpId="0" animBg="1"/>
      <p:bldP spid="22" grpId="0" animBg="1"/>
      <p:bldP spid="2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Practice: predict, then read the answer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Answer aloud first; each answer is a real run</a:t>
            </a:r>
            <a:endParaRPr lang="en-US" sz="1400" dirty="0"/>
          </a:p>
        </p:txBody>
      </p:sp>
      <p:sp>
        <p:nvSpPr>
          <p:cNvPr id="6" name="x"/>
          <p:cNvSpPr txBox="1"/>
          <p:nvPr/>
        </p:nvSpPr>
        <p:spPr>
          <a:xfrm>
            <a:off x="365760" y="1152144"/>
            <a:ext cx="320040" cy="384048"/>
          </a:xfrm>
          <a:prstGeom prst="rect">
            <a:avLst/>
          </a:prstGeom>
          <a:noFill/>
          <a:ln/>
        </p:spPr>
        <p:txBody>
          <a:bodyPr wrap="square" lIns="0" tIns="0" rIns="0" bIns="0" rtlCol="0" anchor="ctr"/>
          <a:lstStyle/>
          <a:p>
            <a:pPr indent="0" marL="0">
              <a:buNone/>
            </a:pPr>
            <a:r>
              <a:rPr lang="en-US" sz="1800" b="1" dirty="0">
                <a:solidFill>
                  <a:srgbClr val="306998"/>
                </a:solidFill>
                <a:latin typeface="Cambria" pitchFamily="34" charset="0"/>
                <a:ea typeface="Cambria" pitchFamily="34" charset="-122"/>
                <a:cs typeface="Cambria" pitchFamily="34" charset="-120"/>
              </a:rPr>
              <a:t>1</a:t>
            </a:r>
            <a:endParaRPr lang="en-US" sz="1800" dirty="0"/>
          </a:p>
        </p:txBody>
      </p:sp>
      <p:sp>
        <p:nvSpPr>
          <p:cNvPr id="7" name="x"/>
          <p:cNvSpPr txBox="1"/>
          <p:nvPr/>
        </p:nvSpPr>
        <p:spPr>
          <a:xfrm>
            <a:off x="685800" y="1152144"/>
            <a:ext cx="3749040" cy="384048"/>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After spam.sort(), what did sort() give back, and what does spam hold?</a:t>
            </a:r>
            <a:endParaRPr lang="en-US" sz="1250" dirty="0"/>
          </a:p>
        </p:txBody>
      </p:sp>
      <p:sp>
        <p:nvSpPr>
          <p:cNvPr id="8" name="codecardbox|b1"/>
          <p:cNvSpPr/>
          <p:nvPr/>
        </p:nvSpPr>
        <p:spPr>
          <a:xfrm>
            <a:off x="365760" y="1572768"/>
            <a:ext cx="4114800" cy="658368"/>
          </a:xfrm>
          <a:prstGeom prst="roundRect">
            <a:avLst>
              <a:gd name="adj" fmla="val 13889"/>
            </a:avLst>
          </a:prstGeom>
          <a:solidFill>
            <a:srgbClr val="17202B"/>
          </a:solidFill>
          <a:ln w="12700">
            <a:solidFill>
              <a:srgbClr val="17202B"/>
            </a:solidFill>
            <a:prstDash val="solid"/>
          </a:ln>
        </p:spPr>
      </p:sp>
      <p:sp>
        <p:nvSpPr>
          <p:cNvPr id="9" name="codecard|b1"/>
          <p:cNvSpPr txBox="1"/>
          <p:nvPr/>
        </p:nvSpPr>
        <p:spPr>
          <a:xfrm>
            <a:off x="530352" y="1645920"/>
            <a:ext cx="3785616" cy="512064"/>
          </a:xfrm>
          <a:prstGeom prst="rect">
            <a:avLst/>
          </a:prstGeom>
          <a:noFill/>
          <a:ln/>
        </p:spPr>
        <p:txBody>
          <a:bodyPr wrap="square" lIns="0" tIns="0" rIns="0" bIns="0" rtlCol="0" anchor="t"/>
          <a:lstStyle/>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spam = [3, 1, 2]</a:t>
            </a:r>
            <a:endParaRPr lang="en-US" sz="1000" dirty="0"/>
          </a:p>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(spam.sort(), spam)</a:t>
            </a:r>
            <a:endParaRPr lang="en-US" sz="1000" dirty="0"/>
          </a:p>
          <a:p>
            <a:pPr indent="0" marL="0">
              <a:spcAft>
                <a:spcPts val="100"/>
              </a:spcAft>
              <a:buNone/>
            </a:pPr>
            <a:r>
              <a:rPr lang="en-US" sz="1000" dirty="0">
                <a:solidFill>
                  <a:srgbClr val="7EE787"/>
                </a:solidFill>
                <a:latin typeface="Courier New" pitchFamily="34" charset="0"/>
                <a:ea typeface="Courier New" pitchFamily="34" charset="-122"/>
                <a:cs typeface="Courier New" pitchFamily="34" charset="-120"/>
              </a:rPr>
              <a:t>(None, [1, 2, 3])</a:t>
            </a:r>
            <a:endParaRPr lang="en-US" sz="1000" dirty="0"/>
          </a:p>
        </p:txBody>
      </p:sp>
      <p:sp>
        <p:nvSpPr>
          <p:cNvPr id="10" name="x"/>
          <p:cNvSpPr txBox="1"/>
          <p:nvPr/>
        </p:nvSpPr>
        <p:spPr>
          <a:xfrm>
            <a:off x="4663440" y="1152144"/>
            <a:ext cx="320040" cy="384048"/>
          </a:xfrm>
          <a:prstGeom prst="rect">
            <a:avLst/>
          </a:prstGeom>
          <a:noFill/>
          <a:ln/>
        </p:spPr>
        <p:txBody>
          <a:bodyPr wrap="square" lIns="0" tIns="0" rIns="0" bIns="0" rtlCol="0" anchor="ctr"/>
          <a:lstStyle/>
          <a:p>
            <a:pPr indent="0" marL="0">
              <a:buNone/>
            </a:pPr>
            <a:r>
              <a:rPr lang="en-US" sz="1800" b="1" dirty="0">
                <a:solidFill>
                  <a:srgbClr val="306998"/>
                </a:solidFill>
                <a:latin typeface="Cambria" pitchFamily="34" charset="0"/>
                <a:ea typeface="Cambria" pitchFamily="34" charset="-122"/>
                <a:cs typeface="Cambria" pitchFamily="34" charset="-120"/>
              </a:rPr>
              <a:t>2</a:t>
            </a:r>
            <a:endParaRPr lang="en-US" sz="1800" dirty="0"/>
          </a:p>
        </p:txBody>
      </p:sp>
      <p:sp>
        <p:nvSpPr>
          <p:cNvPr id="11" name="x"/>
          <p:cNvSpPr txBox="1"/>
          <p:nvPr/>
        </p:nvSpPr>
        <p:spPr>
          <a:xfrm>
            <a:off x="4983480" y="1152144"/>
            <a:ext cx="3749040" cy="384048"/>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After b = a and a += [2], what does b hold?</a:t>
            </a:r>
            <a:endParaRPr lang="en-US" sz="1250" dirty="0"/>
          </a:p>
        </p:txBody>
      </p:sp>
      <p:sp>
        <p:nvSpPr>
          <p:cNvPr id="12" name="codecardbox|b2"/>
          <p:cNvSpPr/>
          <p:nvPr/>
        </p:nvSpPr>
        <p:spPr>
          <a:xfrm>
            <a:off x="4663440" y="1572768"/>
            <a:ext cx="4114800" cy="658368"/>
          </a:xfrm>
          <a:prstGeom prst="roundRect">
            <a:avLst>
              <a:gd name="adj" fmla="val 13889"/>
            </a:avLst>
          </a:prstGeom>
          <a:solidFill>
            <a:srgbClr val="17202B"/>
          </a:solidFill>
          <a:ln w="12700">
            <a:solidFill>
              <a:srgbClr val="17202B"/>
            </a:solidFill>
            <a:prstDash val="solid"/>
          </a:ln>
        </p:spPr>
      </p:sp>
      <p:sp>
        <p:nvSpPr>
          <p:cNvPr id="13" name="codecard|b2"/>
          <p:cNvSpPr txBox="1"/>
          <p:nvPr/>
        </p:nvSpPr>
        <p:spPr>
          <a:xfrm>
            <a:off x="4828032" y="1645920"/>
            <a:ext cx="3785616" cy="512064"/>
          </a:xfrm>
          <a:prstGeom prst="rect">
            <a:avLst/>
          </a:prstGeom>
          <a:noFill/>
          <a:ln/>
        </p:spPr>
        <p:txBody>
          <a:bodyPr wrap="square" lIns="0" tIns="0" rIns="0" bIns="0" rtlCol="0" anchor="t"/>
          <a:lstStyle/>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 [1]; b = a; a += [2]</a:t>
            </a:r>
            <a:endParaRPr lang="en-US" sz="1000" dirty="0"/>
          </a:p>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t>
            </a:r>
            <a:endParaRPr lang="en-US" sz="1000" dirty="0"/>
          </a:p>
          <a:p>
            <a:pPr indent="0" marL="0">
              <a:spcAft>
                <a:spcPts val="100"/>
              </a:spcAft>
              <a:buNone/>
            </a:pPr>
            <a:r>
              <a:rPr lang="en-US" sz="1000" dirty="0">
                <a:solidFill>
                  <a:srgbClr val="7EE787"/>
                </a:solidFill>
                <a:latin typeface="Courier New" pitchFamily="34" charset="0"/>
                <a:ea typeface="Courier New" pitchFamily="34" charset="-122"/>
                <a:cs typeface="Courier New" pitchFamily="34" charset="-120"/>
              </a:rPr>
              <a:t>[1, 2]</a:t>
            </a:r>
            <a:endParaRPr lang="en-US" sz="1000" dirty="0"/>
          </a:p>
        </p:txBody>
      </p:sp>
      <p:sp>
        <p:nvSpPr>
          <p:cNvPr id="14" name="x"/>
          <p:cNvSpPr txBox="1"/>
          <p:nvPr/>
        </p:nvSpPr>
        <p:spPr>
          <a:xfrm>
            <a:off x="365760" y="2340864"/>
            <a:ext cx="320040" cy="384048"/>
          </a:xfrm>
          <a:prstGeom prst="rect">
            <a:avLst/>
          </a:prstGeom>
          <a:noFill/>
          <a:ln/>
        </p:spPr>
        <p:txBody>
          <a:bodyPr wrap="square" lIns="0" tIns="0" rIns="0" bIns="0" rtlCol="0" anchor="ctr"/>
          <a:lstStyle/>
          <a:p>
            <a:pPr indent="0" marL="0">
              <a:buNone/>
            </a:pPr>
            <a:r>
              <a:rPr lang="en-US" sz="1800" b="1" dirty="0">
                <a:solidFill>
                  <a:srgbClr val="306998"/>
                </a:solidFill>
                <a:latin typeface="Cambria" pitchFamily="34" charset="0"/>
                <a:ea typeface="Cambria" pitchFamily="34" charset="-122"/>
                <a:cs typeface="Cambria" pitchFamily="34" charset="-120"/>
              </a:rPr>
              <a:t>3</a:t>
            </a:r>
            <a:endParaRPr lang="en-US" sz="1800" dirty="0"/>
          </a:p>
        </p:txBody>
      </p:sp>
      <p:sp>
        <p:nvSpPr>
          <p:cNvPr id="15" name="x"/>
          <p:cNvSpPr txBox="1"/>
          <p:nvPr/>
        </p:nvSpPr>
        <p:spPr>
          <a:xfrm>
            <a:off x="685800" y="2340864"/>
            <a:ext cx="3749040" cy="384048"/>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How many different lists does [[]] * 3 hold?</a:t>
            </a:r>
            <a:endParaRPr lang="en-US" sz="1250" dirty="0"/>
          </a:p>
        </p:txBody>
      </p:sp>
      <p:sp>
        <p:nvSpPr>
          <p:cNvPr id="16" name="codecardbox|b3"/>
          <p:cNvSpPr/>
          <p:nvPr/>
        </p:nvSpPr>
        <p:spPr>
          <a:xfrm>
            <a:off x="365760" y="2761488"/>
            <a:ext cx="4114800" cy="822960"/>
          </a:xfrm>
          <a:prstGeom prst="roundRect">
            <a:avLst>
              <a:gd name="adj" fmla="val 11111"/>
            </a:avLst>
          </a:prstGeom>
          <a:solidFill>
            <a:srgbClr val="17202B"/>
          </a:solidFill>
          <a:ln w="12700">
            <a:solidFill>
              <a:srgbClr val="17202B"/>
            </a:solidFill>
            <a:prstDash val="solid"/>
          </a:ln>
        </p:spPr>
      </p:sp>
      <p:sp>
        <p:nvSpPr>
          <p:cNvPr id="17" name="codecard|b3"/>
          <p:cNvSpPr txBox="1"/>
          <p:nvPr/>
        </p:nvSpPr>
        <p:spPr>
          <a:xfrm>
            <a:off x="530352" y="2834640"/>
            <a:ext cx="3785616" cy="676656"/>
          </a:xfrm>
          <a:prstGeom prst="rect">
            <a:avLst/>
          </a:prstGeom>
          <a:noFill/>
          <a:ln/>
        </p:spPr>
        <p:txBody>
          <a:bodyPr wrap="square" lIns="0" tIns="0" rIns="0" bIns="0" rtlCol="0" anchor="t"/>
          <a:lstStyle/>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lists = [[]] * 3</a:t>
            </a:r>
            <a:endParaRPr lang="en-US" sz="1000" dirty="0"/>
          </a:p>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len({id(x) for x in lists})</a:t>
            </a:r>
            <a:endParaRPr lang="en-US" sz="1000" dirty="0"/>
          </a:p>
          <a:p>
            <a:pPr indent="0" marL="0">
              <a:spcAft>
                <a:spcPts val="100"/>
              </a:spcAft>
              <a:buNone/>
            </a:pPr>
            <a:r>
              <a:rPr lang="en-US" sz="1000" dirty="0">
                <a:solidFill>
                  <a:srgbClr val="7EE787"/>
                </a:solidFill>
                <a:latin typeface="Courier New" pitchFamily="34" charset="0"/>
                <a:ea typeface="Courier New" pitchFamily="34" charset="-122"/>
                <a:cs typeface="Courier New" pitchFamily="34" charset="-120"/>
              </a:rPr>
              <a:t>1</a:t>
            </a:r>
            <a:endParaRPr lang="en-US" sz="1000" dirty="0"/>
          </a:p>
        </p:txBody>
      </p:sp>
      <p:sp>
        <p:nvSpPr>
          <p:cNvPr id="18" name="x"/>
          <p:cNvSpPr txBox="1"/>
          <p:nvPr/>
        </p:nvSpPr>
        <p:spPr>
          <a:xfrm>
            <a:off x="4663440" y="2340864"/>
            <a:ext cx="320040" cy="384048"/>
          </a:xfrm>
          <a:prstGeom prst="rect">
            <a:avLst/>
          </a:prstGeom>
          <a:noFill/>
          <a:ln/>
        </p:spPr>
        <p:txBody>
          <a:bodyPr wrap="square" lIns="0" tIns="0" rIns="0" bIns="0" rtlCol="0" anchor="ctr"/>
          <a:lstStyle/>
          <a:p>
            <a:pPr indent="0" marL="0">
              <a:buNone/>
            </a:pPr>
            <a:r>
              <a:rPr lang="en-US" sz="1800" b="1" dirty="0">
                <a:solidFill>
                  <a:srgbClr val="306998"/>
                </a:solidFill>
                <a:latin typeface="Cambria" pitchFamily="34" charset="0"/>
                <a:ea typeface="Cambria" pitchFamily="34" charset="-122"/>
                <a:cs typeface="Cambria" pitchFamily="34" charset="-120"/>
              </a:rPr>
              <a:t>4</a:t>
            </a:r>
            <a:endParaRPr lang="en-US" sz="1800" dirty="0"/>
          </a:p>
        </p:txBody>
      </p:sp>
      <p:sp>
        <p:nvSpPr>
          <p:cNvPr id="19" name="x"/>
          <p:cNvSpPr txBox="1"/>
          <p:nvPr/>
        </p:nvSpPr>
        <p:spPr>
          <a:xfrm>
            <a:off x="4983480" y="2340864"/>
            <a:ext cx="3749040" cy="384048"/>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Which items are left after removing every item below 3 while looping?</a:t>
            </a:r>
            <a:endParaRPr lang="en-US" sz="1250" dirty="0"/>
          </a:p>
        </p:txBody>
      </p:sp>
      <p:sp>
        <p:nvSpPr>
          <p:cNvPr id="20" name="codecardbox|b4"/>
          <p:cNvSpPr/>
          <p:nvPr/>
        </p:nvSpPr>
        <p:spPr>
          <a:xfrm>
            <a:off x="4663440" y="2761488"/>
            <a:ext cx="4114800" cy="822960"/>
          </a:xfrm>
          <a:prstGeom prst="roundRect">
            <a:avLst>
              <a:gd name="adj" fmla="val 11111"/>
            </a:avLst>
          </a:prstGeom>
          <a:solidFill>
            <a:srgbClr val="17202B"/>
          </a:solidFill>
          <a:ln w="12700">
            <a:solidFill>
              <a:srgbClr val="17202B"/>
            </a:solidFill>
            <a:prstDash val="solid"/>
          </a:ln>
        </p:spPr>
      </p:sp>
      <p:sp>
        <p:nvSpPr>
          <p:cNvPr id="21" name="codecard|b4"/>
          <p:cNvSpPr txBox="1"/>
          <p:nvPr/>
        </p:nvSpPr>
        <p:spPr>
          <a:xfrm>
            <a:off x="4828032" y="2834640"/>
            <a:ext cx="3785616" cy="676656"/>
          </a:xfrm>
          <a:prstGeom prst="rect">
            <a:avLst/>
          </a:prstGeom>
          <a:noFill/>
          <a:ln/>
        </p:spPr>
        <p:txBody>
          <a:bodyPr wrap="square" lIns="0" tIns="0" rIns="0" bIns="0" rtlCol="0" anchor="t"/>
          <a:lstStyle/>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nums = [1, 2, 3, 4]</a:t>
            </a:r>
            <a:endParaRPr lang="en-US" sz="1000" dirty="0"/>
          </a:p>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for x in nums: x &lt; 3 and nums.remove(x)</a:t>
            </a:r>
            <a:endParaRPr lang="en-US" sz="1000" dirty="0"/>
          </a:p>
          <a:p>
            <a:pPr indent="0" marL="0">
              <a:spcAft>
                <a:spcPts val="100"/>
              </a:spcAft>
              <a:buNone/>
            </a:pPr>
            <a:r>
              <a:rPr lang="en-US" sz="1000" b="1" dirty="0">
                <a:solidFill>
                  <a:srgbClr val="FFD43B"/>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nums</a:t>
            </a:r>
            <a:endParaRPr lang="en-US" sz="1000" dirty="0"/>
          </a:p>
          <a:p>
            <a:pPr indent="0" marL="0">
              <a:spcAft>
                <a:spcPts val="100"/>
              </a:spcAft>
              <a:buNone/>
            </a:pPr>
            <a:r>
              <a:rPr lang="en-US" sz="1000" dirty="0">
                <a:solidFill>
                  <a:srgbClr val="7EE787"/>
                </a:solidFill>
                <a:latin typeface="Courier New" pitchFamily="34" charset="0"/>
                <a:ea typeface="Courier New" pitchFamily="34" charset="-122"/>
                <a:cs typeface="Courier New" pitchFamily="34" charset="-120"/>
              </a:rPr>
              <a:t>[2, 3, 4]</a:t>
            </a:r>
            <a:endParaRPr lang="en-US" sz="1000" dirty="0"/>
          </a:p>
        </p:txBody>
      </p:sp>
      <p:sp>
        <p:nvSpPr>
          <p:cNvPr id="22" name="v:PracticePrograms:f0box:box|b5"/>
          <p:cNvSpPr/>
          <p:nvPr/>
        </p:nvSpPr>
        <p:spPr>
          <a:xfrm>
            <a:off x="365760" y="3657600"/>
            <a:ext cx="2743200" cy="932688"/>
          </a:xfrm>
          <a:prstGeom prst="roundRect">
            <a:avLst>
              <a:gd name="adj" fmla="val 7843"/>
            </a:avLst>
          </a:prstGeom>
          <a:solidFill>
            <a:srgbClr val="F1F4F8"/>
          </a:solidFill>
          <a:ln w="12700">
            <a:solidFill>
              <a:srgbClr val="F1F4F8"/>
            </a:solidFill>
            <a:prstDash val="solid"/>
          </a:ln>
        </p:spPr>
      </p:sp>
      <p:sp>
        <p:nvSpPr>
          <p:cNvPr id="23" name="v:PracticePrograms:f0t|b5"/>
          <p:cNvSpPr txBox="1"/>
          <p:nvPr/>
        </p:nvSpPr>
        <p:spPr>
          <a:xfrm>
            <a:off x="475488" y="3703320"/>
            <a:ext cx="2523744" cy="365760"/>
          </a:xfrm>
          <a:prstGeom prst="rect">
            <a:avLst/>
          </a:prstGeom>
          <a:noFill/>
          <a:ln/>
        </p:spPr>
        <p:txBody>
          <a:bodyPr wrap="square" lIns="0" tIns="0" rIns="0" bIns="0" rtlCol="0" anchor="t"/>
          <a:lstStyle/>
          <a:p>
            <a:pPr indent="0" marL="0">
              <a:buNone/>
            </a:pPr>
            <a:r>
              <a:rPr lang="en-US" sz="1000" b="1" dirty="0">
                <a:solidFill>
                  <a:srgbClr val="306998"/>
                </a:solidFill>
                <a:latin typeface="Calibri" pitchFamily="34" charset="0"/>
                <a:ea typeface="Calibri" pitchFamily="34" charset="-122"/>
                <a:cs typeface="Calibri" pitchFamily="34" charset="-120"/>
              </a:rPr>
              <a:t>Practice program 1: comma code</a:t>
            </a:r>
            <a:endParaRPr lang="en-US" sz="1000" dirty="0"/>
          </a:p>
        </p:txBody>
      </p:sp>
      <p:sp>
        <p:nvSpPr>
          <p:cNvPr id="24" name="v:PracticePrograms:f0e|b5"/>
          <p:cNvSpPr txBox="1"/>
          <p:nvPr/>
        </p:nvSpPr>
        <p:spPr>
          <a:xfrm>
            <a:off x="475488" y="4078224"/>
            <a:ext cx="2523744" cy="164592"/>
          </a:xfrm>
          <a:prstGeom prst="rect">
            <a:avLst/>
          </a:prstGeom>
          <a:noFill/>
          <a:ln/>
        </p:spPr>
        <p:txBody>
          <a:bodyPr wrap="square" lIns="0" tIns="0" rIns="0" bIns="0" rtlCol="0" anchor="t">
            <a:normAutofit/>
          </a:bodyPr>
          <a:lstStyle/>
          <a:p>
            <a:pPr indent="0" marL="0">
              <a:buNone/>
            </a:pPr>
            <a:r>
              <a:rPr lang="en-US" sz="900" dirty="0">
                <a:solidFill>
                  <a:srgbClr val="5B6B7B"/>
                </a:solidFill>
                <a:latin typeface="Courier New" pitchFamily="34" charset="0"/>
                <a:ea typeface="Courier New" pitchFamily="34" charset="-122"/>
                <a:cs typeface="Courier New" pitchFamily="34" charset="-120"/>
              </a:rPr>
              <a:t>comma_code(['apples', 'bananas', 'tofu', 'cats'])</a:t>
            </a:r>
            <a:endParaRPr lang="en-US" sz="900" dirty="0"/>
          </a:p>
        </p:txBody>
      </p:sp>
      <p:sp>
        <p:nvSpPr>
          <p:cNvPr id="25" name="v:PracticePrograms:f0r|b5"/>
          <p:cNvSpPr txBox="1"/>
          <p:nvPr/>
        </p:nvSpPr>
        <p:spPr>
          <a:xfrm>
            <a:off x="475488" y="4224528"/>
            <a:ext cx="2523744" cy="310896"/>
          </a:xfrm>
          <a:prstGeom prst="rect">
            <a:avLst/>
          </a:prstGeom>
          <a:noFill/>
          <a:ln/>
        </p:spPr>
        <p:txBody>
          <a:bodyPr wrap="square" lIns="0" tIns="0" rIns="0" bIns="0" rtlCol="0" anchor="ctr">
            <a:normAutofit/>
          </a:bodyPr>
          <a:lstStyle/>
          <a:p>
            <a:pPr indent="0" marL="0">
              <a:buNone/>
            </a:pPr>
            <a:r>
              <a:rPr lang="en-US" sz="978" b="1" dirty="0">
                <a:solidFill>
                  <a:srgbClr val="2E9E5B"/>
                </a:solidFill>
                <a:latin typeface="Courier New" pitchFamily="34" charset="0"/>
                <a:ea typeface="Courier New" pitchFamily="34" charset="-122"/>
                <a:cs typeface="Courier New" pitchFamily="34" charset="-120"/>
              </a:rPr>
              <a:t>'apples, bananas, tofu, and cats'</a:t>
            </a:r>
            <a:endParaRPr lang="en-US" sz="978" dirty="0"/>
          </a:p>
        </p:txBody>
      </p:sp>
      <p:sp>
        <p:nvSpPr>
          <p:cNvPr id="26" name="v:PracticePrograms:f1box:box|b6"/>
          <p:cNvSpPr/>
          <p:nvPr/>
        </p:nvSpPr>
        <p:spPr>
          <a:xfrm>
            <a:off x="3200400" y="3657600"/>
            <a:ext cx="2743200" cy="932688"/>
          </a:xfrm>
          <a:prstGeom prst="roundRect">
            <a:avLst>
              <a:gd name="adj" fmla="val 7843"/>
            </a:avLst>
          </a:prstGeom>
          <a:solidFill>
            <a:srgbClr val="F1F4F8"/>
          </a:solidFill>
          <a:ln w="12700">
            <a:solidFill>
              <a:srgbClr val="F1F4F8"/>
            </a:solidFill>
            <a:prstDash val="solid"/>
          </a:ln>
        </p:spPr>
      </p:sp>
      <p:sp>
        <p:nvSpPr>
          <p:cNvPr id="27" name="v:PracticePrograms:f1t|b6"/>
          <p:cNvSpPr txBox="1"/>
          <p:nvPr/>
        </p:nvSpPr>
        <p:spPr>
          <a:xfrm>
            <a:off x="3310128" y="3703320"/>
            <a:ext cx="2523744" cy="365760"/>
          </a:xfrm>
          <a:prstGeom prst="rect">
            <a:avLst/>
          </a:prstGeom>
          <a:noFill/>
          <a:ln/>
        </p:spPr>
        <p:txBody>
          <a:bodyPr wrap="square" lIns="0" tIns="0" rIns="0" bIns="0" rtlCol="0" anchor="t"/>
          <a:lstStyle/>
          <a:p>
            <a:pPr indent="0" marL="0">
              <a:buNone/>
            </a:pPr>
            <a:r>
              <a:rPr lang="en-US" sz="1000" b="1" dirty="0">
                <a:solidFill>
                  <a:srgbClr val="306998"/>
                </a:solidFill>
                <a:latin typeface="Calibri" pitchFamily="34" charset="0"/>
                <a:ea typeface="Calibri" pitchFamily="34" charset="-122"/>
                <a:cs typeface="Calibri" pitchFamily="34" charset="-120"/>
              </a:rPr>
              <a:t>Practice program 2: a streak of six in 100 flips</a:t>
            </a:r>
            <a:endParaRPr lang="en-US" sz="1000" dirty="0"/>
          </a:p>
        </p:txBody>
      </p:sp>
      <p:sp>
        <p:nvSpPr>
          <p:cNvPr id="28" name="v:PracticePrograms:f1e|b6"/>
          <p:cNvSpPr txBox="1"/>
          <p:nvPr/>
        </p:nvSpPr>
        <p:spPr>
          <a:xfrm>
            <a:off x="3310128" y="4078224"/>
            <a:ext cx="2523744" cy="164592"/>
          </a:xfrm>
          <a:prstGeom prst="rect">
            <a:avLst/>
          </a:prstGeom>
          <a:noFill/>
          <a:ln/>
        </p:spPr>
        <p:txBody>
          <a:bodyPr wrap="square" lIns="0" tIns="0" rIns="0" bIns="0" rtlCol="0" anchor="t">
            <a:normAutofit/>
          </a:bodyPr>
          <a:lstStyle/>
          <a:p>
            <a:pPr indent="0" marL="0">
              <a:buNone/>
            </a:pPr>
            <a:r>
              <a:rPr lang="en-US" sz="900" dirty="0">
                <a:solidFill>
                  <a:srgbClr val="5B6B7B"/>
                </a:solidFill>
                <a:latin typeface="Courier New" pitchFamily="34" charset="0"/>
                <a:ea typeface="Courier New" pitchFamily="34" charset="-122"/>
                <a:cs typeface="Courier New" pitchFamily="34" charset="-120"/>
              </a:rPr>
              <a:t>exact chance, by counting run lengths</a:t>
            </a:r>
            <a:endParaRPr lang="en-US" sz="900" dirty="0"/>
          </a:p>
        </p:txBody>
      </p:sp>
      <p:sp>
        <p:nvSpPr>
          <p:cNvPr id="29" name="v:PracticePrograms:f1r|b6"/>
          <p:cNvSpPr txBox="1"/>
          <p:nvPr/>
        </p:nvSpPr>
        <p:spPr>
          <a:xfrm>
            <a:off x="3310128" y="4224528"/>
            <a:ext cx="2523744" cy="310896"/>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ourier New" pitchFamily="34" charset="0"/>
                <a:ea typeface="Courier New" pitchFamily="34" charset="-122"/>
                <a:cs typeface="Courier New" pitchFamily="34" charset="-120"/>
              </a:rPr>
              <a:t>0.807</a:t>
            </a:r>
            <a:endParaRPr lang="en-US" sz="1200" dirty="0"/>
          </a:p>
        </p:txBody>
      </p:sp>
      <p:sp>
        <p:nvSpPr>
          <p:cNvPr id="30" name="v:PracticePrograms:f2box:box|b7"/>
          <p:cNvSpPr/>
          <p:nvPr/>
        </p:nvSpPr>
        <p:spPr>
          <a:xfrm>
            <a:off x="6035040" y="3657600"/>
            <a:ext cx="2743200" cy="932688"/>
          </a:xfrm>
          <a:prstGeom prst="roundRect">
            <a:avLst>
              <a:gd name="adj" fmla="val 7843"/>
            </a:avLst>
          </a:prstGeom>
          <a:solidFill>
            <a:srgbClr val="F1F4F8"/>
          </a:solidFill>
          <a:ln w="12700">
            <a:solidFill>
              <a:srgbClr val="F1F4F8"/>
            </a:solidFill>
            <a:prstDash val="solid"/>
          </a:ln>
        </p:spPr>
      </p:sp>
      <p:sp>
        <p:nvSpPr>
          <p:cNvPr id="31" name="v:PracticePrograms:f2t|b7"/>
          <p:cNvSpPr txBox="1"/>
          <p:nvPr/>
        </p:nvSpPr>
        <p:spPr>
          <a:xfrm>
            <a:off x="6144768" y="3703320"/>
            <a:ext cx="2523744" cy="365760"/>
          </a:xfrm>
          <a:prstGeom prst="rect">
            <a:avLst/>
          </a:prstGeom>
          <a:noFill/>
          <a:ln/>
        </p:spPr>
        <p:txBody>
          <a:bodyPr wrap="square" lIns="0" tIns="0" rIns="0" bIns="0" rtlCol="0" anchor="t"/>
          <a:lstStyle/>
          <a:p>
            <a:pPr indent="0" marL="0">
              <a:buNone/>
            </a:pPr>
            <a:r>
              <a:rPr lang="en-US" sz="1000" b="1" dirty="0">
                <a:solidFill>
                  <a:srgbClr val="306998"/>
                </a:solidFill>
                <a:latin typeface="Calibri" pitchFamily="34" charset="0"/>
                <a:ea typeface="Calibri" pitchFamily="34" charset="-122"/>
                <a:cs typeface="Calibri" pitchFamily="34" charset="-120"/>
              </a:rPr>
              <a:t>Question 3 of the chapter</a:t>
            </a:r>
            <a:endParaRPr lang="en-US" sz="1000" dirty="0"/>
          </a:p>
        </p:txBody>
      </p:sp>
      <p:sp>
        <p:nvSpPr>
          <p:cNvPr id="32" name="v:PracticePrograms:f2e|b7"/>
          <p:cNvSpPr txBox="1"/>
          <p:nvPr/>
        </p:nvSpPr>
        <p:spPr>
          <a:xfrm>
            <a:off x="6144768" y="4078224"/>
            <a:ext cx="2523744" cy="164592"/>
          </a:xfrm>
          <a:prstGeom prst="rect">
            <a:avLst/>
          </a:prstGeom>
          <a:noFill/>
          <a:ln/>
        </p:spPr>
        <p:txBody>
          <a:bodyPr wrap="square" lIns="0" tIns="0" rIns="0" bIns="0" rtlCol="0" anchor="t">
            <a:normAutofit/>
          </a:bodyPr>
          <a:lstStyle/>
          <a:p>
            <a:pPr indent="0" marL="0">
              <a:buNone/>
            </a:pPr>
            <a:r>
              <a:rPr lang="en-US" sz="900" dirty="0">
                <a:solidFill>
                  <a:srgbClr val="5B6B7B"/>
                </a:solidFill>
                <a:latin typeface="Courier New" pitchFamily="34" charset="0"/>
                <a:ea typeface="Courier New" pitchFamily="34" charset="-122"/>
                <a:cs typeface="Courier New" pitchFamily="34" charset="-120"/>
              </a:rPr>
              <a:t>spam[int(int('3' * 2) // 11)]</a:t>
            </a:r>
            <a:endParaRPr lang="en-US" sz="900" dirty="0"/>
          </a:p>
        </p:txBody>
      </p:sp>
      <p:sp>
        <p:nvSpPr>
          <p:cNvPr id="33" name="v:PracticePrograms:f2r|b7"/>
          <p:cNvSpPr txBox="1"/>
          <p:nvPr/>
        </p:nvSpPr>
        <p:spPr>
          <a:xfrm>
            <a:off x="6144768" y="4224528"/>
            <a:ext cx="2523744" cy="310896"/>
          </a:xfrm>
          <a:prstGeom prst="rect">
            <a:avLst/>
          </a:prstGeom>
          <a:noFill/>
          <a:ln/>
        </p:spPr>
        <p:txBody>
          <a:bodyPr wrap="square" lIns="0" tIns="0" rIns="0" bIns="0" rtlCol="0" anchor="ctr">
            <a:normAutofit/>
          </a:bodyPr>
          <a:lstStyle/>
          <a:p>
            <a:pPr indent="0" marL="0">
              <a:buNone/>
            </a:pPr>
            <a:r>
              <a:rPr lang="en-US" sz="1200" b="1" dirty="0">
                <a:solidFill>
                  <a:srgbClr val="2E9E5B"/>
                </a:solidFill>
                <a:latin typeface="Courier New" pitchFamily="34" charset="0"/>
                <a:ea typeface="Courier New" pitchFamily="34" charset="-122"/>
                <a:cs typeface="Courier New" pitchFamily="34" charset="-120"/>
              </a:rPr>
              <a:t>'d'</a:t>
            </a:r>
            <a:endParaRPr lang="en-US" sz="1200" dirty="0"/>
          </a:p>
        </p:txBody>
      </p:sp>
      <p:sp>
        <p:nvSpPr>
          <p:cNvPr id="34"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35"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36"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Random and programs ▸ Practice programs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automatetheboringstuff.com/3e/chapter6.html" history="1" highlightClick="0" endSnd="0">
                  <a:extLst>
                    <a:ext uri="{A12FA001-AC4F-418D-AE19-62706E023703}">
                      <ahyp:hlinkClr xmlns:ahyp="http://schemas.microsoft.com/office/drawing/2018/hyperlinkcolor" val="tx"/>
                    </a:ext>
                  </a:extLst>
                </a:hlinkClick>
              </a:rPr>
              <a:t>Book chapter 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00"/>
                                        <p:tgtEl>
                                          <p:spTgt spid="1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00"/>
                                        <p:tgtEl>
                                          <p:spTgt spid="17"/>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400"/>
                                        <p:tgtEl>
                                          <p:spTgt spid="2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400"/>
                                        <p:tgtEl>
                                          <p:spTgt spid="21"/>
                                        </p:tgtEl>
                                      </p:cBhvr>
                                    </p:animEffect>
                                  </p:childTnLst>
                                </p:cTn>
                              </p:par>
                            </p:childTnLst>
                          </p:cTn>
                        </p:par>
                      </p:childTnLst>
                    </p:cTn>
                  </p:par>
                  <p:par>
                    <p:cTn id="47" fill="hold">
                      <p:stCondLst>
                        <p:cond delay="indefinite"/>
                      </p:stCondLst>
                      <p:childTnLst>
                        <p:par>
                          <p:cTn id="48"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400"/>
                                        <p:tgtEl>
                                          <p:spTgt spid="2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400"/>
                                        <p:tgtEl>
                                          <p:spTgt spid="2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400"/>
                                        <p:tgtEl>
                                          <p:spTgt spid="2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400"/>
                                        <p:tgtEl>
                                          <p:spTgt spid="25"/>
                                        </p:tgtEl>
                                      </p:cBhvr>
                                    </p:animEffect>
                                  </p:childTnLst>
                                </p:cTn>
                              </p:par>
                            </p:childTnLst>
                          </p:cTn>
                        </p:par>
                      </p:childTnLst>
                    </p:cTn>
                  </p:par>
                  <p:par>
                    <p:cTn id="61" fill="hold">
                      <p:stCondLst>
                        <p:cond delay="indefinite"/>
                      </p:stCondLst>
                      <p:childTnLst>
                        <p:par>
                          <p:cTn id="62"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400"/>
                                        <p:tgtEl>
                                          <p:spTgt spid="2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400"/>
                                        <p:tgtEl>
                                          <p:spTgt spid="2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400"/>
                                        <p:tgtEl>
                                          <p:spTgt spid="2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400"/>
                                        <p:tgtEl>
                                          <p:spTgt spid="29"/>
                                        </p:tgtEl>
                                      </p:cBhvr>
                                    </p:animEffect>
                                  </p:childTnLst>
                                </p:cTn>
                              </p:par>
                            </p:childTnLst>
                          </p:cTn>
                        </p:par>
                      </p:childTnLst>
                    </p:cTn>
                  </p:par>
                  <p:par>
                    <p:cTn id="75" fill="hold">
                      <p:stCondLst>
                        <p:cond delay="indefinite"/>
                      </p:stCondLst>
                      <p:childTnLst>
                        <p:par>
                          <p:cTn id="76"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fade">
                                      <p:cBhvr>
                                        <p:cTn id="65" dur="400"/>
                                        <p:tgtEl>
                                          <p:spTgt spid="3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1"/>
                                        </p:tgtEl>
                                        <p:attrNameLst>
                                          <p:attrName>style.visibility</p:attrName>
                                        </p:attrNameLst>
                                      </p:cBhvr>
                                      <p:to>
                                        <p:strVal val="visible"/>
                                      </p:to>
                                    </p:set>
                                    <p:animEffect transition="in" filter="fade">
                                      <p:cBhvr>
                                        <p:cTn id="68" dur="400"/>
                                        <p:tgtEl>
                                          <p:spTgt spid="3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71" dur="400"/>
                                        <p:tgtEl>
                                          <p:spTgt spid="3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3"/>
                                        </p:tgtEl>
                                        <p:attrNameLst>
                                          <p:attrName>style.visibility</p:attrName>
                                        </p:attrNameLst>
                                      </p:cBhvr>
                                      <p:to>
                                        <p:strVal val="visible"/>
                                      </p:to>
                                    </p:set>
                                    <p:animEffect transition="in" filter="fade">
                                      <p:cBhvr>
                                        <p:cTn id="74"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7" grpId="0" animBg="1"/>
      <p:bldP spid="21" grpId="0" animBg="1"/>
      <p:bldP spid="23" grpId="0" animBg="1"/>
      <p:bldP spid="24" grpId="0" animBg="1"/>
      <p:bldP spid="25" grpId="0" animBg="1"/>
      <p:bldP spid="27" grpId="0" animBg="1"/>
      <p:bldP spid="28" grpId="0" animBg="1"/>
      <p:bldP spid="29" grpId="0" animBg="1"/>
      <p:bldP spid="31" grpId="0" animBg="1"/>
      <p:bldP spid="32" grpId="0" animBg="1"/>
      <p:bldP spid="3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6 - Lists</dc:title>
  <dc:subject>PptxGenJS Presentation</dc:subject>
  <dc:creator>Yusuf Altunel</dc:creator>
  <cp:lastModifiedBy>Yusuf Altunel</cp:lastModifiedBy>
  <cp:revision>1</cp:revision>
  <dcterms:created xsi:type="dcterms:W3CDTF">2026-09-29T16:02:16Z</dcterms:created>
  <dcterms:modified xsi:type="dcterms:W3CDTF">2026-09-29T16:02:16Z</dcterms:modified>
  <cp:version>1.0.0</cp:version>
</cp:coreProperties>
</file>