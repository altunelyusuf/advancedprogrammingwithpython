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6 of the book (Sweigart, 2025) is about lists, and this lecture reads it the way an advanced course should: for every operation on a list, ask whether it changes the list in place, returns a new list, or only shares the list. Every result on these slides was produced by running it under Python 3.14.4, and the diagrams are drawn from recorded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a surprise the chapter itself prints. A list is made and given a second name; the second name is used to change one item; and the original name shows the change, because both names reach one list (Sweigart, 2025). Click for the surprise, and once more for the question that organises this lecture: which operations change a list, which return a new list, and which only share it. Ask the room to predict, before each section, which of the three an operation will turn out to be.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subjects, one row each, and each row is what you should be able to do at the end. They are the six top-level subjects of the chapter’s ontology, which holds 38 topics in all: the list type and its positions; changing lists; the operations that join, search and order them; loops and unpacking; sequences and references; and the random functions with the two short programs. Click through the rows. The last row is the reward: the Magic 8 Ball and the Matrix screensaver, both of which use only what the first five rows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organising idea, and it comes from a design rule of the documentation: a method that mutates a mutable object returns None (Python Software Foundation, 2026). So append, sort and shuffle change the list itself and give back None. Sorted, a slice, the plus operator and a comprehension leave the original alone and give back a new list. Assignment, passing an argument and the star operator do not copy anything: they only share. Each chip was run on a real list, and the small line under it is what the run showed. Click one column at a time. Every later slide asks which column an operation belongs to.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The list type and where its items sit: the list, its length, indexing and slicing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an ordered sequence of values between square brackets; its items may have different types and may even be lists themselves (Sweigart, 2025). Each box has two indexes: counted from 0 at the front, and from -1 at the back, so the third item from the end is index -3. Click through the three lookups: the front, the back, and a negative index. The dashed box beyond the last item is the position that does not exist, and asking for it raises IndexError, exactly the message in the red chip. len returns the number of items. The last line of the session reaches into a list of lists, and the answer is 50.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such as one to three is a new list of the items from the start index up to but not including the end index (Sweigart, 2025). Each row is the same four boxes; the filled boxes are the items the slice selects, the bracket under them shows the run, and the small line names the indexes it picked. Click row by row. Leaving out an end means the front or the back. An end past the last item is clipped rather than raising an error, which the fourth row shows. A step of two takes every second item, and a step of minus one walks the list backwards, so that row is a reversed copy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Unlike a string or a tuple, a list can be changed in the same object, by adding, replacing and removing items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put something into a list, and all four change the list itself. Append adds one item at the end. Insert puts a value before the item at the given index and moves the later items along. Assigning to an index replaces that item, and assigning a list to a slice replaces a run of items and may change the length of the list (Sweigart, 2025; Python Software Foundation, 2026). Each lane is one real run: the list before, the list after, and what the call returned. Green boxes are new, red boxes were replaced. Click lane by lane. Notice the amber chips: append and insert return None, which is why writing spam equals spam dot append loses the list.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take items out, and again the list itself changes. Remove deletes only the first item equal to the value, so from a list with three cats only one cat leaves, and it raises ValueError when there is no such item. Pop removes the item at an index, by default the last one, and is the only one of the three that returns it: here it returns 7. Del is a statement, so it has no value; the items after the one it removes move up by one index (Sweigart, 2025; Python Software Foundation, 2026). The red boxes are the items that leave. The two red bars at the bottom are the real messages of the two errors.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Joining, searching and ordering lists: the operations the chapter builds on the list type (Sweigart, 2025). Ordering has four topics, because sorting is where in-place and new-list operations sit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plus operator joins two lists into a new list, and the star operator with an integer repeats a list into a new list; neither changes its operands (Sweigart, 2025). The two lanes on top are real runs and both are in the new-list column. The four small pictures below are the trap with the augmented operator. After b equals a, both names reach one list. The augmented assignment a plus-equals a list extends that same list in place, so b shows the change too. But a equals a plus another list builds a new list and only rebinds a: b is left behind, still holding the shorter list (Python Software Foundation, 2026). The reference calls the augmented form similar to, not the same as, the longhand. Click through the four steps.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 operator answers yes or no, and the index method answers with a position. Index returns the position of the first item equal to the value, so the first Pooka is at 1; an optional start argument finds the later one at 3; and a missing value raises ValueError, whose message reads list.index(x): x not in list under Python 3.14.4, where the chapter prints the value in the message (Sweigart, 2025). The four cards: on a string, in tests for a substring; on a list, only for a whole item, so gg is in the string eggs but not in the list holding eggs. The last two cards are short-circuiting. And and or stop as soon as the left operand decides the result and return that operand, not a Boolean, so a test that the list is not empty guards an index that would raise IndexError when the list is empty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pair that the whole chapter’s advice about None is about. Sort orders the list in place and returns None, so writing spam equals spam dot sort leaves spam holding None. Reverse also works in place and returns None. Sorted returns a new sorted list from any iterable and leaves the original unchanged, which the third lane shows: three, one, two is still three, one, two in the before row (Sweigart, 2025; Python Software Foundation, 2026). The fourth lane is the chapter’s reminder that strings sort with uppercase letters before lowercase ones, and the red bar is the TypeError raised when a list mixes numbers and strings, because sort compares with the less-than operator only.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and reverse are keyword-only arguments of sort and sorted. In the first picture the key is str.lower; the amber line under each input box is the key the function really returned, and the output row is the result. The lower-case a and the upper-case A have the same key, so they keep the order they had: that is what stability means, and both sort and sorted are stable (Python Software Foundation, 2026). The second picture is the chapter’s reverse equals True: it sorts as if each comparison were reversed. The third picture sorts pairs by their first item only; the two blue pairs and the two red pairs keep their original order among themselves. Click example by example.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A for loop and a multiple assignment are the two ways the chapter takes a list apart, and this section adds the comprehension and the trap of changing a list while it is walked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loops were run over the chapter’s list of four supplies and every pass was recorded. The first uses range of len to produce each index, and then indexes the list; the second lets enumerate hand over the index and the item together, so the loop needs neither len nor range (Sweigart, 2025). The printed column is identical in both tables. Enumerate takes a start argument: counting from 1 gives the pair 1 and pens first, which is the amber bar. Assigning to i inside the loop does not change which index comes next, because the range supplies the next value regardless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and the commonest bug with lists. The program removes every item below 3 while a for loop walks the list, and it prints [2, 3, 4]: the 2 was never removed. The three rows are the passes of a line trace of that very program. In pass one the loop is at position 0, sees 1 and removes it, so 2 moves into position 0. The iterator counts positions, so pass two is at position 1, which now holds 3; the 2 is never visited (Python Software Foundation, 2026). Build a new list instead, or loop over a copy: the fixed program prints [3, 4]. Click pass by pass.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a list to several names is the chapter’s multiple assignment, technically tuple unpacking: the names take the items left to right, and one name too many raises ValueError, which the red box shows with its real message (Sweigart, 2025). Current Python adds one starred name that takes whatever is left over, so the number of names no longer has to match the number of items: first and the rest, or head, the middle and last (Brandl, 2007). A star inside a list display splices a list into a new list (Landau, 2013). On the right, the list comprehension builds a new list from a rule without an append loop; it appeared in Python 2.0 (Warsaw, 2000), and its loop variable does not stay behind afterwards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Lists, strings and tuples share the sequence operations, and what a variable holds decides what copying a list means (Sweigart, 2025). This is the section that pays off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names lists, strings, range objects and tuples as sequence types and separates the mutable from the immutable ones (Sweigart, 2025). Each card ran one item assignment on a real value: it worked on the list, and raised TypeError on the string, the tuple and the range. So a changed string is not changed at all: it is rebuilt from slices of the old one, which the first bottom card shows. A tuple is written with commas, usually in parentheses; a one-item tuple needs its trailing comma, and without it you have just a string in parentheses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A variable holds a reference to a value; assigning one variable to another copies the reference, not the value (Sweigart, 2025). In the top row, the second statement gives the list a second name. The third changes an item through eggs, and because both names reach one list, spam shows the change too: both name tags point at the same box. In the bottom row, the same three statements on a number end differently, because giving spam a new value only rebinds the name spam; the number 42 that eggs holds is left alone (Python Software Foundation, 2026). Click statement by statement.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program passes a list to a function (Sweigart, 2025). The function receives a reference to the list it is called with, so a method that changes the list inside the function changes the caller’s list: the left pair of pictures, where the parameter and spam are two names for one box, and back in the caller the box holds Hello. The right pair is the other function, which assigns a new list to the parameter: that only rebinds the local name. Inside the function the parameter now points at a new box, and back in the caller spam still holds the original three items. Arguments are passed by assignment, so there is no call by reference (Python Software Foundation, 2026). The pictures are frames of a line trace of the program on the left. Click frame by frame.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dot copy makes a new list that holds references to the same items (Sweigart, 2025). For a flat list that is enough: on the right, changing an item of the copy leaves the original alone. For a nested list it is not: on the left, nested and shallow are two different outer lists, but the arrows from both go to the same two inner lists, so appending to an inner list of nested shows in shallow as well. Deep copy copies the inner lists as well, recursively, so nothing is shared with the original; the two lines in the session confirm it with the identity operator. The slice, the copy method and list() also make shallow copies (Python Software Foundation, 2026). Click through.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Replicating a list repeats references to the same items, so a list of one empty list, times three, holds one inner list three times: the three arrows on the left end at a single box, and appending to the first item shows in all three. The comprehension on the right runs its expression once for each pass and so makes three separate lists (Python Software Foundation, 2026). The session underneath is the same two experiments as real code: the first ends in three threes, the second in one three and two empty lists. Use the star operator for immutable items such as numbers; use a comprehension for lists of lists.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The random functions, the two short programs and the practice work show lists in use (Sweigart, 2025). Nothing new is taught here; it is the payoff for the first five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short program of the chapter keeps nine answers in a list and prints one, chosen by a random index (Sweigart, 2025). The index runs from 0 to len minus 1, which is 8, because randint includes both ends, so every answer can appear: the bars on the right are the counts of two thousand seeded draws, and every index from 0 to 8 was drawn. The one line added to the chapter’s program is the seed, so that this deck prints the same answer each time. Below the bars, the three random functions that take a list: choice returns one item and leaves the list alone; shuffle reorders the list itself and returns None; sample with k equal to the length returns a shuffled new list (Python Software Foundation, 2026). Ask the room to type a question of their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short program keeps one counter per column in a list of 70 zeros (Sweigart, 2025). For each column on each row: a small chance restarts a stream by setting the counter to a random number from 4 to 14; a counter above zero prints a random 0 or 1 and counts down; a counter at zero prints a space. The two green panels are rows printed by a real run of the chapter’s program with time.sleep replaced, so it finishes at once: at the start a few streams begin, and at the end many streams run at once. The table follows one column, number 45, through one whole stream: a space, four digits while the counter falls from 3 to 0, then a space again. Now the hazard at the bottom: the streams end only because the decrement sits in the branch for a counter above zero. If it is applied to every column, a counter at zero runs negative and the column prints digits forever; the last row of that variant has no spaces at all. Both variants were executed for this study.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two names, one list, one change. The chapter on one page is six verbs that match the six sections. Read a list by index and slice. Change it in place, remembering what each call returns. Combine, search and order it. Loop over it without changing what you walk. Trace what assignment, a function call, a copy and star share. And run the two programs. The three questions are the summary: did the list change, did I get a new one, or do two names reach one list. Those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read the answer. Question one revisits sort: it returns None and the list is sorted. Question two is the augmented assignment: b shows the change, because plus-equals extends the shared list. Question three counts distinct lists in a list of one empty list times three: one. Question four is the loop that skips. The bottom row is the chapter’s own practice: 17 practice questions and 2 practice programs (Sweigart, 2025). The cards show the answer to question 3 of the chapter, the comma code program, whose function joins a list into a comma-separated string with and before the last item, and the exact chance that 100 coin flips hold a streak of six, about 0.807, which the chapter’s 10,000-experiment count approximates. The solution and the exact probability were written for this study. Sources: the book chapter, the Python 3.14 documentation (tutorial, built-in types, data model, simple statements, copy, random, the Sorting HOWTO and the Programming FAQ), and PEP 202, PEP 448 and PEP 3132. The full source list is in the chapter’s research record, 03-materials/ch06/rdodi/sen0414_ch06_research_v1_0_0.ttl.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ocs.python.org/3/reference/datamodel.html" TargetMode="External"/><Relationship Id="rId2" Type="http://schemas.openxmlformats.org/officeDocument/2006/relationships/hyperlink" Target="https://docs.python.org/3/library/stdtypes.html"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reference/compound_stmts.html" TargetMode="External"/><Relationship Id="rId2" Type="http://schemas.openxmlformats.org/officeDocument/2006/relationships/hyperlink" Target="https://docs.python.org/3/faq/programming.html"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reference/datamodel.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faq/programming.html" TargetMode="External"/><Relationship Id="rId3" Type="http://schemas.openxmlformats.org/officeDocument/2006/relationships/hyperlink" Target="https://docs.python.org/3/reference/datamodel.html" TargetMode="External"/><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copy.html"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docs.python.org/3/faq/programming.html" TargetMode="External"/><Relationship Id="rId2" Type="http://schemas.openxmlformats.org/officeDocument/2006/relationships/hyperlink" Target="https://automatetheboringstuff.com/3e/chapter6.html"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random.html"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91440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91440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182880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6: Lists</a:t>
            </a:r>
            <a:endParaRPr lang="en-US" sz="3800" dirty="0"/>
          </a:p>
        </p:txBody>
      </p:sp>
      <p:sp>
        <p:nvSpPr>
          <p:cNvPr id="5" name="x"/>
          <p:cNvSpPr txBox="1"/>
          <p:nvPr/>
        </p:nvSpPr>
        <p:spPr>
          <a:xfrm>
            <a:off x="548640" y="2606040"/>
            <a:ext cx="804672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Changed in place, made new, or only shared: three questions for every operation</a:t>
            </a:r>
            <a:endParaRPr lang="en-US" sz="1800" dirty="0"/>
          </a:p>
        </p:txBody>
      </p:sp>
      <p:sp>
        <p:nvSpPr>
          <p:cNvPr id="6" name="x"/>
          <p:cNvSpPr txBox="1"/>
          <p:nvPr/>
        </p:nvSpPr>
        <p:spPr>
          <a:xfrm>
            <a:off x="548640" y="4069080"/>
            <a:ext cx="8046720" cy="32004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
        <p:nvSpPr>
          <p:cNvPr id="7" name="x"/>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050" i="1" dirty="0">
                <a:solidFill>
                  <a:srgbClr val="9FB0C4"/>
                </a:solidFill>
                <a:latin typeface="Calibri" pitchFamily="34" charset="0"/>
                <a:ea typeface="Calibri" pitchFamily="34" charset="-122"/>
                <a:cs typeface="Calibri" pitchFamily="34" charset="-120"/>
              </a:rPr>
              <a:t>Adapted from Automate the Boring Stuff with Python, 3rd edition, chapter 6 (Sweigart, 2025). Every result was produced under Python 3.14.4.</a:t>
            </a:r>
            <a:endParaRPr lang="en-US" sz="10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502920"/>
            <a:ext cx="78638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list. Two names. One change.</a:t>
            </a:r>
            <a:endParaRPr lang="en-US" sz="3400" dirty="0"/>
          </a:p>
        </p:txBody>
      </p:sp>
      <p:sp>
        <p:nvSpPr>
          <p:cNvPr id="3" name="codecardbox|b1"/>
          <p:cNvSpPr/>
          <p:nvPr/>
        </p:nvSpPr>
        <p:spPr>
          <a:xfrm>
            <a:off x="640080" y="1508760"/>
            <a:ext cx="4846320" cy="1463040"/>
          </a:xfrm>
          <a:prstGeom prst="roundRect">
            <a:avLst>
              <a:gd name="adj" fmla="val 6250"/>
            </a:avLst>
          </a:prstGeom>
          <a:solidFill>
            <a:srgbClr val="17202B"/>
          </a:solidFill>
          <a:ln w="12700">
            <a:solidFill>
              <a:srgbClr val="3B5B87"/>
            </a:solidFill>
            <a:prstDash val="solid"/>
          </a:ln>
        </p:spPr>
      </p:sp>
      <p:sp>
        <p:nvSpPr>
          <p:cNvPr id="4" name="codecard|b1"/>
          <p:cNvSpPr txBox="1"/>
          <p:nvPr/>
        </p:nvSpPr>
        <p:spPr>
          <a:xfrm>
            <a:off x="804672" y="1581912"/>
            <a:ext cx="4517136" cy="1316736"/>
          </a:xfrm>
          <a:prstGeom prst="rect">
            <a:avLst/>
          </a:prstGeom>
          <a:noFill/>
          <a:ln/>
        </p:spPr>
        <p:txBody>
          <a:bodyPr wrap="square" lIns="0" tIns="0" rIns="0" bIns="0" rtlCol="0" anchor="t"/>
          <a:lstStyle/>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 = [0, 1, 2, 3]</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 = spam</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eggs[1] = 'Hello!'</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a:t>
            </a:r>
            <a:endParaRPr lang="en-US" sz="1400" dirty="0"/>
          </a:p>
          <a:p>
            <a:pPr indent="0" marL="0">
              <a:spcAft>
                <a:spcPts val="100"/>
              </a:spcAft>
              <a:buNone/>
            </a:pPr>
            <a:r>
              <a:rPr lang="en-US" sz="1400" dirty="0">
                <a:solidFill>
                  <a:srgbClr val="7EE787"/>
                </a:solidFill>
                <a:latin typeface="Courier New" pitchFamily="34" charset="0"/>
                <a:ea typeface="Courier New" pitchFamily="34" charset="-122"/>
                <a:cs typeface="Courier New" pitchFamily="34" charset="-120"/>
              </a:rPr>
              <a:t>[0, 'Hello!', 2, 3]</a:t>
            </a:r>
            <a:endParaRPr lang="en-US" sz="1400" dirty="0"/>
          </a:p>
        </p:txBody>
      </p:sp>
      <p:sp>
        <p:nvSpPr>
          <p:cNvPr id="5" name="say|b2"/>
          <p:cNvSpPr txBox="1"/>
          <p:nvPr/>
        </p:nvSpPr>
        <p:spPr>
          <a:xfrm>
            <a:off x="640080" y="3154680"/>
            <a:ext cx="7863840" cy="640080"/>
          </a:xfrm>
          <a:prstGeom prst="rect">
            <a:avLst/>
          </a:prstGeom>
          <a:noFill/>
          <a:ln/>
        </p:spPr>
        <p:txBody>
          <a:bodyPr wrap="square" lIns="0" tIns="0" rIns="0" bIns="0" rtlCol="0" anchor="t"/>
          <a:lstStyle/>
          <a:p>
            <a:pPr indent="0" marL="0">
              <a:buNone/>
            </a:pPr>
            <a:r>
              <a:rPr lang="en-US" sz="1900" i="1" dirty="0">
                <a:solidFill>
                  <a:srgbClr val="FFD43B"/>
                </a:solidFill>
                <a:latin typeface="Calibri" pitchFamily="34" charset="0"/>
                <a:ea typeface="Calibri" pitchFamily="34" charset="-122"/>
                <a:cs typeface="Calibri" pitchFamily="34" charset="-120"/>
              </a:rPr>
              <a:t>Nothing crashed. No message. Yet the list you called spam is not the list you wrote.</a:t>
            </a:r>
            <a:endParaRPr lang="en-US" sz="1900" dirty="0"/>
          </a:p>
        </p:txBody>
      </p:sp>
      <p:sp>
        <p:nvSpPr>
          <p:cNvPr id="6" name="say|b3"/>
          <p:cNvSpPr txBox="1"/>
          <p:nvPr/>
        </p:nvSpPr>
        <p:spPr>
          <a:xfrm>
            <a:off x="640080" y="3840480"/>
            <a:ext cx="7863840" cy="731520"/>
          </a:xfrm>
          <a:prstGeom prst="rect">
            <a:avLst/>
          </a:prstGeom>
          <a:noFill/>
          <a:ln/>
        </p:spPr>
        <p:txBody>
          <a:bodyPr wrap="square" lIns="0" tIns="0" rIns="0" bIns="0" rtlCol="0" anchor="t"/>
          <a:lstStyle/>
          <a:p>
            <a:pPr indent="0" marL="0">
              <a:buNone/>
            </a:pPr>
            <a:r>
              <a:rPr lang="en-US" sz="2300" b="1" dirty="0">
                <a:solidFill>
                  <a:srgbClr val="FFFFFF"/>
                </a:solidFill>
                <a:latin typeface="Cambria" pitchFamily="34" charset="0"/>
                <a:ea typeface="Cambria" pitchFamily="34" charset="-122"/>
                <a:cs typeface="Cambria" pitchFamily="34" charset="-120"/>
              </a:rPr>
              <a:t>Which operations change a list, which make a new one, and which only share it?</a:t>
            </a:r>
            <a:endParaRPr lang="en-US" sz="2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will be able to do with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6 subjects and 38 topics: the chapter as the course’s ontology draws it</a:t>
            </a:r>
            <a:endParaRPr lang="en-US" sz="1400" dirty="0"/>
          </a:p>
        </p:txBody>
      </p:sp>
      <p:sp>
        <p:nvSpPr>
          <p:cNvPr id="6" name="objchip|b1"/>
          <p:cNvSpPr/>
          <p:nvPr/>
        </p:nvSpPr>
        <p:spPr>
          <a:xfrm>
            <a:off x="457200" y="1280160"/>
            <a:ext cx="2606040" cy="457200"/>
          </a:xfrm>
          <a:prstGeom prst="roundRect">
            <a:avLst>
              <a:gd name="adj" fmla="val 20000"/>
            </a:avLst>
          </a:prstGeom>
          <a:solidFill>
            <a:srgbClr val="306998"/>
          </a:solidFill>
          <a:ln w="12700">
            <a:solidFill>
              <a:srgbClr val="306998"/>
            </a:solidFill>
            <a:prstDash val="solid"/>
          </a:ln>
        </p:spPr>
      </p:sp>
      <p:sp>
        <p:nvSpPr>
          <p:cNvPr id="7" name="objchipt|b1"/>
          <p:cNvSpPr txBox="1"/>
          <p:nvPr/>
        </p:nvSpPr>
        <p:spPr>
          <a:xfrm>
            <a:off x="457200" y="128016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basics</a:t>
            </a:r>
            <a:endParaRPr lang="en-US" sz="1500" dirty="0"/>
          </a:p>
        </p:txBody>
      </p:sp>
      <p:sp>
        <p:nvSpPr>
          <p:cNvPr id="8" name="objtxt|b1"/>
          <p:cNvSpPr txBox="1"/>
          <p:nvPr/>
        </p:nvSpPr>
        <p:spPr>
          <a:xfrm>
            <a:off x="3246120" y="128016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and write a list with indexes, negative indexes and slices</a:t>
            </a:r>
            <a:endParaRPr lang="en-US" sz="1450" dirty="0"/>
          </a:p>
        </p:txBody>
      </p:sp>
      <p:sp>
        <p:nvSpPr>
          <p:cNvPr id="9" name="objchip|b2"/>
          <p:cNvSpPr/>
          <p:nvPr/>
        </p:nvSpPr>
        <p:spPr>
          <a:xfrm>
            <a:off x="457200" y="1837944"/>
            <a:ext cx="2606040" cy="457200"/>
          </a:xfrm>
          <a:prstGeom prst="roundRect">
            <a:avLst>
              <a:gd name="adj" fmla="val 20000"/>
            </a:avLst>
          </a:prstGeom>
          <a:solidFill>
            <a:srgbClr val="306998"/>
          </a:solidFill>
          <a:ln w="12700">
            <a:solidFill>
              <a:srgbClr val="306998"/>
            </a:solidFill>
            <a:prstDash val="solid"/>
          </a:ln>
        </p:spPr>
      </p:sp>
      <p:sp>
        <p:nvSpPr>
          <p:cNvPr id="10" name="objchipt|b2"/>
          <p:cNvSpPr txBox="1"/>
          <p:nvPr/>
        </p:nvSpPr>
        <p:spPr>
          <a:xfrm>
            <a:off x="457200" y="1837944"/>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Changing lists</a:t>
            </a:r>
            <a:endParaRPr lang="en-US" sz="1500" dirty="0"/>
          </a:p>
        </p:txBody>
      </p:sp>
      <p:sp>
        <p:nvSpPr>
          <p:cNvPr id="11" name="objtxt|b2"/>
          <p:cNvSpPr txBox="1"/>
          <p:nvPr/>
        </p:nvSpPr>
        <p:spPr>
          <a:xfrm>
            <a:off x="3246120" y="1837944"/>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Add, replace and remove items, and say what each call returns</a:t>
            </a:r>
            <a:endParaRPr lang="en-US" sz="1450" dirty="0"/>
          </a:p>
        </p:txBody>
      </p:sp>
      <p:sp>
        <p:nvSpPr>
          <p:cNvPr id="12" name="objchip|b3"/>
          <p:cNvSpPr/>
          <p:nvPr/>
        </p:nvSpPr>
        <p:spPr>
          <a:xfrm>
            <a:off x="457200" y="2395728"/>
            <a:ext cx="2606040" cy="457200"/>
          </a:xfrm>
          <a:prstGeom prst="roundRect">
            <a:avLst>
              <a:gd name="adj" fmla="val 20000"/>
            </a:avLst>
          </a:prstGeom>
          <a:solidFill>
            <a:srgbClr val="306998"/>
          </a:solidFill>
          <a:ln w="12700">
            <a:solidFill>
              <a:srgbClr val="306998"/>
            </a:solidFill>
            <a:prstDash val="solid"/>
          </a:ln>
        </p:spPr>
      </p:sp>
      <p:sp>
        <p:nvSpPr>
          <p:cNvPr id="13" name="objchipt|b3"/>
          <p:cNvSpPr txBox="1"/>
          <p:nvPr/>
        </p:nvSpPr>
        <p:spPr>
          <a:xfrm>
            <a:off x="457200" y="2395728"/>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operations</a:t>
            </a:r>
            <a:endParaRPr lang="en-US" sz="1500" dirty="0"/>
          </a:p>
        </p:txBody>
      </p:sp>
      <p:sp>
        <p:nvSpPr>
          <p:cNvPr id="14" name="objtxt|b3"/>
          <p:cNvSpPr txBox="1"/>
          <p:nvPr/>
        </p:nvSpPr>
        <p:spPr>
          <a:xfrm>
            <a:off x="3246120" y="2395728"/>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Combine, search and order lists, and tell sort() from sorted()</a:t>
            </a:r>
            <a:endParaRPr lang="en-US" sz="1450" dirty="0"/>
          </a:p>
        </p:txBody>
      </p:sp>
      <p:sp>
        <p:nvSpPr>
          <p:cNvPr id="15" name="objchip|b4"/>
          <p:cNvSpPr/>
          <p:nvPr/>
        </p:nvSpPr>
        <p:spPr>
          <a:xfrm>
            <a:off x="457200" y="2953512"/>
            <a:ext cx="2606040" cy="457200"/>
          </a:xfrm>
          <a:prstGeom prst="roundRect">
            <a:avLst>
              <a:gd name="adj" fmla="val 20000"/>
            </a:avLst>
          </a:prstGeom>
          <a:solidFill>
            <a:srgbClr val="306998"/>
          </a:solidFill>
          <a:ln w="12700">
            <a:solidFill>
              <a:srgbClr val="306998"/>
            </a:solidFill>
            <a:prstDash val="solid"/>
          </a:ln>
        </p:spPr>
      </p:sp>
      <p:sp>
        <p:nvSpPr>
          <p:cNvPr id="16" name="objchipt|b4"/>
          <p:cNvSpPr txBox="1"/>
          <p:nvPr/>
        </p:nvSpPr>
        <p:spPr>
          <a:xfrm>
            <a:off x="457200" y="2953512"/>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Loops and unpacking</a:t>
            </a:r>
            <a:endParaRPr lang="en-US" sz="1500" dirty="0"/>
          </a:p>
        </p:txBody>
      </p:sp>
      <p:sp>
        <p:nvSpPr>
          <p:cNvPr id="17" name="objtxt|b4"/>
          <p:cNvSpPr txBox="1"/>
          <p:nvPr/>
        </p:nvSpPr>
        <p:spPr>
          <a:xfrm>
            <a:off x="3246120" y="2953512"/>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Loop over a list and unpack it, without changing it in the middle of the loop</a:t>
            </a:r>
            <a:endParaRPr lang="en-US" sz="1450" dirty="0"/>
          </a:p>
        </p:txBody>
      </p:sp>
      <p:sp>
        <p:nvSpPr>
          <p:cNvPr id="18" name="objchip|b5"/>
          <p:cNvSpPr/>
          <p:nvPr/>
        </p:nvSpPr>
        <p:spPr>
          <a:xfrm>
            <a:off x="457200" y="3511296"/>
            <a:ext cx="2606040" cy="457200"/>
          </a:xfrm>
          <a:prstGeom prst="roundRect">
            <a:avLst>
              <a:gd name="adj" fmla="val 20000"/>
            </a:avLst>
          </a:prstGeom>
          <a:solidFill>
            <a:srgbClr val="306998"/>
          </a:solidFill>
          <a:ln w="12700">
            <a:solidFill>
              <a:srgbClr val="306998"/>
            </a:solidFill>
            <a:prstDash val="solid"/>
          </a:ln>
        </p:spPr>
      </p:sp>
      <p:sp>
        <p:nvSpPr>
          <p:cNvPr id="19" name="objchipt|b5"/>
          <p:cNvSpPr txBox="1"/>
          <p:nvPr/>
        </p:nvSpPr>
        <p:spPr>
          <a:xfrm>
            <a:off x="457200" y="3511296"/>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Sequences and references</a:t>
            </a:r>
            <a:endParaRPr lang="en-US" sz="1500" dirty="0"/>
          </a:p>
        </p:txBody>
      </p:sp>
      <p:sp>
        <p:nvSpPr>
          <p:cNvPr id="20" name="objtxt|b5"/>
          <p:cNvSpPr txBox="1"/>
          <p:nvPr/>
        </p:nvSpPr>
        <p:spPr>
          <a:xfrm>
            <a:off x="3246120" y="3511296"/>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Say what assignment, a function call, a copy and * share, and what they copy</a:t>
            </a:r>
            <a:endParaRPr lang="en-US" sz="1450" dirty="0"/>
          </a:p>
        </p:txBody>
      </p:sp>
      <p:sp>
        <p:nvSpPr>
          <p:cNvPr id="21" name="objchip|b6"/>
          <p:cNvSpPr/>
          <p:nvPr/>
        </p:nvSpPr>
        <p:spPr>
          <a:xfrm>
            <a:off x="457200" y="4069080"/>
            <a:ext cx="2606040" cy="457200"/>
          </a:xfrm>
          <a:prstGeom prst="roundRect">
            <a:avLst>
              <a:gd name="adj" fmla="val 20000"/>
            </a:avLst>
          </a:prstGeom>
          <a:solidFill>
            <a:srgbClr val="306998"/>
          </a:solidFill>
          <a:ln w="12700">
            <a:solidFill>
              <a:srgbClr val="306998"/>
            </a:solidFill>
            <a:prstDash val="solid"/>
          </a:ln>
        </p:spPr>
      </p:sp>
      <p:sp>
        <p:nvSpPr>
          <p:cNvPr id="22" name="objchipt|b6"/>
          <p:cNvSpPr txBox="1"/>
          <p:nvPr/>
        </p:nvSpPr>
        <p:spPr>
          <a:xfrm>
            <a:off x="457200" y="406908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Random and programs</a:t>
            </a:r>
            <a:endParaRPr lang="en-US" sz="1500" dirty="0"/>
          </a:p>
        </p:txBody>
      </p:sp>
      <p:sp>
        <p:nvSpPr>
          <p:cNvPr id="23" name="objtxt|b6"/>
          <p:cNvSpPr txBox="1"/>
          <p:nvPr/>
        </p:nvSpPr>
        <p:spPr>
          <a:xfrm>
            <a:off x="3246120" y="406908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the Magic 8 Ball and the Matrix screensaver programs</a:t>
            </a:r>
            <a:endParaRPr lang="en-US" sz="1450" dirty="0"/>
          </a:p>
        </p:txBody>
      </p:sp>
      <p:sp>
        <p:nvSpPr>
          <p:cNvPr id="2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six subjects of the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Three questions to ask of every list operation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operations, sorted by what a real run showed they do</a:t>
            </a:r>
            <a:endParaRPr lang="en-US" sz="1400" dirty="0"/>
          </a:p>
        </p:txBody>
      </p:sp>
      <p:sp>
        <p:nvSpPr>
          <p:cNvPr id="6" name="v:ThreeQuestions:c0box:box|b1"/>
          <p:cNvSpPr/>
          <p:nvPr/>
        </p:nvSpPr>
        <p:spPr>
          <a:xfrm>
            <a:off x="365760" y="1234440"/>
            <a:ext cx="2712720" cy="3246120"/>
          </a:xfrm>
          <a:prstGeom prst="roundRect">
            <a:avLst>
              <a:gd name="adj" fmla="val 3371"/>
            </a:avLst>
          </a:prstGeom>
          <a:solidFill>
            <a:srgbClr val="F1F4F8"/>
          </a:solidFill>
          <a:ln w="25400">
            <a:solidFill>
              <a:srgbClr val="2E9E5B"/>
            </a:solidFill>
            <a:prstDash val="solid"/>
          </a:ln>
        </p:spPr>
      </p:sp>
      <p:sp>
        <p:nvSpPr>
          <p:cNvPr id="7" name="v:ThreeQuestions:c0q|b1"/>
          <p:cNvSpPr txBox="1"/>
          <p:nvPr/>
        </p:nvSpPr>
        <p:spPr>
          <a:xfrm>
            <a:off x="50292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the list itself change?</a:t>
            </a:r>
            <a:endParaRPr lang="en-US" sz="1250" dirty="0"/>
          </a:p>
        </p:txBody>
      </p:sp>
      <p:sp>
        <p:nvSpPr>
          <p:cNvPr id="8" name="v:ThreeQuestions:c0h|b1"/>
          <p:cNvSpPr txBox="1"/>
          <p:nvPr/>
        </p:nvSpPr>
        <p:spPr>
          <a:xfrm>
            <a:off x="502920" y="1600200"/>
            <a:ext cx="2438400" cy="365760"/>
          </a:xfrm>
          <a:prstGeom prst="rect">
            <a:avLst/>
          </a:prstGeom>
          <a:noFill/>
          <a:ln/>
        </p:spPr>
        <p:txBody>
          <a:bodyPr wrap="square" lIns="0" tIns="0" rIns="0" bIns="0" rtlCol="0" anchor="ctr"/>
          <a:lstStyle/>
          <a:p>
            <a:pPr indent="0" marL="0">
              <a:buNone/>
            </a:pPr>
            <a:r>
              <a:rPr lang="en-US" sz="1700" b="1" dirty="0">
                <a:solidFill>
                  <a:srgbClr val="2E9E5B"/>
                </a:solidFill>
                <a:latin typeface="Cambria" pitchFamily="34" charset="0"/>
                <a:ea typeface="Cambria" pitchFamily="34" charset="-122"/>
                <a:cs typeface="Cambria" pitchFamily="34" charset="-120"/>
              </a:rPr>
              <a:t>It changes in place</a:t>
            </a:r>
            <a:endParaRPr lang="en-US" sz="1700" dirty="0"/>
          </a:p>
        </p:txBody>
      </p:sp>
      <p:sp>
        <p:nvSpPr>
          <p:cNvPr id="9" name="v:ThreeQuestions:c0k0box:box|b1"/>
          <p:cNvSpPr/>
          <p:nvPr/>
        </p:nvSpPr>
        <p:spPr>
          <a:xfrm>
            <a:off x="475488" y="2057400"/>
            <a:ext cx="2493264" cy="530352"/>
          </a:xfrm>
          <a:prstGeom prst="roundRect">
            <a:avLst>
              <a:gd name="adj" fmla="val 10345"/>
            </a:avLst>
          </a:prstGeom>
          <a:solidFill>
            <a:srgbClr val="DDF3E6"/>
          </a:solidFill>
          <a:ln w="12700">
            <a:solidFill>
              <a:srgbClr val="2E9E5B"/>
            </a:solidFill>
            <a:prstDash val="solid"/>
          </a:ln>
        </p:spPr>
      </p:sp>
      <p:sp>
        <p:nvSpPr>
          <p:cNvPr id="10" name="v:ThreeQuestions:c0k0|b1"/>
          <p:cNvSpPr txBox="1"/>
          <p:nvPr/>
        </p:nvSpPr>
        <p:spPr>
          <a:xfrm>
            <a:off x="54864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a.append(4)</a:t>
            </a:r>
            <a:endParaRPr lang="en-US" sz="1250" dirty="0"/>
          </a:p>
        </p:txBody>
      </p:sp>
      <p:sp>
        <p:nvSpPr>
          <p:cNvPr id="11" name="v:ThreeQuestions:c0k0ev|b1"/>
          <p:cNvSpPr txBox="1"/>
          <p:nvPr/>
        </p:nvSpPr>
        <p:spPr>
          <a:xfrm>
            <a:off x="54864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2" name="v:ThreeQuestions:c0k1box:box|b1"/>
          <p:cNvSpPr/>
          <p:nvPr/>
        </p:nvSpPr>
        <p:spPr>
          <a:xfrm>
            <a:off x="475488" y="2651760"/>
            <a:ext cx="2493264" cy="530352"/>
          </a:xfrm>
          <a:prstGeom prst="roundRect">
            <a:avLst>
              <a:gd name="adj" fmla="val 10345"/>
            </a:avLst>
          </a:prstGeom>
          <a:solidFill>
            <a:srgbClr val="DDF3E6"/>
          </a:solidFill>
          <a:ln w="12700">
            <a:solidFill>
              <a:srgbClr val="2E9E5B"/>
            </a:solidFill>
            <a:prstDash val="solid"/>
          </a:ln>
        </p:spPr>
      </p:sp>
      <p:sp>
        <p:nvSpPr>
          <p:cNvPr id="13" name="v:ThreeQuestions:c0k1|b1"/>
          <p:cNvSpPr txBox="1"/>
          <p:nvPr/>
        </p:nvSpPr>
        <p:spPr>
          <a:xfrm>
            <a:off x="54864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a.sort()</a:t>
            </a:r>
            <a:endParaRPr lang="en-US" sz="1250" dirty="0"/>
          </a:p>
        </p:txBody>
      </p:sp>
      <p:sp>
        <p:nvSpPr>
          <p:cNvPr id="14" name="v:ThreeQuestions:c0k1ev|b1"/>
          <p:cNvSpPr txBox="1"/>
          <p:nvPr/>
        </p:nvSpPr>
        <p:spPr>
          <a:xfrm>
            <a:off x="54864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5" name="v:ThreeQuestions:c0k2box:box|b1"/>
          <p:cNvSpPr/>
          <p:nvPr/>
        </p:nvSpPr>
        <p:spPr>
          <a:xfrm>
            <a:off x="475488" y="3246120"/>
            <a:ext cx="2493264" cy="530352"/>
          </a:xfrm>
          <a:prstGeom prst="roundRect">
            <a:avLst>
              <a:gd name="adj" fmla="val 10345"/>
            </a:avLst>
          </a:prstGeom>
          <a:solidFill>
            <a:srgbClr val="DDF3E6"/>
          </a:solidFill>
          <a:ln w="12700">
            <a:solidFill>
              <a:srgbClr val="2E9E5B"/>
            </a:solidFill>
            <a:prstDash val="solid"/>
          </a:ln>
        </p:spPr>
      </p:sp>
      <p:sp>
        <p:nvSpPr>
          <p:cNvPr id="16" name="v:ThreeQuestions:c0k2|b1"/>
          <p:cNvSpPr txBox="1"/>
          <p:nvPr/>
        </p:nvSpPr>
        <p:spPr>
          <a:xfrm>
            <a:off x="54864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random.shuffle(a)</a:t>
            </a:r>
            <a:endParaRPr lang="en-US" sz="1250" dirty="0"/>
          </a:p>
        </p:txBody>
      </p:sp>
      <p:sp>
        <p:nvSpPr>
          <p:cNvPr id="17" name="v:ThreeQuestions:c0k2ev|b1"/>
          <p:cNvSpPr txBox="1"/>
          <p:nvPr/>
        </p:nvSpPr>
        <p:spPr>
          <a:xfrm>
            <a:off x="54864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8" name="v:ThreeQuestions:c1box:box|b2"/>
          <p:cNvSpPr/>
          <p:nvPr/>
        </p:nvSpPr>
        <p:spPr>
          <a:xfrm>
            <a:off x="3215640" y="1234440"/>
            <a:ext cx="2712720" cy="3246120"/>
          </a:xfrm>
          <a:prstGeom prst="roundRect">
            <a:avLst>
              <a:gd name="adj" fmla="val 3371"/>
            </a:avLst>
          </a:prstGeom>
          <a:solidFill>
            <a:srgbClr val="F1F4F8"/>
          </a:solidFill>
          <a:ln w="25400">
            <a:solidFill>
              <a:srgbClr val="306998"/>
            </a:solidFill>
            <a:prstDash val="solid"/>
          </a:ln>
        </p:spPr>
      </p:sp>
      <p:sp>
        <p:nvSpPr>
          <p:cNvPr id="19" name="v:ThreeQuestions:c1q|b2"/>
          <p:cNvSpPr txBox="1"/>
          <p:nvPr/>
        </p:nvSpPr>
        <p:spPr>
          <a:xfrm>
            <a:off x="335280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it give back a new list?</a:t>
            </a:r>
            <a:endParaRPr lang="en-US" sz="1250" dirty="0"/>
          </a:p>
        </p:txBody>
      </p:sp>
      <p:sp>
        <p:nvSpPr>
          <p:cNvPr id="20" name="v:ThreeQuestions:c1h|b2"/>
          <p:cNvSpPr txBox="1"/>
          <p:nvPr/>
        </p:nvSpPr>
        <p:spPr>
          <a:xfrm>
            <a:off x="3352800" y="1600200"/>
            <a:ext cx="24384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It returns a new list</a:t>
            </a:r>
            <a:endParaRPr lang="en-US" sz="1700" dirty="0"/>
          </a:p>
        </p:txBody>
      </p:sp>
      <p:sp>
        <p:nvSpPr>
          <p:cNvPr id="21" name="v:ThreeQuestions:c1k0box:box|b2"/>
          <p:cNvSpPr/>
          <p:nvPr/>
        </p:nvSpPr>
        <p:spPr>
          <a:xfrm>
            <a:off x="3325368" y="2057400"/>
            <a:ext cx="2493264" cy="530352"/>
          </a:xfrm>
          <a:prstGeom prst="roundRect">
            <a:avLst>
              <a:gd name="adj" fmla="val 10345"/>
            </a:avLst>
          </a:prstGeom>
          <a:solidFill>
            <a:srgbClr val="E3EEF8"/>
          </a:solidFill>
          <a:ln w="12700">
            <a:solidFill>
              <a:srgbClr val="306998"/>
            </a:solidFill>
            <a:prstDash val="solid"/>
          </a:ln>
        </p:spPr>
      </p:sp>
      <p:sp>
        <p:nvSpPr>
          <p:cNvPr id="22" name="v:ThreeQuestions:c1k0|b2"/>
          <p:cNvSpPr txBox="1"/>
          <p:nvPr/>
        </p:nvSpPr>
        <p:spPr>
          <a:xfrm>
            <a:off x="339852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sorted(a)</a:t>
            </a:r>
            <a:endParaRPr lang="en-US" sz="1250" dirty="0"/>
          </a:p>
        </p:txBody>
      </p:sp>
      <p:sp>
        <p:nvSpPr>
          <p:cNvPr id="23" name="v:ThreeQuestions:c1k0ev|b2"/>
          <p:cNvSpPr txBox="1"/>
          <p:nvPr/>
        </p:nvSpPr>
        <p:spPr>
          <a:xfrm>
            <a:off x="339852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4" name="v:ThreeQuestions:c1k1box:box|b2"/>
          <p:cNvSpPr/>
          <p:nvPr/>
        </p:nvSpPr>
        <p:spPr>
          <a:xfrm>
            <a:off x="3325368" y="2651760"/>
            <a:ext cx="2493264" cy="530352"/>
          </a:xfrm>
          <a:prstGeom prst="roundRect">
            <a:avLst>
              <a:gd name="adj" fmla="val 10345"/>
            </a:avLst>
          </a:prstGeom>
          <a:solidFill>
            <a:srgbClr val="E3EEF8"/>
          </a:solidFill>
          <a:ln w="12700">
            <a:solidFill>
              <a:srgbClr val="306998"/>
            </a:solidFill>
            <a:prstDash val="solid"/>
          </a:ln>
        </p:spPr>
      </p:sp>
      <p:sp>
        <p:nvSpPr>
          <p:cNvPr id="25" name="v:ThreeQuestions:c1k1|b2"/>
          <p:cNvSpPr txBox="1"/>
          <p:nvPr/>
        </p:nvSpPr>
        <p:spPr>
          <a:xfrm>
            <a:off x="339852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a[1:]</a:t>
            </a:r>
            <a:endParaRPr lang="en-US" sz="1250" dirty="0"/>
          </a:p>
        </p:txBody>
      </p:sp>
      <p:sp>
        <p:nvSpPr>
          <p:cNvPr id="26" name="v:ThreeQuestions:c1k1ev|b2"/>
          <p:cNvSpPr txBox="1"/>
          <p:nvPr/>
        </p:nvSpPr>
        <p:spPr>
          <a:xfrm>
            <a:off x="339852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7" name="v:ThreeQuestions:c1k2box:box|b2"/>
          <p:cNvSpPr/>
          <p:nvPr/>
        </p:nvSpPr>
        <p:spPr>
          <a:xfrm>
            <a:off x="3325368" y="3246120"/>
            <a:ext cx="2493264" cy="530352"/>
          </a:xfrm>
          <a:prstGeom prst="roundRect">
            <a:avLst>
              <a:gd name="adj" fmla="val 10345"/>
            </a:avLst>
          </a:prstGeom>
          <a:solidFill>
            <a:srgbClr val="E3EEF8"/>
          </a:solidFill>
          <a:ln w="12700">
            <a:solidFill>
              <a:srgbClr val="306998"/>
            </a:solidFill>
            <a:prstDash val="solid"/>
          </a:ln>
        </p:spPr>
      </p:sp>
      <p:sp>
        <p:nvSpPr>
          <p:cNvPr id="28" name="v:ThreeQuestions:c1k2|b2"/>
          <p:cNvSpPr txBox="1"/>
          <p:nvPr/>
        </p:nvSpPr>
        <p:spPr>
          <a:xfrm>
            <a:off x="339852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[9]</a:t>
            </a:r>
            <a:endParaRPr lang="en-US" sz="1250" dirty="0"/>
          </a:p>
        </p:txBody>
      </p:sp>
      <p:sp>
        <p:nvSpPr>
          <p:cNvPr id="29" name="v:ThreeQuestions:c1k2ev|b2"/>
          <p:cNvSpPr txBox="1"/>
          <p:nvPr/>
        </p:nvSpPr>
        <p:spPr>
          <a:xfrm>
            <a:off x="339852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0" name="v:ThreeQuestions:c1k3box:box|b2"/>
          <p:cNvSpPr/>
          <p:nvPr/>
        </p:nvSpPr>
        <p:spPr>
          <a:xfrm>
            <a:off x="3325368" y="3840480"/>
            <a:ext cx="2493264" cy="530352"/>
          </a:xfrm>
          <a:prstGeom prst="roundRect">
            <a:avLst>
              <a:gd name="adj" fmla="val 10345"/>
            </a:avLst>
          </a:prstGeom>
          <a:solidFill>
            <a:srgbClr val="E3EEF8"/>
          </a:solidFill>
          <a:ln w="12700">
            <a:solidFill>
              <a:srgbClr val="306998"/>
            </a:solidFill>
            <a:prstDash val="solid"/>
          </a:ln>
        </p:spPr>
      </p:sp>
      <p:sp>
        <p:nvSpPr>
          <p:cNvPr id="31" name="v:ThreeQuestions:c1k3|b2"/>
          <p:cNvSpPr txBox="1"/>
          <p:nvPr/>
        </p:nvSpPr>
        <p:spPr>
          <a:xfrm>
            <a:off x="3398520" y="385876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[x for x in a]</a:t>
            </a:r>
            <a:endParaRPr lang="en-US" sz="1250" dirty="0"/>
          </a:p>
        </p:txBody>
      </p:sp>
      <p:sp>
        <p:nvSpPr>
          <p:cNvPr id="32" name="v:ThreeQuestions:c1k3ev|b2"/>
          <p:cNvSpPr txBox="1"/>
          <p:nvPr/>
        </p:nvSpPr>
        <p:spPr>
          <a:xfrm>
            <a:off x="3398520" y="412394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3" name="v:ThreeQuestions:c2box:box|b3"/>
          <p:cNvSpPr/>
          <p:nvPr/>
        </p:nvSpPr>
        <p:spPr>
          <a:xfrm>
            <a:off x="6065520" y="1234440"/>
            <a:ext cx="2712720" cy="3246120"/>
          </a:xfrm>
          <a:prstGeom prst="roundRect">
            <a:avLst>
              <a:gd name="adj" fmla="val 3371"/>
            </a:avLst>
          </a:prstGeom>
          <a:solidFill>
            <a:srgbClr val="F1F4F8"/>
          </a:solidFill>
          <a:ln w="25400">
            <a:solidFill>
              <a:srgbClr val="B7791F"/>
            </a:solidFill>
            <a:prstDash val="solid"/>
          </a:ln>
        </p:spPr>
      </p:sp>
      <p:sp>
        <p:nvSpPr>
          <p:cNvPr id="34" name="v:ThreeQuestions:c2q|b3"/>
          <p:cNvSpPr txBox="1"/>
          <p:nvPr/>
        </p:nvSpPr>
        <p:spPr>
          <a:xfrm>
            <a:off x="620268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Do two names reach one list?</a:t>
            </a:r>
            <a:endParaRPr lang="en-US" sz="1250" dirty="0"/>
          </a:p>
        </p:txBody>
      </p:sp>
      <p:sp>
        <p:nvSpPr>
          <p:cNvPr id="35" name="v:ThreeQuestions:c2h|b3"/>
          <p:cNvSpPr txBox="1"/>
          <p:nvPr/>
        </p:nvSpPr>
        <p:spPr>
          <a:xfrm>
            <a:off x="6202680" y="1600200"/>
            <a:ext cx="2438400" cy="365760"/>
          </a:xfrm>
          <a:prstGeom prst="rect">
            <a:avLst/>
          </a:prstGeom>
          <a:noFill/>
          <a:ln/>
        </p:spPr>
        <p:txBody>
          <a:bodyPr wrap="square" lIns="0" tIns="0" rIns="0" bIns="0" rtlCol="0" anchor="ctr"/>
          <a:lstStyle/>
          <a:p>
            <a:pPr indent="0" marL="0">
              <a:buNone/>
            </a:pPr>
            <a:r>
              <a:rPr lang="en-US" sz="1700" b="1" dirty="0">
                <a:solidFill>
                  <a:srgbClr val="B7791F"/>
                </a:solidFill>
                <a:latin typeface="Cambria" pitchFamily="34" charset="0"/>
                <a:ea typeface="Cambria" pitchFamily="34" charset="-122"/>
                <a:cs typeface="Cambria" pitchFamily="34" charset="-120"/>
              </a:rPr>
              <a:t>It only shares the list</a:t>
            </a:r>
            <a:endParaRPr lang="en-US" sz="1700" dirty="0"/>
          </a:p>
        </p:txBody>
      </p:sp>
      <p:sp>
        <p:nvSpPr>
          <p:cNvPr id="36" name="v:ThreeQuestions:c2k0box:box|b3"/>
          <p:cNvSpPr/>
          <p:nvPr/>
        </p:nvSpPr>
        <p:spPr>
          <a:xfrm>
            <a:off x="6175248" y="2057400"/>
            <a:ext cx="2493264" cy="530352"/>
          </a:xfrm>
          <a:prstGeom prst="roundRect">
            <a:avLst>
              <a:gd name="adj" fmla="val 10345"/>
            </a:avLst>
          </a:prstGeom>
          <a:solidFill>
            <a:srgbClr val="FCEFD0"/>
          </a:solidFill>
          <a:ln w="12700">
            <a:solidFill>
              <a:srgbClr val="B7791F"/>
            </a:solidFill>
            <a:prstDash val="solid"/>
          </a:ln>
        </p:spPr>
      </p:sp>
      <p:sp>
        <p:nvSpPr>
          <p:cNvPr id="37" name="v:ThreeQuestions:c2k0|b3"/>
          <p:cNvSpPr txBox="1"/>
          <p:nvPr/>
        </p:nvSpPr>
        <p:spPr>
          <a:xfrm>
            <a:off x="624840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b = a</a:t>
            </a:r>
            <a:endParaRPr lang="en-US" sz="1250" dirty="0"/>
          </a:p>
        </p:txBody>
      </p:sp>
      <p:sp>
        <p:nvSpPr>
          <p:cNvPr id="38" name="v:ThreeQuestions:c2k0ev|b3"/>
          <p:cNvSpPr txBox="1"/>
          <p:nvPr/>
        </p:nvSpPr>
        <p:spPr>
          <a:xfrm>
            <a:off x="624840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both names reach one list</a:t>
            </a:r>
            <a:endParaRPr lang="en-US" sz="1000" dirty="0"/>
          </a:p>
        </p:txBody>
      </p:sp>
      <p:sp>
        <p:nvSpPr>
          <p:cNvPr id="39" name="v:ThreeQuestions:c2k1box:box|b3"/>
          <p:cNvSpPr/>
          <p:nvPr/>
        </p:nvSpPr>
        <p:spPr>
          <a:xfrm>
            <a:off x="6175248" y="2651760"/>
            <a:ext cx="2493264" cy="530352"/>
          </a:xfrm>
          <a:prstGeom prst="roundRect">
            <a:avLst>
              <a:gd name="adj" fmla="val 10345"/>
            </a:avLst>
          </a:prstGeom>
          <a:solidFill>
            <a:srgbClr val="FCEFD0"/>
          </a:solidFill>
          <a:ln w="12700">
            <a:solidFill>
              <a:srgbClr val="B7791F"/>
            </a:solidFill>
            <a:prstDash val="solid"/>
          </a:ln>
        </p:spPr>
      </p:sp>
      <p:sp>
        <p:nvSpPr>
          <p:cNvPr id="40" name="v:ThreeQuestions:c2k1|b3"/>
          <p:cNvSpPr txBox="1"/>
          <p:nvPr/>
        </p:nvSpPr>
        <p:spPr>
          <a:xfrm>
            <a:off x="624840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f(a)</a:t>
            </a:r>
            <a:endParaRPr lang="en-US" sz="1250" dirty="0"/>
          </a:p>
        </p:txBody>
      </p:sp>
      <p:sp>
        <p:nvSpPr>
          <p:cNvPr id="41" name="v:ThreeQuestions:c2k1ev|b3"/>
          <p:cNvSpPr txBox="1"/>
          <p:nvPr/>
        </p:nvSpPr>
        <p:spPr>
          <a:xfrm>
            <a:off x="624840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the parameter reaches the caller's list</a:t>
            </a:r>
            <a:endParaRPr lang="en-US" sz="1000" dirty="0"/>
          </a:p>
        </p:txBody>
      </p:sp>
      <p:sp>
        <p:nvSpPr>
          <p:cNvPr id="42" name="v:ThreeQuestions:c2k2box:box|b3"/>
          <p:cNvSpPr/>
          <p:nvPr/>
        </p:nvSpPr>
        <p:spPr>
          <a:xfrm>
            <a:off x="6175248" y="3246120"/>
            <a:ext cx="2493264" cy="530352"/>
          </a:xfrm>
          <a:prstGeom prst="roundRect">
            <a:avLst>
              <a:gd name="adj" fmla="val 10345"/>
            </a:avLst>
          </a:prstGeom>
          <a:solidFill>
            <a:srgbClr val="FCEFD0"/>
          </a:solidFill>
          <a:ln w="12700">
            <a:solidFill>
              <a:srgbClr val="B7791F"/>
            </a:solidFill>
            <a:prstDash val="solid"/>
          </a:ln>
        </p:spPr>
      </p:sp>
      <p:sp>
        <p:nvSpPr>
          <p:cNvPr id="43" name="v:ThreeQuestions:c2k2|b3"/>
          <p:cNvSpPr txBox="1"/>
          <p:nvPr/>
        </p:nvSpPr>
        <p:spPr>
          <a:xfrm>
            <a:off x="624840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 * 3</a:t>
            </a:r>
            <a:endParaRPr lang="en-US" sz="1250" dirty="0"/>
          </a:p>
        </p:txBody>
      </p:sp>
      <p:sp>
        <p:nvSpPr>
          <p:cNvPr id="44" name="v:ThreeQuestions:c2k2ev|b3"/>
          <p:cNvSpPr txBox="1"/>
          <p:nvPr/>
        </p:nvSpPr>
        <p:spPr>
          <a:xfrm>
            <a:off x="624840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three items, one inner list</a:t>
            </a:r>
            <a:endParaRPr lang="en-US" sz="10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spine of the whole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stdtypes.html" history="1" highlightClick="0" endSnd="0">
                  <a:extLst>
                    <a:ext uri="{A12FA001-AC4F-418D-AE19-62706E023703}">
                      <ahyp:hlinkClr xmlns:ahyp="http://schemas.microsoft.com/office/drawing/2018/hyperlinkcolor" val="tx"/>
                    </a:ext>
                  </a:extLst>
                </a:hlinkClick>
              </a:rPr>
              <a:t>Built-in types: sequences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childTnLst>
                          </p:cTn>
                        </p:par>
                      </p:childTnLst>
                    </p:cTn>
                  </p:par>
                  <p:par>
                    <p:cTn id="124" fill="hold">
                      <p:stCondLst>
                        <p:cond delay="indefinite"/>
                      </p:stCondLst>
                      <p:childTnLst>
                        <p:par>
                          <p:cTn id="125"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1</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basics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list type, its length and the positions of its items are the base of Chapter 6.</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Structure</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type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length</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Positions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Indexing</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Slicing</a:t>
            </a:r>
            <a:endParaRPr lang="en-US" sz="1200" dirty="0"/>
          </a:p>
        </p:txBody>
      </p:sp>
      <p:sp>
        <p:nvSpPr>
          <p:cNvPr id="16" name="x"/>
          <p:cNvSpPr/>
          <p:nvPr/>
        </p:nvSpPr>
        <p:spPr>
          <a:xfrm>
            <a:off x="548640" y="4572000"/>
            <a:ext cx="1267968" cy="64008"/>
          </a:xfrm>
          <a:prstGeom prst="rect">
            <a:avLst/>
          </a:prstGeom>
          <a:solidFill>
            <a:srgbClr val="FFD43B"/>
          </a:solidFill>
          <a:ln w="12700">
            <a:solidFill>
              <a:srgbClr val="FFD43B"/>
            </a:solidFill>
            <a:prstDash val="solid"/>
          </a:ln>
        </p:spPr>
      </p:sp>
      <p:sp>
        <p:nvSpPr>
          <p:cNvPr id="17" name="x"/>
          <p:cNvSpPr/>
          <p:nvPr/>
        </p:nvSpPr>
        <p:spPr>
          <a:xfrm>
            <a:off x="1889760" y="4572000"/>
            <a:ext cx="1267968" cy="64008"/>
          </a:xfrm>
          <a:prstGeom prst="rect">
            <a:avLst/>
          </a:prstGeom>
          <a:solidFill>
            <a:srgbClr val="4A5D75"/>
          </a:solidFill>
          <a:ln w="12700">
            <a:solidFill>
              <a:srgbClr val="4A5D75"/>
            </a:solidFill>
            <a:prstDash val="solid"/>
          </a:ln>
        </p:spPr>
      </p:sp>
      <p:sp>
        <p:nvSpPr>
          <p:cNvPr id="18" name="x"/>
          <p:cNvSpPr/>
          <p:nvPr/>
        </p:nvSpPr>
        <p:spPr>
          <a:xfrm>
            <a:off x="3230880" y="4572000"/>
            <a:ext cx="1267968" cy="64008"/>
          </a:xfrm>
          <a:prstGeom prst="rect">
            <a:avLst/>
          </a:prstGeom>
          <a:solidFill>
            <a:srgbClr val="4A5D75"/>
          </a:solidFill>
          <a:ln w="12700">
            <a:solidFill>
              <a:srgbClr val="4A5D75"/>
            </a:solidFill>
            <a:prstDash val="solid"/>
          </a:ln>
        </p:spPr>
      </p:sp>
      <p:sp>
        <p:nvSpPr>
          <p:cNvPr id="19" name="x"/>
          <p:cNvSpPr/>
          <p:nvPr/>
        </p:nvSpPr>
        <p:spPr>
          <a:xfrm>
            <a:off x="4572000" y="4572000"/>
            <a:ext cx="1267968" cy="64008"/>
          </a:xfrm>
          <a:prstGeom prst="rect">
            <a:avLst/>
          </a:prstGeom>
          <a:solidFill>
            <a:srgbClr val="4A5D75"/>
          </a:solidFill>
          <a:ln w="12700">
            <a:solidFill>
              <a:srgbClr val="4A5D75"/>
            </a:solidFill>
            <a:prstDash val="solid"/>
          </a:ln>
        </p:spPr>
      </p:sp>
      <p:sp>
        <p:nvSpPr>
          <p:cNvPr id="20" name="x"/>
          <p:cNvSpPr/>
          <p:nvPr/>
        </p:nvSpPr>
        <p:spPr>
          <a:xfrm>
            <a:off x="5913120" y="4572000"/>
            <a:ext cx="1267968" cy="64008"/>
          </a:xfrm>
          <a:prstGeom prst="rect">
            <a:avLst/>
          </a:prstGeom>
          <a:solidFill>
            <a:srgbClr val="4A5D75"/>
          </a:solidFill>
          <a:ln w="12700">
            <a:solidFill>
              <a:srgbClr val="4A5D75"/>
            </a:solidFill>
            <a:prstDash val="solid"/>
          </a:ln>
        </p:spPr>
      </p:sp>
      <p:sp>
        <p:nvSpPr>
          <p:cNvPr id="21"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list is a row of boxes, each with two numbers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Counted from the front (0, 1, 2 ...) and from the back (-1, -2 ...)</a:t>
            </a:r>
            <a:endParaRPr lang="en-US" sz="1400" dirty="0"/>
          </a:p>
        </p:txBody>
      </p:sp>
      <p:sp>
        <p:nvSpPr>
          <p:cNvPr id="6" name="v:Indexing: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ing:i0:box"/>
          <p:cNvSpPr/>
          <p:nvPr/>
        </p:nvSpPr>
        <p:spPr>
          <a:xfrm>
            <a:off x="457200" y="1426464"/>
            <a:ext cx="1234440" cy="502920"/>
          </a:xfrm>
          <a:prstGeom prst="roundRect">
            <a:avLst>
              <a:gd name="adj" fmla="val 10909"/>
            </a:avLst>
          </a:prstGeom>
          <a:solidFill>
            <a:srgbClr val="FFD43B"/>
          </a:solidFill>
          <a:ln w="22225">
            <a:solidFill>
              <a:srgbClr val="B7791F"/>
            </a:solidFill>
            <a:prstDash val="solid"/>
          </a:ln>
        </p:spPr>
      </p:sp>
      <p:sp>
        <p:nvSpPr>
          <p:cNvPr id="8" name="v:Indexing: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'cat'</a:t>
            </a:r>
            <a:endParaRPr lang="en-US" sz="1300" dirty="0"/>
          </a:p>
        </p:txBody>
      </p:sp>
      <p:sp>
        <p:nvSpPr>
          <p:cNvPr id="9" name="v:Indexing: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ing: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ing: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ing: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'bat'</a:t>
            </a:r>
            <a:endParaRPr lang="en-US" sz="1300" dirty="0"/>
          </a:p>
        </p:txBody>
      </p:sp>
      <p:sp>
        <p:nvSpPr>
          <p:cNvPr id="13" name="v:Indexing: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ing: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ing: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ing: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'rat'</a:t>
            </a:r>
            <a:endParaRPr lang="en-US" sz="1300" dirty="0"/>
          </a:p>
        </p:txBody>
      </p:sp>
      <p:sp>
        <p:nvSpPr>
          <p:cNvPr id="17" name="v:Indexing: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ing: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ing: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ing: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'elephant'</a:t>
            </a:r>
            <a:endParaRPr lang="en-US" sz="1300" dirty="0"/>
          </a:p>
        </p:txBody>
      </p:sp>
      <p:sp>
        <p:nvSpPr>
          <p:cNvPr id="21" name="v:Indexing: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ing: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spam[-1]  →  'elephant'</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ing:p2|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spam[-3]  →  'bat'</a:t>
            </a:r>
            <a:endParaRPr lang="en-US" sz="1200" dirty="0"/>
          </a:p>
        </p:txBody>
      </p:sp>
      <p:sp>
        <p:nvSpPr>
          <p:cNvPr id="26" name="arrow|b3"/>
          <p:cNvSpPr/>
          <p:nvPr/>
        </p:nvSpPr>
        <p:spPr>
          <a:xfrm>
            <a:off x="1074420" y="2203704"/>
            <a:ext cx="0" cy="731520"/>
          </a:xfrm>
          <a:prstGeom prst="line">
            <a:avLst/>
          </a:prstGeom>
          <a:noFill/>
          <a:ln w="22225">
            <a:solidFill>
              <a:srgbClr val="B7791F"/>
            </a:solidFill>
            <a:prstDash val="solid"/>
          </a:ln>
        </p:spPr>
      </p:sp>
      <p:sp>
        <p:nvSpPr>
          <p:cNvPr id="27" name="v:Indexing:p0|b3"/>
          <p:cNvSpPr txBox="1"/>
          <p:nvPr/>
        </p:nvSpPr>
        <p:spPr>
          <a:xfrm>
            <a:off x="1129284" y="280720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spam[0]  →  'cat'</a:t>
            </a:r>
            <a:endParaRPr lang="en-US" sz="1200" dirty="0"/>
          </a:p>
        </p:txBody>
      </p:sp>
      <p:sp>
        <p:nvSpPr>
          <p:cNvPr id="28"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9" name="v:Indexing: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30" name="v:Indexing: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spam[10000]  →  IndexError: list index out of range</a:t>
            </a:r>
            <a:endParaRPr lang="en-US" sz="1000" dirty="0"/>
          </a:p>
        </p:txBody>
      </p:sp>
      <p:sp>
        <p:nvSpPr>
          <p:cNvPr id="31" name="codecardbox|b5"/>
          <p:cNvSpPr/>
          <p:nvPr/>
        </p:nvSpPr>
        <p:spPr>
          <a:xfrm>
            <a:off x="457200" y="3200400"/>
            <a:ext cx="8229600" cy="1389888"/>
          </a:xfrm>
          <a:prstGeom prst="roundRect">
            <a:avLst>
              <a:gd name="adj" fmla="val 6579"/>
            </a:avLst>
          </a:prstGeom>
          <a:solidFill>
            <a:srgbClr val="17202B"/>
          </a:solidFill>
          <a:ln w="12700">
            <a:solidFill>
              <a:srgbClr val="17202B"/>
            </a:solidFill>
            <a:prstDash val="solid"/>
          </a:ln>
        </p:spPr>
      </p:sp>
      <p:sp>
        <p:nvSpPr>
          <p:cNvPr id="32" name="codecard|b5"/>
          <p:cNvSpPr txBox="1"/>
          <p:nvPr/>
        </p:nvSpPr>
        <p:spPr>
          <a:xfrm>
            <a:off x="621792" y="3273552"/>
            <a:ext cx="7900416" cy="1243584"/>
          </a:xfrm>
          <a:prstGeom prst="rect">
            <a:avLst/>
          </a:prstGeom>
          <a:noFill/>
          <a:ln/>
        </p:spPr>
        <p:txBody>
          <a:bodyPr wrap="square" lIns="0" tIns="0" rIns="0" bIns="0" rtlCol="0" anchor="t"/>
          <a:lstStyle/>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(spam[0], spam[-1], spam[-3], len(spam))</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('cat', 'elephant', 'bat', 4)</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spam[10000]</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IndexError: list index out of range</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[['cat', 'bat'], [10, 20, 30, 40, 50]][1][4]</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50</a:t>
            </a:r>
            <a:endParaRPr lang="en-US" sz="1050" dirty="0"/>
          </a:p>
        </p:txBody>
      </p:sp>
      <p:sp>
        <p:nvSpPr>
          <p:cNvPr id="3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List type, List length, Indexing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par>
                                <p:cTn id="30" presetID="10" presetClass="entr" presetSubtype="0" fill="hold"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400"/>
                                        <p:tgtEl>
                                          <p:spTgt spid="30"/>
                                        </p:tgtEl>
                                      </p:cBhvr>
                                    </p:animEffect>
                                  </p:childTnLst>
                                </p:cTn>
                              </p:par>
                            </p:childTnLst>
                          </p:cTn>
                        </p:par>
                      </p:childTnLst>
                    </p:cTn>
                  </p:par>
                  <p:par>
                    <p:cTn id="44" fill="hold">
                      <p:stCondLst>
                        <p:cond delay="indefinite"/>
                      </p:stCondLst>
                      <p:childTnLst>
                        <p:par>
                          <p:cTn id="45"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7" grpId="0" animBg="1"/>
      <p:bldP spid="30"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slice is a bracket over some of the boxes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slice is a new list; the original keeps all its items</a:t>
            </a:r>
            <a:endParaRPr lang="en-US" sz="1400" dirty="0"/>
          </a:p>
        </p:txBody>
      </p:sp>
      <p:sp>
        <p:nvSpPr>
          <p:cNvPr id="6" name="v:Slicing:hx0"/>
          <p:cNvSpPr txBox="1"/>
          <p:nvPr/>
        </p:nvSpPr>
        <p:spPr>
          <a:xfrm>
            <a:off x="1783080"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 name="v:Slicing:hx1"/>
          <p:cNvSpPr txBox="1"/>
          <p:nvPr/>
        </p:nvSpPr>
        <p:spPr>
          <a:xfrm>
            <a:off x="2724912"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1</a:t>
            </a:r>
            <a:endParaRPr lang="en-US" sz="1100" dirty="0"/>
          </a:p>
        </p:txBody>
      </p:sp>
      <p:sp>
        <p:nvSpPr>
          <p:cNvPr id="8" name="v:Slicing:hx2"/>
          <p:cNvSpPr txBox="1"/>
          <p:nvPr/>
        </p:nvSpPr>
        <p:spPr>
          <a:xfrm>
            <a:off x="3666744"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2</a:t>
            </a:r>
            <a:endParaRPr lang="en-US" sz="1100" dirty="0"/>
          </a:p>
        </p:txBody>
      </p:sp>
      <p:sp>
        <p:nvSpPr>
          <p:cNvPr id="9" name="v:Slicing:hx3"/>
          <p:cNvSpPr txBox="1"/>
          <p:nvPr/>
        </p:nvSpPr>
        <p:spPr>
          <a:xfrm>
            <a:off x="4608576"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3</a:t>
            </a:r>
            <a:endParaRPr lang="en-US" sz="1100" dirty="0"/>
          </a:p>
        </p:txBody>
      </p:sp>
      <p:sp>
        <p:nvSpPr>
          <p:cNvPr id="10" name="v:Slicing:e0x|b1"/>
          <p:cNvSpPr txBox="1"/>
          <p:nvPr/>
        </p:nvSpPr>
        <p:spPr>
          <a:xfrm>
            <a:off x="365760" y="1463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spam[1:3]</a:t>
            </a:r>
            <a:endParaRPr lang="en-US" sz="1300" dirty="0"/>
          </a:p>
        </p:txBody>
      </p:sp>
      <p:sp>
        <p:nvSpPr>
          <p:cNvPr id="11" name="v:Slicing:e0c0:box|b1"/>
          <p:cNvSpPr/>
          <p:nvPr/>
        </p:nvSpPr>
        <p:spPr>
          <a:xfrm>
            <a:off x="1783080" y="1463040"/>
            <a:ext cx="896112" cy="292608"/>
          </a:xfrm>
          <a:prstGeom prst="roundRect">
            <a:avLst>
              <a:gd name="adj" fmla="val 15625"/>
            </a:avLst>
          </a:prstGeom>
          <a:solidFill>
            <a:srgbClr val="F1F4F8"/>
          </a:solidFill>
          <a:ln w="12700">
            <a:solidFill>
              <a:srgbClr val="9AA8B8"/>
            </a:solidFill>
            <a:prstDash val="solid"/>
          </a:ln>
        </p:spPr>
      </p:sp>
      <p:sp>
        <p:nvSpPr>
          <p:cNvPr id="12" name="v:Slicing:e0c0|b1"/>
          <p:cNvSpPr txBox="1"/>
          <p:nvPr/>
        </p:nvSpPr>
        <p:spPr>
          <a:xfrm>
            <a:off x="1801368" y="14630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13" name="v:Slicing:e0c1:box|b1"/>
          <p:cNvSpPr/>
          <p:nvPr/>
        </p:nvSpPr>
        <p:spPr>
          <a:xfrm>
            <a:off x="2724912" y="1463040"/>
            <a:ext cx="896112" cy="292608"/>
          </a:xfrm>
          <a:prstGeom prst="roundRect">
            <a:avLst>
              <a:gd name="adj" fmla="val 15625"/>
            </a:avLst>
          </a:prstGeom>
          <a:solidFill>
            <a:srgbClr val="306998"/>
          </a:solidFill>
          <a:ln w="12700">
            <a:solidFill>
              <a:srgbClr val="306998"/>
            </a:solidFill>
            <a:prstDash val="solid"/>
          </a:ln>
        </p:spPr>
      </p:sp>
      <p:sp>
        <p:nvSpPr>
          <p:cNvPr id="14" name="v:Slicing:e0c1|b1"/>
          <p:cNvSpPr txBox="1"/>
          <p:nvPr/>
        </p:nvSpPr>
        <p:spPr>
          <a:xfrm>
            <a:off x="2743200"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15" name="v:Slicing:e0c2:box|b1"/>
          <p:cNvSpPr/>
          <p:nvPr/>
        </p:nvSpPr>
        <p:spPr>
          <a:xfrm>
            <a:off x="3666744" y="1463040"/>
            <a:ext cx="896112" cy="292608"/>
          </a:xfrm>
          <a:prstGeom prst="roundRect">
            <a:avLst>
              <a:gd name="adj" fmla="val 15625"/>
            </a:avLst>
          </a:prstGeom>
          <a:solidFill>
            <a:srgbClr val="306998"/>
          </a:solidFill>
          <a:ln w="12700">
            <a:solidFill>
              <a:srgbClr val="306998"/>
            </a:solidFill>
            <a:prstDash val="solid"/>
          </a:ln>
        </p:spPr>
      </p:sp>
      <p:sp>
        <p:nvSpPr>
          <p:cNvPr id="16" name="v:Slicing:e0c2|b1"/>
          <p:cNvSpPr txBox="1"/>
          <p:nvPr/>
        </p:nvSpPr>
        <p:spPr>
          <a:xfrm>
            <a:off x="3685032"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17" name="v:Slicing:e0c3:box|b1"/>
          <p:cNvSpPr/>
          <p:nvPr/>
        </p:nvSpPr>
        <p:spPr>
          <a:xfrm>
            <a:off x="4608576" y="1463040"/>
            <a:ext cx="896112" cy="292608"/>
          </a:xfrm>
          <a:prstGeom prst="roundRect">
            <a:avLst>
              <a:gd name="adj" fmla="val 15625"/>
            </a:avLst>
          </a:prstGeom>
          <a:solidFill>
            <a:srgbClr val="F1F4F8"/>
          </a:solidFill>
          <a:ln w="12700">
            <a:solidFill>
              <a:srgbClr val="9AA8B8"/>
            </a:solidFill>
            <a:prstDash val="solid"/>
          </a:ln>
        </p:spPr>
      </p:sp>
      <p:sp>
        <p:nvSpPr>
          <p:cNvPr id="18" name="v:Slicing:e0c3|b1"/>
          <p:cNvSpPr txBox="1"/>
          <p:nvPr/>
        </p:nvSpPr>
        <p:spPr>
          <a:xfrm>
            <a:off x="4626864" y="14630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19" name="arrow|b1"/>
          <p:cNvSpPr/>
          <p:nvPr/>
        </p:nvSpPr>
        <p:spPr>
          <a:xfrm>
            <a:off x="2724912" y="1792224"/>
            <a:ext cx="1837944" cy="0"/>
          </a:xfrm>
          <a:prstGeom prst="line">
            <a:avLst/>
          </a:prstGeom>
          <a:noFill/>
          <a:ln w="31750">
            <a:solidFill>
              <a:srgbClr val="2E9E5B"/>
            </a:solidFill>
            <a:prstDash val="solid"/>
          </a:ln>
        </p:spPr>
      </p:sp>
      <p:sp>
        <p:nvSpPr>
          <p:cNvPr id="20" name="v:Slicing:e0r|b1"/>
          <p:cNvSpPr txBox="1"/>
          <p:nvPr/>
        </p:nvSpPr>
        <p:spPr>
          <a:xfrm>
            <a:off x="5660136" y="1435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a:t>
            </a:r>
            <a:endParaRPr lang="en-US" sz="1200" dirty="0"/>
          </a:p>
        </p:txBody>
      </p:sp>
      <p:sp>
        <p:nvSpPr>
          <p:cNvPr id="21" name="v:Slicing:e0p|b1"/>
          <p:cNvSpPr txBox="1"/>
          <p:nvPr/>
        </p:nvSpPr>
        <p:spPr>
          <a:xfrm>
            <a:off x="5660136" y="1664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a:t>
            </a:r>
            <a:endParaRPr lang="en-US" sz="1000" dirty="0"/>
          </a:p>
        </p:txBody>
      </p:sp>
      <p:sp>
        <p:nvSpPr>
          <p:cNvPr id="22" name="v:Slicing:e1x|b2"/>
          <p:cNvSpPr txBox="1"/>
          <p:nvPr/>
        </p:nvSpPr>
        <p:spPr>
          <a:xfrm>
            <a:off x="365760" y="19202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23" name="v:Slicing:e1c0:box|b2"/>
          <p:cNvSpPr/>
          <p:nvPr/>
        </p:nvSpPr>
        <p:spPr>
          <a:xfrm>
            <a:off x="1783080" y="1920240"/>
            <a:ext cx="896112" cy="292608"/>
          </a:xfrm>
          <a:prstGeom prst="roundRect">
            <a:avLst>
              <a:gd name="adj" fmla="val 15625"/>
            </a:avLst>
          </a:prstGeom>
          <a:solidFill>
            <a:srgbClr val="306998"/>
          </a:solidFill>
          <a:ln w="12700">
            <a:solidFill>
              <a:srgbClr val="306998"/>
            </a:solidFill>
            <a:prstDash val="solid"/>
          </a:ln>
        </p:spPr>
      </p:sp>
      <p:sp>
        <p:nvSpPr>
          <p:cNvPr id="24" name="v:Slicing:e1c0|b2"/>
          <p:cNvSpPr txBox="1"/>
          <p:nvPr/>
        </p:nvSpPr>
        <p:spPr>
          <a:xfrm>
            <a:off x="1801368"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25" name="v:Slicing:e1c1:box|b2"/>
          <p:cNvSpPr/>
          <p:nvPr/>
        </p:nvSpPr>
        <p:spPr>
          <a:xfrm>
            <a:off x="2724912" y="1920240"/>
            <a:ext cx="896112" cy="292608"/>
          </a:xfrm>
          <a:prstGeom prst="roundRect">
            <a:avLst>
              <a:gd name="adj" fmla="val 15625"/>
            </a:avLst>
          </a:prstGeom>
          <a:solidFill>
            <a:srgbClr val="306998"/>
          </a:solidFill>
          <a:ln w="12700">
            <a:solidFill>
              <a:srgbClr val="306998"/>
            </a:solidFill>
            <a:prstDash val="solid"/>
          </a:ln>
        </p:spPr>
      </p:sp>
      <p:sp>
        <p:nvSpPr>
          <p:cNvPr id="26" name="v:Slicing:e1c1|b2"/>
          <p:cNvSpPr txBox="1"/>
          <p:nvPr/>
        </p:nvSpPr>
        <p:spPr>
          <a:xfrm>
            <a:off x="2743200"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27" name="v:Slicing:e1c2:box|b2"/>
          <p:cNvSpPr/>
          <p:nvPr/>
        </p:nvSpPr>
        <p:spPr>
          <a:xfrm>
            <a:off x="3666744" y="1920240"/>
            <a:ext cx="896112" cy="292608"/>
          </a:xfrm>
          <a:prstGeom prst="roundRect">
            <a:avLst>
              <a:gd name="adj" fmla="val 15625"/>
            </a:avLst>
          </a:prstGeom>
          <a:solidFill>
            <a:srgbClr val="F1F4F8"/>
          </a:solidFill>
          <a:ln w="12700">
            <a:solidFill>
              <a:srgbClr val="9AA8B8"/>
            </a:solidFill>
            <a:prstDash val="solid"/>
          </a:ln>
        </p:spPr>
      </p:sp>
      <p:sp>
        <p:nvSpPr>
          <p:cNvPr id="28" name="v:Slicing:e1c2|b2"/>
          <p:cNvSpPr txBox="1"/>
          <p:nvPr/>
        </p:nvSpPr>
        <p:spPr>
          <a:xfrm>
            <a:off x="3685032" y="19202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'rat'</a:t>
            </a:r>
            <a:endParaRPr lang="en-US" sz="1050" dirty="0"/>
          </a:p>
        </p:txBody>
      </p:sp>
      <p:sp>
        <p:nvSpPr>
          <p:cNvPr id="29" name="v:Slicing:e1c3:box|b2"/>
          <p:cNvSpPr/>
          <p:nvPr/>
        </p:nvSpPr>
        <p:spPr>
          <a:xfrm>
            <a:off x="4608576" y="1920240"/>
            <a:ext cx="896112" cy="292608"/>
          </a:xfrm>
          <a:prstGeom prst="roundRect">
            <a:avLst>
              <a:gd name="adj" fmla="val 15625"/>
            </a:avLst>
          </a:prstGeom>
          <a:solidFill>
            <a:srgbClr val="F1F4F8"/>
          </a:solidFill>
          <a:ln w="12700">
            <a:solidFill>
              <a:srgbClr val="9AA8B8"/>
            </a:solidFill>
            <a:prstDash val="solid"/>
          </a:ln>
        </p:spPr>
      </p:sp>
      <p:sp>
        <p:nvSpPr>
          <p:cNvPr id="30" name="v:Slicing:e1c3|b2"/>
          <p:cNvSpPr txBox="1"/>
          <p:nvPr/>
        </p:nvSpPr>
        <p:spPr>
          <a:xfrm>
            <a:off x="4626864" y="19202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31" name="arrow|b2"/>
          <p:cNvSpPr/>
          <p:nvPr/>
        </p:nvSpPr>
        <p:spPr>
          <a:xfrm>
            <a:off x="1783080" y="2249424"/>
            <a:ext cx="1837944" cy="0"/>
          </a:xfrm>
          <a:prstGeom prst="line">
            <a:avLst/>
          </a:prstGeom>
          <a:noFill/>
          <a:ln w="31750">
            <a:solidFill>
              <a:srgbClr val="2E9E5B"/>
            </a:solidFill>
            <a:prstDash val="solid"/>
          </a:ln>
        </p:spPr>
      </p:sp>
      <p:sp>
        <p:nvSpPr>
          <p:cNvPr id="32" name="v:Slicing:e1r|b2"/>
          <p:cNvSpPr txBox="1"/>
          <p:nvPr/>
        </p:nvSpPr>
        <p:spPr>
          <a:xfrm>
            <a:off x="5660136" y="18928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'bat']</a:t>
            </a:r>
            <a:endParaRPr lang="en-US" sz="1200" dirty="0"/>
          </a:p>
        </p:txBody>
      </p:sp>
      <p:sp>
        <p:nvSpPr>
          <p:cNvPr id="33" name="v:Slicing:e1p|b2"/>
          <p:cNvSpPr txBox="1"/>
          <p:nvPr/>
        </p:nvSpPr>
        <p:spPr>
          <a:xfrm>
            <a:off x="5660136" y="21214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1</a:t>
            </a:r>
            <a:endParaRPr lang="en-US" sz="1000" dirty="0"/>
          </a:p>
        </p:txBody>
      </p:sp>
      <p:sp>
        <p:nvSpPr>
          <p:cNvPr id="34" name="v:Slicing:e2x|b3"/>
          <p:cNvSpPr txBox="1"/>
          <p:nvPr/>
        </p:nvSpPr>
        <p:spPr>
          <a:xfrm>
            <a:off x="365760" y="23774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35" name="v:Slicing:e2c0:box|b3"/>
          <p:cNvSpPr/>
          <p:nvPr/>
        </p:nvSpPr>
        <p:spPr>
          <a:xfrm>
            <a:off x="1783080" y="2377440"/>
            <a:ext cx="896112" cy="292608"/>
          </a:xfrm>
          <a:prstGeom prst="roundRect">
            <a:avLst>
              <a:gd name="adj" fmla="val 15625"/>
            </a:avLst>
          </a:prstGeom>
          <a:solidFill>
            <a:srgbClr val="F1F4F8"/>
          </a:solidFill>
          <a:ln w="12700">
            <a:solidFill>
              <a:srgbClr val="9AA8B8"/>
            </a:solidFill>
            <a:prstDash val="solid"/>
          </a:ln>
        </p:spPr>
      </p:sp>
      <p:sp>
        <p:nvSpPr>
          <p:cNvPr id="36" name="v:Slicing:e2c0|b3"/>
          <p:cNvSpPr txBox="1"/>
          <p:nvPr/>
        </p:nvSpPr>
        <p:spPr>
          <a:xfrm>
            <a:off x="1801368" y="23774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37" name="v:Slicing:e2c1:box|b3"/>
          <p:cNvSpPr/>
          <p:nvPr/>
        </p:nvSpPr>
        <p:spPr>
          <a:xfrm>
            <a:off x="2724912" y="2377440"/>
            <a:ext cx="896112" cy="292608"/>
          </a:xfrm>
          <a:prstGeom prst="roundRect">
            <a:avLst>
              <a:gd name="adj" fmla="val 15625"/>
            </a:avLst>
          </a:prstGeom>
          <a:solidFill>
            <a:srgbClr val="306998"/>
          </a:solidFill>
          <a:ln w="12700">
            <a:solidFill>
              <a:srgbClr val="306998"/>
            </a:solidFill>
            <a:prstDash val="solid"/>
          </a:ln>
        </p:spPr>
      </p:sp>
      <p:sp>
        <p:nvSpPr>
          <p:cNvPr id="38" name="v:Slicing:e2c1|b3"/>
          <p:cNvSpPr txBox="1"/>
          <p:nvPr/>
        </p:nvSpPr>
        <p:spPr>
          <a:xfrm>
            <a:off x="2743200"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39" name="v:Slicing:e2c2:box|b3"/>
          <p:cNvSpPr/>
          <p:nvPr/>
        </p:nvSpPr>
        <p:spPr>
          <a:xfrm>
            <a:off x="3666744" y="2377440"/>
            <a:ext cx="896112" cy="292608"/>
          </a:xfrm>
          <a:prstGeom prst="roundRect">
            <a:avLst>
              <a:gd name="adj" fmla="val 15625"/>
            </a:avLst>
          </a:prstGeom>
          <a:solidFill>
            <a:srgbClr val="306998"/>
          </a:solidFill>
          <a:ln w="12700">
            <a:solidFill>
              <a:srgbClr val="306998"/>
            </a:solidFill>
            <a:prstDash val="solid"/>
          </a:ln>
        </p:spPr>
      </p:sp>
      <p:sp>
        <p:nvSpPr>
          <p:cNvPr id="40" name="v:Slicing:e2c2|b3"/>
          <p:cNvSpPr txBox="1"/>
          <p:nvPr/>
        </p:nvSpPr>
        <p:spPr>
          <a:xfrm>
            <a:off x="3685032"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41" name="v:Slicing:e2c3:box|b3"/>
          <p:cNvSpPr/>
          <p:nvPr/>
        </p:nvSpPr>
        <p:spPr>
          <a:xfrm>
            <a:off x="4608576" y="2377440"/>
            <a:ext cx="896112" cy="292608"/>
          </a:xfrm>
          <a:prstGeom prst="roundRect">
            <a:avLst>
              <a:gd name="adj" fmla="val 15625"/>
            </a:avLst>
          </a:prstGeom>
          <a:solidFill>
            <a:srgbClr val="306998"/>
          </a:solidFill>
          <a:ln w="12700">
            <a:solidFill>
              <a:srgbClr val="306998"/>
            </a:solidFill>
            <a:prstDash val="solid"/>
          </a:ln>
        </p:spPr>
      </p:sp>
      <p:sp>
        <p:nvSpPr>
          <p:cNvPr id="42" name="v:Slicing:e2c3|b3"/>
          <p:cNvSpPr txBox="1"/>
          <p:nvPr/>
        </p:nvSpPr>
        <p:spPr>
          <a:xfrm>
            <a:off x="4626864" y="23774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43" name="arrow|b3"/>
          <p:cNvSpPr/>
          <p:nvPr/>
        </p:nvSpPr>
        <p:spPr>
          <a:xfrm>
            <a:off x="2724912" y="2706624"/>
            <a:ext cx="2779776" cy="0"/>
          </a:xfrm>
          <a:prstGeom prst="line">
            <a:avLst/>
          </a:prstGeom>
          <a:noFill/>
          <a:ln w="31750">
            <a:solidFill>
              <a:srgbClr val="2E9E5B"/>
            </a:solidFill>
            <a:prstDash val="solid"/>
          </a:ln>
        </p:spPr>
      </p:sp>
      <p:sp>
        <p:nvSpPr>
          <p:cNvPr id="44" name="v:Slicing:e2r|b3"/>
          <p:cNvSpPr txBox="1"/>
          <p:nvPr/>
        </p:nvSpPr>
        <p:spPr>
          <a:xfrm>
            <a:off x="5660136" y="23500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45" name="v:Slicing:e2p|b3"/>
          <p:cNvSpPr txBox="1"/>
          <p:nvPr/>
        </p:nvSpPr>
        <p:spPr>
          <a:xfrm>
            <a:off x="5660136" y="25786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46" name="v:Slicing:e3x|b4"/>
          <p:cNvSpPr txBox="1"/>
          <p:nvPr/>
        </p:nvSpPr>
        <p:spPr>
          <a:xfrm>
            <a:off x="365760" y="28346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spam[1:10]</a:t>
            </a:r>
            <a:endParaRPr lang="en-US" sz="1300" dirty="0"/>
          </a:p>
        </p:txBody>
      </p:sp>
      <p:sp>
        <p:nvSpPr>
          <p:cNvPr id="47" name="v:Slicing:e3c0:box|b4"/>
          <p:cNvSpPr/>
          <p:nvPr/>
        </p:nvSpPr>
        <p:spPr>
          <a:xfrm>
            <a:off x="1783080" y="2834640"/>
            <a:ext cx="896112" cy="292608"/>
          </a:xfrm>
          <a:prstGeom prst="roundRect">
            <a:avLst>
              <a:gd name="adj" fmla="val 15625"/>
            </a:avLst>
          </a:prstGeom>
          <a:solidFill>
            <a:srgbClr val="F1F4F8"/>
          </a:solidFill>
          <a:ln w="12700">
            <a:solidFill>
              <a:srgbClr val="9AA8B8"/>
            </a:solidFill>
            <a:prstDash val="solid"/>
          </a:ln>
        </p:spPr>
      </p:sp>
      <p:sp>
        <p:nvSpPr>
          <p:cNvPr id="48" name="v:Slicing:e3c0|b4"/>
          <p:cNvSpPr txBox="1"/>
          <p:nvPr/>
        </p:nvSpPr>
        <p:spPr>
          <a:xfrm>
            <a:off x="1801368" y="28346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49" name="v:Slicing:e3c1:box|b4"/>
          <p:cNvSpPr/>
          <p:nvPr/>
        </p:nvSpPr>
        <p:spPr>
          <a:xfrm>
            <a:off x="2724912" y="2834640"/>
            <a:ext cx="896112" cy="292608"/>
          </a:xfrm>
          <a:prstGeom prst="roundRect">
            <a:avLst>
              <a:gd name="adj" fmla="val 15625"/>
            </a:avLst>
          </a:prstGeom>
          <a:solidFill>
            <a:srgbClr val="306998"/>
          </a:solidFill>
          <a:ln w="12700">
            <a:solidFill>
              <a:srgbClr val="306998"/>
            </a:solidFill>
            <a:prstDash val="solid"/>
          </a:ln>
        </p:spPr>
      </p:sp>
      <p:sp>
        <p:nvSpPr>
          <p:cNvPr id="50" name="v:Slicing:e3c1|b4"/>
          <p:cNvSpPr txBox="1"/>
          <p:nvPr/>
        </p:nvSpPr>
        <p:spPr>
          <a:xfrm>
            <a:off x="2743200"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51" name="v:Slicing:e3c2:box|b4"/>
          <p:cNvSpPr/>
          <p:nvPr/>
        </p:nvSpPr>
        <p:spPr>
          <a:xfrm>
            <a:off x="3666744" y="2834640"/>
            <a:ext cx="896112" cy="292608"/>
          </a:xfrm>
          <a:prstGeom prst="roundRect">
            <a:avLst>
              <a:gd name="adj" fmla="val 15625"/>
            </a:avLst>
          </a:prstGeom>
          <a:solidFill>
            <a:srgbClr val="306998"/>
          </a:solidFill>
          <a:ln w="12700">
            <a:solidFill>
              <a:srgbClr val="306998"/>
            </a:solidFill>
            <a:prstDash val="solid"/>
          </a:ln>
        </p:spPr>
      </p:sp>
      <p:sp>
        <p:nvSpPr>
          <p:cNvPr id="52" name="v:Slicing:e3c2|b4"/>
          <p:cNvSpPr txBox="1"/>
          <p:nvPr/>
        </p:nvSpPr>
        <p:spPr>
          <a:xfrm>
            <a:off x="3685032"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53" name="v:Slicing:e3c3:box|b4"/>
          <p:cNvSpPr/>
          <p:nvPr/>
        </p:nvSpPr>
        <p:spPr>
          <a:xfrm>
            <a:off x="4608576" y="2834640"/>
            <a:ext cx="896112" cy="292608"/>
          </a:xfrm>
          <a:prstGeom prst="roundRect">
            <a:avLst>
              <a:gd name="adj" fmla="val 15625"/>
            </a:avLst>
          </a:prstGeom>
          <a:solidFill>
            <a:srgbClr val="306998"/>
          </a:solidFill>
          <a:ln w="12700">
            <a:solidFill>
              <a:srgbClr val="306998"/>
            </a:solidFill>
            <a:prstDash val="solid"/>
          </a:ln>
        </p:spPr>
      </p:sp>
      <p:sp>
        <p:nvSpPr>
          <p:cNvPr id="54" name="v:Slicing:e3c3|b4"/>
          <p:cNvSpPr txBox="1"/>
          <p:nvPr/>
        </p:nvSpPr>
        <p:spPr>
          <a:xfrm>
            <a:off x="4626864" y="28346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55" name="arrow|b4"/>
          <p:cNvSpPr/>
          <p:nvPr/>
        </p:nvSpPr>
        <p:spPr>
          <a:xfrm>
            <a:off x="2724912" y="3163824"/>
            <a:ext cx="2779776" cy="0"/>
          </a:xfrm>
          <a:prstGeom prst="line">
            <a:avLst/>
          </a:prstGeom>
          <a:noFill/>
          <a:ln w="31750">
            <a:solidFill>
              <a:srgbClr val="2E9E5B"/>
            </a:solidFill>
            <a:prstDash val="solid"/>
          </a:ln>
        </p:spPr>
      </p:sp>
      <p:sp>
        <p:nvSpPr>
          <p:cNvPr id="56" name="v:Slicing:e3r|b4"/>
          <p:cNvSpPr txBox="1"/>
          <p:nvPr/>
        </p:nvSpPr>
        <p:spPr>
          <a:xfrm>
            <a:off x="5660136" y="28072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57" name="v:Slicing:e3p|b4"/>
          <p:cNvSpPr txBox="1"/>
          <p:nvPr/>
        </p:nvSpPr>
        <p:spPr>
          <a:xfrm>
            <a:off x="5660136" y="30358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58" name="v:Slicing:e4x|b5"/>
          <p:cNvSpPr txBox="1"/>
          <p:nvPr/>
        </p:nvSpPr>
        <p:spPr>
          <a:xfrm>
            <a:off x="365760" y="32918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59" name="v:Slicing:e4c0:box|b5"/>
          <p:cNvSpPr/>
          <p:nvPr/>
        </p:nvSpPr>
        <p:spPr>
          <a:xfrm>
            <a:off x="1783080" y="3291840"/>
            <a:ext cx="896112" cy="292608"/>
          </a:xfrm>
          <a:prstGeom prst="roundRect">
            <a:avLst>
              <a:gd name="adj" fmla="val 15625"/>
            </a:avLst>
          </a:prstGeom>
          <a:solidFill>
            <a:srgbClr val="306998"/>
          </a:solidFill>
          <a:ln w="12700">
            <a:solidFill>
              <a:srgbClr val="306998"/>
            </a:solidFill>
            <a:prstDash val="solid"/>
          </a:ln>
        </p:spPr>
      </p:sp>
      <p:sp>
        <p:nvSpPr>
          <p:cNvPr id="60" name="v:Slicing:e4c0|b5"/>
          <p:cNvSpPr txBox="1"/>
          <p:nvPr/>
        </p:nvSpPr>
        <p:spPr>
          <a:xfrm>
            <a:off x="1801368"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61" name="v:Slicing:e4c1:box|b5"/>
          <p:cNvSpPr/>
          <p:nvPr/>
        </p:nvSpPr>
        <p:spPr>
          <a:xfrm>
            <a:off x="2724912" y="3291840"/>
            <a:ext cx="896112" cy="292608"/>
          </a:xfrm>
          <a:prstGeom prst="roundRect">
            <a:avLst>
              <a:gd name="adj" fmla="val 15625"/>
            </a:avLst>
          </a:prstGeom>
          <a:solidFill>
            <a:srgbClr val="F1F4F8"/>
          </a:solidFill>
          <a:ln w="12700">
            <a:solidFill>
              <a:srgbClr val="9AA8B8"/>
            </a:solidFill>
            <a:prstDash val="solid"/>
          </a:ln>
        </p:spPr>
      </p:sp>
      <p:sp>
        <p:nvSpPr>
          <p:cNvPr id="62" name="v:Slicing:e4c1|b5"/>
          <p:cNvSpPr txBox="1"/>
          <p:nvPr/>
        </p:nvSpPr>
        <p:spPr>
          <a:xfrm>
            <a:off x="2743200" y="32918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'bat'</a:t>
            </a:r>
            <a:endParaRPr lang="en-US" sz="1050" dirty="0"/>
          </a:p>
        </p:txBody>
      </p:sp>
      <p:sp>
        <p:nvSpPr>
          <p:cNvPr id="63" name="v:Slicing:e4c2:box|b5"/>
          <p:cNvSpPr/>
          <p:nvPr/>
        </p:nvSpPr>
        <p:spPr>
          <a:xfrm>
            <a:off x="3666744" y="3291840"/>
            <a:ext cx="896112" cy="292608"/>
          </a:xfrm>
          <a:prstGeom prst="roundRect">
            <a:avLst>
              <a:gd name="adj" fmla="val 15625"/>
            </a:avLst>
          </a:prstGeom>
          <a:solidFill>
            <a:srgbClr val="306998"/>
          </a:solidFill>
          <a:ln w="12700">
            <a:solidFill>
              <a:srgbClr val="306998"/>
            </a:solidFill>
            <a:prstDash val="solid"/>
          </a:ln>
        </p:spPr>
      </p:sp>
      <p:sp>
        <p:nvSpPr>
          <p:cNvPr id="64" name="v:Slicing:e4c2|b5"/>
          <p:cNvSpPr txBox="1"/>
          <p:nvPr/>
        </p:nvSpPr>
        <p:spPr>
          <a:xfrm>
            <a:off x="3685032"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65" name="v:Slicing:e4c3:box|b5"/>
          <p:cNvSpPr/>
          <p:nvPr/>
        </p:nvSpPr>
        <p:spPr>
          <a:xfrm>
            <a:off x="4608576" y="3291840"/>
            <a:ext cx="896112" cy="292608"/>
          </a:xfrm>
          <a:prstGeom prst="roundRect">
            <a:avLst>
              <a:gd name="adj" fmla="val 15625"/>
            </a:avLst>
          </a:prstGeom>
          <a:solidFill>
            <a:srgbClr val="F1F4F8"/>
          </a:solidFill>
          <a:ln w="12700">
            <a:solidFill>
              <a:srgbClr val="9AA8B8"/>
            </a:solidFill>
            <a:prstDash val="solid"/>
          </a:ln>
        </p:spPr>
      </p:sp>
      <p:sp>
        <p:nvSpPr>
          <p:cNvPr id="66" name="v:Slicing:e4c3|b5"/>
          <p:cNvSpPr txBox="1"/>
          <p:nvPr/>
        </p:nvSpPr>
        <p:spPr>
          <a:xfrm>
            <a:off x="4626864" y="32918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67" name="arrow|b5"/>
          <p:cNvSpPr/>
          <p:nvPr/>
        </p:nvSpPr>
        <p:spPr>
          <a:xfrm>
            <a:off x="1920240" y="3621024"/>
            <a:ext cx="621792" cy="0"/>
          </a:xfrm>
          <a:prstGeom prst="line">
            <a:avLst/>
          </a:prstGeom>
          <a:noFill/>
          <a:ln w="31750">
            <a:solidFill>
              <a:srgbClr val="2E9E5B"/>
            </a:solidFill>
            <a:prstDash val="solid"/>
          </a:ln>
        </p:spPr>
      </p:sp>
      <p:sp>
        <p:nvSpPr>
          <p:cNvPr id="68" name="arrow|b5"/>
          <p:cNvSpPr/>
          <p:nvPr/>
        </p:nvSpPr>
        <p:spPr>
          <a:xfrm>
            <a:off x="3803904" y="3621024"/>
            <a:ext cx="621792" cy="0"/>
          </a:xfrm>
          <a:prstGeom prst="line">
            <a:avLst/>
          </a:prstGeom>
          <a:noFill/>
          <a:ln w="31750">
            <a:solidFill>
              <a:srgbClr val="2E9E5B"/>
            </a:solidFill>
            <a:prstDash val="solid"/>
          </a:ln>
        </p:spPr>
      </p:sp>
      <p:sp>
        <p:nvSpPr>
          <p:cNvPr id="69" name="v:Slicing:e4r|b5"/>
          <p:cNvSpPr txBox="1"/>
          <p:nvPr/>
        </p:nvSpPr>
        <p:spPr>
          <a:xfrm>
            <a:off x="5660136" y="32644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'rat']</a:t>
            </a:r>
            <a:endParaRPr lang="en-US" sz="1200" dirty="0"/>
          </a:p>
        </p:txBody>
      </p:sp>
      <p:sp>
        <p:nvSpPr>
          <p:cNvPr id="70" name="v:Slicing:e4p|b5"/>
          <p:cNvSpPr txBox="1"/>
          <p:nvPr/>
        </p:nvSpPr>
        <p:spPr>
          <a:xfrm>
            <a:off x="5660136" y="34930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2</a:t>
            </a:r>
            <a:endParaRPr lang="en-US" sz="1000" dirty="0"/>
          </a:p>
        </p:txBody>
      </p:sp>
      <p:sp>
        <p:nvSpPr>
          <p:cNvPr id="71" name="v:Slicing:e5x|b6"/>
          <p:cNvSpPr txBox="1"/>
          <p:nvPr/>
        </p:nvSpPr>
        <p:spPr>
          <a:xfrm>
            <a:off x="365760" y="3749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72" name="v:Slicing:e5c0:box|b6"/>
          <p:cNvSpPr/>
          <p:nvPr/>
        </p:nvSpPr>
        <p:spPr>
          <a:xfrm>
            <a:off x="1783080" y="3749040"/>
            <a:ext cx="896112" cy="292608"/>
          </a:xfrm>
          <a:prstGeom prst="roundRect">
            <a:avLst>
              <a:gd name="adj" fmla="val 15625"/>
            </a:avLst>
          </a:prstGeom>
          <a:solidFill>
            <a:srgbClr val="306998"/>
          </a:solidFill>
          <a:ln w="12700">
            <a:solidFill>
              <a:srgbClr val="306998"/>
            </a:solidFill>
            <a:prstDash val="solid"/>
          </a:ln>
        </p:spPr>
      </p:sp>
      <p:sp>
        <p:nvSpPr>
          <p:cNvPr id="73" name="v:Slicing:e5c0|b6"/>
          <p:cNvSpPr txBox="1"/>
          <p:nvPr/>
        </p:nvSpPr>
        <p:spPr>
          <a:xfrm>
            <a:off x="1801368"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74" name="v:Slicing:e5c1:box|b6"/>
          <p:cNvSpPr/>
          <p:nvPr/>
        </p:nvSpPr>
        <p:spPr>
          <a:xfrm>
            <a:off x="2724912" y="3749040"/>
            <a:ext cx="896112" cy="292608"/>
          </a:xfrm>
          <a:prstGeom prst="roundRect">
            <a:avLst>
              <a:gd name="adj" fmla="val 15625"/>
            </a:avLst>
          </a:prstGeom>
          <a:solidFill>
            <a:srgbClr val="306998"/>
          </a:solidFill>
          <a:ln w="12700">
            <a:solidFill>
              <a:srgbClr val="306998"/>
            </a:solidFill>
            <a:prstDash val="solid"/>
          </a:ln>
        </p:spPr>
      </p:sp>
      <p:sp>
        <p:nvSpPr>
          <p:cNvPr id="75" name="v:Slicing:e5c1|b6"/>
          <p:cNvSpPr txBox="1"/>
          <p:nvPr/>
        </p:nvSpPr>
        <p:spPr>
          <a:xfrm>
            <a:off x="2743200"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76" name="v:Slicing:e5c2:box|b6"/>
          <p:cNvSpPr/>
          <p:nvPr/>
        </p:nvSpPr>
        <p:spPr>
          <a:xfrm>
            <a:off x="3666744" y="3749040"/>
            <a:ext cx="896112" cy="292608"/>
          </a:xfrm>
          <a:prstGeom prst="roundRect">
            <a:avLst>
              <a:gd name="adj" fmla="val 15625"/>
            </a:avLst>
          </a:prstGeom>
          <a:solidFill>
            <a:srgbClr val="306998"/>
          </a:solidFill>
          <a:ln w="12700">
            <a:solidFill>
              <a:srgbClr val="306998"/>
            </a:solidFill>
            <a:prstDash val="solid"/>
          </a:ln>
        </p:spPr>
      </p:sp>
      <p:sp>
        <p:nvSpPr>
          <p:cNvPr id="77" name="v:Slicing:e5c2|b6"/>
          <p:cNvSpPr txBox="1"/>
          <p:nvPr/>
        </p:nvSpPr>
        <p:spPr>
          <a:xfrm>
            <a:off x="3685032"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78" name="v:Slicing:e5c3:box|b6"/>
          <p:cNvSpPr/>
          <p:nvPr/>
        </p:nvSpPr>
        <p:spPr>
          <a:xfrm>
            <a:off x="4608576" y="3749040"/>
            <a:ext cx="896112" cy="292608"/>
          </a:xfrm>
          <a:prstGeom prst="roundRect">
            <a:avLst>
              <a:gd name="adj" fmla="val 15625"/>
            </a:avLst>
          </a:prstGeom>
          <a:solidFill>
            <a:srgbClr val="306998"/>
          </a:solidFill>
          <a:ln w="12700">
            <a:solidFill>
              <a:srgbClr val="306998"/>
            </a:solidFill>
            <a:prstDash val="solid"/>
          </a:ln>
        </p:spPr>
      </p:sp>
      <p:sp>
        <p:nvSpPr>
          <p:cNvPr id="79" name="v:Slicing:e5c3|b6"/>
          <p:cNvSpPr txBox="1"/>
          <p:nvPr/>
        </p:nvSpPr>
        <p:spPr>
          <a:xfrm>
            <a:off x="4626864" y="37490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80" name="arrow|b6"/>
          <p:cNvSpPr/>
          <p:nvPr/>
        </p:nvSpPr>
        <p:spPr>
          <a:xfrm>
            <a:off x="4745736" y="4078224"/>
            <a:ext cx="621792" cy="0"/>
          </a:xfrm>
          <a:prstGeom prst="line">
            <a:avLst/>
          </a:prstGeom>
          <a:noFill/>
          <a:ln w="31750">
            <a:solidFill>
              <a:srgbClr val="2E9E5B"/>
            </a:solidFill>
            <a:prstDash val="solid"/>
          </a:ln>
        </p:spPr>
      </p:sp>
      <p:sp>
        <p:nvSpPr>
          <p:cNvPr id="81" name="arrow|b6"/>
          <p:cNvSpPr/>
          <p:nvPr/>
        </p:nvSpPr>
        <p:spPr>
          <a:xfrm>
            <a:off x="3803904" y="4078224"/>
            <a:ext cx="621792" cy="0"/>
          </a:xfrm>
          <a:prstGeom prst="line">
            <a:avLst/>
          </a:prstGeom>
          <a:noFill/>
          <a:ln w="31750">
            <a:solidFill>
              <a:srgbClr val="2E9E5B"/>
            </a:solidFill>
            <a:prstDash val="solid"/>
          </a:ln>
        </p:spPr>
      </p:sp>
      <p:sp>
        <p:nvSpPr>
          <p:cNvPr id="82" name="arrow|b6"/>
          <p:cNvSpPr/>
          <p:nvPr/>
        </p:nvSpPr>
        <p:spPr>
          <a:xfrm>
            <a:off x="2862072" y="4078224"/>
            <a:ext cx="621792" cy="0"/>
          </a:xfrm>
          <a:prstGeom prst="line">
            <a:avLst/>
          </a:prstGeom>
          <a:noFill/>
          <a:ln w="31750">
            <a:solidFill>
              <a:srgbClr val="2E9E5B"/>
            </a:solidFill>
            <a:prstDash val="solid"/>
          </a:ln>
        </p:spPr>
      </p:sp>
      <p:sp>
        <p:nvSpPr>
          <p:cNvPr id="83" name="arrow|b6"/>
          <p:cNvSpPr/>
          <p:nvPr/>
        </p:nvSpPr>
        <p:spPr>
          <a:xfrm>
            <a:off x="1920240" y="4078224"/>
            <a:ext cx="621792" cy="0"/>
          </a:xfrm>
          <a:prstGeom prst="line">
            <a:avLst/>
          </a:prstGeom>
          <a:noFill/>
          <a:ln w="31750">
            <a:solidFill>
              <a:srgbClr val="2E9E5B"/>
            </a:solidFill>
            <a:prstDash val="solid"/>
          </a:ln>
        </p:spPr>
      </p:sp>
      <p:sp>
        <p:nvSpPr>
          <p:cNvPr id="84" name="v:Slicing:e5r|b6"/>
          <p:cNvSpPr txBox="1"/>
          <p:nvPr/>
        </p:nvSpPr>
        <p:spPr>
          <a:xfrm>
            <a:off x="5660136" y="3721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['elephant', 'rat', 'bat', 'cat']</a:t>
            </a:r>
            <a:endParaRPr lang="en-US" sz="1200" dirty="0"/>
          </a:p>
        </p:txBody>
      </p:sp>
      <p:sp>
        <p:nvSpPr>
          <p:cNvPr id="85" name="v:Slicing:e5p|b6"/>
          <p:cNvSpPr txBox="1"/>
          <p:nvPr/>
        </p:nvSpPr>
        <p:spPr>
          <a:xfrm>
            <a:off x="5660136" y="3950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3, 2, 1, 0</a:t>
            </a:r>
            <a:endParaRPr lang="en-US" sz="1000" dirty="0"/>
          </a:p>
        </p:txBody>
      </p:sp>
      <p:sp>
        <p:nvSpPr>
          <p:cNvPr id="86" name="say"/>
          <p:cNvSpPr txBox="1"/>
          <p:nvPr/>
        </p:nvSpPr>
        <p:spPr>
          <a:xfrm>
            <a:off x="365760" y="4279392"/>
            <a:ext cx="8412480" cy="3200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slice is a new list of the items whose indexes it selects; an end outside the list is clipped, not an error.</a:t>
            </a:r>
            <a:endParaRPr lang="en-US" sz="1250" dirty="0"/>
          </a:p>
        </p:txBody>
      </p:sp>
      <p:sp>
        <p:nvSpPr>
          <p:cNvPr id="8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Slicing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400"/>
                                        <p:tgtEl>
                                          <p:spTgt spid="36"/>
                                        </p:tgtEl>
                                      </p:cBhvr>
                                    </p:animEffect>
                                  </p:childTnLst>
                                </p:cTn>
                              </p:par>
                              <p:par>
                                <p:cTn id="88" presetID="10" presetClass="entr" presetSubtype="0" fill="hold" nodeType="with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400"/>
                                        <p:tgtEl>
                                          <p:spTgt spid="3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400"/>
                                        <p:tgtEl>
                                          <p:spTgt spid="38"/>
                                        </p:tgtEl>
                                      </p:cBhvr>
                                    </p:animEffect>
                                  </p:childTnLst>
                                </p:cTn>
                              </p:par>
                              <p:par>
                                <p:cTn id="94" presetID="10"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400"/>
                                        <p:tgtEl>
                                          <p:spTgt spid="3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400"/>
                                        <p:tgtEl>
                                          <p:spTgt spid="40"/>
                                        </p:tgtEl>
                                      </p:cBhvr>
                                    </p:animEffect>
                                  </p:childTnLst>
                                </p:cTn>
                              </p:par>
                              <p:par>
                                <p:cTn id="100" presetID="10" presetClass="entr" presetSubtype="0" fill="hold"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400"/>
                                        <p:tgtEl>
                                          <p:spTgt spid="4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400"/>
                                        <p:tgtEl>
                                          <p:spTgt spid="42"/>
                                        </p:tgtEl>
                                      </p:cBhvr>
                                    </p:animEffect>
                                  </p:childTnLst>
                                </p:cTn>
                              </p:par>
                              <p:par>
                                <p:cTn id="106" presetID="10" presetClass="entr" presetSubtype="0" fill="hold" nodeType="with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400"/>
                                        <p:tgtEl>
                                          <p:spTgt spid="4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400"/>
                                        <p:tgtEl>
                                          <p:spTgt spid="4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400"/>
                                        <p:tgtEl>
                                          <p:spTgt spid="45"/>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46"/>
                                        </p:tgtEl>
                                        <p:attrNameLst>
                                          <p:attrName>style.visibility</p:attrName>
                                        </p:attrNameLst>
                                      </p:cBhvr>
                                      <p:to>
                                        <p:strVal val="visible"/>
                                      </p:to>
                                    </p:set>
                                    <p:animEffect transition="in" filter="fade">
                                      <p:cBhvr>
                                        <p:cTn id="119" dur="400"/>
                                        <p:tgtEl>
                                          <p:spTgt spid="46"/>
                                        </p:tgtEl>
                                      </p:cBhvr>
                                    </p:animEffect>
                                  </p:childTnLst>
                                </p:cTn>
                              </p:par>
                              <p:par>
                                <p:cTn id="120" presetID="10" presetClass="entr" presetSubtype="0" fill="hold" nodeType="withEffect">
                                  <p:stCondLst>
                                    <p:cond delay="0"/>
                                  </p:stCondLst>
                                  <p:childTnLst>
                                    <p:set>
                                      <p:cBhvr>
                                        <p:cTn id="121" dur="1" fill="hold">
                                          <p:stCondLst>
                                            <p:cond delay="0"/>
                                          </p:stCondLst>
                                        </p:cTn>
                                        <p:tgtEl>
                                          <p:spTgt spid="47"/>
                                        </p:tgtEl>
                                        <p:attrNameLst>
                                          <p:attrName>style.visibility</p:attrName>
                                        </p:attrNameLst>
                                      </p:cBhvr>
                                      <p:to>
                                        <p:strVal val="visible"/>
                                      </p:to>
                                    </p:set>
                                    <p:animEffect transition="in" filter="fade">
                                      <p:cBhvr>
                                        <p:cTn id="122" dur="400"/>
                                        <p:tgtEl>
                                          <p:spTgt spid="4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8"/>
                                        </p:tgtEl>
                                        <p:attrNameLst>
                                          <p:attrName>style.visibility</p:attrName>
                                        </p:attrNameLst>
                                      </p:cBhvr>
                                      <p:to>
                                        <p:strVal val="visible"/>
                                      </p:to>
                                    </p:set>
                                    <p:animEffect transition="in" filter="fade">
                                      <p:cBhvr>
                                        <p:cTn id="125" dur="400"/>
                                        <p:tgtEl>
                                          <p:spTgt spid="48"/>
                                        </p:tgtEl>
                                      </p:cBhvr>
                                    </p:animEffect>
                                  </p:childTnLst>
                                </p:cTn>
                              </p:par>
                              <p:par>
                                <p:cTn id="126" presetID="10" presetClass="entr" presetSubtype="0" fill="hold" nodeType="with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fade">
                                      <p:cBhvr>
                                        <p:cTn id="128" dur="400"/>
                                        <p:tgtEl>
                                          <p:spTgt spid="4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400"/>
                                        <p:tgtEl>
                                          <p:spTgt spid="50"/>
                                        </p:tgtEl>
                                      </p:cBhvr>
                                    </p:animEffect>
                                  </p:childTnLst>
                                </p:cTn>
                              </p:par>
                              <p:par>
                                <p:cTn id="132" presetID="10" presetClass="entr" presetSubtype="0" fill="hold" nodeType="withEffect">
                                  <p:stCondLst>
                                    <p:cond delay="0"/>
                                  </p:stCondLst>
                                  <p:childTnLst>
                                    <p:set>
                                      <p:cBhvr>
                                        <p:cTn id="133" dur="1" fill="hold">
                                          <p:stCondLst>
                                            <p:cond delay="0"/>
                                          </p:stCondLst>
                                        </p:cTn>
                                        <p:tgtEl>
                                          <p:spTgt spid="51"/>
                                        </p:tgtEl>
                                        <p:attrNameLst>
                                          <p:attrName>style.visibility</p:attrName>
                                        </p:attrNameLst>
                                      </p:cBhvr>
                                      <p:to>
                                        <p:strVal val="visible"/>
                                      </p:to>
                                    </p:set>
                                    <p:animEffect transition="in" filter="fade">
                                      <p:cBhvr>
                                        <p:cTn id="134" dur="400"/>
                                        <p:tgtEl>
                                          <p:spTgt spid="51"/>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fade">
                                      <p:cBhvr>
                                        <p:cTn id="137" dur="400"/>
                                        <p:tgtEl>
                                          <p:spTgt spid="52"/>
                                        </p:tgtEl>
                                      </p:cBhvr>
                                    </p:animEffect>
                                  </p:childTnLst>
                                </p:cTn>
                              </p:par>
                              <p:par>
                                <p:cTn id="138" presetID="10" presetClass="entr" presetSubtype="0" fill="hold" nodeType="withEffect">
                                  <p:stCondLst>
                                    <p:cond delay="0"/>
                                  </p:stCondLst>
                                  <p:childTnLst>
                                    <p:set>
                                      <p:cBhvr>
                                        <p:cTn id="139" dur="1" fill="hold">
                                          <p:stCondLst>
                                            <p:cond delay="0"/>
                                          </p:stCondLst>
                                        </p:cTn>
                                        <p:tgtEl>
                                          <p:spTgt spid="53"/>
                                        </p:tgtEl>
                                        <p:attrNameLst>
                                          <p:attrName>style.visibility</p:attrName>
                                        </p:attrNameLst>
                                      </p:cBhvr>
                                      <p:to>
                                        <p:strVal val="visible"/>
                                      </p:to>
                                    </p:set>
                                    <p:animEffect transition="in" filter="fade">
                                      <p:cBhvr>
                                        <p:cTn id="140" dur="400"/>
                                        <p:tgtEl>
                                          <p:spTgt spid="53"/>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4"/>
                                        </p:tgtEl>
                                        <p:attrNameLst>
                                          <p:attrName>style.visibility</p:attrName>
                                        </p:attrNameLst>
                                      </p:cBhvr>
                                      <p:to>
                                        <p:strVal val="visible"/>
                                      </p:to>
                                    </p:set>
                                    <p:animEffect transition="in" filter="fade">
                                      <p:cBhvr>
                                        <p:cTn id="143" dur="400"/>
                                        <p:tgtEl>
                                          <p:spTgt spid="54"/>
                                        </p:tgtEl>
                                      </p:cBhvr>
                                    </p:animEffect>
                                  </p:childTnLst>
                                </p:cTn>
                              </p:par>
                              <p:par>
                                <p:cTn id="144" presetID="10" presetClass="entr" presetSubtype="0" fill="hold" nodeType="withEffect">
                                  <p:stCondLst>
                                    <p:cond delay="0"/>
                                  </p:stCondLst>
                                  <p:childTnLst>
                                    <p:set>
                                      <p:cBhvr>
                                        <p:cTn id="145" dur="1" fill="hold">
                                          <p:stCondLst>
                                            <p:cond delay="0"/>
                                          </p:stCondLst>
                                        </p:cTn>
                                        <p:tgtEl>
                                          <p:spTgt spid="55"/>
                                        </p:tgtEl>
                                        <p:attrNameLst>
                                          <p:attrName>style.visibility</p:attrName>
                                        </p:attrNameLst>
                                      </p:cBhvr>
                                      <p:to>
                                        <p:strVal val="visible"/>
                                      </p:to>
                                    </p:set>
                                    <p:animEffect transition="in" filter="fade">
                                      <p:cBhvr>
                                        <p:cTn id="146" dur="400"/>
                                        <p:tgtEl>
                                          <p:spTgt spid="55"/>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6"/>
                                        </p:tgtEl>
                                        <p:attrNameLst>
                                          <p:attrName>style.visibility</p:attrName>
                                        </p:attrNameLst>
                                      </p:cBhvr>
                                      <p:to>
                                        <p:strVal val="visible"/>
                                      </p:to>
                                    </p:set>
                                    <p:animEffect transition="in" filter="fade">
                                      <p:cBhvr>
                                        <p:cTn id="149" dur="400"/>
                                        <p:tgtEl>
                                          <p:spTgt spid="56"/>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7"/>
                                        </p:tgtEl>
                                        <p:attrNameLst>
                                          <p:attrName>style.visibility</p:attrName>
                                        </p:attrNameLst>
                                      </p:cBhvr>
                                      <p:to>
                                        <p:strVal val="visible"/>
                                      </p:to>
                                    </p:set>
                                    <p:animEffect transition="in" filter="fade">
                                      <p:cBhvr>
                                        <p:cTn id="152" dur="400"/>
                                        <p:tgtEl>
                                          <p:spTgt spid="57"/>
                                        </p:tgtEl>
                                      </p:cBhvr>
                                    </p:animEffect>
                                  </p:childTnLst>
                                </p:cTn>
                              </p:par>
                            </p:childTnLst>
                          </p:cTn>
                        </p:par>
                      </p:childTnLst>
                    </p:cTn>
                  </p:par>
                  <p:par>
                    <p:cTn id="194" fill="hold">
                      <p:stCondLst>
                        <p:cond delay="indefinite"/>
                      </p:stCondLst>
                      <p:childTnLst>
                        <p:par>
                          <p:cTn id="195"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9"/>
                                        </p:tgtEl>
                                        <p:attrNameLst>
                                          <p:attrName>style.visibility</p:attrName>
                                        </p:attrNameLst>
                                      </p:cBhvr>
                                      <p:to>
                                        <p:strVal val="visible"/>
                                      </p:to>
                                    </p:set>
                                    <p:animEffect transition="in" filter="fade">
                                      <p:cBhvr>
                                        <p:cTn id="190" dur="400"/>
                                        <p:tgtEl>
                                          <p:spTgt spid="69"/>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400"/>
                                        <p:tgtEl>
                                          <p:spTgt spid="70"/>
                                        </p:tgtEl>
                                      </p:cBhvr>
                                    </p:animEffect>
                                  </p:childTnLst>
                                </p:cTn>
                              </p:par>
                            </p:childTnLst>
                          </p:cTn>
                        </p:par>
                      </p:childTnLst>
                    </p:cTn>
                  </p:par>
                  <p:par>
                    <p:cTn id="241" fill="hold">
                      <p:stCondLst>
                        <p:cond delay="indefinite"/>
                      </p:stCondLst>
                      <p:childTnLst>
                        <p:par>
                          <p:cTn id="242" fill="hold">
                            <p:stCondLst>
                              <p:cond delay="0"/>
                            </p:stCondLst>
                            <p:childTnLst>
                              <p:par>
                                <p:cTn id="196" presetID="10" presetClass="entr" presetSubtype="0" fill="hold" grpId="0" nodeType="clickEffect">
                                  <p:stCondLst>
                                    <p:cond delay="0"/>
                                  </p:stCondLst>
                                  <p:childTnLst>
                                    <p:set>
                                      <p:cBhvr>
                                        <p:cTn id="197" dur="1" fill="hold">
                                          <p:stCondLst>
                                            <p:cond delay="0"/>
                                          </p:stCondLst>
                                        </p:cTn>
                                        <p:tgtEl>
                                          <p:spTgt spid="71"/>
                                        </p:tgtEl>
                                        <p:attrNameLst>
                                          <p:attrName>style.visibility</p:attrName>
                                        </p:attrNameLst>
                                      </p:cBhvr>
                                      <p:to>
                                        <p:strVal val="visible"/>
                                      </p:to>
                                    </p:set>
                                    <p:animEffect transition="in" filter="fade">
                                      <p:cBhvr>
                                        <p:cTn id="198" dur="400"/>
                                        <p:tgtEl>
                                          <p:spTgt spid="71"/>
                                        </p:tgtEl>
                                      </p:cBhvr>
                                    </p:animEffect>
                                  </p:childTnLst>
                                </p:cTn>
                              </p:par>
                              <p:par>
                                <p:cTn id="199" presetID="10" presetClass="entr" presetSubtype="0" fill="hold" nodeType="withEffect">
                                  <p:stCondLst>
                                    <p:cond delay="0"/>
                                  </p:stCondLst>
                                  <p:childTnLst>
                                    <p:set>
                                      <p:cBhvr>
                                        <p:cTn id="200" dur="1" fill="hold">
                                          <p:stCondLst>
                                            <p:cond delay="0"/>
                                          </p:stCondLst>
                                        </p:cTn>
                                        <p:tgtEl>
                                          <p:spTgt spid="72"/>
                                        </p:tgtEl>
                                        <p:attrNameLst>
                                          <p:attrName>style.visibility</p:attrName>
                                        </p:attrNameLst>
                                      </p:cBhvr>
                                      <p:to>
                                        <p:strVal val="visible"/>
                                      </p:to>
                                    </p:set>
                                    <p:animEffect transition="in" filter="fade">
                                      <p:cBhvr>
                                        <p:cTn id="201" dur="400"/>
                                        <p:tgtEl>
                                          <p:spTgt spid="72"/>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3"/>
                                        </p:tgtEl>
                                        <p:attrNameLst>
                                          <p:attrName>style.visibility</p:attrName>
                                        </p:attrNameLst>
                                      </p:cBhvr>
                                      <p:to>
                                        <p:strVal val="visible"/>
                                      </p:to>
                                    </p:set>
                                    <p:animEffect transition="in" filter="fade">
                                      <p:cBhvr>
                                        <p:cTn id="204" dur="400"/>
                                        <p:tgtEl>
                                          <p:spTgt spid="73"/>
                                        </p:tgtEl>
                                      </p:cBhvr>
                                    </p:animEffect>
                                  </p:childTnLst>
                                </p:cTn>
                              </p:par>
                              <p:par>
                                <p:cTn id="205" presetID="10" presetClass="entr" presetSubtype="0" fill="hold" nodeType="withEffect">
                                  <p:stCondLst>
                                    <p:cond delay="0"/>
                                  </p:stCondLst>
                                  <p:childTnLst>
                                    <p:set>
                                      <p:cBhvr>
                                        <p:cTn id="206" dur="1" fill="hold">
                                          <p:stCondLst>
                                            <p:cond delay="0"/>
                                          </p:stCondLst>
                                        </p:cTn>
                                        <p:tgtEl>
                                          <p:spTgt spid="74"/>
                                        </p:tgtEl>
                                        <p:attrNameLst>
                                          <p:attrName>style.visibility</p:attrName>
                                        </p:attrNameLst>
                                      </p:cBhvr>
                                      <p:to>
                                        <p:strVal val="visible"/>
                                      </p:to>
                                    </p:set>
                                    <p:animEffect transition="in" filter="fade">
                                      <p:cBhvr>
                                        <p:cTn id="207" dur="400"/>
                                        <p:tgtEl>
                                          <p:spTgt spid="74"/>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5"/>
                                        </p:tgtEl>
                                        <p:attrNameLst>
                                          <p:attrName>style.visibility</p:attrName>
                                        </p:attrNameLst>
                                      </p:cBhvr>
                                      <p:to>
                                        <p:strVal val="visible"/>
                                      </p:to>
                                    </p:set>
                                    <p:animEffect transition="in" filter="fade">
                                      <p:cBhvr>
                                        <p:cTn id="210" dur="400"/>
                                        <p:tgtEl>
                                          <p:spTgt spid="75"/>
                                        </p:tgtEl>
                                      </p:cBhvr>
                                    </p:animEffect>
                                  </p:childTnLst>
                                </p:cTn>
                              </p:par>
                              <p:par>
                                <p:cTn id="211" presetID="10" presetClass="entr" presetSubtype="0" fill="hold" nodeType="withEffect">
                                  <p:stCondLst>
                                    <p:cond delay="0"/>
                                  </p:stCondLst>
                                  <p:childTnLst>
                                    <p:set>
                                      <p:cBhvr>
                                        <p:cTn id="212" dur="1" fill="hold">
                                          <p:stCondLst>
                                            <p:cond delay="0"/>
                                          </p:stCondLst>
                                        </p:cTn>
                                        <p:tgtEl>
                                          <p:spTgt spid="76"/>
                                        </p:tgtEl>
                                        <p:attrNameLst>
                                          <p:attrName>style.visibility</p:attrName>
                                        </p:attrNameLst>
                                      </p:cBhvr>
                                      <p:to>
                                        <p:strVal val="visible"/>
                                      </p:to>
                                    </p:set>
                                    <p:animEffect transition="in" filter="fade">
                                      <p:cBhvr>
                                        <p:cTn id="213" dur="400"/>
                                        <p:tgtEl>
                                          <p:spTgt spid="76"/>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7"/>
                                        </p:tgtEl>
                                        <p:attrNameLst>
                                          <p:attrName>style.visibility</p:attrName>
                                        </p:attrNameLst>
                                      </p:cBhvr>
                                      <p:to>
                                        <p:strVal val="visible"/>
                                      </p:to>
                                    </p:set>
                                    <p:animEffect transition="in" filter="fade">
                                      <p:cBhvr>
                                        <p:cTn id="216" dur="400"/>
                                        <p:tgtEl>
                                          <p:spTgt spid="77"/>
                                        </p:tgtEl>
                                      </p:cBhvr>
                                    </p:animEffect>
                                  </p:childTnLst>
                                </p:cTn>
                              </p:par>
                              <p:par>
                                <p:cTn id="217" presetID="10" presetClass="entr" presetSubtype="0" fill="hold" nodeType="withEffect">
                                  <p:stCondLst>
                                    <p:cond delay="0"/>
                                  </p:stCondLst>
                                  <p:childTnLst>
                                    <p:set>
                                      <p:cBhvr>
                                        <p:cTn id="218" dur="1" fill="hold">
                                          <p:stCondLst>
                                            <p:cond delay="0"/>
                                          </p:stCondLst>
                                        </p:cTn>
                                        <p:tgtEl>
                                          <p:spTgt spid="78"/>
                                        </p:tgtEl>
                                        <p:attrNameLst>
                                          <p:attrName>style.visibility</p:attrName>
                                        </p:attrNameLst>
                                      </p:cBhvr>
                                      <p:to>
                                        <p:strVal val="visible"/>
                                      </p:to>
                                    </p:set>
                                    <p:animEffect transition="in" filter="fade">
                                      <p:cBhvr>
                                        <p:cTn id="219" dur="400"/>
                                        <p:tgtEl>
                                          <p:spTgt spid="78"/>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9"/>
                                        </p:tgtEl>
                                        <p:attrNameLst>
                                          <p:attrName>style.visibility</p:attrName>
                                        </p:attrNameLst>
                                      </p:cBhvr>
                                      <p:to>
                                        <p:strVal val="visible"/>
                                      </p:to>
                                    </p:set>
                                    <p:animEffect transition="in" filter="fade">
                                      <p:cBhvr>
                                        <p:cTn id="222" dur="400"/>
                                        <p:tgtEl>
                                          <p:spTgt spid="79"/>
                                        </p:tgtEl>
                                      </p:cBhvr>
                                    </p:animEffect>
                                  </p:childTnLst>
                                </p:cTn>
                              </p:par>
                              <p:par>
                                <p:cTn id="223" presetID="10" presetClass="entr" presetSubtype="0" fill="hold" nodeType="withEffect">
                                  <p:stCondLst>
                                    <p:cond delay="0"/>
                                  </p:stCondLst>
                                  <p:childTnLst>
                                    <p:set>
                                      <p:cBhvr>
                                        <p:cTn id="224" dur="1" fill="hold">
                                          <p:stCondLst>
                                            <p:cond delay="0"/>
                                          </p:stCondLst>
                                        </p:cTn>
                                        <p:tgtEl>
                                          <p:spTgt spid="80"/>
                                        </p:tgtEl>
                                        <p:attrNameLst>
                                          <p:attrName>style.visibility</p:attrName>
                                        </p:attrNameLst>
                                      </p:cBhvr>
                                      <p:to>
                                        <p:strVal val="visible"/>
                                      </p:to>
                                    </p:set>
                                    <p:animEffect transition="in" filter="fade">
                                      <p:cBhvr>
                                        <p:cTn id="225" dur="400"/>
                                        <p:tgtEl>
                                          <p:spTgt spid="80"/>
                                        </p:tgtEl>
                                      </p:cBhvr>
                                    </p:animEffect>
                                  </p:childTnLst>
                                </p:cTn>
                              </p:par>
                              <p:par>
                                <p:cTn id="226" presetID="10" presetClass="entr" presetSubtype="0" fill="hold" nodeType="withEffect">
                                  <p:stCondLst>
                                    <p:cond delay="0"/>
                                  </p:stCondLst>
                                  <p:childTnLst>
                                    <p:set>
                                      <p:cBhvr>
                                        <p:cTn id="227" dur="1" fill="hold">
                                          <p:stCondLst>
                                            <p:cond delay="0"/>
                                          </p:stCondLst>
                                        </p:cTn>
                                        <p:tgtEl>
                                          <p:spTgt spid="81"/>
                                        </p:tgtEl>
                                        <p:attrNameLst>
                                          <p:attrName>style.visibility</p:attrName>
                                        </p:attrNameLst>
                                      </p:cBhvr>
                                      <p:to>
                                        <p:strVal val="visible"/>
                                      </p:to>
                                    </p:set>
                                    <p:animEffect transition="in" filter="fade">
                                      <p:cBhvr>
                                        <p:cTn id="228" dur="400"/>
                                        <p:tgtEl>
                                          <p:spTgt spid="81"/>
                                        </p:tgtEl>
                                      </p:cBhvr>
                                    </p:animEffect>
                                  </p:childTnLst>
                                </p:cTn>
                              </p:par>
                              <p:par>
                                <p:cTn id="229" presetID="10" presetClass="entr" presetSubtype="0" fill="hold" nodeType="withEffect">
                                  <p:stCondLst>
                                    <p:cond delay="0"/>
                                  </p:stCondLst>
                                  <p:childTnLst>
                                    <p:set>
                                      <p:cBhvr>
                                        <p:cTn id="230" dur="1" fill="hold">
                                          <p:stCondLst>
                                            <p:cond delay="0"/>
                                          </p:stCondLst>
                                        </p:cTn>
                                        <p:tgtEl>
                                          <p:spTgt spid="82"/>
                                        </p:tgtEl>
                                        <p:attrNameLst>
                                          <p:attrName>style.visibility</p:attrName>
                                        </p:attrNameLst>
                                      </p:cBhvr>
                                      <p:to>
                                        <p:strVal val="visible"/>
                                      </p:to>
                                    </p:set>
                                    <p:animEffect transition="in" filter="fade">
                                      <p:cBhvr>
                                        <p:cTn id="231" dur="400"/>
                                        <p:tgtEl>
                                          <p:spTgt spid="82"/>
                                        </p:tgtEl>
                                      </p:cBhvr>
                                    </p:animEffect>
                                  </p:childTnLst>
                                </p:cTn>
                              </p:par>
                              <p:par>
                                <p:cTn id="232" presetID="10" presetClass="entr" presetSubtype="0" fill="hold" nodeType="withEffect">
                                  <p:stCondLst>
                                    <p:cond delay="0"/>
                                  </p:stCondLst>
                                  <p:childTnLst>
                                    <p:set>
                                      <p:cBhvr>
                                        <p:cTn id="233" dur="1" fill="hold">
                                          <p:stCondLst>
                                            <p:cond delay="0"/>
                                          </p:stCondLst>
                                        </p:cTn>
                                        <p:tgtEl>
                                          <p:spTgt spid="83"/>
                                        </p:tgtEl>
                                        <p:attrNameLst>
                                          <p:attrName>style.visibility</p:attrName>
                                        </p:attrNameLst>
                                      </p:cBhvr>
                                      <p:to>
                                        <p:strVal val="visible"/>
                                      </p:to>
                                    </p:set>
                                    <p:animEffect transition="in" filter="fade">
                                      <p:cBhvr>
                                        <p:cTn id="234" dur="400"/>
                                        <p:tgtEl>
                                          <p:spTgt spid="83"/>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4"/>
                                        </p:tgtEl>
                                        <p:attrNameLst>
                                          <p:attrName>style.visibility</p:attrName>
                                        </p:attrNameLst>
                                      </p:cBhvr>
                                      <p:to>
                                        <p:strVal val="visible"/>
                                      </p:to>
                                    </p:set>
                                    <p:animEffect transition="in" filter="fade">
                                      <p:cBhvr>
                                        <p:cTn id="237" dur="400"/>
                                        <p:tgtEl>
                                          <p:spTgt spid="84"/>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5"/>
                                        </p:tgtEl>
                                        <p:attrNameLst>
                                          <p:attrName>style.visibility</p:attrName>
                                        </p:attrNameLst>
                                      </p:cBhvr>
                                      <p:to>
                                        <p:strVal val="visible"/>
                                      </p:to>
                                    </p:set>
                                    <p:animEffect transition="in" filter="fade">
                                      <p:cBhvr>
                                        <p:cTn id="240" dur="4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8" grpId="0" animBg="1"/>
      <p:bldP spid="20" grpId="0" animBg="1"/>
      <p:bldP spid="21" grpId="0" animBg="1"/>
      <p:bldP spid="22" grpId="0" animBg="1"/>
      <p:bldP spid="24" grpId="0" animBg="1"/>
      <p:bldP spid="26" grpId="0" animBg="1"/>
      <p:bldP spid="28" grpId="0" animBg="1"/>
      <p:bldP spid="30" grpId="0" animBg="1"/>
      <p:bldP spid="32" grpId="0" animBg="1"/>
      <p:bldP spid="33" grpId="0" animBg="1"/>
      <p:bldP spid="34" grpId="0" animBg="1"/>
      <p:bldP spid="36" grpId="0" animBg="1"/>
      <p:bldP spid="38" grpId="0" animBg="1"/>
      <p:bldP spid="40" grpId="0" animBg="1"/>
      <p:bldP spid="42" grpId="0" animBg="1"/>
      <p:bldP spid="44" grpId="0" animBg="1"/>
      <p:bldP spid="45" grpId="0" animBg="1"/>
      <p:bldP spid="46" grpId="0" animBg="1"/>
      <p:bldP spid="48" grpId="0" animBg="1"/>
      <p:bldP spid="50" grpId="0" animBg="1"/>
      <p:bldP spid="52" grpId="0" animBg="1"/>
      <p:bldP spid="54" grpId="0" animBg="1"/>
      <p:bldP spid="56" grpId="0" animBg="1"/>
      <p:bldP spid="57" grpId="0" animBg="1"/>
      <p:bldP spid="58" grpId="0" animBg="1"/>
      <p:bldP spid="60" grpId="0" animBg="1"/>
      <p:bldP spid="62" grpId="0" animBg="1"/>
      <p:bldP spid="64" grpId="0" animBg="1"/>
      <p:bldP spid="66" grpId="0" animBg="1"/>
      <p:bldP spid="69" grpId="0" animBg="1"/>
      <p:bldP spid="70" grpId="0" animBg="1"/>
      <p:bldP spid="71" grpId="0" animBg="1"/>
      <p:bldP spid="73" grpId="0" animBg="1"/>
      <p:bldP spid="75" grpId="0" animBg="1"/>
      <p:bldP spid="77" grpId="0" animBg="1"/>
      <p:bldP spid="79" grpId="0" animBg="1"/>
      <p:bldP spid="84" grpId="0" animBg="1"/>
      <p:bldP spid="8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2</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Changing lists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Unlike a string or a tuple, a list can be changed in the same object, by adding, replacing and removing items.</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Adding and replacing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Append method</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Insert method</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Item assignment</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Slice assignment</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Removing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Remove method</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Pop method</a:t>
            </a:r>
            <a:endParaRPr lang="en-US" sz="1200" dirty="0"/>
          </a:p>
        </p:txBody>
      </p:sp>
      <p:sp>
        <p:nvSpPr>
          <p:cNvPr id="20"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21"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Del statement</a:t>
            </a:r>
            <a:endParaRPr lang="en-US" sz="1200" dirty="0"/>
          </a:p>
        </p:txBody>
      </p:sp>
      <p:sp>
        <p:nvSpPr>
          <p:cNvPr id="22" name="x"/>
          <p:cNvSpPr/>
          <p:nvPr/>
        </p:nvSpPr>
        <p:spPr>
          <a:xfrm>
            <a:off x="548640" y="4572000"/>
            <a:ext cx="1267968" cy="64008"/>
          </a:xfrm>
          <a:prstGeom prst="rect">
            <a:avLst/>
          </a:prstGeom>
          <a:solidFill>
            <a:srgbClr val="4A5D75"/>
          </a:solidFill>
          <a:ln w="12700">
            <a:solidFill>
              <a:srgbClr val="4A5D75"/>
            </a:solidFill>
            <a:prstDash val="solid"/>
          </a:ln>
        </p:spPr>
      </p:sp>
      <p:sp>
        <p:nvSpPr>
          <p:cNvPr id="23" name="x"/>
          <p:cNvSpPr/>
          <p:nvPr/>
        </p:nvSpPr>
        <p:spPr>
          <a:xfrm>
            <a:off x="1889760" y="4572000"/>
            <a:ext cx="1267968" cy="64008"/>
          </a:xfrm>
          <a:prstGeom prst="rect">
            <a:avLst/>
          </a:prstGeom>
          <a:solidFill>
            <a:srgbClr val="FFD43B"/>
          </a:solidFill>
          <a:ln w="12700">
            <a:solidFill>
              <a:srgbClr val="FFD43B"/>
            </a:solidFill>
            <a:prstDash val="solid"/>
          </a:ln>
        </p:spPr>
      </p:sp>
      <p:sp>
        <p:nvSpPr>
          <p:cNvPr id="24" name="x"/>
          <p:cNvSpPr/>
          <p:nvPr/>
        </p:nvSpPr>
        <p:spPr>
          <a:xfrm>
            <a:off x="3230880" y="4572000"/>
            <a:ext cx="1267968" cy="64008"/>
          </a:xfrm>
          <a:prstGeom prst="rect">
            <a:avLst/>
          </a:prstGeom>
          <a:solidFill>
            <a:srgbClr val="4A5D75"/>
          </a:solidFill>
          <a:ln w="12700">
            <a:solidFill>
              <a:srgbClr val="4A5D75"/>
            </a:solidFill>
            <a:prstDash val="solid"/>
          </a:ln>
        </p:spPr>
      </p:sp>
      <p:sp>
        <p:nvSpPr>
          <p:cNvPr id="25" name="x"/>
          <p:cNvSpPr/>
          <p:nvPr/>
        </p:nvSpPr>
        <p:spPr>
          <a:xfrm>
            <a:off x="4572000" y="4572000"/>
            <a:ext cx="1267968" cy="64008"/>
          </a:xfrm>
          <a:prstGeom prst="rect">
            <a:avLst/>
          </a:prstGeom>
          <a:solidFill>
            <a:srgbClr val="4A5D75"/>
          </a:solidFill>
          <a:ln w="12700">
            <a:solidFill>
              <a:srgbClr val="4A5D75"/>
            </a:solidFill>
            <a:prstDash val="solid"/>
          </a:ln>
        </p:spPr>
      </p:sp>
      <p:sp>
        <p:nvSpPr>
          <p:cNvPr id="26" name="x"/>
          <p:cNvSpPr/>
          <p:nvPr/>
        </p:nvSpPr>
        <p:spPr>
          <a:xfrm>
            <a:off x="5913120" y="4572000"/>
            <a:ext cx="1267968" cy="64008"/>
          </a:xfrm>
          <a:prstGeom prst="rect">
            <a:avLst/>
          </a:prstGeom>
          <a:solidFill>
            <a:srgbClr val="4A5D75"/>
          </a:solidFill>
          <a:ln w="12700">
            <a:solidFill>
              <a:srgbClr val="4A5D75"/>
            </a:solidFill>
            <a:prstDash val="solid"/>
          </a:ln>
        </p:spPr>
      </p:sp>
      <p:sp>
        <p:nvSpPr>
          <p:cNvPr id="27"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53" fill="hold">
                      <p:stCondLst>
                        <p:cond delay="indefinite"/>
                      </p:stCondLst>
                      <p:childTnLst>
                        <p:par>
                          <p:cTn id="54"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items in: the list itself changes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append and insert return None; assignment is a statement and has no value</a:t>
            </a:r>
            <a:endParaRPr lang="en-US" sz="1400" dirty="0"/>
          </a:p>
        </p:txBody>
      </p:sp>
      <p:sp>
        <p:nvSpPr>
          <p:cNvPr id="6" name="lanebox|b1"/>
          <p:cNvSpPr/>
          <p:nvPr/>
        </p:nvSpPr>
        <p:spPr>
          <a:xfrm>
            <a:off x="365760" y="1170432"/>
            <a:ext cx="8412480" cy="621792"/>
          </a:xfrm>
          <a:prstGeom prst="roundRect">
            <a:avLst>
              <a:gd name="adj" fmla="val 8824"/>
            </a:avLst>
          </a:prstGeom>
          <a:solidFill>
            <a:srgbClr val="FFFFFF"/>
          </a:solidFill>
          <a:ln w="9525">
            <a:solidFill>
              <a:srgbClr val="9AA8B8"/>
            </a:solidFill>
            <a:prstDash val="solid"/>
          </a:ln>
        </p:spPr>
      </p:sp>
      <p:sp>
        <p:nvSpPr>
          <p:cNvPr id="7" name="v:AddingAndReplac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spam.append('moose')</a:t>
            </a:r>
            <a:endParaRPr lang="en-US" sz="1250" dirty="0"/>
          </a:p>
        </p:txBody>
      </p:sp>
      <p:sp>
        <p:nvSpPr>
          <p:cNvPr id="8" name="v:AddingAndReplac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AddingAndReplac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AddingAndReplac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AddingAndReplacing:l0b0:box|b1"/>
          <p:cNvSpPr/>
          <p:nvPr/>
        </p:nvSpPr>
        <p:spPr>
          <a:xfrm>
            <a:off x="457200" y="1508760"/>
            <a:ext cx="777240" cy="228600"/>
          </a:xfrm>
          <a:prstGeom prst="roundRect">
            <a:avLst>
              <a:gd name="adj" fmla="val 20000"/>
            </a:avLst>
          </a:prstGeom>
          <a:solidFill>
            <a:srgbClr val="E3EEF8"/>
          </a:solidFill>
          <a:ln w="15875">
            <a:solidFill>
              <a:srgbClr val="306998"/>
            </a:solidFill>
            <a:prstDash val="solid"/>
          </a:ln>
        </p:spPr>
      </p:sp>
      <p:sp>
        <p:nvSpPr>
          <p:cNvPr id="12" name="v:AddingAndReplacing:l0b0|b1"/>
          <p:cNvSpPr txBox="1"/>
          <p:nvPr/>
        </p:nvSpPr>
        <p:spPr>
          <a:xfrm>
            <a:off x="47548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3" name="v:AddingAndReplacing:l0b1:box|b1"/>
          <p:cNvSpPr/>
          <p:nvPr/>
        </p:nvSpPr>
        <p:spPr>
          <a:xfrm>
            <a:off x="1280160" y="1508760"/>
            <a:ext cx="777240" cy="228600"/>
          </a:xfrm>
          <a:prstGeom prst="roundRect">
            <a:avLst>
              <a:gd name="adj" fmla="val 20000"/>
            </a:avLst>
          </a:prstGeom>
          <a:solidFill>
            <a:srgbClr val="E3EEF8"/>
          </a:solidFill>
          <a:ln w="15875">
            <a:solidFill>
              <a:srgbClr val="306998"/>
            </a:solidFill>
            <a:prstDash val="solid"/>
          </a:ln>
        </p:spPr>
      </p:sp>
      <p:sp>
        <p:nvSpPr>
          <p:cNvPr id="14" name="v:AddingAndReplacing:l0b1|b1"/>
          <p:cNvSpPr txBox="1"/>
          <p:nvPr/>
        </p:nvSpPr>
        <p:spPr>
          <a:xfrm>
            <a:off x="129844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15" name="v:AddingAndReplacing:l0b2:box|b1"/>
          <p:cNvSpPr/>
          <p:nvPr/>
        </p:nvSpPr>
        <p:spPr>
          <a:xfrm>
            <a:off x="2103120" y="1508760"/>
            <a:ext cx="777240" cy="228600"/>
          </a:xfrm>
          <a:prstGeom prst="roundRect">
            <a:avLst>
              <a:gd name="adj" fmla="val 20000"/>
            </a:avLst>
          </a:prstGeom>
          <a:solidFill>
            <a:srgbClr val="E3EEF8"/>
          </a:solidFill>
          <a:ln w="15875">
            <a:solidFill>
              <a:srgbClr val="306998"/>
            </a:solidFill>
            <a:prstDash val="solid"/>
          </a:ln>
        </p:spPr>
      </p:sp>
      <p:sp>
        <p:nvSpPr>
          <p:cNvPr id="16" name="v:AddingAndReplacing:l0b2|b1"/>
          <p:cNvSpPr txBox="1"/>
          <p:nvPr/>
        </p:nvSpPr>
        <p:spPr>
          <a:xfrm>
            <a:off x="212140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7" name="arrow|b1"/>
          <p:cNvSpPr/>
          <p:nvPr/>
        </p:nvSpPr>
        <p:spPr>
          <a:xfrm>
            <a:off x="4069080" y="1623060"/>
            <a:ext cx="411480" cy="0"/>
          </a:xfrm>
          <a:prstGeom prst="line">
            <a:avLst/>
          </a:prstGeom>
          <a:noFill/>
          <a:ln w="31750">
            <a:solidFill>
              <a:srgbClr val="2E9E5B"/>
            </a:solidFill>
            <a:prstDash val="solid"/>
            <a:tailEnd type="triangle"/>
          </a:ln>
        </p:spPr>
      </p:sp>
      <p:sp>
        <p:nvSpPr>
          <p:cNvPr id="18" name="v:AddingAndReplacing:l0a0:box|b1"/>
          <p:cNvSpPr/>
          <p:nvPr/>
        </p:nvSpPr>
        <p:spPr>
          <a:xfrm>
            <a:off x="4590288" y="1508760"/>
            <a:ext cx="777240" cy="228600"/>
          </a:xfrm>
          <a:prstGeom prst="roundRect">
            <a:avLst>
              <a:gd name="adj" fmla="val 20000"/>
            </a:avLst>
          </a:prstGeom>
          <a:solidFill>
            <a:srgbClr val="E3EEF8"/>
          </a:solidFill>
          <a:ln w="15875">
            <a:solidFill>
              <a:srgbClr val="306998"/>
            </a:solidFill>
            <a:prstDash val="solid"/>
          </a:ln>
        </p:spPr>
      </p:sp>
      <p:sp>
        <p:nvSpPr>
          <p:cNvPr id="19" name="v:AddingAndReplacing:l0a0|b1"/>
          <p:cNvSpPr txBox="1"/>
          <p:nvPr/>
        </p:nvSpPr>
        <p:spPr>
          <a:xfrm>
            <a:off x="460857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0" name="v:AddingAndReplacing:l0a1:box|b1"/>
          <p:cNvSpPr/>
          <p:nvPr/>
        </p:nvSpPr>
        <p:spPr>
          <a:xfrm>
            <a:off x="5413248" y="1508760"/>
            <a:ext cx="777240" cy="228600"/>
          </a:xfrm>
          <a:prstGeom prst="roundRect">
            <a:avLst>
              <a:gd name="adj" fmla="val 20000"/>
            </a:avLst>
          </a:prstGeom>
          <a:solidFill>
            <a:srgbClr val="E3EEF8"/>
          </a:solidFill>
          <a:ln w="15875">
            <a:solidFill>
              <a:srgbClr val="306998"/>
            </a:solidFill>
            <a:prstDash val="solid"/>
          </a:ln>
        </p:spPr>
      </p:sp>
      <p:sp>
        <p:nvSpPr>
          <p:cNvPr id="21" name="v:AddingAndReplacing:l0a1|b1"/>
          <p:cNvSpPr txBox="1"/>
          <p:nvPr/>
        </p:nvSpPr>
        <p:spPr>
          <a:xfrm>
            <a:off x="543153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22" name="v:AddingAndReplacing:l0a2:box|b1"/>
          <p:cNvSpPr/>
          <p:nvPr/>
        </p:nvSpPr>
        <p:spPr>
          <a:xfrm>
            <a:off x="6236208" y="1508760"/>
            <a:ext cx="777240" cy="228600"/>
          </a:xfrm>
          <a:prstGeom prst="roundRect">
            <a:avLst>
              <a:gd name="adj" fmla="val 20000"/>
            </a:avLst>
          </a:prstGeom>
          <a:solidFill>
            <a:srgbClr val="E3EEF8"/>
          </a:solidFill>
          <a:ln w="15875">
            <a:solidFill>
              <a:srgbClr val="306998"/>
            </a:solidFill>
            <a:prstDash val="solid"/>
          </a:ln>
        </p:spPr>
      </p:sp>
      <p:sp>
        <p:nvSpPr>
          <p:cNvPr id="23" name="v:AddingAndReplacing:l0a2|b1"/>
          <p:cNvSpPr txBox="1"/>
          <p:nvPr/>
        </p:nvSpPr>
        <p:spPr>
          <a:xfrm>
            <a:off x="625449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4" name="v:AddingAndReplacing:l0a3:box|b1"/>
          <p:cNvSpPr/>
          <p:nvPr/>
        </p:nvSpPr>
        <p:spPr>
          <a:xfrm>
            <a:off x="7059168" y="1508760"/>
            <a:ext cx="777240" cy="228600"/>
          </a:xfrm>
          <a:prstGeom prst="roundRect">
            <a:avLst>
              <a:gd name="adj" fmla="val 20000"/>
            </a:avLst>
          </a:prstGeom>
          <a:solidFill>
            <a:srgbClr val="DDF3E6"/>
          </a:solidFill>
          <a:ln w="15875">
            <a:solidFill>
              <a:srgbClr val="2E9E5B"/>
            </a:solidFill>
            <a:prstDash val="solid"/>
          </a:ln>
        </p:spPr>
      </p:sp>
      <p:sp>
        <p:nvSpPr>
          <p:cNvPr id="25" name="v:AddingAndReplacing:l0a3|b1"/>
          <p:cNvSpPr txBox="1"/>
          <p:nvPr/>
        </p:nvSpPr>
        <p:spPr>
          <a:xfrm>
            <a:off x="707745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'moose'</a:t>
            </a:r>
            <a:endParaRPr lang="en-US" sz="1000" dirty="0"/>
          </a:p>
        </p:txBody>
      </p:sp>
      <p:sp>
        <p:nvSpPr>
          <p:cNvPr id="26" name="lanebox|b2"/>
          <p:cNvSpPr/>
          <p:nvPr/>
        </p:nvSpPr>
        <p:spPr>
          <a:xfrm>
            <a:off x="365760" y="1847088"/>
            <a:ext cx="8412480" cy="621792"/>
          </a:xfrm>
          <a:prstGeom prst="roundRect">
            <a:avLst>
              <a:gd name="adj" fmla="val 8824"/>
            </a:avLst>
          </a:prstGeom>
          <a:solidFill>
            <a:srgbClr val="FFFFFF"/>
          </a:solidFill>
          <a:ln w="9525">
            <a:solidFill>
              <a:srgbClr val="9AA8B8"/>
            </a:solidFill>
            <a:prstDash val="solid"/>
          </a:ln>
        </p:spPr>
      </p:sp>
      <p:sp>
        <p:nvSpPr>
          <p:cNvPr id="27" name="v:AddingAndReplacing:l1op|b2"/>
          <p:cNvSpPr txBox="1"/>
          <p:nvPr/>
        </p:nvSpPr>
        <p:spPr>
          <a:xfrm>
            <a:off x="457200" y="1865376"/>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spam.insert(1, 'chicken')</a:t>
            </a:r>
            <a:endParaRPr lang="en-US" sz="1250" dirty="0"/>
          </a:p>
        </p:txBody>
      </p:sp>
      <p:sp>
        <p:nvSpPr>
          <p:cNvPr id="28" name="v:AddingAndReplacing:l1cat|b2"/>
          <p:cNvSpPr txBox="1"/>
          <p:nvPr/>
        </p:nvSpPr>
        <p:spPr>
          <a:xfrm>
            <a:off x="3611880" y="1865376"/>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29" name="v:AddingAndReplacing:l1retbox:box|b2"/>
          <p:cNvSpPr/>
          <p:nvPr/>
        </p:nvSpPr>
        <p:spPr>
          <a:xfrm>
            <a:off x="6812280" y="1892808"/>
            <a:ext cx="1874520" cy="246888"/>
          </a:xfrm>
          <a:prstGeom prst="roundRect">
            <a:avLst>
              <a:gd name="adj" fmla="val 29630"/>
            </a:avLst>
          </a:prstGeom>
          <a:solidFill>
            <a:srgbClr val="FCEFD0"/>
          </a:solidFill>
          <a:ln w="12700">
            <a:solidFill>
              <a:srgbClr val="B7791F"/>
            </a:solidFill>
            <a:prstDash val="solid"/>
          </a:ln>
        </p:spPr>
      </p:sp>
      <p:sp>
        <p:nvSpPr>
          <p:cNvPr id="30" name="v:AddingAndReplacing:l1ret|b2"/>
          <p:cNvSpPr txBox="1"/>
          <p:nvPr/>
        </p:nvSpPr>
        <p:spPr>
          <a:xfrm>
            <a:off x="6812280" y="1892808"/>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1" name="v:AddingAndReplacing:l1b0:box|b2"/>
          <p:cNvSpPr/>
          <p:nvPr/>
        </p:nvSpPr>
        <p:spPr>
          <a:xfrm>
            <a:off x="457200" y="2185416"/>
            <a:ext cx="777240" cy="228600"/>
          </a:xfrm>
          <a:prstGeom prst="roundRect">
            <a:avLst>
              <a:gd name="adj" fmla="val 20000"/>
            </a:avLst>
          </a:prstGeom>
          <a:solidFill>
            <a:srgbClr val="E3EEF8"/>
          </a:solidFill>
          <a:ln w="15875">
            <a:solidFill>
              <a:srgbClr val="306998"/>
            </a:solidFill>
            <a:prstDash val="solid"/>
          </a:ln>
        </p:spPr>
      </p:sp>
      <p:sp>
        <p:nvSpPr>
          <p:cNvPr id="32" name="v:AddingAndReplacing:l1b0|b2"/>
          <p:cNvSpPr txBox="1"/>
          <p:nvPr/>
        </p:nvSpPr>
        <p:spPr>
          <a:xfrm>
            <a:off x="47548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3" name="v:AddingAndReplacing:l1b1:box|b2"/>
          <p:cNvSpPr/>
          <p:nvPr/>
        </p:nvSpPr>
        <p:spPr>
          <a:xfrm>
            <a:off x="1280160" y="2185416"/>
            <a:ext cx="777240" cy="228600"/>
          </a:xfrm>
          <a:prstGeom prst="roundRect">
            <a:avLst>
              <a:gd name="adj" fmla="val 20000"/>
            </a:avLst>
          </a:prstGeom>
          <a:solidFill>
            <a:srgbClr val="E3EEF8"/>
          </a:solidFill>
          <a:ln w="15875">
            <a:solidFill>
              <a:srgbClr val="306998"/>
            </a:solidFill>
            <a:prstDash val="solid"/>
          </a:ln>
        </p:spPr>
      </p:sp>
      <p:sp>
        <p:nvSpPr>
          <p:cNvPr id="34" name="v:AddingAndReplacing:l1b1|b2"/>
          <p:cNvSpPr txBox="1"/>
          <p:nvPr/>
        </p:nvSpPr>
        <p:spPr>
          <a:xfrm>
            <a:off x="129844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35" name="v:AddingAndReplacing:l1b2:box|b2"/>
          <p:cNvSpPr/>
          <p:nvPr/>
        </p:nvSpPr>
        <p:spPr>
          <a:xfrm>
            <a:off x="2103120" y="2185416"/>
            <a:ext cx="777240" cy="228600"/>
          </a:xfrm>
          <a:prstGeom prst="roundRect">
            <a:avLst>
              <a:gd name="adj" fmla="val 20000"/>
            </a:avLst>
          </a:prstGeom>
          <a:solidFill>
            <a:srgbClr val="E3EEF8"/>
          </a:solidFill>
          <a:ln w="15875">
            <a:solidFill>
              <a:srgbClr val="306998"/>
            </a:solidFill>
            <a:prstDash val="solid"/>
          </a:ln>
        </p:spPr>
      </p:sp>
      <p:sp>
        <p:nvSpPr>
          <p:cNvPr id="36" name="v:AddingAndReplacing:l1b2|b2"/>
          <p:cNvSpPr txBox="1"/>
          <p:nvPr/>
        </p:nvSpPr>
        <p:spPr>
          <a:xfrm>
            <a:off x="212140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37" name="arrow|b2"/>
          <p:cNvSpPr/>
          <p:nvPr/>
        </p:nvSpPr>
        <p:spPr>
          <a:xfrm>
            <a:off x="4069080" y="2299716"/>
            <a:ext cx="411480" cy="0"/>
          </a:xfrm>
          <a:prstGeom prst="line">
            <a:avLst/>
          </a:prstGeom>
          <a:noFill/>
          <a:ln w="31750">
            <a:solidFill>
              <a:srgbClr val="2E9E5B"/>
            </a:solidFill>
            <a:prstDash val="solid"/>
            <a:tailEnd type="triangle"/>
          </a:ln>
        </p:spPr>
      </p:sp>
      <p:sp>
        <p:nvSpPr>
          <p:cNvPr id="38" name="v:AddingAndReplacing:l1a0:box|b2"/>
          <p:cNvSpPr/>
          <p:nvPr/>
        </p:nvSpPr>
        <p:spPr>
          <a:xfrm>
            <a:off x="4590288" y="2185416"/>
            <a:ext cx="777240" cy="228600"/>
          </a:xfrm>
          <a:prstGeom prst="roundRect">
            <a:avLst>
              <a:gd name="adj" fmla="val 20000"/>
            </a:avLst>
          </a:prstGeom>
          <a:solidFill>
            <a:srgbClr val="E3EEF8"/>
          </a:solidFill>
          <a:ln w="15875">
            <a:solidFill>
              <a:srgbClr val="306998"/>
            </a:solidFill>
            <a:prstDash val="solid"/>
          </a:ln>
        </p:spPr>
      </p:sp>
      <p:sp>
        <p:nvSpPr>
          <p:cNvPr id="39" name="v:AddingAndReplacing:l1a0|b2"/>
          <p:cNvSpPr txBox="1"/>
          <p:nvPr/>
        </p:nvSpPr>
        <p:spPr>
          <a:xfrm>
            <a:off x="460857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40" name="v:AddingAndReplacing:l1a1:box|b2"/>
          <p:cNvSpPr/>
          <p:nvPr/>
        </p:nvSpPr>
        <p:spPr>
          <a:xfrm>
            <a:off x="5413248" y="2185416"/>
            <a:ext cx="777240" cy="228600"/>
          </a:xfrm>
          <a:prstGeom prst="roundRect">
            <a:avLst>
              <a:gd name="adj" fmla="val 20000"/>
            </a:avLst>
          </a:prstGeom>
          <a:solidFill>
            <a:srgbClr val="DDF3E6"/>
          </a:solidFill>
          <a:ln w="15875">
            <a:solidFill>
              <a:srgbClr val="2E9E5B"/>
            </a:solidFill>
            <a:prstDash val="solid"/>
          </a:ln>
        </p:spPr>
      </p:sp>
      <p:sp>
        <p:nvSpPr>
          <p:cNvPr id="41" name="v:AddingAndReplacing:l1a1|b2"/>
          <p:cNvSpPr txBox="1"/>
          <p:nvPr/>
        </p:nvSpPr>
        <p:spPr>
          <a:xfrm>
            <a:off x="5431536" y="2185416"/>
            <a:ext cx="740664" cy="228600"/>
          </a:xfrm>
          <a:prstGeom prst="rect">
            <a:avLst/>
          </a:prstGeom>
          <a:noFill/>
          <a:ln/>
        </p:spPr>
        <p:txBody>
          <a:bodyPr wrap="square" lIns="0" tIns="0" rIns="0" bIns="0" rtlCol="0" anchor="ctr">
            <a:normAutofit/>
          </a:bodyPr>
          <a:lstStyle/>
          <a:p>
            <a:pPr algn="ctr" indent="0" marL="0">
              <a:buNone/>
            </a:pPr>
            <a:r>
              <a:rPr lang="en-US" sz="987" b="1" dirty="0">
                <a:solidFill>
                  <a:srgbClr val="2E9E5B"/>
                </a:solidFill>
                <a:latin typeface="Courier New" pitchFamily="34" charset="0"/>
                <a:ea typeface="Courier New" pitchFamily="34" charset="-122"/>
                <a:cs typeface="Courier New" pitchFamily="34" charset="-120"/>
              </a:rPr>
              <a:t>'chicken'</a:t>
            </a:r>
            <a:endParaRPr lang="en-US" sz="987" dirty="0"/>
          </a:p>
        </p:txBody>
      </p:sp>
      <p:sp>
        <p:nvSpPr>
          <p:cNvPr id="42" name="v:AddingAndReplacing:l1a2:box|b2"/>
          <p:cNvSpPr/>
          <p:nvPr/>
        </p:nvSpPr>
        <p:spPr>
          <a:xfrm>
            <a:off x="6236208" y="2185416"/>
            <a:ext cx="777240" cy="228600"/>
          </a:xfrm>
          <a:prstGeom prst="roundRect">
            <a:avLst>
              <a:gd name="adj" fmla="val 20000"/>
            </a:avLst>
          </a:prstGeom>
          <a:solidFill>
            <a:srgbClr val="E3EEF8"/>
          </a:solidFill>
          <a:ln w="15875">
            <a:solidFill>
              <a:srgbClr val="306998"/>
            </a:solidFill>
            <a:prstDash val="solid"/>
          </a:ln>
        </p:spPr>
      </p:sp>
      <p:sp>
        <p:nvSpPr>
          <p:cNvPr id="43" name="v:AddingAndReplacing:l1a2|b2"/>
          <p:cNvSpPr txBox="1"/>
          <p:nvPr/>
        </p:nvSpPr>
        <p:spPr>
          <a:xfrm>
            <a:off x="625449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4" name="v:AddingAndReplacing:l1a3:box|b2"/>
          <p:cNvSpPr/>
          <p:nvPr/>
        </p:nvSpPr>
        <p:spPr>
          <a:xfrm>
            <a:off x="7059168" y="2185416"/>
            <a:ext cx="777240" cy="228600"/>
          </a:xfrm>
          <a:prstGeom prst="roundRect">
            <a:avLst>
              <a:gd name="adj" fmla="val 20000"/>
            </a:avLst>
          </a:prstGeom>
          <a:solidFill>
            <a:srgbClr val="E3EEF8"/>
          </a:solidFill>
          <a:ln w="15875">
            <a:solidFill>
              <a:srgbClr val="306998"/>
            </a:solidFill>
            <a:prstDash val="solid"/>
          </a:ln>
        </p:spPr>
      </p:sp>
      <p:sp>
        <p:nvSpPr>
          <p:cNvPr id="45" name="v:AddingAndReplacing:l1a3|b2"/>
          <p:cNvSpPr txBox="1"/>
          <p:nvPr/>
        </p:nvSpPr>
        <p:spPr>
          <a:xfrm>
            <a:off x="707745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46" name="lanebox|b3"/>
          <p:cNvSpPr/>
          <p:nvPr/>
        </p:nvSpPr>
        <p:spPr>
          <a:xfrm>
            <a:off x="365760" y="2523744"/>
            <a:ext cx="8412480" cy="621792"/>
          </a:xfrm>
          <a:prstGeom prst="roundRect">
            <a:avLst>
              <a:gd name="adj" fmla="val 8824"/>
            </a:avLst>
          </a:prstGeom>
          <a:solidFill>
            <a:srgbClr val="FFFFFF"/>
          </a:solidFill>
          <a:ln w="9525">
            <a:solidFill>
              <a:srgbClr val="9AA8B8"/>
            </a:solidFill>
            <a:prstDash val="solid"/>
          </a:ln>
        </p:spPr>
      </p:sp>
      <p:sp>
        <p:nvSpPr>
          <p:cNvPr id="47" name="v:AddingAndReplacing:l2op|b3"/>
          <p:cNvSpPr txBox="1"/>
          <p:nvPr/>
        </p:nvSpPr>
        <p:spPr>
          <a:xfrm>
            <a:off x="457200" y="2542032"/>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spam[1] = 'aardvark'</a:t>
            </a:r>
            <a:endParaRPr lang="en-US" sz="1250" dirty="0"/>
          </a:p>
        </p:txBody>
      </p:sp>
      <p:sp>
        <p:nvSpPr>
          <p:cNvPr id="48" name="v:AddingAndReplacing:l2cat|b3"/>
          <p:cNvSpPr txBox="1"/>
          <p:nvPr/>
        </p:nvSpPr>
        <p:spPr>
          <a:xfrm>
            <a:off x="3611880" y="2542032"/>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49" name="v:AddingAndReplacing:l2retbox:box|b3"/>
          <p:cNvSpPr/>
          <p:nvPr/>
        </p:nvSpPr>
        <p:spPr>
          <a:xfrm>
            <a:off x="6812280" y="2569464"/>
            <a:ext cx="1874520" cy="246888"/>
          </a:xfrm>
          <a:prstGeom prst="roundRect">
            <a:avLst>
              <a:gd name="adj" fmla="val 29630"/>
            </a:avLst>
          </a:prstGeom>
          <a:solidFill>
            <a:srgbClr val="F1F4F8"/>
          </a:solidFill>
          <a:ln w="12700">
            <a:solidFill>
              <a:srgbClr val="9AA8B8"/>
            </a:solidFill>
            <a:prstDash val="solid"/>
          </a:ln>
        </p:spPr>
      </p:sp>
      <p:sp>
        <p:nvSpPr>
          <p:cNvPr id="50" name="v:AddingAndReplacing:l2ret|b3"/>
          <p:cNvSpPr txBox="1"/>
          <p:nvPr/>
        </p:nvSpPr>
        <p:spPr>
          <a:xfrm>
            <a:off x="6812280" y="2569464"/>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51" name="v:AddingAndReplacing:l2b0:box|b3"/>
          <p:cNvSpPr/>
          <p:nvPr/>
        </p:nvSpPr>
        <p:spPr>
          <a:xfrm>
            <a:off x="457200" y="2862072"/>
            <a:ext cx="777240" cy="228600"/>
          </a:xfrm>
          <a:prstGeom prst="roundRect">
            <a:avLst>
              <a:gd name="adj" fmla="val 20000"/>
            </a:avLst>
          </a:prstGeom>
          <a:solidFill>
            <a:srgbClr val="E3EEF8"/>
          </a:solidFill>
          <a:ln w="15875">
            <a:solidFill>
              <a:srgbClr val="306998"/>
            </a:solidFill>
            <a:prstDash val="solid"/>
          </a:ln>
        </p:spPr>
      </p:sp>
      <p:sp>
        <p:nvSpPr>
          <p:cNvPr id="52" name="v:AddingAndReplacing:l2b0|b3"/>
          <p:cNvSpPr txBox="1"/>
          <p:nvPr/>
        </p:nvSpPr>
        <p:spPr>
          <a:xfrm>
            <a:off x="47548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3" name="v:AddingAndReplacing:l2b1:box|b3"/>
          <p:cNvSpPr/>
          <p:nvPr/>
        </p:nvSpPr>
        <p:spPr>
          <a:xfrm>
            <a:off x="1280160" y="2862072"/>
            <a:ext cx="777240" cy="228600"/>
          </a:xfrm>
          <a:prstGeom prst="roundRect">
            <a:avLst>
              <a:gd name="adj" fmla="val 20000"/>
            </a:avLst>
          </a:prstGeom>
          <a:solidFill>
            <a:srgbClr val="FBE1E1"/>
          </a:solidFill>
          <a:ln w="15875">
            <a:solidFill>
              <a:srgbClr val="D64545"/>
            </a:solidFill>
            <a:prstDash val="solid"/>
          </a:ln>
        </p:spPr>
      </p:sp>
      <p:sp>
        <p:nvSpPr>
          <p:cNvPr id="54" name="v:AddingAndReplacing:l2b1|b3"/>
          <p:cNvSpPr txBox="1"/>
          <p:nvPr/>
        </p:nvSpPr>
        <p:spPr>
          <a:xfrm>
            <a:off x="129844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'bat'</a:t>
            </a:r>
            <a:endParaRPr lang="en-US" sz="1000" dirty="0"/>
          </a:p>
        </p:txBody>
      </p:sp>
      <p:sp>
        <p:nvSpPr>
          <p:cNvPr id="55" name="v:AddingAndReplacing:l2b2:box|b3"/>
          <p:cNvSpPr/>
          <p:nvPr/>
        </p:nvSpPr>
        <p:spPr>
          <a:xfrm>
            <a:off x="2103120" y="2862072"/>
            <a:ext cx="777240" cy="228600"/>
          </a:xfrm>
          <a:prstGeom prst="roundRect">
            <a:avLst>
              <a:gd name="adj" fmla="val 20000"/>
            </a:avLst>
          </a:prstGeom>
          <a:solidFill>
            <a:srgbClr val="E3EEF8"/>
          </a:solidFill>
          <a:ln w="15875">
            <a:solidFill>
              <a:srgbClr val="306998"/>
            </a:solidFill>
            <a:prstDash val="solid"/>
          </a:ln>
        </p:spPr>
      </p:sp>
      <p:sp>
        <p:nvSpPr>
          <p:cNvPr id="56" name="v:AddingAndReplacing:l2b2|b3"/>
          <p:cNvSpPr txBox="1"/>
          <p:nvPr/>
        </p:nvSpPr>
        <p:spPr>
          <a:xfrm>
            <a:off x="212140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57" name="v:AddingAndReplacing:l2b3:box|b3"/>
          <p:cNvSpPr/>
          <p:nvPr/>
        </p:nvSpPr>
        <p:spPr>
          <a:xfrm>
            <a:off x="2926080" y="2862072"/>
            <a:ext cx="777240" cy="228600"/>
          </a:xfrm>
          <a:prstGeom prst="roundRect">
            <a:avLst>
              <a:gd name="adj" fmla="val 20000"/>
            </a:avLst>
          </a:prstGeom>
          <a:solidFill>
            <a:srgbClr val="E3EEF8"/>
          </a:solidFill>
          <a:ln w="15875">
            <a:solidFill>
              <a:srgbClr val="306998"/>
            </a:solidFill>
            <a:prstDash val="solid"/>
          </a:ln>
        </p:spPr>
      </p:sp>
      <p:sp>
        <p:nvSpPr>
          <p:cNvPr id="58" name="v:AddingAndReplacing:l2b3|b3"/>
          <p:cNvSpPr txBox="1"/>
          <p:nvPr/>
        </p:nvSpPr>
        <p:spPr>
          <a:xfrm>
            <a:off x="2944368"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59" name="arrow|b3"/>
          <p:cNvSpPr/>
          <p:nvPr/>
        </p:nvSpPr>
        <p:spPr>
          <a:xfrm>
            <a:off x="4069080" y="2976372"/>
            <a:ext cx="411480" cy="0"/>
          </a:xfrm>
          <a:prstGeom prst="line">
            <a:avLst/>
          </a:prstGeom>
          <a:noFill/>
          <a:ln w="31750">
            <a:solidFill>
              <a:srgbClr val="2E9E5B"/>
            </a:solidFill>
            <a:prstDash val="solid"/>
            <a:tailEnd type="triangle"/>
          </a:ln>
        </p:spPr>
      </p:sp>
      <p:sp>
        <p:nvSpPr>
          <p:cNvPr id="60" name="v:AddingAndReplacing:l2a0:box|b3"/>
          <p:cNvSpPr/>
          <p:nvPr/>
        </p:nvSpPr>
        <p:spPr>
          <a:xfrm>
            <a:off x="4590288" y="2862072"/>
            <a:ext cx="777240" cy="228600"/>
          </a:xfrm>
          <a:prstGeom prst="roundRect">
            <a:avLst>
              <a:gd name="adj" fmla="val 20000"/>
            </a:avLst>
          </a:prstGeom>
          <a:solidFill>
            <a:srgbClr val="E3EEF8"/>
          </a:solidFill>
          <a:ln w="15875">
            <a:solidFill>
              <a:srgbClr val="306998"/>
            </a:solidFill>
            <a:prstDash val="solid"/>
          </a:ln>
        </p:spPr>
      </p:sp>
      <p:sp>
        <p:nvSpPr>
          <p:cNvPr id="61" name="v:AddingAndReplacing:l2a0|b3"/>
          <p:cNvSpPr txBox="1"/>
          <p:nvPr/>
        </p:nvSpPr>
        <p:spPr>
          <a:xfrm>
            <a:off x="460857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2" name="v:AddingAndReplacing:l2a1:box|b3"/>
          <p:cNvSpPr/>
          <p:nvPr/>
        </p:nvSpPr>
        <p:spPr>
          <a:xfrm>
            <a:off x="5413248" y="2862072"/>
            <a:ext cx="777240" cy="228600"/>
          </a:xfrm>
          <a:prstGeom prst="roundRect">
            <a:avLst>
              <a:gd name="adj" fmla="val 20000"/>
            </a:avLst>
          </a:prstGeom>
          <a:solidFill>
            <a:srgbClr val="DDF3E6"/>
          </a:solidFill>
          <a:ln w="15875">
            <a:solidFill>
              <a:srgbClr val="2E9E5B"/>
            </a:solidFill>
            <a:prstDash val="solid"/>
          </a:ln>
        </p:spPr>
      </p:sp>
      <p:sp>
        <p:nvSpPr>
          <p:cNvPr id="63" name="v:AddingAndReplacing:l2a1|b3"/>
          <p:cNvSpPr txBox="1"/>
          <p:nvPr/>
        </p:nvSpPr>
        <p:spPr>
          <a:xfrm>
            <a:off x="543153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2E9E5B"/>
                </a:solidFill>
                <a:latin typeface="Courier New" pitchFamily="34" charset="0"/>
                <a:ea typeface="Courier New" pitchFamily="34" charset="-122"/>
                <a:cs typeface="Courier New" pitchFamily="34" charset="-120"/>
              </a:rPr>
              <a:t>'aardvark'</a:t>
            </a:r>
            <a:endParaRPr lang="en-US" sz="889" dirty="0"/>
          </a:p>
        </p:txBody>
      </p:sp>
      <p:sp>
        <p:nvSpPr>
          <p:cNvPr id="64" name="v:AddingAndReplacing:l2a2:box|b3"/>
          <p:cNvSpPr/>
          <p:nvPr/>
        </p:nvSpPr>
        <p:spPr>
          <a:xfrm>
            <a:off x="6236208" y="2862072"/>
            <a:ext cx="777240" cy="228600"/>
          </a:xfrm>
          <a:prstGeom prst="roundRect">
            <a:avLst>
              <a:gd name="adj" fmla="val 20000"/>
            </a:avLst>
          </a:prstGeom>
          <a:solidFill>
            <a:srgbClr val="E3EEF8"/>
          </a:solidFill>
          <a:ln w="15875">
            <a:solidFill>
              <a:srgbClr val="306998"/>
            </a:solidFill>
            <a:prstDash val="solid"/>
          </a:ln>
        </p:spPr>
      </p:sp>
      <p:sp>
        <p:nvSpPr>
          <p:cNvPr id="65" name="v:AddingAndReplacing:l2a2|b3"/>
          <p:cNvSpPr txBox="1"/>
          <p:nvPr/>
        </p:nvSpPr>
        <p:spPr>
          <a:xfrm>
            <a:off x="625449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66" name="v:AddingAndReplacing:l2a3:box|b3"/>
          <p:cNvSpPr/>
          <p:nvPr/>
        </p:nvSpPr>
        <p:spPr>
          <a:xfrm>
            <a:off x="7059168" y="2862072"/>
            <a:ext cx="777240" cy="228600"/>
          </a:xfrm>
          <a:prstGeom prst="roundRect">
            <a:avLst>
              <a:gd name="adj" fmla="val 20000"/>
            </a:avLst>
          </a:prstGeom>
          <a:solidFill>
            <a:srgbClr val="E3EEF8"/>
          </a:solidFill>
          <a:ln w="15875">
            <a:solidFill>
              <a:srgbClr val="306998"/>
            </a:solidFill>
            <a:prstDash val="solid"/>
          </a:ln>
        </p:spPr>
      </p:sp>
      <p:sp>
        <p:nvSpPr>
          <p:cNvPr id="67" name="v:AddingAndReplacing:l2a3|b3"/>
          <p:cNvSpPr txBox="1"/>
          <p:nvPr/>
        </p:nvSpPr>
        <p:spPr>
          <a:xfrm>
            <a:off x="707745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68" name="lanebox|b4"/>
          <p:cNvSpPr/>
          <p:nvPr/>
        </p:nvSpPr>
        <p:spPr>
          <a:xfrm>
            <a:off x="365760" y="3200400"/>
            <a:ext cx="8412480" cy="621792"/>
          </a:xfrm>
          <a:prstGeom prst="roundRect">
            <a:avLst>
              <a:gd name="adj" fmla="val 8824"/>
            </a:avLst>
          </a:prstGeom>
          <a:solidFill>
            <a:srgbClr val="FFFFFF"/>
          </a:solidFill>
          <a:ln w="9525">
            <a:solidFill>
              <a:srgbClr val="9AA8B8"/>
            </a:solidFill>
            <a:prstDash val="solid"/>
          </a:ln>
        </p:spPr>
      </p:sp>
      <p:sp>
        <p:nvSpPr>
          <p:cNvPr id="69" name="v:AddingAndReplacing:l3op|b4"/>
          <p:cNvSpPr txBox="1"/>
          <p:nvPr/>
        </p:nvSpPr>
        <p:spPr>
          <a:xfrm>
            <a:off x="457200" y="321868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letters[2:5] = ['C', 'D', 'E']</a:t>
            </a:r>
            <a:endParaRPr lang="en-US" sz="1250" dirty="0"/>
          </a:p>
        </p:txBody>
      </p:sp>
      <p:sp>
        <p:nvSpPr>
          <p:cNvPr id="70" name="v:AddingAndReplacing:l3cat|b4"/>
          <p:cNvSpPr txBox="1"/>
          <p:nvPr/>
        </p:nvSpPr>
        <p:spPr>
          <a:xfrm>
            <a:off x="3611880" y="321868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AddingAndReplacing:l3retbox:box|b4"/>
          <p:cNvSpPr/>
          <p:nvPr/>
        </p:nvSpPr>
        <p:spPr>
          <a:xfrm>
            <a:off x="6812280" y="3246120"/>
            <a:ext cx="1874520" cy="246888"/>
          </a:xfrm>
          <a:prstGeom prst="roundRect">
            <a:avLst>
              <a:gd name="adj" fmla="val 29630"/>
            </a:avLst>
          </a:prstGeom>
          <a:solidFill>
            <a:srgbClr val="F1F4F8"/>
          </a:solidFill>
          <a:ln w="12700">
            <a:solidFill>
              <a:srgbClr val="9AA8B8"/>
            </a:solidFill>
            <a:prstDash val="solid"/>
          </a:ln>
        </p:spPr>
      </p:sp>
      <p:sp>
        <p:nvSpPr>
          <p:cNvPr id="72" name="v:AddingAndReplacing:l3ret|b4"/>
          <p:cNvSpPr txBox="1"/>
          <p:nvPr/>
        </p:nvSpPr>
        <p:spPr>
          <a:xfrm>
            <a:off x="6812280" y="324612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73" name="v:AddingAndReplacing:l3b0:box|b4"/>
          <p:cNvSpPr/>
          <p:nvPr/>
        </p:nvSpPr>
        <p:spPr>
          <a:xfrm>
            <a:off x="457200" y="3538728"/>
            <a:ext cx="463731" cy="228600"/>
          </a:xfrm>
          <a:prstGeom prst="roundRect">
            <a:avLst>
              <a:gd name="adj" fmla="val 20000"/>
            </a:avLst>
          </a:prstGeom>
          <a:solidFill>
            <a:srgbClr val="E3EEF8"/>
          </a:solidFill>
          <a:ln w="15875">
            <a:solidFill>
              <a:srgbClr val="306998"/>
            </a:solidFill>
            <a:prstDash val="solid"/>
          </a:ln>
        </p:spPr>
      </p:sp>
      <p:sp>
        <p:nvSpPr>
          <p:cNvPr id="74" name="v:AddingAndReplacing:l3b0|b4"/>
          <p:cNvSpPr txBox="1"/>
          <p:nvPr/>
        </p:nvSpPr>
        <p:spPr>
          <a:xfrm>
            <a:off x="475488"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75" name="v:AddingAndReplacing:l3b1:box|b4"/>
          <p:cNvSpPr/>
          <p:nvPr/>
        </p:nvSpPr>
        <p:spPr>
          <a:xfrm>
            <a:off x="966651" y="3538728"/>
            <a:ext cx="463731" cy="228600"/>
          </a:xfrm>
          <a:prstGeom prst="roundRect">
            <a:avLst>
              <a:gd name="adj" fmla="val 20000"/>
            </a:avLst>
          </a:prstGeom>
          <a:solidFill>
            <a:srgbClr val="E3EEF8"/>
          </a:solidFill>
          <a:ln w="15875">
            <a:solidFill>
              <a:srgbClr val="306998"/>
            </a:solidFill>
            <a:prstDash val="solid"/>
          </a:ln>
        </p:spPr>
      </p:sp>
      <p:sp>
        <p:nvSpPr>
          <p:cNvPr id="76" name="v:AddingAndReplacing:l3b1|b4"/>
          <p:cNvSpPr txBox="1"/>
          <p:nvPr/>
        </p:nvSpPr>
        <p:spPr>
          <a:xfrm>
            <a:off x="984939"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77" name="v:AddingAndReplacing:l3b2:box|b4"/>
          <p:cNvSpPr/>
          <p:nvPr/>
        </p:nvSpPr>
        <p:spPr>
          <a:xfrm>
            <a:off x="1476103" y="3538728"/>
            <a:ext cx="463731" cy="228600"/>
          </a:xfrm>
          <a:prstGeom prst="roundRect">
            <a:avLst>
              <a:gd name="adj" fmla="val 20000"/>
            </a:avLst>
          </a:prstGeom>
          <a:solidFill>
            <a:srgbClr val="FBE1E1"/>
          </a:solidFill>
          <a:ln w="15875">
            <a:solidFill>
              <a:srgbClr val="D64545"/>
            </a:solidFill>
            <a:prstDash val="solid"/>
          </a:ln>
        </p:spPr>
      </p:sp>
      <p:sp>
        <p:nvSpPr>
          <p:cNvPr id="78" name="v:AddingAndReplacing:l3b2|b4"/>
          <p:cNvSpPr txBox="1"/>
          <p:nvPr/>
        </p:nvSpPr>
        <p:spPr>
          <a:xfrm>
            <a:off x="1494391"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
            </a:r>
            <a:endParaRPr lang="en-US" sz="1000" dirty="0"/>
          </a:p>
        </p:txBody>
      </p:sp>
      <p:sp>
        <p:nvSpPr>
          <p:cNvPr id="79" name="v:AddingAndReplacing:l3b3:box|b4"/>
          <p:cNvSpPr/>
          <p:nvPr/>
        </p:nvSpPr>
        <p:spPr>
          <a:xfrm>
            <a:off x="1985554" y="3538728"/>
            <a:ext cx="463731" cy="228600"/>
          </a:xfrm>
          <a:prstGeom prst="roundRect">
            <a:avLst>
              <a:gd name="adj" fmla="val 20000"/>
            </a:avLst>
          </a:prstGeom>
          <a:solidFill>
            <a:srgbClr val="FBE1E1"/>
          </a:solidFill>
          <a:ln w="15875">
            <a:solidFill>
              <a:srgbClr val="D64545"/>
            </a:solidFill>
            <a:prstDash val="solid"/>
          </a:ln>
        </p:spPr>
      </p:sp>
      <p:sp>
        <p:nvSpPr>
          <p:cNvPr id="80" name="v:AddingAndReplacing:l3b3|b4"/>
          <p:cNvSpPr txBox="1"/>
          <p:nvPr/>
        </p:nvSpPr>
        <p:spPr>
          <a:xfrm>
            <a:off x="2003842"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'd'</a:t>
            </a:r>
            <a:endParaRPr lang="en-US" sz="1000" dirty="0"/>
          </a:p>
        </p:txBody>
      </p:sp>
      <p:sp>
        <p:nvSpPr>
          <p:cNvPr id="81" name="v:AddingAndReplacing:l3b4:box|b4"/>
          <p:cNvSpPr/>
          <p:nvPr/>
        </p:nvSpPr>
        <p:spPr>
          <a:xfrm>
            <a:off x="2495006" y="3538728"/>
            <a:ext cx="463731" cy="228600"/>
          </a:xfrm>
          <a:prstGeom prst="roundRect">
            <a:avLst>
              <a:gd name="adj" fmla="val 20000"/>
            </a:avLst>
          </a:prstGeom>
          <a:solidFill>
            <a:srgbClr val="FBE1E1"/>
          </a:solidFill>
          <a:ln w="15875">
            <a:solidFill>
              <a:srgbClr val="D64545"/>
            </a:solidFill>
            <a:prstDash val="solid"/>
          </a:ln>
        </p:spPr>
      </p:sp>
      <p:sp>
        <p:nvSpPr>
          <p:cNvPr id="82" name="v:AddingAndReplacing:l3b4|b4"/>
          <p:cNvSpPr txBox="1"/>
          <p:nvPr/>
        </p:nvSpPr>
        <p:spPr>
          <a:xfrm>
            <a:off x="2513294"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'e'</a:t>
            </a:r>
            <a:endParaRPr lang="en-US" sz="1000" dirty="0"/>
          </a:p>
        </p:txBody>
      </p:sp>
      <p:sp>
        <p:nvSpPr>
          <p:cNvPr id="83" name="v:AddingAndReplacing:l3b5:box|b4"/>
          <p:cNvSpPr/>
          <p:nvPr/>
        </p:nvSpPr>
        <p:spPr>
          <a:xfrm>
            <a:off x="3004457" y="3538728"/>
            <a:ext cx="463731" cy="228600"/>
          </a:xfrm>
          <a:prstGeom prst="roundRect">
            <a:avLst>
              <a:gd name="adj" fmla="val 20000"/>
            </a:avLst>
          </a:prstGeom>
          <a:solidFill>
            <a:srgbClr val="E3EEF8"/>
          </a:solidFill>
          <a:ln w="15875">
            <a:solidFill>
              <a:srgbClr val="306998"/>
            </a:solidFill>
            <a:prstDash val="solid"/>
          </a:ln>
        </p:spPr>
      </p:sp>
      <p:sp>
        <p:nvSpPr>
          <p:cNvPr id="84" name="v:AddingAndReplacing:l3b5|b4"/>
          <p:cNvSpPr txBox="1"/>
          <p:nvPr/>
        </p:nvSpPr>
        <p:spPr>
          <a:xfrm>
            <a:off x="3022745"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85" name="v:AddingAndReplacing:l3b6:box|b4"/>
          <p:cNvSpPr/>
          <p:nvPr/>
        </p:nvSpPr>
        <p:spPr>
          <a:xfrm>
            <a:off x="3513909" y="3538728"/>
            <a:ext cx="463731" cy="228600"/>
          </a:xfrm>
          <a:prstGeom prst="roundRect">
            <a:avLst>
              <a:gd name="adj" fmla="val 20000"/>
            </a:avLst>
          </a:prstGeom>
          <a:solidFill>
            <a:srgbClr val="E3EEF8"/>
          </a:solidFill>
          <a:ln w="15875">
            <a:solidFill>
              <a:srgbClr val="306998"/>
            </a:solidFill>
            <a:prstDash val="solid"/>
          </a:ln>
        </p:spPr>
      </p:sp>
      <p:sp>
        <p:nvSpPr>
          <p:cNvPr id="86" name="v:AddingAndReplacing:l3b6|b4"/>
          <p:cNvSpPr txBox="1"/>
          <p:nvPr/>
        </p:nvSpPr>
        <p:spPr>
          <a:xfrm>
            <a:off x="3532197"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87" name="arrow|b4"/>
          <p:cNvSpPr/>
          <p:nvPr/>
        </p:nvSpPr>
        <p:spPr>
          <a:xfrm>
            <a:off x="4069080" y="3653028"/>
            <a:ext cx="411480" cy="0"/>
          </a:xfrm>
          <a:prstGeom prst="line">
            <a:avLst/>
          </a:prstGeom>
          <a:noFill/>
          <a:ln w="31750">
            <a:solidFill>
              <a:srgbClr val="2E9E5B"/>
            </a:solidFill>
            <a:prstDash val="solid"/>
            <a:tailEnd type="triangle"/>
          </a:ln>
        </p:spPr>
      </p:sp>
      <p:sp>
        <p:nvSpPr>
          <p:cNvPr id="88" name="v:AddingAndReplacing:l3a0:box|b4"/>
          <p:cNvSpPr/>
          <p:nvPr/>
        </p:nvSpPr>
        <p:spPr>
          <a:xfrm>
            <a:off x="4590288" y="3538728"/>
            <a:ext cx="542109" cy="228600"/>
          </a:xfrm>
          <a:prstGeom prst="roundRect">
            <a:avLst>
              <a:gd name="adj" fmla="val 20000"/>
            </a:avLst>
          </a:prstGeom>
          <a:solidFill>
            <a:srgbClr val="E3EEF8"/>
          </a:solidFill>
          <a:ln w="15875">
            <a:solidFill>
              <a:srgbClr val="306998"/>
            </a:solidFill>
            <a:prstDash val="solid"/>
          </a:ln>
        </p:spPr>
      </p:sp>
      <p:sp>
        <p:nvSpPr>
          <p:cNvPr id="89" name="v:AddingAndReplacing:l3a0|b4"/>
          <p:cNvSpPr txBox="1"/>
          <p:nvPr/>
        </p:nvSpPr>
        <p:spPr>
          <a:xfrm>
            <a:off x="4608576"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90" name="v:AddingAndReplacing:l3a1:box|b4"/>
          <p:cNvSpPr/>
          <p:nvPr/>
        </p:nvSpPr>
        <p:spPr>
          <a:xfrm>
            <a:off x="5178117" y="3538728"/>
            <a:ext cx="542109" cy="228600"/>
          </a:xfrm>
          <a:prstGeom prst="roundRect">
            <a:avLst>
              <a:gd name="adj" fmla="val 20000"/>
            </a:avLst>
          </a:prstGeom>
          <a:solidFill>
            <a:srgbClr val="E3EEF8"/>
          </a:solidFill>
          <a:ln w="15875">
            <a:solidFill>
              <a:srgbClr val="306998"/>
            </a:solidFill>
            <a:prstDash val="solid"/>
          </a:ln>
        </p:spPr>
      </p:sp>
      <p:sp>
        <p:nvSpPr>
          <p:cNvPr id="91" name="v:AddingAndReplacing:l3a1|b4"/>
          <p:cNvSpPr txBox="1"/>
          <p:nvPr/>
        </p:nvSpPr>
        <p:spPr>
          <a:xfrm>
            <a:off x="5196405"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92" name="v:AddingAndReplacing:l3a2:box|b4"/>
          <p:cNvSpPr/>
          <p:nvPr/>
        </p:nvSpPr>
        <p:spPr>
          <a:xfrm>
            <a:off x="5765945" y="3538728"/>
            <a:ext cx="542109" cy="228600"/>
          </a:xfrm>
          <a:prstGeom prst="roundRect">
            <a:avLst>
              <a:gd name="adj" fmla="val 20000"/>
            </a:avLst>
          </a:prstGeom>
          <a:solidFill>
            <a:srgbClr val="DDF3E6"/>
          </a:solidFill>
          <a:ln w="15875">
            <a:solidFill>
              <a:srgbClr val="2E9E5B"/>
            </a:solidFill>
            <a:prstDash val="solid"/>
          </a:ln>
        </p:spPr>
      </p:sp>
      <p:sp>
        <p:nvSpPr>
          <p:cNvPr id="93" name="v:AddingAndReplacing:l3a2|b4"/>
          <p:cNvSpPr txBox="1"/>
          <p:nvPr/>
        </p:nvSpPr>
        <p:spPr>
          <a:xfrm>
            <a:off x="5784233"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94" name="v:AddingAndReplacing:l3a3:box|b4"/>
          <p:cNvSpPr/>
          <p:nvPr/>
        </p:nvSpPr>
        <p:spPr>
          <a:xfrm>
            <a:off x="6353774" y="3538728"/>
            <a:ext cx="542109" cy="228600"/>
          </a:xfrm>
          <a:prstGeom prst="roundRect">
            <a:avLst>
              <a:gd name="adj" fmla="val 20000"/>
            </a:avLst>
          </a:prstGeom>
          <a:solidFill>
            <a:srgbClr val="DDF3E6"/>
          </a:solidFill>
          <a:ln w="15875">
            <a:solidFill>
              <a:srgbClr val="2E9E5B"/>
            </a:solidFill>
            <a:prstDash val="solid"/>
          </a:ln>
        </p:spPr>
      </p:sp>
      <p:sp>
        <p:nvSpPr>
          <p:cNvPr id="95" name="v:AddingAndReplacing:l3a3|b4"/>
          <p:cNvSpPr txBox="1"/>
          <p:nvPr/>
        </p:nvSpPr>
        <p:spPr>
          <a:xfrm>
            <a:off x="6372062"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'D'</a:t>
            </a:r>
            <a:endParaRPr lang="en-US" sz="1000" dirty="0"/>
          </a:p>
        </p:txBody>
      </p:sp>
      <p:sp>
        <p:nvSpPr>
          <p:cNvPr id="96" name="v:AddingAndReplacing:l3a4:box|b4"/>
          <p:cNvSpPr/>
          <p:nvPr/>
        </p:nvSpPr>
        <p:spPr>
          <a:xfrm>
            <a:off x="6941602" y="3538728"/>
            <a:ext cx="542109" cy="228600"/>
          </a:xfrm>
          <a:prstGeom prst="roundRect">
            <a:avLst>
              <a:gd name="adj" fmla="val 20000"/>
            </a:avLst>
          </a:prstGeom>
          <a:solidFill>
            <a:srgbClr val="DDF3E6"/>
          </a:solidFill>
          <a:ln w="15875">
            <a:solidFill>
              <a:srgbClr val="2E9E5B"/>
            </a:solidFill>
            <a:prstDash val="solid"/>
          </a:ln>
        </p:spPr>
      </p:sp>
      <p:sp>
        <p:nvSpPr>
          <p:cNvPr id="97" name="v:AddingAndReplacing:l3a4|b4"/>
          <p:cNvSpPr txBox="1"/>
          <p:nvPr/>
        </p:nvSpPr>
        <p:spPr>
          <a:xfrm>
            <a:off x="6959890"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'E'</a:t>
            </a:r>
            <a:endParaRPr lang="en-US" sz="1000" dirty="0"/>
          </a:p>
        </p:txBody>
      </p:sp>
      <p:sp>
        <p:nvSpPr>
          <p:cNvPr id="98" name="v:AddingAndReplacing:l3a5:box|b4"/>
          <p:cNvSpPr/>
          <p:nvPr/>
        </p:nvSpPr>
        <p:spPr>
          <a:xfrm>
            <a:off x="7529431" y="3538728"/>
            <a:ext cx="542109" cy="228600"/>
          </a:xfrm>
          <a:prstGeom prst="roundRect">
            <a:avLst>
              <a:gd name="adj" fmla="val 20000"/>
            </a:avLst>
          </a:prstGeom>
          <a:solidFill>
            <a:srgbClr val="E3EEF8"/>
          </a:solidFill>
          <a:ln w="15875">
            <a:solidFill>
              <a:srgbClr val="306998"/>
            </a:solidFill>
            <a:prstDash val="solid"/>
          </a:ln>
        </p:spPr>
      </p:sp>
      <p:sp>
        <p:nvSpPr>
          <p:cNvPr id="99" name="v:AddingAndReplacing:l3a5|b4"/>
          <p:cNvSpPr txBox="1"/>
          <p:nvPr/>
        </p:nvSpPr>
        <p:spPr>
          <a:xfrm>
            <a:off x="7547719"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100" name="v:AddingAndReplacing:l3a6:box|b4"/>
          <p:cNvSpPr/>
          <p:nvPr/>
        </p:nvSpPr>
        <p:spPr>
          <a:xfrm>
            <a:off x="8117259" y="3538728"/>
            <a:ext cx="542109" cy="228600"/>
          </a:xfrm>
          <a:prstGeom prst="roundRect">
            <a:avLst>
              <a:gd name="adj" fmla="val 20000"/>
            </a:avLst>
          </a:prstGeom>
          <a:solidFill>
            <a:srgbClr val="E3EEF8"/>
          </a:solidFill>
          <a:ln w="15875">
            <a:solidFill>
              <a:srgbClr val="306998"/>
            </a:solidFill>
            <a:prstDash val="solid"/>
          </a:ln>
        </p:spPr>
      </p:sp>
      <p:sp>
        <p:nvSpPr>
          <p:cNvPr id="101" name="v:AddingAndReplacing:l3a6|b4"/>
          <p:cNvSpPr txBox="1"/>
          <p:nvPr/>
        </p:nvSpPr>
        <p:spPr>
          <a:xfrm>
            <a:off x="8135547"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102" name="codecardbox|b5"/>
          <p:cNvSpPr/>
          <p:nvPr/>
        </p:nvSpPr>
        <p:spPr>
          <a:xfrm>
            <a:off x="365760" y="3886200"/>
            <a:ext cx="4389120" cy="768096"/>
          </a:xfrm>
          <a:prstGeom prst="roundRect">
            <a:avLst>
              <a:gd name="adj" fmla="val 11905"/>
            </a:avLst>
          </a:prstGeom>
          <a:solidFill>
            <a:srgbClr val="17202B"/>
          </a:solidFill>
          <a:ln w="12700">
            <a:solidFill>
              <a:srgbClr val="17202B"/>
            </a:solidFill>
            <a:prstDash val="solid"/>
          </a:ln>
        </p:spPr>
      </p:sp>
      <p:sp>
        <p:nvSpPr>
          <p:cNvPr id="103" name="codecard|b5"/>
          <p:cNvSpPr txBox="1"/>
          <p:nvPr/>
        </p:nvSpPr>
        <p:spPr>
          <a:xfrm>
            <a:off x="530352" y="3959352"/>
            <a:ext cx="4059936" cy="621792"/>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['cat', 'dog', 'bat']</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spam.append('moose')</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print(spam)</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None</a:t>
            </a:r>
            <a:endParaRPr lang="en-US" sz="950" dirty="0"/>
          </a:p>
        </p:txBody>
      </p:sp>
      <p:sp>
        <p:nvSpPr>
          <p:cNvPr id="104" name="say|b5"/>
          <p:cNvSpPr txBox="1"/>
          <p:nvPr/>
        </p:nvSpPr>
        <p:spPr>
          <a:xfrm>
            <a:off x="4937760" y="3950208"/>
            <a:ext cx="3840480" cy="640080"/>
          </a:xfrm>
          <a:prstGeom prst="rect">
            <a:avLst/>
          </a:prstGeom>
          <a:noFill/>
          <a:ln/>
        </p:spPr>
        <p:txBody>
          <a:bodyPr wrap="square" lIns="0" tIns="0" rIns="0" bIns="0" rtlCol="0" anchor="t"/>
          <a:lstStyle/>
          <a:p>
            <a:pPr indent="0" marL="0">
              <a:buNone/>
            </a:pPr>
            <a:r>
              <a:rPr lang="en-US" sz="1250" b="1" dirty="0">
                <a:solidFill>
                  <a:srgbClr val="D64545"/>
                </a:solidFill>
                <a:latin typeface="Calibri" pitchFamily="34" charset="0"/>
                <a:ea typeface="Calibri" pitchFamily="34" charset="-122"/>
                <a:cs typeface="Calibri" pitchFamily="34" charset="-120"/>
              </a:rPr>
              <a:t>Assigning the result of append to spam leaves spam holding None: the list is lost.</a:t>
            </a:r>
            <a:endParaRPr lang="en-US" sz="1250" dirty="0"/>
          </a:p>
        </p:txBody>
      </p:sp>
      <p:sp>
        <p:nvSpPr>
          <p:cNvPr id="10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Append method, Insert method, Item assignment, Slice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childTnLst>
                          </p:cTn>
                        </p:par>
                      </p:childTnLst>
                    </p:cTn>
                  </p:par>
                  <p:par>
                    <p:cTn id="125" fill="hold">
                      <p:stCondLst>
                        <p:cond delay="indefinite"/>
                      </p:stCondLst>
                      <p:childTnLst>
                        <p:par>
                          <p:cTn id="126"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childTnLst>
                          </p:cTn>
                        </p:par>
                      </p:childTnLst>
                    </p:cTn>
                  </p:par>
                  <p:par>
                    <p:cTn id="193" fill="hold">
                      <p:stCondLst>
                        <p:cond delay="indefinite"/>
                      </p:stCondLst>
                      <p:childTnLst>
                        <p:par>
                          <p:cTn id="194"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97" fill="hold">
                      <p:stCondLst>
                        <p:cond delay="indefinite"/>
                      </p:stCondLst>
                      <p:childTnLst>
                        <p:par>
                          <p:cTn id="298"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par>
                                <p:cTn id="285" presetID="10" presetClass="entr" presetSubtype="0" fill="hold" nodeType="withEffect">
                                  <p:stCondLst>
                                    <p:cond delay="0"/>
                                  </p:stCondLst>
                                  <p:childTnLst>
                                    <p:set>
                                      <p:cBhvr>
                                        <p:cTn id="286" dur="1" fill="hold">
                                          <p:stCondLst>
                                            <p:cond delay="0"/>
                                          </p:stCondLst>
                                        </p:cTn>
                                        <p:tgtEl>
                                          <p:spTgt spid="98"/>
                                        </p:tgtEl>
                                        <p:attrNameLst>
                                          <p:attrName>style.visibility</p:attrName>
                                        </p:attrNameLst>
                                      </p:cBhvr>
                                      <p:to>
                                        <p:strVal val="visible"/>
                                      </p:to>
                                    </p:set>
                                    <p:animEffect transition="in" filter="fade">
                                      <p:cBhvr>
                                        <p:cTn id="287" dur="400"/>
                                        <p:tgtEl>
                                          <p:spTgt spid="98"/>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99"/>
                                        </p:tgtEl>
                                        <p:attrNameLst>
                                          <p:attrName>style.visibility</p:attrName>
                                        </p:attrNameLst>
                                      </p:cBhvr>
                                      <p:to>
                                        <p:strVal val="visible"/>
                                      </p:to>
                                    </p:set>
                                    <p:animEffect transition="in" filter="fade">
                                      <p:cBhvr>
                                        <p:cTn id="290" dur="400"/>
                                        <p:tgtEl>
                                          <p:spTgt spid="99"/>
                                        </p:tgtEl>
                                      </p:cBhvr>
                                    </p:animEffect>
                                  </p:childTnLst>
                                </p:cTn>
                              </p:par>
                              <p:par>
                                <p:cTn id="291" presetID="10" presetClass="entr" presetSubtype="0" fill="hold" nodeType="withEffect">
                                  <p:stCondLst>
                                    <p:cond delay="0"/>
                                  </p:stCondLst>
                                  <p:childTnLst>
                                    <p:set>
                                      <p:cBhvr>
                                        <p:cTn id="292" dur="1" fill="hold">
                                          <p:stCondLst>
                                            <p:cond delay="0"/>
                                          </p:stCondLst>
                                        </p:cTn>
                                        <p:tgtEl>
                                          <p:spTgt spid="100"/>
                                        </p:tgtEl>
                                        <p:attrNameLst>
                                          <p:attrName>style.visibility</p:attrName>
                                        </p:attrNameLst>
                                      </p:cBhvr>
                                      <p:to>
                                        <p:strVal val="visible"/>
                                      </p:to>
                                    </p:set>
                                    <p:animEffect transition="in" filter="fade">
                                      <p:cBhvr>
                                        <p:cTn id="293" dur="400"/>
                                        <p:tgtEl>
                                          <p:spTgt spid="100"/>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101"/>
                                        </p:tgtEl>
                                        <p:attrNameLst>
                                          <p:attrName>style.visibility</p:attrName>
                                        </p:attrNameLst>
                                      </p:cBhvr>
                                      <p:to>
                                        <p:strVal val="visible"/>
                                      </p:to>
                                    </p:set>
                                    <p:animEffect transition="in" filter="fade">
                                      <p:cBhvr>
                                        <p:cTn id="296" dur="400"/>
                                        <p:tgtEl>
                                          <p:spTgt spid="101"/>
                                        </p:tgtEl>
                                      </p:cBhvr>
                                    </p:animEffect>
                                  </p:childTnLst>
                                </p:cTn>
                              </p:par>
                            </p:childTnLst>
                          </p:cTn>
                        </p:par>
                      </p:childTnLst>
                    </p:cTn>
                  </p:par>
                  <p:par>
                    <p:cTn id="308" fill="hold">
                      <p:stCondLst>
                        <p:cond delay="indefinite"/>
                      </p:stCondLst>
                      <p:childTnLst>
                        <p:par>
                          <p:cTn id="309" fill="hold">
                            <p:stCondLst>
                              <p:cond delay="0"/>
                            </p:stCondLst>
                            <p:childTnLst>
                              <p:par>
                                <p:cTn id="299" presetID="10" presetClass="entr" presetSubtype="0" fill="hold" nodeType="clickEffect">
                                  <p:stCondLst>
                                    <p:cond delay="0"/>
                                  </p:stCondLst>
                                  <p:childTnLst>
                                    <p:set>
                                      <p:cBhvr>
                                        <p:cTn id="300" dur="1" fill="hold">
                                          <p:stCondLst>
                                            <p:cond delay="0"/>
                                          </p:stCondLst>
                                        </p:cTn>
                                        <p:tgtEl>
                                          <p:spTgt spid="102"/>
                                        </p:tgtEl>
                                        <p:attrNameLst>
                                          <p:attrName>style.visibility</p:attrName>
                                        </p:attrNameLst>
                                      </p:cBhvr>
                                      <p:to>
                                        <p:strVal val="visible"/>
                                      </p:to>
                                    </p:set>
                                    <p:animEffect transition="in" filter="fade">
                                      <p:cBhvr>
                                        <p:cTn id="301" dur="400"/>
                                        <p:tgtEl>
                                          <p:spTgt spid="102"/>
                                        </p:tgtEl>
                                      </p:cBhvr>
                                    </p:animEffect>
                                  </p:childTnLst>
                                </p:cTn>
                              </p:par>
                              <p:par>
                                <p:cTn id="302" presetID="10" presetClass="entr" presetSubtype="0" fill="hold" grpId="0" nodeType="withEffect">
                                  <p:stCondLst>
                                    <p:cond delay="0"/>
                                  </p:stCondLst>
                                  <p:childTnLst>
                                    <p:set>
                                      <p:cBhvr>
                                        <p:cTn id="303" dur="1" fill="hold">
                                          <p:stCondLst>
                                            <p:cond delay="0"/>
                                          </p:stCondLst>
                                        </p:cTn>
                                        <p:tgtEl>
                                          <p:spTgt spid="103"/>
                                        </p:tgtEl>
                                        <p:attrNameLst>
                                          <p:attrName>style.visibility</p:attrName>
                                        </p:attrNameLst>
                                      </p:cBhvr>
                                      <p:to>
                                        <p:strVal val="visible"/>
                                      </p:to>
                                    </p:set>
                                    <p:animEffect transition="in" filter="fade">
                                      <p:cBhvr>
                                        <p:cTn id="304" dur="400"/>
                                        <p:tgtEl>
                                          <p:spTgt spid="103"/>
                                        </p:tgtEl>
                                      </p:cBhvr>
                                    </p:animEffect>
                                  </p:childTnLst>
                                </p:cTn>
                              </p:par>
                              <p:par>
                                <p:cTn id="305" presetID="10" presetClass="entr" presetSubtype="0" fill="hold" grpId="0" nodeType="withEffect">
                                  <p:stCondLst>
                                    <p:cond delay="0"/>
                                  </p:stCondLst>
                                  <p:childTnLst>
                                    <p:set>
                                      <p:cBhvr>
                                        <p:cTn id="306" dur="1" fill="hold">
                                          <p:stCondLst>
                                            <p:cond delay="0"/>
                                          </p:stCondLst>
                                        </p:cTn>
                                        <p:tgtEl>
                                          <p:spTgt spid="104"/>
                                        </p:tgtEl>
                                        <p:attrNameLst>
                                          <p:attrName>style.visibility</p:attrName>
                                        </p:attrNameLst>
                                      </p:cBhvr>
                                      <p:to>
                                        <p:strVal val="visible"/>
                                      </p:to>
                                    </p:set>
                                    <p:animEffect transition="in" filter="fade">
                                      <p:cBhvr>
                                        <p:cTn id="307" dur="4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9" grpId="0" animBg="1"/>
      <p:bldP spid="41" grpId="0" animBg="1"/>
      <p:bldP spid="43" grpId="0" animBg="1"/>
      <p:bldP spid="45" grpId="0" animBg="1"/>
      <p:bldP spid="47"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6" grpId="0" animBg="1"/>
      <p:bldP spid="89" grpId="0" animBg="1"/>
      <p:bldP spid="91" grpId="0" animBg="1"/>
      <p:bldP spid="93" grpId="0" animBg="1"/>
      <p:bldP spid="95" grpId="0" animBg="1"/>
      <p:bldP spid="97" grpId="0" animBg="1"/>
      <p:bldP spid="99" grpId="0" animBg="1"/>
      <p:bldP spid="101" grpId="0" animBg="1"/>
      <p:bldP spid="103" grpId="0" animBg="1"/>
      <p:bldP spid="10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Taking items out: remove, pop and del</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remove and pop are methods; del is a statement</a:t>
            </a:r>
            <a:endParaRPr lang="en-US" sz="1400" dirty="0"/>
          </a:p>
        </p:txBody>
      </p:sp>
      <p:sp>
        <p:nvSpPr>
          <p:cNvPr id="6" name="lanebox|b1"/>
          <p:cNvSpPr/>
          <p:nvPr/>
        </p:nvSpPr>
        <p:spPr>
          <a:xfrm>
            <a:off x="365760" y="1188720"/>
            <a:ext cx="8412480" cy="676656"/>
          </a:xfrm>
          <a:prstGeom prst="roundRect">
            <a:avLst>
              <a:gd name="adj" fmla="val 8108"/>
            </a:avLst>
          </a:prstGeom>
          <a:solidFill>
            <a:srgbClr val="FFFFFF"/>
          </a:solidFill>
          <a:ln w="9525">
            <a:solidFill>
              <a:srgbClr val="9AA8B8"/>
            </a:solidFill>
            <a:prstDash val="solid"/>
          </a:ln>
        </p:spPr>
      </p:sp>
      <p:sp>
        <p:nvSpPr>
          <p:cNvPr id="7" name="v:Removing:l0op|b1"/>
          <p:cNvSpPr txBox="1"/>
          <p:nvPr/>
        </p:nvSpPr>
        <p:spPr>
          <a:xfrm>
            <a:off x="457200" y="120700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spam.remove('cat')</a:t>
            </a:r>
            <a:endParaRPr lang="en-US" sz="1250" dirty="0"/>
          </a:p>
        </p:txBody>
      </p:sp>
      <p:sp>
        <p:nvSpPr>
          <p:cNvPr id="8" name="v:Removing:l0cat|b1"/>
          <p:cNvSpPr txBox="1"/>
          <p:nvPr/>
        </p:nvSpPr>
        <p:spPr>
          <a:xfrm>
            <a:off x="3611880" y="120700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Removing:l0retbox:box|b1"/>
          <p:cNvSpPr/>
          <p:nvPr/>
        </p:nvSpPr>
        <p:spPr>
          <a:xfrm>
            <a:off x="6812280" y="1234440"/>
            <a:ext cx="1874520" cy="246888"/>
          </a:xfrm>
          <a:prstGeom prst="roundRect">
            <a:avLst>
              <a:gd name="adj" fmla="val 29630"/>
            </a:avLst>
          </a:prstGeom>
          <a:solidFill>
            <a:srgbClr val="FCEFD0"/>
          </a:solidFill>
          <a:ln w="12700">
            <a:solidFill>
              <a:srgbClr val="B7791F"/>
            </a:solidFill>
            <a:prstDash val="solid"/>
          </a:ln>
        </p:spPr>
      </p:sp>
      <p:sp>
        <p:nvSpPr>
          <p:cNvPr id="10" name="v:Removing:l0ret|b1"/>
          <p:cNvSpPr txBox="1"/>
          <p:nvPr/>
        </p:nvSpPr>
        <p:spPr>
          <a:xfrm>
            <a:off x="6812280" y="123444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Removing:l0b0:box|b1"/>
          <p:cNvSpPr/>
          <p:nvPr/>
        </p:nvSpPr>
        <p:spPr>
          <a:xfrm>
            <a:off x="457200" y="1527048"/>
            <a:ext cx="548640" cy="283464"/>
          </a:xfrm>
          <a:prstGeom prst="roundRect">
            <a:avLst>
              <a:gd name="adj" fmla="val 16129"/>
            </a:avLst>
          </a:prstGeom>
          <a:solidFill>
            <a:srgbClr val="FBE1E1"/>
          </a:solidFill>
          <a:ln w="15875">
            <a:solidFill>
              <a:srgbClr val="D64545"/>
            </a:solidFill>
            <a:prstDash val="solid"/>
          </a:ln>
        </p:spPr>
      </p:sp>
      <p:sp>
        <p:nvSpPr>
          <p:cNvPr id="12" name="v:Removing:l0b0|b1"/>
          <p:cNvSpPr txBox="1"/>
          <p:nvPr/>
        </p:nvSpPr>
        <p:spPr>
          <a:xfrm>
            <a:off x="4754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a:t>
            </a:r>
            <a:endParaRPr lang="en-US" sz="1000" dirty="0"/>
          </a:p>
        </p:txBody>
      </p:sp>
      <p:sp>
        <p:nvSpPr>
          <p:cNvPr id="13" name="v:Removing:l0b1:box|b1"/>
          <p:cNvSpPr/>
          <p:nvPr/>
        </p:nvSpPr>
        <p:spPr>
          <a:xfrm>
            <a:off x="1051560" y="1527048"/>
            <a:ext cx="548640" cy="283464"/>
          </a:xfrm>
          <a:prstGeom prst="roundRect">
            <a:avLst>
              <a:gd name="adj" fmla="val 16129"/>
            </a:avLst>
          </a:prstGeom>
          <a:solidFill>
            <a:srgbClr val="E3EEF8"/>
          </a:solidFill>
          <a:ln w="15875">
            <a:solidFill>
              <a:srgbClr val="306998"/>
            </a:solidFill>
            <a:prstDash val="solid"/>
          </a:ln>
        </p:spPr>
      </p:sp>
      <p:sp>
        <p:nvSpPr>
          <p:cNvPr id="14" name="v:Removing:l0b1|b1"/>
          <p:cNvSpPr txBox="1"/>
          <p:nvPr/>
        </p:nvSpPr>
        <p:spPr>
          <a:xfrm>
            <a:off x="106984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5" name="v:Removing:l0b2:box|b1"/>
          <p:cNvSpPr/>
          <p:nvPr/>
        </p:nvSpPr>
        <p:spPr>
          <a:xfrm>
            <a:off x="1645920" y="1527048"/>
            <a:ext cx="548640" cy="283464"/>
          </a:xfrm>
          <a:prstGeom prst="roundRect">
            <a:avLst>
              <a:gd name="adj" fmla="val 16129"/>
            </a:avLst>
          </a:prstGeom>
          <a:solidFill>
            <a:srgbClr val="E3EEF8"/>
          </a:solidFill>
          <a:ln w="15875">
            <a:solidFill>
              <a:srgbClr val="306998"/>
            </a:solidFill>
            <a:prstDash val="solid"/>
          </a:ln>
        </p:spPr>
      </p:sp>
      <p:sp>
        <p:nvSpPr>
          <p:cNvPr id="16" name="v:Removing:l0b2|b1"/>
          <p:cNvSpPr txBox="1"/>
          <p:nvPr/>
        </p:nvSpPr>
        <p:spPr>
          <a:xfrm>
            <a:off x="166420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17" name="v:Removing:l0b3:box|b1"/>
          <p:cNvSpPr/>
          <p:nvPr/>
        </p:nvSpPr>
        <p:spPr>
          <a:xfrm>
            <a:off x="2240280" y="1527048"/>
            <a:ext cx="548640" cy="283464"/>
          </a:xfrm>
          <a:prstGeom prst="roundRect">
            <a:avLst>
              <a:gd name="adj" fmla="val 16129"/>
            </a:avLst>
          </a:prstGeom>
          <a:solidFill>
            <a:srgbClr val="E3EEF8"/>
          </a:solidFill>
          <a:ln w="15875">
            <a:solidFill>
              <a:srgbClr val="306998"/>
            </a:solidFill>
            <a:prstDash val="solid"/>
          </a:ln>
        </p:spPr>
      </p:sp>
      <p:sp>
        <p:nvSpPr>
          <p:cNvPr id="18" name="v:Removing:l0b3|b1"/>
          <p:cNvSpPr txBox="1"/>
          <p:nvPr/>
        </p:nvSpPr>
        <p:spPr>
          <a:xfrm>
            <a:off x="225856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9" name="v:Removing:l0b4:box|b1"/>
          <p:cNvSpPr/>
          <p:nvPr/>
        </p:nvSpPr>
        <p:spPr>
          <a:xfrm>
            <a:off x="2834640" y="1527048"/>
            <a:ext cx="548640" cy="283464"/>
          </a:xfrm>
          <a:prstGeom prst="roundRect">
            <a:avLst>
              <a:gd name="adj" fmla="val 16129"/>
            </a:avLst>
          </a:prstGeom>
          <a:solidFill>
            <a:srgbClr val="E3EEF8"/>
          </a:solidFill>
          <a:ln w="15875">
            <a:solidFill>
              <a:srgbClr val="306998"/>
            </a:solidFill>
            <a:prstDash val="solid"/>
          </a:ln>
        </p:spPr>
      </p:sp>
      <p:sp>
        <p:nvSpPr>
          <p:cNvPr id="20" name="v:Removing:l0b4|b1"/>
          <p:cNvSpPr txBox="1"/>
          <p:nvPr/>
        </p:nvSpPr>
        <p:spPr>
          <a:xfrm>
            <a:off x="285292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21" name="v:Removing:l0b5:box|b1"/>
          <p:cNvSpPr/>
          <p:nvPr/>
        </p:nvSpPr>
        <p:spPr>
          <a:xfrm>
            <a:off x="3429000" y="1527048"/>
            <a:ext cx="548640" cy="283464"/>
          </a:xfrm>
          <a:prstGeom prst="roundRect">
            <a:avLst>
              <a:gd name="adj" fmla="val 16129"/>
            </a:avLst>
          </a:prstGeom>
          <a:solidFill>
            <a:srgbClr val="E3EEF8"/>
          </a:solidFill>
          <a:ln w="15875">
            <a:solidFill>
              <a:srgbClr val="306998"/>
            </a:solidFill>
            <a:prstDash val="solid"/>
          </a:ln>
        </p:spPr>
      </p:sp>
      <p:sp>
        <p:nvSpPr>
          <p:cNvPr id="22" name="v:Removing:l0b5|b1"/>
          <p:cNvSpPr txBox="1"/>
          <p:nvPr/>
        </p:nvSpPr>
        <p:spPr>
          <a:xfrm>
            <a:off x="34472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3" name="arrow|b1"/>
          <p:cNvSpPr/>
          <p:nvPr/>
        </p:nvSpPr>
        <p:spPr>
          <a:xfrm>
            <a:off x="4069080" y="1668780"/>
            <a:ext cx="411480" cy="0"/>
          </a:xfrm>
          <a:prstGeom prst="line">
            <a:avLst/>
          </a:prstGeom>
          <a:noFill/>
          <a:ln w="31750">
            <a:solidFill>
              <a:srgbClr val="2E9E5B"/>
            </a:solidFill>
            <a:prstDash val="solid"/>
            <a:tailEnd type="triangle"/>
          </a:ln>
        </p:spPr>
      </p:sp>
      <p:sp>
        <p:nvSpPr>
          <p:cNvPr id="24" name="v:Removing:l0a0:box|b1"/>
          <p:cNvSpPr/>
          <p:nvPr/>
        </p:nvSpPr>
        <p:spPr>
          <a:xfrm>
            <a:off x="4590288" y="1527048"/>
            <a:ext cx="777240" cy="283464"/>
          </a:xfrm>
          <a:prstGeom prst="roundRect">
            <a:avLst>
              <a:gd name="adj" fmla="val 16129"/>
            </a:avLst>
          </a:prstGeom>
          <a:solidFill>
            <a:srgbClr val="E3EEF8"/>
          </a:solidFill>
          <a:ln w="15875">
            <a:solidFill>
              <a:srgbClr val="306998"/>
            </a:solidFill>
            <a:prstDash val="solid"/>
          </a:ln>
        </p:spPr>
      </p:sp>
      <p:sp>
        <p:nvSpPr>
          <p:cNvPr id="25" name="v:Removing:l0a0|b1"/>
          <p:cNvSpPr txBox="1"/>
          <p:nvPr/>
        </p:nvSpPr>
        <p:spPr>
          <a:xfrm>
            <a:off x="460857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6" name="v:Removing:l0a1:box|b1"/>
          <p:cNvSpPr/>
          <p:nvPr/>
        </p:nvSpPr>
        <p:spPr>
          <a:xfrm>
            <a:off x="5413248" y="1527048"/>
            <a:ext cx="777240" cy="283464"/>
          </a:xfrm>
          <a:prstGeom prst="roundRect">
            <a:avLst>
              <a:gd name="adj" fmla="val 16129"/>
            </a:avLst>
          </a:prstGeom>
          <a:solidFill>
            <a:srgbClr val="E3EEF8"/>
          </a:solidFill>
          <a:ln w="15875">
            <a:solidFill>
              <a:srgbClr val="306998"/>
            </a:solidFill>
            <a:prstDash val="solid"/>
          </a:ln>
        </p:spPr>
      </p:sp>
      <p:sp>
        <p:nvSpPr>
          <p:cNvPr id="27" name="v:Removing:l0a1|b1"/>
          <p:cNvSpPr txBox="1"/>
          <p:nvPr/>
        </p:nvSpPr>
        <p:spPr>
          <a:xfrm>
            <a:off x="543153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28" name="v:Removing:l0a2:box|b1"/>
          <p:cNvSpPr/>
          <p:nvPr/>
        </p:nvSpPr>
        <p:spPr>
          <a:xfrm>
            <a:off x="6236208" y="1527048"/>
            <a:ext cx="777240" cy="283464"/>
          </a:xfrm>
          <a:prstGeom prst="roundRect">
            <a:avLst>
              <a:gd name="adj" fmla="val 16129"/>
            </a:avLst>
          </a:prstGeom>
          <a:solidFill>
            <a:srgbClr val="E3EEF8"/>
          </a:solidFill>
          <a:ln w="15875">
            <a:solidFill>
              <a:srgbClr val="306998"/>
            </a:solidFill>
            <a:prstDash val="solid"/>
          </a:ln>
        </p:spPr>
      </p:sp>
      <p:sp>
        <p:nvSpPr>
          <p:cNvPr id="29" name="v:Removing:l0a2|b1"/>
          <p:cNvSpPr txBox="1"/>
          <p:nvPr/>
        </p:nvSpPr>
        <p:spPr>
          <a:xfrm>
            <a:off x="625449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0" name="v:Removing:l0a3:box|b1"/>
          <p:cNvSpPr/>
          <p:nvPr/>
        </p:nvSpPr>
        <p:spPr>
          <a:xfrm>
            <a:off x="7059168" y="1527048"/>
            <a:ext cx="777240" cy="283464"/>
          </a:xfrm>
          <a:prstGeom prst="roundRect">
            <a:avLst>
              <a:gd name="adj" fmla="val 16129"/>
            </a:avLst>
          </a:prstGeom>
          <a:solidFill>
            <a:srgbClr val="E3EEF8"/>
          </a:solidFill>
          <a:ln w="15875">
            <a:solidFill>
              <a:srgbClr val="306998"/>
            </a:solidFill>
            <a:prstDash val="solid"/>
          </a:ln>
        </p:spPr>
      </p:sp>
      <p:sp>
        <p:nvSpPr>
          <p:cNvPr id="31" name="v:Removing:l0a3|b1"/>
          <p:cNvSpPr txBox="1"/>
          <p:nvPr/>
        </p:nvSpPr>
        <p:spPr>
          <a:xfrm>
            <a:off x="707745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32" name="v:Removing:l0a4:box|b1"/>
          <p:cNvSpPr/>
          <p:nvPr/>
        </p:nvSpPr>
        <p:spPr>
          <a:xfrm>
            <a:off x="7882128" y="1527048"/>
            <a:ext cx="777240" cy="283464"/>
          </a:xfrm>
          <a:prstGeom prst="roundRect">
            <a:avLst>
              <a:gd name="adj" fmla="val 16129"/>
            </a:avLst>
          </a:prstGeom>
          <a:solidFill>
            <a:srgbClr val="E3EEF8"/>
          </a:solidFill>
          <a:ln w="15875">
            <a:solidFill>
              <a:srgbClr val="306998"/>
            </a:solidFill>
            <a:prstDash val="solid"/>
          </a:ln>
        </p:spPr>
      </p:sp>
      <p:sp>
        <p:nvSpPr>
          <p:cNvPr id="33" name="v:Removing:l0a4|b1"/>
          <p:cNvSpPr txBox="1"/>
          <p:nvPr/>
        </p:nvSpPr>
        <p:spPr>
          <a:xfrm>
            <a:off x="790041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4" name="lanebox|b2"/>
          <p:cNvSpPr/>
          <p:nvPr/>
        </p:nvSpPr>
        <p:spPr>
          <a:xfrm>
            <a:off x="365760" y="1920240"/>
            <a:ext cx="8412480" cy="676656"/>
          </a:xfrm>
          <a:prstGeom prst="roundRect">
            <a:avLst>
              <a:gd name="adj" fmla="val 8108"/>
            </a:avLst>
          </a:prstGeom>
          <a:solidFill>
            <a:srgbClr val="FFFFFF"/>
          </a:solidFill>
          <a:ln w="9525">
            <a:solidFill>
              <a:srgbClr val="9AA8B8"/>
            </a:solidFill>
            <a:prstDash val="solid"/>
          </a:ln>
        </p:spPr>
      </p:sp>
      <p:sp>
        <p:nvSpPr>
          <p:cNvPr id="35" name="v:Remov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stack.pop()</a:t>
            </a:r>
            <a:endParaRPr lang="en-US" sz="1250" dirty="0"/>
          </a:p>
        </p:txBody>
      </p:sp>
      <p:sp>
        <p:nvSpPr>
          <p:cNvPr id="36" name="v:Remov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7" name="v:Remov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8" name="v:Remov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7</a:t>
            </a:r>
            <a:endParaRPr lang="en-US" sz="1050" dirty="0"/>
          </a:p>
        </p:txBody>
      </p:sp>
      <p:sp>
        <p:nvSpPr>
          <p:cNvPr id="39" name="v:Removing:l1b0:box|b2"/>
          <p:cNvSpPr/>
          <p:nvPr/>
        </p:nvSpPr>
        <p:spPr>
          <a:xfrm>
            <a:off x="457200" y="2258568"/>
            <a:ext cx="667512" cy="283464"/>
          </a:xfrm>
          <a:prstGeom prst="roundRect">
            <a:avLst>
              <a:gd name="adj" fmla="val 16129"/>
            </a:avLst>
          </a:prstGeom>
          <a:solidFill>
            <a:srgbClr val="E3EEF8"/>
          </a:solidFill>
          <a:ln w="15875">
            <a:solidFill>
              <a:srgbClr val="306998"/>
            </a:solidFill>
            <a:prstDash val="solid"/>
          </a:ln>
        </p:spPr>
      </p:sp>
      <p:sp>
        <p:nvSpPr>
          <p:cNvPr id="40" name="v:Removing:l1b0|b2"/>
          <p:cNvSpPr txBox="1"/>
          <p:nvPr/>
        </p:nvSpPr>
        <p:spPr>
          <a:xfrm>
            <a:off x="475488"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41" name="v:Removing:l1b1:box|b2"/>
          <p:cNvSpPr/>
          <p:nvPr/>
        </p:nvSpPr>
        <p:spPr>
          <a:xfrm>
            <a:off x="1170432" y="2258568"/>
            <a:ext cx="667512" cy="283464"/>
          </a:xfrm>
          <a:prstGeom prst="roundRect">
            <a:avLst>
              <a:gd name="adj" fmla="val 16129"/>
            </a:avLst>
          </a:prstGeom>
          <a:solidFill>
            <a:srgbClr val="E3EEF8"/>
          </a:solidFill>
          <a:ln w="15875">
            <a:solidFill>
              <a:srgbClr val="306998"/>
            </a:solidFill>
            <a:prstDash val="solid"/>
          </a:ln>
        </p:spPr>
      </p:sp>
      <p:sp>
        <p:nvSpPr>
          <p:cNvPr id="42" name="v:Removing:l1b1|b2"/>
          <p:cNvSpPr txBox="1"/>
          <p:nvPr/>
        </p:nvSpPr>
        <p:spPr>
          <a:xfrm>
            <a:off x="1188720"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43" name="v:Removing:l1b2:box|b2"/>
          <p:cNvSpPr/>
          <p:nvPr/>
        </p:nvSpPr>
        <p:spPr>
          <a:xfrm>
            <a:off x="1883664" y="2258568"/>
            <a:ext cx="667512" cy="283464"/>
          </a:xfrm>
          <a:prstGeom prst="roundRect">
            <a:avLst>
              <a:gd name="adj" fmla="val 16129"/>
            </a:avLst>
          </a:prstGeom>
          <a:solidFill>
            <a:srgbClr val="E3EEF8"/>
          </a:solidFill>
          <a:ln w="15875">
            <a:solidFill>
              <a:srgbClr val="306998"/>
            </a:solidFill>
            <a:prstDash val="solid"/>
          </a:ln>
        </p:spPr>
      </p:sp>
      <p:sp>
        <p:nvSpPr>
          <p:cNvPr id="44" name="v:Removing:l1b2|b2"/>
          <p:cNvSpPr txBox="1"/>
          <p:nvPr/>
        </p:nvSpPr>
        <p:spPr>
          <a:xfrm>
            <a:off x="1901952"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45" name="v:Removing:l1b3:box|b2"/>
          <p:cNvSpPr/>
          <p:nvPr/>
        </p:nvSpPr>
        <p:spPr>
          <a:xfrm>
            <a:off x="2596896" y="2258568"/>
            <a:ext cx="667512" cy="283464"/>
          </a:xfrm>
          <a:prstGeom prst="roundRect">
            <a:avLst>
              <a:gd name="adj" fmla="val 16129"/>
            </a:avLst>
          </a:prstGeom>
          <a:solidFill>
            <a:srgbClr val="E3EEF8"/>
          </a:solidFill>
          <a:ln w="15875">
            <a:solidFill>
              <a:srgbClr val="306998"/>
            </a:solidFill>
            <a:prstDash val="solid"/>
          </a:ln>
        </p:spPr>
      </p:sp>
      <p:sp>
        <p:nvSpPr>
          <p:cNvPr id="46" name="v:Removing:l1b3|b2"/>
          <p:cNvSpPr txBox="1"/>
          <p:nvPr/>
        </p:nvSpPr>
        <p:spPr>
          <a:xfrm>
            <a:off x="2615184"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47" name="v:Removing:l1b4:box|b2"/>
          <p:cNvSpPr/>
          <p:nvPr/>
        </p:nvSpPr>
        <p:spPr>
          <a:xfrm>
            <a:off x="3310128" y="2258568"/>
            <a:ext cx="667512" cy="283464"/>
          </a:xfrm>
          <a:prstGeom prst="roundRect">
            <a:avLst>
              <a:gd name="adj" fmla="val 16129"/>
            </a:avLst>
          </a:prstGeom>
          <a:solidFill>
            <a:srgbClr val="FBE1E1"/>
          </a:solidFill>
          <a:ln w="15875">
            <a:solidFill>
              <a:srgbClr val="D64545"/>
            </a:solidFill>
            <a:prstDash val="solid"/>
          </a:ln>
        </p:spPr>
      </p:sp>
      <p:sp>
        <p:nvSpPr>
          <p:cNvPr id="48" name="v:Removing:l1b4|b2"/>
          <p:cNvSpPr txBox="1"/>
          <p:nvPr/>
        </p:nvSpPr>
        <p:spPr>
          <a:xfrm>
            <a:off x="3328416"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7</a:t>
            </a:r>
            <a:endParaRPr lang="en-US" sz="1000" dirty="0"/>
          </a:p>
        </p:txBody>
      </p:sp>
      <p:sp>
        <p:nvSpPr>
          <p:cNvPr id="49" name="arrow|b2"/>
          <p:cNvSpPr/>
          <p:nvPr/>
        </p:nvSpPr>
        <p:spPr>
          <a:xfrm>
            <a:off x="4069080" y="2400300"/>
            <a:ext cx="411480" cy="0"/>
          </a:xfrm>
          <a:prstGeom prst="line">
            <a:avLst/>
          </a:prstGeom>
          <a:noFill/>
          <a:ln w="31750">
            <a:solidFill>
              <a:srgbClr val="2E9E5B"/>
            </a:solidFill>
            <a:prstDash val="solid"/>
            <a:tailEnd type="triangle"/>
          </a:ln>
        </p:spPr>
      </p:sp>
      <p:sp>
        <p:nvSpPr>
          <p:cNvPr id="50" name="v:Removing:l1a0:box|b2"/>
          <p:cNvSpPr/>
          <p:nvPr/>
        </p:nvSpPr>
        <p:spPr>
          <a:xfrm>
            <a:off x="4590288" y="2258568"/>
            <a:ext cx="777240" cy="283464"/>
          </a:xfrm>
          <a:prstGeom prst="roundRect">
            <a:avLst>
              <a:gd name="adj" fmla="val 16129"/>
            </a:avLst>
          </a:prstGeom>
          <a:solidFill>
            <a:srgbClr val="E3EEF8"/>
          </a:solidFill>
          <a:ln w="15875">
            <a:solidFill>
              <a:srgbClr val="306998"/>
            </a:solidFill>
            <a:prstDash val="solid"/>
          </a:ln>
        </p:spPr>
      </p:sp>
      <p:sp>
        <p:nvSpPr>
          <p:cNvPr id="51" name="v:Removing:l1a0|b2"/>
          <p:cNvSpPr txBox="1"/>
          <p:nvPr/>
        </p:nvSpPr>
        <p:spPr>
          <a:xfrm>
            <a:off x="460857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2" name="v:Removing:l1a1:box|b2"/>
          <p:cNvSpPr/>
          <p:nvPr/>
        </p:nvSpPr>
        <p:spPr>
          <a:xfrm>
            <a:off x="5413248" y="2258568"/>
            <a:ext cx="777240" cy="283464"/>
          </a:xfrm>
          <a:prstGeom prst="roundRect">
            <a:avLst>
              <a:gd name="adj" fmla="val 16129"/>
            </a:avLst>
          </a:prstGeom>
          <a:solidFill>
            <a:srgbClr val="E3EEF8"/>
          </a:solidFill>
          <a:ln w="15875">
            <a:solidFill>
              <a:srgbClr val="306998"/>
            </a:solidFill>
            <a:prstDash val="solid"/>
          </a:ln>
        </p:spPr>
      </p:sp>
      <p:sp>
        <p:nvSpPr>
          <p:cNvPr id="53" name="v:Removing:l1a1|b2"/>
          <p:cNvSpPr txBox="1"/>
          <p:nvPr/>
        </p:nvSpPr>
        <p:spPr>
          <a:xfrm>
            <a:off x="543153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54" name="v:Removing:l1a2:box|b2"/>
          <p:cNvSpPr/>
          <p:nvPr/>
        </p:nvSpPr>
        <p:spPr>
          <a:xfrm>
            <a:off x="6236208" y="2258568"/>
            <a:ext cx="777240" cy="283464"/>
          </a:xfrm>
          <a:prstGeom prst="roundRect">
            <a:avLst>
              <a:gd name="adj" fmla="val 16129"/>
            </a:avLst>
          </a:prstGeom>
          <a:solidFill>
            <a:srgbClr val="E3EEF8"/>
          </a:solidFill>
          <a:ln w="15875">
            <a:solidFill>
              <a:srgbClr val="306998"/>
            </a:solidFill>
            <a:prstDash val="solid"/>
          </a:ln>
        </p:spPr>
      </p:sp>
      <p:sp>
        <p:nvSpPr>
          <p:cNvPr id="55" name="v:Removing:l1a2|b2"/>
          <p:cNvSpPr txBox="1"/>
          <p:nvPr/>
        </p:nvSpPr>
        <p:spPr>
          <a:xfrm>
            <a:off x="625449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56" name="v:Removing:l1a3:box|b2"/>
          <p:cNvSpPr/>
          <p:nvPr/>
        </p:nvSpPr>
        <p:spPr>
          <a:xfrm>
            <a:off x="7059168" y="2258568"/>
            <a:ext cx="777240" cy="283464"/>
          </a:xfrm>
          <a:prstGeom prst="roundRect">
            <a:avLst>
              <a:gd name="adj" fmla="val 16129"/>
            </a:avLst>
          </a:prstGeom>
          <a:solidFill>
            <a:srgbClr val="E3EEF8"/>
          </a:solidFill>
          <a:ln w="15875">
            <a:solidFill>
              <a:srgbClr val="306998"/>
            </a:solidFill>
            <a:prstDash val="solid"/>
          </a:ln>
        </p:spPr>
      </p:sp>
      <p:sp>
        <p:nvSpPr>
          <p:cNvPr id="57" name="v:Removing:l1a3|b2"/>
          <p:cNvSpPr txBox="1"/>
          <p:nvPr/>
        </p:nvSpPr>
        <p:spPr>
          <a:xfrm>
            <a:off x="707745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58" name="lanebox|b3"/>
          <p:cNvSpPr/>
          <p:nvPr/>
        </p:nvSpPr>
        <p:spPr>
          <a:xfrm>
            <a:off x="365760" y="2651760"/>
            <a:ext cx="8412480" cy="676656"/>
          </a:xfrm>
          <a:prstGeom prst="roundRect">
            <a:avLst>
              <a:gd name="adj" fmla="val 8108"/>
            </a:avLst>
          </a:prstGeom>
          <a:solidFill>
            <a:srgbClr val="FFFFFF"/>
          </a:solidFill>
          <a:ln w="9525">
            <a:solidFill>
              <a:srgbClr val="9AA8B8"/>
            </a:solidFill>
            <a:prstDash val="solid"/>
          </a:ln>
        </p:spPr>
      </p:sp>
      <p:sp>
        <p:nvSpPr>
          <p:cNvPr id="59" name="v:Removing:l2op|b3"/>
          <p:cNvSpPr txBox="1"/>
          <p:nvPr/>
        </p:nvSpPr>
        <p:spPr>
          <a:xfrm>
            <a:off x="457200" y="267004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del spam[2]</a:t>
            </a:r>
            <a:endParaRPr lang="en-US" sz="1250" dirty="0"/>
          </a:p>
        </p:txBody>
      </p:sp>
      <p:sp>
        <p:nvSpPr>
          <p:cNvPr id="60" name="v:Removing:l2cat|b3"/>
          <p:cNvSpPr txBox="1"/>
          <p:nvPr/>
        </p:nvSpPr>
        <p:spPr>
          <a:xfrm>
            <a:off x="3611880" y="267004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61" name="v:Removing:l2retbox:box|b3"/>
          <p:cNvSpPr/>
          <p:nvPr/>
        </p:nvSpPr>
        <p:spPr>
          <a:xfrm>
            <a:off x="6812280" y="2697480"/>
            <a:ext cx="1874520" cy="246888"/>
          </a:xfrm>
          <a:prstGeom prst="roundRect">
            <a:avLst>
              <a:gd name="adj" fmla="val 29630"/>
            </a:avLst>
          </a:prstGeom>
          <a:solidFill>
            <a:srgbClr val="F1F4F8"/>
          </a:solidFill>
          <a:ln w="12700">
            <a:solidFill>
              <a:srgbClr val="9AA8B8"/>
            </a:solidFill>
            <a:prstDash val="solid"/>
          </a:ln>
        </p:spPr>
      </p:sp>
      <p:sp>
        <p:nvSpPr>
          <p:cNvPr id="62" name="v:Removing:l2ret|b3"/>
          <p:cNvSpPr txBox="1"/>
          <p:nvPr/>
        </p:nvSpPr>
        <p:spPr>
          <a:xfrm>
            <a:off x="6812280" y="269748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63" name="v:Removing:l2b0:box|b3"/>
          <p:cNvSpPr/>
          <p:nvPr/>
        </p:nvSpPr>
        <p:spPr>
          <a:xfrm>
            <a:off x="457200" y="2990088"/>
            <a:ext cx="777240" cy="283464"/>
          </a:xfrm>
          <a:prstGeom prst="roundRect">
            <a:avLst>
              <a:gd name="adj" fmla="val 16129"/>
            </a:avLst>
          </a:prstGeom>
          <a:solidFill>
            <a:srgbClr val="E3EEF8"/>
          </a:solidFill>
          <a:ln w="15875">
            <a:solidFill>
              <a:srgbClr val="306998"/>
            </a:solidFill>
            <a:prstDash val="solid"/>
          </a:ln>
        </p:spPr>
      </p:sp>
      <p:sp>
        <p:nvSpPr>
          <p:cNvPr id="64" name="v:Removing:l2b0|b3"/>
          <p:cNvSpPr txBox="1"/>
          <p:nvPr/>
        </p:nvSpPr>
        <p:spPr>
          <a:xfrm>
            <a:off x="47548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5" name="v:Removing:l2b1:box|b3"/>
          <p:cNvSpPr/>
          <p:nvPr/>
        </p:nvSpPr>
        <p:spPr>
          <a:xfrm>
            <a:off x="1280160" y="2990088"/>
            <a:ext cx="777240" cy="283464"/>
          </a:xfrm>
          <a:prstGeom prst="roundRect">
            <a:avLst>
              <a:gd name="adj" fmla="val 16129"/>
            </a:avLst>
          </a:prstGeom>
          <a:solidFill>
            <a:srgbClr val="E3EEF8"/>
          </a:solidFill>
          <a:ln w="15875">
            <a:solidFill>
              <a:srgbClr val="306998"/>
            </a:solidFill>
            <a:prstDash val="solid"/>
          </a:ln>
        </p:spPr>
      </p:sp>
      <p:sp>
        <p:nvSpPr>
          <p:cNvPr id="66" name="v:Removing:l2b1|b3"/>
          <p:cNvSpPr txBox="1"/>
          <p:nvPr/>
        </p:nvSpPr>
        <p:spPr>
          <a:xfrm>
            <a:off x="129844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67" name="v:Removing:l2b2:box|b3"/>
          <p:cNvSpPr/>
          <p:nvPr/>
        </p:nvSpPr>
        <p:spPr>
          <a:xfrm>
            <a:off x="2103120" y="2990088"/>
            <a:ext cx="777240" cy="283464"/>
          </a:xfrm>
          <a:prstGeom prst="roundRect">
            <a:avLst>
              <a:gd name="adj" fmla="val 16129"/>
            </a:avLst>
          </a:prstGeom>
          <a:solidFill>
            <a:srgbClr val="FBE1E1"/>
          </a:solidFill>
          <a:ln w="15875">
            <a:solidFill>
              <a:srgbClr val="D64545"/>
            </a:solidFill>
            <a:prstDash val="solid"/>
          </a:ln>
        </p:spPr>
      </p:sp>
      <p:sp>
        <p:nvSpPr>
          <p:cNvPr id="68" name="v:Removing:l2b2|b3"/>
          <p:cNvSpPr txBox="1"/>
          <p:nvPr/>
        </p:nvSpPr>
        <p:spPr>
          <a:xfrm>
            <a:off x="212140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'rat'</a:t>
            </a:r>
            <a:endParaRPr lang="en-US" sz="1000" dirty="0"/>
          </a:p>
        </p:txBody>
      </p:sp>
      <p:sp>
        <p:nvSpPr>
          <p:cNvPr id="69" name="v:Removing:l2b3:box|b3"/>
          <p:cNvSpPr/>
          <p:nvPr/>
        </p:nvSpPr>
        <p:spPr>
          <a:xfrm>
            <a:off x="2926080" y="2990088"/>
            <a:ext cx="777240" cy="283464"/>
          </a:xfrm>
          <a:prstGeom prst="roundRect">
            <a:avLst>
              <a:gd name="adj" fmla="val 16129"/>
            </a:avLst>
          </a:prstGeom>
          <a:solidFill>
            <a:srgbClr val="E3EEF8"/>
          </a:solidFill>
          <a:ln w="15875">
            <a:solidFill>
              <a:srgbClr val="306998"/>
            </a:solidFill>
            <a:prstDash val="solid"/>
          </a:ln>
        </p:spPr>
      </p:sp>
      <p:sp>
        <p:nvSpPr>
          <p:cNvPr id="70" name="v:Removing:l2b3|b3"/>
          <p:cNvSpPr txBox="1"/>
          <p:nvPr/>
        </p:nvSpPr>
        <p:spPr>
          <a:xfrm>
            <a:off x="2944368"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1" name="arrow|b3"/>
          <p:cNvSpPr/>
          <p:nvPr/>
        </p:nvSpPr>
        <p:spPr>
          <a:xfrm>
            <a:off x="4069080" y="3131820"/>
            <a:ext cx="411480" cy="0"/>
          </a:xfrm>
          <a:prstGeom prst="line">
            <a:avLst/>
          </a:prstGeom>
          <a:noFill/>
          <a:ln w="31750">
            <a:solidFill>
              <a:srgbClr val="2E9E5B"/>
            </a:solidFill>
            <a:prstDash val="solid"/>
            <a:tailEnd type="triangle"/>
          </a:ln>
        </p:spPr>
      </p:sp>
      <p:sp>
        <p:nvSpPr>
          <p:cNvPr id="72" name="v:Removing:l2a0:box|b3"/>
          <p:cNvSpPr/>
          <p:nvPr/>
        </p:nvSpPr>
        <p:spPr>
          <a:xfrm>
            <a:off x="4590288" y="2990088"/>
            <a:ext cx="777240" cy="283464"/>
          </a:xfrm>
          <a:prstGeom prst="roundRect">
            <a:avLst>
              <a:gd name="adj" fmla="val 16129"/>
            </a:avLst>
          </a:prstGeom>
          <a:solidFill>
            <a:srgbClr val="E3EEF8"/>
          </a:solidFill>
          <a:ln w="15875">
            <a:solidFill>
              <a:srgbClr val="306998"/>
            </a:solidFill>
            <a:prstDash val="solid"/>
          </a:ln>
        </p:spPr>
      </p:sp>
      <p:sp>
        <p:nvSpPr>
          <p:cNvPr id="73" name="v:Removing:l2a0|b3"/>
          <p:cNvSpPr txBox="1"/>
          <p:nvPr/>
        </p:nvSpPr>
        <p:spPr>
          <a:xfrm>
            <a:off x="460857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74" name="v:Removing:l2a1:box|b3"/>
          <p:cNvSpPr/>
          <p:nvPr/>
        </p:nvSpPr>
        <p:spPr>
          <a:xfrm>
            <a:off x="5413248" y="2990088"/>
            <a:ext cx="777240" cy="283464"/>
          </a:xfrm>
          <a:prstGeom prst="roundRect">
            <a:avLst>
              <a:gd name="adj" fmla="val 16129"/>
            </a:avLst>
          </a:prstGeom>
          <a:solidFill>
            <a:srgbClr val="E3EEF8"/>
          </a:solidFill>
          <a:ln w="15875">
            <a:solidFill>
              <a:srgbClr val="306998"/>
            </a:solidFill>
            <a:prstDash val="solid"/>
          </a:ln>
        </p:spPr>
      </p:sp>
      <p:sp>
        <p:nvSpPr>
          <p:cNvPr id="75" name="v:Removing:l2a1|b3"/>
          <p:cNvSpPr txBox="1"/>
          <p:nvPr/>
        </p:nvSpPr>
        <p:spPr>
          <a:xfrm>
            <a:off x="543153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76" name="v:Removing:l2a2:box|b3"/>
          <p:cNvSpPr/>
          <p:nvPr/>
        </p:nvSpPr>
        <p:spPr>
          <a:xfrm>
            <a:off x="6236208" y="2990088"/>
            <a:ext cx="777240" cy="283464"/>
          </a:xfrm>
          <a:prstGeom prst="roundRect">
            <a:avLst>
              <a:gd name="adj" fmla="val 16129"/>
            </a:avLst>
          </a:prstGeom>
          <a:solidFill>
            <a:srgbClr val="E3EEF8"/>
          </a:solidFill>
          <a:ln w="15875">
            <a:solidFill>
              <a:srgbClr val="306998"/>
            </a:solidFill>
            <a:prstDash val="solid"/>
          </a:ln>
        </p:spPr>
      </p:sp>
      <p:sp>
        <p:nvSpPr>
          <p:cNvPr id="77" name="v:Removing:l2a2|b3"/>
          <p:cNvSpPr txBox="1"/>
          <p:nvPr/>
        </p:nvSpPr>
        <p:spPr>
          <a:xfrm>
            <a:off x="6254496"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8" name="v:Removing:e0box:box|b4"/>
          <p:cNvSpPr/>
          <p:nvPr/>
        </p:nvSpPr>
        <p:spPr>
          <a:xfrm>
            <a:off x="365760" y="3383280"/>
            <a:ext cx="8412480" cy="274320"/>
          </a:xfrm>
          <a:prstGeom prst="roundRect">
            <a:avLst>
              <a:gd name="adj" fmla="val 20000"/>
            </a:avLst>
          </a:prstGeom>
          <a:solidFill>
            <a:srgbClr val="FBE1E1"/>
          </a:solidFill>
          <a:ln w="12700">
            <a:solidFill>
              <a:srgbClr val="D64545"/>
            </a:solidFill>
            <a:prstDash val="solid"/>
          </a:ln>
        </p:spPr>
      </p:sp>
      <p:sp>
        <p:nvSpPr>
          <p:cNvPr id="79" name="v:Removing:e0|b4"/>
          <p:cNvSpPr txBox="1"/>
          <p:nvPr/>
        </p:nvSpPr>
        <p:spPr>
          <a:xfrm>
            <a:off x="457200" y="3383280"/>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spam.remove('chicken')   →   ValueError: list.remove(x): x not in list</a:t>
            </a:r>
            <a:endParaRPr lang="en-US" sz="1050" dirty="0"/>
          </a:p>
        </p:txBody>
      </p:sp>
      <p:sp>
        <p:nvSpPr>
          <p:cNvPr id="80" name="v:Removing:e1box:box|b4"/>
          <p:cNvSpPr/>
          <p:nvPr/>
        </p:nvSpPr>
        <p:spPr>
          <a:xfrm>
            <a:off x="365760" y="3694176"/>
            <a:ext cx="8412480" cy="274320"/>
          </a:xfrm>
          <a:prstGeom prst="roundRect">
            <a:avLst>
              <a:gd name="adj" fmla="val 20000"/>
            </a:avLst>
          </a:prstGeom>
          <a:solidFill>
            <a:srgbClr val="FBE1E1"/>
          </a:solidFill>
          <a:ln w="12700">
            <a:solidFill>
              <a:srgbClr val="D64545"/>
            </a:solidFill>
            <a:prstDash val="solid"/>
          </a:ln>
        </p:spPr>
      </p:sp>
      <p:sp>
        <p:nvSpPr>
          <p:cNvPr id="81" name="v:Removing:e1|b4"/>
          <p:cNvSpPr txBox="1"/>
          <p:nvPr/>
        </p:nvSpPr>
        <p:spPr>
          <a:xfrm>
            <a:off x="457200" y="3694176"/>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[].pop()   →   IndexError: pop from empty list</a:t>
            </a:r>
            <a:endParaRPr lang="en-US" sz="1050" dirty="0"/>
          </a:p>
        </p:txBody>
      </p:sp>
      <p:sp>
        <p:nvSpPr>
          <p:cNvPr id="82" name="say|b4"/>
          <p:cNvSpPr txBox="1"/>
          <p:nvPr/>
        </p:nvSpPr>
        <p:spPr>
          <a:xfrm>
            <a:off x="365760" y="4114800"/>
            <a:ext cx="8412480" cy="457200"/>
          </a:xfrm>
          <a:prstGeom prst="rect">
            <a:avLst/>
          </a:prstGeom>
          <a:noFill/>
          <a:ln/>
        </p:spPr>
        <p:txBody>
          <a:bodyPr wrap="square" lIns="0" tIns="0" rIns="0" bIns="0" rtlCol="0" anchor="t"/>
          <a:lstStyle/>
          <a:p>
            <a:pPr indent="0" marL="0">
              <a:buNone/>
            </a:pPr>
            <a:r>
              <a:rPr lang="en-US" sz="1350" b="1" dirty="0">
                <a:solidFill>
                  <a:srgbClr val="1E2A3A"/>
                </a:solidFill>
                <a:latin typeface="Calibri" pitchFamily="34" charset="0"/>
                <a:ea typeface="Calibri" pitchFamily="34" charset="-122"/>
                <a:cs typeface="Calibri" pitchFamily="34" charset="-120"/>
              </a:rPr>
              <a:t>pop is the one that hands the removed item back; remove looks for a value, del and pop take an index.</a:t>
            </a:r>
            <a:endParaRPr lang="en-US" sz="1350" dirty="0"/>
          </a:p>
        </p:txBody>
      </p:sp>
      <p:sp>
        <p:nvSpPr>
          <p:cNvPr id="8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Remove method, Pop method, Del statement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7" fill="hold">
                      <p:stCondLst>
                        <p:cond delay="indefinite"/>
                      </p:stCondLst>
                      <p:childTnLst>
                        <p:par>
                          <p:cTn id="8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par>
                                <p:cTn id="81" presetID="10" presetClass="entr" presetSubtype="0" fill="hold"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4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400"/>
                                        <p:tgtEl>
                                          <p:spTgt spid="33"/>
                                        </p:tgtEl>
                                      </p:cBhvr>
                                    </p:animEffect>
                                  </p:childTnLst>
                                </p:cTn>
                              </p:par>
                            </p:childTnLst>
                          </p:cTn>
                        </p:par>
                      </p:childTnLst>
                    </p:cTn>
                  </p:par>
                  <p:par>
                    <p:cTn id="161" fill="hold">
                      <p:stCondLst>
                        <p:cond delay="indefinite"/>
                      </p:stCondLst>
                      <p:childTnLst>
                        <p:par>
                          <p:cTn id="162"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childTnLst>
                          </p:cTn>
                        </p:par>
                      </p:childTnLst>
                    </p:cTn>
                  </p:par>
                  <p:par>
                    <p:cTn id="223" fill="hold">
                      <p:stCondLst>
                        <p:cond delay="indefinite"/>
                      </p:stCondLst>
                      <p:childTnLst>
                        <p:par>
                          <p:cTn id="224"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childTnLst>
                          </p:cTn>
                        </p:par>
                      </p:childTnLst>
                    </p:cTn>
                  </p:par>
                  <p:par>
                    <p:cTn id="240" fill="hold">
                      <p:stCondLst>
                        <p:cond delay="indefinite"/>
                      </p:stCondLst>
                      <p:childTnLst>
                        <p:par>
                          <p:cTn id="241" fill="hold">
                            <p:stCondLst>
                              <p:cond delay="0"/>
                            </p:stCondLst>
                            <p:childTnLst>
                              <p:par>
                                <p:cTn id="225" presetID="10" presetClass="entr" presetSubtype="0" fill="hold" nodeType="click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2" grpId="0" animBg="1"/>
      <p:bldP spid="25" grpId="0" animBg="1"/>
      <p:bldP spid="27" grpId="0" animBg="1"/>
      <p:bldP spid="29" grpId="0" animBg="1"/>
      <p:bldP spid="31" grpId="0" animBg="1"/>
      <p:bldP spid="33" grpId="0" animBg="1"/>
      <p:bldP spid="35" grpId="0" animBg="1"/>
      <p:bldP spid="36" grpId="0" animBg="1"/>
      <p:bldP spid="38" grpId="0" animBg="1"/>
      <p:bldP spid="40" grpId="0" animBg="1"/>
      <p:bldP spid="42" grpId="0" animBg="1"/>
      <p:bldP spid="44" grpId="0" animBg="1"/>
      <p:bldP spid="46" grpId="0" animBg="1"/>
      <p:bldP spid="48" grpId="0" animBg="1"/>
      <p:bldP spid="51" grpId="0" animBg="1"/>
      <p:bldP spid="53" grpId="0" animBg="1"/>
      <p:bldP spid="55" grpId="0" animBg="1"/>
      <p:bldP spid="57" grpId="0" animBg="1"/>
      <p:bldP spid="59" grpId="0" animBg="1"/>
      <p:bldP spid="60" grpId="0" animBg="1"/>
      <p:bldP spid="62" grpId="0" animBg="1"/>
      <p:bldP spid="64" grpId="0" animBg="1"/>
      <p:bldP spid="66" grpId="0" animBg="1"/>
      <p:bldP spid="68" grpId="0" animBg="1"/>
      <p:bldP spid="70" grpId="0" animBg="1"/>
      <p:bldP spid="73" grpId="0" animBg="1"/>
      <p:bldP spid="75" grpId="0" animBg="1"/>
      <p:bldP spid="77" grpId="0" animBg="1"/>
      <p:bldP spid="79" grpId="0" animBg="1"/>
      <p:bldP spid="81" grpId="0" animBg="1"/>
      <p:bldP spid="8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3</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operations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Joining, searching and ordering lists are the operations the chapter builds on the list type.</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Combining</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Concatenation replication</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Augmented assignment</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Searching</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Membership operators</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 method</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Short circuit guard</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Ordering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method</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key and reverse</a:t>
            </a:r>
            <a:endParaRPr lang="en-US" sz="1200" dirty="0"/>
          </a:p>
        </p:txBody>
      </p:sp>
      <p:sp>
        <p:nvSpPr>
          <p:cNvPr id="23" name="divleafbox|b3"/>
          <p:cNvSpPr/>
          <p:nvPr/>
        </p:nvSpPr>
        <p:spPr>
          <a:xfrm>
            <a:off x="6035040" y="3675888"/>
            <a:ext cx="2560320" cy="246888"/>
          </a:xfrm>
          <a:prstGeom prst="roundRect">
            <a:avLst>
              <a:gd name="adj" fmla="val 22222"/>
            </a:avLst>
          </a:prstGeom>
          <a:solidFill>
            <a:srgbClr val="2C3E54"/>
          </a:solidFill>
          <a:ln w="12700">
            <a:solidFill>
              <a:srgbClr val="3B5B87"/>
            </a:solidFill>
            <a:prstDash val="solid"/>
          </a:ln>
        </p:spPr>
      </p:sp>
      <p:sp>
        <p:nvSpPr>
          <p:cNvPr id="24" name="divleaf|b3"/>
          <p:cNvSpPr txBox="1"/>
          <p:nvPr/>
        </p:nvSpPr>
        <p:spPr>
          <a:xfrm>
            <a:off x="61264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Reverse method</a:t>
            </a:r>
            <a:endParaRPr lang="en-US" sz="1200" dirty="0"/>
          </a:p>
        </p:txBody>
      </p:sp>
      <p:sp>
        <p:nvSpPr>
          <p:cNvPr id="25" name="divleafbox|b3"/>
          <p:cNvSpPr/>
          <p:nvPr/>
        </p:nvSpPr>
        <p:spPr>
          <a:xfrm>
            <a:off x="6035040" y="3959352"/>
            <a:ext cx="2560320" cy="246888"/>
          </a:xfrm>
          <a:prstGeom prst="roundRect">
            <a:avLst>
              <a:gd name="adj" fmla="val 22222"/>
            </a:avLst>
          </a:prstGeom>
          <a:solidFill>
            <a:srgbClr val="2C3E54"/>
          </a:solidFill>
          <a:ln w="12700">
            <a:solidFill>
              <a:srgbClr val="3B5B87"/>
            </a:solidFill>
            <a:prstDash val="solid"/>
          </a:ln>
        </p:spPr>
      </p:sp>
      <p:sp>
        <p:nvSpPr>
          <p:cNvPr id="26" name="divleaf|b3"/>
          <p:cNvSpPr txBox="1"/>
          <p:nvPr/>
        </p:nvSpPr>
        <p:spPr>
          <a:xfrm>
            <a:off x="6126480" y="3959352"/>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Sorted function</a:t>
            </a:r>
            <a:endParaRPr lang="en-US" sz="1200" dirty="0"/>
          </a:p>
        </p:txBody>
      </p:sp>
      <p:sp>
        <p:nvSpPr>
          <p:cNvPr id="27" name="x"/>
          <p:cNvSpPr/>
          <p:nvPr/>
        </p:nvSpPr>
        <p:spPr>
          <a:xfrm>
            <a:off x="548640" y="4572000"/>
            <a:ext cx="1267968" cy="64008"/>
          </a:xfrm>
          <a:prstGeom prst="rect">
            <a:avLst/>
          </a:prstGeom>
          <a:solidFill>
            <a:srgbClr val="4A5D75"/>
          </a:solidFill>
          <a:ln w="12700">
            <a:solidFill>
              <a:srgbClr val="4A5D75"/>
            </a:solidFill>
            <a:prstDash val="solid"/>
          </a:ln>
        </p:spPr>
      </p:sp>
      <p:sp>
        <p:nvSpPr>
          <p:cNvPr id="28" name="x"/>
          <p:cNvSpPr/>
          <p:nvPr/>
        </p:nvSpPr>
        <p:spPr>
          <a:xfrm>
            <a:off x="1889760" y="4572000"/>
            <a:ext cx="1267968" cy="64008"/>
          </a:xfrm>
          <a:prstGeom prst="rect">
            <a:avLst/>
          </a:prstGeom>
          <a:solidFill>
            <a:srgbClr val="4A5D75"/>
          </a:solidFill>
          <a:ln w="12700">
            <a:solidFill>
              <a:srgbClr val="4A5D75"/>
            </a:solidFill>
            <a:prstDash val="solid"/>
          </a:ln>
        </p:spPr>
      </p:sp>
      <p:sp>
        <p:nvSpPr>
          <p:cNvPr id="29" name="x"/>
          <p:cNvSpPr/>
          <p:nvPr/>
        </p:nvSpPr>
        <p:spPr>
          <a:xfrm>
            <a:off x="3230880" y="4572000"/>
            <a:ext cx="1267968" cy="64008"/>
          </a:xfrm>
          <a:prstGeom prst="rect">
            <a:avLst/>
          </a:prstGeom>
          <a:solidFill>
            <a:srgbClr val="FFD43B"/>
          </a:solidFill>
          <a:ln w="12700">
            <a:solidFill>
              <a:srgbClr val="FFD43B"/>
            </a:solidFill>
            <a:prstDash val="solid"/>
          </a:ln>
        </p:spPr>
      </p:sp>
      <p:sp>
        <p:nvSpPr>
          <p:cNvPr id="30" name="x"/>
          <p:cNvSpPr/>
          <p:nvPr/>
        </p:nvSpPr>
        <p:spPr>
          <a:xfrm>
            <a:off x="4572000" y="4572000"/>
            <a:ext cx="1267968" cy="64008"/>
          </a:xfrm>
          <a:prstGeom prst="rect">
            <a:avLst/>
          </a:prstGeom>
          <a:solidFill>
            <a:srgbClr val="4A5D75"/>
          </a:solidFill>
          <a:ln w="12700">
            <a:solidFill>
              <a:srgbClr val="4A5D75"/>
            </a:solidFill>
            <a:prstDash val="solid"/>
          </a:ln>
        </p:spPr>
      </p:sp>
      <p:sp>
        <p:nvSpPr>
          <p:cNvPr id="31" name="x"/>
          <p:cNvSpPr/>
          <p:nvPr/>
        </p:nvSpPr>
        <p:spPr>
          <a:xfrm>
            <a:off x="5913120" y="4572000"/>
            <a:ext cx="1267968" cy="64008"/>
          </a:xfrm>
          <a:prstGeom prst="rect">
            <a:avLst/>
          </a:prstGeom>
          <a:solidFill>
            <a:srgbClr val="4A5D75"/>
          </a:solidFill>
          <a:ln w="12700">
            <a:solidFill>
              <a:srgbClr val="4A5D75"/>
            </a:solidFill>
            <a:prstDash val="solid"/>
          </a:ln>
        </p:spPr>
      </p:sp>
      <p:sp>
        <p:nvSpPr>
          <p:cNvPr id="32"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P spid="24"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 and * make new lists; += changes the one you have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Concatenation and replication leave their operands alone</a:t>
            </a:r>
            <a:endParaRPr lang="en-US" sz="1400" dirty="0"/>
          </a:p>
        </p:txBody>
      </p:sp>
      <p:sp>
        <p:nvSpPr>
          <p:cNvPr id="6" name="lanebox|b1"/>
          <p:cNvSpPr/>
          <p:nvPr/>
        </p:nvSpPr>
        <p:spPr>
          <a:xfrm>
            <a:off x="365760" y="1170432"/>
            <a:ext cx="8412480" cy="694944"/>
          </a:xfrm>
          <a:prstGeom prst="roundRect">
            <a:avLst>
              <a:gd name="adj" fmla="val 7895"/>
            </a:avLst>
          </a:prstGeom>
          <a:solidFill>
            <a:srgbClr val="FFFFFF"/>
          </a:solidFill>
          <a:ln w="9525">
            <a:solidFill>
              <a:srgbClr val="9AA8B8"/>
            </a:solidFill>
            <a:prstDash val="solid"/>
          </a:ln>
        </p:spPr>
      </p:sp>
      <p:sp>
        <p:nvSpPr>
          <p:cNvPr id="7" name="v:Combin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['A', 'B', 'C']</a:t>
            </a:r>
            <a:endParaRPr lang="en-US" sz="1250" dirty="0"/>
          </a:p>
        </p:txBody>
      </p:sp>
      <p:sp>
        <p:nvSpPr>
          <p:cNvPr id="8" name="v:Combin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9" name="v:Combin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Combin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11" name="v:Combining:l0b0:box|b1"/>
          <p:cNvSpPr/>
          <p:nvPr/>
        </p:nvSpPr>
        <p:spPr>
          <a:xfrm>
            <a:off x="457200" y="1508760"/>
            <a:ext cx="777240" cy="301752"/>
          </a:xfrm>
          <a:prstGeom prst="roundRect">
            <a:avLst>
              <a:gd name="adj" fmla="val 15152"/>
            </a:avLst>
          </a:prstGeom>
          <a:solidFill>
            <a:srgbClr val="E3EEF8"/>
          </a:solidFill>
          <a:ln w="15875">
            <a:solidFill>
              <a:srgbClr val="306998"/>
            </a:solidFill>
            <a:prstDash val="solid"/>
          </a:ln>
        </p:spPr>
      </p:sp>
      <p:sp>
        <p:nvSpPr>
          <p:cNvPr id="12" name="v:Combining:l0b0|b1"/>
          <p:cNvSpPr txBox="1"/>
          <p:nvPr/>
        </p:nvSpPr>
        <p:spPr>
          <a:xfrm>
            <a:off x="47548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3" name="v:Combining:l0b1:box|b1"/>
          <p:cNvSpPr/>
          <p:nvPr/>
        </p:nvSpPr>
        <p:spPr>
          <a:xfrm>
            <a:off x="1280160" y="1508760"/>
            <a:ext cx="777240" cy="301752"/>
          </a:xfrm>
          <a:prstGeom prst="roundRect">
            <a:avLst>
              <a:gd name="adj" fmla="val 15152"/>
            </a:avLst>
          </a:prstGeom>
          <a:solidFill>
            <a:srgbClr val="E3EEF8"/>
          </a:solidFill>
          <a:ln w="15875">
            <a:solidFill>
              <a:srgbClr val="306998"/>
            </a:solidFill>
            <a:prstDash val="solid"/>
          </a:ln>
        </p:spPr>
      </p:sp>
      <p:sp>
        <p:nvSpPr>
          <p:cNvPr id="14" name="v:Combining:l0b1|b1"/>
          <p:cNvSpPr txBox="1"/>
          <p:nvPr/>
        </p:nvSpPr>
        <p:spPr>
          <a:xfrm>
            <a:off x="129844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5" name="v:Combining:l0b2:box|b1"/>
          <p:cNvSpPr/>
          <p:nvPr/>
        </p:nvSpPr>
        <p:spPr>
          <a:xfrm>
            <a:off x="2103120" y="1508760"/>
            <a:ext cx="777240" cy="301752"/>
          </a:xfrm>
          <a:prstGeom prst="roundRect">
            <a:avLst>
              <a:gd name="adj" fmla="val 15152"/>
            </a:avLst>
          </a:prstGeom>
          <a:solidFill>
            <a:srgbClr val="E3EEF8"/>
          </a:solidFill>
          <a:ln w="15875">
            <a:solidFill>
              <a:srgbClr val="306998"/>
            </a:solidFill>
            <a:prstDash val="solid"/>
          </a:ln>
        </p:spPr>
      </p:sp>
      <p:sp>
        <p:nvSpPr>
          <p:cNvPr id="16" name="v:Combining:l0b2|b1"/>
          <p:cNvSpPr txBox="1"/>
          <p:nvPr/>
        </p:nvSpPr>
        <p:spPr>
          <a:xfrm>
            <a:off x="212140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17" name="arrow|b1"/>
          <p:cNvSpPr/>
          <p:nvPr/>
        </p:nvSpPr>
        <p:spPr>
          <a:xfrm>
            <a:off x="4069080" y="1659636"/>
            <a:ext cx="411480" cy="0"/>
          </a:xfrm>
          <a:prstGeom prst="line">
            <a:avLst/>
          </a:prstGeom>
          <a:noFill/>
          <a:ln w="31750">
            <a:solidFill>
              <a:srgbClr val="306998"/>
            </a:solidFill>
            <a:prstDash val="solid"/>
            <a:tailEnd type="triangle"/>
          </a:ln>
        </p:spPr>
      </p:sp>
      <p:sp>
        <p:nvSpPr>
          <p:cNvPr id="18" name="v:Combining:l0a0:box|b1"/>
          <p:cNvSpPr/>
          <p:nvPr/>
        </p:nvSpPr>
        <p:spPr>
          <a:xfrm>
            <a:off x="4590288" y="1508760"/>
            <a:ext cx="640080" cy="301752"/>
          </a:xfrm>
          <a:prstGeom prst="roundRect">
            <a:avLst>
              <a:gd name="adj" fmla="val 15152"/>
            </a:avLst>
          </a:prstGeom>
          <a:solidFill>
            <a:srgbClr val="E3EEF8"/>
          </a:solidFill>
          <a:ln w="15875">
            <a:solidFill>
              <a:srgbClr val="306998"/>
            </a:solidFill>
            <a:prstDash val="solid"/>
          </a:ln>
        </p:spPr>
      </p:sp>
      <p:sp>
        <p:nvSpPr>
          <p:cNvPr id="19" name="v:Combining:l0a0|b1"/>
          <p:cNvSpPr txBox="1"/>
          <p:nvPr/>
        </p:nvSpPr>
        <p:spPr>
          <a:xfrm>
            <a:off x="4608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0" name="v:Combining:l0a1:box|b1"/>
          <p:cNvSpPr/>
          <p:nvPr/>
        </p:nvSpPr>
        <p:spPr>
          <a:xfrm>
            <a:off x="5276088" y="1508760"/>
            <a:ext cx="640080" cy="301752"/>
          </a:xfrm>
          <a:prstGeom prst="roundRect">
            <a:avLst>
              <a:gd name="adj" fmla="val 15152"/>
            </a:avLst>
          </a:prstGeom>
          <a:solidFill>
            <a:srgbClr val="E3EEF8"/>
          </a:solidFill>
          <a:ln w="15875">
            <a:solidFill>
              <a:srgbClr val="306998"/>
            </a:solidFill>
            <a:prstDash val="solid"/>
          </a:ln>
        </p:spPr>
      </p:sp>
      <p:sp>
        <p:nvSpPr>
          <p:cNvPr id="21" name="v:Combining:l0a1|b1"/>
          <p:cNvSpPr txBox="1"/>
          <p:nvPr/>
        </p:nvSpPr>
        <p:spPr>
          <a:xfrm>
            <a:off x="52943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2" name="v:Combining:l0a2:box|b1"/>
          <p:cNvSpPr/>
          <p:nvPr/>
        </p:nvSpPr>
        <p:spPr>
          <a:xfrm>
            <a:off x="5961888" y="1508760"/>
            <a:ext cx="640080" cy="301752"/>
          </a:xfrm>
          <a:prstGeom prst="roundRect">
            <a:avLst>
              <a:gd name="adj" fmla="val 15152"/>
            </a:avLst>
          </a:prstGeom>
          <a:solidFill>
            <a:srgbClr val="E3EEF8"/>
          </a:solidFill>
          <a:ln w="15875">
            <a:solidFill>
              <a:srgbClr val="306998"/>
            </a:solidFill>
            <a:prstDash val="solid"/>
          </a:ln>
        </p:spPr>
      </p:sp>
      <p:sp>
        <p:nvSpPr>
          <p:cNvPr id="23" name="v:Combining:l0a2|b1"/>
          <p:cNvSpPr txBox="1"/>
          <p:nvPr/>
        </p:nvSpPr>
        <p:spPr>
          <a:xfrm>
            <a:off x="59801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24" name="v:Combining:l0a3:box|b1"/>
          <p:cNvSpPr/>
          <p:nvPr/>
        </p:nvSpPr>
        <p:spPr>
          <a:xfrm>
            <a:off x="6647688" y="1508760"/>
            <a:ext cx="640080" cy="301752"/>
          </a:xfrm>
          <a:prstGeom prst="roundRect">
            <a:avLst>
              <a:gd name="adj" fmla="val 15152"/>
            </a:avLst>
          </a:prstGeom>
          <a:solidFill>
            <a:srgbClr val="DDF3E6"/>
          </a:solidFill>
          <a:ln w="15875">
            <a:solidFill>
              <a:srgbClr val="2E9E5B"/>
            </a:solidFill>
            <a:prstDash val="solid"/>
          </a:ln>
        </p:spPr>
      </p:sp>
      <p:sp>
        <p:nvSpPr>
          <p:cNvPr id="25" name="v:Combining:l0a3|b1"/>
          <p:cNvSpPr txBox="1"/>
          <p:nvPr/>
        </p:nvSpPr>
        <p:spPr>
          <a:xfrm>
            <a:off x="66659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'A'</a:t>
            </a:r>
            <a:endParaRPr lang="en-US" sz="1000" dirty="0"/>
          </a:p>
        </p:txBody>
      </p:sp>
      <p:sp>
        <p:nvSpPr>
          <p:cNvPr id="26" name="v:Combining:l0a4:box|b1"/>
          <p:cNvSpPr/>
          <p:nvPr/>
        </p:nvSpPr>
        <p:spPr>
          <a:xfrm>
            <a:off x="7333488" y="1508760"/>
            <a:ext cx="640080" cy="301752"/>
          </a:xfrm>
          <a:prstGeom prst="roundRect">
            <a:avLst>
              <a:gd name="adj" fmla="val 15152"/>
            </a:avLst>
          </a:prstGeom>
          <a:solidFill>
            <a:srgbClr val="DDF3E6"/>
          </a:solidFill>
          <a:ln w="15875">
            <a:solidFill>
              <a:srgbClr val="2E9E5B"/>
            </a:solidFill>
            <a:prstDash val="solid"/>
          </a:ln>
        </p:spPr>
      </p:sp>
      <p:sp>
        <p:nvSpPr>
          <p:cNvPr id="27" name="v:Combining:l0a4|b1"/>
          <p:cNvSpPr txBox="1"/>
          <p:nvPr/>
        </p:nvSpPr>
        <p:spPr>
          <a:xfrm>
            <a:off x="73517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'B'</a:t>
            </a:r>
            <a:endParaRPr lang="en-US" sz="1000" dirty="0"/>
          </a:p>
        </p:txBody>
      </p:sp>
      <p:sp>
        <p:nvSpPr>
          <p:cNvPr id="28" name="v:Combining:l0a5:box|b1"/>
          <p:cNvSpPr/>
          <p:nvPr/>
        </p:nvSpPr>
        <p:spPr>
          <a:xfrm>
            <a:off x="8019288" y="1508760"/>
            <a:ext cx="640080" cy="301752"/>
          </a:xfrm>
          <a:prstGeom prst="roundRect">
            <a:avLst>
              <a:gd name="adj" fmla="val 15152"/>
            </a:avLst>
          </a:prstGeom>
          <a:solidFill>
            <a:srgbClr val="DDF3E6"/>
          </a:solidFill>
          <a:ln w="15875">
            <a:solidFill>
              <a:srgbClr val="2E9E5B"/>
            </a:solidFill>
            <a:prstDash val="solid"/>
          </a:ln>
        </p:spPr>
      </p:sp>
      <p:sp>
        <p:nvSpPr>
          <p:cNvPr id="29" name="v:Combining:l0a5|b1"/>
          <p:cNvSpPr txBox="1"/>
          <p:nvPr/>
        </p:nvSpPr>
        <p:spPr>
          <a:xfrm>
            <a:off x="8037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30" name="lanebox|b2"/>
          <p:cNvSpPr/>
          <p:nvPr/>
        </p:nvSpPr>
        <p:spPr>
          <a:xfrm>
            <a:off x="365760" y="1920240"/>
            <a:ext cx="8412480" cy="694944"/>
          </a:xfrm>
          <a:prstGeom prst="roundRect">
            <a:avLst>
              <a:gd name="adj" fmla="val 7895"/>
            </a:avLst>
          </a:prstGeom>
          <a:solidFill>
            <a:srgbClr val="FFFFFF"/>
          </a:solidFill>
          <a:ln w="9525">
            <a:solidFill>
              <a:srgbClr val="9AA8B8"/>
            </a:solidFill>
            <a:prstDash val="solid"/>
          </a:ln>
        </p:spPr>
      </p:sp>
      <p:sp>
        <p:nvSpPr>
          <p:cNvPr id="31" name="v:Combin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3</a:t>
            </a:r>
            <a:endParaRPr lang="en-US" sz="1250" dirty="0"/>
          </a:p>
        </p:txBody>
      </p:sp>
      <p:sp>
        <p:nvSpPr>
          <p:cNvPr id="32" name="v:Combin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33" name="v:Combin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4" name="v:Combin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35" name="v:Combining:l1b0:box|b2"/>
          <p:cNvSpPr/>
          <p:nvPr/>
        </p:nvSpPr>
        <p:spPr>
          <a:xfrm>
            <a:off x="457200" y="2258568"/>
            <a:ext cx="777240" cy="301752"/>
          </a:xfrm>
          <a:prstGeom prst="roundRect">
            <a:avLst>
              <a:gd name="adj" fmla="val 15152"/>
            </a:avLst>
          </a:prstGeom>
          <a:solidFill>
            <a:srgbClr val="E3EEF8"/>
          </a:solidFill>
          <a:ln w="15875">
            <a:solidFill>
              <a:srgbClr val="306998"/>
            </a:solidFill>
            <a:prstDash val="solid"/>
          </a:ln>
        </p:spPr>
      </p:sp>
      <p:sp>
        <p:nvSpPr>
          <p:cNvPr id="36" name="v:Combining:l1b0|b2"/>
          <p:cNvSpPr txBox="1"/>
          <p:nvPr/>
        </p:nvSpPr>
        <p:spPr>
          <a:xfrm>
            <a:off x="47548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37" name="v:Combining:l1b1:box|b2"/>
          <p:cNvSpPr/>
          <p:nvPr/>
        </p:nvSpPr>
        <p:spPr>
          <a:xfrm>
            <a:off x="1280160" y="2258568"/>
            <a:ext cx="777240" cy="301752"/>
          </a:xfrm>
          <a:prstGeom prst="roundRect">
            <a:avLst>
              <a:gd name="adj" fmla="val 15152"/>
            </a:avLst>
          </a:prstGeom>
          <a:solidFill>
            <a:srgbClr val="E3EEF8"/>
          </a:solidFill>
          <a:ln w="15875">
            <a:solidFill>
              <a:srgbClr val="306998"/>
            </a:solidFill>
            <a:prstDash val="solid"/>
          </a:ln>
        </p:spPr>
      </p:sp>
      <p:sp>
        <p:nvSpPr>
          <p:cNvPr id="38" name="v:Combining:l1b1|b2"/>
          <p:cNvSpPr txBox="1"/>
          <p:nvPr/>
        </p:nvSpPr>
        <p:spPr>
          <a:xfrm>
            <a:off x="129844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39" name="arrow|b2"/>
          <p:cNvSpPr/>
          <p:nvPr/>
        </p:nvSpPr>
        <p:spPr>
          <a:xfrm>
            <a:off x="4069080" y="2409444"/>
            <a:ext cx="411480" cy="0"/>
          </a:xfrm>
          <a:prstGeom prst="line">
            <a:avLst/>
          </a:prstGeom>
          <a:noFill/>
          <a:ln w="31750">
            <a:solidFill>
              <a:srgbClr val="306998"/>
            </a:solidFill>
            <a:prstDash val="solid"/>
            <a:tailEnd type="triangle"/>
          </a:ln>
        </p:spPr>
      </p:sp>
      <p:sp>
        <p:nvSpPr>
          <p:cNvPr id="40" name="v:Combining:l1a0:box|b2"/>
          <p:cNvSpPr/>
          <p:nvPr/>
        </p:nvSpPr>
        <p:spPr>
          <a:xfrm>
            <a:off x="4590288" y="2258568"/>
            <a:ext cx="640080" cy="301752"/>
          </a:xfrm>
          <a:prstGeom prst="roundRect">
            <a:avLst>
              <a:gd name="adj" fmla="val 15152"/>
            </a:avLst>
          </a:prstGeom>
          <a:solidFill>
            <a:srgbClr val="E3EEF8"/>
          </a:solidFill>
          <a:ln w="15875">
            <a:solidFill>
              <a:srgbClr val="306998"/>
            </a:solidFill>
            <a:prstDash val="solid"/>
          </a:ln>
        </p:spPr>
      </p:sp>
      <p:sp>
        <p:nvSpPr>
          <p:cNvPr id="41" name="v:Combining:l1a0|b2"/>
          <p:cNvSpPr txBox="1"/>
          <p:nvPr/>
        </p:nvSpPr>
        <p:spPr>
          <a:xfrm>
            <a:off x="4608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42" name="v:Combining:l1a1:box|b2"/>
          <p:cNvSpPr/>
          <p:nvPr/>
        </p:nvSpPr>
        <p:spPr>
          <a:xfrm>
            <a:off x="5276088" y="2258568"/>
            <a:ext cx="640080" cy="301752"/>
          </a:xfrm>
          <a:prstGeom prst="roundRect">
            <a:avLst>
              <a:gd name="adj" fmla="val 15152"/>
            </a:avLst>
          </a:prstGeom>
          <a:solidFill>
            <a:srgbClr val="E3EEF8"/>
          </a:solidFill>
          <a:ln w="15875">
            <a:solidFill>
              <a:srgbClr val="306998"/>
            </a:solidFill>
            <a:prstDash val="solid"/>
          </a:ln>
        </p:spPr>
      </p:sp>
      <p:sp>
        <p:nvSpPr>
          <p:cNvPr id="43" name="v:Combining:l1a1|b2"/>
          <p:cNvSpPr txBox="1"/>
          <p:nvPr/>
        </p:nvSpPr>
        <p:spPr>
          <a:xfrm>
            <a:off x="52943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44" name="v:Combining:l1a2:box|b2"/>
          <p:cNvSpPr/>
          <p:nvPr/>
        </p:nvSpPr>
        <p:spPr>
          <a:xfrm>
            <a:off x="5961888" y="2258568"/>
            <a:ext cx="640080" cy="301752"/>
          </a:xfrm>
          <a:prstGeom prst="roundRect">
            <a:avLst>
              <a:gd name="adj" fmla="val 15152"/>
            </a:avLst>
          </a:prstGeom>
          <a:solidFill>
            <a:srgbClr val="DDF3E6"/>
          </a:solidFill>
          <a:ln w="15875">
            <a:solidFill>
              <a:srgbClr val="2E9E5B"/>
            </a:solidFill>
            <a:prstDash val="solid"/>
          </a:ln>
        </p:spPr>
      </p:sp>
      <p:sp>
        <p:nvSpPr>
          <p:cNvPr id="45" name="v:Combining:l1a2|b2"/>
          <p:cNvSpPr txBox="1"/>
          <p:nvPr/>
        </p:nvSpPr>
        <p:spPr>
          <a:xfrm>
            <a:off x="59801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46" name="v:Combining:l1a3:box|b2"/>
          <p:cNvSpPr/>
          <p:nvPr/>
        </p:nvSpPr>
        <p:spPr>
          <a:xfrm>
            <a:off x="6647688" y="2258568"/>
            <a:ext cx="640080" cy="301752"/>
          </a:xfrm>
          <a:prstGeom prst="roundRect">
            <a:avLst>
              <a:gd name="adj" fmla="val 15152"/>
            </a:avLst>
          </a:prstGeom>
          <a:solidFill>
            <a:srgbClr val="DDF3E6"/>
          </a:solidFill>
          <a:ln w="15875">
            <a:solidFill>
              <a:srgbClr val="2E9E5B"/>
            </a:solidFill>
            <a:prstDash val="solid"/>
          </a:ln>
        </p:spPr>
      </p:sp>
      <p:sp>
        <p:nvSpPr>
          <p:cNvPr id="47" name="v:Combining:l1a3|b2"/>
          <p:cNvSpPr txBox="1"/>
          <p:nvPr/>
        </p:nvSpPr>
        <p:spPr>
          <a:xfrm>
            <a:off x="66659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48" name="v:Combining:l1a4:box|b2"/>
          <p:cNvSpPr/>
          <p:nvPr/>
        </p:nvSpPr>
        <p:spPr>
          <a:xfrm>
            <a:off x="7333488" y="2258568"/>
            <a:ext cx="640080" cy="301752"/>
          </a:xfrm>
          <a:prstGeom prst="roundRect">
            <a:avLst>
              <a:gd name="adj" fmla="val 15152"/>
            </a:avLst>
          </a:prstGeom>
          <a:solidFill>
            <a:srgbClr val="DDF3E6"/>
          </a:solidFill>
          <a:ln w="15875">
            <a:solidFill>
              <a:srgbClr val="2E9E5B"/>
            </a:solidFill>
            <a:prstDash val="solid"/>
          </a:ln>
        </p:spPr>
      </p:sp>
      <p:sp>
        <p:nvSpPr>
          <p:cNvPr id="49" name="v:Combining:l1a4|b2"/>
          <p:cNvSpPr txBox="1"/>
          <p:nvPr/>
        </p:nvSpPr>
        <p:spPr>
          <a:xfrm>
            <a:off x="73517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50" name="v:Combining:l1a5:box|b2"/>
          <p:cNvSpPr/>
          <p:nvPr/>
        </p:nvSpPr>
        <p:spPr>
          <a:xfrm>
            <a:off x="8019288" y="2258568"/>
            <a:ext cx="640080" cy="301752"/>
          </a:xfrm>
          <a:prstGeom prst="roundRect">
            <a:avLst>
              <a:gd name="adj" fmla="val 15152"/>
            </a:avLst>
          </a:prstGeom>
          <a:solidFill>
            <a:srgbClr val="DDF3E6"/>
          </a:solidFill>
          <a:ln w="15875">
            <a:solidFill>
              <a:srgbClr val="2E9E5B"/>
            </a:solidFill>
            <a:prstDash val="solid"/>
          </a:ln>
        </p:spPr>
      </p:sp>
      <p:sp>
        <p:nvSpPr>
          <p:cNvPr id="51" name="v:Combining:l1a5|b2"/>
          <p:cNvSpPr txBox="1"/>
          <p:nvPr/>
        </p:nvSpPr>
        <p:spPr>
          <a:xfrm>
            <a:off x="8037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52" name="v:AugmentedAssignment:g0.0.c|b3"/>
          <p:cNvSpPr txBox="1"/>
          <p:nvPr/>
        </p:nvSpPr>
        <p:spPr>
          <a:xfrm>
            <a:off x="365760"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[1]</a:t>
            </a:r>
            <a:endParaRPr lang="en-US" sz="1200" dirty="0"/>
          </a:p>
        </p:txBody>
      </p:sp>
      <p:sp>
        <p:nvSpPr>
          <p:cNvPr id="53" name="v:AugmentedAssignment:g0.0.o1i0:box|b3"/>
          <p:cNvSpPr/>
          <p:nvPr/>
        </p:nvSpPr>
        <p:spPr>
          <a:xfrm>
            <a:off x="1143000" y="3154680"/>
            <a:ext cx="365760" cy="310896"/>
          </a:xfrm>
          <a:prstGeom prst="roundRect">
            <a:avLst>
              <a:gd name="adj" fmla="val 11765"/>
            </a:avLst>
          </a:prstGeom>
          <a:solidFill>
            <a:srgbClr val="E3EEF8"/>
          </a:solidFill>
          <a:ln w="19050">
            <a:solidFill>
              <a:srgbClr val="306998"/>
            </a:solidFill>
            <a:prstDash val="solid"/>
          </a:ln>
        </p:spPr>
      </p:sp>
      <p:sp>
        <p:nvSpPr>
          <p:cNvPr id="54" name="v:AugmentedAssignment:g0.0.o1i0|b3"/>
          <p:cNvSpPr txBox="1"/>
          <p:nvPr/>
        </p:nvSpPr>
        <p:spPr>
          <a:xfrm>
            <a:off x="115214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55" name="v:AugmentedAssignment:g0.0.n.a:box|b3"/>
          <p:cNvSpPr/>
          <p:nvPr/>
        </p:nvSpPr>
        <p:spPr>
          <a:xfrm>
            <a:off x="365760" y="3191256"/>
            <a:ext cx="548640" cy="237744"/>
          </a:xfrm>
          <a:prstGeom prst="roundRect">
            <a:avLst>
              <a:gd name="adj" fmla="val 30769"/>
            </a:avLst>
          </a:prstGeom>
          <a:solidFill>
            <a:srgbClr val="FFFFFF"/>
          </a:solidFill>
          <a:ln w="19050">
            <a:solidFill>
              <a:srgbClr val="306998"/>
            </a:solidFill>
            <a:prstDash val="solid"/>
          </a:ln>
        </p:spPr>
      </p:sp>
      <p:sp>
        <p:nvSpPr>
          <p:cNvPr id="56" name="v:AugmentedAssignment:g0.0.n.a|b3"/>
          <p:cNvSpPr txBox="1"/>
          <p:nvPr/>
        </p:nvSpPr>
        <p:spPr>
          <a:xfrm>
            <a:off x="365760"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57" name="namearrow|b3"/>
          <p:cNvSpPr/>
          <p:nvPr/>
        </p:nvSpPr>
        <p:spPr>
          <a:xfrm>
            <a:off x="914400" y="3310128"/>
            <a:ext cx="228600" cy="0"/>
          </a:xfrm>
          <a:prstGeom prst="line">
            <a:avLst/>
          </a:prstGeom>
          <a:noFill/>
          <a:ln w="25400">
            <a:solidFill>
              <a:srgbClr val="306998"/>
            </a:solidFill>
            <a:prstDash val="solid"/>
            <a:tailEnd type="triangle"/>
          </a:ln>
        </p:spPr>
      </p:sp>
      <p:sp>
        <p:nvSpPr>
          <p:cNvPr id="58" name="v:AugmentedAssignment:g0.1.c|b4"/>
          <p:cNvSpPr txBox="1"/>
          <p:nvPr/>
        </p:nvSpPr>
        <p:spPr>
          <a:xfrm>
            <a:off x="2487168"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b = a</a:t>
            </a:r>
            <a:endParaRPr lang="en-US" sz="1200" dirty="0"/>
          </a:p>
        </p:txBody>
      </p:sp>
      <p:sp>
        <p:nvSpPr>
          <p:cNvPr id="59" name="v:AugmentedAssignment:g0.1.o1i0:box|b4"/>
          <p:cNvSpPr/>
          <p:nvPr/>
        </p:nvSpPr>
        <p:spPr>
          <a:xfrm>
            <a:off x="3264408" y="3246120"/>
            <a:ext cx="365760" cy="310896"/>
          </a:xfrm>
          <a:prstGeom prst="roundRect">
            <a:avLst>
              <a:gd name="adj" fmla="val 11765"/>
            </a:avLst>
          </a:prstGeom>
          <a:solidFill>
            <a:srgbClr val="E3EEF8"/>
          </a:solidFill>
          <a:ln w="19050">
            <a:solidFill>
              <a:srgbClr val="306998"/>
            </a:solidFill>
            <a:prstDash val="solid"/>
          </a:ln>
        </p:spPr>
      </p:sp>
      <p:sp>
        <p:nvSpPr>
          <p:cNvPr id="60" name="v:AugmentedAssignment:g0.1.o1i0|b4"/>
          <p:cNvSpPr txBox="1"/>
          <p:nvPr/>
        </p:nvSpPr>
        <p:spPr>
          <a:xfrm>
            <a:off x="3273552"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61" name="v:AugmentedAssignment:g0.1.n.a:box|b4"/>
          <p:cNvSpPr/>
          <p:nvPr/>
        </p:nvSpPr>
        <p:spPr>
          <a:xfrm>
            <a:off x="2487168" y="3145536"/>
            <a:ext cx="548640" cy="237744"/>
          </a:xfrm>
          <a:prstGeom prst="roundRect">
            <a:avLst>
              <a:gd name="adj" fmla="val 30769"/>
            </a:avLst>
          </a:prstGeom>
          <a:solidFill>
            <a:srgbClr val="FFFFFF"/>
          </a:solidFill>
          <a:ln w="19050">
            <a:solidFill>
              <a:srgbClr val="306998"/>
            </a:solidFill>
            <a:prstDash val="solid"/>
          </a:ln>
        </p:spPr>
      </p:sp>
      <p:sp>
        <p:nvSpPr>
          <p:cNvPr id="62" name="v:AugmentedAssignment:g0.1.n.a|b4"/>
          <p:cNvSpPr txBox="1"/>
          <p:nvPr/>
        </p:nvSpPr>
        <p:spPr>
          <a:xfrm>
            <a:off x="2487168"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63" name="namearrow|b4"/>
          <p:cNvSpPr/>
          <p:nvPr/>
        </p:nvSpPr>
        <p:spPr>
          <a:xfrm>
            <a:off x="3035808" y="3264408"/>
            <a:ext cx="228600" cy="137160"/>
          </a:xfrm>
          <a:prstGeom prst="line">
            <a:avLst/>
          </a:prstGeom>
          <a:noFill/>
          <a:ln w="25400">
            <a:solidFill>
              <a:srgbClr val="306998"/>
            </a:solidFill>
            <a:prstDash val="solid"/>
            <a:tailEnd type="triangle"/>
          </a:ln>
        </p:spPr>
      </p:sp>
      <p:sp>
        <p:nvSpPr>
          <p:cNvPr id="64" name="v:AugmentedAssignment:g0.1.n.b:box|b4"/>
          <p:cNvSpPr/>
          <p:nvPr/>
        </p:nvSpPr>
        <p:spPr>
          <a:xfrm>
            <a:off x="2487168" y="3419856"/>
            <a:ext cx="548640" cy="237744"/>
          </a:xfrm>
          <a:prstGeom prst="roundRect">
            <a:avLst>
              <a:gd name="adj" fmla="val 30769"/>
            </a:avLst>
          </a:prstGeom>
          <a:solidFill>
            <a:srgbClr val="FFFFFF"/>
          </a:solidFill>
          <a:ln w="19050">
            <a:solidFill>
              <a:srgbClr val="306998"/>
            </a:solidFill>
            <a:prstDash val="solid"/>
          </a:ln>
        </p:spPr>
      </p:sp>
      <p:sp>
        <p:nvSpPr>
          <p:cNvPr id="65" name="v:AugmentedAssignment:g0.1.n.b|b4"/>
          <p:cNvSpPr txBox="1"/>
          <p:nvPr/>
        </p:nvSpPr>
        <p:spPr>
          <a:xfrm>
            <a:off x="2487168"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66" name="namearrow|b4"/>
          <p:cNvSpPr/>
          <p:nvPr/>
        </p:nvSpPr>
        <p:spPr>
          <a:xfrm flipV="1">
            <a:off x="3035808" y="3401568"/>
            <a:ext cx="228600" cy="137160"/>
          </a:xfrm>
          <a:prstGeom prst="line">
            <a:avLst/>
          </a:prstGeom>
          <a:noFill/>
          <a:ln w="25400">
            <a:solidFill>
              <a:srgbClr val="306998"/>
            </a:solidFill>
            <a:prstDash val="solid"/>
            <a:tailEnd type="triangle"/>
          </a:ln>
        </p:spPr>
      </p:sp>
      <p:sp>
        <p:nvSpPr>
          <p:cNvPr id="67" name="v:AugmentedAssignment:g0.2.c|b5"/>
          <p:cNvSpPr txBox="1"/>
          <p:nvPr/>
        </p:nvSpPr>
        <p:spPr>
          <a:xfrm>
            <a:off x="4608576"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[2]</a:t>
            </a:r>
            <a:endParaRPr lang="en-US" sz="1200" dirty="0"/>
          </a:p>
        </p:txBody>
      </p:sp>
      <p:sp>
        <p:nvSpPr>
          <p:cNvPr id="68" name="v:AugmentedAssignment:g0.2.o1i0:box|b5"/>
          <p:cNvSpPr/>
          <p:nvPr/>
        </p:nvSpPr>
        <p:spPr>
          <a:xfrm>
            <a:off x="5385816" y="3246120"/>
            <a:ext cx="365760" cy="310896"/>
          </a:xfrm>
          <a:prstGeom prst="roundRect">
            <a:avLst>
              <a:gd name="adj" fmla="val 11765"/>
            </a:avLst>
          </a:prstGeom>
          <a:solidFill>
            <a:srgbClr val="E3EEF8"/>
          </a:solidFill>
          <a:ln w="19050">
            <a:solidFill>
              <a:srgbClr val="306998"/>
            </a:solidFill>
            <a:prstDash val="solid"/>
          </a:ln>
        </p:spPr>
      </p:sp>
      <p:sp>
        <p:nvSpPr>
          <p:cNvPr id="69" name="v:AugmentedAssignment:g0.2.o1i0|b5"/>
          <p:cNvSpPr txBox="1"/>
          <p:nvPr/>
        </p:nvSpPr>
        <p:spPr>
          <a:xfrm>
            <a:off x="5394960"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70" name="v:AugmentedAssignment:g0.2.o1i1:box|b5"/>
          <p:cNvSpPr/>
          <p:nvPr/>
        </p:nvSpPr>
        <p:spPr>
          <a:xfrm>
            <a:off x="5788152" y="3246120"/>
            <a:ext cx="365760" cy="310896"/>
          </a:xfrm>
          <a:prstGeom prst="roundRect">
            <a:avLst>
              <a:gd name="adj" fmla="val 11765"/>
            </a:avLst>
          </a:prstGeom>
          <a:solidFill>
            <a:srgbClr val="E3EEF8"/>
          </a:solidFill>
          <a:ln w="19050">
            <a:solidFill>
              <a:srgbClr val="306998"/>
            </a:solidFill>
            <a:prstDash val="solid"/>
          </a:ln>
        </p:spPr>
      </p:sp>
      <p:sp>
        <p:nvSpPr>
          <p:cNvPr id="71" name="v:AugmentedAssignment:g0.2.o1i1|b5"/>
          <p:cNvSpPr txBox="1"/>
          <p:nvPr/>
        </p:nvSpPr>
        <p:spPr>
          <a:xfrm>
            <a:off x="5797296"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72" name="v:AugmentedAssignment:g0.2.n.a:box|b5"/>
          <p:cNvSpPr/>
          <p:nvPr/>
        </p:nvSpPr>
        <p:spPr>
          <a:xfrm>
            <a:off x="4608576" y="3145536"/>
            <a:ext cx="548640" cy="237744"/>
          </a:xfrm>
          <a:prstGeom prst="roundRect">
            <a:avLst>
              <a:gd name="adj" fmla="val 30769"/>
            </a:avLst>
          </a:prstGeom>
          <a:solidFill>
            <a:srgbClr val="FFFFFF"/>
          </a:solidFill>
          <a:ln w="19050">
            <a:solidFill>
              <a:srgbClr val="306998"/>
            </a:solidFill>
            <a:prstDash val="solid"/>
          </a:ln>
        </p:spPr>
      </p:sp>
      <p:sp>
        <p:nvSpPr>
          <p:cNvPr id="73" name="v:AugmentedAssignment:g0.2.n.a|b5"/>
          <p:cNvSpPr txBox="1"/>
          <p:nvPr/>
        </p:nvSpPr>
        <p:spPr>
          <a:xfrm>
            <a:off x="4608576"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74" name="namearrow|b5"/>
          <p:cNvSpPr/>
          <p:nvPr/>
        </p:nvSpPr>
        <p:spPr>
          <a:xfrm>
            <a:off x="5157216" y="3264408"/>
            <a:ext cx="228600" cy="137160"/>
          </a:xfrm>
          <a:prstGeom prst="line">
            <a:avLst/>
          </a:prstGeom>
          <a:noFill/>
          <a:ln w="25400">
            <a:solidFill>
              <a:srgbClr val="306998"/>
            </a:solidFill>
            <a:prstDash val="solid"/>
            <a:tailEnd type="triangle"/>
          </a:ln>
        </p:spPr>
      </p:sp>
      <p:sp>
        <p:nvSpPr>
          <p:cNvPr id="75" name="v:AugmentedAssignment:g0.2.n.b:box|b5"/>
          <p:cNvSpPr/>
          <p:nvPr/>
        </p:nvSpPr>
        <p:spPr>
          <a:xfrm>
            <a:off x="4608576" y="3419856"/>
            <a:ext cx="548640" cy="237744"/>
          </a:xfrm>
          <a:prstGeom prst="roundRect">
            <a:avLst>
              <a:gd name="adj" fmla="val 30769"/>
            </a:avLst>
          </a:prstGeom>
          <a:solidFill>
            <a:srgbClr val="FFFFFF"/>
          </a:solidFill>
          <a:ln w="19050">
            <a:solidFill>
              <a:srgbClr val="306998"/>
            </a:solidFill>
            <a:prstDash val="solid"/>
          </a:ln>
        </p:spPr>
      </p:sp>
      <p:sp>
        <p:nvSpPr>
          <p:cNvPr id="76" name="v:AugmentedAssignment:g0.2.n.b|b5"/>
          <p:cNvSpPr txBox="1"/>
          <p:nvPr/>
        </p:nvSpPr>
        <p:spPr>
          <a:xfrm>
            <a:off x="4608576"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77" name="namearrow|b5"/>
          <p:cNvSpPr/>
          <p:nvPr/>
        </p:nvSpPr>
        <p:spPr>
          <a:xfrm flipV="1">
            <a:off x="5157216" y="3401568"/>
            <a:ext cx="228600" cy="137160"/>
          </a:xfrm>
          <a:prstGeom prst="line">
            <a:avLst/>
          </a:prstGeom>
          <a:noFill/>
          <a:ln w="25400">
            <a:solidFill>
              <a:srgbClr val="306998"/>
            </a:solidFill>
            <a:prstDash val="solid"/>
            <a:tailEnd type="triangle"/>
          </a:ln>
        </p:spPr>
      </p:sp>
      <p:sp>
        <p:nvSpPr>
          <p:cNvPr id="78" name="v:AugmentedAssignment:g0.3.c|b6"/>
          <p:cNvSpPr txBox="1"/>
          <p:nvPr/>
        </p:nvSpPr>
        <p:spPr>
          <a:xfrm>
            <a:off x="6729984"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a + [3]</a:t>
            </a:r>
            <a:endParaRPr lang="en-US" sz="1200" dirty="0"/>
          </a:p>
        </p:txBody>
      </p:sp>
      <p:sp>
        <p:nvSpPr>
          <p:cNvPr id="79" name="v:AugmentedAssignment:g0.3.o2i0:box|b6"/>
          <p:cNvSpPr/>
          <p:nvPr/>
        </p:nvSpPr>
        <p:spPr>
          <a:xfrm>
            <a:off x="7507224" y="3154680"/>
            <a:ext cx="365760" cy="310896"/>
          </a:xfrm>
          <a:prstGeom prst="roundRect">
            <a:avLst>
              <a:gd name="adj" fmla="val 11765"/>
            </a:avLst>
          </a:prstGeom>
          <a:solidFill>
            <a:srgbClr val="E3EEF8"/>
          </a:solidFill>
          <a:ln w="19050">
            <a:solidFill>
              <a:srgbClr val="306998"/>
            </a:solidFill>
            <a:prstDash val="solid"/>
          </a:ln>
        </p:spPr>
      </p:sp>
      <p:sp>
        <p:nvSpPr>
          <p:cNvPr id="80" name="v:AugmentedAssignment:g0.3.o2i0|b6"/>
          <p:cNvSpPr txBox="1"/>
          <p:nvPr/>
        </p:nvSpPr>
        <p:spPr>
          <a:xfrm>
            <a:off x="7516368"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1" name="v:AugmentedAssignment:g0.3.o2i1:box|b6"/>
          <p:cNvSpPr/>
          <p:nvPr/>
        </p:nvSpPr>
        <p:spPr>
          <a:xfrm>
            <a:off x="7909560" y="3154680"/>
            <a:ext cx="365760" cy="310896"/>
          </a:xfrm>
          <a:prstGeom prst="roundRect">
            <a:avLst>
              <a:gd name="adj" fmla="val 11765"/>
            </a:avLst>
          </a:prstGeom>
          <a:solidFill>
            <a:srgbClr val="E3EEF8"/>
          </a:solidFill>
          <a:ln w="19050">
            <a:solidFill>
              <a:srgbClr val="306998"/>
            </a:solidFill>
            <a:prstDash val="solid"/>
          </a:ln>
        </p:spPr>
      </p:sp>
      <p:sp>
        <p:nvSpPr>
          <p:cNvPr id="82" name="v:AugmentedAssignment:g0.3.o2i1|b6"/>
          <p:cNvSpPr txBox="1"/>
          <p:nvPr/>
        </p:nvSpPr>
        <p:spPr>
          <a:xfrm>
            <a:off x="791870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3" name="v:AugmentedAssignment:g0.3.o2i2:box|b6"/>
          <p:cNvSpPr/>
          <p:nvPr/>
        </p:nvSpPr>
        <p:spPr>
          <a:xfrm>
            <a:off x="8311896" y="3154680"/>
            <a:ext cx="365760" cy="310896"/>
          </a:xfrm>
          <a:prstGeom prst="roundRect">
            <a:avLst>
              <a:gd name="adj" fmla="val 11765"/>
            </a:avLst>
          </a:prstGeom>
          <a:solidFill>
            <a:srgbClr val="E3EEF8"/>
          </a:solidFill>
          <a:ln w="19050">
            <a:solidFill>
              <a:srgbClr val="306998"/>
            </a:solidFill>
            <a:prstDash val="solid"/>
          </a:ln>
        </p:spPr>
      </p:sp>
      <p:sp>
        <p:nvSpPr>
          <p:cNvPr id="84" name="v:AugmentedAssignment:g0.3.o2i2|b6"/>
          <p:cNvSpPr txBox="1"/>
          <p:nvPr/>
        </p:nvSpPr>
        <p:spPr>
          <a:xfrm>
            <a:off x="8321040"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85" name="v:AugmentedAssignment:g0.3.o1i0:box|b6"/>
          <p:cNvSpPr/>
          <p:nvPr/>
        </p:nvSpPr>
        <p:spPr>
          <a:xfrm>
            <a:off x="7507224" y="3666744"/>
            <a:ext cx="365760" cy="310896"/>
          </a:xfrm>
          <a:prstGeom prst="roundRect">
            <a:avLst>
              <a:gd name="adj" fmla="val 11765"/>
            </a:avLst>
          </a:prstGeom>
          <a:solidFill>
            <a:srgbClr val="E3EEF8"/>
          </a:solidFill>
          <a:ln w="19050">
            <a:solidFill>
              <a:srgbClr val="306998"/>
            </a:solidFill>
            <a:prstDash val="solid"/>
          </a:ln>
        </p:spPr>
      </p:sp>
      <p:sp>
        <p:nvSpPr>
          <p:cNvPr id="86" name="v:AugmentedAssignment:g0.3.o1i0|b6"/>
          <p:cNvSpPr txBox="1"/>
          <p:nvPr/>
        </p:nvSpPr>
        <p:spPr>
          <a:xfrm>
            <a:off x="7516368"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7" name="v:AugmentedAssignment:g0.3.o1i1:box|b6"/>
          <p:cNvSpPr/>
          <p:nvPr/>
        </p:nvSpPr>
        <p:spPr>
          <a:xfrm>
            <a:off x="7909560" y="3666744"/>
            <a:ext cx="365760" cy="310896"/>
          </a:xfrm>
          <a:prstGeom prst="roundRect">
            <a:avLst>
              <a:gd name="adj" fmla="val 11765"/>
            </a:avLst>
          </a:prstGeom>
          <a:solidFill>
            <a:srgbClr val="E3EEF8"/>
          </a:solidFill>
          <a:ln w="19050">
            <a:solidFill>
              <a:srgbClr val="306998"/>
            </a:solidFill>
            <a:prstDash val="solid"/>
          </a:ln>
        </p:spPr>
      </p:sp>
      <p:sp>
        <p:nvSpPr>
          <p:cNvPr id="88" name="v:AugmentedAssignment:g0.3.o1i1|b6"/>
          <p:cNvSpPr txBox="1"/>
          <p:nvPr/>
        </p:nvSpPr>
        <p:spPr>
          <a:xfrm>
            <a:off x="7918704"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9" name="v:AugmentedAssignment:g0.3.n.a:box|b6"/>
          <p:cNvSpPr/>
          <p:nvPr/>
        </p:nvSpPr>
        <p:spPr>
          <a:xfrm>
            <a:off x="6729984" y="3191256"/>
            <a:ext cx="548640" cy="237744"/>
          </a:xfrm>
          <a:prstGeom prst="roundRect">
            <a:avLst>
              <a:gd name="adj" fmla="val 30769"/>
            </a:avLst>
          </a:prstGeom>
          <a:solidFill>
            <a:srgbClr val="FFFFFF"/>
          </a:solidFill>
          <a:ln w="19050">
            <a:solidFill>
              <a:srgbClr val="306998"/>
            </a:solidFill>
            <a:prstDash val="solid"/>
          </a:ln>
        </p:spPr>
      </p:sp>
      <p:sp>
        <p:nvSpPr>
          <p:cNvPr id="90" name="v:AugmentedAssignment:g0.3.n.a|b6"/>
          <p:cNvSpPr txBox="1"/>
          <p:nvPr/>
        </p:nvSpPr>
        <p:spPr>
          <a:xfrm>
            <a:off x="6729984"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91" name="namearrow|b6"/>
          <p:cNvSpPr/>
          <p:nvPr/>
        </p:nvSpPr>
        <p:spPr>
          <a:xfrm>
            <a:off x="7278624" y="3310128"/>
            <a:ext cx="228600" cy="0"/>
          </a:xfrm>
          <a:prstGeom prst="line">
            <a:avLst/>
          </a:prstGeom>
          <a:noFill/>
          <a:ln w="25400">
            <a:solidFill>
              <a:srgbClr val="306998"/>
            </a:solidFill>
            <a:prstDash val="solid"/>
            <a:tailEnd type="triangle"/>
          </a:ln>
        </p:spPr>
      </p:sp>
      <p:sp>
        <p:nvSpPr>
          <p:cNvPr id="92" name="v:AugmentedAssignment:g0.3.n.b:box|b6"/>
          <p:cNvSpPr/>
          <p:nvPr/>
        </p:nvSpPr>
        <p:spPr>
          <a:xfrm>
            <a:off x="6729984" y="3703320"/>
            <a:ext cx="548640" cy="237744"/>
          </a:xfrm>
          <a:prstGeom prst="roundRect">
            <a:avLst>
              <a:gd name="adj" fmla="val 30769"/>
            </a:avLst>
          </a:prstGeom>
          <a:solidFill>
            <a:srgbClr val="FFFFFF"/>
          </a:solidFill>
          <a:ln w="19050">
            <a:solidFill>
              <a:srgbClr val="306998"/>
            </a:solidFill>
            <a:prstDash val="solid"/>
          </a:ln>
        </p:spPr>
      </p:sp>
      <p:sp>
        <p:nvSpPr>
          <p:cNvPr id="93" name="v:AugmentedAssignment:g0.3.n.b|b6"/>
          <p:cNvSpPr txBox="1"/>
          <p:nvPr/>
        </p:nvSpPr>
        <p:spPr>
          <a:xfrm>
            <a:off x="6729984" y="3703320"/>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94" name="namearrow|b6"/>
          <p:cNvSpPr/>
          <p:nvPr/>
        </p:nvSpPr>
        <p:spPr>
          <a:xfrm>
            <a:off x="7278624" y="3822192"/>
            <a:ext cx="228600" cy="0"/>
          </a:xfrm>
          <a:prstGeom prst="line">
            <a:avLst/>
          </a:prstGeom>
          <a:noFill/>
          <a:ln w="25400">
            <a:solidFill>
              <a:srgbClr val="306998"/>
            </a:solidFill>
            <a:prstDash val="solid"/>
            <a:tailEnd type="triangle"/>
          </a:ln>
        </p:spPr>
      </p:sp>
      <p:sp>
        <p:nvSpPr>
          <p:cNvPr id="9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Concatenation replication, Augmented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75" fill="hold">
                      <p:stCondLst>
                        <p:cond delay="indefinite"/>
                      </p:stCondLst>
                      <p:childTnLst>
                        <p:par>
                          <p:cTn id="7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par>
                    <p:cTn id="143" fill="hold">
                      <p:stCondLst>
                        <p:cond delay="indefinite"/>
                      </p:stCondLst>
                      <p:childTnLst>
                        <p:par>
                          <p:cTn id="144"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childTnLst>
                          </p:cTn>
                        </p:par>
                      </p:childTnLst>
                    </p:cTn>
                  </p:par>
                  <p:par>
                    <p:cTn id="163" fill="hold">
                      <p:stCondLst>
                        <p:cond delay="indefinite"/>
                      </p:stCondLst>
                      <p:childTnLst>
                        <p:par>
                          <p:cTn id="16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childTnLst>
                          </p:cTn>
                        </p:par>
                      </p:childTnLst>
                    </p:cTn>
                  </p:par>
                  <p:par>
                    <p:cTn id="192" fill="hold">
                      <p:stCondLst>
                        <p:cond delay="indefinite"/>
                      </p:stCondLst>
                      <p:childTnLst>
                        <p:par>
                          <p:cTn id="193"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par>
                                <p:cTn id="168" presetID="10" presetClass="entr" presetSubtype="0" fill="hold" nodeType="with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00"/>
                                        <p:tgtEl>
                                          <p:spTgt spid="59"/>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Effect transition="in" filter="fade">
                                      <p:cBhvr>
                                        <p:cTn id="173" dur="400"/>
                                        <p:tgtEl>
                                          <p:spTgt spid="60"/>
                                        </p:tgtEl>
                                      </p:cBhvr>
                                    </p:animEffect>
                                  </p:childTnLst>
                                </p:cTn>
                              </p:par>
                              <p:par>
                                <p:cTn id="174" presetID="10" presetClass="entr" presetSubtype="0" fill="hold" nodeType="withEffect">
                                  <p:stCondLst>
                                    <p:cond delay="0"/>
                                  </p:stCondLst>
                                  <p:childTnLst>
                                    <p:set>
                                      <p:cBhvr>
                                        <p:cTn id="175" dur="1" fill="hold">
                                          <p:stCondLst>
                                            <p:cond delay="0"/>
                                          </p:stCondLst>
                                        </p:cTn>
                                        <p:tgtEl>
                                          <p:spTgt spid="61"/>
                                        </p:tgtEl>
                                        <p:attrNameLst>
                                          <p:attrName>style.visibility</p:attrName>
                                        </p:attrNameLst>
                                      </p:cBhvr>
                                      <p:to>
                                        <p:strVal val="visible"/>
                                      </p:to>
                                    </p:set>
                                    <p:animEffect transition="in" filter="fade">
                                      <p:cBhvr>
                                        <p:cTn id="176" dur="400"/>
                                        <p:tgtEl>
                                          <p:spTgt spid="61"/>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00"/>
                                        <p:tgtEl>
                                          <p:spTgt spid="62"/>
                                        </p:tgtEl>
                                      </p:cBhvr>
                                    </p:animEffect>
                                  </p:childTnLst>
                                </p:cTn>
                              </p:par>
                              <p:par>
                                <p:cTn id="180" presetID="10" presetClass="entr" presetSubtype="0" fill="hold"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00"/>
                                        <p:tgtEl>
                                          <p:spTgt spid="63"/>
                                        </p:tgtEl>
                                      </p:cBhvr>
                                    </p:animEffect>
                                  </p:childTnLst>
                                </p:cTn>
                              </p:par>
                              <p:par>
                                <p:cTn id="183" presetID="10" presetClass="entr" presetSubtype="0" fill="hold"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00"/>
                                        <p:tgtEl>
                                          <p:spTgt spid="64"/>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65"/>
                                        </p:tgtEl>
                                        <p:attrNameLst>
                                          <p:attrName>style.visibility</p:attrName>
                                        </p:attrNameLst>
                                      </p:cBhvr>
                                      <p:to>
                                        <p:strVal val="visible"/>
                                      </p:to>
                                    </p:set>
                                    <p:animEffect transition="in" filter="fade">
                                      <p:cBhvr>
                                        <p:cTn id="188" dur="400"/>
                                        <p:tgtEl>
                                          <p:spTgt spid="65"/>
                                        </p:tgtEl>
                                      </p:cBhvr>
                                    </p:animEffect>
                                  </p:childTnLst>
                                </p:cTn>
                              </p:par>
                              <p:par>
                                <p:cTn id="189" presetID="10" presetClass="entr" presetSubtype="0" fill="hold" nodeType="withEffect">
                                  <p:stCondLst>
                                    <p:cond delay="0"/>
                                  </p:stCondLst>
                                  <p:childTnLst>
                                    <p:set>
                                      <p:cBhvr>
                                        <p:cTn id="190" dur="1" fill="hold">
                                          <p:stCondLst>
                                            <p:cond delay="0"/>
                                          </p:stCondLst>
                                        </p:cTn>
                                        <p:tgtEl>
                                          <p:spTgt spid="66"/>
                                        </p:tgtEl>
                                        <p:attrNameLst>
                                          <p:attrName>style.visibility</p:attrName>
                                        </p:attrNameLst>
                                      </p:cBhvr>
                                      <p:to>
                                        <p:strVal val="visible"/>
                                      </p:to>
                                    </p:set>
                                    <p:animEffect transition="in" filter="fade">
                                      <p:cBhvr>
                                        <p:cTn id="191" dur="400"/>
                                        <p:tgtEl>
                                          <p:spTgt spid="66"/>
                                        </p:tgtEl>
                                      </p:cBhvr>
                                    </p:animEffect>
                                  </p:childTnLst>
                                </p:cTn>
                              </p:par>
                            </p:childTnLst>
                          </p:cTn>
                        </p:par>
                      </p:childTnLst>
                    </p:cTn>
                  </p:par>
                  <p:par>
                    <p:cTn id="227" fill="hold">
                      <p:stCondLst>
                        <p:cond delay="indefinite"/>
                      </p:stCondLst>
                      <p:childTnLst>
                        <p:par>
                          <p:cTn id="228"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67"/>
                                        </p:tgtEl>
                                        <p:attrNameLst>
                                          <p:attrName>style.visibility</p:attrName>
                                        </p:attrNameLst>
                                      </p:cBhvr>
                                      <p:to>
                                        <p:strVal val="visible"/>
                                      </p:to>
                                    </p:set>
                                    <p:animEffect transition="in" filter="fade">
                                      <p:cBhvr>
                                        <p:cTn id="196" dur="400"/>
                                        <p:tgtEl>
                                          <p:spTgt spid="67"/>
                                        </p:tgtEl>
                                      </p:cBhvr>
                                    </p:animEffect>
                                  </p:childTnLst>
                                </p:cTn>
                              </p:par>
                              <p:par>
                                <p:cTn id="197" presetID="10" presetClass="entr" presetSubtype="0" fill="hold" nodeType="with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00"/>
                                        <p:tgtEl>
                                          <p:spTgt spid="68"/>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69"/>
                                        </p:tgtEl>
                                        <p:attrNameLst>
                                          <p:attrName>style.visibility</p:attrName>
                                        </p:attrNameLst>
                                      </p:cBhvr>
                                      <p:to>
                                        <p:strVal val="visible"/>
                                      </p:to>
                                    </p:set>
                                    <p:animEffect transition="in" filter="fade">
                                      <p:cBhvr>
                                        <p:cTn id="202" dur="400"/>
                                        <p:tgtEl>
                                          <p:spTgt spid="69"/>
                                        </p:tgtEl>
                                      </p:cBhvr>
                                    </p:animEffect>
                                  </p:childTnLst>
                                </p:cTn>
                              </p:par>
                              <p:par>
                                <p:cTn id="203" presetID="10" presetClass="entr" presetSubtype="0" fill="hold" nodeType="withEffect">
                                  <p:stCondLst>
                                    <p:cond delay="0"/>
                                  </p:stCondLst>
                                  <p:childTnLst>
                                    <p:set>
                                      <p:cBhvr>
                                        <p:cTn id="204" dur="1" fill="hold">
                                          <p:stCondLst>
                                            <p:cond delay="0"/>
                                          </p:stCondLst>
                                        </p:cTn>
                                        <p:tgtEl>
                                          <p:spTgt spid="70"/>
                                        </p:tgtEl>
                                        <p:attrNameLst>
                                          <p:attrName>style.visibility</p:attrName>
                                        </p:attrNameLst>
                                      </p:cBhvr>
                                      <p:to>
                                        <p:strVal val="visible"/>
                                      </p:to>
                                    </p:set>
                                    <p:animEffect transition="in" filter="fade">
                                      <p:cBhvr>
                                        <p:cTn id="205" dur="400"/>
                                        <p:tgtEl>
                                          <p:spTgt spid="70"/>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1"/>
                                        </p:tgtEl>
                                        <p:attrNameLst>
                                          <p:attrName>style.visibility</p:attrName>
                                        </p:attrNameLst>
                                      </p:cBhvr>
                                      <p:to>
                                        <p:strVal val="visible"/>
                                      </p:to>
                                    </p:set>
                                    <p:animEffect transition="in" filter="fade">
                                      <p:cBhvr>
                                        <p:cTn id="208" dur="400"/>
                                        <p:tgtEl>
                                          <p:spTgt spid="71"/>
                                        </p:tgtEl>
                                      </p:cBhvr>
                                    </p:animEffect>
                                  </p:childTnLst>
                                </p:cTn>
                              </p:par>
                              <p:par>
                                <p:cTn id="209" presetID="10" presetClass="entr" presetSubtype="0" fill="hold" nodeType="withEffect">
                                  <p:stCondLst>
                                    <p:cond delay="0"/>
                                  </p:stCondLst>
                                  <p:childTnLst>
                                    <p:set>
                                      <p:cBhvr>
                                        <p:cTn id="210" dur="1" fill="hold">
                                          <p:stCondLst>
                                            <p:cond delay="0"/>
                                          </p:stCondLst>
                                        </p:cTn>
                                        <p:tgtEl>
                                          <p:spTgt spid="72"/>
                                        </p:tgtEl>
                                        <p:attrNameLst>
                                          <p:attrName>style.visibility</p:attrName>
                                        </p:attrNameLst>
                                      </p:cBhvr>
                                      <p:to>
                                        <p:strVal val="visible"/>
                                      </p:to>
                                    </p:set>
                                    <p:animEffect transition="in" filter="fade">
                                      <p:cBhvr>
                                        <p:cTn id="211" dur="400"/>
                                        <p:tgtEl>
                                          <p:spTgt spid="72"/>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73"/>
                                        </p:tgtEl>
                                        <p:attrNameLst>
                                          <p:attrName>style.visibility</p:attrName>
                                        </p:attrNameLst>
                                      </p:cBhvr>
                                      <p:to>
                                        <p:strVal val="visible"/>
                                      </p:to>
                                    </p:set>
                                    <p:animEffect transition="in" filter="fade">
                                      <p:cBhvr>
                                        <p:cTn id="214" dur="400"/>
                                        <p:tgtEl>
                                          <p:spTgt spid="73"/>
                                        </p:tgtEl>
                                      </p:cBhvr>
                                    </p:animEffect>
                                  </p:childTnLst>
                                </p:cTn>
                              </p:par>
                              <p:par>
                                <p:cTn id="215" presetID="10" presetClass="entr" presetSubtype="0" fill="hold" nodeType="withEffect">
                                  <p:stCondLst>
                                    <p:cond delay="0"/>
                                  </p:stCondLst>
                                  <p:childTnLst>
                                    <p:set>
                                      <p:cBhvr>
                                        <p:cTn id="216" dur="1" fill="hold">
                                          <p:stCondLst>
                                            <p:cond delay="0"/>
                                          </p:stCondLst>
                                        </p:cTn>
                                        <p:tgtEl>
                                          <p:spTgt spid="74"/>
                                        </p:tgtEl>
                                        <p:attrNameLst>
                                          <p:attrName>style.visibility</p:attrName>
                                        </p:attrNameLst>
                                      </p:cBhvr>
                                      <p:to>
                                        <p:strVal val="visible"/>
                                      </p:to>
                                    </p:set>
                                    <p:animEffect transition="in" filter="fade">
                                      <p:cBhvr>
                                        <p:cTn id="217" dur="400"/>
                                        <p:tgtEl>
                                          <p:spTgt spid="74"/>
                                        </p:tgtEl>
                                      </p:cBhvr>
                                    </p:animEffect>
                                  </p:childTnLst>
                                </p:cTn>
                              </p:par>
                              <p:par>
                                <p:cTn id="218" presetID="10" presetClass="entr" presetSubtype="0" fill="hold" nodeType="withEffect">
                                  <p:stCondLst>
                                    <p:cond delay="0"/>
                                  </p:stCondLst>
                                  <p:childTnLst>
                                    <p:set>
                                      <p:cBhvr>
                                        <p:cTn id="219" dur="1" fill="hold">
                                          <p:stCondLst>
                                            <p:cond delay="0"/>
                                          </p:stCondLst>
                                        </p:cTn>
                                        <p:tgtEl>
                                          <p:spTgt spid="75"/>
                                        </p:tgtEl>
                                        <p:attrNameLst>
                                          <p:attrName>style.visibility</p:attrName>
                                        </p:attrNameLst>
                                      </p:cBhvr>
                                      <p:to>
                                        <p:strVal val="visible"/>
                                      </p:to>
                                    </p:set>
                                    <p:animEffect transition="in" filter="fade">
                                      <p:cBhvr>
                                        <p:cTn id="220" dur="400"/>
                                        <p:tgtEl>
                                          <p:spTgt spid="75"/>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76"/>
                                        </p:tgtEl>
                                        <p:attrNameLst>
                                          <p:attrName>style.visibility</p:attrName>
                                        </p:attrNameLst>
                                      </p:cBhvr>
                                      <p:to>
                                        <p:strVal val="visible"/>
                                      </p:to>
                                    </p:set>
                                    <p:animEffect transition="in" filter="fade">
                                      <p:cBhvr>
                                        <p:cTn id="223" dur="400"/>
                                        <p:tgtEl>
                                          <p:spTgt spid="76"/>
                                        </p:tgtEl>
                                      </p:cBhvr>
                                    </p:animEffect>
                                  </p:childTnLst>
                                </p:cTn>
                              </p:par>
                              <p:par>
                                <p:cTn id="224" presetID="10" presetClass="entr" presetSubtype="0" fill="hold" nodeType="withEffect">
                                  <p:stCondLst>
                                    <p:cond delay="0"/>
                                  </p:stCondLst>
                                  <p:childTnLst>
                                    <p:set>
                                      <p:cBhvr>
                                        <p:cTn id="225" dur="1" fill="hold">
                                          <p:stCondLst>
                                            <p:cond delay="0"/>
                                          </p:stCondLst>
                                        </p:cTn>
                                        <p:tgtEl>
                                          <p:spTgt spid="77"/>
                                        </p:tgtEl>
                                        <p:attrNameLst>
                                          <p:attrName>style.visibility</p:attrName>
                                        </p:attrNameLst>
                                      </p:cBhvr>
                                      <p:to>
                                        <p:strVal val="visible"/>
                                      </p:to>
                                    </p:set>
                                    <p:animEffect transition="in" filter="fade">
                                      <p:cBhvr>
                                        <p:cTn id="226" dur="400"/>
                                        <p:tgtEl>
                                          <p:spTgt spid="77"/>
                                        </p:tgtEl>
                                      </p:cBhvr>
                                    </p:animEffect>
                                  </p:childTnLst>
                                </p:cTn>
                              </p:par>
                            </p:childTnLst>
                          </p:cTn>
                        </p:par>
                      </p:childTnLst>
                    </p:cTn>
                  </p:par>
                  <p:par>
                    <p:cTn id="280" fill="hold">
                      <p:stCondLst>
                        <p:cond delay="indefinite"/>
                      </p:stCondLst>
                      <p:childTnLst>
                        <p:par>
                          <p:cTn id="281" fill="hold">
                            <p:stCondLst>
                              <p:cond delay="0"/>
                            </p:stCondLst>
                            <p:childTnLst>
                              <p:par>
                                <p:cTn id="229" presetID="10" presetClass="entr" presetSubtype="0" fill="hold" grpId="0" nodeType="click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400"/>
                                        <p:tgtEl>
                                          <p:spTgt spid="78"/>
                                        </p:tgtEl>
                                      </p:cBhvr>
                                    </p:animEffect>
                                  </p:childTnLst>
                                </p:cTn>
                              </p:par>
                              <p:par>
                                <p:cTn id="232" presetID="10" presetClass="entr" presetSubtype="0" fill="hold"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400"/>
                                        <p:tgtEl>
                                          <p:spTgt spid="79"/>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400"/>
                                        <p:tgtEl>
                                          <p:spTgt spid="80"/>
                                        </p:tgtEl>
                                      </p:cBhvr>
                                    </p:animEffect>
                                  </p:childTnLst>
                                </p:cTn>
                              </p:par>
                              <p:par>
                                <p:cTn id="238" presetID="10" presetClass="entr" presetSubtype="0" fill="hold"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400"/>
                                        <p:tgtEl>
                                          <p:spTgt spid="81"/>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400"/>
                                        <p:tgtEl>
                                          <p:spTgt spid="82"/>
                                        </p:tgtEl>
                                      </p:cBhvr>
                                    </p:animEffect>
                                  </p:childTnLst>
                                </p:cTn>
                              </p:par>
                              <p:par>
                                <p:cTn id="244" presetID="10" presetClass="entr" presetSubtype="0" fill="hold" nodeType="withEffect">
                                  <p:stCondLst>
                                    <p:cond delay="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400"/>
                                        <p:tgtEl>
                                          <p:spTgt spid="83"/>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400"/>
                                        <p:tgtEl>
                                          <p:spTgt spid="84"/>
                                        </p:tgtEl>
                                      </p:cBhvr>
                                    </p:animEffect>
                                  </p:childTnLst>
                                </p:cTn>
                              </p:par>
                              <p:par>
                                <p:cTn id="250" presetID="10" presetClass="entr" presetSubtype="0" fill="hold" nodeType="withEffect">
                                  <p:stCondLst>
                                    <p:cond delay="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400"/>
                                        <p:tgtEl>
                                          <p:spTgt spid="85"/>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400"/>
                                        <p:tgtEl>
                                          <p:spTgt spid="86"/>
                                        </p:tgtEl>
                                      </p:cBhvr>
                                    </p:animEffect>
                                  </p:childTnLst>
                                </p:cTn>
                              </p:par>
                              <p:par>
                                <p:cTn id="256" presetID="10" presetClass="entr" presetSubtype="0" fill="hold" nodeType="withEffect">
                                  <p:stCondLst>
                                    <p:cond delay="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400"/>
                                        <p:tgtEl>
                                          <p:spTgt spid="87"/>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400"/>
                                        <p:tgtEl>
                                          <p:spTgt spid="88"/>
                                        </p:tgtEl>
                                      </p:cBhvr>
                                    </p:animEffect>
                                  </p:childTnLst>
                                </p:cTn>
                              </p:par>
                              <p:par>
                                <p:cTn id="262" presetID="10" presetClass="entr" presetSubtype="0" fill="hold" nodeType="withEffect">
                                  <p:stCondLst>
                                    <p:cond delay="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400"/>
                                        <p:tgtEl>
                                          <p:spTgt spid="89"/>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400"/>
                                        <p:tgtEl>
                                          <p:spTgt spid="90"/>
                                        </p:tgtEl>
                                      </p:cBhvr>
                                    </p:animEffect>
                                  </p:childTnLst>
                                </p:cTn>
                              </p:par>
                              <p:par>
                                <p:cTn id="268" presetID="10" presetClass="entr" presetSubtype="0" fill="hold" nodeType="withEffect">
                                  <p:stCondLst>
                                    <p:cond delay="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400"/>
                                        <p:tgtEl>
                                          <p:spTgt spid="91"/>
                                        </p:tgtEl>
                                      </p:cBhvr>
                                    </p:animEffect>
                                  </p:childTnLst>
                                </p:cTn>
                              </p:par>
                              <p:par>
                                <p:cTn id="271" presetID="10" presetClass="entr" presetSubtype="0" fill="hold" nodeType="withEffect">
                                  <p:stCondLst>
                                    <p:cond delay="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400"/>
                                        <p:tgtEl>
                                          <p:spTgt spid="92"/>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400"/>
                                        <p:tgtEl>
                                          <p:spTgt spid="93"/>
                                        </p:tgtEl>
                                      </p:cBhvr>
                                    </p:animEffect>
                                  </p:childTnLst>
                                </p:cTn>
                              </p:par>
                              <p:par>
                                <p:cTn id="277" presetID="10" presetClass="entr" presetSubtype="0" fill="hold" nodeType="withEffect">
                                  <p:stCondLst>
                                    <p:cond delay="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9" grpId="0" animBg="1"/>
      <p:bldP spid="31" grpId="0" animBg="1"/>
      <p:bldP spid="32" grpId="0" animBg="1"/>
      <p:bldP spid="34" grpId="0" animBg="1"/>
      <p:bldP spid="36" grpId="0" animBg="1"/>
      <p:bldP spid="38" grpId="0" animBg="1"/>
      <p:bldP spid="41" grpId="0" animBg="1"/>
      <p:bldP spid="43" grpId="0" animBg="1"/>
      <p:bldP spid="45" grpId="0" animBg="1"/>
      <p:bldP spid="47" grpId="0" animBg="1"/>
      <p:bldP spid="49" grpId="0" animBg="1"/>
      <p:bldP spid="51" grpId="0" animBg="1"/>
      <p:bldP spid="52" grpId="0" animBg="1"/>
      <p:bldP spid="54" grpId="0" animBg="1"/>
      <p:bldP spid="56" grpId="0" animBg="1"/>
      <p:bldP spid="58" grpId="0" animBg="1"/>
      <p:bldP spid="60" grpId="0" animBg="1"/>
      <p:bldP spid="62" grpId="0" animBg="1"/>
      <p:bldP spid="65" grpId="0" animBg="1"/>
      <p:bldP spid="67" grpId="0" animBg="1"/>
      <p:bldP spid="69" grpId="0" animBg="1"/>
      <p:bldP spid="71" grpId="0" animBg="1"/>
      <p:bldP spid="73" grpId="0" animBg="1"/>
      <p:bldP spid="76" grpId="0" animBg="1"/>
      <p:bldP spid="78" grpId="0" animBg="1"/>
      <p:bldP spid="80" grpId="0" animBg="1"/>
      <p:bldP spid="82" grpId="0" animBg="1"/>
      <p:bldP spid="84" grpId="0" animBg="1"/>
      <p:bldP spid="86" grpId="0" animBg="1"/>
      <p:bldP spid="88" grpId="0" animBg="1"/>
      <p:bldP spid="90" grpId="0" animBg="1"/>
      <p:bldP spid="9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Finding a value: in tells whether, index tells where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and a length test keeps an empty list from raising IndexError</a:t>
            </a:r>
            <a:endParaRPr lang="en-US" sz="1400" dirty="0"/>
          </a:p>
        </p:txBody>
      </p:sp>
      <p:sp>
        <p:nvSpPr>
          <p:cNvPr id="6" name="v:IndexMethod: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Method:i0:box"/>
          <p:cNvSpPr/>
          <p:nvPr/>
        </p:nvSpPr>
        <p:spPr>
          <a:xfrm>
            <a:off x="457200" y="1426464"/>
            <a:ext cx="1234440" cy="502920"/>
          </a:xfrm>
          <a:prstGeom prst="roundRect">
            <a:avLst>
              <a:gd name="adj" fmla="val 10909"/>
            </a:avLst>
          </a:prstGeom>
          <a:solidFill>
            <a:srgbClr val="E3EEF8"/>
          </a:solidFill>
          <a:ln w="22225">
            <a:solidFill>
              <a:srgbClr val="306998"/>
            </a:solidFill>
            <a:prstDash val="solid"/>
          </a:ln>
        </p:spPr>
      </p:sp>
      <p:sp>
        <p:nvSpPr>
          <p:cNvPr id="8" name="v:IndexMethod: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'Zophie'</a:t>
            </a:r>
            <a:endParaRPr lang="en-US" sz="1300" dirty="0"/>
          </a:p>
        </p:txBody>
      </p:sp>
      <p:sp>
        <p:nvSpPr>
          <p:cNvPr id="9" name="v:IndexMethod: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Method: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Method: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Method: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13" name="v:IndexMethod: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Method: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Method: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Method: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'Fat-tail'</a:t>
            </a:r>
            <a:endParaRPr lang="en-US" sz="1300" dirty="0"/>
          </a:p>
        </p:txBody>
      </p:sp>
      <p:sp>
        <p:nvSpPr>
          <p:cNvPr id="17" name="v:IndexMethod: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Method: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Method: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Method: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21" name="v:IndexMethod: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Method: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2)  →  3</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Method:p0|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  1</a:t>
            </a:r>
            <a:endParaRPr lang="en-US" sz="1200" dirty="0"/>
          </a:p>
        </p:txBody>
      </p:sp>
      <p:sp>
        <p:nvSpPr>
          <p:cNvPr id="26"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7" name="v:IndexMethod: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28" name="v:IndexMethod: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spam.index('howdy howdy howdy')  →  ValueError: list.index(x): x not in list</a:t>
            </a:r>
            <a:endParaRPr lang="en-US" sz="1000" dirty="0"/>
          </a:p>
        </p:txBody>
      </p:sp>
      <p:sp>
        <p:nvSpPr>
          <p:cNvPr id="29" name="v:MembershipOperators:f0box:box|b4"/>
          <p:cNvSpPr/>
          <p:nvPr/>
        </p:nvSpPr>
        <p:spPr>
          <a:xfrm>
            <a:off x="365760" y="3154680"/>
            <a:ext cx="2020824" cy="1371600"/>
          </a:xfrm>
          <a:prstGeom prst="roundRect">
            <a:avLst>
              <a:gd name="adj" fmla="val 5333"/>
            </a:avLst>
          </a:prstGeom>
          <a:solidFill>
            <a:srgbClr val="F1F4F8"/>
          </a:solidFill>
          <a:ln w="12700">
            <a:solidFill>
              <a:srgbClr val="F1F4F8"/>
            </a:solidFill>
            <a:prstDash val="solid"/>
          </a:ln>
        </p:spPr>
      </p:sp>
      <p:sp>
        <p:nvSpPr>
          <p:cNvPr id="30" name="v:MembershipOperators:f0t|b4"/>
          <p:cNvSpPr txBox="1"/>
          <p:nvPr/>
        </p:nvSpPr>
        <p:spPr>
          <a:xfrm>
            <a:off x="475488"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string: is it inside?</a:t>
            </a:r>
            <a:endParaRPr lang="en-US" sz="1100" dirty="0"/>
          </a:p>
        </p:txBody>
      </p:sp>
      <p:sp>
        <p:nvSpPr>
          <p:cNvPr id="31" name="v:MembershipOperators:f0e|b4"/>
          <p:cNvSpPr txBox="1"/>
          <p:nvPr/>
        </p:nvSpPr>
        <p:spPr>
          <a:xfrm>
            <a:off x="475488"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2" name="v:MembershipOperators:f0r|b4"/>
          <p:cNvSpPr txBox="1"/>
          <p:nvPr/>
        </p:nvSpPr>
        <p:spPr>
          <a:xfrm>
            <a:off x="475488"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True</a:t>
            </a:r>
            <a:endParaRPr lang="en-US" sz="1400" dirty="0"/>
          </a:p>
        </p:txBody>
      </p:sp>
      <p:sp>
        <p:nvSpPr>
          <p:cNvPr id="33" name="v:MembershipOperators:f1box:box|b5"/>
          <p:cNvSpPr/>
          <p:nvPr/>
        </p:nvSpPr>
        <p:spPr>
          <a:xfrm>
            <a:off x="2496312" y="3154680"/>
            <a:ext cx="2020824" cy="1371600"/>
          </a:xfrm>
          <a:prstGeom prst="roundRect">
            <a:avLst>
              <a:gd name="adj" fmla="val 5333"/>
            </a:avLst>
          </a:prstGeom>
          <a:solidFill>
            <a:srgbClr val="F1F4F8"/>
          </a:solidFill>
          <a:ln w="12700">
            <a:solidFill>
              <a:srgbClr val="F1F4F8"/>
            </a:solidFill>
            <a:prstDash val="solid"/>
          </a:ln>
        </p:spPr>
      </p:sp>
      <p:sp>
        <p:nvSpPr>
          <p:cNvPr id="34" name="v:MembershipOperators:f1t|b5"/>
          <p:cNvSpPr txBox="1"/>
          <p:nvPr/>
        </p:nvSpPr>
        <p:spPr>
          <a:xfrm>
            <a:off x="2606040"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list: is it an item?</a:t>
            </a:r>
            <a:endParaRPr lang="en-US" sz="1100" dirty="0"/>
          </a:p>
        </p:txBody>
      </p:sp>
      <p:sp>
        <p:nvSpPr>
          <p:cNvPr id="35" name="v:MembershipOperators:f1e|b5"/>
          <p:cNvSpPr txBox="1"/>
          <p:nvPr/>
        </p:nvSpPr>
        <p:spPr>
          <a:xfrm>
            <a:off x="2606040"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6" name="v:MembershipOperators:f1r|b5"/>
          <p:cNvSpPr txBox="1"/>
          <p:nvPr/>
        </p:nvSpPr>
        <p:spPr>
          <a:xfrm>
            <a:off x="2606040"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37" name="v:MembershipOperators:f2box:box|b6"/>
          <p:cNvSpPr/>
          <p:nvPr/>
        </p:nvSpPr>
        <p:spPr>
          <a:xfrm>
            <a:off x="4626864" y="3154680"/>
            <a:ext cx="2020824" cy="1371600"/>
          </a:xfrm>
          <a:prstGeom prst="roundRect">
            <a:avLst>
              <a:gd name="adj" fmla="val 5333"/>
            </a:avLst>
          </a:prstGeom>
          <a:solidFill>
            <a:srgbClr val="F1F4F8"/>
          </a:solidFill>
          <a:ln w="12700">
            <a:solidFill>
              <a:srgbClr val="F1F4F8"/>
            </a:solidFill>
            <a:prstDash val="solid"/>
          </a:ln>
        </p:spPr>
      </p:sp>
      <p:sp>
        <p:nvSpPr>
          <p:cNvPr id="38" name="v:MembershipOperators:f2t|b6"/>
          <p:cNvSpPr txBox="1"/>
          <p:nvPr/>
        </p:nvSpPr>
        <p:spPr>
          <a:xfrm>
            <a:off x="4736592"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and stops at the left operand</a:t>
            </a:r>
            <a:endParaRPr lang="en-US" sz="1100" dirty="0"/>
          </a:p>
        </p:txBody>
      </p:sp>
      <p:sp>
        <p:nvSpPr>
          <p:cNvPr id="39" name="v:MembershipOperators:f2e|b6"/>
          <p:cNvSpPr txBox="1"/>
          <p:nvPr/>
        </p:nvSpPr>
        <p:spPr>
          <a:xfrm>
            <a:off x="4736592"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 and 'not evaluated'</a:t>
            </a:r>
            <a:endParaRPr lang="en-US" sz="1050" dirty="0"/>
          </a:p>
        </p:txBody>
      </p:sp>
      <p:sp>
        <p:nvSpPr>
          <p:cNvPr id="40" name="v:MembershipOperators:f2r|b6"/>
          <p:cNvSpPr txBox="1"/>
          <p:nvPr/>
        </p:nvSpPr>
        <p:spPr>
          <a:xfrm>
            <a:off x="4736592"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a:t>
            </a:r>
            <a:endParaRPr lang="en-US" sz="1400" dirty="0"/>
          </a:p>
        </p:txBody>
      </p:sp>
      <p:sp>
        <p:nvSpPr>
          <p:cNvPr id="41" name="v:MembershipOperators:f3box:box|b7"/>
          <p:cNvSpPr/>
          <p:nvPr/>
        </p:nvSpPr>
        <p:spPr>
          <a:xfrm>
            <a:off x="6757416" y="3154680"/>
            <a:ext cx="2020824" cy="1371600"/>
          </a:xfrm>
          <a:prstGeom prst="roundRect">
            <a:avLst>
              <a:gd name="adj" fmla="val 5333"/>
            </a:avLst>
          </a:prstGeom>
          <a:solidFill>
            <a:srgbClr val="F1F4F8"/>
          </a:solidFill>
          <a:ln w="12700">
            <a:solidFill>
              <a:srgbClr val="F1F4F8"/>
            </a:solidFill>
            <a:prstDash val="solid"/>
          </a:ln>
        </p:spPr>
      </p:sp>
      <p:sp>
        <p:nvSpPr>
          <p:cNvPr id="42" name="v:MembershipOperators:f3t|b7"/>
          <p:cNvSpPr txBox="1"/>
          <p:nvPr/>
        </p:nvSpPr>
        <p:spPr>
          <a:xfrm>
            <a:off x="6867144"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so a length test guards an index</a:t>
            </a:r>
            <a:endParaRPr lang="en-US" sz="1100" dirty="0"/>
          </a:p>
        </p:txBody>
      </p:sp>
      <p:sp>
        <p:nvSpPr>
          <p:cNvPr id="43" name="v:MembershipOperators:f3e|b7"/>
          <p:cNvSpPr txBox="1"/>
          <p:nvPr/>
        </p:nvSpPr>
        <p:spPr>
          <a:xfrm>
            <a:off x="6867144"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len(spam) &gt; 0 and spam[0] == 'cat'</a:t>
            </a:r>
            <a:endParaRPr lang="en-US" sz="1050" dirty="0"/>
          </a:p>
        </p:txBody>
      </p:sp>
      <p:sp>
        <p:nvSpPr>
          <p:cNvPr id="44" name="v:MembershipOperators:f3r|b7"/>
          <p:cNvSpPr txBox="1"/>
          <p:nvPr/>
        </p:nvSpPr>
        <p:spPr>
          <a:xfrm>
            <a:off x="6867144"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Membership operators, Index method, Short circuit guard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40" fill="hold">
                      <p:stCondLst>
                        <p:cond delay="indefinite"/>
                      </p:stCondLst>
                      <p:childTnLst>
                        <p:par>
                          <p:cTn id="41"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par>
                                <p:cTn id="28" presetID="10" presetClass="entr" presetSubtype="0"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40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40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400"/>
                                        <p:tgtEl>
                                          <p:spTgt spid="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par>
                    <p:cTn id="54" fill="hold">
                      <p:stCondLst>
                        <p:cond delay="indefinite"/>
                      </p:stCondLst>
                      <p:childTnLst>
                        <p:par>
                          <p:cTn id="55"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00"/>
                                        <p:tgtEl>
                                          <p:spTgt spid="3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400"/>
                                        <p:tgtEl>
                                          <p:spTgt spid="36"/>
                                        </p:tgtEl>
                                      </p:cBhvr>
                                    </p:animEffect>
                                  </p:childTnLst>
                                </p:cTn>
                              </p:par>
                            </p:childTnLst>
                          </p:cTn>
                        </p:par>
                      </p:childTnLst>
                    </p:cTn>
                  </p:par>
                  <p:par>
                    <p:cTn id="68" fill="hold">
                      <p:stCondLst>
                        <p:cond delay="indefinite"/>
                      </p:stCondLst>
                      <p:childTnLst>
                        <p:par>
                          <p:cTn id="69"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fade">
                                      <p:cBhvr>
                                        <p:cTn id="61" dur="400"/>
                                        <p:tgtEl>
                                          <p:spTgt spid="3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4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400"/>
                                        <p:tgtEl>
                                          <p:spTgt spid="40"/>
                                        </p:tgtEl>
                                      </p:cBhvr>
                                    </p:animEffect>
                                  </p:childTnLst>
                                </p:cTn>
                              </p:par>
                            </p:childTnLst>
                          </p:cTn>
                        </p:par>
                      </p:childTnLst>
                    </p:cTn>
                  </p:par>
                  <p:par>
                    <p:cTn id="82" fill="hold">
                      <p:stCondLst>
                        <p:cond delay="indefinite"/>
                      </p:stCondLst>
                      <p:childTnLst>
                        <p:par>
                          <p:cTn id="83"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8" grpId="0" animBg="1"/>
      <p:bldP spid="30" grpId="0" animBg="1"/>
      <p:bldP spid="31" grpId="0" animBg="1"/>
      <p:bldP spid="32" grpId="0" animBg="1"/>
      <p:bldP spid="34" grpId="0" animBg="1"/>
      <p:bldP spid="35" grpId="0" animBg="1"/>
      <p:bldP spid="36" grpId="0" animBg="1"/>
      <p:bldP spid="38" grpId="0" animBg="1"/>
      <p:bldP spid="39" grpId="0" animBg="1"/>
      <p:bldP spid="40" grpId="0" animBg="1"/>
      <p:bldP spid="42" grpId="0" animBg="1"/>
      <p:bldP spid="43"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sort() and reverse() change the list; sorted() does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Only sorted() leaves the original alone and returns the result</a:t>
            </a:r>
            <a:endParaRPr lang="en-US" sz="1400" dirty="0"/>
          </a:p>
        </p:txBody>
      </p:sp>
      <p:sp>
        <p:nvSpPr>
          <p:cNvPr id="6" name="lanebox|b1"/>
          <p:cNvSpPr/>
          <p:nvPr/>
        </p:nvSpPr>
        <p:spPr>
          <a:xfrm>
            <a:off x="365760" y="1170432"/>
            <a:ext cx="8412480" cy="676656"/>
          </a:xfrm>
          <a:prstGeom prst="roundRect">
            <a:avLst>
              <a:gd name="adj" fmla="val 8108"/>
            </a:avLst>
          </a:prstGeom>
          <a:solidFill>
            <a:srgbClr val="FFFFFF"/>
          </a:solidFill>
          <a:ln w="9525">
            <a:solidFill>
              <a:srgbClr val="9AA8B8"/>
            </a:solidFill>
            <a:prstDash val="solid"/>
          </a:ln>
        </p:spPr>
      </p:sp>
      <p:sp>
        <p:nvSpPr>
          <p:cNvPr id="7" name="v:Order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8" name="v:Order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Order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Order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Ordering:l0b0:box|b1"/>
          <p:cNvSpPr/>
          <p:nvPr/>
        </p:nvSpPr>
        <p:spPr>
          <a:xfrm>
            <a:off x="457200" y="1508760"/>
            <a:ext cx="667512" cy="283464"/>
          </a:xfrm>
          <a:prstGeom prst="roundRect">
            <a:avLst>
              <a:gd name="adj" fmla="val 16129"/>
            </a:avLst>
          </a:prstGeom>
          <a:solidFill>
            <a:srgbClr val="E3EEF8"/>
          </a:solidFill>
          <a:ln w="15875">
            <a:solidFill>
              <a:srgbClr val="306998"/>
            </a:solidFill>
            <a:prstDash val="solid"/>
          </a:ln>
        </p:spPr>
      </p:sp>
      <p:sp>
        <p:nvSpPr>
          <p:cNvPr id="12" name="v:Ordering:l0b0|b1"/>
          <p:cNvSpPr txBox="1"/>
          <p:nvPr/>
        </p:nvSpPr>
        <p:spPr>
          <a:xfrm>
            <a:off x="475488"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3" name="v:Ordering:l0b1:box|b1"/>
          <p:cNvSpPr/>
          <p:nvPr/>
        </p:nvSpPr>
        <p:spPr>
          <a:xfrm>
            <a:off x="1170432" y="1508760"/>
            <a:ext cx="667512" cy="283464"/>
          </a:xfrm>
          <a:prstGeom prst="roundRect">
            <a:avLst>
              <a:gd name="adj" fmla="val 16129"/>
            </a:avLst>
          </a:prstGeom>
          <a:solidFill>
            <a:srgbClr val="E3EEF8"/>
          </a:solidFill>
          <a:ln w="15875">
            <a:solidFill>
              <a:srgbClr val="306998"/>
            </a:solidFill>
            <a:prstDash val="solid"/>
          </a:ln>
        </p:spPr>
      </p:sp>
      <p:sp>
        <p:nvSpPr>
          <p:cNvPr id="14" name="v:Ordering:l0b1|b1"/>
          <p:cNvSpPr txBox="1"/>
          <p:nvPr/>
        </p:nvSpPr>
        <p:spPr>
          <a:xfrm>
            <a:off x="1188720"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15" name="v:Ordering:l0b2:box|b1"/>
          <p:cNvSpPr/>
          <p:nvPr/>
        </p:nvSpPr>
        <p:spPr>
          <a:xfrm>
            <a:off x="1883664" y="1508760"/>
            <a:ext cx="667512" cy="283464"/>
          </a:xfrm>
          <a:prstGeom prst="roundRect">
            <a:avLst>
              <a:gd name="adj" fmla="val 16129"/>
            </a:avLst>
          </a:prstGeom>
          <a:solidFill>
            <a:srgbClr val="E3EEF8"/>
          </a:solidFill>
          <a:ln w="15875">
            <a:solidFill>
              <a:srgbClr val="306998"/>
            </a:solidFill>
            <a:prstDash val="solid"/>
          </a:ln>
        </p:spPr>
      </p:sp>
      <p:sp>
        <p:nvSpPr>
          <p:cNvPr id="16" name="v:Ordering:l0b2|b1"/>
          <p:cNvSpPr txBox="1"/>
          <p:nvPr/>
        </p:nvSpPr>
        <p:spPr>
          <a:xfrm>
            <a:off x="1901952"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17" name="v:Ordering:l0b3:box|b1"/>
          <p:cNvSpPr/>
          <p:nvPr/>
        </p:nvSpPr>
        <p:spPr>
          <a:xfrm>
            <a:off x="2596896" y="1508760"/>
            <a:ext cx="667512" cy="283464"/>
          </a:xfrm>
          <a:prstGeom prst="roundRect">
            <a:avLst>
              <a:gd name="adj" fmla="val 16129"/>
            </a:avLst>
          </a:prstGeom>
          <a:solidFill>
            <a:srgbClr val="E3EEF8"/>
          </a:solidFill>
          <a:ln w="15875">
            <a:solidFill>
              <a:srgbClr val="306998"/>
            </a:solidFill>
            <a:prstDash val="solid"/>
          </a:ln>
        </p:spPr>
      </p:sp>
      <p:sp>
        <p:nvSpPr>
          <p:cNvPr id="18" name="v:Ordering:l0b3|b1"/>
          <p:cNvSpPr txBox="1"/>
          <p:nvPr/>
        </p:nvSpPr>
        <p:spPr>
          <a:xfrm>
            <a:off x="2615184"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9" name="v:Ordering:l0b4:box|b1"/>
          <p:cNvSpPr/>
          <p:nvPr/>
        </p:nvSpPr>
        <p:spPr>
          <a:xfrm>
            <a:off x="3310128" y="1508760"/>
            <a:ext cx="667512" cy="283464"/>
          </a:xfrm>
          <a:prstGeom prst="roundRect">
            <a:avLst>
              <a:gd name="adj" fmla="val 16129"/>
            </a:avLst>
          </a:prstGeom>
          <a:solidFill>
            <a:srgbClr val="E3EEF8"/>
          </a:solidFill>
          <a:ln w="15875">
            <a:solidFill>
              <a:srgbClr val="306998"/>
            </a:solidFill>
            <a:prstDash val="solid"/>
          </a:ln>
        </p:spPr>
      </p:sp>
      <p:sp>
        <p:nvSpPr>
          <p:cNvPr id="20" name="v:Ordering:l0b4|b1"/>
          <p:cNvSpPr txBox="1"/>
          <p:nvPr/>
        </p:nvSpPr>
        <p:spPr>
          <a:xfrm>
            <a:off x="3328416"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1" name="arrow|b1"/>
          <p:cNvSpPr/>
          <p:nvPr/>
        </p:nvSpPr>
        <p:spPr>
          <a:xfrm>
            <a:off x="4069080" y="1650492"/>
            <a:ext cx="411480" cy="0"/>
          </a:xfrm>
          <a:prstGeom prst="line">
            <a:avLst/>
          </a:prstGeom>
          <a:noFill/>
          <a:ln w="31750">
            <a:solidFill>
              <a:srgbClr val="2E9E5B"/>
            </a:solidFill>
            <a:prstDash val="solid"/>
            <a:tailEnd type="triangle"/>
          </a:ln>
        </p:spPr>
      </p:sp>
      <p:sp>
        <p:nvSpPr>
          <p:cNvPr id="22" name="v:Ordering:l0a0:box|b1"/>
          <p:cNvSpPr/>
          <p:nvPr/>
        </p:nvSpPr>
        <p:spPr>
          <a:xfrm>
            <a:off x="4590288" y="1508760"/>
            <a:ext cx="777240" cy="283464"/>
          </a:xfrm>
          <a:prstGeom prst="roundRect">
            <a:avLst>
              <a:gd name="adj" fmla="val 16129"/>
            </a:avLst>
          </a:prstGeom>
          <a:solidFill>
            <a:srgbClr val="E3EEF8"/>
          </a:solidFill>
          <a:ln w="15875">
            <a:solidFill>
              <a:srgbClr val="306998"/>
            </a:solidFill>
            <a:prstDash val="solid"/>
          </a:ln>
        </p:spPr>
      </p:sp>
      <p:sp>
        <p:nvSpPr>
          <p:cNvPr id="23" name="v:Ordering:l0a0|b1"/>
          <p:cNvSpPr txBox="1"/>
          <p:nvPr/>
        </p:nvSpPr>
        <p:spPr>
          <a:xfrm>
            <a:off x="460857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4" name="v:Ordering:l0a1:box|b1"/>
          <p:cNvSpPr/>
          <p:nvPr/>
        </p:nvSpPr>
        <p:spPr>
          <a:xfrm>
            <a:off x="5413248" y="1508760"/>
            <a:ext cx="777240" cy="283464"/>
          </a:xfrm>
          <a:prstGeom prst="roundRect">
            <a:avLst>
              <a:gd name="adj" fmla="val 16129"/>
            </a:avLst>
          </a:prstGeom>
          <a:solidFill>
            <a:srgbClr val="E3EEF8"/>
          </a:solidFill>
          <a:ln w="15875">
            <a:solidFill>
              <a:srgbClr val="306998"/>
            </a:solidFill>
            <a:prstDash val="solid"/>
          </a:ln>
        </p:spPr>
      </p:sp>
      <p:sp>
        <p:nvSpPr>
          <p:cNvPr id="25" name="v:Ordering:l0a1|b1"/>
          <p:cNvSpPr txBox="1"/>
          <p:nvPr/>
        </p:nvSpPr>
        <p:spPr>
          <a:xfrm>
            <a:off x="543153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6" name="v:Ordering:l0a2:box|b1"/>
          <p:cNvSpPr/>
          <p:nvPr/>
        </p:nvSpPr>
        <p:spPr>
          <a:xfrm>
            <a:off x="6236208" y="1508760"/>
            <a:ext cx="777240" cy="283464"/>
          </a:xfrm>
          <a:prstGeom prst="roundRect">
            <a:avLst>
              <a:gd name="adj" fmla="val 16129"/>
            </a:avLst>
          </a:prstGeom>
          <a:solidFill>
            <a:srgbClr val="E3EEF8"/>
          </a:solidFill>
          <a:ln w="15875">
            <a:solidFill>
              <a:srgbClr val="306998"/>
            </a:solidFill>
            <a:prstDash val="solid"/>
          </a:ln>
        </p:spPr>
      </p:sp>
      <p:sp>
        <p:nvSpPr>
          <p:cNvPr id="27" name="v:Ordering:l0a2|b1"/>
          <p:cNvSpPr txBox="1"/>
          <p:nvPr/>
        </p:nvSpPr>
        <p:spPr>
          <a:xfrm>
            <a:off x="625449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8" name="v:Ordering:l0a3:box|b1"/>
          <p:cNvSpPr/>
          <p:nvPr/>
        </p:nvSpPr>
        <p:spPr>
          <a:xfrm>
            <a:off x="7059168" y="1508760"/>
            <a:ext cx="777240" cy="283464"/>
          </a:xfrm>
          <a:prstGeom prst="roundRect">
            <a:avLst>
              <a:gd name="adj" fmla="val 16129"/>
            </a:avLst>
          </a:prstGeom>
          <a:solidFill>
            <a:srgbClr val="E3EEF8"/>
          </a:solidFill>
          <a:ln w="15875">
            <a:solidFill>
              <a:srgbClr val="306998"/>
            </a:solidFill>
            <a:prstDash val="solid"/>
          </a:ln>
        </p:spPr>
      </p:sp>
      <p:sp>
        <p:nvSpPr>
          <p:cNvPr id="29" name="v:Ordering:l0a3|b1"/>
          <p:cNvSpPr txBox="1"/>
          <p:nvPr/>
        </p:nvSpPr>
        <p:spPr>
          <a:xfrm>
            <a:off x="707745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30" name="v:Ordering:l0a4:box|b1"/>
          <p:cNvSpPr/>
          <p:nvPr/>
        </p:nvSpPr>
        <p:spPr>
          <a:xfrm>
            <a:off x="7882128" y="1508760"/>
            <a:ext cx="777240" cy="283464"/>
          </a:xfrm>
          <a:prstGeom prst="roundRect">
            <a:avLst>
              <a:gd name="adj" fmla="val 16129"/>
            </a:avLst>
          </a:prstGeom>
          <a:solidFill>
            <a:srgbClr val="E3EEF8"/>
          </a:solidFill>
          <a:ln w="15875">
            <a:solidFill>
              <a:srgbClr val="306998"/>
            </a:solidFill>
            <a:prstDash val="solid"/>
          </a:ln>
        </p:spPr>
      </p:sp>
      <p:sp>
        <p:nvSpPr>
          <p:cNvPr id="31" name="v:Ordering:l0a4|b1"/>
          <p:cNvSpPr txBox="1"/>
          <p:nvPr/>
        </p:nvSpPr>
        <p:spPr>
          <a:xfrm>
            <a:off x="790041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32" name="lanebox|b2"/>
          <p:cNvSpPr/>
          <p:nvPr/>
        </p:nvSpPr>
        <p:spPr>
          <a:xfrm>
            <a:off x="365760" y="1901952"/>
            <a:ext cx="8412480" cy="676656"/>
          </a:xfrm>
          <a:prstGeom prst="roundRect">
            <a:avLst>
              <a:gd name="adj" fmla="val 8108"/>
            </a:avLst>
          </a:prstGeom>
          <a:solidFill>
            <a:srgbClr val="FFFFFF"/>
          </a:solidFill>
          <a:ln w="9525">
            <a:solidFill>
              <a:srgbClr val="9AA8B8"/>
            </a:solidFill>
            <a:prstDash val="solid"/>
          </a:ln>
        </p:spPr>
      </p:sp>
      <p:sp>
        <p:nvSpPr>
          <p:cNvPr id="33" name="v:Ordering:l1op|b2"/>
          <p:cNvSpPr txBox="1"/>
          <p:nvPr/>
        </p:nvSpPr>
        <p:spPr>
          <a:xfrm>
            <a:off x="457200" y="192024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spam.reverse()</a:t>
            </a:r>
            <a:endParaRPr lang="en-US" sz="1250" dirty="0"/>
          </a:p>
        </p:txBody>
      </p:sp>
      <p:sp>
        <p:nvSpPr>
          <p:cNvPr id="34" name="v:Ordering:l1cat|b2"/>
          <p:cNvSpPr txBox="1"/>
          <p:nvPr/>
        </p:nvSpPr>
        <p:spPr>
          <a:xfrm>
            <a:off x="3611880" y="192024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5" name="v:Ordering:l1retbox:box|b2"/>
          <p:cNvSpPr/>
          <p:nvPr/>
        </p:nvSpPr>
        <p:spPr>
          <a:xfrm>
            <a:off x="6812280" y="1947672"/>
            <a:ext cx="1874520" cy="246888"/>
          </a:xfrm>
          <a:prstGeom prst="roundRect">
            <a:avLst>
              <a:gd name="adj" fmla="val 29630"/>
            </a:avLst>
          </a:prstGeom>
          <a:solidFill>
            <a:srgbClr val="FCEFD0"/>
          </a:solidFill>
          <a:ln w="12700">
            <a:solidFill>
              <a:srgbClr val="B7791F"/>
            </a:solidFill>
            <a:prstDash val="solid"/>
          </a:ln>
        </p:spPr>
      </p:sp>
      <p:sp>
        <p:nvSpPr>
          <p:cNvPr id="36" name="v:Ordering:l1ret|b2"/>
          <p:cNvSpPr txBox="1"/>
          <p:nvPr/>
        </p:nvSpPr>
        <p:spPr>
          <a:xfrm>
            <a:off x="6812280" y="194767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7" name="v:Ordering:l1b0:box|b2"/>
          <p:cNvSpPr/>
          <p:nvPr/>
        </p:nvSpPr>
        <p:spPr>
          <a:xfrm>
            <a:off x="457200" y="2240280"/>
            <a:ext cx="777240" cy="283464"/>
          </a:xfrm>
          <a:prstGeom prst="roundRect">
            <a:avLst>
              <a:gd name="adj" fmla="val 16129"/>
            </a:avLst>
          </a:prstGeom>
          <a:solidFill>
            <a:srgbClr val="E3EEF8"/>
          </a:solidFill>
          <a:ln w="15875">
            <a:solidFill>
              <a:srgbClr val="306998"/>
            </a:solidFill>
            <a:prstDash val="solid"/>
          </a:ln>
        </p:spPr>
      </p:sp>
      <p:sp>
        <p:nvSpPr>
          <p:cNvPr id="38" name="v:Ordering:l1b0|b2"/>
          <p:cNvSpPr txBox="1"/>
          <p:nvPr/>
        </p:nvSpPr>
        <p:spPr>
          <a:xfrm>
            <a:off x="47548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9" name="v:Ordering:l1b1:box|b2"/>
          <p:cNvSpPr/>
          <p:nvPr/>
        </p:nvSpPr>
        <p:spPr>
          <a:xfrm>
            <a:off x="1280160" y="2240280"/>
            <a:ext cx="777240" cy="283464"/>
          </a:xfrm>
          <a:prstGeom prst="roundRect">
            <a:avLst>
              <a:gd name="adj" fmla="val 16129"/>
            </a:avLst>
          </a:prstGeom>
          <a:solidFill>
            <a:srgbClr val="E3EEF8"/>
          </a:solidFill>
          <a:ln w="15875">
            <a:solidFill>
              <a:srgbClr val="306998"/>
            </a:solidFill>
            <a:prstDash val="solid"/>
          </a:ln>
        </p:spPr>
      </p:sp>
      <p:sp>
        <p:nvSpPr>
          <p:cNvPr id="40" name="v:Ordering:l1b1|b2"/>
          <p:cNvSpPr txBox="1"/>
          <p:nvPr/>
        </p:nvSpPr>
        <p:spPr>
          <a:xfrm>
            <a:off x="129844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1" name="v:Ordering:l1b2:box|b2"/>
          <p:cNvSpPr/>
          <p:nvPr/>
        </p:nvSpPr>
        <p:spPr>
          <a:xfrm>
            <a:off x="2103120" y="2240280"/>
            <a:ext cx="777240" cy="283464"/>
          </a:xfrm>
          <a:prstGeom prst="roundRect">
            <a:avLst>
              <a:gd name="adj" fmla="val 16129"/>
            </a:avLst>
          </a:prstGeom>
          <a:solidFill>
            <a:srgbClr val="E3EEF8"/>
          </a:solidFill>
          <a:ln w="15875">
            <a:solidFill>
              <a:srgbClr val="306998"/>
            </a:solidFill>
            <a:prstDash val="solid"/>
          </a:ln>
        </p:spPr>
      </p:sp>
      <p:sp>
        <p:nvSpPr>
          <p:cNvPr id="42" name="v:Ordering:l1b2|b2"/>
          <p:cNvSpPr txBox="1"/>
          <p:nvPr/>
        </p:nvSpPr>
        <p:spPr>
          <a:xfrm>
            <a:off x="212140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3" name="arrow|b2"/>
          <p:cNvSpPr/>
          <p:nvPr/>
        </p:nvSpPr>
        <p:spPr>
          <a:xfrm>
            <a:off x="4069080" y="2382012"/>
            <a:ext cx="411480" cy="0"/>
          </a:xfrm>
          <a:prstGeom prst="line">
            <a:avLst/>
          </a:prstGeom>
          <a:noFill/>
          <a:ln w="31750">
            <a:solidFill>
              <a:srgbClr val="2E9E5B"/>
            </a:solidFill>
            <a:prstDash val="solid"/>
            <a:tailEnd type="triangle"/>
          </a:ln>
        </p:spPr>
      </p:sp>
      <p:sp>
        <p:nvSpPr>
          <p:cNvPr id="44" name="v:Ordering:l1a0:box|b2"/>
          <p:cNvSpPr/>
          <p:nvPr/>
        </p:nvSpPr>
        <p:spPr>
          <a:xfrm>
            <a:off x="4590288" y="2240280"/>
            <a:ext cx="777240" cy="283464"/>
          </a:xfrm>
          <a:prstGeom prst="roundRect">
            <a:avLst>
              <a:gd name="adj" fmla="val 16129"/>
            </a:avLst>
          </a:prstGeom>
          <a:solidFill>
            <a:srgbClr val="E3EEF8"/>
          </a:solidFill>
          <a:ln w="15875">
            <a:solidFill>
              <a:srgbClr val="306998"/>
            </a:solidFill>
            <a:prstDash val="solid"/>
          </a:ln>
        </p:spPr>
      </p:sp>
      <p:sp>
        <p:nvSpPr>
          <p:cNvPr id="45" name="v:Ordering:l1a0|b2"/>
          <p:cNvSpPr txBox="1"/>
          <p:nvPr/>
        </p:nvSpPr>
        <p:spPr>
          <a:xfrm>
            <a:off x="460857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6" name="v:Ordering:l1a1:box|b2"/>
          <p:cNvSpPr/>
          <p:nvPr/>
        </p:nvSpPr>
        <p:spPr>
          <a:xfrm>
            <a:off x="5413248" y="2240280"/>
            <a:ext cx="777240" cy="283464"/>
          </a:xfrm>
          <a:prstGeom prst="roundRect">
            <a:avLst>
              <a:gd name="adj" fmla="val 16129"/>
            </a:avLst>
          </a:prstGeom>
          <a:solidFill>
            <a:srgbClr val="E3EEF8"/>
          </a:solidFill>
          <a:ln w="15875">
            <a:solidFill>
              <a:srgbClr val="306998"/>
            </a:solidFill>
            <a:prstDash val="solid"/>
          </a:ln>
        </p:spPr>
      </p:sp>
      <p:sp>
        <p:nvSpPr>
          <p:cNvPr id="47" name="v:Ordering:l1a1|b2"/>
          <p:cNvSpPr txBox="1"/>
          <p:nvPr/>
        </p:nvSpPr>
        <p:spPr>
          <a:xfrm>
            <a:off x="543153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8" name="v:Ordering:l1a2:box|b2"/>
          <p:cNvSpPr/>
          <p:nvPr/>
        </p:nvSpPr>
        <p:spPr>
          <a:xfrm>
            <a:off x="6236208" y="2240280"/>
            <a:ext cx="777240" cy="283464"/>
          </a:xfrm>
          <a:prstGeom prst="roundRect">
            <a:avLst>
              <a:gd name="adj" fmla="val 16129"/>
            </a:avLst>
          </a:prstGeom>
          <a:solidFill>
            <a:srgbClr val="E3EEF8"/>
          </a:solidFill>
          <a:ln w="15875">
            <a:solidFill>
              <a:srgbClr val="306998"/>
            </a:solidFill>
            <a:prstDash val="solid"/>
          </a:ln>
        </p:spPr>
      </p:sp>
      <p:sp>
        <p:nvSpPr>
          <p:cNvPr id="49" name="v:Ordering:l1a2|b2"/>
          <p:cNvSpPr txBox="1"/>
          <p:nvPr/>
        </p:nvSpPr>
        <p:spPr>
          <a:xfrm>
            <a:off x="625449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0" name="lanebox|b3"/>
          <p:cNvSpPr/>
          <p:nvPr/>
        </p:nvSpPr>
        <p:spPr>
          <a:xfrm>
            <a:off x="365760" y="2633472"/>
            <a:ext cx="8412480" cy="676656"/>
          </a:xfrm>
          <a:prstGeom prst="roundRect">
            <a:avLst>
              <a:gd name="adj" fmla="val 8108"/>
            </a:avLst>
          </a:prstGeom>
          <a:solidFill>
            <a:srgbClr val="FFFFFF"/>
          </a:solidFill>
          <a:ln w="9525">
            <a:solidFill>
              <a:srgbClr val="9AA8B8"/>
            </a:solidFill>
            <a:prstDash val="solid"/>
          </a:ln>
        </p:spPr>
      </p:sp>
      <p:sp>
        <p:nvSpPr>
          <p:cNvPr id="51" name="v:Ordering:l2op|b3"/>
          <p:cNvSpPr txBox="1"/>
          <p:nvPr/>
        </p:nvSpPr>
        <p:spPr>
          <a:xfrm>
            <a:off x="457200" y="265176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sorted(nums)</a:t>
            </a:r>
            <a:endParaRPr lang="en-US" sz="1250" dirty="0"/>
          </a:p>
        </p:txBody>
      </p:sp>
      <p:sp>
        <p:nvSpPr>
          <p:cNvPr id="52" name="v:Ordering:l2cat|b3"/>
          <p:cNvSpPr txBox="1"/>
          <p:nvPr/>
        </p:nvSpPr>
        <p:spPr>
          <a:xfrm>
            <a:off x="3611880" y="265176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53" name="v:Ordering:l2retbox:box|b3"/>
          <p:cNvSpPr/>
          <p:nvPr/>
        </p:nvSpPr>
        <p:spPr>
          <a:xfrm>
            <a:off x="6812280" y="2679192"/>
            <a:ext cx="1874520" cy="246888"/>
          </a:xfrm>
          <a:prstGeom prst="roundRect">
            <a:avLst>
              <a:gd name="adj" fmla="val 29630"/>
            </a:avLst>
          </a:prstGeom>
          <a:solidFill>
            <a:srgbClr val="FCEFD0"/>
          </a:solidFill>
          <a:ln w="12700">
            <a:solidFill>
              <a:srgbClr val="B7791F"/>
            </a:solidFill>
            <a:prstDash val="solid"/>
          </a:ln>
        </p:spPr>
      </p:sp>
      <p:sp>
        <p:nvSpPr>
          <p:cNvPr id="54" name="v:Ordering:l2ret|b3"/>
          <p:cNvSpPr txBox="1"/>
          <p:nvPr/>
        </p:nvSpPr>
        <p:spPr>
          <a:xfrm>
            <a:off x="6812280" y="267919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55" name="v:Ordering:l2b0:box|b3"/>
          <p:cNvSpPr/>
          <p:nvPr/>
        </p:nvSpPr>
        <p:spPr>
          <a:xfrm>
            <a:off x="457200" y="2971800"/>
            <a:ext cx="777240" cy="283464"/>
          </a:xfrm>
          <a:prstGeom prst="roundRect">
            <a:avLst>
              <a:gd name="adj" fmla="val 16129"/>
            </a:avLst>
          </a:prstGeom>
          <a:solidFill>
            <a:srgbClr val="E3EEF8"/>
          </a:solidFill>
          <a:ln w="15875">
            <a:solidFill>
              <a:srgbClr val="306998"/>
            </a:solidFill>
            <a:prstDash val="solid"/>
          </a:ln>
        </p:spPr>
      </p:sp>
      <p:sp>
        <p:nvSpPr>
          <p:cNvPr id="56" name="v:Ordering:l2b0|b3"/>
          <p:cNvSpPr txBox="1"/>
          <p:nvPr/>
        </p:nvSpPr>
        <p:spPr>
          <a:xfrm>
            <a:off x="47548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7" name="v:Ordering:l2b1:box|b3"/>
          <p:cNvSpPr/>
          <p:nvPr/>
        </p:nvSpPr>
        <p:spPr>
          <a:xfrm>
            <a:off x="1280160" y="2971800"/>
            <a:ext cx="777240" cy="283464"/>
          </a:xfrm>
          <a:prstGeom prst="roundRect">
            <a:avLst>
              <a:gd name="adj" fmla="val 16129"/>
            </a:avLst>
          </a:prstGeom>
          <a:solidFill>
            <a:srgbClr val="E3EEF8"/>
          </a:solidFill>
          <a:ln w="15875">
            <a:solidFill>
              <a:srgbClr val="306998"/>
            </a:solidFill>
            <a:prstDash val="solid"/>
          </a:ln>
        </p:spPr>
      </p:sp>
      <p:sp>
        <p:nvSpPr>
          <p:cNvPr id="58" name="v:Ordering:l2b1|b3"/>
          <p:cNvSpPr txBox="1"/>
          <p:nvPr/>
        </p:nvSpPr>
        <p:spPr>
          <a:xfrm>
            <a:off x="129844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59" name="v:Ordering:l2b2:box|b3"/>
          <p:cNvSpPr/>
          <p:nvPr/>
        </p:nvSpPr>
        <p:spPr>
          <a:xfrm>
            <a:off x="2103120" y="2971800"/>
            <a:ext cx="777240" cy="283464"/>
          </a:xfrm>
          <a:prstGeom prst="roundRect">
            <a:avLst>
              <a:gd name="adj" fmla="val 16129"/>
            </a:avLst>
          </a:prstGeom>
          <a:solidFill>
            <a:srgbClr val="E3EEF8"/>
          </a:solidFill>
          <a:ln w="15875">
            <a:solidFill>
              <a:srgbClr val="306998"/>
            </a:solidFill>
            <a:prstDash val="solid"/>
          </a:ln>
        </p:spPr>
      </p:sp>
      <p:sp>
        <p:nvSpPr>
          <p:cNvPr id="60" name="v:Ordering:l2b2|b3"/>
          <p:cNvSpPr txBox="1"/>
          <p:nvPr/>
        </p:nvSpPr>
        <p:spPr>
          <a:xfrm>
            <a:off x="212140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1" name="arrow|b3"/>
          <p:cNvSpPr/>
          <p:nvPr/>
        </p:nvSpPr>
        <p:spPr>
          <a:xfrm>
            <a:off x="4069080" y="3113532"/>
            <a:ext cx="411480" cy="0"/>
          </a:xfrm>
          <a:prstGeom prst="line">
            <a:avLst/>
          </a:prstGeom>
          <a:noFill/>
          <a:ln w="31750">
            <a:solidFill>
              <a:srgbClr val="306998"/>
            </a:solidFill>
            <a:prstDash val="solid"/>
            <a:tailEnd type="triangle"/>
          </a:ln>
        </p:spPr>
      </p:sp>
      <p:sp>
        <p:nvSpPr>
          <p:cNvPr id="62" name="v:Ordering:l2a0:box|b3"/>
          <p:cNvSpPr/>
          <p:nvPr/>
        </p:nvSpPr>
        <p:spPr>
          <a:xfrm>
            <a:off x="4590288" y="2971800"/>
            <a:ext cx="777240" cy="283464"/>
          </a:xfrm>
          <a:prstGeom prst="roundRect">
            <a:avLst>
              <a:gd name="adj" fmla="val 16129"/>
            </a:avLst>
          </a:prstGeom>
          <a:solidFill>
            <a:srgbClr val="E3EEF8"/>
          </a:solidFill>
          <a:ln w="15875">
            <a:solidFill>
              <a:srgbClr val="306998"/>
            </a:solidFill>
            <a:prstDash val="solid"/>
          </a:ln>
        </p:spPr>
      </p:sp>
      <p:sp>
        <p:nvSpPr>
          <p:cNvPr id="63" name="v:Ordering:l2a0|b3"/>
          <p:cNvSpPr txBox="1"/>
          <p:nvPr/>
        </p:nvSpPr>
        <p:spPr>
          <a:xfrm>
            <a:off x="460857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64" name="v:Ordering:l2a1:box|b3"/>
          <p:cNvSpPr/>
          <p:nvPr/>
        </p:nvSpPr>
        <p:spPr>
          <a:xfrm>
            <a:off x="5413248" y="2971800"/>
            <a:ext cx="777240" cy="283464"/>
          </a:xfrm>
          <a:prstGeom prst="roundRect">
            <a:avLst>
              <a:gd name="adj" fmla="val 16129"/>
            </a:avLst>
          </a:prstGeom>
          <a:solidFill>
            <a:srgbClr val="E3EEF8"/>
          </a:solidFill>
          <a:ln w="15875">
            <a:solidFill>
              <a:srgbClr val="306998"/>
            </a:solidFill>
            <a:prstDash val="solid"/>
          </a:ln>
        </p:spPr>
      </p:sp>
      <p:sp>
        <p:nvSpPr>
          <p:cNvPr id="65" name="v:Ordering:l2a1|b3"/>
          <p:cNvSpPr txBox="1"/>
          <p:nvPr/>
        </p:nvSpPr>
        <p:spPr>
          <a:xfrm>
            <a:off x="543153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6" name="v:Ordering:l2a2:box|b3"/>
          <p:cNvSpPr/>
          <p:nvPr/>
        </p:nvSpPr>
        <p:spPr>
          <a:xfrm>
            <a:off x="6236208" y="2971800"/>
            <a:ext cx="777240" cy="283464"/>
          </a:xfrm>
          <a:prstGeom prst="roundRect">
            <a:avLst>
              <a:gd name="adj" fmla="val 16129"/>
            </a:avLst>
          </a:prstGeom>
          <a:solidFill>
            <a:srgbClr val="E3EEF8"/>
          </a:solidFill>
          <a:ln w="15875">
            <a:solidFill>
              <a:srgbClr val="306998"/>
            </a:solidFill>
            <a:prstDash val="solid"/>
          </a:ln>
        </p:spPr>
      </p:sp>
      <p:sp>
        <p:nvSpPr>
          <p:cNvPr id="67" name="v:Ordering:l2a2|b3"/>
          <p:cNvSpPr txBox="1"/>
          <p:nvPr/>
        </p:nvSpPr>
        <p:spPr>
          <a:xfrm>
            <a:off x="625449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68" name="lanebox|b4"/>
          <p:cNvSpPr/>
          <p:nvPr/>
        </p:nvSpPr>
        <p:spPr>
          <a:xfrm>
            <a:off x="365760" y="3364992"/>
            <a:ext cx="8412480" cy="676656"/>
          </a:xfrm>
          <a:prstGeom prst="roundRect">
            <a:avLst>
              <a:gd name="adj" fmla="val 8108"/>
            </a:avLst>
          </a:prstGeom>
          <a:solidFill>
            <a:srgbClr val="FFFFFF"/>
          </a:solidFill>
          <a:ln w="9525">
            <a:solidFill>
              <a:srgbClr val="9AA8B8"/>
            </a:solidFill>
            <a:prstDash val="solid"/>
          </a:ln>
        </p:spPr>
      </p:sp>
      <p:sp>
        <p:nvSpPr>
          <p:cNvPr id="69" name="v:Ordering:l3op|b4"/>
          <p:cNvSpPr txBox="1"/>
          <p:nvPr/>
        </p:nvSpPr>
        <p:spPr>
          <a:xfrm>
            <a:off x="457200" y="338328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70" name="v:Ordering:l3cat|b4"/>
          <p:cNvSpPr txBox="1"/>
          <p:nvPr/>
        </p:nvSpPr>
        <p:spPr>
          <a:xfrm>
            <a:off x="3611880" y="338328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Ordering:l3retbox:box|b4"/>
          <p:cNvSpPr/>
          <p:nvPr/>
        </p:nvSpPr>
        <p:spPr>
          <a:xfrm>
            <a:off x="6812280" y="3410712"/>
            <a:ext cx="1874520" cy="246888"/>
          </a:xfrm>
          <a:prstGeom prst="roundRect">
            <a:avLst>
              <a:gd name="adj" fmla="val 29630"/>
            </a:avLst>
          </a:prstGeom>
          <a:solidFill>
            <a:srgbClr val="FCEFD0"/>
          </a:solidFill>
          <a:ln w="12700">
            <a:solidFill>
              <a:srgbClr val="B7791F"/>
            </a:solidFill>
            <a:prstDash val="solid"/>
          </a:ln>
        </p:spPr>
      </p:sp>
      <p:sp>
        <p:nvSpPr>
          <p:cNvPr id="72" name="v:Ordering:l3ret|b4"/>
          <p:cNvSpPr txBox="1"/>
          <p:nvPr/>
        </p:nvSpPr>
        <p:spPr>
          <a:xfrm>
            <a:off x="6812280" y="341071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73" name="v:Ordering:l3b0:box|b4"/>
          <p:cNvSpPr/>
          <p:nvPr/>
        </p:nvSpPr>
        <p:spPr>
          <a:xfrm>
            <a:off x="457200" y="3703320"/>
            <a:ext cx="548640" cy="283464"/>
          </a:xfrm>
          <a:prstGeom prst="roundRect">
            <a:avLst>
              <a:gd name="adj" fmla="val 16129"/>
            </a:avLst>
          </a:prstGeom>
          <a:solidFill>
            <a:srgbClr val="E3EEF8"/>
          </a:solidFill>
          <a:ln w="15875">
            <a:solidFill>
              <a:srgbClr val="306998"/>
            </a:solidFill>
            <a:prstDash val="solid"/>
          </a:ln>
        </p:spPr>
      </p:sp>
      <p:sp>
        <p:nvSpPr>
          <p:cNvPr id="74" name="v:Ordering:l3b0|b4"/>
          <p:cNvSpPr txBox="1"/>
          <p:nvPr/>
        </p:nvSpPr>
        <p:spPr>
          <a:xfrm>
            <a:off x="47548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'Alice'</a:t>
            </a:r>
            <a:endParaRPr lang="en-US" sz="841" dirty="0"/>
          </a:p>
        </p:txBody>
      </p:sp>
      <p:sp>
        <p:nvSpPr>
          <p:cNvPr id="75" name="v:Ordering:l3b1:box|b4"/>
          <p:cNvSpPr/>
          <p:nvPr/>
        </p:nvSpPr>
        <p:spPr>
          <a:xfrm>
            <a:off x="1051560" y="3703320"/>
            <a:ext cx="548640" cy="283464"/>
          </a:xfrm>
          <a:prstGeom prst="roundRect">
            <a:avLst>
              <a:gd name="adj" fmla="val 16129"/>
            </a:avLst>
          </a:prstGeom>
          <a:solidFill>
            <a:srgbClr val="E3EEF8"/>
          </a:solidFill>
          <a:ln w="15875">
            <a:solidFill>
              <a:srgbClr val="306998"/>
            </a:solidFill>
            <a:prstDash val="solid"/>
          </a:ln>
        </p:spPr>
      </p:sp>
      <p:sp>
        <p:nvSpPr>
          <p:cNvPr id="76" name="v:Ordering:l3b1|b4"/>
          <p:cNvSpPr txBox="1"/>
          <p:nvPr/>
        </p:nvSpPr>
        <p:spPr>
          <a:xfrm>
            <a:off x="106984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'ants'</a:t>
            </a:r>
            <a:endParaRPr lang="en-US" sz="981" dirty="0"/>
          </a:p>
        </p:txBody>
      </p:sp>
      <p:sp>
        <p:nvSpPr>
          <p:cNvPr id="77" name="v:Ordering:l3b2:box|b4"/>
          <p:cNvSpPr/>
          <p:nvPr/>
        </p:nvSpPr>
        <p:spPr>
          <a:xfrm>
            <a:off x="1645920" y="3703320"/>
            <a:ext cx="548640" cy="283464"/>
          </a:xfrm>
          <a:prstGeom prst="roundRect">
            <a:avLst>
              <a:gd name="adj" fmla="val 16129"/>
            </a:avLst>
          </a:prstGeom>
          <a:solidFill>
            <a:srgbClr val="E3EEF8"/>
          </a:solidFill>
          <a:ln w="15875">
            <a:solidFill>
              <a:srgbClr val="306998"/>
            </a:solidFill>
            <a:prstDash val="solid"/>
          </a:ln>
        </p:spPr>
      </p:sp>
      <p:sp>
        <p:nvSpPr>
          <p:cNvPr id="78" name="v:Ordering:l3b2|b4"/>
          <p:cNvSpPr txBox="1"/>
          <p:nvPr/>
        </p:nvSpPr>
        <p:spPr>
          <a:xfrm>
            <a:off x="1664208" y="3703320"/>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79" name="v:Ordering:l3b3:box|b4"/>
          <p:cNvSpPr/>
          <p:nvPr/>
        </p:nvSpPr>
        <p:spPr>
          <a:xfrm>
            <a:off x="2240280" y="3703320"/>
            <a:ext cx="548640" cy="283464"/>
          </a:xfrm>
          <a:prstGeom prst="roundRect">
            <a:avLst>
              <a:gd name="adj" fmla="val 16129"/>
            </a:avLst>
          </a:prstGeom>
          <a:solidFill>
            <a:srgbClr val="E3EEF8"/>
          </a:solidFill>
          <a:ln w="15875">
            <a:solidFill>
              <a:srgbClr val="306998"/>
            </a:solidFill>
            <a:prstDash val="solid"/>
          </a:ln>
        </p:spPr>
      </p:sp>
      <p:sp>
        <p:nvSpPr>
          <p:cNvPr id="80" name="v:Ordering:l3b3|b4"/>
          <p:cNvSpPr txBox="1"/>
          <p:nvPr/>
        </p:nvSpPr>
        <p:spPr>
          <a:xfrm>
            <a:off x="2258568" y="3703320"/>
            <a:ext cx="512064" cy="283464"/>
          </a:xfrm>
          <a:prstGeom prst="rect">
            <a:avLst/>
          </a:prstGeom>
          <a:noFill/>
          <a:ln/>
        </p:spPr>
        <p:txBody>
          <a:bodyPr wrap="square" lIns="0" tIns="0" rIns="0" bIns="0" rtlCol="0" anchor="ctr">
            <a:normAutofit/>
          </a:bodyPr>
          <a:lstStyle/>
          <a:p>
            <a:pPr algn="ctr" indent="0" marL="0">
              <a:buNone/>
            </a:pPr>
            <a:r>
              <a:rPr lang="en-US" sz="654" b="1" dirty="0">
                <a:solidFill>
                  <a:srgbClr val="1E2A3A"/>
                </a:solidFill>
                <a:latin typeface="Courier New" pitchFamily="34" charset="0"/>
                <a:ea typeface="Courier New" pitchFamily="34" charset="-122"/>
                <a:cs typeface="Courier New" pitchFamily="34" charset="-120"/>
              </a:rPr>
              <a:t>'badgers'</a:t>
            </a:r>
            <a:endParaRPr lang="en-US" sz="654" dirty="0"/>
          </a:p>
        </p:txBody>
      </p:sp>
      <p:sp>
        <p:nvSpPr>
          <p:cNvPr id="81" name="v:Ordering:l3b4:box|b4"/>
          <p:cNvSpPr/>
          <p:nvPr/>
        </p:nvSpPr>
        <p:spPr>
          <a:xfrm>
            <a:off x="2834640" y="3703320"/>
            <a:ext cx="548640" cy="283464"/>
          </a:xfrm>
          <a:prstGeom prst="roundRect">
            <a:avLst>
              <a:gd name="adj" fmla="val 16129"/>
            </a:avLst>
          </a:prstGeom>
          <a:solidFill>
            <a:srgbClr val="E3EEF8"/>
          </a:solidFill>
          <a:ln w="15875">
            <a:solidFill>
              <a:srgbClr val="306998"/>
            </a:solidFill>
            <a:prstDash val="solid"/>
          </a:ln>
        </p:spPr>
      </p:sp>
      <p:sp>
        <p:nvSpPr>
          <p:cNvPr id="82" name="v:Ordering:l3b4|b4"/>
          <p:cNvSpPr txBox="1"/>
          <p:nvPr/>
        </p:nvSpPr>
        <p:spPr>
          <a:xfrm>
            <a:off x="285292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'Carol'</a:t>
            </a:r>
            <a:endParaRPr lang="en-US" sz="841" dirty="0"/>
          </a:p>
        </p:txBody>
      </p:sp>
      <p:sp>
        <p:nvSpPr>
          <p:cNvPr id="83" name="v:Ordering:l3b5:box|b4"/>
          <p:cNvSpPr/>
          <p:nvPr/>
        </p:nvSpPr>
        <p:spPr>
          <a:xfrm>
            <a:off x="3429000" y="3703320"/>
            <a:ext cx="548640" cy="283464"/>
          </a:xfrm>
          <a:prstGeom prst="roundRect">
            <a:avLst>
              <a:gd name="adj" fmla="val 16129"/>
            </a:avLst>
          </a:prstGeom>
          <a:solidFill>
            <a:srgbClr val="E3EEF8"/>
          </a:solidFill>
          <a:ln w="15875">
            <a:solidFill>
              <a:srgbClr val="306998"/>
            </a:solidFill>
            <a:prstDash val="solid"/>
          </a:ln>
        </p:spPr>
      </p:sp>
      <p:sp>
        <p:nvSpPr>
          <p:cNvPr id="84" name="v:Ordering:l3b5|b4"/>
          <p:cNvSpPr txBox="1"/>
          <p:nvPr/>
        </p:nvSpPr>
        <p:spPr>
          <a:xfrm>
            <a:off x="344728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'cats'</a:t>
            </a:r>
            <a:endParaRPr lang="en-US" sz="981" dirty="0"/>
          </a:p>
        </p:txBody>
      </p:sp>
      <p:sp>
        <p:nvSpPr>
          <p:cNvPr id="85" name="arrow|b4"/>
          <p:cNvSpPr/>
          <p:nvPr/>
        </p:nvSpPr>
        <p:spPr>
          <a:xfrm>
            <a:off x="4069080" y="3845052"/>
            <a:ext cx="411480" cy="0"/>
          </a:xfrm>
          <a:prstGeom prst="line">
            <a:avLst/>
          </a:prstGeom>
          <a:noFill/>
          <a:ln w="31750">
            <a:solidFill>
              <a:srgbClr val="2E9E5B"/>
            </a:solidFill>
            <a:prstDash val="solid"/>
            <a:tailEnd type="triangle"/>
          </a:ln>
        </p:spPr>
      </p:sp>
      <p:sp>
        <p:nvSpPr>
          <p:cNvPr id="86" name="v:Ordering:l3a0:box|b4"/>
          <p:cNvSpPr/>
          <p:nvPr/>
        </p:nvSpPr>
        <p:spPr>
          <a:xfrm>
            <a:off x="4590288" y="3703320"/>
            <a:ext cx="640080" cy="283464"/>
          </a:xfrm>
          <a:prstGeom prst="roundRect">
            <a:avLst>
              <a:gd name="adj" fmla="val 16129"/>
            </a:avLst>
          </a:prstGeom>
          <a:solidFill>
            <a:srgbClr val="E3EEF8"/>
          </a:solidFill>
          <a:ln w="15875">
            <a:solidFill>
              <a:srgbClr val="306998"/>
            </a:solidFill>
            <a:prstDash val="solid"/>
          </a:ln>
        </p:spPr>
      </p:sp>
      <p:sp>
        <p:nvSpPr>
          <p:cNvPr id="87" name="v:Ordering:l3a0|b4"/>
          <p:cNvSpPr txBox="1"/>
          <p:nvPr/>
        </p:nvSpPr>
        <p:spPr>
          <a:xfrm>
            <a:off x="4608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'Alice'</a:t>
            </a:r>
            <a:endParaRPr lang="en-US" sz="1000" dirty="0"/>
          </a:p>
        </p:txBody>
      </p:sp>
      <p:sp>
        <p:nvSpPr>
          <p:cNvPr id="88" name="v:Ordering:l3a1:box|b4"/>
          <p:cNvSpPr/>
          <p:nvPr/>
        </p:nvSpPr>
        <p:spPr>
          <a:xfrm>
            <a:off x="5276088" y="3703320"/>
            <a:ext cx="640080" cy="283464"/>
          </a:xfrm>
          <a:prstGeom prst="roundRect">
            <a:avLst>
              <a:gd name="adj" fmla="val 16129"/>
            </a:avLst>
          </a:prstGeom>
          <a:solidFill>
            <a:srgbClr val="E3EEF8"/>
          </a:solidFill>
          <a:ln w="15875">
            <a:solidFill>
              <a:srgbClr val="306998"/>
            </a:solidFill>
            <a:prstDash val="solid"/>
          </a:ln>
        </p:spPr>
      </p:sp>
      <p:sp>
        <p:nvSpPr>
          <p:cNvPr id="89" name="v:Ordering:l3a1|b4"/>
          <p:cNvSpPr txBox="1"/>
          <p:nvPr/>
        </p:nvSpPr>
        <p:spPr>
          <a:xfrm>
            <a:off x="52943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90" name="v:Ordering:l3a2:box|b4"/>
          <p:cNvSpPr/>
          <p:nvPr/>
        </p:nvSpPr>
        <p:spPr>
          <a:xfrm>
            <a:off x="5961888" y="3703320"/>
            <a:ext cx="640080" cy="283464"/>
          </a:xfrm>
          <a:prstGeom prst="roundRect">
            <a:avLst>
              <a:gd name="adj" fmla="val 16129"/>
            </a:avLst>
          </a:prstGeom>
          <a:solidFill>
            <a:srgbClr val="E3EEF8"/>
          </a:solidFill>
          <a:ln w="15875">
            <a:solidFill>
              <a:srgbClr val="306998"/>
            </a:solidFill>
            <a:prstDash val="solid"/>
          </a:ln>
        </p:spPr>
      </p:sp>
      <p:sp>
        <p:nvSpPr>
          <p:cNvPr id="91" name="v:Ordering:l3a2|b4"/>
          <p:cNvSpPr txBox="1"/>
          <p:nvPr/>
        </p:nvSpPr>
        <p:spPr>
          <a:xfrm>
            <a:off x="59801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'Carol'</a:t>
            </a:r>
            <a:endParaRPr lang="en-US" sz="1000" dirty="0"/>
          </a:p>
        </p:txBody>
      </p:sp>
      <p:sp>
        <p:nvSpPr>
          <p:cNvPr id="92" name="v:Ordering:l3a3:box|b4"/>
          <p:cNvSpPr/>
          <p:nvPr/>
        </p:nvSpPr>
        <p:spPr>
          <a:xfrm>
            <a:off x="6647688" y="3703320"/>
            <a:ext cx="640080" cy="283464"/>
          </a:xfrm>
          <a:prstGeom prst="roundRect">
            <a:avLst>
              <a:gd name="adj" fmla="val 16129"/>
            </a:avLst>
          </a:prstGeom>
          <a:solidFill>
            <a:srgbClr val="E3EEF8"/>
          </a:solidFill>
          <a:ln w="15875">
            <a:solidFill>
              <a:srgbClr val="306998"/>
            </a:solidFill>
            <a:prstDash val="solid"/>
          </a:ln>
        </p:spPr>
      </p:sp>
      <p:sp>
        <p:nvSpPr>
          <p:cNvPr id="93" name="v:Ordering:l3a3|b4"/>
          <p:cNvSpPr txBox="1"/>
          <p:nvPr/>
        </p:nvSpPr>
        <p:spPr>
          <a:xfrm>
            <a:off x="66659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'ants'</a:t>
            </a:r>
            <a:endParaRPr lang="en-US" sz="1000" dirty="0"/>
          </a:p>
        </p:txBody>
      </p:sp>
      <p:sp>
        <p:nvSpPr>
          <p:cNvPr id="94" name="v:Ordering:l3a4:box|b4"/>
          <p:cNvSpPr/>
          <p:nvPr/>
        </p:nvSpPr>
        <p:spPr>
          <a:xfrm>
            <a:off x="7333488" y="3703320"/>
            <a:ext cx="640080" cy="283464"/>
          </a:xfrm>
          <a:prstGeom prst="roundRect">
            <a:avLst>
              <a:gd name="adj" fmla="val 16129"/>
            </a:avLst>
          </a:prstGeom>
          <a:solidFill>
            <a:srgbClr val="E3EEF8"/>
          </a:solidFill>
          <a:ln w="15875">
            <a:solidFill>
              <a:srgbClr val="306998"/>
            </a:solidFill>
            <a:prstDash val="solid"/>
          </a:ln>
        </p:spPr>
      </p:sp>
      <p:sp>
        <p:nvSpPr>
          <p:cNvPr id="95" name="v:Ordering:l3a4|b4"/>
          <p:cNvSpPr txBox="1"/>
          <p:nvPr/>
        </p:nvSpPr>
        <p:spPr>
          <a:xfrm>
            <a:off x="7351776" y="3703320"/>
            <a:ext cx="603504" cy="283464"/>
          </a:xfrm>
          <a:prstGeom prst="rect">
            <a:avLst/>
          </a:prstGeom>
          <a:noFill/>
          <a:ln/>
        </p:spPr>
        <p:txBody>
          <a:bodyPr wrap="square" lIns="0" tIns="0" rIns="0" bIns="0" rtlCol="0" anchor="ctr">
            <a:normAutofit/>
          </a:bodyPr>
          <a:lstStyle/>
          <a:p>
            <a:pPr algn="ctr" indent="0" marL="0">
              <a:buNone/>
            </a:pPr>
            <a:r>
              <a:rPr lang="en-US" sz="787" b="1" dirty="0">
                <a:solidFill>
                  <a:srgbClr val="1E2A3A"/>
                </a:solidFill>
                <a:latin typeface="Courier New" pitchFamily="34" charset="0"/>
                <a:ea typeface="Courier New" pitchFamily="34" charset="-122"/>
                <a:cs typeface="Courier New" pitchFamily="34" charset="-120"/>
              </a:rPr>
              <a:t>'badgers'</a:t>
            </a:r>
            <a:endParaRPr lang="en-US" sz="787" dirty="0"/>
          </a:p>
        </p:txBody>
      </p:sp>
      <p:sp>
        <p:nvSpPr>
          <p:cNvPr id="96" name="v:Ordering:l3a5:box|b4"/>
          <p:cNvSpPr/>
          <p:nvPr/>
        </p:nvSpPr>
        <p:spPr>
          <a:xfrm>
            <a:off x="8019288" y="3703320"/>
            <a:ext cx="640080" cy="283464"/>
          </a:xfrm>
          <a:prstGeom prst="roundRect">
            <a:avLst>
              <a:gd name="adj" fmla="val 16129"/>
            </a:avLst>
          </a:prstGeom>
          <a:solidFill>
            <a:srgbClr val="E3EEF8"/>
          </a:solidFill>
          <a:ln w="15875">
            <a:solidFill>
              <a:srgbClr val="306998"/>
            </a:solidFill>
            <a:prstDash val="solid"/>
          </a:ln>
        </p:spPr>
      </p:sp>
      <p:sp>
        <p:nvSpPr>
          <p:cNvPr id="97" name="v:Ordering:l3a5|b4"/>
          <p:cNvSpPr txBox="1"/>
          <p:nvPr/>
        </p:nvSpPr>
        <p:spPr>
          <a:xfrm>
            <a:off x="8037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'cats'</a:t>
            </a:r>
            <a:endParaRPr lang="en-US" sz="1000" dirty="0"/>
          </a:p>
        </p:txBody>
      </p:sp>
      <p:sp>
        <p:nvSpPr>
          <p:cNvPr id="98" name="v:Ordering:e0box:box|b5"/>
          <p:cNvSpPr/>
          <p:nvPr/>
        </p:nvSpPr>
        <p:spPr>
          <a:xfrm>
            <a:off x="365760" y="4096512"/>
            <a:ext cx="8412480" cy="274320"/>
          </a:xfrm>
          <a:prstGeom prst="roundRect">
            <a:avLst>
              <a:gd name="adj" fmla="val 20000"/>
            </a:avLst>
          </a:prstGeom>
          <a:solidFill>
            <a:srgbClr val="FBE1E1"/>
          </a:solidFill>
          <a:ln w="12700">
            <a:solidFill>
              <a:srgbClr val="D64545"/>
            </a:solidFill>
            <a:prstDash val="solid"/>
          </a:ln>
        </p:spPr>
      </p:sp>
      <p:sp>
        <p:nvSpPr>
          <p:cNvPr id="99" name="v:Ordering:e0|b5"/>
          <p:cNvSpPr txBox="1"/>
          <p:nvPr/>
        </p:nvSpPr>
        <p:spPr>
          <a:xfrm>
            <a:off x="457200" y="4096512"/>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spam.sort()   →   TypeError: '&lt;' not supported between instances of 'str' and 'int'</a:t>
            </a:r>
            <a:endParaRPr lang="en-US" sz="1050" dirty="0"/>
          </a:p>
        </p:txBody>
      </p:sp>
      <p:sp>
        <p:nvSpPr>
          <p:cNvPr id="100"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1"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2"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method, Reverse method, Sorted function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37" fill="hold">
                      <p:stCondLst>
                        <p:cond delay="indefinite"/>
                      </p:stCondLst>
                      <p:childTnLst>
                        <p:par>
                          <p:cTn id="138"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childTnLst>
                          </p:cTn>
                        </p:par>
                      </p:childTnLst>
                    </p:cTn>
                  </p:par>
                  <p:par>
                    <p:cTn id="193" fill="hold">
                      <p:stCondLst>
                        <p:cond delay="indefinite"/>
                      </p:stCondLst>
                      <p:childTnLst>
                        <p:par>
                          <p:cTn id="194"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85" fill="hold">
                      <p:stCondLst>
                        <p:cond delay="indefinite"/>
                      </p:stCondLst>
                      <p:childTnLst>
                        <p:par>
                          <p:cTn id="286"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childTnLst>
                          </p:cTn>
                        </p:par>
                      </p:childTnLst>
                    </p:cTn>
                  </p:par>
                  <p:par>
                    <p:cTn id="293" fill="hold">
                      <p:stCondLst>
                        <p:cond delay="indefinite"/>
                      </p:stCondLst>
                      <p:childTnLst>
                        <p:par>
                          <p:cTn id="294" fill="hold">
                            <p:stCondLst>
                              <p:cond delay="0"/>
                            </p:stCondLst>
                            <p:childTnLst>
                              <p:par>
                                <p:cTn id="287" presetID="10" presetClass="entr" presetSubtype="0" fill="hold" nodeType="clickEffect">
                                  <p:stCondLst>
                                    <p:cond delay="0"/>
                                  </p:stCondLst>
                                  <p:childTnLst>
                                    <p:set>
                                      <p:cBhvr>
                                        <p:cTn id="288" dur="1" fill="hold">
                                          <p:stCondLst>
                                            <p:cond delay="0"/>
                                          </p:stCondLst>
                                        </p:cTn>
                                        <p:tgtEl>
                                          <p:spTgt spid="98"/>
                                        </p:tgtEl>
                                        <p:attrNameLst>
                                          <p:attrName>style.visibility</p:attrName>
                                        </p:attrNameLst>
                                      </p:cBhvr>
                                      <p:to>
                                        <p:strVal val="visible"/>
                                      </p:to>
                                    </p:set>
                                    <p:animEffect transition="in" filter="fade">
                                      <p:cBhvr>
                                        <p:cTn id="289" dur="400"/>
                                        <p:tgtEl>
                                          <p:spTgt spid="98"/>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99"/>
                                        </p:tgtEl>
                                        <p:attrNameLst>
                                          <p:attrName>style.visibility</p:attrName>
                                        </p:attrNameLst>
                                      </p:cBhvr>
                                      <p:to>
                                        <p:strVal val="visible"/>
                                      </p:to>
                                    </p:set>
                                    <p:animEffect transition="in" filter="fade">
                                      <p:cBhvr>
                                        <p:cTn id="292" dur="4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3" grpId="0" animBg="1"/>
      <p:bldP spid="25" grpId="0" animBg="1"/>
      <p:bldP spid="27" grpId="0" animBg="1"/>
      <p:bldP spid="29" grpId="0" animBg="1"/>
      <p:bldP spid="31" grpId="0" animBg="1"/>
      <p:bldP spid="33" grpId="0" animBg="1"/>
      <p:bldP spid="34" grpId="0" animBg="1"/>
      <p:bldP spid="36" grpId="0" animBg="1"/>
      <p:bldP spid="38" grpId="0" animBg="1"/>
      <p:bldP spid="40" grpId="0" animBg="1"/>
      <p:bldP spid="42" grpId="0" animBg="1"/>
      <p:bldP spid="45" grpId="0" animBg="1"/>
      <p:bldP spid="47" grpId="0" animBg="1"/>
      <p:bldP spid="49" grpId="0" animBg="1"/>
      <p:bldP spid="51" grpId="0" animBg="1"/>
      <p:bldP spid="52" grpId="0" animBg="1"/>
      <p:bldP spid="54" grpId="0" animBg="1"/>
      <p:bldP spid="56" grpId="0" animBg="1"/>
      <p:bldP spid="58" grpId="0" animBg="1"/>
      <p:bldP spid="60"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7" grpId="0" animBg="1"/>
      <p:bldP spid="89" grpId="0" animBg="1"/>
      <p:bldP spid="91" grpId="0" animBg="1"/>
      <p:bldP spid="93" grpId="0" animBg="1"/>
      <p:bldP spid="95" grpId="0" animBg="1"/>
      <p:bldP spid="97" grpId="0" animBg="1"/>
      <p:bldP spid="9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key decides the order, and ties keep their places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key function is called once for each item; the sort is stable</a:t>
            </a:r>
            <a:endParaRPr lang="en-US" sz="1400" dirty="0"/>
          </a:p>
        </p:txBody>
      </p:sp>
      <p:sp>
        <p:nvSpPr>
          <p:cNvPr id="6" name="v:SortKeyAndReverse:x0t|b1"/>
          <p:cNvSpPr txBox="1"/>
          <p:nvPr/>
        </p:nvSpPr>
        <p:spPr>
          <a:xfrm>
            <a:off x="365760" y="1188720"/>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key=str.lower</a:t>
            </a:r>
            <a:endParaRPr lang="en-US" sz="1300" dirty="0"/>
          </a:p>
        </p:txBody>
      </p:sp>
      <p:sp>
        <p:nvSpPr>
          <p:cNvPr id="7" name="v:SortKeyAndReverse:x0expr|b1"/>
          <p:cNvSpPr txBox="1"/>
          <p:nvPr/>
        </p:nvSpPr>
        <p:spPr>
          <a:xfrm>
            <a:off x="365760" y="1444752"/>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 'z', 'A', 'Z'], key=str.lower)</a:t>
            </a:r>
            <a:endParaRPr lang="en-US" sz="900" dirty="0"/>
          </a:p>
        </p:txBody>
      </p:sp>
      <p:sp>
        <p:nvSpPr>
          <p:cNvPr id="8" name="v:SortKeyAndReverse:x0in0:box|b1"/>
          <p:cNvSpPr/>
          <p:nvPr/>
        </p:nvSpPr>
        <p:spPr>
          <a:xfrm>
            <a:off x="2880360" y="1188720"/>
            <a:ext cx="1051560" cy="457200"/>
          </a:xfrm>
          <a:prstGeom prst="roundRect">
            <a:avLst>
              <a:gd name="adj" fmla="val 10000"/>
            </a:avLst>
          </a:prstGeom>
          <a:solidFill>
            <a:srgbClr val="E3EEF8"/>
          </a:solidFill>
          <a:ln w="19050">
            <a:solidFill>
              <a:srgbClr val="306998"/>
            </a:solidFill>
            <a:prstDash val="solid"/>
          </a:ln>
        </p:spPr>
      </p:sp>
      <p:sp>
        <p:nvSpPr>
          <p:cNvPr id="9" name="v:SortKeyAndReverse:x0in0|b1"/>
          <p:cNvSpPr txBox="1"/>
          <p:nvPr/>
        </p:nvSpPr>
        <p:spPr>
          <a:xfrm>
            <a:off x="2898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0" name="v:SortKeyAndReverse:x0key0|b1"/>
          <p:cNvSpPr txBox="1"/>
          <p:nvPr/>
        </p:nvSpPr>
        <p:spPr>
          <a:xfrm>
            <a:off x="2898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1" name="v:SortKeyAndReverse:x0in1:box|b1"/>
          <p:cNvSpPr/>
          <p:nvPr/>
        </p:nvSpPr>
        <p:spPr>
          <a:xfrm>
            <a:off x="4023360" y="1188720"/>
            <a:ext cx="1051560" cy="457200"/>
          </a:xfrm>
          <a:prstGeom prst="roundRect">
            <a:avLst>
              <a:gd name="adj" fmla="val 10000"/>
            </a:avLst>
          </a:prstGeom>
          <a:solidFill>
            <a:srgbClr val="E3EEF8"/>
          </a:solidFill>
          <a:ln w="19050">
            <a:solidFill>
              <a:srgbClr val="306998"/>
            </a:solidFill>
            <a:prstDash val="solid"/>
          </a:ln>
        </p:spPr>
      </p:sp>
      <p:sp>
        <p:nvSpPr>
          <p:cNvPr id="12" name="v:SortKeyAndReverse:x0in1|b1"/>
          <p:cNvSpPr txBox="1"/>
          <p:nvPr/>
        </p:nvSpPr>
        <p:spPr>
          <a:xfrm>
            <a:off x="4041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3" name="v:SortKeyAndReverse:x0key1|b1"/>
          <p:cNvSpPr txBox="1"/>
          <p:nvPr/>
        </p:nvSpPr>
        <p:spPr>
          <a:xfrm>
            <a:off x="4041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14" name="v:SortKeyAndReverse:x0in2:box|b1"/>
          <p:cNvSpPr/>
          <p:nvPr/>
        </p:nvSpPr>
        <p:spPr>
          <a:xfrm>
            <a:off x="5166360" y="1188720"/>
            <a:ext cx="1051560" cy="457200"/>
          </a:xfrm>
          <a:prstGeom prst="roundRect">
            <a:avLst>
              <a:gd name="adj" fmla="val 10000"/>
            </a:avLst>
          </a:prstGeom>
          <a:solidFill>
            <a:srgbClr val="E3EEF8"/>
          </a:solidFill>
          <a:ln w="19050">
            <a:solidFill>
              <a:srgbClr val="306998"/>
            </a:solidFill>
            <a:prstDash val="solid"/>
          </a:ln>
        </p:spPr>
      </p:sp>
      <p:sp>
        <p:nvSpPr>
          <p:cNvPr id="15" name="v:SortKeyAndReverse:x0in2|b1"/>
          <p:cNvSpPr txBox="1"/>
          <p:nvPr/>
        </p:nvSpPr>
        <p:spPr>
          <a:xfrm>
            <a:off x="5184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6" name="v:SortKeyAndReverse:x0key2|b1"/>
          <p:cNvSpPr txBox="1"/>
          <p:nvPr/>
        </p:nvSpPr>
        <p:spPr>
          <a:xfrm>
            <a:off x="5184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7" name="v:SortKeyAndReverse:x0in3:box|b1"/>
          <p:cNvSpPr/>
          <p:nvPr/>
        </p:nvSpPr>
        <p:spPr>
          <a:xfrm>
            <a:off x="6309360" y="1188720"/>
            <a:ext cx="1051560" cy="457200"/>
          </a:xfrm>
          <a:prstGeom prst="roundRect">
            <a:avLst>
              <a:gd name="adj" fmla="val 10000"/>
            </a:avLst>
          </a:prstGeom>
          <a:solidFill>
            <a:srgbClr val="E3EEF8"/>
          </a:solidFill>
          <a:ln w="19050">
            <a:solidFill>
              <a:srgbClr val="306998"/>
            </a:solidFill>
            <a:prstDash val="solid"/>
          </a:ln>
        </p:spPr>
      </p:sp>
      <p:sp>
        <p:nvSpPr>
          <p:cNvPr id="18" name="v:SortKeyAndReverse:x0in3|b1"/>
          <p:cNvSpPr txBox="1"/>
          <p:nvPr/>
        </p:nvSpPr>
        <p:spPr>
          <a:xfrm>
            <a:off x="6327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9" name="v:SortKeyAndReverse:x0key3|b1"/>
          <p:cNvSpPr txBox="1"/>
          <p:nvPr/>
        </p:nvSpPr>
        <p:spPr>
          <a:xfrm>
            <a:off x="6327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20" name="sortline|b1"/>
          <p:cNvSpPr/>
          <p:nvPr/>
        </p:nvSpPr>
        <p:spPr>
          <a:xfrm>
            <a:off x="3406140" y="1645920"/>
            <a:ext cx="0" cy="274320"/>
          </a:xfrm>
          <a:prstGeom prst="line">
            <a:avLst/>
          </a:prstGeom>
          <a:noFill/>
          <a:ln w="19050">
            <a:solidFill>
              <a:srgbClr val="9AA8B8"/>
            </a:solidFill>
            <a:prstDash val="solid"/>
            <a:tailEnd type="triangle"/>
          </a:ln>
        </p:spPr>
      </p:sp>
      <p:sp>
        <p:nvSpPr>
          <p:cNvPr id="21" name="sortline|b1"/>
          <p:cNvSpPr/>
          <p:nvPr/>
        </p:nvSpPr>
        <p:spPr>
          <a:xfrm flipH="1">
            <a:off x="4549140" y="1645920"/>
            <a:ext cx="1143000" cy="274320"/>
          </a:xfrm>
          <a:prstGeom prst="line">
            <a:avLst/>
          </a:prstGeom>
          <a:noFill/>
          <a:ln w="19050">
            <a:solidFill>
              <a:srgbClr val="9AA8B8"/>
            </a:solidFill>
            <a:prstDash val="solid"/>
            <a:tailEnd type="triangle"/>
          </a:ln>
        </p:spPr>
      </p:sp>
      <p:sp>
        <p:nvSpPr>
          <p:cNvPr id="22" name="sortline|b1"/>
          <p:cNvSpPr/>
          <p:nvPr/>
        </p:nvSpPr>
        <p:spPr>
          <a:xfrm>
            <a:off x="4549140" y="1645920"/>
            <a:ext cx="1143000" cy="274320"/>
          </a:xfrm>
          <a:prstGeom prst="line">
            <a:avLst/>
          </a:prstGeom>
          <a:noFill/>
          <a:ln w="19050">
            <a:solidFill>
              <a:srgbClr val="9AA8B8"/>
            </a:solidFill>
            <a:prstDash val="solid"/>
            <a:tailEnd type="triangle"/>
          </a:ln>
        </p:spPr>
      </p:sp>
      <p:sp>
        <p:nvSpPr>
          <p:cNvPr id="23" name="sortline|b1"/>
          <p:cNvSpPr/>
          <p:nvPr/>
        </p:nvSpPr>
        <p:spPr>
          <a:xfrm>
            <a:off x="6835140" y="1645920"/>
            <a:ext cx="0" cy="274320"/>
          </a:xfrm>
          <a:prstGeom prst="line">
            <a:avLst/>
          </a:prstGeom>
          <a:noFill/>
          <a:ln w="19050">
            <a:solidFill>
              <a:srgbClr val="9AA8B8"/>
            </a:solidFill>
            <a:prstDash val="solid"/>
            <a:tailEnd type="triangle"/>
          </a:ln>
        </p:spPr>
      </p:sp>
      <p:sp>
        <p:nvSpPr>
          <p:cNvPr id="24" name="v:SortKeyAndReverse:x0out0:box|b1"/>
          <p:cNvSpPr/>
          <p:nvPr/>
        </p:nvSpPr>
        <p:spPr>
          <a:xfrm>
            <a:off x="2880360" y="1920240"/>
            <a:ext cx="1051560" cy="274320"/>
          </a:xfrm>
          <a:prstGeom prst="roundRect">
            <a:avLst>
              <a:gd name="adj" fmla="val 16667"/>
            </a:avLst>
          </a:prstGeom>
          <a:solidFill>
            <a:srgbClr val="DDF3E6"/>
          </a:solidFill>
          <a:ln w="19050">
            <a:solidFill>
              <a:srgbClr val="2E9E5B"/>
            </a:solidFill>
            <a:prstDash val="solid"/>
          </a:ln>
        </p:spPr>
      </p:sp>
      <p:sp>
        <p:nvSpPr>
          <p:cNvPr id="25" name="v:SortKeyAndReverse:x0out0|b1"/>
          <p:cNvSpPr txBox="1"/>
          <p:nvPr/>
        </p:nvSpPr>
        <p:spPr>
          <a:xfrm>
            <a:off x="2898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6" name="v:SortKeyAndReverse:x0out1:box|b1"/>
          <p:cNvSpPr/>
          <p:nvPr/>
        </p:nvSpPr>
        <p:spPr>
          <a:xfrm>
            <a:off x="4023360" y="1920240"/>
            <a:ext cx="1051560" cy="274320"/>
          </a:xfrm>
          <a:prstGeom prst="roundRect">
            <a:avLst>
              <a:gd name="adj" fmla="val 16667"/>
            </a:avLst>
          </a:prstGeom>
          <a:solidFill>
            <a:srgbClr val="DDF3E6"/>
          </a:solidFill>
          <a:ln w="19050">
            <a:solidFill>
              <a:srgbClr val="2E9E5B"/>
            </a:solidFill>
            <a:prstDash val="solid"/>
          </a:ln>
        </p:spPr>
      </p:sp>
      <p:sp>
        <p:nvSpPr>
          <p:cNvPr id="27" name="v:SortKeyAndReverse:x0out1|b1"/>
          <p:cNvSpPr txBox="1"/>
          <p:nvPr/>
        </p:nvSpPr>
        <p:spPr>
          <a:xfrm>
            <a:off x="4041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8" name="v:SortKeyAndReverse:x0out2:box|b1"/>
          <p:cNvSpPr/>
          <p:nvPr/>
        </p:nvSpPr>
        <p:spPr>
          <a:xfrm>
            <a:off x="5166360" y="1920240"/>
            <a:ext cx="1051560" cy="274320"/>
          </a:xfrm>
          <a:prstGeom prst="roundRect">
            <a:avLst>
              <a:gd name="adj" fmla="val 16667"/>
            </a:avLst>
          </a:prstGeom>
          <a:solidFill>
            <a:srgbClr val="DDF3E6"/>
          </a:solidFill>
          <a:ln w="19050">
            <a:solidFill>
              <a:srgbClr val="2E9E5B"/>
            </a:solidFill>
            <a:prstDash val="solid"/>
          </a:ln>
        </p:spPr>
      </p:sp>
      <p:sp>
        <p:nvSpPr>
          <p:cNvPr id="29" name="v:SortKeyAndReverse:x0out2|b1"/>
          <p:cNvSpPr txBox="1"/>
          <p:nvPr/>
        </p:nvSpPr>
        <p:spPr>
          <a:xfrm>
            <a:off x="5184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0" name="v:SortKeyAndReverse:x0out3:box|b1"/>
          <p:cNvSpPr/>
          <p:nvPr/>
        </p:nvSpPr>
        <p:spPr>
          <a:xfrm>
            <a:off x="6309360" y="1920240"/>
            <a:ext cx="1051560" cy="274320"/>
          </a:xfrm>
          <a:prstGeom prst="roundRect">
            <a:avLst>
              <a:gd name="adj" fmla="val 16667"/>
            </a:avLst>
          </a:prstGeom>
          <a:solidFill>
            <a:srgbClr val="DDF3E6"/>
          </a:solidFill>
          <a:ln w="19050">
            <a:solidFill>
              <a:srgbClr val="2E9E5B"/>
            </a:solidFill>
            <a:prstDash val="solid"/>
          </a:ln>
        </p:spPr>
      </p:sp>
      <p:sp>
        <p:nvSpPr>
          <p:cNvPr id="31" name="v:SortKeyAndReverse:x0out3|b1"/>
          <p:cNvSpPr txBox="1"/>
          <p:nvPr/>
        </p:nvSpPr>
        <p:spPr>
          <a:xfrm>
            <a:off x="6327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2" name="v:SortKeyAndReverse:x1t|b2"/>
          <p:cNvSpPr txBox="1"/>
          <p:nvPr/>
        </p:nvSpPr>
        <p:spPr>
          <a:xfrm>
            <a:off x="365760" y="2258568"/>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reverse=True</a:t>
            </a:r>
            <a:endParaRPr lang="en-US" sz="1300" dirty="0"/>
          </a:p>
        </p:txBody>
      </p:sp>
      <p:sp>
        <p:nvSpPr>
          <p:cNvPr id="33" name="v:SortKeyAndReverse:x1expr|b2"/>
          <p:cNvSpPr txBox="1"/>
          <p:nvPr/>
        </p:nvSpPr>
        <p:spPr>
          <a:xfrm>
            <a:off x="365760" y="2514600"/>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sorted(['Ants', 'Badgers', 'Cats', 'Dogs', 'Elephants'], reverse=True)</a:t>
            </a:r>
            <a:endParaRPr lang="en-US" sz="900" dirty="0"/>
          </a:p>
        </p:txBody>
      </p:sp>
      <p:sp>
        <p:nvSpPr>
          <p:cNvPr id="34" name="v:SortKeyAndReverse:x1in0:box|b2"/>
          <p:cNvSpPr/>
          <p:nvPr/>
        </p:nvSpPr>
        <p:spPr>
          <a:xfrm>
            <a:off x="2880360" y="2258568"/>
            <a:ext cx="1051560" cy="457200"/>
          </a:xfrm>
          <a:prstGeom prst="roundRect">
            <a:avLst>
              <a:gd name="adj" fmla="val 10000"/>
            </a:avLst>
          </a:prstGeom>
          <a:solidFill>
            <a:srgbClr val="E3EEF8"/>
          </a:solidFill>
          <a:ln w="19050">
            <a:solidFill>
              <a:srgbClr val="306998"/>
            </a:solidFill>
            <a:prstDash val="solid"/>
          </a:ln>
        </p:spPr>
      </p:sp>
      <p:sp>
        <p:nvSpPr>
          <p:cNvPr id="35" name="v:SortKeyAndReverse:x1in0|b2"/>
          <p:cNvSpPr txBox="1"/>
          <p:nvPr/>
        </p:nvSpPr>
        <p:spPr>
          <a:xfrm>
            <a:off x="2898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'Ants'</a:t>
            </a:r>
            <a:endParaRPr lang="en-US" sz="1050" dirty="0"/>
          </a:p>
        </p:txBody>
      </p:sp>
      <p:sp>
        <p:nvSpPr>
          <p:cNvPr id="36" name="v:SortKeyAndReverse:x1in1:box|b2"/>
          <p:cNvSpPr/>
          <p:nvPr/>
        </p:nvSpPr>
        <p:spPr>
          <a:xfrm>
            <a:off x="4023360" y="2258568"/>
            <a:ext cx="1051560" cy="457200"/>
          </a:xfrm>
          <a:prstGeom prst="roundRect">
            <a:avLst>
              <a:gd name="adj" fmla="val 10000"/>
            </a:avLst>
          </a:prstGeom>
          <a:solidFill>
            <a:srgbClr val="E3EEF8"/>
          </a:solidFill>
          <a:ln w="19050">
            <a:solidFill>
              <a:srgbClr val="306998"/>
            </a:solidFill>
            <a:prstDash val="solid"/>
          </a:ln>
        </p:spPr>
      </p:sp>
      <p:sp>
        <p:nvSpPr>
          <p:cNvPr id="37" name="v:SortKeyAndReverse:x1in1|b2"/>
          <p:cNvSpPr txBox="1"/>
          <p:nvPr/>
        </p:nvSpPr>
        <p:spPr>
          <a:xfrm>
            <a:off x="4041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'Badgers'</a:t>
            </a:r>
            <a:endParaRPr lang="en-US" sz="1050" dirty="0"/>
          </a:p>
        </p:txBody>
      </p:sp>
      <p:sp>
        <p:nvSpPr>
          <p:cNvPr id="38" name="v:SortKeyAndReverse:x1in2:box|b2"/>
          <p:cNvSpPr/>
          <p:nvPr/>
        </p:nvSpPr>
        <p:spPr>
          <a:xfrm>
            <a:off x="5166360" y="2258568"/>
            <a:ext cx="1051560" cy="457200"/>
          </a:xfrm>
          <a:prstGeom prst="roundRect">
            <a:avLst>
              <a:gd name="adj" fmla="val 10000"/>
            </a:avLst>
          </a:prstGeom>
          <a:solidFill>
            <a:srgbClr val="E3EEF8"/>
          </a:solidFill>
          <a:ln w="19050">
            <a:solidFill>
              <a:srgbClr val="306998"/>
            </a:solidFill>
            <a:prstDash val="solid"/>
          </a:ln>
        </p:spPr>
      </p:sp>
      <p:sp>
        <p:nvSpPr>
          <p:cNvPr id="39" name="v:SortKeyAndReverse:x1in2|b2"/>
          <p:cNvSpPr txBox="1"/>
          <p:nvPr/>
        </p:nvSpPr>
        <p:spPr>
          <a:xfrm>
            <a:off x="5184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'Cats'</a:t>
            </a:r>
            <a:endParaRPr lang="en-US" sz="1050" dirty="0"/>
          </a:p>
        </p:txBody>
      </p:sp>
      <p:sp>
        <p:nvSpPr>
          <p:cNvPr id="40" name="v:SortKeyAndReverse:x1in3:box|b2"/>
          <p:cNvSpPr/>
          <p:nvPr/>
        </p:nvSpPr>
        <p:spPr>
          <a:xfrm>
            <a:off x="6309360" y="2258568"/>
            <a:ext cx="1051560" cy="457200"/>
          </a:xfrm>
          <a:prstGeom prst="roundRect">
            <a:avLst>
              <a:gd name="adj" fmla="val 10000"/>
            </a:avLst>
          </a:prstGeom>
          <a:solidFill>
            <a:srgbClr val="E3EEF8"/>
          </a:solidFill>
          <a:ln w="19050">
            <a:solidFill>
              <a:srgbClr val="306998"/>
            </a:solidFill>
            <a:prstDash val="solid"/>
          </a:ln>
        </p:spPr>
      </p:sp>
      <p:sp>
        <p:nvSpPr>
          <p:cNvPr id="41" name="v:SortKeyAndReverse:x1in3|b2"/>
          <p:cNvSpPr txBox="1"/>
          <p:nvPr/>
        </p:nvSpPr>
        <p:spPr>
          <a:xfrm>
            <a:off x="6327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'Dogs'</a:t>
            </a:r>
            <a:endParaRPr lang="en-US" sz="1050" dirty="0"/>
          </a:p>
        </p:txBody>
      </p:sp>
      <p:sp>
        <p:nvSpPr>
          <p:cNvPr id="42" name="v:SortKeyAndReverse:x1in4:box|b2"/>
          <p:cNvSpPr/>
          <p:nvPr/>
        </p:nvSpPr>
        <p:spPr>
          <a:xfrm>
            <a:off x="7452360" y="2258568"/>
            <a:ext cx="1051560" cy="457200"/>
          </a:xfrm>
          <a:prstGeom prst="roundRect">
            <a:avLst>
              <a:gd name="adj" fmla="val 10000"/>
            </a:avLst>
          </a:prstGeom>
          <a:solidFill>
            <a:srgbClr val="E3EEF8"/>
          </a:solidFill>
          <a:ln w="19050">
            <a:solidFill>
              <a:srgbClr val="306998"/>
            </a:solidFill>
            <a:prstDash val="solid"/>
          </a:ln>
        </p:spPr>
      </p:sp>
      <p:sp>
        <p:nvSpPr>
          <p:cNvPr id="43" name="v:SortKeyAndReverse:x1in4|b2"/>
          <p:cNvSpPr txBox="1"/>
          <p:nvPr/>
        </p:nvSpPr>
        <p:spPr>
          <a:xfrm>
            <a:off x="7470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'Elephants'</a:t>
            </a:r>
            <a:endParaRPr lang="en-US" sz="1050" dirty="0"/>
          </a:p>
        </p:txBody>
      </p:sp>
      <p:sp>
        <p:nvSpPr>
          <p:cNvPr id="44" name="sortline|b2"/>
          <p:cNvSpPr/>
          <p:nvPr/>
        </p:nvSpPr>
        <p:spPr>
          <a:xfrm flipH="1">
            <a:off x="3406140" y="2715768"/>
            <a:ext cx="4572000" cy="274320"/>
          </a:xfrm>
          <a:prstGeom prst="line">
            <a:avLst/>
          </a:prstGeom>
          <a:noFill/>
          <a:ln w="19050">
            <a:solidFill>
              <a:srgbClr val="9AA8B8"/>
            </a:solidFill>
            <a:prstDash val="solid"/>
            <a:tailEnd type="triangle"/>
          </a:ln>
        </p:spPr>
      </p:sp>
      <p:sp>
        <p:nvSpPr>
          <p:cNvPr id="45" name="sortline|b2"/>
          <p:cNvSpPr/>
          <p:nvPr/>
        </p:nvSpPr>
        <p:spPr>
          <a:xfrm flipH="1">
            <a:off x="4549140" y="2715768"/>
            <a:ext cx="2286000" cy="274320"/>
          </a:xfrm>
          <a:prstGeom prst="line">
            <a:avLst/>
          </a:prstGeom>
          <a:noFill/>
          <a:ln w="19050">
            <a:solidFill>
              <a:srgbClr val="9AA8B8"/>
            </a:solidFill>
            <a:prstDash val="solid"/>
            <a:tailEnd type="triangle"/>
          </a:ln>
        </p:spPr>
      </p:sp>
      <p:sp>
        <p:nvSpPr>
          <p:cNvPr id="46" name="sortline|b2"/>
          <p:cNvSpPr/>
          <p:nvPr/>
        </p:nvSpPr>
        <p:spPr>
          <a:xfrm>
            <a:off x="5692140" y="2715768"/>
            <a:ext cx="0" cy="274320"/>
          </a:xfrm>
          <a:prstGeom prst="line">
            <a:avLst/>
          </a:prstGeom>
          <a:noFill/>
          <a:ln w="19050">
            <a:solidFill>
              <a:srgbClr val="9AA8B8"/>
            </a:solidFill>
            <a:prstDash val="solid"/>
            <a:tailEnd type="triangle"/>
          </a:ln>
        </p:spPr>
      </p:sp>
      <p:sp>
        <p:nvSpPr>
          <p:cNvPr id="47" name="sortline|b2"/>
          <p:cNvSpPr/>
          <p:nvPr/>
        </p:nvSpPr>
        <p:spPr>
          <a:xfrm>
            <a:off x="4549140" y="2715768"/>
            <a:ext cx="2286000" cy="274320"/>
          </a:xfrm>
          <a:prstGeom prst="line">
            <a:avLst/>
          </a:prstGeom>
          <a:noFill/>
          <a:ln w="19050">
            <a:solidFill>
              <a:srgbClr val="9AA8B8"/>
            </a:solidFill>
            <a:prstDash val="solid"/>
            <a:tailEnd type="triangle"/>
          </a:ln>
        </p:spPr>
      </p:sp>
      <p:sp>
        <p:nvSpPr>
          <p:cNvPr id="48" name="sortline|b2"/>
          <p:cNvSpPr/>
          <p:nvPr/>
        </p:nvSpPr>
        <p:spPr>
          <a:xfrm>
            <a:off x="3406140" y="2715768"/>
            <a:ext cx="4572000" cy="274320"/>
          </a:xfrm>
          <a:prstGeom prst="line">
            <a:avLst/>
          </a:prstGeom>
          <a:noFill/>
          <a:ln w="19050">
            <a:solidFill>
              <a:srgbClr val="9AA8B8"/>
            </a:solidFill>
            <a:prstDash val="solid"/>
            <a:tailEnd type="triangle"/>
          </a:ln>
        </p:spPr>
      </p:sp>
      <p:sp>
        <p:nvSpPr>
          <p:cNvPr id="49" name="v:SortKeyAndReverse:x1out0:box|b2"/>
          <p:cNvSpPr/>
          <p:nvPr/>
        </p:nvSpPr>
        <p:spPr>
          <a:xfrm>
            <a:off x="2880360" y="2990088"/>
            <a:ext cx="1051560" cy="274320"/>
          </a:xfrm>
          <a:prstGeom prst="roundRect">
            <a:avLst>
              <a:gd name="adj" fmla="val 16667"/>
            </a:avLst>
          </a:prstGeom>
          <a:solidFill>
            <a:srgbClr val="DDF3E6"/>
          </a:solidFill>
          <a:ln w="19050">
            <a:solidFill>
              <a:srgbClr val="2E9E5B"/>
            </a:solidFill>
            <a:prstDash val="solid"/>
          </a:ln>
        </p:spPr>
      </p:sp>
      <p:sp>
        <p:nvSpPr>
          <p:cNvPr id="50" name="v:SortKeyAndReverse:x1out0|b2"/>
          <p:cNvSpPr txBox="1"/>
          <p:nvPr/>
        </p:nvSpPr>
        <p:spPr>
          <a:xfrm>
            <a:off x="2898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'Elephants'</a:t>
            </a:r>
            <a:endParaRPr lang="en-US" sz="1050" dirty="0"/>
          </a:p>
        </p:txBody>
      </p:sp>
      <p:sp>
        <p:nvSpPr>
          <p:cNvPr id="51" name="v:SortKeyAndReverse:x1out1:box|b2"/>
          <p:cNvSpPr/>
          <p:nvPr/>
        </p:nvSpPr>
        <p:spPr>
          <a:xfrm>
            <a:off x="4023360" y="2990088"/>
            <a:ext cx="1051560" cy="274320"/>
          </a:xfrm>
          <a:prstGeom prst="roundRect">
            <a:avLst>
              <a:gd name="adj" fmla="val 16667"/>
            </a:avLst>
          </a:prstGeom>
          <a:solidFill>
            <a:srgbClr val="DDF3E6"/>
          </a:solidFill>
          <a:ln w="19050">
            <a:solidFill>
              <a:srgbClr val="2E9E5B"/>
            </a:solidFill>
            <a:prstDash val="solid"/>
          </a:ln>
        </p:spPr>
      </p:sp>
      <p:sp>
        <p:nvSpPr>
          <p:cNvPr id="52" name="v:SortKeyAndReverse:x1out1|b2"/>
          <p:cNvSpPr txBox="1"/>
          <p:nvPr/>
        </p:nvSpPr>
        <p:spPr>
          <a:xfrm>
            <a:off x="4041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'Dogs'</a:t>
            </a:r>
            <a:endParaRPr lang="en-US" sz="1050" dirty="0"/>
          </a:p>
        </p:txBody>
      </p:sp>
      <p:sp>
        <p:nvSpPr>
          <p:cNvPr id="53" name="v:SortKeyAndReverse:x1out2:box|b2"/>
          <p:cNvSpPr/>
          <p:nvPr/>
        </p:nvSpPr>
        <p:spPr>
          <a:xfrm>
            <a:off x="5166360" y="2990088"/>
            <a:ext cx="1051560" cy="274320"/>
          </a:xfrm>
          <a:prstGeom prst="roundRect">
            <a:avLst>
              <a:gd name="adj" fmla="val 16667"/>
            </a:avLst>
          </a:prstGeom>
          <a:solidFill>
            <a:srgbClr val="DDF3E6"/>
          </a:solidFill>
          <a:ln w="19050">
            <a:solidFill>
              <a:srgbClr val="2E9E5B"/>
            </a:solidFill>
            <a:prstDash val="solid"/>
          </a:ln>
        </p:spPr>
      </p:sp>
      <p:sp>
        <p:nvSpPr>
          <p:cNvPr id="54" name="v:SortKeyAndReverse:x1out2|b2"/>
          <p:cNvSpPr txBox="1"/>
          <p:nvPr/>
        </p:nvSpPr>
        <p:spPr>
          <a:xfrm>
            <a:off x="5184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'Cats'</a:t>
            </a:r>
            <a:endParaRPr lang="en-US" sz="1050" dirty="0"/>
          </a:p>
        </p:txBody>
      </p:sp>
      <p:sp>
        <p:nvSpPr>
          <p:cNvPr id="55" name="v:SortKeyAndReverse:x1out3:box|b2"/>
          <p:cNvSpPr/>
          <p:nvPr/>
        </p:nvSpPr>
        <p:spPr>
          <a:xfrm>
            <a:off x="6309360" y="2990088"/>
            <a:ext cx="1051560" cy="274320"/>
          </a:xfrm>
          <a:prstGeom prst="roundRect">
            <a:avLst>
              <a:gd name="adj" fmla="val 16667"/>
            </a:avLst>
          </a:prstGeom>
          <a:solidFill>
            <a:srgbClr val="DDF3E6"/>
          </a:solidFill>
          <a:ln w="19050">
            <a:solidFill>
              <a:srgbClr val="2E9E5B"/>
            </a:solidFill>
            <a:prstDash val="solid"/>
          </a:ln>
        </p:spPr>
      </p:sp>
      <p:sp>
        <p:nvSpPr>
          <p:cNvPr id="56" name="v:SortKeyAndReverse:x1out3|b2"/>
          <p:cNvSpPr txBox="1"/>
          <p:nvPr/>
        </p:nvSpPr>
        <p:spPr>
          <a:xfrm>
            <a:off x="6327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'Badgers'</a:t>
            </a:r>
            <a:endParaRPr lang="en-US" sz="1050" dirty="0"/>
          </a:p>
        </p:txBody>
      </p:sp>
      <p:sp>
        <p:nvSpPr>
          <p:cNvPr id="57" name="v:SortKeyAndReverse:x1out4:box|b2"/>
          <p:cNvSpPr/>
          <p:nvPr/>
        </p:nvSpPr>
        <p:spPr>
          <a:xfrm>
            <a:off x="7452360" y="2990088"/>
            <a:ext cx="1051560" cy="274320"/>
          </a:xfrm>
          <a:prstGeom prst="roundRect">
            <a:avLst>
              <a:gd name="adj" fmla="val 16667"/>
            </a:avLst>
          </a:prstGeom>
          <a:solidFill>
            <a:srgbClr val="DDF3E6"/>
          </a:solidFill>
          <a:ln w="19050">
            <a:solidFill>
              <a:srgbClr val="2E9E5B"/>
            </a:solidFill>
            <a:prstDash val="solid"/>
          </a:ln>
        </p:spPr>
      </p:sp>
      <p:sp>
        <p:nvSpPr>
          <p:cNvPr id="58" name="v:SortKeyAndReverse:x1out4|b2"/>
          <p:cNvSpPr txBox="1"/>
          <p:nvPr/>
        </p:nvSpPr>
        <p:spPr>
          <a:xfrm>
            <a:off x="7470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'Ants'</a:t>
            </a:r>
            <a:endParaRPr lang="en-US" sz="1050" dirty="0"/>
          </a:p>
        </p:txBody>
      </p:sp>
      <p:sp>
        <p:nvSpPr>
          <p:cNvPr id="59" name="v:SortKeyAndReverse:x2t|b3"/>
          <p:cNvSpPr txBox="1"/>
          <p:nvPr/>
        </p:nvSpPr>
        <p:spPr>
          <a:xfrm>
            <a:off x="365760" y="3328416"/>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equal keys stay in order</a:t>
            </a:r>
            <a:endParaRPr lang="en-US" sz="1300" dirty="0"/>
          </a:p>
        </p:txBody>
      </p:sp>
      <p:sp>
        <p:nvSpPr>
          <p:cNvPr id="60" name="v:SortKeyAndReverse:x2expr|b3"/>
          <p:cNvSpPr txBox="1"/>
          <p:nvPr/>
        </p:nvSpPr>
        <p:spPr>
          <a:xfrm>
            <a:off x="365760" y="3584448"/>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sorted([('red', 1), ('blue', 1), ('red', 2), ('blue', 2)], key=lambda t: t[0])</a:t>
            </a:r>
            <a:endParaRPr lang="en-US" sz="900" dirty="0"/>
          </a:p>
        </p:txBody>
      </p:sp>
      <p:sp>
        <p:nvSpPr>
          <p:cNvPr id="61" name="v:SortKeyAndReverse:x2in0:box|b3"/>
          <p:cNvSpPr/>
          <p:nvPr/>
        </p:nvSpPr>
        <p:spPr>
          <a:xfrm>
            <a:off x="2880360" y="3328416"/>
            <a:ext cx="1051560" cy="457200"/>
          </a:xfrm>
          <a:prstGeom prst="roundRect">
            <a:avLst>
              <a:gd name="adj" fmla="val 10000"/>
            </a:avLst>
          </a:prstGeom>
          <a:solidFill>
            <a:srgbClr val="E3EEF8"/>
          </a:solidFill>
          <a:ln w="19050">
            <a:solidFill>
              <a:srgbClr val="306998"/>
            </a:solidFill>
            <a:prstDash val="solid"/>
          </a:ln>
        </p:spPr>
      </p:sp>
      <p:sp>
        <p:nvSpPr>
          <p:cNvPr id="62" name="v:SortKeyAndReverse:x2in0|b3"/>
          <p:cNvSpPr txBox="1"/>
          <p:nvPr/>
        </p:nvSpPr>
        <p:spPr>
          <a:xfrm>
            <a:off x="2898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1)</a:t>
            </a:r>
            <a:endParaRPr lang="en-US" sz="1050" dirty="0"/>
          </a:p>
        </p:txBody>
      </p:sp>
      <p:sp>
        <p:nvSpPr>
          <p:cNvPr id="63" name="v:SortKeyAndReverse:x2key0|b3"/>
          <p:cNvSpPr txBox="1"/>
          <p:nvPr/>
        </p:nvSpPr>
        <p:spPr>
          <a:xfrm>
            <a:off x="2898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64" name="v:SortKeyAndReverse:x2in1:box|b3"/>
          <p:cNvSpPr/>
          <p:nvPr/>
        </p:nvSpPr>
        <p:spPr>
          <a:xfrm>
            <a:off x="4023360" y="3328416"/>
            <a:ext cx="1051560" cy="457200"/>
          </a:xfrm>
          <a:prstGeom prst="roundRect">
            <a:avLst>
              <a:gd name="adj" fmla="val 10000"/>
            </a:avLst>
          </a:prstGeom>
          <a:solidFill>
            <a:srgbClr val="E3EEF8"/>
          </a:solidFill>
          <a:ln w="19050">
            <a:solidFill>
              <a:srgbClr val="306998"/>
            </a:solidFill>
            <a:prstDash val="solid"/>
          </a:ln>
        </p:spPr>
      </p:sp>
      <p:sp>
        <p:nvSpPr>
          <p:cNvPr id="65" name="v:SortKeyAndReverse:x2in1|b3"/>
          <p:cNvSpPr txBox="1"/>
          <p:nvPr/>
        </p:nvSpPr>
        <p:spPr>
          <a:xfrm>
            <a:off x="4041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1)</a:t>
            </a:r>
            <a:endParaRPr lang="en-US" sz="1050" dirty="0"/>
          </a:p>
        </p:txBody>
      </p:sp>
      <p:sp>
        <p:nvSpPr>
          <p:cNvPr id="66" name="v:SortKeyAndReverse:x2key1|b3"/>
          <p:cNvSpPr txBox="1"/>
          <p:nvPr/>
        </p:nvSpPr>
        <p:spPr>
          <a:xfrm>
            <a:off x="4041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67" name="v:SortKeyAndReverse:x2in2:box|b3"/>
          <p:cNvSpPr/>
          <p:nvPr/>
        </p:nvSpPr>
        <p:spPr>
          <a:xfrm>
            <a:off x="5166360" y="3328416"/>
            <a:ext cx="1051560" cy="457200"/>
          </a:xfrm>
          <a:prstGeom prst="roundRect">
            <a:avLst>
              <a:gd name="adj" fmla="val 10000"/>
            </a:avLst>
          </a:prstGeom>
          <a:solidFill>
            <a:srgbClr val="E3EEF8"/>
          </a:solidFill>
          <a:ln w="19050">
            <a:solidFill>
              <a:srgbClr val="306998"/>
            </a:solidFill>
            <a:prstDash val="solid"/>
          </a:ln>
        </p:spPr>
      </p:sp>
      <p:sp>
        <p:nvSpPr>
          <p:cNvPr id="68" name="v:SortKeyAndReverse:x2in2|b3"/>
          <p:cNvSpPr txBox="1"/>
          <p:nvPr/>
        </p:nvSpPr>
        <p:spPr>
          <a:xfrm>
            <a:off x="5184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2)</a:t>
            </a:r>
            <a:endParaRPr lang="en-US" sz="1050" dirty="0"/>
          </a:p>
        </p:txBody>
      </p:sp>
      <p:sp>
        <p:nvSpPr>
          <p:cNvPr id="69" name="v:SortKeyAndReverse:x2key2|b3"/>
          <p:cNvSpPr txBox="1"/>
          <p:nvPr/>
        </p:nvSpPr>
        <p:spPr>
          <a:xfrm>
            <a:off x="5184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70" name="v:SortKeyAndReverse:x2in3:box|b3"/>
          <p:cNvSpPr/>
          <p:nvPr/>
        </p:nvSpPr>
        <p:spPr>
          <a:xfrm>
            <a:off x="6309360" y="3328416"/>
            <a:ext cx="1051560" cy="457200"/>
          </a:xfrm>
          <a:prstGeom prst="roundRect">
            <a:avLst>
              <a:gd name="adj" fmla="val 10000"/>
            </a:avLst>
          </a:prstGeom>
          <a:solidFill>
            <a:srgbClr val="E3EEF8"/>
          </a:solidFill>
          <a:ln w="19050">
            <a:solidFill>
              <a:srgbClr val="306998"/>
            </a:solidFill>
            <a:prstDash val="solid"/>
          </a:ln>
        </p:spPr>
      </p:sp>
      <p:sp>
        <p:nvSpPr>
          <p:cNvPr id="71" name="v:SortKeyAndReverse:x2in3|b3"/>
          <p:cNvSpPr txBox="1"/>
          <p:nvPr/>
        </p:nvSpPr>
        <p:spPr>
          <a:xfrm>
            <a:off x="6327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2)</a:t>
            </a:r>
            <a:endParaRPr lang="en-US" sz="1050" dirty="0"/>
          </a:p>
        </p:txBody>
      </p:sp>
      <p:sp>
        <p:nvSpPr>
          <p:cNvPr id="72" name="v:SortKeyAndReverse:x2key3|b3"/>
          <p:cNvSpPr txBox="1"/>
          <p:nvPr/>
        </p:nvSpPr>
        <p:spPr>
          <a:xfrm>
            <a:off x="6327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73" name="sortline|b3"/>
          <p:cNvSpPr/>
          <p:nvPr/>
        </p:nvSpPr>
        <p:spPr>
          <a:xfrm flipH="1">
            <a:off x="3406140" y="3785616"/>
            <a:ext cx="1143000" cy="274320"/>
          </a:xfrm>
          <a:prstGeom prst="line">
            <a:avLst/>
          </a:prstGeom>
          <a:noFill/>
          <a:ln w="19050">
            <a:solidFill>
              <a:srgbClr val="9AA8B8"/>
            </a:solidFill>
            <a:prstDash val="solid"/>
            <a:tailEnd type="triangle"/>
          </a:ln>
        </p:spPr>
      </p:sp>
      <p:sp>
        <p:nvSpPr>
          <p:cNvPr id="74" name="sortline|b3"/>
          <p:cNvSpPr/>
          <p:nvPr/>
        </p:nvSpPr>
        <p:spPr>
          <a:xfrm flipH="1">
            <a:off x="4549140" y="3785616"/>
            <a:ext cx="2286000" cy="274320"/>
          </a:xfrm>
          <a:prstGeom prst="line">
            <a:avLst/>
          </a:prstGeom>
          <a:noFill/>
          <a:ln w="19050">
            <a:solidFill>
              <a:srgbClr val="9AA8B8"/>
            </a:solidFill>
            <a:prstDash val="solid"/>
            <a:tailEnd type="triangle"/>
          </a:ln>
        </p:spPr>
      </p:sp>
      <p:sp>
        <p:nvSpPr>
          <p:cNvPr id="75" name="sortline|b3"/>
          <p:cNvSpPr/>
          <p:nvPr/>
        </p:nvSpPr>
        <p:spPr>
          <a:xfrm>
            <a:off x="3406140" y="3785616"/>
            <a:ext cx="2286000" cy="274320"/>
          </a:xfrm>
          <a:prstGeom prst="line">
            <a:avLst/>
          </a:prstGeom>
          <a:noFill/>
          <a:ln w="19050">
            <a:solidFill>
              <a:srgbClr val="9AA8B8"/>
            </a:solidFill>
            <a:prstDash val="solid"/>
            <a:tailEnd type="triangle"/>
          </a:ln>
        </p:spPr>
      </p:sp>
      <p:sp>
        <p:nvSpPr>
          <p:cNvPr id="76" name="sortline|b3"/>
          <p:cNvSpPr/>
          <p:nvPr/>
        </p:nvSpPr>
        <p:spPr>
          <a:xfrm>
            <a:off x="5692140" y="3785616"/>
            <a:ext cx="1143000" cy="274320"/>
          </a:xfrm>
          <a:prstGeom prst="line">
            <a:avLst/>
          </a:prstGeom>
          <a:noFill/>
          <a:ln w="19050">
            <a:solidFill>
              <a:srgbClr val="9AA8B8"/>
            </a:solidFill>
            <a:prstDash val="solid"/>
            <a:tailEnd type="triangle"/>
          </a:ln>
        </p:spPr>
      </p:sp>
      <p:sp>
        <p:nvSpPr>
          <p:cNvPr id="77" name="v:SortKeyAndReverse:x2out0:box|b3"/>
          <p:cNvSpPr/>
          <p:nvPr/>
        </p:nvSpPr>
        <p:spPr>
          <a:xfrm>
            <a:off x="2880360" y="4059936"/>
            <a:ext cx="1051560" cy="274320"/>
          </a:xfrm>
          <a:prstGeom prst="roundRect">
            <a:avLst>
              <a:gd name="adj" fmla="val 16667"/>
            </a:avLst>
          </a:prstGeom>
          <a:solidFill>
            <a:srgbClr val="DDF3E6"/>
          </a:solidFill>
          <a:ln w="19050">
            <a:solidFill>
              <a:srgbClr val="2E9E5B"/>
            </a:solidFill>
            <a:prstDash val="solid"/>
          </a:ln>
        </p:spPr>
      </p:sp>
      <p:sp>
        <p:nvSpPr>
          <p:cNvPr id="78" name="v:SortKeyAndReverse:x2out0|b3"/>
          <p:cNvSpPr txBox="1"/>
          <p:nvPr/>
        </p:nvSpPr>
        <p:spPr>
          <a:xfrm>
            <a:off x="2898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1)</a:t>
            </a:r>
            <a:endParaRPr lang="en-US" sz="1050" dirty="0"/>
          </a:p>
        </p:txBody>
      </p:sp>
      <p:sp>
        <p:nvSpPr>
          <p:cNvPr id="79" name="v:SortKeyAndReverse:x2out1:box|b3"/>
          <p:cNvSpPr/>
          <p:nvPr/>
        </p:nvSpPr>
        <p:spPr>
          <a:xfrm>
            <a:off x="4023360" y="4059936"/>
            <a:ext cx="1051560" cy="274320"/>
          </a:xfrm>
          <a:prstGeom prst="roundRect">
            <a:avLst>
              <a:gd name="adj" fmla="val 16667"/>
            </a:avLst>
          </a:prstGeom>
          <a:solidFill>
            <a:srgbClr val="DDF3E6"/>
          </a:solidFill>
          <a:ln w="19050">
            <a:solidFill>
              <a:srgbClr val="2E9E5B"/>
            </a:solidFill>
            <a:prstDash val="solid"/>
          </a:ln>
        </p:spPr>
      </p:sp>
      <p:sp>
        <p:nvSpPr>
          <p:cNvPr id="80" name="v:SortKeyAndReverse:x2out1|b3"/>
          <p:cNvSpPr txBox="1"/>
          <p:nvPr/>
        </p:nvSpPr>
        <p:spPr>
          <a:xfrm>
            <a:off x="4041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2)</a:t>
            </a:r>
            <a:endParaRPr lang="en-US" sz="1050" dirty="0"/>
          </a:p>
        </p:txBody>
      </p:sp>
      <p:sp>
        <p:nvSpPr>
          <p:cNvPr id="81" name="v:SortKeyAndReverse:x2out2:box|b3"/>
          <p:cNvSpPr/>
          <p:nvPr/>
        </p:nvSpPr>
        <p:spPr>
          <a:xfrm>
            <a:off x="5166360" y="4059936"/>
            <a:ext cx="1051560" cy="274320"/>
          </a:xfrm>
          <a:prstGeom prst="roundRect">
            <a:avLst>
              <a:gd name="adj" fmla="val 16667"/>
            </a:avLst>
          </a:prstGeom>
          <a:solidFill>
            <a:srgbClr val="DDF3E6"/>
          </a:solidFill>
          <a:ln w="19050">
            <a:solidFill>
              <a:srgbClr val="2E9E5B"/>
            </a:solidFill>
            <a:prstDash val="solid"/>
          </a:ln>
        </p:spPr>
      </p:sp>
      <p:sp>
        <p:nvSpPr>
          <p:cNvPr id="82" name="v:SortKeyAndReverse:x2out2|b3"/>
          <p:cNvSpPr txBox="1"/>
          <p:nvPr/>
        </p:nvSpPr>
        <p:spPr>
          <a:xfrm>
            <a:off x="5184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1)</a:t>
            </a:r>
            <a:endParaRPr lang="en-US" sz="1050" dirty="0"/>
          </a:p>
        </p:txBody>
      </p:sp>
      <p:sp>
        <p:nvSpPr>
          <p:cNvPr id="83" name="v:SortKeyAndReverse:x2out3:box|b3"/>
          <p:cNvSpPr/>
          <p:nvPr/>
        </p:nvSpPr>
        <p:spPr>
          <a:xfrm>
            <a:off x="6309360" y="4059936"/>
            <a:ext cx="1051560" cy="274320"/>
          </a:xfrm>
          <a:prstGeom prst="roundRect">
            <a:avLst>
              <a:gd name="adj" fmla="val 16667"/>
            </a:avLst>
          </a:prstGeom>
          <a:solidFill>
            <a:srgbClr val="DDF3E6"/>
          </a:solidFill>
          <a:ln w="19050">
            <a:solidFill>
              <a:srgbClr val="2E9E5B"/>
            </a:solidFill>
            <a:prstDash val="solid"/>
          </a:ln>
        </p:spPr>
      </p:sp>
      <p:sp>
        <p:nvSpPr>
          <p:cNvPr id="84" name="v:SortKeyAndReverse:x2out3|b3"/>
          <p:cNvSpPr txBox="1"/>
          <p:nvPr/>
        </p:nvSpPr>
        <p:spPr>
          <a:xfrm>
            <a:off x="6327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2)</a:t>
            </a:r>
            <a:endParaRPr lang="en-US" sz="1050" dirty="0"/>
          </a:p>
        </p:txBody>
      </p:sp>
      <p:sp>
        <p:nvSpPr>
          <p:cNvPr id="8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key and reverse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64" fill="hold">
                      <p:stCondLst>
                        <p:cond delay="indefinite"/>
                      </p:stCondLst>
                      <p:childTnLst>
                        <p:par>
                          <p:cTn id="165"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childTnLst>
                          </p:cTn>
                        </p:par>
                      </p:childTnLst>
                    </p:cTn>
                  </p:par>
                  <p:par>
                    <p:cTn id="244" fill="hold">
                      <p:stCondLst>
                        <p:cond delay="indefinite"/>
                      </p:stCondLst>
                      <p:childTnLst>
                        <p:par>
                          <p:cTn id="24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78"/>
                                        </p:tgtEl>
                                        <p:attrNameLst>
                                          <p:attrName>style.visibility</p:attrName>
                                        </p:attrNameLst>
                                      </p:cBhvr>
                                      <p:to>
                                        <p:strVal val="visible"/>
                                      </p:to>
                                    </p:set>
                                    <p:animEffect transition="in" filter="fade">
                                      <p:cBhvr>
                                        <p:cTn id="225" dur="400"/>
                                        <p:tgtEl>
                                          <p:spTgt spid="78"/>
                                        </p:tgtEl>
                                      </p:cBhvr>
                                    </p:animEffect>
                                  </p:childTnLst>
                                </p:cTn>
                              </p:par>
                              <p:par>
                                <p:cTn id="226" presetID="10" presetClass="entr" presetSubtype="0" fill="hold" nodeType="withEffect">
                                  <p:stCondLst>
                                    <p:cond delay="0"/>
                                  </p:stCondLst>
                                  <p:childTnLst>
                                    <p:set>
                                      <p:cBhvr>
                                        <p:cTn id="227" dur="1" fill="hold">
                                          <p:stCondLst>
                                            <p:cond delay="0"/>
                                          </p:stCondLst>
                                        </p:cTn>
                                        <p:tgtEl>
                                          <p:spTgt spid="79"/>
                                        </p:tgtEl>
                                        <p:attrNameLst>
                                          <p:attrName>style.visibility</p:attrName>
                                        </p:attrNameLst>
                                      </p:cBhvr>
                                      <p:to>
                                        <p:strVal val="visible"/>
                                      </p:to>
                                    </p:set>
                                    <p:animEffect transition="in" filter="fade">
                                      <p:cBhvr>
                                        <p:cTn id="228" dur="400"/>
                                        <p:tgtEl>
                                          <p:spTgt spid="79"/>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0"/>
                                        </p:tgtEl>
                                        <p:attrNameLst>
                                          <p:attrName>style.visibility</p:attrName>
                                        </p:attrNameLst>
                                      </p:cBhvr>
                                      <p:to>
                                        <p:strVal val="visible"/>
                                      </p:to>
                                    </p:set>
                                    <p:animEffect transition="in" filter="fade">
                                      <p:cBhvr>
                                        <p:cTn id="231" dur="400"/>
                                        <p:tgtEl>
                                          <p:spTgt spid="80"/>
                                        </p:tgtEl>
                                      </p:cBhvr>
                                    </p:animEffect>
                                  </p:childTnLst>
                                </p:cTn>
                              </p:par>
                              <p:par>
                                <p:cTn id="232" presetID="10" presetClass="entr" presetSubtype="0" fill="hold" nodeType="withEffect">
                                  <p:stCondLst>
                                    <p:cond delay="0"/>
                                  </p:stCondLst>
                                  <p:childTnLst>
                                    <p:set>
                                      <p:cBhvr>
                                        <p:cTn id="233" dur="1" fill="hold">
                                          <p:stCondLst>
                                            <p:cond delay="0"/>
                                          </p:stCondLst>
                                        </p:cTn>
                                        <p:tgtEl>
                                          <p:spTgt spid="81"/>
                                        </p:tgtEl>
                                        <p:attrNameLst>
                                          <p:attrName>style.visibility</p:attrName>
                                        </p:attrNameLst>
                                      </p:cBhvr>
                                      <p:to>
                                        <p:strVal val="visible"/>
                                      </p:to>
                                    </p:set>
                                    <p:animEffect transition="in" filter="fade">
                                      <p:cBhvr>
                                        <p:cTn id="234" dur="400"/>
                                        <p:tgtEl>
                                          <p:spTgt spid="81"/>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2"/>
                                        </p:tgtEl>
                                        <p:attrNameLst>
                                          <p:attrName>style.visibility</p:attrName>
                                        </p:attrNameLst>
                                      </p:cBhvr>
                                      <p:to>
                                        <p:strVal val="visible"/>
                                      </p:to>
                                    </p:set>
                                    <p:animEffect transition="in" filter="fade">
                                      <p:cBhvr>
                                        <p:cTn id="237" dur="400"/>
                                        <p:tgtEl>
                                          <p:spTgt spid="82"/>
                                        </p:tgtEl>
                                      </p:cBhvr>
                                    </p:animEffect>
                                  </p:childTnLst>
                                </p:cTn>
                              </p:par>
                              <p:par>
                                <p:cTn id="238" presetID="10" presetClass="entr" presetSubtype="0" fill="hold" nodeType="withEffect">
                                  <p:stCondLst>
                                    <p:cond delay="0"/>
                                  </p:stCondLst>
                                  <p:childTnLst>
                                    <p:set>
                                      <p:cBhvr>
                                        <p:cTn id="239" dur="1" fill="hold">
                                          <p:stCondLst>
                                            <p:cond delay="0"/>
                                          </p:stCondLst>
                                        </p:cTn>
                                        <p:tgtEl>
                                          <p:spTgt spid="83"/>
                                        </p:tgtEl>
                                        <p:attrNameLst>
                                          <p:attrName>style.visibility</p:attrName>
                                        </p:attrNameLst>
                                      </p:cBhvr>
                                      <p:to>
                                        <p:strVal val="visible"/>
                                      </p:to>
                                    </p:set>
                                    <p:animEffect transition="in" filter="fade">
                                      <p:cBhvr>
                                        <p:cTn id="240" dur="400"/>
                                        <p:tgtEl>
                                          <p:spTgt spid="83"/>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4"/>
                                        </p:tgtEl>
                                        <p:attrNameLst>
                                          <p:attrName>style.visibility</p:attrName>
                                        </p:attrNameLst>
                                      </p:cBhvr>
                                      <p:to>
                                        <p:strVal val="visible"/>
                                      </p:to>
                                    </p:set>
                                    <p:animEffect transition="in" filter="fade">
                                      <p:cBhvr>
                                        <p:cTn id="243"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5" grpId="0" animBg="1"/>
      <p:bldP spid="27" grpId="0" animBg="1"/>
      <p:bldP spid="29" grpId="0" animBg="1"/>
      <p:bldP spid="31" grpId="0" animBg="1"/>
      <p:bldP spid="32" grpId="0" animBg="1"/>
      <p:bldP spid="33" grpId="0" animBg="1"/>
      <p:bldP spid="35" grpId="0" animBg="1"/>
      <p:bldP spid="37" grpId="0" animBg="1"/>
      <p:bldP spid="39" grpId="0" animBg="1"/>
      <p:bldP spid="41" grpId="0" animBg="1"/>
      <p:bldP spid="43" grpId="0" animBg="1"/>
      <p:bldP spid="50" grpId="0" animBg="1"/>
      <p:bldP spid="52" grpId="0" animBg="1"/>
      <p:bldP spid="54" grpId="0" animBg="1"/>
      <p:bldP spid="56" grpId="0" animBg="1"/>
      <p:bldP spid="58" grpId="0" animBg="1"/>
      <p:bldP spid="59" grpId="0" animBg="1"/>
      <p:bldP spid="60" grpId="0" animBg="1"/>
      <p:bldP spid="62" grpId="0" animBg="1"/>
      <p:bldP spid="63" grpId="0" animBg="1"/>
      <p:bldP spid="65" grpId="0" animBg="1"/>
      <p:bldP spid="66" grpId="0" animBg="1"/>
      <p:bldP spid="68" grpId="0" animBg="1"/>
      <p:bldP spid="69" grpId="0" animBg="1"/>
      <p:bldP spid="71" grpId="0" animBg="1"/>
      <p:bldP spid="72" grpId="0" animBg="1"/>
      <p:bldP spid="78" grpId="0" animBg="1"/>
      <p:bldP spid="80" grpId="0" animBg="1"/>
      <p:bldP spid="82" grpId="0" animBg="1"/>
      <p:bldP spid="8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4</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Loops and unpacking</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A for loop and a multiple assignment are the two ways the chapter takes a list apart.</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Looping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Range len loop</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Enumerate loop</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Mutation while iterating</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comprehension</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Unpacking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Multiple assignment</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Starred unpacking</a:t>
            </a:r>
            <a:endParaRPr lang="en-US" sz="1200" dirty="0"/>
          </a:p>
        </p:txBody>
      </p:sp>
      <p:sp>
        <p:nvSpPr>
          <p:cNvPr id="20" name="x"/>
          <p:cNvSpPr/>
          <p:nvPr/>
        </p:nvSpPr>
        <p:spPr>
          <a:xfrm>
            <a:off x="548640" y="4572000"/>
            <a:ext cx="1267968" cy="64008"/>
          </a:xfrm>
          <a:prstGeom prst="rect">
            <a:avLst/>
          </a:prstGeom>
          <a:solidFill>
            <a:srgbClr val="4A5D75"/>
          </a:solidFill>
          <a:ln w="12700">
            <a:solidFill>
              <a:srgbClr val="4A5D75"/>
            </a:solidFill>
            <a:prstDash val="solid"/>
          </a:ln>
        </p:spPr>
      </p:sp>
      <p:sp>
        <p:nvSpPr>
          <p:cNvPr id="21" name="x"/>
          <p:cNvSpPr/>
          <p:nvPr/>
        </p:nvSpPr>
        <p:spPr>
          <a:xfrm>
            <a:off x="1889760" y="4572000"/>
            <a:ext cx="1267968" cy="64008"/>
          </a:xfrm>
          <a:prstGeom prst="rect">
            <a:avLst/>
          </a:prstGeom>
          <a:solidFill>
            <a:srgbClr val="4A5D75"/>
          </a:solidFill>
          <a:ln w="12700">
            <a:solidFill>
              <a:srgbClr val="4A5D75"/>
            </a:solidFill>
            <a:prstDash val="solid"/>
          </a:ln>
        </p:spPr>
      </p:sp>
      <p:sp>
        <p:nvSpPr>
          <p:cNvPr id="22" name="x"/>
          <p:cNvSpPr/>
          <p:nvPr/>
        </p:nvSpPr>
        <p:spPr>
          <a:xfrm>
            <a:off x="3230880" y="4572000"/>
            <a:ext cx="1267968" cy="64008"/>
          </a:xfrm>
          <a:prstGeom prst="rect">
            <a:avLst/>
          </a:prstGeom>
          <a:solidFill>
            <a:srgbClr val="4A5D75"/>
          </a:solidFill>
          <a:ln w="12700">
            <a:solidFill>
              <a:srgbClr val="4A5D75"/>
            </a:solidFill>
            <a:prstDash val="solid"/>
          </a:ln>
        </p:spPr>
      </p:sp>
      <p:sp>
        <p:nvSpPr>
          <p:cNvPr id="23" name="x"/>
          <p:cNvSpPr/>
          <p:nvPr/>
        </p:nvSpPr>
        <p:spPr>
          <a:xfrm>
            <a:off x="4572000" y="4572000"/>
            <a:ext cx="1267968" cy="64008"/>
          </a:xfrm>
          <a:prstGeom prst="rect">
            <a:avLst/>
          </a:prstGeom>
          <a:solidFill>
            <a:srgbClr val="FFD43B"/>
          </a:solidFill>
          <a:ln w="12700">
            <a:solidFill>
              <a:srgbClr val="FFD43B"/>
            </a:solidFill>
            <a:prstDash val="solid"/>
          </a:ln>
        </p:spPr>
      </p:sp>
      <p:sp>
        <p:nvSpPr>
          <p:cNvPr id="24" name="x"/>
          <p:cNvSpPr/>
          <p:nvPr/>
        </p:nvSpPr>
        <p:spPr>
          <a:xfrm>
            <a:off x="5913120" y="4572000"/>
            <a:ext cx="1267968" cy="64008"/>
          </a:xfrm>
          <a:prstGeom prst="rect">
            <a:avLst/>
          </a:prstGeom>
          <a:solidFill>
            <a:srgbClr val="4A5D75"/>
          </a:solidFill>
          <a:ln w="12700">
            <a:solidFill>
              <a:srgbClr val="4A5D75"/>
            </a:solidFill>
            <a:prstDash val="solid"/>
          </a:ln>
        </p:spPr>
      </p:sp>
      <p:sp>
        <p:nvSpPr>
          <p:cNvPr id="25"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47" fill="hold">
                      <p:stCondLst>
                        <p:cond delay="indefinite"/>
                      </p:stCondLst>
                      <p:childTnLst>
                        <p:par>
                          <p:cTn id="48"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range(len()) and enumerate() visit the same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loops, the same four passes, the same four lines</a:t>
            </a:r>
            <a:endParaRPr lang="en-US" sz="1400" dirty="0"/>
          </a:p>
        </p:txBody>
      </p:sp>
      <p:sp>
        <p:nvSpPr>
          <p:cNvPr id="6" name="v:Looping:t0head|b1"/>
          <p:cNvSpPr txBox="1"/>
          <p:nvPr/>
        </p:nvSpPr>
        <p:spPr>
          <a:xfrm>
            <a:off x="365760" y="1188720"/>
            <a:ext cx="2651760" cy="274320"/>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for i in range(len(supplies)):</a:t>
            </a:r>
            <a:endParaRPr lang="en-US" sz="1100" dirty="0"/>
          </a:p>
        </p:txBody>
      </p:sp>
      <p:sp>
        <p:nvSpPr>
          <p:cNvPr id="7" name="v:Looping:t0h0:box|b1"/>
          <p:cNvSpPr/>
          <p:nvPr/>
        </p:nvSpPr>
        <p:spPr>
          <a:xfrm>
            <a:off x="365760" y="1517904"/>
            <a:ext cx="740664" cy="274320"/>
          </a:xfrm>
          <a:prstGeom prst="rect">
            <a:avLst/>
          </a:prstGeom>
          <a:solidFill>
            <a:srgbClr val="1E2A3A"/>
          </a:solidFill>
          <a:ln w="12700">
            <a:solidFill>
              <a:srgbClr val="1E2A3A"/>
            </a:solidFill>
            <a:prstDash val="solid"/>
          </a:ln>
        </p:spPr>
      </p:sp>
      <p:sp>
        <p:nvSpPr>
          <p:cNvPr id="8" name="v:Looping:t0h0|b1"/>
          <p:cNvSpPr txBox="1"/>
          <p:nvPr/>
        </p:nvSpPr>
        <p:spPr>
          <a:xfrm>
            <a:off x="41148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a:t>
            </a:r>
            <a:endParaRPr lang="en-US" sz="1050" dirty="0"/>
          </a:p>
        </p:txBody>
      </p:sp>
      <p:sp>
        <p:nvSpPr>
          <p:cNvPr id="9" name="v:Looping:t0h1:box|b1"/>
          <p:cNvSpPr/>
          <p:nvPr/>
        </p:nvSpPr>
        <p:spPr>
          <a:xfrm>
            <a:off x="1143000" y="1517904"/>
            <a:ext cx="1837944" cy="274320"/>
          </a:xfrm>
          <a:prstGeom prst="rect">
            <a:avLst/>
          </a:prstGeom>
          <a:solidFill>
            <a:srgbClr val="1E2A3A"/>
          </a:solidFill>
          <a:ln w="12700">
            <a:solidFill>
              <a:srgbClr val="1E2A3A"/>
            </a:solidFill>
            <a:prstDash val="solid"/>
          </a:ln>
        </p:spPr>
      </p:sp>
      <p:sp>
        <p:nvSpPr>
          <p:cNvPr id="10" name="v:Looping:t0h1|b1"/>
          <p:cNvSpPr txBox="1"/>
          <p:nvPr/>
        </p:nvSpPr>
        <p:spPr>
          <a:xfrm>
            <a:off x="118872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supplies[i]</a:t>
            </a:r>
            <a:endParaRPr lang="en-US" sz="1050" dirty="0"/>
          </a:p>
        </p:txBody>
      </p:sp>
      <p:sp>
        <p:nvSpPr>
          <p:cNvPr id="11" name="v:Looping:t0r0c0:box|b1"/>
          <p:cNvSpPr/>
          <p:nvPr/>
        </p:nvSpPr>
        <p:spPr>
          <a:xfrm>
            <a:off x="365760" y="1828800"/>
            <a:ext cx="740664" cy="292608"/>
          </a:xfrm>
          <a:prstGeom prst="rect">
            <a:avLst/>
          </a:prstGeom>
          <a:solidFill>
            <a:srgbClr val="F1F4F8"/>
          </a:solidFill>
          <a:ln w="12700">
            <a:solidFill>
              <a:srgbClr val="F1F4F8"/>
            </a:solidFill>
            <a:prstDash val="solid"/>
          </a:ln>
        </p:spPr>
      </p:sp>
      <p:sp>
        <p:nvSpPr>
          <p:cNvPr id="12" name="v:Looping:t0r0c0|b1"/>
          <p:cNvSpPr txBox="1"/>
          <p:nvPr/>
        </p:nvSpPr>
        <p:spPr>
          <a:xfrm>
            <a:off x="41148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13" name="v:Looping:t0r0c1:box|b1"/>
          <p:cNvSpPr/>
          <p:nvPr/>
        </p:nvSpPr>
        <p:spPr>
          <a:xfrm>
            <a:off x="1143000" y="1828800"/>
            <a:ext cx="1837944" cy="292608"/>
          </a:xfrm>
          <a:prstGeom prst="rect">
            <a:avLst/>
          </a:prstGeom>
          <a:solidFill>
            <a:srgbClr val="F1F4F8"/>
          </a:solidFill>
          <a:ln w="12700">
            <a:solidFill>
              <a:srgbClr val="F1F4F8"/>
            </a:solidFill>
            <a:prstDash val="solid"/>
          </a:ln>
        </p:spPr>
      </p:sp>
      <p:sp>
        <p:nvSpPr>
          <p:cNvPr id="14" name="v:Looping:t0r0c1|b1"/>
          <p:cNvSpPr txBox="1"/>
          <p:nvPr/>
        </p:nvSpPr>
        <p:spPr>
          <a:xfrm>
            <a:off x="118872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15" name="v:Looping:t0r1c0:box|b1"/>
          <p:cNvSpPr/>
          <p:nvPr/>
        </p:nvSpPr>
        <p:spPr>
          <a:xfrm>
            <a:off x="365760" y="2157984"/>
            <a:ext cx="740664" cy="292608"/>
          </a:xfrm>
          <a:prstGeom prst="rect">
            <a:avLst/>
          </a:prstGeom>
          <a:solidFill>
            <a:srgbClr val="F1F4F8"/>
          </a:solidFill>
          <a:ln w="12700">
            <a:solidFill>
              <a:srgbClr val="F1F4F8"/>
            </a:solidFill>
            <a:prstDash val="solid"/>
          </a:ln>
        </p:spPr>
      </p:sp>
      <p:sp>
        <p:nvSpPr>
          <p:cNvPr id="16" name="v:Looping:t0r1c0|b1"/>
          <p:cNvSpPr txBox="1"/>
          <p:nvPr/>
        </p:nvSpPr>
        <p:spPr>
          <a:xfrm>
            <a:off x="41148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17" name="v:Looping:t0r1c1:box|b1"/>
          <p:cNvSpPr/>
          <p:nvPr/>
        </p:nvSpPr>
        <p:spPr>
          <a:xfrm>
            <a:off x="1143000" y="2157984"/>
            <a:ext cx="1837944" cy="292608"/>
          </a:xfrm>
          <a:prstGeom prst="rect">
            <a:avLst/>
          </a:prstGeom>
          <a:solidFill>
            <a:srgbClr val="F1F4F8"/>
          </a:solidFill>
          <a:ln w="12700">
            <a:solidFill>
              <a:srgbClr val="F1F4F8"/>
            </a:solidFill>
            <a:prstDash val="solid"/>
          </a:ln>
        </p:spPr>
      </p:sp>
      <p:sp>
        <p:nvSpPr>
          <p:cNvPr id="18" name="v:Looping:t0r1c1|b1"/>
          <p:cNvSpPr txBox="1"/>
          <p:nvPr/>
        </p:nvSpPr>
        <p:spPr>
          <a:xfrm>
            <a:off x="118872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19" name="v:Looping:t0r2c0:box|b1"/>
          <p:cNvSpPr/>
          <p:nvPr/>
        </p:nvSpPr>
        <p:spPr>
          <a:xfrm>
            <a:off x="365760" y="2487168"/>
            <a:ext cx="740664" cy="292608"/>
          </a:xfrm>
          <a:prstGeom prst="rect">
            <a:avLst/>
          </a:prstGeom>
          <a:solidFill>
            <a:srgbClr val="F1F4F8"/>
          </a:solidFill>
          <a:ln w="12700">
            <a:solidFill>
              <a:srgbClr val="F1F4F8"/>
            </a:solidFill>
            <a:prstDash val="solid"/>
          </a:ln>
        </p:spPr>
      </p:sp>
      <p:sp>
        <p:nvSpPr>
          <p:cNvPr id="20" name="v:Looping:t0r2c0|b1"/>
          <p:cNvSpPr txBox="1"/>
          <p:nvPr/>
        </p:nvSpPr>
        <p:spPr>
          <a:xfrm>
            <a:off x="41148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21" name="v:Looping:t0r2c1:box|b1"/>
          <p:cNvSpPr/>
          <p:nvPr/>
        </p:nvSpPr>
        <p:spPr>
          <a:xfrm>
            <a:off x="1143000" y="2487168"/>
            <a:ext cx="1837944" cy="292608"/>
          </a:xfrm>
          <a:prstGeom prst="rect">
            <a:avLst/>
          </a:prstGeom>
          <a:solidFill>
            <a:srgbClr val="F1F4F8"/>
          </a:solidFill>
          <a:ln w="12700">
            <a:solidFill>
              <a:srgbClr val="F1F4F8"/>
            </a:solidFill>
            <a:prstDash val="solid"/>
          </a:ln>
        </p:spPr>
      </p:sp>
      <p:sp>
        <p:nvSpPr>
          <p:cNvPr id="22" name="v:Looping:t0r2c1|b1"/>
          <p:cNvSpPr txBox="1"/>
          <p:nvPr/>
        </p:nvSpPr>
        <p:spPr>
          <a:xfrm>
            <a:off x="118872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23" name="v:Looping:t0r3c0:box|b1"/>
          <p:cNvSpPr/>
          <p:nvPr/>
        </p:nvSpPr>
        <p:spPr>
          <a:xfrm>
            <a:off x="365760" y="2816352"/>
            <a:ext cx="740664" cy="292608"/>
          </a:xfrm>
          <a:prstGeom prst="rect">
            <a:avLst/>
          </a:prstGeom>
          <a:solidFill>
            <a:srgbClr val="F1F4F8"/>
          </a:solidFill>
          <a:ln w="12700">
            <a:solidFill>
              <a:srgbClr val="F1F4F8"/>
            </a:solidFill>
            <a:prstDash val="solid"/>
          </a:ln>
        </p:spPr>
      </p:sp>
      <p:sp>
        <p:nvSpPr>
          <p:cNvPr id="24" name="v:Looping:t0r3c0|b1"/>
          <p:cNvSpPr txBox="1"/>
          <p:nvPr/>
        </p:nvSpPr>
        <p:spPr>
          <a:xfrm>
            <a:off x="41148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25" name="v:Looping:t0r3c1:box|b1"/>
          <p:cNvSpPr/>
          <p:nvPr/>
        </p:nvSpPr>
        <p:spPr>
          <a:xfrm>
            <a:off x="1143000" y="2816352"/>
            <a:ext cx="1837944" cy="292608"/>
          </a:xfrm>
          <a:prstGeom prst="rect">
            <a:avLst/>
          </a:prstGeom>
          <a:solidFill>
            <a:srgbClr val="F1F4F8"/>
          </a:solidFill>
          <a:ln w="12700">
            <a:solidFill>
              <a:srgbClr val="F1F4F8"/>
            </a:solidFill>
            <a:prstDash val="solid"/>
          </a:ln>
        </p:spPr>
      </p:sp>
      <p:sp>
        <p:nvSpPr>
          <p:cNvPr id="26" name="v:Looping:t0r3c1|b1"/>
          <p:cNvSpPr txBox="1"/>
          <p:nvPr/>
        </p:nvSpPr>
        <p:spPr>
          <a:xfrm>
            <a:off x="118872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27" name="v:Looping:t1head|b2"/>
          <p:cNvSpPr txBox="1"/>
          <p:nvPr/>
        </p:nvSpPr>
        <p:spPr>
          <a:xfrm>
            <a:off x="3154680" y="1188720"/>
            <a:ext cx="2651760" cy="274320"/>
          </a:xfrm>
          <a:prstGeom prst="rect">
            <a:avLst/>
          </a:prstGeom>
          <a:noFill/>
          <a:ln/>
        </p:spPr>
        <p:txBody>
          <a:bodyPr wrap="square" lIns="0" tIns="0" rIns="0" bIns="0" rtlCol="0" anchor="ctr"/>
          <a:lstStyle/>
          <a:p>
            <a:pPr indent="0" marL="0">
              <a:buNone/>
            </a:pPr>
            <a:r>
              <a:rPr lang="en-US" sz="871" b="1" dirty="0">
                <a:solidFill>
                  <a:srgbClr val="1E2A3A"/>
                </a:solidFill>
                <a:latin typeface="Courier New" pitchFamily="34" charset="0"/>
                <a:ea typeface="Courier New" pitchFamily="34" charset="-122"/>
                <a:cs typeface="Courier New" pitchFamily="34" charset="-120"/>
              </a:rPr>
              <a:t>for index, item in enumerate(supplies):</a:t>
            </a:r>
            <a:endParaRPr lang="en-US" sz="871" dirty="0"/>
          </a:p>
        </p:txBody>
      </p:sp>
      <p:sp>
        <p:nvSpPr>
          <p:cNvPr id="28" name="v:Looping:t1h0:box|b2"/>
          <p:cNvSpPr/>
          <p:nvPr/>
        </p:nvSpPr>
        <p:spPr>
          <a:xfrm>
            <a:off x="3154680" y="1517904"/>
            <a:ext cx="740664" cy="274320"/>
          </a:xfrm>
          <a:prstGeom prst="rect">
            <a:avLst/>
          </a:prstGeom>
          <a:solidFill>
            <a:srgbClr val="1E2A3A"/>
          </a:solidFill>
          <a:ln w="12700">
            <a:solidFill>
              <a:srgbClr val="1E2A3A"/>
            </a:solidFill>
            <a:prstDash val="solid"/>
          </a:ln>
        </p:spPr>
      </p:sp>
      <p:sp>
        <p:nvSpPr>
          <p:cNvPr id="29" name="v:Looping:t1h0|b2"/>
          <p:cNvSpPr txBox="1"/>
          <p:nvPr/>
        </p:nvSpPr>
        <p:spPr>
          <a:xfrm>
            <a:off x="320040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index</a:t>
            </a:r>
            <a:endParaRPr lang="en-US" sz="1050" dirty="0"/>
          </a:p>
        </p:txBody>
      </p:sp>
      <p:sp>
        <p:nvSpPr>
          <p:cNvPr id="30" name="v:Looping:t1h1:box|b2"/>
          <p:cNvSpPr/>
          <p:nvPr/>
        </p:nvSpPr>
        <p:spPr>
          <a:xfrm>
            <a:off x="3931920" y="1517904"/>
            <a:ext cx="1837944" cy="274320"/>
          </a:xfrm>
          <a:prstGeom prst="rect">
            <a:avLst/>
          </a:prstGeom>
          <a:solidFill>
            <a:srgbClr val="1E2A3A"/>
          </a:solidFill>
          <a:ln w="12700">
            <a:solidFill>
              <a:srgbClr val="1E2A3A"/>
            </a:solidFill>
            <a:prstDash val="solid"/>
          </a:ln>
        </p:spPr>
      </p:sp>
      <p:sp>
        <p:nvSpPr>
          <p:cNvPr id="31" name="v:Looping:t1h1|b2"/>
          <p:cNvSpPr txBox="1"/>
          <p:nvPr/>
        </p:nvSpPr>
        <p:spPr>
          <a:xfrm>
            <a:off x="397764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item</a:t>
            </a:r>
            <a:endParaRPr lang="en-US" sz="1050" dirty="0"/>
          </a:p>
        </p:txBody>
      </p:sp>
      <p:sp>
        <p:nvSpPr>
          <p:cNvPr id="32" name="v:Looping:t1r0c0:box|b2"/>
          <p:cNvSpPr/>
          <p:nvPr/>
        </p:nvSpPr>
        <p:spPr>
          <a:xfrm>
            <a:off x="3154680" y="1828800"/>
            <a:ext cx="740664" cy="292608"/>
          </a:xfrm>
          <a:prstGeom prst="rect">
            <a:avLst/>
          </a:prstGeom>
          <a:solidFill>
            <a:srgbClr val="F1F4F8"/>
          </a:solidFill>
          <a:ln w="12700">
            <a:solidFill>
              <a:srgbClr val="F1F4F8"/>
            </a:solidFill>
            <a:prstDash val="solid"/>
          </a:ln>
        </p:spPr>
      </p:sp>
      <p:sp>
        <p:nvSpPr>
          <p:cNvPr id="33" name="v:Looping:t1r0c0|b2"/>
          <p:cNvSpPr txBox="1"/>
          <p:nvPr/>
        </p:nvSpPr>
        <p:spPr>
          <a:xfrm>
            <a:off x="320040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4" name="v:Looping:t1r0c1:box|b2"/>
          <p:cNvSpPr/>
          <p:nvPr/>
        </p:nvSpPr>
        <p:spPr>
          <a:xfrm>
            <a:off x="3931920" y="1828800"/>
            <a:ext cx="1837944" cy="292608"/>
          </a:xfrm>
          <a:prstGeom prst="rect">
            <a:avLst/>
          </a:prstGeom>
          <a:solidFill>
            <a:srgbClr val="F1F4F8"/>
          </a:solidFill>
          <a:ln w="12700">
            <a:solidFill>
              <a:srgbClr val="F1F4F8"/>
            </a:solidFill>
            <a:prstDash val="solid"/>
          </a:ln>
        </p:spPr>
      </p:sp>
      <p:sp>
        <p:nvSpPr>
          <p:cNvPr id="35" name="v:Looping:t1r0c1|b2"/>
          <p:cNvSpPr txBox="1"/>
          <p:nvPr/>
        </p:nvSpPr>
        <p:spPr>
          <a:xfrm>
            <a:off x="397764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36" name="v:Looping:t1r1c0:box|b2"/>
          <p:cNvSpPr/>
          <p:nvPr/>
        </p:nvSpPr>
        <p:spPr>
          <a:xfrm>
            <a:off x="3154680" y="2157984"/>
            <a:ext cx="740664" cy="292608"/>
          </a:xfrm>
          <a:prstGeom prst="rect">
            <a:avLst/>
          </a:prstGeom>
          <a:solidFill>
            <a:srgbClr val="F1F4F8"/>
          </a:solidFill>
          <a:ln w="12700">
            <a:solidFill>
              <a:srgbClr val="F1F4F8"/>
            </a:solidFill>
            <a:prstDash val="solid"/>
          </a:ln>
        </p:spPr>
      </p:sp>
      <p:sp>
        <p:nvSpPr>
          <p:cNvPr id="37" name="v:Looping:t1r1c0|b2"/>
          <p:cNvSpPr txBox="1"/>
          <p:nvPr/>
        </p:nvSpPr>
        <p:spPr>
          <a:xfrm>
            <a:off x="320040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8" name="v:Looping:t1r1c1:box|b2"/>
          <p:cNvSpPr/>
          <p:nvPr/>
        </p:nvSpPr>
        <p:spPr>
          <a:xfrm>
            <a:off x="3931920" y="2157984"/>
            <a:ext cx="1837944" cy="292608"/>
          </a:xfrm>
          <a:prstGeom prst="rect">
            <a:avLst/>
          </a:prstGeom>
          <a:solidFill>
            <a:srgbClr val="F1F4F8"/>
          </a:solidFill>
          <a:ln w="12700">
            <a:solidFill>
              <a:srgbClr val="F1F4F8"/>
            </a:solidFill>
            <a:prstDash val="solid"/>
          </a:ln>
        </p:spPr>
      </p:sp>
      <p:sp>
        <p:nvSpPr>
          <p:cNvPr id="39" name="v:Looping:t1r1c1|b2"/>
          <p:cNvSpPr txBox="1"/>
          <p:nvPr/>
        </p:nvSpPr>
        <p:spPr>
          <a:xfrm>
            <a:off x="397764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40" name="v:Looping:t1r2c0:box|b2"/>
          <p:cNvSpPr/>
          <p:nvPr/>
        </p:nvSpPr>
        <p:spPr>
          <a:xfrm>
            <a:off x="3154680" y="2487168"/>
            <a:ext cx="740664" cy="292608"/>
          </a:xfrm>
          <a:prstGeom prst="rect">
            <a:avLst/>
          </a:prstGeom>
          <a:solidFill>
            <a:srgbClr val="F1F4F8"/>
          </a:solidFill>
          <a:ln w="12700">
            <a:solidFill>
              <a:srgbClr val="F1F4F8"/>
            </a:solidFill>
            <a:prstDash val="solid"/>
          </a:ln>
        </p:spPr>
      </p:sp>
      <p:sp>
        <p:nvSpPr>
          <p:cNvPr id="41" name="v:Looping:t1r2c0|b2"/>
          <p:cNvSpPr txBox="1"/>
          <p:nvPr/>
        </p:nvSpPr>
        <p:spPr>
          <a:xfrm>
            <a:off x="320040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2" name="v:Looping:t1r2c1:box|b2"/>
          <p:cNvSpPr/>
          <p:nvPr/>
        </p:nvSpPr>
        <p:spPr>
          <a:xfrm>
            <a:off x="3931920" y="2487168"/>
            <a:ext cx="1837944" cy="292608"/>
          </a:xfrm>
          <a:prstGeom prst="rect">
            <a:avLst/>
          </a:prstGeom>
          <a:solidFill>
            <a:srgbClr val="F1F4F8"/>
          </a:solidFill>
          <a:ln w="12700">
            <a:solidFill>
              <a:srgbClr val="F1F4F8"/>
            </a:solidFill>
            <a:prstDash val="solid"/>
          </a:ln>
        </p:spPr>
      </p:sp>
      <p:sp>
        <p:nvSpPr>
          <p:cNvPr id="43" name="v:Looping:t1r2c1|b2"/>
          <p:cNvSpPr txBox="1"/>
          <p:nvPr/>
        </p:nvSpPr>
        <p:spPr>
          <a:xfrm>
            <a:off x="397764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44" name="v:Looping:t1r3c0:box|b2"/>
          <p:cNvSpPr/>
          <p:nvPr/>
        </p:nvSpPr>
        <p:spPr>
          <a:xfrm>
            <a:off x="3154680" y="2816352"/>
            <a:ext cx="740664" cy="292608"/>
          </a:xfrm>
          <a:prstGeom prst="rect">
            <a:avLst/>
          </a:prstGeom>
          <a:solidFill>
            <a:srgbClr val="F1F4F8"/>
          </a:solidFill>
          <a:ln w="12700">
            <a:solidFill>
              <a:srgbClr val="F1F4F8"/>
            </a:solidFill>
            <a:prstDash val="solid"/>
          </a:ln>
        </p:spPr>
      </p:sp>
      <p:sp>
        <p:nvSpPr>
          <p:cNvPr id="45" name="v:Looping:t1r3c0|b2"/>
          <p:cNvSpPr txBox="1"/>
          <p:nvPr/>
        </p:nvSpPr>
        <p:spPr>
          <a:xfrm>
            <a:off x="320040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6" name="v:Looping:t1r3c1:box|b2"/>
          <p:cNvSpPr/>
          <p:nvPr/>
        </p:nvSpPr>
        <p:spPr>
          <a:xfrm>
            <a:off x="3931920" y="2816352"/>
            <a:ext cx="1837944" cy="292608"/>
          </a:xfrm>
          <a:prstGeom prst="rect">
            <a:avLst/>
          </a:prstGeom>
          <a:solidFill>
            <a:srgbClr val="F1F4F8"/>
          </a:solidFill>
          <a:ln w="12700">
            <a:solidFill>
              <a:srgbClr val="F1F4F8"/>
            </a:solidFill>
            <a:prstDash val="solid"/>
          </a:ln>
        </p:spPr>
      </p:sp>
      <p:sp>
        <p:nvSpPr>
          <p:cNvPr id="47" name="v:Looping:t1r3c1|b2"/>
          <p:cNvSpPr txBox="1"/>
          <p:nvPr/>
        </p:nvSpPr>
        <p:spPr>
          <a:xfrm>
            <a:off x="397764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48" name="v:Looping:plabel|b3"/>
          <p:cNvSpPr txBox="1"/>
          <p:nvPr/>
        </p:nvSpPr>
        <p:spPr>
          <a:xfrm>
            <a:off x="6035040" y="1188720"/>
            <a:ext cx="27432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both loops printed</a:t>
            </a:r>
            <a:endParaRPr lang="en-US" sz="1200" dirty="0"/>
          </a:p>
        </p:txBody>
      </p:sp>
      <p:sp>
        <p:nvSpPr>
          <p:cNvPr id="49" name="v:Looping:pbox:box|b3"/>
          <p:cNvSpPr/>
          <p:nvPr/>
        </p:nvSpPr>
        <p:spPr>
          <a:xfrm>
            <a:off x="6035040" y="1517904"/>
            <a:ext cx="2743200" cy="1335024"/>
          </a:xfrm>
          <a:prstGeom prst="roundRect">
            <a:avLst>
              <a:gd name="adj" fmla="val 5479"/>
            </a:avLst>
          </a:prstGeom>
          <a:solidFill>
            <a:srgbClr val="17202B"/>
          </a:solidFill>
          <a:ln w="12700">
            <a:solidFill>
              <a:srgbClr val="17202B"/>
            </a:solidFill>
            <a:prstDash val="solid"/>
          </a:ln>
        </p:spPr>
      </p:sp>
      <p:sp>
        <p:nvSpPr>
          <p:cNvPr id="50" name="v:Looping:p0|b3"/>
          <p:cNvSpPr txBox="1"/>
          <p:nvPr/>
        </p:nvSpPr>
        <p:spPr>
          <a:xfrm>
            <a:off x="6144768" y="1554480"/>
            <a:ext cx="2560320" cy="292608"/>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Index 0 in supplies is: pens</a:t>
            </a:r>
            <a:endParaRPr lang="en-US" sz="1100" dirty="0"/>
          </a:p>
        </p:txBody>
      </p:sp>
      <p:sp>
        <p:nvSpPr>
          <p:cNvPr id="51" name="v:Looping:p1|b3"/>
          <p:cNvSpPr txBox="1"/>
          <p:nvPr/>
        </p:nvSpPr>
        <p:spPr>
          <a:xfrm>
            <a:off x="6144768" y="1883664"/>
            <a:ext cx="2560320" cy="292608"/>
          </a:xfrm>
          <a:prstGeom prst="rect">
            <a:avLst/>
          </a:prstGeom>
          <a:noFill/>
          <a:ln/>
        </p:spPr>
        <p:txBody>
          <a:bodyPr wrap="square" lIns="0" tIns="0" rIns="0" bIns="0" rtlCol="0" anchor="ctr"/>
          <a:lstStyle/>
          <a:p>
            <a:pPr indent="0" marL="0">
              <a:buNone/>
            </a:pPr>
            <a:r>
              <a:rPr lang="en-US" sz="1024" dirty="0">
                <a:solidFill>
                  <a:srgbClr val="E6EDF3"/>
                </a:solidFill>
                <a:latin typeface="Courier New" pitchFamily="34" charset="0"/>
                <a:ea typeface="Courier New" pitchFamily="34" charset="-122"/>
                <a:cs typeface="Courier New" pitchFamily="34" charset="-120"/>
              </a:rPr>
              <a:t>Index 1 in supplies is: staplers</a:t>
            </a:r>
            <a:endParaRPr lang="en-US" sz="1024" dirty="0"/>
          </a:p>
        </p:txBody>
      </p:sp>
      <p:sp>
        <p:nvSpPr>
          <p:cNvPr id="52" name="v:Looping:p2|b3"/>
          <p:cNvSpPr txBox="1"/>
          <p:nvPr/>
        </p:nvSpPr>
        <p:spPr>
          <a:xfrm>
            <a:off x="6144768" y="2212848"/>
            <a:ext cx="2560320" cy="292608"/>
          </a:xfrm>
          <a:prstGeom prst="rect">
            <a:avLst/>
          </a:prstGeom>
          <a:noFill/>
          <a:ln/>
        </p:spPr>
        <p:txBody>
          <a:bodyPr wrap="square" lIns="0" tIns="0" rIns="0" bIns="0" rtlCol="0" anchor="ctr"/>
          <a:lstStyle/>
          <a:p>
            <a:pPr indent="0" marL="0">
              <a:buNone/>
            </a:pPr>
            <a:r>
              <a:rPr lang="en-US" sz="886" dirty="0">
                <a:solidFill>
                  <a:srgbClr val="E6EDF3"/>
                </a:solidFill>
                <a:latin typeface="Courier New" pitchFamily="34" charset="0"/>
                <a:ea typeface="Courier New" pitchFamily="34" charset="-122"/>
                <a:cs typeface="Courier New" pitchFamily="34" charset="-120"/>
              </a:rPr>
              <a:t>Index 2 in supplies is: flamethrowers</a:t>
            </a:r>
            <a:endParaRPr lang="en-US" sz="886" dirty="0"/>
          </a:p>
        </p:txBody>
      </p:sp>
      <p:sp>
        <p:nvSpPr>
          <p:cNvPr id="53" name="v:Looping:p3|b3"/>
          <p:cNvSpPr txBox="1"/>
          <p:nvPr/>
        </p:nvSpPr>
        <p:spPr>
          <a:xfrm>
            <a:off x="6144768" y="2542032"/>
            <a:ext cx="2560320" cy="292608"/>
          </a:xfrm>
          <a:prstGeom prst="rect">
            <a:avLst/>
          </a:prstGeom>
          <a:noFill/>
          <a:ln/>
        </p:spPr>
        <p:txBody>
          <a:bodyPr wrap="square" lIns="0" tIns="0" rIns="0" bIns="0" rtlCol="0" anchor="ctr"/>
          <a:lstStyle/>
          <a:p>
            <a:pPr indent="0" marL="0">
              <a:buNone/>
            </a:pPr>
            <a:r>
              <a:rPr lang="en-US" sz="1057" dirty="0">
                <a:solidFill>
                  <a:srgbClr val="E6EDF3"/>
                </a:solidFill>
                <a:latin typeface="Courier New" pitchFamily="34" charset="0"/>
                <a:ea typeface="Courier New" pitchFamily="34" charset="-122"/>
                <a:cs typeface="Courier New" pitchFamily="34" charset="-120"/>
              </a:rPr>
              <a:t>Index 3 in supplies is: binders</a:t>
            </a:r>
            <a:endParaRPr lang="en-US" sz="1057" dirty="0"/>
          </a:p>
        </p:txBody>
      </p:sp>
      <p:sp>
        <p:nvSpPr>
          <p:cNvPr id="54" name="v:Looping:startbox:box|b4"/>
          <p:cNvSpPr/>
          <p:nvPr/>
        </p:nvSpPr>
        <p:spPr>
          <a:xfrm>
            <a:off x="365760" y="3273552"/>
            <a:ext cx="8412480" cy="365760"/>
          </a:xfrm>
          <a:prstGeom prst="roundRect">
            <a:avLst>
              <a:gd name="adj" fmla="val 20000"/>
            </a:avLst>
          </a:prstGeom>
          <a:solidFill>
            <a:srgbClr val="FCEFD0"/>
          </a:solidFill>
          <a:ln w="12700">
            <a:solidFill>
              <a:srgbClr val="B7791F"/>
            </a:solidFill>
            <a:prstDash val="solid"/>
          </a:ln>
        </p:spPr>
      </p:sp>
      <p:sp>
        <p:nvSpPr>
          <p:cNvPr id="55" name="v:Looping:startexpr|b4"/>
          <p:cNvSpPr txBox="1"/>
          <p:nvPr/>
        </p:nvSpPr>
        <p:spPr>
          <a:xfrm>
            <a:off x="475488" y="3273552"/>
            <a:ext cx="4754880" cy="365760"/>
          </a:xfrm>
          <a:prstGeom prst="rect">
            <a:avLst/>
          </a:prstGeom>
          <a:noFill/>
          <a:ln/>
        </p:spPr>
        <p:txBody>
          <a:bodyPr wrap="square" lIns="0" tIns="0" rIns="0" bIns="0" rtlCol="0" anchor="ctr"/>
          <a:lstStyle/>
          <a:p>
            <a:pPr indent="0" marL="0">
              <a:buNone/>
            </a:pPr>
            <a:r>
              <a:rPr lang="en-US" sz="1150" b="1" dirty="0">
                <a:solidFill>
                  <a:srgbClr val="1E2A3A"/>
                </a:solidFill>
                <a:latin typeface="Courier New" pitchFamily="34" charset="0"/>
                <a:ea typeface="Courier New" pitchFamily="34" charset="-122"/>
                <a:cs typeface="Courier New" pitchFamily="34" charset="-120"/>
              </a:rPr>
              <a:t>list(enumerate(supplies, start=1))[0]</a:t>
            </a:r>
            <a:endParaRPr lang="en-US" sz="1150" dirty="0"/>
          </a:p>
        </p:txBody>
      </p:sp>
      <p:sp>
        <p:nvSpPr>
          <p:cNvPr id="56" name="v:Looping:startres|b4"/>
          <p:cNvSpPr txBox="1"/>
          <p:nvPr/>
        </p:nvSpPr>
        <p:spPr>
          <a:xfrm>
            <a:off x="5303520" y="3273552"/>
            <a:ext cx="3383280" cy="365760"/>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(1, 'pens')</a:t>
            </a:r>
            <a:endParaRPr lang="en-US" sz="1200" dirty="0"/>
          </a:p>
        </p:txBody>
      </p:sp>
      <p:sp>
        <p:nvSpPr>
          <p:cNvPr id="57" name="say"/>
          <p:cNvSpPr txBox="1"/>
          <p:nvPr/>
        </p:nvSpPr>
        <p:spPr>
          <a:xfrm>
            <a:off x="365760" y="3794760"/>
            <a:ext cx="8412480"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Both loops visit indexes 0 to 3 and print the same four lines; enumerate needs neither len nor range. Assigning to i inside the body does not change which index comes next.</a:t>
            </a:r>
            <a:endParaRPr lang="en-US" sz="1400" dirty="0"/>
          </a:p>
        </p:txBody>
      </p:sp>
      <p:sp>
        <p:nvSpPr>
          <p:cNvPr id="5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6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Range len loop, Enumerate loop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6" fill="hold">
                      <p:stCondLst>
                        <p:cond delay="indefinite"/>
                      </p:stCondLst>
                      <p:childTnLst>
                        <p:par>
                          <p:cTn id="6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childTnLst>
                          </p:cTn>
                        </p:par>
                      </p:childTnLst>
                    </p:cTn>
                  </p:par>
                  <p:par>
                    <p:cTn id="131" fill="hold">
                      <p:stCondLst>
                        <p:cond delay="indefinite"/>
                      </p:stCondLst>
                      <p:childTnLst>
                        <p:par>
                          <p:cTn id="132"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childTnLst>
                          </p:cTn>
                        </p:par>
                      </p:childTnLst>
                    </p:cTn>
                  </p:par>
                  <p:par>
                    <p:cTn id="151" fill="hold">
                      <p:stCondLst>
                        <p:cond delay="indefinite"/>
                      </p:stCondLst>
                      <p:childTnLst>
                        <p:par>
                          <p:cTn id="15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childTnLst>
                          </p:cTn>
                        </p:par>
                      </p:childTnLst>
                    </p:cTn>
                  </p:par>
                  <p:par>
                    <p:cTn id="162" fill="hold">
                      <p:stCondLst>
                        <p:cond delay="indefinite"/>
                      </p:stCondLst>
                      <p:childTnLst>
                        <p:par>
                          <p:cTn id="163"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54"/>
                                        </p:tgtEl>
                                        <p:attrNameLst>
                                          <p:attrName>style.visibility</p:attrName>
                                        </p:attrNameLst>
                                      </p:cBhvr>
                                      <p:to>
                                        <p:strVal val="visible"/>
                                      </p:to>
                                    </p:set>
                                    <p:animEffect transition="in" filter="fade">
                                      <p:cBhvr>
                                        <p:cTn id="155" dur="400"/>
                                        <p:tgtEl>
                                          <p:spTgt spid="5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6" grpId="0" animBg="1"/>
      <p:bldP spid="18" grpId="0" animBg="1"/>
      <p:bldP spid="20" grpId="0" animBg="1"/>
      <p:bldP spid="22" grpId="0" animBg="1"/>
      <p:bldP spid="24" grpId="0" animBg="1"/>
      <p:bldP spid="26"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2" grpId="0" animBg="1"/>
      <p:bldP spid="53" grpId="0" animBg="1"/>
      <p:bldP spid="55" grpId="0" animBg="1"/>
      <p:bldP spid="5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removing while looping skips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list iterator counts positions, not values</a:t>
            </a:r>
            <a:endParaRPr lang="en-US" sz="1400" dirty="0"/>
          </a:p>
        </p:txBody>
      </p:sp>
      <p:sp>
        <p:nvSpPr>
          <p:cNvPr id="6" name="l1"/>
          <p:cNvSpPr txBox="1"/>
          <p:nvPr/>
        </p:nvSpPr>
        <p:spPr>
          <a:xfrm>
            <a:off x="365760" y="1143000"/>
            <a:ext cx="3291840" cy="237744"/>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Before: remove while walking</a:t>
            </a:r>
            <a:endParaRPr lang="en-US" sz="1200" dirty="0"/>
          </a:p>
        </p:txBody>
      </p:sp>
      <p:sp>
        <p:nvSpPr>
          <p:cNvPr id="7" name="progbox"/>
          <p:cNvSpPr/>
          <p:nvPr/>
        </p:nvSpPr>
        <p:spPr>
          <a:xfrm>
            <a:off x="365760" y="1389888"/>
            <a:ext cx="3520440" cy="1115568"/>
          </a:xfrm>
          <a:prstGeom prst="roundRect">
            <a:avLst>
              <a:gd name="adj" fmla="val 8197"/>
            </a:avLst>
          </a:prstGeom>
          <a:solidFill>
            <a:srgbClr val="17202B"/>
          </a:solidFill>
          <a:ln w="12700">
            <a:solidFill>
              <a:srgbClr val="17202B"/>
            </a:solidFill>
            <a:prstDash val="solid"/>
          </a:ln>
        </p:spPr>
      </p:sp>
      <p:sp>
        <p:nvSpPr>
          <p:cNvPr id="8" name="prog"/>
          <p:cNvSpPr txBox="1"/>
          <p:nvPr/>
        </p:nvSpPr>
        <p:spPr>
          <a:xfrm>
            <a:off x="502920" y="1463040"/>
            <a:ext cx="3246120" cy="969264"/>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items = [1, 2, 3,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x in items: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x &lt; 3:</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items.remove(x)</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print(items)</a:t>
            </a:r>
            <a:endParaRPr lang="en-US" sz="1100" dirty="0"/>
          </a:p>
        </p:txBody>
      </p:sp>
      <p:sp>
        <p:nvSpPr>
          <p:cNvPr id="9" name="transbox"/>
          <p:cNvSpPr/>
          <p:nvPr/>
        </p:nvSpPr>
        <p:spPr>
          <a:xfrm>
            <a:off x="365760" y="2542032"/>
            <a:ext cx="3520440" cy="329184"/>
          </a:xfrm>
          <a:prstGeom prst="roundRect">
            <a:avLst>
              <a:gd name="adj" fmla="val 27778"/>
            </a:avLst>
          </a:prstGeom>
          <a:solidFill>
            <a:srgbClr val="F1F4F8"/>
          </a:solidFill>
          <a:ln w="12700">
            <a:solidFill>
              <a:srgbClr val="F1F4F8"/>
            </a:solidFill>
            <a:prstDash val="solid"/>
          </a:ln>
        </p:spPr>
      </p:sp>
      <p:sp>
        <p:nvSpPr>
          <p:cNvPr id="10" name="trans"/>
          <p:cNvSpPr txBox="1"/>
          <p:nvPr/>
        </p:nvSpPr>
        <p:spPr>
          <a:xfrm>
            <a:off x="475488" y="2596896"/>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[2, 3, 4]</a:t>
            </a:r>
            <a:endParaRPr lang="en-US" sz="1200" dirty="0"/>
          </a:p>
        </p:txBody>
      </p:sp>
      <p:sp>
        <p:nvSpPr>
          <p:cNvPr id="11" name="transcap"/>
          <p:cNvSpPr txBox="1"/>
          <p:nvPr/>
        </p:nvSpPr>
        <p:spPr>
          <a:xfrm>
            <a:off x="365760" y="2889504"/>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l2|b6"/>
          <p:cNvSpPr txBox="1"/>
          <p:nvPr/>
        </p:nvSpPr>
        <p:spPr>
          <a:xfrm>
            <a:off x="365760" y="3154680"/>
            <a:ext cx="3520440" cy="237744"/>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After: build a new list</a:t>
            </a:r>
            <a:endParaRPr lang="en-US" sz="1200" dirty="0"/>
          </a:p>
        </p:txBody>
      </p:sp>
      <p:sp>
        <p:nvSpPr>
          <p:cNvPr id="13" name="progbox|b6"/>
          <p:cNvSpPr/>
          <p:nvPr/>
        </p:nvSpPr>
        <p:spPr>
          <a:xfrm>
            <a:off x="365760" y="3401568"/>
            <a:ext cx="3520440" cy="685800"/>
          </a:xfrm>
          <a:prstGeom prst="roundRect">
            <a:avLst>
              <a:gd name="adj" fmla="val 13333"/>
            </a:avLst>
          </a:prstGeom>
          <a:solidFill>
            <a:srgbClr val="17202B"/>
          </a:solidFill>
          <a:ln w="12700">
            <a:solidFill>
              <a:srgbClr val="17202B"/>
            </a:solidFill>
            <a:prstDash val="solid"/>
          </a:ln>
        </p:spPr>
      </p:sp>
      <p:sp>
        <p:nvSpPr>
          <p:cNvPr id="14" name="prog|b6"/>
          <p:cNvSpPr txBox="1"/>
          <p:nvPr/>
        </p:nvSpPr>
        <p:spPr>
          <a:xfrm>
            <a:off x="502920" y="3474720"/>
            <a:ext cx="3246120" cy="539496"/>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[1, 2, 3, 4]</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[x for x in items if x &gt;= 3]</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print(items)</a:t>
            </a:r>
            <a:endParaRPr lang="en-US" sz="1050" dirty="0"/>
          </a:p>
        </p:txBody>
      </p:sp>
      <p:sp>
        <p:nvSpPr>
          <p:cNvPr id="15" name="transbox|b6"/>
          <p:cNvSpPr/>
          <p:nvPr/>
        </p:nvSpPr>
        <p:spPr>
          <a:xfrm>
            <a:off x="365760" y="4114800"/>
            <a:ext cx="3520440" cy="329184"/>
          </a:xfrm>
          <a:prstGeom prst="roundRect">
            <a:avLst>
              <a:gd name="adj" fmla="val 27778"/>
            </a:avLst>
          </a:prstGeom>
          <a:solidFill>
            <a:srgbClr val="F1F4F8"/>
          </a:solidFill>
          <a:ln w="12700">
            <a:solidFill>
              <a:srgbClr val="F1F4F8"/>
            </a:solidFill>
            <a:prstDash val="solid"/>
          </a:ln>
        </p:spPr>
      </p:sp>
      <p:sp>
        <p:nvSpPr>
          <p:cNvPr id="16" name="trans|b6"/>
          <p:cNvSpPr txBox="1"/>
          <p:nvPr/>
        </p:nvSpPr>
        <p:spPr>
          <a:xfrm>
            <a:off x="475488" y="4169664"/>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[3, 4]</a:t>
            </a:r>
            <a:endParaRPr lang="en-US" sz="1200" dirty="0"/>
          </a:p>
        </p:txBody>
      </p:sp>
      <p:sp>
        <p:nvSpPr>
          <p:cNvPr id="17" name="transcap|b6"/>
          <p:cNvSpPr txBox="1"/>
          <p:nvPr/>
        </p:nvSpPr>
        <p:spPr>
          <a:xfrm>
            <a:off x="365760" y="4462272"/>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mutrow|b1"/>
          <p:cNvSpPr/>
          <p:nvPr/>
        </p:nvSpPr>
        <p:spPr>
          <a:xfrm>
            <a:off x="4069080" y="1188720"/>
            <a:ext cx="4709160" cy="475488"/>
          </a:xfrm>
          <a:prstGeom prst="roundRect">
            <a:avLst>
              <a:gd name="adj" fmla="val 11538"/>
            </a:avLst>
          </a:prstGeom>
          <a:solidFill>
            <a:srgbClr val="F1F4F8"/>
          </a:solidFill>
          <a:ln w="12700">
            <a:solidFill>
              <a:srgbClr val="F1F4F8"/>
            </a:solidFill>
            <a:prstDash val="solid"/>
          </a:ln>
        </p:spPr>
      </p:sp>
      <p:sp>
        <p:nvSpPr>
          <p:cNvPr id="19" name="v:MutationWhileIterating:p0h|b1"/>
          <p:cNvSpPr txBox="1"/>
          <p:nvPr/>
        </p:nvSpPr>
        <p:spPr>
          <a:xfrm>
            <a:off x="4160520" y="118872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1 · position 0 · x = 1</a:t>
            </a:r>
            <a:endParaRPr lang="en-US" sz="1000" dirty="0"/>
          </a:p>
        </p:txBody>
      </p:sp>
      <p:sp>
        <p:nvSpPr>
          <p:cNvPr id="20" name="v:MutationWhileIterating:p0b0:box|b1"/>
          <p:cNvSpPr/>
          <p:nvPr/>
        </p:nvSpPr>
        <p:spPr>
          <a:xfrm>
            <a:off x="5852160" y="1280160"/>
            <a:ext cx="457200" cy="292608"/>
          </a:xfrm>
          <a:prstGeom prst="roundRect">
            <a:avLst>
              <a:gd name="adj" fmla="val 15625"/>
            </a:avLst>
          </a:prstGeom>
          <a:solidFill>
            <a:srgbClr val="FFD43B"/>
          </a:solidFill>
          <a:ln w="25400">
            <a:solidFill>
              <a:srgbClr val="B7791F"/>
            </a:solidFill>
            <a:prstDash val="solid"/>
          </a:ln>
        </p:spPr>
      </p:sp>
      <p:sp>
        <p:nvSpPr>
          <p:cNvPr id="21" name="v:MutationWhileIterating:p0b0|b1"/>
          <p:cNvSpPr txBox="1"/>
          <p:nvPr/>
        </p:nvSpPr>
        <p:spPr>
          <a:xfrm>
            <a:off x="587044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1</a:t>
            </a:r>
            <a:endParaRPr lang="en-US" sz="1200" dirty="0"/>
          </a:p>
        </p:txBody>
      </p:sp>
      <p:sp>
        <p:nvSpPr>
          <p:cNvPr id="22" name="v:MutationWhileIterating:p0b1:box|b1"/>
          <p:cNvSpPr/>
          <p:nvPr/>
        </p:nvSpPr>
        <p:spPr>
          <a:xfrm>
            <a:off x="6355080" y="1280160"/>
            <a:ext cx="457200" cy="292608"/>
          </a:xfrm>
          <a:prstGeom prst="roundRect">
            <a:avLst>
              <a:gd name="adj" fmla="val 15625"/>
            </a:avLst>
          </a:prstGeom>
          <a:solidFill>
            <a:srgbClr val="E3EEF8"/>
          </a:solidFill>
          <a:ln w="15875">
            <a:solidFill>
              <a:srgbClr val="306998"/>
            </a:solidFill>
            <a:prstDash val="solid"/>
          </a:ln>
        </p:spPr>
      </p:sp>
      <p:sp>
        <p:nvSpPr>
          <p:cNvPr id="23" name="v:MutationWhileIterating:p0b1|b1"/>
          <p:cNvSpPr txBox="1"/>
          <p:nvPr/>
        </p:nvSpPr>
        <p:spPr>
          <a:xfrm>
            <a:off x="637336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24" name="v:MutationWhileIterating:p0b2:box|b1"/>
          <p:cNvSpPr/>
          <p:nvPr/>
        </p:nvSpPr>
        <p:spPr>
          <a:xfrm>
            <a:off x="6858000" y="1280160"/>
            <a:ext cx="457200" cy="292608"/>
          </a:xfrm>
          <a:prstGeom prst="roundRect">
            <a:avLst>
              <a:gd name="adj" fmla="val 15625"/>
            </a:avLst>
          </a:prstGeom>
          <a:solidFill>
            <a:srgbClr val="E3EEF8"/>
          </a:solidFill>
          <a:ln w="15875">
            <a:solidFill>
              <a:srgbClr val="306998"/>
            </a:solidFill>
            <a:prstDash val="solid"/>
          </a:ln>
        </p:spPr>
      </p:sp>
      <p:sp>
        <p:nvSpPr>
          <p:cNvPr id="25" name="v:MutationWhileIterating:p0b2|b1"/>
          <p:cNvSpPr txBox="1"/>
          <p:nvPr/>
        </p:nvSpPr>
        <p:spPr>
          <a:xfrm>
            <a:off x="687628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26" name="v:MutationWhileIterating:p0b3:box|b1"/>
          <p:cNvSpPr/>
          <p:nvPr/>
        </p:nvSpPr>
        <p:spPr>
          <a:xfrm>
            <a:off x="7360920" y="1280160"/>
            <a:ext cx="457200" cy="292608"/>
          </a:xfrm>
          <a:prstGeom prst="roundRect">
            <a:avLst>
              <a:gd name="adj" fmla="val 15625"/>
            </a:avLst>
          </a:prstGeom>
          <a:solidFill>
            <a:srgbClr val="E3EEF8"/>
          </a:solidFill>
          <a:ln w="15875">
            <a:solidFill>
              <a:srgbClr val="306998"/>
            </a:solidFill>
            <a:prstDash val="solid"/>
          </a:ln>
        </p:spPr>
      </p:sp>
      <p:sp>
        <p:nvSpPr>
          <p:cNvPr id="27" name="v:MutationWhileIterating:p0b3|b1"/>
          <p:cNvSpPr txBox="1"/>
          <p:nvPr/>
        </p:nvSpPr>
        <p:spPr>
          <a:xfrm>
            <a:off x="737920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28" name="v:MutationWhileIterating:p0a|b1"/>
          <p:cNvSpPr txBox="1"/>
          <p:nvPr/>
        </p:nvSpPr>
        <p:spPr>
          <a:xfrm>
            <a:off x="7955280" y="1188720"/>
            <a:ext cx="731520" cy="475488"/>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removes 1</a:t>
            </a:r>
            <a:endParaRPr lang="en-US" sz="1200" dirty="0"/>
          </a:p>
        </p:txBody>
      </p:sp>
      <p:sp>
        <p:nvSpPr>
          <p:cNvPr id="29" name="mutrow|b2"/>
          <p:cNvSpPr/>
          <p:nvPr/>
        </p:nvSpPr>
        <p:spPr>
          <a:xfrm>
            <a:off x="4069080" y="1737360"/>
            <a:ext cx="4709160" cy="475488"/>
          </a:xfrm>
          <a:prstGeom prst="roundRect">
            <a:avLst>
              <a:gd name="adj" fmla="val 11538"/>
            </a:avLst>
          </a:prstGeom>
          <a:solidFill>
            <a:srgbClr val="F1F4F8"/>
          </a:solidFill>
          <a:ln w="12700">
            <a:solidFill>
              <a:srgbClr val="F1F4F8"/>
            </a:solidFill>
            <a:prstDash val="solid"/>
          </a:ln>
        </p:spPr>
      </p:sp>
      <p:sp>
        <p:nvSpPr>
          <p:cNvPr id="30" name="v:MutationWhileIterating:p1h|b2"/>
          <p:cNvSpPr txBox="1"/>
          <p:nvPr/>
        </p:nvSpPr>
        <p:spPr>
          <a:xfrm>
            <a:off x="4160520" y="173736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2 · position 1 · x = 3</a:t>
            </a:r>
            <a:endParaRPr lang="en-US" sz="1000" dirty="0"/>
          </a:p>
        </p:txBody>
      </p:sp>
      <p:sp>
        <p:nvSpPr>
          <p:cNvPr id="31" name="v:MutationWhileIterating:p1b0:box|b2"/>
          <p:cNvSpPr/>
          <p:nvPr/>
        </p:nvSpPr>
        <p:spPr>
          <a:xfrm>
            <a:off x="5852160" y="1828800"/>
            <a:ext cx="457200" cy="292608"/>
          </a:xfrm>
          <a:prstGeom prst="roundRect">
            <a:avLst>
              <a:gd name="adj" fmla="val 15625"/>
            </a:avLst>
          </a:prstGeom>
          <a:solidFill>
            <a:srgbClr val="E3EEF8"/>
          </a:solidFill>
          <a:ln w="15875">
            <a:solidFill>
              <a:srgbClr val="306998"/>
            </a:solidFill>
            <a:prstDash val="solid"/>
          </a:ln>
        </p:spPr>
      </p:sp>
      <p:sp>
        <p:nvSpPr>
          <p:cNvPr id="32" name="v:MutationWhileIterating:p1b0|b2"/>
          <p:cNvSpPr txBox="1"/>
          <p:nvPr/>
        </p:nvSpPr>
        <p:spPr>
          <a:xfrm>
            <a:off x="587044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33" name="v:MutationWhileIterating:p1b1:box|b2"/>
          <p:cNvSpPr/>
          <p:nvPr/>
        </p:nvSpPr>
        <p:spPr>
          <a:xfrm>
            <a:off x="6355080" y="1828800"/>
            <a:ext cx="457200" cy="292608"/>
          </a:xfrm>
          <a:prstGeom prst="roundRect">
            <a:avLst>
              <a:gd name="adj" fmla="val 15625"/>
            </a:avLst>
          </a:prstGeom>
          <a:solidFill>
            <a:srgbClr val="FFD43B"/>
          </a:solidFill>
          <a:ln w="25400">
            <a:solidFill>
              <a:srgbClr val="B7791F"/>
            </a:solidFill>
            <a:prstDash val="solid"/>
          </a:ln>
        </p:spPr>
      </p:sp>
      <p:sp>
        <p:nvSpPr>
          <p:cNvPr id="34" name="v:MutationWhileIterating:p1b1|b2"/>
          <p:cNvSpPr txBox="1"/>
          <p:nvPr/>
        </p:nvSpPr>
        <p:spPr>
          <a:xfrm>
            <a:off x="637336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35" name="v:MutationWhileIterating:p1b2:box|b2"/>
          <p:cNvSpPr/>
          <p:nvPr/>
        </p:nvSpPr>
        <p:spPr>
          <a:xfrm>
            <a:off x="6858000" y="1828800"/>
            <a:ext cx="457200" cy="292608"/>
          </a:xfrm>
          <a:prstGeom prst="roundRect">
            <a:avLst>
              <a:gd name="adj" fmla="val 15625"/>
            </a:avLst>
          </a:prstGeom>
          <a:solidFill>
            <a:srgbClr val="E3EEF8"/>
          </a:solidFill>
          <a:ln w="15875">
            <a:solidFill>
              <a:srgbClr val="306998"/>
            </a:solidFill>
            <a:prstDash val="solid"/>
          </a:ln>
        </p:spPr>
      </p:sp>
      <p:sp>
        <p:nvSpPr>
          <p:cNvPr id="36" name="v:MutationWhileIterating:p1b2|b2"/>
          <p:cNvSpPr txBox="1"/>
          <p:nvPr/>
        </p:nvSpPr>
        <p:spPr>
          <a:xfrm>
            <a:off x="687628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37" name="v:MutationWhileIterating:p1a|b2"/>
          <p:cNvSpPr txBox="1"/>
          <p:nvPr/>
        </p:nvSpPr>
        <p:spPr>
          <a:xfrm>
            <a:off x="7955280" y="173736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3</a:t>
            </a:r>
            <a:endParaRPr lang="en-US" sz="1200" dirty="0"/>
          </a:p>
        </p:txBody>
      </p:sp>
      <p:sp>
        <p:nvSpPr>
          <p:cNvPr id="38" name="mutrow|b3"/>
          <p:cNvSpPr/>
          <p:nvPr/>
        </p:nvSpPr>
        <p:spPr>
          <a:xfrm>
            <a:off x="4069080" y="2286000"/>
            <a:ext cx="4709160" cy="475488"/>
          </a:xfrm>
          <a:prstGeom prst="roundRect">
            <a:avLst>
              <a:gd name="adj" fmla="val 11538"/>
            </a:avLst>
          </a:prstGeom>
          <a:solidFill>
            <a:srgbClr val="F1F4F8"/>
          </a:solidFill>
          <a:ln w="12700">
            <a:solidFill>
              <a:srgbClr val="F1F4F8"/>
            </a:solidFill>
            <a:prstDash val="solid"/>
          </a:ln>
        </p:spPr>
      </p:sp>
      <p:sp>
        <p:nvSpPr>
          <p:cNvPr id="39" name="v:MutationWhileIterating:p2h|b3"/>
          <p:cNvSpPr txBox="1"/>
          <p:nvPr/>
        </p:nvSpPr>
        <p:spPr>
          <a:xfrm>
            <a:off x="4160520" y="228600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3 · position 2 · x = 4</a:t>
            </a:r>
            <a:endParaRPr lang="en-US" sz="1000" dirty="0"/>
          </a:p>
        </p:txBody>
      </p:sp>
      <p:sp>
        <p:nvSpPr>
          <p:cNvPr id="40" name="v:MutationWhileIterating:p2b0:box|b3"/>
          <p:cNvSpPr/>
          <p:nvPr/>
        </p:nvSpPr>
        <p:spPr>
          <a:xfrm>
            <a:off x="5852160" y="2377440"/>
            <a:ext cx="457200" cy="292608"/>
          </a:xfrm>
          <a:prstGeom prst="roundRect">
            <a:avLst>
              <a:gd name="adj" fmla="val 15625"/>
            </a:avLst>
          </a:prstGeom>
          <a:solidFill>
            <a:srgbClr val="E3EEF8"/>
          </a:solidFill>
          <a:ln w="15875">
            <a:solidFill>
              <a:srgbClr val="306998"/>
            </a:solidFill>
            <a:prstDash val="solid"/>
          </a:ln>
        </p:spPr>
      </p:sp>
      <p:sp>
        <p:nvSpPr>
          <p:cNvPr id="41" name="v:MutationWhileIterating:p2b0|b3"/>
          <p:cNvSpPr txBox="1"/>
          <p:nvPr/>
        </p:nvSpPr>
        <p:spPr>
          <a:xfrm>
            <a:off x="587044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42" name="v:MutationWhileIterating:p2b1:box|b3"/>
          <p:cNvSpPr/>
          <p:nvPr/>
        </p:nvSpPr>
        <p:spPr>
          <a:xfrm>
            <a:off x="6355080" y="2377440"/>
            <a:ext cx="457200" cy="292608"/>
          </a:xfrm>
          <a:prstGeom prst="roundRect">
            <a:avLst>
              <a:gd name="adj" fmla="val 15625"/>
            </a:avLst>
          </a:prstGeom>
          <a:solidFill>
            <a:srgbClr val="E3EEF8"/>
          </a:solidFill>
          <a:ln w="15875">
            <a:solidFill>
              <a:srgbClr val="306998"/>
            </a:solidFill>
            <a:prstDash val="solid"/>
          </a:ln>
        </p:spPr>
      </p:sp>
      <p:sp>
        <p:nvSpPr>
          <p:cNvPr id="43" name="v:MutationWhileIterating:p2b1|b3"/>
          <p:cNvSpPr txBox="1"/>
          <p:nvPr/>
        </p:nvSpPr>
        <p:spPr>
          <a:xfrm>
            <a:off x="637336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44" name="v:MutationWhileIterating:p2b2:box|b3"/>
          <p:cNvSpPr/>
          <p:nvPr/>
        </p:nvSpPr>
        <p:spPr>
          <a:xfrm>
            <a:off x="6858000" y="2377440"/>
            <a:ext cx="457200" cy="292608"/>
          </a:xfrm>
          <a:prstGeom prst="roundRect">
            <a:avLst>
              <a:gd name="adj" fmla="val 15625"/>
            </a:avLst>
          </a:prstGeom>
          <a:solidFill>
            <a:srgbClr val="FFD43B"/>
          </a:solidFill>
          <a:ln w="25400">
            <a:solidFill>
              <a:srgbClr val="B7791F"/>
            </a:solidFill>
            <a:prstDash val="solid"/>
          </a:ln>
        </p:spPr>
      </p:sp>
      <p:sp>
        <p:nvSpPr>
          <p:cNvPr id="45" name="v:MutationWhileIterating:p2b2|b3"/>
          <p:cNvSpPr txBox="1"/>
          <p:nvPr/>
        </p:nvSpPr>
        <p:spPr>
          <a:xfrm>
            <a:off x="687628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46" name="v:MutationWhileIterating:p2a|b3"/>
          <p:cNvSpPr txBox="1"/>
          <p:nvPr/>
        </p:nvSpPr>
        <p:spPr>
          <a:xfrm>
            <a:off x="7955280" y="228600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4</a:t>
            </a:r>
            <a:endParaRPr lang="en-US" sz="1200" dirty="0"/>
          </a:p>
        </p:txBody>
      </p:sp>
      <p:sp>
        <p:nvSpPr>
          <p:cNvPr id="47" name="v:MutationWhileIterating:finbox:box|b4"/>
          <p:cNvSpPr/>
          <p:nvPr/>
        </p:nvSpPr>
        <p:spPr>
          <a:xfrm>
            <a:off x="4069080" y="2834640"/>
            <a:ext cx="4709160" cy="365760"/>
          </a:xfrm>
          <a:prstGeom prst="roundRect">
            <a:avLst>
              <a:gd name="adj" fmla="val 15000"/>
            </a:avLst>
          </a:prstGeom>
          <a:solidFill>
            <a:srgbClr val="FBE1E1"/>
          </a:solidFill>
          <a:ln w="12700">
            <a:solidFill>
              <a:srgbClr val="D64545"/>
            </a:solidFill>
            <a:prstDash val="solid"/>
          </a:ln>
        </p:spPr>
      </p:sp>
      <p:sp>
        <p:nvSpPr>
          <p:cNvPr id="48" name="v:MutationWhileIterating:fin|b4"/>
          <p:cNvSpPr txBox="1"/>
          <p:nvPr/>
        </p:nvSpPr>
        <p:spPr>
          <a:xfrm>
            <a:off x="4160520" y="2834640"/>
            <a:ext cx="2377440" cy="365760"/>
          </a:xfrm>
          <a:prstGeom prst="rect">
            <a:avLst/>
          </a:prstGeom>
          <a:noFill/>
          <a:ln/>
        </p:spPr>
        <p:txBody>
          <a:bodyPr wrap="square" lIns="0" tIns="0" rIns="0" bIns="0" rtlCol="0" anchor="ctr"/>
          <a:lstStyle/>
          <a:p>
            <a:pPr indent="0" marL="0">
              <a:buNone/>
            </a:pPr>
            <a:r>
              <a:rPr lang="en-US" sz="1100" b="1" dirty="0">
                <a:solidFill>
                  <a:srgbClr val="D64545"/>
                </a:solidFill>
                <a:latin typeface="Courier New" pitchFamily="34" charset="0"/>
                <a:ea typeface="Courier New" pitchFamily="34" charset="-122"/>
                <a:cs typeface="Courier New" pitchFamily="34" charset="-120"/>
              </a:rPr>
              <a:t>after the loop: [2, 3, 4]</a:t>
            </a:r>
            <a:endParaRPr lang="en-US" sz="1100" dirty="0"/>
          </a:p>
        </p:txBody>
      </p:sp>
      <p:sp>
        <p:nvSpPr>
          <p:cNvPr id="49" name="v:MutationWhileIterating:skip|b4"/>
          <p:cNvSpPr txBox="1"/>
          <p:nvPr/>
        </p:nvSpPr>
        <p:spPr>
          <a:xfrm>
            <a:off x="6720840" y="2834640"/>
            <a:ext cx="1965960" cy="365760"/>
          </a:xfrm>
          <a:prstGeom prst="rect">
            <a:avLst/>
          </a:prstGeom>
          <a:noFill/>
          <a:ln/>
        </p:spPr>
        <p:txBody>
          <a:bodyPr wrap="square" lIns="0" tIns="0" rIns="0" bIns="0" rtlCol="0" anchor="ctr"/>
          <a:lstStyle/>
          <a:p>
            <a:pPr indent="0" marL="0">
              <a:buNone/>
            </a:pPr>
            <a:r>
              <a:rPr lang="en-US" sz="1250" b="1" dirty="0">
                <a:solidFill>
                  <a:srgbClr val="D64545"/>
                </a:solidFill>
                <a:latin typeface="Calibri" pitchFamily="34" charset="0"/>
                <a:ea typeface="Calibri" pitchFamily="34" charset="-122"/>
                <a:cs typeface="Calibri" pitchFamily="34" charset="-120"/>
              </a:rPr>
              <a:t>2 was never visited</a:t>
            </a:r>
            <a:endParaRPr lang="en-US" sz="1250" dirty="0"/>
          </a:p>
        </p:txBody>
      </p:sp>
      <p:sp>
        <p:nvSpPr>
          <p:cNvPr id="50" name="say|b5"/>
          <p:cNvSpPr txBox="1"/>
          <p:nvPr/>
        </p:nvSpPr>
        <p:spPr>
          <a:xfrm>
            <a:off x="4069080" y="3611880"/>
            <a:ext cx="4709160" cy="868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loop counts positions. After 1 is removed, 2 moves into position 0, which the loop has already passed.</a:t>
            </a:r>
            <a:endParaRPr lang="en-US" sz="13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Mutation while iterating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compound_stmts.html" history="1" highlightClick="0" endSnd="0">
                  <a:extLst>
                    <a:ext uri="{A12FA001-AC4F-418D-AE19-62706E023703}">
                      <ahyp:hlinkClr xmlns:ahyp="http://schemas.microsoft.com/office/drawing/2018/hyperlinkcolor" val="tx"/>
                    </a:ext>
                  </a:extLst>
                </a:hlinkClick>
              </a:rPr>
              <a:t>Reference: the for statement</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400"/>
                                        <p:tgtEl>
                                          <p:spTgt spid="28"/>
                                        </p:tgtEl>
                                      </p:cBhvr>
                                    </p:animEffect>
                                  </p:childTnLst>
                                </p:cTn>
                              </p:par>
                            </p:childTnLst>
                          </p:cTn>
                        </p:par>
                      </p:childTnLst>
                    </p:cTn>
                  </p:par>
                  <p:par>
                    <p:cTn id="65" fill="hold">
                      <p:stCondLst>
                        <p:cond delay="indefinite"/>
                      </p:stCondLst>
                      <p:childTnLst>
                        <p:par>
                          <p:cTn id="66"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par>
                                <p:cTn id="44" presetID="10" presetClass="entr" presetSubtype="0"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400"/>
                                        <p:tgtEl>
                                          <p:spTgt spid="3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4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400"/>
                                        <p:tgtEl>
                                          <p:spTgt spid="3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400"/>
                                        <p:tgtEl>
                                          <p:spTgt spid="34"/>
                                        </p:tgtEl>
                                      </p:cBhvr>
                                    </p:animEffect>
                                  </p:childTnLst>
                                </p:cTn>
                              </p:par>
                              <p:par>
                                <p:cTn id="56" presetID="10"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4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4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400"/>
                                        <p:tgtEl>
                                          <p:spTgt spid="37"/>
                                        </p:tgtEl>
                                      </p:cBhvr>
                                    </p:animEffect>
                                  </p:childTnLst>
                                </p:cTn>
                              </p:par>
                            </p:childTnLst>
                          </p:cTn>
                        </p:par>
                      </p:childTnLst>
                    </p:cTn>
                  </p:par>
                  <p:par>
                    <p:cTn id="94" fill="hold">
                      <p:stCondLst>
                        <p:cond delay="indefinite"/>
                      </p:stCondLst>
                      <p:childTnLst>
                        <p:par>
                          <p:cTn id="95"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4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400"/>
                                        <p:tgtEl>
                                          <p:spTgt spid="39"/>
                                        </p:tgtEl>
                                      </p:cBhvr>
                                    </p:animEffect>
                                  </p:childTnLst>
                                </p:cTn>
                              </p:par>
                              <p:par>
                                <p:cTn id="73" presetID="10"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4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400"/>
                                        <p:tgtEl>
                                          <p:spTgt spid="41"/>
                                        </p:tgtEl>
                                      </p:cBhvr>
                                    </p:animEffect>
                                  </p:childTnLst>
                                </p:cTn>
                              </p:par>
                              <p:par>
                                <p:cTn id="79" presetID="10" presetClass="entr" presetSubtype="0"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400"/>
                                        <p:tgtEl>
                                          <p:spTgt spid="4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400"/>
                                        <p:tgtEl>
                                          <p:spTgt spid="43"/>
                                        </p:tgtEl>
                                      </p:cBhvr>
                                    </p:animEffect>
                                  </p:childTnLst>
                                </p:cTn>
                              </p:par>
                              <p:par>
                                <p:cTn id="85" presetID="10"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4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400"/>
                                        <p:tgtEl>
                                          <p:spTgt spid="4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400"/>
                                        <p:tgtEl>
                                          <p:spTgt spid="46"/>
                                        </p:tgtEl>
                                      </p:cBhvr>
                                    </p:animEffect>
                                  </p:childTnLst>
                                </p:cTn>
                              </p:par>
                            </p:childTnLst>
                          </p:cTn>
                        </p:par>
                      </p:childTnLst>
                    </p:cTn>
                  </p:par>
                  <p:par>
                    <p:cTn id="105" fill="hold">
                      <p:stCondLst>
                        <p:cond delay="indefinite"/>
                      </p:stCondLst>
                      <p:childTnLst>
                        <p:par>
                          <p:cTn id="106"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400"/>
                                        <p:tgtEl>
                                          <p:spTgt spid="4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8"/>
                                        </p:tgtEl>
                                        <p:attrNameLst>
                                          <p:attrName>style.visibility</p:attrName>
                                        </p:attrNameLst>
                                      </p:cBhvr>
                                      <p:to>
                                        <p:strVal val="visible"/>
                                      </p:to>
                                    </p:set>
                                    <p:animEffect transition="in" filter="fade">
                                      <p:cBhvr>
                                        <p:cTn id="101" dur="400"/>
                                        <p:tgtEl>
                                          <p:spTgt spid="4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fade">
                                      <p:cBhvr>
                                        <p:cTn id="104" dur="400"/>
                                        <p:tgtEl>
                                          <p:spTgt spid="49"/>
                                        </p:tgtEl>
                                      </p:cBhvr>
                                    </p:animEffect>
                                  </p:childTnLst>
                                </p:cTn>
                              </p:par>
                            </p:childTnLst>
                          </p:cTn>
                        </p:par>
                      </p:childTnLst>
                    </p:cTn>
                  </p:par>
                  <p:par>
                    <p:cTn id="110" fill="hold">
                      <p:stCondLst>
                        <p:cond delay="indefinite"/>
                      </p:stCondLst>
                      <p:childTnLst>
                        <p:par>
                          <p:cTn id="111"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0"/>
                                        </p:tgtEl>
                                        <p:attrNameLst>
                                          <p:attrName>style.visibility</p:attrName>
                                        </p:attrNameLst>
                                      </p:cBhvr>
                                      <p:to>
                                        <p:strVal val="visible"/>
                                      </p:to>
                                    </p:set>
                                    <p:animEffect transition="in" filter="fade">
                                      <p:cBhvr>
                                        <p:cTn id="109" dur="400"/>
                                        <p:tgtEl>
                                          <p:spTgt spid="50"/>
                                        </p:tgtEl>
                                      </p:cBhvr>
                                    </p:animEffect>
                                  </p:childTnLst>
                                </p:cTn>
                              </p:par>
                            </p:childTnLst>
                          </p:cTn>
                        </p:par>
                      </p:childTnLst>
                    </p:cTn>
                  </p:par>
                  <p:par>
                    <p:cTn id="130" fill="hold">
                      <p:stCondLst>
                        <p:cond delay="indefinite"/>
                      </p:stCondLst>
                      <p:childTnLst>
                        <p:par>
                          <p:cTn id="13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2"/>
                                        </p:tgtEl>
                                        <p:attrNameLst>
                                          <p:attrName>style.visibility</p:attrName>
                                        </p:attrNameLst>
                                      </p:cBhvr>
                                      <p:to>
                                        <p:strVal val="visible"/>
                                      </p:to>
                                    </p:set>
                                    <p:animEffect transition="in" filter="fade">
                                      <p:cBhvr>
                                        <p:cTn id="114" dur="400"/>
                                        <p:tgtEl>
                                          <p:spTgt spid="12"/>
                                        </p:tgtEl>
                                      </p:cBhvr>
                                    </p:animEffect>
                                  </p:childTnLst>
                                </p:cTn>
                              </p:par>
                              <p:par>
                                <p:cTn id="115" presetID="10" presetClass="entr" presetSubtype="0" fill="hold" nodeType="withEffect">
                                  <p:stCondLst>
                                    <p:cond delay="0"/>
                                  </p:stCondLst>
                                  <p:childTnLst>
                                    <p:set>
                                      <p:cBhvr>
                                        <p:cTn id="116" dur="1" fill="hold">
                                          <p:stCondLst>
                                            <p:cond delay="0"/>
                                          </p:stCondLst>
                                        </p:cTn>
                                        <p:tgtEl>
                                          <p:spTgt spid="13"/>
                                        </p:tgtEl>
                                        <p:attrNameLst>
                                          <p:attrName>style.visibility</p:attrName>
                                        </p:attrNameLst>
                                      </p:cBhvr>
                                      <p:to>
                                        <p:strVal val="visible"/>
                                      </p:to>
                                    </p:set>
                                    <p:animEffect transition="in" filter="fade">
                                      <p:cBhvr>
                                        <p:cTn id="117" dur="400"/>
                                        <p:tgtEl>
                                          <p:spTgt spid="1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fade">
                                      <p:cBhvr>
                                        <p:cTn id="120" dur="400"/>
                                        <p:tgtEl>
                                          <p:spTgt spid="14"/>
                                        </p:tgtEl>
                                      </p:cBhvr>
                                    </p:animEffect>
                                  </p:childTnLst>
                                </p:cTn>
                              </p:par>
                              <p:par>
                                <p:cTn id="121" presetID="10" presetClass="entr" presetSubtype="0" fill="hold" nodeType="withEffect">
                                  <p:stCondLst>
                                    <p:cond delay="0"/>
                                  </p:stCondLst>
                                  <p:childTnLst>
                                    <p:set>
                                      <p:cBhvr>
                                        <p:cTn id="122" dur="1" fill="hold">
                                          <p:stCondLst>
                                            <p:cond delay="0"/>
                                          </p:stCondLst>
                                        </p:cTn>
                                        <p:tgtEl>
                                          <p:spTgt spid="15"/>
                                        </p:tgtEl>
                                        <p:attrNameLst>
                                          <p:attrName>style.visibility</p:attrName>
                                        </p:attrNameLst>
                                      </p:cBhvr>
                                      <p:to>
                                        <p:strVal val="visible"/>
                                      </p:to>
                                    </p:set>
                                    <p:animEffect transition="in" filter="fade">
                                      <p:cBhvr>
                                        <p:cTn id="123" dur="400"/>
                                        <p:tgtEl>
                                          <p:spTgt spid="1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6"/>
                                        </p:tgtEl>
                                        <p:attrNameLst>
                                          <p:attrName>style.visibility</p:attrName>
                                        </p:attrNameLst>
                                      </p:cBhvr>
                                      <p:to>
                                        <p:strVal val="visible"/>
                                      </p:to>
                                    </p:set>
                                    <p:animEffect transition="in" filter="fade">
                                      <p:cBhvr>
                                        <p:cTn id="126" dur="400"/>
                                        <p:tgtEl>
                                          <p:spTgt spid="1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7"/>
                                        </p:tgtEl>
                                        <p:attrNameLst>
                                          <p:attrName>style.visibility</p:attrName>
                                        </p:attrNameLst>
                                      </p:cBhvr>
                                      <p:to>
                                        <p:strVal val="visible"/>
                                      </p:to>
                                    </p:set>
                                    <p:animEffect transition="in" filter="fade">
                                      <p:cBhvr>
                                        <p:cTn id="1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7" grpId="0" animBg="1"/>
      <p:bldP spid="39" grpId="0" animBg="1"/>
      <p:bldP spid="41" grpId="0" animBg="1"/>
      <p:bldP spid="43" grpId="0" animBg="1"/>
      <p:bldP spid="45" grpId="0" animBg="1"/>
      <p:bldP spid="46" grpId="0" animBg="1"/>
      <p:bldP spid="48" grpId="0" animBg="1"/>
      <p:bldP spid="49" grpId="0" animBg="1"/>
      <p:bldP spid="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Take a list apart with names; build one with a rule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Multiple assignment, one starred name, and the list comprehension</a:t>
            </a:r>
            <a:endParaRPr lang="en-US" sz="1400" dirty="0"/>
          </a:p>
        </p:txBody>
      </p:sp>
      <p:sp>
        <p:nvSpPr>
          <p:cNvPr id="6" name="v:Unpacking:u0stmt|b1"/>
          <p:cNvSpPr txBox="1"/>
          <p:nvPr/>
        </p:nvSpPr>
        <p:spPr>
          <a:xfrm>
            <a:off x="365760" y="1188720"/>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size, color, disposition = cat</a:t>
            </a:r>
            <a:endParaRPr lang="en-US" sz="1200" dirty="0"/>
          </a:p>
        </p:txBody>
      </p:sp>
      <p:sp>
        <p:nvSpPr>
          <p:cNvPr id="7" name="v:Unpacking:u0i0:box|b1"/>
          <p:cNvSpPr/>
          <p:nvPr/>
        </p:nvSpPr>
        <p:spPr>
          <a:xfrm>
            <a:off x="365760" y="1453896"/>
            <a:ext cx="1152144" cy="274320"/>
          </a:xfrm>
          <a:prstGeom prst="roundRect">
            <a:avLst>
              <a:gd name="adj" fmla="val 16667"/>
            </a:avLst>
          </a:prstGeom>
          <a:solidFill>
            <a:srgbClr val="E3EEF8"/>
          </a:solidFill>
          <a:ln w="15875">
            <a:solidFill>
              <a:srgbClr val="306998"/>
            </a:solidFill>
            <a:prstDash val="solid"/>
          </a:ln>
        </p:spPr>
      </p:sp>
      <p:sp>
        <p:nvSpPr>
          <p:cNvPr id="8" name="v:Unpacking:u0i0|b1"/>
          <p:cNvSpPr txBox="1"/>
          <p:nvPr/>
        </p:nvSpPr>
        <p:spPr>
          <a:xfrm>
            <a:off x="384048"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9" name="v:Unpacking:u0i1:box|b1"/>
          <p:cNvSpPr/>
          <p:nvPr/>
        </p:nvSpPr>
        <p:spPr>
          <a:xfrm>
            <a:off x="1572768" y="1453896"/>
            <a:ext cx="1152144" cy="274320"/>
          </a:xfrm>
          <a:prstGeom prst="roundRect">
            <a:avLst>
              <a:gd name="adj" fmla="val 16667"/>
            </a:avLst>
          </a:prstGeom>
          <a:solidFill>
            <a:srgbClr val="E3EEF8"/>
          </a:solidFill>
          <a:ln w="15875">
            <a:solidFill>
              <a:srgbClr val="306998"/>
            </a:solidFill>
            <a:prstDash val="solid"/>
          </a:ln>
        </p:spPr>
      </p:sp>
      <p:sp>
        <p:nvSpPr>
          <p:cNvPr id="10" name="v:Unpacking:u0i1|b1"/>
          <p:cNvSpPr txBox="1"/>
          <p:nvPr/>
        </p:nvSpPr>
        <p:spPr>
          <a:xfrm>
            <a:off x="1591056"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11" name="v:Unpacking:u0i2:box|b1"/>
          <p:cNvSpPr/>
          <p:nvPr/>
        </p:nvSpPr>
        <p:spPr>
          <a:xfrm>
            <a:off x="2779776" y="1453896"/>
            <a:ext cx="1152144" cy="274320"/>
          </a:xfrm>
          <a:prstGeom prst="roundRect">
            <a:avLst>
              <a:gd name="adj" fmla="val 16667"/>
            </a:avLst>
          </a:prstGeom>
          <a:solidFill>
            <a:srgbClr val="E3EEF8"/>
          </a:solidFill>
          <a:ln w="15875">
            <a:solidFill>
              <a:srgbClr val="306998"/>
            </a:solidFill>
            <a:prstDash val="solid"/>
          </a:ln>
        </p:spPr>
      </p:sp>
      <p:sp>
        <p:nvSpPr>
          <p:cNvPr id="12" name="v:Unpacking:u0i2|b1"/>
          <p:cNvSpPr txBox="1"/>
          <p:nvPr/>
        </p:nvSpPr>
        <p:spPr>
          <a:xfrm>
            <a:off x="2798064"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13" name="arrow|b1"/>
          <p:cNvSpPr/>
          <p:nvPr/>
        </p:nvSpPr>
        <p:spPr>
          <a:xfrm>
            <a:off x="365760" y="1792224"/>
            <a:ext cx="1152144" cy="0"/>
          </a:xfrm>
          <a:prstGeom prst="line">
            <a:avLst/>
          </a:prstGeom>
          <a:noFill/>
          <a:ln w="38100">
            <a:solidFill>
              <a:srgbClr val="2E9E5B"/>
            </a:solidFill>
            <a:prstDash val="solid"/>
          </a:ln>
        </p:spPr>
      </p:sp>
      <p:sp>
        <p:nvSpPr>
          <p:cNvPr id="14" name="v:Unpacking:u0n0|b1"/>
          <p:cNvSpPr txBox="1"/>
          <p:nvPr/>
        </p:nvSpPr>
        <p:spPr>
          <a:xfrm>
            <a:off x="365760"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size</a:t>
            </a:r>
            <a:endParaRPr lang="en-US" sz="1100" dirty="0"/>
          </a:p>
        </p:txBody>
      </p:sp>
      <p:sp>
        <p:nvSpPr>
          <p:cNvPr id="15" name="v:Unpacking:u0v0|b1"/>
          <p:cNvSpPr txBox="1"/>
          <p:nvPr/>
        </p:nvSpPr>
        <p:spPr>
          <a:xfrm>
            <a:off x="365760"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16" name="arrow|b1"/>
          <p:cNvSpPr/>
          <p:nvPr/>
        </p:nvSpPr>
        <p:spPr>
          <a:xfrm>
            <a:off x="1572768" y="1792224"/>
            <a:ext cx="1152144" cy="0"/>
          </a:xfrm>
          <a:prstGeom prst="line">
            <a:avLst/>
          </a:prstGeom>
          <a:noFill/>
          <a:ln w="38100">
            <a:solidFill>
              <a:srgbClr val="2E9E5B"/>
            </a:solidFill>
            <a:prstDash val="solid"/>
          </a:ln>
        </p:spPr>
      </p:sp>
      <p:sp>
        <p:nvSpPr>
          <p:cNvPr id="17" name="v:Unpacking:u0n1|b1"/>
          <p:cNvSpPr txBox="1"/>
          <p:nvPr/>
        </p:nvSpPr>
        <p:spPr>
          <a:xfrm>
            <a:off x="1572768"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color</a:t>
            </a:r>
            <a:endParaRPr lang="en-US" sz="1100" dirty="0"/>
          </a:p>
        </p:txBody>
      </p:sp>
      <p:sp>
        <p:nvSpPr>
          <p:cNvPr id="18" name="v:Unpacking:u0v1|b1"/>
          <p:cNvSpPr txBox="1"/>
          <p:nvPr/>
        </p:nvSpPr>
        <p:spPr>
          <a:xfrm>
            <a:off x="1572768"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a:t>
            </a:r>
            <a:endParaRPr lang="en-US" sz="950" dirty="0"/>
          </a:p>
        </p:txBody>
      </p:sp>
      <p:sp>
        <p:nvSpPr>
          <p:cNvPr id="19" name="arrow|b1"/>
          <p:cNvSpPr/>
          <p:nvPr/>
        </p:nvSpPr>
        <p:spPr>
          <a:xfrm>
            <a:off x="2779776" y="1792224"/>
            <a:ext cx="1152144" cy="0"/>
          </a:xfrm>
          <a:prstGeom prst="line">
            <a:avLst/>
          </a:prstGeom>
          <a:noFill/>
          <a:ln w="38100">
            <a:solidFill>
              <a:srgbClr val="2E9E5B"/>
            </a:solidFill>
            <a:prstDash val="solid"/>
          </a:ln>
        </p:spPr>
      </p:sp>
      <p:sp>
        <p:nvSpPr>
          <p:cNvPr id="20" name="v:Unpacking:u0n2|b1"/>
          <p:cNvSpPr txBox="1"/>
          <p:nvPr/>
        </p:nvSpPr>
        <p:spPr>
          <a:xfrm>
            <a:off x="2779776"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disposition</a:t>
            </a:r>
            <a:endParaRPr lang="en-US" sz="1100" dirty="0"/>
          </a:p>
        </p:txBody>
      </p:sp>
      <p:sp>
        <p:nvSpPr>
          <p:cNvPr id="21" name="v:Unpacking:u0v2|b1"/>
          <p:cNvSpPr txBox="1"/>
          <p:nvPr/>
        </p:nvSpPr>
        <p:spPr>
          <a:xfrm>
            <a:off x="2779776"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'loud'</a:t>
            </a:r>
            <a:endParaRPr lang="en-US" sz="950" dirty="0"/>
          </a:p>
        </p:txBody>
      </p:sp>
      <p:sp>
        <p:nvSpPr>
          <p:cNvPr id="22" name="v:Unpacking:u1stmt|b2"/>
          <p:cNvSpPr txBox="1"/>
          <p:nvPr/>
        </p:nvSpPr>
        <p:spPr>
          <a:xfrm>
            <a:off x="365760" y="2221992"/>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first, *rest = cat</a:t>
            </a:r>
            <a:endParaRPr lang="en-US" sz="1200" dirty="0"/>
          </a:p>
        </p:txBody>
      </p:sp>
      <p:sp>
        <p:nvSpPr>
          <p:cNvPr id="23" name="v:Unpacking:u1i0:box|b2"/>
          <p:cNvSpPr/>
          <p:nvPr/>
        </p:nvSpPr>
        <p:spPr>
          <a:xfrm>
            <a:off x="365760" y="2487168"/>
            <a:ext cx="1152144" cy="274320"/>
          </a:xfrm>
          <a:prstGeom prst="roundRect">
            <a:avLst>
              <a:gd name="adj" fmla="val 16667"/>
            </a:avLst>
          </a:prstGeom>
          <a:solidFill>
            <a:srgbClr val="E3EEF8"/>
          </a:solidFill>
          <a:ln w="15875">
            <a:solidFill>
              <a:srgbClr val="306998"/>
            </a:solidFill>
            <a:prstDash val="solid"/>
          </a:ln>
        </p:spPr>
      </p:sp>
      <p:sp>
        <p:nvSpPr>
          <p:cNvPr id="24" name="v:Unpacking:u1i0|b2"/>
          <p:cNvSpPr txBox="1"/>
          <p:nvPr/>
        </p:nvSpPr>
        <p:spPr>
          <a:xfrm>
            <a:off x="384048"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25" name="v:Unpacking:u1i1:box|b2"/>
          <p:cNvSpPr/>
          <p:nvPr/>
        </p:nvSpPr>
        <p:spPr>
          <a:xfrm>
            <a:off x="1572768" y="2487168"/>
            <a:ext cx="1152144" cy="274320"/>
          </a:xfrm>
          <a:prstGeom prst="roundRect">
            <a:avLst>
              <a:gd name="adj" fmla="val 16667"/>
            </a:avLst>
          </a:prstGeom>
          <a:solidFill>
            <a:srgbClr val="E3EEF8"/>
          </a:solidFill>
          <a:ln w="15875">
            <a:solidFill>
              <a:srgbClr val="306998"/>
            </a:solidFill>
            <a:prstDash val="solid"/>
          </a:ln>
        </p:spPr>
      </p:sp>
      <p:sp>
        <p:nvSpPr>
          <p:cNvPr id="26" name="v:Unpacking:u1i1|b2"/>
          <p:cNvSpPr txBox="1"/>
          <p:nvPr/>
        </p:nvSpPr>
        <p:spPr>
          <a:xfrm>
            <a:off x="1591056"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27" name="v:Unpacking:u1i2:box|b2"/>
          <p:cNvSpPr/>
          <p:nvPr/>
        </p:nvSpPr>
        <p:spPr>
          <a:xfrm>
            <a:off x="2779776" y="2487168"/>
            <a:ext cx="1152144" cy="274320"/>
          </a:xfrm>
          <a:prstGeom prst="roundRect">
            <a:avLst>
              <a:gd name="adj" fmla="val 16667"/>
            </a:avLst>
          </a:prstGeom>
          <a:solidFill>
            <a:srgbClr val="E3EEF8"/>
          </a:solidFill>
          <a:ln w="15875">
            <a:solidFill>
              <a:srgbClr val="306998"/>
            </a:solidFill>
            <a:prstDash val="solid"/>
          </a:ln>
        </p:spPr>
      </p:sp>
      <p:sp>
        <p:nvSpPr>
          <p:cNvPr id="28" name="v:Unpacking:u1i2|b2"/>
          <p:cNvSpPr txBox="1"/>
          <p:nvPr/>
        </p:nvSpPr>
        <p:spPr>
          <a:xfrm>
            <a:off x="2798064"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29" name="arrow|b2"/>
          <p:cNvSpPr/>
          <p:nvPr/>
        </p:nvSpPr>
        <p:spPr>
          <a:xfrm>
            <a:off x="365760" y="2825496"/>
            <a:ext cx="1152144" cy="0"/>
          </a:xfrm>
          <a:prstGeom prst="line">
            <a:avLst/>
          </a:prstGeom>
          <a:noFill/>
          <a:ln w="38100">
            <a:solidFill>
              <a:srgbClr val="2E9E5B"/>
            </a:solidFill>
            <a:prstDash val="solid"/>
          </a:ln>
        </p:spPr>
      </p:sp>
      <p:sp>
        <p:nvSpPr>
          <p:cNvPr id="30" name="v:Unpacking:u1n0|b2"/>
          <p:cNvSpPr txBox="1"/>
          <p:nvPr/>
        </p:nvSpPr>
        <p:spPr>
          <a:xfrm>
            <a:off x="365760" y="2843784"/>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first</a:t>
            </a:r>
            <a:endParaRPr lang="en-US" sz="1100" dirty="0"/>
          </a:p>
        </p:txBody>
      </p:sp>
      <p:sp>
        <p:nvSpPr>
          <p:cNvPr id="31" name="v:Unpacking:u1v0|b2"/>
          <p:cNvSpPr txBox="1"/>
          <p:nvPr/>
        </p:nvSpPr>
        <p:spPr>
          <a:xfrm>
            <a:off x="365760" y="3035808"/>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32" name="arrow|b2"/>
          <p:cNvSpPr/>
          <p:nvPr/>
        </p:nvSpPr>
        <p:spPr>
          <a:xfrm>
            <a:off x="1572768" y="2825496"/>
            <a:ext cx="2359152" cy="0"/>
          </a:xfrm>
          <a:prstGeom prst="line">
            <a:avLst/>
          </a:prstGeom>
          <a:noFill/>
          <a:ln w="38100">
            <a:solidFill>
              <a:srgbClr val="B7791F"/>
            </a:solidFill>
            <a:prstDash val="solid"/>
          </a:ln>
        </p:spPr>
      </p:sp>
      <p:sp>
        <p:nvSpPr>
          <p:cNvPr id="33" name="v:Unpacking:u1n1|b2"/>
          <p:cNvSpPr txBox="1"/>
          <p:nvPr/>
        </p:nvSpPr>
        <p:spPr>
          <a:xfrm>
            <a:off x="1572768" y="2843784"/>
            <a:ext cx="2359152"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*rest</a:t>
            </a:r>
            <a:endParaRPr lang="en-US" sz="1100" dirty="0"/>
          </a:p>
        </p:txBody>
      </p:sp>
      <p:sp>
        <p:nvSpPr>
          <p:cNvPr id="34" name="v:Unpacking:u1v1|b2"/>
          <p:cNvSpPr txBox="1"/>
          <p:nvPr/>
        </p:nvSpPr>
        <p:spPr>
          <a:xfrm>
            <a:off x="1572768" y="3035808"/>
            <a:ext cx="2359152"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 'loud']</a:t>
            </a:r>
            <a:endParaRPr lang="en-US" sz="950" dirty="0"/>
          </a:p>
        </p:txBody>
      </p:sp>
      <p:sp>
        <p:nvSpPr>
          <p:cNvPr id="35" name="v:Unpacking:u2stmt|b3"/>
          <p:cNvSpPr txBox="1"/>
          <p:nvPr/>
        </p:nvSpPr>
        <p:spPr>
          <a:xfrm>
            <a:off x="365760" y="3255264"/>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head, *middle, last = range(5)</a:t>
            </a:r>
            <a:endParaRPr lang="en-US" sz="1200" dirty="0"/>
          </a:p>
        </p:txBody>
      </p:sp>
      <p:sp>
        <p:nvSpPr>
          <p:cNvPr id="36" name="v:Unpacking:u2i0:box|b3"/>
          <p:cNvSpPr/>
          <p:nvPr/>
        </p:nvSpPr>
        <p:spPr>
          <a:xfrm>
            <a:off x="365760" y="3520440"/>
            <a:ext cx="669341" cy="274320"/>
          </a:xfrm>
          <a:prstGeom prst="roundRect">
            <a:avLst>
              <a:gd name="adj" fmla="val 16667"/>
            </a:avLst>
          </a:prstGeom>
          <a:solidFill>
            <a:srgbClr val="E3EEF8"/>
          </a:solidFill>
          <a:ln w="15875">
            <a:solidFill>
              <a:srgbClr val="306998"/>
            </a:solidFill>
            <a:prstDash val="solid"/>
          </a:ln>
        </p:spPr>
      </p:sp>
      <p:sp>
        <p:nvSpPr>
          <p:cNvPr id="37" name="v:Unpacking:u2i0|b3"/>
          <p:cNvSpPr txBox="1"/>
          <p:nvPr/>
        </p:nvSpPr>
        <p:spPr>
          <a:xfrm>
            <a:off x="38404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0</a:t>
            </a:r>
            <a:endParaRPr lang="en-US" sz="1100" dirty="0"/>
          </a:p>
        </p:txBody>
      </p:sp>
      <p:sp>
        <p:nvSpPr>
          <p:cNvPr id="38" name="v:Unpacking:u2i1:box|b3"/>
          <p:cNvSpPr/>
          <p:nvPr/>
        </p:nvSpPr>
        <p:spPr>
          <a:xfrm>
            <a:off x="1089965" y="3520440"/>
            <a:ext cx="669341" cy="274320"/>
          </a:xfrm>
          <a:prstGeom prst="roundRect">
            <a:avLst>
              <a:gd name="adj" fmla="val 16667"/>
            </a:avLst>
          </a:prstGeom>
          <a:solidFill>
            <a:srgbClr val="E3EEF8"/>
          </a:solidFill>
          <a:ln w="15875">
            <a:solidFill>
              <a:srgbClr val="306998"/>
            </a:solidFill>
            <a:prstDash val="solid"/>
          </a:ln>
        </p:spPr>
      </p:sp>
      <p:sp>
        <p:nvSpPr>
          <p:cNvPr id="39" name="v:Unpacking:u2i1|b3"/>
          <p:cNvSpPr txBox="1"/>
          <p:nvPr/>
        </p:nvSpPr>
        <p:spPr>
          <a:xfrm>
            <a:off x="1108253"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1</a:t>
            </a:r>
            <a:endParaRPr lang="en-US" sz="1100" dirty="0"/>
          </a:p>
        </p:txBody>
      </p:sp>
      <p:sp>
        <p:nvSpPr>
          <p:cNvPr id="40" name="v:Unpacking:u2i2:box|b3"/>
          <p:cNvSpPr/>
          <p:nvPr/>
        </p:nvSpPr>
        <p:spPr>
          <a:xfrm>
            <a:off x="1814170" y="3520440"/>
            <a:ext cx="669341" cy="274320"/>
          </a:xfrm>
          <a:prstGeom prst="roundRect">
            <a:avLst>
              <a:gd name="adj" fmla="val 16667"/>
            </a:avLst>
          </a:prstGeom>
          <a:solidFill>
            <a:srgbClr val="E3EEF8"/>
          </a:solidFill>
          <a:ln w="15875">
            <a:solidFill>
              <a:srgbClr val="306998"/>
            </a:solidFill>
            <a:prstDash val="solid"/>
          </a:ln>
        </p:spPr>
      </p:sp>
      <p:sp>
        <p:nvSpPr>
          <p:cNvPr id="41" name="v:Unpacking:u2i2|b3"/>
          <p:cNvSpPr txBox="1"/>
          <p:nvPr/>
        </p:nvSpPr>
        <p:spPr>
          <a:xfrm>
            <a:off x="183245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2</a:t>
            </a:r>
            <a:endParaRPr lang="en-US" sz="1100" dirty="0"/>
          </a:p>
        </p:txBody>
      </p:sp>
      <p:sp>
        <p:nvSpPr>
          <p:cNvPr id="42" name="v:Unpacking:u2i3:box|b3"/>
          <p:cNvSpPr/>
          <p:nvPr/>
        </p:nvSpPr>
        <p:spPr>
          <a:xfrm>
            <a:off x="2538374" y="3520440"/>
            <a:ext cx="669341" cy="274320"/>
          </a:xfrm>
          <a:prstGeom prst="roundRect">
            <a:avLst>
              <a:gd name="adj" fmla="val 16667"/>
            </a:avLst>
          </a:prstGeom>
          <a:solidFill>
            <a:srgbClr val="E3EEF8"/>
          </a:solidFill>
          <a:ln w="15875">
            <a:solidFill>
              <a:srgbClr val="306998"/>
            </a:solidFill>
            <a:prstDash val="solid"/>
          </a:ln>
        </p:spPr>
      </p:sp>
      <p:sp>
        <p:nvSpPr>
          <p:cNvPr id="43" name="v:Unpacking:u2i3|b3"/>
          <p:cNvSpPr txBox="1"/>
          <p:nvPr/>
        </p:nvSpPr>
        <p:spPr>
          <a:xfrm>
            <a:off x="2556662"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3</a:t>
            </a:r>
            <a:endParaRPr lang="en-US" sz="1100" dirty="0"/>
          </a:p>
        </p:txBody>
      </p:sp>
      <p:sp>
        <p:nvSpPr>
          <p:cNvPr id="44" name="v:Unpacking:u2i4:box|b3"/>
          <p:cNvSpPr/>
          <p:nvPr/>
        </p:nvSpPr>
        <p:spPr>
          <a:xfrm>
            <a:off x="3262579" y="3520440"/>
            <a:ext cx="669341" cy="274320"/>
          </a:xfrm>
          <a:prstGeom prst="roundRect">
            <a:avLst>
              <a:gd name="adj" fmla="val 16667"/>
            </a:avLst>
          </a:prstGeom>
          <a:solidFill>
            <a:srgbClr val="E3EEF8"/>
          </a:solidFill>
          <a:ln w="15875">
            <a:solidFill>
              <a:srgbClr val="306998"/>
            </a:solidFill>
            <a:prstDash val="solid"/>
          </a:ln>
        </p:spPr>
      </p:sp>
      <p:sp>
        <p:nvSpPr>
          <p:cNvPr id="45" name="v:Unpacking:u2i4|b3"/>
          <p:cNvSpPr txBox="1"/>
          <p:nvPr/>
        </p:nvSpPr>
        <p:spPr>
          <a:xfrm>
            <a:off x="3280867"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4</a:t>
            </a:r>
            <a:endParaRPr lang="en-US" sz="1100" dirty="0"/>
          </a:p>
        </p:txBody>
      </p:sp>
      <p:sp>
        <p:nvSpPr>
          <p:cNvPr id="46" name="arrow|b3"/>
          <p:cNvSpPr/>
          <p:nvPr/>
        </p:nvSpPr>
        <p:spPr>
          <a:xfrm>
            <a:off x="365760" y="3858768"/>
            <a:ext cx="669341" cy="0"/>
          </a:xfrm>
          <a:prstGeom prst="line">
            <a:avLst/>
          </a:prstGeom>
          <a:noFill/>
          <a:ln w="38100">
            <a:solidFill>
              <a:srgbClr val="2E9E5B"/>
            </a:solidFill>
            <a:prstDash val="solid"/>
          </a:ln>
        </p:spPr>
      </p:sp>
      <p:sp>
        <p:nvSpPr>
          <p:cNvPr id="47" name="v:Unpacking:u2n0|b3"/>
          <p:cNvSpPr txBox="1"/>
          <p:nvPr/>
        </p:nvSpPr>
        <p:spPr>
          <a:xfrm>
            <a:off x="365760"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head</a:t>
            </a:r>
            <a:endParaRPr lang="en-US" sz="1100" dirty="0"/>
          </a:p>
        </p:txBody>
      </p:sp>
      <p:sp>
        <p:nvSpPr>
          <p:cNvPr id="48" name="v:Unpacking:u2v0|b3"/>
          <p:cNvSpPr txBox="1"/>
          <p:nvPr/>
        </p:nvSpPr>
        <p:spPr>
          <a:xfrm>
            <a:off x="365760"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0</a:t>
            </a:r>
            <a:endParaRPr lang="en-US" sz="950" dirty="0"/>
          </a:p>
        </p:txBody>
      </p:sp>
      <p:sp>
        <p:nvSpPr>
          <p:cNvPr id="49" name="arrow|b3"/>
          <p:cNvSpPr/>
          <p:nvPr/>
        </p:nvSpPr>
        <p:spPr>
          <a:xfrm>
            <a:off x="1089965" y="3858768"/>
            <a:ext cx="2117750" cy="0"/>
          </a:xfrm>
          <a:prstGeom prst="line">
            <a:avLst/>
          </a:prstGeom>
          <a:noFill/>
          <a:ln w="38100">
            <a:solidFill>
              <a:srgbClr val="B7791F"/>
            </a:solidFill>
            <a:prstDash val="solid"/>
          </a:ln>
        </p:spPr>
      </p:sp>
      <p:sp>
        <p:nvSpPr>
          <p:cNvPr id="50" name="v:Unpacking:u2n1|b3"/>
          <p:cNvSpPr txBox="1"/>
          <p:nvPr/>
        </p:nvSpPr>
        <p:spPr>
          <a:xfrm>
            <a:off x="1089965" y="3877056"/>
            <a:ext cx="2117750"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*middle</a:t>
            </a:r>
            <a:endParaRPr lang="en-US" sz="1100" dirty="0"/>
          </a:p>
        </p:txBody>
      </p:sp>
      <p:sp>
        <p:nvSpPr>
          <p:cNvPr id="51" name="v:Unpacking:u2v1|b3"/>
          <p:cNvSpPr txBox="1"/>
          <p:nvPr/>
        </p:nvSpPr>
        <p:spPr>
          <a:xfrm>
            <a:off x="1089965" y="4069080"/>
            <a:ext cx="2117750"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[1, 2, 3]</a:t>
            </a:r>
            <a:endParaRPr lang="en-US" sz="950" dirty="0"/>
          </a:p>
        </p:txBody>
      </p:sp>
      <p:sp>
        <p:nvSpPr>
          <p:cNvPr id="52" name="arrow|b3"/>
          <p:cNvSpPr/>
          <p:nvPr/>
        </p:nvSpPr>
        <p:spPr>
          <a:xfrm>
            <a:off x="3262579" y="3858768"/>
            <a:ext cx="669341" cy="0"/>
          </a:xfrm>
          <a:prstGeom prst="line">
            <a:avLst/>
          </a:prstGeom>
          <a:noFill/>
          <a:ln w="38100">
            <a:solidFill>
              <a:srgbClr val="2E9E5B"/>
            </a:solidFill>
            <a:prstDash val="solid"/>
          </a:ln>
        </p:spPr>
      </p:sp>
      <p:sp>
        <p:nvSpPr>
          <p:cNvPr id="53" name="v:Unpacking:u2n2|b3"/>
          <p:cNvSpPr txBox="1"/>
          <p:nvPr/>
        </p:nvSpPr>
        <p:spPr>
          <a:xfrm>
            <a:off x="3262579"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last</a:t>
            </a:r>
            <a:endParaRPr lang="en-US" sz="1100" dirty="0"/>
          </a:p>
        </p:txBody>
      </p:sp>
      <p:sp>
        <p:nvSpPr>
          <p:cNvPr id="54" name="v:Unpacking:u2v2|b3"/>
          <p:cNvSpPr txBox="1"/>
          <p:nvPr/>
        </p:nvSpPr>
        <p:spPr>
          <a:xfrm>
            <a:off x="3262579"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4</a:t>
            </a:r>
            <a:endParaRPr lang="en-US" sz="950" dirty="0"/>
          </a:p>
        </p:txBody>
      </p:sp>
      <p:sp>
        <p:nvSpPr>
          <p:cNvPr id="55" name="v:ListComprehension:f0box:box|b4"/>
          <p:cNvSpPr/>
          <p:nvPr/>
        </p:nvSpPr>
        <p:spPr>
          <a:xfrm>
            <a:off x="4754880" y="1188720"/>
            <a:ext cx="4023360" cy="713232"/>
          </a:xfrm>
          <a:prstGeom prst="roundRect">
            <a:avLst>
              <a:gd name="adj" fmla="val 10256"/>
            </a:avLst>
          </a:prstGeom>
          <a:solidFill>
            <a:srgbClr val="F1F4F8"/>
          </a:solidFill>
          <a:ln w="12700">
            <a:solidFill>
              <a:srgbClr val="F1F4F8"/>
            </a:solidFill>
            <a:prstDash val="solid"/>
          </a:ln>
        </p:spPr>
      </p:sp>
      <p:sp>
        <p:nvSpPr>
          <p:cNvPr id="56" name="v:ListComprehension:f0t|b4"/>
          <p:cNvSpPr txBox="1"/>
          <p:nvPr/>
        </p:nvSpPr>
        <p:spPr>
          <a:xfrm>
            <a:off x="4864608" y="1207008"/>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Build a list from a rule</a:t>
            </a:r>
            <a:endParaRPr lang="en-US" sz="1050" dirty="0"/>
          </a:p>
        </p:txBody>
      </p:sp>
      <p:sp>
        <p:nvSpPr>
          <p:cNvPr id="57" name="v:ListComprehension:f0e|b4"/>
          <p:cNvSpPr txBox="1"/>
          <p:nvPr/>
        </p:nvSpPr>
        <p:spPr>
          <a:xfrm>
            <a:off x="4864608" y="1380744"/>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[x**2 for x in range(10)]</a:t>
            </a:r>
            <a:endParaRPr lang="en-US" sz="1000" dirty="0"/>
          </a:p>
        </p:txBody>
      </p:sp>
      <p:sp>
        <p:nvSpPr>
          <p:cNvPr id="58" name="v:ListComprehension:f0r|b4"/>
          <p:cNvSpPr txBox="1"/>
          <p:nvPr/>
        </p:nvSpPr>
        <p:spPr>
          <a:xfrm>
            <a:off x="4864608" y="1554480"/>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1, 4, 9, 16, 25, 36, 49, 64, 81]</a:t>
            </a:r>
            <a:endParaRPr lang="en-US" sz="1200" dirty="0"/>
          </a:p>
        </p:txBody>
      </p:sp>
      <p:sp>
        <p:nvSpPr>
          <p:cNvPr id="59" name="v:ListComprehension:f1box:box|b5"/>
          <p:cNvSpPr/>
          <p:nvPr/>
        </p:nvSpPr>
        <p:spPr>
          <a:xfrm>
            <a:off x="4754880" y="1975104"/>
            <a:ext cx="4023360" cy="713232"/>
          </a:xfrm>
          <a:prstGeom prst="roundRect">
            <a:avLst>
              <a:gd name="adj" fmla="val 10256"/>
            </a:avLst>
          </a:prstGeom>
          <a:solidFill>
            <a:srgbClr val="F1F4F8"/>
          </a:solidFill>
          <a:ln w="12700">
            <a:solidFill>
              <a:srgbClr val="F1F4F8"/>
            </a:solidFill>
            <a:prstDash val="solid"/>
          </a:ln>
        </p:spPr>
      </p:sp>
      <p:sp>
        <p:nvSpPr>
          <p:cNvPr id="60" name="v:ListComprehension:f1t|b5"/>
          <p:cNvSpPr txBox="1"/>
          <p:nvPr/>
        </p:nvSpPr>
        <p:spPr>
          <a:xfrm>
            <a:off x="4864608" y="1993392"/>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Keep only some items</a:t>
            </a:r>
            <a:endParaRPr lang="en-US" sz="1050" dirty="0"/>
          </a:p>
        </p:txBody>
      </p:sp>
      <p:sp>
        <p:nvSpPr>
          <p:cNvPr id="61" name="v:ListComprehension:f1e|b5"/>
          <p:cNvSpPr txBox="1"/>
          <p:nvPr/>
        </p:nvSpPr>
        <p:spPr>
          <a:xfrm>
            <a:off x="4864608" y="2167128"/>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 for x in vec if x &gt;= 0]</a:t>
            </a:r>
            <a:endParaRPr lang="en-US" sz="1000" dirty="0"/>
          </a:p>
        </p:txBody>
      </p:sp>
      <p:sp>
        <p:nvSpPr>
          <p:cNvPr id="62" name="v:ListComprehension:f1r|b5"/>
          <p:cNvSpPr txBox="1"/>
          <p:nvPr/>
        </p:nvSpPr>
        <p:spPr>
          <a:xfrm>
            <a:off x="4864608" y="2340864"/>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2, 4]</a:t>
            </a:r>
            <a:endParaRPr lang="en-US" sz="1200" dirty="0"/>
          </a:p>
        </p:txBody>
      </p:sp>
      <p:sp>
        <p:nvSpPr>
          <p:cNvPr id="63" name="v:ListComprehension:f2box:box|b6"/>
          <p:cNvSpPr/>
          <p:nvPr/>
        </p:nvSpPr>
        <p:spPr>
          <a:xfrm>
            <a:off x="4754880" y="2761488"/>
            <a:ext cx="4023360" cy="713232"/>
          </a:xfrm>
          <a:prstGeom prst="roundRect">
            <a:avLst>
              <a:gd name="adj" fmla="val 10256"/>
            </a:avLst>
          </a:prstGeom>
          <a:solidFill>
            <a:srgbClr val="F1F4F8"/>
          </a:solidFill>
          <a:ln w="12700">
            <a:solidFill>
              <a:srgbClr val="F1F4F8"/>
            </a:solidFill>
            <a:prstDash val="solid"/>
          </a:ln>
        </p:spPr>
      </p:sp>
      <p:sp>
        <p:nvSpPr>
          <p:cNvPr id="64" name="v:ListComprehension:f2t|b6"/>
          <p:cNvSpPr txBox="1"/>
          <p:nvPr/>
        </p:nvSpPr>
        <p:spPr>
          <a:xfrm>
            <a:off x="4864608" y="2779776"/>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A star splices a list into a list</a:t>
            </a:r>
            <a:endParaRPr lang="en-US" sz="1050" dirty="0"/>
          </a:p>
        </p:txBody>
      </p:sp>
      <p:sp>
        <p:nvSpPr>
          <p:cNvPr id="65" name="v:ListComprehension:f2e|b6"/>
          <p:cNvSpPr txBox="1"/>
          <p:nvPr/>
        </p:nvSpPr>
        <p:spPr>
          <a:xfrm>
            <a:off x="4864608" y="2953512"/>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[*[1, 2], *[3]]</a:t>
            </a:r>
            <a:endParaRPr lang="en-US" sz="1000" dirty="0"/>
          </a:p>
        </p:txBody>
      </p:sp>
      <p:sp>
        <p:nvSpPr>
          <p:cNvPr id="66" name="v:ListComprehension:f2r|b6"/>
          <p:cNvSpPr txBox="1"/>
          <p:nvPr/>
        </p:nvSpPr>
        <p:spPr>
          <a:xfrm>
            <a:off x="4864608" y="3127248"/>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[1, 2, 3]</a:t>
            </a:r>
            <a:endParaRPr lang="en-US" sz="1200" dirty="0"/>
          </a:p>
        </p:txBody>
      </p:sp>
      <p:sp>
        <p:nvSpPr>
          <p:cNvPr id="67" name="v:Unpacking:errbox:box|b7"/>
          <p:cNvSpPr/>
          <p:nvPr/>
        </p:nvSpPr>
        <p:spPr>
          <a:xfrm>
            <a:off x="4754880" y="3639312"/>
            <a:ext cx="4023360" cy="868680"/>
          </a:xfrm>
          <a:prstGeom prst="roundRect">
            <a:avLst>
              <a:gd name="adj" fmla="val 8421"/>
            </a:avLst>
          </a:prstGeom>
          <a:solidFill>
            <a:srgbClr val="FBE1E1"/>
          </a:solidFill>
          <a:ln w="12700">
            <a:solidFill>
              <a:srgbClr val="D64545"/>
            </a:solidFill>
            <a:prstDash val="solid"/>
          </a:ln>
        </p:spPr>
      </p:sp>
      <p:sp>
        <p:nvSpPr>
          <p:cNvPr id="68" name="v:Unpacking:err|b7"/>
          <p:cNvSpPr txBox="1"/>
          <p:nvPr/>
        </p:nvSpPr>
        <p:spPr>
          <a:xfrm>
            <a:off x="4864608" y="3639312"/>
            <a:ext cx="3803904" cy="86868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size, color, disposition, name = cat  →  ValueError: not enough values to unpack (expected 4, got 3)</a:t>
            </a:r>
            <a:endParaRPr lang="en-US" sz="1000" dirty="0"/>
          </a:p>
        </p:txBody>
      </p:sp>
      <p:sp>
        <p:nvSpPr>
          <p:cNvPr id="69"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0"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1"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Multiple assignment, Starred unpacking, List comprehension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childTnLst>
                          </p:cTn>
                        </p:par>
                      </p:childTnLst>
                    </p:cTn>
                  </p:par>
                  <p:par>
                    <p:cTn id="92" fill="hold">
                      <p:stCondLst>
                        <p:cond delay="indefinite"/>
                      </p:stCondLst>
                      <p:childTnLst>
                        <p:par>
                          <p:cTn id="93"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childTnLst>
                          </p:cTn>
                        </p:par>
                      </p:childTnLst>
                    </p:cTn>
                  </p:par>
                  <p:par>
                    <p:cTn id="154" fill="hold">
                      <p:stCondLst>
                        <p:cond delay="indefinite"/>
                      </p:stCondLst>
                      <p:childTnLst>
                        <p:par>
                          <p:cTn id="155"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400"/>
                                        <p:tgtEl>
                                          <p:spTgt spid="45"/>
                                        </p:tgtEl>
                                      </p:cBhvr>
                                    </p:animEffect>
                                  </p:childTnLst>
                                </p:cTn>
                              </p:par>
                              <p:par>
                                <p:cTn id="127" presetID="10" presetClass="entr" presetSubtype="0" fill="hold" nodeType="with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childTnLst>
                          </p:cTn>
                        </p:par>
                      </p:childTnLst>
                    </p:cTn>
                  </p:par>
                  <p:par>
                    <p:cTn id="168" fill="hold">
                      <p:stCondLst>
                        <p:cond delay="indefinite"/>
                      </p:stCondLst>
                      <p:childTnLst>
                        <p:par>
                          <p:cTn id="169"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7"/>
                                        </p:tgtEl>
                                        <p:attrNameLst>
                                          <p:attrName>style.visibility</p:attrName>
                                        </p:attrNameLst>
                                      </p:cBhvr>
                                      <p:to>
                                        <p:strVal val="visible"/>
                                      </p:to>
                                    </p:set>
                                    <p:animEffect transition="in" filter="fade">
                                      <p:cBhvr>
                                        <p:cTn id="164" dur="400"/>
                                        <p:tgtEl>
                                          <p:spTgt spid="57"/>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childTnLst>
                          </p:cTn>
                        </p:par>
                      </p:childTnLst>
                    </p:cTn>
                  </p:par>
                  <p:par>
                    <p:cTn id="182" fill="hold">
                      <p:stCondLst>
                        <p:cond delay="indefinite"/>
                      </p:stCondLst>
                      <p:childTnLst>
                        <p:par>
                          <p:cTn id="183"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2" dur="400"/>
                                        <p:tgtEl>
                                          <p:spTgt spid="5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400"/>
                                        <p:tgtEl>
                                          <p:spTgt spid="60"/>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400"/>
                                        <p:tgtEl>
                                          <p:spTgt spid="6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400"/>
                                        <p:tgtEl>
                                          <p:spTgt spid="62"/>
                                        </p:tgtEl>
                                      </p:cBhvr>
                                    </p:animEffect>
                                  </p:childTnLst>
                                </p:cTn>
                              </p:par>
                            </p:childTnLst>
                          </p:cTn>
                        </p:par>
                      </p:childTnLst>
                    </p:cTn>
                  </p:par>
                  <p:par>
                    <p:cTn id="196" fill="hold">
                      <p:stCondLst>
                        <p:cond delay="indefinite"/>
                      </p:stCondLst>
                      <p:childTnLst>
                        <p:par>
                          <p:cTn id="197" fill="hold">
                            <p:stCondLst>
                              <p:cond delay="0"/>
                            </p:stCondLst>
                            <p:childTnLst>
                              <p:par>
                                <p:cTn id="184" presetID="10" presetClass="entr" presetSubtype="0" fill="hold" nodeType="click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400"/>
                                        <p:tgtEl>
                                          <p:spTgt spid="63"/>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400"/>
                                        <p:tgtEl>
                                          <p:spTgt spid="6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400"/>
                                        <p:tgtEl>
                                          <p:spTgt spid="65"/>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400"/>
                                        <p:tgtEl>
                                          <p:spTgt spid="66"/>
                                        </p:tgtEl>
                                      </p:cBhvr>
                                    </p:animEffect>
                                  </p:childTnLst>
                                </p:cTn>
                              </p:par>
                            </p:childTnLst>
                          </p:cTn>
                        </p:par>
                      </p:childTnLst>
                    </p:cTn>
                  </p:par>
                  <p:par>
                    <p:cTn id="204" fill="hold">
                      <p:stCondLst>
                        <p:cond delay="indefinite"/>
                      </p:stCondLst>
                      <p:childTnLst>
                        <p:par>
                          <p:cTn id="205" fill="hold">
                            <p:stCondLst>
                              <p:cond delay="0"/>
                            </p:stCondLst>
                            <p:childTnLst>
                              <p:par>
                                <p:cTn id="198" presetID="10" presetClass="entr" presetSubtype="0" fill="hold" nodeType="clickEffect">
                                  <p:stCondLst>
                                    <p:cond delay="0"/>
                                  </p:stCondLst>
                                  <p:childTnLst>
                                    <p:set>
                                      <p:cBhvr>
                                        <p:cTn id="199" dur="1" fill="hold">
                                          <p:stCondLst>
                                            <p:cond delay="0"/>
                                          </p:stCondLst>
                                        </p:cTn>
                                        <p:tgtEl>
                                          <p:spTgt spid="67"/>
                                        </p:tgtEl>
                                        <p:attrNameLst>
                                          <p:attrName>style.visibility</p:attrName>
                                        </p:attrNameLst>
                                      </p:cBhvr>
                                      <p:to>
                                        <p:strVal val="visible"/>
                                      </p:to>
                                    </p:set>
                                    <p:animEffect transition="in" filter="fade">
                                      <p:cBhvr>
                                        <p:cTn id="200" dur="400"/>
                                        <p:tgtEl>
                                          <p:spTgt spid="67"/>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68"/>
                                        </p:tgtEl>
                                        <p:attrNameLst>
                                          <p:attrName>style.visibility</p:attrName>
                                        </p:attrNameLst>
                                      </p:cBhvr>
                                      <p:to>
                                        <p:strVal val="visible"/>
                                      </p:to>
                                    </p:set>
                                    <p:animEffect transition="in" filter="fade">
                                      <p:cBhvr>
                                        <p:cTn id="203"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8" grpId="0" animBg="1"/>
      <p:bldP spid="20" grpId="0" animBg="1"/>
      <p:bldP spid="21" grpId="0" animBg="1"/>
      <p:bldP spid="22" grpId="0" animBg="1"/>
      <p:bldP spid="24" grpId="0" animBg="1"/>
      <p:bldP spid="26" grpId="0" animBg="1"/>
      <p:bldP spid="28" grpId="0" animBg="1"/>
      <p:bldP spid="30" grpId="0" animBg="1"/>
      <p:bldP spid="31" grpId="0" animBg="1"/>
      <p:bldP spid="33" grpId="0" animBg="1"/>
      <p:bldP spid="34"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3" grpId="0" animBg="1"/>
      <p:bldP spid="54" grpId="0" animBg="1"/>
      <p:bldP spid="56" grpId="0" animBg="1"/>
      <p:bldP spid="57" grpId="0" animBg="1"/>
      <p:bldP spid="58" grpId="0" animBg="1"/>
      <p:bldP spid="60" grpId="0" animBg="1"/>
      <p:bldP spid="61" grpId="0" animBg="1"/>
      <p:bldP spid="62" grpId="0" animBg="1"/>
      <p:bldP spid="64" grpId="0" animBg="1"/>
      <p:bldP spid="65" grpId="0" animBg="1"/>
      <p:bldP spid="66" grpId="0" animBg="1"/>
      <p:bldP spid="6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5</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Sequences and references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Lists, strings and tuples share the sequence operations, and what a variable holds decides what copying a list means.</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Sequence types</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Mutable versus immutable</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Tuple type</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References</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References and aliasing</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arguments</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Replication aliasing</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Copying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Shallow copy</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Deep copy</a:t>
            </a:r>
            <a:endParaRPr lang="en-US" sz="1200" dirty="0"/>
          </a:p>
        </p:txBody>
      </p:sp>
      <p:sp>
        <p:nvSpPr>
          <p:cNvPr id="23" name="x"/>
          <p:cNvSpPr/>
          <p:nvPr/>
        </p:nvSpPr>
        <p:spPr>
          <a:xfrm>
            <a:off x="548640" y="4572000"/>
            <a:ext cx="1267968" cy="64008"/>
          </a:xfrm>
          <a:prstGeom prst="rect">
            <a:avLst/>
          </a:prstGeom>
          <a:solidFill>
            <a:srgbClr val="4A5D75"/>
          </a:solidFill>
          <a:ln w="12700">
            <a:solidFill>
              <a:srgbClr val="4A5D75"/>
            </a:solidFill>
            <a:prstDash val="solid"/>
          </a:ln>
        </p:spPr>
      </p:sp>
      <p:sp>
        <p:nvSpPr>
          <p:cNvPr id="24" name="x"/>
          <p:cNvSpPr/>
          <p:nvPr/>
        </p:nvSpPr>
        <p:spPr>
          <a:xfrm>
            <a:off x="1889760" y="4572000"/>
            <a:ext cx="1267968" cy="64008"/>
          </a:xfrm>
          <a:prstGeom prst="rect">
            <a:avLst/>
          </a:prstGeom>
          <a:solidFill>
            <a:srgbClr val="4A5D75"/>
          </a:solidFill>
          <a:ln w="12700">
            <a:solidFill>
              <a:srgbClr val="4A5D75"/>
            </a:solidFill>
            <a:prstDash val="solid"/>
          </a:ln>
        </p:spPr>
      </p:sp>
      <p:sp>
        <p:nvSpPr>
          <p:cNvPr id="25" name="x"/>
          <p:cNvSpPr/>
          <p:nvPr/>
        </p:nvSpPr>
        <p:spPr>
          <a:xfrm>
            <a:off x="3230880" y="4572000"/>
            <a:ext cx="1267968" cy="64008"/>
          </a:xfrm>
          <a:prstGeom prst="rect">
            <a:avLst/>
          </a:prstGeom>
          <a:solidFill>
            <a:srgbClr val="4A5D75"/>
          </a:solidFill>
          <a:ln w="12700">
            <a:solidFill>
              <a:srgbClr val="4A5D75"/>
            </a:solidFill>
            <a:prstDash val="solid"/>
          </a:ln>
        </p:spPr>
      </p:sp>
      <p:sp>
        <p:nvSpPr>
          <p:cNvPr id="26" name="x"/>
          <p:cNvSpPr/>
          <p:nvPr/>
        </p:nvSpPr>
        <p:spPr>
          <a:xfrm>
            <a:off x="4572000" y="4572000"/>
            <a:ext cx="1267968" cy="64008"/>
          </a:xfrm>
          <a:prstGeom prst="rect">
            <a:avLst/>
          </a:prstGeom>
          <a:solidFill>
            <a:srgbClr val="4A5D75"/>
          </a:solidFill>
          <a:ln w="12700">
            <a:solidFill>
              <a:srgbClr val="4A5D75"/>
            </a:solidFill>
            <a:prstDash val="solid"/>
          </a:ln>
        </p:spPr>
      </p:sp>
      <p:sp>
        <p:nvSpPr>
          <p:cNvPr id="27" name="x"/>
          <p:cNvSpPr/>
          <p:nvPr/>
        </p:nvSpPr>
        <p:spPr>
          <a:xfrm>
            <a:off x="5913120" y="4572000"/>
            <a:ext cx="1267968" cy="64008"/>
          </a:xfrm>
          <a:prstGeom prst="rect">
            <a:avLst/>
          </a:prstGeom>
          <a:solidFill>
            <a:srgbClr val="FFD43B"/>
          </a:solidFill>
          <a:ln w="12700">
            <a:solidFill>
              <a:srgbClr val="FFD43B"/>
            </a:solidFill>
            <a:prstDash val="solid"/>
          </a:ln>
        </p:spPr>
      </p:sp>
      <p:sp>
        <p:nvSpPr>
          <p:cNvPr id="28"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58" fill="hold">
                      <p:stCondLst>
                        <p:cond delay="indefinite"/>
                      </p:stCondLst>
                      <p:childTnLst>
                        <p:par>
                          <p:cTn id="59"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Lists change in place; strings and tuples do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Among list, str, tuple and range only the list is a mutable sequence</a:t>
            </a:r>
            <a:endParaRPr lang="en-US" sz="1400" dirty="0"/>
          </a:p>
        </p:txBody>
      </p:sp>
      <p:sp>
        <p:nvSpPr>
          <p:cNvPr id="6" name="v:MutableVersusImmutable:s0box:box|b1"/>
          <p:cNvSpPr/>
          <p:nvPr/>
        </p:nvSpPr>
        <p:spPr>
          <a:xfrm>
            <a:off x="365760" y="1188720"/>
            <a:ext cx="2020824" cy="1828800"/>
          </a:xfrm>
          <a:prstGeom prst="roundRect">
            <a:avLst>
              <a:gd name="adj" fmla="val 4000"/>
            </a:avLst>
          </a:prstGeom>
          <a:solidFill>
            <a:srgbClr val="F1F4F8"/>
          </a:solidFill>
          <a:ln w="25400">
            <a:solidFill>
              <a:srgbClr val="2E9E5B"/>
            </a:solidFill>
            <a:prstDash val="solid"/>
          </a:ln>
        </p:spPr>
      </p:sp>
      <p:sp>
        <p:nvSpPr>
          <p:cNvPr id="7" name="v:MutableVersusImmutable:s0name|b1"/>
          <p:cNvSpPr txBox="1"/>
          <p:nvPr/>
        </p:nvSpPr>
        <p:spPr>
          <a:xfrm>
            <a:off x="475488" y="1243584"/>
            <a:ext cx="1801368" cy="310896"/>
          </a:xfrm>
          <a:prstGeom prst="rect">
            <a:avLst/>
          </a:prstGeom>
          <a:noFill/>
          <a:ln/>
        </p:spPr>
        <p:txBody>
          <a:bodyPr wrap="square" lIns="0" tIns="0" rIns="0" bIns="0" rtlCol="0" anchor="ctr"/>
          <a:lstStyle/>
          <a:p>
            <a:pPr indent="0" marL="0">
              <a:buNone/>
            </a:pPr>
            <a:r>
              <a:rPr lang="en-US" sz="1700" b="1" dirty="0">
                <a:solidFill>
                  <a:srgbClr val="2E9E5B"/>
                </a:solidFill>
                <a:latin typeface="Courier New" pitchFamily="34" charset="0"/>
                <a:ea typeface="Courier New" pitchFamily="34" charset="-122"/>
                <a:cs typeface="Courier New" pitchFamily="34" charset="-120"/>
              </a:rPr>
              <a:t>list</a:t>
            </a:r>
            <a:endParaRPr lang="en-US" sz="1700" dirty="0"/>
          </a:p>
        </p:txBody>
      </p:sp>
      <p:sp>
        <p:nvSpPr>
          <p:cNvPr id="8" name="v:MutableVersusImmutable:s0sample|b1"/>
          <p:cNvSpPr txBox="1"/>
          <p:nvPr/>
        </p:nvSpPr>
        <p:spPr>
          <a:xfrm>
            <a:off x="475488"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['A', 'B', 'C']</a:t>
            </a:r>
            <a:endParaRPr lang="en-US" sz="1050" dirty="0"/>
          </a:p>
        </p:txBody>
      </p:sp>
      <p:sp>
        <p:nvSpPr>
          <p:cNvPr id="9" name="v:MutableVersusImmutable:s0chip:box|b1"/>
          <p:cNvSpPr/>
          <p:nvPr/>
        </p:nvSpPr>
        <p:spPr>
          <a:xfrm>
            <a:off x="475488" y="1865376"/>
            <a:ext cx="960120" cy="237744"/>
          </a:xfrm>
          <a:prstGeom prst="roundRect">
            <a:avLst>
              <a:gd name="adj" fmla="val 30769"/>
            </a:avLst>
          </a:prstGeom>
          <a:solidFill>
            <a:srgbClr val="DDF3E6"/>
          </a:solidFill>
          <a:ln w="12700">
            <a:solidFill>
              <a:srgbClr val="2E9E5B"/>
            </a:solidFill>
            <a:prstDash val="solid"/>
          </a:ln>
        </p:spPr>
      </p:sp>
      <p:sp>
        <p:nvSpPr>
          <p:cNvPr id="10" name="v:MutableVersusImmutable:s0mut|b1"/>
          <p:cNvSpPr txBox="1"/>
          <p:nvPr/>
        </p:nvSpPr>
        <p:spPr>
          <a:xfrm>
            <a:off x="475488" y="1865376"/>
            <a:ext cx="960120" cy="23774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mutable</a:t>
            </a:r>
            <a:endParaRPr lang="en-US" sz="1100" dirty="0"/>
          </a:p>
        </p:txBody>
      </p:sp>
      <p:sp>
        <p:nvSpPr>
          <p:cNvPr id="11" name="v:MutableVersusImmutable:s0assign|b1"/>
          <p:cNvSpPr txBox="1"/>
          <p:nvPr/>
        </p:nvSpPr>
        <p:spPr>
          <a:xfrm>
            <a:off x="475488"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'X'</a:t>
            </a:r>
            <a:endParaRPr lang="en-US" sz="1050" dirty="0"/>
          </a:p>
        </p:txBody>
      </p:sp>
      <p:sp>
        <p:nvSpPr>
          <p:cNvPr id="12" name="v:MutableVersusImmutable:s0result|b1"/>
          <p:cNvSpPr txBox="1"/>
          <p:nvPr/>
        </p:nvSpPr>
        <p:spPr>
          <a:xfrm>
            <a:off x="475488" y="2377440"/>
            <a:ext cx="1801368" cy="585216"/>
          </a:xfrm>
          <a:prstGeom prst="rect">
            <a:avLst/>
          </a:prstGeom>
          <a:noFill/>
          <a:ln/>
        </p:spPr>
        <p:txBody>
          <a:bodyPr wrap="square" lIns="0" tIns="0" rIns="0" bIns="0" rtlCol="0" anchor="t"/>
          <a:lstStyle/>
          <a:p>
            <a:pPr indent="0" marL="0">
              <a:buNone/>
            </a:pPr>
            <a:r>
              <a:rPr lang="en-US" sz="950" dirty="0">
                <a:solidFill>
                  <a:srgbClr val="2E9E5B"/>
                </a:solidFill>
                <a:latin typeface="Courier New" pitchFamily="34" charset="0"/>
                <a:ea typeface="Courier New" pitchFamily="34" charset="-122"/>
                <a:cs typeface="Courier New" pitchFamily="34" charset="-120"/>
              </a:rPr>
              <a:t>ok: ['A', 'X', 'C']</a:t>
            </a:r>
            <a:endParaRPr lang="en-US" sz="950" dirty="0"/>
          </a:p>
        </p:txBody>
      </p:sp>
      <p:sp>
        <p:nvSpPr>
          <p:cNvPr id="13" name="v:MutableVersusImmutable:s1box:box|b2"/>
          <p:cNvSpPr/>
          <p:nvPr/>
        </p:nvSpPr>
        <p:spPr>
          <a:xfrm>
            <a:off x="2496312" y="1188720"/>
            <a:ext cx="2020824" cy="1828800"/>
          </a:xfrm>
          <a:prstGeom prst="roundRect">
            <a:avLst>
              <a:gd name="adj" fmla="val 4000"/>
            </a:avLst>
          </a:prstGeom>
          <a:solidFill>
            <a:srgbClr val="F1F4F8"/>
          </a:solidFill>
          <a:ln w="25400">
            <a:solidFill>
              <a:srgbClr val="D64545"/>
            </a:solidFill>
            <a:prstDash val="solid"/>
          </a:ln>
        </p:spPr>
      </p:sp>
      <p:sp>
        <p:nvSpPr>
          <p:cNvPr id="14" name="v:MutableVersusImmutable:s1name|b2"/>
          <p:cNvSpPr txBox="1"/>
          <p:nvPr/>
        </p:nvSpPr>
        <p:spPr>
          <a:xfrm>
            <a:off x="2606040"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str</a:t>
            </a:r>
            <a:endParaRPr lang="en-US" sz="1700" dirty="0"/>
          </a:p>
        </p:txBody>
      </p:sp>
      <p:sp>
        <p:nvSpPr>
          <p:cNvPr id="15" name="v:MutableVersusImmutable:s1sample|b2"/>
          <p:cNvSpPr txBox="1"/>
          <p:nvPr/>
        </p:nvSpPr>
        <p:spPr>
          <a:xfrm>
            <a:off x="2606040"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'Zophie a cat'</a:t>
            </a:r>
            <a:endParaRPr lang="en-US" sz="1050" dirty="0"/>
          </a:p>
        </p:txBody>
      </p:sp>
      <p:sp>
        <p:nvSpPr>
          <p:cNvPr id="16" name="v:MutableVersusImmutable:s1chip:box|b2"/>
          <p:cNvSpPr/>
          <p:nvPr/>
        </p:nvSpPr>
        <p:spPr>
          <a:xfrm>
            <a:off x="2606040" y="1865376"/>
            <a:ext cx="960120" cy="237744"/>
          </a:xfrm>
          <a:prstGeom prst="roundRect">
            <a:avLst>
              <a:gd name="adj" fmla="val 30769"/>
            </a:avLst>
          </a:prstGeom>
          <a:solidFill>
            <a:srgbClr val="FBE1E1"/>
          </a:solidFill>
          <a:ln w="12700">
            <a:solidFill>
              <a:srgbClr val="D64545"/>
            </a:solidFill>
            <a:prstDash val="solid"/>
          </a:ln>
        </p:spPr>
      </p:sp>
      <p:sp>
        <p:nvSpPr>
          <p:cNvPr id="17" name="v:MutableVersusImmutable:s1mut|b2"/>
          <p:cNvSpPr txBox="1"/>
          <p:nvPr/>
        </p:nvSpPr>
        <p:spPr>
          <a:xfrm>
            <a:off x="2606040"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18" name="v:MutableVersusImmutable:s1assign|b2"/>
          <p:cNvSpPr txBox="1"/>
          <p:nvPr/>
        </p:nvSpPr>
        <p:spPr>
          <a:xfrm>
            <a:off x="2606040"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x[7] = 'the'</a:t>
            </a:r>
            <a:endParaRPr lang="en-US" sz="1050" dirty="0"/>
          </a:p>
        </p:txBody>
      </p:sp>
      <p:sp>
        <p:nvSpPr>
          <p:cNvPr id="19" name="v:MutableVersusImmutable:s1result|b2"/>
          <p:cNvSpPr txBox="1"/>
          <p:nvPr/>
        </p:nvSpPr>
        <p:spPr>
          <a:xfrm>
            <a:off x="2606040"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'str' object does not support item assignment</a:t>
            </a:r>
            <a:endParaRPr lang="en-US" sz="950" dirty="0"/>
          </a:p>
        </p:txBody>
      </p:sp>
      <p:sp>
        <p:nvSpPr>
          <p:cNvPr id="20" name="v:MutableVersusImmutable:s2box:box|b3"/>
          <p:cNvSpPr/>
          <p:nvPr/>
        </p:nvSpPr>
        <p:spPr>
          <a:xfrm>
            <a:off x="4626864" y="1188720"/>
            <a:ext cx="2020824" cy="1828800"/>
          </a:xfrm>
          <a:prstGeom prst="roundRect">
            <a:avLst>
              <a:gd name="adj" fmla="val 4000"/>
            </a:avLst>
          </a:prstGeom>
          <a:solidFill>
            <a:srgbClr val="F1F4F8"/>
          </a:solidFill>
          <a:ln w="25400">
            <a:solidFill>
              <a:srgbClr val="D64545"/>
            </a:solidFill>
            <a:prstDash val="solid"/>
          </a:ln>
        </p:spPr>
      </p:sp>
      <p:sp>
        <p:nvSpPr>
          <p:cNvPr id="21" name="v:MutableVersusImmutable:s2name|b3"/>
          <p:cNvSpPr txBox="1"/>
          <p:nvPr/>
        </p:nvSpPr>
        <p:spPr>
          <a:xfrm>
            <a:off x="4736592"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tuple</a:t>
            </a:r>
            <a:endParaRPr lang="en-US" sz="1700" dirty="0"/>
          </a:p>
        </p:txBody>
      </p:sp>
      <p:sp>
        <p:nvSpPr>
          <p:cNvPr id="22" name="v:MutableVersusImmutable:s2sample|b3"/>
          <p:cNvSpPr txBox="1"/>
          <p:nvPr/>
        </p:nvSpPr>
        <p:spPr>
          <a:xfrm>
            <a:off x="4736592"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('hello', 42, 0.5)</a:t>
            </a:r>
            <a:endParaRPr lang="en-US" sz="1050" dirty="0"/>
          </a:p>
        </p:txBody>
      </p:sp>
      <p:sp>
        <p:nvSpPr>
          <p:cNvPr id="23" name="v:MutableVersusImmutable:s2chip:box|b3"/>
          <p:cNvSpPr/>
          <p:nvPr/>
        </p:nvSpPr>
        <p:spPr>
          <a:xfrm>
            <a:off x="4736592" y="1865376"/>
            <a:ext cx="960120" cy="237744"/>
          </a:xfrm>
          <a:prstGeom prst="roundRect">
            <a:avLst>
              <a:gd name="adj" fmla="val 30769"/>
            </a:avLst>
          </a:prstGeom>
          <a:solidFill>
            <a:srgbClr val="FBE1E1"/>
          </a:solidFill>
          <a:ln w="12700">
            <a:solidFill>
              <a:srgbClr val="D64545"/>
            </a:solidFill>
            <a:prstDash val="solid"/>
          </a:ln>
        </p:spPr>
      </p:sp>
      <p:sp>
        <p:nvSpPr>
          <p:cNvPr id="24" name="v:MutableVersusImmutable:s2mut|b3"/>
          <p:cNvSpPr txBox="1"/>
          <p:nvPr/>
        </p:nvSpPr>
        <p:spPr>
          <a:xfrm>
            <a:off x="4736592"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25" name="v:MutableVersusImmutable:s2assign|b3"/>
          <p:cNvSpPr txBox="1"/>
          <p:nvPr/>
        </p:nvSpPr>
        <p:spPr>
          <a:xfrm>
            <a:off x="4736592"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99</a:t>
            </a:r>
            <a:endParaRPr lang="en-US" sz="1050" dirty="0"/>
          </a:p>
        </p:txBody>
      </p:sp>
      <p:sp>
        <p:nvSpPr>
          <p:cNvPr id="26" name="v:MutableVersusImmutable:s2result|b3"/>
          <p:cNvSpPr txBox="1"/>
          <p:nvPr/>
        </p:nvSpPr>
        <p:spPr>
          <a:xfrm>
            <a:off x="4736592"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'tuple' object does not support item assignment</a:t>
            </a:r>
            <a:endParaRPr lang="en-US" sz="950" dirty="0"/>
          </a:p>
        </p:txBody>
      </p:sp>
      <p:sp>
        <p:nvSpPr>
          <p:cNvPr id="27" name="v:MutableVersusImmutable:s3box:box|b4"/>
          <p:cNvSpPr/>
          <p:nvPr/>
        </p:nvSpPr>
        <p:spPr>
          <a:xfrm>
            <a:off x="6757416" y="1188720"/>
            <a:ext cx="2020824" cy="1828800"/>
          </a:xfrm>
          <a:prstGeom prst="roundRect">
            <a:avLst>
              <a:gd name="adj" fmla="val 4000"/>
            </a:avLst>
          </a:prstGeom>
          <a:solidFill>
            <a:srgbClr val="F1F4F8"/>
          </a:solidFill>
          <a:ln w="25400">
            <a:solidFill>
              <a:srgbClr val="D64545"/>
            </a:solidFill>
            <a:prstDash val="solid"/>
          </a:ln>
        </p:spPr>
      </p:sp>
      <p:sp>
        <p:nvSpPr>
          <p:cNvPr id="28" name="v:MutableVersusImmutable:s3name|b4"/>
          <p:cNvSpPr txBox="1"/>
          <p:nvPr/>
        </p:nvSpPr>
        <p:spPr>
          <a:xfrm>
            <a:off x="6867144"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range</a:t>
            </a:r>
            <a:endParaRPr lang="en-US" sz="1700" dirty="0"/>
          </a:p>
        </p:txBody>
      </p:sp>
      <p:sp>
        <p:nvSpPr>
          <p:cNvPr id="29" name="v:MutableVersusImmutable:s3sample|b4"/>
          <p:cNvSpPr txBox="1"/>
          <p:nvPr/>
        </p:nvSpPr>
        <p:spPr>
          <a:xfrm>
            <a:off x="6867144"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range(3)</a:t>
            </a:r>
            <a:endParaRPr lang="en-US" sz="1050" dirty="0"/>
          </a:p>
        </p:txBody>
      </p:sp>
      <p:sp>
        <p:nvSpPr>
          <p:cNvPr id="30" name="v:MutableVersusImmutable:s3chip:box|b4"/>
          <p:cNvSpPr/>
          <p:nvPr/>
        </p:nvSpPr>
        <p:spPr>
          <a:xfrm>
            <a:off x="6867144" y="1865376"/>
            <a:ext cx="960120" cy="237744"/>
          </a:xfrm>
          <a:prstGeom prst="roundRect">
            <a:avLst>
              <a:gd name="adj" fmla="val 30769"/>
            </a:avLst>
          </a:prstGeom>
          <a:solidFill>
            <a:srgbClr val="FBE1E1"/>
          </a:solidFill>
          <a:ln w="12700">
            <a:solidFill>
              <a:srgbClr val="D64545"/>
            </a:solidFill>
            <a:prstDash val="solid"/>
          </a:ln>
        </p:spPr>
      </p:sp>
      <p:sp>
        <p:nvSpPr>
          <p:cNvPr id="31" name="v:MutableVersusImmutable:s3mut|b4"/>
          <p:cNvSpPr txBox="1"/>
          <p:nvPr/>
        </p:nvSpPr>
        <p:spPr>
          <a:xfrm>
            <a:off x="6867144"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32" name="v:MutableVersusImmutable:s3assign|b4"/>
          <p:cNvSpPr txBox="1"/>
          <p:nvPr/>
        </p:nvSpPr>
        <p:spPr>
          <a:xfrm>
            <a:off x="6867144"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5</a:t>
            </a:r>
            <a:endParaRPr lang="en-US" sz="1050" dirty="0"/>
          </a:p>
        </p:txBody>
      </p:sp>
      <p:sp>
        <p:nvSpPr>
          <p:cNvPr id="33" name="v:MutableVersusImmutable:s3result|b4"/>
          <p:cNvSpPr txBox="1"/>
          <p:nvPr/>
        </p:nvSpPr>
        <p:spPr>
          <a:xfrm>
            <a:off x="6867144"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'range' object does not support item assignment</a:t>
            </a:r>
            <a:endParaRPr lang="en-US" sz="950" dirty="0"/>
          </a:p>
        </p:txBody>
      </p:sp>
      <p:sp>
        <p:nvSpPr>
          <p:cNvPr id="34" name="v:TupleType:f0box:box|b5"/>
          <p:cNvSpPr/>
          <p:nvPr/>
        </p:nvSpPr>
        <p:spPr>
          <a:xfrm>
            <a:off x="365760" y="3200400"/>
            <a:ext cx="2731008" cy="1325880"/>
          </a:xfrm>
          <a:prstGeom prst="roundRect">
            <a:avLst>
              <a:gd name="adj" fmla="val 5517"/>
            </a:avLst>
          </a:prstGeom>
          <a:solidFill>
            <a:srgbClr val="F1F4F8"/>
          </a:solidFill>
          <a:ln w="12700">
            <a:solidFill>
              <a:srgbClr val="F1F4F8"/>
            </a:solidFill>
            <a:prstDash val="solid"/>
          </a:ln>
        </p:spPr>
      </p:sp>
      <p:sp>
        <p:nvSpPr>
          <p:cNvPr id="35" name="v:TupleType:f0t|b5"/>
          <p:cNvSpPr txBox="1"/>
          <p:nvPr/>
        </p:nvSpPr>
        <p:spPr>
          <a:xfrm>
            <a:off x="475488"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comma makes the tuple</a:t>
            </a:r>
            <a:endParaRPr lang="en-US" sz="1100" dirty="0"/>
          </a:p>
        </p:txBody>
      </p:sp>
      <p:sp>
        <p:nvSpPr>
          <p:cNvPr id="36" name="v:TupleType:f0e|b5"/>
          <p:cNvSpPr txBox="1"/>
          <p:nvPr/>
        </p:nvSpPr>
        <p:spPr>
          <a:xfrm>
            <a:off x="475488"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37" name="v:TupleType:f0r|b5"/>
          <p:cNvSpPr txBox="1"/>
          <p:nvPr/>
        </p:nvSpPr>
        <p:spPr>
          <a:xfrm>
            <a:off x="475488"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'tuple'&gt;</a:t>
            </a:r>
            <a:endParaRPr lang="en-US" sz="1400" dirty="0"/>
          </a:p>
        </p:txBody>
      </p:sp>
      <p:sp>
        <p:nvSpPr>
          <p:cNvPr id="38" name="v:TupleType:f1box:box|b6"/>
          <p:cNvSpPr/>
          <p:nvPr/>
        </p:nvSpPr>
        <p:spPr>
          <a:xfrm>
            <a:off x="3206496" y="3200400"/>
            <a:ext cx="2731008" cy="1325880"/>
          </a:xfrm>
          <a:prstGeom prst="roundRect">
            <a:avLst>
              <a:gd name="adj" fmla="val 5517"/>
            </a:avLst>
          </a:prstGeom>
          <a:solidFill>
            <a:srgbClr val="F1F4F8"/>
          </a:solidFill>
          <a:ln w="12700">
            <a:solidFill>
              <a:srgbClr val="F1F4F8"/>
            </a:solidFill>
            <a:prstDash val="solid"/>
          </a:ln>
        </p:spPr>
      </p:sp>
      <p:sp>
        <p:nvSpPr>
          <p:cNvPr id="39" name="v:TupleType:f1t|b6"/>
          <p:cNvSpPr txBox="1"/>
          <p:nvPr/>
        </p:nvSpPr>
        <p:spPr>
          <a:xfrm>
            <a:off x="3316224"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Parentheses alone do not</a:t>
            </a:r>
            <a:endParaRPr lang="en-US" sz="1100" dirty="0"/>
          </a:p>
        </p:txBody>
      </p:sp>
      <p:sp>
        <p:nvSpPr>
          <p:cNvPr id="40" name="v:TupleType:f1e|b6"/>
          <p:cNvSpPr txBox="1"/>
          <p:nvPr/>
        </p:nvSpPr>
        <p:spPr>
          <a:xfrm>
            <a:off x="3316224"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41" name="v:TupleType:f1r|b6"/>
          <p:cNvSpPr txBox="1"/>
          <p:nvPr/>
        </p:nvSpPr>
        <p:spPr>
          <a:xfrm>
            <a:off x="3316224"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'str'&gt;</a:t>
            </a:r>
            <a:endParaRPr lang="en-US" sz="1400" dirty="0"/>
          </a:p>
        </p:txBody>
      </p:sp>
      <p:sp>
        <p:nvSpPr>
          <p:cNvPr id="42" name="v:TupleType:f2box:box|b7"/>
          <p:cNvSpPr/>
          <p:nvPr/>
        </p:nvSpPr>
        <p:spPr>
          <a:xfrm>
            <a:off x="6047232" y="3200400"/>
            <a:ext cx="2731008" cy="1325880"/>
          </a:xfrm>
          <a:prstGeom prst="roundRect">
            <a:avLst>
              <a:gd name="adj" fmla="val 5517"/>
            </a:avLst>
          </a:prstGeom>
          <a:solidFill>
            <a:srgbClr val="F1F4F8"/>
          </a:solidFill>
          <a:ln w="12700">
            <a:solidFill>
              <a:srgbClr val="F1F4F8"/>
            </a:solidFill>
            <a:prstDash val="solid"/>
          </a:ln>
        </p:spPr>
      </p:sp>
      <p:sp>
        <p:nvSpPr>
          <p:cNvPr id="43" name="v:TupleType:f2t|b7"/>
          <p:cNvSpPr txBox="1"/>
          <p:nvPr/>
        </p:nvSpPr>
        <p:spPr>
          <a:xfrm>
            <a:off x="6156960"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changed string is rebuilt from slices</a:t>
            </a:r>
            <a:endParaRPr lang="en-US" sz="1100" dirty="0"/>
          </a:p>
        </p:txBody>
      </p:sp>
      <p:sp>
        <p:nvSpPr>
          <p:cNvPr id="44" name="v:TupleType:f2e|b7"/>
          <p:cNvSpPr txBox="1"/>
          <p:nvPr/>
        </p:nvSpPr>
        <p:spPr>
          <a:xfrm>
            <a:off x="6156960"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name[0:7] + 'the' + name[8:12]</a:t>
            </a:r>
            <a:endParaRPr lang="en-US" sz="1050" dirty="0"/>
          </a:p>
        </p:txBody>
      </p:sp>
      <p:sp>
        <p:nvSpPr>
          <p:cNvPr id="45" name="v:TupleType:f2r|b7"/>
          <p:cNvSpPr txBox="1"/>
          <p:nvPr/>
        </p:nvSpPr>
        <p:spPr>
          <a:xfrm>
            <a:off x="6156960"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'Zophie the cat'</a:t>
            </a:r>
            <a:endParaRPr lang="en-US" sz="1400" dirty="0"/>
          </a:p>
        </p:txBody>
      </p:sp>
      <p:sp>
        <p:nvSpPr>
          <p:cNvPr id="4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Mutable versus immutable, Tuple type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00"/>
                                        <p:tgtEl>
                                          <p:spTgt spid="33"/>
                                        </p:tgtEl>
                                      </p:cBhvr>
                                    </p:animEffect>
                                  </p:childTnLst>
                                </p:cTn>
                              </p:par>
                            </p:childTnLst>
                          </p:cTn>
                        </p:par>
                      </p:childTnLst>
                    </p:cTn>
                  </p:par>
                  <p:par>
                    <p:cTn id="107" fill="hold">
                      <p:stCondLst>
                        <p:cond delay="indefinite"/>
                      </p:stCondLst>
                      <p:childTnLst>
                        <p:par>
                          <p:cTn id="108"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0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0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00"/>
                                        <p:tgtEl>
                                          <p:spTgt spid="37"/>
                                        </p:tgtEl>
                                      </p:cBhvr>
                                    </p:animEffect>
                                  </p:childTnLst>
                                </p:cTn>
                              </p:par>
                            </p:childTnLst>
                          </p:cTn>
                        </p:par>
                      </p:childTnLst>
                    </p:cTn>
                  </p:par>
                  <p:par>
                    <p:cTn id="121" fill="hold">
                      <p:stCondLst>
                        <p:cond delay="indefinite"/>
                      </p:stCondLst>
                      <p:childTnLst>
                        <p:par>
                          <p:cTn id="122"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400"/>
                                        <p:tgtEl>
                                          <p:spTgt spid="41"/>
                                        </p:tgtEl>
                                      </p:cBhvr>
                                    </p:animEffect>
                                  </p:childTnLst>
                                </p:cTn>
                              </p:par>
                            </p:childTnLst>
                          </p:cTn>
                        </p:par>
                      </p:childTnLst>
                    </p:cTn>
                  </p:par>
                  <p:par>
                    <p:cTn id="135" fill="hold">
                      <p:stCondLst>
                        <p:cond delay="indefinite"/>
                      </p:stCondLst>
                      <p:childTnLst>
                        <p:par>
                          <p:cTn id="136"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4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40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400"/>
                                        <p:tgtEl>
                                          <p:spTgt spid="4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5"/>
                                        </p:tgtEl>
                                        <p:attrNameLst>
                                          <p:attrName>style.visibility</p:attrName>
                                        </p:attrNameLst>
                                      </p:cBhvr>
                                      <p:to>
                                        <p:strVal val="visible"/>
                                      </p:to>
                                    </p:set>
                                    <p:animEffect transition="in" filter="fade">
                                      <p:cBhvr>
                                        <p:cTn id="134"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4" grpId="0" animBg="1"/>
      <p:bldP spid="15" grpId="0" animBg="1"/>
      <p:bldP spid="17" grpId="0" animBg="1"/>
      <p:bldP spid="18" grpId="0" animBg="1"/>
      <p:bldP spid="19" grpId="0" animBg="1"/>
      <p:bldP spid="21" grpId="0" animBg="1"/>
      <p:bldP spid="22" grpId="0" animBg="1"/>
      <p:bldP spid="24" grpId="0" animBg="1"/>
      <p:bldP spid="25" grpId="0" animBg="1"/>
      <p:bldP spid="26" grpId="0" animBg="1"/>
      <p:bldP spid="28" grpId="0" animBg="1"/>
      <p:bldP spid="29" grpId="0" animBg="1"/>
      <p:bldP spid="31" grpId="0" animBg="1"/>
      <p:bldP spid="32" grpId="0" animBg="1"/>
      <p:bldP spid="33" grpId="0" animBg="1"/>
      <p:bldP spid="35" grpId="0" animBg="1"/>
      <p:bldP spid="36" grpId="0" animBg="1"/>
      <p:bldP spid="37" grpId="0" animBg="1"/>
      <p:bldP spid="39" grpId="0" animBg="1"/>
      <p:bldP spid="40" grpId="0" animBg="1"/>
      <p:bldP spid="41" grpId="0" animBg="1"/>
      <p:bldP spid="43" grpId="0" animBg="1"/>
      <p:bldP spid="44" grpId="0" animBg="1"/>
      <p:bldP spid="4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Assignment copies nothing: two names, one box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number is replaced; a list is shared</a:t>
            </a:r>
            <a:endParaRPr lang="en-US" sz="1400" dirty="0"/>
          </a:p>
        </p:txBody>
      </p:sp>
      <p:sp>
        <p:nvSpPr>
          <p:cNvPr id="6" name="v:ReferencesAndAliasing:sc0t"/>
          <p:cNvSpPr txBox="1"/>
          <p:nvPr/>
        </p:nvSpPr>
        <p:spPr>
          <a:xfrm>
            <a:off x="365760" y="1143000"/>
            <a:ext cx="841248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a list is shared</a:t>
            </a:r>
            <a:endParaRPr lang="en-US" sz="1200" dirty="0"/>
          </a:p>
        </p:txBody>
      </p:sp>
      <p:sp>
        <p:nvSpPr>
          <p:cNvPr id="7" name="v:ReferencesAndAliasing:g0.0.c|b1"/>
          <p:cNvSpPr txBox="1"/>
          <p:nvPr/>
        </p:nvSpPr>
        <p:spPr>
          <a:xfrm>
            <a:off x="36576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[0, 1, 2, 3]</a:t>
            </a:r>
            <a:endParaRPr lang="en-US" sz="1200" dirty="0"/>
          </a:p>
        </p:txBody>
      </p:sp>
      <p:sp>
        <p:nvSpPr>
          <p:cNvPr id="8" name="v:ReferencesAndAliasing:g0.0.o1i0:box|b1"/>
          <p:cNvSpPr/>
          <p:nvPr/>
        </p:nvSpPr>
        <p:spPr>
          <a:xfrm>
            <a:off x="1371600" y="1783080"/>
            <a:ext cx="384048" cy="310896"/>
          </a:xfrm>
          <a:prstGeom prst="roundRect">
            <a:avLst>
              <a:gd name="adj" fmla="val 11765"/>
            </a:avLst>
          </a:prstGeom>
          <a:solidFill>
            <a:srgbClr val="E3EEF8"/>
          </a:solidFill>
          <a:ln w="19050">
            <a:solidFill>
              <a:srgbClr val="306998"/>
            </a:solidFill>
            <a:prstDash val="solid"/>
          </a:ln>
        </p:spPr>
      </p:sp>
      <p:sp>
        <p:nvSpPr>
          <p:cNvPr id="9" name="v:ReferencesAndAliasing:g0.0.o1i0|b1"/>
          <p:cNvSpPr txBox="1"/>
          <p:nvPr/>
        </p:nvSpPr>
        <p:spPr>
          <a:xfrm>
            <a:off x="138074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10" name="v:ReferencesAndAliasing:g0.0.o1i1:box|b1"/>
          <p:cNvSpPr/>
          <p:nvPr/>
        </p:nvSpPr>
        <p:spPr>
          <a:xfrm>
            <a:off x="1792224" y="1783080"/>
            <a:ext cx="384048" cy="310896"/>
          </a:xfrm>
          <a:prstGeom prst="roundRect">
            <a:avLst>
              <a:gd name="adj" fmla="val 11765"/>
            </a:avLst>
          </a:prstGeom>
          <a:solidFill>
            <a:srgbClr val="E3EEF8"/>
          </a:solidFill>
          <a:ln w="19050">
            <a:solidFill>
              <a:srgbClr val="306998"/>
            </a:solidFill>
            <a:prstDash val="solid"/>
          </a:ln>
        </p:spPr>
      </p:sp>
      <p:sp>
        <p:nvSpPr>
          <p:cNvPr id="11" name="v:ReferencesAndAliasing:g0.0.o1i1|b1"/>
          <p:cNvSpPr txBox="1"/>
          <p:nvPr/>
        </p:nvSpPr>
        <p:spPr>
          <a:xfrm>
            <a:off x="180136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12" name="v:ReferencesAndAliasing:g0.0.o1i2:box|b1"/>
          <p:cNvSpPr/>
          <p:nvPr/>
        </p:nvSpPr>
        <p:spPr>
          <a:xfrm>
            <a:off x="2212848" y="1783080"/>
            <a:ext cx="384048" cy="310896"/>
          </a:xfrm>
          <a:prstGeom prst="roundRect">
            <a:avLst>
              <a:gd name="adj" fmla="val 11765"/>
            </a:avLst>
          </a:prstGeom>
          <a:solidFill>
            <a:srgbClr val="E3EEF8"/>
          </a:solidFill>
          <a:ln w="19050">
            <a:solidFill>
              <a:srgbClr val="306998"/>
            </a:solidFill>
            <a:prstDash val="solid"/>
          </a:ln>
        </p:spPr>
      </p:sp>
      <p:sp>
        <p:nvSpPr>
          <p:cNvPr id="13" name="v:ReferencesAndAliasing:g0.0.o1i2|b1"/>
          <p:cNvSpPr txBox="1"/>
          <p:nvPr/>
        </p:nvSpPr>
        <p:spPr>
          <a:xfrm>
            <a:off x="222199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14" name="v:ReferencesAndAliasing:g0.0.o1i3:box|b1"/>
          <p:cNvSpPr/>
          <p:nvPr/>
        </p:nvSpPr>
        <p:spPr>
          <a:xfrm>
            <a:off x="2633472" y="1783080"/>
            <a:ext cx="384048" cy="310896"/>
          </a:xfrm>
          <a:prstGeom prst="roundRect">
            <a:avLst>
              <a:gd name="adj" fmla="val 11765"/>
            </a:avLst>
          </a:prstGeom>
          <a:solidFill>
            <a:srgbClr val="E3EEF8"/>
          </a:solidFill>
          <a:ln w="19050">
            <a:solidFill>
              <a:srgbClr val="306998"/>
            </a:solidFill>
            <a:prstDash val="solid"/>
          </a:ln>
        </p:spPr>
      </p:sp>
      <p:sp>
        <p:nvSpPr>
          <p:cNvPr id="15" name="v:ReferencesAndAliasing:g0.0.o1i3|b1"/>
          <p:cNvSpPr txBox="1"/>
          <p:nvPr/>
        </p:nvSpPr>
        <p:spPr>
          <a:xfrm>
            <a:off x="2642616"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v:ReferencesAndAliasing:g0.0.n.spam:box|b1"/>
          <p:cNvSpPr/>
          <p:nvPr/>
        </p:nvSpPr>
        <p:spPr>
          <a:xfrm>
            <a:off x="365760" y="1819656"/>
            <a:ext cx="777240" cy="237744"/>
          </a:xfrm>
          <a:prstGeom prst="roundRect">
            <a:avLst>
              <a:gd name="adj" fmla="val 30769"/>
            </a:avLst>
          </a:prstGeom>
          <a:solidFill>
            <a:srgbClr val="FFFFFF"/>
          </a:solidFill>
          <a:ln w="19050">
            <a:solidFill>
              <a:srgbClr val="306998"/>
            </a:solidFill>
            <a:prstDash val="solid"/>
          </a:ln>
        </p:spPr>
      </p:sp>
      <p:sp>
        <p:nvSpPr>
          <p:cNvPr id="17" name="v:ReferencesAndAliasing:g0.0.n.spam|b1"/>
          <p:cNvSpPr txBox="1"/>
          <p:nvPr/>
        </p:nvSpPr>
        <p:spPr>
          <a:xfrm>
            <a:off x="365760" y="18196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18" name="namearrow|b1"/>
          <p:cNvSpPr/>
          <p:nvPr/>
        </p:nvSpPr>
        <p:spPr>
          <a:xfrm>
            <a:off x="1143000" y="1938528"/>
            <a:ext cx="228600" cy="0"/>
          </a:xfrm>
          <a:prstGeom prst="line">
            <a:avLst/>
          </a:prstGeom>
          <a:noFill/>
          <a:ln w="25400">
            <a:solidFill>
              <a:srgbClr val="306998"/>
            </a:solidFill>
            <a:prstDash val="solid"/>
            <a:tailEnd type="triangle"/>
          </a:ln>
        </p:spPr>
      </p:sp>
      <p:sp>
        <p:nvSpPr>
          <p:cNvPr id="19" name="v:ReferencesAndAliasing:g0.1.c|b2"/>
          <p:cNvSpPr txBox="1"/>
          <p:nvPr/>
        </p:nvSpPr>
        <p:spPr>
          <a:xfrm>
            <a:off x="320040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20" name="v:ReferencesAndAliasing:g0.1.o1i0:box|b2"/>
          <p:cNvSpPr/>
          <p:nvPr/>
        </p:nvSpPr>
        <p:spPr>
          <a:xfrm>
            <a:off x="4206240" y="1874520"/>
            <a:ext cx="384048" cy="310896"/>
          </a:xfrm>
          <a:prstGeom prst="roundRect">
            <a:avLst>
              <a:gd name="adj" fmla="val 11765"/>
            </a:avLst>
          </a:prstGeom>
          <a:solidFill>
            <a:srgbClr val="E3EEF8"/>
          </a:solidFill>
          <a:ln w="19050">
            <a:solidFill>
              <a:srgbClr val="306998"/>
            </a:solidFill>
            <a:prstDash val="solid"/>
          </a:ln>
        </p:spPr>
      </p:sp>
      <p:sp>
        <p:nvSpPr>
          <p:cNvPr id="21" name="v:ReferencesAndAliasing:g0.1.o1i0|b2"/>
          <p:cNvSpPr txBox="1"/>
          <p:nvPr/>
        </p:nvSpPr>
        <p:spPr>
          <a:xfrm>
            <a:off x="421538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22" name="v:ReferencesAndAliasing:g0.1.o1i1:box|b2"/>
          <p:cNvSpPr/>
          <p:nvPr/>
        </p:nvSpPr>
        <p:spPr>
          <a:xfrm>
            <a:off x="4626864" y="1874520"/>
            <a:ext cx="384048" cy="310896"/>
          </a:xfrm>
          <a:prstGeom prst="roundRect">
            <a:avLst>
              <a:gd name="adj" fmla="val 11765"/>
            </a:avLst>
          </a:prstGeom>
          <a:solidFill>
            <a:srgbClr val="E3EEF8"/>
          </a:solidFill>
          <a:ln w="19050">
            <a:solidFill>
              <a:srgbClr val="306998"/>
            </a:solidFill>
            <a:prstDash val="solid"/>
          </a:ln>
        </p:spPr>
      </p:sp>
      <p:sp>
        <p:nvSpPr>
          <p:cNvPr id="23" name="v:ReferencesAndAliasing:g0.1.o1i1|b2"/>
          <p:cNvSpPr txBox="1"/>
          <p:nvPr/>
        </p:nvSpPr>
        <p:spPr>
          <a:xfrm>
            <a:off x="463600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4" name="v:ReferencesAndAliasing:g0.1.o1i2:box|b2"/>
          <p:cNvSpPr/>
          <p:nvPr/>
        </p:nvSpPr>
        <p:spPr>
          <a:xfrm>
            <a:off x="5047488" y="1874520"/>
            <a:ext cx="384048" cy="310896"/>
          </a:xfrm>
          <a:prstGeom prst="roundRect">
            <a:avLst>
              <a:gd name="adj" fmla="val 11765"/>
            </a:avLst>
          </a:prstGeom>
          <a:solidFill>
            <a:srgbClr val="E3EEF8"/>
          </a:solidFill>
          <a:ln w="19050">
            <a:solidFill>
              <a:srgbClr val="306998"/>
            </a:solidFill>
            <a:prstDash val="solid"/>
          </a:ln>
        </p:spPr>
      </p:sp>
      <p:sp>
        <p:nvSpPr>
          <p:cNvPr id="25" name="v:ReferencesAndAliasing:g0.1.o1i2|b2"/>
          <p:cNvSpPr txBox="1"/>
          <p:nvPr/>
        </p:nvSpPr>
        <p:spPr>
          <a:xfrm>
            <a:off x="5056632"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6" name="v:ReferencesAndAliasing:g0.1.o1i3:box|b2"/>
          <p:cNvSpPr/>
          <p:nvPr/>
        </p:nvSpPr>
        <p:spPr>
          <a:xfrm>
            <a:off x="5468112" y="1874520"/>
            <a:ext cx="384048" cy="310896"/>
          </a:xfrm>
          <a:prstGeom prst="roundRect">
            <a:avLst>
              <a:gd name="adj" fmla="val 11765"/>
            </a:avLst>
          </a:prstGeom>
          <a:solidFill>
            <a:srgbClr val="E3EEF8"/>
          </a:solidFill>
          <a:ln w="19050">
            <a:solidFill>
              <a:srgbClr val="306998"/>
            </a:solidFill>
            <a:prstDash val="solid"/>
          </a:ln>
        </p:spPr>
      </p:sp>
      <p:sp>
        <p:nvSpPr>
          <p:cNvPr id="27" name="v:ReferencesAndAliasing:g0.1.o1i3|b2"/>
          <p:cNvSpPr txBox="1"/>
          <p:nvPr/>
        </p:nvSpPr>
        <p:spPr>
          <a:xfrm>
            <a:off x="5477256"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ReferencesAndAliasing:g0.1.n.spam:box|b2"/>
          <p:cNvSpPr/>
          <p:nvPr/>
        </p:nvSpPr>
        <p:spPr>
          <a:xfrm>
            <a:off x="3200400" y="1773936"/>
            <a:ext cx="777240" cy="237744"/>
          </a:xfrm>
          <a:prstGeom prst="roundRect">
            <a:avLst>
              <a:gd name="adj" fmla="val 30769"/>
            </a:avLst>
          </a:prstGeom>
          <a:solidFill>
            <a:srgbClr val="FFFFFF"/>
          </a:solidFill>
          <a:ln w="19050">
            <a:solidFill>
              <a:srgbClr val="306998"/>
            </a:solidFill>
            <a:prstDash val="solid"/>
          </a:ln>
        </p:spPr>
      </p:sp>
      <p:sp>
        <p:nvSpPr>
          <p:cNvPr id="29" name="v:ReferencesAndAliasing:g0.1.n.spam|b2"/>
          <p:cNvSpPr txBox="1"/>
          <p:nvPr/>
        </p:nvSpPr>
        <p:spPr>
          <a:xfrm>
            <a:off x="320040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30" name="namearrow|b2"/>
          <p:cNvSpPr/>
          <p:nvPr/>
        </p:nvSpPr>
        <p:spPr>
          <a:xfrm>
            <a:off x="3977640" y="1892808"/>
            <a:ext cx="228600" cy="137160"/>
          </a:xfrm>
          <a:prstGeom prst="line">
            <a:avLst/>
          </a:prstGeom>
          <a:noFill/>
          <a:ln w="25400">
            <a:solidFill>
              <a:srgbClr val="306998"/>
            </a:solidFill>
            <a:prstDash val="solid"/>
            <a:tailEnd type="triangle"/>
          </a:ln>
        </p:spPr>
      </p:sp>
      <p:sp>
        <p:nvSpPr>
          <p:cNvPr id="31" name="v:ReferencesAndAliasing:g0.1.n.eggs:box|b2"/>
          <p:cNvSpPr/>
          <p:nvPr/>
        </p:nvSpPr>
        <p:spPr>
          <a:xfrm>
            <a:off x="3200400" y="2048256"/>
            <a:ext cx="777240" cy="237744"/>
          </a:xfrm>
          <a:prstGeom prst="roundRect">
            <a:avLst>
              <a:gd name="adj" fmla="val 30769"/>
            </a:avLst>
          </a:prstGeom>
          <a:solidFill>
            <a:srgbClr val="FFFFFF"/>
          </a:solidFill>
          <a:ln w="19050">
            <a:solidFill>
              <a:srgbClr val="306998"/>
            </a:solidFill>
            <a:prstDash val="solid"/>
          </a:ln>
        </p:spPr>
      </p:sp>
      <p:sp>
        <p:nvSpPr>
          <p:cNvPr id="32" name="v:ReferencesAndAliasing:g0.1.n.eggs|b2"/>
          <p:cNvSpPr txBox="1"/>
          <p:nvPr/>
        </p:nvSpPr>
        <p:spPr>
          <a:xfrm>
            <a:off x="320040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33" name="namearrow|b2"/>
          <p:cNvSpPr/>
          <p:nvPr/>
        </p:nvSpPr>
        <p:spPr>
          <a:xfrm flipV="1">
            <a:off x="3977640" y="2029968"/>
            <a:ext cx="228600" cy="137160"/>
          </a:xfrm>
          <a:prstGeom prst="line">
            <a:avLst/>
          </a:prstGeom>
          <a:noFill/>
          <a:ln w="25400">
            <a:solidFill>
              <a:srgbClr val="306998"/>
            </a:solidFill>
            <a:prstDash val="solid"/>
            <a:tailEnd type="triangle"/>
          </a:ln>
        </p:spPr>
      </p:sp>
      <p:sp>
        <p:nvSpPr>
          <p:cNvPr id="34" name="v:ReferencesAndAliasing:g0.2.c|b3"/>
          <p:cNvSpPr txBox="1"/>
          <p:nvPr/>
        </p:nvSpPr>
        <p:spPr>
          <a:xfrm>
            <a:off x="603504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eggs[1] = 'Hello!'</a:t>
            </a:r>
            <a:endParaRPr lang="en-US" sz="1200" dirty="0"/>
          </a:p>
        </p:txBody>
      </p:sp>
      <p:sp>
        <p:nvSpPr>
          <p:cNvPr id="35" name="v:ReferencesAndAliasing:g0.2.o1i0:box|b3"/>
          <p:cNvSpPr/>
          <p:nvPr/>
        </p:nvSpPr>
        <p:spPr>
          <a:xfrm>
            <a:off x="7040880" y="1874520"/>
            <a:ext cx="384048" cy="310896"/>
          </a:xfrm>
          <a:prstGeom prst="roundRect">
            <a:avLst>
              <a:gd name="adj" fmla="val 11765"/>
            </a:avLst>
          </a:prstGeom>
          <a:solidFill>
            <a:srgbClr val="E3EEF8"/>
          </a:solidFill>
          <a:ln w="19050">
            <a:solidFill>
              <a:srgbClr val="306998"/>
            </a:solidFill>
            <a:prstDash val="solid"/>
          </a:ln>
        </p:spPr>
      </p:sp>
      <p:sp>
        <p:nvSpPr>
          <p:cNvPr id="36" name="v:ReferencesAndAliasing:g0.2.o1i0|b3"/>
          <p:cNvSpPr txBox="1"/>
          <p:nvPr/>
        </p:nvSpPr>
        <p:spPr>
          <a:xfrm>
            <a:off x="705002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37" name="v:ReferencesAndAliasing:g0.2.o1i1:box|b3"/>
          <p:cNvSpPr/>
          <p:nvPr/>
        </p:nvSpPr>
        <p:spPr>
          <a:xfrm>
            <a:off x="7461504" y="1874520"/>
            <a:ext cx="640080" cy="310896"/>
          </a:xfrm>
          <a:prstGeom prst="roundRect">
            <a:avLst>
              <a:gd name="adj" fmla="val 11765"/>
            </a:avLst>
          </a:prstGeom>
          <a:solidFill>
            <a:srgbClr val="E3EEF8"/>
          </a:solidFill>
          <a:ln w="19050">
            <a:solidFill>
              <a:srgbClr val="306998"/>
            </a:solidFill>
            <a:prstDash val="solid"/>
          </a:ln>
        </p:spPr>
      </p:sp>
      <p:sp>
        <p:nvSpPr>
          <p:cNvPr id="38" name="v:ReferencesAndAliasing:g0.2.o1i1|b3"/>
          <p:cNvSpPr txBox="1"/>
          <p:nvPr/>
        </p:nvSpPr>
        <p:spPr>
          <a:xfrm>
            <a:off x="7470648" y="1874520"/>
            <a:ext cx="621792" cy="310896"/>
          </a:xfrm>
          <a:prstGeom prst="rect">
            <a:avLst/>
          </a:prstGeom>
          <a:noFill/>
          <a:ln/>
        </p:spPr>
        <p:txBody>
          <a:bodyPr wrap="square" lIns="0" tIns="0" rIns="0" bIns="0" rtlCol="0" anchor="ctr">
            <a:normAutofit/>
          </a:bodyPr>
          <a:lstStyle/>
          <a:p>
            <a:pPr algn="ctr" indent="0" marL="0">
              <a:buNone/>
            </a:pPr>
            <a:r>
              <a:rPr lang="en-US" sz="916" b="1" dirty="0">
                <a:solidFill>
                  <a:srgbClr val="1E2A3A"/>
                </a:solidFill>
                <a:latin typeface="Courier New" pitchFamily="34" charset="0"/>
                <a:ea typeface="Courier New" pitchFamily="34" charset="-122"/>
                <a:cs typeface="Courier New" pitchFamily="34" charset="-120"/>
              </a:rPr>
              <a:t>'Hello!'</a:t>
            </a:r>
            <a:endParaRPr lang="en-US" sz="916" dirty="0"/>
          </a:p>
        </p:txBody>
      </p:sp>
      <p:sp>
        <p:nvSpPr>
          <p:cNvPr id="39" name="v:ReferencesAndAliasing:g0.2.o1i2:box|b3"/>
          <p:cNvSpPr/>
          <p:nvPr/>
        </p:nvSpPr>
        <p:spPr>
          <a:xfrm>
            <a:off x="8138160" y="1874520"/>
            <a:ext cx="384048" cy="310896"/>
          </a:xfrm>
          <a:prstGeom prst="roundRect">
            <a:avLst>
              <a:gd name="adj" fmla="val 11765"/>
            </a:avLst>
          </a:prstGeom>
          <a:solidFill>
            <a:srgbClr val="E3EEF8"/>
          </a:solidFill>
          <a:ln w="19050">
            <a:solidFill>
              <a:srgbClr val="306998"/>
            </a:solidFill>
            <a:prstDash val="solid"/>
          </a:ln>
        </p:spPr>
      </p:sp>
      <p:sp>
        <p:nvSpPr>
          <p:cNvPr id="40" name="v:ReferencesAndAliasing:g0.2.o1i2|b3"/>
          <p:cNvSpPr txBox="1"/>
          <p:nvPr/>
        </p:nvSpPr>
        <p:spPr>
          <a:xfrm>
            <a:off x="814730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41" name="v:ReferencesAndAliasing:g0.2.o1i3:box|b3"/>
          <p:cNvSpPr/>
          <p:nvPr/>
        </p:nvSpPr>
        <p:spPr>
          <a:xfrm>
            <a:off x="8558784" y="1874520"/>
            <a:ext cx="384048" cy="310896"/>
          </a:xfrm>
          <a:prstGeom prst="roundRect">
            <a:avLst>
              <a:gd name="adj" fmla="val 11765"/>
            </a:avLst>
          </a:prstGeom>
          <a:solidFill>
            <a:srgbClr val="E3EEF8"/>
          </a:solidFill>
          <a:ln w="19050">
            <a:solidFill>
              <a:srgbClr val="306998"/>
            </a:solidFill>
            <a:prstDash val="solid"/>
          </a:ln>
        </p:spPr>
      </p:sp>
      <p:sp>
        <p:nvSpPr>
          <p:cNvPr id="42" name="v:ReferencesAndAliasing:g0.2.o1i3|b3"/>
          <p:cNvSpPr txBox="1"/>
          <p:nvPr/>
        </p:nvSpPr>
        <p:spPr>
          <a:xfrm>
            <a:off x="856792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43" name="v:ReferencesAndAliasing:g0.2.n.spam:box|b3"/>
          <p:cNvSpPr/>
          <p:nvPr/>
        </p:nvSpPr>
        <p:spPr>
          <a:xfrm>
            <a:off x="6035040" y="1773936"/>
            <a:ext cx="777240" cy="237744"/>
          </a:xfrm>
          <a:prstGeom prst="roundRect">
            <a:avLst>
              <a:gd name="adj" fmla="val 30769"/>
            </a:avLst>
          </a:prstGeom>
          <a:solidFill>
            <a:srgbClr val="FFFFFF"/>
          </a:solidFill>
          <a:ln w="19050">
            <a:solidFill>
              <a:srgbClr val="306998"/>
            </a:solidFill>
            <a:prstDash val="solid"/>
          </a:ln>
        </p:spPr>
      </p:sp>
      <p:sp>
        <p:nvSpPr>
          <p:cNvPr id="44" name="v:ReferencesAndAliasing:g0.2.n.spam|b3"/>
          <p:cNvSpPr txBox="1"/>
          <p:nvPr/>
        </p:nvSpPr>
        <p:spPr>
          <a:xfrm>
            <a:off x="603504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45" name="namearrow|b3"/>
          <p:cNvSpPr/>
          <p:nvPr/>
        </p:nvSpPr>
        <p:spPr>
          <a:xfrm>
            <a:off x="6812280" y="1892808"/>
            <a:ext cx="228600" cy="137160"/>
          </a:xfrm>
          <a:prstGeom prst="line">
            <a:avLst/>
          </a:prstGeom>
          <a:noFill/>
          <a:ln w="25400">
            <a:solidFill>
              <a:srgbClr val="306998"/>
            </a:solidFill>
            <a:prstDash val="solid"/>
            <a:tailEnd type="triangle"/>
          </a:ln>
        </p:spPr>
      </p:sp>
      <p:sp>
        <p:nvSpPr>
          <p:cNvPr id="46" name="v:ReferencesAndAliasing:g0.2.n.eggs:box|b3"/>
          <p:cNvSpPr/>
          <p:nvPr/>
        </p:nvSpPr>
        <p:spPr>
          <a:xfrm>
            <a:off x="6035040" y="2048256"/>
            <a:ext cx="777240" cy="237744"/>
          </a:xfrm>
          <a:prstGeom prst="roundRect">
            <a:avLst>
              <a:gd name="adj" fmla="val 30769"/>
            </a:avLst>
          </a:prstGeom>
          <a:solidFill>
            <a:srgbClr val="FFFFFF"/>
          </a:solidFill>
          <a:ln w="19050">
            <a:solidFill>
              <a:srgbClr val="306998"/>
            </a:solidFill>
            <a:prstDash val="solid"/>
          </a:ln>
        </p:spPr>
      </p:sp>
      <p:sp>
        <p:nvSpPr>
          <p:cNvPr id="47" name="v:ReferencesAndAliasing:g0.2.n.eggs|b3"/>
          <p:cNvSpPr txBox="1"/>
          <p:nvPr/>
        </p:nvSpPr>
        <p:spPr>
          <a:xfrm>
            <a:off x="603504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48" name="namearrow|b3"/>
          <p:cNvSpPr/>
          <p:nvPr/>
        </p:nvSpPr>
        <p:spPr>
          <a:xfrm flipV="1">
            <a:off x="6812280" y="2029968"/>
            <a:ext cx="228600" cy="137160"/>
          </a:xfrm>
          <a:prstGeom prst="line">
            <a:avLst/>
          </a:prstGeom>
          <a:noFill/>
          <a:ln w="25400">
            <a:solidFill>
              <a:srgbClr val="306998"/>
            </a:solidFill>
            <a:prstDash val="solid"/>
            <a:tailEnd type="triangle"/>
          </a:ln>
        </p:spPr>
      </p:sp>
      <p:sp>
        <p:nvSpPr>
          <p:cNvPr id="49" name="v:ReferencesAndAliasing:sc1t"/>
          <p:cNvSpPr txBox="1"/>
          <p:nvPr/>
        </p:nvSpPr>
        <p:spPr>
          <a:xfrm>
            <a:off x="365760" y="2880360"/>
            <a:ext cx="841248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number is only rebound</a:t>
            </a:r>
            <a:endParaRPr lang="en-US" sz="1200" dirty="0"/>
          </a:p>
        </p:txBody>
      </p:sp>
      <p:sp>
        <p:nvSpPr>
          <p:cNvPr id="50" name="v:ReferencesAndAliasing:g1.0.c|b4"/>
          <p:cNvSpPr txBox="1"/>
          <p:nvPr/>
        </p:nvSpPr>
        <p:spPr>
          <a:xfrm>
            <a:off x="36576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42</a:t>
            </a:r>
            <a:endParaRPr lang="en-US" sz="1200" dirty="0"/>
          </a:p>
        </p:txBody>
      </p:sp>
      <p:sp>
        <p:nvSpPr>
          <p:cNvPr id="51" name="v:ReferencesAndAliasing:g1.0.o1v:box|b4"/>
          <p:cNvSpPr/>
          <p:nvPr/>
        </p:nvSpPr>
        <p:spPr>
          <a:xfrm>
            <a:off x="1371600" y="3520440"/>
            <a:ext cx="457200" cy="310896"/>
          </a:xfrm>
          <a:prstGeom prst="roundRect">
            <a:avLst>
              <a:gd name="adj" fmla="val 11765"/>
            </a:avLst>
          </a:prstGeom>
          <a:solidFill>
            <a:srgbClr val="E3EEF8"/>
          </a:solidFill>
          <a:ln w="19050">
            <a:solidFill>
              <a:srgbClr val="306998"/>
            </a:solidFill>
            <a:prstDash val="solid"/>
          </a:ln>
        </p:spPr>
      </p:sp>
      <p:sp>
        <p:nvSpPr>
          <p:cNvPr id="52" name="v:ReferencesAndAliasing:g1.0.o1v|b4"/>
          <p:cNvSpPr txBox="1"/>
          <p:nvPr/>
        </p:nvSpPr>
        <p:spPr>
          <a:xfrm>
            <a:off x="138074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43</a:t>
            </a:r>
            <a:endParaRPr lang="en-US" sz="1050" dirty="0"/>
          </a:p>
        </p:txBody>
      </p:sp>
      <p:sp>
        <p:nvSpPr>
          <p:cNvPr id="53" name="v:ReferencesAndAliasing:g1.0.n.spam:box|b4"/>
          <p:cNvSpPr/>
          <p:nvPr/>
        </p:nvSpPr>
        <p:spPr>
          <a:xfrm>
            <a:off x="365760" y="3557016"/>
            <a:ext cx="777240" cy="237744"/>
          </a:xfrm>
          <a:prstGeom prst="roundRect">
            <a:avLst>
              <a:gd name="adj" fmla="val 30769"/>
            </a:avLst>
          </a:prstGeom>
          <a:solidFill>
            <a:srgbClr val="FFFFFF"/>
          </a:solidFill>
          <a:ln w="19050">
            <a:solidFill>
              <a:srgbClr val="306998"/>
            </a:solidFill>
            <a:prstDash val="solid"/>
          </a:ln>
        </p:spPr>
      </p:sp>
      <p:sp>
        <p:nvSpPr>
          <p:cNvPr id="54" name="v:ReferencesAndAliasing:g1.0.n.spam|b4"/>
          <p:cNvSpPr txBox="1"/>
          <p:nvPr/>
        </p:nvSpPr>
        <p:spPr>
          <a:xfrm>
            <a:off x="36576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55" name="namearrow|b4"/>
          <p:cNvSpPr/>
          <p:nvPr/>
        </p:nvSpPr>
        <p:spPr>
          <a:xfrm>
            <a:off x="1143000" y="3675888"/>
            <a:ext cx="228600" cy="0"/>
          </a:xfrm>
          <a:prstGeom prst="line">
            <a:avLst/>
          </a:prstGeom>
          <a:noFill/>
          <a:ln w="25400">
            <a:solidFill>
              <a:srgbClr val="306998"/>
            </a:solidFill>
            <a:prstDash val="solid"/>
            <a:tailEnd type="triangle"/>
          </a:ln>
        </p:spPr>
      </p:sp>
      <p:sp>
        <p:nvSpPr>
          <p:cNvPr id="56" name="v:ReferencesAndAliasing:g1.1.c|b5"/>
          <p:cNvSpPr txBox="1"/>
          <p:nvPr/>
        </p:nvSpPr>
        <p:spPr>
          <a:xfrm>
            <a:off x="320040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57" name="v:ReferencesAndAliasing:g1.1.o1v:box|b5"/>
          <p:cNvSpPr/>
          <p:nvPr/>
        </p:nvSpPr>
        <p:spPr>
          <a:xfrm>
            <a:off x="4206240" y="3611880"/>
            <a:ext cx="457200" cy="310896"/>
          </a:xfrm>
          <a:prstGeom prst="roundRect">
            <a:avLst>
              <a:gd name="adj" fmla="val 11765"/>
            </a:avLst>
          </a:prstGeom>
          <a:solidFill>
            <a:srgbClr val="E3EEF8"/>
          </a:solidFill>
          <a:ln w="19050">
            <a:solidFill>
              <a:srgbClr val="306998"/>
            </a:solidFill>
            <a:prstDash val="solid"/>
          </a:ln>
        </p:spPr>
      </p:sp>
      <p:sp>
        <p:nvSpPr>
          <p:cNvPr id="58" name="v:ReferencesAndAliasing:g1.1.o1v|b5"/>
          <p:cNvSpPr txBox="1"/>
          <p:nvPr/>
        </p:nvSpPr>
        <p:spPr>
          <a:xfrm>
            <a:off x="4215384" y="361188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59" name="v:ReferencesAndAliasing:g1.1.n.spam:box|b5"/>
          <p:cNvSpPr/>
          <p:nvPr/>
        </p:nvSpPr>
        <p:spPr>
          <a:xfrm>
            <a:off x="3200400" y="3511296"/>
            <a:ext cx="777240" cy="237744"/>
          </a:xfrm>
          <a:prstGeom prst="roundRect">
            <a:avLst>
              <a:gd name="adj" fmla="val 30769"/>
            </a:avLst>
          </a:prstGeom>
          <a:solidFill>
            <a:srgbClr val="FFFFFF"/>
          </a:solidFill>
          <a:ln w="19050">
            <a:solidFill>
              <a:srgbClr val="306998"/>
            </a:solidFill>
            <a:prstDash val="solid"/>
          </a:ln>
        </p:spPr>
      </p:sp>
      <p:sp>
        <p:nvSpPr>
          <p:cNvPr id="60" name="v:ReferencesAndAliasing:g1.1.n.spam|b5"/>
          <p:cNvSpPr txBox="1"/>
          <p:nvPr/>
        </p:nvSpPr>
        <p:spPr>
          <a:xfrm>
            <a:off x="3200400" y="351129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1" name="namearrow|b5"/>
          <p:cNvSpPr/>
          <p:nvPr/>
        </p:nvSpPr>
        <p:spPr>
          <a:xfrm>
            <a:off x="3977640" y="3630168"/>
            <a:ext cx="228600" cy="137160"/>
          </a:xfrm>
          <a:prstGeom prst="line">
            <a:avLst/>
          </a:prstGeom>
          <a:noFill/>
          <a:ln w="25400">
            <a:solidFill>
              <a:srgbClr val="306998"/>
            </a:solidFill>
            <a:prstDash val="solid"/>
            <a:tailEnd type="triangle"/>
          </a:ln>
        </p:spPr>
      </p:sp>
      <p:sp>
        <p:nvSpPr>
          <p:cNvPr id="62" name="v:ReferencesAndAliasing:g1.1.n.eggs:box|b5"/>
          <p:cNvSpPr/>
          <p:nvPr/>
        </p:nvSpPr>
        <p:spPr>
          <a:xfrm>
            <a:off x="3200400" y="3785616"/>
            <a:ext cx="777240" cy="237744"/>
          </a:xfrm>
          <a:prstGeom prst="roundRect">
            <a:avLst>
              <a:gd name="adj" fmla="val 30769"/>
            </a:avLst>
          </a:prstGeom>
          <a:solidFill>
            <a:srgbClr val="FFFFFF"/>
          </a:solidFill>
          <a:ln w="19050">
            <a:solidFill>
              <a:srgbClr val="306998"/>
            </a:solidFill>
            <a:prstDash val="solid"/>
          </a:ln>
        </p:spPr>
      </p:sp>
      <p:sp>
        <p:nvSpPr>
          <p:cNvPr id="63" name="v:ReferencesAndAliasing:g1.1.n.eggs|b5"/>
          <p:cNvSpPr txBox="1"/>
          <p:nvPr/>
        </p:nvSpPr>
        <p:spPr>
          <a:xfrm>
            <a:off x="3200400" y="37856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64" name="namearrow|b5"/>
          <p:cNvSpPr/>
          <p:nvPr/>
        </p:nvSpPr>
        <p:spPr>
          <a:xfrm flipV="1">
            <a:off x="3977640" y="3767328"/>
            <a:ext cx="228600" cy="137160"/>
          </a:xfrm>
          <a:prstGeom prst="line">
            <a:avLst/>
          </a:prstGeom>
          <a:noFill/>
          <a:ln w="25400">
            <a:solidFill>
              <a:srgbClr val="306998"/>
            </a:solidFill>
            <a:prstDash val="solid"/>
            <a:tailEnd type="triangle"/>
          </a:ln>
        </p:spPr>
      </p:sp>
      <p:sp>
        <p:nvSpPr>
          <p:cNvPr id="65" name="v:ReferencesAndAliasing:g1.2.c|b6"/>
          <p:cNvSpPr txBox="1"/>
          <p:nvPr/>
        </p:nvSpPr>
        <p:spPr>
          <a:xfrm>
            <a:off x="603504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99</a:t>
            </a:r>
            <a:endParaRPr lang="en-US" sz="1200" dirty="0"/>
          </a:p>
        </p:txBody>
      </p:sp>
      <p:sp>
        <p:nvSpPr>
          <p:cNvPr id="66" name="v:ReferencesAndAliasing:g1.2.o2v:box|b6"/>
          <p:cNvSpPr/>
          <p:nvPr/>
        </p:nvSpPr>
        <p:spPr>
          <a:xfrm>
            <a:off x="7040880" y="3520440"/>
            <a:ext cx="457200" cy="310896"/>
          </a:xfrm>
          <a:prstGeom prst="roundRect">
            <a:avLst>
              <a:gd name="adj" fmla="val 11765"/>
            </a:avLst>
          </a:prstGeom>
          <a:solidFill>
            <a:srgbClr val="E3EEF8"/>
          </a:solidFill>
          <a:ln w="19050">
            <a:solidFill>
              <a:srgbClr val="306998"/>
            </a:solidFill>
            <a:prstDash val="solid"/>
          </a:ln>
        </p:spPr>
      </p:sp>
      <p:sp>
        <p:nvSpPr>
          <p:cNvPr id="67" name="v:ReferencesAndAliasing:g1.2.o2v|b6"/>
          <p:cNvSpPr txBox="1"/>
          <p:nvPr/>
        </p:nvSpPr>
        <p:spPr>
          <a:xfrm>
            <a:off x="705002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99</a:t>
            </a:r>
            <a:endParaRPr lang="en-US" sz="1050" dirty="0"/>
          </a:p>
        </p:txBody>
      </p:sp>
      <p:sp>
        <p:nvSpPr>
          <p:cNvPr id="68" name="v:ReferencesAndAliasing:g1.2.o1v:box|b6"/>
          <p:cNvSpPr/>
          <p:nvPr/>
        </p:nvSpPr>
        <p:spPr>
          <a:xfrm>
            <a:off x="7040880" y="4032504"/>
            <a:ext cx="457200" cy="310896"/>
          </a:xfrm>
          <a:prstGeom prst="roundRect">
            <a:avLst>
              <a:gd name="adj" fmla="val 11765"/>
            </a:avLst>
          </a:prstGeom>
          <a:solidFill>
            <a:srgbClr val="E3EEF8"/>
          </a:solidFill>
          <a:ln w="19050">
            <a:solidFill>
              <a:srgbClr val="306998"/>
            </a:solidFill>
            <a:prstDash val="solid"/>
          </a:ln>
        </p:spPr>
      </p:sp>
      <p:sp>
        <p:nvSpPr>
          <p:cNvPr id="69" name="v:ReferencesAndAliasing:g1.2.o1v|b6"/>
          <p:cNvSpPr txBox="1"/>
          <p:nvPr/>
        </p:nvSpPr>
        <p:spPr>
          <a:xfrm>
            <a:off x="7050024" y="403250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70" name="v:ReferencesAndAliasing:g1.2.n.spam:box|b6"/>
          <p:cNvSpPr/>
          <p:nvPr/>
        </p:nvSpPr>
        <p:spPr>
          <a:xfrm>
            <a:off x="6035040" y="3557016"/>
            <a:ext cx="777240" cy="237744"/>
          </a:xfrm>
          <a:prstGeom prst="roundRect">
            <a:avLst>
              <a:gd name="adj" fmla="val 30769"/>
            </a:avLst>
          </a:prstGeom>
          <a:solidFill>
            <a:srgbClr val="FFFFFF"/>
          </a:solidFill>
          <a:ln w="19050">
            <a:solidFill>
              <a:srgbClr val="306998"/>
            </a:solidFill>
            <a:prstDash val="solid"/>
          </a:ln>
        </p:spPr>
      </p:sp>
      <p:sp>
        <p:nvSpPr>
          <p:cNvPr id="71" name="v:ReferencesAndAliasing:g1.2.n.spam|b6"/>
          <p:cNvSpPr txBox="1"/>
          <p:nvPr/>
        </p:nvSpPr>
        <p:spPr>
          <a:xfrm>
            <a:off x="603504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72" name="namearrow|b6"/>
          <p:cNvSpPr/>
          <p:nvPr/>
        </p:nvSpPr>
        <p:spPr>
          <a:xfrm>
            <a:off x="6812280" y="3675888"/>
            <a:ext cx="228600" cy="0"/>
          </a:xfrm>
          <a:prstGeom prst="line">
            <a:avLst/>
          </a:prstGeom>
          <a:noFill/>
          <a:ln w="25400">
            <a:solidFill>
              <a:srgbClr val="306998"/>
            </a:solidFill>
            <a:prstDash val="solid"/>
            <a:tailEnd type="triangle"/>
          </a:ln>
        </p:spPr>
      </p:sp>
      <p:sp>
        <p:nvSpPr>
          <p:cNvPr id="73" name="v:ReferencesAndAliasing:g1.2.n.eggs:box|b6"/>
          <p:cNvSpPr/>
          <p:nvPr/>
        </p:nvSpPr>
        <p:spPr>
          <a:xfrm>
            <a:off x="6035040" y="4069080"/>
            <a:ext cx="777240" cy="237744"/>
          </a:xfrm>
          <a:prstGeom prst="roundRect">
            <a:avLst>
              <a:gd name="adj" fmla="val 30769"/>
            </a:avLst>
          </a:prstGeom>
          <a:solidFill>
            <a:srgbClr val="FFFFFF"/>
          </a:solidFill>
          <a:ln w="19050">
            <a:solidFill>
              <a:srgbClr val="306998"/>
            </a:solidFill>
            <a:prstDash val="solid"/>
          </a:ln>
        </p:spPr>
      </p:sp>
      <p:sp>
        <p:nvSpPr>
          <p:cNvPr id="74" name="v:ReferencesAndAliasing:g1.2.n.eggs|b6"/>
          <p:cNvSpPr txBox="1"/>
          <p:nvPr/>
        </p:nvSpPr>
        <p:spPr>
          <a:xfrm>
            <a:off x="6035040" y="4069080"/>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75" name="namearrow|b6"/>
          <p:cNvSpPr/>
          <p:nvPr/>
        </p:nvSpPr>
        <p:spPr>
          <a:xfrm>
            <a:off x="6812280" y="4187952"/>
            <a:ext cx="228600" cy="0"/>
          </a:xfrm>
          <a:prstGeom prst="line">
            <a:avLst/>
          </a:prstGeom>
          <a:noFill/>
          <a:ln w="25400">
            <a:solidFill>
              <a:srgbClr val="306998"/>
            </a:solidFill>
            <a:prstDash val="solid"/>
            <a:tailEnd type="triangle"/>
          </a:ln>
        </p:spPr>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References and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0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00"/>
                                        <p:tgtEl>
                                          <p:spTgt spid="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0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0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00"/>
                                        <p:tgtEl>
                                          <p:spTgt spid="3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00"/>
                                        <p:tgtEl>
                                          <p:spTgt spid="32"/>
                                        </p:tgtEl>
                                      </p:cBhvr>
                                    </p:animEffect>
                                  </p:childTnLst>
                                </p:cTn>
                              </p:par>
                              <p:par>
                                <p:cTn id="83" presetID="10" presetClass="entr" presetSubtype="0" fill="hold"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00"/>
                                        <p:tgtEl>
                                          <p:spTgt spid="33"/>
                                        </p:tgtEl>
                                      </p:cBhvr>
                                    </p:animEffect>
                                  </p:childTnLst>
                                </p:cTn>
                              </p:par>
                            </p:childTnLst>
                          </p:cTn>
                        </p:par>
                      </p:childTnLst>
                    </p:cTn>
                  </p:par>
                  <p:par>
                    <p:cTn id="133" fill="hold">
                      <p:stCondLst>
                        <p:cond delay="indefinite"/>
                      </p:stCondLst>
                      <p:childTnLst>
                        <p:par>
                          <p:cTn id="134"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00"/>
                                        <p:tgtEl>
                                          <p:spTgt spid="34"/>
                                        </p:tgtEl>
                                      </p:cBhvr>
                                    </p:animEffect>
                                  </p:childTnLst>
                                </p:cTn>
                              </p:par>
                              <p:par>
                                <p:cTn id="91" presetID="10" presetClass="entr" presetSubtype="0"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00"/>
                                        <p:tgtEl>
                                          <p:spTgt spid="3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400"/>
                                        <p:tgtEl>
                                          <p:spTgt spid="36"/>
                                        </p:tgtEl>
                                      </p:cBhvr>
                                    </p:animEffect>
                                  </p:childTnLst>
                                </p:cTn>
                              </p:par>
                              <p:par>
                                <p:cTn id="97" presetID="10"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4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400"/>
                                        <p:tgtEl>
                                          <p:spTgt spid="38"/>
                                        </p:tgtEl>
                                      </p:cBhvr>
                                    </p:animEffect>
                                  </p:childTnLst>
                                </p:cTn>
                              </p:par>
                              <p:par>
                                <p:cTn id="103" presetID="10" presetClass="entr" presetSubtype="0" fill="hold"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4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400"/>
                                        <p:tgtEl>
                                          <p:spTgt spid="40"/>
                                        </p:tgtEl>
                                      </p:cBhvr>
                                    </p:animEffect>
                                  </p:childTnLst>
                                </p:cTn>
                              </p:par>
                              <p:par>
                                <p:cTn id="109" presetID="10" presetClass="entr" presetSubtype="0" fill="hold"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4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par>
                                <p:cTn id="115" presetID="10" presetClass="entr" presetSubtype="0" fill="hold"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4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400"/>
                                        <p:tgtEl>
                                          <p:spTgt spid="44"/>
                                        </p:tgtEl>
                                      </p:cBhvr>
                                    </p:animEffect>
                                  </p:childTnLst>
                                </p:cTn>
                              </p:par>
                              <p:par>
                                <p:cTn id="121" presetID="10" presetClass="entr" presetSubtype="0" fill="hold"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400"/>
                                        <p:tgtEl>
                                          <p:spTgt spid="45"/>
                                        </p:tgtEl>
                                      </p:cBhvr>
                                    </p:animEffect>
                                  </p:childTnLst>
                                </p:cTn>
                              </p:par>
                              <p:par>
                                <p:cTn id="124" presetID="10" presetClass="entr" presetSubtype="0" fill="hold"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400"/>
                                        <p:tgtEl>
                                          <p:spTgt spid="4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7"/>
                                        </p:tgtEl>
                                        <p:attrNameLst>
                                          <p:attrName>style.visibility</p:attrName>
                                        </p:attrNameLst>
                                      </p:cBhvr>
                                      <p:to>
                                        <p:strVal val="visible"/>
                                      </p:to>
                                    </p:set>
                                    <p:animEffect transition="in" filter="fade">
                                      <p:cBhvr>
                                        <p:cTn id="129" dur="400"/>
                                        <p:tgtEl>
                                          <p:spTgt spid="47"/>
                                        </p:tgtEl>
                                      </p:cBhvr>
                                    </p:animEffect>
                                  </p:childTnLst>
                                </p:cTn>
                              </p:par>
                              <p:par>
                                <p:cTn id="130" presetID="10" presetClass="entr" presetSubtype="0" fill="hold" nodeType="withEffect">
                                  <p:stCondLst>
                                    <p:cond delay="0"/>
                                  </p:stCondLst>
                                  <p:childTnLst>
                                    <p:set>
                                      <p:cBhvr>
                                        <p:cTn id="131" dur="1" fill="hold">
                                          <p:stCondLst>
                                            <p:cond delay="0"/>
                                          </p:stCondLst>
                                        </p:cTn>
                                        <p:tgtEl>
                                          <p:spTgt spid="48"/>
                                        </p:tgtEl>
                                        <p:attrNameLst>
                                          <p:attrName>style.visibility</p:attrName>
                                        </p:attrNameLst>
                                      </p:cBhvr>
                                      <p:to>
                                        <p:strVal val="visible"/>
                                      </p:to>
                                    </p:set>
                                    <p:animEffect transition="in" filter="fade">
                                      <p:cBhvr>
                                        <p:cTn id="132" dur="400"/>
                                        <p:tgtEl>
                                          <p:spTgt spid="48"/>
                                        </p:tgtEl>
                                      </p:cBhvr>
                                    </p:animEffect>
                                  </p:childTnLst>
                                </p:cTn>
                              </p:par>
                            </p:childTnLst>
                          </p:cTn>
                        </p:par>
                      </p:childTnLst>
                    </p:cTn>
                  </p:par>
                  <p:par>
                    <p:cTn id="153" fill="hold">
                      <p:stCondLst>
                        <p:cond delay="indefinite"/>
                      </p:stCondLst>
                      <p:childTnLst>
                        <p:par>
                          <p:cTn id="15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400"/>
                                        <p:tgtEl>
                                          <p:spTgt spid="50"/>
                                        </p:tgtEl>
                                      </p:cBhvr>
                                    </p:animEffect>
                                  </p:childTnLst>
                                </p:cTn>
                              </p:par>
                              <p:par>
                                <p:cTn id="138" presetID="10" presetClass="entr" presetSubtype="0" fill="hold"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400"/>
                                        <p:tgtEl>
                                          <p:spTgt spid="5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400"/>
                                        <p:tgtEl>
                                          <p:spTgt spid="52"/>
                                        </p:tgtEl>
                                      </p:cBhvr>
                                    </p:animEffect>
                                  </p:childTnLst>
                                </p:cTn>
                              </p:par>
                              <p:par>
                                <p:cTn id="144" presetID="10" presetClass="entr" presetSubtype="0" fill="hold"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400"/>
                                        <p:tgtEl>
                                          <p:spTgt spid="5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400"/>
                                        <p:tgtEl>
                                          <p:spTgt spid="54"/>
                                        </p:tgtEl>
                                      </p:cBhvr>
                                    </p:animEffect>
                                  </p:childTnLst>
                                </p:cTn>
                              </p:par>
                              <p:par>
                                <p:cTn id="150" presetID="10" presetClass="entr" presetSubtype="0" fill="hold"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400"/>
                                        <p:tgtEl>
                                          <p:spTgt spid="55"/>
                                        </p:tgtEl>
                                      </p:cBhvr>
                                    </p:animEffect>
                                  </p:childTnLst>
                                </p:cTn>
                              </p:par>
                            </p:childTnLst>
                          </p:cTn>
                        </p:par>
                      </p:childTnLst>
                    </p:cTn>
                  </p:par>
                  <p:par>
                    <p:cTn id="182" fill="hold">
                      <p:stCondLst>
                        <p:cond delay="indefinite"/>
                      </p:stCondLst>
                      <p:childTnLst>
                        <p:par>
                          <p:cTn id="183"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par>
                                <p:cTn id="164" presetID="10" presetClass="entr" presetSubtype="0" fill="hold" nodeType="withEffect">
                                  <p:stCondLst>
                                    <p:cond delay="0"/>
                                  </p:stCondLst>
                                  <p:childTnLst>
                                    <p:set>
                                      <p:cBhvr>
                                        <p:cTn id="165" dur="1" fill="hold">
                                          <p:stCondLst>
                                            <p:cond delay="0"/>
                                          </p:stCondLst>
                                        </p:cTn>
                                        <p:tgtEl>
                                          <p:spTgt spid="59"/>
                                        </p:tgtEl>
                                        <p:attrNameLst>
                                          <p:attrName>style.visibility</p:attrName>
                                        </p:attrNameLst>
                                      </p:cBhvr>
                                      <p:to>
                                        <p:strVal val="visible"/>
                                      </p:to>
                                    </p:set>
                                    <p:animEffect transition="in" filter="fade">
                                      <p:cBhvr>
                                        <p:cTn id="166" dur="400"/>
                                        <p:tgtEl>
                                          <p:spTgt spid="5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0"/>
                                        </p:tgtEl>
                                        <p:attrNameLst>
                                          <p:attrName>style.visibility</p:attrName>
                                        </p:attrNameLst>
                                      </p:cBhvr>
                                      <p:to>
                                        <p:strVal val="visible"/>
                                      </p:to>
                                    </p:set>
                                    <p:animEffect transition="in" filter="fade">
                                      <p:cBhvr>
                                        <p:cTn id="169" dur="400"/>
                                        <p:tgtEl>
                                          <p:spTgt spid="60"/>
                                        </p:tgtEl>
                                      </p:cBhvr>
                                    </p:animEffect>
                                  </p:childTnLst>
                                </p:cTn>
                              </p:par>
                              <p:par>
                                <p:cTn id="170" presetID="10" presetClass="entr" presetSubtype="0" fill="hold" nodeType="withEffect">
                                  <p:stCondLst>
                                    <p:cond delay="0"/>
                                  </p:stCondLst>
                                  <p:childTnLst>
                                    <p:set>
                                      <p:cBhvr>
                                        <p:cTn id="171" dur="1" fill="hold">
                                          <p:stCondLst>
                                            <p:cond delay="0"/>
                                          </p:stCondLst>
                                        </p:cTn>
                                        <p:tgtEl>
                                          <p:spTgt spid="61"/>
                                        </p:tgtEl>
                                        <p:attrNameLst>
                                          <p:attrName>style.visibility</p:attrName>
                                        </p:attrNameLst>
                                      </p:cBhvr>
                                      <p:to>
                                        <p:strVal val="visible"/>
                                      </p:to>
                                    </p:set>
                                    <p:animEffect transition="in" filter="fade">
                                      <p:cBhvr>
                                        <p:cTn id="172" dur="400"/>
                                        <p:tgtEl>
                                          <p:spTgt spid="61"/>
                                        </p:tgtEl>
                                      </p:cBhvr>
                                    </p:animEffect>
                                  </p:childTnLst>
                                </p:cTn>
                              </p:par>
                              <p:par>
                                <p:cTn id="173" presetID="10" presetClass="entr" presetSubtype="0" fill="hold" nodeType="with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fade">
                                      <p:cBhvr>
                                        <p:cTn id="175" dur="400"/>
                                        <p:tgtEl>
                                          <p:spTgt spid="62"/>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3"/>
                                        </p:tgtEl>
                                        <p:attrNameLst>
                                          <p:attrName>style.visibility</p:attrName>
                                        </p:attrNameLst>
                                      </p:cBhvr>
                                      <p:to>
                                        <p:strVal val="visible"/>
                                      </p:to>
                                    </p:set>
                                    <p:animEffect transition="in" filter="fade">
                                      <p:cBhvr>
                                        <p:cTn id="178" dur="400"/>
                                        <p:tgtEl>
                                          <p:spTgt spid="63"/>
                                        </p:tgtEl>
                                      </p:cBhvr>
                                    </p:animEffect>
                                  </p:childTnLst>
                                </p:cTn>
                              </p:par>
                              <p:par>
                                <p:cTn id="179" presetID="10" presetClass="entr" presetSubtype="0" fill="hold" nodeType="withEffect">
                                  <p:stCondLst>
                                    <p:cond delay="0"/>
                                  </p:stCondLst>
                                  <p:childTnLst>
                                    <p:set>
                                      <p:cBhvr>
                                        <p:cTn id="180" dur="1" fill="hold">
                                          <p:stCondLst>
                                            <p:cond delay="0"/>
                                          </p:stCondLst>
                                        </p:cTn>
                                        <p:tgtEl>
                                          <p:spTgt spid="64"/>
                                        </p:tgtEl>
                                        <p:attrNameLst>
                                          <p:attrName>style.visibility</p:attrName>
                                        </p:attrNameLst>
                                      </p:cBhvr>
                                      <p:to>
                                        <p:strVal val="visible"/>
                                      </p:to>
                                    </p:set>
                                    <p:animEffect transition="in" filter="fade">
                                      <p:cBhvr>
                                        <p:cTn id="181" dur="400"/>
                                        <p:tgtEl>
                                          <p:spTgt spid="64"/>
                                        </p:tgtEl>
                                      </p:cBhvr>
                                    </p:animEffect>
                                  </p:childTnLst>
                                </p:cTn>
                              </p:par>
                            </p:childTnLst>
                          </p:cTn>
                        </p:par>
                      </p:childTnLst>
                    </p:cTn>
                  </p:par>
                  <p:par>
                    <p:cTn id="217" fill="hold">
                      <p:stCondLst>
                        <p:cond delay="indefinite"/>
                      </p:stCondLst>
                      <p:childTnLst>
                        <p:par>
                          <p:cTn id="218"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2" grpId="0" animBg="1"/>
      <p:bldP spid="34" grpId="0" animBg="1"/>
      <p:bldP spid="36" grpId="0" animBg="1"/>
      <p:bldP spid="38" grpId="0" animBg="1"/>
      <p:bldP spid="40" grpId="0" animBg="1"/>
      <p:bldP spid="42" grpId="0" animBg="1"/>
      <p:bldP spid="44" grpId="0" animBg="1"/>
      <p:bldP spid="47" grpId="0" animBg="1"/>
      <p:bldP spid="50" grpId="0" animBg="1"/>
      <p:bldP spid="52" grpId="0" animBg="1"/>
      <p:bldP spid="54" grpId="0" animBg="1"/>
      <p:bldP spid="56" grpId="0" animBg="1"/>
      <p:bldP spid="58" grpId="0" animBg="1"/>
      <p:bldP spid="60" grpId="0" animBg="1"/>
      <p:bldP spid="63" grpId="0" animBg="1"/>
      <p:bldP spid="65" grpId="0" animBg="1"/>
      <p:bldP spid="67" grpId="0" animBg="1"/>
      <p:bldP spid="69" grpId="0" animBg="1"/>
      <p:bldP spid="71" grpId="0" animBg="1"/>
      <p:bldP spid="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function gets the list itself, not a copy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method call changes the caller’s list; an assignment only rebinds the parameter</a:t>
            </a:r>
            <a:endParaRPr lang="en-US" sz="1400" dirty="0"/>
          </a:p>
        </p:txBody>
      </p:sp>
      <p:sp>
        <p:nvSpPr>
          <p:cNvPr id="6" name="progbox"/>
          <p:cNvSpPr/>
          <p:nvPr/>
        </p:nvSpPr>
        <p:spPr>
          <a:xfrm>
            <a:off x="365760" y="1188720"/>
            <a:ext cx="27889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2514600" cy="2139696"/>
          </a:xfrm>
          <a:prstGeom prst="rect">
            <a:avLst/>
          </a:prstGeom>
          <a:noFill/>
          <a:ln/>
        </p:spPr>
        <p:txBody>
          <a:bodyPr wrap="square" lIns="0" tIns="0" rIns="0" bIns="0" rtlCol="0" anchor="t"/>
          <a:lstStyle/>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eggs(some_parameter):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some_parameter.append('Hello')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eggs(spam)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reassign(some_parameter):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 = some_parameter + ['Hello']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reassign(spam)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p:txBody>
      </p:sp>
      <p:sp>
        <p:nvSpPr>
          <p:cNvPr id="8" name="transbox"/>
          <p:cNvSpPr/>
          <p:nvPr/>
        </p:nvSpPr>
        <p:spPr>
          <a:xfrm>
            <a:off x="365760" y="3547872"/>
            <a:ext cx="2788920" cy="502920"/>
          </a:xfrm>
          <a:prstGeom prst="roundRect">
            <a:avLst>
              <a:gd name="adj" fmla="val 18182"/>
            </a:avLst>
          </a:prstGeom>
          <a:solidFill>
            <a:srgbClr val="F1F4F8"/>
          </a:solidFill>
          <a:ln w="12700">
            <a:solidFill>
              <a:srgbClr val="F1F4F8"/>
            </a:solidFill>
            <a:prstDash val="solid"/>
          </a:ln>
        </p:spPr>
      </p:sp>
      <p:sp>
        <p:nvSpPr>
          <p:cNvPr id="9" name="trans"/>
          <p:cNvSpPr txBox="1"/>
          <p:nvPr/>
        </p:nvSpPr>
        <p:spPr>
          <a:xfrm>
            <a:off x="475488" y="3602736"/>
            <a:ext cx="2569464" cy="393192"/>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 'Hello']</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a:t>
            </a:r>
            <a:endParaRPr lang="en-US" sz="1100" dirty="0"/>
          </a:p>
        </p:txBody>
      </p:sp>
      <p:sp>
        <p:nvSpPr>
          <p:cNvPr id="10" name="transcap"/>
          <p:cNvSpPr txBox="1"/>
          <p:nvPr/>
        </p:nvSpPr>
        <p:spPr>
          <a:xfrm>
            <a:off x="365760" y="4069080"/>
            <a:ext cx="27889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v:ListArguments:sc0t"/>
          <p:cNvSpPr txBox="1"/>
          <p:nvPr/>
        </p:nvSpPr>
        <p:spPr>
          <a:xfrm>
            <a:off x="32918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the function calls append</a:t>
            </a:r>
            <a:endParaRPr lang="en-US" sz="1200" dirty="0"/>
          </a:p>
        </p:txBody>
      </p:sp>
      <p:sp>
        <p:nvSpPr>
          <p:cNvPr id="12" name="v:ListArguments:sc1t"/>
          <p:cNvSpPr txBox="1"/>
          <p:nvPr/>
        </p:nvSpPr>
        <p:spPr>
          <a:xfrm>
            <a:off x="60350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the function assigns a new list</a:t>
            </a:r>
            <a:endParaRPr lang="en-US" sz="1200" dirty="0"/>
          </a:p>
        </p:txBody>
      </p:sp>
      <p:sp>
        <p:nvSpPr>
          <p:cNvPr id="13" name="v:ListArguments:g0.0.c|b1"/>
          <p:cNvSpPr txBox="1"/>
          <p:nvPr/>
        </p:nvSpPr>
        <p:spPr>
          <a:xfrm>
            <a:off x="32918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before append</a:t>
            </a:r>
            <a:endParaRPr lang="en-US" sz="1050" dirty="0"/>
          </a:p>
        </p:txBody>
      </p:sp>
      <p:sp>
        <p:nvSpPr>
          <p:cNvPr id="14" name="v:ListArguments:g0.0.sc0|b1"/>
          <p:cNvSpPr txBox="1"/>
          <p:nvPr/>
        </p:nvSpPr>
        <p:spPr>
          <a:xfrm>
            <a:off x="32918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15" name="v:ListArguments:g0.0.sc1|b1"/>
          <p:cNvSpPr txBox="1"/>
          <p:nvPr/>
        </p:nvSpPr>
        <p:spPr>
          <a:xfrm>
            <a:off x="44805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eggs()</a:t>
            </a:r>
            <a:endParaRPr lang="en-US" sz="950" dirty="0"/>
          </a:p>
        </p:txBody>
      </p:sp>
      <p:sp>
        <p:nvSpPr>
          <p:cNvPr id="16" name="v:ListArguments:g0.0.o1i0:box|b1"/>
          <p:cNvSpPr/>
          <p:nvPr/>
        </p:nvSpPr>
        <p:spPr>
          <a:xfrm>
            <a:off x="4389120" y="2103120"/>
            <a:ext cx="256032" cy="310896"/>
          </a:xfrm>
          <a:prstGeom prst="roundRect">
            <a:avLst>
              <a:gd name="adj" fmla="val 14286"/>
            </a:avLst>
          </a:prstGeom>
          <a:solidFill>
            <a:srgbClr val="E3EEF8"/>
          </a:solidFill>
          <a:ln w="19050">
            <a:solidFill>
              <a:srgbClr val="306998"/>
            </a:solidFill>
            <a:prstDash val="solid"/>
          </a:ln>
        </p:spPr>
      </p:sp>
      <p:sp>
        <p:nvSpPr>
          <p:cNvPr id="17" name="v:ListArguments:g0.0.o1i0|b1"/>
          <p:cNvSpPr txBox="1"/>
          <p:nvPr/>
        </p:nvSpPr>
        <p:spPr>
          <a:xfrm>
            <a:off x="4398264"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18" name="v:ListArguments:g0.0.o1i1:box|b1"/>
          <p:cNvSpPr/>
          <p:nvPr/>
        </p:nvSpPr>
        <p:spPr>
          <a:xfrm>
            <a:off x="4681728" y="2103120"/>
            <a:ext cx="256032" cy="310896"/>
          </a:xfrm>
          <a:prstGeom prst="roundRect">
            <a:avLst>
              <a:gd name="adj" fmla="val 14286"/>
            </a:avLst>
          </a:prstGeom>
          <a:solidFill>
            <a:srgbClr val="E3EEF8"/>
          </a:solidFill>
          <a:ln w="19050">
            <a:solidFill>
              <a:srgbClr val="306998"/>
            </a:solidFill>
            <a:prstDash val="solid"/>
          </a:ln>
        </p:spPr>
      </p:sp>
      <p:sp>
        <p:nvSpPr>
          <p:cNvPr id="19" name="v:ListArguments:g0.0.o1i1|b1"/>
          <p:cNvSpPr txBox="1"/>
          <p:nvPr/>
        </p:nvSpPr>
        <p:spPr>
          <a:xfrm>
            <a:off x="4690872"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20" name="v:ListArguments:g0.0.o1i2:box|b1"/>
          <p:cNvSpPr/>
          <p:nvPr/>
        </p:nvSpPr>
        <p:spPr>
          <a:xfrm>
            <a:off x="4974336" y="2103120"/>
            <a:ext cx="256032" cy="310896"/>
          </a:xfrm>
          <a:prstGeom prst="roundRect">
            <a:avLst>
              <a:gd name="adj" fmla="val 14286"/>
            </a:avLst>
          </a:prstGeom>
          <a:solidFill>
            <a:srgbClr val="E3EEF8"/>
          </a:solidFill>
          <a:ln w="19050">
            <a:solidFill>
              <a:srgbClr val="306998"/>
            </a:solidFill>
            <a:prstDash val="solid"/>
          </a:ln>
        </p:spPr>
      </p:sp>
      <p:sp>
        <p:nvSpPr>
          <p:cNvPr id="21" name="v:ListArguments:g0.0.o1i2|b1"/>
          <p:cNvSpPr txBox="1"/>
          <p:nvPr/>
        </p:nvSpPr>
        <p:spPr>
          <a:xfrm>
            <a:off x="4983480"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22" name="v:ListArguments:g0.0.n.spam:box|b1"/>
          <p:cNvSpPr/>
          <p:nvPr/>
        </p:nvSpPr>
        <p:spPr>
          <a:xfrm>
            <a:off x="3291840" y="2002536"/>
            <a:ext cx="868680" cy="237744"/>
          </a:xfrm>
          <a:prstGeom prst="roundRect">
            <a:avLst>
              <a:gd name="adj" fmla="val 30769"/>
            </a:avLst>
          </a:prstGeom>
          <a:solidFill>
            <a:srgbClr val="FFFFFF"/>
          </a:solidFill>
          <a:ln w="19050">
            <a:solidFill>
              <a:srgbClr val="306998"/>
            </a:solidFill>
            <a:prstDash val="solid"/>
          </a:ln>
        </p:spPr>
      </p:sp>
      <p:sp>
        <p:nvSpPr>
          <p:cNvPr id="23" name="v:ListArguments:g0.0.n.spam|b1"/>
          <p:cNvSpPr txBox="1"/>
          <p:nvPr/>
        </p:nvSpPr>
        <p:spPr>
          <a:xfrm>
            <a:off x="3291840" y="200253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24" name="namearrow|b1"/>
          <p:cNvSpPr/>
          <p:nvPr/>
        </p:nvSpPr>
        <p:spPr>
          <a:xfrm>
            <a:off x="4160520" y="2121408"/>
            <a:ext cx="228600" cy="137160"/>
          </a:xfrm>
          <a:prstGeom prst="line">
            <a:avLst/>
          </a:prstGeom>
          <a:noFill/>
          <a:ln w="25400">
            <a:solidFill>
              <a:srgbClr val="306998"/>
            </a:solidFill>
            <a:prstDash val="solid"/>
            <a:tailEnd type="triangle"/>
          </a:ln>
        </p:spPr>
      </p:sp>
      <p:sp>
        <p:nvSpPr>
          <p:cNvPr id="25" name="v:ListArguments:g0.0.n.some_parameter:box|b1"/>
          <p:cNvSpPr/>
          <p:nvPr/>
        </p:nvSpPr>
        <p:spPr>
          <a:xfrm>
            <a:off x="3291840" y="2276856"/>
            <a:ext cx="868680" cy="237744"/>
          </a:xfrm>
          <a:prstGeom prst="roundRect">
            <a:avLst>
              <a:gd name="adj" fmla="val 30769"/>
            </a:avLst>
          </a:prstGeom>
          <a:solidFill>
            <a:srgbClr val="FFFFFF"/>
          </a:solidFill>
          <a:ln w="19050">
            <a:solidFill>
              <a:srgbClr val="B7791F"/>
            </a:solidFill>
            <a:prstDash val="solid"/>
          </a:ln>
        </p:spPr>
      </p:sp>
      <p:sp>
        <p:nvSpPr>
          <p:cNvPr id="26" name="v:ListArguments:g0.0.n.some_parameter|b1"/>
          <p:cNvSpPr txBox="1"/>
          <p:nvPr/>
        </p:nvSpPr>
        <p:spPr>
          <a:xfrm>
            <a:off x="3291840" y="2276856"/>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27" name="namearrow|b1"/>
          <p:cNvSpPr/>
          <p:nvPr/>
        </p:nvSpPr>
        <p:spPr>
          <a:xfrm flipV="1">
            <a:off x="4160520" y="2258568"/>
            <a:ext cx="228600" cy="137160"/>
          </a:xfrm>
          <a:prstGeom prst="line">
            <a:avLst/>
          </a:prstGeom>
          <a:noFill/>
          <a:ln w="25400">
            <a:solidFill>
              <a:srgbClr val="B7791F"/>
            </a:solidFill>
            <a:prstDash val="solid"/>
            <a:tailEnd type="triangle"/>
          </a:ln>
        </p:spPr>
      </p:sp>
      <p:sp>
        <p:nvSpPr>
          <p:cNvPr id="28" name="v:ListArguments:g0.1.c|b2"/>
          <p:cNvSpPr txBox="1"/>
          <p:nvPr/>
        </p:nvSpPr>
        <p:spPr>
          <a:xfrm>
            <a:off x="32918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29" name="v:ListArguments:g0.1.o1i0:box|b2"/>
          <p:cNvSpPr/>
          <p:nvPr/>
        </p:nvSpPr>
        <p:spPr>
          <a:xfrm>
            <a:off x="4389120" y="3355848"/>
            <a:ext cx="256032" cy="310896"/>
          </a:xfrm>
          <a:prstGeom prst="roundRect">
            <a:avLst>
              <a:gd name="adj" fmla="val 14286"/>
            </a:avLst>
          </a:prstGeom>
          <a:solidFill>
            <a:srgbClr val="E3EEF8"/>
          </a:solidFill>
          <a:ln w="19050">
            <a:solidFill>
              <a:srgbClr val="306998"/>
            </a:solidFill>
            <a:prstDash val="solid"/>
          </a:ln>
        </p:spPr>
      </p:sp>
      <p:sp>
        <p:nvSpPr>
          <p:cNvPr id="30" name="v:ListArguments:g0.1.o1i0|b2"/>
          <p:cNvSpPr txBox="1"/>
          <p:nvPr/>
        </p:nvSpPr>
        <p:spPr>
          <a:xfrm>
            <a:off x="43982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31" name="v:ListArguments:g0.1.o1i1:box|b2"/>
          <p:cNvSpPr/>
          <p:nvPr/>
        </p:nvSpPr>
        <p:spPr>
          <a:xfrm>
            <a:off x="4681728" y="3355848"/>
            <a:ext cx="256032" cy="310896"/>
          </a:xfrm>
          <a:prstGeom prst="roundRect">
            <a:avLst>
              <a:gd name="adj" fmla="val 14286"/>
            </a:avLst>
          </a:prstGeom>
          <a:solidFill>
            <a:srgbClr val="E3EEF8"/>
          </a:solidFill>
          <a:ln w="19050">
            <a:solidFill>
              <a:srgbClr val="306998"/>
            </a:solidFill>
            <a:prstDash val="solid"/>
          </a:ln>
        </p:spPr>
      </p:sp>
      <p:sp>
        <p:nvSpPr>
          <p:cNvPr id="32" name="v:ListArguments:g0.1.o1i1|b2"/>
          <p:cNvSpPr txBox="1"/>
          <p:nvPr/>
        </p:nvSpPr>
        <p:spPr>
          <a:xfrm>
            <a:off x="46908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33" name="v:ListArguments:g0.1.o1i2:box|b2"/>
          <p:cNvSpPr/>
          <p:nvPr/>
        </p:nvSpPr>
        <p:spPr>
          <a:xfrm>
            <a:off x="4974336" y="3355848"/>
            <a:ext cx="256032" cy="310896"/>
          </a:xfrm>
          <a:prstGeom prst="roundRect">
            <a:avLst>
              <a:gd name="adj" fmla="val 14286"/>
            </a:avLst>
          </a:prstGeom>
          <a:solidFill>
            <a:srgbClr val="E3EEF8"/>
          </a:solidFill>
          <a:ln w="19050">
            <a:solidFill>
              <a:srgbClr val="306998"/>
            </a:solidFill>
            <a:prstDash val="solid"/>
          </a:ln>
        </p:spPr>
      </p:sp>
      <p:sp>
        <p:nvSpPr>
          <p:cNvPr id="34" name="v:ListArguments:g0.1.o1i2|b2"/>
          <p:cNvSpPr txBox="1"/>
          <p:nvPr/>
        </p:nvSpPr>
        <p:spPr>
          <a:xfrm>
            <a:off x="49834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35" name="v:ListArguments:g0.1.o1i3:box|b2"/>
          <p:cNvSpPr/>
          <p:nvPr/>
        </p:nvSpPr>
        <p:spPr>
          <a:xfrm>
            <a:off x="5266944" y="3355848"/>
            <a:ext cx="571500" cy="310896"/>
          </a:xfrm>
          <a:prstGeom prst="roundRect">
            <a:avLst>
              <a:gd name="adj" fmla="val 11765"/>
            </a:avLst>
          </a:prstGeom>
          <a:solidFill>
            <a:srgbClr val="E3EEF8"/>
          </a:solidFill>
          <a:ln w="19050">
            <a:solidFill>
              <a:srgbClr val="306998"/>
            </a:solidFill>
            <a:prstDash val="solid"/>
          </a:ln>
        </p:spPr>
      </p:sp>
      <p:sp>
        <p:nvSpPr>
          <p:cNvPr id="36" name="v:ListArguments:g0.1.o1i3|b2"/>
          <p:cNvSpPr txBox="1"/>
          <p:nvPr/>
        </p:nvSpPr>
        <p:spPr>
          <a:xfrm>
            <a:off x="5276088" y="3355848"/>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37" name="v:ListArguments:g0.1.n.spam:box|b2"/>
          <p:cNvSpPr/>
          <p:nvPr/>
        </p:nvSpPr>
        <p:spPr>
          <a:xfrm>
            <a:off x="3291840" y="3392424"/>
            <a:ext cx="868680" cy="237744"/>
          </a:xfrm>
          <a:prstGeom prst="roundRect">
            <a:avLst>
              <a:gd name="adj" fmla="val 30769"/>
            </a:avLst>
          </a:prstGeom>
          <a:solidFill>
            <a:srgbClr val="FFFFFF"/>
          </a:solidFill>
          <a:ln w="19050">
            <a:solidFill>
              <a:srgbClr val="306998"/>
            </a:solidFill>
            <a:prstDash val="solid"/>
          </a:ln>
        </p:spPr>
      </p:sp>
      <p:sp>
        <p:nvSpPr>
          <p:cNvPr id="38" name="v:ListArguments:g0.1.n.spam|b2"/>
          <p:cNvSpPr txBox="1"/>
          <p:nvPr/>
        </p:nvSpPr>
        <p:spPr>
          <a:xfrm>
            <a:off x="32918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39" name="namearrow|b2"/>
          <p:cNvSpPr/>
          <p:nvPr/>
        </p:nvSpPr>
        <p:spPr>
          <a:xfrm>
            <a:off x="4160520" y="3511296"/>
            <a:ext cx="228600" cy="0"/>
          </a:xfrm>
          <a:prstGeom prst="line">
            <a:avLst/>
          </a:prstGeom>
          <a:noFill/>
          <a:ln w="25400">
            <a:solidFill>
              <a:srgbClr val="306998"/>
            </a:solidFill>
            <a:prstDash val="solid"/>
            <a:tailEnd type="triangle"/>
          </a:ln>
        </p:spPr>
      </p:sp>
      <p:sp>
        <p:nvSpPr>
          <p:cNvPr id="40" name="v:ListArguments:g1.0.c|b3"/>
          <p:cNvSpPr txBox="1"/>
          <p:nvPr/>
        </p:nvSpPr>
        <p:spPr>
          <a:xfrm>
            <a:off x="60350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after the assignment</a:t>
            </a:r>
            <a:endParaRPr lang="en-US" sz="1050" dirty="0"/>
          </a:p>
        </p:txBody>
      </p:sp>
      <p:sp>
        <p:nvSpPr>
          <p:cNvPr id="41" name="v:ListArguments:g1.0.sc0|b3"/>
          <p:cNvSpPr txBox="1"/>
          <p:nvPr/>
        </p:nvSpPr>
        <p:spPr>
          <a:xfrm>
            <a:off x="60350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42" name="v:ListArguments:g1.0.sc1|b3"/>
          <p:cNvSpPr txBox="1"/>
          <p:nvPr/>
        </p:nvSpPr>
        <p:spPr>
          <a:xfrm>
            <a:off x="72237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reassign()</a:t>
            </a:r>
            <a:endParaRPr lang="en-US" sz="950" dirty="0"/>
          </a:p>
        </p:txBody>
      </p:sp>
      <p:sp>
        <p:nvSpPr>
          <p:cNvPr id="43" name="v:ListArguments:g1.0.o1i0:box|b3"/>
          <p:cNvSpPr/>
          <p:nvPr/>
        </p:nvSpPr>
        <p:spPr>
          <a:xfrm>
            <a:off x="7132320" y="2011680"/>
            <a:ext cx="256032" cy="310896"/>
          </a:xfrm>
          <a:prstGeom prst="roundRect">
            <a:avLst>
              <a:gd name="adj" fmla="val 14286"/>
            </a:avLst>
          </a:prstGeom>
          <a:solidFill>
            <a:srgbClr val="E3EEF8"/>
          </a:solidFill>
          <a:ln w="19050">
            <a:solidFill>
              <a:srgbClr val="306998"/>
            </a:solidFill>
            <a:prstDash val="solid"/>
          </a:ln>
        </p:spPr>
      </p:sp>
      <p:sp>
        <p:nvSpPr>
          <p:cNvPr id="44" name="v:ListArguments:g1.0.o1i0|b3"/>
          <p:cNvSpPr txBox="1"/>
          <p:nvPr/>
        </p:nvSpPr>
        <p:spPr>
          <a:xfrm>
            <a:off x="7141464"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45" name="v:ListArguments:g1.0.o1i1:box|b3"/>
          <p:cNvSpPr/>
          <p:nvPr/>
        </p:nvSpPr>
        <p:spPr>
          <a:xfrm>
            <a:off x="7424928" y="2011680"/>
            <a:ext cx="256032" cy="310896"/>
          </a:xfrm>
          <a:prstGeom prst="roundRect">
            <a:avLst>
              <a:gd name="adj" fmla="val 14286"/>
            </a:avLst>
          </a:prstGeom>
          <a:solidFill>
            <a:srgbClr val="E3EEF8"/>
          </a:solidFill>
          <a:ln w="19050">
            <a:solidFill>
              <a:srgbClr val="306998"/>
            </a:solidFill>
            <a:prstDash val="solid"/>
          </a:ln>
        </p:spPr>
      </p:sp>
      <p:sp>
        <p:nvSpPr>
          <p:cNvPr id="46" name="v:ListArguments:g1.0.o1i1|b3"/>
          <p:cNvSpPr txBox="1"/>
          <p:nvPr/>
        </p:nvSpPr>
        <p:spPr>
          <a:xfrm>
            <a:off x="7434072"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47" name="v:ListArguments:g1.0.o1i2:box|b3"/>
          <p:cNvSpPr/>
          <p:nvPr/>
        </p:nvSpPr>
        <p:spPr>
          <a:xfrm>
            <a:off x="7717536" y="2011680"/>
            <a:ext cx="256032" cy="310896"/>
          </a:xfrm>
          <a:prstGeom prst="roundRect">
            <a:avLst>
              <a:gd name="adj" fmla="val 14286"/>
            </a:avLst>
          </a:prstGeom>
          <a:solidFill>
            <a:srgbClr val="E3EEF8"/>
          </a:solidFill>
          <a:ln w="19050">
            <a:solidFill>
              <a:srgbClr val="306998"/>
            </a:solidFill>
            <a:prstDash val="solid"/>
          </a:ln>
        </p:spPr>
      </p:sp>
      <p:sp>
        <p:nvSpPr>
          <p:cNvPr id="48" name="v:ListArguments:g1.0.o1i2|b3"/>
          <p:cNvSpPr txBox="1"/>
          <p:nvPr/>
        </p:nvSpPr>
        <p:spPr>
          <a:xfrm>
            <a:off x="7726680"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49" name="v:ListArguments:g1.0.o2i0:box|b3"/>
          <p:cNvSpPr/>
          <p:nvPr/>
        </p:nvSpPr>
        <p:spPr>
          <a:xfrm>
            <a:off x="7132320" y="2523744"/>
            <a:ext cx="256032" cy="310896"/>
          </a:xfrm>
          <a:prstGeom prst="roundRect">
            <a:avLst>
              <a:gd name="adj" fmla="val 14286"/>
            </a:avLst>
          </a:prstGeom>
          <a:solidFill>
            <a:srgbClr val="E3EEF8"/>
          </a:solidFill>
          <a:ln w="19050">
            <a:solidFill>
              <a:srgbClr val="306998"/>
            </a:solidFill>
            <a:prstDash val="solid"/>
          </a:ln>
        </p:spPr>
      </p:sp>
      <p:sp>
        <p:nvSpPr>
          <p:cNvPr id="50" name="v:ListArguments:g1.0.o2i0|b3"/>
          <p:cNvSpPr txBox="1"/>
          <p:nvPr/>
        </p:nvSpPr>
        <p:spPr>
          <a:xfrm>
            <a:off x="7141464"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51" name="v:ListArguments:g1.0.o2i1:box|b3"/>
          <p:cNvSpPr/>
          <p:nvPr/>
        </p:nvSpPr>
        <p:spPr>
          <a:xfrm>
            <a:off x="7424928" y="2523744"/>
            <a:ext cx="256032" cy="310896"/>
          </a:xfrm>
          <a:prstGeom prst="roundRect">
            <a:avLst>
              <a:gd name="adj" fmla="val 14286"/>
            </a:avLst>
          </a:prstGeom>
          <a:solidFill>
            <a:srgbClr val="E3EEF8"/>
          </a:solidFill>
          <a:ln w="19050">
            <a:solidFill>
              <a:srgbClr val="306998"/>
            </a:solidFill>
            <a:prstDash val="solid"/>
          </a:ln>
        </p:spPr>
      </p:sp>
      <p:sp>
        <p:nvSpPr>
          <p:cNvPr id="52" name="v:ListArguments:g1.0.o2i1|b3"/>
          <p:cNvSpPr txBox="1"/>
          <p:nvPr/>
        </p:nvSpPr>
        <p:spPr>
          <a:xfrm>
            <a:off x="7434072"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53" name="v:ListArguments:g1.0.o2i2:box|b3"/>
          <p:cNvSpPr/>
          <p:nvPr/>
        </p:nvSpPr>
        <p:spPr>
          <a:xfrm>
            <a:off x="7717536" y="2523744"/>
            <a:ext cx="256032" cy="310896"/>
          </a:xfrm>
          <a:prstGeom prst="roundRect">
            <a:avLst>
              <a:gd name="adj" fmla="val 14286"/>
            </a:avLst>
          </a:prstGeom>
          <a:solidFill>
            <a:srgbClr val="E3EEF8"/>
          </a:solidFill>
          <a:ln w="19050">
            <a:solidFill>
              <a:srgbClr val="306998"/>
            </a:solidFill>
            <a:prstDash val="solid"/>
          </a:ln>
        </p:spPr>
      </p:sp>
      <p:sp>
        <p:nvSpPr>
          <p:cNvPr id="54" name="v:ListArguments:g1.0.o2i2|b3"/>
          <p:cNvSpPr txBox="1"/>
          <p:nvPr/>
        </p:nvSpPr>
        <p:spPr>
          <a:xfrm>
            <a:off x="7726680"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55" name="v:ListArguments:g1.0.o2i3:box|b3"/>
          <p:cNvSpPr/>
          <p:nvPr/>
        </p:nvSpPr>
        <p:spPr>
          <a:xfrm>
            <a:off x="8010144" y="2523744"/>
            <a:ext cx="571500" cy="310896"/>
          </a:xfrm>
          <a:prstGeom prst="roundRect">
            <a:avLst>
              <a:gd name="adj" fmla="val 11765"/>
            </a:avLst>
          </a:prstGeom>
          <a:solidFill>
            <a:srgbClr val="E3EEF8"/>
          </a:solidFill>
          <a:ln w="19050">
            <a:solidFill>
              <a:srgbClr val="306998"/>
            </a:solidFill>
            <a:prstDash val="solid"/>
          </a:ln>
        </p:spPr>
      </p:sp>
      <p:sp>
        <p:nvSpPr>
          <p:cNvPr id="56" name="v:ListArguments:g1.0.o2i3|b3"/>
          <p:cNvSpPr txBox="1"/>
          <p:nvPr/>
        </p:nvSpPr>
        <p:spPr>
          <a:xfrm>
            <a:off x="8019288" y="2523744"/>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57" name="v:ListArguments:g1.0.n.spam:box|b3"/>
          <p:cNvSpPr/>
          <p:nvPr/>
        </p:nvSpPr>
        <p:spPr>
          <a:xfrm>
            <a:off x="6035040" y="2048256"/>
            <a:ext cx="868680" cy="237744"/>
          </a:xfrm>
          <a:prstGeom prst="roundRect">
            <a:avLst>
              <a:gd name="adj" fmla="val 30769"/>
            </a:avLst>
          </a:prstGeom>
          <a:solidFill>
            <a:srgbClr val="FFFFFF"/>
          </a:solidFill>
          <a:ln w="19050">
            <a:solidFill>
              <a:srgbClr val="306998"/>
            </a:solidFill>
            <a:prstDash val="solid"/>
          </a:ln>
        </p:spPr>
      </p:sp>
      <p:sp>
        <p:nvSpPr>
          <p:cNvPr id="58" name="v:ListArguments:g1.0.n.spam|b3"/>
          <p:cNvSpPr txBox="1"/>
          <p:nvPr/>
        </p:nvSpPr>
        <p:spPr>
          <a:xfrm>
            <a:off x="6035040" y="204825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59" name="namearrow|b3"/>
          <p:cNvSpPr/>
          <p:nvPr/>
        </p:nvSpPr>
        <p:spPr>
          <a:xfrm>
            <a:off x="6903720" y="2167128"/>
            <a:ext cx="228600" cy="0"/>
          </a:xfrm>
          <a:prstGeom prst="line">
            <a:avLst/>
          </a:prstGeom>
          <a:noFill/>
          <a:ln w="25400">
            <a:solidFill>
              <a:srgbClr val="306998"/>
            </a:solidFill>
            <a:prstDash val="solid"/>
            <a:tailEnd type="triangle"/>
          </a:ln>
        </p:spPr>
      </p:sp>
      <p:sp>
        <p:nvSpPr>
          <p:cNvPr id="60" name="v:ListArguments:g1.0.n.some_parameter:box|b3"/>
          <p:cNvSpPr/>
          <p:nvPr/>
        </p:nvSpPr>
        <p:spPr>
          <a:xfrm>
            <a:off x="6035040" y="2560320"/>
            <a:ext cx="868680" cy="237744"/>
          </a:xfrm>
          <a:prstGeom prst="roundRect">
            <a:avLst>
              <a:gd name="adj" fmla="val 30769"/>
            </a:avLst>
          </a:prstGeom>
          <a:solidFill>
            <a:srgbClr val="FFFFFF"/>
          </a:solidFill>
          <a:ln w="19050">
            <a:solidFill>
              <a:srgbClr val="B7791F"/>
            </a:solidFill>
            <a:prstDash val="solid"/>
          </a:ln>
        </p:spPr>
      </p:sp>
      <p:sp>
        <p:nvSpPr>
          <p:cNvPr id="61" name="v:ListArguments:g1.0.n.some_parameter|b3"/>
          <p:cNvSpPr txBox="1"/>
          <p:nvPr/>
        </p:nvSpPr>
        <p:spPr>
          <a:xfrm>
            <a:off x="6035040" y="2560320"/>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62" name="namearrow|b3"/>
          <p:cNvSpPr/>
          <p:nvPr/>
        </p:nvSpPr>
        <p:spPr>
          <a:xfrm>
            <a:off x="6903720" y="2679192"/>
            <a:ext cx="228600" cy="0"/>
          </a:xfrm>
          <a:prstGeom prst="line">
            <a:avLst/>
          </a:prstGeom>
          <a:noFill/>
          <a:ln w="25400">
            <a:solidFill>
              <a:srgbClr val="B7791F"/>
            </a:solidFill>
            <a:prstDash val="solid"/>
            <a:tailEnd type="triangle"/>
          </a:ln>
        </p:spPr>
      </p:sp>
      <p:sp>
        <p:nvSpPr>
          <p:cNvPr id="63" name="v:ListArguments:g1.1.c|b4"/>
          <p:cNvSpPr txBox="1"/>
          <p:nvPr/>
        </p:nvSpPr>
        <p:spPr>
          <a:xfrm>
            <a:off x="60350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64" name="v:ListArguments:g1.1.o1i0:box|b4"/>
          <p:cNvSpPr/>
          <p:nvPr/>
        </p:nvSpPr>
        <p:spPr>
          <a:xfrm>
            <a:off x="7132320" y="3355848"/>
            <a:ext cx="256032" cy="310896"/>
          </a:xfrm>
          <a:prstGeom prst="roundRect">
            <a:avLst>
              <a:gd name="adj" fmla="val 14286"/>
            </a:avLst>
          </a:prstGeom>
          <a:solidFill>
            <a:srgbClr val="E3EEF8"/>
          </a:solidFill>
          <a:ln w="19050">
            <a:solidFill>
              <a:srgbClr val="306998"/>
            </a:solidFill>
            <a:prstDash val="solid"/>
          </a:ln>
        </p:spPr>
      </p:sp>
      <p:sp>
        <p:nvSpPr>
          <p:cNvPr id="65" name="v:ListArguments:g1.1.o1i0|b4"/>
          <p:cNvSpPr txBox="1"/>
          <p:nvPr/>
        </p:nvSpPr>
        <p:spPr>
          <a:xfrm>
            <a:off x="71414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66" name="v:ListArguments:g1.1.o1i1:box|b4"/>
          <p:cNvSpPr/>
          <p:nvPr/>
        </p:nvSpPr>
        <p:spPr>
          <a:xfrm>
            <a:off x="7424928" y="3355848"/>
            <a:ext cx="256032" cy="310896"/>
          </a:xfrm>
          <a:prstGeom prst="roundRect">
            <a:avLst>
              <a:gd name="adj" fmla="val 14286"/>
            </a:avLst>
          </a:prstGeom>
          <a:solidFill>
            <a:srgbClr val="E3EEF8"/>
          </a:solidFill>
          <a:ln w="19050">
            <a:solidFill>
              <a:srgbClr val="306998"/>
            </a:solidFill>
            <a:prstDash val="solid"/>
          </a:ln>
        </p:spPr>
      </p:sp>
      <p:sp>
        <p:nvSpPr>
          <p:cNvPr id="67" name="v:ListArguments:g1.1.o1i1|b4"/>
          <p:cNvSpPr txBox="1"/>
          <p:nvPr/>
        </p:nvSpPr>
        <p:spPr>
          <a:xfrm>
            <a:off x="74340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68" name="v:ListArguments:g1.1.o1i2:box|b4"/>
          <p:cNvSpPr/>
          <p:nvPr/>
        </p:nvSpPr>
        <p:spPr>
          <a:xfrm>
            <a:off x="7717536" y="3355848"/>
            <a:ext cx="256032" cy="310896"/>
          </a:xfrm>
          <a:prstGeom prst="roundRect">
            <a:avLst>
              <a:gd name="adj" fmla="val 14286"/>
            </a:avLst>
          </a:prstGeom>
          <a:solidFill>
            <a:srgbClr val="E3EEF8"/>
          </a:solidFill>
          <a:ln w="19050">
            <a:solidFill>
              <a:srgbClr val="306998"/>
            </a:solidFill>
            <a:prstDash val="solid"/>
          </a:ln>
        </p:spPr>
      </p:sp>
      <p:sp>
        <p:nvSpPr>
          <p:cNvPr id="69" name="v:ListArguments:g1.1.o1i2|b4"/>
          <p:cNvSpPr txBox="1"/>
          <p:nvPr/>
        </p:nvSpPr>
        <p:spPr>
          <a:xfrm>
            <a:off x="77266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70" name="v:ListArguments:g1.1.n.spam:box|b4"/>
          <p:cNvSpPr/>
          <p:nvPr/>
        </p:nvSpPr>
        <p:spPr>
          <a:xfrm>
            <a:off x="6035040" y="3392424"/>
            <a:ext cx="868680" cy="237744"/>
          </a:xfrm>
          <a:prstGeom prst="roundRect">
            <a:avLst>
              <a:gd name="adj" fmla="val 30769"/>
            </a:avLst>
          </a:prstGeom>
          <a:solidFill>
            <a:srgbClr val="FFFFFF"/>
          </a:solidFill>
          <a:ln w="19050">
            <a:solidFill>
              <a:srgbClr val="306998"/>
            </a:solidFill>
            <a:prstDash val="solid"/>
          </a:ln>
        </p:spPr>
      </p:sp>
      <p:sp>
        <p:nvSpPr>
          <p:cNvPr id="71" name="v:ListArguments:g1.1.n.spam|b4"/>
          <p:cNvSpPr txBox="1"/>
          <p:nvPr/>
        </p:nvSpPr>
        <p:spPr>
          <a:xfrm>
            <a:off x="60350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72" name="namearrow|b4"/>
          <p:cNvSpPr/>
          <p:nvPr/>
        </p:nvSpPr>
        <p:spPr>
          <a:xfrm>
            <a:off x="6903720" y="3511296"/>
            <a:ext cx="228600" cy="0"/>
          </a:xfrm>
          <a:prstGeom prst="line">
            <a:avLst/>
          </a:prstGeom>
          <a:noFill/>
          <a:ln w="25400">
            <a:solidFill>
              <a:srgbClr val="306998"/>
            </a:solidFill>
            <a:prstDash val="solid"/>
            <a:tailEnd type="triangle"/>
          </a:ln>
        </p:spPr>
      </p:sp>
      <p:sp>
        <p:nvSpPr>
          <p:cNvPr id="7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List arguments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par>
                    <p:cTn id="86" fill="hold">
                      <p:stCondLst>
                        <p:cond delay="indefinite"/>
                      </p:stCondLst>
                      <p:childTnLst>
                        <p:par>
                          <p:cTn id="87"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00"/>
                                        <p:tgtEl>
                                          <p:spTgt spid="28"/>
                                        </p:tgtEl>
                                      </p:cBhvr>
                                    </p:animEffect>
                                  </p:childTnLst>
                                </p:cTn>
                              </p:par>
                              <p:par>
                                <p:cTn id="53" presetID="10"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00"/>
                                        <p:tgtEl>
                                          <p:spTgt spid="30"/>
                                        </p:tgtEl>
                                      </p:cBhvr>
                                    </p:animEffect>
                                  </p:childTnLst>
                                </p:cTn>
                              </p:par>
                              <p:par>
                                <p:cTn id="59" presetID="10"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00"/>
                                        <p:tgtEl>
                                          <p:spTgt spid="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00"/>
                                        <p:tgtEl>
                                          <p:spTgt spid="32"/>
                                        </p:tgtEl>
                                      </p:cBhvr>
                                    </p:animEffect>
                                  </p:childTnLst>
                                </p:cTn>
                              </p:par>
                              <p:par>
                                <p:cTn id="65" presetID="10"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00"/>
                                        <p:tgtEl>
                                          <p:spTgt spid="34"/>
                                        </p:tgtEl>
                                      </p:cBhvr>
                                    </p:animEffect>
                                  </p:childTnLst>
                                </p:cTn>
                              </p:par>
                              <p:par>
                                <p:cTn id="71" presetID="10" presetClass="entr" presetSubtype="0" fill="hold"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4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400"/>
                                        <p:tgtEl>
                                          <p:spTgt spid="36"/>
                                        </p:tgtEl>
                                      </p:cBhvr>
                                    </p:animEffect>
                                  </p:childTnLst>
                                </p:cTn>
                              </p:par>
                              <p:par>
                                <p:cTn id="77" presetID="10" presetClass="entr" presetSubtype="0" fill="hold"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4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400"/>
                                        <p:tgtEl>
                                          <p:spTgt spid="38"/>
                                        </p:tgtEl>
                                      </p:cBhvr>
                                    </p:animEffect>
                                  </p:childTnLst>
                                </p:cTn>
                              </p:par>
                              <p:par>
                                <p:cTn id="83" presetID="10"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400"/>
                                        <p:tgtEl>
                                          <p:spTgt spid="39"/>
                                        </p:tgtEl>
                                      </p:cBhvr>
                                    </p:animEffect>
                                  </p:childTnLst>
                                </p:cTn>
                              </p:par>
                            </p:childTnLst>
                          </p:cTn>
                        </p:par>
                      </p:childTnLst>
                    </p:cTn>
                  </p:par>
                  <p:par>
                    <p:cTn id="157" fill="hold">
                      <p:stCondLst>
                        <p:cond delay="indefinite"/>
                      </p:stCondLst>
                      <p:childTnLst>
                        <p:par>
                          <p:cTn id="158"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400"/>
                                        <p:tgtEl>
                                          <p:spTgt spid="4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fade">
                                      <p:cBhvr>
                                        <p:cTn id="93" dur="400"/>
                                        <p:tgtEl>
                                          <p:spTgt spid="4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2"/>
                                        </p:tgtEl>
                                        <p:attrNameLst>
                                          <p:attrName>style.visibility</p:attrName>
                                        </p:attrNameLst>
                                      </p:cBhvr>
                                      <p:to>
                                        <p:strVal val="visible"/>
                                      </p:to>
                                    </p:set>
                                    <p:animEffect transition="in" filter="fade">
                                      <p:cBhvr>
                                        <p:cTn id="96" dur="400"/>
                                        <p:tgtEl>
                                          <p:spTgt spid="42"/>
                                        </p:tgtEl>
                                      </p:cBhvr>
                                    </p:animEffect>
                                  </p:childTnLst>
                                </p:cTn>
                              </p:par>
                              <p:par>
                                <p:cTn id="97" presetID="10" presetClass="entr" presetSubtype="0" fill="hold" nodeType="with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400"/>
                                        <p:tgtEl>
                                          <p:spTgt spid="4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400"/>
                                        <p:tgtEl>
                                          <p:spTgt spid="44"/>
                                        </p:tgtEl>
                                      </p:cBhvr>
                                    </p:animEffect>
                                  </p:childTnLst>
                                </p:cTn>
                              </p:par>
                              <p:par>
                                <p:cTn id="103" presetID="10" presetClass="entr" presetSubtype="0" fill="hold"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400"/>
                                        <p:tgtEl>
                                          <p:spTgt spid="4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fade">
                                      <p:cBhvr>
                                        <p:cTn id="108" dur="400"/>
                                        <p:tgtEl>
                                          <p:spTgt spid="46"/>
                                        </p:tgtEl>
                                      </p:cBhvr>
                                    </p:animEffect>
                                  </p:childTnLst>
                                </p:cTn>
                              </p:par>
                              <p:par>
                                <p:cTn id="109" presetID="10" presetClass="entr" presetSubtype="0" fill="hold"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11" dur="400"/>
                                        <p:tgtEl>
                                          <p:spTgt spid="4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fade">
                                      <p:cBhvr>
                                        <p:cTn id="114" dur="400"/>
                                        <p:tgtEl>
                                          <p:spTgt spid="48"/>
                                        </p:tgtEl>
                                      </p:cBhvr>
                                    </p:animEffect>
                                  </p:childTnLst>
                                </p:cTn>
                              </p:par>
                              <p:par>
                                <p:cTn id="115" presetID="10" presetClass="entr" presetSubtype="0" fill="hold"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400"/>
                                        <p:tgtEl>
                                          <p:spTgt spid="4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400"/>
                                        <p:tgtEl>
                                          <p:spTgt spid="50"/>
                                        </p:tgtEl>
                                      </p:cBhvr>
                                    </p:animEffect>
                                  </p:childTnLst>
                                </p:cTn>
                              </p:par>
                              <p:par>
                                <p:cTn id="121" presetID="10" presetClass="entr" presetSubtype="0" fill="hold" nodeType="with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fade">
                                      <p:cBhvr>
                                        <p:cTn id="123" dur="400"/>
                                        <p:tgtEl>
                                          <p:spTgt spid="5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400"/>
                                        <p:tgtEl>
                                          <p:spTgt spid="52"/>
                                        </p:tgtEl>
                                      </p:cBhvr>
                                    </p:animEffect>
                                  </p:childTnLst>
                                </p:cTn>
                              </p:par>
                              <p:par>
                                <p:cTn id="127" presetID="10" presetClass="entr" presetSubtype="0" fill="hold" nodeType="withEffect">
                                  <p:stCondLst>
                                    <p:cond delay="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400"/>
                                        <p:tgtEl>
                                          <p:spTgt spid="5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400"/>
                                        <p:tgtEl>
                                          <p:spTgt spid="54"/>
                                        </p:tgtEl>
                                      </p:cBhvr>
                                    </p:animEffect>
                                  </p:childTnLst>
                                </p:cTn>
                              </p:par>
                              <p:par>
                                <p:cTn id="133" presetID="10" presetClass="entr" presetSubtype="0" fill="hold" nodeType="with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fade">
                                      <p:cBhvr>
                                        <p:cTn id="135" dur="400"/>
                                        <p:tgtEl>
                                          <p:spTgt spid="5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6"/>
                                        </p:tgtEl>
                                        <p:attrNameLst>
                                          <p:attrName>style.visibility</p:attrName>
                                        </p:attrNameLst>
                                      </p:cBhvr>
                                      <p:to>
                                        <p:strVal val="visible"/>
                                      </p:to>
                                    </p:set>
                                    <p:animEffect transition="in" filter="fade">
                                      <p:cBhvr>
                                        <p:cTn id="138" dur="400"/>
                                        <p:tgtEl>
                                          <p:spTgt spid="56"/>
                                        </p:tgtEl>
                                      </p:cBhvr>
                                    </p:animEffect>
                                  </p:childTnLst>
                                </p:cTn>
                              </p:par>
                              <p:par>
                                <p:cTn id="139" presetID="10" presetClass="entr" presetSubtype="0" fill="hold" nodeType="withEffect">
                                  <p:stCondLst>
                                    <p:cond delay="0"/>
                                  </p:stCondLst>
                                  <p:childTnLst>
                                    <p:set>
                                      <p:cBhvr>
                                        <p:cTn id="140" dur="1" fill="hold">
                                          <p:stCondLst>
                                            <p:cond delay="0"/>
                                          </p:stCondLst>
                                        </p:cTn>
                                        <p:tgtEl>
                                          <p:spTgt spid="57"/>
                                        </p:tgtEl>
                                        <p:attrNameLst>
                                          <p:attrName>style.visibility</p:attrName>
                                        </p:attrNameLst>
                                      </p:cBhvr>
                                      <p:to>
                                        <p:strVal val="visible"/>
                                      </p:to>
                                    </p:set>
                                    <p:animEffect transition="in" filter="fade">
                                      <p:cBhvr>
                                        <p:cTn id="141" dur="400"/>
                                        <p:tgtEl>
                                          <p:spTgt spid="57"/>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fade">
                                      <p:cBhvr>
                                        <p:cTn id="144" dur="400"/>
                                        <p:tgtEl>
                                          <p:spTgt spid="58"/>
                                        </p:tgtEl>
                                      </p:cBhvr>
                                    </p:animEffect>
                                  </p:childTnLst>
                                </p:cTn>
                              </p:par>
                              <p:par>
                                <p:cTn id="145" presetID="10" presetClass="entr" presetSubtype="0" fill="hold" nodeType="withEffect">
                                  <p:stCondLst>
                                    <p:cond delay="0"/>
                                  </p:stCondLst>
                                  <p:childTnLst>
                                    <p:set>
                                      <p:cBhvr>
                                        <p:cTn id="146" dur="1" fill="hold">
                                          <p:stCondLst>
                                            <p:cond delay="0"/>
                                          </p:stCondLst>
                                        </p:cTn>
                                        <p:tgtEl>
                                          <p:spTgt spid="59"/>
                                        </p:tgtEl>
                                        <p:attrNameLst>
                                          <p:attrName>style.visibility</p:attrName>
                                        </p:attrNameLst>
                                      </p:cBhvr>
                                      <p:to>
                                        <p:strVal val="visible"/>
                                      </p:to>
                                    </p:set>
                                    <p:animEffect transition="in" filter="fade">
                                      <p:cBhvr>
                                        <p:cTn id="147" dur="400"/>
                                        <p:tgtEl>
                                          <p:spTgt spid="59"/>
                                        </p:tgtEl>
                                      </p:cBhvr>
                                    </p:animEffect>
                                  </p:childTnLst>
                                </p:cTn>
                              </p:par>
                              <p:par>
                                <p:cTn id="148" presetID="10" presetClass="entr" presetSubtype="0" fill="hold" nodeType="withEffect">
                                  <p:stCondLst>
                                    <p:cond delay="0"/>
                                  </p:stCondLst>
                                  <p:childTnLst>
                                    <p:set>
                                      <p:cBhvr>
                                        <p:cTn id="149" dur="1" fill="hold">
                                          <p:stCondLst>
                                            <p:cond delay="0"/>
                                          </p:stCondLst>
                                        </p:cTn>
                                        <p:tgtEl>
                                          <p:spTgt spid="60"/>
                                        </p:tgtEl>
                                        <p:attrNameLst>
                                          <p:attrName>style.visibility</p:attrName>
                                        </p:attrNameLst>
                                      </p:cBhvr>
                                      <p:to>
                                        <p:strVal val="visible"/>
                                      </p:to>
                                    </p:set>
                                    <p:animEffect transition="in" filter="fade">
                                      <p:cBhvr>
                                        <p:cTn id="150" dur="400"/>
                                        <p:tgtEl>
                                          <p:spTgt spid="60"/>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1"/>
                                        </p:tgtEl>
                                        <p:attrNameLst>
                                          <p:attrName>style.visibility</p:attrName>
                                        </p:attrNameLst>
                                      </p:cBhvr>
                                      <p:to>
                                        <p:strVal val="visible"/>
                                      </p:to>
                                    </p:set>
                                    <p:animEffect transition="in" filter="fade">
                                      <p:cBhvr>
                                        <p:cTn id="153" dur="400"/>
                                        <p:tgtEl>
                                          <p:spTgt spid="61"/>
                                        </p:tgtEl>
                                      </p:cBhvr>
                                    </p:animEffect>
                                  </p:childTnLst>
                                </p:cTn>
                              </p:par>
                              <p:par>
                                <p:cTn id="154" presetID="10" presetClass="entr" presetSubtype="0" fill="hold" nodeType="withEffect">
                                  <p:stCondLst>
                                    <p:cond delay="0"/>
                                  </p:stCondLst>
                                  <p:childTnLst>
                                    <p:set>
                                      <p:cBhvr>
                                        <p:cTn id="155" dur="1" fill="hold">
                                          <p:stCondLst>
                                            <p:cond delay="0"/>
                                          </p:stCondLst>
                                        </p:cTn>
                                        <p:tgtEl>
                                          <p:spTgt spid="62"/>
                                        </p:tgtEl>
                                        <p:attrNameLst>
                                          <p:attrName>style.visibility</p:attrName>
                                        </p:attrNameLst>
                                      </p:cBhvr>
                                      <p:to>
                                        <p:strVal val="visible"/>
                                      </p:to>
                                    </p:set>
                                    <p:animEffect transition="in" filter="fade">
                                      <p:cBhvr>
                                        <p:cTn id="156" dur="400"/>
                                        <p:tgtEl>
                                          <p:spTgt spid="62"/>
                                        </p:tgtEl>
                                      </p:cBhvr>
                                    </p:animEffect>
                                  </p:childTnLst>
                                </p:cTn>
                              </p:par>
                            </p:childTnLst>
                          </p:cTn>
                        </p:par>
                      </p:childTnLst>
                    </p:cTn>
                  </p:par>
                  <p:par>
                    <p:cTn id="189" fill="hold">
                      <p:stCondLst>
                        <p:cond delay="indefinite"/>
                      </p:stCondLst>
                      <p:childTnLst>
                        <p:par>
                          <p:cTn id="190"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63"/>
                                        </p:tgtEl>
                                        <p:attrNameLst>
                                          <p:attrName>style.visibility</p:attrName>
                                        </p:attrNameLst>
                                      </p:cBhvr>
                                      <p:to>
                                        <p:strVal val="visible"/>
                                      </p:to>
                                    </p:set>
                                    <p:animEffect transition="in" filter="fade">
                                      <p:cBhvr>
                                        <p:cTn id="161" dur="400"/>
                                        <p:tgtEl>
                                          <p:spTgt spid="63"/>
                                        </p:tgtEl>
                                      </p:cBhvr>
                                    </p:animEffect>
                                  </p:childTnLst>
                                </p:cTn>
                              </p:par>
                              <p:par>
                                <p:cTn id="162" presetID="10" presetClass="entr" presetSubtype="0" fill="hold" nodeType="withEffect">
                                  <p:stCondLst>
                                    <p:cond delay="0"/>
                                  </p:stCondLst>
                                  <p:childTnLst>
                                    <p:set>
                                      <p:cBhvr>
                                        <p:cTn id="163" dur="1" fill="hold">
                                          <p:stCondLst>
                                            <p:cond delay="0"/>
                                          </p:stCondLst>
                                        </p:cTn>
                                        <p:tgtEl>
                                          <p:spTgt spid="64"/>
                                        </p:tgtEl>
                                        <p:attrNameLst>
                                          <p:attrName>style.visibility</p:attrName>
                                        </p:attrNameLst>
                                      </p:cBhvr>
                                      <p:to>
                                        <p:strVal val="visible"/>
                                      </p:to>
                                    </p:set>
                                    <p:animEffect transition="in" filter="fade">
                                      <p:cBhvr>
                                        <p:cTn id="164" dur="400"/>
                                        <p:tgtEl>
                                          <p:spTgt spid="64"/>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5"/>
                                        </p:tgtEl>
                                        <p:attrNameLst>
                                          <p:attrName>style.visibility</p:attrName>
                                        </p:attrNameLst>
                                      </p:cBhvr>
                                      <p:to>
                                        <p:strVal val="visible"/>
                                      </p:to>
                                    </p:set>
                                    <p:animEffect transition="in" filter="fade">
                                      <p:cBhvr>
                                        <p:cTn id="167" dur="400"/>
                                        <p:tgtEl>
                                          <p:spTgt spid="65"/>
                                        </p:tgtEl>
                                      </p:cBhvr>
                                    </p:animEffect>
                                  </p:childTnLst>
                                </p:cTn>
                              </p:par>
                              <p:par>
                                <p:cTn id="168" presetID="10" presetClass="entr" presetSubtype="0" fill="hold" nodeType="withEffect">
                                  <p:stCondLst>
                                    <p:cond delay="0"/>
                                  </p:stCondLst>
                                  <p:childTnLst>
                                    <p:set>
                                      <p:cBhvr>
                                        <p:cTn id="169" dur="1" fill="hold">
                                          <p:stCondLst>
                                            <p:cond delay="0"/>
                                          </p:stCondLst>
                                        </p:cTn>
                                        <p:tgtEl>
                                          <p:spTgt spid="66"/>
                                        </p:tgtEl>
                                        <p:attrNameLst>
                                          <p:attrName>style.visibility</p:attrName>
                                        </p:attrNameLst>
                                      </p:cBhvr>
                                      <p:to>
                                        <p:strVal val="visible"/>
                                      </p:to>
                                    </p:set>
                                    <p:animEffect transition="in" filter="fade">
                                      <p:cBhvr>
                                        <p:cTn id="170" dur="400"/>
                                        <p:tgtEl>
                                          <p:spTgt spid="66"/>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7"/>
                                        </p:tgtEl>
                                        <p:attrNameLst>
                                          <p:attrName>style.visibility</p:attrName>
                                        </p:attrNameLst>
                                      </p:cBhvr>
                                      <p:to>
                                        <p:strVal val="visible"/>
                                      </p:to>
                                    </p:set>
                                    <p:animEffect transition="in" filter="fade">
                                      <p:cBhvr>
                                        <p:cTn id="173" dur="400"/>
                                        <p:tgtEl>
                                          <p:spTgt spid="67"/>
                                        </p:tgtEl>
                                      </p:cBhvr>
                                    </p:animEffect>
                                  </p:childTnLst>
                                </p:cTn>
                              </p:par>
                              <p:par>
                                <p:cTn id="174" presetID="10" presetClass="entr" presetSubtype="0" fill="hold" nodeType="with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fade">
                                      <p:cBhvr>
                                        <p:cTn id="176" dur="400"/>
                                        <p:tgtEl>
                                          <p:spTgt spid="68"/>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9"/>
                                        </p:tgtEl>
                                        <p:attrNameLst>
                                          <p:attrName>style.visibility</p:attrName>
                                        </p:attrNameLst>
                                      </p:cBhvr>
                                      <p:to>
                                        <p:strVal val="visible"/>
                                      </p:to>
                                    </p:set>
                                    <p:animEffect transition="in" filter="fade">
                                      <p:cBhvr>
                                        <p:cTn id="179" dur="400"/>
                                        <p:tgtEl>
                                          <p:spTgt spid="69"/>
                                        </p:tgtEl>
                                      </p:cBhvr>
                                    </p:animEffect>
                                  </p:childTnLst>
                                </p:cTn>
                              </p:par>
                              <p:par>
                                <p:cTn id="180" presetID="10" presetClass="entr" presetSubtype="0" fill="hold" nodeType="withEffect">
                                  <p:stCondLst>
                                    <p:cond delay="0"/>
                                  </p:stCondLst>
                                  <p:childTnLst>
                                    <p:set>
                                      <p:cBhvr>
                                        <p:cTn id="181" dur="1" fill="hold">
                                          <p:stCondLst>
                                            <p:cond delay="0"/>
                                          </p:stCondLst>
                                        </p:cTn>
                                        <p:tgtEl>
                                          <p:spTgt spid="70"/>
                                        </p:tgtEl>
                                        <p:attrNameLst>
                                          <p:attrName>style.visibility</p:attrName>
                                        </p:attrNameLst>
                                      </p:cBhvr>
                                      <p:to>
                                        <p:strVal val="visible"/>
                                      </p:to>
                                    </p:set>
                                    <p:animEffect transition="in" filter="fade">
                                      <p:cBhvr>
                                        <p:cTn id="182" dur="400"/>
                                        <p:tgtEl>
                                          <p:spTgt spid="70"/>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71"/>
                                        </p:tgtEl>
                                        <p:attrNameLst>
                                          <p:attrName>style.visibility</p:attrName>
                                        </p:attrNameLst>
                                      </p:cBhvr>
                                      <p:to>
                                        <p:strVal val="visible"/>
                                      </p:to>
                                    </p:set>
                                    <p:animEffect transition="in" filter="fade">
                                      <p:cBhvr>
                                        <p:cTn id="185" dur="400"/>
                                        <p:tgtEl>
                                          <p:spTgt spid="71"/>
                                        </p:tgtEl>
                                      </p:cBhvr>
                                    </p:animEffect>
                                  </p:childTnLst>
                                </p:cTn>
                              </p:par>
                              <p:par>
                                <p:cTn id="186" presetID="10" presetClass="entr" presetSubtype="0" fill="hold" nodeType="withEffect">
                                  <p:stCondLst>
                                    <p:cond delay="0"/>
                                  </p:stCondLst>
                                  <p:childTnLst>
                                    <p:set>
                                      <p:cBhvr>
                                        <p:cTn id="187" dur="1" fill="hold">
                                          <p:stCondLst>
                                            <p:cond delay="0"/>
                                          </p:stCondLst>
                                        </p:cTn>
                                        <p:tgtEl>
                                          <p:spTgt spid="72"/>
                                        </p:tgtEl>
                                        <p:attrNameLst>
                                          <p:attrName>style.visibility</p:attrName>
                                        </p:attrNameLst>
                                      </p:cBhvr>
                                      <p:to>
                                        <p:strVal val="visible"/>
                                      </p:to>
                                    </p:set>
                                    <p:animEffect transition="in" filter="fade">
                                      <p:cBhvr>
                                        <p:cTn id="188"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9" grpId="0" animBg="1"/>
      <p:bldP spid="21" grpId="0" animBg="1"/>
      <p:bldP spid="23" grpId="0" animBg="1"/>
      <p:bldP spid="26" grpId="0" animBg="1"/>
      <p:bldP spid="28" grpId="0" animBg="1"/>
      <p:bldP spid="30" grpId="0" animBg="1"/>
      <p:bldP spid="32" grpId="0" animBg="1"/>
      <p:bldP spid="34" grpId="0" animBg="1"/>
      <p:bldP spid="36" grpId="0" animBg="1"/>
      <p:bldP spid="38" grpId="0" animBg="1"/>
      <p:bldP spid="40" grpId="0" animBg="1"/>
      <p:bldP spid="41" grpId="0" animBg="1"/>
      <p:bldP spid="42" grpId="0" animBg="1"/>
      <p:bldP spid="44" grpId="0" animBg="1"/>
      <p:bldP spid="46"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shallow copy shares the inner lists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copy.deepcopy copies them too, and shares nothing</a:t>
            </a:r>
            <a:endParaRPr lang="en-US" sz="1400" dirty="0"/>
          </a:p>
        </p:txBody>
      </p:sp>
      <p:sp>
        <p:nvSpPr>
          <p:cNvPr id="6" name="v:Copying:sc1t"/>
          <p:cNvSpPr txBox="1"/>
          <p:nvPr/>
        </p:nvSpPr>
        <p:spPr>
          <a:xfrm>
            <a:off x="365760" y="1143000"/>
            <a:ext cx="512064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nested list</a:t>
            </a:r>
            <a:endParaRPr lang="en-US" sz="1200" dirty="0"/>
          </a:p>
        </p:txBody>
      </p:sp>
      <p:sp>
        <p:nvSpPr>
          <p:cNvPr id="7" name="v:Copying:g1.3.c|b1"/>
          <p:cNvSpPr txBox="1"/>
          <p:nvPr/>
        </p:nvSpPr>
        <p:spPr>
          <a:xfrm>
            <a:off x="365760" y="1389888"/>
            <a:ext cx="512064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nested[0].append('changed')</a:t>
            </a:r>
            <a:endParaRPr lang="en-US" sz="1100" dirty="0"/>
          </a:p>
        </p:txBody>
      </p:sp>
      <p:sp>
        <p:nvSpPr>
          <p:cNvPr id="8" name="v:Copying:g1.3.o1i0:box|b1"/>
          <p:cNvSpPr/>
          <p:nvPr/>
        </p:nvSpPr>
        <p:spPr>
          <a:xfrm>
            <a:off x="1508760" y="1755648"/>
            <a:ext cx="384048"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655064" y="1865376"/>
            <a:ext cx="91440" cy="91440"/>
          </a:xfrm>
          <a:prstGeom prst="ellipse">
            <a:avLst/>
          </a:prstGeom>
          <a:solidFill>
            <a:srgbClr val="306998"/>
          </a:solidFill>
          <a:ln w="12700">
            <a:solidFill>
              <a:srgbClr val="306998"/>
            </a:solidFill>
            <a:prstDash val="solid"/>
          </a:ln>
        </p:spPr>
      </p:sp>
      <p:sp>
        <p:nvSpPr>
          <p:cNvPr id="10" name="v:Copying:g1.3.o1i1:box|b1"/>
          <p:cNvSpPr/>
          <p:nvPr/>
        </p:nvSpPr>
        <p:spPr>
          <a:xfrm>
            <a:off x="1929384" y="1755648"/>
            <a:ext cx="384048"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75688" y="1865376"/>
            <a:ext cx="91440" cy="91440"/>
          </a:xfrm>
          <a:prstGeom prst="ellipse">
            <a:avLst/>
          </a:prstGeom>
          <a:solidFill>
            <a:srgbClr val="306998"/>
          </a:solidFill>
          <a:ln w="12700">
            <a:solidFill>
              <a:srgbClr val="306998"/>
            </a:solidFill>
            <a:prstDash val="solid"/>
          </a:ln>
        </p:spPr>
      </p:sp>
      <p:sp>
        <p:nvSpPr>
          <p:cNvPr id="12" name="v:Copying:g1.3.o4i0:box|b1"/>
          <p:cNvSpPr/>
          <p:nvPr/>
        </p:nvSpPr>
        <p:spPr>
          <a:xfrm>
            <a:off x="1508760" y="2267712"/>
            <a:ext cx="384048"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1655064" y="2377440"/>
            <a:ext cx="91440" cy="91440"/>
          </a:xfrm>
          <a:prstGeom prst="ellipse">
            <a:avLst/>
          </a:prstGeom>
          <a:solidFill>
            <a:srgbClr val="306998"/>
          </a:solidFill>
          <a:ln w="12700">
            <a:solidFill>
              <a:srgbClr val="306998"/>
            </a:solidFill>
            <a:prstDash val="solid"/>
          </a:ln>
        </p:spPr>
      </p:sp>
      <p:sp>
        <p:nvSpPr>
          <p:cNvPr id="14" name="v:Copying:g1.3.o4i1:box|b1"/>
          <p:cNvSpPr/>
          <p:nvPr/>
        </p:nvSpPr>
        <p:spPr>
          <a:xfrm>
            <a:off x="1929384" y="2267712"/>
            <a:ext cx="384048" cy="310896"/>
          </a:xfrm>
          <a:prstGeom prst="roundRect">
            <a:avLst>
              <a:gd name="adj" fmla="val 11765"/>
            </a:avLst>
          </a:prstGeom>
          <a:solidFill>
            <a:srgbClr val="FFFFFF"/>
          </a:solidFill>
          <a:ln w="19050">
            <a:solidFill>
              <a:srgbClr val="306998"/>
            </a:solidFill>
            <a:prstDash val="solid"/>
          </a:ln>
        </p:spPr>
      </p:sp>
      <p:sp>
        <p:nvSpPr>
          <p:cNvPr id="15" name="dot|b1"/>
          <p:cNvSpPr/>
          <p:nvPr/>
        </p:nvSpPr>
        <p:spPr>
          <a:xfrm>
            <a:off x="2075688" y="2377440"/>
            <a:ext cx="91440" cy="91440"/>
          </a:xfrm>
          <a:prstGeom prst="ellipse">
            <a:avLst/>
          </a:prstGeom>
          <a:solidFill>
            <a:srgbClr val="306998"/>
          </a:solidFill>
          <a:ln w="12700">
            <a:solidFill>
              <a:srgbClr val="306998"/>
            </a:solidFill>
            <a:prstDash val="solid"/>
          </a:ln>
        </p:spPr>
      </p:sp>
      <p:sp>
        <p:nvSpPr>
          <p:cNvPr id="16" name="v:Copying:g1.3.o5i0:box|b1"/>
          <p:cNvSpPr/>
          <p:nvPr/>
        </p:nvSpPr>
        <p:spPr>
          <a:xfrm>
            <a:off x="1508760" y="2779776"/>
            <a:ext cx="384048" cy="310896"/>
          </a:xfrm>
          <a:prstGeom prst="roundRect">
            <a:avLst>
              <a:gd name="adj" fmla="val 11765"/>
            </a:avLst>
          </a:prstGeom>
          <a:solidFill>
            <a:srgbClr val="FFFFFF"/>
          </a:solidFill>
          <a:ln w="19050">
            <a:solidFill>
              <a:srgbClr val="306998"/>
            </a:solidFill>
            <a:prstDash val="solid"/>
          </a:ln>
        </p:spPr>
      </p:sp>
      <p:sp>
        <p:nvSpPr>
          <p:cNvPr id="17" name="dot|b1"/>
          <p:cNvSpPr/>
          <p:nvPr/>
        </p:nvSpPr>
        <p:spPr>
          <a:xfrm>
            <a:off x="1655064" y="2889504"/>
            <a:ext cx="91440" cy="91440"/>
          </a:xfrm>
          <a:prstGeom prst="ellipse">
            <a:avLst/>
          </a:prstGeom>
          <a:solidFill>
            <a:srgbClr val="306998"/>
          </a:solidFill>
          <a:ln w="12700">
            <a:solidFill>
              <a:srgbClr val="306998"/>
            </a:solidFill>
            <a:prstDash val="solid"/>
          </a:ln>
        </p:spPr>
      </p:sp>
      <p:sp>
        <p:nvSpPr>
          <p:cNvPr id="18" name="v:Copying:g1.3.o5i1:box|b1"/>
          <p:cNvSpPr/>
          <p:nvPr/>
        </p:nvSpPr>
        <p:spPr>
          <a:xfrm>
            <a:off x="1929384" y="2779776"/>
            <a:ext cx="384048" cy="310896"/>
          </a:xfrm>
          <a:prstGeom prst="roundRect">
            <a:avLst>
              <a:gd name="adj" fmla="val 11765"/>
            </a:avLst>
          </a:prstGeom>
          <a:solidFill>
            <a:srgbClr val="FFFFFF"/>
          </a:solidFill>
          <a:ln w="19050">
            <a:solidFill>
              <a:srgbClr val="306998"/>
            </a:solidFill>
            <a:prstDash val="solid"/>
          </a:ln>
        </p:spPr>
      </p:sp>
      <p:sp>
        <p:nvSpPr>
          <p:cNvPr id="19" name="dot|b1"/>
          <p:cNvSpPr/>
          <p:nvPr/>
        </p:nvSpPr>
        <p:spPr>
          <a:xfrm>
            <a:off x="2075688" y="2889504"/>
            <a:ext cx="91440" cy="91440"/>
          </a:xfrm>
          <a:prstGeom prst="ellipse">
            <a:avLst/>
          </a:prstGeom>
          <a:solidFill>
            <a:srgbClr val="306998"/>
          </a:solidFill>
          <a:ln w="12700">
            <a:solidFill>
              <a:srgbClr val="306998"/>
            </a:solidFill>
            <a:prstDash val="solid"/>
          </a:ln>
        </p:spPr>
      </p:sp>
      <p:sp>
        <p:nvSpPr>
          <p:cNvPr id="20" name="v:Copying:g1.3.o2i0:box|b1"/>
          <p:cNvSpPr/>
          <p:nvPr/>
        </p:nvSpPr>
        <p:spPr>
          <a:xfrm>
            <a:off x="3566160" y="1700784"/>
            <a:ext cx="384048" cy="310896"/>
          </a:xfrm>
          <a:prstGeom prst="roundRect">
            <a:avLst>
              <a:gd name="adj" fmla="val 11765"/>
            </a:avLst>
          </a:prstGeom>
          <a:solidFill>
            <a:srgbClr val="F1F4F8"/>
          </a:solidFill>
          <a:ln w="19050">
            <a:solidFill>
              <a:srgbClr val="306998"/>
            </a:solidFill>
            <a:prstDash val="solid"/>
          </a:ln>
        </p:spPr>
      </p:sp>
      <p:sp>
        <p:nvSpPr>
          <p:cNvPr id="21" name="v:Copying:g1.3.o2i0|b1"/>
          <p:cNvSpPr txBox="1"/>
          <p:nvPr/>
        </p:nvSpPr>
        <p:spPr>
          <a:xfrm>
            <a:off x="3575304"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2" name="v:Copying:g1.3.o2i1:box|b1"/>
          <p:cNvSpPr/>
          <p:nvPr/>
        </p:nvSpPr>
        <p:spPr>
          <a:xfrm>
            <a:off x="3986784" y="1700784"/>
            <a:ext cx="384048" cy="310896"/>
          </a:xfrm>
          <a:prstGeom prst="roundRect">
            <a:avLst>
              <a:gd name="adj" fmla="val 11765"/>
            </a:avLst>
          </a:prstGeom>
          <a:solidFill>
            <a:srgbClr val="F1F4F8"/>
          </a:solidFill>
          <a:ln w="19050">
            <a:solidFill>
              <a:srgbClr val="306998"/>
            </a:solidFill>
            <a:prstDash val="solid"/>
          </a:ln>
        </p:spPr>
      </p:sp>
      <p:sp>
        <p:nvSpPr>
          <p:cNvPr id="23" name="v:Copying:g1.3.o2i1|b1"/>
          <p:cNvSpPr txBox="1"/>
          <p:nvPr/>
        </p:nvSpPr>
        <p:spPr>
          <a:xfrm>
            <a:off x="3995928"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4" name="v:Copying:g1.3.o2i2:box|b1"/>
          <p:cNvSpPr/>
          <p:nvPr/>
        </p:nvSpPr>
        <p:spPr>
          <a:xfrm>
            <a:off x="4407408" y="1700784"/>
            <a:ext cx="708660" cy="310896"/>
          </a:xfrm>
          <a:prstGeom prst="roundRect">
            <a:avLst>
              <a:gd name="adj" fmla="val 11765"/>
            </a:avLst>
          </a:prstGeom>
          <a:solidFill>
            <a:srgbClr val="F1F4F8"/>
          </a:solidFill>
          <a:ln w="19050">
            <a:solidFill>
              <a:srgbClr val="306998"/>
            </a:solidFill>
            <a:prstDash val="solid"/>
          </a:ln>
        </p:spPr>
      </p:sp>
      <p:sp>
        <p:nvSpPr>
          <p:cNvPr id="25" name="v:Copying:g1.3.o2i2|b1"/>
          <p:cNvSpPr txBox="1"/>
          <p:nvPr/>
        </p:nvSpPr>
        <p:spPr>
          <a:xfrm>
            <a:off x="4416552" y="1700784"/>
            <a:ext cx="690372" cy="310896"/>
          </a:xfrm>
          <a:prstGeom prst="rect">
            <a:avLst/>
          </a:prstGeom>
          <a:noFill/>
          <a:ln/>
        </p:spPr>
        <p:txBody>
          <a:bodyPr wrap="square" lIns="0" tIns="0" rIns="0" bIns="0" rtlCol="0" anchor="ctr">
            <a:normAutofit/>
          </a:bodyPr>
          <a:lstStyle/>
          <a:p>
            <a:pPr algn="ctr" indent="0" marL="0">
              <a:buNone/>
            </a:pPr>
            <a:r>
              <a:rPr lang="en-US" sz="914" b="1" dirty="0">
                <a:solidFill>
                  <a:srgbClr val="1E2A3A"/>
                </a:solidFill>
                <a:latin typeface="Courier New" pitchFamily="34" charset="0"/>
                <a:ea typeface="Courier New" pitchFamily="34" charset="-122"/>
                <a:cs typeface="Courier New" pitchFamily="34" charset="-120"/>
              </a:rPr>
              <a:t>'changed'</a:t>
            </a:r>
            <a:endParaRPr lang="en-US" sz="914" dirty="0"/>
          </a:p>
        </p:txBody>
      </p:sp>
      <p:sp>
        <p:nvSpPr>
          <p:cNvPr id="26" name="v:Copying:g1.3.o3i0:box|b1"/>
          <p:cNvSpPr/>
          <p:nvPr/>
        </p:nvSpPr>
        <p:spPr>
          <a:xfrm>
            <a:off x="3566160" y="2139696"/>
            <a:ext cx="384048" cy="310896"/>
          </a:xfrm>
          <a:prstGeom prst="roundRect">
            <a:avLst>
              <a:gd name="adj" fmla="val 11765"/>
            </a:avLst>
          </a:prstGeom>
          <a:solidFill>
            <a:srgbClr val="F1F4F8"/>
          </a:solidFill>
          <a:ln w="19050">
            <a:solidFill>
              <a:srgbClr val="306998"/>
            </a:solidFill>
            <a:prstDash val="solid"/>
          </a:ln>
        </p:spPr>
      </p:sp>
      <p:sp>
        <p:nvSpPr>
          <p:cNvPr id="27" name="v:Copying:g1.3.o3i0|b1"/>
          <p:cNvSpPr txBox="1"/>
          <p:nvPr/>
        </p:nvSpPr>
        <p:spPr>
          <a:xfrm>
            <a:off x="3575304" y="2139696"/>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Copying:g1.3.o6i0:box|b1"/>
          <p:cNvSpPr/>
          <p:nvPr/>
        </p:nvSpPr>
        <p:spPr>
          <a:xfrm>
            <a:off x="3566160" y="2578608"/>
            <a:ext cx="384048" cy="310896"/>
          </a:xfrm>
          <a:prstGeom prst="roundRect">
            <a:avLst>
              <a:gd name="adj" fmla="val 11765"/>
            </a:avLst>
          </a:prstGeom>
          <a:solidFill>
            <a:srgbClr val="F1F4F8"/>
          </a:solidFill>
          <a:ln w="19050">
            <a:solidFill>
              <a:srgbClr val="306998"/>
            </a:solidFill>
            <a:prstDash val="solid"/>
          </a:ln>
        </p:spPr>
      </p:sp>
      <p:sp>
        <p:nvSpPr>
          <p:cNvPr id="29" name="v:Copying:g1.3.o6i0|b1"/>
          <p:cNvSpPr txBox="1"/>
          <p:nvPr/>
        </p:nvSpPr>
        <p:spPr>
          <a:xfrm>
            <a:off x="3575304"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30" name="v:Copying:g1.3.o6i1:box|b1"/>
          <p:cNvSpPr/>
          <p:nvPr/>
        </p:nvSpPr>
        <p:spPr>
          <a:xfrm>
            <a:off x="3986784" y="2578608"/>
            <a:ext cx="384048" cy="310896"/>
          </a:xfrm>
          <a:prstGeom prst="roundRect">
            <a:avLst>
              <a:gd name="adj" fmla="val 11765"/>
            </a:avLst>
          </a:prstGeom>
          <a:solidFill>
            <a:srgbClr val="F1F4F8"/>
          </a:solidFill>
          <a:ln w="19050">
            <a:solidFill>
              <a:srgbClr val="306998"/>
            </a:solidFill>
            <a:prstDash val="solid"/>
          </a:ln>
        </p:spPr>
      </p:sp>
      <p:sp>
        <p:nvSpPr>
          <p:cNvPr id="31" name="v:Copying:g1.3.o6i1|b1"/>
          <p:cNvSpPr txBox="1"/>
          <p:nvPr/>
        </p:nvSpPr>
        <p:spPr>
          <a:xfrm>
            <a:off x="3995928"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32" name="v:Copying:g1.3.o7i0:box|b1"/>
          <p:cNvSpPr/>
          <p:nvPr/>
        </p:nvSpPr>
        <p:spPr>
          <a:xfrm>
            <a:off x="3566160" y="3017520"/>
            <a:ext cx="384048" cy="310896"/>
          </a:xfrm>
          <a:prstGeom prst="roundRect">
            <a:avLst>
              <a:gd name="adj" fmla="val 11765"/>
            </a:avLst>
          </a:prstGeom>
          <a:solidFill>
            <a:srgbClr val="F1F4F8"/>
          </a:solidFill>
          <a:ln w="19050">
            <a:solidFill>
              <a:srgbClr val="306998"/>
            </a:solidFill>
            <a:prstDash val="solid"/>
          </a:ln>
        </p:spPr>
      </p:sp>
      <p:sp>
        <p:nvSpPr>
          <p:cNvPr id="33" name="v:Copying:g1.3.o7i0|b1"/>
          <p:cNvSpPr txBox="1"/>
          <p:nvPr/>
        </p:nvSpPr>
        <p:spPr>
          <a:xfrm>
            <a:off x="3575304" y="3017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4" name="refarrow|b1"/>
          <p:cNvSpPr/>
          <p:nvPr/>
        </p:nvSpPr>
        <p:spPr>
          <a:xfrm flipV="1">
            <a:off x="1700784" y="1856232"/>
            <a:ext cx="1865376" cy="54864"/>
          </a:xfrm>
          <a:prstGeom prst="line">
            <a:avLst/>
          </a:prstGeom>
          <a:noFill/>
          <a:ln w="19050">
            <a:solidFill>
              <a:srgbClr val="306998"/>
            </a:solidFill>
            <a:prstDash val="solid"/>
            <a:tailEnd type="triangle"/>
          </a:ln>
        </p:spPr>
      </p:sp>
      <p:sp>
        <p:nvSpPr>
          <p:cNvPr id="35" name="refarrow|b1"/>
          <p:cNvSpPr/>
          <p:nvPr/>
        </p:nvSpPr>
        <p:spPr>
          <a:xfrm>
            <a:off x="2121408" y="1911096"/>
            <a:ext cx="1444752" cy="384048"/>
          </a:xfrm>
          <a:prstGeom prst="line">
            <a:avLst/>
          </a:prstGeom>
          <a:noFill/>
          <a:ln w="19050">
            <a:solidFill>
              <a:srgbClr val="306998"/>
            </a:solidFill>
            <a:prstDash val="solid"/>
            <a:tailEnd type="triangle"/>
          </a:ln>
        </p:spPr>
      </p:sp>
      <p:sp>
        <p:nvSpPr>
          <p:cNvPr id="36" name="refarrow|b1"/>
          <p:cNvSpPr/>
          <p:nvPr/>
        </p:nvSpPr>
        <p:spPr>
          <a:xfrm flipV="1">
            <a:off x="1700784" y="1856232"/>
            <a:ext cx="1865376" cy="566928"/>
          </a:xfrm>
          <a:prstGeom prst="line">
            <a:avLst/>
          </a:prstGeom>
          <a:noFill/>
          <a:ln w="19050">
            <a:solidFill>
              <a:srgbClr val="306998"/>
            </a:solidFill>
            <a:prstDash val="solid"/>
            <a:tailEnd type="triangle"/>
          </a:ln>
        </p:spPr>
      </p:sp>
      <p:sp>
        <p:nvSpPr>
          <p:cNvPr id="37" name="refarrow|b1"/>
          <p:cNvSpPr/>
          <p:nvPr/>
        </p:nvSpPr>
        <p:spPr>
          <a:xfrm flipV="1">
            <a:off x="2121408" y="2295144"/>
            <a:ext cx="1444752" cy="128016"/>
          </a:xfrm>
          <a:prstGeom prst="line">
            <a:avLst/>
          </a:prstGeom>
          <a:noFill/>
          <a:ln w="19050">
            <a:solidFill>
              <a:srgbClr val="306998"/>
            </a:solidFill>
            <a:prstDash val="solid"/>
            <a:tailEnd type="triangle"/>
          </a:ln>
        </p:spPr>
      </p:sp>
      <p:sp>
        <p:nvSpPr>
          <p:cNvPr id="38" name="refarrow|b1"/>
          <p:cNvSpPr/>
          <p:nvPr/>
        </p:nvSpPr>
        <p:spPr>
          <a:xfrm flipV="1">
            <a:off x="1700784" y="2734056"/>
            <a:ext cx="1865376" cy="201168"/>
          </a:xfrm>
          <a:prstGeom prst="line">
            <a:avLst/>
          </a:prstGeom>
          <a:noFill/>
          <a:ln w="19050">
            <a:solidFill>
              <a:srgbClr val="306998"/>
            </a:solidFill>
            <a:prstDash val="solid"/>
            <a:tailEnd type="triangle"/>
          </a:ln>
        </p:spPr>
      </p:sp>
      <p:sp>
        <p:nvSpPr>
          <p:cNvPr id="39" name="refarrow|b1"/>
          <p:cNvSpPr/>
          <p:nvPr/>
        </p:nvSpPr>
        <p:spPr>
          <a:xfrm>
            <a:off x="2121408" y="2935224"/>
            <a:ext cx="1444752" cy="237744"/>
          </a:xfrm>
          <a:prstGeom prst="line">
            <a:avLst/>
          </a:prstGeom>
          <a:noFill/>
          <a:ln w="19050">
            <a:solidFill>
              <a:srgbClr val="306998"/>
            </a:solidFill>
            <a:prstDash val="solid"/>
            <a:tailEnd type="triangle"/>
          </a:ln>
        </p:spPr>
      </p:sp>
      <p:sp>
        <p:nvSpPr>
          <p:cNvPr id="40" name="v:Copying:g1.3.n.nested:box|b1"/>
          <p:cNvSpPr/>
          <p:nvPr/>
        </p:nvSpPr>
        <p:spPr>
          <a:xfrm>
            <a:off x="365760" y="1792224"/>
            <a:ext cx="914400" cy="237744"/>
          </a:xfrm>
          <a:prstGeom prst="roundRect">
            <a:avLst>
              <a:gd name="adj" fmla="val 30769"/>
            </a:avLst>
          </a:prstGeom>
          <a:solidFill>
            <a:srgbClr val="FFFFFF"/>
          </a:solidFill>
          <a:ln w="19050">
            <a:solidFill>
              <a:srgbClr val="306998"/>
            </a:solidFill>
            <a:prstDash val="solid"/>
          </a:ln>
        </p:spPr>
      </p:sp>
      <p:sp>
        <p:nvSpPr>
          <p:cNvPr id="41" name="v:Copying:g1.3.n.nested|b1"/>
          <p:cNvSpPr txBox="1"/>
          <p:nvPr/>
        </p:nvSpPr>
        <p:spPr>
          <a:xfrm>
            <a:off x="365760" y="1792224"/>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nested</a:t>
            </a:r>
            <a:endParaRPr lang="en-US" sz="1050" dirty="0"/>
          </a:p>
        </p:txBody>
      </p:sp>
      <p:sp>
        <p:nvSpPr>
          <p:cNvPr id="42" name="namearrow|b1"/>
          <p:cNvSpPr/>
          <p:nvPr/>
        </p:nvSpPr>
        <p:spPr>
          <a:xfrm>
            <a:off x="1280160" y="1911096"/>
            <a:ext cx="228600" cy="0"/>
          </a:xfrm>
          <a:prstGeom prst="line">
            <a:avLst/>
          </a:prstGeom>
          <a:noFill/>
          <a:ln w="25400">
            <a:solidFill>
              <a:srgbClr val="306998"/>
            </a:solidFill>
            <a:prstDash val="solid"/>
            <a:tailEnd type="triangle"/>
          </a:ln>
        </p:spPr>
      </p:sp>
      <p:sp>
        <p:nvSpPr>
          <p:cNvPr id="43" name="v:Copying:g1.3.n.shallow:box|b1"/>
          <p:cNvSpPr/>
          <p:nvPr/>
        </p:nvSpPr>
        <p:spPr>
          <a:xfrm>
            <a:off x="365760" y="2304288"/>
            <a:ext cx="914400" cy="237744"/>
          </a:xfrm>
          <a:prstGeom prst="roundRect">
            <a:avLst>
              <a:gd name="adj" fmla="val 30769"/>
            </a:avLst>
          </a:prstGeom>
          <a:solidFill>
            <a:srgbClr val="FFFFFF"/>
          </a:solidFill>
          <a:ln w="19050">
            <a:solidFill>
              <a:srgbClr val="306998"/>
            </a:solidFill>
            <a:prstDash val="solid"/>
          </a:ln>
        </p:spPr>
      </p:sp>
      <p:sp>
        <p:nvSpPr>
          <p:cNvPr id="44" name="v:Copying:g1.3.n.shallow|b1"/>
          <p:cNvSpPr txBox="1"/>
          <p:nvPr/>
        </p:nvSpPr>
        <p:spPr>
          <a:xfrm>
            <a:off x="365760" y="2304288"/>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shallow</a:t>
            </a:r>
            <a:endParaRPr lang="en-US" sz="1050" dirty="0"/>
          </a:p>
        </p:txBody>
      </p:sp>
      <p:sp>
        <p:nvSpPr>
          <p:cNvPr id="45" name="namearrow|b1"/>
          <p:cNvSpPr/>
          <p:nvPr/>
        </p:nvSpPr>
        <p:spPr>
          <a:xfrm>
            <a:off x="1280160" y="2423160"/>
            <a:ext cx="228600" cy="0"/>
          </a:xfrm>
          <a:prstGeom prst="line">
            <a:avLst/>
          </a:prstGeom>
          <a:noFill/>
          <a:ln w="25400">
            <a:solidFill>
              <a:srgbClr val="306998"/>
            </a:solidFill>
            <a:prstDash val="solid"/>
            <a:tailEnd type="triangle"/>
          </a:ln>
        </p:spPr>
      </p:sp>
      <p:sp>
        <p:nvSpPr>
          <p:cNvPr id="46" name="v:Copying:g1.3.n.deep:box|b1"/>
          <p:cNvSpPr/>
          <p:nvPr/>
        </p:nvSpPr>
        <p:spPr>
          <a:xfrm>
            <a:off x="365760" y="2816352"/>
            <a:ext cx="914400" cy="237744"/>
          </a:xfrm>
          <a:prstGeom prst="roundRect">
            <a:avLst>
              <a:gd name="adj" fmla="val 30769"/>
            </a:avLst>
          </a:prstGeom>
          <a:solidFill>
            <a:srgbClr val="FFFFFF"/>
          </a:solidFill>
          <a:ln w="19050">
            <a:solidFill>
              <a:srgbClr val="306998"/>
            </a:solidFill>
            <a:prstDash val="solid"/>
          </a:ln>
        </p:spPr>
      </p:sp>
      <p:sp>
        <p:nvSpPr>
          <p:cNvPr id="47" name="v:Copying:g1.3.n.deep|b1"/>
          <p:cNvSpPr txBox="1"/>
          <p:nvPr/>
        </p:nvSpPr>
        <p:spPr>
          <a:xfrm>
            <a:off x="365760" y="2816352"/>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deep</a:t>
            </a:r>
            <a:endParaRPr lang="en-US" sz="1050" dirty="0"/>
          </a:p>
        </p:txBody>
      </p:sp>
      <p:sp>
        <p:nvSpPr>
          <p:cNvPr id="48" name="namearrow|b1"/>
          <p:cNvSpPr/>
          <p:nvPr/>
        </p:nvSpPr>
        <p:spPr>
          <a:xfrm>
            <a:off x="1280160" y="2935224"/>
            <a:ext cx="228600" cy="0"/>
          </a:xfrm>
          <a:prstGeom prst="line">
            <a:avLst/>
          </a:prstGeom>
          <a:noFill/>
          <a:ln w="25400">
            <a:solidFill>
              <a:srgbClr val="306998"/>
            </a:solidFill>
            <a:prstDash val="solid"/>
            <a:tailEnd type="triangle"/>
          </a:ln>
        </p:spPr>
      </p:sp>
      <p:sp>
        <p:nvSpPr>
          <p:cNvPr id="49" name="v:Copying:sc0t"/>
          <p:cNvSpPr txBox="1"/>
          <p:nvPr/>
        </p:nvSpPr>
        <p:spPr>
          <a:xfrm>
            <a:off x="5760720" y="1143000"/>
            <a:ext cx="301752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a flat list: the copy is independent</a:t>
            </a:r>
            <a:endParaRPr lang="en-US" sz="1200" dirty="0"/>
          </a:p>
        </p:txBody>
      </p:sp>
      <p:sp>
        <p:nvSpPr>
          <p:cNvPr id="50" name="v:Copying:g0.2.c|b3"/>
          <p:cNvSpPr txBox="1"/>
          <p:nvPr/>
        </p:nvSpPr>
        <p:spPr>
          <a:xfrm>
            <a:off x="5760720" y="1417320"/>
            <a:ext cx="301752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cheese[1] = 42</a:t>
            </a:r>
            <a:endParaRPr lang="en-US" sz="1100" dirty="0"/>
          </a:p>
        </p:txBody>
      </p:sp>
      <p:sp>
        <p:nvSpPr>
          <p:cNvPr id="51" name="v:Copying:g0.2.o1i0:box|b3"/>
          <p:cNvSpPr/>
          <p:nvPr/>
        </p:nvSpPr>
        <p:spPr>
          <a:xfrm>
            <a:off x="6903720" y="1783080"/>
            <a:ext cx="384048" cy="310896"/>
          </a:xfrm>
          <a:prstGeom prst="roundRect">
            <a:avLst>
              <a:gd name="adj" fmla="val 11765"/>
            </a:avLst>
          </a:prstGeom>
          <a:solidFill>
            <a:srgbClr val="E3EEF8"/>
          </a:solidFill>
          <a:ln w="19050">
            <a:solidFill>
              <a:srgbClr val="306998"/>
            </a:solidFill>
            <a:prstDash val="solid"/>
          </a:ln>
        </p:spPr>
      </p:sp>
      <p:sp>
        <p:nvSpPr>
          <p:cNvPr id="52" name="v:Copying:g0.2.o1i0|b3"/>
          <p:cNvSpPr txBox="1"/>
          <p:nvPr/>
        </p:nvSpPr>
        <p:spPr>
          <a:xfrm>
            <a:off x="691286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3" name="v:Copying:g0.2.o1i1:box|b3"/>
          <p:cNvSpPr/>
          <p:nvPr/>
        </p:nvSpPr>
        <p:spPr>
          <a:xfrm>
            <a:off x="7324344" y="1783080"/>
            <a:ext cx="384048" cy="310896"/>
          </a:xfrm>
          <a:prstGeom prst="roundRect">
            <a:avLst>
              <a:gd name="adj" fmla="val 11765"/>
            </a:avLst>
          </a:prstGeom>
          <a:solidFill>
            <a:srgbClr val="E3EEF8"/>
          </a:solidFill>
          <a:ln w="19050">
            <a:solidFill>
              <a:srgbClr val="306998"/>
            </a:solidFill>
            <a:prstDash val="solid"/>
          </a:ln>
        </p:spPr>
      </p:sp>
      <p:sp>
        <p:nvSpPr>
          <p:cNvPr id="54" name="v:Copying:g0.2.o1i1|b3"/>
          <p:cNvSpPr txBox="1"/>
          <p:nvPr/>
        </p:nvSpPr>
        <p:spPr>
          <a:xfrm>
            <a:off x="733348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t>
            </a:r>
            <a:endParaRPr lang="en-US" sz="1050" dirty="0"/>
          </a:p>
        </p:txBody>
      </p:sp>
      <p:sp>
        <p:nvSpPr>
          <p:cNvPr id="55" name="v:Copying:g0.2.o1i2:box|b3"/>
          <p:cNvSpPr/>
          <p:nvPr/>
        </p:nvSpPr>
        <p:spPr>
          <a:xfrm>
            <a:off x="7744968" y="1783080"/>
            <a:ext cx="384048" cy="310896"/>
          </a:xfrm>
          <a:prstGeom prst="roundRect">
            <a:avLst>
              <a:gd name="adj" fmla="val 11765"/>
            </a:avLst>
          </a:prstGeom>
          <a:solidFill>
            <a:srgbClr val="E3EEF8"/>
          </a:solidFill>
          <a:ln w="19050">
            <a:solidFill>
              <a:srgbClr val="306998"/>
            </a:solidFill>
            <a:prstDash val="solid"/>
          </a:ln>
        </p:spPr>
      </p:sp>
      <p:sp>
        <p:nvSpPr>
          <p:cNvPr id="56" name="v:Copying:g0.2.o1i2|b3"/>
          <p:cNvSpPr txBox="1"/>
          <p:nvPr/>
        </p:nvSpPr>
        <p:spPr>
          <a:xfrm>
            <a:off x="775411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57" name="v:Copying:g0.2.o2i0:box|b3"/>
          <p:cNvSpPr/>
          <p:nvPr/>
        </p:nvSpPr>
        <p:spPr>
          <a:xfrm>
            <a:off x="6903720" y="2295144"/>
            <a:ext cx="384048" cy="310896"/>
          </a:xfrm>
          <a:prstGeom prst="roundRect">
            <a:avLst>
              <a:gd name="adj" fmla="val 11765"/>
            </a:avLst>
          </a:prstGeom>
          <a:solidFill>
            <a:srgbClr val="E3EEF8"/>
          </a:solidFill>
          <a:ln w="19050">
            <a:solidFill>
              <a:srgbClr val="306998"/>
            </a:solidFill>
            <a:prstDash val="solid"/>
          </a:ln>
        </p:spPr>
      </p:sp>
      <p:sp>
        <p:nvSpPr>
          <p:cNvPr id="58" name="v:Copying:g0.2.o2i0|b3"/>
          <p:cNvSpPr txBox="1"/>
          <p:nvPr/>
        </p:nvSpPr>
        <p:spPr>
          <a:xfrm>
            <a:off x="6912864"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9" name="v:Copying:g0.2.o2i1:box|b3"/>
          <p:cNvSpPr/>
          <p:nvPr/>
        </p:nvSpPr>
        <p:spPr>
          <a:xfrm>
            <a:off x="7324344" y="2295144"/>
            <a:ext cx="384048" cy="310896"/>
          </a:xfrm>
          <a:prstGeom prst="roundRect">
            <a:avLst>
              <a:gd name="adj" fmla="val 11765"/>
            </a:avLst>
          </a:prstGeom>
          <a:solidFill>
            <a:srgbClr val="E3EEF8"/>
          </a:solidFill>
          <a:ln w="19050">
            <a:solidFill>
              <a:srgbClr val="306998"/>
            </a:solidFill>
            <a:prstDash val="solid"/>
          </a:ln>
        </p:spPr>
      </p:sp>
      <p:sp>
        <p:nvSpPr>
          <p:cNvPr id="60" name="v:Copying:g0.2.o2i1|b3"/>
          <p:cNvSpPr txBox="1"/>
          <p:nvPr/>
        </p:nvSpPr>
        <p:spPr>
          <a:xfrm>
            <a:off x="7333488"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61" name="v:Copying:g0.2.o2i2:box|b3"/>
          <p:cNvSpPr/>
          <p:nvPr/>
        </p:nvSpPr>
        <p:spPr>
          <a:xfrm>
            <a:off x="7744968" y="2295144"/>
            <a:ext cx="384048" cy="310896"/>
          </a:xfrm>
          <a:prstGeom prst="roundRect">
            <a:avLst>
              <a:gd name="adj" fmla="val 11765"/>
            </a:avLst>
          </a:prstGeom>
          <a:solidFill>
            <a:srgbClr val="E3EEF8"/>
          </a:solidFill>
          <a:ln w="19050">
            <a:solidFill>
              <a:srgbClr val="306998"/>
            </a:solidFill>
            <a:prstDash val="solid"/>
          </a:ln>
        </p:spPr>
      </p:sp>
      <p:sp>
        <p:nvSpPr>
          <p:cNvPr id="62" name="v:Copying:g0.2.o2i2|b3"/>
          <p:cNvSpPr txBox="1"/>
          <p:nvPr/>
        </p:nvSpPr>
        <p:spPr>
          <a:xfrm>
            <a:off x="7754112"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63" name="v:Copying:g0.2.n.spam:box|b3"/>
          <p:cNvSpPr/>
          <p:nvPr/>
        </p:nvSpPr>
        <p:spPr>
          <a:xfrm>
            <a:off x="5760720" y="1819656"/>
            <a:ext cx="914400" cy="237744"/>
          </a:xfrm>
          <a:prstGeom prst="roundRect">
            <a:avLst>
              <a:gd name="adj" fmla="val 30769"/>
            </a:avLst>
          </a:prstGeom>
          <a:solidFill>
            <a:srgbClr val="FFFFFF"/>
          </a:solidFill>
          <a:ln w="19050">
            <a:solidFill>
              <a:srgbClr val="306998"/>
            </a:solidFill>
            <a:prstDash val="solid"/>
          </a:ln>
        </p:spPr>
      </p:sp>
      <p:sp>
        <p:nvSpPr>
          <p:cNvPr id="64" name="v:Copying:g0.2.n.spam|b3"/>
          <p:cNvSpPr txBox="1"/>
          <p:nvPr/>
        </p:nvSpPr>
        <p:spPr>
          <a:xfrm>
            <a:off x="5760720" y="1819656"/>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5" name="namearrow|b3"/>
          <p:cNvSpPr/>
          <p:nvPr/>
        </p:nvSpPr>
        <p:spPr>
          <a:xfrm>
            <a:off x="6675120" y="1938528"/>
            <a:ext cx="228600" cy="0"/>
          </a:xfrm>
          <a:prstGeom prst="line">
            <a:avLst/>
          </a:prstGeom>
          <a:noFill/>
          <a:ln w="25400">
            <a:solidFill>
              <a:srgbClr val="306998"/>
            </a:solidFill>
            <a:prstDash val="solid"/>
            <a:tailEnd type="triangle"/>
          </a:ln>
        </p:spPr>
      </p:sp>
      <p:sp>
        <p:nvSpPr>
          <p:cNvPr id="66" name="v:Copying:g0.2.n.cheese:box|b3"/>
          <p:cNvSpPr/>
          <p:nvPr/>
        </p:nvSpPr>
        <p:spPr>
          <a:xfrm>
            <a:off x="5760720" y="2331720"/>
            <a:ext cx="914400" cy="237744"/>
          </a:xfrm>
          <a:prstGeom prst="roundRect">
            <a:avLst>
              <a:gd name="adj" fmla="val 30769"/>
            </a:avLst>
          </a:prstGeom>
          <a:solidFill>
            <a:srgbClr val="FFFFFF"/>
          </a:solidFill>
          <a:ln w="19050">
            <a:solidFill>
              <a:srgbClr val="306998"/>
            </a:solidFill>
            <a:prstDash val="solid"/>
          </a:ln>
        </p:spPr>
      </p:sp>
      <p:sp>
        <p:nvSpPr>
          <p:cNvPr id="67" name="v:Copying:g0.2.n.cheese|b3"/>
          <p:cNvSpPr txBox="1"/>
          <p:nvPr/>
        </p:nvSpPr>
        <p:spPr>
          <a:xfrm>
            <a:off x="5760720" y="2331720"/>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cheese</a:t>
            </a:r>
            <a:endParaRPr lang="en-US" sz="1050" dirty="0"/>
          </a:p>
        </p:txBody>
      </p:sp>
      <p:sp>
        <p:nvSpPr>
          <p:cNvPr id="68" name="namearrow|b3"/>
          <p:cNvSpPr/>
          <p:nvPr/>
        </p:nvSpPr>
        <p:spPr>
          <a:xfrm>
            <a:off x="6675120" y="2450592"/>
            <a:ext cx="228600" cy="0"/>
          </a:xfrm>
          <a:prstGeom prst="line">
            <a:avLst/>
          </a:prstGeom>
          <a:noFill/>
          <a:ln w="25400">
            <a:solidFill>
              <a:srgbClr val="306998"/>
            </a:solidFill>
            <a:prstDash val="solid"/>
            <a:tailEnd type="triangle"/>
          </a:ln>
        </p:spPr>
      </p:sp>
      <p:sp>
        <p:nvSpPr>
          <p:cNvPr id="69" name="codecardbox|b4"/>
          <p:cNvSpPr/>
          <p:nvPr/>
        </p:nvSpPr>
        <p:spPr>
          <a:xfrm>
            <a:off x="365760" y="3529584"/>
            <a:ext cx="8412480" cy="1115568"/>
          </a:xfrm>
          <a:prstGeom prst="roundRect">
            <a:avLst>
              <a:gd name="adj" fmla="val 8197"/>
            </a:avLst>
          </a:prstGeom>
          <a:solidFill>
            <a:srgbClr val="17202B"/>
          </a:solidFill>
          <a:ln w="12700">
            <a:solidFill>
              <a:srgbClr val="17202B"/>
            </a:solidFill>
            <a:prstDash val="solid"/>
          </a:ln>
        </p:spPr>
      </p:sp>
      <p:sp>
        <p:nvSpPr>
          <p:cNvPr id="70" name="codecard|b4"/>
          <p:cNvSpPr txBox="1"/>
          <p:nvPr/>
        </p:nvSpPr>
        <p:spPr>
          <a:xfrm>
            <a:off x="530352" y="3602736"/>
            <a:ext cx="8083296" cy="969264"/>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import copy</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nested = [[1, 2], [3]]</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 = copy.copy(nested)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deep = copy.deepcopy(nested)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(shallow[0] is nested[0], deep[0] is nested[0])</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p:txBody>
      </p:sp>
      <p:sp>
        <p:nvSpPr>
          <p:cNvPr id="7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Shallow copy, Deep copy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copy.html" history="1" highlightClick="0" endSnd="0">
                  <a:extLst>
                    <a:ext uri="{A12FA001-AC4F-418D-AE19-62706E023703}">
                      <ahyp:hlinkClr xmlns:ahyp="http://schemas.microsoft.com/office/drawing/2018/hyperlinkcolor" val="tx"/>
                    </a:ext>
                  </a:extLst>
                </a:hlinkClick>
              </a:rPr>
              <a:t>copy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9" fill="hold">
                      <p:stCondLst>
                        <p:cond delay="indefinite"/>
                      </p:stCondLst>
                      <p:childTnLst>
                        <p:par>
                          <p:cTn id="13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00"/>
                                        <p:tgtEl>
                                          <p:spTgt spid="2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0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00"/>
                                        <p:tgtEl>
                                          <p:spTgt spid="2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00"/>
                                        <p:tgtEl>
                                          <p:spTgt spid="25"/>
                                        </p:tgtEl>
                                      </p:cBhvr>
                                    </p:animEffect>
                                  </p:childTnLst>
                                </p:cTn>
                              </p:par>
                              <p:par>
                                <p:cTn id="60" presetID="10" presetClass="entr" presetSubtype="0"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00"/>
                                        <p:tgtEl>
                                          <p:spTgt spid="29"/>
                                        </p:tgtEl>
                                      </p:cBhvr>
                                    </p:animEffect>
                                  </p:childTnLst>
                                </p:cTn>
                              </p:par>
                              <p:par>
                                <p:cTn id="72" presetID="10" presetClass="entr" presetSubtype="0"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0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00"/>
                                        <p:tgtEl>
                                          <p:spTgt spid="31"/>
                                        </p:tgtEl>
                                      </p:cBhvr>
                                    </p:animEffect>
                                  </p:childTnLst>
                                </p:cTn>
                              </p:par>
                              <p:par>
                                <p:cTn id="78" presetID="10" presetClass="entr" presetSubtype="0" fill="hold"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400"/>
                                        <p:tgtEl>
                                          <p:spTgt spid="3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00"/>
                                        <p:tgtEl>
                                          <p:spTgt spid="33"/>
                                        </p:tgtEl>
                                      </p:cBhvr>
                                    </p:animEffect>
                                  </p:childTnLst>
                                </p:cTn>
                              </p:par>
                              <p:par>
                                <p:cTn id="84" presetID="10" presetClass="entr" presetSubtype="0" fill="hold"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00"/>
                                        <p:tgtEl>
                                          <p:spTgt spid="34"/>
                                        </p:tgtEl>
                                      </p:cBhvr>
                                    </p:animEffect>
                                  </p:childTnLst>
                                </p:cTn>
                              </p:par>
                              <p:par>
                                <p:cTn id="87" presetID="10" presetClass="entr" presetSubtype="0" fill="hold" nodeType="with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00"/>
                                        <p:tgtEl>
                                          <p:spTgt spid="35"/>
                                        </p:tgtEl>
                                      </p:cBhvr>
                                    </p:animEffect>
                                  </p:childTnLst>
                                </p:cTn>
                              </p:par>
                              <p:par>
                                <p:cTn id="90" presetID="10" presetClass="entr" presetSubtype="0" fill="hold" nodeType="with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400"/>
                                        <p:tgtEl>
                                          <p:spTgt spid="36"/>
                                        </p:tgtEl>
                                      </p:cBhvr>
                                    </p:animEffect>
                                  </p:childTnLst>
                                </p:cTn>
                              </p:par>
                              <p:par>
                                <p:cTn id="93" presetID="10" presetClass="entr" presetSubtype="0" fill="hold"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400"/>
                                        <p:tgtEl>
                                          <p:spTgt spid="37"/>
                                        </p:tgtEl>
                                      </p:cBhvr>
                                    </p:animEffect>
                                  </p:childTnLst>
                                </p:cTn>
                              </p:par>
                              <p:par>
                                <p:cTn id="96" presetID="10" presetClass="entr" presetSubtype="0" fill="hold"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par>
                                <p:cTn id="99" presetID="10" presetClass="entr" presetSubtype="0" fill="hold"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400"/>
                                        <p:tgtEl>
                                          <p:spTgt spid="39"/>
                                        </p:tgtEl>
                                      </p:cBhvr>
                                    </p:animEffect>
                                  </p:childTnLst>
                                </p:cTn>
                              </p:par>
                              <p:par>
                                <p:cTn id="102" presetID="10" presetClass="entr" presetSubtype="0" fill="hold"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400"/>
                                        <p:tgtEl>
                                          <p:spTgt spid="4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par>
                                <p:cTn id="108" presetID="10" presetClass="entr" presetSubtype="0" fill="hold"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400"/>
                                        <p:tgtEl>
                                          <p:spTgt spid="42"/>
                                        </p:tgtEl>
                                      </p:cBhvr>
                                    </p:animEffect>
                                  </p:childTnLst>
                                </p:cTn>
                              </p:par>
                              <p:par>
                                <p:cTn id="111" presetID="10" presetClass="entr" presetSubtype="0" fill="hold" nodeType="with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400"/>
                                        <p:tgtEl>
                                          <p:spTgt spid="4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400"/>
                                        <p:tgtEl>
                                          <p:spTgt spid="44"/>
                                        </p:tgtEl>
                                      </p:cBhvr>
                                    </p:animEffect>
                                  </p:childTnLst>
                                </p:cTn>
                              </p:par>
                              <p:par>
                                <p:cTn id="117" presetID="10" presetClass="entr" presetSubtype="0" fill="hold" nodeType="with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00"/>
                                        <p:tgtEl>
                                          <p:spTgt spid="45"/>
                                        </p:tgtEl>
                                      </p:cBhvr>
                                    </p:animEffect>
                                  </p:childTnLst>
                                </p:cTn>
                              </p:par>
                              <p:par>
                                <p:cTn id="120" presetID="10" presetClass="entr" presetSubtype="0" fill="hold"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00"/>
                                        <p:tgtEl>
                                          <p:spTgt spid="4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400"/>
                                        <p:tgtEl>
                                          <p:spTgt spid="47"/>
                                        </p:tgtEl>
                                      </p:cBhvr>
                                    </p:animEffect>
                                  </p:childTnLst>
                                </p:cTn>
                              </p:par>
                              <p:par>
                                <p:cTn id="126" presetID="10" presetClass="entr" presetSubtype="0" fill="hold" nodeType="with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fade">
                                      <p:cBhvr>
                                        <p:cTn id="128" dur="400"/>
                                        <p:tgtEl>
                                          <p:spTgt spid="48"/>
                                        </p:tgtEl>
                                      </p:cBhvr>
                                    </p:animEffect>
                                  </p:childTnLst>
                                </p:cTn>
                              </p:par>
                            </p:childTnLst>
                          </p:cTn>
                        </p:par>
                      </p:childTnLst>
                    </p:cTn>
                  </p:par>
                  <p:par>
                    <p:cTn id="188" fill="hold">
                      <p:stCondLst>
                        <p:cond delay="indefinite"/>
                      </p:stCondLst>
                      <p:childTnLst>
                        <p:par>
                          <p:cTn id="189"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3" dur="400"/>
                                        <p:tgtEl>
                                          <p:spTgt spid="50"/>
                                        </p:tgtEl>
                                      </p:cBhvr>
                                    </p:animEffect>
                                  </p:childTnLst>
                                </p:cTn>
                              </p:par>
                              <p:par>
                                <p:cTn id="134" presetID="10" presetClass="entr" presetSubtype="0" fill="hold" nodeType="with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6" dur="400"/>
                                        <p:tgtEl>
                                          <p:spTgt spid="51"/>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2"/>
                                        </p:tgtEl>
                                        <p:attrNameLst>
                                          <p:attrName>style.visibility</p:attrName>
                                        </p:attrNameLst>
                                      </p:cBhvr>
                                      <p:to>
                                        <p:strVal val="visible"/>
                                      </p:to>
                                    </p:set>
                                    <p:animEffect transition="in" filter="fade">
                                      <p:cBhvr>
                                        <p:cTn id="139" dur="400"/>
                                        <p:tgtEl>
                                          <p:spTgt spid="52"/>
                                        </p:tgtEl>
                                      </p:cBhvr>
                                    </p:animEffect>
                                  </p:childTnLst>
                                </p:cTn>
                              </p:par>
                              <p:par>
                                <p:cTn id="140" presetID="10" presetClass="entr" presetSubtype="0" fill="hold" nodeType="with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fade">
                                      <p:cBhvr>
                                        <p:cTn id="142" dur="400"/>
                                        <p:tgtEl>
                                          <p:spTgt spid="53"/>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fade">
                                      <p:cBhvr>
                                        <p:cTn id="145" dur="400"/>
                                        <p:tgtEl>
                                          <p:spTgt spid="54"/>
                                        </p:tgtEl>
                                      </p:cBhvr>
                                    </p:animEffect>
                                  </p:childTnLst>
                                </p:cTn>
                              </p:par>
                              <p:par>
                                <p:cTn id="146" presetID="10" presetClass="entr" presetSubtype="0" fill="hold" nodeType="withEffect">
                                  <p:stCondLst>
                                    <p:cond delay="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400"/>
                                        <p:tgtEl>
                                          <p:spTgt spid="55"/>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6"/>
                                        </p:tgtEl>
                                        <p:attrNameLst>
                                          <p:attrName>style.visibility</p:attrName>
                                        </p:attrNameLst>
                                      </p:cBhvr>
                                      <p:to>
                                        <p:strVal val="visible"/>
                                      </p:to>
                                    </p:set>
                                    <p:animEffect transition="in" filter="fade">
                                      <p:cBhvr>
                                        <p:cTn id="151" dur="400"/>
                                        <p:tgtEl>
                                          <p:spTgt spid="56"/>
                                        </p:tgtEl>
                                      </p:cBhvr>
                                    </p:animEffect>
                                  </p:childTnLst>
                                </p:cTn>
                              </p:par>
                              <p:par>
                                <p:cTn id="152" presetID="10" presetClass="entr" presetSubtype="0" fill="hold" nodeType="withEffect">
                                  <p:stCondLst>
                                    <p:cond delay="0"/>
                                  </p:stCondLst>
                                  <p:childTnLst>
                                    <p:set>
                                      <p:cBhvr>
                                        <p:cTn id="153" dur="1" fill="hold">
                                          <p:stCondLst>
                                            <p:cond delay="0"/>
                                          </p:stCondLst>
                                        </p:cTn>
                                        <p:tgtEl>
                                          <p:spTgt spid="57"/>
                                        </p:tgtEl>
                                        <p:attrNameLst>
                                          <p:attrName>style.visibility</p:attrName>
                                        </p:attrNameLst>
                                      </p:cBhvr>
                                      <p:to>
                                        <p:strVal val="visible"/>
                                      </p:to>
                                    </p:set>
                                    <p:animEffect transition="in" filter="fade">
                                      <p:cBhvr>
                                        <p:cTn id="154" dur="400"/>
                                        <p:tgtEl>
                                          <p:spTgt spid="57"/>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childTnLst>
                          </p:cTn>
                        </p:par>
                      </p:childTnLst>
                    </p:cTn>
                  </p:par>
                  <p:par>
                    <p:cTn id="196" fill="hold">
                      <p:stCondLst>
                        <p:cond delay="indefinite"/>
                      </p:stCondLst>
                      <p:childTnLst>
                        <p:par>
                          <p:cTn id="197" fill="hold">
                            <p:stCondLst>
                              <p:cond delay="0"/>
                            </p:stCondLst>
                            <p:childTnLst>
                              <p:par>
                                <p:cTn id="190" presetID="10" presetClass="entr" presetSubtype="0" fill="hold" nodeType="clickEffect">
                                  <p:stCondLst>
                                    <p:cond delay="0"/>
                                  </p:stCondLst>
                                  <p:childTnLst>
                                    <p:set>
                                      <p:cBhvr>
                                        <p:cTn id="191" dur="1" fill="hold">
                                          <p:stCondLst>
                                            <p:cond delay="0"/>
                                          </p:stCondLst>
                                        </p:cTn>
                                        <p:tgtEl>
                                          <p:spTgt spid="69"/>
                                        </p:tgtEl>
                                        <p:attrNameLst>
                                          <p:attrName>style.visibility</p:attrName>
                                        </p:attrNameLst>
                                      </p:cBhvr>
                                      <p:to>
                                        <p:strVal val="visible"/>
                                      </p:to>
                                    </p:set>
                                    <p:animEffect transition="in" filter="fade">
                                      <p:cBhvr>
                                        <p:cTn id="192" dur="400"/>
                                        <p:tgtEl>
                                          <p:spTgt spid="69"/>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70"/>
                                        </p:tgtEl>
                                        <p:attrNameLst>
                                          <p:attrName>style.visibility</p:attrName>
                                        </p:attrNameLst>
                                      </p:cBhvr>
                                      <p:to>
                                        <p:strVal val="visible"/>
                                      </p:to>
                                    </p:set>
                                    <p:animEffect transition="in" filter="fade">
                                      <p:cBhvr>
                                        <p:cTn id="19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animBg="1"/>
      <p:bldP spid="23" grpId="0" animBg="1"/>
      <p:bldP spid="25" grpId="0" animBg="1"/>
      <p:bldP spid="27" grpId="0" animBg="1"/>
      <p:bldP spid="29" grpId="0" animBg="1"/>
      <p:bldP spid="31" grpId="0" animBg="1"/>
      <p:bldP spid="33" grpId="0" animBg="1"/>
      <p:bldP spid="41" grpId="0" animBg="1"/>
      <p:bldP spid="44" grpId="0" animBg="1"/>
      <p:bldP spid="47" grpId="0" animBg="1"/>
      <p:bldP spid="50" grpId="0" animBg="1"/>
      <p:bldP spid="52" grpId="0" animBg="1"/>
      <p:bldP spid="54" grpId="0" animBg="1"/>
      <p:bldP spid="56" grpId="0" animBg="1"/>
      <p:bldP spid="58" grpId="0" animBg="1"/>
      <p:bldP spid="60" grpId="0" animBg="1"/>
      <p:bldP spid="62" grpId="0" animBg="1"/>
      <p:bldP spid="64" grpId="0" animBg="1"/>
      <p:bldP spid="67" grpId="0" animBg="1"/>
      <p:bldP spid="7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 * 3 is one list three times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Replication repeats references, not the inner lists</a:t>
            </a:r>
            <a:endParaRPr lang="en-US" sz="1400" dirty="0"/>
          </a:p>
        </p:txBody>
      </p:sp>
      <p:sp>
        <p:nvSpPr>
          <p:cNvPr id="6" name="v:ReplicationAliasing:sc0t"/>
          <p:cNvSpPr txBox="1"/>
          <p:nvPr/>
        </p:nvSpPr>
        <p:spPr>
          <a:xfrm>
            <a:off x="36576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 * 3</a:t>
            </a:r>
            <a:endParaRPr lang="en-US" sz="1200" dirty="0"/>
          </a:p>
        </p:txBody>
      </p:sp>
      <p:sp>
        <p:nvSpPr>
          <p:cNvPr id="7" name="v:ReplicationAliasing:g0.1.c|b1"/>
          <p:cNvSpPr txBox="1"/>
          <p:nvPr/>
        </p:nvSpPr>
        <p:spPr>
          <a:xfrm>
            <a:off x="36576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8" name="v:ReplicationAliasing:g0.1.o1i0:box|b1"/>
          <p:cNvSpPr/>
          <p:nvPr/>
        </p:nvSpPr>
        <p:spPr>
          <a:xfrm>
            <a:off x="1325880" y="1755648"/>
            <a:ext cx="457200"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508760" y="1865376"/>
            <a:ext cx="91440" cy="91440"/>
          </a:xfrm>
          <a:prstGeom prst="ellipse">
            <a:avLst/>
          </a:prstGeom>
          <a:solidFill>
            <a:srgbClr val="306998"/>
          </a:solidFill>
          <a:ln w="12700">
            <a:solidFill>
              <a:srgbClr val="306998"/>
            </a:solidFill>
            <a:prstDash val="solid"/>
          </a:ln>
        </p:spPr>
      </p:sp>
      <p:sp>
        <p:nvSpPr>
          <p:cNvPr id="10" name="v:ReplicationAliasing:g0.1.o1i1:box|b1"/>
          <p:cNvSpPr/>
          <p:nvPr/>
        </p:nvSpPr>
        <p:spPr>
          <a:xfrm>
            <a:off x="1819656" y="1755648"/>
            <a:ext cx="457200"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02536" y="1865376"/>
            <a:ext cx="91440" cy="91440"/>
          </a:xfrm>
          <a:prstGeom prst="ellipse">
            <a:avLst/>
          </a:prstGeom>
          <a:solidFill>
            <a:srgbClr val="306998"/>
          </a:solidFill>
          <a:ln w="12700">
            <a:solidFill>
              <a:srgbClr val="306998"/>
            </a:solidFill>
            <a:prstDash val="solid"/>
          </a:ln>
        </p:spPr>
      </p:sp>
      <p:sp>
        <p:nvSpPr>
          <p:cNvPr id="12" name="v:ReplicationAliasing:g0.1.o1i2:box|b1"/>
          <p:cNvSpPr/>
          <p:nvPr/>
        </p:nvSpPr>
        <p:spPr>
          <a:xfrm>
            <a:off x="2313432" y="1755648"/>
            <a:ext cx="457200"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2496312" y="1865376"/>
            <a:ext cx="91440" cy="91440"/>
          </a:xfrm>
          <a:prstGeom prst="ellipse">
            <a:avLst/>
          </a:prstGeom>
          <a:solidFill>
            <a:srgbClr val="306998"/>
          </a:solidFill>
          <a:ln w="12700">
            <a:solidFill>
              <a:srgbClr val="306998"/>
            </a:solidFill>
            <a:prstDash val="solid"/>
          </a:ln>
        </p:spPr>
      </p:sp>
      <p:sp>
        <p:nvSpPr>
          <p:cNvPr id="14" name="v:ReplicationAliasing:g0.1.o2i0:box|b1"/>
          <p:cNvSpPr/>
          <p:nvPr/>
        </p:nvSpPr>
        <p:spPr>
          <a:xfrm>
            <a:off x="3383280" y="1700784"/>
            <a:ext cx="457200" cy="310896"/>
          </a:xfrm>
          <a:prstGeom prst="roundRect">
            <a:avLst>
              <a:gd name="adj" fmla="val 11765"/>
            </a:avLst>
          </a:prstGeom>
          <a:solidFill>
            <a:srgbClr val="F1F4F8"/>
          </a:solidFill>
          <a:ln w="19050">
            <a:solidFill>
              <a:srgbClr val="306998"/>
            </a:solidFill>
            <a:prstDash val="solid"/>
          </a:ln>
        </p:spPr>
      </p:sp>
      <p:sp>
        <p:nvSpPr>
          <p:cNvPr id="15" name="v:ReplicationAliasing:g0.1.o2i0|b1"/>
          <p:cNvSpPr txBox="1"/>
          <p:nvPr/>
        </p:nvSpPr>
        <p:spPr>
          <a:xfrm>
            <a:off x="339242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refarrow|b1"/>
          <p:cNvSpPr/>
          <p:nvPr/>
        </p:nvSpPr>
        <p:spPr>
          <a:xfrm flipV="1">
            <a:off x="1554480" y="1856232"/>
            <a:ext cx="1828800" cy="54864"/>
          </a:xfrm>
          <a:prstGeom prst="line">
            <a:avLst/>
          </a:prstGeom>
          <a:noFill/>
          <a:ln w="19050">
            <a:solidFill>
              <a:srgbClr val="306998"/>
            </a:solidFill>
            <a:prstDash val="solid"/>
            <a:tailEnd type="triangle"/>
          </a:ln>
        </p:spPr>
      </p:sp>
      <p:sp>
        <p:nvSpPr>
          <p:cNvPr id="17" name="refarrow|b1"/>
          <p:cNvSpPr/>
          <p:nvPr/>
        </p:nvSpPr>
        <p:spPr>
          <a:xfrm flipV="1">
            <a:off x="2048256" y="1856232"/>
            <a:ext cx="1335024" cy="54864"/>
          </a:xfrm>
          <a:prstGeom prst="line">
            <a:avLst/>
          </a:prstGeom>
          <a:noFill/>
          <a:ln w="19050">
            <a:solidFill>
              <a:srgbClr val="306998"/>
            </a:solidFill>
            <a:prstDash val="solid"/>
            <a:tailEnd type="triangle"/>
          </a:ln>
        </p:spPr>
      </p:sp>
      <p:sp>
        <p:nvSpPr>
          <p:cNvPr id="18" name="refarrow|b1"/>
          <p:cNvSpPr/>
          <p:nvPr/>
        </p:nvSpPr>
        <p:spPr>
          <a:xfrm flipV="1">
            <a:off x="2542032" y="1856232"/>
            <a:ext cx="841248" cy="54864"/>
          </a:xfrm>
          <a:prstGeom prst="line">
            <a:avLst/>
          </a:prstGeom>
          <a:noFill/>
          <a:ln w="19050">
            <a:solidFill>
              <a:srgbClr val="306998"/>
            </a:solidFill>
            <a:prstDash val="solid"/>
            <a:tailEnd type="triangle"/>
          </a:ln>
        </p:spPr>
      </p:sp>
      <p:sp>
        <p:nvSpPr>
          <p:cNvPr id="19" name="v:ReplicationAliasing:g0.1.n.lists:box|b1"/>
          <p:cNvSpPr/>
          <p:nvPr/>
        </p:nvSpPr>
        <p:spPr>
          <a:xfrm>
            <a:off x="365760" y="1792224"/>
            <a:ext cx="731520" cy="237744"/>
          </a:xfrm>
          <a:prstGeom prst="roundRect">
            <a:avLst>
              <a:gd name="adj" fmla="val 30769"/>
            </a:avLst>
          </a:prstGeom>
          <a:solidFill>
            <a:srgbClr val="FFFFFF"/>
          </a:solidFill>
          <a:ln w="19050">
            <a:solidFill>
              <a:srgbClr val="306998"/>
            </a:solidFill>
            <a:prstDash val="solid"/>
          </a:ln>
        </p:spPr>
      </p:sp>
      <p:sp>
        <p:nvSpPr>
          <p:cNvPr id="20" name="v:ReplicationAliasing:g0.1.n.lists|b1"/>
          <p:cNvSpPr txBox="1"/>
          <p:nvPr/>
        </p:nvSpPr>
        <p:spPr>
          <a:xfrm>
            <a:off x="36576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21" name="namearrow|b1"/>
          <p:cNvSpPr/>
          <p:nvPr/>
        </p:nvSpPr>
        <p:spPr>
          <a:xfrm>
            <a:off x="1097280" y="1911096"/>
            <a:ext cx="228600" cy="0"/>
          </a:xfrm>
          <a:prstGeom prst="line">
            <a:avLst/>
          </a:prstGeom>
          <a:noFill/>
          <a:ln w="25400">
            <a:solidFill>
              <a:srgbClr val="306998"/>
            </a:solidFill>
            <a:prstDash val="solid"/>
            <a:tailEnd type="triangle"/>
          </a:ln>
        </p:spPr>
      </p:sp>
      <p:sp>
        <p:nvSpPr>
          <p:cNvPr id="22" name="v:ReplicationAliasing:sc1t"/>
          <p:cNvSpPr txBox="1"/>
          <p:nvPr/>
        </p:nvSpPr>
        <p:spPr>
          <a:xfrm>
            <a:off x="466344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 for i in range(3)]</a:t>
            </a:r>
            <a:endParaRPr lang="en-US" sz="1200" dirty="0"/>
          </a:p>
        </p:txBody>
      </p:sp>
      <p:sp>
        <p:nvSpPr>
          <p:cNvPr id="23" name="v:ReplicationAliasing:g1.1.c|b2"/>
          <p:cNvSpPr txBox="1"/>
          <p:nvPr/>
        </p:nvSpPr>
        <p:spPr>
          <a:xfrm>
            <a:off x="466344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24" name="v:ReplicationAliasing:g1.1.o1i0:box|b2"/>
          <p:cNvSpPr/>
          <p:nvPr/>
        </p:nvSpPr>
        <p:spPr>
          <a:xfrm>
            <a:off x="5623560" y="1755648"/>
            <a:ext cx="457200" cy="310896"/>
          </a:xfrm>
          <a:prstGeom prst="roundRect">
            <a:avLst>
              <a:gd name="adj" fmla="val 11765"/>
            </a:avLst>
          </a:prstGeom>
          <a:solidFill>
            <a:srgbClr val="FFFFFF"/>
          </a:solidFill>
          <a:ln w="19050">
            <a:solidFill>
              <a:srgbClr val="306998"/>
            </a:solidFill>
            <a:prstDash val="solid"/>
          </a:ln>
        </p:spPr>
      </p:sp>
      <p:sp>
        <p:nvSpPr>
          <p:cNvPr id="25" name="dot|b2"/>
          <p:cNvSpPr/>
          <p:nvPr/>
        </p:nvSpPr>
        <p:spPr>
          <a:xfrm>
            <a:off x="5806440" y="1865376"/>
            <a:ext cx="91440" cy="91440"/>
          </a:xfrm>
          <a:prstGeom prst="ellipse">
            <a:avLst/>
          </a:prstGeom>
          <a:solidFill>
            <a:srgbClr val="306998"/>
          </a:solidFill>
          <a:ln w="12700">
            <a:solidFill>
              <a:srgbClr val="306998"/>
            </a:solidFill>
            <a:prstDash val="solid"/>
          </a:ln>
        </p:spPr>
      </p:sp>
      <p:sp>
        <p:nvSpPr>
          <p:cNvPr id="26" name="v:ReplicationAliasing:g1.1.o1i1:box|b2"/>
          <p:cNvSpPr/>
          <p:nvPr/>
        </p:nvSpPr>
        <p:spPr>
          <a:xfrm>
            <a:off x="6117336" y="1755648"/>
            <a:ext cx="457200" cy="310896"/>
          </a:xfrm>
          <a:prstGeom prst="roundRect">
            <a:avLst>
              <a:gd name="adj" fmla="val 11765"/>
            </a:avLst>
          </a:prstGeom>
          <a:solidFill>
            <a:srgbClr val="FFFFFF"/>
          </a:solidFill>
          <a:ln w="19050">
            <a:solidFill>
              <a:srgbClr val="306998"/>
            </a:solidFill>
            <a:prstDash val="solid"/>
          </a:ln>
        </p:spPr>
      </p:sp>
      <p:sp>
        <p:nvSpPr>
          <p:cNvPr id="27" name="dot|b2"/>
          <p:cNvSpPr/>
          <p:nvPr/>
        </p:nvSpPr>
        <p:spPr>
          <a:xfrm>
            <a:off x="6300216" y="1865376"/>
            <a:ext cx="91440" cy="91440"/>
          </a:xfrm>
          <a:prstGeom prst="ellipse">
            <a:avLst/>
          </a:prstGeom>
          <a:solidFill>
            <a:srgbClr val="306998"/>
          </a:solidFill>
          <a:ln w="12700">
            <a:solidFill>
              <a:srgbClr val="306998"/>
            </a:solidFill>
            <a:prstDash val="solid"/>
          </a:ln>
        </p:spPr>
      </p:sp>
      <p:sp>
        <p:nvSpPr>
          <p:cNvPr id="28" name="v:ReplicationAliasing:g1.1.o1i2:box|b2"/>
          <p:cNvSpPr/>
          <p:nvPr/>
        </p:nvSpPr>
        <p:spPr>
          <a:xfrm>
            <a:off x="6611112" y="1755648"/>
            <a:ext cx="457200" cy="310896"/>
          </a:xfrm>
          <a:prstGeom prst="roundRect">
            <a:avLst>
              <a:gd name="adj" fmla="val 11765"/>
            </a:avLst>
          </a:prstGeom>
          <a:solidFill>
            <a:srgbClr val="FFFFFF"/>
          </a:solidFill>
          <a:ln w="19050">
            <a:solidFill>
              <a:srgbClr val="306998"/>
            </a:solidFill>
            <a:prstDash val="solid"/>
          </a:ln>
        </p:spPr>
      </p:sp>
      <p:sp>
        <p:nvSpPr>
          <p:cNvPr id="29" name="dot|b2"/>
          <p:cNvSpPr/>
          <p:nvPr/>
        </p:nvSpPr>
        <p:spPr>
          <a:xfrm>
            <a:off x="6793992" y="1865376"/>
            <a:ext cx="91440" cy="91440"/>
          </a:xfrm>
          <a:prstGeom prst="ellipse">
            <a:avLst/>
          </a:prstGeom>
          <a:solidFill>
            <a:srgbClr val="306998"/>
          </a:solidFill>
          <a:ln w="12700">
            <a:solidFill>
              <a:srgbClr val="306998"/>
            </a:solidFill>
            <a:prstDash val="solid"/>
          </a:ln>
        </p:spPr>
      </p:sp>
      <p:sp>
        <p:nvSpPr>
          <p:cNvPr id="30" name="v:ReplicationAliasing:g1.1.o2i0:box|b2"/>
          <p:cNvSpPr/>
          <p:nvPr/>
        </p:nvSpPr>
        <p:spPr>
          <a:xfrm>
            <a:off x="7680960" y="1700784"/>
            <a:ext cx="457200" cy="310896"/>
          </a:xfrm>
          <a:prstGeom prst="roundRect">
            <a:avLst>
              <a:gd name="adj" fmla="val 11765"/>
            </a:avLst>
          </a:prstGeom>
          <a:solidFill>
            <a:srgbClr val="F1F4F8"/>
          </a:solidFill>
          <a:ln w="19050">
            <a:solidFill>
              <a:srgbClr val="306998"/>
            </a:solidFill>
            <a:prstDash val="solid"/>
          </a:ln>
        </p:spPr>
      </p:sp>
      <p:sp>
        <p:nvSpPr>
          <p:cNvPr id="31" name="v:ReplicationAliasing:g1.1.o2i0|b2"/>
          <p:cNvSpPr txBox="1"/>
          <p:nvPr/>
        </p:nvSpPr>
        <p:spPr>
          <a:xfrm>
            <a:off x="769010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2" name="v:ReplicationAliasing:g1.1.o3empty:box|b2"/>
          <p:cNvSpPr/>
          <p:nvPr/>
        </p:nvSpPr>
        <p:spPr>
          <a:xfrm>
            <a:off x="7680960" y="2139696"/>
            <a:ext cx="457200" cy="310896"/>
          </a:xfrm>
          <a:prstGeom prst="roundRect">
            <a:avLst>
              <a:gd name="adj" fmla="val 11765"/>
            </a:avLst>
          </a:prstGeom>
          <a:solidFill>
            <a:srgbClr val="F1F4F8"/>
          </a:solidFill>
          <a:ln w="19050">
            <a:solidFill>
              <a:srgbClr val="306998"/>
            </a:solidFill>
            <a:prstDash val="dash"/>
          </a:ln>
        </p:spPr>
      </p:sp>
      <p:sp>
        <p:nvSpPr>
          <p:cNvPr id="33" name="v:ReplicationAliasing:g1.1.o4empty:box|b2"/>
          <p:cNvSpPr/>
          <p:nvPr/>
        </p:nvSpPr>
        <p:spPr>
          <a:xfrm>
            <a:off x="7680960" y="2578608"/>
            <a:ext cx="457200" cy="310896"/>
          </a:xfrm>
          <a:prstGeom prst="roundRect">
            <a:avLst>
              <a:gd name="adj" fmla="val 11765"/>
            </a:avLst>
          </a:prstGeom>
          <a:solidFill>
            <a:srgbClr val="F1F4F8"/>
          </a:solidFill>
          <a:ln w="19050">
            <a:solidFill>
              <a:srgbClr val="306998"/>
            </a:solidFill>
            <a:prstDash val="dash"/>
          </a:ln>
        </p:spPr>
      </p:sp>
      <p:sp>
        <p:nvSpPr>
          <p:cNvPr id="34" name="refarrow|b2"/>
          <p:cNvSpPr/>
          <p:nvPr/>
        </p:nvSpPr>
        <p:spPr>
          <a:xfrm flipV="1">
            <a:off x="5852160" y="1856232"/>
            <a:ext cx="1828800" cy="54864"/>
          </a:xfrm>
          <a:prstGeom prst="line">
            <a:avLst/>
          </a:prstGeom>
          <a:noFill/>
          <a:ln w="19050">
            <a:solidFill>
              <a:srgbClr val="306998"/>
            </a:solidFill>
            <a:prstDash val="solid"/>
            <a:tailEnd type="triangle"/>
          </a:ln>
        </p:spPr>
      </p:sp>
      <p:sp>
        <p:nvSpPr>
          <p:cNvPr id="35" name="refarrow|b2"/>
          <p:cNvSpPr/>
          <p:nvPr/>
        </p:nvSpPr>
        <p:spPr>
          <a:xfrm>
            <a:off x="6345936" y="1911096"/>
            <a:ext cx="1335024" cy="384048"/>
          </a:xfrm>
          <a:prstGeom prst="line">
            <a:avLst/>
          </a:prstGeom>
          <a:noFill/>
          <a:ln w="19050">
            <a:solidFill>
              <a:srgbClr val="306998"/>
            </a:solidFill>
            <a:prstDash val="solid"/>
            <a:tailEnd type="triangle"/>
          </a:ln>
        </p:spPr>
      </p:sp>
      <p:sp>
        <p:nvSpPr>
          <p:cNvPr id="36" name="refarrow|b2"/>
          <p:cNvSpPr/>
          <p:nvPr/>
        </p:nvSpPr>
        <p:spPr>
          <a:xfrm>
            <a:off x="6839712" y="1911096"/>
            <a:ext cx="841248" cy="822960"/>
          </a:xfrm>
          <a:prstGeom prst="line">
            <a:avLst/>
          </a:prstGeom>
          <a:noFill/>
          <a:ln w="19050">
            <a:solidFill>
              <a:srgbClr val="306998"/>
            </a:solidFill>
            <a:prstDash val="solid"/>
            <a:tailEnd type="triangle"/>
          </a:ln>
        </p:spPr>
      </p:sp>
      <p:sp>
        <p:nvSpPr>
          <p:cNvPr id="37" name="v:ReplicationAliasing:g1.1.n.lists:box|b2"/>
          <p:cNvSpPr/>
          <p:nvPr/>
        </p:nvSpPr>
        <p:spPr>
          <a:xfrm>
            <a:off x="4663440" y="1792224"/>
            <a:ext cx="731520" cy="237744"/>
          </a:xfrm>
          <a:prstGeom prst="roundRect">
            <a:avLst>
              <a:gd name="adj" fmla="val 30769"/>
            </a:avLst>
          </a:prstGeom>
          <a:solidFill>
            <a:srgbClr val="FFFFFF"/>
          </a:solidFill>
          <a:ln w="19050">
            <a:solidFill>
              <a:srgbClr val="306998"/>
            </a:solidFill>
            <a:prstDash val="solid"/>
          </a:ln>
        </p:spPr>
      </p:sp>
      <p:sp>
        <p:nvSpPr>
          <p:cNvPr id="38" name="v:ReplicationAliasing:g1.1.n.lists|b2"/>
          <p:cNvSpPr txBox="1"/>
          <p:nvPr/>
        </p:nvSpPr>
        <p:spPr>
          <a:xfrm>
            <a:off x="466344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39" name="namearrow|b2"/>
          <p:cNvSpPr/>
          <p:nvPr/>
        </p:nvSpPr>
        <p:spPr>
          <a:xfrm>
            <a:off x="5394960" y="1911096"/>
            <a:ext cx="228600" cy="0"/>
          </a:xfrm>
          <a:prstGeom prst="line">
            <a:avLst/>
          </a:prstGeom>
          <a:noFill/>
          <a:ln w="25400">
            <a:solidFill>
              <a:srgbClr val="306998"/>
            </a:solidFill>
            <a:prstDash val="solid"/>
            <a:tailEnd type="triangle"/>
          </a:ln>
        </p:spPr>
      </p:sp>
      <p:sp>
        <p:nvSpPr>
          <p:cNvPr id="40" name="codecardbox|b3"/>
          <p:cNvSpPr/>
          <p:nvPr/>
        </p:nvSpPr>
        <p:spPr>
          <a:xfrm>
            <a:off x="365760" y="3017520"/>
            <a:ext cx="8412480" cy="1572768"/>
          </a:xfrm>
          <a:prstGeom prst="roundRect">
            <a:avLst>
              <a:gd name="adj" fmla="val 5814"/>
            </a:avLst>
          </a:prstGeom>
          <a:solidFill>
            <a:srgbClr val="17202B"/>
          </a:solidFill>
          <a:ln w="12700">
            <a:solidFill>
              <a:srgbClr val="17202B"/>
            </a:solidFill>
            <a:prstDash val="solid"/>
          </a:ln>
        </p:spPr>
      </p:sp>
      <p:sp>
        <p:nvSpPr>
          <p:cNvPr id="41" name="codecard|b3"/>
          <p:cNvSpPr txBox="1"/>
          <p:nvPr/>
        </p:nvSpPr>
        <p:spPr>
          <a:xfrm>
            <a:off x="530352" y="3090672"/>
            <a:ext cx="8083296" cy="1426464"/>
          </a:xfrm>
          <a:prstGeom prst="rect">
            <a:avLst/>
          </a:prstGeom>
          <a:noFill/>
          <a:ln/>
        </p:spPr>
        <p:txBody>
          <a:bodyPr wrap="square" lIns="0" tIns="0" rIns="0" bIns="0" rtlCol="0" anchor="t"/>
          <a:lstStyle/>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[3],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for i in range(3)]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 []]</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Replication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childTnLst>
                          </p:cTn>
                        </p:par>
                      </p:childTnLst>
                    </p:cTn>
                  </p:par>
                  <p:par>
                    <p:cTn id="101" fill="hold">
                      <p:stCondLst>
                        <p:cond delay="indefinite"/>
                      </p:stCondLst>
                      <p:childTnLst>
                        <p:par>
                          <p:cTn id="102"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par>
                                <p:cTn id="98" presetID="10" presetClass="entr" presetSubtype="0" fill="hold"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400"/>
                                        <p:tgtEl>
                                          <p:spTgt spid="39"/>
                                        </p:tgtEl>
                                      </p:cBhvr>
                                    </p:animEffect>
                                  </p:childTnLst>
                                </p:cTn>
                              </p:par>
                            </p:childTnLst>
                          </p:cTn>
                        </p:par>
                      </p:childTnLst>
                    </p:cTn>
                  </p:par>
                  <p:par>
                    <p:cTn id="109" fill="hold">
                      <p:stCondLst>
                        <p:cond delay="indefinite"/>
                      </p:stCondLst>
                      <p:childTnLst>
                        <p:par>
                          <p:cTn id="110"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20" grpId="0" animBg="1"/>
      <p:bldP spid="23" grpId="0" animBg="1"/>
      <p:bldP spid="31" grpId="0" animBg="1"/>
      <p:bldP spid="38" grpId="0" animBg="1"/>
      <p:bldP spid="4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6</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Random and programs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random functions, the two short programs and the practice work show lists in use.</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Random lists</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choice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shuffle</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Programs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Magic eight ball</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Matrix screensaver</a:t>
            </a:r>
            <a:endParaRPr lang="en-US" sz="1200" dirty="0"/>
          </a:p>
        </p:txBody>
      </p:sp>
      <p:sp>
        <p:nvSpPr>
          <p:cNvPr id="16"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Practice programs</a:t>
            </a:r>
            <a:endParaRPr lang="en-US" sz="1200" dirty="0"/>
          </a:p>
        </p:txBody>
      </p:sp>
      <p:sp>
        <p:nvSpPr>
          <p:cNvPr id="18" name="x"/>
          <p:cNvSpPr/>
          <p:nvPr/>
        </p:nvSpPr>
        <p:spPr>
          <a:xfrm>
            <a:off x="548640" y="4572000"/>
            <a:ext cx="1267968" cy="64008"/>
          </a:xfrm>
          <a:prstGeom prst="rect">
            <a:avLst/>
          </a:prstGeom>
          <a:solidFill>
            <a:srgbClr val="4A5D75"/>
          </a:solidFill>
          <a:ln w="12700">
            <a:solidFill>
              <a:srgbClr val="4A5D75"/>
            </a:solidFill>
            <a:prstDash val="solid"/>
          </a:ln>
        </p:spPr>
      </p:sp>
      <p:sp>
        <p:nvSpPr>
          <p:cNvPr id="19" name="x"/>
          <p:cNvSpPr/>
          <p:nvPr/>
        </p:nvSpPr>
        <p:spPr>
          <a:xfrm>
            <a:off x="1889760" y="4572000"/>
            <a:ext cx="1267968" cy="64008"/>
          </a:xfrm>
          <a:prstGeom prst="rect">
            <a:avLst/>
          </a:prstGeom>
          <a:solidFill>
            <a:srgbClr val="4A5D75"/>
          </a:solidFill>
          <a:ln w="12700">
            <a:solidFill>
              <a:srgbClr val="4A5D75"/>
            </a:solidFill>
            <a:prstDash val="solid"/>
          </a:ln>
        </p:spPr>
      </p:sp>
      <p:sp>
        <p:nvSpPr>
          <p:cNvPr id="20" name="x"/>
          <p:cNvSpPr/>
          <p:nvPr/>
        </p:nvSpPr>
        <p:spPr>
          <a:xfrm>
            <a:off x="3230880" y="4572000"/>
            <a:ext cx="1267968" cy="64008"/>
          </a:xfrm>
          <a:prstGeom prst="rect">
            <a:avLst/>
          </a:prstGeom>
          <a:solidFill>
            <a:srgbClr val="4A5D75"/>
          </a:solidFill>
          <a:ln w="12700">
            <a:solidFill>
              <a:srgbClr val="4A5D75"/>
            </a:solidFill>
            <a:prstDash val="solid"/>
          </a:ln>
        </p:spPr>
      </p:sp>
      <p:sp>
        <p:nvSpPr>
          <p:cNvPr id="21" name="x"/>
          <p:cNvSpPr/>
          <p:nvPr/>
        </p:nvSpPr>
        <p:spPr>
          <a:xfrm>
            <a:off x="4572000" y="4572000"/>
            <a:ext cx="1267968" cy="64008"/>
          </a:xfrm>
          <a:prstGeom prst="rect">
            <a:avLst/>
          </a:prstGeom>
          <a:solidFill>
            <a:srgbClr val="4A5D75"/>
          </a:solidFill>
          <a:ln w="12700">
            <a:solidFill>
              <a:srgbClr val="4A5D75"/>
            </a:solidFill>
            <a:prstDash val="solid"/>
          </a:ln>
        </p:spPr>
      </p:sp>
      <p:sp>
        <p:nvSpPr>
          <p:cNvPr id="22" name="x"/>
          <p:cNvSpPr/>
          <p:nvPr/>
        </p:nvSpPr>
        <p:spPr>
          <a:xfrm>
            <a:off x="5913120" y="4572000"/>
            <a:ext cx="1267968" cy="64008"/>
          </a:xfrm>
          <a:prstGeom prst="rect">
            <a:avLst/>
          </a:prstGeom>
          <a:solidFill>
            <a:srgbClr val="4A5D75"/>
          </a:solidFill>
          <a:ln w="12700">
            <a:solidFill>
              <a:srgbClr val="4A5D75"/>
            </a:solidFill>
            <a:prstDash val="solid"/>
          </a:ln>
        </p:spPr>
      </p:sp>
      <p:sp>
        <p:nvSpPr>
          <p:cNvPr id="23" name="x"/>
          <p:cNvSpPr/>
          <p:nvPr/>
        </p:nvSpPr>
        <p:spPr>
          <a:xfrm>
            <a:off x="7254240" y="4572000"/>
            <a:ext cx="1267968" cy="64008"/>
          </a:xfrm>
          <a:prstGeom prst="rect">
            <a:avLst/>
          </a:prstGeom>
          <a:solidFill>
            <a:srgbClr val="FFD43B"/>
          </a:solidFill>
          <a:ln w="12700">
            <a:solidFill>
              <a:srgbClr val="FFD43B"/>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Magic 8 Ball: a list of answers and a random index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1 of the chapter, with a fixed seed so every run prints the same answer</a:t>
            </a:r>
            <a:endParaRPr lang="en-US" sz="1400" dirty="0"/>
          </a:p>
        </p:txBody>
      </p:sp>
      <p:sp>
        <p:nvSpPr>
          <p:cNvPr id="6" name="progbox"/>
          <p:cNvSpPr/>
          <p:nvPr/>
        </p:nvSpPr>
        <p:spPr>
          <a:xfrm>
            <a:off x="365760" y="1188720"/>
            <a:ext cx="41605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3886200" cy="2139696"/>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import random</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random.seed(4)  # the same answer every run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messages = ['It is certain',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'It is decidedly so',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'Yes definitely',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'Reply hazy try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'Ask again later',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'Concentrate and ask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'My reply is no',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'Outlook not so good',</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'Very doubtful']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print('Ask a yes or no question:')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input('&gt;')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print(messages[random.randint(0, len(messages) - 1)])</a:t>
            </a:r>
            <a:endParaRPr lang="en-US" sz="900" dirty="0"/>
          </a:p>
        </p:txBody>
      </p:sp>
      <p:sp>
        <p:nvSpPr>
          <p:cNvPr id="8" name="transbox|b1"/>
          <p:cNvSpPr/>
          <p:nvPr/>
        </p:nvSpPr>
        <p:spPr>
          <a:xfrm>
            <a:off x="365760" y="3566160"/>
            <a:ext cx="4160520" cy="658368"/>
          </a:xfrm>
          <a:prstGeom prst="roundRect">
            <a:avLst>
              <a:gd name="adj" fmla="val 13889"/>
            </a:avLst>
          </a:prstGeom>
          <a:solidFill>
            <a:srgbClr val="F1F4F8"/>
          </a:solidFill>
          <a:ln w="12700">
            <a:solidFill>
              <a:srgbClr val="F1F4F8"/>
            </a:solidFill>
            <a:prstDash val="solid"/>
          </a:ln>
        </p:spPr>
      </p:sp>
      <p:sp>
        <p:nvSpPr>
          <p:cNvPr id="9" name="trans|b1"/>
          <p:cNvSpPr txBox="1"/>
          <p:nvPr/>
        </p:nvSpPr>
        <p:spPr>
          <a:xfrm>
            <a:off x="475488" y="3621024"/>
            <a:ext cx="3941064" cy="548640"/>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Ask a yes or no question:</a:t>
            </a:r>
            <a:endParaRPr lang="en-US" sz="1100" dirty="0"/>
          </a:p>
          <a:p>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&gt;Will it rain?</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Reply hazy try again</a:t>
            </a:r>
            <a:endParaRPr lang="en-US" sz="1100" dirty="0"/>
          </a:p>
        </p:txBody>
      </p:sp>
      <p:sp>
        <p:nvSpPr>
          <p:cNvPr id="10" name="transcap|b1"/>
          <p:cNvSpPr txBox="1"/>
          <p:nvPr/>
        </p:nvSpPr>
        <p:spPr>
          <a:xfrm>
            <a:off x="365760" y="4242816"/>
            <a:ext cx="41605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histtitle|b2"/>
          <p:cNvSpPr txBox="1"/>
          <p:nvPr/>
        </p:nvSpPr>
        <p:spPr>
          <a:xfrm>
            <a:off x="4663440" y="1152144"/>
            <a:ext cx="4114800" cy="201168"/>
          </a:xfrm>
          <a:prstGeom prst="rect">
            <a:avLst/>
          </a:prstGeom>
          <a:noFill/>
          <a:ln/>
        </p:spPr>
        <p:txBody>
          <a:bodyPr wrap="square" lIns="0" tIns="0" rIns="0" bIns="0" rtlCol="0" anchor="ctr"/>
          <a:lstStyle/>
          <a:p>
            <a:pPr indent="0" marL="0">
              <a:buNone/>
            </a:pPr>
            <a:r>
              <a:rPr lang="en-US" sz="1050" b="1" dirty="0">
                <a:solidFill>
                  <a:srgbClr val="1E2A3A"/>
                </a:solidFill>
                <a:latin typeface="Calibri" pitchFamily="34" charset="0"/>
                <a:ea typeface="Calibri" pitchFamily="34" charset="-122"/>
                <a:cs typeface="Calibri" pitchFamily="34" charset="-120"/>
              </a:rPr>
              <a:t>2000 draws of randint(0, len(messages) - 1), seed 8</a:t>
            </a:r>
            <a:endParaRPr lang="en-US" sz="1050" dirty="0"/>
          </a:p>
        </p:txBody>
      </p:sp>
      <p:sp>
        <p:nvSpPr>
          <p:cNvPr id="12" name="v:MagicEightBall:h0l|b2"/>
          <p:cNvSpPr txBox="1"/>
          <p:nvPr/>
        </p:nvSpPr>
        <p:spPr>
          <a:xfrm>
            <a:off x="4663440" y="13716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0  It is certain</a:t>
            </a:r>
            <a:endParaRPr lang="en-US" sz="1000" dirty="0"/>
          </a:p>
        </p:txBody>
      </p:sp>
      <p:sp>
        <p:nvSpPr>
          <p:cNvPr id="13" name="v:MagicEightBall:h0bar:box|b2"/>
          <p:cNvSpPr/>
          <p:nvPr/>
        </p:nvSpPr>
        <p:spPr>
          <a:xfrm>
            <a:off x="6812280" y="1389888"/>
            <a:ext cx="1230677" cy="73152"/>
          </a:xfrm>
          <a:prstGeom prst="rect">
            <a:avLst/>
          </a:prstGeom>
          <a:solidFill>
            <a:srgbClr val="306998"/>
          </a:solidFill>
          <a:ln w="12700">
            <a:solidFill>
              <a:srgbClr val="306998"/>
            </a:solidFill>
            <a:prstDash val="solid"/>
          </a:ln>
        </p:spPr>
      </p:sp>
      <p:sp>
        <p:nvSpPr>
          <p:cNvPr id="14" name="v:MagicEightBall:h0n|b2"/>
          <p:cNvSpPr txBox="1"/>
          <p:nvPr/>
        </p:nvSpPr>
        <p:spPr>
          <a:xfrm>
            <a:off x="8088677" y="13716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211</a:t>
            </a:r>
            <a:endParaRPr lang="en-US" sz="1000" dirty="0"/>
          </a:p>
        </p:txBody>
      </p:sp>
      <p:sp>
        <p:nvSpPr>
          <p:cNvPr id="15" name="v:MagicEightBall:h1l|b2"/>
          <p:cNvSpPr txBox="1"/>
          <p:nvPr/>
        </p:nvSpPr>
        <p:spPr>
          <a:xfrm>
            <a:off x="4663440" y="15087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1  It is decidedly so</a:t>
            </a:r>
            <a:endParaRPr lang="en-US" sz="1000" dirty="0"/>
          </a:p>
        </p:txBody>
      </p:sp>
      <p:sp>
        <p:nvSpPr>
          <p:cNvPr id="16" name="v:MagicEightBall:h1bar:box|b2"/>
          <p:cNvSpPr/>
          <p:nvPr/>
        </p:nvSpPr>
        <p:spPr>
          <a:xfrm>
            <a:off x="6812280" y="1527048"/>
            <a:ext cx="1388157" cy="73152"/>
          </a:xfrm>
          <a:prstGeom prst="rect">
            <a:avLst/>
          </a:prstGeom>
          <a:solidFill>
            <a:srgbClr val="306998"/>
          </a:solidFill>
          <a:ln w="12700">
            <a:solidFill>
              <a:srgbClr val="306998"/>
            </a:solidFill>
            <a:prstDash val="solid"/>
          </a:ln>
        </p:spPr>
      </p:sp>
      <p:sp>
        <p:nvSpPr>
          <p:cNvPr id="17" name="v:MagicEightBall:h1n|b2"/>
          <p:cNvSpPr txBox="1"/>
          <p:nvPr/>
        </p:nvSpPr>
        <p:spPr>
          <a:xfrm>
            <a:off x="8246157" y="15087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238</a:t>
            </a:r>
            <a:endParaRPr lang="en-US" sz="1000" dirty="0"/>
          </a:p>
        </p:txBody>
      </p:sp>
      <p:sp>
        <p:nvSpPr>
          <p:cNvPr id="18" name="v:MagicEightBall:h2l|b2"/>
          <p:cNvSpPr txBox="1"/>
          <p:nvPr/>
        </p:nvSpPr>
        <p:spPr>
          <a:xfrm>
            <a:off x="4663440" y="16459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2  Yes definitely</a:t>
            </a:r>
            <a:endParaRPr lang="en-US" sz="1000" dirty="0"/>
          </a:p>
        </p:txBody>
      </p:sp>
      <p:sp>
        <p:nvSpPr>
          <p:cNvPr id="19" name="v:MagicEightBall:h2bar:box|b2"/>
          <p:cNvSpPr/>
          <p:nvPr/>
        </p:nvSpPr>
        <p:spPr>
          <a:xfrm>
            <a:off x="6812280" y="1664208"/>
            <a:ext cx="1300668" cy="73152"/>
          </a:xfrm>
          <a:prstGeom prst="rect">
            <a:avLst/>
          </a:prstGeom>
          <a:solidFill>
            <a:srgbClr val="306998"/>
          </a:solidFill>
          <a:ln w="12700">
            <a:solidFill>
              <a:srgbClr val="306998"/>
            </a:solidFill>
            <a:prstDash val="solid"/>
          </a:ln>
        </p:spPr>
      </p:sp>
      <p:sp>
        <p:nvSpPr>
          <p:cNvPr id="20" name="v:MagicEightBall:h2n|b2"/>
          <p:cNvSpPr txBox="1"/>
          <p:nvPr/>
        </p:nvSpPr>
        <p:spPr>
          <a:xfrm>
            <a:off x="8158668" y="16459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223</a:t>
            </a:r>
            <a:endParaRPr lang="en-US" sz="1000" dirty="0"/>
          </a:p>
        </p:txBody>
      </p:sp>
      <p:sp>
        <p:nvSpPr>
          <p:cNvPr id="21" name="v:MagicEightBall:h3l|b2"/>
          <p:cNvSpPr txBox="1"/>
          <p:nvPr/>
        </p:nvSpPr>
        <p:spPr>
          <a:xfrm>
            <a:off x="4663440" y="17830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3  Reply hazy try again</a:t>
            </a:r>
            <a:endParaRPr lang="en-US" sz="1000" dirty="0"/>
          </a:p>
        </p:txBody>
      </p:sp>
      <p:sp>
        <p:nvSpPr>
          <p:cNvPr id="22" name="v:MagicEightBall:h3bar:box|b2"/>
          <p:cNvSpPr/>
          <p:nvPr/>
        </p:nvSpPr>
        <p:spPr>
          <a:xfrm>
            <a:off x="6812280" y="1801368"/>
            <a:ext cx="1189849" cy="73152"/>
          </a:xfrm>
          <a:prstGeom prst="rect">
            <a:avLst/>
          </a:prstGeom>
          <a:solidFill>
            <a:srgbClr val="306998"/>
          </a:solidFill>
          <a:ln w="12700">
            <a:solidFill>
              <a:srgbClr val="306998"/>
            </a:solidFill>
            <a:prstDash val="solid"/>
          </a:ln>
        </p:spPr>
      </p:sp>
      <p:sp>
        <p:nvSpPr>
          <p:cNvPr id="23" name="v:MagicEightBall:h3n|b2"/>
          <p:cNvSpPr txBox="1"/>
          <p:nvPr/>
        </p:nvSpPr>
        <p:spPr>
          <a:xfrm>
            <a:off x="8047849" y="17830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204</a:t>
            </a:r>
            <a:endParaRPr lang="en-US" sz="1000" dirty="0"/>
          </a:p>
        </p:txBody>
      </p:sp>
      <p:sp>
        <p:nvSpPr>
          <p:cNvPr id="24" name="v:MagicEightBall:h4l|b2"/>
          <p:cNvSpPr txBox="1"/>
          <p:nvPr/>
        </p:nvSpPr>
        <p:spPr>
          <a:xfrm>
            <a:off x="4663440" y="192024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4  Ask again later</a:t>
            </a:r>
            <a:endParaRPr lang="en-US" sz="1000" dirty="0"/>
          </a:p>
        </p:txBody>
      </p:sp>
      <p:sp>
        <p:nvSpPr>
          <p:cNvPr id="25" name="v:MagicEightBall:h4bar:box|b2"/>
          <p:cNvSpPr/>
          <p:nvPr/>
        </p:nvSpPr>
        <p:spPr>
          <a:xfrm>
            <a:off x="6812280" y="1938528"/>
            <a:ext cx="1417320" cy="73152"/>
          </a:xfrm>
          <a:prstGeom prst="rect">
            <a:avLst/>
          </a:prstGeom>
          <a:solidFill>
            <a:srgbClr val="306998"/>
          </a:solidFill>
          <a:ln w="12700">
            <a:solidFill>
              <a:srgbClr val="306998"/>
            </a:solidFill>
            <a:prstDash val="solid"/>
          </a:ln>
        </p:spPr>
      </p:sp>
      <p:sp>
        <p:nvSpPr>
          <p:cNvPr id="26" name="v:MagicEightBall:h4n|b2"/>
          <p:cNvSpPr txBox="1"/>
          <p:nvPr/>
        </p:nvSpPr>
        <p:spPr>
          <a:xfrm>
            <a:off x="8275320" y="192024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243</a:t>
            </a:r>
            <a:endParaRPr lang="en-US" sz="1000" dirty="0"/>
          </a:p>
        </p:txBody>
      </p:sp>
      <p:sp>
        <p:nvSpPr>
          <p:cNvPr id="27" name="v:MagicEightBall:h5l|b2"/>
          <p:cNvSpPr txBox="1"/>
          <p:nvPr/>
        </p:nvSpPr>
        <p:spPr>
          <a:xfrm>
            <a:off x="4663440" y="20574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5  Concentrate and ask again</a:t>
            </a:r>
            <a:endParaRPr lang="en-US" sz="1000" dirty="0"/>
          </a:p>
        </p:txBody>
      </p:sp>
      <p:sp>
        <p:nvSpPr>
          <p:cNvPr id="28" name="v:MagicEightBall:h5bar:box|b2"/>
          <p:cNvSpPr/>
          <p:nvPr/>
        </p:nvSpPr>
        <p:spPr>
          <a:xfrm>
            <a:off x="6812280" y="2075688"/>
            <a:ext cx="1271505" cy="73152"/>
          </a:xfrm>
          <a:prstGeom prst="rect">
            <a:avLst/>
          </a:prstGeom>
          <a:solidFill>
            <a:srgbClr val="306998"/>
          </a:solidFill>
          <a:ln w="12700">
            <a:solidFill>
              <a:srgbClr val="306998"/>
            </a:solidFill>
            <a:prstDash val="solid"/>
          </a:ln>
        </p:spPr>
      </p:sp>
      <p:sp>
        <p:nvSpPr>
          <p:cNvPr id="29" name="v:MagicEightBall:h5n|b2"/>
          <p:cNvSpPr txBox="1"/>
          <p:nvPr/>
        </p:nvSpPr>
        <p:spPr>
          <a:xfrm>
            <a:off x="8129505" y="20574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218</a:t>
            </a:r>
            <a:endParaRPr lang="en-US" sz="1000" dirty="0"/>
          </a:p>
        </p:txBody>
      </p:sp>
      <p:sp>
        <p:nvSpPr>
          <p:cNvPr id="30" name="v:MagicEightBall:h6l|b2"/>
          <p:cNvSpPr txBox="1"/>
          <p:nvPr/>
        </p:nvSpPr>
        <p:spPr>
          <a:xfrm>
            <a:off x="4663440" y="21945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6  My reply is no</a:t>
            </a:r>
            <a:endParaRPr lang="en-US" sz="1000" dirty="0"/>
          </a:p>
        </p:txBody>
      </p:sp>
      <p:sp>
        <p:nvSpPr>
          <p:cNvPr id="31" name="v:MagicEightBall:h6bar:box|b2"/>
          <p:cNvSpPr/>
          <p:nvPr/>
        </p:nvSpPr>
        <p:spPr>
          <a:xfrm>
            <a:off x="6812280" y="2212848"/>
            <a:ext cx="1224844" cy="73152"/>
          </a:xfrm>
          <a:prstGeom prst="rect">
            <a:avLst/>
          </a:prstGeom>
          <a:solidFill>
            <a:srgbClr val="306998"/>
          </a:solidFill>
          <a:ln w="12700">
            <a:solidFill>
              <a:srgbClr val="306998"/>
            </a:solidFill>
            <a:prstDash val="solid"/>
          </a:ln>
        </p:spPr>
      </p:sp>
      <p:sp>
        <p:nvSpPr>
          <p:cNvPr id="32" name="v:MagicEightBall:h6n|b2"/>
          <p:cNvSpPr txBox="1"/>
          <p:nvPr/>
        </p:nvSpPr>
        <p:spPr>
          <a:xfrm>
            <a:off x="8082844" y="21945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210</a:t>
            </a:r>
            <a:endParaRPr lang="en-US" sz="1000" dirty="0"/>
          </a:p>
        </p:txBody>
      </p:sp>
      <p:sp>
        <p:nvSpPr>
          <p:cNvPr id="33" name="v:MagicEightBall:h7l|b2"/>
          <p:cNvSpPr txBox="1"/>
          <p:nvPr/>
        </p:nvSpPr>
        <p:spPr>
          <a:xfrm>
            <a:off x="4663440" y="23317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7  Outlook not so good</a:t>
            </a:r>
            <a:endParaRPr lang="en-US" sz="1000" dirty="0"/>
          </a:p>
        </p:txBody>
      </p:sp>
      <p:sp>
        <p:nvSpPr>
          <p:cNvPr id="34" name="v:MagicEightBall:h7bar:box|b2"/>
          <p:cNvSpPr/>
          <p:nvPr/>
        </p:nvSpPr>
        <p:spPr>
          <a:xfrm>
            <a:off x="6812280" y="2350008"/>
            <a:ext cx="1248175" cy="73152"/>
          </a:xfrm>
          <a:prstGeom prst="rect">
            <a:avLst/>
          </a:prstGeom>
          <a:solidFill>
            <a:srgbClr val="306998"/>
          </a:solidFill>
          <a:ln w="12700">
            <a:solidFill>
              <a:srgbClr val="306998"/>
            </a:solidFill>
            <a:prstDash val="solid"/>
          </a:ln>
        </p:spPr>
      </p:sp>
      <p:sp>
        <p:nvSpPr>
          <p:cNvPr id="35" name="v:MagicEightBall:h7n|b2"/>
          <p:cNvSpPr txBox="1"/>
          <p:nvPr/>
        </p:nvSpPr>
        <p:spPr>
          <a:xfrm>
            <a:off x="8106175" y="23317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214</a:t>
            </a:r>
            <a:endParaRPr lang="en-US" sz="1000" dirty="0"/>
          </a:p>
        </p:txBody>
      </p:sp>
      <p:sp>
        <p:nvSpPr>
          <p:cNvPr id="36" name="v:MagicEightBall:h8l|b2"/>
          <p:cNvSpPr txBox="1"/>
          <p:nvPr/>
        </p:nvSpPr>
        <p:spPr>
          <a:xfrm>
            <a:off x="4663440" y="24688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8  Very doubtful</a:t>
            </a:r>
            <a:endParaRPr lang="en-US" sz="1000" dirty="0"/>
          </a:p>
        </p:txBody>
      </p:sp>
      <p:sp>
        <p:nvSpPr>
          <p:cNvPr id="37" name="v:MagicEightBall:h8bar:box|b2"/>
          <p:cNvSpPr/>
          <p:nvPr/>
        </p:nvSpPr>
        <p:spPr>
          <a:xfrm>
            <a:off x="6812280" y="2487168"/>
            <a:ext cx="1393990" cy="73152"/>
          </a:xfrm>
          <a:prstGeom prst="rect">
            <a:avLst/>
          </a:prstGeom>
          <a:solidFill>
            <a:srgbClr val="306998"/>
          </a:solidFill>
          <a:ln w="12700">
            <a:solidFill>
              <a:srgbClr val="306998"/>
            </a:solidFill>
            <a:prstDash val="solid"/>
          </a:ln>
        </p:spPr>
      </p:sp>
      <p:sp>
        <p:nvSpPr>
          <p:cNvPr id="38" name="v:MagicEightBall:h8n|b2"/>
          <p:cNvSpPr txBox="1"/>
          <p:nvPr/>
        </p:nvSpPr>
        <p:spPr>
          <a:xfrm>
            <a:off x="8251990" y="24688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239</a:t>
            </a:r>
            <a:endParaRPr lang="en-US" sz="1000" dirty="0"/>
          </a:p>
        </p:txBody>
      </p:sp>
      <p:sp>
        <p:nvSpPr>
          <p:cNvPr id="39" name="v:RandomShuffle:f0box:box|b3"/>
          <p:cNvSpPr/>
          <p:nvPr/>
        </p:nvSpPr>
        <p:spPr>
          <a:xfrm>
            <a:off x="4663440" y="2724912"/>
            <a:ext cx="4114800" cy="579120"/>
          </a:xfrm>
          <a:prstGeom prst="roundRect">
            <a:avLst>
              <a:gd name="adj" fmla="val 12632"/>
            </a:avLst>
          </a:prstGeom>
          <a:solidFill>
            <a:srgbClr val="F1F4F8"/>
          </a:solidFill>
          <a:ln w="12700">
            <a:solidFill>
              <a:srgbClr val="F1F4F8"/>
            </a:solidFill>
            <a:prstDash val="solid"/>
          </a:ln>
        </p:spPr>
      </p:sp>
      <p:sp>
        <p:nvSpPr>
          <p:cNvPr id="40" name="v:RandomShuffle:f0t|b3"/>
          <p:cNvSpPr txBox="1"/>
          <p:nvPr/>
        </p:nvSpPr>
        <p:spPr>
          <a:xfrm>
            <a:off x="4773168" y="2743200"/>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choice returns one item and leaves the list alone</a:t>
            </a:r>
            <a:endParaRPr lang="en-US" sz="1000" dirty="0"/>
          </a:p>
        </p:txBody>
      </p:sp>
      <p:sp>
        <p:nvSpPr>
          <p:cNvPr id="41" name="v:RandomShuffle:f0e|b3"/>
          <p:cNvSpPr txBox="1"/>
          <p:nvPr/>
        </p:nvSpPr>
        <p:spPr>
          <a:xfrm>
            <a:off x="4773168" y="2916936"/>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random.choice(['Dog', 'Cat', 'Moose'])</a:t>
            </a:r>
            <a:endParaRPr lang="en-US" sz="950" dirty="0"/>
          </a:p>
        </p:txBody>
      </p:sp>
      <p:sp>
        <p:nvSpPr>
          <p:cNvPr id="42" name="v:RandomShuffle:f0r|b3"/>
          <p:cNvSpPr txBox="1"/>
          <p:nvPr/>
        </p:nvSpPr>
        <p:spPr>
          <a:xfrm>
            <a:off x="4773168" y="3090672"/>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'Dog'</a:t>
            </a:r>
            <a:endParaRPr lang="en-US" sz="1100" dirty="0"/>
          </a:p>
        </p:txBody>
      </p:sp>
      <p:sp>
        <p:nvSpPr>
          <p:cNvPr id="43" name="v:RandomShuffle:f1box:box|b4"/>
          <p:cNvSpPr/>
          <p:nvPr/>
        </p:nvSpPr>
        <p:spPr>
          <a:xfrm>
            <a:off x="4663440" y="3368040"/>
            <a:ext cx="4114800" cy="579120"/>
          </a:xfrm>
          <a:prstGeom prst="roundRect">
            <a:avLst>
              <a:gd name="adj" fmla="val 12632"/>
            </a:avLst>
          </a:prstGeom>
          <a:solidFill>
            <a:srgbClr val="F1F4F8"/>
          </a:solidFill>
          <a:ln w="12700">
            <a:solidFill>
              <a:srgbClr val="F1F4F8"/>
            </a:solidFill>
            <a:prstDash val="solid"/>
          </a:ln>
        </p:spPr>
      </p:sp>
      <p:sp>
        <p:nvSpPr>
          <p:cNvPr id="44" name="v:RandomShuffle:f1t|b4"/>
          <p:cNvSpPr txBox="1"/>
          <p:nvPr/>
        </p:nvSpPr>
        <p:spPr>
          <a:xfrm>
            <a:off x="4773168" y="3386328"/>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shuffle reorders the list itself and returns None</a:t>
            </a:r>
            <a:endParaRPr lang="en-US" sz="1000" dirty="0"/>
          </a:p>
        </p:txBody>
      </p:sp>
      <p:sp>
        <p:nvSpPr>
          <p:cNvPr id="45" name="v:RandomShuffle:f1e|b4"/>
          <p:cNvSpPr txBox="1"/>
          <p:nvPr/>
        </p:nvSpPr>
        <p:spPr>
          <a:xfrm>
            <a:off x="4773168" y="3560064"/>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(random.shuffle(people), people)</a:t>
            </a:r>
            <a:endParaRPr lang="en-US" sz="950" dirty="0"/>
          </a:p>
        </p:txBody>
      </p:sp>
      <p:sp>
        <p:nvSpPr>
          <p:cNvPr id="46" name="v:RandomShuffle:f1r|b4"/>
          <p:cNvSpPr txBox="1"/>
          <p:nvPr/>
        </p:nvSpPr>
        <p:spPr>
          <a:xfrm>
            <a:off x="4773168" y="3733800"/>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(None, ['David', 'Alice', 'Carol', 'Bob'])</a:t>
            </a:r>
            <a:endParaRPr lang="en-US" sz="1100" dirty="0"/>
          </a:p>
        </p:txBody>
      </p:sp>
      <p:sp>
        <p:nvSpPr>
          <p:cNvPr id="47" name="v:RandomShuffle:f2box:box|b5"/>
          <p:cNvSpPr/>
          <p:nvPr/>
        </p:nvSpPr>
        <p:spPr>
          <a:xfrm>
            <a:off x="4663440" y="4011168"/>
            <a:ext cx="4114800" cy="579120"/>
          </a:xfrm>
          <a:prstGeom prst="roundRect">
            <a:avLst>
              <a:gd name="adj" fmla="val 12632"/>
            </a:avLst>
          </a:prstGeom>
          <a:solidFill>
            <a:srgbClr val="F1F4F8"/>
          </a:solidFill>
          <a:ln w="12700">
            <a:solidFill>
              <a:srgbClr val="F1F4F8"/>
            </a:solidFill>
            <a:prstDash val="solid"/>
          </a:ln>
        </p:spPr>
      </p:sp>
      <p:sp>
        <p:nvSpPr>
          <p:cNvPr id="48" name="v:RandomShuffle:f2t|b5"/>
          <p:cNvSpPr txBox="1"/>
          <p:nvPr/>
        </p:nvSpPr>
        <p:spPr>
          <a:xfrm>
            <a:off x="4773168" y="4029456"/>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sample with k = len returns a new shuffled list</a:t>
            </a:r>
            <a:endParaRPr lang="en-US" sz="1000" dirty="0"/>
          </a:p>
        </p:txBody>
      </p:sp>
      <p:sp>
        <p:nvSpPr>
          <p:cNvPr id="49" name="v:RandomShuffle:f2e|b5"/>
          <p:cNvSpPr txBox="1"/>
          <p:nvPr/>
        </p:nvSpPr>
        <p:spPr>
          <a:xfrm>
            <a:off x="4773168" y="4203192"/>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random.sample(people, k=len(people))</a:t>
            </a:r>
            <a:endParaRPr lang="en-US" sz="950" dirty="0"/>
          </a:p>
        </p:txBody>
      </p:sp>
      <p:sp>
        <p:nvSpPr>
          <p:cNvPr id="50" name="v:RandomShuffle:f2r|b5"/>
          <p:cNvSpPr txBox="1"/>
          <p:nvPr/>
        </p:nvSpPr>
        <p:spPr>
          <a:xfrm>
            <a:off x="4773168" y="4376928"/>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['Bob', 'Carol', 'Alice', 'David']</a:t>
            </a:r>
            <a:endParaRPr lang="en-US" sz="11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Magic eight ball, Random choice, Random shuffle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98" fill="hold">
                      <p:stCondLst>
                        <p:cond delay="indefinite"/>
                      </p:stCondLst>
                      <p:childTnLst>
                        <p:par>
                          <p:cTn id="99"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400"/>
                                        <p:tgtEl>
                                          <p:spTgt spid="3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400"/>
                                        <p:tgtEl>
                                          <p:spTgt spid="42"/>
                                        </p:tgtEl>
                                      </p:cBhvr>
                                    </p:animEffect>
                                  </p:childTnLst>
                                </p:cTn>
                              </p:par>
                            </p:childTnLst>
                          </p:cTn>
                        </p:par>
                      </p:childTnLst>
                    </p:cTn>
                  </p:par>
                  <p:par>
                    <p:cTn id="126" fill="hold">
                      <p:stCondLst>
                        <p:cond delay="indefinite"/>
                      </p:stCondLst>
                      <p:childTnLst>
                        <p:par>
                          <p:cTn id="127"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400"/>
                                        <p:tgtEl>
                                          <p:spTgt spid="4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400"/>
                                        <p:tgtEl>
                                          <p:spTgt spid="4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400"/>
                                        <p:tgtEl>
                                          <p:spTgt spid="4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400"/>
                                        <p:tgtEl>
                                          <p:spTgt spid="46"/>
                                        </p:tgtEl>
                                      </p:cBhvr>
                                    </p:animEffect>
                                  </p:childTnLst>
                                </p:cTn>
                              </p:par>
                            </p:childTnLst>
                          </p:cTn>
                        </p:par>
                      </p:childTnLst>
                    </p:cTn>
                  </p:par>
                  <p:par>
                    <p:cTn id="140" fill="hold">
                      <p:stCondLst>
                        <p:cond delay="indefinite"/>
                      </p:stCondLst>
                      <p:childTnLst>
                        <p:par>
                          <p:cTn id="141"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P spid="33" grpId="0" animBg="1"/>
      <p:bldP spid="35" grpId="0" animBg="1"/>
      <p:bldP spid="36" grpId="0" animBg="1"/>
      <p:bldP spid="38" grpId="0" animBg="1"/>
      <p:bldP spid="40" grpId="0" animBg="1"/>
      <p:bldP spid="41" grpId="0" animBg="1"/>
      <p:bldP spid="42" grpId="0" animBg="1"/>
      <p:bldP spid="44" grpId="0" animBg="1"/>
      <p:bldP spid="45" grpId="0" animBg="1"/>
      <p:bldP spid="46" grpId="0" animBg="1"/>
      <p:bldP spid="48" grpId="0" animBg="1"/>
      <p:bldP spid="49" grpId="0" animBg="1"/>
      <p:bldP spid="5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Matrix screensaver: one counter per column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2 of the chapter: a list of 70 counters, printed row by row</a:t>
            </a:r>
            <a:endParaRPr lang="en-US" sz="1400" dirty="0"/>
          </a:p>
        </p:txBody>
      </p:sp>
      <p:sp>
        <p:nvSpPr>
          <p:cNvPr id="6" name="v:MatrixScreensaver:f0label|b1"/>
          <p:cNvSpPr txBox="1"/>
          <p:nvPr/>
        </p:nvSpPr>
        <p:spPr>
          <a:xfrm>
            <a:off x="365760" y="1170432"/>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1 to 6: streams begin</a:t>
            </a:r>
            <a:endParaRPr lang="en-US" sz="1100" dirty="0"/>
          </a:p>
        </p:txBody>
      </p:sp>
      <p:sp>
        <p:nvSpPr>
          <p:cNvPr id="7" name="v:MatrixScreensaver:f0box:box|b1"/>
          <p:cNvSpPr/>
          <p:nvPr/>
        </p:nvSpPr>
        <p:spPr>
          <a:xfrm>
            <a:off x="365760" y="1389888"/>
            <a:ext cx="5212080" cy="943661"/>
          </a:xfrm>
          <a:prstGeom prst="roundRect">
            <a:avLst>
              <a:gd name="adj" fmla="val 5814"/>
            </a:avLst>
          </a:prstGeom>
          <a:solidFill>
            <a:srgbClr val="17202B"/>
          </a:solidFill>
          <a:ln w="12700">
            <a:solidFill>
              <a:srgbClr val="17202B"/>
            </a:solidFill>
            <a:prstDash val="solid"/>
          </a:ln>
        </p:spPr>
      </p:sp>
      <p:sp>
        <p:nvSpPr>
          <p:cNvPr id="8" name="v:MatrixScreensaver:f0r0|b1"/>
          <p:cNvSpPr txBox="1"/>
          <p:nvPr/>
        </p:nvSpPr>
        <p:spPr>
          <a:xfrm>
            <a:off x="475488" y="144475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9" name="v:MatrixScreensaver:f0r1|b1"/>
          <p:cNvSpPr txBox="1"/>
          <p:nvPr/>
        </p:nvSpPr>
        <p:spPr>
          <a:xfrm>
            <a:off x="475488" y="158374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a:t>
            </a:r>
            <a:endParaRPr lang="en-US" sz="900" dirty="0"/>
          </a:p>
        </p:txBody>
      </p:sp>
      <p:sp>
        <p:nvSpPr>
          <p:cNvPr id="10" name="v:MatrixScreensaver:f0r2|b1"/>
          <p:cNvSpPr txBox="1"/>
          <p:nvPr/>
        </p:nvSpPr>
        <p:spPr>
          <a:xfrm>
            <a:off x="475488" y="172273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11" name="v:MatrixScreensaver:f0r3|b1"/>
          <p:cNvSpPr txBox="1"/>
          <p:nvPr/>
        </p:nvSpPr>
        <p:spPr>
          <a:xfrm>
            <a:off x="475488" y="186171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1               1        1                             1             1</a:t>
            </a:r>
            <a:endParaRPr lang="en-US" sz="900" dirty="0"/>
          </a:p>
        </p:txBody>
      </p:sp>
      <p:sp>
        <p:nvSpPr>
          <p:cNvPr id="12" name="v:MatrixScreensaver:f0r4|b1"/>
          <p:cNvSpPr txBox="1"/>
          <p:nvPr/>
        </p:nvSpPr>
        <p:spPr>
          <a:xfrm>
            <a:off x="475488" y="200070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1       1       1        0                             1             0</a:t>
            </a:r>
            <a:endParaRPr lang="en-US" sz="900" dirty="0"/>
          </a:p>
        </p:txBody>
      </p:sp>
      <p:sp>
        <p:nvSpPr>
          <p:cNvPr id="13" name="v:MatrixScreensaver:f0r5|b1"/>
          <p:cNvSpPr txBox="1"/>
          <p:nvPr/>
        </p:nvSpPr>
        <p:spPr>
          <a:xfrm>
            <a:off x="475488" y="213969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1       1       0     0  1                             0           1 1</a:t>
            </a:r>
            <a:endParaRPr lang="en-US" sz="900" dirty="0"/>
          </a:p>
        </p:txBody>
      </p:sp>
      <p:sp>
        <p:nvSpPr>
          <p:cNvPr id="14" name="v:MatrixScreensaver:f1label|b2"/>
          <p:cNvSpPr txBox="1"/>
          <p:nvPr/>
        </p:nvSpPr>
        <p:spPr>
          <a:xfrm>
            <a:off x="365760" y="2406701"/>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295 to 300</a:t>
            </a:r>
            <a:endParaRPr lang="en-US" sz="1100" dirty="0"/>
          </a:p>
        </p:txBody>
      </p:sp>
      <p:sp>
        <p:nvSpPr>
          <p:cNvPr id="15" name="v:MatrixScreensaver:f1box:box|b2"/>
          <p:cNvSpPr/>
          <p:nvPr/>
        </p:nvSpPr>
        <p:spPr>
          <a:xfrm>
            <a:off x="365760" y="2626157"/>
            <a:ext cx="5212080" cy="943661"/>
          </a:xfrm>
          <a:prstGeom prst="roundRect">
            <a:avLst>
              <a:gd name="adj" fmla="val 5814"/>
            </a:avLst>
          </a:prstGeom>
          <a:solidFill>
            <a:srgbClr val="17202B"/>
          </a:solidFill>
          <a:ln w="12700">
            <a:solidFill>
              <a:srgbClr val="17202B"/>
            </a:solidFill>
            <a:prstDash val="solid"/>
          </a:ln>
        </p:spPr>
      </p:sp>
      <p:sp>
        <p:nvSpPr>
          <p:cNvPr id="16" name="v:MatrixScreensaver:f1r0|b2"/>
          <p:cNvSpPr txBox="1"/>
          <p:nvPr/>
        </p:nvSpPr>
        <p:spPr>
          <a:xfrm>
            <a:off x="475488" y="268102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0      0   1 0 0    0 0  01     0   01  0             01    </a:t>
            </a:r>
            <a:endParaRPr lang="en-US" sz="900" dirty="0"/>
          </a:p>
        </p:txBody>
      </p:sp>
      <p:sp>
        <p:nvSpPr>
          <p:cNvPr id="17" name="v:MatrixScreensaver:f1r1|b2"/>
          <p:cNvSpPr txBox="1"/>
          <p:nvPr/>
        </p:nvSpPr>
        <p:spPr>
          <a:xfrm>
            <a:off x="475488" y="282001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01          1 0 1    1 1  11     0   01  1             10    </a:t>
            </a:r>
            <a:endParaRPr lang="en-US" sz="900" dirty="0"/>
          </a:p>
        </p:txBody>
      </p:sp>
      <p:sp>
        <p:nvSpPr>
          <p:cNvPr id="18" name="v:MatrixScreensaver:f1r2|b2"/>
          <p:cNvSpPr txBox="1"/>
          <p:nvPr/>
        </p:nvSpPr>
        <p:spPr>
          <a:xfrm>
            <a:off x="475488" y="295899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01   1        0 1    1 1  10 1   0   01  1             10    </a:t>
            </a:r>
            <a:endParaRPr lang="en-US" sz="900" dirty="0"/>
          </a:p>
        </p:txBody>
      </p:sp>
      <p:sp>
        <p:nvSpPr>
          <p:cNvPr id="19" name="v:MatrixScreensaver:f1r3|b2"/>
          <p:cNvSpPr txBox="1"/>
          <p:nvPr/>
        </p:nvSpPr>
        <p:spPr>
          <a:xfrm>
            <a:off x="475488" y="309798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0       01   0        0 1 1  0 0  11 0   0    0  0             10    </a:t>
            </a:r>
            <a:endParaRPr lang="en-US" sz="900" dirty="0"/>
          </a:p>
        </p:txBody>
      </p:sp>
      <p:sp>
        <p:nvSpPr>
          <p:cNvPr id="20" name="v:MatrixScreensaver:f1r4|b2"/>
          <p:cNvSpPr txBox="1"/>
          <p:nvPr/>
        </p:nvSpPr>
        <p:spPr>
          <a:xfrm>
            <a:off x="475488" y="323697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0       0    0        0 1 0    1  00 0   0    0  1             10    </a:t>
            </a:r>
            <a:endParaRPr lang="en-US" sz="900" dirty="0"/>
          </a:p>
        </p:txBody>
      </p:sp>
      <p:sp>
        <p:nvSpPr>
          <p:cNvPr id="21" name="v:MatrixScreensaver:f1r5|b2"/>
          <p:cNvSpPr txBox="1"/>
          <p:nvPr/>
        </p:nvSpPr>
        <p:spPr>
          <a:xfrm>
            <a:off x="475488" y="3375965"/>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2" name="v:MatrixScreensaver:hz0label|b4"/>
          <p:cNvSpPr txBox="1"/>
          <p:nvPr/>
        </p:nvSpPr>
        <p:spPr>
          <a:xfrm>
            <a:off x="365760" y="3642970"/>
            <a:ext cx="3840480" cy="20116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counter decremented only for a column above zero (the chapter)</a:t>
            </a:r>
            <a:endParaRPr lang="en-US" sz="1050" dirty="0"/>
          </a:p>
        </p:txBody>
      </p:sp>
      <p:sp>
        <p:nvSpPr>
          <p:cNvPr id="23" name="v:MatrixScreensaver:hz0n|b4"/>
          <p:cNvSpPr txBox="1"/>
          <p:nvPr/>
        </p:nvSpPr>
        <p:spPr>
          <a:xfrm>
            <a:off x="4206240" y="3642970"/>
            <a:ext cx="1371600" cy="201168"/>
          </a:xfrm>
          <a:prstGeom prst="rect">
            <a:avLst/>
          </a:prstGeom>
          <a:noFill/>
          <a:ln/>
        </p:spPr>
        <p:txBody>
          <a:bodyPr wrap="square" lIns="0" tIns="0" rIns="0" bIns="0" rtlCol="0" anchor="ctr"/>
          <a:lstStyle/>
          <a:p>
            <a:pPr algn="r" indent="0" marL="0">
              <a:buNone/>
            </a:pPr>
            <a:r>
              <a:rPr lang="en-US" sz="1050" b="1" dirty="0">
                <a:solidFill>
                  <a:srgbClr val="2E9E5B"/>
                </a:solidFill>
                <a:latin typeface="Calibri" pitchFamily="34" charset="0"/>
                <a:ea typeface="Calibri" pitchFamily="34" charset="-122"/>
                <a:cs typeface="Calibri" pitchFamily="34" charset="-120"/>
              </a:rPr>
              <a:t>57 spaces</a:t>
            </a:r>
            <a:endParaRPr lang="en-US" sz="1050" dirty="0"/>
          </a:p>
        </p:txBody>
      </p:sp>
      <p:sp>
        <p:nvSpPr>
          <p:cNvPr id="24" name="v:MatrixScreensaver:hz0box:box|b4"/>
          <p:cNvSpPr/>
          <p:nvPr/>
        </p:nvSpPr>
        <p:spPr>
          <a:xfrm>
            <a:off x="365760" y="3853282"/>
            <a:ext cx="5212080" cy="230429"/>
          </a:xfrm>
          <a:prstGeom prst="roundRect">
            <a:avLst>
              <a:gd name="adj" fmla="val 19841"/>
            </a:avLst>
          </a:prstGeom>
          <a:solidFill>
            <a:srgbClr val="17202B"/>
          </a:solidFill>
          <a:ln w="19050">
            <a:solidFill>
              <a:srgbClr val="2E9E5B"/>
            </a:solidFill>
            <a:prstDash val="solid"/>
          </a:ln>
        </p:spPr>
      </p:sp>
      <p:sp>
        <p:nvSpPr>
          <p:cNvPr id="25" name="v:MatrixScreensaver:hz0|b4"/>
          <p:cNvSpPr txBox="1"/>
          <p:nvPr/>
        </p:nvSpPr>
        <p:spPr>
          <a:xfrm>
            <a:off x="475488" y="389900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6" name="v:MatrixScreensaver:hz1label|b4"/>
          <p:cNvSpPr txBox="1"/>
          <p:nvPr/>
        </p:nvSpPr>
        <p:spPr>
          <a:xfrm>
            <a:off x="365760" y="4175150"/>
            <a:ext cx="3840480" cy="201168"/>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counter decremented for every column</a:t>
            </a:r>
            <a:endParaRPr lang="en-US" sz="1050" dirty="0"/>
          </a:p>
        </p:txBody>
      </p:sp>
      <p:sp>
        <p:nvSpPr>
          <p:cNvPr id="27" name="v:MatrixScreensaver:hz1n|b4"/>
          <p:cNvSpPr txBox="1"/>
          <p:nvPr/>
        </p:nvSpPr>
        <p:spPr>
          <a:xfrm>
            <a:off x="4206240" y="4175150"/>
            <a:ext cx="1371600" cy="201168"/>
          </a:xfrm>
          <a:prstGeom prst="rect">
            <a:avLst/>
          </a:prstGeom>
          <a:noFill/>
          <a:ln/>
        </p:spPr>
        <p:txBody>
          <a:bodyPr wrap="square" lIns="0" tIns="0" rIns="0" bIns="0" rtlCol="0" anchor="ctr"/>
          <a:lstStyle/>
          <a:p>
            <a:pPr algn="r" indent="0" marL="0">
              <a:buNone/>
            </a:pPr>
            <a:r>
              <a:rPr lang="en-US" sz="1050" b="1" dirty="0">
                <a:solidFill>
                  <a:srgbClr val="D64545"/>
                </a:solidFill>
                <a:latin typeface="Calibri" pitchFamily="34" charset="0"/>
                <a:ea typeface="Calibri" pitchFamily="34" charset="-122"/>
                <a:cs typeface="Calibri" pitchFamily="34" charset="-120"/>
              </a:rPr>
              <a:t>0 spaces</a:t>
            </a:r>
            <a:endParaRPr lang="en-US" sz="1050" dirty="0"/>
          </a:p>
        </p:txBody>
      </p:sp>
      <p:sp>
        <p:nvSpPr>
          <p:cNvPr id="28" name="v:MatrixScreensaver:hz1box:box|b4"/>
          <p:cNvSpPr/>
          <p:nvPr/>
        </p:nvSpPr>
        <p:spPr>
          <a:xfrm>
            <a:off x="365760" y="4385462"/>
            <a:ext cx="5212080" cy="230429"/>
          </a:xfrm>
          <a:prstGeom prst="roundRect">
            <a:avLst>
              <a:gd name="adj" fmla="val 19841"/>
            </a:avLst>
          </a:prstGeom>
          <a:solidFill>
            <a:srgbClr val="17202B"/>
          </a:solidFill>
          <a:ln w="19050">
            <a:solidFill>
              <a:srgbClr val="D64545"/>
            </a:solidFill>
            <a:prstDash val="solid"/>
          </a:ln>
        </p:spPr>
      </p:sp>
      <p:sp>
        <p:nvSpPr>
          <p:cNvPr id="29" name="v:MatrixScreensaver:hz1|b4"/>
          <p:cNvSpPr txBox="1"/>
          <p:nvPr/>
        </p:nvSpPr>
        <p:spPr>
          <a:xfrm>
            <a:off x="475488" y="4431182"/>
            <a:ext cx="5029200" cy="138989"/>
          </a:xfrm>
          <a:prstGeom prst="rect">
            <a:avLst/>
          </a:prstGeom>
          <a:noFill/>
          <a:ln/>
        </p:spPr>
        <p:txBody>
          <a:bodyPr wrap="square" lIns="0" tIns="0" rIns="0" bIns="0" rtlCol="0" anchor="ctr"/>
          <a:lstStyle/>
          <a:p>
            <a:pPr indent="0" marL="0">
              <a:buNone/>
            </a:pPr>
            <a:r>
              <a:rPr lang="en-US" sz="900" dirty="0">
                <a:solidFill>
                  <a:srgbClr val="FF7B72"/>
                </a:solidFill>
                <a:latin typeface="Courier New" pitchFamily="34" charset="0"/>
                <a:ea typeface="Courier New" pitchFamily="34" charset="-122"/>
                <a:cs typeface="Courier New" pitchFamily="34" charset="-120"/>
              </a:rPr>
              <a:t>0100100111001010011101010111100000111101000101110111110000101100001101</a:t>
            </a:r>
            <a:endParaRPr lang="en-US" sz="900" dirty="0"/>
          </a:p>
        </p:txBody>
      </p:sp>
      <p:sp>
        <p:nvSpPr>
          <p:cNvPr id="30" name="lifetitle|b2"/>
          <p:cNvSpPr txBox="1"/>
          <p:nvPr/>
        </p:nvSpPr>
        <p:spPr>
          <a:xfrm>
            <a:off x="5852160" y="118872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One column, pass by pass (column 45)</a:t>
            </a:r>
            <a:endParaRPr lang="en-US" sz="1100" dirty="0"/>
          </a:p>
        </p:txBody>
      </p:sp>
      <p:sp>
        <p:nvSpPr>
          <p:cNvPr id="31" name="v:MatrixScreensaver:life.h0:box|b2"/>
          <p:cNvSpPr/>
          <p:nvPr/>
        </p:nvSpPr>
        <p:spPr>
          <a:xfrm>
            <a:off x="5852160" y="1444752"/>
            <a:ext cx="649224" cy="384048"/>
          </a:xfrm>
          <a:prstGeom prst="rect">
            <a:avLst/>
          </a:prstGeom>
          <a:solidFill>
            <a:srgbClr val="1E2A3A"/>
          </a:solidFill>
          <a:ln w="12700">
            <a:solidFill>
              <a:srgbClr val="1E2A3A"/>
            </a:solidFill>
            <a:prstDash val="solid"/>
          </a:ln>
        </p:spPr>
      </p:sp>
      <p:sp>
        <p:nvSpPr>
          <p:cNvPr id="32" name="v:MatrixScreensaver:life.h0|b2"/>
          <p:cNvSpPr txBox="1"/>
          <p:nvPr/>
        </p:nvSpPr>
        <p:spPr>
          <a:xfrm>
            <a:off x="5888736" y="1444752"/>
            <a:ext cx="5760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row</a:t>
            </a:r>
            <a:endParaRPr lang="en-US" sz="1000" dirty="0"/>
          </a:p>
        </p:txBody>
      </p:sp>
      <p:sp>
        <p:nvSpPr>
          <p:cNvPr id="33" name="v:MatrixScreensaver:life.h1:box|b2"/>
          <p:cNvSpPr/>
          <p:nvPr/>
        </p:nvSpPr>
        <p:spPr>
          <a:xfrm>
            <a:off x="6537960" y="1444752"/>
            <a:ext cx="832104" cy="384048"/>
          </a:xfrm>
          <a:prstGeom prst="rect">
            <a:avLst/>
          </a:prstGeom>
          <a:solidFill>
            <a:srgbClr val="1E2A3A"/>
          </a:solidFill>
          <a:ln w="12700">
            <a:solidFill>
              <a:srgbClr val="1E2A3A"/>
            </a:solidFill>
            <a:prstDash val="solid"/>
          </a:ln>
        </p:spPr>
      </p:sp>
      <p:sp>
        <p:nvSpPr>
          <p:cNvPr id="34" name="v:MatrixScreensaver:life.h1|b2"/>
          <p:cNvSpPr txBox="1"/>
          <p:nvPr/>
        </p:nvSpPr>
        <p:spPr>
          <a:xfrm>
            <a:off x="6574536" y="1444752"/>
            <a:ext cx="75895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printed</a:t>
            </a:r>
            <a:endParaRPr lang="en-US" sz="1000" dirty="0"/>
          </a:p>
        </p:txBody>
      </p:sp>
      <p:sp>
        <p:nvSpPr>
          <p:cNvPr id="35" name="v:MatrixScreensaver:life.h2:box|b2"/>
          <p:cNvSpPr/>
          <p:nvPr/>
        </p:nvSpPr>
        <p:spPr>
          <a:xfrm>
            <a:off x="7406640" y="1444752"/>
            <a:ext cx="1335024" cy="384048"/>
          </a:xfrm>
          <a:prstGeom prst="rect">
            <a:avLst/>
          </a:prstGeom>
          <a:solidFill>
            <a:srgbClr val="1E2A3A"/>
          </a:solidFill>
          <a:ln w="12700">
            <a:solidFill>
              <a:srgbClr val="1E2A3A"/>
            </a:solidFill>
            <a:prstDash val="solid"/>
          </a:ln>
        </p:spPr>
      </p:sp>
      <p:sp>
        <p:nvSpPr>
          <p:cNvPr id="36" name="v:MatrixScreensaver:life.h2|b2"/>
          <p:cNvSpPr txBox="1"/>
          <p:nvPr/>
        </p:nvSpPr>
        <p:spPr>
          <a:xfrm>
            <a:off x="7443216" y="1444752"/>
            <a:ext cx="12618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counter after the row</a:t>
            </a:r>
            <a:endParaRPr lang="en-US" sz="1000" dirty="0"/>
          </a:p>
        </p:txBody>
      </p:sp>
      <p:sp>
        <p:nvSpPr>
          <p:cNvPr id="37" name="v:MatrixScreensaver:life.r0c0:box|b2"/>
          <p:cNvSpPr/>
          <p:nvPr/>
        </p:nvSpPr>
        <p:spPr>
          <a:xfrm>
            <a:off x="5852160" y="1865376"/>
            <a:ext cx="649224" cy="256032"/>
          </a:xfrm>
          <a:prstGeom prst="rect">
            <a:avLst/>
          </a:prstGeom>
          <a:solidFill>
            <a:srgbClr val="F1F4F8"/>
          </a:solidFill>
          <a:ln w="12700">
            <a:solidFill>
              <a:srgbClr val="F1F4F8"/>
            </a:solidFill>
            <a:prstDash val="solid"/>
          </a:ln>
        </p:spPr>
      </p:sp>
      <p:sp>
        <p:nvSpPr>
          <p:cNvPr id="38" name="v:MatrixScreensaver:life.r0c0|b2"/>
          <p:cNvSpPr txBox="1"/>
          <p:nvPr/>
        </p:nvSpPr>
        <p:spPr>
          <a:xfrm>
            <a:off x="5888736" y="186537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6</a:t>
            </a:r>
            <a:endParaRPr lang="en-US" sz="1100" dirty="0"/>
          </a:p>
        </p:txBody>
      </p:sp>
      <p:sp>
        <p:nvSpPr>
          <p:cNvPr id="39" name="v:MatrixScreensaver:life.r0c1:box|b2"/>
          <p:cNvSpPr/>
          <p:nvPr/>
        </p:nvSpPr>
        <p:spPr>
          <a:xfrm>
            <a:off x="6537960" y="1865376"/>
            <a:ext cx="832104" cy="256032"/>
          </a:xfrm>
          <a:prstGeom prst="rect">
            <a:avLst/>
          </a:prstGeom>
          <a:solidFill>
            <a:srgbClr val="F1F4F8"/>
          </a:solidFill>
          <a:ln w="12700">
            <a:solidFill>
              <a:srgbClr val="F1F4F8"/>
            </a:solidFill>
            <a:prstDash val="solid"/>
          </a:ln>
        </p:spPr>
      </p:sp>
      <p:sp>
        <p:nvSpPr>
          <p:cNvPr id="40" name="v:MatrixScreensaver:life.r0c1|b2"/>
          <p:cNvSpPr txBox="1"/>
          <p:nvPr/>
        </p:nvSpPr>
        <p:spPr>
          <a:xfrm>
            <a:off x="6574536" y="186537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41" name="v:MatrixScreensaver:life.r0c2:box|b2"/>
          <p:cNvSpPr/>
          <p:nvPr/>
        </p:nvSpPr>
        <p:spPr>
          <a:xfrm>
            <a:off x="7406640" y="1865376"/>
            <a:ext cx="1335024" cy="256032"/>
          </a:xfrm>
          <a:prstGeom prst="rect">
            <a:avLst/>
          </a:prstGeom>
          <a:solidFill>
            <a:srgbClr val="F1F4F8"/>
          </a:solidFill>
          <a:ln w="12700">
            <a:solidFill>
              <a:srgbClr val="F1F4F8"/>
            </a:solidFill>
            <a:prstDash val="solid"/>
          </a:ln>
        </p:spPr>
      </p:sp>
      <p:sp>
        <p:nvSpPr>
          <p:cNvPr id="42" name="v:MatrixScreensaver:life.r0c2|b2"/>
          <p:cNvSpPr txBox="1"/>
          <p:nvPr/>
        </p:nvSpPr>
        <p:spPr>
          <a:xfrm>
            <a:off x="7443216" y="186537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43" name="v:MatrixScreensaver:life.r1c0:box|b2"/>
          <p:cNvSpPr/>
          <p:nvPr/>
        </p:nvSpPr>
        <p:spPr>
          <a:xfrm>
            <a:off x="5852160" y="2148840"/>
            <a:ext cx="649224" cy="256032"/>
          </a:xfrm>
          <a:prstGeom prst="rect">
            <a:avLst/>
          </a:prstGeom>
          <a:solidFill>
            <a:srgbClr val="DDF3E6"/>
          </a:solidFill>
          <a:ln w="12700">
            <a:solidFill>
              <a:srgbClr val="2E9E5B"/>
            </a:solidFill>
            <a:prstDash val="solid"/>
          </a:ln>
        </p:spPr>
      </p:sp>
      <p:sp>
        <p:nvSpPr>
          <p:cNvPr id="44" name="v:MatrixScreensaver:life.r1c0|b2"/>
          <p:cNvSpPr txBox="1"/>
          <p:nvPr/>
        </p:nvSpPr>
        <p:spPr>
          <a:xfrm>
            <a:off x="5888736" y="2148840"/>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7</a:t>
            </a:r>
            <a:endParaRPr lang="en-US" sz="1100" dirty="0"/>
          </a:p>
        </p:txBody>
      </p:sp>
      <p:sp>
        <p:nvSpPr>
          <p:cNvPr id="45" name="v:MatrixScreensaver:life.r1c1:box|b2"/>
          <p:cNvSpPr/>
          <p:nvPr/>
        </p:nvSpPr>
        <p:spPr>
          <a:xfrm>
            <a:off x="6537960" y="2148840"/>
            <a:ext cx="832104" cy="256032"/>
          </a:xfrm>
          <a:prstGeom prst="rect">
            <a:avLst/>
          </a:prstGeom>
          <a:solidFill>
            <a:srgbClr val="DDF3E6"/>
          </a:solidFill>
          <a:ln w="12700">
            <a:solidFill>
              <a:srgbClr val="2E9E5B"/>
            </a:solidFill>
            <a:prstDash val="solid"/>
          </a:ln>
        </p:spPr>
      </p:sp>
      <p:sp>
        <p:nvSpPr>
          <p:cNvPr id="46" name="v:MatrixScreensaver:life.r1c1|b2"/>
          <p:cNvSpPr txBox="1"/>
          <p:nvPr/>
        </p:nvSpPr>
        <p:spPr>
          <a:xfrm>
            <a:off x="6574536" y="2148840"/>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47" name="v:MatrixScreensaver:life.r1c2:box|b2"/>
          <p:cNvSpPr/>
          <p:nvPr/>
        </p:nvSpPr>
        <p:spPr>
          <a:xfrm>
            <a:off x="7406640" y="2148840"/>
            <a:ext cx="1335024" cy="256032"/>
          </a:xfrm>
          <a:prstGeom prst="rect">
            <a:avLst/>
          </a:prstGeom>
          <a:solidFill>
            <a:srgbClr val="DDF3E6"/>
          </a:solidFill>
          <a:ln w="12700">
            <a:solidFill>
              <a:srgbClr val="2E9E5B"/>
            </a:solidFill>
            <a:prstDash val="solid"/>
          </a:ln>
        </p:spPr>
      </p:sp>
      <p:sp>
        <p:nvSpPr>
          <p:cNvPr id="48" name="v:MatrixScreensaver:life.r1c2|b2"/>
          <p:cNvSpPr txBox="1"/>
          <p:nvPr/>
        </p:nvSpPr>
        <p:spPr>
          <a:xfrm>
            <a:off x="7443216" y="2148840"/>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3</a:t>
            </a:r>
            <a:endParaRPr lang="en-US" sz="1100" dirty="0"/>
          </a:p>
        </p:txBody>
      </p:sp>
      <p:sp>
        <p:nvSpPr>
          <p:cNvPr id="49" name="v:MatrixScreensaver:life.r2c0:box|b2"/>
          <p:cNvSpPr/>
          <p:nvPr/>
        </p:nvSpPr>
        <p:spPr>
          <a:xfrm>
            <a:off x="5852160" y="2432304"/>
            <a:ext cx="649224" cy="256032"/>
          </a:xfrm>
          <a:prstGeom prst="rect">
            <a:avLst/>
          </a:prstGeom>
          <a:solidFill>
            <a:srgbClr val="DDF3E6"/>
          </a:solidFill>
          <a:ln w="12700">
            <a:solidFill>
              <a:srgbClr val="2E9E5B"/>
            </a:solidFill>
            <a:prstDash val="solid"/>
          </a:ln>
        </p:spPr>
      </p:sp>
      <p:sp>
        <p:nvSpPr>
          <p:cNvPr id="50" name="v:MatrixScreensaver:life.r2c0|b2"/>
          <p:cNvSpPr txBox="1"/>
          <p:nvPr/>
        </p:nvSpPr>
        <p:spPr>
          <a:xfrm>
            <a:off x="5888736" y="2432304"/>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8</a:t>
            </a:r>
            <a:endParaRPr lang="en-US" sz="1100" dirty="0"/>
          </a:p>
        </p:txBody>
      </p:sp>
      <p:sp>
        <p:nvSpPr>
          <p:cNvPr id="51" name="v:MatrixScreensaver:life.r2c1:box|b2"/>
          <p:cNvSpPr/>
          <p:nvPr/>
        </p:nvSpPr>
        <p:spPr>
          <a:xfrm>
            <a:off x="6537960" y="2432304"/>
            <a:ext cx="832104" cy="256032"/>
          </a:xfrm>
          <a:prstGeom prst="rect">
            <a:avLst/>
          </a:prstGeom>
          <a:solidFill>
            <a:srgbClr val="DDF3E6"/>
          </a:solidFill>
          <a:ln w="12700">
            <a:solidFill>
              <a:srgbClr val="2E9E5B"/>
            </a:solidFill>
            <a:prstDash val="solid"/>
          </a:ln>
        </p:spPr>
      </p:sp>
      <p:sp>
        <p:nvSpPr>
          <p:cNvPr id="52" name="v:MatrixScreensaver:life.r2c1|b2"/>
          <p:cNvSpPr txBox="1"/>
          <p:nvPr/>
        </p:nvSpPr>
        <p:spPr>
          <a:xfrm>
            <a:off x="6574536" y="2432304"/>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53" name="v:MatrixScreensaver:life.r2c2:box|b2"/>
          <p:cNvSpPr/>
          <p:nvPr/>
        </p:nvSpPr>
        <p:spPr>
          <a:xfrm>
            <a:off x="7406640" y="2432304"/>
            <a:ext cx="1335024" cy="256032"/>
          </a:xfrm>
          <a:prstGeom prst="rect">
            <a:avLst/>
          </a:prstGeom>
          <a:solidFill>
            <a:srgbClr val="DDF3E6"/>
          </a:solidFill>
          <a:ln w="12700">
            <a:solidFill>
              <a:srgbClr val="2E9E5B"/>
            </a:solidFill>
            <a:prstDash val="solid"/>
          </a:ln>
        </p:spPr>
      </p:sp>
      <p:sp>
        <p:nvSpPr>
          <p:cNvPr id="54" name="v:MatrixScreensaver:life.r2c2|b2"/>
          <p:cNvSpPr txBox="1"/>
          <p:nvPr/>
        </p:nvSpPr>
        <p:spPr>
          <a:xfrm>
            <a:off x="7443216" y="2432304"/>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2</a:t>
            </a:r>
            <a:endParaRPr lang="en-US" sz="1100" dirty="0"/>
          </a:p>
        </p:txBody>
      </p:sp>
      <p:sp>
        <p:nvSpPr>
          <p:cNvPr id="55" name="v:MatrixScreensaver:life.r3c0:box|b2"/>
          <p:cNvSpPr/>
          <p:nvPr/>
        </p:nvSpPr>
        <p:spPr>
          <a:xfrm>
            <a:off x="5852160" y="2715768"/>
            <a:ext cx="649224" cy="256032"/>
          </a:xfrm>
          <a:prstGeom prst="rect">
            <a:avLst/>
          </a:prstGeom>
          <a:solidFill>
            <a:srgbClr val="DDF3E6"/>
          </a:solidFill>
          <a:ln w="12700">
            <a:solidFill>
              <a:srgbClr val="2E9E5B"/>
            </a:solidFill>
            <a:prstDash val="solid"/>
          </a:ln>
        </p:spPr>
      </p:sp>
      <p:sp>
        <p:nvSpPr>
          <p:cNvPr id="56" name="v:MatrixScreensaver:life.r3c0|b2"/>
          <p:cNvSpPr txBox="1"/>
          <p:nvPr/>
        </p:nvSpPr>
        <p:spPr>
          <a:xfrm>
            <a:off x="5888736" y="2715768"/>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9</a:t>
            </a:r>
            <a:endParaRPr lang="en-US" sz="1100" dirty="0"/>
          </a:p>
        </p:txBody>
      </p:sp>
      <p:sp>
        <p:nvSpPr>
          <p:cNvPr id="57" name="v:MatrixScreensaver:life.r3c1:box|b2"/>
          <p:cNvSpPr/>
          <p:nvPr/>
        </p:nvSpPr>
        <p:spPr>
          <a:xfrm>
            <a:off x="6537960" y="2715768"/>
            <a:ext cx="832104" cy="256032"/>
          </a:xfrm>
          <a:prstGeom prst="rect">
            <a:avLst/>
          </a:prstGeom>
          <a:solidFill>
            <a:srgbClr val="DDF3E6"/>
          </a:solidFill>
          <a:ln w="12700">
            <a:solidFill>
              <a:srgbClr val="2E9E5B"/>
            </a:solidFill>
            <a:prstDash val="solid"/>
          </a:ln>
        </p:spPr>
      </p:sp>
      <p:sp>
        <p:nvSpPr>
          <p:cNvPr id="58" name="v:MatrixScreensaver:life.r3c1|b2"/>
          <p:cNvSpPr txBox="1"/>
          <p:nvPr/>
        </p:nvSpPr>
        <p:spPr>
          <a:xfrm>
            <a:off x="6574536" y="2715768"/>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59" name="v:MatrixScreensaver:life.r3c2:box|b2"/>
          <p:cNvSpPr/>
          <p:nvPr/>
        </p:nvSpPr>
        <p:spPr>
          <a:xfrm>
            <a:off x="7406640" y="2715768"/>
            <a:ext cx="1335024" cy="256032"/>
          </a:xfrm>
          <a:prstGeom prst="rect">
            <a:avLst/>
          </a:prstGeom>
          <a:solidFill>
            <a:srgbClr val="DDF3E6"/>
          </a:solidFill>
          <a:ln w="12700">
            <a:solidFill>
              <a:srgbClr val="2E9E5B"/>
            </a:solidFill>
            <a:prstDash val="solid"/>
          </a:ln>
        </p:spPr>
      </p:sp>
      <p:sp>
        <p:nvSpPr>
          <p:cNvPr id="60" name="v:MatrixScreensaver:life.r3c2|b2"/>
          <p:cNvSpPr txBox="1"/>
          <p:nvPr/>
        </p:nvSpPr>
        <p:spPr>
          <a:xfrm>
            <a:off x="7443216" y="2715768"/>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1" name="v:MatrixScreensaver:life.r4c0:box|b2"/>
          <p:cNvSpPr/>
          <p:nvPr/>
        </p:nvSpPr>
        <p:spPr>
          <a:xfrm>
            <a:off x="5852160" y="2999232"/>
            <a:ext cx="649224" cy="256032"/>
          </a:xfrm>
          <a:prstGeom prst="rect">
            <a:avLst/>
          </a:prstGeom>
          <a:solidFill>
            <a:srgbClr val="DDF3E6"/>
          </a:solidFill>
          <a:ln w="12700">
            <a:solidFill>
              <a:srgbClr val="2E9E5B"/>
            </a:solidFill>
            <a:prstDash val="solid"/>
          </a:ln>
        </p:spPr>
      </p:sp>
      <p:sp>
        <p:nvSpPr>
          <p:cNvPr id="62" name="v:MatrixScreensaver:life.r4c0|b2"/>
          <p:cNvSpPr txBox="1"/>
          <p:nvPr/>
        </p:nvSpPr>
        <p:spPr>
          <a:xfrm>
            <a:off x="5888736" y="2999232"/>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10</a:t>
            </a:r>
            <a:endParaRPr lang="en-US" sz="1100" dirty="0"/>
          </a:p>
        </p:txBody>
      </p:sp>
      <p:sp>
        <p:nvSpPr>
          <p:cNvPr id="63" name="v:MatrixScreensaver:life.r4c1:box|b2"/>
          <p:cNvSpPr/>
          <p:nvPr/>
        </p:nvSpPr>
        <p:spPr>
          <a:xfrm>
            <a:off x="6537960" y="2999232"/>
            <a:ext cx="832104" cy="256032"/>
          </a:xfrm>
          <a:prstGeom prst="rect">
            <a:avLst/>
          </a:prstGeom>
          <a:solidFill>
            <a:srgbClr val="DDF3E6"/>
          </a:solidFill>
          <a:ln w="12700">
            <a:solidFill>
              <a:srgbClr val="2E9E5B"/>
            </a:solidFill>
            <a:prstDash val="solid"/>
          </a:ln>
        </p:spPr>
      </p:sp>
      <p:sp>
        <p:nvSpPr>
          <p:cNvPr id="64" name="v:MatrixScreensaver:life.r4c1|b2"/>
          <p:cNvSpPr txBox="1"/>
          <p:nvPr/>
        </p:nvSpPr>
        <p:spPr>
          <a:xfrm>
            <a:off x="6574536" y="2999232"/>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5" name="v:MatrixScreensaver:life.r4c2:box|b2"/>
          <p:cNvSpPr/>
          <p:nvPr/>
        </p:nvSpPr>
        <p:spPr>
          <a:xfrm>
            <a:off x="7406640" y="2999232"/>
            <a:ext cx="1335024" cy="256032"/>
          </a:xfrm>
          <a:prstGeom prst="rect">
            <a:avLst/>
          </a:prstGeom>
          <a:solidFill>
            <a:srgbClr val="DDF3E6"/>
          </a:solidFill>
          <a:ln w="12700">
            <a:solidFill>
              <a:srgbClr val="2E9E5B"/>
            </a:solidFill>
            <a:prstDash val="solid"/>
          </a:ln>
        </p:spPr>
      </p:sp>
      <p:sp>
        <p:nvSpPr>
          <p:cNvPr id="66" name="v:MatrixScreensaver:life.r4c2|b2"/>
          <p:cNvSpPr txBox="1"/>
          <p:nvPr/>
        </p:nvSpPr>
        <p:spPr>
          <a:xfrm>
            <a:off x="7443216" y="2999232"/>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67" name="v:MatrixScreensaver:life.r5c0:box|b2"/>
          <p:cNvSpPr/>
          <p:nvPr/>
        </p:nvSpPr>
        <p:spPr>
          <a:xfrm>
            <a:off x="5852160" y="3282696"/>
            <a:ext cx="649224" cy="256032"/>
          </a:xfrm>
          <a:prstGeom prst="rect">
            <a:avLst/>
          </a:prstGeom>
          <a:solidFill>
            <a:srgbClr val="F1F4F8"/>
          </a:solidFill>
          <a:ln w="12700">
            <a:solidFill>
              <a:srgbClr val="F1F4F8"/>
            </a:solidFill>
            <a:prstDash val="solid"/>
          </a:ln>
        </p:spPr>
      </p:sp>
      <p:sp>
        <p:nvSpPr>
          <p:cNvPr id="68" name="v:MatrixScreensaver:life.r5c0|b2"/>
          <p:cNvSpPr txBox="1"/>
          <p:nvPr/>
        </p:nvSpPr>
        <p:spPr>
          <a:xfrm>
            <a:off x="5888736" y="328269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11</a:t>
            </a:r>
            <a:endParaRPr lang="en-US" sz="1100" dirty="0"/>
          </a:p>
        </p:txBody>
      </p:sp>
      <p:sp>
        <p:nvSpPr>
          <p:cNvPr id="69" name="v:MatrixScreensaver:life.r5c1:box|b2"/>
          <p:cNvSpPr/>
          <p:nvPr/>
        </p:nvSpPr>
        <p:spPr>
          <a:xfrm>
            <a:off x="6537960" y="3282696"/>
            <a:ext cx="832104" cy="256032"/>
          </a:xfrm>
          <a:prstGeom prst="rect">
            <a:avLst/>
          </a:prstGeom>
          <a:solidFill>
            <a:srgbClr val="F1F4F8"/>
          </a:solidFill>
          <a:ln w="12700">
            <a:solidFill>
              <a:srgbClr val="F1F4F8"/>
            </a:solidFill>
            <a:prstDash val="solid"/>
          </a:ln>
        </p:spPr>
      </p:sp>
      <p:sp>
        <p:nvSpPr>
          <p:cNvPr id="70" name="v:MatrixScreensaver:life.r5c1|b2"/>
          <p:cNvSpPr txBox="1"/>
          <p:nvPr/>
        </p:nvSpPr>
        <p:spPr>
          <a:xfrm>
            <a:off x="6574536" y="328269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71" name="v:MatrixScreensaver:life.r5c2:box|b2"/>
          <p:cNvSpPr/>
          <p:nvPr/>
        </p:nvSpPr>
        <p:spPr>
          <a:xfrm>
            <a:off x="7406640" y="3282696"/>
            <a:ext cx="1335024" cy="256032"/>
          </a:xfrm>
          <a:prstGeom prst="rect">
            <a:avLst/>
          </a:prstGeom>
          <a:solidFill>
            <a:srgbClr val="F1F4F8"/>
          </a:solidFill>
          <a:ln w="12700">
            <a:solidFill>
              <a:srgbClr val="F1F4F8"/>
            </a:solidFill>
            <a:prstDash val="solid"/>
          </a:ln>
        </p:spPr>
      </p:sp>
      <p:sp>
        <p:nvSpPr>
          <p:cNvPr id="72" name="v:MatrixScreensaver:life.r5c2|b2"/>
          <p:cNvSpPr txBox="1"/>
          <p:nvPr/>
        </p:nvSpPr>
        <p:spPr>
          <a:xfrm>
            <a:off x="7443216" y="328269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3" name="zerolabel|b3"/>
          <p:cNvSpPr txBox="1"/>
          <p:nvPr/>
        </p:nvSpPr>
        <p:spPr>
          <a:xfrm>
            <a:off x="5852160" y="374904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The counters start as a list of zeros</a:t>
            </a:r>
            <a:endParaRPr lang="en-US" sz="1100" dirty="0"/>
          </a:p>
        </p:txBody>
      </p:sp>
      <p:sp>
        <p:nvSpPr>
          <p:cNvPr id="74" name="codecardbox|b3"/>
          <p:cNvSpPr/>
          <p:nvPr/>
        </p:nvSpPr>
        <p:spPr>
          <a:xfrm>
            <a:off x="5852160" y="4005072"/>
            <a:ext cx="2926080" cy="566928"/>
          </a:xfrm>
          <a:prstGeom prst="roundRect">
            <a:avLst>
              <a:gd name="adj" fmla="val 16129"/>
            </a:avLst>
          </a:prstGeom>
          <a:solidFill>
            <a:srgbClr val="17202B"/>
          </a:solidFill>
          <a:ln w="12700">
            <a:solidFill>
              <a:srgbClr val="17202B"/>
            </a:solidFill>
            <a:prstDash val="solid"/>
          </a:ln>
        </p:spPr>
      </p:sp>
      <p:sp>
        <p:nvSpPr>
          <p:cNvPr id="75" name="codecard|b3"/>
          <p:cNvSpPr txBox="1"/>
          <p:nvPr/>
        </p:nvSpPr>
        <p:spPr>
          <a:xfrm>
            <a:off x="6016752" y="4078224"/>
            <a:ext cx="2596896" cy="420624"/>
          </a:xfrm>
          <a:prstGeom prst="rect">
            <a:avLst/>
          </a:prstGeom>
          <a:noFill/>
          <a:ln/>
        </p:spPr>
        <p:txBody>
          <a:bodyPr wrap="square" lIns="0" tIns="0" rIns="0" bIns="0" rtlCol="0" anchor="t"/>
          <a:lstStyle/>
          <a:p>
            <a:pPr indent="0" marL="0">
              <a:spcAft>
                <a:spcPts val="100"/>
              </a:spcAft>
              <a:buNone/>
            </a:pPr>
            <a:r>
              <a:rPr lang="en-US" sz="1200" b="1" dirty="0">
                <a:solidFill>
                  <a:srgbClr val="FFD43B"/>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[0] * 5</a:t>
            </a:r>
            <a:endParaRPr lang="en-US" sz="1200" dirty="0"/>
          </a:p>
          <a:p>
            <a:pPr indent="0" marL="0">
              <a:spcAft>
                <a:spcPts val="100"/>
              </a:spcAft>
              <a:buNone/>
            </a:pPr>
            <a:r>
              <a:rPr lang="en-US" sz="1200" dirty="0">
                <a:solidFill>
                  <a:srgbClr val="7EE787"/>
                </a:solidFill>
                <a:latin typeface="Courier New" pitchFamily="34" charset="0"/>
                <a:ea typeface="Courier New" pitchFamily="34" charset="-122"/>
                <a:cs typeface="Courier New" pitchFamily="34" charset="-120"/>
              </a:rPr>
              <a:t>[0, 0, 0, 0, 0]</a:t>
            </a:r>
            <a:endParaRPr lang="en-US" sz="1200" dirty="0"/>
          </a:p>
        </p:txBody>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Matrix screensaver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random.html" history="1" highlightClick="0" endSnd="0">
                  <a:extLst>
                    <a:ext uri="{A12FA001-AC4F-418D-AE19-62706E023703}">
                      <ahyp:hlinkClr xmlns:ahyp="http://schemas.microsoft.com/office/drawing/2018/hyperlinkcolor" val="tx"/>
                    </a:ext>
                  </a:extLst>
                </a:hlinkClick>
              </a:rPr>
              <a:t>random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childTnLst>
                          </p:cTn>
                        </p:par>
                      </p:childTnLst>
                    </p:cTn>
                  </p:par>
                  <p:par>
                    <p:cTn id="182" fill="hold">
                      <p:stCondLst>
                        <p:cond delay="indefinite"/>
                      </p:stCondLst>
                      <p:childTnLst>
                        <p:par>
                          <p:cTn id="183"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00"/>
                                        <p:tgtEl>
                                          <p:spTgt spid="3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fade">
                                      <p:cBhvr>
                                        <p:cTn id="85" dur="400"/>
                                        <p:tgtEl>
                                          <p:spTgt spid="40"/>
                                        </p:tgtEl>
                                      </p:cBhvr>
                                    </p:animEffect>
                                  </p:childTnLst>
                                </p:cTn>
                              </p:par>
                              <p:par>
                                <p:cTn id="86" presetID="10" presetClass="entr" presetSubtype="0" fill="hold" nodeType="with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400"/>
                                        <p:tgtEl>
                                          <p:spTgt spid="4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fade">
                                      <p:cBhvr>
                                        <p:cTn id="91" dur="400"/>
                                        <p:tgtEl>
                                          <p:spTgt spid="42"/>
                                        </p:tgtEl>
                                      </p:cBhvr>
                                    </p:animEffect>
                                  </p:childTnLst>
                                </p:cTn>
                              </p:par>
                              <p:par>
                                <p:cTn id="92" presetID="10" presetClass="entr" presetSubtype="0" fill="hold" nodeType="with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400"/>
                                        <p:tgtEl>
                                          <p:spTgt spid="4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400"/>
                                        <p:tgtEl>
                                          <p:spTgt spid="44"/>
                                        </p:tgtEl>
                                      </p:cBhvr>
                                    </p:animEffect>
                                  </p:childTnLst>
                                </p:cTn>
                              </p:par>
                              <p:par>
                                <p:cTn id="98" presetID="10" presetClass="entr" presetSubtype="0" fill="hold" nodeType="with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400"/>
                                        <p:tgtEl>
                                          <p:spTgt spid="4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400"/>
                                        <p:tgtEl>
                                          <p:spTgt spid="46"/>
                                        </p:tgtEl>
                                      </p:cBhvr>
                                    </p:animEffect>
                                  </p:childTnLst>
                                </p:cTn>
                              </p:par>
                              <p:par>
                                <p:cTn id="104" presetID="10" presetClass="entr" presetSubtype="0" fill="hold" nodeType="with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fade">
                                      <p:cBhvr>
                                        <p:cTn id="106" dur="400"/>
                                        <p:tgtEl>
                                          <p:spTgt spid="4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400"/>
                                        <p:tgtEl>
                                          <p:spTgt spid="48"/>
                                        </p:tgtEl>
                                      </p:cBhvr>
                                    </p:animEffect>
                                  </p:childTnLst>
                                </p:cTn>
                              </p:par>
                              <p:par>
                                <p:cTn id="110" presetID="10" presetClass="entr" presetSubtype="0" fill="hold" nodeType="with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fade">
                                      <p:cBhvr>
                                        <p:cTn id="112" dur="400"/>
                                        <p:tgtEl>
                                          <p:spTgt spid="4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0"/>
                                        </p:tgtEl>
                                        <p:attrNameLst>
                                          <p:attrName>style.visibility</p:attrName>
                                        </p:attrNameLst>
                                      </p:cBhvr>
                                      <p:to>
                                        <p:strVal val="visible"/>
                                      </p:to>
                                    </p:set>
                                    <p:animEffect transition="in" filter="fade">
                                      <p:cBhvr>
                                        <p:cTn id="115" dur="400"/>
                                        <p:tgtEl>
                                          <p:spTgt spid="50"/>
                                        </p:tgtEl>
                                      </p:cBhvr>
                                    </p:animEffect>
                                  </p:childTnLst>
                                </p:cTn>
                              </p:par>
                              <p:par>
                                <p:cTn id="116" presetID="10" presetClass="entr" presetSubtype="0" fill="hold" nodeType="with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fade">
                                      <p:cBhvr>
                                        <p:cTn id="118" dur="400"/>
                                        <p:tgtEl>
                                          <p:spTgt spid="5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fade">
                                      <p:cBhvr>
                                        <p:cTn id="121" dur="400"/>
                                        <p:tgtEl>
                                          <p:spTgt spid="52"/>
                                        </p:tgtEl>
                                      </p:cBhvr>
                                    </p:animEffect>
                                  </p:childTnLst>
                                </p:cTn>
                              </p:par>
                              <p:par>
                                <p:cTn id="122" presetID="10" presetClass="entr" presetSubtype="0" fill="hold" nodeType="withEffect">
                                  <p:stCondLst>
                                    <p:cond delay="0"/>
                                  </p:stCondLst>
                                  <p:childTnLst>
                                    <p:set>
                                      <p:cBhvr>
                                        <p:cTn id="123" dur="1" fill="hold">
                                          <p:stCondLst>
                                            <p:cond delay="0"/>
                                          </p:stCondLst>
                                        </p:cTn>
                                        <p:tgtEl>
                                          <p:spTgt spid="53"/>
                                        </p:tgtEl>
                                        <p:attrNameLst>
                                          <p:attrName>style.visibility</p:attrName>
                                        </p:attrNameLst>
                                      </p:cBhvr>
                                      <p:to>
                                        <p:strVal val="visible"/>
                                      </p:to>
                                    </p:set>
                                    <p:animEffect transition="in" filter="fade">
                                      <p:cBhvr>
                                        <p:cTn id="124" dur="400"/>
                                        <p:tgtEl>
                                          <p:spTgt spid="5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animEffect transition="in" filter="fade">
                                      <p:cBhvr>
                                        <p:cTn id="127" dur="400"/>
                                        <p:tgtEl>
                                          <p:spTgt spid="54"/>
                                        </p:tgtEl>
                                      </p:cBhvr>
                                    </p:animEffect>
                                  </p:childTnLst>
                                </p:cTn>
                              </p:par>
                              <p:par>
                                <p:cTn id="128" presetID="10" presetClass="entr" presetSubtype="0" fill="hold" nodeType="withEffect">
                                  <p:stCondLst>
                                    <p:cond delay="0"/>
                                  </p:stCondLst>
                                  <p:childTnLst>
                                    <p:set>
                                      <p:cBhvr>
                                        <p:cTn id="129" dur="1" fill="hold">
                                          <p:stCondLst>
                                            <p:cond delay="0"/>
                                          </p:stCondLst>
                                        </p:cTn>
                                        <p:tgtEl>
                                          <p:spTgt spid="55"/>
                                        </p:tgtEl>
                                        <p:attrNameLst>
                                          <p:attrName>style.visibility</p:attrName>
                                        </p:attrNameLst>
                                      </p:cBhvr>
                                      <p:to>
                                        <p:strVal val="visible"/>
                                      </p:to>
                                    </p:set>
                                    <p:animEffect transition="in" filter="fade">
                                      <p:cBhvr>
                                        <p:cTn id="130" dur="400"/>
                                        <p:tgtEl>
                                          <p:spTgt spid="5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6"/>
                                        </p:tgtEl>
                                        <p:attrNameLst>
                                          <p:attrName>style.visibility</p:attrName>
                                        </p:attrNameLst>
                                      </p:cBhvr>
                                      <p:to>
                                        <p:strVal val="visible"/>
                                      </p:to>
                                    </p:set>
                                    <p:animEffect transition="in" filter="fade">
                                      <p:cBhvr>
                                        <p:cTn id="133" dur="400"/>
                                        <p:tgtEl>
                                          <p:spTgt spid="56"/>
                                        </p:tgtEl>
                                      </p:cBhvr>
                                    </p:animEffect>
                                  </p:childTnLst>
                                </p:cTn>
                              </p:par>
                              <p:par>
                                <p:cTn id="134" presetID="10" presetClass="entr" presetSubtype="0" fill="hold" nodeType="withEffect">
                                  <p:stCondLst>
                                    <p:cond delay="0"/>
                                  </p:stCondLst>
                                  <p:childTnLst>
                                    <p:set>
                                      <p:cBhvr>
                                        <p:cTn id="135" dur="1" fill="hold">
                                          <p:stCondLst>
                                            <p:cond delay="0"/>
                                          </p:stCondLst>
                                        </p:cTn>
                                        <p:tgtEl>
                                          <p:spTgt spid="57"/>
                                        </p:tgtEl>
                                        <p:attrNameLst>
                                          <p:attrName>style.visibility</p:attrName>
                                        </p:attrNameLst>
                                      </p:cBhvr>
                                      <p:to>
                                        <p:strVal val="visible"/>
                                      </p:to>
                                    </p:set>
                                    <p:animEffect transition="in" filter="fade">
                                      <p:cBhvr>
                                        <p:cTn id="136" dur="400"/>
                                        <p:tgtEl>
                                          <p:spTgt spid="57"/>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8"/>
                                        </p:tgtEl>
                                        <p:attrNameLst>
                                          <p:attrName>style.visibility</p:attrName>
                                        </p:attrNameLst>
                                      </p:cBhvr>
                                      <p:to>
                                        <p:strVal val="visible"/>
                                      </p:to>
                                    </p:set>
                                    <p:animEffect transition="in" filter="fade">
                                      <p:cBhvr>
                                        <p:cTn id="139" dur="400"/>
                                        <p:tgtEl>
                                          <p:spTgt spid="58"/>
                                        </p:tgtEl>
                                      </p:cBhvr>
                                    </p:animEffect>
                                  </p:childTnLst>
                                </p:cTn>
                              </p:par>
                              <p:par>
                                <p:cTn id="140" presetID="10" presetClass="entr" presetSubtype="0" fill="hold" nodeType="withEffect">
                                  <p:stCondLst>
                                    <p:cond delay="0"/>
                                  </p:stCondLst>
                                  <p:childTnLst>
                                    <p:set>
                                      <p:cBhvr>
                                        <p:cTn id="141" dur="1" fill="hold">
                                          <p:stCondLst>
                                            <p:cond delay="0"/>
                                          </p:stCondLst>
                                        </p:cTn>
                                        <p:tgtEl>
                                          <p:spTgt spid="59"/>
                                        </p:tgtEl>
                                        <p:attrNameLst>
                                          <p:attrName>style.visibility</p:attrName>
                                        </p:attrNameLst>
                                      </p:cBhvr>
                                      <p:to>
                                        <p:strVal val="visible"/>
                                      </p:to>
                                    </p:set>
                                    <p:animEffect transition="in" filter="fade">
                                      <p:cBhvr>
                                        <p:cTn id="142" dur="400"/>
                                        <p:tgtEl>
                                          <p:spTgt spid="5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60"/>
                                        </p:tgtEl>
                                        <p:attrNameLst>
                                          <p:attrName>style.visibility</p:attrName>
                                        </p:attrNameLst>
                                      </p:cBhvr>
                                      <p:to>
                                        <p:strVal val="visible"/>
                                      </p:to>
                                    </p:set>
                                    <p:animEffect transition="in" filter="fade">
                                      <p:cBhvr>
                                        <p:cTn id="145" dur="400"/>
                                        <p:tgtEl>
                                          <p:spTgt spid="60"/>
                                        </p:tgtEl>
                                      </p:cBhvr>
                                    </p:animEffect>
                                  </p:childTnLst>
                                </p:cTn>
                              </p:par>
                              <p:par>
                                <p:cTn id="146" presetID="10" presetClass="entr" presetSubtype="0" fill="hold" nodeType="withEffect">
                                  <p:stCondLst>
                                    <p:cond delay="0"/>
                                  </p:stCondLst>
                                  <p:childTnLst>
                                    <p:set>
                                      <p:cBhvr>
                                        <p:cTn id="147" dur="1" fill="hold">
                                          <p:stCondLst>
                                            <p:cond delay="0"/>
                                          </p:stCondLst>
                                        </p:cTn>
                                        <p:tgtEl>
                                          <p:spTgt spid="61"/>
                                        </p:tgtEl>
                                        <p:attrNameLst>
                                          <p:attrName>style.visibility</p:attrName>
                                        </p:attrNameLst>
                                      </p:cBhvr>
                                      <p:to>
                                        <p:strVal val="visible"/>
                                      </p:to>
                                    </p:set>
                                    <p:animEffect transition="in" filter="fade">
                                      <p:cBhvr>
                                        <p:cTn id="148" dur="400"/>
                                        <p:tgtEl>
                                          <p:spTgt spid="6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2"/>
                                        </p:tgtEl>
                                        <p:attrNameLst>
                                          <p:attrName>style.visibility</p:attrName>
                                        </p:attrNameLst>
                                      </p:cBhvr>
                                      <p:to>
                                        <p:strVal val="visible"/>
                                      </p:to>
                                    </p:set>
                                    <p:animEffect transition="in" filter="fade">
                                      <p:cBhvr>
                                        <p:cTn id="151" dur="400"/>
                                        <p:tgtEl>
                                          <p:spTgt spid="62"/>
                                        </p:tgtEl>
                                      </p:cBhvr>
                                    </p:animEffect>
                                  </p:childTnLst>
                                </p:cTn>
                              </p:par>
                              <p:par>
                                <p:cTn id="152" presetID="10" presetClass="entr" presetSubtype="0" fill="hold" nodeType="withEffect">
                                  <p:stCondLst>
                                    <p:cond delay="0"/>
                                  </p:stCondLst>
                                  <p:childTnLst>
                                    <p:set>
                                      <p:cBhvr>
                                        <p:cTn id="153" dur="1" fill="hold">
                                          <p:stCondLst>
                                            <p:cond delay="0"/>
                                          </p:stCondLst>
                                        </p:cTn>
                                        <p:tgtEl>
                                          <p:spTgt spid="63"/>
                                        </p:tgtEl>
                                        <p:attrNameLst>
                                          <p:attrName>style.visibility</p:attrName>
                                        </p:attrNameLst>
                                      </p:cBhvr>
                                      <p:to>
                                        <p:strVal val="visible"/>
                                      </p:to>
                                    </p:set>
                                    <p:animEffect transition="in" filter="fade">
                                      <p:cBhvr>
                                        <p:cTn id="154" dur="400"/>
                                        <p:tgtEl>
                                          <p:spTgt spid="6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64"/>
                                        </p:tgtEl>
                                        <p:attrNameLst>
                                          <p:attrName>style.visibility</p:attrName>
                                        </p:attrNameLst>
                                      </p:cBhvr>
                                      <p:to>
                                        <p:strVal val="visible"/>
                                      </p:to>
                                    </p:set>
                                    <p:animEffect transition="in" filter="fade">
                                      <p:cBhvr>
                                        <p:cTn id="157" dur="400"/>
                                        <p:tgtEl>
                                          <p:spTgt spid="64"/>
                                        </p:tgtEl>
                                      </p:cBhvr>
                                    </p:animEffect>
                                  </p:childTnLst>
                                </p:cTn>
                              </p:par>
                              <p:par>
                                <p:cTn id="158" presetID="10" presetClass="entr" presetSubtype="0" fill="hold" nodeType="withEffect">
                                  <p:stCondLst>
                                    <p:cond delay="0"/>
                                  </p:stCondLst>
                                  <p:childTnLst>
                                    <p:set>
                                      <p:cBhvr>
                                        <p:cTn id="159" dur="1" fill="hold">
                                          <p:stCondLst>
                                            <p:cond delay="0"/>
                                          </p:stCondLst>
                                        </p:cTn>
                                        <p:tgtEl>
                                          <p:spTgt spid="65"/>
                                        </p:tgtEl>
                                        <p:attrNameLst>
                                          <p:attrName>style.visibility</p:attrName>
                                        </p:attrNameLst>
                                      </p:cBhvr>
                                      <p:to>
                                        <p:strVal val="visible"/>
                                      </p:to>
                                    </p:set>
                                    <p:animEffect transition="in" filter="fade">
                                      <p:cBhvr>
                                        <p:cTn id="160" dur="400"/>
                                        <p:tgtEl>
                                          <p:spTgt spid="6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6"/>
                                        </p:tgtEl>
                                        <p:attrNameLst>
                                          <p:attrName>style.visibility</p:attrName>
                                        </p:attrNameLst>
                                      </p:cBhvr>
                                      <p:to>
                                        <p:strVal val="visible"/>
                                      </p:to>
                                    </p:set>
                                    <p:animEffect transition="in" filter="fade">
                                      <p:cBhvr>
                                        <p:cTn id="163" dur="400"/>
                                        <p:tgtEl>
                                          <p:spTgt spid="66"/>
                                        </p:tgtEl>
                                      </p:cBhvr>
                                    </p:animEffect>
                                  </p:childTnLst>
                                </p:cTn>
                              </p:par>
                              <p:par>
                                <p:cTn id="164" presetID="10" presetClass="entr" presetSubtype="0" fill="hold" nodeType="withEffect">
                                  <p:stCondLst>
                                    <p:cond delay="0"/>
                                  </p:stCondLst>
                                  <p:childTnLst>
                                    <p:set>
                                      <p:cBhvr>
                                        <p:cTn id="165" dur="1" fill="hold">
                                          <p:stCondLst>
                                            <p:cond delay="0"/>
                                          </p:stCondLst>
                                        </p:cTn>
                                        <p:tgtEl>
                                          <p:spTgt spid="67"/>
                                        </p:tgtEl>
                                        <p:attrNameLst>
                                          <p:attrName>style.visibility</p:attrName>
                                        </p:attrNameLst>
                                      </p:cBhvr>
                                      <p:to>
                                        <p:strVal val="visible"/>
                                      </p:to>
                                    </p:set>
                                    <p:animEffect transition="in" filter="fade">
                                      <p:cBhvr>
                                        <p:cTn id="166" dur="400"/>
                                        <p:tgtEl>
                                          <p:spTgt spid="67"/>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8"/>
                                        </p:tgtEl>
                                        <p:attrNameLst>
                                          <p:attrName>style.visibility</p:attrName>
                                        </p:attrNameLst>
                                      </p:cBhvr>
                                      <p:to>
                                        <p:strVal val="visible"/>
                                      </p:to>
                                    </p:set>
                                    <p:animEffect transition="in" filter="fade">
                                      <p:cBhvr>
                                        <p:cTn id="169" dur="400"/>
                                        <p:tgtEl>
                                          <p:spTgt spid="68"/>
                                        </p:tgtEl>
                                      </p:cBhvr>
                                    </p:animEffect>
                                  </p:childTnLst>
                                </p:cTn>
                              </p:par>
                              <p:par>
                                <p:cTn id="170" presetID="10" presetClass="entr" presetSubtype="0" fill="hold" nodeType="withEffect">
                                  <p:stCondLst>
                                    <p:cond delay="0"/>
                                  </p:stCondLst>
                                  <p:childTnLst>
                                    <p:set>
                                      <p:cBhvr>
                                        <p:cTn id="171" dur="1" fill="hold">
                                          <p:stCondLst>
                                            <p:cond delay="0"/>
                                          </p:stCondLst>
                                        </p:cTn>
                                        <p:tgtEl>
                                          <p:spTgt spid="69"/>
                                        </p:tgtEl>
                                        <p:attrNameLst>
                                          <p:attrName>style.visibility</p:attrName>
                                        </p:attrNameLst>
                                      </p:cBhvr>
                                      <p:to>
                                        <p:strVal val="visible"/>
                                      </p:to>
                                    </p:set>
                                    <p:animEffect transition="in" filter="fade">
                                      <p:cBhvr>
                                        <p:cTn id="172" dur="400"/>
                                        <p:tgtEl>
                                          <p:spTgt spid="6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70"/>
                                        </p:tgtEl>
                                        <p:attrNameLst>
                                          <p:attrName>style.visibility</p:attrName>
                                        </p:attrNameLst>
                                      </p:cBhvr>
                                      <p:to>
                                        <p:strVal val="visible"/>
                                      </p:to>
                                    </p:set>
                                    <p:animEffect transition="in" filter="fade">
                                      <p:cBhvr>
                                        <p:cTn id="175" dur="400"/>
                                        <p:tgtEl>
                                          <p:spTgt spid="70"/>
                                        </p:tgtEl>
                                      </p:cBhvr>
                                    </p:animEffect>
                                  </p:childTnLst>
                                </p:cTn>
                              </p:par>
                              <p:par>
                                <p:cTn id="176" presetID="10" presetClass="entr" presetSubtype="0" fill="hold" nodeType="withEffect">
                                  <p:stCondLst>
                                    <p:cond delay="0"/>
                                  </p:stCondLst>
                                  <p:childTnLst>
                                    <p:set>
                                      <p:cBhvr>
                                        <p:cTn id="177" dur="1" fill="hold">
                                          <p:stCondLst>
                                            <p:cond delay="0"/>
                                          </p:stCondLst>
                                        </p:cTn>
                                        <p:tgtEl>
                                          <p:spTgt spid="71"/>
                                        </p:tgtEl>
                                        <p:attrNameLst>
                                          <p:attrName>style.visibility</p:attrName>
                                        </p:attrNameLst>
                                      </p:cBhvr>
                                      <p:to>
                                        <p:strVal val="visible"/>
                                      </p:to>
                                    </p:set>
                                    <p:animEffect transition="in" filter="fade">
                                      <p:cBhvr>
                                        <p:cTn id="178" dur="400"/>
                                        <p:tgtEl>
                                          <p:spTgt spid="7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72"/>
                                        </p:tgtEl>
                                        <p:attrNameLst>
                                          <p:attrName>style.visibility</p:attrName>
                                        </p:attrNameLst>
                                      </p:cBhvr>
                                      <p:to>
                                        <p:strVal val="visible"/>
                                      </p:to>
                                    </p:set>
                                    <p:animEffect transition="in" filter="fade">
                                      <p:cBhvr>
                                        <p:cTn id="181" dur="400"/>
                                        <p:tgtEl>
                                          <p:spTgt spid="72"/>
                                        </p:tgtEl>
                                      </p:cBhvr>
                                    </p:animEffect>
                                  </p:childTnLst>
                                </p:cTn>
                              </p:par>
                            </p:childTnLst>
                          </p:cTn>
                        </p:par>
                      </p:childTnLst>
                    </p:cTn>
                  </p:par>
                  <p:par>
                    <p:cTn id="193" fill="hold">
                      <p:stCondLst>
                        <p:cond delay="indefinite"/>
                      </p:stCondLst>
                      <p:childTnLst>
                        <p:par>
                          <p:cTn id="194"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73"/>
                                        </p:tgtEl>
                                        <p:attrNameLst>
                                          <p:attrName>style.visibility</p:attrName>
                                        </p:attrNameLst>
                                      </p:cBhvr>
                                      <p:to>
                                        <p:strVal val="visible"/>
                                      </p:to>
                                    </p:set>
                                    <p:animEffect transition="in" filter="fade">
                                      <p:cBhvr>
                                        <p:cTn id="186" dur="400"/>
                                        <p:tgtEl>
                                          <p:spTgt spid="73"/>
                                        </p:tgtEl>
                                      </p:cBhvr>
                                    </p:animEffect>
                                  </p:childTnLst>
                                </p:cTn>
                              </p:par>
                              <p:par>
                                <p:cTn id="187" presetID="10" presetClass="entr" presetSubtype="0" fill="hold" nodeType="withEffect">
                                  <p:stCondLst>
                                    <p:cond delay="0"/>
                                  </p:stCondLst>
                                  <p:childTnLst>
                                    <p:set>
                                      <p:cBhvr>
                                        <p:cTn id="188" dur="1" fill="hold">
                                          <p:stCondLst>
                                            <p:cond delay="0"/>
                                          </p:stCondLst>
                                        </p:cTn>
                                        <p:tgtEl>
                                          <p:spTgt spid="74"/>
                                        </p:tgtEl>
                                        <p:attrNameLst>
                                          <p:attrName>style.visibility</p:attrName>
                                        </p:attrNameLst>
                                      </p:cBhvr>
                                      <p:to>
                                        <p:strVal val="visible"/>
                                      </p:to>
                                    </p:set>
                                    <p:animEffect transition="in" filter="fade">
                                      <p:cBhvr>
                                        <p:cTn id="189" dur="400"/>
                                        <p:tgtEl>
                                          <p:spTgt spid="7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75"/>
                                        </p:tgtEl>
                                        <p:attrNameLst>
                                          <p:attrName>style.visibility</p:attrName>
                                        </p:attrNameLst>
                                      </p:cBhvr>
                                      <p:to>
                                        <p:strVal val="visible"/>
                                      </p:to>
                                    </p:set>
                                    <p:animEffect transition="in" filter="fade">
                                      <p:cBhvr>
                                        <p:cTn id="192" dur="400"/>
                                        <p:tgtEl>
                                          <p:spTgt spid="75"/>
                                        </p:tgtEl>
                                      </p:cBhvr>
                                    </p:animEffect>
                                  </p:childTnLst>
                                </p:cTn>
                              </p:par>
                            </p:childTnLst>
                          </p:cTn>
                        </p:par>
                      </p:childTnLst>
                    </p:cTn>
                  </p:par>
                  <p:par>
                    <p:cTn id="219" fill="hold">
                      <p:stCondLst>
                        <p:cond delay="indefinite"/>
                      </p:stCondLst>
                      <p:childTnLst>
                        <p:par>
                          <p:cTn id="220" fill="hold">
                            <p:stCondLst>
                              <p:cond delay="0"/>
                            </p:stCondLst>
                            <p:childTnLst>
                              <p:par>
                                <p:cTn id="195" presetID="10" presetClass="entr" presetSubtype="0" fill="hold" grpId="0" nodeType="clickEffect">
                                  <p:stCondLst>
                                    <p:cond delay="0"/>
                                  </p:stCondLst>
                                  <p:childTnLst>
                                    <p:set>
                                      <p:cBhvr>
                                        <p:cTn id="196" dur="1" fill="hold">
                                          <p:stCondLst>
                                            <p:cond delay="0"/>
                                          </p:stCondLst>
                                        </p:cTn>
                                        <p:tgtEl>
                                          <p:spTgt spid="22"/>
                                        </p:tgtEl>
                                        <p:attrNameLst>
                                          <p:attrName>style.visibility</p:attrName>
                                        </p:attrNameLst>
                                      </p:cBhvr>
                                      <p:to>
                                        <p:strVal val="visible"/>
                                      </p:to>
                                    </p:set>
                                    <p:animEffect transition="in" filter="fade">
                                      <p:cBhvr>
                                        <p:cTn id="197" dur="400"/>
                                        <p:tgtEl>
                                          <p:spTgt spid="22"/>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23"/>
                                        </p:tgtEl>
                                        <p:attrNameLst>
                                          <p:attrName>style.visibility</p:attrName>
                                        </p:attrNameLst>
                                      </p:cBhvr>
                                      <p:to>
                                        <p:strVal val="visible"/>
                                      </p:to>
                                    </p:set>
                                    <p:animEffect transition="in" filter="fade">
                                      <p:cBhvr>
                                        <p:cTn id="200" dur="400"/>
                                        <p:tgtEl>
                                          <p:spTgt spid="23"/>
                                        </p:tgtEl>
                                      </p:cBhvr>
                                    </p:animEffect>
                                  </p:childTnLst>
                                </p:cTn>
                              </p:par>
                              <p:par>
                                <p:cTn id="201" presetID="10" presetClass="entr" presetSubtype="0" fill="hold" nodeType="withEffect">
                                  <p:stCondLst>
                                    <p:cond delay="0"/>
                                  </p:stCondLst>
                                  <p:childTnLst>
                                    <p:set>
                                      <p:cBhvr>
                                        <p:cTn id="202" dur="1" fill="hold">
                                          <p:stCondLst>
                                            <p:cond delay="0"/>
                                          </p:stCondLst>
                                        </p:cTn>
                                        <p:tgtEl>
                                          <p:spTgt spid="24"/>
                                        </p:tgtEl>
                                        <p:attrNameLst>
                                          <p:attrName>style.visibility</p:attrName>
                                        </p:attrNameLst>
                                      </p:cBhvr>
                                      <p:to>
                                        <p:strVal val="visible"/>
                                      </p:to>
                                    </p:set>
                                    <p:animEffect transition="in" filter="fade">
                                      <p:cBhvr>
                                        <p:cTn id="203" dur="400"/>
                                        <p:tgtEl>
                                          <p:spTgt spid="24"/>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25"/>
                                        </p:tgtEl>
                                        <p:attrNameLst>
                                          <p:attrName>style.visibility</p:attrName>
                                        </p:attrNameLst>
                                      </p:cBhvr>
                                      <p:to>
                                        <p:strVal val="visible"/>
                                      </p:to>
                                    </p:set>
                                    <p:animEffect transition="in" filter="fade">
                                      <p:cBhvr>
                                        <p:cTn id="206" dur="400"/>
                                        <p:tgtEl>
                                          <p:spTgt spid="25"/>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26"/>
                                        </p:tgtEl>
                                        <p:attrNameLst>
                                          <p:attrName>style.visibility</p:attrName>
                                        </p:attrNameLst>
                                      </p:cBhvr>
                                      <p:to>
                                        <p:strVal val="visible"/>
                                      </p:to>
                                    </p:set>
                                    <p:animEffect transition="in" filter="fade">
                                      <p:cBhvr>
                                        <p:cTn id="209" dur="400"/>
                                        <p:tgtEl>
                                          <p:spTgt spid="2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27"/>
                                        </p:tgtEl>
                                        <p:attrNameLst>
                                          <p:attrName>style.visibility</p:attrName>
                                        </p:attrNameLst>
                                      </p:cBhvr>
                                      <p:to>
                                        <p:strVal val="visible"/>
                                      </p:to>
                                    </p:set>
                                    <p:animEffect transition="in" filter="fade">
                                      <p:cBhvr>
                                        <p:cTn id="212" dur="400"/>
                                        <p:tgtEl>
                                          <p:spTgt spid="27"/>
                                        </p:tgtEl>
                                      </p:cBhvr>
                                    </p:animEffect>
                                  </p:childTnLst>
                                </p:cTn>
                              </p:par>
                              <p:par>
                                <p:cTn id="213" presetID="10" presetClass="entr" presetSubtype="0" fill="hold" nodeType="withEffect">
                                  <p:stCondLst>
                                    <p:cond delay="0"/>
                                  </p:stCondLst>
                                  <p:childTnLst>
                                    <p:set>
                                      <p:cBhvr>
                                        <p:cTn id="214" dur="1" fill="hold">
                                          <p:stCondLst>
                                            <p:cond delay="0"/>
                                          </p:stCondLst>
                                        </p:cTn>
                                        <p:tgtEl>
                                          <p:spTgt spid="28"/>
                                        </p:tgtEl>
                                        <p:attrNameLst>
                                          <p:attrName>style.visibility</p:attrName>
                                        </p:attrNameLst>
                                      </p:cBhvr>
                                      <p:to>
                                        <p:strVal val="visible"/>
                                      </p:to>
                                    </p:set>
                                    <p:animEffect transition="in" filter="fade">
                                      <p:cBhvr>
                                        <p:cTn id="215" dur="400"/>
                                        <p:tgtEl>
                                          <p:spTgt spid="28"/>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29"/>
                                        </p:tgtEl>
                                        <p:attrNameLst>
                                          <p:attrName>style.visibility</p:attrName>
                                        </p:attrNameLst>
                                      </p:cBhvr>
                                      <p:to>
                                        <p:strVal val="visible"/>
                                      </p:to>
                                    </p:set>
                                    <p:animEffect transition="in" filter="fade">
                                      <p:cBhvr>
                                        <p:cTn id="21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9"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3" grpId="0" animBg="1"/>
      <p:bldP spid="7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read, change, combine, loop, trace, run</a:t>
            </a:r>
            <a:endParaRPr lang="en-US" sz="1400" dirty="0"/>
          </a:p>
        </p:txBody>
      </p:sp>
      <p:sp>
        <p:nvSpPr>
          <p:cNvPr id="6" name="canchip|b1"/>
          <p:cNvSpPr/>
          <p:nvPr/>
        </p:nvSpPr>
        <p:spPr>
          <a:xfrm>
            <a:off x="457200" y="1188720"/>
            <a:ext cx="1371600" cy="457200"/>
          </a:xfrm>
          <a:prstGeom prst="roundRect">
            <a:avLst>
              <a:gd name="adj" fmla="val 20000"/>
            </a:avLst>
          </a:prstGeom>
          <a:solidFill>
            <a:srgbClr val="306998"/>
          </a:solidFill>
          <a:ln w="12700">
            <a:solidFill>
              <a:srgbClr val="306998"/>
            </a:solidFill>
            <a:prstDash val="solid"/>
          </a:ln>
        </p:spPr>
      </p:sp>
      <p:sp>
        <p:nvSpPr>
          <p:cNvPr id="7" name="canchipt|b1"/>
          <p:cNvSpPr txBox="1"/>
          <p:nvPr/>
        </p:nvSpPr>
        <p:spPr>
          <a:xfrm>
            <a:off x="457200" y="11887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8" name="cantxt|b1"/>
          <p:cNvSpPr txBox="1"/>
          <p:nvPr/>
        </p:nvSpPr>
        <p:spPr>
          <a:xfrm>
            <a:off x="2011680" y="11887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by index, negative index and slice: every slice is a new list</a:t>
            </a:r>
            <a:endParaRPr lang="en-US" sz="1500" dirty="0"/>
          </a:p>
        </p:txBody>
      </p:sp>
      <p:sp>
        <p:nvSpPr>
          <p:cNvPr id="9" name="canchip|b2"/>
          <p:cNvSpPr/>
          <p:nvPr/>
        </p:nvSpPr>
        <p:spPr>
          <a:xfrm>
            <a:off x="457200" y="1737360"/>
            <a:ext cx="1371600" cy="457200"/>
          </a:xfrm>
          <a:prstGeom prst="roundRect">
            <a:avLst>
              <a:gd name="adj" fmla="val 20000"/>
            </a:avLst>
          </a:prstGeom>
          <a:solidFill>
            <a:srgbClr val="306998"/>
          </a:solidFill>
          <a:ln w="12700">
            <a:solidFill>
              <a:srgbClr val="306998"/>
            </a:solidFill>
            <a:prstDash val="solid"/>
          </a:ln>
        </p:spPr>
      </p:sp>
      <p:sp>
        <p:nvSpPr>
          <p:cNvPr id="10" name="canchipt|b2"/>
          <p:cNvSpPr txBox="1"/>
          <p:nvPr/>
        </p:nvSpPr>
        <p:spPr>
          <a:xfrm>
            <a:off x="457200" y="173736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Change</a:t>
            </a:r>
            <a:endParaRPr lang="en-US" sz="1800" dirty="0"/>
          </a:p>
        </p:txBody>
      </p:sp>
      <p:sp>
        <p:nvSpPr>
          <p:cNvPr id="11" name="cantxt|b2"/>
          <p:cNvSpPr txBox="1"/>
          <p:nvPr/>
        </p:nvSpPr>
        <p:spPr>
          <a:xfrm>
            <a:off x="2011680" y="173736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in place, and know that append, sort and shuffle return None</a:t>
            </a:r>
            <a:endParaRPr lang="en-US" sz="1500" dirty="0"/>
          </a:p>
        </p:txBody>
      </p:sp>
      <p:sp>
        <p:nvSpPr>
          <p:cNvPr id="12" name="canchip|b3"/>
          <p:cNvSpPr/>
          <p:nvPr/>
        </p:nvSpPr>
        <p:spPr>
          <a:xfrm>
            <a:off x="457200" y="2286000"/>
            <a:ext cx="1371600" cy="457200"/>
          </a:xfrm>
          <a:prstGeom prst="roundRect">
            <a:avLst>
              <a:gd name="adj" fmla="val 20000"/>
            </a:avLst>
          </a:prstGeom>
          <a:solidFill>
            <a:srgbClr val="306998"/>
          </a:solidFill>
          <a:ln w="12700">
            <a:solidFill>
              <a:srgbClr val="306998"/>
            </a:solidFill>
            <a:prstDash val="solid"/>
          </a:ln>
        </p:spPr>
      </p:sp>
      <p:sp>
        <p:nvSpPr>
          <p:cNvPr id="13" name="canchipt|b3"/>
          <p:cNvSpPr txBox="1"/>
          <p:nvPr/>
        </p:nvSpPr>
        <p:spPr>
          <a:xfrm>
            <a:off x="457200" y="228600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Combine</a:t>
            </a:r>
            <a:endParaRPr lang="en-US" sz="1800" dirty="0"/>
          </a:p>
        </p:txBody>
      </p:sp>
      <p:sp>
        <p:nvSpPr>
          <p:cNvPr id="14" name="cantxt|b3"/>
          <p:cNvSpPr txBox="1"/>
          <p:nvPr/>
        </p:nvSpPr>
        <p:spPr>
          <a:xfrm>
            <a:off x="2011680" y="228600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 and *, search with in and index, order with sort and sorted</a:t>
            </a:r>
            <a:endParaRPr lang="en-US" sz="1500" dirty="0"/>
          </a:p>
        </p:txBody>
      </p:sp>
      <p:sp>
        <p:nvSpPr>
          <p:cNvPr id="15" name="canchip|b4"/>
          <p:cNvSpPr/>
          <p:nvPr/>
        </p:nvSpPr>
        <p:spPr>
          <a:xfrm>
            <a:off x="457200" y="2834640"/>
            <a:ext cx="1371600" cy="457200"/>
          </a:xfrm>
          <a:prstGeom prst="roundRect">
            <a:avLst>
              <a:gd name="adj" fmla="val 20000"/>
            </a:avLst>
          </a:prstGeom>
          <a:solidFill>
            <a:srgbClr val="306998"/>
          </a:solidFill>
          <a:ln w="12700">
            <a:solidFill>
              <a:srgbClr val="306998"/>
            </a:solidFill>
            <a:prstDash val="solid"/>
          </a:ln>
        </p:spPr>
      </p:sp>
      <p:sp>
        <p:nvSpPr>
          <p:cNvPr id="16" name="canchipt|b4"/>
          <p:cNvSpPr txBox="1"/>
          <p:nvPr/>
        </p:nvSpPr>
        <p:spPr>
          <a:xfrm>
            <a:off x="457200" y="283464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Loop</a:t>
            </a:r>
            <a:endParaRPr lang="en-US" sz="1800" dirty="0"/>
          </a:p>
        </p:txBody>
      </p:sp>
      <p:sp>
        <p:nvSpPr>
          <p:cNvPr id="17" name="cantxt|b4"/>
          <p:cNvSpPr txBox="1"/>
          <p:nvPr/>
        </p:nvSpPr>
        <p:spPr>
          <a:xfrm>
            <a:off x="2011680" y="283464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range(len()) or enumerate(), and never remove from what you walk</a:t>
            </a:r>
            <a:endParaRPr lang="en-US" sz="1500" dirty="0"/>
          </a:p>
        </p:txBody>
      </p:sp>
      <p:sp>
        <p:nvSpPr>
          <p:cNvPr id="18" name="canchip|b5"/>
          <p:cNvSpPr/>
          <p:nvPr/>
        </p:nvSpPr>
        <p:spPr>
          <a:xfrm>
            <a:off x="457200" y="3383280"/>
            <a:ext cx="1371600" cy="457200"/>
          </a:xfrm>
          <a:prstGeom prst="roundRect">
            <a:avLst>
              <a:gd name="adj" fmla="val 20000"/>
            </a:avLst>
          </a:prstGeom>
          <a:solidFill>
            <a:srgbClr val="306998"/>
          </a:solidFill>
          <a:ln w="12700">
            <a:solidFill>
              <a:srgbClr val="306998"/>
            </a:solidFill>
            <a:prstDash val="solid"/>
          </a:ln>
        </p:spPr>
      </p:sp>
      <p:sp>
        <p:nvSpPr>
          <p:cNvPr id="19" name="canchipt|b5"/>
          <p:cNvSpPr txBox="1"/>
          <p:nvPr/>
        </p:nvSpPr>
        <p:spPr>
          <a:xfrm>
            <a:off x="457200" y="338328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20" name="cantxt|b5"/>
          <p:cNvSpPr txBox="1"/>
          <p:nvPr/>
        </p:nvSpPr>
        <p:spPr>
          <a:xfrm>
            <a:off x="2011680" y="338328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assignment, arguments, copies and [[]] * n as names reaching boxes</a:t>
            </a:r>
            <a:endParaRPr lang="en-US" sz="1500" dirty="0"/>
          </a:p>
        </p:txBody>
      </p:sp>
      <p:sp>
        <p:nvSpPr>
          <p:cNvPr id="21" name="canchip|b6"/>
          <p:cNvSpPr/>
          <p:nvPr/>
        </p:nvSpPr>
        <p:spPr>
          <a:xfrm>
            <a:off x="457200" y="3931920"/>
            <a:ext cx="1371600" cy="457200"/>
          </a:xfrm>
          <a:prstGeom prst="roundRect">
            <a:avLst>
              <a:gd name="adj" fmla="val 20000"/>
            </a:avLst>
          </a:prstGeom>
          <a:solidFill>
            <a:srgbClr val="306998"/>
          </a:solidFill>
          <a:ln w="12700">
            <a:solidFill>
              <a:srgbClr val="306998"/>
            </a:solidFill>
            <a:prstDash val="solid"/>
          </a:ln>
        </p:spPr>
      </p:sp>
      <p:sp>
        <p:nvSpPr>
          <p:cNvPr id="22" name="canchipt|b6"/>
          <p:cNvSpPr txBox="1"/>
          <p:nvPr/>
        </p:nvSpPr>
        <p:spPr>
          <a:xfrm>
            <a:off x="457200" y="39319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Run</a:t>
            </a:r>
            <a:endParaRPr lang="en-US" sz="1800" dirty="0"/>
          </a:p>
        </p:txBody>
      </p:sp>
      <p:sp>
        <p:nvSpPr>
          <p:cNvPr id="23" name="cantxt|b6"/>
          <p:cNvSpPr txBox="1"/>
          <p:nvPr/>
        </p:nvSpPr>
        <p:spPr>
          <a:xfrm>
            <a:off x="2011680" y="39319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the Magic 8 Ball and the Matrix screensaver, and say why they work</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Practice: predict, then read the answer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each answer is a real run</a:t>
            </a:r>
            <a:endParaRPr lang="en-US" sz="1400" dirty="0"/>
          </a:p>
        </p:txBody>
      </p:sp>
      <p:sp>
        <p:nvSpPr>
          <p:cNvPr id="6" name="x"/>
          <p:cNvSpPr txBox="1"/>
          <p:nvPr/>
        </p:nvSpPr>
        <p:spPr>
          <a:xfrm>
            <a:off x="36576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1</a:t>
            </a:r>
            <a:endParaRPr lang="en-US" sz="1800" dirty="0"/>
          </a:p>
        </p:txBody>
      </p:sp>
      <p:sp>
        <p:nvSpPr>
          <p:cNvPr id="7" name="x"/>
          <p:cNvSpPr txBox="1"/>
          <p:nvPr/>
        </p:nvSpPr>
        <p:spPr>
          <a:xfrm>
            <a:off x="68580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spam.sort(), what did sort() give back, and what does spam hold?</a:t>
            </a:r>
            <a:endParaRPr lang="en-US" sz="1250" dirty="0"/>
          </a:p>
        </p:txBody>
      </p:sp>
      <p:sp>
        <p:nvSpPr>
          <p:cNvPr id="8" name="codecardbox|b1"/>
          <p:cNvSpPr/>
          <p:nvPr/>
        </p:nvSpPr>
        <p:spPr>
          <a:xfrm>
            <a:off x="365760" y="1572768"/>
            <a:ext cx="4114800" cy="658368"/>
          </a:xfrm>
          <a:prstGeom prst="roundRect">
            <a:avLst>
              <a:gd name="adj" fmla="val 13889"/>
            </a:avLst>
          </a:prstGeom>
          <a:solidFill>
            <a:srgbClr val="17202B"/>
          </a:solidFill>
          <a:ln w="12700">
            <a:solidFill>
              <a:srgbClr val="17202B"/>
            </a:solidFill>
            <a:prstDash val="solid"/>
          </a:ln>
        </p:spPr>
      </p:sp>
      <p:sp>
        <p:nvSpPr>
          <p:cNvPr id="9" name="codecard|b1"/>
          <p:cNvSpPr txBox="1"/>
          <p:nvPr/>
        </p:nvSpPr>
        <p:spPr>
          <a:xfrm>
            <a:off x="53035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 = [3, 1,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(spam.sort(), spam)</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(None, [1, 2, 3])</a:t>
            </a:r>
            <a:endParaRPr lang="en-US" sz="1000" dirty="0"/>
          </a:p>
        </p:txBody>
      </p:sp>
      <p:sp>
        <p:nvSpPr>
          <p:cNvPr id="10" name="x"/>
          <p:cNvSpPr txBox="1"/>
          <p:nvPr/>
        </p:nvSpPr>
        <p:spPr>
          <a:xfrm>
            <a:off x="466344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2</a:t>
            </a:r>
            <a:endParaRPr lang="en-US" sz="1800" dirty="0"/>
          </a:p>
        </p:txBody>
      </p:sp>
      <p:sp>
        <p:nvSpPr>
          <p:cNvPr id="11" name="x"/>
          <p:cNvSpPr txBox="1"/>
          <p:nvPr/>
        </p:nvSpPr>
        <p:spPr>
          <a:xfrm>
            <a:off x="498348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b = a and a += [2], what does b hold?</a:t>
            </a:r>
            <a:endParaRPr lang="en-US" sz="1250" dirty="0"/>
          </a:p>
        </p:txBody>
      </p:sp>
      <p:sp>
        <p:nvSpPr>
          <p:cNvPr id="12" name="codecardbox|b2"/>
          <p:cNvSpPr/>
          <p:nvPr/>
        </p:nvSpPr>
        <p:spPr>
          <a:xfrm>
            <a:off x="4663440" y="1572768"/>
            <a:ext cx="4114800" cy="658368"/>
          </a:xfrm>
          <a:prstGeom prst="roundRect">
            <a:avLst>
              <a:gd name="adj" fmla="val 13889"/>
            </a:avLst>
          </a:prstGeom>
          <a:solidFill>
            <a:srgbClr val="17202B"/>
          </a:solidFill>
          <a:ln w="12700">
            <a:solidFill>
              <a:srgbClr val="17202B"/>
            </a:solidFill>
            <a:prstDash val="solid"/>
          </a:ln>
        </p:spPr>
      </p:sp>
      <p:sp>
        <p:nvSpPr>
          <p:cNvPr id="13" name="codecard|b2"/>
          <p:cNvSpPr txBox="1"/>
          <p:nvPr/>
        </p:nvSpPr>
        <p:spPr>
          <a:xfrm>
            <a:off x="482803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[1]; b = a; a +=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 2]</a:t>
            </a:r>
            <a:endParaRPr lang="en-US" sz="1000" dirty="0"/>
          </a:p>
        </p:txBody>
      </p:sp>
      <p:sp>
        <p:nvSpPr>
          <p:cNvPr id="14" name="x"/>
          <p:cNvSpPr txBox="1"/>
          <p:nvPr/>
        </p:nvSpPr>
        <p:spPr>
          <a:xfrm>
            <a:off x="36576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3</a:t>
            </a:r>
            <a:endParaRPr lang="en-US" sz="1800" dirty="0"/>
          </a:p>
        </p:txBody>
      </p:sp>
      <p:sp>
        <p:nvSpPr>
          <p:cNvPr id="15" name="x"/>
          <p:cNvSpPr txBox="1"/>
          <p:nvPr/>
        </p:nvSpPr>
        <p:spPr>
          <a:xfrm>
            <a:off x="68580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How many different lists does [[]] * 3 hold?</a:t>
            </a:r>
            <a:endParaRPr lang="en-US" sz="1250" dirty="0"/>
          </a:p>
        </p:txBody>
      </p:sp>
      <p:sp>
        <p:nvSpPr>
          <p:cNvPr id="16" name="codecardbox|b3"/>
          <p:cNvSpPr/>
          <p:nvPr/>
        </p:nvSpPr>
        <p:spPr>
          <a:xfrm>
            <a:off x="365760" y="2761488"/>
            <a:ext cx="4114800" cy="822960"/>
          </a:xfrm>
          <a:prstGeom prst="roundRect">
            <a:avLst>
              <a:gd name="adj" fmla="val 11111"/>
            </a:avLst>
          </a:prstGeom>
          <a:solidFill>
            <a:srgbClr val="17202B"/>
          </a:solidFill>
          <a:ln w="12700">
            <a:solidFill>
              <a:srgbClr val="17202B"/>
            </a:solidFill>
            <a:prstDash val="solid"/>
          </a:ln>
        </p:spPr>
      </p:sp>
      <p:sp>
        <p:nvSpPr>
          <p:cNvPr id="17" name="codecard|b3"/>
          <p:cNvSpPr txBox="1"/>
          <p:nvPr/>
        </p:nvSpPr>
        <p:spPr>
          <a:xfrm>
            <a:off x="53035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lists = [[]] * 3</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len({id(x) for x in lists})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8" name="x"/>
          <p:cNvSpPr txBox="1"/>
          <p:nvPr/>
        </p:nvSpPr>
        <p:spPr>
          <a:xfrm>
            <a:off x="466344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4</a:t>
            </a:r>
            <a:endParaRPr lang="en-US" sz="1800" dirty="0"/>
          </a:p>
        </p:txBody>
      </p:sp>
      <p:sp>
        <p:nvSpPr>
          <p:cNvPr id="19" name="x"/>
          <p:cNvSpPr txBox="1"/>
          <p:nvPr/>
        </p:nvSpPr>
        <p:spPr>
          <a:xfrm>
            <a:off x="498348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items are left after removing every item below 3 while looping?</a:t>
            </a:r>
            <a:endParaRPr lang="en-US" sz="1250" dirty="0"/>
          </a:p>
        </p:txBody>
      </p:sp>
      <p:sp>
        <p:nvSpPr>
          <p:cNvPr id="20" name="codecardbox|b4"/>
          <p:cNvSpPr/>
          <p:nvPr/>
        </p:nvSpPr>
        <p:spPr>
          <a:xfrm>
            <a:off x="4663440" y="2761488"/>
            <a:ext cx="4114800" cy="822960"/>
          </a:xfrm>
          <a:prstGeom prst="roundRect">
            <a:avLst>
              <a:gd name="adj" fmla="val 11111"/>
            </a:avLst>
          </a:prstGeom>
          <a:solidFill>
            <a:srgbClr val="17202B"/>
          </a:solidFill>
          <a:ln w="12700">
            <a:solidFill>
              <a:srgbClr val="17202B"/>
            </a:solidFill>
            <a:prstDash val="solid"/>
          </a:ln>
        </p:spPr>
      </p:sp>
      <p:sp>
        <p:nvSpPr>
          <p:cNvPr id="21" name="codecard|b4"/>
          <p:cNvSpPr txBox="1"/>
          <p:nvPr/>
        </p:nvSpPr>
        <p:spPr>
          <a:xfrm>
            <a:off x="482803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 = [1, 2, 3, 4]</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for x in nums: x &lt; 3 and nums.remove(x)</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[2, 3, 4]</a:t>
            </a:r>
            <a:endParaRPr lang="en-US" sz="1000" dirty="0"/>
          </a:p>
        </p:txBody>
      </p:sp>
      <p:sp>
        <p:nvSpPr>
          <p:cNvPr id="22" name="v:PracticePrograms:f0box:box|b5"/>
          <p:cNvSpPr/>
          <p:nvPr/>
        </p:nvSpPr>
        <p:spPr>
          <a:xfrm>
            <a:off x="365760" y="3657600"/>
            <a:ext cx="2743200" cy="932688"/>
          </a:xfrm>
          <a:prstGeom prst="roundRect">
            <a:avLst>
              <a:gd name="adj" fmla="val 7843"/>
            </a:avLst>
          </a:prstGeom>
          <a:solidFill>
            <a:srgbClr val="F1F4F8"/>
          </a:solidFill>
          <a:ln w="12700">
            <a:solidFill>
              <a:srgbClr val="F1F4F8"/>
            </a:solidFill>
            <a:prstDash val="solid"/>
          </a:ln>
        </p:spPr>
      </p:sp>
      <p:sp>
        <p:nvSpPr>
          <p:cNvPr id="23" name="v:PracticePrograms:f0t|b5"/>
          <p:cNvSpPr txBox="1"/>
          <p:nvPr/>
        </p:nvSpPr>
        <p:spPr>
          <a:xfrm>
            <a:off x="47548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1: comma code</a:t>
            </a:r>
            <a:endParaRPr lang="en-US" sz="1000" dirty="0"/>
          </a:p>
        </p:txBody>
      </p:sp>
      <p:sp>
        <p:nvSpPr>
          <p:cNvPr id="24" name="v:PracticePrograms:f0e|b5"/>
          <p:cNvSpPr txBox="1"/>
          <p:nvPr/>
        </p:nvSpPr>
        <p:spPr>
          <a:xfrm>
            <a:off x="47548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comma_code(['apples', 'bananas', 'tofu', 'cats'])</a:t>
            </a:r>
            <a:endParaRPr lang="en-US" sz="900" dirty="0"/>
          </a:p>
        </p:txBody>
      </p:sp>
      <p:sp>
        <p:nvSpPr>
          <p:cNvPr id="25" name="v:PracticePrograms:f0r|b5"/>
          <p:cNvSpPr txBox="1"/>
          <p:nvPr/>
        </p:nvSpPr>
        <p:spPr>
          <a:xfrm>
            <a:off x="475488" y="4224528"/>
            <a:ext cx="2523744" cy="310896"/>
          </a:xfrm>
          <a:prstGeom prst="rect">
            <a:avLst/>
          </a:prstGeom>
          <a:noFill/>
          <a:ln/>
        </p:spPr>
        <p:txBody>
          <a:bodyPr wrap="square" lIns="0" tIns="0" rIns="0" bIns="0" rtlCol="0" anchor="ctr">
            <a:normAutofit/>
          </a:bodyPr>
          <a:lstStyle/>
          <a:p>
            <a:pPr indent="0" marL="0">
              <a:buNone/>
            </a:pPr>
            <a:r>
              <a:rPr lang="en-US" sz="978" b="1" dirty="0">
                <a:solidFill>
                  <a:srgbClr val="2E9E5B"/>
                </a:solidFill>
                <a:latin typeface="Courier New" pitchFamily="34" charset="0"/>
                <a:ea typeface="Courier New" pitchFamily="34" charset="-122"/>
                <a:cs typeface="Courier New" pitchFamily="34" charset="-120"/>
              </a:rPr>
              <a:t>'apples, bananas, tofu, and cats'</a:t>
            </a:r>
            <a:endParaRPr lang="en-US" sz="978" dirty="0"/>
          </a:p>
        </p:txBody>
      </p:sp>
      <p:sp>
        <p:nvSpPr>
          <p:cNvPr id="26" name="v:PracticePrograms:f1box:box|b6"/>
          <p:cNvSpPr/>
          <p:nvPr/>
        </p:nvSpPr>
        <p:spPr>
          <a:xfrm>
            <a:off x="3200400" y="3657600"/>
            <a:ext cx="2743200" cy="932688"/>
          </a:xfrm>
          <a:prstGeom prst="roundRect">
            <a:avLst>
              <a:gd name="adj" fmla="val 7843"/>
            </a:avLst>
          </a:prstGeom>
          <a:solidFill>
            <a:srgbClr val="F1F4F8"/>
          </a:solidFill>
          <a:ln w="12700">
            <a:solidFill>
              <a:srgbClr val="F1F4F8"/>
            </a:solidFill>
            <a:prstDash val="solid"/>
          </a:ln>
        </p:spPr>
      </p:sp>
      <p:sp>
        <p:nvSpPr>
          <p:cNvPr id="27" name="v:PracticePrograms:f1t|b6"/>
          <p:cNvSpPr txBox="1"/>
          <p:nvPr/>
        </p:nvSpPr>
        <p:spPr>
          <a:xfrm>
            <a:off x="331012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2: a streak of six in 100 flips</a:t>
            </a:r>
            <a:endParaRPr lang="en-US" sz="1000" dirty="0"/>
          </a:p>
        </p:txBody>
      </p:sp>
      <p:sp>
        <p:nvSpPr>
          <p:cNvPr id="28" name="v:PracticePrograms:f1e|b6"/>
          <p:cNvSpPr txBox="1"/>
          <p:nvPr/>
        </p:nvSpPr>
        <p:spPr>
          <a:xfrm>
            <a:off x="331012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exact chance, by counting run lengths</a:t>
            </a:r>
            <a:endParaRPr lang="en-US" sz="900" dirty="0"/>
          </a:p>
        </p:txBody>
      </p:sp>
      <p:sp>
        <p:nvSpPr>
          <p:cNvPr id="29" name="v:PracticePrograms:f1r|b6"/>
          <p:cNvSpPr txBox="1"/>
          <p:nvPr/>
        </p:nvSpPr>
        <p:spPr>
          <a:xfrm>
            <a:off x="331012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0.807</a:t>
            </a:r>
            <a:endParaRPr lang="en-US" sz="1200" dirty="0"/>
          </a:p>
        </p:txBody>
      </p:sp>
      <p:sp>
        <p:nvSpPr>
          <p:cNvPr id="30" name="v:PracticePrograms:f2box:box|b7"/>
          <p:cNvSpPr/>
          <p:nvPr/>
        </p:nvSpPr>
        <p:spPr>
          <a:xfrm>
            <a:off x="6035040" y="3657600"/>
            <a:ext cx="2743200" cy="932688"/>
          </a:xfrm>
          <a:prstGeom prst="roundRect">
            <a:avLst>
              <a:gd name="adj" fmla="val 7843"/>
            </a:avLst>
          </a:prstGeom>
          <a:solidFill>
            <a:srgbClr val="F1F4F8"/>
          </a:solidFill>
          <a:ln w="12700">
            <a:solidFill>
              <a:srgbClr val="F1F4F8"/>
            </a:solidFill>
            <a:prstDash val="solid"/>
          </a:ln>
        </p:spPr>
      </p:sp>
      <p:sp>
        <p:nvSpPr>
          <p:cNvPr id="31" name="v:PracticePrograms:f2t|b7"/>
          <p:cNvSpPr txBox="1"/>
          <p:nvPr/>
        </p:nvSpPr>
        <p:spPr>
          <a:xfrm>
            <a:off x="614476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Question 3 of the chapter</a:t>
            </a:r>
            <a:endParaRPr lang="en-US" sz="1000" dirty="0"/>
          </a:p>
        </p:txBody>
      </p:sp>
      <p:sp>
        <p:nvSpPr>
          <p:cNvPr id="32" name="v:PracticePrograms:f2e|b7"/>
          <p:cNvSpPr txBox="1"/>
          <p:nvPr/>
        </p:nvSpPr>
        <p:spPr>
          <a:xfrm>
            <a:off x="614476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spam[int(int('3' * 2) // 11)]</a:t>
            </a:r>
            <a:endParaRPr lang="en-US" sz="900" dirty="0"/>
          </a:p>
        </p:txBody>
      </p:sp>
      <p:sp>
        <p:nvSpPr>
          <p:cNvPr id="33" name="v:PracticePrograms:f2r|b7"/>
          <p:cNvSpPr txBox="1"/>
          <p:nvPr/>
        </p:nvSpPr>
        <p:spPr>
          <a:xfrm>
            <a:off x="614476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'd'</a:t>
            </a:r>
            <a:endParaRPr lang="en-US" sz="1200" dirty="0"/>
          </a:p>
        </p:txBody>
      </p:sp>
      <p:sp>
        <p:nvSpPr>
          <p:cNvPr id="3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Practice programs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childTnLst>
                          </p:cTn>
                        </p:par>
                      </p:childTnLst>
                    </p:cTn>
                  </p:par>
                  <p:par>
                    <p:cTn id="47" fill="hold">
                      <p:stCondLst>
                        <p:cond delay="indefinite"/>
                      </p:stCondLst>
                      <p:childTnLst>
                        <p:par>
                          <p:cTn id="48"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childTnLst>
                          </p:cTn>
                        </p:par>
                      </p:childTnLst>
                    </p:cTn>
                  </p:par>
                  <p:par>
                    <p:cTn id="61" fill="hold">
                      <p:stCondLst>
                        <p:cond delay="indefinite"/>
                      </p:stCondLst>
                      <p:childTnLst>
                        <p:par>
                          <p:cTn id="62"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400"/>
                                        <p:tgtEl>
                                          <p:spTgt spid="29"/>
                                        </p:tgtEl>
                                      </p:cBhvr>
                                    </p:animEffect>
                                  </p:childTnLst>
                                </p:cTn>
                              </p:par>
                            </p:childTnLst>
                          </p:cTn>
                        </p:par>
                      </p:childTnLst>
                    </p:cTn>
                  </p:par>
                  <p:par>
                    <p:cTn id="75" fill="hold">
                      <p:stCondLst>
                        <p:cond delay="indefinite"/>
                      </p:stCondLst>
                      <p:childTnLst>
                        <p:par>
                          <p:cTn id="76"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4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400"/>
                                        <p:tgtEl>
                                          <p:spTgt spid="3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2026-09-29T16:02:16Z</dcterms:created>
  <dcterms:modified xsi:type="dcterms:W3CDTF">2026-09-29T16:02:16Z</dcterms:modified>
  <cp:version>1.0.0</cp:version>
</cp:coreProperties>
</file>