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2B2622"/>
                </a:solidFill>
                <a:latin typeface="Cambria"/>
              </a:defRPr>
            </a:pPr>
            <a:r>
              <a:rPr sz="1300" b="0" i="0" u="none" strike="noStrike">
                <a:solidFill>
                  <a:srgbClr val="2B2622"/>
                </a:solidFill>
                <a:latin typeface="Cambria"/>
              </a:rPr>
              <a:t>page.rotation after each call</a:t>
            </a:r>
          </a:p>
        </c:rich>
      </c:tx>
      <c:layout/>
      <c:overlay val="0"/>
    </c:title>
    <c:autoTitleDeleted val="0"/>
    <c:plotArea>
      <c:layout/>
      <c:barChart>
        <c:barDir val="col"/>
        <c:grouping val="clustered"/>
        <c:varyColors val="0"/>
        <c:ser>
          <c:idx val="0"/>
          <c:order val="0"/>
          <c:tx>
            <c:strRef>
              <c:f>Sheet1!$B$1</c:f>
              <c:strCache>
                <c:ptCount val="1"/>
                <c:pt idx="0">
                  <c:v>degrees</c:v>
                </c:pt>
              </c:strCache>
            </c:strRef>
          </c:tx>
          <c:spPr>
            <a:solidFill>
              <a:srgbClr val="D97A14"/>
            </a:solidFill>
            <a:effectLst/>
          </c:spPr>
          <c:invertIfNegative val="0"/>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dPt>
            <c:idx val="0"/>
            <c:invertIfNegative val="0"/>
            <c:bubble3D val="0"/>
            <c:spPr>
              <a:solidFill>
                <a:srgbClr val="D97A14"/>
              </a:solidFill>
              <a:effectLst/>
            </c:spPr>
          </c:dPt>
          <c:dPt>
            <c:idx val="1"/>
            <c:invertIfNegative val="0"/>
            <c:bubble3D val="0"/>
            <c:spPr>
              <a:solidFill>
                <a:srgbClr val="2F6D62"/>
              </a:solidFill>
              <a:effectLst/>
            </c:spPr>
          </c:dPt>
          <c:dPt>
            <c:idx val="2"/>
            <c:invertIfNegative val="0"/>
            <c:bubble3D val="0"/>
            <c:spPr>
              <a:solidFill>
                <a:srgbClr val="D97A14"/>
              </a:solidFill>
              <a:effectLst/>
            </c:spPr>
          </c:dPt>
          <c:dPt>
            <c:idx val="3"/>
            <c:invertIfNegative val="0"/>
            <c:bubble3D val="0"/>
            <c:spPr>
              <a:solidFill>
                <a:srgbClr val="2F6D62"/>
              </a:solidFill>
              <a:effectLst/>
            </c:spPr>
          </c:dPt>
          <c:cat>
            <c:multiLvlStrRef>
              <c:f>Sheet1!$A$2:$A$5</c:f>
              <c:multiLvlStrCache>
                <c:ptCount val="4"/>
                <c:lvl>
                  <c:pt idx="0">
                    <c:v>rotate(90)</c:v>
                  </c:pt>
                  <c:pt idx="1">
                    <c:v>rotate(270)</c:v>
                  </c:pt>
                  <c:pt idx="2">
                    <c:v>rotate(-90)</c:v>
                  </c:pt>
                  <c:pt idx="3">
                    <c:v>rotate(180)</c:v>
                  </c:pt>
                </c:lvl>
              </c:multiLvlStrCache>
            </c:multiLvlStrRef>
          </c:cat>
          <c:val>
            <c:numRef>
              <c:f>Sheet1!$B$2:$B$5</c:f>
              <c:numCache>
                <c:formatCode>General</c:formatCode>
                <c:ptCount val="4"/>
                <c:pt idx="0">
                  <c:v>90</c:v>
                </c:pt>
                <c:pt idx="1">
                  <c:v>360</c:v>
                </c:pt>
                <c:pt idx="2">
                  <c:v>270</c:v>
                </c:pt>
                <c:pt idx="3">
                  <c:v>450</c:v>
                </c:pt>
              </c:numCache>
            </c:numRef>
          </c:val>
        </c:ser>
        <c:dLbls>
          <c:numFmt formatCode="General" sourceLinked="0"/>
          <c:txPr>
            <a:bodyPr/>
            <a:lstStyle/>
            <a:p>
              <a:pPr>
                <a:defRPr b="0" i="0" strike="noStrike" sz="900" u="none">
                  <a:solidFill>
                    <a:srgbClr val="2B2622"/>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3DAC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655C"/>
                </a:solidFill>
                <a:latin typeface="Arial"/>
              </a:defRPr>
            </a:pPr>
            <a:endParaRPr lang="en-US"/>
          </a:p>
        </c:txPr>
        <c:crossAx val="2094734554"/>
        <c:crosses val="autoZero"/>
        <c:crossBetween val="between"/>
      </c:valAx>
      <c:spPr>
        <a:solidFill>
          <a:srgbClr val="FAF6EF"/>
        </a:solidFill>
        <a:ln>
          <a:noFill/>
        </a:ln>
        <a:effectLst/>
      </c:spPr>
    </c:plotArea>
    <c:plotVisOnly val="1"/>
    <c:dispBlanksAs val="span"/>
  </c:chart>
  <c:spPr>
    <a:solidFill>
      <a:srgbClr val="FAF6E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16 kept data in one database file that a program owns. Chapter 17 turns to the opposite case: files that other people made for other people to read, a PDF that looks the same on every screen and a Word document that opens in an editor, and asks what a program can do with them. This deck follows the chapter in its own order: the PDF package pypdf, which reads text and images, copies pages into a new file, rotates and inserts pages, lays one page over another and encrypts a file; Project 12 that combines the pages of many PDFs; the Word package python-docx, which reads paragraphs and runs, styles them, and writes paragraphs, headings, breaks and pictures; and the three practice programs, PDF Paranoia, Custom Invitations and PDF Password Breaker. It adds what the chapter leaves out and what the research found when every printed output was run again: the default encryption of pypdf is RC4 and not AES-256, the merge() line of the chapter inserts the whole file, rotations add up, insert_blank_page(2) means a width of two points, most of the attributes of Table 17-1 belong to the font and not to the run, the text of a hyperlink is in no run, a style name with a trailing space raises KeyError, the package docx cannot be imported, and the dictionary of the Password Breaker is eight times the size the page names. Everything printed on these slides was produced by Python 3.14.6, installed with uv, with pypdf 6.20.1 and python-docx 1.2.0; the programs build their own documents, and the only network use is the fetch of the two files the book ships, whose hashes are checked.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route has seven parts. It starts with the PDF: what a program can do with it, the memo that began the format, and the header, the table and the drawing commands that a file holds. Then reading: text page by page, the language-model clean-up that was not run, and the images of the book's own PDF. Then writing PDFs: copying pages, rotating and stamping them, and the encryption that is RC4 unless you ask for AES-256, with the life of an encrypted file. Then three projects with PDFs: combining many files, PDF Paranoia and the Password Breaker with its worst case. Then Word: a .docx file is a ZIP of XML, paragraphs and runs, and the book's demo file. The sixth part is styles and writing Word documents, ending with the invitations and with what was not run. The last part is a one-map summary and the resources. The ranges name the exact slides, so you can return to the part you need. Two of the slides are true stories and four more are told in the notes; the eight narrative diagrams of the chapter are drawn from the same specifications as the interactive page. Every output was printed by Python 3.14.6 with pypdf 6.20.1 and python-docx 1.2.0, the programs that read the book's files say so, and what could not be run is marked on its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question is the chapter's spine, and it is a question about limits. A PDF stores drawing commands that put words on a page, and a .docx file is a ZIP archive of XML parts, so a program can read the paragraphs and runs of a Word file, write a new one, copy, reorder, rotate, stamp and encrypt the pages of a PDF, and extract its text and images, but it cannot recover structure that was never stored: there are no paragraphs in a PDF, text comes out in the order it was drawn, a scanned page has no text at all and a black box drawn over words does not remove them. The second question is the watch-out of the deck. The chapter's 91 interactive statements were replayed one by one on the files the book ships under Python 3.14.6 with pypdf 6.20.1 and python-docx 1.2.0: 89 printed what the page prints and 2 differed, both in the third run of the demo paragraph. Under the versions Appendix A pins, pypdf 5.0.1 and python-docx 1.1.2, 88 matched and 3 differed. The agreement is smaller than it looks, because a statement that prints nothing cannot differ from the page, and the merge() example of the chapter is such a statement: it prints nothing and does not do what the chapter says. Each slide says where a printed line differs and on what evidence. The chips give the size of the chapter as this deck covers it: six branches, the topics beneath them, the console rows and the programs that were run, the eight diagrams, and the Python and package releases that printed every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use-case diagram lists what the chapter does with a PDF through one package: extract the text of the pages, extract the images of a page, copy pages into a new file, insert pages at a position, rotate pages, merge a watermark under a page, and encrypt and decrypt a file with a password. They are independent uses of the same module and not a sequence, which is why the picture is a set of uses. The console beside it shows the first trap of the chapter, which is about names. The package the chapter uses is pypdf, written in lower case, and its two classes are PdfReader and PdfWriter; PdfFileReader and PdfFileWriter, which many older tutorials use, and PdfMerger are not attributes of pypdf 6.20.1, so a program copied from such a tutorial raises AttributeError. The story is in the documentation of pypdf. Mathieu Fenniak launched pyPdf in 2005, whose last release was 1.13 in 2010; at the end of 2011 Phaseit sponsored PyPDF2 as a fork; Martin Thoma took over its maintenance in April 2022; and PyPDF2 was merged back into pypdf, all lower case and without a number. PdfMerger was removed in pypdf 5.0.0. The study found the same on ten interpreters, Python 3.11, 3.12, 3.13 and the seven releases 3.14.0 to 3.14.6, so the behaviour of these packages does not depend on the 3.x release. Two optional packages, Pillow for images and cryptography for AES, are not named by the chapter and appear on later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Wikipedia's article on John Warnock says that in the spring of 1991 he outlined a system called Camelot, inventing the Portable Document Format. The goal of Camelot, the article quotes, was to capture documents from any application, send electronic versions of them anywhere, and view and print them on any machine. Adobe released the first Acrobat on 15 June 1993. A PDF file made today still opens with a header line and ends with an offset and %%EOF, and its text is drawing commands that place words on a page; chapter 17 reads and rewrites exactly these files with pypdf. The account rests on these sources. Wikipedia, 'John Warnock' (spring 1991, Camelot, the quoted goal), read 2026-10-12; Wikipedia, 'Adobe Acrobat' (release 15 June 1993); this study's leaves HeaderAndTrailer and ContentStreamText. Two of the facts on the slide were read in the study itself: a small PDF written for it began with %PDF-1.4 and ended with %%EOF, and the words of its page were the drawing command BT /F1 18 Tf 72 720 Td (Page one) Tj ET. The next slide runs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program writes a two-page PDF by hand and takes it apart with the standard library. The file starts with the header %PDF-1.4 and ends with %%EOF. The word startxref near the end gives a byte offset, and at that offset the bytes xref begin the cross-reference table, which lists the offset of every numbered object: the table of this file has 8 entries, object 0 is the free one, and the first three offsets point at the text 1 0 obj, 2 0 obj and 3 0 obj. A reader finds the table by reading the last lines, so pypdf can open a file by jumping to the end first. The words of a page are not stored as paragraphs. They are drawing commands in a content stream, BT /F1 18 Tf 72 720 Td (Page one) Tj ET, and get_contents().get_data() returns those same bytes. Two consequences follow, and both were run. Text comes out in the order of the commands and not in the order of the page: with (world) drawn first at x 200 and (Hello) drawn second at x 72, extract_text() returned worldHello, while extraction_mode='layout' returned Hello and world apart. And a black rectangle drawn over a line hides it from the eye and not from a program: extract_text() still returned Salary: 120000 USD, and the Wikipedia article on redaction says the same of PDF files. PDF 1.7 became an international standard as ISO 32000-1 in July 2008, as the Library of Congress describes it; the file the book calls Recursion_Chapter1.pdf is PDF version 1.6 made by Adobe InDesign.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chapter's own sequence for extracting text: open the file in binary read mode, build a PdfReader, loop over reader.pages, call extract_text() on each page and add the strings, and write the text to a file; the chapter's listing falls back on pdfminer.six when pypdf cannot understand the file. The program runs the middle of it on a six-page file. Adding the strings with += gives Page 1Page 2Page 3Page 4Page 5Page 6, with nothing between the pages, which is also what happens on the shipped chapter: the last words of page 1, Al Sweigart, run into the 2 of page 2 as Al Sweigart2; joining with a newline keeps them apart. pdfminer.six returns the same text with a form feed after every page, 6 in all, and on the shipped chapter it returned 33,200 characters against pypdf's 32,981 and spaced out the chapter heading as W H A T. Layout mode keeps the horizontal gap between the columns of a table-like page, so Name and Price stay in their columns, where the default joins the words of a row with single spaces. The fallback was not needed: of eleven damaged files given to both libraries, none was read by pdfminer.six and refused by pypdf, four were refused by both. The text script the book ships, run on the sample chapter, wrote 32,981 characters in 688 lines, and printed 11 warnings that name the optional package fontTools.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Extracted text keeps the hyphens and the row breaks of the printed page. A page with follow- at the end of one row and ing the execution on the next came out of pypdf with a newline between them, and re.sub of a hyphen and a newline gave following the execution. That repair is deterministic, and the console runs it, but it is not harmless: the same expression turns well-known, written over two rows, into wellknown, because a regular expression cannot tell a hyphen the typesetter added from one that belongs to the word. The chapter's own answer is a section called Post-Processing with AI, which sends the text to a language model and asks it to clean the text. That section was NOT EXECUTED in this study and is not run for this deck: no model was called, and the slide therefore claims nothing about what a model returns. The documentation of pypdf, in its page on post-processing of text extraction, says the matter is outside the scope of the library and lists dehyphenation among the steps a program takes after extraction. A scanned page raises the same question in a harder form, and the next slide runs it: it has no text to clean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program is the chapter's loop on the file the book ships. Recursion_Chapter1.pdf has 18 pages, is not encrypted, and its first page begins 1, WHAT IS RECURSION?; the images per page, printed as separate numbers, are 7 2 1 0 0 0 1 and then zeros, and the loop writes 11 files. The file is the one the program fetches from the online materials of the third edition and checks against its sha256 before it opens a copy. The study found two differences from the page. The sample output the chapter prints says that page 7 is skipped with not enough image data, and neither the newest releases nor the versions Appendix A pins skipped it: both wrote 10_page7_Im0.tif. And the loop needs the Pillow package, which the chapter never names: without it reading an image raises ImportError, pillow is required to do image extraction, as the bare environment of the study printed. The console builds a page that is only a picture: a 40 by 40 pixel image saved as PDF has one page, extract_text() returns the empty string and the page holds one image named image.jpg whose data begins with the JPEG marker FF D8, which is what a scanned document looks like to the library. There is no text to repair and nothing to extract without optical character recognition, which pypdf does not do. An empty file raises EmptyFileError and a file cut off before its xref table raises PdfStreamError. The zip of the online materials holds the PDF and the Word file the chapter reads but not encrypted.pdf, helloworld.docx or restyled.docx, which the chapter names as files the reader makes.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program copies pages of a six-page file into a new writer. A tuple of two numbers selects pages the way range() does, so append(file, (0, 5)) copies Page 1 to Page 5 and not the sixth, which is why the chapter's first-five-pages example works; a tuple of three adds a step, so (0, 5, 2) copies Page 1, Page 3 and Page 5; and a list names pages exactly, so [0, 5] copies Page 1 and Page 6. A page number past the end raises IndexError, Sequence index out of range, for the tuple and the list alike. merge() takes the position first and puts the copied pages there: merging the pages (0, 2) of the six-page file at position 1 of a three-page writer gave A1, Page 1, Page 2, A2, A3. Written as the chapter writes it, merge(1, file, (0, 2)), the tuple lands in the parameter outline_item, which the signature types as a title only, so pypdf made a bookmark titled (0, 2) and inserted the whole six-page file: the writer ended with 9 pages and not 5. On the shipped chapter the same line took a writer of 5 pages to 23, identically on the ten interpreters, because the file has 18; append() accepts the tuple in its second place because there the parameter may be a title or a page range. The line prints nothing, so the replay of the chapter's statements counted it as a match. Under the pinned pypdf 5.0.1 the same line raises AttributeError, tuple object has no attribute startswith. The pypdf documentation has a page on merging.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rotate() takes a multiple of 90, changes the page in place and returns it; rotate(45) raises ValueError, Rotation angle must be a multiple of 90. The angles add up and the sum is never reduced to a turn: after rotate(90), rotate(270), rotate(-90) and rotate(180) the stored rotations were 90, 360, 270 and 450, and a negative angle is stored as it was given. The chart draws these four numbers, computed again when the deck is checked. A new blank page takes its size from a page already in the writer: after pages of 300 by 400 and 100 by 100 points, insert_blank_page(index=1) made a page of 100 by 100, and add_blank_page() after a 200 by 200 page made another 200 by 200. The signature of insert_blank_page is width, height, index, so a single positional number is the width: insert_blank_page(2) made a page 2 points wide, while index=2 made a page of the normal 612 points. The chapter writes insert_blank_page(2). A watermark is a page laid over or under another with merge_page(): with over=False the watermark's drawing commands come before the page's own, MARK then BASE, so the mark lies under the text, and the default over=True puts them after, BASE then MARK. merge_page() changes the page it is called on and returns None.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table is computed, not typed: for each call the program writes a one-page file, reads the document's /Encrypt dictionary back with pypdf and prints its encryption version V, its revision R and its key length. encrypt('swordfish') with no algorithm wrote RC4 with a 128-bit key, V 2 and R 3, and no crypt filter dictionary; algorithm='AES-128' wrote V 4, R 4; algorithm='AES-256' wrote V 5, R 6 and a key length of 256, which is what the chapter recommends and the only form it shows. The research also asked the command line tool qpdf, which reported AESv3 for the AES-256 file. Two optional dependencies matter in practice. AES needs the cryptography package: in the environment with pypdf alone, algorithm='AES-256' failed at encrypt() with DependencyError, cryptography&gt;=3.1 is required for AES algorithm, while the default RC4 was written; AES-128 fails later, at write(). The images of the previous slide need Pillow. The chapter's text names neither package, and the versions the book pins are given only in Appendix A, pypdf 5.0.1 and python-docx 1.1.2, while PyPI offered pypdf 6.20.1 and python-docx 1.2.0 on the day of the study. An attempt to install the pinned Pillow 10.4.0 for Python 3.14 found no wheel and the build failed for lack of the libjpeg headers, so that environment used the newest Pillow. The pypdf documentation has a page on encryption and decryption.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state diagram follows one PDF. A plain PDF becomes an encrypted file when a writer encrypts it with a password and writes the file. A reader that opens the file is not decrypted: is_encrypted is True, and asking for pages[0] raises FileNotDecryptedError, File has not been decrypted. decrypt() returns a value that says which password matched: USER_PASSWORD for the user password, OWNER_PASSWORD for the owner password and NOT_DECRYPTED for a wrong password, an empty one or one with different capitals, and it raises nothing for a wrong password, so a program must read the returned name; the transcript runs these cases. Once decrypt() matches, the reader gives its pages, and a writer that appends them and writes a new file makes a decrypted copy. encrypt('pw') with one password sets it for both roles, so decrypt('pw') returned OWNER_PASSWORD. A file encrypted with an empty user password and another owner password opens without a decrypt() call, and the owner password still returns OWNER_PASSWORD. The program uses a blank page because the point is the password and not the text; it builds its file in memory. The study also ran pdftotext without the password, which refused the encrypted file, and with it, which read it; that is the research's observation of a second program and is not repeated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Project 12 is the chapter's first program built from steps: find all the PDF files of the working directory, sort their names without regard to case, open each one, copy every page after the first into one writer and save the result. The activity diagram has one choice, whether another file is left, and the program follows it. Three corrections come from the study. As printed, the loop appends to pdf_files, a name never defined, and Python 3.14.6 answers NameError: name 'pdf_files' is not defined, suggesting pdf_filenames; the shipped combine_pdfs.py is not the finished program either, because it writes PdfWriter without the pypdf prefix and stops at NameError. The test filename.endswith('.pdf') misses a file named with capitals, which is why the program here lower-cases the name, and the file c.PDF is found. And the program does not guard against reading its own output: a second run found combined.pdf in the folder and read it as one of its inputs, so the 3 pages of the first run became 5 here (the research's own run went from 5 pages to 9). Sorting with key=str.lower puts A.pdf before b.pdf, as the diagram says. With the name corrected the program combined three small files into combined.pdf with every page but the first of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practice program walks a folder tree with os.walk(), encrypts every PDF with AES-256, saves it with the suffix _encrypted.pdf, opens the new file, decrypts it and compares the page counts, and only then deletes the original. The second walks the tree again, finds the encrypted files and writes a decrypted copy for the password given, and for a wrong password prints a message and continues. The transcript is the whole run: three files encrypted and their originals removed, a wrong password that skips all three and does not stop the program, and three decrypted copies. The folder holds a.pdf, sub/b.pdf, sub/deeper/C.PDF and notes.txt, and the program finds C.PDF because it tests the lower-cased name: a filter on the lower-case extension .pdf alone misses it. The deck's copy prints shorter lines than the corpus program, and adds one small generator, pdfs(), for the walk. The chapter asks for the password on the command line. The study notes that any program that lists processes can read a command line, which is the weakness MITRE names CWE-214, Invocation of Process Using Visible Sensitive Information, so the research's advice is to keep the password of PDF Paranoia out of the command line. The program deletes an original only after the test; that is why the test comes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third practice program decrypts a PDF by trying every word of a dictionary, in lower case and in upper case, until decrypt() stops returning NOT_DECRYPTED. The program here uses a four-word dictionary so that it can run in a blink: the password is CHERRY, found on the sixth attempt, after apple, APPLE, banana, BANANA, cherry; a dictionary of n words costs up to 2n attempts, 8 for four words. The chapter's file is another size. The dictionary.txt of the online materials has 349,900 lines, all lower-case letters, between 4 and 12 letters long, which is 8.0 times the 44,000 words the page names, so trying both forms of every line is 699,800 attempts and not the 88,000 of the page. The worst case, a password that is not in the list, was run to the end on a file written by pypdf 6.20.1: it found nothing and took 241.7 seconds for RC4, the default of encrypt(), and 1,467.5 seconds for AES-256, the two runs started together on a machine with two cores. A stronger algorithm costs about six times as much per guess, so the chapter's remark that a long random password defeats the program is shown by the timing and not only stated. The password swordfish, which the chapter uses for its examples, is not in the dictionary. Both numbers are single runs on one machine on 12 October 2026, they vary with the machine, and they are not repeated by any check of the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Wikipedia's article on the ZIP file format gives 14 February 1989 as the initial release and says the format was designed by Phil Katz of PKWARE and Gary Conway of Infinity Design Concepts, after Systems Enhancement Associates sued PKWARE over its archiving products. The first two bytes of a ZIP file are usually PK, the initials of Phil Katz. Office Open XML is one of the formats listed as extended from ZIP. In this study a new python-docx document began with the bytes PK and held 17 parts, among them word/document.xml, which is why a .docx file can be opened with the zipfile module. The account rests on these sources. Wikipedia, 'ZIP (file format)' (history, the initials PK, initial release 14 February 1989, Office Open XML among the formats extended from it), read 2026-10-12; this study's leaves DocxIsZipOfXml and DocumentXmlBody. The console shows it: a new python-docx document saved to memory begins with the bytes PK, holds 17 parts, and one of them is word/document.xml, whose body for one paragraph is &lt;w:p&gt;&lt;w:r&gt;&lt;w:t&gt;Hello, world!&lt;/w:t&gt;&lt;/w:r&gt;&lt;/w:p&gt;, a paragraph (w:p) that holds runs (w:r), each holding text (w:t). That is why a .docx file can be opened with the zipfile module, and why paragraphs and runs are the two words of the Word half of the chapter. The format is a published standard: Wikipedia gives 7 December 2006 as the first release of Office Open XML, as Ecma standard ECMA-376, and November 2008 for the four-part International Standard ISO/IEC 29500, after a fast-track process that ended in April 2008. In the study the template that docx.Document() starts from still named python-docx as its author and the year 2013, had no paragraphs, one section and 164 styles. The chapter says to install Python-Docx, not Docx, and to write import docx. The page of the docx project on PyPI shows version 0.2.4 as its latest release, dated 6 February 2014, still offering pip install docx; the study installed it in Python 3.14.6 and the import failed with ModuleNotFoundError: No module named 'exceptions', a module of Python 2, and this build ran that import again and got the same line. The working package, python-docx, was at version 1.2.0, released on 16 June 2025.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use-case diagram lists what the chapter does with a Word document: read the paragraphs and runs, set the style of a paragraph, make a paragraph style, add headings, set the bold attribute of a run, add a page break and add a picture. The program reads back what it wrote. doc.paragraphs is a list of Paragraph objects in body order, and an empty paragraph counts. A paragraph is split into runs wherever the formatting changes: the three runs are Some , bold and text, with bold None, True, None. The chapter prints the third run of its demo paragraph as and some , where the shipped demo.docx has text and some , which is the one place the replay of the chapter's statements differed. doc.paragraphs holds only the body's own paragraphs, so the text of a table cell and of a section header has to be read from the cell and from the header. And for a paragraph that contains a hyperlink, text includes the linked words, before linked, in python-docx 1.2.0, but runs lists only the run before it: the linked text is in no Run, so a program that joins run texts loses it. The hyperlink here is built from a few lines of XML because python-docx 1.2.0 offers no call that writes one. A Run has a bold attribute with three states, which the writing slides come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program opens the Word file the book ships, demo.docx, which it fetches from the online materials and checks against its sha256 before use, and lists its seven paragraphs with the name of their style: Title, Normal, Heading 1, Intense Quote, List Bullet, List Number and an empty Normal. The second paragraph holds four runs, A plain paragraph with some , bold, text and some and italic, with bold True only on the second and italic True only on the last. Then it does what the chapter does: the first paragraph takes the style Normal, the first run of the second takes the character style Quote Char, and the second run is underlined; the file is saved as restyled.docx and read back. The file itself says that its author is Cisco Employee and that it was last modified by Al Sweigart. The chapter's printout says the third run is and some ; the shipped file has text and some , and that is the only difference the replay found. Restyled.docx is a file the reader makes: the zip of the online materials does not hold it, nor helloworld.docx or encrypted.pdf. Microsoft Word itself was not available, so the statement that the style names in the Word Styles pane match the list the chapter prints is checked only against the template of python-docx.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workflow is the chapter's section on styling paragraph and run objects: choose the name of a style; if the template has no style with that exact name, make one with add_style(); then decide whether the style is for a whole paragraph, and assign it to the style of the paragraph or of the run; save the document. The transcript runs the two refusals. A paragraph accepts only paragraph styles and a run only character styles: paragraph.style = 'Quote Char' raises ValueError, assigned style is type CHARACTER (2), need type PARAGRAPH (1), and run.style = 'Quote' raises the reverse. A style name must match exactly: 'List Number ' with the trailing space the chapter prints raises KeyError, no style with name 'List Number ', while 'List Number' works. The chapter prints a list of 34 default style names. A new document has 164 styles of four kinds, 27 character, 1 list, 36 paragraph and 100 table, and the chapter's MacroText is the id of a style named macro, which python-docx 1.2.0 finds only through a lookup by id that is deprecated and warns. A custom paragraph style is made with styles.add_style('Invitation Name', WD_STYLE_TYPE.PARAGRAPH), whose base can be Normal and whose font can be set; the invitations program of slide 23 does it three times.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sequence diagram is the chapter's way of building a paragraph: the program calls add_paragraph with the text and gets back the new Paragraph, calls add_run on it and gets back the new Run, sets the bold attribute of the run, and saves the document. The transcript runs it. The type names are Paragraph and Run and the paragraph then holds 2 runs. Bold is tri-state, as the chapter says: True writes &lt;w:b/&gt;, False writes &lt;w:b w:val=0/&gt;, and None writes nothing and removes the choice. Table 17-1 lists twelve text attributes as attributes of a Run, and only three are: bold, italic and underline. The others, strike, double_strike, all_caps, small_caps, shadow, outline, rtl, imprint and emboss, exist on run.font. The transcript shows the consequence: run.strike = True raises nothing and changes nothing, font.strike stays None and the XML has no element, while run.font.strike = True works. The chapter's table therefore sends a reader to a silent failure. Underline takes the values of WD_UNDERLINE, and WD_UNDERLINE.DOUBLE wrote &lt;w:u w:val=double/&gt;.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Headings come from add_heading(text, level). The chapter gives the levels as 0 to 4 in one sentence and 1 to 9 in the next. The call accepts 0 to 9 and raises ValueError outside it, level must be in range 0-9, got 10, which is also the answer to practice question 12; level 0 is the Title style, level 1 is Heading 1 and level 9 is Heading 9. A page break is a run: add_run().add_break(WD_BREAK.PAGE) wrote &lt;w:br w:type=page/&gt;, and a newline in the text of add_run becomes a line break. A picture is added with add_picture(), which returns an inline shape whose size is in English Metric Units, 914,400 to the inch. A picture of 60 by 80 pixels with no width came out at 762,000 by 1,016,000, which is the pixels at 72 per inch, and with width=Inches(1) it came out 914,400 by 1,219,200, so the height follows from the width and keeps the picture's shape; giving both width and height can distort it. The same picture added twice was stored once in the file's word/media folder, and the file is a ZIP that begins with the bytes PK. The pictures here are made with Pillow, a small red PNG, because the chapter's zophie.png is not needed to show the sizes.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practice program reads a list of guest names and writes a Word document with one invitation per page. Because python-docx can only use styles that exist, the chapter tells the reader to prepare them in a blank Word file; the study made them in code, with styles.add_style, so the program here makes Invite Lead, Invite Name and Invite Detail from Normal and sets their size and bold. Each guest gets five paragraphs and, except after the last guest, a page break: the transcript says 29 paragraphs, 4 page breaks for 5 guests and lists the five names with the style Invite Name. The page break after each invitation but the last means that a viewer should show 5 pages, not 6. The research converted the Word files it wrote to PDF with LibreOffice 24.2 and counted 5 pages for the 5 guests, 2 pages for the file with a page break and 1 for the others, and saw the text; that is one observation in one program. Microsoft Word itself and a PDF viewer were NOT EXECUTED, and nothing on this slide is claimed about how they show the files. The same holds for the chapter's figures of the Styles pane, which are screenshots of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six branches are the route of the deck. The PDF format comes first: a header, objects, a table and a trailer; text that is drawing commands in stream order; and text that a box does not remove. Reading PDFs follows: the pages of a PdfReader start at index 0, layout mode reads the page by its columns, and images are read from a page. Writing PDFs: a tuple is a page range, rotation adds up, and AES-256 needs a package. Word documents: a docx file is a ZIP archive of XML, a paragraph holds runs, and a style has an exact name. Writing Word documents: headings have levels 0 to 9, bold has three states, and a picture is added from a width. The last branch is tools and practice: install python-docx and import docx, Project 12 joins the pages, and a dictionary is tried in both cases. Together they answer the first question of the chapter, what a program can do with documents made for people, and the slides that say where a printed line differs answer the second. The map is drawn from the same specification as the interactive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link on this slide was opened on the day the deck was made, and the build records the status each answered. The textbook chapter is free to read online and holds every listing of the chapter; the documentation of pypdf and of python-docx describe the two packages. The reference links are the pages for the topics where the deck corrected the chapter: encryption, merging, the post-processing of extracted text and styles; the rest of the fifty-odd sources of the research, among them the PDF standard itself, the pages on images and watermarks, pdfminer.six and qpdf, are in the research package. The history links are the sources behind the six stories of the chapter. Two of them are slides, the Camelot memo of 1991 and the ZIP format of 1989; the other four were told in the notes: the Office Open XML standard, Ecma in 2006 and ISO in 2008, on the slide of the ZIP archive; the PDF standard ISO 32000-1 of July 2008 on the slide of the file structure; the four names of the library on the slide of what a program can do; and the package docx that cannot be imported on the slide of the ZIP archive.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claims, each carried by a result you saw printed. If you can say them in your own words and run the examples yourself, you have the chapter. The console rows use only documents made in memory, so they can be typed into any Python that has pypdf, python-docx and Pillow; the programs build their own documents, and the two that read the book's files fetch them and check their hash first. The rows were run again under Python 3.14.6 with pypdf 6.20.1 and python-docx 1.2.0 each time the deck was built, and the programs were run again by the check that compares the slides with the recording. What was not run is marked on its slide: the language-model clean-up, Microsoft Word and a PDF viewer. The next chapter of the book works with CSV, JSON and XML files, where a program reads data that people and other programs wrote in plain text, and what this chapter taught about formats, optional packages and the difference between a file made to be read and a file made to be parsed carries 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en.wikipedia.org/wiki/John_Warnock" TargetMode="Externa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hyperlink" Target="https://en.wikipedia.org/wiki/Zip_(file_format)" TargetMode="External"/><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hyperlink" Target="https://automatetheboringstuff.com/3e/chapter17.html" TargetMode="External"/><Relationship Id="rId2" Type="http://schemas.openxmlformats.org/officeDocument/2006/relationships/hyperlink" Target="https://pypdf.readthedocs.io/en/stable/" TargetMode="External"/><Relationship Id="rId3" Type="http://schemas.openxmlformats.org/officeDocument/2006/relationships/hyperlink" Target="https://python-docx.readthedocs.io/en/latest/" TargetMode="External"/><Relationship Id="rId4" Type="http://schemas.openxmlformats.org/officeDocument/2006/relationships/hyperlink" Target="https://pypdf.readthedocs.io/en/stable/user/encryption-decryption.html" TargetMode="External"/><Relationship Id="rId5" Type="http://schemas.openxmlformats.org/officeDocument/2006/relationships/hyperlink" Target="https://pypdf.readthedocs.io/en/stable/user/merging-pdfs.html" TargetMode="External"/><Relationship Id="rId6" Type="http://schemas.openxmlformats.org/officeDocument/2006/relationships/hyperlink" Target="https://pypdf.readthedocs.io/en/latest/user/post-processing-in-text-extraction.html" TargetMode="External"/><Relationship Id="rId7" Type="http://schemas.openxmlformats.org/officeDocument/2006/relationships/hyperlink" Target="https://python-docx.readthedocs.io/en/latest/user/styles-using.html" TargetMode="External"/><Relationship Id="rId8" Type="http://schemas.openxmlformats.org/officeDocument/2006/relationships/hyperlink" Target="https://en.wikipedia.org/wiki/John_Warnock" TargetMode="External"/><Relationship Id="rId9" Type="http://schemas.openxmlformats.org/officeDocument/2006/relationships/hyperlink" Target="https://en.wikipedia.org/wiki/Zip_(file_format)" TargetMode="External"/><Relationship Id="rId10" Type="http://schemas.openxmlformats.org/officeDocument/2006/relationships/hyperlink" Target="https://en.wikipedia.org/wiki/Office_Open_XML" TargetMode="External"/><Relationship Id="rId11" Type="http://schemas.openxmlformats.org/officeDocument/2006/relationships/hyperlink" Target="https://www.loc.gov/preservation/digital/formats/fdd/fdd000277.shtml" TargetMode="External"/><Relationship Id="rId12" Type="http://schemas.openxmlformats.org/officeDocument/2006/relationships/hyperlink" Target="https://pypdf.readthedocs.io/en/stable/meta/history.html" TargetMode="External"/><Relationship Id="rId13" Type="http://schemas.openxmlformats.org/officeDocument/2006/relationships/hyperlink" Target="https://pypi.org/project/docx/" TargetMode="External"/><Relationship Id="rId14" Type="http://schemas.openxmlformats.org/officeDocument/2006/relationships/slideLayout" Target="../slideLayouts/slideLayout1.xml"/><Relationship Id="rId15"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548640" y="960120"/>
            <a:ext cx="731520" cy="731520"/>
          </a:xfrm>
          <a:prstGeom prst="roundRect">
            <a:avLst>
              <a:gd name="adj" fmla="val 12500"/>
            </a:avLst>
          </a:prstGeom>
          <a:solidFill>
            <a:srgbClr val="2F6D62"/>
          </a:solidFill>
          <a:ln w="19050">
            <a:solidFill>
              <a:srgbClr val="D97A14"/>
            </a:solidFill>
            <a:prstDash val="solid"/>
          </a:ln>
        </p:spPr>
      </p:sp>
      <p:sp>
        <p:nvSpPr>
          <p:cNvPr id="3" name="Shape 1"/>
          <p:cNvSpPr/>
          <p:nvPr/>
        </p:nvSpPr>
        <p:spPr>
          <a:xfrm>
            <a:off x="1280160" y="1325880"/>
            <a:ext cx="228600" cy="0"/>
          </a:xfrm>
          <a:prstGeom prst="line">
            <a:avLst/>
          </a:prstGeom>
          <a:noFill/>
          <a:ln w="19050">
            <a:solidFill>
              <a:srgbClr val="D97A14"/>
            </a:solidFill>
            <a:prstDash val="solid"/>
          </a:ln>
        </p:spPr>
      </p:sp>
      <p:sp>
        <p:nvSpPr>
          <p:cNvPr id="4" name="Shape 2"/>
          <p:cNvSpPr/>
          <p:nvPr/>
        </p:nvSpPr>
        <p:spPr>
          <a:xfrm>
            <a:off x="1508760" y="960120"/>
            <a:ext cx="731520" cy="731520"/>
          </a:xfrm>
          <a:prstGeom prst="roundRect">
            <a:avLst>
              <a:gd name="adj" fmla="val 12500"/>
            </a:avLst>
          </a:prstGeom>
          <a:solidFill>
            <a:srgbClr val="2F6D62"/>
          </a:solidFill>
          <a:ln w="19050">
            <a:solidFill>
              <a:srgbClr val="D97A14"/>
            </a:solidFill>
            <a:prstDash val="solid"/>
          </a:ln>
        </p:spPr>
      </p:sp>
      <p:sp>
        <p:nvSpPr>
          <p:cNvPr id="5" name="Shape 3"/>
          <p:cNvSpPr/>
          <p:nvPr/>
        </p:nvSpPr>
        <p:spPr>
          <a:xfrm>
            <a:off x="2240280" y="1325880"/>
            <a:ext cx="228600" cy="0"/>
          </a:xfrm>
          <a:prstGeom prst="line">
            <a:avLst/>
          </a:prstGeom>
          <a:noFill/>
          <a:ln w="19050">
            <a:solidFill>
              <a:srgbClr val="D97A14"/>
            </a:solidFill>
            <a:prstDash val="solid"/>
          </a:ln>
        </p:spPr>
      </p:sp>
      <p:sp>
        <p:nvSpPr>
          <p:cNvPr id="6" name="Shape 4"/>
          <p:cNvSpPr/>
          <p:nvPr/>
        </p:nvSpPr>
        <p:spPr>
          <a:xfrm>
            <a:off x="2468880" y="960120"/>
            <a:ext cx="731520" cy="731520"/>
          </a:xfrm>
          <a:prstGeom prst="roundRect">
            <a:avLst>
              <a:gd name="adj" fmla="val 12500"/>
            </a:avLst>
          </a:prstGeom>
          <a:solidFill>
            <a:srgbClr val="D97A14"/>
          </a:solidFill>
          <a:ln w="19050">
            <a:solidFill>
              <a:srgbClr val="D97A14"/>
            </a:solidFill>
            <a:prstDash val="solid"/>
          </a:ln>
        </p:spPr>
      </p:sp>
      <p:sp>
        <p:nvSpPr>
          <p:cNvPr id="7" name="Text 5"/>
          <p:cNvSpPr txBox="1"/>
          <p:nvPr/>
        </p:nvSpPr>
        <p:spPr>
          <a:xfrm>
            <a:off x="2468880" y="960120"/>
            <a:ext cx="731520" cy="731520"/>
          </a:xfrm>
          <a:prstGeom prst="rect">
            <a:avLst/>
          </a:prstGeom>
          <a:noFill/>
          <a:ln/>
        </p:spPr>
        <p:txBody>
          <a:bodyPr wrap="square" lIns="0" tIns="0" rIns="0" bIns="0" rtlCol="0" anchor="ctr"/>
          <a:lstStyle/>
          <a:p>
            <a:pPr algn="ctr" indent="0" marL="0">
              <a:buNone/>
            </a:pPr>
            <a:r>
              <a:rPr lang="en-US" sz="2000" b="1" dirty="0">
                <a:solidFill>
                  <a:srgbClr val="FFFFFF"/>
                </a:solidFill>
                <a:latin typeface="Courier New" pitchFamily="34" charset="0"/>
                <a:ea typeface="Courier New" pitchFamily="34" charset="-122"/>
                <a:cs typeface="Courier New" pitchFamily="34" charset="-120"/>
              </a:rPr>
              <a:t>&gt;&gt;&gt;</a:t>
            </a:r>
            <a:endParaRPr lang="en-US" sz="2000" dirty="0"/>
          </a:p>
        </p:txBody>
      </p:sp>
      <p:sp>
        <p:nvSpPr>
          <p:cNvPr id="8" name="Text 6"/>
          <p:cNvSpPr txBox="1"/>
          <p:nvPr/>
        </p:nvSpPr>
        <p:spPr>
          <a:xfrm>
            <a:off x="548640" y="2011680"/>
            <a:ext cx="8046720" cy="731520"/>
          </a:xfrm>
          <a:prstGeom prst="rect">
            <a:avLst/>
          </a:prstGeom>
          <a:noFill/>
          <a:ln/>
        </p:spPr>
        <p:txBody>
          <a:bodyPr wrap="square" lIns="0" tIns="0" rIns="0" bIns="0" rtlCol="0" anchor="ctr"/>
          <a:lstStyle/>
          <a:p>
            <a:pPr indent="0" marL="0">
              <a:buNone/>
            </a:pPr>
            <a:r>
              <a:rPr lang="en-US" sz="3600" b="1" dirty="0">
                <a:solidFill>
                  <a:srgbClr val="2B2622"/>
                </a:solidFill>
                <a:latin typeface="Cambria" pitchFamily="34" charset="0"/>
                <a:ea typeface="Cambria" pitchFamily="34" charset="-122"/>
                <a:cs typeface="Cambria" pitchFamily="34" charset="-120"/>
              </a:rPr>
              <a:t>Ch. 17: PDF and Word Documents</a:t>
            </a:r>
            <a:endParaRPr lang="en-US" sz="3600" dirty="0"/>
          </a:p>
        </p:txBody>
      </p:sp>
      <p:sp>
        <p:nvSpPr>
          <p:cNvPr id="9" name="Text 7"/>
          <p:cNvSpPr txBox="1"/>
          <p:nvPr/>
        </p:nvSpPr>
        <p:spPr>
          <a:xfrm>
            <a:off x="548640" y="2743200"/>
            <a:ext cx="8046720" cy="640080"/>
          </a:xfrm>
          <a:prstGeom prst="rect">
            <a:avLst/>
          </a:prstGeom>
          <a:noFill/>
          <a:ln/>
        </p:spPr>
        <p:txBody>
          <a:bodyPr wrap="square" lIns="0" tIns="0" rIns="0" bIns="0" rtlCol="0" anchor="t"/>
          <a:lstStyle/>
          <a:p>
            <a:pPr indent="0" marL="0">
              <a:buNone/>
            </a:pPr>
            <a:r>
              <a:rPr lang="en-US" sz="1600" i="1" dirty="0">
                <a:solidFill>
                  <a:srgbClr val="2F6D62"/>
                </a:solidFill>
                <a:latin typeface="Calibri" pitchFamily="34" charset="0"/>
                <a:ea typeface="Calibri" pitchFamily="34" charset="-122"/>
                <a:cs typeface="Calibri" pitchFamily="34" charset="-120"/>
              </a:rPr>
              <a:t>Documents made for people to read: pypdf for PDF files, python-docx for Word files, and what neither can do</a:t>
            </a:r>
            <a:endParaRPr lang="en-US" sz="1600" dirty="0"/>
          </a:p>
        </p:txBody>
      </p:sp>
      <p:sp>
        <p:nvSpPr>
          <p:cNvPr id="10" name="Text 8"/>
          <p:cNvSpPr txBox="1"/>
          <p:nvPr/>
        </p:nvSpPr>
        <p:spPr>
          <a:xfrm>
            <a:off x="548640" y="4224528"/>
            <a:ext cx="8046720" cy="411480"/>
          </a:xfrm>
          <a:prstGeom prst="rect">
            <a:avLst/>
          </a:prstGeom>
          <a:noFill/>
          <a:ln/>
        </p:spPr>
        <p:txBody>
          <a:bodyPr wrap="square" lIns="0" tIns="0" rIns="0" bIns="0" rtlCol="0" anchor="ctr"/>
          <a:lstStyle/>
          <a:p>
            <a:pPr indent="0" marL="0">
              <a:buNone/>
            </a:pPr>
            <a:r>
              <a:rPr lang="en-US" sz="1200" dirty="0">
                <a:solidFill>
                  <a:srgbClr val="6E655C"/>
                </a:solidFill>
                <a:latin typeface="Calibri" pitchFamily="34" charset="0"/>
                <a:ea typeface="Calibri" pitchFamily="34" charset="-122"/>
                <a:cs typeface="Calibri" pitchFamily="34" charset="-120"/>
              </a:rPr>
              <a:t>SEN0414 Advanced Programming · Fall 2026 · Yusuf Altunel, PhD · İstanbul Kültür University</a:t>
            </a:r>
            <a:endParaRPr lang="en-US" sz="1200" dirty="0"/>
          </a:p>
        </p:txBody>
      </p:sp>
      <p:sp>
        <p:nvSpPr>
          <p:cNvPr id="11" name="Shape 9"/>
          <p:cNvSpPr/>
          <p:nvPr/>
        </p:nvSpPr>
        <p:spPr>
          <a:xfrm>
            <a:off x="4572000" y="365760"/>
            <a:ext cx="4114800" cy="1536192"/>
          </a:xfrm>
          <a:prstGeom prst="roundRect">
            <a:avLst>
              <a:gd name="adj" fmla="val 5952"/>
            </a:avLst>
          </a:prstGeom>
          <a:solidFill>
            <a:srgbClr val="23272E"/>
          </a:solidFill>
          <a:ln w="12700">
            <a:solidFill>
              <a:srgbClr val="23272E"/>
            </a:solidFill>
            <a:prstDash val="solid"/>
          </a:ln>
        </p:spPr>
      </p:sp>
      <p:sp>
        <p:nvSpPr>
          <p:cNvPr id="12" name="Text 10"/>
          <p:cNvSpPr txBox="1"/>
          <p:nvPr/>
        </p:nvSpPr>
        <p:spPr>
          <a:xfrm>
            <a:off x="4754880" y="484632"/>
            <a:ext cx="3749040" cy="1298448"/>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import platform, pypdf, docx</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platform.python_version()</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'3.14.6'</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pypdf.__version__</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'6.20.1'</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docx.__version__</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'1.2.0'</a:t>
            </a:r>
            <a:endParaRPr lang="en-US" sz="1000" dirty="0"/>
          </a:p>
        </p:txBody>
      </p:sp>
      <p:sp>
        <p:nvSpPr>
          <p:cNvPr id="13" name="Text 11"/>
          <p:cNvSpPr txBox="1"/>
          <p:nvPr/>
        </p:nvSpPr>
        <p:spPr>
          <a:xfrm>
            <a:off x="548640" y="3520440"/>
            <a:ext cx="8046720" cy="374904"/>
          </a:xfrm>
          <a:prstGeom prst="rect">
            <a:avLst/>
          </a:prstGeom>
          <a:noFill/>
          <a:ln/>
        </p:spPr>
        <p:txBody>
          <a:bodyPr wrap="square" lIns="0" tIns="0" rIns="0" bIns="0" rtlCol="0" anchor="t"/>
          <a:lstStyle/>
          <a:p>
            <a:pPr indent="0" marL="0">
              <a:buNone/>
            </a:pPr>
            <a:r>
              <a:rPr lang="en-US" sz="1100" i="1" dirty="0">
                <a:solidFill>
                  <a:srgbClr val="6E655C"/>
                </a:solidFill>
                <a:latin typeface="Calibri" pitchFamily="34" charset="0"/>
                <a:ea typeface="Calibri" pitchFamily="34" charset="-122"/>
                <a:cs typeface="Calibri" pitchFamily="34" charset="-120"/>
              </a:rPr>
              <a:t>Every output on these slides was printed by the Python above when the deck was made. The two files the book ships were fetched and hash-checked; what could not be run is marked on its slide.</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Today's route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Seven parts; every range is a run of slides you can jump to</a:t>
            </a:r>
            <a:endParaRPr lang="en-US" sz="1300" dirty="0"/>
          </a:p>
        </p:txBody>
      </p:sp>
      <p:sp>
        <p:nvSpPr>
          <p:cNvPr id="6" name="Shape 4"/>
          <p:cNvSpPr/>
          <p:nvPr/>
        </p:nvSpPr>
        <p:spPr>
          <a:xfrm>
            <a:off x="457200" y="131673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3167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280160"/>
            <a:ext cx="5193792" cy="427155"/>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A PDF and what a program can do (slides 4-6)</a:t>
            </a:r>
            <a:endParaRPr lang="en-US" sz="1150" dirty="0"/>
          </a:p>
        </p:txBody>
      </p:sp>
      <p:sp>
        <p:nvSpPr>
          <p:cNvPr id="9" name="Shape 7"/>
          <p:cNvSpPr/>
          <p:nvPr/>
        </p:nvSpPr>
        <p:spPr>
          <a:xfrm>
            <a:off x="457200" y="1780467"/>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780467"/>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743891"/>
            <a:ext cx="5193792" cy="427155"/>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Reading text and images (slides 7-9)</a:t>
            </a:r>
            <a:endParaRPr lang="en-US" sz="1150" dirty="0"/>
          </a:p>
        </p:txBody>
      </p:sp>
      <p:sp>
        <p:nvSpPr>
          <p:cNvPr id="12" name="Shape 10"/>
          <p:cNvSpPr/>
          <p:nvPr/>
        </p:nvSpPr>
        <p:spPr>
          <a:xfrm>
            <a:off x="457200" y="2244199"/>
            <a:ext cx="402336" cy="402336"/>
          </a:xfrm>
          <a:prstGeom prst="ellipse">
            <a:avLst/>
          </a:prstGeom>
          <a:solidFill>
            <a:srgbClr val="D97A14"/>
          </a:solidFill>
          <a:ln w="12700">
            <a:solidFill>
              <a:srgbClr val="D97A14"/>
            </a:solidFill>
            <a:prstDash val="solid"/>
          </a:ln>
        </p:spPr>
      </p:sp>
      <p:sp>
        <p:nvSpPr>
          <p:cNvPr id="13" name="Text 11"/>
          <p:cNvSpPr txBox="1"/>
          <p:nvPr/>
        </p:nvSpPr>
        <p:spPr>
          <a:xfrm>
            <a:off x="457200" y="2244199"/>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4" name="Text 12"/>
          <p:cNvSpPr txBox="1"/>
          <p:nvPr/>
        </p:nvSpPr>
        <p:spPr>
          <a:xfrm>
            <a:off x="1024128" y="2207623"/>
            <a:ext cx="5193792" cy="427155"/>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Writing PDFs: pages, rotation, locks (slides 10-13)</a:t>
            </a:r>
            <a:endParaRPr lang="en-US" sz="1150" dirty="0"/>
          </a:p>
        </p:txBody>
      </p:sp>
      <p:sp>
        <p:nvSpPr>
          <p:cNvPr id="15" name="Shape 13"/>
          <p:cNvSpPr/>
          <p:nvPr/>
        </p:nvSpPr>
        <p:spPr>
          <a:xfrm>
            <a:off x="457200" y="2707930"/>
            <a:ext cx="402336" cy="402336"/>
          </a:xfrm>
          <a:prstGeom prst="ellipse">
            <a:avLst/>
          </a:prstGeom>
          <a:solidFill>
            <a:srgbClr val="D97A14"/>
          </a:solidFill>
          <a:ln w="12700">
            <a:solidFill>
              <a:srgbClr val="D97A14"/>
            </a:solidFill>
            <a:prstDash val="solid"/>
          </a:ln>
        </p:spPr>
      </p:sp>
      <p:sp>
        <p:nvSpPr>
          <p:cNvPr id="16" name="Text 14"/>
          <p:cNvSpPr txBox="1"/>
          <p:nvPr/>
        </p:nvSpPr>
        <p:spPr>
          <a:xfrm>
            <a:off x="457200" y="2707930"/>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7" name="Text 15"/>
          <p:cNvSpPr txBox="1"/>
          <p:nvPr/>
        </p:nvSpPr>
        <p:spPr>
          <a:xfrm>
            <a:off x="1024128" y="2671354"/>
            <a:ext cx="5193792" cy="427155"/>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Projects with PDFs (slides 14-16)</a:t>
            </a:r>
            <a:endParaRPr lang="en-US" sz="1150" dirty="0"/>
          </a:p>
        </p:txBody>
      </p:sp>
      <p:sp>
        <p:nvSpPr>
          <p:cNvPr id="18" name="Shape 16"/>
          <p:cNvSpPr/>
          <p:nvPr/>
        </p:nvSpPr>
        <p:spPr>
          <a:xfrm>
            <a:off x="457200" y="3171662"/>
            <a:ext cx="402336" cy="402336"/>
          </a:xfrm>
          <a:prstGeom prst="ellipse">
            <a:avLst/>
          </a:prstGeom>
          <a:solidFill>
            <a:srgbClr val="D97A14"/>
          </a:solidFill>
          <a:ln w="12700">
            <a:solidFill>
              <a:srgbClr val="D97A14"/>
            </a:solidFill>
            <a:prstDash val="solid"/>
          </a:ln>
        </p:spPr>
      </p:sp>
      <p:sp>
        <p:nvSpPr>
          <p:cNvPr id="19" name="Text 17"/>
          <p:cNvSpPr txBox="1"/>
          <p:nvPr/>
        </p:nvSpPr>
        <p:spPr>
          <a:xfrm>
            <a:off x="457200" y="3171662"/>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0" name="Text 18"/>
          <p:cNvSpPr txBox="1"/>
          <p:nvPr/>
        </p:nvSpPr>
        <p:spPr>
          <a:xfrm>
            <a:off x="1024128" y="3135086"/>
            <a:ext cx="5193792" cy="427155"/>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Word documents: package, paragraphs, runs (slides 17-19)</a:t>
            </a:r>
            <a:endParaRPr lang="en-US" sz="1150" dirty="0"/>
          </a:p>
        </p:txBody>
      </p:sp>
      <p:sp>
        <p:nvSpPr>
          <p:cNvPr id="21" name="Shape 19"/>
          <p:cNvSpPr/>
          <p:nvPr/>
        </p:nvSpPr>
        <p:spPr>
          <a:xfrm>
            <a:off x="457200" y="3635393"/>
            <a:ext cx="402336" cy="402336"/>
          </a:xfrm>
          <a:prstGeom prst="ellipse">
            <a:avLst/>
          </a:prstGeom>
          <a:solidFill>
            <a:srgbClr val="D97A14"/>
          </a:solidFill>
          <a:ln w="12700">
            <a:solidFill>
              <a:srgbClr val="D97A14"/>
            </a:solidFill>
            <a:prstDash val="solid"/>
          </a:ln>
        </p:spPr>
      </p:sp>
      <p:sp>
        <p:nvSpPr>
          <p:cNvPr id="22" name="Text 20"/>
          <p:cNvSpPr txBox="1"/>
          <p:nvPr/>
        </p:nvSpPr>
        <p:spPr>
          <a:xfrm>
            <a:off x="457200" y="3635393"/>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6</a:t>
            </a:r>
            <a:endParaRPr lang="en-US" sz="1400" dirty="0"/>
          </a:p>
        </p:txBody>
      </p:sp>
      <p:sp>
        <p:nvSpPr>
          <p:cNvPr id="23" name="Text 21"/>
          <p:cNvSpPr txBox="1"/>
          <p:nvPr/>
        </p:nvSpPr>
        <p:spPr>
          <a:xfrm>
            <a:off x="1024128" y="3598817"/>
            <a:ext cx="5193792" cy="427155"/>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Styles and writing Word documents (slides 20-23)</a:t>
            </a:r>
            <a:endParaRPr lang="en-US" sz="1150" dirty="0"/>
          </a:p>
        </p:txBody>
      </p:sp>
      <p:sp>
        <p:nvSpPr>
          <p:cNvPr id="24" name="Shape 22"/>
          <p:cNvSpPr/>
          <p:nvPr/>
        </p:nvSpPr>
        <p:spPr>
          <a:xfrm>
            <a:off x="457200" y="4099125"/>
            <a:ext cx="402336" cy="402336"/>
          </a:xfrm>
          <a:prstGeom prst="ellipse">
            <a:avLst/>
          </a:prstGeom>
          <a:solidFill>
            <a:srgbClr val="D97A14"/>
          </a:solidFill>
          <a:ln w="12700">
            <a:solidFill>
              <a:srgbClr val="D97A14"/>
            </a:solidFill>
            <a:prstDash val="solid"/>
          </a:ln>
        </p:spPr>
      </p:sp>
      <p:sp>
        <p:nvSpPr>
          <p:cNvPr id="25" name="Text 23"/>
          <p:cNvSpPr txBox="1"/>
          <p:nvPr/>
        </p:nvSpPr>
        <p:spPr>
          <a:xfrm>
            <a:off x="457200" y="4099125"/>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7</a:t>
            </a:r>
            <a:endParaRPr lang="en-US" sz="1400" dirty="0"/>
          </a:p>
        </p:txBody>
      </p:sp>
      <p:sp>
        <p:nvSpPr>
          <p:cNvPr id="26" name="Text 24"/>
          <p:cNvSpPr txBox="1"/>
          <p:nvPr/>
        </p:nvSpPr>
        <p:spPr>
          <a:xfrm>
            <a:off x="1024128" y="4062549"/>
            <a:ext cx="5193792" cy="427155"/>
          </a:xfrm>
          <a:prstGeom prst="rect">
            <a:avLst/>
          </a:prstGeom>
          <a:noFill/>
          <a:ln/>
        </p:spPr>
        <p:txBody>
          <a:bodyPr wrap="square" lIns="0" tIns="0" rIns="0" bIns="0" rtlCol="0" anchor="ctr"/>
          <a:lstStyle/>
          <a:p>
            <a:pPr indent="0" marL="0">
              <a:buNone/>
            </a:pPr>
            <a:r>
              <a:rPr lang="en-US" sz="1150" dirty="0">
                <a:solidFill>
                  <a:srgbClr val="2B2622"/>
                </a:solidFill>
                <a:latin typeface="Calibri" pitchFamily="34" charset="0"/>
                <a:ea typeface="Calibri" pitchFamily="34" charset="-122"/>
                <a:cs typeface="Calibri" pitchFamily="34" charset="-120"/>
              </a:rPr>
              <a:t>Summary and resources (slides 24-25)</a:t>
            </a:r>
            <a:endParaRPr lang="en-US" sz="1150" dirty="0"/>
          </a:p>
        </p:txBody>
      </p:sp>
      <p:sp>
        <p:nvSpPr>
          <p:cNvPr id="27" name="Shape 25"/>
          <p:cNvSpPr/>
          <p:nvPr/>
        </p:nvSpPr>
        <p:spPr>
          <a:xfrm>
            <a:off x="6446520" y="1371600"/>
            <a:ext cx="2240280" cy="950976"/>
          </a:xfrm>
          <a:prstGeom prst="roundRect">
            <a:avLst>
              <a:gd name="adj" fmla="val 7692"/>
            </a:avLst>
          </a:prstGeom>
          <a:solidFill>
            <a:srgbClr val="F2ECE1"/>
          </a:solidFill>
          <a:ln w="12700">
            <a:solidFill>
              <a:srgbClr val="DFD6C7"/>
            </a:solidFill>
            <a:prstDash val="solid"/>
          </a:ln>
        </p:spPr>
      </p:sp>
      <p:sp>
        <p:nvSpPr>
          <p:cNvPr id="28" name="Text 26"/>
          <p:cNvSpPr txBox="1"/>
          <p:nvPr/>
        </p:nvSpPr>
        <p:spPr>
          <a:xfrm>
            <a:off x="6556248" y="1408176"/>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26</a:t>
            </a:r>
            <a:endParaRPr lang="en-US" sz="2600" dirty="0"/>
          </a:p>
        </p:txBody>
      </p:sp>
      <p:sp>
        <p:nvSpPr>
          <p:cNvPr id="29" name="Text 27"/>
          <p:cNvSpPr txBox="1"/>
          <p:nvPr/>
        </p:nvSpPr>
        <p:spPr>
          <a:xfrm>
            <a:off x="6556248" y="1866108"/>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slides, numbered bottom-right</a:t>
            </a:r>
            <a:endParaRPr lang="en-US" sz="1100" dirty="0"/>
          </a:p>
        </p:txBody>
      </p:sp>
      <p:sp>
        <p:nvSpPr>
          <p:cNvPr id="30" name="Shape 28"/>
          <p:cNvSpPr/>
          <p:nvPr/>
        </p:nvSpPr>
        <p:spPr>
          <a:xfrm>
            <a:off x="6446520" y="2450592"/>
            <a:ext cx="2240280" cy="950976"/>
          </a:xfrm>
          <a:prstGeom prst="roundRect">
            <a:avLst>
              <a:gd name="adj" fmla="val 7692"/>
            </a:avLst>
          </a:prstGeom>
          <a:solidFill>
            <a:srgbClr val="F2ECE1"/>
          </a:solidFill>
          <a:ln w="12700">
            <a:solidFill>
              <a:srgbClr val="DFD6C7"/>
            </a:solidFill>
            <a:prstDash val="solid"/>
          </a:ln>
        </p:spPr>
      </p:sp>
      <p:sp>
        <p:nvSpPr>
          <p:cNvPr id="31" name="Text 29"/>
          <p:cNvSpPr txBox="1"/>
          <p:nvPr/>
        </p:nvSpPr>
        <p:spPr>
          <a:xfrm>
            <a:off x="6556248" y="2487168"/>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2 + 4</a:t>
            </a:r>
            <a:endParaRPr lang="en-US" sz="2600" dirty="0"/>
          </a:p>
        </p:txBody>
      </p:sp>
      <p:sp>
        <p:nvSpPr>
          <p:cNvPr id="32" name="Text 30"/>
          <p:cNvSpPr txBox="1"/>
          <p:nvPr/>
        </p:nvSpPr>
        <p:spPr>
          <a:xfrm>
            <a:off x="6556248" y="2945100"/>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true stories: 2 on slides, 4 in the notes</a:t>
            </a:r>
            <a:endParaRPr lang="en-US" sz="1100" dirty="0"/>
          </a:p>
        </p:txBody>
      </p:sp>
      <p:sp>
        <p:nvSpPr>
          <p:cNvPr id="33" name="Shape 31"/>
          <p:cNvSpPr/>
          <p:nvPr/>
        </p:nvSpPr>
        <p:spPr>
          <a:xfrm>
            <a:off x="6446520" y="3529584"/>
            <a:ext cx="2240280" cy="950976"/>
          </a:xfrm>
          <a:prstGeom prst="roundRect">
            <a:avLst>
              <a:gd name="adj" fmla="val 7692"/>
            </a:avLst>
          </a:prstGeom>
          <a:solidFill>
            <a:srgbClr val="F2ECE1"/>
          </a:solidFill>
          <a:ln w="12700">
            <a:solidFill>
              <a:srgbClr val="DFD6C7"/>
            </a:solidFill>
            <a:prstDash val="solid"/>
          </a:ln>
        </p:spPr>
      </p:sp>
      <p:sp>
        <p:nvSpPr>
          <p:cNvPr id="34" name="Text 32"/>
          <p:cNvSpPr txBox="1"/>
          <p:nvPr/>
        </p:nvSpPr>
        <p:spPr>
          <a:xfrm>
            <a:off x="6556248" y="3566160"/>
            <a:ext cx="2020824" cy="494508"/>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24</a:t>
            </a:r>
            <a:endParaRPr lang="en-US" sz="2600" dirty="0"/>
          </a:p>
        </p:txBody>
      </p:sp>
      <p:sp>
        <p:nvSpPr>
          <p:cNvPr id="35" name="Text 33"/>
          <p:cNvSpPr txBox="1"/>
          <p:nvPr/>
        </p:nvSpPr>
        <p:spPr>
          <a:xfrm>
            <a:off x="6556248" y="4024092"/>
            <a:ext cx="2020824" cy="418429"/>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consoles and programs, all run before they were shown</a:t>
            </a:r>
            <a:endParaRPr lang="en-US" sz="1100" dirty="0"/>
          </a:p>
        </p:txBody>
      </p:sp>
      <p:sp>
        <p:nvSpPr>
          <p:cNvPr id="36" name="Shape 34"/>
          <p:cNvSpPr/>
          <p:nvPr/>
        </p:nvSpPr>
        <p:spPr>
          <a:xfrm>
            <a:off x="457200" y="4636008"/>
            <a:ext cx="91440" cy="310896"/>
          </a:xfrm>
          <a:prstGeom prst="rect">
            <a:avLst/>
          </a:prstGeom>
          <a:solidFill>
            <a:srgbClr val="D97A14"/>
          </a:solidFill>
          <a:ln w="12700">
            <a:solidFill>
              <a:srgbClr val="D97A14"/>
            </a:solidFill>
            <a:prstDash val="solid"/>
          </a:ln>
        </p:spPr>
      </p:sp>
      <p:sp>
        <p:nvSpPr>
          <p:cNvPr id="37" name="Text 3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Seven parts, from a PDF's bytes to a Word invitation.</a:t>
            </a:r>
            <a:endParaRPr lang="en-US" sz="1350" dirty="0"/>
          </a:p>
        </p:txBody>
      </p:sp>
      <p:sp>
        <p:nvSpPr>
          <p:cNvPr id="38" name="Text 3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 / 26</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The questions this chapter answers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chapter's own competency questions; the summary comes back to each</a:t>
            </a:r>
            <a:endParaRPr lang="en-US" sz="1300" dirty="0"/>
          </a:p>
        </p:txBody>
      </p:sp>
      <p:sp>
        <p:nvSpPr>
          <p:cNvPr id="6" name="Shape 4"/>
          <p:cNvSpPr/>
          <p:nvPr/>
        </p:nvSpPr>
        <p:spPr>
          <a:xfrm>
            <a:off x="457200" y="1316736"/>
            <a:ext cx="402336" cy="402336"/>
          </a:xfrm>
          <a:prstGeom prst="ellipse">
            <a:avLst/>
          </a:prstGeom>
          <a:solidFill>
            <a:srgbClr val="D97A14"/>
          </a:solidFill>
          <a:ln w="12700">
            <a:solidFill>
              <a:srgbClr val="D97A14"/>
            </a:solidFill>
            <a:prstDash val="solid"/>
          </a:ln>
        </p:spPr>
      </p:sp>
      <p:sp>
        <p:nvSpPr>
          <p:cNvPr id="7" name="Text 5"/>
          <p:cNvSpPr txBox="1"/>
          <p:nvPr/>
        </p:nvSpPr>
        <p:spPr>
          <a:xfrm>
            <a:off x="457200" y="1316736"/>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024128" y="1280160"/>
            <a:ext cx="7662672" cy="621792"/>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Which operations read a document, which build a new one from parts of others, and which cannot be done at all, given that PDF and Word files are made for people to read and not for programs to parse?</a:t>
            </a:r>
            <a:endParaRPr lang="en-US" sz="1300" dirty="0"/>
          </a:p>
        </p:txBody>
      </p:sp>
      <p:sp>
        <p:nvSpPr>
          <p:cNvPr id="9" name="Shape 7"/>
          <p:cNvSpPr/>
          <p:nvPr/>
        </p:nvSpPr>
        <p:spPr>
          <a:xfrm>
            <a:off x="457200" y="1975104"/>
            <a:ext cx="402336" cy="402336"/>
          </a:xfrm>
          <a:prstGeom prst="ellipse">
            <a:avLst/>
          </a:prstGeom>
          <a:solidFill>
            <a:srgbClr val="D97A14"/>
          </a:solidFill>
          <a:ln w="12700">
            <a:solidFill>
              <a:srgbClr val="D97A14"/>
            </a:solidFill>
            <a:prstDash val="solid"/>
          </a:ln>
        </p:spPr>
      </p:sp>
      <p:sp>
        <p:nvSpPr>
          <p:cNvPr id="10" name="Text 8"/>
          <p:cNvSpPr txBox="1"/>
          <p:nvPr/>
        </p:nvSpPr>
        <p:spPr>
          <a:xfrm>
            <a:off x="457200" y="1975104"/>
            <a:ext cx="402336" cy="40233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1" name="Text 9"/>
          <p:cNvSpPr txBox="1"/>
          <p:nvPr/>
        </p:nvSpPr>
        <p:spPr>
          <a:xfrm>
            <a:off x="1024128" y="1938528"/>
            <a:ext cx="7662672" cy="621792"/>
          </a:xfrm>
          <a:prstGeom prst="rect">
            <a:avLst/>
          </a:prstGeom>
          <a:noFill/>
          <a:ln/>
        </p:spPr>
        <p:txBody>
          <a:bodyPr wrap="square" lIns="0" tIns="0" rIns="0" bIns="0" rtlCol="0" anchor="ctr"/>
          <a:lstStyle/>
          <a:p>
            <a:pPr indent="0" marL="0">
              <a:buNone/>
            </a:pPr>
            <a:r>
              <a:rPr lang="en-US" sz="1300" dirty="0">
                <a:solidFill>
                  <a:srgbClr val="2B2622"/>
                </a:solidFill>
                <a:latin typeface="Calibri" pitchFamily="34" charset="0"/>
                <a:ea typeface="Calibri" pitchFamily="34" charset="-122"/>
                <a:cs typeface="Calibri" pitchFamily="34" charset="-120"/>
              </a:rPr>
              <a:t>Which printed outputs, programs, numbers and statements of the chapter differ in current releases of the packages, in the files the book ships or in the pages it points to, and on what source?</a:t>
            </a:r>
            <a:endParaRPr lang="en-US" sz="1300" dirty="0"/>
          </a:p>
        </p:txBody>
      </p:sp>
      <p:sp>
        <p:nvSpPr>
          <p:cNvPr id="12" name="Shape 10"/>
          <p:cNvSpPr/>
          <p:nvPr/>
        </p:nvSpPr>
        <p:spPr>
          <a:xfrm>
            <a:off x="457200" y="3474720"/>
            <a:ext cx="1435608" cy="420624"/>
          </a:xfrm>
          <a:prstGeom prst="roundRect">
            <a:avLst>
              <a:gd name="adj" fmla="val 50000"/>
            </a:avLst>
          </a:prstGeom>
          <a:solidFill>
            <a:srgbClr val="F2ECE1"/>
          </a:solidFill>
          <a:ln w="12700">
            <a:solidFill>
              <a:srgbClr val="D97A14"/>
            </a:solidFill>
            <a:prstDash val="solid"/>
          </a:ln>
        </p:spPr>
      </p:sp>
      <p:sp>
        <p:nvSpPr>
          <p:cNvPr id="13" name="Text 11"/>
          <p:cNvSpPr txBox="1"/>
          <p:nvPr/>
        </p:nvSpPr>
        <p:spPr>
          <a:xfrm>
            <a:off x="457200" y="3474720"/>
            <a:ext cx="1435608" cy="420624"/>
          </a:xfrm>
          <a:prstGeom prst="rect">
            <a:avLst/>
          </a:prstGeom>
          <a:noFill/>
          <a:ln/>
        </p:spPr>
        <p:txBody>
          <a:bodyPr wrap="square" lIns="0" tIns="0" rIns="0" bIns="0" rtlCol="0" anchor="ctr"/>
          <a:lstStyle/>
          <a:p>
            <a:pPr algn="ctr" indent="0" marL="0">
              <a:buNone/>
            </a:pPr>
            <a:r>
              <a:rPr lang="en-US" sz="1000" dirty="0">
                <a:solidFill>
                  <a:srgbClr val="2B2622"/>
                </a:solidFill>
                <a:latin typeface="Calibri" pitchFamily="34" charset="0"/>
                <a:ea typeface="Calibri" pitchFamily="34" charset="-122"/>
                <a:cs typeface="Calibri" pitchFamily="34" charset="-120"/>
              </a:rPr>
              <a:t>6 branches</a:t>
            </a:r>
            <a:endParaRPr lang="en-US" sz="1000" dirty="0"/>
          </a:p>
        </p:txBody>
      </p:sp>
      <p:sp>
        <p:nvSpPr>
          <p:cNvPr id="14" name="Shape 12"/>
          <p:cNvSpPr/>
          <p:nvPr/>
        </p:nvSpPr>
        <p:spPr>
          <a:xfrm>
            <a:off x="2093976" y="3474720"/>
            <a:ext cx="1330452" cy="420624"/>
          </a:xfrm>
          <a:prstGeom prst="roundRect">
            <a:avLst>
              <a:gd name="adj" fmla="val 50000"/>
            </a:avLst>
          </a:prstGeom>
          <a:solidFill>
            <a:srgbClr val="F2ECE1"/>
          </a:solidFill>
          <a:ln w="12700">
            <a:solidFill>
              <a:srgbClr val="D97A14"/>
            </a:solidFill>
            <a:prstDash val="solid"/>
          </a:ln>
        </p:spPr>
      </p:sp>
      <p:sp>
        <p:nvSpPr>
          <p:cNvPr id="15" name="Text 13"/>
          <p:cNvSpPr txBox="1"/>
          <p:nvPr/>
        </p:nvSpPr>
        <p:spPr>
          <a:xfrm>
            <a:off x="2093976" y="3474720"/>
            <a:ext cx="1330452" cy="420624"/>
          </a:xfrm>
          <a:prstGeom prst="rect">
            <a:avLst/>
          </a:prstGeom>
          <a:noFill/>
          <a:ln/>
        </p:spPr>
        <p:txBody>
          <a:bodyPr wrap="square" lIns="0" tIns="0" rIns="0" bIns="0" rtlCol="0" anchor="ctr"/>
          <a:lstStyle/>
          <a:p>
            <a:pPr algn="ctr" indent="0" marL="0">
              <a:buNone/>
            </a:pPr>
            <a:r>
              <a:rPr lang="en-US" sz="1000" dirty="0">
                <a:solidFill>
                  <a:srgbClr val="2B2622"/>
                </a:solidFill>
                <a:latin typeface="Calibri" pitchFamily="34" charset="0"/>
                <a:ea typeface="Calibri" pitchFamily="34" charset="-122"/>
                <a:cs typeface="Calibri" pitchFamily="34" charset="-120"/>
              </a:rPr>
              <a:t>95 topics</a:t>
            </a:r>
            <a:endParaRPr lang="en-US" sz="1000" dirty="0"/>
          </a:p>
        </p:txBody>
      </p:sp>
      <p:sp>
        <p:nvSpPr>
          <p:cNvPr id="16" name="Shape 14"/>
          <p:cNvSpPr/>
          <p:nvPr/>
        </p:nvSpPr>
        <p:spPr>
          <a:xfrm>
            <a:off x="3625596" y="3474720"/>
            <a:ext cx="1961388" cy="420624"/>
          </a:xfrm>
          <a:prstGeom prst="roundRect">
            <a:avLst>
              <a:gd name="adj" fmla="val 50000"/>
            </a:avLst>
          </a:prstGeom>
          <a:solidFill>
            <a:srgbClr val="F2ECE1"/>
          </a:solidFill>
          <a:ln w="12700">
            <a:solidFill>
              <a:srgbClr val="D97A14"/>
            </a:solidFill>
            <a:prstDash val="solid"/>
          </a:ln>
        </p:spPr>
      </p:sp>
      <p:sp>
        <p:nvSpPr>
          <p:cNvPr id="17" name="Text 15"/>
          <p:cNvSpPr txBox="1"/>
          <p:nvPr/>
        </p:nvSpPr>
        <p:spPr>
          <a:xfrm>
            <a:off x="3625596" y="3474720"/>
            <a:ext cx="1961388" cy="420624"/>
          </a:xfrm>
          <a:prstGeom prst="rect">
            <a:avLst/>
          </a:prstGeom>
          <a:noFill/>
          <a:ln/>
        </p:spPr>
        <p:txBody>
          <a:bodyPr wrap="square" lIns="0" tIns="0" rIns="0" bIns="0" rtlCol="0" anchor="ctr"/>
          <a:lstStyle/>
          <a:p>
            <a:pPr algn="ctr" indent="0" marL="0">
              <a:buNone/>
            </a:pPr>
            <a:r>
              <a:rPr lang="en-US" sz="1000" dirty="0">
                <a:solidFill>
                  <a:srgbClr val="2B2622"/>
                </a:solidFill>
                <a:latin typeface="Calibri" pitchFamily="34" charset="0"/>
                <a:ea typeface="Calibri" pitchFamily="34" charset="-122"/>
                <a:cs typeface="Calibri" pitchFamily="34" charset="-120"/>
              </a:rPr>
              <a:t>32 console rows</a:t>
            </a:r>
            <a:endParaRPr lang="en-US" sz="1000" dirty="0"/>
          </a:p>
        </p:txBody>
      </p:sp>
      <p:sp>
        <p:nvSpPr>
          <p:cNvPr id="18" name="Shape 16"/>
          <p:cNvSpPr/>
          <p:nvPr/>
        </p:nvSpPr>
        <p:spPr>
          <a:xfrm>
            <a:off x="5788152" y="3474720"/>
            <a:ext cx="1961388" cy="420624"/>
          </a:xfrm>
          <a:prstGeom prst="roundRect">
            <a:avLst>
              <a:gd name="adj" fmla="val 50000"/>
            </a:avLst>
          </a:prstGeom>
          <a:solidFill>
            <a:srgbClr val="F2ECE1"/>
          </a:solidFill>
          <a:ln w="12700">
            <a:solidFill>
              <a:srgbClr val="D97A14"/>
            </a:solidFill>
            <a:prstDash val="solid"/>
          </a:ln>
        </p:spPr>
      </p:sp>
      <p:sp>
        <p:nvSpPr>
          <p:cNvPr id="19" name="Text 17"/>
          <p:cNvSpPr txBox="1"/>
          <p:nvPr/>
        </p:nvSpPr>
        <p:spPr>
          <a:xfrm>
            <a:off x="5788152" y="3474720"/>
            <a:ext cx="1961388" cy="420624"/>
          </a:xfrm>
          <a:prstGeom prst="rect">
            <a:avLst/>
          </a:prstGeom>
          <a:noFill/>
          <a:ln/>
        </p:spPr>
        <p:txBody>
          <a:bodyPr wrap="square" lIns="0" tIns="0" rIns="0" bIns="0" rtlCol="0" anchor="ctr"/>
          <a:lstStyle/>
          <a:p>
            <a:pPr algn="ctr" indent="0" marL="0">
              <a:buNone/>
            </a:pPr>
            <a:r>
              <a:rPr lang="en-US" sz="1000" dirty="0">
                <a:solidFill>
                  <a:srgbClr val="2B2622"/>
                </a:solidFill>
                <a:latin typeface="Calibri" pitchFamily="34" charset="0"/>
                <a:ea typeface="Calibri" pitchFamily="34" charset="-122"/>
                <a:cs typeface="Calibri" pitchFamily="34" charset="-120"/>
              </a:rPr>
              <a:t>27 programs run</a:t>
            </a:r>
            <a:endParaRPr lang="en-US" sz="1000" dirty="0"/>
          </a:p>
        </p:txBody>
      </p:sp>
      <p:sp>
        <p:nvSpPr>
          <p:cNvPr id="20" name="Shape 18"/>
          <p:cNvSpPr/>
          <p:nvPr/>
        </p:nvSpPr>
        <p:spPr>
          <a:xfrm>
            <a:off x="457200" y="4059936"/>
            <a:ext cx="1435608" cy="420624"/>
          </a:xfrm>
          <a:prstGeom prst="roundRect">
            <a:avLst>
              <a:gd name="adj" fmla="val 50000"/>
            </a:avLst>
          </a:prstGeom>
          <a:solidFill>
            <a:srgbClr val="F2ECE1"/>
          </a:solidFill>
          <a:ln w="12700">
            <a:solidFill>
              <a:srgbClr val="D97A14"/>
            </a:solidFill>
            <a:prstDash val="solid"/>
          </a:ln>
        </p:spPr>
      </p:sp>
      <p:sp>
        <p:nvSpPr>
          <p:cNvPr id="21" name="Text 19"/>
          <p:cNvSpPr txBox="1"/>
          <p:nvPr/>
        </p:nvSpPr>
        <p:spPr>
          <a:xfrm>
            <a:off x="457200" y="4059936"/>
            <a:ext cx="1435608" cy="420624"/>
          </a:xfrm>
          <a:prstGeom prst="rect">
            <a:avLst/>
          </a:prstGeom>
          <a:noFill/>
          <a:ln/>
        </p:spPr>
        <p:txBody>
          <a:bodyPr wrap="square" lIns="0" tIns="0" rIns="0" bIns="0" rtlCol="0" anchor="ctr"/>
          <a:lstStyle/>
          <a:p>
            <a:pPr algn="ctr" indent="0" marL="0">
              <a:buNone/>
            </a:pPr>
            <a:r>
              <a:rPr lang="en-US" sz="1000" dirty="0">
                <a:solidFill>
                  <a:srgbClr val="2B2622"/>
                </a:solidFill>
                <a:latin typeface="Calibri" pitchFamily="34" charset="0"/>
                <a:ea typeface="Calibri" pitchFamily="34" charset="-122"/>
                <a:cs typeface="Calibri" pitchFamily="34" charset="-120"/>
              </a:rPr>
              <a:t>8 diagrams</a:t>
            </a:r>
            <a:endParaRPr lang="en-US" sz="1000" dirty="0"/>
          </a:p>
        </p:txBody>
      </p:sp>
      <p:sp>
        <p:nvSpPr>
          <p:cNvPr id="22" name="Shape 20"/>
          <p:cNvSpPr/>
          <p:nvPr/>
        </p:nvSpPr>
        <p:spPr>
          <a:xfrm>
            <a:off x="2093976" y="4059936"/>
            <a:ext cx="1751076" cy="420624"/>
          </a:xfrm>
          <a:prstGeom prst="roundRect">
            <a:avLst>
              <a:gd name="adj" fmla="val 50000"/>
            </a:avLst>
          </a:prstGeom>
          <a:solidFill>
            <a:srgbClr val="F2ECE1"/>
          </a:solidFill>
          <a:ln w="12700">
            <a:solidFill>
              <a:srgbClr val="D97A14"/>
            </a:solidFill>
            <a:prstDash val="solid"/>
          </a:ln>
        </p:spPr>
      </p:sp>
      <p:sp>
        <p:nvSpPr>
          <p:cNvPr id="23" name="Text 21"/>
          <p:cNvSpPr txBox="1"/>
          <p:nvPr/>
        </p:nvSpPr>
        <p:spPr>
          <a:xfrm>
            <a:off x="2093976" y="4059936"/>
            <a:ext cx="1751076" cy="420624"/>
          </a:xfrm>
          <a:prstGeom prst="rect">
            <a:avLst/>
          </a:prstGeom>
          <a:noFill/>
          <a:ln/>
        </p:spPr>
        <p:txBody>
          <a:bodyPr wrap="square" lIns="0" tIns="0" rIns="0" bIns="0" rtlCol="0" anchor="ctr"/>
          <a:lstStyle/>
          <a:p>
            <a:pPr algn="ctr" indent="0" marL="0">
              <a:buNone/>
            </a:pPr>
            <a:r>
              <a:rPr lang="en-US" sz="1000" dirty="0">
                <a:solidFill>
                  <a:srgbClr val="2B2622"/>
                </a:solidFill>
                <a:latin typeface="Calibri" pitchFamily="34" charset="0"/>
                <a:ea typeface="Calibri" pitchFamily="34" charset="-122"/>
                <a:cs typeface="Calibri" pitchFamily="34" charset="-120"/>
              </a:rPr>
              <a:t>Python 3.14.6</a:t>
            </a:r>
            <a:endParaRPr lang="en-US" sz="1000" dirty="0"/>
          </a:p>
        </p:txBody>
      </p:sp>
      <p:sp>
        <p:nvSpPr>
          <p:cNvPr id="24" name="Shape 22"/>
          <p:cNvSpPr/>
          <p:nvPr/>
        </p:nvSpPr>
        <p:spPr>
          <a:xfrm>
            <a:off x="4046220" y="4059936"/>
            <a:ext cx="1645920" cy="420624"/>
          </a:xfrm>
          <a:prstGeom prst="roundRect">
            <a:avLst>
              <a:gd name="adj" fmla="val 50000"/>
            </a:avLst>
          </a:prstGeom>
          <a:solidFill>
            <a:srgbClr val="F2ECE1"/>
          </a:solidFill>
          <a:ln w="12700">
            <a:solidFill>
              <a:srgbClr val="D97A14"/>
            </a:solidFill>
            <a:prstDash val="solid"/>
          </a:ln>
        </p:spPr>
      </p:sp>
      <p:sp>
        <p:nvSpPr>
          <p:cNvPr id="25" name="Text 23"/>
          <p:cNvSpPr txBox="1"/>
          <p:nvPr/>
        </p:nvSpPr>
        <p:spPr>
          <a:xfrm>
            <a:off x="4046220" y="4059936"/>
            <a:ext cx="1645920" cy="420624"/>
          </a:xfrm>
          <a:prstGeom prst="rect">
            <a:avLst/>
          </a:prstGeom>
          <a:noFill/>
          <a:ln/>
        </p:spPr>
        <p:txBody>
          <a:bodyPr wrap="square" lIns="0" tIns="0" rIns="0" bIns="0" rtlCol="0" anchor="ctr"/>
          <a:lstStyle/>
          <a:p>
            <a:pPr algn="ctr" indent="0" marL="0">
              <a:buNone/>
            </a:pPr>
            <a:r>
              <a:rPr lang="en-US" sz="1000" dirty="0">
                <a:solidFill>
                  <a:srgbClr val="2B2622"/>
                </a:solidFill>
                <a:latin typeface="Calibri" pitchFamily="34" charset="0"/>
                <a:ea typeface="Calibri" pitchFamily="34" charset="-122"/>
                <a:cs typeface="Calibri" pitchFamily="34" charset="-120"/>
              </a:rPr>
              <a:t>pypdf 6.20.1</a:t>
            </a:r>
            <a:endParaRPr lang="en-US" sz="1000" dirty="0"/>
          </a:p>
        </p:txBody>
      </p:sp>
      <p:sp>
        <p:nvSpPr>
          <p:cNvPr id="26" name="Shape 24"/>
          <p:cNvSpPr/>
          <p:nvPr/>
        </p:nvSpPr>
        <p:spPr>
          <a:xfrm>
            <a:off x="5893308" y="4059936"/>
            <a:ext cx="2171700" cy="420624"/>
          </a:xfrm>
          <a:prstGeom prst="roundRect">
            <a:avLst>
              <a:gd name="adj" fmla="val 50000"/>
            </a:avLst>
          </a:prstGeom>
          <a:solidFill>
            <a:srgbClr val="F2ECE1"/>
          </a:solidFill>
          <a:ln w="12700">
            <a:solidFill>
              <a:srgbClr val="D97A14"/>
            </a:solidFill>
            <a:prstDash val="solid"/>
          </a:ln>
        </p:spPr>
      </p:sp>
      <p:sp>
        <p:nvSpPr>
          <p:cNvPr id="27" name="Text 25"/>
          <p:cNvSpPr txBox="1"/>
          <p:nvPr/>
        </p:nvSpPr>
        <p:spPr>
          <a:xfrm>
            <a:off x="5893308" y="4059936"/>
            <a:ext cx="2171700" cy="420624"/>
          </a:xfrm>
          <a:prstGeom prst="rect">
            <a:avLst/>
          </a:prstGeom>
          <a:noFill/>
          <a:ln/>
        </p:spPr>
        <p:txBody>
          <a:bodyPr wrap="square" lIns="0" tIns="0" rIns="0" bIns="0" rtlCol="0" anchor="ctr"/>
          <a:lstStyle/>
          <a:p>
            <a:pPr algn="ctr" indent="0" marL="0">
              <a:buNone/>
            </a:pPr>
            <a:r>
              <a:rPr lang="en-US" sz="1000" dirty="0">
                <a:solidFill>
                  <a:srgbClr val="2B2622"/>
                </a:solidFill>
                <a:latin typeface="Calibri" pitchFamily="34" charset="0"/>
                <a:ea typeface="Calibri" pitchFamily="34" charset="-122"/>
                <a:cs typeface="Calibri" pitchFamily="34" charset="-120"/>
              </a:rPr>
              <a:t>python-docx 1.2.0</a:t>
            </a:r>
            <a:endParaRPr lang="en-US" sz="1000" dirty="0"/>
          </a:p>
        </p:txBody>
      </p:sp>
      <p:sp>
        <p:nvSpPr>
          <p:cNvPr id="28" name="Shape 26"/>
          <p:cNvSpPr/>
          <p:nvPr/>
        </p:nvSpPr>
        <p:spPr>
          <a:xfrm>
            <a:off x="457200" y="4636008"/>
            <a:ext cx="91440" cy="310896"/>
          </a:xfrm>
          <a:prstGeom prst="rect">
            <a:avLst/>
          </a:prstGeom>
          <a:solidFill>
            <a:srgbClr val="D97A14"/>
          </a:solidFill>
          <a:ln w="12700">
            <a:solidFill>
              <a:srgbClr val="D97A14"/>
            </a:solidFill>
            <a:prstDash val="solid"/>
          </a:ln>
        </p:spPr>
      </p:sp>
      <p:sp>
        <p:nvSpPr>
          <p:cNvPr id="29" name="Text 2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Know what a program can do with these files, and where the book's lines differ.</a:t>
            </a:r>
            <a:endParaRPr lang="en-US" sz="1350" dirty="0"/>
          </a:p>
        </p:txBody>
      </p:sp>
      <p:sp>
        <p:nvSpPr>
          <p:cNvPr id="30" name="Text 2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3 / 26</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What a program can do with a PDF</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Eight things through pypdf; the names older tutorials use are gone</a:t>
            </a:r>
            <a:endParaRPr lang="en-US" sz="1300" dirty="0"/>
          </a:p>
        </p:txBody>
      </p:sp>
      <p:sp>
        <p:nvSpPr>
          <p:cNvPr id="6" name="Shape 4"/>
          <p:cNvSpPr/>
          <p:nvPr/>
        </p:nvSpPr>
        <p:spPr>
          <a:xfrm>
            <a:off x="5303520" y="1581912"/>
            <a:ext cx="3383280" cy="2624328"/>
          </a:xfrm>
          <a:prstGeom prst="rect">
            <a:avLst/>
          </a:prstGeom>
          <a:solidFill>
            <a:srgbClr val="FBF8F2"/>
          </a:solidFill>
          <a:ln w="12700">
            <a:solidFill>
              <a:srgbClr val="6E655C"/>
            </a:solidFill>
            <a:prstDash val="solid"/>
          </a:ln>
        </p:spPr>
      </p:sp>
      <p:sp>
        <p:nvSpPr>
          <p:cNvPr id="7" name="Text 5"/>
          <p:cNvSpPr txBox="1"/>
          <p:nvPr/>
        </p:nvSpPr>
        <p:spPr>
          <a:xfrm>
            <a:off x="5376672" y="1344168"/>
            <a:ext cx="3246120" cy="219456"/>
          </a:xfrm>
          <a:prstGeom prst="rect">
            <a:avLst/>
          </a:prstGeom>
          <a:noFill/>
          <a:ln/>
        </p:spPr>
        <p:txBody>
          <a:bodyPr wrap="square" lIns="0" tIns="0" rIns="0" bIns="0" rtlCol="0" anchor="ctr"/>
          <a:lstStyle/>
          <a:p>
            <a:pPr algn="l" indent="0" marL="0">
              <a:buNone/>
            </a:pPr>
            <a:r>
              <a:rPr lang="en-US" sz="850" b="1" dirty="0">
                <a:solidFill>
                  <a:srgbClr val="6E655C"/>
                </a:solidFill>
                <a:latin typeface="Calibri" pitchFamily="34" charset="0"/>
                <a:ea typeface="Calibri" pitchFamily="34" charset="-122"/>
                <a:cs typeface="Calibri" pitchFamily="34" charset="-120"/>
              </a:rPr>
              <a:t>A PDF FILE IN PYTHON</a:t>
            </a:r>
            <a:endParaRPr lang="en-US" sz="850" dirty="0"/>
          </a:p>
        </p:txBody>
      </p:sp>
      <p:sp>
        <p:nvSpPr>
          <p:cNvPr id="8" name="Shape 6"/>
          <p:cNvSpPr/>
          <p:nvPr/>
        </p:nvSpPr>
        <p:spPr>
          <a:xfrm>
            <a:off x="5440680" y="1682496"/>
            <a:ext cx="3108960" cy="264262"/>
          </a:xfrm>
          <a:prstGeom prst="ellipse">
            <a:avLst/>
          </a:prstGeom>
          <a:solidFill>
            <a:srgbClr val="F2ECE1"/>
          </a:solidFill>
          <a:ln w="15875">
            <a:solidFill>
              <a:srgbClr val="2F6D62"/>
            </a:solidFill>
            <a:prstDash val="solid"/>
          </a:ln>
        </p:spPr>
      </p:sp>
      <p:sp>
        <p:nvSpPr>
          <p:cNvPr id="9" name="Text 7"/>
          <p:cNvSpPr txBox="1"/>
          <p:nvPr/>
        </p:nvSpPr>
        <p:spPr>
          <a:xfrm>
            <a:off x="5696712" y="1743761"/>
            <a:ext cx="2596896" cy="140818"/>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Extract the text of the pages</a:t>
            </a:r>
            <a:endParaRPr lang="en-US" sz="800" dirty="0"/>
          </a:p>
        </p:txBody>
      </p:sp>
      <p:sp>
        <p:nvSpPr>
          <p:cNvPr id="10" name="Shape 8"/>
          <p:cNvSpPr/>
          <p:nvPr/>
        </p:nvSpPr>
        <p:spPr>
          <a:xfrm>
            <a:off x="5440680" y="2001622"/>
            <a:ext cx="3108960" cy="264262"/>
          </a:xfrm>
          <a:prstGeom prst="ellipse">
            <a:avLst/>
          </a:prstGeom>
          <a:solidFill>
            <a:srgbClr val="F2ECE1"/>
          </a:solidFill>
          <a:ln w="15875">
            <a:solidFill>
              <a:srgbClr val="2F6D62"/>
            </a:solidFill>
            <a:prstDash val="solid"/>
          </a:ln>
        </p:spPr>
      </p:sp>
      <p:sp>
        <p:nvSpPr>
          <p:cNvPr id="11" name="Text 9"/>
          <p:cNvSpPr txBox="1"/>
          <p:nvPr/>
        </p:nvSpPr>
        <p:spPr>
          <a:xfrm>
            <a:off x="5696712" y="2062886"/>
            <a:ext cx="2596896" cy="140818"/>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Extract the images of a page</a:t>
            </a:r>
            <a:endParaRPr lang="en-US" sz="800" dirty="0"/>
          </a:p>
        </p:txBody>
      </p:sp>
      <p:sp>
        <p:nvSpPr>
          <p:cNvPr id="12" name="Shape 10"/>
          <p:cNvSpPr/>
          <p:nvPr/>
        </p:nvSpPr>
        <p:spPr>
          <a:xfrm>
            <a:off x="5440680" y="2320747"/>
            <a:ext cx="3108960" cy="264262"/>
          </a:xfrm>
          <a:prstGeom prst="ellipse">
            <a:avLst/>
          </a:prstGeom>
          <a:solidFill>
            <a:srgbClr val="F2ECE1"/>
          </a:solidFill>
          <a:ln w="15875">
            <a:solidFill>
              <a:srgbClr val="2F6D62"/>
            </a:solidFill>
            <a:prstDash val="solid"/>
          </a:ln>
        </p:spPr>
      </p:sp>
      <p:sp>
        <p:nvSpPr>
          <p:cNvPr id="13" name="Text 11"/>
          <p:cNvSpPr txBox="1"/>
          <p:nvPr/>
        </p:nvSpPr>
        <p:spPr>
          <a:xfrm>
            <a:off x="5696712" y="2382012"/>
            <a:ext cx="2596896" cy="140818"/>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Copy pages into a new file</a:t>
            </a:r>
            <a:endParaRPr lang="en-US" sz="800" dirty="0"/>
          </a:p>
        </p:txBody>
      </p:sp>
      <p:sp>
        <p:nvSpPr>
          <p:cNvPr id="14" name="Shape 12"/>
          <p:cNvSpPr/>
          <p:nvPr/>
        </p:nvSpPr>
        <p:spPr>
          <a:xfrm>
            <a:off x="5440680" y="2638958"/>
            <a:ext cx="3108960" cy="264262"/>
          </a:xfrm>
          <a:prstGeom prst="ellipse">
            <a:avLst/>
          </a:prstGeom>
          <a:solidFill>
            <a:srgbClr val="F2ECE1"/>
          </a:solidFill>
          <a:ln w="15875">
            <a:solidFill>
              <a:srgbClr val="2F6D62"/>
            </a:solidFill>
            <a:prstDash val="solid"/>
          </a:ln>
        </p:spPr>
      </p:sp>
      <p:sp>
        <p:nvSpPr>
          <p:cNvPr id="15" name="Text 13"/>
          <p:cNvSpPr txBox="1"/>
          <p:nvPr/>
        </p:nvSpPr>
        <p:spPr>
          <a:xfrm>
            <a:off x="5696712" y="2700223"/>
            <a:ext cx="2596896" cy="140818"/>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Insert pages at a position</a:t>
            </a:r>
            <a:endParaRPr lang="en-US" sz="800" dirty="0"/>
          </a:p>
        </p:txBody>
      </p:sp>
      <p:sp>
        <p:nvSpPr>
          <p:cNvPr id="16" name="Shape 14"/>
          <p:cNvSpPr/>
          <p:nvPr/>
        </p:nvSpPr>
        <p:spPr>
          <a:xfrm>
            <a:off x="5440680" y="2958084"/>
            <a:ext cx="3108960" cy="264262"/>
          </a:xfrm>
          <a:prstGeom prst="ellipse">
            <a:avLst/>
          </a:prstGeom>
          <a:solidFill>
            <a:srgbClr val="F2ECE1"/>
          </a:solidFill>
          <a:ln w="15875">
            <a:solidFill>
              <a:srgbClr val="2F6D62"/>
            </a:solidFill>
            <a:prstDash val="solid"/>
          </a:ln>
        </p:spPr>
      </p:sp>
      <p:sp>
        <p:nvSpPr>
          <p:cNvPr id="17" name="Text 15"/>
          <p:cNvSpPr txBox="1"/>
          <p:nvPr/>
        </p:nvSpPr>
        <p:spPr>
          <a:xfrm>
            <a:off x="5696712" y="3019349"/>
            <a:ext cx="2596896" cy="140818"/>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Rotate pages</a:t>
            </a:r>
            <a:endParaRPr lang="en-US" sz="800" dirty="0"/>
          </a:p>
        </p:txBody>
      </p:sp>
      <p:sp>
        <p:nvSpPr>
          <p:cNvPr id="18" name="Shape 16"/>
          <p:cNvSpPr/>
          <p:nvPr/>
        </p:nvSpPr>
        <p:spPr>
          <a:xfrm>
            <a:off x="5440680" y="3277210"/>
            <a:ext cx="3108960" cy="264262"/>
          </a:xfrm>
          <a:prstGeom prst="ellipse">
            <a:avLst/>
          </a:prstGeom>
          <a:solidFill>
            <a:srgbClr val="F2ECE1"/>
          </a:solidFill>
          <a:ln w="15875">
            <a:solidFill>
              <a:srgbClr val="2F6D62"/>
            </a:solidFill>
            <a:prstDash val="solid"/>
          </a:ln>
        </p:spPr>
      </p:sp>
      <p:sp>
        <p:nvSpPr>
          <p:cNvPr id="19" name="Text 17"/>
          <p:cNvSpPr txBox="1"/>
          <p:nvPr/>
        </p:nvSpPr>
        <p:spPr>
          <a:xfrm>
            <a:off x="5696712" y="3338474"/>
            <a:ext cx="2596896" cy="140818"/>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Merge a watermark under a page</a:t>
            </a:r>
            <a:endParaRPr lang="en-US" sz="800" dirty="0"/>
          </a:p>
        </p:txBody>
      </p:sp>
      <p:sp>
        <p:nvSpPr>
          <p:cNvPr id="20" name="Shape 18"/>
          <p:cNvSpPr/>
          <p:nvPr/>
        </p:nvSpPr>
        <p:spPr>
          <a:xfrm>
            <a:off x="5440680" y="3596335"/>
            <a:ext cx="3108960" cy="264262"/>
          </a:xfrm>
          <a:prstGeom prst="ellipse">
            <a:avLst/>
          </a:prstGeom>
          <a:solidFill>
            <a:srgbClr val="F2ECE1"/>
          </a:solidFill>
          <a:ln w="15875">
            <a:solidFill>
              <a:srgbClr val="2F6D62"/>
            </a:solidFill>
            <a:prstDash val="solid"/>
          </a:ln>
        </p:spPr>
      </p:sp>
      <p:sp>
        <p:nvSpPr>
          <p:cNvPr id="21" name="Text 19"/>
          <p:cNvSpPr txBox="1"/>
          <p:nvPr/>
        </p:nvSpPr>
        <p:spPr>
          <a:xfrm>
            <a:off x="5696712" y="3657600"/>
            <a:ext cx="2596896" cy="140818"/>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Encrypt a file with AES-256</a:t>
            </a:r>
            <a:endParaRPr lang="en-US" sz="800" dirty="0"/>
          </a:p>
        </p:txBody>
      </p:sp>
      <p:sp>
        <p:nvSpPr>
          <p:cNvPr id="22" name="Shape 20"/>
          <p:cNvSpPr/>
          <p:nvPr/>
        </p:nvSpPr>
        <p:spPr>
          <a:xfrm>
            <a:off x="5440680" y="3914546"/>
            <a:ext cx="3108960" cy="264262"/>
          </a:xfrm>
          <a:prstGeom prst="ellipse">
            <a:avLst/>
          </a:prstGeom>
          <a:solidFill>
            <a:srgbClr val="F2ECE1"/>
          </a:solidFill>
          <a:ln w="15875">
            <a:solidFill>
              <a:srgbClr val="2F6D62"/>
            </a:solidFill>
            <a:prstDash val="solid"/>
          </a:ln>
        </p:spPr>
      </p:sp>
      <p:sp>
        <p:nvSpPr>
          <p:cNvPr id="23" name="Text 21"/>
          <p:cNvSpPr txBox="1"/>
          <p:nvPr/>
        </p:nvSpPr>
        <p:spPr>
          <a:xfrm>
            <a:off x="5696712" y="3975811"/>
            <a:ext cx="2596896" cy="140818"/>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Decrypt a file with a password</a:t>
            </a:r>
            <a:endParaRPr lang="en-US" sz="800" dirty="0"/>
          </a:p>
        </p:txBody>
      </p:sp>
      <p:sp>
        <p:nvSpPr>
          <p:cNvPr id="24" name="Shape 22"/>
          <p:cNvSpPr/>
          <p:nvPr/>
        </p:nvSpPr>
        <p:spPr>
          <a:xfrm>
            <a:off x="4791456" y="2125980"/>
            <a:ext cx="201168" cy="201168"/>
          </a:xfrm>
          <a:prstGeom prst="ellipse">
            <a:avLst/>
          </a:prstGeom>
          <a:solidFill>
            <a:srgbClr val="FFFFFF"/>
          </a:solidFill>
          <a:ln w="19050">
            <a:solidFill>
              <a:srgbClr val="2B2622"/>
            </a:solidFill>
            <a:prstDash val="solid"/>
          </a:ln>
        </p:spPr>
      </p:sp>
      <p:sp>
        <p:nvSpPr>
          <p:cNvPr id="25" name="Shape 23"/>
          <p:cNvSpPr/>
          <p:nvPr/>
        </p:nvSpPr>
        <p:spPr>
          <a:xfrm>
            <a:off x="4892040" y="2327148"/>
            <a:ext cx="0" cy="347472"/>
          </a:xfrm>
          <a:prstGeom prst="line">
            <a:avLst/>
          </a:prstGeom>
          <a:noFill/>
          <a:ln w="19050">
            <a:solidFill>
              <a:srgbClr val="2B2622"/>
            </a:solidFill>
            <a:prstDash val="solid"/>
          </a:ln>
        </p:spPr>
      </p:sp>
      <p:sp>
        <p:nvSpPr>
          <p:cNvPr id="26" name="Shape 24"/>
          <p:cNvSpPr/>
          <p:nvPr/>
        </p:nvSpPr>
        <p:spPr>
          <a:xfrm>
            <a:off x="4709160" y="2418588"/>
            <a:ext cx="365760" cy="0"/>
          </a:xfrm>
          <a:prstGeom prst="line">
            <a:avLst/>
          </a:prstGeom>
          <a:noFill/>
          <a:ln w="19050">
            <a:solidFill>
              <a:srgbClr val="2B2622"/>
            </a:solidFill>
            <a:prstDash val="solid"/>
          </a:ln>
        </p:spPr>
      </p:sp>
      <p:sp>
        <p:nvSpPr>
          <p:cNvPr id="27" name="Shape 25"/>
          <p:cNvSpPr/>
          <p:nvPr/>
        </p:nvSpPr>
        <p:spPr>
          <a:xfrm flipH="1">
            <a:off x="4745736" y="2674620"/>
            <a:ext cx="146304" cy="228600"/>
          </a:xfrm>
          <a:prstGeom prst="line">
            <a:avLst/>
          </a:prstGeom>
          <a:noFill/>
          <a:ln w="19050">
            <a:solidFill>
              <a:srgbClr val="2B2622"/>
            </a:solidFill>
            <a:prstDash val="solid"/>
          </a:ln>
        </p:spPr>
      </p:sp>
      <p:sp>
        <p:nvSpPr>
          <p:cNvPr id="28" name="Shape 26"/>
          <p:cNvSpPr/>
          <p:nvPr/>
        </p:nvSpPr>
        <p:spPr>
          <a:xfrm>
            <a:off x="4892040" y="2674620"/>
            <a:ext cx="146304" cy="228600"/>
          </a:xfrm>
          <a:prstGeom prst="line">
            <a:avLst/>
          </a:prstGeom>
          <a:noFill/>
          <a:ln w="19050">
            <a:solidFill>
              <a:srgbClr val="2B2622"/>
            </a:solidFill>
            <a:prstDash val="solid"/>
          </a:ln>
        </p:spPr>
      </p:sp>
      <p:sp>
        <p:nvSpPr>
          <p:cNvPr id="29" name="Text 27"/>
          <p:cNvSpPr txBox="1"/>
          <p:nvPr/>
        </p:nvSpPr>
        <p:spPr>
          <a:xfrm>
            <a:off x="4572000" y="2948940"/>
            <a:ext cx="731520" cy="149047"/>
          </a:xfrm>
          <a:prstGeom prst="rect">
            <a:avLst/>
          </a:prstGeom>
          <a:noFill/>
          <a:ln/>
        </p:spPr>
        <p:txBody>
          <a:bodyPr wrap="square" lIns="0" tIns="0" rIns="0" bIns="0" rtlCol="0" anchor="t"/>
          <a:lstStyle/>
          <a:p>
            <a:pPr algn="ctr" indent="0" marL="0">
              <a:buNone/>
            </a:pPr>
            <a:r>
              <a:rPr lang="en-US" sz="850" b="1" dirty="0">
                <a:solidFill>
                  <a:srgbClr val="2B2622"/>
                </a:solidFill>
                <a:latin typeface="Calibri" pitchFamily="34" charset="0"/>
                <a:ea typeface="Calibri" pitchFamily="34" charset="-122"/>
                <a:cs typeface="Calibri" pitchFamily="34" charset="-120"/>
              </a:rPr>
              <a:t>A program</a:t>
            </a:r>
            <a:endParaRPr lang="en-US" sz="850" dirty="0"/>
          </a:p>
        </p:txBody>
      </p:sp>
      <p:sp>
        <p:nvSpPr>
          <p:cNvPr id="30" name="Shape 28"/>
          <p:cNvSpPr/>
          <p:nvPr/>
        </p:nvSpPr>
        <p:spPr>
          <a:xfrm flipV="1">
            <a:off x="5074920" y="1814170"/>
            <a:ext cx="365760" cy="677570"/>
          </a:xfrm>
          <a:prstGeom prst="line">
            <a:avLst/>
          </a:prstGeom>
          <a:noFill/>
          <a:ln w="12700">
            <a:solidFill>
              <a:srgbClr val="6E655C"/>
            </a:solidFill>
            <a:prstDash val="solid"/>
          </a:ln>
        </p:spPr>
      </p:sp>
      <p:sp>
        <p:nvSpPr>
          <p:cNvPr id="31" name="Shape 29"/>
          <p:cNvSpPr/>
          <p:nvPr/>
        </p:nvSpPr>
        <p:spPr>
          <a:xfrm flipV="1">
            <a:off x="5074920" y="2133295"/>
            <a:ext cx="365760" cy="358445"/>
          </a:xfrm>
          <a:prstGeom prst="line">
            <a:avLst/>
          </a:prstGeom>
          <a:noFill/>
          <a:ln w="12700">
            <a:solidFill>
              <a:srgbClr val="6E655C"/>
            </a:solidFill>
            <a:prstDash val="solid"/>
          </a:ln>
        </p:spPr>
      </p:sp>
      <p:sp>
        <p:nvSpPr>
          <p:cNvPr id="32" name="Shape 30"/>
          <p:cNvSpPr/>
          <p:nvPr/>
        </p:nvSpPr>
        <p:spPr>
          <a:xfrm flipV="1">
            <a:off x="5074920" y="2452421"/>
            <a:ext cx="365760" cy="39319"/>
          </a:xfrm>
          <a:prstGeom prst="line">
            <a:avLst/>
          </a:prstGeom>
          <a:noFill/>
          <a:ln w="12700">
            <a:solidFill>
              <a:srgbClr val="6E655C"/>
            </a:solidFill>
            <a:prstDash val="solid"/>
          </a:ln>
        </p:spPr>
      </p:sp>
      <p:sp>
        <p:nvSpPr>
          <p:cNvPr id="33" name="Shape 31"/>
          <p:cNvSpPr/>
          <p:nvPr/>
        </p:nvSpPr>
        <p:spPr>
          <a:xfrm>
            <a:off x="5074920" y="2491740"/>
            <a:ext cx="365760" cy="279806"/>
          </a:xfrm>
          <a:prstGeom prst="line">
            <a:avLst/>
          </a:prstGeom>
          <a:noFill/>
          <a:ln w="12700">
            <a:solidFill>
              <a:srgbClr val="6E655C"/>
            </a:solidFill>
            <a:prstDash val="solid"/>
          </a:ln>
        </p:spPr>
      </p:sp>
      <p:sp>
        <p:nvSpPr>
          <p:cNvPr id="34" name="Shape 32"/>
          <p:cNvSpPr/>
          <p:nvPr/>
        </p:nvSpPr>
        <p:spPr>
          <a:xfrm>
            <a:off x="5074920" y="2491740"/>
            <a:ext cx="365760" cy="598018"/>
          </a:xfrm>
          <a:prstGeom prst="line">
            <a:avLst/>
          </a:prstGeom>
          <a:noFill/>
          <a:ln w="12700">
            <a:solidFill>
              <a:srgbClr val="6E655C"/>
            </a:solidFill>
            <a:prstDash val="solid"/>
          </a:ln>
        </p:spPr>
      </p:sp>
      <p:sp>
        <p:nvSpPr>
          <p:cNvPr id="35" name="Shape 33"/>
          <p:cNvSpPr/>
          <p:nvPr/>
        </p:nvSpPr>
        <p:spPr>
          <a:xfrm>
            <a:off x="5074920" y="2491740"/>
            <a:ext cx="365760" cy="917143"/>
          </a:xfrm>
          <a:prstGeom prst="line">
            <a:avLst/>
          </a:prstGeom>
          <a:noFill/>
          <a:ln w="12700">
            <a:solidFill>
              <a:srgbClr val="6E655C"/>
            </a:solidFill>
            <a:prstDash val="solid"/>
          </a:ln>
        </p:spPr>
      </p:sp>
      <p:sp>
        <p:nvSpPr>
          <p:cNvPr id="36" name="Shape 34"/>
          <p:cNvSpPr/>
          <p:nvPr/>
        </p:nvSpPr>
        <p:spPr>
          <a:xfrm>
            <a:off x="5074920" y="2491740"/>
            <a:ext cx="365760" cy="1236269"/>
          </a:xfrm>
          <a:prstGeom prst="line">
            <a:avLst/>
          </a:prstGeom>
          <a:noFill/>
          <a:ln w="12700">
            <a:solidFill>
              <a:srgbClr val="6E655C"/>
            </a:solidFill>
            <a:prstDash val="solid"/>
          </a:ln>
        </p:spPr>
      </p:sp>
      <p:sp>
        <p:nvSpPr>
          <p:cNvPr id="37" name="Shape 35"/>
          <p:cNvSpPr/>
          <p:nvPr/>
        </p:nvSpPr>
        <p:spPr>
          <a:xfrm>
            <a:off x="5074920" y="2491740"/>
            <a:ext cx="365760" cy="1555394"/>
          </a:xfrm>
          <a:prstGeom prst="line">
            <a:avLst/>
          </a:prstGeom>
          <a:noFill/>
          <a:ln w="12700">
            <a:solidFill>
              <a:srgbClr val="6E655C"/>
            </a:solidFill>
            <a:prstDash val="solid"/>
          </a:ln>
        </p:spPr>
      </p:sp>
      <p:sp>
        <p:nvSpPr>
          <p:cNvPr id="38" name="Text 36"/>
          <p:cNvSpPr txBox="1"/>
          <p:nvPr/>
        </p:nvSpPr>
        <p:spPr>
          <a:xfrm>
            <a:off x="4572000" y="4233672"/>
            <a:ext cx="4114800" cy="301752"/>
          </a:xfrm>
          <a:prstGeom prst="rect">
            <a:avLst/>
          </a:prstGeom>
          <a:noFill/>
          <a:ln/>
        </p:spPr>
        <p:txBody>
          <a:bodyPr wrap="square" lIns="0" tIns="0" rIns="0" bIns="0" rtlCol="0" anchor="t"/>
          <a:lstStyle/>
          <a:p>
            <a:pPr indent="0" marL="0">
              <a:buNone/>
            </a:pPr>
            <a:r>
              <a:rPr lang="en-US" sz="850" i="1" dirty="0">
                <a:solidFill>
                  <a:srgbClr val="6E655C"/>
                </a:solidFill>
                <a:latin typeface="Calibri" pitchFamily="34" charset="0"/>
                <a:ea typeface="Calibri" pitchFamily="34" charset="-122"/>
                <a:cs typeface="Calibri" pitchFamily="34" charset="-120"/>
              </a:rPr>
              <a:t>diagram WhatAProgramCanDoWithPdfs - SetOfUses pattern, 28 of 30 words grounded in the chapter's text</a:t>
            </a:r>
            <a:endParaRPr lang="en-US" sz="850" dirty="0"/>
          </a:p>
        </p:txBody>
      </p:sp>
      <p:sp>
        <p:nvSpPr>
          <p:cNvPr id="39" name="Shape 37"/>
          <p:cNvSpPr/>
          <p:nvPr/>
        </p:nvSpPr>
        <p:spPr>
          <a:xfrm>
            <a:off x="457200" y="1371600"/>
            <a:ext cx="3931920" cy="1737360"/>
          </a:xfrm>
          <a:prstGeom prst="roundRect">
            <a:avLst>
              <a:gd name="adj" fmla="val 5263"/>
            </a:avLst>
          </a:prstGeom>
          <a:solidFill>
            <a:srgbClr val="23272E"/>
          </a:solidFill>
          <a:ln w="12700">
            <a:solidFill>
              <a:srgbClr val="23272E"/>
            </a:solidFill>
            <a:prstDash val="solid"/>
          </a:ln>
        </p:spPr>
      </p:sp>
      <p:sp>
        <p:nvSpPr>
          <p:cNvPr id="40" name="Text 38"/>
          <p:cNvSpPr txBox="1"/>
          <p:nvPr/>
        </p:nvSpPr>
        <p:spPr>
          <a:xfrm>
            <a:off x="640080" y="1490472"/>
            <a:ext cx="3566160" cy="1499616"/>
          </a:xfrm>
          <a:prstGeom prst="rect">
            <a:avLst/>
          </a:prstGeom>
          <a:noFill/>
          <a:ln/>
        </p:spPr>
        <p:txBody>
          <a:bodyPr wrap="square" lIns="0" tIns="0" rIns="0" bIns="0" rtlCol="0" anchor="t"/>
          <a:lstStyle/>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import pypdf</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hasattr(pypdf, 'PdfReader')</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True</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hasattr(pypdf, 'PdfWriter')</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True</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hasattr(pypdf, 'PdfFileReader')</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False</a:t>
            </a:r>
            <a:endParaRPr lang="en-US" sz="900" dirty="0"/>
          </a:p>
          <a:p>
            <a:pPr indent="0" marL="0">
              <a:buNone/>
            </a:pPr>
            <a:r>
              <a:rPr lang="en-US" sz="900" b="1" dirty="0">
                <a:solidFill>
                  <a:srgbClr val="D97A14"/>
                </a:solidFill>
                <a:latin typeface="Courier New" pitchFamily="34" charset="0"/>
                <a:ea typeface="Courier New" pitchFamily="34" charset="-122"/>
                <a:cs typeface="Courier New" pitchFamily="34" charset="-120"/>
              </a:rPr>
              <a:t>&gt;&gt;&gt; </a:t>
            </a:r>
            <a:r>
              <a:rPr lang="en-US" sz="900" dirty="0">
                <a:solidFill>
                  <a:srgbClr val="E6EDF3"/>
                </a:solidFill>
                <a:latin typeface="Courier New" pitchFamily="34" charset="0"/>
                <a:ea typeface="Courier New" pitchFamily="34" charset="-122"/>
                <a:cs typeface="Courier New" pitchFamily="34" charset="-120"/>
              </a:rPr>
              <a:t>hasattr(pypdf, 'PdfMerger')</a:t>
            </a:r>
            <a:endParaRPr lang="en-US" sz="900" dirty="0"/>
          </a:p>
          <a:p>
            <a:pPr indent="0" marL="0">
              <a:buNone/>
            </a:pPr>
            <a:r>
              <a:rPr lang="en-US" sz="900" dirty="0">
                <a:solidFill>
                  <a:srgbClr val="7EE787"/>
                </a:solidFill>
                <a:latin typeface="Courier New" pitchFamily="34" charset="0"/>
                <a:ea typeface="Courier New" pitchFamily="34" charset="-122"/>
                <a:cs typeface="Courier New" pitchFamily="34" charset="-120"/>
              </a:rPr>
              <a:t>False</a:t>
            </a:r>
            <a:endParaRPr lang="en-US" sz="900" dirty="0"/>
          </a:p>
        </p:txBody>
      </p:sp>
      <p:sp>
        <p:nvSpPr>
          <p:cNvPr id="41" name="Text 39"/>
          <p:cNvSpPr txBox="1"/>
          <p:nvPr/>
        </p:nvSpPr>
        <p:spPr>
          <a:xfrm>
            <a:off x="457200" y="3127248"/>
            <a:ext cx="393192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 pypdf 6.20.1, python-docx 1.2.0</a:t>
            </a:r>
            <a:endParaRPr lang="en-US" sz="900" dirty="0"/>
          </a:p>
        </p:txBody>
      </p:sp>
      <p:sp>
        <p:nvSpPr>
          <p:cNvPr id="42" name="Shape 40"/>
          <p:cNvSpPr/>
          <p:nvPr/>
        </p:nvSpPr>
        <p:spPr>
          <a:xfrm>
            <a:off x="457200" y="3483864"/>
            <a:ext cx="3931920" cy="1042416"/>
          </a:xfrm>
          <a:prstGeom prst="roundRect">
            <a:avLst>
              <a:gd name="adj" fmla="val 8772"/>
            </a:avLst>
          </a:prstGeom>
          <a:solidFill>
            <a:srgbClr val="F2ECE1"/>
          </a:solidFill>
          <a:ln w="12700">
            <a:solidFill>
              <a:srgbClr val="F2ECE1"/>
            </a:solidFill>
            <a:prstDash val="solid"/>
          </a:ln>
        </p:spPr>
      </p:sp>
      <p:sp>
        <p:nvSpPr>
          <p:cNvPr id="43" name="Text 41"/>
          <p:cNvSpPr txBox="1"/>
          <p:nvPr/>
        </p:nvSpPr>
        <p:spPr>
          <a:xfrm>
            <a:off x="640080" y="3602736"/>
            <a:ext cx="3566160" cy="347472"/>
          </a:xfrm>
          <a:prstGeom prst="rect">
            <a:avLst/>
          </a:prstGeom>
          <a:noFill/>
          <a:ln/>
        </p:spPr>
        <p:txBody>
          <a:bodyPr wrap="square" lIns="0" tIns="0" rIns="0" bIns="0" rtlCol="0" anchor="ctr"/>
          <a:lstStyle/>
          <a:p>
            <a:pPr indent="0" marL="0">
              <a:buNone/>
            </a:pPr>
            <a:r>
              <a:rPr lang="en-US" sz="1600" b="1" dirty="0">
                <a:solidFill>
                  <a:srgbClr val="2F6D62"/>
                </a:solidFill>
                <a:latin typeface="Cambria" pitchFamily="34" charset="0"/>
                <a:ea typeface="Cambria" pitchFamily="34" charset="-122"/>
                <a:cs typeface="Cambria" pitchFamily="34" charset="-120"/>
              </a:rPr>
              <a:t>One library, three names</a:t>
            </a:r>
            <a:endParaRPr lang="en-US" sz="1600" dirty="0"/>
          </a:p>
        </p:txBody>
      </p:sp>
      <p:sp>
        <p:nvSpPr>
          <p:cNvPr id="44" name="Text 42"/>
          <p:cNvSpPr txBox="1"/>
          <p:nvPr/>
        </p:nvSpPr>
        <p:spPr>
          <a:xfrm>
            <a:off x="640080" y="3986784"/>
            <a:ext cx="3566160" cy="40233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pyPdf (2005), PyPDF2 (2011) and pypdf are one library; a tutorial that names PdfFileReader or PdfMerger fails.</a:t>
            </a:r>
            <a:endParaRPr lang="en-US" sz="950" dirty="0"/>
          </a:p>
        </p:txBody>
      </p:sp>
      <p:sp>
        <p:nvSpPr>
          <p:cNvPr id="45" name="Shape 43"/>
          <p:cNvSpPr/>
          <p:nvPr/>
        </p:nvSpPr>
        <p:spPr>
          <a:xfrm>
            <a:off x="457200" y="4636008"/>
            <a:ext cx="91440" cy="310896"/>
          </a:xfrm>
          <a:prstGeom prst="rect">
            <a:avLst/>
          </a:prstGeom>
          <a:solidFill>
            <a:srgbClr val="D97A14"/>
          </a:solidFill>
          <a:ln w="12700">
            <a:solidFill>
              <a:srgbClr val="D97A14"/>
            </a:solidFill>
            <a:prstDash val="solid"/>
          </a:ln>
        </p:spPr>
      </p:sp>
      <p:sp>
        <p:nvSpPr>
          <p:cNvPr id="46" name="Text 44"/>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Use pypdf and PdfReader; the names older tutorials teach no longer exist.</a:t>
            </a:r>
            <a:endParaRPr lang="en-US" sz="1350" dirty="0"/>
          </a:p>
        </p:txBody>
      </p:sp>
      <p:sp>
        <p:nvSpPr>
          <p:cNvPr id="47" name="Text 4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4 / 26</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A 1991 memo called Camelot</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Spring 1991</a:t>
            </a:r>
            <a:endParaRPr lang="en-US" sz="1300" dirty="0"/>
          </a:p>
        </p:txBody>
      </p:sp>
      <p:sp>
        <p:nvSpPr>
          <p:cNvPr id="6" name="Shape 4"/>
          <p:cNvSpPr/>
          <p:nvPr/>
        </p:nvSpPr>
        <p:spPr>
          <a:xfrm>
            <a:off x="457200" y="1371600"/>
            <a:ext cx="4114800" cy="2560320"/>
          </a:xfrm>
          <a:prstGeom prst="roundRect">
            <a:avLst>
              <a:gd name="adj" fmla="val 3571"/>
            </a:avLst>
          </a:prstGeom>
          <a:solidFill>
            <a:srgbClr val="F2ECE1"/>
          </a:solidFill>
          <a:ln w="12700">
            <a:solidFill>
              <a:srgbClr val="F2ECE1"/>
            </a:solidFill>
            <a:prstDash val="solid"/>
          </a:ln>
        </p:spPr>
      </p:sp>
      <p:sp>
        <p:nvSpPr>
          <p:cNvPr id="7" name="Text 5"/>
          <p:cNvSpPr txBox="1"/>
          <p:nvPr/>
        </p:nvSpPr>
        <p:spPr>
          <a:xfrm>
            <a:off x="640080" y="1490472"/>
            <a:ext cx="3749040" cy="347472"/>
          </a:xfrm>
          <a:prstGeom prst="rect">
            <a:avLst/>
          </a:prstGeom>
          <a:noFill/>
          <a:ln/>
        </p:spPr>
        <p:txBody>
          <a:bodyPr wrap="square" lIns="0" tIns="0" rIns="0" bIns="0" rtlCol="0" anchor="ctr"/>
          <a:lstStyle/>
          <a:p>
            <a:pPr indent="0" marL="0">
              <a:buNone/>
            </a:pPr>
            <a:r>
              <a:rPr lang="en-US" sz="1600" b="1" dirty="0">
                <a:solidFill>
                  <a:srgbClr val="D97A14"/>
                </a:solidFill>
                <a:latin typeface="Cambria" pitchFamily="34" charset="0"/>
                <a:ea typeface="Cambria" pitchFamily="34" charset="-122"/>
                <a:cs typeface="Cambria" pitchFamily="34" charset="-120"/>
              </a:rPr>
              <a:t>A page that looks the same</a:t>
            </a:r>
            <a:endParaRPr lang="en-US" sz="1600" dirty="0"/>
          </a:p>
        </p:txBody>
      </p:sp>
      <p:sp>
        <p:nvSpPr>
          <p:cNvPr id="8" name="Text 6"/>
          <p:cNvSpPr txBox="1"/>
          <p:nvPr/>
        </p:nvSpPr>
        <p:spPr>
          <a:xfrm>
            <a:off x="640080" y="1874520"/>
            <a:ext cx="3749040" cy="1920240"/>
          </a:xfrm>
          <a:prstGeom prst="rect">
            <a:avLst/>
          </a:prstGeom>
          <a:noFill/>
          <a:ln/>
        </p:spPr>
        <p:txBody>
          <a:bodyPr wrap="square" lIns="0" tIns="0" rIns="0" bIns="0" rtlCol="0" anchor="t"/>
          <a:lstStyle/>
          <a:p>
            <a:pPr indent="0" marL="0">
              <a:buNone/>
            </a:pPr>
            <a:r>
              <a:rPr lang="en-US" sz="1200" dirty="0">
                <a:solidFill>
                  <a:srgbClr val="2B2622"/>
                </a:solidFill>
                <a:latin typeface="Calibri" pitchFamily="34" charset="0"/>
                <a:ea typeface="Calibri" pitchFamily="34" charset="-122"/>
                <a:cs typeface="Calibri" pitchFamily="34" charset="-120"/>
              </a:rPr>
              <a:t>John Warnock, co-founder of Adobe, outlined a system called Camelot in the spring of 1991. Its goal was to capture documents from any application, send them anywhere, and view and print them on any machine.</a:t>
            </a:r>
            <a:endParaRPr lang="en-US" sz="1200" dirty="0"/>
          </a:p>
        </p:txBody>
      </p:sp>
      <p:sp>
        <p:nvSpPr>
          <p:cNvPr id="9" name="Shape 7"/>
          <p:cNvSpPr/>
          <p:nvPr/>
        </p:nvSpPr>
        <p:spPr>
          <a:xfrm>
            <a:off x="4846320" y="1627632"/>
            <a:ext cx="128016" cy="128016"/>
          </a:xfrm>
          <a:prstGeom prst="diamond">
            <a:avLst/>
          </a:prstGeom>
          <a:solidFill>
            <a:srgbClr val="D97A14"/>
          </a:solidFill>
          <a:ln w="12700">
            <a:solidFill>
              <a:srgbClr val="D97A14"/>
            </a:solidFill>
            <a:prstDash val="solid"/>
          </a:ln>
        </p:spPr>
      </p:sp>
      <p:sp>
        <p:nvSpPr>
          <p:cNvPr id="10" name="Text 8"/>
          <p:cNvSpPr txBox="1"/>
          <p:nvPr/>
        </p:nvSpPr>
        <p:spPr>
          <a:xfrm>
            <a:off x="5120640" y="1371600"/>
            <a:ext cx="3566160" cy="64008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Spring 1991: Warnock outlines Camelot</a:t>
            </a:r>
            <a:endParaRPr lang="en-US" sz="1200" dirty="0"/>
          </a:p>
        </p:txBody>
      </p:sp>
      <p:sp>
        <p:nvSpPr>
          <p:cNvPr id="11" name="Shape 9"/>
          <p:cNvSpPr/>
          <p:nvPr/>
        </p:nvSpPr>
        <p:spPr>
          <a:xfrm>
            <a:off x="4846320" y="2267712"/>
            <a:ext cx="128016" cy="128016"/>
          </a:xfrm>
          <a:prstGeom prst="diamond">
            <a:avLst/>
          </a:prstGeom>
          <a:solidFill>
            <a:srgbClr val="D97A14"/>
          </a:solidFill>
          <a:ln w="12700">
            <a:solidFill>
              <a:srgbClr val="D97A14"/>
            </a:solidFill>
            <a:prstDash val="solid"/>
          </a:ln>
        </p:spPr>
      </p:sp>
      <p:sp>
        <p:nvSpPr>
          <p:cNvPr id="12" name="Text 10"/>
          <p:cNvSpPr txBox="1"/>
          <p:nvPr/>
        </p:nvSpPr>
        <p:spPr>
          <a:xfrm>
            <a:off x="5120640" y="2011680"/>
            <a:ext cx="3566160" cy="64008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15 Jun 1993: the first Acrobat is released</a:t>
            </a:r>
            <a:endParaRPr lang="en-US" sz="1200" dirty="0"/>
          </a:p>
        </p:txBody>
      </p:sp>
      <p:sp>
        <p:nvSpPr>
          <p:cNvPr id="13" name="Shape 11"/>
          <p:cNvSpPr/>
          <p:nvPr/>
        </p:nvSpPr>
        <p:spPr>
          <a:xfrm>
            <a:off x="4846320" y="2907792"/>
            <a:ext cx="128016" cy="128016"/>
          </a:xfrm>
          <a:prstGeom prst="diamond">
            <a:avLst/>
          </a:prstGeom>
          <a:solidFill>
            <a:srgbClr val="D97A14"/>
          </a:solidFill>
          <a:ln w="12700">
            <a:solidFill>
              <a:srgbClr val="D97A14"/>
            </a:solidFill>
            <a:prstDash val="solid"/>
          </a:ln>
        </p:spPr>
      </p:sp>
      <p:sp>
        <p:nvSpPr>
          <p:cNvPr id="14" name="Text 12"/>
          <p:cNvSpPr txBox="1"/>
          <p:nvPr/>
        </p:nvSpPr>
        <p:spPr>
          <a:xfrm>
            <a:off x="5120640" y="2651760"/>
            <a:ext cx="3566160" cy="64008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A file ends with an offset and %%EOF</a:t>
            </a:r>
            <a:endParaRPr lang="en-US" sz="1200" dirty="0"/>
          </a:p>
        </p:txBody>
      </p:sp>
      <p:sp>
        <p:nvSpPr>
          <p:cNvPr id="15" name="Shape 13"/>
          <p:cNvSpPr/>
          <p:nvPr/>
        </p:nvSpPr>
        <p:spPr>
          <a:xfrm>
            <a:off x="4846320" y="3547872"/>
            <a:ext cx="128016" cy="128016"/>
          </a:xfrm>
          <a:prstGeom prst="diamond">
            <a:avLst/>
          </a:prstGeom>
          <a:solidFill>
            <a:srgbClr val="D97A14"/>
          </a:solidFill>
          <a:ln w="12700">
            <a:solidFill>
              <a:srgbClr val="D97A14"/>
            </a:solidFill>
            <a:prstDash val="solid"/>
          </a:ln>
        </p:spPr>
      </p:sp>
      <p:sp>
        <p:nvSpPr>
          <p:cNvPr id="16" name="Text 14"/>
          <p:cNvSpPr txBox="1"/>
          <p:nvPr/>
        </p:nvSpPr>
        <p:spPr>
          <a:xfrm>
            <a:off x="5120640" y="3291840"/>
            <a:ext cx="3566160" cy="640080"/>
          </a:xfrm>
          <a:prstGeom prst="rect">
            <a:avLst/>
          </a:prstGeom>
          <a:noFill/>
          <a:ln/>
        </p:spPr>
        <p:txBody>
          <a:bodyPr wrap="square" lIns="0" tIns="0" rIns="0" bIns="0" rtlCol="0" anchor="ctr"/>
          <a:lstStyle/>
          <a:p>
            <a:pPr indent="0" marL="0">
              <a:buNone/>
            </a:pPr>
            <a:r>
              <a:rPr lang="en-US" sz="1200" dirty="0">
                <a:solidFill>
                  <a:srgbClr val="2B2622"/>
                </a:solidFill>
                <a:latin typeface="Calibri" pitchFamily="34" charset="0"/>
                <a:ea typeface="Calibri" pitchFamily="34" charset="-122"/>
                <a:cs typeface="Calibri" pitchFamily="34" charset="-120"/>
              </a:rPr>
              <a:t>Its text is drawing commands, not paragraphs</a:t>
            </a:r>
            <a:endParaRPr lang="en-US" sz="1200" dirty="0"/>
          </a:p>
        </p:txBody>
      </p:sp>
      <p:sp>
        <p:nvSpPr>
          <p:cNvPr id="17" name="Shape 15"/>
          <p:cNvSpPr/>
          <p:nvPr/>
        </p:nvSpPr>
        <p:spPr>
          <a:xfrm>
            <a:off x="457200" y="4041648"/>
            <a:ext cx="2449129" cy="365760"/>
          </a:xfrm>
          <a:prstGeom prst="roundRect">
            <a:avLst>
              <a:gd name="adj" fmla="val 50000"/>
            </a:avLst>
          </a:prstGeom>
          <a:solidFill>
            <a:srgbClr val="EFE9DC"/>
          </a:solidFill>
          <a:ln w="9525">
            <a:solidFill>
              <a:srgbClr val="DFD6C7"/>
            </a:solidFill>
            <a:prstDash val="solid"/>
          </a:ln>
        </p:spPr>
      </p:sp>
      <p:sp>
        <p:nvSpPr>
          <p:cNvPr id="18" name="Text 16"/>
          <p:cNvSpPr txBox="1"/>
          <p:nvPr/>
        </p:nvSpPr>
        <p:spPr>
          <a:xfrm>
            <a:off x="548640" y="404164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800" dirty="0">
                <a:solidFill>
                  <a:srgbClr val="2B2622"/>
                </a:solidFill>
                <a:latin typeface="Calibri" pitchFamily="34" charset="0"/>
                <a:ea typeface="Calibri" pitchFamily="34" charset="-122"/>
                <a:cs typeface="Calibri" pitchFamily="34" charset="-120"/>
              </a:rPr>
              <a:t>John Warnock, co-founder of Adobe</a:t>
            </a:r>
            <a:endParaRPr lang="en-US" sz="750" dirty="0"/>
          </a:p>
        </p:txBody>
      </p:sp>
      <p:sp>
        <p:nvSpPr>
          <p:cNvPr id="19" name="Shape 17"/>
          <p:cNvSpPr/>
          <p:nvPr/>
        </p:nvSpPr>
        <p:spPr>
          <a:xfrm>
            <a:off x="3016057" y="4041648"/>
            <a:ext cx="2449129" cy="365760"/>
          </a:xfrm>
          <a:prstGeom prst="roundRect">
            <a:avLst>
              <a:gd name="adj" fmla="val 50000"/>
            </a:avLst>
          </a:prstGeom>
          <a:solidFill>
            <a:srgbClr val="EFE9DC"/>
          </a:solidFill>
          <a:ln w="9525">
            <a:solidFill>
              <a:srgbClr val="DFD6C7"/>
            </a:solidFill>
            <a:prstDash val="solid"/>
          </a:ln>
        </p:spPr>
      </p:sp>
      <p:sp>
        <p:nvSpPr>
          <p:cNvPr id="20" name="Text 18"/>
          <p:cNvSpPr txBox="1"/>
          <p:nvPr/>
        </p:nvSpPr>
        <p:spPr>
          <a:xfrm>
            <a:off x="3107497" y="404164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800" dirty="0">
                <a:solidFill>
                  <a:srgbClr val="2B2622"/>
                </a:solidFill>
                <a:latin typeface="Calibri" pitchFamily="34" charset="0"/>
                <a:ea typeface="Calibri" pitchFamily="34" charset="-122"/>
                <a:cs typeface="Calibri" pitchFamily="34" charset="-120"/>
              </a:rPr>
              <a:t>Adobe Systems, in a document that outl…</a:t>
            </a:r>
            <a:endParaRPr lang="en-US" sz="750" dirty="0"/>
          </a:p>
        </p:txBody>
      </p:sp>
      <p:sp>
        <p:nvSpPr>
          <p:cNvPr id="21" name="Shape 19"/>
          <p:cNvSpPr/>
          <p:nvPr/>
        </p:nvSpPr>
        <p:spPr>
          <a:xfrm>
            <a:off x="5574914" y="4041648"/>
            <a:ext cx="1343071" cy="365760"/>
          </a:xfrm>
          <a:prstGeom prst="roundRect">
            <a:avLst>
              <a:gd name="adj" fmla="val 50000"/>
            </a:avLst>
          </a:prstGeom>
          <a:solidFill>
            <a:srgbClr val="EFE9DC"/>
          </a:solidFill>
          <a:ln w="9525">
            <a:solidFill>
              <a:srgbClr val="DFD6C7"/>
            </a:solidFill>
            <a:prstDash val="solid"/>
          </a:ln>
        </p:spPr>
      </p:sp>
      <p:sp>
        <p:nvSpPr>
          <p:cNvPr id="22" name="Text 20"/>
          <p:cNvSpPr txBox="1"/>
          <p:nvPr/>
        </p:nvSpPr>
        <p:spPr>
          <a:xfrm>
            <a:off x="5666354" y="404164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Spring 1991</a:t>
            </a:r>
            <a:endParaRPr lang="en-US" sz="750" dirty="0"/>
          </a:p>
        </p:txBody>
      </p:sp>
      <p:sp>
        <p:nvSpPr>
          <p:cNvPr id="23" name="Shape 21"/>
          <p:cNvSpPr/>
          <p:nvPr/>
        </p:nvSpPr>
        <p:spPr>
          <a:xfrm>
            <a:off x="7027713" y="4041648"/>
            <a:ext cx="1659087" cy="365760"/>
          </a:xfrm>
          <a:prstGeom prst="roundRect">
            <a:avLst>
              <a:gd name="adj" fmla="val 50000"/>
            </a:avLst>
          </a:prstGeom>
          <a:solidFill>
            <a:srgbClr val="2F6D62"/>
          </a:solidFill>
          <a:ln w="9525">
            <a:solidFill>
              <a:srgbClr val="2F6D62"/>
            </a:solidFill>
            <a:prstDash val="solid"/>
          </a:ln>
        </p:spPr>
      </p:sp>
      <p:sp>
        <p:nvSpPr>
          <p:cNvPr id="24" name="Text 22"/>
          <p:cNvSpPr txBox="1"/>
          <p:nvPr/>
        </p:nvSpPr>
        <p:spPr>
          <a:xfrm>
            <a:off x="7119153" y="4041648"/>
            <a:ext cx="1512783"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en.wikipedia.org</a:t>
            </a:r>
            <a:endParaRPr lang="en-US" sz="750" dirty="0"/>
          </a:p>
        </p:txBody>
      </p:sp>
      <p:sp>
        <p:nvSpPr>
          <p:cNvPr id="25" name="Shape 23"/>
          <p:cNvSpPr/>
          <p:nvPr/>
        </p:nvSpPr>
        <p:spPr>
          <a:xfrm>
            <a:off x="457200" y="4636008"/>
            <a:ext cx="91440" cy="310896"/>
          </a:xfrm>
          <a:prstGeom prst="rect">
            <a:avLst/>
          </a:prstGeom>
          <a:solidFill>
            <a:srgbClr val="D97A14"/>
          </a:solidFill>
          <a:ln w="12700">
            <a:solidFill>
              <a:srgbClr val="D97A14"/>
            </a:solidFill>
            <a:prstDash val="solid"/>
          </a:ln>
        </p:spPr>
      </p:sp>
      <p:sp>
        <p:nvSpPr>
          <p:cNvPr id="26" name="Text 24"/>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PDF is a page description made to look the same on every machine.</a:t>
            </a:r>
            <a:endParaRPr lang="en-US" sz="1350" dirty="0"/>
          </a:p>
        </p:txBody>
      </p:sp>
      <p:sp>
        <p:nvSpPr>
          <p:cNvPr id="27" name="Text 2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5 / 26</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Header, table and drawing commands</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What a PDF file holds, and why text comes out in stream order</a:t>
            </a:r>
            <a:endParaRPr lang="en-US" sz="1300" dirty="0"/>
          </a:p>
        </p:txBody>
      </p:sp>
      <p:sp>
        <p:nvSpPr>
          <p:cNvPr id="6" name="Text 4"/>
          <p:cNvSpPr txBox="1"/>
          <p:nvPr/>
        </p:nvSpPr>
        <p:spPr>
          <a:xfrm>
            <a:off x="457200" y="1143000"/>
            <a:ext cx="4306824"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program structureCut_v1_0_0.py, lines 19 to 37 of 37</a:t>
            </a:r>
            <a:endParaRPr lang="en-US" sz="1000" dirty="0"/>
          </a:p>
        </p:txBody>
      </p:sp>
      <p:sp>
        <p:nvSpPr>
          <p:cNvPr id="7" name="Shape 5"/>
          <p:cNvSpPr/>
          <p:nvPr/>
        </p:nvSpPr>
        <p:spPr>
          <a:xfrm>
            <a:off x="457200" y="1417320"/>
            <a:ext cx="4306824" cy="2679192"/>
          </a:xfrm>
          <a:prstGeom prst="roundRect">
            <a:avLst>
              <a:gd name="adj" fmla="val 3413"/>
            </a:avLst>
          </a:prstGeom>
          <a:solidFill>
            <a:srgbClr val="23272E"/>
          </a:solidFill>
          <a:ln w="12700">
            <a:solidFill>
              <a:srgbClr val="23272E"/>
            </a:solidFill>
            <a:prstDash val="solid"/>
          </a:ln>
        </p:spPr>
      </p:sp>
      <p:sp>
        <p:nvSpPr>
          <p:cNvPr id="8" name="Text 6"/>
          <p:cNvSpPr txBox="1"/>
          <p:nvPr/>
        </p:nvSpPr>
        <p:spPr>
          <a:xfrm>
            <a:off x="640080" y="1536192"/>
            <a:ext cx="3941064" cy="2441448"/>
          </a:xfrm>
          <a:prstGeom prst="rect">
            <a:avLst/>
          </a:prstGeom>
          <a:noFill/>
          <a:ln/>
        </p:spPr>
        <p:txBody>
          <a:bodyPr wrap="square" lIns="0" tIns="0" rIns="0" bIns="0" rtlCol="0" anchor="t"/>
          <a:lstStyle/>
          <a:p>
            <a:pPr indent="0" marL="0">
              <a:buNone/>
            </a:pPr>
            <a:r>
              <a:rPr lang="en-US" sz="700" dirty="0">
                <a:solidFill>
                  <a:srgbClr val="E6EDF3"/>
                </a:solidFill>
                <a:latin typeface="Courier New" pitchFamily="34" charset="0"/>
                <a:ea typeface="Courier New" pitchFamily="34" charset="-122"/>
                <a:cs typeface="Courier New" pitchFamily="34" charset="-120"/>
              </a:rPr>
              <a:t>data = make_pdf(</a:t>
            </a:r>
            <a:r>
              <a:rPr lang="en-US" sz="700" dirty="0">
                <a:solidFill>
                  <a:srgbClr val="9ECBFF"/>
                </a:solidFill>
                <a:latin typeface="Courier New" pitchFamily="34" charset="0"/>
                <a:ea typeface="Courier New" pitchFamily="34" charset="-122"/>
                <a:cs typeface="Courier New" pitchFamily="34" charset="-120"/>
              </a:rPr>
              <a:t>'Page one'</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'Page two'</a:t>
            </a:r>
            <a:r>
              <a:rPr lang="en-US" sz="700" dirty="0">
                <a:solidFill>
                  <a:srgbClr val="E6EDF3"/>
                </a:solidFill>
                <a:latin typeface="Courier New" pitchFamily="34" charset="0"/>
                <a:ea typeface="Courier New" pitchFamily="34" charset="-122"/>
                <a:cs typeface="Courier New" pitchFamily="34" charset="-120"/>
              </a:rPr>
              <a:t>)  </a:t>
            </a:r>
            <a:r>
              <a:rPr lang="en-US" sz="700" i="1" dirty="0">
                <a:solidFill>
                  <a:srgbClr val="8FA98F"/>
                </a:solidFill>
                <a:latin typeface="Courier New" pitchFamily="34" charset="0"/>
                <a:ea typeface="Courier New" pitchFamily="34" charset="-122"/>
                <a:cs typeface="Courier New" pitchFamily="34" charset="-120"/>
              </a:rPr>
              <a:t># two pages</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print(data[:</a:t>
            </a:r>
            <a:r>
              <a:rPr lang="en-US" sz="700" dirty="0">
                <a:solidFill>
                  <a:srgbClr val="FFD28A"/>
                </a:solidFill>
                <a:latin typeface="Courier New" pitchFamily="34" charset="0"/>
                <a:ea typeface="Courier New" pitchFamily="34" charset="-122"/>
                <a:cs typeface="Courier New" pitchFamily="34" charset="-120"/>
              </a:rPr>
              <a:t>8</a:t>
            </a:r>
            <a:r>
              <a:rPr lang="en-US" sz="700" dirty="0">
                <a:solidFill>
                  <a:srgbClr val="E6EDF3"/>
                </a:solidFill>
                <a:latin typeface="Courier New" pitchFamily="34" charset="0"/>
                <a:ea typeface="Courier New" pitchFamily="34" charset="-122"/>
                <a:cs typeface="Courier New" pitchFamily="34" charset="-120"/>
              </a:rPr>
              <a:t>], data.rstrip().endswith(b</a:t>
            </a:r>
            <a:r>
              <a:rPr lang="en-US" sz="700" dirty="0">
                <a:solidFill>
                  <a:srgbClr val="9ECBFF"/>
                </a:solidFill>
                <a:latin typeface="Courier New" pitchFamily="34" charset="0"/>
                <a:ea typeface="Courier New" pitchFamily="34" charset="-122"/>
                <a:cs typeface="Courier New" pitchFamily="34" charset="-120"/>
              </a:rPr>
              <a:t>'%%EOF'</a:t>
            </a:r>
            <a:r>
              <a:rPr lang="en-US" sz="700" dirty="0">
                <a:solidFill>
                  <a:srgbClr val="E6EDF3"/>
                </a:solidFill>
                <a:latin typeface="Courier New" pitchFamily="34" charset="0"/>
                <a:ea typeface="Courier New" pitchFamily="34" charset="-122"/>
                <a:cs typeface="Courier New" pitchFamily="34" charset="-120"/>
              </a:rPr>
              <a:t>))  </a:t>
            </a:r>
            <a:r>
              <a:rPr lang="en-US" sz="700" i="1" dirty="0">
                <a:solidFill>
                  <a:srgbClr val="8FA98F"/>
                </a:solidFill>
                <a:latin typeface="Courier New" pitchFamily="34" charset="0"/>
                <a:ea typeface="Courier New" pitchFamily="34" charset="-122"/>
                <a:cs typeface="Courier New" pitchFamily="34" charset="-120"/>
              </a:rPr>
              <a:t># header, last line</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start = int(re.search(rb</a:t>
            </a:r>
            <a:r>
              <a:rPr lang="en-US" sz="700" dirty="0">
                <a:solidFill>
                  <a:srgbClr val="9ECBFF"/>
                </a:solidFill>
                <a:latin typeface="Courier New" pitchFamily="34" charset="0"/>
                <a:ea typeface="Courier New" pitchFamily="34" charset="-122"/>
                <a:cs typeface="Courier New" pitchFamily="34" charset="-120"/>
              </a:rPr>
              <a:t>'startxref\n(\d+)'</a:t>
            </a:r>
            <a:r>
              <a:rPr lang="en-US" sz="700" dirty="0">
                <a:solidFill>
                  <a:srgbClr val="E6EDF3"/>
                </a:solidFill>
                <a:latin typeface="Courier New" pitchFamily="34" charset="0"/>
                <a:ea typeface="Courier New" pitchFamily="34" charset="-122"/>
                <a:cs typeface="Courier New" pitchFamily="34" charset="-120"/>
              </a:rPr>
              <a:t>, data).group(</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'startxref points at'</a:t>
            </a:r>
            <a:r>
              <a:rPr lang="en-US" sz="700" dirty="0">
                <a:solidFill>
                  <a:srgbClr val="E6EDF3"/>
                </a:solidFill>
                <a:latin typeface="Courier New" pitchFamily="34" charset="0"/>
                <a:ea typeface="Courier New" pitchFamily="34" charset="-122"/>
                <a:cs typeface="Courier New" pitchFamily="34" charset="-120"/>
              </a:rPr>
              <a:t>, data[start:start + </a:t>
            </a:r>
            <a:r>
              <a:rPr lang="en-US" sz="700" dirty="0">
                <a:solidFill>
                  <a:srgbClr val="FFD28A"/>
                </a:solidFill>
                <a:latin typeface="Courier New" pitchFamily="34" charset="0"/>
                <a:ea typeface="Courier New" pitchFamily="34" charset="-122"/>
                <a:cs typeface="Courier New" pitchFamily="34" charset="-120"/>
              </a:rPr>
              <a:t>4</a:t>
            </a:r>
            <a:r>
              <a:rPr lang="en-US" sz="700" dirty="0">
                <a:solidFill>
                  <a:srgbClr val="E6EDF3"/>
                </a:solidFill>
                <a:latin typeface="Courier New" pitchFamily="34" charset="0"/>
                <a:ea typeface="Courier New" pitchFamily="34" charset="-122"/>
                <a:cs typeface="Courier New" pitchFamily="34" charset="-120"/>
              </a:rPr>
              <a:t>])  </a:t>
            </a:r>
            <a:r>
              <a:rPr lang="en-US" sz="700" i="1" dirty="0">
                <a:solidFill>
                  <a:srgbClr val="8FA98F"/>
                </a:solidFill>
                <a:latin typeface="Courier New" pitchFamily="34" charset="0"/>
                <a:ea typeface="Courier New" pitchFamily="34" charset="-122"/>
                <a:cs typeface="Courier New" pitchFamily="34" charset="-120"/>
              </a:rPr>
              <a:t># the table</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rows = re.findall(rb</a:t>
            </a:r>
            <a:r>
              <a:rPr lang="en-US" sz="700" dirty="0">
                <a:solidFill>
                  <a:srgbClr val="9ECBFF"/>
                </a:solidFill>
                <a:latin typeface="Courier New" pitchFamily="34" charset="0"/>
                <a:ea typeface="Courier New" pitchFamily="34" charset="-122"/>
                <a:cs typeface="Courier New" pitchFamily="34" charset="-120"/>
              </a:rPr>
              <a:t>'(\d{10}) (\d{5}) ([nf]) \n'</a:t>
            </a:r>
            <a:r>
              <a:rPr lang="en-US" sz="700" dirty="0">
                <a:solidFill>
                  <a:srgbClr val="E6EDF3"/>
                </a:solidFill>
                <a:latin typeface="Courier New" pitchFamily="34" charset="0"/>
                <a:ea typeface="Courier New" pitchFamily="34" charset="-122"/>
                <a:cs typeface="Courier New" pitchFamily="34" charset="-120"/>
              </a:rPr>
              <a:t>, data[start:])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print(len(rows), </a:t>
            </a:r>
            <a:r>
              <a:rPr lang="en-US" sz="700" dirty="0">
                <a:solidFill>
                  <a:srgbClr val="9ECBFF"/>
                </a:solidFill>
                <a:latin typeface="Courier New" pitchFamily="34" charset="0"/>
                <a:ea typeface="Courier New" pitchFamily="34" charset="-122"/>
                <a:cs typeface="Courier New" pitchFamily="34" charset="-120"/>
              </a:rPr>
              <a:t>'table entries; object 0 is'</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'free'</a:t>
            </a: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if</a:t>
            </a:r>
            <a:r>
              <a:rPr lang="en-US" sz="700" dirty="0">
                <a:solidFill>
                  <a:srgbClr val="E6EDF3"/>
                </a:solidFill>
                <a:latin typeface="Courier New" pitchFamily="34" charset="0"/>
                <a:ea typeface="Courier New" pitchFamily="34" charset="-122"/>
                <a:cs typeface="Courier New" pitchFamily="34" charset="-120"/>
              </a:rPr>
              <a:t> rows[</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a:t>
            </a:r>
            <a:r>
              <a:rPr lang="en-US" sz="700" dirty="0">
                <a:solidFill>
                  <a:srgbClr val="FFD28A"/>
                </a:solidFill>
                <a:latin typeface="Courier New" pitchFamily="34" charset="0"/>
                <a:ea typeface="Courier New" pitchFamily="34" charset="-122"/>
                <a:cs typeface="Courier New" pitchFamily="34" charset="-120"/>
              </a:rPr>
              <a:t>2</a:t>
            </a:r>
            <a:r>
              <a:rPr lang="en-US" sz="700" dirty="0">
                <a:solidFill>
                  <a:srgbClr val="E6EDF3"/>
                </a:solidFill>
                <a:latin typeface="Courier New" pitchFamily="34" charset="0"/>
                <a:ea typeface="Courier New" pitchFamily="34" charset="-122"/>
                <a:cs typeface="Courier New" pitchFamily="34" charset="-120"/>
              </a:rPr>
              <a:t>] == b</a:t>
            </a:r>
            <a:r>
              <a:rPr lang="en-US" sz="700" dirty="0">
                <a:solidFill>
                  <a:srgbClr val="9ECBFF"/>
                </a:solidFill>
                <a:latin typeface="Courier New" pitchFamily="34" charset="0"/>
                <a:ea typeface="Courier New" pitchFamily="34" charset="-122"/>
                <a:cs typeface="Courier New" pitchFamily="34" charset="-120"/>
              </a:rPr>
              <a:t>'f'</a:t>
            </a: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else</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'in use'</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print([data[int(o):int(o) + </a:t>
            </a:r>
            <a:r>
              <a:rPr lang="en-US" sz="700" dirty="0">
                <a:solidFill>
                  <a:srgbClr val="FFD28A"/>
                </a:solidFill>
                <a:latin typeface="Courier New" pitchFamily="34" charset="0"/>
                <a:ea typeface="Courier New" pitchFamily="34" charset="-122"/>
                <a:cs typeface="Courier New" pitchFamily="34" charset="-120"/>
              </a:rPr>
              <a:t>7</a:t>
            </a: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o, g, t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rows[</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a:t>
            </a:r>
            <a:r>
              <a:rPr lang="en-US" sz="700" dirty="0">
                <a:solidFill>
                  <a:srgbClr val="FFD28A"/>
                </a:solidFill>
                <a:latin typeface="Courier New" pitchFamily="34" charset="0"/>
                <a:ea typeface="Courier New" pitchFamily="34" charset="-122"/>
                <a:cs typeface="Courier New" pitchFamily="34" charset="-120"/>
              </a:rPr>
              <a:t>4</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reader = pypdf.PdfReader(io.BytesIO(data))</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'content stream:'</a:t>
            </a:r>
            <a:r>
              <a:rPr lang="en-US" sz="700" dirty="0">
                <a:solidFill>
                  <a:srgbClr val="E6EDF3"/>
                </a:solidFill>
                <a:latin typeface="Courier New" pitchFamily="34" charset="0"/>
                <a:ea typeface="Courier New" pitchFamily="34" charset="-122"/>
                <a:cs typeface="Courier New" pitchFamily="34" charset="-120"/>
              </a:rPr>
              <a:t>, reader.pages[</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].get_contents().get_data())</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c = (</a:t>
            </a:r>
            <a:r>
              <a:rPr lang="en-US" sz="700" dirty="0">
                <a:solidFill>
                  <a:srgbClr val="9ECBFF"/>
                </a:solidFill>
                <a:latin typeface="Courier New" pitchFamily="34" charset="0"/>
                <a:ea typeface="Courier New" pitchFamily="34" charset="-122"/>
                <a:cs typeface="Courier New" pitchFamily="34" charset="-120"/>
              </a:rPr>
              <a:t>'BT /F1 12 Tf 200 700 Td (world) Tj ET '</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'BT /F1 12 Tf 72 700 Td (Hello) Tj ET'</a:t>
            </a:r>
            <a:r>
              <a:rPr lang="en-US" sz="700" dirty="0">
                <a:solidFill>
                  <a:srgbClr val="E6EDF3"/>
                </a:solidFill>
                <a:latin typeface="Courier New" pitchFamily="34" charset="0"/>
                <a:ea typeface="Courier New" pitchFamily="34" charset="-122"/>
                <a:cs typeface="Courier New" pitchFamily="34" charset="-120"/>
              </a:rPr>
              <a:t>)  </a:t>
            </a:r>
            <a:r>
              <a:rPr lang="en-US" sz="700" i="1" dirty="0">
                <a:solidFill>
                  <a:srgbClr val="8FA98F"/>
                </a:solidFill>
                <a:latin typeface="Courier New" pitchFamily="34" charset="0"/>
                <a:ea typeface="Courier New" pitchFamily="34" charset="-122"/>
                <a:cs typeface="Courier New" pitchFamily="34" charset="-120"/>
              </a:rPr>
              <a:t># world first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page = pypdf.PdfReader(io.BytesIO(make_pdf(c))).pages[</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print(repr(page.extract_text()),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repr(page.extract_text(extraction_mode=</a:t>
            </a:r>
            <a:r>
              <a:rPr lang="en-US" sz="700" dirty="0">
                <a:solidFill>
                  <a:srgbClr val="9ECBFF"/>
                </a:solidFill>
                <a:latin typeface="Courier New" pitchFamily="34" charset="0"/>
                <a:ea typeface="Courier New" pitchFamily="34" charset="-122"/>
                <a:cs typeface="Courier New" pitchFamily="34" charset="-120"/>
              </a:rPr>
              <a:t>'layout'</a:t>
            </a:r>
            <a:r>
              <a:rPr lang="en-US" sz="700" dirty="0">
                <a:solidFill>
                  <a:srgbClr val="E6EDF3"/>
                </a:solidFill>
                <a:latin typeface="Courier New" pitchFamily="34" charset="0"/>
                <a:ea typeface="Courier New" pitchFamily="34" charset="-122"/>
                <a:cs typeface="Courier New" pitchFamily="34" charset="-120"/>
              </a:rPr>
              <a:t>).strip()))</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s = (</a:t>
            </a:r>
            <a:r>
              <a:rPr lang="en-US" sz="700" dirty="0">
                <a:solidFill>
                  <a:srgbClr val="9ECBFF"/>
                </a:solidFill>
                <a:latin typeface="Courier New" pitchFamily="34" charset="0"/>
                <a:ea typeface="Courier New" pitchFamily="34" charset="-122"/>
                <a:cs typeface="Courier New" pitchFamily="34" charset="-120"/>
              </a:rPr>
              <a:t>'BT /F1 18 Tf 72 720 Td (Salary: 120000 USD) Tj ET '</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'0 0 0 rg 60 710 300 30 re f'</a:t>
            </a:r>
            <a:r>
              <a:rPr lang="en-US" sz="700" dirty="0">
                <a:solidFill>
                  <a:srgbClr val="E6EDF3"/>
                </a:solidFill>
                <a:latin typeface="Courier New" pitchFamily="34" charset="0"/>
                <a:ea typeface="Courier New" pitchFamily="34" charset="-122"/>
                <a:cs typeface="Courier New" pitchFamily="34" charset="-120"/>
              </a:rPr>
              <a:t>)  </a:t>
            </a:r>
            <a:r>
              <a:rPr lang="en-US" sz="700" i="1" dirty="0">
                <a:solidFill>
                  <a:srgbClr val="8FA98F"/>
                </a:solidFill>
                <a:latin typeface="Courier New" pitchFamily="34" charset="0"/>
                <a:ea typeface="Courier New" pitchFamily="34" charset="-122"/>
                <a:cs typeface="Courier New" pitchFamily="34" charset="-120"/>
              </a:rPr>
              <a:t># then a black box</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secret = pypdf.PdfReader(io.BytesIO(make_pdf(s))).pages[</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'text under the black box:'</a:t>
            </a:r>
            <a:r>
              <a:rPr lang="en-US" sz="700" dirty="0">
                <a:solidFill>
                  <a:srgbClr val="E6EDF3"/>
                </a:solidFill>
                <a:latin typeface="Courier New" pitchFamily="34" charset="0"/>
                <a:ea typeface="Courier New" pitchFamily="34" charset="-122"/>
                <a:cs typeface="Courier New" pitchFamily="34" charset="-120"/>
              </a:rPr>
              <a:t>, secret.extract_text())</a:t>
            </a:r>
            <a:endParaRPr lang="en-US" sz="700" dirty="0"/>
          </a:p>
        </p:txBody>
      </p:sp>
      <p:sp>
        <p:nvSpPr>
          <p:cNvPr id="9" name="Text 7"/>
          <p:cNvSpPr txBox="1"/>
          <p:nvPr/>
        </p:nvSpPr>
        <p:spPr>
          <a:xfrm>
            <a:off x="4946904" y="1143000"/>
            <a:ext cx="3630168"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transcript of program structureCut_v1_0_0.py</a:t>
            </a:r>
            <a:endParaRPr lang="en-US" sz="1000" dirty="0"/>
          </a:p>
        </p:txBody>
      </p:sp>
      <p:sp>
        <p:nvSpPr>
          <p:cNvPr id="10" name="Shape 8"/>
          <p:cNvSpPr/>
          <p:nvPr/>
        </p:nvSpPr>
        <p:spPr>
          <a:xfrm>
            <a:off x="4946904" y="1417320"/>
            <a:ext cx="3630168" cy="1161288"/>
          </a:xfrm>
          <a:prstGeom prst="roundRect">
            <a:avLst>
              <a:gd name="adj" fmla="val 7874"/>
            </a:avLst>
          </a:prstGeom>
          <a:solidFill>
            <a:srgbClr val="23272E"/>
          </a:solidFill>
          <a:ln w="12700">
            <a:solidFill>
              <a:srgbClr val="23272E"/>
            </a:solidFill>
            <a:prstDash val="solid"/>
          </a:ln>
        </p:spPr>
      </p:sp>
      <p:sp>
        <p:nvSpPr>
          <p:cNvPr id="11" name="Text 9"/>
          <p:cNvSpPr txBox="1"/>
          <p:nvPr/>
        </p:nvSpPr>
        <p:spPr>
          <a:xfrm>
            <a:off x="5129784" y="1536192"/>
            <a:ext cx="3264408" cy="923544"/>
          </a:xfrm>
          <a:prstGeom prst="rect">
            <a:avLst/>
          </a:prstGeom>
          <a:noFill/>
          <a:ln/>
        </p:spPr>
        <p:txBody>
          <a:bodyPr wrap="square" lIns="0" tIns="0" rIns="0" bIns="0" rtlCol="0" anchor="t"/>
          <a:lstStyle/>
          <a:p>
            <a:pPr indent="0" marL="0">
              <a:buNone/>
            </a:pPr>
            <a:r>
              <a:rPr lang="en-US" sz="700" b="1" dirty="0">
                <a:solidFill>
                  <a:srgbClr val="D97A14"/>
                </a:solidFill>
                <a:latin typeface="Courier New" pitchFamily="34" charset="0"/>
                <a:ea typeface="Courier New" pitchFamily="34" charset="-122"/>
                <a:cs typeface="Courier New" pitchFamily="34" charset="-120"/>
              </a:rPr>
              <a:t>prints </a:t>
            </a:r>
            <a:r>
              <a:rPr lang="en-US" sz="700" dirty="0">
                <a:solidFill>
                  <a:srgbClr val="7EE787"/>
                </a:solidFill>
                <a:latin typeface="Courier New" pitchFamily="34" charset="0"/>
                <a:ea typeface="Courier New" pitchFamily="34" charset="-122"/>
                <a:cs typeface="Courier New" pitchFamily="34" charset="-120"/>
              </a:rPr>
              <a:t>b'%PDF-1.4' True</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startxref points at b'xref'</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8 table entries; object 0 is free</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[b'1 0 obj', b'2 0 obj', b'3 0 obj']</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content stream: b'BT /F1 18 Tf 72 720 Td (Page one) Tj ET'</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'worldHello' 'Hello                       world'</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text under the black box: Salary: 120000 USD</a:t>
            </a:r>
            <a:endParaRPr lang="en-US" sz="700" dirty="0"/>
          </a:p>
        </p:txBody>
      </p:sp>
      <p:sp>
        <p:nvSpPr>
          <p:cNvPr id="12" name="Text 10"/>
          <p:cNvSpPr txBox="1"/>
          <p:nvPr/>
        </p:nvSpPr>
        <p:spPr>
          <a:xfrm>
            <a:off x="457200" y="4169664"/>
            <a:ext cx="8229600" cy="310896"/>
          </a:xfrm>
          <a:prstGeom prst="rect">
            <a:avLst/>
          </a:prstGeom>
          <a:noFill/>
          <a:ln/>
        </p:spPr>
        <p:txBody>
          <a:bodyPr wrap="square" lIns="0" tIns="0" rIns="0" bIns="0" rtlCol="0" anchor="t"/>
          <a:lstStyle/>
          <a:p>
            <a:pPr indent="0" marL="0">
              <a:buNone/>
            </a:pPr>
            <a:r>
              <a:rPr lang="en-US" sz="900" i="1" dirty="0">
                <a:solidFill>
                  <a:srgbClr val="6E655C"/>
                </a:solidFill>
                <a:latin typeface="Calibri" pitchFamily="34" charset="0"/>
                <a:ea typeface="Calibri" pitchFamily="34" charset="-122"/>
                <a:cs typeface="Calibri" pitchFamily="34" charset="-120"/>
              </a:rPr>
              <a:t>Lines 1 to 18 of the program (the helper make_pdf(), which writes a small valid PDF 1.4 of text pages byte by byte, and the imports) are not shown. The black box is a filled rectangle drawn after the line of text.</a:t>
            </a:r>
            <a:endParaRPr lang="en-US" sz="900" dirty="0"/>
          </a:p>
        </p:txBody>
      </p:sp>
      <p:sp>
        <p:nvSpPr>
          <p:cNvPr id="13" name="Shape 11"/>
          <p:cNvSpPr/>
          <p:nvPr/>
        </p:nvSpPr>
        <p:spPr>
          <a:xfrm>
            <a:off x="457200" y="4636008"/>
            <a:ext cx="91440" cy="310896"/>
          </a:xfrm>
          <a:prstGeom prst="rect">
            <a:avLst/>
          </a:prstGeom>
          <a:solidFill>
            <a:srgbClr val="D97A14"/>
          </a:solidFill>
          <a:ln w="12700">
            <a:solidFill>
              <a:srgbClr val="D97A14"/>
            </a:solidFill>
            <a:prstDash val="solid"/>
          </a:ln>
        </p:spPr>
      </p:sp>
      <p:sp>
        <p:nvSpPr>
          <p:cNvPr id="14" name="Text 1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PDF holds drawing commands, read in the order they were drawn.</a:t>
            </a:r>
            <a:endParaRPr lang="en-US" sz="1350" dirty="0"/>
          </a:p>
        </p:txBody>
      </p:sp>
      <p:sp>
        <p:nvSpPr>
          <p:cNvPr id="15" name="Text 1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6 / 26</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Reading text, page by page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pypdf adds the pages with nothing between them; pdfminer.six and layout mode differ</a:t>
            </a:r>
            <a:endParaRPr lang="en-US" sz="1300" dirty="0"/>
          </a:p>
        </p:txBody>
      </p:sp>
      <p:sp>
        <p:nvSpPr>
          <p:cNvPr id="6" name="Shape 4"/>
          <p:cNvSpPr/>
          <p:nvPr/>
        </p:nvSpPr>
        <p:spPr>
          <a:xfrm>
            <a:off x="457200" y="1334110"/>
            <a:ext cx="2103120" cy="310896"/>
          </a:xfrm>
          <a:prstGeom prst="roundRect">
            <a:avLst>
              <a:gd name="adj" fmla="val 23529"/>
            </a:avLst>
          </a:prstGeom>
          <a:solidFill>
            <a:srgbClr val="F2ECE1"/>
          </a:solidFill>
          <a:ln w="15875">
            <a:solidFill>
              <a:srgbClr val="2F6D62"/>
            </a:solidFill>
            <a:prstDash val="solid"/>
          </a:ln>
        </p:spPr>
      </p:sp>
      <p:sp>
        <p:nvSpPr>
          <p:cNvPr id="7" name="Text 5"/>
          <p:cNvSpPr txBox="1"/>
          <p:nvPr/>
        </p:nvSpPr>
        <p:spPr>
          <a:xfrm>
            <a:off x="521208" y="1418234"/>
            <a:ext cx="1975104" cy="140818"/>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Open the PDF file with a PdfReader</a:t>
            </a:r>
            <a:endParaRPr lang="en-US" sz="800" dirty="0"/>
          </a:p>
        </p:txBody>
      </p:sp>
      <p:sp>
        <p:nvSpPr>
          <p:cNvPr id="8" name="Shape 6"/>
          <p:cNvSpPr/>
          <p:nvPr/>
        </p:nvSpPr>
        <p:spPr>
          <a:xfrm>
            <a:off x="457200" y="1706270"/>
            <a:ext cx="2103120" cy="402336"/>
          </a:xfrm>
          <a:prstGeom prst="hexagon">
            <a:avLst/>
          </a:prstGeom>
          <a:solidFill>
            <a:srgbClr val="D97A14"/>
          </a:solidFill>
          <a:ln w="15875">
            <a:solidFill>
              <a:srgbClr val="D97A14"/>
            </a:solidFill>
            <a:prstDash val="solid"/>
          </a:ln>
        </p:spPr>
      </p:sp>
      <p:sp>
        <p:nvSpPr>
          <p:cNvPr id="9" name="Text 7"/>
          <p:cNvSpPr txBox="1"/>
          <p:nvPr/>
        </p:nvSpPr>
        <p:spPr>
          <a:xfrm>
            <a:off x="612648" y="1836115"/>
            <a:ext cx="1792224" cy="14081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Did the reader raise an error?</a:t>
            </a:r>
            <a:endParaRPr lang="en-US" sz="800" dirty="0"/>
          </a:p>
        </p:txBody>
      </p:sp>
      <p:sp>
        <p:nvSpPr>
          <p:cNvPr id="10" name="Shape 8"/>
          <p:cNvSpPr/>
          <p:nvPr/>
        </p:nvSpPr>
        <p:spPr>
          <a:xfrm>
            <a:off x="457200" y="2169871"/>
            <a:ext cx="2103120" cy="310896"/>
          </a:xfrm>
          <a:prstGeom prst="roundRect">
            <a:avLst>
              <a:gd name="adj" fmla="val 23529"/>
            </a:avLst>
          </a:prstGeom>
          <a:solidFill>
            <a:srgbClr val="F2ECE1"/>
          </a:solidFill>
          <a:ln w="15875">
            <a:solidFill>
              <a:srgbClr val="2F6D62"/>
            </a:solidFill>
            <a:prstDash val="solid"/>
          </a:ln>
        </p:spPr>
      </p:sp>
      <p:sp>
        <p:nvSpPr>
          <p:cNvPr id="11" name="Text 9"/>
          <p:cNvSpPr txBox="1"/>
          <p:nvPr/>
        </p:nvSpPr>
        <p:spPr>
          <a:xfrm>
            <a:off x="521208" y="2254910"/>
            <a:ext cx="1975104" cy="140818"/>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Loop over the pages of the reader</a:t>
            </a:r>
            <a:endParaRPr lang="en-US" sz="800" dirty="0"/>
          </a:p>
        </p:txBody>
      </p:sp>
      <p:sp>
        <p:nvSpPr>
          <p:cNvPr id="12" name="Shape 10"/>
          <p:cNvSpPr/>
          <p:nvPr/>
        </p:nvSpPr>
        <p:spPr>
          <a:xfrm>
            <a:off x="457200" y="2587752"/>
            <a:ext cx="2103120" cy="310896"/>
          </a:xfrm>
          <a:prstGeom prst="roundRect">
            <a:avLst>
              <a:gd name="adj" fmla="val 23529"/>
            </a:avLst>
          </a:prstGeom>
          <a:solidFill>
            <a:srgbClr val="F2ECE1"/>
          </a:solidFill>
          <a:ln w="15875">
            <a:solidFill>
              <a:srgbClr val="2F6D62"/>
            </a:solidFill>
            <a:prstDash val="solid"/>
          </a:ln>
        </p:spPr>
      </p:sp>
      <p:sp>
        <p:nvSpPr>
          <p:cNvPr id="13" name="Text 11"/>
          <p:cNvSpPr txBox="1"/>
          <p:nvPr/>
        </p:nvSpPr>
        <p:spPr>
          <a:xfrm>
            <a:off x="521208" y="2672791"/>
            <a:ext cx="1975104" cy="140818"/>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Extract the text of each page</a:t>
            </a:r>
            <a:endParaRPr lang="en-US" sz="800" dirty="0"/>
          </a:p>
        </p:txBody>
      </p:sp>
      <p:sp>
        <p:nvSpPr>
          <p:cNvPr id="14" name="Shape 12"/>
          <p:cNvSpPr/>
          <p:nvPr/>
        </p:nvSpPr>
        <p:spPr>
          <a:xfrm>
            <a:off x="457200" y="3005633"/>
            <a:ext cx="2103120" cy="310896"/>
          </a:xfrm>
          <a:prstGeom prst="roundRect">
            <a:avLst>
              <a:gd name="adj" fmla="val 23529"/>
            </a:avLst>
          </a:prstGeom>
          <a:solidFill>
            <a:srgbClr val="F2ECE1"/>
          </a:solidFill>
          <a:ln w="15875">
            <a:solidFill>
              <a:srgbClr val="2F6D62"/>
            </a:solidFill>
            <a:prstDash val="solid"/>
          </a:ln>
        </p:spPr>
      </p:sp>
      <p:sp>
        <p:nvSpPr>
          <p:cNvPr id="15" name="Text 13"/>
          <p:cNvSpPr txBox="1"/>
          <p:nvPr/>
        </p:nvSpPr>
        <p:spPr>
          <a:xfrm>
            <a:off x="521208" y="3090672"/>
            <a:ext cx="1975104" cy="140818"/>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Join the texts of the pages</a:t>
            </a:r>
            <a:endParaRPr lang="en-US" sz="800" dirty="0"/>
          </a:p>
        </p:txBody>
      </p:sp>
      <p:sp>
        <p:nvSpPr>
          <p:cNvPr id="16" name="Shape 14"/>
          <p:cNvSpPr/>
          <p:nvPr/>
        </p:nvSpPr>
        <p:spPr>
          <a:xfrm>
            <a:off x="457200" y="3423514"/>
            <a:ext cx="2103120" cy="310896"/>
          </a:xfrm>
          <a:prstGeom prst="roundRect">
            <a:avLst>
              <a:gd name="adj" fmla="val 23529"/>
            </a:avLst>
          </a:prstGeom>
          <a:solidFill>
            <a:srgbClr val="F2ECE1"/>
          </a:solidFill>
          <a:ln w="15875">
            <a:solidFill>
              <a:srgbClr val="2F6D62"/>
            </a:solidFill>
            <a:prstDash val="solid"/>
          </a:ln>
        </p:spPr>
      </p:sp>
      <p:sp>
        <p:nvSpPr>
          <p:cNvPr id="17" name="Text 15"/>
          <p:cNvSpPr txBox="1"/>
          <p:nvPr/>
        </p:nvSpPr>
        <p:spPr>
          <a:xfrm>
            <a:off x="521208" y="3508553"/>
            <a:ext cx="1975104" cy="140818"/>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Write the text to a file</a:t>
            </a:r>
            <a:endParaRPr lang="en-US" sz="800" dirty="0"/>
          </a:p>
        </p:txBody>
      </p:sp>
      <p:sp>
        <p:nvSpPr>
          <p:cNvPr id="18" name="Shape 16"/>
          <p:cNvSpPr/>
          <p:nvPr/>
        </p:nvSpPr>
        <p:spPr>
          <a:xfrm>
            <a:off x="2871216" y="1751990"/>
            <a:ext cx="1517904" cy="310896"/>
          </a:xfrm>
          <a:prstGeom prst="roundRect">
            <a:avLst>
              <a:gd name="adj" fmla="val 23529"/>
            </a:avLst>
          </a:prstGeom>
          <a:solidFill>
            <a:srgbClr val="F2ECE1"/>
          </a:solidFill>
          <a:ln w="15875">
            <a:solidFill>
              <a:srgbClr val="2F6D62"/>
            </a:solidFill>
            <a:prstDash val="solid"/>
          </a:ln>
        </p:spPr>
      </p:sp>
      <p:sp>
        <p:nvSpPr>
          <p:cNvPr id="19" name="Text 17"/>
          <p:cNvSpPr txBox="1"/>
          <p:nvPr/>
        </p:nvSpPr>
        <p:spPr>
          <a:xfrm>
            <a:off x="2935224" y="1774850"/>
            <a:ext cx="1389888" cy="264262"/>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Read the file with the pdfminer.six alternative</a:t>
            </a:r>
            <a:endParaRPr lang="en-US" sz="800" dirty="0"/>
          </a:p>
        </p:txBody>
      </p:sp>
      <p:sp>
        <p:nvSpPr>
          <p:cNvPr id="20" name="Shape 18"/>
          <p:cNvSpPr/>
          <p:nvPr/>
        </p:nvSpPr>
        <p:spPr>
          <a:xfrm>
            <a:off x="3538728" y="1398118"/>
            <a:ext cx="182880" cy="182880"/>
          </a:xfrm>
          <a:prstGeom prst="ellipse">
            <a:avLst/>
          </a:prstGeom>
          <a:solidFill>
            <a:srgbClr val="2B2622"/>
          </a:solidFill>
          <a:ln w="15875">
            <a:solidFill>
              <a:srgbClr val="2B2622"/>
            </a:solidFill>
            <a:prstDash val="solid"/>
          </a:ln>
        </p:spPr>
      </p:sp>
      <p:sp>
        <p:nvSpPr>
          <p:cNvPr id="21" name="Shape 19"/>
          <p:cNvSpPr/>
          <p:nvPr/>
        </p:nvSpPr>
        <p:spPr>
          <a:xfrm>
            <a:off x="1380744" y="3868826"/>
            <a:ext cx="256032" cy="256032"/>
          </a:xfrm>
          <a:prstGeom prst="ellipse">
            <a:avLst/>
          </a:prstGeom>
          <a:solidFill>
            <a:srgbClr val="FFFFFF"/>
          </a:solidFill>
          <a:ln w="25400">
            <a:solidFill>
              <a:srgbClr val="2B2622"/>
            </a:solidFill>
            <a:prstDash val="solid"/>
          </a:ln>
        </p:spPr>
      </p:sp>
      <p:sp>
        <p:nvSpPr>
          <p:cNvPr id="22" name="Shape 20"/>
          <p:cNvSpPr/>
          <p:nvPr/>
        </p:nvSpPr>
        <p:spPr>
          <a:xfrm>
            <a:off x="1435608" y="3923690"/>
            <a:ext cx="146304" cy="146304"/>
          </a:xfrm>
          <a:prstGeom prst="ellipse">
            <a:avLst/>
          </a:prstGeom>
          <a:solidFill>
            <a:srgbClr val="2B2622"/>
          </a:solidFill>
          <a:ln w="15875">
            <a:solidFill>
              <a:srgbClr val="2B2622"/>
            </a:solidFill>
            <a:prstDash val="solid"/>
          </a:ln>
        </p:spPr>
      </p:sp>
      <p:sp>
        <p:nvSpPr>
          <p:cNvPr id="23" name="Shape 21"/>
          <p:cNvSpPr/>
          <p:nvPr/>
        </p:nvSpPr>
        <p:spPr>
          <a:xfrm flipH="1">
            <a:off x="2560320" y="1489558"/>
            <a:ext cx="978408" cy="0"/>
          </a:xfrm>
          <a:prstGeom prst="line">
            <a:avLst/>
          </a:prstGeom>
          <a:noFill/>
          <a:ln w="15875">
            <a:solidFill>
              <a:srgbClr val="6E655C"/>
            </a:solidFill>
            <a:prstDash val="solid"/>
            <a:tailEnd type="triangle"/>
          </a:ln>
        </p:spPr>
      </p:sp>
      <p:sp>
        <p:nvSpPr>
          <p:cNvPr id="24" name="Shape 22"/>
          <p:cNvSpPr/>
          <p:nvPr/>
        </p:nvSpPr>
        <p:spPr>
          <a:xfrm>
            <a:off x="1508760" y="1645006"/>
            <a:ext cx="0" cy="61265"/>
          </a:xfrm>
          <a:prstGeom prst="line">
            <a:avLst/>
          </a:prstGeom>
          <a:noFill/>
          <a:ln w="15875">
            <a:solidFill>
              <a:srgbClr val="6E655C"/>
            </a:solidFill>
            <a:prstDash val="solid"/>
            <a:tailEnd type="triangle"/>
          </a:ln>
        </p:spPr>
      </p:sp>
      <p:sp>
        <p:nvSpPr>
          <p:cNvPr id="25" name="Shape 23"/>
          <p:cNvSpPr/>
          <p:nvPr/>
        </p:nvSpPr>
        <p:spPr>
          <a:xfrm>
            <a:off x="2560320" y="1907438"/>
            <a:ext cx="310896" cy="0"/>
          </a:xfrm>
          <a:prstGeom prst="line">
            <a:avLst/>
          </a:prstGeom>
          <a:noFill/>
          <a:ln w="15875">
            <a:solidFill>
              <a:srgbClr val="6E655C"/>
            </a:solidFill>
            <a:prstDash val="solid"/>
            <a:tailEnd type="triangle"/>
          </a:ln>
        </p:spPr>
      </p:sp>
      <p:sp>
        <p:nvSpPr>
          <p:cNvPr id="26" name="Text 24"/>
          <p:cNvSpPr txBox="1"/>
          <p:nvPr/>
        </p:nvSpPr>
        <p:spPr>
          <a:xfrm>
            <a:off x="2606040" y="1724558"/>
            <a:ext cx="310896" cy="164592"/>
          </a:xfrm>
          <a:prstGeom prst="rect">
            <a:avLst/>
          </a:prstGeom>
          <a:solidFill>
            <a:srgbClr val="FAF6EF"/>
          </a:solidFill>
          <a:ln/>
        </p:spPr>
        <p:txBody>
          <a:bodyPr wrap="square" lIns="0" tIns="0" rIns="0" bIns="0" rtlCol="0" anchor="ctr"/>
          <a:lstStyle/>
          <a:p>
            <a:pPr algn="l" indent="0" marL="0">
              <a:buNone/>
            </a:pPr>
            <a:r>
              <a:rPr lang="en-US" sz="800" i="1" dirty="0">
                <a:solidFill>
                  <a:srgbClr val="6E655C"/>
                </a:solidFill>
                <a:latin typeface="Calibri" pitchFamily="34" charset="0"/>
                <a:ea typeface="Calibri" pitchFamily="34" charset="-122"/>
                <a:cs typeface="Calibri" pitchFamily="34" charset="-120"/>
              </a:rPr>
              <a:t>yes</a:t>
            </a:r>
            <a:endParaRPr lang="en-US" sz="800" dirty="0"/>
          </a:p>
        </p:txBody>
      </p:sp>
      <p:sp>
        <p:nvSpPr>
          <p:cNvPr id="27" name="Shape 25"/>
          <p:cNvSpPr/>
          <p:nvPr/>
        </p:nvSpPr>
        <p:spPr>
          <a:xfrm>
            <a:off x="1508760" y="2108606"/>
            <a:ext cx="0" cy="61265"/>
          </a:xfrm>
          <a:prstGeom prst="line">
            <a:avLst/>
          </a:prstGeom>
          <a:noFill/>
          <a:ln w="15875">
            <a:solidFill>
              <a:srgbClr val="6E655C"/>
            </a:solidFill>
            <a:prstDash val="solid"/>
            <a:tailEnd type="triangle"/>
          </a:ln>
        </p:spPr>
      </p:sp>
      <p:sp>
        <p:nvSpPr>
          <p:cNvPr id="28" name="Text 26"/>
          <p:cNvSpPr txBox="1"/>
          <p:nvPr/>
        </p:nvSpPr>
        <p:spPr>
          <a:xfrm>
            <a:off x="1563624" y="2056486"/>
            <a:ext cx="310896" cy="164592"/>
          </a:xfrm>
          <a:prstGeom prst="rect">
            <a:avLst/>
          </a:prstGeom>
          <a:solidFill>
            <a:srgbClr val="FAF6EF"/>
          </a:solidFill>
          <a:ln/>
        </p:spPr>
        <p:txBody>
          <a:bodyPr wrap="square" lIns="0" tIns="0" rIns="0" bIns="0" rtlCol="0" anchor="ctr"/>
          <a:lstStyle/>
          <a:p>
            <a:pPr algn="l" indent="0" marL="0">
              <a:buNone/>
            </a:pPr>
            <a:r>
              <a:rPr lang="en-US" sz="800" i="1" dirty="0">
                <a:solidFill>
                  <a:srgbClr val="6E655C"/>
                </a:solidFill>
                <a:latin typeface="Calibri" pitchFamily="34" charset="0"/>
                <a:ea typeface="Calibri" pitchFamily="34" charset="-122"/>
                <a:cs typeface="Calibri" pitchFamily="34" charset="-120"/>
              </a:rPr>
              <a:t>no</a:t>
            </a:r>
            <a:endParaRPr lang="en-US" sz="800" dirty="0"/>
          </a:p>
        </p:txBody>
      </p:sp>
      <p:sp>
        <p:nvSpPr>
          <p:cNvPr id="29" name="Shape 27"/>
          <p:cNvSpPr/>
          <p:nvPr/>
        </p:nvSpPr>
        <p:spPr>
          <a:xfrm>
            <a:off x="1508760" y="2480767"/>
            <a:ext cx="0" cy="106985"/>
          </a:xfrm>
          <a:prstGeom prst="line">
            <a:avLst/>
          </a:prstGeom>
          <a:noFill/>
          <a:ln w="15875">
            <a:solidFill>
              <a:srgbClr val="6E655C"/>
            </a:solidFill>
            <a:prstDash val="solid"/>
            <a:tailEnd type="triangle"/>
          </a:ln>
        </p:spPr>
      </p:sp>
      <p:sp>
        <p:nvSpPr>
          <p:cNvPr id="30" name="Shape 28"/>
          <p:cNvSpPr/>
          <p:nvPr/>
        </p:nvSpPr>
        <p:spPr>
          <a:xfrm>
            <a:off x="1508760" y="2898648"/>
            <a:ext cx="0" cy="106985"/>
          </a:xfrm>
          <a:prstGeom prst="line">
            <a:avLst/>
          </a:prstGeom>
          <a:noFill/>
          <a:ln w="15875">
            <a:solidFill>
              <a:srgbClr val="6E655C"/>
            </a:solidFill>
            <a:prstDash val="solid"/>
            <a:tailEnd type="triangle"/>
          </a:ln>
        </p:spPr>
      </p:sp>
      <p:sp>
        <p:nvSpPr>
          <p:cNvPr id="31" name="Shape 29"/>
          <p:cNvSpPr/>
          <p:nvPr/>
        </p:nvSpPr>
        <p:spPr>
          <a:xfrm>
            <a:off x="1508760" y="3316529"/>
            <a:ext cx="0" cy="106985"/>
          </a:xfrm>
          <a:prstGeom prst="line">
            <a:avLst/>
          </a:prstGeom>
          <a:noFill/>
          <a:ln w="15875">
            <a:solidFill>
              <a:srgbClr val="6E655C"/>
            </a:solidFill>
            <a:prstDash val="solid"/>
            <a:tailEnd type="triangle"/>
          </a:ln>
        </p:spPr>
      </p:sp>
      <p:sp>
        <p:nvSpPr>
          <p:cNvPr id="32" name="Shape 30"/>
          <p:cNvSpPr/>
          <p:nvPr/>
        </p:nvSpPr>
        <p:spPr>
          <a:xfrm>
            <a:off x="3630168" y="2062886"/>
            <a:ext cx="0" cy="1516075"/>
          </a:xfrm>
          <a:prstGeom prst="line">
            <a:avLst/>
          </a:prstGeom>
          <a:noFill/>
          <a:ln w="15875">
            <a:solidFill>
              <a:srgbClr val="6E655C"/>
            </a:solidFill>
            <a:prstDash val="solid"/>
          </a:ln>
        </p:spPr>
      </p:sp>
      <p:sp>
        <p:nvSpPr>
          <p:cNvPr id="33" name="Shape 31"/>
          <p:cNvSpPr/>
          <p:nvPr/>
        </p:nvSpPr>
        <p:spPr>
          <a:xfrm flipH="1">
            <a:off x="2560320" y="3578962"/>
            <a:ext cx="1069848" cy="0"/>
          </a:xfrm>
          <a:prstGeom prst="line">
            <a:avLst/>
          </a:prstGeom>
          <a:noFill/>
          <a:ln w="15875">
            <a:solidFill>
              <a:srgbClr val="6E655C"/>
            </a:solidFill>
            <a:prstDash val="solid"/>
            <a:tailEnd type="triangle"/>
          </a:ln>
        </p:spPr>
      </p:sp>
      <p:sp>
        <p:nvSpPr>
          <p:cNvPr id="34" name="Shape 32"/>
          <p:cNvSpPr/>
          <p:nvPr/>
        </p:nvSpPr>
        <p:spPr>
          <a:xfrm>
            <a:off x="1508760" y="3734410"/>
            <a:ext cx="0" cy="134417"/>
          </a:xfrm>
          <a:prstGeom prst="line">
            <a:avLst/>
          </a:prstGeom>
          <a:noFill/>
          <a:ln w="15875">
            <a:solidFill>
              <a:srgbClr val="6E655C"/>
            </a:solidFill>
            <a:prstDash val="solid"/>
            <a:tailEnd type="triangle"/>
          </a:ln>
        </p:spPr>
      </p:sp>
      <p:sp>
        <p:nvSpPr>
          <p:cNvPr id="35" name="Text 33"/>
          <p:cNvSpPr txBox="1"/>
          <p:nvPr/>
        </p:nvSpPr>
        <p:spPr>
          <a:xfrm>
            <a:off x="457200" y="4233672"/>
            <a:ext cx="3931920" cy="301752"/>
          </a:xfrm>
          <a:prstGeom prst="rect">
            <a:avLst/>
          </a:prstGeom>
          <a:noFill/>
          <a:ln/>
        </p:spPr>
        <p:txBody>
          <a:bodyPr wrap="square" lIns="0" tIns="0" rIns="0" bIns="0" rtlCol="0" anchor="t"/>
          <a:lstStyle/>
          <a:p>
            <a:pPr indent="0" marL="0">
              <a:buNone/>
            </a:pPr>
            <a:r>
              <a:rPr lang="en-US" sz="850" i="1" dirty="0">
                <a:solidFill>
                  <a:srgbClr val="6E655C"/>
                </a:solidFill>
                <a:latin typeface="Calibri" pitchFamily="34" charset="0"/>
                <a:ea typeface="Calibri" pitchFamily="34" charset="-122"/>
                <a:cs typeface="Calibri" pitchFamily="34" charset="-120"/>
              </a:rPr>
              <a:t>diagram ReadingAPdfToText - Workflow pattern, 26 of 27 words grounded in the chapter's text</a:t>
            </a:r>
            <a:endParaRPr lang="en-US" sz="850" dirty="0"/>
          </a:p>
        </p:txBody>
      </p:sp>
      <p:sp>
        <p:nvSpPr>
          <p:cNvPr id="36" name="Text 34"/>
          <p:cNvSpPr txBox="1"/>
          <p:nvPr/>
        </p:nvSpPr>
        <p:spPr>
          <a:xfrm>
            <a:off x="4572000" y="1143000"/>
            <a:ext cx="3913632"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program extractTextCut_v1_0_0.py, lines 19 to 32 of 32</a:t>
            </a:r>
            <a:endParaRPr lang="en-US" sz="1000" dirty="0"/>
          </a:p>
        </p:txBody>
      </p:sp>
      <p:sp>
        <p:nvSpPr>
          <p:cNvPr id="37" name="Shape 35"/>
          <p:cNvSpPr/>
          <p:nvPr/>
        </p:nvSpPr>
        <p:spPr>
          <a:xfrm>
            <a:off x="4572000" y="1417320"/>
            <a:ext cx="3913632" cy="2679192"/>
          </a:xfrm>
          <a:prstGeom prst="roundRect">
            <a:avLst>
              <a:gd name="adj" fmla="val 3413"/>
            </a:avLst>
          </a:prstGeom>
          <a:solidFill>
            <a:srgbClr val="23272E"/>
          </a:solidFill>
          <a:ln w="12700">
            <a:solidFill>
              <a:srgbClr val="23272E"/>
            </a:solidFill>
            <a:prstDash val="solid"/>
          </a:ln>
        </p:spPr>
      </p:sp>
      <p:sp>
        <p:nvSpPr>
          <p:cNvPr id="38" name="Text 36"/>
          <p:cNvSpPr txBox="1"/>
          <p:nvPr/>
        </p:nvSpPr>
        <p:spPr>
          <a:xfrm>
            <a:off x="4754880" y="1536192"/>
            <a:ext cx="3547872" cy="2441448"/>
          </a:xfrm>
          <a:prstGeom prst="rect">
            <a:avLst/>
          </a:prstGeom>
          <a:noFill/>
          <a:ln/>
        </p:spPr>
        <p:txBody>
          <a:bodyPr wrap="square" lIns="0" tIns="0" rIns="0" bIns="0" rtlCol="0" anchor="t"/>
          <a:lstStyle/>
          <a:p>
            <a:pPr indent="0" marL="0">
              <a:buNone/>
            </a:pPr>
            <a:r>
              <a:rPr lang="en-US" sz="700" b="1" dirty="0">
                <a:solidFill>
                  <a:srgbClr val="F2A860"/>
                </a:solidFill>
                <a:latin typeface="Courier New" pitchFamily="34" charset="0"/>
                <a:ea typeface="Courier New" pitchFamily="34" charset="-122"/>
                <a:cs typeface="Courier New" pitchFamily="34" charset="-120"/>
              </a:rPr>
              <a:t>from</a:t>
            </a:r>
            <a:r>
              <a:rPr lang="en-US" sz="700" dirty="0">
                <a:solidFill>
                  <a:srgbClr val="E6EDF3"/>
                </a:solidFill>
                <a:latin typeface="Courier New" pitchFamily="34" charset="0"/>
                <a:ea typeface="Courier New" pitchFamily="34" charset="-122"/>
                <a:cs typeface="Courier New" pitchFamily="34" charset="-120"/>
              </a:rPr>
              <a:t> pdfminer.high_level </a:t>
            </a:r>
            <a:r>
              <a:rPr lang="en-US" sz="700" b="1" dirty="0">
                <a:solidFill>
                  <a:srgbClr val="F2A860"/>
                </a:solidFill>
                <a:latin typeface="Courier New" pitchFamily="34" charset="0"/>
                <a:ea typeface="Courier New" pitchFamily="34" charset="-122"/>
                <a:cs typeface="Courier New" pitchFamily="34" charset="-120"/>
              </a:rPr>
              <a:t>import</a:t>
            </a:r>
            <a:r>
              <a:rPr lang="en-US" sz="700" dirty="0">
                <a:solidFill>
                  <a:srgbClr val="E6EDF3"/>
                </a:solidFill>
                <a:latin typeface="Courier New" pitchFamily="34" charset="0"/>
                <a:ea typeface="Courier New" pitchFamily="34" charset="-122"/>
                <a:cs typeface="Courier New" pitchFamily="34" charset="-120"/>
              </a:rPr>
              <a:t> extract_text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six = make_pdf(*[</a:t>
            </a:r>
            <a:r>
              <a:rPr lang="en-US" sz="700" dirty="0">
                <a:solidFill>
                  <a:srgbClr val="9ECBFF"/>
                </a:solidFill>
                <a:latin typeface="Courier New" pitchFamily="34" charset="0"/>
                <a:ea typeface="Courier New" pitchFamily="34" charset="-122"/>
                <a:cs typeface="Courier New" pitchFamily="34" charset="-120"/>
              </a:rPr>
              <a:t>'Page %d'</a:t>
            </a:r>
            <a:r>
              <a:rPr lang="en-US" sz="700" dirty="0">
                <a:solidFill>
                  <a:srgbClr val="E6EDF3"/>
                </a:solidFill>
                <a:latin typeface="Courier New" pitchFamily="34" charset="0"/>
                <a:ea typeface="Courier New" pitchFamily="34" charset="-122"/>
                <a:cs typeface="Courier New" pitchFamily="34" charset="-120"/>
              </a:rPr>
              <a:t> % i </a:t>
            </a: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i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range(</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7</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reader = pypdf.PdfReader(io.BytesIO(six))</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text = </a:t>
            </a:r>
            <a:r>
              <a:rPr lang="en-US" sz="700" dirty="0">
                <a:solidFill>
                  <a:srgbClr val="9ECBFF"/>
                </a:solidFill>
                <a:latin typeface="Courier New" pitchFamily="34" charset="0"/>
                <a:ea typeface="Courier New" pitchFamily="34" charset="-122"/>
                <a:cs typeface="Courier New" pitchFamily="34" charset="-120"/>
              </a:rPr>
              <a:t>''</a:t>
            </a:r>
            <a:endParaRPr lang="en-US" sz="700" dirty="0"/>
          </a:p>
          <a:p>
            <a:pPr indent="0" marL="0">
              <a:buNone/>
            </a:pP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page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reader.pages:</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text += page.extract_text()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'pypdf:'</a:t>
            </a:r>
            <a:r>
              <a:rPr lang="en-US" sz="700" dirty="0">
                <a:solidFill>
                  <a:srgbClr val="E6EDF3"/>
                </a:solidFill>
                <a:latin typeface="Courier New" pitchFamily="34" charset="0"/>
                <a:ea typeface="Courier New" pitchFamily="34" charset="-122"/>
                <a:cs typeface="Courier New" pitchFamily="34" charset="-120"/>
              </a:rPr>
              <a:t>, repr(text))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miner = extract_text(io.BytesIO(six))</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'pdfminer.six:'</a:t>
            </a:r>
            <a:r>
              <a:rPr lang="en-US" sz="700" dirty="0">
                <a:solidFill>
                  <a:srgbClr val="E6EDF3"/>
                </a:solidFill>
                <a:latin typeface="Courier New" pitchFamily="34" charset="0"/>
                <a:ea typeface="Courier New" pitchFamily="34" charset="-122"/>
                <a:cs typeface="Courier New" pitchFamily="34" charset="-120"/>
              </a:rPr>
              <a:t>, repr(miner[:</a:t>
            </a:r>
            <a:r>
              <a:rPr lang="en-US" sz="700" dirty="0">
                <a:solidFill>
                  <a:srgbClr val="FFD28A"/>
                </a:solidFill>
                <a:latin typeface="Courier New" pitchFamily="34" charset="0"/>
                <a:ea typeface="Courier New" pitchFamily="34" charset="-122"/>
                <a:cs typeface="Courier New" pitchFamily="34" charset="-120"/>
              </a:rPr>
              <a:t>16</a:t>
            </a:r>
            <a:r>
              <a:rPr lang="en-US" sz="700" dirty="0">
                <a:solidFill>
                  <a:srgbClr val="E6EDF3"/>
                </a:solidFill>
                <a:latin typeface="Courier New" pitchFamily="34" charset="0"/>
                <a:ea typeface="Courier New" pitchFamily="34" charset="-122"/>
                <a:cs typeface="Courier New" pitchFamily="34" charset="-120"/>
              </a:rPr>
              <a:t>]), miner.count(</a:t>
            </a:r>
            <a:r>
              <a:rPr lang="en-US" sz="700" dirty="0">
                <a:solidFill>
                  <a:srgbClr val="9ECBFF"/>
                </a:solidFill>
                <a:latin typeface="Courier New" pitchFamily="34" charset="0"/>
                <a:ea typeface="Courier New" pitchFamily="34" charset="-122"/>
                <a:cs typeface="Courier New" pitchFamily="34" charset="-120"/>
              </a:rPr>
              <a:t>'\x0c'</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c = (</a:t>
            </a:r>
            <a:r>
              <a:rPr lang="en-US" sz="700" dirty="0">
                <a:solidFill>
                  <a:srgbClr val="9ECBFF"/>
                </a:solidFill>
                <a:latin typeface="Courier New" pitchFamily="34" charset="0"/>
                <a:ea typeface="Courier New" pitchFamily="34" charset="-122"/>
                <a:cs typeface="Courier New" pitchFamily="34" charset="-120"/>
              </a:rPr>
              <a:t>'BT /F1 12 Tf 72 700 Td (Name) Tj 200 0 Td (Price) Tj ET '</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'BT /F1 12 Tf 72 686 Td (Tea) Tj 200 0 Td (3) Tj ET'</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page = pypdf.PdfReader(io.BytesIO(make_pdf(c))).pages[</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print(repr(page.extract_text()))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print(page.extract_text(extraction_mode=</a:t>
            </a:r>
            <a:r>
              <a:rPr lang="en-US" sz="700" dirty="0">
                <a:solidFill>
                  <a:srgbClr val="9ECBFF"/>
                </a:solidFill>
                <a:latin typeface="Courier New" pitchFamily="34" charset="0"/>
                <a:ea typeface="Courier New" pitchFamily="34" charset="-122"/>
                <a:cs typeface="Courier New" pitchFamily="34" charset="-120"/>
              </a:rPr>
              <a:t>'layout'</a:t>
            </a:r>
            <a:r>
              <a:rPr lang="en-US" sz="700" dirty="0">
                <a:solidFill>
                  <a:srgbClr val="E6EDF3"/>
                </a:solidFill>
                <a:latin typeface="Courier New" pitchFamily="34" charset="0"/>
                <a:ea typeface="Courier New" pitchFamily="34" charset="-122"/>
                <a:cs typeface="Courier New" pitchFamily="34" charset="-120"/>
              </a:rPr>
              <a:t>).strip())</a:t>
            </a:r>
            <a:endParaRPr lang="en-US" sz="700" dirty="0"/>
          </a:p>
          <a:p>
            <a:pPr indent="0" marL="0">
              <a:buNone/>
            </a:pPr>
            <a:r>
              <a:rPr lang="en-US" sz="700" b="1" dirty="0">
                <a:solidFill>
                  <a:srgbClr val="D97A14"/>
                </a:solidFill>
                <a:latin typeface="Courier New" pitchFamily="34" charset="0"/>
                <a:ea typeface="Courier New" pitchFamily="34" charset="-122"/>
                <a:cs typeface="Courier New" pitchFamily="34" charset="-120"/>
              </a:rPr>
              <a:t>prints </a:t>
            </a:r>
            <a:r>
              <a:rPr lang="en-US" sz="700" dirty="0">
                <a:solidFill>
                  <a:srgbClr val="7EE787"/>
                </a:solidFill>
                <a:latin typeface="Courier New" pitchFamily="34" charset="0"/>
                <a:ea typeface="Courier New" pitchFamily="34" charset="-122"/>
                <a:cs typeface="Courier New" pitchFamily="34" charset="-120"/>
              </a:rPr>
              <a:t>pypdf: 'Page 1Page 2Page 3Page 4Page 5Page 6'</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pdfminer.six: 'Page 1\n\n\x0cPage 2\n' 6</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'Name Price\nTea 3'</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Name                                                  Price</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Tea                                                      3</a:t>
            </a:r>
            <a:endParaRPr lang="en-US" sz="700" dirty="0"/>
          </a:p>
        </p:txBody>
      </p:sp>
      <p:sp>
        <p:nvSpPr>
          <p:cNvPr id="39" name="Shape 37"/>
          <p:cNvSpPr/>
          <p:nvPr/>
        </p:nvSpPr>
        <p:spPr>
          <a:xfrm>
            <a:off x="457200" y="4636008"/>
            <a:ext cx="91440" cy="310896"/>
          </a:xfrm>
          <a:prstGeom prst="rect">
            <a:avLst/>
          </a:prstGeom>
          <a:solidFill>
            <a:srgbClr val="D97A14"/>
          </a:solidFill>
          <a:ln w="12700">
            <a:solidFill>
              <a:srgbClr val="D97A14"/>
            </a:solidFill>
            <a:prstDash val="solid"/>
          </a:ln>
        </p:spPr>
      </p:sp>
      <p:sp>
        <p:nvSpPr>
          <p:cNvPr id="40" name="Text 3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Join pages yourself, and choose the extraction mode that matches the page.</a:t>
            </a:r>
            <a:endParaRPr lang="en-US" sz="1350" dirty="0"/>
          </a:p>
        </p:txBody>
      </p:sp>
      <p:sp>
        <p:nvSpPr>
          <p:cNvPr id="41" name="Text 3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7 / 26</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Post-processing with AI</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hyphen repair by a regular expression was run; the language-model clean-up was not</a:t>
            </a:r>
            <a:endParaRPr lang="en-US" sz="1300" dirty="0"/>
          </a:p>
        </p:txBody>
      </p:sp>
      <p:sp>
        <p:nvSpPr>
          <p:cNvPr id="6" name="Shape 4"/>
          <p:cNvSpPr/>
          <p:nvPr/>
        </p:nvSpPr>
        <p:spPr>
          <a:xfrm>
            <a:off x="457200" y="1371600"/>
            <a:ext cx="4206240" cy="1709928"/>
          </a:xfrm>
          <a:prstGeom prst="roundRect">
            <a:avLst>
              <a:gd name="adj" fmla="val 5348"/>
            </a:avLst>
          </a:prstGeom>
          <a:solidFill>
            <a:srgbClr val="23272E"/>
          </a:solidFill>
          <a:ln w="12700">
            <a:solidFill>
              <a:srgbClr val="23272E"/>
            </a:solidFill>
            <a:prstDash val="solid"/>
          </a:ln>
        </p:spPr>
      </p:sp>
      <p:sp>
        <p:nvSpPr>
          <p:cNvPr id="7" name="Text 5"/>
          <p:cNvSpPr txBox="1"/>
          <p:nvPr/>
        </p:nvSpPr>
        <p:spPr>
          <a:xfrm>
            <a:off x="640080" y="1490472"/>
            <a:ext cx="3840480" cy="1472184"/>
          </a:xfrm>
          <a:prstGeom prst="rect">
            <a:avLst/>
          </a:prstGeom>
          <a:noFill/>
          <a:ln/>
        </p:spPr>
        <p:txBody>
          <a:bodyPr wrap="square" lIns="0" tIns="0" rIns="0" bIns="0" rtlCol="0" anchor="t"/>
          <a:lstStyle/>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import re</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t = 'follow-\ning the execution'</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t</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'follow-\ning the execution'</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re.sub(r'-\n', '', t)</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'following the execution'</a:t>
            </a:r>
            <a:endParaRPr lang="en-US" sz="1000" dirty="0"/>
          </a:p>
          <a:p>
            <a:pPr indent="0" marL="0">
              <a:buNone/>
            </a:pPr>
            <a:r>
              <a:rPr lang="en-US" sz="1000" b="1" dirty="0">
                <a:solidFill>
                  <a:srgbClr val="D97A14"/>
                </a:solidFill>
                <a:latin typeface="Courier New" pitchFamily="34" charset="0"/>
                <a:ea typeface="Courier New" pitchFamily="34" charset="-122"/>
                <a:cs typeface="Courier New" pitchFamily="34" charset="-120"/>
              </a:rPr>
              <a:t>&gt;&gt;&gt; </a:t>
            </a:r>
            <a:r>
              <a:rPr lang="en-US" sz="1000" dirty="0">
                <a:solidFill>
                  <a:srgbClr val="E6EDF3"/>
                </a:solidFill>
                <a:latin typeface="Courier New" pitchFamily="34" charset="0"/>
                <a:ea typeface="Courier New" pitchFamily="34" charset="-122"/>
                <a:cs typeface="Courier New" pitchFamily="34" charset="-120"/>
              </a:rPr>
              <a:t>re.sub(r'-\n', '', 'well-\nknown')</a:t>
            </a:r>
            <a:endParaRPr lang="en-US" sz="1000" dirty="0"/>
          </a:p>
          <a:p>
            <a:pPr indent="0" marL="0">
              <a:buNone/>
            </a:pPr>
            <a:r>
              <a:rPr lang="en-US" sz="1000" dirty="0">
                <a:solidFill>
                  <a:srgbClr val="7EE787"/>
                </a:solidFill>
                <a:latin typeface="Courier New" pitchFamily="34" charset="0"/>
                <a:ea typeface="Courier New" pitchFamily="34" charset="-122"/>
                <a:cs typeface="Courier New" pitchFamily="34" charset="-120"/>
              </a:rPr>
              <a:t>'wellknown'</a:t>
            </a:r>
            <a:endParaRPr lang="en-US" sz="1000" dirty="0"/>
          </a:p>
        </p:txBody>
      </p:sp>
      <p:sp>
        <p:nvSpPr>
          <p:cNvPr id="8" name="Text 6"/>
          <p:cNvSpPr txBox="1"/>
          <p:nvPr/>
        </p:nvSpPr>
        <p:spPr>
          <a:xfrm>
            <a:off x="457200" y="3099816"/>
            <a:ext cx="420624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 pypdf 6.20.1, python-docx 1.2.0</a:t>
            </a:r>
            <a:endParaRPr lang="en-US" sz="900" dirty="0"/>
          </a:p>
        </p:txBody>
      </p:sp>
      <p:sp>
        <p:nvSpPr>
          <p:cNvPr id="9" name="Shape 7"/>
          <p:cNvSpPr/>
          <p:nvPr/>
        </p:nvSpPr>
        <p:spPr>
          <a:xfrm>
            <a:off x="4937760" y="1325880"/>
            <a:ext cx="3749040" cy="1600200"/>
          </a:xfrm>
          <a:prstGeom prst="roundRect">
            <a:avLst>
              <a:gd name="adj" fmla="val 5714"/>
            </a:avLst>
          </a:prstGeom>
          <a:solidFill>
            <a:srgbClr val="F2ECE1"/>
          </a:solidFill>
          <a:ln w="12700">
            <a:solidFill>
              <a:srgbClr val="F2ECE1"/>
            </a:solidFill>
            <a:prstDash val="solid"/>
          </a:ln>
        </p:spPr>
      </p:sp>
      <p:sp>
        <p:nvSpPr>
          <p:cNvPr id="10" name="Text 8"/>
          <p:cNvSpPr txBox="1"/>
          <p:nvPr/>
        </p:nvSpPr>
        <p:spPr>
          <a:xfrm>
            <a:off x="5120640" y="1444752"/>
            <a:ext cx="3383280" cy="347472"/>
          </a:xfrm>
          <a:prstGeom prst="rect">
            <a:avLst/>
          </a:prstGeom>
          <a:noFill/>
          <a:ln/>
        </p:spPr>
        <p:txBody>
          <a:bodyPr wrap="square" lIns="0" tIns="0" rIns="0" bIns="0" rtlCol="0" anchor="ctr"/>
          <a:lstStyle/>
          <a:p>
            <a:pPr indent="0" marL="0">
              <a:buNone/>
            </a:pPr>
            <a:r>
              <a:rPr lang="en-US" sz="1600" b="1" dirty="0">
                <a:solidFill>
                  <a:srgbClr val="D97A14"/>
                </a:solidFill>
                <a:latin typeface="Cambria" pitchFamily="34" charset="0"/>
                <a:ea typeface="Cambria" pitchFamily="34" charset="-122"/>
                <a:cs typeface="Cambria" pitchFamily="34" charset="-120"/>
              </a:rPr>
              <a:t>NOT EXECUTED here</a:t>
            </a:r>
            <a:endParaRPr lang="en-US" sz="1600" dirty="0"/>
          </a:p>
        </p:txBody>
      </p:sp>
      <p:sp>
        <p:nvSpPr>
          <p:cNvPr id="11" name="Text 9"/>
          <p:cNvSpPr txBox="1"/>
          <p:nvPr/>
        </p:nvSpPr>
        <p:spPr>
          <a:xfrm>
            <a:off x="5120640" y="1828800"/>
            <a:ext cx="3383280" cy="960120"/>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The chapter's section Post-Processing with AI sends extracted text to a language model to clean it. No model was called for this deck, so nothing is claimed about what one returns.</a:t>
            </a:r>
            <a:endParaRPr lang="en-US" sz="1000" dirty="0"/>
          </a:p>
        </p:txBody>
      </p:sp>
      <p:sp>
        <p:nvSpPr>
          <p:cNvPr id="12" name="Shape 10"/>
          <p:cNvSpPr/>
          <p:nvPr/>
        </p:nvSpPr>
        <p:spPr>
          <a:xfrm>
            <a:off x="4937760" y="3017520"/>
            <a:ext cx="3749040" cy="1508760"/>
          </a:xfrm>
          <a:prstGeom prst="roundRect">
            <a:avLst>
              <a:gd name="adj" fmla="val 6061"/>
            </a:avLst>
          </a:prstGeom>
          <a:solidFill>
            <a:srgbClr val="F2ECE1"/>
          </a:solidFill>
          <a:ln w="12700">
            <a:solidFill>
              <a:srgbClr val="F2ECE1"/>
            </a:solidFill>
            <a:prstDash val="solid"/>
          </a:ln>
        </p:spPr>
      </p:sp>
      <p:sp>
        <p:nvSpPr>
          <p:cNvPr id="13" name="Text 11"/>
          <p:cNvSpPr txBox="1"/>
          <p:nvPr/>
        </p:nvSpPr>
        <p:spPr>
          <a:xfrm>
            <a:off x="5120640" y="3136392"/>
            <a:ext cx="3383280" cy="347472"/>
          </a:xfrm>
          <a:prstGeom prst="rect">
            <a:avLst/>
          </a:prstGeom>
          <a:noFill/>
          <a:ln/>
        </p:spPr>
        <p:txBody>
          <a:bodyPr wrap="square" lIns="0" tIns="0" rIns="0" bIns="0" rtlCol="0" anchor="ctr"/>
          <a:lstStyle/>
          <a:p>
            <a:pPr indent="0" marL="0">
              <a:buNone/>
            </a:pPr>
            <a:r>
              <a:rPr lang="en-US" sz="1600" b="1" dirty="0">
                <a:solidFill>
                  <a:srgbClr val="2F6D62"/>
                </a:solidFill>
                <a:latin typeface="Cambria" pitchFamily="34" charset="0"/>
                <a:ea typeface="Cambria" pitchFamily="34" charset="-122"/>
                <a:cs typeface="Cambria" pitchFamily="34" charset="-120"/>
              </a:rPr>
              <a:t>A repair that is deterministic</a:t>
            </a:r>
            <a:endParaRPr lang="en-US" sz="1600" dirty="0"/>
          </a:p>
        </p:txBody>
      </p:sp>
      <p:sp>
        <p:nvSpPr>
          <p:cNvPr id="14" name="Text 12"/>
          <p:cNvSpPr txBox="1"/>
          <p:nvPr/>
        </p:nvSpPr>
        <p:spPr>
          <a:xfrm>
            <a:off x="5120640" y="3520440"/>
            <a:ext cx="3383280" cy="868680"/>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re.sub of a hyphen followed by a newline joins follow- and ing the execution, and it also glues well-known into wellknown. pypdf's documentation calls post-processing outside its scope.</a:t>
            </a:r>
            <a:endParaRPr lang="en-US" sz="1000" dirty="0"/>
          </a:p>
        </p:txBody>
      </p:sp>
      <p:sp>
        <p:nvSpPr>
          <p:cNvPr id="15" name="Text 13"/>
          <p:cNvSpPr txBox="1"/>
          <p:nvPr/>
        </p:nvSpPr>
        <p:spPr>
          <a:xfrm>
            <a:off x="457200" y="3364992"/>
            <a:ext cx="4206240" cy="1179576"/>
          </a:xfrm>
          <a:prstGeom prst="rect">
            <a:avLst/>
          </a:prstGeom>
          <a:noFill/>
          <a:ln/>
        </p:spPr>
        <p:txBody>
          <a:bodyPr wrap="square" lIns="0" tIns="0" rIns="0" bIns="0" rtlCol="0" anchor="t"/>
          <a:lstStyle/>
          <a:p>
            <a:pPr algn="l" indent="0" marL="0">
              <a:buNone/>
            </a:pPr>
            <a:r>
              <a:rPr lang="en-US" sz="1100" dirty="0">
                <a:solidFill>
                  <a:srgbClr val="2B2622"/>
                </a:solidFill>
                <a:latin typeface="Calibri" pitchFamily="34" charset="0"/>
                <a:ea typeface="Calibri" pitchFamily="34" charset="-122"/>
                <a:cs typeface="Calibri" pitchFamily="34" charset="-120"/>
              </a:rPr>
              <a:t>Extracted text keeps the hyphens and row breaks of the printed page; repairing it is a separate step.</a:t>
            </a:r>
            <a:endParaRPr lang="en-US" sz="1100" dirty="0"/>
          </a:p>
        </p:txBody>
      </p:sp>
      <p:sp>
        <p:nvSpPr>
          <p:cNvPr id="16" name="Shape 14"/>
          <p:cNvSpPr/>
          <p:nvPr/>
        </p:nvSpPr>
        <p:spPr>
          <a:xfrm>
            <a:off x="457200" y="4636008"/>
            <a:ext cx="91440" cy="310896"/>
          </a:xfrm>
          <a:prstGeom prst="rect">
            <a:avLst/>
          </a:prstGeom>
          <a:solidFill>
            <a:srgbClr val="D97A14"/>
          </a:solidFill>
          <a:ln w="12700">
            <a:solidFill>
              <a:srgbClr val="D97A14"/>
            </a:solidFill>
            <a:prstDash val="solid"/>
          </a:ln>
        </p:spPr>
      </p:sp>
      <p:sp>
        <p:nvSpPr>
          <p:cNvPr id="17" name="Text 1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Repairing extracted text is your step; the language-model way was not run.</a:t>
            </a:r>
            <a:endParaRPr lang="en-US" sz="1350" dirty="0"/>
          </a:p>
        </p:txBody>
      </p:sp>
      <p:sp>
        <p:nvSpPr>
          <p:cNvPr id="18"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8 / 26</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Images, scans and the book's PDF</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chapter's image loop on the sample chapter; a scanned page has images and no text</a:t>
            </a:r>
            <a:endParaRPr lang="en-US" sz="1300" dirty="0"/>
          </a:p>
        </p:txBody>
      </p:sp>
      <p:sp>
        <p:nvSpPr>
          <p:cNvPr id="6" name="Text 4"/>
          <p:cNvSpPr txBox="1"/>
          <p:nvPr/>
        </p:nvSpPr>
        <p:spPr>
          <a:xfrm>
            <a:off x="457200" y="1143000"/>
            <a:ext cx="4142232"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program shippedChapterPdfCut_v1_0_0.py, lines 29 to 40 of 40</a:t>
            </a:r>
            <a:endParaRPr lang="en-US" sz="1000" dirty="0"/>
          </a:p>
        </p:txBody>
      </p:sp>
      <p:sp>
        <p:nvSpPr>
          <p:cNvPr id="7" name="Shape 5"/>
          <p:cNvSpPr/>
          <p:nvPr/>
        </p:nvSpPr>
        <p:spPr>
          <a:xfrm>
            <a:off x="457200" y="1417320"/>
            <a:ext cx="4142232" cy="2304288"/>
          </a:xfrm>
          <a:prstGeom prst="roundRect">
            <a:avLst>
              <a:gd name="adj" fmla="val 3968"/>
            </a:avLst>
          </a:prstGeom>
          <a:solidFill>
            <a:srgbClr val="23272E"/>
          </a:solidFill>
          <a:ln w="12700">
            <a:solidFill>
              <a:srgbClr val="23272E"/>
            </a:solidFill>
            <a:prstDash val="solid"/>
          </a:ln>
        </p:spPr>
      </p:sp>
      <p:sp>
        <p:nvSpPr>
          <p:cNvPr id="8" name="Text 6"/>
          <p:cNvSpPr txBox="1"/>
          <p:nvPr/>
        </p:nvSpPr>
        <p:spPr>
          <a:xfrm>
            <a:off x="640080" y="1536192"/>
            <a:ext cx="3776472" cy="2066544"/>
          </a:xfrm>
          <a:prstGeom prst="rect">
            <a:avLst/>
          </a:prstGeom>
          <a:noFill/>
          <a:ln/>
        </p:spPr>
        <p:txBody>
          <a:bodyPr wrap="square" lIns="0" tIns="0" rIns="0" bIns="0" rtlCol="0" anchor="t"/>
          <a:lstStyle/>
          <a:p>
            <a:pPr indent="0" marL="0">
              <a:buNone/>
            </a:pPr>
            <a:r>
              <a:rPr lang="en-US" sz="700" dirty="0">
                <a:solidFill>
                  <a:srgbClr val="E6EDF3"/>
                </a:solidFill>
                <a:latin typeface="Courier New" pitchFamily="34" charset="0"/>
                <a:ea typeface="Courier New" pitchFamily="34" charset="-122"/>
                <a:cs typeface="Courier New" pitchFamily="34" charset="-120"/>
              </a:rPr>
              <a:t>name = real_file(</a:t>
            </a:r>
            <a:r>
              <a:rPr lang="en-US" sz="700" dirty="0">
                <a:solidFill>
                  <a:srgbClr val="9ECBFF"/>
                </a:solidFill>
                <a:latin typeface="Courier New" pitchFamily="34" charset="0"/>
                <a:ea typeface="Courier New" pitchFamily="34" charset="-122"/>
                <a:cs typeface="Courier New" pitchFamily="34" charset="-120"/>
              </a:rPr>
              <a:t>'Recursion_Chapter1.pdf'</a:t>
            </a:r>
            <a:r>
              <a:rPr lang="en-US" sz="700" dirty="0">
                <a:solidFill>
                  <a:srgbClr val="E6EDF3"/>
                </a:solidFill>
                <a:latin typeface="Courier New" pitchFamily="34" charset="0"/>
                <a:ea typeface="Courier New" pitchFamily="34" charset="-122"/>
                <a:cs typeface="Courier New" pitchFamily="34" charset="-120"/>
              </a:rPr>
              <a:t>)  </a:t>
            </a:r>
            <a:r>
              <a:rPr lang="en-US" sz="700" i="1" dirty="0">
                <a:solidFill>
                  <a:srgbClr val="8FA98F"/>
                </a:solidFill>
                <a:latin typeface="Courier New" pitchFamily="34" charset="0"/>
                <a:ea typeface="Courier New" pitchFamily="34" charset="-122"/>
                <a:cs typeface="Courier New" pitchFamily="34" charset="-120"/>
              </a:rPr>
              <a:t># sha256 checked</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reader = pypdf.PdfReader(name)</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print(len(reader.pages), </a:t>
            </a:r>
            <a:r>
              <a:rPr lang="en-US" sz="700" dirty="0">
                <a:solidFill>
                  <a:srgbClr val="9ECBFF"/>
                </a:solidFill>
                <a:latin typeface="Courier New" pitchFamily="34" charset="0"/>
                <a:ea typeface="Courier New" pitchFamily="34" charset="-122"/>
                <a:cs typeface="Courier New" pitchFamily="34" charset="-120"/>
              </a:rPr>
              <a:t>'pages; encrypted'</a:t>
            </a:r>
            <a:r>
              <a:rPr lang="en-US" sz="700" dirty="0">
                <a:solidFill>
                  <a:srgbClr val="E6EDF3"/>
                </a:solidFill>
                <a:latin typeface="Courier New" pitchFamily="34" charset="0"/>
                <a:ea typeface="Courier New" pitchFamily="34" charset="-122"/>
                <a:cs typeface="Courier New" pitchFamily="34" charset="-120"/>
              </a:rPr>
              <a:t>, reader.is_encrypted)</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print(repr(reader.pages[</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].extract_text()[:</a:t>
            </a:r>
            <a:r>
              <a:rPr lang="en-US" sz="700" dirty="0">
                <a:solidFill>
                  <a:srgbClr val="FFD28A"/>
                </a:solidFill>
                <a:latin typeface="Courier New" pitchFamily="34" charset="0"/>
                <a:ea typeface="Courier New" pitchFamily="34" charset="-122"/>
                <a:cs typeface="Courier New" pitchFamily="34" charset="-120"/>
              </a:rPr>
              <a:t>36</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'images per page:'</a:t>
            </a:r>
            <a:r>
              <a:rPr lang="en-US" sz="700" dirty="0">
                <a:solidFill>
                  <a:srgbClr val="E6EDF3"/>
                </a:solidFill>
                <a:latin typeface="Courier New" pitchFamily="34" charset="0"/>
                <a:ea typeface="Courier New" pitchFamily="34" charset="-122"/>
                <a:cs typeface="Courier New" pitchFamily="34" charset="-120"/>
              </a:rPr>
              <a:t>, *[len(p.images) </a:t>
            </a: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p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reader.pages])</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n = </a:t>
            </a:r>
            <a:r>
              <a:rPr lang="en-US" sz="700" dirty="0">
                <a:solidFill>
                  <a:srgbClr val="FFD28A"/>
                </a:solidFill>
                <a:latin typeface="Courier New" pitchFamily="34" charset="0"/>
                <a:ea typeface="Courier New" pitchFamily="34" charset="-122"/>
                <a:cs typeface="Courier New" pitchFamily="34" charset="-120"/>
              </a:rPr>
              <a:t>0</a:t>
            </a:r>
            <a:endParaRPr lang="en-US" sz="700" dirty="0"/>
          </a:p>
          <a:p>
            <a:pPr indent="0" marL="0">
              <a:buNone/>
            </a:pP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number, page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enumerate(reader.pages, </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image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page.images:</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n += </a:t>
            </a:r>
            <a:r>
              <a:rPr lang="en-US" sz="700" dirty="0">
                <a:solidFill>
                  <a:srgbClr val="FFD28A"/>
                </a:solidFill>
                <a:latin typeface="Courier New" pitchFamily="34" charset="0"/>
                <a:ea typeface="Courier New" pitchFamily="34" charset="-122"/>
                <a:cs typeface="Courier New" pitchFamily="34" charset="-120"/>
              </a:rPr>
              <a:t>1</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with open(</a:t>
            </a:r>
            <a:r>
              <a:rPr lang="en-US" sz="700" dirty="0">
                <a:solidFill>
                  <a:srgbClr val="9ECBFF"/>
                </a:solidFill>
                <a:latin typeface="Courier New" pitchFamily="34" charset="0"/>
                <a:ea typeface="Courier New" pitchFamily="34" charset="-122"/>
                <a:cs typeface="Courier New" pitchFamily="34" charset="-120"/>
              </a:rPr>
              <a:t>'%d_%d_%s'</a:t>
            </a:r>
            <a:r>
              <a:rPr lang="en-US" sz="700" dirty="0">
                <a:solidFill>
                  <a:srgbClr val="E6EDF3"/>
                </a:solidFill>
                <a:latin typeface="Courier New" pitchFamily="34" charset="0"/>
                <a:ea typeface="Courier New" pitchFamily="34" charset="-122"/>
                <a:cs typeface="Courier New" pitchFamily="34" charset="-120"/>
              </a:rPr>
              <a:t> % (n, number, image.name), </a:t>
            </a:r>
            <a:r>
              <a:rPr lang="en-US" sz="700" dirty="0">
                <a:solidFill>
                  <a:srgbClr val="9ECBFF"/>
                </a:solidFill>
                <a:latin typeface="Courier New" pitchFamily="34" charset="0"/>
                <a:ea typeface="Courier New" pitchFamily="34" charset="-122"/>
                <a:cs typeface="Courier New" pitchFamily="34" charset="-120"/>
              </a:rPr>
              <a:t>'wb'</a:t>
            </a:r>
            <a:r>
              <a:rPr lang="en-US" sz="700" dirty="0">
                <a:solidFill>
                  <a:srgbClr val="E6EDF3"/>
                </a:solidFill>
                <a:latin typeface="Courier New" pitchFamily="34" charset="0"/>
                <a:ea typeface="Courier New" pitchFamily="34" charset="-122"/>
                <a:cs typeface="Courier New" pitchFamily="34" charset="-120"/>
              </a:rPr>
              <a:t>) as f:</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f.write(image.data)</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print(n, </a:t>
            </a:r>
            <a:r>
              <a:rPr lang="en-US" sz="700" dirty="0">
                <a:solidFill>
                  <a:srgbClr val="9ECBFF"/>
                </a:solidFill>
                <a:latin typeface="Courier New" pitchFamily="34" charset="0"/>
                <a:ea typeface="Courier New" pitchFamily="34" charset="-122"/>
                <a:cs typeface="Courier New" pitchFamily="34" charset="-120"/>
              </a:rPr>
              <a:t>'image files written'</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b="1" dirty="0">
                <a:solidFill>
                  <a:srgbClr val="D97A14"/>
                </a:solidFill>
                <a:latin typeface="Courier New" pitchFamily="34" charset="0"/>
                <a:ea typeface="Courier New" pitchFamily="34" charset="-122"/>
                <a:cs typeface="Courier New" pitchFamily="34" charset="-120"/>
              </a:rPr>
              <a:t>prints </a:t>
            </a:r>
            <a:r>
              <a:rPr lang="en-US" sz="700" dirty="0">
                <a:solidFill>
                  <a:srgbClr val="7EE787"/>
                </a:solidFill>
                <a:latin typeface="Courier New" pitchFamily="34" charset="0"/>
                <a:ea typeface="Courier New" pitchFamily="34" charset="-122"/>
                <a:cs typeface="Courier New" pitchFamily="34" charset="-120"/>
              </a:rPr>
              <a:t>18 pages; encrypted False</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'1\nWHAT IS RECURSION?\nRecursion has a'</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images per page: 7 2 1 0 0 0 1 0 0 0 0 0 0 0 0 0 0 0</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11 image files written</a:t>
            </a:r>
            <a:endParaRPr lang="en-US" sz="700" dirty="0"/>
          </a:p>
        </p:txBody>
      </p:sp>
      <p:sp>
        <p:nvSpPr>
          <p:cNvPr id="9" name="Shape 7"/>
          <p:cNvSpPr/>
          <p:nvPr/>
        </p:nvSpPr>
        <p:spPr>
          <a:xfrm>
            <a:off x="4828032" y="1417320"/>
            <a:ext cx="3858768" cy="1856232"/>
          </a:xfrm>
          <a:prstGeom prst="roundRect">
            <a:avLst>
              <a:gd name="adj" fmla="val 4926"/>
            </a:avLst>
          </a:prstGeom>
          <a:solidFill>
            <a:srgbClr val="23272E"/>
          </a:solidFill>
          <a:ln w="12700">
            <a:solidFill>
              <a:srgbClr val="23272E"/>
            </a:solidFill>
            <a:prstDash val="solid"/>
          </a:ln>
        </p:spPr>
      </p:sp>
      <p:sp>
        <p:nvSpPr>
          <p:cNvPr id="10" name="Text 8"/>
          <p:cNvSpPr txBox="1"/>
          <p:nvPr/>
        </p:nvSpPr>
        <p:spPr>
          <a:xfrm>
            <a:off x="5010912" y="1536192"/>
            <a:ext cx="3493008" cy="1618488"/>
          </a:xfrm>
          <a:prstGeom prst="rect">
            <a:avLst/>
          </a:prstGeom>
          <a:noFill/>
          <a:ln/>
        </p:spPr>
        <p:txBody>
          <a:bodyPr wrap="square" lIns="0" tIns="0" rIns="0" bIns="0" rtlCol="0" anchor="t"/>
          <a:lstStyle/>
          <a:p>
            <a:pPr indent="0" marL="0">
              <a:buNone/>
            </a:pPr>
            <a:r>
              <a:rPr lang="en-US" sz="780" b="1" dirty="0">
                <a:solidFill>
                  <a:srgbClr val="D97A14"/>
                </a:solidFill>
                <a:latin typeface="Courier New" pitchFamily="34" charset="0"/>
                <a:ea typeface="Courier New" pitchFamily="34" charset="-122"/>
                <a:cs typeface="Courier New" pitchFamily="34" charset="-120"/>
              </a:rPr>
              <a:t>&gt;&gt;&gt; </a:t>
            </a:r>
            <a:r>
              <a:rPr lang="en-US" sz="780" dirty="0">
                <a:solidFill>
                  <a:srgbClr val="E6EDF3"/>
                </a:solidFill>
                <a:latin typeface="Courier New" pitchFamily="34" charset="0"/>
                <a:ea typeface="Courier New" pitchFamily="34" charset="-122"/>
                <a:cs typeface="Courier New" pitchFamily="34" charset="-120"/>
              </a:rPr>
              <a:t>import io, pypdf</a:t>
            </a:r>
            <a:endParaRPr lang="en-US" sz="780" dirty="0"/>
          </a:p>
          <a:p>
            <a:pPr indent="0" marL="0">
              <a:buNone/>
            </a:pPr>
            <a:r>
              <a:rPr lang="en-US" sz="780" b="1" dirty="0">
                <a:solidFill>
                  <a:srgbClr val="D97A14"/>
                </a:solidFill>
                <a:latin typeface="Courier New" pitchFamily="34" charset="0"/>
                <a:ea typeface="Courier New" pitchFamily="34" charset="-122"/>
                <a:cs typeface="Courier New" pitchFamily="34" charset="-120"/>
              </a:rPr>
              <a:t>&gt;&gt;&gt; </a:t>
            </a:r>
            <a:r>
              <a:rPr lang="en-US" sz="780" dirty="0">
                <a:solidFill>
                  <a:srgbClr val="E6EDF3"/>
                </a:solidFill>
                <a:latin typeface="Courier New" pitchFamily="34" charset="0"/>
                <a:ea typeface="Courier New" pitchFamily="34" charset="-122"/>
                <a:cs typeface="Courier New" pitchFamily="34" charset="-120"/>
              </a:rPr>
              <a:t>from PIL import Image</a:t>
            </a:r>
            <a:endParaRPr lang="en-US" sz="780" dirty="0"/>
          </a:p>
          <a:p>
            <a:pPr indent="0" marL="0">
              <a:buNone/>
            </a:pPr>
            <a:r>
              <a:rPr lang="en-US" sz="780" b="1" dirty="0">
                <a:solidFill>
                  <a:srgbClr val="D97A14"/>
                </a:solidFill>
                <a:latin typeface="Courier New" pitchFamily="34" charset="0"/>
                <a:ea typeface="Courier New" pitchFamily="34" charset="-122"/>
                <a:cs typeface="Courier New" pitchFamily="34" charset="-120"/>
              </a:rPr>
              <a:t>&gt;&gt;&gt; </a:t>
            </a:r>
            <a:r>
              <a:rPr lang="en-US" sz="780" dirty="0">
                <a:solidFill>
                  <a:srgbClr val="E6EDF3"/>
                </a:solidFill>
                <a:latin typeface="Courier New" pitchFamily="34" charset="0"/>
                <a:ea typeface="Courier New" pitchFamily="34" charset="-122"/>
                <a:cs typeface="Courier New" pitchFamily="34" charset="-120"/>
              </a:rPr>
              <a:t>buf = io.BytesIO()</a:t>
            </a:r>
            <a:endParaRPr lang="en-US" sz="780" dirty="0"/>
          </a:p>
          <a:p>
            <a:pPr indent="0" marL="0">
              <a:buNone/>
            </a:pPr>
            <a:r>
              <a:rPr lang="en-US" sz="780" b="1" dirty="0">
                <a:solidFill>
                  <a:srgbClr val="D97A14"/>
                </a:solidFill>
                <a:latin typeface="Courier New" pitchFamily="34" charset="0"/>
                <a:ea typeface="Courier New" pitchFamily="34" charset="-122"/>
                <a:cs typeface="Courier New" pitchFamily="34" charset="-120"/>
              </a:rPr>
              <a:t>&gt;&gt;&gt; </a:t>
            </a:r>
            <a:r>
              <a:rPr lang="en-US" sz="780" dirty="0">
                <a:solidFill>
                  <a:srgbClr val="E6EDF3"/>
                </a:solidFill>
                <a:latin typeface="Courier New" pitchFamily="34" charset="0"/>
                <a:ea typeface="Courier New" pitchFamily="34" charset="-122"/>
                <a:cs typeface="Courier New" pitchFamily="34" charset="-120"/>
              </a:rPr>
              <a:t>Image.new('RGB', (40, 40), 'white').save(buf, 'PDF')</a:t>
            </a:r>
            <a:endParaRPr lang="en-US" sz="780" dirty="0"/>
          </a:p>
          <a:p>
            <a:pPr indent="0" marL="0">
              <a:buNone/>
            </a:pPr>
            <a:r>
              <a:rPr lang="en-US" sz="780" b="1" dirty="0">
                <a:solidFill>
                  <a:srgbClr val="D97A14"/>
                </a:solidFill>
                <a:latin typeface="Courier New" pitchFamily="34" charset="0"/>
                <a:ea typeface="Courier New" pitchFamily="34" charset="-122"/>
                <a:cs typeface="Courier New" pitchFamily="34" charset="-120"/>
              </a:rPr>
              <a:t>&gt;&gt;&gt; </a:t>
            </a:r>
            <a:r>
              <a:rPr lang="en-US" sz="780" dirty="0">
                <a:solidFill>
                  <a:srgbClr val="E6EDF3"/>
                </a:solidFill>
                <a:latin typeface="Courier New" pitchFamily="34" charset="0"/>
                <a:ea typeface="Courier New" pitchFamily="34" charset="-122"/>
                <a:cs typeface="Courier New" pitchFamily="34" charset="-120"/>
              </a:rPr>
              <a:t>page = pypdf.PdfReader(buf).pages[0]</a:t>
            </a:r>
            <a:endParaRPr lang="en-US" sz="780" dirty="0"/>
          </a:p>
          <a:p>
            <a:pPr indent="0" marL="0">
              <a:buNone/>
            </a:pPr>
            <a:r>
              <a:rPr lang="en-US" sz="780" b="1" dirty="0">
                <a:solidFill>
                  <a:srgbClr val="D97A14"/>
                </a:solidFill>
                <a:latin typeface="Courier New" pitchFamily="34" charset="0"/>
                <a:ea typeface="Courier New" pitchFamily="34" charset="-122"/>
                <a:cs typeface="Courier New" pitchFamily="34" charset="-120"/>
              </a:rPr>
              <a:t>&gt;&gt;&gt; </a:t>
            </a:r>
            <a:r>
              <a:rPr lang="en-US" sz="780" dirty="0">
                <a:solidFill>
                  <a:srgbClr val="E6EDF3"/>
                </a:solidFill>
                <a:latin typeface="Courier New" pitchFamily="34" charset="0"/>
                <a:ea typeface="Courier New" pitchFamily="34" charset="-122"/>
                <a:cs typeface="Courier New" pitchFamily="34" charset="-120"/>
              </a:rPr>
              <a:t>page.extract_text()</a:t>
            </a:r>
            <a:endParaRPr lang="en-US" sz="780" dirty="0"/>
          </a:p>
          <a:p>
            <a:pPr indent="0" marL="0">
              <a:buNone/>
            </a:pPr>
            <a:r>
              <a:rPr lang="en-US" sz="780" dirty="0">
                <a:solidFill>
                  <a:srgbClr val="7EE787"/>
                </a:solidFill>
                <a:latin typeface="Courier New" pitchFamily="34" charset="0"/>
                <a:ea typeface="Courier New" pitchFamily="34" charset="-122"/>
                <a:cs typeface="Courier New" pitchFamily="34" charset="-120"/>
              </a:rPr>
              <a:t>''</a:t>
            </a:r>
            <a:endParaRPr lang="en-US" sz="780" dirty="0"/>
          </a:p>
          <a:p>
            <a:pPr indent="0" marL="0">
              <a:buNone/>
            </a:pPr>
            <a:r>
              <a:rPr lang="en-US" sz="780" b="1" dirty="0">
                <a:solidFill>
                  <a:srgbClr val="D97A14"/>
                </a:solidFill>
                <a:latin typeface="Courier New" pitchFamily="34" charset="0"/>
                <a:ea typeface="Courier New" pitchFamily="34" charset="-122"/>
                <a:cs typeface="Courier New" pitchFamily="34" charset="-120"/>
              </a:rPr>
              <a:t>&gt;&gt;&gt; </a:t>
            </a:r>
            <a:r>
              <a:rPr lang="en-US" sz="780" dirty="0">
                <a:solidFill>
                  <a:srgbClr val="E6EDF3"/>
                </a:solidFill>
                <a:latin typeface="Courier New" pitchFamily="34" charset="0"/>
                <a:ea typeface="Courier New" pitchFamily="34" charset="-122"/>
                <a:cs typeface="Courier New" pitchFamily="34" charset="-120"/>
              </a:rPr>
              <a:t>[(i.name, i.data[:2]) for i in page.images]</a:t>
            </a:r>
            <a:endParaRPr lang="en-US" sz="780" dirty="0"/>
          </a:p>
          <a:p>
            <a:pPr indent="0" marL="0">
              <a:buNone/>
            </a:pPr>
            <a:r>
              <a:rPr lang="en-US" sz="780" dirty="0">
                <a:solidFill>
                  <a:srgbClr val="7EE787"/>
                </a:solidFill>
                <a:latin typeface="Courier New" pitchFamily="34" charset="0"/>
                <a:ea typeface="Courier New" pitchFamily="34" charset="-122"/>
                <a:cs typeface="Courier New" pitchFamily="34" charset="-120"/>
              </a:rPr>
              <a:t>[('image.jpg', b'\xff\xd8')]</a:t>
            </a:r>
            <a:endParaRPr lang="en-US" sz="780" dirty="0"/>
          </a:p>
          <a:p>
            <a:pPr indent="0" marL="0">
              <a:buNone/>
            </a:pPr>
            <a:r>
              <a:rPr lang="en-US" sz="780" b="1" dirty="0">
                <a:solidFill>
                  <a:srgbClr val="D97A14"/>
                </a:solidFill>
                <a:latin typeface="Courier New" pitchFamily="34" charset="0"/>
                <a:ea typeface="Courier New" pitchFamily="34" charset="-122"/>
                <a:cs typeface="Courier New" pitchFamily="34" charset="-120"/>
              </a:rPr>
              <a:t>&gt;&gt;&gt; </a:t>
            </a:r>
            <a:r>
              <a:rPr lang="en-US" sz="780" dirty="0">
                <a:solidFill>
                  <a:srgbClr val="E6EDF3"/>
                </a:solidFill>
                <a:latin typeface="Courier New" pitchFamily="34" charset="0"/>
                <a:ea typeface="Courier New" pitchFamily="34" charset="-122"/>
                <a:cs typeface="Courier New" pitchFamily="34" charset="-120"/>
              </a:rPr>
              <a:t>pypdf.PdfReader(io.BytesIO(b''))</a:t>
            </a:r>
            <a:endParaRPr lang="en-US" sz="780" dirty="0"/>
          </a:p>
          <a:p>
            <a:pPr indent="0" marL="0">
              <a:buNone/>
            </a:pPr>
            <a:r>
              <a:rPr lang="en-US" sz="780" dirty="0">
                <a:solidFill>
                  <a:srgbClr val="7EE787"/>
                </a:solidFill>
                <a:latin typeface="Courier New" pitchFamily="34" charset="0"/>
                <a:ea typeface="Courier New" pitchFamily="34" charset="-122"/>
                <a:cs typeface="Courier New" pitchFamily="34" charset="-120"/>
              </a:rPr>
              <a:t>EmptyFileError: Cannot read an empty file</a:t>
            </a:r>
            <a:endParaRPr lang="en-US" sz="780" dirty="0"/>
          </a:p>
        </p:txBody>
      </p:sp>
      <p:sp>
        <p:nvSpPr>
          <p:cNvPr id="11" name="Text 9"/>
          <p:cNvSpPr txBox="1"/>
          <p:nvPr/>
        </p:nvSpPr>
        <p:spPr>
          <a:xfrm>
            <a:off x="4828032" y="3291840"/>
            <a:ext cx="3858768"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 pypdf 6.20.1, python-docx 1.2.0</a:t>
            </a:r>
            <a:endParaRPr lang="en-US" sz="900" dirty="0"/>
          </a:p>
        </p:txBody>
      </p:sp>
      <p:sp>
        <p:nvSpPr>
          <p:cNvPr id="12" name="Text 10"/>
          <p:cNvSpPr txBox="1"/>
          <p:nvPr/>
        </p:nvSpPr>
        <p:spPr>
          <a:xfrm>
            <a:off x="457200" y="3831336"/>
            <a:ext cx="8229600" cy="310896"/>
          </a:xfrm>
          <a:prstGeom prst="rect">
            <a:avLst/>
          </a:prstGeom>
          <a:noFill/>
          <a:ln/>
        </p:spPr>
        <p:txBody>
          <a:bodyPr wrap="square" lIns="0" tIns="0" rIns="0" bIns="0" rtlCol="0" anchor="t"/>
          <a:lstStyle/>
          <a:p>
            <a:pPr indent="0" marL="0">
              <a:buNone/>
            </a:pPr>
            <a:r>
              <a:rPr lang="en-US" sz="900" i="1" dirty="0">
                <a:solidFill>
                  <a:srgbClr val="6E655C"/>
                </a:solidFill>
                <a:latin typeface="Calibri" pitchFamily="34" charset="0"/>
                <a:ea typeface="Calibri" pitchFamily="34" charset="-122"/>
                <a:cs typeface="Calibri" pitchFamily="34" charset="-120"/>
              </a:rPr>
              <a:t>Shipped file: Recursion_Chapter1.pdf of the book's online materials, fetched from nostarch.com at run time, sha256 d943896e0bd2... checked. Page images need the Pillow package, which the chapter does not name.</a:t>
            </a:r>
            <a:endParaRPr lang="en-US" sz="900" dirty="0"/>
          </a:p>
        </p:txBody>
      </p:sp>
      <p:sp>
        <p:nvSpPr>
          <p:cNvPr id="13" name="Shape 11"/>
          <p:cNvSpPr/>
          <p:nvPr/>
        </p:nvSpPr>
        <p:spPr>
          <a:xfrm>
            <a:off x="457200" y="4636008"/>
            <a:ext cx="91440" cy="310896"/>
          </a:xfrm>
          <a:prstGeom prst="rect">
            <a:avLst/>
          </a:prstGeom>
          <a:solidFill>
            <a:srgbClr val="D97A14"/>
          </a:solidFill>
          <a:ln w="12700">
            <a:solidFill>
              <a:srgbClr val="D97A14"/>
            </a:solidFill>
            <a:prstDash val="solid"/>
          </a:ln>
        </p:spPr>
      </p:sp>
      <p:sp>
        <p:nvSpPr>
          <p:cNvPr id="14" name="Text 1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Images need Pillow, and a scan gives you images and an empty string.</a:t>
            </a:r>
            <a:endParaRPr lang="en-US" sz="1350" dirty="0"/>
          </a:p>
        </p:txBody>
      </p:sp>
      <p:sp>
        <p:nvSpPr>
          <p:cNvPr id="15" name="Text 1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9 / 26</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Copying pages: a tuple is a range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append() reads a tuple as a range and a list as pages; merge() reads it as a title</a:t>
            </a:r>
            <a:endParaRPr lang="en-US" sz="1300" dirty="0"/>
          </a:p>
        </p:txBody>
      </p:sp>
      <p:sp>
        <p:nvSpPr>
          <p:cNvPr id="6" name="Text 4"/>
          <p:cNvSpPr txBox="1"/>
          <p:nvPr/>
        </p:nvSpPr>
        <p:spPr>
          <a:xfrm>
            <a:off x="457200" y="1143000"/>
            <a:ext cx="5257800"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program pageSelectionCut_v1_0_0.py, lines 19 to 34 of 34</a:t>
            </a:r>
            <a:endParaRPr lang="en-US" sz="1000" dirty="0"/>
          </a:p>
        </p:txBody>
      </p:sp>
      <p:sp>
        <p:nvSpPr>
          <p:cNvPr id="7" name="Shape 5"/>
          <p:cNvSpPr/>
          <p:nvPr/>
        </p:nvSpPr>
        <p:spPr>
          <a:xfrm>
            <a:off x="457200" y="1417320"/>
            <a:ext cx="5257800" cy="3099816"/>
          </a:xfrm>
          <a:prstGeom prst="roundRect">
            <a:avLst>
              <a:gd name="adj" fmla="val 2950"/>
            </a:avLst>
          </a:prstGeom>
          <a:solidFill>
            <a:srgbClr val="23272E"/>
          </a:solidFill>
          <a:ln w="12700">
            <a:solidFill>
              <a:srgbClr val="23272E"/>
            </a:solidFill>
            <a:prstDash val="solid"/>
          </a:ln>
        </p:spPr>
      </p:sp>
      <p:sp>
        <p:nvSpPr>
          <p:cNvPr id="8" name="Text 6"/>
          <p:cNvSpPr txBox="1"/>
          <p:nvPr/>
        </p:nvSpPr>
        <p:spPr>
          <a:xfrm>
            <a:off x="640080" y="1536192"/>
            <a:ext cx="4892040" cy="2862072"/>
          </a:xfrm>
          <a:prstGeom prst="rect">
            <a:avLst/>
          </a:prstGeom>
          <a:noFill/>
          <a:ln/>
        </p:spPr>
        <p:txBody>
          <a:bodyPr wrap="square" lIns="0" tIns="0" rIns="0" bIns="0" rtlCol="0" anchor="t"/>
          <a:lstStyle/>
          <a:p>
            <a:pPr indent="0" marL="0">
              <a:buNone/>
            </a:pPr>
            <a:r>
              <a:rPr lang="en-US" sz="750" dirty="0">
                <a:solidFill>
                  <a:srgbClr val="E6EDF3"/>
                </a:solidFill>
                <a:latin typeface="Courier New" pitchFamily="34" charset="0"/>
                <a:ea typeface="Courier New" pitchFamily="34" charset="-122"/>
                <a:cs typeface="Courier New" pitchFamily="34" charset="-120"/>
              </a:rPr>
              <a:t>six = make_pdf(*[</a:t>
            </a:r>
            <a:r>
              <a:rPr lang="en-US" sz="750" dirty="0">
                <a:solidFill>
                  <a:srgbClr val="9ECBFF"/>
                </a:solidFill>
                <a:latin typeface="Courier New" pitchFamily="34" charset="0"/>
                <a:ea typeface="Courier New" pitchFamily="34" charset="-122"/>
                <a:cs typeface="Courier New" pitchFamily="34" charset="-120"/>
              </a:rPr>
              <a:t>'Page %d'</a:t>
            </a:r>
            <a:r>
              <a:rPr lang="en-US" sz="750" dirty="0">
                <a:solidFill>
                  <a:srgbClr val="E6EDF3"/>
                </a:solidFill>
                <a:latin typeface="Courier New" pitchFamily="34" charset="0"/>
                <a:ea typeface="Courier New" pitchFamily="34" charset="-122"/>
                <a:cs typeface="Courier New" pitchFamily="34" charset="-120"/>
              </a:rPr>
              <a:t> % i </a:t>
            </a:r>
            <a:r>
              <a:rPr lang="en-US" sz="750" b="1" dirty="0">
                <a:solidFill>
                  <a:srgbClr val="F2A860"/>
                </a:solidFill>
                <a:latin typeface="Courier New" pitchFamily="34" charset="0"/>
                <a:ea typeface="Courier New" pitchFamily="34" charset="-122"/>
                <a:cs typeface="Courier New" pitchFamily="34" charset="-120"/>
              </a:rPr>
              <a:t>for</a:t>
            </a:r>
            <a:r>
              <a:rPr lang="en-US" sz="750" dirty="0">
                <a:solidFill>
                  <a:srgbClr val="E6EDF3"/>
                </a:solidFill>
                <a:latin typeface="Courier New" pitchFamily="34" charset="0"/>
                <a:ea typeface="Courier New" pitchFamily="34" charset="-122"/>
                <a:cs typeface="Courier New" pitchFamily="34" charset="-120"/>
              </a:rPr>
              <a:t> i </a:t>
            </a:r>
            <a:r>
              <a:rPr lang="en-US" sz="750" b="1" dirty="0">
                <a:solidFill>
                  <a:srgbClr val="F2A860"/>
                </a:solidFill>
                <a:latin typeface="Courier New" pitchFamily="34" charset="0"/>
                <a:ea typeface="Courier New" pitchFamily="34" charset="-122"/>
                <a:cs typeface="Courier New" pitchFamily="34" charset="-120"/>
              </a:rPr>
              <a:t>in</a:t>
            </a:r>
            <a:r>
              <a:rPr lang="en-US" sz="750" dirty="0">
                <a:solidFill>
                  <a:srgbClr val="E6EDF3"/>
                </a:solidFill>
                <a:latin typeface="Courier New" pitchFamily="34" charset="0"/>
                <a:ea typeface="Courier New" pitchFamily="34" charset="-122"/>
                <a:cs typeface="Courier New" pitchFamily="34" charset="-120"/>
              </a:rPr>
              <a:t> range(</a:t>
            </a:r>
            <a:r>
              <a:rPr lang="en-US" sz="750" dirty="0">
                <a:solidFill>
                  <a:srgbClr val="FFD28A"/>
                </a:solidFill>
                <a:latin typeface="Courier New" pitchFamily="34" charset="0"/>
                <a:ea typeface="Courier New" pitchFamily="34" charset="-122"/>
                <a:cs typeface="Courier New" pitchFamily="34" charset="-120"/>
              </a:rPr>
              <a:t>1</a:t>
            </a:r>
            <a:r>
              <a:rPr lang="en-US" sz="750" dirty="0">
                <a:solidFill>
                  <a:srgbClr val="E6EDF3"/>
                </a:solidFill>
                <a:latin typeface="Courier New" pitchFamily="34" charset="0"/>
                <a:ea typeface="Courier New" pitchFamily="34" charset="-122"/>
                <a:cs typeface="Courier New" pitchFamily="34" charset="-120"/>
              </a:rPr>
              <a:t>, </a:t>
            </a:r>
            <a:r>
              <a:rPr lang="en-US" sz="750" dirty="0">
                <a:solidFill>
                  <a:srgbClr val="FFD28A"/>
                </a:solidFill>
                <a:latin typeface="Courier New" pitchFamily="34" charset="0"/>
                <a:ea typeface="Courier New" pitchFamily="34" charset="-122"/>
                <a:cs typeface="Courier New" pitchFamily="34" charset="-120"/>
              </a:rPr>
              <a:t>7</a:t>
            </a:r>
            <a:r>
              <a:rPr lang="en-US" sz="750" dirty="0">
                <a:solidFill>
                  <a:srgbClr val="E6EDF3"/>
                </a:solidFill>
                <a:latin typeface="Courier New" pitchFamily="34" charset="0"/>
                <a:ea typeface="Courier New" pitchFamily="34" charset="-122"/>
                <a:cs typeface="Courier New" pitchFamily="34" charset="-120"/>
              </a:rPr>
              <a:t>)])</a:t>
            </a:r>
            <a:endParaRPr lang="en-US" sz="750" dirty="0"/>
          </a:p>
          <a:p>
            <a:pPr indent="0" marL="0">
              <a:buNone/>
            </a:pPr>
            <a:r>
              <a:rPr lang="en-US" sz="750" b="1" dirty="0">
                <a:solidFill>
                  <a:srgbClr val="F2A860"/>
                </a:solidFill>
                <a:latin typeface="Courier New" pitchFamily="34" charset="0"/>
                <a:ea typeface="Courier New" pitchFamily="34" charset="-122"/>
                <a:cs typeface="Courier New" pitchFamily="34" charset="-120"/>
              </a:rPr>
              <a:t>def</a:t>
            </a:r>
            <a:r>
              <a:rPr lang="en-US" sz="750" dirty="0">
                <a:solidFill>
                  <a:srgbClr val="E6EDF3"/>
                </a:solidFill>
                <a:latin typeface="Courier New" pitchFamily="34" charset="0"/>
                <a:ea typeface="Courier New" pitchFamily="34" charset="-122"/>
                <a:cs typeface="Courier New" pitchFamily="34" charset="-120"/>
              </a:rPr>
              <a:t> texts(writer):                                   </a:t>
            </a:r>
            <a:r>
              <a:rPr lang="en-US" sz="750" i="1" dirty="0">
                <a:solidFill>
                  <a:srgbClr val="8FA98F"/>
                </a:solidFill>
                <a:latin typeface="Courier New" pitchFamily="34" charset="0"/>
                <a:ea typeface="Courier New" pitchFamily="34" charset="-122"/>
                <a:cs typeface="Courier New" pitchFamily="34" charset="-120"/>
              </a:rPr>
              <a:t># the page texts of a writer</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    buf = io.BytesIO(); writer.write(buf)</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    </a:t>
            </a:r>
            <a:r>
              <a:rPr lang="en-US" sz="750" b="1" dirty="0">
                <a:solidFill>
                  <a:srgbClr val="F2A860"/>
                </a:solidFill>
                <a:latin typeface="Courier New" pitchFamily="34" charset="0"/>
                <a:ea typeface="Courier New" pitchFamily="34" charset="-122"/>
                <a:cs typeface="Courier New" pitchFamily="34" charset="-120"/>
              </a:rPr>
              <a:t>return</a:t>
            </a:r>
            <a:r>
              <a:rPr lang="en-US" sz="750" dirty="0">
                <a:solidFill>
                  <a:srgbClr val="E6EDF3"/>
                </a:solidFill>
                <a:latin typeface="Courier New" pitchFamily="34" charset="0"/>
                <a:ea typeface="Courier New" pitchFamily="34" charset="-122"/>
                <a:cs typeface="Courier New" pitchFamily="34" charset="-120"/>
              </a:rPr>
              <a:t> [p.extract_text() </a:t>
            </a:r>
            <a:r>
              <a:rPr lang="en-US" sz="750" b="1" dirty="0">
                <a:solidFill>
                  <a:srgbClr val="F2A860"/>
                </a:solidFill>
                <a:latin typeface="Courier New" pitchFamily="34" charset="0"/>
                <a:ea typeface="Courier New" pitchFamily="34" charset="-122"/>
                <a:cs typeface="Courier New" pitchFamily="34" charset="-120"/>
              </a:rPr>
              <a:t>for</a:t>
            </a:r>
            <a:r>
              <a:rPr lang="en-US" sz="750" dirty="0">
                <a:solidFill>
                  <a:srgbClr val="E6EDF3"/>
                </a:solidFill>
                <a:latin typeface="Courier New" pitchFamily="34" charset="0"/>
                <a:ea typeface="Courier New" pitchFamily="34" charset="-122"/>
                <a:cs typeface="Courier New" pitchFamily="34" charset="-120"/>
              </a:rPr>
              <a:t> p </a:t>
            </a:r>
            <a:r>
              <a:rPr lang="en-US" sz="750" b="1" dirty="0">
                <a:solidFill>
                  <a:srgbClr val="F2A860"/>
                </a:solidFill>
                <a:latin typeface="Courier New" pitchFamily="34" charset="0"/>
                <a:ea typeface="Courier New" pitchFamily="34" charset="-122"/>
                <a:cs typeface="Courier New" pitchFamily="34" charset="-120"/>
              </a:rPr>
              <a:t>in</a:t>
            </a:r>
            <a:r>
              <a:rPr lang="en-US" sz="750" dirty="0">
                <a:solidFill>
                  <a:srgbClr val="E6EDF3"/>
                </a:solidFill>
                <a:latin typeface="Courier New" pitchFamily="34" charset="0"/>
                <a:ea typeface="Courier New" pitchFamily="34" charset="-122"/>
                <a:cs typeface="Courier New" pitchFamily="34" charset="-120"/>
              </a:rPr>
              <a:t> pypdf.PdfReader(buf).pages]</a:t>
            </a:r>
            <a:endParaRPr lang="en-US" sz="750" dirty="0"/>
          </a:p>
          <a:p>
            <a:pPr indent="0" marL="0">
              <a:buNone/>
            </a:pPr>
            <a:r>
              <a:rPr lang="en-US" sz="750" b="1" dirty="0">
                <a:solidFill>
                  <a:srgbClr val="F2A860"/>
                </a:solidFill>
                <a:latin typeface="Courier New" pitchFamily="34" charset="0"/>
                <a:ea typeface="Courier New" pitchFamily="34" charset="-122"/>
                <a:cs typeface="Courier New" pitchFamily="34" charset="-120"/>
              </a:rPr>
              <a:t>for</a:t>
            </a:r>
            <a:r>
              <a:rPr lang="en-US" sz="750" dirty="0">
                <a:solidFill>
                  <a:srgbClr val="E6EDF3"/>
                </a:solidFill>
                <a:latin typeface="Courier New" pitchFamily="34" charset="0"/>
                <a:ea typeface="Courier New" pitchFamily="34" charset="-122"/>
                <a:cs typeface="Courier New" pitchFamily="34" charset="-120"/>
              </a:rPr>
              <a:t> label, pages </a:t>
            </a:r>
            <a:r>
              <a:rPr lang="en-US" sz="750" b="1" dirty="0">
                <a:solidFill>
                  <a:srgbClr val="F2A860"/>
                </a:solidFill>
                <a:latin typeface="Courier New" pitchFamily="34" charset="0"/>
                <a:ea typeface="Courier New" pitchFamily="34" charset="-122"/>
                <a:cs typeface="Courier New" pitchFamily="34" charset="-120"/>
              </a:rPr>
              <a:t>in</a:t>
            </a:r>
            <a:r>
              <a:rPr lang="en-US" sz="750" dirty="0">
                <a:solidFill>
                  <a:srgbClr val="E6EDF3"/>
                </a:solidFill>
                <a:latin typeface="Courier New" pitchFamily="34" charset="0"/>
                <a:ea typeface="Courier New" pitchFamily="34" charset="-122"/>
                <a:cs typeface="Courier New" pitchFamily="34" charset="-120"/>
              </a:rPr>
              <a:t> ((</a:t>
            </a:r>
            <a:r>
              <a:rPr lang="en-US" sz="750" dirty="0">
                <a:solidFill>
                  <a:srgbClr val="9ECBFF"/>
                </a:solidFill>
                <a:latin typeface="Courier New" pitchFamily="34" charset="0"/>
                <a:ea typeface="Courier New" pitchFamily="34" charset="-122"/>
                <a:cs typeface="Courier New" pitchFamily="34" charset="-120"/>
              </a:rPr>
              <a:t>'(0, 5)'</a:t>
            </a:r>
            <a:r>
              <a:rPr lang="en-US" sz="750" dirty="0">
                <a:solidFill>
                  <a:srgbClr val="E6EDF3"/>
                </a:solidFill>
                <a:latin typeface="Courier New" pitchFamily="34" charset="0"/>
                <a:ea typeface="Courier New" pitchFamily="34" charset="-122"/>
                <a:cs typeface="Courier New" pitchFamily="34" charset="-120"/>
              </a:rPr>
              <a:t>, (</a:t>
            </a:r>
            <a:r>
              <a:rPr lang="en-US" sz="750" dirty="0">
                <a:solidFill>
                  <a:srgbClr val="FFD28A"/>
                </a:solidFill>
                <a:latin typeface="Courier New" pitchFamily="34" charset="0"/>
                <a:ea typeface="Courier New" pitchFamily="34" charset="-122"/>
                <a:cs typeface="Courier New" pitchFamily="34" charset="-120"/>
              </a:rPr>
              <a:t>0</a:t>
            </a:r>
            <a:r>
              <a:rPr lang="en-US" sz="750" dirty="0">
                <a:solidFill>
                  <a:srgbClr val="E6EDF3"/>
                </a:solidFill>
                <a:latin typeface="Courier New" pitchFamily="34" charset="0"/>
                <a:ea typeface="Courier New" pitchFamily="34" charset="-122"/>
                <a:cs typeface="Courier New" pitchFamily="34" charset="-120"/>
              </a:rPr>
              <a:t>, </a:t>
            </a:r>
            <a:r>
              <a:rPr lang="en-US" sz="750" dirty="0">
                <a:solidFill>
                  <a:srgbClr val="FFD28A"/>
                </a:solidFill>
                <a:latin typeface="Courier New" pitchFamily="34" charset="0"/>
                <a:ea typeface="Courier New" pitchFamily="34" charset="-122"/>
                <a:cs typeface="Courier New" pitchFamily="34" charset="-120"/>
              </a:rPr>
              <a:t>5</a:t>
            </a:r>
            <a:r>
              <a:rPr lang="en-US" sz="750" dirty="0">
                <a:solidFill>
                  <a:srgbClr val="E6EDF3"/>
                </a:solidFill>
                <a:latin typeface="Courier New" pitchFamily="34" charset="0"/>
                <a:ea typeface="Courier New" pitchFamily="34" charset="-122"/>
                <a:cs typeface="Courier New" pitchFamily="34" charset="-120"/>
              </a:rPr>
              <a:t>)), (</a:t>
            </a:r>
            <a:r>
              <a:rPr lang="en-US" sz="750" dirty="0">
                <a:solidFill>
                  <a:srgbClr val="9ECBFF"/>
                </a:solidFill>
                <a:latin typeface="Courier New" pitchFamily="34" charset="0"/>
                <a:ea typeface="Courier New" pitchFamily="34" charset="-122"/>
                <a:cs typeface="Courier New" pitchFamily="34" charset="-120"/>
              </a:rPr>
              <a:t>'(0, 5, 2)'</a:t>
            </a:r>
            <a:r>
              <a:rPr lang="en-US" sz="750" dirty="0">
                <a:solidFill>
                  <a:srgbClr val="E6EDF3"/>
                </a:solidFill>
                <a:latin typeface="Courier New" pitchFamily="34" charset="0"/>
                <a:ea typeface="Courier New" pitchFamily="34" charset="-122"/>
                <a:cs typeface="Courier New" pitchFamily="34" charset="-120"/>
              </a:rPr>
              <a:t>, (</a:t>
            </a:r>
            <a:r>
              <a:rPr lang="en-US" sz="750" dirty="0">
                <a:solidFill>
                  <a:srgbClr val="FFD28A"/>
                </a:solidFill>
                <a:latin typeface="Courier New" pitchFamily="34" charset="0"/>
                <a:ea typeface="Courier New" pitchFamily="34" charset="-122"/>
                <a:cs typeface="Courier New" pitchFamily="34" charset="-120"/>
              </a:rPr>
              <a:t>0</a:t>
            </a:r>
            <a:r>
              <a:rPr lang="en-US" sz="750" dirty="0">
                <a:solidFill>
                  <a:srgbClr val="E6EDF3"/>
                </a:solidFill>
                <a:latin typeface="Courier New" pitchFamily="34" charset="0"/>
                <a:ea typeface="Courier New" pitchFamily="34" charset="-122"/>
                <a:cs typeface="Courier New" pitchFamily="34" charset="-120"/>
              </a:rPr>
              <a:t>, </a:t>
            </a:r>
            <a:r>
              <a:rPr lang="en-US" sz="750" dirty="0">
                <a:solidFill>
                  <a:srgbClr val="FFD28A"/>
                </a:solidFill>
                <a:latin typeface="Courier New" pitchFamily="34" charset="0"/>
                <a:ea typeface="Courier New" pitchFamily="34" charset="-122"/>
                <a:cs typeface="Courier New" pitchFamily="34" charset="-120"/>
              </a:rPr>
              <a:t>5</a:t>
            </a:r>
            <a:r>
              <a:rPr lang="en-US" sz="750" dirty="0">
                <a:solidFill>
                  <a:srgbClr val="E6EDF3"/>
                </a:solidFill>
                <a:latin typeface="Courier New" pitchFamily="34" charset="0"/>
                <a:ea typeface="Courier New" pitchFamily="34" charset="-122"/>
                <a:cs typeface="Courier New" pitchFamily="34" charset="-120"/>
              </a:rPr>
              <a:t>, </a:t>
            </a:r>
            <a:r>
              <a:rPr lang="en-US" sz="750" dirty="0">
                <a:solidFill>
                  <a:srgbClr val="FFD28A"/>
                </a:solidFill>
                <a:latin typeface="Courier New" pitchFamily="34" charset="0"/>
                <a:ea typeface="Courier New" pitchFamily="34" charset="-122"/>
                <a:cs typeface="Courier New" pitchFamily="34" charset="-120"/>
              </a:rPr>
              <a:t>2</a:t>
            </a:r>
            <a:r>
              <a:rPr lang="en-US" sz="750" dirty="0">
                <a:solidFill>
                  <a:srgbClr val="E6EDF3"/>
                </a:solidFill>
                <a:latin typeface="Courier New" pitchFamily="34" charset="0"/>
                <a:ea typeface="Courier New" pitchFamily="34" charset="-122"/>
                <a:cs typeface="Courier New" pitchFamily="34" charset="-120"/>
              </a:rPr>
              <a:t>)),</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                     (</a:t>
            </a:r>
            <a:r>
              <a:rPr lang="en-US" sz="750" dirty="0">
                <a:solidFill>
                  <a:srgbClr val="9ECBFF"/>
                </a:solidFill>
                <a:latin typeface="Courier New" pitchFamily="34" charset="0"/>
                <a:ea typeface="Courier New" pitchFamily="34" charset="-122"/>
                <a:cs typeface="Courier New" pitchFamily="34" charset="-120"/>
              </a:rPr>
              <a:t>'[0, 5]'</a:t>
            </a:r>
            <a:r>
              <a:rPr lang="en-US" sz="750" dirty="0">
                <a:solidFill>
                  <a:srgbClr val="E6EDF3"/>
                </a:solidFill>
                <a:latin typeface="Courier New" pitchFamily="34" charset="0"/>
                <a:ea typeface="Courier New" pitchFamily="34" charset="-122"/>
                <a:cs typeface="Courier New" pitchFamily="34" charset="-120"/>
              </a:rPr>
              <a:t>, [</a:t>
            </a:r>
            <a:r>
              <a:rPr lang="en-US" sz="750" dirty="0">
                <a:solidFill>
                  <a:srgbClr val="FFD28A"/>
                </a:solidFill>
                <a:latin typeface="Courier New" pitchFamily="34" charset="0"/>
                <a:ea typeface="Courier New" pitchFamily="34" charset="-122"/>
                <a:cs typeface="Courier New" pitchFamily="34" charset="-120"/>
              </a:rPr>
              <a:t>0</a:t>
            </a:r>
            <a:r>
              <a:rPr lang="en-US" sz="750" dirty="0">
                <a:solidFill>
                  <a:srgbClr val="E6EDF3"/>
                </a:solidFill>
                <a:latin typeface="Courier New" pitchFamily="34" charset="0"/>
                <a:ea typeface="Courier New" pitchFamily="34" charset="-122"/>
                <a:cs typeface="Courier New" pitchFamily="34" charset="-120"/>
              </a:rPr>
              <a:t>, </a:t>
            </a:r>
            <a:r>
              <a:rPr lang="en-US" sz="750" dirty="0">
                <a:solidFill>
                  <a:srgbClr val="FFD28A"/>
                </a:solidFill>
                <a:latin typeface="Courier New" pitchFamily="34" charset="0"/>
                <a:ea typeface="Courier New" pitchFamily="34" charset="-122"/>
                <a:cs typeface="Courier New" pitchFamily="34" charset="-120"/>
              </a:rPr>
              <a:t>5</a:t>
            </a:r>
            <a:r>
              <a:rPr lang="en-US" sz="750" dirty="0">
                <a:solidFill>
                  <a:srgbClr val="E6EDF3"/>
                </a:solidFill>
                <a:latin typeface="Courier New" pitchFamily="34" charset="0"/>
                <a:ea typeface="Courier New" pitchFamily="34" charset="-122"/>
                <a:cs typeface="Courier New" pitchFamily="34" charset="-120"/>
              </a:rPr>
              <a:t>])):</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    w = pypdf.PdfWriter(); w.append(io.BytesIO(six), pages)</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    print(</a:t>
            </a:r>
            <a:r>
              <a:rPr lang="en-US" sz="750" dirty="0">
                <a:solidFill>
                  <a:srgbClr val="9ECBFF"/>
                </a:solidFill>
                <a:latin typeface="Courier New" pitchFamily="34" charset="0"/>
                <a:ea typeface="Courier New" pitchFamily="34" charset="-122"/>
                <a:cs typeface="Courier New" pitchFamily="34" charset="-120"/>
              </a:rPr>
              <a:t>'append'</a:t>
            </a:r>
            <a:r>
              <a:rPr lang="en-US" sz="750" dirty="0">
                <a:solidFill>
                  <a:srgbClr val="E6EDF3"/>
                </a:solidFill>
                <a:latin typeface="Courier New" pitchFamily="34" charset="0"/>
                <a:ea typeface="Courier New" pitchFamily="34" charset="-122"/>
                <a:cs typeface="Courier New" pitchFamily="34" charset="-120"/>
              </a:rPr>
              <a:t>, label, </a:t>
            </a:r>
            <a:r>
              <a:rPr lang="en-US" sz="750" dirty="0">
                <a:solidFill>
                  <a:srgbClr val="9ECBFF"/>
                </a:solidFill>
                <a:latin typeface="Courier New" pitchFamily="34" charset="0"/>
                <a:ea typeface="Courier New" pitchFamily="34" charset="-122"/>
                <a:cs typeface="Courier New" pitchFamily="34" charset="-120"/>
              </a:rPr>
              <a:t>'-&gt;'</a:t>
            </a:r>
            <a:r>
              <a:rPr lang="en-US" sz="750" dirty="0">
                <a:solidFill>
                  <a:srgbClr val="E6EDF3"/>
                </a:solidFill>
                <a:latin typeface="Courier New" pitchFamily="34" charset="0"/>
                <a:ea typeface="Courier New" pitchFamily="34" charset="-122"/>
                <a:cs typeface="Courier New" pitchFamily="34" charset="-120"/>
              </a:rPr>
              <a:t>, texts(w))</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three = make_pdf(</a:t>
            </a:r>
            <a:r>
              <a:rPr lang="en-US" sz="750" dirty="0">
                <a:solidFill>
                  <a:srgbClr val="9ECBFF"/>
                </a:solidFill>
                <a:latin typeface="Courier New" pitchFamily="34" charset="0"/>
                <a:ea typeface="Courier New" pitchFamily="34" charset="-122"/>
                <a:cs typeface="Courier New" pitchFamily="34" charset="-120"/>
              </a:rPr>
              <a:t>'A1'</a:t>
            </a:r>
            <a:r>
              <a:rPr lang="en-US" sz="750" dirty="0">
                <a:solidFill>
                  <a:srgbClr val="E6EDF3"/>
                </a:solidFill>
                <a:latin typeface="Courier New" pitchFamily="34" charset="0"/>
                <a:ea typeface="Courier New" pitchFamily="34" charset="-122"/>
                <a:cs typeface="Courier New" pitchFamily="34" charset="-120"/>
              </a:rPr>
              <a:t>, </a:t>
            </a:r>
            <a:r>
              <a:rPr lang="en-US" sz="750" dirty="0">
                <a:solidFill>
                  <a:srgbClr val="9ECBFF"/>
                </a:solidFill>
                <a:latin typeface="Courier New" pitchFamily="34" charset="0"/>
                <a:ea typeface="Courier New" pitchFamily="34" charset="-122"/>
                <a:cs typeface="Courier New" pitchFamily="34" charset="-120"/>
              </a:rPr>
              <a:t>'A2'</a:t>
            </a:r>
            <a:r>
              <a:rPr lang="en-US" sz="750" dirty="0">
                <a:solidFill>
                  <a:srgbClr val="E6EDF3"/>
                </a:solidFill>
                <a:latin typeface="Courier New" pitchFamily="34" charset="0"/>
                <a:ea typeface="Courier New" pitchFamily="34" charset="-122"/>
                <a:cs typeface="Courier New" pitchFamily="34" charset="-120"/>
              </a:rPr>
              <a:t>, </a:t>
            </a:r>
            <a:r>
              <a:rPr lang="en-US" sz="750" dirty="0">
                <a:solidFill>
                  <a:srgbClr val="9ECBFF"/>
                </a:solidFill>
                <a:latin typeface="Courier New" pitchFamily="34" charset="0"/>
                <a:ea typeface="Courier New" pitchFamily="34" charset="-122"/>
                <a:cs typeface="Courier New" pitchFamily="34" charset="-120"/>
              </a:rPr>
              <a:t>'A3'</a:t>
            </a:r>
            <a:r>
              <a:rPr lang="en-US" sz="750" dirty="0">
                <a:solidFill>
                  <a:srgbClr val="E6EDF3"/>
                </a:solidFill>
                <a:latin typeface="Courier New" pitchFamily="34" charset="0"/>
                <a:ea typeface="Courier New" pitchFamily="34" charset="-122"/>
                <a:cs typeface="Courier New" pitchFamily="34" charset="-120"/>
              </a:rPr>
              <a:t>)</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w = pypdf.PdfWriter(); w.append(io.BytesIO(three))</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w.merge(</a:t>
            </a:r>
            <a:r>
              <a:rPr lang="en-US" sz="750" dirty="0">
                <a:solidFill>
                  <a:srgbClr val="FFD28A"/>
                </a:solidFill>
                <a:latin typeface="Courier New" pitchFamily="34" charset="0"/>
                <a:ea typeface="Courier New" pitchFamily="34" charset="-122"/>
                <a:cs typeface="Courier New" pitchFamily="34" charset="-120"/>
              </a:rPr>
              <a:t>1</a:t>
            </a:r>
            <a:r>
              <a:rPr lang="en-US" sz="750" dirty="0">
                <a:solidFill>
                  <a:srgbClr val="E6EDF3"/>
                </a:solidFill>
                <a:latin typeface="Courier New" pitchFamily="34" charset="0"/>
                <a:ea typeface="Courier New" pitchFamily="34" charset="-122"/>
                <a:cs typeface="Courier New" pitchFamily="34" charset="-120"/>
              </a:rPr>
              <a:t>, io.BytesIO(six), pages=(</a:t>
            </a:r>
            <a:r>
              <a:rPr lang="en-US" sz="750" dirty="0">
                <a:solidFill>
                  <a:srgbClr val="FFD28A"/>
                </a:solidFill>
                <a:latin typeface="Courier New" pitchFamily="34" charset="0"/>
                <a:ea typeface="Courier New" pitchFamily="34" charset="-122"/>
                <a:cs typeface="Courier New" pitchFamily="34" charset="-120"/>
              </a:rPr>
              <a:t>0</a:t>
            </a:r>
            <a:r>
              <a:rPr lang="en-US" sz="750" dirty="0">
                <a:solidFill>
                  <a:srgbClr val="E6EDF3"/>
                </a:solidFill>
                <a:latin typeface="Courier New" pitchFamily="34" charset="0"/>
                <a:ea typeface="Courier New" pitchFamily="34" charset="-122"/>
                <a:cs typeface="Courier New" pitchFamily="34" charset="-120"/>
              </a:rPr>
              <a:t>, </a:t>
            </a:r>
            <a:r>
              <a:rPr lang="en-US" sz="750" dirty="0">
                <a:solidFill>
                  <a:srgbClr val="FFD28A"/>
                </a:solidFill>
                <a:latin typeface="Courier New" pitchFamily="34" charset="0"/>
                <a:ea typeface="Courier New" pitchFamily="34" charset="-122"/>
                <a:cs typeface="Courier New" pitchFamily="34" charset="-120"/>
              </a:rPr>
              <a:t>2</a:t>
            </a:r>
            <a:r>
              <a:rPr lang="en-US" sz="750" dirty="0">
                <a:solidFill>
                  <a:srgbClr val="E6EDF3"/>
                </a:solidFill>
                <a:latin typeface="Courier New" pitchFamily="34" charset="0"/>
                <a:ea typeface="Courier New" pitchFamily="34" charset="-122"/>
                <a:cs typeface="Courier New" pitchFamily="34" charset="-120"/>
              </a:rPr>
              <a:t>))</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print(</a:t>
            </a:r>
            <a:r>
              <a:rPr lang="en-US" sz="750" dirty="0">
                <a:solidFill>
                  <a:srgbClr val="9ECBFF"/>
                </a:solidFill>
                <a:latin typeface="Courier New" pitchFamily="34" charset="0"/>
                <a:ea typeface="Courier New" pitchFamily="34" charset="-122"/>
                <a:cs typeface="Courier New" pitchFamily="34" charset="-120"/>
              </a:rPr>
              <a:t>'merge(1, file, pages=(0, 2)) -&gt;'</a:t>
            </a:r>
            <a:r>
              <a:rPr lang="en-US" sz="750" dirty="0">
                <a:solidFill>
                  <a:srgbClr val="E6EDF3"/>
                </a:solidFill>
                <a:latin typeface="Courier New" pitchFamily="34" charset="0"/>
                <a:ea typeface="Courier New" pitchFamily="34" charset="-122"/>
                <a:cs typeface="Courier New" pitchFamily="34" charset="-120"/>
              </a:rPr>
              <a:t>, texts(w))</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w = pypdf.PdfWriter(); w.append(io.BytesIO(three))</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w.merge(</a:t>
            </a:r>
            <a:r>
              <a:rPr lang="en-US" sz="750" dirty="0">
                <a:solidFill>
                  <a:srgbClr val="FFD28A"/>
                </a:solidFill>
                <a:latin typeface="Courier New" pitchFamily="34" charset="0"/>
                <a:ea typeface="Courier New" pitchFamily="34" charset="-122"/>
                <a:cs typeface="Courier New" pitchFamily="34" charset="-120"/>
              </a:rPr>
              <a:t>1</a:t>
            </a:r>
            <a:r>
              <a:rPr lang="en-US" sz="750" dirty="0">
                <a:solidFill>
                  <a:srgbClr val="E6EDF3"/>
                </a:solidFill>
                <a:latin typeface="Courier New" pitchFamily="34" charset="0"/>
                <a:ea typeface="Courier New" pitchFamily="34" charset="-122"/>
                <a:cs typeface="Courier New" pitchFamily="34" charset="-120"/>
              </a:rPr>
              <a:t>, io.BytesIO(six), (</a:t>
            </a:r>
            <a:r>
              <a:rPr lang="en-US" sz="750" dirty="0">
                <a:solidFill>
                  <a:srgbClr val="FFD28A"/>
                </a:solidFill>
                <a:latin typeface="Courier New" pitchFamily="34" charset="0"/>
                <a:ea typeface="Courier New" pitchFamily="34" charset="-122"/>
                <a:cs typeface="Courier New" pitchFamily="34" charset="-120"/>
              </a:rPr>
              <a:t>0</a:t>
            </a:r>
            <a:r>
              <a:rPr lang="en-US" sz="750" dirty="0">
                <a:solidFill>
                  <a:srgbClr val="E6EDF3"/>
                </a:solidFill>
                <a:latin typeface="Courier New" pitchFamily="34" charset="0"/>
                <a:ea typeface="Courier New" pitchFamily="34" charset="-122"/>
                <a:cs typeface="Courier New" pitchFamily="34" charset="-120"/>
              </a:rPr>
              <a:t>, </a:t>
            </a:r>
            <a:r>
              <a:rPr lang="en-US" sz="750" dirty="0">
                <a:solidFill>
                  <a:srgbClr val="FFD28A"/>
                </a:solidFill>
                <a:latin typeface="Courier New" pitchFamily="34" charset="0"/>
                <a:ea typeface="Courier New" pitchFamily="34" charset="-122"/>
                <a:cs typeface="Courier New" pitchFamily="34" charset="-120"/>
              </a:rPr>
              <a:t>2</a:t>
            </a:r>
            <a:r>
              <a:rPr lang="en-US" sz="750" dirty="0">
                <a:solidFill>
                  <a:srgbClr val="E6EDF3"/>
                </a:solidFill>
                <a:latin typeface="Courier New" pitchFamily="34" charset="0"/>
                <a:ea typeface="Courier New" pitchFamily="34" charset="-122"/>
                <a:cs typeface="Courier New" pitchFamily="34" charset="-120"/>
              </a:rPr>
              <a:t>))                  </a:t>
            </a:r>
            <a:r>
              <a:rPr lang="en-US" sz="750" i="1" dirty="0">
                <a:solidFill>
                  <a:srgbClr val="8FA98F"/>
                </a:solidFill>
                <a:latin typeface="Courier New" pitchFamily="34" charset="0"/>
                <a:ea typeface="Courier New" pitchFamily="34" charset="-122"/>
                <a:cs typeface="Courier New" pitchFamily="34" charset="-120"/>
              </a:rPr>
              <a:t># as the chapter writes it</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print(</a:t>
            </a:r>
            <a:r>
              <a:rPr lang="en-US" sz="750" dirty="0">
                <a:solidFill>
                  <a:srgbClr val="9ECBFF"/>
                </a:solidFill>
                <a:latin typeface="Courier New" pitchFamily="34" charset="0"/>
                <a:ea typeface="Courier New" pitchFamily="34" charset="-122"/>
                <a:cs typeface="Courier New" pitchFamily="34" charset="-120"/>
              </a:rPr>
              <a:t>'merge(1, file, (0, 2)) -&gt;'</a:t>
            </a:r>
            <a:r>
              <a:rPr lang="en-US" sz="750" dirty="0">
                <a:solidFill>
                  <a:srgbClr val="E6EDF3"/>
                </a:solidFill>
                <a:latin typeface="Courier New" pitchFamily="34" charset="0"/>
                <a:ea typeface="Courier New" pitchFamily="34" charset="-122"/>
                <a:cs typeface="Courier New" pitchFamily="34" charset="-120"/>
              </a:rPr>
              <a:t>, len(w.pages), </a:t>
            </a:r>
            <a:r>
              <a:rPr lang="en-US" sz="750" dirty="0">
                <a:solidFill>
                  <a:srgbClr val="9ECBFF"/>
                </a:solidFill>
                <a:latin typeface="Courier New" pitchFamily="34" charset="0"/>
                <a:ea typeface="Courier New" pitchFamily="34" charset="-122"/>
                <a:cs typeface="Courier New" pitchFamily="34" charset="-120"/>
              </a:rPr>
              <a:t>'pages; bookmark titles'</a:t>
            </a:r>
            <a:r>
              <a:rPr lang="en-US" sz="750" dirty="0">
                <a:solidFill>
                  <a:srgbClr val="E6EDF3"/>
                </a:solidFill>
                <a:latin typeface="Courier New" pitchFamily="34" charset="0"/>
                <a:ea typeface="Courier New" pitchFamily="34" charset="-122"/>
                <a:cs typeface="Courier New" pitchFamily="34" charset="-120"/>
              </a:rPr>
              <a:t>,</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      [o[</a:t>
            </a:r>
            <a:r>
              <a:rPr lang="en-US" sz="750" dirty="0">
                <a:solidFill>
                  <a:srgbClr val="9ECBFF"/>
                </a:solidFill>
                <a:latin typeface="Courier New" pitchFamily="34" charset="0"/>
                <a:ea typeface="Courier New" pitchFamily="34" charset="-122"/>
                <a:cs typeface="Courier New" pitchFamily="34" charset="-120"/>
              </a:rPr>
              <a:t>'/Title'</a:t>
            </a:r>
            <a:r>
              <a:rPr lang="en-US" sz="750" dirty="0">
                <a:solidFill>
                  <a:srgbClr val="E6EDF3"/>
                </a:solidFill>
                <a:latin typeface="Courier New" pitchFamily="34" charset="0"/>
                <a:ea typeface="Courier New" pitchFamily="34" charset="-122"/>
                <a:cs typeface="Courier New" pitchFamily="34" charset="-120"/>
              </a:rPr>
              <a:t>] </a:t>
            </a:r>
            <a:r>
              <a:rPr lang="en-US" sz="750" b="1" dirty="0">
                <a:solidFill>
                  <a:srgbClr val="F2A860"/>
                </a:solidFill>
                <a:latin typeface="Courier New" pitchFamily="34" charset="0"/>
                <a:ea typeface="Courier New" pitchFamily="34" charset="-122"/>
                <a:cs typeface="Courier New" pitchFamily="34" charset="-120"/>
              </a:rPr>
              <a:t>for</a:t>
            </a:r>
            <a:r>
              <a:rPr lang="en-US" sz="750" dirty="0">
                <a:solidFill>
                  <a:srgbClr val="E6EDF3"/>
                </a:solidFill>
                <a:latin typeface="Courier New" pitchFamily="34" charset="0"/>
                <a:ea typeface="Courier New" pitchFamily="34" charset="-122"/>
                <a:cs typeface="Courier New" pitchFamily="34" charset="-120"/>
              </a:rPr>
              <a:t> o </a:t>
            </a:r>
            <a:r>
              <a:rPr lang="en-US" sz="750" b="1" dirty="0">
                <a:solidFill>
                  <a:srgbClr val="F2A860"/>
                </a:solidFill>
                <a:latin typeface="Courier New" pitchFamily="34" charset="0"/>
                <a:ea typeface="Courier New" pitchFamily="34" charset="-122"/>
                <a:cs typeface="Courier New" pitchFamily="34" charset="-120"/>
              </a:rPr>
              <a:t>in</a:t>
            </a:r>
            <a:r>
              <a:rPr lang="en-US" sz="750" dirty="0">
                <a:solidFill>
                  <a:srgbClr val="E6EDF3"/>
                </a:solidFill>
                <a:latin typeface="Courier New" pitchFamily="34" charset="0"/>
                <a:ea typeface="Courier New" pitchFamily="34" charset="-122"/>
                <a:cs typeface="Courier New" pitchFamily="34" charset="-120"/>
              </a:rPr>
              <a:t> w.outline])</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prints </a:t>
            </a:r>
            <a:r>
              <a:rPr lang="en-US" sz="750" dirty="0">
                <a:solidFill>
                  <a:srgbClr val="7EE787"/>
                </a:solidFill>
                <a:latin typeface="Courier New" pitchFamily="34" charset="0"/>
                <a:ea typeface="Courier New" pitchFamily="34" charset="-122"/>
                <a:cs typeface="Courier New" pitchFamily="34" charset="-120"/>
              </a:rPr>
              <a:t>append (0, 5) -&gt; ['Page 1', 'Page 2', 'Page 3', 'Page 4', 'Page 5']</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append (0, 5, 2) -&gt; ['Page 1', 'Page 3', 'Page 5']</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append [0, 5] -&gt; ['Page 1', 'Page 6']</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merge(1, file, pages=(0, 2)) -&gt; ['A1', 'Page 1', 'Page 2', 'A2', 'A3']</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merge(1, file, (0, 2)) -&gt; 9 pages; bookmark titles ['(0, 2)']</a:t>
            </a:r>
            <a:endParaRPr lang="en-US" sz="750" dirty="0"/>
          </a:p>
        </p:txBody>
      </p:sp>
      <p:sp>
        <p:nvSpPr>
          <p:cNvPr id="9" name="Shape 7"/>
          <p:cNvSpPr/>
          <p:nvPr/>
        </p:nvSpPr>
        <p:spPr>
          <a:xfrm>
            <a:off x="5943600" y="1371600"/>
            <a:ext cx="2743200" cy="1188720"/>
          </a:xfrm>
          <a:prstGeom prst="roundRect">
            <a:avLst>
              <a:gd name="adj" fmla="val 7692"/>
            </a:avLst>
          </a:prstGeom>
          <a:solidFill>
            <a:srgbClr val="F2ECE1"/>
          </a:solidFill>
          <a:ln w="12700">
            <a:solidFill>
              <a:srgbClr val="F2ECE1"/>
            </a:solidFill>
            <a:prstDash val="solid"/>
          </a:ln>
        </p:spPr>
      </p:sp>
      <p:sp>
        <p:nvSpPr>
          <p:cNvPr id="10" name="Text 8"/>
          <p:cNvSpPr txBox="1"/>
          <p:nvPr/>
        </p:nvSpPr>
        <p:spPr>
          <a:xfrm>
            <a:off x="6126480" y="1490472"/>
            <a:ext cx="2377440" cy="347472"/>
          </a:xfrm>
          <a:prstGeom prst="rect">
            <a:avLst/>
          </a:prstGeom>
          <a:noFill/>
          <a:ln/>
        </p:spPr>
        <p:txBody>
          <a:bodyPr wrap="square" lIns="0" tIns="0" rIns="0" bIns="0" rtlCol="0" anchor="ctr"/>
          <a:lstStyle/>
          <a:p>
            <a:pPr indent="0" marL="0">
              <a:buNone/>
            </a:pPr>
            <a:r>
              <a:rPr lang="en-US" sz="1600" b="1" dirty="0">
                <a:solidFill>
                  <a:srgbClr val="2F6D62"/>
                </a:solidFill>
                <a:latin typeface="Cambria" pitchFamily="34" charset="0"/>
                <a:ea typeface="Cambria" pitchFamily="34" charset="-122"/>
                <a:cs typeface="Cambria" pitchFamily="34" charset="-120"/>
              </a:rPr>
              <a:t>A tuple is a range</a:t>
            </a:r>
            <a:endParaRPr lang="en-US" sz="1600" dirty="0"/>
          </a:p>
        </p:txBody>
      </p:sp>
      <p:sp>
        <p:nvSpPr>
          <p:cNvPr id="11" name="Text 9"/>
          <p:cNvSpPr txBox="1"/>
          <p:nvPr/>
        </p:nvSpPr>
        <p:spPr>
          <a:xfrm>
            <a:off x="6126480" y="1874520"/>
            <a:ext cx="2377440" cy="548640"/>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(0, 5) copies five pages, (0, 5, 2) every second one, [0, 5] exactly two. A page past the end raises IndexError.</a:t>
            </a:r>
            <a:endParaRPr lang="en-US" sz="950" dirty="0"/>
          </a:p>
        </p:txBody>
      </p:sp>
      <p:sp>
        <p:nvSpPr>
          <p:cNvPr id="12" name="Shape 10"/>
          <p:cNvSpPr/>
          <p:nvPr/>
        </p:nvSpPr>
        <p:spPr>
          <a:xfrm>
            <a:off x="5943600" y="2651760"/>
            <a:ext cx="2743200" cy="1280160"/>
          </a:xfrm>
          <a:prstGeom prst="roundRect">
            <a:avLst>
              <a:gd name="adj" fmla="val 7143"/>
            </a:avLst>
          </a:prstGeom>
          <a:solidFill>
            <a:srgbClr val="F2ECE1"/>
          </a:solidFill>
          <a:ln w="12700">
            <a:solidFill>
              <a:srgbClr val="F2ECE1"/>
            </a:solidFill>
            <a:prstDash val="solid"/>
          </a:ln>
        </p:spPr>
      </p:sp>
      <p:sp>
        <p:nvSpPr>
          <p:cNvPr id="13" name="Text 11"/>
          <p:cNvSpPr txBox="1"/>
          <p:nvPr/>
        </p:nvSpPr>
        <p:spPr>
          <a:xfrm>
            <a:off x="6126480" y="2770632"/>
            <a:ext cx="2377440" cy="347472"/>
          </a:xfrm>
          <a:prstGeom prst="rect">
            <a:avLst/>
          </a:prstGeom>
          <a:noFill/>
          <a:ln/>
        </p:spPr>
        <p:txBody>
          <a:bodyPr wrap="square" lIns="0" tIns="0" rIns="0" bIns="0" rtlCol="0" anchor="ctr"/>
          <a:lstStyle/>
          <a:p>
            <a:pPr indent="0" marL="0">
              <a:buNone/>
            </a:pPr>
            <a:r>
              <a:rPr lang="en-US" sz="1600" b="1" dirty="0">
                <a:solidFill>
                  <a:srgbClr val="D97A14"/>
                </a:solidFill>
                <a:latin typeface="Cambria" pitchFamily="34" charset="0"/>
                <a:ea typeface="Cambria" pitchFamily="34" charset="-122"/>
                <a:cs typeface="Cambria" pitchFamily="34" charset="-120"/>
              </a:rPr>
              <a:t>The merge() trap</a:t>
            </a:r>
            <a:endParaRPr lang="en-US" sz="1600" dirty="0"/>
          </a:p>
        </p:txBody>
      </p:sp>
      <p:sp>
        <p:nvSpPr>
          <p:cNvPr id="14" name="Text 12"/>
          <p:cNvSpPr txBox="1"/>
          <p:nvPr/>
        </p:nvSpPr>
        <p:spPr>
          <a:xfrm>
            <a:off x="6126480" y="3154680"/>
            <a:ext cx="2377440" cy="640080"/>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The chapter's line inserts the whole file: the tuple became a bookmark title. Write pages=(0, 2).</a:t>
            </a:r>
            <a:endParaRPr lang="en-US" sz="950" dirty="0"/>
          </a:p>
        </p:txBody>
      </p:sp>
      <p:sp>
        <p:nvSpPr>
          <p:cNvPr id="15" name="Text 13"/>
          <p:cNvSpPr txBox="1"/>
          <p:nvPr/>
        </p:nvSpPr>
        <p:spPr>
          <a:xfrm>
            <a:off x="5943600" y="4005072"/>
            <a:ext cx="2743200" cy="557784"/>
          </a:xfrm>
          <a:prstGeom prst="rect">
            <a:avLst/>
          </a:prstGeom>
          <a:noFill/>
          <a:ln/>
        </p:spPr>
        <p:txBody>
          <a:bodyPr wrap="square" lIns="0" tIns="0" rIns="0" bIns="0" rtlCol="0" anchor="t"/>
          <a:lstStyle/>
          <a:p>
            <a:pPr indent="0" marL="0">
              <a:buNone/>
            </a:pPr>
            <a:r>
              <a:rPr lang="en-US" sz="850" i="1" dirty="0">
                <a:solidFill>
                  <a:srgbClr val="6E655C"/>
                </a:solidFill>
                <a:latin typeface="Calibri" pitchFamily="34" charset="0"/>
                <a:ea typeface="Calibri" pitchFamily="34" charset="-122"/>
                <a:cs typeface="Calibri" pitchFamily="34" charset="-120"/>
              </a:rPr>
              <a:t>Lines 1 to 18 of the program (the helper make_pdf(), which writes a small valid PDF 1.4 of text pages byte by byte, and the imports) are not shown.</a:t>
            </a:r>
            <a:endParaRPr lang="en-US" sz="850" dirty="0"/>
          </a:p>
        </p:txBody>
      </p:sp>
      <p:sp>
        <p:nvSpPr>
          <p:cNvPr id="16" name="Shape 14"/>
          <p:cNvSpPr/>
          <p:nvPr/>
        </p:nvSpPr>
        <p:spPr>
          <a:xfrm>
            <a:off x="457200" y="4636008"/>
            <a:ext cx="91440" cy="310896"/>
          </a:xfrm>
          <a:prstGeom prst="rect">
            <a:avLst/>
          </a:prstGeom>
          <a:solidFill>
            <a:srgbClr val="D97A14"/>
          </a:solidFill>
          <a:ln w="12700">
            <a:solidFill>
              <a:srgbClr val="D97A14"/>
            </a:solidFill>
            <a:prstDash val="solid"/>
          </a:ln>
        </p:spPr>
      </p:sp>
      <p:sp>
        <p:nvSpPr>
          <p:cNvPr id="17" name="Text 1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Write pages=(0, 2) for merge(); a bare tuple becomes a bookmark title.</a:t>
            </a:r>
            <a:endParaRPr lang="en-US" sz="1350" dirty="0"/>
          </a:p>
        </p:txBody>
      </p:sp>
      <p:sp>
        <p:nvSpPr>
          <p:cNvPr id="18"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10 / 26</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Rotate, blank pages and a watermark</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Rotations add up, a blank page copies a neighbour's size, over=False lays under</a:t>
            </a:r>
            <a:endParaRPr lang="en-US" sz="1300" dirty="0"/>
          </a:p>
        </p:txBody>
      </p:sp>
      <p:sp>
        <p:nvSpPr>
          <p:cNvPr id="6" name="Text 4"/>
          <p:cNvSpPr txBox="1"/>
          <p:nvPr/>
        </p:nvSpPr>
        <p:spPr>
          <a:xfrm>
            <a:off x="457200" y="1143000"/>
            <a:ext cx="4754880"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program rotateBlankWatermarkCut_v1_0_0.py, lines 20 to 36 of 36</a:t>
            </a:r>
            <a:endParaRPr lang="en-US" sz="1000" dirty="0"/>
          </a:p>
        </p:txBody>
      </p:sp>
      <p:sp>
        <p:nvSpPr>
          <p:cNvPr id="7" name="Shape 5"/>
          <p:cNvSpPr/>
          <p:nvPr/>
        </p:nvSpPr>
        <p:spPr>
          <a:xfrm>
            <a:off x="457200" y="1417320"/>
            <a:ext cx="4754880" cy="3063240"/>
          </a:xfrm>
          <a:prstGeom prst="roundRect">
            <a:avLst>
              <a:gd name="adj" fmla="val 2985"/>
            </a:avLst>
          </a:prstGeom>
          <a:solidFill>
            <a:srgbClr val="23272E"/>
          </a:solidFill>
          <a:ln w="12700">
            <a:solidFill>
              <a:srgbClr val="23272E"/>
            </a:solidFill>
            <a:prstDash val="solid"/>
          </a:ln>
        </p:spPr>
      </p:sp>
      <p:sp>
        <p:nvSpPr>
          <p:cNvPr id="8" name="Text 6"/>
          <p:cNvSpPr txBox="1"/>
          <p:nvPr/>
        </p:nvSpPr>
        <p:spPr>
          <a:xfrm>
            <a:off x="640080" y="1536192"/>
            <a:ext cx="4389120" cy="2825496"/>
          </a:xfrm>
          <a:prstGeom prst="rect">
            <a:avLst/>
          </a:prstGeom>
          <a:noFill/>
          <a:ln/>
        </p:spPr>
        <p:txBody>
          <a:bodyPr wrap="square" lIns="0" tIns="0" rIns="0" bIns="0" rtlCol="0" anchor="t"/>
          <a:lstStyle/>
          <a:p>
            <a:pPr indent="0" marL="0">
              <a:buNone/>
            </a:pPr>
            <a:r>
              <a:rPr lang="en-US" sz="700" dirty="0">
                <a:solidFill>
                  <a:srgbClr val="E6EDF3"/>
                </a:solidFill>
                <a:latin typeface="Courier New" pitchFamily="34" charset="0"/>
                <a:ea typeface="Courier New" pitchFamily="34" charset="-122"/>
                <a:cs typeface="Courier New" pitchFamily="34" charset="-120"/>
              </a:rPr>
              <a:t>w = pypdf.PdfWriter(); w.append(io.BytesIO(make_pdf(</a:t>
            </a:r>
            <a:r>
              <a:rPr lang="en-US" sz="700" dirty="0">
                <a:solidFill>
                  <a:srgbClr val="9ECBFF"/>
                </a:solidFill>
                <a:latin typeface="Courier New" pitchFamily="34" charset="0"/>
                <a:ea typeface="Courier New" pitchFamily="34" charset="-122"/>
                <a:cs typeface="Courier New" pitchFamily="34" charset="-120"/>
              </a:rPr>
              <a:t>'x'</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page, seen = w.pages[</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 []</a:t>
            </a:r>
            <a:endParaRPr lang="en-US" sz="700" dirty="0"/>
          </a:p>
          <a:p>
            <a:pPr indent="0" marL="0">
              <a:buNone/>
            </a:pP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angle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90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270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90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180</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page.rotate(angle); seen.append(page.rotation)</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'rotation after 90, 270, -90, 180:'</a:t>
            </a:r>
            <a:r>
              <a:rPr lang="en-US" sz="700" dirty="0">
                <a:solidFill>
                  <a:srgbClr val="E6EDF3"/>
                </a:solidFill>
                <a:latin typeface="Courier New" pitchFamily="34" charset="0"/>
                <a:ea typeface="Courier New" pitchFamily="34" charset="-122"/>
                <a:cs typeface="Courier New" pitchFamily="34" charset="-120"/>
              </a:rPr>
              <a:t>, seen)</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w = pypdf.PdfWriter()</a:t>
            </a:r>
            <a:endParaRPr lang="en-US" sz="700" dirty="0"/>
          </a:p>
          <a:p>
            <a:pPr indent="0" marL="0">
              <a:buNone/>
            </a:pP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size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300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400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100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100</a:t>
            </a:r>
            <a:r>
              <a:rPr lang="en-US" sz="700" dirty="0">
                <a:solidFill>
                  <a:srgbClr val="E6EDF3"/>
                </a:solidFill>
                <a:latin typeface="Courier New" pitchFamily="34" charset="0"/>
                <a:ea typeface="Courier New" pitchFamily="34" charset="-122"/>
                <a:cs typeface="Courier New" pitchFamily="34" charset="-120"/>
              </a:rPr>
              <a:t>)): w.add_blank_page(*size)</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w.insert_blank_page(index=</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print([(float(p.mediabox.width), float(p.mediabox.height))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p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w.pages])</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'insert_blank_page(2) is'</a:t>
            </a:r>
            <a:r>
              <a:rPr lang="en-US" sz="700" dirty="0">
                <a:solidFill>
                  <a:srgbClr val="E6EDF3"/>
                </a:solidFill>
                <a:latin typeface="Courier New" pitchFamily="34" charset="0"/>
                <a:ea typeface="Courier New" pitchFamily="34" charset="-122"/>
                <a:cs typeface="Courier New" pitchFamily="34" charset="-120"/>
              </a:rPr>
              <a:t>, float(w.insert_blank_page(</a:t>
            </a:r>
            <a:r>
              <a:rPr lang="en-US" sz="700" dirty="0">
                <a:solidFill>
                  <a:srgbClr val="FFD28A"/>
                </a:solidFill>
                <a:latin typeface="Courier New" pitchFamily="34" charset="0"/>
                <a:ea typeface="Courier New" pitchFamily="34" charset="-122"/>
                <a:cs typeface="Courier New" pitchFamily="34" charset="-120"/>
              </a:rPr>
              <a:t>2</a:t>
            </a:r>
            <a:r>
              <a:rPr lang="en-US" sz="700" dirty="0">
                <a:solidFill>
                  <a:srgbClr val="E6EDF3"/>
                </a:solidFill>
                <a:latin typeface="Courier New" pitchFamily="34" charset="0"/>
                <a:ea typeface="Courier New" pitchFamily="34" charset="-122"/>
                <a:cs typeface="Courier New" pitchFamily="34" charset="-120"/>
              </a:rPr>
              <a:t>).mediabox.width),</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'points wide'</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b="1" dirty="0">
                <a:solidFill>
                  <a:srgbClr val="F2A860"/>
                </a:solidFill>
                <a:latin typeface="Courier New" pitchFamily="34" charset="0"/>
                <a:ea typeface="Courier New" pitchFamily="34" charset="-122"/>
                <a:cs typeface="Courier New" pitchFamily="34" charset="-120"/>
              </a:rPr>
              <a:t>def</a:t>
            </a:r>
            <a:r>
              <a:rPr lang="en-US" sz="700" dirty="0">
                <a:solidFill>
                  <a:srgbClr val="E6EDF3"/>
                </a:solidFill>
                <a:latin typeface="Courier New" pitchFamily="34" charset="0"/>
                <a:ea typeface="Courier New" pitchFamily="34" charset="-122"/>
                <a:cs typeface="Courier New" pitchFamily="34" charset="-120"/>
              </a:rPr>
              <a:t> drawn(over):                       </a:t>
            </a:r>
            <a:r>
              <a:rPr lang="en-US" sz="700" i="1" dirty="0">
                <a:solidFill>
                  <a:srgbClr val="8FA98F"/>
                </a:solidFill>
                <a:latin typeface="Courier New" pitchFamily="34" charset="0"/>
                <a:ea typeface="Courier New" pitchFamily="34" charset="-122"/>
                <a:cs typeface="Courier New" pitchFamily="34" charset="-120"/>
              </a:rPr>
              <a:t># in stream order</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base = one(</a:t>
            </a:r>
            <a:r>
              <a:rPr lang="en-US" sz="700" dirty="0">
                <a:solidFill>
                  <a:srgbClr val="9ECBFF"/>
                </a:solidFill>
                <a:latin typeface="Courier New" pitchFamily="34" charset="0"/>
                <a:ea typeface="Courier New" pitchFamily="34" charset="-122"/>
                <a:cs typeface="Courier New" pitchFamily="34" charset="-120"/>
              </a:rPr>
              <a:t>'BASE'</a:t>
            </a:r>
            <a:r>
              <a:rPr lang="en-US" sz="700" dirty="0">
                <a:solidFill>
                  <a:srgbClr val="E6EDF3"/>
                </a:solidFill>
                <a:latin typeface="Courier New" pitchFamily="34" charset="0"/>
                <a:ea typeface="Courier New" pitchFamily="34" charset="-122"/>
                <a:cs typeface="Courier New" pitchFamily="34" charset="-120"/>
              </a:rPr>
              <a:t>); base.merge_page(one(</a:t>
            </a:r>
            <a:r>
              <a:rPr lang="en-US" sz="700" dirty="0">
                <a:solidFill>
                  <a:srgbClr val="9ECBFF"/>
                </a:solidFill>
                <a:latin typeface="Courier New" pitchFamily="34" charset="0"/>
                <a:ea typeface="Courier New" pitchFamily="34" charset="-122"/>
                <a:cs typeface="Courier New" pitchFamily="34" charset="-120"/>
              </a:rPr>
              <a:t>'MARK'</a:t>
            </a:r>
            <a:r>
              <a:rPr lang="en-US" sz="700" dirty="0">
                <a:solidFill>
                  <a:srgbClr val="E6EDF3"/>
                </a:solidFill>
                <a:latin typeface="Courier New" pitchFamily="34" charset="0"/>
                <a:ea typeface="Courier New" pitchFamily="34" charset="-122"/>
                <a:cs typeface="Courier New" pitchFamily="34" charset="-120"/>
              </a:rPr>
              <a:t>), over=over)</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return</a:t>
            </a:r>
            <a:r>
              <a:rPr lang="en-US" sz="700" dirty="0">
                <a:solidFill>
                  <a:srgbClr val="E6EDF3"/>
                </a:solidFill>
                <a:latin typeface="Courier New" pitchFamily="34" charset="0"/>
                <a:ea typeface="Courier New" pitchFamily="34" charset="-122"/>
                <a:cs typeface="Courier New" pitchFamily="34" charset="-120"/>
              </a:rPr>
              <a:t> re.findall(rb</a:t>
            </a:r>
            <a:r>
              <a:rPr lang="en-US" sz="700" dirty="0">
                <a:solidFill>
                  <a:srgbClr val="9ECBFF"/>
                </a:solidFill>
                <a:latin typeface="Courier New" pitchFamily="34" charset="0"/>
                <a:ea typeface="Courier New" pitchFamily="34" charset="-122"/>
                <a:cs typeface="Courier New" pitchFamily="34" charset="-120"/>
              </a:rPr>
              <a:t>'\((\w+)\) Tj'</a:t>
            </a:r>
            <a:r>
              <a:rPr lang="en-US" sz="700" dirty="0">
                <a:solidFill>
                  <a:srgbClr val="E6EDF3"/>
                </a:solidFill>
                <a:latin typeface="Courier New" pitchFamily="34" charset="0"/>
                <a:ea typeface="Courier New" pitchFamily="34" charset="-122"/>
                <a:cs typeface="Courier New" pitchFamily="34" charset="-120"/>
              </a:rPr>
              <a:t>, base.get_contents().get_data())</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'merge_page(over=False) draws'</a:t>
            </a:r>
            <a:r>
              <a:rPr lang="en-US" sz="700" dirty="0">
                <a:solidFill>
                  <a:srgbClr val="E6EDF3"/>
                </a:solidFill>
                <a:latin typeface="Courier New" pitchFamily="34" charset="0"/>
                <a:ea typeface="Courier New" pitchFamily="34" charset="-122"/>
                <a:cs typeface="Courier New" pitchFamily="34" charset="-120"/>
              </a:rPr>
              <a:t>, drawn(</a:t>
            </a:r>
            <a:r>
              <a:rPr lang="en-US" sz="700" b="1" dirty="0">
                <a:solidFill>
                  <a:srgbClr val="F2A860"/>
                </a:solidFill>
                <a:latin typeface="Courier New" pitchFamily="34" charset="0"/>
                <a:ea typeface="Courier New" pitchFamily="34" charset="-122"/>
                <a:cs typeface="Courier New" pitchFamily="34" charset="-120"/>
              </a:rPr>
              <a:t>False</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'merge_page(over=True) draws'</a:t>
            </a:r>
            <a:r>
              <a:rPr lang="en-US" sz="700" dirty="0">
                <a:solidFill>
                  <a:srgbClr val="E6EDF3"/>
                </a:solidFill>
                <a:latin typeface="Courier New" pitchFamily="34" charset="0"/>
                <a:ea typeface="Courier New" pitchFamily="34" charset="-122"/>
                <a:cs typeface="Courier New" pitchFamily="34" charset="-120"/>
              </a:rPr>
              <a:t>, drawn(</a:t>
            </a:r>
            <a:r>
              <a:rPr lang="en-US" sz="700" b="1" dirty="0">
                <a:solidFill>
                  <a:srgbClr val="F2A860"/>
                </a:solidFill>
                <a:latin typeface="Courier New" pitchFamily="34" charset="0"/>
                <a:ea typeface="Courier New" pitchFamily="34" charset="-122"/>
                <a:cs typeface="Courier New" pitchFamily="34" charset="-120"/>
              </a:rPr>
              <a:t>True</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b="1" dirty="0">
                <a:solidFill>
                  <a:srgbClr val="D97A14"/>
                </a:solidFill>
                <a:latin typeface="Courier New" pitchFamily="34" charset="0"/>
                <a:ea typeface="Courier New" pitchFamily="34" charset="-122"/>
                <a:cs typeface="Courier New" pitchFamily="34" charset="-120"/>
              </a:rPr>
              <a:t>prints </a:t>
            </a:r>
            <a:r>
              <a:rPr lang="en-US" sz="700" dirty="0">
                <a:solidFill>
                  <a:srgbClr val="7EE787"/>
                </a:solidFill>
                <a:latin typeface="Courier New" pitchFamily="34" charset="0"/>
                <a:ea typeface="Courier New" pitchFamily="34" charset="-122"/>
                <a:cs typeface="Courier New" pitchFamily="34" charset="-120"/>
              </a:rPr>
              <a:t>rotation after 90, 270, -90, 180: [90, 360, 270, 450]</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[(300.0, 400.0), (100.0, 100.0), (100.0, 100.0)]</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insert_blank_page(2) is 2.0 points wide</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merge_page(over=False) draws [b'MARK', b'BASE']</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merge_page(over=True) draws [b'BASE', b'MARK']</a:t>
            </a:r>
            <a:endParaRPr lang="en-US" sz="700" dirty="0"/>
          </a:p>
        </p:txBody>
      </p:sp>
      <p:graphicFrame>
        <p:nvGraphicFramePr>
          <p:cNvPr id="9" name="Chart 0" descr=""/>
          <p:cNvGraphicFramePr/>
          <p:nvPr/>
        </p:nvGraphicFramePr>
        <p:xfrm>
          <a:off x="5440680" y="1325880"/>
          <a:ext cx="3246120" cy="2240280"/>
        </p:xfrm>
        <a:graphic xmlns:a="http://schemas.openxmlformats.org/drawingml/2006/main">
          <a:graphicData uri="http://schemas.openxmlformats.org/drawingml/2006/chart">
            <c:chart xmlns:c="http://schemas.openxmlformats.org/drawingml/2006/chart" r:id="rId1"/>
          </a:graphicData>
        </a:graphic>
      </p:graphicFrame>
      <p:sp>
        <p:nvSpPr>
          <p:cNvPr id="10" name="Text 7"/>
          <p:cNvSpPr txBox="1"/>
          <p:nvPr/>
        </p:nvSpPr>
        <p:spPr>
          <a:xfrm>
            <a:off x="5440680" y="3611880"/>
            <a:ext cx="3246120" cy="685800"/>
          </a:xfrm>
          <a:prstGeom prst="rect">
            <a:avLst/>
          </a:prstGeom>
          <a:noFill/>
          <a:ln/>
        </p:spPr>
        <p:txBody>
          <a:bodyPr wrap="square" lIns="0" tIns="0" rIns="0" bIns="0" rtlCol="0" anchor="t"/>
          <a:lstStyle/>
          <a:p>
            <a:pPr indent="0" marL="0">
              <a:buNone/>
            </a:pPr>
            <a:r>
              <a:rPr lang="en-US" sz="850" i="1" dirty="0">
                <a:solidFill>
                  <a:srgbClr val="6E655C"/>
                </a:solidFill>
                <a:latin typeface="Calibri" pitchFamily="34" charset="0"/>
                <a:ea typeface="Calibri" pitchFamily="34" charset="-122"/>
                <a:cs typeface="Calibri" pitchFamily="34" charset="-120"/>
              </a:rPr>
              <a:t>The chart is computed: the stored rotation after rotate(90), rotate(270), rotate(-90) and rotate(180). Lines 1 to 19 of the program (the helper make_pdf(), which writes a small valid PDF 1.4 of text pages byte by byte, and the imports) are not shown.</a:t>
            </a:r>
            <a:endParaRPr lang="en-US" sz="850" dirty="0"/>
          </a:p>
        </p:txBody>
      </p:sp>
      <p:sp>
        <p:nvSpPr>
          <p:cNvPr id="11" name="Shape 8"/>
          <p:cNvSpPr/>
          <p:nvPr/>
        </p:nvSpPr>
        <p:spPr>
          <a:xfrm>
            <a:off x="457200" y="4636008"/>
            <a:ext cx="91440" cy="310896"/>
          </a:xfrm>
          <a:prstGeom prst="rect">
            <a:avLst/>
          </a:prstGeom>
          <a:solidFill>
            <a:srgbClr val="D97A14"/>
          </a:solidFill>
          <a:ln w="12700">
            <a:solidFill>
              <a:srgbClr val="D97A14"/>
            </a:solidFill>
            <a:prstDash val="solid"/>
          </a:ln>
        </p:spPr>
      </p:sp>
      <p:sp>
        <p:nvSpPr>
          <p:cNvPr id="12" name="Text 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Rotation keeps adding up, and insert_blank_page(2) sets a width.</a:t>
            </a:r>
            <a:endParaRPr lang="en-US" sz="1350" dirty="0"/>
          </a:p>
        </p:txBody>
      </p:sp>
      <p:sp>
        <p:nvSpPr>
          <p:cNvPr id="13" name="Text 1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11 / 26</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Encrypt: RC4 is the default</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encrypt() without an algorithm writes RC4; the chapter shows only AES-256</a:t>
            </a:r>
            <a:endParaRPr lang="en-US" sz="13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4572000" cy="914400"/>
        </p:xfrm>
        <a:graphic>
          <a:graphicData uri="http://schemas.openxmlformats.org/drawingml/2006/table">
            <a:tbl>
              <a:tblPr/>
              <a:tblGrid>
                <a:gridCol w="2103120"/>
                <a:gridCol w="731520"/>
                <a:gridCol w="731520"/>
                <a:gridCol w="1005840"/>
              </a:tblGrid>
              <a:tr h="310896">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encrypt() call</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V</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R</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c>
                  <a:txBody>
                    <a:bodyPr/>
                    <a:lstStyle/>
                    <a:p>
                      <a:pPr indent="0" marL="0">
                        <a:buNone/>
                      </a:pPr>
                      <a:r>
                        <a:rPr lang="en-US" sz="1050" b="1" dirty="0">
                          <a:solidFill>
                            <a:srgbClr val="FFFFFF"/>
                          </a:solidFill>
                          <a:latin typeface="Calibri" pitchFamily="34" charset="0"/>
                          <a:ea typeface="Calibri" pitchFamily="34" charset="-122"/>
                          <a:cs typeface="Calibri" pitchFamily="34" charset="-120"/>
                        </a:rPr>
                        <a:t>Length</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solidFill>
                      <a:srgbClr val="2B2622"/>
                    </a:solidFill>
                  </a:tcPr>
                </a:tc>
              </a:tr>
              <a:tr h="310896">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encrypt('swordfish')</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2</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3</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128</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310896">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algorithm='AES-128'</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4</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4</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128</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r h="310896">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algorithm='AES-256'</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5</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6</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c>
                  <a:txBody>
                    <a:bodyPr/>
                    <a:lstStyle/>
                    <a:p>
                      <a:pPr indent="0" marL="0">
                        <a:buNone/>
                      </a:pPr>
                      <a:r>
                        <a:rPr lang="en-US" sz="1050" dirty="0">
                          <a:solidFill>
                            <a:srgbClr val="2B2622"/>
                          </a:solidFill>
                          <a:latin typeface="Calibri" pitchFamily="34" charset="0"/>
                          <a:ea typeface="Calibri" pitchFamily="34" charset="-122"/>
                          <a:cs typeface="Calibri" pitchFamily="34" charset="-120"/>
                        </a:rPr>
                        <a:t>256</a:t>
                      </a:r>
                      <a:endParaRPr lang="en-US" sz="1050" dirty="0">
                        <a:latin typeface="Calibri" charset="0"/>
                        <a:ea typeface="Calibri" charset="0"/>
                        <a:cs typeface="Calibri" charset="0"/>
                      </a:endParaRPr>
                    </a:p>
                  </a:txBody>
                  <a:tcPr marL="91440" marR="91440" marT="45720" marB="45720" anchor="ctr">
                    <a:lnL w="6350" cap="flat" cmpd="sng" algn="ctr">
                      <a:solidFill>
                        <a:srgbClr val="DFD6C7"/>
                      </a:solidFill>
                      <a:prstDash val="solid"/>
                      <a:round/>
                      <a:headEnd type="none" w="med" len="med"/>
                      <a:tailEnd type="none" w="med" len="med"/>
                    </a:lnL>
                    <a:lnR w="6350" cap="flat" cmpd="sng" algn="ctr">
                      <a:solidFill>
                        <a:srgbClr val="DFD6C7"/>
                      </a:solidFill>
                      <a:prstDash val="solid"/>
                      <a:round/>
                      <a:headEnd type="none" w="med" len="med"/>
                      <a:tailEnd type="none" w="med" len="med"/>
                    </a:lnR>
                    <a:lnT w="6350" cap="flat" cmpd="sng" algn="ctr">
                      <a:solidFill>
                        <a:srgbClr val="DFD6C7"/>
                      </a:solidFill>
                      <a:prstDash val="solid"/>
                      <a:round/>
                      <a:headEnd type="none" w="med" len="med"/>
                      <a:tailEnd type="none" w="med" len="med"/>
                    </a:lnT>
                    <a:lnB w="6350" cap="flat" cmpd="sng" algn="ctr">
                      <a:solidFill>
                        <a:srgbClr val="DFD6C7"/>
                      </a:solidFill>
                      <a:prstDash val="solid"/>
                      <a:round/>
                      <a:headEnd type="none" w="med" len="med"/>
                      <a:tailEnd type="none" w="med" len="med"/>
                    </a:lnB>
                  </a:tcPr>
                </a:tc>
              </a:tr>
            </a:tbl>
          </a:graphicData>
        </a:graphic>
      </p:graphicFrame>
      <p:sp>
        <p:nvSpPr>
          <p:cNvPr id="7" name="Shape 4"/>
          <p:cNvSpPr/>
          <p:nvPr/>
        </p:nvSpPr>
        <p:spPr>
          <a:xfrm>
            <a:off x="457200" y="2834640"/>
            <a:ext cx="4572000" cy="1645920"/>
          </a:xfrm>
          <a:prstGeom prst="roundRect">
            <a:avLst>
              <a:gd name="adj" fmla="val 5556"/>
            </a:avLst>
          </a:prstGeom>
          <a:solidFill>
            <a:srgbClr val="F2ECE1"/>
          </a:solidFill>
          <a:ln w="12700">
            <a:solidFill>
              <a:srgbClr val="F2ECE1"/>
            </a:solidFill>
            <a:prstDash val="solid"/>
          </a:ln>
        </p:spPr>
      </p:sp>
      <p:sp>
        <p:nvSpPr>
          <p:cNvPr id="8" name="Text 5"/>
          <p:cNvSpPr txBox="1"/>
          <p:nvPr/>
        </p:nvSpPr>
        <p:spPr>
          <a:xfrm>
            <a:off x="640080" y="2953512"/>
            <a:ext cx="4206240" cy="347472"/>
          </a:xfrm>
          <a:prstGeom prst="rect">
            <a:avLst/>
          </a:prstGeom>
          <a:noFill/>
          <a:ln/>
        </p:spPr>
        <p:txBody>
          <a:bodyPr wrap="square" lIns="0" tIns="0" rIns="0" bIns="0" rtlCol="0" anchor="ctr"/>
          <a:lstStyle/>
          <a:p>
            <a:pPr indent="0" marL="0">
              <a:buNone/>
            </a:pPr>
            <a:r>
              <a:rPr lang="en-US" sz="1600" b="1" dirty="0">
                <a:solidFill>
                  <a:srgbClr val="2F6D62"/>
                </a:solidFill>
                <a:latin typeface="Cambria" pitchFamily="34" charset="0"/>
                <a:ea typeface="Cambria" pitchFamily="34" charset="-122"/>
                <a:cs typeface="Cambria" pitchFamily="34" charset="-120"/>
              </a:rPr>
              <a:t>The chapter shows one form</a:t>
            </a:r>
            <a:endParaRPr lang="en-US" sz="1600" dirty="0"/>
          </a:p>
        </p:txBody>
      </p:sp>
      <p:sp>
        <p:nvSpPr>
          <p:cNvPr id="9" name="Text 6"/>
          <p:cNvSpPr txBox="1"/>
          <p:nvPr/>
        </p:nvSpPr>
        <p:spPr>
          <a:xfrm>
            <a:off x="640080" y="3337560"/>
            <a:ext cx="4206240" cy="1005840"/>
          </a:xfrm>
          <a:prstGeom prst="rect">
            <a:avLst/>
          </a:prstGeom>
          <a:noFill/>
          <a:ln/>
        </p:spPr>
        <p:txBody>
          <a:bodyPr wrap="square" lIns="0" tIns="0" rIns="0" bIns="0" rtlCol="0" anchor="t"/>
          <a:lstStyle/>
          <a:p>
            <a:pPr indent="0" marL="0">
              <a:buNone/>
            </a:pPr>
            <a:r>
              <a:rPr lang="en-US" sz="1100" dirty="0">
                <a:solidFill>
                  <a:srgbClr val="2B2622"/>
                </a:solidFill>
                <a:latin typeface="Calibri" pitchFamily="34" charset="0"/>
                <a:ea typeface="Calibri" pitchFamily="34" charset="-122"/>
                <a:cs typeface="Calibri" pitchFamily="34" charset="-120"/>
              </a:rPr>
              <a:t>encrypt('swordfish', algorithm='AES-256') wrote V 5, R 6 and a 256-bit key. Without the algorithm the file is RC4 with a 128-bit key.</a:t>
            </a:r>
            <a:endParaRPr lang="en-US" sz="1100" dirty="0"/>
          </a:p>
        </p:txBody>
      </p:sp>
      <p:sp>
        <p:nvSpPr>
          <p:cNvPr id="10" name="Shape 7"/>
          <p:cNvSpPr/>
          <p:nvPr/>
        </p:nvSpPr>
        <p:spPr>
          <a:xfrm>
            <a:off x="5303520" y="1371600"/>
            <a:ext cx="3383280" cy="1600200"/>
          </a:xfrm>
          <a:prstGeom prst="roundRect">
            <a:avLst>
              <a:gd name="adj" fmla="val 5714"/>
            </a:avLst>
          </a:prstGeom>
          <a:solidFill>
            <a:srgbClr val="F2ECE1"/>
          </a:solidFill>
          <a:ln w="12700">
            <a:solidFill>
              <a:srgbClr val="F2ECE1"/>
            </a:solidFill>
            <a:prstDash val="solid"/>
          </a:ln>
        </p:spPr>
      </p:sp>
      <p:sp>
        <p:nvSpPr>
          <p:cNvPr id="11" name="Text 8"/>
          <p:cNvSpPr txBox="1"/>
          <p:nvPr/>
        </p:nvSpPr>
        <p:spPr>
          <a:xfrm>
            <a:off x="5486400" y="1490472"/>
            <a:ext cx="3017520" cy="347472"/>
          </a:xfrm>
          <a:prstGeom prst="rect">
            <a:avLst/>
          </a:prstGeom>
          <a:noFill/>
          <a:ln/>
        </p:spPr>
        <p:txBody>
          <a:bodyPr wrap="square" lIns="0" tIns="0" rIns="0" bIns="0" rtlCol="0" anchor="ctr"/>
          <a:lstStyle/>
          <a:p>
            <a:pPr indent="0" marL="0">
              <a:buNone/>
            </a:pPr>
            <a:r>
              <a:rPr lang="en-US" sz="1600" b="1" dirty="0">
                <a:solidFill>
                  <a:srgbClr val="D97A14"/>
                </a:solidFill>
                <a:latin typeface="Cambria" pitchFamily="34" charset="0"/>
                <a:ea typeface="Cambria" pitchFamily="34" charset="-122"/>
                <a:cs typeface="Cambria" pitchFamily="34" charset="-120"/>
              </a:rPr>
              <a:t>AES needs a package</a:t>
            </a:r>
            <a:endParaRPr lang="en-US" sz="1600" dirty="0"/>
          </a:p>
        </p:txBody>
      </p:sp>
      <p:sp>
        <p:nvSpPr>
          <p:cNvPr id="12" name="Text 9"/>
          <p:cNvSpPr txBox="1"/>
          <p:nvPr/>
        </p:nvSpPr>
        <p:spPr>
          <a:xfrm>
            <a:off x="5486400" y="1874520"/>
            <a:ext cx="3017520" cy="960120"/>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In an environment with pypdf alone (Python 3.14.6): DependencyError: cryptography&gt;=3.1 is required for AES algorithm; RC4 written.</a:t>
            </a:r>
            <a:endParaRPr lang="en-US" sz="1000" dirty="0"/>
          </a:p>
        </p:txBody>
      </p:sp>
      <p:sp>
        <p:nvSpPr>
          <p:cNvPr id="13" name="Shape 10"/>
          <p:cNvSpPr/>
          <p:nvPr/>
        </p:nvSpPr>
        <p:spPr>
          <a:xfrm>
            <a:off x="5303520" y="3063240"/>
            <a:ext cx="3383280" cy="1417320"/>
          </a:xfrm>
          <a:prstGeom prst="roundRect">
            <a:avLst>
              <a:gd name="adj" fmla="val 6452"/>
            </a:avLst>
          </a:prstGeom>
          <a:solidFill>
            <a:srgbClr val="F2ECE1"/>
          </a:solidFill>
          <a:ln w="12700">
            <a:solidFill>
              <a:srgbClr val="F2ECE1"/>
            </a:solidFill>
            <a:prstDash val="solid"/>
          </a:ln>
        </p:spPr>
      </p:sp>
      <p:sp>
        <p:nvSpPr>
          <p:cNvPr id="14" name="Text 11"/>
          <p:cNvSpPr txBox="1"/>
          <p:nvPr/>
        </p:nvSpPr>
        <p:spPr>
          <a:xfrm>
            <a:off x="5486400" y="3182112"/>
            <a:ext cx="3017520" cy="347472"/>
          </a:xfrm>
          <a:prstGeom prst="rect">
            <a:avLst/>
          </a:prstGeom>
          <a:noFill/>
          <a:ln/>
        </p:spPr>
        <p:txBody>
          <a:bodyPr wrap="square" lIns="0" tIns="0" rIns="0" bIns="0" rtlCol="0" anchor="ctr"/>
          <a:lstStyle/>
          <a:p>
            <a:pPr indent="0" marL="0">
              <a:buNone/>
            </a:pPr>
            <a:r>
              <a:rPr lang="en-US" sz="1600" b="1" dirty="0">
                <a:solidFill>
                  <a:srgbClr val="2F6D62"/>
                </a:solidFill>
                <a:latin typeface="Cambria" pitchFamily="34" charset="0"/>
                <a:ea typeface="Cambria" pitchFamily="34" charset="-122"/>
                <a:cs typeface="Cambria" pitchFamily="34" charset="-120"/>
              </a:rPr>
              <a:t>Words the chapter never uses</a:t>
            </a:r>
            <a:endParaRPr lang="en-US" sz="1600" dirty="0"/>
          </a:p>
        </p:txBody>
      </p:sp>
      <p:sp>
        <p:nvSpPr>
          <p:cNvPr id="15" name="Text 12"/>
          <p:cNvSpPr txBox="1"/>
          <p:nvPr/>
        </p:nvSpPr>
        <p:spPr>
          <a:xfrm>
            <a:off x="5486400" y="3566160"/>
            <a:ext cx="3017520" cy="777240"/>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Pillow, cryptography and DependencyError are absent from the page; Appendix A pins pypdf 5.0.1 and python-docx 1.1.2.</a:t>
            </a:r>
            <a:endParaRPr lang="en-US" sz="1000" dirty="0"/>
          </a:p>
        </p:txBody>
      </p:sp>
      <p:sp>
        <p:nvSpPr>
          <p:cNvPr id="16" name="Shape 13"/>
          <p:cNvSpPr/>
          <p:nvPr/>
        </p:nvSpPr>
        <p:spPr>
          <a:xfrm>
            <a:off x="457200" y="4636008"/>
            <a:ext cx="91440" cy="310896"/>
          </a:xfrm>
          <a:prstGeom prst="rect">
            <a:avLst/>
          </a:prstGeom>
          <a:solidFill>
            <a:srgbClr val="D97A14"/>
          </a:solidFill>
          <a:ln w="12700">
            <a:solidFill>
              <a:srgbClr val="D97A14"/>
            </a:solidFill>
            <a:prstDash val="solid"/>
          </a:ln>
        </p:spPr>
      </p:sp>
      <p:sp>
        <p:nvSpPr>
          <p:cNvPr id="17" name="Text 14"/>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Ask for AES-256 by name, and install cryptography to get it.</a:t>
            </a:r>
            <a:endParaRPr lang="en-US" sz="1350" dirty="0"/>
          </a:p>
        </p:txBody>
      </p:sp>
      <p:sp>
        <p:nvSpPr>
          <p:cNvPr id="18" name="Text 1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12 / 26</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Decrypt: the life of an encrypted PDF</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reader refuses its pages until decrypt() matches a password</a:t>
            </a:r>
            <a:endParaRPr lang="en-US" sz="1300" dirty="0"/>
          </a:p>
        </p:txBody>
      </p:sp>
      <p:sp>
        <p:nvSpPr>
          <p:cNvPr id="6" name="Shape 4"/>
          <p:cNvSpPr/>
          <p:nvPr/>
        </p:nvSpPr>
        <p:spPr>
          <a:xfrm>
            <a:off x="548640" y="1554480"/>
            <a:ext cx="1554480" cy="384048"/>
          </a:xfrm>
          <a:prstGeom prst="roundRect">
            <a:avLst>
              <a:gd name="adj" fmla="val 19048"/>
            </a:avLst>
          </a:prstGeom>
          <a:solidFill>
            <a:srgbClr val="2F6D62"/>
          </a:solidFill>
          <a:ln w="15875">
            <a:solidFill>
              <a:srgbClr val="2F6D62"/>
            </a:solidFill>
            <a:prstDash val="solid"/>
          </a:ln>
        </p:spPr>
      </p:sp>
      <p:sp>
        <p:nvSpPr>
          <p:cNvPr id="7" name="Text 5"/>
          <p:cNvSpPr txBox="1"/>
          <p:nvPr/>
        </p:nvSpPr>
        <p:spPr>
          <a:xfrm>
            <a:off x="603504" y="1667866"/>
            <a:ext cx="1444752" cy="15636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 plain PDF</a:t>
            </a:r>
            <a:endParaRPr lang="en-US" sz="900" dirty="0"/>
          </a:p>
        </p:txBody>
      </p:sp>
      <p:sp>
        <p:nvSpPr>
          <p:cNvPr id="8" name="Shape 6"/>
          <p:cNvSpPr/>
          <p:nvPr/>
        </p:nvSpPr>
        <p:spPr>
          <a:xfrm>
            <a:off x="548640" y="2121408"/>
            <a:ext cx="1554480" cy="384048"/>
          </a:xfrm>
          <a:prstGeom prst="roundRect">
            <a:avLst>
              <a:gd name="adj" fmla="val 19048"/>
            </a:avLst>
          </a:prstGeom>
          <a:solidFill>
            <a:srgbClr val="2F6D62"/>
          </a:solidFill>
          <a:ln w="15875">
            <a:solidFill>
              <a:srgbClr val="2F6D62"/>
            </a:solidFill>
            <a:prstDash val="solid"/>
          </a:ln>
        </p:spPr>
      </p:sp>
      <p:sp>
        <p:nvSpPr>
          <p:cNvPr id="9" name="Text 7"/>
          <p:cNvSpPr txBox="1"/>
          <p:nvPr/>
        </p:nvSpPr>
        <p:spPr>
          <a:xfrm>
            <a:off x="603504" y="2234794"/>
            <a:ext cx="1444752" cy="15636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An encrypted PDF file</a:t>
            </a:r>
            <a:endParaRPr lang="en-US" sz="900" dirty="0"/>
          </a:p>
        </p:txBody>
      </p:sp>
      <p:sp>
        <p:nvSpPr>
          <p:cNvPr id="10" name="Shape 8"/>
          <p:cNvSpPr/>
          <p:nvPr/>
        </p:nvSpPr>
        <p:spPr>
          <a:xfrm>
            <a:off x="548640" y="2688336"/>
            <a:ext cx="1554480" cy="384048"/>
          </a:xfrm>
          <a:prstGeom prst="roundRect">
            <a:avLst>
              <a:gd name="adj" fmla="val 19048"/>
            </a:avLst>
          </a:prstGeom>
          <a:solidFill>
            <a:srgbClr val="2F6D62"/>
          </a:solidFill>
          <a:ln w="15875">
            <a:solidFill>
              <a:srgbClr val="2F6D62"/>
            </a:solidFill>
            <a:prstDash val="solid"/>
          </a:ln>
        </p:spPr>
      </p:sp>
      <p:sp>
        <p:nvSpPr>
          <p:cNvPr id="11" name="Text 9"/>
          <p:cNvSpPr txBox="1"/>
          <p:nvPr/>
        </p:nvSpPr>
        <p:spPr>
          <a:xfrm>
            <a:off x="603504" y="2733142"/>
            <a:ext cx="1444752" cy="295351"/>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 reader that is not decrypted</a:t>
            </a:r>
            <a:endParaRPr lang="en-US" sz="900" dirty="0"/>
          </a:p>
        </p:txBody>
      </p:sp>
      <p:sp>
        <p:nvSpPr>
          <p:cNvPr id="12" name="Shape 10"/>
          <p:cNvSpPr/>
          <p:nvPr/>
        </p:nvSpPr>
        <p:spPr>
          <a:xfrm>
            <a:off x="548640" y="3255264"/>
            <a:ext cx="1554480" cy="384048"/>
          </a:xfrm>
          <a:prstGeom prst="roundRect">
            <a:avLst>
              <a:gd name="adj" fmla="val 19048"/>
            </a:avLst>
          </a:prstGeom>
          <a:solidFill>
            <a:srgbClr val="2F6D62"/>
          </a:solidFill>
          <a:ln w="15875">
            <a:solidFill>
              <a:srgbClr val="2F6D62"/>
            </a:solidFill>
            <a:prstDash val="solid"/>
          </a:ln>
        </p:spPr>
      </p:sp>
      <p:sp>
        <p:nvSpPr>
          <p:cNvPr id="13" name="Text 11"/>
          <p:cNvSpPr txBox="1"/>
          <p:nvPr/>
        </p:nvSpPr>
        <p:spPr>
          <a:xfrm>
            <a:off x="603504" y="3300070"/>
            <a:ext cx="1444752" cy="295351"/>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 reader that is decrypted</a:t>
            </a:r>
            <a:endParaRPr lang="en-US" sz="900" dirty="0"/>
          </a:p>
        </p:txBody>
      </p:sp>
      <p:sp>
        <p:nvSpPr>
          <p:cNvPr id="14" name="Shape 12"/>
          <p:cNvSpPr/>
          <p:nvPr/>
        </p:nvSpPr>
        <p:spPr>
          <a:xfrm>
            <a:off x="548640" y="3822192"/>
            <a:ext cx="1554480" cy="384048"/>
          </a:xfrm>
          <a:prstGeom prst="roundRect">
            <a:avLst>
              <a:gd name="adj" fmla="val 19048"/>
            </a:avLst>
          </a:prstGeom>
          <a:solidFill>
            <a:srgbClr val="2F6D62"/>
          </a:solidFill>
          <a:ln w="15875">
            <a:solidFill>
              <a:srgbClr val="2F6D62"/>
            </a:solidFill>
            <a:prstDash val="solid"/>
          </a:ln>
        </p:spPr>
      </p:sp>
      <p:sp>
        <p:nvSpPr>
          <p:cNvPr id="15" name="Text 13"/>
          <p:cNvSpPr txBox="1"/>
          <p:nvPr/>
        </p:nvSpPr>
        <p:spPr>
          <a:xfrm>
            <a:off x="603504" y="3935578"/>
            <a:ext cx="1444752" cy="15636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 decrypted copy</a:t>
            </a:r>
            <a:endParaRPr lang="en-US" sz="900" dirty="0"/>
          </a:p>
        </p:txBody>
      </p:sp>
      <p:sp>
        <p:nvSpPr>
          <p:cNvPr id="16" name="Shape 14"/>
          <p:cNvSpPr/>
          <p:nvPr/>
        </p:nvSpPr>
        <p:spPr>
          <a:xfrm>
            <a:off x="1243584" y="1298448"/>
            <a:ext cx="164592" cy="164592"/>
          </a:xfrm>
          <a:prstGeom prst="ellipse">
            <a:avLst/>
          </a:prstGeom>
          <a:solidFill>
            <a:srgbClr val="2B2622"/>
          </a:solidFill>
          <a:ln w="15875">
            <a:solidFill>
              <a:srgbClr val="2B2622"/>
            </a:solidFill>
            <a:prstDash val="solid"/>
          </a:ln>
        </p:spPr>
      </p:sp>
      <p:sp>
        <p:nvSpPr>
          <p:cNvPr id="17" name="Shape 15"/>
          <p:cNvSpPr/>
          <p:nvPr/>
        </p:nvSpPr>
        <p:spPr>
          <a:xfrm>
            <a:off x="1325880" y="1463040"/>
            <a:ext cx="0" cy="91440"/>
          </a:xfrm>
          <a:prstGeom prst="line">
            <a:avLst/>
          </a:prstGeom>
          <a:noFill/>
          <a:ln w="15875">
            <a:solidFill>
              <a:srgbClr val="6E655C"/>
            </a:solidFill>
            <a:prstDash val="solid"/>
            <a:tailEnd type="triangle"/>
          </a:ln>
        </p:spPr>
      </p:sp>
      <p:sp>
        <p:nvSpPr>
          <p:cNvPr id="18" name="Shape 16"/>
          <p:cNvSpPr/>
          <p:nvPr/>
        </p:nvSpPr>
        <p:spPr>
          <a:xfrm>
            <a:off x="1325880" y="1938528"/>
            <a:ext cx="0" cy="182880"/>
          </a:xfrm>
          <a:prstGeom prst="line">
            <a:avLst/>
          </a:prstGeom>
          <a:noFill/>
          <a:ln w="22225">
            <a:solidFill>
              <a:srgbClr val="D97A14"/>
            </a:solidFill>
            <a:prstDash val="solid"/>
            <a:tailEnd type="triangle"/>
          </a:ln>
        </p:spPr>
      </p:sp>
      <p:sp>
        <p:nvSpPr>
          <p:cNvPr id="19" name="Shape 17"/>
          <p:cNvSpPr/>
          <p:nvPr/>
        </p:nvSpPr>
        <p:spPr>
          <a:xfrm>
            <a:off x="1344168" y="2029968"/>
            <a:ext cx="996696" cy="0"/>
          </a:xfrm>
          <a:prstGeom prst="line">
            <a:avLst/>
          </a:prstGeom>
          <a:noFill/>
          <a:ln w="9525">
            <a:solidFill>
              <a:srgbClr val="C9BFAE"/>
            </a:solidFill>
            <a:prstDash val="dash"/>
          </a:ln>
        </p:spPr>
      </p:sp>
      <p:sp>
        <p:nvSpPr>
          <p:cNvPr id="20" name="Text 18"/>
          <p:cNvSpPr txBox="1"/>
          <p:nvPr/>
        </p:nvSpPr>
        <p:spPr>
          <a:xfrm>
            <a:off x="2377440" y="1898294"/>
            <a:ext cx="2194560" cy="264262"/>
          </a:xfrm>
          <a:prstGeom prst="rect">
            <a:avLst/>
          </a:prstGeom>
          <a:noFill/>
          <a:ln/>
        </p:spPr>
        <p:txBody>
          <a:bodyPr wrap="square" lIns="0" tIns="0" rIns="0" bIns="0" rtlCol="0" anchor="ctr"/>
          <a:lstStyle/>
          <a:p>
            <a:pPr algn="l" indent="0" marL="0">
              <a:buNone/>
            </a:pPr>
            <a:r>
              <a:rPr lang="en-US" sz="800" dirty="0">
                <a:solidFill>
                  <a:srgbClr val="2B2622"/>
                </a:solidFill>
                <a:latin typeface="Calibri" pitchFamily="34" charset="0"/>
                <a:ea typeface="Calibri" pitchFamily="34" charset="-122"/>
                <a:cs typeface="Calibri" pitchFamily="34" charset="-120"/>
              </a:rPr>
              <a:t>The writer encrypts it with a password and writes the file</a:t>
            </a:r>
            <a:endParaRPr lang="en-US" sz="800" dirty="0"/>
          </a:p>
        </p:txBody>
      </p:sp>
      <p:sp>
        <p:nvSpPr>
          <p:cNvPr id="21" name="Shape 19"/>
          <p:cNvSpPr/>
          <p:nvPr/>
        </p:nvSpPr>
        <p:spPr>
          <a:xfrm>
            <a:off x="1325880" y="2505456"/>
            <a:ext cx="0" cy="182880"/>
          </a:xfrm>
          <a:prstGeom prst="line">
            <a:avLst/>
          </a:prstGeom>
          <a:noFill/>
          <a:ln w="22225">
            <a:solidFill>
              <a:srgbClr val="D97A14"/>
            </a:solidFill>
            <a:prstDash val="solid"/>
            <a:tailEnd type="triangle"/>
          </a:ln>
        </p:spPr>
      </p:sp>
      <p:sp>
        <p:nvSpPr>
          <p:cNvPr id="22" name="Shape 20"/>
          <p:cNvSpPr/>
          <p:nvPr/>
        </p:nvSpPr>
        <p:spPr>
          <a:xfrm>
            <a:off x="1344168" y="2596896"/>
            <a:ext cx="996696" cy="0"/>
          </a:xfrm>
          <a:prstGeom prst="line">
            <a:avLst/>
          </a:prstGeom>
          <a:noFill/>
          <a:ln w="9525">
            <a:solidFill>
              <a:srgbClr val="C9BFAE"/>
            </a:solidFill>
            <a:prstDash val="dash"/>
          </a:ln>
        </p:spPr>
      </p:sp>
      <p:sp>
        <p:nvSpPr>
          <p:cNvPr id="23" name="Text 21"/>
          <p:cNvSpPr txBox="1"/>
          <p:nvPr/>
        </p:nvSpPr>
        <p:spPr>
          <a:xfrm>
            <a:off x="2377440" y="2526487"/>
            <a:ext cx="2194560" cy="140818"/>
          </a:xfrm>
          <a:prstGeom prst="rect">
            <a:avLst/>
          </a:prstGeom>
          <a:noFill/>
          <a:ln/>
        </p:spPr>
        <p:txBody>
          <a:bodyPr wrap="square" lIns="0" tIns="0" rIns="0" bIns="0" rtlCol="0" anchor="ctr"/>
          <a:lstStyle/>
          <a:p>
            <a:pPr algn="l" indent="0" marL="0">
              <a:buNone/>
            </a:pPr>
            <a:r>
              <a:rPr lang="en-US" sz="800" dirty="0">
                <a:solidFill>
                  <a:srgbClr val="2B2622"/>
                </a:solidFill>
                <a:latin typeface="Calibri" pitchFamily="34" charset="0"/>
                <a:ea typeface="Calibri" pitchFamily="34" charset="-122"/>
                <a:cs typeface="Calibri" pitchFamily="34" charset="-120"/>
              </a:rPr>
              <a:t>A reader opens the encrypted file</a:t>
            </a:r>
            <a:endParaRPr lang="en-US" sz="800" dirty="0"/>
          </a:p>
        </p:txBody>
      </p:sp>
      <p:sp>
        <p:nvSpPr>
          <p:cNvPr id="24" name="Shape 22"/>
          <p:cNvSpPr/>
          <p:nvPr/>
        </p:nvSpPr>
        <p:spPr>
          <a:xfrm>
            <a:off x="1325880" y="3072384"/>
            <a:ext cx="0" cy="182880"/>
          </a:xfrm>
          <a:prstGeom prst="line">
            <a:avLst/>
          </a:prstGeom>
          <a:noFill/>
          <a:ln w="22225">
            <a:solidFill>
              <a:srgbClr val="D97A14"/>
            </a:solidFill>
            <a:prstDash val="solid"/>
            <a:tailEnd type="triangle"/>
          </a:ln>
        </p:spPr>
      </p:sp>
      <p:sp>
        <p:nvSpPr>
          <p:cNvPr id="25" name="Shape 23"/>
          <p:cNvSpPr/>
          <p:nvPr/>
        </p:nvSpPr>
        <p:spPr>
          <a:xfrm>
            <a:off x="1344168" y="3163824"/>
            <a:ext cx="996696" cy="0"/>
          </a:xfrm>
          <a:prstGeom prst="line">
            <a:avLst/>
          </a:prstGeom>
          <a:noFill/>
          <a:ln w="9525">
            <a:solidFill>
              <a:srgbClr val="C9BFAE"/>
            </a:solidFill>
            <a:prstDash val="dash"/>
          </a:ln>
        </p:spPr>
      </p:sp>
      <p:sp>
        <p:nvSpPr>
          <p:cNvPr id="26" name="Text 24"/>
          <p:cNvSpPr txBox="1"/>
          <p:nvPr/>
        </p:nvSpPr>
        <p:spPr>
          <a:xfrm>
            <a:off x="2377440" y="3032150"/>
            <a:ext cx="2194560" cy="264262"/>
          </a:xfrm>
          <a:prstGeom prst="rect">
            <a:avLst/>
          </a:prstGeom>
          <a:noFill/>
          <a:ln/>
        </p:spPr>
        <p:txBody>
          <a:bodyPr wrap="square" lIns="0" tIns="0" rIns="0" bIns="0" rtlCol="0" anchor="ctr"/>
          <a:lstStyle/>
          <a:p>
            <a:pPr algn="l" indent="0" marL="0">
              <a:buNone/>
            </a:pPr>
            <a:r>
              <a:rPr lang="en-US" sz="800" dirty="0">
                <a:solidFill>
                  <a:srgbClr val="2B2622"/>
                </a:solidFill>
                <a:latin typeface="Calibri" pitchFamily="34" charset="0"/>
                <a:ea typeface="Calibri" pitchFamily="34" charset="-122"/>
                <a:cs typeface="Calibri" pitchFamily="34" charset="-120"/>
              </a:rPr>
              <a:t>decrypt() matches the user or owner password</a:t>
            </a:r>
            <a:endParaRPr lang="en-US" sz="800" dirty="0"/>
          </a:p>
        </p:txBody>
      </p:sp>
      <p:sp>
        <p:nvSpPr>
          <p:cNvPr id="27" name="Shape 25"/>
          <p:cNvSpPr/>
          <p:nvPr/>
        </p:nvSpPr>
        <p:spPr>
          <a:xfrm>
            <a:off x="1325880" y="3639312"/>
            <a:ext cx="0" cy="182880"/>
          </a:xfrm>
          <a:prstGeom prst="line">
            <a:avLst/>
          </a:prstGeom>
          <a:noFill/>
          <a:ln w="22225">
            <a:solidFill>
              <a:srgbClr val="D97A14"/>
            </a:solidFill>
            <a:prstDash val="solid"/>
            <a:tailEnd type="triangle"/>
          </a:ln>
        </p:spPr>
      </p:sp>
      <p:sp>
        <p:nvSpPr>
          <p:cNvPr id="28" name="Shape 26"/>
          <p:cNvSpPr/>
          <p:nvPr/>
        </p:nvSpPr>
        <p:spPr>
          <a:xfrm>
            <a:off x="1344168" y="3730752"/>
            <a:ext cx="996696" cy="0"/>
          </a:xfrm>
          <a:prstGeom prst="line">
            <a:avLst/>
          </a:prstGeom>
          <a:noFill/>
          <a:ln w="9525">
            <a:solidFill>
              <a:srgbClr val="C9BFAE"/>
            </a:solidFill>
            <a:prstDash val="dash"/>
          </a:ln>
        </p:spPr>
      </p:sp>
      <p:sp>
        <p:nvSpPr>
          <p:cNvPr id="29" name="Text 27"/>
          <p:cNvSpPr txBox="1"/>
          <p:nvPr/>
        </p:nvSpPr>
        <p:spPr>
          <a:xfrm>
            <a:off x="2377440" y="3599078"/>
            <a:ext cx="2194560" cy="264262"/>
          </a:xfrm>
          <a:prstGeom prst="rect">
            <a:avLst/>
          </a:prstGeom>
          <a:noFill/>
          <a:ln/>
        </p:spPr>
        <p:txBody>
          <a:bodyPr wrap="square" lIns="0" tIns="0" rIns="0" bIns="0" rtlCol="0" anchor="ctr"/>
          <a:lstStyle/>
          <a:p>
            <a:pPr algn="l" indent="0" marL="0">
              <a:buNone/>
            </a:pPr>
            <a:r>
              <a:rPr lang="en-US" sz="800" dirty="0">
                <a:solidFill>
                  <a:srgbClr val="2B2622"/>
                </a:solidFill>
                <a:latin typeface="Calibri" pitchFamily="34" charset="0"/>
                <a:ea typeface="Calibri" pitchFamily="34" charset="-122"/>
                <a:cs typeface="Calibri" pitchFamily="34" charset="-120"/>
              </a:rPr>
              <a:t>A writer appends the pages and writes a new file</a:t>
            </a:r>
            <a:endParaRPr lang="en-US" sz="800" dirty="0"/>
          </a:p>
        </p:txBody>
      </p:sp>
      <p:sp>
        <p:nvSpPr>
          <p:cNvPr id="30" name="Shape 28"/>
          <p:cNvSpPr/>
          <p:nvPr/>
        </p:nvSpPr>
        <p:spPr>
          <a:xfrm>
            <a:off x="2103120" y="2798064"/>
            <a:ext cx="237744" cy="0"/>
          </a:xfrm>
          <a:prstGeom prst="line">
            <a:avLst/>
          </a:prstGeom>
          <a:noFill/>
          <a:ln w="19050">
            <a:solidFill>
              <a:srgbClr val="2F6D62"/>
            </a:solidFill>
            <a:prstDash val="solid"/>
          </a:ln>
        </p:spPr>
      </p:sp>
      <p:sp>
        <p:nvSpPr>
          <p:cNvPr id="31" name="Shape 29"/>
          <p:cNvSpPr/>
          <p:nvPr/>
        </p:nvSpPr>
        <p:spPr>
          <a:xfrm>
            <a:off x="2340864" y="2798064"/>
            <a:ext cx="0" cy="164592"/>
          </a:xfrm>
          <a:prstGeom prst="line">
            <a:avLst/>
          </a:prstGeom>
          <a:noFill/>
          <a:ln w="19050">
            <a:solidFill>
              <a:srgbClr val="2F6D62"/>
            </a:solidFill>
            <a:prstDash val="solid"/>
          </a:ln>
        </p:spPr>
      </p:sp>
      <p:sp>
        <p:nvSpPr>
          <p:cNvPr id="32" name="Shape 30"/>
          <p:cNvSpPr/>
          <p:nvPr/>
        </p:nvSpPr>
        <p:spPr>
          <a:xfrm flipH="1">
            <a:off x="2103120" y="2962656"/>
            <a:ext cx="237744" cy="0"/>
          </a:xfrm>
          <a:prstGeom prst="line">
            <a:avLst/>
          </a:prstGeom>
          <a:noFill/>
          <a:ln w="19050">
            <a:solidFill>
              <a:srgbClr val="2F6D62"/>
            </a:solidFill>
            <a:prstDash val="solid"/>
            <a:tailEnd type="triangle"/>
          </a:ln>
        </p:spPr>
      </p:sp>
      <p:sp>
        <p:nvSpPr>
          <p:cNvPr id="33" name="Text 31"/>
          <p:cNvSpPr txBox="1"/>
          <p:nvPr/>
        </p:nvSpPr>
        <p:spPr>
          <a:xfrm>
            <a:off x="2377440" y="2748686"/>
            <a:ext cx="2194560" cy="264262"/>
          </a:xfrm>
          <a:prstGeom prst="rect">
            <a:avLst/>
          </a:prstGeom>
          <a:noFill/>
          <a:ln/>
        </p:spPr>
        <p:txBody>
          <a:bodyPr wrap="square" lIns="0" tIns="0" rIns="0" bIns="0" rtlCol="0" anchor="ctr"/>
          <a:lstStyle/>
          <a:p>
            <a:pPr algn="l" indent="0" marL="0">
              <a:buNone/>
            </a:pPr>
            <a:r>
              <a:rPr lang="en-US" sz="800" dirty="0">
                <a:solidFill>
                  <a:srgbClr val="2B2622"/>
                </a:solidFill>
                <a:latin typeface="Calibri" pitchFamily="34" charset="0"/>
                <a:ea typeface="Calibri" pitchFamily="34" charset="-122"/>
                <a:cs typeface="Calibri" pitchFamily="34" charset="-120"/>
              </a:rPr>
              <a:t>decrypt() returns NOT_DECRYPTED for a wrong password</a:t>
            </a:r>
            <a:endParaRPr lang="en-US" sz="800" dirty="0"/>
          </a:p>
        </p:txBody>
      </p:sp>
      <p:sp>
        <p:nvSpPr>
          <p:cNvPr id="34" name="Shape 32"/>
          <p:cNvSpPr/>
          <p:nvPr/>
        </p:nvSpPr>
        <p:spPr>
          <a:xfrm>
            <a:off x="2103120" y="4014216"/>
            <a:ext cx="365760" cy="0"/>
          </a:xfrm>
          <a:prstGeom prst="line">
            <a:avLst/>
          </a:prstGeom>
          <a:noFill/>
          <a:ln w="22225">
            <a:solidFill>
              <a:srgbClr val="D97A14"/>
            </a:solidFill>
            <a:prstDash val="solid"/>
            <a:tailEnd type="triangle"/>
          </a:ln>
        </p:spPr>
      </p:sp>
      <p:sp>
        <p:nvSpPr>
          <p:cNvPr id="35" name="Shape 33"/>
          <p:cNvSpPr/>
          <p:nvPr/>
        </p:nvSpPr>
        <p:spPr>
          <a:xfrm>
            <a:off x="2468880" y="3886200"/>
            <a:ext cx="256032" cy="256032"/>
          </a:xfrm>
          <a:prstGeom prst="ellipse">
            <a:avLst/>
          </a:prstGeom>
          <a:solidFill>
            <a:srgbClr val="FFFFFF"/>
          </a:solidFill>
          <a:ln w="25400">
            <a:solidFill>
              <a:srgbClr val="2B2622"/>
            </a:solidFill>
            <a:prstDash val="solid"/>
          </a:ln>
        </p:spPr>
      </p:sp>
      <p:sp>
        <p:nvSpPr>
          <p:cNvPr id="36" name="Shape 34"/>
          <p:cNvSpPr/>
          <p:nvPr/>
        </p:nvSpPr>
        <p:spPr>
          <a:xfrm>
            <a:off x="2523744" y="3941064"/>
            <a:ext cx="146304" cy="146304"/>
          </a:xfrm>
          <a:prstGeom prst="ellipse">
            <a:avLst/>
          </a:prstGeom>
          <a:solidFill>
            <a:srgbClr val="2B2622"/>
          </a:solidFill>
          <a:ln w="15875">
            <a:solidFill>
              <a:srgbClr val="2B2622"/>
            </a:solidFill>
            <a:prstDash val="solid"/>
          </a:ln>
        </p:spPr>
      </p:sp>
      <p:sp>
        <p:nvSpPr>
          <p:cNvPr id="37" name="Text 35"/>
          <p:cNvSpPr txBox="1"/>
          <p:nvPr/>
        </p:nvSpPr>
        <p:spPr>
          <a:xfrm>
            <a:off x="457200" y="4233672"/>
            <a:ext cx="4206240" cy="301752"/>
          </a:xfrm>
          <a:prstGeom prst="rect">
            <a:avLst/>
          </a:prstGeom>
          <a:noFill/>
          <a:ln/>
        </p:spPr>
        <p:txBody>
          <a:bodyPr wrap="square" lIns="0" tIns="0" rIns="0" bIns="0" rtlCol="0" anchor="t"/>
          <a:lstStyle/>
          <a:p>
            <a:pPr indent="0" marL="0">
              <a:buNone/>
            </a:pPr>
            <a:r>
              <a:rPr lang="en-US" sz="850" i="1" dirty="0">
                <a:solidFill>
                  <a:srgbClr val="6E655C"/>
                </a:solidFill>
                <a:latin typeface="Calibri" pitchFamily="34" charset="0"/>
                <a:ea typeface="Calibri" pitchFamily="34" charset="-122"/>
                <a:cs typeface="Calibri" pitchFamily="34" charset="-120"/>
              </a:rPr>
              <a:t>diagram AnEncryptedPdfThroughItsLife - LifeCycle pattern, 36 of 36 words grounded in the chapter's text</a:t>
            </a:r>
            <a:endParaRPr lang="en-US" sz="850" dirty="0"/>
          </a:p>
        </p:txBody>
      </p:sp>
      <p:sp>
        <p:nvSpPr>
          <p:cNvPr id="38" name="Text 36"/>
          <p:cNvSpPr txBox="1"/>
          <p:nvPr/>
        </p:nvSpPr>
        <p:spPr>
          <a:xfrm>
            <a:off x="4846320" y="1143000"/>
            <a:ext cx="3630168"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program decryptCut_v1_0_0.py, lines 19 to 31 of 31</a:t>
            </a:r>
            <a:endParaRPr lang="en-US" sz="1000" dirty="0"/>
          </a:p>
        </p:txBody>
      </p:sp>
      <p:sp>
        <p:nvSpPr>
          <p:cNvPr id="39" name="Shape 37"/>
          <p:cNvSpPr/>
          <p:nvPr/>
        </p:nvSpPr>
        <p:spPr>
          <a:xfrm>
            <a:off x="4846320" y="1417320"/>
            <a:ext cx="3630168" cy="2679192"/>
          </a:xfrm>
          <a:prstGeom prst="roundRect">
            <a:avLst>
              <a:gd name="adj" fmla="val 3413"/>
            </a:avLst>
          </a:prstGeom>
          <a:solidFill>
            <a:srgbClr val="23272E"/>
          </a:solidFill>
          <a:ln w="12700">
            <a:solidFill>
              <a:srgbClr val="23272E"/>
            </a:solidFill>
            <a:prstDash val="solid"/>
          </a:ln>
        </p:spPr>
      </p:sp>
      <p:sp>
        <p:nvSpPr>
          <p:cNvPr id="40" name="Text 38"/>
          <p:cNvSpPr txBox="1"/>
          <p:nvPr/>
        </p:nvSpPr>
        <p:spPr>
          <a:xfrm>
            <a:off x="5029200" y="1536192"/>
            <a:ext cx="3264408" cy="2441448"/>
          </a:xfrm>
          <a:prstGeom prst="rect">
            <a:avLst/>
          </a:prstGeom>
          <a:noFill/>
          <a:ln/>
        </p:spPr>
        <p:txBody>
          <a:bodyPr wrap="square" lIns="0" tIns="0" rIns="0" bIns="0" rtlCol="0" anchor="t"/>
          <a:lstStyle/>
          <a:p>
            <a:pPr indent="0" marL="0">
              <a:buNone/>
            </a:pPr>
            <a:r>
              <a:rPr lang="en-US" sz="700" dirty="0">
                <a:solidFill>
                  <a:srgbClr val="E6EDF3"/>
                </a:solidFill>
                <a:latin typeface="Courier New" pitchFamily="34" charset="0"/>
                <a:ea typeface="Courier New" pitchFamily="34" charset="-122"/>
                <a:cs typeface="Courier New" pitchFamily="34" charset="-120"/>
              </a:rPr>
              <a:t>w = pypdf.PdfWriter(); w.add_blank_page(</a:t>
            </a:r>
            <a:r>
              <a:rPr lang="en-US" sz="700" dirty="0">
                <a:solidFill>
                  <a:srgbClr val="FFD28A"/>
                </a:solidFill>
                <a:latin typeface="Courier New" pitchFamily="34" charset="0"/>
                <a:ea typeface="Courier New" pitchFamily="34" charset="-122"/>
                <a:cs typeface="Courier New" pitchFamily="34" charset="-120"/>
              </a:rPr>
              <a:t>100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100</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w.encrypt(</a:t>
            </a:r>
            <a:r>
              <a:rPr lang="en-US" sz="700" dirty="0">
                <a:solidFill>
                  <a:srgbClr val="9ECBFF"/>
                </a:solidFill>
                <a:latin typeface="Courier New" pitchFamily="34" charset="0"/>
                <a:ea typeface="Courier New" pitchFamily="34" charset="-122"/>
                <a:cs typeface="Courier New" pitchFamily="34" charset="-120"/>
              </a:rPr>
              <a:t>'userpw'</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'ownerpw'</a:t>
            </a:r>
            <a:r>
              <a:rPr lang="en-US" sz="700" dirty="0">
                <a:solidFill>
                  <a:srgbClr val="E6EDF3"/>
                </a:solidFill>
                <a:latin typeface="Courier New" pitchFamily="34" charset="0"/>
                <a:ea typeface="Courier New" pitchFamily="34" charset="-122"/>
                <a:cs typeface="Courier New" pitchFamily="34" charset="-120"/>
              </a:rPr>
              <a:t>, algorithm=</a:t>
            </a:r>
            <a:r>
              <a:rPr lang="en-US" sz="700" dirty="0">
                <a:solidFill>
                  <a:srgbClr val="9ECBFF"/>
                </a:solidFill>
                <a:latin typeface="Courier New" pitchFamily="34" charset="0"/>
                <a:ea typeface="Courier New" pitchFamily="34" charset="-122"/>
                <a:cs typeface="Courier New" pitchFamily="34" charset="-120"/>
              </a:rPr>
              <a:t>'AES-256'</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b = io.BytesIO(); w.write(b)</a:t>
            </a:r>
            <a:endParaRPr lang="en-US" sz="700" dirty="0"/>
          </a:p>
          <a:p>
            <a:pPr indent="0" marL="0">
              <a:buNone/>
            </a:pPr>
            <a:r>
              <a:rPr lang="en-US" sz="700" b="1" dirty="0">
                <a:solidFill>
                  <a:srgbClr val="F2A860"/>
                </a:solidFill>
                <a:latin typeface="Courier New" pitchFamily="34" charset="0"/>
                <a:ea typeface="Courier New" pitchFamily="34" charset="-122"/>
                <a:cs typeface="Courier New" pitchFamily="34" charset="-120"/>
              </a:rPr>
              <a:t>def</a:t>
            </a:r>
            <a:r>
              <a:rPr lang="en-US" sz="700" dirty="0">
                <a:solidFill>
                  <a:srgbClr val="E6EDF3"/>
                </a:solidFill>
                <a:latin typeface="Courier New" pitchFamily="34" charset="0"/>
                <a:ea typeface="Courier New" pitchFamily="34" charset="-122"/>
                <a:cs typeface="Courier New" pitchFamily="34" charset="-120"/>
              </a:rPr>
              <a:t> reader():</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return</a:t>
            </a:r>
            <a:r>
              <a:rPr lang="en-US" sz="700" dirty="0">
                <a:solidFill>
                  <a:srgbClr val="E6EDF3"/>
                </a:solidFill>
                <a:latin typeface="Courier New" pitchFamily="34" charset="0"/>
                <a:ea typeface="Courier New" pitchFamily="34" charset="-122"/>
                <a:cs typeface="Courier New" pitchFamily="34" charset="-120"/>
              </a:rPr>
              <a:t> pypdf.PdfReader(io.BytesIO(b.getvalue()))</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try:</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reader().pages[</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except Exception as e:</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print(type(e).__name__, </a:t>
            </a:r>
            <a:r>
              <a:rPr lang="en-US" sz="700" dirty="0">
                <a:solidFill>
                  <a:srgbClr val="9ECBFF"/>
                </a:solidFill>
                <a:latin typeface="Courier New" pitchFamily="34" charset="0"/>
                <a:ea typeface="Courier New" pitchFamily="34" charset="-122"/>
                <a:cs typeface="Courier New" pitchFamily="34" charset="-120"/>
              </a:rPr>
              <a:t>'-'</a:t>
            </a:r>
            <a:r>
              <a:rPr lang="en-US" sz="700" dirty="0">
                <a:solidFill>
                  <a:srgbClr val="E6EDF3"/>
                </a:solidFill>
                <a:latin typeface="Courier New" pitchFamily="34" charset="0"/>
                <a:ea typeface="Courier New" pitchFamily="34" charset="-122"/>
                <a:cs typeface="Courier New" pitchFamily="34" charset="-120"/>
              </a:rPr>
              <a:t>, e)</a:t>
            </a:r>
            <a:endParaRPr lang="en-US" sz="700" dirty="0"/>
          </a:p>
          <a:p>
            <a:pPr indent="0" marL="0">
              <a:buNone/>
            </a:pP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pw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'wrong'</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'Userpw'</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'userpw'</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'ownerpw'</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print(repr(pw), </a:t>
            </a:r>
            <a:r>
              <a:rPr lang="en-US" sz="700" dirty="0">
                <a:solidFill>
                  <a:srgbClr val="9ECBFF"/>
                </a:solidFill>
                <a:latin typeface="Courier New" pitchFamily="34" charset="0"/>
                <a:ea typeface="Courier New" pitchFamily="34" charset="-122"/>
                <a:cs typeface="Courier New" pitchFamily="34" charset="-120"/>
              </a:rPr>
              <a:t>'-&gt;'</a:t>
            </a:r>
            <a:r>
              <a:rPr lang="en-US" sz="700" dirty="0">
                <a:solidFill>
                  <a:srgbClr val="E6EDF3"/>
                </a:solidFill>
                <a:latin typeface="Courier New" pitchFamily="34" charset="0"/>
                <a:ea typeface="Courier New" pitchFamily="34" charset="-122"/>
                <a:cs typeface="Courier New" pitchFamily="34" charset="-120"/>
              </a:rPr>
              <a:t>, reader().decrypt(pw).name)</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r = reader(); r.decrypt(</a:t>
            </a:r>
            <a:r>
              <a:rPr lang="en-US" sz="700" dirty="0">
                <a:solidFill>
                  <a:srgbClr val="9ECBFF"/>
                </a:solidFill>
                <a:latin typeface="Courier New" pitchFamily="34" charset="0"/>
                <a:ea typeface="Courier New" pitchFamily="34" charset="-122"/>
                <a:cs typeface="Courier New" pitchFamily="34" charset="-120"/>
              </a:rPr>
              <a:t>'userpw'</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print(len(r.pages), </a:t>
            </a:r>
            <a:r>
              <a:rPr lang="en-US" sz="700" dirty="0">
                <a:solidFill>
                  <a:srgbClr val="9ECBFF"/>
                </a:solidFill>
                <a:latin typeface="Courier New" pitchFamily="34" charset="0"/>
                <a:ea typeface="Courier New" pitchFamily="34" charset="-122"/>
                <a:cs typeface="Courier New" pitchFamily="34" charset="-120"/>
              </a:rPr>
              <a:t>'page after decrypt'</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b="1" dirty="0">
                <a:solidFill>
                  <a:srgbClr val="D97A14"/>
                </a:solidFill>
                <a:latin typeface="Courier New" pitchFamily="34" charset="0"/>
                <a:ea typeface="Courier New" pitchFamily="34" charset="-122"/>
                <a:cs typeface="Courier New" pitchFamily="34" charset="-120"/>
              </a:rPr>
              <a:t>prints </a:t>
            </a:r>
            <a:r>
              <a:rPr lang="en-US" sz="700" dirty="0">
                <a:solidFill>
                  <a:srgbClr val="7EE787"/>
                </a:solidFill>
                <a:latin typeface="Courier New" pitchFamily="34" charset="0"/>
                <a:ea typeface="Courier New" pitchFamily="34" charset="-122"/>
                <a:cs typeface="Courier New" pitchFamily="34" charset="-120"/>
              </a:rPr>
              <a:t>FileNotDecryptedError - File has not been decrypted</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'wrong' -&gt; NOT_DECRYPTED</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'Userpw' -&gt; NOT_DECRYPTED</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'userpw' -&gt; USER_PASSWORD</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'ownerpw' -&gt; OWNER_PASSWORD</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1 page after decrypt</a:t>
            </a:r>
            <a:endParaRPr lang="en-US" sz="700" dirty="0"/>
          </a:p>
        </p:txBody>
      </p:sp>
      <p:sp>
        <p:nvSpPr>
          <p:cNvPr id="41" name="Shape 39"/>
          <p:cNvSpPr/>
          <p:nvPr/>
        </p:nvSpPr>
        <p:spPr>
          <a:xfrm>
            <a:off x="457200" y="4636008"/>
            <a:ext cx="91440" cy="310896"/>
          </a:xfrm>
          <a:prstGeom prst="rect">
            <a:avLst/>
          </a:prstGeom>
          <a:solidFill>
            <a:srgbClr val="D97A14"/>
          </a:solidFill>
          <a:ln w="12700">
            <a:solidFill>
              <a:srgbClr val="D97A14"/>
            </a:solidFill>
            <a:prstDash val="solid"/>
          </a:ln>
        </p:spPr>
      </p:sp>
      <p:sp>
        <p:nvSpPr>
          <p:cNvPr id="42" name="Text 40"/>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decrypt() returns which password matched; read it, because it never raises.</a:t>
            </a:r>
            <a:endParaRPr lang="en-US" sz="1350" dirty="0"/>
          </a:p>
        </p:txBody>
      </p:sp>
      <p:sp>
        <p:nvSpPr>
          <p:cNvPr id="43" name="Text 41"/>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13 / 26</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Project 12: combine many PDFs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Every page after the first of each file, in the order of the names, case ignored</a:t>
            </a:r>
            <a:endParaRPr lang="en-US" sz="1300" dirty="0"/>
          </a:p>
        </p:txBody>
      </p:sp>
      <p:sp>
        <p:nvSpPr>
          <p:cNvPr id="6" name="Shape 4"/>
          <p:cNvSpPr/>
          <p:nvPr/>
        </p:nvSpPr>
        <p:spPr>
          <a:xfrm>
            <a:off x="457200" y="1334110"/>
            <a:ext cx="3017520" cy="310896"/>
          </a:xfrm>
          <a:prstGeom prst="roundRect">
            <a:avLst>
              <a:gd name="adj" fmla="val 23529"/>
            </a:avLst>
          </a:prstGeom>
          <a:solidFill>
            <a:srgbClr val="F2ECE1"/>
          </a:solidFill>
          <a:ln w="15875">
            <a:solidFill>
              <a:srgbClr val="2F6D62"/>
            </a:solidFill>
            <a:prstDash val="solid"/>
          </a:ln>
        </p:spPr>
      </p:sp>
      <p:sp>
        <p:nvSpPr>
          <p:cNvPr id="7" name="Text 5"/>
          <p:cNvSpPr txBox="1"/>
          <p:nvPr/>
        </p:nvSpPr>
        <p:spPr>
          <a:xfrm>
            <a:off x="521208" y="1418234"/>
            <a:ext cx="2889504" cy="140818"/>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Find all the PDF files of the folder</a:t>
            </a:r>
            <a:endParaRPr lang="en-US" sz="800" dirty="0"/>
          </a:p>
        </p:txBody>
      </p:sp>
      <p:sp>
        <p:nvSpPr>
          <p:cNvPr id="8" name="Shape 6"/>
          <p:cNvSpPr/>
          <p:nvPr/>
        </p:nvSpPr>
        <p:spPr>
          <a:xfrm>
            <a:off x="457200" y="1751990"/>
            <a:ext cx="3017520" cy="310896"/>
          </a:xfrm>
          <a:prstGeom prst="roundRect">
            <a:avLst>
              <a:gd name="adj" fmla="val 23529"/>
            </a:avLst>
          </a:prstGeom>
          <a:solidFill>
            <a:srgbClr val="F2ECE1"/>
          </a:solidFill>
          <a:ln w="15875">
            <a:solidFill>
              <a:srgbClr val="2F6D62"/>
            </a:solidFill>
            <a:prstDash val="solid"/>
          </a:ln>
        </p:spPr>
      </p:sp>
      <p:sp>
        <p:nvSpPr>
          <p:cNvPr id="9" name="Text 7"/>
          <p:cNvSpPr txBox="1"/>
          <p:nvPr/>
        </p:nvSpPr>
        <p:spPr>
          <a:xfrm>
            <a:off x="521208" y="1836115"/>
            <a:ext cx="2889504" cy="140818"/>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Sort the filenames without regard to case</a:t>
            </a:r>
            <a:endParaRPr lang="en-US" sz="800" dirty="0"/>
          </a:p>
        </p:txBody>
      </p:sp>
      <p:sp>
        <p:nvSpPr>
          <p:cNvPr id="10" name="Shape 8"/>
          <p:cNvSpPr/>
          <p:nvPr/>
        </p:nvSpPr>
        <p:spPr>
          <a:xfrm>
            <a:off x="457200" y="2169871"/>
            <a:ext cx="3017520" cy="310896"/>
          </a:xfrm>
          <a:prstGeom prst="roundRect">
            <a:avLst>
              <a:gd name="adj" fmla="val 23529"/>
            </a:avLst>
          </a:prstGeom>
          <a:solidFill>
            <a:srgbClr val="F2ECE1"/>
          </a:solidFill>
          <a:ln w="15875">
            <a:solidFill>
              <a:srgbClr val="2F6D62"/>
            </a:solidFill>
            <a:prstDash val="solid"/>
          </a:ln>
        </p:spPr>
      </p:sp>
      <p:sp>
        <p:nvSpPr>
          <p:cNvPr id="11" name="Text 9"/>
          <p:cNvSpPr txBox="1"/>
          <p:nvPr/>
        </p:nvSpPr>
        <p:spPr>
          <a:xfrm>
            <a:off x="521208" y="2254910"/>
            <a:ext cx="2889504" cy="140818"/>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Create a PdfWriter that starts with no pages</a:t>
            </a:r>
            <a:endParaRPr lang="en-US" sz="800" dirty="0"/>
          </a:p>
        </p:txBody>
      </p:sp>
      <p:sp>
        <p:nvSpPr>
          <p:cNvPr id="12" name="Shape 10"/>
          <p:cNvSpPr/>
          <p:nvPr/>
        </p:nvSpPr>
        <p:spPr>
          <a:xfrm>
            <a:off x="457200" y="2587752"/>
            <a:ext cx="3017520" cy="310896"/>
          </a:xfrm>
          <a:prstGeom prst="roundRect">
            <a:avLst>
              <a:gd name="adj" fmla="val 23529"/>
            </a:avLst>
          </a:prstGeom>
          <a:solidFill>
            <a:srgbClr val="F2ECE1"/>
          </a:solidFill>
          <a:ln w="15875">
            <a:solidFill>
              <a:srgbClr val="2F6D62"/>
            </a:solidFill>
            <a:prstDash val="solid"/>
          </a:ln>
        </p:spPr>
      </p:sp>
      <p:sp>
        <p:nvSpPr>
          <p:cNvPr id="13" name="Text 11"/>
          <p:cNvSpPr txBox="1"/>
          <p:nvPr/>
        </p:nvSpPr>
        <p:spPr>
          <a:xfrm>
            <a:off x="521208" y="2672791"/>
            <a:ext cx="2889504" cy="140818"/>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Open the next PDF with a PdfReader</a:t>
            </a:r>
            <a:endParaRPr lang="en-US" sz="800" dirty="0"/>
          </a:p>
        </p:txBody>
      </p:sp>
      <p:sp>
        <p:nvSpPr>
          <p:cNvPr id="14" name="Shape 12"/>
          <p:cNvSpPr/>
          <p:nvPr/>
        </p:nvSpPr>
        <p:spPr>
          <a:xfrm>
            <a:off x="457200" y="3005633"/>
            <a:ext cx="3017520" cy="310896"/>
          </a:xfrm>
          <a:prstGeom prst="roundRect">
            <a:avLst>
              <a:gd name="adj" fmla="val 23529"/>
            </a:avLst>
          </a:prstGeom>
          <a:solidFill>
            <a:srgbClr val="F2ECE1"/>
          </a:solidFill>
          <a:ln w="15875">
            <a:solidFill>
              <a:srgbClr val="2F6D62"/>
            </a:solidFill>
            <a:prstDash val="solid"/>
          </a:ln>
        </p:spPr>
      </p:sp>
      <p:sp>
        <p:nvSpPr>
          <p:cNvPr id="15" name="Text 13"/>
          <p:cNvSpPr txBox="1"/>
          <p:nvPr/>
        </p:nvSpPr>
        <p:spPr>
          <a:xfrm>
            <a:off x="521208" y="3090672"/>
            <a:ext cx="2889504" cy="140818"/>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Append every page after the first page</a:t>
            </a:r>
            <a:endParaRPr lang="en-US" sz="800" dirty="0"/>
          </a:p>
        </p:txBody>
      </p:sp>
      <p:sp>
        <p:nvSpPr>
          <p:cNvPr id="16" name="Shape 14"/>
          <p:cNvSpPr/>
          <p:nvPr/>
        </p:nvSpPr>
        <p:spPr>
          <a:xfrm>
            <a:off x="457200" y="3377794"/>
            <a:ext cx="3017520" cy="402336"/>
          </a:xfrm>
          <a:prstGeom prst="hexagon">
            <a:avLst/>
          </a:prstGeom>
          <a:solidFill>
            <a:srgbClr val="D97A14"/>
          </a:solidFill>
          <a:ln w="15875">
            <a:solidFill>
              <a:srgbClr val="D97A14"/>
            </a:solidFill>
            <a:prstDash val="solid"/>
          </a:ln>
        </p:spPr>
      </p:sp>
      <p:sp>
        <p:nvSpPr>
          <p:cNvPr id="17" name="Text 15"/>
          <p:cNvSpPr txBox="1"/>
          <p:nvPr/>
        </p:nvSpPr>
        <p:spPr>
          <a:xfrm>
            <a:off x="612648" y="3508553"/>
            <a:ext cx="2706624" cy="14081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Is another file left?</a:t>
            </a:r>
            <a:endParaRPr lang="en-US" sz="800" dirty="0"/>
          </a:p>
        </p:txBody>
      </p:sp>
      <p:sp>
        <p:nvSpPr>
          <p:cNvPr id="18" name="Shape 16"/>
          <p:cNvSpPr/>
          <p:nvPr/>
        </p:nvSpPr>
        <p:spPr>
          <a:xfrm>
            <a:off x="457200" y="3841394"/>
            <a:ext cx="3017520" cy="310896"/>
          </a:xfrm>
          <a:prstGeom prst="roundRect">
            <a:avLst>
              <a:gd name="adj" fmla="val 23529"/>
            </a:avLst>
          </a:prstGeom>
          <a:solidFill>
            <a:srgbClr val="F2ECE1"/>
          </a:solidFill>
          <a:ln w="15875">
            <a:solidFill>
              <a:srgbClr val="2F6D62"/>
            </a:solidFill>
            <a:prstDash val="solid"/>
          </a:ln>
        </p:spPr>
      </p:sp>
      <p:sp>
        <p:nvSpPr>
          <p:cNvPr id="19" name="Text 17"/>
          <p:cNvSpPr txBox="1"/>
          <p:nvPr/>
        </p:nvSpPr>
        <p:spPr>
          <a:xfrm>
            <a:off x="521208" y="3926434"/>
            <a:ext cx="2889504" cy="140818"/>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Write the combined PDF to a file</a:t>
            </a:r>
            <a:endParaRPr lang="en-US" sz="800" dirty="0"/>
          </a:p>
        </p:txBody>
      </p:sp>
      <p:sp>
        <p:nvSpPr>
          <p:cNvPr id="20" name="Shape 18"/>
          <p:cNvSpPr/>
          <p:nvPr/>
        </p:nvSpPr>
        <p:spPr>
          <a:xfrm>
            <a:off x="4023360" y="1398118"/>
            <a:ext cx="182880" cy="182880"/>
          </a:xfrm>
          <a:prstGeom prst="ellipse">
            <a:avLst/>
          </a:prstGeom>
          <a:solidFill>
            <a:srgbClr val="2B2622"/>
          </a:solidFill>
          <a:ln w="15875">
            <a:solidFill>
              <a:srgbClr val="2B2622"/>
            </a:solidFill>
            <a:prstDash val="solid"/>
          </a:ln>
        </p:spPr>
      </p:sp>
      <p:sp>
        <p:nvSpPr>
          <p:cNvPr id="21" name="Shape 19"/>
          <p:cNvSpPr/>
          <p:nvPr/>
        </p:nvSpPr>
        <p:spPr>
          <a:xfrm>
            <a:off x="3986784" y="3868826"/>
            <a:ext cx="256032" cy="256032"/>
          </a:xfrm>
          <a:prstGeom prst="ellipse">
            <a:avLst/>
          </a:prstGeom>
          <a:solidFill>
            <a:srgbClr val="FFFFFF"/>
          </a:solidFill>
          <a:ln w="25400">
            <a:solidFill>
              <a:srgbClr val="2B2622"/>
            </a:solidFill>
            <a:prstDash val="solid"/>
          </a:ln>
        </p:spPr>
      </p:sp>
      <p:sp>
        <p:nvSpPr>
          <p:cNvPr id="22" name="Shape 20"/>
          <p:cNvSpPr/>
          <p:nvPr/>
        </p:nvSpPr>
        <p:spPr>
          <a:xfrm>
            <a:off x="4041648" y="3923690"/>
            <a:ext cx="146304" cy="146304"/>
          </a:xfrm>
          <a:prstGeom prst="ellipse">
            <a:avLst/>
          </a:prstGeom>
          <a:solidFill>
            <a:srgbClr val="2B2622"/>
          </a:solidFill>
          <a:ln w="15875">
            <a:solidFill>
              <a:srgbClr val="2B2622"/>
            </a:solidFill>
            <a:prstDash val="solid"/>
          </a:ln>
        </p:spPr>
      </p:sp>
      <p:sp>
        <p:nvSpPr>
          <p:cNvPr id="23" name="Shape 21"/>
          <p:cNvSpPr/>
          <p:nvPr/>
        </p:nvSpPr>
        <p:spPr>
          <a:xfrm flipH="1">
            <a:off x="3474720" y="1489558"/>
            <a:ext cx="548640" cy="0"/>
          </a:xfrm>
          <a:prstGeom prst="line">
            <a:avLst/>
          </a:prstGeom>
          <a:noFill/>
          <a:ln w="15875">
            <a:solidFill>
              <a:srgbClr val="6E655C"/>
            </a:solidFill>
            <a:prstDash val="solid"/>
            <a:tailEnd type="triangle"/>
          </a:ln>
        </p:spPr>
      </p:sp>
      <p:sp>
        <p:nvSpPr>
          <p:cNvPr id="24" name="Shape 22"/>
          <p:cNvSpPr/>
          <p:nvPr/>
        </p:nvSpPr>
        <p:spPr>
          <a:xfrm>
            <a:off x="1965960" y="1645006"/>
            <a:ext cx="0" cy="106985"/>
          </a:xfrm>
          <a:prstGeom prst="line">
            <a:avLst/>
          </a:prstGeom>
          <a:noFill/>
          <a:ln w="15875">
            <a:solidFill>
              <a:srgbClr val="6E655C"/>
            </a:solidFill>
            <a:prstDash val="solid"/>
            <a:tailEnd type="triangle"/>
          </a:ln>
        </p:spPr>
      </p:sp>
      <p:sp>
        <p:nvSpPr>
          <p:cNvPr id="25" name="Shape 23"/>
          <p:cNvSpPr/>
          <p:nvPr/>
        </p:nvSpPr>
        <p:spPr>
          <a:xfrm>
            <a:off x="1965960" y="2062886"/>
            <a:ext cx="0" cy="106985"/>
          </a:xfrm>
          <a:prstGeom prst="line">
            <a:avLst/>
          </a:prstGeom>
          <a:noFill/>
          <a:ln w="15875">
            <a:solidFill>
              <a:srgbClr val="6E655C"/>
            </a:solidFill>
            <a:prstDash val="solid"/>
            <a:tailEnd type="triangle"/>
          </a:ln>
        </p:spPr>
      </p:sp>
      <p:sp>
        <p:nvSpPr>
          <p:cNvPr id="26" name="Shape 24"/>
          <p:cNvSpPr/>
          <p:nvPr/>
        </p:nvSpPr>
        <p:spPr>
          <a:xfrm>
            <a:off x="1965960" y="2480767"/>
            <a:ext cx="0" cy="106985"/>
          </a:xfrm>
          <a:prstGeom prst="line">
            <a:avLst/>
          </a:prstGeom>
          <a:noFill/>
          <a:ln w="15875">
            <a:solidFill>
              <a:srgbClr val="6E655C"/>
            </a:solidFill>
            <a:prstDash val="solid"/>
            <a:tailEnd type="triangle"/>
          </a:ln>
        </p:spPr>
      </p:sp>
      <p:sp>
        <p:nvSpPr>
          <p:cNvPr id="27" name="Shape 25"/>
          <p:cNvSpPr/>
          <p:nvPr/>
        </p:nvSpPr>
        <p:spPr>
          <a:xfrm>
            <a:off x="1965960" y="2898648"/>
            <a:ext cx="0" cy="106985"/>
          </a:xfrm>
          <a:prstGeom prst="line">
            <a:avLst/>
          </a:prstGeom>
          <a:noFill/>
          <a:ln w="15875">
            <a:solidFill>
              <a:srgbClr val="6E655C"/>
            </a:solidFill>
            <a:prstDash val="solid"/>
            <a:tailEnd type="triangle"/>
          </a:ln>
        </p:spPr>
      </p:sp>
      <p:sp>
        <p:nvSpPr>
          <p:cNvPr id="28" name="Shape 26"/>
          <p:cNvSpPr/>
          <p:nvPr/>
        </p:nvSpPr>
        <p:spPr>
          <a:xfrm>
            <a:off x="1965960" y="3316529"/>
            <a:ext cx="0" cy="61265"/>
          </a:xfrm>
          <a:prstGeom prst="line">
            <a:avLst/>
          </a:prstGeom>
          <a:noFill/>
          <a:ln w="15875">
            <a:solidFill>
              <a:srgbClr val="6E655C"/>
            </a:solidFill>
            <a:prstDash val="solid"/>
            <a:tailEnd type="triangle"/>
          </a:ln>
        </p:spPr>
      </p:sp>
      <p:sp>
        <p:nvSpPr>
          <p:cNvPr id="29" name="Shape 27"/>
          <p:cNvSpPr/>
          <p:nvPr/>
        </p:nvSpPr>
        <p:spPr>
          <a:xfrm>
            <a:off x="3474720" y="3578962"/>
            <a:ext cx="201168" cy="0"/>
          </a:xfrm>
          <a:prstGeom prst="line">
            <a:avLst/>
          </a:prstGeom>
          <a:noFill/>
          <a:ln w="15875">
            <a:solidFill>
              <a:srgbClr val="6E655C"/>
            </a:solidFill>
            <a:prstDash val="solid"/>
          </a:ln>
        </p:spPr>
      </p:sp>
      <p:sp>
        <p:nvSpPr>
          <p:cNvPr id="30" name="Shape 28"/>
          <p:cNvSpPr/>
          <p:nvPr/>
        </p:nvSpPr>
        <p:spPr>
          <a:xfrm flipV="1">
            <a:off x="3675888" y="2743200"/>
            <a:ext cx="0" cy="835762"/>
          </a:xfrm>
          <a:prstGeom prst="line">
            <a:avLst/>
          </a:prstGeom>
          <a:noFill/>
          <a:ln w="15875">
            <a:solidFill>
              <a:srgbClr val="6E655C"/>
            </a:solidFill>
            <a:prstDash val="solid"/>
          </a:ln>
        </p:spPr>
      </p:sp>
      <p:sp>
        <p:nvSpPr>
          <p:cNvPr id="31" name="Shape 29"/>
          <p:cNvSpPr/>
          <p:nvPr/>
        </p:nvSpPr>
        <p:spPr>
          <a:xfrm flipH="1">
            <a:off x="3474720" y="2743200"/>
            <a:ext cx="201168" cy="0"/>
          </a:xfrm>
          <a:prstGeom prst="line">
            <a:avLst/>
          </a:prstGeom>
          <a:noFill/>
          <a:ln w="15875">
            <a:solidFill>
              <a:srgbClr val="6E655C"/>
            </a:solidFill>
            <a:prstDash val="solid"/>
            <a:tailEnd type="triangle"/>
          </a:ln>
        </p:spPr>
      </p:sp>
      <p:sp>
        <p:nvSpPr>
          <p:cNvPr id="32" name="Text 30"/>
          <p:cNvSpPr txBox="1"/>
          <p:nvPr/>
        </p:nvSpPr>
        <p:spPr>
          <a:xfrm>
            <a:off x="3511296" y="3606394"/>
            <a:ext cx="310896" cy="164592"/>
          </a:xfrm>
          <a:prstGeom prst="rect">
            <a:avLst/>
          </a:prstGeom>
          <a:solidFill>
            <a:srgbClr val="FAF6EF"/>
          </a:solidFill>
          <a:ln/>
        </p:spPr>
        <p:txBody>
          <a:bodyPr wrap="square" lIns="0" tIns="0" rIns="0" bIns="0" rtlCol="0" anchor="ctr"/>
          <a:lstStyle/>
          <a:p>
            <a:pPr algn="l" indent="0" marL="0">
              <a:buNone/>
            </a:pPr>
            <a:r>
              <a:rPr lang="en-US" sz="800" i="1" dirty="0">
                <a:solidFill>
                  <a:srgbClr val="6E655C"/>
                </a:solidFill>
                <a:latin typeface="Calibri" pitchFamily="34" charset="0"/>
                <a:ea typeface="Calibri" pitchFamily="34" charset="-122"/>
                <a:cs typeface="Calibri" pitchFamily="34" charset="-120"/>
              </a:rPr>
              <a:t>yes</a:t>
            </a:r>
            <a:endParaRPr lang="en-US" sz="800" dirty="0"/>
          </a:p>
        </p:txBody>
      </p:sp>
      <p:sp>
        <p:nvSpPr>
          <p:cNvPr id="33" name="Shape 31"/>
          <p:cNvSpPr/>
          <p:nvPr/>
        </p:nvSpPr>
        <p:spPr>
          <a:xfrm>
            <a:off x="1965960" y="3780130"/>
            <a:ext cx="0" cy="61265"/>
          </a:xfrm>
          <a:prstGeom prst="line">
            <a:avLst/>
          </a:prstGeom>
          <a:noFill/>
          <a:ln w="15875">
            <a:solidFill>
              <a:srgbClr val="6E655C"/>
            </a:solidFill>
            <a:prstDash val="solid"/>
            <a:tailEnd type="triangle"/>
          </a:ln>
        </p:spPr>
      </p:sp>
      <p:sp>
        <p:nvSpPr>
          <p:cNvPr id="34" name="Text 32"/>
          <p:cNvSpPr txBox="1"/>
          <p:nvPr/>
        </p:nvSpPr>
        <p:spPr>
          <a:xfrm>
            <a:off x="2020824" y="3728923"/>
            <a:ext cx="310896" cy="164592"/>
          </a:xfrm>
          <a:prstGeom prst="rect">
            <a:avLst/>
          </a:prstGeom>
          <a:solidFill>
            <a:srgbClr val="FAF6EF"/>
          </a:solidFill>
          <a:ln/>
        </p:spPr>
        <p:txBody>
          <a:bodyPr wrap="square" lIns="0" tIns="0" rIns="0" bIns="0" rtlCol="0" anchor="ctr"/>
          <a:lstStyle/>
          <a:p>
            <a:pPr algn="l" indent="0" marL="0">
              <a:buNone/>
            </a:pPr>
            <a:r>
              <a:rPr lang="en-US" sz="800" i="1" dirty="0">
                <a:solidFill>
                  <a:srgbClr val="6E655C"/>
                </a:solidFill>
                <a:latin typeface="Calibri" pitchFamily="34" charset="0"/>
                <a:ea typeface="Calibri" pitchFamily="34" charset="-122"/>
                <a:cs typeface="Calibri" pitchFamily="34" charset="-120"/>
              </a:rPr>
              <a:t>no</a:t>
            </a:r>
            <a:endParaRPr lang="en-US" sz="800" dirty="0"/>
          </a:p>
        </p:txBody>
      </p:sp>
      <p:sp>
        <p:nvSpPr>
          <p:cNvPr id="35" name="Shape 33"/>
          <p:cNvSpPr/>
          <p:nvPr/>
        </p:nvSpPr>
        <p:spPr>
          <a:xfrm>
            <a:off x="3474720" y="3996842"/>
            <a:ext cx="512064" cy="0"/>
          </a:xfrm>
          <a:prstGeom prst="line">
            <a:avLst/>
          </a:prstGeom>
          <a:noFill/>
          <a:ln w="15875">
            <a:solidFill>
              <a:srgbClr val="6E655C"/>
            </a:solidFill>
            <a:prstDash val="solid"/>
            <a:tailEnd type="triangle"/>
          </a:ln>
        </p:spPr>
      </p:sp>
      <p:sp>
        <p:nvSpPr>
          <p:cNvPr id="36" name="Text 34"/>
          <p:cNvSpPr txBox="1"/>
          <p:nvPr/>
        </p:nvSpPr>
        <p:spPr>
          <a:xfrm>
            <a:off x="457200" y="4233672"/>
            <a:ext cx="3931920" cy="301752"/>
          </a:xfrm>
          <a:prstGeom prst="rect">
            <a:avLst/>
          </a:prstGeom>
          <a:noFill/>
          <a:ln/>
        </p:spPr>
        <p:txBody>
          <a:bodyPr wrap="square" lIns="0" tIns="0" rIns="0" bIns="0" rtlCol="0" anchor="t"/>
          <a:lstStyle/>
          <a:p>
            <a:pPr indent="0" marL="0">
              <a:buNone/>
            </a:pPr>
            <a:r>
              <a:rPr lang="en-US" sz="850" i="1" dirty="0">
                <a:solidFill>
                  <a:srgbClr val="6E655C"/>
                </a:solidFill>
                <a:latin typeface="Calibri" pitchFamily="34" charset="0"/>
                <a:ea typeface="Calibri" pitchFamily="34" charset="-122"/>
                <a:cs typeface="Calibri" pitchFamily="34" charset="-120"/>
              </a:rPr>
              <a:t>diagram CombiningManyPdfs - Workflow pattern, 26 of 30 words grounded in the chapter's text</a:t>
            </a:r>
            <a:endParaRPr lang="en-US" sz="850" dirty="0"/>
          </a:p>
        </p:txBody>
      </p:sp>
      <p:sp>
        <p:nvSpPr>
          <p:cNvPr id="37" name="Text 35"/>
          <p:cNvSpPr txBox="1"/>
          <p:nvPr/>
        </p:nvSpPr>
        <p:spPr>
          <a:xfrm>
            <a:off x="4572000" y="1143000"/>
            <a:ext cx="3922776"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program combinePdfsCut_v1_0_0.py, lines 19 to 37 of 37</a:t>
            </a:r>
            <a:endParaRPr lang="en-US" sz="1000" dirty="0"/>
          </a:p>
        </p:txBody>
      </p:sp>
      <p:sp>
        <p:nvSpPr>
          <p:cNvPr id="38" name="Shape 36"/>
          <p:cNvSpPr/>
          <p:nvPr/>
        </p:nvSpPr>
        <p:spPr>
          <a:xfrm>
            <a:off x="4572000" y="1417320"/>
            <a:ext cx="3922776" cy="3099816"/>
          </a:xfrm>
          <a:prstGeom prst="roundRect">
            <a:avLst>
              <a:gd name="adj" fmla="val 2950"/>
            </a:avLst>
          </a:prstGeom>
          <a:solidFill>
            <a:srgbClr val="23272E"/>
          </a:solidFill>
          <a:ln w="12700">
            <a:solidFill>
              <a:srgbClr val="23272E"/>
            </a:solidFill>
            <a:prstDash val="solid"/>
          </a:ln>
        </p:spPr>
      </p:sp>
      <p:sp>
        <p:nvSpPr>
          <p:cNvPr id="39" name="Text 37"/>
          <p:cNvSpPr txBox="1"/>
          <p:nvPr/>
        </p:nvSpPr>
        <p:spPr>
          <a:xfrm>
            <a:off x="4754880" y="1536192"/>
            <a:ext cx="3557016" cy="2862072"/>
          </a:xfrm>
          <a:prstGeom prst="rect">
            <a:avLst/>
          </a:prstGeom>
          <a:noFill/>
          <a:ln/>
        </p:spPr>
        <p:txBody>
          <a:bodyPr wrap="square" lIns="0" tIns="0" rIns="0" bIns="0" rtlCol="0" anchor="t"/>
          <a:lstStyle/>
          <a:p>
            <a:pPr indent="0" marL="0">
              <a:buNone/>
            </a:pPr>
            <a:r>
              <a:rPr lang="en-US" sz="750" b="1" dirty="0">
                <a:solidFill>
                  <a:srgbClr val="F2A860"/>
                </a:solidFill>
                <a:latin typeface="Courier New" pitchFamily="34" charset="0"/>
                <a:ea typeface="Courier New" pitchFamily="34" charset="-122"/>
                <a:cs typeface="Courier New" pitchFamily="34" charset="-120"/>
              </a:rPr>
              <a:t>for</a:t>
            </a:r>
            <a:r>
              <a:rPr lang="en-US" sz="750" dirty="0">
                <a:solidFill>
                  <a:srgbClr val="E6EDF3"/>
                </a:solidFill>
                <a:latin typeface="Courier New" pitchFamily="34" charset="0"/>
                <a:ea typeface="Courier New" pitchFamily="34" charset="-122"/>
                <a:cs typeface="Courier New" pitchFamily="34" charset="-120"/>
              </a:rPr>
              <a:t> name </a:t>
            </a:r>
            <a:r>
              <a:rPr lang="en-US" sz="750" b="1" dirty="0">
                <a:solidFill>
                  <a:srgbClr val="F2A860"/>
                </a:solidFill>
                <a:latin typeface="Courier New" pitchFamily="34" charset="0"/>
                <a:ea typeface="Courier New" pitchFamily="34" charset="-122"/>
                <a:cs typeface="Courier New" pitchFamily="34" charset="-120"/>
              </a:rPr>
              <a:t>in</a:t>
            </a:r>
            <a:r>
              <a:rPr lang="en-US" sz="750" dirty="0">
                <a:solidFill>
                  <a:srgbClr val="E6EDF3"/>
                </a:solidFill>
                <a:latin typeface="Courier New" pitchFamily="34" charset="0"/>
                <a:ea typeface="Courier New" pitchFamily="34" charset="-122"/>
                <a:cs typeface="Courier New" pitchFamily="34" charset="-120"/>
              </a:rPr>
              <a:t> (</a:t>
            </a:r>
            <a:r>
              <a:rPr lang="en-US" sz="750" dirty="0">
                <a:solidFill>
                  <a:srgbClr val="9ECBFF"/>
                </a:solidFill>
                <a:latin typeface="Courier New" pitchFamily="34" charset="0"/>
                <a:ea typeface="Courier New" pitchFamily="34" charset="-122"/>
                <a:cs typeface="Courier New" pitchFamily="34" charset="-120"/>
              </a:rPr>
              <a:t>'b.pdf'</a:t>
            </a:r>
            <a:r>
              <a:rPr lang="en-US" sz="750" dirty="0">
                <a:solidFill>
                  <a:srgbClr val="E6EDF3"/>
                </a:solidFill>
                <a:latin typeface="Courier New" pitchFamily="34" charset="0"/>
                <a:ea typeface="Courier New" pitchFamily="34" charset="-122"/>
                <a:cs typeface="Courier New" pitchFamily="34" charset="-120"/>
              </a:rPr>
              <a:t>, </a:t>
            </a:r>
            <a:r>
              <a:rPr lang="en-US" sz="750" dirty="0">
                <a:solidFill>
                  <a:srgbClr val="9ECBFF"/>
                </a:solidFill>
                <a:latin typeface="Courier New" pitchFamily="34" charset="0"/>
                <a:ea typeface="Courier New" pitchFamily="34" charset="-122"/>
                <a:cs typeface="Courier New" pitchFamily="34" charset="-120"/>
              </a:rPr>
              <a:t>'A.pdf'</a:t>
            </a:r>
            <a:r>
              <a:rPr lang="en-US" sz="750" dirty="0">
                <a:solidFill>
                  <a:srgbClr val="E6EDF3"/>
                </a:solidFill>
                <a:latin typeface="Courier New" pitchFamily="34" charset="0"/>
                <a:ea typeface="Courier New" pitchFamily="34" charset="-122"/>
                <a:cs typeface="Courier New" pitchFamily="34" charset="-120"/>
              </a:rPr>
              <a:t>, </a:t>
            </a:r>
            <a:r>
              <a:rPr lang="en-US" sz="750" dirty="0">
                <a:solidFill>
                  <a:srgbClr val="9ECBFF"/>
                </a:solidFill>
                <a:latin typeface="Courier New" pitchFamily="34" charset="0"/>
                <a:ea typeface="Courier New" pitchFamily="34" charset="-122"/>
                <a:cs typeface="Courier New" pitchFamily="34" charset="-120"/>
              </a:rPr>
              <a:t>'c.PDF'</a:t>
            </a:r>
            <a:r>
              <a:rPr lang="en-US" sz="750" dirty="0">
                <a:solidFill>
                  <a:srgbClr val="E6EDF3"/>
                </a:solidFill>
                <a:latin typeface="Courier New" pitchFamily="34" charset="0"/>
                <a:ea typeface="Courier New" pitchFamily="34" charset="-122"/>
                <a:cs typeface="Courier New" pitchFamily="34" charset="-120"/>
              </a:rPr>
              <a:t>):</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    save(name, make_pdf(name + </a:t>
            </a:r>
            <a:r>
              <a:rPr lang="en-US" sz="750" dirty="0">
                <a:solidFill>
                  <a:srgbClr val="9ECBFF"/>
                </a:solidFill>
                <a:latin typeface="Courier New" pitchFamily="34" charset="0"/>
                <a:ea typeface="Courier New" pitchFamily="34" charset="-122"/>
                <a:cs typeface="Courier New" pitchFamily="34" charset="-120"/>
              </a:rPr>
              <a:t>' p1'</a:t>
            </a:r>
            <a:r>
              <a:rPr lang="en-US" sz="750" dirty="0">
                <a:solidFill>
                  <a:srgbClr val="E6EDF3"/>
                </a:solidFill>
                <a:latin typeface="Courier New" pitchFamily="34" charset="0"/>
                <a:ea typeface="Courier New" pitchFamily="34" charset="-122"/>
                <a:cs typeface="Courier New" pitchFamily="34" charset="-120"/>
              </a:rPr>
              <a:t>, name + </a:t>
            </a:r>
            <a:r>
              <a:rPr lang="en-US" sz="750" dirty="0">
                <a:solidFill>
                  <a:srgbClr val="9ECBFF"/>
                </a:solidFill>
                <a:latin typeface="Courier New" pitchFamily="34" charset="0"/>
                <a:ea typeface="Courier New" pitchFamily="34" charset="-122"/>
                <a:cs typeface="Courier New" pitchFamily="34" charset="-120"/>
              </a:rPr>
              <a:t>' p2'</a:t>
            </a:r>
            <a:r>
              <a:rPr lang="en-US" sz="750" dirty="0">
                <a:solidFill>
                  <a:srgbClr val="E6EDF3"/>
                </a:solidFill>
                <a:latin typeface="Courier New" pitchFamily="34" charset="0"/>
                <a:ea typeface="Courier New" pitchFamily="34" charset="-122"/>
                <a:cs typeface="Courier New" pitchFamily="34" charset="-120"/>
              </a:rPr>
              <a:t>))</a:t>
            </a:r>
            <a:endParaRPr lang="en-US" sz="750" dirty="0"/>
          </a:p>
          <a:p>
            <a:pPr indent="0" marL="0">
              <a:buNone/>
            </a:pPr>
            <a:r>
              <a:rPr lang="en-US" sz="750" b="1" dirty="0">
                <a:solidFill>
                  <a:srgbClr val="F2A860"/>
                </a:solidFill>
                <a:latin typeface="Courier New" pitchFamily="34" charset="0"/>
                <a:ea typeface="Courier New" pitchFamily="34" charset="-122"/>
                <a:cs typeface="Courier New" pitchFamily="34" charset="-120"/>
              </a:rPr>
              <a:t>def</a:t>
            </a:r>
            <a:r>
              <a:rPr lang="en-US" sz="750" dirty="0">
                <a:solidFill>
                  <a:srgbClr val="E6EDF3"/>
                </a:solidFill>
                <a:latin typeface="Courier New" pitchFamily="34" charset="0"/>
                <a:ea typeface="Courier New" pitchFamily="34" charset="-122"/>
                <a:cs typeface="Courier New" pitchFamily="34" charset="-120"/>
              </a:rPr>
              <a:t> find_pdfs():                  </a:t>
            </a:r>
            <a:r>
              <a:rPr lang="en-US" sz="750" i="1" dirty="0">
                <a:solidFill>
                  <a:srgbClr val="8FA98F"/>
                </a:solidFill>
                <a:latin typeface="Courier New" pitchFamily="34" charset="0"/>
                <a:ea typeface="Courier New" pitchFamily="34" charset="-122"/>
                <a:cs typeface="Courier New" pitchFamily="34" charset="-120"/>
              </a:rPr>
              <a:t># step 1</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    pdf_filenames = []</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    </a:t>
            </a:r>
            <a:r>
              <a:rPr lang="en-US" sz="750" b="1" dirty="0">
                <a:solidFill>
                  <a:srgbClr val="F2A860"/>
                </a:solidFill>
                <a:latin typeface="Courier New" pitchFamily="34" charset="0"/>
                <a:ea typeface="Courier New" pitchFamily="34" charset="-122"/>
                <a:cs typeface="Courier New" pitchFamily="34" charset="-120"/>
              </a:rPr>
              <a:t>for</a:t>
            </a:r>
            <a:r>
              <a:rPr lang="en-US" sz="750" dirty="0">
                <a:solidFill>
                  <a:srgbClr val="E6EDF3"/>
                </a:solidFill>
                <a:latin typeface="Courier New" pitchFamily="34" charset="0"/>
                <a:ea typeface="Courier New" pitchFamily="34" charset="-122"/>
                <a:cs typeface="Courier New" pitchFamily="34" charset="-120"/>
              </a:rPr>
              <a:t> filename </a:t>
            </a:r>
            <a:r>
              <a:rPr lang="en-US" sz="750" b="1" dirty="0">
                <a:solidFill>
                  <a:srgbClr val="F2A860"/>
                </a:solidFill>
                <a:latin typeface="Courier New" pitchFamily="34" charset="0"/>
                <a:ea typeface="Courier New" pitchFamily="34" charset="-122"/>
                <a:cs typeface="Courier New" pitchFamily="34" charset="-120"/>
              </a:rPr>
              <a:t>in</a:t>
            </a:r>
            <a:r>
              <a:rPr lang="en-US" sz="750" dirty="0">
                <a:solidFill>
                  <a:srgbClr val="E6EDF3"/>
                </a:solidFill>
                <a:latin typeface="Courier New" pitchFamily="34" charset="0"/>
                <a:ea typeface="Courier New" pitchFamily="34" charset="-122"/>
                <a:cs typeface="Courier New" pitchFamily="34" charset="-120"/>
              </a:rPr>
              <a:t> os.listdir(</a:t>
            </a:r>
            <a:r>
              <a:rPr lang="en-US" sz="750" dirty="0">
                <a:solidFill>
                  <a:srgbClr val="9ECBFF"/>
                </a:solidFill>
                <a:latin typeface="Courier New" pitchFamily="34" charset="0"/>
                <a:ea typeface="Courier New" pitchFamily="34" charset="-122"/>
                <a:cs typeface="Courier New" pitchFamily="34" charset="-120"/>
              </a:rPr>
              <a:t>'.'</a:t>
            </a:r>
            <a:r>
              <a:rPr lang="en-US" sz="750" dirty="0">
                <a:solidFill>
                  <a:srgbClr val="E6EDF3"/>
                </a:solidFill>
                <a:latin typeface="Courier New" pitchFamily="34" charset="0"/>
                <a:ea typeface="Courier New" pitchFamily="34" charset="-122"/>
                <a:cs typeface="Courier New" pitchFamily="34" charset="-120"/>
              </a:rPr>
              <a:t>):</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        </a:t>
            </a:r>
            <a:r>
              <a:rPr lang="en-US" sz="750" b="1" dirty="0">
                <a:solidFill>
                  <a:srgbClr val="F2A860"/>
                </a:solidFill>
                <a:latin typeface="Courier New" pitchFamily="34" charset="0"/>
                <a:ea typeface="Courier New" pitchFamily="34" charset="-122"/>
                <a:cs typeface="Courier New" pitchFamily="34" charset="-120"/>
              </a:rPr>
              <a:t>if</a:t>
            </a:r>
            <a:r>
              <a:rPr lang="en-US" sz="750" dirty="0">
                <a:solidFill>
                  <a:srgbClr val="E6EDF3"/>
                </a:solidFill>
                <a:latin typeface="Courier New" pitchFamily="34" charset="0"/>
                <a:ea typeface="Courier New" pitchFamily="34" charset="-122"/>
                <a:cs typeface="Courier New" pitchFamily="34" charset="-120"/>
              </a:rPr>
              <a:t> filename.lower().endswith(</a:t>
            </a:r>
            <a:r>
              <a:rPr lang="en-US" sz="750" dirty="0">
                <a:solidFill>
                  <a:srgbClr val="9ECBFF"/>
                </a:solidFill>
                <a:latin typeface="Courier New" pitchFamily="34" charset="0"/>
                <a:ea typeface="Courier New" pitchFamily="34" charset="-122"/>
                <a:cs typeface="Courier New" pitchFamily="34" charset="-120"/>
              </a:rPr>
              <a:t>'.pdf'</a:t>
            </a:r>
            <a:r>
              <a:rPr lang="en-US" sz="750" dirty="0">
                <a:solidFill>
                  <a:srgbClr val="E6EDF3"/>
                </a:solidFill>
                <a:latin typeface="Courier New" pitchFamily="34" charset="0"/>
                <a:ea typeface="Courier New" pitchFamily="34" charset="-122"/>
                <a:cs typeface="Courier New" pitchFamily="34" charset="-120"/>
              </a:rPr>
              <a:t>):  </a:t>
            </a:r>
            <a:r>
              <a:rPr lang="en-US" sz="750" i="1" dirty="0">
                <a:solidFill>
                  <a:srgbClr val="8FA98F"/>
                </a:solidFill>
                <a:latin typeface="Courier New" pitchFamily="34" charset="0"/>
                <a:ea typeface="Courier New" pitchFamily="34" charset="-122"/>
                <a:cs typeface="Courier New" pitchFamily="34" charset="-120"/>
              </a:rPr>
              <a:t># c.PDF</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            pdf_filenames.append(filename)</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    pdf_filenames.sort(key=str.lower)</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    </a:t>
            </a:r>
            <a:r>
              <a:rPr lang="en-US" sz="750" b="1" dirty="0">
                <a:solidFill>
                  <a:srgbClr val="F2A860"/>
                </a:solidFill>
                <a:latin typeface="Courier New" pitchFamily="34" charset="0"/>
                <a:ea typeface="Courier New" pitchFamily="34" charset="-122"/>
                <a:cs typeface="Courier New" pitchFamily="34" charset="-120"/>
              </a:rPr>
              <a:t>return</a:t>
            </a:r>
            <a:r>
              <a:rPr lang="en-US" sz="750" dirty="0">
                <a:solidFill>
                  <a:srgbClr val="E6EDF3"/>
                </a:solidFill>
                <a:latin typeface="Courier New" pitchFamily="34" charset="0"/>
                <a:ea typeface="Courier New" pitchFamily="34" charset="-122"/>
                <a:cs typeface="Courier New" pitchFamily="34" charset="-120"/>
              </a:rPr>
              <a:t> pdf_filenames</a:t>
            </a:r>
            <a:endParaRPr lang="en-US" sz="750" dirty="0"/>
          </a:p>
          <a:p>
            <a:pPr indent="0" marL="0">
              <a:buNone/>
            </a:pPr>
            <a:r>
              <a:rPr lang="en-US" sz="750" b="1" dirty="0">
                <a:solidFill>
                  <a:srgbClr val="F2A860"/>
                </a:solidFill>
                <a:latin typeface="Courier New" pitchFamily="34" charset="0"/>
                <a:ea typeface="Courier New" pitchFamily="34" charset="-122"/>
                <a:cs typeface="Courier New" pitchFamily="34" charset="-120"/>
              </a:rPr>
              <a:t>def</a:t>
            </a:r>
            <a:r>
              <a:rPr lang="en-US" sz="750" dirty="0">
                <a:solidFill>
                  <a:srgbClr val="E6EDF3"/>
                </a:solidFill>
                <a:latin typeface="Courier New" pitchFamily="34" charset="0"/>
                <a:ea typeface="Courier New" pitchFamily="34" charset="-122"/>
                <a:cs typeface="Courier New" pitchFamily="34" charset="-120"/>
              </a:rPr>
              <a:t> combine():                    </a:t>
            </a:r>
            <a:r>
              <a:rPr lang="en-US" sz="750" i="1" dirty="0">
                <a:solidFill>
                  <a:srgbClr val="8FA98F"/>
                </a:solidFill>
                <a:latin typeface="Courier New" pitchFamily="34" charset="0"/>
                <a:ea typeface="Courier New" pitchFamily="34" charset="-122"/>
                <a:cs typeface="Courier New" pitchFamily="34" charset="-120"/>
              </a:rPr>
              <a:t># steps 2 and 3</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    writer = pypdf.PdfWriter()</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    </a:t>
            </a:r>
            <a:r>
              <a:rPr lang="en-US" sz="750" b="1" dirty="0">
                <a:solidFill>
                  <a:srgbClr val="F2A860"/>
                </a:solidFill>
                <a:latin typeface="Courier New" pitchFamily="34" charset="0"/>
                <a:ea typeface="Courier New" pitchFamily="34" charset="-122"/>
                <a:cs typeface="Courier New" pitchFamily="34" charset="-120"/>
              </a:rPr>
              <a:t>for</a:t>
            </a:r>
            <a:r>
              <a:rPr lang="en-US" sz="750" dirty="0">
                <a:solidFill>
                  <a:srgbClr val="E6EDF3"/>
                </a:solidFill>
                <a:latin typeface="Courier New" pitchFamily="34" charset="0"/>
                <a:ea typeface="Courier New" pitchFamily="34" charset="-122"/>
                <a:cs typeface="Courier New" pitchFamily="34" charset="-120"/>
              </a:rPr>
              <a:t> pdf_filename </a:t>
            </a:r>
            <a:r>
              <a:rPr lang="en-US" sz="750" b="1" dirty="0">
                <a:solidFill>
                  <a:srgbClr val="F2A860"/>
                </a:solidFill>
                <a:latin typeface="Courier New" pitchFamily="34" charset="0"/>
                <a:ea typeface="Courier New" pitchFamily="34" charset="-122"/>
                <a:cs typeface="Courier New" pitchFamily="34" charset="-120"/>
              </a:rPr>
              <a:t>in</a:t>
            </a:r>
            <a:r>
              <a:rPr lang="en-US" sz="750" dirty="0">
                <a:solidFill>
                  <a:srgbClr val="E6EDF3"/>
                </a:solidFill>
                <a:latin typeface="Courier New" pitchFamily="34" charset="0"/>
                <a:ea typeface="Courier New" pitchFamily="34" charset="-122"/>
                <a:cs typeface="Courier New" pitchFamily="34" charset="-120"/>
              </a:rPr>
              <a:t> find_pdfs():</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        reader = pypdf.PdfReader(pdf_filename)</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        writer.append(pdf_filename, (</a:t>
            </a:r>
            <a:r>
              <a:rPr lang="en-US" sz="750" dirty="0">
                <a:solidFill>
                  <a:srgbClr val="FFD28A"/>
                </a:solidFill>
                <a:latin typeface="Courier New" pitchFamily="34" charset="0"/>
                <a:ea typeface="Courier New" pitchFamily="34" charset="-122"/>
                <a:cs typeface="Courier New" pitchFamily="34" charset="-120"/>
              </a:rPr>
              <a:t>1</a:t>
            </a:r>
            <a:r>
              <a:rPr lang="en-US" sz="750" dirty="0">
                <a:solidFill>
                  <a:srgbClr val="E6EDF3"/>
                </a:solidFill>
                <a:latin typeface="Courier New" pitchFamily="34" charset="0"/>
                <a:ea typeface="Courier New" pitchFamily="34" charset="-122"/>
                <a:cs typeface="Courier New" pitchFamily="34" charset="-120"/>
              </a:rPr>
              <a:t>, len(reader.pages)))</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    with open(</a:t>
            </a:r>
            <a:r>
              <a:rPr lang="en-US" sz="750" dirty="0">
                <a:solidFill>
                  <a:srgbClr val="9ECBFF"/>
                </a:solidFill>
                <a:latin typeface="Courier New" pitchFamily="34" charset="0"/>
                <a:ea typeface="Courier New" pitchFamily="34" charset="-122"/>
                <a:cs typeface="Courier New" pitchFamily="34" charset="-120"/>
              </a:rPr>
              <a:t>'combined.pdf'</a:t>
            </a:r>
            <a:r>
              <a:rPr lang="en-US" sz="750" dirty="0">
                <a:solidFill>
                  <a:srgbClr val="E6EDF3"/>
                </a:solidFill>
                <a:latin typeface="Courier New" pitchFamily="34" charset="0"/>
                <a:ea typeface="Courier New" pitchFamily="34" charset="-122"/>
                <a:cs typeface="Courier New" pitchFamily="34" charset="-120"/>
              </a:rPr>
              <a:t>, </a:t>
            </a:r>
            <a:r>
              <a:rPr lang="en-US" sz="750" dirty="0">
                <a:solidFill>
                  <a:srgbClr val="9ECBFF"/>
                </a:solidFill>
                <a:latin typeface="Courier New" pitchFamily="34" charset="0"/>
                <a:ea typeface="Courier New" pitchFamily="34" charset="-122"/>
                <a:cs typeface="Courier New" pitchFamily="34" charset="-120"/>
              </a:rPr>
              <a:t>'wb'</a:t>
            </a:r>
            <a:r>
              <a:rPr lang="en-US" sz="750" dirty="0">
                <a:solidFill>
                  <a:srgbClr val="E6EDF3"/>
                </a:solidFill>
                <a:latin typeface="Courier New" pitchFamily="34" charset="0"/>
                <a:ea typeface="Courier New" pitchFamily="34" charset="-122"/>
                <a:cs typeface="Courier New" pitchFamily="34" charset="-120"/>
              </a:rPr>
              <a:t>) as file:</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        writer.write(file)</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    </a:t>
            </a:r>
            <a:r>
              <a:rPr lang="en-US" sz="750" b="1" dirty="0">
                <a:solidFill>
                  <a:srgbClr val="F2A860"/>
                </a:solidFill>
                <a:latin typeface="Courier New" pitchFamily="34" charset="0"/>
                <a:ea typeface="Courier New" pitchFamily="34" charset="-122"/>
                <a:cs typeface="Courier New" pitchFamily="34" charset="-120"/>
              </a:rPr>
              <a:t>return</a:t>
            </a:r>
            <a:r>
              <a:rPr lang="en-US" sz="750" dirty="0">
                <a:solidFill>
                  <a:srgbClr val="E6EDF3"/>
                </a:solidFill>
                <a:latin typeface="Courier New" pitchFamily="34" charset="0"/>
                <a:ea typeface="Courier New" pitchFamily="34" charset="-122"/>
                <a:cs typeface="Courier New" pitchFamily="34" charset="-120"/>
              </a:rPr>
              <a:t> len(pypdf.PdfReader(</a:t>
            </a:r>
            <a:r>
              <a:rPr lang="en-US" sz="750" dirty="0">
                <a:solidFill>
                  <a:srgbClr val="9ECBFF"/>
                </a:solidFill>
                <a:latin typeface="Courier New" pitchFamily="34" charset="0"/>
                <a:ea typeface="Courier New" pitchFamily="34" charset="-122"/>
                <a:cs typeface="Courier New" pitchFamily="34" charset="-120"/>
              </a:rPr>
              <a:t>'combined.pdf'</a:t>
            </a:r>
            <a:r>
              <a:rPr lang="en-US" sz="750" dirty="0">
                <a:solidFill>
                  <a:srgbClr val="E6EDF3"/>
                </a:solidFill>
                <a:latin typeface="Courier New" pitchFamily="34" charset="0"/>
                <a:ea typeface="Courier New" pitchFamily="34" charset="-122"/>
                <a:cs typeface="Courier New" pitchFamily="34" charset="-120"/>
              </a:rPr>
              <a:t>).pages)</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print(find_pdfs(), combine(), </a:t>
            </a:r>
            <a:r>
              <a:rPr lang="en-US" sz="750" dirty="0">
                <a:solidFill>
                  <a:srgbClr val="9ECBFF"/>
                </a:solidFill>
                <a:latin typeface="Courier New" pitchFamily="34" charset="0"/>
                <a:ea typeface="Courier New" pitchFamily="34" charset="-122"/>
                <a:cs typeface="Courier New" pitchFamily="34" charset="-120"/>
              </a:rPr>
              <a:t>'pages'</a:t>
            </a:r>
            <a:r>
              <a:rPr lang="en-US" sz="750" dirty="0">
                <a:solidFill>
                  <a:srgbClr val="E6EDF3"/>
                </a:solidFill>
                <a:latin typeface="Courier New" pitchFamily="34" charset="0"/>
                <a:ea typeface="Courier New" pitchFamily="34" charset="-122"/>
                <a:cs typeface="Courier New" pitchFamily="34" charset="-120"/>
              </a:rPr>
              <a:t>)</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print(find_pdfs(), combine(), </a:t>
            </a:r>
            <a:r>
              <a:rPr lang="en-US" sz="750" dirty="0">
                <a:solidFill>
                  <a:srgbClr val="9ECBFF"/>
                </a:solidFill>
                <a:latin typeface="Courier New" pitchFamily="34" charset="0"/>
                <a:ea typeface="Courier New" pitchFamily="34" charset="-122"/>
                <a:cs typeface="Courier New" pitchFamily="34" charset="-120"/>
              </a:rPr>
              <a:t>'pages'</a:t>
            </a:r>
            <a:r>
              <a:rPr lang="en-US" sz="750" dirty="0">
                <a:solidFill>
                  <a:srgbClr val="E6EDF3"/>
                </a:solidFill>
                <a:latin typeface="Courier New" pitchFamily="34" charset="0"/>
                <a:ea typeface="Courier New" pitchFamily="34" charset="-122"/>
                <a:cs typeface="Courier New" pitchFamily="34" charset="-120"/>
              </a:rPr>
              <a:t>)  </a:t>
            </a:r>
            <a:r>
              <a:rPr lang="en-US" sz="750" i="1" dirty="0">
                <a:solidFill>
                  <a:srgbClr val="8FA98F"/>
                </a:solidFill>
                <a:latin typeface="Courier New" pitchFamily="34" charset="0"/>
                <a:ea typeface="Courier New" pitchFamily="34" charset="-122"/>
                <a:cs typeface="Courier New" pitchFamily="34" charset="-120"/>
              </a:rPr>
              <a:t># again</a:t>
            </a:r>
            <a:endParaRPr lang="en-US" sz="750" dirty="0"/>
          </a:p>
          <a:p>
            <a:pPr indent="0" marL="0">
              <a:buNone/>
            </a:pPr>
            <a:r>
              <a:rPr lang="en-US" sz="750" b="1" dirty="0">
                <a:solidFill>
                  <a:srgbClr val="D97A14"/>
                </a:solidFill>
                <a:latin typeface="Courier New" pitchFamily="34" charset="0"/>
                <a:ea typeface="Courier New" pitchFamily="34" charset="-122"/>
                <a:cs typeface="Courier New" pitchFamily="34" charset="-120"/>
              </a:rPr>
              <a:t>prints </a:t>
            </a:r>
            <a:r>
              <a:rPr lang="en-US" sz="750" dirty="0">
                <a:solidFill>
                  <a:srgbClr val="7EE787"/>
                </a:solidFill>
                <a:latin typeface="Courier New" pitchFamily="34" charset="0"/>
                <a:ea typeface="Courier New" pitchFamily="34" charset="-122"/>
                <a:cs typeface="Courier New" pitchFamily="34" charset="-120"/>
              </a:rPr>
              <a:t>['A.pdf', 'b.pdf', 'c.PDF'] 3 pages</a:t>
            </a:r>
            <a:endParaRPr lang="en-US" sz="750" dirty="0"/>
          </a:p>
          <a:p>
            <a:pPr indent="0" marL="0">
              <a:buNone/>
            </a:pPr>
            <a:r>
              <a:rPr lang="en-US" sz="750" dirty="0">
                <a:solidFill>
                  <a:srgbClr val="7EE787"/>
                </a:solidFill>
                <a:latin typeface="Courier New" pitchFamily="34" charset="0"/>
                <a:ea typeface="Courier New" pitchFamily="34" charset="-122"/>
                <a:cs typeface="Courier New" pitchFamily="34" charset="-120"/>
              </a:rPr>
              <a:t>['A.pdf', 'b.pdf', 'c.PDF', 'combined.pdf'] 5 pages</a:t>
            </a:r>
            <a:endParaRPr lang="en-US" sz="750" dirty="0"/>
          </a:p>
        </p:txBody>
      </p:sp>
      <p:sp>
        <p:nvSpPr>
          <p:cNvPr id="40" name="Shape 38"/>
          <p:cNvSpPr/>
          <p:nvPr/>
        </p:nvSpPr>
        <p:spPr>
          <a:xfrm>
            <a:off x="457200" y="4636008"/>
            <a:ext cx="91440" cy="310896"/>
          </a:xfrm>
          <a:prstGeom prst="rect">
            <a:avLst/>
          </a:prstGeom>
          <a:solidFill>
            <a:srgbClr val="D97A14"/>
          </a:solidFill>
          <a:ln w="12700">
            <a:solidFill>
              <a:srgbClr val="D97A14"/>
            </a:solidFill>
            <a:prstDash val="solid"/>
          </a:ln>
        </p:spPr>
      </p:sp>
      <p:sp>
        <p:nvSpPr>
          <p:cNvPr id="41" name="Text 39"/>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Guard Project 12 against its own output, and test file names in lower case.</a:t>
            </a:r>
            <a:endParaRPr lang="en-US" sz="1350" dirty="0"/>
          </a:p>
        </p:txBody>
      </p:sp>
      <p:sp>
        <p:nvSpPr>
          <p:cNvPr id="42" name="Text 40"/>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14 / 26</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PDF Paranoia</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Encrypt a tree of PDFs, test each copy, delete the original; then decrypt them</a:t>
            </a:r>
            <a:endParaRPr lang="en-US" sz="1300" dirty="0"/>
          </a:p>
        </p:txBody>
      </p:sp>
      <p:sp>
        <p:nvSpPr>
          <p:cNvPr id="6" name="Text 4"/>
          <p:cNvSpPr txBox="1"/>
          <p:nvPr/>
        </p:nvSpPr>
        <p:spPr>
          <a:xfrm>
            <a:off x="457200" y="1143000"/>
            <a:ext cx="3922776"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program pdfParanoiaCut_v1_0_0.py, lines 27 to 38 of 49</a:t>
            </a:r>
            <a:endParaRPr lang="en-US" sz="1000" dirty="0"/>
          </a:p>
        </p:txBody>
      </p:sp>
      <p:sp>
        <p:nvSpPr>
          <p:cNvPr id="7" name="Shape 5"/>
          <p:cNvSpPr/>
          <p:nvPr/>
        </p:nvSpPr>
        <p:spPr>
          <a:xfrm>
            <a:off x="457200" y="1417320"/>
            <a:ext cx="3922776" cy="1883664"/>
          </a:xfrm>
          <a:prstGeom prst="roundRect">
            <a:avLst>
              <a:gd name="adj" fmla="val 4854"/>
            </a:avLst>
          </a:prstGeom>
          <a:solidFill>
            <a:srgbClr val="23272E"/>
          </a:solidFill>
          <a:ln w="12700">
            <a:solidFill>
              <a:srgbClr val="23272E"/>
            </a:solidFill>
            <a:prstDash val="solid"/>
          </a:ln>
        </p:spPr>
      </p:sp>
      <p:sp>
        <p:nvSpPr>
          <p:cNvPr id="8" name="Text 6"/>
          <p:cNvSpPr txBox="1"/>
          <p:nvPr/>
        </p:nvSpPr>
        <p:spPr>
          <a:xfrm>
            <a:off x="640080" y="1536192"/>
            <a:ext cx="3557016" cy="1645920"/>
          </a:xfrm>
          <a:prstGeom prst="rect">
            <a:avLst/>
          </a:prstGeom>
          <a:noFill/>
          <a:ln/>
        </p:spPr>
        <p:txBody>
          <a:bodyPr wrap="square" lIns="0" tIns="0" rIns="0" bIns="0" rtlCol="0" anchor="t"/>
          <a:lstStyle/>
          <a:p>
            <a:pPr indent="0" marL="0">
              <a:buNone/>
            </a:pPr>
            <a:r>
              <a:rPr lang="en-US" sz="750" b="1" dirty="0">
                <a:solidFill>
                  <a:srgbClr val="F2A860"/>
                </a:solidFill>
                <a:latin typeface="Courier New" pitchFamily="34" charset="0"/>
                <a:ea typeface="Courier New" pitchFamily="34" charset="-122"/>
                <a:cs typeface="Courier New" pitchFamily="34" charset="-120"/>
              </a:rPr>
              <a:t>def</a:t>
            </a:r>
            <a:r>
              <a:rPr lang="en-US" sz="750" dirty="0">
                <a:solidFill>
                  <a:srgbClr val="E6EDF3"/>
                </a:solidFill>
                <a:latin typeface="Courier New" pitchFamily="34" charset="0"/>
                <a:ea typeface="Courier New" pitchFamily="34" charset="-122"/>
                <a:cs typeface="Courier New" pitchFamily="34" charset="-120"/>
              </a:rPr>
              <a:t> encrypt_tree(folder, password):</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    </a:t>
            </a:r>
            <a:r>
              <a:rPr lang="en-US" sz="750" b="1" dirty="0">
                <a:solidFill>
                  <a:srgbClr val="F2A860"/>
                </a:solidFill>
                <a:latin typeface="Courier New" pitchFamily="34" charset="0"/>
                <a:ea typeface="Courier New" pitchFamily="34" charset="-122"/>
                <a:cs typeface="Courier New" pitchFamily="34" charset="-120"/>
              </a:rPr>
              <a:t>for</a:t>
            </a:r>
            <a:r>
              <a:rPr lang="en-US" sz="750" dirty="0">
                <a:solidFill>
                  <a:srgbClr val="E6EDF3"/>
                </a:solidFill>
                <a:latin typeface="Courier New" pitchFamily="34" charset="0"/>
                <a:ea typeface="Courier New" pitchFamily="34" charset="-122"/>
                <a:cs typeface="Courier New" pitchFamily="34" charset="-120"/>
              </a:rPr>
              <a:t> path </a:t>
            </a:r>
            <a:r>
              <a:rPr lang="en-US" sz="750" b="1" dirty="0">
                <a:solidFill>
                  <a:srgbClr val="F2A860"/>
                </a:solidFill>
                <a:latin typeface="Courier New" pitchFamily="34" charset="0"/>
                <a:ea typeface="Courier New" pitchFamily="34" charset="-122"/>
                <a:cs typeface="Courier New" pitchFamily="34" charset="-120"/>
              </a:rPr>
              <a:t>in</a:t>
            </a:r>
            <a:r>
              <a:rPr lang="en-US" sz="750" dirty="0">
                <a:solidFill>
                  <a:srgbClr val="E6EDF3"/>
                </a:solidFill>
                <a:latin typeface="Courier New" pitchFamily="34" charset="0"/>
                <a:ea typeface="Courier New" pitchFamily="34" charset="-122"/>
                <a:cs typeface="Courier New" pitchFamily="34" charset="-120"/>
              </a:rPr>
              <a:t> list(pdfs(folder, </a:t>
            </a:r>
            <a:r>
              <a:rPr lang="en-US" sz="750" dirty="0">
                <a:solidFill>
                  <a:srgbClr val="9ECBFF"/>
                </a:solidFill>
                <a:latin typeface="Courier New" pitchFamily="34" charset="0"/>
                <a:ea typeface="Courier New" pitchFamily="34" charset="-122"/>
                <a:cs typeface="Courier New" pitchFamily="34" charset="-120"/>
              </a:rPr>
              <a:t>'.pdf'</a:t>
            </a:r>
            <a:r>
              <a:rPr lang="en-US" sz="750" dirty="0">
                <a:solidFill>
                  <a:srgbClr val="E6EDF3"/>
                </a:solidFill>
                <a:latin typeface="Courier New" pitchFamily="34" charset="0"/>
                <a:ea typeface="Courier New" pitchFamily="34" charset="-122"/>
                <a:cs typeface="Courier New" pitchFamily="34" charset="-120"/>
              </a:rPr>
              <a:t>)):</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        </a:t>
            </a:r>
            <a:r>
              <a:rPr lang="en-US" sz="750" b="1" dirty="0">
                <a:solidFill>
                  <a:srgbClr val="F2A860"/>
                </a:solidFill>
                <a:latin typeface="Courier New" pitchFamily="34" charset="0"/>
                <a:ea typeface="Courier New" pitchFamily="34" charset="-122"/>
                <a:cs typeface="Courier New" pitchFamily="34" charset="-120"/>
              </a:rPr>
              <a:t>if</a:t>
            </a:r>
            <a:r>
              <a:rPr lang="en-US" sz="750" dirty="0">
                <a:solidFill>
                  <a:srgbClr val="E6EDF3"/>
                </a:solidFill>
                <a:latin typeface="Courier New" pitchFamily="34" charset="0"/>
                <a:ea typeface="Courier New" pitchFamily="34" charset="-122"/>
                <a:cs typeface="Courier New" pitchFamily="34" charset="-120"/>
              </a:rPr>
              <a:t> </a:t>
            </a:r>
            <a:r>
              <a:rPr lang="en-US" sz="750" dirty="0">
                <a:solidFill>
                  <a:srgbClr val="9ECBFF"/>
                </a:solidFill>
                <a:latin typeface="Courier New" pitchFamily="34" charset="0"/>
                <a:ea typeface="Courier New" pitchFamily="34" charset="-122"/>
                <a:cs typeface="Courier New" pitchFamily="34" charset="-120"/>
              </a:rPr>
              <a:t>'_encrypted'</a:t>
            </a:r>
            <a:r>
              <a:rPr lang="en-US" sz="750" dirty="0">
                <a:solidFill>
                  <a:srgbClr val="E6EDF3"/>
                </a:solidFill>
                <a:latin typeface="Courier New" pitchFamily="34" charset="0"/>
                <a:ea typeface="Courier New" pitchFamily="34" charset="-122"/>
                <a:cs typeface="Courier New" pitchFamily="34" charset="-120"/>
              </a:rPr>
              <a:t> </a:t>
            </a:r>
            <a:r>
              <a:rPr lang="en-US" sz="750" b="1" dirty="0">
                <a:solidFill>
                  <a:srgbClr val="F2A860"/>
                </a:solidFill>
                <a:latin typeface="Courier New" pitchFamily="34" charset="0"/>
                <a:ea typeface="Courier New" pitchFamily="34" charset="-122"/>
                <a:cs typeface="Courier New" pitchFamily="34" charset="-120"/>
              </a:rPr>
              <a:t>in</a:t>
            </a:r>
            <a:r>
              <a:rPr lang="en-US" sz="750" dirty="0">
                <a:solidFill>
                  <a:srgbClr val="E6EDF3"/>
                </a:solidFill>
                <a:latin typeface="Courier New" pitchFamily="34" charset="0"/>
                <a:ea typeface="Courier New" pitchFamily="34" charset="-122"/>
                <a:cs typeface="Courier New" pitchFamily="34" charset="-120"/>
              </a:rPr>
              <a:t> path: continue</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        reader = pypdf.PdfReader(path)</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        writer = pypdf.PdfWriter(); writer.append(reader)</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        writer.encrypt(password, algorithm=</a:t>
            </a:r>
            <a:r>
              <a:rPr lang="en-US" sz="750" dirty="0">
                <a:solidFill>
                  <a:srgbClr val="9ECBFF"/>
                </a:solidFill>
                <a:latin typeface="Courier New" pitchFamily="34" charset="0"/>
                <a:ea typeface="Courier New" pitchFamily="34" charset="-122"/>
                <a:cs typeface="Courier New" pitchFamily="34" charset="-120"/>
              </a:rPr>
              <a:t>'AES-256'</a:t>
            </a:r>
            <a:r>
              <a:rPr lang="en-US" sz="750" dirty="0">
                <a:solidFill>
                  <a:srgbClr val="E6EDF3"/>
                </a:solidFill>
                <a:latin typeface="Courier New" pitchFamily="34" charset="0"/>
                <a:ea typeface="Courier New" pitchFamily="34" charset="-122"/>
                <a:cs typeface="Courier New" pitchFamily="34" charset="-120"/>
              </a:rPr>
              <a:t>)</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        new = path[:-</a:t>
            </a:r>
            <a:r>
              <a:rPr lang="en-US" sz="750" dirty="0">
                <a:solidFill>
                  <a:srgbClr val="FFD28A"/>
                </a:solidFill>
                <a:latin typeface="Courier New" pitchFamily="34" charset="0"/>
                <a:ea typeface="Courier New" pitchFamily="34" charset="-122"/>
                <a:cs typeface="Courier New" pitchFamily="34" charset="-120"/>
              </a:rPr>
              <a:t>4</a:t>
            </a:r>
            <a:r>
              <a:rPr lang="en-US" sz="750" dirty="0">
                <a:solidFill>
                  <a:srgbClr val="E6EDF3"/>
                </a:solidFill>
                <a:latin typeface="Courier New" pitchFamily="34" charset="0"/>
                <a:ea typeface="Courier New" pitchFamily="34" charset="-122"/>
                <a:cs typeface="Courier New" pitchFamily="34" charset="-120"/>
              </a:rPr>
              <a:t>] + </a:t>
            </a:r>
            <a:r>
              <a:rPr lang="en-US" sz="750" dirty="0">
                <a:solidFill>
                  <a:srgbClr val="9ECBFF"/>
                </a:solidFill>
                <a:latin typeface="Courier New" pitchFamily="34" charset="0"/>
                <a:ea typeface="Courier New" pitchFamily="34" charset="-122"/>
                <a:cs typeface="Courier New" pitchFamily="34" charset="-120"/>
              </a:rPr>
              <a:t>'_encrypted'</a:t>
            </a:r>
            <a:r>
              <a:rPr lang="en-US" sz="750" dirty="0">
                <a:solidFill>
                  <a:srgbClr val="E6EDF3"/>
                </a:solidFill>
                <a:latin typeface="Courier New" pitchFamily="34" charset="0"/>
                <a:ea typeface="Courier New" pitchFamily="34" charset="-122"/>
                <a:cs typeface="Courier New" pitchFamily="34" charset="-120"/>
              </a:rPr>
              <a:t> + path[-</a:t>
            </a:r>
            <a:r>
              <a:rPr lang="en-US" sz="750" dirty="0">
                <a:solidFill>
                  <a:srgbClr val="FFD28A"/>
                </a:solidFill>
                <a:latin typeface="Courier New" pitchFamily="34" charset="0"/>
                <a:ea typeface="Courier New" pitchFamily="34" charset="-122"/>
                <a:cs typeface="Courier New" pitchFamily="34" charset="-120"/>
              </a:rPr>
              <a:t>4</a:t>
            </a:r>
            <a:r>
              <a:rPr lang="en-US" sz="750" dirty="0">
                <a:solidFill>
                  <a:srgbClr val="E6EDF3"/>
                </a:solidFill>
                <a:latin typeface="Courier New" pitchFamily="34" charset="0"/>
                <a:ea typeface="Courier New" pitchFamily="34" charset="-122"/>
                <a:cs typeface="Courier New" pitchFamily="34" charset="-120"/>
              </a:rPr>
              <a:t>:]</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        with open(new, </a:t>
            </a:r>
            <a:r>
              <a:rPr lang="en-US" sz="750" dirty="0">
                <a:solidFill>
                  <a:srgbClr val="9ECBFF"/>
                </a:solidFill>
                <a:latin typeface="Courier New" pitchFamily="34" charset="0"/>
                <a:ea typeface="Courier New" pitchFamily="34" charset="-122"/>
                <a:cs typeface="Courier New" pitchFamily="34" charset="-120"/>
              </a:rPr>
              <a:t>'wb'</a:t>
            </a:r>
            <a:r>
              <a:rPr lang="en-US" sz="750" dirty="0">
                <a:solidFill>
                  <a:srgbClr val="E6EDF3"/>
                </a:solidFill>
                <a:latin typeface="Courier New" pitchFamily="34" charset="0"/>
                <a:ea typeface="Courier New" pitchFamily="34" charset="-122"/>
                <a:cs typeface="Courier New" pitchFamily="34" charset="-120"/>
              </a:rPr>
              <a:t>) as f: writer.write(f)</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        check = pypdf.PdfReader(new)    </a:t>
            </a:r>
            <a:r>
              <a:rPr lang="en-US" sz="750" i="1" dirty="0">
                <a:solidFill>
                  <a:srgbClr val="8FA98F"/>
                </a:solidFill>
                <a:latin typeface="Courier New" pitchFamily="34" charset="0"/>
                <a:ea typeface="Courier New" pitchFamily="34" charset="-122"/>
                <a:cs typeface="Courier New" pitchFamily="34" charset="-120"/>
              </a:rPr>
              <a:t># test first</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        </a:t>
            </a:r>
            <a:r>
              <a:rPr lang="en-US" sz="750" b="1" dirty="0">
                <a:solidFill>
                  <a:srgbClr val="F2A860"/>
                </a:solidFill>
                <a:latin typeface="Courier New" pitchFamily="34" charset="0"/>
                <a:ea typeface="Courier New" pitchFamily="34" charset="-122"/>
                <a:cs typeface="Courier New" pitchFamily="34" charset="-120"/>
              </a:rPr>
              <a:t>if</a:t>
            </a:r>
            <a:r>
              <a:rPr lang="en-US" sz="750" dirty="0">
                <a:solidFill>
                  <a:srgbClr val="E6EDF3"/>
                </a:solidFill>
                <a:latin typeface="Courier New" pitchFamily="34" charset="0"/>
                <a:ea typeface="Courier New" pitchFamily="34" charset="-122"/>
                <a:cs typeface="Courier New" pitchFamily="34" charset="-120"/>
              </a:rPr>
              <a:t> (check.decrypt(password).name != </a:t>
            </a:r>
            <a:r>
              <a:rPr lang="en-US" sz="750" dirty="0">
                <a:solidFill>
                  <a:srgbClr val="9ECBFF"/>
                </a:solidFill>
                <a:latin typeface="Courier New" pitchFamily="34" charset="0"/>
                <a:ea typeface="Courier New" pitchFamily="34" charset="-122"/>
                <a:cs typeface="Courier New" pitchFamily="34" charset="-120"/>
              </a:rPr>
              <a:t>'NOT_DECRYPTED'</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                </a:t>
            </a:r>
            <a:r>
              <a:rPr lang="en-US" sz="750" b="1" dirty="0">
                <a:solidFill>
                  <a:srgbClr val="F2A860"/>
                </a:solidFill>
                <a:latin typeface="Courier New" pitchFamily="34" charset="0"/>
                <a:ea typeface="Courier New" pitchFamily="34" charset="-122"/>
                <a:cs typeface="Courier New" pitchFamily="34" charset="-120"/>
              </a:rPr>
              <a:t>and</a:t>
            </a:r>
            <a:r>
              <a:rPr lang="en-US" sz="750" dirty="0">
                <a:solidFill>
                  <a:srgbClr val="E6EDF3"/>
                </a:solidFill>
                <a:latin typeface="Courier New" pitchFamily="34" charset="0"/>
                <a:ea typeface="Courier New" pitchFamily="34" charset="-122"/>
                <a:cs typeface="Courier New" pitchFamily="34" charset="-120"/>
              </a:rPr>
              <a:t> len(check.pages) == len(reader.pages)):</a:t>
            </a:r>
            <a:endParaRPr lang="en-US" sz="750" dirty="0"/>
          </a:p>
          <a:p>
            <a:pPr indent="0" marL="0">
              <a:buNone/>
            </a:pPr>
            <a:r>
              <a:rPr lang="en-US" sz="750" dirty="0">
                <a:solidFill>
                  <a:srgbClr val="E6EDF3"/>
                </a:solidFill>
                <a:latin typeface="Courier New" pitchFamily="34" charset="0"/>
                <a:ea typeface="Courier New" pitchFamily="34" charset="-122"/>
                <a:cs typeface="Courier New" pitchFamily="34" charset="-120"/>
              </a:rPr>
              <a:t>            os.remove(path); print(</a:t>
            </a:r>
            <a:r>
              <a:rPr lang="en-US" sz="750" dirty="0">
                <a:solidFill>
                  <a:srgbClr val="9ECBFF"/>
                </a:solidFill>
                <a:latin typeface="Courier New" pitchFamily="34" charset="0"/>
                <a:ea typeface="Courier New" pitchFamily="34" charset="-122"/>
                <a:cs typeface="Courier New" pitchFamily="34" charset="-120"/>
              </a:rPr>
              <a:t>'Removed'</a:t>
            </a:r>
            <a:r>
              <a:rPr lang="en-US" sz="750" dirty="0">
                <a:solidFill>
                  <a:srgbClr val="E6EDF3"/>
                </a:solidFill>
                <a:latin typeface="Courier New" pitchFamily="34" charset="0"/>
                <a:ea typeface="Courier New" pitchFamily="34" charset="-122"/>
                <a:cs typeface="Courier New" pitchFamily="34" charset="-120"/>
              </a:rPr>
              <a:t>, path)</a:t>
            </a:r>
            <a:endParaRPr lang="en-US" sz="750" dirty="0"/>
          </a:p>
        </p:txBody>
      </p:sp>
      <p:sp>
        <p:nvSpPr>
          <p:cNvPr id="9" name="Text 7"/>
          <p:cNvSpPr txBox="1"/>
          <p:nvPr/>
        </p:nvSpPr>
        <p:spPr>
          <a:xfrm>
            <a:off x="4562856" y="1143000"/>
            <a:ext cx="4123944"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program pdfParanoiaCut_v1_0_0.py, lines 39 to 49 of 49</a:t>
            </a:r>
            <a:endParaRPr lang="en-US" sz="1000" dirty="0"/>
          </a:p>
        </p:txBody>
      </p:sp>
      <p:sp>
        <p:nvSpPr>
          <p:cNvPr id="10" name="Shape 8"/>
          <p:cNvSpPr/>
          <p:nvPr/>
        </p:nvSpPr>
        <p:spPr>
          <a:xfrm>
            <a:off x="4562856" y="1417320"/>
            <a:ext cx="4123944" cy="2807208"/>
          </a:xfrm>
          <a:prstGeom prst="roundRect">
            <a:avLst>
              <a:gd name="adj" fmla="val 3257"/>
            </a:avLst>
          </a:prstGeom>
          <a:solidFill>
            <a:srgbClr val="23272E"/>
          </a:solidFill>
          <a:ln w="12700">
            <a:solidFill>
              <a:srgbClr val="23272E"/>
            </a:solidFill>
            <a:prstDash val="solid"/>
          </a:ln>
        </p:spPr>
      </p:sp>
      <p:sp>
        <p:nvSpPr>
          <p:cNvPr id="11" name="Text 9"/>
          <p:cNvSpPr txBox="1"/>
          <p:nvPr/>
        </p:nvSpPr>
        <p:spPr>
          <a:xfrm>
            <a:off x="4745736" y="1536192"/>
            <a:ext cx="3758184" cy="2569464"/>
          </a:xfrm>
          <a:prstGeom prst="rect">
            <a:avLst/>
          </a:prstGeom>
          <a:noFill/>
          <a:ln/>
        </p:spPr>
        <p:txBody>
          <a:bodyPr wrap="square" lIns="0" tIns="0" rIns="0" bIns="0" rtlCol="0" anchor="t"/>
          <a:lstStyle/>
          <a:p>
            <a:pPr indent="0" marL="0">
              <a:buNone/>
            </a:pPr>
            <a:r>
              <a:rPr lang="en-US" sz="700" b="1" dirty="0">
                <a:solidFill>
                  <a:srgbClr val="F2A860"/>
                </a:solidFill>
                <a:latin typeface="Courier New" pitchFamily="34" charset="0"/>
                <a:ea typeface="Courier New" pitchFamily="34" charset="-122"/>
                <a:cs typeface="Courier New" pitchFamily="34" charset="-120"/>
              </a:rPr>
              <a:t>def</a:t>
            </a:r>
            <a:r>
              <a:rPr lang="en-US" sz="700" dirty="0">
                <a:solidFill>
                  <a:srgbClr val="E6EDF3"/>
                </a:solidFill>
                <a:latin typeface="Courier New" pitchFamily="34" charset="0"/>
                <a:ea typeface="Courier New" pitchFamily="34" charset="-122"/>
                <a:cs typeface="Courier New" pitchFamily="34" charset="-120"/>
              </a:rPr>
              <a:t> decrypt_tree(folder, password):</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path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pdfs(folder, </a:t>
            </a:r>
            <a:r>
              <a:rPr lang="en-US" sz="700" dirty="0">
                <a:solidFill>
                  <a:srgbClr val="9ECBFF"/>
                </a:solidFill>
                <a:latin typeface="Courier New" pitchFamily="34" charset="0"/>
                <a:ea typeface="Courier New" pitchFamily="34" charset="-122"/>
                <a:cs typeface="Courier New" pitchFamily="34" charset="-120"/>
              </a:rPr>
              <a:t>'_encrypted.pdf'</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reader = pypdf.PdfReader(path)</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if</a:t>
            </a:r>
            <a:r>
              <a:rPr lang="en-US" sz="700" dirty="0">
                <a:solidFill>
                  <a:srgbClr val="E6EDF3"/>
                </a:solidFill>
                <a:latin typeface="Courier New" pitchFamily="34" charset="0"/>
                <a:ea typeface="Courier New" pitchFamily="34" charset="-122"/>
                <a:cs typeface="Courier New" pitchFamily="34" charset="-120"/>
              </a:rPr>
              <a:t> reader.decrypt(password).name == </a:t>
            </a:r>
            <a:r>
              <a:rPr lang="en-US" sz="700" dirty="0">
                <a:solidFill>
                  <a:srgbClr val="9ECBFF"/>
                </a:solidFill>
                <a:latin typeface="Courier New" pitchFamily="34" charset="0"/>
                <a:ea typeface="Courier New" pitchFamily="34" charset="-122"/>
                <a:cs typeface="Courier New" pitchFamily="34" charset="-120"/>
              </a:rPr>
              <a:t>'NOT_DECRYPTED'</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print(</a:t>
            </a:r>
            <a:r>
              <a:rPr lang="en-US" sz="700" dirty="0">
                <a:solidFill>
                  <a:srgbClr val="9ECBFF"/>
                </a:solidFill>
                <a:latin typeface="Courier New" pitchFamily="34" charset="0"/>
                <a:ea typeface="Courier New" pitchFamily="34" charset="-122"/>
                <a:cs typeface="Courier New" pitchFamily="34" charset="-120"/>
              </a:rPr>
              <a:t>'Wrong password for'</a:t>
            </a:r>
            <a:r>
              <a:rPr lang="en-US" sz="700" dirty="0">
                <a:solidFill>
                  <a:srgbClr val="E6EDF3"/>
                </a:solidFill>
                <a:latin typeface="Courier New" pitchFamily="34" charset="0"/>
                <a:ea typeface="Courier New" pitchFamily="34" charset="-122"/>
                <a:cs typeface="Courier New" pitchFamily="34" charset="-120"/>
              </a:rPr>
              <a:t>, path); continue</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writer = pypdf.PdfWriter(); writer.append(reader)</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out = path.replace(</a:t>
            </a:r>
            <a:r>
              <a:rPr lang="en-US" sz="700" dirty="0">
                <a:solidFill>
                  <a:srgbClr val="9ECBFF"/>
                </a:solidFill>
                <a:latin typeface="Courier New" pitchFamily="34" charset="0"/>
                <a:ea typeface="Courier New" pitchFamily="34" charset="-122"/>
                <a:cs typeface="Courier New" pitchFamily="34" charset="-120"/>
              </a:rPr>
              <a:t>'_encrypted'</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'_decrypted'</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with open(out, </a:t>
            </a:r>
            <a:r>
              <a:rPr lang="en-US" sz="700" dirty="0">
                <a:solidFill>
                  <a:srgbClr val="9ECBFF"/>
                </a:solidFill>
                <a:latin typeface="Courier New" pitchFamily="34" charset="0"/>
                <a:ea typeface="Courier New" pitchFamily="34" charset="-122"/>
                <a:cs typeface="Courier New" pitchFamily="34" charset="-120"/>
              </a:rPr>
              <a:t>'wb'</a:t>
            </a:r>
            <a:r>
              <a:rPr lang="en-US" sz="700" dirty="0">
                <a:solidFill>
                  <a:srgbClr val="E6EDF3"/>
                </a:solidFill>
                <a:latin typeface="Courier New" pitchFamily="34" charset="0"/>
                <a:ea typeface="Courier New" pitchFamily="34" charset="-122"/>
                <a:cs typeface="Courier New" pitchFamily="34" charset="-120"/>
              </a:rPr>
              <a:t>) as f: writer.write(f)</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print(</a:t>
            </a:r>
            <a:r>
              <a:rPr lang="en-US" sz="700" dirty="0">
                <a:solidFill>
                  <a:srgbClr val="9ECBFF"/>
                </a:solidFill>
                <a:latin typeface="Courier New" pitchFamily="34" charset="0"/>
                <a:ea typeface="Courier New" pitchFamily="34" charset="-122"/>
                <a:cs typeface="Courier New" pitchFamily="34" charset="-120"/>
              </a:rPr>
              <a:t>'Decrypted copy:'</a:t>
            </a:r>
            <a:r>
              <a:rPr lang="en-US" sz="700" dirty="0">
                <a:solidFill>
                  <a:srgbClr val="E6EDF3"/>
                </a:solidFill>
                <a:latin typeface="Courier New" pitchFamily="34" charset="0"/>
                <a:ea typeface="Courier New" pitchFamily="34" charset="-122"/>
                <a:cs typeface="Courier New" pitchFamily="34" charset="-120"/>
              </a:rPr>
              <a:t>, out)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encrypt_tree(</a:t>
            </a:r>
            <a:r>
              <a:rPr lang="en-US" sz="700" dirty="0">
                <a:solidFill>
                  <a:srgbClr val="9ECBFF"/>
                </a:solidFill>
                <a:latin typeface="Courier New" pitchFamily="34" charset="0"/>
                <a:ea typeface="Courier New" pitchFamily="34" charset="-122"/>
                <a:cs typeface="Courier New" pitchFamily="34" charset="-120"/>
              </a:rPr>
              <a:t>'tree'</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'swordfish'</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decrypt_tree(</a:t>
            </a:r>
            <a:r>
              <a:rPr lang="en-US" sz="700" dirty="0">
                <a:solidFill>
                  <a:srgbClr val="9ECBFF"/>
                </a:solidFill>
                <a:latin typeface="Courier New" pitchFamily="34" charset="0"/>
                <a:ea typeface="Courier New" pitchFamily="34" charset="-122"/>
                <a:cs typeface="Courier New" pitchFamily="34" charset="-120"/>
              </a:rPr>
              <a:t>'tree'</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'wrong'</a:t>
            </a:r>
            <a:r>
              <a:rPr lang="en-US" sz="700" dirty="0">
                <a:solidFill>
                  <a:srgbClr val="E6EDF3"/>
                </a:solidFill>
                <a:latin typeface="Courier New" pitchFamily="34" charset="0"/>
                <a:ea typeface="Courier New" pitchFamily="34" charset="-122"/>
                <a:cs typeface="Courier New" pitchFamily="34" charset="-120"/>
              </a:rPr>
              <a:t>); decrypt_tree(</a:t>
            </a:r>
            <a:r>
              <a:rPr lang="en-US" sz="700" dirty="0">
                <a:solidFill>
                  <a:srgbClr val="9ECBFF"/>
                </a:solidFill>
                <a:latin typeface="Courier New" pitchFamily="34" charset="0"/>
                <a:ea typeface="Courier New" pitchFamily="34" charset="-122"/>
                <a:cs typeface="Courier New" pitchFamily="34" charset="-120"/>
              </a:rPr>
              <a:t>'tree'</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'swordfish'</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b="1" dirty="0">
                <a:solidFill>
                  <a:srgbClr val="D97A14"/>
                </a:solidFill>
                <a:latin typeface="Courier New" pitchFamily="34" charset="0"/>
                <a:ea typeface="Courier New" pitchFamily="34" charset="-122"/>
                <a:cs typeface="Courier New" pitchFamily="34" charset="-120"/>
              </a:rPr>
              <a:t>prints </a:t>
            </a:r>
            <a:r>
              <a:rPr lang="en-US" sz="700" dirty="0">
                <a:solidFill>
                  <a:srgbClr val="7EE787"/>
                </a:solidFill>
                <a:latin typeface="Courier New" pitchFamily="34" charset="0"/>
                <a:ea typeface="Courier New" pitchFamily="34" charset="-122"/>
                <a:cs typeface="Courier New" pitchFamily="34" charset="-120"/>
              </a:rPr>
              <a:t>Removed tree/a.pdf</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Removed tree/sub/b.pdf</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Removed tree/sub/deeper/C.PDF</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Wrong password for tree/a_encrypted.pdf</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Wrong password for tree/sub/b_encrypted.pdf</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Wrong password for tree/sub/deeper/C_encrypted.PDF</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Decrypted copy: tree/a_decrypted.pdf</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Decrypted copy: tree/sub/b_decrypted.pdf</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Decrypted copy: tree/sub/deeper/C_decrypted.PDF</a:t>
            </a:r>
            <a:endParaRPr lang="en-US" sz="700" dirty="0"/>
          </a:p>
        </p:txBody>
      </p:sp>
      <p:sp>
        <p:nvSpPr>
          <p:cNvPr id="12" name="Shape 10"/>
          <p:cNvSpPr/>
          <p:nvPr/>
        </p:nvSpPr>
        <p:spPr>
          <a:xfrm>
            <a:off x="457200" y="3374136"/>
            <a:ext cx="3922776" cy="941832"/>
          </a:xfrm>
          <a:prstGeom prst="roundRect">
            <a:avLst>
              <a:gd name="adj" fmla="val 9709"/>
            </a:avLst>
          </a:prstGeom>
          <a:solidFill>
            <a:srgbClr val="F2ECE1"/>
          </a:solidFill>
          <a:ln w="12700">
            <a:solidFill>
              <a:srgbClr val="F2ECE1"/>
            </a:solidFill>
            <a:prstDash val="solid"/>
          </a:ln>
        </p:spPr>
      </p:sp>
      <p:sp>
        <p:nvSpPr>
          <p:cNvPr id="13" name="Text 11"/>
          <p:cNvSpPr txBox="1"/>
          <p:nvPr/>
        </p:nvSpPr>
        <p:spPr>
          <a:xfrm>
            <a:off x="640080" y="3493008"/>
            <a:ext cx="3557016" cy="347472"/>
          </a:xfrm>
          <a:prstGeom prst="rect">
            <a:avLst/>
          </a:prstGeom>
          <a:noFill/>
          <a:ln/>
        </p:spPr>
        <p:txBody>
          <a:bodyPr wrap="square" lIns="0" tIns="0" rIns="0" bIns="0" rtlCol="0" anchor="ctr"/>
          <a:lstStyle/>
          <a:p>
            <a:pPr indent="0" marL="0">
              <a:buNone/>
            </a:pPr>
            <a:r>
              <a:rPr lang="en-US" sz="1600" b="1" dirty="0">
                <a:solidFill>
                  <a:srgbClr val="D97A14"/>
                </a:solidFill>
                <a:latin typeface="Cambria" pitchFamily="34" charset="0"/>
                <a:ea typeface="Cambria" pitchFamily="34" charset="-122"/>
                <a:cs typeface="Cambria" pitchFamily="34" charset="-120"/>
              </a:rPr>
              <a:t>Not on the command line</a:t>
            </a:r>
            <a:endParaRPr lang="en-US" sz="1600" dirty="0"/>
          </a:p>
        </p:txBody>
      </p:sp>
      <p:sp>
        <p:nvSpPr>
          <p:cNvPr id="14" name="Text 12"/>
          <p:cNvSpPr txBox="1"/>
          <p:nvPr/>
        </p:nvSpPr>
        <p:spPr>
          <a:xfrm>
            <a:off x="640080" y="3877056"/>
            <a:ext cx="3557016" cy="301752"/>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Any process list shows a command line (CWE-214), so the chapter's password is visible there.</a:t>
            </a:r>
            <a:endParaRPr lang="en-US" sz="950" dirty="0"/>
          </a:p>
        </p:txBody>
      </p:sp>
      <p:sp>
        <p:nvSpPr>
          <p:cNvPr id="15" name="Text 13"/>
          <p:cNvSpPr txBox="1"/>
          <p:nvPr/>
        </p:nvSpPr>
        <p:spPr>
          <a:xfrm>
            <a:off x="457200" y="4343400"/>
            <a:ext cx="3922776" cy="155448"/>
          </a:xfrm>
          <a:prstGeom prst="rect">
            <a:avLst/>
          </a:prstGeom>
          <a:noFill/>
          <a:ln/>
        </p:spPr>
        <p:txBody>
          <a:bodyPr wrap="square" lIns="0" tIns="0" rIns="0" bIns="0" rtlCol="0" anchor="t"/>
          <a:lstStyle/>
          <a:p>
            <a:pPr indent="0" marL="0">
              <a:buNone/>
            </a:pPr>
            <a:r>
              <a:rPr lang="en-US" sz="800" i="1" dirty="0">
                <a:solidFill>
                  <a:srgbClr val="6E655C"/>
                </a:solidFill>
                <a:latin typeface="Calibri" pitchFamily="34" charset="0"/>
                <a:ea typeface="Calibri" pitchFamily="34" charset="-122"/>
                <a:cs typeface="Calibri" pitchFamily="34" charset="-120"/>
              </a:rPr>
              <a:t>Lines 1 to 26: make_pdf(), imports, tree, pdfs().</a:t>
            </a:r>
            <a:endParaRPr lang="en-US" sz="800" dirty="0"/>
          </a:p>
        </p:txBody>
      </p:sp>
      <p:sp>
        <p:nvSpPr>
          <p:cNvPr id="16" name="Shape 14"/>
          <p:cNvSpPr/>
          <p:nvPr/>
        </p:nvSpPr>
        <p:spPr>
          <a:xfrm>
            <a:off x="457200" y="4636008"/>
            <a:ext cx="91440" cy="310896"/>
          </a:xfrm>
          <a:prstGeom prst="rect">
            <a:avLst/>
          </a:prstGeom>
          <a:solidFill>
            <a:srgbClr val="D97A14"/>
          </a:solidFill>
          <a:ln w="12700">
            <a:solidFill>
              <a:srgbClr val="D97A14"/>
            </a:solidFill>
            <a:prstDash val="solid"/>
          </a:ln>
        </p:spPr>
      </p:sp>
      <p:sp>
        <p:nvSpPr>
          <p:cNvPr id="17" name="Text 1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Test the encrypted copy before deleting; keep passwords off the command line.</a:t>
            </a:r>
            <a:endParaRPr lang="en-US" sz="1350" dirty="0"/>
          </a:p>
        </p:txBody>
      </p:sp>
      <p:sp>
        <p:nvSpPr>
          <p:cNvPr id="18"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15 / 26</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PDF Password Breaker, and its worst case</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Both cases of every word until decrypt() succeeds; the file is 8 times the page</a:t>
            </a:r>
            <a:endParaRPr lang="en-US" sz="1300" dirty="0"/>
          </a:p>
        </p:txBody>
      </p:sp>
      <p:sp>
        <p:nvSpPr>
          <p:cNvPr id="6" name="Text 4"/>
          <p:cNvSpPr txBox="1"/>
          <p:nvPr/>
        </p:nvSpPr>
        <p:spPr>
          <a:xfrm>
            <a:off x="457200" y="1143000"/>
            <a:ext cx="4425696"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program passwordBreakerCut_v1_0_0.py, lines 19 to 34 of 34</a:t>
            </a:r>
            <a:endParaRPr lang="en-US" sz="1000" dirty="0"/>
          </a:p>
        </p:txBody>
      </p:sp>
      <p:sp>
        <p:nvSpPr>
          <p:cNvPr id="7" name="Shape 5"/>
          <p:cNvSpPr/>
          <p:nvPr/>
        </p:nvSpPr>
        <p:spPr>
          <a:xfrm>
            <a:off x="457200" y="1417320"/>
            <a:ext cx="4425696" cy="2679192"/>
          </a:xfrm>
          <a:prstGeom prst="roundRect">
            <a:avLst>
              <a:gd name="adj" fmla="val 3413"/>
            </a:avLst>
          </a:prstGeom>
          <a:solidFill>
            <a:srgbClr val="23272E"/>
          </a:solidFill>
          <a:ln w="12700">
            <a:solidFill>
              <a:srgbClr val="23272E"/>
            </a:solidFill>
            <a:prstDash val="solid"/>
          </a:ln>
        </p:spPr>
      </p:sp>
      <p:sp>
        <p:nvSpPr>
          <p:cNvPr id="8" name="Text 6"/>
          <p:cNvSpPr txBox="1"/>
          <p:nvPr/>
        </p:nvSpPr>
        <p:spPr>
          <a:xfrm>
            <a:off x="640080" y="1536192"/>
            <a:ext cx="4059936" cy="2441448"/>
          </a:xfrm>
          <a:prstGeom prst="rect">
            <a:avLst/>
          </a:prstGeom>
          <a:noFill/>
          <a:ln/>
        </p:spPr>
        <p:txBody>
          <a:bodyPr wrap="square" lIns="0" tIns="0" rIns="0" bIns="0" rtlCol="0" anchor="t"/>
          <a:lstStyle/>
          <a:p>
            <a:pPr indent="0" marL="0">
              <a:buNone/>
            </a:pPr>
            <a:r>
              <a:rPr lang="en-US" sz="700" b="1" dirty="0">
                <a:solidFill>
                  <a:srgbClr val="F2A860"/>
                </a:solidFill>
                <a:latin typeface="Courier New" pitchFamily="34" charset="0"/>
                <a:ea typeface="Courier New" pitchFamily="34" charset="-122"/>
                <a:cs typeface="Courier New" pitchFamily="34" charset="-120"/>
              </a:rPr>
              <a:t>import</a:t>
            </a:r>
            <a:r>
              <a:rPr lang="en-US" sz="700" dirty="0">
                <a:solidFill>
                  <a:srgbClr val="E6EDF3"/>
                </a:solidFill>
                <a:latin typeface="Courier New" pitchFamily="34" charset="0"/>
                <a:ea typeface="Courier New" pitchFamily="34" charset="-122"/>
                <a:cs typeface="Courier New" pitchFamily="34" charset="-120"/>
              </a:rPr>
              <a:t> time</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words = [</a:t>
            </a:r>
            <a:r>
              <a:rPr lang="en-US" sz="700" dirty="0">
                <a:solidFill>
                  <a:srgbClr val="9ECBFF"/>
                </a:solidFill>
                <a:latin typeface="Courier New" pitchFamily="34" charset="0"/>
                <a:ea typeface="Courier New" pitchFamily="34" charset="-122"/>
                <a:cs typeface="Courier New" pitchFamily="34" charset="-120"/>
              </a:rPr>
              <a:t>'apple'</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'banana'</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'cherry'</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'dragonfruit'</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w = pypdf.PdfWriter(); w.append(io.BytesIO(make_pdf(</a:t>
            </a:r>
            <a:r>
              <a:rPr lang="en-US" sz="700" dirty="0">
                <a:solidFill>
                  <a:srgbClr val="9ECBFF"/>
                </a:solidFill>
                <a:latin typeface="Courier New" pitchFamily="34" charset="0"/>
                <a:ea typeface="Courier New" pitchFamily="34" charset="-122"/>
                <a:cs typeface="Courier New" pitchFamily="34" charset="-120"/>
              </a:rPr>
              <a:t>'Locked'</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w.encrypt(</a:t>
            </a:r>
            <a:r>
              <a:rPr lang="en-US" sz="700" dirty="0">
                <a:solidFill>
                  <a:srgbClr val="9ECBFF"/>
                </a:solidFill>
                <a:latin typeface="Courier New" pitchFamily="34" charset="0"/>
                <a:ea typeface="Courier New" pitchFamily="34" charset="-122"/>
                <a:cs typeface="Courier New" pitchFamily="34" charset="-120"/>
              </a:rPr>
              <a:t>'CHERRY'</a:t>
            </a:r>
            <a:r>
              <a:rPr lang="en-US" sz="700" dirty="0">
                <a:solidFill>
                  <a:srgbClr val="E6EDF3"/>
                </a:solidFill>
                <a:latin typeface="Courier New" pitchFamily="34" charset="0"/>
                <a:ea typeface="Courier New" pitchFamily="34" charset="-122"/>
                <a:cs typeface="Courier New" pitchFamily="34" charset="-120"/>
              </a:rPr>
              <a:t>, algorithm=</a:t>
            </a:r>
            <a:r>
              <a:rPr lang="en-US" sz="700" dirty="0">
                <a:solidFill>
                  <a:srgbClr val="9ECBFF"/>
                </a:solidFill>
                <a:latin typeface="Courier New" pitchFamily="34" charset="0"/>
                <a:ea typeface="Courier New" pitchFamily="34" charset="-122"/>
                <a:cs typeface="Courier New" pitchFamily="34" charset="-120"/>
              </a:rPr>
              <a:t>'AES-256'</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b = io.BytesIO(); w.write(b); data = b.getvalue()</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reader = pypdf.PdfReader(io.BytesIO(data))</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attempts, found = </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None</a:t>
            </a:r>
            <a:endParaRPr lang="en-US" sz="700" dirty="0"/>
          </a:p>
          <a:p>
            <a:pPr indent="0" marL="0">
              <a:buNone/>
            </a:pP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word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words:</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guess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(word, word.upper()):</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attempts += </a:t>
            </a:r>
            <a:r>
              <a:rPr lang="en-US" sz="700" dirty="0">
                <a:solidFill>
                  <a:srgbClr val="FFD28A"/>
                </a:solidFill>
                <a:latin typeface="Courier New" pitchFamily="34" charset="0"/>
                <a:ea typeface="Courier New" pitchFamily="34" charset="-122"/>
                <a:cs typeface="Courier New" pitchFamily="34" charset="-120"/>
              </a:rPr>
              <a:t>1</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if</a:t>
            </a:r>
            <a:r>
              <a:rPr lang="en-US" sz="700" dirty="0">
                <a:solidFill>
                  <a:srgbClr val="E6EDF3"/>
                </a:solidFill>
                <a:latin typeface="Courier New" pitchFamily="34" charset="0"/>
                <a:ea typeface="Courier New" pitchFamily="34" charset="-122"/>
                <a:cs typeface="Courier New" pitchFamily="34" charset="-120"/>
              </a:rPr>
              <a:t> reader.decrypt(guess).name != </a:t>
            </a:r>
            <a:r>
              <a:rPr lang="en-US" sz="700" dirty="0">
                <a:solidFill>
                  <a:srgbClr val="9ECBFF"/>
                </a:solidFill>
                <a:latin typeface="Courier New" pitchFamily="34" charset="0"/>
                <a:ea typeface="Courier New" pitchFamily="34" charset="-122"/>
                <a:cs typeface="Courier New" pitchFamily="34" charset="-120"/>
              </a:rPr>
              <a:t>'NOT_DECRYPTED'</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found = guess; break</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if</a:t>
            </a:r>
            <a:r>
              <a:rPr lang="en-US" sz="700" dirty="0">
                <a:solidFill>
                  <a:srgbClr val="E6EDF3"/>
                </a:solidFill>
                <a:latin typeface="Courier New" pitchFamily="34" charset="0"/>
                <a:ea typeface="Courier New" pitchFamily="34" charset="-122"/>
                <a:cs typeface="Courier New" pitchFamily="34" charset="-120"/>
              </a:rPr>
              <a:t> found: break</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'found'</a:t>
            </a:r>
            <a:r>
              <a:rPr lang="en-US" sz="700" dirty="0">
                <a:solidFill>
                  <a:srgbClr val="E6EDF3"/>
                </a:solidFill>
                <a:latin typeface="Courier New" pitchFamily="34" charset="0"/>
                <a:ea typeface="Courier New" pitchFamily="34" charset="-122"/>
                <a:cs typeface="Courier New" pitchFamily="34" charset="-120"/>
              </a:rPr>
              <a:t>, found, </a:t>
            </a:r>
            <a:r>
              <a:rPr lang="en-US" sz="700" dirty="0">
                <a:solidFill>
                  <a:srgbClr val="9ECBFF"/>
                </a:solidFill>
                <a:latin typeface="Courier New" pitchFamily="34" charset="0"/>
                <a:ea typeface="Courier New" pitchFamily="34" charset="-122"/>
                <a:cs typeface="Courier New" pitchFamily="34" charset="-120"/>
              </a:rPr>
              <a:t>'after'</a:t>
            </a:r>
            <a:r>
              <a:rPr lang="en-US" sz="700" dirty="0">
                <a:solidFill>
                  <a:srgbClr val="E6EDF3"/>
                </a:solidFill>
                <a:latin typeface="Courier New" pitchFamily="34" charset="0"/>
                <a:ea typeface="Courier New" pitchFamily="34" charset="-122"/>
                <a:cs typeface="Courier New" pitchFamily="34" charset="-120"/>
              </a:rPr>
              <a:t>, attempts, </a:t>
            </a:r>
            <a:r>
              <a:rPr lang="en-US" sz="700" dirty="0">
                <a:solidFill>
                  <a:srgbClr val="9ECBFF"/>
                </a:solidFill>
                <a:latin typeface="Courier New" pitchFamily="34" charset="0"/>
                <a:ea typeface="Courier New" pitchFamily="34" charset="-122"/>
                <a:cs typeface="Courier New" pitchFamily="34" charset="-120"/>
              </a:rPr>
              <a:t>'attempts'</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'a dictionary of n words costs up to'</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2</a:t>
            </a:r>
            <a:r>
              <a:rPr lang="en-US" sz="700" dirty="0">
                <a:solidFill>
                  <a:srgbClr val="E6EDF3"/>
                </a:solidFill>
                <a:latin typeface="Courier New" pitchFamily="34" charset="0"/>
                <a:ea typeface="Courier New" pitchFamily="34" charset="-122"/>
                <a:cs typeface="Courier New" pitchFamily="34" charset="-120"/>
              </a:rPr>
              <a:t> * len(words), </a:t>
            </a:r>
            <a:r>
              <a:rPr lang="en-US" sz="700" dirty="0">
                <a:solidFill>
                  <a:srgbClr val="9ECBFF"/>
                </a:solidFill>
                <a:latin typeface="Courier New" pitchFamily="34" charset="0"/>
                <a:ea typeface="Courier New" pitchFamily="34" charset="-122"/>
                <a:cs typeface="Courier New" pitchFamily="34" charset="-120"/>
              </a:rPr>
              <a:t>'attempts'</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print(repr(reader.pages[</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].extract_text()))</a:t>
            </a:r>
            <a:endParaRPr lang="en-US" sz="700" dirty="0"/>
          </a:p>
          <a:p>
            <a:pPr indent="0" marL="0">
              <a:buNone/>
            </a:pPr>
            <a:r>
              <a:rPr lang="en-US" sz="700" b="1" dirty="0">
                <a:solidFill>
                  <a:srgbClr val="D97A14"/>
                </a:solidFill>
                <a:latin typeface="Courier New" pitchFamily="34" charset="0"/>
                <a:ea typeface="Courier New" pitchFamily="34" charset="-122"/>
                <a:cs typeface="Courier New" pitchFamily="34" charset="-120"/>
              </a:rPr>
              <a:t>prints </a:t>
            </a:r>
            <a:r>
              <a:rPr lang="en-US" sz="700" dirty="0">
                <a:solidFill>
                  <a:srgbClr val="7EE787"/>
                </a:solidFill>
                <a:latin typeface="Courier New" pitchFamily="34" charset="0"/>
                <a:ea typeface="Courier New" pitchFamily="34" charset="-122"/>
                <a:cs typeface="Courier New" pitchFamily="34" charset="-120"/>
              </a:rPr>
              <a:t>found CHERRY after 6 attempts</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a dictionary of n words costs up to 8 attempts</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'Locked'</a:t>
            </a:r>
            <a:endParaRPr lang="en-US" sz="700" dirty="0"/>
          </a:p>
        </p:txBody>
      </p:sp>
      <p:sp>
        <p:nvSpPr>
          <p:cNvPr id="9" name="Shape 7"/>
          <p:cNvSpPr/>
          <p:nvPr/>
        </p:nvSpPr>
        <p:spPr>
          <a:xfrm>
            <a:off x="5111496" y="1371600"/>
            <a:ext cx="3575304" cy="827532"/>
          </a:xfrm>
          <a:prstGeom prst="roundRect">
            <a:avLst>
              <a:gd name="adj" fmla="val 8840"/>
            </a:avLst>
          </a:prstGeom>
          <a:solidFill>
            <a:srgbClr val="F2ECE1"/>
          </a:solidFill>
          <a:ln w="12700">
            <a:solidFill>
              <a:srgbClr val="DFD6C7"/>
            </a:solidFill>
            <a:prstDash val="solid"/>
          </a:ln>
        </p:spPr>
      </p:sp>
      <p:sp>
        <p:nvSpPr>
          <p:cNvPr id="10" name="Text 8"/>
          <p:cNvSpPr txBox="1"/>
          <p:nvPr/>
        </p:nvSpPr>
        <p:spPr>
          <a:xfrm>
            <a:off x="5221224" y="1408176"/>
            <a:ext cx="3355848" cy="430317"/>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349,900</a:t>
            </a:r>
            <a:endParaRPr lang="en-US" sz="2600" dirty="0"/>
          </a:p>
        </p:txBody>
      </p:sp>
      <p:sp>
        <p:nvSpPr>
          <p:cNvPr id="11" name="Text 9"/>
          <p:cNvSpPr txBox="1"/>
          <p:nvPr/>
        </p:nvSpPr>
        <p:spPr>
          <a:xfrm>
            <a:off x="5221224" y="1801917"/>
            <a:ext cx="3355848" cy="364114"/>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words in the book's dictionary.txt</a:t>
            </a:r>
            <a:endParaRPr lang="en-US" sz="1100" dirty="0"/>
          </a:p>
        </p:txBody>
      </p:sp>
      <p:sp>
        <p:nvSpPr>
          <p:cNvPr id="12" name="Shape 10"/>
          <p:cNvSpPr/>
          <p:nvPr/>
        </p:nvSpPr>
        <p:spPr>
          <a:xfrm>
            <a:off x="5111496" y="2327148"/>
            <a:ext cx="3575304" cy="827532"/>
          </a:xfrm>
          <a:prstGeom prst="roundRect">
            <a:avLst>
              <a:gd name="adj" fmla="val 8840"/>
            </a:avLst>
          </a:prstGeom>
          <a:solidFill>
            <a:srgbClr val="F2ECE1"/>
          </a:solidFill>
          <a:ln w="12700">
            <a:solidFill>
              <a:srgbClr val="DFD6C7"/>
            </a:solidFill>
            <a:prstDash val="solid"/>
          </a:ln>
        </p:spPr>
      </p:sp>
      <p:sp>
        <p:nvSpPr>
          <p:cNvPr id="13" name="Text 11"/>
          <p:cNvSpPr txBox="1"/>
          <p:nvPr/>
        </p:nvSpPr>
        <p:spPr>
          <a:xfrm>
            <a:off x="5221224" y="2363724"/>
            <a:ext cx="3355848" cy="430317"/>
          </a:xfrm>
          <a:prstGeom prst="rect">
            <a:avLst/>
          </a:prstGeom>
          <a:noFill/>
          <a:ln/>
        </p:spPr>
        <p:txBody>
          <a:bodyPr wrap="square" lIns="0" tIns="0" rIns="0" bIns="0" rtlCol="0" anchor="ctr"/>
          <a:lstStyle/>
          <a:p>
            <a:pPr indent="0" marL="0">
              <a:buNone/>
            </a:pPr>
            <a:r>
              <a:rPr lang="en-US" sz="2600" b="1" dirty="0">
                <a:solidFill>
                  <a:srgbClr val="D97A14"/>
                </a:solidFill>
                <a:latin typeface="Cambria" pitchFamily="34" charset="0"/>
                <a:ea typeface="Cambria" pitchFamily="34" charset="-122"/>
                <a:cs typeface="Cambria" pitchFamily="34" charset="-120"/>
              </a:rPr>
              <a:t>699,800</a:t>
            </a:r>
            <a:endParaRPr lang="en-US" sz="2600" dirty="0"/>
          </a:p>
        </p:txBody>
      </p:sp>
      <p:sp>
        <p:nvSpPr>
          <p:cNvPr id="14" name="Text 12"/>
          <p:cNvSpPr txBox="1"/>
          <p:nvPr/>
        </p:nvSpPr>
        <p:spPr>
          <a:xfrm>
            <a:off x="5221224" y="2757465"/>
            <a:ext cx="3355848" cy="364114"/>
          </a:xfrm>
          <a:prstGeom prst="rect">
            <a:avLst/>
          </a:prstGeom>
          <a:noFill/>
          <a:ln/>
        </p:spPr>
        <p:txBody>
          <a:bodyPr wrap="square" lIns="0" tIns="0" rIns="0" bIns="0" rtlCol="0" anchor="t"/>
          <a:lstStyle/>
          <a:p>
            <a:pPr indent="0" marL="0">
              <a:buNone/>
            </a:pPr>
            <a:r>
              <a:rPr lang="en-US" sz="1100" dirty="0">
                <a:solidFill>
                  <a:srgbClr val="6E655C"/>
                </a:solidFill>
                <a:latin typeface="Calibri" pitchFamily="34" charset="0"/>
                <a:ea typeface="Calibri" pitchFamily="34" charset="-122"/>
                <a:cs typeface="Calibri" pitchFamily="34" charset="-120"/>
              </a:rPr>
              <a:t>attempts, both cases of each word</a:t>
            </a:r>
            <a:endParaRPr lang="en-US" sz="1100" dirty="0"/>
          </a:p>
        </p:txBody>
      </p:sp>
      <p:sp>
        <p:nvSpPr>
          <p:cNvPr id="15" name="Shape 13"/>
          <p:cNvSpPr/>
          <p:nvPr/>
        </p:nvSpPr>
        <p:spPr>
          <a:xfrm>
            <a:off x="5111496" y="3246120"/>
            <a:ext cx="3575304" cy="1280160"/>
          </a:xfrm>
          <a:prstGeom prst="roundRect">
            <a:avLst>
              <a:gd name="adj" fmla="val 7143"/>
            </a:avLst>
          </a:prstGeom>
          <a:solidFill>
            <a:srgbClr val="F2ECE1"/>
          </a:solidFill>
          <a:ln w="12700">
            <a:solidFill>
              <a:srgbClr val="F2ECE1"/>
            </a:solidFill>
            <a:prstDash val="solid"/>
          </a:ln>
        </p:spPr>
      </p:sp>
      <p:sp>
        <p:nvSpPr>
          <p:cNvPr id="16" name="Text 14"/>
          <p:cNvSpPr txBox="1"/>
          <p:nvPr/>
        </p:nvSpPr>
        <p:spPr>
          <a:xfrm>
            <a:off x="5294376" y="3364992"/>
            <a:ext cx="3209544" cy="347472"/>
          </a:xfrm>
          <a:prstGeom prst="rect">
            <a:avLst/>
          </a:prstGeom>
          <a:noFill/>
          <a:ln/>
        </p:spPr>
        <p:txBody>
          <a:bodyPr wrap="square" lIns="0" tIns="0" rIns="0" bIns="0" rtlCol="0" anchor="ctr"/>
          <a:lstStyle/>
          <a:p>
            <a:pPr indent="0" marL="0">
              <a:buNone/>
            </a:pPr>
            <a:r>
              <a:rPr lang="en-US" sz="1600" b="1" dirty="0">
                <a:solidFill>
                  <a:srgbClr val="D97A14"/>
                </a:solidFill>
                <a:latin typeface="Cambria" pitchFamily="34" charset="0"/>
                <a:ea typeface="Cambria" pitchFamily="34" charset="-122"/>
                <a:cs typeface="Cambria" pitchFamily="34" charset="-120"/>
              </a:rPr>
              <a:t>Worst case, no match</a:t>
            </a:r>
            <a:endParaRPr lang="en-US" sz="1600" dirty="0"/>
          </a:p>
        </p:txBody>
      </p:sp>
      <p:sp>
        <p:nvSpPr>
          <p:cNvPr id="17" name="Text 15"/>
          <p:cNvSpPr txBox="1"/>
          <p:nvPr/>
        </p:nvSpPr>
        <p:spPr>
          <a:xfrm>
            <a:off x="5294376" y="3749040"/>
            <a:ext cx="3209544" cy="640080"/>
          </a:xfrm>
          <a:prstGeom prst="rect">
            <a:avLst/>
          </a:prstGeom>
          <a:noFill/>
          <a:ln/>
        </p:spPr>
        <p:txBody>
          <a:bodyPr wrap="square" lIns="0" tIns="0" rIns="0" bIns="0" rtlCol="0" anchor="t"/>
          <a:lstStyle/>
          <a:p>
            <a:pPr indent="0" marL="0">
              <a:buNone/>
            </a:pPr>
            <a:r>
              <a:rPr lang="en-US" sz="900" dirty="0">
                <a:solidFill>
                  <a:srgbClr val="2B2622"/>
                </a:solidFill>
                <a:latin typeface="Calibri" pitchFamily="34" charset="0"/>
                <a:ea typeface="Calibri" pitchFamily="34" charset="-122"/>
                <a:cs typeface="Calibri" pitchFamily="34" charset="-120"/>
              </a:rPr>
              <a:t>RC4 (the default): 241.7 s. AES-256: 1,467.5 s. Two single runs started together on a two-core machine, 12 Oct 2026; the page names over 44,000 words and 88,000 attempts.</a:t>
            </a:r>
            <a:endParaRPr lang="en-US" sz="900" dirty="0"/>
          </a:p>
        </p:txBody>
      </p:sp>
      <p:sp>
        <p:nvSpPr>
          <p:cNvPr id="18" name="Shape 16"/>
          <p:cNvSpPr/>
          <p:nvPr/>
        </p:nvSpPr>
        <p:spPr>
          <a:xfrm>
            <a:off x="457200" y="4636008"/>
            <a:ext cx="91440" cy="310896"/>
          </a:xfrm>
          <a:prstGeom prst="rect">
            <a:avLst/>
          </a:prstGeom>
          <a:solidFill>
            <a:srgbClr val="D97A14"/>
          </a:solidFill>
          <a:ln w="12700">
            <a:solidFill>
              <a:srgbClr val="D97A14"/>
            </a:solidFill>
            <a:prstDash val="solid"/>
          </a:ln>
        </p:spPr>
      </p:sp>
      <p:sp>
        <p:nvSpPr>
          <p:cNvPr id="19" name="Text 17"/>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long, random password beats a dictionary; AES-256 makes each guess dearer.</a:t>
            </a:r>
            <a:endParaRPr lang="en-US" sz="1350" dirty="0"/>
          </a:p>
        </p:txBody>
      </p:sp>
      <p:sp>
        <p:nvSpPr>
          <p:cNvPr id="20" name="Text 18"/>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16 / 26</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A .docx file is a ZIP of XML</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14 February 1989</a:t>
            </a:r>
            <a:endParaRPr lang="en-US" sz="1300" dirty="0"/>
          </a:p>
        </p:txBody>
      </p:sp>
      <p:sp>
        <p:nvSpPr>
          <p:cNvPr id="6" name="Shape 4"/>
          <p:cNvSpPr/>
          <p:nvPr/>
        </p:nvSpPr>
        <p:spPr>
          <a:xfrm>
            <a:off x="457200" y="1371600"/>
            <a:ext cx="4572000" cy="2295144"/>
          </a:xfrm>
          <a:prstGeom prst="roundRect">
            <a:avLst>
              <a:gd name="adj" fmla="val 3984"/>
            </a:avLst>
          </a:prstGeom>
          <a:solidFill>
            <a:srgbClr val="23272E"/>
          </a:solidFill>
          <a:ln w="12700">
            <a:solidFill>
              <a:srgbClr val="23272E"/>
            </a:solidFill>
            <a:prstDash val="solid"/>
          </a:ln>
        </p:spPr>
      </p:sp>
      <p:sp>
        <p:nvSpPr>
          <p:cNvPr id="7" name="Text 5"/>
          <p:cNvSpPr txBox="1"/>
          <p:nvPr/>
        </p:nvSpPr>
        <p:spPr>
          <a:xfrm>
            <a:off x="640080" y="1490472"/>
            <a:ext cx="4206240" cy="2057400"/>
          </a:xfrm>
          <a:prstGeom prst="rect">
            <a:avLst/>
          </a:prstGeom>
          <a:noFill/>
          <a:ln/>
        </p:spPr>
        <p:txBody>
          <a:bodyPr wrap="square" lIns="0" tIns="0" rIns="0" bIns="0" rtlCol="0" anchor="t"/>
          <a:lstStyle/>
          <a:p>
            <a:pPr indent="0" marL="0">
              <a:buNone/>
            </a:pPr>
            <a:r>
              <a:rPr lang="en-US" sz="790" b="1" dirty="0">
                <a:solidFill>
                  <a:srgbClr val="D97A14"/>
                </a:solidFill>
                <a:latin typeface="Courier New" pitchFamily="34" charset="0"/>
                <a:ea typeface="Courier New" pitchFamily="34" charset="-122"/>
                <a:cs typeface="Courier New" pitchFamily="34" charset="-120"/>
              </a:rPr>
              <a:t>&gt;&gt;&gt; </a:t>
            </a:r>
            <a:r>
              <a:rPr lang="en-US" sz="790" dirty="0">
                <a:solidFill>
                  <a:srgbClr val="E6EDF3"/>
                </a:solidFill>
                <a:latin typeface="Courier New" pitchFamily="34" charset="0"/>
                <a:ea typeface="Courier New" pitchFamily="34" charset="-122"/>
                <a:cs typeface="Courier New" pitchFamily="34" charset="-120"/>
              </a:rPr>
              <a:t>import io, zipfile, docx</a:t>
            </a:r>
            <a:endParaRPr lang="en-US" sz="790" dirty="0"/>
          </a:p>
          <a:p>
            <a:pPr indent="0" marL="0">
              <a:buNone/>
            </a:pPr>
            <a:r>
              <a:rPr lang="en-US" sz="790" b="1" dirty="0">
                <a:solidFill>
                  <a:srgbClr val="D97A14"/>
                </a:solidFill>
                <a:latin typeface="Courier New" pitchFamily="34" charset="0"/>
                <a:ea typeface="Courier New" pitchFamily="34" charset="-122"/>
                <a:cs typeface="Courier New" pitchFamily="34" charset="-120"/>
              </a:rPr>
              <a:t>&gt;&gt;&gt; </a:t>
            </a:r>
            <a:r>
              <a:rPr lang="en-US" sz="790" dirty="0">
                <a:solidFill>
                  <a:srgbClr val="E6EDF3"/>
                </a:solidFill>
                <a:latin typeface="Courier New" pitchFamily="34" charset="0"/>
                <a:ea typeface="Courier New" pitchFamily="34" charset="-122"/>
                <a:cs typeface="Courier New" pitchFamily="34" charset="-120"/>
              </a:rPr>
              <a:t>d = docx.Document()</a:t>
            </a:r>
            <a:endParaRPr lang="en-US" sz="790" dirty="0"/>
          </a:p>
          <a:p>
            <a:pPr indent="0" marL="0">
              <a:buNone/>
            </a:pPr>
            <a:r>
              <a:rPr lang="en-US" sz="790" b="1" dirty="0">
                <a:solidFill>
                  <a:srgbClr val="D97A14"/>
                </a:solidFill>
                <a:latin typeface="Courier New" pitchFamily="34" charset="0"/>
                <a:ea typeface="Courier New" pitchFamily="34" charset="-122"/>
                <a:cs typeface="Courier New" pitchFamily="34" charset="-120"/>
              </a:rPr>
              <a:t>&gt;&gt;&gt; </a:t>
            </a:r>
            <a:r>
              <a:rPr lang="en-US" sz="790" dirty="0">
                <a:solidFill>
                  <a:srgbClr val="E6EDF3"/>
                </a:solidFill>
                <a:latin typeface="Courier New" pitchFamily="34" charset="0"/>
                <a:ea typeface="Courier New" pitchFamily="34" charset="-122"/>
                <a:cs typeface="Courier New" pitchFamily="34" charset="-120"/>
              </a:rPr>
              <a:t>_ = d.add_paragraph('Hello, world!')</a:t>
            </a:r>
            <a:endParaRPr lang="en-US" sz="790" dirty="0"/>
          </a:p>
          <a:p>
            <a:pPr indent="0" marL="0">
              <a:buNone/>
            </a:pPr>
            <a:r>
              <a:rPr lang="en-US" sz="790" b="1" dirty="0">
                <a:solidFill>
                  <a:srgbClr val="D97A14"/>
                </a:solidFill>
                <a:latin typeface="Courier New" pitchFamily="34" charset="0"/>
                <a:ea typeface="Courier New" pitchFamily="34" charset="-122"/>
                <a:cs typeface="Courier New" pitchFamily="34" charset="-120"/>
              </a:rPr>
              <a:t>&gt;&gt;&gt; </a:t>
            </a:r>
            <a:r>
              <a:rPr lang="en-US" sz="790" dirty="0">
                <a:solidFill>
                  <a:srgbClr val="E6EDF3"/>
                </a:solidFill>
                <a:latin typeface="Courier New" pitchFamily="34" charset="0"/>
                <a:ea typeface="Courier New" pitchFamily="34" charset="-122"/>
                <a:cs typeface="Courier New" pitchFamily="34" charset="-120"/>
              </a:rPr>
              <a:t>buf = io.BytesIO()</a:t>
            </a:r>
            <a:endParaRPr lang="en-US" sz="790" dirty="0"/>
          </a:p>
          <a:p>
            <a:pPr indent="0" marL="0">
              <a:buNone/>
            </a:pPr>
            <a:r>
              <a:rPr lang="en-US" sz="790" b="1" dirty="0">
                <a:solidFill>
                  <a:srgbClr val="D97A14"/>
                </a:solidFill>
                <a:latin typeface="Courier New" pitchFamily="34" charset="0"/>
                <a:ea typeface="Courier New" pitchFamily="34" charset="-122"/>
                <a:cs typeface="Courier New" pitchFamily="34" charset="-120"/>
              </a:rPr>
              <a:t>&gt;&gt;&gt; </a:t>
            </a:r>
            <a:r>
              <a:rPr lang="en-US" sz="790" dirty="0">
                <a:solidFill>
                  <a:srgbClr val="E6EDF3"/>
                </a:solidFill>
                <a:latin typeface="Courier New" pitchFamily="34" charset="0"/>
                <a:ea typeface="Courier New" pitchFamily="34" charset="-122"/>
                <a:cs typeface="Courier New" pitchFamily="34" charset="-120"/>
              </a:rPr>
              <a:t>d.save(buf)</a:t>
            </a:r>
            <a:endParaRPr lang="en-US" sz="790" dirty="0"/>
          </a:p>
          <a:p>
            <a:pPr indent="0" marL="0">
              <a:buNone/>
            </a:pPr>
            <a:r>
              <a:rPr lang="en-US" sz="790" b="1" dirty="0">
                <a:solidFill>
                  <a:srgbClr val="D97A14"/>
                </a:solidFill>
                <a:latin typeface="Courier New" pitchFamily="34" charset="0"/>
                <a:ea typeface="Courier New" pitchFamily="34" charset="-122"/>
                <a:cs typeface="Courier New" pitchFamily="34" charset="-120"/>
              </a:rPr>
              <a:t>&gt;&gt;&gt; </a:t>
            </a:r>
            <a:r>
              <a:rPr lang="en-US" sz="790" dirty="0">
                <a:solidFill>
                  <a:srgbClr val="E6EDF3"/>
                </a:solidFill>
                <a:latin typeface="Courier New" pitchFamily="34" charset="0"/>
                <a:ea typeface="Courier New" pitchFamily="34" charset="-122"/>
                <a:cs typeface="Courier New" pitchFamily="34" charset="-120"/>
              </a:rPr>
              <a:t>buf.getvalue()[:2]</a:t>
            </a:r>
            <a:endParaRPr lang="en-US" sz="790" dirty="0"/>
          </a:p>
          <a:p>
            <a:pPr indent="0" marL="0">
              <a:buNone/>
            </a:pPr>
            <a:r>
              <a:rPr lang="en-US" sz="790" dirty="0">
                <a:solidFill>
                  <a:srgbClr val="7EE787"/>
                </a:solidFill>
                <a:latin typeface="Courier New" pitchFamily="34" charset="0"/>
                <a:ea typeface="Courier New" pitchFamily="34" charset="-122"/>
                <a:cs typeface="Courier New" pitchFamily="34" charset="-120"/>
              </a:rPr>
              <a:t>b'PK'</a:t>
            </a:r>
            <a:endParaRPr lang="en-US" sz="790" dirty="0"/>
          </a:p>
          <a:p>
            <a:pPr indent="0" marL="0">
              <a:buNone/>
            </a:pPr>
            <a:r>
              <a:rPr lang="en-US" sz="790" b="1" dirty="0">
                <a:solidFill>
                  <a:srgbClr val="D97A14"/>
                </a:solidFill>
                <a:latin typeface="Courier New" pitchFamily="34" charset="0"/>
                <a:ea typeface="Courier New" pitchFamily="34" charset="-122"/>
                <a:cs typeface="Courier New" pitchFamily="34" charset="-120"/>
              </a:rPr>
              <a:t>&gt;&gt;&gt; </a:t>
            </a:r>
            <a:r>
              <a:rPr lang="en-US" sz="790" dirty="0">
                <a:solidFill>
                  <a:srgbClr val="E6EDF3"/>
                </a:solidFill>
                <a:latin typeface="Courier New" pitchFamily="34" charset="0"/>
                <a:ea typeface="Courier New" pitchFamily="34" charset="-122"/>
                <a:cs typeface="Courier New" pitchFamily="34" charset="-120"/>
              </a:rPr>
              <a:t>z = zipfile.ZipFile(buf)</a:t>
            </a:r>
            <a:endParaRPr lang="en-US" sz="790" dirty="0"/>
          </a:p>
          <a:p>
            <a:pPr indent="0" marL="0">
              <a:buNone/>
            </a:pPr>
            <a:r>
              <a:rPr lang="en-US" sz="790" b="1" dirty="0">
                <a:solidFill>
                  <a:srgbClr val="D97A14"/>
                </a:solidFill>
                <a:latin typeface="Courier New" pitchFamily="34" charset="0"/>
                <a:ea typeface="Courier New" pitchFamily="34" charset="-122"/>
                <a:cs typeface="Courier New" pitchFamily="34" charset="-120"/>
              </a:rPr>
              <a:t>&gt;&gt;&gt; </a:t>
            </a:r>
            <a:r>
              <a:rPr lang="en-US" sz="790" dirty="0">
                <a:solidFill>
                  <a:srgbClr val="E6EDF3"/>
                </a:solidFill>
                <a:latin typeface="Courier New" pitchFamily="34" charset="0"/>
                <a:ea typeface="Courier New" pitchFamily="34" charset="-122"/>
                <a:cs typeface="Courier New" pitchFamily="34" charset="-120"/>
              </a:rPr>
              <a:t>len(z.namelist())</a:t>
            </a:r>
            <a:endParaRPr lang="en-US" sz="790" dirty="0"/>
          </a:p>
          <a:p>
            <a:pPr indent="0" marL="0">
              <a:buNone/>
            </a:pPr>
            <a:r>
              <a:rPr lang="en-US" sz="790" dirty="0">
                <a:solidFill>
                  <a:srgbClr val="7EE787"/>
                </a:solidFill>
                <a:latin typeface="Courier New" pitchFamily="34" charset="0"/>
                <a:ea typeface="Courier New" pitchFamily="34" charset="-122"/>
                <a:cs typeface="Courier New" pitchFamily="34" charset="-120"/>
              </a:rPr>
              <a:t>17</a:t>
            </a:r>
            <a:endParaRPr lang="en-US" sz="790" dirty="0"/>
          </a:p>
          <a:p>
            <a:pPr indent="0" marL="0">
              <a:buNone/>
            </a:pPr>
            <a:r>
              <a:rPr lang="en-US" sz="790" b="1" dirty="0">
                <a:solidFill>
                  <a:srgbClr val="D97A14"/>
                </a:solidFill>
                <a:latin typeface="Courier New" pitchFamily="34" charset="0"/>
                <a:ea typeface="Courier New" pitchFamily="34" charset="-122"/>
                <a:cs typeface="Courier New" pitchFamily="34" charset="-120"/>
              </a:rPr>
              <a:t>&gt;&gt;&gt; </a:t>
            </a:r>
            <a:r>
              <a:rPr lang="en-US" sz="790" dirty="0">
                <a:solidFill>
                  <a:srgbClr val="E6EDF3"/>
                </a:solidFill>
                <a:latin typeface="Courier New" pitchFamily="34" charset="0"/>
                <a:ea typeface="Courier New" pitchFamily="34" charset="-122"/>
                <a:cs typeface="Courier New" pitchFamily="34" charset="-120"/>
              </a:rPr>
              <a:t>'word/document.xml' in z.namelist()</a:t>
            </a:r>
            <a:endParaRPr lang="en-US" sz="790" dirty="0"/>
          </a:p>
          <a:p>
            <a:pPr indent="0" marL="0">
              <a:buNone/>
            </a:pPr>
            <a:r>
              <a:rPr lang="en-US" sz="790" dirty="0">
                <a:solidFill>
                  <a:srgbClr val="7EE787"/>
                </a:solidFill>
                <a:latin typeface="Courier New" pitchFamily="34" charset="0"/>
                <a:ea typeface="Courier New" pitchFamily="34" charset="-122"/>
                <a:cs typeface="Courier New" pitchFamily="34" charset="-120"/>
              </a:rPr>
              <a:t>True</a:t>
            </a:r>
            <a:endParaRPr lang="en-US" sz="790" dirty="0"/>
          </a:p>
          <a:p>
            <a:pPr indent="0" marL="0">
              <a:buNone/>
            </a:pPr>
            <a:r>
              <a:rPr lang="en-US" sz="790" b="1" dirty="0">
                <a:solidFill>
                  <a:srgbClr val="D97A14"/>
                </a:solidFill>
                <a:latin typeface="Courier New" pitchFamily="34" charset="0"/>
                <a:ea typeface="Courier New" pitchFamily="34" charset="-122"/>
                <a:cs typeface="Courier New" pitchFamily="34" charset="-120"/>
              </a:rPr>
              <a:t>&gt;&gt;&gt; </a:t>
            </a:r>
            <a:r>
              <a:rPr lang="en-US" sz="790" dirty="0">
                <a:solidFill>
                  <a:srgbClr val="E6EDF3"/>
                </a:solidFill>
                <a:latin typeface="Courier New" pitchFamily="34" charset="0"/>
                <a:ea typeface="Courier New" pitchFamily="34" charset="-122"/>
                <a:cs typeface="Courier New" pitchFamily="34" charset="-120"/>
              </a:rPr>
              <a:t>z.read('word/document.xml').decode().split('&lt;w:body&gt;')[1][:46]</a:t>
            </a:r>
            <a:endParaRPr lang="en-US" sz="790" dirty="0"/>
          </a:p>
          <a:p>
            <a:pPr indent="0" marL="0">
              <a:buNone/>
            </a:pPr>
            <a:r>
              <a:rPr lang="en-US" sz="790" dirty="0">
                <a:solidFill>
                  <a:srgbClr val="7EE787"/>
                </a:solidFill>
                <a:latin typeface="Courier New" pitchFamily="34" charset="0"/>
                <a:ea typeface="Courier New" pitchFamily="34" charset="-122"/>
                <a:cs typeface="Courier New" pitchFamily="34" charset="-120"/>
              </a:rPr>
              <a:t>'&lt;w:p&gt;&lt;w:r&gt;&lt;w:t&gt;Hello, world!&lt;/w:t&gt;&lt;/w:r&gt;&lt;/w:p&gt;'</a:t>
            </a:r>
            <a:endParaRPr lang="en-US" sz="790" dirty="0"/>
          </a:p>
        </p:txBody>
      </p:sp>
      <p:sp>
        <p:nvSpPr>
          <p:cNvPr id="8" name="Text 6"/>
          <p:cNvSpPr txBox="1"/>
          <p:nvPr/>
        </p:nvSpPr>
        <p:spPr>
          <a:xfrm>
            <a:off x="457200" y="3685032"/>
            <a:ext cx="4572000" cy="219456"/>
          </a:xfrm>
          <a:prstGeom prst="rect">
            <a:avLst/>
          </a:prstGeom>
          <a:noFill/>
          <a:ln/>
        </p:spPr>
        <p:txBody>
          <a:bodyPr wrap="square" lIns="0" tIns="0" rIns="0" bIns="0" rtlCol="0" anchor="ctr"/>
          <a:lstStyle/>
          <a:p>
            <a:pPr algn="r" indent="0" marL="0">
              <a:buNone/>
            </a:pPr>
            <a:r>
              <a:rPr lang="en-US" sz="900" i="1" dirty="0">
                <a:solidFill>
                  <a:srgbClr val="6E655C"/>
                </a:solidFill>
                <a:latin typeface="Calibri" pitchFamily="34" charset="0"/>
                <a:ea typeface="Calibri" pitchFamily="34" charset="-122"/>
                <a:cs typeface="Calibri" pitchFamily="34" charset="-120"/>
              </a:rPr>
              <a:t>run under Python 3.14.6, pypdf 6.20.1, python-docx 1.2.0</a:t>
            </a:r>
            <a:endParaRPr lang="en-US" sz="900" dirty="0"/>
          </a:p>
        </p:txBody>
      </p:sp>
      <p:sp>
        <p:nvSpPr>
          <p:cNvPr id="9" name="Shape 7"/>
          <p:cNvSpPr/>
          <p:nvPr/>
        </p:nvSpPr>
        <p:spPr>
          <a:xfrm>
            <a:off x="5212080" y="1280160"/>
            <a:ext cx="3474720" cy="1371600"/>
          </a:xfrm>
          <a:prstGeom prst="roundRect">
            <a:avLst>
              <a:gd name="adj" fmla="val 6667"/>
            </a:avLst>
          </a:prstGeom>
          <a:solidFill>
            <a:srgbClr val="F2ECE1"/>
          </a:solidFill>
          <a:ln w="12700">
            <a:solidFill>
              <a:srgbClr val="F2ECE1"/>
            </a:solidFill>
            <a:prstDash val="solid"/>
          </a:ln>
        </p:spPr>
      </p:sp>
      <p:sp>
        <p:nvSpPr>
          <p:cNvPr id="10" name="Text 8"/>
          <p:cNvSpPr txBox="1"/>
          <p:nvPr/>
        </p:nvSpPr>
        <p:spPr>
          <a:xfrm>
            <a:off x="5394960" y="1399032"/>
            <a:ext cx="3108960" cy="347472"/>
          </a:xfrm>
          <a:prstGeom prst="rect">
            <a:avLst/>
          </a:prstGeom>
          <a:noFill/>
          <a:ln/>
        </p:spPr>
        <p:txBody>
          <a:bodyPr wrap="square" lIns="0" tIns="0" rIns="0" bIns="0" rtlCol="0" anchor="ctr"/>
          <a:lstStyle/>
          <a:p>
            <a:pPr indent="0" marL="0">
              <a:buNone/>
            </a:pPr>
            <a:r>
              <a:rPr lang="en-US" sz="1600" b="1" dirty="0">
                <a:solidFill>
                  <a:srgbClr val="2F6D62"/>
                </a:solidFill>
                <a:latin typeface="Cambria" pitchFamily="34" charset="0"/>
                <a:ea typeface="Cambria" pitchFamily="34" charset="-122"/>
                <a:cs typeface="Cambria" pitchFamily="34" charset="-120"/>
              </a:rPr>
              <a:t>PK, for Phil Katz</a:t>
            </a:r>
            <a:endParaRPr lang="en-US" sz="1600" dirty="0"/>
          </a:p>
        </p:txBody>
      </p:sp>
      <p:sp>
        <p:nvSpPr>
          <p:cNvPr id="11" name="Text 9"/>
          <p:cNvSpPr txBox="1"/>
          <p:nvPr/>
        </p:nvSpPr>
        <p:spPr>
          <a:xfrm>
            <a:off x="5394960" y="1783080"/>
            <a:ext cx="3108960" cy="731520"/>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Phil Katz of PKWARE and Gary Conway designed the ZIP format; its first release is dated 14 February 1989. Office Open XML is extended from it.</a:t>
            </a:r>
            <a:endParaRPr lang="en-US" sz="1000" dirty="0"/>
          </a:p>
        </p:txBody>
      </p:sp>
      <p:sp>
        <p:nvSpPr>
          <p:cNvPr id="12" name="Shape 10"/>
          <p:cNvSpPr/>
          <p:nvPr/>
        </p:nvSpPr>
        <p:spPr>
          <a:xfrm>
            <a:off x="5212080" y="2743200"/>
            <a:ext cx="3474720" cy="1234440"/>
          </a:xfrm>
          <a:prstGeom prst="roundRect">
            <a:avLst>
              <a:gd name="adj" fmla="val 7407"/>
            </a:avLst>
          </a:prstGeom>
          <a:solidFill>
            <a:srgbClr val="F2ECE1"/>
          </a:solidFill>
          <a:ln w="12700">
            <a:solidFill>
              <a:srgbClr val="F2ECE1"/>
            </a:solidFill>
            <a:prstDash val="solid"/>
          </a:ln>
        </p:spPr>
      </p:sp>
      <p:sp>
        <p:nvSpPr>
          <p:cNvPr id="13" name="Text 11"/>
          <p:cNvSpPr txBox="1"/>
          <p:nvPr/>
        </p:nvSpPr>
        <p:spPr>
          <a:xfrm>
            <a:off x="5394960" y="2862072"/>
            <a:ext cx="3108960" cy="347472"/>
          </a:xfrm>
          <a:prstGeom prst="rect">
            <a:avLst/>
          </a:prstGeom>
          <a:noFill/>
          <a:ln/>
        </p:spPr>
        <p:txBody>
          <a:bodyPr wrap="square" lIns="0" tIns="0" rIns="0" bIns="0" rtlCol="0" anchor="ctr"/>
          <a:lstStyle/>
          <a:p>
            <a:pPr indent="0" marL="0">
              <a:buNone/>
            </a:pPr>
            <a:r>
              <a:rPr lang="en-US" sz="1600" b="1" dirty="0">
                <a:solidFill>
                  <a:srgbClr val="D97A14"/>
                </a:solidFill>
                <a:latin typeface="Cambria" pitchFamily="34" charset="0"/>
                <a:ea typeface="Cambria" pitchFamily="34" charset="-122"/>
                <a:cs typeface="Cambria" pitchFamily="34" charset="-120"/>
              </a:rPr>
              <a:t>python-docx, imported as docx</a:t>
            </a:r>
            <a:endParaRPr lang="en-US" sz="1600" dirty="0"/>
          </a:p>
        </p:txBody>
      </p:sp>
      <p:sp>
        <p:nvSpPr>
          <p:cNvPr id="14" name="Text 12"/>
          <p:cNvSpPr txBox="1"/>
          <p:nvPr/>
        </p:nvSpPr>
        <p:spPr>
          <a:xfrm>
            <a:off x="5394960" y="3246120"/>
            <a:ext cx="3108960" cy="594360"/>
          </a:xfrm>
          <a:prstGeom prst="rect">
            <a:avLst/>
          </a:prstGeom>
          <a:noFill/>
          <a:ln/>
        </p:spPr>
        <p:txBody>
          <a:bodyPr wrap="square" lIns="0" tIns="0" rIns="0" bIns="0" rtlCol="0" anchor="t"/>
          <a:lstStyle/>
          <a:p>
            <a:pPr indent="0" marL="0">
              <a:buNone/>
            </a:pPr>
            <a:r>
              <a:rPr lang="en-US" sz="1000" dirty="0">
                <a:solidFill>
                  <a:srgbClr val="2B2622"/>
                </a:solidFill>
                <a:latin typeface="Calibri" pitchFamily="34" charset="0"/>
                <a:ea typeface="Calibri" pitchFamily="34" charset="-122"/>
                <a:cs typeface="Calibri" pitchFamily="34" charset="-120"/>
              </a:rPr>
              <a:t>The package docx (0.2.4, 6 Feb 2014) fails on import in Python 3.14.6: ModuleNotFoundError: No module named 'exceptions'.</a:t>
            </a:r>
            <a:endParaRPr lang="en-US" sz="1000" dirty="0"/>
          </a:p>
        </p:txBody>
      </p:sp>
      <p:sp>
        <p:nvSpPr>
          <p:cNvPr id="15" name="Shape 13"/>
          <p:cNvSpPr/>
          <p:nvPr/>
        </p:nvSpPr>
        <p:spPr>
          <a:xfrm>
            <a:off x="457200" y="4041648"/>
            <a:ext cx="2449129" cy="365760"/>
          </a:xfrm>
          <a:prstGeom prst="roundRect">
            <a:avLst>
              <a:gd name="adj" fmla="val 50000"/>
            </a:avLst>
          </a:prstGeom>
          <a:solidFill>
            <a:srgbClr val="EFE9DC"/>
          </a:solidFill>
          <a:ln w="9525">
            <a:solidFill>
              <a:srgbClr val="DFD6C7"/>
            </a:solidFill>
            <a:prstDash val="solid"/>
          </a:ln>
        </p:spPr>
      </p:sp>
      <p:sp>
        <p:nvSpPr>
          <p:cNvPr id="16" name="Text 14"/>
          <p:cNvSpPr txBox="1"/>
          <p:nvPr/>
        </p:nvSpPr>
        <p:spPr>
          <a:xfrm>
            <a:off x="548640" y="404164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WHO  </a:t>
            </a:r>
            <a:r>
              <a:rPr lang="en-US" sz="800" dirty="0">
                <a:solidFill>
                  <a:srgbClr val="2B2622"/>
                </a:solidFill>
                <a:latin typeface="Calibri" pitchFamily="34" charset="0"/>
                <a:ea typeface="Calibri" pitchFamily="34" charset="-122"/>
                <a:cs typeface="Calibri" pitchFamily="34" charset="-120"/>
              </a:rPr>
              <a:t>Phil Katz of PKWARE and Gary Conway of…</a:t>
            </a:r>
            <a:endParaRPr lang="en-US" sz="750" dirty="0"/>
          </a:p>
        </p:txBody>
      </p:sp>
      <p:sp>
        <p:nvSpPr>
          <p:cNvPr id="17" name="Shape 15"/>
          <p:cNvSpPr/>
          <p:nvPr/>
        </p:nvSpPr>
        <p:spPr>
          <a:xfrm>
            <a:off x="3016057" y="4041648"/>
            <a:ext cx="2449129" cy="365760"/>
          </a:xfrm>
          <a:prstGeom prst="roundRect">
            <a:avLst>
              <a:gd name="adj" fmla="val 50000"/>
            </a:avLst>
          </a:prstGeom>
          <a:solidFill>
            <a:srgbClr val="EFE9DC"/>
          </a:solidFill>
          <a:ln w="9525">
            <a:solidFill>
              <a:srgbClr val="DFD6C7"/>
            </a:solidFill>
            <a:prstDash val="solid"/>
          </a:ln>
        </p:spPr>
      </p:sp>
      <p:sp>
        <p:nvSpPr>
          <p:cNvPr id="18" name="Text 16"/>
          <p:cNvSpPr txBox="1"/>
          <p:nvPr/>
        </p:nvSpPr>
        <p:spPr>
          <a:xfrm>
            <a:off x="3107497" y="4041648"/>
            <a:ext cx="2302825"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WHERE  </a:t>
            </a:r>
            <a:r>
              <a:rPr lang="en-US" sz="800" dirty="0">
                <a:solidFill>
                  <a:srgbClr val="2B2622"/>
                </a:solidFill>
                <a:latin typeface="Calibri" pitchFamily="34" charset="0"/>
                <a:ea typeface="Calibri" pitchFamily="34" charset="-122"/>
                <a:cs typeface="Calibri" pitchFamily="34" charset="-120"/>
              </a:rPr>
              <a:t>PKWARE, Inc., in the dispute with Syst…</a:t>
            </a:r>
            <a:endParaRPr lang="en-US" sz="750" dirty="0"/>
          </a:p>
        </p:txBody>
      </p:sp>
      <p:sp>
        <p:nvSpPr>
          <p:cNvPr id="19" name="Shape 17"/>
          <p:cNvSpPr/>
          <p:nvPr/>
        </p:nvSpPr>
        <p:spPr>
          <a:xfrm>
            <a:off x="5574914" y="4041648"/>
            <a:ext cx="1343071" cy="365760"/>
          </a:xfrm>
          <a:prstGeom prst="roundRect">
            <a:avLst>
              <a:gd name="adj" fmla="val 50000"/>
            </a:avLst>
          </a:prstGeom>
          <a:solidFill>
            <a:srgbClr val="EFE9DC"/>
          </a:solidFill>
          <a:ln w="9525">
            <a:solidFill>
              <a:srgbClr val="DFD6C7"/>
            </a:solidFill>
            <a:prstDash val="solid"/>
          </a:ln>
        </p:spPr>
      </p:sp>
      <p:sp>
        <p:nvSpPr>
          <p:cNvPr id="20" name="Text 18"/>
          <p:cNvSpPr txBox="1"/>
          <p:nvPr/>
        </p:nvSpPr>
        <p:spPr>
          <a:xfrm>
            <a:off x="5666354" y="4041648"/>
            <a:ext cx="1196767" cy="365760"/>
          </a:xfrm>
          <a:prstGeom prst="rect">
            <a:avLst/>
          </a:prstGeom>
          <a:noFill/>
          <a:ln/>
        </p:spPr>
        <p:txBody>
          <a:bodyPr wrap="square" lIns="0" tIns="0" rIns="0" bIns="0" rtlCol="0" anchor="ctr"/>
          <a:lstStyle/>
          <a:p>
            <a:pPr indent="0" marL="0">
              <a:buNone/>
            </a:pPr>
            <a:r>
              <a:rPr lang="en-US" sz="750" b="1" dirty="0">
                <a:solidFill>
                  <a:srgbClr val="2F6D62"/>
                </a:solidFill>
                <a:latin typeface="Calibri" pitchFamily="34" charset="0"/>
                <a:ea typeface="Calibri" pitchFamily="34" charset="-122"/>
                <a:cs typeface="Calibri" pitchFamily="34" charset="-120"/>
              </a:rPr>
              <a:t>WHEN  </a:t>
            </a:r>
            <a:r>
              <a:rPr lang="en-US" sz="900" dirty="0">
                <a:solidFill>
                  <a:srgbClr val="2B2622"/>
                </a:solidFill>
                <a:latin typeface="Calibri" pitchFamily="34" charset="0"/>
                <a:ea typeface="Calibri" pitchFamily="34" charset="-122"/>
                <a:cs typeface="Calibri" pitchFamily="34" charset="-120"/>
              </a:rPr>
              <a:t>14 February 1989</a:t>
            </a:r>
            <a:endParaRPr lang="en-US" sz="750" dirty="0"/>
          </a:p>
        </p:txBody>
      </p:sp>
      <p:sp>
        <p:nvSpPr>
          <p:cNvPr id="21" name="Shape 19"/>
          <p:cNvSpPr/>
          <p:nvPr/>
        </p:nvSpPr>
        <p:spPr>
          <a:xfrm>
            <a:off x="7027713" y="4041648"/>
            <a:ext cx="1659087" cy="365760"/>
          </a:xfrm>
          <a:prstGeom prst="roundRect">
            <a:avLst>
              <a:gd name="adj" fmla="val 50000"/>
            </a:avLst>
          </a:prstGeom>
          <a:solidFill>
            <a:srgbClr val="2F6D62"/>
          </a:solidFill>
          <a:ln w="9525">
            <a:solidFill>
              <a:srgbClr val="2F6D62"/>
            </a:solidFill>
            <a:prstDash val="solid"/>
          </a:ln>
        </p:spPr>
      </p:sp>
      <p:sp>
        <p:nvSpPr>
          <p:cNvPr id="22" name="Text 20"/>
          <p:cNvSpPr txBox="1"/>
          <p:nvPr/>
        </p:nvSpPr>
        <p:spPr>
          <a:xfrm>
            <a:off x="7119153" y="4041648"/>
            <a:ext cx="1512783" cy="365760"/>
          </a:xfrm>
          <a:prstGeom prst="rect">
            <a:avLst/>
          </a:prstGeom>
          <a:noFill/>
          <a:ln/>
        </p:spPr>
        <p:txBody>
          <a:bodyPr wrap="square" lIns="0" tIns="0" rIns="0" bIns="0" rtlCol="0" anchor="ctr"/>
          <a:lstStyle/>
          <a:p>
            <a:pPr indent="0" marL="0">
              <a:buNone/>
            </a:pPr>
            <a:r>
              <a:rPr lang="en-US" sz="750" b="1" dirty="0">
                <a:solidFill>
                  <a:srgbClr val="D7E4E0"/>
                </a:solidFill>
                <a:latin typeface="Calibri" pitchFamily="34" charset="0"/>
                <a:ea typeface="Calibri" pitchFamily="34" charset="-122"/>
                <a:cs typeface="Calibri" pitchFamily="34" charset="-120"/>
              </a:rPr>
              <a:t>READ  </a:t>
            </a:r>
            <a:r>
              <a:rPr lang="en-US" sz="900" u="sng" dirty="0">
                <a:solidFill>
                  <a:srgbClr val="FFFFFF"/>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en.wikipedia.org</a:t>
            </a:r>
            <a:endParaRPr lang="en-US" sz="750" dirty="0"/>
          </a:p>
        </p:txBody>
      </p:sp>
      <p:sp>
        <p:nvSpPr>
          <p:cNvPr id="23" name="Shape 21"/>
          <p:cNvSpPr/>
          <p:nvPr/>
        </p:nvSpPr>
        <p:spPr>
          <a:xfrm>
            <a:off x="457200" y="4636008"/>
            <a:ext cx="91440" cy="310896"/>
          </a:xfrm>
          <a:prstGeom prst="rect">
            <a:avLst/>
          </a:prstGeom>
          <a:solidFill>
            <a:srgbClr val="D97A14"/>
          </a:solidFill>
          <a:ln w="12700">
            <a:solidFill>
              <a:srgbClr val="D97A14"/>
            </a:solidFill>
            <a:prstDash val="solid"/>
          </a:ln>
        </p:spPr>
      </p:sp>
      <p:sp>
        <p:nvSpPr>
          <p:cNvPr id="24" name="Text 2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.docx file is a ZIP of XML; install python-docx, then import docx.</a:t>
            </a:r>
            <a:endParaRPr lang="en-US" sz="1350" dirty="0"/>
          </a:p>
        </p:txBody>
      </p:sp>
      <p:sp>
        <p:nvSpPr>
          <p:cNvPr id="25" name="Text 2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17 / 26</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Reading paragraphs and runs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paragraph holds runs; tables, headers and hyperlink text are not in the runs</a:t>
            </a:r>
            <a:endParaRPr lang="en-US" sz="1300" dirty="0"/>
          </a:p>
        </p:txBody>
      </p:sp>
      <p:sp>
        <p:nvSpPr>
          <p:cNvPr id="6" name="Shape 4"/>
          <p:cNvSpPr/>
          <p:nvPr/>
        </p:nvSpPr>
        <p:spPr>
          <a:xfrm>
            <a:off x="1188720" y="1581912"/>
            <a:ext cx="2834640" cy="2624328"/>
          </a:xfrm>
          <a:prstGeom prst="rect">
            <a:avLst/>
          </a:prstGeom>
          <a:solidFill>
            <a:srgbClr val="FBF8F2"/>
          </a:solidFill>
          <a:ln w="12700">
            <a:solidFill>
              <a:srgbClr val="6E655C"/>
            </a:solidFill>
            <a:prstDash val="solid"/>
          </a:ln>
        </p:spPr>
      </p:sp>
      <p:sp>
        <p:nvSpPr>
          <p:cNvPr id="7" name="Text 5"/>
          <p:cNvSpPr txBox="1"/>
          <p:nvPr/>
        </p:nvSpPr>
        <p:spPr>
          <a:xfrm>
            <a:off x="1261872" y="1344168"/>
            <a:ext cx="2697480" cy="219456"/>
          </a:xfrm>
          <a:prstGeom prst="rect">
            <a:avLst/>
          </a:prstGeom>
          <a:noFill/>
          <a:ln/>
        </p:spPr>
        <p:txBody>
          <a:bodyPr wrap="square" lIns="0" tIns="0" rIns="0" bIns="0" rtlCol="0" anchor="ctr"/>
          <a:lstStyle/>
          <a:p>
            <a:pPr algn="l" indent="0" marL="0">
              <a:buNone/>
            </a:pPr>
            <a:r>
              <a:rPr lang="en-US" sz="850" b="1" dirty="0">
                <a:solidFill>
                  <a:srgbClr val="6E655C"/>
                </a:solidFill>
                <a:latin typeface="Calibri" pitchFamily="34" charset="0"/>
                <a:ea typeface="Calibri" pitchFamily="34" charset="-122"/>
                <a:cs typeface="Calibri" pitchFamily="34" charset="-120"/>
              </a:rPr>
              <a:t>A WORD DOCUMENT IN PYTHON</a:t>
            </a:r>
            <a:endParaRPr lang="en-US" sz="850" dirty="0"/>
          </a:p>
        </p:txBody>
      </p:sp>
      <p:sp>
        <p:nvSpPr>
          <p:cNvPr id="8" name="Shape 6"/>
          <p:cNvSpPr/>
          <p:nvPr/>
        </p:nvSpPr>
        <p:spPr>
          <a:xfrm>
            <a:off x="1325880" y="1682496"/>
            <a:ext cx="2560320" cy="309982"/>
          </a:xfrm>
          <a:prstGeom prst="ellipse">
            <a:avLst/>
          </a:prstGeom>
          <a:solidFill>
            <a:srgbClr val="F2ECE1"/>
          </a:solidFill>
          <a:ln w="15875">
            <a:solidFill>
              <a:srgbClr val="2F6D62"/>
            </a:solidFill>
            <a:prstDash val="solid"/>
          </a:ln>
        </p:spPr>
      </p:sp>
      <p:sp>
        <p:nvSpPr>
          <p:cNvPr id="9" name="Text 7"/>
          <p:cNvSpPr txBox="1"/>
          <p:nvPr/>
        </p:nvSpPr>
        <p:spPr>
          <a:xfrm>
            <a:off x="1581912" y="1766621"/>
            <a:ext cx="2048256" cy="140818"/>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Read the paragraphs and runs</a:t>
            </a:r>
            <a:endParaRPr lang="en-US" sz="800" dirty="0"/>
          </a:p>
        </p:txBody>
      </p:sp>
      <p:sp>
        <p:nvSpPr>
          <p:cNvPr id="10" name="Shape 8"/>
          <p:cNvSpPr/>
          <p:nvPr/>
        </p:nvSpPr>
        <p:spPr>
          <a:xfrm>
            <a:off x="1325880" y="2047342"/>
            <a:ext cx="2560320" cy="309982"/>
          </a:xfrm>
          <a:prstGeom prst="ellipse">
            <a:avLst/>
          </a:prstGeom>
          <a:solidFill>
            <a:srgbClr val="F2ECE1"/>
          </a:solidFill>
          <a:ln w="15875">
            <a:solidFill>
              <a:srgbClr val="2F6D62"/>
            </a:solidFill>
            <a:prstDash val="solid"/>
          </a:ln>
        </p:spPr>
      </p:sp>
      <p:sp>
        <p:nvSpPr>
          <p:cNvPr id="11" name="Text 9"/>
          <p:cNvSpPr txBox="1"/>
          <p:nvPr/>
        </p:nvSpPr>
        <p:spPr>
          <a:xfrm>
            <a:off x="1581912" y="2131466"/>
            <a:ext cx="2048256" cy="140818"/>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Set the style of a paragraph</a:t>
            </a:r>
            <a:endParaRPr lang="en-US" sz="800" dirty="0"/>
          </a:p>
        </p:txBody>
      </p:sp>
      <p:sp>
        <p:nvSpPr>
          <p:cNvPr id="12" name="Shape 10"/>
          <p:cNvSpPr/>
          <p:nvPr/>
        </p:nvSpPr>
        <p:spPr>
          <a:xfrm>
            <a:off x="1325880" y="2411273"/>
            <a:ext cx="2560320" cy="309982"/>
          </a:xfrm>
          <a:prstGeom prst="ellipse">
            <a:avLst/>
          </a:prstGeom>
          <a:solidFill>
            <a:srgbClr val="F2ECE1"/>
          </a:solidFill>
          <a:ln w="15875">
            <a:solidFill>
              <a:srgbClr val="2F6D62"/>
            </a:solidFill>
            <a:prstDash val="solid"/>
          </a:ln>
        </p:spPr>
      </p:sp>
      <p:sp>
        <p:nvSpPr>
          <p:cNvPr id="13" name="Text 11"/>
          <p:cNvSpPr txBox="1"/>
          <p:nvPr/>
        </p:nvSpPr>
        <p:spPr>
          <a:xfrm>
            <a:off x="1581912" y="2495398"/>
            <a:ext cx="2048256" cy="140818"/>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Make a paragraph style</a:t>
            </a:r>
            <a:endParaRPr lang="en-US" sz="800" dirty="0"/>
          </a:p>
        </p:txBody>
      </p:sp>
      <p:sp>
        <p:nvSpPr>
          <p:cNvPr id="14" name="Shape 12"/>
          <p:cNvSpPr/>
          <p:nvPr/>
        </p:nvSpPr>
        <p:spPr>
          <a:xfrm>
            <a:off x="1325880" y="2776118"/>
            <a:ext cx="2560320" cy="309982"/>
          </a:xfrm>
          <a:prstGeom prst="ellipse">
            <a:avLst/>
          </a:prstGeom>
          <a:solidFill>
            <a:srgbClr val="F2ECE1"/>
          </a:solidFill>
          <a:ln w="15875">
            <a:solidFill>
              <a:srgbClr val="2F6D62"/>
            </a:solidFill>
            <a:prstDash val="solid"/>
          </a:ln>
        </p:spPr>
      </p:sp>
      <p:sp>
        <p:nvSpPr>
          <p:cNvPr id="15" name="Text 13"/>
          <p:cNvSpPr txBox="1"/>
          <p:nvPr/>
        </p:nvSpPr>
        <p:spPr>
          <a:xfrm>
            <a:off x="1581912" y="2860243"/>
            <a:ext cx="2048256" cy="140818"/>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Add headings of levels 0 to 9</a:t>
            </a:r>
            <a:endParaRPr lang="en-US" sz="800" dirty="0"/>
          </a:p>
        </p:txBody>
      </p:sp>
      <p:sp>
        <p:nvSpPr>
          <p:cNvPr id="16" name="Shape 14"/>
          <p:cNvSpPr/>
          <p:nvPr/>
        </p:nvSpPr>
        <p:spPr>
          <a:xfrm>
            <a:off x="1325880" y="3140050"/>
            <a:ext cx="2560320" cy="309982"/>
          </a:xfrm>
          <a:prstGeom prst="ellipse">
            <a:avLst/>
          </a:prstGeom>
          <a:solidFill>
            <a:srgbClr val="F2ECE1"/>
          </a:solidFill>
          <a:ln w="15875">
            <a:solidFill>
              <a:srgbClr val="2F6D62"/>
            </a:solidFill>
            <a:prstDash val="solid"/>
          </a:ln>
        </p:spPr>
      </p:sp>
      <p:sp>
        <p:nvSpPr>
          <p:cNvPr id="17" name="Text 15"/>
          <p:cNvSpPr txBox="1"/>
          <p:nvPr/>
        </p:nvSpPr>
        <p:spPr>
          <a:xfrm>
            <a:off x="1581912" y="3224174"/>
            <a:ext cx="2048256" cy="140818"/>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Set the bold attribute of a run</a:t>
            </a:r>
            <a:endParaRPr lang="en-US" sz="800" dirty="0"/>
          </a:p>
        </p:txBody>
      </p:sp>
      <p:sp>
        <p:nvSpPr>
          <p:cNvPr id="18" name="Shape 16"/>
          <p:cNvSpPr/>
          <p:nvPr/>
        </p:nvSpPr>
        <p:spPr>
          <a:xfrm>
            <a:off x="1325880" y="3504895"/>
            <a:ext cx="2560320" cy="309982"/>
          </a:xfrm>
          <a:prstGeom prst="ellipse">
            <a:avLst/>
          </a:prstGeom>
          <a:solidFill>
            <a:srgbClr val="F2ECE1"/>
          </a:solidFill>
          <a:ln w="15875">
            <a:solidFill>
              <a:srgbClr val="2F6D62"/>
            </a:solidFill>
            <a:prstDash val="solid"/>
          </a:ln>
        </p:spPr>
      </p:sp>
      <p:sp>
        <p:nvSpPr>
          <p:cNvPr id="19" name="Text 17"/>
          <p:cNvSpPr txBox="1"/>
          <p:nvPr/>
        </p:nvSpPr>
        <p:spPr>
          <a:xfrm>
            <a:off x="1581912" y="3589020"/>
            <a:ext cx="2048256" cy="140818"/>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Add a page break</a:t>
            </a:r>
            <a:endParaRPr lang="en-US" sz="800" dirty="0"/>
          </a:p>
        </p:txBody>
      </p:sp>
      <p:sp>
        <p:nvSpPr>
          <p:cNvPr id="20" name="Shape 18"/>
          <p:cNvSpPr/>
          <p:nvPr/>
        </p:nvSpPr>
        <p:spPr>
          <a:xfrm>
            <a:off x="1325880" y="3868826"/>
            <a:ext cx="2560320" cy="309982"/>
          </a:xfrm>
          <a:prstGeom prst="ellipse">
            <a:avLst/>
          </a:prstGeom>
          <a:solidFill>
            <a:srgbClr val="F2ECE1"/>
          </a:solidFill>
          <a:ln w="15875">
            <a:solidFill>
              <a:srgbClr val="2F6D62"/>
            </a:solidFill>
            <a:prstDash val="solid"/>
          </a:ln>
        </p:spPr>
      </p:sp>
      <p:sp>
        <p:nvSpPr>
          <p:cNvPr id="21" name="Text 19"/>
          <p:cNvSpPr txBox="1"/>
          <p:nvPr/>
        </p:nvSpPr>
        <p:spPr>
          <a:xfrm>
            <a:off x="1581912" y="3952951"/>
            <a:ext cx="2048256" cy="140818"/>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Add a picture with a width</a:t>
            </a:r>
            <a:endParaRPr lang="en-US" sz="800" dirty="0"/>
          </a:p>
        </p:txBody>
      </p:sp>
      <p:sp>
        <p:nvSpPr>
          <p:cNvPr id="22" name="Shape 20"/>
          <p:cNvSpPr/>
          <p:nvPr/>
        </p:nvSpPr>
        <p:spPr>
          <a:xfrm>
            <a:off x="676656" y="2125980"/>
            <a:ext cx="201168" cy="201168"/>
          </a:xfrm>
          <a:prstGeom prst="ellipse">
            <a:avLst/>
          </a:prstGeom>
          <a:solidFill>
            <a:srgbClr val="FFFFFF"/>
          </a:solidFill>
          <a:ln w="19050">
            <a:solidFill>
              <a:srgbClr val="2B2622"/>
            </a:solidFill>
            <a:prstDash val="solid"/>
          </a:ln>
        </p:spPr>
      </p:sp>
      <p:sp>
        <p:nvSpPr>
          <p:cNvPr id="23" name="Shape 21"/>
          <p:cNvSpPr/>
          <p:nvPr/>
        </p:nvSpPr>
        <p:spPr>
          <a:xfrm>
            <a:off x="777240" y="2327148"/>
            <a:ext cx="0" cy="347472"/>
          </a:xfrm>
          <a:prstGeom prst="line">
            <a:avLst/>
          </a:prstGeom>
          <a:noFill/>
          <a:ln w="19050">
            <a:solidFill>
              <a:srgbClr val="2B2622"/>
            </a:solidFill>
            <a:prstDash val="solid"/>
          </a:ln>
        </p:spPr>
      </p:sp>
      <p:sp>
        <p:nvSpPr>
          <p:cNvPr id="24" name="Shape 22"/>
          <p:cNvSpPr/>
          <p:nvPr/>
        </p:nvSpPr>
        <p:spPr>
          <a:xfrm>
            <a:off x="594360" y="2418588"/>
            <a:ext cx="365760" cy="0"/>
          </a:xfrm>
          <a:prstGeom prst="line">
            <a:avLst/>
          </a:prstGeom>
          <a:noFill/>
          <a:ln w="19050">
            <a:solidFill>
              <a:srgbClr val="2B2622"/>
            </a:solidFill>
            <a:prstDash val="solid"/>
          </a:ln>
        </p:spPr>
      </p:sp>
      <p:sp>
        <p:nvSpPr>
          <p:cNvPr id="25" name="Shape 23"/>
          <p:cNvSpPr/>
          <p:nvPr/>
        </p:nvSpPr>
        <p:spPr>
          <a:xfrm flipH="1">
            <a:off x="630936" y="2674620"/>
            <a:ext cx="146304" cy="228600"/>
          </a:xfrm>
          <a:prstGeom prst="line">
            <a:avLst/>
          </a:prstGeom>
          <a:noFill/>
          <a:ln w="19050">
            <a:solidFill>
              <a:srgbClr val="2B2622"/>
            </a:solidFill>
            <a:prstDash val="solid"/>
          </a:ln>
        </p:spPr>
      </p:sp>
      <p:sp>
        <p:nvSpPr>
          <p:cNvPr id="26" name="Shape 24"/>
          <p:cNvSpPr/>
          <p:nvPr/>
        </p:nvSpPr>
        <p:spPr>
          <a:xfrm>
            <a:off x="777240" y="2674620"/>
            <a:ext cx="146304" cy="228600"/>
          </a:xfrm>
          <a:prstGeom prst="line">
            <a:avLst/>
          </a:prstGeom>
          <a:noFill/>
          <a:ln w="19050">
            <a:solidFill>
              <a:srgbClr val="2B2622"/>
            </a:solidFill>
            <a:prstDash val="solid"/>
          </a:ln>
        </p:spPr>
      </p:sp>
      <p:sp>
        <p:nvSpPr>
          <p:cNvPr id="27" name="Text 25"/>
          <p:cNvSpPr txBox="1"/>
          <p:nvPr/>
        </p:nvSpPr>
        <p:spPr>
          <a:xfrm>
            <a:off x="457200" y="2948940"/>
            <a:ext cx="731520" cy="149047"/>
          </a:xfrm>
          <a:prstGeom prst="rect">
            <a:avLst/>
          </a:prstGeom>
          <a:noFill/>
          <a:ln/>
        </p:spPr>
        <p:txBody>
          <a:bodyPr wrap="square" lIns="0" tIns="0" rIns="0" bIns="0" rtlCol="0" anchor="t"/>
          <a:lstStyle/>
          <a:p>
            <a:pPr algn="ctr" indent="0" marL="0">
              <a:buNone/>
            </a:pPr>
            <a:r>
              <a:rPr lang="en-US" sz="850" b="1" dirty="0">
                <a:solidFill>
                  <a:srgbClr val="2B2622"/>
                </a:solidFill>
                <a:latin typeface="Calibri" pitchFamily="34" charset="0"/>
                <a:ea typeface="Calibri" pitchFamily="34" charset="-122"/>
                <a:cs typeface="Calibri" pitchFamily="34" charset="-120"/>
              </a:rPr>
              <a:t>A program</a:t>
            </a:r>
            <a:endParaRPr lang="en-US" sz="850" dirty="0"/>
          </a:p>
        </p:txBody>
      </p:sp>
      <p:sp>
        <p:nvSpPr>
          <p:cNvPr id="28" name="Shape 26"/>
          <p:cNvSpPr/>
          <p:nvPr/>
        </p:nvSpPr>
        <p:spPr>
          <a:xfrm flipV="1">
            <a:off x="960120" y="1837030"/>
            <a:ext cx="365760" cy="654710"/>
          </a:xfrm>
          <a:prstGeom prst="line">
            <a:avLst/>
          </a:prstGeom>
          <a:noFill/>
          <a:ln w="12700">
            <a:solidFill>
              <a:srgbClr val="6E655C"/>
            </a:solidFill>
            <a:prstDash val="solid"/>
          </a:ln>
        </p:spPr>
      </p:sp>
      <p:sp>
        <p:nvSpPr>
          <p:cNvPr id="29" name="Shape 27"/>
          <p:cNvSpPr/>
          <p:nvPr/>
        </p:nvSpPr>
        <p:spPr>
          <a:xfrm flipV="1">
            <a:off x="960120" y="2201875"/>
            <a:ext cx="365760" cy="289865"/>
          </a:xfrm>
          <a:prstGeom prst="line">
            <a:avLst/>
          </a:prstGeom>
          <a:noFill/>
          <a:ln w="12700">
            <a:solidFill>
              <a:srgbClr val="6E655C"/>
            </a:solidFill>
            <a:prstDash val="solid"/>
          </a:ln>
        </p:spPr>
      </p:sp>
      <p:sp>
        <p:nvSpPr>
          <p:cNvPr id="30" name="Shape 28"/>
          <p:cNvSpPr/>
          <p:nvPr/>
        </p:nvSpPr>
        <p:spPr>
          <a:xfrm>
            <a:off x="960120" y="2491740"/>
            <a:ext cx="365760" cy="74066"/>
          </a:xfrm>
          <a:prstGeom prst="line">
            <a:avLst/>
          </a:prstGeom>
          <a:noFill/>
          <a:ln w="12700">
            <a:solidFill>
              <a:srgbClr val="6E655C"/>
            </a:solidFill>
            <a:prstDash val="solid"/>
          </a:ln>
        </p:spPr>
      </p:sp>
      <p:sp>
        <p:nvSpPr>
          <p:cNvPr id="31" name="Shape 29"/>
          <p:cNvSpPr/>
          <p:nvPr/>
        </p:nvSpPr>
        <p:spPr>
          <a:xfrm>
            <a:off x="960120" y="2491740"/>
            <a:ext cx="365760" cy="438912"/>
          </a:xfrm>
          <a:prstGeom prst="line">
            <a:avLst/>
          </a:prstGeom>
          <a:noFill/>
          <a:ln w="12700">
            <a:solidFill>
              <a:srgbClr val="6E655C"/>
            </a:solidFill>
            <a:prstDash val="solid"/>
          </a:ln>
        </p:spPr>
      </p:sp>
      <p:sp>
        <p:nvSpPr>
          <p:cNvPr id="32" name="Shape 30"/>
          <p:cNvSpPr/>
          <p:nvPr/>
        </p:nvSpPr>
        <p:spPr>
          <a:xfrm>
            <a:off x="960120" y="2491740"/>
            <a:ext cx="365760" cy="803758"/>
          </a:xfrm>
          <a:prstGeom prst="line">
            <a:avLst/>
          </a:prstGeom>
          <a:noFill/>
          <a:ln w="12700">
            <a:solidFill>
              <a:srgbClr val="6E655C"/>
            </a:solidFill>
            <a:prstDash val="solid"/>
          </a:ln>
        </p:spPr>
      </p:sp>
      <p:sp>
        <p:nvSpPr>
          <p:cNvPr id="33" name="Shape 31"/>
          <p:cNvSpPr/>
          <p:nvPr/>
        </p:nvSpPr>
        <p:spPr>
          <a:xfrm>
            <a:off x="960120" y="2491740"/>
            <a:ext cx="365760" cy="1167689"/>
          </a:xfrm>
          <a:prstGeom prst="line">
            <a:avLst/>
          </a:prstGeom>
          <a:noFill/>
          <a:ln w="12700">
            <a:solidFill>
              <a:srgbClr val="6E655C"/>
            </a:solidFill>
            <a:prstDash val="solid"/>
          </a:ln>
        </p:spPr>
      </p:sp>
      <p:sp>
        <p:nvSpPr>
          <p:cNvPr id="34" name="Shape 32"/>
          <p:cNvSpPr/>
          <p:nvPr/>
        </p:nvSpPr>
        <p:spPr>
          <a:xfrm>
            <a:off x="960120" y="2491740"/>
            <a:ext cx="365760" cy="1532534"/>
          </a:xfrm>
          <a:prstGeom prst="line">
            <a:avLst/>
          </a:prstGeom>
          <a:noFill/>
          <a:ln w="12700">
            <a:solidFill>
              <a:srgbClr val="6E655C"/>
            </a:solidFill>
            <a:prstDash val="solid"/>
          </a:ln>
        </p:spPr>
      </p:sp>
      <p:sp>
        <p:nvSpPr>
          <p:cNvPr id="35" name="Text 33"/>
          <p:cNvSpPr txBox="1"/>
          <p:nvPr/>
        </p:nvSpPr>
        <p:spPr>
          <a:xfrm>
            <a:off x="457200" y="4233672"/>
            <a:ext cx="3566160" cy="301752"/>
          </a:xfrm>
          <a:prstGeom prst="rect">
            <a:avLst/>
          </a:prstGeom>
          <a:noFill/>
          <a:ln/>
        </p:spPr>
        <p:txBody>
          <a:bodyPr wrap="square" lIns="0" tIns="0" rIns="0" bIns="0" rtlCol="0" anchor="t"/>
          <a:lstStyle/>
          <a:p>
            <a:pPr indent="0" marL="0">
              <a:buNone/>
            </a:pPr>
            <a:r>
              <a:rPr lang="en-US" sz="850" i="1" dirty="0">
                <a:solidFill>
                  <a:srgbClr val="6E655C"/>
                </a:solidFill>
                <a:latin typeface="Calibri" pitchFamily="34" charset="0"/>
                <a:ea typeface="Calibri" pitchFamily="34" charset="-122"/>
                <a:cs typeface="Calibri" pitchFamily="34" charset="-120"/>
              </a:rPr>
              <a:t>diagram WhatAProgramCanDoWithWord - SetOfUses pattern, 26 of 26 words grounded in the chapter's text</a:t>
            </a:r>
            <a:endParaRPr lang="en-US" sz="850" dirty="0"/>
          </a:p>
        </p:txBody>
      </p:sp>
      <p:sp>
        <p:nvSpPr>
          <p:cNvPr id="36" name="Text 34"/>
          <p:cNvSpPr txBox="1"/>
          <p:nvPr/>
        </p:nvSpPr>
        <p:spPr>
          <a:xfrm>
            <a:off x="4206240" y="1143000"/>
            <a:ext cx="4142232"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program docxReadCut_v1_0_0.py, lines 19 to 35 of 35</a:t>
            </a:r>
            <a:endParaRPr lang="en-US" sz="1000" dirty="0"/>
          </a:p>
        </p:txBody>
      </p:sp>
      <p:sp>
        <p:nvSpPr>
          <p:cNvPr id="37" name="Shape 35"/>
          <p:cNvSpPr/>
          <p:nvPr/>
        </p:nvSpPr>
        <p:spPr>
          <a:xfrm>
            <a:off x="4206240" y="1417320"/>
            <a:ext cx="4142232" cy="3063240"/>
          </a:xfrm>
          <a:prstGeom prst="roundRect">
            <a:avLst>
              <a:gd name="adj" fmla="val 2985"/>
            </a:avLst>
          </a:prstGeom>
          <a:solidFill>
            <a:srgbClr val="23272E"/>
          </a:solidFill>
          <a:ln w="12700">
            <a:solidFill>
              <a:srgbClr val="23272E"/>
            </a:solidFill>
            <a:prstDash val="solid"/>
          </a:ln>
        </p:spPr>
      </p:sp>
      <p:sp>
        <p:nvSpPr>
          <p:cNvPr id="38" name="Text 36"/>
          <p:cNvSpPr txBox="1"/>
          <p:nvPr/>
        </p:nvSpPr>
        <p:spPr>
          <a:xfrm>
            <a:off x="4389120" y="1536192"/>
            <a:ext cx="3776472" cy="2825496"/>
          </a:xfrm>
          <a:prstGeom prst="rect">
            <a:avLst/>
          </a:prstGeom>
          <a:noFill/>
          <a:ln/>
        </p:spPr>
        <p:txBody>
          <a:bodyPr wrap="square" lIns="0" tIns="0" rIns="0" bIns="0" rtlCol="0" anchor="t"/>
          <a:lstStyle/>
          <a:p>
            <a:pPr indent="0" marL="0">
              <a:buNone/>
            </a:pPr>
            <a:r>
              <a:rPr lang="en-US" sz="700" b="1" dirty="0">
                <a:solidFill>
                  <a:srgbClr val="F2A860"/>
                </a:solidFill>
                <a:latin typeface="Courier New" pitchFamily="34" charset="0"/>
                <a:ea typeface="Courier New" pitchFamily="34" charset="-122"/>
                <a:cs typeface="Courier New" pitchFamily="34" charset="-120"/>
              </a:rPr>
              <a:t>import</a:t>
            </a:r>
            <a:r>
              <a:rPr lang="en-US" sz="700" dirty="0">
                <a:solidFill>
                  <a:srgbClr val="E6EDF3"/>
                </a:solidFill>
                <a:latin typeface="Courier New" pitchFamily="34" charset="0"/>
                <a:ea typeface="Courier New" pitchFamily="34" charset="-122"/>
                <a:cs typeface="Courier New" pitchFamily="34" charset="-120"/>
              </a:rPr>
              <a:t> docx</a:t>
            </a:r>
            <a:endParaRPr lang="en-US" sz="700" dirty="0"/>
          </a:p>
          <a:p>
            <a:pPr indent="0" marL="0">
              <a:buNone/>
            </a:pPr>
            <a:r>
              <a:rPr lang="en-US" sz="700" b="1" dirty="0">
                <a:solidFill>
                  <a:srgbClr val="F2A860"/>
                </a:solidFill>
                <a:latin typeface="Courier New" pitchFamily="34" charset="0"/>
                <a:ea typeface="Courier New" pitchFamily="34" charset="-122"/>
                <a:cs typeface="Courier New" pitchFamily="34" charset="-120"/>
              </a:rPr>
              <a:t>from</a:t>
            </a:r>
            <a:r>
              <a:rPr lang="en-US" sz="700" dirty="0">
                <a:solidFill>
                  <a:srgbClr val="E6EDF3"/>
                </a:solidFill>
                <a:latin typeface="Courier New" pitchFamily="34" charset="0"/>
                <a:ea typeface="Courier New" pitchFamily="34" charset="-122"/>
                <a:cs typeface="Courier New" pitchFamily="34" charset="-120"/>
              </a:rPr>
              <a:t> docx.oxml </a:t>
            </a:r>
            <a:r>
              <a:rPr lang="en-US" sz="700" b="1" dirty="0">
                <a:solidFill>
                  <a:srgbClr val="F2A860"/>
                </a:solidFill>
                <a:latin typeface="Courier New" pitchFamily="34" charset="0"/>
                <a:ea typeface="Courier New" pitchFamily="34" charset="-122"/>
                <a:cs typeface="Courier New" pitchFamily="34" charset="-120"/>
              </a:rPr>
              <a:t>import</a:t>
            </a:r>
            <a:r>
              <a:rPr lang="en-US" sz="700" dirty="0">
                <a:solidFill>
                  <a:srgbClr val="E6EDF3"/>
                </a:solidFill>
                <a:latin typeface="Courier New" pitchFamily="34" charset="0"/>
                <a:ea typeface="Courier New" pitchFamily="34" charset="-122"/>
                <a:cs typeface="Courier New" pitchFamily="34" charset="-120"/>
              </a:rPr>
              <a:t> parse_xml</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W = </a:t>
            </a:r>
            <a:r>
              <a:rPr lang="en-US" sz="700" dirty="0">
                <a:solidFill>
                  <a:srgbClr val="9ECBFF"/>
                </a:solidFill>
                <a:latin typeface="Courier New" pitchFamily="34" charset="0"/>
                <a:ea typeface="Courier New" pitchFamily="34" charset="-122"/>
                <a:cs typeface="Courier New" pitchFamily="34" charset="-120"/>
              </a:rPr>
              <a:t>'http://schemas.openxmlformats.org/wordprocessingml/2006/main'</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LINK = (</a:t>
            </a:r>
            <a:r>
              <a:rPr lang="en-US" sz="700" dirty="0">
                <a:solidFill>
                  <a:srgbClr val="9ECBFF"/>
                </a:solidFill>
                <a:latin typeface="Courier New" pitchFamily="34" charset="0"/>
                <a:ea typeface="Courier New" pitchFamily="34" charset="-122"/>
                <a:cs typeface="Courier New" pitchFamily="34" charset="-120"/>
              </a:rPr>
              <a:t>'&lt;w:hyperlink xmlns:w="%s"&gt;&lt;w:r&gt;&lt;w:t&gt;linked&lt;/w:t&gt;&lt;/w:r&gt;'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'&lt;/w:hyperlink&gt;'</a:t>
            </a:r>
            <a:r>
              <a:rPr lang="en-US" sz="700" dirty="0">
                <a:solidFill>
                  <a:srgbClr val="E6EDF3"/>
                </a:solidFill>
                <a:latin typeface="Courier New" pitchFamily="34" charset="0"/>
                <a:ea typeface="Courier New" pitchFamily="34" charset="-122"/>
                <a:cs typeface="Courier New" pitchFamily="34" charset="-120"/>
              </a:rPr>
              <a:t> % W)</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doc = docx.Document(); p = doc.add_paragraph(</a:t>
            </a:r>
            <a:r>
              <a:rPr lang="en-US" sz="700" dirty="0">
                <a:solidFill>
                  <a:srgbClr val="9ECBFF"/>
                </a:solidFill>
                <a:latin typeface="Courier New" pitchFamily="34" charset="0"/>
                <a:ea typeface="Courier New" pitchFamily="34" charset="-122"/>
                <a:cs typeface="Courier New" pitchFamily="34" charset="-120"/>
              </a:rPr>
              <a:t>'Some '</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p.add_run(</a:t>
            </a:r>
            <a:r>
              <a:rPr lang="en-US" sz="700" dirty="0">
                <a:solidFill>
                  <a:srgbClr val="9ECBFF"/>
                </a:solidFill>
                <a:latin typeface="Courier New" pitchFamily="34" charset="0"/>
                <a:ea typeface="Courier New" pitchFamily="34" charset="-122"/>
                <a:cs typeface="Courier New" pitchFamily="34" charset="-120"/>
              </a:rPr>
              <a:t>'bold'</a:t>
            </a:r>
            <a:r>
              <a:rPr lang="en-US" sz="700" dirty="0">
                <a:solidFill>
                  <a:srgbClr val="E6EDF3"/>
                </a:solidFill>
                <a:latin typeface="Courier New" pitchFamily="34" charset="0"/>
                <a:ea typeface="Courier New" pitchFamily="34" charset="-122"/>
                <a:cs typeface="Courier New" pitchFamily="34" charset="-120"/>
              </a:rPr>
              <a:t>).bold = </a:t>
            </a:r>
            <a:r>
              <a:rPr lang="en-US" sz="700" b="1" dirty="0">
                <a:solidFill>
                  <a:srgbClr val="F2A860"/>
                </a:solidFill>
                <a:latin typeface="Courier New" pitchFamily="34" charset="0"/>
                <a:ea typeface="Courier New" pitchFamily="34" charset="-122"/>
                <a:cs typeface="Courier New" pitchFamily="34" charset="-120"/>
              </a:rPr>
              <a:t>True</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p.add_run(</a:t>
            </a:r>
            <a:r>
              <a:rPr lang="en-US" sz="700" dirty="0">
                <a:solidFill>
                  <a:srgbClr val="9ECBFF"/>
                </a:solidFill>
                <a:latin typeface="Courier New" pitchFamily="34" charset="0"/>
                <a:ea typeface="Courier New" pitchFamily="34" charset="-122"/>
                <a:cs typeface="Courier New" pitchFamily="34" charset="-120"/>
              </a:rPr>
              <a:t>' text'</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t = doc.add_table(rows=</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 cols=</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 t.cell(</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).text = </a:t>
            </a:r>
            <a:r>
              <a:rPr lang="en-US" sz="700" dirty="0">
                <a:solidFill>
                  <a:srgbClr val="9ECBFF"/>
                </a:solidFill>
                <a:latin typeface="Courier New" pitchFamily="34" charset="0"/>
                <a:ea typeface="Courier New" pitchFamily="34" charset="-122"/>
                <a:cs typeface="Courier New" pitchFamily="34" charset="-120"/>
              </a:rPr>
              <a:t>'in a table'</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doc.sections[</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].header.paragraphs[</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].text = </a:t>
            </a:r>
            <a:r>
              <a:rPr lang="en-US" sz="700" dirty="0">
                <a:solidFill>
                  <a:srgbClr val="9ECBFF"/>
                </a:solidFill>
                <a:latin typeface="Courier New" pitchFamily="34" charset="0"/>
                <a:ea typeface="Courier New" pitchFamily="34" charset="-122"/>
                <a:cs typeface="Courier New" pitchFamily="34" charset="-120"/>
              </a:rPr>
              <a:t>'IN THE HEADER'</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q = doc.add_paragraph(</a:t>
            </a:r>
            <a:r>
              <a:rPr lang="en-US" sz="700" dirty="0">
                <a:solidFill>
                  <a:srgbClr val="9ECBFF"/>
                </a:solidFill>
                <a:latin typeface="Courier New" pitchFamily="34" charset="0"/>
                <a:ea typeface="Courier New" pitchFamily="34" charset="-122"/>
                <a:cs typeface="Courier New" pitchFamily="34" charset="-120"/>
              </a:rPr>
              <a:t>'before '</a:t>
            </a:r>
            <a:r>
              <a:rPr lang="en-US" sz="700" dirty="0">
                <a:solidFill>
                  <a:srgbClr val="E6EDF3"/>
                </a:solidFill>
                <a:latin typeface="Courier New" pitchFamily="34" charset="0"/>
                <a:ea typeface="Courier New" pitchFamily="34" charset="-122"/>
                <a:cs typeface="Courier New" pitchFamily="34" charset="-120"/>
              </a:rPr>
              <a:t>); q._p.append(parse_xml(LINK))</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print([x.text </a:t>
            </a: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x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doc.paragraphs])</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print([(r.text, r.bold) </a:t>
            </a: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r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p.runs])</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'table:'</a:t>
            </a:r>
            <a:r>
              <a:rPr lang="en-US" sz="700" dirty="0">
                <a:solidFill>
                  <a:srgbClr val="E6EDF3"/>
                </a:solidFill>
                <a:latin typeface="Courier New" pitchFamily="34" charset="0"/>
                <a:ea typeface="Courier New" pitchFamily="34" charset="-122"/>
                <a:cs typeface="Courier New" pitchFamily="34" charset="-120"/>
              </a:rPr>
              <a:t>, doc.tables[</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].cell(</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).text)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'header:'</a:t>
            </a:r>
            <a:r>
              <a:rPr lang="en-US" sz="700" dirty="0">
                <a:solidFill>
                  <a:srgbClr val="E6EDF3"/>
                </a:solidFill>
                <a:latin typeface="Courier New" pitchFamily="34" charset="0"/>
                <a:ea typeface="Courier New" pitchFamily="34" charset="-122"/>
                <a:cs typeface="Courier New" pitchFamily="34" charset="-120"/>
              </a:rPr>
              <a:t>, doc.sections[</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].header.paragraphs[</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].text)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a:t>
            </a:r>
            <a:r>
              <a:rPr lang="en-US" sz="700" dirty="0">
                <a:solidFill>
                  <a:srgbClr val="9ECBFF"/>
                </a:solidFill>
                <a:latin typeface="Courier New" pitchFamily="34" charset="0"/>
                <a:ea typeface="Courier New" pitchFamily="34" charset="-122"/>
                <a:cs typeface="Courier New" pitchFamily="34" charset="-120"/>
              </a:rPr>
              <a:t>'hyperlink paragraph: text'</a:t>
            </a:r>
            <a:r>
              <a:rPr lang="en-US" sz="700" dirty="0">
                <a:solidFill>
                  <a:srgbClr val="E6EDF3"/>
                </a:solidFill>
                <a:latin typeface="Courier New" pitchFamily="34" charset="0"/>
                <a:ea typeface="Courier New" pitchFamily="34" charset="-122"/>
                <a:cs typeface="Courier New" pitchFamily="34" charset="-120"/>
              </a:rPr>
              <a:t>, repr(q.text),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'runs'</a:t>
            </a:r>
            <a:r>
              <a:rPr lang="en-US" sz="700" dirty="0">
                <a:solidFill>
                  <a:srgbClr val="E6EDF3"/>
                </a:solidFill>
                <a:latin typeface="Courier New" pitchFamily="34" charset="0"/>
                <a:ea typeface="Courier New" pitchFamily="34" charset="-122"/>
                <a:cs typeface="Courier New" pitchFamily="34" charset="-120"/>
              </a:rPr>
              <a:t>, [r.text </a:t>
            </a: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r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q.runs])</a:t>
            </a:r>
            <a:endParaRPr lang="en-US" sz="700" dirty="0"/>
          </a:p>
          <a:p>
            <a:pPr indent="0" marL="0">
              <a:buNone/>
            </a:pPr>
            <a:r>
              <a:rPr lang="en-US" sz="700" b="1" dirty="0">
                <a:solidFill>
                  <a:srgbClr val="D97A14"/>
                </a:solidFill>
                <a:latin typeface="Courier New" pitchFamily="34" charset="0"/>
                <a:ea typeface="Courier New" pitchFamily="34" charset="-122"/>
                <a:cs typeface="Courier New" pitchFamily="34" charset="-120"/>
              </a:rPr>
              <a:t>prints </a:t>
            </a:r>
            <a:r>
              <a:rPr lang="en-US" sz="700" dirty="0">
                <a:solidFill>
                  <a:srgbClr val="7EE787"/>
                </a:solidFill>
                <a:latin typeface="Courier New" pitchFamily="34" charset="0"/>
                <a:ea typeface="Courier New" pitchFamily="34" charset="-122"/>
                <a:cs typeface="Courier New" pitchFamily="34" charset="-120"/>
              </a:rPr>
              <a:t>['Some bold text', 'before linked']</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[('Some ', None), ('bold', True), (' text', None)]</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table: in a table</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header: IN THE HEADER</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hyperlink paragraph: text 'before linked' runs ['before ']</a:t>
            </a:r>
            <a:endParaRPr lang="en-US" sz="700" dirty="0"/>
          </a:p>
        </p:txBody>
      </p:sp>
      <p:sp>
        <p:nvSpPr>
          <p:cNvPr id="39" name="Shape 37"/>
          <p:cNvSpPr/>
          <p:nvPr/>
        </p:nvSpPr>
        <p:spPr>
          <a:xfrm>
            <a:off x="457200" y="4636008"/>
            <a:ext cx="91440" cy="310896"/>
          </a:xfrm>
          <a:prstGeom prst="rect">
            <a:avLst/>
          </a:prstGeom>
          <a:solidFill>
            <a:srgbClr val="D97A14"/>
          </a:solidFill>
          <a:ln w="12700">
            <a:solidFill>
              <a:srgbClr val="D97A14"/>
            </a:solidFill>
            <a:prstDash val="solid"/>
          </a:ln>
        </p:spPr>
      </p:sp>
      <p:sp>
        <p:nvSpPr>
          <p:cNvPr id="40" name="Text 38"/>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Read paragraphs for the body; tables, headers and link text need their own door.</a:t>
            </a:r>
            <a:endParaRPr lang="en-US" sz="1350" dirty="0"/>
          </a:p>
        </p:txBody>
      </p:sp>
      <p:sp>
        <p:nvSpPr>
          <p:cNvPr id="41" name="Text 39"/>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18 / 26</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book's demo.docx, restyled</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The chapter's restyling of its demo file: Quote Char on one run, underline on another</a:t>
            </a:r>
            <a:endParaRPr lang="en-US" sz="1300" dirty="0"/>
          </a:p>
        </p:txBody>
      </p:sp>
      <p:sp>
        <p:nvSpPr>
          <p:cNvPr id="6" name="Text 4"/>
          <p:cNvSpPr txBox="1"/>
          <p:nvPr/>
        </p:nvSpPr>
        <p:spPr>
          <a:xfrm>
            <a:off x="457200" y="1143000"/>
            <a:ext cx="3959352"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program shippedDemoDocxCut_v1_0_0.py, lines 29 to 43 of 43</a:t>
            </a:r>
            <a:endParaRPr lang="en-US" sz="1000" dirty="0"/>
          </a:p>
        </p:txBody>
      </p:sp>
      <p:sp>
        <p:nvSpPr>
          <p:cNvPr id="7" name="Shape 5"/>
          <p:cNvSpPr/>
          <p:nvPr/>
        </p:nvSpPr>
        <p:spPr>
          <a:xfrm>
            <a:off x="457200" y="1417320"/>
            <a:ext cx="3959352" cy="2176272"/>
          </a:xfrm>
          <a:prstGeom prst="roundRect">
            <a:avLst>
              <a:gd name="adj" fmla="val 4202"/>
            </a:avLst>
          </a:prstGeom>
          <a:solidFill>
            <a:srgbClr val="23272E"/>
          </a:solidFill>
          <a:ln w="12700">
            <a:solidFill>
              <a:srgbClr val="23272E"/>
            </a:solidFill>
            <a:prstDash val="solid"/>
          </a:ln>
        </p:spPr>
      </p:sp>
      <p:sp>
        <p:nvSpPr>
          <p:cNvPr id="8" name="Text 6"/>
          <p:cNvSpPr txBox="1"/>
          <p:nvPr/>
        </p:nvSpPr>
        <p:spPr>
          <a:xfrm>
            <a:off x="640080" y="1536192"/>
            <a:ext cx="3593592" cy="1938528"/>
          </a:xfrm>
          <a:prstGeom prst="rect">
            <a:avLst/>
          </a:prstGeom>
          <a:noFill/>
          <a:ln/>
        </p:spPr>
        <p:txBody>
          <a:bodyPr wrap="square" lIns="0" tIns="0" rIns="0" bIns="0" rtlCol="0" anchor="t"/>
          <a:lstStyle/>
          <a:p>
            <a:pPr indent="0" marL="0">
              <a:buNone/>
            </a:pPr>
            <a:r>
              <a:rPr lang="en-US" sz="700" b="1" dirty="0">
                <a:solidFill>
                  <a:srgbClr val="F2A860"/>
                </a:solidFill>
                <a:latin typeface="Courier New" pitchFamily="34" charset="0"/>
                <a:ea typeface="Courier New" pitchFamily="34" charset="-122"/>
                <a:cs typeface="Courier New" pitchFamily="34" charset="-120"/>
              </a:rPr>
              <a:t>import</a:t>
            </a:r>
            <a:r>
              <a:rPr lang="en-US" sz="700" dirty="0">
                <a:solidFill>
                  <a:srgbClr val="E6EDF3"/>
                </a:solidFill>
                <a:latin typeface="Courier New" pitchFamily="34" charset="0"/>
                <a:ea typeface="Courier New" pitchFamily="34" charset="-122"/>
                <a:cs typeface="Courier New" pitchFamily="34" charset="-120"/>
              </a:rPr>
              <a:t> docx</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name = real_file(</a:t>
            </a:r>
            <a:r>
              <a:rPr lang="en-US" sz="700" dirty="0">
                <a:solidFill>
                  <a:srgbClr val="9ECBFF"/>
                </a:solidFill>
                <a:latin typeface="Courier New" pitchFamily="34" charset="0"/>
                <a:ea typeface="Courier New" pitchFamily="34" charset="-122"/>
                <a:cs typeface="Courier New" pitchFamily="34" charset="-120"/>
              </a:rPr>
              <a:t>'demo.docx'</a:t>
            </a:r>
            <a:r>
              <a:rPr lang="en-US" sz="700" dirty="0">
                <a:solidFill>
                  <a:srgbClr val="E6EDF3"/>
                </a:solidFill>
                <a:latin typeface="Courier New" pitchFamily="34" charset="0"/>
                <a:ea typeface="Courier New" pitchFamily="34" charset="-122"/>
                <a:cs typeface="Courier New" pitchFamily="34" charset="-120"/>
              </a:rPr>
              <a:t>)  </a:t>
            </a:r>
            <a:r>
              <a:rPr lang="en-US" sz="700" i="1" dirty="0">
                <a:solidFill>
                  <a:srgbClr val="8FA98F"/>
                </a:solidFill>
                <a:latin typeface="Courier New" pitchFamily="34" charset="0"/>
                <a:ea typeface="Courier New" pitchFamily="34" charset="-122"/>
                <a:cs typeface="Courier New" pitchFamily="34" charset="-120"/>
              </a:rPr>
              <a:t># sha256 checked</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doc = docx.Document(name)</a:t>
            </a:r>
            <a:endParaRPr lang="en-US" sz="700" dirty="0"/>
          </a:p>
          <a:p>
            <a:pPr indent="0" marL="0">
              <a:buNone/>
            </a:pP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p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doc.paragraphs:</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print(p.style.name, </a:t>
            </a:r>
            <a:r>
              <a:rPr lang="en-US" sz="700" dirty="0">
                <a:solidFill>
                  <a:srgbClr val="9ECBFF"/>
                </a:solidFill>
                <a:latin typeface="Courier New" pitchFamily="34" charset="0"/>
                <a:ea typeface="Courier New" pitchFamily="34" charset="-122"/>
                <a:cs typeface="Courier New" pitchFamily="34" charset="-120"/>
              </a:rPr>
              <a:t>'|'</a:t>
            </a:r>
            <a:r>
              <a:rPr lang="en-US" sz="700" dirty="0">
                <a:solidFill>
                  <a:srgbClr val="E6EDF3"/>
                </a:solidFill>
                <a:latin typeface="Courier New" pitchFamily="34" charset="0"/>
                <a:ea typeface="Courier New" pitchFamily="34" charset="-122"/>
                <a:cs typeface="Courier New" pitchFamily="34" charset="-120"/>
              </a:rPr>
              <a:t>, p.text)</a:t>
            </a:r>
            <a:endParaRPr lang="en-US" sz="700" dirty="0"/>
          </a:p>
          <a:p>
            <a:pPr indent="0" marL="0">
              <a:buNone/>
            </a:pP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r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doc.paragraphs[</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].runs:</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print(</a:t>
            </a:r>
            <a:r>
              <a:rPr lang="en-US" sz="700" dirty="0">
                <a:solidFill>
                  <a:srgbClr val="9ECBFF"/>
                </a:solidFill>
                <a:latin typeface="Courier New" pitchFamily="34" charset="0"/>
                <a:ea typeface="Courier New" pitchFamily="34" charset="-122"/>
                <a:cs typeface="Courier New" pitchFamily="34" charset="-120"/>
              </a:rPr>
              <a:t>'   '</a:t>
            </a:r>
            <a:r>
              <a:rPr lang="en-US" sz="700" dirty="0">
                <a:solidFill>
                  <a:srgbClr val="E6EDF3"/>
                </a:solidFill>
                <a:latin typeface="Courier New" pitchFamily="34" charset="0"/>
                <a:ea typeface="Courier New" pitchFamily="34" charset="-122"/>
                <a:cs typeface="Courier New" pitchFamily="34" charset="-120"/>
              </a:rPr>
              <a:t>, repr(r.text), r.bold, r.italic)</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doc.paragraphs[</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].style = </a:t>
            </a:r>
            <a:r>
              <a:rPr lang="en-US" sz="700" dirty="0">
                <a:solidFill>
                  <a:srgbClr val="9ECBFF"/>
                </a:solidFill>
                <a:latin typeface="Courier New" pitchFamily="34" charset="0"/>
                <a:ea typeface="Courier New" pitchFamily="34" charset="-122"/>
                <a:cs typeface="Courier New" pitchFamily="34" charset="-120"/>
              </a:rPr>
              <a:t>'Normal'</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doc.paragraphs[</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].runs[</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].style = </a:t>
            </a:r>
            <a:r>
              <a:rPr lang="en-US" sz="700" dirty="0">
                <a:solidFill>
                  <a:srgbClr val="9ECBFF"/>
                </a:solidFill>
                <a:latin typeface="Courier New" pitchFamily="34" charset="0"/>
                <a:ea typeface="Courier New" pitchFamily="34" charset="-122"/>
                <a:cs typeface="Courier New" pitchFamily="34" charset="-120"/>
              </a:rPr>
              <a:t>'Quote Char'</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doc.paragraphs[</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].runs[</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].underline = </a:t>
            </a:r>
            <a:r>
              <a:rPr lang="en-US" sz="700" b="1" dirty="0">
                <a:solidFill>
                  <a:srgbClr val="F2A860"/>
                </a:solidFill>
                <a:latin typeface="Courier New" pitchFamily="34" charset="0"/>
                <a:ea typeface="Courier New" pitchFamily="34" charset="-122"/>
                <a:cs typeface="Courier New" pitchFamily="34" charset="-120"/>
              </a:rPr>
              <a:t>True</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doc.save(</a:t>
            </a:r>
            <a:r>
              <a:rPr lang="en-US" sz="700" dirty="0">
                <a:solidFill>
                  <a:srgbClr val="9ECBFF"/>
                </a:solidFill>
                <a:latin typeface="Courier New" pitchFamily="34" charset="0"/>
                <a:ea typeface="Courier New" pitchFamily="34" charset="-122"/>
                <a:cs typeface="Courier New" pitchFamily="34" charset="-120"/>
              </a:rPr>
              <a:t>'restyled.docx'</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d = docx.Document(</a:t>
            </a:r>
            <a:r>
              <a:rPr lang="en-US" sz="700" dirty="0">
                <a:solidFill>
                  <a:srgbClr val="9ECBFF"/>
                </a:solidFill>
                <a:latin typeface="Courier New" pitchFamily="34" charset="0"/>
                <a:ea typeface="Courier New" pitchFamily="34" charset="-122"/>
                <a:cs typeface="Courier New" pitchFamily="34" charset="-120"/>
              </a:rPr>
              <a:t>'restyled.docx'</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print(d.paragraphs[</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].style.name)</a:t>
            </a:r>
            <a:endParaRPr lang="en-US" sz="700" dirty="0"/>
          </a:p>
          <a:p>
            <a:pPr indent="0" marL="0">
              <a:buNone/>
            </a:pP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r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d.paragraphs[</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].runs:</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print(</a:t>
            </a:r>
            <a:r>
              <a:rPr lang="en-US" sz="700" dirty="0">
                <a:solidFill>
                  <a:srgbClr val="9ECBFF"/>
                </a:solidFill>
                <a:latin typeface="Courier New" pitchFamily="34" charset="0"/>
                <a:ea typeface="Courier New" pitchFamily="34" charset="-122"/>
                <a:cs typeface="Courier New" pitchFamily="34" charset="-120"/>
              </a:rPr>
              <a:t>'   '</a:t>
            </a:r>
            <a:r>
              <a:rPr lang="en-US" sz="700" dirty="0">
                <a:solidFill>
                  <a:srgbClr val="E6EDF3"/>
                </a:solidFill>
                <a:latin typeface="Courier New" pitchFamily="34" charset="0"/>
                <a:ea typeface="Courier New" pitchFamily="34" charset="-122"/>
                <a:cs typeface="Courier New" pitchFamily="34" charset="-120"/>
              </a:rPr>
              <a:t>, repr(r.text), r.style.name, r.underline)</a:t>
            </a:r>
            <a:endParaRPr lang="en-US" sz="700" dirty="0"/>
          </a:p>
        </p:txBody>
      </p:sp>
      <p:sp>
        <p:nvSpPr>
          <p:cNvPr id="9" name="Text 7"/>
          <p:cNvSpPr txBox="1"/>
          <p:nvPr/>
        </p:nvSpPr>
        <p:spPr>
          <a:xfrm>
            <a:off x="4599432" y="1143000"/>
            <a:ext cx="3858768"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transcript of program shippedDemoDocxCut_v1_0_0.py</a:t>
            </a:r>
            <a:endParaRPr lang="en-US" sz="1000" dirty="0"/>
          </a:p>
        </p:txBody>
      </p:sp>
      <p:sp>
        <p:nvSpPr>
          <p:cNvPr id="10" name="Shape 8"/>
          <p:cNvSpPr/>
          <p:nvPr/>
        </p:nvSpPr>
        <p:spPr>
          <a:xfrm>
            <a:off x="4599432" y="1417320"/>
            <a:ext cx="3858768" cy="2304288"/>
          </a:xfrm>
          <a:prstGeom prst="roundRect">
            <a:avLst>
              <a:gd name="adj" fmla="val 3968"/>
            </a:avLst>
          </a:prstGeom>
          <a:solidFill>
            <a:srgbClr val="23272E"/>
          </a:solidFill>
          <a:ln w="12700">
            <a:solidFill>
              <a:srgbClr val="23272E"/>
            </a:solidFill>
            <a:prstDash val="solid"/>
          </a:ln>
        </p:spPr>
      </p:sp>
      <p:sp>
        <p:nvSpPr>
          <p:cNvPr id="11" name="Text 9"/>
          <p:cNvSpPr txBox="1"/>
          <p:nvPr/>
        </p:nvSpPr>
        <p:spPr>
          <a:xfrm>
            <a:off x="4782312" y="1536192"/>
            <a:ext cx="3493008" cy="2066544"/>
          </a:xfrm>
          <a:prstGeom prst="rect">
            <a:avLst/>
          </a:prstGeom>
          <a:noFill/>
          <a:ln/>
        </p:spPr>
        <p:txBody>
          <a:bodyPr wrap="square" lIns="0" tIns="0" rIns="0" bIns="0" rtlCol="0" anchor="t"/>
          <a:lstStyle/>
          <a:p>
            <a:pPr indent="0" marL="0">
              <a:buNone/>
            </a:pPr>
            <a:r>
              <a:rPr lang="en-US" sz="700" b="1" dirty="0">
                <a:solidFill>
                  <a:srgbClr val="D97A14"/>
                </a:solidFill>
                <a:latin typeface="Courier New" pitchFamily="34" charset="0"/>
                <a:ea typeface="Courier New" pitchFamily="34" charset="-122"/>
                <a:cs typeface="Courier New" pitchFamily="34" charset="-120"/>
              </a:rPr>
              <a:t>prints </a:t>
            </a:r>
            <a:r>
              <a:rPr lang="en-US" sz="700" dirty="0">
                <a:solidFill>
                  <a:srgbClr val="7EE787"/>
                </a:solidFill>
                <a:latin typeface="Courier New" pitchFamily="34" charset="0"/>
                <a:ea typeface="Courier New" pitchFamily="34" charset="-122"/>
                <a:cs typeface="Courier New" pitchFamily="34" charset="-120"/>
              </a:rPr>
              <a:t>Title | Document Title</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Normal | A plain paragraph with some bold text and some italic</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Heading 1 | Heading, level 1</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Intense Quote | Intense quote</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List Bullet | first item in unordered list</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List Number | first item in ordered list</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Normal | </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    'A plain paragraph with some ' None None</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    'bold' True None</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    ' text and some ' None None</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    'italic' None True</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Normal</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    'A plain paragraph with some ' Quote Char None</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    'bold' Default Paragraph Font True</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    ' text and some ' Default Paragraph Font None</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    'italic' Default Paragraph Font None</a:t>
            </a:r>
            <a:endParaRPr lang="en-US" sz="700" dirty="0"/>
          </a:p>
        </p:txBody>
      </p:sp>
      <p:sp>
        <p:nvSpPr>
          <p:cNvPr id="12" name="Text 10"/>
          <p:cNvSpPr txBox="1"/>
          <p:nvPr/>
        </p:nvSpPr>
        <p:spPr>
          <a:xfrm>
            <a:off x="457200" y="3813048"/>
            <a:ext cx="8229600" cy="594360"/>
          </a:xfrm>
          <a:prstGeom prst="rect">
            <a:avLst/>
          </a:prstGeom>
          <a:noFill/>
          <a:ln/>
        </p:spPr>
        <p:txBody>
          <a:bodyPr wrap="square" lIns="0" tIns="0" rIns="0" bIns="0" rtlCol="0" anchor="t"/>
          <a:lstStyle/>
          <a:p>
            <a:pPr indent="0" marL="0">
              <a:buNone/>
            </a:pPr>
            <a:r>
              <a:rPr lang="en-US" sz="900" i="1" dirty="0">
                <a:solidFill>
                  <a:srgbClr val="6E655C"/>
                </a:solidFill>
                <a:latin typeface="Calibri" pitchFamily="34" charset="0"/>
                <a:ea typeface="Calibri" pitchFamily="34" charset="-122"/>
                <a:cs typeface="Calibri" pitchFamily="34" charset="-120"/>
              </a:rPr>
              <a:t>The title paragraph became Normal; the first run took the character style Quote Char; underline was set on the run bold. A run with no style of its own shows Default Paragraph Font. Shipped file: demo.docx of the book's online materials, fetched from nostarch.com at run time, sha256 b43b21137d7d... checked. Lines 1 to 28 of the program (the helper make_pdf(), which writes a small valid PDF 1.4 of text pages byte by byte, and the imports) are not shown.</a:t>
            </a:r>
            <a:endParaRPr lang="en-US" sz="900" dirty="0"/>
          </a:p>
        </p:txBody>
      </p:sp>
      <p:sp>
        <p:nvSpPr>
          <p:cNvPr id="13" name="Shape 11"/>
          <p:cNvSpPr/>
          <p:nvPr/>
        </p:nvSpPr>
        <p:spPr>
          <a:xfrm>
            <a:off x="457200" y="4636008"/>
            <a:ext cx="91440" cy="310896"/>
          </a:xfrm>
          <a:prstGeom prst="rect">
            <a:avLst/>
          </a:prstGeom>
          <a:solidFill>
            <a:srgbClr val="D97A14"/>
          </a:solidFill>
          <a:ln w="12700">
            <a:solidFill>
              <a:srgbClr val="D97A14"/>
            </a:solidFill>
            <a:prstDash val="solid"/>
          </a:ln>
        </p:spPr>
      </p:sp>
      <p:sp>
        <p:nvSpPr>
          <p:cNvPr id="14" name="Text 1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Give a run a character style and a paragraph a paragraph style.</a:t>
            </a:r>
            <a:endParaRPr lang="en-US" sz="1350" dirty="0"/>
          </a:p>
        </p:txBody>
      </p:sp>
      <p:sp>
        <p:nvSpPr>
          <p:cNvPr id="15" name="Text 1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19 / 26</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Styles: an exact name and the right kind</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A paragraph takes a paragraph style, a run a character style, and the name must match</a:t>
            </a:r>
            <a:endParaRPr lang="en-US" sz="1300" dirty="0"/>
          </a:p>
        </p:txBody>
      </p:sp>
      <p:sp>
        <p:nvSpPr>
          <p:cNvPr id="6" name="Shape 4"/>
          <p:cNvSpPr/>
          <p:nvPr/>
        </p:nvSpPr>
        <p:spPr>
          <a:xfrm>
            <a:off x="1783080" y="1313993"/>
            <a:ext cx="1645920" cy="420624"/>
          </a:xfrm>
          <a:prstGeom prst="roundRect">
            <a:avLst>
              <a:gd name="adj" fmla="val 17391"/>
            </a:avLst>
          </a:prstGeom>
          <a:solidFill>
            <a:srgbClr val="F2ECE1"/>
          </a:solidFill>
          <a:ln w="15875">
            <a:solidFill>
              <a:srgbClr val="2F6D62"/>
            </a:solidFill>
            <a:prstDash val="solid"/>
          </a:ln>
        </p:spPr>
      </p:sp>
      <p:sp>
        <p:nvSpPr>
          <p:cNvPr id="7" name="Text 5"/>
          <p:cNvSpPr txBox="1"/>
          <p:nvPr/>
        </p:nvSpPr>
        <p:spPr>
          <a:xfrm>
            <a:off x="1847088" y="1452982"/>
            <a:ext cx="1517904" cy="140818"/>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Choose the name of a style</a:t>
            </a:r>
            <a:endParaRPr lang="en-US" sz="800" dirty="0"/>
          </a:p>
        </p:txBody>
      </p:sp>
      <p:sp>
        <p:nvSpPr>
          <p:cNvPr id="8" name="Shape 6"/>
          <p:cNvSpPr/>
          <p:nvPr/>
        </p:nvSpPr>
        <p:spPr>
          <a:xfrm>
            <a:off x="1783080" y="1783080"/>
            <a:ext cx="1645920" cy="457200"/>
          </a:xfrm>
          <a:prstGeom prst="hexagon">
            <a:avLst/>
          </a:prstGeom>
          <a:solidFill>
            <a:srgbClr val="D97A14"/>
          </a:solidFill>
          <a:ln w="15875">
            <a:solidFill>
              <a:srgbClr val="D97A14"/>
            </a:solidFill>
            <a:prstDash val="solid"/>
          </a:ln>
        </p:spPr>
      </p:sp>
      <p:sp>
        <p:nvSpPr>
          <p:cNvPr id="9" name="Text 7"/>
          <p:cNvSpPr txBox="1"/>
          <p:nvPr/>
        </p:nvSpPr>
        <p:spPr>
          <a:xfrm>
            <a:off x="1938528" y="1817827"/>
            <a:ext cx="1335024" cy="386791"/>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Does the template have a style with that exact name?</a:t>
            </a:r>
            <a:endParaRPr lang="en-US" sz="800" dirty="0"/>
          </a:p>
        </p:txBody>
      </p:sp>
      <p:sp>
        <p:nvSpPr>
          <p:cNvPr id="10" name="Shape 8"/>
          <p:cNvSpPr/>
          <p:nvPr/>
        </p:nvSpPr>
        <p:spPr>
          <a:xfrm>
            <a:off x="457200" y="1801368"/>
            <a:ext cx="1097280" cy="420624"/>
          </a:xfrm>
          <a:prstGeom prst="roundRect">
            <a:avLst>
              <a:gd name="adj" fmla="val 17391"/>
            </a:avLst>
          </a:prstGeom>
          <a:solidFill>
            <a:srgbClr val="F2ECE1"/>
          </a:solidFill>
          <a:ln w="15875">
            <a:solidFill>
              <a:srgbClr val="2F6D62"/>
            </a:solidFill>
            <a:prstDash val="solid"/>
          </a:ln>
        </p:spPr>
      </p:sp>
      <p:sp>
        <p:nvSpPr>
          <p:cNvPr id="11" name="Text 9"/>
          <p:cNvSpPr txBox="1"/>
          <p:nvPr/>
        </p:nvSpPr>
        <p:spPr>
          <a:xfrm>
            <a:off x="521208" y="1817827"/>
            <a:ext cx="969264" cy="386791"/>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Make a paragraph style with add_style()</a:t>
            </a:r>
            <a:endParaRPr lang="en-US" sz="800" dirty="0"/>
          </a:p>
        </p:txBody>
      </p:sp>
      <p:sp>
        <p:nvSpPr>
          <p:cNvPr id="12" name="Shape 10"/>
          <p:cNvSpPr/>
          <p:nvPr/>
        </p:nvSpPr>
        <p:spPr>
          <a:xfrm>
            <a:off x="1783080" y="2270455"/>
            <a:ext cx="1645920" cy="457200"/>
          </a:xfrm>
          <a:prstGeom prst="hexagon">
            <a:avLst/>
          </a:prstGeom>
          <a:solidFill>
            <a:srgbClr val="D97A14"/>
          </a:solidFill>
          <a:ln w="15875">
            <a:solidFill>
              <a:srgbClr val="D97A14"/>
            </a:solidFill>
            <a:prstDash val="solid"/>
          </a:ln>
        </p:spPr>
      </p:sp>
      <p:sp>
        <p:nvSpPr>
          <p:cNvPr id="13" name="Text 11"/>
          <p:cNvSpPr txBox="1"/>
          <p:nvPr/>
        </p:nvSpPr>
        <p:spPr>
          <a:xfrm>
            <a:off x="1938528" y="2367382"/>
            <a:ext cx="1335024" cy="26426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Is the style for a whole paragraph?</a:t>
            </a:r>
            <a:endParaRPr lang="en-US" sz="800" dirty="0"/>
          </a:p>
        </p:txBody>
      </p:sp>
      <p:sp>
        <p:nvSpPr>
          <p:cNvPr id="14" name="Shape 12"/>
          <p:cNvSpPr/>
          <p:nvPr/>
        </p:nvSpPr>
        <p:spPr>
          <a:xfrm>
            <a:off x="1783080" y="2777033"/>
            <a:ext cx="1645920" cy="420624"/>
          </a:xfrm>
          <a:prstGeom prst="roundRect">
            <a:avLst>
              <a:gd name="adj" fmla="val 17391"/>
            </a:avLst>
          </a:prstGeom>
          <a:solidFill>
            <a:srgbClr val="F2ECE1"/>
          </a:solidFill>
          <a:ln w="15875">
            <a:solidFill>
              <a:srgbClr val="2F6D62"/>
            </a:solidFill>
            <a:prstDash val="solid"/>
          </a:ln>
        </p:spPr>
      </p:sp>
      <p:sp>
        <p:nvSpPr>
          <p:cNvPr id="15" name="Text 13"/>
          <p:cNvSpPr txBox="1"/>
          <p:nvPr/>
        </p:nvSpPr>
        <p:spPr>
          <a:xfrm>
            <a:off x="1847088" y="2854757"/>
            <a:ext cx="1517904" cy="264262"/>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Assign it to the style of the paragraph</a:t>
            </a:r>
            <a:endParaRPr lang="en-US" sz="800" dirty="0"/>
          </a:p>
        </p:txBody>
      </p:sp>
      <p:sp>
        <p:nvSpPr>
          <p:cNvPr id="16" name="Shape 14"/>
          <p:cNvSpPr/>
          <p:nvPr/>
        </p:nvSpPr>
        <p:spPr>
          <a:xfrm>
            <a:off x="3675888" y="2288743"/>
            <a:ext cx="804672" cy="420624"/>
          </a:xfrm>
          <a:prstGeom prst="roundRect">
            <a:avLst>
              <a:gd name="adj" fmla="val 17391"/>
            </a:avLst>
          </a:prstGeom>
          <a:solidFill>
            <a:srgbClr val="F2ECE1"/>
          </a:solidFill>
          <a:ln w="15875">
            <a:solidFill>
              <a:srgbClr val="2F6D62"/>
            </a:solidFill>
            <a:prstDash val="solid"/>
          </a:ln>
        </p:spPr>
      </p:sp>
      <p:sp>
        <p:nvSpPr>
          <p:cNvPr id="17" name="Text 15"/>
          <p:cNvSpPr txBox="1"/>
          <p:nvPr/>
        </p:nvSpPr>
        <p:spPr>
          <a:xfrm>
            <a:off x="3739896" y="2306117"/>
            <a:ext cx="676656" cy="386791"/>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Assign it to the style of the run</a:t>
            </a:r>
            <a:endParaRPr lang="en-US" sz="800" dirty="0"/>
          </a:p>
        </p:txBody>
      </p:sp>
      <p:sp>
        <p:nvSpPr>
          <p:cNvPr id="18" name="Shape 16"/>
          <p:cNvSpPr/>
          <p:nvPr/>
        </p:nvSpPr>
        <p:spPr>
          <a:xfrm>
            <a:off x="1783080" y="3264408"/>
            <a:ext cx="1645920" cy="420624"/>
          </a:xfrm>
          <a:prstGeom prst="roundRect">
            <a:avLst>
              <a:gd name="adj" fmla="val 17391"/>
            </a:avLst>
          </a:prstGeom>
          <a:solidFill>
            <a:srgbClr val="F2ECE1"/>
          </a:solidFill>
          <a:ln w="15875">
            <a:solidFill>
              <a:srgbClr val="2F6D62"/>
            </a:solidFill>
            <a:prstDash val="solid"/>
          </a:ln>
        </p:spPr>
      </p:sp>
      <p:sp>
        <p:nvSpPr>
          <p:cNvPr id="19" name="Text 17"/>
          <p:cNvSpPr txBox="1"/>
          <p:nvPr/>
        </p:nvSpPr>
        <p:spPr>
          <a:xfrm>
            <a:off x="1847088" y="3404311"/>
            <a:ext cx="1517904" cy="140818"/>
          </a:xfrm>
          <a:prstGeom prst="rect">
            <a:avLst/>
          </a:prstGeom>
          <a:noFill/>
          <a:ln/>
        </p:spPr>
        <p:txBody>
          <a:bodyPr wrap="square" lIns="0" tIns="0" rIns="0" bIns="0" rtlCol="0" anchor="ctr"/>
          <a:lstStyle/>
          <a:p>
            <a:pPr algn="ctr" indent="0" marL="0">
              <a:buNone/>
            </a:pPr>
            <a:r>
              <a:rPr lang="en-US" sz="800" dirty="0">
                <a:solidFill>
                  <a:srgbClr val="2B2622"/>
                </a:solidFill>
                <a:latin typeface="Calibri" pitchFamily="34" charset="0"/>
                <a:ea typeface="Calibri" pitchFamily="34" charset="-122"/>
                <a:cs typeface="Calibri" pitchFamily="34" charset="-120"/>
              </a:rPr>
              <a:t>Save the document</a:t>
            </a:r>
            <a:endParaRPr lang="en-US" sz="800" dirty="0"/>
          </a:p>
        </p:txBody>
      </p:sp>
      <p:sp>
        <p:nvSpPr>
          <p:cNvPr id="20" name="Shape 18"/>
          <p:cNvSpPr/>
          <p:nvPr/>
        </p:nvSpPr>
        <p:spPr>
          <a:xfrm>
            <a:off x="3986784" y="1432865"/>
            <a:ext cx="182880" cy="182880"/>
          </a:xfrm>
          <a:prstGeom prst="ellipse">
            <a:avLst/>
          </a:prstGeom>
          <a:solidFill>
            <a:srgbClr val="2B2622"/>
          </a:solidFill>
          <a:ln w="15875">
            <a:solidFill>
              <a:srgbClr val="2B2622"/>
            </a:solidFill>
            <a:prstDash val="solid"/>
          </a:ln>
        </p:spPr>
      </p:sp>
      <p:sp>
        <p:nvSpPr>
          <p:cNvPr id="21" name="Shape 19"/>
          <p:cNvSpPr/>
          <p:nvPr/>
        </p:nvSpPr>
        <p:spPr>
          <a:xfrm>
            <a:off x="2478024" y="3834079"/>
            <a:ext cx="256032" cy="256032"/>
          </a:xfrm>
          <a:prstGeom prst="ellipse">
            <a:avLst/>
          </a:prstGeom>
          <a:solidFill>
            <a:srgbClr val="FFFFFF"/>
          </a:solidFill>
          <a:ln w="25400">
            <a:solidFill>
              <a:srgbClr val="2B2622"/>
            </a:solidFill>
            <a:prstDash val="solid"/>
          </a:ln>
        </p:spPr>
      </p:sp>
      <p:sp>
        <p:nvSpPr>
          <p:cNvPr id="22" name="Shape 20"/>
          <p:cNvSpPr/>
          <p:nvPr/>
        </p:nvSpPr>
        <p:spPr>
          <a:xfrm>
            <a:off x="2532888" y="3888943"/>
            <a:ext cx="146304" cy="146304"/>
          </a:xfrm>
          <a:prstGeom prst="ellipse">
            <a:avLst/>
          </a:prstGeom>
          <a:solidFill>
            <a:srgbClr val="2B2622"/>
          </a:solidFill>
          <a:ln w="15875">
            <a:solidFill>
              <a:srgbClr val="2B2622"/>
            </a:solidFill>
            <a:prstDash val="solid"/>
          </a:ln>
        </p:spPr>
      </p:sp>
      <p:sp>
        <p:nvSpPr>
          <p:cNvPr id="23" name="Shape 21"/>
          <p:cNvSpPr/>
          <p:nvPr/>
        </p:nvSpPr>
        <p:spPr>
          <a:xfrm flipH="1">
            <a:off x="3429000" y="1524305"/>
            <a:ext cx="557784" cy="0"/>
          </a:xfrm>
          <a:prstGeom prst="line">
            <a:avLst/>
          </a:prstGeom>
          <a:noFill/>
          <a:ln w="15875">
            <a:solidFill>
              <a:srgbClr val="6E655C"/>
            </a:solidFill>
            <a:prstDash val="solid"/>
            <a:tailEnd type="triangle"/>
          </a:ln>
        </p:spPr>
      </p:sp>
      <p:sp>
        <p:nvSpPr>
          <p:cNvPr id="24" name="Shape 22"/>
          <p:cNvSpPr/>
          <p:nvPr/>
        </p:nvSpPr>
        <p:spPr>
          <a:xfrm>
            <a:off x="2606040" y="1734617"/>
            <a:ext cx="0" cy="48463"/>
          </a:xfrm>
          <a:prstGeom prst="line">
            <a:avLst/>
          </a:prstGeom>
          <a:noFill/>
          <a:ln w="15875">
            <a:solidFill>
              <a:srgbClr val="6E655C"/>
            </a:solidFill>
            <a:prstDash val="solid"/>
            <a:tailEnd type="triangle"/>
          </a:ln>
        </p:spPr>
      </p:sp>
      <p:sp>
        <p:nvSpPr>
          <p:cNvPr id="25" name="Shape 23"/>
          <p:cNvSpPr/>
          <p:nvPr/>
        </p:nvSpPr>
        <p:spPr>
          <a:xfrm>
            <a:off x="2606040" y="2240280"/>
            <a:ext cx="0" cy="30175"/>
          </a:xfrm>
          <a:prstGeom prst="line">
            <a:avLst/>
          </a:prstGeom>
          <a:noFill/>
          <a:ln w="15875">
            <a:solidFill>
              <a:srgbClr val="6E655C"/>
            </a:solidFill>
            <a:prstDash val="solid"/>
            <a:tailEnd type="triangle"/>
          </a:ln>
        </p:spPr>
      </p:sp>
      <p:sp>
        <p:nvSpPr>
          <p:cNvPr id="26" name="Text 24"/>
          <p:cNvSpPr txBox="1"/>
          <p:nvPr/>
        </p:nvSpPr>
        <p:spPr>
          <a:xfrm>
            <a:off x="2660904" y="2173529"/>
            <a:ext cx="310896" cy="164592"/>
          </a:xfrm>
          <a:prstGeom prst="rect">
            <a:avLst/>
          </a:prstGeom>
          <a:solidFill>
            <a:srgbClr val="FAF6EF"/>
          </a:solidFill>
          <a:ln/>
        </p:spPr>
        <p:txBody>
          <a:bodyPr wrap="square" lIns="0" tIns="0" rIns="0" bIns="0" rtlCol="0" anchor="ctr"/>
          <a:lstStyle/>
          <a:p>
            <a:pPr algn="l" indent="0" marL="0">
              <a:buNone/>
            </a:pPr>
            <a:r>
              <a:rPr lang="en-US" sz="800" i="1" dirty="0">
                <a:solidFill>
                  <a:srgbClr val="6E655C"/>
                </a:solidFill>
                <a:latin typeface="Calibri" pitchFamily="34" charset="0"/>
                <a:ea typeface="Calibri" pitchFamily="34" charset="-122"/>
                <a:cs typeface="Calibri" pitchFamily="34" charset="-120"/>
              </a:rPr>
              <a:t>yes</a:t>
            </a:r>
            <a:endParaRPr lang="en-US" sz="800" dirty="0"/>
          </a:p>
        </p:txBody>
      </p:sp>
      <p:sp>
        <p:nvSpPr>
          <p:cNvPr id="27" name="Shape 25"/>
          <p:cNvSpPr/>
          <p:nvPr/>
        </p:nvSpPr>
        <p:spPr>
          <a:xfrm flipH="1">
            <a:off x="1554480" y="2011680"/>
            <a:ext cx="228600" cy="0"/>
          </a:xfrm>
          <a:prstGeom prst="line">
            <a:avLst/>
          </a:prstGeom>
          <a:noFill/>
          <a:ln w="15875">
            <a:solidFill>
              <a:srgbClr val="6E655C"/>
            </a:solidFill>
            <a:prstDash val="solid"/>
            <a:tailEnd type="triangle"/>
          </a:ln>
        </p:spPr>
      </p:sp>
      <p:sp>
        <p:nvSpPr>
          <p:cNvPr id="28" name="Text 26"/>
          <p:cNvSpPr txBox="1"/>
          <p:nvPr/>
        </p:nvSpPr>
        <p:spPr>
          <a:xfrm>
            <a:off x="1600200" y="1828800"/>
            <a:ext cx="310896" cy="164592"/>
          </a:xfrm>
          <a:prstGeom prst="rect">
            <a:avLst/>
          </a:prstGeom>
          <a:solidFill>
            <a:srgbClr val="FAF6EF"/>
          </a:solidFill>
          <a:ln/>
        </p:spPr>
        <p:txBody>
          <a:bodyPr wrap="square" lIns="0" tIns="0" rIns="0" bIns="0" rtlCol="0" anchor="ctr"/>
          <a:lstStyle/>
          <a:p>
            <a:pPr algn="l" indent="0" marL="0">
              <a:buNone/>
            </a:pPr>
            <a:r>
              <a:rPr lang="en-US" sz="800" i="1" dirty="0">
                <a:solidFill>
                  <a:srgbClr val="6E655C"/>
                </a:solidFill>
                <a:latin typeface="Calibri" pitchFamily="34" charset="0"/>
                <a:ea typeface="Calibri" pitchFamily="34" charset="-122"/>
                <a:cs typeface="Calibri" pitchFamily="34" charset="-120"/>
              </a:rPr>
              <a:t>no</a:t>
            </a:r>
            <a:endParaRPr lang="en-US" sz="800" dirty="0"/>
          </a:p>
        </p:txBody>
      </p:sp>
      <p:sp>
        <p:nvSpPr>
          <p:cNvPr id="29" name="Shape 27"/>
          <p:cNvSpPr/>
          <p:nvPr/>
        </p:nvSpPr>
        <p:spPr>
          <a:xfrm>
            <a:off x="1005840" y="2221992"/>
            <a:ext cx="0" cy="765353"/>
          </a:xfrm>
          <a:prstGeom prst="line">
            <a:avLst/>
          </a:prstGeom>
          <a:noFill/>
          <a:ln w="15875">
            <a:solidFill>
              <a:srgbClr val="6E655C"/>
            </a:solidFill>
            <a:prstDash val="solid"/>
          </a:ln>
        </p:spPr>
      </p:sp>
      <p:sp>
        <p:nvSpPr>
          <p:cNvPr id="30" name="Shape 28"/>
          <p:cNvSpPr/>
          <p:nvPr/>
        </p:nvSpPr>
        <p:spPr>
          <a:xfrm>
            <a:off x="1005840" y="2987345"/>
            <a:ext cx="777240" cy="0"/>
          </a:xfrm>
          <a:prstGeom prst="line">
            <a:avLst/>
          </a:prstGeom>
          <a:noFill/>
          <a:ln w="15875">
            <a:solidFill>
              <a:srgbClr val="6E655C"/>
            </a:solidFill>
            <a:prstDash val="solid"/>
            <a:tailEnd type="triangle"/>
          </a:ln>
        </p:spPr>
      </p:sp>
      <p:sp>
        <p:nvSpPr>
          <p:cNvPr id="31" name="Shape 29"/>
          <p:cNvSpPr/>
          <p:nvPr/>
        </p:nvSpPr>
        <p:spPr>
          <a:xfrm>
            <a:off x="2606040" y="2727655"/>
            <a:ext cx="0" cy="49378"/>
          </a:xfrm>
          <a:prstGeom prst="line">
            <a:avLst/>
          </a:prstGeom>
          <a:noFill/>
          <a:ln w="15875">
            <a:solidFill>
              <a:srgbClr val="6E655C"/>
            </a:solidFill>
            <a:prstDash val="solid"/>
            <a:tailEnd type="triangle"/>
          </a:ln>
        </p:spPr>
      </p:sp>
      <p:sp>
        <p:nvSpPr>
          <p:cNvPr id="32" name="Text 30"/>
          <p:cNvSpPr txBox="1"/>
          <p:nvPr/>
        </p:nvSpPr>
        <p:spPr>
          <a:xfrm>
            <a:off x="2660904" y="2670048"/>
            <a:ext cx="310896" cy="164592"/>
          </a:xfrm>
          <a:prstGeom prst="rect">
            <a:avLst/>
          </a:prstGeom>
          <a:solidFill>
            <a:srgbClr val="FAF6EF"/>
          </a:solidFill>
          <a:ln/>
        </p:spPr>
        <p:txBody>
          <a:bodyPr wrap="square" lIns="0" tIns="0" rIns="0" bIns="0" rtlCol="0" anchor="ctr"/>
          <a:lstStyle/>
          <a:p>
            <a:pPr algn="l" indent="0" marL="0">
              <a:buNone/>
            </a:pPr>
            <a:r>
              <a:rPr lang="en-US" sz="800" i="1" dirty="0">
                <a:solidFill>
                  <a:srgbClr val="6E655C"/>
                </a:solidFill>
                <a:latin typeface="Calibri" pitchFamily="34" charset="0"/>
                <a:ea typeface="Calibri" pitchFamily="34" charset="-122"/>
                <a:cs typeface="Calibri" pitchFamily="34" charset="-120"/>
              </a:rPr>
              <a:t>yes</a:t>
            </a:r>
            <a:endParaRPr lang="en-US" sz="800" dirty="0"/>
          </a:p>
        </p:txBody>
      </p:sp>
      <p:sp>
        <p:nvSpPr>
          <p:cNvPr id="33" name="Shape 31"/>
          <p:cNvSpPr/>
          <p:nvPr/>
        </p:nvSpPr>
        <p:spPr>
          <a:xfrm>
            <a:off x="3429000" y="2499055"/>
            <a:ext cx="246888" cy="0"/>
          </a:xfrm>
          <a:prstGeom prst="line">
            <a:avLst/>
          </a:prstGeom>
          <a:noFill/>
          <a:ln w="15875">
            <a:solidFill>
              <a:srgbClr val="6E655C"/>
            </a:solidFill>
            <a:prstDash val="solid"/>
            <a:tailEnd type="triangle"/>
          </a:ln>
        </p:spPr>
      </p:sp>
      <p:sp>
        <p:nvSpPr>
          <p:cNvPr id="34" name="Text 32"/>
          <p:cNvSpPr txBox="1"/>
          <p:nvPr/>
        </p:nvSpPr>
        <p:spPr>
          <a:xfrm>
            <a:off x="3474720" y="2316175"/>
            <a:ext cx="310896" cy="164592"/>
          </a:xfrm>
          <a:prstGeom prst="rect">
            <a:avLst/>
          </a:prstGeom>
          <a:solidFill>
            <a:srgbClr val="FAF6EF"/>
          </a:solidFill>
          <a:ln/>
        </p:spPr>
        <p:txBody>
          <a:bodyPr wrap="square" lIns="0" tIns="0" rIns="0" bIns="0" rtlCol="0" anchor="ctr"/>
          <a:lstStyle/>
          <a:p>
            <a:pPr algn="l" indent="0" marL="0">
              <a:buNone/>
            </a:pPr>
            <a:r>
              <a:rPr lang="en-US" sz="800" i="1" dirty="0">
                <a:solidFill>
                  <a:srgbClr val="6E655C"/>
                </a:solidFill>
                <a:latin typeface="Calibri" pitchFamily="34" charset="0"/>
                <a:ea typeface="Calibri" pitchFamily="34" charset="-122"/>
                <a:cs typeface="Calibri" pitchFamily="34" charset="-120"/>
              </a:rPr>
              <a:t>no</a:t>
            </a:r>
            <a:endParaRPr lang="en-US" sz="800" dirty="0"/>
          </a:p>
        </p:txBody>
      </p:sp>
      <p:sp>
        <p:nvSpPr>
          <p:cNvPr id="35" name="Shape 33"/>
          <p:cNvSpPr/>
          <p:nvPr/>
        </p:nvSpPr>
        <p:spPr>
          <a:xfrm>
            <a:off x="2606040" y="3197657"/>
            <a:ext cx="0" cy="66751"/>
          </a:xfrm>
          <a:prstGeom prst="line">
            <a:avLst/>
          </a:prstGeom>
          <a:noFill/>
          <a:ln w="15875">
            <a:solidFill>
              <a:srgbClr val="6E655C"/>
            </a:solidFill>
            <a:prstDash val="solid"/>
            <a:tailEnd type="triangle"/>
          </a:ln>
        </p:spPr>
      </p:sp>
      <p:sp>
        <p:nvSpPr>
          <p:cNvPr id="36" name="Shape 34"/>
          <p:cNvSpPr/>
          <p:nvPr/>
        </p:nvSpPr>
        <p:spPr>
          <a:xfrm>
            <a:off x="4078224" y="2709367"/>
            <a:ext cx="0" cy="765353"/>
          </a:xfrm>
          <a:prstGeom prst="line">
            <a:avLst/>
          </a:prstGeom>
          <a:noFill/>
          <a:ln w="15875">
            <a:solidFill>
              <a:srgbClr val="6E655C"/>
            </a:solidFill>
            <a:prstDash val="solid"/>
          </a:ln>
        </p:spPr>
      </p:sp>
      <p:sp>
        <p:nvSpPr>
          <p:cNvPr id="37" name="Shape 35"/>
          <p:cNvSpPr/>
          <p:nvPr/>
        </p:nvSpPr>
        <p:spPr>
          <a:xfrm flipH="1">
            <a:off x="3429000" y="3474720"/>
            <a:ext cx="649224" cy="0"/>
          </a:xfrm>
          <a:prstGeom prst="line">
            <a:avLst/>
          </a:prstGeom>
          <a:noFill/>
          <a:ln w="15875">
            <a:solidFill>
              <a:srgbClr val="6E655C"/>
            </a:solidFill>
            <a:prstDash val="solid"/>
            <a:tailEnd type="triangle"/>
          </a:ln>
        </p:spPr>
      </p:sp>
      <p:sp>
        <p:nvSpPr>
          <p:cNvPr id="38" name="Shape 36"/>
          <p:cNvSpPr/>
          <p:nvPr/>
        </p:nvSpPr>
        <p:spPr>
          <a:xfrm>
            <a:off x="2606040" y="3685032"/>
            <a:ext cx="0" cy="149047"/>
          </a:xfrm>
          <a:prstGeom prst="line">
            <a:avLst/>
          </a:prstGeom>
          <a:noFill/>
          <a:ln w="15875">
            <a:solidFill>
              <a:srgbClr val="6E655C"/>
            </a:solidFill>
            <a:prstDash val="solid"/>
            <a:tailEnd type="triangle"/>
          </a:ln>
        </p:spPr>
      </p:sp>
      <p:sp>
        <p:nvSpPr>
          <p:cNvPr id="39" name="Text 37"/>
          <p:cNvSpPr txBox="1"/>
          <p:nvPr/>
        </p:nvSpPr>
        <p:spPr>
          <a:xfrm>
            <a:off x="457200" y="4233672"/>
            <a:ext cx="4023360" cy="301752"/>
          </a:xfrm>
          <a:prstGeom prst="rect">
            <a:avLst/>
          </a:prstGeom>
          <a:noFill/>
          <a:ln/>
        </p:spPr>
        <p:txBody>
          <a:bodyPr wrap="square" lIns="0" tIns="0" rIns="0" bIns="0" rtlCol="0" anchor="t"/>
          <a:lstStyle/>
          <a:p>
            <a:pPr indent="0" marL="0">
              <a:buNone/>
            </a:pPr>
            <a:r>
              <a:rPr lang="en-US" sz="850" i="1" dirty="0">
                <a:solidFill>
                  <a:srgbClr val="6E655C"/>
                </a:solidFill>
                <a:latin typeface="Calibri" pitchFamily="34" charset="0"/>
                <a:ea typeface="Calibri" pitchFamily="34" charset="-122"/>
                <a:cs typeface="Calibri" pitchFamily="34" charset="-120"/>
              </a:rPr>
              <a:t>diagram ChoosingAStyle - Workflow pattern, 21 of 25 words grounded in the chapter's text</a:t>
            </a:r>
            <a:endParaRPr lang="en-US" sz="850" dirty="0"/>
          </a:p>
        </p:txBody>
      </p:sp>
      <p:sp>
        <p:nvSpPr>
          <p:cNvPr id="40" name="Text 38"/>
          <p:cNvSpPr txBox="1"/>
          <p:nvPr/>
        </p:nvSpPr>
        <p:spPr>
          <a:xfrm>
            <a:off x="4572000" y="1143000"/>
            <a:ext cx="4023360"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program stylesCut_v1_0_0.py, lines 20 to 33 of 33</a:t>
            </a:r>
            <a:endParaRPr lang="en-US" sz="1000" dirty="0"/>
          </a:p>
        </p:txBody>
      </p:sp>
      <p:sp>
        <p:nvSpPr>
          <p:cNvPr id="41" name="Shape 39"/>
          <p:cNvSpPr/>
          <p:nvPr/>
        </p:nvSpPr>
        <p:spPr>
          <a:xfrm>
            <a:off x="4572000" y="1417320"/>
            <a:ext cx="4023360" cy="2935224"/>
          </a:xfrm>
          <a:prstGeom prst="roundRect">
            <a:avLst>
              <a:gd name="adj" fmla="val 3115"/>
            </a:avLst>
          </a:prstGeom>
          <a:solidFill>
            <a:srgbClr val="23272E"/>
          </a:solidFill>
          <a:ln w="12700">
            <a:solidFill>
              <a:srgbClr val="23272E"/>
            </a:solidFill>
            <a:prstDash val="solid"/>
          </a:ln>
        </p:spPr>
      </p:sp>
      <p:sp>
        <p:nvSpPr>
          <p:cNvPr id="42" name="Text 40"/>
          <p:cNvSpPr txBox="1"/>
          <p:nvPr/>
        </p:nvSpPr>
        <p:spPr>
          <a:xfrm>
            <a:off x="4754880" y="1536192"/>
            <a:ext cx="3657600" cy="2697480"/>
          </a:xfrm>
          <a:prstGeom prst="rect">
            <a:avLst/>
          </a:prstGeom>
          <a:noFill/>
          <a:ln/>
        </p:spPr>
        <p:txBody>
          <a:bodyPr wrap="square" lIns="0" tIns="0" rIns="0" bIns="0" rtlCol="0" anchor="t"/>
          <a:lstStyle/>
          <a:p>
            <a:pPr indent="0" marL="0">
              <a:buNone/>
            </a:pPr>
            <a:r>
              <a:rPr lang="en-US" sz="700" dirty="0">
                <a:solidFill>
                  <a:srgbClr val="E6EDF3"/>
                </a:solidFill>
                <a:latin typeface="Courier New" pitchFamily="34" charset="0"/>
                <a:ea typeface="Courier New" pitchFamily="34" charset="-122"/>
                <a:cs typeface="Courier New" pitchFamily="34" charset="-120"/>
              </a:rPr>
              <a:t>doc = docx.Document()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 = doc.add_paragraph(</a:t>
            </a:r>
            <a:r>
              <a:rPr lang="en-US" sz="700" dirty="0">
                <a:solidFill>
                  <a:srgbClr val="9ECBFF"/>
                </a:solidFill>
                <a:latin typeface="Courier New" pitchFamily="34" charset="0"/>
                <a:ea typeface="Courier New" pitchFamily="34" charset="-122"/>
                <a:cs typeface="Courier New" pitchFamily="34" charset="-120"/>
              </a:rPr>
              <a:t>'A plain paragraph'</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r = p.add_run(</a:t>
            </a:r>
            <a:r>
              <a:rPr lang="en-US" sz="700" dirty="0">
                <a:solidFill>
                  <a:srgbClr val="9ECBFF"/>
                </a:solidFill>
                <a:latin typeface="Courier New" pitchFamily="34" charset="0"/>
                <a:ea typeface="Courier New" pitchFamily="34" charset="-122"/>
                <a:cs typeface="Courier New" pitchFamily="34" charset="-120"/>
              </a:rPr>
              <a:t>' with a run'</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obj, name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((p, </a:t>
            </a:r>
            <a:r>
              <a:rPr lang="en-US" sz="700" dirty="0">
                <a:solidFill>
                  <a:srgbClr val="9ECBFF"/>
                </a:solidFill>
                <a:latin typeface="Courier New" pitchFamily="34" charset="0"/>
                <a:ea typeface="Courier New" pitchFamily="34" charset="-122"/>
                <a:cs typeface="Courier New" pitchFamily="34" charset="-120"/>
              </a:rPr>
              <a:t>'Quote Char'</a:t>
            </a:r>
            <a:r>
              <a:rPr lang="en-US" sz="700" dirty="0">
                <a:solidFill>
                  <a:srgbClr val="E6EDF3"/>
                </a:solidFill>
                <a:latin typeface="Courier New" pitchFamily="34" charset="0"/>
                <a:ea typeface="Courier New" pitchFamily="34" charset="-122"/>
                <a:cs typeface="Courier New" pitchFamily="34" charset="-120"/>
              </a:rPr>
              <a:t>), (r, </a:t>
            </a:r>
            <a:r>
              <a:rPr lang="en-US" sz="700" dirty="0">
                <a:solidFill>
                  <a:srgbClr val="9ECBFF"/>
                </a:solidFill>
                <a:latin typeface="Courier New" pitchFamily="34" charset="0"/>
                <a:ea typeface="Courier New" pitchFamily="34" charset="-122"/>
                <a:cs typeface="Courier New" pitchFamily="34" charset="-120"/>
              </a:rPr>
              <a:t>'Quote'</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try:</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obj.style = name</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except ValueError as e:</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print(name, </a:t>
            </a:r>
            <a:r>
              <a:rPr lang="en-US" sz="700" dirty="0">
                <a:solidFill>
                  <a:srgbClr val="9ECBFF"/>
                </a:solidFill>
                <a:latin typeface="Courier New" pitchFamily="34" charset="0"/>
                <a:ea typeface="Courier New" pitchFamily="34" charset="-122"/>
                <a:cs typeface="Courier New" pitchFamily="34" charset="-120"/>
              </a:rPr>
              <a:t>'-&gt;'</a:t>
            </a:r>
            <a:r>
              <a:rPr lang="en-US" sz="700" dirty="0">
                <a:solidFill>
                  <a:srgbClr val="E6EDF3"/>
                </a:solidFill>
                <a:latin typeface="Courier New" pitchFamily="34" charset="0"/>
                <a:ea typeface="Courier New" pitchFamily="34" charset="-122"/>
                <a:cs typeface="Courier New" pitchFamily="34" charset="-120"/>
              </a:rPr>
              <a:t>); print(</a:t>
            </a:r>
            <a:r>
              <a:rPr lang="en-US" sz="700" dirty="0">
                <a:solidFill>
                  <a:srgbClr val="9ECBFF"/>
                </a:solidFill>
                <a:latin typeface="Courier New" pitchFamily="34" charset="0"/>
                <a:ea typeface="Courier New" pitchFamily="34" charset="-122"/>
                <a:cs typeface="Courier New" pitchFamily="34" charset="-120"/>
              </a:rPr>
              <a:t>'   '</a:t>
            </a:r>
            <a:r>
              <a:rPr lang="en-US" sz="700" dirty="0">
                <a:solidFill>
                  <a:srgbClr val="E6EDF3"/>
                </a:solidFill>
                <a:latin typeface="Courier New" pitchFamily="34" charset="0"/>
                <a:ea typeface="Courier New" pitchFamily="34" charset="-122"/>
                <a:cs typeface="Courier New" pitchFamily="34" charset="-120"/>
              </a:rPr>
              <a:t>, e)</a:t>
            </a:r>
            <a:endParaRPr lang="en-US" sz="700" dirty="0"/>
          </a:p>
          <a:p>
            <a:pPr indent="0" marL="0">
              <a:buNone/>
            </a:pP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n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'List Number '</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'List Number'</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try:</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doc.add_paragraph(</a:t>
            </a:r>
            <a:r>
              <a:rPr lang="en-US" sz="700" dirty="0">
                <a:solidFill>
                  <a:srgbClr val="9ECBFF"/>
                </a:solidFill>
                <a:latin typeface="Courier New" pitchFamily="34" charset="0"/>
                <a:ea typeface="Courier New" pitchFamily="34" charset="-122"/>
                <a:cs typeface="Courier New" pitchFamily="34" charset="-120"/>
              </a:rPr>
              <a:t>'x'</a:t>
            </a:r>
            <a:r>
              <a:rPr lang="en-US" sz="700" dirty="0">
                <a:solidFill>
                  <a:srgbClr val="E6EDF3"/>
                </a:solidFill>
                <a:latin typeface="Courier New" pitchFamily="34" charset="0"/>
                <a:ea typeface="Courier New" pitchFamily="34" charset="-122"/>
                <a:cs typeface="Courier New" pitchFamily="34" charset="-120"/>
              </a:rPr>
              <a:t>, n); print(repr(n), </a:t>
            </a:r>
            <a:r>
              <a:rPr lang="en-US" sz="700" dirty="0">
                <a:solidFill>
                  <a:srgbClr val="9ECBFF"/>
                </a:solidFill>
                <a:latin typeface="Courier New" pitchFamily="34" charset="0"/>
                <a:ea typeface="Courier New" pitchFamily="34" charset="-122"/>
                <a:cs typeface="Courier New" pitchFamily="34" charset="-120"/>
              </a:rPr>
              <a:t>'ok'</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except KeyError as e:</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print(repr(n), </a:t>
            </a:r>
            <a:r>
              <a:rPr lang="en-US" sz="700" dirty="0">
                <a:solidFill>
                  <a:srgbClr val="9ECBFF"/>
                </a:solidFill>
                <a:latin typeface="Courier New" pitchFamily="34" charset="0"/>
                <a:ea typeface="Courier New" pitchFamily="34" charset="-122"/>
                <a:cs typeface="Courier New" pitchFamily="34" charset="-120"/>
              </a:rPr>
              <a:t>'KeyError'</a:t>
            </a:r>
            <a:r>
              <a:rPr lang="en-US" sz="700" dirty="0">
                <a:solidFill>
                  <a:srgbClr val="E6EDF3"/>
                </a:solidFill>
                <a:latin typeface="Courier New" pitchFamily="34" charset="0"/>
                <a:ea typeface="Courier New" pitchFamily="34" charset="-122"/>
                <a:cs typeface="Courier New" pitchFamily="34" charset="-120"/>
              </a:rPr>
              <a:t>, e)</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print(len(doc.styles), </a:t>
            </a:r>
            <a:r>
              <a:rPr lang="en-US" sz="700" dirty="0">
                <a:solidFill>
                  <a:srgbClr val="9ECBFF"/>
                </a:solidFill>
                <a:latin typeface="Courier New" pitchFamily="34" charset="0"/>
                <a:ea typeface="Courier New" pitchFamily="34" charset="-122"/>
                <a:cs typeface="Courier New" pitchFamily="34" charset="-120"/>
              </a:rPr>
              <a:t>'styles in a new document'</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b="1" dirty="0">
                <a:solidFill>
                  <a:srgbClr val="D97A14"/>
                </a:solidFill>
                <a:latin typeface="Courier New" pitchFamily="34" charset="0"/>
                <a:ea typeface="Courier New" pitchFamily="34" charset="-122"/>
                <a:cs typeface="Courier New" pitchFamily="34" charset="-120"/>
              </a:rPr>
              <a:t>prints </a:t>
            </a:r>
            <a:r>
              <a:rPr lang="en-US" sz="700" dirty="0">
                <a:solidFill>
                  <a:srgbClr val="7EE787"/>
                </a:solidFill>
                <a:latin typeface="Courier New" pitchFamily="34" charset="0"/>
                <a:ea typeface="Courier New" pitchFamily="34" charset="-122"/>
                <a:cs typeface="Courier New" pitchFamily="34" charset="-120"/>
              </a:rPr>
              <a:t>Quote Char -&gt;</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    assigned style is type CHARACTER (2), need type PARAGRAPH (1)</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Quote -&gt;</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    assigned style is type PARAGRAPH (1), need type CHARACTER (2)</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'List Number ' KeyError "no style with name 'List Number '"</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'List Number' ok</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164 styles in a new document</a:t>
            </a:r>
            <a:endParaRPr lang="en-US" sz="700" dirty="0"/>
          </a:p>
        </p:txBody>
      </p:sp>
      <p:sp>
        <p:nvSpPr>
          <p:cNvPr id="43" name="Shape 41"/>
          <p:cNvSpPr/>
          <p:nvPr/>
        </p:nvSpPr>
        <p:spPr>
          <a:xfrm>
            <a:off x="457200" y="4636008"/>
            <a:ext cx="91440" cy="310896"/>
          </a:xfrm>
          <a:prstGeom prst="rect">
            <a:avLst/>
          </a:prstGeom>
          <a:solidFill>
            <a:srgbClr val="D97A14"/>
          </a:solidFill>
          <a:ln w="12700">
            <a:solidFill>
              <a:srgbClr val="D97A14"/>
            </a:solidFill>
            <a:prstDash val="solid"/>
          </a:ln>
        </p:spPr>
      </p:sp>
      <p:sp>
        <p:nvSpPr>
          <p:cNvPr id="44" name="Text 4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Match the style name exactly, and give a paragraph a paragraph style.</a:t>
            </a:r>
            <a:endParaRPr lang="en-US" sz="1350" dirty="0"/>
          </a:p>
        </p:txBody>
      </p:sp>
      <p:sp>
        <p:nvSpPr>
          <p:cNvPr id="45" name="Text 4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20 / 26</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Writing: paragraphs, runs and bold</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Each call returns the next object; bold has three states and strike is a font's</a:t>
            </a:r>
            <a:endParaRPr lang="en-US" sz="1300" dirty="0"/>
          </a:p>
        </p:txBody>
      </p:sp>
      <p:sp>
        <p:nvSpPr>
          <p:cNvPr id="6" name="Shape 4"/>
          <p:cNvSpPr/>
          <p:nvPr/>
        </p:nvSpPr>
        <p:spPr>
          <a:xfrm>
            <a:off x="502920" y="1325880"/>
            <a:ext cx="1051560" cy="384048"/>
          </a:xfrm>
          <a:prstGeom prst="roundRect">
            <a:avLst>
              <a:gd name="adj" fmla="val 19048"/>
            </a:avLst>
          </a:prstGeom>
          <a:solidFill>
            <a:srgbClr val="2F6D62"/>
          </a:solidFill>
          <a:ln w="15875">
            <a:solidFill>
              <a:srgbClr val="2F6D62"/>
            </a:solidFill>
            <a:prstDash val="solid"/>
          </a:ln>
        </p:spPr>
      </p:sp>
      <p:sp>
        <p:nvSpPr>
          <p:cNvPr id="7" name="Text 5"/>
          <p:cNvSpPr txBox="1"/>
          <p:nvPr/>
        </p:nvSpPr>
        <p:spPr>
          <a:xfrm>
            <a:off x="557784" y="1431950"/>
            <a:ext cx="941832" cy="171907"/>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The program</a:t>
            </a:r>
            <a:endParaRPr lang="en-US" sz="1000" dirty="0"/>
          </a:p>
        </p:txBody>
      </p:sp>
      <p:sp>
        <p:nvSpPr>
          <p:cNvPr id="8" name="Shape 6"/>
          <p:cNvSpPr/>
          <p:nvPr/>
        </p:nvSpPr>
        <p:spPr>
          <a:xfrm>
            <a:off x="1028700" y="1709928"/>
            <a:ext cx="0" cy="2496312"/>
          </a:xfrm>
          <a:prstGeom prst="line">
            <a:avLst/>
          </a:prstGeom>
          <a:noFill/>
          <a:ln w="19050">
            <a:solidFill>
              <a:srgbClr val="DFD6C7"/>
            </a:solidFill>
            <a:prstDash val="dash"/>
          </a:ln>
        </p:spPr>
      </p:sp>
      <p:sp>
        <p:nvSpPr>
          <p:cNvPr id="9" name="Shape 7"/>
          <p:cNvSpPr/>
          <p:nvPr/>
        </p:nvSpPr>
        <p:spPr>
          <a:xfrm>
            <a:off x="1584655" y="1325880"/>
            <a:ext cx="1051560" cy="384048"/>
          </a:xfrm>
          <a:prstGeom prst="roundRect">
            <a:avLst>
              <a:gd name="adj" fmla="val 19048"/>
            </a:avLst>
          </a:prstGeom>
          <a:solidFill>
            <a:srgbClr val="2F6D62"/>
          </a:solidFill>
          <a:ln w="15875">
            <a:solidFill>
              <a:srgbClr val="2F6D62"/>
            </a:solidFill>
            <a:prstDash val="solid"/>
          </a:ln>
        </p:spPr>
      </p:sp>
      <p:sp>
        <p:nvSpPr>
          <p:cNvPr id="10" name="Text 8"/>
          <p:cNvSpPr txBox="1"/>
          <p:nvPr/>
        </p:nvSpPr>
        <p:spPr>
          <a:xfrm>
            <a:off x="1639519" y="1355141"/>
            <a:ext cx="941832" cy="32552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The Document object</a:t>
            </a:r>
            <a:endParaRPr lang="en-US" sz="1000" dirty="0"/>
          </a:p>
        </p:txBody>
      </p:sp>
      <p:sp>
        <p:nvSpPr>
          <p:cNvPr id="11" name="Shape 9"/>
          <p:cNvSpPr/>
          <p:nvPr/>
        </p:nvSpPr>
        <p:spPr>
          <a:xfrm>
            <a:off x="2110435" y="1709928"/>
            <a:ext cx="0" cy="2496312"/>
          </a:xfrm>
          <a:prstGeom prst="line">
            <a:avLst/>
          </a:prstGeom>
          <a:noFill/>
          <a:ln w="19050">
            <a:solidFill>
              <a:srgbClr val="DFD6C7"/>
            </a:solidFill>
            <a:prstDash val="dash"/>
          </a:ln>
        </p:spPr>
      </p:sp>
      <p:sp>
        <p:nvSpPr>
          <p:cNvPr id="12" name="Shape 10"/>
          <p:cNvSpPr/>
          <p:nvPr/>
        </p:nvSpPr>
        <p:spPr>
          <a:xfrm>
            <a:off x="2667305" y="1325880"/>
            <a:ext cx="1051560" cy="384048"/>
          </a:xfrm>
          <a:prstGeom prst="roundRect">
            <a:avLst>
              <a:gd name="adj" fmla="val 19048"/>
            </a:avLst>
          </a:prstGeom>
          <a:solidFill>
            <a:srgbClr val="2F6D62"/>
          </a:solidFill>
          <a:ln w="15875">
            <a:solidFill>
              <a:srgbClr val="2F6D62"/>
            </a:solidFill>
            <a:prstDash val="solid"/>
          </a:ln>
        </p:spPr>
      </p:sp>
      <p:sp>
        <p:nvSpPr>
          <p:cNvPr id="13" name="Text 11"/>
          <p:cNvSpPr txBox="1"/>
          <p:nvPr/>
        </p:nvSpPr>
        <p:spPr>
          <a:xfrm>
            <a:off x="2722169" y="1355141"/>
            <a:ext cx="941832" cy="32552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The Paragraph object</a:t>
            </a:r>
            <a:endParaRPr lang="en-US" sz="1000" dirty="0"/>
          </a:p>
        </p:txBody>
      </p:sp>
      <p:sp>
        <p:nvSpPr>
          <p:cNvPr id="14" name="Shape 12"/>
          <p:cNvSpPr/>
          <p:nvPr/>
        </p:nvSpPr>
        <p:spPr>
          <a:xfrm>
            <a:off x="3193085" y="1709928"/>
            <a:ext cx="0" cy="2496312"/>
          </a:xfrm>
          <a:prstGeom prst="line">
            <a:avLst/>
          </a:prstGeom>
          <a:noFill/>
          <a:ln w="19050">
            <a:solidFill>
              <a:srgbClr val="DFD6C7"/>
            </a:solidFill>
            <a:prstDash val="dash"/>
          </a:ln>
        </p:spPr>
      </p:sp>
      <p:sp>
        <p:nvSpPr>
          <p:cNvPr id="15" name="Shape 13"/>
          <p:cNvSpPr/>
          <p:nvPr/>
        </p:nvSpPr>
        <p:spPr>
          <a:xfrm>
            <a:off x="3749040" y="1325880"/>
            <a:ext cx="1051560" cy="384048"/>
          </a:xfrm>
          <a:prstGeom prst="roundRect">
            <a:avLst>
              <a:gd name="adj" fmla="val 19048"/>
            </a:avLst>
          </a:prstGeom>
          <a:solidFill>
            <a:srgbClr val="2F6D62"/>
          </a:solidFill>
          <a:ln w="15875">
            <a:solidFill>
              <a:srgbClr val="2F6D62"/>
            </a:solidFill>
            <a:prstDash val="solid"/>
          </a:ln>
        </p:spPr>
      </p:sp>
      <p:sp>
        <p:nvSpPr>
          <p:cNvPr id="16" name="Text 14"/>
          <p:cNvSpPr txBox="1"/>
          <p:nvPr/>
        </p:nvSpPr>
        <p:spPr>
          <a:xfrm>
            <a:off x="3803904" y="1431950"/>
            <a:ext cx="941832" cy="171907"/>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The Run object</a:t>
            </a:r>
            <a:endParaRPr lang="en-US" sz="1000" dirty="0"/>
          </a:p>
        </p:txBody>
      </p:sp>
      <p:sp>
        <p:nvSpPr>
          <p:cNvPr id="17" name="Shape 15"/>
          <p:cNvSpPr/>
          <p:nvPr/>
        </p:nvSpPr>
        <p:spPr>
          <a:xfrm>
            <a:off x="4274820" y="1709928"/>
            <a:ext cx="0" cy="2496312"/>
          </a:xfrm>
          <a:prstGeom prst="line">
            <a:avLst/>
          </a:prstGeom>
          <a:noFill/>
          <a:ln w="19050">
            <a:solidFill>
              <a:srgbClr val="DFD6C7"/>
            </a:solidFill>
            <a:prstDash val="dash"/>
          </a:ln>
        </p:spPr>
      </p:sp>
      <p:sp>
        <p:nvSpPr>
          <p:cNvPr id="18" name="Shape 16"/>
          <p:cNvSpPr/>
          <p:nvPr/>
        </p:nvSpPr>
        <p:spPr>
          <a:xfrm>
            <a:off x="1028700" y="2090318"/>
            <a:ext cx="1081735" cy="0"/>
          </a:xfrm>
          <a:prstGeom prst="line">
            <a:avLst/>
          </a:prstGeom>
          <a:noFill/>
          <a:ln w="22225">
            <a:solidFill>
              <a:srgbClr val="D97A14"/>
            </a:solidFill>
            <a:prstDash val="solid"/>
            <a:tailEnd type="triangle"/>
          </a:ln>
        </p:spPr>
      </p:sp>
      <p:sp>
        <p:nvSpPr>
          <p:cNvPr id="19" name="Text 17"/>
          <p:cNvSpPr txBox="1"/>
          <p:nvPr/>
        </p:nvSpPr>
        <p:spPr>
          <a:xfrm>
            <a:off x="1120140" y="1656893"/>
            <a:ext cx="898855" cy="386791"/>
          </a:xfrm>
          <a:prstGeom prst="rect">
            <a:avLst/>
          </a:prstGeom>
          <a:noFill/>
          <a:ln/>
        </p:spPr>
        <p:txBody>
          <a:bodyPr wrap="square" lIns="0" tIns="0" rIns="0" bIns="0" rtlCol="0" anchor="b"/>
          <a:lstStyle/>
          <a:p>
            <a:pPr algn="ctr" indent="0" marL="0">
              <a:buNone/>
            </a:pPr>
            <a:r>
              <a:rPr lang="en-US" sz="800" dirty="0">
                <a:solidFill>
                  <a:srgbClr val="2B2622"/>
                </a:solidFill>
                <a:latin typeface="Calibri" pitchFamily="34" charset="0"/>
                <a:ea typeface="Calibri" pitchFamily="34" charset="-122"/>
                <a:cs typeface="Calibri" pitchFamily="34" charset="-120"/>
              </a:rPr>
              <a:t>Calls add_paragraph with the text</a:t>
            </a:r>
            <a:endParaRPr lang="en-US" sz="800" dirty="0"/>
          </a:p>
        </p:txBody>
      </p:sp>
      <p:sp>
        <p:nvSpPr>
          <p:cNvPr id="20" name="Shape 18"/>
          <p:cNvSpPr/>
          <p:nvPr/>
        </p:nvSpPr>
        <p:spPr>
          <a:xfrm flipH="1">
            <a:off x="1028700" y="2490826"/>
            <a:ext cx="1081735" cy="0"/>
          </a:xfrm>
          <a:prstGeom prst="line">
            <a:avLst/>
          </a:prstGeom>
          <a:noFill/>
          <a:ln w="22225">
            <a:solidFill>
              <a:srgbClr val="6E655C"/>
            </a:solidFill>
            <a:prstDash val="dash"/>
            <a:tailEnd type="triangle"/>
          </a:ln>
        </p:spPr>
      </p:sp>
      <p:sp>
        <p:nvSpPr>
          <p:cNvPr id="21" name="Text 19"/>
          <p:cNvSpPr txBox="1"/>
          <p:nvPr/>
        </p:nvSpPr>
        <p:spPr>
          <a:xfrm>
            <a:off x="1120140" y="2180844"/>
            <a:ext cx="898855" cy="264262"/>
          </a:xfrm>
          <a:prstGeom prst="rect">
            <a:avLst/>
          </a:prstGeom>
          <a:noFill/>
          <a:ln/>
        </p:spPr>
        <p:txBody>
          <a:bodyPr wrap="square" lIns="0" tIns="0" rIns="0" bIns="0" rtlCol="0" anchor="b"/>
          <a:lstStyle/>
          <a:p>
            <a:pPr algn="ctr" indent="0" marL="0">
              <a:buNone/>
            </a:pPr>
            <a:r>
              <a:rPr lang="en-US" sz="800" i="1" dirty="0">
                <a:solidFill>
                  <a:srgbClr val="2B2622"/>
                </a:solidFill>
                <a:latin typeface="Calibri" pitchFamily="34" charset="0"/>
                <a:ea typeface="Calibri" pitchFamily="34" charset="-122"/>
                <a:cs typeface="Calibri" pitchFamily="34" charset="-120"/>
              </a:rPr>
              <a:t>Returns the new Paragraph</a:t>
            </a:r>
            <a:endParaRPr lang="en-US" sz="800" dirty="0"/>
          </a:p>
        </p:txBody>
      </p:sp>
      <p:sp>
        <p:nvSpPr>
          <p:cNvPr id="22" name="Shape 20"/>
          <p:cNvSpPr/>
          <p:nvPr/>
        </p:nvSpPr>
        <p:spPr>
          <a:xfrm>
            <a:off x="1028700" y="2891333"/>
            <a:ext cx="2164385" cy="0"/>
          </a:xfrm>
          <a:prstGeom prst="line">
            <a:avLst/>
          </a:prstGeom>
          <a:noFill/>
          <a:ln w="22225">
            <a:solidFill>
              <a:srgbClr val="D97A14"/>
            </a:solidFill>
            <a:prstDash val="solid"/>
            <a:tailEnd type="triangle"/>
          </a:ln>
        </p:spPr>
      </p:sp>
      <p:sp>
        <p:nvSpPr>
          <p:cNvPr id="23" name="Text 21"/>
          <p:cNvSpPr txBox="1"/>
          <p:nvPr/>
        </p:nvSpPr>
        <p:spPr>
          <a:xfrm>
            <a:off x="1120140" y="2704795"/>
            <a:ext cx="1981505" cy="140818"/>
          </a:xfrm>
          <a:prstGeom prst="rect">
            <a:avLst/>
          </a:prstGeom>
          <a:noFill/>
          <a:ln/>
        </p:spPr>
        <p:txBody>
          <a:bodyPr wrap="square" lIns="0" tIns="0" rIns="0" bIns="0" rtlCol="0" anchor="b"/>
          <a:lstStyle/>
          <a:p>
            <a:pPr algn="ctr" indent="0" marL="0">
              <a:buNone/>
            </a:pPr>
            <a:r>
              <a:rPr lang="en-US" sz="800" dirty="0">
                <a:solidFill>
                  <a:srgbClr val="2B2622"/>
                </a:solidFill>
                <a:latin typeface="Calibri" pitchFamily="34" charset="0"/>
                <a:ea typeface="Calibri" pitchFamily="34" charset="-122"/>
                <a:cs typeface="Calibri" pitchFamily="34" charset="-120"/>
              </a:rPr>
              <a:t>Calls add_run with more text</a:t>
            </a:r>
            <a:endParaRPr lang="en-US" sz="800" dirty="0"/>
          </a:p>
        </p:txBody>
      </p:sp>
      <p:sp>
        <p:nvSpPr>
          <p:cNvPr id="24" name="Shape 22"/>
          <p:cNvSpPr/>
          <p:nvPr/>
        </p:nvSpPr>
        <p:spPr>
          <a:xfrm flipH="1">
            <a:off x="1028700" y="3292754"/>
            <a:ext cx="2164385" cy="0"/>
          </a:xfrm>
          <a:prstGeom prst="line">
            <a:avLst/>
          </a:prstGeom>
          <a:noFill/>
          <a:ln w="22225">
            <a:solidFill>
              <a:srgbClr val="6E655C"/>
            </a:solidFill>
            <a:prstDash val="dash"/>
            <a:tailEnd type="triangle"/>
          </a:ln>
        </p:spPr>
      </p:sp>
      <p:sp>
        <p:nvSpPr>
          <p:cNvPr id="25" name="Text 23"/>
          <p:cNvSpPr txBox="1"/>
          <p:nvPr/>
        </p:nvSpPr>
        <p:spPr>
          <a:xfrm>
            <a:off x="1120140" y="3105302"/>
            <a:ext cx="1981505" cy="140818"/>
          </a:xfrm>
          <a:prstGeom prst="rect">
            <a:avLst/>
          </a:prstGeom>
          <a:noFill/>
          <a:ln/>
        </p:spPr>
        <p:txBody>
          <a:bodyPr wrap="square" lIns="0" tIns="0" rIns="0" bIns="0" rtlCol="0" anchor="b"/>
          <a:lstStyle/>
          <a:p>
            <a:pPr algn="ctr" indent="0" marL="0">
              <a:buNone/>
            </a:pPr>
            <a:r>
              <a:rPr lang="en-US" sz="800" i="1" dirty="0">
                <a:solidFill>
                  <a:srgbClr val="2B2622"/>
                </a:solidFill>
                <a:latin typeface="Calibri" pitchFamily="34" charset="0"/>
                <a:ea typeface="Calibri" pitchFamily="34" charset="-122"/>
                <a:cs typeface="Calibri" pitchFamily="34" charset="-120"/>
              </a:rPr>
              <a:t>Returns the new Run</a:t>
            </a:r>
            <a:endParaRPr lang="en-US" sz="800" dirty="0"/>
          </a:p>
        </p:txBody>
      </p:sp>
      <p:sp>
        <p:nvSpPr>
          <p:cNvPr id="26" name="Shape 24"/>
          <p:cNvSpPr/>
          <p:nvPr/>
        </p:nvSpPr>
        <p:spPr>
          <a:xfrm>
            <a:off x="1028700" y="3693262"/>
            <a:ext cx="3246120" cy="0"/>
          </a:xfrm>
          <a:prstGeom prst="line">
            <a:avLst/>
          </a:prstGeom>
          <a:noFill/>
          <a:ln w="22225">
            <a:solidFill>
              <a:srgbClr val="D97A14"/>
            </a:solidFill>
            <a:prstDash val="solid"/>
            <a:tailEnd type="triangle"/>
          </a:ln>
        </p:spPr>
      </p:sp>
      <p:sp>
        <p:nvSpPr>
          <p:cNvPr id="27" name="Text 25"/>
          <p:cNvSpPr txBox="1"/>
          <p:nvPr/>
        </p:nvSpPr>
        <p:spPr>
          <a:xfrm>
            <a:off x="1120140" y="3505810"/>
            <a:ext cx="3063240" cy="140818"/>
          </a:xfrm>
          <a:prstGeom prst="rect">
            <a:avLst/>
          </a:prstGeom>
          <a:noFill/>
          <a:ln/>
        </p:spPr>
        <p:txBody>
          <a:bodyPr wrap="square" lIns="0" tIns="0" rIns="0" bIns="0" rtlCol="0" anchor="b"/>
          <a:lstStyle/>
          <a:p>
            <a:pPr algn="ctr" indent="0" marL="0">
              <a:buNone/>
            </a:pPr>
            <a:r>
              <a:rPr lang="en-US" sz="800" dirty="0">
                <a:solidFill>
                  <a:srgbClr val="2B2622"/>
                </a:solidFill>
                <a:latin typeface="Calibri" pitchFamily="34" charset="0"/>
                <a:ea typeface="Calibri" pitchFamily="34" charset="-122"/>
                <a:cs typeface="Calibri" pitchFamily="34" charset="-120"/>
              </a:rPr>
              <a:t>Sets bold to True</a:t>
            </a:r>
            <a:endParaRPr lang="en-US" sz="800" dirty="0"/>
          </a:p>
        </p:txBody>
      </p:sp>
      <p:sp>
        <p:nvSpPr>
          <p:cNvPr id="28" name="Shape 26"/>
          <p:cNvSpPr/>
          <p:nvPr/>
        </p:nvSpPr>
        <p:spPr>
          <a:xfrm>
            <a:off x="1028700" y="4093769"/>
            <a:ext cx="1081735" cy="0"/>
          </a:xfrm>
          <a:prstGeom prst="line">
            <a:avLst/>
          </a:prstGeom>
          <a:noFill/>
          <a:ln w="22225">
            <a:solidFill>
              <a:srgbClr val="D97A14"/>
            </a:solidFill>
            <a:prstDash val="solid"/>
            <a:tailEnd type="triangle"/>
          </a:ln>
        </p:spPr>
      </p:sp>
      <p:sp>
        <p:nvSpPr>
          <p:cNvPr id="29" name="Text 27"/>
          <p:cNvSpPr txBox="1"/>
          <p:nvPr/>
        </p:nvSpPr>
        <p:spPr>
          <a:xfrm>
            <a:off x="1120140" y="3661258"/>
            <a:ext cx="898855" cy="386791"/>
          </a:xfrm>
          <a:prstGeom prst="rect">
            <a:avLst/>
          </a:prstGeom>
          <a:noFill/>
          <a:ln/>
        </p:spPr>
        <p:txBody>
          <a:bodyPr wrap="square" lIns="0" tIns="0" rIns="0" bIns="0" rtlCol="0" anchor="b"/>
          <a:lstStyle/>
          <a:p>
            <a:pPr algn="ctr" indent="0" marL="0">
              <a:buNone/>
            </a:pPr>
            <a:r>
              <a:rPr lang="en-US" sz="800" dirty="0">
                <a:solidFill>
                  <a:srgbClr val="2B2622"/>
                </a:solidFill>
                <a:latin typeface="Calibri" pitchFamily="34" charset="0"/>
                <a:ea typeface="Calibri" pitchFamily="34" charset="-122"/>
                <a:cs typeface="Calibri" pitchFamily="34" charset="-120"/>
              </a:rPr>
              <a:t>Saves the document to a file</a:t>
            </a:r>
            <a:endParaRPr lang="en-US" sz="800" dirty="0"/>
          </a:p>
        </p:txBody>
      </p:sp>
      <p:sp>
        <p:nvSpPr>
          <p:cNvPr id="30" name="Text 28"/>
          <p:cNvSpPr txBox="1"/>
          <p:nvPr/>
        </p:nvSpPr>
        <p:spPr>
          <a:xfrm>
            <a:off x="457200" y="4233672"/>
            <a:ext cx="4389120" cy="301752"/>
          </a:xfrm>
          <a:prstGeom prst="rect">
            <a:avLst/>
          </a:prstGeom>
          <a:noFill/>
          <a:ln/>
        </p:spPr>
        <p:txBody>
          <a:bodyPr wrap="square" lIns="0" tIns="0" rIns="0" bIns="0" rtlCol="0" anchor="t"/>
          <a:lstStyle/>
          <a:p>
            <a:pPr indent="0" marL="0">
              <a:buNone/>
            </a:pPr>
            <a:r>
              <a:rPr lang="en-US" sz="850" i="1" dirty="0">
                <a:solidFill>
                  <a:srgbClr val="6E655C"/>
                </a:solidFill>
                <a:latin typeface="Calibri" pitchFamily="34" charset="0"/>
                <a:ea typeface="Calibri" pitchFamily="34" charset="-122"/>
                <a:cs typeface="Calibri" pitchFamily="34" charset="-120"/>
              </a:rPr>
              <a:t>diagram BuildingAWordDocument - Interaction pattern, 27 of 28 words grounded in the chapter's text</a:t>
            </a:r>
            <a:endParaRPr lang="en-US" sz="850" dirty="0"/>
          </a:p>
        </p:txBody>
      </p:sp>
      <p:sp>
        <p:nvSpPr>
          <p:cNvPr id="31" name="Text 29"/>
          <p:cNvSpPr txBox="1"/>
          <p:nvPr/>
        </p:nvSpPr>
        <p:spPr>
          <a:xfrm>
            <a:off x="4937760" y="1143000"/>
            <a:ext cx="3685032"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program writeRunsCut_v1_0_0.py, lines 20 to 28 of 28</a:t>
            </a:r>
            <a:endParaRPr lang="en-US" sz="1000" dirty="0"/>
          </a:p>
        </p:txBody>
      </p:sp>
      <p:sp>
        <p:nvSpPr>
          <p:cNvPr id="32" name="Shape 30"/>
          <p:cNvSpPr/>
          <p:nvPr/>
        </p:nvSpPr>
        <p:spPr>
          <a:xfrm>
            <a:off x="4937760" y="1417320"/>
            <a:ext cx="3685032" cy="2176272"/>
          </a:xfrm>
          <a:prstGeom prst="roundRect">
            <a:avLst>
              <a:gd name="adj" fmla="val 4202"/>
            </a:avLst>
          </a:prstGeom>
          <a:solidFill>
            <a:srgbClr val="23272E"/>
          </a:solidFill>
          <a:ln w="12700">
            <a:solidFill>
              <a:srgbClr val="23272E"/>
            </a:solidFill>
            <a:prstDash val="solid"/>
          </a:ln>
        </p:spPr>
      </p:sp>
      <p:sp>
        <p:nvSpPr>
          <p:cNvPr id="33" name="Text 31"/>
          <p:cNvSpPr txBox="1"/>
          <p:nvPr/>
        </p:nvSpPr>
        <p:spPr>
          <a:xfrm>
            <a:off x="5120640" y="1536192"/>
            <a:ext cx="3319272" cy="1938528"/>
          </a:xfrm>
          <a:prstGeom prst="rect">
            <a:avLst/>
          </a:prstGeom>
          <a:noFill/>
          <a:ln/>
        </p:spPr>
        <p:txBody>
          <a:bodyPr wrap="square" lIns="0" tIns="0" rIns="0" bIns="0" rtlCol="0" anchor="t"/>
          <a:lstStyle/>
          <a:p>
            <a:pPr indent="0" marL="0">
              <a:buNone/>
            </a:pPr>
            <a:r>
              <a:rPr lang="en-US" sz="700" dirty="0">
                <a:solidFill>
                  <a:srgbClr val="E6EDF3"/>
                </a:solidFill>
                <a:latin typeface="Courier New" pitchFamily="34" charset="0"/>
                <a:ea typeface="Courier New" pitchFamily="34" charset="-122"/>
                <a:cs typeface="Courier New" pitchFamily="34" charset="-120"/>
              </a:rPr>
              <a:t>doc = docx.Document()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 = doc.add_paragraph(</a:t>
            </a:r>
            <a:r>
              <a:rPr lang="en-US" sz="700" dirty="0">
                <a:solidFill>
                  <a:srgbClr val="9ECBFF"/>
                </a:solidFill>
                <a:latin typeface="Courier New" pitchFamily="34" charset="0"/>
                <a:ea typeface="Courier New" pitchFamily="34" charset="-122"/>
                <a:cs typeface="Courier New" pitchFamily="34" charset="-120"/>
              </a:rPr>
              <a:t>'Hello world!'</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r = p.add_run(</a:t>
            </a:r>
            <a:r>
              <a:rPr lang="en-US" sz="700" dirty="0">
                <a:solidFill>
                  <a:srgbClr val="9ECBFF"/>
                </a:solidFill>
                <a:latin typeface="Courier New" pitchFamily="34" charset="0"/>
                <a:ea typeface="Courier New" pitchFamily="34" charset="-122"/>
                <a:cs typeface="Courier New" pitchFamily="34" charset="-120"/>
              </a:rPr>
              <a:t>' A second run.'</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print(type(p).__name__, type(r).__name__, len(p.runs))</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tag = </a:t>
            </a:r>
            <a:r>
              <a:rPr lang="en-US" sz="700" b="1" dirty="0">
                <a:solidFill>
                  <a:srgbClr val="F2A860"/>
                </a:solidFill>
                <a:latin typeface="Courier New" pitchFamily="34" charset="0"/>
                <a:ea typeface="Courier New" pitchFamily="34" charset="-122"/>
                <a:cs typeface="Courier New" pitchFamily="34" charset="-120"/>
              </a:rPr>
              <a:t>lambda</a:t>
            </a:r>
            <a:r>
              <a:rPr lang="en-US" sz="700" dirty="0">
                <a:solidFill>
                  <a:srgbClr val="E6EDF3"/>
                </a:solidFill>
                <a:latin typeface="Courier New" pitchFamily="34" charset="0"/>
                <a:ea typeface="Courier New" pitchFamily="34" charset="-122"/>
                <a:cs typeface="Courier New" pitchFamily="34" charset="-120"/>
              </a:rPr>
              <a:t>: re.findall(r</a:t>
            </a:r>
            <a:r>
              <a:rPr lang="en-US" sz="700" dirty="0">
                <a:solidFill>
                  <a:srgbClr val="9ECBFF"/>
                </a:solidFill>
                <a:latin typeface="Courier New" pitchFamily="34" charset="0"/>
                <a:ea typeface="Courier New" pitchFamily="34" charset="-122"/>
                <a:cs typeface="Courier New" pitchFamily="34" charset="-120"/>
              </a:rPr>
              <a:t>'&lt;w:b[ /][^&gt;]*&gt;'</a:t>
            </a:r>
            <a:r>
              <a:rPr lang="en-US" sz="700" dirty="0">
                <a:solidFill>
                  <a:srgbClr val="E6EDF3"/>
                </a:solidFill>
                <a:latin typeface="Courier New" pitchFamily="34" charset="0"/>
                <a:ea typeface="Courier New" pitchFamily="34" charset="-122"/>
                <a:cs typeface="Courier New" pitchFamily="34" charset="-120"/>
              </a:rPr>
              <a:t>, r._r.xml)</a:t>
            </a:r>
            <a:endParaRPr lang="en-US" sz="700" dirty="0"/>
          </a:p>
          <a:p>
            <a:pPr indent="0" marL="0">
              <a:buNone/>
            </a:pP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value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True</a:t>
            </a: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False</a:t>
            </a: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None</a:t>
            </a:r>
            <a:r>
              <a:rPr lang="en-US" sz="700" dirty="0">
                <a:solidFill>
                  <a:srgbClr val="E6EDF3"/>
                </a:solidFill>
                <a:latin typeface="Courier New" pitchFamily="34" charset="0"/>
                <a:ea typeface="Courier New" pitchFamily="34" charset="-122"/>
                <a:cs typeface="Courier New" pitchFamily="34" charset="-120"/>
              </a:rPr>
              <a:t>):   </a:t>
            </a:r>
            <a:r>
              <a:rPr lang="en-US" sz="700" i="1" dirty="0">
                <a:solidFill>
                  <a:srgbClr val="8FA98F"/>
                </a:solidFill>
                <a:latin typeface="Courier New" pitchFamily="34" charset="0"/>
                <a:ea typeface="Courier New" pitchFamily="34" charset="-122"/>
                <a:cs typeface="Courier New" pitchFamily="34" charset="-120"/>
              </a:rPr>
              <a:t># three states</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r.bold = value; print(value, </a:t>
            </a:r>
            <a:r>
              <a:rPr lang="en-US" sz="700" dirty="0">
                <a:solidFill>
                  <a:srgbClr val="9ECBFF"/>
                </a:solidFill>
                <a:latin typeface="Courier New" pitchFamily="34" charset="0"/>
                <a:ea typeface="Courier New" pitchFamily="34" charset="-122"/>
                <a:cs typeface="Courier New" pitchFamily="34" charset="-120"/>
              </a:rPr>
              <a:t>'-&gt;'</a:t>
            </a:r>
            <a:r>
              <a:rPr lang="en-US" sz="700" dirty="0">
                <a:solidFill>
                  <a:srgbClr val="E6EDF3"/>
                </a:solidFill>
                <a:latin typeface="Courier New" pitchFamily="34" charset="0"/>
                <a:ea typeface="Courier New" pitchFamily="34" charset="-122"/>
                <a:cs typeface="Courier New" pitchFamily="34" charset="-120"/>
              </a:rPr>
              <a:t>, r.bold, tag())</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r.strike = </a:t>
            </a:r>
            <a:r>
              <a:rPr lang="en-US" sz="700" b="1" dirty="0">
                <a:solidFill>
                  <a:srgbClr val="F2A860"/>
                </a:solidFill>
                <a:latin typeface="Courier New" pitchFamily="34" charset="0"/>
                <a:ea typeface="Courier New" pitchFamily="34" charset="-122"/>
                <a:cs typeface="Courier New" pitchFamily="34" charset="-120"/>
              </a:rPr>
              <a:t>True</a:t>
            </a:r>
            <a:r>
              <a:rPr lang="en-US" sz="700" dirty="0">
                <a:solidFill>
                  <a:srgbClr val="E6EDF3"/>
                </a:solidFill>
                <a:latin typeface="Courier New" pitchFamily="34" charset="0"/>
                <a:ea typeface="Courier New" pitchFamily="34" charset="-122"/>
                <a:cs typeface="Courier New" pitchFamily="34" charset="-120"/>
              </a:rPr>
              <a:t>; print(</a:t>
            </a:r>
            <a:r>
              <a:rPr lang="en-US" sz="700" dirty="0">
                <a:solidFill>
                  <a:srgbClr val="9ECBFF"/>
                </a:solidFill>
                <a:latin typeface="Courier New" pitchFamily="34" charset="0"/>
                <a:ea typeface="Courier New" pitchFamily="34" charset="-122"/>
                <a:cs typeface="Courier New" pitchFamily="34" charset="-120"/>
              </a:rPr>
              <a:t>'run.strike ='</a:t>
            </a:r>
            <a:r>
              <a:rPr lang="en-US" sz="700" dirty="0">
                <a:solidFill>
                  <a:srgbClr val="E6EDF3"/>
                </a:solidFill>
                <a:latin typeface="Courier New" pitchFamily="34" charset="0"/>
                <a:ea typeface="Courier New" pitchFamily="34" charset="-122"/>
                <a:cs typeface="Courier New" pitchFamily="34" charset="-120"/>
              </a:rPr>
              <a:t>, r.font.strike)</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r.font.strike = </a:t>
            </a:r>
            <a:r>
              <a:rPr lang="en-US" sz="700" b="1" dirty="0">
                <a:solidFill>
                  <a:srgbClr val="F2A860"/>
                </a:solidFill>
                <a:latin typeface="Courier New" pitchFamily="34" charset="0"/>
                <a:ea typeface="Courier New" pitchFamily="34" charset="-122"/>
                <a:cs typeface="Courier New" pitchFamily="34" charset="-120"/>
              </a:rPr>
              <a:t>True</a:t>
            </a:r>
            <a:r>
              <a:rPr lang="en-US" sz="700" dirty="0">
                <a:solidFill>
                  <a:srgbClr val="E6EDF3"/>
                </a:solidFill>
                <a:latin typeface="Courier New" pitchFamily="34" charset="0"/>
                <a:ea typeface="Courier New" pitchFamily="34" charset="-122"/>
                <a:cs typeface="Courier New" pitchFamily="34" charset="-120"/>
              </a:rPr>
              <a:t>; print(</a:t>
            </a:r>
            <a:r>
              <a:rPr lang="en-US" sz="700" dirty="0">
                <a:solidFill>
                  <a:srgbClr val="9ECBFF"/>
                </a:solidFill>
                <a:latin typeface="Courier New" pitchFamily="34" charset="0"/>
                <a:ea typeface="Courier New" pitchFamily="34" charset="-122"/>
                <a:cs typeface="Courier New" pitchFamily="34" charset="-120"/>
              </a:rPr>
              <a:t>'font.strike ='</a:t>
            </a:r>
            <a:r>
              <a:rPr lang="en-US" sz="700" dirty="0">
                <a:solidFill>
                  <a:srgbClr val="E6EDF3"/>
                </a:solidFill>
                <a:latin typeface="Courier New" pitchFamily="34" charset="0"/>
                <a:ea typeface="Courier New" pitchFamily="34" charset="-122"/>
                <a:cs typeface="Courier New" pitchFamily="34" charset="-120"/>
              </a:rPr>
              <a:t>, r.font.strike)</a:t>
            </a:r>
            <a:endParaRPr lang="en-US" sz="700" dirty="0"/>
          </a:p>
          <a:p>
            <a:pPr indent="0" marL="0">
              <a:buNone/>
            </a:pPr>
            <a:r>
              <a:rPr lang="en-US" sz="700" b="1" dirty="0">
                <a:solidFill>
                  <a:srgbClr val="D97A14"/>
                </a:solidFill>
                <a:latin typeface="Courier New" pitchFamily="34" charset="0"/>
                <a:ea typeface="Courier New" pitchFamily="34" charset="-122"/>
                <a:cs typeface="Courier New" pitchFamily="34" charset="-120"/>
              </a:rPr>
              <a:t>prints </a:t>
            </a:r>
            <a:r>
              <a:rPr lang="en-US" sz="700" dirty="0">
                <a:solidFill>
                  <a:srgbClr val="7EE787"/>
                </a:solidFill>
                <a:latin typeface="Courier New" pitchFamily="34" charset="0"/>
                <a:ea typeface="Courier New" pitchFamily="34" charset="-122"/>
                <a:cs typeface="Courier New" pitchFamily="34" charset="-120"/>
              </a:rPr>
              <a:t>Paragraph Run 2</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True -&gt; True ['&lt;w:b/&gt;']</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False -&gt; False ['&lt;w:b w:val="0"/&gt;']</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None -&gt; None []</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run.strike = None</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font.strike = True</a:t>
            </a:r>
            <a:endParaRPr lang="en-US" sz="700" dirty="0"/>
          </a:p>
        </p:txBody>
      </p:sp>
      <p:sp>
        <p:nvSpPr>
          <p:cNvPr id="34" name="Shape 32"/>
          <p:cNvSpPr/>
          <p:nvPr/>
        </p:nvSpPr>
        <p:spPr>
          <a:xfrm>
            <a:off x="4937760" y="3730752"/>
            <a:ext cx="3749040" cy="795528"/>
          </a:xfrm>
          <a:prstGeom prst="roundRect">
            <a:avLst>
              <a:gd name="adj" fmla="val 11494"/>
            </a:avLst>
          </a:prstGeom>
          <a:solidFill>
            <a:srgbClr val="F2ECE1"/>
          </a:solidFill>
          <a:ln w="12700">
            <a:solidFill>
              <a:srgbClr val="F2ECE1"/>
            </a:solidFill>
            <a:prstDash val="solid"/>
          </a:ln>
        </p:spPr>
      </p:sp>
      <p:sp>
        <p:nvSpPr>
          <p:cNvPr id="35" name="Text 33"/>
          <p:cNvSpPr txBox="1"/>
          <p:nvPr/>
        </p:nvSpPr>
        <p:spPr>
          <a:xfrm>
            <a:off x="5120640" y="3849624"/>
            <a:ext cx="3383280" cy="347472"/>
          </a:xfrm>
          <a:prstGeom prst="rect">
            <a:avLst/>
          </a:prstGeom>
          <a:noFill/>
          <a:ln/>
        </p:spPr>
        <p:txBody>
          <a:bodyPr wrap="square" lIns="0" tIns="0" rIns="0" bIns="0" rtlCol="0" anchor="ctr"/>
          <a:lstStyle/>
          <a:p>
            <a:pPr indent="0" marL="0">
              <a:buNone/>
            </a:pPr>
            <a:r>
              <a:rPr lang="en-US" sz="1600" b="1" dirty="0">
                <a:solidFill>
                  <a:srgbClr val="D97A14"/>
                </a:solidFill>
                <a:latin typeface="Cambria" pitchFamily="34" charset="0"/>
                <a:ea typeface="Cambria" pitchFamily="34" charset="-122"/>
                <a:cs typeface="Cambria" pitchFamily="34" charset="-120"/>
              </a:rPr>
              <a:t>Table 17-1 is mostly wrong</a:t>
            </a:r>
            <a:endParaRPr lang="en-US" sz="1600" dirty="0"/>
          </a:p>
        </p:txBody>
      </p:sp>
      <p:sp>
        <p:nvSpPr>
          <p:cNvPr id="36" name="Text 34"/>
          <p:cNvSpPr txBox="1"/>
          <p:nvPr/>
        </p:nvSpPr>
        <p:spPr>
          <a:xfrm>
            <a:off x="5120640" y="4233672"/>
            <a:ext cx="3383280" cy="155448"/>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Only 3 of 12 are on Run; the rest: run.font.</a:t>
            </a:r>
            <a:endParaRPr lang="en-US" sz="950" dirty="0"/>
          </a:p>
        </p:txBody>
      </p:sp>
      <p:sp>
        <p:nvSpPr>
          <p:cNvPr id="37" name="Shape 35"/>
          <p:cNvSpPr/>
          <p:nvPr/>
        </p:nvSpPr>
        <p:spPr>
          <a:xfrm>
            <a:off x="457200" y="4636008"/>
            <a:ext cx="91440" cy="310896"/>
          </a:xfrm>
          <a:prstGeom prst="rect">
            <a:avLst/>
          </a:prstGeom>
          <a:solidFill>
            <a:srgbClr val="D97A14"/>
          </a:solidFill>
          <a:ln w="12700">
            <a:solidFill>
              <a:srgbClr val="D97A14"/>
            </a:solidFill>
            <a:prstDash val="solid"/>
          </a:ln>
        </p:spPr>
      </p:sp>
      <p:sp>
        <p:nvSpPr>
          <p:cNvPr id="38" name="Text 36"/>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Set strike, caps and shadow through run.font, not on the run.</a:t>
            </a:r>
            <a:endParaRPr lang="en-US" sz="1350" dirty="0"/>
          </a:p>
        </p:txBody>
      </p:sp>
      <p:sp>
        <p:nvSpPr>
          <p:cNvPr id="39" name="Text 37"/>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21 / 26</a:t>
            </a:r>
            <a:endParaRPr lang="en-US" sz="1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Headings, breaks and pictures</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Levels 0 to 9, a page break is a run, and a picture takes its height from its width</a:t>
            </a:r>
            <a:endParaRPr lang="en-US" sz="1300" dirty="0"/>
          </a:p>
        </p:txBody>
      </p:sp>
      <p:sp>
        <p:nvSpPr>
          <p:cNvPr id="6" name="Text 4"/>
          <p:cNvSpPr txBox="1"/>
          <p:nvPr/>
        </p:nvSpPr>
        <p:spPr>
          <a:xfrm>
            <a:off x="457200" y="1143000"/>
            <a:ext cx="4645152"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program breaksCut_v1_0_0.py, lines 19 to 34 of 34</a:t>
            </a:r>
            <a:endParaRPr lang="en-US" sz="1000" dirty="0"/>
          </a:p>
        </p:txBody>
      </p:sp>
      <p:sp>
        <p:nvSpPr>
          <p:cNvPr id="7" name="Shape 5"/>
          <p:cNvSpPr/>
          <p:nvPr/>
        </p:nvSpPr>
        <p:spPr>
          <a:xfrm>
            <a:off x="457200" y="1417320"/>
            <a:ext cx="4645152" cy="2304288"/>
          </a:xfrm>
          <a:prstGeom prst="roundRect">
            <a:avLst>
              <a:gd name="adj" fmla="val 3968"/>
            </a:avLst>
          </a:prstGeom>
          <a:solidFill>
            <a:srgbClr val="23272E"/>
          </a:solidFill>
          <a:ln w="12700">
            <a:solidFill>
              <a:srgbClr val="23272E"/>
            </a:solidFill>
            <a:prstDash val="solid"/>
          </a:ln>
        </p:spPr>
      </p:sp>
      <p:sp>
        <p:nvSpPr>
          <p:cNvPr id="8" name="Text 6"/>
          <p:cNvSpPr txBox="1"/>
          <p:nvPr/>
        </p:nvSpPr>
        <p:spPr>
          <a:xfrm>
            <a:off x="640080" y="1536192"/>
            <a:ext cx="4279392" cy="2066544"/>
          </a:xfrm>
          <a:prstGeom prst="rect">
            <a:avLst/>
          </a:prstGeom>
          <a:noFill/>
          <a:ln/>
        </p:spPr>
        <p:txBody>
          <a:bodyPr wrap="square" lIns="0" tIns="0" rIns="0" bIns="0" rtlCol="0" anchor="t"/>
          <a:lstStyle/>
          <a:p>
            <a:pPr indent="0" marL="0">
              <a:buNone/>
            </a:pPr>
            <a:r>
              <a:rPr lang="en-US" sz="700" b="1" dirty="0">
                <a:solidFill>
                  <a:srgbClr val="F2A860"/>
                </a:solidFill>
                <a:latin typeface="Courier New" pitchFamily="34" charset="0"/>
                <a:ea typeface="Courier New" pitchFamily="34" charset="-122"/>
                <a:cs typeface="Courier New" pitchFamily="34" charset="-120"/>
              </a:rPr>
              <a:t>import</a:t>
            </a:r>
            <a:r>
              <a:rPr lang="en-US" sz="700" dirty="0">
                <a:solidFill>
                  <a:srgbClr val="E6EDF3"/>
                </a:solidFill>
                <a:latin typeface="Courier New" pitchFamily="34" charset="0"/>
                <a:ea typeface="Courier New" pitchFamily="34" charset="-122"/>
                <a:cs typeface="Courier New" pitchFamily="34" charset="-120"/>
              </a:rPr>
              <a:t> docx</a:t>
            </a:r>
            <a:endParaRPr lang="en-US" sz="700" dirty="0"/>
          </a:p>
          <a:p>
            <a:pPr indent="0" marL="0">
              <a:buNone/>
            </a:pPr>
            <a:r>
              <a:rPr lang="en-US" sz="700" b="1" dirty="0">
                <a:solidFill>
                  <a:srgbClr val="F2A860"/>
                </a:solidFill>
                <a:latin typeface="Courier New" pitchFamily="34" charset="0"/>
                <a:ea typeface="Courier New" pitchFamily="34" charset="-122"/>
                <a:cs typeface="Courier New" pitchFamily="34" charset="-120"/>
              </a:rPr>
              <a:t>from</a:t>
            </a:r>
            <a:r>
              <a:rPr lang="en-US" sz="700" dirty="0">
                <a:solidFill>
                  <a:srgbClr val="E6EDF3"/>
                </a:solidFill>
                <a:latin typeface="Courier New" pitchFamily="34" charset="0"/>
                <a:ea typeface="Courier New" pitchFamily="34" charset="-122"/>
                <a:cs typeface="Courier New" pitchFamily="34" charset="-120"/>
              </a:rPr>
              <a:t> PIL </a:t>
            </a:r>
            <a:r>
              <a:rPr lang="en-US" sz="700" b="1" dirty="0">
                <a:solidFill>
                  <a:srgbClr val="F2A860"/>
                </a:solidFill>
                <a:latin typeface="Courier New" pitchFamily="34" charset="0"/>
                <a:ea typeface="Courier New" pitchFamily="34" charset="-122"/>
                <a:cs typeface="Courier New" pitchFamily="34" charset="-120"/>
              </a:rPr>
              <a:t>import</a:t>
            </a:r>
            <a:r>
              <a:rPr lang="en-US" sz="700" dirty="0">
                <a:solidFill>
                  <a:srgbClr val="E6EDF3"/>
                </a:solidFill>
                <a:latin typeface="Courier New" pitchFamily="34" charset="0"/>
                <a:ea typeface="Courier New" pitchFamily="34" charset="-122"/>
                <a:cs typeface="Courier New" pitchFamily="34" charset="-120"/>
              </a:rPr>
              <a:t> Image</a:t>
            </a:r>
            <a:endParaRPr lang="en-US" sz="700" dirty="0"/>
          </a:p>
          <a:p>
            <a:pPr indent="0" marL="0">
              <a:buNone/>
            </a:pPr>
            <a:r>
              <a:rPr lang="en-US" sz="700" b="1" dirty="0">
                <a:solidFill>
                  <a:srgbClr val="F2A860"/>
                </a:solidFill>
                <a:latin typeface="Courier New" pitchFamily="34" charset="0"/>
                <a:ea typeface="Courier New" pitchFamily="34" charset="-122"/>
                <a:cs typeface="Courier New" pitchFamily="34" charset="-120"/>
              </a:rPr>
              <a:t>from</a:t>
            </a:r>
            <a:r>
              <a:rPr lang="en-US" sz="700" dirty="0">
                <a:solidFill>
                  <a:srgbClr val="E6EDF3"/>
                </a:solidFill>
                <a:latin typeface="Courier New" pitchFamily="34" charset="0"/>
                <a:ea typeface="Courier New" pitchFamily="34" charset="-122"/>
                <a:cs typeface="Courier New" pitchFamily="34" charset="-120"/>
              </a:rPr>
              <a:t> docx.shared </a:t>
            </a:r>
            <a:r>
              <a:rPr lang="en-US" sz="700" b="1" dirty="0">
                <a:solidFill>
                  <a:srgbClr val="F2A860"/>
                </a:solidFill>
                <a:latin typeface="Courier New" pitchFamily="34" charset="0"/>
                <a:ea typeface="Courier New" pitchFamily="34" charset="-122"/>
                <a:cs typeface="Courier New" pitchFamily="34" charset="-120"/>
              </a:rPr>
              <a:t>import</a:t>
            </a:r>
            <a:r>
              <a:rPr lang="en-US" sz="700" dirty="0">
                <a:solidFill>
                  <a:srgbClr val="E6EDF3"/>
                </a:solidFill>
                <a:latin typeface="Courier New" pitchFamily="34" charset="0"/>
                <a:ea typeface="Courier New" pitchFamily="34" charset="-122"/>
                <a:cs typeface="Courier New" pitchFamily="34" charset="-120"/>
              </a:rPr>
              <a:t> Inches</a:t>
            </a:r>
            <a:endParaRPr lang="en-US" sz="700" dirty="0"/>
          </a:p>
          <a:p>
            <a:pPr indent="0" marL="0">
              <a:buNone/>
            </a:pPr>
            <a:r>
              <a:rPr lang="en-US" sz="700" b="1" dirty="0">
                <a:solidFill>
                  <a:srgbClr val="F2A860"/>
                </a:solidFill>
                <a:latin typeface="Courier New" pitchFamily="34" charset="0"/>
                <a:ea typeface="Courier New" pitchFamily="34" charset="-122"/>
                <a:cs typeface="Courier New" pitchFamily="34" charset="-120"/>
              </a:rPr>
              <a:t>from</a:t>
            </a:r>
            <a:r>
              <a:rPr lang="en-US" sz="700" dirty="0">
                <a:solidFill>
                  <a:srgbClr val="E6EDF3"/>
                </a:solidFill>
                <a:latin typeface="Courier New" pitchFamily="34" charset="0"/>
                <a:ea typeface="Courier New" pitchFamily="34" charset="-122"/>
                <a:cs typeface="Courier New" pitchFamily="34" charset="-120"/>
              </a:rPr>
              <a:t> docx.enum.text </a:t>
            </a:r>
            <a:r>
              <a:rPr lang="en-US" sz="700" b="1" dirty="0">
                <a:solidFill>
                  <a:srgbClr val="F2A860"/>
                </a:solidFill>
                <a:latin typeface="Courier New" pitchFamily="34" charset="0"/>
                <a:ea typeface="Courier New" pitchFamily="34" charset="-122"/>
                <a:cs typeface="Courier New" pitchFamily="34" charset="-120"/>
              </a:rPr>
              <a:t>import</a:t>
            </a:r>
            <a:r>
              <a:rPr lang="en-US" sz="700" dirty="0">
                <a:solidFill>
                  <a:srgbClr val="E6EDF3"/>
                </a:solidFill>
                <a:latin typeface="Courier New" pitchFamily="34" charset="0"/>
                <a:ea typeface="Courier New" pitchFamily="34" charset="-122"/>
                <a:cs typeface="Courier New" pitchFamily="34" charset="-120"/>
              </a:rPr>
              <a:t> WD_BREAK</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doc = docx.Document()</a:t>
            </a:r>
            <a:endParaRPr lang="en-US" sz="700" dirty="0"/>
          </a:p>
          <a:p>
            <a:pPr indent="0" marL="0">
              <a:buNone/>
            </a:pP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level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9</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10</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try:</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print(level, doc.add_heading(</a:t>
            </a:r>
            <a:r>
              <a:rPr lang="en-US" sz="700" dirty="0">
                <a:solidFill>
                  <a:srgbClr val="9ECBFF"/>
                </a:solidFill>
                <a:latin typeface="Courier New" pitchFamily="34" charset="0"/>
                <a:ea typeface="Courier New" pitchFamily="34" charset="-122"/>
                <a:cs typeface="Courier New" pitchFamily="34" charset="-120"/>
              </a:rPr>
              <a:t>'Header %d'</a:t>
            </a:r>
            <a:r>
              <a:rPr lang="en-US" sz="700" dirty="0">
                <a:solidFill>
                  <a:srgbClr val="E6EDF3"/>
                </a:solidFill>
                <a:latin typeface="Courier New" pitchFamily="34" charset="0"/>
                <a:ea typeface="Courier New" pitchFamily="34" charset="-122"/>
                <a:cs typeface="Courier New" pitchFamily="34" charset="-120"/>
              </a:rPr>
              <a:t> % level, level).style.name)</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except ValueError as e:</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print(level, </a:t>
            </a:r>
            <a:r>
              <a:rPr lang="en-US" sz="700" dirty="0">
                <a:solidFill>
                  <a:srgbClr val="9ECBFF"/>
                </a:solidFill>
                <a:latin typeface="Courier New" pitchFamily="34" charset="0"/>
                <a:ea typeface="Courier New" pitchFamily="34" charset="-122"/>
                <a:cs typeface="Courier New" pitchFamily="34" charset="-120"/>
              </a:rPr>
              <a:t>'ValueError:'</a:t>
            </a:r>
            <a:r>
              <a:rPr lang="en-US" sz="700" dirty="0">
                <a:solidFill>
                  <a:srgbClr val="E6EDF3"/>
                </a:solidFill>
                <a:latin typeface="Courier New" pitchFamily="34" charset="0"/>
                <a:ea typeface="Courier New" pitchFamily="34" charset="-122"/>
                <a:cs typeface="Courier New" pitchFamily="34" charset="-120"/>
              </a:rPr>
              <a:t>, e)</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doc.add_paragraph(</a:t>
            </a:r>
            <a:r>
              <a:rPr lang="en-US" sz="700" dirty="0">
                <a:solidFill>
                  <a:srgbClr val="9ECBFF"/>
                </a:solidFill>
                <a:latin typeface="Courier New" pitchFamily="34" charset="0"/>
                <a:ea typeface="Courier New" pitchFamily="34" charset="-122"/>
                <a:cs typeface="Courier New" pitchFamily="34" charset="-120"/>
              </a:rPr>
              <a:t>'Hello'</a:t>
            </a:r>
            <a:r>
              <a:rPr lang="en-US" sz="700" dirty="0">
                <a:solidFill>
                  <a:srgbClr val="E6EDF3"/>
                </a:solidFill>
                <a:latin typeface="Courier New" pitchFamily="34" charset="0"/>
                <a:ea typeface="Courier New" pitchFamily="34" charset="-122"/>
                <a:cs typeface="Courier New" pitchFamily="34" charset="-120"/>
              </a:rPr>
              <a:t>).add_run().add_break(WD_BREAK.PAGE)</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print(re.findall(r</a:t>
            </a:r>
            <a:r>
              <a:rPr lang="en-US" sz="700" dirty="0">
                <a:solidFill>
                  <a:srgbClr val="9ECBFF"/>
                </a:solidFill>
                <a:latin typeface="Courier New" pitchFamily="34" charset="0"/>
                <a:ea typeface="Courier New" pitchFamily="34" charset="-122"/>
                <a:cs typeface="Courier New" pitchFamily="34" charset="-120"/>
              </a:rPr>
              <a:t>'&lt;w:br[^&gt;]*&gt;'</a:t>
            </a:r>
            <a:r>
              <a:rPr lang="en-US" sz="700" dirty="0">
                <a:solidFill>
                  <a:srgbClr val="E6EDF3"/>
                </a:solidFill>
                <a:latin typeface="Courier New" pitchFamily="34" charset="0"/>
                <a:ea typeface="Courier New" pitchFamily="34" charset="-122"/>
                <a:cs typeface="Courier New" pitchFamily="34" charset="-120"/>
              </a:rPr>
              <a:t>, doc.element.xml))</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img = io.BytesIO(); Image.new(</a:t>
            </a:r>
            <a:r>
              <a:rPr lang="en-US" sz="700" dirty="0">
                <a:solidFill>
                  <a:srgbClr val="9ECBFF"/>
                </a:solidFill>
                <a:latin typeface="Courier New" pitchFamily="34" charset="0"/>
                <a:ea typeface="Courier New" pitchFamily="34" charset="-122"/>
                <a:cs typeface="Courier New" pitchFamily="34" charset="-120"/>
              </a:rPr>
              <a:t>'RGB'</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60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80</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'red'</a:t>
            </a:r>
            <a:r>
              <a:rPr lang="en-US" sz="700" dirty="0">
                <a:solidFill>
                  <a:srgbClr val="E6EDF3"/>
                </a:solidFill>
                <a:latin typeface="Courier New" pitchFamily="34" charset="0"/>
                <a:ea typeface="Courier New" pitchFamily="34" charset="-122"/>
                <a:cs typeface="Courier New" pitchFamily="34" charset="-120"/>
              </a:rPr>
              <a:t>).save(img, </a:t>
            </a:r>
            <a:r>
              <a:rPr lang="en-US" sz="700" dirty="0">
                <a:solidFill>
                  <a:srgbClr val="9ECBFF"/>
                </a:solidFill>
                <a:latin typeface="Courier New" pitchFamily="34" charset="0"/>
                <a:ea typeface="Courier New" pitchFamily="34" charset="-122"/>
                <a:cs typeface="Courier New" pitchFamily="34" charset="-120"/>
              </a:rPr>
              <a:t>'PNG'</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label, kw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'no width'</a:t>
            </a:r>
            <a:r>
              <a:rPr lang="en-US" sz="700" dirty="0">
                <a:solidFill>
                  <a:srgbClr val="E6EDF3"/>
                </a:solidFill>
                <a:latin typeface="Courier New" pitchFamily="34" charset="0"/>
                <a:ea typeface="Courier New" pitchFamily="34" charset="-122"/>
                <a:cs typeface="Courier New" pitchFamily="34" charset="-120"/>
              </a:rPr>
              <a:t>, {}), (</a:t>
            </a:r>
            <a:r>
              <a:rPr lang="en-US" sz="700" dirty="0">
                <a:solidFill>
                  <a:srgbClr val="9ECBFF"/>
                </a:solidFill>
                <a:latin typeface="Courier New" pitchFamily="34" charset="0"/>
                <a:ea typeface="Courier New" pitchFamily="34" charset="-122"/>
                <a:cs typeface="Courier New" pitchFamily="34" charset="-120"/>
              </a:rPr>
              <a:t>'width=1 inch'</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'width'</a:t>
            </a:r>
            <a:r>
              <a:rPr lang="en-US" sz="700" dirty="0">
                <a:solidFill>
                  <a:srgbClr val="E6EDF3"/>
                </a:solidFill>
                <a:latin typeface="Courier New" pitchFamily="34" charset="0"/>
                <a:ea typeface="Courier New" pitchFamily="34" charset="-122"/>
                <a:cs typeface="Courier New" pitchFamily="34" charset="-120"/>
              </a:rPr>
              <a:t>: Inches(</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shape = doc.add_picture(io.BytesIO(img.getvalue()), **kw)</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print(label, </a:t>
            </a:r>
            <a:r>
              <a:rPr lang="en-US" sz="700" dirty="0">
                <a:solidFill>
                  <a:srgbClr val="9ECBFF"/>
                </a:solidFill>
                <a:latin typeface="Courier New" pitchFamily="34" charset="0"/>
                <a:ea typeface="Courier New" pitchFamily="34" charset="-122"/>
                <a:cs typeface="Courier New" pitchFamily="34" charset="-120"/>
              </a:rPr>
              <a:t>'-&gt;'</a:t>
            </a:r>
            <a:r>
              <a:rPr lang="en-US" sz="700" dirty="0">
                <a:solidFill>
                  <a:srgbClr val="E6EDF3"/>
                </a:solidFill>
                <a:latin typeface="Courier New" pitchFamily="34" charset="0"/>
                <a:ea typeface="Courier New" pitchFamily="34" charset="-122"/>
                <a:cs typeface="Courier New" pitchFamily="34" charset="-120"/>
              </a:rPr>
              <a:t>, int(shape.width), int(shape.height))</a:t>
            </a:r>
            <a:endParaRPr lang="en-US" sz="700" dirty="0"/>
          </a:p>
        </p:txBody>
      </p:sp>
      <p:sp>
        <p:nvSpPr>
          <p:cNvPr id="9" name="Text 7"/>
          <p:cNvSpPr txBox="1"/>
          <p:nvPr/>
        </p:nvSpPr>
        <p:spPr>
          <a:xfrm>
            <a:off x="5285232" y="1143000"/>
            <a:ext cx="3127248"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transcript of program breaksCut_v1_0_0.py</a:t>
            </a:r>
            <a:endParaRPr lang="en-US" sz="1000" dirty="0"/>
          </a:p>
        </p:txBody>
      </p:sp>
      <p:sp>
        <p:nvSpPr>
          <p:cNvPr id="10" name="Shape 8"/>
          <p:cNvSpPr/>
          <p:nvPr/>
        </p:nvSpPr>
        <p:spPr>
          <a:xfrm>
            <a:off x="5285232" y="1417320"/>
            <a:ext cx="3127248" cy="1161288"/>
          </a:xfrm>
          <a:prstGeom prst="roundRect">
            <a:avLst>
              <a:gd name="adj" fmla="val 7874"/>
            </a:avLst>
          </a:prstGeom>
          <a:solidFill>
            <a:srgbClr val="23272E"/>
          </a:solidFill>
          <a:ln w="12700">
            <a:solidFill>
              <a:srgbClr val="23272E"/>
            </a:solidFill>
            <a:prstDash val="solid"/>
          </a:ln>
        </p:spPr>
      </p:sp>
      <p:sp>
        <p:nvSpPr>
          <p:cNvPr id="11" name="Text 9"/>
          <p:cNvSpPr txBox="1"/>
          <p:nvPr/>
        </p:nvSpPr>
        <p:spPr>
          <a:xfrm>
            <a:off x="5468112" y="1536192"/>
            <a:ext cx="2761488" cy="923544"/>
          </a:xfrm>
          <a:prstGeom prst="rect">
            <a:avLst/>
          </a:prstGeom>
          <a:noFill/>
          <a:ln/>
        </p:spPr>
        <p:txBody>
          <a:bodyPr wrap="square" lIns="0" tIns="0" rIns="0" bIns="0" rtlCol="0" anchor="t"/>
          <a:lstStyle/>
          <a:p>
            <a:pPr indent="0" marL="0">
              <a:buNone/>
            </a:pPr>
            <a:r>
              <a:rPr lang="en-US" sz="700" b="1" dirty="0">
                <a:solidFill>
                  <a:srgbClr val="D97A14"/>
                </a:solidFill>
                <a:latin typeface="Courier New" pitchFamily="34" charset="0"/>
                <a:ea typeface="Courier New" pitchFamily="34" charset="-122"/>
                <a:cs typeface="Courier New" pitchFamily="34" charset="-120"/>
              </a:rPr>
              <a:t>prints </a:t>
            </a:r>
            <a:r>
              <a:rPr lang="en-US" sz="700" dirty="0">
                <a:solidFill>
                  <a:srgbClr val="7EE787"/>
                </a:solidFill>
                <a:latin typeface="Courier New" pitchFamily="34" charset="0"/>
                <a:ea typeface="Courier New" pitchFamily="34" charset="-122"/>
                <a:cs typeface="Courier New" pitchFamily="34" charset="-120"/>
              </a:rPr>
              <a:t>0 Title</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1 Heading 1</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9 Heading 9</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10 ValueError: level must be in range 0-9, got 10</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['&lt;w:br w:type="page"/&gt;']</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no width -&gt; 762000 1016000</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width=1 inch -&gt; 914400 1219200</a:t>
            </a:r>
            <a:endParaRPr lang="en-US" sz="700" dirty="0"/>
          </a:p>
        </p:txBody>
      </p:sp>
      <p:sp>
        <p:nvSpPr>
          <p:cNvPr id="12" name="Shape 10"/>
          <p:cNvSpPr/>
          <p:nvPr/>
        </p:nvSpPr>
        <p:spPr>
          <a:xfrm>
            <a:off x="5285232" y="2715768"/>
            <a:ext cx="3401568" cy="1810512"/>
          </a:xfrm>
          <a:prstGeom prst="roundRect">
            <a:avLst>
              <a:gd name="adj" fmla="val 5051"/>
            </a:avLst>
          </a:prstGeom>
          <a:solidFill>
            <a:srgbClr val="F2ECE1"/>
          </a:solidFill>
          <a:ln w="12700">
            <a:solidFill>
              <a:srgbClr val="F2ECE1"/>
            </a:solidFill>
            <a:prstDash val="solid"/>
          </a:ln>
        </p:spPr>
      </p:sp>
      <p:sp>
        <p:nvSpPr>
          <p:cNvPr id="13" name="Text 11"/>
          <p:cNvSpPr txBox="1"/>
          <p:nvPr/>
        </p:nvSpPr>
        <p:spPr>
          <a:xfrm>
            <a:off x="5468112" y="2834640"/>
            <a:ext cx="3035808" cy="347472"/>
          </a:xfrm>
          <a:prstGeom prst="rect">
            <a:avLst/>
          </a:prstGeom>
          <a:noFill/>
          <a:ln/>
        </p:spPr>
        <p:txBody>
          <a:bodyPr wrap="square" lIns="0" tIns="0" rIns="0" bIns="0" rtlCol="0" anchor="ctr"/>
          <a:lstStyle/>
          <a:p>
            <a:pPr indent="0" marL="0">
              <a:buNone/>
            </a:pPr>
            <a:r>
              <a:rPr lang="en-US" sz="1600" b="1" dirty="0">
                <a:solidFill>
                  <a:srgbClr val="2F6D62"/>
                </a:solidFill>
                <a:latin typeface="Cambria" pitchFamily="34" charset="0"/>
                <a:ea typeface="Cambria" pitchFamily="34" charset="-122"/>
                <a:cs typeface="Cambria" pitchFamily="34" charset="-120"/>
              </a:rPr>
              <a:t>Three counts in one chapter</a:t>
            </a:r>
            <a:endParaRPr lang="en-US" sz="1600" dirty="0"/>
          </a:p>
        </p:txBody>
      </p:sp>
      <p:sp>
        <p:nvSpPr>
          <p:cNvPr id="14" name="Text 12"/>
          <p:cNvSpPr txBox="1"/>
          <p:nvPr/>
        </p:nvSpPr>
        <p:spPr>
          <a:xfrm>
            <a:off x="5468112" y="3218688"/>
            <a:ext cx="3035808" cy="1170432"/>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The chapter says heading levels run 0 to 4, then 1 to 9; add_heading accepts 0 to 9 and refuses 10. Level 0 is the Title style.</a:t>
            </a:r>
            <a:endParaRPr lang="en-US" sz="950" dirty="0"/>
          </a:p>
        </p:txBody>
      </p:sp>
      <p:sp>
        <p:nvSpPr>
          <p:cNvPr id="15" name="Text 13"/>
          <p:cNvSpPr txBox="1"/>
          <p:nvPr/>
        </p:nvSpPr>
        <p:spPr>
          <a:xfrm>
            <a:off x="457200" y="3794760"/>
            <a:ext cx="4572000" cy="310896"/>
          </a:xfrm>
          <a:prstGeom prst="rect">
            <a:avLst/>
          </a:prstGeom>
          <a:noFill/>
          <a:ln/>
        </p:spPr>
        <p:txBody>
          <a:bodyPr wrap="square" lIns="0" tIns="0" rIns="0" bIns="0" rtlCol="0" anchor="t"/>
          <a:lstStyle/>
          <a:p>
            <a:pPr indent="0" marL="0">
              <a:buNone/>
            </a:pPr>
            <a:r>
              <a:rPr lang="en-US" sz="900" i="1" dirty="0">
                <a:solidFill>
                  <a:srgbClr val="6E655C"/>
                </a:solidFill>
                <a:latin typeface="Calibri" pitchFamily="34" charset="0"/>
                <a:ea typeface="Calibri" pitchFamily="34" charset="-122"/>
                <a:cs typeface="Calibri" pitchFamily="34" charset="-120"/>
              </a:rPr>
              <a:t>Lines 1 to 18 of the program (the helper make_pdf(), which writes a small valid PDF 1.4 of text pages byte by byte, and the imports) are not shown.</a:t>
            </a:r>
            <a:endParaRPr lang="en-US" sz="900" dirty="0"/>
          </a:p>
        </p:txBody>
      </p:sp>
      <p:sp>
        <p:nvSpPr>
          <p:cNvPr id="16" name="Shape 14"/>
          <p:cNvSpPr/>
          <p:nvPr/>
        </p:nvSpPr>
        <p:spPr>
          <a:xfrm>
            <a:off x="457200" y="4636008"/>
            <a:ext cx="91440" cy="310896"/>
          </a:xfrm>
          <a:prstGeom prst="rect">
            <a:avLst/>
          </a:prstGeom>
          <a:solidFill>
            <a:srgbClr val="D97A14"/>
          </a:solidFill>
          <a:ln w="12700">
            <a:solidFill>
              <a:srgbClr val="D97A14"/>
            </a:solidFill>
            <a:prstDash val="solid"/>
          </a:ln>
        </p:spPr>
      </p:sp>
      <p:sp>
        <p:nvSpPr>
          <p:cNvPr id="17" name="Text 1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A page break is a run, and a picture needs only a width.</a:t>
            </a:r>
            <a:endParaRPr lang="en-US" sz="1350" dirty="0"/>
          </a:p>
        </p:txBody>
      </p:sp>
      <p:sp>
        <p:nvSpPr>
          <p:cNvPr id="18"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22 / 26</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Custom Invitations, and what was not run</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Styles made in code, one invitation per page, and a page count seen in LibreOffice</a:t>
            </a:r>
            <a:endParaRPr lang="en-US" sz="1300" dirty="0"/>
          </a:p>
        </p:txBody>
      </p:sp>
      <p:sp>
        <p:nvSpPr>
          <p:cNvPr id="6" name="Text 4"/>
          <p:cNvSpPr txBox="1"/>
          <p:nvPr/>
        </p:nvSpPr>
        <p:spPr>
          <a:xfrm>
            <a:off x="457200" y="1143000"/>
            <a:ext cx="5038344" cy="256032"/>
          </a:xfrm>
          <a:prstGeom prst="rect">
            <a:avLst/>
          </a:prstGeom>
          <a:noFill/>
          <a:ln/>
        </p:spPr>
        <p:txBody>
          <a:bodyPr wrap="square" lIns="0" tIns="0" rIns="0" bIns="0" rtlCol="0" anchor="b"/>
          <a:lstStyle/>
          <a:p>
            <a:pPr indent="0" marL="0">
              <a:buNone/>
            </a:pPr>
            <a:r>
              <a:rPr lang="en-US" sz="1000" b="1" dirty="0">
                <a:solidFill>
                  <a:srgbClr val="2F6D62"/>
                </a:solidFill>
                <a:latin typeface="Calibri" pitchFamily="34" charset="0"/>
                <a:ea typeface="Calibri" pitchFamily="34" charset="-122"/>
                <a:cs typeface="Calibri" pitchFamily="34" charset="-120"/>
              </a:rPr>
              <a:t>program customInvitationsCut_v1_0_0.py, lines 22 to 40 of 40</a:t>
            </a:r>
            <a:endParaRPr lang="en-US" sz="1000" dirty="0"/>
          </a:p>
        </p:txBody>
      </p:sp>
      <p:sp>
        <p:nvSpPr>
          <p:cNvPr id="7" name="Shape 5"/>
          <p:cNvSpPr/>
          <p:nvPr/>
        </p:nvSpPr>
        <p:spPr>
          <a:xfrm>
            <a:off x="457200" y="1417320"/>
            <a:ext cx="5038344" cy="2935224"/>
          </a:xfrm>
          <a:prstGeom prst="roundRect">
            <a:avLst>
              <a:gd name="adj" fmla="val 3115"/>
            </a:avLst>
          </a:prstGeom>
          <a:solidFill>
            <a:srgbClr val="23272E"/>
          </a:solidFill>
          <a:ln w="12700">
            <a:solidFill>
              <a:srgbClr val="23272E"/>
            </a:solidFill>
            <a:prstDash val="solid"/>
          </a:ln>
        </p:spPr>
      </p:sp>
      <p:sp>
        <p:nvSpPr>
          <p:cNvPr id="8" name="Text 6"/>
          <p:cNvSpPr txBox="1"/>
          <p:nvPr/>
        </p:nvSpPr>
        <p:spPr>
          <a:xfrm>
            <a:off x="640080" y="1536192"/>
            <a:ext cx="4672584" cy="2697480"/>
          </a:xfrm>
          <a:prstGeom prst="rect">
            <a:avLst/>
          </a:prstGeom>
          <a:noFill/>
          <a:ln/>
        </p:spPr>
        <p:txBody>
          <a:bodyPr wrap="square" lIns="0" tIns="0" rIns="0" bIns="0" rtlCol="0" anchor="t"/>
          <a:lstStyle/>
          <a:p>
            <a:pPr indent="0" marL="0">
              <a:buNone/>
            </a:pPr>
            <a:r>
              <a:rPr lang="en-US" sz="700" dirty="0">
                <a:solidFill>
                  <a:srgbClr val="E6EDF3"/>
                </a:solidFill>
                <a:latin typeface="Courier New" pitchFamily="34" charset="0"/>
                <a:ea typeface="Courier New" pitchFamily="34" charset="-122"/>
                <a:cs typeface="Courier New" pitchFamily="34" charset="-120"/>
              </a:rPr>
              <a:t>guests = [</a:t>
            </a:r>
            <a:r>
              <a:rPr lang="en-US" sz="700" dirty="0">
                <a:solidFill>
                  <a:srgbClr val="9ECBFF"/>
                </a:solidFill>
                <a:latin typeface="Courier New" pitchFamily="34" charset="0"/>
                <a:ea typeface="Courier New" pitchFamily="34" charset="-122"/>
                <a:cs typeface="Courier New" pitchFamily="34" charset="-120"/>
              </a:rPr>
              <a:t>'Prof. Plum'</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'Miss Scarlet'</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'Col. Mustard'</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'Al Sweigart'</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'Robocop'</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doc = docx.Document()</a:t>
            </a:r>
            <a:endParaRPr lang="en-US" sz="700" dirty="0"/>
          </a:p>
          <a:p>
            <a:pPr indent="0" marL="0">
              <a:buNone/>
            </a:pP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name, size, bold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'Invite Lead'</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20</a:t>
            </a: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False</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'Invite Name'</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32</a:t>
            </a: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True</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'Invite Detail'</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FFD28A"/>
                </a:solidFill>
                <a:latin typeface="Courier New" pitchFamily="34" charset="0"/>
                <a:ea typeface="Courier New" pitchFamily="34" charset="-122"/>
                <a:cs typeface="Courier New" pitchFamily="34" charset="-120"/>
              </a:rPr>
              <a:t>14</a:t>
            </a: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False</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s = doc.styles.add_style(name, WD_STYLE_TYPE.PARAGRAPH)</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s.base_style = doc.styles[</a:t>
            </a:r>
            <a:r>
              <a:rPr lang="en-US" sz="700" dirty="0">
                <a:solidFill>
                  <a:srgbClr val="9ECBFF"/>
                </a:solidFill>
                <a:latin typeface="Courier New" pitchFamily="34" charset="0"/>
                <a:ea typeface="Courier New" pitchFamily="34" charset="-122"/>
                <a:cs typeface="Courier New" pitchFamily="34" charset="-120"/>
              </a:rPr>
              <a:t>'Normal'</a:t>
            </a:r>
            <a:r>
              <a:rPr lang="en-US" sz="700" dirty="0">
                <a:solidFill>
                  <a:srgbClr val="E6EDF3"/>
                </a:solidFill>
                <a:latin typeface="Courier New" pitchFamily="34" charset="0"/>
                <a:ea typeface="Courier New" pitchFamily="34" charset="-122"/>
                <a:cs typeface="Courier New" pitchFamily="34" charset="-120"/>
              </a:rPr>
              <a:t>]; s.font.size = Pt(size); s.font.bold = bold</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card = [(</a:t>
            </a:r>
            <a:r>
              <a:rPr lang="en-US" sz="700" dirty="0">
                <a:solidFill>
                  <a:srgbClr val="9ECBFF"/>
                </a:solidFill>
                <a:latin typeface="Courier New" pitchFamily="34" charset="0"/>
                <a:ea typeface="Courier New" pitchFamily="34" charset="-122"/>
                <a:cs typeface="Courier New" pitchFamily="34" charset="-120"/>
              </a:rPr>
              <a:t>'It would be a pleasure to have the company of'</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'Invite Lead'</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None</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'Invite Name'</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'at 11010 Memory Lane on the Evening of'</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'Invite Lead'</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'April 1st'</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'Invite Detail'</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"at 7 o'clock"</a:t>
            </a:r>
            <a:r>
              <a:rPr lang="en-US" sz="700" dirty="0">
                <a:solidFill>
                  <a:srgbClr val="E6EDF3"/>
                </a:solidFill>
                <a:latin typeface="Courier New" pitchFamily="34" charset="0"/>
                <a:ea typeface="Courier New" pitchFamily="34" charset="-122"/>
                <a:cs typeface="Courier New" pitchFamily="34" charset="-120"/>
              </a:rPr>
              <a:t>, </a:t>
            </a:r>
            <a:r>
              <a:rPr lang="en-US" sz="700" dirty="0">
                <a:solidFill>
                  <a:srgbClr val="9ECBFF"/>
                </a:solidFill>
                <a:latin typeface="Courier New" pitchFamily="34" charset="0"/>
                <a:ea typeface="Courier New" pitchFamily="34" charset="-122"/>
                <a:cs typeface="Courier New" pitchFamily="34" charset="-120"/>
              </a:rPr>
              <a:t>'Invite Detail'</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i, guest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enumerate(guests):</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text, style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card:</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doc.add_paragraph(text </a:t>
            </a:r>
            <a:r>
              <a:rPr lang="en-US" sz="700" b="1" dirty="0">
                <a:solidFill>
                  <a:srgbClr val="F2A860"/>
                </a:solidFill>
                <a:latin typeface="Courier New" pitchFamily="34" charset="0"/>
                <a:ea typeface="Courier New" pitchFamily="34" charset="-122"/>
                <a:cs typeface="Courier New" pitchFamily="34" charset="-120"/>
              </a:rPr>
              <a:t>or</a:t>
            </a:r>
            <a:r>
              <a:rPr lang="en-US" sz="700" dirty="0">
                <a:solidFill>
                  <a:srgbClr val="E6EDF3"/>
                </a:solidFill>
                <a:latin typeface="Courier New" pitchFamily="34" charset="0"/>
                <a:ea typeface="Courier New" pitchFamily="34" charset="-122"/>
                <a:cs typeface="Courier New" pitchFamily="34" charset="-120"/>
              </a:rPr>
              <a:t> guest, style)</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    </a:t>
            </a:r>
            <a:r>
              <a:rPr lang="en-US" sz="700" b="1" dirty="0">
                <a:solidFill>
                  <a:srgbClr val="F2A860"/>
                </a:solidFill>
                <a:latin typeface="Courier New" pitchFamily="34" charset="0"/>
                <a:ea typeface="Courier New" pitchFamily="34" charset="-122"/>
                <a:cs typeface="Courier New" pitchFamily="34" charset="-120"/>
              </a:rPr>
              <a:t>if</a:t>
            </a:r>
            <a:r>
              <a:rPr lang="en-US" sz="700" dirty="0">
                <a:solidFill>
                  <a:srgbClr val="E6EDF3"/>
                </a:solidFill>
                <a:latin typeface="Courier New" pitchFamily="34" charset="0"/>
                <a:ea typeface="Courier New" pitchFamily="34" charset="-122"/>
                <a:cs typeface="Courier New" pitchFamily="34" charset="-120"/>
              </a:rPr>
              <a:t> i &lt; len(guests) - </a:t>
            </a:r>
            <a:r>
              <a:rPr lang="en-US" sz="700" dirty="0">
                <a:solidFill>
                  <a:srgbClr val="FFD28A"/>
                </a:solidFill>
                <a:latin typeface="Courier New" pitchFamily="34" charset="0"/>
                <a:ea typeface="Courier New" pitchFamily="34" charset="-122"/>
                <a:cs typeface="Courier New" pitchFamily="34" charset="-120"/>
              </a:rPr>
              <a:t>1</a:t>
            </a:r>
            <a:r>
              <a:rPr lang="en-US" sz="700" dirty="0">
                <a:solidFill>
                  <a:srgbClr val="E6EDF3"/>
                </a:solidFill>
                <a:latin typeface="Courier New" pitchFamily="34" charset="0"/>
                <a:ea typeface="Courier New" pitchFamily="34" charset="-122"/>
                <a:cs typeface="Courier New" pitchFamily="34" charset="-120"/>
              </a:rPr>
              <a:t>: doc.add_page_break()</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doc.save(</a:t>
            </a:r>
            <a:r>
              <a:rPr lang="en-US" sz="700" dirty="0">
                <a:solidFill>
                  <a:srgbClr val="9ECBFF"/>
                </a:solidFill>
                <a:latin typeface="Courier New" pitchFamily="34" charset="0"/>
                <a:ea typeface="Courier New" pitchFamily="34" charset="-122"/>
                <a:cs typeface="Courier New" pitchFamily="34" charset="-120"/>
              </a:rPr>
              <a:t>'invitations.docx'</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d = docx.Document(</a:t>
            </a:r>
            <a:r>
              <a:rPr lang="en-US" sz="700" dirty="0">
                <a:solidFill>
                  <a:srgbClr val="9ECBFF"/>
                </a:solidFill>
                <a:latin typeface="Courier New" pitchFamily="34" charset="0"/>
                <a:ea typeface="Courier New" pitchFamily="34" charset="-122"/>
                <a:cs typeface="Courier New" pitchFamily="34" charset="-120"/>
              </a:rPr>
              <a:t>'invitations.docx'</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pages = d.element.xml.count(</a:t>
            </a:r>
            <a:r>
              <a:rPr lang="en-US" sz="700" dirty="0">
                <a:solidFill>
                  <a:srgbClr val="9ECBFF"/>
                </a:solidFill>
                <a:latin typeface="Courier New" pitchFamily="34" charset="0"/>
                <a:ea typeface="Courier New" pitchFamily="34" charset="-122"/>
                <a:cs typeface="Courier New" pitchFamily="34" charset="-120"/>
              </a:rPr>
              <a:t>'w:type="page"'</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print(len(d.paragraphs), </a:t>
            </a:r>
            <a:r>
              <a:rPr lang="en-US" sz="700" dirty="0">
                <a:solidFill>
                  <a:srgbClr val="9ECBFF"/>
                </a:solidFill>
                <a:latin typeface="Courier New" pitchFamily="34" charset="0"/>
                <a:ea typeface="Courier New" pitchFamily="34" charset="-122"/>
                <a:cs typeface="Courier New" pitchFamily="34" charset="-120"/>
              </a:rPr>
              <a:t>'paragraphs;'</a:t>
            </a:r>
            <a:r>
              <a:rPr lang="en-US" sz="700" dirty="0">
                <a:solidFill>
                  <a:srgbClr val="E6EDF3"/>
                </a:solidFill>
                <a:latin typeface="Courier New" pitchFamily="34" charset="0"/>
                <a:ea typeface="Courier New" pitchFamily="34" charset="-122"/>
                <a:cs typeface="Courier New" pitchFamily="34" charset="-120"/>
              </a:rPr>
              <a:t>, pages, </a:t>
            </a:r>
            <a:r>
              <a:rPr lang="en-US" sz="700" dirty="0">
                <a:solidFill>
                  <a:srgbClr val="9ECBFF"/>
                </a:solidFill>
                <a:latin typeface="Courier New" pitchFamily="34" charset="0"/>
                <a:ea typeface="Courier New" pitchFamily="34" charset="-122"/>
                <a:cs typeface="Courier New" pitchFamily="34" charset="-120"/>
              </a:rPr>
              <a:t>'page breaks for'</a:t>
            </a:r>
            <a:r>
              <a:rPr lang="en-US" sz="700" dirty="0">
                <a:solidFill>
                  <a:srgbClr val="E6EDF3"/>
                </a:solidFill>
                <a:latin typeface="Courier New" pitchFamily="34" charset="0"/>
                <a:ea typeface="Courier New" pitchFamily="34" charset="-122"/>
                <a:cs typeface="Courier New" pitchFamily="34" charset="-120"/>
              </a:rPr>
              <a:t>, len(guests))</a:t>
            </a:r>
            <a:endParaRPr lang="en-US" sz="700" dirty="0"/>
          </a:p>
          <a:p>
            <a:pPr indent="0" marL="0">
              <a:buNone/>
            </a:pPr>
            <a:r>
              <a:rPr lang="en-US" sz="700" dirty="0">
                <a:solidFill>
                  <a:srgbClr val="E6EDF3"/>
                </a:solidFill>
                <a:latin typeface="Courier New" pitchFamily="34" charset="0"/>
                <a:ea typeface="Courier New" pitchFamily="34" charset="-122"/>
                <a:cs typeface="Courier New" pitchFamily="34" charset="-120"/>
              </a:rPr>
              <a:t>print([p.text </a:t>
            </a:r>
            <a:r>
              <a:rPr lang="en-US" sz="700" b="1" dirty="0">
                <a:solidFill>
                  <a:srgbClr val="F2A860"/>
                </a:solidFill>
                <a:latin typeface="Courier New" pitchFamily="34" charset="0"/>
                <a:ea typeface="Courier New" pitchFamily="34" charset="-122"/>
                <a:cs typeface="Courier New" pitchFamily="34" charset="-120"/>
              </a:rPr>
              <a:t>for</a:t>
            </a:r>
            <a:r>
              <a:rPr lang="en-US" sz="700" dirty="0">
                <a:solidFill>
                  <a:srgbClr val="E6EDF3"/>
                </a:solidFill>
                <a:latin typeface="Courier New" pitchFamily="34" charset="0"/>
                <a:ea typeface="Courier New" pitchFamily="34" charset="-122"/>
                <a:cs typeface="Courier New" pitchFamily="34" charset="-120"/>
              </a:rPr>
              <a:t> p </a:t>
            </a:r>
            <a:r>
              <a:rPr lang="en-US" sz="700" b="1" dirty="0">
                <a:solidFill>
                  <a:srgbClr val="F2A860"/>
                </a:solidFill>
                <a:latin typeface="Courier New" pitchFamily="34" charset="0"/>
                <a:ea typeface="Courier New" pitchFamily="34" charset="-122"/>
                <a:cs typeface="Courier New" pitchFamily="34" charset="-120"/>
              </a:rPr>
              <a:t>in</a:t>
            </a:r>
            <a:r>
              <a:rPr lang="en-US" sz="700" dirty="0">
                <a:solidFill>
                  <a:srgbClr val="E6EDF3"/>
                </a:solidFill>
                <a:latin typeface="Courier New" pitchFamily="34" charset="0"/>
                <a:ea typeface="Courier New" pitchFamily="34" charset="-122"/>
                <a:cs typeface="Courier New" pitchFamily="34" charset="-120"/>
              </a:rPr>
              <a:t> d.paragraphs </a:t>
            </a:r>
            <a:r>
              <a:rPr lang="en-US" sz="700" b="1" dirty="0">
                <a:solidFill>
                  <a:srgbClr val="F2A860"/>
                </a:solidFill>
                <a:latin typeface="Courier New" pitchFamily="34" charset="0"/>
                <a:ea typeface="Courier New" pitchFamily="34" charset="-122"/>
                <a:cs typeface="Courier New" pitchFamily="34" charset="-120"/>
              </a:rPr>
              <a:t>if</a:t>
            </a:r>
            <a:r>
              <a:rPr lang="en-US" sz="700" dirty="0">
                <a:solidFill>
                  <a:srgbClr val="E6EDF3"/>
                </a:solidFill>
                <a:latin typeface="Courier New" pitchFamily="34" charset="0"/>
                <a:ea typeface="Courier New" pitchFamily="34" charset="-122"/>
                <a:cs typeface="Courier New" pitchFamily="34" charset="-120"/>
              </a:rPr>
              <a:t> p.style.name == </a:t>
            </a:r>
            <a:r>
              <a:rPr lang="en-US" sz="700" dirty="0">
                <a:solidFill>
                  <a:srgbClr val="9ECBFF"/>
                </a:solidFill>
                <a:latin typeface="Courier New" pitchFamily="34" charset="0"/>
                <a:ea typeface="Courier New" pitchFamily="34" charset="-122"/>
                <a:cs typeface="Courier New" pitchFamily="34" charset="-120"/>
              </a:rPr>
              <a:t>'Invite Name'</a:t>
            </a:r>
            <a:r>
              <a:rPr lang="en-US" sz="700" dirty="0">
                <a:solidFill>
                  <a:srgbClr val="E6EDF3"/>
                </a:solidFill>
                <a:latin typeface="Courier New" pitchFamily="34" charset="0"/>
                <a:ea typeface="Courier New" pitchFamily="34" charset="-122"/>
                <a:cs typeface="Courier New" pitchFamily="34" charset="-120"/>
              </a:rPr>
              <a:t>])</a:t>
            </a:r>
            <a:endParaRPr lang="en-US" sz="700" dirty="0"/>
          </a:p>
          <a:p>
            <a:pPr indent="0" marL="0">
              <a:buNone/>
            </a:pPr>
            <a:r>
              <a:rPr lang="en-US" sz="700" b="1" dirty="0">
                <a:solidFill>
                  <a:srgbClr val="D97A14"/>
                </a:solidFill>
                <a:latin typeface="Courier New" pitchFamily="34" charset="0"/>
                <a:ea typeface="Courier New" pitchFamily="34" charset="-122"/>
                <a:cs typeface="Courier New" pitchFamily="34" charset="-120"/>
              </a:rPr>
              <a:t>prints </a:t>
            </a:r>
            <a:r>
              <a:rPr lang="en-US" sz="700" dirty="0">
                <a:solidFill>
                  <a:srgbClr val="7EE787"/>
                </a:solidFill>
                <a:latin typeface="Courier New" pitchFamily="34" charset="0"/>
                <a:ea typeface="Courier New" pitchFamily="34" charset="-122"/>
                <a:cs typeface="Courier New" pitchFamily="34" charset="-120"/>
              </a:rPr>
              <a:t>29 paragraphs; 4 page breaks for 5</a:t>
            </a:r>
            <a:endParaRPr lang="en-US" sz="700" dirty="0"/>
          </a:p>
          <a:p>
            <a:pPr indent="0" marL="0">
              <a:buNone/>
            </a:pPr>
            <a:r>
              <a:rPr lang="en-US" sz="700" dirty="0">
                <a:solidFill>
                  <a:srgbClr val="7EE787"/>
                </a:solidFill>
                <a:latin typeface="Courier New" pitchFamily="34" charset="0"/>
                <a:ea typeface="Courier New" pitchFamily="34" charset="-122"/>
                <a:cs typeface="Courier New" pitchFamily="34" charset="-120"/>
              </a:rPr>
              <a:t>['Prof. Plum', 'Miss Scarlet', 'Col. Mustard', 'Al Sweigart', 'Robocop']</a:t>
            </a:r>
            <a:endParaRPr lang="en-US" sz="700" dirty="0"/>
          </a:p>
        </p:txBody>
      </p:sp>
      <p:sp>
        <p:nvSpPr>
          <p:cNvPr id="9" name="Shape 7"/>
          <p:cNvSpPr/>
          <p:nvPr/>
        </p:nvSpPr>
        <p:spPr>
          <a:xfrm>
            <a:off x="5724144" y="1371600"/>
            <a:ext cx="2962656" cy="1371600"/>
          </a:xfrm>
          <a:prstGeom prst="roundRect">
            <a:avLst>
              <a:gd name="adj" fmla="val 6667"/>
            </a:avLst>
          </a:prstGeom>
          <a:solidFill>
            <a:srgbClr val="F2ECE1"/>
          </a:solidFill>
          <a:ln w="12700">
            <a:solidFill>
              <a:srgbClr val="F2ECE1"/>
            </a:solidFill>
            <a:prstDash val="solid"/>
          </a:ln>
        </p:spPr>
      </p:sp>
      <p:sp>
        <p:nvSpPr>
          <p:cNvPr id="10" name="Text 8"/>
          <p:cNvSpPr txBox="1"/>
          <p:nvPr/>
        </p:nvSpPr>
        <p:spPr>
          <a:xfrm>
            <a:off x="5907024" y="1490472"/>
            <a:ext cx="2596896" cy="347472"/>
          </a:xfrm>
          <a:prstGeom prst="rect">
            <a:avLst/>
          </a:prstGeom>
          <a:noFill/>
          <a:ln/>
        </p:spPr>
        <p:txBody>
          <a:bodyPr wrap="square" lIns="0" tIns="0" rIns="0" bIns="0" rtlCol="0" anchor="ctr"/>
          <a:lstStyle/>
          <a:p>
            <a:pPr indent="0" marL="0">
              <a:buNone/>
            </a:pPr>
            <a:r>
              <a:rPr lang="en-US" sz="1600" b="1" dirty="0">
                <a:solidFill>
                  <a:srgbClr val="2F6D62"/>
                </a:solidFill>
                <a:latin typeface="Cambria" pitchFamily="34" charset="0"/>
                <a:ea typeface="Cambria" pitchFamily="34" charset="-122"/>
                <a:cs typeface="Cambria" pitchFamily="34" charset="-120"/>
              </a:rPr>
              <a:t>Styles made in code</a:t>
            </a:r>
            <a:endParaRPr lang="en-US" sz="1600" dirty="0"/>
          </a:p>
        </p:txBody>
      </p:sp>
      <p:sp>
        <p:nvSpPr>
          <p:cNvPr id="11" name="Text 9"/>
          <p:cNvSpPr txBox="1"/>
          <p:nvPr/>
        </p:nvSpPr>
        <p:spPr>
          <a:xfrm>
            <a:off x="5907024" y="1874520"/>
            <a:ext cx="2596896" cy="731520"/>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python-docx uses only styles that exist, so add_style() makes the three the invitation needs; the page break after each guest but the last leaves no blank page.</a:t>
            </a:r>
            <a:endParaRPr lang="en-US" sz="950" dirty="0"/>
          </a:p>
        </p:txBody>
      </p:sp>
      <p:sp>
        <p:nvSpPr>
          <p:cNvPr id="12" name="Shape 10"/>
          <p:cNvSpPr/>
          <p:nvPr/>
        </p:nvSpPr>
        <p:spPr>
          <a:xfrm>
            <a:off x="5724144" y="2834640"/>
            <a:ext cx="2962656" cy="1243584"/>
          </a:xfrm>
          <a:prstGeom prst="roundRect">
            <a:avLst>
              <a:gd name="adj" fmla="val 7353"/>
            </a:avLst>
          </a:prstGeom>
          <a:solidFill>
            <a:srgbClr val="F2ECE1"/>
          </a:solidFill>
          <a:ln w="12700">
            <a:solidFill>
              <a:srgbClr val="F2ECE1"/>
            </a:solidFill>
            <a:prstDash val="solid"/>
          </a:ln>
        </p:spPr>
      </p:sp>
      <p:sp>
        <p:nvSpPr>
          <p:cNvPr id="13" name="Text 11"/>
          <p:cNvSpPr txBox="1"/>
          <p:nvPr/>
        </p:nvSpPr>
        <p:spPr>
          <a:xfrm>
            <a:off x="5907024" y="2953512"/>
            <a:ext cx="2596896" cy="347472"/>
          </a:xfrm>
          <a:prstGeom prst="rect">
            <a:avLst/>
          </a:prstGeom>
          <a:noFill/>
          <a:ln/>
        </p:spPr>
        <p:txBody>
          <a:bodyPr wrap="square" lIns="0" tIns="0" rIns="0" bIns="0" rtlCol="0" anchor="ctr"/>
          <a:lstStyle/>
          <a:p>
            <a:pPr indent="0" marL="0">
              <a:buNone/>
            </a:pPr>
            <a:r>
              <a:rPr lang="en-US" sz="1600" b="1" dirty="0">
                <a:solidFill>
                  <a:srgbClr val="D97A14"/>
                </a:solidFill>
                <a:latin typeface="Cambria" pitchFamily="34" charset="0"/>
                <a:ea typeface="Cambria" pitchFamily="34" charset="-122"/>
                <a:cs typeface="Cambria" pitchFamily="34" charset="-120"/>
              </a:rPr>
              <a:t>NOT EXECUTED here</a:t>
            </a:r>
            <a:endParaRPr lang="en-US" sz="1600" dirty="0"/>
          </a:p>
        </p:txBody>
      </p:sp>
      <p:sp>
        <p:nvSpPr>
          <p:cNvPr id="14" name="Text 12"/>
          <p:cNvSpPr txBox="1"/>
          <p:nvPr/>
        </p:nvSpPr>
        <p:spPr>
          <a:xfrm>
            <a:off x="5907024" y="3337560"/>
            <a:ext cx="2596896" cy="603504"/>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Microsoft Word and a PDF viewer were not run. LibreOffice 24.2 opened the Word files the research wrote and counted 5 pages for the 5 invitations.</a:t>
            </a:r>
            <a:endParaRPr lang="en-US" sz="950" dirty="0"/>
          </a:p>
        </p:txBody>
      </p:sp>
      <p:sp>
        <p:nvSpPr>
          <p:cNvPr id="15" name="Text 13"/>
          <p:cNvSpPr txBox="1"/>
          <p:nvPr/>
        </p:nvSpPr>
        <p:spPr>
          <a:xfrm>
            <a:off x="5724144" y="4114800"/>
            <a:ext cx="2962656" cy="402336"/>
          </a:xfrm>
          <a:prstGeom prst="rect">
            <a:avLst/>
          </a:prstGeom>
          <a:noFill/>
          <a:ln/>
        </p:spPr>
        <p:txBody>
          <a:bodyPr wrap="square" lIns="0" tIns="0" rIns="0" bIns="0" rtlCol="0" anchor="t"/>
          <a:lstStyle/>
          <a:p>
            <a:pPr indent="0" marL="0">
              <a:buNone/>
            </a:pPr>
            <a:r>
              <a:rPr lang="en-US" sz="800" i="1" dirty="0">
                <a:solidFill>
                  <a:srgbClr val="6E655C"/>
                </a:solidFill>
                <a:latin typeface="Calibri" pitchFamily="34" charset="0"/>
                <a:ea typeface="Calibri" pitchFamily="34" charset="-122"/>
                <a:cs typeface="Calibri" pitchFamily="34" charset="-120"/>
              </a:rPr>
              <a:t>Lines 1 to 21 of the program (the helper make_pdf(), which writes a small valid PDF 1.4 of text pages byte by byte, and the imports) are not shown.</a:t>
            </a:r>
            <a:endParaRPr lang="en-US" sz="800" dirty="0"/>
          </a:p>
        </p:txBody>
      </p:sp>
      <p:sp>
        <p:nvSpPr>
          <p:cNvPr id="16" name="Shape 14"/>
          <p:cNvSpPr/>
          <p:nvPr/>
        </p:nvSpPr>
        <p:spPr>
          <a:xfrm>
            <a:off x="457200" y="4636008"/>
            <a:ext cx="91440" cy="310896"/>
          </a:xfrm>
          <a:prstGeom prst="rect">
            <a:avLst/>
          </a:prstGeom>
          <a:solidFill>
            <a:srgbClr val="D97A14"/>
          </a:solidFill>
          <a:ln w="12700">
            <a:solidFill>
              <a:srgbClr val="D97A14"/>
            </a:solidFill>
            <a:prstDash val="solid"/>
          </a:ln>
        </p:spPr>
      </p:sp>
      <p:sp>
        <p:nvSpPr>
          <p:cNvPr id="17" name="Text 15"/>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Make the styles in code, break after every guest but the last.</a:t>
            </a:r>
            <a:endParaRPr lang="en-US" sz="1350" dirty="0"/>
          </a:p>
        </p:txBody>
      </p:sp>
      <p:sp>
        <p:nvSpPr>
          <p:cNvPr id="18" name="Text 16"/>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23 / 26</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The chapter in one map</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Six branches; the slides of each branch hold the examples</a:t>
            </a:r>
            <a:endParaRPr lang="en-US" sz="1300" dirty="0"/>
          </a:p>
        </p:txBody>
      </p:sp>
      <p:sp>
        <p:nvSpPr>
          <p:cNvPr id="6" name="Shape 4"/>
          <p:cNvSpPr/>
          <p:nvPr/>
        </p:nvSpPr>
        <p:spPr>
          <a:xfrm>
            <a:off x="3840480" y="2217420"/>
            <a:ext cx="1463040" cy="1051560"/>
          </a:xfrm>
          <a:prstGeom prst="roundRect">
            <a:avLst>
              <a:gd name="adj" fmla="val 6957"/>
            </a:avLst>
          </a:prstGeom>
          <a:solidFill>
            <a:srgbClr val="D97A14"/>
          </a:solidFill>
          <a:ln w="15875">
            <a:solidFill>
              <a:srgbClr val="D97A14"/>
            </a:solidFill>
            <a:prstDash val="solid"/>
          </a:ln>
        </p:spPr>
      </p:sp>
      <p:sp>
        <p:nvSpPr>
          <p:cNvPr id="7" name="Text 5"/>
          <p:cNvSpPr txBox="1"/>
          <p:nvPr/>
        </p:nvSpPr>
        <p:spPr>
          <a:xfrm>
            <a:off x="3913632" y="2311603"/>
            <a:ext cx="1316736" cy="86319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PDF and Word files are made for people; a program reads and writes them</a:t>
            </a:r>
            <a:endParaRPr lang="en-US" sz="1100" dirty="0"/>
          </a:p>
        </p:txBody>
      </p:sp>
      <p:sp>
        <p:nvSpPr>
          <p:cNvPr id="8" name="Shape 6"/>
          <p:cNvSpPr/>
          <p:nvPr/>
        </p:nvSpPr>
        <p:spPr>
          <a:xfrm>
            <a:off x="457200" y="1280160"/>
            <a:ext cx="3017520" cy="932688"/>
          </a:xfrm>
          <a:prstGeom prst="roundRect">
            <a:avLst>
              <a:gd name="adj" fmla="val 7843"/>
            </a:avLst>
          </a:prstGeom>
          <a:solidFill>
            <a:srgbClr val="F2ECE1"/>
          </a:solidFill>
          <a:ln w="15875">
            <a:solidFill>
              <a:srgbClr val="2F6D62"/>
            </a:solidFill>
            <a:prstDash val="solid"/>
          </a:ln>
        </p:spPr>
      </p:sp>
      <p:sp>
        <p:nvSpPr>
          <p:cNvPr id="9" name="Shape 7"/>
          <p:cNvSpPr/>
          <p:nvPr/>
        </p:nvSpPr>
        <p:spPr>
          <a:xfrm>
            <a:off x="3474720" y="1746504"/>
            <a:ext cx="365760" cy="996696"/>
          </a:xfrm>
          <a:prstGeom prst="line">
            <a:avLst/>
          </a:prstGeom>
          <a:noFill/>
          <a:ln w="15875">
            <a:solidFill>
              <a:srgbClr val="C9BFAE"/>
            </a:solidFill>
            <a:prstDash val="solid"/>
          </a:ln>
        </p:spPr>
      </p:sp>
      <p:sp>
        <p:nvSpPr>
          <p:cNvPr id="10" name="Text 8"/>
          <p:cNvSpPr txBox="1"/>
          <p:nvPr/>
        </p:nvSpPr>
        <p:spPr>
          <a:xfrm>
            <a:off x="548640" y="1325880"/>
            <a:ext cx="2834640" cy="171907"/>
          </a:xfrm>
          <a:prstGeom prst="rect">
            <a:avLst/>
          </a:prstGeom>
          <a:noFill/>
          <a:ln/>
        </p:spPr>
        <p:txBody>
          <a:bodyPr wrap="square" lIns="0" tIns="0" rIns="0" bIns="0" rtlCol="0" anchor="t"/>
          <a:lstStyle/>
          <a:p>
            <a:pPr algn="l" indent="0" marL="0">
              <a:buNone/>
            </a:pPr>
            <a:r>
              <a:rPr lang="en-US" sz="1000" b="1" dirty="0">
                <a:solidFill>
                  <a:srgbClr val="2F6D62"/>
                </a:solidFill>
                <a:latin typeface="Calibri" pitchFamily="34" charset="0"/>
                <a:ea typeface="Calibri" pitchFamily="34" charset="-122"/>
                <a:cs typeface="Calibri" pitchFamily="34" charset="-120"/>
              </a:rPr>
              <a:t>The PDF format</a:t>
            </a:r>
            <a:endParaRPr lang="en-US" sz="1000" dirty="0"/>
          </a:p>
        </p:txBody>
      </p:sp>
      <p:sp>
        <p:nvSpPr>
          <p:cNvPr id="11" name="Text 9"/>
          <p:cNvSpPr txBox="1"/>
          <p:nvPr/>
        </p:nvSpPr>
        <p:spPr>
          <a:xfrm>
            <a:off x="548640" y="1506931"/>
            <a:ext cx="2834640" cy="447142"/>
          </a:xfrm>
          <a:prstGeom prst="rect">
            <a:avLst/>
          </a:prstGeom>
          <a:noFill/>
          <a:ln/>
        </p:spPr>
        <p:txBody>
          <a:bodyPr wrap="square" lIns="0" tIns="0" rIns="0" bIns="0" rtlCol="0" anchor="t"/>
          <a:lstStyle/>
          <a:p>
            <a:pPr algn="l" indent="0" marL="0">
              <a:buNone/>
            </a:pPr>
            <a:r>
              <a:rPr lang="en-US" sz="850" dirty="0">
                <a:solidFill>
                  <a:srgbClr val="2B2622"/>
                </a:solidFill>
                <a:latin typeface="Calibri" pitchFamily="34" charset="0"/>
                <a:ea typeface="Calibri" pitchFamily="34" charset="-122"/>
                <a:cs typeface="Calibri" pitchFamily="34" charset="-120"/>
              </a:rPr>
              <a:t>A header, objects, a table and a trailer</a:t>
            </a:r>
            <a:endParaRPr lang="en-US" sz="850" dirty="0"/>
          </a:p>
          <a:p>
            <a:pPr algn="l" indent="0" marL="0">
              <a:buNone/>
            </a:pPr>
            <a:r>
              <a:rPr lang="en-US" sz="850" dirty="0">
                <a:solidFill>
                  <a:srgbClr val="2B2622"/>
                </a:solidFill>
                <a:latin typeface="Calibri" pitchFamily="34" charset="0"/>
                <a:ea typeface="Calibri" pitchFamily="34" charset="-122"/>
                <a:cs typeface="Calibri" pitchFamily="34" charset="-120"/>
              </a:rPr>
              <a:t>Text is drawing commands in stream order</a:t>
            </a:r>
            <a:endParaRPr lang="en-US" sz="850" dirty="0"/>
          </a:p>
          <a:p>
            <a:pPr algn="l" indent="0" marL="0">
              <a:buNone/>
            </a:pPr>
            <a:r>
              <a:rPr lang="en-US" sz="850" dirty="0">
                <a:solidFill>
                  <a:srgbClr val="2B2622"/>
                </a:solidFill>
                <a:latin typeface="Calibri" pitchFamily="34" charset="0"/>
                <a:ea typeface="Calibri" pitchFamily="34" charset="-122"/>
                <a:cs typeface="Calibri" pitchFamily="34" charset="-120"/>
              </a:rPr>
              <a:t>Text is not removed by a box</a:t>
            </a:r>
            <a:endParaRPr lang="en-US" sz="850" dirty="0"/>
          </a:p>
        </p:txBody>
      </p:sp>
      <p:sp>
        <p:nvSpPr>
          <p:cNvPr id="12" name="Shape 10"/>
          <p:cNvSpPr/>
          <p:nvPr/>
        </p:nvSpPr>
        <p:spPr>
          <a:xfrm>
            <a:off x="457200" y="2276856"/>
            <a:ext cx="3017520" cy="932688"/>
          </a:xfrm>
          <a:prstGeom prst="roundRect">
            <a:avLst>
              <a:gd name="adj" fmla="val 7843"/>
            </a:avLst>
          </a:prstGeom>
          <a:solidFill>
            <a:srgbClr val="F2ECE1"/>
          </a:solidFill>
          <a:ln w="15875">
            <a:solidFill>
              <a:srgbClr val="2F6D62"/>
            </a:solidFill>
            <a:prstDash val="solid"/>
          </a:ln>
        </p:spPr>
      </p:sp>
      <p:sp>
        <p:nvSpPr>
          <p:cNvPr id="13" name="Shape 11"/>
          <p:cNvSpPr/>
          <p:nvPr/>
        </p:nvSpPr>
        <p:spPr>
          <a:xfrm>
            <a:off x="3474720" y="2743200"/>
            <a:ext cx="365760" cy="0"/>
          </a:xfrm>
          <a:prstGeom prst="line">
            <a:avLst/>
          </a:prstGeom>
          <a:noFill/>
          <a:ln w="15875">
            <a:solidFill>
              <a:srgbClr val="C9BFAE"/>
            </a:solidFill>
            <a:prstDash val="solid"/>
          </a:ln>
        </p:spPr>
      </p:sp>
      <p:sp>
        <p:nvSpPr>
          <p:cNvPr id="14" name="Text 12"/>
          <p:cNvSpPr txBox="1"/>
          <p:nvPr/>
        </p:nvSpPr>
        <p:spPr>
          <a:xfrm>
            <a:off x="548640" y="2322576"/>
            <a:ext cx="2834640" cy="171907"/>
          </a:xfrm>
          <a:prstGeom prst="rect">
            <a:avLst/>
          </a:prstGeom>
          <a:noFill/>
          <a:ln/>
        </p:spPr>
        <p:txBody>
          <a:bodyPr wrap="square" lIns="0" tIns="0" rIns="0" bIns="0" rtlCol="0" anchor="t"/>
          <a:lstStyle/>
          <a:p>
            <a:pPr algn="l" indent="0" marL="0">
              <a:buNone/>
            </a:pPr>
            <a:r>
              <a:rPr lang="en-US" sz="1000" b="1" dirty="0">
                <a:solidFill>
                  <a:srgbClr val="2F6D62"/>
                </a:solidFill>
                <a:latin typeface="Calibri" pitchFamily="34" charset="0"/>
                <a:ea typeface="Calibri" pitchFamily="34" charset="-122"/>
                <a:cs typeface="Calibri" pitchFamily="34" charset="-120"/>
              </a:rPr>
              <a:t>Reading PDFs</a:t>
            </a:r>
            <a:endParaRPr lang="en-US" sz="1000" dirty="0"/>
          </a:p>
        </p:txBody>
      </p:sp>
      <p:sp>
        <p:nvSpPr>
          <p:cNvPr id="15" name="Text 13"/>
          <p:cNvSpPr txBox="1"/>
          <p:nvPr/>
        </p:nvSpPr>
        <p:spPr>
          <a:xfrm>
            <a:off x="548640" y="2503627"/>
            <a:ext cx="2834640" cy="447142"/>
          </a:xfrm>
          <a:prstGeom prst="rect">
            <a:avLst/>
          </a:prstGeom>
          <a:noFill/>
          <a:ln/>
        </p:spPr>
        <p:txBody>
          <a:bodyPr wrap="square" lIns="0" tIns="0" rIns="0" bIns="0" rtlCol="0" anchor="t"/>
          <a:lstStyle/>
          <a:p>
            <a:pPr algn="l" indent="0" marL="0">
              <a:buNone/>
            </a:pPr>
            <a:r>
              <a:rPr lang="en-US" sz="850" dirty="0">
                <a:solidFill>
                  <a:srgbClr val="2B2622"/>
                </a:solidFill>
                <a:latin typeface="Calibri" pitchFamily="34" charset="0"/>
                <a:ea typeface="Calibri" pitchFamily="34" charset="-122"/>
                <a:cs typeface="Calibri" pitchFamily="34" charset="-120"/>
              </a:rPr>
              <a:t>The pages of a PdfReader start at index 0</a:t>
            </a:r>
            <a:endParaRPr lang="en-US" sz="850" dirty="0"/>
          </a:p>
          <a:p>
            <a:pPr algn="l" indent="0" marL="0">
              <a:buNone/>
            </a:pPr>
            <a:r>
              <a:rPr lang="en-US" sz="850" dirty="0">
                <a:solidFill>
                  <a:srgbClr val="2B2622"/>
                </a:solidFill>
                <a:latin typeface="Calibri" pitchFamily="34" charset="0"/>
                <a:ea typeface="Calibri" pitchFamily="34" charset="-122"/>
                <a:cs typeface="Calibri" pitchFamily="34" charset="-120"/>
              </a:rPr>
              <a:t>Layout mode reads the page</a:t>
            </a:r>
            <a:endParaRPr lang="en-US" sz="850" dirty="0"/>
          </a:p>
          <a:p>
            <a:pPr algn="l" indent="0" marL="0">
              <a:buNone/>
            </a:pPr>
            <a:r>
              <a:rPr lang="en-US" sz="850" dirty="0">
                <a:solidFill>
                  <a:srgbClr val="2B2622"/>
                </a:solidFill>
                <a:latin typeface="Calibri" pitchFamily="34" charset="0"/>
                <a:ea typeface="Calibri" pitchFamily="34" charset="-122"/>
                <a:cs typeface="Calibri" pitchFamily="34" charset="-120"/>
              </a:rPr>
              <a:t>Images are read from a page</a:t>
            </a:r>
            <a:endParaRPr lang="en-US" sz="850" dirty="0"/>
          </a:p>
        </p:txBody>
      </p:sp>
      <p:sp>
        <p:nvSpPr>
          <p:cNvPr id="16" name="Shape 14"/>
          <p:cNvSpPr/>
          <p:nvPr/>
        </p:nvSpPr>
        <p:spPr>
          <a:xfrm>
            <a:off x="457200" y="3273552"/>
            <a:ext cx="3017520" cy="932688"/>
          </a:xfrm>
          <a:prstGeom prst="roundRect">
            <a:avLst>
              <a:gd name="adj" fmla="val 7843"/>
            </a:avLst>
          </a:prstGeom>
          <a:solidFill>
            <a:srgbClr val="F2ECE1"/>
          </a:solidFill>
          <a:ln w="15875">
            <a:solidFill>
              <a:srgbClr val="2F6D62"/>
            </a:solidFill>
            <a:prstDash val="solid"/>
          </a:ln>
        </p:spPr>
      </p:sp>
      <p:sp>
        <p:nvSpPr>
          <p:cNvPr id="17" name="Shape 15"/>
          <p:cNvSpPr/>
          <p:nvPr/>
        </p:nvSpPr>
        <p:spPr>
          <a:xfrm flipV="1">
            <a:off x="3474720" y="2743200"/>
            <a:ext cx="365760" cy="996696"/>
          </a:xfrm>
          <a:prstGeom prst="line">
            <a:avLst/>
          </a:prstGeom>
          <a:noFill/>
          <a:ln w="15875">
            <a:solidFill>
              <a:srgbClr val="C9BFAE"/>
            </a:solidFill>
            <a:prstDash val="solid"/>
          </a:ln>
        </p:spPr>
      </p:sp>
      <p:sp>
        <p:nvSpPr>
          <p:cNvPr id="18" name="Text 16"/>
          <p:cNvSpPr txBox="1"/>
          <p:nvPr/>
        </p:nvSpPr>
        <p:spPr>
          <a:xfrm>
            <a:off x="548640" y="3319272"/>
            <a:ext cx="2834640" cy="171907"/>
          </a:xfrm>
          <a:prstGeom prst="rect">
            <a:avLst/>
          </a:prstGeom>
          <a:noFill/>
          <a:ln/>
        </p:spPr>
        <p:txBody>
          <a:bodyPr wrap="square" lIns="0" tIns="0" rIns="0" bIns="0" rtlCol="0" anchor="t"/>
          <a:lstStyle/>
          <a:p>
            <a:pPr algn="l" indent="0" marL="0">
              <a:buNone/>
            </a:pPr>
            <a:r>
              <a:rPr lang="en-US" sz="1000" b="1" dirty="0">
                <a:solidFill>
                  <a:srgbClr val="2F6D62"/>
                </a:solidFill>
                <a:latin typeface="Calibri" pitchFamily="34" charset="0"/>
                <a:ea typeface="Calibri" pitchFamily="34" charset="-122"/>
                <a:cs typeface="Calibri" pitchFamily="34" charset="-120"/>
              </a:rPr>
              <a:t>Writing PDFs</a:t>
            </a:r>
            <a:endParaRPr lang="en-US" sz="1000" dirty="0"/>
          </a:p>
        </p:txBody>
      </p:sp>
      <p:sp>
        <p:nvSpPr>
          <p:cNvPr id="19" name="Text 17"/>
          <p:cNvSpPr txBox="1"/>
          <p:nvPr/>
        </p:nvSpPr>
        <p:spPr>
          <a:xfrm>
            <a:off x="548640" y="3500323"/>
            <a:ext cx="2834640" cy="447142"/>
          </a:xfrm>
          <a:prstGeom prst="rect">
            <a:avLst/>
          </a:prstGeom>
          <a:noFill/>
          <a:ln/>
        </p:spPr>
        <p:txBody>
          <a:bodyPr wrap="square" lIns="0" tIns="0" rIns="0" bIns="0" rtlCol="0" anchor="t"/>
          <a:lstStyle/>
          <a:p>
            <a:pPr algn="l" indent="0" marL="0">
              <a:buNone/>
            </a:pPr>
            <a:r>
              <a:rPr lang="en-US" sz="850" dirty="0">
                <a:solidFill>
                  <a:srgbClr val="2B2622"/>
                </a:solidFill>
                <a:latin typeface="Calibri" pitchFamily="34" charset="0"/>
                <a:ea typeface="Calibri" pitchFamily="34" charset="-122"/>
                <a:cs typeface="Calibri" pitchFamily="34" charset="-120"/>
              </a:rPr>
              <a:t>A tuple is a page range</a:t>
            </a:r>
            <a:endParaRPr lang="en-US" sz="850" dirty="0"/>
          </a:p>
          <a:p>
            <a:pPr algn="l" indent="0" marL="0">
              <a:buNone/>
            </a:pPr>
            <a:r>
              <a:rPr lang="en-US" sz="850" dirty="0">
                <a:solidFill>
                  <a:srgbClr val="2B2622"/>
                </a:solidFill>
                <a:latin typeface="Calibri" pitchFamily="34" charset="0"/>
                <a:ea typeface="Calibri" pitchFamily="34" charset="-122"/>
                <a:cs typeface="Calibri" pitchFamily="34" charset="-120"/>
              </a:rPr>
              <a:t>Rotation adds up</a:t>
            </a:r>
            <a:endParaRPr lang="en-US" sz="850" dirty="0"/>
          </a:p>
          <a:p>
            <a:pPr algn="l" indent="0" marL="0">
              <a:buNone/>
            </a:pPr>
            <a:r>
              <a:rPr lang="en-US" sz="850" dirty="0">
                <a:solidFill>
                  <a:srgbClr val="2B2622"/>
                </a:solidFill>
                <a:latin typeface="Calibri" pitchFamily="34" charset="0"/>
                <a:ea typeface="Calibri" pitchFamily="34" charset="-122"/>
                <a:cs typeface="Calibri" pitchFamily="34" charset="-120"/>
              </a:rPr>
              <a:t>AES-256 needs a package</a:t>
            </a:r>
            <a:endParaRPr lang="en-US" sz="850" dirty="0"/>
          </a:p>
        </p:txBody>
      </p:sp>
      <p:sp>
        <p:nvSpPr>
          <p:cNvPr id="20" name="Shape 18"/>
          <p:cNvSpPr/>
          <p:nvPr/>
        </p:nvSpPr>
        <p:spPr>
          <a:xfrm>
            <a:off x="5669280" y="1280160"/>
            <a:ext cx="3017520" cy="932688"/>
          </a:xfrm>
          <a:prstGeom prst="roundRect">
            <a:avLst>
              <a:gd name="adj" fmla="val 7843"/>
            </a:avLst>
          </a:prstGeom>
          <a:solidFill>
            <a:srgbClr val="F2ECE1"/>
          </a:solidFill>
          <a:ln w="15875">
            <a:solidFill>
              <a:srgbClr val="2F6D62"/>
            </a:solidFill>
            <a:prstDash val="solid"/>
          </a:ln>
        </p:spPr>
      </p:sp>
      <p:sp>
        <p:nvSpPr>
          <p:cNvPr id="21" name="Shape 19"/>
          <p:cNvSpPr/>
          <p:nvPr/>
        </p:nvSpPr>
        <p:spPr>
          <a:xfrm flipH="1">
            <a:off x="5303520" y="1746504"/>
            <a:ext cx="365760" cy="996696"/>
          </a:xfrm>
          <a:prstGeom prst="line">
            <a:avLst/>
          </a:prstGeom>
          <a:noFill/>
          <a:ln w="15875">
            <a:solidFill>
              <a:srgbClr val="C9BFAE"/>
            </a:solidFill>
            <a:prstDash val="solid"/>
          </a:ln>
        </p:spPr>
      </p:sp>
      <p:sp>
        <p:nvSpPr>
          <p:cNvPr id="22" name="Text 20"/>
          <p:cNvSpPr txBox="1"/>
          <p:nvPr/>
        </p:nvSpPr>
        <p:spPr>
          <a:xfrm>
            <a:off x="5760720" y="1325880"/>
            <a:ext cx="2834640" cy="171907"/>
          </a:xfrm>
          <a:prstGeom prst="rect">
            <a:avLst/>
          </a:prstGeom>
          <a:noFill/>
          <a:ln/>
        </p:spPr>
        <p:txBody>
          <a:bodyPr wrap="square" lIns="0" tIns="0" rIns="0" bIns="0" rtlCol="0" anchor="t"/>
          <a:lstStyle/>
          <a:p>
            <a:pPr algn="l" indent="0" marL="0">
              <a:buNone/>
            </a:pPr>
            <a:r>
              <a:rPr lang="en-US" sz="1000" b="1" dirty="0">
                <a:solidFill>
                  <a:srgbClr val="2F6D62"/>
                </a:solidFill>
                <a:latin typeface="Calibri" pitchFamily="34" charset="0"/>
                <a:ea typeface="Calibri" pitchFamily="34" charset="-122"/>
                <a:cs typeface="Calibri" pitchFamily="34" charset="-120"/>
              </a:rPr>
              <a:t>Word documents</a:t>
            </a:r>
            <a:endParaRPr lang="en-US" sz="1000" dirty="0"/>
          </a:p>
        </p:txBody>
      </p:sp>
      <p:sp>
        <p:nvSpPr>
          <p:cNvPr id="23" name="Text 21"/>
          <p:cNvSpPr txBox="1"/>
          <p:nvPr/>
        </p:nvSpPr>
        <p:spPr>
          <a:xfrm>
            <a:off x="5760720" y="1506931"/>
            <a:ext cx="2834640" cy="447142"/>
          </a:xfrm>
          <a:prstGeom prst="rect">
            <a:avLst/>
          </a:prstGeom>
          <a:noFill/>
          <a:ln/>
        </p:spPr>
        <p:txBody>
          <a:bodyPr wrap="square" lIns="0" tIns="0" rIns="0" bIns="0" rtlCol="0" anchor="t"/>
          <a:lstStyle/>
          <a:p>
            <a:pPr algn="l" indent="0" marL="0">
              <a:buNone/>
            </a:pPr>
            <a:r>
              <a:rPr lang="en-US" sz="850" dirty="0">
                <a:solidFill>
                  <a:srgbClr val="2B2622"/>
                </a:solidFill>
                <a:latin typeface="Calibri" pitchFamily="34" charset="0"/>
                <a:ea typeface="Calibri" pitchFamily="34" charset="-122"/>
                <a:cs typeface="Calibri" pitchFamily="34" charset="-120"/>
              </a:rPr>
              <a:t>A docx file is a ZIP archive of XML</a:t>
            </a:r>
            <a:endParaRPr lang="en-US" sz="850" dirty="0"/>
          </a:p>
          <a:p>
            <a:pPr algn="l" indent="0" marL="0">
              <a:buNone/>
            </a:pPr>
            <a:r>
              <a:rPr lang="en-US" sz="850" dirty="0">
                <a:solidFill>
                  <a:srgbClr val="2B2622"/>
                </a:solidFill>
                <a:latin typeface="Calibri" pitchFamily="34" charset="0"/>
                <a:ea typeface="Calibri" pitchFamily="34" charset="-122"/>
                <a:cs typeface="Calibri" pitchFamily="34" charset="-120"/>
              </a:rPr>
              <a:t>A paragraph holds runs</a:t>
            </a:r>
            <a:endParaRPr lang="en-US" sz="850" dirty="0"/>
          </a:p>
          <a:p>
            <a:pPr algn="l" indent="0" marL="0">
              <a:buNone/>
            </a:pPr>
            <a:r>
              <a:rPr lang="en-US" sz="850" dirty="0">
                <a:solidFill>
                  <a:srgbClr val="2B2622"/>
                </a:solidFill>
                <a:latin typeface="Calibri" pitchFamily="34" charset="0"/>
                <a:ea typeface="Calibri" pitchFamily="34" charset="-122"/>
                <a:cs typeface="Calibri" pitchFamily="34" charset="-120"/>
              </a:rPr>
              <a:t>A style has an exact name</a:t>
            </a:r>
            <a:endParaRPr lang="en-US" sz="850" dirty="0"/>
          </a:p>
        </p:txBody>
      </p:sp>
      <p:sp>
        <p:nvSpPr>
          <p:cNvPr id="24" name="Shape 22"/>
          <p:cNvSpPr/>
          <p:nvPr/>
        </p:nvSpPr>
        <p:spPr>
          <a:xfrm>
            <a:off x="5669280" y="2276856"/>
            <a:ext cx="3017520" cy="932688"/>
          </a:xfrm>
          <a:prstGeom prst="roundRect">
            <a:avLst>
              <a:gd name="adj" fmla="val 7843"/>
            </a:avLst>
          </a:prstGeom>
          <a:solidFill>
            <a:srgbClr val="F2ECE1"/>
          </a:solidFill>
          <a:ln w="15875">
            <a:solidFill>
              <a:srgbClr val="2F6D62"/>
            </a:solidFill>
            <a:prstDash val="solid"/>
          </a:ln>
        </p:spPr>
      </p:sp>
      <p:sp>
        <p:nvSpPr>
          <p:cNvPr id="25" name="Shape 23"/>
          <p:cNvSpPr/>
          <p:nvPr/>
        </p:nvSpPr>
        <p:spPr>
          <a:xfrm flipH="1">
            <a:off x="5303520" y="2743200"/>
            <a:ext cx="365760" cy="0"/>
          </a:xfrm>
          <a:prstGeom prst="line">
            <a:avLst/>
          </a:prstGeom>
          <a:noFill/>
          <a:ln w="15875">
            <a:solidFill>
              <a:srgbClr val="C9BFAE"/>
            </a:solidFill>
            <a:prstDash val="solid"/>
          </a:ln>
        </p:spPr>
      </p:sp>
      <p:sp>
        <p:nvSpPr>
          <p:cNvPr id="26" name="Text 24"/>
          <p:cNvSpPr txBox="1"/>
          <p:nvPr/>
        </p:nvSpPr>
        <p:spPr>
          <a:xfrm>
            <a:off x="5760720" y="2322576"/>
            <a:ext cx="2834640" cy="171907"/>
          </a:xfrm>
          <a:prstGeom prst="rect">
            <a:avLst/>
          </a:prstGeom>
          <a:noFill/>
          <a:ln/>
        </p:spPr>
        <p:txBody>
          <a:bodyPr wrap="square" lIns="0" tIns="0" rIns="0" bIns="0" rtlCol="0" anchor="t"/>
          <a:lstStyle/>
          <a:p>
            <a:pPr algn="l" indent="0" marL="0">
              <a:buNone/>
            </a:pPr>
            <a:r>
              <a:rPr lang="en-US" sz="1000" b="1" dirty="0">
                <a:solidFill>
                  <a:srgbClr val="2F6D62"/>
                </a:solidFill>
                <a:latin typeface="Calibri" pitchFamily="34" charset="0"/>
                <a:ea typeface="Calibri" pitchFamily="34" charset="-122"/>
                <a:cs typeface="Calibri" pitchFamily="34" charset="-120"/>
              </a:rPr>
              <a:t>Writing Word documents</a:t>
            </a:r>
            <a:endParaRPr lang="en-US" sz="1000" dirty="0"/>
          </a:p>
        </p:txBody>
      </p:sp>
      <p:sp>
        <p:nvSpPr>
          <p:cNvPr id="27" name="Text 25"/>
          <p:cNvSpPr txBox="1"/>
          <p:nvPr/>
        </p:nvSpPr>
        <p:spPr>
          <a:xfrm>
            <a:off x="5760720" y="2503627"/>
            <a:ext cx="2834640" cy="447142"/>
          </a:xfrm>
          <a:prstGeom prst="rect">
            <a:avLst/>
          </a:prstGeom>
          <a:noFill/>
          <a:ln/>
        </p:spPr>
        <p:txBody>
          <a:bodyPr wrap="square" lIns="0" tIns="0" rIns="0" bIns="0" rtlCol="0" anchor="t"/>
          <a:lstStyle/>
          <a:p>
            <a:pPr algn="l" indent="0" marL="0">
              <a:buNone/>
            </a:pPr>
            <a:r>
              <a:rPr lang="en-US" sz="850" dirty="0">
                <a:solidFill>
                  <a:srgbClr val="2B2622"/>
                </a:solidFill>
                <a:latin typeface="Calibri" pitchFamily="34" charset="0"/>
                <a:ea typeface="Calibri" pitchFamily="34" charset="-122"/>
                <a:cs typeface="Calibri" pitchFamily="34" charset="-120"/>
              </a:rPr>
              <a:t>Headings have levels 0 to 9</a:t>
            </a:r>
            <a:endParaRPr lang="en-US" sz="850" dirty="0"/>
          </a:p>
          <a:p>
            <a:pPr algn="l" indent="0" marL="0">
              <a:buNone/>
            </a:pPr>
            <a:r>
              <a:rPr lang="en-US" sz="850" dirty="0">
                <a:solidFill>
                  <a:srgbClr val="2B2622"/>
                </a:solidFill>
                <a:latin typeface="Calibri" pitchFamily="34" charset="0"/>
                <a:ea typeface="Calibri" pitchFamily="34" charset="-122"/>
                <a:cs typeface="Calibri" pitchFamily="34" charset="-120"/>
              </a:rPr>
              <a:t>Bold has three states</a:t>
            </a:r>
            <a:endParaRPr lang="en-US" sz="850" dirty="0"/>
          </a:p>
          <a:p>
            <a:pPr algn="l" indent="0" marL="0">
              <a:buNone/>
            </a:pPr>
            <a:r>
              <a:rPr lang="en-US" sz="850" dirty="0">
                <a:solidFill>
                  <a:srgbClr val="2B2622"/>
                </a:solidFill>
                <a:latin typeface="Calibri" pitchFamily="34" charset="0"/>
                <a:ea typeface="Calibri" pitchFamily="34" charset="-122"/>
                <a:cs typeface="Calibri" pitchFamily="34" charset="-120"/>
              </a:rPr>
              <a:t>A picture is added from a width</a:t>
            </a:r>
            <a:endParaRPr lang="en-US" sz="850" dirty="0"/>
          </a:p>
        </p:txBody>
      </p:sp>
      <p:sp>
        <p:nvSpPr>
          <p:cNvPr id="28" name="Shape 26"/>
          <p:cNvSpPr/>
          <p:nvPr/>
        </p:nvSpPr>
        <p:spPr>
          <a:xfrm>
            <a:off x="5669280" y="3273552"/>
            <a:ext cx="3017520" cy="932688"/>
          </a:xfrm>
          <a:prstGeom prst="roundRect">
            <a:avLst>
              <a:gd name="adj" fmla="val 7843"/>
            </a:avLst>
          </a:prstGeom>
          <a:solidFill>
            <a:srgbClr val="F2ECE1"/>
          </a:solidFill>
          <a:ln w="15875">
            <a:solidFill>
              <a:srgbClr val="2F6D62"/>
            </a:solidFill>
            <a:prstDash val="solid"/>
          </a:ln>
        </p:spPr>
      </p:sp>
      <p:sp>
        <p:nvSpPr>
          <p:cNvPr id="29" name="Shape 27"/>
          <p:cNvSpPr/>
          <p:nvPr/>
        </p:nvSpPr>
        <p:spPr>
          <a:xfrm flipH="1" flipV="1">
            <a:off x="5303520" y="2743200"/>
            <a:ext cx="365760" cy="996696"/>
          </a:xfrm>
          <a:prstGeom prst="line">
            <a:avLst/>
          </a:prstGeom>
          <a:noFill/>
          <a:ln w="15875">
            <a:solidFill>
              <a:srgbClr val="C9BFAE"/>
            </a:solidFill>
            <a:prstDash val="solid"/>
          </a:ln>
        </p:spPr>
      </p:sp>
      <p:sp>
        <p:nvSpPr>
          <p:cNvPr id="30" name="Text 28"/>
          <p:cNvSpPr txBox="1"/>
          <p:nvPr/>
        </p:nvSpPr>
        <p:spPr>
          <a:xfrm>
            <a:off x="5760720" y="3319272"/>
            <a:ext cx="2834640" cy="171907"/>
          </a:xfrm>
          <a:prstGeom prst="rect">
            <a:avLst/>
          </a:prstGeom>
          <a:noFill/>
          <a:ln/>
        </p:spPr>
        <p:txBody>
          <a:bodyPr wrap="square" lIns="0" tIns="0" rIns="0" bIns="0" rtlCol="0" anchor="t"/>
          <a:lstStyle/>
          <a:p>
            <a:pPr algn="l" indent="0" marL="0">
              <a:buNone/>
            </a:pPr>
            <a:r>
              <a:rPr lang="en-US" sz="1000" b="1" dirty="0">
                <a:solidFill>
                  <a:srgbClr val="2F6D62"/>
                </a:solidFill>
                <a:latin typeface="Calibri" pitchFamily="34" charset="0"/>
                <a:ea typeface="Calibri" pitchFamily="34" charset="-122"/>
                <a:cs typeface="Calibri" pitchFamily="34" charset="-120"/>
              </a:rPr>
              <a:t>Tools and practice</a:t>
            </a:r>
            <a:endParaRPr lang="en-US" sz="1000" dirty="0"/>
          </a:p>
        </p:txBody>
      </p:sp>
      <p:sp>
        <p:nvSpPr>
          <p:cNvPr id="31" name="Text 29"/>
          <p:cNvSpPr txBox="1"/>
          <p:nvPr/>
        </p:nvSpPr>
        <p:spPr>
          <a:xfrm>
            <a:off x="5760720" y="3500323"/>
            <a:ext cx="2834640" cy="447142"/>
          </a:xfrm>
          <a:prstGeom prst="rect">
            <a:avLst/>
          </a:prstGeom>
          <a:noFill/>
          <a:ln/>
        </p:spPr>
        <p:txBody>
          <a:bodyPr wrap="square" lIns="0" tIns="0" rIns="0" bIns="0" rtlCol="0" anchor="t"/>
          <a:lstStyle/>
          <a:p>
            <a:pPr algn="l" indent="0" marL="0">
              <a:buNone/>
            </a:pPr>
            <a:r>
              <a:rPr lang="en-US" sz="850" dirty="0">
                <a:solidFill>
                  <a:srgbClr val="2B2622"/>
                </a:solidFill>
                <a:latin typeface="Calibri" pitchFamily="34" charset="0"/>
                <a:ea typeface="Calibri" pitchFamily="34" charset="-122"/>
                <a:cs typeface="Calibri" pitchFamily="34" charset="-120"/>
              </a:rPr>
              <a:t>Install python-docx and import docx</a:t>
            </a:r>
            <a:endParaRPr lang="en-US" sz="850" dirty="0"/>
          </a:p>
          <a:p>
            <a:pPr algn="l" indent="0" marL="0">
              <a:buNone/>
            </a:pPr>
            <a:r>
              <a:rPr lang="en-US" sz="850" dirty="0">
                <a:solidFill>
                  <a:srgbClr val="2B2622"/>
                </a:solidFill>
                <a:latin typeface="Calibri" pitchFamily="34" charset="0"/>
                <a:ea typeface="Calibri" pitchFamily="34" charset="-122"/>
                <a:cs typeface="Calibri" pitchFamily="34" charset="-120"/>
              </a:rPr>
              <a:t>Project 12 joins the pages</a:t>
            </a:r>
            <a:endParaRPr lang="en-US" sz="850" dirty="0"/>
          </a:p>
          <a:p>
            <a:pPr algn="l" indent="0" marL="0">
              <a:buNone/>
            </a:pPr>
            <a:r>
              <a:rPr lang="en-US" sz="850" dirty="0">
                <a:solidFill>
                  <a:srgbClr val="2B2622"/>
                </a:solidFill>
                <a:latin typeface="Calibri" pitchFamily="34" charset="0"/>
                <a:ea typeface="Calibri" pitchFamily="34" charset="-122"/>
                <a:cs typeface="Calibri" pitchFamily="34" charset="-120"/>
              </a:rPr>
              <a:t>A dictionary is tried in both cases</a:t>
            </a:r>
            <a:endParaRPr lang="en-US" sz="850" dirty="0"/>
          </a:p>
        </p:txBody>
      </p:sp>
      <p:sp>
        <p:nvSpPr>
          <p:cNvPr id="32" name="Text 30"/>
          <p:cNvSpPr txBox="1"/>
          <p:nvPr/>
        </p:nvSpPr>
        <p:spPr>
          <a:xfrm>
            <a:off x="457200" y="4233672"/>
            <a:ext cx="8229600" cy="164592"/>
          </a:xfrm>
          <a:prstGeom prst="rect">
            <a:avLst/>
          </a:prstGeom>
          <a:noFill/>
          <a:ln/>
        </p:spPr>
        <p:txBody>
          <a:bodyPr wrap="square" lIns="0" tIns="0" rIns="0" bIns="0" rtlCol="0" anchor="t"/>
          <a:lstStyle/>
          <a:p>
            <a:pPr indent="0" marL="0">
              <a:buNone/>
            </a:pPr>
            <a:r>
              <a:rPr lang="en-US" sz="850" i="1" dirty="0">
                <a:solidFill>
                  <a:srgbClr val="6E655C"/>
                </a:solidFill>
                <a:latin typeface="Calibri" pitchFamily="34" charset="0"/>
                <a:ea typeface="Calibri" pitchFamily="34" charset="-122"/>
                <a:cs typeface="Calibri" pitchFamily="34" charset="-120"/>
              </a:rPr>
              <a:t>diagram PdfAndWordAtAGlance - TopicAndParts pattern, 80 of 88 words grounded in the chapter's text</a:t>
            </a:r>
            <a:endParaRPr lang="en-US" sz="850" dirty="0"/>
          </a:p>
        </p:txBody>
      </p:sp>
      <p:sp>
        <p:nvSpPr>
          <p:cNvPr id="33" name="Shape 31"/>
          <p:cNvSpPr/>
          <p:nvPr/>
        </p:nvSpPr>
        <p:spPr>
          <a:xfrm>
            <a:off x="457200" y="4636008"/>
            <a:ext cx="91440" cy="310896"/>
          </a:xfrm>
          <a:prstGeom prst="rect">
            <a:avLst/>
          </a:prstGeom>
          <a:solidFill>
            <a:srgbClr val="D97A14"/>
          </a:solidFill>
          <a:ln w="12700">
            <a:solidFill>
              <a:srgbClr val="D97A14"/>
            </a:solidFill>
            <a:prstDash val="solid"/>
          </a:ln>
        </p:spPr>
      </p:sp>
      <p:sp>
        <p:nvSpPr>
          <p:cNvPr id="34" name="Text 3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If a branch feels unproven, its slides hold the example.</a:t>
            </a:r>
            <a:endParaRPr lang="en-US" sz="1350" dirty="0"/>
          </a:p>
        </p:txBody>
      </p:sp>
      <p:sp>
        <p:nvSpPr>
          <p:cNvPr id="35" name="Text 3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24 / 26</a:t>
            </a:r>
            <a:endParaRPr lang="en-US" sz="11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800" b="1" dirty="0">
                <a:solidFill>
                  <a:srgbClr val="2B2622"/>
                </a:solidFill>
                <a:latin typeface="Cambria" pitchFamily="34" charset="0"/>
                <a:ea typeface="Cambria" pitchFamily="34" charset="-122"/>
                <a:cs typeface="Cambria" pitchFamily="34" charset="-120"/>
              </a:rPr>
              <a:t>Where to go from here</a:t>
            </a:r>
            <a:endParaRPr lang="en-US" sz="28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Every link was opened on the day this deck was made</a:t>
            </a:r>
            <a:endParaRPr lang="en-US" sz="1300" dirty="0"/>
          </a:p>
        </p:txBody>
      </p:sp>
      <p:sp>
        <p:nvSpPr>
          <p:cNvPr id="6" name="Text 4"/>
          <p:cNvSpPr txBox="1"/>
          <p:nvPr/>
        </p:nvSpPr>
        <p:spPr>
          <a:xfrm>
            <a:off x="457200" y="1280160"/>
            <a:ext cx="3954780" cy="274320"/>
          </a:xfrm>
          <a:prstGeom prst="rect">
            <a:avLst/>
          </a:prstGeom>
          <a:noFill/>
          <a:ln/>
        </p:spPr>
        <p:txBody>
          <a:bodyPr wrap="square" lIns="0" tIns="0" rIns="0" bIns="0" rtlCol="0" anchor="ctr"/>
          <a:lstStyle/>
          <a:p>
            <a:pPr indent="0" marL="0">
              <a:buNone/>
            </a:pPr>
            <a:r>
              <a:rPr lang="en-US" sz="1200" b="1" dirty="0">
                <a:solidFill>
                  <a:srgbClr val="2F6D62"/>
                </a:solidFill>
                <a:latin typeface="Cambria" pitchFamily="34" charset="0"/>
                <a:ea typeface="Cambria" pitchFamily="34" charset="-122"/>
                <a:cs typeface="Cambria" pitchFamily="34" charset="-120"/>
              </a:rPr>
              <a:t>Read</a:t>
            </a:r>
            <a:endParaRPr lang="en-US" sz="1200" dirty="0"/>
          </a:p>
        </p:txBody>
      </p:sp>
      <p:sp>
        <p:nvSpPr>
          <p:cNvPr id="7" name="Shape 5"/>
          <p:cNvSpPr/>
          <p:nvPr/>
        </p:nvSpPr>
        <p:spPr>
          <a:xfrm>
            <a:off x="493776" y="1627632"/>
            <a:ext cx="82296" cy="82296"/>
          </a:xfrm>
          <a:prstGeom prst="ellipse">
            <a:avLst/>
          </a:prstGeom>
          <a:solidFill>
            <a:srgbClr val="D97A14"/>
          </a:solidFill>
          <a:ln w="12700">
            <a:solidFill>
              <a:srgbClr val="D97A14"/>
            </a:solidFill>
            <a:prstDash val="solid"/>
          </a:ln>
        </p:spPr>
      </p:sp>
      <p:sp>
        <p:nvSpPr>
          <p:cNvPr id="8" name="Text 6"/>
          <p:cNvSpPr txBox="1"/>
          <p:nvPr/>
        </p:nvSpPr>
        <p:spPr>
          <a:xfrm>
            <a:off x="658368" y="1554480"/>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The textbook, chapter 17 - free online  </a:t>
            </a:r>
            <a:r>
              <a:rPr lang="en-US" sz="950" u="sng" dirty="0">
                <a:solidFill>
                  <a:srgbClr val="2F6D62"/>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automatetheboringstuff.com/3e/chapter17.html</a:t>
            </a:r>
            <a:endParaRPr lang="en-US" sz="950" dirty="0"/>
          </a:p>
        </p:txBody>
      </p:sp>
      <p:sp>
        <p:nvSpPr>
          <p:cNvPr id="9" name="Shape 7"/>
          <p:cNvSpPr/>
          <p:nvPr/>
        </p:nvSpPr>
        <p:spPr>
          <a:xfrm>
            <a:off x="493776" y="1956816"/>
            <a:ext cx="82296" cy="82296"/>
          </a:xfrm>
          <a:prstGeom prst="ellipse">
            <a:avLst/>
          </a:prstGeom>
          <a:solidFill>
            <a:srgbClr val="D97A14"/>
          </a:solidFill>
          <a:ln w="12700">
            <a:solidFill>
              <a:srgbClr val="D97A14"/>
            </a:solidFill>
            <a:prstDash val="solid"/>
          </a:ln>
        </p:spPr>
      </p:sp>
      <p:sp>
        <p:nvSpPr>
          <p:cNvPr id="10" name="Text 8"/>
          <p:cNvSpPr txBox="1"/>
          <p:nvPr/>
        </p:nvSpPr>
        <p:spPr>
          <a:xfrm>
            <a:off x="658368" y="1883664"/>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pypdf documentation  </a:t>
            </a:r>
            <a:r>
              <a:rPr lang="en-US" sz="950" u="sng" dirty="0">
                <a:solidFill>
                  <a:srgbClr val="2F6D62"/>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pypdf.readthedocs.io/en/stable/</a:t>
            </a:r>
            <a:endParaRPr lang="en-US" sz="950" dirty="0"/>
          </a:p>
        </p:txBody>
      </p:sp>
      <p:sp>
        <p:nvSpPr>
          <p:cNvPr id="11" name="Shape 9"/>
          <p:cNvSpPr/>
          <p:nvPr/>
        </p:nvSpPr>
        <p:spPr>
          <a:xfrm>
            <a:off x="493776" y="2286000"/>
            <a:ext cx="82296" cy="82296"/>
          </a:xfrm>
          <a:prstGeom prst="ellipse">
            <a:avLst/>
          </a:prstGeom>
          <a:solidFill>
            <a:srgbClr val="D97A14"/>
          </a:solidFill>
          <a:ln w="12700">
            <a:solidFill>
              <a:srgbClr val="D97A14"/>
            </a:solidFill>
            <a:prstDash val="solid"/>
          </a:ln>
        </p:spPr>
      </p:sp>
      <p:sp>
        <p:nvSpPr>
          <p:cNvPr id="12" name="Text 10"/>
          <p:cNvSpPr txBox="1"/>
          <p:nvPr/>
        </p:nvSpPr>
        <p:spPr>
          <a:xfrm>
            <a:off x="658368" y="2212848"/>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python-docx documentation  </a:t>
            </a:r>
            <a:r>
              <a:rPr lang="en-US" sz="950" u="sng" dirty="0">
                <a:solidFill>
                  <a:srgbClr val="2F6D62"/>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python-docx.readthedocs.io/en/latest/</a:t>
            </a:r>
            <a:endParaRPr lang="en-US" sz="950" dirty="0"/>
          </a:p>
        </p:txBody>
      </p:sp>
      <p:sp>
        <p:nvSpPr>
          <p:cNvPr id="13" name="Text 11"/>
          <p:cNvSpPr txBox="1"/>
          <p:nvPr/>
        </p:nvSpPr>
        <p:spPr>
          <a:xfrm>
            <a:off x="457200" y="2615184"/>
            <a:ext cx="3954780" cy="274320"/>
          </a:xfrm>
          <a:prstGeom prst="rect">
            <a:avLst/>
          </a:prstGeom>
          <a:noFill/>
          <a:ln/>
        </p:spPr>
        <p:txBody>
          <a:bodyPr wrap="square" lIns="0" tIns="0" rIns="0" bIns="0" rtlCol="0" anchor="ctr"/>
          <a:lstStyle/>
          <a:p>
            <a:pPr indent="0" marL="0">
              <a:buNone/>
            </a:pPr>
            <a:r>
              <a:rPr lang="en-US" sz="1200" b="1" dirty="0">
                <a:solidFill>
                  <a:srgbClr val="2F6D62"/>
                </a:solidFill>
                <a:latin typeface="Cambria" pitchFamily="34" charset="0"/>
                <a:ea typeface="Cambria" pitchFamily="34" charset="-122"/>
                <a:cs typeface="Cambria" pitchFamily="34" charset="-120"/>
              </a:rPr>
              <a:t>Reference</a:t>
            </a:r>
            <a:endParaRPr lang="en-US" sz="1200" dirty="0"/>
          </a:p>
        </p:txBody>
      </p:sp>
      <p:sp>
        <p:nvSpPr>
          <p:cNvPr id="14" name="Shape 12"/>
          <p:cNvSpPr/>
          <p:nvPr/>
        </p:nvSpPr>
        <p:spPr>
          <a:xfrm>
            <a:off x="493776" y="2962656"/>
            <a:ext cx="82296" cy="82296"/>
          </a:xfrm>
          <a:prstGeom prst="ellipse">
            <a:avLst/>
          </a:prstGeom>
          <a:solidFill>
            <a:srgbClr val="D97A14"/>
          </a:solidFill>
          <a:ln w="12700">
            <a:solidFill>
              <a:srgbClr val="D97A14"/>
            </a:solidFill>
            <a:prstDash val="solid"/>
          </a:ln>
        </p:spPr>
      </p:sp>
      <p:sp>
        <p:nvSpPr>
          <p:cNvPr id="15" name="Text 13"/>
          <p:cNvSpPr txBox="1"/>
          <p:nvPr/>
        </p:nvSpPr>
        <p:spPr>
          <a:xfrm>
            <a:off x="658368" y="2889504"/>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pypdf: encryption and decryption  </a:t>
            </a:r>
            <a:r>
              <a:rPr lang="en-US" sz="950" u="sng" dirty="0">
                <a:solidFill>
                  <a:srgbClr val="2F6D62"/>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pypdf.readthedocs.io/en/stable/user/encryption-decryption.html</a:t>
            </a:r>
            <a:endParaRPr lang="en-US" sz="950" dirty="0"/>
          </a:p>
        </p:txBody>
      </p:sp>
      <p:sp>
        <p:nvSpPr>
          <p:cNvPr id="16" name="Shape 14"/>
          <p:cNvSpPr/>
          <p:nvPr/>
        </p:nvSpPr>
        <p:spPr>
          <a:xfrm>
            <a:off x="493776" y="3291840"/>
            <a:ext cx="82296" cy="82296"/>
          </a:xfrm>
          <a:prstGeom prst="ellipse">
            <a:avLst/>
          </a:prstGeom>
          <a:solidFill>
            <a:srgbClr val="D97A14"/>
          </a:solidFill>
          <a:ln w="12700">
            <a:solidFill>
              <a:srgbClr val="D97A14"/>
            </a:solidFill>
            <a:prstDash val="solid"/>
          </a:ln>
        </p:spPr>
      </p:sp>
      <p:sp>
        <p:nvSpPr>
          <p:cNvPr id="17" name="Text 15"/>
          <p:cNvSpPr txBox="1"/>
          <p:nvPr/>
        </p:nvSpPr>
        <p:spPr>
          <a:xfrm>
            <a:off x="658368" y="3218688"/>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pypdf: merging PDF files  </a:t>
            </a:r>
            <a:r>
              <a:rPr lang="en-US" sz="950" u="sng" dirty="0">
                <a:solidFill>
                  <a:srgbClr val="2F6D62"/>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pypdf.readthedocs.io/en/stable/user/merging-pdfs.html</a:t>
            </a:r>
            <a:endParaRPr lang="en-US" sz="950" dirty="0"/>
          </a:p>
        </p:txBody>
      </p:sp>
      <p:sp>
        <p:nvSpPr>
          <p:cNvPr id="18" name="Shape 16"/>
          <p:cNvSpPr/>
          <p:nvPr/>
        </p:nvSpPr>
        <p:spPr>
          <a:xfrm>
            <a:off x="493776" y="3621024"/>
            <a:ext cx="82296" cy="82296"/>
          </a:xfrm>
          <a:prstGeom prst="ellipse">
            <a:avLst/>
          </a:prstGeom>
          <a:solidFill>
            <a:srgbClr val="D97A14"/>
          </a:solidFill>
          <a:ln w="12700">
            <a:solidFill>
              <a:srgbClr val="D97A14"/>
            </a:solidFill>
            <a:prstDash val="solid"/>
          </a:ln>
        </p:spPr>
      </p:sp>
      <p:sp>
        <p:nvSpPr>
          <p:cNvPr id="19" name="Text 17"/>
          <p:cNvSpPr txBox="1"/>
          <p:nvPr/>
        </p:nvSpPr>
        <p:spPr>
          <a:xfrm>
            <a:off x="658368" y="3547872"/>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pypdf: post-processing of extracted text  </a:t>
            </a:r>
            <a:r>
              <a:rPr lang="en-US" sz="950" u="sng" dirty="0">
                <a:solidFill>
                  <a:srgbClr val="2F6D62"/>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pypdf.readthedocs.io/en/latest/user/post-processing-in-text-extraction.html</a:t>
            </a:r>
            <a:endParaRPr lang="en-US" sz="950" dirty="0"/>
          </a:p>
        </p:txBody>
      </p:sp>
      <p:sp>
        <p:nvSpPr>
          <p:cNvPr id="20" name="Shape 18"/>
          <p:cNvSpPr/>
          <p:nvPr/>
        </p:nvSpPr>
        <p:spPr>
          <a:xfrm>
            <a:off x="493776" y="3950208"/>
            <a:ext cx="82296" cy="82296"/>
          </a:xfrm>
          <a:prstGeom prst="ellipse">
            <a:avLst/>
          </a:prstGeom>
          <a:solidFill>
            <a:srgbClr val="D97A14"/>
          </a:solidFill>
          <a:ln w="12700">
            <a:solidFill>
              <a:srgbClr val="D97A14"/>
            </a:solidFill>
            <a:prstDash val="solid"/>
          </a:ln>
        </p:spPr>
      </p:sp>
      <p:sp>
        <p:nvSpPr>
          <p:cNvPr id="21" name="Text 19"/>
          <p:cNvSpPr txBox="1"/>
          <p:nvPr/>
        </p:nvSpPr>
        <p:spPr>
          <a:xfrm>
            <a:off x="658368" y="3877056"/>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python-docx: working with styles  </a:t>
            </a:r>
            <a:r>
              <a:rPr lang="en-US" sz="950" u="sng" dirty="0">
                <a:solidFill>
                  <a:srgbClr val="2F6D62"/>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python-docx.readthedocs.io/en/latest/user/styles-using.html</a:t>
            </a:r>
            <a:endParaRPr lang="en-US" sz="950" dirty="0"/>
          </a:p>
        </p:txBody>
      </p:sp>
      <p:sp>
        <p:nvSpPr>
          <p:cNvPr id="22" name="Text 20"/>
          <p:cNvSpPr txBox="1"/>
          <p:nvPr/>
        </p:nvSpPr>
        <p:spPr>
          <a:xfrm>
            <a:off x="4732020" y="1280160"/>
            <a:ext cx="3954780" cy="274320"/>
          </a:xfrm>
          <a:prstGeom prst="rect">
            <a:avLst/>
          </a:prstGeom>
          <a:noFill/>
          <a:ln/>
        </p:spPr>
        <p:txBody>
          <a:bodyPr wrap="square" lIns="0" tIns="0" rIns="0" bIns="0" rtlCol="0" anchor="ctr"/>
          <a:lstStyle/>
          <a:p>
            <a:pPr indent="0" marL="0">
              <a:buNone/>
            </a:pPr>
            <a:r>
              <a:rPr lang="en-US" sz="1200" b="1" dirty="0">
                <a:solidFill>
                  <a:srgbClr val="2F6D62"/>
                </a:solidFill>
                <a:latin typeface="Cambria" pitchFamily="34" charset="0"/>
                <a:ea typeface="Cambria" pitchFamily="34" charset="-122"/>
                <a:cs typeface="Cambria" pitchFamily="34" charset="-120"/>
              </a:rPr>
              <a:t>History and standards</a:t>
            </a:r>
            <a:endParaRPr lang="en-US" sz="1200" dirty="0"/>
          </a:p>
        </p:txBody>
      </p:sp>
      <p:sp>
        <p:nvSpPr>
          <p:cNvPr id="23" name="Shape 21"/>
          <p:cNvSpPr/>
          <p:nvPr/>
        </p:nvSpPr>
        <p:spPr>
          <a:xfrm>
            <a:off x="4768596" y="1627632"/>
            <a:ext cx="82296" cy="82296"/>
          </a:xfrm>
          <a:prstGeom prst="ellipse">
            <a:avLst/>
          </a:prstGeom>
          <a:solidFill>
            <a:srgbClr val="D97A14"/>
          </a:solidFill>
          <a:ln w="12700">
            <a:solidFill>
              <a:srgbClr val="D97A14"/>
            </a:solidFill>
            <a:prstDash val="solid"/>
          </a:ln>
        </p:spPr>
      </p:sp>
      <p:sp>
        <p:nvSpPr>
          <p:cNvPr id="24" name="Text 22"/>
          <p:cNvSpPr txBox="1"/>
          <p:nvPr/>
        </p:nvSpPr>
        <p:spPr>
          <a:xfrm>
            <a:off x="4933188" y="1554480"/>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John Warnock and Camelot (Wikipedia)  </a:t>
            </a:r>
            <a:r>
              <a:rPr lang="en-US" sz="950" u="sng" dirty="0">
                <a:solidFill>
                  <a:srgbClr val="2F6D62"/>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en.wikipedia.org/wiki/John_Warnock</a:t>
            </a:r>
            <a:endParaRPr lang="en-US" sz="950" dirty="0"/>
          </a:p>
        </p:txBody>
      </p:sp>
      <p:sp>
        <p:nvSpPr>
          <p:cNvPr id="25" name="Shape 23"/>
          <p:cNvSpPr/>
          <p:nvPr/>
        </p:nvSpPr>
        <p:spPr>
          <a:xfrm>
            <a:off x="4768596" y="1956816"/>
            <a:ext cx="82296" cy="82296"/>
          </a:xfrm>
          <a:prstGeom prst="ellipse">
            <a:avLst/>
          </a:prstGeom>
          <a:solidFill>
            <a:srgbClr val="D97A14"/>
          </a:solidFill>
          <a:ln w="12700">
            <a:solidFill>
              <a:srgbClr val="D97A14"/>
            </a:solidFill>
            <a:prstDash val="solid"/>
          </a:ln>
        </p:spPr>
      </p:sp>
      <p:sp>
        <p:nvSpPr>
          <p:cNvPr id="26" name="Text 24"/>
          <p:cNvSpPr txBox="1"/>
          <p:nvPr/>
        </p:nvSpPr>
        <p:spPr>
          <a:xfrm>
            <a:off x="4933188" y="1883664"/>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ZIP, the file format (Wikipedia)  </a:t>
            </a:r>
            <a:r>
              <a:rPr lang="en-US" sz="950" u="sng" dirty="0">
                <a:solidFill>
                  <a:srgbClr val="2F6D62"/>
                </a:solidFill>
                <a:latin typeface="Calibri" pitchFamily="34" charset="0"/>
                <a:ea typeface="Calibri" pitchFamily="34" charset="-122"/>
                <a:cs typeface="Calibri" pitchFamily="34" charset="-120"/>
                <a:hlinkClick r:id="rId9" invalidUrl="" action="" tgtFrame="" tooltip="" history="1" highlightClick="0" endSnd="0">
                  <a:extLst>
                    <a:ext uri="{A12FA001-AC4F-418D-AE19-62706E023703}">
                      <ahyp:hlinkClr xmlns:ahyp="http://schemas.microsoft.com/office/drawing/2018/hyperlinkcolor" val="tx"/>
                    </a:ext>
                  </a:extLst>
                </a:hlinkClick>
              </a:rPr>
              <a:t>en.wikipedia.org/wiki/Zip_(file_format)</a:t>
            </a:r>
            <a:endParaRPr lang="en-US" sz="950" dirty="0"/>
          </a:p>
        </p:txBody>
      </p:sp>
      <p:sp>
        <p:nvSpPr>
          <p:cNvPr id="27" name="Shape 25"/>
          <p:cNvSpPr/>
          <p:nvPr/>
        </p:nvSpPr>
        <p:spPr>
          <a:xfrm>
            <a:off x="4768596" y="2286000"/>
            <a:ext cx="82296" cy="82296"/>
          </a:xfrm>
          <a:prstGeom prst="ellipse">
            <a:avLst/>
          </a:prstGeom>
          <a:solidFill>
            <a:srgbClr val="D97A14"/>
          </a:solidFill>
          <a:ln w="12700">
            <a:solidFill>
              <a:srgbClr val="D97A14"/>
            </a:solidFill>
            <a:prstDash val="solid"/>
          </a:ln>
        </p:spPr>
      </p:sp>
      <p:sp>
        <p:nvSpPr>
          <p:cNvPr id="28" name="Text 26"/>
          <p:cNvSpPr txBox="1"/>
          <p:nvPr/>
        </p:nvSpPr>
        <p:spPr>
          <a:xfrm>
            <a:off x="4933188" y="2212848"/>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Office Open XML (Wikipedia)  </a:t>
            </a:r>
            <a:r>
              <a:rPr lang="en-US" sz="950" u="sng" dirty="0">
                <a:solidFill>
                  <a:srgbClr val="2F6D62"/>
                </a:solidFill>
                <a:latin typeface="Calibri" pitchFamily="34" charset="0"/>
                <a:ea typeface="Calibri" pitchFamily="34" charset="-122"/>
                <a:cs typeface="Calibri" pitchFamily="34" charset="-120"/>
                <a:hlinkClick r:id="rId10" invalidUrl="" action="" tgtFrame="" tooltip="" history="1" highlightClick="0" endSnd="0">
                  <a:extLst>
                    <a:ext uri="{A12FA001-AC4F-418D-AE19-62706E023703}">
                      <ahyp:hlinkClr xmlns:ahyp="http://schemas.microsoft.com/office/drawing/2018/hyperlinkcolor" val="tx"/>
                    </a:ext>
                  </a:extLst>
                </a:hlinkClick>
              </a:rPr>
              <a:t>en.wikipedia.org/wiki/Office_Open_XML</a:t>
            </a:r>
            <a:endParaRPr lang="en-US" sz="950" dirty="0"/>
          </a:p>
        </p:txBody>
      </p:sp>
      <p:sp>
        <p:nvSpPr>
          <p:cNvPr id="29" name="Shape 27"/>
          <p:cNvSpPr/>
          <p:nvPr/>
        </p:nvSpPr>
        <p:spPr>
          <a:xfrm>
            <a:off x="4768596" y="2615184"/>
            <a:ext cx="82296" cy="82296"/>
          </a:xfrm>
          <a:prstGeom prst="ellipse">
            <a:avLst/>
          </a:prstGeom>
          <a:solidFill>
            <a:srgbClr val="D97A14"/>
          </a:solidFill>
          <a:ln w="12700">
            <a:solidFill>
              <a:srgbClr val="D97A14"/>
            </a:solidFill>
            <a:prstDash val="solid"/>
          </a:ln>
        </p:spPr>
      </p:sp>
      <p:sp>
        <p:nvSpPr>
          <p:cNvPr id="30" name="Text 28"/>
          <p:cNvSpPr txBox="1"/>
          <p:nvPr/>
        </p:nvSpPr>
        <p:spPr>
          <a:xfrm>
            <a:off x="4933188" y="2542032"/>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PDF 1.7, ISO 32000-1 (Library of Congress)  </a:t>
            </a:r>
            <a:r>
              <a:rPr lang="en-US" sz="950" u="sng" dirty="0">
                <a:solidFill>
                  <a:srgbClr val="2F6D62"/>
                </a:solidFill>
                <a:latin typeface="Calibri" pitchFamily="34" charset="0"/>
                <a:ea typeface="Calibri" pitchFamily="34" charset="-122"/>
                <a:cs typeface="Calibri" pitchFamily="34" charset="-120"/>
                <a:hlinkClick r:id="rId11" invalidUrl="" action="" tgtFrame="" tooltip="" history="1" highlightClick="0" endSnd="0">
                  <a:extLst>
                    <a:ext uri="{A12FA001-AC4F-418D-AE19-62706E023703}">
                      <ahyp:hlinkClr xmlns:ahyp="http://schemas.microsoft.com/office/drawing/2018/hyperlinkcolor" val="tx"/>
                    </a:ext>
                  </a:extLst>
                </a:hlinkClick>
              </a:rPr>
              <a:t>loc.gov/preservation/digital/formats/fdd/fdd000277.shtml</a:t>
            </a:r>
            <a:endParaRPr lang="en-US" sz="950" dirty="0"/>
          </a:p>
        </p:txBody>
      </p:sp>
      <p:sp>
        <p:nvSpPr>
          <p:cNvPr id="31" name="Shape 29"/>
          <p:cNvSpPr/>
          <p:nvPr/>
        </p:nvSpPr>
        <p:spPr>
          <a:xfrm>
            <a:off x="4768596" y="2944368"/>
            <a:ext cx="82296" cy="82296"/>
          </a:xfrm>
          <a:prstGeom prst="ellipse">
            <a:avLst/>
          </a:prstGeom>
          <a:solidFill>
            <a:srgbClr val="D97A14"/>
          </a:solidFill>
          <a:ln w="12700">
            <a:solidFill>
              <a:srgbClr val="D97A14"/>
            </a:solidFill>
            <a:prstDash val="solid"/>
          </a:ln>
        </p:spPr>
      </p:sp>
      <p:sp>
        <p:nvSpPr>
          <p:cNvPr id="32" name="Text 30"/>
          <p:cNvSpPr txBox="1"/>
          <p:nvPr/>
        </p:nvSpPr>
        <p:spPr>
          <a:xfrm>
            <a:off x="4933188" y="2871216"/>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History of pypdf: four names  </a:t>
            </a:r>
            <a:r>
              <a:rPr lang="en-US" sz="950" u="sng" dirty="0">
                <a:solidFill>
                  <a:srgbClr val="2F6D62"/>
                </a:solidFill>
                <a:latin typeface="Calibri" pitchFamily="34" charset="0"/>
                <a:ea typeface="Calibri" pitchFamily="34" charset="-122"/>
                <a:cs typeface="Calibri" pitchFamily="34" charset="-120"/>
                <a:hlinkClick r:id="rId12" invalidUrl="" action="" tgtFrame="" tooltip="" history="1" highlightClick="0" endSnd="0">
                  <a:extLst>
                    <a:ext uri="{A12FA001-AC4F-418D-AE19-62706E023703}">
                      <ahyp:hlinkClr xmlns:ahyp="http://schemas.microsoft.com/office/drawing/2018/hyperlinkcolor" val="tx"/>
                    </a:ext>
                  </a:extLst>
                </a:hlinkClick>
              </a:rPr>
              <a:t>pypdf.readthedocs.io/en/stable/meta/history.html</a:t>
            </a:r>
            <a:endParaRPr lang="en-US" sz="950" dirty="0"/>
          </a:p>
        </p:txBody>
      </p:sp>
      <p:sp>
        <p:nvSpPr>
          <p:cNvPr id="33" name="Shape 31"/>
          <p:cNvSpPr/>
          <p:nvPr/>
        </p:nvSpPr>
        <p:spPr>
          <a:xfrm>
            <a:off x="4768596" y="3273552"/>
            <a:ext cx="82296" cy="82296"/>
          </a:xfrm>
          <a:prstGeom prst="ellipse">
            <a:avLst/>
          </a:prstGeom>
          <a:solidFill>
            <a:srgbClr val="D97A14"/>
          </a:solidFill>
          <a:ln w="12700">
            <a:solidFill>
              <a:srgbClr val="D97A14"/>
            </a:solidFill>
            <a:prstDash val="solid"/>
          </a:ln>
        </p:spPr>
      </p:sp>
      <p:sp>
        <p:nvSpPr>
          <p:cNvPr id="34" name="Text 32"/>
          <p:cNvSpPr txBox="1"/>
          <p:nvPr/>
        </p:nvSpPr>
        <p:spPr>
          <a:xfrm>
            <a:off x="4933188" y="3200400"/>
            <a:ext cx="3753612" cy="310896"/>
          </a:xfrm>
          <a:prstGeom prst="rect">
            <a:avLst/>
          </a:prstGeom>
          <a:noFill/>
          <a:ln/>
        </p:spPr>
        <p:txBody>
          <a:bodyPr wrap="square" lIns="0" tIns="0" rIns="0" bIns="0" rtlCol="0" anchor="t"/>
          <a:lstStyle/>
          <a:p>
            <a:pPr indent="0" marL="0">
              <a:buNone/>
            </a:pPr>
            <a:r>
              <a:rPr lang="en-US" sz="950" dirty="0">
                <a:solidFill>
                  <a:srgbClr val="2B2622"/>
                </a:solidFill>
                <a:latin typeface="Calibri" pitchFamily="34" charset="0"/>
                <a:ea typeface="Calibri" pitchFamily="34" charset="-122"/>
                <a:cs typeface="Calibri" pitchFamily="34" charset="-120"/>
              </a:rPr>
              <a:t>The docx package on PyPI (do not install)  </a:t>
            </a:r>
            <a:r>
              <a:rPr lang="en-US" sz="950" u="sng" dirty="0">
                <a:solidFill>
                  <a:srgbClr val="2F6D62"/>
                </a:solidFill>
                <a:latin typeface="Calibri" pitchFamily="34" charset="0"/>
                <a:ea typeface="Calibri" pitchFamily="34" charset="-122"/>
                <a:cs typeface="Calibri" pitchFamily="34" charset="-120"/>
                <a:hlinkClick r:id="rId13" invalidUrl="" action="" tgtFrame="" tooltip="" history="1" highlightClick="0" endSnd="0">
                  <a:extLst>
                    <a:ext uri="{A12FA001-AC4F-418D-AE19-62706E023703}">
                      <ahyp:hlinkClr xmlns:ahyp="http://schemas.microsoft.com/office/drawing/2018/hyperlinkcolor" val="tx"/>
                    </a:ext>
                  </a:extLst>
                </a:hlinkClick>
              </a:rPr>
              <a:t>pypi.org/project/docx/</a:t>
            </a:r>
            <a:endParaRPr lang="en-US" sz="950" dirty="0"/>
          </a:p>
        </p:txBody>
      </p:sp>
      <p:sp>
        <p:nvSpPr>
          <p:cNvPr id="35" name="Shape 33"/>
          <p:cNvSpPr/>
          <p:nvPr/>
        </p:nvSpPr>
        <p:spPr>
          <a:xfrm>
            <a:off x="457200" y="4636008"/>
            <a:ext cx="91440" cy="310896"/>
          </a:xfrm>
          <a:prstGeom prst="rect">
            <a:avLst/>
          </a:prstGeom>
          <a:solidFill>
            <a:srgbClr val="D97A14"/>
          </a:solidFill>
          <a:ln w="12700">
            <a:solidFill>
              <a:srgbClr val="D97A14"/>
            </a:solidFill>
            <a:prstDash val="solid"/>
          </a:ln>
        </p:spPr>
      </p:sp>
      <p:sp>
        <p:nvSpPr>
          <p:cNvPr id="36" name="Text 34"/>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Textbook, package documentation and history, opened the day this deck was built.</a:t>
            </a:r>
            <a:endParaRPr lang="en-US" sz="1350" dirty="0"/>
          </a:p>
        </p:txBody>
      </p:sp>
      <p:sp>
        <p:nvSpPr>
          <p:cNvPr id="37" name="Text 35"/>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25 / 26</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AF6EF"/>
        </a:solidFill>
      </p:bgPr>
    </p:bg>
    <p:spTree>
      <p:nvGrpSpPr>
        <p:cNvPr id="1" name=""/>
        <p:cNvGrpSpPr/>
        <p:nvPr/>
      </p:nvGrpSpPr>
      <p:grpSpPr>
        <a:xfrm>
          <a:off x="0" y="0"/>
          <a:ext cx="0" cy="0"/>
          <a:chOff x="0" y="0"/>
          <a:chExt cx="0" cy="0"/>
        </a:xfrm>
      </p:grpSpPr>
      <p:sp>
        <p:nvSpPr>
          <p:cNvPr id="2" name="Shape 0"/>
          <p:cNvSpPr/>
          <p:nvPr/>
        </p:nvSpPr>
        <p:spPr>
          <a:xfrm>
            <a:off x="457200" y="347472"/>
            <a:ext cx="566928" cy="384048"/>
          </a:xfrm>
          <a:prstGeom prst="roundRect">
            <a:avLst>
              <a:gd name="adj" fmla="val 19048"/>
            </a:avLst>
          </a:prstGeom>
          <a:solidFill>
            <a:srgbClr val="D97A14"/>
          </a:solidFill>
          <a:ln w="12700">
            <a:solidFill>
              <a:srgbClr val="D97A14"/>
            </a:solidFill>
            <a:prstDash val="solid"/>
          </a:ln>
        </p:spPr>
      </p:sp>
      <p:sp>
        <p:nvSpPr>
          <p:cNvPr id="3" name="Text 1"/>
          <p:cNvSpPr txBox="1"/>
          <p:nvPr/>
        </p:nvSpPr>
        <p:spPr>
          <a:xfrm>
            <a:off x="457200" y="347472"/>
            <a:ext cx="56692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ourier New" pitchFamily="34" charset="0"/>
                <a:ea typeface="Courier New" pitchFamily="34" charset="-122"/>
                <a:cs typeface="Courier New" pitchFamily="34" charset="-120"/>
              </a:rPr>
              <a:t>&gt;&gt;&gt;</a:t>
            </a:r>
            <a:endParaRPr lang="en-US" sz="1200" dirty="0"/>
          </a:p>
        </p:txBody>
      </p:sp>
      <p:sp>
        <p:nvSpPr>
          <p:cNvPr id="4" name="Text 2"/>
          <p:cNvSpPr txBox="1"/>
          <p:nvPr/>
        </p:nvSpPr>
        <p:spPr>
          <a:xfrm>
            <a:off x="1143000" y="237744"/>
            <a:ext cx="7543800" cy="566928"/>
          </a:xfrm>
          <a:prstGeom prst="rect">
            <a:avLst/>
          </a:prstGeom>
          <a:noFill/>
          <a:ln/>
        </p:spPr>
        <p:txBody>
          <a:bodyPr wrap="square" lIns="0" tIns="0" rIns="0" bIns="0" rtlCol="0" anchor="ctr"/>
          <a:lstStyle/>
          <a:p>
            <a:pPr indent="0" marL="0">
              <a:buNone/>
            </a:pPr>
            <a:r>
              <a:rPr lang="en-US" sz="2500" b="1" dirty="0">
                <a:solidFill>
                  <a:srgbClr val="2B2622"/>
                </a:solidFill>
                <a:latin typeface="Cambria" pitchFamily="34" charset="0"/>
                <a:ea typeface="Cambria" pitchFamily="34" charset="-122"/>
                <a:cs typeface="Cambria" pitchFamily="34" charset="-120"/>
              </a:rPr>
              <a:t>What you should now be able to say</a:t>
            </a:r>
            <a:endParaRPr lang="en-US" sz="2500" dirty="0"/>
          </a:p>
        </p:txBody>
      </p:sp>
      <p:sp>
        <p:nvSpPr>
          <p:cNvPr id="5" name="Text 3"/>
          <p:cNvSpPr txBox="1"/>
          <p:nvPr/>
        </p:nvSpPr>
        <p:spPr>
          <a:xfrm>
            <a:off x="1143000" y="786384"/>
            <a:ext cx="7543800" cy="310896"/>
          </a:xfrm>
          <a:prstGeom prst="rect">
            <a:avLst/>
          </a:prstGeom>
          <a:noFill/>
          <a:ln/>
        </p:spPr>
        <p:txBody>
          <a:bodyPr wrap="square" lIns="0" tIns="0" rIns="0" bIns="0" rtlCol="0" anchor="ctr"/>
          <a:lstStyle/>
          <a:p>
            <a:pPr indent="0" marL="0">
              <a:buNone/>
            </a:pPr>
            <a:r>
              <a:rPr lang="en-US" sz="1300" i="1" dirty="0">
                <a:solidFill>
                  <a:srgbClr val="6E655C"/>
                </a:solidFill>
                <a:latin typeface="Calibri" pitchFamily="34" charset="0"/>
                <a:ea typeface="Calibri" pitchFamily="34" charset="-122"/>
                <a:cs typeface="Calibri" pitchFamily="34" charset="-120"/>
              </a:rPr>
              <a:t>Four claims, each carried by a result you saw printed</a:t>
            </a:r>
            <a:endParaRPr lang="en-US" sz="1300" dirty="0"/>
          </a:p>
        </p:txBody>
      </p:sp>
      <p:sp>
        <p:nvSpPr>
          <p:cNvPr id="6" name="Text 4"/>
          <p:cNvSpPr txBox="1"/>
          <p:nvPr/>
        </p:nvSpPr>
        <p:spPr>
          <a:xfrm>
            <a:off x="548640" y="1371600"/>
            <a:ext cx="8046720" cy="2194560"/>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2B2622"/>
                </a:solidFill>
                <a:latin typeface="Calibri" pitchFamily="34" charset="0"/>
                <a:ea typeface="Calibri" pitchFamily="34" charset="-122"/>
                <a:cs typeface="Calibri" pitchFamily="34" charset="-120"/>
              </a:rPr>
              <a:t>A PDF stores drawing commands: text comes out in stream order, and a black box hides nothing.</a:t>
            </a:r>
            <a:endParaRPr lang="en-US" sz="1500" dirty="0"/>
          </a:p>
          <a:p>
            <a:pPr marL="342900" indent="-342900">
              <a:spcAft>
                <a:spcPts val="400"/>
              </a:spcAft>
              <a:buSzPct val="100000"/>
              <a:buChar char="•"/>
            </a:pPr>
            <a:r>
              <a:rPr lang="en-US" sz="1500" dirty="0">
                <a:solidFill>
                  <a:srgbClr val="2B2622"/>
                </a:solidFill>
                <a:latin typeface="Calibri" pitchFamily="34" charset="0"/>
                <a:ea typeface="Calibri" pitchFamily="34" charset="-122"/>
                <a:cs typeface="Calibri" pitchFamily="34" charset="-120"/>
              </a:rPr>
              <a:t>Pass pages= to merge(), ask for AES-256 by name, and read what decrypt() returns.</a:t>
            </a:r>
            <a:endParaRPr lang="en-US" sz="1500" dirty="0"/>
          </a:p>
          <a:p>
            <a:pPr marL="342900" indent="-342900">
              <a:spcAft>
                <a:spcPts val="400"/>
              </a:spcAft>
              <a:buSzPct val="100000"/>
              <a:buChar char="•"/>
            </a:pPr>
            <a:r>
              <a:rPr lang="en-US" sz="1500" dirty="0">
                <a:solidFill>
                  <a:srgbClr val="2B2622"/>
                </a:solidFill>
                <a:latin typeface="Calibri" pitchFamily="34" charset="0"/>
                <a:ea typeface="Calibri" pitchFamily="34" charset="-122"/>
                <a:cs typeface="Calibri" pitchFamily="34" charset="-120"/>
              </a:rPr>
              <a:t>A .docx file is a ZIP of XML: paragraphs hold runs, and bold has three states.</a:t>
            </a:r>
            <a:endParaRPr lang="en-US" sz="1500" dirty="0"/>
          </a:p>
          <a:p>
            <a:pPr marL="342900" indent="-342900">
              <a:spcAft>
                <a:spcPts val="400"/>
              </a:spcAft>
              <a:buSzPct val="100000"/>
              <a:buChar char="•"/>
            </a:pPr>
            <a:r>
              <a:rPr lang="en-US" sz="1500" dirty="0">
                <a:solidFill>
                  <a:srgbClr val="2B2622"/>
                </a:solidFill>
                <a:latin typeface="Calibri" pitchFamily="34" charset="0"/>
                <a:ea typeface="Calibri" pitchFamily="34" charset="-122"/>
                <a:cs typeface="Calibri" pitchFamily="34" charset="-120"/>
              </a:rPr>
              <a:t>A style needs its exact name and the right kind; strike belongs to run.font.</a:t>
            </a:r>
            <a:endParaRPr lang="en-US" sz="1500" dirty="0"/>
          </a:p>
        </p:txBody>
      </p:sp>
      <p:sp>
        <p:nvSpPr>
          <p:cNvPr id="7" name="Shape 5"/>
          <p:cNvSpPr/>
          <p:nvPr/>
        </p:nvSpPr>
        <p:spPr>
          <a:xfrm>
            <a:off x="548640" y="3749040"/>
            <a:ext cx="1887779" cy="530352"/>
          </a:xfrm>
          <a:prstGeom prst="roundRect">
            <a:avLst>
              <a:gd name="adj" fmla="val 50000"/>
            </a:avLst>
          </a:prstGeom>
          <a:solidFill>
            <a:srgbClr val="F2ECE1"/>
          </a:solidFill>
          <a:ln w="12700">
            <a:solidFill>
              <a:srgbClr val="D97A14"/>
            </a:solidFill>
            <a:prstDash val="solid"/>
          </a:ln>
        </p:spPr>
      </p:sp>
      <p:sp>
        <p:nvSpPr>
          <p:cNvPr id="8" name="Text 6"/>
          <p:cNvSpPr txBox="1"/>
          <p:nvPr/>
        </p:nvSpPr>
        <p:spPr>
          <a:xfrm>
            <a:off x="548640" y="3749040"/>
            <a:ext cx="1887779" cy="530352"/>
          </a:xfrm>
          <a:prstGeom prst="rect">
            <a:avLst/>
          </a:prstGeom>
          <a:noFill/>
          <a:ln/>
        </p:spPr>
        <p:txBody>
          <a:bodyPr wrap="square" lIns="0" tIns="0" rIns="0" bIns="0" rtlCol="0" anchor="ctr"/>
          <a:lstStyle/>
          <a:p>
            <a:pPr algn="ctr" indent="0" marL="0">
              <a:buNone/>
            </a:pPr>
            <a:r>
              <a:rPr lang="en-US" sz="1300" b="1" dirty="0">
                <a:solidFill>
                  <a:srgbClr val="2B2622"/>
                </a:solidFill>
                <a:latin typeface="Calibri" pitchFamily="34" charset="0"/>
                <a:ea typeface="Calibri" pitchFamily="34" charset="-122"/>
                <a:cs typeface="Calibri" pitchFamily="34" charset="-120"/>
              </a:rPr>
              <a:t>32 rows run</a:t>
            </a:r>
            <a:endParaRPr lang="en-US" sz="1300" dirty="0"/>
          </a:p>
        </p:txBody>
      </p:sp>
      <p:sp>
        <p:nvSpPr>
          <p:cNvPr id="9" name="Shape 7"/>
          <p:cNvSpPr/>
          <p:nvPr/>
        </p:nvSpPr>
        <p:spPr>
          <a:xfrm>
            <a:off x="2637587" y="3749040"/>
            <a:ext cx="2434590" cy="530352"/>
          </a:xfrm>
          <a:prstGeom prst="roundRect">
            <a:avLst>
              <a:gd name="adj" fmla="val 50000"/>
            </a:avLst>
          </a:prstGeom>
          <a:solidFill>
            <a:srgbClr val="F2ECE1"/>
          </a:solidFill>
          <a:ln w="12700">
            <a:solidFill>
              <a:srgbClr val="D97A14"/>
            </a:solidFill>
            <a:prstDash val="solid"/>
          </a:ln>
        </p:spPr>
      </p:sp>
      <p:sp>
        <p:nvSpPr>
          <p:cNvPr id="10" name="Text 8"/>
          <p:cNvSpPr txBox="1"/>
          <p:nvPr/>
        </p:nvSpPr>
        <p:spPr>
          <a:xfrm>
            <a:off x="2637587" y="3749040"/>
            <a:ext cx="2434590" cy="530352"/>
          </a:xfrm>
          <a:prstGeom prst="rect">
            <a:avLst/>
          </a:prstGeom>
          <a:noFill/>
          <a:ln/>
        </p:spPr>
        <p:txBody>
          <a:bodyPr wrap="square" lIns="0" tIns="0" rIns="0" bIns="0" rtlCol="0" anchor="ctr"/>
          <a:lstStyle/>
          <a:p>
            <a:pPr algn="ctr" indent="0" marL="0">
              <a:buNone/>
            </a:pPr>
            <a:r>
              <a:rPr lang="en-US" sz="1300" b="1" dirty="0">
                <a:solidFill>
                  <a:srgbClr val="2B2622"/>
                </a:solidFill>
                <a:latin typeface="Calibri" pitchFamily="34" charset="0"/>
                <a:ea typeface="Calibri" pitchFamily="34" charset="-122"/>
                <a:cs typeface="Calibri" pitchFamily="34" charset="-120"/>
              </a:rPr>
              <a:t>27 programs run</a:t>
            </a:r>
            <a:endParaRPr lang="en-US" sz="1300" dirty="0"/>
          </a:p>
        </p:txBody>
      </p:sp>
      <p:sp>
        <p:nvSpPr>
          <p:cNvPr id="11" name="Shape 9"/>
          <p:cNvSpPr/>
          <p:nvPr/>
        </p:nvSpPr>
        <p:spPr>
          <a:xfrm>
            <a:off x="5273345" y="3749040"/>
            <a:ext cx="1751076" cy="530352"/>
          </a:xfrm>
          <a:prstGeom prst="roundRect">
            <a:avLst>
              <a:gd name="adj" fmla="val 50000"/>
            </a:avLst>
          </a:prstGeom>
          <a:solidFill>
            <a:srgbClr val="F2ECE1"/>
          </a:solidFill>
          <a:ln w="12700">
            <a:solidFill>
              <a:srgbClr val="D97A14"/>
            </a:solidFill>
            <a:prstDash val="solid"/>
          </a:ln>
        </p:spPr>
      </p:sp>
      <p:sp>
        <p:nvSpPr>
          <p:cNvPr id="12" name="Text 10"/>
          <p:cNvSpPr txBox="1"/>
          <p:nvPr/>
        </p:nvSpPr>
        <p:spPr>
          <a:xfrm>
            <a:off x="5273345" y="3749040"/>
            <a:ext cx="1751076" cy="530352"/>
          </a:xfrm>
          <a:prstGeom prst="rect">
            <a:avLst/>
          </a:prstGeom>
          <a:noFill/>
          <a:ln/>
        </p:spPr>
        <p:txBody>
          <a:bodyPr wrap="square" lIns="0" tIns="0" rIns="0" bIns="0" rtlCol="0" anchor="ctr"/>
          <a:lstStyle/>
          <a:p>
            <a:pPr algn="ctr" indent="0" marL="0">
              <a:buNone/>
            </a:pPr>
            <a:r>
              <a:rPr lang="en-US" sz="1300" b="1" dirty="0">
                <a:solidFill>
                  <a:srgbClr val="2B2622"/>
                </a:solidFill>
                <a:latin typeface="Calibri" pitchFamily="34" charset="0"/>
                <a:ea typeface="Calibri" pitchFamily="34" charset="-122"/>
                <a:cs typeface="Calibri" pitchFamily="34" charset="-120"/>
              </a:rPr>
              <a:t>8 diagrams</a:t>
            </a:r>
            <a:endParaRPr lang="en-US" sz="1300" dirty="0"/>
          </a:p>
        </p:txBody>
      </p:sp>
      <p:sp>
        <p:nvSpPr>
          <p:cNvPr id="13" name="Shape 11"/>
          <p:cNvSpPr/>
          <p:nvPr/>
        </p:nvSpPr>
        <p:spPr>
          <a:xfrm>
            <a:off x="457200" y="4636008"/>
            <a:ext cx="91440" cy="310896"/>
          </a:xfrm>
          <a:prstGeom prst="rect">
            <a:avLst/>
          </a:prstGeom>
          <a:solidFill>
            <a:srgbClr val="D97A14"/>
          </a:solidFill>
          <a:ln w="12700">
            <a:solidFill>
              <a:srgbClr val="D97A14"/>
            </a:solidFill>
            <a:prstDash val="solid"/>
          </a:ln>
        </p:spPr>
      </p:sp>
      <p:sp>
        <p:nvSpPr>
          <p:cNvPr id="14" name="Text 12"/>
          <p:cNvSpPr txBox="1"/>
          <p:nvPr/>
        </p:nvSpPr>
        <p:spPr>
          <a:xfrm>
            <a:off x="658368" y="4599432"/>
            <a:ext cx="6949440" cy="384048"/>
          </a:xfrm>
          <a:prstGeom prst="rect">
            <a:avLst/>
          </a:prstGeom>
          <a:noFill/>
          <a:ln/>
        </p:spPr>
        <p:txBody>
          <a:bodyPr wrap="square" lIns="0" tIns="0" rIns="0" bIns="0" rtlCol="0" anchor="ctr"/>
          <a:lstStyle/>
          <a:p>
            <a:pPr indent="0" marL="0">
              <a:buNone/>
            </a:pPr>
            <a:r>
              <a:rPr lang="en-US" sz="1350" b="1" i="1" dirty="0">
                <a:solidFill>
                  <a:srgbClr val="2B2622"/>
                </a:solidFill>
                <a:latin typeface="Cambria" pitchFamily="34" charset="0"/>
                <a:ea typeface="Cambria" pitchFamily="34" charset="-122"/>
                <a:cs typeface="Cambria" pitchFamily="34" charset="-120"/>
              </a:rPr>
              <a:t>Questions are welcome; bring a PDF or a Word file to open.</a:t>
            </a:r>
            <a:endParaRPr lang="en-US" sz="1350" dirty="0"/>
          </a:p>
        </p:txBody>
      </p:sp>
      <p:sp>
        <p:nvSpPr>
          <p:cNvPr id="15" name="Text 13"/>
          <p:cNvSpPr txBox="1"/>
          <p:nvPr/>
        </p:nvSpPr>
        <p:spPr>
          <a:xfrm>
            <a:off x="7863840" y="4645152"/>
            <a:ext cx="868680" cy="310896"/>
          </a:xfrm>
          <a:prstGeom prst="rect">
            <a:avLst/>
          </a:prstGeom>
          <a:noFill/>
          <a:ln/>
        </p:spPr>
        <p:txBody>
          <a:bodyPr wrap="square" lIns="0" tIns="0" rIns="0" bIns="0" rtlCol="0" anchor="ctr"/>
          <a:lstStyle/>
          <a:p>
            <a:pPr algn="r" indent="0" marL="0">
              <a:buNone/>
            </a:pPr>
            <a:r>
              <a:rPr lang="en-US" sz="1100" dirty="0">
                <a:solidFill>
                  <a:srgbClr val="6E655C"/>
                </a:solidFill>
                <a:latin typeface="Calibri" pitchFamily="34" charset="0"/>
                <a:ea typeface="Calibri" pitchFamily="34" charset="-122"/>
                <a:cs typeface="Calibri" pitchFamily="34" charset="-120"/>
              </a:rPr>
              <a:t>26 / 26</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SEN0414 Chapter 17 - PDF and Word Documents</dc:title>
  <dc:subject>PptxGenJS Presentation</dc:subject>
  <dc:creator>Yusuf Altunel</dc:creator>
  <cp:lastModifiedBy>Yusuf Altunel</cp:lastModifiedBy>
  <cp:revision>1</cp:revision>
  <dcterms:created xsi:type="dcterms:W3CDTF">2026-10-12T20:01:19Z</dcterms:created>
  <dcterms:modified xsi:type="dcterms:W3CDTF">2026-10-12T20:01:19Z</dcterms:modified>
  <cp:version>1.0.0</cp:version>
</cp:coreProperties>
</file>