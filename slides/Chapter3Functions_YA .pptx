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256" r:id="rId5"/>
    <p:sldId id="261" r:id="rId6"/>
    <p:sldId id="342" r:id="rId7"/>
    <p:sldId id="343" r:id="rId8"/>
    <p:sldId id="301" r:id="rId9"/>
    <p:sldId id="286" r:id="rId10"/>
    <p:sldId id="335" r:id="rId11"/>
    <p:sldId id="269" r:id="rId12"/>
    <p:sldId id="344" r:id="rId13"/>
    <p:sldId id="336" r:id="rId14"/>
    <p:sldId id="303" r:id="rId15"/>
    <p:sldId id="337" r:id="rId16"/>
    <p:sldId id="288" r:id="rId17"/>
    <p:sldId id="345" r:id="rId18"/>
    <p:sldId id="338" r:id="rId19"/>
    <p:sldId id="284" r:id="rId20"/>
    <p:sldId id="283" r:id="rId21"/>
    <p:sldId id="346" r:id="rId22"/>
    <p:sldId id="306" r:id="rId23"/>
    <p:sldId id="347" r:id="rId24"/>
    <p:sldId id="348" r:id="rId25"/>
    <p:sldId id="349" r:id="rId26"/>
    <p:sldId id="339" r:id="rId27"/>
    <p:sldId id="267" r:id="rId28"/>
    <p:sldId id="350" r:id="rId29"/>
    <p:sldId id="351" r:id="rId30"/>
    <p:sldId id="352" r:id="rId31"/>
    <p:sldId id="340" r:id="rId32"/>
    <p:sldId id="291" r:id="rId33"/>
    <p:sldId id="353" r:id="rId34"/>
    <p:sldId id="354" r:id="rId35"/>
    <p:sldId id="355" r:id="rId36"/>
    <p:sldId id="341" r:id="rId37"/>
    <p:sldId id="356" r:id="rId38"/>
    <p:sldId id="299" r:id="rId39"/>
    <p:sldId id="279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71A1"/>
    <a:srgbClr val="FFD542"/>
    <a:srgbClr val="FFD74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07" autoAdjust="0"/>
  </p:normalViewPr>
  <p:slideViewPr>
    <p:cSldViewPr snapToGrid="0">
      <p:cViewPr varScale="1">
        <p:scale>
          <a:sx n="86" d="100"/>
          <a:sy n="86" d="100"/>
        </p:scale>
        <p:origin x="1382" y="53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341"/>
    </p:cViewPr>
  </p:sorterViewPr>
  <p:notesViewPr>
    <p:cSldViewPr snapToGrid="0">
      <p:cViewPr>
        <p:scale>
          <a:sx n="50" d="100"/>
          <a:sy n="50" d="100"/>
        </p:scale>
        <p:origin x="2640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3/4/2022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F815A-5A10-42A8-9FEC-3938D2D9BA48}" type="datetimeFigureOut">
              <a:rPr lang="en-US" noProof="0" smtClean="0"/>
              <a:t>3/4/2022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9DAF-093F-4482-AA38-346E9A2DEE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393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26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16444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52961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35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9417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03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649315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18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685810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25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34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3404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37617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477760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617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59288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889235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616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47546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644963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0294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40985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age Bullets">
    <p:bg>
      <p:bgPr>
        <a:blipFill dpi="0" rotWithShape="1">
          <a:blip r:embed="rId2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2041BFF2-BC3B-3145-940D-004809E5A80A}"/>
              </a:ext>
            </a:extLst>
          </p:cNvPr>
          <p:cNvSpPr>
            <a:spLocks noChangeAspect="1"/>
          </p:cNvSpPr>
          <p:nvPr userDrawn="1"/>
        </p:nvSpPr>
        <p:spPr>
          <a:xfrm>
            <a:off x="2287944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9906F5C-A183-DF45-AE48-C1D611CDC98D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9CFF2EB-CD95-EA4D-810E-C9F8127071FE}"/>
              </a:ext>
            </a:extLst>
          </p:cNvPr>
          <p:cNvSpPr>
            <a:spLocks noChangeAspect="1"/>
          </p:cNvSpPr>
          <p:nvPr userDrawn="1"/>
        </p:nvSpPr>
        <p:spPr>
          <a:xfrm>
            <a:off x="5729647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E120266-68E0-504A-B1C8-F3369F5AF7C0}"/>
              </a:ext>
            </a:extLst>
          </p:cNvPr>
          <p:cNvSpPr>
            <a:spLocks noChangeAspect="1"/>
          </p:cNvSpPr>
          <p:nvPr userDrawn="1"/>
        </p:nvSpPr>
        <p:spPr>
          <a:xfrm>
            <a:off x="7450499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B4A810-8614-AD44-B362-CE45C8C679CE}"/>
              </a:ext>
            </a:extLst>
          </p:cNvPr>
          <p:cNvSpPr>
            <a:spLocks noChangeAspect="1"/>
          </p:cNvSpPr>
          <p:nvPr userDrawn="1"/>
        </p:nvSpPr>
        <p:spPr>
          <a:xfrm>
            <a:off x="56933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44556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86259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7111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62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4455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26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7111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5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4071" y="4683350"/>
            <a:ext cx="162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0B1F8F6-73A5-F142-8A28-094DA998B5F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4841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F78A887E-89A6-244C-8AA4-484FE535876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535133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52B18661-99A8-214A-A089-09F11F1EB5C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255424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69D5F0B5-DE10-D646-9244-6B4289E7793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975716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72B87CCD-6D17-844B-87EF-F8BC69D79B0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696006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5" name="Straight Connector 24" descr="First divider line on slide">
            <a:extLst>
              <a:ext uri="{FF2B5EF4-FFF2-40B4-BE49-F238E27FC236}">
                <a16:creationId xmlns:a16="http://schemas.microsoft.com/office/drawing/2014/main" id="{402BCAE3-72EC-4098-A211-3555BFDE9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994285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 descr="Second divider line on slide">
            <a:extLst>
              <a:ext uri="{FF2B5EF4-FFF2-40B4-BE49-F238E27FC236}">
                <a16:creationId xmlns:a16="http://schemas.microsoft.com/office/drawing/2014/main" id="{94A08494-9C0E-4AAF-BE9A-166FE994D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15156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 descr="Third divider line on slide">
            <a:extLst>
              <a:ext uri="{FF2B5EF4-FFF2-40B4-BE49-F238E27FC236}">
                <a16:creationId xmlns:a16="http://schemas.microsoft.com/office/drawing/2014/main" id="{698FE6A1-AEF7-4FD7-A689-908A6B9CC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36026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 descr="Fourth divider line on slide">
            <a:extLst>
              <a:ext uri="{FF2B5EF4-FFF2-40B4-BE49-F238E27FC236}">
                <a16:creationId xmlns:a16="http://schemas.microsoft.com/office/drawing/2014/main" id="{636DD6E3-6313-40D8-B03E-60E2E5A6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6897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0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x Image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1366589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2931225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4495861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79014" y="86714"/>
            <a:ext cx="4656272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013" y="496139"/>
            <a:ext cx="4656273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343" y="432000"/>
            <a:ext cx="3527657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6212" y="3582825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6212" y="5147461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6212" y="1369128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6212" y="2933764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6212" y="4498400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76212" y="1975094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89FAF0-BF60-4AB9-A62E-595008DC4646}"/>
              </a:ext>
            </a:extLst>
          </p:cNvPr>
          <p:cNvGrpSpPr/>
          <p:nvPr userDrawn="1"/>
        </p:nvGrpSpPr>
        <p:grpSpPr>
          <a:xfrm>
            <a:off x="1419000" y="2269753"/>
            <a:ext cx="2310885" cy="3011457"/>
            <a:chOff x="1892000" y="2269752"/>
            <a:chExt cx="3081180" cy="3011457"/>
          </a:xfrm>
        </p:grpSpPr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9" name="Freeform: Shape 19">
              <a:extLst>
                <a:ext uri="{FF2B5EF4-FFF2-40B4-BE49-F238E27FC236}">
                  <a16:creationId xmlns:a16="http://schemas.microsoft.com/office/drawing/2014/main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0" name="Freeform: Shape 23">
              <a:extLst>
                <a:ext uri="{FF2B5EF4-FFF2-40B4-BE49-F238E27FC236}">
                  <a16:creationId xmlns:a16="http://schemas.microsoft.com/office/drawing/2014/main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54406" y="4835817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554406" y="3271181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54406" y="1706545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36" name="Straight Connector 35" descr="First divider line on slide">
            <a:extLst>
              <a:ext uri="{FF2B5EF4-FFF2-40B4-BE49-F238E27FC236}">
                <a16:creationId xmlns:a16="http://schemas.microsoft.com/office/drawing/2014/main" id="{A140998F-B877-4BDC-843C-0071F5066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2616579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 descr="Second divider line on slide">
            <a:extLst>
              <a:ext uri="{FF2B5EF4-FFF2-40B4-BE49-F238E27FC236}">
                <a16:creationId xmlns:a16="http://schemas.microsoft.com/office/drawing/2014/main" id="{2084D353-BE8A-4AAA-8BEC-B71CEE9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4109914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15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Column Imag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139FC94F-AE30-1048-843A-295FA302AC56}"/>
              </a:ext>
            </a:extLst>
          </p:cNvPr>
          <p:cNvSpPr>
            <a:spLocks noChangeAspect="1"/>
          </p:cNvSpPr>
          <p:nvPr userDrawn="1"/>
        </p:nvSpPr>
        <p:spPr>
          <a:xfrm>
            <a:off x="622061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37F3B8-BD34-EA4F-A1C0-4006B373159E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F33D-645D-E940-8FF4-6178A32A19A2}"/>
              </a:ext>
            </a:extLst>
          </p:cNvPr>
          <p:cNvSpPr>
            <a:spLocks noChangeAspect="1"/>
          </p:cNvSpPr>
          <p:nvPr userDrawn="1"/>
        </p:nvSpPr>
        <p:spPr>
          <a:xfrm>
            <a:off x="1799072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3589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7226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359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722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6B6D0B6-0884-CD46-A1B0-9FED03C2262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4353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AAC12A0-90C3-984B-A8FC-7EB4AA432E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5430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1565942-8816-734B-BEEE-1258F13B66D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66120" y="2358091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3" name="Straight Connector 22" descr="First divider line on slide">
            <a:extLst>
              <a:ext uri="{FF2B5EF4-FFF2-40B4-BE49-F238E27FC236}">
                <a16:creationId xmlns:a16="http://schemas.microsoft.com/office/drawing/2014/main" id="{82D5D2B4-7BAC-4C27-8D68-12365C7E7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9719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econd divider line on slide">
            <a:extLst>
              <a:ext uri="{FF2B5EF4-FFF2-40B4-BE49-F238E27FC236}">
                <a16:creationId xmlns:a16="http://schemas.microsoft.com/office/drawing/2014/main" id="{7D9203C1-910E-4AFC-95E0-13BF40D08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81538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257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5157165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500252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2331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47631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764878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85" r:id="rId8"/>
    <p:sldLayoutId id="2147483683" r:id="rId9"/>
    <p:sldLayoutId id="2147483668" r:id="rId10"/>
    <p:sldLayoutId id="2147483682" r:id="rId11"/>
    <p:sldLayoutId id="2147483670" r:id="rId12"/>
    <p:sldLayoutId id="2147483653" r:id="rId13"/>
    <p:sldLayoutId id="2147483673" r:id="rId14"/>
    <p:sldLayoutId id="2147483674" r:id="rId15"/>
    <p:sldLayoutId id="2147483676" r:id="rId16"/>
    <p:sldLayoutId id="2147483677" r:id="rId17"/>
    <p:sldLayoutId id="2147483654" r:id="rId18"/>
    <p:sldLayoutId id="2147483660" r:id="rId19"/>
    <p:sldLayoutId id="2147483661" r:id="rId20"/>
    <p:sldLayoutId id="2147483678" r:id="rId21"/>
    <p:sldLayoutId id="2147483686" r:id="rId22"/>
    <p:sldLayoutId id="2147483687" r:id="rId23"/>
    <p:sldLayoutId id="2147483689" r:id="rId24"/>
    <p:sldLayoutId id="2147483690" r:id="rId25"/>
    <p:sldLayoutId id="2147483688" r:id="rId2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jpe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10" Type="http://schemas.openxmlformats.org/officeDocument/2006/relationships/image" Target="../media/image26.jpe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.jpe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.jpe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.jpe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39.gif"/><Relationship Id="rId7" Type="http://schemas.openxmlformats.org/officeDocument/2006/relationships/image" Target="../media/image43.svg"/><Relationship Id="rId12" Type="http://schemas.openxmlformats.org/officeDocument/2006/relationships/image" Target="../media/image47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2.png"/><Relationship Id="rId11" Type="http://schemas.openxmlformats.org/officeDocument/2006/relationships/image" Target="../media/image46.png"/><Relationship Id="rId5" Type="http://schemas.openxmlformats.org/officeDocument/2006/relationships/image" Target="../media/image41.svg"/><Relationship Id="rId10" Type="http://schemas.openxmlformats.org/officeDocument/2006/relationships/hyperlink" Target="http://cats.iku.edu.tr/portal/site/0181f2bc-77e3-4a85-ade9-77639d9bcfe7" TargetMode="External"/><Relationship Id="rId4" Type="http://schemas.openxmlformats.org/officeDocument/2006/relationships/image" Target="../media/image40.png"/><Relationship Id="rId9" Type="http://schemas.openxmlformats.org/officeDocument/2006/relationships/image" Target="../media/image45.svg"/><Relationship Id="rId1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nature, outdoor, water, forest&#10;&#10;Description automatically generated">
            <a:extLst>
              <a:ext uri="{FF2B5EF4-FFF2-40B4-BE49-F238E27FC236}">
                <a16:creationId xmlns:a16="http://schemas.microsoft.com/office/drawing/2014/main" id="{6A10F8C8-803B-4B5B-945C-C696DF7033B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063" r="12063"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</a:t>
            </a:r>
            <a:r>
              <a:rPr lang="tr-TR" dirty="0"/>
              <a:t>3</a:t>
            </a:r>
            <a:r>
              <a:rPr lang="en-US" dirty="0"/>
              <a:t>: </a:t>
            </a:r>
            <a:r>
              <a:rPr lang="tr-TR" dirty="0"/>
              <a:t>Functions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72433"/>
            <a:ext cx="5130000" cy="1022734"/>
          </a:xfrm>
        </p:spPr>
        <p:txBody>
          <a:bodyPr/>
          <a:lstStyle/>
          <a:p>
            <a:r>
              <a:rPr lang="en-US" dirty="0"/>
              <a:t>CSE0408 Programming III</a:t>
            </a:r>
            <a:endParaRPr lang="tr-TR" dirty="0"/>
          </a:p>
          <a:p>
            <a:r>
              <a:rPr lang="tr-TR" dirty="0"/>
              <a:t>IKU Department of Computer Engineering</a:t>
            </a:r>
          </a:p>
          <a:p>
            <a:r>
              <a:rPr lang="tr-TR" dirty="0"/>
              <a:t>Yusuf Altunel, PhD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D87D-E475-451A-B36C-E4A4F636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3905250"/>
            <a:ext cx="4509000" cy="647701"/>
          </a:xfrm>
        </p:spPr>
        <p:txBody>
          <a:bodyPr/>
          <a:lstStyle/>
          <a:p>
            <a:r>
              <a:rPr lang="tr-TR" dirty="0"/>
              <a:t>Content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BE522-961D-4737-9715-127DB8A86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552951"/>
            <a:ext cx="4509000" cy="1384307"/>
          </a:xfrm>
        </p:spPr>
        <p:txBody>
          <a:bodyPr/>
          <a:lstStyle/>
          <a:p>
            <a:r>
              <a:rPr lang="tr-TR" b="1" dirty="0"/>
              <a:t>Automate the Boring Stuff with Python</a:t>
            </a:r>
          </a:p>
          <a:p>
            <a:r>
              <a:rPr lang="tr-TR" b="1" dirty="0"/>
              <a:t>Practical Programming for Total Beginners</a:t>
            </a:r>
            <a:endParaRPr lang="tr-TR" sz="9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5A1B7-8B88-4D90-983D-BAA2E9AAFFD3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sz="3300" dirty="0"/>
              <a:t>Headlines</a:t>
            </a:r>
            <a:endParaRPr lang="en-US" sz="3300" dirty="0"/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 Statements with Paramenters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Return Values and return Statements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None Value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Keyword Arguments and print()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Local and Global Scope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global Statement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Exception Handling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DF6AE8-6133-4C1E-91DD-755705ACF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96620" y="1480600"/>
            <a:ext cx="1387657" cy="1436996"/>
            <a:chOff x="9862160" y="831132"/>
            <a:chExt cx="1850209" cy="1915995"/>
          </a:xfrm>
        </p:grpSpPr>
        <p:sp>
          <p:nvSpPr>
            <p:cNvPr id="16" name="Freeform: Shape 15" title="triangles">
              <a:extLst>
                <a:ext uri="{FF2B5EF4-FFF2-40B4-BE49-F238E27FC236}">
                  <a16:creationId xmlns:a16="http://schemas.microsoft.com/office/drawing/2014/main" id="{156942E6-31A5-42F5-A00C-A90D409A08BC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Freeform: Shape 16" title="triangles">
              <a:extLst>
                <a:ext uri="{FF2B5EF4-FFF2-40B4-BE49-F238E27FC236}">
                  <a16:creationId xmlns:a16="http://schemas.microsoft.com/office/drawing/2014/main" id="{055D27E0-4C92-4640-A2B8-86540741DCE6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Freeform: Shape 17" title="triangles">
              <a:extLst>
                <a:ext uri="{FF2B5EF4-FFF2-40B4-BE49-F238E27FC236}">
                  <a16:creationId xmlns:a16="http://schemas.microsoft.com/office/drawing/2014/main" id="{E760DC62-191E-4D60-AAAC-37DDF411B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Freeform: Shape 18" title="triangles">
              <a:extLst>
                <a:ext uri="{FF2B5EF4-FFF2-40B4-BE49-F238E27FC236}">
                  <a16:creationId xmlns:a16="http://schemas.microsoft.com/office/drawing/2014/main" id="{B21F5D55-03CC-4A29-B8D0-2B1C7DE7C79D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Freeform: Shape 19" title="triangles">
              <a:extLst>
                <a:ext uri="{FF2B5EF4-FFF2-40B4-BE49-F238E27FC236}">
                  <a16:creationId xmlns:a16="http://schemas.microsoft.com/office/drawing/2014/main" id="{6A692EA0-8FB5-4D6A-B1B1-20463392DEDE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Freeform: Shape 20" title="triangles">
              <a:extLst>
                <a:ext uri="{FF2B5EF4-FFF2-40B4-BE49-F238E27FC236}">
                  <a16:creationId xmlns:a16="http://schemas.microsoft.com/office/drawing/2014/main" id="{46FB2BA9-5E08-4A8F-BC47-8EFA61E4E6CE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Freeform: Shape 21" title="triangles">
              <a:extLst>
                <a:ext uri="{FF2B5EF4-FFF2-40B4-BE49-F238E27FC236}">
                  <a16:creationId xmlns:a16="http://schemas.microsoft.com/office/drawing/2014/main" id="{5B0A2587-D640-4AEE-9456-860CD02427C8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Freeform: Shape 22" title="triangles">
              <a:extLst>
                <a:ext uri="{FF2B5EF4-FFF2-40B4-BE49-F238E27FC236}">
                  <a16:creationId xmlns:a16="http://schemas.microsoft.com/office/drawing/2014/main" id="{373F2649-8DA3-441F-9BDD-77A942FA3DBE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Freeform: Shape 23" title="triangles">
              <a:extLst>
                <a:ext uri="{FF2B5EF4-FFF2-40B4-BE49-F238E27FC236}">
                  <a16:creationId xmlns:a16="http://schemas.microsoft.com/office/drawing/2014/main" id="{95933F98-3B9B-4270-9281-570AD41C3F19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Freeform: Shape 24" title="triangles">
              <a:extLst>
                <a:ext uri="{FF2B5EF4-FFF2-40B4-BE49-F238E27FC236}">
                  <a16:creationId xmlns:a16="http://schemas.microsoft.com/office/drawing/2014/main" id="{3DAB5C84-F2AD-47FD-ABEC-6D6626D2B7FF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Freeform: Shape 25" title="triangles">
              <a:extLst>
                <a:ext uri="{FF2B5EF4-FFF2-40B4-BE49-F238E27FC236}">
                  <a16:creationId xmlns:a16="http://schemas.microsoft.com/office/drawing/2014/main" id="{A4E2ACF8-4066-4DB9-B5D5-E8AA3B152710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Freeform: Shape 26" title="triangles">
              <a:extLst>
                <a:ext uri="{FF2B5EF4-FFF2-40B4-BE49-F238E27FC236}">
                  <a16:creationId xmlns:a16="http://schemas.microsoft.com/office/drawing/2014/main" id="{74FCCA2A-37FF-4031-AF2F-A894DBE6EE0E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Freeform: Shape 27" title="triangles">
              <a:extLst>
                <a:ext uri="{FF2B5EF4-FFF2-40B4-BE49-F238E27FC236}">
                  <a16:creationId xmlns:a16="http://schemas.microsoft.com/office/drawing/2014/main" id="{5C7D7734-820D-40CE-BBBA-6E6D9452D308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Freeform: Shape 28" title="triangles">
              <a:extLst>
                <a:ext uri="{FF2B5EF4-FFF2-40B4-BE49-F238E27FC236}">
                  <a16:creationId xmlns:a16="http://schemas.microsoft.com/office/drawing/2014/main" id="{5BCE508A-E107-4075-9976-73D3ED8272C2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F16E1-87DB-4920-A90B-23E1C72DDC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 descr="A close up of a rock&#10;&#10;Description automatically generated">
            <a:extLst>
              <a:ext uri="{FF2B5EF4-FFF2-40B4-BE49-F238E27FC236}">
                <a16:creationId xmlns:a16="http://schemas.microsoft.com/office/drawing/2014/main" id="{1AEBD9E2-D380-40CA-81BC-FEE62AD1B18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" y="800268"/>
            <a:ext cx="4511651" cy="30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64" y="1165839"/>
            <a:ext cx="8505000" cy="324000"/>
          </a:xfrm>
        </p:spPr>
        <p:txBody>
          <a:bodyPr/>
          <a:lstStyle/>
          <a:p>
            <a:r>
              <a:rPr lang="tr-TR" dirty="0"/>
              <a:t>Functions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Built-in Functions so far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tr-TR" dirty="0"/>
              <a:t>print()</a:t>
            </a:r>
          </a:p>
          <a:p>
            <a:r>
              <a:rPr lang="tr-TR" dirty="0"/>
              <a:t>input() </a:t>
            </a:r>
          </a:p>
          <a:p>
            <a:r>
              <a:rPr lang="tr-TR" dirty="0"/>
              <a:t>len()</a:t>
            </a:r>
            <a:endParaRPr lang="en-US" dirty="0"/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Write own Function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556" y="4688112"/>
            <a:ext cx="1839467" cy="1373054"/>
          </a:xfrm>
        </p:spPr>
        <p:txBody>
          <a:bodyPr/>
          <a:lstStyle/>
          <a:p>
            <a:pPr algn="l"/>
            <a:r>
              <a:rPr lang="tr-TR" dirty="0"/>
              <a:t>def fname() #def statement</a:t>
            </a:r>
          </a:p>
          <a:p>
            <a:pPr algn="l"/>
            <a:r>
              <a:rPr lang="tr-TR" dirty="0"/>
              <a:t>	#body</a:t>
            </a:r>
          </a:p>
          <a:p>
            <a:pPr algn="l"/>
            <a:r>
              <a:rPr lang="tr-TR" dirty="0"/>
              <a:t>	statement</a:t>
            </a:r>
          </a:p>
          <a:p>
            <a:pPr algn="l"/>
            <a:r>
              <a:rPr lang="tr-TR" dirty="0"/>
              <a:t>	statement</a:t>
            </a:r>
          </a:p>
          <a:p>
            <a:pPr algn="l"/>
            <a:r>
              <a:rPr lang="tr-TR" dirty="0"/>
              <a:t>	….</a:t>
            </a:r>
          </a:p>
          <a:p>
            <a:pPr algn="l"/>
            <a:endParaRPr lang="en-US" b="1" dirty="0"/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Function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5407" y="4688111"/>
            <a:ext cx="1620441" cy="1371725"/>
          </a:xfrm>
        </p:spPr>
        <p:txBody>
          <a:bodyPr/>
          <a:lstStyle/>
          <a:p>
            <a:r>
              <a:rPr lang="tr-TR" dirty="0"/>
              <a:t>A mini-program</a:t>
            </a:r>
          </a:p>
          <a:p>
            <a:r>
              <a:rPr lang="tr-TR" dirty="0"/>
              <a:t>within a program</a:t>
            </a:r>
            <a:endParaRPr lang="en-US" dirty="0"/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tr-TR" dirty="0"/>
              <a:t>Example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99908" y="4683646"/>
            <a:ext cx="1446129" cy="1081427"/>
          </a:xfrm>
        </p:spPr>
        <p:txBody>
          <a:bodyPr/>
          <a:lstStyle/>
          <a:p>
            <a:pPr algn="l"/>
            <a:r>
              <a:rPr lang="en-US" dirty="0"/>
              <a:t>def hello():</a:t>
            </a:r>
          </a:p>
          <a:p>
            <a:pPr algn="l"/>
            <a:r>
              <a:rPr lang="en-US" dirty="0"/>
              <a:t>    print('Howdy!')</a:t>
            </a:r>
          </a:p>
          <a:p>
            <a:pPr algn="l"/>
            <a:r>
              <a:rPr lang="en-US" dirty="0"/>
              <a:t>    print('Howdy!!!')</a:t>
            </a:r>
          </a:p>
          <a:p>
            <a:pPr algn="l"/>
            <a:r>
              <a:rPr lang="en-US" dirty="0"/>
              <a:t>    print('Hello there.')</a:t>
            </a:r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Output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24503" y="4688111"/>
            <a:ext cx="1103049" cy="1480213"/>
          </a:xfrm>
        </p:spPr>
        <p:txBody>
          <a:bodyPr/>
          <a:lstStyle/>
          <a:p>
            <a:pPr algn="l"/>
            <a:r>
              <a:rPr lang="en-US" dirty="0"/>
              <a:t>&gt;&gt;&gt; hello()</a:t>
            </a:r>
          </a:p>
          <a:p>
            <a:pPr algn="l"/>
            <a:r>
              <a:rPr lang="en-US" dirty="0"/>
              <a:t>Howdy!</a:t>
            </a:r>
          </a:p>
          <a:p>
            <a:pPr algn="l"/>
            <a:r>
              <a:rPr lang="en-US" dirty="0"/>
              <a:t>Howdy!!!</a:t>
            </a:r>
          </a:p>
          <a:p>
            <a:pPr algn="l"/>
            <a:r>
              <a:rPr lang="en-US" dirty="0"/>
              <a:t>Hello there.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348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64" y="1165839"/>
            <a:ext cx="8505000" cy="324000"/>
          </a:xfrm>
        </p:spPr>
        <p:txBody>
          <a:bodyPr/>
          <a:lstStyle/>
          <a:p>
            <a:r>
              <a:rPr lang="tr-TR" dirty="0"/>
              <a:t>Functions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Function call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4071" y="4683349"/>
            <a:ext cx="1620000" cy="1673908"/>
          </a:xfrm>
        </p:spPr>
        <p:txBody>
          <a:bodyPr/>
          <a:lstStyle/>
          <a:p>
            <a:r>
              <a:rPr lang="en-US" dirty="0"/>
              <a:t>function’s name</a:t>
            </a:r>
            <a:endParaRPr lang="tr-TR" dirty="0"/>
          </a:p>
          <a:p>
            <a:r>
              <a:rPr lang="en-US" dirty="0"/>
              <a:t> followed by parentheses </a:t>
            </a:r>
            <a:endParaRPr lang="tr-TR" dirty="0"/>
          </a:p>
          <a:p>
            <a:r>
              <a:rPr lang="en-US" dirty="0"/>
              <a:t>possibly</a:t>
            </a:r>
          </a:p>
          <a:p>
            <a:r>
              <a:rPr lang="en-US" dirty="0"/>
              <a:t>with some number of arguments </a:t>
            </a:r>
            <a:endParaRPr lang="tr-TR" dirty="0"/>
          </a:p>
          <a:p>
            <a:r>
              <a:rPr lang="en-US" dirty="0"/>
              <a:t>in between the parentheses</a:t>
            </a:r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Execution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556" y="4688112"/>
            <a:ext cx="1839467" cy="1712688"/>
          </a:xfrm>
        </p:spPr>
        <p:txBody>
          <a:bodyPr/>
          <a:lstStyle/>
          <a:p>
            <a:r>
              <a:rPr lang="tr-TR" dirty="0"/>
              <a:t>Jump to the function</a:t>
            </a:r>
          </a:p>
          <a:p>
            <a:r>
              <a:rPr lang="tr-TR" dirty="0"/>
              <a:t>Begin function code execution</a:t>
            </a:r>
          </a:p>
          <a:p>
            <a:r>
              <a:rPr lang="tr-TR" dirty="0"/>
              <a:t>reach to the end</a:t>
            </a:r>
          </a:p>
          <a:p>
            <a:r>
              <a:rPr lang="tr-TR" dirty="0"/>
              <a:t>return to the line after function call</a:t>
            </a:r>
          </a:p>
          <a:p>
            <a:r>
              <a:rPr lang="tr-TR" dirty="0"/>
              <a:t>continue the execution</a:t>
            </a:r>
            <a:endParaRPr lang="en-US" dirty="0"/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Usage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5407" y="4688111"/>
            <a:ext cx="1620441" cy="1371725"/>
          </a:xfrm>
        </p:spPr>
        <p:txBody>
          <a:bodyPr/>
          <a:lstStyle/>
          <a:p>
            <a:r>
              <a:rPr lang="tr-TR" dirty="0"/>
              <a:t>maintain the repetition</a:t>
            </a:r>
          </a:p>
          <a:p>
            <a:r>
              <a:rPr lang="tr-TR" dirty="0"/>
              <a:t>increase the readibility</a:t>
            </a:r>
          </a:p>
          <a:p>
            <a:r>
              <a:rPr lang="tr-TR" dirty="0"/>
              <a:t>simplify the update</a:t>
            </a:r>
          </a:p>
          <a:p>
            <a:r>
              <a:rPr lang="tr-TR" dirty="0"/>
              <a:t>enhance debugging</a:t>
            </a:r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30100" y="3917626"/>
            <a:ext cx="1620440" cy="504000"/>
          </a:xfrm>
        </p:spPr>
        <p:txBody>
          <a:bodyPr/>
          <a:lstStyle/>
          <a:p>
            <a:r>
              <a:rPr lang="tr-TR" dirty="0"/>
              <a:t>Repeatition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99908" y="4683646"/>
            <a:ext cx="1446129" cy="1081427"/>
          </a:xfrm>
        </p:spPr>
        <p:txBody>
          <a:bodyPr/>
          <a:lstStyle/>
          <a:p>
            <a:r>
              <a:rPr lang="tr-TR" dirty="0"/>
              <a:t>call the function multiple times</a:t>
            </a:r>
          </a:p>
          <a:p>
            <a:r>
              <a:rPr lang="tr-TR" dirty="0"/>
              <a:t>instead of copying the code lines</a:t>
            </a:r>
            <a:endParaRPr lang="en-US" dirty="0"/>
          </a:p>
          <a:p>
            <a:pPr algn="l"/>
            <a:endParaRPr lang="en-US" dirty="0"/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Maintenance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24503" y="4688111"/>
            <a:ext cx="1103049" cy="1480213"/>
          </a:xfrm>
        </p:spPr>
        <p:txBody>
          <a:bodyPr/>
          <a:lstStyle/>
          <a:p>
            <a:pPr algn="l"/>
            <a:r>
              <a:rPr lang="tr-TR" dirty="0"/>
              <a:t>Functions enhance the maintenance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05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Chapter-3 Functions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 Statements with Paramenters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8" name="Picture Placeholder 7" descr="A view of a large rock&#10;&#10;Description automatically generated">
            <a:extLst>
              <a:ext uri="{FF2B5EF4-FFF2-40B4-BE49-F238E27FC236}">
                <a16:creationId xmlns:a16="http://schemas.microsoft.com/office/drawing/2014/main" id="{70E7267B-ED88-4F42-AD29-8C6A7669A07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853" r="785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83237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64" y="1165839"/>
            <a:ext cx="8505000" cy="324000"/>
          </a:xfrm>
        </p:spPr>
        <p:txBody>
          <a:bodyPr/>
          <a:lstStyle/>
          <a:p>
            <a:r>
              <a:rPr lang="tr-TR" dirty="0"/>
              <a:t>Defining own Function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Calling a Function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tr-TR" dirty="0"/>
              <a:t>Function name</a:t>
            </a:r>
          </a:p>
          <a:p>
            <a:r>
              <a:rPr lang="tr-TR" dirty="0"/>
              <a:t>(parameter list)</a:t>
            </a:r>
            <a:endParaRPr lang="en-US" dirty="0"/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Function definition with paramenters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tr-TR" dirty="0"/>
              <a:t>def</a:t>
            </a:r>
          </a:p>
          <a:p>
            <a:r>
              <a:rPr lang="tr-TR" dirty="0"/>
              <a:t>Function name</a:t>
            </a:r>
          </a:p>
          <a:p>
            <a:r>
              <a:rPr lang="tr-TR" dirty="0"/>
              <a:t>(parameter/s)</a:t>
            </a:r>
            <a:endParaRPr lang="en-US" dirty="0"/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Examples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5407" y="4688111"/>
            <a:ext cx="1620441" cy="1371725"/>
          </a:xfrm>
        </p:spPr>
        <p:txBody>
          <a:bodyPr/>
          <a:lstStyle/>
          <a:p>
            <a:pPr algn="l"/>
            <a:r>
              <a:rPr lang="en-US" dirty="0"/>
              <a:t>def hello(name):</a:t>
            </a:r>
          </a:p>
          <a:p>
            <a:pPr algn="l"/>
            <a:r>
              <a:rPr lang="en-US" dirty="0"/>
              <a:t>    print('Hello ' + name)</a:t>
            </a:r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tr-TR" dirty="0"/>
              <a:t>Exec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68687" y="4683646"/>
            <a:ext cx="1838014" cy="1560399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>
                <a:solidFill>
                  <a:srgbClr val="00B0F0"/>
                </a:solidFill>
              </a:rPr>
              <a:t>hello</a:t>
            </a:r>
            <a:r>
              <a:rPr lang="tr-TR" dirty="0"/>
              <a:t>()</a:t>
            </a:r>
          </a:p>
          <a:p>
            <a:pPr marL="578644" lvl="1" indent="-171450"/>
            <a:r>
              <a:rPr lang="tr-TR" dirty="0"/>
              <a:t>Function name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>
                <a:solidFill>
                  <a:srgbClr val="00B0F0"/>
                </a:solidFill>
              </a:rPr>
              <a:t>name</a:t>
            </a:r>
            <a:r>
              <a:rPr lang="tr-TR" dirty="0"/>
              <a:t> </a:t>
            </a:r>
          </a:p>
          <a:p>
            <a:pPr marL="578644" lvl="1" indent="-171450"/>
            <a:r>
              <a:rPr lang="tr-TR" dirty="0"/>
              <a:t>Parameter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return</a:t>
            </a:r>
          </a:p>
          <a:p>
            <a:pPr marL="578644" lvl="1" indent="-171450"/>
            <a:r>
              <a:rPr lang="tr-TR" dirty="0"/>
              <a:t>no return statement</a:t>
            </a:r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Execution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84571" y="4688111"/>
            <a:ext cx="1642981" cy="1582060"/>
          </a:xfrm>
        </p:spPr>
        <p:txBody>
          <a:bodyPr/>
          <a:lstStyle/>
          <a:p>
            <a:pPr algn="l"/>
            <a:r>
              <a:rPr lang="tr-TR" dirty="0"/>
              <a:t>&gt;&gt;&gt; hello('Adele')</a:t>
            </a:r>
          </a:p>
          <a:p>
            <a:pPr algn="l"/>
            <a:r>
              <a:rPr lang="tr-TR" dirty="0"/>
              <a:t>Hello Adele</a:t>
            </a:r>
          </a:p>
          <a:p>
            <a:pPr algn="l"/>
            <a:r>
              <a:rPr lang="en-US" dirty="0"/>
              <a:t>&gt;&gt;&gt;</a:t>
            </a:r>
            <a:endParaRPr lang="tr-TR" dirty="0"/>
          </a:p>
          <a:p>
            <a:pPr algn="l"/>
            <a:r>
              <a:rPr lang="en-US" dirty="0"/>
              <a:t>&gt;&gt;&gt; name = 'Denise'</a:t>
            </a:r>
          </a:p>
          <a:p>
            <a:pPr algn="l"/>
            <a:r>
              <a:rPr lang="en-US" dirty="0"/>
              <a:t>&gt;&gt;&gt; hello(name)</a:t>
            </a:r>
          </a:p>
          <a:p>
            <a:pPr algn="l"/>
            <a:r>
              <a:rPr lang="en-US" dirty="0"/>
              <a:t>Hello Denise</a:t>
            </a:r>
            <a:endParaRPr lang="tr-TR" dirty="0"/>
          </a:p>
          <a:p>
            <a:pPr algn="l"/>
            <a:endParaRPr lang="tr-TR" dirty="0"/>
          </a:p>
          <a:p>
            <a:pPr algn="l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687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Chapter-3 Functions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Return Values and return Statements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8" name="Picture Placeholder 7" descr="A view of a large rock&#10;&#10;Description automatically generated">
            <a:extLst>
              <a:ext uri="{FF2B5EF4-FFF2-40B4-BE49-F238E27FC236}">
                <a16:creationId xmlns:a16="http://schemas.microsoft.com/office/drawing/2014/main" id="{70E7267B-ED88-4F42-AD29-8C6A7669A07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853" r="785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05049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ave, ile ilgili görsel sonucu">
            <a:extLst>
              <a:ext uri="{FF2B5EF4-FFF2-40B4-BE49-F238E27FC236}">
                <a16:creationId xmlns:a16="http://schemas.microsoft.com/office/drawing/2014/main" id="{91099FC0-FE7D-4ED6-A9E7-B0D5A2241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379413"/>
            <a:ext cx="9144000" cy="609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chemeClr val="bg1">
                    <a:lumMod val="95000"/>
                  </a:schemeClr>
                </a:solidFill>
              </a:rPr>
              <a:t>Define a function with a return value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3219-73B6-4A50-8412-77850D56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2686290"/>
            <a:ext cx="3533897" cy="270000"/>
          </a:xfrm>
          <a:noFill/>
        </p:spPr>
        <p:txBody>
          <a:bodyPr/>
          <a:lstStyle/>
          <a:p>
            <a:r>
              <a:rPr lang="tr-TR" dirty="0">
                <a:solidFill>
                  <a:schemeClr val="bg1">
                    <a:lumMod val="95000"/>
                  </a:schemeClr>
                </a:solidFill>
              </a:rPr>
              <a:t>return keyword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0752B-B871-4B72-8FE1-D34B8BB36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3154150"/>
            <a:ext cx="3525189" cy="938879"/>
          </a:xfrm>
          <a:solidFill>
            <a:schemeClr val="bg1">
              <a:lumMod val="95000"/>
              <a:alpha val="7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dirty="0"/>
              <a:t>Consists of</a:t>
            </a:r>
          </a:p>
          <a:p>
            <a:r>
              <a:rPr lang="tr-TR" dirty="0"/>
              <a:t>The return keyword</a:t>
            </a:r>
          </a:p>
          <a:p>
            <a:r>
              <a:rPr lang="tr-TR" dirty="0"/>
              <a:t>The value or expression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02C058-20DE-46C9-BB43-8B24E6B9E82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994965" y="2712810"/>
            <a:ext cx="3400097" cy="269081"/>
          </a:xfrm>
          <a:noFill/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tr-TR" sz="1800" b="1" dirty="0">
                <a:solidFill>
                  <a:schemeClr val="tx1"/>
                </a:solidFill>
              </a:rPr>
              <a:t>Expression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F6C154B-5965-4955-8606-EDD5D277E1FC}"/>
              </a:ext>
            </a:extLst>
          </p:cNvPr>
          <p:cNvSpPr txBox="1">
            <a:spLocks/>
          </p:cNvSpPr>
          <p:nvPr/>
        </p:nvSpPr>
        <p:spPr>
          <a:xfrm>
            <a:off x="4970023" y="3132380"/>
            <a:ext cx="3525189" cy="934524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r-TR" dirty="0"/>
              <a:t>Evaluates</a:t>
            </a:r>
          </a:p>
          <a:p>
            <a:r>
              <a:rPr lang="tr-TR" dirty="0"/>
              <a:t>To return a value</a:t>
            </a:r>
          </a:p>
          <a:p>
            <a:r>
              <a:rPr lang="tr-TR" dirty="0"/>
              <a:t>So the function can be called in expressions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88643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Function Example with Return: </a:t>
            </a:r>
            <a:r>
              <a:rPr lang="tr-TR" i="1" dirty="0"/>
              <a:t>magic8Ball.py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940526"/>
            <a:ext cx="4104000" cy="5704114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def </a:t>
            </a:r>
            <a:r>
              <a:rPr lang="en-US" dirty="0" err="1"/>
              <a:t>getAnswer</a:t>
            </a:r>
            <a:r>
              <a:rPr lang="en-US" dirty="0"/>
              <a:t>(</a:t>
            </a:r>
            <a:r>
              <a:rPr lang="en-US" dirty="0" err="1"/>
              <a:t>answerNumber</a:t>
            </a:r>
            <a:r>
              <a:rPr lang="en-US" dirty="0"/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if </a:t>
            </a:r>
            <a:r>
              <a:rPr lang="en-US" dirty="0" err="1"/>
              <a:t>answerNumber</a:t>
            </a:r>
            <a:r>
              <a:rPr lang="en-US" dirty="0"/>
              <a:t> == 1: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return </a:t>
            </a:r>
            <a:r>
              <a:rPr lang="en-US" dirty="0" err="1"/>
              <a:t>'It</a:t>
            </a:r>
            <a:r>
              <a:rPr lang="en-US" dirty="0"/>
              <a:t> is certain'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answerNumber</a:t>
            </a:r>
            <a:r>
              <a:rPr lang="en-US" dirty="0"/>
              <a:t> == 2: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return </a:t>
            </a:r>
            <a:r>
              <a:rPr lang="en-US" dirty="0" err="1"/>
              <a:t>'It</a:t>
            </a:r>
            <a:r>
              <a:rPr lang="en-US" dirty="0"/>
              <a:t> is decidedly so'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answerNumber</a:t>
            </a:r>
            <a:r>
              <a:rPr lang="en-US" dirty="0"/>
              <a:t> == 3: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return 'Yes'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answerNumber</a:t>
            </a:r>
            <a:r>
              <a:rPr lang="en-US" dirty="0"/>
              <a:t> == 4: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return 'Reply hazy try again'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answerNumber</a:t>
            </a:r>
            <a:r>
              <a:rPr lang="en-US" dirty="0"/>
              <a:t> == 5: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return 'Ask again later'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answerNumber</a:t>
            </a:r>
            <a:r>
              <a:rPr lang="en-US" dirty="0"/>
              <a:t> == 6: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return 'Concentrate and ask again'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answerNumber</a:t>
            </a:r>
            <a:r>
              <a:rPr lang="en-US" dirty="0"/>
              <a:t> == 7: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return 'My reply is no'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answerNumber</a:t>
            </a:r>
            <a:r>
              <a:rPr lang="en-US" dirty="0"/>
              <a:t> == 8: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return 'Outlook not so good'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answerNumber</a:t>
            </a:r>
            <a:r>
              <a:rPr lang="en-US" dirty="0"/>
              <a:t> == 9: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return 'Very doubtful</a:t>
            </a:r>
            <a:r>
              <a:rPr lang="tr-TR" dirty="0"/>
              <a:t>'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import random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r = </a:t>
            </a:r>
            <a:r>
              <a:rPr lang="en-US" dirty="0" err="1"/>
              <a:t>random.randint</a:t>
            </a:r>
            <a:r>
              <a:rPr lang="en-US" dirty="0"/>
              <a:t>(1, 9)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fortune = </a:t>
            </a:r>
            <a:r>
              <a:rPr lang="en-US" dirty="0" err="1"/>
              <a:t>getAnswer</a:t>
            </a:r>
            <a:r>
              <a:rPr lang="en-US" dirty="0"/>
              <a:t>(r)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print(fortune)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#or print(getAnswer(random.randint(1, 9)))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getAnswer</a:t>
            </a:r>
            <a:r>
              <a:rPr lang="en-US" dirty="0"/>
              <a:t>(1)</a:t>
            </a:r>
          </a:p>
          <a:p>
            <a:pPr marL="0" indent="0">
              <a:buNone/>
            </a:pPr>
            <a:r>
              <a:rPr lang="en-US" dirty="0" err="1"/>
              <a:t>'It</a:t>
            </a:r>
            <a:r>
              <a:rPr lang="en-US" dirty="0"/>
              <a:t> is certain'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getAnswer</a:t>
            </a:r>
            <a:r>
              <a:rPr lang="en-US" dirty="0"/>
              <a:t>(2)</a:t>
            </a:r>
          </a:p>
          <a:p>
            <a:pPr marL="0" indent="0">
              <a:buNone/>
            </a:pPr>
            <a:r>
              <a:rPr lang="en-US" dirty="0" err="1"/>
              <a:t>'It</a:t>
            </a:r>
            <a:r>
              <a:rPr lang="en-US" dirty="0"/>
              <a:t> is decidedly so'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getAnswer</a:t>
            </a:r>
            <a:r>
              <a:rPr lang="en-US" dirty="0"/>
              <a:t>(3)</a:t>
            </a:r>
          </a:p>
          <a:p>
            <a:pPr marL="0" indent="0">
              <a:buNone/>
            </a:pPr>
            <a:r>
              <a:rPr lang="en-US" dirty="0"/>
              <a:t>'Yes'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getAnswer</a:t>
            </a:r>
            <a:r>
              <a:rPr lang="en-US" dirty="0"/>
              <a:t>(4)</a:t>
            </a:r>
          </a:p>
          <a:p>
            <a:pPr marL="0" indent="0">
              <a:buNone/>
            </a:pPr>
            <a:r>
              <a:rPr lang="en-US" dirty="0"/>
              <a:t>'Reply hazy try again'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getAnswer</a:t>
            </a:r>
            <a:r>
              <a:rPr lang="en-US" dirty="0"/>
              <a:t>(5)</a:t>
            </a:r>
          </a:p>
          <a:p>
            <a:pPr marL="0" indent="0">
              <a:buNone/>
            </a:pPr>
            <a:r>
              <a:rPr lang="en-US" dirty="0"/>
              <a:t>'Ask again later'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getAnswer</a:t>
            </a:r>
            <a:r>
              <a:rPr lang="en-US" dirty="0"/>
              <a:t>(6)</a:t>
            </a:r>
          </a:p>
          <a:p>
            <a:pPr marL="0" indent="0">
              <a:buNone/>
            </a:pPr>
            <a:r>
              <a:rPr lang="en-US" dirty="0"/>
              <a:t>'Concentrate and ask again'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getAnswer</a:t>
            </a:r>
            <a:r>
              <a:rPr lang="en-US" dirty="0"/>
              <a:t>(7)</a:t>
            </a:r>
          </a:p>
          <a:p>
            <a:pPr marL="0" indent="0">
              <a:buNone/>
            </a:pPr>
            <a:r>
              <a:rPr lang="en-US" dirty="0"/>
              <a:t>'My reply is no'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getAnswer</a:t>
            </a:r>
            <a:r>
              <a:rPr lang="en-US" dirty="0"/>
              <a:t>(8)</a:t>
            </a:r>
          </a:p>
          <a:p>
            <a:pPr marL="0" indent="0">
              <a:buNone/>
            </a:pPr>
            <a:r>
              <a:rPr lang="en-US" dirty="0"/>
              <a:t>'Outlook not so good'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getAnswer</a:t>
            </a:r>
            <a:r>
              <a:rPr lang="en-US" dirty="0"/>
              <a:t>(9)</a:t>
            </a:r>
          </a:p>
          <a:p>
            <a:pPr marL="0" indent="0">
              <a:buNone/>
            </a:pPr>
            <a:r>
              <a:rPr lang="en-US" dirty="0"/>
              <a:t>'Very doubtful'</a:t>
            </a:r>
          </a:p>
        </p:txBody>
      </p:sp>
    </p:spTree>
    <p:extLst>
      <p:ext uri="{BB962C8B-B14F-4D97-AF65-F5344CB8AC3E}">
        <p14:creationId xmlns:p14="http://schemas.microsoft.com/office/powerpoint/2010/main" val="1969663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Chapter-3 Functions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None Value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8" name="Picture Placeholder 7" descr="A view of a large rock&#10;&#10;Description automatically generated">
            <a:extLst>
              <a:ext uri="{FF2B5EF4-FFF2-40B4-BE49-F238E27FC236}">
                <a16:creationId xmlns:a16="http://schemas.microsoft.com/office/drawing/2014/main" id="{70E7267B-ED88-4F42-AD29-8C6A7669A07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853" r="785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09409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None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1" y="1080002"/>
            <a:ext cx="4599842" cy="256430"/>
          </a:xfrm>
        </p:spPr>
        <p:txBody>
          <a:bodyPr/>
          <a:lstStyle/>
          <a:p>
            <a:r>
              <a:rPr lang="en-US" i="1" dirty="0"/>
              <a:t>represents the absence of a</a:t>
            </a:r>
            <a:r>
              <a:rPr lang="tr-TR" i="1" dirty="0"/>
              <a:t> </a:t>
            </a:r>
            <a:r>
              <a:rPr lang="en-US" i="1" dirty="0"/>
              <a:t>value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the only value of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Data type</a:t>
            </a:r>
          </a:p>
          <a:p>
            <a:r>
              <a:rPr lang="tr-TR" dirty="0"/>
              <a:t>NoneType data type</a:t>
            </a:r>
          </a:p>
          <a:p>
            <a:pPr marL="0" indent="0">
              <a:buNone/>
            </a:pPr>
            <a:r>
              <a:rPr lang="tr-TR" b="1" dirty="0"/>
              <a:t>Other programming languages</a:t>
            </a:r>
          </a:p>
          <a:p>
            <a:r>
              <a:rPr lang="tr-TR" dirty="0"/>
              <a:t>null</a:t>
            </a:r>
          </a:p>
          <a:p>
            <a:r>
              <a:rPr lang="tr-TR" dirty="0"/>
              <a:t>nil</a:t>
            </a:r>
          </a:p>
          <a:p>
            <a:r>
              <a:rPr lang="tr-TR" dirty="0"/>
              <a:t>undefined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Example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3314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spam = print('Hello!')</a:t>
            </a:r>
          </a:p>
          <a:p>
            <a:pPr marL="0" indent="0">
              <a:buNone/>
            </a:pPr>
            <a:r>
              <a:rPr lang="en-US" dirty="0"/>
              <a:t>Hello!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&gt;&gt;&gt; None == spam</a:t>
            </a:r>
          </a:p>
          <a:p>
            <a:pPr marL="0" indent="0">
              <a:buNone/>
            </a:pPr>
            <a:r>
              <a:rPr lang="en-US" dirty="0"/>
              <a:t>True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Needed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b="1" dirty="0"/>
              <a:t>When</a:t>
            </a:r>
          </a:p>
          <a:p>
            <a:r>
              <a:rPr lang="tr-TR" dirty="0"/>
              <a:t>store something not confused with a real value in variable</a:t>
            </a:r>
          </a:p>
          <a:p>
            <a:pPr marL="0" indent="0">
              <a:buNone/>
            </a:pPr>
            <a:r>
              <a:rPr lang="tr-TR" b="1" dirty="0"/>
              <a:t>Example</a:t>
            </a:r>
            <a:endParaRPr lang="tr-TR" dirty="0"/>
          </a:p>
          <a:p>
            <a:r>
              <a:rPr lang="tr-TR" dirty="0"/>
              <a:t>print()</a:t>
            </a:r>
          </a:p>
          <a:p>
            <a:r>
              <a:rPr lang="tr-TR" dirty="0"/>
              <a:t>displays text on the screen</a:t>
            </a:r>
          </a:p>
          <a:p>
            <a:r>
              <a:rPr lang="tr-TR" dirty="0"/>
              <a:t>doesn’t need to return anything</a:t>
            </a:r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0A9789C-B725-4148-B126-6FD70E1337F7}"/>
              </a:ext>
            </a:extLst>
          </p:cNvPr>
          <p:cNvSpPr txBox="1">
            <a:spLocks/>
          </p:cNvSpPr>
          <p:nvPr/>
        </p:nvSpPr>
        <p:spPr>
          <a:xfrm>
            <a:off x="336914" y="5995991"/>
            <a:ext cx="6473188" cy="5963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00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Python </a:t>
            </a:r>
            <a:r>
              <a:rPr lang="en-US" b="1" i="1" dirty="0"/>
              <a:t>adds return None </a:t>
            </a:r>
            <a:r>
              <a:rPr lang="en-US" i="1" dirty="0"/>
              <a:t>to the </a:t>
            </a:r>
            <a:r>
              <a:rPr lang="en-US" b="1" i="1" dirty="0"/>
              <a:t>end</a:t>
            </a:r>
            <a:r>
              <a:rPr lang="en-US" i="1" dirty="0"/>
              <a:t> of any function</a:t>
            </a:r>
            <a:r>
              <a:rPr lang="tr-TR" i="1" dirty="0"/>
              <a:t> </a:t>
            </a:r>
            <a:r>
              <a:rPr lang="en-US" i="1" dirty="0"/>
              <a:t>definition with </a:t>
            </a:r>
            <a:r>
              <a:rPr lang="en-US" b="1" i="1" dirty="0"/>
              <a:t>no return </a:t>
            </a:r>
            <a:r>
              <a:rPr lang="en-US" i="1" dirty="0"/>
              <a:t>statement</a:t>
            </a:r>
            <a:endParaRPr lang="tr-TR" i="1" dirty="0"/>
          </a:p>
          <a:p>
            <a:r>
              <a:rPr lang="en-US" i="1" dirty="0"/>
              <a:t>a </a:t>
            </a:r>
            <a:r>
              <a:rPr lang="en-US" b="1" i="1" dirty="0"/>
              <a:t>return</a:t>
            </a:r>
            <a:r>
              <a:rPr lang="en-US" i="1" dirty="0"/>
              <a:t> statement</a:t>
            </a:r>
            <a:r>
              <a:rPr lang="tr-TR" i="1" dirty="0"/>
              <a:t> </a:t>
            </a:r>
            <a:r>
              <a:rPr lang="en-US" b="1" i="1" dirty="0"/>
              <a:t>without a value </a:t>
            </a:r>
            <a:r>
              <a:rPr lang="en-US" i="1" dirty="0"/>
              <a:t>None is</a:t>
            </a:r>
            <a:r>
              <a:rPr lang="tr-TR" i="1" dirty="0"/>
              <a:t> </a:t>
            </a:r>
            <a:r>
              <a:rPr lang="en-US" i="1" dirty="0"/>
              <a:t>returned.</a:t>
            </a:r>
          </a:p>
        </p:txBody>
      </p:sp>
    </p:spTree>
    <p:extLst>
      <p:ext uri="{BB962C8B-B14F-4D97-AF65-F5344CB8AC3E}">
        <p14:creationId xmlns:p14="http://schemas.microsoft.com/office/powerpoint/2010/main" val="162970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Chapter-3 Functions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Keyword Arguments and print()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8" name="Picture Placeholder 7" descr="A view of a large rock&#10;&#10;Description automatically generated">
            <a:extLst>
              <a:ext uri="{FF2B5EF4-FFF2-40B4-BE49-F238E27FC236}">
                <a16:creationId xmlns:a16="http://schemas.microsoft.com/office/drawing/2014/main" id="{70E7267B-ED88-4F42-AD29-8C6A7669A07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853" r="785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64543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Position arguments vs Keyword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sz="1800" b="1" dirty="0" err="1"/>
              <a:t>Position</a:t>
            </a:r>
            <a:r>
              <a:rPr lang="tr-TR" sz="1800" b="1" dirty="0"/>
              <a:t> of arguments</a:t>
            </a:r>
          </a:p>
          <a:p>
            <a:r>
              <a:rPr lang="en-US" sz="1800" dirty="0"/>
              <a:t>arguments are identified </a:t>
            </a:r>
            <a:endParaRPr lang="tr-TR" sz="1800" dirty="0"/>
          </a:p>
          <a:p>
            <a:r>
              <a:rPr lang="en-US" sz="1800" dirty="0"/>
              <a:t>by their position in the function call</a:t>
            </a:r>
            <a:endParaRPr lang="tr-TR" sz="1800" dirty="0"/>
          </a:p>
          <a:p>
            <a:pPr marL="0" indent="0">
              <a:buNone/>
            </a:pPr>
            <a:r>
              <a:rPr lang="en-US" sz="1800" b="1" dirty="0"/>
              <a:t>For</a:t>
            </a:r>
            <a:r>
              <a:rPr lang="tr-TR" sz="1800" b="1" dirty="0"/>
              <a:t> </a:t>
            </a:r>
            <a:r>
              <a:rPr lang="en-US" sz="1800" b="1" dirty="0"/>
              <a:t>example</a:t>
            </a:r>
            <a:endParaRPr lang="tr-TR" sz="1800" b="1" dirty="0"/>
          </a:p>
          <a:p>
            <a:r>
              <a:rPr lang="en-US" sz="1800" dirty="0" err="1"/>
              <a:t>random.randint</a:t>
            </a:r>
            <a:r>
              <a:rPr lang="en-US" sz="1800" dirty="0"/>
              <a:t>(1, 10)</a:t>
            </a:r>
            <a:endParaRPr lang="tr-TR" sz="1800" dirty="0"/>
          </a:p>
          <a:p>
            <a:pPr lvl="1"/>
            <a:r>
              <a:rPr lang="tr-TR" sz="1800" dirty="0"/>
              <a:t>random integer between </a:t>
            </a:r>
            <a:r>
              <a:rPr lang="tr-TR" sz="1100" dirty="0"/>
              <a:t>1</a:t>
            </a:r>
            <a:r>
              <a:rPr lang="tr-TR" sz="1800" dirty="0"/>
              <a:t>and </a:t>
            </a:r>
            <a:r>
              <a:rPr lang="tr-TR" sz="1100" dirty="0"/>
              <a:t>10</a:t>
            </a:r>
            <a:endParaRPr lang="tr-TR" sz="1800" dirty="0"/>
          </a:p>
          <a:p>
            <a:pPr lvl="1"/>
            <a:r>
              <a:rPr lang="tr-TR" sz="1800" dirty="0"/>
              <a:t>1: low end</a:t>
            </a:r>
          </a:p>
          <a:p>
            <a:pPr lvl="1"/>
            <a:r>
              <a:rPr lang="tr-TR" sz="1800" dirty="0"/>
              <a:t>10: high end</a:t>
            </a:r>
          </a:p>
          <a:p>
            <a:r>
              <a:rPr lang="en-US" sz="1800" dirty="0" err="1"/>
              <a:t>random.randint</a:t>
            </a:r>
            <a:r>
              <a:rPr lang="en-US" sz="1800" dirty="0"/>
              <a:t>(10, 1)</a:t>
            </a:r>
            <a:endParaRPr lang="tr-TR" sz="1800" dirty="0"/>
          </a:p>
          <a:p>
            <a:pPr lvl="1"/>
            <a:r>
              <a:rPr lang="tr-TR" sz="1800" dirty="0"/>
              <a:t>Causes an error</a:t>
            </a:r>
          </a:p>
          <a:p>
            <a:pPr lvl="1"/>
            <a:r>
              <a:rPr lang="tr-TR" sz="1800" dirty="0"/>
              <a:t>low end &gt; high 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sz="1800" b="1" dirty="0"/>
              <a:t>Keyword arguments</a:t>
            </a:r>
          </a:p>
          <a:p>
            <a:r>
              <a:rPr lang="en-US" sz="1800" dirty="0"/>
              <a:t>are identified by the keyword </a:t>
            </a:r>
            <a:endParaRPr lang="tr-TR" sz="1800" dirty="0"/>
          </a:p>
          <a:p>
            <a:r>
              <a:rPr lang="en-US" sz="1800" dirty="0"/>
              <a:t>put before</a:t>
            </a:r>
            <a:r>
              <a:rPr lang="tr-TR" sz="1800" dirty="0"/>
              <a:t> </a:t>
            </a:r>
            <a:r>
              <a:rPr lang="en-US" sz="1800" dirty="0"/>
              <a:t>them in the function call</a:t>
            </a:r>
            <a:endParaRPr lang="tr-TR" sz="1800" dirty="0"/>
          </a:p>
          <a:p>
            <a:pPr marL="0" indent="0">
              <a:buNone/>
            </a:pPr>
            <a:r>
              <a:rPr lang="tr-TR" sz="1800" b="1" dirty="0"/>
              <a:t>they are optional</a:t>
            </a:r>
          </a:p>
          <a:p>
            <a:r>
              <a:rPr lang="tr-TR" sz="1800" dirty="0"/>
              <a:t>often used for optional arguments</a:t>
            </a:r>
          </a:p>
          <a:p>
            <a:pPr marL="0" indent="0">
              <a:buNone/>
            </a:pPr>
            <a:r>
              <a:rPr lang="tr-TR" sz="1800" b="1" dirty="0"/>
              <a:t>Example</a:t>
            </a:r>
          </a:p>
          <a:p>
            <a:r>
              <a:rPr lang="en-US" sz="1800" dirty="0"/>
              <a:t>the print() function </a:t>
            </a:r>
            <a:endParaRPr lang="tr-TR" sz="1800" dirty="0"/>
          </a:p>
          <a:p>
            <a:pPr lvl="1"/>
            <a:r>
              <a:rPr lang="en-US" sz="1650" dirty="0"/>
              <a:t>has optional parameters</a:t>
            </a:r>
            <a:endParaRPr lang="tr-TR" sz="1650" dirty="0"/>
          </a:p>
          <a:p>
            <a:pPr lvl="1"/>
            <a:r>
              <a:rPr lang="tr-TR" sz="1650" dirty="0"/>
              <a:t>to tell </a:t>
            </a:r>
            <a:r>
              <a:rPr lang="en-US" sz="1650" dirty="0"/>
              <a:t>what should be printed</a:t>
            </a:r>
          </a:p>
          <a:p>
            <a:r>
              <a:rPr lang="en-US" sz="1800" dirty="0">
                <a:solidFill>
                  <a:srgbClr val="00B0F0"/>
                </a:solidFill>
              </a:rPr>
              <a:t>end</a:t>
            </a:r>
            <a:endParaRPr lang="tr-TR" sz="1800" dirty="0">
              <a:solidFill>
                <a:srgbClr val="00B0F0"/>
              </a:solidFill>
            </a:endParaRPr>
          </a:p>
          <a:p>
            <a:pPr lvl="1"/>
            <a:r>
              <a:rPr lang="en-US" sz="1600" dirty="0"/>
              <a:t>at the end of its arguments</a:t>
            </a:r>
            <a:endParaRPr lang="tr-TR" sz="1650" dirty="0"/>
          </a:p>
          <a:p>
            <a:r>
              <a:rPr lang="en-US" sz="1800" dirty="0" err="1">
                <a:solidFill>
                  <a:srgbClr val="00B0F0"/>
                </a:solidFill>
              </a:rPr>
              <a:t>sep</a:t>
            </a:r>
            <a:endParaRPr lang="en-US" sz="1800" dirty="0">
              <a:solidFill>
                <a:srgbClr val="00B0F0"/>
              </a:solidFill>
            </a:endParaRPr>
          </a:p>
          <a:p>
            <a:pPr lvl="1"/>
            <a:r>
              <a:rPr lang="en-US" sz="1650" dirty="0"/>
              <a:t>between its arguments</a:t>
            </a:r>
            <a:endParaRPr lang="tr-TR" sz="1650" dirty="0"/>
          </a:p>
          <a:p>
            <a:pPr lvl="1"/>
            <a:r>
              <a:rPr lang="en-US" sz="1650" dirty="0"/>
              <a:t>separating them</a:t>
            </a:r>
            <a:endParaRPr lang="tr-TR" sz="1650" dirty="0"/>
          </a:p>
        </p:txBody>
      </p:sp>
    </p:spTree>
    <p:extLst>
      <p:ext uri="{BB962C8B-B14F-4D97-AF65-F5344CB8AC3E}">
        <p14:creationId xmlns:p14="http://schemas.microsoft.com/office/powerpoint/2010/main" val="3573829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Position arguments vs Keyword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sz="1800" b="1" dirty="0"/>
              <a:t>Keyword arguments</a:t>
            </a:r>
          </a:p>
          <a:p>
            <a:r>
              <a:rPr lang="en-US" sz="1800" dirty="0"/>
              <a:t>are identified by the keyword </a:t>
            </a:r>
            <a:endParaRPr lang="tr-TR" sz="1800" dirty="0"/>
          </a:p>
          <a:p>
            <a:r>
              <a:rPr lang="en-US" sz="1800" dirty="0"/>
              <a:t>put before</a:t>
            </a:r>
            <a:r>
              <a:rPr lang="tr-TR" sz="1800" dirty="0"/>
              <a:t> </a:t>
            </a:r>
            <a:r>
              <a:rPr lang="en-US" sz="1800" dirty="0"/>
              <a:t>them in the function call</a:t>
            </a:r>
            <a:endParaRPr lang="tr-TR" sz="1800" dirty="0"/>
          </a:p>
          <a:p>
            <a:pPr marL="0" indent="0">
              <a:buNone/>
            </a:pPr>
            <a:r>
              <a:rPr lang="tr-TR" sz="1800" b="1" dirty="0"/>
              <a:t>they are optional</a:t>
            </a:r>
          </a:p>
          <a:p>
            <a:r>
              <a:rPr lang="tr-TR" sz="1800" dirty="0"/>
              <a:t>often used for optional arguments</a:t>
            </a:r>
          </a:p>
          <a:p>
            <a:pPr marL="0" indent="0">
              <a:buNone/>
            </a:pPr>
            <a:r>
              <a:rPr lang="tr-TR" sz="1800" b="1" dirty="0"/>
              <a:t>Example</a:t>
            </a:r>
          </a:p>
          <a:p>
            <a:r>
              <a:rPr lang="en-US" sz="1800" dirty="0"/>
              <a:t>the print() function </a:t>
            </a:r>
            <a:endParaRPr lang="tr-TR" sz="1800" dirty="0"/>
          </a:p>
          <a:p>
            <a:pPr lvl="1"/>
            <a:r>
              <a:rPr lang="en-US" sz="1650" dirty="0"/>
              <a:t>has optional parameters</a:t>
            </a:r>
            <a:endParaRPr lang="tr-TR" sz="1650" dirty="0"/>
          </a:p>
          <a:p>
            <a:pPr lvl="1"/>
            <a:r>
              <a:rPr lang="tr-TR" sz="1650" dirty="0"/>
              <a:t>to tell </a:t>
            </a:r>
            <a:r>
              <a:rPr lang="en-US" sz="1650" dirty="0"/>
              <a:t>what should be printed</a:t>
            </a:r>
          </a:p>
          <a:p>
            <a:r>
              <a:rPr lang="en-US" sz="1800" dirty="0">
                <a:solidFill>
                  <a:srgbClr val="00B0F0"/>
                </a:solidFill>
              </a:rPr>
              <a:t>end</a:t>
            </a:r>
            <a:endParaRPr lang="tr-TR" sz="1800" dirty="0">
              <a:solidFill>
                <a:srgbClr val="00B0F0"/>
              </a:solidFill>
            </a:endParaRPr>
          </a:p>
          <a:p>
            <a:pPr lvl="1"/>
            <a:r>
              <a:rPr lang="en-US" sz="1600" dirty="0"/>
              <a:t>at the end of its arguments</a:t>
            </a:r>
            <a:endParaRPr lang="tr-TR" sz="1650" dirty="0"/>
          </a:p>
          <a:p>
            <a:r>
              <a:rPr lang="en-US" sz="1800" dirty="0" err="1">
                <a:solidFill>
                  <a:srgbClr val="00B0F0"/>
                </a:solidFill>
              </a:rPr>
              <a:t>sep</a:t>
            </a:r>
            <a:endParaRPr lang="en-US" sz="1800" dirty="0">
              <a:solidFill>
                <a:srgbClr val="00B0F0"/>
              </a:solidFill>
            </a:endParaRPr>
          </a:p>
          <a:p>
            <a:pPr lvl="1"/>
            <a:r>
              <a:rPr lang="en-US" sz="1650" dirty="0"/>
              <a:t>between its arguments</a:t>
            </a:r>
            <a:endParaRPr lang="tr-TR" sz="1650" dirty="0"/>
          </a:p>
          <a:p>
            <a:pPr lvl="1"/>
            <a:r>
              <a:rPr lang="en-US" sz="1650" dirty="0"/>
              <a:t>separating them</a:t>
            </a:r>
            <a:endParaRPr lang="tr-TR" sz="165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sz="1200" dirty="0"/>
              <a:t>#program-1: printed in different lines</a:t>
            </a:r>
          </a:p>
          <a:p>
            <a:pPr marL="0" indent="0">
              <a:buNone/>
            </a:pPr>
            <a:r>
              <a:rPr lang="tr-TR" sz="1200" dirty="0"/>
              <a:t>print('Hello')</a:t>
            </a:r>
          </a:p>
          <a:p>
            <a:pPr marL="0" indent="0">
              <a:buNone/>
            </a:pPr>
            <a:r>
              <a:rPr lang="tr-TR" sz="1200" dirty="0"/>
              <a:t>print('World’)</a:t>
            </a:r>
          </a:p>
          <a:p>
            <a:pPr marL="0" indent="0">
              <a:buNone/>
            </a:pPr>
            <a:endParaRPr lang="tr-TR" sz="1200" dirty="0"/>
          </a:p>
          <a:p>
            <a:pPr marL="0" indent="0">
              <a:buNone/>
            </a:pPr>
            <a:r>
              <a:rPr lang="tr-TR" sz="1200" dirty="0"/>
              <a:t>Hello</a:t>
            </a:r>
          </a:p>
          <a:p>
            <a:pPr marL="0" indent="0">
              <a:buNone/>
            </a:pPr>
            <a:r>
              <a:rPr lang="tr-TR" sz="1200" dirty="0"/>
              <a:t>World</a:t>
            </a:r>
          </a:p>
          <a:p>
            <a:pPr marL="0" indent="0">
              <a:buNone/>
            </a:pPr>
            <a:endParaRPr lang="tr-TR" sz="1200" dirty="0"/>
          </a:p>
          <a:p>
            <a:pPr marL="0" indent="0">
              <a:buNone/>
            </a:pPr>
            <a:r>
              <a:rPr lang="tr-TR" sz="1200" dirty="0"/>
              <a:t>#program-2: printed in the same lines</a:t>
            </a:r>
          </a:p>
          <a:p>
            <a:pPr marL="0" indent="0">
              <a:buNone/>
            </a:pPr>
            <a:r>
              <a:rPr lang="en-US" sz="1200" dirty="0"/>
              <a:t>print('Hello', end='')</a:t>
            </a:r>
          </a:p>
          <a:p>
            <a:pPr marL="0" indent="0">
              <a:buNone/>
            </a:pPr>
            <a:r>
              <a:rPr lang="en-US" sz="1200" dirty="0"/>
              <a:t>print('World’)</a:t>
            </a:r>
            <a:endParaRPr lang="tr-TR" sz="1200" dirty="0"/>
          </a:p>
          <a:p>
            <a:pPr marL="0" indent="0">
              <a:buNone/>
            </a:pPr>
            <a:endParaRPr lang="tr-TR" sz="1200" dirty="0"/>
          </a:p>
          <a:p>
            <a:pPr marL="0" indent="0">
              <a:buNone/>
            </a:pPr>
            <a:r>
              <a:rPr lang="tr-TR" sz="1200" dirty="0"/>
              <a:t>HelloWorld</a:t>
            </a:r>
          </a:p>
          <a:p>
            <a:pPr marL="0" indent="0">
              <a:buNone/>
            </a:pPr>
            <a:endParaRPr lang="tr-TR" sz="1200" dirty="0"/>
          </a:p>
          <a:p>
            <a:pPr marL="0" indent="0">
              <a:buNone/>
            </a:pPr>
            <a:r>
              <a:rPr lang="tr-TR" sz="1200" dirty="0"/>
              <a:t>&gt;&gt;&gt; print('cats', 'dogs', 'mice')</a:t>
            </a:r>
          </a:p>
          <a:p>
            <a:pPr marL="0" indent="0">
              <a:buNone/>
            </a:pPr>
            <a:r>
              <a:rPr lang="tr-TR" sz="1200" dirty="0"/>
              <a:t>cats dogs mice</a:t>
            </a:r>
          </a:p>
          <a:p>
            <a:pPr marL="0" indent="0">
              <a:buNone/>
            </a:pPr>
            <a:endParaRPr lang="tr-TR" sz="1200" dirty="0"/>
          </a:p>
          <a:p>
            <a:pPr marL="0" indent="0">
              <a:buNone/>
            </a:pPr>
            <a:r>
              <a:rPr lang="en-US" sz="1200" dirty="0"/>
              <a:t>&gt;&gt;&gt; print('cats', 'dogs', 'mice', </a:t>
            </a:r>
            <a:r>
              <a:rPr lang="en-US" sz="1200" dirty="0" err="1"/>
              <a:t>sep</a:t>
            </a:r>
            <a:r>
              <a:rPr lang="en-US" sz="1200" dirty="0"/>
              <a:t>=',')</a:t>
            </a:r>
          </a:p>
          <a:p>
            <a:pPr marL="0" indent="0">
              <a:buNone/>
            </a:pPr>
            <a:r>
              <a:rPr lang="en-US" sz="1200" dirty="0" err="1"/>
              <a:t>cats,dogs,mice</a:t>
            </a:r>
            <a:endParaRPr lang="tr-TR" sz="1200" dirty="0"/>
          </a:p>
        </p:txBody>
      </p:sp>
    </p:spTree>
    <p:extLst>
      <p:ext uri="{BB962C8B-B14F-4D97-AF65-F5344CB8AC3E}">
        <p14:creationId xmlns:p14="http://schemas.microsoft.com/office/powerpoint/2010/main" val="2570852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Chapter-3 Functions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Local and Global Scope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8" name="Picture Placeholder 7" descr="A view of a large rock&#10;&#10;Description automatically generated">
            <a:extLst>
              <a:ext uri="{FF2B5EF4-FFF2-40B4-BE49-F238E27FC236}">
                <a16:creationId xmlns:a16="http://schemas.microsoft.com/office/drawing/2014/main" id="{70E7267B-ED88-4F42-AD29-8C6A7669A07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853" r="785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26838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Local vs Global Variables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Local variables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tr-TR" dirty="0"/>
              <a:t>assigned in a function</a:t>
            </a:r>
          </a:p>
          <a:p>
            <a:r>
              <a:rPr lang="tr-TR" b="1" dirty="0"/>
              <a:t>Local scope</a:t>
            </a:r>
          </a:p>
          <a:p>
            <a:r>
              <a:rPr lang="tr-TR" dirty="0"/>
              <a:t>All local variables</a:t>
            </a:r>
            <a:endParaRPr lang="en-US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Global Variables</a:t>
            </a:r>
            <a:endParaRPr lang="en-US" dirty="0"/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5"/>
            <a:ext cx="2370064" cy="745886"/>
          </a:xfrm>
        </p:spPr>
        <p:txBody>
          <a:bodyPr/>
          <a:lstStyle/>
          <a:p>
            <a:r>
              <a:rPr lang="tr-TR" dirty="0"/>
              <a:t>assigned outside of a function</a:t>
            </a:r>
          </a:p>
          <a:p>
            <a:r>
              <a:rPr lang="tr-TR" b="1" dirty="0"/>
              <a:t>Global scops</a:t>
            </a:r>
          </a:p>
          <a:p>
            <a:r>
              <a:rPr lang="tr-TR" dirty="0"/>
              <a:t>All global variables</a:t>
            </a:r>
            <a:endParaRPr lang="en-US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Destruction</a:t>
            </a:r>
            <a:endParaRPr lang="en-US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76211" y="4858343"/>
            <a:ext cx="2251799" cy="788865"/>
          </a:xfrm>
        </p:spPr>
        <p:txBody>
          <a:bodyPr/>
          <a:lstStyle/>
          <a:p>
            <a:r>
              <a:rPr lang="tr-TR" dirty="0"/>
              <a:t>All scope variables are destructed when a scope destroyed</a:t>
            </a:r>
            <a:endParaRPr lang="tr-TR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Placeholder 6" descr="A close up of a rock mountain&#10;&#10;Description automatically generated">
            <a:extLst>
              <a:ext uri="{FF2B5EF4-FFF2-40B4-BE49-F238E27FC236}">
                <a16:creationId xmlns:a16="http://schemas.microsoft.com/office/drawing/2014/main" id="{9085C82B-AD3B-4C70-A567-16D265C6C78B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074" b="607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22696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Creating &amp; Destroying of the Scope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900000"/>
          </a:xfrm>
        </p:spPr>
        <p:txBody>
          <a:bodyPr/>
          <a:lstStyle/>
          <a:p>
            <a:r>
              <a:rPr lang="tr-TR" dirty="0"/>
              <a:t>Scope is constructed at the initialization and destroyed at leave</a:t>
            </a:r>
            <a:endParaRPr lang="en-US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Global Scope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900000"/>
          </a:xfrm>
        </p:spPr>
        <p:txBody>
          <a:bodyPr/>
          <a:lstStyle/>
          <a:p>
            <a:r>
              <a:rPr lang="tr-TR" b="1" dirty="0"/>
              <a:t>Constructed</a:t>
            </a:r>
            <a:r>
              <a:rPr lang="tr-TR" dirty="0"/>
              <a:t> at the program </a:t>
            </a:r>
            <a:r>
              <a:rPr lang="tr-TR" b="1" dirty="0"/>
              <a:t>initialization</a:t>
            </a:r>
          </a:p>
          <a:p>
            <a:r>
              <a:rPr lang="tr-TR" b="1" dirty="0"/>
              <a:t>Destructed</a:t>
            </a:r>
            <a:r>
              <a:rPr lang="tr-TR" dirty="0"/>
              <a:t> at the program </a:t>
            </a:r>
            <a:r>
              <a:rPr lang="tr-TR" b="1" dirty="0"/>
              <a:t>termination</a:t>
            </a:r>
            <a:endParaRPr lang="en-US" b="1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Local Scope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3533" y="4688112"/>
            <a:ext cx="2039816" cy="900000"/>
          </a:xfrm>
        </p:spPr>
        <p:txBody>
          <a:bodyPr vert="horz" lIns="0" tIns="0" rIns="0" bIns="0" rtlCol="0">
            <a:noAutofit/>
          </a:bodyPr>
          <a:lstStyle/>
          <a:p>
            <a:r>
              <a:rPr lang="tr-TR" b="1" dirty="0"/>
              <a:t>Constructed</a:t>
            </a:r>
            <a:r>
              <a:rPr lang="tr-TR" dirty="0"/>
              <a:t> at the function call</a:t>
            </a:r>
          </a:p>
          <a:p>
            <a:r>
              <a:rPr lang="tr-TR" b="1" dirty="0"/>
              <a:t>Destroyed</a:t>
            </a:r>
            <a:r>
              <a:rPr lang="tr-TR" dirty="0"/>
              <a:t> when function </a:t>
            </a:r>
            <a:r>
              <a:rPr lang="tr-TR" b="1" dirty="0"/>
              <a:t>returns</a:t>
            </a:r>
            <a:endParaRPr lang="en-US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4175" y="3870065"/>
            <a:ext cx="1620440" cy="504000"/>
          </a:xfrm>
        </p:spPr>
        <p:txBody>
          <a:bodyPr/>
          <a:lstStyle/>
          <a:p>
            <a:r>
              <a:rPr lang="tr-TR" dirty="0"/>
              <a:t>Variable Existance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47566" y="4627376"/>
            <a:ext cx="2210170" cy="1210716"/>
          </a:xfrm>
        </p:spPr>
        <p:txBody>
          <a:bodyPr/>
          <a:lstStyle/>
          <a:p>
            <a:r>
              <a:rPr lang="tr-TR" dirty="0"/>
              <a:t>Variables exist as long as the scope is active</a:t>
            </a:r>
          </a:p>
          <a:p>
            <a:r>
              <a:rPr lang="tr-TR" dirty="0"/>
              <a:t>Next time </a:t>
            </a:r>
            <a:r>
              <a:rPr lang="tr-TR" b="1" dirty="0"/>
              <a:t>variables</a:t>
            </a:r>
            <a:r>
              <a:rPr lang="tr-TR" dirty="0"/>
              <a:t> will </a:t>
            </a:r>
            <a:r>
              <a:rPr lang="tr-TR" b="1" dirty="0"/>
              <a:t>not remember </a:t>
            </a:r>
            <a:r>
              <a:rPr lang="tr-TR" dirty="0"/>
              <a:t>their </a:t>
            </a:r>
            <a:r>
              <a:rPr lang="tr-TR" b="1" dirty="0"/>
              <a:t>previous values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445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Scope matters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900000"/>
          </a:xfrm>
        </p:spPr>
        <p:txBody>
          <a:bodyPr/>
          <a:lstStyle/>
          <a:p>
            <a:r>
              <a:rPr lang="tr-TR" dirty="0"/>
              <a:t>There are rules to distnguish between local and global variable usages</a:t>
            </a:r>
            <a:endParaRPr lang="en-US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Global Scope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900000"/>
          </a:xfrm>
        </p:spPr>
        <p:txBody>
          <a:bodyPr/>
          <a:lstStyle/>
          <a:p>
            <a:r>
              <a:rPr lang="en-US" dirty="0"/>
              <a:t>cannot use any local variables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Local Scope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3533" y="4688111"/>
            <a:ext cx="2039816" cy="1290657"/>
          </a:xfrm>
        </p:spPr>
        <p:txBody>
          <a:bodyPr vert="horz" lIns="0" tIns="0" rIns="0" bIns="0" rtlCol="0">
            <a:noAutofit/>
          </a:bodyPr>
          <a:lstStyle/>
          <a:p>
            <a:r>
              <a:rPr lang="en-US" dirty="0"/>
              <a:t>can access global variables</a:t>
            </a:r>
            <a:endParaRPr lang="tr-TR" dirty="0"/>
          </a:p>
          <a:p>
            <a:r>
              <a:rPr lang="en-US" dirty="0"/>
              <a:t>cannot use variables in any other</a:t>
            </a:r>
          </a:p>
          <a:p>
            <a:r>
              <a:rPr lang="en-US" dirty="0"/>
              <a:t>local scope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4175" y="3870065"/>
            <a:ext cx="1620440" cy="504000"/>
          </a:xfrm>
        </p:spPr>
        <p:txBody>
          <a:bodyPr/>
          <a:lstStyle/>
          <a:p>
            <a:r>
              <a:rPr lang="tr-TR" dirty="0"/>
              <a:t>Different scopes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47566" y="4627376"/>
            <a:ext cx="2210170" cy="1210716"/>
          </a:xfrm>
        </p:spPr>
        <p:txBody>
          <a:bodyPr/>
          <a:lstStyle/>
          <a:p>
            <a:r>
              <a:rPr lang="en-US" dirty="0"/>
              <a:t>You can use the same name for different variables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524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Variables Cannot Be Used in the Global Scope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def spam():</a:t>
            </a:r>
          </a:p>
          <a:p>
            <a:pPr marL="0" indent="0">
              <a:buNone/>
            </a:pPr>
            <a:r>
              <a:rPr lang="en-US" dirty="0"/>
              <a:t>    eggs = 31337</a:t>
            </a:r>
          </a:p>
          <a:p>
            <a:pPr marL="0" indent="0">
              <a:buNone/>
            </a:pPr>
            <a:r>
              <a:rPr lang="en-US" dirty="0"/>
              <a:t>    print('You have</a:t>
            </a:r>
            <a:r>
              <a:rPr lang="tr-TR" dirty="0"/>
              <a:t> </a:t>
            </a:r>
            <a:r>
              <a:rPr lang="en-US" dirty="0"/>
              <a:t>' + str(eggs) + ' eggs, do you want to sell them?')</a:t>
            </a:r>
          </a:p>
          <a:p>
            <a:pPr marL="0" indent="0">
              <a:buNone/>
            </a:pPr>
            <a:r>
              <a:rPr lang="en-US" dirty="0"/>
              <a:t>eggs='don\'t put all eggs in the same pot'</a:t>
            </a:r>
          </a:p>
          <a:p>
            <a:pPr marL="0" indent="0">
              <a:buNone/>
            </a:pPr>
            <a:r>
              <a:rPr lang="en-US" dirty="0"/>
              <a:t>spam()</a:t>
            </a:r>
          </a:p>
          <a:p>
            <a:pPr marL="0" indent="0">
              <a:buNone/>
            </a:pPr>
            <a:r>
              <a:rPr lang="en-US" dirty="0"/>
              <a:t>print(eggs)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You have</a:t>
            </a:r>
            <a:r>
              <a:rPr lang="tr-TR" dirty="0"/>
              <a:t> </a:t>
            </a:r>
            <a:r>
              <a:rPr lang="en-US" dirty="0"/>
              <a:t>31337 eggs, do you want to sell them?</a:t>
            </a:r>
          </a:p>
          <a:p>
            <a:pPr marL="0" indent="0">
              <a:buNone/>
            </a:pPr>
            <a:r>
              <a:rPr lang="en-US" dirty="0"/>
              <a:t>don't put all eggs in the same pot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80961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Scopes Cannot Use Variables in Other Local Scopes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def spam():</a:t>
            </a:r>
          </a:p>
          <a:p>
            <a:pPr marL="0" indent="0">
              <a:buNone/>
            </a:pPr>
            <a:r>
              <a:rPr lang="en-US" dirty="0"/>
              <a:t>    eggs = 99</a:t>
            </a:r>
          </a:p>
          <a:p>
            <a:pPr marL="0" indent="0">
              <a:buNone/>
            </a:pPr>
            <a:r>
              <a:rPr lang="en-US" dirty="0"/>
              <a:t>    steak()</a:t>
            </a:r>
          </a:p>
          <a:p>
            <a:pPr marL="0" indent="0">
              <a:buNone/>
            </a:pPr>
            <a:r>
              <a:rPr lang="en-US" dirty="0"/>
              <a:t>    print('spam scope </a:t>
            </a:r>
            <a:r>
              <a:rPr lang="en-US" dirty="0" err="1"/>
              <a:t>egges</a:t>
            </a:r>
            <a:r>
              <a:rPr lang="en-US" dirty="0"/>
              <a:t> =', eggs)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 steak():</a:t>
            </a:r>
          </a:p>
          <a:p>
            <a:pPr marL="0" indent="0">
              <a:buNone/>
            </a:pPr>
            <a:r>
              <a:rPr lang="en-US" dirty="0"/>
              <a:t>    weight = 101</a:t>
            </a:r>
          </a:p>
          <a:p>
            <a:pPr marL="0" indent="0">
              <a:buNone/>
            </a:pPr>
            <a:r>
              <a:rPr lang="en-US" dirty="0"/>
              <a:t>    eggs = 0</a:t>
            </a:r>
          </a:p>
          <a:p>
            <a:pPr marL="0" indent="0">
              <a:buNone/>
            </a:pPr>
            <a:r>
              <a:rPr lang="en-US" dirty="0"/>
              <a:t>    print('steak scope </a:t>
            </a:r>
            <a:r>
              <a:rPr lang="en-US" dirty="0" err="1"/>
              <a:t>egges</a:t>
            </a:r>
            <a:r>
              <a:rPr lang="en-US" dirty="0"/>
              <a:t> =', eggs)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spam()</a:t>
            </a:r>
          </a:p>
          <a:p>
            <a:pPr marL="0" indent="0">
              <a:buNone/>
            </a:pPr>
            <a:r>
              <a:rPr lang="en-US" dirty="0"/>
              <a:t>steak()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steak scope </a:t>
            </a:r>
            <a:r>
              <a:rPr lang="en-US" dirty="0" err="1"/>
              <a:t>egges</a:t>
            </a:r>
            <a:r>
              <a:rPr lang="en-US" dirty="0"/>
              <a:t> = 0</a:t>
            </a:r>
          </a:p>
          <a:p>
            <a:pPr marL="0" indent="0">
              <a:buNone/>
            </a:pPr>
            <a:r>
              <a:rPr lang="en-US" dirty="0"/>
              <a:t>spam scope </a:t>
            </a:r>
            <a:r>
              <a:rPr lang="en-US" dirty="0" err="1"/>
              <a:t>egges</a:t>
            </a:r>
            <a:r>
              <a:rPr lang="en-US" dirty="0"/>
              <a:t> = 99</a:t>
            </a:r>
          </a:p>
          <a:p>
            <a:pPr marL="0" indent="0">
              <a:buNone/>
            </a:pPr>
            <a:r>
              <a:rPr lang="en-US" dirty="0"/>
              <a:t>steak scope </a:t>
            </a:r>
            <a:r>
              <a:rPr lang="en-US" dirty="0" err="1"/>
              <a:t>egges</a:t>
            </a:r>
            <a:r>
              <a:rPr lang="en-US" dirty="0"/>
              <a:t> = 0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08808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Variables Can Be Read from a Local Scope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def spam():</a:t>
            </a:r>
          </a:p>
          <a:p>
            <a:pPr marL="0" indent="0">
              <a:buNone/>
            </a:pPr>
            <a:r>
              <a:rPr lang="en-US" dirty="0"/>
              <a:t>    print('in function spam for global scope of </a:t>
            </a:r>
            <a:r>
              <a:rPr lang="en-US" dirty="0" err="1"/>
              <a:t>egges</a:t>
            </a:r>
            <a:r>
              <a:rPr lang="en-US" dirty="0"/>
              <a:t> =', eggs)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eggs = 42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spam()</a:t>
            </a:r>
          </a:p>
          <a:p>
            <a:pPr marL="0" indent="0">
              <a:buNone/>
            </a:pPr>
            <a:r>
              <a:rPr lang="en-US" dirty="0"/>
              <a:t>print('global scope eggs =', eggs)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in function spam for global scope of </a:t>
            </a:r>
            <a:r>
              <a:rPr lang="en-US" dirty="0" err="1"/>
              <a:t>egges</a:t>
            </a:r>
            <a:r>
              <a:rPr lang="en-US" dirty="0"/>
              <a:t> = 42</a:t>
            </a:r>
          </a:p>
          <a:p>
            <a:pPr marL="0" indent="0">
              <a:buNone/>
            </a:pPr>
            <a:r>
              <a:rPr lang="en-US" dirty="0"/>
              <a:t>global scope eggs = 42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54375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Local and Global Variables with the Same Name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def spam():</a:t>
            </a:r>
          </a:p>
          <a:p>
            <a:pPr marL="0" indent="0">
              <a:buNone/>
            </a:pPr>
            <a:r>
              <a:rPr lang="en-US" dirty="0"/>
              <a:t>    eggs = 'spam local’</a:t>
            </a:r>
            <a:r>
              <a:rPr lang="tr-TR" dirty="0"/>
              <a:t> #</a:t>
            </a:r>
            <a:r>
              <a:rPr lang="en-US" dirty="0"/>
              <a:t>exists in a local scope </a:t>
            </a:r>
            <a:r>
              <a:rPr lang="tr-TR" dirty="0"/>
              <a:t>of</a:t>
            </a:r>
            <a:r>
              <a:rPr lang="en-US" dirty="0"/>
              <a:t> spam()</a:t>
            </a:r>
          </a:p>
          <a:p>
            <a:pPr marL="0" indent="0">
              <a:buNone/>
            </a:pPr>
            <a:r>
              <a:rPr lang="en-US" dirty="0"/>
              <a:t>    print(eggs) # prints 'spam local'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 steak():</a:t>
            </a:r>
          </a:p>
          <a:p>
            <a:pPr marL="0" indent="0">
              <a:buNone/>
            </a:pPr>
            <a:r>
              <a:rPr lang="en-US" dirty="0"/>
              <a:t>    eggs = 'steak local’</a:t>
            </a:r>
            <a:r>
              <a:rPr lang="tr-TR" dirty="0"/>
              <a:t> #</a:t>
            </a:r>
            <a:r>
              <a:rPr lang="en-US" dirty="0"/>
              <a:t>exists in a local scope </a:t>
            </a:r>
            <a:r>
              <a:rPr lang="tr-TR" dirty="0"/>
              <a:t>of</a:t>
            </a:r>
            <a:r>
              <a:rPr lang="en-US" dirty="0"/>
              <a:t> s</a:t>
            </a:r>
            <a:r>
              <a:rPr lang="tr-TR" dirty="0"/>
              <a:t>teak()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print(eggs) # prints 'bacon local'</a:t>
            </a:r>
          </a:p>
          <a:p>
            <a:pPr marL="0" indent="0">
              <a:buNone/>
            </a:pPr>
            <a:r>
              <a:rPr lang="en-US" dirty="0"/>
              <a:t>    spam()</a:t>
            </a:r>
          </a:p>
          <a:p>
            <a:pPr marL="0" indent="0">
              <a:buNone/>
            </a:pPr>
            <a:r>
              <a:rPr lang="en-US" dirty="0"/>
              <a:t>    print(eggs) # prints 'bacon local'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eggs = 'global</a:t>
            </a:r>
            <a:r>
              <a:rPr lang="tr-TR" dirty="0"/>
              <a:t> </a:t>
            </a:r>
            <a:r>
              <a:rPr lang="en-US" dirty="0"/>
              <a:t>'</a:t>
            </a:r>
            <a:r>
              <a:rPr lang="tr-TR" dirty="0"/>
              <a:t>#</a:t>
            </a:r>
            <a:r>
              <a:rPr lang="en-US" dirty="0"/>
              <a:t>exists in a </a:t>
            </a:r>
            <a:r>
              <a:rPr lang="tr-TR" dirty="0"/>
              <a:t>global</a:t>
            </a:r>
            <a:r>
              <a:rPr lang="en-US" dirty="0"/>
              <a:t> scope</a:t>
            </a:r>
          </a:p>
          <a:p>
            <a:pPr marL="0" indent="0">
              <a:buNone/>
            </a:pPr>
            <a:r>
              <a:rPr lang="en-US" dirty="0"/>
              <a:t>steak()</a:t>
            </a:r>
          </a:p>
          <a:p>
            <a:pPr marL="0" indent="0">
              <a:buNone/>
            </a:pPr>
            <a:r>
              <a:rPr lang="en-US" dirty="0"/>
              <a:t>print(eggs) # prints 'global'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steak local</a:t>
            </a:r>
          </a:p>
          <a:p>
            <a:pPr marL="0" indent="0">
              <a:buNone/>
            </a:pPr>
            <a:r>
              <a:rPr lang="en-US" dirty="0"/>
              <a:t>spam local</a:t>
            </a:r>
          </a:p>
          <a:p>
            <a:pPr marL="0" indent="0">
              <a:buNone/>
            </a:pPr>
            <a:r>
              <a:rPr lang="en-US" dirty="0"/>
              <a:t>steak local</a:t>
            </a:r>
          </a:p>
          <a:p>
            <a:pPr marL="0" indent="0">
              <a:buNone/>
            </a:pPr>
            <a:r>
              <a:rPr lang="en-US" dirty="0"/>
              <a:t>global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31176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Chapter-3 Functions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global Statement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23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8" name="Picture Placeholder 7" descr="A view of a large rock&#10;&#10;Description automatically generated">
            <a:extLst>
              <a:ext uri="{FF2B5EF4-FFF2-40B4-BE49-F238E27FC236}">
                <a16:creationId xmlns:a16="http://schemas.microsoft.com/office/drawing/2014/main" id="{70E7267B-ED88-4F42-AD29-8C6A7669A07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853" r="785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20052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0B8C-152D-4041-AC3C-8B85647A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global statement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6DD47F-D181-45CD-A525-14A14AF484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4677" y="2666283"/>
            <a:ext cx="2278523" cy="885825"/>
          </a:xfrm>
        </p:spPr>
        <p:txBody>
          <a:bodyPr/>
          <a:lstStyle/>
          <a:p>
            <a:r>
              <a:rPr lang="tr-TR" sz="3200" b="0" i="1" dirty="0"/>
              <a:t>usage</a:t>
            </a:r>
            <a:r>
              <a:rPr lang="en-US" sz="4000" b="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FC6F7-3678-4EB1-9653-A3E4DAC47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049" y="3711564"/>
            <a:ext cx="2752385" cy="1255504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to </a:t>
            </a:r>
            <a:r>
              <a:rPr lang="en-US" dirty="0"/>
              <a:t>modify a global variable 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from within a function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976196-87DB-406C-9904-8B1F6B13B4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19977" y="2757538"/>
            <a:ext cx="2180490" cy="885825"/>
          </a:xfrm>
        </p:spPr>
        <p:txBody>
          <a:bodyPr/>
          <a:lstStyle/>
          <a:p>
            <a:r>
              <a:rPr lang="tr-TR" sz="4000" b="0" dirty="0"/>
              <a:t>tells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CA641-190C-4E8A-B694-3EA9C4DCD9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0731" y="3669324"/>
            <a:ext cx="2628040" cy="20716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global eggs</a:t>
            </a:r>
            <a:endParaRPr lang="tr-TR" dirty="0"/>
          </a:p>
          <a:p>
            <a:r>
              <a:rPr lang="en-US" dirty="0"/>
              <a:t>as at the top of a function</a:t>
            </a:r>
            <a:endParaRPr lang="tr-TR" dirty="0"/>
          </a:p>
          <a:p>
            <a:r>
              <a:rPr lang="tr-TR" dirty="0"/>
              <a:t>tells</a:t>
            </a:r>
          </a:p>
          <a:p>
            <a:r>
              <a:rPr lang="en-US" dirty="0">
                <a:solidFill>
                  <a:srgbClr val="00B0F0"/>
                </a:solidFill>
              </a:rPr>
              <a:t>eggs</a:t>
            </a:r>
            <a:r>
              <a:rPr lang="en-US" dirty="0"/>
              <a:t> refers to the global variable </a:t>
            </a:r>
            <a:endParaRPr lang="tr-TR" dirty="0"/>
          </a:p>
          <a:p>
            <a:r>
              <a:rPr lang="en-US" dirty="0"/>
              <a:t>so </a:t>
            </a:r>
            <a:r>
              <a:rPr lang="en-US" b="1" dirty="0"/>
              <a:t>don’t</a:t>
            </a:r>
            <a:r>
              <a:rPr lang="tr-TR" b="1" dirty="0"/>
              <a:t> </a:t>
            </a:r>
            <a:r>
              <a:rPr lang="en-US" b="1" dirty="0"/>
              <a:t>create </a:t>
            </a:r>
            <a:r>
              <a:rPr lang="en-US" dirty="0"/>
              <a:t>a local variable with this name.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FC72F-9055-4E36-A7BE-2574540334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AF5F208-929D-4DF0-B259-760C4694AA3C}"/>
              </a:ext>
            </a:extLst>
          </p:cNvPr>
          <p:cNvSpPr txBox="1">
            <a:spLocks/>
          </p:cNvSpPr>
          <p:nvPr/>
        </p:nvSpPr>
        <p:spPr>
          <a:xfrm>
            <a:off x="6541477" y="2642652"/>
            <a:ext cx="2361223" cy="8858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60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4000" b="0" dirty="0"/>
              <a:t>Example</a:t>
            </a:r>
            <a:endParaRPr lang="en-US" sz="3200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7352DBC-7497-40D0-952C-FD020A431DA4}"/>
              </a:ext>
            </a:extLst>
          </p:cNvPr>
          <p:cNvSpPr txBox="1">
            <a:spLocks/>
          </p:cNvSpPr>
          <p:nvPr/>
        </p:nvSpPr>
        <p:spPr>
          <a:xfrm>
            <a:off x="6513618" y="3652910"/>
            <a:ext cx="2503774" cy="28322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dirty="0"/>
              <a:t>#</a:t>
            </a:r>
            <a:r>
              <a:rPr lang="tr-TR" i="1" dirty="0"/>
              <a:t> ameName2.py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def spam():</a:t>
            </a:r>
          </a:p>
          <a:p>
            <a:pPr marL="0" indent="0">
              <a:buNone/>
            </a:pPr>
            <a:r>
              <a:rPr lang="en-US" dirty="0"/>
              <a:t>    global eggs</a:t>
            </a:r>
          </a:p>
          <a:p>
            <a:pPr marL="0" indent="0">
              <a:buNone/>
            </a:pPr>
            <a:r>
              <a:rPr lang="en-US" dirty="0"/>
              <a:t>    eggs = 'spam'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eggs = 'global'</a:t>
            </a:r>
          </a:p>
          <a:p>
            <a:pPr marL="0" indent="0">
              <a:buNone/>
            </a:pPr>
            <a:r>
              <a:rPr lang="en-US" dirty="0"/>
              <a:t>spam()</a:t>
            </a:r>
          </a:p>
          <a:p>
            <a:pPr marL="0" indent="0">
              <a:buNone/>
            </a:pPr>
            <a:r>
              <a:rPr lang="en-US" dirty="0"/>
              <a:t>print(eggs)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spam</a:t>
            </a:r>
          </a:p>
        </p:txBody>
      </p:sp>
      <p:pic>
        <p:nvPicPr>
          <p:cNvPr id="3074" name="Picture 2" descr="flow icon ile ilgili görsel sonucu">
            <a:extLst>
              <a:ext uri="{FF2B5EF4-FFF2-40B4-BE49-F238E27FC236}">
                <a16:creationId xmlns:a16="http://schemas.microsoft.com/office/drawing/2014/main" id="{78E4D8C8-FD92-4BA2-A9C2-0056BD636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271" y="1611190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3B6B83-AAFD-4A41-9F4C-73A36BB195C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33148" y="1618957"/>
            <a:ext cx="1146844" cy="12027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6CAC02-7D9C-4FA0-A736-1BD5CE01361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20" y="1638300"/>
            <a:ext cx="133208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84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Rules to tell a variable’s scope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1" y="1080002"/>
            <a:ext cx="4599842" cy="256430"/>
          </a:xfrm>
        </p:spPr>
        <p:txBody>
          <a:bodyPr/>
          <a:lstStyle/>
          <a:p>
            <a:r>
              <a:rPr lang="tr-TR" i="1" dirty="0"/>
              <a:t>4 Rules to tell a variable is in local or global scope</a:t>
            </a:r>
            <a:endParaRPr lang="en-US" i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0" y="1695141"/>
            <a:ext cx="1772236" cy="648000"/>
          </a:xfrm>
        </p:spPr>
        <p:txBody>
          <a:bodyPr/>
          <a:lstStyle/>
          <a:p>
            <a:r>
              <a:rPr lang="tr-TR" dirty="0"/>
              <a:t>Global Scope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" y="2511838"/>
            <a:ext cx="2208214" cy="3314545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Using in global scope</a:t>
            </a:r>
          </a:p>
          <a:p>
            <a:r>
              <a:rPr lang="en-US" dirty="0"/>
              <a:t>If a variable</a:t>
            </a:r>
            <a:r>
              <a:rPr lang="tr-TR" dirty="0"/>
              <a:t> </a:t>
            </a:r>
            <a:r>
              <a:rPr lang="en-US" dirty="0"/>
              <a:t>is used in the </a:t>
            </a:r>
            <a:r>
              <a:rPr lang="en-US" b="1" dirty="0"/>
              <a:t>global scope</a:t>
            </a:r>
            <a:endParaRPr lang="tr-TR" b="1" dirty="0"/>
          </a:p>
          <a:p>
            <a:r>
              <a:rPr lang="en-US" dirty="0"/>
              <a:t>outside of all</a:t>
            </a:r>
            <a:r>
              <a:rPr lang="tr-TR" dirty="0"/>
              <a:t> </a:t>
            </a:r>
            <a:r>
              <a:rPr lang="en-US" dirty="0"/>
              <a:t>functions</a:t>
            </a:r>
            <a:endParaRPr lang="tr-TR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</a:t>
            </a:r>
            <a:r>
              <a:rPr lang="en-US" b="1" dirty="0"/>
              <a:t>global</a:t>
            </a:r>
            <a:r>
              <a:rPr lang="tr-TR" b="1" dirty="0"/>
              <a:t> variable</a:t>
            </a:r>
            <a:endParaRPr lang="tr-TR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619469" y="1710302"/>
            <a:ext cx="1766048" cy="648000"/>
          </a:xfrm>
        </p:spPr>
        <p:txBody>
          <a:bodyPr/>
          <a:lstStyle/>
          <a:p>
            <a:r>
              <a:rPr lang="tr-TR" dirty="0"/>
              <a:t>Global Statement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3706" y="2527063"/>
            <a:ext cx="2185057" cy="3314200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With global statement</a:t>
            </a:r>
          </a:p>
          <a:p>
            <a:r>
              <a:rPr lang="en-US" dirty="0"/>
              <a:t>there is a global statement </a:t>
            </a:r>
            <a:endParaRPr lang="tr-TR" dirty="0"/>
          </a:p>
          <a:p>
            <a:r>
              <a:rPr lang="en-US" dirty="0"/>
              <a:t>for </a:t>
            </a:r>
            <a:r>
              <a:rPr lang="tr-TR" dirty="0"/>
              <a:t>the </a:t>
            </a:r>
            <a:r>
              <a:rPr lang="en-US" dirty="0"/>
              <a:t>variable in a function</a:t>
            </a:r>
            <a:endParaRPr lang="tr-TR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</a:t>
            </a:r>
            <a:r>
              <a:rPr lang="en-US" b="1" dirty="0"/>
              <a:t>global</a:t>
            </a:r>
            <a:r>
              <a:rPr lang="tr-TR" b="1" dirty="0"/>
              <a:t> variable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2227213" y="1724088"/>
            <a:ext cx="1995287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Assignment in Function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2227334" y="2540785"/>
            <a:ext cx="2372801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b="1" dirty="0"/>
              <a:t>Using in assignment</a:t>
            </a:r>
          </a:p>
          <a:p>
            <a:r>
              <a:rPr lang="tr-TR" dirty="0"/>
              <a:t>a </a:t>
            </a:r>
            <a:r>
              <a:rPr lang="en-US" dirty="0"/>
              <a:t>variable is used </a:t>
            </a:r>
            <a:endParaRPr lang="tr-TR" dirty="0"/>
          </a:p>
          <a:p>
            <a:r>
              <a:rPr lang="en-US" dirty="0"/>
              <a:t>in an </a:t>
            </a:r>
            <a:r>
              <a:rPr lang="en-US" b="1" dirty="0"/>
              <a:t>assignment</a:t>
            </a:r>
            <a:r>
              <a:rPr lang="en-US" dirty="0"/>
              <a:t> statement</a:t>
            </a:r>
            <a:endParaRPr lang="tr-TR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</a:t>
            </a:r>
            <a:r>
              <a:rPr lang="tr-TR" b="1" dirty="0"/>
              <a:t>local variable</a:t>
            </a:r>
            <a:endParaRPr lang="tr-TR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0A9789C-B725-4148-B126-6FD70E1337F7}"/>
              </a:ext>
            </a:extLst>
          </p:cNvPr>
          <p:cNvSpPr txBox="1">
            <a:spLocks/>
          </p:cNvSpPr>
          <p:nvPr/>
        </p:nvSpPr>
        <p:spPr>
          <a:xfrm>
            <a:off x="336914" y="5995991"/>
            <a:ext cx="6473188" cy="5963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00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i="1" dirty="0"/>
              <a:t>A variable is in local scope only if used in an assignment statement of a function</a:t>
            </a:r>
            <a:endParaRPr lang="en-US" i="1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5FFB0EEF-5D49-459B-A30F-19224BCB54BD}"/>
              </a:ext>
            </a:extLst>
          </p:cNvPr>
          <p:cNvSpPr txBox="1">
            <a:spLocks/>
          </p:cNvSpPr>
          <p:nvPr/>
        </p:nvSpPr>
        <p:spPr>
          <a:xfrm>
            <a:off x="6814320" y="1722025"/>
            <a:ext cx="1777183" cy="64800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Without Assignment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8E92632E-8844-41E1-9AF5-41F85478BF92}"/>
              </a:ext>
            </a:extLst>
          </p:cNvPr>
          <p:cNvSpPr txBox="1">
            <a:spLocks/>
          </p:cNvSpPr>
          <p:nvPr/>
        </p:nvSpPr>
        <p:spPr>
          <a:xfrm>
            <a:off x="6818558" y="2538786"/>
            <a:ext cx="2198833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b="1" dirty="0"/>
              <a:t>In Function not assigned</a:t>
            </a:r>
          </a:p>
          <a:p>
            <a:r>
              <a:rPr lang="en-US" dirty="0"/>
              <a:t>if the variable </a:t>
            </a:r>
            <a:endParaRPr lang="tr-TR" dirty="0"/>
          </a:p>
          <a:p>
            <a:r>
              <a:rPr lang="en-US" dirty="0"/>
              <a:t>is not used in an assignment statement</a:t>
            </a:r>
            <a:endParaRPr lang="tr-TR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</a:t>
            </a:r>
            <a:r>
              <a:rPr lang="en-US" b="1" dirty="0"/>
              <a:t>global</a:t>
            </a:r>
            <a:r>
              <a:rPr lang="tr-TR" b="1" dirty="0"/>
              <a:t> variable</a:t>
            </a:r>
          </a:p>
        </p:txBody>
      </p:sp>
    </p:spTree>
    <p:extLst>
      <p:ext uri="{BB962C8B-B14F-4D97-AF65-F5344CB8AC3E}">
        <p14:creationId xmlns:p14="http://schemas.microsoft.com/office/powerpoint/2010/main" val="3235892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i="1" dirty="0"/>
              <a:t>4 different cases of variable scope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def spam():</a:t>
            </a:r>
          </a:p>
          <a:p>
            <a:pPr marL="0" indent="0">
              <a:buNone/>
            </a:pPr>
            <a:r>
              <a:rPr lang="en-US" dirty="0"/>
              <a:t>    global eggs</a:t>
            </a:r>
          </a:p>
          <a:p>
            <a:pPr marL="0" indent="0">
              <a:buNone/>
            </a:pPr>
            <a:r>
              <a:rPr lang="en-US" dirty="0"/>
              <a:t>    eggs = 'spam' # this is the global</a:t>
            </a:r>
          </a:p>
          <a:p>
            <a:pPr marL="0" indent="0">
              <a:buNone/>
            </a:pPr>
            <a:r>
              <a:rPr lang="en-US" dirty="0"/>
              <a:t>    print('eggs (in spam but global):', eggs)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 steak():</a:t>
            </a:r>
          </a:p>
          <a:p>
            <a:pPr marL="0" indent="0">
              <a:buNone/>
            </a:pPr>
            <a:r>
              <a:rPr lang="en-US" dirty="0"/>
              <a:t>    eggs = 'steak' # this is a local</a:t>
            </a:r>
          </a:p>
          <a:p>
            <a:pPr marL="0" indent="0">
              <a:buNone/>
            </a:pPr>
            <a:r>
              <a:rPr lang="en-US" dirty="0"/>
              <a:t>    print('eggs (in steak but local):', eggs)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 yummy():</a:t>
            </a:r>
          </a:p>
          <a:p>
            <a:pPr marL="0" indent="0">
              <a:buNone/>
            </a:pPr>
            <a:r>
              <a:rPr lang="en-US" dirty="0"/>
              <a:t>    print(eggs) # this is the global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eggs = 42 # this is the global</a:t>
            </a:r>
          </a:p>
          <a:p>
            <a:pPr marL="0" indent="0">
              <a:buNone/>
            </a:pPr>
            <a:r>
              <a:rPr lang="en-US" dirty="0"/>
              <a:t>print('eggs in global:', eggs)</a:t>
            </a:r>
          </a:p>
          <a:p>
            <a:pPr marL="0" indent="0">
              <a:buNone/>
            </a:pPr>
            <a:r>
              <a:rPr lang="en-US" dirty="0"/>
              <a:t>spam()</a:t>
            </a:r>
          </a:p>
          <a:p>
            <a:pPr marL="0" indent="0">
              <a:buNone/>
            </a:pPr>
            <a:r>
              <a:rPr lang="en-US" dirty="0"/>
              <a:t>print(eggs)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eggs in global: 42</a:t>
            </a:r>
          </a:p>
          <a:p>
            <a:pPr marL="0" indent="0">
              <a:buNone/>
            </a:pPr>
            <a:r>
              <a:rPr lang="en-US" dirty="0"/>
              <a:t>eggs (in spam but global): spam</a:t>
            </a:r>
          </a:p>
          <a:p>
            <a:pPr marL="0" indent="0">
              <a:buNone/>
            </a:pPr>
            <a:r>
              <a:rPr lang="en-US" dirty="0"/>
              <a:t>spam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219423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i="1" dirty="0"/>
              <a:t>Assignment in a function means local’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nb-NO" dirty="0"/>
              <a:t>def spam():</a:t>
            </a:r>
          </a:p>
          <a:p>
            <a:pPr marL="0" indent="0">
              <a:buNone/>
            </a:pPr>
            <a:r>
              <a:rPr lang="nb-NO" dirty="0"/>
              <a:t>    print(eggs) # ERROR!</a:t>
            </a:r>
          </a:p>
          <a:p>
            <a:pPr marL="0" indent="0">
              <a:buNone/>
            </a:pPr>
            <a:r>
              <a:rPr lang="nb-NO" dirty="0"/>
              <a:t>    eggs = 'spam local’</a:t>
            </a:r>
            <a:r>
              <a:rPr lang="tr-TR" dirty="0"/>
              <a:t> #Assinment means local scope</a:t>
            </a:r>
            <a:endParaRPr lang="nb-NO" dirty="0"/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eggs = 'global'</a:t>
            </a:r>
          </a:p>
          <a:p>
            <a:pPr marL="0" indent="0">
              <a:buNone/>
            </a:pPr>
            <a:r>
              <a:rPr lang="nb-NO" dirty="0"/>
              <a:t>spam()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 print(eggs) # ERROR!</a:t>
            </a:r>
          </a:p>
          <a:p>
            <a:pPr marL="0" indent="0">
              <a:buNone/>
            </a:pPr>
            <a:r>
              <a:rPr lang="en-US" dirty="0" err="1"/>
              <a:t>UnboundLocalError</a:t>
            </a:r>
            <a:r>
              <a:rPr lang="en-US" dirty="0"/>
              <a:t>: local variable 'eggs' referenced before assignment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97231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Chapter-3 Functions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tr-TR" b="1" dirty="0"/>
              <a:t>Exception Handling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28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8" name="Picture Placeholder 7" descr="A view of a large rock&#10;&#10;Description automatically generated">
            <a:extLst>
              <a:ext uri="{FF2B5EF4-FFF2-40B4-BE49-F238E27FC236}">
                <a16:creationId xmlns:a16="http://schemas.microsoft.com/office/drawing/2014/main" id="{70E7267B-ED88-4F42-AD29-8C6A7669A07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853" r="785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88873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handling Erros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8123463" cy="256430"/>
          </a:xfrm>
        </p:spPr>
        <p:txBody>
          <a:bodyPr/>
          <a:lstStyle/>
          <a:p>
            <a:r>
              <a:rPr lang="en-US" i="1" dirty="0"/>
              <a:t>Errors can be handled with </a:t>
            </a:r>
            <a:r>
              <a:rPr lang="en-US" i="1" dirty="0">
                <a:solidFill>
                  <a:srgbClr val="00B0F0"/>
                </a:solidFill>
              </a:rPr>
              <a:t>try</a:t>
            </a:r>
            <a:r>
              <a:rPr lang="en-US" i="1" dirty="0"/>
              <a:t> and except </a:t>
            </a:r>
            <a:r>
              <a:rPr lang="en-US" i="1" dirty="0">
                <a:solidFill>
                  <a:srgbClr val="00B0F0"/>
                </a:solidFill>
              </a:rPr>
              <a:t>statements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detect errors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try</a:t>
            </a:r>
          </a:p>
          <a:p>
            <a:r>
              <a:rPr lang="tr-TR" dirty="0"/>
              <a:t>put in try block</a:t>
            </a:r>
          </a:p>
          <a:p>
            <a:r>
              <a:rPr lang="tr-TR" dirty="0"/>
              <a:t>the code with potential error(s)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continue to run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3314200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continue</a:t>
            </a:r>
          </a:p>
          <a:p>
            <a:r>
              <a:rPr lang="tr-TR" dirty="0"/>
              <a:t>execution continues</a:t>
            </a:r>
          </a:p>
          <a:p>
            <a:r>
              <a:rPr lang="tr-TR" dirty="0"/>
              <a:t>with the next lines after the except clause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/>
              <a:t>handle</a:t>
            </a:r>
            <a:r>
              <a:rPr lang="tr-TR" dirty="0"/>
              <a:t> </a:t>
            </a:r>
            <a:r>
              <a:rPr lang="tr-TR" dirty="0" err="1"/>
              <a:t>errors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b="1" dirty="0"/>
              <a:t>except clause</a:t>
            </a:r>
          </a:p>
          <a:p>
            <a:r>
              <a:rPr lang="en-US" dirty="0"/>
              <a:t>if an error happens </a:t>
            </a:r>
            <a:endParaRPr lang="tr-TR" dirty="0"/>
          </a:p>
          <a:p>
            <a:r>
              <a:rPr lang="tr-TR" dirty="0"/>
              <a:t>The program execution </a:t>
            </a:r>
            <a:r>
              <a:rPr lang="en-US" dirty="0"/>
              <a:t>moves </a:t>
            </a:r>
            <a:endParaRPr lang="tr-TR" dirty="0"/>
          </a:p>
          <a:p>
            <a:r>
              <a:rPr lang="en-US" dirty="0"/>
              <a:t>to the start of a</a:t>
            </a:r>
            <a:r>
              <a:rPr lang="tr-TR" dirty="0"/>
              <a:t> </a:t>
            </a:r>
            <a:r>
              <a:rPr lang="en-US" dirty="0"/>
              <a:t>following except clause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AC7330F-2C60-48C8-BD90-64281290EFDB}"/>
              </a:ext>
            </a:extLst>
          </p:cNvPr>
          <p:cNvSpPr txBox="1">
            <a:spLocks/>
          </p:cNvSpPr>
          <p:nvPr/>
        </p:nvSpPr>
        <p:spPr>
          <a:xfrm>
            <a:off x="307438" y="6324907"/>
            <a:ext cx="8123463" cy="2564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00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/>
              <a:t>getting an error, or exception, in your Python program means the</a:t>
            </a:r>
            <a:r>
              <a:rPr lang="tr-TR" i="1"/>
              <a:t> </a:t>
            </a:r>
            <a:r>
              <a:rPr lang="en-US" i="1"/>
              <a:t>entire program will crash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1234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division by zero with 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999" y="1152000"/>
            <a:ext cx="4361211" cy="504000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def spam(</a:t>
            </a:r>
            <a:r>
              <a:rPr lang="en-US" dirty="0" err="1"/>
              <a:t>divideBy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try:</a:t>
            </a:r>
          </a:p>
          <a:p>
            <a:pPr marL="0" indent="0">
              <a:buNone/>
            </a:pPr>
            <a:r>
              <a:rPr lang="en-US" dirty="0"/>
              <a:t>        return 42 / </a:t>
            </a:r>
            <a:r>
              <a:rPr lang="en-US" dirty="0" err="1"/>
              <a:t>divideBy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except </a:t>
            </a:r>
            <a:r>
              <a:rPr lang="en-US" dirty="0" err="1"/>
              <a:t>ZeroDivisionError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print('Error: Invalid argument.')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print(spam(2))</a:t>
            </a:r>
          </a:p>
          <a:p>
            <a:pPr marL="0" indent="0">
              <a:buNone/>
            </a:pPr>
            <a:r>
              <a:rPr lang="en-US" dirty="0"/>
              <a:t>print(spam(12))</a:t>
            </a:r>
          </a:p>
          <a:p>
            <a:pPr marL="0" indent="0">
              <a:buNone/>
            </a:pPr>
            <a:r>
              <a:rPr lang="en-US" dirty="0"/>
              <a:t>print(spam(0))</a:t>
            </a:r>
          </a:p>
          <a:p>
            <a:pPr marL="0" indent="0">
              <a:buNone/>
            </a:pPr>
            <a:r>
              <a:rPr lang="en-US" dirty="0"/>
              <a:t>print(spam(1))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dirty="0"/>
              <a:t>21.0</a:t>
            </a:r>
          </a:p>
          <a:p>
            <a:pPr marL="0" indent="0">
              <a:buNone/>
            </a:pPr>
            <a:r>
              <a:rPr lang="tr-TR" dirty="0"/>
              <a:t>3.5</a:t>
            </a:r>
          </a:p>
          <a:p>
            <a:pPr marL="0" indent="0">
              <a:buNone/>
            </a:pPr>
            <a:r>
              <a:rPr lang="tr-TR" dirty="0"/>
              <a:t>Error: Invalid argument.</a:t>
            </a:r>
          </a:p>
          <a:p>
            <a:pPr marL="0" indent="0">
              <a:buNone/>
            </a:pPr>
            <a:r>
              <a:rPr lang="tr-TR" dirty="0"/>
              <a:t>None</a:t>
            </a:r>
          </a:p>
          <a:p>
            <a:pPr marL="0" indent="0">
              <a:buNone/>
            </a:pPr>
            <a:r>
              <a:rPr lang="tr-TR" dirty="0"/>
              <a:t>42.0</a:t>
            </a:r>
          </a:p>
        </p:txBody>
      </p:sp>
    </p:spTree>
    <p:extLst>
      <p:ext uri="{BB962C8B-B14F-4D97-AF65-F5344CB8AC3E}">
        <p14:creationId xmlns:p14="http://schemas.microsoft.com/office/powerpoint/2010/main" val="10270935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Catching any errors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900000"/>
          </a:xfrm>
        </p:spPr>
        <p:txBody>
          <a:bodyPr/>
          <a:lstStyle/>
          <a:p>
            <a:r>
              <a:rPr lang="en-US" dirty="0"/>
              <a:t>any errors that occur in function calls in a try block</a:t>
            </a:r>
            <a:r>
              <a:rPr lang="tr-TR" dirty="0"/>
              <a:t> </a:t>
            </a:r>
            <a:r>
              <a:rPr lang="en-US" dirty="0"/>
              <a:t> will also</a:t>
            </a:r>
            <a:r>
              <a:rPr lang="tr-TR" dirty="0"/>
              <a:t> be caught</a:t>
            </a:r>
            <a:endParaRPr lang="en-US" dirty="0"/>
          </a:p>
          <a:p>
            <a:endParaRPr lang="en-US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excepts in function calls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900000"/>
          </a:xfrm>
        </p:spPr>
        <p:txBody>
          <a:bodyPr/>
          <a:lstStyle/>
          <a:p>
            <a:r>
              <a:rPr lang="en-US" dirty="0"/>
              <a:t>any errors that occur in function calls</a:t>
            </a:r>
            <a:endParaRPr lang="tr-TR" dirty="0"/>
          </a:p>
          <a:p>
            <a:r>
              <a:rPr lang="tr-TR" dirty="0"/>
              <a:t>in a try block</a:t>
            </a:r>
            <a:endParaRPr lang="en-US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catched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3533" y="4688111"/>
            <a:ext cx="2039816" cy="1290657"/>
          </a:xfrm>
        </p:spPr>
        <p:txBody>
          <a:bodyPr vert="horz" lIns="0" tIns="0" rIns="0" bIns="0" rtlCol="0">
            <a:noAutofit/>
          </a:bodyPr>
          <a:lstStyle/>
          <a:p>
            <a:r>
              <a:rPr lang="tr-TR" dirty="0"/>
              <a:t>not depend on the number of calls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33498" y="1422287"/>
            <a:ext cx="1620440" cy="504000"/>
          </a:xfrm>
        </p:spPr>
        <p:txBody>
          <a:bodyPr/>
          <a:lstStyle/>
          <a:p>
            <a:r>
              <a:rPr lang="tr-TR" dirty="0"/>
              <a:t>multiple calls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47566" y="3545058"/>
            <a:ext cx="2210170" cy="2293034"/>
          </a:xfrm>
        </p:spPr>
        <p:txBody>
          <a:bodyPr/>
          <a:lstStyle/>
          <a:p>
            <a:pPr algn="l"/>
            <a:r>
              <a:rPr lang="en-US" dirty="0"/>
              <a:t>def spam(</a:t>
            </a:r>
            <a:r>
              <a:rPr lang="en-US" dirty="0" err="1"/>
              <a:t>divideBy</a:t>
            </a:r>
            <a:r>
              <a:rPr lang="en-US" dirty="0"/>
              <a:t>):</a:t>
            </a:r>
          </a:p>
          <a:p>
            <a:pPr algn="l"/>
            <a:r>
              <a:rPr lang="en-US" dirty="0"/>
              <a:t>    return 42 / </a:t>
            </a:r>
            <a:r>
              <a:rPr lang="en-US" dirty="0" err="1"/>
              <a:t>divideBy</a:t>
            </a:r>
            <a:endParaRPr lang="en-US" dirty="0"/>
          </a:p>
          <a:p>
            <a:pPr algn="l"/>
            <a:r>
              <a:rPr lang="en-US" dirty="0"/>
              <a:t>try:</a:t>
            </a:r>
          </a:p>
          <a:p>
            <a:pPr algn="l"/>
            <a:r>
              <a:rPr lang="en-US" dirty="0"/>
              <a:t>    print(spam(2))</a:t>
            </a:r>
          </a:p>
          <a:p>
            <a:pPr algn="l"/>
            <a:r>
              <a:rPr lang="en-US" dirty="0"/>
              <a:t>    print(spam(12))</a:t>
            </a:r>
          </a:p>
          <a:p>
            <a:pPr algn="l"/>
            <a:r>
              <a:rPr lang="en-US" dirty="0"/>
              <a:t>    print(spam(0))</a:t>
            </a:r>
          </a:p>
          <a:p>
            <a:pPr algn="l"/>
            <a:r>
              <a:rPr lang="en-US" dirty="0"/>
              <a:t>    print(spam(1))</a:t>
            </a:r>
          </a:p>
          <a:p>
            <a:pPr algn="l"/>
            <a:r>
              <a:rPr lang="en-US" dirty="0"/>
              <a:t>except </a:t>
            </a:r>
            <a:r>
              <a:rPr lang="en-US" dirty="0" err="1"/>
              <a:t>ZeroDivisionError</a:t>
            </a:r>
            <a:r>
              <a:rPr lang="en-US" dirty="0"/>
              <a:t>:</a:t>
            </a:r>
          </a:p>
          <a:p>
            <a:pPr algn="l"/>
            <a:r>
              <a:rPr lang="en-US" dirty="0"/>
              <a:t>    print('Error: Invalid argument.')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7397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exception handling with multiple function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999" y="1152000"/>
            <a:ext cx="4361211" cy="504000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def spam(</a:t>
            </a:r>
            <a:r>
              <a:rPr lang="en-US" dirty="0" err="1"/>
              <a:t>divideBy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return 42 / </a:t>
            </a:r>
            <a:r>
              <a:rPr lang="en-US" dirty="0" err="1"/>
              <a:t>divideBy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try:</a:t>
            </a:r>
          </a:p>
          <a:p>
            <a:pPr marL="0" indent="0">
              <a:buNone/>
            </a:pPr>
            <a:r>
              <a:rPr lang="en-US" dirty="0"/>
              <a:t>    print(spam(2))</a:t>
            </a:r>
          </a:p>
          <a:p>
            <a:pPr marL="0" indent="0">
              <a:buNone/>
            </a:pPr>
            <a:r>
              <a:rPr lang="en-US" dirty="0"/>
              <a:t>    print(spam(12))</a:t>
            </a:r>
          </a:p>
          <a:p>
            <a:pPr marL="0" indent="0">
              <a:buNone/>
            </a:pPr>
            <a:r>
              <a:rPr lang="en-US" dirty="0"/>
              <a:t>    print(spam(0))</a:t>
            </a:r>
          </a:p>
          <a:p>
            <a:pPr marL="0" indent="0">
              <a:buNone/>
            </a:pPr>
            <a:r>
              <a:rPr lang="en-US" dirty="0"/>
              <a:t>    print(spam(1))</a:t>
            </a:r>
          </a:p>
          <a:p>
            <a:pPr marL="0" indent="0">
              <a:buNone/>
            </a:pPr>
            <a:r>
              <a:rPr lang="en-US" dirty="0"/>
              <a:t>except </a:t>
            </a:r>
            <a:r>
              <a:rPr lang="en-US" dirty="0" err="1"/>
              <a:t>ZeroDivisionError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print('Error: Invalid argument.')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32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dirty="0"/>
              <a:t>21.0</a:t>
            </a:r>
          </a:p>
          <a:p>
            <a:pPr marL="0" indent="0">
              <a:buNone/>
            </a:pPr>
            <a:r>
              <a:rPr lang="tr-TR" dirty="0"/>
              <a:t>3.5</a:t>
            </a:r>
          </a:p>
          <a:p>
            <a:pPr marL="0" indent="0">
              <a:buNone/>
            </a:pPr>
            <a:r>
              <a:rPr lang="tr-TR" dirty="0"/>
              <a:t>Error: Invalid argument.</a:t>
            </a:r>
          </a:p>
        </p:txBody>
      </p:sp>
    </p:spTree>
    <p:extLst>
      <p:ext uri="{BB962C8B-B14F-4D97-AF65-F5344CB8AC3E}">
        <p14:creationId xmlns:p14="http://schemas.microsoft.com/office/powerpoint/2010/main" val="3448100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Chapter-3 Functions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b="1" dirty="0"/>
              <a:t>A Short Program: Guess the Number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33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8" name="Picture Placeholder 7" descr="A view of a large rock&#10;&#10;Description automatically generated">
            <a:extLst>
              <a:ext uri="{FF2B5EF4-FFF2-40B4-BE49-F238E27FC236}">
                <a16:creationId xmlns:a16="http://schemas.microsoft.com/office/drawing/2014/main" id="{70E7267B-ED88-4F42-AD29-8C6A7669A07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853" r="785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041119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exception handling with multiple function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999" y="1152000"/>
            <a:ext cx="4361211" cy="554422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# This is a guess the number game.</a:t>
            </a:r>
          </a:p>
          <a:p>
            <a:pPr marL="0" indent="0">
              <a:buNone/>
            </a:pPr>
            <a:r>
              <a:rPr lang="en-US" dirty="0"/>
              <a:t>import random</a:t>
            </a:r>
          </a:p>
          <a:p>
            <a:pPr marL="0" indent="0">
              <a:buNone/>
            </a:pPr>
            <a:r>
              <a:rPr lang="en-US" dirty="0" err="1"/>
              <a:t>secretNumber</a:t>
            </a:r>
            <a:r>
              <a:rPr lang="en-US" dirty="0"/>
              <a:t> = </a:t>
            </a:r>
            <a:r>
              <a:rPr lang="en-US" dirty="0" err="1"/>
              <a:t>random.randint</a:t>
            </a:r>
            <a:r>
              <a:rPr lang="en-US" dirty="0"/>
              <a:t>(1, 20)</a:t>
            </a:r>
          </a:p>
          <a:p>
            <a:pPr marL="0" indent="0">
              <a:buNone/>
            </a:pPr>
            <a:r>
              <a:rPr lang="en-US" dirty="0"/>
              <a:t>print('I am thinking of a number between 1 and 20.')</a:t>
            </a:r>
          </a:p>
          <a:p>
            <a:pPr marL="0" indent="0">
              <a:buNone/>
            </a:pPr>
            <a:r>
              <a:rPr lang="en-US" dirty="0"/>
              <a:t># Ask the player to guess 6 times.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guessesTaken</a:t>
            </a:r>
            <a:r>
              <a:rPr lang="en-US" dirty="0"/>
              <a:t> in range(1, 7):</a:t>
            </a:r>
          </a:p>
          <a:p>
            <a:pPr marL="0" indent="0">
              <a:buNone/>
            </a:pPr>
            <a:r>
              <a:rPr lang="en-US" dirty="0"/>
              <a:t>    print('Take a guess.')</a:t>
            </a:r>
          </a:p>
          <a:p>
            <a:pPr marL="0" indent="0">
              <a:buNone/>
            </a:pPr>
            <a:r>
              <a:rPr lang="en-US" dirty="0"/>
              <a:t>    guess = int(input())</a:t>
            </a:r>
          </a:p>
          <a:p>
            <a:pPr marL="0" indent="0">
              <a:buNone/>
            </a:pPr>
            <a:r>
              <a:rPr lang="en-US" dirty="0"/>
              <a:t>    if guess &lt; </a:t>
            </a:r>
            <a:r>
              <a:rPr lang="en-US" dirty="0" err="1"/>
              <a:t>secretNumber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print('Your guess is too low.')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guess &gt; </a:t>
            </a:r>
            <a:r>
              <a:rPr lang="en-US" dirty="0" err="1"/>
              <a:t>secretNumber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print('Your guess is too high.')</a:t>
            </a:r>
          </a:p>
          <a:p>
            <a:pPr marL="0" indent="0">
              <a:buNone/>
            </a:pPr>
            <a:r>
              <a:rPr lang="en-US" dirty="0"/>
              <a:t>    else:</a:t>
            </a:r>
          </a:p>
          <a:p>
            <a:pPr marL="0" indent="0">
              <a:buNone/>
            </a:pPr>
            <a:r>
              <a:rPr lang="en-US" dirty="0"/>
              <a:t>    break # This condition is the correct guess!</a:t>
            </a:r>
          </a:p>
          <a:p>
            <a:pPr marL="0" indent="0">
              <a:buNone/>
            </a:pPr>
            <a:r>
              <a:rPr lang="en-US" dirty="0"/>
              <a:t>if guess == </a:t>
            </a:r>
            <a:r>
              <a:rPr lang="en-US" dirty="0" err="1"/>
              <a:t>secretNumber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print('Good job! You guessed my number in ' + str(</a:t>
            </a:r>
            <a:r>
              <a:rPr lang="en-US" dirty="0" err="1"/>
              <a:t>guessesTaken</a:t>
            </a:r>
            <a:r>
              <a:rPr lang="en-US" dirty="0"/>
              <a:t>) + ' guesses!')</a:t>
            </a:r>
          </a:p>
          <a:p>
            <a:pPr marL="0" indent="0">
              <a:buNone/>
            </a:pPr>
            <a:r>
              <a:rPr lang="en-US" dirty="0"/>
              <a:t>else:</a:t>
            </a:r>
          </a:p>
          <a:p>
            <a:pPr marL="0" indent="0">
              <a:buNone/>
            </a:pPr>
            <a:r>
              <a:rPr lang="en-US" dirty="0"/>
              <a:t>    print('Nope. The number I was thinking of was ' + str(</a:t>
            </a:r>
            <a:r>
              <a:rPr lang="en-US" dirty="0" err="1"/>
              <a:t>secretNumber</a:t>
            </a:r>
            <a:r>
              <a:rPr lang="en-US" dirty="0"/>
              <a:t>))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I am thinking of a number between 1 and 20.</a:t>
            </a:r>
          </a:p>
          <a:p>
            <a:pPr marL="0" indent="0">
              <a:buNone/>
            </a:pPr>
            <a:r>
              <a:rPr lang="en-US" dirty="0"/>
              <a:t>Take a guess.</a:t>
            </a:r>
          </a:p>
          <a:p>
            <a:pPr marL="0" indent="0">
              <a:buNone/>
            </a:pPr>
            <a:r>
              <a:rPr lang="en-US" dirty="0"/>
              <a:t>10</a:t>
            </a:r>
          </a:p>
          <a:p>
            <a:pPr marL="0" indent="0">
              <a:buNone/>
            </a:pPr>
            <a:r>
              <a:rPr lang="en-US" dirty="0"/>
              <a:t>Your guess is too low.</a:t>
            </a:r>
          </a:p>
          <a:p>
            <a:pPr marL="0" indent="0">
              <a:buNone/>
            </a:pPr>
            <a:r>
              <a:rPr lang="en-US" dirty="0"/>
              <a:t>Take a guess.</a:t>
            </a:r>
          </a:p>
          <a:p>
            <a:pPr marL="0" indent="0">
              <a:buNone/>
            </a:pPr>
            <a:r>
              <a:rPr lang="en-US" dirty="0"/>
              <a:t>15</a:t>
            </a:r>
          </a:p>
          <a:p>
            <a:pPr marL="0" indent="0">
              <a:buNone/>
            </a:pPr>
            <a:r>
              <a:rPr lang="en-US" dirty="0"/>
              <a:t>Your guess is too low.</a:t>
            </a:r>
          </a:p>
          <a:p>
            <a:pPr marL="0" indent="0">
              <a:buNone/>
            </a:pPr>
            <a:r>
              <a:rPr lang="en-US" dirty="0"/>
              <a:t>Take a guess.</a:t>
            </a:r>
          </a:p>
          <a:p>
            <a:pPr marL="0" indent="0">
              <a:buNone/>
            </a:pPr>
            <a:r>
              <a:rPr lang="en-US" dirty="0"/>
              <a:t>17</a:t>
            </a:r>
          </a:p>
          <a:p>
            <a:pPr marL="0" indent="0">
              <a:buNone/>
            </a:pPr>
            <a:r>
              <a:rPr lang="en-US" dirty="0"/>
              <a:t>Your guess is too high.</a:t>
            </a:r>
          </a:p>
          <a:p>
            <a:pPr marL="0" indent="0">
              <a:buNone/>
            </a:pPr>
            <a:r>
              <a:rPr lang="en-US" dirty="0"/>
              <a:t>Take a guess.</a:t>
            </a:r>
          </a:p>
          <a:p>
            <a:pPr marL="0" indent="0">
              <a:buNone/>
            </a:pPr>
            <a:r>
              <a:rPr lang="en-US" dirty="0"/>
              <a:t>16</a:t>
            </a:r>
          </a:p>
          <a:p>
            <a:pPr marL="0" indent="0">
              <a:buNone/>
            </a:pPr>
            <a:r>
              <a:rPr lang="en-US" dirty="0"/>
              <a:t>Good job! You guessed my number in 4 </a:t>
            </a:r>
            <a:r>
              <a:rPr lang="en-US"/>
              <a:t>guesses!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680928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Self Assessment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6561"/>
          </a:xfrm>
        </p:spPr>
        <p:txBody>
          <a:bodyPr/>
          <a:lstStyle/>
          <a:p>
            <a:r>
              <a:rPr lang="tr-TR" dirty="0"/>
              <a:t>Asses what you got so far!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Noticible issues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How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control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flow</a:t>
            </a:r>
            <a:r>
              <a:rPr lang="tr-TR" dirty="0"/>
              <a:t>?</a:t>
            </a:r>
          </a:p>
          <a:p>
            <a:pPr marL="0" indent="0">
              <a:buNone/>
            </a:pPr>
            <a:r>
              <a:rPr lang="en-US" dirty="0"/>
              <a:t>Boolean Values</a:t>
            </a:r>
            <a:r>
              <a:rPr lang="tr-TR" dirty="0"/>
              <a:t> &amp; </a:t>
            </a:r>
            <a:r>
              <a:rPr lang="tr-TR" dirty="0" err="1"/>
              <a:t>Operators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Comparison Operators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Indentation</a:t>
            </a:r>
            <a:endParaRPr lang="en-US" dirty="0"/>
          </a:p>
          <a:p>
            <a:pPr marL="0" indent="0">
              <a:buNone/>
            </a:pPr>
            <a:r>
              <a:rPr lang="tr-TR" dirty="0" err="1"/>
              <a:t>If</a:t>
            </a:r>
            <a:r>
              <a:rPr lang="tr-TR" dirty="0"/>
              <a:t>, Else, Elif</a:t>
            </a:r>
          </a:p>
          <a:p>
            <a:pPr marL="0" indent="0">
              <a:buNone/>
            </a:pPr>
            <a:r>
              <a:rPr lang="tr-TR" dirty="0" err="1"/>
              <a:t>While</a:t>
            </a:r>
            <a:r>
              <a:rPr lang="tr-TR" dirty="0"/>
              <a:t>, </a:t>
            </a:r>
            <a:r>
              <a:rPr lang="tr-TR" dirty="0" err="1"/>
              <a:t>For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Break, </a:t>
            </a:r>
            <a:r>
              <a:rPr lang="tr-TR" dirty="0" err="1"/>
              <a:t>Continue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Importing Modules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47544" y="1752505"/>
            <a:ext cx="2231684" cy="648000"/>
          </a:xfrm>
        </p:spPr>
        <p:txBody>
          <a:bodyPr/>
          <a:lstStyle/>
          <a:p>
            <a:r>
              <a:rPr lang="tr-TR" dirty="0" err="1"/>
              <a:t>Unclarified</a:t>
            </a:r>
            <a:r>
              <a:rPr lang="tr-TR" dirty="0"/>
              <a:t> </a:t>
            </a:r>
            <a:r>
              <a:rPr lang="tr-TR" dirty="0" err="1"/>
              <a:t>issues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51781" y="2569266"/>
            <a:ext cx="2794852" cy="3314200"/>
          </a:xfrm>
        </p:spPr>
        <p:txBody>
          <a:bodyPr/>
          <a:lstStyle/>
          <a:p>
            <a:r>
              <a:rPr lang="tr-TR" dirty="0"/>
              <a:t>What are the points need further explanations?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Interesting Details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What is the most interesting details in this chapter?</a:t>
            </a:r>
            <a:endParaRPr lang="en-US" dirty="0"/>
          </a:p>
        </p:txBody>
      </p:sp>
      <p:pic>
        <p:nvPicPr>
          <p:cNvPr id="12" name="Picture 11" descr="A picture containing table, drawing, computer&#10;&#10;Description automatically generated">
            <a:extLst>
              <a:ext uri="{FF2B5EF4-FFF2-40B4-BE49-F238E27FC236}">
                <a16:creationId xmlns:a16="http://schemas.microsoft.com/office/drawing/2014/main" id="{A88D320D-EB5F-4EB0-BF4F-7C3E09D98E4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607" y="5320199"/>
            <a:ext cx="1242170" cy="1247715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4D0C9B3-64E8-46BC-96D3-913B781B294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2300" y="5320199"/>
            <a:ext cx="1247715" cy="1247715"/>
          </a:xfrm>
          <a:prstGeom prst="rect">
            <a:avLst/>
          </a:prstGeom>
        </p:spPr>
      </p:pic>
      <p:pic>
        <p:nvPicPr>
          <p:cNvPr id="16" name="Picture 15" descr="A close up of graphics&#10;&#10;Description automatically generated">
            <a:extLst>
              <a:ext uri="{FF2B5EF4-FFF2-40B4-BE49-F238E27FC236}">
                <a16:creationId xmlns:a16="http://schemas.microsoft.com/office/drawing/2014/main" id="{40CE2CAF-FB88-45FA-BD9E-61287814D3E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0735" y="5237740"/>
            <a:ext cx="1412631" cy="14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707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3F7C6884-82E5-4AB7-AB15-9FA52CDB307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t="11746" b="11746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tx1">
              <a:alpha val="46000"/>
            </a:schemeClr>
          </a:solidFill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32835" y="2666345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chemeClr val="tx1">
              <a:alpha val="62000"/>
            </a:schemeClr>
          </a:solidFill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3469" y="3772268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3469" y="4004833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63469" y="4255474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tr-TR" dirty="0">
                <a:hlinkClick r:id="rId10"/>
              </a:rPr>
              <a:t>http://cats.iku.edu.tr/portal/site/0181f2bc-77e3-4a85-ade9-77639d9bcfe7</a:t>
            </a:r>
            <a:endParaRPr lang="en-US" dirty="0"/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59249" y="4489961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039" b="150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BF51BA-BD97-4518-9266-AD3D615498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490261-1200-4EC7-95B0-2241EE54AA3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E1961DD-CF27-443B-BFF6-660110ED0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2356</Words>
  <Application>Microsoft Office PowerPoint</Application>
  <PresentationFormat>Ekran Gösterisi (4:3)</PresentationFormat>
  <Paragraphs>569</Paragraphs>
  <Slides>36</Slides>
  <Notes>24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36</vt:i4>
      </vt:variant>
    </vt:vector>
  </HeadingPairs>
  <TitlesOfParts>
    <vt:vector size="43" baseType="lpstr">
      <vt:lpstr>Arial</vt:lpstr>
      <vt:lpstr>Calibri</vt:lpstr>
      <vt:lpstr>Calibri Light</vt:lpstr>
      <vt:lpstr>Rockwell</vt:lpstr>
      <vt:lpstr>Times New Roman</vt:lpstr>
      <vt:lpstr>Wingdings</vt:lpstr>
      <vt:lpstr>Office Theme</vt:lpstr>
      <vt:lpstr>Chapter 3: Functions</vt:lpstr>
      <vt:lpstr>Content</vt:lpstr>
      <vt:lpstr>Functions</vt:lpstr>
      <vt:lpstr>Functions</vt:lpstr>
      <vt:lpstr>Chapter-3 Functions</vt:lpstr>
      <vt:lpstr>Defining own Function</vt:lpstr>
      <vt:lpstr>Chapter-3 Functions</vt:lpstr>
      <vt:lpstr>Define a function with a return value</vt:lpstr>
      <vt:lpstr>Function Example with Return: magic8Ball.py</vt:lpstr>
      <vt:lpstr>Chapter-3 Functions</vt:lpstr>
      <vt:lpstr>None</vt:lpstr>
      <vt:lpstr>Chapter-3 Functions</vt:lpstr>
      <vt:lpstr>Position arguments vs Keyword arguments</vt:lpstr>
      <vt:lpstr>Position arguments vs Keyword arguments</vt:lpstr>
      <vt:lpstr>Chapter-3 Functions</vt:lpstr>
      <vt:lpstr>Local vs Global Variables</vt:lpstr>
      <vt:lpstr>Creating &amp; Destroying of the Scope</vt:lpstr>
      <vt:lpstr>Scope matters</vt:lpstr>
      <vt:lpstr>Local Variables Cannot Be Used in the Global Scope</vt:lpstr>
      <vt:lpstr>Local Scopes Cannot Use Variables in Other Local Scopes</vt:lpstr>
      <vt:lpstr>Global Variables Can Be Read from a Local Scope</vt:lpstr>
      <vt:lpstr>Local and Global Variables with the Same Name</vt:lpstr>
      <vt:lpstr>Chapter-3 Functions</vt:lpstr>
      <vt:lpstr>global statement</vt:lpstr>
      <vt:lpstr>Rules to tell a variable’s scope</vt:lpstr>
      <vt:lpstr>4 different cases of variable scope</vt:lpstr>
      <vt:lpstr>Assignment in a function means local’</vt:lpstr>
      <vt:lpstr>Chapter-3 Functions</vt:lpstr>
      <vt:lpstr>handling Erros</vt:lpstr>
      <vt:lpstr>division by zero with exception handling</vt:lpstr>
      <vt:lpstr>Catching any errors</vt:lpstr>
      <vt:lpstr>exception handling with multiple function calls</vt:lpstr>
      <vt:lpstr>Chapter-3 Functions</vt:lpstr>
      <vt:lpstr>exception handling with multiple function calls</vt:lpstr>
      <vt:lpstr>Self Assessment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2020-02-12T16:15:01Z</dcterms:created>
  <dcterms:modified xsi:type="dcterms:W3CDTF">2022-03-04T08:55:22Z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c66f6488-6f7b-4340-b880-828136ff7811_Enabled">
    <vt:lpwstr>true</vt:lpwstr>
  </property>
  <property fmtid="{D5CDD505-2E9C-101B-9397-08002B2CF9AE}" pid="4" name="MSIP_Label_c66f6488-6f7b-4340-b880-828136ff7811_SetDate">
    <vt:lpwstr>2021-03-05T10:06:22Z</vt:lpwstr>
  </property>
  <property fmtid="{D5CDD505-2E9C-101B-9397-08002B2CF9AE}" pid="5" name="MSIP_Label_c66f6488-6f7b-4340-b880-828136ff7811_Method">
    <vt:lpwstr>Privileged</vt:lpwstr>
  </property>
  <property fmtid="{D5CDD505-2E9C-101B-9397-08002B2CF9AE}" pid="6" name="MSIP_Label_c66f6488-6f7b-4340-b880-828136ff7811_Name">
    <vt:lpwstr>c66f6488-6f7b-4340-b880-828136ff7811</vt:lpwstr>
  </property>
  <property fmtid="{D5CDD505-2E9C-101B-9397-08002B2CF9AE}" pid="7" name="MSIP_Label_c66f6488-6f7b-4340-b880-828136ff7811_SiteId">
    <vt:lpwstr>832c1bc9-1e43-4f93-a086-708d36b0c95d</vt:lpwstr>
  </property>
  <property fmtid="{D5CDD505-2E9C-101B-9397-08002B2CF9AE}" pid="8" name="MSIP_Label_c66f6488-6f7b-4340-b880-828136ff7811_ActionId">
    <vt:lpwstr>0cb72041-6a39-4b5d-aed0-22a1ecd5113c</vt:lpwstr>
  </property>
  <property fmtid="{D5CDD505-2E9C-101B-9397-08002B2CF9AE}" pid="9" name="MSIP_Label_c66f6488-6f7b-4340-b880-828136ff7811_ContentBits">
    <vt:lpwstr>0</vt:lpwstr>
  </property>
</Properties>
</file>