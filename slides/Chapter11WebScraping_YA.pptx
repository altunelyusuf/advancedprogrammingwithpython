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  <p:sldMasterId id="2147483691" r:id="rId5"/>
  </p:sldMasterIdLst>
  <p:notesMasterIdLst>
    <p:notesMasterId r:id="rId66"/>
  </p:notesMasterIdLst>
  <p:handoutMasterIdLst>
    <p:handoutMasterId r:id="rId67"/>
  </p:handoutMasterIdLst>
  <p:sldIdLst>
    <p:sldId id="256" r:id="rId6"/>
    <p:sldId id="261" r:id="rId7"/>
    <p:sldId id="411" r:id="rId8"/>
    <p:sldId id="405" r:id="rId9"/>
    <p:sldId id="530" r:id="rId10"/>
    <p:sldId id="529" r:id="rId11"/>
    <p:sldId id="523" r:id="rId12"/>
    <p:sldId id="524" r:id="rId13"/>
    <p:sldId id="531" r:id="rId14"/>
    <p:sldId id="532" r:id="rId15"/>
    <p:sldId id="533" r:id="rId16"/>
    <p:sldId id="534" r:id="rId17"/>
    <p:sldId id="525" r:id="rId18"/>
    <p:sldId id="535" r:id="rId19"/>
    <p:sldId id="536" r:id="rId20"/>
    <p:sldId id="526" r:id="rId21"/>
    <p:sldId id="537" r:id="rId22"/>
    <p:sldId id="539" r:id="rId23"/>
    <p:sldId id="538" r:id="rId24"/>
    <p:sldId id="540" r:id="rId25"/>
    <p:sldId id="542" r:id="rId26"/>
    <p:sldId id="541" r:id="rId27"/>
    <p:sldId id="543" r:id="rId28"/>
    <p:sldId id="544" r:id="rId29"/>
    <p:sldId id="545" r:id="rId30"/>
    <p:sldId id="547" r:id="rId31"/>
    <p:sldId id="546" r:id="rId32"/>
    <p:sldId id="527" r:id="rId33"/>
    <p:sldId id="549" r:id="rId34"/>
    <p:sldId id="550" r:id="rId35"/>
    <p:sldId id="551" r:id="rId36"/>
    <p:sldId id="552" r:id="rId37"/>
    <p:sldId id="553" r:id="rId38"/>
    <p:sldId id="554" r:id="rId39"/>
    <p:sldId id="555" r:id="rId40"/>
    <p:sldId id="557" r:id="rId41"/>
    <p:sldId id="558" r:id="rId42"/>
    <p:sldId id="556" r:id="rId43"/>
    <p:sldId id="559" r:id="rId44"/>
    <p:sldId id="560" r:id="rId45"/>
    <p:sldId id="561" r:id="rId46"/>
    <p:sldId id="562" r:id="rId47"/>
    <p:sldId id="563" r:id="rId48"/>
    <p:sldId id="564" r:id="rId49"/>
    <p:sldId id="565" r:id="rId50"/>
    <p:sldId id="566" r:id="rId51"/>
    <p:sldId id="567" r:id="rId52"/>
    <p:sldId id="569" r:id="rId53"/>
    <p:sldId id="570" r:id="rId54"/>
    <p:sldId id="568" r:id="rId55"/>
    <p:sldId id="571" r:id="rId56"/>
    <p:sldId id="572" r:id="rId57"/>
    <p:sldId id="573" r:id="rId58"/>
    <p:sldId id="574" r:id="rId59"/>
    <p:sldId id="575" r:id="rId60"/>
    <p:sldId id="577" r:id="rId61"/>
    <p:sldId id="576" r:id="rId62"/>
    <p:sldId id="578" r:id="rId63"/>
    <p:sldId id="299" r:id="rId64"/>
    <p:sldId id="279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B2"/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07" autoAdjust="0"/>
  </p:normalViewPr>
  <p:slideViewPr>
    <p:cSldViewPr snapToGrid="0">
      <p:cViewPr varScale="1">
        <p:scale>
          <a:sx n="81" d="100"/>
          <a:sy n="81" d="100"/>
        </p:scale>
        <p:origin x="1517" y="53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429" y="38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presProps" Target="presProps.xml"/><Relationship Id="rId7" Type="http://schemas.openxmlformats.org/officeDocument/2006/relationships/slide" Target="slides/slide2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12/13/2024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12/13/2024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95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239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875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0511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9047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99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2091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312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3420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996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94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99753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3653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59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78410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56105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032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1873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5226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4047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11927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47445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38567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140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24778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22982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19406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1743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14262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2907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68565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64906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38674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5566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81377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9860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435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011688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3198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20248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9840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859261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1216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88678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1316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436110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7764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55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552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2606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649DAF-093F-4482-AA38-346E9A2DEE9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78964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5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6858000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blipFill>
            <a:blip r:embed="rId2">
              <a:alphaModFix amt="49000"/>
            </a:blip>
            <a:tile tx="0" ty="0" sx="100000" sy="100000" flip="none" algn="tl"/>
          </a:blip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95017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4014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278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4256132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56229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68025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79835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 x Image Bullets Righ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1366589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2931225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5299439" y="4495861"/>
            <a:ext cx="10287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9014" y="86714"/>
            <a:ext cx="4656272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9013" y="496139"/>
            <a:ext cx="4656273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343" y="432000"/>
            <a:ext cx="3527657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6212" y="3582825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6212" y="5147461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6212" y="1369128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6212" y="2933764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6212" y="4498400"/>
            <a:ext cx="2251800" cy="432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76212" y="1975094"/>
            <a:ext cx="2251800" cy="720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1" name="Octagon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419000" y="2269753"/>
            <a:ext cx="2310885" cy="3011457"/>
            <a:chOff x="1892000" y="2269752"/>
            <a:chExt cx="3081180" cy="3011457"/>
          </a:xfrm>
        </p:grpSpPr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8" name="Freeform: Shape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29" name="Freeform: Shape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0" name="Freeform: Shape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32" name="Freeform: Shape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</p:grp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554406" y="4835817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554406" y="3271181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554406" y="1706545"/>
            <a:ext cx="518766" cy="691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36" name="Straight Connector 35" descr="First divider line on slide">
            <a:extLst>
              <a:ext uri="{FF2B5EF4-FFF2-40B4-BE49-F238E27FC236}">
                <a16:creationId xmlns:a16="http://schemas.microsoft.com/office/drawing/2014/main" id="{A140998F-B877-4BDC-843C-0071F5066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2616579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 descr="Second divider line on slide">
            <a:extLst>
              <a:ext uri="{FF2B5EF4-FFF2-40B4-BE49-F238E27FC236}">
                <a16:creationId xmlns:a16="http://schemas.microsoft.com/office/drawing/2014/main" id="{2084D353-BE8A-4AAA-8BEC-B71CEE9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576213" y="4109914"/>
            <a:ext cx="1784015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77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38156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 Column Image Bullet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6220613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4008795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1799072" y="2030748"/>
            <a:ext cx="113157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53589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407" y="4688112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7226" y="4683647"/>
            <a:ext cx="1620441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3590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5407" y="3926335"/>
            <a:ext cx="1620441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7227" y="3926335"/>
            <a:ext cx="162044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4353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54302" y="2358092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466120" y="2358091"/>
            <a:ext cx="640556" cy="8540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 descr="First divider line on slide">
            <a:extLst>
              <a:ext uri="{FF2B5EF4-FFF2-40B4-BE49-F238E27FC236}">
                <a16:creationId xmlns:a16="http://schemas.microsoft.com/office/drawing/2014/main" id="{82D5D2B4-7BAC-4C27-8D68-12365C7E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9719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 descr="Second divider line on slide">
            <a:extLst>
              <a:ext uri="{FF2B5EF4-FFF2-40B4-BE49-F238E27FC236}">
                <a16:creationId xmlns:a16="http://schemas.microsoft.com/office/drawing/2014/main" id="{7D9203C1-910E-4AFC-95E0-13BF40D0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81538" y="203354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7062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9682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5130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8015176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38783443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40173514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401442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7293860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9202059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228781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10375584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9289750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21616283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75964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45201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60001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6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83" r:id="rId8"/>
    <p:sldLayoutId id="2147483668" r:id="rId9"/>
    <p:sldLayoutId id="2147483670" r:id="rId10"/>
    <p:sldLayoutId id="2147483653" r:id="rId11"/>
    <p:sldLayoutId id="2147483673" r:id="rId12"/>
    <p:sldLayoutId id="2147483674" r:id="rId13"/>
    <p:sldLayoutId id="2147483676" r:id="rId14"/>
    <p:sldLayoutId id="2147483677" r:id="rId15"/>
    <p:sldLayoutId id="2147483654" r:id="rId16"/>
    <p:sldLayoutId id="2147483660" r:id="rId17"/>
    <p:sldLayoutId id="2147483661" r:id="rId18"/>
    <p:sldLayoutId id="2147483678" r:id="rId19"/>
    <p:sldLayoutId id="2147483686" r:id="rId20"/>
    <p:sldLayoutId id="2147483687" r:id="rId21"/>
    <p:sldLayoutId id="2147483689" r:id="rId22"/>
    <p:sldLayoutId id="2147483690" r:id="rId23"/>
    <p:sldLayoutId id="2147483688" r:id="rId2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81037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1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getfirefox.com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inventwithpython.com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39.svg"/><Relationship Id="rId3" Type="http://schemas.openxmlformats.org/officeDocument/2006/relationships/image" Target="../media/image2.jpeg"/><Relationship Id="rId7" Type="http://schemas.openxmlformats.org/officeDocument/2006/relationships/image" Target="../media/image34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3.svg"/><Relationship Id="rId11" Type="http://schemas.openxmlformats.org/officeDocument/2006/relationships/hyperlink" Target="http://cats.iku.edu.tr/portal/site/0181f2bc-77e3-4a85-ade9-77639d9bcfe7" TargetMode="External"/><Relationship Id="rId5" Type="http://schemas.openxmlformats.org/officeDocument/2006/relationships/image" Target="../media/image32.png"/><Relationship Id="rId15" Type="http://schemas.openxmlformats.org/officeDocument/2006/relationships/image" Target="../media/image40.png"/><Relationship Id="rId10" Type="http://schemas.openxmlformats.org/officeDocument/2006/relationships/image" Target="../media/image37.svg"/><Relationship Id="rId4" Type="http://schemas.openxmlformats.org/officeDocument/2006/relationships/image" Target="../media/image31.jpg"/><Relationship Id="rId9" Type="http://schemas.openxmlformats.org/officeDocument/2006/relationships/image" Target="../media/image36.png"/><Relationship Id="rId14" Type="http://schemas.openxmlformats.org/officeDocument/2006/relationships/hyperlink" Target="https://www.linkedin.com/in/yusuf-altunel-2070a31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Yer Tutucusu 4">
            <a:extLst>
              <a:ext uri="{FF2B5EF4-FFF2-40B4-BE49-F238E27FC236}">
                <a16:creationId xmlns:a16="http://schemas.microsoft.com/office/drawing/2014/main" id="{A0F2F2CC-4FB0-44DE-945D-45208AEDACB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t="569" b="56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768422"/>
            <a:ext cx="5546361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en-US" dirty="0"/>
              <a:t>Chapter </a:t>
            </a:r>
            <a:r>
              <a:rPr lang="tr-TR" dirty="0"/>
              <a:t>11</a:t>
            </a:r>
            <a:r>
              <a:rPr lang="en-US" dirty="0"/>
              <a:t>: </a:t>
            </a:r>
            <a:r>
              <a:rPr lang="tr-TR" dirty="0"/>
              <a:t>Web </a:t>
            </a:r>
            <a:r>
              <a:rPr lang="tr-TR" dirty="0" err="1"/>
              <a:t>Scraping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US" sz="1300"/>
              <a:t>CSE0408 Programming III</a:t>
            </a:r>
            <a:endParaRPr lang="tr-TR" sz="1300"/>
          </a:p>
          <a:p>
            <a:r>
              <a:rPr lang="tr-TR" sz="1300"/>
              <a:t>IKU Department of Computer Engineering</a:t>
            </a:r>
          </a:p>
          <a:p>
            <a:r>
              <a:rPr lang="tr-TR" sz="1300"/>
              <a:t>Yusuf Altunel, PhD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tr-TR" b="1" dirty="0"/>
              <a:t>Automate the Boring Stuff with Python</a:t>
            </a:r>
          </a:p>
          <a:p>
            <a:r>
              <a:rPr lang="tr-TR" b="1" dirty="0"/>
              <a:t>Practical Programming for Total Beginners</a:t>
            </a:r>
          </a:p>
          <a:p>
            <a:r>
              <a:rPr lang="en-US" sz="1200" dirty="0"/>
              <a:t>Chapter 11: Web Scraping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413546"/>
          </a:xfrm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webbrowser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modüle</a:t>
            </a:r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Downloading files from Web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Saving downloaded files to Hard Drive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HTML</a:t>
            </a: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bs4.BeautifulSoap Module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E82D8FA-513F-4F53-8BAD-CE6C5729D67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44" y="1361439"/>
            <a:ext cx="4513534" cy="253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11</a:t>
            </a:r>
            <a:r>
              <a:rPr lang="en-US" sz="2800" dirty="0"/>
              <a:t>: </a:t>
            </a:r>
            <a:r>
              <a:rPr lang="tr-TR" sz="2800" dirty="0"/>
              <a:t>Web </a:t>
            </a:r>
            <a:r>
              <a:rPr lang="tr-TR" sz="2800" dirty="0" err="1"/>
              <a:t>Scraping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webbrowser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mod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ule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E5923CD5-33C2-4345-A95F-B5D7482672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71" r="267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86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Launching</a:t>
            </a:r>
            <a:r>
              <a:rPr lang="tr-TR" dirty="0"/>
              <a:t> a Web </a:t>
            </a:r>
            <a:r>
              <a:rPr lang="tr-TR" dirty="0" err="1"/>
              <a:t>Page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tr-TR" b="1" dirty="0" err="1"/>
              <a:t>webbrowser</a:t>
            </a:r>
            <a:r>
              <a:rPr lang="tr-TR" dirty="0"/>
              <a:t> </a:t>
            </a:r>
            <a:r>
              <a:rPr lang="en-US" i="1" dirty="0"/>
              <a:t>module’s open() function can launch a new browser to a specified URL.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webbrowser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sz="1400" dirty="0"/>
              <a:t>Comes with Python</a:t>
            </a:r>
            <a:endParaRPr lang="tr-TR" sz="1400" dirty="0"/>
          </a:p>
          <a:p>
            <a:r>
              <a:rPr lang="en-US" sz="1400" dirty="0"/>
              <a:t>opens a browser to a specific page</a:t>
            </a:r>
            <a:endParaRPr lang="tr-TR" sz="1400" dirty="0"/>
          </a:p>
          <a:p>
            <a:r>
              <a:rPr lang="en-US" dirty="0"/>
              <a:t>the only thing the </a:t>
            </a:r>
            <a:r>
              <a:rPr lang="en-US" i="1" dirty="0" err="1"/>
              <a:t>webbrowser</a:t>
            </a:r>
            <a:r>
              <a:rPr lang="en-US" dirty="0"/>
              <a:t> module can do</a:t>
            </a:r>
            <a:endParaRPr lang="en-US" sz="1400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Open a </a:t>
            </a:r>
            <a:r>
              <a:rPr lang="tr-TR" dirty="0" err="1"/>
              <a:t>Page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sz="1400" dirty="0"/>
              <a:t>Set the URL to a page address</a:t>
            </a:r>
          </a:p>
          <a:p>
            <a:r>
              <a:rPr lang="en-US" sz="1400" dirty="0" err="1"/>
              <a:t>openBrowser</a:t>
            </a:r>
            <a:r>
              <a:rPr lang="en-US" sz="1400" dirty="0"/>
              <a:t>(</a:t>
            </a:r>
            <a:r>
              <a:rPr lang="en-US" sz="1400" dirty="0" err="1"/>
              <a:t>url</a:t>
            </a:r>
            <a:r>
              <a:rPr lang="en-US" sz="14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webbrowser.open</a:t>
            </a:r>
            <a:r>
              <a:rPr lang="tr-TR" dirty="0"/>
              <a:t>()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function to open the web browser</a:t>
            </a:r>
          </a:p>
        </p:txBody>
      </p:sp>
    </p:spTree>
    <p:extLst>
      <p:ext uri="{BB962C8B-B14F-4D97-AF65-F5344CB8AC3E}">
        <p14:creationId xmlns:p14="http://schemas.microsoft.com/office/powerpoint/2010/main" val="140230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URL </a:t>
            </a:r>
            <a:r>
              <a:rPr lang="tr-TR" dirty="0" err="1"/>
              <a:t>Based</a:t>
            </a:r>
            <a:r>
              <a:rPr lang="tr-TR" dirty="0"/>
              <a:t> Applications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dirty="0"/>
              <a:t>As long as you have a URL, the </a:t>
            </a:r>
            <a:r>
              <a:rPr lang="tr-TR" b="1" dirty="0" err="1"/>
              <a:t>webbrowser</a:t>
            </a:r>
            <a:r>
              <a:rPr lang="tr-TR" b="1" dirty="0"/>
              <a:t> </a:t>
            </a:r>
            <a:r>
              <a:rPr lang="en-US" dirty="0"/>
              <a:t>module lets users cut out the step</a:t>
            </a:r>
            <a:r>
              <a:rPr lang="tr-TR" dirty="0"/>
              <a:t> </a:t>
            </a:r>
            <a:r>
              <a:rPr lang="en-US" dirty="0"/>
              <a:t>of opening the browser and directing themselves to a website.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Open </a:t>
            </a:r>
            <a:r>
              <a:rPr lang="tr-TR" b="1" dirty="0" err="1">
                <a:latin typeface="+mn-lt"/>
              </a:rPr>
              <a:t>all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links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sz="1400" dirty="0"/>
              <a:t>Open all links on a page </a:t>
            </a:r>
            <a:endParaRPr lang="tr-TR" sz="1400" dirty="0"/>
          </a:p>
          <a:p>
            <a:r>
              <a:rPr lang="en-US" sz="1400" dirty="0"/>
              <a:t>in separate browser tabs.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Social</a:t>
            </a:r>
            <a:r>
              <a:rPr lang="tr-TR" dirty="0"/>
              <a:t> </a:t>
            </a:r>
            <a:r>
              <a:rPr lang="tr-TR" dirty="0" err="1"/>
              <a:t>Sites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sz="1400" dirty="0"/>
              <a:t>Open several social network sites</a:t>
            </a:r>
            <a:endParaRPr lang="tr-TR" sz="1400" dirty="0"/>
          </a:p>
          <a:p>
            <a:r>
              <a:rPr lang="en-US" sz="1400" dirty="0"/>
              <a:t>you regularly check.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Local</a:t>
            </a:r>
            <a:r>
              <a:rPr lang="tr-TR" dirty="0"/>
              <a:t> </a:t>
            </a:r>
            <a:r>
              <a:rPr lang="tr-TR" dirty="0" err="1"/>
              <a:t>weather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Open the browser</a:t>
            </a:r>
            <a:endParaRPr lang="tr-TR" sz="1400" dirty="0"/>
          </a:p>
          <a:p>
            <a:r>
              <a:rPr lang="en-US" sz="1400" dirty="0"/>
              <a:t>to the URL for your local weather.</a:t>
            </a:r>
          </a:p>
        </p:txBody>
      </p:sp>
    </p:spTree>
    <p:extLst>
      <p:ext uri="{BB962C8B-B14F-4D97-AF65-F5344CB8AC3E}">
        <p14:creationId xmlns:p14="http://schemas.microsoft.com/office/powerpoint/2010/main" val="65327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417" y="432000"/>
            <a:ext cx="4234570" cy="432000"/>
          </a:xfrm>
        </p:spPr>
        <p:txBody>
          <a:bodyPr/>
          <a:lstStyle/>
          <a:p>
            <a:r>
              <a:rPr lang="en-US" dirty="0"/>
              <a:t>Handle the Command Line Arguments</a:t>
            </a:r>
          </a:p>
        </p:txBody>
      </p:sp>
      <p:pic>
        <p:nvPicPr>
          <p:cNvPr id="71" name="Picture Placeholder 70" descr="link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76212" y="1121900"/>
            <a:ext cx="2251800" cy="432000"/>
          </a:xfrm>
        </p:spPr>
        <p:txBody>
          <a:bodyPr/>
          <a:lstStyle/>
          <a:p>
            <a:r>
              <a:rPr lang="tr-TR" dirty="0" err="1"/>
              <a:t>sys</a:t>
            </a:r>
            <a:r>
              <a:rPr lang="tr-TR" dirty="0"/>
              <a:t> </a:t>
            </a:r>
            <a:r>
              <a:rPr lang="tr-TR" dirty="0" err="1"/>
              <a:t>module</a:t>
            </a:r>
            <a:endParaRPr lang="tr-TR" dirty="0"/>
          </a:p>
        </p:txBody>
      </p:sp>
      <p:sp>
        <p:nvSpPr>
          <p:cNvPr id="78" name="Text Placeholder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4529" y="1768839"/>
            <a:ext cx="2601748" cy="899108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reading the</a:t>
            </a:r>
            <a:r>
              <a:rPr lang="tr-TR" dirty="0"/>
              <a:t> </a:t>
            </a:r>
            <a:r>
              <a:rPr lang="en-US" dirty="0"/>
              <a:t>potential command line arguments.</a:t>
            </a:r>
          </a:p>
        </p:txBody>
      </p:sp>
      <p:pic>
        <p:nvPicPr>
          <p:cNvPr id="73" name="Picture Placeholder 72" descr="send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7589" y="2933764"/>
            <a:ext cx="2690947" cy="432000"/>
          </a:xfrm>
        </p:spPr>
        <p:txBody>
          <a:bodyPr/>
          <a:lstStyle/>
          <a:p>
            <a:r>
              <a:rPr lang="tr-TR" sz="1200" dirty="0" err="1"/>
              <a:t>sys.argv</a:t>
            </a:r>
            <a:endParaRPr lang="tr-TR" sz="1200" dirty="0"/>
          </a:p>
        </p:txBody>
      </p:sp>
      <p:sp>
        <p:nvSpPr>
          <p:cNvPr id="76" name="Text Placeholder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76213" y="3333744"/>
            <a:ext cx="2370064" cy="1299216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stores a list of the</a:t>
            </a:r>
            <a:r>
              <a:rPr lang="tr-TR" dirty="0"/>
              <a:t> </a:t>
            </a:r>
            <a:r>
              <a:rPr lang="en-US" dirty="0"/>
              <a:t>program’s arguments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filename and command line</a:t>
            </a:r>
          </a:p>
        </p:txBody>
      </p:sp>
      <p:pic>
        <p:nvPicPr>
          <p:cNvPr id="75" name="Picture Placeholder 74" descr="network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76212" y="4698697"/>
            <a:ext cx="2251800" cy="432000"/>
          </a:xfrm>
        </p:spPr>
        <p:txBody>
          <a:bodyPr/>
          <a:lstStyle/>
          <a:p>
            <a:r>
              <a:rPr lang="tr-TR" dirty="0" err="1"/>
              <a:t>len</a:t>
            </a:r>
            <a:r>
              <a:rPr lang="tr-TR" dirty="0"/>
              <a:t>(</a:t>
            </a:r>
            <a:r>
              <a:rPr lang="tr-TR" dirty="0" err="1"/>
              <a:t>sys.argv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2337" y="5189268"/>
            <a:ext cx="2251799" cy="1089612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evaluates to an integer greater than</a:t>
            </a:r>
            <a:r>
              <a:rPr lang="tr-TR" dirty="0"/>
              <a:t> </a:t>
            </a:r>
            <a:r>
              <a:rPr lang="en-US" dirty="0"/>
              <a:t>1,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meaning that command line arguments </a:t>
            </a:r>
            <a:endParaRPr lang="tr-T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have indeed been provided</a:t>
            </a:r>
            <a:endParaRPr lang="tr-T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Resim Yer Tutucusu 10" descr="deniz sümüklü böceği, yumuşakça, renkli içeren bir resim&#10;&#10;Açıklama otomatik olarak oluşturuldu">
            <a:extLst>
              <a:ext uri="{FF2B5EF4-FFF2-40B4-BE49-F238E27FC236}">
                <a16:creationId xmlns:a16="http://schemas.microsoft.com/office/drawing/2014/main" id="{793A99A0-D110-461D-BCCB-D4B0A8DEBD5F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740" r="2774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2148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269354"/>
            <a:ext cx="8505000" cy="432000"/>
          </a:xfrm>
        </p:spPr>
        <p:txBody>
          <a:bodyPr/>
          <a:lstStyle/>
          <a:p>
            <a:pPr algn="ctr"/>
            <a:r>
              <a:rPr lang="en-US" dirty="0" err="1"/>
              <a:t>webbrowser</a:t>
            </a:r>
            <a:r>
              <a:rPr lang="tr-TR" dirty="0"/>
              <a:t>.</a:t>
            </a:r>
            <a:r>
              <a:rPr lang="tr-TR" dirty="0" err="1"/>
              <a:t>open</a:t>
            </a:r>
            <a:r>
              <a:rPr lang="tr-TR" dirty="0"/>
              <a:t>(URL)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929" y="877454"/>
            <a:ext cx="4582676" cy="5036328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import </a:t>
            </a:r>
            <a:r>
              <a:rPr lang="en-US" sz="1400" dirty="0" err="1"/>
              <a:t>webbrowser</a:t>
            </a:r>
            <a:r>
              <a:rPr lang="en-US" sz="1400" dirty="0"/>
              <a:t>, sys, </a:t>
            </a:r>
            <a:r>
              <a:rPr lang="en-US" sz="1400" dirty="0" err="1"/>
              <a:t>pyperclip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def </a:t>
            </a:r>
            <a:r>
              <a:rPr lang="en-US" sz="1400" dirty="0" err="1"/>
              <a:t>openBrowser</a:t>
            </a:r>
            <a:r>
              <a:rPr lang="en-US" sz="1400" dirty="0"/>
              <a:t>(</a:t>
            </a:r>
            <a:r>
              <a:rPr lang="en-US" sz="1400" dirty="0" err="1"/>
              <a:t>pageURL</a:t>
            </a:r>
            <a:r>
              <a:rPr lang="en-US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/>
              <a:t>webbrowser.open</a:t>
            </a:r>
            <a:r>
              <a:rPr lang="en-US" sz="1400" dirty="0"/>
              <a:t>(</a:t>
            </a:r>
            <a:r>
              <a:rPr lang="en-US" sz="1400" dirty="0" err="1"/>
              <a:t>pageURL</a:t>
            </a:r>
            <a:r>
              <a:rPr lang="en-US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#mapIt.py - Launches a map in the browser 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en-US" sz="1400" dirty="0"/>
              <a:t>using an address from the command line or clipboard.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if </a:t>
            </a:r>
            <a:r>
              <a:rPr lang="en-US" sz="1400" dirty="0" err="1"/>
              <a:t>len</a:t>
            </a:r>
            <a:r>
              <a:rPr lang="en-US" sz="1400" dirty="0"/>
              <a:t>(</a:t>
            </a:r>
            <a:r>
              <a:rPr lang="en-US" sz="1400" dirty="0" err="1"/>
              <a:t>sys.argv</a:t>
            </a:r>
            <a:r>
              <a:rPr lang="en-US" sz="1400" dirty="0"/>
              <a:t>) &gt; 1: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# Get address from command line.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address = ' '.join(</a:t>
            </a:r>
            <a:r>
              <a:rPr lang="en-US" sz="1400" dirty="0" err="1"/>
              <a:t>sys.argv</a:t>
            </a:r>
            <a:r>
              <a:rPr lang="en-US" sz="1400" dirty="0"/>
              <a:t>[1:])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else: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# Get address from clipboard.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# 870 Valencia St, San Francisco, CA 94110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address = </a:t>
            </a:r>
            <a:r>
              <a:rPr lang="en-US" sz="1400" dirty="0" err="1"/>
              <a:t>pyperclip.paste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</a:t>
            </a:r>
            <a:r>
              <a:rPr lang="en-US" sz="1400" dirty="0" err="1"/>
              <a:t>url</a:t>
            </a:r>
            <a:r>
              <a:rPr lang="en-US" sz="1400" dirty="0"/>
              <a:t>= 'https://www.google.com/maps/place/' + address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</a:t>
            </a:r>
            <a:r>
              <a:rPr lang="en-US" sz="1400" dirty="0" err="1"/>
              <a:t>openBrowser</a:t>
            </a:r>
            <a:r>
              <a:rPr lang="en-US" sz="1400" dirty="0"/>
              <a:t>(</a:t>
            </a:r>
            <a:r>
              <a:rPr lang="en-US" sz="1400" dirty="0" err="1"/>
              <a:t>url</a:t>
            </a:r>
            <a:r>
              <a:rPr lang="en-US" sz="14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051B1A-63B8-420E-807C-E3DBA2532307}"/>
              </a:ext>
            </a:extLst>
          </p:cNvPr>
          <p:cNvSpPr txBox="1">
            <a:spLocks/>
          </p:cNvSpPr>
          <p:nvPr/>
        </p:nvSpPr>
        <p:spPr>
          <a:xfrm>
            <a:off x="4754652" y="877454"/>
            <a:ext cx="4191625" cy="3674667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Command</a:t>
            </a:r>
            <a:r>
              <a:rPr lang="tr-TR" sz="1400" dirty="0"/>
              <a:t> </a:t>
            </a:r>
            <a:r>
              <a:rPr lang="tr-TR" sz="1400" dirty="0" err="1"/>
              <a:t>line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mapit</a:t>
            </a:r>
            <a:r>
              <a:rPr lang="en-US" sz="1400" dirty="0"/>
              <a:t> 870 Valencia St, San Francisco, CA 94110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 err="1"/>
              <a:t>sys.argv</a:t>
            </a:r>
            <a:r>
              <a:rPr lang="en-US" sz="1400" dirty="0"/>
              <a:t> variable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['mapIt.py', '870', 'Valencia', 'St, ', 'San', 'Francisco, ', 'CA', '94110']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977E75B6-E87B-4EEF-8F6D-B2B544612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056" y="4728221"/>
            <a:ext cx="3503035" cy="203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42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11</a:t>
            </a:r>
            <a:r>
              <a:rPr lang="en-US" sz="2800" dirty="0"/>
              <a:t>: </a:t>
            </a:r>
            <a:r>
              <a:rPr lang="tr-TR" sz="2800" dirty="0"/>
              <a:t>Web </a:t>
            </a:r>
            <a:r>
              <a:rPr lang="tr-TR" sz="2800" dirty="0" err="1"/>
              <a:t>Scraping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Downloading files from Web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E5923CD5-33C2-4345-A95F-B5D7482672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71" r="267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46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Downloading a Web Page with the </a:t>
            </a:r>
            <a:r>
              <a:rPr lang="en-US" dirty="0" err="1"/>
              <a:t>requests.get</a:t>
            </a:r>
            <a:r>
              <a:rPr lang="en-US" dirty="0"/>
              <a:t>()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i="1" dirty="0"/>
              <a:t>The </a:t>
            </a:r>
            <a:r>
              <a:rPr lang="tr-TR" b="1" dirty="0" err="1"/>
              <a:t>requests</a:t>
            </a:r>
            <a:r>
              <a:rPr lang="en-US" i="1" dirty="0"/>
              <a:t> module lets you easily download files from the Web </a:t>
            </a:r>
            <a:endParaRPr lang="tr-TR" i="1" dirty="0"/>
          </a:p>
          <a:p>
            <a:r>
              <a:rPr lang="tr-TR" i="1" dirty="0" err="1"/>
              <a:t>Without</a:t>
            </a:r>
            <a:r>
              <a:rPr lang="tr-TR" i="1" dirty="0"/>
              <a:t> </a:t>
            </a:r>
            <a:r>
              <a:rPr lang="en-US" i="1" dirty="0"/>
              <a:t>to worry about complicated issues such as network errors, connection</a:t>
            </a:r>
            <a:r>
              <a:rPr lang="tr-TR" i="1" dirty="0"/>
              <a:t> </a:t>
            </a:r>
            <a:r>
              <a:rPr lang="en-US" i="1" dirty="0"/>
              <a:t>problems, and data compression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requests.get</a:t>
            </a:r>
            <a:r>
              <a:rPr lang="tr-TR" b="1" dirty="0">
                <a:latin typeface="+mn-lt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sz="1400" dirty="0"/>
              <a:t>takes a string of a URL to download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Response</a:t>
            </a:r>
            <a:r>
              <a:rPr lang="tr-TR" dirty="0"/>
              <a:t> </a:t>
            </a:r>
            <a:r>
              <a:rPr lang="tr-TR" dirty="0" err="1"/>
              <a:t>object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sz="1400" dirty="0"/>
              <a:t>contains the response </a:t>
            </a:r>
            <a:endParaRPr lang="tr-TR" sz="1400" dirty="0"/>
          </a:p>
          <a:p>
            <a:r>
              <a:rPr lang="en-US" sz="1400" dirty="0"/>
              <a:t>the web server gave for your request.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type</a:t>
            </a:r>
            <a:r>
              <a:rPr lang="tr-TR" dirty="0"/>
              <a:t>()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By calling</a:t>
            </a:r>
            <a:r>
              <a:rPr lang="tr-TR" sz="1400" dirty="0"/>
              <a:t> </a:t>
            </a:r>
            <a:r>
              <a:rPr lang="en-US" sz="1400" dirty="0"/>
              <a:t>type()</a:t>
            </a:r>
            <a:endParaRPr lang="tr-TR" sz="1400" dirty="0"/>
          </a:p>
          <a:p>
            <a:r>
              <a:rPr lang="en-US" sz="1400" dirty="0"/>
              <a:t>on </a:t>
            </a:r>
            <a:r>
              <a:rPr lang="en-US" sz="1400" dirty="0" err="1"/>
              <a:t>requests.get</a:t>
            </a:r>
            <a:r>
              <a:rPr lang="en-US" sz="1400" dirty="0"/>
              <a:t>()’s return value</a:t>
            </a:r>
            <a:endParaRPr lang="tr-TR" sz="1400" dirty="0"/>
          </a:p>
          <a:p>
            <a:r>
              <a:rPr lang="en-US" sz="1400" dirty="0"/>
              <a:t>you can see that it returns a Response</a:t>
            </a:r>
            <a:r>
              <a:rPr lang="tr-TR" sz="1400" dirty="0"/>
              <a:t> </a:t>
            </a:r>
            <a:r>
              <a:rPr lang="en-US" sz="1400" dirty="0"/>
              <a:t>object</a:t>
            </a:r>
            <a:endParaRPr lang="tr-TR" sz="1400" dirty="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38759D1-B854-48FD-B5F7-3AC99C298B21}"/>
              </a:ext>
            </a:extLst>
          </p:cNvPr>
          <p:cNvSpPr/>
          <p:nvPr/>
        </p:nvSpPr>
        <p:spPr>
          <a:xfrm>
            <a:off x="780816" y="5741605"/>
            <a:ext cx="7375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NewBaskerville-Roman"/>
              </a:rPr>
              <a:t>The </a:t>
            </a:r>
            <a:r>
              <a:rPr lang="en-US" sz="1400" dirty="0">
                <a:latin typeface="TheSansMonoCondensed-Plain"/>
              </a:rPr>
              <a:t>requests </a:t>
            </a:r>
            <a:r>
              <a:rPr lang="en-US" dirty="0">
                <a:latin typeface="NewBaskerville-Roman"/>
              </a:rPr>
              <a:t>module doesn’t come</a:t>
            </a:r>
            <a:r>
              <a:rPr lang="tr-TR" dirty="0">
                <a:latin typeface="NewBaskerville-Roman"/>
              </a:rPr>
              <a:t> </a:t>
            </a:r>
            <a:r>
              <a:rPr lang="en-US" dirty="0">
                <a:latin typeface="NewBaskerville-Roman"/>
              </a:rPr>
              <a:t>with Python, so you’ll have to install it first</a:t>
            </a:r>
            <a:endParaRPr lang="tr-TR" dirty="0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B50FEBC-EF6C-46EF-83B1-F6B7E7090D65}"/>
              </a:ext>
            </a:extLst>
          </p:cNvPr>
          <p:cNvSpPr/>
          <p:nvPr/>
        </p:nvSpPr>
        <p:spPr>
          <a:xfrm>
            <a:off x="780816" y="6110937"/>
            <a:ext cx="1982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err="1">
                <a:latin typeface="TheSansMonoCondensed-Bold"/>
              </a:rPr>
              <a:t>pip</a:t>
            </a:r>
            <a:r>
              <a:rPr lang="tr-TR" b="1" dirty="0">
                <a:latin typeface="TheSansMonoCondensed-Bold"/>
              </a:rPr>
              <a:t> </a:t>
            </a:r>
            <a:r>
              <a:rPr lang="tr-TR" b="1" dirty="0" err="1">
                <a:latin typeface="TheSansMonoCondensed-Bold"/>
              </a:rPr>
              <a:t>install</a:t>
            </a:r>
            <a:r>
              <a:rPr lang="tr-TR" b="1" dirty="0">
                <a:latin typeface="TheSansMonoCondensed-Bold"/>
              </a:rPr>
              <a:t> </a:t>
            </a:r>
            <a:r>
              <a:rPr lang="tr-TR" b="1" dirty="0" err="1">
                <a:latin typeface="TheSansMonoCondensed-Bold"/>
              </a:rPr>
              <a:t>requests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751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en-US" dirty="0" err="1"/>
              <a:t>requests.get</a:t>
            </a:r>
            <a:r>
              <a:rPr lang="en-US" dirty="0"/>
              <a:t>()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929" y="977136"/>
            <a:ext cx="4891944" cy="5312827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import </a:t>
            </a:r>
            <a:r>
              <a:rPr lang="en-US" sz="1400" dirty="0" err="1"/>
              <a:t>webbrowser</a:t>
            </a:r>
            <a:r>
              <a:rPr lang="en-US" sz="1400" dirty="0"/>
              <a:t>, sys, </a:t>
            </a:r>
            <a:r>
              <a:rPr lang="en-US" sz="1400" dirty="0" err="1"/>
              <a:t>pyperclip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import requests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#download file content from a URL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</a:t>
            </a:r>
            <a:r>
              <a:rPr lang="en-US" sz="1400" dirty="0"/>
              <a:t> from Internet connected device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def </a:t>
            </a:r>
            <a:r>
              <a:rPr lang="en-US" sz="1400" dirty="0" err="1"/>
              <a:t>downloadPage</a:t>
            </a:r>
            <a:r>
              <a:rPr lang="en-US" sz="1400" dirty="0"/>
              <a:t>(</a:t>
            </a:r>
            <a:r>
              <a:rPr lang="en-US" sz="1400" dirty="0" err="1"/>
              <a:t>pageURL</a:t>
            </a:r>
            <a:r>
              <a:rPr lang="en-US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res = </a:t>
            </a:r>
            <a:r>
              <a:rPr lang="en-US" sz="1400" dirty="0" err="1"/>
              <a:t>requests.get</a:t>
            </a:r>
            <a:r>
              <a:rPr lang="en-US" sz="1400" dirty="0"/>
              <a:t>(</a:t>
            </a:r>
            <a:r>
              <a:rPr lang="en-US" sz="1400" dirty="0" err="1"/>
              <a:t>pageURL</a:t>
            </a:r>
            <a:r>
              <a:rPr lang="en-US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type(res)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/>
              <a:t>successStatus</a:t>
            </a:r>
            <a:r>
              <a:rPr lang="en-US" sz="1400" dirty="0"/>
              <a:t> = </a:t>
            </a:r>
            <a:r>
              <a:rPr lang="en-US" sz="1400" dirty="0" err="1"/>
              <a:t>res.status_code</a:t>
            </a:r>
            <a:r>
              <a:rPr lang="en-US" sz="1400" dirty="0"/>
              <a:t> == </a:t>
            </a:r>
            <a:r>
              <a:rPr lang="en-US" sz="1400" dirty="0" err="1"/>
              <a:t>requests.codes.ok</a:t>
            </a: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print("The request is a success?", </a:t>
            </a:r>
            <a:r>
              <a:rPr lang="en-US" sz="1400" dirty="0" err="1"/>
              <a:t>successStatus</a:t>
            </a:r>
            <a:r>
              <a:rPr lang="en-US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print("The size of the file is", </a:t>
            </a:r>
            <a:r>
              <a:rPr lang="en-US" sz="1400" dirty="0" err="1"/>
              <a:t>len</a:t>
            </a:r>
            <a:r>
              <a:rPr lang="en-US" sz="1400" dirty="0"/>
              <a:t>(</a:t>
            </a:r>
            <a:r>
              <a:rPr lang="en-US" sz="1400" dirty="0" err="1"/>
              <a:t>res.text</a:t>
            </a:r>
            <a:r>
              <a:rPr lang="en-US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print("Notice: 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print(</a:t>
            </a:r>
            <a:r>
              <a:rPr lang="en-US" sz="1400" dirty="0" err="1"/>
              <a:t>res.text</a:t>
            </a:r>
            <a:r>
              <a:rPr lang="en-US" sz="1400" dirty="0"/>
              <a:t>[:250])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__name__ == '__main__</a:t>
            </a:r>
            <a:r>
              <a:rPr lang="tr-TR" sz="1400" dirty="0"/>
              <a:t>’</a:t>
            </a:r>
            <a:r>
              <a:rPr lang="en-US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#</a:t>
            </a:r>
            <a:r>
              <a:rPr lang="tr-TR" sz="1400" dirty="0" err="1"/>
              <a:t>download</a:t>
            </a:r>
            <a:r>
              <a:rPr lang="tr-TR" sz="1400" dirty="0"/>
              <a:t> file </a:t>
            </a:r>
            <a:r>
              <a:rPr lang="tr-TR" sz="1400" dirty="0" err="1"/>
              <a:t>content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a URL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url</a:t>
            </a:r>
            <a:r>
              <a:rPr lang="tr-TR" sz="1400" dirty="0"/>
              <a:t> = 'http://www.gutenberg.org/</a:t>
            </a:r>
            <a:r>
              <a:rPr lang="tr-TR" sz="1400" dirty="0" err="1"/>
              <a:t>cache</a:t>
            </a:r>
            <a:r>
              <a:rPr lang="tr-TR" sz="1400" dirty="0"/>
              <a:t>/</a:t>
            </a:r>
            <a:r>
              <a:rPr lang="tr-TR" sz="1400" dirty="0" err="1"/>
              <a:t>epub</a:t>
            </a:r>
            <a:r>
              <a:rPr lang="tr-TR" sz="1400" dirty="0"/>
              <a:t>/1112/pg1112.txt'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downloadPage</a:t>
            </a:r>
            <a:r>
              <a:rPr lang="tr-TR" sz="1400" dirty="0"/>
              <a:t>(</a:t>
            </a:r>
            <a:r>
              <a:rPr lang="tr-TR" sz="1400" dirty="0" err="1"/>
              <a:t>url</a:t>
            </a:r>
            <a:r>
              <a:rPr lang="tr-TR" sz="1400" dirty="0"/>
              <a:t>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051B1A-63B8-420E-807C-E3DBA2532307}"/>
              </a:ext>
            </a:extLst>
          </p:cNvPr>
          <p:cNvSpPr txBox="1">
            <a:spLocks/>
          </p:cNvSpPr>
          <p:nvPr/>
        </p:nvSpPr>
        <p:spPr>
          <a:xfrm>
            <a:off x="5190836" y="1005365"/>
            <a:ext cx="3848235" cy="5284598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The request is a success? True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The size of the file is 179380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Notice: 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﻿The Project Gutenberg </a:t>
            </a:r>
            <a:r>
              <a:rPr lang="en-US" sz="1400" dirty="0" err="1"/>
              <a:t>EBook</a:t>
            </a:r>
            <a:r>
              <a:rPr lang="en-US" sz="1400" dirty="0"/>
              <a:t> of Romeo and Juliet, by William Shakespeare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*******************************************************************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THIS EBOOK WAS ONE OF PROJECT GUTENBERG'S EARLY FILES PRODUCED AT A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TIME WHEN PROOFING METHODS AND TOO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B14077C-CBBA-4176-A04A-613C8752F0E6}"/>
              </a:ext>
            </a:extLst>
          </p:cNvPr>
          <p:cNvSpPr/>
          <p:nvPr/>
        </p:nvSpPr>
        <p:spPr>
          <a:xfrm>
            <a:off x="2820421" y="1833433"/>
            <a:ext cx="2370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You can tell that the </a:t>
            </a:r>
            <a:r>
              <a:rPr lang="en-US" sz="1200" b="1" i="1" dirty="0"/>
              <a:t>request</a:t>
            </a:r>
            <a:r>
              <a:rPr lang="en-US" sz="1200" dirty="0"/>
              <a:t> for this web</a:t>
            </a:r>
            <a:r>
              <a:rPr lang="tr-TR" sz="1200" dirty="0"/>
              <a:t> </a:t>
            </a:r>
            <a:r>
              <a:rPr lang="en-US" sz="1200" dirty="0"/>
              <a:t>page succeeded by checking the </a:t>
            </a:r>
            <a:r>
              <a:rPr lang="en-US" sz="1200" b="1" i="1" dirty="0" err="1"/>
              <a:t>status_code</a:t>
            </a:r>
            <a:r>
              <a:rPr lang="en-US" sz="1200" i="1" dirty="0"/>
              <a:t> </a:t>
            </a:r>
            <a:r>
              <a:rPr lang="en-US" sz="1200" dirty="0"/>
              <a:t>attribute of the </a:t>
            </a:r>
            <a:r>
              <a:rPr lang="en-US" sz="1200" b="1" i="1" dirty="0"/>
              <a:t>Response</a:t>
            </a:r>
            <a:r>
              <a:rPr lang="en-US" sz="1200" dirty="0"/>
              <a:t> object.</a:t>
            </a:r>
            <a:endParaRPr lang="tr-TR" sz="1200" dirty="0"/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864323D-15EE-47E5-901E-178383137509}"/>
              </a:ext>
            </a:extLst>
          </p:cNvPr>
          <p:cNvSpPr/>
          <p:nvPr/>
        </p:nvSpPr>
        <p:spPr>
          <a:xfrm>
            <a:off x="2926639" y="3429000"/>
            <a:ext cx="215797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the status code for “</a:t>
            </a:r>
            <a:r>
              <a:rPr lang="en-US" sz="1200" b="1" i="1" dirty="0"/>
              <a:t>OK</a:t>
            </a:r>
            <a:r>
              <a:rPr lang="en-US" sz="1200" dirty="0"/>
              <a:t>” in the HTTP protocol is </a:t>
            </a:r>
            <a:r>
              <a:rPr lang="en-US" sz="1200" b="1" dirty="0"/>
              <a:t>200</a:t>
            </a:r>
            <a:r>
              <a:rPr lang="en-US" sz="1200" dirty="0"/>
              <a:t>. </a:t>
            </a:r>
            <a:endParaRPr lang="tr-TR" sz="1200" dirty="0"/>
          </a:p>
          <a:p>
            <a:r>
              <a:rPr lang="en-US" sz="1200" dirty="0"/>
              <a:t>You</a:t>
            </a:r>
            <a:r>
              <a:rPr lang="tr-TR" sz="1200" dirty="0"/>
              <a:t> </a:t>
            </a:r>
            <a:r>
              <a:rPr lang="en-US" sz="1200" dirty="0"/>
              <a:t>may already be familiar with the </a:t>
            </a:r>
            <a:r>
              <a:rPr lang="en-US" sz="1200" b="1" dirty="0"/>
              <a:t>404</a:t>
            </a:r>
            <a:r>
              <a:rPr lang="en-US" sz="1200" dirty="0"/>
              <a:t> status code for “</a:t>
            </a:r>
            <a:r>
              <a:rPr lang="en-US" sz="1200" b="1" i="1" dirty="0"/>
              <a:t>Not Found</a:t>
            </a:r>
            <a:r>
              <a:rPr lang="en-US" sz="1200" dirty="0"/>
              <a:t>.”</a:t>
            </a:r>
            <a:endParaRPr lang="tr-TR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E4F8E-0C88-47E7-8E05-B7B9BEADCE0C}"/>
              </a:ext>
            </a:extLst>
          </p:cNvPr>
          <p:cNvSpPr txBox="1"/>
          <p:nvPr/>
        </p:nvSpPr>
        <p:spPr>
          <a:xfrm>
            <a:off x="5190836" y="5154492"/>
            <a:ext cx="31974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URL goes to a text web page for the entire play of </a:t>
            </a:r>
            <a:r>
              <a:rPr lang="en-US" sz="1200" b="1" dirty="0"/>
              <a:t>Romeo and Juliet</a:t>
            </a:r>
            <a:r>
              <a:rPr lang="en-US" sz="1200" dirty="0"/>
              <a:t>,</a:t>
            </a:r>
            <a:r>
              <a:rPr lang="tr-TR" sz="1200" dirty="0"/>
              <a:t> </a:t>
            </a:r>
            <a:r>
              <a:rPr lang="en-US" sz="1200" dirty="0"/>
              <a:t>provided by </a:t>
            </a:r>
            <a:r>
              <a:rPr lang="en-US" sz="1200" b="1" dirty="0"/>
              <a:t>Project Gutenberg</a:t>
            </a:r>
            <a:r>
              <a:rPr lang="en-US" sz="1200" dirty="0"/>
              <a:t>. </a:t>
            </a:r>
            <a:endParaRPr lang="tr-TR" sz="1200" dirty="0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36EF7586-FD54-4E79-9F1A-1F95BE212ADE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H="1">
            <a:off x="4684271" y="4971093"/>
            <a:ext cx="597494" cy="41563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CBF00009-D070-4894-9DD1-BE9433AA2128}"/>
              </a:ext>
            </a:extLst>
          </p:cNvPr>
          <p:cNvCxnSpPr>
            <a:cxnSpLocks/>
          </p:cNvCxnSpPr>
          <p:nvPr/>
        </p:nvCxnSpPr>
        <p:spPr>
          <a:xfrm flipV="1">
            <a:off x="2244436" y="2248931"/>
            <a:ext cx="575985" cy="50350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6BA351B4-A107-402A-965E-1CFE7C4865AB}"/>
              </a:ext>
            </a:extLst>
          </p:cNvPr>
          <p:cNvCxnSpPr>
            <a:cxnSpLocks/>
            <a:endCxn id="10" idx="0"/>
          </p:cNvCxnSpPr>
          <p:nvPr/>
        </p:nvCxnSpPr>
        <p:spPr>
          <a:xfrm rot="5400000">
            <a:off x="3811989" y="3084624"/>
            <a:ext cx="538015" cy="1507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722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Checking for Errors</a:t>
            </a:r>
            <a:r>
              <a:rPr lang="tr-TR" dirty="0"/>
              <a:t>: </a:t>
            </a:r>
            <a:r>
              <a:rPr lang="tr-TR" dirty="0" err="1"/>
              <a:t>raise_for_status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08111" y="986530"/>
            <a:ext cx="8620889" cy="531822"/>
          </a:xfrm>
        </p:spPr>
        <p:txBody>
          <a:bodyPr/>
          <a:lstStyle/>
          <a:p>
            <a:r>
              <a:rPr lang="en-US" i="1" dirty="0"/>
              <a:t>the </a:t>
            </a:r>
            <a:r>
              <a:rPr lang="en-US" b="1" i="1" dirty="0"/>
              <a:t>Response</a:t>
            </a:r>
            <a:r>
              <a:rPr lang="en-US" i="1" dirty="0"/>
              <a:t> object has a </a:t>
            </a:r>
            <a:r>
              <a:rPr lang="en-US" b="1" i="1" dirty="0" err="1"/>
              <a:t>status_code</a:t>
            </a:r>
            <a:r>
              <a:rPr lang="en-US" b="1" i="1" dirty="0"/>
              <a:t> </a:t>
            </a:r>
            <a:r>
              <a:rPr lang="en-US" i="1" dirty="0"/>
              <a:t>attribute that can be</a:t>
            </a:r>
            <a:r>
              <a:rPr lang="tr-TR" i="1" dirty="0"/>
              <a:t> </a:t>
            </a:r>
            <a:r>
              <a:rPr lang="en-US" i="1" dirty="0"/>
              <a:t>checked against </a:t>
            </a:r>
            <a:r>
              <a:rPr lang="en-US" b="1" i="1" dirty="0" err="1"/>
              <a:t>requests.codes.ok</a:t>
            </a:r>
            <a:r>
              <a:rPr lang="en-US" i="1" dirty="0"/>
              <a:t> to see whether the download succeeded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raise_for_status</a:t>
            </a:r>
            <a:r>
              <a:rPr lang="tr-TR" b="1" dirty="0">
                <a:latin typeface="+mn-lt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tr-TR" sz="1400" dirty="0"/>
              <a:t>A </a:t>
            </a:r>
            <a:r>
              <a:rPr lang="en-US" sz="1400" dirty="0"/>
              <a:t>method on</a:t>
            </a:r>
            <a:r>
              <a:rPr lang="tr-TR" sz="1400" dirty="0"/>
              <a:t> </a:t>
            </a:r>
            <a:r>
              <a:rPr lang="en-US" sz="1400" dirty="0"/>
              <a:t>the </a:t>
            </a:r>
            <a:r>
              <a:rPr lang="en-US" sz="1400" b="1" dirty="0"/>
              <a:t>Response</a:t>
            </a:r>
            <a:r>
              <a:rPr lang="en-US" sz="1400" dirty="0"/>
              <a:t> object</a:t>
            </a:r>
            <a:endParaRPr lang="tr-TR" sz="1400" dirty="0"/>
          </a:p>
          <a:p>
            <a:r>
              <a:rPr lang="en-US" sz="1400" dirty="0"/>
              <a:t>A</a:t>
            </a:r>
            <a:r>
              <a:rPr lang="tr-TR" sz="1400" dirty="0"/>
              <a:t> </a:t>
            </a:r>
            <a:r>
              <a:rPr lang="en-US" sz="1400" dirty="0"/>
              <a:t>simpler way to check for success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succeed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sz="1400" dirty="0"/>
              <a:t>will do nothing </a:t>
            </a:r>
            <a:endParaRPr lang="tr-TR" sz="1400" dirty="0"/>
          </a:p>
          <a:p>
            <a:r>
              <a:rPr lang="en-US" sz="1400" dirty="0"/>
              <a:t>if the download succeeded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error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raise an exception </a:t>
            </a:r>
            <a:endParaRPr lang="tr-TR" sz="1400" dirty="0"/>
          </a:p>
          <a:p>
            <a:r>
              <a:rPr lang="en-US" sz="1400" dirty="0"/>
              <a:t>if there was an error downloading</a:t>
            </a:r>
            <a:r>
              <a:rPr lang="tr-TR" sz="1400" dirty="0"/>
              <a:t> </a:t>
            </a:r>
            <a:r>
              <a:rPr lang="en-US" sz="1400" dirty="0"/>
              <a:t>the file </a:t>
            </a:r>
            <a:endParaRPr lang="tr-TR" sz="1400" dirty="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38759D1-B854-48FD-B5F7-3AC99C298B21}"/>
              </a:ext>
            </a:extLst>
          </p:cNvPr>
          <p:cNvSpPr/>
          <p:nvPr/>
        </p:nvSpPr>
        <p:spPr>
          <a:xfrm>
            <a:off x="780816" y="5741605"/>
            <a:ext cx="73758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NewBaskerville-Roman"/>
              </a:rPr>
              <a:t>The </a:t>
            </a:r>
            <a:r>
              <a:rPr lang="en-US" sz="1400" dirty="0">
                <a:latin typeface="TheSansMonoCondensed-Plain"/>
              </a:rPr>
              <a:t>requests </a:t>
            </a:r>
            <a:r>
              <a:rPr lang="en-US" dirty="0">
                <a:latin typeface="NewBaskerville-Roman"/>
              </a:rPr>
              <a:t>module doesn’t come</a:t>
            </a:r>
            <a:r>
              <a:rPr lang="tr-TR" dirty="0">
                <a:latin typeface="NewBaskerville-Roman"/>
              </a:rPr>
              <a:t> </a:t>
            </a:r>
            <a:r>
              <a:rPr lang="en-US" dirty="0">
                <a:latin typeface="NewBaskerville-Roman"/>
              </a:rPr>
              <a:t>with Python, so you’ll have to install it first</a:t>
            </a:r>
            <a:endParaRPr lang="tr-TR" dirty="0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2B50FEBC-EF6C-46EF-83B1-F6B7E7090D65}"/>
              </a:ext>
            </a:extLst>
          </p:cNvPr>
          <p:cNvSpPr/>
          <p:nvPr/>
        </p:nvSpPr>
        <p:spPr>
          <a:xfrm>
            <a:off x="780816" y="6110937"/>
            <a:ext cx="1982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 err="1">
                <a:latin typeface="TheSansMonoCondensed-Bold"/>
              </a:rPr>
              <a:t>pip</a:t>
            </a:r>
            <a:r>
              <a:rPr lang="tr-TR" b="1" dirty="0">
                <a:latin typeface="TheSansMonoCondensed-Bold"/>
              </a:rPr>
              <a:t> </a:t>
            </a:r>
            <a:r>
              <a:rPr lang="tr-TR" b="1" dirty="0" err="1">
                <a:latin typeface="TheSansMonoCondensed-Bold"/>
              </a:rPr>
              <a:t>install</a:t>
            </a:r>
            <a:r>
              <a:rPr lang="tr-TR" b="1" dirty="0">
                <a:latin typeface="TheSansMonoCondensed-Bold"/>
              </a:rPr>
              <a:t> </a:t>
            </a:r>
            <a:r>
              <a:rPr lang="tr-TR" b="1" dirty="0" err="1">
                <a:latin typeface="TheSansMonoCondensed-Bold"/>
              </a:rPr>
              <a:t>requests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5902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391836"/>
            <a:ext cx="8621300" cy="432000"/>
          </a:xfrm>
        </p:spPr>
        <p:txBody>
          <a:bodyPr/>
          <a:lstStyle/>
          <a:p>
            <a:pPr algn="ctr"/>
            <a:r>
              <a:rPr lang="en-US" dirty="0" err="1"/>
              <a:t>requests.get</a:t>
            </a:r>
            <a:r>
              <a:rPr lang="en-US" dirty="0"/>
              <a:t>()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929" y="1036169"/>
            <a:ext cx="4582676" cy="4891321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import </a:t>
            </a:r>
            <a:r>
              <a:rPr lang="en-US" sz="1400" dirty="0" err="1"/>
              <a:t>webbrowser</a:t>
            </a:r>
            <a:r>
              <a:rPr lang="en-US" sz="1400" dirty="0"/>
              <a:t>, sys, </a:t>
            </a:r>
            <a:r>
              <a:rPr lang="en-US" sz="1400" dirty="0" err="1"/>
              <a:t>pyperclip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import requests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#download file content from a URL from Internet connected device with exception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def </a:t>
            </a:r>
            <a:r>
              <a:rPr lang="en-US" sz="1400" dirty="0" err="1"/>
              <a:t>downloadPageWithException</a:t>
            </a:r>
            <a:r>
              <a:rPr lang="en-US" sz="1400" dirty="0"/>
              <a:t>(</a:t>
            </a:r>
            <a:r>
              <a:rPr lang="en-US" sz="1400" dirty="0" err="1"/>
              <a:t>pageURL</a:t>
            </a:r>
            <a:r>
              <a:rPr lang="en-US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try: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en-US" sz="1400" dirty="0"/>
              <a:t>res = </a:t>
            </a:r>
            <a:r>
              <a:rPr lang="en-US" sz="1400" dirty="0" err="1"/>
              <a:t>requests.get</a:t>
            </a:r>
            <a:r>
              <a:rPr lang="en-US" sz="1400" dirty="0"/>
              <a:t>(</a:t>
            </a:r>
            <a:r>
              <a:rPr lang="en-US" sz="1400" dirty="0" err="1"/>
              <a:t>pageURL</a:t>
            </a:r>
            <a:r>
              <a:rPr lang="en-US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</a:t>
            </a:r>
            <a:r>
              <a:rPr lang="en-US" sz="1400" dirty="0" err="1"/>
              <a:t>res.raise_for_status</a:t>
            </a:r>
            <a:r>
              <a:rPr lang="en-US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print("The size of the file is", </a:t>
            </a:r>
            <a:r>
              <a:rPr lang="en-US" sz="1400" dirty="0" err="1"/>
              <a:t>len</a:t>
            </a:r>
            <a:r>
              <a:rPr lang="en-US" sz="1400" dirty="0"/>
              <a:t>(</a:t>
            </a:r>
            <a:r>
              <a:rPr lang="en-US" sz="1400" dirty="0" err="1"/>
              <a:t>res.text</a:t>
            </a:r>
            <a:r>
              <a:rPr lang="en-US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print("Notice: 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print(</a:t>
            </a:r>
            <a:r>
              <a:rPr lang="en-US" sz="1400" dirty="0" err="1"/>
              <a:t>res.text</a:t>
            </a:r>
            <a:r>
              <a:rPr lang="en-US" sz="1400" dirty="0"/>
              <a:t>[:250])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except Exception as </a:t>
            </a:r>
            <a:r>
              <a:rPr lang="en-US" sz="1400" dirty="0" err="1"/>
              <a:t>exc</a:t>
            </a:r>
            <a:r>
              <a:rPr lang="en-US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    print('There was a problem: %s' % (</a:t>
            </a:r>
            <a:r>
              <a:rPr lang="en-US" sz="1400" dirty="0" err="1"/>
              <a:t>exc</a:t>
            </a:r>
            <a:r>
              <a:rPr lang="en-US" sz="1400" dirty="0"/>
              <a:t>))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if __name__ == '__main__’: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	</a:t>
            </a:r>
            <a:r>
              <a:rPr lang="en-US" sz="1400" dirty="0" err="1"/>
              <a:t>url</a:t>
            </a:r>
            <a:r>
              <a:rPr lang="en-US" sz="1400" dirty="0"/>
              <a:t> = 'http://inventwithpython.com/</a:t>
            </a:r>
            <a:r>
              <a:rPr lang="en-US" sz="1400" dirty="0" err="1"/>
              <a:t>page_that_does_not_exist</a:t>
            </a:r>
            <a:r>
              <a:rPr lang="en-US" sz="1400" dirty="0"/>
              <a:t>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/>
              <a:t>downloadPageWithException</a:t>
            </a:r>
            <a:r>
              <a:rPr lang="en-US" sz="1400" dirty="0"/>
              <a:t>(</a:t>
            </a:r>
            <a:r>
              <a:rPr lang="en-US" sz="1400" dirty="0" err="1"/>
              <a:t>url</a:t>
            </a:r>
            <a:r>
              <a:rPr lang="en-US" sz="14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051B1A-63B8-420E-807C-E3DBA2532307}"/>
              </a:ext>
            </a:extLst>
          </p:cNvPr>
          <p:cNvSpPr txBox="1">
            <a:spLocks/>
          </p:cNvSpPr>
          <p:nvPr/>
        </p:nvSpPr>
        <p:spPr>
          <a:xfrm>
            <a:off x="4754652" y="1036170"/>
            <a:ext cx="4191625" cy="4891320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The request is a success? True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The size of the file is 179380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Notice: 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﻿The Project Gutenberg </a:t>
            </a:r>
            <a:r>
              <a:rPr lang="en-US" sz="1400" dirty="0" err="1"/>
              <a:t>EBook</a:t>
            </a:r>
            <a:r>
              <a:rPr lang="en-US" sz="1400" dirty="0"/>
              <a:t> of Romeo and Juliet, by William Shakespeare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*******************************************************************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THIS EBOOK WAS ONE OF PROJECT GUTENBERG'S EARLY FILES PRODUCED AT A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TIME WHEN PROOFING METHODS AND TOO</a:t>
            </a:r>
          </a:p>
        </p:txBody>
      </p:sp>
      <p:sp>
        <p:nvSpPr>
          <p:cNvPr id="10" name="Dikdörtgen 9">
            <a:extLst>
              <a:ext uri="{FF2B5EF4-FFF2-40B4-BE49-F238E27FC236}">
                <a16:creationId xmlns:a16="http://schemas.microsoft.com/office/drawing/2014/main" id="{E864323D-15EE-47E5-901E-178383137509}"/>
              </a:ext>
            </a:extLst>
          </p:cNvPr>
          <p:cNvSpPr/>
          <p:nvPr/>
        </p:nvSpPr>
        <p:spPr>
          <a:xfrm>
            <a:off x="197723" y="5927491"/>
            <a:ext cx="704210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If a failed download isn’t</a:t>
            </a:r>
            <a:r>
              <a:rPr lang="tr-TR" sz="1400" dirty="0"/>
              <a:t> </a:t>
            </a:r>
            <a:r>
              <a:rPr lang="en-US" sz="1400" dirty="0"/>
              <a:t>a deal breaker for your program, </a:t>
            </a:r>
            <a:endParaRPr lang="tr-TR" sz="1400" dirty="0"/>
          </a:p>
          <a:p>
            <a:r>
              <a:rPr lang="tr-TR" sz="1400" dirty="0"/>
              <a:t>     </a:t>
            </a:r>
            <a:r>
              <a:rPr lang="en-US" sz="1400" dirty="0"/>
              <a:t>you can wrap the </a:t>
            </a:r>
            <a:r>
              <a:rPr lang="en-US" sz="1400" dirty="0" err="1"/>
              <a:t>raise_for_</a:t>
            </a:r>
            <a:r>
              <a:rPr lang="en-US" sz="1400" b="1" i="1" dirty="0" err="1"/>
              <a:t>status</a:t>
            </a:r>
            <a:r>
              <a:rPr lang="en-US" sz="1400" b="1" i="1" dirty="0"/>
              <a:t>()</a:t>
            </a:r>
            <a:r>
              <a:rPr lang="en-US" sz="1400" dirty="0"/>
              <a:t> line</a:t>
            </a:r>
          </a:p>
          <a:p>
            <a:r>
              <a:rPr lang="tr-TR" sz="1400" dirty="0"/>
              <a:t>     </a:t>
            </a:r>
            <a:r>
              <a:rPr lang="en-US" sz="1400" dirty="0"/>
              <a:t>with try and except statements to handle this error case without crashing.</a:t>
            </a:r>
            <a:endParaRPr lang="tr-T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0A746D-53F9-49DB-A854-12D962537E4B}"/>
              </a:ext>
            </a:extLst>
          </p:cNvPr>
          <p:cNvSpPr txBox="1"/>
          <p:nvPr/>
        </p:nvSpPr>
        <p:spPr>
          <a:xfrm>
            <a:off x="3226034" y="2498382"/>
            <a:ext cx="17061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ensure that a program</a:t>
            </a:r>
            <a:r>
              <a:rPr lang="tr-TR" sz="1200" dirty="0"/>
              <a:t> </a:t>
            </a:r>
            <a:r>
              <a:rPr lang="en-US" sz="1200" dirty="0"/>
              <a:t>halts if a bad download occurs. </a:t>
            </a:r>
            <a:endParaRPr lang="tr-TR" sz="1200" dirty="0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2A1AF6E-ED36-4E48-B208-E9A7D60D921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299855" y="2821548"/>
            <a:ext cx="926179" cy="22645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11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11</a:t>
            </a:r>
            <a:r>
              <a:rPr lang="en-US" sz="2800" dirty="0"/>
              <a:t>: </a:t>
            </a:r>
            <a:r>
              <a:rPr lang="tr-TR" sz="2800" dirty="0"/>
              <a:t>Web </a:t>
            </a:r>
            <a:r>
              <a:rPr lang="tr-TR" sz="2800" dirty="0" err="1"/>
              <a:t>Scraping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Saving downloaded files to Hard Drive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E5923CD5-33C2-4345-A95F-B5D7482672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71" r="267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89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Saving Downloaded Files to the Hard Drive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dirty="0"/>
              <a:t>you can save the web page to a file on your hard drive with the</a:t>
            </a:r>
            <a:r>
              <a:rPr lang="tr-TR" dirty="0"/>
              <a:t> </a:t>
            </a:r>
            <a:r>
              <a:rPr lang="en-US" dirty="0"/>
              <a:t>standard </a:t>
            </a:r>
            <a:r>
              <a:rPr lang="en-US" b="1" i="1" dirty="0"/>
              <a:t>open() </a:t>
            </a:r>
            <a:r>
              <a:rPr lang="en-US" dirty="0"/>
              <a:t>function and </a:t>
            </a:r>
            <a:r>
              <a:rPr lang="en-US" b="1" i="1" dirty="0"/>
              <a:t>write() </a:t>
            </a:r>
            <a:r>
              <a:rPr lang="en-US" dirty="0"/>
              <a:t>method</a:t>
            </a:r>
            <a:endParaRPr lang="tr-TR" dirty="0"/>
          </a:p>
          <a:p>
            <a:r>
              <a:rPr lang="en-US" dirty="0"/>
              <a:t>There are some slight differences,</a:t>
            </a:r>
            <a:r>
              <a:rPr lang="tr-TR" dirty="0"/>
              <a:t> </a:t>
            </a:r>
            <a:r>
              <a:rPr lang="en-US" dirty="0"/>
              <a:t>though.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Binary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mode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en-US" sz="1400" dirty="0"/>
              <a:t>you must open the file </a:t>
            </a:r>
            <a:endParaRPr lang="tr-TR" sz="1400" dirty="0"/>
          </a:p>
          <a:p>
            <a:r>
              <a:rPr lang="en-US" sz="1400" dirty="0"/>
              <a:t>in write binary mode 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Files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sz="1400" dirty="0"/>
              <a:t>Even if the page is in plaintext</a:t>
            </a:r>
          </a:p>
          <a:p>
            <a:r>
              <a:rPr lang="en-US" sz="1400" dirty="0"/>
              <a:t>you need to</a:t>
            </a:r>
            <a:r>
              <a:rPr lang="tr-TR" sz="1400" dirty="0"/>
              <a:t> </a:t>
            </a:r>
            <a:r>
              <a:rPr lang="en-US" sz="1400" dirty="0"/>
              <a:t>write binary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Open in </a:t>
            </a:r>
            <a:r>
              <a:rPr lang="tr-TR" dirty="0" err="1"/>
              <a:t>binary</a:t>
            </a:r>
            <a:r>
              <a:rPr lang="tr-TR" dirty="0"/>
              <a:t> </a:t>
            </a:r>
            <a:r>
              <a:rPr lang="tr-TR" dirty="0" err="1"/>
              <a:t>mode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by passing</a:t>
            </a:r>
            <a:r>
              <a:rPr lang="tr-TR" sz="1400" dirty="0"/>
              <a:t> </a:t>
            </a:r>
            <a:r>
              <a:rPr lang="en-US" sz="1400" dirty="0"/>
              <a:t>the string '</a:t>
            </a:r>
            <a:r>
              <a:rPr lang="en-US" sz="1400" b="1" i="1" dirty="0" err="1"/>
              <a:t>wb</a:t>
            </a:r>
            <a:r>
              <a:rPr lang="en-US" sz="1400" dirty="0"/>
              <a:t>’ </a:t>
            </a:r>
            <a:endParaRPr lang="tr-TR" sz="1400" dirty="0"/>
          </a:p>
          <a:p>
            <a:r>
              <a:rPr lang="en-US" sz="1400" dirty="0"/>
              <a:t>as the second argument to open()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38759D1-B854-48FD-B5F7-3AC99C298B21}"/>
              </a:ext>
            </a:extLst>
          </p:cNvPr>
          <p:cNvSpPr/>
          <p:nvPr/>
        </p:nvSpPr>
        <p:spPr>
          <a:xfrm>
            <a:off x="404718" y="5470221"/>
            <a:ext cx="80363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NewBaskerville-Roman"/>
              </a:rPr>
              <a:t>To write the web page to a file, </a:t>
            </a:r>
            <a:endParaRPr lang="tr-TR" sz="1400" dirty="0">
              <a:latin typeface="NewBaskerville-Roman"/>
            </a:endParaRPr>
          </a:p>
          <a:p>
            <a:r>
              <a:rPr lang="en-US" sz="1400" dirty="0">
                <a:latin typeface="NewBaskerville-Roman"/>
              </a:rPr>
              <a:t>you can use a for loop with the Response</a:t>
            </a:r>
            <a:r>
              <a:rPr lang="tr-TR" sz="1400" dirty="0">
                <a:latin typeface="NewBaskerville-Roman"/>
              </a:rPr>
              <a:t> </a:t>
            </a:r>
            <a:r>
              <a:rPr lang="en-US" sz="1400" dirty="0">
                <a:latin typeface="NewBaskerville-Roman"/>
              </a:rPr>
              <a:t>object’s </a:t>
            </a:r>
            <a:r>
              <a:rPr lang="en-US" sz="1400" b="1" i="1" dirty="0" err="1">
                <a:latin typeface="NewBaskerville-Roman"/>
              </a:rPr>
              <a:t>iter_content</a:t>
            </a:r>
            <a:r>
              <a:rPr lang="en-US" sz="1400" b="1" i="1" dirty="0">
                <a:latin typeface="NewBaskerville-Roman"/>
              </a:rPr>
              <a:t>() </a:t>
            </a:r>
            <a:r>
              <a:rPr lang="en-US" sz="1400" dirty="0">
                <a:latin typeface="NewBaskerville-Roman"/>
              </a:rPr>
              <a:t>method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4025018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Download</a:t>
            </a:r>
            <a:r>
              <a:rPr lang="tr-TR" dirty="0"/>
              <a:t> a file </a:t>
            </a:r>
            <a:r>
              <a:rPr lang="tr-TR" dirty="0" err="1"/>
              <a:t>from</a:t>
            </a:r>
            <a:r>
              <a:rPr lang="tr-TR" dirty="0"/>
              <a:t> Internet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452" y="870121"/>
            <a:ext cx="5158761" cy="5355188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import </a:t>
            </a:r>
            <a:r>
              <a:rPr lang="en-US" dirty="0" err="1"/>
              <a:t>webbrowser</a:t>
            </a:r>
            <a:r>
              <a:rPr lang="en-US" dirty="0"/>
              <a:t>, sys, </a:t>
            </a:r>
            <a:r>
              <a:rPr lang="en-US" dirty="0" err="1"/>
              <a:t>pyperclip</a:t>
            </a:r>
            <a:endParaRPr lang="tr-TR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import requests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#save an Internet file from a URL using a connected device with exception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def </a:t>
            </a:r>
            <a:r>
              <a:rPr lang="en-US" dirty="0" err="1"/>
              <a:t>saveInternetFileWithException</a:t>
            </a:r>
            <a:r>
              <a:rPr lang="en-US" dirty="0"/>
              <a:t>(</a:t>
            </a:r>
            <a:r>
              <a:rPr lang="en-US" dirty="0" err="1"/>
              <a:t>pageURL</a:t>
            </a:r>
            <a:r>
              <a:rPr lang="en-US" dirty="0"/>
              <a:t>, </a:t>
            </a:r>
            <a:r>
              <a:rPr lang="en-US" dirty="0" err="1"/>
              <a:t>fName</a:t>
            </a:r>
            <a:r>
              <a:rPr lang="en-US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res = </a:t>
            </a:r>
            <a:r>
              <a:rPr lang="en-US" dirty="0" err="1"/>
              <a:t>requests.get</a:t>
            </a:r>
            <a:r>
              <a:rPr lang="en-US" dirty="0"/>
              <a:t>(</a:t>
            </a:r>
            <a:r>
              <a:rPr lang="en-US" dirty="0" err="1"/>
              <a:t>pageURL</a:t>
            </a:r>
            <a:r>
              <a:rPr lang="en-US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try:</a:t>
            </a:r>
            <a:endParaRPr lang="tr-TR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    </a:t>
            </a:r>
            <a:r>
              <a:rPr lang="tr-TR" dirty="0" err="1"/>
              <a:t>res</a:t>
            </a:r>
            <a:r>
              <a:rPr lang="tr-TR" dirty="0"/>
              <a:t> = </a:t>
            </a:r>
            <a:r>
              <a:rPr lang="tr-TR" dirty="0" err="1"/>
              <a:t>requests.get</a:t>
            </a:r>
            <a:r>
              <a:rPr lang="tr-TR" dirty="0"/>
              <a:t>(</a:t>
            </a:r>
            <a:r>
              <a:rPr lang="tr-TR" dirty="0" err="1"/>
              <a:t>pageURL</a:t>
            </a:r>
            <a:r>
              <a:rPr lang="tr-TR" dirty="0"/>
              <a:t>)</a:t>
            </a:r>
            <a:endParaRPr lang="en-US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res.raise_for_status</a:t>
            </a:r>
            <a:r>
              <a:rPr lang="en-US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playFile</a:t>
            </a:r>
            <a:r>
              <a:rPr lang="en-US" dirty="0"/>
              <a:t> = open(</a:t>
            </a:r>
            <a:r>
              <a:rPr lang="en-US" dirty="0" err="1"/>
              <a:t>fName</a:t>
            </a:r>
            <a:r>
              <a:rPr lang="en-US" dirty="0"/>
              <a:t>, '</a:t>
            </a:r>
            <a:r>
              <a:rPr lang="en-US" dirty="0" err="1"/>
              <a:t>wb</a:t>
            </a:r>
            <a:r>
              <a:rPr lang="en-US" dirty="0"/>
              <a:t>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print("Saving file", </a:t>
            </a:r>
            <a:r>
              <a:rPr lang="en-US" dirty="0" err="1"/>
              <a:t>fName</a:t>
            </a:r>
            <a:r>
              <a:rPr lang="en-US" dirty="0"/>
              <a:t>, end = '')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for chunk in </a:t>
            </a:r>
            <a:r>
              <a:rPr lang="en-US" dirty="0" err="1"/>
              <a:t>res.iter_content</a:t>
            </a:r>
            <a:r>
              <a:rPr lang="en-US" dirty="0"/>
              <a:t>(10000):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</a:t>
            </a:r>
            <a:r>
              <a:rPr lang="en-US" dirty="0" err="1"/>
              <a:t>playFile.write</a:t>
            </a:r>
            <a:r>
              <a:rPr lang="en-US" dirty="0"/>
              <a:t>(chunk)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    print(".", end = '')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playFile.close</a:t>
            </a:r>
            <a:r>
              <a:rPr lang="en-US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except Exception as </a:t>
            </a:r>
            <a:r>
              <a:rPr lang="en-US" dirty="0" err="1"/>
              <a:t>exc</a:t>
            </a:r>
            <a:r>
              <a:rPr lang="en-US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        print('There was a problem: %s' % (</a:t>
            </a:r>
            <a:r>
              <a:rPr lang="en-US" dirty="0" err="1"/>
              <a:t>exc</a:t>
            </a:r>
            <a:r>
              <a:rPr lang="en-US" dirty="0"/>
              <a:t>))</a:t>
            </a:r>
            <a:endParaRPr lang="tr-TR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if __name__ == '__main__’: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#</a:t>
            </a:r>
            <a:r>
              <a:rPr lang="tr-TR" dirty="0" err="1"/>
              <a:t>download</a:t>
            </a:r>
            <a:r>
              <a:rPr lang="tr-TR" dirty="0"/>
              <a:t> file </a:t>
            </a:r>
            <a:r>
              <a:rPr lang="tr-TR" dirty="0" err="1"/>
              <a:t>content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URL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</a:t>
            </a:r>
            <a:r>
              <a:rPr lang="tr-TR" dirty="0" err="1"/>
              <a:t>url</a:t>
            </a:r>
            <a:r>
              <a:rPr lang="tr-TR" dirty="0"/>
              <a:t> = 'http://www.gutenberg.org/</a:t>
            </a:r>
            <a:r>
              <a:rPr lang="tr-TR" dirty="0" err="1"/>
              <a:t>cache</a:t>
            </a:r>
            <a:r>
              <a:rPr lang="tr-TR" dirty="0"/>
              <a:t>/</a:t>
            </a:r>
            <a:r>
              <a:rPr lang="tr-TR" dirty="0" err="1"/>
              <a:t>epub</a:t>
            </a:r>
            <a:r>
              <a:rPr lang="tr-TR" dirty="0"/>
              <a:t>/1112/pg1112.txt'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</a:t>
            </a:r>
            <a:r>
              <a:rPr lang="tr-TR" dirty="0" err="1"/>
              <a:t>fileName</a:t>
            </a:r>
            <a:r>
              <a:rPr lang="tr-TR" dirty="0"/>
              <a:t> = 'RomeoAndJuliet.txt'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dirty="0"/>
              <a:t>    </a:t>
            </a:r>
            <a:r>
              <a:rPr lang="tr-TR" dirty="0" err="1"/>
              <a:t>saveInternetFileWithException</a:t>
            </a:r>
            <a:r>
              <a:rPr lang="tr-TR" dirty="0"/>
              <a:t>(</a:t>
            </a:r>
            <a:r>
              <a:rPr lang="tr-TR" dirty="0" err="1"/>
              <a:t>url</a:t>
            </a:r>
            <a:r>
              <a:rPr lang="tr-TR" dirty="0"/>
              <a:t>, </a:t>
            </a:r>
            <a:r>
              <a:rPr lang="tr-TR" dirty="0" err="1"/>
              <a:t>fileName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051B1A-63B8-420E-807C-E3DBA2532307}"/>
              </a:ext>
            </a:extLst>
          </p:cNvPr>
          <p:cNvSpPr txBox="1">
            <a:spLocks/>
          </p:cNvSpPr>
          <p:nvPr/>
        </p:nvSpPr>
        <p:spPr>
          <a:xfrm>
            <a:off x="5391808" y="870120"/>
            <a:ext cx="3554470" cy="5355188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Saving file RomeoAndJuliet.txt..................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4645A5C-5129-4FC3-9A73-4145089ECEE0}"/>
              </a:ext>
            </a:extLst>
          </p:cNvPr>
          <p:cNvSpPr/>
          <p:nvPr/>
        </p:nvSpPr>
        <p:spPr>
          <a:xfrm>
            <a:off x="5567135" y="3758532"/>
            <a:ext cx="33120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NewBaskerville-Roman"/>
              </a:rPr>
              <a:t>The </a:t>
            </a:r>
            <a:r>
              <a:rPr lang="en-US" sz="1050" b="1" i="1" dirty="0">
                <a:latin typeface="TheSansMonoCondensed-Plain"/>
              </a:rPr>
              <a:t>write() </a:t>
            </a:r>
            <a:r>
              <a:rPr lang="en-US" sz="1200" dirty="0">
                <a:latin typeface="NewBaskerville-Roman"/>
              </a:rPr>
              <a:t>method returns the number of bytes written to the file</a:t>
            </a:r>
            <a:endParaRPr lang="tr-TR" sz="1200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F8221589-D521-423D-A1DF-88EA082F4ABE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974109" y="2715388"/>
            <a:ext cx="2590800" cy="3385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4184C8A-F736-4742-8FEF-A57F57200F55}"/>
              </a:ext>
            </a:extLst>
          </p:cNvPr>
          <p:cNvSpPr txBox="1"/>
          <p:nvPr/>
        </p:nvSpPr>
        <p:spPr>
          <a:xfrm>
            <a:off x="5564909" y="2484555"/>
            <a:ext cx="3314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returns “chunks” of the content on each</a:t>
            </a:r>
            <a:r>
              <a:rPr lang="tr-TR" sz="1200" dirty="0"/>
              <a:t> </a:t>
            </a:r>
            <a:r>
              <a:rPr lang="en-US" sz="1200" dirty="0"/>
              <a:t>iteration through the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A34B1-37BA-4C28-8630-8AC8182EB6F0}"/>
              </a:ext>
            </a:extLst>
          </p:cNvPr>
          <p:cNvSpPr txBox="1"/>
          <p:nvPr/>
        </p:nvSpPr>
        <p:spPr>
          <a:xfrm>
            <a:off x="5564909" y="3399534"/>
            <a:ext cx="3314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Each chunk is of the bytes data type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75FAE57E-2355-4E8B-AF9A-D4A700FCDF2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974109" y="3250739"/>
            <a:ext cx="2590800" cy="2872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6CD38DDB-DBB8-4D37-AF10-75B1A6967A38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038845" y="3345389"/>
            <a:ext cx="3528290" cy="64397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08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11</a:t>
            </a:r>
            <a:r>
              <a:rPr lang="en-US" sz="2800" dirty="0"/>
              <a:t>: </a:t>
            </a:r>
            <a:r>
              <a:rPr lang="tr-TR" sz="2800" dirty="0"/>
              <a:t>Web </a:t>
            </a:r>
            <a:r>
              <a:rPr lang="tr-TR" sz="2800" dirty="0" err="1"/>
              <a:t>Scraping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E5923CD5-33C2-4345-A95F-B5D7482672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71" r="267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55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HTML </a:t>
            </a:r>
            <a:r>
              <a:rPr lang="tr-TR" dirty="0" err="1"/>
              <a:t>basics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Hypertext Markup Language (HTML) is the format that web pages are written</a:t>
            </a:r>
            <a:r>
              <a:rPr lang="tr-TR" sz="1200" dirty="0"/>
              <a:t> </a:t>
            </a:r>
            <a:r>
              <a:rPr lang="en-US" sz="1200" dirty="0"/>
              <a:t>in.</a:t>
            </a:r>
            <a:endParaRPr lang="tr-TR" sz="1200" dirty="0"/>
          </a:p>
          <a:p>
            <a:r>
              <a:rPr lang="en-US" sz="1200" dirty="0"/>
              <a:t>Resources for Learning HTML</a:t>
            </a:r>
            <a:r>
              <a:rPr lang="tr-TR" sz="1200" dirty="0"/>
              <a:t>: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Mozilla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801468"/>
          </a:xfrm>
        </p:spPr>
        <p:txBody>
          <a:bodyPr/>
          <a:lstStyle/>
          <a:p>
            <a:r>
              <a:rPr lang="tr-TR" sz="1400" dirty="0"/>
              <a:t>https://developer.mozilla.org/en-US/learn/html/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Codecade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tr-TR" sz="1400" dirty="0"/>
              <a:t>http://www.codecademy.com/tracks/web/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HTMLDOG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400" dirty="0"/>
              <a:t>http://htmldog.com/guides/html/beginner/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38759D1-B854-48FD-B5F7-3AC99C298B21}"/>
              </a:ext>
            </a:extLst>
          </p:cNvPr>
          <p:cNvSpPr/>
          <p:nvPr/>
        </p:nvSpPr>
        <p:spPr>
          <a:xfrm>
            <a:off x="404718" y="5470221"/>
            <a:ext cx="80363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NewBaskerville-Roman"/>
              </a:rPr>
              <a:t>if you need a beginner tutorial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372778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A </a:t>
            </a:r>
            <a:r>
              <a:rPr lang="tr-TR" dirty="0" err="1"/>
              <a:t>Quick</a:t>
            </a:r>
            <a:r>
              <a:rPr lang="tr-TR" dirty="0"/>
              <a:t> </a:t>
            </a:r>
            <a:r>
              <a:rPr lang="tr-TR" dirty="0" err="1"/>
              <a:t>Refresher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175061"/>
          </a:xfrm>
        </p:spPr>
        <p:txBody>
          <a:bodyPr/>
          <a:lstStyle/>
          <a:p>
            <a:r>
              <a:rPr lang="en-US" sz="1200" dirty="0"/>
              <a:t>An HTML file is a plaintext file</a:t>
            </a:r>
            <a:r>
              <a:rPr lang="tr-TR" sz="1200" dirty="0"/>
              <a:t> </a:t>
            </a:r>
            <a:r>
              <a:rPr lang="en-US" sz="1200" dirty="0"/>
              <a:t>with the .html file</a:t>
            </a:r>
            <a:r>
              <a:rPr lang="tr-TR" sz="1200" dirty="0"/>
              <a:t> </a:t>
            </a:r>
            <a:r>
              <a:rPr lang="en-US" sz="1200" dirty="0"/>
              <a:t>extension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.html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801468"/>
          </a:xfrm>
        </p:spPr>
        <p:txBody>
          <a:bodyPr/>
          <a:lstStyle/>
          <a:p>
            <a:r>
              <a:rPr lang="en-US" sz="1400" dirty="0"/>
              <a:t>The text in these files is surrounded by tags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element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900955"/>
          </a:xfrm>
        </p:spPr>
        <p:txBody>
          <a:bodyPr/>
          <a:lstStyle/>
          <a:p>
            <a:r>
              <a:rPr lang="en-US" sz="1400" dirty="0"/>
              <a:t>A starting tag and closing tag </a:t>
            </a:r>
            <a:endParaRPr lang="tr-TR" sz="1400" dirty="0"/>
          </a:p>
          <a:p>
            <a:r>
              <a:rPr lang="en-US" sz="1400" dirty="0"/>
              <a:t>can enclose some text to form an element.</a:t>
            </a:r>
          </a:p>
          <a:p>
            <a:r>
              <a:rPr lang="en-US" sz="1400" dirty="0"/>
              <a:t>The text (or inner HTML) is the content </a:t>
            </a:r>
            <a:endParaRPr lang="tr-TR" sz="1400" dirty="0"/>
          </a:p>
          <a:p>
            <a:r>
              <a:rPr lang="en-US" sz="1400" dirty="0"/>
              <a:t>between the starting and closing</a:t>
            </a:r>
            <a:r>
              <a:rPr lang="tr-TR" sz="1400" dirty="0"/>
              <a:t> </a:t>
            </a:r>
            <a:r>
              <a:rPr lang="en-US" sz="1400" dirty="0"/>
              <a:t>tags.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tags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90095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are words</a:t>
            </a:r>
            <a:r>
              <a:rPr lang="tr-TR" sz="1400" dirty="0"/>
              <a:t> </a:t>
            </a:r>
          </a:p>
          <a:p>
            <a:r>
              <a:rPr lang="en-US" sz="1400" dirty="0"/>
              <a:t>enclosed in angle brackets</a:t>
            </a:r>
            <a:r>
              <a:rPr lang="tr-TR" sz="1400" dirty="0"/>
              <a:t>.</a:t>
            </a:r>
          </a:p>
          <a:p>
            <a:r>
              <a:rPr lang="en-US" dirty="0"/>
              <a:t>The tags tell the browser </a:t>
            </a:r>
            <a:endParaRPr lang="tr-TR" dirty="0"/>
          </a:p>
          <a:p>
            <a:r>
              <a:rPr lang="en-US" dirty="0"/>
              <a:t>how to format the web</a:t>
            </a:r>
            <a:r>
              <a:rPr lang="tr-TR" dirty="0"/>
              <a:t> </a:t>
            </a:r>
            <a:r>
              <a:rPr lang="tr-TR" dirty="0" err="1"/>
              <a:t>page</a:t>
            </a:r>
            <a:r>
              <a:rPr lang="tr-TR" dirty="0"/>
              <a:t>.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896470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00" y="370804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Hello</a:t>
            </a:r>
            <a:r>
              <a:rPr lang="tr-TR" dirty="0"/>
              <a:t> World!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4524" y="2458534"/>
            <a:ext cx="4582676" cy="1940931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&lt;strong&gt;Hello&lt;/strong&gt; world!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B14077C-CBBA-4176-A04A-613C8752F0E6}"/>
              </a:ext>
            </a:extLst>
          </p:cNvPr>
          <p:cNvSpPr/>
          <p:nvPr/>
        </p:nvSpPr>
        <p:spPr>
          <a:xfrm>
            <a:off x="184524" y="1140650"/>
            <a:ext cx="41092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display Hello world! in the</a:t>
            </a:r>
            <a:r>
              <a:rPr lang="tr-TR" sz="1400" dirty="0"/>
              <a:t> </a:t>
            </a:r>
            <a:r>
              <a:rPr lang="en-US" sz="1400" dirty="0"/>
              <a:t>browser, with Hello in bold</a:t>
            </a:r>
            <a:endParaRPr lang="tr-TR" sz="14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411DADC-20D9-4CE0-8117-B30FD9375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890" y="2458534"/>
            <a:ext cx="4048935" cy="2029700"/>
          </a:xfrm>
          <a:prstGeom prst="rect">
            <a:avLst/>
          </a:prstGeom>
        </p:spPr>
      </p:pic>
      <p:sp>
        <p:nvSpPr>
          <p:cNvPr id="7" name="Dikdörtgen 6">
            <a:extLst>
              <a:ext uri="{FF2B5EF4-FFF2-40B4-BE49-F238E27FC236}">
                <a16:creationId xmlns:a16="http://schemas.microsoft.com/office/drawing/2014/main" id="{9C8B88D9-02F3-4855-B516-8391D05F27E2}"/>
              </a:ext>
            </a:extLst>
          </p:cNvPr>
          <p:cNvSpPr/>
          <p:nvPr/>
        </p:nvSpPr>
        <p:spPr>
          <a:xfrm>
            <a:off x="1034557" y="3468641"/>
            <a:ext cx="28116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The closing </a:t>
            </a:r>
            <a:r>
              <a:rPr lang="en-US" sz="1200" b="1" dirty="0"/>
              <a:t>&lt;/strong&gt; </a:t>
            </a:r>
            <a:r>
              <a:rPr lang="en-US" sz="1200" dirty="0"/>
              <a:t>tags tells the browser where the end of the bold text is.</a:t>
            </a:r>
            <a:endParaRPr lang="tr-TR" sz="1200" dirty="0"/>
          </a:p>
        </p:txBody>
      </p:sp>
      <p:sp>
        <p:nvSpPr>
          <p:cNvPr id="8" name="Dikdörtgen 6">
            <a:extLst>
              <a:ext uri="{FF2B5EF4-FFF2-40B4-BE49-F238E27FC236}">
                <a16:creationId xmlns:a16="http://schemas.microsoft.com/office/drawing/2014/main" id="{C6527451-BE7A-4560-A9BB-FF708FC4AF6E}"/>
              </a:ext>
            </a:extLst>
          </p:cNvPr>
          <p:cNvSpPr/>
          <p:nvPr/>
        </p:nvSpPr>
        <p:spPr>
          <a:xfrm>
            <a:off x="1482160" y="1613759"/>
            <a:ext cx="28116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The opening </a:t>
            </a:r>
            <a:r>
              <a:rPr lang="en-US" sz="1200" b="1" dirty="0"/>
              <a:t>&lt;strong&gt; </a:t>
            </a:r>
            <a:r>
              <a:rPr lang="en-US" sz="1200" dirty="0"/>
              <a:t>tag says that the enclosed text will appear in bold.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F3038380-FE9E-43EE-BC24-B3CAAE818848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794327" y="1844592"/>
            <a:ext cx="687833" cy="6139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5BE0A174-1AB5-40BD-A6C8-444DF3B80A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08003" y="2763981"/>
            <a:ext cx="779275" cy="6300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342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A </a:t>
            </a:r>
            <a:r>
              <a:rPr lang="tr-TR" dirty="0" err="1"/>
              <a:t>Quick</a:t>
            </a:r>
            <a:r>
              <a:rPr lang="tr-TR" dirty="0"/>
              <a:t> </a:t>
            </a:r>
            <a:r>
              <a:rPr lang="tr-TR" dirty="0" err="1"/>
              <a:t>Refresher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There are many different tags in HTML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attributes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801468"/>
          </a:xfrm>
        </p:spPr>
        <p:txBody>
          <a:bodyPr/>
          <a:lstStyle/>
          <a:p>
            <a:r>
              <a:rPr lang="en-US" sz="1400" dirty="0"/>
              <a:t>Some of tags have extra properties </a:t>
            </a:r>
            <a:endParaRPr lang="tr-TR" sz="1400" dirty="0"/>
          </a:p>
          <a:p>
            <a:r>
              <a:rPr lang="en-US" sz="1400" dirty="0"/>
              <a:t>in the form of attributes </a:t>
            </a:r>
            <a:endParaRPr lang="tr-TR" sz="1400" dirty="0"/>
          </a:p>
          <a:p>
            <a:r>
              <a:rPr lang="en-US" sz="1400" dirty="0"/>
              <a:t>within the angle brackets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a link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b="1" dirty="0"/>
              <a:t>&lt;a&gt; </a:t>
            </a:r>
            <a:r>
              <a:rPr lang="en-US" dirty="0"/>
              <a:t>tag encloses text </a:t>
            </a:r>
            <a:endParaRPr lang="tr-TR" dirty="0"/>
          </a:p>
          <a:p>
            <a:r>
              <a:rPr lang="en-US" dirty="0"/>
              <a:t>that should be a link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angle</a:t>
            </a:r>
            <a:r>
              <a:rPr lang="tr-TR" dirty="0"/>
              <a:t> </a:t>
            </a:r>
            <a:r>
              <a:rPr lang="tr-TR" dirty="0" err="1"/>
              <a:t>brackets</a:t>
            </a:r>
            <a:r>
              <a:rPr lang="tr-TR" dirty="0"/>
              <a:t> 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400" dirty="0"/>
              <a:t>&lt;</a:t>
            </a:r>
          </a:p>
          <a:p>
            <a:r>
              <a:rPr lang="tr-TR" sz="1400" dirty="0"/>
              <a:t>&gt;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4E50DD42-D5B1-4791-9F06-B416DF3B589A}"/>
              </a:ext>
            </a:extLst>
          </p:cNvPr>
          <p:cNvSpPr/>
          <p:nvPr/>
        </p:nvSpPr>
        <p:spPr>
          <a:xfrm>
            <a:off x="2464293" y="570308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/>
              <a:t>&lt;a </a:t>
            </a:r>
            <a:r>
              <a:rPr lang="en-US" sz="1400" dirty="0" err="1"/>
              <a:t>href</a:t>
            </a:r>
            <a:r>
              <a:rPr lang="en-US" sz="1400" dirty="0"/>
              <a:t>="http://inventwithpython.com"</a:t>
            </a:r>
            <a:r>
              <a:rPr lang="en-US" sz="1400" b="1" dirty="0"/>
              <a:t>&gt;</a:t>
            </a:r>
            <a:r>
              <a:rPr lang="en-US" sz="1400" dirty="0"/>
              <a:t>Python books</a:t>
            </a:r>
            <a:r>
              <a:rPr lang="en-US" sz="1400" b="1" dirty="0"/>
              <a:t>&lt;/a&gt;</a:t>
            </a:r>
          </a:p>
        </p:txBody>
      </p:sp>
    </p:spTree>
    <p:extLst>
      <p:ext uri="{BB962C8B-B14F-4D97-AF65-F5344CB8AC3E}">
        <p14:creationId xmlns:p14="http://schemas.microsoft.com/office/powerpoint/2010/main" val="2850629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A </a:t>
            </a:r>
            <a:r>
              <a:rPr lang="tr-TR" dirty="0" err="1"/>
              <a:t>Quick</a:t>
            </a:r>
            <a:r>
              <a:rPr lang="tr-TR" dirty="0"/>
              <a:t> </a:t>
            </a:r>
            <a:r>
              <a:rPr lang="tr-TR" dirty="0" err="1"/>
              <a:t>Refresher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Some elements have an id attribute that is used to uniquely identify</a:t>
            </a:r>
            <a:r>
              <a:rPr lang="tr-TR" sz="1200" dirty="0"/>
              <a:t> </a:t>
            </a:r>
            <a:r>
              <a:rPr lang="en-US" sz="1200" dirty="0"/>
              <a:t>the element in the page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672259"/>
          </a:xfrm>
        </p:spPr>
        <p:txBody>
          <a:bodyPr/>
          <a:lstStyle/>
          <a:p>
            <a:r>
              <a:rPr lang="en-US" sz="1400" dirty="0"/>
              <a:t>You will often instruct your programs </a:t>
            </a:r>
            <a:endParaRPr lang="tr-TR" sz="1400" dirty="0"/>
          </a:p>
          <a:p>
            <a:r>
              <a:rPr lang="en-US" sz="1400" dirty="0"/>
              <a:t>to seek out an</a:t>
            </a:r>
            <a:r>
              <a:rPr lang="tr-TR" sz="1400" dirty="0"/>
              <a:t> </a:t>
            </a:r>
            <a:r>
              <a:rPr lang="en-US" sz="1400" dirty="0"/>
              <a:t>element by its id attribute, 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web </a:t>
            </a:r>
            <a:r>
              <a:rPr lang="tr-TR" dirty="0" err="1"/>
              <a:t>scraping</a:t>
            </a:r>
            <a:r>
              <a:rPr lang="tr-TR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628899"/>
          </a:xfrm>
        </p:spPr>
        <p:txBody>
          <a:bodyPr/>
          <a:lstStyle/>
          <a:p>
            <a:r>
              <a:rPr lang="en-US" sz="1200" dirty="0"/>
              <a:t>is a common task</a:t>
            </a:r>
            <a:endParaRPr lang="tr-TR" sz="1200" dirty="0"/>
          </a:p>
          <a:p>
            <a:r>
              <a:rPr lang="en-US" sz="1200" dirty="0"/>
              <a:t>in writing web scraping programs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element’s</a:t>
            </a:r>
            <a:r>
              <a:rPr lang="tr-TR" dirty="0"/>
              <a:t> </a:t>
            </a:r>
            <a:r>
              <a:rPr lang="tr-TR" dirty="0" err="1"/>
              <a:t>id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figuring out an element’s id attribute </a:t>
            </a:r>
            <a:endParaRPr lang="tr-TR" sz="1400" dirty="0"/>
          </a:p>
          <a:p>
            <a:r>
              <a:rPr lang="en-US" sz="1400" dirty="0"/>
              <a:t>using the</a:t>
            </a:r>
            <a:r>
              <a:rPr lang="tr-TR" sz="1400" dirty="0"/>
              <a:t> </a:t>
            </a:r>
            <a:r>
              <a:rPr lang="en-US" sz="1400" dirty="0"/>
              <a:t>browser’s developer tools 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4023239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00" y="523152"/>
            <a:ext cx="8505000" cy="432000"/>
          </a:xfrm>
        </p:spPr>
        <p:txBody>
          <a:bodyPr/>
          <a:lstStyle/>
          <a:p>
            <a:pPr algn="ctr"/>
            <a:r>
              <a:rPr lang="tr-TR" dirty="0"/>
              <a:t>Link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84287"/>
            <a:ext cx="5284607" cy="1903740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Al's free &lt;a </a:t>
            </a:r>
            <a:r>
              <a:rPr lang="en-US" sz="1400" dirty="0" err="1"/>
              <a:t>href</a:t>
            </a:r>
            <a:r>
              <a:rPr lang="en-US" sz="1400" dirty="0"/>
              <a:t>="http://inventwithpython.com"&gt;Python books&lt;/a&gt;.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B14077C-CBBA-4176-A04A-613C8752F0E6}"/>
              </a:ext>
            </a:extLst>
          </p:cNvPr>
          <p:cNvSpPr/>
          <p:nvPr/>
        </p:nvSpPr>
        <p:spPr>
          <a:xfrm>
            <a:off x="171976" y="3707297"/>
            <a:ext cx="410926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display The link rendered in the browser</a:t>
            </a:r>
            <a:endParaRPr lang="tr-TR" sz="1400" dirty="0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9C8B88D9-02F3-4855-B516-8391D05F27E2}"/>
              </a:ext>
            </a:extLst>
          </p:cNvPr>
          <p:cNvSpPr/>
          <p:nvPr/>
        </p:nvSpPr>
        <p:spPr>
          <a:xfrm>
            <a:off x="171976" y="4015074"/>
            <a:ext cx="81934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The URL that the text links</a:t>
            </a:r>
            <a:r>
              <a:rPr lang="tr-TR" sz="1400" dirty="0"/>
              <a:t> </a:t>
            </a:r>
            <a:r>
              <a:rPr lang="en-US" sz="1400" dirty="0"/>
              <a:t>to is determined by the </a:t>
            </a:r>
            <a:r>
              <a:rPr lang="en-US" sz="1400" dirty="0" err="1"/>
              <a:t>href</a:t>
            </a:r>
            <a:r>
              <a:rPr lang="en-US" sz="1400" dirty="0"/>
              <a:t> attribute.</a:t>
            </a:r>
            <a:endParaRPr lang="tr-TR" sz="14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CB32FC6-A036-4FFF-8B7D-A4BEE6628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845" y="1691982"/>
            <a:ext cx="3643523" cy="182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56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Viewing the Source HTML of a Web Page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You’ll need to look at the HTML source of the web pages that your programs</a:t>
            </a:r>
            <a:r>
              <a:rPr lang="tr-TR" sz="1200" dirty="0"/>
              <a:t> </a:t>
            </a:r>
            <a:r>
              <a:rPr lang="en-US" sz="1200" dirty="0"/>
              <a:t>will work with.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right-click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622885"/>
          </a:xfrm>
        </p:spPr>
        <p:txBody>
          <a:bodyPr/>
          <a:lstStyle/>
          <a:p>
            <a:r>
              <a:rPr lang="en-US" sz="1400" dirty="0"/>
              <a:t>Any</a:t>
            </a:r>
            <a:r>
              <a:rPr lang="tr-TR" sz="1400" dirty="0"/>
              <a:t> </a:t>
            </a:r>
            <a:r>
              <a:rPr lang="en-US" sz="1400" dirty="0"/>
              <a:t>web page in your web browser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HTML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628899"/>
          </a:xfrm>
        </p:spPr>
        <p:txBody>
          <a:bodyPr/>
          <a:lstStyle/>
          <a:p>
            <a:r>
              <a:rPr lang="en-US" sz="1200" dirty="0"/>
              <a:t>to see the HTML text of the page</a:t>
            </a:r>
            <a:endParaRPr lang="tr-TR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View</a:t>
            </a:r>
            <a:r>
              <a:rPr lang="tr-TR" dirty="0"/>
              <a:t> Source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select View Source or View page source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38759D1-B854-48FD-B5F7-3AC99C298B21}"/>
              </a:ext>
            </a:extLst>
          </p:cNvPr>
          <p:cNvSpPr/>
          <p:nvPr/>
        </p:nvSpPr>
        <p:spPr>
          <a:xfrm>
            <a:off x="404718" y="5470221"/>
            <a:ext cx="80363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The browser knows how to display, or render, the</a:t>
            </a:r>
            <a:r>
              <a:rPr lang="tr-TR" sz="1400" dirty="0"/>
              <a:t> </a:t>
            </a:r>
            <a:r>
              <a:rPr lang="en-US" sz="1400" dirty="0"/>
              <a:t>web page from this HTML.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52312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5AB09C6-C653-4733-91CF-85746FDF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77" y="27081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Viewing the source of a web page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C7E5053-D8CC-46C0-903E-906E8BB1F5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720" y="864000"/>
            <a:ext cx="3679040" cy="3301189"/>
          </a:xfrm>
          <a:prstGeom prst="rect">
            <a:avLst/>
          </a:prstGeom>
          <a:noFill/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8BB3FC92-3E0A-4012-A103-474192544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22277" y="6155190"/>
            <a:ext cx="324000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noProof="0" smtClean="0"/>
              <a:pPr>
                <a:spcAft>
                  <a:spcPts val="600"/>
                </a:spcAft>
              </a:pPr>
              <a:t>24</a:t>
            </a:fld>
            <a:endParaRPr lang="en-US" noProof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6A7EFAF-FFAF-4F1E-895E-F4075FF3384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2240" y="3738031"/>
            <a:ext cx="6353979" cy="28491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7265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Opening Your Browser’s Developer Tools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In addition to viewing a web page’s source, you can look through a page’s</a:t>
            </a:r>
            <a:r>
              <a:rPr lang="tr-TR" sz="1200" dirty="0"/>
              <a:t> </a:t>
            </a:r>
            <a:r>
              <a:rPr lang="en-US" sz="1200" dirty="0"/>
              <a:t>HTML using your browser’s developer tools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installation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407835"/>
          </a:xfrm>
        </p:spPr>
        <p:txBody>
          <a:bodyPr/>
          <a:lstStyle/>
          <a:p>
            <a:r>
              <a:rPr lang="en-US" sz="1400" dirty="0"/>
              <a:t>In </a:t>
            </a:r>
            <a:r>
              <a:rPr lang="en-US" sz="1400" b="1" dirty="0"/>
              <a:t>Chrome</a:t>
            </a:r>
            <a:r>
              <a:rPr lang="en-US" sz="1400" dirty="0"/>
              <a:t> and </a:t>
            </a:r>
            <a:r>
              <a:rPr lang="en-US" sz="1400" b="1" dirty="0"/>
              <a:t>Internet</a:t>
            </a:r>
            <a:r>
              <a:rPr lang="tr-TR" sz="1400" b="1" dirty="0"/>
              <a:t> </a:t>
            </a:r>
            <a:r>
              <a:rPr lang="en-US" sz="1400" b="1" dirty="0"/>
              <a:t>Explorer</a:t>
            </a:r>
            <a:r>
              <a:rPr lang="en-US" sz="1400" dirty="0"/>
              <a:t> for Windows</a:t>
            </a:r>
            <a:endParaRPr lang="tr-TR" sz="1400" dirty="0"/>
          </a:p>
          <a:p>
            <a:r>
              <a:rPr lang="en-US" sz="1400" dirty="0"/>
              <a:t>the developer tools are already installed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Chrome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364475"/>
          </a:xfrm>
        </p:spPr>
        <p:txBody>
          <a:bodyPr/>
          <a:lstStyle/>
          <a:p>
            <a:r>
              <a:rPr lang="en-US" sz="1200" dirty="0"/>
              <a:t>In Chrome, you can also bring</a:t>
            </a:r>
          </a:p>
          <a:p>
            <a:r>
              <a:rPr lang="en-US" sz="1200" dirty="0"/>
              <a:t>up the developer tools by selecting</a:t>
            </a:r>
            <a:endParaRPr lang="tr-TR" sz="1200" dirty="0"/>
          </a:p>
          <a:p>
            <a:r>
              <a:rPr lang="tr-TR" sz="1200" dirty="0"/>
              <a:t>-&gt;</a:t>
            </a:r>
            <a:r>
              <a:rPr lang="en-US" sz="1200" dirty="0"/>
              <a:t>View</a:t>
            </a:r>
            <a:endParaRPr lang="tr-TR" sz="1200" dirty="0"/>
          </a:p>
          <a:p>
            <a:r>
              <a:rPr lang="tr-TR" sz="1200" dirty="0"/>
              <a:t>-&gt;</a:t>
            </a:r>
            <a:r>
              <a:rPr lang="en-US" sz="1200" dirty="0"/>
              <a:t>Developer</a:t>
            </a:r>
            <a:endParaRPr lang="tr-TR" sz="1200" dirty="0"/>
          </a:p>
          <a:p>
            <a:r>
              <a:rPr lang="tr-TR" sz="1200" dirty="0"/>
              <a:t>-&gt;</a:t>
            </a:r>
            <a:r>
              <a:rPr lang="en-US" sz="1200" dirty="0"/>
              <a:t>Developer Tools.</a:t>
            </a:r>
            <a:endParaRPr lang="tr-TR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F12 </a:t>
            </a:r>
            <a:r>
              <a:rPr lang="tr-TR" sz="1200" b="1" dirty="0" err="1"/>
              <a:t>to</a:t>
            </a:r>
            <a:r>
              <a:rPr lang="tr-TR" sz="1200" b="1" dirty="0"/>
              <a:t> </a:t>
            </a:r>
            <a:r>
              <a:rPr lang="tr-TR" dirty="0" err="1"/>
              <a:t>appear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36482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press </a:t>
            </a:r>
            <a:r>
              <a:rPr lang="en-US" sz="1400" b="1" dirty="0"/>
              <a:t>F12</a:t>
            </a:r>
            <a:r>
              <a:rPr lang="en-US" sz="1400" dirty="0"/>
              <a:t> to make them appear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38759D1-B854-48FD-B5F7-3AC99C298B21}"/>
              </a:ext>
            </a:extLst>
          </p:cNvPr>
          <p:cNvSpPr/>
          <p:nvPr/>
        </p:nvSpPr>
        <p:spPr>
          <a:xfrm>
            <a:off x="404718" y="5470221"/>
            <a:ext cx="63008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After enabling or installing the developer tools in your browser, </a:t>
            </a:r>
            <a:endParaRPr lang="tr-TR" sz="1400" dirty="0"/>
          </a:p>
          <a:p>
            <a:r>
              <a:rPr lang="en-US" sz="1400" dirty="0"/>
              <a:t>you can</a:t>
            </a:r>
            <a:r>
              <a:rPr lang="tr-TR" sz="1400" dirty="0"/>
              <a:t> </a:t>
            </a:r>
            <a:r>
              <a:rPr lang="en-US" sz="1400" dirty="0"/>
              <a:t>right-click any part of the web page</a:t>
            </a:r>
            <a:endParaRPr lang="tr-TR" sz="1400" dirty="0"/>
          </a:p>
          <a:p>
            <a:r>
              <a:rPr lang="en-US" sz="1400" dirty="0"/>
              <a:t>select Inspect Element from the</a:t>
            </a:r>
            <a:r>
              <a:rPr lang="tr-TR" sz="1400" dirty="0"/>
              <a:t> </a:t>
            </a:r>
            <a:r>
              <a:rPr lang="en-US" sz="1400" dirty="0"/>
              <a:t>context menu </a:t>
            </a:r>
            <a:endParaRPr lang="tr-TR" sz="1400" dirty="0"/>
          </a:p>
          <a:p>
            <a:r>
              <a:rPr lang="en-US" sz="1400" dirty="0"/>
              <a:t>to bring up the HTML responsible for that part of the page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996615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Inspect</a:t>
            </a:r>
            <a:r>
              <a:rPr lang="tr-TR" dirty="0"/>
              <a:t> in </a:t>
            </a:r>
            <a:r>
              <a:rPr lang="tr-TR" dirty="0" err="1"/>
              <a:t>developer</a:t>
            </a:r>
            <a:r>
              <a:rPr lang="tr-TR" dirty="0"/>
              <a:t> </a:t>
            </a:r>
            <a:r>
              <a:rPr lang="tr-TR" dirty="0" err="1"/>
              <a:t>tools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In addition to viewing a web page’s source, you can look through a page’s</a:t>
            </a:r>
            <a:r>
              <a:rPr lang="tr-TR" sz="1200" dirty="0"/>
              <a:t> </a:t>
            </a:r>
            <a:r>
              <a:rPr lang="en-US" sz="1200" dirty="0"/>
              <a:t>HTML using your browser’s developer tools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Developer </a:t>
            </a:r>
            <a:r>
              <a:rPr lang="tr-TR" b="1" dirty="0" err="1">
                <a:latin typeface="+mn-lt"/>
              </a:rPr>
              <a:t>tools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672259"/>
          </a:xfrm>
        </p:spPr>
        <p:txBody>
          <a:bodyPr/>
          <a:lstStyle/>
          <a:p>
            <a:r>
              <a:rPr lang="en-US" sz="1400" dirty="0"/>
              <a:t>After enabling or installing </a:t>
            </a:r>
            <a:endParaRPr lang="tr-TR" sz="1400" dirty="0"/>
          </a:p>
          <a:p>
            <a:r>
              <a:rPr lang="en-US" sz="1400" dirty="0"/>
              <a:t>the developer tools in your browser, 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bring</a:t>
            </a:r>
            <a:r>
              <a:rPr lang="tr-TR" dirty="0"/>
              <a:t> HTML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628899"/>
          </a:xfrm>
        </p:spPr>
        <p:txBody>
          <a:bodyPr/>
          <a:lstStyle/>
          <a:p>
            <a:r>
              <a:rPr lang="en-US" sz="1200" dirty="0"/>
              <a:t>to bring up the HTML </a:t>
            </a:r>
            <a:endParaRPr lang="tr-TR" sz="1200" dirty="0"/>
          </a:p>
          <a:p>
            <a:r>
              <a:rPr lang="en-US" sz="1200" dirty="0"/>
              <a:t>responsible for that part of the page</a:t>
            </a:r>
            <a:r>
              <a:rPr lang="tr-TR" sz="1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200" b="1" dirty="0"/>
              <a:t>Right </a:t>
            </a:r>
            <a:r>
              <a:rPr lang="tr-TR" sz="1200" b="1" dirty="0" err="1"/>
              <a:t>click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you can</a:t>
            </a:r>
            <a:r>
              <a:rPr lang="tr-TR" sz="1400" dirty="0"/>
              <a:t> </a:t>
            </a:r>
            <a:r>
              <a:rPr lang="en-US" sz="1400" dirty="0"/>
              <a:t>right-click any part of the web page</a:t>
            </a:r>
            <a:endParaRPr lang="tr-TR" sz="1400" dirty="0"/>
          </a:p>
          <a:p>
            <a:r>
              <a:rPr lang="en-US" sz="1400" dirty="0"/>
              <a:t>select </a:t>
            </a:r>
            <a:r>
              <a:rPr lang="en-US" sz="1400" b="1" dirty="0"/>
              <a:t>Inspect Element </a:t>
            </a:r>
            <a:r>
              <a:rPr lang="en-US" sz="1400" dirty="0"/>
              <a:t>from the</a:t>
            </a:r>
            <a:r>
              <a:rPr lang="tr-TR" sz="1400" dirty="0"/>
              <a:t> </a:t>
            </a:r>
            <a:r>
              <a:rPr lang="en-US" sz="1400" dirty="0"/>
              <a:t>context </a:t>
            </a:r>
            <a:r>
              <a:rPr lang="en-US" sz="1400" dirty="0" err="1"/>
              <a:t>menü</a:t>
            </a:r>
            <a:r>
              <a:rPr lang="tr-TR" sz="1400" dirty="0"/>
              <a:t> </a:t>
            </a:r>
          </a:p>
          <a:p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3953024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5AB09C6-C653-4733-91CF-85746FDF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The Developer Tools window in the Chrome browser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8BB3FC92-3E0A-4012-A103-4741925442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22277" y="6155190"/>
            <a:ext cx="324000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noProof="0" smtClean="0"/>
              <a:pPr>
                <a:spcAft>
                  <a:spcPts val="600"/>
                </a:spcAft>
              </a:pPr>
              <a:t>27</a:t>
            </a:fld>
            <a:endParaRPr lang="en-US" noProof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BFAF675-7354-48A8-ACCB-081A9DF5BE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52" y="1045029"/>
            <a:ext cx="9144000" cy="562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33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11</a:t>
            </a:r>
            <a:r>
              <a:rPr lang="en-US" sz="2800" dirty="0"/>
              <a:t>: </a:t>
            </a:r>
            <a:r>
              <a:rPr lang="tr-TR" sz="2800" dirty="0"/>
              <a:t>Web </a:t>
            </a:r>
            <a:r>
              <a:rPr lang="tr-TR" sz="2800" dirty="0" err="1"/>
              <a:t>Scraping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bs4.BeautifulSoap Module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E5923CD5-33C2-4345-A95F-B5D7482672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71" r="267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85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Parsing HTML with the </a:t>
            </a:r>
            <a:r>
              <a:rPr lang="en-US" dirty="0" err="1"/>
              <a:t>BeautifulSoup</a:t>
            </a:r>
            <a:r>
              <a:rPr lang="en-US" dirty="0"/>
              <a:t>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Beautiful Soup is a module for extracting information from an HTML</a:t>
            </a:r>
            <a:r>
              <a:rPr lang="tr-TR" sz="1200" dirty="0"/>
              <a:t> </a:t>
            </a:r>
            <a:r>
              <a:rPr lang="en-US" sz="1200" dirty="0"/>
              <a:t>page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bs4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801468"/>
          </a:xfrm>
        </p:spPr>
        <p:txBody>
          <a:bodyPr/>
          <a:lstStyle/>
          <a:p>
            <a:r>
              <a:rPr lang="en-US" sz="1400" dirty="0"/>
              <a:t>The</a:t>
            </a:r>
            <a:r>
              <a:rPr lang="tr-TR" sz="1400" dirty="0"/>
              <a:t> </a:t>
            </a:r>
            <a:r>
              <a:rPr lang="en-US" sz="1400" dirty="0" err="1"/>
              <a:t>BeautifulSoup</a:t>
            </a:r>
            <a:r>
              <a:rPr lang="en-US" sz="1400" dirty="0"/>
              <a:t> module’s name is bs4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import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sz="1200" dirty="0"/>
              <a:t>import Beautiful</a:t>
            </a:r>
            <a:r>
              <a:rPr lang="tr-TR" sz="1200" dirty="0"/>
              <a:t> </a:t>
            </a:r>
            <a:r>
              <a:rPr lang="en-US" sz="1200" dirty="0"/>
              <a:t>Soup </a:t>
            </a:r>
            <a:endParaRPr lang="tr-TR" sz="1200" dirty="0"/>
          </a:p>
          <a:p>
            <a:r>
              <a:rPr lang="en-US" sz="1200" dirty="0"/>
              <a:t>run import bs4.</a:t>
            </a:r>
            <a:endParaRPr lang="tr-TR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200" b="1" dirty="0"/>
              <a:t>Installation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400" dirty="0" err="1"/>
              <a:t>Command</a:t>
            </a:r>
            <a:r>
              <a:rPr lang="tr-TR" sz="1400" dirty="0"/>
              <a:t> </a:t>
            </a:r>
            <a:r>
              <a:rPr lang="tr-TR" sz="1400" dirty="0" err="1"/>
              <a:t>line</a:t>
            </a:r>
            <a:r>
              <a:rPr lang="tr-TR" sz="1400" dirty="0"/>
              <a:t>:</a:t>
            </a:r>
          </a:p>
          <a:p>
            <a:r>
              <a:rPr lang="tr-TR" sz="1400" dirty="0" err="1"/>
              <a:t>pip</a:t>
            </a:r>
            <a:r>
              <a:rPr lang="tr-TR" sz="1400" dirty="0"/>
              <a:t> </a:t>
            </a:r>
            <a:r>
              <a:rPr lang="tr-TR" sz="1400" dirty="0" err="1"/>
              <a:t>install</a:t>
            </a:r>
            <a:r>
              <a:rPr lang="tr-TR" sz="1400" dirty="0"/>
              <a:t>  beautifulsoup4</a:t>
            </a:r>
          </a:p>
          <a:p>
            <a:endParaRPr lang="tr-TR" sz="1400" dirty="0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7076571-E989-4D33-9DA7-930A2D62193D}"/>
              </a:ext>
            </a:extLst>
          </p:cNvPr>
          <p:cNvSpPr/>
          <p:nvPr/>
        </p:nvSpPr>
        <p:spPr>
          <a:xfrm>
            <a:off x="323849" y="5549196"/>
            <a:ext cx="85050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even a simple HTML file involves many different tags</a:t>
            </a:r>
            <a:r>
              <a:rPr lang="tr-TR" sz="1400" dirty="0"/>
              <a:t> </a:t>
            </a:r>
            <a:r>
              <a:rPr lang="en-US" sz="1400" dirty="0"/>
              <a:t>and attributes and matters quickly get confusing with complex websites.</a:t>
            </a:r>
          </a:p>
          <a:p>
            <a:r>
              <a:rPr lang="en-US" sz="1400" dirty="0"/>
              <a:t>Thankfully, Beautiful Soup makes working with HTML much easier.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497655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6" y="523152"/>
            <a:ext cx="8115381" cy="432000"/>
          </a:xfrm>
        </p:spPr>
        <p:txBody>
          <a:bodyPr/>
          <a:lstStyle/>
          <a:p>
            <a:pPr algn="ctr"/>
            <a:r>
              <a:rPr lang="tr-TR" dirty="0"/>
              <a:t>xample.html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8236" y="1464547"/>
            <a:ext cx="7652366" cy="3928905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&lt;!-- This is the example.html example file. --&gt;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&lt;html&gt;&lt;head&gt;&lt;title&gt;The Website Title&lt;/title&gt;&lt;/head&gt;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&lt;body&gt;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&lt;p&gt;Download my &lt;strong&gt;Python&lt;/strong&gt; book from &lt;a </a:t>
            </a:r>
            <a:r>
              <a:rPr lang="en-US" sz="1400" dirty="0" err="1"/>
              <a:t>href</a:t>
            </a:r>
            <a:r>
              <a:rPr lang="en-US" sz="1400" dirty="0"/>
              <a:t>="http://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inventwithpython.com"&gt;my website&lt;/a&gt;.&lt;/p&gt;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&lt;p class="slogan"&gt;Learn Python the easy way!&lt;/p&gt;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&lt;p&gt;By &lt;span id="author"&gt;Al </a:t>
            </a:r>
            <a:r>
              <a:rPr lang="en-US" sz="1400" dirty="0" err="1"/>
              <a:t>Sweigart</a:t>
            </a:r>
            <a:r>
              <a:rPr lang="en-US" sz="1400" dirty="0"/>
              <a:t>&lt;/span&gt;&lt;/p&gt;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&lt;/body&gt;&lt;/html&gt;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3B14077C-CBBA-4176-A04A-613C8752F0E6}"/>
              </a:ext>
            </a:extLst>
          </p:cNvPr>
          <p:cNvSpPr/>
          <p:nvPr/>
        </p:nvSpPr>
        <p:spPr>
          <a:xfrm>
            <a:off x="1436648" y="5490661"/>
            <a:ext cx="702395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Alternatively, download it from http://nostarch.com/automatestuff/.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412633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Creating a </a:t>
            </a:r>
            <a:r>
              <a:rPr lang="en-US" dirty="0" err="1"/>
              <a:t>BeautifulSoup</a:t>
            </a:r>
            <a:r>
              <a:rPr lang="en-US" dirty="0"/>
              <a:t> Object from HTML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236332"/>
          </a:xfrm>
        </p:spPr>
        <p:txBody>
          <a:bodyPr/>
          <a:lstStyle/>
          <a:p>
            <a:r>
              <a:rPr lang="en-US" sz="1200" dirty="0"/>
              <a:t>The </a:t>
            </a:r>
            <a:r>
              <a:rPr lang="en-US" sz="1200" b="1" dirty="0"/>
              <a:t>bs4.BeautifulSoup() </a:t>
            </a:r>
            <a:r>
              <a:rPr lang="en-US" sz="1200" dirty="0"/>
              <a:t>function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sz="1200" dirty="0"/>
              <a:t>bs4.BeautifulSoup()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801468"/>
          </a:xfrm>
        </p:spPr>
        <p:txBody>
          <a:bodyPr/>
          <a:lstStyle/>
          <a:p>
            <a:r>
              <a:rPr lang="en-US" sz="1400" dirty="0"/>
              <a:t>needs to be called </a:t>
            </a:r>
            <a:endParaRPr lang="tr-TR" sz="1400" dirty="0"/>
          </a:p>
          <a:p>
            <a:r>
              <a:rPr lang="en-US" sz="1400" dirty="0"/>
              <a:t>with a string containing</a:t>
            </a:r>
            <a:r>
              <a:rPr lang="tr-TR" sz="1400" dirty="0"/>
              <a:t> </a:t>
            </a:r>
            <a:r>
              <a:rPr lang="en-US" sz="1400" dirty="0"/>
              <a:t>the HTML it will parse.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BeautifulSoup</a:t>
            </a:r>
            <a:r>
              <a:rPr lang="tr-TR" dirty="0"/>
              <a:t> </a:t>
            </a:r>
            <a:r>
              <a:rPr lang="tr-TR" dirty="0" err="1"/>
              <a:t>object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r>
              <a:rPr lang="en-US" sz="1200" dirty="0"/>
              <a:t>returns is a </a:t>
            </a:r>
            <a:r>
              <a:rPr lang="en-US" sz="1200" b="1" dirty="0" err="1"/>
              <a:t>BeautifulSoup</a:t>
            </a:r>
            <a:r>
              <a:rPr lang="en-US" sz="1200" dirty="0"/>
              <a:t> object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call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The </a:t>
            </a:r>
            <a:r>
              <a:rPr lang="en-US" sz="1400" b="1" dirty="0"/>
              <a:t>bs4.BeautifulSoup() </a:t>
            </a:r>
            <a:r>
              <a:rPr lang="en-US" sz="1400" dirty="0"/>
              <a:t>function 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71708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896" y="270810"/>
            <a:ext cx="8115381" cy="432000"/>
          </a:xfrm>
        </p:spPr>
        <p:txBody>
          <a:bodyPr/>
          <a:lstStyle/>
          <a:p>
            <a:pPr algn="ctr"/>
            <a:r>
              <a:rPr lang="tr-TR" b="1" dirty="0" err="1"/>
              <a:t>BeautifulSoup</a:t>
            </a:r>
            <a:r>
              <a:rPr lang="tr-TR" dirty="0"/>
              <a:t> Object </a:t>
            </a:r>
            <a:r>
              <a:rPr lang="tr-TR" dirty="0" err="1"/>
              <a:t>from</a:t>
            </a:r>
            <a:r>
              <a:rPr lang="tr-TR" dirty="0"/>
              <a:t> HTML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9510" y="937580"/>
            <a:ext cx="8629690" cy="5315438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useBS4(</a:t>
            </a:r>
            <a:r>
              <a:rPr lang="tr-TR" sz="1400" dirty="0" err="1"/>
              <a:t>pageURL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res</a:t>
            </a:r>
            <a:r>
              <a:rPr lang="tr-TR" sz="1400" dirty="0"/>
              <a:t> = </a:t>
            </a:r>
            <a:r>
              <a:rPr lang="tr-TR" sz="1400" dirty="0" err="1"/>
              <a:t>requests.get</a:t>
            </a:r>
            <a:r>
              <a:rPr lang="tr-TR" sz="1400" dirty="0"/>
              <a:t>(</a:t>
            </a:r>
            <a:r>
              <a:rPr lang="tr-TR" sz="1400" dirty="0" err="1"/>
              <a:t>pageURL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res.raise_for_status</a:t>
            </a:r>
            <a:r>
              <a:rPr lang="tr-TR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noStarchSoup</a:t>
            </a:r>
            <a:r>
              <a:rPr lang="tr-TR" sz="1400" dirty="0"/>
              <a:t> = bs4.BeautifulSoup(</a:t>
            </a:r>
            <a:r>
              <a:rPr lang="tr-TR" sz="1400" dirty="0" err="1"/>
              <a:t>res.text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noStarchSoup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 </a:t>
            </a:r>
            <a:r>
              <a:rPr lang="tr-TR" sz="1400" dirty="0" err="1"/>
              <a:t>Exception</a:t>
            </a:r>
            <a:r>
              <a:rPr lang="tr-TR" sz="1400" dirty="0"/>
              <a:t> as </a:t>
            </a:r>
            <a:r>
              <a:rPr lang="tr-TR" sz="1400" dirty="0" err="1"/>
              <a:t>exc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There</a:t>
            </a:r>
            <a:r>
              <a:rPr lang="tr-TR" sz="1400" dirty="0"/>
              <a:t> </a:t>
            </a:r>
            <a:r>
              <a:rPr lang="tr-TR" sz="1400" dirty="0" err="1"/>
              <a:t>was</a:t>
            </a:r>
            <a:r>
              <a:rPr lang="tr-TR" sz="1400" dirty="0"/>
              <a:t> a problem: %s' % (</a:t>
            </a:r>
            <a:r>
              <a:rPr lang="tr-TR" sz="1400" dirty="0" err="1"/>
              <a:t>exc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# ******useBS4(</a:t>
            </a:r>
            <a:r>
              <a:rPr lang="en-US" sz="1400" dirty="0" err="1"/>
              <a:t>pageURL</a:t>
            </a:r>
            <a:r>
              <a:rPr lang="en-US" sz="1400" dirty="0"/>
              <a:t>)**************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# example to show </a:t>
            </a:r>
            <a:r>
              <a:rPr lang="en-US" sz="1400" dirty="0" err="1"/>
              <a:t>BeautifulSoup</a:t>
            </a:r>
            <a:r>
              <a:rPr lang="en-US" sz="1400" dirty="0"/>
              <a:t> Module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</a:t>
            </a:r>
            <a:r>
              <a:rPr lang="en-US" sz="1400" dirty="0" err="1"/>
              <a:t>url</a:t>
            </a:r>
            <a:r>
              <a:rPr lang="en-US" sz="1400" dirty="0"/>
              <a:t> = 'http://nostarch.com'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/>
              <a:t>    useBS4(</a:t>
            </a:r>
            <a:r>
              <a:rPr lang="en-US" sz="1400" dirty="0" err="1"/>
              <a:t>url</a:t>
            </a:r>
            <a:r>
              <a:rPr lang="en-US" sz="14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70FC96-5A45-47A9-AF5D-D61E38D0BDAF}"/>
              </a:ext>
            </a:extLst>
          </p:cNvPr>
          <p:cNvSpPr txBox="1"/>
          <p:nvPr/>
        </p:nvSpPr>
        <p:spPr>
          <a:xfrm>
            <a:off x="5929745" y="1206122"/>
            <a:ext cx="28545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download the main page from the</a:t>
            </a:r>
            <a:r>
              <a:rPr lang="tr-TR" sz="1400" dirty="0"/>
              <a:t> </a:t>
            </a:r>
            <a:r>
              <a:rPr lang="en-US" sz="1400" dirty="0"/>
              <a:t>No Starch Press website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37B9E-61F4-4B9C-A8FD-8564DB6EEFB7}"/>
              </a:ext>
            </a:extLst>
          </p:cNvPr>
          <p:cNvSpPr txBox="1"/>
          <p:nvPr/>
        </p:nvSpPr>
        <p:spPr>
          <a:xfrm>
            <a:off x="5929745" y="1796688"/>
            <a:ext cx="29094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passes the text attribute of the response</a:t>
            </a:r>
            <a:r>
              <a:rPr lang="tr-TR" sz="1400" dirty="0"/>
              <a:t> </a:t>
            </a:r>
            <a:r>
              <a:rPr lang="en-US" sz="1400" dirty="0"/>
              <a:t>to </a:t>
            </a:r>
            <a:r>
              <a:rPr lang="en-US" sz="1400" b="1" dirty="0"/>
              <a:t>bs4.BeautifulSoup()</a:t>
            </a:r>
            <a:r>
              <a:rPr lang="en-US" sz="1400" dirty="0"/>
              <a:t>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04CB21-F55E-4869-B9AF-C5CDCCC86788}"/>
              </a:ext>
            </a:extLst>
          </p:cNvPr>
          <p:cNvSpPr txBox="1"/>
          <p:nvPr/>
        </p:nvSpPr>
        <p:spPr>
          <a:xfrm>
            <a:off x="5929745" y="2438389"/>
            <a:ext cx="28545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noStarchSoup</a:t>
            </a:r>
            <a:r>
              <a:rPr lang="tr-TR" sz="1400" dirty="0"/>
              <a:t> is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en-US" sz="1400" dirty="0" err="1"/>
              <a:t>BeautifulSoup</a:t>
            </a:r>
            <a:r>
              <a:rPr lang="en-US" sz="1400" dirty="0"/>
              <a:t> object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8021509F-3920-467D-A816-D9D39043930C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2792537" y="1467732"/>
            <a:ext cx="3137208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770B884-B818-4D15-8E5A-E1631195767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860800" y="2058298"/>
            <a:ext cx="2068945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D00DA4FD-EBE7-4EA8-A902-41517A65AECE}"/>
              </a:ext>
            </a:extLst>
          </p:cNvPr>
          <p:cNvCxnSpPr>
            <a:cxnSpLocks/>
          </p:cNvCxnSpPr>
          <p:nvPr/>
        </p:nvCxnSpPr>
        <p:spPr>
          <a:xfrm>
            <a:off x="2207491" y="2362303"/>
            <a:ext cx="3722254" cy="44541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152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Load</a:t>
            </a:r>
            <a:r>
              <a:rPr lang="tr-TR" dirty="0"/>
              <a:t> HTML file </a:t>
            </a:r>
            <a:r>
              <a:rPr lang="tr-TR" dirty="0" err="1"/>
              <a:t>from</a:t>
            </a:r>
            <a:r>
              <a:rPr lang="tr-TR" dirty="0"/>
              <a:t> hard </a:t>
            </a:r>
            <a:r>
              <a:rPr lang="tr-TR" dirty="0" err="1"/>
              <a:t>drive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The </a:t>
            </a:r>
            <a:r>
              <a:rPr lang="en-US" sz="1200" b="1" dirty="0"/>
              <a:t>bs4.BeautifulSoup() </a:t>
            </a:r>
            <a:r>
              <a:rPr lang="tr-TR" sz="1200" dirty="0" err="1"/>
              <a:t>to</a:t>
            </a:r>
            <a:r>
              <a:rPr lang="tr-TR" sz="1200" dirty="0"/>
              <a:t> </a:t>
            </a:r>
            <a:r>
              <a:rPr lang="tr-TR" sz="1200" dirty="0" err="1"/>
              <a:t>load</a:t>
            </a:r>
            <a:r>
              <a:rPr lang="tr-TR" sz="1200" dirty="0"/>
              <a:t> HTML file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sz="1200" b="1" dirty="0"/>
              <a:t>bs4.BeautifulSoup()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672259"/>
          </a:xfrm>
        </p:spPr>
        <p:txBody>
          <a:bodyPr/>
          <a:lstStyle/>
          <a:p>
            <a:r>
              <a:rPr lang="en-US" sz="1400" dirty="0"/>
              <a:t>You can also load an HTML file from your hard drive 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b="1" dirty="0"/>
              <a:t>bs4.BeautifulSoup(file)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628899"/>
          </a:xfrm>
        </p:spPr>
        <p:txBody>
          <a:bodyPr/>
          <a:lstStyle/>
          <a:p>
            <a:r>
              <a:rPr lang="tr-TR" sz="1200" dirty="0"/>
              <a:t>file: HTML File:</a:t>
            </a:r>
          </a:p>
          <a:p>
            <a:r>
              <a:rPr lang="tr-TR" sz="1200" dirty="0"/>
              <a:t>file</a:t>
            </a:r>
            <a:r>
              <a:rPr lang="en-US" sz="1200" dirty="0"/>
              <a:t> = open('example.html')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Pass</a:t>
            </a:r>
            <a:r>
              <a:rPr lang="tr-TR" dirty="0"/>
              <a:t> file </a:t>
            </a:r>
            <a:r>
              <a:rPr lang="tr-TR" dirty="0" err="1"/>
              <a:t>object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pass a File</a:t>
            </a:r>
            <a:r>
              <a:rPr lang="tr-TR" sz="1400" dirty="0"/>
              <a:t> </a:t>
            </a:r>
            <a:r>
              <a:rPr lang="en-US" sz="1400" dirty="0"/>
              <a:t>object </a:t>
            </a:r>
            <a:endParaRPr lang="tr-TR" sz="1400" dirty="0"/>
          </a:p>
          <a:p>
            <a:r>
              <a:rPr lang="en-US" sz="1400" dirty="0"/>
              <a:t>to bs4.BeautifulSoup().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473773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573164"/>
            <a:ext cx="8115381" cy="432000"/>
          </a:xfrm>
        </p:spPr>
        <p:txBody>
          <a:bodyPr/>
          <a:lstStyle/>
          <a:p>
            <a:pPr algn="ctr"/>
            <a:r>
              <a:rPr lang="tr-TR" b="1" dirty="0" err="1"/>
              <a:t>BeautifulSoup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Upload</a:t>
            </a:r>
            <a:r>
              <a:rPr lang="tr-TR" dirty="0"/>
              <a:t> HTML File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230" y="1266180"/>
            <a:ext cx="8483924" cy="4889010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</a:t>
            </a:r>
            <a:r>
              <a:rPr lang="tr-TR" sz="1400" dirty="0" err="1"/>
              <a:t>uploadHTMLFile</a:t>
            </a:r>
            <a:r>
              <a:rPr lang="tr-TR" sz="1400" dirty="0"/>
              <a:t>(</a:t>
            </a:r>
            <a:r>
              <a:rPr lang="tr-TR" sz="1400" dirty="0" err="1"/>
              <a:t>fName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exampleFile</a:t>
            </a:r>
            <a:r>
              <a:rPr lang="tr-TR" sz="1400" dirty="0"/>
              <a:t> = </a:t>
            </a:r>
            <a:r>
              <a:rPr lang="tr-TR" sz="1400" dirty="0" err="1"/>
              <a:t>open</a:t>
            </a:r>
            <a:r>
              <a:rPr lang="tr-TR" sz="1400" dirty="0"/>
              <a:t>(</a:t>
            </a:r>
            <a:r>
              <a:rPr lang="tr-TR" sz="1400" dirty="0" err="1"/>
              <a:t>fName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exampleSoup</a:t>
            </a:r>
            <a:r>
              <a:rPr lang="tr-TR" sz="1400" dirty="0"/>
              <a:t> = bs4.BeautifulSoup(</a:t>
            </a:r>
            <a:r>
              <a:rPr lang="tr-TR" sz="1400" dirty="0" err="1"/>
              <a:t>exampleFile</a:t>
            </a:r>
            <a:r>
              <a:rPr lang="tr-TR" sz="1400" dirty="0"/>
              <a:t>, </a:t>
            </a:r>
            <a:r>
              <a:rPr lang="tr-TR" sz="1400" dirty="0" err="1"/>
              <a:t>features</a:t>
            </a:r>
            <a:r>
              <a:rPr lang="tr-TR" sz="1400" dirty="0"/>
              <a:t>="</a:t>
            </a:r>
            <a:r>
              <a:rPr lang="tr-TR" sz="1400" dirty="0" err="1"/>
              <a:t>html.parser</a:t>
            </a:r>
            <a:r>
              <a:rPr lang="tr-TR" sz="1400" dirty="0"/>
              <a:t>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exampleSoup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 </a:t>
            </a:r>
            <a:r>
              <a:rPr lang="tr-TR" sz="1400" dirty="0" err="1"/>
              <a:t>Exception</a:t>
            </a:r>
            <a:r>
              <a:rPr lang="tr-TR" sz="1400" dirty="0"/>
              <a:t> as </a:t>
            </a:r>
            <a:r>
              <a:rPr lang="tr-TR" sz="1400" dirty="0" err="1"/>
              <a:t>exc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There</a:t>
            </a:r>
            <a:r>
              <a:rPr lang="tr-TR" sz="1400" dirty="0"/>
              <a:t> </a:t>
            </a:r>
            <a:r>
              <a:rPr lang="tr-TR" sz="1400" dirty="0" err="1"/>
              <a:t>was</a:t>
            </a:r>
            <a:r>
              <a:rPr lang="tr-TR" sz="1400" dirty="0"/>
              <a:t> a problem: %s' % (</a:t>
            </a:r>
            <a:r>
              <a:rPr lang="tr-TR" sz="1400" dirty="0" err="1"/>
              <a:t>exc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*******</a:t>
            </a:r>
            <a:r>
              <a:rPr lang="tr-TR" sz="1400" dirty="0" err="1"/>
              <a:t>uploadHTMLFile</a:t>
            </a:r>
            <a:r>
              <a:rPr lang="tr-TR" sz="1400" dirty="0"/>
              <a:t>(</a:t>
            </a:r>
            <a:r>
              <a:rPr lang="tr-TR" sz="1400" dirty="0" err="1"/>
              <a:t>fName</a:t>
            </a:r>
            <a:r>
              <a:rPr lang="tr-TR" sz="1400" dirty="0"/>
              <a:t>)******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upload</a:t>
            </a:r>
            <a:r>
              <a:rPr lang="tr-TR" sz="1400" dirty="0"/>
              <a:t> HTML File </a:t>
            </a:r>
            <a:r>
              <a:rPr lang="tr-TR" sz="1400" dirty="0" err="1"/>
              <a:t>from</a:t>
            </a:r>
            <a:r>
              <a:rPr lang="tr-TR" sz="1400" dirty="0"/>
              <a:t> disk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fileName</a:t>
            </a:r>
            <a:r>
              <a:rPr lang="tr-TR" sz="1400" dirty="0"/>
              <a:t> = 'xample.html'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uploadHTMLFile</a:t>
            </a:r>
            <a:r>
              <a:rPr lang="tr-TR" sz="1400" dirty="0"/>
              <a:t>(</a:t>
            </a:r>
            <a:r>
              <a:rPr lang="tr-TR" sz="1400" dirty="0" err="1"/>
              <a:t>fileName</a:t>
            </a:r>
            <a:r>
              <a:rPr lang="tr-TR" sz="1400" dirty="0"/>
              <a:t>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ACCF76E-6BB1-4A0C-AD5C-A8C11ED2CF8A}"/>
              </a:ext>
            </a:extLst>
          </p:cNvPr>
          <p:cNvSpPr/>
          <p:nvPr/>
        </p:nvSpPr>
        <p:spPr>
          <a:xfrm>
            <a:off x="6613237" y="2096765"/>
            <a:ext cx="24568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Once you have a </a:t>
            </a:r>
            <a:r>
              <a:rPr lang="en-US" sz="1200" b="1" dirty="0" err="1"/>
              <a:t>BeautifulSoup</a:t>
            </a:r>
            <a:r>
              <a:rPr lang="en-US" sz="1200" dirty="0"/>
              <a:t> object, you can use its methods to locate</a:t>
            </a:r>
            <a:r>
              <a:rPr lang="tr-TR" sz="1200" dirty="0"/>
              <a:t> </a:t>
            </a:r>
            <a:r>
              <a:rPr lang="en-US" sz="1200" dirty="0"/>
              <a:t>specific parts of an HTML document</a:t>
            </a:r>
            <a:endParaRPr lang="tr-TR" sz="1200" dirty="0"/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5C541E95-18D3-4B1B-948D-957CC7B87B64}"/>
              </a:ext>
            </a:extLst>
          </p:cNvPr>
          <p:cNvCxnSpPr>
            <a:cxnSpLocks/>
          </p:cNvCxnSpPr>
          <p:nvPr/>
        </p:nvCxnSpPr>
        <p:spPr>
          <a:xfrm>
            <a:off x="6059055" y="2253673"/>
            <a:ext cx="554182" cy="24938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693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Finding an Element with the select() Method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400" dirty="0"/>
              <a:t>You can retrieve a web page element from a </a:t>
            </a:r>
            <a:r>
              <a:rPr lang="en-US" sz="1400" b="1" dirty="0" err="1"/>
              <a:t>BeautifulSoup</a:t>
            </a:r>
            <a:r>
              <a:rPr lang="en-US" sz="1400" dirty="0"/>
              <a:t> object by calling</a:t>
            </a:r>
            <a:r>
              <a:rPr lang="tr-TR" sz="1400" dirty="0"/>
              <a:t> </a:t>
            </a:r>
            <a:r>
              <a:rPr lang="en-US" sz="1400" dirty="0"/>
              <a:t>the select()method and passing a string of a CSS selector for the element you</a:t>
            </a:r>
            <a:r>
              <a:rPr lang="tr-TR" sz="1400" dirty="0"/>
              <a:t> </a:t>
            </a:r>
            <a:r>
              <a:rPr lang="en-US" sz="1400" dirty="0"/>
              <a:t>are looking for.</a:t>
            </a:r>
            <a:endParaRPr lang="tr-TR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dirty="0"/>
              <a:t>Selectors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7"/>
            <a:ext cx="2794502" cy="1767798"/>
          </a:xfrm>
        </p:spPr>
        <p:txBody>
          <a:bodyPr/>
          <a:lstStyle/>
          <a:p>
            <a:r>
              <a:rPr lang="en-US" sz="1400" dirty="0"/>
              <a:t>are like regular expressions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Selector</a:t>
            </a:r>
            <a:r>
              <a:rPr lang="tr-TR" dirty="0"/>
              <a:t> </a:t>
            </a:r>
            <a:r>
              <a:rPr lang="tr-TR" dirty="0" err="1"/>
              <a:t>tutorial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47544" y="2581572"/>
            <a:ext cx="2794852" cy="1712133"/>
          </a:xfrm>
        </p:spPr>
        <p:txBody>
          <a:bodyPr/>
          <a:lstStyle/>
          <a:p>
            <a:r>
              <a:rPr lang="en-US" sz="1200" dirty="0"/>
              <a:t>https://docs.scrapy.org/en/latest/topics/selectors.html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Specify</a:t>
            </a:r>
            <a:r>
              <a:rPr lang="tr-TR" dirty="0"/>
              <a:t> </a:t>
            </a:r>
            <a:r>
              <a:rPr lang="tr-TR" dirty="0" err="1"/>
              <a:t>patterns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172478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They specify a pattern</a:t>
            </a:r>
            <a:r>
              <a:rPr lang="tr-TR" sz="1400" dirty="0"/>
              <a:t> </a:t>
            </a:r>
          </a:p>
          <a:p>
            <a:r>
              <a:rPr lang="en-US" sz="1400" dirty="0"/>
              <a:t>to look for</a:t>
            </a:r>
            <a:r>
              <a:rPr lang="tr-TR" sz="1400" dirty="0"/>
              <a:t> </a:t>
            </a:r>
            <a:r>
              <a:rPr lang="en-US" sz="1400" dirty="0"/>
              <a:t>in HTML pages</a:t>
            </a:r>
            <a:endParaRPr lang="tr-TR" sz="1400" dirty="0"/>
          </a:p>
          <a:p>
            <a:r>
              <a:rPr lang="en-US" sz="1400" dirty="0"/>
              <a:t>instead of general text strings</a:t>
            </a:r>
            <a:endParaRPr lang="tr-TR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74196B-ABDC-4AC1-A5BA-F02A85603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762" y="4349935"/>
            <a:ext cx="3993411" cy="240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286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3248875-841E-41E7-93DA-A0A93BCA4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009" y="1152000"/>
            <a:ext cx="8114981" cy="4680000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C4AE5C47-E5E1-4D28-B97B-A28C0009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examples of the most common CSS selector patterns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A6975033-FBC7-4223-95E9-04589C2E13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22277" y="6155190"/>
            <a:ext cx="324000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noProof="0" smtClean="0"/>
              <a:pPr>
                <a:spcAft>
                  <a:spcPts val="600"/>
                </a:spcAft>
              </a:pPr>
              <a:t>36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27858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Finding an Element with the </a:t>
            </a:r>
            <a:r>
              <a:rPr lang="en-US" b="1" i="1" dirty="0"/>
              <a:t>select() </a:t>
            </a:r>
            <a:r>
              <a:rPr lang="en-US" dirty="0"/>
              <a:t>Method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The various selector patterns can be combined to make sophisticated</a:t>
            </a:r>
            <a:r>
              <a:rPr lang="tr-TR" sz="1200" dirty="0"/>
              <a:t> </a:t>
            </a:r>
            <a:r>
              <a:rPr lang="en-US" sz="1200" dirty="0"/>
              <a:t>matches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en-US" dirty="0" err="1"/>
              <a:t>soup.select</a:t>
            </a:r>
            <a:r>
              <a:rPr lang="en-US" dirty="0"/>
              <a:t>('p #author') 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622885"/>
          </a:xfrm>
        </p:spPr>
        <p:txBody>
          <a:bodyPr/>
          <a:lstStyle/>
          <a:p>
            <a:r>
              <a:rPr lang="en-US" sz="1400" dirty="0"/>
              <a:t>will match any element </a:t>
            </a:r>
            <a:endParaRPr lang="tr-TR" sz="1400" dirty="0"/>
          </a:p>
          <a:p>
            <a:r>
              <a:rPr lang="en-US" sz="1400" dirty="0"/>
              <a:t>that</a:t>
            </a:r>
            <a:r>
              <a:rPr lang="tr-TR" sz="1400" dirty="0"/>
              <a:t> </a:t>
            </a:r>
            <a:r>
              <a:rPr lang="en-US" sz="1400" dirty="0"/>
              <a:t>has an id attribute of </a:t>
            </a:r>
            <a:r>
              <a:rPr lang="en-US" sz="1400" b="1" i="1" dirty="0"/>
              <a:t>author</a:t>
            </a:r>
            <a:endParaRPr lang="tr-TR" sz="1400" b="1" i="1" dirty="0"/>
          </a:p>
          <a:p>
            <a:r>
              <a:rPr lang="en-US" sz="1400" dirty="0"/>
              <a:t>inside a </a:t>
            </a:r>
            <a:r>
              <a:rPr lang="en-US" sz="1400" b="1" dirty="0"/>
              <a:t>&lt;p&gt;</a:t>
            </a:r>
            <a:r>
              <a:rPr lang="en-US" sz="1400" dirty="0"/>
              <a:t> element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Tag</a:t>
            </a:r>
            <a:r>
              <a:rPr lang="tr-TR" dirty="0"/>
              <a:t> Objects </a:t>
            </a:r>
            <a:r>
              <a:rPr lang="tr-TR" dirty="0" err="1"/>
              <a:t>List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483277"/>
          </a:xfrm>
        </p:spPr>
        <p:txBody>
          <a:bodyPr/>
          <a:lstStyle/>
          <a:p>
            <a:r>
              <a:rPr lang="en-US" sz="1400" dirty="0"/>
              <a:t>The list will contain </a:t>
            </a:r>
            <a:endParaRPr lang="tr-TR" sz="1400" dirty="0"/>
          </a:p>
          <a:p>
            <a:r>
              <a:rPr lang="en-US" sz="1400" dirty="0"/>
              <a:t>one</a:t>
            </a:r>
            <a:r>
              <a:rPr lang="tr-TR" sz="1400" dirty="0"/>
              <a:t> </a:t>
            </a:r>
            <a:r>
              <a:rPr lang="en-US" sz="1400" dirty="0"/>
              <a:t>Tag object </a:t>
            </a:r>
            <a:r>
              <a:rPr lang="en-US" sz="1400" b="1" dirty="0"/>
              <a:t>f</a:t>
            </a:r>
            <a:endParaRPr lang="tr-TR" sz="1400" b="1" dirty="0"/>
          </a:p>
          <a:p>
            <a:r>
              <a:rPr lang="tr-TR" sz="1400" dirty="0"/>
              <a:t>f</a:t>
            </a:r>
            <a:r>
              <a:rPr lang="en-US" sz="1400" dirty="0"/>
              <a:t>or every match in the </a:t>
            </a:r>
            <a:r>
              <a:rPr lang="en-US" sz="1400" b="1" dirty="0" err="1"/>
              <a:t>BeautifulSoup</a:t>
            </a:r>
            <a:r>
              <a:rPr lang="en-US" sz="1400" dirty="0"/>
              <a:t> object’s HTML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select</a:t>
            </a:r>
            <a:r>
              <a:rPr lang="tr-TR" dirty="0"/>
              <a:t>()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57987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The </a:t>
            </a:r>
            <a:r>
              <a:rPr lang="en-US" sz="1400" b="1" i="1" dirty="0"/>
              <a:t>select() </a:t>
            </a:r>
            <a:r>
              <a:rPr lang="en-US" sz="1400" dirty="0"/>
              <a:t>method </a:t>
            </a:r>
            <a:endParaRPr lang="tr-TR" sz="1400" dirty="0"/>
          </a:p>
          <a:p>
            <a:r>
              <a:rPr lang="en-US" sz="1400" dirty="0"/>
              <a:t>will return a list of Tag objects</a:t>
            </a:r>
            <a:endParaRPr lang="tr-TR" sz="1400" dirty="0"/>
          </a:p>
          <a:p>
            <a:r>
              <a:rPr lang="en-US" sz="1400" dirty="0"/>
              <a:t>which is how</a:t>
            </a:r>
            <a:r>
              <a:rPr lang="tr-TR" sz="1400" dirty="0"/>
              <a:t> </a:t>
            </a:r>
            <a:r>
              <a:rPr lang="en-US" sz="1400" b="1" dirty="0"/>
              <a:t>Beautiful Soup</a:t>
            </a:r>
            <a:r>
              <a:rPr lang="en-US" sz="1400" dirty="0"/>
              <a:t> represent an HTML element</a:t>
            </a:r>
            <a:endParaRPr lang="tr-TR" sz="1400" dirty="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D5F5F470-9F8E-45F1-AE52-5DFF7AEAA6C8}"/>
              </a:ext>
            </a:extLst>
          </p:cNvPr>
          <p:cNvSpPr/>
          <p:nvPr/>
        </p:nvSpPr>
        <p:spPr>
          <a:xfrm>
            <a:off x="323849" y="5502670"/>
            <a:ext cx="73789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Tag values</a:t>
            </a:r>
            <a:r>
              <a:rPr lang="tr-TR" sz="1600" dirty="0"/>
              <a:t> </a:t>
            </a:r>
            <a:r>
              <a:rPr lang="en-US" sz="1600" dirty="0"/>
              <a:t>can be passed to the </a:t>
            </a:r>
            <a:r>
              <a:rPr lang="en-US" sz="1600" b="1" i="1" dirty="0"/>
              <a:t>str() </a:t>
            </a:r>
            <a:r>
              <a:rPr lang="en-US" sz="1600" dirty="0"/>
              <a:t>function to show the </a:t>
            </a:r>
            <a:r>
              <a:rPr lang="en-US" sz="1600" b="1" dirty="0"/>
              <a:t>HTML tags </a:t>
            </a:r>
            <a:r>
              <a:rPr lang="en-US" sz="1600" dirty="0"/>
              <a:t>they represent</a:t>
            </a:r>
            <a:endParaRPr lang="tr-TR" sz="1600" dirty="0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3C32A79D-864F-4F76-84D8-F7ED3E831096}"/>
              </a:ext>
            </a:extLst>
          </p:cNvPr>
          <p:cNvSpPr/>
          <p:nvPr/>
        </p:nvSpPr>
        <p:spPr>
          <a:xfrm>
            <a:off x="334965" y="5841224"/>
            <a:ext cx="82873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Tag values also have an </a:t>
            </a:r>
            <a:r>
              <a:rPr lang="en-US" sz="1600" b="1" i="1" dirty="0" err="1"/>
              <a:t>attrs</a:t>
            </a:r>
            <a:r>
              <a:rPr lang="en-US" sz="1600" dirty="0"/>
              <a:t> attribute that shows all the </a:t>
            </a:r>
            <a:r>
              <a:rPr lang="en-US" sz="1600" b="1" dirty="0"/>
              <a:t>HTML attributes</a:t>
            </a:r>
            <a:r>
              <a:rPr lang="tr-TR" sz="1600" b="1" dirty="0"/>
              <a:t> </a:t>
            </a:r>
            <a:r>
              <a:rPr lang="en-US" sz="1600" dirty="0"/>
              <a:t>of the tag as a </a:t>
            </a:r>
            <a:r>
              <a:rPr lang="en-US" sz="1600" b="1" dirty="0"/>
              <a:t>dictionary</a:t>
            </a:r>
            <a:endParaRPr lang="tr-TR" sz="1600" b="1" dirty="0"/>
          </a:p>
        </p:txBody>
      </p:sp>
    </p:spTree>
    <p:extLst>
      <p:ext uri="{BB962C8B-B14F-4D97-AF65-F5344CB8AC3E}">
        <p14:creationId xmlns:p14="http://schemas.microsoft.com/office/powerpoint/2010/main" val="586084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pull </a:t>
            </a:r>
            <a:r>
              <a:rPr lang="tr-TR" dirty="0" err="1"/>
              <a:t>attribute</a:t>
            </a:r>
            <a:r>
              <a:rPr lang="tr-TR" dirty="0"/>
              <a:t> </a:t>
            </a:r>
            <a:r>
              <a:rPr lang="en-US" dirty="0"/>
              <a:t>from the </a:t>
            </a:r>
            <a:r>
              <a:rPr lang="en-US" dirty="0" err="1"/>
              <a:t>BeautifulSoup</a:t>
            </a:r>
            <a:r>
              <a:rPr lang="en-US" dirty="0"/>
              <a:t> object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918" y="1236967"/>
            <a:ext cx="8139995" cy="4833711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</a:t>
            </a:r>
            <a:r>
              <a:rPr lang="tr-TR" sz="1400" dirty="0" err="1"/>
              <a:t>searchAttributesInHTML</a:t>
            </a:r>
            <a:r>
              <a:rPr lang="tr-TR" sz="1400" dirty="0"/>
              <a:t>(</a:t>
            </a:r>
            <a:r>
              <a:rPr lang="tr-TR" sz="1400" dirty="0" err="1"/>
              <a:t>fName,attr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exampleFile</a:t>
            </a:r>
            <a:r>
              <a:rPr lang="tr-TR" sz="1400" dirty="0"/>
              <a:t> = </a:t>
            </a:r>
            <a:r>
              <a:rPr lang="tr-TR" sz="1400" dirty="0" err="1"/>
              <a:t>open</a:t>
            </a:r>
            <a:r>
              <a:rPr lang="tr-TR" sz="1400" dirty="0"/>
              <a:t>(</a:t>
            </a:r>
            <a:r>
              <a:rPr lang="tr-TR" sz="1400" dirty="0" err="1"/>
              <a:t>fName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exampleSoup</a:t>
            </a:r>
            <a:r>
              <a:rPr lang="tr-TR" sz="1400" dirty="0"/>
              <a:t> = bs4.BeautifulSoup(</a:t>
            </a:r>
            <a:r>
              <a:rPr lang="tr-TR" sz="1400" dirty="0" err="1"/>
              <a:t>exampleFile</a:t>
            </a:r>
            <a:r>
              <a:rPr lang="tr-TR" sz="1400" dirty="0"/>
              <a:t>, </a:t>
            </a:r>
            <a:r>
              <a:rPr lang="tr-TR" sz="1400" dirty="0" err="1"/>
              <a:t>features</a:t>
            </a:r>
            <a:r>
              <a:rPr lang="tr-TR" sz="1400" dirty="0"/>
              <a:t>="</a:t>
            </a:r>
            <a:r>
              <a:rPr lang="tr-TR" sz="1400" dirty="0" err="1"/>
              <a:t>html.parser</a:t>
            </a:r>
            <a:r>
              <a:rPr lang="tr-TR" sz="1400" dirty="0"/>
              <a:t>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elems</a:t>
            </a:r>
            <a:r>
              <a:rPr lang="tr-TR" sz="1400" dirty="0"/>
              <a:t> = </a:t>
            </a:r>
            <a:r>
              <a:rPr lang="tr-TR" sz="1400" dirty="0" err="1"/>
              <a:t>exampleSoup.select</a:t>
            </a:r>
            <a:r>
              <a:rPr lang="tr-TR" sz="1400" dirty="0"/>
              <a:t>(</a:t>
            </a:r>
            <a:r>
              <a:rPr lang="tr-TR" sz="1400" dirty="0" err="1"/>
              <a:t>attr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elems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len</a:t>
            </a:r>
            <a:r>
              <a:rPr lang="tr-TR" sz="1400" dirty="0"/>
              <a:t>(</a:t>
            </a:r>
            <a:r>
              <a:rPr lang="tr-TR" sz="1400" dirty="0" err="1"/>
              <a:t>elems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elems</a:t>
            </a:r>
            <a:r>
              <a:rPr lang="tr-TR" sz="1400" dirty="0"/>
              <a:t>[0].</a:t>
            </a:r>
            <a:r>
              <a:rPr lang="tr-TR" sz="1400" dirty="0" err="1"/>
              <a:t>getText</a:t>
            </a:r>
            <a:r>
              <a:rPr lang="tr-TR" sz="1400" dirty="0"/>
              <a:t>())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str</a:t>
            </a:r>
            <a:r>
              <a:rPr lang="tr-TR" sz="1400" dirty="0"/>
              <a:t>(</a:t>
            </a:r>
            <a:r>
              <a:rPr lang="tr-TR" sz="1400" dirty="0" err="1"/>
              <a:t>elems</a:t>
            </a:r>
            <a:r>
              <a:rPr lang="tr-TR" sz="1400" dirty="0"/>
              <a:t>[0]))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elems</a:t>
            </a:r>
            <a:r>
              <a:rPr lang="tr-TR" sz="1400" dirty="0"/>
              <a:t>[0].</a:t>
            </a:r>
            <a:r>
              <a:rPr lang="tr-TR" sz="1400" dirty="0" err="1"/>
              <a:t>attrs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 </a:t>
            </a:r>
            <a:r>
              <a:rPr lang="tr-TR" sz="1400" dirty="0" err="1"/>
              <a:t>Exception</a:t>
            </a:r>
            <a:r>
              <a:rPr lang="tr-TR" sz="1400" dirty="0"/>
              <a:t> as </a:t>
            </a:r>
            <a:r>
              <a:rPr lang="tr-TR" sz="1400" dirty="0" err="1"/>
              <a:t>exc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There</a:t>
            </a:r>
            <a:r>
              <a:rPr lang="tr-TR" sz="1400" dirty="0"/>
              <a:t> </a:t>
            </a:r>
            <a:r>
              <a:rPr lang="tr-TR" sz="1400" dirty="0" err="1"/>
              <a:t>was</a:t>
            </a:r>
            <a:r>
              <a:rPr lang="tr-TR" sz="1400" dirty="0"/>
              <a:t> a problem: %s' % (</a:t>
            </a:r>
            <a:r>
              <a:rPr lang="tr-TR" sz="1400" dirty="0" err="1"/>
              <a:t>exc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****</a:t>
            </a:r>
            <a:r>
              <a:rPr lang="tr-TR" sz="1400" dirty="0" err="1"/>
              <a:t>searchAttributesInHTML</a:t>
            </a:r>
            <a:r>
              <a:rPr lang="tr-TR" sz="1400" dirty="0"/>
              <a:t>(</a:t>
            </a:r>
            <a:r>
              <a:rPr lang="tr-TR" sz="1400" dirty="0" err="1"/>
              <a:t>fName</a:t>
            </a:r>
            <a:r>
              <a:rPr lang="tr-TR" sz="1400" dirty="0"/>
              <a:t>)*****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search</a:t>
            </a:r>
            <a:r>
              <a:rPr lang="tr-TR" sz="1400" dirty="0"/>
              <a:t> </a:t>
            </a:r>
            <a:r>
              <a:rPr lang="tr-TR" sz="1400" dirty="0" err="1"/>
              <a:t>for</a:t>
            </a:r>
            <a:r>
              <a:rPr lang="tr-TR" sz="1400" dirty="0"/>
              <a:t> </a:t>
            </a:r>
            <a:r>
              <a:rPr lang="tr-TR" sz="1400" dirty="0" err="1"/>
              <a:t>attributes</a:t>
            </a:r>
            <a:r>
              <a:rPr lang="tr-TR" sz="1400" dirty="0"/>
              <a:t> in HTML File </a:t>
            </a:r>
            <a:r>
              <a:rPr lang="tr-TR" sz="1400" dirty="0" err="1"/>
              <a:t>from</a:t>
            </a:r>
            <a:r>
              <a:rPr lang="tr-TR" sz="1400" dirty="0"/>
              <a:t> disk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fileName</a:t>
            </a:r>
            <a:r>
              <a:rPr lang="tr-TR" sz="1400" dirty="0"/>
              <a:t> = 'xample.html'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attribute</a:t>
            </a:r>
            <a:r>
              <a:rPr lang="tr-TR" sz="1400" dirty="0"/>
              <a:t> = '#</a:t>
            </a:r>
            <a:r>
              <a:rPr lang="tr-TR" sz="1400" dirty="0" err="1"/>
              <a:t>author</a:t>
            </a:r>
            <a:r>
              <a:rPr lang="tr-TR" sz="1400" dirty="0"/>
              <a:t>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searchAttributesInHTML</a:t>
            </a:r>
            <a:r>
              <a:rPr lang="tr-TR" sz="1400" dirty="0"/>
              <a:t>(</a:t>
            </a:r>
            <a:r>
              <a:rPr lang="tr-TR" sz="1400" dirty="0" err="1"/>
              <a:t>fileName</a:t>
            </a:r>
            <a:r>
              <a:rPr lang="tr-TR" sz="1400" dirty="0"/>
              <a:t>, </a:t>
            </a:r>
            <a:r>
              <a:rPr lang="tr-TR" sz="1400" dirty="0" err="1"/>
              <a:t>attribute</a:t>
            </a:r>
            <a:r>
              <a:rPr lang="tr-TR" sz="1400" dirty="0"/>
              <a:t>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ACCF76E-6BB1-4A0C-AD5C-A8C11ED2CF8A}"/>
              </a:ext>
            </a:extLst>
          </p:cNvPr>
          <p:cNvSpPr/>
          <p:nvPr/>
        </p:nvSpPr>
        <p:spPr>
          <a:xfrm>
            <a:off x="4105553" y="2116921"/>
            <a:ext cx="44773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pull the element with id="author" out of our example</a:t>
            </a:r>
            <a:r>
              <a:rPr lang="tr-TR" sz="1400" dirty="0"/>
              <a:t> </a:t>
            </a:r>
            <a:r>
              <a:rPr lang="en-US" sz="1400" dirty="0"/>
              <a:t>HTML</a:t>
            </a:r>
            <a:endParaRPr lang="tr-TR" sz="1400" dirty="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7C0CEE0-2535-4F52-BAC8-952C267C587C}"/>
              </a:ext>
            </a:extLst>
          </p:cNvPr>
          <p:cNvSpPr/>
          <p:nvPr/>
        </p:nvSpPr>
        <p:spPr>
          <a:xfrm>
            <a:off x="4405455" y="2557346"/>
            <a:ext cx="417745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We store this list of Tag objects in the variable </a:t>
            </a:r>
            <a:r>
              <a:rPr lang="en-US" sz="1400" dirty="0" err="1"/>
              <a:t>elems</a:t>
            </a:r>
            <a:endParaRPr lang="tr-TR" sz="1400" dirty="0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797BEDC-0F61-4F8A-98BD-B663D716BD29}"/>
              </a:ext>
            </a:extLst>
          </p:cNvPr>
          <p:cNvSpPr/>
          <p:nvPr/>
        </p:nvSpPr>
        <p:spPr>
          <a:xfrm>
            <a:off x="4571115" y="2945111"/>
            <a:ext cx="40517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i="1" dirty="0" err="1"/>
              <a:t>len</a:t>
            </a:r>
            <a:r>
              <a:rPr lang="en-US" sz="1400" b="1" i="1" dirty="0"/>
              <a:t>(</a:t>
            </a:r>
            <a:r>
              <a:rPr lang="en-US" sz="1400" b="1" i="1" dirty="0" err="1"/>
              <a:t>elems</a:t>
            </a:r>
            <a:r>
              <a:rPr lang="en-US" sz="1400" b="1" i="1" dirty="0"/>
              <a:t>) </a:t>
            </a:r>
            <a:r>
              <a:rPr lang="en-US" sz="1400" dirty="0"/>
              <a:t>tells us there is one Tag object in the list</a:t>
            </a:r>
            <a:endParaRPr lang="tr-TR" sz="1400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2D45506-3FBE-40D4-A571-EB6EFF7C226E}"/>
              </a:ext>
            </a:extLst>
          </p:cNvPr>
          <p:cNvSpPr/>
          <p:nvPr/>
        </p:nvSpPr>
        <p:spPr>
          <a:xfrm>
            <a:off x="4405455" y="3319154"/>
            <a:ext cx="40517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dirty="0" err="1">
                <a:latin typeface="NewBaskerville-Roman"/>
              </a:rPr>
              <a:t>Calling</a:t>
            </a:r>
            <a:r>
              <a:rPr lang="tr-TR" sz="1400" dirty="0">
                <a:latin typeface="NewBaskerville-Roman"/>
              </a:rPr>
              <a:t> </a:t>
            </a:r>
            <a:r>
              <a:rPr lang="tr-TR" sz="1100" b="1" i="1" dirty="0" err="1">
                <a:latin typeface="TheSansMonoCondensed-Plain"/>
              </a:rPr>
              <a:t>getText</a:t>
            </a:r>
            <a:r>
              <a:rPr lang="tr-TR" sz="1100" b="1" i="1" dirty="0">
                <a:latin typeface="TheSansMonoCondensed-Plain"/>
              </a:rPr>
              <a:t>() </a:t>
            </a:r>
            <a:r>
              <a:rPr lang="en-US" sz="1400" dirty="0">
                <a:latin typeface="NewBaskerville-Roman"/>
              </a:rPr>
              <a:t>on the element returns the element’s text</a:t>
            </a:r>
            <a:r>
              <a:rPr lang="tr-TR" sz="1400" dirty="0">
                <a:latin typeface="NewBaskerville-Roman"/>
              </a:rPr>
              <a:t>, </a:t>
            </a:r>
            <a:r>
              <a:rPr lang="en-US" sz="1400" dirty="0">
                <a:latin typeface="NewBaskerville-Roman"/>
              </a:rPr>
              <a:t>in this case, 'Al </a:t>
            </a:r>
            <a:r>
              <a:rPr lang="en-US" sz="1400" dirty="0" err="1">
                <a:latin typeface="NewBaskerville-Roman"/>
              </a:rPr>
              <a:t>Sweigart</a:t>
            </a:r>
            <a:r>
              <a:rPr lang="en-US" sz="1400" dirty="0">
                <a:latin typeface="NewBaskerville-Roman"/>
              </a:rPr>
              <a:t>'.</a:t>
            </a:r>
            <a:endParaRPr lang="tr-TR" sz="1400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CDB851F-7904-4CD8-B7DC-73ACA3C47CB9}"/>
              </a:ext>
            </a:extLst>
          </p:cNvPr>
          <p:cNvCxnSpPr/>
          <p:nvPr/>
        </p:nvCxnSpPr>
        <p:spPr>
          <a:xfrm>
            <a:off x="3358541" y="2270809"/>
            <a:ext cx="747012" cy="15388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C7831F4F-7227-47E3-A625-58CDE8B6DCF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91336" y="2878433"/>
            <a:ext cx="2931814" cy="204558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692E3492-F688-4D7B-8BDD-70997CFB980E}"/>
              </a:ext>
            </a:extLst>
          </p:cNvPr>
          <p:cNvCxnSpPr>
            <a:cxnSpLocks/>
          </p:cNvCxnSpPr>
          <p:nvPr/>
        </p:nvCxnSpPr>
        <p:spPr>
          <a:xfrm>
            <a:off x="2200632" y="2607960"/>
            <a:ext cx="2370483" cy="49103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12483A7A-E6AB-43CE-9A8B-4982987FC7D2}"/>
              </a:ext>
            </a:extLst>
          </p:cNvPr>
          <p:cNvCxnSpPr>
            <a:cxnSpLocks/>
          </p:cNvCxnSpPr>
          <p:nvPr/>
        </p:nvCxnSpPr>
        <p:spPr>
          <a:xfrm>
            <a:off x="2699101" y="2865123"/>
            <a:ext cx="1789044" cy="75428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731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pull </a:t>
            </a:r>
            <a:r>
              <a:rPr lang="en-US" b="1" dirty="0"/>
              <a:t>&lt;p&gt;</a:t>
            </a:r>
            <a:r>
              <a:rPr lang="en-US" dirty="0"/>
              <a:t> elements from the </a:t>
            </a:r>
            <a:r>
              <a:rPr lang="en-US" b="1" dirty="0" err="1"/>
              <a:t>BeautifulSoup</a:t>
            </a:r>
            <a:r>
              <a:rPr lang="en-US" dirty="0"/>
              <a:t> object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229" y="636826"/>
            <a:ext cx="8411961" cy="5296467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</a:t>
            </a:r>
            <a:r>
              <a:rPr lang="tr-TR" sz="1400" dirty="0" err="1"/>
              <a:t>pullElements</a:t>
            </a:r>
            <a:r>
              <a:rPr lang="tr-TR" sz="1400" dirty="0"/>
              <a:t>(</a:t>
            </a:r>
            <a:r>
              <a:rPr lang="tr-TR" sz="1400" dirty="0" err="1"/>
              <a:t>fName,elm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exampleFile</a:t>
            </a:r>
            <a:r>
              <a:rPr lang="tr-TR" sz="1400" dirty="0"/>
              <a:t> = </a:t>
            </a:r>
            <a:r>
              <a:rPr lang="tr-TR" sz="1400" dirty="0" err="1"/>
              <a:t>open</a:t>
            </a:r>
            <a:r>
              <a:rPr lang="tr-TR" sz="1400" dirty="0"/>
              <a:t>(</a:t>
            </a:r>
            <a:r>
              <a:rPr lang="tr-TR" sz="1400" dirty="0" err="1"/>
              <a:t>fName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exampleSoup</a:t>
            </a:r>
            <a:r>
              <a:rPr lang="tr-TR" sz="1400" dirty="0"/>
              <a:t> = bs4.BeautifulSoup(</a:t>
            </a:r>
            <a:r>
              <a:rPr lang="tr-TR" sz="1400" dirty="0" err="1"/>
              <a:t>exampleFile</a:t>
            </a:r>
            <a:r>
              <a:rPr lang="tr-TR" sz="1400" dirty="0"/>
              <a:t>, </a:t>
            </a:r>
            <a:r>
              <a:rPr lang="tr-TR" sz="1400" dirty="0" err="1"/>
              <a:t>features</a:t>
            </a:r>
            <a:r>
              <a:rPr lang="tr-TR" sz="1400" dirty="0"/>
              <a:t>="</a:t>
            </a:r>
            <a:r>
              <a:rPr lang="tr-TR" sz="1400" dirty="0" err="1"/>
              <a:t>html.parser</a:t>
            </a:r>
            <a:r>
              <a:rPr lang="tr-TR" sz="1400" dirty="0"/>
              <a:t>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pElems</a:t>
            </a:r>
            <a:r>
              <a:rPr lang="tr-TR" sz="1400" dirty="0"/>
              <a:t> = </a:t>
            </a:r>
            <a:r>
              <a:rPr lang="tr-TR" sz="1400" dirty="0" err="1"/>
              <a:t>exampleSoup.select</a:t>
            </a:r>
            <a:r>
              <a:rPr lang="tr-TR" sz="1400" dirty="0"/>
              <a:t>(</a:t>
            </a:r>
            <a:r>
              <a:rPr lang="tr-TR" sz="1400" dirty="0" err="1"/>
              <a:t>elm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str</a:t>
            </a:r>
            <a:r>
              <a:rPr lang="tr-TR" sz="1400" dirty="0"/>
              <a:t>(</a:t>
            </a:r>
            <a:r>
              <a:rPr lang="tr-TR" sz="1400" dirty="0" err="1"/>
              <a:t>pElems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len</a:t>
            </a:r>
            <a:r>
              <a:rPr lang="tr-TR" sz="1400" dirty="0"/>
              <a:t>(</a:t>
            </a:r>
            <a:r>
              <a:rPr lang="tr-TR" sz="1400" dirty="0" err="1"/>
              <a:t>pElems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pElems</a:t>
            </a:r>
            <a:r>
              <a:rPr lang="tr-TR" sz="1400" dirty="0"/>
              <a:t>[0].</a:t>
            </a:r>
            <a:r>
              <a:rPr lang="tr-TR" sz="1400" dirty="0" err="1"/>
              <a:t>getText</a:t>
            </a:r>
            <a:r>
              <a:rPr lang="tr-TR" sz="1400" dirty="0"/>
              <a:t>())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str</a:t>
            </a:r>
            <a:r>
              <a:rPr lang="tr-TR" sz="1400" dirty="0"/>
              <a:t>(</a:t>
            </a:r>
            <a:r>
              <a:rPr lang="tr-TR" sz="1400" dirty="0" err="1"/>
              <a:t>pElems</a:t>
            </a:r>
            <a:r>
              <a:rPr lang="tr-TR" sz="1400" dirty="0"/>
              <a:t>[1]))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pElems</a:t>
            </a:r>
            <a:r>
              <a:rPr lang="tr-TR" sz="1400" dirty="0"/>
              <a:t>[1].</a:t>
            </a:r>
            <a:r>
              <a:rPr lang="tr-TR" sz="1400" dirty="0" err="1"/>
              <a:t>getText</a:t>
            </a:r>
            <a:r>
              <a:rPr lang="tr-TR" sz="1400" dirty="0"/>
              <a:t>())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str</a:t>
            </a:r>
            <a:r>
              <a:rPr lang="tr-TR" sz="1400" dirty="0"/>
              <a:t>(</a:t>
            </a:r>
            <a:r>
              <a:rPr lang="tr-TR" sz="1400" dirty="0" err="1"/>
              <a:t>pElems</a:t>
            </a:r>
            <a:r>
              <a:rPr lang="tr-TR" sz="1400" dirty="0"/>
              <a:t>[2]))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pElems</a:t>
            </a:r>
            <a:r>
              <a:rPr lang="tr-TR" sz="1400" dirty="0"/>
              <a:t>[2].</a:t>
            </a:r>
            <a:r>
              <a:rPr lang="tr-TR" sz="1400" dirty="0" err="1"/>
              <a:t>getText</a:t>
            </a:r>
            <a:r>
              <a:rPr lang="tr-TR" sz="1400" dirty="0"/>
              <a:t>())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 </a:t>
            </a:r>
            <a:r>
              <a:rPr lang="tr-TR" sz="1400" dirty="0" err="1"/>
              <a:t>Exception</a:t>
            </a:r>
            <a:r>
              <a:rPr lang="tr-TR" sz="1400" dirty="0"/>
              <a:t> as </a:t>
            </a:r>
            <a:r>
              <a:rPr lang="tr-TR" sz="1400" dirty="0" err="1"/>
              <a:t>exc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There</a:t>
            </a:r>
            <a:r>
              <a:rPr lang="tr-TR" sz="1400" dirty="0"/>
              <a:t> </a:t>
            </a:r>
            <a:r>
              <a:rPr lang="tr-TR" sz="1400" dirty="0" err="1"/>
              <a:t>was</a:t>
            </a:r>
            <a:r>
              <a:rPr lang="tr-TR" sz="1400" dirty="0"/>
              <a:t> a problem: %s' % (</a:t>
            </a:r>
            <a:r>
              <a:rPr lang="tr-TR" sz="1400" dirty="0" err="1"/>
              <a:t>exc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*******</a:t>
            </a:r>
            <a:r>
              <a:rPr lang="tr-TR" sz="1400" dirty="0" err="1"/>
              <a:t>pullElements</a:t>
            </a:r>
            <a:r>
              <a:rPr lang="tr-TR" sz="1400" dirty="0"/>
              <a:t>(</a:t>
            </a:r>
            <a:r>
              <a:rPr lang="tr-TR" sz="1400" dirty="0" err="1"/>
              <a:t>fName,elm</a:t>
            </a:r>
            <a:r>
              <a:rPr lang="tr-TR" sz="1400" dirty="0"/>
              <a:t>)*******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pull</a:t>
            </a:r>
            <a:r>
              <a:rPr lang="tr-TR" sz="1400" dirty="0"/>
              <a:t> </a:t>
            </a:r>
            <a:r>
              <a:rPr lang="tr-TR" sz="1400" dirty="0" err="1"/>
              <a:t>elements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HTML disk File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fileName</a:t>
            </a:r>
            <a:r>
              <a:rPr lang="tr-TR" sz="1400" dirty="0"/>
              <a:t> = 'xample.html'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element = 'p'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searchAttributesInHTML</a:t>
            </a:r>
            <a:r>
              <a:rPr lang="tr-TR" sz="1400" dirty="0"/>
              <a:t>(</a:t>
            </a:r>
            <a:r>
              <a:rPr lang="tr-TR" sz="1400" dirty="0" err="1"/>
              <a:t>fileName</a:t>
            </a:r>
            <a:r>
              <a:rPr lang="tr-TR" sz="1400" dirty="0"/>
              <a:t>, element)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797BEDC-0F61-4F8A-98BD-B663D716BD29}"/>
              </a:ext>
            </a:extLst>
          </p:cNvPr>
          <p:cNvSpPr/>
          <p:nvPr/>
        </p:nvSpPr>
        <p:spPr>
          <a:xfrm>
            <a:off x="3955776" y="1716262"/>
            <a:ext cx="48139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/>
              <a:t>select() </a:t>
            </a:r>
            <a:r>
              <a:rPr lang="en-US" sz="1600" dirty="0"/>
              <a:t>to find any </a:t>
            </a:r>
            <a:r>
              <a:rPr lang="en-US" sz="1600" b="1" dirty="0"/>
              <a:t>&lt;</a:t>
            </a:r>
            <a:r>
              <a:rPr lang="tr-TR" sz="1600" b="1" dirty="0"/>
              <a:t>p</a:t>
            </a:r>
            <a:r>
              <a:rPr lang="en-US" sz="1600" b="1" dirty="0"/>
              <a:t>&gt; </a:t>
            </a:r>
            <a:r>
              <a:rPr lang="en-US" sz="1600" dirty="0"/>
              <a:t>elements and then store the</a:t>
            </a:r>
            <a:r>
              <a:rPr lang="tr-TR" sz="1600" dirty="0"/>
              <a:t> </a:t>
            </a:r>
            <a:r>
              <a:rPr lang="en-US" sz="1600" dirty="0"/>
              <a:t>first matched element in </a:t>
            </a:r>
            <a:r>
              <a:rPr lang="tr-TR" sz="1600" dirty="0"/>
              <a:t>p</a:t>
            </a:r>
            <a:r>
              <a:rPr lang="en-US" sz="1600" dirty="0"/>
              <a:t>Elem</a:t>
            </a:r>
            <a:r>
              <a:rPr lang="tr-TR" sz="1600" dirty="0"/>
              <a:t>s</a:t>
            </a:r>
            <a:r>
              <a:rPr lang="en-US" sz="1600" dirty="0"/>
              <a:t>. </a:t>
            </a:r>
            <a:endParaRPr lang="tr-TR" sz="1600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05794027-8708-433D-9524-4AE79261226A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409122" y="1878496"/>
            <a:ext cx="546654" cy="13015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E0CF939D-7E8C-4F0B-8B70-1D5924D687F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57301" y="2509631"/>
            <a:ext cx="3180523" cy="23953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956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Getting Data from an Element’s Attributes</a:t>
            </a:r>
            <a:r>
              <a:rPr lang="tr-TR" dirty="0"/>
              <a:t>: </a:t>
            </a:r>
            <a:r>
              <a:rPr lang="en-US" dirty="0"/>
              <a:t>get() method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The </a:t>
            </a:r>
            <a:r>
              <a:rPr lang="en-US" sz="1200" b="1" i="1" dirty="0"/>
              <a:t>get() </a:t>
            </a:r>
            <a:r>
              <a:rPr lang="en-US" sz="1200" dirty="0"/>
              <a:t>method for Tag objects makes it simple to access attribute values</a:t>
            </a:r>
            <a:r>
              <a:rPr lang="tr-TR" sz="1200" dirty="0"/>
              <a:t> </a:t>
            </a:r>
            <a:r>
              <a:rPr lang="en-US" sz="1200" dirty="0"/>
              <a:t>from an element.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dirty="0" err="1"/>
              <a:t>Pass</a:t>
            </a:r>
            <a:r>
              <a:rPr lang="tr-TR" dirty="0"/>
              <a:t> </a:t>
            </a:r>
            <a:r>
              <a:rPr lang="tr-TR" dirty="0" err="1"/>
              <a:t>attribute</a:t>
            </a:r>
            <a:r>
              <a:rPr lang="tr-TR" dirty="0"/>
              <a:t>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801468"/>
          </a:xfrm>
        </p:spPr>
        <p:txBody>
          <a:bodyPr/>
          <a:lstStyle/>
          <a:p>
            <a:r>
              <a:rPr lang="en-US" sz="1400" dirty="0"/>
              <a:t>The method is passed a string of an attribute name 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b="1" i="1" dirty="0" err="1"/>
              <a:t>select</a:t>
            </a:r>
            <a:r>
              <a:rPr lang="tr-TR" b="1" i="1" dirty="0"/>
              <a:t>()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758108"/>
          </a:xfrm>
        </p:spPr>
        <p:txBody>
          <a:bodyPr/>
          <a:lstStyle/>
          <a:p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en-US" sz="1400" dirty="0" err="1"/>
              <a:t>BeautifulSoup</a:t>
            </a:r>
            <a:r>
              <a:rPr lang="tr-TR" sz="1400" dirty="0"/>
              <a:t> </a:t>
            </a:r>
            <a:r>
              <a:rPr lang="tr-TR" sz="1400" dirty="0" err="1"/>
              <a:t>method</a:t>
            </a:r>
            <a:endParaRPr lang="tr-TR" sz="1400" dirty="0"/>
          </a:p>
          <a:p>
            <a:r>
              <a:rPr lang="tr-TR" sz="1400" dirty="0" err="1"/>
              <a:t>Find</a:t>
            </a:r>
            <a:r>
              <a:rPr lang="tr-TR" sz="1400" dirty="0"/>
              <a:t> element </a:t>
            </a:r>
            <a:r>
              <a:rPr lang="tr-TR" sz="1400" dirty="0" err="1"/>
              <a:t>within</a:t>
            </a:r>
            <a:r>
              <a:rPr lang="tr-TR" sz="1400" dirty="0"/>
              <a:t> HTML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value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758453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returns attribute’s value</a:t>
            </a:r>
            <a:endParaRPr lang="tr-TR" sz="1400" dirty="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D5F5F470-9F8E-45F1-AE52-5DFF7AEAA6C8}"/>
              </a:ext>
            </a:extLst>
          </p:cNvPr>
          <p:cNvSpPr/>
          <p:nvPr/>
        </p:nvSpPr>
        <p:spPr>
          <a:xfrm>
            <a:off x="323850" y="5826307"/>
            <a:ext cx="73789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600" dirty="0" err="1"/>
              <a:t>Tag</a:t>
            </a:r>
            <a:r>
              <a:rPr lang="tr-TR" sz="1600" dirty="0"/>
              <a:t> </a:t>
            </a:r>
            <a:r>
              <a:rPr lang="tr-TR" sz="1600" dirty="0" err="1"/>
              <a:t>objects</a:t>
            </a:r>
            <a:r>
              <a:rPr lang="tr-TR" sz="1600" dirty="0"/>
              <a:t> </a:t>
            </a:r>
            <a:r>
              <a:rPr lang="tr-TR" sz="1600" dirty="0" err="1"/>
              <a:t>get</a:t>
            </a:r>
            <a:r>
              <a:rPr lang="tr-TR" sz="1600" dirty="0"/>
              <a:t> </a:t>
            </a:r>
            <a:r>
              <a:rPr lang="tr-TR" sz="1600" dirty="0" err="1"/>
              <a:t>method</a:t>
            </a:r>
            <a:r>
              <a:rPr lang="tr-TR" sz="1600" dirty="0"/>
              <a:t> </a:t>
            </a:r>
            <a:r>
              <a:rPr lang="tr-TR" sz="1600" dirty="0" err="1"/>
              <a:t>returns</a:t>
            </a:r>
            <a:r>
              <a:rPr lang="tr-TR" sz="1600" dirty="0"/>
              <a:t> </a:t>
            </a:r>
            <a:r>
              <a:rPr lang="tr-TR" sz="1600" dirty="0" err="1"/>
              <a:t>value</a:t>
            </a:r>
            <a:r>
              <a:rPr lang="tr-TR" sz="1600" dirty="0"/>
              <a:t> of </a:t>
            </a:r>
            <a:r>
              <a:rPr lang="tr-TR" sz="1600" dirty="0" err="1"/>
              <a:t>the</a:t>
            </a:r>
            <a:r>
              <a:rPr lang="tr-TR" sz="1600" dirty="0"/>
              <a:t> </a:t>
            </a:r>
            <a:r>
              <a:rPr lang="tr-TR" sz="1600" dirty="0" err="1"/>
              <a:t>attribute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87970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pull </a:t>
            </a:r>
            <a:r>
              <a:rPr lang="en-US" b="1" dirty="0"/>
              <a:t>&lt;p&gt;</a:t>
            </a:r>
            <a:r>
              <a:rPr lang="en-US" dirty="0"/>
              <a:t> elements from the </a:t>
            </a:r>
            <a:r>
              <a:rPr lang="en-US" dirty="0" err="1"/>
              <a:t>BeautifulSoup</a:t>
            </a:r>
            <a:r>
              <a:rPr lang="en-US" dirty="0"/>
              <a:t> object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12" y="821094"/>
            <a:ext cx="5083632" cy="5334096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import</a:t>
            </a:r>
            <a:r>
              <a:rPr lang="tr-TR" sz="1400" dirty="0"/>
              <a:t> bs4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</a:t>
            </a:r>
            <a:r>
              <a:rPr lang="tr-TR" sz="1400" dirty="0" err="1"/>
              <a:t>getElementValue</a:t>
            </a:r>
            <a:r>
              <a:rPr lang="tr-TR" sz="1400" dirty="0"/>
              <a:t>(</a:t>
            </a:r>
            <a:r>
              <a:rPr lang="tr-TR" sz="1400" dirty="0" err="1"/>
              <a:t>fName,elm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exampleFile</a:t>
            </a:r>
            <a:r>
              <a:rPr lang="tr-TR" sz="1400" dirty="0"/>
              <a:t> = </a:t>
            </a:r>
            <a:r>
              <a:rPr lang="tr-TR" sz="1400" dirty="0" err="1"/>
              <a:t>open</a:t>
            </a:r>
            <a:r>
              <a:rPr lang="tr-TR" sz="1400" dirty="0"/>
              <a:t>(</a:t>
            </a:r>
            <a:r>
              <a:rPr lang="tr-TR" sz="1400" dirty="0" err="1"/>
              <a:t>fName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soup</a:t>
            </a:r>
            <a:r>
              <a:rPr lang="tr-TR" sz="1400" dirty="0"/>
              <a:t> = bs4.BeautifulSoup(</a:t>
            </a:r>
            <a:r>
              <a:rPr lang="tr-TR" sz="1400" dirty="0" err="1"/>
              <a:t>exampleFile</a:t>
            </a:r>
            <a:r>
              <a:rPr lang="tr-TR" sz="1400" dirty="0"/>
              <a:t>, </a:t>
            </a:r>
            <a:r>
              <a:rPr lang="tr-TR" sz="1400" dirty="0" err="1"/>
              <a:t>features</a:t>
            </a:r>
            <a:r>
              <a:rPr lang="tr-TR" sz="1400" dirty="0"/>
              <a:t>="</a:t>
            </a:r>
            <a:r>
              <a:rPr lang="tr-TR" sz="1400" dirty="0" err="1"/>
              <a:t>html.parser</a:t>
            </a:r>
            <a:r>
              <a:rPr lang="tr-TR" sz="1400" dirty="0"/>
              <a:t>")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foundForSelectedElement</a:t>
            </a:r>
            <a:r>
              <a:rPr lang="tr-TR" sz="1400" dirty="0"/>
              <a:t> = </a:t>
            </a:r>
            <a:r>
              <a:rPr lang="tr-TR" sz="1400" dirty="0" err="1"/>
              <a:t>soup.select</a:t>
            </a:r>
            <a:r>
              <a:rPr lang="tr-TR" sz="1400" dirty="0"/>
              <a:t>(</a:t>
            </a:r>
            <a:r>
              <a:rPr lang="tr-TR" sz="1400" dirty="0" err="1"/>
              <a:t>elm</a:t>
            </a:r>
            <a:r>
              <a:rPr lang="tr-TR" sz="1400" dirty="0"/>
              <a:t>)[0]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("</a:t>
            </a:r>
            <a:r>
              <a:rPr lang="tr-TR" sz="1400" dirty="0" err="1"/>
              <a:t>The</a:t>
            </a:r>
            <a:r>
              <a:rPr lang="tr-TR" sz="1400" dirty="0"/>
              <a:t> element:", </a:t>
            </a:r>
            <a:r>
              <a:rPr lang="tr-TR" sz="1400" dirty="0" err="1"/>
              <a:t>str</a:t>
            </a:r>
            <a:r>
              <a:rPr lang="tr-TR" sz="1400" dirty="0"/>
              <a:t>(</a:t>
            </a:r>
            <a:r>
              <a:rPr lang="tr-TR" sz="1400" dirty="0" err="1"/>
              <a:t>foundForSelectedElement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("Value of </a:t>
            </a:r>
            <a:r>
              <a:rPr lang="tr-TR" sz="1400" dirty="0" err="1"/>
              <a:t>Id</a:t>
            </a:r>
            <a:r>
              <a:rPr lang="tr-TR" sz="1400" dirty="0"/>
              <a:t>:", </a:t>
            </a:r>
            <a:r>
              <a:rPr lang="tr-TR" sz="1400" dirty="0" err="1"/>
              <a:t>foundForSelectedElement.get</a:t>
            </a:r>
            <a:r>
              <a:rPr lang="tr-TR" sz="1400" dirty="0"/>
              <a:t>('</a:t>
            </a:r>
            <a:r>
              <a:rPr lang="tr-TR" sz="1400" dirty="0" err="1"/>
              <a:t>id</a:t>
            </a:r>
            <a:r>
              <a:rPr lang="tr-TR" sz="1400" dirty="0"/>
              <a:t>'))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("</a:t>
            </a:r>
            <a:r>
              <a:rPr lang="tr-TR" sz="1400" dirty="0" err="1"/>
              <a:t>Attribute</a:t>
            </a:r>
            <a:r>
              <a:rPr lang="tr-TR" sz="1400" dirty="0"/>
              <a:t>(s) of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elment</a:t>
            </a:r>
            <a:r>
              <a:rPr lang="tr-TR" sz="1400" dirty="0"/>
              <a:t>:", </a:t>
            </a:r>
            <a:r>
              <a:rPr lang="tr-TR" sz="1400" dirty="0" err="1"/>
              <a:t>foundForSelectedElement.attrs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 </a:t>
            </a:r>
            <a:r>
              <a:rPr lang="tr-TR" sz="1400" dirty="0" err="1"/>
              <a:t>Exception</a:t>
            </a:r>
            <a:r>
              <a:rPr lang="tr-TR" sz="1400" dirty="0"/>
              <a:t> as </a:t>
            </a:r>
            <a:r>
              <a:rPr lang="tr-TR" sz="1400" dirty="0" err="1"/>
              <a:t>exc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There</a:t>
            </a:r>
            <a:r>
              <a:rPr lang="tr-TR" sz="1400" dirty="0"/>
              <a:t> </a:t>
            </a:r>
            <a:r>
              <a:rPr lang="tr-TR" sz="1400" dirty="0" err="1"/>
              <a:t>was</a:t>
            </a:r>
            <a:r>
              <a:rPr lang="tr-TR" sz="1400" dirty="0"/>
              <a:t> a problem: %s' % (</a:t>
            </a:r>
            <a:r>
              <a:rPr lang="tr-TR" sz="1400" dirty="0" err="1"/>
              <a:t>exc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*******</a:t>
            </a:r>
            <a:r>
              <a:rPr lang="tr-TR" sz="1400" dirty="0" err="1"/>
              <a:t>pullElements</a:t>
            </a:r>
            <a:r>
              <a:rPr lang="tr-TR" sz="1400" dirty="0"/>
              <a:t>(</a:t>
            </a:r>
            <a:r>
              <a:rPr lang="tr-TR" sz="1400" dirty="0" err="1"/>
              <a:t>fName,elm</a:t>
            </a:r>
            <a:r>
              <a:rPr lang="tr-TR" sz="1400" dirty="0"/>
              <a:t>)***********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pull</a:t>
            </a:r>
            <a:r>
              <a:rPr lang="tr-TR" sz="1400" dirty="0"/>
              <a:t> </a:t>
            </a:r>
            <a:r>
              <a:rPr lang="tr-TR" sz="1400" dirty="0" err="1"/>
              <a:t>elements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HTML disk File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fileName</a:t>
            </a:r>
            <a:r>
              <a:rPr lang="tr-TR" sz="1400" dirty="0"/>
              <a:t> = 'xample.html'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element = '</a:t>
            </a:r>
            <a:r>
              <a:rPr lang="tr-TR" sz="1400" dirty="0" err="1"/>
              <a:t>span</a:t>
            </a:r>
            <a:r>
              <a:rPr lang="tr-TR" sz="1400" dirty="0"/>
              <a:t>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getElementValue</a:t>
            </a:r>
            <a:r>
              <a:rPr lang="tr-TR" sz="1400" dirty="0"/>
              <a:t>(</a:t>
            </a:r>
            <a:r>
              <a:rPr lang="tr-TR" sz="1400" dirty="0" err="1"/>
              <a:t>fileName</a:t>
            </a:r>
            <a:r>
              <a:rPr lang="tr-TR" sz="1400" dirty="0"/>
              <a:t>, element)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A243A-475C-49CB-8A85-D4D4CDCB4D0E}"/>
              </a:ext>
            </a:extLst>
          </p:cNvPr>
          <p:cNvSpPr txBox="1"/>
          <p:nvPr/>
        </p:nvSpPr>
        <p:spPr>
          <a:xfrm>
            <a:off x="5540831" y="1482106"/>
            <a:ext cx="3461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select() </a:t>
            </a:r>
            <a:r>
              <a:rPr lang="en-US" sz="1600" dirty="0"/>
              <a:t>to find any &lt;</a:t>
            </a:r>
            <a:r>
              <a:rPr lang="en-US" sz="1600" b="1" dirty="0"/>
              <a:t>span</a:t>
            </a:r>
            <a:r>
              <a:rPr lang="en-US" sz="1600" dirty="0"/>
              <a:t>&gt; elements and then the</a:t>
            </a:r>
            <a:r>
              <a:rPr lang="tr-TR" sz="1600" dirty="0"/>
              <a:t> </a:t>
            </a:r>
            <a:r>
              <a:rPr lang="en-US" sz="1600" dirty="0"/>
              <a:t>first </a:t>
            </a:r>
            <a:r>
              <a:rPr lang="tr-TR" sz="1600" dirty="0"/>
              <a:t>(0) </a:t>
            </a:r>
            <a:r>
              <a:rPr lang="en-US" sz="1600" dirty="0"/>
              <a:t>matched element in </a:t>
            </a:r>
            <a:r>
              <a:rPr lang="en-US" sz="1600" b="1" dirty="0" err="1"/>
              <a:t>spanElem</a:t>
            </a:r>
            <a:r>
              <a:rPr lang="en-US" sz="1600" dirty="0"/>
              <a:t>.</a:t>
            </a:r>
            <a:endParaRPr lang="tr-TR" sz="1600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C189B127-0A41-4DF0-A6A5-3CB2821D02F1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189445" y="1897605"/>
            <a:ext cx="1351386" cy="117807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44C27B-CB84-4074-AD43-DFAD30E44220}"/>
              </a:ext>
            </a:extLst>
          </p:cNvPr>
          <p:cNvSpPr txBox="1"/>
          <p:nvPr/>
        </p:nvSpPr>
        <p:spPr>
          <a:xfrm>
            <a:off x="5355944" y="2538257"/>
            <a:ext cx="35849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&lt;!DOCTYPE html&gt;</a:t>
            </a:r>
          </a:p>
          <a:p>
            <a:r>
              <a:rPr lang="en-US" sz="1400" dirty="0"/>
              <a:t>&lt;html lang="</a:t>
            </a:r>
            <a:r>
              <a:rPr lang="en-US" sz="1400" dirty="0" err="1"/>
              <a:t>en</a:t>
            </a:r>
            <a:r>
              <a:rPr lang="en-US" sz="1400" dirty="0"/>
              <a:t>"&gt;</a:t>
            </a:r>
          </a:p>
          <a:p>
            <a:r>
              <a:rPr lang="en-US" sz="1400" dirty="0"/>
              <a:t>&lt;head&gt;</a:t>
            </a:r>
          </a:p>
          <a:p>
            <a:r>
              <a:rPr lang="en-US" sz="1400" dirty="0"/>
              <a:t>    &lt;meta charset="UTF-8"&gt;</a:t>
            </a:r>
          </a:p>
          <a:p>
            <a:r>
              <a:rPr lang="en-US" sz="1400" dirty="0"/>
              <a:t>    &lt;title&gt;XAMPLE&lt;/title&gt;</a:t>
            </a:r>
          </a:p>
          <a:p>
            <a:r>
              <a:rPr lang="en-US" sz="1400" dirty="0"/>
              <a:t>&lt;/head&gt;</a:t>
            </a:r>
          </a:p>
          <a:p>
            <a:endParaRPr lang="en-US" sz="1400" dirty="0"/>
          </a:p>
          <a:p>
            <a:r>
              <a:rPr lang="en-US" sz="1400" dirty="0"/>
              <a:t>&lt;body&gt;</a:t>
            </a:r>
          </a:p>
          <a:p>
            <a:r>
              <a:rPr lang="en-US" sz="1400" dirty="0"/>
              <a:t>&lt;p&gt;Download my &lt;strong&gt;Python&lt;/strong&gt; book from &lt;a </a:t>
            </a:r>
            <a:r>
              <a:rPr lang="en-US" sz="1400" dirty="0" err="1"/>
              <a:t>href</a:t>
            </a:r>
            <a:r>
              <a:rPr lang="en-US" sz="1400" dirty="0"/>
              <a:t>="http://</a:t>
            </a:r>
          </a:p>
          <a:p>
            <a:r>
              <a:rPr lang="en-US" sz="1400" dirty="0"/>
              <a:t>inventwithpython.com"&gt;my website&lt;/a&gt;.&lt;/p&gt;</a:t>
            </a:r>
          </a:p>
          <a:p>
            <a:r>
              <a:rPr lang="en-US" sz="1400" dirty="0"/>
              <a:t>&lt;p class="slogan"&gt;Learn Python the easy way!&lt;/p&gt;</a:t>
            </a:r>
          </a:p>
          <a:p>
            <a:r>
              <a:rPr lang="en-US" sz="1400" dirty="0"/>
              <a:t>&lt;p&gt;By &lt;span id="author"&gt;Al </a:t>
            </a:r>
            <a:r>
              <a:rPr lang="en-US" sz="1400" dirty="0" err="1"/>
              <a:t>Sweigart</a:t>
            </a:r>
            <a:r>
              <a:rPr lang="en-US" sz="1400" dirty="0"/>
              <a:t>&lt;/span&gt;&lt;/p&gt;</a:t>
            </a:r>
          </a:p>
          <a:p>
            <a:r>
              <a:rPr lang="en-US" sz="1400" dirty="0"/>
              <a:t>&lt;/body&gt;&lt;/html&gt;</a:t>
            </a:r>
          </a:p>
        </p:txBody>
      </p:sp>
    </p:spTree>
    <p:extLst>
      <p:ext uri="{BB962C8B-B14F-4D97-AF65-F5344CB8AC3E}">
        <p14:creationId xmlns:p14="http://schemas.microsoft.com/office/powerpoint/2010/main" val="39685993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en-US" sz="2800" dirty="0"/>
              <a:t>Chapter </a:t>
            </a:r>
            <a:r>
              <a:rPr lang="tr-TR" sz="2800" dirty="0"/>
              <a:t>11</a:t>
            </a:r>
            <a:r>
              <a:rPr lang="en-US" sz="2800" dirty="0"/>
              <a:t>: </a:t>
            </a:r>
            <a:r>
              <a:rPr lang="tr-TR" sz="2800" dirty="0"/>
              <a:t>Web </a:t>
            </a:r>
            <a:r>
              <a:rPr lang="tr-TR" sz="2800" dirty="0" err="1"/>
              <a:t>Scraping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5"/>
            <a:tile tx="0" ty="0" sx="100000" sy="100000" flip="none" algn="tl"/>
          </a:blipFill>
        </p:spPr>
        <p:txBody>
          <a:bodyPr/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Controlling the Browser with the selenium Module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42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E5923CD5-33C2-4345-A95F-B5D7482672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71" r="267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397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selenium</a:t>
            </a:r>
            <a:r>
              <a:rPr lang="tr-TR" dirty="0"/>
              <a:t> </a:t>
            </a:r>
            <a:r>
              <a:rPr lang="tr-TR" dirty="0" err="1"/>
              <a:t>Module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200" dirty="0"/>
              <a:t>The </a:t>
            </a:r>
            <a:r>
              <a:rPr lang="en-US" sz="1200" b="1" i="1" dirty="0"/>
              <a:t>selenium</a:t>
            </a:r>
            <a:r>
              <a:rPr lang="en-US" sz="1200" dirty="0"/>
              <a:t> module lets Python directly control the browser by programmatically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Programmatic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control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622885"/>
          </a:xfrm>
        </p:spPr>
        <p:txBody>
          <a:bodyPr/>
          <a:lstStyle/>
          <a:p>
            <a:r>
              <a:rPr lang="en-US" sz="1400" dirty="0"/>
              <a:t>directly control the browser by programmatically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Simulate</a:t>
            </a:r>
            <a:r>
              <a:rPr lang="tr-TR" dirty="0"/>
              <a:t> </a:t>
            </a:r>
            <a:r>
              <a:rPr lang="tr-TR" dirty="0" err="1"/>
              <a:t>user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628645"/>
          </a:xfrm>
        </p:spPr>
        <p:txBody>
          <a:bodyPr/>
          <a:lstStyle/>
          <a:p>
            <a:r>
              <a:rPr lang="en-US" sz="1400" dirty="0"/>
              <a:t>almost as though</a:t>
            </a:r>
            <a:r>
              <a:rPr lang="tr-TR" sz="1400" dirty="0"/>
              <a:t> </a:t>
            </a:r>
            <a:r>
              <a:rPr lang="en-US" sz="1400" dirty="0"/>
              <a:t>there is a human user </a:t>
            </a:r>
            <a:endParaRPr lang="tr-TR" sz="1400" dirty="0"/>
          </a:p>
          <a:p>
            <a:r>
              <a:rPr lang="en-US" sz="1400" dirty="0"/>
              <a:t>interacting with the page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200" b="1" dirty="0" err="1"/>
              <a:t>Interact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clicking links</a:t>
            </a:r>
            <a:endParaRPr lang="tr-TR" sz="1400" dirty="0"/>
          </a:p>
          <a:p>
            <a:r>
              <a:rPr lang="en-US" sz="1400" dirty="0"/>
              <a:t>filling in login information</a:t>
            </a:r>
            <a:endParaRPr lang="tr-TR" sz="1400" dirty="0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A7076571-E989-4D33-9DA7-930A2D62193D}"/>
              </a:ext>
            </a:extLst>
          </p:cNvPr>
          <p:cNvSpPr/>
          <p:nvPr/>
        </p:nvSpPr>
        <p:spPr>
          <a:xfrm>
            <a:off x="126438" y="5600163"/>
            <a:ext cx="86846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/>
              <a:t>Selenium</a:t>
            </a:r>
            <a:r>
              <a:rPr lang="en-US" sz="1600" dirty="0"/>
              <a:t> allows you to</a:t>
            </a:r>
            <a:r>
              <a:rPr lang="tr-TR" sz="1600" dirty="0"/>
              <a:t> </a:t>
            </a:r>
            <a:r>
              <a:rPr lang="en-US" sz="1600" dirty="0"/>
              <a:t>interact with web pages in a much more advanced way than </a:t>
            </a:r>
            <a:r>
              <a:rPr lang="en-US" sz="1600" b="1" i="1" dirty="0"/>
              <a:t>Requests</a:t>
            </a:r>
            <a:r>
              <a:rPr lang="en-US" sz="1600" dirty="0"/>
              <a:t> and</a:t>
            </a:r>
            <a:r>
              <a:rPr lang="tr-TR" sz="1600" dirty="0"/>
              <a:t> </a:t>
            </a:r>
            <a:r>
              <a:rPr lang="en-US" sz="1600" b="1" i="1" dirty="0" err="1"/>
              <a:t>BeautifulSoup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7757156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selenium</a:t>
            </a:r>
            <a:r>
              <a:rPr lang="tr-TR" dirty="0"/>
              <a:t> </a:t>
            </a:r>
            <a:r>
              <a:rPr lang="tr-TR" dirty="0" err="1"/>
              <a:t>Module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sz="1400" dirty="0"/>
              <a:t>The </a:t>
            </a:r>
            <a:r>
              <a:rPr lang="en-US" sz="1400" b="1" i="1" dirty="0"/>
              <a:t>selenium</a:t>
            </a:r>
            <a:r>
              <a:rPr lang="en-US" sz="1400" dirty="0"/>
              <a:t> module </a:t>
            </a:r>
            <a:r>
              <a:rPr lang="tr-TR" sz="1400" dirty="0" err="1"/>
              <a:t>launches</a:t>
            </a:r>
            <a:r>
              <a:rPr lang="tr-TR" sz="1400" dirty="0"/>
              <a:t> a web browser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629244"/>
          </a:xfrm>
        </p:spPr>
        <p:txBody>
          <a:bodyPr/>
          <a:lstStyle/>
          <a:p>
            <a:r>
              <a:rPr lang="en-US" sz="1400" dirty="0"/>
              <a:t>launches a web browser</a:t>
            </a:r>
            <a:endParaRPr lang="tr-TR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/>
              <a:t>file </a:t>
            </a:r>
            <a:r>
              <a:rPr lang="tr-TR" dirty="0" err="1"/>
              <a:t>download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585884"/>
          </a:xfrm>
        </p:spPr>
        <p:txBody>
          <a:bodyPr/>
          <a:lstStyle/>
          <a:p>
            <a:r>
              <a:rPr lang="en-US" sz="1400" dirty="0"/>
              <a:t>you just need to download some files</a:t>
            </a:r>
          </a:p>
          <a:p>
            <a:r>
              <a:rPr lang="en-US" sz="1400" dirty="0"/>
              <a:t>from the Web</a:t>
            </a: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200" b="1" dirty="0" err="1"/>
              <a:t>slower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629244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400" dirty="0"/>
              <a:t>A </a:t>
            </a:r>
            <a:r>
              <a:rPr lang="en-US" sz="1400" dirty="0"/>
              <a:t>bit slower</a:t>
            </a:r>
          </a:p>
          <a:p>
            <a:r>
              <a:rPr lang="en-US" sz="1400" dirty="0"/>
              <a:t>hard to run in the background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433638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Starting</a:t>
            </a:r>
            <a:r>
              <a:rPr lang="tr-TR" dirty="0"/>
              <a:t> a </a:t>
            </a:r>
            <a:r>
              <a:rPr lang="tr-TR" dirty="0" err="1"/>
              <a:t>Selenium-Controlled</a:t>
            </a:r>
            <a:r>
              <a:rPr lang="tr-TR" dirty="0"/>
              <a:t> Browser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dirty="0"/>
              <a:t>For these examples, you’ll need the Firefox web browser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install</a:t>
            </a:r>
            <a:r>
              <a:rPr lang="tr-TR" dirty="0"/>
              <a:t> </a:t>
            </a:r>
            <a:r>
              <a:rPr lang="tr-TR" b="1" dirty="0" err="1"/>
              <a:t>selenium</a:t>
            </a:r>
            <a:r>
              <a:rPr lang="tr-TR" dirty="0"/>
              <a:t> </a:t>
            </a:r>
            <a:r>
              <a:rPr lang="tr-TR" dirty="0" err="1"/>
              <a:t>package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import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2367641"/>
          </a:xfrm>
        </p:spPr>
        <p:txBody>
          <a:bodyPr/>
          <a:lstStyle/>
          <a:p>
            <a:r>
              <a:rPr lang="en-US" sz="1400" dirty="0"/>
              <a:t>Importing the modules for Selenium </a:t>
            </a:r>
            <a:endParaRPr lang="tr-TR" sz="1400" dirty="0"/>
          </a:p>
          <a:p>
            <a:r>
              <a:rPr lang="en-US" sz="1400" dirty="0"/>
              <a:t>is slightly tricky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tr-TR" dirty="0" err="1"/>
              <a:t>launch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2324281"/>
          </a:xfrm>
        </p:spPr>
        <p:txBody>
          <a:bodyPr/>
          <a:lstStyle/>
          <a:p>
            <a:r>
              <a:rPr lang="en-US" sz="1200" dirty="0"/>
              <a:t>you can launch the Firefox browser</a:t>
            </a:r>
            <a:endParaRPr lang="tr-TR" sz="1200" dirty="0"/>
          </a:p>
          <a:p>
            <a:r>
              <a:rPr lang="en-US" sz="1200" dirty="0"/>
              <a:t>with Selenium</a:t>
            </a:r>
            <a:endParaRPr lang="tr-TR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200" b="1" dirty="0" err="1"/>
              <a:t>from</a:t>
            </a:r>
            <a:r>
              <a:rPr lang="tr-TR" sz="1200" b="1" dirty="0"/>
              <a:t> </a:t>
            </a:r>
            <a:r>
              <a:rPr lang="tr-TR" sz="1200" b="1" dirty="0" err="1"/>
              <a:t>selenium</a:t>
            </a:r>
            <a:r>
              <a:rPr lang="tr-TR" sz="1200" b="1" dirty="0"/>
              <a:t> </a:t>
            </a:r>
            <a:r>
              <a:rPr lang="tr-TR" sz="1200" b="1" dirty="0" err="1"/>
              <a:t>import</a:t>
            </a:r>
            <a:r>
              <a:rPr lang="tr-TR" sz="1200" b="1" dirty="0"/>
              <a:t> </a:t>
            </a:r>
            <a:r>
              <a:rPr lang="tr-TR" sz="1200" b="1" dirty="0" err="1"/>
              <a:t>webdriver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324626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Instead of import</a:t>
            </a:r>
            <a:r>
              <a:rPr lang="tr-TR" sz="1400" dirty="0"/>
              <a:t> </a:t>
            </a:r>
            <a:r>
              <a:rPr lang="en-US" sz="1400" dirty="0"/>
              <a:t>selenium </a:t>
            </a:r>
            <a:endParaRPr lang="tr-TR" sz="1400" dirty="0"/>
          </a:p>
          <a:p>
            <a:r>
              <a:rPr lang="en-US" sz="1400" dirty="0"/>
              <a:t>you need to run from selenium import </a:t>
            </a:r>
            <a:r>
              <a:rPr lang="en-US" sz="1400" dirty="0" err="1"/>
              <a:t>webdriver</a:t>
            </a:r>
            <a:endParaRPr lang="tr-TR" sz="1400" dirty="0"/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6C4F656-70B6-4C06-851D-80084559E428}"/>
              </a:ext>
            </a:extLst>
          </p:cNvPr>
          <p:cNvSpPr/>
          <p:nvPr/>
        </p:nvSpPr>
        <p:spPr>
          <a:xfrm>
            <a:off x="323850" y="5439444"/>
            <a:ext cx="86847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If you don’t already have </a:t>
            </a:r>
            <a:r>
              <a:rPr lang="en-US" sz="1400" b="1" dirty="0"/>
              <a:t>Firefox</a:t>
            </a:r>
            <a:r>
              <a:rPr lang="en-US" sz="1400" dirty="0"/>
              <a:t>, you can download</a:t>
            </a:r>
            <a:r>
              <a:rPr lang="tr-TR" sz="1400" dirty="0"/>
              <a:t> </a:t>
            </a:r>
            <a:r>
              <a:rPr lang="en-US" sz="1400" dirty="0"/>
              <a:t>it for free from </a:t>
            </a:r>
            <a:r>
              <a:rPr lang="en-US" sz="1400" dirty="0">
                <a:hlinkClick r:id="rId4"/>
              </a:rPr>
              <a:t>http://getfirefox.com/</a:t>
            </a:r>
            <a:r>
              <a:rPr lang="tr-TR" sz="1400" dirty="0"/>
              <a:t> </a:t>
            </a:r>
            <a:endParaRPr lang="en-US" sz="1400" dirty="0"/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BD057184-0911-47CE-87AE-63D337B5D86A}"/>
              </a:ext>
            </a:extLst>
          </p:cNvPr>
          <p:cNvSpPr/>
          <p:nvPr/>
        </p:nvSpPr>
        <p:spPr>
          <a:xfrm>
            <a:off x="291927" y="5846275"/>
            <a:ext cx="29352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install</a:t>
            </a:r>
            <a:r>
              <a:rPr lang="tr-TR" sz="1400" dirty="0"/>
              <a:t> </a:t>
            </a:r>
            <a:r>
              <a:rPr lang="tr-TR" sz="1400" dirty="0" err="1"/>
              <a:t>selenium</a:t>
            </a:r>
            <a:r>
              <a:rPr lang="tr-TR" sz="1400" dirty="0"/>
              <a:t>: </a:t>
            </a:r>
            <a:r>
              <a:rPr lang="en-US" sz="1400" b="1" i="1" dirty="0"/>
              <a:t>pip install selenium</a:t>
            </a:r>
          </a:p>
        </p:txBody>
      </p:sp>
    </p:spTree>
    <p:extLst>
      <p:ext uri="{BB962C8B-B14F-4D97-AF65-F5344CB8AC3E}">
        <p14:creationId xmlns:p14="http://schemas.microsoft.com/office/powerpoint/2010/main" val="10175314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Selenium</a:t>
            </a:r>
            <a:r>
              <a:rPr lang="tr-TR" dirty="0"/>
              <a:t> </a:t>
            </a:r>
            <a:r>
              <a:rPr lang="tr-TR" dirty="0" err="1"/>
              <a:t>launch</a:t>
            </a:r>
            <a:r>
              <a:rPr lang="tr-TR" dirty="0"/>
              <a:t> a web </a:t>
            </a:r>
            <a:r>
              <a:rPr lang="tr-TR" dirty="0" err="1"/>
              <a:t>page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6896" y="699942"/>
            <a:ext cx="7915177" cy="5211859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</a:t>
            </a:r>
            <a:r>
              <a:rPr lang="tr-TR" sz="1400" dirty="0" err="1"/>
              <a:t>Launch</a:t>
            </a:r>
            <a:r>
              <a:rPr lang="tr-TR" sz="1400" dirty="0"/>
              <a:t> a </a:t>
            </a:r>
            <a:r>
              <a:rPr lang="tr-TR" sz="1400" dirty="0" err="1"/>
              <a:t>page</a:t>
            </a:r>
            <a:r>
              <a:rPr lang="tr-TR" sz="1400" dirty="0"/>
              <a:t> link </a:t>
            </a:r>
            <a:r>
              <a:rPr lang="tr-TR" sz="1400" dirty="0" err="1"/>
              <a:t>using</a:t>
            </a:r>
            <a:r>
              <a:rPr lang="tr-TR" sz="1400" dirty="0"/>
              <a:t> </a:t>
            </a:r>
            <a:r>
              <a:rPr lang="tr-TR" sz="1400" dirty="0" err="1"/>
              <a:t>Firefox</a:t>
            </a:r>
            <a:r>
              <a:rPr lang="tr-TR" sz="1400" dirty="0"/>
              <a:t>. </a:t>
            </a:r>
            <a:r>
              <a:rPr lang="tr-TR" sz="1400" dirty="0" err="1"/>
              <a:t>Notice</a:t>
            </a:r>
            <a:r>
              <a:rPr lang="tr-TR" sz="1400" dirty="0"/>
              <a:t>, </a:t>
            </a:r>
            <a:r>
              <a:rPr lang="tr-TR" sz="1400" dirty="0" err="1"/>
              <a:t>Firefox</a:t>
            </a:r>
            <a:r>
              <a:rPr lang="tr-TR" sz="1400" dirty="0"/>
              <a:t> </a:t>
            </a:r>
            <a:r>
              <a:rPr lang="tr-TR" sz="1400" dirty="0" err="1"/>
              <a:t>should</a:t>
            </a:r>
            <a:r>
              <a:rPr lang="tr-TR" sz="1400" dirty="0"/>
              <a:t> be </a:t>
            </a:r>
            <a:r>
              <a:rPr lang="tr-TR" sz="1400" dirty="0" err="1"/>
              <a:t>installed</a:t>
            </a:r>
            <a:r>
              <a:rPr lang="tr-TR" sz="1400" dirty="0"/>
              <a:t>!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</a:t>
            </a:r>
            <a:r>
              <a:rPr lang="tr-TR" sz="1400" dirty="0" err="1"/>
              <a:t>launchWebPageWithSelenium</a:t>
            </a:r>
            <a:r>
              <a:rPr lang="tr-TR" sz="1400" dirty="0"/>
              <a:t>(</a:t>
            </a:r>
            <a:r>
              <a:rPr lang="tr-TR" sz="1400" dirty="0" err="1"/>
              <a:t>siteLink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selenium</a:t>
            </a:r>
            <a:r>
              <a:rPr lang="tr-TR" sz="1400" dirty="0"/>
              <a:t> </a:t>
            </a:r>
            <a:r>
              <a:rPr lang="tr-TR" sz="1400" dirty="0" err="1"/>
              <a:t>import</a:t>
            </a:r>
            <a:r>
              <a:rPr lang="tr-TR" sz="1400" dirty="0"/>
              <a:t> </a:t>
            </a:r>
            <a:r>
              <a:rPr lang="tr-TR" sz="1400" dirty="0" err="1"/>
              <a:t>webdriver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browser = </a:t>
            </a:r>
            <a:r>
              <a:rPr lang="tr-TR" sz="1400" dirty="0" err="1"/>
              <a:t>webdriver.Firefox</a:t>
            </a:r>
            <a:r>
              <a:rPr lang="tr-TR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("Browser: ", browser)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browser.get</a:t>
            </a:r>
            <a:r>
              <a:rPr lang="tr-TR" sz="1400" dirty="0"/>
              <a:t>(</a:t>
            </a:r>
            <a:r>
              <a:rPr lang="tr-TR" sz="1400" dirty="0" err="1"/>
              <a:t>siteLink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 </a:t>
            </a:r>
            <a:r>
              <a:rPr lang="tr-TR" sz="1400" dirty="0" err="1"/>
              <a:t>Exception</a:t>
            </a:r>
            <a:r>
              <a:rPr lang="tr-TR" sz="1400" dirty="0"/>
              <a:t> as </a:t>
            </a:r>
            <a:r>
              <a:rPr lang="tr-TR" sz="1400" dirty="0" err="1"/>
              <a:t>exc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There</a:t>
            </a:r>
            <a:r>
              <a:rPr lang="tr-TR" sz="1400" dirty="0"/>
              <a:t> </a:t>
            </a:r>
            <a:r>
              <a:rPr lang="tr-TR" sz="1400" dirty="0" err="1"/>
              <a:t>was</a:t>
            </a:r>
            <a:r>
              <a:rPr lang="tr-TR" sz="1400" dirty="0"/>
              <a:t> a problem: %s' % (</a:t>
            </a:r>
            <a:r>
              <a:rPr lang="tr-TR" sz="1400" dirty="0" err="1"/>
              <a:t>exc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******</a:t>
            </a:r>
            <a:r>
              <a:rPr lang="tr-TR" sz="1400" dirty="0" err="1"/>
              <a:t>launchWebPageWithSelenium</a:t>
            </a:r>
            <a:r>
              <a:rPr lang="tr-TR" sz="1400" dirty="0"/>
              <a:t>(</a:t>
            </a:r>
            <a:r>
              <a:rPr lang="tr-TR" sz="1400" dirty="0" err="1"/>
              <a:t>siteLink</a:t>
            </a:r>
            <a:r>
              <a:rPr lang="tr-TR" sz="1400" dirty="0"/>
              <a:t>)*******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launch</a:t>
            </a:r>
            <a:r>
              <a:rPr lang="tr-TR" sz="1400" dirty="0"/>
              <a:t> a web </a:t>
            </a:r>
            <a:r>
              <a:rPr lang="tr-TR" sz="1400" dirty="0" err="1"/>
              <a:t>page</a:t>
            </a:r>
            <a:r>
              <a:rPr lang="tr-TR" sz="1400" dirty="0"/>
              <a:t> </a:t>
            </a:r>
            <a:r>
              <a:rPr lang="tr-TR" sz="1400" dirty="0" err="1"/>
              <a:t>using</a:t>
            </a:r>
            <a:r>
              <a:rPr lang="tr-TR" sz="1400" dirty="0"/>
              <a:t> </a:t>
            </a:r>
            <a:r>
              <a:rPr lang="tr-TR" sz="1400" dirty="0" err="1"/>
              <a:t>selenium</a:t>
            </a:r>
            <a:r>
              <a:rPr lang="tr-TR" sz="1400" dirty="0"/>
              <a:t>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Firefox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link = 'http://inventwithpython.com'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launchWebPageWithSelenium</a:t>
            </a:r>
            <a:r>
              <a:rPr lang="tr-TR" sz="1400" dirty="0"/>
              <a:t>(link)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797BEDC-0F61-4F8A-98BD-B663D716BD29}"/>
              </a:ext>
            </a:extLst>
          </p:cNvPr>
          <p:cNvSpPr/>
          <p:nvPr/>
        </p:nvSpPr>
        <p:spPr>
          <a:xfrm>
            <a:off x="374230" y="6007573"/>
            <a:ext cx="77499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Calling </a:t>
            </a:r>
            <a:r>
              <a:rPr lang="en-US" sz="1600" b="1" i="1" dirty="0"/>
              <a:t>type() </a:t>
            </a:r>
            <a:r>
              <a:rPr lang="en-US" sz="1600" dirty="0"/>
              <a:t>on the value </a:t>
            </a:r>
            <a:r>
              <a:rPr lang="en-US" sz="1600" b="1" i="1" dirty="0" err="1"/>
              <a:t>webdriver.Firefox</a:t>
            </a:r>
            <a:r>
              <a:rPr lang="en-US" sz="1600" b="1" i="1" dirty="0"/>
              <a:t>() </a:t>
            </a:r>
            <a:r>
              <a:rPr lang="en-US" sz="1600" dirty="0"/>
              <a:t>reveals it’s of the</a:t>
            </a:r>
            <a:r>
              <a:rPr lang="tr-TR" sz="1600" dirty="0"/>
              <a:t> </a:t>
            </a:r>
            <a:r>
              <a:rPr lang="en-US" sz="1600" b="1" dirty="0"/>
              <a:t>WebDriver</a:t>
            </a:r>
            <a:r>
              <a:rPr lang="en-US" sz="1600" dirty="0"/>
              <a:t> data type</a:t>
            </a:r>
            <a:endParaRPr lang="tr-TR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DD820-0A0E-4D06-9650-E59F44570E22}"/>
              </a:ext>
            </a:extLst>
          </p:cNvPr>
          <p:cNvSpPr txBox="1"/>
          <p:nvPr/>
        </p:nvSpPr>
        <p:spPr>
          <a:xfrm>
            <a:off x="4933438" y="1296913"/>
            <a:ext cx="34886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when </a:t>
            </a:r>
            <a:r>
              <a:rPr lang="en-US" sz="1800" b="1" i="1" dirty="0" err="1"/>
              <a:t>webdriver.Firefox</a:t>
            </a:r>
            <a:r>
              <a:rPr lang="en-US" sz="1800" b="1" i="1" dirty="0"/>
              <a:t>() </a:t>
            </a:r>
            <a:r>
              <a:rPr lang="en-US" sz="1800" dirty="0"/>
              <a:t>is called, the Firefox web browser</a:t>
            </a:r>
            <a:r>
              <a:rPr lang="tr-TR" sz="1800" dirty="0"/>
              <a:t> </a:t>
            </a:r>
            <a:r>
              <a:rPr lang="en-US" sz="1800" dirty="0"/>
              <a:t>starts up. </a:t>
            </a:r>
            <a:endParaRPr lang="tr-TR" sz="1800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1FC54C6C-BA7A-47C3-B60B-F80FF2AF5AEC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279913" y="1620079"/>
            <a:ext cx="1653525" cy="10933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4334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Finding Elements on the Page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b="1" dirty="0"/>
              <a:t>WebDriver</a:t>
            </a:r>
            <a:r>
              <a:rPr lang="en-US" dirty="0"/>
              <a:t> objects have quite a few methods for finding elements on a</a:t>
            </a:r>
            <a:r>
              <a:rPr lang="tr-TR" dirty="0"/>
              <a:t> </a:t>
            </a:r>
            <a:r>
              <a:rPr lang="en-US" dirty="0"/>
              <a:t>page</a:t>
            </a:r>
            <a:r>
              <a:rPr lang="tr-TR" dirty="0"/>
              <a:t>.</a:t>
            </a:r>
          </a:p>
          <a:p>
            <a:r>
              <a:rPr lang="en-US" sz="1200" dirty="0"/>
              <a:t>They are divided into the </a:t>
            </a:r>
            <a:r>
              <a:rPr lang="en-US" sz="1200" b="1" i="1" dirty="0" err="1"/>
              <a:t>find_element</a:t>
            </a:r>
            <a:r>
              <a:rPr lang="en-US" sz="1200" b="1" i="1" dirty="0"/>
              <a:t>_* </a:t>
            </a:r>
            <a:r>
              <a:rPr lang="en-US" sz="1200" dirty="0"/>
              <a:t>and </a:t>
            </a:r>
            <a:r>
              <a:rPr lang="en-US" sz="1200" b="1" i="1" dirty="0" err="1"/>
              <a:t>find_elements</a:t>
            </a:r>
            <a:r>
              <a:rPr lang="en-US" sz="1200" b="1" i="1" dirty="0"/>
              <a:t>_* </a:t>
            </a:r>
            <a:r>
              <a:rPr lang="en-US" sz="1200" dirty="0"/>
              <a:t>methods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9023" y="2255861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find_element</a:t>
            </a:r>
            <a:r>
              <a:rPr lang="tr-TR" b="1" dirty="0">
                <a:latin typeface="+mn-lt"/>
              </a:rPr>
              <a:t>_*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144" y="3072558"/>
            <a:ext cx="2794502" cy="2075912"/>
          </a:xfrm>
        </p:spPr>
        <p:txBody>
          <a:bodyPr/>
          <a:lstStyle/>
          <a:p>
            <a:r>
              <a:rPr lang="en-US" sz="1400" dirty="0"/>
              <a:t>return a single </a:t>
            </a:r>
            <a:r>
              <a:rPr lang="en-US" sz="1400" dirty="0" err="1"/>
              <a:t>WebElement</a:t>
            </a:r>
            <a:r>
              <a:rPr lang="en-US" sz="1400" dirty="0"/>
              <a:t> object, </a:t>
            </a:r>
            <a:endParaRPr lang="tr-TR" sz="1400" dirty="0"/>
          </a:p>
          <a:p>
            <a:r>
              <a:rPr lang="en-US" sz="1400" dirty="0"/>
              <a:t>Representing</a:t>
            </a:r>
            <a:r>
              <a:rPr lang="tr-TR" sz="1400" dirty="0"/>
              <a:t> </a:t>
            </a:r>
            <a:r>
              <a:rPr lang="en-US" sz="1400" dirty="0"/>
              <a:t>the first element on the page that matches </a:t>
            </a:r>
            <a:r>
              <a:rPr lang="tr-TR" sz="1400" dirty="0" err="1"/>
              <a:t>the</a:t>
            </a:r>
            <a:r>
              <a:rPr lang="en-US" sz="1400" dirty="0"/>
              <a:t> query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94583" y="2299157"/>
            <a:ext cx="2231684" cy="648000"/>
          </a:xfrm>
        </p:spPr>
        <p:txBody>
          <a:bodyPr/>
          <a:lstStyle/>
          <a:p>
            <a:r>
              <a:rPr lang="tr-TR" dirty="0" err="1"/>
              <a:t>WebDriver</a:t>
            </a:r>
            <a:r>
              <a:rPr lang="tr-TR" dirty="0"/>
              <a:t> </a:t>
            </a:r>
            <a:r>
              <a:rPr lang="tr-TR" dirty="0" err="1"/>
              <a:t>object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8820" y="3115918"/>
            <a:ext cx="2794852" cy="1960531"/>
          </a:xfrm>
        </p:spPr>
        <p:txBody>
          <a:bodyPr/>
          <a:lstStyle/>
          <a:p>
            <a:r>
              <a:rPr lang="en-US" sz="1200" dirty="0" err="1"/>
              <a:t>find_element</a:t>
            </a:r>
            <a:r>
              <a:rPr lang="en-US" sz="1200" dirty="0"/>
              <a:t>_* and </a:t>
            </a:r>
            <a:r>
              <a:rPr lang="en-US" sz="1200" dirty="0" err="1"/>
              <a:t>find_elements</a:t>
            </a:r>
            <a:r>
              <a:rPr lang="en-US" sz="1200" dirty="0"/>
              <a:t>_* methods</a:t>
            </a:r>
            <a:endParaRPr lang="tr-TR" sz="1200" dirty="0"/>
          </a:p>
          <a:p>
            <a:r>
              <a:rPr lang="tr-TR" sz="1200" dirty="0" err="1"/>
              <a:t>both</a:t>
            </a:r>
            <a:r>
              <a:rPr lang="tr-TR" sz="1200" dirty="0"/>
              <a:t> </a:t>
            </a:r>
            <a:r>
              <a:rPr lang="tr-TR" sz="1200" dirty="0" err="1"/>
              <a:t>are</a:t>
            </a:r>
            <a:r>
              <a:rPr lang="tr-TR" sz="1200" dirty="0"/>
              <a:t> </a:t>
            </a:r>
            <a:r>
              <a:rPr lang="tr-TR" sz="1200" dirty="0" err="1"/>
              <a:t>WebDriver</a:t>
            </a:r>
            <a:r>
              <a:rPr lang="tr-TR" sz="1200" dirty="0"/>
              <a:t> </a:t>
            </a:r>
            <a:r>
              <a:rPr lang="tr-TR" sz="1200" dirty="0" err="1"/>
              <a:t>object’s</a:t>
            </a:r>
            <a:r>
              <a:rPr lang="tr-TR" sz="1200" dirty="0"/>
              <a:t> </a:t>
            </a:r>
            <a:r>
              <a:rPr lang="tr-TR" sz="1200" dirty="0" err="1"/>
              <a:t>methods</a:t>
            </a:r>
            <a:endParaRPr lang="tr-TR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38094" y="2298876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find_elements</a:t>
            </a:r>
            <a:r>
              <a:rPr lang="en-US" dirty="0"/>
              <a:t>_*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38215" y="3115573"/>
            <a:ext cx="2794502" cy="1960531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return a list of </a:t>
            </a:r>
            <a:r>
              <a:rPr lang="en-US" dirty="0" err="1"/>
              <a:t>WebElement</a:t>
            </a:r>
            <a:r>
              <a:rPr lang="en-US" dirty="0"/>
              <a:t>_* objects </a:t>
            </a:r>
            <a:endParaRPr lang="tr-TR" dirty="0"/>
          </a:p>
          <a:p>
            <a:r>
              <a:rPr lang="en-US" dirty="0"/>
              <a:t>for </a:t>
            </a:r>
            <a:r>
              <a:rPr lang="en-US" i="1" dirty="0"/>
              <a:t>every </a:t>
            </a:r>
            <a:r>
              <a:rPr lang="en-US" dirty="0"/>
              <a:t>matching element on</a:t>
            </a:r>
            <a:r>
              <a:rPr lang="tr-TR" dirty="0"/>
              <a:t> </a:t>
            </a:r>
            <a:r>
              <a:rPr lang="en-US" dirty="0"/>
              <a:t>the page</a:t>
            </a:r>
            <a:endParaRPr lang="tr-TR" sz="1400" dirty="0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9C609EAD-3C00-402D-8484-B04F48ACEAFE}"/>
              </a:ext>
            </a:extLst>
          </p:cNvPr>
          <p:cNvSpPr/>
          <p:nvPr/>
        </p:nvSpPr>
        <p:spPr>
          <a:xfrm>
            <a:off x="115471" y="5395453"/>
            <a:ext cx="873896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If no elements exist on the page that match</a:t>
            </a:r>
            <a:r>
              <a:rPr lang="tr-TR" sz="1600" dirty="0"/>
              <a:t> </a:t>
            </a:r>
            <a:r>
              <a:rPr lang="en-US" sz="1600" dirty="0"/>
              <a:t>what the method is looking for, the selenium </a:t>
            </a:r>
            <a:r>
              <a:rPr lang="en-US" sz="1600" dirty="0" err="1"/>
              <a:t>modüle</a:t>
            </a:r>
            <a:r>
              <a:rPr lang="tr-TR" sz="1600" dirty="0"/>
              <a:t> </a:t>
            </a:r>
            <a:r>
              <a:rPr lang="en-US" sz="1600" dirty="0"/>
              <a:t>raises a </a:t>
            </a:r>
            <a:r>
              <a:rPr lang="en-US" sz="1600" b="1" i="1" dirty="0" err="1"/>
              <a:t>NoSuchElement</a:t>
            </a:r>
            <a:r>
              <a:rPr lang="tr-TR" sz="1600" dirty="0"/>
              <a:t> </a:t>
            </a:r>
            <a:r>
              <a:rPr lang="en-US" sz="1600" dirty="0"/>
              <a:t>exception</a:t>
            </a:r>
          </a:p>
        </p:txBody>
      </p:sp>
    </p:spTree>
    <p:extLst>
      <p:ext uri="{BB962C8B-B14F-4D97-AF65-F5344CB8AC3E}">
        <p14:creationId xmlns:p14="http://schemas.microsoft.com/office/powerpoint/2010/main" val="19024929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75036911-CD7E-4DAC-AB69-95A5E0F75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3" y="1152000"/>
            <a:ext cx="7769974" cy="4680000"/>
          </a:xfrm>
          <a:prstGeom prst="rect">
            <a:avLst/>
          </a:prstGeom>
          <a:noFill/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4FA2B6DF-15A3-4656-B12A-49F8C423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3" y="432000"/>
            <a:ext cx="8254763" cy="432000"/>
          </a:xfrm>
        </p:spPr>
        <p:txBody>
          <a:bodyPr/>
          <a:lstStyle/>
          <a:p>
            <a:pPr algn="ctr"/>
            <a:r>
              <a:rPr lang="en-US" sz="2000" dirty="0"/>
              <a:t>Table 11-3: Selenium’s </a:t>
            </a:r>
            <a:r>
              <a:rPr lang="en-US" sz="2000" b="1" i="1" dirty="0"/>
              <a:t>WebDriver</a:t>
            </a:r>
            <a:r>
              <a:rPr lang="en-US" sz="2000" dirty="0"/>
              <a:t> Methods for Finding Elements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40435B76-E562-4534-8706-1885DB1D25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22277" y="6155190"/>
            <a:ext cx="324000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noProof="0" smtClean="0"/>
              <a:pPr>
                <a:spcAft>
                  <a:spcPts val="600"/>
                </a:spcAft>
              </a:pPr>
              <a:t>48</a:t>
            </a:fld>
            <a:endParaRPr lang="en-US" noProof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2DCA811-3438-40B7-8671-E8506A6ED6A4}"/>
              </a:ext>
            </a:extLst>
          </p:cNvPr>
          <p:cNvSpPr/>
          <p:nvPr/>
        </p:nvSpPr>
        <p:spPr>
          <a:xfrm>
            <a:off x="634189" y="5839670"/>
            <a:ext cx="81500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Except for the </a:t>
            </a:r>
            <a:r>
              <a:rPr lang="en-US" sz="1600" b="1" i="1" dirty="0"/>
              <a:t>*_</a:t>
            </a:r>
            <a:r>
              <a:rPr lang="en-US" sz="1600" b="1" i="1" dirty="0" err="1"/>
              <a:t>by_tag_name</a:t>
            </a:r>
            <a:r>
              <a:rPr lang="en-US" sz="1600" b="1" i="1" dirty="0"/>
              <a:t>() </a:t>
            </a:r>
            <a:r>
              <a:rPr lang="en-US" sz="1600" dirty="0"/>
              <a:t>methods, the arguments to all the</a:t>
            </a:r>
            <a:r>
              <a:rPr lang="tr-TR" sz="1600" dirty="0"/>
              <a:t> </a:t>
            </a:r>
            <a:r>
              <a:rPr lang="en-US" sz="1600" dirty="0"/>
              <a:t>methods</a:t>
            </a:r>
            <a:r>
              <a:rPr lang="tr-TR" sz="1600" dirty="0"/>
              <a:t> </a:t>
            </a:r>
            <a:r>
              <a:rPr lang="en-US" sz="1600" dirty="0"/>
              <a:t>are </a:t>
            </a:r>
            <a:r>
              <a:rPr lang="en-US" sz="1600" u="sng" dirty="0"/>
              <a:t>case sensitive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2508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4FA2B6DF-15A3-4656-B12A-49F8C423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17" y="432000"/>
            <a:ext cx="8554331" cy="432000"/>
          </a:xfrm>
        </p:spPr>
        <p:txBody>
          <a:bodyPr/>
          <a:lstStyle/>
          <a:p>
            <a:pPr algn="ctr"/>
            <a:r>
              <a:rPr lang="en-US" sz="2000" dirty="0"/>
              <a:t>Table 11-4: </a:t>
            </a:r>
            <a:r>
              <a:rPr lang="en-US" sz="2000" b="1" i="1" dirty="0" err="1"/>
              <a:t>WebElement</a:t>
            </a:r>
            <a:r>
              <a:rPr lang="en-US" sz="2000" dirty="0"/>
              <a:t> Attributes and Methods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40435B76-E562-4534-8706-1885DB1D25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22277" y="6155190"/>
            <a:ext cx="324000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noProof="0" smtClean="0"/>
              <a:pPr>
                <a:spcAft>
                  <a:spcPts val="600"/>
                </a:spcAft>
              </a:pPr>
              <a:t>49</a:t>
            </a:fld>
            <a:endParaRPr lang="en-US" noProof="0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02DCA811-3438-40B7-8671-E8506A6ED6A4}"/>
              </a:ext>
            </a:extLst>
          </p:cNvPr>
          <p:cNvSpPr/>
          <p:nvPr/>
        </p:nvSpPr>
        <p:spPr>
          <a:xfrm>
            <a:off x="472189" y="5691671"/>
            <a:ext cx="81500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Once you have the </a:t>
            </a:r>
            <a:r>
              <a:rPr lang="en-US" sz="1400" b="1" dirty="0" err="1"/>
              <a:t>WebElement</a:t>
            </a:r>
            <a:r>
              <a:rPr lang="en-US" sz="1400" dirty="0"/>
              <a:t> object, you can find out more about it by</a:t>
            </a:r>
            <a:r>
              <a:rPr lang="tr-TR" sz="1400" dirty="0"/>
              <a:t> </a:t>
            </a:r>
            <a:r>
              <a:rPr lang="en-US" sz="1400" dirty="0"/>
              <a:t>reading the attributes or calling the methods in Table 11-4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4883997-456B-4F41-9BA7-15A70312D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17" y="1302025"/>
            <a:ext cx="8554331" cy="424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829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en-US" b="1" dirty="0" err="1"/>
              <a:t>browser</a:t>
            </a:r>
            <a:r>
              <a:rPr lang="en-US" b="1" i="1" dirty="0" err="1"/>
              <a:t>.find_element_by_class_name</a:t>
            </a:r>
            <a:r>
              <a:rPr lang="en-US" b="1" i="1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8478" y="976327"/>
            <a:ext cx="8630752" cy="4967273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</a:t>
            </a:r>
            <a:r>
              <a:rPr lang="tr-TR" sz="1400" dirty="0" err="1"/>
              <a:t>Launch</a:t>
            </a:r>
            <a:r>
              <a:rPr lang="tr-TR" sz="1400" dirty="0"/>
              <a:t> a </a:t>
            </a:r>
            <a:r>
              <a:rPr lang="tr-TR" sz="1400" dirty="0" err="1"/>
              <a:t>page</a:t>
            </a:r>
            <a:r>
              <a:rPr lang="tr-TR" sz="1400" dirty="0"/>
              <a:t> link </a:t>
            </a:r>
            <a:r>
              <a:rPr lang="tr-TR" sz="1400" dirty="0" err="1"/>
              <a:t>using</a:t>
            </a:r>
            <a:r>
              <a:rPr lang="tr-TR" sz="1400" dirty="0"/>
              <a:t> </a:t>
            </a:r>
            <a:r>
              <a:rPr lang="tr-TR" sz="1400" dirty="0" err="1"/>
              <a:t>Firefox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find</a:t>
            </a:r>
            <a:r>
              <a:rPr lang="tr-TR" sz="1400" dirty="0"/>
              <a:t> an element. </a:t>
            </a:r>
            <a:r>
              <a:rPr lang="tr-TR" sz="1400" dirty="0" err="1"/>
              <a:t>Notice</a:t>
            </a:r>
            <a:r>
              <a:rPr lang="tr-TR" sz="1400" dirty="0"/>
              <a:t>, </a:t>
            </a:r>
            <a:r>
              <a:rPr lang="tr-TR" sz="1400" dirty="0" err="1"/>
              <a:t>Firefox</a:t>
            </a:r>
            <a:r>
              <a:rPr lang="tr-TR" sz="1400" dirty="0"/>
              <a:t> </a:t>
            </a:r>
            <a:r>
              <a:rPr lang="tr-TR" sz="1400" dirty="0" err="1"/>
              <a:t>should</a:t>
            </a:r>
            <a:r>
              <a:rPr lang="tr-TR" sz="1400" dirty="0"/>
              <a:t> be </a:t>
            </a:r>
            <a:r>
              <a:rPr lang="tr-TR" sz="1400" dirty="0" err="1"/>
              <a:t>installed</a:t>
            </a:r>
            <a:r>
              <a:rPr lang="tr-TR" sz="1400" dirty="0"/>
              <a:t>!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</a:t>
            </a:r>
            <a:r>
              <a:rPr lang="tr-TR" sz="1400" dirty="0" err="1"/>
              <a:t>launchToFindElement</a:t>
            </a:r>
            <a:r>
              <a:rPr lang="tr-TR" sz="1400" dirty="0"/>
              <a:t>(</a:t>
            </a:r>
            <a:r>
              <a:rPr lang="tr-TR" sz="1400" dirty="0" err="1"/>
              <a:t>siteLink</a:t>
            </a:r>
            <a:r>
              <a:rPr lang="tr-TR" sz="1400" dirty="0"/>
              <a:t>, </a:t>
            </a:r>
            <a:r>
              <a:rPr lang="tr-TR" sz="1400" dirty="0" err="1"/>
              <a:t>txt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selenium</a:t>
            </a:r>
            <a:r>
              <a:rPr lang="tr-TR" sz="1400" dirty="0"/>
              <a:t> </a:t>
            </a:r>
            <a:r>
              <a:rPr lang="tr-TR" sz="1400" dirty="0" err="1"/>
              <a:t>import</a:t>
            </a:r>
            <a:r>
              <a:rPr lang="tr-TR" sz="1400" dirty="0"/>
              <a:t> </a:t>
            </a:r>
            <a:r>
              <a:rPr lang="tr-TR" sz="1400" dirty="0" err="1"/>
              <a:t>webdriver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browser = </a:t>
            </a:r>
            <a:r>
              <a:rPr lang="tr-TR" sz="1400" dirty="0" err="1"/>
              <a:t>webdriver.Firefox</a:t>
            </a:r>
            <a:r>
              <a:rPr lang="tr-TR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elem = </a:t>
            </a:r>
            <a:r>
              <a:rPr lang="tr-TR" sz="1400" dirty="0" err="1"/>
              <a:t>browser.find_element_by_class_name</a:t>
            </a:r>
            <a:r>
              <a:rPr lang="tr-TR" sz="1400" dirty="0"/>
              <a:t>(</a:t>
            </a:r>
            <a:r>
              <a:rPr lang="tr-TR" sz="1400" dirty="0" err="1"/>
              <a:t>txt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Found</a:t>
            </a:r>
            <a:r>
              <a:rPr lang="tr-TR" sz="1400" dirty="0"/>
              <a:t> &lt;%s&gt; element </a:t>
            </a:r>
            <a:r>
              <a:rPr lang="tr-TR" sz="1400" dirty="0" err="1"/>
              <a:t>with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dirty="0" err="1"/>
              <a:t>class</a:t>
            </a:r>
            <a:r>
              <a:rPr lang="tr-TR" sz="1400" dirty="0"/>
              <a:t> name!' % (</a:t>
            </a:r>
            <a:r>
              <a:rPr lang="tr-TR" sz="1400" dirty="0" err="1"/>
              <a:t>elem.tag_name</a:t>
            </a:r>
            <a:r>
              <a:rPr lang="tr-TR" sz="1400" dirty="0"/>
              <a:t>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Was</a:t>
            </a:r>
            <a:r>
              <a:rPr lang="tr-TR" sz="1400" dirty="0"/>
              <a:t> not </a:t>
            </a:r>
            <a:r>
              <a:rPr lang="tr-TR" sz="1400" dirty="0" err="1"/>
              <a:t>able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find</a:t>
            </a:r>
            <a:r>
              <a:rPr lang="tr-TR" sz="1400" dirty="0"/>
              <a:t> an element </a:t>
            </a:r>
            <a:r>
              <a:rPr lang="tr-TR" sz="1400" dirty="0" err="1"/>
              <a:t>with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name.')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*******************</a:t>
            </a:r>
            <a:r>
              <a:rPr lang="tr-TR" sz="1400" dirty="0" err="1"/>
              <a:t>launchToFindElement</a:t>
            </a:r>
            <a:r>
              <a:rPr lang="tr-TR" sz="1400" dirty="0"/>
              <a:t>******************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launch</a:t>
            </a:r>
            <a:r>
              <a:rPr lang="tr-TR" sz="1400" dirty="0"/>
              <a:t> a web </a:t>
            </a:r>
            <a:r>
              <a:rPr lang="tr-TR" sz="1400" dirty="0" err="1"/>
              <a:t>page</a:t>
            </a:r>
            <a:r>
              <a:rPr lang="tr-TR" sz="1400" dirty="0"/>
              <a:t> </a:t>
            </a:r>
            <a:r>
              <a:rPr lang="tr-TR" sz="1400" dirty="0" err="1"/>
              <a:t>using</a:t>
            </a:r>
            <a:r>
              <a:rPr lang="tr-TR" sz="1400" dirty="0"/>
              <a:t> </a:t>
            </a:r>
            <a:r>
              <a:rPr lang="tr-TR" sz="1400" dirty="0" err="1"/>
              <a:t>selenium</a:t>
            </a:r>
            <a:r>
              <a:rPr lang="tr-TR" sz="1400" dirty="0"/>
              <a:t>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Firefox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find</a:t>
            </a:r>
            <a:r>
              <a:rPr lang="tr-TR" sz="1400" dirty="0"/>
              <a:t> an element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link = 'http://inventwithpython.com'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element="</a:t>
            </a:r>
            <a:r>
              <a:rPr lang="tr-TR" sz="1400" dirty="0" err="1"/>
              <a:t>bookcover</a:t>
            </a:r>
            <a:r>
              <a:rPr lang="tr-TR" sz="1400" dirty="0"/>
              <a:t>"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launchToFindElement</a:t>
            </a:r>
            <a:r>
              <a:rPr lang="tr-TR" sz="1400" dirty="0"/>
              <a:t>(</a:t>
            </a:r>
            <a:r>
              <a:rPr lang="tr-TR" sz="1400" dirty="0" err="1"/>
              <a:t>link,element</a:t>
            </a:r>
            <a:r>
              <a:rPr lang="tr-TR" sz="1400" dirty="0"/>
              <a:t>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C4E60-6D84-499B-8598-25637CA8D1AE}"/>
              </a:ext>
            </a:extLst>
          </p:cNvPr>
          <p:cNvSpPr txBox="1"/>
          <p:nvPr/>
        </p:nvSpPr>
        <p:spPr>
          <a:xfrm>
            <a:off x="5877611" y="1265340"/>
            <a:ext cx="29853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open Firefox</a:t>
            </a:r>
            <a:endParaRPr lang="tr-TR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3077B-22E0-47D3-BB26-642353D733B9}"/>
              </a:ext>
            </a:extLst>
          </p:cNvPr>
          <p:cNvSpPr txBox="1"/>
          <p:nvPr/>
        </p:nvSpPr>
        <p:spPr>
          <a:xfrm>
            <a:off x="5877611" y="1693742"/>
            <a:ext cx="29853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direct it to a URL</a:t>
            </a:r>
            <a:endParaRPr lang="tr-TR" sz="1600" dirty="0"/>
          </a:p>
          <a:p>
            <a:r>
              <a:rPr lang="en-US" sz="1600" dirty="0"/>
              <a:t>try to find</a:t>
            </a:r>
            <a:r>
              <a:rPr lang="tr-TR" sz="1600" dirty="0"/>
              <a:t> </a:t>
            </a:r>
            <a:r>
              <a:rPr lang="en-US" sz="1600" dirty="0"/>
              <a:t>elements with the class name </a:t>
            </a:r>
            <a:r>
              <a:rPr lang="en-US" sz="1600" b="1" dirty="0"/>
              <a:t>'</a:t>
            </a:r>
            <a:r>
              <a:rPr lang="en-US" sz="1600" b="1" dirty="0" err="1"/>
              <a:t>bookcover</a:t>
            </a:r>
            <a:r>
              <a:rPr lang="en-US" sz="1600" dirty="0"/>
              <a:t>’,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ECE2CD-CE9C-4DA4-BBAB-82BBB791E126}"/>
              </a:ext>
            </a:extLst>
          </p:cNvPr>
          <p:cNvSpPr txBox="1"/>
          <p:nvPr/>
        </p:nvSpPr>
        <p:spPr>
          <a:xfrm>
            <a:off x="5877611" y="3053722"/>
            <a:ext cx="30016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element </a:t>
            </a:r>
            <a:r>
              <a:rPr lang="tr-TR" sz="1600"/>
              <a:t>is not </a:t>
            </a:r>
            <a:r>
              <a:rPr lang="en-US" sz="1600" dirty="0"/>
              <a:t>found</a:t>
            </a:r>
            <a:endParaRPr lang="tr-TR" sz="1600" dirty="0"/>
          </a:p>
          <a:p>
            <a:r>
              <a:rPr lang="tr-TR" sz="1600" dirty="0" err="1"/>
              <a:t>so</a:t>
            </a:r>
            <a:r>
              <a:rPr lang="en-US" sz="1600" dirty="0"/>
              <a:t> print a different message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9755A-7F7D-4716-851F-34EC1CAD20E1}"/>
              </a:ext>
            </a:extLst>
          </p:cNvPr>
          <p:cNvSpPr txBox="1"/>
          <p:nvPr/>
        </p:nvSpPr>
        <p:spPr>
          <a:xfrm>
            <a:off x="5877611" y="2458762"/>
            <a:ext cx="29853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print its tag name using the </a:t>
            </a:r>
            <a:r>
              <a:rPr lang="en-US" sz="1600" dirty="0" err="1"/>
              <a:t>tag_name</a:t>
            </a:r>
            <a:r>
              <a:rPr lang="en-US" sz="1600" dirty="0"/>
              <a:t> attribute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245D74E9-C596-49C0-87B5-3DB258E166F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266390" y="1434617"/>
            <a:ext cx="2611221" cy="50351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02D673F7-A54E-4EEF-9739-3B17445E034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452730" y="2109241"/>
            <a:ext cx="1424881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BC6E4A5D-C9CC-4259-9A73-33705645E24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4979504" y="2524739"/>
            <a:ext cx="898107" cy="22641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69809EFB-2110-4542-A557-40F2984BD83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820478" y="2983043"/>
            <a:ext cx="1057133" cy="36306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9994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Clicking the Page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b="1" i="1" dirty="0" err="1"/>
              <a:t>WebElement</a:t>
            </a:r>
            <a:r>
              <a:rPr lang="en-US" dirty="0"/>
              <a:t> objects returned from the </a:t>
            </a:r>
            <a:r>
              <a:rPr lang="en-US" b="1" i="1" dirty="0" err="1"/>
              <a:t>find_element</a:t>
            </a:r>
            <a:r>
              <a:rPr lang="en-US" b="1" i="1" dirty="0"/>
              <a:t>_* </a:t>
            </a:r>
            <a:r>
              <a:rPr lang="en-US" dirty="0"/>
              <a:t>and </a:t>
            </a:r>
            <a:r>
              <a:rPr lang="en-US" b="1" i="1" dirty="0" err="1"/>
              <a:t>find_elements</a:t>
            </a:r>
            <a:r>
              <a:rPr lang="en-US" b="1" i="1" dirty="0"/>
              <a:t>_*</a:t>
            </a:r>
            <a:r>
              <a:rPr lang="tr-TR" b="1" i="1" dirty="0"/>
              <a:t> </a:t>
            </a:r>
            <a:r>
              <a:rPr lang="en-US" dirty="0"/>
              <a:t>methods</a:t>
            </a:r>
            <a:r>
              <a:rPr lang="tr-TR" dirty="0"/>
              <a:t> </a:t>
            </a:r>
            <a:r>
              <a:rPr lang="en-US" dirty="0"/>
              <a:t>have a </a:t>
            </a:r>
            <a:r>
              <a:rPr lang="en-US" b="1" i="1" dirty="0"/>
              <a:t>click() </a:t>
            </a:r>
            <a:r>
              <a:rPr lang="en-US" dirty="0"/>
              <a:t>method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9023" y="2255861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 </a:t>
            </a:r>
            <a:r>
              <a:rPr lang="tr-TR" b="1" i="1" dirty="0" err="1">
                <a:latin typeface="+mn-lt"/>
              </a:rPr>
              <a:t>click</a:t>
            </a:r>
            <a:r>
              <a:rPr lang="tr-TR" b="1" i="1" dirty="0">
                <a:latin typeface="+mn-lt"/>
              </a:rPr>
              <a:t>()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144" y="3072557"/>
            <a:ext cx="2636037" cy="2373649"/>
          </a:xfrm>
        </p:spPr>
        <p:txBody>
          <a:bodyPr/>
          <a:lstStyle/>
          <a:p>
            <a:r>
              <a:rPr lang="en-US" sz="1400" dirty="0"/>
              <a:t>method simulates a mouse click </a:t>
            </a:r>
            <a:endParaRPr lang="tr-TR" sz="1400" dirty="0"/>
          </a:p>
          <a:p>
            <a:r>
              <a:rPr lang="en-US" sz="1400" dirty="0"/>
              <a:t>on that element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94583" y="2299157"/>
            <a:ext cx="2231684" cy="648000"/>
          </a:xfrm>
        </p:spPr>
        <p:txBody>
          <a:bodyPr/>
          <a:lstStyle/>
          <a:p>
            <a:r>
              <a:rPr lang="tr-TR" dirty="0" err="1"/>
              <a:t>examples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8820" y="3115918"/>
            <a:ext cx="2423457" cy="2330288"/>
          </a:xfrm>
        </p:spPr>
        <p:txBody>
          <a:bodyPr/>
          <a:lstStyle/>
          <a:p>
            <a:r>
              <a:rPr lang="en-US" sz="1600" dirty="0"/>
              <a:t>to </a:t>
            </a:r>
            <a:r>
              <a:rPr lang="en-US" sz="1600" i="1" dirty="0"/>
              <a:t>follow a link </a:t>
            </a:r>
            <a:endParaRPr lang="tr-TR" sz="1600" i="1" dirty="0"/>
          </a:p>
          <a:p>
            <a:r>
              <a:rPr lang="tr-TR" sz="1600" dirty="0" err="1"/>
              <a:t>to</a:t>
            </a:r>
            <a:r>
              <a:rPr lang="tr-TR" sz="1600" dirty="0"/>
              <a:t> </a:t>
            </a:r>
            <a:r>
              <a:rPr lang="en-US" sz="1600" dirty="0"/>
              <a:t>make a </a:t>
            </a:r>
            <a:r>
              <a:rPr lang="en-US" sz="1600" i="1" dirty="0"/>
              <a:t>selection</a:t>
            </a:r>
            <a:r>
              <a:rPr lang="en-US" sz="1600" dirty="0"/>
              <a:t> on a radio</a:t>
            </a:r>
            <a:r>
              <a:rPr lang="tr-TR" sz="1600" dirty="0"/>
              <a:t> </a:t>
            </a:r>
            <a:r>
              <a:rPr lang="en-US" sz="1600" dirty="0"/>
              <a:t>button</a:t>
            </a:r>
            <a:endParaRPr lang="tr-TR" sz="1600" dirty="0"/>
          </a:p>
          <a:p>
            <a:r>
              <a:rPr lang="tr-TR" sz="1600" dirty="0" err="1"/>
              <a:t>to</a:t>
            </a:r>
            <a:r>
              <a:rPr lang="tr-TR" sz="1600" dirty="0"/>
              <a:t> </a:t>
            </a:r>
            <a:r>
              <a:rPr lang="en-US" sz="1600" dirty="0"/>
              <a:t>click a </a:t>
            </a:r>
            <a:r>
              <a:rPr lang="en-US" sz="1600" i="1" dirty="0"/>
              <a:t>Submit</a:t>
            </a:r>
            <a:r>
              <a:rPr lang="en-US" sz="1600" dirty="0"/>
              <a:t> button</a:t>
            </a:r>
            <a:endParaRPr lang="tr-TR" sz="1600" dirty="0"/>
          </a:p>
          <a:p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38094" y="2298876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 err="1"/>
              <a:t>usage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38215" y="3115573"/>
            <a:ext cx="2535811" cy="2373649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method</a:t>
            </a:r>
            <a:endParaRPr lang="tr-TR" sz="1400" dirty="0"/>
          </a:p>
          <a:p>
            <a:r>
              <a:rPr lang="en-US" sz="1400" dirty="0"/>
              <a:t>trigger</a:t>
            </a:r>
            <a:r>
              <a:rPr lang="tr-TR" sz="1400" dirty="0"/>
              <a:t>s</a:t>
            </a:r>
            <a:r>
              <a:rPr lang="en-US" sz="1400" dirty="0"/>
              <a:t> whatever might happen</a:t>
            </a:r>
            <a:endParaRPr lang="tr-TR" sz="1400" dirty="0"/>
          </a:p>
          <a:p>
            <a:r>
              <a:rPr lang="en-US" sz="1400" dirty="0"/>
              <a:t>when</a:t>
            </a:r>
            <a:r>
              <a:rPr lang="tr-TR" sz="1400" dirty="0"/>
              <a:t> </a:t>
            </a:r>
            <a:r>
              <a:rPr lang="en-US" sz="1400" dirty="0"/>
              <a:t>the element is clicked by the mouse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907079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Click</a:t>
            </a:r>
            <a:r>
              <a:rPr lang="tr-TR" dirty="0"/>
              <a:t> on an element </a:t>
            </a:r>
            <a:r>
              <a:rPr lang="tr-TR" dirty="0" err="1"/>
              <a:t>using</a:t>
            </a:r>
            <a:r>
              <a:rPr lang="tr-TR" dirty="0"/>
              <a:t>: </a:t>
            </a:r>
            <a:r>
              <a:rPr lang="tr-TR" dirty="0" err="1"/>
              <a:t>click</a:t>
            </a:r>
            <a:r>
              <a:rPr lang="tr-TR" dirty="0"/>
              <a:t>() </a:t>
            </a:r>
            <a:r>
              <a:rPr lang="tr-TR" dirty="0" err="1"/>
              <a:t>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6895" y="874643"/>
            <a:ext cx="8115381" cy="5280547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</a:t>
            </a:r>
            <a:r>
              <a:rPr lang="tr-TR" sz="1400" dirty="0" err="1"/>
              <a:t>Launch</a:t>
            </a:r>
            <a:r>
              <a:rPr lang="tr-TR" sz="1400" dirty="0"/>
              <a:t> a </a:t>
            </a:r>
            <a:r>
              <a:rPr lang="tr-TR" sz="1400" dirty="0" err="1"/>
              <a:t>page</a:t>
            </a:r>
            <a:r>
              <a:rPr lang="tr-TR" sz="1400" dirty="0"/>
              <a:t> link </a:t>
            </a:r>
            <a:r>
              <a:rPr lang="tr-TR" sz="1400" dirty="0" err="1"/>
              <a:t>using</a:t>
            </a:r>
            <a:r>
              <a:rPr lang="tr-TR" sz="1400" dirty="0"/>
              <a:t> </a:t>
            </a:r>
            <a:r>
              <a:rPr lang="tr-TR" sz="1400" dirty="0" err="1"/>
              <a:t>Firefox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find</a:t>
            </a:r>
            <a:r>
              <a:rPr lang="tr-TR" sz="1400" dirty="0"/>
              <a:t>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click</a:t>
            </a:r>
            <a:r>
              <a:rPr lang="tr-TR" sz="1400" dirty="0"/>
              <a:t> an element. </a:t>
            </a:r>
            <a:r>
              <a:rPr lang="tr-TR" sz="1400" dirty="0" err="1"/>
              <a:t>Notice</a:t>
            </a:r>
            <a:r>
              <a:rPr lang="tr-TR" sz="1400" dirty="0"/>
              <a:t>, </a:t>
            </a:r>
            <a:r>
              <a:rPr lang="tr-TR" sz="1400" dirty="0" err="1"/>
              <a:t>Firefox</a:t>
            </a:r>
            <a:r>
              <a:rPr lang="tr-TR" sz="1400" dirty="0"/>
              <a:t> </a:t>
            </a:r>
            <a:r>
              <a:rPr lang="tr-TR" sz="1400" dirty="0" err="1"/>
              <a:t>should</a:t>
            </a:r>
            <a:r>
              <a:rPr lang="tr-TR" sz="1400" dirty="0"/>
              <a:t> be </a:t>
            </a:r>
            <a:r>
              <a:rPr lang="tr-TR" sz="1400" dirty="0" err="1"/>
              <a:t>installed</a:t>
            </a:r>
            <a:r>
              <a:rPr lang="tr-TR" sz="1400" dirty="0"/>
              <a:t>!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</a:t>
            </a:r>
            <a:r>
              <a:rPr lang="tr-TR" sz="1400" dirty="0" err="1"/>
              <a:t>clickElement</a:t>
            </a:r>
            <a:r>
              <a:rPr lang="tr-TR" sz="1400" dirty="0"/>
              <a:t>(</a:t>
            </a:r>
            <a:r>
              <a:rPr lang="tr-TR" sz="1400" dirty="0" err="1"/>
              <a:t>siteLink,element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selenium</a:t>
            </a:r>
            <a:r>
              <a:rPr lang="tr-TR" sz="1400" dirty="0"/>
              <a:t> </a:t>
            </a:r>
            <a:r>
              <a:rPr lang="tr-TR" sz="1400" dirty="0" err="1"/>
              <a:t>import</a:t>
            </a:r>
            <a:r>
              <a:rPr lang="tr-TR" sz="1400" dirty="0"/>
              <a:t> </a:t>
            </a:r>
            <a:r>
              <a:rPr lang="tr-TR" sz="1400" dirty="0" err="1"/>
              <a:t>webdriver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browser = </a:t>
            </a:r>
            <a:r>
              <a:rPr lang="tr-TR" sz="1400" dirty="0" err="1"/>
              <a:t>webdriver.Firefox</a:t>
            </a:r>
            <a:r>
              <a:rPr lang="tr-TR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browser.get</a:t>
            </a:r>
            <a:r>
              <a:rPr lang="tr-TR" sz="1400" dirty="0"/>
              <a:t>(</a:t>
            </a:r>
            <a:r>
              <a:rPr lang="tr-TR" sz="1400" dirty="0" err="1"/>
              <a:t>siteLink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linkElem</a:t>
            </a:r>
            <a:r>
              <a:rPr lang="tr-TR" sz="1400" dirty="0"/>
              <a:t> = </a:t>
            </a:r>
            <a:r>
              <a:rPr lang="tr-TR" sz="1400" dirty="0" err="1"/>
              <a:t>browser.find_element_by_link_text</a:t>
            </a:r>
            <a:r>
              <a:rPr lang="tr-TR" sz="1400" dirty="0"/>
              <a:t>(element)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</a:t>
            </a:r>
            <a:r>
              <a:rPr lang="tr-TR" sz="1400" dirty="0" err="1"/>
              <a:t>linkElem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linkElem.click</a:t>
            </a:r>
            <a:r>
              <a:rPr lang="tr-TR" sz="1400" dirty="0"/>
              <a:t>() # </a:t>
            </a:r>
            <a:r>
              <a:rPr lang="tr-TR" sz="1400" dirty="0" err="1"/>
              <a:t>follows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"Read </a:t>
            </a:r>
            <a:r>
              <a:rPr lang="tr-TR" sz="1400" dirty="0" err="1"/>
              <a:t>It</a:t>
            </a:r>
            <a:r>
              <a:rPr lang="tr-TR" sz="1400" dirty="0"/>
              <a:t> Online" link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Was</a:t>
            </a:r>
            <a:r>
              <a:rPr lang="tr-TR" sz="1400" dirty="0"/>
              <a:t> not </a:t>
            </a:r>
            <a:r>
              <a:rPr lang="tr-TR" sz="1400" dirty="0" err="1"/>
              <a:t>able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find</a:t>
            </a:r>
            <a:r>
              <a:rPr lang="tr-TR" sz="1400" dirty="0"/>
              <a:t> an element </a:t>
            </a:r>
            <a:r>
              <a:rPr lang="tr-TR" sz="1400" dirty="0" err="1"/>
              <a:t>with</a:t>
            </a:r>
            <a:r>
              <a:rPr lang="tr-TR" sz="1400" dirty="0"/>
              <a:t> </a:t>
            </a:r>
            <a:r>
              <a:rPr lang="tr-TR" sz="1400" dirty="0" err="1"/>
              <a:t>that</a:t>
            </a:r>
            <a:r>
              <a:rPr lang="tr-TR" sz="1400" dirty="0"/>
              <a:t> name.')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*******</a:t>
            </a:r>
            <a:r>
              <a:rPr lang="tr-TR" sz="1400" dirty="0" err="1"/>
              <a:t>clickElement</a:t>
            </a:r>
            <a:r>
              <a:rPr lang="tr-TR" sz="1400" dirty="0"/>
              <a:t>(</a:t>
            </a:r>
            <a:r>
              <a:rPr lang="tr-TR" sz="1400" dirty="0" err="1"/>
              <a:t>siteLink,element</a:t>
            </a:r>
            <a:r>
              <a:rPr lang="tr-TR" sz="1400" dirty="0"/>
              <a:t>)*******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find</a:t>
            </a:r>
            <a:r>
              <a:rPr lang="tr-TR" sz="1400" dirty="0"/>
              <a:t> an element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click</a:t>
            </a:r>
            <a:r>
              <a:rPr lang="tr-TR" sz="1400" dirty="0"/>
              <a:t> it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link = 'http://inventwithpython.com'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element = 'Read </a:t>
            </a:r>
            <a:r>
              <a:rPr lang="tr-TR" sz="1400" dirty="0" err="1"/>
              <a:t>It</a:t>
            </a:r>
            <a:r>
              <a:rPr lang="tr-TR" sz="1400" dirty="0"/>
              <a:t> Online'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clickElement</a:t>
            </a:r>
            <a:r>
              <a:rPr lang="tr-TR" sz="1400" dirty="0"/>
              <a:t>(link, element)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3797BEDC-0F61-4F8A-98BD-B663D716BD29}"/>
              </a:ext>
            </a:extLst>
          </p:cNvPr>
          <p:cNvSpPr/>
          <p:nvPr/>
        </p:nvSpPr>
        <p:spPr>
          <a:xfrm>
            <a:off x="5240367" y="2828018"/>
            <a:ext cx="33967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It’s just like if you clicked the link yourself</a:t>
            </a:r>
            <a:endParaRPr lang="tr-TR" sz="1400" dirty="0"/>
          </a:p>
          <a:p>
            <a:r>
              <a:rPr lang="en-US" sz="1400" dirty="0"/>
              <a:t>the</a:t>
            </a:r>
            <a:r>
              <a:rPr lang="tr-TR" sz="1400" dirty="0"/>
              <a:t> </a:t>
            </a:r>
            <a:r>
              <a:rPr lang="en-US" sz="1400" dirty="0"/>
              <a:t>browser then follows that link.</a:t>
            </a:r>
            <a:endParaRPr lang="tr-TR" sz="1400" dirty="0">
              <a:latin typeface="Arial Narrow" panose="020B0606020202030204" pitchFamily="34" charset="0"/>
              <a:cs typeface="Arabic Typesetting" panose="020B0604020202020204" pitchFamily="66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DE75CD-F728-4FA3-9B41-88720D38BD49}"/>
              </a:ext>
            </a:extLst>
          </p:cNvPr>
          <p:cNvSpPr txBox="1"/>
          <p:nvPr/>
        </p:nvSpPr>
        <p:spPr>
          <a:xfrm>
            <a:off x="5255194" y="1351113"/>
            <a:ext cx="33819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opens Firefox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84DE7-00EA-4F9F-B529-ABDB1F8144BB}"/>
              </a:ext>
            </a:extLst>
          </p:cNvPr>
          <p:cNvSpPr txBox="1"/>
          <p:nvPr/>
        </p:nvSpPr>
        <p:spPr>
          <a:xfrm>
            <a:off x="5240366" y="1952390"/>
            <a:ext cx="35235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gets the </a:t>
            </a:r>
            <a:r>
              <a:rPr lang="en-US" sz="1600" b="1" dirty="0" err="1"/>
              <a:t>WebElement</a:t>
            </a:r>
            <a:r>
              <a:rPr lang="tr-TR" sz="1600" dirty="0"/>
              <a:t> </a:t>
            </a:r>
            <a:r>
              <a:rPr lang="en-US" sz="1600" dirty="0"/>
              <a:t>object for the </a:t>
            </a:r>
            <a:r>
              <a:rPr lang="en-US" sz="1600" b="1" i="1" dirty="0"/>
              <a:t>&lt;a&gt;</a:t>
            </a:r>
            <a:r>
              <a:rPr lang="en-US" sz="1600" dirty="0"/>
              <a:t> element with the text </a:t>
            </a:r>
            <a:r>
              <a:rPr lang="en-US" sz="1600" b="1" dirty="0"/>
              <a:t>Read It Online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53CDB-B497-4F9B-BCF8-A9F3F0AC83F9}"/>
              </a:ext>
            </a:extLst>
          </p:cNvPr>
          <p:cNvSpPr txBox="1"/>
          <p:nvPr/>
        </p:nvSpPr>
        <p:spPr>
          <a:xfrm>
            <a:off x="5240366" y="2506004"/>
            <a:ext cx="33967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simulates</a:t>
            </a:r>
            <a:r>
              <a:rPr lang="tr-TR" sz="1600" dirty="0"/>
              <a:t> </a:t>
            </a:r>
            <a:r>
              <a:rPr lang="en-US" sz="1600" dirty="0"/>
              <a:t>clicking that </a:t>
            </a:r>
            <a:r>
              <a:rPr lang="en-US" sz="1600" b="1" dirty="0"/>
              <a:t>&lt;a&gt;</a:t>
            </a:r>
            <a:r>
              <a:rPr lang="en-US" sz="1600" dirty="0"/>
              <a:t> element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E064B-F490-4195-8E17-58A409770EAE}"/>
              </a:ext>
            </a:extLst>
          </p:cNvPr>
          <p:cNvSpPr txBox="1"/>
          <p:nvPr/>
        </p:nvSpPr>
        <p:spPr>
          <a:xfrm>
            <a:off x="5240365" y="1644997"/>
            <a:ext cx="30811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linkClick r:id="rId4"/>
              </a:rPr>
              <a:t>http://inventwithpython.com/</a:t>
            </a:r>
            <a:endParaRPr lang="en-US" sz="1600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BDBCA31-0BCB-4099-ADE1-F23F42554C1D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299791" y="1520390"/>
            <a:ext cx="1955403" cy="34816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7755CABB-B7E8-4495-BFCD-34DD2E4A3381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314620" y="1814274"/>
            <a:ext cx="1925745" cy="22836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33C73994-216F-4719-8143-3A32F1BEAE76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999383" y="2244778"/>
            <a:ext cx="240983" cy="8462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75ADDBFF-0D5D-4A17-BDC0-3F646C98DC14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564585" y="2675281"/>
            <a:ext cx="675781" cy="3848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9263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en-US" dirty="0"/>
              <a:t>Filling Out and Submitting Forms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dirty="0"/>
              <a:t>Sending keystrokes to text fields on a web page is a matter of finding the </a:t>
            </a:r>
            <a:r>
              <a:rPr lang="en-US" b="1" dirty="0"/>
              <a:t>&lt;input&gt;</a:t>
            </a:r>
            <a:r>
              <a:rPr lang="tr-TR" b="1" dirty="0"/>
              <a:t> </a:t>
            </a:r>
            <a:r>
              <a:rPr lang="en-US" dirty="0"/>
              <a:t>or </a:t>
            </a:r>
            <a:r>
              <a:rPr lang="en-US" b="1" dirty="0"/>
              <a:t>&lt;</a:t>
            </a:r>
            <a:r>
              <a:rPr lang="en-US" b="1" dirty="0" err="1"/>
              <a:t>textarea</a:t>
            </a:r>
            <a:r>
              <a:rPr lang="en-US" b="1" dirty="0"/>
              <a:t>&gt; </a:t>
            </a:r>
            <a:r>
              <a:rPr lang="en-US" dirty="0"/>
              <a:t>element for that text field and then calling the </a:t>
            </a:r>
            <a:r>
              <a:rPr lang="en-US" b="1" i="1" dirty="0" err="1"/>
              <a:t>send_keys</a:t>
            </a:r>
            <a:r>
              <a:rPr lang="en-US" b="1" i="1" dirty="0"/>
              <a:t>()</a:t>
            </a:r>
            <a:r>
              <a:rPr lang="tr-TR" b="1" i="1" dirty="0"/>
              <a:t> </a:t>
            </a:r>
            <a:r>
              <a:rPr lang="en-US" dirty="0"/>
              <a:t>method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9023" y="2255861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find</a:t>
            </a:r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elements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144" y="3072557"/>
            <a:ext cx="2794502" cy="2333455"/>
          </a:xfrm>
        </p:spPr>
        <p:txBody>
          <a:bodyPr/>
          <a:lstStyle/>
          <a:p>
            <a:r>
              <a:rPr lang="en-US" sz="1400" dirty="0"/>
              <a:t>&lt;input&gt;</a:t>
            </a:r>
            <a:r>
              <a:rPr lang="tr-TR" sz="1400" dirty="0"/>
              <a:t> </a:t>
            </a:r>
            <a:r>
              <a:rPr lang="en-US" sz="1400" dirty="0"/>
              <a:t>or </a:t>
            </a:r>
            <a:endParaRPr lang="tr-TR" sz="1400" dirty="0"/>
          </a:p>
          <a:p>
            <a:r>
              <a:rPr lang="en-US" sz="1400" dirty="0"/>
              <a:t>&lt;</a:t>
            </a:r>
            <a:r>
              <a:rPr lang="en-US" sz="1400" dirty="0" err="1"/>
              <a:t>textarea</a:t>
            </a:r>
            <a:r>
              <a:rPr lang="en-US" sz="1400" dirty="0"/>
              <a:t>&gt;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94583" y="2299157"/>
            <a:ext cx="2231684" cy="648000"/>
          </a:xfrm>
        </p:spPr>
        <p:txBody>
          <a:bodyPr/>
          <a:lstStyle/>
          <a:p>
            <a:r>
              <a:rPr lang="tr-TR" dirty="0" err="1"/>
              <a:t>Launch</a:t>
            </a:r>
            <a:r>
              <a:rPr lang="tr-TR" dirty="0"/>
              <a:t> </a:t>
            </a:r>
            <a:r>
              <a:rPr lang="tr-TR" dirty="0" err="1"/>
              <a:t>page</a:t>
            </a:r>
            <a:endParaRPr lang="tr-T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8820" y="3115918"/>
            <a:ext cx="2794852" cy="2290094"/>
          </a:xfrm>
        </p:spPr>
        <p:txBody>
          <a:bodyPr/>
          <a:lstStyle/>
          <a:p>
            <a:r>
              <a:rPr lang="tr-TR" sz="1200" dirty="0"/>
              <a:t>First </a:t>
            </a:r>
            <a:r>
              <a:rPr lang="tr-TR" sz="1200" dirty="0" err="1"/>
              <a:t>launch</a:t>
            </a:r>
            <a:r>
              <a:rPr lang="tr-TR" sz="1200" dirty="0"/>
              <a:t> </a:t>
            </a:r>
            <a:r>
              <a:rPr lang="tr-TR" sz="1200" dirty="0" err="1"/>
              <a:t>the</a:t>
            </a:r>
            <a:r>
              <a:rPr lang="tr-TR" sz="1200" dirty="0"/>
              <a:t> </a:t>
            </a:r>
            <a:r>
              <a:rPr lang="tr-TR" sz="1200" dirty="0" err="1"/>
              <a:t>page</a:t>
            </a:r>
            <a:endParaRPr lang="tr-TR" sz="1200" dirty="0"/>
          </a:p>
          <a:p>
            <a:r>
              <a:rPr lang="tr-TR" sz="1200" dirty="0"/>
              <a:t>Using </a:t>
            </a:r>
            <a:r>
              <a:rPr lang="tr-TR" sz="1200" dirty="0" err="1"/>
              <a:t>Firefox</a:t>
            </a:r>
            <a:endParaRPr lang="tr-TR" sz="1200" dirty="0"/>
          </a:p>
          <a:p>
            <a:r>
              <a:rPr lang="tr-TR" sz="1200" dirty="0" err="1"/>
              <a:t>or</a:t>
            </a:r>
            <a:r>
              <a:rPr lang="tr-TR" sz="1200" dirty="0"/>
              <a:t> </a:t>
            </a:r>
            <a:r>
              <a:rPr lang="tr-TR" sz="1200" dirty="0" err="1"/>
              <a:t>other</a:t>
            </a:r>
            <a:r>
              <a:rPr lang="tr-TR" sz="1200" dirty="0"/>
              <a:t> </a:t>
            </a:r>
            <a:r>
              <a:rPr lang="tr-TR" sz="1200" dirty="0" err="1"/>
              <a:t>appropriate</a:t>
            </a:r>
            <a:r>
              <a:rPr lang="tr-TR" sz="1200" dirty="0"/>
              <a:t> browser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38094" y="2298876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 err="1"/>
              <a:t>send_keys</a:t>
            </a:r>
            <a:r>
              <a:rPr lang="en-US" b="1" i="1" dirty="0"/>
              <a:t>()</a:t>
            </a:r>
            <a:endParaRPr lang="tr-TR" b="1" i="1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38215" y="3115573"/>
            <a:ext cx="2794502" cy="2290439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calling the </a:t>
            </a:r>
            <a:r>
              <a:rPr lang="en-US" dirty="0" err="1"/>
              <a:t>send_keys</a:t>
            </a:r>
            <a:r>
              <a:rPr lang="en-US" dirty="0"/>
              <a:t>()</a:t>
            </a:r>
            <a:r>
              <a:rPr lang="tr-TR" dirty="0"/>
              <a:t> </a:t>
            </a:r>
            <a:r>
              <a:rPr lang="en-US" dirty="0"/>
              <a:t>method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676798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fill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fields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b="1" i="1" dirty="0" err="1"/>
              <a:t>send_keys</a:t>
            </a:r>
            <a:r>
              <a:rPr lang="tr-TR" b="1" i="1" dirty="0"/>
              <a:t>()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9895" y="737949"/>
            <a:ext cx="8115381" cy="5633034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</a:t>
            </a:r>
            <a:r>
              <a:rPr lang="tr-TR" sz="1400" dirty="0" err="1"/>
              <a:t>Launch</a:t>
            </a:r>
            <a:r>
              <a:rPr lang="tr-TR" sz="1400" dirty="0"/>
              <a:t> </a:t>
            </a:r>
            <a:r>
              <a:rPr lang="tr-TR" sz="1400" dirty="0" err="1"/>
              <a:t>email</a:t>
            </a:r>
            <a:r>
              <a:rPr lang="tr-TR" sz="1400" dirty="0"/>
              <a:t> </a:t>
            </a:r>
            <a:r>
              <a:rPr lang="tr-TR" sz="1400" dirty="0" err="1"/>
              <a:t>page</a:t>
            </a:r>
            <a:r>
              <a:rPr lang="tr-TR" sz="1400" dirty="0"/>
              <a:t>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fill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fields</a:t>
            </a:r>
            <a:r>
              <a:rPr lang="tr-TR" sz="1400" dirty="0"/>
              <a:t> </a:t>
            </a:r>
            <a:r>
              <a:rPr lang="tr-TR" sz="1400" dirty="0" err="1"/>
              <a:t>automatically</a:t>
            </a:r>
            <a:r>
              <a:rPr lang="tr-TR" sz="1400" dirty="0"/>
              <a:t>. </a:t>
            </a:r>
            <a:r>
              <a:rPr lang="tr-TR" sz="1400" dirty="0" err="1"/>
              <a:t>Notice</a:t>
            </a:r>
            <a:r>
              <a:rPr lang="tr-TR" sz="1400" dirty="0"/>
              <a:t>, </a:t>
            </a:r>
            <a:r>
              <a:rPr lang="tr-TR" sz="1400" dirty="0" err="1"/>
              <a:t>Firefox</a:t>
            </a:r>
            <a:r>
              <a:rPr lang="tr-TR" sz="1400" dirty="0"/>
              <a:t> </a:t>
            </a:r>
            <a:r>
              <a:rPr lang="tr-TR" sz="1400" dirty="0" err="1"/>
              <a:t>should</a:t>
            </a:r>
            <a:r>
              <a:rPr lang="tr-TR" sz="1400" dirty="0"/>
              <a:t> be </a:t>
            </a:r>
            <a:r>
              <a:rPr lang="tr-TR" sz="1400" dirty="0" err="1"/>
              <a:t>installed</a:t>
            </a:r>
            <a:r>
              <a:rPr lang="tr-TR" sz="1400" dirty="0"/>
              <a:t>!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</a:t>
            </a:r>
            <a:r>
              <a:rPr lang="tr-TR" sz="1400" dirty="0" err="1"/>
              <a:t>signinForEmail</a:t>
            </a:r>
            <a:r>
              <a:rPr lang="tr-TR" sz="1400" dirty="0"/>
              <a:t>(</a:t>
            </a:r>
            <a:r>
              <a:rPr lang="tr-TR" sz="1400" dirty="0" err="1"/>
              <a:t>emailLink,emailText</a:t>
            </a:r>
            <a:r>
              <a:rPr lang="tr-TR" sz="1400" dirty="0"/>
              <a:t>, </a:t>
            </a:r>
            <a:r>
              <a:rPr lang="tr-TR" sz="1400" dirty="0" err="1"/>
              <a:t>email</a:t>
            </a:r>
            <a:r>
              <a:rPr lang="tr-TR" sz="1400" dirty="0"/>
              <a:t>, </a:t>
            </a:r>
            <a:r>
              <a:rPr lang="tr-TR" sz="1400" dirty="0" err="1"/>
              <a:t>passTxt</a:t>
            </a:r>
            <a:r>
              <a:rPr lang="tr-TR" sz="1400" dirty="0"/>
              <a:t>, </a:t>
            </a:r>
            <a:r>
              <a:rPr lang="tr-TR" sz="1400" dirty="0" err="1"/>
              <a:t>password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selenium</a:t>
            </a:r>
            <a:r>
              <a:rPr lang="tr-TR" sz="1400" dirty="0"/>
              <a:t> </a:t>
            </a:r>
            <a:r>
              <a:rPr lang="tr-TR" sz="1400" dirty="0" err="1"/>
              <a:t>import</a:t>
            </a:r>
            <a:r>
              <a:rPr lang="tr-TR" sz="1400" dirty="0"/>
              <a:t> </a:t>
            </a:r>
            <a:r>
              <a:rPr lang="tr-TR" sz="1400" dirty="0" err="1"/>
              <a:t>webdriver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browser = </a:t>
            </a:r>
            <a:r>
              <a:rPr lang="tr-TR" sz="1400" dirty="0" err="1"/>
              <a:t>webdriver.Firefox</a:t>
            </a:r>
            <a:r>
              <a:rPr lang="tr-TR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browser.get</a:t>
            </a:r>
            <a:r>
              <a:rPr lang="tr-TR" sz="1400" dirty="0"/>
              <a:t>('http://gmail.com')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emailElem</a:t>
            </a:r>
            <a:r>
              <a:rPr lang="tr-TR" sz="1400" dirty="0"/>
              <a:t> = </a:t>
            </a:r>
            <a:r>
              <a:rPr lang="tr-TR" sz="1400" dirty="0" err="1"/>
              <a:t>browser.find_element_by_id</a:t>
            </a:r>
            <a:r>
              <a:rPr lang="tr-TR" sz="1400" dirty="0"/>
              <a:t>(</a:t>
            </a:r>
            <a:r>
              <a:rPr lang="tr-TR" sz="1400" dirty="0" err="1"/>
              <a:t>emailText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emailElem.send_keys</a:t>
            </a:r>
            <a:r>
              <a:rPr lang="tr-TR" sz="1400" dirty="0"/>
              <a:t>(</a:t>
            </a:r>
            <a:r>
              <a:rPr lang="tr-TR" sz="1400" dirty="0" err="1"/>
              <a:t>email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passwordElem</a:t>
            </a:r>
            <a:r>
              <a:rPr lang="tr-TR" sz="1400" dirty="0"/>
              <a:t> = </a:t>
            </a:r>
            <a:r>
              <a:rPr lang="tr-TR" sz="1400" dirty="0" err="1"/>
              <a:t>browser.find_element_by_id</a:t>
            </a:r>
            <a:r>
              <a:rPr lang="tr-TR" sz="1400" dirty="0"/>
              <a:t>(</a:t>
            </a:r>
            <a:r>
              <a:rPr lang="tr-TR" sz="1400" dirty="0" err="1"/>
              <a:t>passTxt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passwordElem.send_keys</a:t>
            </a:r>
            <a:r>
              <a:rPr lang="tr-TR" sz="1400" dirty="0"/>
              <a:t>(</a:t>
            </a:r>
            <a:r>
              <a:rPr lang="tr-TR" sz="1400" dirty="0" err="1"/>
              <a:t>password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passwordElem.submit</a:t>
            </a:r>
            <a:r>
              <a:rPr lang="tr-TR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Ops</a:t>
            </a:r>
            <a:r>
              <a:rPr lang="tr-TR" sz="1400" dirty="0"/>
              <a:t>, </a:t>
            </a:r>
            <a:r>
              <a:rPr lang="tr-TR" sz="1400" dirty="0" err="1"/>
              <a:t>something</a:t>
            </a:r>
            <a:r>
              <a:rPr lang="tr-TR" sz="1400" dirty="0"/>
              <a:t> is </a:t>
            </a:r>
            <a:r>
              <a:rPr lang="tr-TR" sz="1400" dirty="0" err="1"/>
              <a:t>wrong</a:t>
            </a:r>
            <a:r>
              <a:rPr lang="tr-TR" sz="1400" dirty="0"/>
              <a:t>, </a:t>
            </a:r>
            <a:r>
              <a:rPr lang="tr-TR" sz="1400" dirty="0" err="1"/>
              <a:t>cannot</a:t>
            </a:r>
            <a:r>
              <a:rPr lang="tr-TR" sz="1400" dirty="0"/>
              <a:t> </a:t>
            </a:r>
            <a:r>
              <a:rPr lang="tr-TR" sz="1400" dirty="0" err="1"/>
              <a:t>fill</a:t>
            </a:r>
            <a:r>
              <a:rPr lang="tr-TR" sz="1400" dirty="0"/>
              <a:t> in!')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******</a:t>
            </a:r>
            <a:r>
              <a:rPr lang="tr-TR" sz="1400" dirty="0" err="1"/>
              <a:t>signinForEmail</a:t>
            </a:r>
            <a:r>
              <a:rPr lang="tr-TR" sz="1400" dirty="0"/>
              <a:t>(</a:t>
            </a:r>
            <a:r>
              <a:rPr lang="tr-TR" sz="1400" dirty="0" err="1"/>
              <a:t>emailLink,emailText</a:t>
            </a:r>
            <a:r>
              <a:rPr lang="tr-TR" sz="1400" dirty="0"/>
              <a:t>, </a:t>
            </a:r>
            <a:r>
              <a:rPr lang="tr-TR" sz="1400" dirty="0" err="1"/>
              <a:t>email</a:t>
            </a:r>
            <a:r>
              <a:rPr lang="tr-TR" sz="1400" dirty="0"/>
              <a:t>, </a:t>
            </a:r>
            <a:r>
              <a:rPr lang="tr-TR" sz="1400" dirty="0" err="1"/>
              <a:t>passTxt</a:t>
            </a:r>
            <a:r>
              <a:rPr lang="tr-TR" sz="1400" dirty="0"/>
              <a:t>, </a:t>
            </a:r>
            <a:r>
              <a:rPr lang="tr-TR" sz="1400" dirty="0" err="1"/>
              <a:t>password</a:t>
            </a:r>
            <a:r>
              <a:rPr lang="tr-TR" sz="1400" dirty="0"/>
              <a:t>)*********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find</a:t>
            </a:r>
            <a:r>
              <a:rPr lang="tr-TR" sz="1400" dirty="0"/>
              <a:t> an element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click</a:t>
            </a:r>
            <a:r>
              <a:rPr lang="tr-TR" sz="1400" dirty="0"/>
              <a:t> it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link = 'http://gmail.com'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emailWord</a:t>
            </a:r>
            <a:r>
              <a:rPr lang="tr-TR" sz="1400" dirty="0"/>
              <a:t> = '</a:t>
            </a:r>
            <a:r>
              <a:rPr lang="tr-TR" sz="1400" dirty="0" err="1"/>
              <a:t>Email</a:t>
            </a:r>
            <a:r>
              <a:rPr lang="tr-TR" sz="1400" dirty="0"/>
              <a:t>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email</a:t>
            </a:r>
            <a:r>
              <a:rPr lang="tr-TR" sz="1400" dirty="0"/>
              <a:t>='not_my_real_email@gmail.com'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passwordTxt</a:t>
            </a:r>
            <a:r>
              <a:rPr lang="tr-TR" sz="1400" dirty="0"/>
              <a:t>='</a:t>
            </a:r>
            <a:r>
              <a:rPr lang="tr-TR" sz="1400" dirty="0" err="1"/>
              <a:t>Passwd</a:t>
            </a:r>
            <a:r>
              <a:rPr lang="tr-TR" sz="1400" dirty="0"/>
              <a:t>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password</a:t>
            </a:r>
            <a:r>
              <a:rPr lang="tr-TR" sz="1400" dirty="0"/>
              <a:t> = '12345'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signinForEmail</a:t>
            </a:r>
            <a:r>
              <a:rPr lang="tr-TR" sz="1400" dirty="0"/>
              <a:t>(</a:t>
            </a:r>
            <a:r>
              <a:rPr lang="tr-TR" sz="1400" dirty="0" err="1"/>
              <a:t>link,emailWord,email,passwordTxt</a:t>
            </a:r>
            <a:r>
              <a:rPr lang="tr-TR" sz="1400" dirty="0"/>
              <a:t>, </a:t>
            </a:r>
            <a:r>
              <a:rPr lang="tr-TR" sz="1400" dirty="0" err="1"/>
              <a:t>password</a:t>
            </a:r>
            <a:r>
              <a:rPr lang="tr-TR" sz="1400" dirty="0"/>
              <a:t>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02104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Sending</a:t>
            </a:r>
            <a:r>
              <a:rPr lang="tr-TR" dirty="0"/>
              <a:t> </a:t>
            </a:r>
            <a:r>
              <a:rPr lang="tr-TR" dirty="0" err="1"/>
              <a:t>special</a:t>
            </a:r>
            <a:r>
              <a:rPr lang="tr-TR" dirty="0"/>
              <a:t> </a:t>
            </a:r>
            <a:r>
              <a:rPr lang="tr-TR" dirty="0" err="1"/>
              <a:t>keys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7921247" cy="778615"/>
          </a:xfrm>
        </p:spPr>
        <p:txBody>
          <a:bodyPr/>
          <a:lstStyle/>
          <a:p>
            <a:r>
              <a:rPr lang="en-US" dirty="0"/>
              <a:t>Selenium has a module for keyboard keys that are impossible to type into a</a:t>
            </a:r>
            <a:r>
              <a:rPr lang="tr-TR" dirty="0"/>
              <a:t> </a:t>
            </a:r>
            <a:r>
              <a:rPr lang="en-US" dirty="0"/>
              <a:t>string value, which function much like escape characters.</a:t>
            </a:r>
            <a:endParaRPr lang="tr-TR" dirty="0"/>
          </a:p>
          <a:p>
            <a:r>
              <a:rPr lang="tr-TR" sz="1200" dirty="0" err="1"/>
              <a:t>selenium.webdriver.common.keys</a:t>
            </a:r>
            <a:r>
              <a:rPr lang="tr-TR" sz="1200" dirty="0"/>
              <a:t> </a:t>
            </a:r>
            <a:r>
              <a:rPr lang="tr-TR" sz="1200" dirty="0" err="1"/>
              <a:t>module</a:t>
            </a:r>
            <a:endParaRPr lang="tr-TR" sz="1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9023" y="2255861"/>
            <a:ext cx="2231684" cy="648000"/>
          </a:xfrm>
        </p:spPr>
        <p:txBody>
          <a:bodyPr/>
          <a:lstStyle/>
          <a:p>
            <a:r>
              <a:rPr lang="tr-TR" b="1" dirty="0">
                <a:latin typeface="+mn-lt"/>
              </a:rPr>
              <a:t> </a:t>
            </a:r>
            <a:r>
              <a:rPr lang="tr-TR" b="1" dirty="0" err="1">
                <a:latin typeface="+mn-lt"/>
              </a:rPr>
              <a:t>Module</a:t>
            </a:r>
            <a:endParaRPr lang="tr-TR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67" y="3072558"/>
            <a:ext cx="2791880" cy="2075912"/>
          </a:xfrm>
        </p:spPr>
        <p:txBody>
          <a:bodyPr/>
          <a:lstStyle/>
          <a:p>
            <a:r>
              <a:rPr lang="en-US" sz="1400" dirty="0"/>
              <a:t>These values are</a:t>
            </a:r>
            <a:r>
              <a:rPr lang="tr-TR" sz="1400" dirty="0"/>
              <a:t> </a:t>
            </a:r>
            <a:r>
              <a:rPr lang="en-US" sz="1400" dirty="0"/>
              <a:t>stored in attributes in the </a:t>
            </a:r>
            <a:endParaRPr lang="tr-TR" sz="1400" dirty="0"/>
          </a:p>
          <a:p>
            <a:r>
              <a:rPr lang="en-US" sz="1400" b="1" dirty="0" err="1"/>
              <a:t>selenium.webdriver.common.keys</a:t>
            </a:r>
            <a:r>
              <a:rPr lang="en-US" sz="1400" b="1" dirty="0"/>
              <a:t> </a:t>
            </a:r>
            <a:r>
              <a:rPr lang="en-US" sz="1400" dirty="0"/>
              <a:t>module</a:t>
            </a:r>
            <a:endParaRPr lang="tr-TR" sz="1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94583" y="2299157"/>
            <a:ext cx="2231684" cy="648000"/>
          </a:xfrm>
        </p:spPr>
        <p:txBody>
          <a:bodyPr/>
          <a:lstStyle/>
          <a:p>
            <a:r>
              <a:rPr lang="tr-TR" dirty="0" err="1"/>
              <a:t>simply</a:t>
            </a:r>
            <a:r>
              <a:rPr lang="tr-TR" dirty="0"/>
              <a:t> </a:t>
            </a:r>
            <a:r>
              <a:rPr lang="tr-TR" dirty="0" err="1"/>
              <a:t>write</a:t>
            </a:r>
            <a:r>
              <a:rPr lang="tr-TR" dirty="0"/>
              <a:t> </a:t>
            </a:r>
            <a:r>
              <a:rPr lang="tr-TR" dirty="0" err="1"/>
              <a:t>Keys</a:t>
            </a:r>
            <a:r>
              <a:rPr lang="tr-TR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5238" y="3072558"/>
            <a:ext cx="2791879" cy="1960531"/>
          </a:xfrm>
        </p:spPr>
        <p:txBody>
          <a:bodyPr/>
          <a:lstStyle/>
          <a:p>
            <a:r>
              <a:rPr lang="en-US" sz="1200" dirty="0"/>
              <a:t>then you can</a:t>
            </a:r>
            <a:r>
              <a:rPr lang="tr-TR" sz="1200" dirty="0"/>
              <a:t> </a:t>
            </a:r>
            <a:r>
              <a:rPr lang="en-US" sz="1200" dirty="0"/>
              <a:t>simply write Keys </a:t>
            </a:r>
            <a:endParaRPr lang="tr-TR" sz="1200" dirty="0"/>
          </a:p>
          <a:p>
            <a:r>
              <a:rPr lang="en-US" sz="1200" dirty="0"/>
              <a:t>anywhere you’d normally have to write </a:t>
            </a:r>
            <a:endParaRPr lang="tr-TR" sz="1200" dirty="0"/>
          </a:p>
          <a:p>
            <a:r>
              <a:rPr lang="en-US" sz="1200" dirty="0" err="1"/>
              <a:t>selenium.webdriver.common.keys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38094" y="2298876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import Keys </a:t>
            </a:r>
            <a:endParaRPr lang="tr-TR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13603" y="3124836"/>
            <a:ext cx="2478140" cy="1960531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it’s much easier to run from</a:t>
            </a:r>
            <a:r>
              <a:rPr lang="tr-TR" dirty="0"/>
              <a:t> </a:t>
            </a:r>
            <a:r>
              <a:rPr lang="en-US" b="1" dirty="0" err="1"/>
              <a:t>selenium.webdriver.common.keys</a:t>
            </a:r>
            <a:r>
              <a:rPr lang="en-US" b="1" dirty="0"/>
              <a:t> </a:t>
            </a:r>
            <a:endParaRPr lang="tr-TR" b="1" dirty="0"/>
          </a:p>
          <a:p>
            <a:r>
              <a:rPr lang="en-US" dirty="0"/>
              <a:t>import Keys at the top of your program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172888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B99B767-9AFC-467A-B454-AFC39BF4A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99" y="1262012"/>
            <a:ext cx="8505000" cy="3537848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CB935901-9DE8-46C9-A292-9C7207CFD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79" y="584347"/>
            <a:ext cx="8596039" cy="432000"/>
          </a:xfrm>
        </p:spPr>
        <p:txBody>
          <a:bodyPr/>
          <a:lstStyle/>
          <a:p>
            <a:pPr algn="ctr"/>
            <a:r>
              <a:rPr lang="en-US" sz="1600" dirty="0"/>
              <a:t>Table 11-5: Commonly Used Variables in the</a:t>
            </a:r>
            <a:r>
              <a:rPr lang="tr-TR" sz="1600" dirty="0"/>
              <a:t> </a:t>
            </a:r>
            <a:r>
              <a:rPr lang="en-US" sz="1600" b="1" dirty="0" err="1"/>
              <a:t>selenium.webdriver.common.keys</a:t>
            </a:r>
            <a:r>
              <a:rPr lang="en-US" sz="1600" b="1" dirty="0"/>
              <a:t> </a:t>
            </a:r>
            <a:r>
              <a:rPr lang="en-US" sz="1600" dirty="0"/>
              <a:t>Module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B941A5B8-2A6A-41F0-96F6-E6B3CB5419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22277" y="6155190"/>
            <a:ext cx="324000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noProof="0" smtClean="0"/>
              <a:pPr>
                <a:spcAft>
                  <a:spcPts val="600"/>
                </a:spcAft>
              </a:pPr>
              <a:t>56</a:t>
            </a:fld>
            <a:endParaRPr lang="en-US" noProof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3F917F3-40B6-4542-B2B8-42EAD827DCA8}"/>
              </a:ext>
            </a:extLst>
          </p:cNvPr>
          <p:cNvSpPr/>
          <p:nvPr/>
        </p:nvSpPr>
        <p:spPr>
          <a:xfrm>
            <a:off x="422881" y="5134323"/>
            <a:ext cx="84016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NewBaskerville-Roman"/>
              </a:rPr>
              <a:t>For example, if the cursor is not currently in a text field</a:t>
            </a:r>
            <a:r>
              <a:rPr lang="tr-TR" dirty="0">
                <a:latin typeface="NewBaskerville-Roman"/>
              </a:rPr>
              <a:t>:</a:t>
            </a:r>
          </a:p>
          <a:p>
            <a:r>
              <a:rPr lang="tr-TR" dirty="0">
                <a:latin typeface="NewBaskerville-Roman"/>
              </a:rPr>
              <a:t>	</a:t>
            </a:r>
            <a:r>
              <a:rPr lang="en-US" dirty="0">
                <a:latin typeface="NewBaskerville-Roman"/>
              </a:rPr>
              <a:t>pressing the</a:t>
            </a:r>
            <a:r>
              <a:rPr lang="tr-TR" dirty="0">
                <a:latin typeface="NewBaskerville-Roman"/>
              </a:rPr>
              <a:t> </a:t>
            </a:r>
            <a:r>
              <a:rPr lang="en-US" b="1" i="1" dirty="0">
                <a:latin typeface="NewBaskerville-Roman"/>
              </a:rPr>
              <a:t>home</a:t>
            </a:r>
            <a:r>
              <a:rPr lang="en-US" dirty="0">
                <a:latin typeface="NewBaskerville-Roman"/>
              </a:rPr>
              <a:t> and </a:t>
            </a:r>
            <a:r>
              <a:rPr lang="en-US" b="1" i="1" dirty="0">
                <a:latin typeface="NewBaskerville-Roman"/>
              </a:rPr>
              <a:t>end</a:t>
            </a:r>
            <a:r>
              <a:rPr lang="en-US" dirty="0">
                <a:latin typeface="NewBaskerville-Roman"/>
              </a:rPr>
              <a:t> keys will scroll the browser </a:t>
            </a:r>
            <a:endParaRPr lang="tr-TR" dirty="0">
              <a:latin typeface="NewBaskerville-Roman"/>
            </a:endParaRPr>
          </a:p>
          <a:p>
            <a:r>
              <a:rPr lang="tr-TR" dirty="0">
                <a:latin typeface="NewBaskerville-Roman"/>
              </a:rPr>
              <a:t>	</a:t>
            </a:r>
            <a:r>
              <a:rPr lang="en-US" dirty="0">
                <a:latin typeface="NewBaskerville-Roman"/>
              </a:rPr>
              <a:t>to the top and bottom of the page,</a:t>
            </a:r>
            <a:r>
              <a:rPr lang="tr-TR" dirty="0">
                <a:latin typeface="NewBaskerville-Roman"/>
              </a:rPr>
              <a:t> </a:t>
            </a:r>
            <a:r>
              <a:rPr lang="en-US" dirty="0">
                <a:latin typeface="NewBaskerville-Roman"/>
              </a:rPr>
              <a:t>respectively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2814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tr-TR" dirty="0" err="1"/>
              <a:t>Scrolling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b="1" i="1" dirty="0" err="1"/>
              <a:t>send_keys</a:t>
            </a:r>
            <a:r>
              <a:rPr lang="tr-TR" b="1" i="1" dirty="0"/>
              <a:t>()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4206" y="851377"/>
            <a:ext cx="8502071" cy="5303813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</a:t>
            </a:r>
            <a:r>
              <a:rPr lang="tr-TR" sz="1400" dirty="0" err="1"/>
              <a:t>Launch</a:t>
            </a:r>
            <a:r>
              <a:rPr lang="tr-TR" sz="1400" dirty="0"/>
              <a:t> a </a:t>
            </a:r>
            <a:r>
              <a:rPr lang="tr-TR" sz="1400" dirty="0" err="1"/>
              <a:t>page</a:t>
            </a:r>
            <a:r>
              <a:rPr lang="tr-TR" sz="1400" dirty="0"/>
              <a:t>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scroll</a:t>
            </a:r>
            <a:r>
              <a:rPr lang="tr-TR" sz="1400" dirty="0"/>
              <a:t>. </a:t>
            </a:r>
            <a:r>
              <a:rPr lang="tr-TR" sz="1400" dirty="0" err="1"/>
              <a:t>Notice</a:t>
            </a:r>
            <a:r>
              <a:rPr lang="tr-TR" sz="1400" dirty="0"/>
              <a:t>, </a:t>
            </a:r>
            <a:r>
              <a:rPr lang="tr-TR" sz="1400" dirty="0" err="1"/>
              <a:t>Firefox</a:t>
            </a:r>
            <a:r>
              <a:rPr lang="tr-TR" sz="1400" dirty="0"/>
              <a:t> </a:t>
            </a:r>
            <a:r>
              <a:rPr lang="tr-TR" sz="1400" dirty="0" err="1"/>
              <a:t>should</a:t>
            </a:r>
            <a:r>
              <a:rPr lang="tr-TR" sz="1400" dirty="0"/>
              <a:t> be </a:t>
            </a:r>
            <a:r>
              <a:rPr lang="tr-TR" sz="1400" dirty="0" err="1"/>
              <a:t>installed</a:t>
            </a:r>
            <a:r>
              <a:rPr lang="tr-TR" sz="1400" dirty="0"/>
              <a:t>!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def </a:t>
            </a:r>
            <a:r>
              <a:rPr lang="tr-TR" sz="1400" dirty="0" err="1"/>
              <a:t>scrollPage</a:t>
            </a:r>
            <a:r>
              <a:rPr lang="tr-TR" sz="1400" dirty="0"/>
              <a:t>(</a:t>
            </a:r>
            <a:r>
              <a:rPr lang="tr-TR" sz="1400" dirty="0" err="1"/>
              <a:t>linkURL</a:t>
            </a:r>
            <a:r>
              <a:rPr lang="tr-TR" sz="1400" dirty="0"/>
              <a:t>, </a:t>
            </a:r>
            <a:r>
              <a:rPr lang="tr-TR" sz="1400" dirty="0" err="1"/>
              <a:t>htmlTxt</a:t>
            </a:r>
            <a:r>
              <a:rPr lang="tr-TR" sz="1400" dirty="0"/>
              <a:t>):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selenium</a:t>
            </a:r>
            <a:r>
              <a:rPr lang="tr-TR" sz="1400" dirty="0"/>
              <a:t> </a:t>
            </a:r>
            <a:r>
              <a:rPr lang="tr-TR" sz="1400" dirty="0" err="1"/>
              <a:t>import</a:t>
            </a:r>
            <a:r>
              <a:rPr lang="tr-TR" sz="1400" dirty="0"/>
              <a:t> </a:t>
            </a:r>
            <a:r>
              <a:rPr lang="tr-TR" sz="1400" dirty="0" err="1"/>
              <a:t>webdriver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selenium.webdriver.common.keys</a:t>
            </a:r>
            <a:r>
              <a:rPr lang="tr-TR" sz="1400" dirty="0"/>
              <a:t> </a:t>
            </a:r>
            <a:r>
              <a:rPr lang="tr-TR" sz="1400" dirty="0" err="1"/>
              <a:t>import</a:t>
            </a:r>
            <a:r>
              <a:rPr lang="tr-TR" sz="1400" dirty="0"/>
              <a:t> </a:t>
            </a:r>
            <a:r>
              <a:rPr lang="tr-TR" sz="1400" dirty="0" err="1"/>
              <a:t>Keys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browser = </a:t>
            </a:r>
            <a:r>
              <a:rPr lang="tr-TR" sz="1400" dirty="0" err="1"/>
              <a:t>webdriver.Firefox</a:t>
            </a:r>
            <a:r>
              <a:rPr lang="tr-TR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browser.get</a:t>
            </a:r>
            <a:r>
              <a:rPr lang="tr-TR" sz="1400" dirty="0"/>
              <a:t>(</a:t>
            </a:r>
            <a:r>
              <a:rPr lang="tr-TR" sz="1400" dirty="0" err="1"/>
              <a:t>linkURL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htmlElem</a:t>
            </a:r>
            <a:r>
              <a:rPr lang="tr-TR" sz="1400" dirty="0"/>
              <a:t> = </a:t>
            </a:r>
            <a:r>
              <a:rPr lang="tr-TR" sz="1400" dirty="0" err="1"/>
              <a:t>browser.find_element_by_tag_name</a:t>
            </a:r>
            <a:r>
              <a:rPr lang="tr-TR" sz="1400" dirty="0"/>
              <a:t>(</a:t>
            </a:r>
            <a:r>
              <a:rPr lang="tr-TR" sz="1400" dirty="0" err="1"/>
              <a:t>htmlTxt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htmlElem.send_keys</a:t>
            </a:r>
            <a:r>
              <a:rPr lang="tr-TR" sz="1400" dirty="0"/>
              <a:t>(</a:t>
            </a:r>
            <a:r>
              <a:rPr lang="tr-TR" sz="1400" dirty="0" err="1"/>
              <a:t>Keys.END</a:t>
            </a:r>
            <a:r>
              <a:rPr lang="tr-TR" sz="1400" dirty="0"/>
              <a:t>)  # </a:t>
            </a:r>
            <a:r>
              <a:rPr lang="tr-TR" sz="1400" dirty="0" err="1"/>
              <a:t>scrolls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</a:t>
            </a:r>
            <a:r>
              <a:rPr lang="tr-TR" sz="1400" dirty="0" err="1"/>
              <a:t>bottom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htmlElem.send_keys</a:t>
            </a:r>
            <a:r>
              <a:rPr lang="tr-TR" sz="1400" dirty="0"/>
              <a:t>(</a:t>
            </a:r>
            <a:r>
              <a:rPr lang="tr-TR" sz="1400" dirty="0" err="1"/>
              <a:t>Keys.HOME</a:t>
            </a:r>
            <a:r>
              <a:rPr lang="tr-TR" sz="1400" dirty="0"/>
              <a:t>)  # </a:t>
            </a:r>
            <a:r>
              <a:rPr lang="tr-TR" sz="1400" dirty="0" err="1"/>
              <a:t>scrolls</a:t>
            </a:r>
            <a:r>
              <a:rPr lang="tr-TR" sz="1400" dirty="0"/>
              <a:t> </a:t>
            </a:r>
            <a:r>
              <a:rPr lang="tr-TR" sz="1400" dirty="0" err="1"/>
              <a:t>to</a:t>
            </a:r>
            <a:r>
              <a:rPr lang="tr-TR" sz="1400" dirty="0"/>
              <a:t> top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except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print</a:t>
            </a:r>
            <a:r>
              <a:rPr lang="tr-TR" sz="1400" dirty="0"/>
              <a:t>('</a:t>
            </a:r>
            <a:r>
              <a:rPr lang="tr-TR" sz="1400" dirty="0" err="1"/>
              <a:t>Ops</a:t>
            </a:r>
            <a:r>
              <a:rPr lang="tr-TR" sz="1400" dirty="0"/>
              <a:t>, </a:t>
            </a:r>
            <a:r>
              <a:rPr lang="tr-TR" sz="1400" dirty="0" err="1"/>
              <a:t>something</a:t>
            </a:r>
            <a:r>
              <a:rPr lang="tr-TR" sz="1400" dirty="0"/>
              <a:t> is </a:t>
            </a:r>
            <a:r>
              <a:rPr lang="tr-TR" sz="1400" dirty="0" err="1"/>
              <a:t>wrong</a:t>
            </a:r>
            <a:r>
              <a:rPr lang="tr-TR" sz="1400" dirty="0"/>
              <a:t>, </a:t>
            </a:r>
            <a:r>
              <a:rPr lang="tr-TR" sz="1400" dirty="0" err="1"/>
              <a:t>cannot</a:t>
            </a:r>
            <a:r>
              <a:rPr lang="tr-TR" sz="1400" dirty="0"/>
              <a:t> </a:t>
            </a:r>
            <a:r>
              <a:rPr lang="tr-TR" sz="1400" dirty="0" err="1"/>
              <a:t>fill</a:t>
            </a:r>
            <a:r>
              <a:rPr lang="tr-TR" sz="1400" dirty="0"/>
              <a:t> in!')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main </a:t>
            </a:r>
            <a:r>
              <a:rPr lang="tr-TR" sz="1400" dirty="0" err="1"/>
              <a:t>method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if</a:t>
            </a:r>
            <a:r>
              <a:rPr lang="tr-TR" sz="1400" dirty="0"/>
              <a:t> __name__ == '__main__':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***********</a:t>
            </a:r>
            <a:r>
              <a:rPr lang="tr-TR" sz="1400" dirty="0" err="1"/>
              <a:t>scrollPage</a:t>
            </a:r>
            <a:r>
              <a:rPr lang="tr-TR" sz="1400" dirty="0"/>
              <a:t>(</a:t>
            </a:r>
            <a:r>
              <a:rPr lang="tr-TR" sz="1400" dirty="0" err="1"/>
              <a:t>linkURL</a:t>
            </a:r>
            <a:r>
              <a:rPr lang="tr-TR" sz="1400" dirty="0"/>
              <a:t>, </a:t>
            </a:r>
            <a:r>
              <a:rPr lang="tr-TR" sz="1400" dirty="0" err="1"/>
              <a:t>htmlTxt</a:t>
            </a:r>
            <a:r>
              <a:rPr lang="tr-TR" sz="1400" dirty="0"/>
              <a:t>)***********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scroll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page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link = 'http://nostarch.com'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htmlText</a:t>
            </a:r>
            <a:r>
              <a:rPr lang="tr-TR" sz="1400" dirty="0"/>
              <a:t> = 'html'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scrollPage</a:t>
            </a:r>
            <a:r>
              <a:rPr lang="tr-TR" sz="1400" dirty="0"/>
              <a:t>(link, </a:t>
            </a:r>
            <a:r>
              <a:rPr lang="tr-TR" sz="1400" dirty="0" err="1"/>
              <a:t>htmlText</a:t>
            </a:r>
            <a:r>
              <a:rPr lang="tr-TR" sz="1400" dirty="0"/>
              <a:t>)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D6F06C33-10D1-4193-93B2-9F2C95A134CE}"/>
              </a:ext>
            </a:extLst>
          </p:cNvPr>
          <p:cNvSpPr/>
          <p:nvPr/>
        </p:nvSpPr>
        <p:spPr>
          <a:xfrm>
            <a:off x="5646799" y="1800747"/>
            <a:ext cx="32994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NewBaskerville-Roman"/>
              </a:rPr>
              <a:t>Calling </a:t>
            </a:r>
            <a:r>
              <a:rPr lang="en-US" sz="1200" b="1" i="1" dirty="0" err="1">
                <a:latin typeface="TheSansMonoCondensed-Plain"/>
              </a:rPr>
              <a:t>browser.find_element_by_tag_name</a:t>
            </a:r>
            <a:r>
              <a:rPr lang="en-US" sz="1200" b="1" i="1" dirty="0">
                <a:latin typeface="TheSansMonoCondensed-Plain"/>
              </a:rPr>
              <a:t>('html') </a:t>
            </a:r>
            <a:r>
              <a:rPr lang="en-US" sz="1200" dirty="0">
                <a:latin typeface="NewBaskerville-Roman"/>
              </a:rPr>
              <a:t>is a good place to send keys to the general</a:t>
            </a:r>
            <a:r>
              <a:rPr lang="tr-TR" sz="1200" dirty="0">
                <a:latin typeface="NewBaskerville-Roman"/>
              </a:rPr>
              <a:t> </a:t>
            </a:r>
            <a:r>
              <a:rPr lang="en-US" sz="1200" dirty="0">
                <a:latin typeface="NewBaskerville-Roman"/>
              </a:rPr>
              <a:t>web page.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965825-4EA3-4E20-AB5F-4E147044EE8E}"/>
              </a:ext>
            </a:extLst>
          </p:cNvPr>
          <p:cNvSpPr txBox="1"/>
          <p:nvPr/>
        </p:nvSpPr>
        <p:spPr>
          <a:xfrm>
            <a:off x="5646799" y="2570682"/>
            <a:ext cx="32994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NewBaskerville-Roman"/>
              </a:rPr>
              <a:t>The </a:t>
            </a:r>
            <a:r>
              <a:rPr lang="en-US" sz="1050" dirty="0">
                <a:latin typeface="TheSansMonoCondensed-Plain"/>
              </a:rPr>
              <a:t>&lt;html</a:t>
            </a:r>
            <a:r>
              <a:rPr lang="en-US" sz="1200" dirty="0">
                <a:latin typeface="NewBaskerville-Roman"/>
              </a:rPr>
              <a:t>&gt; tag is the base tag in HTML files: </a:t>
            </a:r>
            <a:endParaRPr lang="tr-TR" sz="1200" dirty="0">
              <a:latin typeface="NewBaskerville-Roman"/>
            </a:endParaRPr>
          </a:p>
          <a:p>
            <a:r>
              <a:rPr lang="en-US" sz="1200" dirty="0">
                <a:latin typeface="NewBaskerville-Roman"/>
              </a:rPr>
              <a:t>The full content of the</a:t>
            </a:r>
            <a:r>
              <a:rPr lang="tr-TR" sz="1200" dirty="0">
                <a:latin typeface="NewBaskerville-Roman"/>
              </a:rPr>
              <a:t> </a:t>
            </a:r>
            <a:r>
              <a:rPr lang="en-US" sz="1200" dirty="0">
                <a:latin typeface="NewBaskerville-Roman"/>
              </a:rPr>
              <a:t>HTML file is enclosed within the </a:t>
            </a:r>
            <a:r>
              <a:rPr lang="en-US" sz="1050" b="1" dirty="0">
                <a:latin typeface="TheSansMonoCondensed-Plain"/>
              </a:rPr>
              <a:t>&lt;html&gt; </a:t>
            </a:r>
            <a:r>
              <a:rPr lang="en-US" sz="1200" dirty="0">
                <a:latin typeface="NewBaskerville-Roman"/>
              </a:rPr>
              <a:t>and </a:t>
            </a:r>
            <a:r>
              <a:rPr lang="en-US" sz="1050" b="1" dirty="0">
                <a:latin typeface="TheSansMonoCondensed-Plain"/>
              </a:rPr>
              <a:t>&lt;/html&gt; </a:t>
            </a:r>
            <a:r>
              <a:rPr lang="en-US" sz="1200" dirty="0">
                <a:latin typeface="NewBaskerville-Roman"/>
              </a:rPr>
              <a:t>tags. </a:t>
            </a:r>
            <a:endParaRPr lang="tr-TR" sz="1200" dirty="0">
              <a:latin typeface="NewBaskerville-Roman"/>
            </a:endParaRP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C111CCB6-6E73-46C6-9D83-D68CBB806295}"/>
              </a:ext>
            </a:extLst>
          </p:cNvPr>
          <p:cNvCxnSpPr>
            <a:cxnSpLocks/>
          </p:cNvCxnSpPr>
          <p:nvPr/>
        </p:nvCxnSpPr>
        <p:spPr>
          <a:xfrm flipV="1">
            <a:off x="2900218" y="2123912"/>
            <a:ext cx="2746581" cy="4467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C91F68C3-F480-44FA-BDFF-482653353CD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858327" y="2808464"/>
            <a:ext cx="788472" cy="8538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499DD541-D764-491E-8BF8-D0B3ADA921B5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225964" y="2893848"/>
            <a:ext cx="3420835" cy="2326773"/>
          </a:xfrm>
          <a:prstGeom prst="curvedConnector3">
            <a:avLst>
              <a:gd name="adj1" fmla="val 918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0349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7352E13-C671-47AE-9CCF-E9E7E1033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2430727"/>
            <a:ext cx="8505000" cy="2122546"/>
          </a:xfrm>
          <a:prstGeom prst="rect">
            <a:avLst/>
          </a:prstGeom>
          <a:noFill/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CE31BCEB-6E2B-4405-9D88-0E621496C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00" y="1475608"/>
            <a:ext cx="8505000" cy="432000"/>
          </a:xfrm>
        </p:spPr>
        <p:txBody>
          <a:bodyPr anchor="ctr">
            <a:normAutofit/>
          </a:bodyPr>
          <a:lstStyle/>
          <a:p>
            <a:r>
              <a:rPr lang="en-US" sz="1500" dirty="0"/>
              <a:t>Selenium can simulate clicks on various browser buttons as well through</a:t>
            </a:r>
            <a:r>
              <a:rPr lang="tr-TR" sz="1500" dirty="0"/>
              <a:t> </a:t>
            </a:r>
            <a:r>
              <a:rPr lang="en-US" sz="1500" dirty="0"/>
              <a:t>the following methods</a:t>
            </a:r>
            <a:r>
              <a:rPr lang="tr-TR" sz="1500" dirty="0"/>
              <a:t>:</a:t>
            </a:r>
            <a:endParaRPr lang="en-US" sz="1500" dirty="0"/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AEE50983-163B-4AB0-8B59-36477820E7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22277" y="6155190"/>
            <a:ext cx="324000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noProof="0" smtClean="0"/>
              <a:pPr>
                <a:spcAft>
                  <a:spcPts val="600"/>
                </a:spcAft>
              </a:pPr>
              <a:t>58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943833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:a16="http://schemas.microsoft.com/office/drawing/2014/main" id="{8AA67E99-069B-49C9-AFDE-9D7B5624A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7" y="0"/>
            <a:ext cx="91308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Self Assessment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1"/>
            <a:ext cx="8504635" cy="276561"/>
          </a:xfrm>
        </p:spPr>
        <p:txBody>
          <a:bodyPr/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0" y="2525906"/>
            <a:ext cx="2876429" cy="331454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webbrowser</a:t>
            </a:r>
            <a:r>
              <a:rPr lang="en-US" dirty="0"/>
              <a:t> </a:t>
            </a:r>
            <a:r>
              <a:rPr lang="en-US" dirty="0" err="1"/>
              <a:t>modüle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Downloading files from Web</a:t>
            </a:r>
          </a:p>
          <a:p>
            <a:pPr marL="0" indent="0">
              <a:buNone/>
            </a:pPr>
            <a:r>
              <a:rPr lang="en-US" dirty="0"/>
              <a:t>Saving downloaded files to Hard Drive</a:t>
            </a:r>
          </a:p>
          <a:p>
            <a:pPr marL="0" indent="0">
              <a:buNone/>
            </a:pPr>
            <a:r>
              <a:rPr lang="en-US" dirty="0"/>
              <a:t>HTML</a:t>
            </a:r>
          </a:p>
          <a:p>
            <a:pPr marL="0" indent="0">
              <a:buNone/>
            </a:pPr>
            <a:r>
              <a:rPr lang="en-US" dirty="0"/>
              <a:t>bs4.BeautifulSoap Module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Controlling the Browser with the </a:t>
            </a:r>
            <a:r>
              <a:rPr lang="en-US"/>
              <a:t>selenium Module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47544" y="1752505"/>
            <a:ext cx="2231684" cy="64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tr-TR" dirty="0" err="1"/>
              <a:t>Unclarified</a:t>
            </a:r>
            <a:r>
              <a:rPr lang="tr-TR" dirty="0"/>
              <a:t> </a:t>
            </a:r>
            <a:r>
              <a:rPr lang="tr-TR" dirty="0" err="1"/>
              <a:t>issues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1781" y="2569266"/>
            <a:ext cx="2794852" cy="3314200"/>
          </a:xfrm>
        </p:spPr>
        <p:txBody>
          <a:bodyPr/>
          <a:lstStyle/>
          <a:p>
            <a:r>
              <a:rPr lang="tr-TR" dirty="0"/>
              <a:t>What are the points need further explanations?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n-US" sz="900" b="1" i="1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900" b="1" i="1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tr-TR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ckwell"/>
                <a:ea typeface="+mn-ea"/>
                <a:cs typeface="+mn-cs"/>
              </a:rPr>
              <a:t>Interesting Details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marR="0" lvl="0" indent="-200025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tr-TR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What is the most interesting details in this chapter?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607" y="5469284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2300" y="5469284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0735" y="5386825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Yer Tutucusu 8">
            <a:extLst>
              <a:ext uri="{FF2B5EF4-FFF2-40B4-BE49-F238E27FC236}">
                <a16:creationId xmlns:a16="http://schemas.microsoft.com/office/drawing/2014/main" id="{C9A76CFD-F5CC-46BC-A303-8C49AB47347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9539" r="9539"/>
          <a:stretch>
            <a:fillRect/>
          </a:stretch>
        </p:blipFill>
        <p:spPr>
          <a:xfrm>
            <a:off x="-51895" y="0"/>
            <a:ext cx="9247791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1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4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1_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490261-1200-4EC7-95B0-2241EE54AA34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16c05727-aa75-4e4a-9b5f-8a80a1165891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5587</Words>
  <Application>Microsoft Office PowerPoint</Application>
  <PresentationFormat>On-screen Show (4:3)</PresentationFormat>
  <Paragraphs>889</Paragraphs>
  <Slides>60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71" baseType="lpstr">
      <vt:lpstr>Arial</vt:lpstr>
      <vt:lpstr>Arial Narrow</vt:lpstr>
      <vt:lpstr>Calibri</vt:lpstr>
      <vt:lpstr>Calibri Light</vt:lpstr>
      <vt:lpstr>NewBaskerville-Roman</vt:lpstr>
      <vt:lpstr>Rockwell</vt:lpstr>
      <vt:lpstr>TheSansMonoCondensed-Bold</vt:lpstr>
      <vt:lpstr>TheSansMonoCondensed-Plain</vt:lpstr>
      <vt:lpstr>Times New Roman</vt:lpstr>
      <vt:lpstr>Office Theme</vt:lpstr>
      <vt:lpstr>1_Office Theme</vt:lpstr>
      <vt:lpstr>Chapter 11: Web Scraping</vt:lpstr>
      <vt:lpstr>Content</vt:lpstr>
      <vt:lpstr>Chapter 11: Web Scraping</vt:lpstr>
      <vt:lpstr>Launching a Web Page</vt:lpstr>
      <vt:lpstr>URL Based Applications</vt:lpstr>
      <vt:lpstr>Handle the Command Line Arguments</vt:lpstr>
      <vt:lpstr>webbrowser.open(URL)</vt:lpstr>
      <vt:lpstr>Chapter 11: Web Scraping</vt:lpstr>
      <vt:lpstr>Downloading a Web Page with the requests.get() Function</vt:lpstr>
      <vt:lpstr>requests.get()</vt:lpstr>
      <vt:lpstr>Checking for Errors: raise_for_status()</vt:lpstr>
      <vt:lpstr>requests.get()</vt:lpstr>
      <vt:lpstr>Chapter 11: Web Scraping</vt:lpstr>
      <vt:lpstr>Saving Downloaded Files to the Hard Drive</vt:lpstr>
      <vt:lpstr>Download a file from Internet</vt:lpstr>
      <vt:lpstr>Chapter 11: Web Scraping</vt:lpstr>
      <vt:lpstr>HTML basics</vt:lpstr>
      <vt:lpstr>A Quick Refresher</vt:lpstr>
      <vt:lpstr>Hello World!</vt:lpstr>
      <vt:lpstr>A Quick Refresher</vt:lpstr>
      <vt:lpstr>A Quick Refresher</vt:lpstr>
      <vt:lpstr>Link</vt:lpstr>
      <vt:lpstr>Viewing the Source HTML of a Web Page</vt:lpstr>
      <vt:lpstr>Viewing the source of a web page</vt:lpstr>
      <vt:lpstr>Opening Your Browser’s Developer Tools</vt:lpstr>
      <vt:lpstr>Inspect in developer tools</vt:lpstr>
      <vt:lpstr>The Developer Tools window in the Chrome browser</vt:lpstr>
      <vt:lpstr>Chapter 11: Web Scraping</vt:lpstr>
      <vt:lpstr>Parsing HTML with the BeautifulSoup Module</vt:lpstr>
      <vt:lpstr>xample.html</vt:lpstr>
      <vt:lpstr>Creating a BeautifulSoup Object from HTML</vt:lpstr>
      <vt:lpstr>BeautifulSoup Object from HTML</vt:lpstr>
      <vt:lpstr>Load HTML file from hard drive</vt:lpstr>
      <vt:lpstr>BeautifulSoup to Upload HTML File</vt:lpstr>
      <vt:lpstr>Finding an Element with the select() Method</vt:lpstr>
      <vt:lpstr>examples of the most common CSS selector patterns</vt:lpstr>
      <vt:lpstr>Finding an Element with the select() Method</vt:lpstr>
      <vt:lpstr>pull attribute from the BeautifulSoup object</vt:lpstr>
      <vt:lpstr>pull &lt;p&gt; elements from the BeautifulSoup object</vt:lpstr>
      <vt:lpstr>Getting Data from an Element’s Attributes: get() method</vt:lpstr>
      <vt:lpstr>pull &lt;p&gt; elements from the BeautifulSoup object</vt:lpstr>
      <vt:lpstr>Chapter 11: Web Scraping</vt:lpstr>
      <vt:lpstr>selenium Module</vt:lpstr>
      <vt:lpstr>selenium Module</vt:lpstr>
      <vt:lpstr>Starting a Selenium-Controlled Browser</vt:lpstr>
      <vt:lpstr>Selenium launch a web page</vt:lpstr>
      <vt:lpstr>Finding Elements on the Page</vt:lpstr>
      <vt:lpstr>Table 11-3: Selenium’s WebDriver Methods for Finding Elements</vt:lpstr>
      <vt:lpstr>Table 11-4: WebElement Attributes and Methods</vt:lpstr>
      <vt:lpstr>browser.find_element_by_class_name()</vt:lpstr>
      <vt:lpstr>Clicking the Page</vt:lpstr>
      <vt:lpstr>Click on an element using: click() method</vt:lpstr>
      <vt:lpstr>Filling Out and Submitting Forms</vt:lpstr>
      <vt:lpstr>fill in the fields using send_keys()</vt:lpstr>
      <vt:lpstr>Sending special keys</vt:lpstr>
      <vt:lpstr>Table 11-5: Commonly Used Variables in the selenium.webdriver.common.keys Module</vt:lpstr>
      <vt:lpstr>Scrolling using send_keys()</vt:lpstr>
      <vt:lpstr>Selenium can simulate clicks on various browser buttons as well through the following methods:</vt:lpstr>
      <vt:lpstr>Self Assessment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2021-05-30T22:36:36Z</dcterms:created>
  <dcterms:modified xsi:type="dcterms:W3CDTF">2024-12-13T12:41:09Z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2021-05-30T22:41:30Z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ad56aed8-3cc2-4a85-bd80-d40c0e69367b</vt:lpwstr>
  </property>
  <property fmtid="{D5CDD505-2E9C-101B-9397-08002B2CF9AE}" pid="8" name="MSIP_Label_c66f6488-6f7b-4340-b880-828136ff7811_ContentBits">
    <vt:lpwstr>0</vt:lpwstr>
  </property>
</Properties>
</file>