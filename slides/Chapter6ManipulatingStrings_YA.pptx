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6"/>
  </p:notesMasterIdLst>
  <p:handoutMasterIdLst>
    <p:handoutMasterId r:id="rId57"/>
  </p:handoutMasterIdLst>
  <p:sldIdLst>
    <p:sldId id="256" r:id="rId5"/>
    <p:sldId id="261" r:id="rId6"/>
    <p:sldId id="405" r:id="rId7"/>
    <p:sldId id="301" r:id="rId8"/>
    <p:sldId id="342" r:id="rId9"/>
    <p:sldId id="343" r:id="rId10"/>
    <p:sldId id="269" r:id="rId11"/>
    <p:sldId id="406" r:id="rId12"/>
    <p:sldId id="357" r:id="rId13"/>
    <p:sldId id="358" r:id="rId14"/>
    <p:sldId id="408" r:id="rId15"/>
    <p:sldId id="359" r:id="rId16"/>
    <p:sldId id="407" r:id="rId17"/>
    <p:sldId id="360" r:id="rId18"/>
    <p:sldId id="367" r:id="rId19"/>
    <p:sldId id="409" r:id="rId20"/>
    <p:sldId id="393" r:id="rId21"/>
    <p:sldId id="410" r:id="rId22"/>
    <p:sldId id="411" r:id="rId23"/>
    <p:sldId id="394" r:id="rId24"/>
    <p:sldId id="414" r:id="rId25"/>
    <p:sldId id="412" r:id="rId26"/>
    <p:sldId id="413" r:id="rId27"/>
    <p:sldId id="361" r:id="rId28"/>
    <p:sldId id="395" r:id="rId29"/>
    <p:sldId id="415" r:id="rId30"/>
    <p:sldId id="363" r:id="rId31"/>
    <p:sldId id="416" r:id="rId32"/>
    <p:sldId id="417" r:id="rId33"/>
    <p:sldId id="418" r:id="rId34"/>
    <p:sldId id="419" r:id="rId35"/>
    <p:sldId id="420" r:id="rId36"/>
    <p:sldId id="421" r:id="rId37"/>
    <p:sldId id="422" r:id="rId38"/>
    <p:sldId id="423" r:id="rId39"/>
    <p:sldId id="364" r:id="rId40"/>
    <p:sldId id="362" r:id="rId41"/>
    <p:sldId id="424" r:id="rId42"/>
    <p:sldId id="396" r:id="rId43"/>
    <p:sldId id="425" r:id="rId44"/>
    <p:sldId id="366" r:id="rId45"/>
    <p:sldId id="368" r:id="rId46"/>
    <p:sldId id="426" r:id="rId47"/>
    <p:sldId id="397" r:id="rId48"/>
    <p:sldId id="427" r:id="rId49"/>
    <p:sldId id="369" r:id="rId50"/>
    <p:sldId id="428" r:id="rId51"/>
    <p:sldId id="365" r:id="rId52"/>
    <p:sldId id="399" r:id="rId53"/>
    <p:sldId id="299" r:id="rId54"/>
    <p:sldId id="279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7831" autoAdjust="0"/>
  </p:normalViewPr>
  <p:slideViewPr>
    <p:cSldViewPr snapToGrid="0">
      <p:cViewPr varScale="1">
        <p:scale>
          <a:sx n="71" d="100"/>
          <a:sy n="71" d="100"/>
        </p:scale>
        <p:origin x="1824" y="6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3/17/2022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35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6444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2961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4931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863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490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0902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26.03.2021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5444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3364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9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26139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6361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6026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8670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16145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19423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80545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99482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3274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06091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67851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07138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291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29535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70984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2708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Bullets">
    <p:bg>
      <p:bgPr>
        <a:blipFill dpi="0" rotWithShape="1">
          <a:blip r:embed="rId2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CFF2EB-CD95-EA4D-810E-C9F8127071FE}"/>
              </a:ext>
            </a:extLst>
          </p:cNvPr>
          <p:cNvSpPr>
            <a:spLocks noChangeAspect="1"/>
          </p:cNvSpPr>
          <p:nvPr userDrawn="1"/>
        </p:nvSpPr>
        <p:spPr>
          <a:xfrm>
            <a:off x="5729647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20266-68E0-504A-B1C8-F3369F5AF7C0}"/>
              </a:ext>
            </a:extLst>
          </p:cNvPr>
          <p:cNvSpPr>
            <a:spLocks noChangeAspect="1"/>
          </p:cNvSpPr>
          <p:nvPr userDrawn="1"/>
        </p:nvSpPr>
        <p:spPr>
          <a:xfrm>
            <a:off x="7450499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259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111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26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7111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69D5F0B5-DE10-D646-9244-6B4289E7793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97571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72B87CCD-6D17-844B-87EF-F8BC69D79B0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69600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5" name="Straight Connector 24" descr="First divider line on slide">
            <a:extLst>
              <a:ext uri="{FF2B5EF4-FFF2-40B4-BE49-F238E27FC236}">
                <a16:creationId xmlns:a16="http://schemas.microsoft.com/office/drawing/2014/main" id="{402BCAE3-72EC-4098-A211-3555BFDE9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Second divider line on slide">
            <a:extLst>
              <a:ext uri="{FF2B5EF4-FFF2-40B4-BE49-F238E27FC236}">
                <a16:creationId xmlns:a16="http://schemas.microsoft.com/office/drawing/2014/main" id="{94A08494-9C0E-4AAF-BE9A-166FE994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Third divider line on slide">
            <a:extLst>
              <a:ext uri="{FF2B5EF4-FFF2-40B4-BE49-F238E27FC236}">
                <a16:creationId xmlns:a16="http://schemas.microsoft.com/office/drawing/2014/main" id="{698FE6A1-AEF7-4FD7-A689-908A6B9C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3602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 descr="Fourth divider line on slide">
            <a:extLst>
              <a:ext uri="{FF2B5EF4-FFF2-40B4-BE49-F238E27FC236}">
                <a16:creationId xmlns:a16="http://schemas.microsoft.com/office/drawing/2014/main" id="{636DD6E3-6313-40D8-B03E-60E2E5A6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6897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5" r:id="rId8"/>
    <p:sldLayoutId id="2147483683" r:id="rId9"/>
    <p:sldLayoutId id="2147483668" r:id="rId10"/>
    <p:sldLayoutId id="2147483682" r:id="rId11"/>
    <p:sldLayoutId id="2147483670" r:id="rId12"/>
    <p:sldLayoutId id="2147483653" r:id="rId13"/>
    <p:sldLayoutId id="2147483673" r:id="rId14"/>
    <p:sldLayoutId id="2147483674" r:id="rId15"/>
    <p:sldLayoutId id="2147483676" r:id="rId16"/>
    <p:sldLayoutId id="2147483677" r:id="rId17"/>
    <p:sldLayoutId id="2147483654" r:id="rId18"/>
    <p:sldLayoutId id="2147483660" r:id="rId19"/>
    <p:sldLayoutId id="2147483661" r:id="rId20"/>
    <p:sldLayoutId id="2147483678" r:id="rId21"/>
    <p:sldLayoutId id="2147483686" r:id="rId22"/>
    <p:sldLayoutId id="2147483687" r:id="rId23"/>
    <p:sldLayoutId id="2147483689" r:id="rId24"/>
    <p:sldLayoutId id="2147483690" r:id="rId25"/>
    <p:sldLayoutId id="2147483688" r:id="rId2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3.jpe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3.jpe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emf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3.jpe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10" Type="http://schemas.openxmlformats.org/officeDocument/2006/relationships/image" Target="../media/image37.emf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3.jpe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3.jpe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3.jpe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60.jpeg"/><Relationship Id="rId7" Type="http://schemas.openxmlformats.org/officeDocument/2006/relationships/image" Target="../media/image64.svg"/><Relationship Id="rId12" Type="http://schemas.openxmlformats.org/officeDocument/2006/relationships/image" Target="../media/image68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3.png"/><Relationship Id="rId11" Type="http://schemas.openxmlformats.org/officeDocument/2006/relationships/image" Target="../media/image67.png"/><Relationship Id="rId5" Type="http://schemas.openxmlformats.org/officeDocument/2006/relationships/image" Target="../media/image62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61.png"/><Relationship Id="rId9" Type="http://schemas.openxmlformats.org/officeDocument/2006/relationships/image" Target="../media/image66.svg"/><Relationship Id="rId1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nother aster | Flowers perennials, September flowers, Aster flower">
            <a:extLst>
              <a:ext uri="{FF2B5EF4-FFF2-40B4-BE49-F238E27FC236}">
                <a16:creationId xmlns:a16="http://schemas.microsoft.com/office/drawing/2014/main" id="{C00AFBCE-5178-48F0-A734-D1222D63542B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93" b="1779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68422"/>
            <a:ext cx="5130000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6</a:t>
            </a:r>
            <a:r>
              <a:rPr lang="en-US" dirty="0"/>
              <a:t>: </a:t>
            </a:r>
            <a:r>
              <a:rPr lang="tr-TR" dirty="0"/>
              <a:t>Manipulating Strings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tr-TR" sz="1200" b="1" dirty="0"/>
              <a:t>Chapter 6 Manipulating Strings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with Strings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Useful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Methods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D5B72-1757-4055-9106-A69EA71E8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5" y="524512"/>
            <a:ext cx="4490035" cy="336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i="1" dirty="0"/>
              <a:t>Manipulating Strings</a:t>
            </a:r>
            <a:endParaRPr lang="en-US" i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tr-TR" i="1" dirty="0"/>
              <a:t>With Python you can do certain operations on Strings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Already knkow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047287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+</a:t>
            </a:r>
          </a:p>
          <a:p>
            <a:r>
              <a:rPr lang="tr-TR" dirty="0"/>
              <a:t>String concatenation</a:t>
            </a:r>
            <a:endParaRPr lang="tr-TR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further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are </a:t>
            </a:r>
            <a:r>
              <a:rPr lang="en-US" dirty="0"/>
              <a:t>identified by letters: </a:t>
            </a:r>
            <a:endParaRPr lang="tr-TR" dirty="0"/>
          </a:p>
          <a:p>
            <a:r>
              <a:rPr lang="en-US" dirty="0"/>
              <a:t>access the clipboard</a:t>
            </a:r>
            <a:endParaRPr lang="tr-TR" dirty="0"/>
          </a:p>
          <a:p>
            <a:r>
              <a:rPr lang="en-US" dirty="0"/>
              <a:t>for copying</a:t>
            </a:r>
            <a:r>
              <a:rPr lang="tr-TR" dirty="0"/>
              <a:t> text</a:t>
            </a:r>
          </a:p>
          <a:p>
            <a:r>
              <a:rPr lang="en-US" dirty="0"/>
              <a:t>pasting 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More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There are other operations:</a:t>
            </a:r>
          </a:p>
          <a:p>
            <a:r>
              <a:rPr lang="en-US" dirty="0"/>
              <a:t>extract partial</a:t>
            </a:r>
            <a:r>
              <a:rPr lang="tr-TR" dirty="0"/>
              <a:t> </a:t>
            </a:r>
            <a:r>
              <a:rPr lang="en-US" dirty="0"/>
              <a:t>strings from string values </a:t>
            </a:r>
            <a:endParaRPr lang="tr-TR" dirty="0"/>
          </a:p>
          <a:p>
            <a:r>
              <a:rPr lang="en-US" dirty="0"/>
              <a:t>add or remove spacing</a:t>
            </a:r>
            <a:endParaRPr lang="tr-TR" dirty="0"/>
          </a:p>
          <a:p>
            <a:r>
              <a:rPr lang="en-US" dirty="0"/>
              <a:t>convert letters to lowercase</a:t>
            </a:r>
            <a:r>
              <a:rPr lang="tr-TR" dirty="0"/>
              <a:t> </a:t>
            </a:r>
            <a:r>
              <a:rPr lang="en-US" dirty="0"/>
              <a:t>or uppercase</a:t>
            </a:r>
            <a:endParaRPr lang="tr-TR" dirty="0"/>
          </a:p>
          <a:p>
            <a:r>
              <a:rPr lang="en-US" dirty="0"/>
              <a:t>check that strings are formatted correctly.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Chapter-6 Manipulating Strings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with Strings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String Literals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Indexing and Slicing Strings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in and not in Operators with Strings</a:t>
            </a:r>
            <a:endParaRPr lang="tr-T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3080" name="Picture 8" descr="National Flower | The Rose">
            <a:extLst>
              <a:ext uri="{FF2B5EF4-FFF2-40B4-BE49-F238E27FC236}">
                <a16:creationId xmlns:a16="http://schemas.microsoft.com/office/drawing/2014/main" id="{6CAB8391-F933-4A51-A791-96256D6D8581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" b="138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237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33" y="325160"/>
            <a:ext cx="8505000" cy="418727"/>
          </a:xfrm>
        </p:spPr>
        <p:txBody>
          <a:bodyPr/>
          <a:lstStyle/>
          <a:p>
            <a:pPr algn="ctr"/>
            <a:r>
              <a:rPr lang="tr-TR" dirty="0"/>
              <a:t>String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String in Python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5609" y="4683349"/>
            <a:ext cx="1438462" cy="1345491"/>
          </a:xfrm>
        </p:spPr>
        <p:txBody>
          <a:bodyPr/>
          <a:lstStyle/>
          <a:p>
            <a:pPr algn="l"/>
            <a:r>
              <a:rPr lang="en-US" b="1" dirty="0"/>
              <a:t>Python lets</a:t>
            </a:r>
            <a:r>
              <a:rPr lang="tr-TR" b="1" dirty="0"/>
              <a:t> to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Write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Print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,access strings</a:t>
            </a:r>
          </a:p>
          <a:p>
            <a:pPr algn="l"/>
            <a:r>
              <a:rPr lang="tr-TR" dirty="0"/>
              <a:t>.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String Literals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1373054"/>
          </a:xfrm>
        </p:spPr>
        <p:txBody>
          <a:bodyPr/>
          <a:lstStyle/>
          <a:p>
            <a:pPr algn="l"/>
            <a:r>
              <a:rPr lang="tr-TR" b="1" dirty="0"/>
              <a:t>More than one method</a:t>
            </a:r>
            <a:r>
              <a:rPr lang="tr-TR" dirty="0"/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‘This is a String’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"This is a String"</a:t>
            </a:r>
            <a:endParaRPr lang="en-US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Advanteges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26919" y="4688111"/>
            <a:ext cx="1620441" cy="1371725"/>
          </a:xfrm>
        </p:spPr>
        <p:txBody>
          <a:bodyPr/>
          <a:lstStyle/>
          <a:p>
            <a:pPr algn="l"/>
            <a:r>
              <a:rPr lang="tr-TR" b="1" dirty="0"/>
              <a:t>Quote inside of a String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" That is Alice's cat"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Quote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5359" y="4627376"/>
            <a:ext cx="1329662" cy="1081427"/>
          </a:xfrm>
        </p:spPr>
        <p:txBody>
          <a:bodyPr/>
          <a:lstStyle/>
          <a:p>
            <a:pPr algn="l"/>
            <a:r>
              <a:rPr lang="tr-TR" b="1" dirty="0"/>
              <a:t>End of String ?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Quote makes complication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'That is Alice's cat.’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Example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01132" y="4688111"/>
            <a:ext cx="1526421" cy="1480213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" That is Alice's cat"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‘This is a String without double quotes: ""’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4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99" y="549741"/>
            <a:ext cx="8505000" cy="504000"/>
          </a:xfrm>
        </p:spPr>
        <p:txBody>
          <a:bodyPr/>
          <a:lstStyle/>
          <a:p>
            <a:pPr algn="ctr"/>
            <a:r>
              <a:rPr lang="tr-TR" dirty="0"/>
              <a:t>Escape Character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Single Quote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731152" cy="831186"/>
          </a:xfrm>
        </p:spPr>
        <p:txBody>
          <a:bodyPr/>
          <a:lstStyle/>
          <a:p>
            <a:pPr algn="l"/>
            <a:r>
              <a:rPr lang="tr-TR" b="1" dirty="0"/>
              <a:t>\’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Not a string literal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'This is Alice\’s Cat'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Double Quote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953033"/>
          </a:xfrm>
        </p:spPr>
        <p:txBody>
          <a:bodyPr/>
          <a:lstStyle/>
          <a:p>
            <a:pPr algn="l"/>
            <a:r>
              <a:rPr lang="tr-TR" b="1" dirty="0"/>
              <a:t>\</a:t>
            </a:r>
            <a:r>
              <a:rPr lang="tr-TR" dirty="0"/>
              <a:t>"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Not a string literal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"This is double quote \"\""</a:t>
            </a:r>
            <a:endParaRPr lang="en-US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Tab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1073" y="4688111"/>
            <a:ext cx="1314995" cy="981169"/>
          </a:xfrm>
        </p:spPr>
        <p:txBody>
          <a:bodyPr/>
          <a:lstStyle/>
          <a:p>
            <a:pPr algn="l"/>
            <a:r>
              <a:rPr lang="tr-TR" b="1" dirty="0"/>
              <a:t>\t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Print a tab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'name \t surname' ' 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620440" cy="504000"/>
          </a:xfrm>
        </p:spPr>
        <p:txBody>
          <a:bodyPr/>
          <a:lstStyle/>
          <a:p>
            <a:r>
              <a:rPr lang="tr-TR" dirty="0"/>
              <a:t>newline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pPr algn="l"/>
            <a:r>
              <a:rPr lang="tr-TR" b="1" dirty="0"/>
              <a:t>\n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Jump to the next line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dirty="0"/>
              <a:t>'Continue … \n here'</a:t>
            </a:r>
            <a:endParaRPr lang="tr-TR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Backslash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82853" y="4688111"/>
            <a:ext cx="1820470" cy="868627"/>
          </a:xfrm>
        </p:spPr>
        <p:txBody>
          <a:bodyPr/>
          <a:lstStyle/>
          <a:p>
            <a:pPr algn="l"/>
            <a:r>
              <a:rPr lang="tr-TR" b="1" dirty="0"/>
              <a:t>\\</a:t>
            </a:r>
          </a:p>
          <a:p>
            <a:pPr algn="l"/>
            <a:r>
              <a:rPr lang="tr-TR" dirty="0"/>
              <a:t>"x = a \\b"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00210-58E5-4829-84F1-437F2BD10A62}"/>
              </a:ext>
            </a:extLst>
          </p:cNvPr>
          <p:cNvSpPr/>
          <p:nvPr/>
        </p:nvSpPr>
        <p:spPr>
          <a:xfrm>
            <a:off x="626011" y="1530252"/>
            <a:ext cx="6126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\ is used to treat character outside if its special meaning</a:t>
            </a:r>
          </a:p>
        </p:txBody>
      </p:sp>
    </p:spTree>
    <p:extLst>
      <p:ext uri="{BB962C8B-B14F-4D97-AF65-F5344CB8AC3E}">
        <p14:creationId xmlns:p14="http://schemas.microsoft.com/office/powerpoint/2010/main" val="7390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6A0B416-3E1F-4B68-AA38-12C107BFD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09" y="310799"/>
            <a:ext cx="8466268" cy="432000"/>
          </a:xfrm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Escape Characters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869" y="1193178"/>
            <a:ext cx="3502411" cy="281993"/>
          </a:xfrm>
          <a:solidFill>
            <a:schemeClr val="bg1">
              <a:lumMod val="85000"/>
              <a:alpha val="50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Escape character \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9DEF864-FE38-47FC-9D6E-02EFEFE858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464297" y="2008667"/>
            <a:ext cx="6075553" cy="315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4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25911"/>
            <a:ext cx="8505000" cy="638089"/>
          </a:xfrm>
        </p:spPr>
        <p:txBody>
          <a:bodyPr/>
          <a:lstStyle/>
          <a:p>
            <a:pPr algn="ctr"/>
            <a:r>
              <a:rPr lang="tr-TR" dirty="0"/>
              <a:t>Escape character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3451" y="914887"/>
            <a:ext cx="4459016" cy="188834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 = 'Say hi to Bob\'s mother.'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08338" y="5878343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11349" y="864000"/>
            <a:ext cx="4103712" cy="541636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</a:t>
            </a:r>
          </a:p>
          <a:p>
            <a:pPr marL="0" indent="0">
              <a:buNone/>
            </a:pPr>
            <a:r>
              <a:rPr lang="en-US" dirty="0"/>
              <a:t>"Say hi to Bob's mother.</a:t>
            </a:r>
            <a:r>
              <a:rPr lang="tr-TR" dirty="0"/>
              <a:t>"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&gt;&gt;&gt;</a:t>
            </a:r>
            <a:r>
              <a:rPr lang="tr-TR" dirty="0"/>
              <a:t> print(</a:t>
            </a:r>
            <a:r>
              <a:rPr lang="en-US" dirty="0"/>
              <a:t>'This is Alice\</a:t>
            </a:r>
            <a:r>
              <a:rPr lang="tr-TR" dirty="0"/>
              <a:t>'</a:t>
            </a:r>
            <a:r>
              <a:rPr lang="en-US" dirty="0"/>
              <a:t>s Cat'</a:t>
            </a:r>
            <a:r>
              <a:rPr lang="tr-TR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is Alice's Cat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tr-TR" dirty="0"/>
              <a:t>print(</a:t>
            </a:r>
            <a:r>
              <a:rPr lang="en-US" dirty="0"/>
              <a:t>"This is double quote \"\""</a:t>
            </a:r>
            <a:r>
              <a:rPr lang="tr-TR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is double quote ""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&gt;&gt;&gt; print('name \t surname')</a:t>
            </a:r>
          </a:p>
          <a:p>
            <a:pPr marL="0" indent="0">
              <a:buNone/>
            </a:pPr>
            <a:r>
              <a:rPr lang="tr-TR" dirty="0"/>
              <a:t>name 	 surname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pt-BR" dirty="0"/>
              <a:t>&gt;&gt;&gt; </a:t>
            </a:r>
            <a:r>
              <a:rPr lang="tr-TR" dirty="0"/>
              <a:t>print(</a:t>
            </a:r>
            <a:r>
              <a:rPr lang="pt-BR" dirty="0"/>
              <a:t>"x = a\\b"</a:t>
            </a:r>
            <a:r>
              <a:rPr lang="tr-TR" dirty="0"/>
              <a:t>)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x = a\b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print("Hello there!\</a:t>
            </a:r>
            <a:r>
              <a:rPr lang="en-US" dirty="0" err="1"/>
              <a:t>nHow</a:t>
            </a:r>
            <a:r>
              <a:rPr lang="en-US" dirty="0"/>
              <a:t> are you?\</a:t>
            </a:r>
            <a:r>
              <a:rPr lang="en-US" dirty="0" err="1"/>
              <a:t>nI</a:t>
            </a:r>
            <a:r>
              <a:rPr lang="en-US" dirty="0"/>
              <a:t>\</a:t>
            </a:r>
            <a:r>
              <a:rPr lang="en-US" dirty="0" err="1"/>
              <a:t>'m</a:t>
            </a:r>
            <a:r>
              <a:rPr lang="en-US" dirty="0"/>
              <a:t> doing fine.")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Hello there!</a:t>
            </a:r>
          </a:p>
          <a:p>
            <a:pPr marL="0" indent="0">
              <a:buNone/>
            </a:pPr>
            <a:r>
              <a:rPr lang="en-US" dirty="0"/>
              <a:t>How are you?</a:t>
            </a:r>
          </a:p>
          <a:p>
            <a:pPr marL="0" indent="0">
              <a:buNone/>
            </a:pPr>
            <a:r>
              <a:rPr lang="en-US" dirty="0"/>
              <a:t>I'm doing fine.</a:t>
            </a:r>
            <a:endParaRPr lang="tr-T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0" name="Picture 2" descr="Plants and flowers that bloom in winter for a flower-studded ...">
            <a:extLst>
              <a:ext uri="{FF2B5EF4-FFF2-40B4-BE49-F238E27FC236}">
                <a16:creationId xmlns:a16="http://schemas.microsoft.com/office/drawing/2014/main" id="{80837F7A-0375-4F51-AB2A-D7C6BF5E3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97" y="2930437"/>
            <a:ext cx="4523761" cy="3352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18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pPr algn="ctr"/>
            <a:r>
              <a:rPr lang="tr-TR" dirty="0"/>
              <a:t>Raw String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Raw String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ignores all escape characters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en-US" sz="1200" dirty="0"/>
              <a:t>prints any backslash</a:t>
            </a:r>
            <a:endParaRPr lang="tr-TR" sz="12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en-US" dirty="0"/>
              <a:t>appears in the string</a:t>
            </a:r>
            <a:endParaRPr lang="tr-TR" dirty="0"/>
          </a:p>
          <a:p>
            <a:endParaRPr lang="tr-TR" dirty="0"/>
          </a:p>
          <a:p>
            <a:r>
              <a:rPr lang="en-US" dirty="0"/>
              <a:t>&gt;&gt;&gt; print(</a:t>
            </a:r>
            <a:r>
              <a:rPr lang="en-US" dirty="0" err="1"/>
              <a:t>r'That</a:t>
            </a:r>
            <a:r>
              <a:rPr lang="en-US" dirty="0"/>
              <a:t> is Carol\'s cat.’)</a:t>
            </a:r>
            <a:endParaRPr lang="tr-TR" dirty="0"/>
          </a:p>
          <a:p>
            <a:r>
              <a:rPr lang="en-US" dirty="0"/>
              <a:t>That is Carol\'s cat.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en-US" dirty="0"/>
              <a:t>r before</a:t>
            </a:r>
            <a:r>
              <a:rPr lang="tr-TR" dirty="0"/>
              <a:t> string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dirty="0"/>
              <a:t>place an r </a:t>
            </a:r>
            <a:endParaRPr lang="tr-TR" dirty="0"/>
          </a:p>
          <a:p>
            <a:r>
              <a:rPr lang="en-US" dirty="0"/>
              <a:t>before the beginning quotation mark of a string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Placeholder 6" descr="A close up of a flower&#10;&#10;Description automatically generated">
            <a:extLst>
              <a:ext uri="{FF2B5EF4-FFF2-40B4-BE49-F238E27FC236}">
                <a16:creationId xmlns:a16="http://schemas.microsoft.com/office/drawing/2014/main" id="{D9C6CC6D-7FED-4E48-BED3-48F35DC319D7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97" b="509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3481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3EE9DF-117C-4582-9E40-52116682F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947" y="1050979"/>
            <a:ext cx="4934411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Usage of Raw Strings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316" y="4633421"/>
            <a:ext cx="7624690" cy="360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such as the strings used for regular expressions</a:t>
            </a:r>
            <a:endParaRPr lang="tr-T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2681281"/>
            <a:ext cx="5120641" cy="55521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Raw strings are helpful  for </a:t>
            </a:r>
            <a:r>
              <a:rPr lang="en-US" dirty="0"/>
              <a:t>string values </a:t>
            </a:r>
            <a:r>
              <a:rPr lang="tr-TR" dirty="0"/>
              <a:t>with </a:t>
            </a:r>
            <a:r>
              <a:rPr lang="en-US" dirty="0"/>
              <a:t>many backslashes</a:t>
            </a:r>
            <a:endParaRPr lang="tr-TR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926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95" y="374417"/>
            <a:ext cx="8466904" cy="679324"/>
          </a:xfrm>
        </p:spPr>
        <p:txBody>
          <a:bodyPr/>
          <a:lstStyle/>
          <a:p>
            <a:pPr algn="ctr"/>
            <a:r>
              <a:rPr lang="en-US" dirty="0"/>
              <a:t>Multiline Strings with Triple Quotes</a:t>
            </a:r>
            <a:endParaRPr lang="tr-TR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Newline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258" y="4683349"/>
            <a:ext cx="1661140" cy="831186"/>
          </a:xfrm>
        </p:spPr>
        <p:txBody>
          <a:bodyPr/>
          <a:lstStyle/>
          <a:p>
            <a:pPr algn="l"/>
            <a:r>
              <a:rPr lang="tr-TR" b="1" dirty="0"/>
              <a:t>\n’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use the \n escape character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put a newline into a string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Multiline Strings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02743" y="4688112"/>
            <a:ext cx="1576949" cy="953033"/>
          </a:xfrm>
        </p:spPr>
        <p:txBody>
          <a:bodyPr/>
          <a:lstStyle/>
          <a:p>
            <a:pPr algn="l"/>
            <a:r>
              <a:rPr lang="tr-TR" b="1" dirty="0"/>
              <a:t>Easier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Begins with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"""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‘‘'</a:t>
            </a:r>
            <a:endParaRPr lang="en-US" b="1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Part of the String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16587" y="4683349"/>
            <a:ext cx="1314995" cy="1423931"/>
          </a:xfrm>
        </p:spPr>
        <p:txBody>
          <a:bodyPr/>
          <a:lstStyle/>
          <a:p>
            <a:pPr algn="l"/>
            <a:r>
              <a:rPr lang="tr-TR" b="1" dirty="0"/>
              <a:t>İn between any of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quotes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Tabs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newlines</a:t>
            </a:r>
            <a:endParaRPr lang="tr-TR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8432" y="3917626"/>
            <a:ext cx="1624263" cy="504000"/>
          </a:xfrm>
        </p:spPr>
        <p:txBody>
          <a:bodyPr/>
          <a:lstStyle/>
          <a:p>
            <a:r>
              <a:rPr lang="tr-TR" dirty="0"/>
              <a:t>Doesn’t apply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27783" y="4683646"/>
            <a:ext cx="1446129" cy="1271986"/>
          </a:xfrm>
        </p:spPr>
        <p:txBody>
          <a:bodyPr/>
          <a:lstStyle/>
          <a:p>
            <a:pPr algn="l"/>
            <a:r>
              <a:rPr lang="tr-TR" b="1" dirty="0"/>
              <a:t>indentation rules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for blocks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inside a</a:t>
            </a:r>
            <a:r>
              <a:rPr lang="tr-TR" dirty="0"/>
              <a:t> </a:t>
            </a:r>
            <a:r>
              <a:rPr lang="en-US" dirty="0"/>
              <a:t>multiline string.</a:t>
            </a:r>
            <a:r>
              <a:rPr lang="pt-BR" dirty="0"/>
              <a:t>'</a:t>
            </a:r>
            <a:endParaRPr lang="tr-TR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Simple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41040" y="4688111"/>
            <a:ext cx="1386512" cy="868627"/>
          </a:xfrm>
        </p:spPr>
        <p:txBody>
          <a:bodyPr/>
          <a:lstStyle/>
          <a:p>
            <a:pPr algn="l"/>
            <a:r>
              <a:rPr lang="tr-TR" b="1" dirty="0"/>
              <a:t>Formatting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String output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00210-58E5-4829-84F1-437F2BD10A62}"/>
              </a:ext>
            </a:extLst>
          </p:cNvPr>
          <p:cNvSpPr/>
          <p:nvPr/>
        </p:nvSpPr>
        <p:spPr>
          <a:xfrm>
            <a:off x="803432" y="1079876"/>
            <a:ext cx="7876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multiline string in Python begins</a:t>
            </a:r>
            <a:r>
              <a:rPr lang="tr-TR" dirty="0"/>
              <a:t> </a:t>
            </a:r>
            <a:r>
              <a:rPr lang="en-US" dirty="0"/>
              <a:t>and ends with three single</a:t>
            </a:r>
            <a:r>
              <a:rPr lang="tr-TR" dirty="0"/>
              <a:t>/</a:t>
            </a:r>
            <a:r>
              <a:rPr lang="en-US" dirty="0"/>
              <a:t>double quotes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77045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25912"/>
            <a:ext cx="8505000" cy="527124"/>
          </a:xfrm>
        </p:spPr>
        <p:txBody>
          <a:bodyPr/>
          <a:lstStyle/>
          <a:p>
            <a:pPr algn="ctr"/>
            <a:r>
              <a:rPr lang="en-US" dirty="0"/>
              <a:t>Multiline Strings with Triple Quotes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179" y="886934"/>
            <a:ext cx="4150021" cy="131083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print('''Dear Alice,</a:t>
            </a:r>
          </a:p>
          <a:p>
            <a:pPr marL="0" indent="0">
              <a:buNone/>
            </a:pPr>
            <a:r>
              <a:rPr lang="en-US" dirty="0"/>
              <a:t>Eve's cat has been arrested for catnapping, cat burglary, and extortion.</a:t>
            </a:r>
          </a:p>
          <a:p>
            <a:pPr marL="0" indent="0">
              <a:buNone/>
            </a:pPr>
            <a:r>
              <a:rPr lang="en-US" dirty="0"/>
              <a:t>Sincerely,</a:t>
            </a:r>
          </a:p>
          <a:p>
            <a:pPr marL="0" indent="0">
              <a:buNone/>
            </a:pPr>
            <a:r>
              <a:rPr lang="en-US" dirty="0"/>
              <a:t>Bob</a:t>
            </a:r>
            <a:r>
              <a:rPr lang="tr-TR" dirty="0"/>
              <a:t>'''</a:t>
            </a:r>
            <a:r>
              <a:rPr lang="en-US" dirty="0"/>
              <a:t>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066" y="585039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3452" y="836048"/>
            <a:ext cx="4567989" cy="508349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Dear Alice,</a:t>
            </a:r>
          </a:p>
          <a:p>
            <a:pPr marL="0" indent="0">
              <a:buNone/>
            </a:pPr>
            <a:r>
              <a:rPr lang="en-US" dirty="0"/>
              <a:t>Eve's cat has been arrested for catnapping, cat burglary, and extortion.</a:t>
            </a:r>
          </a:p>
          <a:p>
            <a:pPr marL="0" indent="0">
              <a:buNone/>
            </a:pPr>
            <a:r>
              <a:rPr lang="en-US" dirty="0"/>
              <a:t>Sincerely,</a:t>
            </a:r>
          </a:p>
          <a:p>
            <a:pPr marL="0" indent="0">
              <a:buNone/>
            </a:pPr>
            <a:r>
              <a:rPr lang="en-US" dirty="0"/>
              <a:t>Bob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#Alternatively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&gt;&gt;&gt; print('Dear Alice,\n\</a:t>
            </a:r>
            <a:r>
              <a:rPr lang="en-US" dirty="0" err="1"/>
              <a:t>nEve</a:t>
            </a:r>
            <a:r>
              <a:rPr lang="en-US" dirty="0"/>
              <a:t>\'s cat has been arrested for catnapping, cat burglary, and</a:t>
            </a:r>
            <a:r>
              <a:rPr lang="tr-TR" dirty="0"/>
              <a:t> </a:t>
            </a:r>
            <a:r>
              <a:rPr lang="en-US" dirty="0"/>
              <a:t>extortion.\n\</a:t>
            </a:r>
            <a:r>
              <a:rPr lang="en-US" dirty="0" err="1"/>
              <a:t>nSincerely</a:t>
            </a:r>
            <a:r>
              <a:rPr lang="en-US" dirty="0"/>
              <a:t>,\</a:t>
            </a:r>
            <a:r>
              <a:rPr lang="en-US" dirty="0" err="1"/>
              <a:t>nBob</a:t>
            </a:r>
            <a:r>
              <a:rPr lang="en-US" dirty="0"/>
              <a:t>’)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Dear Alice,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Eve's cat has been arrested for catnapping, cat burglary, and extortion.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Sincerely,</a:t>
            </a:r>
          </a:p>
          <a:p>
            <a:pPr marL="0" indent="0">
              <a:buNone/>
            </a:pPr>
            <a:r>
              <a:rPr lang="en-US" dirty="0"/>
              <a:t>Bob</a:t>
            </a:r>
          </a:p>
        </p:txBody>
      </p:sp>
      <p:pic>
        <p:nvPicPr>
          <p:cNvPr id="8196" name="Picture 4" descr="The Biggest &amp; Best Flower Festivals Around the World">
            <a:extLst>
              <a:ext uri="{FF2B5EF4-FFF2-40B4-BE49-F238E27FC236}">
                <a16:creationId xmlns:a16="http://schemas.microsoft.com/office/drawing/2014/main" id="{63B4D295-835E-439B-A422-B88F94B84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17" y="2218822"/>
            <a:ext cx="4165935" cy="416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172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pPr algn="ctr"/>
            <a:r>
              <a:rPr lang="tr-TR" dirty="0"/>
              <a:t>Multiline Comments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/>
              <a:t>Multiline Strings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dirty="0"/>
              <a:t>used</a:t>
            </a:r>
          </a:p>
          <a:p>
            <a:r>
              <a:rPr lang="en-US" dirty="0"/>
              <a:t>for </a:t>
            </a:r>
            <a:r>
              <a:rPr lang="tr-TR" dirty="0"/>
              <a:t>multiple line </a:t>
            </a:r>
            <a:r>
              <a:rPr lang="en-US" dirty="0"/>
              <a:t>comments 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/>
              <a:t>'''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tr-TR" dirty="0"/>
              <a:t>Comment</a:t>
            </a:r>
          </a:p>
          <a:p>
            <a:r>
              <a:rPr lang="en-US" dirty="0"/>
              <a:t>span multiple</a:t>
            </a:r>
            <a:r>
              <a:rPr lang="tr-TR" dirty="0"/>
              <a:t> lines.</a:t>
            </a:r>
            <a:endParaRPr lang="en-US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Multiline comment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dirty="0"/>
              <a:t>"""This is a test Python program</a:t>
            </a:r>
            <a:endParaRPr lang="tr-TR" dirty="0"/>
          </a:p>
          <a:p>
            <a:r>
              <a:rPr lang="tr-TR" dirty="0"/>
              <a:t>….</a:t>
            </a:r>
          </a:p>
          <a:p>
            <a:r>
              <a:rPr lang="en-US" dirty="0"/>
              <a:t>This program was designed for Python 3, not Python 2.</a:t>
            </a:r>
          </a:p>
          <a:p>
            <a:r>
              <a:rPr lang="tr-TR" dirty="0"/>
              <a:t>"""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Placeholder 6" descr="A close up of a flower&#10;&#10;Description automatically generated">
            <a:extLst>
              <a:ext uri="{FF2B5EF4-FFF2-40B4-BE49-F238E27FC236}">
                <a16:creationId xmlns:a16="http://schemas.microsoft.com/office/drawing/2014/main" id="{927FB896-67F4-4E97-B0B2-3FE444C350D9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97" b="509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3543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70810"/>
            <a:ext cx="8505000" cy="593190"/>
          </a:xfrm>
        </p:spPr>
        <p:txBody>
          <a:bodyPr/>
          <a:lstStyle/>
          <a:p>
            <a:pPr algn="ctr"/>
            <a:r>
              <a:rPr lang="tr-TR" dirty="0"/>
              <a:t>Dictionary indexes still can be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0"/>
            <a:ext cx="4149526" cy="496251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"""This is a test Python program.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Written by Al </a:t>
            </a:r>
            <a:r>
              <a:rPr lang="en-US" dirty="0" err="1"/>
              <a:t>Sweigart</a:t>
            </a:r>
            <a:r>
              <a:rPr lang="en-US" dirty="0"/>
              <a:t> al@inventwithpython.com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This program was designed for Python 3, not Python 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def spam():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"""This is a multiline comment to help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explain what the spam() function does."""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print('''Hello!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Hi!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How are you?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Hope everything is fine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''')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spam()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001617" cy="177881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Hello!</a:t>
            </a:r>
          </a:p>
          <a:p>
            <a:pPr marL="0" indent="0">
              <a:buNone/>
            </a:pPr>
            <a:r>
              <a:rPr lang="en-US" dirty="0"/>
              <a:t>Hi!</a:t>
            </a:r>
          </a:p>
          <a:p>
            <a:pPr marL="0" indent="0">
              <a:buNone/>
            </a:pPr>
            <a:r>
              <a:rPr lang="en-US" dirty="0"/>
              <a:t>How are you?</a:t>
            </a:r>
          </a:p>
          <a:p>
            <a:pPr marL="0" indent="0">
              <a:buNone/>
            </a:pPr>
            <a:r>
              <a:rPr lang="en-US" dirty="0"/>
              <a:t>Hope everything is fine</a:t>
            </a:r>
          </a:p>
        </p:txBody>
      </p:sp>
      <p:pic>
        <p:nvPicPr>
          <p:cNvPr id="9220" name="Picture 4" descr="Flower Your Place – Flowerbulbs, perennials and wildflower seeds ...">
            <a:extLst>
              <a:ext uri="{FF2B5EF4-FFF2-40B4-BE49-F238E27FC236}">
                <a16:creationId xmlns:a16="http://schemas.microsoft.com/office/drawing/2014/main" id="{63E06972-7B74-4152-84D5-937811C7F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403" y="2935705"/>
            <a:ext cx="40005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256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98" y="270810"/>
            <a:ext cx="8269602" cy="593190"/>
          </a:xfrm>
        </p:spPr>
        <p:txBody>
          <a:bodyPr/>
          <a:lstStyle/>
          <a:p>
            <a:pPr algn="ctr"/>
            <a:r>
              <a:rPr lang="tr-TR" dirty="0"/>
              <a:t>Indexing and Slicing Strings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85026"/>
          </a:xfrm>
        </p:spPr>
        <p:txBody>
          <a:bodyPr/>
          <a:lstStyle/>
          <a:p>
            <a:r>
              <a:rPr lang="en-US" dirty="0"/>
              <a:t>Strings use indexes and slices the same way lists do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String as if a List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305135"/>
            <a:ext cx="2067951" cy="900000"/>
          </a:xfrm>
        </p:spPr>
        <p:txBody>
          <a:bodyPr/>
          <a:lstStyle/>
          <a:p>
            <a:pPr algn="l"/>
            <a:r>
              <a:rPr lang="en-US" dirty="0"/>
              <a:t>each character in the string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 an item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with a corresponding index.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Spaces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5963" y="4333270"/>
            <a:ext cx="1807385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The space and exclamation point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are included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the character count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577753" cy="504000"/>
          </a:xfrm>
        </p:spPr>
        <p:txBody>
          <a:bodyPr/>
          <a:lstStyle/>
          <a:p>
            <a:r>
              <a:rPr lang="en-US" dirty="0"/>
              <a:t>'Hello world!'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7342" y="4334949"/>
            <a:ext cx="2138289" cy="1178747"/>
          </a:xfrm>
        </p:spPr>
        <p:txBody>
          <a:bodyPr/>
          <a:lstStyle/>
          <a:p>
            <a:pPr algn="l"/>
            <a:r>
              <a:rPr lang="en-US" dirty="0"/>
              <a:t>is 12 characters long,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H at index 0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! at index 11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A59A0D-BB86-4E71-8625-13C8F305BC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0185" y="5378083"/>
            <a:ext cx="6710190" cy="72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46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" y="344107"/>
            <a:ext cx="8108238" cy="432000"/>
          </a:xfrm>
        </p:spPr>
        <p:txBody>
          <a:bodyPr/>
          <a:lstStyle/>
          <a:p>
            <a:pPr algn="ctr"/>
            <a:r>
              <a:rPr lang="tr-TR" dirty="0"/>
              <a:t>Indexing and Slicing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955888"/>
            <a:ext cx="4149526" cy="8021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'Hello world!'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947204"/>
            <a:ext cx="4103712" cy="524839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spam[0]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'H’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spam[4]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'o’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spam[-1]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'!’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spam[0:5]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'Hello’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spam[:5]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'Hello’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spam[6:]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'world!’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fizz = spam[0:5]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fizz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'Hello'</a:t>
            </a:r>
          </a:p>
        </p:txBody>
      </p:sp>
      <p:pic>
        <p:nvPicPr>
          <p:cNvPr id="26626" name="Picture 2" descr="Wild Beauty Of A Thistle High-Res Stock Photo - Getty Images">
            <a:extLst>
              <a:ext uri="{FF2B5EF4-FFF2-40B4-BE49-F238E27FC236}">
                <a16:creationId xmlns:a16="http://schemas.microsoft.com/office/drawing/2014/main" id="{2319062A-489B-41DD-BB20-8AFC1AAEE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38" y="1747451"/>
            <a:ext cx="4131009" cy="444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720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2" y="420053"/>
            <a:ext cx="8301875" cy="432000"/>
          </a:xfrm>
        </p:spPr>
        <p:txBody>
          <a:bodyPr/>
          <a:lstStyle/>
          <a:p>
            <a:pPr algn="ctr"/>
            <a:r>
              <a:rPr lang="en-US" dirty="0"/>
              <a:t>The in and not in Operators with Strings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The in and not in operators can be used with strings just like with list values.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Joined Strings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37731" y="4659977"/>
            <a:ext cx="1822922" cy="799127"/>
          </a:xfrm>
        </p:spPr>
        <p:txBody>
          <a:bodyPr/>
          <a:lstStyle/>
          <a:p>
            <a:pPr algn="l"/>
            <a:r>
              <a:rPr lang="en-US" dirty="0"/>
              <a:t>An expression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two strings joined 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Evaluation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2"/>
            <a:ext cx="1793737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using in or not in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 will evaluate to 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Boolean True or False.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7399" y="349023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2310" y="4667533"/>
            <a:ext cx="1924335" cy="777923"/>
          </a:xfrm>
        </p:spPr>
        <p:txBody>
          <a:bodyPr/>
          <a:lstStyle/>
          <a:p>
            <a:pPr algn="l"/>
            <a:r>
              <a:rPr lang="en-US" dirty="0"/>
              <a:t>&gt;&gt;&gt; 'Hello' in 'Hello World'</a:t>
            </a:r>
          </a:p>
          <a:p>
            <a:pPr algn="l"/>
            <a:r>
              <a:rPr lang="en-US" dirty="0"/>
              <a:t>True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5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70810"/>
            <a:ext cx="8505000" cy="593190"/>
          </a:xfrm>
        </p:spPr>
        <p:txBody>
          <a:bodyPr/>
          <a:lstStyle/>
          <a:p>
            <a:pPr algn="ctr"/>
            <a:r>
              <a:rPr lang="tr-TR" dirty="0"/>
              <a:t>in </a:t>
            </a:r>
            <a:r>
              <a:rPr lang="tr-TR" dirty="0" err="1"/>
              <a:t>and</a:t>
            </a:r>
            <a:r>
              <a:rPr lang="tr-TR" dirty="0"/>
              <a:t> not in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Strings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1"/>
            <a:ext cx="4149526" cy="8021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'Hello' in 'Hello World'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473056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'Hello' in 'Hello'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'HELLO' in 'Hello World'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False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'' in 'spam'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'cats' not in 'cats and dogs'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False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02CB4A-2028-4240-BA47-9B628E88E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11" y="1950870"/>
            <a:ext cx="4175109" cy="38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2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Chapter-6 Manipulating Strings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Useful String Methods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upper(), lower(),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isupper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(), and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islower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String Methods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isX String Methods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startswith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and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endswith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String Methods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join() and split() String Methods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Justifying Text with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rjust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ljust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(), and center()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Whitespace with strip(),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rstrip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lstrip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Copying and Pasting Strings with the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pyperclip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5" name="Picture 8" descr="National Flower | The Rose">
            <a:extLst>
              <a:ext uri="{FF2B5EF4-FFF2-40B4-BE49-F238E27FC236}">
                <a16:creationId xmlns:a16="http://schemas.microsoft.com/office/drawing/2014/main" id="{0FBEAC4E-83BA-42CA-9068-83E386F3EB1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" b="1380"/>
          <a:stretch>
            <a:fillRect/>
          </a:stretch>
        </p:blipFill>
        <p:spPr bwMode="auto">
          <a:xfrm>
            <a:off x="65088" y="87313"/>
            <a:ext cx="4506912" cy="668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61365"/>
            <a:ext cx="8505000" cy="702635"/>
          </a:xfrm>
        </p:spPr>
        <p:txBody>
          <a:bodyPr/>
          <a:lstStyle/>
          <a:p>
            <a:pPr algn="ctr"/>
            <a:r>
              <a:rPr lang="en-US" dirty="0"/>
              <a:t>The upper(), lower() String Methods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return a </a:t>
            </a:r>
            <a:r>
              <a:rPr lang="en-US" b="1" dirty="0"/>
              <a:t>new string </a:t>
            </a:r>
            <a:r>
              <a:rPr lang="en-US" dirty="0"/>
              <a:t>converted to uppercase or lowercase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upper()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900000"/>
          </a:xfrm>
        </p:spPr>
        <p:txBody>
          <a:bodyPr/>
          <a:lstStyle/>
          <a:p>
            <a:r>
              <a:rPr lang="en-US" dirty="0"/>
              <a:t>return a new string </a:t>
            </a:r>
            <a:endParaRPr lang="tr-TR" dirty="0"/>
          </a:p>
          <a:p>
            <a:r>
              <a:rPr lang="en-US" dirty="0"/>
              <a:t>converted to </a:t>
            </a:r>
            <a:r>
              <a:rPr lang="en-US" b="1" dirty="0"/>
              <a:t>uppercase</a:t>
            </a:r>
            <a:endParaRPr lang="tr-TR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lower()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2"/>
            <a:ext cx="2039816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return a new string </a:t>
            </a:r>
            <a:endParaRPr lang="tr-TR" dirty="0"/>
          </a:p>
          <a:p>
            <a:r>
              <a:rPr lang="en-US" dirty="0"/>
              <a:t>converted to</a:t>
            </a:r>
            <a:r>
              <a:rPr lang="tr-TR" dirty="0"/>
              <a:t> </a:t>
            </a:r>
            <a:r>
              <a:rPr lang="tr-TR" b="1" dirty="0"/>
              <a:t>lowercase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3877" y="3872374"/>
            <a:ext cx="2196102" cy="504000"/>
          </a:xfrm>
        </p:spPr>
        <p:txBody>
          <a:bodyPr/>
          <a:lstStyle/>
          <a:p>
            <a:r>
              <a:rPr lang="en-US" dirty="0"/>
              <a:t>Nonletter characters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53686" y="4626591"/>
            <a:ext cx="2841673" cy="1605397"/>
          </a:xfrm>
        </p:spPr>
        <p:txBody>
          <a:bodyPr/>
          <a:lstStyle/>
          <a:p>
            <a:pPr algn="l"/>
            <a:r>
              <a:rPr lang="en-US" dirty="0"/>
              <a:t>Nonletter characters in the string</a:t>
            </a:r>
            <a:endParaRPr lang="tr-TR" dirty="0"/>
          </a:p>
          <a:p>
            <a:pPr algn="l"/>
            <a:r>
              <a:rPr lang="en-US" dirty="0"/>
              <a:t>remain unchanged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19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150607"/>
            <a:ext cx="8505000" cy="537882"/>
          </a:xfrm>
        </p:spPr>
        <p:txBody>
          <a:bodyPr/>
          <a:lstStyle/>
          <a:p>
            <a:pPr algn="ctr"/>
            <a:r>
              <a:rPr lang="tr-TR" dirty="0"/>
              <a:t>birthdays.py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000" y="887628"/>
            <a:ext cx="4104000" cy="172405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'Hello world!'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spam.upper()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'HELLO WORLD!'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7153" y="887628"/>
            <a:ext cx="4103712" cy="178733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'Hello world!'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spam.lower()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'hello world!'</a:t>
            </a:r>
          </a:p>
        </p:txBody>
      </p:sp>
      <p:pic>
        <p:nvPicPr>
          <p:cNvPr id="7" name="Picture 2" descr="How do flowers know when it's time to bloom? - Futurity">
            <a:extLst>
              <a:ext uri="{FF2B5EF4-FFF2-40B4-BE49-F238E27FC236}">
                <a16:creationId xmlns:a16="http://schemas.microsoft.com/office/drawing/2014/main" id="{50BCD0FB-23C0-45E1-B333-6A86585A5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86" y="2637222"/>
            <a:ext cx="6895651" cy="394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548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B89164-C947-41A1-8148-ABEC34FF0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947" y="1050979"/>
            <a:ext cx="532053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upper(), lower() String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316" y="4633421"/>
            <a:ext cx="7624690" cy="360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spam =</a:t>
            </a:r>
            <a:r>
              <a:rPr lang="tr-TR" dirty="0"/>
              <a:t> </a:t>
            </a:r>
            <a:r>
              <a:rPr lang="en-US" dirty="0" err="1"/>
              <a:t>spam.upper</a:t>
            </a:r>
            <a:r>
              <a:rPr lang="en-US" dirty="0"/>
              <a:t>()</a:t>
            </a:r>
            <a:endParaRPr lang="tr-T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2681280"/>
            <a:ext cx="5120641" cy="154952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do not </a:t>
            </a:r>
            <a:r>
              <a:rPr lang="en-US" u="sng" dirty="0"/>
              <a:t>change</a:t>
            </a:r>
            <a:r>
              <a:rPr lang="en-US" dirty="0"/>
              <a:t> the string itself but </a:t>
            </a:r>
            <a:r>
              <a:rPr lang="en-US" u="sng" dirty="0"/>
              <a:t>return</a:t>
            </a:r>
            <a:r>
              <a:rPr lang="tr-TR" dirty="0"/>
              <a:t> </a:t>
            </a:r>
            <a:r>
              <a:rPr lang="en-US" b="1" dirty="0"/>
              <a:t>new string values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to change the original string, </a:t>
            </a:r>
            <a:endParaRPr lang="tr-TR" dirty="0"/>
          </a:p>
          <a:p>
            <a:r>
              <a:rPr lang="en-US" dirty="0"/>
              <a:t>call upper() or lower() on the string </a:t>
            </a:r>
            <a:endParaRPr lang="tr-TR" dirty="0"/>
          </a:p>
          <a:p>
            <a:r>
              <a:rPr lang="en-US" dirty="0"/>
              <a:t>and then assign the new string to the</a:t>
            </a:r>
            <a:r>
              <a:rPr lang="tr-TR" dirty="0"/>
              <a:t> </a:t>
            </a:r>
            <a:r>
              <a:rPr lang="en-US" dirty="0"/>
              <a:t>variable</a:t>
            </a:r>
            <a:endParaRPr lang="tr-TR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640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8" y="432000"/>
            <a:ext cx="3863105" cy="432000"/>
          </a:xfrm>
        </p:spPr>
        <p:txBody>
          <a:bodyPr/>
          <a:lstStyle/>
          <a:p>
            <a:pPr algn="ctr"/>
            <a:r>
              <a:rPr lang="en-US" dirty="0"/>
              <a:t>upper(), lower() String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8913" y="1300724"/>
            <a:ext cx="2509099" cy="432000"/>
          </a:xfrm>
        </p:spPr>
        <p:txBody>
          <a:bodyPr/>
          <a:lstStyle/>
          <a:p>
            <a:r>
              <a:rPr lang="tr-TR" dirty="0"/>
              <a:t>case-insensitive comparison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732813"/>
            <a:ext cx="2601748" cy="858129"/>
          </a:xfrm>
        </p:spPr>
        <p:txBody>
          <a:bodyPr/>
          <a:lstStyle/>
          <a:p>
            <a:r>
              <a:rPr lang="tr-TR" dirty="0"/>
              <a:t>methods are helpful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make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b="1" dirty="0"/>
              <a:t>case-insensitive</a:t>
            </a:r>
            <a:r>
              <a:rPr lang="tr-TR" dirty="0"/>
              <a:t> comparison.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6212" y="2933805"/>
            <a:ext cx="1462648" cy="432000"/>
          </a:xfrm>
        </p:spPr>
        <p:txBody>
          <a:bodyPr/>
          <a:lstStyle/>
          <a:p>
            <a:r>
              <a:rPr lang="tr-TR" sz="1200" dirty="0"/>
              <a:t>not equal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858130"/>
          </a:xfrm>
        </p:spPr>
        <p:txBody>
          <a:bodyPr/>
          <a:lstStyle/>
          <a:p>
            <a:r>
              <a:rPr lang="tr-TR" dirty="0"/>
              <a:t>'great’ </a:t>
            </a:r>
          </a:p>
          <a:p>
            <a:r>
              <a:rPr lang="tr-TR" dirty="0"/>
              <a:t>'GREat'</a:t>
            </a:r>
            <a:endParaRPr lang="en-US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convert before compare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17910"/>
            <a:ext cx="2251799" cy="1160970"/>
          </a:xfrm>
        </p:spPr>
        <p:txBody>
          <a:bodyPr/>
          <a:lstStyle/>
          <a:p>
            <a:r>
              <a:rPr lang="tr-TR" dirty="0"/>
              <a:t>To lowercase</a:t>
            </a:r>
          </a:p>
          <a:p>
            <a:r>
              <a:rPr lang="tr-TR" dirty="0"/>
              <a:t>or uppercase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Placeholder 6" descr="A close up of a flower&#10;&#10;Description automatically generated">
            <a:extLst>
              <a:ext uri="{FF2B5EF4-FFF2-40B4-BE49-F238E27FC236}">
                <a16:creationId xmlns:a16="http://schemas.microsoft.com/office/drawing/2014/main" id="{49F9D225-32FA-4E71-B2F8-4BA20AC8640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97" b="509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35308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70810"/>
            <a:ext cx="8505000" cy="593190"/>
          </a:xfrm>
        </p:spPr>
        <p:txBody>
          <a:bodyPr/>
          <a:lstStyle/>
          <a:p>
            <a:pPr algn="ctr"/>
            <a:r>
              <a:rPr lang="tr-TR" dirty="0"/>
              <a:t>birthdays.py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865" y="896313"/>
            <a:ext cx="4104000" cy="209254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print('How are you?')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feeling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if </a:t>
            </a:r>
            <a:r>
              <a:rPr lang="en-US" dirty="0" err="1"/>
              <a:t>feeling.lower</a:t>
            </a:r>
            <a:r>
              <a:rPr lang="en-US" dirty="0"/>
              <a:t>() == 'great':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print('I feel great too.')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else: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print('I hope the rest of your day is good.')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7153" y="887628"/>
            <a:ext cx="4103712" cy="211487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How are you?</a:t>
            </a:r>
          </a:p>
          <a:p>
            <a:pPr marL="0" indent="0">
              <a:buNone/>
            </a:pPr>
            <a:r>
              <a:rPr lang="en-US" dirty="0" err="1"/>
              <a:t>GREat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 feel great too.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How are you?</a:t>
            </a:r>
          </a:p>
          <a:p>
            <a:pPr marL="0" indent="0">
              <a:buNone/>
            </a:pPr>
            <a:r>
              <a:rPr lang="en-US" dirty="0"/>
              <a:t>not so good</a:t>
            </a:r>
          </a:p>
          <a:p>
            <a:pPr marL="0" indent="0">
              <a:buNone/>
            </a:pPr>
            <a:r>
              <a:rPr lang="en-US" dirty="0"/>
              <a:t>I hope the rest of your day is good.</a:t>
            </a:r>
          </a:p>
        </p:txBody>
      </p:sp>
      <p:pic>
        <p:nvPicPr>
          <p:cNvPr id="11266" name="Picture 2" descr="The Meaning Of The Lotus Flower | Zensitize">
            <a:extLst>
              <a:ext uri="{FF2B5EF4-FFF2-40B4-BE49-F238E27FC236}">
                <a16:creationId xmlns:a16="http://schemas.microsoft.com/office/drawing/2014/main" id="{1647AC66-4C2C-44DD-8158-1978E4698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7" y="3003633"/>
            <a:ext cx="7124700" cy="374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675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50458"/>
            <a:ext cx="8505000" cy="613542"/>
          </a:xfrm>
        </p:spPr>
        <p:txBody>
          <a:bodyPr/>
          <a:lstStyle/>
          <a:p>
            <a:pPr algn="ctr"/>
            <a:r>
              <a:rPr lang="en-US" dirty="0" err="1"/>
              <a:t>isupper</a:t>
            </a:r>
            <a:r>
              <a:rPr lang="en-US" dirty="0"/>
              <a:t>(), and </a:t>
            </a:r>
            <a:r>
              <a:rPr lang="en-US" dirty="0" err="1"/>
              <a:t>islower</a:t>
            </a:r>
            <a:r>
              <a:rPr lang="en-US" dirty="0"/>
              <a:t>() String Methods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return </a:t>
            </a:r>
            <a:r>
              <a:rPr lang="en-US" b="1" dirty="0"/>
              <a:t>True</a:t>
            </a:r>
            <a:r>
              <a:rPr lang="en-US" dirty="0"/>
              <a:t> </a:t>
            </a:r>
            <a:r>
              <a:rPr lang="tr-TR" dirty="0"/>
              <a:t>if </a:t>
            </a:r>
            <a:r>
              <a:rPr lang="en-US" dirty="0"/>
              <a:t>the letters are </a:t>
            </a:r>
            <a:r>
              <a:rPr lang="en-US" i="1" dirty="0"/>
              <a:t>uppercase</a:t>
            </a:r>
            <a:r>
              <a:rPr lang="en-US" dirty="0"/>
              <a:t> or</a:t>
            </a:r>
            <a:r>
              <a:rPr lang="tr-TR" dirty="0"/>
              <a:t> </a:t>
            </a:r>
            <a:r>
              <a:rPr lang="tr-TR" i="1" dirty="0"/>
              <a:t>lowercase</a:t>
            </a:r>
            <a:r>
              <a:rPr lang="tr-TR" dirty="0"/>
              <a:t>, respectively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isupper()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r>
              <a:rPr lang="en-US" dirty="0"/>
              <a:t>return </a:t>
            </a:r>
            <a:r>
              <a:rPr lang="en-US" b="1" dirty="0"/>
              <a:t>True</a:t>
            </a:r>
            <a:r>
              <a:rPr lang="en-US" dirty="0"/>
              <a:t> value</a:t>
            </a:r>
            <a:r>
              <a:rPr lang="tr-TR" dirty="0"/>
              <a:t> </a:t>
            </a:r>
          </a:p>
          <a:p>
            <a:r>
              <a:rPr lang="en-US" dirty="0"/>
              <a:t>if the string has at least </a:t>
            </a:r>
            <a:r>
              <a:rPr lang="en-US" b="1" dirty="0"/>
              <a:t>one letter </a:t>
            </a:r>
            <a:endParaRPr lang="tr-TR" b="1" dirty="0"/>
          </a:p>
          <a:p>
            <a:r>
              <a:rPr lang="en-US" dirty="0"/>
              <a:t>and </a:t>
            </a:r>
            <a:r>
              <a:rPr lang="en-US" u="sng" dirty="0"/>
              <a:t>all the letters </a:t>
            </a:r>
            <a:r>
              <a:rPr lang="en-US" dirty="0"/>
              <a:t>are </a:t>
            </a:r>
            <a:r>
              <a:rPr lang="en-US" b="1" dirty="0"/>
              <a:t>uppercase</a:t>
            </a:r>
            <a:endParaRPr lang="tr-TR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islower()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return </a:t>
            </a:r>
            <a:r>
              <a:rPr lang="en-US" b="1" dirty="0"/>
              <a:t>True</a:t>
            </a:r>
            <a:r>
              <a:rPr lang="en-US" dirty="0"/>
              <a:t> value</a:t>
            </a:r>
            <a:r>
              <a:rPr lang="tr-TR" dirty="0"/>
              <a:t> </a:t>
            </a:r>
          </a:p>
          <a:p>
            <a:r>
              <a:rPr lang="en-US" dirty="0"/>
              <a:t>if the string has at least </a:t>
            </a:r>
            <a:r>
              <a:rPr lang="en-US" b="1" dirty="0"/>
              <a:t>one letter </a:t>
            </a:r>
            <a:endParaRPr lang="tr-TR" b="1" dirty="0"/>
          </a:p>
          <a:p>
            <a:r>
              <a:rPr lang="en-US" dirty="0"/>
              <a:t>and </a:t>
            </a:r>
            <a:r>
              <a:rPr lang="en-US" u="sng" dirty="0"/>
              <a:t>all the letters </a:t>
            </a:r>
            <a:r>
              <a:rPr lang="en-US" dirty="0"/>
              <a:t>are </a:t>
            </a:r>
            <a:r>
              <a:rPr lang="tr-TR" b="1" dirty="0"/>
              <a:t>lowercase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132" y="4612943"/>
            <a:ext cx="2374956" cy="1647180"/>
          </a:xfrm>
        </p:spPr>
        <p:txBody>
          <a:bodyPr/>
          <a:lstStyle/>
          <a:p>
            <a:pPr algn="l"/>
            <a:r>
              <a:rPr lang="tr-TR" dirty="0"/>
              <a:t>&gt;&gt;&gt; 'Hello world!'. islower()</a:t>
            </a:r>
          </a:p>
          <a:p>
            <a:pPr algn="l"/>
            <a:r>
              <a:rPr lang="tr-TR" dirty="0"/>
              <a:t>False</a:t>
            </a:r>
          </a:p>
          <a:p>
            <a:pPr algn="l"/>
            <a:r>
              <a:rPr lang="en-US" dirty="0"/>
              <a:t>&gt;&gt;&gt; 'HELLO'.</a:t>
            </a:r>
            <a:r>
              <a:rPr lang="en-US" dirty="0" err="1"/>
              <a:t>isupper</a:t>
            </a:r>
            <a:r>
              <a:rPr lang="en-US" dirty="0"/>
              <a:t>()</a:t>
            </a:r>
          </a:p>
          <a:p>
            <a:pPr algn="l"/>
            <a:r>
              <a:rPr lang="en-US" dirty="0"/>
              <a:t>True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55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11" y="1272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6084" y="609004"/>
            <a:ext cx="4104000" cy="368177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 = 'Hello world!'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spam.islower()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spam.isupper()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'HELLO'.isupper()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'abc12345'.islower()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'12345'.islower()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'12345'.isupper()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00699" y="632404"/>
            <a:ext cx="4103712" cy="367681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'Hello'.upper()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'HELLO’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'Hello'.upper().lower()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'hello’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'Hello'.upper().lower().upper()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'HELLO’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'HELLO'.lower()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'hello’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'HELLO'.lower().islower()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</p:txBody>
      </p:sp>
      <p:pic>
        <p:nvPicPr>
          <p:cNvPr id="25602" name="Picture 2" descr="Importance of Flowers in Human life - Flower Power - Flower Blog">
            <a:extLst>
              <a:ext uri="{FF2B5EF4-FFF2-40B4-BE49-F238E27FC236}">
                <a16:creationId xmlns:a16="http://schemas.microsoft.com/office/drawing/2014/main" id="{5EE9F500-2601-42A6-879B-B5AC2CCB8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852" y="4366086"/>
            <a:ext cx="6208295" cy="246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077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77" y="134848"/>
            <a:ext cx="8505000" cy="495182"/>
          </a:xfrm>
        </p:spPr>
        <p:txBody>
          <a:bodyPr/>
          <a:lstStyle/>
          <a:p>
            <a:pPr algn="ctr"/>
            <a:r>
              <a:rPr lang="tr-TR" dirty="0"/>
              <a:t>The isX String Methods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en-US" dirty="0" err="1"/>
              <a:t>isalpha</a:t>
            </a:r>
            <a:r>
              <a:rPr lang="en-US" dirty="0"/>
              <a:t>()</a:t>
            </a:r>
            <a:endParaRPr lang="tr-T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369450"/>
            <a:ext cx="1731152" cy="1673908"/>
          </a:xfrm>
        </p:spPr>
        <p:txBody>
          <a:bodyPr/>
          <a:lstStyle/>
          <a:p>
            <a:pPr algn="l"/>
            <a:r>
              <a:rPr lang="en-US" dirty="0"/>
              <a:t>returns </a:t>
            </a:r>
            <a:r>
              <a:rPr lang="en-US" b="1" dirty="0"/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string consists only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letters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is </a:t>
            </a:r>
            <a:r>
              <a:rPr lang="en-US" u="sng" dirty="0"/>
              <a:t>not</a:t>
            </a:r>
            <a:r>
              <a:rPr lang="en-US" dirty="0"/>
              <a:t> </a:t>
            </a:r>
            <a:r>
              <a:rPr lang="en-US" b="1" dirty="0"/>
              <a:t>blank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isalnum()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374213"/>
            <a:ext cx="1839467" cy="1712688"/>
          </a:xfrm>
        </p:spPr>
        <p:txBody>
          <a:bodyPr/>
          <a:lstStyle/>
          <a:p>
            <a:pPr algn="l"/>
            <a:r>
              <a:rPr lang="en-US" dirty="0"/>
              <a:t>returns </a:t>
            </a:r>
            <a:r>
              <a:rPr lang="en-US" b="1" dirty="0"/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string consists only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letters</a:t>
            </a:r>
            <a:r>
              <a:rPr lang="en-US" dirty="0"/>
              <a:t> </a:t>
            </a:r>
            <a:r>
              <a:rPr lang="tr-TR" dirty="0"/>
              <a:t> and </a:t>
            </a:r>
            <a:r>
              <a:rPr lang="tr-TR" b="1" dirty="0"/>
              <a:t>numbers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is </a:t>
            </a:r>
            <a:r>
              <a:rPr lang="en-US" u="sng" dirty="0"/>
              <a:t>not</a:t>
            </a:r>
            <a:r>
              <a:rPr lang="en-US" dirty="0"/>
              <a:t> </a:t>
            </a:r>
            <a:r>
              <a:rPr lang="en-US" b="1" dirty="0"/>
              <a:t>blank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isdecimal()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85146" y="4374212"/>
            <a:ext cx="1719617" cy="1371725"/>
          </a:xfrm>
        </p:spPr>
        <p:txBody>
          <a:bodyPr/>
          <a:lstStyle/>
          <a:p>
            <a:pPr algn="l"/>
            <a:r>
              <a:rPr lang="en-US" dirty="0"/>
              <a:t>returns </a:t>
            </a:r>
            <a:r>
              <a:rPr lang="en-US" b="1" dirty="0"/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string consists only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numeric characters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is </a:t>
            </a:r>
            <a:r>
              <a:rPr lang="en-US" u="sng" dirty="0"/>
              <a:t>not</a:t>
            </a:r>
            <a:r>
              <a:rPr lang="en-US" dirty="0"/>
              <a:t> </a:t>
            </a:r>
            <a:r>
              <a:rPr lang="en-US" b="1" dirty="0"/>
              <a:t>blank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230258" cy="504000"/>
          </a:xfrm>
        </p:spPr>
        <p:txBody>
          <a:bodyPr/>
          <a:lstStyle/>
          <a:p>
            <a:r>
              <a:rPr lang="tr-TR" dirty="0"/>
              <a:t>isspace()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369747"/>
            <a:ext cx="1446129" cy="1717154"/>
          </a:xfrm>
        </p:spPr>
        <p:txBody>
          <a:bodyPr/>
          <a:lstStyle/>
          <a:p>
            <a:pPr algn="l"/>
            <a:r>
              <a:rPr lang="en-US" dirty="0"/>
              <a:t>returns </a:t>
            </a:r>
            <a:r>
              <a:rPr lang="en-US" b="1" dirty="0"/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string consists only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Spaces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Tabs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newlines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is </a:t>
            </a:r>
            <a:r>
              <a:rPr lang="en-US" u="sng" dirty="0"/>
              <a:t>not</a:t>
            </a:r>
            <a:r>
              <a:rPr lang="en-US" dirty="0"/>
              <a:t> </a:t>
            </a:r>
            <a:r>
              <a:rPr lang="en-US" b="1" dirty="0"/>
              <a:t>blank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istitle()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80663" y="4374212"/>
            <a:ext cx="1663337" cy="1862815"/>
          </a:xfrm>
        </p:spPr>
        <p:txBody>
          <a:bodyPr/>
          <a:lstStyle/>
          <a:p>
            <a:pPr algn="l"/>
            <a:r>
              <a:rPr lang="en-US" dirty="0"/>
              <a:t>returns </a:t>
            </a:r>
            <a:r>
              <a:rPr lang="en-US" b="1" dirty="0"/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string consists only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words</a:t>
            </a:r>
            <a:r>
              <a:rPr lang="tr-TR" dirty="0"/>
              <a:t> begin with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uppercase</a:t>
            </a:r>
            <a:r>
              <a:rPr lang="en-US" dirty="0"/>
              <a:t> letter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followed by only </a:t>
            </a:r>
            <a:r>
              <a:rPr lang="en-US" b="1" dirty="0"/>
              <a:t>lowercase</a:t>
            </a:r>
            <a:r>
              <a:rPr lang="en-US" dirty="0"/>
              <a:t> letters.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is </a:t>
            </a:r>
            <a:r>
              <a:rPr lang="en-US" u="sng" dirty="0"/>
              <a:t>not</a:t>
            </a:r>
            <a:r>
              <a:rPr lang="en-US" dirty="0"/>
              <a:t> </a:t>
            </a:r>
            <a:r>
              <a:rPr lang="en-US" b="1" dirty="0"/>
              <a:t>blank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6E24E9-F30C-4379-B292-03FAD4D0DCBF}"/>
              </a:ext>
            </a:extLst>
          </p:cNvPr>
          <p:cNvSpPr/>
          <p:nvPr/>
        </p:nvSpPr>
        <p:spPr>
          <a:xfrm>
            <a:off x="184245" y="840307"/>
            <a:ext cx="6025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NewBaskerville-Roman"/>
              </a:rPr>
              <a:t>return a Boolean </a:t>
            </a:r>
            <a:r>
              <a:rPr lang="en-US" dirty="0">
                <a:latin typeface="NewBaskerville-Roman"/>
              </a:rPr>
              <a:t>value that describes the nature of the string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77887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70810"/>
            <a:ext cx="8505000" cy="593190"/>
          </a:xfrm>
        </p:spPr>
        <p:txBody>
          <a:bodyPr/>
          <a:lstStyle/>
          <a:p>
            <a:pPr algn="ctr"/>
            <a:r>
              <a:rPr lang="tr-TR" dirty="0"/>
              <a:t>isX 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042737"/>
            <a:ext cx="4104000" cy="30480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'hello'.isalpha()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'hello123'.isalpha()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'hello123'.isalnum()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'hello'.isalnum()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'123'.isdecimal()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6740" y="1076678"/>
            <a:ext cx="4103712" cy="301405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 '.isspace()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'This Is Title Case'.istitle()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'This Is Title Case 123'.istitle()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'This Is not Title Case'.istitle()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'This Is NOT Title Case Either'.istitle()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</p:txBody>
      </p:sp>
      <p:pic>
        <p:nvPicPr>
          <p:cNvPr id="24578" name="Picture 2" descr="Singapore's National Flower: The Hybrid Orchid">
            <a:extLst>
              <a:ext uri="{FF2B5EF4-FFF2-40B4-BE49-F238E27FC236}">
                <a16:creationId xmlns:a16="http://schemas.microsoft.com/office/drawing/2014/main" id="{2EB05ACC-99C9-4C47-B442-EA76BED2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20817"/>
            <a:ext cx="8341895" cy="25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470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73" y="27081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958" y="828689"/>
            <a:ext cx="4231958" cy="284495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while True: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print('Enter your age:')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age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</a:t>
            </a:r>
            <a:r>
              <a:rPr lang="en-US" dirty="0" err="1"/>
              <a:t>age.isdecimal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break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print('Please enter a number for your age.')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while True: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print('Select a new password (letters and numbers only):')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password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</a:t>
            </a:r>
            <a:r>
              <a:rPr lang="en-US" dirty="0" err="1"/>
              <a:t>password.isalnum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break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print('Passwords can only have letters and numbers.')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2993" y="868130"/>
            <a:ext cx="4033701" cy="274134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Enter your age: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forty two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Please enter a number for your age.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Enter your age: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42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Select a new password (letters and numbers only):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secr3t!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Passwords can only have letters and numbers.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Select a new password (letters and numbers only):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secr3t</a:t>
            </a:r>
            <a:endParaRPr lang="tr-TR" dirty="0"/>
          </a:p>
        </p:txBody>
      </p:sp>
      <p:pic>
        <p:nvPicPr>
          <p:cNvPr id="23556" name="Picture 4" descr="Riverside Flower Club">
            <a:extLst>
              <a:ext uri="{FF2B5EF4-FFF2-40B4-BE49-F238E27FC236}">
                <a16:creationId xmlns:a16="http://schemas.microsoft.com/office/drawing/2014/main" id="{8827F478-4371-4482-846D-551937A97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05" y="3634539"/>
            <a:ext cx="8311563" cy="287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610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77" y="134848"/>
            <a:ext cx="8505000" cy="495182"/>
          </a:xfrm>
        </p:spPr>
        <p:txBody>
          <a:bodyPr/>
          <a:lstStyle/>
          <a:p>
            <a:pPr algn="ctr"/>
            <a:r>
              <a:rPr lang="en-US" dirty="0"/>
              <a:t>The </a:t>
            </a:r>
            <a:r>
              <a:rPr lang="en-US" dirty="0" err="1"/>
              <a:t>startswith</a:t>
            </a:r>
            <a:r>
              <a:rPr lang="en-US" dirty="0"/>
              <a:t>() and </a:t>
            </a:r>
            <a:r>
              <a:rPr lang="en-US" dirty="0" err="1"/>
              <a:t>endswith</a:t>
            </a:r>
            <a:r>
              <a:rPr lang="en-US" dirty="0"/>
              <a:t>() String Methods</a:t>
            </a:r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en-US" dirty="0" err="1"/>
              <a:t>startswith</a:t>
            </a:r>
            <a:r>
              <a:rPr lang="en-US" dirty="0"/>
              <a:t>()</a:t>
            </a:r>
            <a:endParaRPr lang="tr-T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5187" y="4369450"/>
            <a:ext cx="1430035" cy="1673908"/>
          </a:xfrm>
        </p:spPr>
        <p:txBody>
          <a:bodyPr/>
          <a:lstStyle/>
          <a:p>
            <a:pPr algn="l"/>
            <a:r>
              <a:rPr lang="en-US" dirty="0"/>
              <a:t>returns </a:t>
            </a:r>
            <a:r>
              <a:rPr lang="en-US" b="1" dirty="0"/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string </a:t>
            </a:r>
            <a:r>
              <a:rPr lang="tr-TR" dirty="0"/>
              <a:t>value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>
                <a:latin typeface="NewBaskerville-Roman"/>
              </a:rPr>
              <a:t>begins</a:t>
            </a:r>
            <a:r>
              <a:rPr lang="tr-TR" dirty="0">
                <a:latin typeface="NewBaskerville-Roman"/>
              </a:rPr>
              <a:t> with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the string passed</a:t>
            </a:r>
            <a:endParaRPr lang="en-US" b="1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374213"/>
            <a:ext cx="1839467" cy="1712688"/>
          </a:xfrm>
        </p:spPr>
        <p:txBody>
          <a:bodyPr/>
          <a:lstStyle/>
          <a:p>
            <a:pPr algn="l"/>
            <a:r>
              <a:rPr lang="tr-TR" dirty="0"/>
              <a:t>spam='Hello world!'</a:t>
            </a:r>
          </a:p>
          <a:p>
            <a:pPr algn="l"/>
            <a:r>
              <a:rPr lang="tr-TR" dirty="0"/>
              <a:t>spam</a:t>
            </a:r>
            <a:r>
              <a:rPr lang="en-US" dirty="0"/>
              <a:t>.</a:t>
            </a:r>
            <a:r>
              <a:rPr lang="en-US" dirty="0" err="1"/>
              <a:t>startswith</a:t>
            </a:r>
            <a:r>
              <a:rPr lang="en-US" dirty="0"/>
              <a:t>('Hello</a:t>
            </a:r>
            <a:r>
              <a:rPr lang="tr-TR" dirty="0"/>
              <a:t>'</a:t>
            </a:r>
            <a:r>
              <a:rPr lang="en-US" dirty="0"/>
              <a:t>)</a:t>
            </a:r>
            <a:endParaRPr lang="tr-TR" dirty="0"/>
          </a:p>
          <a:p>
            <a:pPr algn="l"/>
            <a:r>
              <a:rPr lang="tr-TR" dirty="0"/>
              <a:t>True</a:t>
            </a:r>
            <a:endParaRPr lang="en-US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endswith()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85146" y="4374212"/>
            <a:ext cx="1719617" cy="1371725"/>
          </a:xfrm>
        </p:spPr>
        <p:txBody>
          <a:bodyPr/>
          <a:lstStyle/>
          <a:p>
            <a:pPr algn="l"/>
            <a:r>
              <a:rPr lang="en-US" dirty="0"/>
              <a:t>returns </a:t>
            </a:r>
            <a:r>
              <a:rPr lang="en-US" b="1" dirty="0"/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string </a:t>
            </a:r>
            <a:r>
              <a:rPr lang="tr-TR" dirty="0"/>
              <a:t>value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>
                <a:latin typeface="NewBaskerville-Roman"/>
              </a:rPr>
              <a:t>ends</a:t>
            </a:r>
            <a:r>
              <a:rPr lang="tr-TR" dirty="0">
                <a:latin typeface="NewBaskerville-Roman"/>
              </a:rPr>
              <a:t> with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the string passed</a:t>
            </a:r>
            <a:endParaRPr lang="en-US" b="1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230258" cy="504000"/>
          </a:xfrm>
        </p:spPr>
        <p:txBody>
          <a:bodyPr/>
          <a:lstStyle/>
          <a:p>
            <a:r>
              <a:rPr lang="tr-TR" dirty="0" err="1"/>
              <a:t>Example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08839" y="4328804"/>
            <a:ext cx="1515292" cy="1717154"/>
          </a:xfrm>
        </p:spPr>
        <p:txBody>
          <a:bodyPr/>
          <a:lstStyle/>
          <a:p>
            <a:pPr algn="l"/>
            <a:r>
              <a:rPr lang="tr-TR" dirty="0"/>
              <a:t>spam='Hello world!'</a:t>
            </a:r>
          </a:p>
          <a:p>
            <a:pPr algn="l"/>
            <a:r>
              <a:rPr lang="tr-TR" dirty="0"/>
              <a:t>spam.endswith('world!')</a:t>
            </a:r>
          </a:p>
          <a:p>
            <a:pPr algn="l"/>
            <a:r>
              <a:rPr lang="tr-TR" dirty="0"/>
              <a:t>True</a:t>
            </a:r>
            <a:endParaRPr lang="en-US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useful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33313" y="4374212"/>
            <a:ext cx="1910687" cy="1862815"/>
          </a:xfrm>
        </p:spPr>
        <p:txBody>
          <a:bodyPr/>
          <a:lstStyle/>
          <a:p>
            <a:pPr algn="l"/>
            <a:r>
              <a:rPr lang="en-US" dirty="0"/>
              <a:t>to check only whether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first part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or last part of the string,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rather than</a:t>
            </a:r>
            <a:r>
              <a:rPr lang="tr-TR" dirty="0"/>
              <a:t> the whole thing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6E24E9-F30C-4379-B292-03FAD4D0DCBF}"/>
              </a:ext>
            </a:extLst>
          </p:cNvPr>
          <p:cNvSpPr/>
          <p:nvPr/>
        </p:nvSpPr>
        <p:spPr>
          <a:xfrm>
            <a:off x="184246" y="840307"/>
            <a:ext cx="8099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NewBaskerville-Roman"/>
              </a:rPr>
              <a:t>return True if the string value begins or ends with the string passed to the</a:t>
            </a:r>
            <a:r>
              <a:rPr lang="tr-TR" dirty="0">
                <a:latin typeface="NewBaskerville-Roman"/>
              </a:rPr>
              <a:t> </a:t>
            </a:r>
            <a:r>
              <a:rPr lang="en-US" dirty="0">
                <a:latin typeface="NewBaskerville-Roman"/>
              </a:rPr>
              <a:t>method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85510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70810"/>
            <a:ext cx="8505000" cy="593190"/>
          </a:xfrm>
        </p:spPr>
        <p:txBody>
          <a:bodyPr/>
          <a:lstStyle/>
          <a:p>
            <a:pPr algn="ctr"/>
            <a:r>
              <a:rPr lang="en-US" dirty="0" err="1"/>
              <a:t>startswith</a:t>
            </a:r>
            <a:r>
              <a:rPr lang="en-US" dirty="0"/>
              <a:t>() and </a:t>
            </a:r>
            <a:r>
              <a:rPr lang="en-US" dirty="0" err="1"/>
              <a:t>endswith</a:t>
            </a:r>
            <a:r>
              <a:rPr lang="en-US" dirty="0"/>
              <a:t>() </a:t>
            </a:r>
            <a:r>
              <a:rPr lang="tr-TR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1"/>
            <a:ext cx="4104000" cy="212305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spam='Hello world!'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spam.startswith</a:t>
            </a:r>
            <a:r>
              <a:rPr lang="en-US" dirty="0"/>
              <a:t>('Hello')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spam.endswith</a:t>
            </a:r>
            <a:r>
              <a:rPr lang="en-US" dirty="0"/>
              <a:t>('world!')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spam.startswith('abcdef')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5"/>
            <a:ext cx="4103712" cy="479473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spam.endswith('12')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spam.startswith('Hello world!')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spam.endswith('Hello world!')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</p:txBody>
      </p:sp>
      <p:pic>
        <p:nvPicPr>
          <p:cNvPr id="13316" name="Picture 4" descr="How to Grow Snapdragon (Antirrhinum Majus) | Gardener's Path">
            <a:extLst>
              <a:ext uri="{FF2B5EF4-FFF2-40B4-BE49-F238E27FC236}">
                <a16:creationId xmlns:a16="http://schemas.microsoft.com/office/drawing/2014/main" id="{5D194604-EF72-462A-86E0-78B470C51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43" y="3224463"/>
            <a:ext cx="4116998" cy="2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76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50458"/>
            <a:ext cx="8505000" cy="613542"/>
          </a:xfrm>
        </p:spPr>
        <p:txBody>
          <a:bodyPr/>
          <a:lstStyle/>
          <a:p>
            <a:pPr algn="ctr"/>
            <a:r>
              <a:rPr lang="en-US" dirty="0"/>
              <a:t>The join() String Method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to </a:t>
            </a:r>
            <a:r>
              <a:rPr lang="tr-TR" dirty="0"/>
              <a:t>join strings</a:t>
            </a:r>
            <a:r>
              <a:rPr lang="en-US" dirty="0"/>
              <a:t> together into a single string value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join()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join </a:t>
            </a:r>
            <a:r>
              <a:rPr lang="tr-TR" dirty="0"/>
              <a:t>strings </a:t>
            </a:r>
            <a:r>
              <a:rPr lang="en-US" dirty="0"/>
              <a:t>together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into a single string value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return a string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is the concatenation of each string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the passed-in list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97415" y="4612943"/>
            <a:ext cx="2841673" cy="1647180"/>
          </a:xfrm>
        </p:spPr>
        <p:txBody>
          <a:bodyPr/>
          <a:lstStyle/>
          <a:p>
            <a:pPr algn="l"/>
            <a:r>
              <a:rPr lang="en-US" dirty="0"/>
              <a:t>string calls join() on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is inserted between each string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of the list argument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32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08791"/>
            <a:ext cx="8505000" cy="455209"/>
          </a:xfrm>
        </p:spPr>
        <p:txBody>
          <a:bodyPr/>
          <a:lstStyle/>
          <a:p>
            <a:pPr algn="ctr"/>
            <a:r>
              <a:rPr lang="en-US" dirty="0"/>
              <a:t>The join() </a:t>
            </a:r>
            <a:r>
              <a:rPr lang="tr-TR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99" y="1149532"/>
            <a:ext cx="4151747" cy="82364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', '.join(['cats', 'rats', 'bats'])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'cats, rats, bats’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5"/>
            <a:ext cx="4103712" cy="493109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 '.join(['My', 'name', 'is', 'Simon'])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'My name is Simon’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'ABC'.join(['My', 'name', 'is', 'Simon'])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'MyABCnameABCisABCSimon'</a:t>
            </a:r>
          </a:p>
        </p:txBody>
      </p:sp>
      <p:pic>
        <p:nvPicPr>
          <p:cNvPr id="22530" name="Picture 2" descr="Spring Hill Nurseries 4 in. Pot Blue Passion Flower (Passiflora ...">
            <a:extLst>
              <a:ext uri="{FF2B5EF4-FFF2-40B4-BE49-F238E27FC236}">
                <a16:creationId xmlns:a16="http://schemas.microsoft.com/office/drawing/2014/main" id="{12284F7F-0510-4B5A-9EA0-BBBB762B2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52" y="1941095"/>
            <a:ext cx="4130842" cy="413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046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split() String Method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to </a:t>
            </a:r>
            <a:r>
              <a:rPr lang="tr-TR" dirty="0"/>
              <a:t>split strings</a:t>
            </a:r>
            <a:r>
              <a:rPr lang="en-US" dirty="0"/>
              <a:t> </a:t>
            </a:r>
            <a:r>
              <a:rPr lang="tr-TR" dirty="0"/>
              <a:t>and returns a list of strings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split()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It’s called on a string value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returns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list of</a:t>
            </a:r>
            <a:r>
              <a:rPr lang="tr-TR" dirty="0"/>
              <a:t> </a:t>
            </a:r>
            <a:r>
              <a:rPr lang="en-US" dirty="0"/>
              <a:t>strings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Default splitters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1"/>
            <a:ext cx="2066692" cy="119407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split whitespace characters</a:t>
            </a:r>
            <a:r>
              <a:rPr lang="tr-TR" dirty="0"/>
              <a:t>: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space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Tab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newline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Other splitters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97415" y="4612943"/>
            <a:ext cx="2841673" cy="1647180"/>
          </a:xfrm>
        </p:spPr>
        <p:txBody>
          <a:bodyPr/>
          <a:lstStyle/>
          <a:p>
            <a:pPr algn="l"/>
            <a:r>
              <a:rPr lang="en-US" dirty="0"/>
              <a:t>pass a delimiter string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 to the split() method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specify a different string to</a:t>
            </a:r>
            <a:r>
              <a:rPr lang="tr-TR" dirty="0"/>
              <a:t> split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09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The </a:t>
            </a:r>
            <a:r>
              <a:rPr lang="tr-TR" dirty="0"/>
              <a:t>split</a:t>
            </a:r>
            <a:r>
              <a:rPr lang="en-US" dirty="0"/>
              <a:t>() </a:t>
            </a:r>
            <a:r>
              <a:rPr lang="tr-TR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1"/>
            <a:ext cx="4104000" cy="130491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spam='Hello world!'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spam.split()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['Hello', 'world!']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6"/>
            <a:ext cx="4103712" cy="131359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'MyABCnameABCisABCSimon'.split('ABC')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['My', 'name', 'is', 'Simon’]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'My name is </a:t>
            </a:r>
            <a:r>
              <a:rPr lang="en-US" dirty="0" err="1"/>
              <a:t>Simon'.split</a:t>
            </a:r>
            <a:r>
              <a:rPr lang="en-US" dirty="0"/>
              <a:t>(</a:t>
            </a:r>
            <a:r>
              <a:rPr lang="en-US" dirty="0" err="1"/>
              <a:t>'m</a:t>
            </a:r>
            <a:r>
              <a:rPr lang="en-US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['My </a:t>
            </a:r>
            <a:r>
              <a:rPr lang="en-US" dirty="0" err="1"/>
              <a:t>na</a:t>
            </a:r>
            <a:r>
              <a:rPr lang="en-US" dirty="0"/>
              <a:t>', 'e is Si', 'on’]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pic>
        <p:nvPicPr>
          <p:cNvPr id="21506" name="Picture 2" descr="Flower viewing in Taipei | Taipei Travel">
            <a:extLst>
              <a:ext uri="{FF2B5EF4-FFF2-40B4-BE49-F238E27FC236}">
                <a16:creationId xmlns:a16="http://schemas.microsoft.com/office/drawing/2014/main" id="{50F82FA1-043D-4E4E-AFE7-FABC74973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052" y="2599600"/>
            <a:ext cx="6713621" cy="419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168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pPr algn="ctr"/>
            <a:r>
              <a:rPr lang="tr-TR" dirty="0"/>
              <a:t>Split of multiline strings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/>
              <a:t>A common use of split()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858129"/>
          </a:xfrm>
        </p:spPr>
        <p:txBody>
          <a:bodyPr/>
          <a:lstStyle/>
          <a:p>
            <a:r>
              <a:rPr lang="en-US" b="1" dirty="0"/>
              <a:t>to split </a:t>
            </a:r>
            <a:endParaRPr lang="tr-T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multiline string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along the newline</a:t>
            </a:r>
            <a:r>
              <a:rPr lang="tr-TR" dirty="0"/>
              <a:t> characters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3053" y="2768302"/>
            <a:ext cx="2690947" cy="432000"/>
          </a:xfrm>
        </p:spPr>
        <p:txBody>
          <a:bodyPr/>
          <a:lstStyle/>
          <a:p>
            <a:r>
              <a:rPr lang="en-US" sz="1200" dirty="0"/>
              <a:t>split() the argument '\n'</a:t>
            </a:r>
            <a:endParaRPr lang="tr-TR" sz="12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3"/>
            <a:ext cx="2370064" cy="1364865"/>
          </a:xfrm>
        </p:spPr>
        <p:txBody>
          <a:bodyPr/>
          <a:lstStyle/>
          <a:p>
            <a:r>
              <a:rPr lang="en-US" dirty="0"/>
              <a:t>split the multiline string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along the newlines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Return items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022166"/>
            <a:ext cx="2251799" cy="1256714"/>
          </a:xfrm>
        </p:spPr>
        <p:txBody>
          <a:bodyPr/>
          <a:lstStyle/>
          <a:p>
            <a:r>
              <a:rPr lang="en-US" dirty="0"/>
              <a:t>return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en-US" dirty="0"/>
              <a:t>each item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one line of the string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Placeholder 6" descr="A close up of a flower&#10;&#10;Description automatically generated">
            <a:extLst>
              <a:ext uri="{FF2B5EF4-FFF2-40B4-BE49-F238E27FC236}">
                <a16:creationId xmlns:a16="http://schemas.microsoft.com/office/drawing/2014/main" id="{E643BD0E-50B1-48F7-AAAA-C991D8DD4C8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97" b="509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93004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00037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Iterating over the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2"/>
            <a:ext cx="4280084" cy="218722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'''Dear Alice,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How have you been? I am fine.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There is a container in the fridge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that is labeled "Milk Experiment".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Please do not drink it.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Sincerely,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Bob'''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498" y="3882190"/>
            <a:ext cx="4402670" cy="200526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spam.split</a:t>
            </a:r>
            <a:r>
              <a:rPr lang="en-US" dirty="0"/>
              <a:t>('\n')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['Dear Alice,', 'How have you been? I am fine.', 'There is a container in the fridge', 'that is labeled "Milk Experiment".', 'Please do not drink it.', 'Sincerely,', 'Bob’]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pic>
        <p:nvPicPr>
          <p:cNvPr id="12296" name="Picture 8" descr="Growing Asters: Planting &amp; Caring for These Fall Flowers | Garden ...">
            <a:extLst>
              <a:ext uri="{FF2B5EF4-FFF2-40B4-BE49-F238E27FC236}">
                <a16:creationId xmlns:a16="http://schemas.microsoft.com/office/drawing/2014/main" id="{6F95B45D-0D32-4DDD-807D-89EEE0015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801" y="845469"/>
            <a:ext cx="3371850" cy="503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994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267839"/>
            <a:ext cx="8505000" cy="449300"/>
          </a:xfrm>
        </p:spPr>
        <p:txBody>
          <a:bodyPr/>
          <a:lstStyle/>
          <a:p>
            <a:pPr algn="ctr"/>
            <a:r>
              <a:rPr lang="en-US" dirty="0"/>
              <a:t>Justifying Text with </a:t>
            </a:r>
            <a:r>
              <a:rPr lang="en-US" dirty="0" err="1"/>
              <a:t>rjust</a:t>
            </a:r>
            <a:r>
              <a:rPr lang="en-US" dirty="0"/>
              <a:t>(), </a:t>
            </a:r>
            <a:r>
              <a:rPr lang="en-US" dirty="0" err="1"/>
              <a:t>ljust</a:t>
            </a:r>
            <a:r>
              <a:rPr lang="en-US" dirty="0"/>
              <a:t>()</a:t>
            </a:r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734497"/>
            <a:ext cx="1620000" cy="542228"/>
          </a:xfrm>
        </p:spPr>
        <p:txBody>
          <a:bodyPr/>
          <a:lstStyle/>
          <a:p>
            <a:r>
              <a:rPr lang="tr-TR" dirty="0">
                <a:latin typeface="NewBaskerville-Roman"/>
              </a:rPr>
              <a:t>r</a:t>
            </a:r>
            <a:r>
              <a:rPr lang="en-US" dirty="0">
                <a:latin typeface="NewBaskerville-Roman"/>
              </a:rPr>
              <a:t>just()</a:t>
            </a:r>
            <a:endParaRPr lang="tr-TR" dirty="0">
              <a:latin typeface="NewBaskerville-Roman"/>
            </a:endParaRPr>
          </a:p>
          <a:p>
            <a:r>
              <a:rPr lang="tr-TR" dirty="0">
                <a:latin typeface="NewBaskerville-Roman"/>
              </a:rPr>
              <a:t>l</a:t>
            </a:r>
            <a:r>
              <a:rPr lang="en-US" dirty="0">
                <a:latin typeface="NewBaskerville-Roman"/>
              </a:rPr>
              <a:t>just()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7797" y="4435522"/>
            <a:ext cx="1427426" cy="1607836"/>
          </a:xfrm>
        </p:spPr>
        <p:txBody>
          <a:bodyPr/>
          <a:lstStyle/>
          <a:p>
            <a:pPr algn="l"/>
            <a:r>
              <a:rPr lang="en-US" b="1" dirty="0"/>
              <a:t>returns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padded version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of the string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>
                <a:latin typeface="NewBaskerville-Roman"/>
              </a:rPr>
              <a:t>default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61064" y="4374213"/>
            <a:ext cx="1501254" cy="1712688"/>
          </a:xfrm>
        </p:spPr>
        <p:txBody>
          <a:bodyPr/>
          <a:lstStyle/>
          <a:p>
            <a:pPr algn="l"/>
            <a:r>
              <a:rPr lang="tr-TR" b="1" dirty="0"/>
              <a:t>Space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is used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as default padded character</a:t>
            </a:r>
            <a:endParaRPr lang="en-US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61192" y="3871744"/>
            <a:ext cx="1011309" cy="504000"/>
          </a:xfrm>
        </p:spPr>
        <p:txBody>
          <a:bodyPr/>
          <a:lstStyle/>
          <a:p>
            <a:pPr algn="l"/>
            <a:r>
              <a:rPr lang="tr-TR" dirty="0"/>
              <a:t>Examples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7977" y="4333269"/>
            <a:ext cx="1173707" cy="1371725"/>
          </a:xfrm>
        </p:spPr>
        <p:txBody>
          <a:bodyPr/>
          <a:lstStyle/>
          <a:p>
            <a:pPr algn="l"/>
            <a:r>
              <a:rPr lang="en-US" dirty="0"/>
              <a:t>'Hello'.</a:t>
            </a:r>
            <a:r>
              <a:rPr lang="en-US" dirty="0" err="1"/>
              <a:t>rjust</a:t>
            </a:r>
            <a:r>
              <a:rPr lang="en-US" dirty="0"/>
              <a:t>(10)</a:t>
            </a:r>
          </a:p>
          <a:p>
            <a:pPr algn="l"/>
            <a:r>
              <a:rPr lang="en-US" dirty="0"/>
              <a:t>'     Hello’</a:t>
            </a:r>
            <a:endParaRPr lang="tr-TR" dirty="0"/>
          </a:p>
          <a:p>
            <a:pPr algn="l"/>
            <a:r>
              <a:rPr lang="tr-TR" dirty="0"/>
              <a:t>'Hello'.ljust(10)</a:t>
            </a:r>
          </a:p>
          <a:p>
            <a:pPr algn="l"/>
            <a:r>
              <a:rPr lang="tr-TR" dirty="0"/>
              <a:t>'Hello     '</a:t>
            </a:r>
            <a:endParaRPr lang="en-US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73254" y="3917626"/>
            <a:ext cx="887104" cy="504000"/>
          </a:xfrm>
        </p:spPr>
        <p:txBody>
          <a:bodyPr/>
          <a:lstStyle/>
          <a:p>
            <a:pPr algn="l"/>
            <a:r>
              <a:rPr lang="tr-TR" dirty="0"/>
              <a:t>(n)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32059" y="4328804"/>
            <a:ext cx="1392071" cy="1717154"/>
          </a:xfrm>
        </p:spPr>
        <p:txBody>
          <a:bodyPr/>
          <a:lstStyle/>
          <a:p>
            <a:pPr algn="l"/>
            <a:r>
              <a:rPr lang="tr-TR" b="1" dirty="0"/>
              <a:t>Spaces + string =10</a:t>
            </a:r>
            <a:endParaRPr lang="en-US" b="1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(n,’*’)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33313" y="4374212"/>
            <a:ext cx="1910687" cy="1862815"/>
          </a:xfrm>
        </p:spPr>
        <p:txBody>
          <a:bodyPr/>
          <a:lstStyle/>
          <a:p>
            <a:pPr algn="l"/>
            <a:r>
              <a:rPr lang="en-US" dirty="0"/>
              <a:t>optional second argument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will specify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fill</a:t>
            </a:r>
            <a:r>
              <a:rPr lang="tr-TR" dirty="0"/>
              <a:t> </a:t>
            </a:r>
            <a:r>
              <a:rPr lang="en-US" dirty="0"/>
              <a:t>character</a:t>
            </a:r>
            <a:endParaRPr lang="tr-TR" dirty="0"/>
          </a:p>
          <a:p>
            <a:pPr algn="l"/>
            <a:r>
              <a:rPr lang="en-US" dirty="0"/>
              <a:t>'Hello'.</a:t>
            </a:r>
            <a:r>
              <a:rPr lang="en-US" dirty="0" err="1"/>
              <a:t>rjust</a:t>
            </a:r>
            <a:r>
              <a:rPr lang="en-US" dirty="0"/>
              <a:t>(10, '*')</a:t>
            </a:r>
          </a:p>
          <a:p>
            <a:pPr algn="l"/>
            <a:r>
              <a:rPr lang="en-US" dirty="0"/>
              <a:t>'*****Hello'</a:t>
            </a:r>
          </a:p>
          <a:p>
            <a:pPr algn="l"/>
            <a:r>
              <a:rPr lang="en-US" dirty="0"/>
              <a:t>'Hello'.</a:t>
            </a:r>
            <a:r>
              <a:rPr lang="en-US" dirty="0" err="1"/>
              <a:t>ljust</a:t>
            </a:r>
            <a:r>
              <a:rPr lang="en-US" dirty="0"/>
              <a:t>(10, '*')</a:t>
            </a:r>
          </a:p>
          <a:p>
            <a:pPr algn="l"/>
            <a:r>
              <a:rPr lang="en-US" dirty="0"/>
              <a:t>'Hello*****'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6E24E9-F30C-4379-B292-03FAD4D0DCBF}"/>
              </a:ext>
            </a:extLst>
          </p:cNvPr>
          <p:cNvSpPr/>
          <p:nvPr/>
        </p:nvSpPr>
        <p:spPr>
          <a:xfrm>
            <a:off x="184246" y="840307"/>
            <a:ext cx="8099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Spaces</a:t>
            </a:r>
            <a:r>
              <a:rPr lang="tr-TR" dirty="0"/>
              <a:t> by default is </a:t>
            </a:r>
            <a:r>
              <a:rPr lang="en-US" dirty="0"/>
              <a:t>inserted to justify </a:t>
            </a:r>
            <a:r>
              <a:rPr lang="tr-TR" dirty="0"/>
              <a:t>the</a:t>
            </a:r>
            <a:r>
              <a:rPr lang="en-US" dirty="0"/>
              <a:t> string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54877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77" y="232501"/>
            <a:ext cx="8505000" cy="432000"/>
          </a:xfrm>
        </p:spPr>
        <p:txBody>
          <a:bodyPr/>
          <a:lstStyle/>
          <a:p>
            <a:pPr algn="ctr"/>
            <a:r>
              <a:rPr lang="en-US" dirty="0" err="1"/>
              <a:t>rjust</a:t>
            </a:r>
            <a:r>
              <a:rPr lang="en-US" dirty="0"/>
              <a:t>(), </a:t>
            </a:r>
            <a:r>
              <a:rPr lang="en-US" dirty="0" err="1"/>
              <a:t>ljust</a:t>
            </a:r>
            <a:r>
              <a:rPr lang="en-US" dirty="0"/>
              <a:t>()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6150" y="920816"/>
            <a:ext cx="4288943" cy="280736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'Hello'.rjust(10)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     Hello’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'Hello'.rjust(20)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               Hello’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 World'.rjust(20)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         Hello World’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'Hello'.ljust(10)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'Hello     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064" y="3867874"/>
            <a:ext cx="4278213" cy="249472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'Hello'.</a:t>
            </a:r>
            <a:r>
              <a:rPr lang="en-US" dirty="0" err="1"/>
              <a:t>rjust</a:t>
            </a:r>
            <a:r>
              <a:rPr lang="en-US" dirty="0"/>
              <a:t>(20, '*')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'***************Hello'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'Hello'.</a:t>
            </a:r>
            <a:r>
              <a:rPr lang="en-US" dirty="0" err="1"/>
              <a:t>ljust</a:t>
            </a:r>
            <a:r>
              <a:rPr lang="en-US" dirty="0"/>
              <a:t>(20, '-')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'Hello---------------’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v-SE" dirty="0"/>
              <a:t>&gt;&gt;&gt; 'Hello'.rjust(20, '*').ljust(40, '-')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v-SE" dirty="0"/>
              <a:t>'***************Hello--------------------'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147B5F-B80C-4213-A266-52FA59555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61" y="920816"/>
            <a:ext cx="3829994" cy="544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01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center()</a:t>
            </a:r>
            <a:r>
              <a:rPr lang="tr-TR" dirty="0"/>
              <a:t> </a:t>
            </a:r>
            <a:r>
              <a:rPr lang="en-US" dirty="0"/>
              <a:t>String Method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tr-TR" dirty="0"/>
              <a:t>centers a text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center()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Centers</a:t>
            </a:r>
            <a:r>
              <a:rPr lang="tr-TR" dirty="0"/>
              <a:t> </a:t>
            </a:r>
            <a:r>
              <a:rPr lang="en-US" dirty="0"/>
              <a:t>the text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Default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1"/>
            <a:ext cx="2066692" cy="119407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Space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is used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as default padded character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Other characters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97415" y="4612943"/>
            <a:ext cx="2841673" cy="1647180"/>
          </a:xfrm>
        </p:spPr>
        <p:txBody>
          <a:bodyPr/>
          <a:lstStyle/>
          <a:p>
            <a:pPr algn="l"/>
            <a:r>
              <a:rPr lang="en-US" dirty="0"/>
              <a:t>optional </a:t>
            </a:r>
            <a:r>
              <a:rPr lang="tr-TR" dirty="0"/>
              <a:t>second </a:t>
            </a:r>
            <a:r>
              <a:rPr lang="en-US" dirty="0"/>
              <a:t>argument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will specify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fill</a:t>
            </a:r>
            <a:r>
              <a:rPr lang="tr-TR" dirty="0"/>
              <a:t> </a:t>
            </a:r>
            <a:r>
              <a:rPr lang="en-US" dirty="0"/>
              <a:t>character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3431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27081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center()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553" y="903684"/>
            <a:ext cx="4337239" cy="201120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'Hello'.center(20)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       Hello        ‘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'Hello'.center(20, '=')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'=======Hello========'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1849" y="864000"/>
            <a:ext cx="4234428" cy="205583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 = 'Hello World!'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spam.center</a:t>
            </a:r>
            <a:r>
              <a:rPr lang="en-US" dirty="0"/>
              <a:t>(20)</a:t>
            </a:r>
          </a:p>
          <a:p>
            <a:pPr marL="0" indent="0">
              <a:buNone/>
            </a:pPr>
            <a:r>
              <a:rPr lang="en-US" dirty="0"/>
              <a:t>'    Hello World!    </a:t>
            </a:r>
            <a:r>
              <a:rPr lang="tr-TR" dirty="0"/>
              <a:t>'</a:t>
            </a:r>
            <a:endParaRPr lang="en-US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spam.center</a:t>
            </a:r>
            <a:r>
              <a:rPr lang="en-US" dirty="0"/>
              <a:t>(40, '-')</a:t>
            </a:r>
          </a:p>
          <a:p>
            <a:pPr marL="0" indent="0">
              <a:buNone/>
            </a:pPr>
            <a:r>
              <a:rPr lang="en-US" dirty="0"/>
              <a:t>'--------------Hello World!--------------'</a:t>
            </a:r>
          </a:p>
        </p:txBody>
      </p:sp>
      <p:pic>
        <p:nvPicPr>
          <p:cNvPr id="14340" name="Picture 4" descr="Flowers in Japan">
            <a:extLst>
              <a:ext uri="{FF2B5EF4-FFF2-40B4-BE49-F238E27FC236}">
                <a16:creationId xmlns:a16="http://schemas.microsoft.com/office/drawing/2014/main" id="{3CE1F109-B59A-4C99-9F8D-CA0383960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38" y="3081020"/>
            <a:ext cx="8738939" cy="291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058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use list() method to convert tuples returned from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2" y="989892"/>
            <a:ext cx="4881047" cy="221594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def printPicnic(itemsDict, leftWidth, rightWidth):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print('PICNIC ITEMS'.center(leftWidth + rightWidth, '-'))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for k, v in itemsDict.items():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print(k.ljust(leftWidth, '.') + str(v).rjust(rightWidth))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 err="1"/>
              <a:t>picnicItems</a:t>
            </a:r>
            <a:r>
              <a:rPr lang="tr-TR" dirty="0"/>
              <a:t> = {'</a:t>
            </a:r>
            <a:r>
              <a:rPr lang="tr-TR" dirty="0" err="1"/>
              <a:t>sandwiches</a:t>
            </a:r>
            <a:r>
              <a:rPr lang="tr-TR" dirty="0"/>
              <a:t>': 4, '</a:t>
            </a:r>
            <a:r>
              <a:rPr lang="tr-TR" dirty="0" err="1"/>
              <a:t>apples</a:t>
            </a:r>
            <a:r>
              <a:rPr lang="tr-TR" dirty="0"/>
              <a:t>': 12, '</a:t>
            </a:r>
            <a:r>
              <a:rPr lang="tr-TR" dirty="0" err="1"/>
              <a:t>cups</a:t>
            </a:r>
            <a:r>
              <a:rPr lang="tr-TR" dirty="0"/>
              <a:t>': 4, '</a:t>
            </a:r>
            <a:r>
              <a:rPr lang="tr-TR" dirty="0" err="1"/>
              <a:t>cookies</a:t>
            </a:r>
            <a:r>
              <a:rPr lang="tr-TR" dirty="0"/>
              <a:t>': 8000}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 err="1"/>
              <a:t>printPicnic</a:t>
            </a:r>
            <a:r>
              <a:rPr lang="tr-TR" dirty="0"/>
              <a:t>(</a:t>
            </a:r>
            <a:r>
              <a:rPr lang="tr-TR" dirty="0" err="1"/>
              <a:t>picnicItems</a:t>
            </a:r>
            <a:r>
              <a:rPr lang="tr-TR" dirty="0"/>
              <a:t>, 12, 5)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 err="1"/>
              <a:t>printPicnic</a:t>
            </a:r>
            <a:r>
              <a:rPr lang="tr-TR" dirty="0"/>
              <a:t>(picnicItems, 20, 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205" y="3331727"/>
            <a:ext cx="4833116" cy="282346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---PICNIC ITEMS--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sandwiches..   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apples......   12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cups........   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cookies..... 8000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-------PICNIC ITEMS-------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sandwiches..........    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apples..............    12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cups................    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cookies.............  8000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1CCB55-474E-47DF-88DB-2F7FC9CDF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045" y="968376"/>
            <a:ext cx="3523916" cy="528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483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Removing Whitespace with strip(), </a:t>
            </a:r>
            <a:r>
              <a:rPr lang="en-US" dirty="0" err="1"/>
              <a:t>rstrip</a:t>
            </a:r>
            <a:r>
              <a:rPr lang="en-US" dirty="0"/>
              <a:t>(), and </a:t>
            </a:r>
            <a:r>
              <a:rPr lang="en-US" dirty="0" err="1"/>
              <a:t>lstrip</a:t>
            </a:r>
            <a:r>
              <a:rPr lang="en-US" dirty="0"/>
              <a:t>()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The</a:t>
            </a:r>
            <a:r>
              <a:rPr lang="tr-TR" dirty="0"/>
              <a:t> </a:t>
            </a:r>
            <a:r>
              <a:rPr lang="en-US" dirty="0"/>
              <a:t>strip() string method will return a new string without any whitespace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strip() 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69493" y="4659977"/>
            <a:ext cx="1891160" cy="1208560"/>
          </a:xfrm>
        </p:spPr>
        <p:txBody>
          <a:bodyPr/>
          <a:lstStyle/>
          <a:p>
            <a:pPr algn="l"/>
            <a:r>
              <a:rPr lang="en-US" dirty="0"/>
              <a:t>return a new string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without any whitespace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lstrip()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951" y="4688111"/>
            <a:ext cx="2039397" cy="119407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remove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whitespace characters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the left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rstrip()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5140" y="4612943"/>
            <a:ext cx="2383948" cy="1009935"/>
          </a:xfrm>
        </p:spPr>
        <p:txBody>
          <a:bodyPr/>
          <a:lstStyle/>
          <a:p>
            <a:pPr algn="l"/>
            <a:r>
              <a:rPr lang="en-US" dirty="0"/>
              <a:t>remove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whitespace characters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the </a:t>
            </a:r>
            <a:r>
              <a:rPr lang="tr-TR" dirty="0"/>
              <a:t>right ends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3420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72122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Strip()</a:t>
            </a:r>
            <a:r>
              <a:rPr lang="en-US" dirty="0"/>
              <a:t>, </a:t>
            </a:r>
            <a:r>
              <a:rPr lang="en-US" dirty="0" err="1"/>
              <a:t>rstrip</a:t>
            </a:r>
            <a:r>
              <a:rPr lang="en-US" dirty="0"/>
              <a:t>(), and </a:t>
            </a:r>
            <a:r>
              <a:rPr lang="en-US" dirty="0" err="1"/>
              <a:t>lstrip</a:t>
            </a:r>
            <a:r>
              <a:rPr lang="en-US" dirty="0"/>
              <a:t>()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9932" y="858130"/>
            <a:ext cx="4979520" cy="184286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&gt;&gt;&gt; spam = ' Hello World '</a:t>
            </a:r>
          </a:p>
          <a:p>
            <a:pPr marL="0" indent="0">
              <a:buNone/>
            </a:pPr>
            <a:r>
              <a:rPr lang="tr-TR" dirty="0"/>
              <a:t>&gt;&gt;&gt; spam.strip()</a:t>
            </a:r>
          </a:p>
          <a:p>
            <a:pPr marL="0" indent="0">
              <a:buNone/>
            </a:pPr>
            <a:r>
              <a:rPr lang="tr-TR" dirty="0"/>
              <a:t>'Hello World'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6062" y="829994"/>
            <a:ext cx="3412937" cy="523392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&gt;&gt;&gt; spam.lstrip()</a:t>
            </a:r>
          </a:p>
          <a:p>
            <a:pPr marL="0" indent="0">
              <a:buNone/>
            </a:pPr>
            <a:r>
              <a:rPr lang="tr-TR" dirty="0"/>
              <a:t>'Hello World ‘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&gt;&gt;&gt; spam.rstrip()</a:t>
            </a:r>
          </a:p>
          <a:p>
            <a:pPr marL="0" indent="0">
              <a:buNone/>
            </a:pPr>
            <a:r>
              <a:rPr lang="tr-TR" dirty="0"/>
              <a:t>' Hello World'</a:t>
            </a:r>
          </a:p>
        </p:txBody>
      </p:sp>
      <p:pic>
        <p:nvPicPr>
          <p:cNvPr id="17410" name="Picture 2" descr="100+ Pink Flower Images | Download Free Pictures On Unsplash">
            <a:extLst>
              <a:ext uri="{FF2B5EF4-FFF2-40B4-BE49-F238E27FC236}">
                <a16:creationId xmlns:a16="http://schemas.microsoft.com/office/drawing/2014/main" id="{59CA9A8C-D755-4132-B3E8-6C3B5D17E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59" y="2695073"/>
            <a:ext cx="4978481" cy="332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1541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E3A6B40-3287-427F-9D1B-8C4C6F86B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91575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947" y="1050979"/>
            <a:ext cx="532053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String to specify what to strip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316" y="4633421"/>
            <a:ext cx="7624690" cy="360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err="1"/>
              <a:t>spam.strip</a:t>
            </a:r>
            <a:r>
              <a:rPr lang="en-US" dirty="0"/>
              <a:t>('</a:t>
            </a:r>
            <a:r>
              <a:rPr lang="en-US" dirty="0" err="1"/>
              <a:t>ampS</a:t>
            </a:r>
            <a:r>
              <a:rPr lang="en-US" dirty="0"/>
              <a:t>')</a:t>
            </a:r>
            <a:endParaRPr lang="tr-T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2681280"/>
            <a:ext cx="5120641" cy="154952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b="1" dirty="0"/>
              <a:t>String argument</a:t>
            </a:r>
          </a:p>
          <a:p>
            <a:pPr marL="171450" indent="-171450"/>
            <a:r>
              <a:rPr lang="en-US" dirty="0"/>
              <a:t>will specify </a:t>
            </a:r>
            <a:endParaRPr lang="tr-TR" dirty="0"/>
          </a:p>
          <a:p>
            <a:pPr marL="171450" indent="-171450"/>
            <a:r>
              <a:rPr lang="en-US" dirty="0"/>
              <a:t>which characters</a:t>
            </a:r>
            <a:r>
              <a:rPr lang="tr-TR" dirty="0"/>
              <a:t> should be stripped</a:t>
            </a:r>
            <a:endParaRPr lang="tr-TR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891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70810"/>
            <a:ext cx="8505000" cy="593190"/>
          </a:xfrm>
        </p:spPr>
        <p:txBody>
          <a:bodyPr/>
          <a:lstStyle/>
          <a:p>
            <a:pPr algn="ctr"/>
            <a:r>
              <a:rPr lang="tr-TR" dirty="0"/>
              <a:t>Strip specific string</a:t>
            </a:r>
            <a:endParaRPr lang="tr-TR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664" y="1193115"/>
            <a:ext cx="4867420" cy="98473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'</a:t>
            </a:r>
            <a:r>
              <a:rPr lang="en-US" dirty="0" err="1"/>
              <a:t>SpamSpamBaconSpamEggsSpamSpam</a:t>
            </a:r>
            <a:r>
              <a:rPr lang="en-US" dirty="0"/>
              <a:t>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5031" y="1249385"/>
            <a:ext cx="3469209" cy="457669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spam.strip</a:t>
            </a:r>
            <a:r>
              <a:rPr lang="en-US" dirty="0"/>
              <a:t>('</a:t>
            </a:r>
            <a:r>
              <a:rPr lang="en-US" dirty="0" err="1"/>
              <a:t>ampS</a:t>
            </a:r>
            <a:r>
              <a:rPr lang="en-US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</a:t>
            </a:r>
            <a:r>
              <a:rPr lang="en-US" dirty="0" err="1"/>
              <a:t>BaconSpamEggs</a:t>
            </a:r>
            <a:r>
              <a:rPr lang="en-US" dirty="0"/>
              <a:t>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spam.lstrip</a:t>
            </a:r>
            <a:r>
              <a:rPr lang="en-US" dirty="0"/>
              <a:t>('</a:t>
            </a:r>
            <a:r>
              <a:rPr lang="en-US" dirty="0" err="1"/>
              <a:t>ampS</a:t>
            </a:r>
            <a:r>
              <a:rPr lang="en-US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</a:t>
            </a:r>
            <a:r>
              <a:rPr lang="en-US" dirty="0" err="1"/>
              <a:t>BaconSpamEggsSpamSpam</a:t>
            </a:r>
            <a:r>
              <a:rPr lang="en-US" dirty="0"/>
              <a:t>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spam.rstrip</a:t>
            </a:r>
            <a:r>
              <a:rPr lang="en-US" dirty="0"/>
              <a:t>('</a:t>
            </a:r>
            <a:r>
              <a:rPr lang="en-US" dirty="0" err="1"/>
              <a:t>ampS</a:t>
            </a:r>
            <a:r>
              <a:rPr lang="en-US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</a:t>
            </a:r>
            <a:r>
              <a:rPr lang="en-US" dirty="0" err="1"/>
              <a:t>SpamSpamBaconSpamEggs</a:t>
            </a:r>
            <a:r>
              <a:rPr lang="en-US" dirty="0"/>
              <a:t>'</a:t>
            </a:r>
            <a:endParaRPr lang="tr-TR" dirty="0"/>
          </a:p>
        </p:txBody>
      </p:sp>
      <p:pic>
        <p:nvPicPr>
          <p:cNvPr id="16386" name="Picture 2" descr="Cosmos bipinnatus - Wikipedia">
            <a:extLst>
              <a:ext uri="{FF2B5EF4-FFF2-40B4-BE49-F238E27FC236}">
                <a16:creationId xmlns:a16="http://schemas.microsoft.com/office/drawing/2014/main" id="{381250A7-C953-4D88-926C-DEB56E176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0" y="2184517"/>
            <a:ext cx="4868716" cy="361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7247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70810"/>
            <a:ext cx="8505000" cy="593190"/>
          </a:xfrm>
        </p:spPr>
        <p:txBody>
          <a:bodyPr/>
          <a:lstStyle/>
          <a:p>
            <a:pPr algn="ctr"/>
            <a:r>
              <a:rPr lang="en-US" dirty="0"/>
              <a:t>Copying and Pasting Strings with the </a:t>
            </a:r>
            <a:r>
              <a:rPr lang="en-US" dirty="0" err="1"/>
              <a:t>pyperclip</a:t>
            </a:r>
            <a:r>
              <a:rPr lang="en-US" dirty="0"/>
              <a:t> Module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112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pyperclip</a:t>
            </a:r>
            <a:r>
              <a:rPr lang="en-US" dirty="0"/>
              <a:t> module has copy() and paste()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Text send/receive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5594" y="4659977"/>
            <a:ext cx="2205059" cy="1208560"/>
          </a:xfrm>
        </p:spPr>
        <p:txBody>
          <a:bodyPr/>
          <a:lstStyle/>
          <a:p>
            <a:pPr algn="l"/>
            <a:r>
              <a:rPr lang="en-US" dirty="0"/>
              <a:t>Functions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can send text</a:t>
            </a:r>
            <a:r>
              <a:rPr lang="tr-TR" dirty="0"/>
              <a:t> </a:t>
            </a:r>
            <a:r>
              <a:rPr lang="en-US" dirty="0"/>
              <a:t>to and receive text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computer’s clipboard. 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From/to Clipboard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7725" y="4688111"/>
            <a:ext cx="1875623" cy="119407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Sending the output </a:t>
            </a:r>
            <a:endParaRPr lang="tr-TR" dirty="0"/>
          </a:p>
          <a:p>
            <a:pPr algn="l"/>
            <a:r>
              <a:rPr lang="tr-TR" dirty="0"/>
              <a:t>t</a:t>
            </a:r>
            <a:r>
              <a:rPr lang="en-US" dirty="0"/>
              <a:t>o the clipboard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To/From applications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5140" y="4612943"/>
            <a:ext cx="2383948" cy="1009935"/>
          </a:xfrm>
        </p:spPr>
        <p:txBody>
          <a:bodyPr/>
          <a:lstStyle/>
          <a:p>
            <a:pPr algn="l"/>
            <a:r>
              <a:rPr lang="en-US" dirty="0"/>
              <a:t>to paste it to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 email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word</a:t>
            </a:r>
            <a:r>
              <a:rPr lang="tr-TR" dirty="0"/>
              <a:t> </a:t>
            </a:r>
            <a:r>
              <a:rPr lang="en-US" dirty="0"/>
              <a:t>processor,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or some other software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09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pPr algn="ctr"/>
            <a:r>
              <a:rPr lang="tr-TR" dirty="0"/>
              <a:t>Pyperclip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Not</a:t>
            </a:r>
            <a:r>
              <a:rPr lang="en-US" dirty="0"/>
              <a:t> Python</a:t>
            </a:r>
            <a:r>
              <a:rPr lang="tr-TR" dirty="0"/>
              <a:t> Default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does not come</a:t>
            </a:r>
            <a:r>
              <a:rPr lang="tr-TR" dirty="0"/>
              <a:t> </a:t>
            </a:r>
            <a:r>
              <a:rPr lang="en-US" dirty="0"/>
              <a:t>with Python.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3053" y="2768302"/>
            <a:ext cx="2690947" cy="432000"/>
          </a:xfrm>
        </p:spPr>
        <p:txBody>
          <a:bodyPr/>
          <a:lstStyle/>
          <a:p>
            <a:r>
              <a:rPr lang="tr-TR" sz="1200" dirty="0"/>
              <a:t>Installation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0" y="3333744"/>
            <a:ext cx="2545477" cy="1055376"/>
          </a:xfrm>
        </p:spPr>
        <p:txBody>
          <a:bodyPr/>
          <a:lstStyle/>
          <a:p>
            <a:r>
              <a:rPr lang="tr-TR" dirty="0"/>
              <a:t>Should be </a:t>
            </a:r>
            <a:r>
              <a:rPr lang="en-US" dirty="0"/>
              <a:t>install</a:t>
            </a:r>
            <a:r>
              <a:rPr lang="tr-TR" dirty="0"/>
              <a:t>ed</a:t>
            </a:r>
          </a:p>
          <a:p>
            <a:r>
              <a:rPr lang="tr-TR" dirty="0"/>
              <a:t>like a </a:t>
            </a:r>
            <a:r>
              <a:rPr lang="en-US" dirty="0"/>
              <a:t>third-party modules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pip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tr-TR" dirty="0"/>
              <a:t>cmd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Command 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pip </a:t>
            </a:r>
            <a:r>
              <a:rPr lang="tr-TR" b="1" dirty="0"/>
              <a:t>install pyperclip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7" name="Picture Placeholder 6" descr="A close up of a flower&#10;&#10;Description automatically generated">
            <a:extLst>
              <a:ext uri="{FF2B5EF4-FFF2-40B4-BE49-F238E27FC236}">
                <a16:creationId xmlns:a16="http://schemas.microsoft.com/office/drawing/2014/main" id="{D67897AE-76D6-4C4B-BB79-6933EB0D7E52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097" b="509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109806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30956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copy() &amp; paste()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9170" y="649705"/>
            <a:ext cx="4132198" cy="108284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import </a:t>
            </a:r>
            <a:r>
              <a:rPr lang="en-US" dirty="0" err="1"/>
              <a:t>pyperclip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6829" y="1792274"/>
            <a:ext cx="4116322" cy="479491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pyperclip.copy</a:t>
            </a:r>
            <a:r>
              <a:rPr lang="en-US" dirty="0"/>
              <a:t>('Hello world!')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pyperclip.paste</a:t>
            </a:r>
            <a:r>
              <a:rPr lang="en-US" dirty="0"/>
              <a:t>()</a:t>
            </a:r>
            <a:r>
              <a:rPr lang="tr-TR" dirty="0"/>
              <a:t> #this is copied and pasted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</a:t>
            </a:r>
            <a:r>
              <a:rPr lang="en-US" dirty="0" err="1"/>
              <a:t>pyperclip.paste</a:t>
            </a:r>
            <a:r>
              <a:rPr lang="en-US" dirty="0"/>
              <a:t>()’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pyperclip.copy</a:t>
            </a:r>
            <a:r>
              <a:rPr lang="en-US" dirty="0"/>
              <a:t>('Hello world!')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pyperclip.paste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'Hello world!’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pyperclip.paste</a:t>
            </a:r>
            <a:r>
              <a:rPr lang="en-US" dirty="0"/>
              <a:t>()</a:t>
            </a:r>
            <a:r>
              <a:rPr lang="tr-TR" dirty="0"/>
              <a:t> #Text copied first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"'For example, if I copied this sentence to the clipboard and then called\r\</a:t>
            </a:r>
            <a:r>
              <a:rPr lang="en-US" dirty="0" err="1"/>
              <a:t>npaste</a:t>
            </a:r>
            <a:r>
              <a:rPr lang="en-US" dirty="0"/>
              <a:t>(), it would look like this:'"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83AB53-0868-4EAB-953C-AA99FA3D5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819" y="611506"/>
            <a:ext cx="3983789" cy="597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795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52538"/>
            <a:ext cx="8505000" cy="511461"/>
          </a:xfrm>
        </p:spPr>
        <p:txBody>
          <a:bodyPr/>
          <a:lstStyle/>
          <a:p>
            <a:pPr algn="ctr"/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 err="1"/>
              <a:t>Multiline</a:t>
            </a:r>
            <a:r>
              <a:rPr lang="tr-TR" dirty="0"/>
              <a:t> </a:t>
            </a:r>
            <a:r>
              <a:rPr lang="tr-TR" dirty="0" err="1"/>
              <a:t>strings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Slicing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Checking</a:t>
            </a:r>
            <a:endParaRPr lang="en-US" dirty="0"/>
          </a:p>
          <a:p>
            <a:pPr marL="0" indent="0">
              <a:buNone/>
            </a:pPr>
            <a:r>
              <a:rPr lang="tr-TR" dirty="0" err="1"/>
              <a:t>Alignment</a:t>
            </a:r>
            <a:endParaRPr lang="en-US" dirty="0"/>
          </a:p>
          <a:p>
            <a:pPr marL="0" indent="0">
              <a:buNone/>
            </a:pPr>
            <a:r>
              <a:rPr lang="tr-TR" dirty="0" err="1"/>
              <a:t>Changing</a:t>
            </a:r>
            <a:r>
              <a:rPr lang="tr-TR" dirty="0"/>
              <a:t> </a:t>
            </a:r>
            <a:r>
              <a:rPr lang="tr-TR" dirty="0" err="1"/>
              <a:t>cases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Splitting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Stripping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Clipboard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en-US" dirty="0" err="1"/>
              <a:t>pyperclip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What is the most interesting details in this chapter?</a:t>
            </a:r>
            <a:endParaRPr lang="en-US" dirty="0"/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7" y="5320199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300" y="5320199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735" y="5237740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00,000+ Flower Images &amp; Pictures [HD] - Pixabay">
            <a:extLst>
              <a:ext uri="{FF2B5EF4-FFF2-40B4-BE49-F238E27FC236}">
                <a16:creationId xmlns:a16="http://schemas.microsoft.com/office/drawing/2014/main" id="{050ED437-B9F9-4D4F-A1D7-7E041C41ED88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4" r="504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3119</Words>
  <Application>Microsoft Office PowerPoint</Application>
  <PresentationFormat>Ekran Gösterisi (4:3)</PresentationFormat>
  <Paragraphs>818</Paragraphs>
  <Slides>51</Slides>
  <Notes>32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51</vt:i4>
      </vt:variant>
    </vt:vector>
  </HeadingPairs>
  <TitlesOfParts>
    <vt:vector size="58" baseType="lpstr">
      <vt:lpstr>Arial</vt:lpstr>
      <vt:lpstr>Calibri</vt:lpstr>
      <vt:lpstr>Calibri Light</vt:lpstr>
      <vt:lpstr>NewBaskerville-Roman</vt:lpstr>
      <vt:lpstr>Rockwell</vt:lpstr>
      <vt:lpstr>Times New Roman</vt:lpstr>
      <vt:lpstr>Office Theme</vt:lpstr>
      <vt:lpstr>Chapter 6: Manipulating Strings</vt:lpstr>
      <vt:lpstr>Content</vt:lpstr>
      <vt:lpstr>Manipulating Strings</vt:lpstr>
      <vt:lpstr>Chapter-6 Manipulating Strings</vt:lpstr>
      <vt:lpstr>String</vt:lpstr>
      <vt:lpstr>Escape Character</vt:lpstr>
      <vt:lpstr>Escape Characters</vt:lpstr>
      <vt:lpstr>Escape character</vt:lpstr>
      <vt:lpstr>Raw String</vt:lpstr>
      <vt:lpstr>Usage of Raw Strings</vt:lpstr>
      <vt:lpstr>Multiline Strings with Triple Quotes</vt:lpstr>
      <vt:lpstr>Multiline Strings with Triple Quotes</vt:lpstr>
      <vt:lpstr>Multiline Comments</vt:lpstr>
      <vt:lpstr>Dictionary indexes still can be integers</vt:lpstr>
      <vt:lpstr>Indexing and Slicing Strings</vt:lpstr>
      <vt:lpstr>Indexing and Slicing Strings</vt:lpstr>
      <vt:lpstr>The in and not in Operators with Strings</vt:lpstr>
      <vt:lpstr>in and not in with Strings</vt:lpstr>
      <vt:lpstr>Chapter-6 Manipulating Strings</vt:lpstr>
      <vt:lpstr>The upper(), lower() String Methods</vt:lpstr>
      <vt:lpstr>birthdays.py</vt:lpstr>
      <vt:lpstr>The upper(), lower() String Methods</vt:lpstr>
      <vt:lpstr>upper(), lower() String</vt:lpstr>
      <vt:lpstr>birthdays.py</vt:lpstr>
      <vt:lpstr>isupper(), and islower() String Methods</vt:lpstr>
      <vt:lpstr>String methods</vt:lpstr>
      <vt:lpstr>The isX String Methods</vt:lpstr>
      <vt:lpstr>isX String methods</vt:lpstr>
      <vt:lpstr>String methods</vt:lpstr>
      <vt:lpstr>The startswith() and endswith() String Methods</vt:lpstr>
      <vt:lpstr>startswith() and endswith() String methods</vt:lpstr>
      <vt:lpstr>The join() String Method</vt:lpstr>
      <vt:lpstr>The join() String methods</vt:lpstr>
      <vt:lpstr>The split() String Method</vt:lpstr>
      <vt:lpstr>The split() String methods</vt:lpstr>
      <vt:lpstr>Split of multiline strings</vt:lpstr>
      <vt:lpstr>Iterating over the values</vt:lpstr>
      <vt:lpstr>Justifying Text with rjust(), ljust()</vt:lpstr>
      <vt:lpstr>rjust(), ljust()</vt:lpstr>
      <vt:lpstr>The center() String Method</vt:lpstr>
      <vt:lpstr>center()</vt:lpstr>
      <vt:lpstr>use list() method to convert tuples returned from methods</vt:lpstr>
      <vt:lpstr>Removing Whitespace with strip(), rstrip(), and lstrip()</vt:lpstr>
      <vt:lpstr>Strip(), rstrip(), and lstrip()</vt:lpstr>
      <vt:lpstr>String to specify what to strip</vt:lpstr>
      <vt:lpstr>Strip specific string</vt:lpstr>
      <vt:lpstr>Copying and Pasting Strings with the pyperclip Module</vt:lpstr>
      <vt:lpstr>Pyperclip</vt:lpstr>
      <vt:lpstr>copy() &amp; paste()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2022-03-17T20:33:11Z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2021-03-26T13:26:42Z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3001c4db-7da2-4d88-83ca-a30e68fe79b1</vt:lpwstr>
  </property>
  <property fmtid="{D5CDD505-2E9C-101B-9397-08002B2CF9AE}" pid="8" name="MSIP_Label_c66f6488-6f7b-4340-b880-828136ff7811_ContentBits">
    <vt:lpwstr>0</vt:lpwstr>
  </property>
</Properties>
</file>