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56" r:id="rId5"/>
    <p:sldId id="261" r:id="rId6"/>
    <p:sldId id="405" r:id="rId7"/>
    <p:sldId id="411" r:id="rId8"/>
    <p:sldId id="442" r:id="rId9"/>
    <p:sldId id="492" r:id="rId10"/>
    <p:sldId id="443" r:id="rId11"/>
    <p:sldId id="493" r:id="rId12"/>
    <p:sldId id="494" r:id="rId13"/>
    <p:sldId id="466" r:id="rId14"/>
    <p:sldId id="495" r:id="rId15"/>
    <p:sldId id="357" r:id="rId16"/>
    <p:sldId id="496" r:id="rId17"/>
    <p:sldId id="497" r:id="rId18"/>
    <p:sldId id="467" r:id="rId19"/>
    <p:sldId id="498" r:id="rId20"/>
    <p:sldId id="499" r:id="rId21"/>
    <p:sldId id="500" r:id="rId22"/>
    <p:sldId id="501" r:id="rId23"/>
    <p:sldId id="503" r:id="rId24"/>
    <p:sldId id="468" r:id="rId25"/>
    <p:sldId id="502" r:id="rId26"/>
    <p:sldId id="504" r:id="rId27"/>
    <p:sldId id="505" r:id="rId28"/>
    <p:sldId id="506" r:id="rId29"/>
    <p:sldId id="507" r:id="rId30"/>
    <p:sldId id="509" r:id="rId31"/>
    <p:sldId id="508" r:id="rId32"/>
    <p:sldId id="429" r:id="rId33"/>
    <p:sldId id="472" r:id="rId34"/>
    <p:sldId id="359" r:id="rId35"/>
    <p:sldId id="430" r:id="rId36"/>
    <p:sldId id="515" r:id="rId37"/>
    <p:sldId id="516" r:id="rId38"/>
    <p:sldId id="395" r:id="rId39"/>
    <p:sldId id="485" r:id="rId40"/>
    <p:sldId id="486" r:id="rId41"/>
    <p:sldId id="510" r:id="rId42"/>
    <p:sldId id="511" r:id="rId43"/>
    <p:sldId id="487" r:id="rId44"/>
    <p:sldId id="361" r:id="rId45"/>
    <p:sldId id="489" r:id="rId46"/>
    <p:sldId id="488" r:id="rId47"/>
    <p:sldId id="490" r:id="rId48"/>
    <p:sldId id="491" r:id="rId49"/>
    <p:sldId id="512" r:id="rId50"/>
    <p:sldId id="513" r:id="rId51"/>
    <p:sldId id="514" r:id="rId52"/>
    <p:sldId id="279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07" autoAdjust="0"/>
  </p:normalViewPr>
  <p:slideViewPr>
    <p:cSldViewPr snapToGrid="0">
      <p:cViewPr varScale="1">
        <p:scale>
          <a:sx n="77" d="100"/>
          <a:sy n="77" d="100"/>
        </p:scale>
        <p:origin x="1646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5/27/2021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5/27/2021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1651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83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682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3748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5480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7254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564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863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047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2991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282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1890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0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5190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9833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4517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23760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588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2557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60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38846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8726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9268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076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044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46676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274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838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16145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6485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14024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02898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67972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1128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0018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39223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29332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89990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25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3" r:id="rId8"/>
    <p:sldLayoutId id="2147483668" r:id="rId9"/>
    <p:sldLayoutId id="2147483682" r:id="rId10"/>
    <p:sldLayoutId id="2147483670" r:id="rId11"/>
    <p:sldLayoutId id="2147483653" r:id="rId12"/>
    <p:sldLayoutId id="2147483673" r:id="rId13"/>
    <p:sldLayoutId id="2147483674" r:id="rId14"/>
    <p:sldLayoutId id="2147483676" r:id="rId15"/>
    <p:sldLayoutId id="2147483677" r:id="rId16"/>
    <p:sldLayoutId id="2147483654" r:id="rId17"/>
    <p:sldLayoutId id="2147483660" r:id="rId18"/>
    <p:sldLayoutId id="2147483661" r:id="rId19"/>
    <p:sldLayoutId id="2147483678" r:id="rId20"/>
    <p:sldLayoutId id="2147483686" r:id="rId21"/>
    <p:sldLayoutId id="2147483687" r:id="rId22"/>
    <p:sldLayoutId id="2147483689" r:id="rId23"/>
    <p:sldLayoutId id="2147483690" r:id="rId24"/>
    <p:sldLayoutId id="2147483688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7.jp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7.jp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7.jp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5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34.png"/><Relationship Id="rId7" Type="http://schemas.openxmlformats.org/officeDocument/2006/relationships/image" Target="../media/image38.sv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7AA9CEC-2B12-4692-AD44-FAAF3A3454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569" b="569"/>
          <a:stretch>
            <a:fillRect/>
          </a:stretch>
        </p:blipFill>
        <p:spPr>
          <a:xfrm>
            <a:off x="-51895" y="0"/>
            <a:ext cx="9247791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10</a:t>
            </a:r>
            <a:r>
              <a:rPr lang="en-US" dirty="0"/>
              <a:t>: </a:t>
            </a:r>
            <a:r>
              <a:rPr lang="tr-TR" dirty="0"/>
              <a:t>Debugging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</a:t>
            </a:r>
            <a:r>
              <a:rPr lang="tr-TR" sz="1200" dirty="0"/>
              <a:t>10</a:t>
            </a:r>
            <a:r>
              <a:rPr lang="en-US" sz="1200" dirty="0"/>
              <a:t>: </a:t>
            </a:r>
            <a:r>
              <a:rPr lang="tr-TR" sz="1200" dirty="0"/>
              <a:t>Debugging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Raising Exceptions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Getting the Traceback as a String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Assertions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Logging</a:t>
            </a:r>
          </a:p>
          <a:p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IDLE’S Debugger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CACB91-4406-4EA9-914A-4F58B6AD9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8" y="832967"/>
            <a:ext cx="4498922" cy="307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/>
              <a:t>Organizing file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i="1" dirty="0"/>
              <a:t>Python can be used to automate boring stuff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File Copies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Create Copies of Files</a:t>
            </a:r>
            <a:endParaRPr lang="en-US" dirty="0"/>
          </a:p>
          <a:p>
            <a:r>
              <a:rPr lang="tr-TR" dirty="0"/>
              <a:t>All .PDF files on a drive</a:t>
            </a:r>
          </a:p>
          <a:p>
            <a:r>
              <a:rPr lang="tr-TR" dirty="0"/>
              <a:t>doc &amp; docx files in any of Homework subfolder in Courses folder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Backup with Compression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Compress folders</a:t>
            </a:r>
          </a:p>
          <a:p>
            <a:r>
              <a:rPr lang="en-US" dirty="0"/>
              <a:t>Compressing several folders</a:t>
            </a:r>
            <a:endParaRPr lang="tr-TR" dirty="0"/>
          </a:p>
          <a:p>
            <a:r>
              <a:rPr lang="en-US" dirty="0"/>
              <a:t>into one ZIP file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File Name Correction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Modify files names</a:t>
            </a:r>
            <a:endParaRPr lang="en-US" dirty="0"/>
          </a:p>
          <a:p>
            <a:r>
              <a:rPr lang="en-US" dirty="0"/>
              <a:t>Removing the leading zeros</a:t>
            </a:r>
            <a:endParaRPr lang="tr-TR" dirty="0"/>
          </a:p>
          <a:p>
            <a:r>
              <a:rPr lang="en-US" dirty="0"/>
              <a:t>in the filenames </a:t>
            </a:r>
            <a:endParaRPr lang="tr-TR" dirty="0"/>
          </a:p>
          <a:p>
            <a:r>
              <a:rPr lang="en-US" dirty="0"/>
              <a:t>for every file in a folder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10</a:t>
            </a:r>
            <a:r>
              <a:rPr lang="en-US" sz="2800" dirty="0"/>
              <a:t>: </a:t>
            </a:r>
            <a:r>
              <a:rPr lang="tr-TR" sz="2800" dirty="0"/>
              <a:t>Debugging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Raising Exceptions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1" name="Picture Placeholder 10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D248C811-AFAA-4880-AB8E-9C0DE94E4A4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/>
              <a:t>The shutil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dirty="0"/>
              <a:t>shell utilities for file and folder operations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9626" y="1934061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Copy and Move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6" y="2750758"/>
            <a:ext cx="2928305" cy="2225976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Create copies of</a:t>
            </a:r>
          </a:p>
          <a:p>
            <a:r>
              <a:rPr lang="tr-TR" dirty="0"/>
              <a:t>Files</a:t>
            </a:r>
          </a:p>
          <a:p>
            <a:r>
              <a:rPr lang="tr-TR" dirty="0"/>
              <a:t>Folders</a:t>
            </a:r>
          </a:p>
          <a:p>
            <a:pPr marL="0" indent="0">
              <a:buNone/>
            </a:pPr>
            <a:r>
              <a:rPr lang="tr-TR" dirty="0"/>
              <a:t>Move</a:t>
            </a:r>
          </a:p>
          <a:p>
            <a:r>
              <a:rPr lang="tr-TR" dirty="0"/>
              <a:t>Files</a:t>
            </a:r>
          </a:p>
          <a:p>
            <a:r>
              <a:rPr lang="tr-TR" dirty="0"/>
              <a:t>Folders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0077" y="1962367"/>
            <a:ext cx="2231684" cy="648000"/>
          </a:xfrm>
        </p:spPr>
        <p:txBody>
          <a:bodyPr/>
          <a:lstStyle/>
          <a:p>
            <a:r>
              <a:rPr lang="tr-TR" b="1" dirty="0"/>
              <a:t>Delete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0839" y="2809108"/>
            <a:ext cx="2803161" cy="1960531"/>
          </a:xfrm>
        </p:spPr>
        <p:txBody>
          <a:bodyPr/>
          <a:lstStyle/>
          <a:p>
            <a:pPr marL="0" indent="0">
              <a:buNone/>
            </a:pPr>
            <a:r>
              <a:rPr lang="tr-TR" dirty="0">
                <a:latin typeface="NewBaskerville-Roman"/>
              </a:rPr>
              <a:t>Delete</a:t>
            </a:r>
          </a:p>
          <a:p>
            <a:r>
              <a:rPr lang="tr-TR" dirty="0"/>
              <a:t>Files</a:t>
            </a:r>
          </a:p>
          <a:p>
            <a:r>
              <a:rPr lang="tr-TR" dirty="0">
                <a:latin typeface="NewBaskerville-Roman"/>
              </a:rPr>
              <a:t>Folders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068697" y="19770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/>
              <a:t>Rename</a:t>
            </a:r>
            <a:endParaRPr lang="en-US" b="1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2948896" y="2838743"/>
            <a:ext cx="3421923" cy="200307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Rename</a:t>
            </a:r>
            <a:r>
              <a:rPr lang="en-US" dirty="0"/>
              <a:t> </a:t>
            </a:r>
            <a:endParaRPr lang="tr-TR" dirty="0"/>
          </a:p>
          <a:p>
            <a:r>
              <a:rPr lang="tr-TR" dirty="0"/>
              <a:t>Files</a:t>
            </a:r>
          </a:p>
          <a:p>
            <a:r>
              <a:rPr lang="tr-TR" dirty="0">
                <a:latin typeface="NewBaskerville-Roman"/>
              </a:rPr>
              <a:t>Folders</a:t>
            </a:r>
          </a:p>
        </p:txBody>
      </p:sp>
    </p:spTree>
    <p:extLst>
      <p:ext uri="{BB962C8B-B14F-4D97-AF65-F5344CB8AC3E}">
        <p14:creationId xmlns:p14="http://schemas.microsoft.com/office/powerpoint/2010/main" val="183727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42199" y="1169941"/>
            <a:ext cx="3573592" cy="419015"/>
          </a:xfrm>
        </p:spPr>
        <p:txBody>
          <a:bodyPr/>
          <a:lstStyle/>
          <a:p>
            <a:r>
              <a:rPr lang="tr-TR" sz="1400" dirty="0">
                <a:latin typeface="NewBaskerville-Roman"/>
              </a:rPr>
              <a:t>(\) (/): Separators </a:t>
            </a:r>
            <a:r>
              <a:rPr lang="en-US" sz="1400" dirty="0">
                <a:latin typeface="NewBaskerville-Roman"/>
              </a:rPr>
              <a:t>between folder names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>
                <a:latin typeface="NewBaskerville-Roman"/>
              </a:rPr>
              <a:t>shutil.copy</a:t>
            </a:r>
            <a:r>
              <a:rPr lang="tr-TR" dirty="0">
                <a:latin typeface="NewBaskerville-Roman"/>
              </a:rPr>
              <a:t>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8820" y="4305135"/>
            <a:ext cx="1661833" cy="1121304"/>
          </a:xfrm>
        </p:spPr>
        <p:txBody>
          <a:bodyPr/>
          <a:lstStyle/>
          <a:p>
            <a:pPr algn="l"/>
            <a:r>
              <a:rPr lang="tr-TR" b="1" dirty="0"/>
              <a:t>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files</a:t>
            </a:r>
            <a:endParaRPr lang="tr-TR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entire folders</a:t>
            </a:r>
            <a:endParaRPr lang="tr-TR" dirty="0">
              <a:latin typeface="NewBaskerville-Roman"/>
            </a:endParaRP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07699" y="3926335"/>
            <a:ext cx="1878150" cy="504000"/>
          </a:xfrm>
        </p:spPr>
        <p:txBody>
          <a:bodyPr/>
          <a:lstStyle/>
          <a:p>
            <a:r>
              <a:rPr lang="en-US" dirty="0">
                <a:latin typeface="NewBaskerville-Roman"/>
              </a:rPr>
              <a:t>copy(source, destination)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571" y="4333269"/>
            <a:ext cx="1980778" cy="2187451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location of source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type string</a:t>
            </a:r>
          </a:p>
          <a:p>
            <a:pPr algn="l"/>
            <a:r>
              <a:rPr lang="tr-TR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location to make a 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type string</a:t>
            </a:r>
            <a:endParaRPr lang="en-US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0662" y="4334949"/>
            <a:ext cx="2038663" cy="1436264"/>
          </a:xfrm>
        </p:spPr>
        <p:txBody>
          <a:bodyPr/>
          <a:lstStyle/>
          <a:p>
            <a:pPr algn="l"/>
            <a:r>
              <a:rPr lang="tr-TR" b="1" dirty="0"/>
              <a:t>returns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 string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path of the copied file.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0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shutil.copy()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30" y="654327"/>
            <a:ext cx="8904158" cy="2403667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waffles = 'C:\\delicious\\walnut\\waffles\\'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os.chdir(waffles)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'C:\\delicious\\walnut\\waffles’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shutil.copy('Hello.txt', 'HelloBeSafe.txt')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'HelloBeSafe.txt’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</a:t>
            </a:r>
            <a:r>
              <a:rPr lang="tr-TR" sz="1400" dirty="0">
                <a:solidFill>
                  <a:srgbClr val="FF0000"/>
                </a:solidFill>
              </a:rPr>
              <a:t>Hello.txt</a:t>
            </a:r>
            <a:r>
              <a:rPr lang="tr-TR" sz="1400" dirty="0"/>
              <a:t>', '</a:t>
            </a:r>
            <a:r>
              <a:rPr lang="tr-TR" sz="1400" b="1" dirty="0">
                <a:solidFill>
                  <a:srgbClr val="FF0000"/>
                </a:solidFill>
              </a:rPr>
              <a:t>HelloBeSafe.txt</a:t>
            </a:r>
            <a:r>
              <a:rPr lang="tr-TR" sz="1400" dirty="0"/>
              <a:t>', 'HelloWellcome.txt', 'myCats.py', 'mydata.bak', 'mydata.dat', 'mydata.dir', 'sonnet29.txt', '__pycache__']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921" y="3117954"/>
            <a:ext cx="8889168" cy="3590144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'c:\\’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delicious = 'C:\\delicious\\'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</a:t>
            </a:r>
            <a:r>
              <a:rPr lang="en-US" sz="1400" dirty="0"/>
              <a:t>(waffles + 'hello.txt', 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'C:\\delicious\\hello.txt’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['hello.txt', 'walnut’]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</a:t>
            </a:r>
            <a:r>
              <a:rPr lang="en-US" sz="1400" dirty="0"/>
              <a:t>(waffles + 'HelloWellcome.txt ', delicious + 'HelloBeSafe.txt 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'C:\\delicious\\HelloBeSafe.txt ‘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(delicious)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['hello.txt', 'HelloBeSafe.txt', 'walnut']</a:t>
            </a:r>
          </a:p>
        </p:txBody>
      </p:sp>
    </p:spTree>
    <p:extLst>
      <p:ext uri="{BB962C8B-B14F-4D97-AF65-F5344CB8AC3E}">
        <p14:creationId xmlns:p14="http://schemas.microsoft.com/office/powerpoint/2010/main" val="181183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42199" y="1169941"/>
            <a:ext cx="3573592" cy="419015"/>
          </a:xfrm>
        </p:spPr>
        <p:txBody>
          <a:bodyPr/>
          <a:lstStyle/>
          <a:p>
            <a:r>
              <a:rPr lang="tr-TR" sz="1400" dirty="0"/>
              <a:t>copy entire folder tree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sz="1200" dirty="0"/>
              <a:t>shutil.copytree()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8820" y="4305135"/>
            <a:ext cx="1661833" cy="1121304"/>
          </a:xfrm>
        </p:spPr>
        <p:txBody>
          <a:bodyPr/>
          <a:lstStyle/>
          <a:p>
            <a:pPr algn="l"/>
            <a:r>
              <a:rPr lang="tr-TR" b="1" dirty="0"/>
              <a:t>Copy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every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latin typeface="NewBaskerville-Roman"/>
              </a:rPr>
              <a:t>every </a:t>
            </a:r>
            <a:r>
              <a:rPr lang="en-US" dirty="0">
                <a:latin typeface="NewBaskerville-Roman"/>
              </a:rPr>
              <a:t>file in the folder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7718" y="3926335"/>
            <a:ext cx="2177954" cy="504000"/>
          </a:xfrm>
        </p:spPr>
        <p:txBody>
          <a:bodyPr/>
          <a:lstStyle/>
          <a:p>
            <a:r>
              <a:rPr lang="en-US" dirty="0" err="1">
                <a:latin typeface="NewBaskerville-Roman"/>
              </a:rPr>
              <a:t>copytree</a:t>
            </a:r>
            <a:r>
              <a:rPr lang="en-US" dirty="0">
                <a:latin typeface="NewBaskerville-Roman"/>
              </a:rPr>
              <a:t>(source, destination))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571" y="4333270"/>
            <a:ext cx="1980778" cy="209751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location of source directory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type string</a:t>
            </a:r>
          </a:p>
          <a:p>
            <a:pPr algn="l"/>
            <a:r>
              <a:rPr lang="tr-TR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destination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is a path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type string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0662" y="4334949"/>
            <a:ext cx="2038663" cy="1436264"/>
          </a:xfrm>
        </p:spPr>
        <p:txBody>
          <a:bodyPr/>
          <a:lstStyle/>
          <a:p>
            <a:pPr algn="l"/>
            <a:r>
              <a:rPr lang="tr-TR" b="1" dirty="0"/>
              <a:t>a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path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of the copied folder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9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shutil.copytree</a:t>
            </a:r>
            <a:r>
              <a:rPr lang="tr-TR" dirty="0">
                <a:highlight>
                  <a:srgbClr val="FFFF00"/>
                </a:highlight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r>
              <a:rPr lang="en-US" sz="1400" dirty="0"/>
              <a:t>, </a:t>
            </a:r>
            <a:r>
              <a:rPr lang="en-US" sz="1400" dirty="0" err="1"/>
              <a:t>os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('C:\\’)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shutil.copytree</a:t>
            </a:r>
            <a:r>
              <a:rPr lang="en-US" sz="1400" dirty="0"/>
              <a:t>('C:\\delicious', 'C:\\</a:t>
            </a:r>
            <a:r>
              <a:rPr lang="en-US" sz="1400" dirty="0" err="1"/>
              <a:t>delicious_backup</a:t>
            </a:r>
            <a:r>
              <a:rPr lang="en-US" sz="1400" dirty="0"/>
              <a:t>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</a:t>
            </a:r>
            <a:r>
              <a:rPr lang="en-US" sz="1400" dirty="0" err="1"/>
              <a:t>delicious_backup</a:t>
            </a:r>
            <a:r>
              <a:rPr lang="en-US" sz="1400" dirty="0"/>
              <a:t>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B2051E-6DCC-464E-AD89-B233BAFA98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23655" y="2870200"/>
            <a:ext cx="86963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shutil.copytree()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copy everything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768839"/>
            <a:ext cx="2601748" cy="89910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copy every folder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all subfolders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every file </a:t>
            </a:r>
            <a:r>
              <a:rPr lang="en-US" dirty="0"/>
              <a:t>file </a:t>
            </a:r>
            <a:r>
              <a:rPr lang="tr-TR" dirty="0"/>
              <a:t>in the folders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get a full copy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creates a new folder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</a:t>
            </a:r>
            <a:r>
              <a:rPr lang="tr-TR" dirty="0"/>
              <a:t> </a:t>
            </a:r>
            <a:r>
              <a:rPr lang="en-US" dirty="0"/>
              <a:t>the same content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of</a:t>
            </a:r>
            <a:r>
              <a:rPr lang="en-US" dirty="0"/>
              <a:t> the original folder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/>
              <a:t>Backup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now safely backed 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the folder and its content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8" name="Picture Placeholder 17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4B64E623-BA2F-4A59-999F-A05D2CECEEDC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6783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and Renaming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03948" y="1169941"/>
            <a:ext cx="4811843" cy="419015"/>
          </a:xfrm>
        </p:spPr>
        <p:txBody>
          <a:bodyPr/>
          <a:lstStyle/>
          <a:p>
            <a:r>
              <a:rPr lang="tr-TR" sz="1400" dirty="0"/>
              <a:t>shutil.move(source, destination)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sz="1200" dirty="0"/>
              <a:t>shutil.move()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8820" y="4305135"/>
            <a:ext cx="1661833" cy="1121304"/>
          </a:xfrm>
        </p:spPr>
        <p:txBody>
          <a:bodyPr/>
          <a:lstStyle/>
          <a:p>
            <a:pPr algn="l"/>
            <a:r>
              <a:rPr lang="tr-TR" b="1" dirty="0"/>
              <a:t>Move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move the file or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to the destination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7717" y="3926335"/>
            <a:ext cx="2473377" cy="504000"/>
          </a:xfrm>
        </p:spPr>
        <p:txBody>
          <a:bodyPr/>
          <a:lstStyle/>
          <a:p>
            <a:r>
              <a:rPr lang="en-US" dirty="0" err="1">
                <a:latin typeface="NewBaskerville-Roman"/>
              </a:rPr>
              <a:t>shutil.move</a:t>
            </a:r>
            <a:r>
              <a:rPr lang="en-US" dirty="0">
                <a:latin typeface="NewBaskerville-Roman"/>
              </a:rPr>
              <a:t>(source, destination)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2571" y="4437090"/>
            <a:ext cx="1980778" cy="1469035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source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location of source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 or folder</a:t>
            </a:r>
          </a:p>
          <a:p>
            <a:pPr algn="l"/>
            <a:r>
              <a:rPr lang="tr-TR" b="1" dirty="0"/>
              <a:t>destination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destination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 or folder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return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0662" y="4334949"/>
            <a:ext cx="2038663" cy="1436264"/>
          </a:xfrm>
        </p:spPr>
        <p:txBody>
          <a:bodyPr/>
          <a:lstStyle/>
          <a:p>
            <a:pPr algn="l"/>
            <a:r>
              <a:rPr lang="tr-TR" b="1" dirty="0"/>
              <a:t>a string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absolute path of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new 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7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Move file to a Directory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0780" y="1121900"/>
            <a:ext cx="2397232" cy="432000"/>
          </a:xfrm>
        </p:spPr>
        <p:txBody>
          <a:bodyPr/>
          <a:lstStyle/>
          <a:p>
            <a:r>
              <a:rPr lang="tr-TR" dirty="0"/>
              <a:t>Source: file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603717"/>
            <a:ext cx="2601748" cy="1064230"/>
          </a:xfrm>
        </p:spPr>
        <p:txBody>
          <a:bodyPr/>
          <a:lstStyle/>
          <a:p>
            <a:r>
              <a:rPr lang="tr-TR" b="1" dirty="0"/>
              <a:t>Destination: a folder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source file gets moved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into destination</a:t>
            </a:r>
            <a:r>
              <a:rPr lang="tr-TR" dirty="0"/>
              <a:t> folder</a:t>
            </a:r>
            <a:endParaRPr lang="en-US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/>
              <a:t>file name  preserved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r>
              <a:rPr lang="en-US" dirty="0"/>
              <a:t>,</a:t>
            </a:r>
            <a:r>
              <a:rPr lang="tr-TR" dirty="0"/>
              <a:t> in such a case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file</a:t>
            </a:r>
            <a:r>
              <a:rPr lang="en-US" dirty="0"/>
              <a:t>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keeps its current filename.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6330" y="4308952"/>
            <a:ext cx="2251800" cy="432000"/>
          </a:xfrm>
        </p:spPr>
        <p:txBody>
          <a:bodyPr/>
          <a:lstStyle/>
          <a:p>
            <a:r>
              <a:rPr lang="tr-TR" dirty="0"/>
              <a:t>use to move a file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2416" y="4856813"/>
            <a:ext cx="2251799" cy="1289153"/>
          </a:xfrm>
        </p:spPr>
        <p:txBody>
          <a:bodyPr/>
          <a:lstStyle/>
          <a:p>
            <a:r>
              <a:rPr lang="tr-TR" b="1" dirty="0"/>
              <a:t>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to move a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to another folders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4" name="Picture Placeholder 13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EA28120A-1035-428C-B84A-06A9B33942B4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3481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('C:\\delicious\\hello.txt', 'C:\\delicious\\walnut')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'C:\\delicious\\walnut\\hello.txt'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FB2B70-7B77-4817-893F-B21815626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83" y="2859608"/>
            <a:ext cx="86391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shutil.move()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File is Replaced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5602" y="2586382"/>
            <a:ext cx="4319951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destination folder already contain the file </a:t>
            </a:r>
            <a:endParaRPr lang="tr-TR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with the same name</a:t>
            </a: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1" y="1999669"/>
            <a:ext cx="3086774" cy="308817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File is in the destination folder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458386" y="4687504"/>
            <a:ext cx="4317168" cy="10987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the file is replaced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>
                <a:solidFill>
                  <a:srgbClr val="7030A0"/>
                </a:solidFill>
              </a:rPr>
              <a:t>with the source file</a:t>
            </a:r>
            <a:endParaRPr lang="tr-TR" sz="1800" dirty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7D634-474D-4786-AAC2-263181127539}"/>
              </a:ext>
            </a:extLst>
          </p:cNvPr>
          <p:cNvSpPr/>
          <p:nvPr/>
        </p:nvSpPr>
        <p:spPr>
          <a:xfrm>
            <a:off x="1963590" y="6077475"/>
            <a:ext cx="5262851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tr-TR" dirty="0">
                <a:latin typeface="NewBaskerville-Roman"/>
              </a:rPr>
              <a:t>take care not </a:t>
            </a:r>
            <a:r>
              <a:rPr lang="en-US" dirty="0">
                <a:latin typeface="NewBaskerville-Roman"/>
              </a:rPr>
              <a:t>to accidentally overwrite files in this way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6779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895" y="432000"/>
            <a:ext cx="3863105" cy="432000"/>
          </a:xfrm>
        </p:spPr>
        <p:txBody>
          <a:bodyPr/>
          <a:lstStyle/>
          <a:p>
            <a:r>
              <a:rPr lang="tr-TR" dirty="0"/>
              <a:t>Move &amp; Rename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File name in destination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50701" y="1603717"/>
            <a:ext cx="2395575" cy="1064230"/>
          </a:xfrm>
        </p:spPr>
        <p:txBody>
          <a:bodyPr/>
          <a:lstStyle/>
          <a:p>
            <a:r>
              <a:rPr lang="tr-TR" dirty="0"/>
              <a:t>destination path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specify a filename</a:t>
            </a:r>
            <a:endParaRPr lang="tr-TR" dirty="0"/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0682" y="2933764"/>
            <a:ext cx="2397854" cy="432000"/>
          </a:xfrm>
        </p:spPr>
        <p:txBody>
          <a:bodyPr/>
          <a:lstStyle/>
          <a:p>
            <a:r>
              <a:rPr lang="tr-TR" sz="1200" dirty="0"/>
              <a:t>file name in source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893482"/>
          </a:xfrm>
        </p:spPr>
        <p:txBody>
          <a:bodyPr/>
          <a:lstStyle/>
          <a:p>
            <a:r>
              <a:rPr lang="en-US" dirty="0"/>
              <a:t>the source file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 moved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renamed</a:t>
            </a:r>
            <a:endParaRPr lang="tr-TR" dirty="0"/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692" y="4308952"/>
            <a:ext cx="2082438" cy="432000"/>
          </a:xfrm>
        </p:spPr>
        <p:txBody>
          <a:bodyPr/>
          <a:lstStyle/>
          <a:p>
            <a:r>
              <a:rPr lang="tr-TR" dirty="0"/>
              <a:t>one command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0682" y="4649621"/>
            <a:ext cx="2153533" cy="1496345"/>
          </a:xfrm>
        </p:spPr>
        <p:txBody>
          <a:bodyPr/>
          <a:lstStyle/>
          <a:p>
            <a:r>
              <a:rPr lang="en-US" dirty="0"/>
              <a:t> </a:t>
            </a:r>
            <a:r>
              <a:rPr lang="tr-TR" dirty="0"/>
              <a:t>double functions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move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rename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4" name="Picture Placeholder 13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03E7EB87-6427-45A4-BE8B-E8CB5910490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10"/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1570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('C:\\delicious\\walnut\\hello.txt', 'C:\\delicious\\walnutCopiedAndMoved.txt')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'C:\\delicious\\walnutCopiedAndMoved.txt'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4C98E-74F8-4B72-B545-044952FF6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65" y="3262312"/>
            <a:ext cx="885825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6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23" y="432000"/>
            <a:ext cx="4302177" cy="432000"/>
          </a:xfrm>
        </p:spPr>
        <p:txBody>
          <a:bodyPr/>
          <a:lstStyle/>
          <a:p>
            <a:r>
              <a:rPr lang="tr-TR" dirty="0"/>
              <a:t>Destination folder not existing</a:t>
            </a:r>
            <a:endParaRPr lang="en-US" dirty="0"/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/>
              <a:t>destination folder</a:t>
            </a:r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50701" y="1603717"/>
            <a:ext cx="2395575" cy="1064230"/>
          </a:xfrm>
        </p:spPr>
        <p:txBody>
          <a:bodyPr/>
          <a:lstStyle/>
          <a:p>
            <a:r>
              <a:rPr lang="tr-TR" dirty="0"/>
              <a:t>confusing case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if the destination folder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is not existing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0682" y="2933764"/>
            <a:ext cx="2397854" cy="432000"/>
          </a:xfrm>
        </p:spPr>
        <p:txBody>
          <a:bodyPr/>
          <a:lstStyle/>
          <a:p>
            <a:r>
              <a:rPr lang="tr-TR" sz="1200" dirty="0"/>
              <a:t>rename the file</a:t>
            </a:r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893482"/>
          </a:xfrm>
        </p:spPr>
        <p:txBody>
          <a:bodyPr/>
          <a:lstStyle/>
          <a:p>
            <a:r>
              <a:rPr lang="tr-TR" dirty="0"/>
              <a:t>the move command</a:t>
            </a:r>
            <a:r>
              <a:rPr lang="en-US" dirty="0"/>
              <a:t>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renames the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with the destination folder name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692" y="4308952"/>
            <a:ext cx="2082438" cy="432000"/>
          </a:xfrm>
        </p:spPr>
        <p:txBody>
          <a:bodyPr/>
          <a:lstStyle/>
          <a:p>
            <a:r>
              <a:rPr lang="tr-TR" dirty="0"/>
              <a:t>confusing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0682" y="4649621"/>
            <a:ext cx="2153533" cy="1496345"/>
          </a:xfrm>
        </p:spPr>
        <p:txBody>
          <a:bodyPr/>
          <a:lstStyle/>
          <a:p>
            <a:r>
              <a:rPr lang="en-US" dirty="0"/>
              <a:t> </a:t>
            </a:r>
            <a:r>
              <a:rPr lang="tr-TR" dirty="0"/>
              <a:t>source of bugs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this is a cause of buggy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/>
              <a:t>hard to locate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4" name="Picture Placeholder 13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03E7EB87-6427-45A4-BE8B-E8CB59104903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9"/>
          <a:srcRect l="3615" r="36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6540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shutil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tr-TR" dirty="0">
                <a:highlight>
                  <a:srgbClr val="FFFF00"/>
                </a:highlight>
              </a:rPr>
              <a:t>move()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253932"/>
            <a:ext cx="8739266" cy="121944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('C:\\delicious\\walnutCopiedAndMoved.txt', 'C:\\delicious\\waffles')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'C:\\delicious\\waffles'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474E0-D31D-4F30-A578-71C3AA1CA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" y="2805190"/>
            <a:ext cx="88963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9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shutil.move()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Exception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5602" y="2586382"/>
            <a:ext cx="4319951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Python throws exception otherwise</a:t>
            </a:r>
            <a:endParaRPr lang="en-US" sz="1800" i="1" dirty="0"/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0" y="1999670"/>
            <a:ext cx="3596441" cy="29382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Source files and folders should exist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458386" y="4687504"/>
            <a:ext cx="4317168" cy="10987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FileNotFoundError</a:t>
            </a: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7D634-474D-4786-AAC2-263181127539}"/>
              </a:ext>
            </a:extLst>
          </p:cNvPr>
          <p:cNvSpPr/>
          <p:nvPr/>
        </p:nvSpPr>
        <p:spPr>
          <a:xfrm>
            <a:off x="1963590" y="6077475"/>
            <a:ext cx="5262851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tr-TR" dirty="0">
                <a:latin typeface="NewBaskerville-Roman"/>
              </a:rPr>
              <a:t>take care not </a:t>
            </a:r>
            <a:r>
              <a:rPr lang="en-US" dirty="0">
                <a:latin typeface="NewBaskerville-Roman"/>
              </a:rPr>
              <a:t>to accidentally overwrite files in this way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604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  <a:latin typeface="NewBaskerville-Roman"/>
              </a:rPr>
              <a:t>os.unlink</a:t>
            </a:r>
            <a:r>
              <a:rPr lang="en-US" dirty="0">
                <a:highlight>
                  <a:srgbClr val="FFFF00"/>
                </a:highlight>
                <a:latin typeface="NewBaskerville-Roman"/>
              </a:rPr>
              <a:t>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871" y="3307583"/>
            <a:ext cx="8739266" cy="88966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shutil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shutil.move</a:t>
            </a:r>
            <a:r>
              <a:rPr lang="en-US" sz="1400" dirty="0"/>
              <a:t>('C:\\delicious\\walnutCopiedAndMoved.txt', 'C:\\delicious\\waffles')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'C:\\delicious\\waffles'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501B56-C996-4E50-A648-9299AB8A5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9" y="871458"/>
            <a:ext cx="8896350" cy="2266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06B513-ED91-4C21-80D0-A80A837C6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77" y="4407732"/>
            <a:ext cx="87344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86" y="432000"/>
            <a:ext cx="8199413" cy="432000"/>
          </a:xfrm>
        </p:spPr>
        <p:txBody>
          <a:bodyPr/>
          <a:lstStyle/>
          <a:p>
            <a:pPr algn="ctr"/>
            <a:r>
              <a:rPr lang="en-US" dirty="0"/>
              <a:t>Permanently Deleting Files and Folders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98426" y="1169941"/>
            <a:ext cx="4377129" cy="419015"/>
          </a:xfrm>
        </p:spPr>
        <p:txBody>
          <a:bodyPr/>
          <a:lstStyle/>
          <a:p>
            <a:pPr algn="ctr"/>
            <a:r>
              <a:rPr lang="tr-TR" sz="1400" dirty="0">
                <a:latin typeface="NewBaskerville-Roman"/>
              </a:rPr>
              <a:t>os.unlink, rmdir, rmtree: delete file, directory or whole path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>
                <a:latin typeface="NewBaskerville-Roman"/>
              </a:rPr>
              <a:t>os.unlink</a:t>
            </a:r>
            <a:r>
              <a:rPr lang="en-US" dirty="0">
                <a:latin typeface="NewBaskerville-Roman"/>
              </a:rPr>
              <a:t>(path)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38859" y="4305135"/>
            <a:ext cx="1721794" cy="900000"/>
          </a:xfrm>
        </p:spPr>
        <p:txBody>
          <a:bodyPr/>
          <a:lstStyle/>
          <a:p>
            <a:pPr algn="l"/>
            <a:r>
              <a:rPr lang="tr-TR" b="1" dirty="0"/>
              <a:t>delete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delete the file </a:t>
            </a:r>
            <a:endParaRPr lang="tr-TR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at path</a:t>
            </a:r>
            <a:endParaRPr lang="tr-TR" dirty="0">
              <a:latin typeface="NewBaskerville-Roman"/>
            </a:endParaRP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 err="1">
                <a:latin typeface="NewBaskerville-Roman"/>
              </a:rPr>
              <a:t>os.rmdir</a:t>
            </a:r>
            <a:r>
              <a:rPr lang="en-US" dirty="0">
                <a:latin typeface="NewBaskerville-Roman"/>
              </a:rPr>
              <a:t>(path)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333270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delete empty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delete the folder at path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folder should be empty</a:t>
            </a:r>
            <a:endParaRPr lang="en-US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42769"/>
            <a:ext cx="1660311" cy="504000"/>
          </a:xfrm>
        </p:spPr>
        <p:txBody>
          <a:bodyPr/>
          <a:lstStyle/>
          <a:p>
            <a:r>
              <a:rPr lang="tr-TR" dirty="0"/>
              <a:t>shutil.rmtree(path)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334949"/>
            <a:ext cx="2138289" cy="1646126"/>
          </a:xfrm>
        </p:spPr>
        <p:txBody>
          <a:bodyPr/>
          <a:lstStyle/>
          <a:p>
            <a:pPr algn="l"/>
            <a:r>
              <a:rPr lang="tr-TR" b="1" dirty="0"/>
              <a:t>remove whole path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removes the folder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with whole path</a:t>
            </a:r>
          </a:p>
          <a:p>
            <a:pPr algn="l"/>
            <a:r>
              <a:rPr lang="tr-TR" b="1" dirty="0"/>
              <a:t>Note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all files and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in the path are also removed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36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25" y="384491"/>
            <a:ext cx="4178105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latin typeface="TheSansMonoCondensed-Plain"/>
              </a:rPr>
              <a:t>permenant deletion mistakes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Try it first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23672" y="2586382"/>
            <a:ext cx="5231567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if </a:t>
            </a:r>
            <a:r>
              <a:rPr lang="en-US" sz="1800" i="1" dirty="0" err="1"/>
              <a:t>filename.endswith</a:t>
            </a:r>
            <a:r>
              <a:rPr lang="en-US" sz="1800" i="1" dirty="0"/>
              <a:t>('.</a:t>
            </a:r>
            <a:r>
              <a:rPr lang="en-US" sz="1800" b="1" i="1" dirty="0" err="1"/>
              <a:t>r</a:t>
            </a:r>
            <a:r>
              <a:rPr lang="en-US" sz="1800" i="1" dirty="0" err="1"/>
              <a:t>xt</a:t>
            </a:r>
            <a:r>
              <a:rPr lang="en-US" sz="1800" i="1" dirty="0"/>
              <a:t>’):</a:t>
            </a:r>
            <a:r>
              <a:rPr lang="tr-TR" sz="1800" i="1" dirty="0"/>
              <a:t> #rxt instead of txt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	</a:t>
            </a:r>
            <a:r>
              <a:rPr lang="en-US" sz="1800" i="1" dirty="0" err="1"/>
              <a:t>os.unlink</a:t>
            </a:r>
            <a:r>
              <a:rPr lang="en-US" sz="1800" i="1" dirty="0"/>
              <a:t>(filename)</a:t>
            </a:r>
          </a:p>
          <a:p>
            <a:pPr marL="0" indent="0">
              <a:buNone/>
            </a:pP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0" y="1999670"/>
            <a:ext cx="3596441" cy="29382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be careful about typos!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098623" y="4687504"/>
            <a:ext cx="5126636" cy="133854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if </a:t>
            </a:r>
            <a:r>
              <a:rPr lang="en-US" sz="1800" i="1" dirty="0" err="1"/>
              <a:t>filename.endswith</a:t>
            </a:r>
            <a:r>
              <a:rPr lang="en-US" sz="1800" i="1" dirty="0"/>
              <a:t>('.</a:t>
            </a:r>
            <a:r>
              <a:rPr lang="en-US" sz="1800" i="1" dirty="0" err="1"/>
              <a:t>rxt</a:t>
            </a:r>
            <a:r>
              <a:rPr lang="en-US" sz="1800" i="1" dirty="0"/>
              <a:t>’):</a:t>
            </a:r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	</a:t>
            </a:r>
            <a:r>
              <a:rPr lang="en-US" sz="1800" i="1" dirty="0"/>
              <a:t>#</a:t>
            </a:r>
            <a:r>
              <a:rPr lang="en-US" sz="1800" i="1" dirty="0" err="1"/>
              <a:t>os.unlink</a:t>
            </a:r>
            <a:r>
              <a:rPr lang="en-US" sz="1800" i="1" dirty="0"/>
              <a:t>(filename)</a:t>
            </a:r>
            <a:r>
              <a:rPr lang="tr-TR" sz="1800" i="1" dirty="0"/>
              <a:t> # don’t delete it directly</a:t>
            </a:r>
            <a:endParaRPr lang="en-US" sz="1800" i="1" dirty="0"/>
          </a:p>
          <a:p>
            <a:pPr marL="207169" lvl="1" indent="0">
              <a:lnSpc>
                <a:spcPct val="150000"/>
              </a:lnSpc>
              <a:buNone/>
            </a:pPr>
            <a:r>
              <a:rPr lang="tr-TR" sz="1800" i="1" dirty="0"/>
              <a:t>	</a:t>
            </a:r>
            <a:r>
              <a:rPr lang="en-US" sz="1800" i="1" dirty="0"/>
              <a:t>print(filename)</a:t>
            </a:r>
            <a:r>
              <a:rPr lang="tr-TR" sz="1800" i="1" dirty="0"/>
              <a:t> # list to see if it is correct</a:t>
            </a:r>
            <a:endParaRPr lang="tr-TR" sz="1800" dirty="0">
              <a:solidFill>
                <a:srgbClr val="7030A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D7D634-474D-4786-AAC2-263181127539}"/>
              </a:ext>
            </a:extLst>
          </p:cNvPr>
          <p:cNvSpPr/>
          <p:nvPr/>
        </p:nvSpPr>
        <p:spPr>
          <a:xfrm>
            <a:off x="2443275" y="6242367"/>
            <a:ext cx="4688206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tr-TR" dirty="0">
                <a:latin typeface="NewBaskerville-Roman"/>
              </a:rPr>
              <a:t>try it in simulation mode before actual deletion!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0921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  <a:latin typeface="NewBaskerville-Roman"/>
              </a:rPr>
              <a:t>os.unlink</a:t>
            </a:r>
            <a:r>
              <a:rPr lang="en-US" dirty="0">
                <a:highlight>
                  <a:srgbClr val="FFFF00"/>
                </a:highlight>
                <a:latin typeface="NewBaskerville-Roman"/>
              </a:rPr>
              <a:t>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8977" y="869431"/>
            <a:ext cx="5996066" cy="3717560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'C:\\Users\\</a:t>
            </a:r>
            <a:r>
              <a:rPr lang="en-US" sz="1400" dirty="0" err="1"/>
              <a:t>yusuf.altunel</a:t>
            </a:r>
            <a:r>
              <a:rPr lang="en-US" sz="1400" dirty="0"/>
              <a:t>\\</a:t>
            </a:r>
            <a:r>
              <a:rPr lang="en-US" sz="1400" dirty="0" err="1"/>
              <a:t>AppData</a:t>
            </a:r>
            <a:r>
              <a:rPr lang="en-US" sz="1400" dirty="0"/>
              <a:t>\\Local\\Programs\\Python\\Python38-32’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('c:\\delicious')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os.getcwd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'c:\\delicious’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for filename in </a:t>
            </a:r>
            <a:r>
              <a:rPr lang="en-US" sz="1400" dirty="0" err="1"/>
              <a:t>os.listdir</a:t>
            </a:r>
            <a:r>
              <a:rPr lang="en-US" sz="1400" dirty="0"/>
              <a:t>():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if </a:t>
            </a:r>
            <a:r>
              <a:rPr lang="en-US" sz="1400" dirty="0" err="1"/>
              <a:t>filename.endswith</a:t>
            </a:r>
            <a:r>
              <a:rPr lang="en-US" sz="1400" dirty="0"/>
              <a:t>('.</a:t>
            </a:r>
            <a:r>
              <a:rPr lang="en-US" sz="1400" dirty="0" err="1"/>
              <a:t>rxt</a:t>
            </a:r>
            <a:r>
              <a:rPr lang="en-US" sz="1400" dirty="0"/>
              <a:t>'):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#</a:t>
            </a:r>
            <a:r>
              <a:rPr lang="en-US" sz="1400" dirty="0" err="1"/>
              <a:t>os.unlink</a:t>
            </a:r>
            <a:r>
              <a:rPr lang="en-US" sz="1400" dirty="0"/>
              <a:t>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print(filename)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for filename in </a:t>
            </a:r>
            <a:r>
              <a:rPr lang="en-US" sz="1400" dirty="0" err="1"/>
              <a:t>os.listdir</a:t>
            </a:r>
            <a:r>
              <a:rPr lang="en-US" sz="1400" dirty="0"/>
              <a:t>():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if </a:t>
            </a:r>
            <a:r>
              <a:rPr lang="en-US" sz="1400" dirty="0" err="1"/>
              <a:t>filename.endswith</a:t>
            </a:r>
            <a:r>
              <a:rPr lang="en-US" sz="1400" dirty="0"/>
              <a:t>('.txt'):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#</a:t>
            </a:r>
            <a:r>
              <a:rPr lang="en-US" sz="1400" dirty="0" err="1"/>
              <a:t>os.unlink</a:t>
            </a:r>
            <a:r>
              <a:rPr lang="en-US" sz="1400" dirty="0"/>
              <a:t>(filename)print(filename)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print(filename)	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HelloBeSafe.txt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51190B-62F1-460B-9C86-A2F200641CCB}"/>
              </a:ext>
            </a:extLst>
          </p:cNvPr>
          <p:cNvSpPr txBox="1">
            <a:spLocks/>
          </p:cNvSpPr>
          <p:nvPr/>
        </p:nvSpPr>
        <p:spPr>
          <a:xfrm>
            <a:off x="1561473" y="4656946"/>
            <a:ext cx="6008559" cy="199868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&gt;&gt;&gt; for filename in os.listdir():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if filename.endswith('.txt'):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print(filename +' to be deleted !')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os.unlink(filename)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print(filename +' is deleted !')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		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HelloBeSafe.txt to be deleted 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400" dirty="0"/>
              <a:t>HelloBeSafe.txt is deleted !</a:t>
            </a:r>
          </a:p>
        </p:txBody>
      </p:sp>
    </p:spTree>
    <p:extLst>
      <p:ext uri="{BB962C8B-B14F-4D97-AF65-F5344CB8AC3E}">
        <p14:creationId xmlns:p14="http://schemas.microsoft.com/office/powerpoint/2010/main" val="59484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  <a:latin typeface="NewBaskerville-Roman"/>
              </a:rPr>
              <a:t>os.rmdir</a:t>
            </a:r>
            <a:r>
              <a:rPr lang="en-US" dirty="0">
                <a:highlight>
                  <a:srgbClr val="FFFF00"/>
                </a:highlight>
                <a:latin typeface="NewBaskerville-Roman"/>
              </a:rPr>
              <a:t>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4066" y="869431"/>
            <a:ext cx="6490741" cy="223353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['myCats.cpython-38.pyc']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os.rmdir</a:t>
            </a:r>
            <a:r>
              <a:rPr lang="en-US" sz="1400" dirty="0"/>
              <a:t>('c:\\delicious\\walnut\\waffles\\__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Traceback (most recent call last):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File "&lt;pyshell#56&gt;", line 1, in &lt;module&gt;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os.rmdir</a:t>
            </a:r>
            <a:r>
              <a:rPr lang="en-US" sz="1400" dirty="0"/>
              <a:t>('c:\\delicious\\walnut\\waffles\\__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OSError</a:t>
            </a:r>
            <a:r>
              <a:rPr lang="en-US" sz="1400" dirty="0"/>
              <a:t>: [</a:t>
            </a:r>
            <a:r>
              <a:rPr lang="en-US" sz="1400" dirty="0" err="1"/>
              <a:t>WinError</a:t>
            </a:r>
            <a:r>
              <a:rPr lang="en-US" sz="1400" dirty="0"/>
              <a:t> 145] </a:t>
            </a:r>
            <a:r>
              <a:rPr lang="en-US" sz="1400" dirty="0" err="1"/>
              <a:t>Dizin</a:t>
            </a:r>
            <a:r>
              <a:rPr lang="en-US" sz="1400" dirty="0"/>
              <a:t> </a:t>
            </a:r>
            <a:r>
              <a:rPr lang="en-US" sz="1400" dirty="0" err="1"/>
              <a:t>boş</a:t>
            </a:r>
            <a:r>
              <a:rPr lang="en-US" sz="1400" dirty="0"/>
              <a:t> </a:t>
            </a:r>
            <a:r>
              <a:rPr lang="en-US" sz="1400" dirty="0" err="1"/>
              <a:t>değil</a:t>
            </a:r>
            <a:r>
              <a:rPr lang="en-US" sz="1400" dirty="0"/>
              <a:t>: 'c:\\delicious\\walnut\\waffles\\__</a:t>
            </a:r>
            <a:r>
              <a:rPr lang="en-US" sz="1400" dirty="0" err="1"/>
              <a:t>pycache</a:t>
            </a:r>
            <a:r>
              <a:rPr lang="en-US" sz="1400" dirty="0"/>
              <a:t>__'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51190B-62F1-460B-9C86-A2F200641CCB}"/>
              </a:ext>
            </a:extLst>
          </p:cNvPr>
          <p:cNvSpPr txBox="1">
            <a:spLocks/>
          </p:cNvSpPr>
          <p:nvPr/>
        </p:nvSpPr>
        <p:spPr>
          <a:xfrm>
            <a:off x="1424066" y="3297836"/>
            <a:ext cx="6445770" cy="335779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os.unlink('c:\\delicious\\walnut\\waffles\\__pycache__\\myCats.cpython-38.pyc')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os.listdir('c:\\delicious\\\\walnut\\waffles\\__pycache__')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os.listdir('c:\\delicious\\\\walnut\\waffles')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'Hello.txt', 'HelloBeSafe.txt', 'HelloWellcome.txt', 'myCats.py', 'mydata.bak', 'mydata.dat', 'mydata.dir', 'sonnet29.txt', </a:t>
            </a:r>
            <a:r>
              <a:rPr lang="tr-TR" sz="1400" dirty="0">
                <a:solidFill>
                  <a:srgbClr val="FF0000"/>
                </a:solidFill>
              </a:rPr>
              <a:t>'__pycache__’]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os.rmdir('c:\\delicious\\walnut\\waffles\\__pycache__’)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os.listdir('c:\\delicious\\\\walnut\\waffles')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['bacon.txt', 'Hello.txt', 'HelloBeSafe.txt', 'HelloWellcome.txt', 'myCats.py', 'mydata.bak', 'mydata.dat', 'mydata.dir', 'sonnet29.txt']</a:t>
            </a:r>
          </a:p>
        </p:txBody>
      </p:sp>
    </p:spTree>
    <p:extLst>
      <p:ext uri="{BB962C8B-B14F-4D97-AF65-F5344CB8AC3E}">
        <p14:creationId xmlns:p14="http://schemas.microsoft.com/office/powerpoint/2010/main" val="1324494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shutil.rmtree(path)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9076" y="3642613"/>
            <a:ext cx="6490741" cy="404732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shutil.rmtree</a:t>
            </a:r>
            <a:r>
              <a:rPr lang="en-US" sz="1400" dirty="0"/>
              <a:t>('c:\\delicious\\walnut\\waffles')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25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7C166-0D6E-472F-A5D7-C73296A31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8" y="662222"/>
            <a:ext cx="8326491" cy="2830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5E8D2-D7B9-43A1-BE20-640AAEECE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57" y="4185535"/>
            <a:ext cx="8293411" cy="251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5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86" y="432000"/>
            <a:ext cx="8199413" cy="432000"/>
          </a:xfrm>
        </p:spPr>
        <p:txBody>
          <a:bodyPr/>
          <a:lstStyle/>
          <a:p>
            <a:pPr algn="ctr"/>
            <a:r>
              <a:rPr lang="en-US" dirty="0"/>
              <a:t>Safe Deletes with the send2trash Module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98426" y="1169941"/>
            <a:ext cx="4377129" cy="419015"/>
          </a:xfrm>
        </p:spPr>
        <p:txBody>
          <a:bodyPr/>
          <a:lstStyle/>
          <a:p>
            <a:pPr algn="ctr"/>
            <a:r>
              <a:rPr lang="tr-TR" sz="1400" dirty="0">
                <a:latin typeface="NewBaskerville-Roman"/>
              </a:rPr>
              <a:t>install third-party send2trash module: </a:t>
            </a:r>
            <a:r>
              <a:rPr lang="tr-TR" dirty="0"/>
              <a:t>pip install send2trash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>
                <a:latin typeface="NewBaskerville-Roman"/>
              </a:rPr>
              <a:t>send to trash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38859" y="4529987"/>
            <a:ext cx="1721794" cy="1271206"/>
          </a:xfrm>
        </p:spPr>
        <p:txBody>
          <a:bodyPr/>
          <a:lstStyle/>
          <a:p>
            <a:pPr algn="l"/>
            <a:r>
              <a:rPr lang="tr-TR" b="1" dirty="0"/>
              <a:t>files and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latin typeface="NewBaskerville-Roman"/>
              </a:rPr>
              <a:t>sent </a:t>
            </a:r>
            <a:r>
              <a:rPr lang="en-US" dirty="0">
                <a:latin typeface="NewBaskerville-Roman"/>
              </a:rPr>
              <a:t>to computer’s</a:t>
            </a:r>
            <a:endParaRPr lang="tr-TR" dirty="0">
              <a:latin typeface="NewBaskerville-Roman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trash or recycle bin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22492" y="3926335"/>
            <a:ext cx="1678898" cy="504000"/>
          </a:xfrm>
        </p:spPr>
        <p:txBody>
          <a:bodyPr/>
          <a:lstStyle/>
          <a:p>
            <a:r>
              <a:rPr lang="tr-TR" dirty="0">
                <a:latin typeface="NewBaskerville-Roman"/>
              </a:rPr>
              <a:t>alternative deletion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5963" y="4543133"/>
            <a:ext cx="1807385" cy="90000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b="1" dirty="0"/>
              <a:t>moved to trash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>
                <a:latin typeface="NewBaskerville-Roman"/>
              </a:rPr>
              <a:t>instead of permanently deleting them</a:t>
            </a:r>
            <a:endParaRPr lang="tr-TR" dirty="0">
              <a:latin typeface="NewBaskerville-Roman"/>
            </a:endParaRP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9584" y="3897443"/>
            <a:ext cx="1660311" cy="449326"/>
          </a:xfrm>
        </p:spPr>
        <p:txBody>
          <a:bodyPr/>
          <a:lstStyle/>
          <a:p>
            <a:r>
              <a:rPr lang="tr-TR" dirty="0"/>
              <a:t>restore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7342" y="4514831"/>
            <a:ext cx="2138289" cy="941589"/>
          </a:xfrm>
        </p:spPr>
        <p:txBody>
          <a:bodyPr/>
          <a:lstStyle/>
          <a:p>
            <a:pPr algn="l"/>
            <a:r>
              <a:rPr lang="tr-TR" b="1" dirty="0"/>
              <a:t>restore later is possible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restore</a:t>
            </a:r>
            <a:r>
              <a:rPr lang="tr-TR" dirty="0"/>
              <a:t> later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from the recycle bin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30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3E353-3A66-4A0A-B276-7F6E08804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085" y="384491"/>
            <a:ext cx="6580682" cy="432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algn="ctr"/>
            <a:r>
              <a:rPr lang="tr-TR" dirty="0">
                <a:solidFill>
                  <a:srgbClr val="00B0F0"/>
                </a:solidFill>
                <a:latin typeface="TheSansMonoCondensed-Plain"/>
              </a:rPr>
              <a:t>send2trash() </a:t>
            </a:r>
            <a:r>
              <a:rPr lang="tr-TR" dirty="0">
                <a:latin typeface="TheSansMonoCondensed-Plain"/>
              </a:rPr>
              <a:t>can’t call back from trash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3219-73B6-4A50-8412-77850D56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073" y="4260686"/>
            <a:ext cx="2502160" cy="281336"/>
          </a:xfrm>
          <a:solidFill>
            <a:schemeClr val="bg1">
              <a:lumMod val="85000"/>
              <a:alpha val="75000"/>
            </a:schemeClr>
          </a:solidFill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no incarnation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337464" y="614020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3F52C3-E381-4B04-B9A7-B6D338DC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23672" y="2586382"/>
            <a:ext cx="5231567" cy="1056230"/>
          </a:xfr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function can only send files to the recycle bin</a:t>
            </a:r>
            <a:endParaRPr lang="tr-TR" sz="1800" i="1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29703B9-D06C-466D-B2FA-5D32C725CCA5}"/>
              </a:ext>
            </a:extLst>
          </p:cNvPr>
          <p:cNvSpPr txBox="1">
            <a:spLocks/>
          </p:cNvSpPr>
          <p:nvPr/>
        </p:nvSpPr>
        <p:spPr>
          <a:xfrm>
            <a:off x="3014220" y="1999670"/>
            <a:ext cx="3596441" cy="293826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NewBaskerville-Roman"/>
              </a:rPr>
              <a:t>sent to trash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D7B7584-F064-469D-9659-9FE4493909E6}"/>
              </a:ext>
            </a:extLst>
          </p:cNvPr>
          <p:cNvSpPr txBox="1">
            <a:spLocks/>
          </p:cNvSpPr>
          <p:nvPr/>
        </p:nvSpPr>
        <p:spPr>
          <a:xfrm>
            <a:off x="2098623" y="4687504"/>
            <a:ext cx="5126636" cy="133854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3000"/>
                </a:schemeClr>
              </a:gs>
              <a:gs pos="2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50000"/>
              </a:lnSpc>
              <a:buNone/>
            </a:pPr>
            <a:r>
              <a:rPr lang="en-US" sz="1800" i="1" dirty="0"/>
              <a:t>it cannot pull files out of it.</a:t>
            </a:r>
            <a:endParaRPr lang="tr-TR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385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743682-8D73-49BE-8271-9EDCB090A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1" y="2771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send2trash.send2trash(path)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9115" y="1064304"/>
            <a:ext cx="6490741" cy="229349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baconFile</a:t>
            </a:r>
            <a:r>
              <a:rPr lang="en-US" sz="1400" dirty="0"/>
              <a:t> = open('bacon.txt', 'a') # creates the file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baconFile.write</a:t>
            </a:r>
            <a:r>
              <a:rPr lang="en-US" sz="1400" dirty="0"/>
              <a:t>('Bacon is not a vegetable.')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25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baconFile.close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['bacon.txt', 'walnut’]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send2trash.send2trash('bacon.txt')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['walnut']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4427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10</a:t>
            </a:r>
            <a:r>
              <a:rPr lang="en-US" sz="2800" dirty="0"/>
              <a:t>: </a:t>
            </a:r>
            <a:r>
              <a:rPr lang="tr-TR" sz="2800" dirty="0"/>
              <a:t>Debugging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Getting the Traceback as a String</a:t>
            </a:r>
          </a:p>
          <a:p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11" name="Picture Placeholder 10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2D244EDE-2A41-40D2-B559-DCF5FDEB4C2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00133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Directory Walk Through with Python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508956"/>
          </a:xfrm>
        </p:spPr>
        <p:txBody>
          <a:bodyPr/>
          <a:lstStyle/>
          <a:p>
            <a:r>
              <a:rPr lang="en-US" dirty="0"/>
              <a:t>Python provides a function to handle</a:t>
            </a:r>
            <a:r>
              <a:rPr lang="tr-TR" dirty="0"/>
              <a:t> directory walk through</a:t>
            </a:r>
            <a:endParaRPr lang="en-US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9070" y="3851385"/>
            <a:ext cx="1865734" cy="504000"/>
          </a:xfrm>
        </p:spPr>
        <p:txBody>
          <a:bodyPr/>
          <a:lstStyle/>
          <a:p>
            <a:r>
              <a:rPr lang="tr-TR" dirty="0"/>
              <a:t>walk through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243" y="4760987"/>
            <a:ext cx="1955409" cy="1355000"/>
          </a:xfrm>
        </p:spPr>
        <p:txBody>
          <a:bodyPr/>
          <a:lstStyle/>
          <a:p>
            <a:pPr algn="l"/>
            <a:r>
              <a:rPr lang="tr-TR" dirty="0"/>
              <a:t>visiting directories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and subdirectories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in </a:t>
            </a:r>
            <a:r>
              <a:rPr lang="en-US" dirty="0"/>
              <a:t>the directory tree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touche files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9611" y="4688111"/>
            <a:ext cx="1793737" cy="129296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touch files &amp;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renaming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deleting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moving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08415" y="3912267"/>
            <a:ext cx="2196102" cy="504000"/>
          </a:xfrm>
        </p:spPr>
        <p:txBody>
          <a:bodyPr/>
          <a:lstStyle/>
          <a:p>
            <a:r>
              <a:rPr lang="tr-TR" dirty="0">
                <a:solidFill>
                  <a:srgbClr val="00B0F0"/>
                </a:solidFill>
              </a:rPr>
              <a:t>os.walk(path)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0997" y="4667533"/>
            <a:ext cx="2761649" cy="1058710"/>
          </a:xfrm>
        </p:spPr>
        <p:txBody>
          <a:bodyPr/>
          <a:lstStyle/>
          <a:p>
            <a:pPr algn="l"/>
            <a:r>
              <a:rPr lang="tr-TR" dirty="0"/>
              <a:t>walks through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 whole directory tree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starting from the path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527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4C755E-80A1-4879-9042-4489E8D8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331" y="59960"/>
            <a:ext cx="7180289" cy="432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tr-TR" dirty="0"/>
              <a:t>visitDirectoryTree.py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9095" y="674557"/>
            <a:ext cx="6550702" cy="3897443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fr-FR" sz="1600" dirty="0"/>
              <a:t>import os</a:t>
            </a:r>
          </a:p>
          <a:p>
            <a:pPr marL="207169" lvl="1" indent="0">
              <a:buNone/>
            </a:pPr>
            <a:endParaRPr lang="fr-FR" sz="1600" dirty="0"/>
          </a:p>
          <a:p>
            <a:pPr marL="207169" lvl="1" indent="0">
              <a:buNone/>
            </a:pPr>
            <a:r>
              <a:rPr lang="fr-FR" sz="1600" dirty="0" err="1"/>
              <a:t>def</a:t>
            </a:r>
            <a:r>
              <a:rPr lang="fr-FR" sz="1600" dirty="0"/>
              <a:t> </a:t>
            </a:r>
            <a:r>
              <a:rPr lang="fr-FR" sz="1600" dirty="0" err="1"/>
              <a:t>walkThrough</a:t>
            </a:r>
            <a:r>
              <a:rPr lang="fr-FR" sz="1600" dirty="0"/>
              <a:t>(</a:t>
            </a:r>
            <a:r>
              <a:rPr lang="fr-FR" sz="1600" dirty="0" err="1"/>
              <a:t>path</a:t>
            </a:r>
            <a:r>
              <a:rPr lang="fr-FR" sz="1600" dirty="0"/>
              <a:t>):</a:t>
            </a:r>
          </a:p>
          <a:p>
            <a:pPr marL="207169" lvl="1" indent="0">
              <a:buNone/>
            </a:pPr>
            <a:r>
              <a:rPr lang="fr-FR" sz="1600" dirty="0"/>
              <a:t>    for </a:t>
            </a:r>
            <a:r>
              <a:rPr lang="fr-FR" sz="1600" dirty="0" err="1"/>
              <a:t>folderName</a:t>
            </a:r>
            <a:r>
              <a:rPr lang="fr-FR" sz="1600" dirty="0"/>
              <a:t>, </a:t>
            </a:r>
            <a:r>
              <a:rPr lang="fr-FR" sz="1600" dirty="0" err="1"/>
              <a:t>subfolders</a:t>
            </a:r>
            <a:r>
              <a:rPr lang="fr-FR" sz="1600" dirty="0"/>
              <a:t>, </a:t>
            </a:r>
            <a:r>
              <a:rPr lang="fr-FR" sz="1600" dirty="0" err="1"/>
              <a:t>filenames</a:t>
            </a:r>
            <a:r>
              <a:rPr lang="fr-FR" sz="1600" dirty="0"/>
              <a:t> in </a:t>
            </a:r>
            <a:r>
              <a:rPr lang="fr-FR" sz="1600" dirty="0" err="1"/>
              <a:t>os.walk</a:t>
            </a:r>
            <a:r>
              <a:rPr lang="fr-FR" sz="1600" dirty="0"/>
              <a:t>(</a:t>
            </a:r>
            <a:r>
              <a:rPr lang="fr-FR" sz="1600" dirty="0" err="1"/>
              <a:t>path</a:t>
            </a:r>
            <a:r>
              <a:rPr lang="fr-FR" sz="1600" dirty="0"/>
              <a:t>):</a:t>
            </a:r>
          </a:p>
          <a:p>
            <a:pPr marL="207169" lvl="1" indent="0">
              <a:buNone/>
            </a:pPr>
            <a:r>
              <a:rPr lang="fr-FR" sz="1600" dirty="0"/>
              <a:t>        </a:t>
            </a:r>
            <a:r>
              <a:rPr lang="fr-FR" sz="1600" dirty="0" err="1"/>
              <a:t>print</a:t>
            </a:r>
            <a:r>
              <a:rPr lang="fr-FR" sz="1600" dirty="0"/>
              <a:t>('The </a:t>
            </a:r>
            <a:r>
              <a:rPr lang="fr-FR" sz="1600" dirty="0" err="1"/>
              <a:t>current</a:t>
            </a:r>
            <a:r>
              <a:rPr lang="fr-FR" sz="1600" dirty="0"/>
              <a:t> folder </a:t>
            </a:r>
            <a:r>
              <a:rPr lang="fr-FR" sz="1600" dirty="0" err="1"/>
              <a:t>is</a:t>
            </a:r>
            <a:r>
              <a:rPr lang="fr-FR" sz="1600" dirty="0"/>
              <a:t> ' + </a:t>
            </a:r>
            <a:r>
              <a:rPr lang="fr-FR" sz="1600" dirty="0" err="1"/>
              <a:t>folderName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endParaRPr lang="fr-FR" sz="1600" dirty="0"/>
          </a:p>
          <a:p>
            <a:pPr marL="207169" lvl="1" indent="0">
              <a:buNone/>
            </a:pPr>
            <a:r>
              <a:rPr lang="fr-FR" sz="1600" dirty="0"/>
              <a:t>        for </a:t>
            </a:r>
            <a:r>
              <a:rPr lang="fr-FR" sz="1600" dirty="0" err="1"/>
              <a:t>subfolder</a:t>
            </a:r>
            <a:r>
              <a:rPr lang="fr-FR" sz="1600" dirty="0"/>
              <a:t> in </a:t>
            </a:r>
            <a:r>
              <a:rPr lang="fr-FR" sz="1600" dirty="0" err="1"/>
              <a:t>subfolders</a:t>
            </a:r>
            <a:r>
              <a:rPr lang="fr-FR" sz="1600" dirty="0"/>
              <a:t>:</a:t>
            </a:r>
          </a:p>
          <a:p>
            <a:pPr marL="207169" lvl="1" indent="0">
              <a:buNone/>
            </a:pPr>
            <a:r>
              <a:rPr lang="fr-FR" sz="1600" dirty="0"/>
              <a:t>            </a:t>
            </a:r>
            <a:r>
              <a:rPr lang="fr-FR" sz="1600" dirty="0" err="1"/>
              <a:t>print</a:t>
            </a:r>
            <a:r>
              <a:rPr lang="fr-FR" sz="1600" dirty="0"/>
              <a:t>('SUBFOLDER OF ' + </a:t>
            </a:r>
            <a:r>
              <a:rPr lang="fr-FR" sz="1600" dirty="0" err="1"/>
              <a:t>folderName</a:t>
            </a:r>
            <a:r>
              <a:rPr lang="fr-FR" sz="1600" dirty="0"/>
              <a:t> + ': ' + </a:t>
            </a:r>
            <a:r>
              <a:rPr lang="fr-FR" sz="1600" dirty="0" err="1"/>
              <a:t>subfolder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r>
              <a:rPr lang="fr-FR" sz="1600" dirty="0"/>
              <a:t>        </a:t>
            </a:r>
          </a:p>
          <a:p>
            <a:pPr marL="207169" lvl="1" indent="0">
              <a:buNone/>
            </a:pPr>
            <a:r>
              <a:rPr lang="fr-FR" sz="1600" dirty="0"/>
              <a:t>        for </a:t>
            </a:r>
            <a:r>
              <a:rPr lang="fr-FR" sz="1600" dirty="0" err="1"/>
              <a:t>filename</a:t>
            </a:r>
            <a:r>
              <a:rPr lang="fr-FR" sz="1600" dirty="0"/>
              <a:t> in </a:t>
            </a:r>
            <a:r>
              <a:rPr lang="fr-FR" sz="1600" dirty="0" err="1"/>
              <a:t>filenames</a:t>
            </a:r>
            <a:r>
              <a:rPr lang="fr-FR" sz="1600" dirty="0"/>
              <a:t>:</a:t>
            </a:r>
          </a:p>
          <a:p>
            <a:pPr marL="207169" lvl="1" indent="0">
              <a:buNone/>
            </a:pPr>
            <a:r>
              <a:rPr lang="fr-FR" sz="1600" dirty="0"/>
              <a:t>            </a:t>
            </a:r>
            <a:r>
              <a:rPr lang="fr-FR" sz="1600" dirty="0" err="1"/>
              <a:t>print</a:t>
            </a:r>
            <a:r>
              <a:rPr lang="fr-FR" sz="1600" dirty="0"/>
              <a:t>('FILE INSIDE ' + </a:t>
            </a:r>
            <a:r>
              <a:rPr lang="fr-FR" sz="1600" dirty="0" err="1"/>
              <a:t>folderName</a:t>
            </a:r>
            <a:r>
              <a:rPr lang="fr-FR" sz="1600" dirty="0"/>
              <a:t> + ': '+ </a:t>
            </a:r>
            <a:r>
              <a:rPr lang="fr-FR" sz="1600" dirty="0" err="1"/>
              <a:t>filename</a:t>
            </a:r>
            <a:r>
              <a:rPr lang="fr-FR" sz="1600" dirty="0"/>
              <a:t>)</a:t>
            </a:r>
          </a:p>
          <a:p>
            <a:pPr marL="207169" lvl="1" indent="0">
              <a:buNone/>
            </a:pPr>
            <a:endParaRPr lang="fr-FR" sz="1600" dirty="0"/>
          </a:p>
          <a:p>
            <a:pPr marL="207169" lvl="1" indent="0">
              <a:buNone/>
            </a:pPr>
            <a:r>
              <a:rPr lang="fr-FR" sz="1600" dirty="0"/>
              <a:t>    </a:t>
            </a:r>
            <a:r>
              <a:rPr lang="fr-FR" sz="1600" dirty="0" err="1"/>
              <a:t>print</a:t>
            </a:r>
            <a:r>
              <a:rPr lang="fr-FR" sz="1600" dirty="0"/>
              <a:t>('')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42066" y="5850390"/>
            <a:ext cx="324000" cy="432000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4125" y="4946754"/>
            <a:ext cx="6610661" cy="1738859"/>
          </a:xfrm>
          <a:solidFill>
            <a:schemeClr val="accent4">
              <a:lumMod val="40000"/>
              <a:lumOff val="60000"/>
              <a:alpha val="85000"/>
            </a:schemeClr>
          </a:solidFill>
        </p:spPr>
        <p:txBody>
          <a:bodyPr/>
          <a:lstStyle/>
          <a:p>
            <a:pPr marL="207169" lvl="1" indent="0">
              <a:buNone/>
            </a:pPr>
            <a:endParaRPr lang="tr-TR" sz="1600" dirty="0"/>
          </a:p>
          <a:p>
            <a:pPr marL="207169" lvl="1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walkThrough</a:t>
            </a:r>
            <a:r>
              <a:rPr lang="en-US" sz="1600" dirty="0"/>
              <a:t>('C:\\delicious')</a:t>
            </a:r>
          </a:p>
          <a:p>
            <a:pPr marL="207169" lvl="1" indent="0">
              <a:buNone/>
            </a:pPr>
            <a:r>
              <a:rPr lang="en-US" sz="1600" dirty="0"/>
              <a:t>The current folder is C:\delicious</a:t>
            </a:r>
          </a:p>
          <a:p>
            <a:pPr marL="207169" lvl="1" indent="0">
              <a:buNone/>
            </a:pPr>
            <a:r>
              <a:rPr lang="en-US" sz="1600" dirty="0"/>
              <a:t>SUBFOLDER OF C:\delicious: walnut</a:t>
            </a:r>
          </a:p>
          <a:p>
            <a:pPr marL="207169" lvl="1" indent="0">
              <a:buNone/>
            </a:pPr>
            <a:r>
              <a:rPr lang="en-US" sz="1600" dirty="0"/>
              <a:t>The current folder is C:\delicious\walnut</a:t>
            </a:r>
          </a:p>
        </p:txBody>
      </p:sp>
    </p:spTree>
    <p:extLst>
      <p:ext uri="{BB962C8B-B14F-4D97-AF65-F5344CB8AC3E}">
        <p14:creationId xmlns:p14="http://schemas.microsoft.com/office/powerpoint/2010/main" val="1978172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10</a:t>
            </a:r>
            <a:r>
              <a:rPr lang="en-US" sz="2800" dirty="0"/>
              <a:t>: </a:t>
            </a:r>
            <a:r>
              <a:rPr lang="tr-TR" sz="2800" dirty="0"/>
              <a:t>Debugging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Assertions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an Assertion in a Traffic Light Simulation</a:t>
            </a:r>
            <a:endParaRPr lang="tr-T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Disabling Assertions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B8C6EE44-C25C-4DD9-876A-4A2C5D9949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0665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10</a:t>
            </a:r>
            <a:r>
              <a:rPr lang="en-US" sz="2800" dirty="0"/>
              <a:t>: </a:t>
            </a:r>
            <a:r>
              <a:rPr lang="tr-TR" sz="2800" dirty="0"/>
              <a:t>Debugging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Logging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the logging Module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Don’t Debug with print()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Logging Levels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Disabling Logging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Logging to a File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B8C6EE44-C25C-4DD9-876A-4A2C5D9949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7733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10</a:t>
            </a:r>
            <a:r>
              <a:rPr lang="en-US" sz="2800" dirty="0"/>
              <a:t>: </a:t>
            </a:r>
            <a:r>
              <a:rPr lang="tr-TR" sz="2800" dirty="0"/>
              <a:t>Debugging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IDLE’S Debugger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Over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Quit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Debugging a Number Adding Program</a:t>
            </a:r>
          </a:p>
          <a:p>
            <a:r>
              <a:rPr lang="tr-T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Breakpoints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9" name="Picture Placeholder 8" descr="A view of a city with large buildings in the background&#10;&#10;Description automatically generated">
            <a:extLst>
              <a:ext uri="{FF2B5EF4-FFF2-40B4-BE49-F238E27FC236}">
                <a16:creationId xmlns:a16="http://schemas.microsoft.com/office/drawing/2014/main" id="{B8C6EE44-C25C-4DD9-876A-4A2C5D9949E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7853" r="78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9472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Compressing Files with the </a:t>
            </a:r>
            <a:r>
              <a:rPr lang="en-US" dirty="0" err="1"/>
              <a:t>zipfile</a:t>
            </a:r>
            <a:r>
              <a:rPr lang="en-US" dirty="0"/>
              <a:t> Module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tr-TR" dirty="0"/>
              <a:t>Compression </a:t>
            </a:r>
            <a:r>
              <a:rPr lang="en-US" dirty="0"/>
              <a:t>reduces its size</a:t>
            </a:r>
            <a:r>
              <a:rPr lang="tr-TR" dirty="0"/>
              <a:t>, package files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size reduction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useful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transferring over the Internet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keeping on disk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packaging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2"/>
            <a:ext cx="2066692" cy="1023140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simplification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multiples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processed as a single entity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b="0" i="1" dirty="0"/>
              <a:t>archive file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56026" y="4612943"/>
            <a:ext cx="2483062" cy="978388"/>
          </a:xfrm>
        </p:spPr>
        <p:txBody>
          <a:bodyPr/>
          <a:lstStyle/>
          <a:p>
            <a:pPr algn="l"/>
            <a:r>
              <a:rPr lang="tr-TR" dirty="0"/>
              <a:t>archive file 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 single compressed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contains files and folders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55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Pythong Abilities about Archive Files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tr-TR" dirty="0"/>
              <a:t>zip module: </a:t>
            </a:r>
            <a:r>
              <a:rPr lang="en-US" dirty="0"/>
              <a:t>create</a:t>
            </a:r>
            <a:r>
              <a:rPr lang="tr-TR" dirty="0"/>
              <a:t> </a:t>
            </a:r>
            <a:r>
              <a:rPr lang="en-US" dirty="0"/>
              <a:t>and open (or extract) ZIP files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call </a:t>
            </a:r>
            <a:r>
              <a:rPr lang="en-US" dirty="0"/>
              <a:t>open()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to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return a File object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read() &amp; write()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call read() to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read content</a:t>
            </a:r>
          </a:p>
          <a:p>
            <a:pPr algn="l"/>
            <a:r>
              <a:rPr lang="tr-TR" dirty="0"/>
              <a:t>call write() 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write into file object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call </a:t>
            </a:r>
            <a:r>
              <a:rPr lang="en-US" dirty="0"/>
              <a:t>close()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647180"/>
          </a:xfrm>
        </p:spPr>
        <p:txBody>
          <a:bodyPr/>
          <a:lstStyle/>
          <a:p>
            <a:pPr algn="l"/>
            <a:r>
              <a:rPr lang="tr-TR" dirty="0"/>
              <a:t>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Close the file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on the File object</a:t>
            </a:r>
          </a:p>
          <a:p>
            <a:pPr algn="l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21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zipfile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 err="1"/>
              <a:t>zipfile</a:t>
            </a:r>
            <a:r>
              <a:rPr lang="en-US" dirty="0"/>
              <a:t> is the name of the Python</a:t>
            </a:r>
            <a:r>
              <a:rPr lang="tr-TR" dirty="0"/>
              <a:t> </a:t>
            </a:r>
            <a:r>
              <a:rPr lang="en-US" dirty="0"/>
              <a:t>module</a:t>
            </a:r>
            <a:r>
              <a:rPr lang="tr-TR" dirty="0"/>
              <a:t> to import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import zipfile</a:t>
            </a:r>
            <a:r>
              <a:rPr lang="en-US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tr-TR" dirty="0"/>
              <a:t>import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the zipfile module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zipfile module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has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necessary functions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process archive files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examples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647180"/>
          </a:xfrm>
        </p:spPr>
        <p:txBody>
          <a:bodyPr/>
          <a:lstStyle/>
          <a:p>
            <a:pPr algn="l"/>
            <a:r>
              <a:rPr lang="tr-TR" dirty="0"/>
              <a:t>processes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extract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creating archive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adding file to archive file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908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ZIP File Operations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 err="1"/>
              <a:t>zipfile</a:t>
            </a:r>
            <a:r>
              <a:rPr lang="en-US" dirty="0"/>
              <a:t> is the name of the Python</a:t>
            </a:r>
            <a:r>
              <a:rPr lang="tr-TR" dirty="0"/>
              <a:t> </a:t>
            </a:r>
            <a:r>
              <a:rPr lang="en-US" dirty="0"/>
              <a:t>module</a:t>
            </a:r>
            <a:r>
              <a:rPr lang="tr-TR" dirty="0"/>
              <a:t> to import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import zipfile</a:t>
            </a:r>
            <a:r>
              <a:rPr lang="en-US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tr-TR" dirty="0"/>
              <a:t>import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the zipfile module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zipfile module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has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necessary functions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to process archive files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operations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263201"/>
          </a:xfrm>
        </p:spPr>
        <p:txBody>
          <a:bodyPr/>
          <a:lstStyle/>
          <a:p>
            <a:pPr algn="l"/>
            <a:r>
              <a:rPr lang="tr-TR" dirty="0"/>
              <a:t>archive file  operations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extract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creating archive files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adding file to archive file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9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Reading ZIP Files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 err="1"/>
              <a:t>zipfile</a:t>
            </a:r>
            <a:r>
              <a:rPr lang="en-US" dirty="0"/>
              <a:t> is the name of the Python</a:t>
            </a:r>
            <a:r>
              <a:rPr lang="tr-TR" dirty="0"/>
              <a:t> </a:t>
            </a:r>
            <a:r>
              <a:rPr lang="en-US" dirty="0"/>
              <a:t>module</a:t>
            </a:r>
            <a:r>
              <a:rPr lang="tr-TR" dirty="0"/>
              <a:t> to import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import zipfile</a:t>
            </a:r>
            <a:r>
              <a:rPr lang="en-US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tr-TR" dirty="0"/>
              <a:t>create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a ZipFile object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Z</a:t>
            </a:r>
            <a:r>
              <a:rPr lang="en-US" dirty="0" err="1"/>
              <a:t>ipFile</a:t>
            </a:r>
            <a:r>
              <a:rPr lang="en-US" dirty="0"/>
              <a:t> objects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16657" y="4688111"/>
            <a:ext cx="2066692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conceptually similar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the File objects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Zipfile.ZipFile()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263201"/>
          </a:xfrm>
        </p:spPr>
        <p:txBody>
          <a:bodyPr/>
          <a:lstStyle/>
          <a:p>
            <a:pPr algn="l"/>
            <a:r>
              <a:rPr lang="tr-TR" dirty="0"/>
              <a:t>to create a ZipFile Object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call Zipfile.ZipFile(fileName)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81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namelist</a:t>
            </a:r>
            <a:r>
              <a:rPr lang="en-US" dirty="0"/>
              <a:t>() method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pPr lvl="1"/>
            <a:r>
              <a:rPr lang="en-US" sz="1400" dirty="0"/>
              <a:t>returns a list of strings</a:t>
            </a:r>
            <a:r>
              <a:rPr lang="tr-TR" sz="1400" dirty="0"/>
              <a:t> </a:t>
            </a:r>
            <a:r>
              <a:rPr lang="en-US" sz="1400" dirty="0"/>
              <a:t>for all the files and folders contained in the ZIP file</a:t>
            </a:r>
            <a:endParaRPr lang="tr-TR" sz="1400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getinfo()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strings can be</a:t>
            </a:r>
            <a:r>
              <a:rPr lang="tr-TR" dirty="0"/>
              <a:t> </a:t>
            </a:r>
            <a:r>
              <a:rPr lang="en-US" dirty="0"/>
              <a:t>passed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return a </a:t>
            </a:r>
            <a:r>
              <a:rPr lang="en-US" b="1" dirty="0" err="1"/>
              <a:t>ZipInfo</a:t>
            </a:r>
            <a:r>
              <a:rPr lang="en-US" dirty="0"/>
              <a:t> object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tr-TR" dirty="0"/>
              <a:t>a </a:t>
            </a:r>
            <a:r>
              <a:rPr lang="en-US" dirty="0"/>
              <a:t>particular file.</a:t>
            </a:r>
            <a:endParaRPr lang="tr-TR" dirty="0"/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ZipInfo objects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7520" y="4688112"/>
            <a:ext cx="2068643" cy="1053122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tr-TR" dirty="0"/>
              <a:t>have their own attributes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file_size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 err="1"/>
              <a:t>compress_size</a:t>
            </a:r>
            <a:endParaRPr lang="tr-TR" dirty="0"/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Usage of ZipInfo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128290"/>
          </a:xfrm>
        </p:spPr>
        <p:txBody>
          <a:bodyPr/>
          <a:lstStyle/>
          <a:p>
            <a:pPr algn="l"/>
            <a:r>
              <a:rPr lang="en-US" dirty="0"/>
              <a:t>holds useful information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about a single file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</a:t>
            </a:r>
            <a:r>
              <a:rPr lang="tr-TR" dirty="0"/>
              <a:t> </a:t>
            </a:r>
            <a:r>
              <a:rPr lang="en-US" dirty="0"/>
              <a:t>the archive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94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5470D50-4206-427A-866F-3F9B546E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 err="1">
                <a:highlight>
                  <a:srgbClr val="FFFF00"/>
                </a:highlight>
              </a:rPr>
              <a:t>ZipFile</a:t>
            </a:r>
            <a:r>
              <a:rPr lang="tr-TR" dirty="0">
                <a:highlight>
                  <a:srgbClr val="FFFF00"/>
                </a:highlight>
              </a:rPr>
              <a:t> &amp; </a:t>
            </a:r>
            <a:r>
              <a:rPr lang="tr-TR" dirty="0"/>
              <a:t>ZipInfo</a:t>
            </a:r>
            <a:r>
              <a:rPr lang="tr-TR" dirty="0">
                <a:highlight>
                  <a:srgbClr val="FFFF00"/>
                </a:highlight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52" y="1091183"/>
            <a:ext cx="8994098" cy="226661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import </a:t>
            </a:r>
            <a:r>
              <a:rPr lang="en-US" sz="1400" dirty="0" err="1"/>
              <a:t>zipfile</a:t>
            </a:r>
            <a:r>
              <a:rPr lang="en-US" sz="1400" dirty="0"/>
              <a:t>, </a:t>
            </a:r>
            <a:r>
              <a:rPr lang="en-US" sz="1400" dirty="0" err="1"/>
              <a:t>os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os.chdir</a:t>
            </a:r>
            <a:r>
              <a:rPr lang="en-US" sz="1400" dirty="0"/>
              <a:t>('C:\\delicious')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os.listdir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['delicious.zip', 'hello.txt', 'HelloBeSafe.txt', 'walnut']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exampleZip</a:t>
            </a:r>
            <a:r>
              <a:rPr lang="en-US" sz="1400" dirty="0"/>
              <a:t> = zipfile.ZipFile('delicious.zip</a:t>
            </a:r>
            <a:r>
              <a:rPr lang="tr-TR" sz="1400" dirty="0"/>
              <a:t>'</a:t>
            </a:r>
            <a:r>
              <a:rPr lang="en-US" sz="1400" dirty="0"/>
              <a:t>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exampleZip.namelist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['walnut/', 'walnut/waffles/', 'walnut/waffles/bacon.txt', 'walnut/waffles/Hello.txt', 'walnut/waffles/HelloBeSafe.txt', 'walnut/waffles/HelloWellcome.txt', 'walnut/waffles/myCats.py', 'walnut/waffles/</a:t>
            </a:r>
            <a:r>
              <a:rPr lang="en-US" sz="1400" dirty="0" err="1"/>
              <a:t>mydata.bak</a:t>
            </a:r>
            <a:r>
              <a:rPr lang="en-US" sz="1400" dirty="0"/>
              <a:t>', 'walnut/waffles/mydata.dat', 'walnut/waffles/</a:t>
            </a:r>
            <a:r>
              <a:rPr lang="en-US" sz="1400" dirty="0" err="1"/>
              <a:t>mydata.dir</a:t>
            </a:r>
            <a:r>
              <a:rPr lang="en-US" sz="1400" dirty="0"/>
              <a:t>', 'walnut/waffles/sonnet29.txt', 'walnut/waffles/__</a:t>
            </a:r>
            <a:r>
              <a:rPr lang="en-US" sz="1400" dirty="0" err="1"/>
              <a:t>pycache</a:t>
            </a:r>
            <a:r>
              <a:rPr lang="en-US" sz="1400" dirty="0"/>
              <a:t>__/', 'walnut/waffles/__</a:t>
            </a:r>
            <a:r>
              <a:rPr lang="en-US" sz="1400" dirty="0" err="1"/>
              <a:t>pycache</a:t>
            </a:r>
            <a:r>
              <a:rPr lang="en-US" sz="1400" dirty="0"/>
              <a:t>__/myCats.cpython-38.pyc', 'hello.txt', 'HelloBeSafe.txt']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942" y="4290393"/>
            <a:ext cx="8934138" cy="2114879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spamInfo = exampleZip.getinfo('hello.txt')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spamInfo.file_size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62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spamInfo.compress_size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64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'Compressed file is %sx smaller!' % (round(spamInfo.file_size / spamInfo.compress_size, 2))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'Compressed file is 0.97x smaller!'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</a:p>
        </p:txBody>
      </p:sp>
    </p:spTree>
    <p:extLst>
      <p:ext uri="{BB962C8B-B14F-4D97-AF65-F5344CB8AC3E}">
        <p14:creationId xmlns:p14="http://schemas.microsoft.com/office/powerpoint/2010/main" val="3611675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from ZIP Files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 err="1"/>
              <a:t>extractall</a:t>
            </a:r>
            <a:r>
              <a:rPr lang="en-US" dirty="0"/>
              <a:t>() method for </a:t>
            </a:r>
            <a:r>
              <a:rPr lang="en-US" dirty="0" err="1"/>
              <a:t>ZipFile</a:t>
            </a:r>
            <a:r>
              <a:rPr lang="en-US" dirty="0"/>
              <a:t> objects</a:t>
            </a:r>
            <a:endParaRPr lang="tr-TR" dirty="0"/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extractall()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tr-TR" dirty="0"/>
              <a:t>extract all files &amp; folders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from a ZIP file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into the current working directory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407" y="3926335"/>
            <a:ext cx="1720993" cy="504000"/>
          </a:xfrm>
        </p:spPr>
        <p:txBody>
          <a:bodyPr/>
          <a:lstStyle/>
          <a:p>
            <a:r>
              <a:rPr lang="tr-TR" dirty="0"/>
              <a:t>folder name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7383" y="4688111"/>
            <a:ext cx="1695965" cy="1262983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pass a folder name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dirty="0" err="1"/>
              <a:t>extractall</a:t>
            </a:r>
            <a:r>
              <a:rPr lang="en-US" dirty="0"/>
              <a:t>()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2196102" cy="504000"/>
          </a:xfrm>
        </p:spPr>
        <p:txBody>
          <a:bodyPr/>
          <a:lstStyle/>
          <a:p>
            <a:r>
              <a:rPr lang="tr-TR" dirty="0"/>
              <a:t>Extract to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353142"/>
          </a:xfrm>
        </p:spPr>
        <p:txBody>
          <a:bodyPr/>
          <a:lstStyle/>
          <a:p>
            <a:pPr algn="l"/>
            <a:r>
              <a:rPr lang="en-US" dirty="0"/>
              <a:t>extract the files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into a folder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other than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the current working directory.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47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AB4C14C-957E-45D3-B740-0B07548B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extractall()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2"/>
            <a:ext cx="7899815" cy="210172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import zipfile, os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'C:\\Users\\yusuf.altunel\\AppData\\Local\\Programs\\Python\\Python38-32'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os.chdir("c:\\delicious")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'walnut']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615" y="3252865"/>
            <a:ext cx="7809876" cy="107929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 = zipfile.ZipFile('delicious.zip')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exampleZip.extractall()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9FDC6A6-EE0C-4275-87AB-35740FF76683}"/>
              </a:ext>
            </a:extLst>
          </p:cNvPr>
          <p:cNvSpPr txBox="1">
            <a:spLocks/>
          </p:cNvSpPr>
          <p:nvPr/>
        </p:nvSpPr>
        <p:spPr>
          <a:xfrm>
            <a:off x="577357" y="4679429"/>
            <a:ext cx="7864604" cy="1661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 = zipfile.ZipFile('delicious.zip')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exampleZip.extractall('c:\\delicious.bak’)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&gt;&gt;&gt; os.chdir('c:\\delicious.bak’)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['hello.txt', 'HelloBeSafe.txt', 'walnut']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</a:p>
        </p:txBody>
      </p:sp>
    </p:spTree>
    <p:extLst>
      <p:ext uri="{BB962C8B-B14F-4D97-AF65-F5344CB8AC3E}">
        <p14:creationId xmlns:p14="http://schemas.microsoft.com/office/powerpoint/2010/main" val="3621106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4728F3-649A-48C3-A0D1-9A1F50D9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44" y="1050979"/>
            <a:ext cx="611598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Extracting a Single 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8859" y="1792594"/>
            <a:ext cx="5126636" cy="1100507"/>
          </a:xfrm>
          <a:solidFill>
            <a:schemeClr val="bg1"/>
          </a:solidFill>
        </p:spPr>
        <p:txBody>
          <a:bodyPr/>
          <a:lstStyle/>
          <a:p>
            <a:pPr algn="ctr"/>
            <a:endParaRPr lang="tr-TR" b="0" dirty="0"/>
          </a:p>
          <a:p>
            <a:pPr algn="ctr"/>
            <a:r>
              <a:rPr lang="tr-TR" b="0" dirty="0"/>
              <a:t>ZipFile.extract() method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3238683"/>
            <a:ext cx="5120641" cy="107848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tr-TR" dirty="0"/>
          </a:p>
          <a:p>
            <a:r>
              <a:rPr lang="en-US" dirty="0"/>
              <a:t>extract a single file from</a:t>
            </a:r>
            <a:r>
              <a:rPr lang="tr-TR" dirty="0"/>
              <a:t> the ZIP file</a:t>
            </a:r>
          </a:p>
        </p:txBody>
      </p:sp>
    </p:spTree>
    <p:extLst>
      <p:ext uri="{BB962C8B-B14F-4D97-AF65-F5344CB8AC3E}">
        <p14:creationId xmlns:p14="http://schemas.microsoft.com/office/powerpoint/2010/main" val="2073247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BEBEBE-43CA-451D-85F7-C0984ED28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51496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Extracting File to a Different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764905" cy="364570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import zipfile, os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os.chdir("c:\\delicious")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'walnut’]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 = zipfile.ZipFile('delicious.zip’)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exampleZip.namelist()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['walnut/', 'walnut/waffles/', 'walnut/waffles/bacon.txt', 'walnut/waffles/Hello.txt', 'walnut/waffles/HelloBeSafe.txt', 'walnut/waffles/HelloWellcome.txt', 'walnut/waffles/myCats.py', 'walnut/waffles/mydata.bak', 'walnut/waffles/mydata.dat', 'walnut/waffles/mydata.dir', 'walnut/waffles/sonnet29.txt', 'walnut/waffles/__pycache__/', 'walnut/waffles/__pycache__/myCats.cpython-38.pyc', 'hello.txt', 'HelloBeSafe.txt']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45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25" y="4706911"/>
            <a:ext cx="7764905" cy="1768840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exampleZip.extract('hello.txt')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'c:\\delicious\\hello.txt’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exampleZip.extract('hello.txt', 'c:\\a\\New\\Folder\\helloHello.bak')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'c:\\a\\New\\Folder\\helloHello.bak\\hello.txt’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exampleZip.close()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6979879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Adding to ZIP Files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448548"/>
          </a:xfrm>
        </p:spPr>
        <p:txBody>
          <a:bodyPr/>
          <a:lstStyle/>
          <a:p>
            <a:r>
              <a:rPr lang="en-US" dirty="0"/>
              <a:t>To create </a:t>
            </a:r>
            <a:r>
              <a:rPr lang="tr-TR" dirty="0"/>
              <a:t>new </a:t>
            </a:r>
            <a:r>
              <a:rPr lang="en-US" dirty="0"/>
              <a:t>compressed ZIP files</a:t>
            </a:r>
            <a:r>
              <a:rPr lang="tr-TR" dirty="0"/>
              <a:t>, open </a:t>
            </a:r>
            <a:r>
              <a:rPr lang="en-US" dirty="0" err="1"/>
              <a:t>ZipFile</a:t>
            </a:r>
            <a:r>
              <a:rPr lang="en-US" dirty="0"/>
              <a:t> </a:t>
            </a:r>
            <a:r>
              <a:rPr lang="tr-TR" dirty="0"/>
              <a:t>object in write mode</a:t>
            </a:r>
          </a:p>
        </p:txBody>
      </p:sp>
      <p:pic>
        <p:nvPicPr>
          <p:cNvPr id="33" name="Picture Placeholder 32" descr="Teacher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04144" y="3926335"/>
            <a:ext cx="1869886" cy="504000"/>
          </a:xfrm>
        </p:spPr>
        <p:txBody>
          <a:bodyPr/>
          <a:lstStyle/>
          <a:p>
            <a:r>
              <a:rPr lang="tr-TR" dirty="0"/>
              <a:t>ZipFile in Write Mode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2702" y="4659977"/>
            <a:ext cx="2067951" cy="1208560"/>
          </a:xfrm>
        </p:spPr>
        <p:txBody>
          <a:bodyPr/>
          <a:lstStyle/>
          <a:p>
            <a:pPr algn="l"/>
            <a:r>
              <a:rPr lang="en-US" dirty="0"/>
              <a:t>open the </a:t>
            </a:r>
            <a:r>
              <a:rPr lang="en-US" dirty="0" err="1"/>
              <a:t>ZipFile</a:t>
            </a:r>
            <a:r>
              <a:rPr lang="en-US" dirty="0"/>
              <a:t> object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 write mode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by passing 'w’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as the second argument.</a:t>
            </a:r>
          </a:p>
        </p:txBody>
      </p:sp>
      <p:pic>
        <p:nvPicPr>
          <p:cNvPr id="35" name="Picture Placeholder 34" descr="Group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1" y="3926335"/>
            <a:ext cx="1963710" cy="504000"/>
          </a:xfrm>
        </p:spPr>
        <p:txBody>
          <a:bodyPr/>
          <a:lstStyle/>
          <a:p>
            <a:r>
              <a:rPr lang="tr-TR" dirty="0"/>
              <a:t>ZipFile.write(path)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87383" y="4688111"/>
            <a:ext cx="1695965" cy="1532807"/>
          </a:xfrm>
        </p:spPr>
        <p:txBody>
          <a:bodyPr vert="horz" lIns="0" tIns="0" rIns="0" bIns="0" rtlCol="0">
            <a:noAutofit/>
          </a:bodyPr>
          <a:lstStyle/>
          <a:p>
            <a:pPr algn="l"/>
            <a:r>
              <a:rPr lang="en-US" dirty="0"/>
              <a:t>Python</a:t>
            </a:r>
            <a:r>
              <a:rPr lang="tr-TR" dirty="0"/>
              <a:t> compresses </a:t>
            </a:r>
            <a:r>
              <a:rPr lang="en-US" dirty="0"/>
              <a:t>the file 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at that path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and add it into the ZIP file</a:t>
            </a:r>
          </a:p>
        </p:txBody>
      </p:sp>
      <p:pic>
        <p:nvPicPr>
          <p:cNvPr id="37" name="Picture Placeholder 36" descr="Books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65638" y="3913317"/>
            <a:ext cx="3478362" cy="504000"/>
          </a:xfrm>
        </p:spPr>
        <p:txBody>
          <a:bodyPr/>
          <a:lstStyle/>
          <a:p>
            <a:r>
              <a:rPr lang="tr-TR" dirty="0"/>
              <a:t>write(filenamePath, compressionType)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26046" y="4612943"/>
            <a:ext cx="2513042" cy="1353142"/>
          </a:xfrm>
        </p:spPr>
        <p:txBody>
          <a:bodyPr/>
          <a:lstStyle/>
          <a:p>
            <a:pPr algn="l"/>
            <a:r>
              <a:rPr lang="tr-TR" dirty="0"/>
              <a:t>Compressiont Type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/>
              <a:t>Second argument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algorithm</a:t>
            </a:r>
            <a:r>
              <a:rPr lang="tr-TR" dirty="0"/>
              <a:t> </a:t>
            </a:r>
            <a:r>
              <a:rPr lang="en-US" dirty="0"/>
              <a:t>to compress</a:t>
            </a:r>
            <a:endParaRPr lang="tr-T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00B0F0"/>
                </a:solidFill>
              </a:rPr>
              <a:t>zipfile.ZIP_DEFLATED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2779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BEBEBE-43CA-451D-85F7-C0984ED28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51496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Extracting File to a Different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636" y="896313"/>
            <a:ext cx="7764905" cy="3645707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import zipfile, os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os.chdir("c:\\delicious")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os.getcwd()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'c:\\delicious’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'walnut’]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 = zipfile.ZipFile('new.zip', 'w')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os.listdir()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['delicious.zip', 'hello.txt', 'HelloBeSafe.txt', 'new.zip', 'walnut']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2B9CA2-8A6D-4654-8415-9ACF73E1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25" y="4706910"/>
            <a:ext cx="7764905" cy="1918741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newZip.write('hello.txt', compress_type=zipfile.ZIP_DEFLATED)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newZip.filelist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[&lt;ZipInfo filename='hello.txt' compress_type=deflate filemode='-rw-rw-rw-' file_size=62 compress_size=64&gt;]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&gt;&gt;&gt; newZip.close()</a:t>
            </a:r>
          </a:p>
        </p:txBody>
      </p:sp>
    </p:spTree>
    <p:extLst>
      <p:ext uri="{BB962C8B-B14F-4D97-AF65-F5344CB8AC3E}">
        <p14:creationId xmlns:p14="http://schemas.microsoft.com/office/powerpoint/2010/main" val="19267195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4728F3-649A-48C3-A0D1-9A1F50D9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6816F-B457-4100-9975-0F3BAA3F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44" y="1050979"/>
            <a:ext cx="6115987" cy="43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Add to Zip 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9AED6-5408-4E4A-93B2-3909F2C877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3B2B7-8BB8-4FED-8CF0-EF3D36755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3849" y="2377210"/>
            <a:ext cx="5126636" cy="965596"/>
          </a:xfrm>
          <a:solidFill>
            <a:schemeClr val="bg1"/>
          </a:solidFill>
        </p:spPr>
        <p:txBody>
          <a:bodyPr/>
          <a:lstStyle/>
          <a:p>
            <a:pPr lvl="1"/>
            <a:r>
              <a:rPr lang="en-US" b="0" dirty="0"/>
              <a:t>to simply add files</a:t>
            </a:r>
            <a:r>
              <a:rPr lang="tr-TR" b="0" dirty="0"/>
              <a:t> </a:t>
            </a:r>
            <a:r>
              <a:rPr lang="en-US" b="0" dirty="0"/>
              <a:t>to an existing</a:t>
            </a:r>
            <a:r>
              <a:rPr lang="tr-TR" b="0" dirty="0"/>
              <a:t> </a:t>
            </a:r>
            <a:r>
              <a:rPr lang="en-US" b="0" dirty="0"/>
              <a:t>ZIP file</a:t>
            </a:r>
            <a:endParaRPr lang="tr-TR" b="0" dirty="0"/>
          </a:p>
          <a:p>
            <a:pPr lvl="1"/>
            <a:r>
              <a:rPr lang="en-US" b="0" dirty="0"/>
              <a:t>open</a:t>
            </a:r>
            <a:r>
              <a:rPr lang="tr-TR" b="0" dirty="0"/>
              <a:t> </a:t>
            </a:r>
            <a:r>
              <a:rPr lang="en-US" b="0" dirty="0"/>
              <a:t>the ZIP file in append mode.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1DF7F-F183-420F-8BAA-AF8BF9726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4394" y="4077324"/>
            <a:ext cx="5120641" cy="161893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tr-TR" dirty="0"/>
          </a:p>
          <a:p>
            <a:r>
              <a:rPr lang="en-US" dirty="0"/>
              <a:t>pass 'a' as the second argument </a:t>
            </a:r>
            <a:endParaRPr lang="tr-TR" dirty="0"/>
          </a:p>
          <a:p>
            <a:r>
              <a:rPr lang="en-US" dirty="0"/>
              <a:t>to </a:t>
            </a:r>
            <a:r>
              <a:rPr lang="en-US" dirty="0" err="1"/>
              <a:t>zipfile.ZipFile</a:t>
            </a:r>
            <a:r>
              <a:rPr lang="en-US" dirty="0"/>
              <a:t>()</a:t>
            </a:r>
            <a:endParaRPr lang="tr-TR" dirty="0"/>
          </a:p>
          <a:p>
            <a:endParaRPr lang="tr-TR" sz="1200" dirty="0"/>
          </a:p>
          <a:p>
            <a:pPr marL="207169" lvl="1" indent="0">
              <a:buNone/>
            </a:pPr>
            <a:r>
              <a:rPr lang="tr-TR" dirty="0"/>
              <a:t>&gt;&gt;&gt; newZip = zipfile.ZipFile('new.zip', ‘a')</a:t>
            </a:r>
          </a:p>
        </p:txBody>
      </p:sp>
    </p:spTree>
    <p:extLst>
      <p:ext uri="{BB962C8B-B14F-4D97-AF65-F5344CB8AC3E}">
        <p14:creationId xmlns:p14="http://schemas.microsoft.com/office/powerpoint/2010/main" val="687803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ED1ED27-1FAA-4F9E-86E9-5A3DD63F5EF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5044" r="504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3262</Words>
  <Application>Microsoft Office PowerPoint</Application>
  <PresentationFormat>Ekran Gösterisi (4:3)</PresentationFormat>
  <Paragraphs>680</Paragraphs>
  <Slides>49</Slides>
  <Notes>44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NewBaskerville-Roman</vt:lpstr>
      <vt:lpstr>Rockwell</vt:lpstr>
      <vt:lpstr>TheSansMonoCondensed-Plain</vt:lpstr>
      <vt:lpstr>Times New Roman</vt:lpstr>
      <vt:lpstr>Office Theme</vt:lpstr>
      <vt:lpstr>Chapter 10: Debugging</vt:lpstr>
      <vt:lpstr>Content</vt:lpstr>
      <vt:lpstr>Organizing file</vt:lpstr>
      <vt:lpstr>Chapter 10: Debugging</vt:lpstr>
      <vt:lpstr>The shutil Module</vt:lpstr>
      <vt:lpstr>Copying Files and Folders</vt:lpstr>
      <vt:lpstr>shutil.copy()</vt:lpstr>
      <vt:lpstr>Copying Files and Folders</vt:lpstr>
      <vt:lpstr>shutil.copytree()</vt:lpstr>
      <vt:lpstr>shutil.copytree()</vt:lpstr>
      <vt:lpstr>Moving and Renaming Files and Folders</vt:lpstr>
      <vt:lpstr>Move file to a Directory</vt:lpstr>
      <vt:lpstr>shutil.move()</vt:lpstr>
      <vt:lpstr>shutil.move()</vt:lpstr>
      <vt:lpstr>Move &amp; Rename</vt:lpstr>
      <vt:lpstr>shutil.move()</vt:lpstr>
      <vt:lpstr>Destination folder not existing</vt:lpstr>
      <vt:lpstr>shutil.move()</vt:lpstr>
      <vt:lpstr>shutil.move()</vt:lpstr>
      <vt:lpstr>os.unlink(path)</vt:lpstr>
      <vt:lpstr>Permanently Deleting Files and Folders</vt:lpstr>
      <vt:lpstr>permenant deletion mistakes</vt:lpstr>
      <vt:lpstr>os.unlink(path)</vt:lpstr>
      <vt:lpstr>os.rmdir(path)</vt:lpstr>
      <vt:lpstr>shutil.rmtree(path)</vt:lpstr>
      <vt:lpstr>Safe Deletes with the send2trash Module</vt:lpstr>
      <vt:lpstr>send2trash() can’t call back from trash</vt:lpstr>
      <vt:lpstr>send2trash.send2trash(path)</vt:lpstr>
      <vt:lpstr>Chapter 10: Debugging</vt:lpstr>
      <vt:lpstr>Directory Walk Through with Python</vt:lpstr>
      <vt:lpstr>visitDirectoryTree.py</vt:lpstr>
      <vt:lpstr>Chapter 10: Debugging</vt:lpstr>
      <vt:lpstr>Chapter 10: Debugging</vt:lpstr>
      <vt:lpstr>Chapter 10: Debugging</vt:lpstr>
      <vt:lpstr>Compressing Files with the zipfile Module</vt:lpstr>
      <vt:lpstr>Pythong Abilities about Archive Files</vt:lpstr>
      <vt:lpstr>zipfile</vt:lpstr>
      <vt:lpstr>ZIP File Operations</vt:lpstr>
      <vt:lpstr>Reading ZIP Files</vt:lpstr>
      <vt:lpstr>namelist() method</vt:lpstr>
      <vt:lpstr>ZipFile &amp; ZipInfoObjects</vt:lpstr>
      <vt:lpstr>Extracting from ZIP Files</vt:lpstr>
      <vt:lpstr>extractall()</vt:lpstr>
      <vt:lpstr>Extracting a Single File</vt:lpstr>
      <vt:lpstr>Extracting File to a Different Path</vt:lpstr>
      <vt:lpstr>Creating and Adding to ZIP Files</vt:lpstr>
      <vt:lpstr>Extracting File to a Different Path</vt:lpstr>
      <vt:lpstr>Add to Zip File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2021-05-27T16:33:30Z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2021-05-27T16:33:30Z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3001c4db-7da2-4d88-83ca-a30e68fe79b1</vt:lpwstr>
  </property>
  <property fmtid="{D5CDD505-2E9C-101B-9397-08002B2CF9AE}" pid="8" name="MSIP_Label_c66f6488-6f7b-4340-b880-828136ff7811_ContentBits">
    <vt:lpwstr>0</vt:lpwstr>
  </property>
</Properties>
</file>