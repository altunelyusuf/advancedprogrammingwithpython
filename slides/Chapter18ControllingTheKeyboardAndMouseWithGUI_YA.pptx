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  <p:sldMasterId id="2147483691" r:id="rId5"/>
  </p:sldMasterIdLst>
  <p:notesMasterIdLst>
    <p:notesMasterId r:id="rId27"/>
  </p:notesMasterIdLst>
  <p:handoutMasterIdLst>
    <p:handoutMasterId r:id="rId28"/>
  </p:handoutMasterIdLst>
  <p:sldIdLst>
    <p:sldId id="256" r:id="rId6"/>
    <p:sldId id="261" r:id="rId7"/>
    <p:sldId id="411" r:id="rId8"/>
    <p:sldId id="405" r:id="rId9"/>
    <p:sldId id="523" r:id="rId10"/>
    <p:sldId id="522" r:id="rId11"/>
    <p:sldId id="517" r:id="rId12"/>
    <p:sldId id="518" r:id="rId13"/>
    <p:sldId id="519" r:id="rId14"/>
    <p:sldId id="520" r:id="rId15"/>
    <p:sldId id="521" r:id="rId16"/>
    <p:sldId id="443" r:id="rId17"/>
    <p:sldId id="493" r:id="rId18"/>
    <p:sldId id="494" r:id="rId19"/>
    <p:sldId id="466" r:id="rId20"/>
    <p:sldId id="495" r:id="rId21"/>
    <p:sldId id="357" r:id="rId22"/>
    <p:sldId id="496" r:id="rId23"/>
    <p:sldId id="497" r:id="rId24"/>
    <p:sldId id="299" r:id="rId25"/>
    <p:sldId id="27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B2"/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07" autoAdjust="0"/>
  </p:normalViewPr>
  <p:slideViewPr>
    <p:cSldViewPr snapToGrid="0">
      <p:cViewPr varScale="1">
        <p:scale>
          <a:sx n="104" d="100"/>
          <a:sy n="104" d="100"/>
        </p:scale>
        <p:origin x="1860" y="10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12/19/2022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12/19/2022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9047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0362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5634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17583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9709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9260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0604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3682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3748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5480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7254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5641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863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047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2991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blipFill>
            <a:blip r:embed="rId2">
              <a:alphaModFix amt="49000"/>
            </a:blip>
            <a:tile tx="0" ty="0" sx="100000" sy="100000" flip="none" algn="tl"/>
          </a:blip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33804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08788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82598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3499398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98798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723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3690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1002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126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647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8352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8029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7291322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14709343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0416408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6134219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6094803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682926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47214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1462153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835174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40824394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91242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8372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08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3" r:id="rId8"/>
    <p:sldLayoutId id="2147483668" r:id="rId9"/>
    <p:sldLayoutId id="2147483682" r:id="rId10"/>
    <p:sldLayoutId id="2147483670" r:id="rId11"/>
    <p:sldLayoutId id="2147483653" r:id="rId12"/>
    <p:sldLayoutId id="2147483673" r:id="rId13"/>
    <p:sldLayoutId id="2147483674" r:id="rId14"/>
    <p:sldLayoutId id="2147483676" r:id="rId15"/>
    <p:sldLayoutId id="2147483677" r:id="rId16"/>
    <p:sldLayoutId id="2147483654" r:id="rId17"/>
    <p:sldLayoutId id="2147483660" r:id="rId18"/>
    <p:sldLayoutId id="2147483661" r:id="rId19"/>
    <p:sldLayoutId id="2147483678" r:id="rId20"/>
    <p:sldLayoutId id="2147483686" r:id="rId21"/>
    <p:sldLayoutId id="2147483687" r:id="rId22"/>
    <p:sldLayoutId id="2147483689" r:id="rId23"/>
    <p:sldLayoutId id="2147483690" r:id="rId24"/>
    <p:sldLayoutId id="2147483688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6160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22.jp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22.jp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28.jpeg"/><Relationship Id="rId7" Type="http://schemas.openxmlformats.org/officeDocument/2006/relationships/image" Target="../media/image32.sv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Resim Yer Tutucusu 9" descr="gök, açık hava, renkli, resim içeren bir resim&#10;&#10;Açıklama otomatik olarak oluşturuldu">
            <a:extLst>
              <a:ext uri="{FF2B5EF4-FFF2-40B4-BE49-F238E27FC236}">
                <a16:creationId xmlns:a16="http://schemas.microsoft.com/office/drawing/2014/main" id="{5AC82762-ADF2-4F12-86DB-A56D7478880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569" b="569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5546361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18</a:t>
            </a:r>
            <a:r>
              <a:rPr lang="en-US" dirty="0"/>
              <a:t>: </a:t>
            </a:r>
            <a:r>
              <a:rPr lang="tr-TR" dirty="0" err="1"/>
              <a:t>ControllingKeyboard</a:t>
            </a:r>
            <a:r>
              <a:rPr lang="tr-TR" dirty="0"/>
              <a:t> &amp; Mouse </a:t>
            </a:r>
            <a:r>
              <a:rPr lang="tr-TR" dirty="0" err="1"/>
              <a:t>with</a:t>
            </a:r>
            <a:r>
              <a:rPr lang="tr-TR" dirty="0"/>
              <a:t> GUI </a:t>
            </a:r>
            <a:r>
              <a:rPr lang="tr-TR" dirty="0" err="1"/>
              <a:t>Automation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en-US" sz="1200" dirty="0"/>
              <a:t>Chapter 18: </a:t>
            </a:r>
            <a:r>
              <a:rPr lang="en-US" sz="1200" dirty="0" err="1"/>
              <a:t>ControllingKeyboard</a:t>
            </a:r>
            <a:r>
              <a:rPr lang="en-US" sz="1200" dirty="0"/>
              <a:t> &amp; Mouse with GUI Automation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 the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pyautogui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Module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Staying on Track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Controlling Mouse Movement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Controlling Mouse Interaction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with the Screen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Image Recognition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Controlling the Keyboard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Review of the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PyAutoGUI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Functions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Resim 6" descr="dağ, açık hava, gök, kar içeren bir resim&#10;&#10;Açıklama otomatik olarak oluşturuldu">
            <a:extLst>
              <a:ext uri="{FF2B5EF4-FFF2-40B4-BE49-F238E27FC236}">
                <a16:creationId xmlns:a16="http://schemas.microsoft.com/office/drawing/2014/main" id="{0EC1B08E-0767-4C85-BE0C-FC36D19CC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6" y="920742"/>
            <a:ext cx="4492913" cy="29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10</a:t>
            </a:r>
            <a:r>
              <a:rPr lang="en-US" sz="2800" dirty="0"/>
              <a:t>: </a:t>
            </a:r>
            <a:r>
              <a:rPr lang="tr-TR" sz="2800" dirty="0"/>
              <a:t>Debugging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Raising Exceptions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 descr="doğa, ağaç, kapalı içeren bir resim&#10;&#10;Açıklama otomatik olarak oluşturuldu">
            <a:extLst>
              <a:ext uri="{FF2B5EF4-FFF2-40B4-BE49-F238E27FC236}">
                <a16:creationId xmlns:a16="http://schemas.microsoft.com/office/drawing/2014/main" id="{CCC795C7-F07B-413D-98BB-46C1B810BC9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711" r="171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Pauses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Fail-</a:t>
            </a:r>
            <a:r>
              <a:rPr lang="tr-TR" dirty="0" err="1"/>
              <a:t>Safes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webbrowser</a:t>
            </a:r>
            <a:r>
              <a:rPr lang="en-US" dirty="0"/>
              <a:t> module’s open() function can launch a new browser to a specified</a:t>
            </a:r>
            <a:r>
              <a:rPr lang="tr-TR" dirty="0"/>
              <a:t> </a:t>
            </a:r>
            <a:r>
              <a:rPr lang="en-US" dirty="0"/>
              <a:t>URL.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dirty="0" err="1"/>
              <a:t>webbrowser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dirty="0"/>
              <a:t>Comes with Python and opens a browser to a specific page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b="1" dirty="0"/>
              <a:t>Open a </a:t>
            </a:r>
            <a:r>
              <a:rPr lang="tr-TR" b="1" dirty="0" err="1"/>
              <a:t>Page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360543"/>
          </a:xfrm>
        </p:spPr>
        <p:txBody>
          <a:bodyPr/>
          <a:lstStyle/>
          <a:p>
            <a:r>
              <a:rPr lang="tr-TR" dirty="0"/>
              <a:t>Set </a:t>
            </a:r>
            <a:r>
              <a:rPr lang="tr-TR" dirty="0" err="1"/>
              <a:t>the</a:t>
            </a:r>
            <a:r>
              <a:rPr lang="tr-TR" dirty="0"/>
              <a:t> URL </a:t>
            </a:r>
            <a:r>
              <a:rPr lang="tr-TR" dirty="0" err="1"/>
              <a:t>to</a:t>
            </a:r>
            <a:r>
              <a:rPr lang="tr-TR" dirty="0"/>
              <a:t> a 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address</a:t>
            </a:r>
            <a:endParaRPr lang="tr-TR" dirty="0"/>
          </a:p>
          <a:p>
            <a:r>
              <a:rPr lang="en-US" dirty="0" err="1"/>
              <a:t>openBrowser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webbrowser.open</a:t>
            </a:r>
            <a:r>
              <a:rPr lang="en-US" b="1" dirty="0"/>
              <a:t>() 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function to open the web browser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en-US" dirty="0" err="1"/>
              <a:t>webbrowser</a:t>
            </a:r>
            <a:r>
              <a:rPr lang="tr-TR" dirty="0"/>
              <a:t>.</a:t>
            </a:r>
            <a:r>
              <a:rPr lang="tr-TR" dirty="0" err="1"/>
              <a:t>open</a:t>
            </a:r>
            <a:r>
              <a:rPr lang="tr-TR" dirty="0"/>
              <a:t>(URL)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930" y="1789043"/>
            <a:ext cx="8904158" cy="2395331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import </a:t>
            </a:r>
            <a:r>
              <a:rPr lang="en-US" sz="1400" dirty="0" err="1"/>
              <a:t>webbrowser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def </a:t>
            </a:r>
            <a:r>
              <a:rPr lang="en-US" sz="1400" dirty="0" err="1"/>
              <a:t>openBrowser</a:t>
            </a:r>
            <a:r>
              <a:rPr lang="en-US" sz="1400" dirty="0"/>
              <a:t>(</a:t>
            </a:r>
            <a:r>
              <a:rPr lang="en-US" sz="1400" dirty="0" err="1"/>
              <a:t>pageURL</a:t>
            </a:r>
            <a:r>
              <a:rPr lang="en-US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webbrowser.open</a:t>
            </a:r>
            <a:r>
              <a:rPr lang="en-US" sz="1400" dirty="0"/>
              <a:t>(</a:t>
            </a:r>
            <a:r>
              <a:rPr lang="en-US" sz="1400" dirty="0" err="1"/>
              <a:t>pageURL</a:t>
            </a:r>
            <a:r>
              <a:rPr lang="en-US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url</a:t>
            </a:r>
            <a:r>
              <a:rPr lang="en-US" sz="1400" dirty="0"/>
              <a:t>= 'http://inventwithpython.com/'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openBrowser</a:t>
            </a:r>
            <a:r>
              <a:rPr lang="en-US" sz="1400" dirty="0"/>
              <a:t>(</a:t>
            </a:r>
            <a:r>
              <a:rPr lang="en-US" sz="1400" dirty="0" err="1"/>
              <a:t>url</a:t>
            </a:r>
            <a:r>
              <a:rPr lang="en-US" sz="14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144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PyAutoGUI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i="1" dirty="0" err="1"/>
              <a:t>quick</a:t>
            </a:r>
            <a:r>
              <a:rPr lang="tr-TR" i="1" dirty="0"/>
              <a:t> </a:t>
            </a:r>
            <a:r>
              <a:rPr lang="tr-TR" i="1" dirty="0" err="1"/>
              <a:t>summary</a:t>
            </a:r>
            <a:r>
              <a:rPr lang="tr-TR" i="1" dirty="0"/>
              <a:t> </a:t>
            </a:r>
            <a:r>
              <a:rPr lang="tr-TR" i="1" dirty="0" err="1"/>
              <a:t>reference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b="1" dirty="0" err="1"/>
              <a:t>moveTo</a:t>
            </a:r>
            <a:r>
              <a:rPr lang="en-US" b="1" dirty="0"/>
              <a:t>(</a:t>
            </a:r>
            <a:r>
              <a:rPr lang="en-US" b="1" i="1" dirty="0"/>
              <a:t>x</a:t>
            </a:r>
            <a:r>
              <a:rPr lang="en-US" b="1" dirty="0"/>
              <a:t>, </a:t>
            </a:r>
            <a:r>
              <a:rPr lang="en-US" b="1" i="1" dirty="0"/>
              <a:t>y</a:t>
            </a:r>
            <a:r>
              <a:rPr lang="en-US" b="1" dirty="0"/>
              <a:t>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Moves the mouse cursor to the given </a:t>
            </a:r>
            <a:r>
              <a:rPr lang="en-US" i="1" dirty="0"/>
              <a:t>x </a:t>
            </a:r>
            <a:r>
              <a:rPr lang="en-US" dirty="0"/>
              <a:t>and </a:t>
            </a:r>
            <a:r>
              <a:rPr lang="en-US" i="1" dirty="0"/>
              <a:t>y </a:t>
            </a:r>
            <a:r>
              <a:rPr lang="en-US" dirty="0"/>
              <a:t>coordinates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en-US" b="1" dirty="0" err="1"/>
              <a:t>dragTo</a:t>
            </a:r>
            <a:r>
              <a:rPr lang="en-US" b="1" dirty="0"/>
              <a:t>(</a:t>
            </a:r>
            <a:r>
              <a:rPr lang="en-US" b="1" i="1" dirty="0"/>
              <a:t>x</a:t>
            </a:r>
            <a:r>
              <a:rPr lang="en-US" b="1" dirty="0"/>
              <a:t>, </a:t>
            </a:r>
            <a:r>
              <a:rPr lang="en-US" b="1" i="1" dirty="0"/>
              <a:t>y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Moves the mouse cursor while the left button is held down.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moveRel</a:t>
            </a:r>
            <a:r>
              <a:rPr lang="en-US" b="1" dirty="0"/>
              <a:t>(</a:t>
            </a:r>
            <a:r>
              <a:rPr lang="en-US" b="1" i="1" dirty="0" err="1"/>
              <a:t>xOffset</a:t>
            </a:r>
            <a:r>
              <a:rPr lang="en-US" b="1" dirty="0"/>
              <a:t>, </a:t>
            </a:r>
            <a:r>
              <a:rPr lang="en-US" b="1" i="1" dirty="0" err="1"/>
              <a:t>yOffset</a:t>
            </a:r>
            <a:r>
              <a:rPr lang="en-US" b="1" dirty="0"/>
              <a:t>)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Moves the mouse cursor relative to its current</a:t>
            </a:r>
            <a:r>
              <a:rPr lang="tr-TR" dirty="0"/>
              <a:t> </a:t>
            </a:r>
            <a:r>
              <a:rPr lang="tr-TR" dirty="0" err="1"/>
              <a:t>position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4377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PyAutoGUI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i="1" dirty="0" err="1"/>
              <a:t>quick</a:t>
            </a:r>
            <a:r>
              <a:rPr lang="tr-TR" i="1" dirty="0"/>
              <a:t> </a:t>
            </a:r>
            <a:r>
              <a:rPr lang="tr-TR" i="1" dirty="0" err="1"/>
              <a:t>summary</a:t>
            </a:r>
            <a:r>
              <a:rPr lang="tr-TR" i="1" dirty="0"/>
              <a:t> </a:t>
            </a:r>
            <a:r>
              <a:rPr lang="tr-TR" i="1" dirty="0" err="1"/>
              <a:t>reference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b="1" dirty="0" err="1"/>
              <a:t>dragRel</a:t>
            </a:r>
            <a:r>
              <a:rPr lang="en-US" b="1" dirty="0"/>
              <a:t>(</a:t>
            </a:r>
            <a:r>
              <a:rPr lang="en-US" b="1" i="1" dirty="0" err="1"/>
              <a:t>xOffset</a:t>
            </a:r>
            <a:r>
              <a:rPr lang="en-US" b="1" dirty="0"/>
              <a:t>, </a:t>
            </a:r>
            <a:r>
              <a:rPr lang="en-US" b="1" i="1" dirty="0" err="1"/>
              <a:t>yOffset</a:t>
            </a:r>
            <a:r>
              <a:rPr lang="en-US" b="1" dirty="0"/>
              <a:t>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dirty="0"/>
              <a:t>Moves the mouse cursor relative to its current</a:t>
            </a:r>
            <a:r>
              <a:rPr lang="tr-TR" dirty="0"/>
              <a:t> </a:t>
            </a:r>
            <a:r>
              <a:rPr lang="en-US" dirty="0"/>
              <a:t>position while the left button is held down.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en-US" b="1" dirty="0" err="1"/>
              <a:t>rightClick</a:t>
            </a:r>
            <a:r>
              <a:rPr lang="en-US" b="1" dirty="0"/>
              <a:t>()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Simulates a right-button click.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click(</a:t>
            </a:r>
            <a:r>
              <a:rPr lang="en-US" b="1" i="1" dirty="0"/>
              <a:t>x</a:t>
            </a:r>
            <a:r>
              <a:rPr lang="en-US" b="1" dirty="0"/>
              <a:t>, </a:t>
            </a:r>
            <a:r>
              <a:rPr lang="en-US" b="1" i="1" dirty="0"/>
              <a:t>y</a:t>
            </a:r>
            <a:r>
              <a:rPr lang="en-US" b="1" dirty="0"/>
              <a:t>, </a:t>
            </a:r>
            <a:r>
              <a:rPr lang="en-US" b="1" i="1" dirty="0"/>
              <a:t>button</a:t>
            </a:r>
            <a:r>
              <a:rPr lang="en-US" b="1" dirty="0"/>
              <a:t>)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Simulates a click (left button by default).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019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PyAutoGUI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i="1" dirty="0" err="1"/>
              <a:t>quick</a:t>
            </a:r>
            <a:r>
              <a:rPr lang="tr-TR" i="1" dirty="0"/>
              <a:t> </a:t>
            </a:r>
            <a:r>
              <a:rPr lang="tr-TR" i="1" dirty="0" err="1"/>
              <a:t>summary</a:t>
            </a:r>
            <a:r>
              <a:rPr lang="tr-TR" i="1" dirty="0"/>
              <a:t> </a:t>
            </a:r>
            <a:r>
              <a:rPr lang="tr-TR" i="1" dirty="0" err="1"/>
              <a:t>reference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b="1" dirty="0" err="1"/>
              <a:t>middleClick</a:t>
            </a:r>
            <a:r>
              <a:rPr lang="en-US" b="1" dirty="0"/>
              <a:t>()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dirty="0"/>
              <a:t>Simulates a middle-button click.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en-US" b="1" dirty="0" err="1"/>
              <a:t>mouseDown</a:t>
            </a:r>
            <a:r>
              <a:rPr lang="en-US" b="1" dirty="0"/>
              <a:t>(</a:t>
            </a:r>
            <a:r>
              <a:rPr lang="en-US" b="1" i="1" dirty="0"/>
              <a:t>x</a:t>
            </a:r>
            <a:r>
              <a:rPr lang="en-US" b="1" dirty="0"/>
              <a:t>, </a:t>
            </a:r>
            <a:r>
              <a:rPr lang="en-US" b="1" i="1" dirty="0"/>
              <a:t>y</a:t>
            </a:r>
            <a:r>
              <a:rPr lang="en-US" b="1" dirty="0"/>
              <a:t>, </a:t>
            </a:r>
            <a:r>
              <a:rPr lang="en-US" b="1" i="1" dirty="0"/>
              <a:t>button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dirty="0"/>
              <a:t>Simulates pressing down the given button 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</a:t>
            </a:r>
            <a:r>
              <a:rPr lang="tr-TR" i="1" dirty="0"/>
              <a:t>x</a:t>
            </a:r>
            <a:r>
              <a:rPr lang="tr-TR" dirty="0"/>
              <a:t>, </a:t>
            </a:r>
            <a:r>
              <a:rPr lang="tr-TR" i="1" dirty="0"/>
              <a:t>y</a:t>
            </a:r>
            <a:r>
              <a:rPr lang="tr-T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doubleClick</a:t>
            </a:r>
            <a:r>
              <a:rPr lang="en-US" b="1" dirty="0"/>
              <a:t>()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Simulates a double left-button click.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6780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PyAutoGUI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i="1" dirty="0" err="1"/>
              <a:t>quick</a:t>
            </a:r>
            <a:r>
              <a:rPr lang="tr-TR" i="1" dirty="0"/>
              <a:t> </a:t>
            </a:r>
            <a:r>
              <a:rPr lang="tr-TR" i="1" dirty="0" err="1"/>
              <a:t>summary</a:t>
            </a:r>
            <a:r>
              <a:rPr lang="tr-TR" i="1" dirty="0"/>
              <a:t> </a:t>
            </a:r>
            <a:r>
              <a:rPr lang="tr-TR" i="1" dirty="0" err="1"/>
              <a:t>reference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b="1" dirty="0" err="1"/>
              <a:t>mouseUp</a:t>
            </a:r>
            <a:r>
              <a:rPr lang="en-US" b="1" dirty="0"/>
              <a:t>(</a:t>
            </a:r>
            <a:r>
              <a:rPr lang="en-US" b="1" i="1" dirty="0"/>
              <a:t>x</a:t>
            </a:r>
            <a:r>
              <a:rPr lang="en-US" b="1" dirty="0"/>
              <a:t>, </a:t>
            </a:r>
            <a:r>
              <a:rPr lang="en-US" b="1" i="1" dirty="0"/>
              <a:t>y</a:t>
            </a:r>
            <a:r>
              <a:rPr lang="en-US" b="1" dirty="0"/>
              <a:t>, </a:t>
            </a:r>
            <a:r>
              <a:rPr lang="en-US" b="1" i="1" dirty="0"/>
              <a:t>button</a:t>
            </a:r>
            <a:r>
              <a:rPr lang="en-US" b="1" dirty="0"/>
              <a:t>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dirty="0"/>
              <a:t>Simulates releasing the given button at the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</a:t>
            </a:r>
            <a:r>
              <a:rPr lang="tr-TR" i="1" dirty="0"/>
              <a:t>x</a:t>
            </a:r>
            <a:r>
              <a:rPr lang="tr-TR" dirty="0"/>
              <a:t>, </a:t>
            </a:r>
            <a:r>
              <a:rPr lang="tr-TR" i="1" dirty="0"/>
              <a:t>y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en-US" b="1" dirty="0"/>
              <a:t>typewrite(</a:t>
            </a:r>
            <a:r>
              <a:rPr lang="en-US" b="1" i="1" dirty="0"/>
              <a:t>message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dirty="0"/>
              <a:t>Types the characters in the given message string.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scroll(</a:t>
            </a:r>
            <a:r>
              <a:rPr lang="en-US" b="1" i="1" dirty="0"/>
              <a:t>units</a:t>
            </a:r>
            <a:r>
              <a:rPr lang="en-US" b="1" dirty="0"/>
              <a:t>)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Simulates the scroll wheel. A positive argument scrolls</a:t>
            </a:r>
            <a:r>
              <a:rPr lang="tr-TR" dirty="0"/>
              <a:t> </a:t>
            </a:r>
            <a:r>
              <a:rPr lang="en-US" dirty="0"/>
              <a:t>up; a negative argument scrolls down.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2418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PyAutoGUI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i="1" dirty="0" err="1"/>
              <a:t>quick</a:t>
            </a:r>
            <a:r>
              <a:rPr lang="tr-TR" i="1" dirty="0"/>
              <a:t> </a:t>
            </a:r>
            <a:r>
              <a:rPr lang="tr-TR" i="1" dirty="0" err="1"/>
              <a:t>summary</a:t>
            </a:r>
            <a:r>
              <a:rPr lang="tr-TR" i="1" dirty="0"/>
              <a:t> </a:t>
            </a:r>
            <a:r>
              <a:rPr lang="tr-TR" i="1" dirty="0" err="1"/>
              <a:t>reference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538620" cy="648000"/>
          </a:xfrm>
        </p:spPr>
        <p:txBody>
          <a:bodyPr/>
          <a:lstStyle/>
          <a:p>
            <a:r>
              <a:rPr lang="en-US" b="1" dirty="0"/>
              <a:t>typewrite([</a:t>
            </a:r>
            <a:r>
              <a:rPr lang="en-US" b="1" i="1" dirty="0"/>
              <a:t>key1</a:t>
            </a:r>
            <a:r>
              <a:rPr lang="en-US" b="1" dirty="0"/>
              <a:t>, </a:t>
            </a:r>
            <a:r>
              <a:rPr lang="en-US" b="1" i="1" dirty="0"/>
              <a:t>key2</a:t>
            </a:r>
            <a:r>
              <a:rPr lang="en-US" b="1" dirty="0"/>
              <a:t>, </a:t>
            </a:r>
            <a:r>
              <a:rPr lang="en-US" b="1" i="1" dirty="0"/>
              <a:t>key3</a:t>
            </a:r>
            <a:r>
              <a:rPr lang="en-US" b="1" dirty="0"/>
              <a:t>])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dirty="0"/>
              <a:t>Types the given keyboard key strings.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en-US" b="1" dirty="0" err="1"/>
              <a:t>keyDown</a:t>
            </a:r>
            <a:r>
              <a:rPr lang="en-US" b="1" dirty="0"/>
              <a:t>(</a:t>
            </a:r>
            <a:r>
              <a:rPr lang="en-US" b="1" i="1" dirty="0"/>
              <a:t>key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dirty="0"/>
              <a:t>Simulates pressing down the given keyboard key.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press(</a:t>
            </a:r>
            <a:r>
              <a:rPr lang="en-US" b="1" i="1" dirty="0"/>
              <a:t>key</a:t>
            </a:r>
            <a:r>
              <a:rPr lang="en-US" b="1" dirty="0"/>
              <a:t>)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Presses the given keyboard key string.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4414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PyAutoGUI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i="1" dirty="0" err="1"/>
              <a:t>quick</a:t>
            </a:r>
            <a:r>
              <a:rPr lang="tr-TR" i="1" dirty="0"/>
              <a:t> </a:t>
            </a:r>
            <a:r>
              <a:rPr lang="tr-TR" i="1" dirty="0" err="1"/>
              <a:t>summary</a:t>
            </a:r>
            <a:r>
              <a:rPr lang="tr-TR" i="1" dirty="0"/>
              <a:t> </a:t>
            </a:r>
            <a:r>
              <a:rPr lang="tr-TR" i="1" dirty="0" err="1"/>
              <a:t>reference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538620" cy="648000"/>
          </a:xfrm>
        </p:spPr>
        <p:txBody>
          <a:bodyPr/>
          <a:lstStyle/>
          <a:p>
            <a:r>
              <a:rPr lang="en-US" b="1" dirty="0" err="1"/>
              <a:t>keyUp</a:t>
            </a:r>
            <a:r>
              <a:rPr lang="en-US" b="1" dirty="0"/>
              <a:t>(</a:t>
            </a:r>
            <a:r>
              <a:rPr lang="en-US" b="1" i="1" dirty="0"/>
              <a:t>key</a:t>
            </a:r>
            <a:r>
              <a:rPr lang="en-US" b="1" dirty="0"/>
              <a:t>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dirty="0"/>
              <a:t>Simulates releasing the given keyboard key.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en-US" b="1" dirty="0"/>
              <a:t>screenshot()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dirty="0"/>
              <a:t>Returns a screenshot as an Image object. </a:t>
            </a:r>
            <a:endParaRPr lang="tr-TR" dirty="0"/>
          </a:p>
          <a:p>
            <a:r>
              <a:rPr lang="en-US" dirty="0"/>
              <a:t>See Chapter 17</a:t>
            </a:r>
            <a:r>
              <a:rPr lang="tr-TR" dirty="0"/>
              <a:t> </a:t>
            </a:r>
            <a:r>
              <a:rPr lang="en-US" dirty="0"/>
              <a:t>for information on Image </a:t>
            </a:r>
            <a:r>
              <a:rPr lang="en-US"/>
              <a:t>objects.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hotkey([</a:t>
            </a:r>
            <a:r>
              <a:rPr lang="en-US" b="1" i="1" dirty="0"/>
              <a:t>key1</a:t>
            </a:r>
            <a:r>
              <a:rPr lang="en-US" b="1" dirty="0"/>
              <a:t>, </a:t>
            </a:r>
            <a:r>
              <a:rPr lang="en-US" b="1" i="1" dirty="0"/>
              <a:t>key2</a:t>
            </a:r>
            <a:r>
              <a:rPr lang="en-US" b="1" dirty="0"/>
              <a:t>, </a:t>
            </a:r>
            <a:r>
              <a:rPr lang="en-US" b="1" i="1" dirty="0"/>
              <a:t>key3</a:t>
            </a:r>
            <a:r>
              <a:rPr lang="en-US" b="1" dirty="0"/>
              <a:t>])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Simulates pressing the given keyboard key</a:t>
            </a:r>
            <a:r>
              <a:rPr lang="tr-TR" dirty="0"/>
              <a:t> </a:t>
            </a:r>
            <a:r>
              <a:rPr lang="en-US" dirty="0"/>
              <a:t>strings down in order and then releasing them in reverse order.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9481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shutil.copy()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930" y="654327"/>
            <a:ext cx="8904158" cy="2403667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waffles = 'C:\\delicious\\walnut\\waffles\\'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os.chdir(waffles)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'C:\\delicious\\walnut\\waffles’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shutil.copy('Hello.txt', 'HelloBeSafe.txt')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'HelloBeSafe.txt’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['bacon.txt', '</a:t>
            </a:r>
            <a:r>
              <a:rPr lang="tr-TR" sz="1400" dirty="0">
                <a:solidFill>
                  <a:srgbClr val="FF0000"/>
                </a:solidFill>
              </a:rPr>
              <a:t>Hello.txt</a:t>
            </a:r>
            <a:r>
              <a:rPr lang="tr-TR" sz="1400" dirty="0"/>
              <a:t>', '</a:t>
            </a:r>
            <a:r>
              <a:rPr lang="tr-TR" sz="1400" b="1" dirty="0">
                <a:solidFill>
                  <a:srgbClr val="FF0000"/>
                </a:solidFill>
              </a:rPr>
              <a:t>HelloBeSafe.txt</a:t>
            </a:r>
            <a:r>
              <a:rPr lang="tr-TR" sz="1400" dirty="0"/>
              <a:t>', 'HelloWellcome.txt', 'myCats.py', 'mydata.bak', 'mydata.dat', 'mydata.dir', 'sonnet29.txt', '__pycache__']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921" y="3117954"/>
            <a:ext cx="8889168" cy="3590144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os.getcwd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'c:\\’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delicious = 'C:\\delicious\\'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</a:t>
            </a:r>
            <a:r>
              <a:rPr lang="en-US" sz="1400" dirty="0"/>
              <a:t>(waffles + 'hello.txt', 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'C:\\delicious\\hello.txt’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['hello.txt', 'walnut’]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</a:t>
            </a:r>
            <a:r>
              <a:rPr lang="en-US" sz="1400" dirty="0"/>
              <a:t>(waffles + 'HelloWellcome.txt ', delicious + 'HelloBeSafe.txt 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'C:\\delicious\\HelloBeSafe.txt ‘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['hello.txt', 'HelloBeSafe.txt', 'walnut']</a:t>
            </a:r>
          </a:p>
        </p:txBody>
      </p:sp>
    </p:spTree>
    <p:extLst>
      <p:ext uri="{BB962C8B-B14F-4D97-AF65-F5344CB8AC3E}">
        <p14:creationId xmlns:p14="http://schemas.microsoft.com/office/powerpoint/2010/main" val="181183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42199" y="1169941"/>
            <a:ext cx="3573592" cy="419015"/>
          </a:xfrm>
        </p:spPr>
        <p:txBody>
          <a:bodyPr/>
          <a:lstStyle/>
          <a:p>
            <a:r>
              <a:rPr lang="tr-TR" sz="1400" dirty="0"/>
              <a:t>copy entire folder tree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sz="1200" dirty="0"/>
              <a:t>shutil.copytree()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8820" y="4305135"/>
            <a:ext cx="1661833" cy="1121304"/>
          </a:xfrm>
        </p:spPr>
        <p:txBody>
          <a:bodyPr/>
          <a:lstStyle/>
          <a:p>
            <a:pPr algn="l"/>
            <a:r>
              <a:rPr lang="tr-TR" b="1" dirty="0"/>
              <a:t>Copy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every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>
                <a:latin typeface="NewBaskerville-Roman"/>
              </a:rPr>
              <a:t>every </a:t>
            </a:r>
            <a:r>
              <a:rPr lang="en-US" dirty="0">
                <a:latin typeface="NewBaskerville-Roman"/>
              </a:rPr>
              <a:t>file in the folder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7718" y="3926335"/>
            <a:ext cx="2177954" cy="504000"/>
          </a:xfrm>
        </p:spPr>
        <p:txBody>
          <a:bodyPr/>
          <a:lstStyle/>
          <a:p>
            <a:r>
              <a:rPr lang="en-US" dirty="0" err="1">
                <a:latin typeface="NewBaskerville-Roman"/>
              </a:rPr>
              <a:t>copytree</a:t>
            </a:r>
            <a:r>
              <a:rPr lang="en-US" dirty="0">
                <a:latin typeface="NewBaskerville-Roman"/>
              </a:rPr>
              <a:t>(source, destination))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2571" y="4333270"/>
            <a:ext cx="1980778" cy="209751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source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location of source directory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type string</a:t>
            </a:r>
          </a:p>
          <a:p>
            <a:pPr algn="l"/>
            <a:r>
              <a:rPr lang="tr-TR" b="1" dirty="0"/>
              <a:t>destination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destination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type string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660311" cy="504000"/>
          </a:xfrm>
        </p:spPr>
        <p:txBody>
          <a:bodyPr/>
          <a:lstStyle/>
          <a:p>
            <a:r>
              <a:rPr lang="tr-TR" dirty="0"/>
              <a:t>return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10662" y="4334949"/>
            <a:ext cx="2038663" cy="1436264"/>
          </a:xfrm>
        </p:spPr>
        <p:txBody>
          <a:bodyPr/>
          <a:lstStyle/>
          <a:p>
            <a:pPr algn="l"/>
            <a:r>
              <a:rPr lang="tr-TR" b="1" dirty="0"/>
              <a:t>a string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path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of the copied folder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98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shutil.copytree</a:t>
            </a:r>
            <a:r>
              <a:rPr lang="tr-TR" dirty="0">
                <a:highlight>
                  <a:srgbClr val="FFFF00"/>
                </a:highlight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r>
              <a:rPr lang="en-US" sz="1400" dirty="0"/>
              <a:t>, </a:t>
            </a:r>
            <a:r>
              <a:rPr lang="en-US" sz="1400" dirty="0" err="1"/>
              <a:t>os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('C:\\’)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shutil.copytree</a:t>
            </a:r>
            <a:r>
              <a:rPr lang="en-US" sz="1400" dirty="0"/>
              <a:t>('C:\\delicious', 'C:\\</a:t>
            </a:r>
            <a:r>
              <a:rPr lang="en-US" sz="1400" dirty="0" err="1"/>
              <a:t>delicious_backup</a:t>
            </a:r>
            <a:r>
              <a:rPr lang="en-US" sz="1400" dirty="0"/>
              <a:t>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</a:t>
            </a:r>
            <a:r>
              <a:rPr lang="en-US" sz="1400" dirty="0" err="1"/>
              <a:t>delicious_backup</a:t>
            </a:r>
            <a:r>
              <a:rPr lang="en-US" sz="1400" dirty="0"/>
              <a:t>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B2051E-6DCC-464E-AD89-B233BAFA98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23655" y="2870200"/>
            <a:ext cx="86963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64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shutil.copytree()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copy everything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768839"/>
            <a:ext cx="2601748" cy="899108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copy every folder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all subfolders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every file </a:t>
            </a:r>
            <a:r>
              <a:rPr lang="en-US" dirty="0"/>
              <a:t>file </a:t>
            </a:r>
            <a:r>
              <a:rPr lang="tr-TR" dirty="0"/>
              <a:t>in the folders</a:t>
            </a:r>
            <a:endParaRPr lang="en-US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/>
              <a:t>get a full copy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creates a new folder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</a:t>
            </a:r>
            <a:r>
              <a:rPr lang="tr-TR" dirty="0"/>
              <a:t> </a:t>
            </a:r>
            <a:r>
              <a:rPr lang="en-US" dirty="0"/>
              <a:t>the same content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of</a:t>
            </a:r>
            <a:r>
              <a:rPr lang="en-US" dirty="0"/>
              <a:t> the original folder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Backup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safely backed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the folder and its content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Resim Yer Tutucusu 6" descr="dağ, su, gök, açık hava içeren bir resim&#10;&#10;Açıklama otomatik olarak oluşturuldu">
            <a:extLst>
              <a:ext uri="{FF2B5EF4-FFF2-40B4-BE49-F238E27FC236}">
                <a16:creationId xmlns:a16="http://schemas.microsoft.com/office/drawing/2014/main" id="{C57F9ED2-B7A3-4926-A657-4366715B9D21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12892" r="128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67832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and Renaming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03948" y="1169941"/>
            <a:ext cx="4811843" cy="419015"/>
          </a:xfrm>
        </p:spPr>
        <p:txBody>
          <a:bodyPr/>
          <a:lstStyle/>
          <a:p>
            <a:r>
              <a:rPr lang="tr-TR" sz="1400" dirty="0"/>
              <a:t>shutil.move(source, destination)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sz="1200" dirty="0"/>
              <a:t>shutil.move()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8820" y="4305135"/>
            <a:ext cx="1661833" cy="1121304"/>
          </a:xfrm>
        </p:spPr>
        <p:txBody>
          <a:bodyPr/>
          <a:lstStyle/>
          <a:p>
            <a:pPr algn="l"/>
            <a:r>
              <a:rPr lang="tr-TR" b="1" dirty="0"/>
              <a:t>Move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move the file or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to the destination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7717" y="3926335"/>
            <a:ext cx="2473377" cy="504000"/>
          </a:xfrm>
        </p:spPr>
        <p:txBody>
          <a:bodyPr/>
          <a:lstStyle/>
          <a:p>
            <a:r>
              <a:rPr lang="en-US" dirty="0" err="1">
                <a:latin typeface="NewBaskerville-Roman"/>
              </a:rPr>
              <a:t>shutil.move</a:t>
            </a:r>
            <a:r>
              <a:rPr lang="en-US" dirty="0">
                <a:latin typeface="NewBaskerville-Roman"/>
              </a:rPr>
              <a:t>(source, destination)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2571" y="4437090"/>
            <a:ext cx="1980778" cy="1469035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source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location of source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file or folder</a:t>
            </a:r>
          </a:p>
          <a:p>
            <a:pPr algn="l"/>
            <a:r>
              <a:rPr lang="tr-TR" b="1" dirty="0"/>
              <a:t>destination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destination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file or folder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660311" cy="504000"/>
          </a:xfrm>
        </p:spPr>
        <p:txBody>
          <a:bodyPr/>
          <a:lstStyle/>
          <a:p>
            <a:r>
              <a:rPr lang="tr-TR" dirty="0"/>
              <a:t>return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10662" y="4334949"/>
            <a:ext cx="2038663" cy="1436264"/>
          </a:xfrm>
        </p:spPr>
        <p:txBody>
          <a:bodyPr/>
          <a:lstStyle/>
          <a:p>
            <a:pPr algn="l"/>
            <a:r>
              <a:rPr lang="tr-TR" b="1" dirty="0"/>
              <a:t>a string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absolute path of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new location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171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Move file to a Directory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0780" y="1121900"/>
            <a:ext cx="2397232" cy="432000"/>
          </a:xfrm>
        </p:spPr>
        <p:txBody>
          <a:bodyPr/>
          <a:lstStyle/>
          <a:p>
            <a:r>
              <a:rPr lang="tr-TR" dirty="0"/>
              <a:t>Source: file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b="1" dirty="0"/>
              <a:t>Destination: a folder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source file gets moved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into destination</a:t>
            </a:r>
            <a:r>
              <a:rPr lang="tr-TR" dirty="0"/>
              <a:t> folder</a:t>
            </a:r>
            <a:endParaRPr lang="en-US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/>
              <a:t>file name  preserved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en-US" dirty="0"/>
              <a:t>,</a:t>
            </a:r>
            <a:r>
              <a:rPr lang="tr-TR" dirty="0"/>
              <a:t> in such a case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file</a:t>
            </a:r>
            <a:r>
              <a:rPr lang="en-US" dirty="0"/>
              <a:t>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keeps its current filename.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6330" y="4308952"/>
            <a:ext cx="2251800" cy="432000"/>
          </a:xfrm>
        </p:spPr>
        <p:txBody>
          <a:bodyPr/>
          <a:lstStyle/>
          <a:p>
            <a:r>
              <a:rPr lang="tr-TR" dirty="0"/>
              <a:t>use to move a file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82416" y="4856813"/>
            <a:ext cx="2251799" cy="1289153"/>
          </a:xfrm>
        </p:spPr>
        <p:txBody>
          <a:bodyPr/>
          <a:lstStyle/>
          <a:p>
            <a:r>
              <a:rPr lang="tr-TR" b="1" dirty="0"/>
              <a:t>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to move a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to another folders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Resim Yer Tutucusu 6" descr="dağ, su, gök, açık hava içeren bir resim&#10;&#10;Açıklama otomatik olarak oluşturuldu">
            <a:extLst>
              <a:ext uri="{FF2B5EF4-FFF2-40B4-BE49-F238E27FC236}">
                <a16:creationId xmlns:a16="http://schemas.microsoft.com/office/drawing/2014/main" id="{A7CE7C9D-E9E2-4AE7-A0D3-E3BF337B77A1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12892" r="128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3481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tr-TR" dirty="0">
                <a:highlight>
                  <a:srgbClr val="FFFF00"/>
                </a:highlight>
              </a:rPr>
              <a:t>move()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('C:\\delicious\\hello.txt', 'C:\\delicious\\walnut')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'C:\\delicious\\walnut\\hello.txt'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FB2B70-7B77-4817-893F-B21815626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83" y="2859608"/>
            <a:ext cx="86391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09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25" y="384491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latin typeface="TheSansMonoCondensed-Plain"/>
              </a:rPr>
              <a:t>shutil.move()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File is Replaced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5602" y="2586382"/>
            <a:ext cx="4319951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destination folder already contain the file </a:t>
            </a:r>
            <a:endParaRPr lang="tr-TR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with the same name</a:t>
            </a:r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1" y="1999669"/>
            <a:ext cx="3086774" cy="308817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File is in the destination folder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458386" y="4687504"/>
            <a:ext cx="4317168" cy="10987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the file is replaced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>
                <a:solidFill>
                  <a:srgbClr val="7030A0"/>
                </a:solidFill>
              </a:rPr>
              <a:t>with the source file</a:t>
            </a:r>
            <a:endParaRPr lang="tr-TR" sz="1800" dirty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D7D634-474D-4786-AAC2-263181127539}"/>
              </a:ext>
            </a:extLst>
          </p:cNvPr>
          <p:cNvSpPr/>
          <p:nvPr/>
        </p:nvSpPr>
        <p:spPr>
          <a:xfrm>
            <a:off x="1963590" y="6077475"/>
            <a:ext cx="5262851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tr-TR" dirty="0">
                <a:latin typeface="NewBaskerville-Roman"/>
              </a:rPr>
              <a:t>take care not </a:t>
            </a:r>
            <a:r>
              <a:rPr lang="en-US" dirty="0">
                <a:latin typeface="NewBaskerville-Roman"/>
              </a:rPr>
              <a:t>to accidentally overwrite files in this way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6779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0" y="2525906"/>
            <a:ext cx="2876429" cy="33145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Installing the </a:t>
            </a:r>
            <a:r>
              <a:rPr lang="en-US" dirty="0" err="1"/>
              <a:t>pyautogui</a:t>
            </a:r>
            <a:r>
              <a:rPr lang="en-US" dirty="0"/>
              <a:t> Module</a:t>
            </a:r>
          </a:p>
          <a:p>
            <a:pPr marL="0" indent="0">
              <a:buNone/>
            </a:pPr>
            <a:r>
              <a:rPr lang="en-US" dirty="0"/>
              <a:t>Staying on Track</a:t>
            </a:r>
          </a:p>
          <a:p>
            <a:pPr marL="0" indent="0">
              <a:buNone/>
            </a:pPr>
            <a:r>
              <a:rPr lang="en-US" dirty="0"/>
              <a:t>Controlling Mouse Movement</a:t>
            </a:r>
          </a:p>
          <a:p>
            <a:pPr marL="0" indent="0">
              <a:buNone/>
            </a:pPr>
            <a:r>
              <a:rPr lang="en-US" dirty="0"/>
              <a:t>Controlling Mouse Interaction</a:t>
            </a:r>
          </a:p>
          <a:p>
            <a:pPr marL="0" indent="0">
              <a:buNone/>
            </a:pPr>
            <a:r>
              <a:rPr lang="en-US" dirty="0"/>
              <a:t>Working with the Screen</a:t>
            </a:r>
          </a:p>
          <a:p>
            <a:pPr marL="0" indent="0">
              <a:buNone/>
            </a:pPr>
            <a:r>
              <a:rPr lang="en-US" dirty="0"/>
              <a:t>Image Recognition</a:t>
            </a:r>
          </a:p>
          <a:p>
            <a:pPr marL="0" indent="0">
              <a:buNone/>
            </a:pPr>
            <a:r>
              <a:rPr lang="en-US" dirty="0"/>
              <a:t>Controlling the Keyboard</a:t>
            </a:r>
          </a:p>
          <a:p>
            <a:pPr marL="0" indent="0">
              <a:buNone/>
            </a:pPr>
            <a:r>
              <a:rPr lang="en-US" dirty="0"/>
              <a:t>Review of the </a:t>
            </a:r>
            <a:r>
              <a:rPr lang="en-US" dirty="0" err="1"/>
              <a:t>PyAutoGUI</a:t>
            </a:r>
            <a:r>
              <a:rPr lang="en-US" dirty="0"/>
              <a:t> Functions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tr-TR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t>Interesting Details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marR="0" lvl="0" indent="-200025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r-TR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What is the most interesting details in this chapter?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469284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469284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386825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Yer Tutucusu 8" descr="dağ, gök, doğa, açık hava içeren bir resim&#10;&#10;Açıklama otomatik olarak oluşturuldu">
            <a:extLst>
              <a:ext uri="{FF2B5EF4-FFF2-40B4-BE49-F238E27FC236}">
                <a16:creationId xmlns:a16="http://schemas.microsoft.com/office/drawing/2014/main" id="{1A945890-B857-4519-A949-D7D3CC41DF0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4954" r="4954"/>
          <a:stretch>
            <a:fillRect/>
          </a:stretch>
        </p:blipFill>
        <p:spPr>
          <a:xfrm>
            <a:off x="0" y="-1272"/>
            <a:ext cx="9144000" cy="685927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1_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Microsoft Office PowerPoint</Application>
  <PresentationFormat>On-screen Show (4:3)</PresentationFormat>
  <Paragraphs>258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NewBaskerville-Roman</vt:lpstr>
      <vt:lpstr>Rockwell</vt:lpstr>
      <vt:lpstr>TheSansMonoCondensed-Plain</vt:lpstr>
      <vt:lpstr>Times New Roman</vt:lpstr>
      <vt:lpstr>Office Theme</vt:lpstr>
      <vt:lpstr>1_Office Theme</vt:lpstr>
      <vt:lpstr>Chapter 18: ControllingKeyboard &amp; Mouse with GUI Automation</vt:lpstr>
      <vt:lpstr>Content</vt:lpstr>
      <vt:lpstr>Chapter 10: Debugging</vt:lpstr>
      <vt:lpstr>Pauses and Fail-Safes</vt:lpstr>
      <vt:lpstr>webbrowser.open(URL)</vt:lpstr>
      <vt:lpstr>PyAutoGUI Functions</vt:lpstr>
      <vt:lpstr>PyAutoGUI Functions</vt:lpstr>
      <vt:lpstr>PyAutoGUI Functions</vt:lpstr>
      <vt:lpstr>PyAutoGUI Functions</vt:lpstr>
      <vt:lpstr>PyAutoGUI Functions</vt:lpstr>
      <vt:lpstr>PyAutoGUI Functions</vt:lpstr>
      <vt:lpstr>shutil.copy()</vt:lpstr>
      <vt:lpstr>Copying Files and Folders</vt:lpstr>
      <vt:lpstr>shutil.copytree()</vt:lpstr>
      <vt:lpstr>shutil.copytree()</vt:lpstr>
      <vt:lpstr>Moving and Renaming Files and Folders</vt:lpstr>
      <vt:lpstr>Move file to a Directory</vt:lpstr>
      <vt:lpstr>shutil.move()</vt:lpstr>
      <vt:lpstr>shutil.move()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2022-12-19T07:46:30Z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2021-05-27T13:24:53Z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3001c4db-7da2-4d88-83ca-a30e68fe79b1</vt:lpwstr>
  </property>
  <property fmtid="{D5CDD505-2E9C-101B-9397-08002B2CF9AE}" pid="8" name="MSIP_Label_c66f6488-6f7b-4340-b880-828136ff7811_ContentBits">
    <vt:lpwstr>0</vt:lpwstr>
  </property>
</Properties>
</file>