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0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2" r:id="rId47"/>
    <p:sldId id="301" r:id="rId48"/>
    <p:sldId id="303" r:id="rId49"/>
    <p:sldId id="304" r:id="rId50"/>
    <p:sldId id="306" r:id="rId51"/>
    <p:sldId id="307" r:id="rId52"/>
    <p:sldId id="305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7" r:id="rId62"/>
    <p:sldId id="316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8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E8C20-BADE-425B-B481-70F1CFA3F0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5EC106-2E90-4817-BEE2-086DF913D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3572F-D8AA-49B0-99D7-3CD25BFF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2D5D-DED5-4679-BC20-B3FC8FF553F2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A461D-196D-49C7-9361-3FD1E4E19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013FB-54BB-4871-A78B-2E721E6AF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211A-AA28-41F8-8BB8-C6A0F3D5C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909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9B7D0-6ED5-4AC0-8A3F-55AAD599D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57FBF-622D-4FAD-97CD-4DFDEAEBD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2CEC6-81EA-462B-93A5-90E800887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2D5D-DED5-4679-BC20-B3FC8FF553F2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FA231-6156-45DD-AB95-667CFECF3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35382-A397-4C4D-9C9E-B9317E5DC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211A-AA28-41F8-8BB8-C6A0F3D5C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609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546A0-8074-41BA-BE3A-1844968F8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7D064-2DCE-48B9-AF66-73A2FBC6A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78D06-1BE9-4D23-BD21-837BB7636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2D5D-DED5-4679-BC20-B3FC8FF553F2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130DC-2574-43E7-BA30-4D15F1321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0BFE7-D75F-4DC3-B4E9-F990BADE7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211A-AA28-41F8-8BB8-C6A0F3D5C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16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B57DF-0D17-4ABA-B0DB-6A33B2FBD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07CA9-2F0C-4145-98DC-51480F9B47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CBF207-2618-4E73-ADA4-C5C16BC7D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78C42-5FCD-47D4-8B7F-F742552A5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2D5D-DED5-4679-BC20-B3FC8FF553F2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F7B20-8375-4031-8D94-BF921964D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1BFF83-CCC6-4B8D-8FC4-EF21DB65A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211A-AA28-41F8-8BB8-C6A0F3D5C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675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ABB8E-9E08-45B5-A3CC-B0B384584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A0AAB-C7A8-48C1-AB3F-D8059DFEF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3E4FFB-8706-4928-9DC5-0A0D0C4D5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A22331-BBD1-4641-9552-981FC0A13B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71BDBA-C367-43CB-9C78-36F1D8E5E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311B04-037E-4131-BDAA-0C6D79C10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2D5D-DED5-4679-BC20-B3FC8FF553F2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3045E5-887B-4220-90CA-8C76119FD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EA9357-8A5C-412B-8117-2B98CE253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211A-AA28-41F8-8BB8-C6A0F3D5C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295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06421-349A-47CC-B75D-4F8FC1B82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2A991F-F4D9-4B1F-AA8D-418888BC2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2D5D-DED5-4679-BC20-B3FC8FF553F2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784872-FC4F-477E-8FA9-C5D380962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3C91C6-F0B4-488D-9492-566E8BB18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211A-AA28-41F8-8BB8-C6A0F3D5C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959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D9218B-7738-4BDC-BA79-D47F03FA3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2D5D-DED5-4679-BC20-B3FC8FF553F2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DDF757-5D45-4E41-AFBF-615574F20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16857-D52D-440F-8113-25F293023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211A-AA28-41F8-8BB8-C6A0F3D5C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7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E0063-150E-4B12-8F53-4740A5F7A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0E432-5E60-426C-87F2-AD28320C7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5CE7CB-B694-452B-BC13-CBB9A2030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A71446-5610-44C1-96A4-B5431D163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2D5D-DED5-4679-BC20-B3FC8FF553F2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4CCE1D-B232-44B8-9B37-7B4C09C40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5024A-7078-421C-B5FA-E0C181F12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211A-AA28-41F8-8BB8-C6A0F3D5C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014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BCFF6-03DF-406F-82F5-E5F1FCBDD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2FD7E5-4341-4B0D-904D-50FD97B626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5AC8BB-B005-46B0-8579-694504A5C5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E3EEC-0CB0-413F-B3C9-AB0860597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2D5D-DED5-4679-BC20-B3FC8FF553F2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AC447-E9F4-4B6A-8D3D-CED6223C1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58357-9F9A-4A6B-B5DB-3F00A8062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211A-AA28-41F8-8BB8-C6A0F3D5C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02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E0461-36DB-436B-8C83-9A9C27AE1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FE0856-8C8D-4979-AEBE-507C5889F4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A94CD-3B84-4B1F-B5E8-D3B34E170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2D5D-DED5-4679-BC20-B3FC8FF553F2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F92CF-A632-45A7-A1DD-4C6AD01E0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586D8-562C-4761-BEFE-3BEFD0DF9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211A-AA28-41F8-8BB8-C6A0F3D5C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84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924DC0-483C-4554-BAA1-78DE6DB76E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94D8E1-ED13-49C8-AE71-E807F0957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A41BE-D9D4-45B4-B276-9D6AD6863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2D5D-DED5-4679-BC20-B3FC8FF553F2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6E273-114E-420A-9B64-3D6B6BDBD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6BB9D-1D52-409F-B6BB-F06EEC26D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6211A-AA28-41F8-8BB8-C6A0F3D5C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79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F259D9-2735-44D7-B1C4-AAD478D9C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5F713-B6CC-4764-B522-C45468FD3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2D6C9-B8B4-4EB8-8F05-97C1CF415C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72D5D-DED5-4679-BC20-B3FC8FF553F2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A682C-ED02-4FAA-A9C8-28A58C319B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3B5E3-F5AD-47DB-929E-0F249D0AE8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6211A-AA28-41F8-8BB8-C6A0F3D5C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962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CB498-14A7-4569-93A4-EE5C7052DA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Chapter-15</a:t>
            </a:r>
            <a:br>
              <a:rPr lang="tr-TR" dirty="0"/>
            </a:br>
            <a:r>
              <a:rPr lang="tr-TR" dirty="0" err="1"/>
              <a:t>Keeping</a:t>
            </a:r>
            <a:r>
              <a:rPr lang="tr-TR" dirty="0"/>
              <a:t> Time, </a:t>
            </a:r>
            <a:r>
              <a:rPr lang="tr-TR" dirty="0" err="1"/>
              <a:t>Scheduling</a:t>
            </a:r>
            <a:r>
              <a:rPr lang="tr-TR" dirty="0"/>
              <a:t> </a:t>
            </a:r>
            <a:r>
              <a:rPr lang="tr-TR" dirty="0" err="1"/>
              <a:t>Tasks</a:t>
            </a:r>
            <a:r>
              <a:rPr lang="tr-TR" dirty="0"/>
              <a:t>, &amp; </a:t>
            </a:r>
            <a:r>
              <a:rPr lang="tr-TR" dirty="0" err="1"/>
              <a:t>Launching</a:t>
            </a:r>
            <a:r>
              <a:rPr lang="tr-TR" dirty="0"/>
              <a:t> Programs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9EC16C-2097-4539-98AE-9BCD0D980D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 err="1"/>
              <a:t>Automate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Boring</a:t>
            </a:r>
            <a:r>
              <a:rPr lang="tr-TR" dirty="0"/>
              <a:t> </a:t>
            </a:r>
            <a:r>
              <a:rPr lang="tr-TR" dirty="0" err="1"/>
              <a:t>Stuff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23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19F22-834C-4467-AAE0-F6ED3CDB9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i="0" u="none" strike="noStrike" baseline="0" dirty="0">
                <a:latin typeface="Futura-Bold"/>
              </a:rPr>
              <a:t>The time Module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F9CC3-77E4-4165-BA1A-1972631F6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NewBaskerville-Roman"/>
              </a:rPr>
              <a:t>Your computer’s system clock is set to a specific date, time, and time zone.</a:t>
            </a: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The built-in </a:t>
            </a:r>
            <a:r>
              <a:rPr lang="en-US" sz="1800" b="0" i="0" u="none" strike="noStrike" baseline="0" dirty="0">
                <a:latin typeface="TheSansMonoCondensed-Plain"/>
              </a:rPr>
              <a:t>time </a:t>
            </a:r>
            <a:r>
              <a:rPr lang="en-US" sz="1800" b="0" i="0" u="none" strike="noStrike" baseline="0" dirty="0">
                <a:latin typeface="NewBaskerville-Roman"/>
              </a:rPr>
              <a:t>module allows your Python programs to read the system</a:t>
            </a: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clock for the current time. The </a:t>
            </a:r>
            <a:r>
              <a:rPr lang="en-US" sz="1800" b="0" i="0" u="none" strike="noStrike" baseline="0" dirty="0" err="1">
                <a:latin typeface="TheSansMonoCondensed-Plain"/>
              </a:rPr>
              <a:t>time.time</a:t>
            </a:r>
            <a:r>
              <a:rPr lang="en-US" sz="1800" b="0" i="0" u="none" strike="noStrike" baseline="0" dirty="0">
                <a:latin typeface="TheSansMonoCondensed-Plain"/>
              </a:rPr>
              <a:t>() </a:t>
            </a:r>
            <a:r>
              <a:rPr lang="en-US" sz="1800" b="0" i="0" u="none" strike="noStrike" baseline="0" dirty="0">
                <a:latin typeface="NewBaskerville-Roman"/>
              </a:rPr>
              <a:t>and </a:t>
            </a:r>
            <a:r>
              <a:rPr lang="en-US" sz="1800" b="0" i="0" u="none" strike="noStrike" baseline="0" dirty="0" err="1">
                <a:latin typeface="TheSansMonoCondensed-Plain"/>
              </a:rPr>
              <a:t>time.sleep</a:t>
            </a:r>
            <a:r>
              <a:rPr lang="en-US" sz="1800" b="0" i="0" u="none" strike="noStrike" baseline="0" dirty="0">
                <a:latin typeface="TheSansMonoCondensed-Plain"/>
              </a:rPr>
              <a:t>() </a:t>
            </a:r>
            <a:r>
              <a:rPr lang="en-US" sz="1800" b="0" i="0" u="none" strike="noStrike" baseline="0" dirty="0">
                <a:latin typeface="NewBaskerville-Roman"/>
              </a:rPr>
              <a:t>functions are</a:t>
            </a: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the most useful in the </a:t>
            </a:r>
            <a:r>
              <a:rPr lang="en-US" sz="1800" b="0" i="0" u="none" strike="noStrike" baseline="0" dirty="0">
                <a:latin typeface="TheSansMonoCondensed-Plain"/>
              </a:rPr>
              <a:t>time </a:t>
            </a:r>
            <a:r>
              <a:rPr lang="en-US" sz="1800" b="0" i="0" u="none" strike="noStrike" baseline="0" dirty="0">
                <a:latin typeface="NewBaskerville-Roman"/>
              </a:rPr>
              <a:t>module.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91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19F22-834C-4467-AAE0-F6ED3CDB9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i="1" u="none" strike="noStrike" baseline="0" dirty="0">
                <a:latin typeface="Futura-CondensedBoldOblique"/>
              </a:rPr>
              <a:t>The </a:t>
            </a:r>
            <a:r>
              <a:rPr lang="en-US" sz="1800" b="1" i="1" u="none" strike="noStrike" baseline="0" dirty="0" err="1">
                <a:latin typeface="Futura-CondensedBoldOblique"/>
              </a:rPr>
              <a:t>time.time</a:t>
            </a:r>
            <a:r>
              <a:rPr lang="en-US" sz="1800" b="1" i="1" u="none" strike="noStrike" baseline="0" dirty="0">
                <a:latin typeface="Futura-CondensedBoldOblique"/>
              </a:rPr>
              <a:t>() Function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F9CC3-77E4-4165-BA1A-1972631F6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48791"/>
          </a:xfrm>
        </p:spPr>
        <p:txBody>
          <a:bodyPr/>
          <a:lstStyle/>
          <a:p>
            <a:pPr algn="l"/>
            <a:r>
              <a:rPr lang="en-US" sz="1800" b="0" i="0" u="none" strike="noStrike" baseline="0" dirty="0">
                <a:latin typeface="NewBaskerville-Roman"/>
              </a:rPr>
              <a:t>The </a:t>
            </a:r>
            <a:r>
              <a:rPr lang="en-US" sz="1800" b="0" i="1" u="none" strike="noStrike" baseline="0" dirty="0">
                <a:latin typeface="NewBaskerville-Italic"/>
              </a:rPr>
              <a:t>Unix epoch </a:t>
            </a:r>
            <a:r>
              <a:rPr lang="en-US" sz="1800" b="0" i="0" u="none" strike="noStrike" baseline="0" dirty="0">
                <a:latin typeface="NewBaskerville-Roman"/>
              </a:rPr>
              <a:t>is a time reference commonly used in programming: 12 </a:t>
            </a:r>
            <a:r>
              <a:rPr lang="en-US" sz="1800" b="0" i="0" u="none" strike="noStrike" baseline="0" dirty="0">
                <a:latin typeface="NewBaskerville-Roman-SC750"/>
              </a:rPr>
              <a:t>am</a:t>
            </a: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on January 1, 1970, Coordinated Universal Time (UTC). The </a:t>
            </a:r>
            <a:r>
              <a:rPr lang="en-US" sz="1800" b="0" i="0" u="none" strike="noStrike" baseline="0" dirty="0" err="1">
                <a:latin typeface="TheSansMonoCondensed-Plain"/>
              </a:rPr>
              <a:t>time.time</a:t>
            </a:r>
            <a:r>
              <a:rPr lang="en-US" sz="1800" b="0" i="0" u="none" strike="noStrike" baseline="0" dirty="0">
                <a:latin typeface="TheSansMonoCondensed-Plain"/>
              </a:rPr>
              <a:t>()</a:t>
            </a: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function returns the number of seconds since that moment as a float value.</a:t>
            </a: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(Recall that a float is just a number with a decimal point.) This number is</a:t>
            </a: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called an </a:t>
            </a:r>
            <a:r>
              <a:rPr lang="en-US" sz="1800" b="0" i="1" u="none" strike="noStrike" baseline="0" dirty="0">
                <a:latin typeface="NewBaskerville-Italic"/>
              </a:rPr>
              <a:t>epoch timestamp</a:t>
            </a:r>
            <a:r>
              <a:rPr lang="en-US" sz="1800" b="0" i="0" u="none" strike="noStrike" baseline="0" dirty="0">
                <a:latin typeface="NewBaskerville-Roman"/>
              </a:rPr>
              <a:t>. For example, enter the following into the interactive</a:t>
            </a:r>
            <a:r>
              <a:rPr lang="tr-TR" sz="1800" b="0" i="0" u="none" strike="noStrike" baseline="0" dirty="0">
                <a:latin typeface="NewBaskerville-Roman"/>
              </a:rPr>
              <a:t> </a:t>
            </a:r>
            <a:r>
              <a:rPr lang="en-US" sz="1800" b="0" i="0" u="none" strike="noStrike" baseline="0" dirty="0">
                <a:latin typeface="NewBaskerville-Roman"/>
              </a:rPr>
              <a:t>shell: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3DA4EE-7EC7-42C2-AC78-EB4E9670FBD3}"/>
              </a:ext>
            </a:extLst>
          </p:cNvPr>
          <p:cNvSpPr txBox="1"/>
          <p:nvPr/>
        </p:nvSpPr>
        <p:spPr>
          <a:xfrm>
            <a:off x="1218415" y="4189370"/>
            <a:ext cx="33347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baseline="0" dirty="0">
                <a:latin typeface="TheSansMonoCondensed-Bold"/>
              </a:rPr>
              <a:t>import time</a:t>
            </a:r>
            <a:endParaRPr lang="tr-TR" sz="1800" b="1" i="0" u="none" strike="noStrike" baseline="0" dirty="0">
              <a:latin typeface="TheSansMonoCondensed-Bold"/>
            </a:endParaRPr>
          </a:p>
          <a:p>
            <a:r>
              <a:rPr lang="tr-TR" sz="1800" b="1" i="0" u="none" strike="noStrike" baseline="0" dirty="0">
                <a:latin typeface="TheSansMonoCondensed-Bold"/>
              </a:rPr>
              <a:t>t</a:t>
            </a:r>
            <a:r>
              <a:rPr lang="en-US" sz="1800" b="1" i="0" u="none" strike="noStrike" baseline="0" dirty="0" err="1">
                <a:latin typeface="TheSansMonoCondensed-Bold"/>
              </a:rPr>
              <a:t>ime.time</a:t>
            </a:r>
            <a:r>
              <a:rPr lang="en-US" sz="1800" b="1" i="0" u="none" strike="noStrike" baseline="0" dirty="0">
                <a:latin typeface="TheSansMonoCondensed-Bold"/>
              </a:rPr>
              <a:t>()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766A5F-7541-4D1B-8921-57050A958934}"/>
              </a:ext>
            </a:extLst>
          </p:cNvPr>
          <p:cNvSpPr txBox="1"/>
          <p:nvPr/>
        </p:nvSpPr>
        <p:spPr>
          <a:xfrm>
            <a:off x="6096000" y="3898099"/>
            <a:ext cx="22695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TheSansMonoCondensed-Plain"/>
              </a:rPr>
              <a:t>1425063955.068649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F46E93-E3F1-46DE-87DA-6E67E5393701}"/>
              </a:ext>
            </a:extLst>
          </p:cNvPr>
          <p:cNvSpPr txBox="1"/>
          <p:nvPr/>
        </p:nvSpPr>
        <p:spPr>
          <a:xfrm>
            <a:off x="4037814" y="4291114"/>
            <a:ext cx="69357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NewBaskerville-Roman"/>
              </a:rPr>
              <a:t>Here I’m calling </a:t>
            </a:r>
            <a:r>
              <a:rPr lang="en-US" sz="1400" b="0" i="0" u="none" strike="noStrike" baseline="0" dirty="0" err="1">
                <a:latin typeface="TheSansMonoCondensed-Plain"/>
              </a:rPr>
              <a:t>time.time</a:t>
            </a:r>
            <a:r>
              <a:rPr lang="en-US" sz="1400" b="0" i="0" u="none" strike="noStrike" baseline="0" dirty="0">
                <a:latin typeface="TheSansMonoCondensed-Plain"/>
              </a:rPr>
              <a:t>() </a:t>
            </a:r>
            <a:r>
              <a:rPr lang="en-US" sz="1800" b="0" i="0" u="none" strike="noStrike" baseline="0" dirty="0">
                <a:latin typeface="NewBaskerville-Roman"/>
              </a:rPr>
              <a:t>on February 27, 2015, at 11:05 Pacific</a:t>
            </a: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Standard Time, or 7:05 </a:t>
            </a:r>
            <a:r>
              <a:rPr lang="en-US" sz="800" b="0" i="0" u="none" strike="noStrike" baseline="0" dirty="0">
                <a:latin typeface="NewBaskerville-Roman-SC750"/>
              </a:rPr>
              <a:t>pm </a:t>
            </a:r>
            <a:r>
              <a:rPr lang="en-US" sz="1800" b="0" i="0" u="none" strike="noStrike" baseline="0" dirty="0">
                <a:latin typeface="NewBaskerville-Roman"/>
              </a:rPr>
              <a:t>UTC. The return value is how many seconds</a:t>
            </a: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have passed between the Unix epoch and the moment </a:t>
            </a:r>
            <a:r>
              <a:rPr lang="en-US" sz="1400" b="0" i="0" u="none" strike="noStrike" baseline="0" dirty="0" err="1">
                <a:latin typeface="TheSansMonoCondensed-Plain"/>
              </a:rPr>
              <a:t>time.time</a:t>
            </a:r>
            <a:r>
              <a:rPr lang="en-US" sz="1400" b="0" i="0" u="none" strike="noStrike" baseline="0" dirty="0">
                <a:latin typeface="TheSansMonoCondensed-Plain"/>
              </a:rPr>
              <a:t>() </a:t>
            </a:r>
            <a:r>
              <a:rPr lang="en-US" sz="1800" b="0" i="0" u="none" strike="noStrike" baseline="0" dirty="0">
                <a:latin typeface="NewBaskerville-Roman"/>
              </a:rPr>
              <a:t>was</a:t>
            </a: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called.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7ECAD3-A3DE-4E0A-AEA5-B42E6B1B6BD7}"/>
              </a:ext>
            </a:extLst>
          </p:cNvPr>
          <p:cNvSpPr txBox="1"/>
          <p:nvPr/>
        </p:nvSpPr>
        <p:spPr>
          <a:xfrm>
            <a:off x="4037814" y="5593187"/>
            <a:ext cx="67841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1" u="none" strike="noStrike" baseline="0" dirty="0">
                <a:latin typeface="NewBaskerville-Italic"/>
              </a:rPr>
              <a:t>The interactive shell examples will yield dates and times for when I wrote this chapter</a:t>
            </a:r>
          </a:p>
          <a:p>
            <a:pPr algn="l"/>
            <a:r>
              <a:rPr lang="en-US" sz="1800" b="0" i="1" u="none" strike="noStrike" baseline="0" dirty="0">
                <a:latin typeface="NewBaskerville-Italic"/>
              </a:rPr>
              <a:t>in February 2015. Unless you’re a time traveler, your dates and times will be different.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871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19F22-834C-4467-AAE0-F6ED3CDB9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i="1" u="none" strike="noStrike" baseline="0" dirty="0">
                <a:latin typeface="Futura-CondensedBoldOblique"/>
              </a:rPr>
              <a:t>The </a:t>
            </a:r>
            <a:r>
              <a:rPr lang="en-US" sz="1800" b="1" i="1" u="none" strike="noStrike" baseline="0" dirty="0" err="1">
                <a:latin typeface="Futura-CondensedBoldOblique"/>
              </a:rPr>
              <a:t>time.time</a:t>
            </a:r>
            <a:r>
              <a:rPr lang="en-US" sz="1800" b="1" i="1" u="none" strike="noStrike" baseline="0" dirty="0">
                <a:latin typeface="Futura-CondensedBoldOblique"/>
              </a:rPr>
              <a:t>() Function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F9CC3-77E4-4165-BA1A-1972631F6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676" y="1366557"/>
            <a:ext cx="10515600" cy="2048791"/>
          </a:xfrm>
        </p:spPr>
        <p:txBody>
          <a:bodyPr/>
          <a:lstStyle/>
          <a:p>
            <a:pPr algn="l"/>
            <a:r>
              <a:rPr lang="en-US" sz="1800" b="0" i="0" u="none" strike="noStrike" baseline="0" dirty="0">
                <a:latin typeface="NewBaskerville-Roman"/>
              </a:rPr>
              <a:t>Epoch timestamps can be used to </a:t>
            </a:r>
            <a:r>
              <a:rPr lang="en-US" sz="1800" b="0" i="1" u="none" strike="noStrike" baseline="0" dirty="0">
                <a:latin typeface="NewBaskerville-Italic"/>
              </a:rPr>
              <a:t>profile </a:t>
            </a:r>
            <a:r>
              <a:rPr lang="en-US" sz="1800" b="0" i="0" u="none" strike="noStrike" baseline="0" dirty="0">
                <a:latin typeface="NewBaskerville-Roman"/>
              </a:rPr>
              <a:t>code, that is, measure how long</a:t>
            </a: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a piece of code takes to run. If you call </a:t>
            </a:r>
            <a:r>
              <a:rPr lang="en-US" sz="1800" b="0" i="0" u="none" strike="noStrike" baseline="0" dirty="0" err="1">
                <a:latin typeface="TheSansMonoCondensed-Plain"/>
              </a:rPr>
              <a:t>time.time</a:t>
            </a:r>
            <a:r>
              <a:rPr lang="en-US" sz="1800" b="0" i="0" u="none" strike="noStrike" baseline="0" dirty="0">
                <a:latin typeface="TheSansMonoCondensed-Plain"/>
              </a:rPr>
              <a:t>() </a:t>
            </a:r>
            <a:r>
              <a:rPr lang="en-US" sz="1800" b="0" i="0" u="none" strike="noStrike" baseline="0" dirty="0">
                <a:latin typeface="NewBaskerville-Roman"/>
              </a:rPr>
              <a:t>at the beginning of the</a:t>
            </a: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code block you want to measure and again at the end, you can subtract the</a:t>
            </a: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first timestamp from the second to find the elapsed time between those two</a:t>
            </a: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calls.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766A5F-7541-4D1B-8921-57050A958934}"/>
              </a:ext>
            </a:extLst>
          </p:cNvPr>
          <p:cNvSpPr txBox="1"/>
          <p:nvPr/>
        </p:nvSpPr>
        <p:spPr>
          <a:xfrm>
            <a:off x="4402318" y="2807092"/>
            <a:ext cx="640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TheSansMonoCondensed-Plain"/>
              </a:rPr>
              <a:t>For example, open a new file editor window and enter the following</a:t>
            </a:r>
            <a:r>
              <a:rPr lang="tr-TR" sz="1800" b="0" i="0" u="none" strike="noStrike" baseline="0" dirty="0">
                <a:latin typeface="TheSansMonoCondensed-Plain"/>
              </a:rPr>
              <a:t> </a:t>
            </a:r>
            <a:r>
              <a:rPr lang="en-US" sz="1800" b="0" i="0" u="none" strike="noStrike" baseline="0" dirty="0">
                <a:latin typeface="TheSansMonoCondensed-Plain"/>
              </a:rPr>
              <a:t>program</a:t>
            </a:r>
            <a:r>
              <a:rPr lang="tr-TR" sz="1800" b="0" i="0" u="none" strike="noStrike" baseline="0" dirty="0">
                <a:latin typeface="TheSansMonoCondensed-Plain"/>
              </a:rPr>
              <a:t> as </a:t>
            </a:r>
            <a:r>
              <a:rPr lang="en-US" sz="1800" b="0" i="1" u="none" strike="noStrike" baseline="0" dirty="0">
                <a:latin typeface="NewBaskerville-Italic"/>
              </a:rPr>
              <a:t>calcProd.py</a:t>
            </a:r>
            <a:r>
              <a:rPr lang="en-US" sz="1800" b="0" i="0" u="none" strike="noStrike" baseline="0" dirty="0">
                <a:latin typeface="TheSansMonoCondensed-Plain"/>
              </a:rPr>
              <a:t>: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F46E93-E3F1-46DE-87DA-6E67E5393701}"/>
              </a:ext>
            </a:extLst>
          </p:cNvPr>
          <p:cNvSpPr txBox="1"/>
          <p:nvPr/>
        </p:nvSpPr>
        <p:spPr>
          <a:xfrm>
            <a:off x="4402318" y="3415348"/>
            <a:ext cx="632617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TheSansMonoCondensed-Plain"/>
              </a:rPr>
              <a:t>import time</a:t>
            </a:r>
          </a:p>
          <a:p>
            <a:pPr algn="l"/>
            <a:r>
              <a:rPr lang="en-US" sz="1800" b="0" i="0" u="none" strike="noStrike" baseline="0" dirty="0">
                <a:latin typeface="Wingdings2"/>
              </a:rPr>
              <a:t>u </a:t>
            </a:r>
            <a:r>
              <a:rPr lang="en-US" sz="1800" b="0" i="0" u="none" strike="noStrike" baseline="0" dirty="0">
                <a:latin typeface="TheSansMonoCondensed-Plain"/>
              </a:rPr>
              <a:t>def </a:t>
            </a:r>
            <a:r>
              <a:rPr lang="en-US" sz="1800" b="0" i="0" u="none" strike="noStrike" baseline="0" dirty="0" err="1">
                <a:latin typeface="TheSansMonoCondensed-Plain"/>
              </a:rPr>
              <a:t>calcProd</a:t>
            </a:r>
            <a:r>
              <a:rPr lang="en-US" sz="1800" b="0" i="0" u="none" strike="noStrike" baseline="0" dirty="0">
                <a:latin typeface="TheSansMonoCondensed-Plain"/>
              </a:rPr>
              <a:t>():</a:t>
            </a:r>
          </a:p>
          <a:p>
            <a:pPr algn="l"/>
            <a:r>
              <a:rPr lang="en-US" sz="1800" b="0" i="0" u="none" strike="noStrike" baseline="0" dirty="0">
                <a:latin typeface="TheSansMonoCondensed-Plain"/>
              </a:rPr>
              <a:t># Calculate the product of the first 100,000 numbers.</a:t>
            </a:r>
          </a:p>
          <a:p>
            <a:pPr algn="l"/>
            <a:r>
              <a:rPr lang="en-US" sz="1800" b="0" i="0" u="none" strike="noStrike" baseline="0" dirty="0">
                <a:latin typeface="TheSansMonoCondensed-Plain"/>
              </a:rPr>
              <a:t>product = 1</a:t>
            </a:r>
          </a:p>
          <a:p>
            <a:pPr algn="l"/>
            <a:r>
              <a:rPr lang="en-US" sz="1800" b="0" i="0" u="none" strike="noStrike" baseline="0" dirty="0">
                <a:latin typeface="TheSansMonoCondensed-Plain"/>
              </a:rPr>
              <a:t>for </a:t>
            </a:r>
            <a:r>
              <a:rPr lang="en-US" sz="1800" b="0" i="0" u="none" strike="noStrike" baseline="0" dirty="0" err="1">
                <a:latin typeface="TheSansMonoCondensed-Plain"/>
              </a:rPr>
              <a:t>i</a:t>
            </a:r>
            <a:r>
              <a:rPr lang="en-US" sz="1800" b="0" i="0" u="none" strike="noStrike" baseline="0" dirty="0">
                <a:latin typeface="TheSansMonoCondensed-Plain"/>
              </a:rPr>
              <a:t> in range(1, 100000):</a:t>
            </a:r>
          </a:p>
          <a:p>
            <a:pPr algn="l"/>
            <a:r>
              <a:rPr lang="en-US" sz="1800" b="0" i="0" u="none" strike="noStrike" baseline="0" dirty="0">
                <a:latin typeface="TheSansMonoCondensed-Plain"/>
              </a:rPr>
              <a:t>product = product * </a:t>
            </a:r>
            <a:r>
              <a:rPr lang="en-US" sz="1800" b="0" i="0" u="none" strike="noStrike" baseline="0" dirty="0" err="1">
                <a:latin typeface="TheSansMonoCondensed-Plain"/>
              </a:rPr>
              <a:t>i</a:t>
            </a:r>
            <a:endParaRPr lang="en-US" sz="1800" b="0" i="0" u="none" strike="noStrike" baseline="0" dirty="0">
              <a:latin typeface="TheSansMonoCondensed-Plain"/>
            </a:endParaRPr>
          </a:p>
          <a:p>
            <a:pPr algn="l"/>
            <a:r>
              <a:rPr lang="en-US" sz="1800" b="0" i="0" u="none" strike="noStrike" baseline="0" dirty="0">
                <a:latin typeface="TheSansMonoCondensed-Plain"/>
              </a:rPr>
              <a:t>return product</a:t>
            </a:r>
          </a:p>
          <a:p>
            <a:pPr algn="l"/>
            <a:r>
              <a:rPr lang="en-US" sz="1800" b="0" i="0" u="none" strike="noStrike" baseline="0" dirty="0">
                <a:latin typeface="Wingdings2"/>
              </a:rPr>
              <a:t>v </a:t>
            </a:r>
            <a:r>
              <a:rPr lang="en-US" sz="1800" b="0" i="0" u="none" strike="noStrike" baseline="0" dirty="0" err="1">
                <a:latin typeface="TheSansMonoCondensed-Plain"/>
              </a:rPr>
              <a:t>startTime</a:t>
            </a:r>
            <a:r>
              <a:rPr lang="en-US" sz="1800" b="0" i="0" u="none" strike="noStrike" baseline="0" dirty="0">
                <a:latin typeface="TheSansMonoCondensed-Plain"/>
              </a:rPr>
              <a:t> = </a:t>
            </a:r>
            <a:r>
              <a:rPr lang="en-US" sz="1800" b="0" i="0" u="none" strike="noStrike" baseline="0" dirty="0" err="1">
                <a:latin typeface="TheSansMonoCondensed-Plain"/>
              </a:rPr>
              <a:t>time.time</a:t>
            </a:r>
            <a:r>
              <a:rPr lang="en-US" sz="1800" b="0" i="0" u="none" strike="noStrike" baseline="0" dirty="0">
                <a:latin typeface="TheSansMonoCondensed-Plain"/>
              </a:rPr>
              <a:t>()</a:t>
            </a:r>
          </a:p>
          <a:p>
            <a:pPr algn="l"/>
            <a:r>
              <a:rPr lang="en-US" sz="1800" b="0" i="0" u="none" strike="noStrike" baseline="0" dirty="0">
                <a:latin typeface="TheSansMonoCondensed-Plain"/>
              </a:rPr>
              <a:t>prod = </a:t>
            </a:r>
            <a:r>
              <a:rPr lang="en-US" sz="1800" b="0" i="0" u="none" strike="noStrike" baseline="0" dirty="0" err="1">
                <a:latin typeface="TheSansMonoCondensed-Plain"/>
              </a:rPr>
              <a:t>calcProd</a:t>
            </a:r>
            <a:r>
              <a:rPr lang="en-US" sz="1800" b="0" i="0" u="none" strike="noStrike" baseline="0" dirty="0">
                <a:latin typeface="TheSansMonoCondensed-Plain"/>
              </a:rPr>
              <a:t>()</a:t>
            </a:r>
          </a:p>
          <a:p>
            <a:pPr algn="l"/>
            <a:r>
              <a:rPr lang="en-US" sz="1800" b="0" i="0" u="none" strike="noStrike" baseline="0" dirty="0">
                <a:latin typeface="Wingdings2"/>
              </a:rPr>
              <a:t>w </a:t>
            </a:r>
            <a:r>
              <a:rPr lang="en-US" sz="1800" b="0" i="0" u="none" strike="noStrike" baseline="0" dirty="0" err="1">
                <a:latin typeface="TheSansMonoCondensed-Plain"/>
              </a:rPr>
              <a:t>endTime</a:t>
            </a:r>
            <a:r>
              <a:rPr lang="en-US" sz="1800" b="0" i="0" u="none" strike="noStrike" baseline="0" dirty="0">
                <a:latin typeface="TheSansMonoCondensed-Plain"/>
              </a:rPr>
              <a:t> = </a:t>
            </a:r>
            <a:r>
              <a:rPr lang="en-US" sz="1800" b="0" i="0" u="none" strike="noStrike" baseline="0" dirty="0" err="1">
                <a:latin typeface="TheSansMonoCondensed-Plain"/>
              </a:rPr>
              <a:t>time.time</a:t>
            </a:r>
            <a:r>
              <a:rPr lang="en-US" sz="1800" b="0" i="0" u="none" strike="noStrike" baseline="0" dirty="0">
                <a:latin typeface="TheSansMonoCondensed-Plain"/>
              </a:rPr>
              <a:t>()</a:t>
            </a:r>
          </a:p>
          <a:p>
            <a:pPr algn="l"/>
            <a:r>
              <a:rPr lang="en-US" sz="1800" b="0" i="0" u="none" strike="noStrike" baseline="0" dirty="0">
                <a:latin typeface="Wingdings2"/>
              </a:rPr>
              <a:t>x </a:t>
            </a:r>
            <a:r>
              <a:rPr lang="en-US" sz="1800" b="0" i="0" u="none" strike="noStrike" baseline="0" dirty="0">
                <a:latin typeface="TheSansMonoCondensed-Plain"/>
              </a:rPr>
              <a:t>print('The result is %s digits long.' % (</a:t>
            </a:r>
            <a:r>
              <a:rPr lang="en-US" sz="1800" b="0" i="0" u="none" strike="noStrike" baseline="0" dirty="0" err="1">
                <a:latin typeface="TheSansMonoCondensed-Plain"/>
              </a:rPr>
              <a:t>len</a:t>
            </a:r>
            <a:r>
              <a:rPr lang="en-US" sz="1800" b="0" i="0" u="none" strike="noStrike" baseline="0" dirty="0">
                <a:latin typeface="TheSansMonoCondensed-Plain"/>
              </a:rPr>
              <a:t>(str(prod))))</a:t>
            </a:r>
          </a:p>
          <a:p>
            <a:pPr algn="l"/>
            <a:r>
              <a:rPr lang="en-US" sz="1800" b="0" i="0" u="none" strike="noStrike" baseline="0" dirty="0">
                <a:latin typeface="Wingdings2"/>
              </a:rPr>
              <a:t>y </a:t>
            </a:r>
            <a:r>
              <a:rPr lang="en-US" sz="1800" b="0" i="0" u="none" strike="noStrike" baseline="0" dirty="0">
                <a:latin typeface="TheSansMonoCondensed-Plain"/>
              </a:rPr>
              <a:t>print('Took %s seconds to calculate.' % (</a:t>
            </a:r>
            <a:r>
              <a:rPr lang="en-US" sz="1800" b="0" i="0" u="none" strike="noStrike" baseline="0" dirty="0" err="1">
                <a:latin typeface="TheSansMonoCondensed-Plain"/>
              </a:rPr>
              <a:t>endTime</a:t>
            </a:r>
            <a:r>
              <a:rPr lang="en-US" sz="1800" b="0" i="0" u="none" strike="noStrike" baseline="0" dirty="0">
                <a:latin typeface="TheSansMonoCondensed-Plain"/>
              </a:rPr>
              <a:t> - </a:t>
            </a:r>
            <a:r>
              <a:rPr lang="en-US" sz="1800" b="0" i="0" u="none" strike="noStrike" baseline="0" dirty="0" err="1">
                <a:latin typeface="TheSansMonoCondensed-Plain"/>
              </a:rPr>
              <a:t>startTime</a:t>
            </a:r>
            <a:r>
              <a:rPr lang="en-US" sz="1800" b="0" i="0" u="none" strike="noStrike" baseline="0" dirty="0">
                <a:latin typeface="TheSansMonoCondensed-Plain"/>
              </a:rPr>
              <a:t>))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3937AB-9898-423F-80A6-FBF6233DA647}"/>
              </a:ext>
            </a:extLst>
          </p:cNvPr>
          <p:cNvSpPr txBox="1"/>
          <p:nvPr/>
        </p:nvSpPr>
        <p:spPr>
          <a:xfrm>
            <a:off x="492158" y="3196436"/>
            <a:ext cx="365563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 dirty="0">
                <a:latin typeface="NewBaskerville-Roman"/>
              </a:rPr>
              <a:t>At </a:t>
            </a:r>
            <a:r>
              <a:rPr lang="en-US" sz="1400" b="0" i="0" u="none" strike="noStrike" baseline="0" dirty="0">
                <a:latin typeface="Wingdings2"/>
              </a:rPr>
              <a:t>u</a:t>
            </a:r>
            <a:r>
              <a:rPr lang="en-US" sz="1400" b="0" i="0" u="none" strike="noStrike" baseline="0" dirty="0">
                <a:latin typeface="NewBaskerville-Roman"/>
              </a:rPr>
              <a:t>, we define a function </a:t>
            </a:r>
            <a:r>
              <a:rPr lang="en-US" sz="1100" b="0" i="0" u="none" strike="noStrike" baseline="0" dirty="0" err="1">
                <a:latin typeface="TheSansMonoCondensed-Plain"/>
              </a:rPr>
              <a:t>calcProd</a:t>
            </a:r>
            <a:r>
              <a:rPr lang="en-US" sz="1100" b="0" i="0" u="none" strike="noStrike" baseline="0" dirty="0">
                <a:latin typeface="TheSansMonoCondensed-Plain"/>
              </a:rPr>
              <a:t>() </a:t>
            </a:r>
            <a:r>
              <a:rPr lang="en-US" sz="1400" b="0" i="0" u="none" strike="noStrike" baseline="0" dirty="0">
                <a:latin typeface="NewBaskerville-Roman"/>
              </a:rPr>
              <a:t>to loop through the integers from</a:t>
            </a:r>
            <a:r>
              <a:rPr lang="tr-TR" sz="1400" b="0" i="0" u="none" strike="noStrike" baseline="0" dirty="0">
                <a:latin typeface="NewBaskerville-Roman"/>
              </a:rPr>
              <a:t> </a:t>
            </a:r>
            <a:r>
              <a:rPr lang="en-US" sz="1400" b="0" i="0" u="none" strike="noStrike" baseline="0" dirty="0">
                <a:latin typeface="NewBaskerville-Roman"/>
              </a:rPr>
              <a:t>1 to 99,999 and return their product. </a:t>
            </a:r>
            <a:endParaRPr lang="tr-TR" sz="1400" b="0" i="0" u="none" strike="noStrike" baseline="0" dirty="0">
              <a:latin typeface="NewBaskerville-Roman"/>
            </a:endParaRPr>
          </a:p>
          <a:p>
            <a:pPr algn="l"/>
            <a:r>
              <a:rPr lang="en-US" sz="1400" b="0" i="0" u="none" strike="noStrike" baseline="0" dirty="0">
                <a:latin typeface="NewBaskerville-Roman"/>
              </a:rPr>
              <a:t>At </a:t>
            </a:r>
            <a:r>
              <a:rPr lang="en-US" sz="1400" b="0" i="0" u="none" strike="noStrike" baseline="0" dirty="0">
                <a:latin typeface="Wingdings2"/>
              </a:rPr>
              <a:t>v</a:t>
            </a:r>
            <a:r>
              <a:rPr lang="en-US" sz="1400" b="0" i="0" u="none" strike="noStrike" baseline="0" dirty="0">
                <a:latin typeface="NewBaskerville-Roman"/>
              </a:rPr>
              <a:t>, we call </a:t>
            </a:r>
            <a:r>
              <a:rPr lang="en-US" sz="1100" b="0" i="0" u="none" strike="noStrike" baseline="0" dirty="0" err="1">
                <a:latin typeface="TheSansMonoCondensed-Plain"/>
              </a:rPr>
              <a:t>time.time</a:t>
            </a:r>
            <a:r>
              <a:rPr lang="en-US" sz="1100" b="0" i="0" u="none" strike="noStrike" baseline="0" dirty="0">
                <a:latin typeface="TheSansMonoCondensed-Plain"/>
              </a:rPr>
              <a:t>() </a:t>
            </a:r>
            <a:r>
              <a:rPr lang="en-US" sz="1400" b="0" i="0" u="none" strike="noStrike" baseline="0" dirty="0">
                <a:latin typeface="NewBaskerville-Roman"/>
              </a:rPr>
              <a:t>and store it in</a:t>
            </a:r>
            <a:r>
              <a:rPr lang="tr-TR" sz="1400" b="0" i="0" u="none" strike="noStrike" baseline="0" dirty="0">
                <a:latin typeface="NewBaskerville-Roman"/>
              </a:rPr>
              <a:t> </a:t>
            </a:r>
            <a:r>
              <a:rPr lang="en-US" sz="1100" b="0" i="0" u="none" strike="noStrike" baseline="0" dirty="0" err="1">
                <a:latin typeface="TheSansMonoCondensed-Plain"/>
              </a:rPr>
              <a:t>startTime</a:t>
            </a:r>
            <a:r>
              <a:rPr lang="en-US" sz="1400" b="0" i="0" u="none" strike="noStrike" baseline="0" dirty="0">
                <a:latin typeface="NewBaskerville-Roman"/>
              </a:rPr>
              <a:t>. </a:t>
            </a:r>
            <a:endParaRPr lang="tr-TR" sz="1400" b="0" i="0" u="none" strike="noStrike" baseline="0" dirty="0">
              <a:latin typeface="NewBaskerville-Roman"/>
            </a:endParaRPr>
          </a:p>
          <a:p>
            <a:pPr algn="l"/>
            <a:r>
              <a:rPr lang="en-US" sz="1400" b="0" i="0" u="none" strike="noStrike" baseline="0" dirty="0">
                <a:latin typeface="NewBaskerville-Roman"/>
              </a:rPr>
              <a:t>Right after calling </a:t>
            </a:r>
            <a:r>
              <a:rPr lang="en-US" sz="1100" b="0" i="0" u="none" strike="noStrike" baseline="0" dirty="0" err="1">
                <a:latin typeface="TheSansMonoCondensed-Plain"/>
              </a:rPr>
              <a:t>calcProd</a:t>
            </a:r>
            <a:r>
              <a:rPr lang="en-US" sz="1100" b="0" i="0" u="none" strike="noStrike" baseline="0" dirty="0">
                <a:latin typeface="TheSansMonoCondensed-Plain"/>
              </a:rPr>
              <a:t>()</a:t>
            </a:r>
            <a:r>
              <a:rPr lang="en-US" sz="1400" b="0" i="0" u="none" strike="noStrike" baseline="0" dirty="0">
                <a:latin typeface="NewBaskerville-Roman"/>
              </a:rPr>
              <a:t>, we call </a:t>
            </a:r>
            <a:r>
              <a:rPr lang="en-US" sz="1100" b="0" i="0" u="none" strike="noStrike" baseline="0" dirty="0" err="1">
                <a:latin typeface="TheSansMonoCondensed-Plain"/>
              </a:rPr>
              <a:t>time.time</a:t>
            </a:r>
            <a:r>
              <a:rPr lang="en-US" sz="1100" b="0" i="0" u="none" strike="noStrike" baseline="0" dirty="0">
                <a:latin typeface="TheSansMonoCondensed-Plain"/>
              </a:rPr>
              <a:t>() </a:t>
            </a:r>
            <a:r>
              <a:rPr lang="en-US" sz="1400" b="0" i="0" u="none" strike="noStrike" baseline="0" dirty="0">
                <a:latin typeface="NewBaskerville-Roman"/>
              </a:rPr>
              <a:t>again and store</a:t>
            </a:r>
            <a:r>
              <a:rPr lang="tr-TR" sz="1400" b="0" i="0" u="none" strike="noStrike" baseline="0" dirty="0">
                <a:latin typeface="NewBaskerville-Roman"/>
              </a:rPr>
              <a:t> </a:t>
            </a:r>
            <a:r>
              <a:rPr lang="en-US" sz="1400" b="0" i="0" u="none" strike="noStrike" baseline="0" dirty="0">
                <a:latin typeface="NewBaskerville-Roman"/>
              </a:rPr>
              <a:t>it in </a:t>
            </a:r>
            <a:r>
              <a:rPr lang="en-US" sz="1100" b="0" i="0" u="none" strike="noStrike" baseline="0" dirty="0" err="1">
                <a:latin typeface="TheSansMonoCondensed-Plain"/>
              </a:rPr>
              <a:t>endTime</a:t>
            </a:r>
            <a:r>
              <a:rPr lang="en-US" sz="1100" b="0" i="0" u="none" strike="noStrike" baseline="0" dirty="0">
                <a:latin typeface="TheSansMonoCondensed-Plain"/>
              </a:rPr>
              <a:t> </a:t>
            </a:r>
            <a:r>
              <a:rPr lang="en-US" sz="1400" b="0" i="0" u="none" strike="noStrike" baseline="0" dirty="0">
                <a:latin typeface="Wingdings2"/>
              </a:rPr>
              <a:t>w</a:t>
            </a:r>
            <a:r>
              <a:rPr lang="en-US" sz="1400" b="0" i="0" u="none" strike="noStrike" baseline="0" dirty="0">
                <a:latin typeface="NewBaskerville-Roman"/>
              </a:rPr>
              <a:t>. </a:t>
            </a:r>
            <a:endParaRPr lang="tr-TR" sz="1400" b="0" i="0" u="none" strike="noStrike" baseline="0" dirty="0">
              <a:latin typeface="NewBaskerville-Roman"/>
            </a:endParaRPr>
          </a:p>
          <a:p>
            <a:pPr algn="l"/>
            <a:r>
              <a:rPr lang="en-US" sz="1400" b="0" i="0" u="none" strike="noStrike" baseline="0" dirty="0">
                <a:latin typeface="NewBaskerville-Roman"/>
              </a:rPr>
              <a:t>We end by printing the length of the product returned by</a:t>
            </a:r>
            <a:r>
              <a:rPr lang="tr-TR" sz="1400" b="0" i="0" u="none" strike="noStrike" baseline="0" dirty="0">
                <a:latin typeface="NewBaskerville-Roman"/>
              </a:rPr>
              <a:t> </a:t>
            </a:r>
            <a:r>
              <a:rPr lang="en-US" sz="1100" b="0" i="0" u="none" strike="noStrike" baseline="0" dirty="0" err="1">
                <a:latin typeface="TheSansMonoCondensed-Plain"/>
              </a:rPr>
              <a:t>calcProd</a:t>
            </a:r>
            <a:r>
              <a:rPr lang="en-US" sz="1100" b="0" i="0" u="none" strike="noStrike" baseline="0" dirty="0">
                <a:latin typeface="TheSansMonoCondensed-Plain"/>
              </a:rPr>
              <a:t>()</a:t>
            </a:r>
          </a:p>
          <a:p>
            <a:pPr algn="l"/>
            <a:r>
              <a:rPr lang="en-US" sz="1400" b="0" i="0" u="none" strike="noStrike" baseline="0" dirty="0">
                <a:latin typeface="Wingdings2"/>
              </a:rPr>
              <a:t>x </a:t>
            </a:r>
            <a:r>
              <a:rPr lang="en-US" sz="1400" b="0" i="0" u="none" strike="noStrike" baseline="0" dirty="0">
                <a:latin typeface="NewBaskerville-Roman"/>
              </a:rPr>
              <a:t>and how long it took to run </a:t>
            </a:r>
            <a:r>
              <a:rPr lang="en-US" sz="1100" b="0" i="0" u="none" strike="noStrike" baseline="0" dirty="0" err="1">
                <a:latin typeface="TheSansMonoCondensed-Plain"/>
              </a:rPr>
              <a:t>calcProd</a:t>
            </a:r>
            <a:r>
              <a:rPr lang="en-US" sz="1100" b="0" i="0" u="none" strike="noStrike" baseline="0" dirty="0">
                <a:latin typeface="TheSansMonoCondensed-Plain"/>
              </a:rPr>
              <a:t>() </a:t>
            </a:r>
            <a:r>
              <a:rPr lang="en-US" sz="1400" b="0" i="0" u="none" strike="noStrike" baseline="0" dirty="0">
                <a:latin typeface="Wingdings2"/>
              </a:rPr>
              <a:t>y</a:t>
            </a: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4ABF7F-0B28-46DF-98A7-991F9A8C44D6}"/>
              </a:ext>
            </a:extLst>
          </p:cNvPr>
          <p:cNvSpPr txBox="1"/>
          <p:nvPr/>
        </p:nvSpPr>
        <p:spPr>
          <a:xfrm>
            <a:off x="247454" y="5403619"/>
            <a:ext cx="40802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 dirty="0">
                <a:latin typeface="TheSansMonoCondensed-Plain"/>
              </a:rPr>
              <a:t>The result is 456569 digits long.</a:t>
            </a:r>
          </a:p>
          <a:p>
            <a:pPr algn="l"/>
            <a:r>
              <a:rPr lang="en-US" sz="1400" b="0" i="0" u="none" strike="noStrike" baseline="0" dirty="0">
                <a:latin typeface="TheSansMonoCondensed-Plain"/>
              </a:rPr>
              <a:t>Took 2.844162940979004 seconds to calculate.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66432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D5C7B-3BDC-4C9E-ACB1-1A828874B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time.sleep</a:t>
            </a:r>
            <a:r>
              <a:rPr lang="en-US" dirty="0"/>
              <a:t>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DF237-C9DC-415D-B9A0-E83F4EFBC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06490"/>
          </a:xfrm>
        </p:spPr>
        <p:txBody>
          <a:bodyPr/>
          <a:lstStyle/>
          <a:p>
            <a:pPr algn="l"/>
            <a:r>
              <a:rPr lang="en-US" sz="1800" b="0" i="0" u="none" strike="noStrike" baseline="0">
                <a:latin typeface="NewBaskerville-Roman"/>
              </a:rPr>
              <a:t>If you need to pause your program for a while, call the </a:t>
            </a:r>
            <a:r>
              <a:rPr lang="en-US" sz="1800" b="0" i="0" u="none" strike="noStrike" baseline="0">
                <a:latin typeface="TheSansMonoCondensed-Plain"/>
              </a:rPr>
              <a:t>time.sleep() </a:t>
            </a:r>
            <a:r>
              <a:rPr lang="en-US" sz="1800" b="0" i="0" u="none" strike="noStrike" baseline="0">
                <a:latin typeface="NewBaskerville-Roman"/>
              </a:rPr>
              <a:t>function</a:t>
            </a:r>
            <a:r>
              <a:rPr lang="tr-TR" sz="1800" b="0" i="0" u="none" strike="noStrike" baseline="0">
                <a:latin typeface="NewBaskerville-Roman"/>
              </a:rPr>
              <a:t> </a:t>
            </a:r>
            <a:r>
              <a:rPr lang="en-US" sz="1800" b="0" i="0" u="none" strike="noStrike" baseline="0">
                <a:latin typeface="NewBaskerville-Roman"/>
              </a:rPr>
              <a:t>and pass it the number of seconds you want your program to stay paused.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64E529-C6F1-4055-B9AD-6C1595215C65}"/>
              </a:ext>
            </a:extLst>
          </p:cNvPr>
          <p:cNvSpPr txBox="1"/>
          <p:nvPr/>
        </p:nvSpPr>
        <p:spPr>
          <a:xfrm>
            <a:off x="1711751" y="2561400"/>
            <a:ext cx="47864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baseline="0" dirty="0">
                <a:latin typeface="TheSansMonoCondensed-Bold"/>
              </a:rPr>
              <a:t>import time</a:t>
            </a:r>
            <a:endParaRPr lang="tr-TR" sz="1800" b="1" i="0" u="none" strike="noStrike" baseline="0" dirty="0">
              <a:latin typeface="TheSansMonoCondensed-Bold"/>
            </a:endParaRPr>
          </a:p>
          <a:p>
            <a:pPr algn="l"/>
            <a:r>
              <a:rPr lang="en-US" sz="1800" b="1" i="0" u="none" strike="noStrike" baseline="0" dirty="0">
                <a:latin typeface="TheSansMonoCondensed-Bold"/>
              </a:rPr>
              <a:t>for </a:t>
            </a:r>
            <a:r>
              <a:rPr lang="en-US" sz="1800" b="1" i="0" u="none" strike="noStrike" baseline="0" dirty="0" err="1">
                <a:latin typeface="TheSansMonoCondensed-Bold"/>
              </a:rPr>
              <a:t>i</a:t>
            </a:r>
            <a:r>
              <a:rPr lang="en-US" sz="1800" b="1" i="0" u="none" strike="noStrike" baseline="0" dirty="0">
                <a:latin typeface="TheSansMonoCondensed-Bold"/>
              </a:rPr>
              <a:t> in range(3):</a:t>
            </a:r>
          </a:p>
          <a:p>
            <a:pPr algn="l"/>
            <a:r>
              <a:rPr lang="en-US" sz="1800" b="0" i="0" u="none" strike="noStrike" baseline="0" dirty="0">
                <a:latin typeface="Wingdings2"/>
              </a:rPr>
              <a:t>u </a:t>
            </a:r>
            <a:r>
              <a:rPr lang="en-US" sz="1800" b="1" i="0" u="none" strike="noStrike" baseline="0" dirty="0">
                <a:latin typeface="TheSansMonoCondensed-Bold"/>
              </a:rPr>
              <a:t>print('Tick')</a:t>
            </a:r>
          </a:p>
          <a:p>
            <a:pPr algn="l"/>
            <a:r>
              <a:rPr lang="en-US" sz="1800" b="0" i="0" u="none" strike="noStrike" baseline="0" dirty="0">
                <a:latin typeface="Wingdings2"/>
              </a:rPr>
              <a:t>v </a:t>
            </a:r>
            <a:r>
              <a:rPr lang="en-US" sz="1800" b="1" i="0" u="none" strike="noStrike" baseline="0" dirty="0" err="1">
                <a:latin typeface="TheSansMonoCondensed-Bold"/>
              </a:rPr>
              <a:t>time.sleep</a:t>
            </a:r>
            <a:r>
              <a:rPr lang="en-US" sz="1800" b="1" i="0" u="none" strike="noStrike" baseline="0" dirty="0">
                <a:latin typeface="TheSansMonoCondensed-Bold"/>
              </a:rPr>
              <a:t>(1)</a:t>
            </a:r>
          </a:p>
          <a:p>
            <a:pPr algn="l"/>
            <a:r>
              <a:rPr lang="en-US" sz="1800" b="0" i="0" u="none" strike="noStrike" baseline="0" dirty="0">
                <a:latin typeface="Wingdings2"/>
              </a:rPr>
              <a:t>w </a:t>
            </a:r>
            <a:r>
              <a:rPr lang="en-US" sz="1800" b="1" i="0" u="none" strike="noStrike" baseline="0" dirty="0">
                <a:latin typeface="TheSansMonoCondensed-Bold"/>
              </a:rPr>
              <a:t>print('Tock')</a:t>
            </a:r>
          </a:p>
          <a:p>
            <a:pPr algn="l"/>
            <a:r>
              <a:rPr lang="en-US" sz="1800" b="0" i="0" u="none" strike="noStrike" baseline="0" dirty="0">
                <a:latin typeface="Wingdings2"/>
              </a:rPr>
              <a:t>x </a:t>
            </a:r>
            <a:r>
              <a:rPr lang="en-US" sz="1800" b="1" i="0" u="none" strike="noStrike" baseline="0" dirty="0" err="1">
                <a:latin typeface="TheSansMonoCondensed-Bold"/>
              </a:rPr>
              <a:t>time.sleep</a:t>
            </a:r>
            <a:r>
              <a:rPr lang="en-US" sz="1800" b="1" i="0" u="none" strike="noStrike" baseline="0" dirty="0">
                <a:latin typeface="TheSansMonoCondensed-Bold"/>
              </a:rPr>
              <a:t>(1)</a:t>
            </a:r>
            <a:endParaRPr lang="tr-TR" sz="1800" b="1" i="0" u="none" strike="noStrike" baseline="0" dirty="0">
              <a:latin typeface="TheSansMonoCondensed-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D56FE9-12F5-460B-B249-8468A339E8E5}"/>
              </a:ext>
            </a:extLst>
          </p:cNvPr>
          <p:cNvSpPr txBox="1"/>
          <p:nvPr/>
        </p:nvSpPr>
        <p:spPr>
          <a:xfrm>
            <a:off x="7211505" y="2671560"/>
            <a:ext cx="32687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TheSansMonoCondensed-Plain"/>
              </a:rPr>
              <a:t>Tick</a:t>
            </a:r>
          </a:p>
          <a:p>
            <a:pPr algn="l"/>
            <a:r>
              <a:rPr lang="en-US" sz="1800" b="0" i="0" u="none" strike="noStrike" baseline="0" dirty="0">
                <a:latin typeface="TheSansMonoCondensed-Plain"/>
              </a:rPr>
              <a:t>Tock</a:t>
            </a:r>
          </a:p>
          <a:p>
            <a:pPr algn="l"/>
            <a:r>
              <a:rPr lang="en-US" sz="1800" b="0" i="0" u="none" strike="noStrike" baseline="0" dirty="0">
                <a:latin typeface="TheSansMonoCondensed-Plain"/>
              </a:rPr>
              <a:t>Tick</a:t>
            </a:r>
          </a:p>
          <a:p>
            <a:pPr algn="l"/>
            <a:r>
              <a:rPr lang="en-US" sz="1800" b="0" i="0" u="none" strike="noStrike" baseline="0" dirty="0">
                <a:latin typeface="TheSansMonoCondensed-Plain"/>
              </a:rPr>
              <a:t>Tock</a:t>
            </a:r>
          </a:p>
          <a:p>
            <a:pPr algn="l"/>
            <a:r>
              <a:rPr lang="en-US" sz="1800" b="0" i="0" u="none" strike="noStrike" baseline="0" dirty="0">
                <a:latin typeface="TheSansMonoCondensed-Plain"/>
              </a:rPr>
              <a:t>Tick</a:t>
            </a:r>
          </a:p>
          <a:p>
            <a:pPr algn="l"/>
            <a:r>
              <a:rPr lang="en-US" sz="1800" b="0" i="0" u="none" strike="noStrike" baseline="0" dirty="0">
                <a:latin typeface="TheSansMonoCondensed-Plain"/>
              </a:rPr>
              <a:t>Tock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A8B5E4-D658-4CAC-B2EF-C959B6DA17D5}"/>
              </a:ext>
            </a:extLst>
          </p:cNvPr>
          <p:cNvSpPr txBox="1"/>
          <p:nvPr/>
        </p:nvSpPr>
        <p:spPr>
          <a:xfrm>
            <a:off x="1711751" y="4738549"/>
            <a:ext cx="60944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NewBaskerville-Roman"/>
              </a:rPr>
              <a:t>The </a:t>
            </a:r>
            <a:r>
              <a:rPr lang="en-US" sz="1400" b="0" i="0" u="none" strike="noStrike" baseline="0" dirty="0">
                <a:latin typeface="TheSansMonoCondensed-Plain"/>
              </a:rPr>
              <a:t>for </a:t>
            </a:r>
            <a:r>
              <a:rPr lang="en-US" sz="1800" b="0" i="0" u="none" strike="noStrike" baseline="0" dirty="0">
                <a:latin typeface="NewBaskerville-Roman"/>
              </a:rPr>
              <a:t>loop will print </a:t>
            </a:r>
            <a:r>
              <a:rPr lang="en-US" sz="1400" b="0" i="0" u="none" strike="noStrike" baseline="0" dirty="0">
                <a:latin typeface="TheSansMonoCondensed-Plain"/>
              </a:rPr>
              <a:t>Tick </a:t>
            </a:r>
            <a:r>
              <a:rPr lang="en-US" sz="1800" b="0" i="0" u="none" strike="noStrike" baseline="0" dirty="0">
                <a:latin typeface="Wingdings2"/>
              </a:rPr>
              <a:t>u</a:t>
            </a:r>
            <a:r>
              <a:rPr lang="en-US" sz="1800" b="0" i="0" u="none" strike="noStrike" baseline="0" dirty="0">
                <a:latin typeface="NewBaskerville-Roman"/>
              </a:rPr>
              <a:t>, </a:t>
            </a:r>
            <a:endParaRPr lang="tr-TR" sz="1800" b="0" i="0" u="none" strike="noStrike" baseline="0" dirty="0">
              <a:latin typeface="NewBaskerville-Roman"/>
            </a:endParaRP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pause for one second </a:t>
            </a:r>
            <a:r>
              <a:rPr lang="en-US" sz="1800" b="0" i="0" u="none" strike="noStrike" baseline="0" dirty="0">
                <a:latin typeface="Wingdings2"/>
              </a:rPr>
              <a:t>v</a:t>
            </a:r>
            <a:r>
              <a:rPr lang="en-US" sz="1800" b="0" i="0" u="none" strike="noStrike" baseline="0" dirty="0">
                <a:latin typeface="NewBaskerville-Roman"/>
              </a:rPr>
              <a:t>, </a:t>
            </a:r>
            <a:endParaRPr lang="tr-TR" sz="1800" b="0" i="0" u="none" strike="noStrike" baseline="0" dirty="0">
              <a:latin typeface="NewBaskerville-Roman"/>
            </a:endParaRP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print </a:t>
            </a:r>
            <a:r>
              <a:rPr lang="en-US" sz="1400" b="0" i="0" u="none" strike="noStrike" baseline="0" dirty="0">
                <a:latin typeface="TheSansMonoCondensed-Plain"/>
              </a:rPr>
              <a:t>Tock </a:t>
            </a:r>
            <a:r>
              <a:rPr lang="en-US" sz="1800" b="0" i="0" u="none" strike="noStrike" baseline="0" dirty="0">
                <a:latin typeface="Wingdings2"/>
              </a:rPr>
              <a:t>w</a:t>
            </a:r>
            <a:r>
              <a:rPr lang="en-US" sz="1800" b="0" i="0" u="none" strike="noStrike" baseline="0" dirty="0">
                <a:latin typeface="NewBaskerville-Roman"/>
              </a:rPr>
              <a:t>,</a:t>
            </a: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pause for one second </a:t>
            </a:r>
            <a:r>
              <a:rPr lang="en-US" sz="1800" b="0" i="0" u="none" strike="noStrike" baseline="0" dirty="0">
                <a:latin typeface="Wingdings2"/>
              </a:rPr>
              <a:t>x</a:t>
            </a:r>
            <a:r>
              <a:rPr lang="en-US" sz="1800" b="0" i="0" u="none" strike="noStrike" baseline="0" dirty="0">
                <a:latin typeface="NewBaskerville-Roman"/>
              </a:rPr>
              <a:t>, </a:t>
            </a:r>
            <a:endParaRPr lang="tr-TR" sz="1800" b="0" i="0" u="none" strike="noStrike" baseline="0" dirty="0">
              <a:latin typeface="NewBaskerville-Roman"/>
            </a:endParaRP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print </a:t>
            </a:r>
            <a:r>
              <a:rPr lang="en-US" sz="1400" b="0" i="0" u="none" strike="noStrike" baseline="0" dirty="0">
                <a:latin typeface="TheSansMonoCondensed-Plain"/>
              </a:rPr>
              <a:t>Tick</a:t>
            </a:r>
            <a:r>
              <a:rPr lang="en-US" sz="1800" b="0" i="0" u="none" strike="noStrike" baseline="0" dirty="0">
                <a:latin typeface="NewBaskerville-Roman"/>
              </a:rPr>
              <a:t>, pause, </a:t>
            </a:r>
            <a:endParaRPr lang="tr-TR" sz="1800" b="0" i="0" u="none" strike="noStrike" baseline="0" dirty="0">
              <a:latin typeface="NewBaskerville-Roman"/>
            </a:endParaRP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and so on until </a:t>
            </a:r>
            <a:r>
              <a:rPr lang="en-US" sz="1400" b="0" i="0" u="none" strike="noStrike" baseline="0" dirty="0">
                <a:latin typeface="TheSansMonoCondensed-Plain"/>
              </a:rPr>
              <a:t>Tick </a:t>
            </a:r>
            <a:r>
              <a:rPr lang="en-US" sz="1800" b="0" i="0" u="none" strike="noStrike" baseline="0" dirty="0">
                <a:latin typeface="NewBaskerville-Roman"/>
              </a:rPr>
              <a:t>and </a:t>
            </a:r>
            <a:r>
              <a:rPr lang="en-US" sz="1400" b="0" i="0" u="none" strike="noStrike" baseline="0" dirty="0">
                <a:latin typeface="TheSansMonoCondensed-Plain"/>
              </a:rPr>
              <a:t>Tock </a:t>
            </a:r>
            <a:r>
              <a:rPr lang="en-US" sz="1800" b="0" i="0" u="none" strike="noStrike" baseline="0" dirty="0">
                <a:latin typeface="NewBaskerville-Roman"/>
              </a:rPr>
              <a:t>have</a:t>
            </a:r>
            <a:r>
              <a:rPr lang="tr-TR" sz="1800" b="0" i="0" u="none" strike="noStrike" baseline="0" dirty="0">
                <a:latin typeface="NewBaskerville-Roman"/>
              </a:rPr>
              <a:t> </a:t>
            </a:r>
            <a:r>
              <a:rPr lang="en-US" sz="1800" b="0" i="0" u="none" strike="noStrike" baseline="0" dirty="0">
                <a:latin typeface="NewBaskerville-Roman"/>
              </a:rPr>
              <a:t>each been printed three times.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133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E4165-15CB-429E-BA03-21B908BDB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7A2A7-D32C-4A24-894F-EBA07D30C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NewBaskerville-Roman"/>
              </a:rPr>
              <a:t>The </a:t>
            </a:r>
            <a:r>
              <a:rPr lang="en-US" sz="1800" b="0" i="0" u="none" strike="noStrike" baseline="0" dirty="0" err="1">
                <a:latin typeface="TheSansMonoCondensed-Plain"/>
              </a:rPr>
              <a:t>time.sleep</a:t>
            </a:r>
            <a:r>
              <a:rPr lang="en-US" sz="1800" b="0" i="0" u="none" strike="noStrike" baseline="0" dirty="0">
                <a:latin typeface="TheSansMonoCondensed-Plain"/>
              </a:rPr>
              <a:t>() </a:t>
            </a:r>
            <a:r>
              <a:rPr lang="en-US" sz="1800" b="0" i="0" u="none" strike="noStrike" baseline="0" dirty="0">
                <a:latin typeface="NewBaskerville-Roman"/>
              </a:rPr>
              <a:t>function will </a:t>
            </a:r>
            <a:r>
              <a:rPr lang="en-US" sz="1800" b="0" i="1" u="none" strike="noStrike" baseline="0" dirty="0">
                <a:latin typeface="NewBaskerville-Italic"/>
              </a:rPr>
              <a:t>block</a:t>
            </a:r>
            <a:r>
              <a:rPr lang="en-US" sz="1800" b="0" i="0" u="none" strike="noStrike" baseline="0" dirty="0">
                <a:latin typeface="NewBaskerville-Roman"/>
              </a:rPr>
              <a:t>—that is, it will not return and release</a:t>
            </a:r>
            <a:r>
              <a:rPr lang="tr-TR" sz="1800" b="0" i="0" u="none" strike="noStrike" baseline="0" dirty="0">
                <a:latin typeface="NewBaskerville-Roman"/>
              </a:rPr>
              <a:t> </a:t>
            </a:r>
            <a:r>
              <a:rPr lang="en-US" sz="1800" b="0" i="0" u="none" strike="noStrike" baseline="0" dirty="0">
                <a:latin typeface="NewBaskerville-Roman"/>
              </a:rPr>
              <a:t>your program to execute other code—until after the number of seconds you</a:t>
            </a:r>
            <a:r>
              <a:rPr lang="tr-TR" sz="1800" b="0" i="0" u="none" strike="noStrike" baseline="0" dirty="0">
                <a:latin typeface="NewBaskerville-Roman"/>
              </a:rPr>
              <a:t> </a:t>
            </a:r>
            <a:r>
              <a:rPr lang="en-US" sz="1800" b="0" i="0" u="none" strike="noStrike" baseline="0" dirty="0">
                <a:latin typeface="NewBaskerville-Roman"/>
              </a:rPr>
              <a:t>passed to </a:t>
            </a:r>
            <a:r>
              <a:rPr lang="en-US" sz="1800" b="0" i="0" u="none" strike="noStrike" baseline="0" dirty="0" err="1">
                <a:latin typeface="TheSansMonoCondensed-Plain"/>
              </a:rPr>
              <a:t>time.sleep</a:t>
            </a:r>
            <a:r>
              <a:rPr lang="en-US" sz="1800" b="0" i="0" u="none" strike="noStrike" baseline="0" dirty="0">
                <a:latin typeface="TheSansMonoCondensed-Plain"/>
              </a:rPr>
              <a:t>() </a:t>
            </a:r>
            <a:r>
              <a:rPr lang="en-US" sz="1800" b="0" i="0" u="none" strike="noStrike" baseline="0" dirty="0">
                <a:latin typeface="NewBaskerville-Roman"/>
              </a:rPr>
              <a:t>has elapsed. </a:t>
            </a:r>
            <a:endParaRPr lang="tr-TR" sz="1800" b="0" i="0" u="none" strike="noStrike" baseline="0" dirty="0">
              <a:latin typeface="NewBaskerville-Roman"/>
            </a:endParaRP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For example, if you enter </a:t>
            </a:r>
            <a:r>
              <a:rPr lang="en-US" sz="1800" b="0" i="0" u="none" strike="noStrike" baseline="0" dirty="0" err="1">
                <a:latin typeface="TheSansMonoCondensed-Plain"/>
              </a:rPr>
              <a:t>time.sleep</a:t>
            </a:r>
            <a:r>
              <a:rPr lang="en-US" sz="1800" b="0" i="0" u="none" strike="noStrike" baseline="0" dirty="0">
                <a:latin typeface="TheSansMonoCondensed-Plain"/>
              </a:rPr>
              <a:t>(5) </a:t>
            </a:r>
            <a:r>
              <a:rPr lang="en-US" sz="1800" b="0" i="0" u="none" strike="noStrike" baseline="0" dirty="0">
                <a:latin typeface="Wingdings2"/>
              </a:rPr>
              <a:t>y</a:t>
            </a:r>
            <a:r>
              <a:rPr lang="en-US" sz="1800" b="0" i="0" u="none" strike="noStrike" baseline="0" dirty="0">
                <a:latin typeface="NewBaskerville-Roman"/>
              </a:rPr>
              <a:t>,</a:t>
            </a:r>
            <a:r>
              <a:rPr lang="tr-TR" sz="1800" b="0" i="0" u="none" strike="noStrike" baseline="0" dirty="0">
                <a:latin typeface="NewBaskerville-Roman"/>
              </a:rPr>
              <a:t> </a:t>
            </a:r>
            <a:r>
              <a:rPr lang="en-US" sz="1800" b="0" i="0" u="none" strike="noStrike" baseline="0" dirty="0">
                <a:latin typeface="NewBaskerville-Roman"/>
              </a:rPr>
              <a:t>you’ll see that the next prompt (</a:t>
            </a:r>
            <a:r>
              <a:rPr lang="en-US" sz="1800" b="0" i="0" u="none" strike="noStrike" baseline="0" dirty="0">
                <a:latin typeface="TheSansMonoCondensed-Plain"/>
              </a:rPr>
              <a:t>&gt;&gt;&gt;</a:t>
            </a:r>
            <a:r>
              <a:rPr lang="en-US" sz="1800" b="0" i="0" u="none" strike="noStrike" baseline="0" dirty="0">
                <a:latin typeface="NewBaskerville-Roman"/>
              </a:rPr>
              <a:t>) doesn’t appear until five seconds have</a:t>
            </a:r>
            <a:r>
              <a:rPr lang="tr-TR" sz="1800" b="0" i="0" u="none" strike="noStrike" baseline="0" dirty="0">
                <a:latin typeface="NewBaskerville-Roman"/>
              </a:rPr>
              <a:t> </a:t>
            </a:r>
            <a:r>
              <a:rPr lang="en-US" sz="1800" b="0" i="0" u="none" strike="noStrike" baseline="0" dirty="0">
                <a:latin typeface="NewBaskerville-Roman"/>
              </a:rPr>
              <a:t>passed.</a:t>
            </a:r>
            <a:endParaRPr lang="tr-TR" sz="1800" b="0" i="0" u="none" strike="noStrike" baseline="0" dirty="0">
              <a:latin typeface="NewBaskerville-Roman"/>
            </a:endParaRP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Be aware that pressing </a:t>
            </a:r>
            <a:r>
              <a:rPr lang="en-US" sz="1800" b="0" i="0" u="none" strike="noStrike" baseline="0" dirty="0">
                <a:latin typeface="NewBaskerville-Roman-SC750"/>
              </a:rPr>
              <a:t>ctrl</a:t>
            </a:r>
            <a:r>
              <a:rPr lang="en-US" sz="1800" b="0" i="0" u="none" strike="noStrike" baseline="0" dirty="0">
                <a:latin typeface="NewBaskerville-Roman"/>
              </a:rPr>
              <a:t>-C will not interrupt </a:t>
            </a:r>
            <a:r>
              <a:rPr lang="en-US" sz="1800" b="0" i="0" u="none" strike="noStrike" baseline="0" dirty="0" err="1">
                <a:latin typeface="TheSansMonoCondensed-Plain"/>
              </a:rPr>
              <a:t>time.sleep</a:t>
            </a:r>
            <a:r>
              <a:rPr lang="en-US" sz="1800" b="0" i="0" u="none" strike="noStrike" baseline="0" dirty="0">
                <a:latin typeface="TheSansMonoCondensed-Plain"/>
              </a:rPr>
              <a:t>()</a:t>
            </a:r>
            <a:r>
              <a:rPr lang="tr-TR" sz="1800" dirty="0">
                <a:latin typeface="NewBaskerville-Roman"/>
              </a:rPr>
              <a:t> </a:t>
            </a:r>
            <a:r>
              <a:rPr lang="en-US" sz="1800" b="0" i="0" u="none" strike="noStrike" baseline="0" dirty="0">
                <a:latin typeface="NewBaskerville-Roman"/>
              </a:rPr>
              <a:t>calls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76C306-7448-4847-BD5A-7D7F8F642D12}"/>
              </a:ext>
            </a:extLst>
          </p:cNvPr>
          <p:cNvSpPr txBox="1"/>
          <p:nvPr/>
        </p:nvSpPr>
        <p:spPr>
          <a:xfrm>
            <a:off x="1199562" y="350121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 err="1">
                <a:latin typeface="TheSansMonoCondensed-Bold"/>
              </a:rPr>
              <a:t>time.sleep</a:t>
            </a:r>
            <a:r>
              <a:rPr lang="en-US" sz="1800" b="1" i="0" u="none" strike="noStrike" baseline="0" dirty="0">
                <a:latin typeface="TheSansMonoCondensed-Bold"/>
              </a:rPr>
              <a:t>(5)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427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6029E-012C-4B2A-A0F2-8C963E472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Rounding Numbers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F1122-A4F6-44A6-9310-6BC8BEC92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662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16358-8765-4CC0-9697-E2E302129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Rounding</a:t>
            </a:r>
            <a:r>
              <a:rPr lang="tr-TR" dirty="0"/>
              <a:t> </a:t>
            </a:r>
            <a:r>
              <a:rPr lang="tr-TR" dirty="0" err="1"/>
              <a:t>Numbers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91E68-3840-4E81-8F37-EBBBD6736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working with times, you’ll often encounter float values with many</a:t>
            </a:r>
            <a:r>
              <a:rPr lang="tr-TR" dirty="0"/>
              <a:t> </a:t>
            </a:r>
            <a:r>
              <a:rPr lang="en-US" dirty="0"/>
              <a:t>digits after the decimal. </a:t>
            </a:r>
            <a:endParaRPr lang="tr-TR" dirty="0"/>
          </a:p>
          <a:p>
            <a:r>
              <a:rPr lang="en-US" dirty="0"/>
              <a:t>To make these values easier to work with, you can</a:t>
            </a:r>
            <a:r>
              <a:rPr lang="tr-TR" dirty="0"/>
              <a:t> </a:t>
            </a:r>
            <a:r>
              <a:rPr lang="en-US" dirty="0"/>
              <a:t>shorten them with Python’s built-in round() function, which rounds a float</a:t>
            </a:r>
            <a:r>
              <a:rPr lang="tr-TR" dirty="0"/>
              <a:t> </a:t>
            </a:r>
            <a:r>
              <a:rPr lang="en-US" dirty="0"/>
              <a:t>to the precision you specify. </a:t>
            </a:r>
            <a:endParaRPr lang="tr-TR" dirty="0"/>
          </a:p>
          <a:p>
            <a:r>
              <a:rPr lang="en-US" dirty="0"/>
              <a:t>Just pass in the number you want to round, plus</a:t>
            </a:r>
            <a:r>
              <a:rPr lang="tr-TR" dirty="0"/>
              <a:t> </a:t>
            </a:r>
            <a:r>
              <a:rPr lang="en-US" dirty="0"/>
              <a:t>an optional second argument representing how many digits after the decimal</a:t>
            </a:r>
            <a:r>
              <a:rPr lang="tr-TR" dirty="0"/>
              <a:t> </a:t>
            </a:r>
            <a:r>
              <a:rPr lang="en-US" dirty="0"/>
              <a:t>point you want to round it to. </a:t>
            </a:r>
            <a:endParaRPr lang="tr-TR" dirty="0"/>
          </a:p>
          <a:p>
            <a:r>
              <a:rPr lang="en-US" dirty="0"/>
              <a:t>If you omit the second argument, round()</a:t>
            </a:r>
            <a:r>
              <a:rPr lang="tr-TR" dirty="0"/>
              <a:t> </a:t>
            </a:r>
            <a:r>
              <a:rPr lang="en-US" dirty="0"/>
              <a:t>rounds your number to the nearest whole integer.</a:t>
            </a:r>
          </a:p>
        </p:txBody>
      </p:sp>
    </p:spTree>
    <p:extLst>
      <p:ext uri="{BB962C8B-B14F-4D97-AF65-F5344CB8AC3E}">
        <p14:creationId xmlns:p14="http://schemas.microsoft.com/office/powerpoint/2010/main" val="256987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D75B4-052D-4D28-8C67-C96318F02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Using </a:t>
            </a:r>
            <a:r>
              <a:rPr lang="tr-TR" dirty="0" err="1"/>
              <a:t>round</a:t>
            </a:r>
            <a:r>
              <a:rPr lang="tr-TR" dirty="0"/>
              <a:t>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0BB16-829E-4B21-8C48-107B69B15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574303" cy="4351338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latin typeface="TheSansMonoCondensed-Bold"/>
              </a:rPr>
              <a:t>import time</a:t>
            </a:r>
            <a:endParaRPr lang="tr-TR" sz="1800" b="1" dirty="0">
              <a:latin typeface="TheSansMonoCondensed-Bold"/>
            </a:endParaRPr>
          </a:p>
          <a:p>
            <a:pPr marL="0" indent="0">
              <a:buNone/>
            </a:pPr>
            <a:r>
              <a:rPr lang="tr-TR" sz="1800" b="1" i="0" u="none" strike="noStrike" baseline="0" dirty="0">
                <a:latin typeface="TheSansMonoCondensed-Bold"/>
              </a:rPr>
              <a:t>n</a:t>
            </a:r>
            <a:r>
              <a:rPr lang="en-US" sz="1800" b="1" i="0" u="none" strike="noStrike" baseline="0" dirty="0">
                <a:latin typeface="TheSansMonoCondensed-Bold"/>
              </a:rPr>
              <a:t>ow = </a:t>
            </a:r>
            <a:r>
              <a:rPr lang="en-US" sz="1800" b="1" i="0" u="none" strike="noStrike" baseline="0" dirty="0" err="1">
                <a:latin typeface="TheSansMonoCondensed-Bold"/>
              </a:rPr>
              <a:t>time.time</a:t>
            </a:r>
            <a:r>
              <a:rPr lang="en-US" sz="1800" b="1" i="0" u="none" strike="noStrike" baseline="0" dirty="0">
                <a:latin typeface="TheSansMonoCondensed-Bold"/>
              </a:rPr>
              <a:t>()</a:t>
            </a:r>
            <a:endParaRPr lang="tr-TR" sz="1800" b="1" i="0" u="none" strike="noStrike" baseline="0" dirty="0">
              <a:latin typeface="TheSansMonoCondensed-Bold"/>
            </a:endParaRPr>
          </a:p>
          <a:p>
            <a:pPr marL="0" indent="0">
              <a:buNone/>
            </a:pPr>
            <a:r>
              <a:rPr lang="tr-TR" sz="1800" b="1" dirty="0" err="1">
                <a:latin typeface="TheSansMonoCondensed-Bold"/>
              </a:rPr>
              <a:t>print</a:t>
            </a:r>
            <a:r>
              <a:rPr lang="tr-TR" sz="1800" b="1" dirty="0">
                <a:latin typeface="TheSansMonoCondensed-Bold"/>
              </a:rPr>
              <a:t>(</a:t>
            </a:r>
            <a:r>
              <a:rPr lang="en-US" sz="1800" b="1" i="0" u="none" strike="noStrike" baseline="0" dirty="0">
                <a:latin typeface="TheSansMonoCondensed-Bold"/>
              </a:rPr>
              <a:t>now</a:t>
            </a:r>
            <a:r>
              <a:rPr lang="tr-TR" sz="1800" b="1" dirty="0">
                <a:latin typeface="TheSansMonoCondensed-Bold"/>
              </a:rPr>
              <a:t>)</a:t>
            </a:r>
          </a:p>
          <a:p>
            <a:pPr marL="0" indent="0">
              <a:buNone/>
            </a:pPr>
            <a:r>
              <a:rPr lang="tr-TR" sz="1800" b="1" dirty="0" err="1">
                <a:latin typeface="TheSansMonoCondensed-Bold"/>
              </a:rPr>
              <a:t>print</a:t>
            </a:r>
            <a:r>
              <a:rPr lang="tr-TR" sz="1800" b="1" dirty="0">
                <a:latin typeface="TheSansMonoCondensed-Bold"/>
              </a:rPr>
              <a:t>( </a:t>
            </a:r>
            <a:r>
              <a:rPr lang="en-US" sz="1800" b="1" i="0" u="none" strike="noStrike" baseline="0" dirty="0">
                <a:latin typeface="TheSansMonoCondensed-Bold"/>
              </a:rPr>
              <a:t>round(now, 2)</a:t>
            </a:r>
            <a:r>
              <a:rPr lang="tr-TR" sz="1800" b="1" i="0" u="none" strike="noStrike" baseline="0" dirty="0">
                <a:latin typeface="TheSansMonoCondensed-Bold"/>
              </a:rPr>
              <a:t>)</a:t>
            </a:r>
          </a:p>
          <a:p>
            <a:pPr marL="0" indent="0">
              <a:buNone/>
            </a:pPr>
            <a:r>
              <a:rPr lang="en-US" sz="1800" b="1" dirty="0">
                <a:latin typeface="TheSansMonoCondensed-Bold"/>
              </a:rPr>
              <a:t>print( round(now, 2))</a:t>
            </a:r>
            <a:endParaRPr lang="tr-TR" sz="1800" b="1" dirty="0">
              <a:latin typeface="TheSansMonoCondensed-Bold"/>
            </a:endParaRPr>
          </a:p>
          <a:p>
            <a:pPr marL="0" indent="0">
              <a:buNone/>
            </a:pPr>
            <a:r>
              <a:rPr lang="tr-TR" sz="1800" b="1" i="0" u="none" strike="noStrike" baseline="0" dirty="0" err="1">
                <a:latin typeface="TheSansMonoCondensed-Bold"/>
              </a:rPr>
              <a:t>print</a:t>
            </a:r>
            <a:r>
              <a:rPr lang="tr-TR" sz="1800" b="1" i="0" u="none" strike="noStrike" baseline="0" dirty="0">
                <a:latin typeface="TheSansMonoCondensed-Bold"/>
              </a:rPr>
              <a:t>(</a:t>
            </a:r>
            <a:r>
              <a:rPr lang="en-US" sz="1800" b="1" i="0" u="none" strike="noStrike" baseline="0" dirty="0">
                <a:latin typeface="TheSansMonoCondensed-Bold"/>
              </a:rPr>
              <a:t>round(now)</a:t>
            </a:r>
            <a:r>
              <a:rPr lang="tr-TR" sz="1800" b="1" i="0" u="none" strike="noStrike" baseline="0" dirty="0">
                <a:latin typeface="TheSansMonoCondensed-Bold"/>
              </a:rPr>
              <a:t>)</a:t>
            </a:r>
            <a:endParaRPr lang="en-US" sz="1800" b="1" dirty="0">
              <a:latin typeface="TheSansMonoCondensed-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03F3ED-ADB5-4F8E-ACD7-7D9E98927427}"/>
              </a:ext>
            </a:extLst>
          </p:cNvPr>
          <p:cNvSpPr txBox="1"/>
          <p:nvPr/>
        </p:nvSpPr>
        <p:spPr>
          <a:xfrm>
            <a:off x="3509129" y="2483118"/>
            <a:ext cx="2693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TheSansMonoCondensed-Plain"/>
              </a:rPr>
              <a:t>1425064108.017826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FFBF1F-D53F-4E1A-A541-7E9D6FD57AE4}"/>
              </a:ext>
            </a:extLst>
          </p:cNvPr>
          <p:cNvSpPr txBox="1"/>
          <p:nvPr/>
        </p:nvSpPr>
        <p:spPr>
          <a:xfrm>
            <a:off x="3509129" y="2852450"/>
            <a:ext cx="2938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TheSansMonoCondensed-Plain"/>
              </a:rPr>
              <a:t>1425064108.02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D84892-404C-4B13-B2FA-A602E50774A2}"/>
              </a:ext>
            </a:extLst>
          </p:cNvPr>
          <p:cNvSpPr txBox="1"/>
          <p:nvPr/>
        </p:nvSpPr>
        <p:spPr>
          <a:xfrm>
            <a:off x="3509129" y="3266887"/>
            <a:ext cx="2017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TheSansMonoCondensed-Plain"/>
              </a:rPr>
              <a:t>1425064108.0178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C47A18-E78C-4BA9-926E-F6C20C4787F6}"/>
              </a:ext>
            </a:extLst>
          </p:cNvPr>
          <p:cNvSpPr txBox="1"/>
          <p:nvPr/>
        </p:nvSpPr>
        <p:spPr>
          <a:xfrm>
            <a:off x="3509915" y="3690751"/>
            <a:ext cx="26049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TheSansMonoCondensed-Plain"/>
              </a:rPr>
              <a:t>1425064108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63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D75B4-052D-4D28-8C67-C96318F02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Project: </a:t>
            </a:r>
            <a:r>
              <a:rPr lang="tr-TR" dirty="0" err="1"/>
              <a:t>Super</a:t>
            </a:r>
            <a:r>
              <a:rPr lang="tr-TR" dirty="0"/>
              <a:t> </a:t>
            </a:r>
            <a:r>
              <a:rPr lang="tr-TR" dirty="0" err="1"/>
              <a:t>Stopwatch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0BB16-829E-4B21-8C48-107B69B15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097652" cy="4351338"/>
          </a:xfrm>
        </p:spPr>
        <p:txBody>
          <a:bodyPr/>
          <a:lstStyle/>
          <a:p>
            <a:pPr algn="l"/>
            <a:r>
              <a:rPr lang="en-US" sz="1800" b="0" i="0" u="none" strike="noStrike" baseline="0" dirty="0">
                <a:latin typeface="NewBaskerville-Roman"/>
              </a:rPr>
              <a:t>Say you want to track how much time you spend on boring tasks you haven’t</a:t>
            </a:r>
            <a:r>
              <a:rPr lang="tr-TR" sz="1800" b="0" i="0" u="none" strike="noStrike" baseline="0" dirty="0">
                <a:latin typeface="NewBaskerville-Roman"/>
              </a:rPr>
              <a:t> </a:t>
            </a:r>
            <a:r>
              <a:rPr lang="en-US" sz="1800" b="0" i="0" u="none" strike="noStrike" baseline="0" dirty="0">
                <a:latin typeface="NewBaskerville-Roman"/>
              </a:rPr>
              <a:t>automated yet. </a:t>
            </a:r>
            <a:endParaRPr lang="tr-TR" sz="1800" b="0" i="0" u="none" strike="noStrike" baseline="0" dirty="0">
              <a:latin typeface="NewBaskerville-Roman"/>
            </a:endParaRP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You don’t have a physical stopwatch, and it’s surprisingly difficult</a:t>
            </a:r>
            <a:r>
              <a:rPr lang="tr-TR" sz="1800" b="0" i="0" u="none" strike="noStrike" baseline="0" dirty="0">
                <a:latin typeface="NewBaskerville-Roman"/>
              </a:rPr>
              <a:t> </a:t>
            </a:r>
            <a:r>
              <a:rPr lang="en-US" sz="1800" b="0" i="0" u="none" strike="noStrike" baseline="0" dirty="0">
                <a:latin typeface="NewBaskerville-Roman"/>
              </a:rPr>
              <a:t>to find a free stopwatch app for your laptop or smartphone that isn’t</a:t>
            </a:r>
            <a:r>
              <a:rPr lang="tr-TR" sz="1800" b="0" i="0" u="none" strike="noStrike" baseline="0" dirty="0">
                <a:latin typeface="NewBaskerville-Roman"/>
              </a:rPr>
              <a:t> </a:t>
            </a:r>
            <a:r>
              <a:rPr lang="en-US" sz="1800" b="0" i="0" u="none" strike="noStrike" baseline="0" dirty="0">
                <a:latin typeface="NewBaskerville-Roman"/>
              </a:rPr>
              <a:t>covered in ads and doesn’t send a copy of your browser history to marketers.</a:t>
            </a: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You can write a simple stopwatch program</a:t>
            </a:r>
            <a:r>
              <a:rPr lang="tr-TR" sz="1800" b="0" i="0" u="none" strike="noStrike" baseline="0" dirty="0">
                <a:latin typeface="NewBaskerville-Roman"/>
              </a:rPr>
              <a:t> </a:t>
            </a:r>
            <a:r>
              <a:rPr lang="en-US" sz="1800" b="0" i="0" u="none" strike="noStrike" baseline="0" dirty="0">
                <a:latin typeface="NewBaskerville-Roman"/>
              </a:rPr>
              <a:t>yourself in Python.</a:t>
            </a:r>
            <a:endParaRPr lang="en-US" sz="1800" b="1" dirty="0">
              <a:latin typeface="TheSansMonoCondensed-Bold"/>
            </a:endParaRPr>
          </a:p>
        </p:txBody>
      </p:sp>
    </p:spTree>
    <p:extLst>
      <p:ext uri="{BB962C8B-B14F-4D97-AF65-F5344CB8AC3E}">
        <p14:creationId xmlns:p14="http://schemas.microsoft.com/office/powerpoint/2010/main" val="234263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D75B4-052D-4D28-8C67-C96318F02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Project: stopwatch.py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0BB16-829E-4B21-8C48-107B69B15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097652" cy="4351338"/>
          </a:xfrm>
        </p:spPr>
        <p:txBody>
          <a:bodyPr>
            <a:normAutofit/>
          </a:bodyPr>
          <a:lstStyle/>
          <a:p>
            <a:pPr algn="l"/>
            <a:r>
              <a:rPr lang="en-US" sz="1800" b="0" i="0" u="none" strike="noStrike" baseline="0" dirty="0">
                <a:latin typeface="NewBaskerville-Roman"/>
              </a:rPr>
              <a:t>At a high level, here’s what your program will do:</a:t>
            </a: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Track the amount of time elapsed between presses of the </a:t>
            </a:r>
            <a:r>
              <a:rPr lang="en-US" sz="1800" b="0" i="0" u="none" strike="noStrike" baseline="0" dirty="0">
                <a:latin typeface="NewBaskerville-Roman-SC750"/>
              </a:rPr>
              <a:t>enter </a:t>
            </a:r>
            <a:r>
              <a:rPr lang="en-US" sz="1800" b="0" i="0" u="none" strike="noStrike" baseline="0" dirty="0">
                <a:latin typeface="NewBaskerville-Roman"/>
              </a:rPr>
              <a:t>key,</a:t>
            </a: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with each key press starting a new “lap” on the timer.</a:t>
            </a: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Print the lap number, total time, and lap time.</a:t>
            </a:r>
            <a:endParaRPr lang="tr-TR" sz="1800" b="0" i="0" u="none" strike="noStrike" baseline="0" dirty="0">
              <a:latin typeface="NewBaskerville-Roman"/>
            </a:endParaRPr>
          </a:p>
          <a:p>
            <a:pPr algn="l"/>
            <a:endParaRPr lang="tr-TR" sz="1800" dirty="0">
              <a:latin typeface="NewBaskerville-Roman"/>
            </a:endParaRP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This means your code will need to do the following:</a:t>
            </a:r>
            <a:endParaRPr lang="tr-TR" sz="1800" b="0" i="0" u="none" strike="noStrike" baseline="0" dirty="0">
              <a:latin typeface="NewBaskerville-Roman"/>
            </a:endParaRP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Find the current time by calling </a:t>
            </a:r>
            <a:r>
              <a:rPr lang="en-US" sz="1800" b="0" i="0" u="none" strike="noStrike" baseline="0" dirty="0" err="1">
                <a:latin typeface="TheSansMonoCondensed-Plain"/>
              </a:rPr>
              <a:t>time.time</a:t>
            </a:r>
            <a:r>
              <a:rPr lang="en-US" sz="1800" b="0" i="0" u="none" strike="noStrike" baseline="0" dirty="0">
                <a:latin typeface="TheSansMonoCondensed-Plain"/>
              </a:rPr>
              <a:t>() </a:t>
            </a:r>
            <a:r>
              <a:rPr lang="en-US" sz="1800" b="0" i="0" u="none" strike="noStrike" baseline="0" dirty="0">
                <a:latin typeface="NewBaskerville-Roman"/>
              </a:rPr>
              <a:t>and store it as a timestamp</a:t>
            </a: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at the start of the program, as well as at the start of each lap.</a:t>
            </a: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Keep a lap counter and increment it every time the user presses </a:t>
            </a:r>
            <a:r>
              <a:rPr lang="en-US" sz="1800" b="0" i="0" u="none" strike="noStrike" baseline="0" dirty="0">
                <a:latin typeface="NewBaskerville-Roman-SC750"/>
              </a:rPr>
              <a:t>enter</a:t>
            </a:r>
            <a:r>
              <a:rPr lang="en-US" sz="1800" b="0" i="0" u="none" strike="noStrike" baseline="0" dirty="0">
                <a:latin typeface="NewBaskerville-Roman"/>
              </a:rPr>
              <a:t>.</a:t>
            </a: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Calculate the elapsed time by subtracting timestamps.</a:t>
            </a: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Handle the </a:t>
            </a:r>
            <a:r>
              <a:rPr lang="en-US" sz="1800" b="0" i="0" u="none" strike="noStrike" baseline="0" dirty="0" err="1">
                <a:latin typeface="TheSansMonoCondensed-Plain"/>
              </a:rPr>
              <a:t>KeyboardInterrupt</a:t>
            </a:r>
            <a:r>
              <a:rPr lang="en-US" sz="1800" b="0" i="0" u="none" strike="noStrike" baseline="0" dirty="0">
                <a:latin typeface="TheSansMonoCondensed-Plain"/>
              </a:rPr>
              <a:t> </a:t>
            </a:r>
            <a:r>
              <a:rPr lang="en-US" sz="1800" b="0" i="0" u="none" strike="noStrike" baseline="0" dirty="0">
                <a:latin typeface="NewBaskerville-Roman"/>
              </a:rPr>
              <a:t>exception so the user can press </a:t>
            </a:r>
            <a:r>
              <a:rPr lang="en-US" sz="1800" b="0" i="0" u="none" strike="noStrike" baseline="0" dirty="0">
                <a:latin typeface="NewBaskerville-Roman-SC750"/>
              </a:rPr>
              <a:t>ctrl</a:t>
            </a:r>
            <a:r>
              <a:rPr lang="en-US" sz="1800" b="0" i="0" u="none" strike="noStrike" baseline="0" dirty="0">
                <a:latin typeface="NewBaskerville-Roman"/>
              </a:rPr>
              <a:t>-C</a:t>
            </a:r>
            <a:r>
              <a:rPr lang="tr-TR" sz="1800" b="0" i="0" u="none" strike="noStrike" baseline="0" dirty="0">
                <a:latin typeface="NewBaskerville-Roman"/>
              </a:rPr>
              <a:t> </a:t>
            </a:r>
            <a:r>
              <a:rPr lang="en-US" sz="1800" b="0" i="0" u="none" strike="noStrike" baseline="0" dirty="0">
                <a:latin typeface="NewBaskerville-Roman"/>
              </a:rPr>
              <a:t>to quit.</a:t>
            </a:r>
            <a:endParaRPr lang="en-US" sz="1800" b="1" dirty="0">
              <a:latin typeface="TheSansMonoCondensed-Bold"/>
            </a:endParaRPr>
          </a:p>
        </p:txBody>
      </p:sp>
    </p:spTree>
    <p:extLst>
      <p:ext uri="{BB962C8B-B14F-4D97-AF65-F5344CB8AC3E}">
        <p14:creationId xmlns:p14="http://schemas.microsoft.com/office/powerpoint/2010/main" val="1384336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D75B4-052D-4D28-8C67-C96318F02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stopwatch.py: </a:t>
            </a:r>
            <a:r>
              <a:rPr lang="en-US" sz="1800" b="1" i="1" u="none" strike="noStrike" baseline="0" dirty="0">
                <a:latin typeface="Futura-CondensedBoldOblique"/>
              </a:rPr>
              <a:t>Step 1: Set Up the Program to Track Times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0BB16-829E-4B21-8C48-107B69B15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097652" cy="1603375"/>
          </a:xfrm>
        </p:spPr>
        <p:txBody>
          <a:bodyPr>
            <a:normAutofit/>
          </a:bodyPr>
          <a:lstStyle/>
          <a:p>
            <a:pPr algn="l"/>
            <a:r>
              <a:rPr lang="en-US" sz="1800" b="0" i="0" u="none" strike="noStrike" baseline="0" dirty="0">
                <a:latin typeface="NewBaskerville-Roman"/>
              </a:rPr>
              <a:t>The stopwatch program will need to use the current time, so you’ll want to</a:t>
            </a: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import the </a:t>
            </a:r>
            <a:r>
              <a:rPr lang="en-US" sz="1800" b="0" i="0" u="none" strike="noStrike" baseline="0" dirty="0">
                <a:latin typeface="TheSansMonoCondensed-Plain"/>
              </a:rPr>
              <a:t>time </a:t>
            </a:r>
            <a:r>
              <a:rPr lang="en-US" sz="1800" b="0" i="0" u="none" strike="noStrike" baseline="0" dirty="0">
                <a:latin typeface="NewBaskerville-Roman"/>
              </a:rPr>
              <a:t>module. Your program should also print some brief instructions</a:t>
            </a: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to the user before calling </a:t>
            </a:r>
            <a:r>
              <a:rPr lang="en-US" sz="1800" b="0" i="0" u="none" strike="noStrike" baseline="0" dirty="0">
                <a:latin typeface="TheSansMonoCondensed-Plain"/>
              </a:rPr>
              <a:t>input()</a:t>
            </a:r>
            <a:r>
              <a:rPr lang="en-US" sz="1800" b="0" i="0" u="none" strike="noStrike" baseline="0" dirty="0">
                <a:latin typeface="NewBaskerville-Roman"/>
              </a:rPr>
              <a:t>, so the timer can begin after the user</a:t>
            </a: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presses </a:t>
            </a:r>
            <a:r>
              <a:rPr lang="en-US" sz="1800" b="0" i="0" u="none" strike="noStrike" baseline="0" dirty="0">
                <a:latin typeface="NewBaskerville-Roman-SC750"/>
              </a:rPr>
              <a:t>enter</a:t>
            </a:r>
            <a:r>
              <a:rPr lang="en-US" sz="1800" b="0" i="0" u="none" strike="noStrike" baseline="0" dirty="0">
                <a:latin typeface="NewBaskerville-Roman"/>
              </a:rPr>
              <a:t>. Then the code will start tracking lap times.</a:t>
            </a:r>
            <a:endParaRPr lang="tr-TR" sz="1800" b="0" i="0" u="none" strike="noStrike" baseline="0" dirty="0">
              <a:latin typeface="NewBaskerville-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A12DEC-63F5-4431-9697-6372D65ECF5B}"/>
              </a:ext>
            </a:extLst>
          </p:cNvPr>
          <p:cNvSpPr txBox="1"/>
          <p:nvPr/>
        </p:nvSpPr>
        <p:spPr>
          <a:xfrm>
            <a:off x="1011026" y="3563937"/>
            <a:ext cx="770876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u="none" strike="noStrike" baseline="0" dirty="0">
                <a:latin typeface="TheSansMonoCondensed-Plain"/>
              </a:rPr>
              <a:t>#! python3</a:t>
            </a:r>
          </a:p>
          <a:p>
            <a:pPr algn="l"/>
            <a:r>
              <a:rPr lang="en-US" sz="1600" b="0" i="0" u="none" strike="noStrike" baseline="0" dirty="0">
                <a:latin typeface="TheSansMonoCondensed-Plain"/>
              </a:rPr>
              <a:t># stopwatch.py - A simple stopwatch program.</a:t>
            </a:r>
          </a:p>
          <a:p>
            <a:pPr algn="l"/>
            <a:r>
              <a:rPr lang="en-US" sz="1600" b="0" i="0" u="none" strike="noStrike" baseline="0" dirty="0">
                <a:latin typeface="TheSansMonoCondensed-Plain"/>
              </a:rPr>
              <a:t>import time</a:t>
            </a:r>
          </a:p>
          <a:p>
            <a:pPr algn="l"/>
            <a:r>
              <a:rPr lang="en-US" sz="1600" b="0" i="0" u="none" strike="noStrike" baseline="0" dirty="0">
                <a:latin typeface="TheSansMonoCondensed-Plain"/>
              </a:rPr>
              <a:t># Display the program's instructions.</a:t>
            </a:r>
          </a:p>
          <a:p>
            <a:pPr algn="l"/>
            <a:r>
              <a:rPr lang="en-US" sz="1600" b="0" i="0" u="none" strike="noStrike" baseline="0" dirty="0">
                <a:latin typeface="TheSansMonoCondensed-Plain"/>
              </a:rPr>
              <a:t>print('Press ENTER to begin. Afterwards, press ENTER to "click" the stopwatch.</a:t>
            </a:r>
          </a:p>
          <a:p>
            <a:pPr algn="l"/>
            <a:r>
              <a:rPr lang="en-US" sz="1600" b="0" i="0" u="none" strike="noStrike" baseline="0" dirty="0">
                <a:latin typeface="TheSansMonoCondensed-Plain"/>
              </a:rPr>
              <a:t>Press Ctrl-C to quit.')</a:t>
            </a:r>
          </a:p>
          <a:p>
            <a:pPr algn="l"/>
            <a:r>
              <a:rPr lang="en-US" sz="1600" b="0" i="0" u="none" strike="noStrike" baseline="0" dirty="0">
                <a:latin typeface="TheSansMonoCondensed-Plain"/>
              </a:rPr>
              <a:t>input() # press Enter to begin</a:t>
            </a:r>
          </a:p>
          <a:p>
            <a:pPr algn="l"/>
            <a:r>
              <a:rPr lang="en-US" sz="1600" b="0" i="0" u="none" strike="noStrike" baseline="0" dirty="0">
                <a:latin typeface="TheSansMonoCondensed-Plain"/>
              </a:rPr>
              <a:t>print('Started.')</a:t>
            </a:r>
          </a:p>
          <a:p>
            <a:pPr algn="l"/>
            <a:r>
              <a:rPr lang="en-US" sz="1600" b="0" i="0" u="none" strike="noStrike" baseline="0" dirty="0" err="1">
                <a:latin typeface="TheSansMonoCondensed-Plain"/>
              </a:rPr>
              <a:t>startTime</a:t>
            </a:r>
            <a:r>
              <a:rPr lang="en-US" sz="1600" b="0" i="0" u="none" strike="noStrike" baseline="0" dirty="0">
                <a:latin typeface="TheSansMonoCondensed-Plain"/>
              </a:rPr>
              <a:t> = </a:t>
            </a:r>
            <a:r>
              <a:rPr lang="en-US" sz="1600" b="0" i="0" u="none" strike="noStrike" baseline="0" dirty="0" err="1">
                <a:latin typeface="TheSansMonoCondensed-Plain"/>
              </a:rPr>
              <a:t>time.time</a:t>
            </a:r>
            <a:r>
              <a:rPr lang="en-US" sz="1600" b="0" i="0" u="none" strike="noStrike" baseline="0" dirty="0">
                <a:latin typeface="TheSansMonoCondensed-Plain"/>
              </a:rPr>
              <a:t>() # get the first lap's start time</a:t>
            </a:r>
          </a:p>
          <a:p>
            <a:pPr algn="l"/>
            <a:r>
              <a:rPr lang="en-US" sz="1600" b="0" i="0" u="none" strike="noStrike" baseline="0" dirty="0" err="1">
                <a:latin typeface="TheSansMonoCondensed-Plain"/>
              </a:rPr>
              <a:t>lastTime</a:t>
            </a:r>
            <a:r>
              <a:rPr lang="en-US" sz="1600" b="0" i="0" u="none" strike="noStrike" baseline="0" dirty="0">
                <a:latin typeface="TheSansMonoCondensed-Plain"/>
              </a:rPr>
              <a:t> = </a:t>
            </a:r>
            <a:r>
              <a:rPr lang="en-US" sz="1600" b="0" i="0" u="none" strike="noStrike" baseline="0" dirty="0" err="1">
                <a:latin typeface="TheSansMonoCondensed-Plain"/>
              </a:rPr>
              <a:t>startTime</a:t>
            </a:r>
            <a:endParaRPr lang="en-US" sz="1600" b="0" i="0" u="none" strike="noStrike" baseline="0" dirty="0">
              <a:latin typeface="TheSansMonoCondensed-Plain"/>
            </a:endParaRPr>
          </a:p>
          <a:p>
            <a:pPr algn="l"/>
            <a:r>
              <a:rPr lang="en-US" sz="1600" b="0" i="0" u="none" strike="noStrike" baseline="0" dirty="0" err="1">
                <a:latin typeface="TheSansMonoCondensed-Plain"/>
              </a:rPr>
              <a:t>lapNum</a:t>
            </a:r>
            <a:r>
              <a:rPr lang="en-US" sz="1600" b="0" i="0" u="none" strike="noStrike" baseline="0" dirty="0">
                <a:latin typeface="TheSansMonoCondensed-Plain"/>
              </a:rPr>
              <a:t> = 1</a:t>
            </a:r>
          </a:p>
          <a:p>
            <a:pPr algn="l"/>
            <a:r>
              <a:rPr lang="en-US" sz="1600" b="0" i="0" u="none" strike="noStrike" baseline="0" dirty="0">
                <a:latin typeface="TheSansMonoCondensed-Plain"/>
              </a:rPr>
              <a:t># TODO: Start tracking the lap times.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3AB4B5-AAF2-4C25-81D1-CA8FD0FF1F79}"/>
              </a:ext>
            </a:extLst>
          </p:cNvPr>
          <p:cNvSpPr txBox="1"/>
          <p:nvPr/>
        </p:nvSpPr>
        <p:spPr>
          <a:xfrm>
            <a:off x="7956223" y="3563937"/>
            <a:ext cx="35806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display the instructions, </a:t>
            </a:r>
            <a:endParaRPr lang="tr-TR" dirty="0"/>
          </a:p>
          <a:p>
            <a:r>
              <a:rPr lang="en-US" dirty="0"/>
              <a:t>start the</a:t>
            </a:r>
            <a:r>
              <a:rPr lang="tr-TR" dirty="0"/>
              <a:t> </a:t>
            </a:r>
            <a:r>
              <a:rPr lang="en-US" dirty="0"/>
              <a:t>first lap, </a:t>
            </a:r>
            <a:endParaRPr lang="tr-TR" dirty="0"/>
          </a:p>
          <a:p>
            <a:r>
              <a:rPr lang="en-US" dirty="0"/>
              <a:t>note the time set our lap count to 1.</a:t>
            </a:r>
          </a:p>
        </p:txBody>
      </p:sp>
    </p:spTree>
    <p:extLst>
      <p:ext uri="{BB962C8B-B14F-4D97-AF65-F5344CB8AC3E}">
        <p14:creationId xmlns:p14="http://schemas.microsoft.com/office/powerpoint/2010/main" val="2447762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D75B4-052D-4D28-8C67-C96318F02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stopwatch.py: </a:t>
            </a:r>
            <a:r>
              <a:rPr lang="en-US" sz="1800" b="1" i="1" u="none" strike="noStrike" baseline="0" dirty="0">
                <a:latin typeface="Futura-CondensedBoldOblique"/>
              </a:rPr>
              <a:t>Step 2: Track and Print Lap Times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0BB16-829E-4B21-8C48-107B69B15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897"/>
            <a:ext cx="9097652" cy="1040098"/>
          </a:xfrm>
        </p:spPr>
        <p:txBody>
          <a:bodyPr>
            <a:normAutofit/>
          </a:bodyPr>
          <a:lstStyle/>
          <a:p>
            <a:pPr algn="l"/>
            <a:r>
              <a:rPr lang="en-US" sz="1800" b="0" i="0" u="none" strike="noStrike" baseline="0" dirty="0">
                <a:latin typeface="NewBaskerville-Roman"/>
              </a:rPr>
              <a:t>Now let’s write the code to start each new lap, calculate how long the previous</a:t>
            </a:r>
            <a:r>
              <a:rPr lang="tr-TR" sz="1800" b="0" i="0" u="none" strike="noStrike" baseline="0" dirty="0">
                <a:latin typeface="NewBaskerville-Roman"/>
              </a:rPr>
              <a:t> </a:t>
            </a:r>
            <a:r>
              <a:rPr lang="en-US" sz="1800" b="0" i="0" u="none" strike="noStrike" baseline="0" dirty="0">
                <a:latin typeface="NewBaskerville-Roman"/>
              </a:rPr>
              <a:t>lap took, and calculate the total time elapsed since starting the stopwatch.</a:t>
            </a: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We’ll display the lap time and total time and increase the lap count</a:t>
            </a:r>
            <a:r>
              <a:rPr lang="tr-TR" sz="1800" b="0" i="0" u="none" strike="noStrike" baseline="0" dirty="0">
                <a:latin typeface="NewBaskerville-Roman"/>
              </a:rPr>
              <a:t> </a:t>
            </a:r>
            <a:r>
              <a:rPr lang="en-US" sz="1800" b="0" i="0" u="none" strike="noStrike" baseline="0" dirty="0">
                <a:latin typeface="NewBaskerville-Roman"/>
              </a:rPr>
              <a:t>for each new lap.</a:t>
            </a:r>
            <a:endParaRPr lang="tr-TR" sz="1800" b="0" i="0" u="none" strike="noStrike" baseline="0" dirty="0">
              <a:latin typeface="NewBaskerville-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A12DEC-63F5-4431-9697-6372D65ECF5B}"/>
              </a:ext>
            </a:extLst>
          </p:cNvPr>
          <p:cNvSpPr txBox="1"/>
          <p:nvPr/>
        </p:nvSpPr>
        <p:spPr>
          <a:xfrm>
            <a:off x="358219" y="2367312"/>
            <a:ext cx="621226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0" i="0" u="none" strike="noStrike" baseline="0" dirty="0">
                <a:latin typeface="TheSansMonoCondensed-Plain"/>
              </a:rPr>
              <a:t>#! python3</a:t>
            </a:r>
          </a:p>
          <a:p>
            <a:pPr algn="l"/>
            <a:r>
              <a:rPr lang="en-US" sz="1600" b="0" i="0" u="none" strike="noStrike" baseline="0" dirty="0">
                <a:latin typeface="TheSansMonoCondensed-Plain"/>
              </a:rPr>
              <a:t>try:</a:t>
            </a:r>
          </a:p>
          <a:p>
            <a:pPr algn="l"/>
            <a:r>
              <a:rPr lang="en-US" sz="1600" b="0" i="0" u="none" strike="noStrike" baseline="0" dirty="0">
                <a:latin typeface="TheSansMonoCondensed-Plain"/>
              </a:rPr>
              <a:t>v while True:</a:t>
            </a:r>
          </a:p>
          <a:p>
            <a:pPr algn="l"/>
            <a:r>
              <a:rPr lang="en-US" sz="1600" b="0" i="0" u="none" strike="noStrike" baseline="0" dirty="0">
                <a:latin typeface="TheSansMonoCondensed-Plain"/>
              </a:rPr>
              <a:t>input()</a:t>
            </a:r>
          </a:p>
          <a:p>
            <a:pPr algn="l"/>
            <a:r>
              <a:rPr lang="en-US" sz="1600" b="0" i="0" u="none" strike="noStrike" baseline="0" dirty="0">
                <a:latin typeface="TheSansMonoCondensed-Plain"/>
              </a:rPr>
              <a:t>w </a:t>
            </a:r>
            <a:r>
              <a:rPr lang="en-US" sz="1600" b="0" i="0" u="none" strike="noStrike" baseline="0" dirty="0" err="1">
                <a:latin typeface="TheSansMonoCondensed-Plain"/>
              </a:rPr>
              <a:t>lapTime</a:t>
            </a:r>
            <a:r>
              <a:rPr lang="en-US" sz="1600" b="0" i="0" u="none" strike="noStrike" baseline="0" dirty="0">
                <a:latin typeface="TheSansMonoCondensed-Plain"/>
              </a:rPr>
              <a:t> = round(</a:t>
            </a:r>
            <a:r>
              <a:rPr lang="en-US" sz="1600" b="0" i="0" u="none" strike="noStrike" baseline="0" dirty="0" err="1">
                <a:latin typeface="TheSansMonoCondensed-Plain"/>
              </a:rPr>
              <a:t>time.time</a:t>
            </a:r>
            <a:r>
              <a:rPr lang="en-US" sz="1600" b="0" i="0" u="none" strike="noStrike" baseline="0" dirty="0">
                <a:latin typeface="TheSansMonoCondensed-Plain"/>
              </a:rPr>
              <a:t>() - </a:t>
            </a:r>
            <a:r>
              <a:rPr lang="en-US" sz="1600" b="0" i="0" u="none" strike="noStrike" baseline="0" dirty="0" err="1">
                <a:latin typeface="TheSansMonoCondensed-Plain"/>
              </a:rPr>
              <a:t>lastTime</a:t>
            </a:r>
            <a:r>
              <a:rPr lang="en-US" sz="1600" b="0" i="0" u="none" strike="noStrike" baseline="0" dirty="0">
                <a:latin typeface="TheSansMonoCondensed-Plain"/>
              </a:rPr>
              <a:t>, 2)</a:t>
            </a:r>
          </a:p>
          <a:p>
            <a:pPr algn="l"/>
            <a:r>
              <a:rPr lang="en-US" sz="1600" b="0" i="0" u="none" strike="noStrike" baseline="0" dirty="0">
                <a:latin typeface="TheSansMonoCondensed-Plain"/>
              </a:rPr>
              <a:t>x </a:t>
            </a:r>
            <a:r>
              <a:rPr lang="en-US" sz="1600" b="0" i="0" u="none" strike="noStrike" baseline="0" dirty="0" err="1">
                <a:latin typeface="TheSansMonoCondensed-Plain"/>
              </a:rPr>
              <a:t>totalTime</a:t>
            </a:r>
            <a:r>
              <a:rPr lang="en-US" sz="1600" b="0" i="0" u="none" strike="noStrike" baseline="0" dirty="0">
                <a:latin typeface="TheSansMonoCondensed-Plain"/>
              </a:rPr>
              <a:t> = round(</a:t>
            </a:r>
            <a:r>
              <a:rPr lang="en-US" sz="1600" b="0" i="0" u="none" strike="noStrike" baseline="0" dirty="0" err="1">
                <a:latin typeface="TheSansMonoCondensed-Plain"/>
              </a:rPr>
              <a:t>time.time</a:t>
            </a:r>
            <a:r>
              <a:rPr lang="en-US" sz="1600" b="0" i="0" u="none" strike="noStrike" baseline="0" dirty="0">
                <a:latin typeface="TheSansMonoCondensed-Plain"/>
              </a:rPr>
              <a:t>() - </a:t>
            </a:r>
            <a:r>
              <a:rPr lang="en-US" sz="1600" b="0" i="0" u="none" strike="noStrike" baseline="0" dirty="0" err="1">
                <a:latin typeface="TheSansMonoCondensed-Plain"/>
              </a:rPr>
              <a:t>startTime</a:t>
            </a:r>
            <a:r>
              <a:rPr lang="en-US" sz="1600" b="0" i="0" u="none" strike="noStrike" baseline="0" dirty="0">
                <a:latin typeface="TheSansMonoCondensed-Plain"/>
              </a:rPr>
              <a:t>, 2)</a:t>
            </a:r>
          </a:p>
          <a:p>
            <a:pPr algn="l"/>
            <a:r>
              <a:rPr lang="en-US" sz="1600" b="0" i="0" u="none" strike="noStrike" baseline="0" dirty="0">
                <a:latin typeface="TheSansMonoCondensed-Plain"/>
              </a:rPr>
              <a:t>y print('Lap #%s: %s (%s)' % (</a:t>
            </a:r>
            <a:r>
              <a:rPr lang="en-US" sz="1600" b="0" i="0" u="none" strike="noStrike" baseline="0" dirty="0" err="1">
                <a:latin typeface="TheSansMonoCondensed-Plain"/>
              </a:rPr>
              <a:t>lapNum</a:t>
            </a:r>
            <a:r>
              <a:rPr lang="en-US" sz="1600" b="0" i="0" u="none" strike="noStrike" baseline="0" dirty="0">
                <a:latin typeface="TheSansMonoCondensed-Plain"/>
              </a:rPr>
              <a:t>, </a:t>
            </a:r>
            <a:r>
              <a:rPr lang="en-US" sz="1600" b="0" i="0" u="none" strike="noStrike" baseline="0" dirty="0" err="1">
                <a:latin typeface="TheSansMonoCondensed-Plain"/>
              </a:rPr>
              <a:t>totalTime</a:t>
            </a:r>
            <a:r>
              <a:rPr lang="en-US" sz="1600" b="0" i="0" u="none" strike="noStrike" baseline="0" dirty="0">
                <a:latin typeface="TheSansMonoCondensed-Plain"/>
              </a:rPr>
              <a:t>, </a:t>
            </a:r>
            <a:r>
              <a:rPr lang="en-US" sz="1600" b="0" i="0" u="none" strike="noStrike" baseline="0" dirty="0" err="1">
                <a:latin typeface="TheSansMonoCondensed-Plain"/>
              </a:rPr>
              <a:t>lapTime</a:t>
            </a:r>
            <a:r>
              <a:rPr lang="en-US" sz="1600" b="0" i="0" u="none" strike="noStrike" baseline="0" dirty="0">
                <a:latin typeface="TheSansMonoCondensed-Plain"/>
              </a:rPr>
              <a:t>), end='')</a:t>
            </a:r>
          </a:p>
          <a:p>
            <a:pPr algn="l"/>
            <a:r>
              <a:rPr lang="en-US" sz="1600" b="0" i="0" u="none" strike="noStrike" baseline="0" dirty="0" err="1">
                <a:latin typeface="TheSansMonoCondensed-Plain"/>
              </a:rPr>
              <a:t>lapNum</a:t>
            </a:r>
            <a:r>
              <a:rPr lang="en-US" sz="1600" b="0" i="0" u="none" strike="noStrike" baseline="0" dirty="0">
                <a:latin typeface="TheSansMonoCondensed-Plain"/>
              </a:rPr>
              <a:t> += 1</a:t>
            </a:r>
          </a:p>
          <a:p>
            <a:pPr algn="l"/>
            <a:r>
              <a:rPr lang="en-US" sz="1600" b="0" i="0" u="none" strike="noStrike" baseline="0" dirty="0" err="1">
                <a:latin typeface="TheSansMonoCondensed-Plain"/>
              </a:rPr>
              <a:t>lastTime</a:t>
            </a:r>
            <a:r>
              <a:rPr lang="en-US" sz="1600" b="0" i="0" u="none" strike="noStrike" baseline="0" dirty="0">
                <a:latin typeface="TheSansMonoCondensed-Plain"/>
              </a:rPr>
              <a:t> = </a:t>
            </a:r>
            <a:r>
              <a:rPr lang="en-US" sz="1600" b="0" i="0" u="none" strike="noStrike" baseline="0" dirty="0" err="1">
                <a:latin typeface="TheSansMonoCondensed-Plain"/>
              </a:rPr>
              <a:t>time.time</a:t>
            </a:r>
            <a:r>
              <a:rPr lang="en-US" sz="1600" b="0" i="0" u="none" strike="noStrike" baseline="0" dirty="0">
                <a:latin typeface="TheSansMonoCondensed-Plain"/>
              </a:rPr>
              <a:t>() # reset the last lap time</a:t>
            </a:r>
          </a:p>
          <a:p>
            <a:pPr algn="l"/>
            <a:r>
              <a:rPr lang="en-US" sz="1600" b="0" i="0" u="none" strike="noStrike" baseline="0" dirty="0">
                <a:latin typeface="TheSansMonoCondensed-Plain"/>
              </a:rPr>
              <a:t>z except </a:t>
            </a:r>
            <a:r>
              <a:rPr lang="en-US" sz="1600" b="0" i="0" u="none" strike="noStrike" baseline="0" dirty="0" err="1">
                <a:latin typeface="TheSansMonoCondensed-Plain"/>
              </a:rPr>
              <a:t>KeyboardInterrupt</a:t>
            </a:r>
            <a:r>
              <a:rPr lang="en-US" sz="1600" b="0" i="0" u="none" strike="noStrike" baseline="0" dirty="0">
                <a:latin typeface="TheSansMonoCondensed-Plain"/>
              </a:rPr>
              <a:t>:</a:t>
            </a:r>
          </a:p>
          <a:p>
            <a:pPr algn="l"/>
            <a:r>
              <a:rPr lang="en-US" sz="1600" b="0" i="0" u="none" strike="noStrike" baseline="0" dirty="0">
                <a:latin typeface="TheSansMonoCondensed-Plain"/>
              </a:rPr>
              <a:t># Handle the Ctrl-C exception to keep its error message from displaying.</a:t>
            </a:r>
          </a:p>
          <a:p>
            <a:pPr algn="l"/>
            <a:r>
              <a:rPr lang="en-US" sz="1600" b="0" i="0" u="none" strike="noStrike" baseline="0" dirty="0">
                <a:latin typeface="TheSansMonoCondensed-Plain"/>
              </a:rPr>
              <a:t>print('\</a:t>
            </a:r>
            <a:r>
              <a:rPr lang="en-US" sz="1600" b="0" i="0" u="none" strike="noStrike" baseline="0" dirty="0" err="1">
                <a:latin typeface="TheSansMonoCondensed-Plain"/>
              </a:rPr>
              <a:t>nDone</a:t>
            </a:r>
            <a:r>
              <a:rPr lang="en-US" sz="1600" b="0" i="0" u="none" strike="noStrike" baseline="0" dirty="0">
                <a:latin typeface="TheSansMonoCondensed-Plain"/>
              </a:rPr>
              <a:t>.')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BFFE2E-FD9B-4AFF-9E6D-C33ACA738AF9}"/>
              </a:ext>
            </a:extLst>
          </p:cNvPr>
          <p:cNvSpPr txBox="1"/>
          <p:nvPr/>
        </p:nvSpPr>
        <p:spPr>
          <a:xfrm>
            <a:off x="6570482" y="2318995"/>
            <a:ext cx="526329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u="none" strike="noStrike" baseline="0" dirty="0">
                <a:latin typeface="NewBaskerville-Roman"/>
              </a:rPr>
              <a:t>If the user presses </a:t>
            </a:r>
            <a:r>
              <a:rPr lang="en-US" sz="1200" b="0" i="0" u="none" strike="noStrike" baseline="0" dirty="0">
                <a:latin typeface="NewBaskerville-Roman-SC750"/>
              </a:rPr>
              <a:t>ctrl</a:t>
            </a:r>
            <a:r>
              <a:rPr lang="en-US" sz="1200" b="0" i="0" u="none" strike="noStrike" baseline="0" dirty="0">
                <a:latin typeface="NewBaskerville-Roman"/>
              </a:rPr>
              <a:t>-C to stop the stopwatch, the </a:t>
            </a:r>
            <a:r>
              <a:rPr lang="en-US" sz="1200" b="0" i="0" u="none" strike="noStrike" baseline="0" dirty="0" err="1">
                <a:latin typeface="TheSansMonoCondensed-Plain"/>
              </a:rPr>
              <a:t>KeyboardInterrupt</a:t>
            </a:r>
            <a:endParaRPr lang="en-US" sz="1200" b="0" i="0" u="none" strike="noStrike" baseline="0" dirty="0">
              <a:latin typeface="TheSansMonoCondensed-Plain"/>
            </a:endParaRPr>
          </a:p>
          <a:p>
            <a:pPr algn="l"/>
            <a:r>
              <a:rPr lang="en-US" sz="1200" b="0" i="0" u="none" strike="noStrike" baseline="0" dirty="0">
                <a:latin typeface="NewBaskerville-Roman"/>
              </a:rPr>
              <a:t>exception will be raised, and the program will crash if its execution is not</a:t>
            </a:r>
          </a:p>
          <a:p>
            <a:pPr algn="l"/>
            <a:r>
              <a:rPr lang="en-US" sz="1200" b="0" i="0" u="none" strike="noStrike" baseline="0" dirty="0">
                <a:latin typeface="NewBaskerville-Roman"/>
              </a:rPr>
              <a:t>a </a:t>
            </a:r>
            <a:r>
              <a:rPr lang="en-US" sz="1200" b="0" i="0" u="none" strike="noStrike" baseline="0" dirty="0">
                <a:latin typeface="TheSansMonoCondensed-Plain"/>
              </a:rPr>
              <a:t>try </a:t>
            </a:r>
            <a:r>
              <a:rPr lang="en-US" sz="1200" b="0" i="0" u="none" strike="noStrike" baseline="0" dirty="0">
                <a:latin typeface="NewBaskerville-Roman"/>
              </a:rPr>
              <a:t>statement. </a:t>
            </a:r>
            <a:endParaRPr lang="tr-TR" sz="1200" b="0" i="0" u="none" strike="noStrike" baseline="0" dirty="0">
              <a:latin typeface="NewBaskerville-Roman"/>
            </a:endParaRPr>
          </a:p>
          <a:p>
            <a:pPr algn="l"/>
            <a:r>
              <a:rPr lang="en-US" sz="1200" b="0" i="0" u="none" strike="noStrike" baseline="0" dirty="0">
                <a:latin typeface="NewBaskerville-Roman"/>
              </a:rPr>
              <a:t>To prevent crashing, we wrap this part of the program in a</a:t>
            </a:r>
            <a:r>
              <a:rPr lang="tr-TR" sz="1200" b="0" i="0" u="none" strike="noStrike" baseline="0" dirty="0">
                <a:latin typeface="NewBaskerville-Roman"/>
              </a:rPr>
              <a:t> </a:t>
            </a:r>
            <a:r>
              <a:rPr lang="en-US" sz="1200" b="0" i="0" u="none" strike="noStrike" baseline="0" dirty="0">
                <a:latin typeface="TheSansMonoCondensed-Plain"/>
              </a:rPr>
              <a:t>try </a:t>
            </a:r>
            <a:r>
              <a:rPr lang="en-US" sz="1200" b="0" i="0" u="none" strike="noStrike" baseline="0" dirty="0">
                <a:latin typeface="NewBaskerville-Roman"/>
              </a:rPr>
              <a:t>statement </a:t>
            </a:r>
            <a:r>
              <a:rPr lang="en-US" sz="1200" b="0" i="0" u="none" strike="noStrike" baseline="0" dirty="0">
                <a:latin typeface="Wingdings2"/>
              </a:rPr>
              <a:t>u</a:t>
            </a:r>
            <a:r>
              <a:rPr lang="en-US" sz="1200" b="0" i="0" u="none" strike="noStrike" baseline="0" dirty="0">
                <a:latin typeface="NewBaskerville-Roman"/>
              </a:rPr>
              <a:t>. We’ll handle the exception in the </a:t>
            </a:r>
            <a:r>
              <a:rPr lang="en-US" sz="1200" b="0" i="0" u="none" strike="noStrike" baseline="0" dirty="0">
                <a:latin typeface="TheSansMonoCondensed-Plain"/>
              </a:rPr>
              <a:t>except </a:t>
            </a:r>
            <a:r>
              <a:rPr lang="en-US" sz="1200" b="0" i="0" u="none" strike="noStrike" baseline="0" dirty="0">
                <a:latin typeface="NewBaskerville-Roman"/>
              </a:rPr>
              <a:t>clause </a:t>
            </a:r>
            <a:r>
              <a:rPr lang="en-US" sz="1200" b="0" i="0" u="none" strike="noStrike" baseline="0" dirty="0">
                <a:latin typeface="Wingdings2"/>
              </a:rPr>
              <a:t>z</a:t>
            </a:r>
            <a:r>
              <a:rPr lang="en-US" sz="1200" b="0" i="0" u="none" strike="noStrike" baseline="0" dirty="0">
                <a:latin typeface="NewBaskerville-Roman"/>
              </a:rPr>
              <a:t>, </a:t>
            </a:r>
            <a:endParaRPr lang="tr-TR" sz="1200" b="0" i="0" u="none" strike="noStrike" baseline="0" dirty="0">
              <a:latin typeface="NewBaskerville-Roman"/>
            </a:endParaRPr>
          </a:p>
          <a:p>
            <a:pPr algn="l"/>
            <a:r>
              <a:rPr lang="en-US" sz="1200" b="0" i="0" u="none" strike="noStrike" baseline="0" dirty="0">
                <a:latin typeface="NewBaskerville-Roman"/>
              </a:rPr>
              <a:t>so when</a:t>
            </a:r>
            <a:r>
              <a:rPr lang="tr-TR" sz="1200" b="0" i="0" u="none" strike="noStrike" baseline="0" dirty="0">
                <a:latin typeface="NewBaskerville-Roman"/>
              </a:rPr>
              <a:t> </a:t>
            </a:r>
            <a:r>
              <a:rPr lang="en-US" sz="1200" b="0" i="0" u="none" strike="noStrike" baseline="0" dirty="0">
                <a:latin typeface="NewBaskerville-Roman-SC750"/>
              </a:rPr>
              <a:t>ctrl</a:t>
            </a:r>
            <a:r>
              <a:rPr lang="en-US" sz="1200" b="0" i="0" u="none" strike="noStrike" baseline="0" dirty="0">
                <a:latin typeface="NewBaskerville-Roman"/>
              </a:rPr>
              <a:t>-C is pressed and the exception is raised, the program execution moves</a:t>
            </a:r>
            <a:r>
              <a:rPr lang="tr-TR" sz="1200" b="0" i="0" u="none" strike="noStrike" baseline="0" dirty="0">
                <a:latin typeface="NewBaskerville-Roman"/>
              </a:rPr>
              <a:t> </a:t>
            </a:r>
            <a:r>
              <a:rPr lang="en-US" sz="1200" b="0" i="0" u="none" strike="noStrike" baseline="0" dirty="0">
                <a:latin typeface="NewBaskerville-Roman"/>
              </a:rPr>
              <a:t>to the except clause to print </a:t>
            </a:r>
            <a:r>
              <a:rPr lang="en-US" sz="1200" b="0" i="0" u="none" strike="noStrike" baseline="0" dirty="0">
                <a:latin typeface="TheSansMonoCondensed-Plain"/>
              </a:rPr>
              <a:t>Done</a:t>
            </a:r>
            <a:r>
              <a:rPr lang="en-US" sz="1200" b="0" i="0" u="none" strike="noStrike" baseline="0" dirty="0">
                <a:latin typeface="NewBaskerville-Roman"/>
              </a:rPr>
              <a:t>, instead of the </a:t>
            </a:r>
            <a:r>
              <a:rPr lang="en-US" sz="1200" b="0" i="0" u="none" strike="noStrike" baseline="0" dirty="0" err="1">
                <a:latin typeface="TheSansMonoCondensed-Plain"/>
              </a:rPr>
              <a:t>KeyboardInterrupt</a:t>
            </a:r>
            <a:r>
              <a:rPr lang="en-US" sz="1200" b="0" i="0" u="none" strike="noStrike" baseline="0" dirty="0">
                <a:latin typeface="TheSansMonoCondensed-Plain"/>
              </a:rPr>
              <a:t> </a:t>
            </a:r>
            <a:r>
              <a:rPr lang="en-US" sz="1200" b="0" i="0" u="none" strike="noStrike" baseline="0" dirty="0">
                <a:latin typeface="NewBaskerville-Roman"/>
              </a:rPr>
              <a:t>error message.</a:t>
            </a:r>
          </a:p>
          <a:p>
            <a:pPr algn="l"/>
            <a:r>
              <a:rPr lang="en-US" sz="1200" b="0" i="0" u="none" strike="noStrike" baseline="0" dirty="0">
                <a:latin typeface="NewBaskerville-Roman"/>
              </a:rPr>
              <a:t>Until this happens, the execution is inside an infinite loop </a:t>
            </a:r>
            <a:r>
              <a:rPr lang="en-US" sz="1200" b="0" i="0" u="none" strike="noStrike" baseline="0" dirty="0">
                <a:latin typeface="Wingdings2"/>
              </a:rPr>
              <a:t>v </a:t>
            </a:r>
            <a:r>
              <a:rPr lang="en-US" sz="1200" b="0" i="0" u="none" strike="noStrike" baseline="0" dirty="0">
                <a:latin typeface="NewBaskerville-Roman"/>
              </a:rPr>
              <a:t>that calls</a:t>
            </a:r>
          </a:p>
          <a:p>
            <a:pPr algn="l"/>
            <a:r>
              <a:rPr lang="en-US" sz="1200" b="0" i="0" u="none" strike="noStrike" baseline="0" dirty="0">
                <a:latin typeface="TheSansMonoCondensed-Plain"/>
              </a:rPr>
              <a:t>input() </a:t>
            </a:r>
            <a:r>
              <a:rPr lang="en-US" sz="1200" b="0" i="0" u="none" strike="noStrike" baseline="0" dirty="0">
                <a:latin typeface="NewBaskerville-Roman"/>
              </a:rPr>
              <a:t>and waits until the user presses </a:t>
            </a:r>
            <a:r>
              <a:rPr lang="en-US" sz="1200" b="0" i="0" u="none" strike="noStrike" baseline="0" dirty="0">
                <a:latin typeface="NewBaskerville-Roman-SC750"/>
              </a:rPr>
              <a:t>enter </a:t>
            </a:r>
            <a:r>
              <a:rPr lang="en-US" sz="1200" b="0" i="0" u="none" strike="noStrike" baseline="0" dirty="0">
                <a:latin typeface="NewBaskerville-Roman"/>
              </a:rPr>
              <a:t>to end a lap. </a:t>
            </a:r>
            <a:endParaRPr lang="tr-TR" sz="1200" b="0" i="0" u="none" strike="noStrike" baseline="0" dirty="0">
              <a:latin typeface="NewBaskerville-Roman"/>
            </a:endParaRPr>
          </a:p>
          <a:p>
            <a:pPr algn="l"/>
            <a:r>
              <a:rPr lang="en-US" sz="1200" b="0" i="0" u="none" strike="noStrike" baseline="0" dirty="0">
                <a:latin typeface="NewBaskerville-Roman"/>
              </a:rPr>
              <a:t>When a lap ends,</a:t>
            </a:r>
            <a:r>
              <a:rPr lang="tr-TR" sz="1200" b="0" i="0" u="none" strike="noStrike" baseline="0" dirty="0">
                <a:latin typeface="NewBaskerville-Roman"/>
              </a:rPr>
              <a:t> </a:t>
            </a:r>
            <a:r>
              <a:rPr lang="en-US" sz="1200" b="0" i="0" u="none" strike="noStrike" baseline="0" dirty="0">
                <a:latin typeface="NewBaskerville-Roman"/>
              </a:rPr>
              <a:t>we calculate how long the lap took by subtracting the start time of the lap,</a:t>
            </a:r>
            <a:r>
              <a:rPr lang="tr-TR" sz="1200" b="0" i="0" u="none" strike="noStrike" baseline="0" dirty="0">
                <a:latin typeface="NewBaskerville-Roman"/>
              </a:rPr>
              <a:t> </a:t>
            </a:r>
            <a:r>
              <a:rPr lang="en-US" sz="1200" b="0" i="0" u="none" strike="noStrike" baseline="0" dirty="0" err="1">
                <a:latin typeface="TheSansMonoCondensed-Plain"/>
              </a:rPr>
              <a:t>lastTime</a:t>
            </a:r>
            <a:r>
              <a:rPr lang="en-US" sz="1200" b="0" i="0" u="none" strike="noStrike" baseline="0" dirty="0">
                <a:latin typeface="NewBaskerville-Roman"/>
              </a:rPr>
              <a:t>, from the current time, </a:t>
            </a:r>
            <a:r>
              <a:rPr lang="en-US" sz="1200" b="0" i="0" u="none" strike="noStrike" baseline="0" dirty="0" err="1">
                <a:latin typeface="TheSansMonoCondensed-Plain"/>
              </a:rPr>
              <a:t>time.time</a:t>
            </a:r>
            <a:r>
              <a:rPr lang="en-US" sz="1200" b="0" i="0" u="none" strike="noStrike" baseline="0" dirty="0">
                <a:latin typeface="TheSansMonoCondensed-Plain"/>
              </a:rPr>
              <a:t>() </a:t>
            </a:r>
            <a:r>
              <a:rPr lang="en-US" sz="1200" b="0" i="0" u="none" strike="noStrike" baseline="0" dirty="0">
                <a:latin typeface="Wingdings2"/>
              </a:rPr>
              <a:t>w</a:t>
            </a:r>
            <a:r>
              <a:rPr lang="en-US" sz="1200" b="0" i="0" u="none" strike="noStrike" baseline="0" dirty="0">
                <a:latin typeface="NewBaskerville-Roman"/>
              </a:rPr>
              <a:t>. </a:t>
            </a:r>
            <a:endParaRPr lang="tr-TR" sz="1200" b="0" i="0" u="none" strike="noStrike" baseline="0" dirty="0">
              <a:latin typeface="NewBaskerville-Roman"/>
            </a:endParaRPr>
          </a:p>
          <a:p>
            <a:pPr algn="l"/>
            <a:r>
              <a:rPr lang="en-US" sz="1200" b="0" i="0" u="none" strike="noStrike" baseline="0" dirty="0">
                <a:latin typeface="NewBaskerville-Roman"/>
              </a:rPr>
              <a:t>We calculate the total time</a:t>
            </a:r>
            <a:r>
              <a:rPr lang="tr-TR" sz="1200" b="0" i="0" u="none" strike="noStrike" baseline="0" dirty="0">
                <a:latin typeface="NewBaskerville-Roman"/>
              </a:rPr>
              <a:t> </a:t>
            </a:r>
            <a:r>
              <a:rPr lang="en-US" sz="1200" b="0" i="0" u="none" strike="noStrike" baseline="0" dirty="0">
                <a:latin typeface="NewBaskerville-Roman"/>
              </a:rPr>
              <a:t>elapsed by subtracting the overall start time of the stopwatch, </a:t>
            </a:r>
            <a:r>
              <a:rPr lang="en-US" sz="1200" b="0" i="0" u="none" strike="noStrike" baseline="0" dirty="0" err="1">
                <a:latin typeface="TheSansMonoCondensed-Plain"/>
              </a:rPr>
              <a:t>startTime</a:t>
            </a:r>
            <a:r>
              <a:rPr lang="en-US" sz="1200" b="0" i="0" u="none" strike="noStrike" baseline="0" dirty="0">
                <a:latin typeface="NewBaskerville-Roman"/>
              </a:rPr>
              <a:t>,</a:t>
            </a:r>
            <a:r>
              <a:rPr lang="tr-TR" sz="1200" b="0" i="0" u="none" strike="noStrike" baseline="0" dirty="0">
                <a:latin typeface="NewBaskerville-Roman"/>
              </a:rPr>
              <a:t> </a:t>
            </a:r>
            <a:r>
              <a:rPr lang="en-US" sz="1200" b="0" i="0" u="none" strike="noStrike" baseline="0" dirty="0">
                <a:latin typeface="NewBaskerville-Roman"/>
              </a:rPr>
              <a:t>from the current time </a:t>
            </a:r>
            <a:r>
              <a:rPr lang="en-US" sz="1200" b="0" i="0" u="none" strike="noStrike" baseline="0" dirty="0">
                <a:latin typeface="Wingdings2"/>
              </a:rPr>
              <a:t>x</a:t>
            </a:r>
            <a:r>
              <a:rPr lang="en-US" sz="1200" b="0" i="0" u="none" strike="noStrike" baseline="0" dirty="0">
                <a:latin typeface="NewBaskerville-Roman"/>
              </a:rPr>
              <a:t>.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523622-341F-444F-99E9-134869255E42}"/>
              </a:ext>
            </a:extLst>
          </p:cNvPr>
          <p:cNvSpPr txBox="1"/>
          <p:nvPr/>
        </p:nvSpPr>
        <p:spPr>
          <a:xfrm>
            <a:off x="6570482" y="4948535"/>
            <a:ext cx="548404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 dirty="0">
                <a:latin typeface="NewBaskerville-Roman"/>
              </a:rPr>
              <a:t>Since the results of these time calculations will have many digits after</a:t>
            </a:r>
            <a:r>
              <a:rPr lang="tr-TR" sz="1400" b="0" i="0" u="none" strike="noStrike" baseline="0" dirty="0">
                <a:latin typeface="NewBaskerville-Roman"/>
              </a:rPr>
              <a:t> </a:t>
            </a:r>
            <a:r>
              <a:rPr lang="en-US" sz="1400" b="0" i="0" u="none" strike="noStrike" baseline="0" dirty="0">
                <a:latin typeface="NewBaskerville-Roman"/>
              </a:rPr>
              <a:t>the decimal point (such as </a:t>
            </a:r>
            <a:r>
              <a:rPr lang="en-US" sz="1100" b="0" i="0" u="none" strike="noStrike" baseline="0" dirty="0">
                <a:latin typeface="TheSansMonoCondensed-Plain"/>
              </a:rPr>
              <a:t>4.766272783279419</a:t>
            </a:r>
            <a:r>
              <a:rPr lang="en-US" sz="1400" b="0" i="0" u="none" strike="noStrike" baseline="0" dirty="0">
                <a:latin typeface="NewBaskerville-Roman"/>
              </a:rPr>
              <a:t>), we use the </a:t>
            </a:r>
            <a:r>
              <a:rPr lang="en-US" sz="1100" b="0" i="0" u="none" strike="noStrike" baseline="0" dirty="0">
                <a:latin typeface="TheSansMonoCondensed-Plain"/>
              </a:rPr>
              <a:t>round() </a:t>
            </a:r>
            <a:r>
              <a:rPr lang="en-US" sz="1400" b="0" i="0" u="none" strike="noStrike" baseline="0" dirty="0">
                <a:latin typeface="NewBaskerville-Roman"/>
              </a:rPr>
              <a:t>function to</a:t>
            </a:r>
            <a:r>
              <a:rPr lang="tr-TR" sz="1400" b="0" i="0" u="none" strike="noStrike" baseline="0" dirty="0">
                <a:latin typeface="NewBaskerville-Roman"/>
              </a:rPr>
              <a:t> </a:t>
            </a:r>
            <a:r>
              <a:rPr lang="en-US" sz="1400" b="0" i="0" u="none" strike="noStrike" baseline="0" dirty="0">
                <a:latin typeface="NewBaskerville-Roman"/>
              </a:rPr>
              <a:t>round the float value to two digits at </a:t>
            </a:r>
            <a:r>
              <a:rPr lang="en-US" sz="1400" b="0" i="0" u="none" strike="noStrike" baseline="0" dirty="0">
                <a:latin typeface="Wingdings2"/>
              </a:rPr>
              <a:t>w </a:t>
            </a:r>
            <a:r>
              <a:rPr lang="en-US" sz="1400" b="0" i="0" u="none" strike="noStrike" baseline="0" dirty="0">
                <a:latin typeface="NewBaskerville-Roman"/>
              </a:rPr>
              <a:t>and </a:t>
            </a:r>
            <a:r>
              <a:rPr lang="en-US" sz="1400" b="0" i="0" u="none" strike="noStrike" baseline="0" dirty="0">
                <a:latin typeface="Wingdings2"/>
              </a:rPr>
              <a:t>x</a:t>
            </a:r>
            <a:r>
              <a:rPr lang="en-US" sz="1400" b="0" i="0" u="none" strike="noStrike" baseline="0" dirty="0">
                <a:latin typeface="NewBaskerville-Roman"/>
              </a:rPr>
              <a:t>.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8D4F16-C4B7-49F7-87C9-D4726DDE182E}"/>
              </a:ext>
            </a:extLst>
          </p:cNvPr>
          <p:cNvSpPr txBox="1"/>
          <p:nvPr/>
        </p:nvSpPr>
        <p:spPr>
          <a:xfrm>
            <a:off x="4718115" y="5668346"/>
            <a:ext cx="747388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 dirty="0">
                <a:latin typeface="NewBaskerville-Roman"/>
              </a:rPr>
              <a:t>At </a:t>
            </a:r>
            <a:r>
              <a:rPr lang="en-US" sz="1400" b="0" i="0" u="none" strike="noStrike" baseline="0" dirty="0">
                <a:latin typeface="Wingdings2"/>
              </a:rPr>
              <a:t>y</a:t>
            </a:r>
            <a:r>
              <a:rPr lang="en-US" sz="1400" b="0" i="0" u="none" strike="noStrike" baseline="0" dirty="0">
                <a:latin typeface="NewBaskerville-Roman"/>
              </a:rPr>
              <a:t>, we print the lap number, total time elapsed, and the lap time.</a:t>
            </a:r>
          </a:p>
          <a:p>
            <a:pPr algn="l"/>
            <a:r>
              <a:rPr lang="en-US" sz="1400" b="0" i="0" u="none" strike="noStrike" baseline="0" dirty="0">
                <a:latin typeface="NewBaskerville-Roman"/>
              </a:rPr>
              <a:t>Since the user pressing </a:t>
            </a:r>
            <a:r>
              <a:rPr lang="en-US" sz="600" b="0" i="0" u="none" strike="noStrike" baseline="0" dirty="0">
                <a:latin typeface="NewBaskerville-Roman-SC750"/>
              </a:rPr>
              <a:t>enter </a:t>
            </a:r>
            <a:r>
              <a:rPr lang="en-US" sz="1400" b="0" i="0" u="none" strike="noStrike" baseline="0" dirty="0">
                <a:latin typeface="NewBaskerville-Roman"/>
              </a:rPr>
              <a:t>for the </a:t>
            </a:r>
            <a:r>
              <a:rPr lang="en-US" sz="1100" b="0" i="0" u="none" strike="noStrike" baseline="0" dirty="0">
                <a:latin typeface="TheSansMonoCondensed-Plain"/>
              </a:rPr>
              <a:t>input() </a:t>
            </a:r>
            <a:r>
              <a:rPr lang="en-US" sz="1400" b="0" i="0" u="none" strike="noStrike" baseline="0" dirty="0">
                <a:latin typeface="NewBaskerville-Roman"/>
              </a:rPr>
              <a:t>call will print a newline to</a:t>
            </a:r>
            <a:r>
              <a:rPr lang="tr-TR" sz="1400" b="0" i="0" u="none" strike="noStrike" baseline="0" dirty="0">
                <a:latin typeface="NewBaskerville-Roman"/>
              </a:rPr>
              <a:t> </a:t>
            </a:r>
            <a:r>
              <a:rPr lang="en-US" sz="1400" b="0" i="0" u="none" strike="noStrike" baseline="0" dirty="0">
                <a:latin typeface="NewBaskerville-Roman"/>
              </a:rPr>
              <a:t>the screen, pass </a:t>
            </a:r>
            <a:r>
              <a:rPr lang="en-US" sz="1100" b="0" i="0" u="none" strike="noStrike" baseline="0" dirty="0">
                <a:latin typeface="TheSansMonoCondensed-Plain"/>
              </a:rPr>
              <a:t>end='' </a:t>
            </a:r>
            <a:r>
              <a:rPr lang="en-US" sz="1400" b="0" i="0" u="none" strike="noStrike" baseline="0" dirty="0">
                <a:latin typeface="NewBaskerville-Roman"/>
              </a:rPr>
              <a:t>to the </a:t>
            </a:r>
            <a:r>
              <a:rPr lang="en-US" sz="1100" b="0" i="0" u="none" strike="noStrike" baseline="0" dirty="0">
                <a:latin typeface="TheSansMonoCondensed-Plain"/>
              </a:rPr>
              <a:t>print() </a:t>
            </a:r>
            <a:r>
              <a:rPr lang="en-US" sz="1400" b="0" i="0" u="none" strike="noStrike" baseline="0" dirty="0">
                <a:latin typeface="NewBaskerville-Roman"/>
              </a:rPr>
              <a:t>function to avoid double-spacing the</a:t>
            </a:r>
            <a:r>
              <a:rPr lang="tr-TR" sz="1400" b="0" i="0" u="none" strike="noStrike" baseline="0" dirty="0">
                <a:latin typeface="NewBaskerville-Roman"/>
              </a:rPr>
              <a:t> </a:t>
            </a:r>
            <a:r>
              <a:rPr lang="en-US" sz="1400" b="0" i="0" u="none" strike="noStrike" baseline="0" dirty="0">
                <a:latin typeface="NewBaskerville-Roman"/>
              </a:rPr>
              <a:t>output. </a:t>
            </a:r>
            <a:endParaRPr lang="tr-TR" sz="1400" b="0" i="0" u="none" strike="noStrike" baseline="0" dirty="0">
              <a:latin typeface="NewBaskerville-Roman"/>
            </a:endParaRPr>
          </a:p>
          <a:p>
            <a:pPr algn="l"/>
            <a:r>
              <a:rPr lang="en-US" sz="1400" b="0" i="0" u="none" strike="noStrike" baseline="0" dirty="0">
                <a:latin typeface="NewBaskerville-Roman"/>
              </a:rPr>
              <a:t>After printing the lap information, we get ready for the next lap by</a:t>
            </a:r>
            <a:r>
              <a:rPr lang="tr-TR" sz="1400" b="0" i="0" u="none" strike="noStrike" baseline="0" dirty="0">
                <a:latin typeface="NewBaskerville-Roman"/>
              </a:rPr>
              <a:t> </a:t>
            </a:r>
            <a:r>
              <a:rPr lang="en-US" sz="1400" b="0" i="0" u="none" strike="noStrike" baseline="0" dirty="0">
                <a:latin typeface="NewBaskerville-Roman"/>
              </a:rPr>
              <a:t>adding 1 to the count </a:t>
            </a:r>
            <a:r>
              <a:rPr lang="en-US" sz="1100" b="0" i="0" u="none" strike="noStrike" baseline="0" dirty="0" err="1">
                <a:latin typeface="TheSansMonoCondensed-Plain"/>
              </a:rPr>
              <a:t>lapNum</a:t>
            </a:r>
            <a:r>
              <a:rPr lang="en-US" sz="1100" b="0" i="0" u="none" strike="noStrike" baseline="0" dirty="0">
                <a:latin typeface="TheSansMonoCondensed-Plain"/>
              </a:rPr>
              <a:t> </a:t>
            </a:r>
            <a:r>
              <a:rPr lang="en-US" sz="1400" b="0" i="0" u="none" strike="noStrike" baseline="0" dirty="0">
                <a:latin typeface="NewBaskerville-Roman"/>
              </a:rPr>
              <a:t>and setting </a:t>
            </a:r>
            <a:r>
              <a:rPr lang="en-US" sz="1100" b="0" i="0" u="none" strike="noStrike" baseline="0" dirty="0" err="1">
                <a:latin typeface="TheSansMonoCondensed-Plain"/>
              </a:rPr>
              <a:t>lastTime</a:t>
            </a:r>
            <a:r>
              <a:rPr lang="en-US" sz="1100" b="0" i="0" u="none" strike="noStrike" baseline="0" dirty="0">
                <a:latin typeface="TheSansMonoCondensed-Plain"/>
              </a:rPr>
              <a:t> </a:t>
            </a:r>
            <a:r>
              <a:rPr lang="en-US" sz="1400" b="0" i="0" u="none" strike="noStrike" baseline="0" dirty="0">
                <a:latin typeface="NewBaskerville-Roman"/>
              </a:rPr>
              <a:t>to the current time, which</a:t>
            </a:r>
            <a:r>
              <a:rPr lang="tr-TR" sz="1400" b="0" i="0" u="none" strike="noStrike" baseline="0" dirty="0">
                <a:latin typeface="NewBaskerville-Roman"/>
              </a:rPr>
              <a:t> </a:t>
            </a:r>
            <a:r>
              <a:rPr lang="en-US" sz="1400" b="0" i="0" u="none" strike="noStrike" baseline="0" dirty="0">
                <a:latin typeface="NewBaskerville-Roman"/>
              </a:rPr>
              <a:t>is the start time of the next lap.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34706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4D3C7-E06F-4AA9-AF43-DF962BEE5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Write </a:t>
            </a:r>
            <a:r>
              <a:rPr lang="tr-TR" dirty="0" err="1"/>
              <a:t>Similar</a:t>
            </a:r>
            <a:r>
              <a:rPr lang="tr-TR" dirty="0"/>
              <a:t> Programs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C528E-35B0-45B9-8799-3F983D75A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simple timesheet app that records when you type a person’s</a:t>
            </a:r>
            <a:r>
              <a:rPr lang="tr-TR" dirty="0"/>
              <a:t> </a:t>
            </a:r>
            <a:r>
              <a:rPr lang="en-US" dirty="0"/>
              <a:t>name and uses the current time to clock them in or out.</a:t>
            </a:r>
          </a:p>
          <a:p>
            <a:r>
              <a:rPr lang="en-US" dirty="0"/>
              <a:t>Add a feature to your program to display the elapsed time since a</a:t>
            </a:r>
            <a:r>
              <a:rPr lang="tr-TR" dirty="0"/>
              <a:t> </a:t>
            </a:r>
            <a:r>
              <a:rPr lang="en-US" dirty="0"/>
              <a:t>process</a:t>
            </a:r>
            <a:r>
              <a:rPr lang="tr-TR" dirty="0"/>
              <a:t> </a:t>
            </a:r>
            <a:r>
              <a:rPr lang="en-US" dirty="0"/>
              <a:t>started, such as a download that uses the requests module.</a:t>
            </a:r>
            <a:endParaRPr lang="tr-TR" dirty="0"/>
          </a:p>
          <a:p>
            <a:r>
              <a:rPr lang="en-US" dirty="0"/>
              <a:t>Intermittently check how long a program has been running and offer</a:t>
            </a:r>
            <a:r>
              <a:rPr lang="tr-TR" dirty="0"/>
              <a:t> </a:t>
            </a:r>
            <a:r>
              <a:rPr lang="en-US" dirty="0"/>
              <a:t>the user a chance to cancel tasks that are taking too long.</a:t>
            </a:r>
          </a:p>
        </p:txBody>
      </p:sp>
    </p:spTree>
    <p:extLst>
      <p:ext uri="{BB962C8B-B14F-4D97-AF65-F5344CB8AC3E}">
        <p14:creationId xmlns:p14="http://schemas.microsoft.com/office/powerpoint/2010/main" val="3855305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5170D-9584-4921-B5B8-886266F33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datetime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52FD8-88F4-49F1-A722-8F2A9F433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time module is useful for getting a Unix epoch timestamp to work with.</a:t>
            </a:r>
          </a:p>
          <a:p>
            <a:r>
              <a:rPr lang="en-US" dirty="0"/>
              <a:t>But if you want to display a date in a more convenient format, or do arithmetic</a:t>
            </a:r>
            <a:r>
              <a:rPr lang="tr-TR" dirty="0"/>
              <a:t> </a:t>
            </a:r>
            <a:r>
              <a:rPr lang="en-US" dirty="0"/>
              <a:t>with dates you should use the datetime module</a:t>
            </a:r>
            <a:endParaRPr lang="tr-TR" dirty="0"/>
          </a:p>
          <a:p>
            <a:pPr lvl="1"/>
            <a:r>
              <a:rPr lang="en-US" dirty="0"/>
              <a:t>figuring out what date was 205 days ago </a:t>
            </a:r>
            <a:endParaRPr lang="tr-TR" dirty="0"/>
          </a:p>
          <a:p>
            <a:pPr lvl="1"/>
            <a:r>
              <a:rPr lang="en-US" dirty="0"/>
              <a:t>or</a:t>
            </a:r>
            <a:r>
              <a:rPr lang="tr-TR" dirty="0"/>
              <a:t> </a:t>
            </a:r>
            <a:r>
              <a:rPr lang="en-US" dirty="0"/>
              <a:t>what date is 123 days from now</a:t>
            </a:r>
          </a:p>
          <a:p>
            <a:r>
              <a:rPr lang="en-US" dirty="0"/>
              <a:t>The datetime module has its own datetime data type. datetime values</a:t>
            </a:r>
            <a:r>
              <a:rPr lang="tr-TR" dirty="0"/>
              <a:t> </a:t>
            </a:r>
            <a:r>
              <a:rPr lang="en-US" dirty="0"/>
              <a:t>represent</a:t>
            </a:r>
            <a:r>
              <a:rPr lang="tr-TR" dirty="0"/>
              <a:t> </a:t>
            </a:r>
            <a:r>
              <a:rPr lang="en-US" dirty="0"/>
              <a:t>a specific moment in time.</a:t>
            </a:r>
          </a:p>
        </p:txBody>
      </p:sp>
    </p:spTree>
    <p:extLst>
      <p:ext uri="{BB962C8B-B14F-4D97-AF65-F5344CB8AC3E}">
        <p14:creationId xmlns:p14="http://schemas.microsoft.com/office/powerpoint/2010/main" val="3616756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57D28-DF3D-47A5-98D5-FB1166434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Using </a:t>
            </a:r>
            <a:r>
              <a:rPr lang="tr-TR" dirty="0" err="1"/>
              <a:t>datetime</a:t>
            </a:r>
            <a:r>
              <a:rPr lang="tr-TR" dirty="0"/>
              <a:t>() </a:t>
            </a:r>
            <a:r>
              <a:rPr lang="tr-TR" dirty="0" err="1"/>
              <a:t>values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DCD036-70C6-4B6F-B8E2-01CEBABD7BC7}"/>
              </a:ext>
            </a:extLst>
          </p:cNvPr>
          <p:cNvSpPr txBox="1"/>
          <p:nvPr/>
        </p:nvSpPr>
        <p:spPr>
          <a:xfrm>
            <a:off x="2595513" y="5041728"/>
            <a:ext cx="481709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Last date time info 2022-12-19 12:45:56.488220</a:t>
            </a:r>
          </a:p>
          <a:p>
            <a:r>
              <a:rPr lang="en-US" sz="1400" dirty="0"/>
              <a:t>Year: 2022, Month: 12, Day: 19</a:t>
            </a:r>
          </a:p>
          <a:p>
            <a:r>
              <a:rPr lang="en-US" sz="1400" dirty="0"/>
              <a:t>Hour: 12, Minute: 45, Second: 56</a:t>
            </a:r>
          </a:p>
          <a:p>
            <a:r>
              <a:rPr lang="en-US" sz="1400" dirty="0"/>
              <a:t>date time info for 2015, 10, 21, 16, 29, 0 is 2015-10-21 16:29:00</a:t>
            </a:r>
          </a:p>
          <a:p>
            <a:r>
              <a:rPr lang="en-US" sz="1400" dirty="0"/>
              <a:t>Year: 2015, Month: 10, Day: 21</a:t>
            </a:r>
          </a:p>
          <a:p>
            <a:r>
              <a:rPr lang="en-US" sz="1400" dirty="0"/>
              <a:t>Hour: 16, Minute: 29, Second: 0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93CC29A2-10BE-454C-A52E-F48E72D856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40757" y="1582091"/>
            <a:ext cx="6451861" cy="30469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printDateTimeExamples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dt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datetime.datetime.now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f"Last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date time info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f"Year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dt.year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, Month: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dt.month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, Day: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dt.day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f"Hour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dt.hour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, Minute: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dt.minute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, Second: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dt.second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dt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datetime.datetime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2015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16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29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f"date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time info for 2015, 10, 21, 16, 29, 0 is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f"Year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dt.year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, Month: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dt.month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, Day: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dt.day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f"Hour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dt.hour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, Minute: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dt.minute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, Second: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dt.second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706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B2725-C11E-4676-BE71-D696F1B25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Unix epoch timestamp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73B1E-7D8F-43DE-9298-77CB03648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Unix epoch timestamp can be converted to a datetime object with the</a:t>
            </a:r>
            <a:r>
              <a:rPr lang="tr-TR" dirty="0"/>
              <a:t> </a:t>
            </a:r>
            <a:r>
              <a:rPr lang="en-US" dirty="0" err="1"/>
              <a:t>datetime.datetime.fromtimestamp</a:t>
            </a:r>
            <a:r>
              <a:rPr lang="en-US" dirty="0"/>
              <a:t>() function. 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The date and time of the datetime</a:t>
            </a:r>
            <a:r>
              <a:rPr lang="tr-TR" dirty="0"/>
              <a:t> </a:t>
            </a:r>
            <a:r>
              <a:rPr lang="en-US" dirty="0"/>
              <a:t>object will be converted for the local time zone.</a:t>
            </a:r>
          </a:p>
        </p:txBody>
      </p:sp>
    </p:spTree>
    <p:extLst>
      <p:ext uri="{BB962C8B-B14F-4D97-AF65-F5344CB8AC3E}">
        <p14:creationId xmlns:p14="http://schemas.microsoft.com/office/powerpoint/2010/main" val="17450708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displayUnixEpocTime</a:t>
            </a:r>
            <a:r>
              <a:rPr lang="tr-TR" dirty="0"/>
              <a:t>()</a:t>
            </a:r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BA032F5-249F-4B55-AA21-7C985DFCE4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90307" y="1250159"/>
            <a:ext cx="7014328" cy="37856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displayUnixEpocTime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etAfterMillionSeconds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datetime.datetime.fromtimestamp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f"the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Unix epoch is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etAfterMillionSeconds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Calling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datetime.datetime.fromtimestamp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() and passing it 1000000 returns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# a datetime object for the moment 1,000,000 seconds after the Unix epoch.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etAfterMillionSeconds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datetime.datetime.fromtimestamp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1000000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f"1,000,000 seconds after the Unix epoch is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etAfterMillionSeconds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dtNow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datetime.datetime.now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f"Current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Date Time using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datetime.now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is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dtNow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Passing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time.time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(), the Unix epoch timestamp for the current moment,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# returns a datetime object for the current moment.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etNow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datetime.datetime.fromtimestamp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time.time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f"Current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Date Time using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fromtimestamp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function is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etNow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353CD-01D3-491F-B340-EF2F40E62A3C}"/>
              </a:ext>
            </a:extLst>
          </p:cNvPr>
          <p:cNvSpPr txBox="1"/>
          <p:nvPr/>
        </p:nvSpPr>
        <p:spPr>
          <a:xfrm>
            <a:off x="1925424" y="5262055"/>
            <a:ext cx="767106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Unix epoch is 1970-01-01 03:00:00</a:t>
            </a:r>
          </a:p>
          <a:p>
            <a:r>
              <a:rPr lang="en-US" dirty="0"/>
              <a:t>1,000,000 seconds after the Unix epoch is 1970-01-12 16:46:40</a:t>
            </a:r>
          </a:p>
          <a:p>
            <a:r>
              <a:rPr lang="en-US" dirty="0"/>
              <a:t>Current Date Time using </a:t>
            </a:r>
            <a:r>
              <a:rPr lang="en-US" dirty="0" err="1"/>
              <a:t>datetime.now</a:t>
            </a:r>
            <a:r>
              <a:rPr lang="en-US" dirty="0"/>
              <a:t> is 2022-12-19 14:11:15.537844</a:t>
            </a:r>
          </a:p>
          <a:p>
            <a:r>
              <a:rPr lang="en-US" dirty="0"/>
              <a:t>Current Date Time using </a:t>
            </a:r>
            <a:r>
              <a:rPr lang="en-US" dirty="0" err="1"/>
              <a:t>fromtimestamp</a:t>
            </a:r>
            <a:r>
              <a:rPr lang="en-US" dirty="0"/>
              <a:t> function is 2022-12-19 14:11:15.537845</a:t>
            </a:r>
          </a:p>
        </p:txBody>
      </p:sp>
    </p:spTree>
    <p:extLst>
      <p:ext uri="{BB962C8B-B14F-4D97-AF65-F5344CB8AC3E}">
        <p14:creationId xmlns:p14="http://schemas.microsoft.com/office/powerpoint/2010/main" val="36058537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Comparing</a:t>
            </a:r>
            <a:r>
              <a:rPr lang="tr-TR" dirty="0"/>
              <a:t> </a:t>
            </a:r>
            <a:r>
              <a:rPr lang="tr-TR" dirty="0" err="1"/>
              <a:t>datetime</a:t>
            </a:r>
            <a:r>
              <a:rPr lang="tr-TR" dirty="0"/>
              <a:t> </a:t>
            </a:r>
            <a:r>
              <a:rPr lang="tr-TR" dirty="0" err="1"/>
              <a:t>objects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D864-D4B7-4B59-AA76-A335D3447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datetime objects can be compared with each other using comparison</a:t>
            </a:r>
            <a:r>
              <a:rPr lang="tr-TR" dirty="0"/>
              <a:t> </a:t>
            </a:r>
            <a:r>
              <a:rPr lang="en-US" dirty="0"/>
              <a:t>operators to find out which one precedes the other. </a:t>
            </a:r>
            <a:endParaRPr lang="tr-TR" dirty="0"/>
          </a:p>
          <a:p>
            <a:r>
              <a:rPr lang="en-US" dirty="0"/>
              <a:t>The later datetime</a:t>
            </a:r>
            <a:r>
              <a:rPr lang="tr-TR" dirty="0"/>
              <a:t> </a:t>
            </a:r>
            <a:r>
              <a:rPr lang="en-US" dirty="0"/>
              <a:t>object is the “greater” value.</a:t>
            </a:r>
          </a:p>
        </p:txBody>
      </p:sp>
    </p:spTree>
    <p:extLst>
      <p:ext uri="{BB962C8B-B14F-4D97-AF65-F5344CB8AC3E}">
        <p14:creationId xmlns:p14="http://schemas.microsoft.com/office/powerpoint/2010/main" val="3569187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1929"/>
          </a:xfrm>
        </p:spPr>
        <p:txBody>
          <a:bodyPr/>
          <a:lstStyle/>
          <a:p>
            <a:r>
              <a:rPr lang="en-US" dirty="0" err="1"/>
              <a:t>compareSomeSpecialDates</a:t>
            </a:r>
            <a:r>
              <a:rPr lang="tr-TR" dirty="0"/>
              <a:t>()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353CD-01D3-491F-B340-EF2F40E62A3C}"/>
              </a:ext>
            </a:extLst>
          </p:cNvPr>
          <p:cNvSpPr txBox="1"/>
          <p:nvPr/>
        </p:nvSpPr>
        <p:spPr>
          <a:xfrm>
            <a:off x="1990130" y="5907591"/>
            <a:ext cx="76710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Halloween in 2015 is on 31st of October</a:t>
            </a:r>
          </a:p>
          <a:p>
            <a:r>
              <a:rPr lang="en-US" dirty="0"/>
              <a:t>The Halloween in 2015 is before the first day Eve of 2016</a:t>
            </a:r>
          </a:p>
          <a:p>
            <a:r>
              <a:rPr lang="en-US" dirty="0"/>
              <a:t>First day Eve of 2016 is not on 31st of October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E2B42BC-ACF7-4A1C-AE45-560EAFABFD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94436" y="1043731"/>
            <a:ext cx="8589265" cy="47705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compareSomeSpecialDates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halloween2015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datetime.datetime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2015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newyears2016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datetime.datetime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2016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oct31Of2015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datetime.datetime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2015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(halloween2015 == oct31Of2015):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"The Halloween in 2015 is on 31st of October"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else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"Halloween in 2015 is on a different date than 31st of October"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(halloween2015 &gt; newyears2016):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"The Halloween in 2015 is after the first day Eve of 2016"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else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"The Halloween in 2015 is before the first day Eve of 2016"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(newyears2016 != oct31Of2015):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"First day Eve of 2016 is not on 31st of October"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else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"First day Eve of 2016 is on 31st of October"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8731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timedelta</a:t>
            </a:r>
            <a:r>
              <a:rPr lang="tr-TR" dirty="0"/>
              <a:t> Data </a:t>
            </a:r>
            <a:r>
              <a:rPr lang="tr-TR" dirty="0" err="1"/>
              <a:t>Type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D864-D4B7-4B59-AA76-A335D3447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datetime module also provides a </a:t>
            </a:r>
            <a:r>
              <a:rPr lang="en-US" dirty="0" err="1"/>
              <a:t>timedelta</a:t>
            </a:r>
            <a:r>
              <a:rPr lang="en-US" dirty="0"/>
              <a:t> data type, </a:t>
            </a:r>
            <a:endParaRPr lang="tr-TR" dirty="0"/>
          </a:p>
          <a:p>
            <a:r>
              <a:rPr lang="en-US" dirty="0" err="1"/>
              <a:t>timedelta</a:t>
            </a:r>
            <a:r>
              <a:rPr lang="en-US" dirty="0"/>
              <a:t> data type</a:t>
            </a:r>
            <a:endParaRPr lang="tr-TR" dirty="0"/>
          </a:p>
          <a:p>
            <a:pPr lvl="1"/>
            <a:r>
              <a:rPr lang="en-US" dirty="0"/>
              <a:t>represents a</a:t>
            </a:r>
            <a:r>
              <a:rPr lang="tr-TR" dirty="0"/>
              <a:t> </a:t>
            </a:r>
            <a:r>
              <a:rPr lang="en-US" dirty="0"/>
              <a:t>duration of time rather than a moment in time.</a:t>
            </a:r>
            <a:endParaRPr lang="tr-TR" dirty="0"/>
          </a:p>
          <a:p>
            <a:r>
              <a:rPr lang="en-US" dirty="0"/>
              <a:t>to create a </a:t>
            </a:r>
            <a:r>
              <a:rPr lang="en-US" dirty="0" err="1"/>
              <a:t>timedelta</a:t>
            </a:r>
            <a:r>
              <a:rPr lang="en-US" dirty="0"/>
              <a:t> object, we use the </a:t>
            </a:r>
            <a:r>
              <a:rPr lang="en-US" dirty="0" err="1"/>
              <a:t>datetime.timedelta</a:t>
            </a:r>
            <a:r>
              <a:rPr lang="en-US" dirty="0"/>
              <a:t>() function</a:t>
            </a:r>
            <a:endParaRPr lang="tr-TR" dirty="0"/>
          </a:p>
          <a:p>
            <a:r>
              <a:rPr lang="en-US" dirty="0"/>
              <a:t>function takes keyword arguments weeks, days, hours,</a:t>
            </a:r>
            <a:r>
              <a:rPr lang="tr-TR" dirty="0"/>
              <a:t> </a:t>
            </a:r>
            <a:r>
              <a:rPr lang="en-US" dirty="0"/>
              <a:t>minutes, seconds, milliseconds, and microseconds</a:t>
            </a:r>
            <a:endParaRPr lang="tr-TR" dirty="0"/>
          </a:p>
          <a:p>
            <a:r>
              <a:rPr lang="en-US" dirty="0"/>
              <a:t>There is no month or year keyword</a:t>
            </a:r>
            <a:r>
              <a:rPr lang="tr-TR" dirty="0"/>
              <a:t> </a:t>
            </a:r>
            <a:r>
              <a:rPr lang="en-US" dirty="0"/>
              <a:t>argument because “a month” or “a year” is a variable amount of time</a:t>
            </a:r>
            <a:r>
              <a:rPr lang="tr-TR" dirty="0"/>
              <a:t> </a:t>
            </a:r>
            <a:r>
              <a:rPr lang="en-US" dirty="0"/>
              <a:t>depending on the particular month or year.</a:t>
            </a:r>
            <a:endParaRPr lang="tr-TR" dirty="0"/>
          </a:p>
          <a:p>
            <a:r>
              <a:rPr lang="en-US" dirty="0"/>
              <a:t>A </a:t>
            </a:r>
            <a:r>
              <a:rPr lang="en-US" dirty="0" err="1"/>
              <a:t>timedelta</a:t>
            </a:r>
            <a:r>
              <a:rPr lang="en-US" dirty="0"/>
              <a:t> object has the total</a:t>
            </a:r>
            <a:r>
              <a:rPr lang="tr-TR" dirty="0"/>
              <a:t> </a:t>
            </a:r>
            <a:r>
              <a:rPr lang="en-US" dirty="0"/>
              <a:t>duration represented in days, seconds, and microseconds</a:t>
            </a:r>
            <a:endParaRPr lang="tr-TR" dirty="0"/>
          </a:p>
          <a:p>
            <a:r>
              <a:rPr lang="en-US" dirty="0" err="1"/>
              <a:t>total_seconds</a:t>
            </a:r>
            <a:r>
              <a:rPr lang="en-US" dirty="0"/>
              <a:t>() method will return the duration in number of seconds</a:t>
            </a:r>
            <a:r>
              <a:rPr lang="tr-TR" dirty="0"/>
              <a:t> </a:t>
            </a:r>
            <a:r>
              <a:rPr lang="en-US" dirty="0"/>
              <a:t>alone. </a:t>
            </a:r>
            <a:endParaRPr lang="tr-TR" dirty="0"/>
          </a:p>
          <a:p>
            <a:r>
              <a:rPr lang="en-US" dirty="0"/>
              <a:t>Passing a </a:t>
            </a:r>
            <a:r>
              <a:rPr lang="en-US" dirty="0" err="1"/>
              <a:t>timedelta</a:t>
            </a:r>
            <a:r>
              <a:rPr lang="en-US" dirty="0"/>
              <a:t> object to str() will return a nicely formatted,</a:t>
            </a:r>
            <a:r>
              <a:rPr lang="tr-TR" dirty="0"/>
              <a:t> </a:t>
            </a:r>
            <a:r>
              <a:rPr lang="en-US" dirty="0"/>
              <a:t>human-readable string representation of the object</a:t>
            </a:r>
          </a:p>
        </p:txBody>
      </p:sp>
    </p:spTree>
    <p:extLst>
      <p:ext uri="{BB962C8B-B14F-4D97-AF65-F5344CB8AC3E}">
        <p14:creationId xmlns:p14="http://schemas.microsoft.com/office/powerpoint/2010/main" val="33508868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compareSomeSpecialDates</a:t>
            </a:r>
            <a:r>
              <a:rPr lang="tr-TR" dirty="0"/>
              <a:t>()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353CD-01D3-491F-B340-EF2F40E62A3C}"/>
              </a:ext>
            </a:extLst>
          </p:cNvPr>
          <p:cNvSpPr txBox="1"/>
          <p:nvPr/>
        </p:nvSpPr>
        <p:spPr>
          <a:xfrm>
            <a:off x="1883805" y="5569544"/>
            <a:ext cx="76710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Days: 11 Seconds: 36548 Microseconds: 0</a:t>
            </a:r>
          </a:p>
          <a:p>
            <a:r>
              <a:rPr lang="en-US" dirty="0"/>
              <a:t>The total duration passed is 986948.0 seconds</a:t>
            </a:r>
          </a:p>
          <a:p>
            <a:r>
              <a:rPr lang="en-US" dirty="0"/>
              <a:t>Human readable format of the time delta is 11 days, 10:09:08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AE644298-29A9-45FF-B039-8944C6FFED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88805" y="1582340"/>
            <a:ext cx="9294628" cy="3693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displayTimeDeltaInfo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#to create a timedelta object, we use the datetime.timedelta() function</a:t>
            </a:r>
            <a:b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delta = datetime.timedelta(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days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11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hours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minutes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seconds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8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f"Days: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delta.days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Seconds: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delta.seconds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Microseconds: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delta.microseconds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return the duration in number of seconds alone</a:t>
            </a:r>
            <a:b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duration = delta.total_seconds()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f"The total duration passed is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duration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seconds"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Passing a timedelta object to str() will return a nicely formatted,</a:t>
            </a:r>
            <a:b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# human-readable string representation of the object</a:t>
            </a:r>
            <a:b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dStr =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str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(delta)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f"Human readable format of the time delta is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dStr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9377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timedelta</a:t>
            </a:r>
            <a:r>
              <a:rPr lang="tr-TR" dirty="0"/>
              <a:t> Data </a:t>
            </a:r>
            <a:r>
              <a:rPr lang="tr-TR" dirty="0" err="1"/>
              <a:t>Type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D864-D4B7-4B59-AA76-A335D3447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datetime module also provides a </a:t>
            </a:r>
            <a:r>
              <a:rPr lang="en-US" dirty="0" err="1"/>
              <a:t>timedelta</a:t>
            </a:r>
            <a:r>
              <a:rPr lang="en-US" dirty="0"/>
              <a:t> data type, </a:t>
            </a:r>
            <a:endParaRPr lang="tr-TR" dirty="0"/>
          </a:p>
          <a:p>
            <a:r>
              <a:rPr lang="en-US" dirty="0" err="1"/>
              <a:t>timedelta</a:t>
            </a:r>
            <a:r>
              <a:rPr lang="en-US" dirty="0"/>
              <a:t> data type</a:t>
            </a:r>
            <a:endParaRPr lang="tr-TR" dirty="0"/>
          </a:p>
          <a:p>
            <a:pPr lvl="1"/>
            <a:r>
              <a:rPr lang="en-US" dirty="0"/>
              <a:t>represents a</a:t>
            </a:r>
            <a:r>
              <a:rPr lang="tr-TR" dirty="0"/>
              <a:t> </a:t>
            </a:r>
            <a:r>
              <a:rPr lang="en-US" dirty="0"/>
              <a:t>duration of time rather than a moment in time.</a:t>
            </a:r>
            <a:endParaRPr lang="tr-TR" dirty="0"/>
          </a:p>
          <a:p>
            <a:r>
              <a:rPr lang="en-US" dirty="0"/>
              <a:t>to create a </a:t>
            </a:r>
            <a:r>
              <a:rPr lang="en-US" dirty="0" err="1"/>
              <a:t>timedelta</a:t>
            </a:r>
            <a:r>
              <a:rPr lang="en-US" dirty="0"/>
              <a:t> object, we use the </a:t>
            </a:r>
            <a:r>
              <a:rPr lang="en-US" dirty="0" err="1"/>
              <a:t>datetime.timedelta</a:t>
            </a:r>
            <a:r>
              <a:rPr lang="en-US" dirty="0"/>
              <a:t>() function</a:t>
            </a:r>
            <a:endParaRPr lang="tr-TR" dirty="0"/>
          </a:p>
          <a:p>
            <a:r>
              <a:rPr lang="en-US" dirty="0"/>
              <a:t>function takes keyword arguments weeks, days, hours,</a:t>
            </a:r>
            <a:r>
              <a:rPr lang="tr-TR" dirty="0"/>
              <a:t> </a:t>
            </a:r>
            <a:r>
              <a:rPr lang="en-US" dirty="0"/>
              <a:t>minutes, seconds, milliseconds, and microseconds</a:t>
            </a:r>
            <a:endParaRPr lang="tr-TR" dirty="0"/>
          </a:p>
          <a:p>
            <a:r>
              <a:rPr lang="en-US" dirty="0"/>
              <a:t>There is no month or year keyword</a:t>
            </a:r>
            <a:r>
              <a:rPr lang="tr-TR" dirty="0"/>
              <a:t> </a:t>
            </a:r>
            <a:r>
              <a:rPr lang="en-US" dirty="0"/>
              <a:t>argument because “a month” or “a year” is a variable amount of time</a:t>
            </a:r>
            <a:r>
              <a:rPr lang="tr-TR" dirty="0"/>
              <a:t> </a:t>
            </a:r>
            <a:r>
              <a:rPr lang="en-US" dirty="0"/>
              <a:t>depending on the particular month or year.</a:t>
            </a:r>
            <a:endParaRPr lang="tr-TR" dirty="0"/>
          </a:p>
          <a:p>
            <a:r>
              <a:rPr lang="en-US" dirty="0"/>
              <a:t>A </a:t>
            </a:r>
            <a:r>
              <a:rPr lang="en-US" dirty="0" err="1"/>
              <a:t>timedelta</a:t>
            </a:r>
            <a:r>
              <a:rPr lang="en-US" dirty="0"/>
              <a:t> object has the total</a:t>
            </a:r>
            <a:r>
              <a:rPr lang="tr-TR" dirty="0"/>
              <a:t> </a:t>
            </a:r>
            <a:r>
              <a:rPr lang="en-US" dirty="0"/>
              <a:t>duration represented in days, seconds, and microseconds</a:t>
            </a:r>
            <a:endParaRPr lang="tr-TR" dirty="0"/>
          </a:p>
          <a:p>
            <a:r>
              <a:rPr lang="en-US" dirty="0" err="1"/>
              <a:t>total_seconds</a:t>
            </a:r>
            <a:r>
              <a:rPr lang="en-US" dirty="0"/>
              <a:t>() method will return the duration in number of seconds</a:t>
            </a:r>
            <a:r>
              <a:rPr lang="tr-TR" dirty="0"/>
              <a:t> </a:t>
            </a:r>
            <a:r>
              <a:rPr lang="en-US" dirty="0"/>
              <a:t>alone. </a:t>
            </a:r>
            <a:endParaRPr lang="tr-TR" dirty="0"/>
          </a:p>
          <a:p>
            <a:r>
              <a:rPr lang="en-US" dirty="0"/>
              <a:t>Passing a </a:t>
            </a:r>
            <a:r>
              <a:rPr lang="en-US" dirty="0" err="1"/>
              <a:t>timedelta</a:t>
            </a:r>
            <a:r>
              <a:rPr lang="en-US" dirty="0"/>
              <a:t> object to str() will return a nicely formatted,</a:t>
            </a:r>
            <a:r>
              <a:rPr lang="tr-TR" dirty="0"/>
              <a:t> </a:t>
            </a:r>
            <a:r>
              <a:rPr lang="en-US" dirty="0"/>
              <a:t>human-readable string representation of the object</a:t>
            </a:r>
          </a:p>
        </p:txBody>
      </p:sp>
    </p:spTree>
    <p:extLst>
      <p:ext uri="{BB962C8B-B14F-4D97-AF65-F5344CB8AC3E}">
        <p14:creationId xmlns:p14="http://schemas.microsoft.com/office/powerpoint/2010/main" val="1584072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compareSomeSpecialDates</a:t>
            </a:r>
            <a:r>
              <a:rPr lang="tr-TR" dirty="0"/>
              <a:t>()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353CD-01D3-491F-B340-EF2F40E62A3C}"/>
              </a:ext>
            </a:extLst>
          </p:cNvPr>
          <p:cNvSpPr txBox="1"/>
          <p:nvPr/>
        </p:nvSpPr>
        <p:spPr>
          <a:xfrm>
            <a:off x="1883805" y="5569544"/>
            <a:ext cx="76710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Days: 11 Seconds: 36548 Microseconds: 0</a:t>
            </a:r>
          </a:p>
          <a:p>
            <a:r>
              <a:rPr lang="en-US" dirty="0"/>
              <a:t>The total duration passed is 986948.0 seconds</a:t>
            </a:r>
          </a:p>
          <a:p>
            <a:r>
              <a:rPr lang="en-US" dirty="0"/>
              <a:t>Human readable format of the time delta is 11 days, 10:09:08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AE644298-29A9-45FF-B039-8944C6FFED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88805" y="1582340"/>
            <a:ext cx="9294628" cy="3693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displayTimeDeltaInfo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#to create a timedelta object, we use the datetime.timedelta() function</a:t>
            </a:r>
            <a:b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delta = datetime.timedelta(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days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11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hours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minutes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seconds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8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f"Days: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delta.days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Seconds: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delta.seconds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Microseconds: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delta.microseconds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return the duration in number of seconds alone</a:t>
            </a:r>
            <a:b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duration = delta.total_seconds()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f"The total duration passed is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duration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seconds"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Passing a timedelta object to str() will return a nicely formatted,</a:t>
            </a:r>
            <a:b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# human-readable string representation of the object</a:t>
            </a:r>
            <a:b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dStr =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str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(delta)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f"Human readable format of the time delta is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dStr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655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/>
              <a:t>Finding</a:t>
            </a:r>
            <a:r>
              <a:rPr lang="tr-TR" dirty="0"/>
              <a:t> </a:t>
            </a:r>
            <a:r>
              <a:rPr lang="tr-TR" dirty="0" err="1"/>
              <a:t>Days</a:t>
            </a:r>
            <a:r>
              <a:rPr lang="tr-TR" dirty="0"/>
              <a:t> </a:t>
            </a:r>
            <a:r>
              <a:rPr lang="tr-TR" dirty="0" err="1"/>
              <a:t>Passing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a </a:t>
            </a:r>
            <a:r>
              <a:rPr lang="tr-TR" dirty="0" err="1"/>
              <a:t>Date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D864-D4B7-4B59-AA76-A335D3447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First, make a datetime object for the current moment and store it in dt.</a:t>
            </a:r>
          </a:p>
          <a:p>
            <a:r>
              <a:rPr lang="en-US" dirty="0"/>
              <a:t>Then make a </a:t>
            </a:r>
            <a:r>
              <a:rPr lang="en-US" dirty="0" err="1"/>
              <a:t>timedelta</a:t>
            </a:r>
            <a:r>
              <a:rPr lang="en-US" dirty="0"/>
              <a:t> object for a duration of 1,000 days and store it in</a:t>
            </a:r>
            <a:r>
              <a:rPr lang="tr-TR" dirty="0"/>
              <a:t> </a:t>
            </a:r>
            <a:r>
              <a:rPr lang="en-US" dirty="0" err="1"/>
              <a:t>thousandDays</a:t>
            </a:r>
            <a:r>
              <a:rPr lang="en-US" dirty="0"/>
              <a:t>. </a:t>
            </a:r>
            <a:endParaRPr lang="tr-TR" dirty="0"/>
          </a:p>
          <a:p>
            <a:r>
              <a:rPr lang="en-US" dirty="0"/>
              <a:t>Add dt and </a:t>
            </a:r>
            <a:r>
              <a:rPr lang="en-US" dirty="0" err="1"/>
              <a:t>thousandDays</a:t>
            </a:r>
            <a:r>
              <a:rPr lang="en-US" dirty="0"/>
              <a:t> together to get a datetime object for the</a:t>
            </a:r>
            <a:r>
              <a:rPr lang="tr-TR" dirty="0"/>
              <a:t> </a:t>
            </a:r>
            <a:r>
              <a:rPr lang="en-US" dirty="0"/>
              <a:t>date 1,000 days from now. </a:t>
            </a:r>
            <a:endParaRPr lang="tr-TR" dirty="0"/>
          </a:p>
          <a:p>
            <a:r>
              <a:rPr lang="en-US" dirty="0"/>
              <a:t>Python will do the date arithmetic to figure out</a:t>
            </a:r>
            <a:r>
              <a:rPr lang="tr-TR" dirty="0"/>
              <a:t> </a:t>
            </a:r>
            <a:r>
              <a:rPr lang="en-US" dirty="0"/>
              <a:t>that 1,000 days after February 27, 2015, will be November 23, 2017. </a:t>
            </a:r>
            <a:endParaRPr lang="tr-TR" dirty="0"/>
          </a:p>
          <a:p>
            <a:r>
              <a:rPr lang="en-US" dirty="0"/>
              <a:t>This is</a:t>
            </a:r>
            <a:r>
              <a:rPr lang="tr-TR" dirty="0"/>
              <a:t> </a:t>
            </a:r>
            <a:r>
              <a:rPr lang="en-US" dirty="0"/>
              <a:t>useful because when you calculate 1,000 days from a given date, you have to</a:t>
            </a:r>
            <a:r>
              <a:rPr lang="tr-TR" dirty="0"/>
              <a:t> </a:t>
            </a:r>
            <a:r>
              <a:rPr lang="en-US" dirty="0"/>
              <a:t>remember how many days are in each month and factor in leap years and</a:t>
            </a:r>
            <a:r>
              <a:rPr lang="tr-TR" dirty="0"/>
              <a:t> </a:t>
            </a:r>
            <a:r>
              <a:rPr lang="en-US" dirty="0"/>
              <a:t>other tricky details. </a:t>
            </a:r>
            <a:endParaRPr lang="tr-TR" dirty="0"/>
          </a:p>
          <a:p>
            <a:r>
              <a:rPr lang="en-US" dirty="0"/>
              <a:t>The datetime module handles </a:t>
            </a:r>
            <a:r>
              <a:rPr lang="tr-TR" dirty="0" err="1"/>
              <a:t>such</a:t>
            </a:r>
            <a:r>
              <a:rPr lang="tr-TR" dirty="0"/>
              <a:t> </a:t>
            </a:r>
            <a:r>
              <a:rPr lang="tr-TR" dirty="0" err="1"/>
              <a:t>calculations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1916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findDaysAfterNow</a:t>
            </a:r>
            <a:r>
              <a:rPr lang="tr-TR" dirty="0"/>
              <a:t>()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353CD-01D3-491F-B340-EF2F40E62A3C}"/>
              </a:ext>
            </a:extLst>
          </p:cNvPr>
          <p:cNvSpPr txBox="1"/>
          <p:nvPr/>
        </p:nvSpPr>
        <p:spPr>
          <a:xfrm>
            <a:off x="2038218" y="5197405"/>
            <a:ext cx="76710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Current date time	</a:t>
            </a:r>
            <a:r>
              <a:rPr lang="tr-TR" dirty="0"/>
              <a:t>	</a:t>
            </a:r>
            <a:r>
              <a:rPr lang="en-US" dirty="0"/>
              <a:t>:	2022-12-20 09:39:31.818248</a:t>
            </a:r>
          </a:p>
          <a:p>
            <a:r>
              <a:rPr lang="en-US" dirty="0"/>
              <a:t>1000 days from now	:	2025-09-15 09:39:31.818248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90B7E9F-6F8C-4FFC-9C42-0D1C0ECF7F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0123" y="2257486"/>
            <a:ext cx="9889756" cy="193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#Calculates and prints the date time information after passing a number of days from now</a:t>
            </a:r>
            <a:b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findDaysAfterNow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paramDays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dt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datetime.datetime.now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f"Current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date time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\t{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thousandDays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datetime.timedelta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days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paramDays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</a:t>
            </a:r>
            <a:r>
              <a:rPr kumimoji="0" lang="tr-TR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{</a:t>
            </a:r>
            <a:r>
              <a:rPr kumimoji="0" lang="tr-TR" altLang="en-US" sz="2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paramDays</a:t>
            </a:r>
            <a:r>
              <a:rPr kumimoji="0" lang="tr-TR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}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days from now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\t{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dt+thousandDays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1138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/>
              <a:t>Operators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D864-D4B7-4B59-AA76-A335D3447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timedelta</a:t>
            </a:r>
            <a:r>
              <a:rPr lang="en-US" dirty="0"/>
              <a:t> objects can be added or subtracted with datetime objects or</a:t>
            </a:r>
            <a:r>
              <a:rPr lang="tr-TR" dirty="0"/>
              <a:t> </a:t>
            </a:r>
            <a:r>
              <a:rPr lang="en-US" dirty="0"/>
              <a:t>other </a:t>
            </a:r>
            <a:r>
              <a:rPr lang="en-US" dirty="0" err="1"/>
              <a:t>timedelta</a:t>
            </a:r>
            <a:r>
              <a:rPr lang="en-US" dirty="0"/>
              <a:t> objects using the + and - operators. </a:t>
            </a:r>
            <a:endParaRPr lang="tr-TR" dirty="0"/>
          </a:p>
          <a:p>
            <a:r>
              <a:rPr lang="en-US" dirty="0"/>
              <a:t>A </a:t>
            </a:r>
            <a:r>
              <a:rPr lang="en-US" dirty="0" err="1"/>
              <a:t>timedelta</a:t>
            </a:r>
            <a:r>
              <a:rPr lang="en-US" dirty="0"/>
              <a:t> object can be</a:t>
            </a:r>
            <a:r>
              <a:rPr lang="tr-TR" dirty="0"/>
              <a:t> </a:t>
            </a:r>
            <a:r>
              <a:rPr lang="en-US" dirty="0"/>
              <a:t>multiplied or divided by integer or float values with the * and / operators</a:t>
            </a:r>
          </a:p>
        </p:txBody>
      </p:sp>
    </p:spTree>
    <p:extLst>
      <p:ext uri="{BB962C8B-B14F-4D97-AF65-F5344CB8AC3E}">
        <p14:creationId xmlns:p14="http://schemas.microsoft.com/office/powerpoint/2010/main" val="36865278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findYearsAfter</a:t>
            </a:r>
            <a:r>
              <a:rPr lang="tr-TR" dirty="0"/>
              <a:t>()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353CD-01D3-491F-B340-EF2F40E62A3C}"/>
              </a:ext>
            </a:extLst>
          </p:cNvPr>
          <p:cNvSpPr txBox="1"/>
          <p:nvPr/>
        </p:nvSpPr>
        <p:spPr>
          <a:xfrm>
            <a:off x="1263688" y="5027924"/>
            <a:ext cx="1045339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30 years from 2015-10-21 16:29:00	:	2045-10-13 16:29:00</a:t>
            </a:r>
          </a:p>
          <a:p>
            <a:r>
              <a:rPr lang="en-US" dirty="0"/>
              <a:t>30 years before 2015-10-21 16:29:00	:	1985-10-28 16:29:00</a:t>
            </a:r>
          </a:p>
          <a:p>
            <a:r>
              <a:rPr lang="en-US" dirty="0"/>
              <a:t>Current date time	\:	2022-12-20 10:03:55.799449</a:t>
            </a:r>
          </a:p>
          <a:p>
            <a:r>
              <a:rPr lang="en-US" dirty="0"/>
              <a:t>30 years from 2022-12-20 10:03:55.799449	:	2052-12-12 10:03:55.799449</a:t>
            </a:r>
          </a:p>
          <a:p>
            <a:r>
              <a:rPr lang="en-US" dirty="0"/>
              <a:t>2 * 30 (or 60) years before 2022-12-20 10:03:55.799449	:	1963-01-04 10:03:55.799449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2FC6159-593F-4738-A1C4-3C85D24E73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63689" y="1465548"/>
            <a:ext cx="9826070" cy="313932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#Calculates and prints the date time information after passing a number of years from given date time</a:t>
            </a:r>
            <a:b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findYearsAfter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paramYears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dt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datetime.datetime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2015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16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29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yearsAfter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datetime.timedelta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days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365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*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paramYears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years from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}\t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\t{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dt +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yearsAfter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paramYears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years before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}\t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\t{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dt -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yearsAfter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dt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datetime.datetime.now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f"Current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date 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\: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\t{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paramYears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years from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}\t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\t{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dt +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yearsAfter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f"2 *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paramYears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(or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*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paramYears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) years before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}\t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\t{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dt -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*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yearsAfter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1772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Pausing Until a Specific 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D864-D4B7-4B59-AA76-A335D3447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err="1"/>
              <a:t>time.sleep</a:t>
            </a:r>
            <a:r>
              <a:rPr lang="en-US" dirty="0"/>
              <a:t>() method lets you pause a program for a certain number of seconds.</a:t>
            </a:r>
          </a:p>
          <a:p>
            <a:r>
              <a:rPr lang="en-US" dirty="0"/>
              <a:t>By using a while loop, you can pause your programs until a specific date.</a:t>
            </a:r>
          </a:p>
        </p:txBody>
      </p:sp>
    </p:spTree>
    <p:extLst>
      <p:ext uri="{BB962C8B-B14F-4D97-AF65-F5344CB8AC3E}">
        <p14:creationId xmlns:p14="http://schemas.microsoft.com/office/powerpoint/2010/main" val="29779985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findYearsAfter</a:t>
            </a:r>
            <a:r>
              <a:rPr lang="tr-TR" dirty="0"/>
              <a:t>()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353CD-01D3-491F-B340-EF2F40E62A3C}"/>
              </a:ext>
            </a:extLst>
          </p:cNvPr>
          <p:cNvSpPr txBox="1"/>
          <p:nvPr/>
        </p:nvSpPr>
        <p:spPr>
          <a:xfrm>
            <a:off x="1263688" y="5027924"/>
            <a:ext cx="104533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Notice, going to wait until 2022-12-20 13:41:40.517478 (0:01:30 seconds from now on) ...</a:t>
            </a:r>
          </a:p>
          <a:p>
            <a:r>
              <a:rPr lang="en-US" dirty="0"/>
              <a:t>1 2 3 4 5 6 7 8 9 10 11 12 13 14 15 16 17 18 19 20 21 22 23 24 25 26 27 28 29 30 </a:t>
            </a:r>
          </a:p>
          <a:p>
            <a:r>
              <a:rPr lang="en-US" dirty="0"/>
              <a:t>31 32 33 34 35 36 37 38 39 40 41 42 43 44 45 46 47 48 49 50 51 52 53 54 55 56 57 58 59 60 </a:t>
            </a:r>
          </a:p>
          <a:p>
            <a:r>
              <a:rPr lang="en-US" dirty="0"/>
              <a:t>61 62 63 64 65 66 67 68 69 70 71 72 73 74 75 76 77 78 79 80 81 82 83 84 85 86 87 88 89 90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48EAB0-A880-4553-856D-D9574FBEB1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63650" y="1327142"/>
            <a:ext cx="9230685" cy="341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#Wait until a specific time passes. The argument is the duration in timedelta format</a:t>
            </a:r>
            <a:b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waitForDeltaTime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paramDelta: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datetime.timedelta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halloween2016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datetime.datetime(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2016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31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wt = datetime.datetime.now() + paramDelta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f"Notice, going to wait until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wt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(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paramDelta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seconds from now on) ..."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i =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while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datetime.datetime.now() &lt; wt: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i +=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(i,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end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 "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 %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30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==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time.sleep(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5464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Converting datetime Objects into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D864-D4B7-4B59-AA76-A335D3447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Epoch timestamps and datetime objects aren’t very friendly to the human</a:t>
            </a:r>
            <a:r>
              <a:rPr lang="tr-TR" dirty="0"/>
              <a:t> </a:t>
            </a:r>
            <a:r>
              <a:rPr lang="en-US" dirty="0"/>
              <a:t>eye. </a:t>
            </a:r>
            <a:endParaRPr lang="tr-TR" dirty="0"/>
          </a:p>
          <a:p>
            <a:r>
              <a:rPr lang="en-US" dirty="0"/>
              <a:t>Use the </a:t>
            </a:r>
            <a:r>
              <a:rPr lang="en-US" dirty="0" err="1"/>
              <a:t>strftime</a:t>
            </a:r>
            <a:r>
              <a:rPr lang="en-US" dirty="0"/>
              <a:t>() method to display a datetime object as a string. </a:t>
            </a:r>
            <a:endParaRPr lang="tr-TR" dirty="0"/>
          </a:p>
          <a:p>
            <a:pPr lvl="1"/>
            <a:r>
              <a:rPr lang="en-US" dirty="0"/>
              <a:t>The</a:t>
            </a:r>
            <a:r>
              <a:rPr lang="tr-TR" dirty="0"/>
              <a:t> </a:t>
            </a:r>
            <a:r>
              <a:rPr lang="en-US" dirty="0"/>
              <a:t>f in the name of the </a:t>
            </a:r>
            <a:r>
              <a:rPr lang="en-US" dirty="0" err="1"/>
              <a:t>strftime</a:t>
            </a:r>
            <a:r>
              <a:rPr lang="en-US" dirty="0"/>
              <a:t>() function stands for format.</a:t>
            </a:r>
          </a:p>
          <a:p>
            <a:r>
              <a:rPr lang="en-US" dirty="0"/>
              <a:t>The </a:t>
            </a:r>
            <a:r>
              <a:rPr lang="en-US" dirty="0" err="1"/>
              <a:t>strftime</a:t>
            </a:r>
            <a:r>
              <a:rPr lang="en-US" dirty="0"/>
              <a:t>() method uses directives similar to Python’s string formatting.</a:t>
            </a:r>
          </a:p>
        </p:txBody>
      </p:sp>
    </p:spTree>
    <p:extLst>
      <p:ext uri="{BB962C8B-B14F-4D97-AF65-F5344CB8AC3E}">
        <p14:creationId xmlns:p14="http://schemas.microsoft.com/office/powerpoint/2010/main" val="16058578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DDEF810-FBAE-4C80-B905-316331395C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46">
            <a:extLst>
              <a:ext uri="{FF2B5EF4-FFF2-40B4-BE49-F238E27FC236}">
                <a16:creationId xmlns:a16="http://schemas.microsoft.com/office/drawing/2014/main" id="{FD8C7A0F-D774-4978-AA9C-7E703C2F4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344168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47">
            <a:extLst>
              <a:ext uri="{FF2B5EF4-FFF2-40B4-BE49-F238E27FC236}">
                <a16:creationId xmlns:a16="http://schemas.microsoft.com/office/drawing/2014/main" id="{61C7310A-3A42-4F75-8058-7F39E52B1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344168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D88313-56C7-45D8-8D97-2F5CCBF996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1544897" cy="1179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88894"/>
            <a:ext cx="10306520" cy="88073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Table 15-1: strftime() Directives</a:t>
            </a:r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977385EA-5841-486F-A9EF-863F609F44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7334194"/>
              </p:ext>
            </p:extLst>
          </p:nvPr>
        </p:nvGraphicFramePr>
        <p:xfrm>
          <a:off x="1864895" y="1985062"/>
          <a:ext cx="7757570" cy="452401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63365">
                  <a:extLst>
                    <a:ext uri="{9D8B030D-6E8A-4147-A177-3AD203B41FA5}">
                      <a16:colId xmlns:a16="http://schemas.microsoft.com/office/drawing/2014/main" val="7745746"/>
                    </a:ext>
                  </a:extLst>
                </a:gridCol>
                <a:gridCol w="6794205">
                  <a:extLst>
                    <a:ext uri="{9D8B030D-6E8A-4147-A177-3AD203B41FA5}">
                      <a16:colId xmlns:a16="http://schemas.microsoft.com/office/drawing/2014/main" val="730710501"/>
                    </a:ext>
                  </a:extLst>
                </a:gridCol>
              </a:tblGrid>
              <a:tr h="2687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strftime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directive Meaning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extLst>
                  <a:ext uri="{0D108BD9-81ED-4DB2-BD59-A6C34878D82A}">
                    <a16:rowId xmlns:a16="http://schemas.microsoft.com/office/drawing/2014/main" val="3309920593"/>
                  </a:ext>
                </a:extLst>
              </a:tr>
              <a:tr h="2653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%Y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Year with century, as in '2014'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extLst>
                  <a:ext uri="{0D108BD9-81ED-4DB2-BD59-A6C34878D82A}">
                    <a16:rowId xmlns:a16="http://schemas.microsoft.com/office/drawing/2014/main" val="1605577225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%y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Year without century, '00' to '99' (1970 to 2069)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extLst>
                  <a:ext uri="{0D108BD9-81ED-4DB2-BD59-A6C34878D82A}">
                    <a16:rowId xmlns:a16="http://schemas.microsoft.com/office/drawing/2014/main" val="3964201290"/>
                  </a:ext>
                </a:extLst>
              </a:tr>
              <a:tr h="2653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%m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Month as a decimal number, '01' to '12'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extLst>
                  <a:ext uri="{0D108BD9-81ED-4DB2-BD59-A6C34878D82A}">
                    <a16:rowId xmlns:a16="http://schemas.microsoft.com/office/drawing/2014/main" val="1813542800"/>
                  </a:ext>
                </a:extLst>
              </a:tr>
              <a:tr h="2653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%B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Full month name, as in 'November'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extLst>
                  <a:ext uri="{0D108BD9-81ED-4DB2-BD59-A6C34878D82A}">
                    <a16:rowId xmlns:a16="http://schemas.microsoft.com/office/drawing/2014/main" val="3287487495"/>
                  </a:ext>
                </a:extLst>
              </a:tr>
              <a:tr h="2653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%b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Abbreviated month name, as in 'Nov'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extLst>
                  <a:ext uri="{0D108BD9-81ED-4DB2-BD59-A6C34878D82A}">
                    <a16:rowId xmlns:a16="http://schemas.microsoft.com/office/drawing/2014/main" val="1716222337"/>
                  </a:ext>
                </a:extLst>
              </a:tr>
              <a:tr h="2653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%d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Day of the month, '01' to '31'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extLst>
                  <a:ext uri="{0D108BD9-81ED-4DB2-BD59-A6C34878D82A}">
                    <a16:rowId xmlns:a16="http://schemas.microsoft.com/office/drawing/2014/main" val="2585995395"/>
                  </a:ext>
                </a:extLst>
              </a:tr>
              <a:tr h="2653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%j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Day of the year, '001' to '366'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extLst>
                  <a:ext uri="{0D108BD9-81ED-4DB2-BD59-A6C34878D82A}">
                    <a16:rowId xmlns:a16="http://schemas.microsoft.com/office/drawing/2014/main" val="693091764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%w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Day of the week, '0' (Sunday) to '6' (Saturday)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extLst>
                  <a:ext uri="{0D108BD9-81ED-4DB2-BD59-A6C34878D82A}">
                    <a16:rowId xmlns:a16="http://schemas.microsoft.com/office/drawing/2014/main" val="4059186167"/>
                  </a:ext>
                </a:extLst>
              </a:tr>
              <a:tr h="2653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%A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Full weekday name, as in 'Monday'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extLst>
                  <a:ext uri="{0D108BD9-81ED-4DB2-BD59-A6C34878D82A}">
                    <a16:rowId xmlns:a16="http://schemas.microsoft.com/office/drawing/2014/main" val="3864016139"/>
                  </a:ext>
                </a:extLst>
              </a:tr>
              <a:tr h="2653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%a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Abbreviated weekday name, as in 'Mon'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extLst>
                  <a:ext uri="{0D108BD9-81ED-4DB2-BD59-A6C34878D82A}">
                    <a16:rowId xmlns:a16="http://schemas.microsoft.com/office/drawing/2014/main" val="374084244"/>
                  </a:ext>
                </a:extLst>
              </a:tr>
              <a:tr h="2653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%H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Hour (24-hour clock), '00' to '23'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extLst>
                  <a:ext uri="{0D108BD9-81ED-4DB2-BD59-A6C34878D82A}">
                    <a16:rowId xmlns:a16="http://schemas.microsoft.com/office/drawing/2014/main" val="906406803"/>
                  </a:ext>
                </a:extLst>
              </a:tr>
              <a:tr h="2653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%I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Hour (12-hour clock), '01' to '12'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extLst>
                  <a:ext uri="{0D108BD9-81ED-4DB2-BD59-A6C34878D82A}">
                    <a16:rowId xmlns:a16="http://schemas.microsoft.com/office/drawing/2014/main" val="2867938760"/>
                  </a:ext>
                </a:extLst>
              </a:tr>
              <a:tr h="2653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%M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Minute, '00' to '59'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extLst>
                  <a:ext uri="{0D108BD9-81ED-4DB2-BD59-A6C34878D82A}">
                    <a16:rowId xmlns:a16="http://schemas.microsoft.com/office/drawing/2014/main" val="2456870940"/>
                  </a:ext>
                </a:extLst>
              </a:tr>
              <a:tr h="2653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%S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Second, '00' to '59'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extLst>
                  <a:ext uri="{0D108BD9-81ED-4DB2-BD59-A6C34878D82A}">
                    <a16:rowId xmlns:a16="http://schemas.microsoft.com/office/drawing/2014/main" val="1902307319"/>
                  </a:ext>
                </a:extLst>
              </a:tr>
              <a:tr h="2653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%p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'AM' or 'PM'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extLst>
                  <a:ext uri="{0D108BD9-81ED-4DB2-BD59-A6C34878D82A}">
                    <a16:rowId xmlns:a16="http://schemas.microsoft.com/office/drawing/2014/main" val="1960720831"/>
                  </a:ext>
                </a:extLst>
              </a:tr>
              <a:tr h="2687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%%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Literal '%' character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9374" marR="79374" marT="0" marB="0"/>
                </a:tc>
                <a:extLst>
                  <a:ext uri="{0D108BD9-81ED-4DB2-BD59-A6C34878D82A}">
                    <a16:rowId xmlns:a16="http://schemas.microsoft.com/office/drawing/2014/main" val="1544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6266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Pausing Until a Specific 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D864-D4B7-4B59-AA76-A335D3447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Pass </a:t>
            </a:r>
            <a:r>
              <a:rPr lang="en-US" dirty="0" err="1"/>
              <a:t>strrftime</a:t>
            </a:r>
            <a:r>
              <a:rPr lang="en-US" dirty="0"/>
              <a:t>() a custom format string containing formatting directives</a:t>
            </a:r>
            <a:r>
              <a:rPr lang="tr-TR" dirty="0"/>
              <a:t> </a:t>
            </a:r>
            <a:r>
              <a:rPr lang="en-US" dirty="0"/>
              <a:t>(along with any desired slashes, colons, and so on), and </a:t>
            </a:r>
            <a:r>
              <a:rPr lang="en-US" dirty="0" err="1"/>
              <a:t>strftime</a:t>
            </a:r>
            <a:r>
              <a:rPr lang="en-US" dirty="0"/>
              <a:t>() will</a:t>
            </a:r>
            <a:r>
              <a:rPr lang="tr-TR" dirty="0"/>
              <a:t> </a:t>
            </a:r>
            <a:r>
              <a:rPr lang="en-US" dirty="0"/>
              <a:t>return the datetime object’s information as a formatted string.</a:t>
            </a:r>
          </a:p>
        </p:txBody>
      </p:sp>
    </p:spTree>
    <p:extLst>
      <p:ext uri="{BB962C8B-B14F-4D97-AF65-F5344CB8AC3E}">
        <p14:creationId xmlns:p14="http://schemas.microsoft.com/office/powerpoint/2010/main" val="6267218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printDateTimeInFormats</a:t>
            </a:r>
            <a:r>
              <a:rPr lang="en-US" dirty="0"/>
              <a:t>(</a:t>
            </a:r>
            <a:r>
              <a:rPr lang="tr-TR" dirty="0"/>
              <a:t>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353CD-01D3-491F-B340-EF2F40E62A3C}"/>
              </a:ext>
            </a:extLst>
          </p:cNvPr>
          <p:cNvSpPr txBox="1"/>
          <p:nvPr/>
        </p:nvSpPr>
        <p:spPr>
          <a:xfrm>
            <a:off x="1561400" y="3870211"/>
            <a:ext cx="956025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Date-Time in </a:t>
            </a:r>
            <a:r>
              <a:rPr lang="en-US" dirty="0" err="1"/>
              <a:t>yyyy</a:t>
            </a:r>
            <a:r>
              <a:rPr lang="en-US" dirty="0"/>
              <a:t>/mm/dd Format: 2015/10/21 16:29:00</a:t>
            </a:r>
          </a:p>
          <a:p>
            <a:r>
              <a:rPr lang="en-US" dirty="0"/>
              <a:t>Date-Time in </a:t>
            </a:r>
            <a:r>
              <a:rPr lang="en-US" dirty="0" err="1"/>
              <a:t>dd.mm.yyyy</a:t>
            </a:r>
            <a:r>
              <a:rPr lang="en-US" dirty="0"/>
              <a:t> Format: 21.10.2015 16:29:00</a:t>
            </a:r>
          </a:p>
          <a:p>
            <a:r>
              <a:rPr lang="en-US" dirty="0"/>
              <a:t>Time in </a:t>
            </a:r>
            <a:r>
              <a:rPr lang="en-US" dirty="0" err="1"/>
              <a:t>hh:mm</a:t>
            </a:r>
            <a:r>
              <a:rPr lang="en-US" dirty="0"/>
              <a:t> AM/PM Format: 04:29 PM</a:t>
            </a:r>
          </a:p>
          <a:p>
            <a:r>
              <a:rPr lang="en-US" dirty="0"/>
              <a:t>Time in </a:t>
            </a:r>
            <a:r>
              <a:rPr lang="en-US" dirty="0" err="1"/>
              <a:t>hh:mm</a:t>
            </a:r>
            <a:r>
              <a:rPr lang="en-US" dirty="0"/>
              <a:t> 24 Hours Format: 16:29</a:t>
            </a:r>
          </a:p>
          <a:p>
            <a:r>
              <a:rPr lang="en-US" dirty="0"/>
              <a:t>Date in month of Format: October of '15, Wednesday</a:t>
            </a:r>
          </a:p>
          <a:p>
            <a:r>
              <a:rPr lang="en-US" dirty="0"/>
              <a:t>Date-Time in </a:t>
            </a:r>
            <a:r>
              <a:rPr lang="en-US" dirty="0" err="1"/>
              <a:t>yyyy</a:t>
            </a:r>
            <a:r>
              <a:rPr lang="en-US" dirty="0"/>
              <a:t>/mm/dd Format: 2022/12/20 15:20:27</a:t>
            </a:r>
          </a:p>
          <a:p>
            <a:r>
              <a:rPr lang="en-US" dirty="0"/>
              <a:t>Date-Time in </a:t>
            </a:r>
            <a:r>
              <a:rPr lang="en-US" dirty="0" err="1"/>
              <a:t>dd.mm.yyyy</a:t>
            </a:r>
            <a:r>
              <a:rPr lang="en-US" dirty="0"/>
              <a:t> Format: 20.12.2022 15:20:27</a:t>
            </a:r>
          </a:p>
          <a:p>
            <a:r>
              <a:rPr lang="en-US" dirty="0"/>
              <a:t>Time in </a:t>
            </a:r>
            <a:r>
              <a:rPr lang="en-US" dirty="0" err="1"/>
              <a:t>hh:mm</a:t>
            </a:r>
            <a:r>
              <a:rPr lang="en-US" dirty="0"/>
              <a:t> AM/PM Format: 03:20 PM</a:t>
            </a:r>
          </a:p>
          <a:p>
            <a:r>
              <a:rPr lang="en-US" dirty="0"/>
              <a:t>Time in </a:t>
            </a:r>
            <a:r>
              <a:rPr lang="en-US" dirty="0" err="1"/>
              <a:t>hh:mm</a:t>
            </a:r>
            <a:r>
              <a:rPr lang="en-US" dirty="0"/>
              <a:t> 24 Hours Format: 15:20</a:t>
            </a:r>
          </a:p>
          <a:p>
            <a:r>
              <a:rPr lang="en-US" dirty="0"/>
              <a:t>Date in month of Format: December of '22, Tuesday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DC51D8F-24BA-4430-8B23-1671B18708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48711" y="1690688"/>
            <a:ext cx="9677251" cy="2031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Print the date time information in various formats using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strftime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() method of datetime</a:t>
            </a:r>
            <a:b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printDateTimeInFormats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paramDateTime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"Date-Time in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yyyy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/mm/dd Format:"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paramDateTime.strftime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'%Y/%m/%d %H:%M:%S'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"Date-Time in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dd.mm.yyyy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Format:"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paramDateTime.strftime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'%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d.%m.%Y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%H:%M:%S'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"Time in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hh:mm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AM/PM Format:"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paramDateTime.strftime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'%I:%M %p'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"Time in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hh:mm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24 Hours Format:"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paramDateTime.strftime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'%H:%M'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"Date in month of Format:"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paramDateTime.strftime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"%B of '%y, %A"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8144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Converting Strings into datetime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D864-D4B7-4B59-AA76-A335D3447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you have a string of date information, such as '2015/10/21 16:29:00’</a:t>
            </a:r>
            <a:r>
              <a:rPr lang="tr-TR" dirty="0"/>
              <a:t> </a:t>
            </a:r>
            <a:r>
              <a:rPr lang="en-US" dirty="0"/>
              <a:t>or 'October 21, 2015', and need to convert it to a datetime object, use the</a:t>
            </a:r>
            <a:r>
              <a:rPr lang="tr-TR" dirty="0"/>
              <a:t> </a:t>
            </a:r>
            <a:r>
              <a:rPr lang="en-US" dirty="0" err="1"/>
              <a:t>datetime.datetime.strptime</a:t>
            </a:r>
            <a:r>
              <a:rPr lang="en-US" dirty="0"/>
              <a:t>() function. </a:t>
            </a:r>
            <a:endParaRPr lang="tr-TR" dirty="0"/>
          </a:p>
          <a:p>
            <a:r>
              <a:rPr lang="en-US" dirty="0"/>
              <a:t>The </a:t>
            </a:r>
            <a:r>
              <a:rPr lang="en-US" dirty="0" err="1"/>
              <a:t>strptime</a:t>
            </a:r>
            <a:r>
              <a:rPr lang="en-US" dirty="0"/>
              <a:t>() function is the inverse</a:t>
            </a:r>
            <a:r>
              <a:rPr lang="tr-TR" dirty="0"/>
              <a:t> </a:t>
            </a:r>
            <a:r>
              <a:rPr lang="en-US" dirty="0"/>
              <a:t>of the </a:t>
            </a:r>
            <a:r>
              <a:rPr lang="en-US" dirty="0" err="1"/>
              <a:t>strftime</a:t>
            </a:r>
            <a:r>
              <a:rPr lang="en-US" dirty="0"/>
              <a:t>() method. </a:t>
            </a:r>
            <a:endParaRPr lang="tr-TR" dirty="0"/>
          </a:p>
          <a:p>
            <a:r>
              <a:rPr lang="en-US" dirty="0"/>
              <a:t>A custom format string using the same directives</a:t>
            </a:r>
            <a:r>
              <a:rPr lang="tr-TR" dirty="0"/>
              <a:t> </a:t>
            </a:r>
            <a:r>
              <a:rPr lang="en-US" dirty="0"/>
              <a:t>as </a:t>
            </a:r>
            <a:r>
              <a:rPr lang="en-US" dirty="0" err="1"/>
              <a:t>strftime</a:t>
            </a:r>
            <a:r>
              <a:rPr lang="en-US" dirty="0"/>
              <a:t>() must be passed so that </a:t>
            </a:r>
            <a:r>
              <a:rPr lang="en-US" dirty="0" err="1"/>
              <a:t>strptime</a:t>
            </a:r>
            <a:r>
              <a:rPr lang="en-US" dirty="0"/>
              <a:t>() knows how to parse</a:t>
            </a:r>
            <a:r>
              <a:rPr lang="tr-TR" dirty="0"/>
              <a:t> </a:t>
            </a:r>
            <a:r>
              <a:rPr lang="en-US" dirty="0"/>
              <a:t>and understand the string.</a:t>
            </a:r>
            <a:endParaRPr lang="tr-TR" dirty="0"/>
          </a:p>
          <a:p>
            <a:r>
              <a:rPr lang="en-US" dirty="0"/>
              <a:t>The p in the name of the </a:t>
            </a:r>
            <a:r>
              <a:rPr lang="en-US" dirty="0" err="1"/>
              <a:t>strptime</a:t>
            </a:r>
            <a:r>
              <a:rPr lang="en-US" dirty="0"/>
              <a:t>() function</a:t>
            </a:r>
            <a:r>
              <a:rPr lang="tr-TR" dirty="0"/>
              <a:t> </a:t>
            </a:r>
            <a:r>
              <a:rPr lang="en-US" dirty="0"/>
              <a:t>stands for parse.</a:t>
            </a:r>
          </a:p>
        </p:txBody>
      </p:sp>
    </p:spTree>
    <p:extLst>
      <p:ext uri="{BB962C8B-B14F-4D97-AF65-F5344CB8AC3E}">
        <p14:creationId xmlns:p14="http://schemas.microsoft.com/office/powerpoint/2010/main" val="28479693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printDateTimeInFormats</a:t>
            </a:r>
            <a:r>
              <a:rPr lang="en-US" dirty="0"/>
              <a:t>(</a:t>
            </a:r>
            <a:r>
              <a:rPr lang="tr-TR" dirty="0"/>
              <a:t>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353CD-01D3-491F-B340-EF2F40E62A3C}"/>
              </a:ext>
            </a:extLst>
          </p:cNvPr>
          <p:cNvSpPr txBox="1"/>
          <p:nvPr/>
        </p:nvSpPr>
        <p:spPr>
          <a:xfrm>
            <a:off x="1465707" y="5292546"/>
            <a:ext cx="95602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yyyy</a:t>
            </a:r>
            <a:r>
              <a:rPr lang="en-US" dirty="0"/>
              <a:t>-mm-dd formatted: 2015-10-21 00:00:00 converted from 'October 21, 2015'</a:t>
            </a:r>
          </a:p>
          <a:p>
            <a:r>
              <a:rPr lang="en-US" dirty="0" err="1"/>
              <a:t>yyyy</a:t>
            </a:r>
            <a:r>
              <a:rPr lang="en-US" dirty="0"/>
              <a:t>-mm-dd  formatted: 2015-10-21 16:29:00 converted from 2015/10/21 16:29:00'</a:t>
            </a:r>
          </a:p>
          <a:p>
            <a:r>
              <a:rPr lang="en-US" dirty="0" err="1"/>
              <a:t>yyyy</a:t>
            </a:r>
            <a:r>
              <a:rPr lang="en-US" dirty="0"/>
              <a:t>-mm-dd formatted: 2015-10-01 00:00:00 converted from October of '15</a:t>
            </a:r>
          </a:p>
          <a:p>
            <a:r>
              <a:rPr lang="en-US" dirty="0" err="1"/>
              <a:t>yyyy</a:t>
            </a:r>
            <a:r>
              <a:rPr lang="en-US" dirty="0"/>
              <a:t>-mm-dd formatted: 2063-11-01 00:00:00 converted from November of '63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C6DEE3-1254-4EB8-957F-622FED22D2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74948" y="1687406"/>
            <a:ext cx="8453844" cy="329320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Convert strings to the date time objects</a:t>
            </a:r>
            <a:b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convertStrToDateTime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dt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datetime.datetime.strptime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'October 21, 2015'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'%B %d, %Y'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f"yyyy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-mm-dd formatted: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converted from 'October 21, 2015'"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dt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datetime.datetime.strptime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'2015/10/21 16:29:00'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'%Y/%m/%d %H:%M:%S'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f"yyyy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-mm-dd formatted: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converted from 2015/10/21 16:29:00'"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dt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datetime.datetime.strptime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"October of '15"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"%B of '%y"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f"yyyy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-mm-dd formatted: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converted from October of '15"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dt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datetime.datetime.strptime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"November of '63"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"%B of '%y"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f"yyyy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-mm-dd formatted: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converted from November of '63"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8341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C846E-F040-4913-8091-51C3DE77A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Multithreading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88F8E-9518-4E33-B79F-DDE49DC61D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6228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Converting Strings into datetime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D864-D4B7-4B59-AA76-A335D3447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introduce the concept of multithreading, let’s look at an example situation.</a:t>
            </a:r>
          </a:p>
          <a:p>
            <a:r>
              <a:rPr lang="en-US" dirty="0"/>
              <a:t>Say you want to schedule some code to run after a delay or at a</a:t>
            </a:r>
            <a:r>
              <a:rPr lang="tr-TR" dirty="0"/>
              <a:t> </a:t>
            </a:r>
            <a:r>
              <a:rPr lang="en-US" dirty="0"/>
              <a:t>specific</a:t>
            </a:r>
            <a:r>
              <a:rPr lang="tr-TR" dirty="0"/>
              <a:t> </a:t>
            </a:r>
            <a:r>
              <a:rPr lang="en-US" dirty="0"/>
              <a:t>time.</a:t>
            </a:r>
          </a:p>
        </p:txBody>
      </p:sp>
    </p:spTree>
    <p:extLst>
      <p:ext uri="{BB962C8B-B14F-4D97-AF65-F5344CB8AC3E}">
        <p14:creationId xmlns:p14="http://schemas.microsoft.com/office/powerpoint/2010/main" val="12117054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waitForFun</a:t>
            </a:r>
            <a:r>
              <a:rPr lang="en-US" dirty="0"/>
              <a:t>(</a:t>
            </a:r>
            <a:r>
              <a:rPr lang="tr-TR" dirty="0"/>
              <a:t>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353CD-01D3-491F-B340-EF2F40E62A3C}"/>
              </a:ext>
            </a:extLst>
          </p:cNvPr>
          <p:cNvSpPr txBox="1"/>
          <p:nvPr/>
        </p:nvSpPr>
        <p:spPr>
          <a:xfrm>
            <a:off x="1455074" y="5647112"/>
            <a:ext cx="95602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Waiting until 2022-12-21 17:55:41.116208</a:t>
            </a:r>
          </a:p>
          <a:p>
            <a:r>
              <a:rPr lang="en-US" dirty="0"/>
              <a:t>............................................................</a:t>
            </a:r>
          </a:p>
          <a:p>
            <a:r>
              <a:rPr lang="en-US" dirty="0"/>
              <a:t>Now starting the fun...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B2D7359-3B59-420F-9475-ACC3DDCD62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74763" y="1349387"/>
            <a:ext cx="9740566" cy="39703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#Waits for a time passed as parameter, displaying the second ticks as . and prints a message at the end</a:t>
            </a:r>
            <a:b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waitForFun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paramDateTime):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paramDateTime &lt; datetime.datetime.now():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start time is older, so by default set it to now plus 1 minutes</a:t>
            </a:r>
            <a:b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startTime = datetime.datetime.now() + datetime.timedelta(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seconds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60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else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startTime = paramDateTime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f"Waiting until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startTime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)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while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datetime.datetime.now() &lt; startTime: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"."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end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time.sleep(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Now starting the fun...'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01924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/>
              <a:t>Multithreaded</a:t>
            </a:r>
            <a:r>
              <a:rPr lang="tr-TR" dirty="0"/>
              <a:t> Program </a:t>
            </a:r>
            <a:r>
              <a:rPr lang="tr-TR" dirty="0" err="1"/>
              <a:t>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D864-D4B7-4B59-AA76-A335D3447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dirty="0" err="1"/>
              <a:t>singlethreaded</a:t>
            </a:r>
            <a:r>
              <a:rPr lang="tr-TR" dirty="0"/>
              <a:t> </a:t>
            </a:r>
            <a:r>
              <a:rPr lang="en-US" dirty="0"/>
              <a:t>program has only one finger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point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next</a:t>
            </a:r>
            <a:r>
              <a:rPr lang="tr-TR" dirty="0"/>
              <a:t> </a:t>
            </a:r>
            <a:r>
              <a:rPr lang="tr-TR" dirty="0" err="1"/>
              <a:t>line</a:t>
            </a:r>
            <a:endParaRPr lang="tr-TR" dirty="0"/>
          </a:p>
          <a:p>
            <a:r>
              <a:rPr lang="en-US" dirty="0"/>
              <a:t>a multithreaded program has multiple</a:t>
            </a:r>
            <a:r>
              <a:rPr lang="tr-TR" dirty="0"/>
              <a:t> </a:t>
            </a:r>
            <a:r>
              <a:rPr lang="en-US" dirty="0"/>
              <a:t>fingers</a:t>
            </a:r>
            <a:r>
              <a:rPr lang="tr-TR" dirty="0"/>
              <a:t> </a:t>
            </a:r>
            <a:r>
              <a:rPr lang="en-US" dirty="0"/>
              <a:t>to </a:t>
            </a:r>
            <a:r>
              <a:rPr lang="tr-TR" dirty="0" err="1"/>
              <a:t>point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en-US" dirty="0"/>
              <a:t> executing different lines of code at the same time.</a:t>
            </a:r>
            <a:endParaRPr lang="tr-TR" dirty="0"/>
          </a:p>
          <a:p>
            <a:r>
              <a:rPr lang="en-US" dirty="0"/>
              <a:t>Rather than having all of your code wait until the </a:t>
            </a:r>
            <a:r>
              <a:rPr lang="en-US" dirty="0" err="1"/>
              <a:t>time.sleep</a:t>
            </a:r>
            <a:r>
              <a:rPr lang="en-US" dirty="0"/>
              <a:t>() function</a:t>
            </a:r>
            <a:r>
              <a:rPr lang="tr-TR" dirty="0"/>
              <a:t> </a:t>
            </a:r>
            <a:r>
              <a:rPr lang="en-US" dirty="0"/>
              <a:t>finishes, you can execute the delayed or scheduled code in a separate</a:t>
            </a:r>
            <a:r>
              <a:rPr lang="tr-TR" dirty="0"/>
              <a:t> </a:t>
            </a:r>
            <a:r>
              <a:rPr lang="en-US" dirty="0"/>
              <a:t>thread using Python’s threading module.</a:t>
            </a:r>
            <a:endParaRPr lang="tr-TR" dirty="0"/>
          </a:p>
          <a:p>
            <a:r>
              <a:rPr lang="en-US" dirty="0"/>
              <a:t>The separate thread will pause</a:t>
            </a:r>
            <a:r>
              <a:rPr lang="tr-TR" dirty="0"/>
              <a:t> </a:t>
            </a:r>
            <a:r>
              <a:rPr lang="en-US" dirty="0"/>
              <a:t>for the </a:t>
            </a:r>
            <a:r>
              <a:rPr lang="en-US" dirty="0" err="1"/>
              <a:t>time.sleep</a:t>
            </a:r>
            <a:r>
              <a:rPr lang="en-US" dirty="0"/>
              <a:t> calls. </a:t>
            </a:r>
            <a:endParaRPr lang="tr-TR" dirty="0"/>
          </a:p>
          <a:p>
            <a:r>
              <a:rPr lang="en-US" dirty="0"/>
              <a:t>Meanwhile, your program can do other work in the</a:t>
            </a:r>
            <a:r>
              <a:rPr lang="tr-TR" dirty="0"/>
              <a:t> </a:t>
            </a:r>
            <a:r>
              <a:rPr lang="en-US" dirty="0"/>
              <a:t>original thread.</a:t>
            </a:r>
            <a:endParaRPr lang="tr-TR" dirty="0"/>
          </a:p>
          <a:p>
            <a:r>
              <a:rPr lang="en-US" dirty="0"/>
              <a:t>To make a separate thread, you first need to make a Thread object by</a:t>
            </a:r>
            <a:r>
              <a:rPr lang="tr-TR" dirty="0"/>
              <a:t> </a:t>
            </a:r>
            <a:r>
              <a:rPr lang="en-US" dirty="0"/>
              <a:t>calling</a:t>
            </a:r>
            <a:r>
              <a:rPr lang="tr-TR" dirty="0"/>
              <a:t> </a:t>
            </a:r>
            <a:r>
              <a:rPr lang="en-US" dirty="0"/>
              <a:t>the </a:t>
            </a:r>
            <a:r>
              <a:rPr lang="en-US" dirty="0" err="1"/>
              <a:t>threading.Thread</a:t>
            </a:r>
            <a:r>
              <a:rPr lang="en-US" dirty="0"/>
              <a:t>() function.</a:t>
            </a:r>
          </a:p>
        </p:txBody>
      </p:sp>
    </p:spTree>
    <p:extLst>
      <p:ext uri="{BB962C8B-B14F-4D97-AF65-F5344CB8AC3E}">
        <p14:creationId xmlns:p14="http://schemas.microsoft.com/office/powerpoint/2010/main" val="2115028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1"/>
            <a:ext cx="10515600" cy="972214"/>
          </a:xfrm>
        </p:spPr>
        <p:txBody>
          <a:bodyPr/>
          <a:lstStyle/>
          <a:p>
            <a:pPr algn="ctr"/>
            <a:r>
              <a:rPr lang="tr-TR" dirty="0" err="1"/>
              <a:t>Example</a:t>
            </a:r>
            <a:r>
              <a:rPr lang="tr-TR" dirty="0"/>
              <a:t>: 2 </a:t>
            </a:r>
            <a:r>
              <a:rPr lang="tr-TR" dirty="0" err="1"/>
              <a:t>Concurrent</a:t>
            </a:r>
            <a:r>
              <a:rPr lang="tr-TR" dirty="0"/>
              <a:t> </a:t>
            </a:r>
            <a:r>
              <a:rPr lang="tr-TR" dirty="0" err="1"/>
              <a:t>Threads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353CD-01D3-491F-B340-EF2F40E62A3C}"/>
              </a:ext>
            </a:extLst>
          </p:cNvPr>
          <p:cNvSpPr txBox="1"/>
          <p:nvPr/>
        </p:nvSpPr>
        <p:spPr>
          <a:xfrm>
            <a:off x="8102009" y="1599192"/>
            <a:ext cx="375329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Start of program.</a:t>
            </a:r>
          </a:p>
          <a:p>
            <a:r>
              <a:rPr lang="en-US" sz="1600" dirty="0"/>
              <a:t>Start of program.</a:t>
            </a:r>
          </a:p>
          <a:p>
            <a:r>
              <a:rPr lang="en-US" sz="1600" dirty="0"/>
              <a:t>Einstein is going to sleep for 5 seconds</a:t>
            </a:r>
          </a:p>
          <a:p>
            <a:r>
              <a:rPr lang="en-US" sz="1600" dirty="0"/>
              <a:t>Mozart is going to sleep for 3 seconds</a:t>
            </a:r>
          </a:p>
          <a:p>
            <a:endParaRPr lang="en-US" sz="1600" dirty="0"/>
          </a:p>
          <a:p>
            <a:r>
              <a:rPr lang="en-US" sz="1600" dirty="0"/>
              <a:t>End of program for sequential flow</a:t>
            </a:r>
          </a:p>
          <a:p>
            <a:r>
              <a:rPr lang="en-US" sz="1600" dirty="0"/>
              <a:t>Einstein wakes up!</a:t>
            </a:r>
          </a:p>
          <a:p>
            <a:r>
              <a:rPr lang="en-US" sz="1600" dirty="0"/>
              <a:t>Mozart wakes up!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A940C88-DF03-48AA-B1FA-E87C409774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2847" y="1271855"/>
            <a:ext cx="7141720" cy="52629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to sleep for a pre-set time in minutes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takeNap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currentPerson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.famousPerson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#copy the self variable. maybe it will be modified by another thread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currentPerson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is going to sleep for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.duration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seconds"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time.sleep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.duration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currentPerson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wakes up!"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#Multi-thread flow calling the </a:t>
            </a:r>
            <a:r>
              <a:rPr kumimoji="0" lang="en-US" altLang="en-US" sz="14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takeNap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function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threads are created for famous persons setting the self variables before thread execution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sleepWakeup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"Start of program."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.duration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5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.famousPerson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"Einstein"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threadObj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threading.Thread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target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.takeNap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threadObj.start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.duration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.famousPerson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"Mozart"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threadObj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threading.Thread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target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.takeNap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threadObj.start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n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End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of program for sequential flow"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5596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Passing Arguments to the Thread’s Target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D864-D4B7-4B59-AA76-A335D3447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the target function you want to run in the new thread takes arguments,</a:t>
            </a:r>
          </a:p>
          <a:p>
            <a:pPr lvl="1"/>
            <a:r>
              <a:rPr lang="en-US" dirty="0"/>
              <a:t>you can pass the target function’s arguments </a:t>
            </a:r>
            <a:endParaRPr lang="tr-TR" dirty="0"/>
          </a:p>
          <a:p>
            <a:pPr lvl="1"/>
            <a:r>
              <a:rPr lang="en-US" dirty="0"/>
              <a:t>to </a:t>
            </a:r>
            <a:r>
              <a:rPr lang="en-US" dirty="0" err="1"/>
              <a:t>threading.Thread</a:t>
            </a:r>
            <a:r>
              <a:rPr lang="en-US" dirty="0"/>
              <a:t>()</a:t>
            </a:r>
            <a:endParaRPr lang="tr-TR" dirty="0"/>
          </a:p>
          <a:p>
            <a:r>
              <a:rPr lang="en-US" dirty="0"/>
              <a:t>as a list to the </a:t>
            </a:r>
            <a:r>
              <a:rPr lang="en-US" dirty="0" err="1"/>
              <a:t>args</a:t>
            </a:r>
            <a:r>
              <a:rPr lang="en-US" dirty="0"/>
              <a:t> keyword argument in </a:t>
            </a:r>
            <a:r>
              <a:rPr lang="en-US" dirty="0" err="1"/>
              <a:t>threading.Thread</a:t>
            </a:r>
            <a:r>
              <a:rPr lang="en-US" dirty="0"/>
              <a:t>(). </a:t>
            </a:r>
            <a:endParaRPr lang="tr-TR" dirty="0"/>
          </a:p>
          <a:p>
            <a:r>
              <a:rPr lang="en-US" dirty="0"/>
              <a:t>The keyword</a:t>
            </a:r>
            <a:r>
              <a:rPr lang="tr-TR" dirty="0"/>
              <a:t> </a:t>
            </a:r>
            <a:r>
              <a:rPr lang="en-US" dirty="0"/>
              <a:t>argument can be specified as a dictionary to the </a:t>
            </a:r>
            <a:r>
              <a:rPr lang="en-US" dirty="0" err="1"/>
              <a:t>kwargs</a:t>
            </a:r>
            <a:r>
              <a:rPr lang="en-US" dirty="0"/>
              <a:t> keyword argument</a:t>
            </a:r>
            <a:r>
              <a:rPr lang="tr-TR" dirty="0"/>
              <a:t> </a:t>
            </a:r>
            <a:r>
              <a:rPr lang="en-US" dirty="0"/>
              <a:t>in </a:t>
            </a:r>
            <a:r>
              <a:rPr lang="en-US" dirty="0" err="1"/>
              <a:t>threading.Thread</a:t>
            </a:r>
            <a:r>
              <a:rPr lang="en-US" dirty="0"/>
              <a:t>().</a:t>
            </a:r>
          </a:p>
        </p:txBody>
      </p:sp>
    </p:spTree>
    <p:extLst>
      <p:ext uri="{BB962C8B-B14F-4D97-AF65-F5344CB8AC3E}">
        <p14:creationId xmlns:p14="http://schemas.microsoft.com/office/powerpoint/2010/main" val="18621497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1"/>
            <a:ext cx="10515600" cy="972214"/>
          </a:xfrm>
        </p:spPr>
        <p:txBody>
          <a:bodyPr/>
          <a:lstStyle/>
          <a:p>
            <a:pPr algn="ctr"/>
            <a:r>
              <a:rPr lang="tr-TR" dirty="0" err="1"/>
              <a:t>Example</a:t>
            </a:r>
            <a:r>
              <a:rPr lang="tr-TR" dirty="0"/>
              <a:t>: </a:t>
            </a:r>
            <a:r>
              <a:rPr lang="tr-TR" dirty="0" err="1"/>
              <a:t>Passing</a:t>
            </a:r>
            <a:r>
              <a:rPr lang="tr-TR" dirty="0"/>
              <a:t> </a:t>
            </a:r>
            <a:r>
              <a:rPr lang="tr-TR" dirty="0" err="1"/>
              <a:t>Arguments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Thread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353CD-01D3-491F-B340-EF2F40E62A3C}"/>
              </a:ext>
            </a:extLst>
          </p:cNvPr>
          <p:cNvSpPr txBox="1"/>
          <p:nvPr/>
        </p:nvSpPr>
        <p:spPr>
          <a:xfrm>
            <a:off x="3423683" y="5470018"/>
            <a:ext cx="454010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Cats &amp; Dogs &amp; Frogs</a:t>
            </a:r>
          </a:p>
          <a:p>
            <a:r>
              <a:rPr lang="en-US" sz="2000" dirty="0"/>
              <a:t>Tomato &amp; Apple &amp; </a:t>
            </a:r>
            <a:r>
              <a:rPr lang="en-US" sz="2000" dirty="0" err="1"/>
              <a:t>Rasberry</a:t>
            </a:r>
            <a:r>
              <a:rPr lang="en-US" sz="2000" dirty="0"/>
              <a:t> &amp; Banana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BE81F12-B4D5-4EC2-B647-F2E69AEB3B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4388" y="1387982"/>
            <a:ext cx="11287752" cy="2862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Passing arguments to threads using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args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&amp;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kwargs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variables</a:t>
            </a:r>
            <a:b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passArg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threadObjAnimals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threading.Thread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target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args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=[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'Cats'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'Dogs'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'Frogs'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],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         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kwargs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={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sep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 &amp; '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threadObjAnimals.start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threadObjFruits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threading.Thread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target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args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=[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'Tomato'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'Apple'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Rasberry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'Banana'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],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                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kwargs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={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sep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 &amp; '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threadObjFruits.start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6967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1"/>
            <a:ext cx="10515600" cy="972214"/>
          </a:xfrm>
        </p:spPr>
        <p:txBody>
          <a:bodyPr/>
          <a:lstStyle/>
          <a:p>
            <a:pPr algn="ctr"/>
            <a:r>
              <a:rPr lang="tr-TR" dirty="0" err="1"/>
              <a:t>Example</a:t>
            </a:r>
            <a:r>
              <a:rPr lang="tr-TR" dirty="0"/>
              <a:t>: </a:t>
            </a:r>
            <a:r>
              <a:rPr lang="tr-TR" dirty="0" err="1"/>
              <a:t>sleepWakeup</a:t>
            </a:r>
            <a:r>
              <a:rPr lang="tr-TR" dirty="0"/>
              <a:t> </a:t>
            </a:r>
            <a:r>
              <a:rPr lang="tr-TR" dirty="0" err="1"/>
              <a:t>using</a:t>
            </a:r>
            <a:r>
              <a:rPr lang="tr-TR" dirty="0"/>
              <a:t> </a:t>
            </a:r>
            <a:r>
              <a:rPr lang="tr-TR" dirty="0" err="1"/>
              <a:t>Arguments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353CD-01D3-491F-B340-EF2F40E62A3C}"/>
              </a:ext>
            </a:extLst>
          </p:cNvPr>
          <p:cNvSpPr txBox="1"/>
          <p:nvPr/>
        </p:nvSpPr>
        <p:spPr>
          <a:xfrm>
            <a:off x="7729869" y="2193424"/>
            <a:ext cx="436643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Start of program.</a:t>
            </a:r>
          </a:p>
          <a:p>
            <a:r>
              <a:rPr lang="en-US" sz="2000" dirty="0"/>
              <a:t>Einstein is going to sleep for 5 seconds</a:t>
            </a:r>
          </a:p>
          <a:p>
            <a:r>
              <a:rPr lang="en-US" sz="2000" dirty="0"/>
              <a:t>Mozart is going to sleep for 3 seconds</a:t>
            </a:r>
          </a:p>
          <a:p>
            <a:endParaRPr lang="en-US" sz="2000" dirty="0"/>
          </a:p>
          <a:p>
            <a:r>
              <a:rPr lang="en-US" sz="2000" dirty="0"/>
              <a:t>End of program for sequential flow</a:t>
            </a:r>
          </a:p>
          <a:p>
            <a:r>
              <a:rPr lang="en-US" sz="2000" dirty="0"/>
              <a:t>Mozart wakes up!</a:t>
            </a:r>
          </a:p>
          <a:p>
            <a:r>
              <a:rPr lang="en-US" sz="2000" dirty="0"/>
              <a:t>Einstein wakes up!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D65549-924B-48E9-8600-2101C989DF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9048" y="1198464"/>
            <a:ext cx="7640821" cy="48013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to sleep for a pre-set time in minutes using arguments</a:t>
            </a:r>
            <a:b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takeNapArgs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paramPerson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duration):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#duration = 5</a:t>
            </a:r>
            <a:b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paramPerson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is going to sleep for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duration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seconds"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time.sleep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(duration)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{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paramPerson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}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wakes up!"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Multi-thread flow shows how to pass arguments</a:t>
            </a:r>
            <a:b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sleepWakeupArgs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"Start of program."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threadObj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threading.Thread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target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.takeNapArgs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args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=[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"Einstein"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threadObj.start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threadObj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threading.Thread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target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.takeNapArgs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args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=[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"Mozart"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threadObj.start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n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of program for sequential flow"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4540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Concurrency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D864-D4B7-4B59-AA76-A335D3447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can easily create several new threads and have them all running at the</a:t>
            </a:r>
            <a:r>
              <a:rPr lang="tr-TR" dirty="0"/>
              <a:t> </a:t>
            </a:r>
            <a:r>
              <a:rPr lang="en-US" dirty="0"/>
              <a:t>same time. </a:t>
            </a:r>
            <a:endParaRPr lang="tr-TR" dirty="0"/>
          </a:p>
          <a:p>
            <a:r>
              <a:rPr lang="en-US" dirty="0"/>
              <a:t>But multiple threads can also cause problems called concurrency</a:t>
            </a:r>
            <a:r>
              <a:rPr lang="tr-TR" dirty="0"/>
              <a:t> </a:t>
            </a:r>
            <a:r>
              <a:rPr lang="en-US" dirty="0"/>
              <a:t>issues. </a:t>
            </a:r>
            <a:endParaRPr lang="tr-TR" dirty="0"/>
          </a:p>
          <a:p>
            <a:r>
              <a:rPr lang="en-US" dirty="0"/>
              <a:t>These issues happen when threads read and write variables at the</a:t>
            </a:r>
            <a:r>
              <a:rPr lang="tr-TR" dirty="0"/>
              <a:t> </a:t>
            </a:r>
            <a:r>
              <a:rPr lang="en-US" dirty="0"/>
              <a:t>same time, causing the threads to trip over each other. </a:t>
            </a:r>
            <a:endParaRPr lang="tr-TR" dirty="0"/>
          </a:p>
          <a:p>
            <a:r>
              <a:rPr lang="en-US" dirty="0"/>
              <a:t>Concurrency issues</a:t>
            </a:r>
            <a:r>
              <a:rPr lang="tr-TR" dirty="0"/>
              <a:t> </a:t>
            </a:r>
            <a:r>
              <a:rPr lang="en-US" dirty="0"/>
              <a:t>can be hard to reproduce consistently, making them hard to debug.</a:t>
            </a:r>
          </a:p>
        </p:txBody>
      </p:sp>
    </p:spTree>
    <p:extLst>
      <p:ext uri="{BB962C8B-B14F-4D97-AF65-F5344CB8AC3E}">
        <p14:creationId xmlns:p14="http://schemas.microsoft.com/office/powerpoint/2010/main" val="38340584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Concurrency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D864-D4B7-4B59-AA76-A335D3447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avoid concurrency</a:t>
            </a:r>
            <a:r>
              <a:rPr lang="tr-TR" dirty="0"/>
              <a:t> </a:t>
            </a:r>
            <a:r>
              <a:rPr lang="en-US" dirty="0"/>
              <a:t>issues</a:t>
            </a:r>
            <a:endParaRPr lang="tr-TR" dirty="0"/>
          </a:p>
          <a:p>
            <a:pPr lvl="1"/>
            <a:r>
              <a:rPr lang="en-US" dirty="0"/>
              <a:t>never let multiple threads read or write the same variables.</a:t>
            </a:r>
          </a:p>
          <a:p>
            <a:r>
              <a:rPr lang="en-US" dirty="0"/>
              <a:t>When you create a new Thread object, make sure its target function uses only</a:t>
            </a:r>
            <a:r>
              <a:rPr lang="tr-TR" dirty="0"/>
              <a:t> </a:t>
            </a:r>
            <a:r>
              <a:rPr lang="en-US" dirty="0"/>
              <a:t>local variables in that function. </a:t>
            </a:r>
            <a:endParaRPr lang="tr-TR" dirty="0"/>
          </a:p>
          <a:p>
            <a:r>
              <a:rPr lang="en-US" dirty="0"/>
              <a:t>This will avoid hard-to-debug concurrency</a:t>
            </a:r>
            <a:r>
              <a:rPr lang="tr-TR" dirty="0"/>
              <a:t> </a:t>
            </a:r>
            <a:r>
              <a:rPr lang="en-US" dirty="0"/>
              <a:t>issues in your programs.</a:t>
            </a:r>
          </a:p>
        </p:txBody>
      </p:sp>
    </p:spTree>
    <p:extLst>
      <p:ext uri="{BB962C8B-B14F-4D97-AF65-F5344CB8AC3E}">
        <p14:creationId xmlns:p14="http://schemas.microsoft.com/office/powerpoint/2010/main" val="15567092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1"/>
            <a:ext cx="10515600" cy="972214"/>
          </a:xfrm>
        </p:spPr>
        <p:txBody>
          <a:bodyPr/>
          <a:lstStyle/>
          <a:p>
            <a:pPr algn="ctr"/>
            <a:r>
              <a:rPr lang="tr-TR" dirty="0" err="1"/>
              <a:t>Example</a:t>
            </a:r>
            <a:r>
              <a:rPr lang="tr-TR" dirty="0"/>
              <a:t>: </a:t>
            </a:r>
            <a:r>
              <a:rPr lang="tr-TR" dirty="0" err="1"/>
              <a:t>Passing</a:t>
            </a:r>
            <a:r>
              <a:rPr lang="tr-TR" dirty="0"/>
              <a:t> </a:t>
            </a:r>
            <a:r>
              <a:rPr lang="tr-TR" dirty="0" err="1"/>
              <a:t>Arguments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Thread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A353CD-01D3-491F-B340-EF2F40E62A3C}"/>
              </a:ext>
            </a:extLst>
          </p:cNvPr>
          <p:cNvSpPr txBox="1"/>
          <p:nvPr/>
        </p:nvSpPr>
        <p:spPr>
          <a:xfrm>
            <a:off x="3423683" y="5470018"/>
            <a:ext cx="454010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Cats &amp; Dogs &amp; Frogs</a:t>
            </a:r>
          </a:p>
          <a:p>
            <a:r>
              <a:rPr lang="en-US" sz="2000" dirty="0"/>
              <a:t>Tomato &amp; Apple &amp; </a:t>
            </a:r>
            <a:r>
              <a:rPr lang="en-US" sz="2000" dirty="0" err="1"/>
              <a:t>Rasberry</a:t>
            </a:r>
            <a:r>
              <a:rPr lang="en-US" sz="2000" dirty="0"/>
              <a:t> &amp; Banana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BE81F12-B4D5-4EC2-B647-F2E69AEB3B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4388" y="1387982"/>
            <a:ext cx="11287752" cy="2862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Passing arguments to threads using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args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&amp;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kwargs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variables</a:t>
            </a:r>
            <a:b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passArg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threadObjAnimals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threading.Thread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target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args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=[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'Cats'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'Dogs'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'Frogs'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],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         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kwargs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={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sep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 &amp; '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threadObjAnimals.start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threadObjFruits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threading.Thread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target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args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=[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'Tomato'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'Apple'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Rasberry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'Banana'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],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                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660099"/>
                </a:solidFill>
                <a:effectLst/>
                <a:latin typeface="JetBrains Mono"/>
              </a:rPr>
              <a:t>kwargs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={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sep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 &amp; '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threadObjFruits.start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2791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C846E-F040-4913-8091-51C3DE77A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Launching Other Programs from Python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88F8E-9518-4E33-B79F-DDE49DC61D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9562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Converting Strings into datetime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D864-D4B7-4B59-AA76-A335D3447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Your Python program can start other programs on your computer with the</a:t>
            </a:r>
            <a:r>
              <a:rPr lang="tr-TR" dirty="0"/>
              <a:t> </a:t>
            </a:r>
            <a:r>
              <a:rPr lang="en-US" dirty="0" err="1"/>
              <a:t>Popen</a:t>
            </a:r>
            <a:r>
              <a:rPr lang="en-US" dirty="0"/>
              <a:t>() function in the built-in subprocess module.</a:t>
            </a:r>
            <a:endParaRPr lang="tr-TR" dirty="0"/>
          </a:p>
          <a:p>
            <a:pPr lvl="1"/>
            <a:r>
              <a:rPr lang="en-US" dirty="0"/>
              <a:t>The P in the name of</a:t>
            </a:r>
            <a:r>
              <a:rPr lang="tr-TR" dirty="0"/>
              <a:t> </a:t>
            </a:r>
            <a:r>
              <a:rPr lang="en-US" dirty="0"/>
              <a:t>the </a:t>
            </a:r>
            <a:r>
              <a:rPr lang="en-US" dirty="0" err="1"/>
              <a:t>Popen</a:t>
            </a:r>
            <a:r>
              <a:rPr lang="en-US" dirty="0"/>
              <a:t>() function stands for process.</a:t>
            </a:r>
            <a:endParaRPr lang="tr-TR" dirty="0"/>
          </a:p>
          <a:p>
            <a:r>
              <a:rPr lang="en-US" dirty="0"/>
              <a:t>If you have multiple instances of an</a:t>
            </a:r>
            <a:r>
              <a:rPr lang="tr-TR" dirty="0"/>
              <a:t> </a:t>
            </a:r>
            <a:r>
              <a:rPr lang="en-US" dirty="0"/>
              <a:t>application open, each of those instances is a separate process of the same</a:t>
            </a:r>
            <a:r>
              <a:rPr lang="tr-TR" dirty="0"/>
              <a:t> </a:t>
            </a:r>
            <a:r>
              <a:rPr lang="en-US" dirty="0"/>
              <a:t>program. </a:t>
            </a:r>
            <a:endParaRPr lang="tr-TR" dirty="0"/>
          </a:p>
          <a:p>
            <a:pPr lvl="1"/>
            <a:r>
              <a:rPr lang="en-US" dirty="0"/>
              <a:t>For example, if you open multiple windows of your web browser</a:t>
            </a:r>
            <a:r>
              <a:rPr lang="tr-TR" dirty="0"/>
              <a:t> </a:t>
            </a:r>
            <a:r>
              <a:rPr lang="en-US" dirty="0"/>
              <a:t>at the same time, each of those windows is a different process of the web</a:t>
            </a:r>
            <a:r>
              <a:rPr lang="tr-TR" dirty="0"/>
              <a:t> </a:t>
            </a:r>
            <a:r>
              <a:rPr lang="en-US" dirty="0"/>
              <a:t>browser program.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319414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Converting Strings into datetime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D864-D4B7-4B59-AA76-A335D3447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Every process can have multiple threads. </a:t>
            </a:r>
            <a:endParaRPr lang="tr-TR" dirty="0"/>
          </a:p>
          <a:p>
            <a:r>
              <a:rPr lang="en-US" dirty="0"/>
              <a:t>Unlike threads, a process cannot</a:t>
            </a:r>
            <a:r>
              <a:rPr lang="tr-TR" dirty="0"/>
              <a:t> </a:t>
            </a:r>
          </a:p>
          <a:p>
            <a:pPr lvl="1"/>
            <a:r>
              <a:rPr lang="en-US" dirty="0"/>
              <a:t>directly read and write </a:t>
            </a:r>
            <a:endParaRPr lang="tr-TR" dirty="0"/>
          </a:p>
          <a:p>
            <a:pPr lvl="1"/>
            <a:r>
              <a:rPr lang="en-US" dirty="0"/>
              <a:t>another process’s variables</a:t>
            </a:r>
            <a:endParaRPr lang="tr-TR" dirty="0"/>
          </a:p>
          <a:p>
            <a:r>
              <a:rPr lang="en-US" dirty="0"/>
              <a:t>If you think of a</a:t>
            </a:r>
            <a:r>
              <a:rPr lang="tr-TR" dirty="0"/>
              <a:t> </a:t>
            </a:r>
            <a:r>
              <a:rPr lang="en-US" dirty="0"/>
              <a:t>multithreaded program as having multiple fingers following source code</a:t>
            </a:r>
            <a:endParaRPr lang="tr-TR" dirty="0"/>
          </a:p>
          <a:p>
            <a:pPr lvl="1"/>
            <a:r>
              <a:rPr lang="en-US" dirty="0"/>
              <a:t>then having multiple processes of the same program open</a:t>
            </a:r>
            <a:endParaRPr lang="tr-TR" dirty="0"/>
          </a:p>
          <a:p>
            <a:pPr lvl="1"/>
            <a:r>
              <a:rPr lang="en-US" dirty="0"/>
              <a:t>is like having</a:t>
            </a:r>
            <a:r>
              <a:rPr lang="tr-TR" dirty="0"/>
              <a:t> </a:t>
            </a:r>
            <a:r>
              <a:rPr lang="en-US" dirty="0"/>
              <a:t>a friend with a separate copy of the program’s source code. </a:t>
            </a:r>
            <a:endParaRPr lang="tr-TR" dirty="0"/>
          </a:p>
          <a:p>
            <a:r>
              <a:rPr lang="en-US" dirty="0"/>
              <a:t>You are both</a:t>
            </a:r>
            <a:r>
              <a:rPr lang="tr-TR" dirty="0"/>
              <a:t> </a:t>
            </a:r>
            <a:r>
              <a:rPr lang="en-US" dirty="0"/>
              <a:t>independently executing the same program.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626211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Run External Application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D864-D4B7-4B59-AA76-A335D3447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653" y="1774000"/>
            <a:ext cx="7189381" cy="483987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If you want to start an external program from your Python script</a:t>
            </a:r>
            <a:endParaRPr lang="tr-TR" dirty="0"/>
          </a:p>
          <a:p>
            <a:pPr lvl="1"/>
            <a:r>
              <a:rPr lang="en-US" dirty="0"/>
              <a:t>Pass</a:t>
            </a:r>
            <a:r>
              <a:rPr lang="tr-TR" dirty="0"/>
              <a:t> </a:t>
            </a:r>
            <a:r>
              <a:rPr lang="en-US" dirty="0"/>
              <a:t>the program’s filename </a:t>
            </a:r>
            <a:endParaRPr lang="tr-TR" dirty="0"/>
          </a:p>
          <a:p>
            <a:pPr lvl="1"/>
            <a:r>
              <a:rPr lang="en-US" dirty="0"/>
              <a:t>to </a:t>
            </a:r>
            <a:r>
              <a:rPr lang="en-US" dirty="0" err="1"/>
              <a:t>subprocess.Popen</a:t>
            </a:r>
            <a:r>
              <a:rPr lang="en-US" dirty="0"/>
              <a:t>()</a:t>
            </a:r>
            <a:endParaRPr lang="tr-TR" dirty="0"/>
          </a:p>
          <a:p>
            <a:r>
              <a:rPr lang="en-US" dirty="0"/>
              <a:t>The </a:t>
            </a:r>
            <a:r>
              <a:rPr lang="en-US" dirty="0" err="1"/>
              <a:t>Popen</a:t>
            </a:r>
            <a:r>
              <a:rPr lang="en-US" dirty="0"/>
              <a:t>() function will</a:t>
            </a:r>
          </a:p>
          <a:p>
            <a:pPr lvl="1"/>
            <a:r>
              <a:rPr lang="en-US" dirty="0"/>
              <a:t>immediately return</a:t>
            </a:r>
            <a:endParaRPr lang="tr-TR" dirty="0"/>
          </a:p>
          <a:p>
            <a:r>
              <a:rPr lang="tr-TR" dirty="0" err="1"/>
              <a:t>Notice</a:t>
            </a:r>
            <a:endParaRPr lang="tr-TR" dirty="0"/>
          </a:p>
          <a:p>
            <a:pPr lvl="1"/>
            <a:r>
              <a:rPr lang="en-US" dirty="0"/>
              <a:t>the launched program is not</a:t>
            </a:r>
            <a:r>
              <a:rPr lang="tr-TR" dirty="0"/>
              <a:t> </a:t>
            </a:r>
            <a:r>
              <a:rPr lang="en-US" dirty="0"/>
              <a:t>run in the same thread </a:t>
            </a:r>
            <a:endParaRPr lang="tr-TR" dirty="0"/>
          </a:p>
          <a:p>
            <a:pPr lvl="1"/>
            <a:r>
              <a:rPr lang="en-US" dirty="0"/>
              <a:t>as your Python program</a:t>
            </a:r>
            <a:endParaRPr lang="tr-TR" dirty="0"/>
          </a:p>
          <a:p>
            <a:r>
              <a:rPr lang="en-US" dirty="0"/>
              <a:t>On Windows</a:t>
            </a:r>
            <a:endParaRPr lang="tr-TR" dirty="0"/>
          </a:p>
          <a:p>
            <a:pPr lvl="1"/>
            <a:r>
              <a:rPr lang="en-US" dirty="0"/>
              <a:t>right-click the</a:t>
            </a:r>
            <a:r>
              <a:rPr lang="tr-TR" dirty="0"/>
              <a:t> </a:t>
            </a:r>
            <a:r>
              <a:rPr lang="en-US" dirty="0"/>
              <a:t>application’s Start menu item</a:t>
            </a:r>
            <a:endParaRPr lang="tr-TR" dirty="0"/>
          </a:p>
          <a:p>
            <a:pPr lvl="1"/>
            <a:r>
              <a:rPr lang="en-US" dirty="0"/>
              <a:t>and select Properties to view the application’s</a:t>
            </a:r>
            <a:r>
              <a:rPr lang="tr-TR" dirty="0"/>
              <a:t> </a:t>
            </a:r>
            <a:r>
              <a:rPr lang="tr-TR" dirty="0" err="1"/>
              <a:t>filename</a:t>
            </a:r>
            <a:endParaRPr lang="tr-TR" dirty="0"/>
          </a:p>
          <a:p>
            <a:r>
              <a:rPr lang="en-US" dirty="0"/>
              <a:t>On OS X</a:t>
            </a:r>
            <a:endParaRPr lang="tr-TR" dirty="0"/>
          </a:p>
          <a:p>
            <a:pPr lvl="1"/>
            <a:r>
              <a:rPr lang="en-US" dirty="0"/>
              <a:t>ctrl-click the application </a:t>
            </a:r>
            <a:endParaRPr lang="tr-TR" dirty="0"/>
          </a:p>
          <a:p>
            <a:pPr lvl="1"/>
            <a:r>
              <a:rPr lang="en-US" dirty="0"/>
              <a:t>and select Show Package</a:t>
            </a:r>
            <a:r>
              <a:rPr lang="tr-TR" dirty="0"/>
              <a:t> </a:t>
            </a:r>
            <a:r>
              <a:rPr lang="en-US" dirty="0"/>
              <a:t>Contents </a:t>
            </a:r>
            <a:endParaRPr lang="tr-TR" dirty="0"/>
          </a:p>
          <a:p>
            <a:pPr lvl="1"/>
            <a:r>
              <a:rPr lang="en-US" dirty="0"/>
              <a:t>to find the path to the executable file</a:t>
            </a:r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2AC1C2-32E8-48A4-95B2-E5317603F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9236" y="2248718"/>
            <a:ext cx="4568728" cy="41148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34AC7A-DDDB-4483-8991-8E7790258805}"/>
              </a:ext>
            </a:extLst>
          </p:cNvPr>
          <p:cNvSpPr txBox="1"/>
          <p:nvPr/>
        </p:nvSpPr>
        <p:spPr>
          <a:xfrm>
            <a:off x="6925438" y="6492875"/>
            <a:ext cx="48381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1" u="none" strike="noStrike" baseline="0" dirty="0">
                <a:latin typeface="Futura-BookOblique"/>
              </a:rPr>
              <a:t>Six running processes of the same calculator program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045666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runExternalApp</a:t>
            </a:r>
            <a:r>
              <a:rPr lang="en-US" dirty="0"/>
              <a:t>(</a:t>
            </a:r>
            <a:r>
              <a:rPr lang="tr-TR" dirty="0"/>
              <a:t>)</a:t>
            </a: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1ECA2CD-D37E-44F5-833B-AB1390880A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3696" y="1897667"/>
            <a:ext cx="10628294" cy="2677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#Run external applications as external processes</a:t>
            </a:r>
            <a:b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#uses import subprocess to run external applications &amp; platform to get the OS name</a:t>
            </a:r>
            <a:b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runExternalApp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platform.system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==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"Windows"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#for windows</a:t>
            </a:r>
            <a:b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subprocess.Popen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'C: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\\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Windows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\\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System32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\\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calc.exe'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platform.system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==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"Ubuntu"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#for Ubuntu Linux</a:t>
            </a:r>
            <a:b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subprocess.Popen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usr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/bin/gnome-calculator'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A36848-9D03-4D79-8138-F40FF7095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862" y="2983831"/>
            <a:ext cx="2262442" cy="375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9653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Run External Application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D864-D4B7-4B59-AA76-A335D3447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791" y="1774000"/>
            <a:ext cx="10951535" cy="4839870"/>
          </a:xfrm>
        </p:spPr>
        <p:txBody>
          <a:bodyPr>
            <a:normAutofit/>
          </a:bodyPr>
          <a:lstStyle/>
          <a:p>
            <a:pPr algn="l"/>
            <a:r>
              <a:rPr lang="en-US" sz="2000" b="0" i="0" u="none" strike="noStrike" baseline="0" dirty="0">
                <a:latin typeface="NewBaskerville-Roman"/>
              </a:rPr>
              <a:t>The return value is a </a:t>
            </a:r>
            <a:r>
              <a:rPr lang="en-US" sz="2000" b="0" i="0" u="none" strike="noStrike" baseline="0" dirty="0" err="1">
                <a:latin typeface="TheSansMonoCondensed-Plain"/>
              </a:rPr>
              <a:t>Popen</a:t>
            </a:r>
            <a:r>
              <a:rPr lang="en-US" sz="2000" b="0" i="0" u="none" strike="noStrike" baseline="0" dirty="0">
                <a:latin typeface="TheSansMonoCondensed-Plain"/>
              </a:rPr>
              <a:t> </a:t>
            </a:r>
            <a:r>
              <a:rPr lang="en-US" sz="2000" b="0" i="0" u="none" strike="noStrike" baseline="0" dirty="0">
                <a:latin typeface="NewBaskerville-Roman"/>
              </a:rPr>
              <a:t>object, </a:t>
            </a:r>
            <a:endParaRPr lang="tr-TR" sz="2000" b="0" i="0" u="none" strike="noStrike" baseline="0" dirty="0">
              <a:latin typeface="NewBaskerville-Roman"/>
            </a:endParaRPr>
          </a:p>
          <a:p>
            <a:pPr lvl="1"/>
            <a:r>
              <a:rPr lang="en-US" sz="1600" b="0" i="0" u="none" strike="noStrike" baseline="0" dirty="0">
                <a:latin typeface="NewBaskerville-Roman"/>
              </a:rPr>
              <a:t>has two useful methods</a:t>
            </a:r>
            <a:endParaRPr lang="tr-TR" sz="1600" b="0" i="0" u="none" strike="noStrike" baseline="0" dirty="0">
              <a:latin typeface="NewBaskerville-Roman"/>
            </a:endParaRPr>
          </a:p>
          <a:p>
            <a:pPr lvl="1"/>
            <a:r>
              <a:rPr lang="en-US" sz="1600" b="0" i="0" u="none" strike="noStrike" baseline="0" dirty="0">
                <a:latin typeface="TheSansMonoCondensed-Plain"/>
              </a:rPr>
              <a:t>poll()</a:t>
            </a:r>
            <a:r>
              <a:rPr lang="tr-TR" sz="1600" b="0" i="0" u="none" strike="noStrike" baseline="0" dirty="0">
                <a:latin typeface="TheSansMonoCondensed-Plain"/>
              </a:rPr>
              <a:t> &amp; </a:t>
            </a:r>
            <a:r>
              <a:rPr lang="en-US" sz="1600" b="0" i="0" u="none" strike="noStrike" baseline="0" dirty="0">
                <a:latin typeface="TheSansMonoCondensed-Plain"/>
              </a:rPr>
              <a:t>wait()</a:t>
            </a:r>
          </a:p>
          <a:p>
            <a:pPr algn="l"/>
            <a:r>
              <a:rPr lang="tr-TR" sz="2000" b="0" i="0" u="none" strike="noStrike" baseline="0" dirty="0" err="1">
                <a:latin typeface="NewBaskerville-Roman"/>
              </a:rPr>
              <a:t>Poll</a:t>
            </a:r>
            <a:r>
              <a:rPr lang="tr-TR" sz="2000" b="0" i="0" u="none" strike="noStrike" baseline="0" dirty="0">
                <a:latin typeface="NewBaskerville-Roman"/>
              </a:rPr>
              <a:t>()</a:t>
            </a:r>
          </a:p>
          <a:p>
            <a:pPr lvl="1"/>
            <a:r>
              <a:rPr lang="en-US" sz="1600" b="0" i="0" u="none" strike="noStrike" baseline="0" dirty="0">
                <a:latin typeface="NewBaskerville-Roman"/>
              </a:rPr>
              <a:t>You can think of the </a:t>
            </a:r>
            <a:r>
              <a:rPr lang="en-US" sz="1600" b="0" i="0" u="none" strike="noStrike" baseline="0" dirty="0">
                <a:latin typeface="TheSansMonoCondensed-Plain"/>
              </a:rPr>
              <a:t>poll() </a:t>
            </a:r>
            <a:r>
              <a:rPr lang="en-US" sz="1600" b="0" i="0" u="none" strike="noStrike" baseline="0" dirty="0">
                <a:latin typeface="NewBaskerville-Roman"/>
              </a:rPr>
              <a:t>method as asking your friend if she’s finished</a:t>
            </a:r>
            <a:r>
              <a:rPr lang="tr-TR" sz="1600" b="0" i="0" u="none" strike="noStrike" baseline="0" dirty="0">
                <a:latin typeface="NewBaskerville-Roman"/>
              </a:rPr>
              <a:t> </a:t>
            </a:r>
            <a:r>
              <a:rPr lang="en-US" sz="1600" b="0" i="0" u="none" strike="noStrike" baseline="0" dirty="0">
                <a:latin typeface="NewBaskerville-Roman"/>
              </a:rPr>
              <a:t>running the code you gave her. </a:t>
            </a:r>
            <a:endParaRPr lang="tr-TR" sz="1600" b="0" i="0" u="none" strike="noStrike" baseline="0" dirty="0">
              <a:latin typeface="NewBaskerville-Roman"/>
            </a:endParaRPr>
          </a:p>
          <a:p>
            <a:pPr lvl="1"/>
            <a:r>
              <a:rPr lang="en-US" sz="1600" b="0" i="0" u="none" strike="noStrike" baseline="0" dirty="0">
                <a:latin typeface="NewBaskerville-Roman"/>
              </a:rPr>
              <a:t>The </a:t>
            </a:r>
            <a:r>
              <a:rPr lang="en-US" sz="1600" b="0" i="0" u="none" strike="noStrike" baseline="0" dirty="0">
                <a:latin typeface="TheSansMonoCondensed-Plain"/>
              </a:rPr>
              <a:t>poll() </a:t>
            </a:r>
            <a:r>
              <a:rPr lang="en-US" sz="1600" b="0" i="0" u="none" strike="noStrike" baseline="0" dirty="0">
                <a:latin typeface="NewBaskerville-Roman"/>
              </a:rPr>
              <a:t>method will return </a:t>
            </a:r>
            <a:r>
              <a:rPr lang="en-US" sz="1600" b="0" i="0" u="none" strike="noStrike" baseline="0" dirty="0">
                <a:latin typeface="TheSansMonoCondensed-Plain"/>
              </a:rPr>
              <a:t>None </a:t>
            </a:r>
            <a:r>
              <a:rPr lang="en-US" sz="1600" b="0" i="0" u="none" strike="noStrike" baseline="0" dirty="0">
                <a:latin typeface="NewBaskerville-Roman"/>
              </a:rPr>
              <a:t>if</a:t>
            </a:r>
            <a:r>
              <a:rPr lang="tr-TR" sz="1600" b="0" i="0" u="none" strike="noStrike" baseline="0" dirty="0">
                <a:latin typeface="NewBaskerville-Roman"/>
              </a:rPr>
              <a:t> </a:t>
            </a:r>
            <a:r>
              <a:rPr lang="en-US" sz="1600" b="0" i="0" u="none" strike="noStrike" baseline="0" dirty="0">
                <a:latin typeface="NewBaskerville-Roman"/>
              </a:rPr>
              <a:t>the process is still running at the time </a:t>
            </a:r>
            <a:r>
              <a:rPr lang="en-US" sz="1600" b="0" i="0" u="none" strike="noStrike" baseline="0" dirty="0">
                <a:latin typeface="TheSansMonoCondensed-Plain"/>
              </a:rPr>
              <a:t>poll() </a:t>
            </a:r>
            <a:r>
              <a:rPr lang="en-US" sz="1600" b="0" i="0" u="none" strike="noStrike" baseline="0" dirty="0">
                <a:latin typeface="NewBaskerville-Roman"/>
              </a:rPr>
              <a:t>is called.</a:t>
            </a:r>
            <a:endParaRPr lang="tr-TR" sz="1600" b="0" i="0" u="none" strike="noStrike" baseline="0" dirty="0">
              <a:latin typeface="NewBaskerville-Roman"/>
            </a:endParaRPr>
          </a:p>
          <a:p>
            <a:r>
              <a:rPr lang="en-US" sz="2000" b="0" i="0" u="none" strike="noStrike" baseline="0" dirty="0">
                <a:latin typeface="NewBaskerville-Roman"/>
              </a:rPr>
              <a:t> If the program has</a:t>
            </a:r>
            <a:r>
              <a:rPr lang="tr-TR" sz="2000" b="0" i="0" u="none" strike="noStrike" baseline="0" dirty="0">
                <a:latin typeface="NewBaskerville-Roman"/>
              </a:rPr>
              <a:t> </a:t>
            </a:r>
            <a:r>
              <a:rPr lang="en-US" sz="2000" b="0" i="0" u="none" strike="noStrike" baseline="0" dirty="0">
                <a:latin typeface="NewBaskerville-Roman"/>
              </a:rPr>
              <a:t>terminated,</a:t>
            </a:r>
            <a:endParaRPr lang="tr-TR" sz="2000" b="0" i="0" u="none" strike="noStrike" baseline="0" dirty="0">
              <a:latin typeface="NewBaskerville-Roman"/>
            </a:endParaRPr>
          </a:p>
          <a:p>
            <a:r>
              <a:rPr lang="en-US" sz="2000" b="0" i="0" u="none" strike="noStrike" baseline="0" dirty="0">
                <a:latin typeface="NewBaskerville-Roman"/>
              </a:rPr>
              <a:t>it will return the process’s integer </a:t>
            </a:r>
            <a:r>
              <a:rPr lang="en-US" sz="2000" b="0" i="1" u="none" strike="noStrike" baseline="0" dirty="0">
                <a:latin typeface="NewBaskerville-Italic"/>
              </a:rPr>
              <a:t>exit code</a:t>
            </a:r>
            <a:r>
              <a:rPr lang="en-US" sz="2000" b="0" i="0" u="none" strike="noStrike" baseline="0" dirty="0">
                <a:latin typeface="NewBaskerville-Roman"/>
              </a:rPr>
              <a:t>. </a:t>
            </a:r>
            <a:endParaRPr lang="tr-TR" sz="2000" b="0" i="0" u="none" strike="noStrike" baseline="0" dirty="0">
              <a:latin typeface="NewBaskerville-Roman"/>
            </a:endParaRPr>
          </a:p>
          <a:p>
            <a:r>
              <a:rPr lang="en-US" sz="2000" b="0" i="0" u="none" strike="noStrike" baseline="0" dirty="0">
                <a:latin typeface="NewBaskerville-Roman"/>
              </a:rPr>
              <a:t>An exit code is used</a:t>
            </a:r>
            <a:r>
              <a:rPr lang="tr-TR" sz="2000" b="0" i="0" u="none" strike="noStrike" baseline="0" dirty="0">
                <a:latin typeface="NewBaskerville-Roman"/>
              </a:rPr>
              <a:t> </a:t>
            </a:r>
            <a:r>
              <a:rPr lang="en-US" sz="2000" b="0" i="0" u="none" strike="noStrike" baseline="0" dirty="0">
                <a:latin typeface="NewBaskerville-Roman"/>
              </a:rPr>
              <a:t>to indicate </a:t>
            </a:r>
            <a:endParaRPr lang="tr-TR" sz="2000" b="0" i="0" u="none" strike="noStrike" baseline="0" dirty="0">
              <a:latin typeface="NewBaskerville-Roman"/>
            </a:endParaRPr>
          </a:p>
          <a:p>
            <a:pPr lvl="1"/>
            <a:r>
              <a:rPr lang="en-US" sz="1600" b="0" i="0" u="none" strike="noStrike" baseline="0" dirty="0">
                <a:latin typeface="NewBaskerville-Roman"/>
              </a:rPr>
              <a:t>whether the process terminated without errors </a:t>
            </a:r>
            <a:endParaRPr lang="tr-TR" sz="1600" b="0" i="0" u="none" strike="noStrike" baseline="0" dirty="0">
              <a:latin typeface="NewBaskerville-Roman"/>
            </a:endParaRPr>
          </a:p>
          <a:p>
            <a:pPr lvl="2"/>
            <a:r>
              <a:rPr lang="en-US" sz="1050" b="0" i="0" u="none" strike="noStrike" baseline="0" dirty="0">
                <a:latin typeface="NewBaskerville-Roman"/>
              </a:rPr>
              <a:t>an exit code</a:t>
            </a:r>
            <a:r>
              <a:rPr lang="tr-TR" sz="1050" b="0" i="0" u="none" strike="noStrike" baseline="0" dirty="0">
                <a:latin typeface="NewBaskerville-Roman"/>
              </a:rPr>
              <a:t> </a:t>
            </a:r>
            <a:r>
              <a:rPr lang="en-US" sz="1050" b="0" i="0" u="none" strike="noStrike" baseline="0" dirty="0">
                <a:latin typeface="NewBaskerville-Roman"/>
              </a:rPr>
              <a:t>of 0</a:t>
            </a:r>
            <a:endParaRPr lang="tr-TR" sz="1050" b="0" i="0" u="none" strike="noStrike" baseline="0" dirty="0">
              <a:latin typeface="NewBaskerville-Roman"/>
            </a:endParaRPr>
          </a:p>
          <a:p>
            <a:pPr lvl="1"/>
            <a:r>
              <a:rPr lang="en-US" sz="1600" b="0" i="0" u="none" strike="noStrike" baseline="0" dirty="0">
                <a:latin typeface="NewBaskerville-Roman"/>
              </a:rPr>
              <a:t>whether an error caused the process to terminate</a:t>
            </a:r>
            <a:endParaRPr lang="tr-TR" sz="1600" b="0" i="0" u="none" strike="noStrike" baseline="0" dirty="0">
              <a:latin typeface="NewBaskerville-Roman"/>
            </a:endParaRPr>
          </a:p>
          <a:p>
            <a:pPr lvl="2"/>
            <a:r>
              <a:rPr lang="en-US" sz="1050" b="0" i="0" u="none" strike="noStrike" baseline="0" dirty="0">
                <a:latin typeface="NewBaskerville-Roman"/>
              </a:rPr>
              <a:t>a nonzero exit</a:t>
            </a:r>
            <a:r>
              <a:rPr lang="tr-TR" sz="1050" b="0" i="0" u="none" strike="noStrike" baseline="0" dirty="0">
                <a:latin typeface="NewBaskerville-Roman"/>
              </a:rPr>
              <a:t> </a:t>
            </a:r>
            <a:r>
              <a:rPr lang="en-US" sz="1050" b="0" i="0" u="none" strike="noStrike" baseline="0" dirty="0">
                <a:latin typeface="NewBaskerville-Roman"/>
              </a:rPr>
              <a:t>code</a:t>
            </a:r>
            <a:endParaRPr lang="tr-TR" sz="1050" b="0" i="0" u="none" strike="noStrike" baseline="0" dirty="0">
              <a:latin typeface="NewBaskerville-Roman"/>
            </a:endParaRPr>
          </a:p>
          <a:p>
            <a:pPr lvl="2"/>
            <a:r>
              <a:rPr lang="en-US" sz="1050" b="0" i="0" u="none" strike="noStrike" baseline="0" dirty="0">
                <a:latin typeface="NewBaskerville-Roman"/>
              </a:rPr>
              <a:t>generally, 1, but it may vary depending on the program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3342124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Run External Application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D864-D4B7-4B59-AA76-A335D3447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791" y="1774000"/>
            <a:ext cx="10951535" cy="4839870"/>
          </a:xfrm>
        </p:spPr>
        <p:txBody>
          <a:bodyPr>
            <a:normAutofit/>
          </a:bodyPr>
          <a:lstStyle/>
          <a:p>
            <a:pPr algn="l"/>
            <a:r>
              <a:rPr lang="en-US" sz="2000" b="0" i="0" u="none" strike="noStrike" baseline="0" dirty="0">
                <a:latin typeface="NewBaskerville-Roman"/>
              </a:rPr>
              <a:t>The wait() method is like waiting for your friend </a:t>
            </a:r>
            <a:endParaRPr lang="tr-TR" sz="2000" b="0" i="0" u="none" strike="noStrike" baseline="0" dirty="0">
              <a:latin typeface="NewBaskerville-Roman"/>
            </a:endParaRPr>
          </a:p>
          <a:p>
            <a:pPr lvl="1"/>
            <a:r>
              <a:rPr lang="en-US" sz="1600" b="0" i="0" u="none" strike="noStrike" baseline="0" dirty="0">
                <a:latin typeface="NewBaskerville-Roman"/>
              </a:rPr>
              <a:t>to finish working on</a:t>
            </a:r>
            <a:r>
              <a:rPr lang="tr-TR" sz="1600" b="0" i="0" u="none" strike="noStrike" baseline="0" dirty="0">
                <a:latin typeface="NewBaskerville-Roman"/>
              </a:rPr>
              <a:t> </a:t>
            </a:r>
            <a:r>
              <a:rPr lang="en-US" sz="1600" b="0" i="0" u="none" strike="noStrike" baseline="0" dirty="0">
                <a:latin typeface="NewBaskerville-Roman"/>
              </a:rPr>
              <a:t>her code </a:t>
            </a:r>
            <a:endParaRPr lang="tr-TR" sz="1600" b="0" i="0" u="none" strike="noStrike" baseline="0" dirty="0">
              <a:latin typeface="NewBaskerville-Roman"/>
            </a:endParaRPr>
          </a:p>
          <a:p>
            <a:pPr lvl="1"/>
            <a:r>
              <a:rPr lang="en-US" sz="1600" b="0" i="0" u="none" strike="noStrike" baseline="0" dirty="0">
                <a:latin typeface="NewBaskerville-Roman"/>
              </a:rPr>
              <a:t>before you keep working on yours. </a:t>
            </a:r>
            <a:endParaRPr lang="tr-TR" sz="1600" b="0" i="0" u="none" strike="noStrike" baseline="0" dirty="0">
              <a:latin typeface="NewBaskerville-Roman"/>
            </a:endParaRPr>
          </a:p>
          <a:p>
            <a:pPr algn="l"/>
            <a:r>
              <a:rPr lang="en-US" sz="2000" b="0" i="0" u="none" strike="noStrike" baseline="0" dirty="0">
                <a:latin typeface="NewBaskerville-Roman"/>
              </a:rPr>
              <a:t>The wait() method will block</a:t>
            </a:r>
            <a:r>
              <a:rPr lang="tr-TR" sz="2000" b="0" i="0" u="none" strike="noStrike" baseline="0" dirty="0">
                <a:latin typeface="NewBaskerville-Roman"/>
              </a:rPr>
              <a:t> </a:t>
            </a:r>
          </a:p>
          <a:p>
            <a:pPr lvl="1"/>
            <a:r>
              <a:rPr lang="en-US" sz="1600" b="0" i="0" u="none" strike="noStrike" baseline="0" dirty="0">
                <a:latin typeface="NewBaskerville-Roman"/>
              </a:rPr>
              <a:t>until the launched process has terminated. </a:t>
            </a:r>
            <a:endParaRPr lang="tr-TR" sz="1600" b="0" i="0" u="none" strike="noStrike" baseline="0" dirty="0">
              <a:latin typeface="NewBaskerville-Roman"/>
            </a:endParaRPr>
          </a:p>
          <a:p>
            <a:pPr algn="l"/>
            <a:r>
              <a:rPr lang="en-US" sz="2000" b="0" i="0" u="none" strike="noStrike" baseline="0" dirty="0">
                <a:latin typeface="NewBaskerville-Roman"/>
              </a:rPr>
              <a:t>This is helpful if you want your</a:t>
            </a:r>
            <a:r>
              <a:rPr lang="tr-TR" sz="2000" b="0" i="0" u="none" strike="noStrike" baseline="0" dirty="0">
                <a:latin typeface="NewBaskerville-Roman"/>
              </a:rPr>
              <a:t> </a:t>
            </a:r>
            <a:r>
              <a:rPr lang="en-US" sz="2000" b="0" i="0" u="none" strike="noStrike" baseline="0" dirty="0">
                <a:latin typeface="NewBaskerville-Roman"/>
              </a:rPr>
              <a:t>program </a:t>
            </a:r>
            <a:endParaRPr lang="tr-TR" sz="2000" b="0" i="0" u="none" strike="noStrike" baseline="0" dirty="0">
              <a:latin typeface="NewBaskerville-Roman"/>
            </a:endParaRPr>
          </a:p>
          <a:p>
            <a:pPr lvl="1"/>
            <a:r>
              <a:rPr lang="en-US" sz="1600" b="0" i="0" u="none" strike="noStrike" baseline="0" dirty="0">
                <a:latin typeface="NewBaskerville-Roman"/>
              </a:rPr>
              <a:t>to pause until the user finishes with the other program. </a:t>
            </a:r>
            <a:endParaRPr lang="tr-TR" sz="1600" b="0" i="0" u="none" strike="noStrike" baseline="0" dirty="0">
              <a:latin typeface="NewBaskerville-Roman"/>
            </a:endParaRPr>
          </a:p>
          <a:p>
            <a:pPr algn="l"/>
            <a:r>
              <a:rPr lang="en-US" sz="2000" b="0" i="0" u="none" strike="noStrike" baseline="0" dirty="0">
                <a:latin typeface="NewBaskerville-Roman"/>
              </a:rPr>
              <a:t>The</a:t>
            </a:r>
            <a:r>
              <a:rPr lang="tr-TR" sz="2000" b="0" i="0" u="none" strike="noStrike" baseline="0" dirty="0">
                <a:latin typeface="NewBaskerville-Roman"/>
              </a:rPr>
              <a:t> </a:t>
            </a:r>
            <a:r>
              <a:rPr lang="en-US" sz="2000" b="0" i="0" u="none" strike="noStrike" baseline="0" dirty="0">
                <a:latin typeface="NewBaskerville-Roman"/>
              </a:rPr>
              <a:t>return value of wait() </a:t>
            </a:r>
            <a:endParaRPr lang="tr-TR" sz="2000" b="0" i="0" u="none" strike="noStrike" baseline="0" dirty="0">
              <a:latin typeface="NewBaskerville-Roman"/>
            </a:endParaRPr>
          </a:p>
          <a:p>
            <a:pPr lvl="1"/>
            <a:r>
              <a:rPr lang="en-US" sz="1600" b="0" i="0" u="none" strike="noStrike" baseline="0" dirty="0">
                <a:latin typeface="NewBaskerville-Roman"/>
              </a:rPr>
              <a:t>is the process’s integer exit code.</a:t>
            </a: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12660292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runExternalApp</a:t>
            </a:r>
            <a:r>
              <a:rPr lang="en-US" dirty="0"/>
              <a:t>(</a:t>
            </a:r>
            <a:r>
              <a:rPr lang="tr-TR" dirty="0"/>
              <a:t>)</a:t>
            </a: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1ECA2CD-D37E-44F5-833B-AB1390880A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3696" y="1897667"/>
            <a:ext cx="10628294" cy="2677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#Run external applications as external processes</a:t>
            </a:r>
            <a:b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#uses import subprocess to run external applications &amp; platform to get the OS name</a:t>
            </a:r>
            <a:b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runExternalApp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platform.system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==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"Windows"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#for windows</a:t>
            </a:r>
            <a:b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subprocess.Popen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'C: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\\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Windows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\\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System32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\\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calc.exe'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platform.system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==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"Ubuntu"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#for Ubuntu Linux</a:t>
            </a:r>
            <a:b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subprocess.Popen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usr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/bin/gnome-calculator'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A36848-9D03-4D79-8138-F40FF7095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862" y="2983831"/>
            <a:ext cx="2262442" cy="375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981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Passing Command Line Arguments to </a:t>
            </a:r>
            <a:r>
              <a:rPr lang="en-US" dirty="0" err="1"/>
              <a:t>Popen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D864-D4B7-4B59-AA76-A335D3447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791" y="1774000"/>
            <a:ext cx="10951535" cy="4839870"/>
          </a:xfrm>
        </p:spPr>
        <p:txBody>
          <a:bodyPr>
            <a:normAutofit/>
          </a:bodyPr>
          <a:lstStyle/>
          <a:p>
            <a:pPr algn="l"/>
            <a:r>
              <a:rPr lang="en-US" sz="2000" b="0" i="0" u="none" strike="noStrike" baseline="0" dirty="0">
                <a:latin typeface="NewBaskerville-Roman"/>
              </a:rPr>
              <a:t>You can pass command line arguments </a:t>
            </a:r>
            <a:endParaRPr lang="tr-TR" sz="2000" b="0" i="0" u="none" strike="noStrike" baseline="0" dirty="0">
              <a:latin typeface="NewBaskerville-Roman"/>
            </a:endParaRPr>
          </a:p>
          <a:p>
            <a:pPr lvl="1"/>
            <a:r>
              <a:rPr lang="en-US" sz="1600" b="0" i="0" u="none" strike="noStrike" baseline="0" dirty="0">
                <a:latin typeface="NewBaskerville-Roman"/>
              </a:rPr>
              <a:t>to processes you create with </a:t>
            </a:r>
            <a:r>
              <a:rPr lang="en-US" sz="1600" b="0" i="0" u="none" strike="noStrike" baseline="0" dirty="0" err="1">
                <a:latin typeface="NewBaskerville-Roman"/>
              </a:rPr>
              <a:t>Popen</a:t>
            </a:r>
            <a:r>
              <a:rPr lang="en-US" sz="1600" b="0" i="0" u="none" strike="noStrike" baseline="0" dirty="0">
                <a:latin typeface="NewBaskerville-Roman"/>
              </a:rPr>
              <a:t>().</a:t>
            </a:r>
          </a:p>
          <a:p>
            <a:pPr algn="l"/>
            <a:r>
              <a:rPr lang="en-US" sz="2000" b="0" i="0" u="none" strike="noStrike" baseline="0" dirty="0">
                <a:latin typeface="NewBaskerville-Roman"/>
              </a:rPr>
              <a:t>To do so</a:t>
            </a:r>
            <a:endParaRPr lang="tr-TR" sz="2000" b="0" i="0" u="none" strike="noStrike" baseline="0" dirty="0">
              <a:latin typeface="NewBaskerville-Roman"/>
            </a:endParaRPr>
          </a:p>
          <a:p>
            <a:pPr lvl="1"/>
            <a:r>
              <a:rPr lang="en-US" sz="1600" b="0" i="0" u="none" strike="noStrike" baseline="0" dirty="0">
                <a:latin typeface="NewBaskerville-Roman"/>
              </a:rPr>
              <a:t>you pass a list as the sole argument to </a:t>
            </a:r>
            <a:r>
              <a:rPr lang="en-US" sz="1600" b="0" i="0" u="none" strike="noStrike" baseline="0" dirty="0" err="1">
                <a:latin typeface="NewBaskerville-Roman"/>
              </a:rPr>
              <a:t>Popen</a:t>
            </a:r>
            <a:r>
              <a:rPr lang="en-US" sz="1600" b="0" i="0" u="none" strike="noStrike" baseline="0" dirty="0">
                <a:latin typeface="NewBaskerville-Roman"/>
              </a:rPr>
              <a:t>(). </a:t>
            </a:r>
            <a:endParaRPr lang="tr-TR" sz="1600" b="0" i="0" u="none" strike="noStrike" baseline="0" dirty="0">
              <a:latin typeface="NewBaskerville-Roman"/>
            </a:endParaRPr>
          </a:p>
          <a:p>
            <a:pPr algn="l"/>
            <a:r>
              <a:rPr lang="en-US" sz="2000" b="0" i="0" u="none" strike="noStrike" baseline="0" dirty="0">
                <a:latin typeface="NewBaskerville-Roman"/>
              </a:rPr>
              <a:t>The first string in</a:t>
            </a:r>
            <a:r>
              <a:rPr lang="tr-TR" sz="2000" b="0" i="0" u="none" strike="noStrike" baseline="0" dirty="0">
                <a:latin typeface="NewBaskerville-Roman"/>
              </a:rPr>
              <a:t> </a:t>
            </a:r>
            <a:r>
              <a:rPr lang="en-US" sz="2000" b="0" i="0" u="none" strike="noStrike" baseline="0" dirty="0">
                <a:latin typeface="NewBaskerville-Roman"/>
              </a:rPr>
              <a:t>this list </a:t>
            </a:r>
            <a:endParaRPr lang="tr-TR" sz="2000" b="0" i="0" u="none" strike="noStrike" baseline="0" dirty="0">
              <a:latin typeface="NewBaskerville-Roman"/>
            </a:endParaRPr>
          </a:p>
          <a:p>
            <a:pPr lvl="1"/>
            <a:r>
              <a:rPr lang="en-US" sz="1600" b="0" i="0" u="none" strike="noStrike" baseline="0" dirty="0">
                <a:latin typeface="NewBaskerville-Roman"/>
              </a:rPr>
              <a:t>will be the executable filename of the program </a:t>
            </a:r>
            <a:endParaRPr lang="tr-TR" sz="1600" b="0" i="0" u="none" strike="noStrike" baseline="0" dirty="0">
              <a:latin typeface="NewBaskerville-Roman"/>
            </a:endParaRPr>
          </a:p>
          <a:p>
            <a:pPr lvl="1"/>
            <a:r>
              <a:rPr lang="en-US" sz="1600" b="0" i="0" u="none" strike="noStrike" baseline="0" dirty="0">
                <a:latin typeface="NewBaskerville-Roman"/>
              </a:rPr>
              <a:t>you want to launch</a:t>
            </a:r>
          </a:p>
          <a:p>
            <a:pPr algn="l"/>
            <a:r>
              <a:rPr lang="en-US" sz="2000" b="0" i="0" u="none" strike="noStrike" baseline="0" dirty="0">
                <a:latin typeface="NewBaskerville-Roman"/>
              </a:rPr>
              <a:t>all the subsequent strings </a:t>
            </a:r>
            <a:endParaRPr lang="tr-TR" sz="2000" b="0" i="0" u="none" strike="noStrike" baseline="0" dirty="0">
              <a:latin typeface="NewBaskerville-Roman"/>
            </a:endParaRPr>
          </a:p>
          <a:p>
            <a:pPr lvl="1"/>
            <a:r>
              <a:rPr lang="en-US" sz="1600" b="0" i="0" u="none" strike="noStrike" baseline="0" dirty="0">
                <a:latin typeface="NewBaskerville-Roman"/>
              </a:rPr>
              <a:t>will be the command line arguments </a:t>
            </a:r>
            <a:endParaRPr lang="tr-TR" sz="1600" b="0" i="0" u="none" strike="noStrike" baseline="0" dirty="0">
              <a:latin typeface="NewBaskerville-Roman"/>
            </a:endParaRPr>
          </a:p>
          <a:p>
            <a:pPr lvl="1"/>
            <a:r>
              <a:rPr lang="en-US" sz="1600" b="0" i="0" u="none" strike="noStrike" baseline="0" dirty="0">
                <a:latin typeface="NewBaskerville-Roman"/>
              </a:rPr>
              <a:t>to pass to</a:t>
            </a:r>
            <a:r>
              <a:rPr lang="tr-TR" sz="1600" b="0" i="0" u="none" strike="noStrike" baseline="0" dirty="0">
                <a:latin typeface="NewBaskerville-Roman"/>
              </a:rPr>
              <a:t> </a:t>
            </a:r>
            <a:r>
              <a:rPr lang="en-US" sz="1600" b="0" i="0" u="none" strike="noStrike" baseline="0" dirty="0">
                <a:latin typeface="NewBaskerville-Roman"/>
              </a:rPr>
              <a:t>the program when it starts.</a:t>
            </a:r>
            <a:endParaRPr lang="tr-TR" sz="1600" b="0" i="0" u="none" strike="noStrike" baseline="0" dirty="0">
              <a:latin typeface="NewBaskerville-Roman"/>
            </a:endParaRPr>
          </a:p>
          <a:p>
            <a:pPr algn="l"/>
            <a:r>
              <a:rPr lang="en-US" sz="2000" b="0" i="0" u="none" strike="noStrike" baseline="0" dirty="0">
                <a:latin typeface="NewBaskerville-Roman"/>
              </a:rPr>
              <a:t>In effect, this list will be </a:t>
            </a:r>
            <a:endParaRPr lang="tr-TR" sz="2000" b="0" i="0" u="none" strike="noStrike" baseline="0" dirty="0">
              <a:latin typeface="NewBaskerville-Roman"/>
            </a:endParaRPr>
          </a:p>
          <a:p>
            <a:pPr lvl="1"/>
            <a:r>
              <a:rPr lang="en-US" sz="1600" b="0" i="0" u="none" strike="noStrike" baseline="0" dirty="0">
                <a:latin typeface="NewBaskerville-Roman"/>
              </a:rPr>
              <a:t>the value of </a:t>
            </a:r>
            <a:r>
              <a:rPr lang="en-US" sz="1600" b="0" i="0" u="none" strike="noStrike" baseline="0" dirty="0" err="1">
                <a:latin typeface="NewBaskerville-Roman"/>
              </a:rPr>
              <a:t>sys.argv</a:t>
            </a:r>
            <a:r>
              <a:rPr lang="tr-TR" sz="1600" b="0" i="0" u="none" strike="noStrike" baseline="0" dirty="0">
                <a:latin typeface="NewBaskerville-Roman"/>
              </a:rPr>
              <a:t> </a:t>
            </a:r>
          </a:p>
          <a:p>
            <a:pPr lvl="1"/>
            <a:r>
              <a:rPr lang="en-US" sz="1600" b="0" i="0" u="none" strike="noStrike" baseline="0" dirty="0">
                <a:latin typeface="NewBaskerville-Roman"/>
              </a:rPr>
              <a:t>for the launched program.</a:t>
            </a:r>
            <a:endParaRPr lang="tr-TR" sz="1600" dirty="0"/>
          </a:p>
        </p:txBody>
      </p:sp>
    </p:spTree>
    <p:extLst>
      <p:ext uri="{BB962C8B-B14F-4D97-AF65-F5344CB8AC3E}">
        <p14:creationId xmlns:p14="http://schemas.microsoft.com/office/powerpoint/2010/main" val="7041313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Passing Command Line Arguments to </a:t>
            </a:r>
            <a:r>
              <a:rPr lang="en-US" dirty="0" err="1"/>
              <a:t>Popen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D864-D4B7-4B59-AA76-A335D3447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791" y="1774000"/>
            <a:ext cx="10951535" cy="4839870"/>
          </a:xfrm>
        </p:spPr>
        <p:txBody>
          <a:bodyPr>
            <a:normAutofit/>
          </a:bodyPr>
          <a:lstStyle/>
          <a:p>
            <a:pPr algn="l"/>
            <a:r>
              <a:rPr lang="tr-TR" sz="1800" b="0" i="0" u="none" strike="noStrike" baseline="0" dirty="0">
                <a:latin typeface="NewBaskerville-Roman"/>
              </a:rPr>
              <a:t>No </a:t>
            </a:r>
            <a:r>
              <a:rPr lang="tr-TR" sz="1800" b="0" i="0" u="none" strike="noStrike" baseline="0" dirty="0" err="1">
                <a:latin typeface="NewBaskerville-Roman"/>
              </a:rPr>
              <a:t>command</a:t>
            </a:r>
            <a:r>
              <a:rPr lang="tr-TR" sz="1800" b="0" i="0" u="none" strike="noStrike" baseline="0" dirty="0">
                <a:latin typeface="NewBaskerville-Roman"/>
              </a:rPr>
              <a:t> </a:t>
            </a:r>
            <a:r>
              <a:rPr lang="tr-TR" sz="1800" b="0" i="0" u="none" strike="noStrike" baseline="0" dirty="0" err="1">
                <a:latin typeface="NewBaskerville-Roman"/>
              </a:rPr>
              <a:t>line</a:t>
            </a:r>
            <a:r>
              <a:rPr lang="tr-TR" sz="1800" b="0" i="0" u="none" strike="noStrike" baseline="0" dirty="0">
                <a:latin typeface="NewBaskerville-Roman"/>
              </a:rPr>
              <a:t> </a:t>
            </a:r>
            <a:r>
              <a:rPr lang="tr-TR" sz="1800" b="0" i="0" u="none" strike="noStrike" baseline="0" dirty="0" err="1">
                <a:latin typeface="NewBaskerville-Roman"/>
              </a:rPr>
              <a:t>arguments</a:t>
            </a:r>
            <a:endParaRPr lang="tr-TR" sz="1800" b="0" i="0" u="none" strike="noStrike" baseline="0" dirty="0">
              <a:latin typeface="NewBaskerville-Roman"/>
            </a:endParaRPr>
          </a:p>
          <a:p>
            <a:pPr lvl="1"/>
            <a:r>
              <a:rPr lang="tr-TR" sz="1400" b="0" i="0" u="none" strike="noStrike" baseline="0" dirty="0" err="1">
                <a:latin typeface="NewBaskerville-Roman"/>
              </a:rPr>
              <a:t>Some</a:t>
            </a:r>
            <a:r>
              <a:rPr lang="tr-TR" sz="1400" b="0" i="0" u="none" strike="noStrike" baseline="0" dirty="0">
                <a:latin typeface="NewBaskerville-Roman"/>
              </a:rPr>
              <a:t> </a:t>
            </a:r>
            <a:r>
              <a:rPr lang="en-US" sz="1400" b="0" i="0" u="none" strike="noStrike" baseline="0" dirty="0">
                <a:latin typeface="NewBaskerville-Roman"/>
              </a:rPr>
              <a:t>GUI</a:t>
            </a:r>
            <a:r>
              <a:rPr lang="tr-TR" sz="1400" dirty="0">
                <a:latin typeface="NewBaskerville-Roman"/>
              </a:rPr>
              <a:t> </a:t>
            </a:r>
            <a:r>
              <a:rPr lang="tr-TR" sz="1400" dirty="0" err="1">
                <a:latin typeface="NewBaskerville-Roman"/>
              </a:rPr>
              <a:t>applications</a:t>
            </a:r>
            <a:r>
              <a:rPr lang="tr-TR" sz="1400" dirty="0">
                <a:latin typeface="NewBaskerville-Roman"/>
              </a:rPr>
              <a:t> </a:t>
            </a:r>
            <a:r>
              <a:rPr lang="en-US" sz="1400" b="0" i="0" u="none" strike="noStrike" baseline="0" dirty="0">
                <a:latin typeface="NewBaskerville-Roman"/>
              </a:rPr>
              <a:t>don’t use command</a:t>
            </a:r>
            <a:r>
              <a:rPr lang="tr-TR" sz="1400" b="0" i="0" u="none" strike="noStrike" baseline="0" dirty="0">
                <a:latin typeface="NewBaskerville-Roman"/>
              </a:rPr>
              <a:t> </a:t>
            </a:r>
            <a:r>
              <a:rPr lang="en-US" sz="1400" b="0" i="0" u="none" strike="noStrike" baseline="0" dirty="0">
                <a:latin typeface="NewBaskerville-Roman"/>
              </a:rPr>
              <a:t>line arguments </a:t>
            </a:r>
            <a:endParaRPr lang="tr-TR" sz="1400" b="0" i="0" u="none" strike="noStrike" baseline="0" dirty="0">
              <a:latin typeface="NewBaskerville-Roman"/>
            </a:endParaRPr>
          </a:p>
          <a:p>
            <a:pPr lvl="1"/>
            <a:r>
              <a:rPr lang="en-US" sz="1400" b="0" i="0" u="none" strike="noStrike" baseline="0" dirty="0">
                <a:latin typeface="NewBaskerville-Roman"/>
              </a:rPr>
              <a:t>as extensively as command line–based </a:t>
            </a:r>
            <a:endParaRPr lang="tr-TR" sz="1400" b="0" i="0" u="none" strike="noStrike" baseline="0" dirty="0">
              <a:latin typeface="NewBaskerville-Roman"/>
            </a:endParaRPr>
          </a:p>
          <a:p>
            <a:pPr algn="l"/>
            <a:r>
              <a:rPr lang="tr-TR" sz="1800" b="0" i="0" u="none" strike="noStrike" baseline="0" dirty="0" err="1">
                <a:latin typeface="NewBaskerville-Roman"/>
              </a:rPr>
              <a:t>Accepting</a:t>
            </a:r>
            <a:r>
              <a:rPr lang="tr-TR" sz="1800" b="0" i="0" u="none" strike="noStrike" baseline="0" dirty="0">
                <a:latin typeface="NewBaskerville-Roman"/>
              </a:rPr>
              <a:t> </a:t>
            </a:r>
            <a:r>
              <a:rPr lang="tr-TR" sz="1800" b="0" i="0" u="none" strike="noStrike" baseline="0" dirty="0" err="1">
                <a:latin typeface="NewBaskerville-Roman"/>
              </a:rPr>
              <a:t>command</a:t>
            </a:r>
            <a:r>
              <a:rPr lang="tr-TR" sz="1800" b="0" i="0" u="none" strike="noStrike" baseline="0" dirty="0">
                <a:latin typeface="NewBaskerville-Roman"/>
              </a:rPr>
              <a:t> </a:t>
            </a:r>
            <a:r>
              <a:rPr lang="tr-TR" sz="1800" b="0" i="0" u="none" strike="noStrike" baseline="0" dirty="0" err="1">
                <a:latin typeface="NewBaskerville-Roman"/>
              </a:rPr>
              <a:t>line</a:t>
            </a:r>
            <a:r>
              <a:rPr lang="tr-TR" sz="1800" b="0" i="0" u="none" strike="noStrike" baseline="0" dirty="0">
                <a:latin typeface="NewBaskerville-Roman"/>
              </a:rPr>
              <a:t> </a:t>
            </a:r>
            <a:r>
              <a:rPr lang="tr-TR" sz="1800" b="0" i="0" u="none" strike="noStrike" baseline="0" dirty="0" err="1">
                <a:latin typeface="NewBaskerville-Roman"/>
              </a:rPr>
              <a:t>arguments</a:t>
            </a:r>
            <a:endParaRPr lang="tr-TR" sz="1800" b="0" i="0" u="none" strike="noStrike" baseline="0" dirty="0">
              <a:latin typeface="NewBaskerville-Roman"/>
            </a:endParaRPr>
          </a:p>
          <a:p>
            <a:pPr lvl="1"/>
            <a:r>
              <a:rPr lang="en-US" sz="1400" b="0" i="0" u="none" strike="noStrike" baseline="0" dirty="0">
                <a:latin typeface="NewBaskerville-Roman"/>
              </a:rPr>
              <a:t>most GUI applications will accept a single argument</a:t>
            </a:r>
            <a:r>
              <a:rPr lang="tr-TR" sz="1400" b="0" i="0" u="none" strike="noStrike" baseline="0" dirty="0">
                <a:latin typeface="NewBaskerville-Roman"/>
              </a:rPr>
              <a:t> </a:t>
            </a:r>
          </a:p>
          <a:p>
            <a:pPr lvl="1"/>
            <a:r>
              <a:rPr lang="en-US" sz="1400" b="0" i="0" u="none" strike="noStrike" baseline="0" dirty="0">
                <a:latin typeface="NewBaskerville-Roman"/>
              </a:rPr>
              <a:t>for a file that the applications </a:t>
            </a:r>
            <a:endParaRPr lang="tr-TR" sz="1400" b="0" i="0" u="none" strike="noStrike" baseline="0" dirty="0">
              <a:latin typeface="NewBaskerville-Roman"/>
            </a:endParaRPr>
          </a:p>
          <a:p>
            <a:pPr lvl="1"/>
            <a:r>
              <a:rPr lang="en-US" sz="1400" b="0" i="0" u="none" strike="noStrike" baseline="0" dirty="0">
                <a:latin typeface="NewBaskerville-Roman"/>
              </a:rPr>
              <a:t>will immediately open when they</a:t>
            </a:r>
            <a:r>
              <a:rPr lang="tr-TR" sz="1400" b="0" i="0" u="none" strike="noStrike" baseline="0" dirty="0">
                <a:latin typeface="NewBaskerville-Roman"/>
              </a:rPr>
              <a:t> </a:t>
            </a:r>
            <a:r>
              <a:rPr lang="en-US" sz="1400" b="0" i="0" u="none" strike="noStrike" baseline="0" dirty="0">
                <a:latin typeface="NewBaskerville-Roman"/>
              </a:rPr>
              <a:t>start</a:t>
            </a:r>
            <a:endParaRPr lang="tr-TR" sz="1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C7239B-182E-4E46-9654-43E2FCA8D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647" y="4642523"/>
            <a:ext cx="5156791" cy="954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#open a new file in notepad</a:t>
            </a:r>
            <a:br>
              <a:rPr kumimoji="0" lang="en-US" altLang="en-US" sz="14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openFileInNotepad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platform.system() ==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"Windows"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 </a:t>
            </a:r>
            <a:r>
              <a:rPr kumimoji="0" lang="en-US" altLang="en-US" sz="14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 for windows</a:t>
            </a:r>
            <a:br>
              <a:rPr kumimoji="0" lang="en-US" altLang="en-US" sz="14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14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subprocess.Popen([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'C: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\\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Windows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\\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notepad.exe'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'C: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\\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hello.txt'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])</a:t>
            </a:r>
            <a:endParaRPr kumimoji="0" lang="en-US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7891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Task Scheduler, </a:t>
            </a:r>
            <a:r>
              <a:rPr lang="en-US" dirty="0" err="1"/>
              <a:t>launchd</a:t>
            </a:r>
            <a:r>
              <a:rPr lang="en-US" dirty="0"/>
              <a:t>, and </a:t>
            </a:r>
            <a:r>
              <a:rPr lang="en-US" dirty="0" err="1"/>
              <a:t>cron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D864-D4B7-4B59-AA76-A335D3447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791" y="1774000"/>
            <a:ext cx="10951535" cy="4839870"/>
          </a:xfrm>
        </p:spPr>
        <p:txBody>
          <a:bodyPr>
            <a:normAutofit/>
          </a:bodyPr>
          <a:lstStyle/>
          <a:p>
            <a:pPr algn="l"/>
            <a:r>
              <a:rPr lang="tr-TR" sz="1800" b="0" i="0" u="none" strike="noStrike" baseline="0" dirty="0">
                <a:latin typeface="NewBaskerville-Roman"/>
              </a:rPr>
              <a:t>Tools </a:t>
            </a:r>
            <a:r>
              <a:rPr lang="tr-TR" sz="1800" b="0" i="0" u="none" strike="noStrike" baseline="0" dirty="0" err="1">
                <a:latin typeface="NewBaskerville-Roman"/>
              </a:rPr>
              <a:t>to</a:t>
            </a:r>
            <a:r>
              <a:rPr lang="tr-TR" sz="1800" b="0" i="0" u="none" strike="noStrike" baseline="0" dirty="0">
                <a:latin typeface="NewBaskerville-Roman"/>
              </a:rPr>
              <a:t> </a:t>
            </a:r>
            <a:r>
              <a:rPr lang="tr-TR" sz="1800" b="0" i="0" u="none" strike="noStrike" baseline="0" dirty="0" err="1">
                <a:latin typeface="NewBaskerville-Roman"/>
              </a:rPr>
              <a:t>monitor</a:t>
            </a:r>
            <a:r>
              <a:rPr lang="tr-TR" sz="1800" b="0" i="0" u="none" strike="noStrike" baseline="0" dirty="0">
                <a:latin typeface="NewBaskerville-Roman"/>
              </a:rPr>
              <a:t> </a:t>
            </a:r>
            <a:r>
              <a:rPr lang="tr-TR" sz="1800" b="0" i="0" u="none" strike="noStrike" baseline="0" dirty="0" err="1">
                <a:latin typeface="NewBaskerville-Roman"/>
              </a:rPr>
              <a:t>processes</a:t>
            </a:r>
            <a:endParaRPr lang="tr-TR" sz="1800" b="0" i="0" u="none" strike="noStrike" baseline="0" dirty="0">
              <a:latin typeface="NewBaskerville-Roman"/>
            </a:endParaRPr>
          </a:p>
          <a:p>
            <a:pPr lvl="1"/>
            <a:r>
              <a:rPr lang="en-US" sz="1400" b="0" i="0" u="none" strike="noStrike" baseline="0" dirty="0">
                <a:latin typeface="NewBaskerville-Roman"/>
              </a:rPr>
              <a:t>Task Scheduler on Windows</a:t>
            </a:r>
            <a:endParaRPr lang="tr-TR" sz="1400" b="0" i="0" u="none" strike="noStrike" baseline="0" dirty="0">
              <a:latin typeface="NewBaskerville-Roman"/>
            </a:endParaRPr>
          </a:p>
          <a:p>
            <a:pPr lvl="1"/>
            <a:r>
              <a:rPr lang="en-US" sz="1400" b="0" i="0" u="none" strike="noStrike" baseline="0" dirty="0" err="1">
                <a:latin typeface="NewBaskerville-Roman"/>
              </a:rPr>
              <a:t>launchd</a:t>
            </a:r>
            <a:r>
              <a:rPr lang="en-US" sz="1400" b="0" i="0" u="none" strike="noStrike" baseline="0" dirty="0">
                <a:latin typeface="NewBaskerville-Roman"/>
              </a:rPr>
              <a:t> on OS X</a:t>
            </a:r>
            <a:endParaRPr lang="tr-TR" sz="1400" b="0" i="0" u="none" strike="noStrike" baseline="0" dirty="0">
              <a:latin typeface="NewBaskerville-Roman"/>
            </a:endParaRPr>
          </a:p>
          <a:p>
            <a:pPr lvl="1"/>
            <a:r>
              <a:rPr lang="en-US" sz="1400" b="0" i="0" u="none" strike="noStrike" baseline="0" dirty="0">
                <a:latin typeface="NewBaskerville-Roman"/>
              </a:rPr>
              <a:t>the </a:t>
            </a:r>
            <a:r>
              <a:rPr lang="en-US" sz="1400" b="0" i="0" u="none" strike="noStrike" baseline="0" dirty="0" err="1">
                <a:latin typeface="NewBaskerville-Roman"/>
              </a:rPr>
              <a:t>cron</a:t>
            </a:r>
            <a:r>
              <a:rPr lang="en-US" sz="1400" b="0" i="0" u="none" strike="noStrike" baseline="0" dirty="0">
                <a:latin typeface="NewBaskerville-Roman"/>
              </a:rPr>
              <a:t> scheduler on Linux</a:t>
            </a:r>
            <a:endParaRPr lang="tr-TR" sz="1400" b="0" i="0" u="none" strike="noStrike" baseline="0" dirty="0">
              <a:latin typeface="NewBaskerville-Roman"/>
            </a:endParaRP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Using your operating system’s built-in scheduler saves you from writing</a:t>
            </a:r>
            <a:r>
              <a:rPr lang="tr-TR" sz="1800" b="0" i="0" u="none" strike="noStrike" baseline="0" dirty="0">
                <a:latin typeface="NewBaskerville-Roman"/>
              </a:rPr>
              <a:t> </a:t>
            </a:r>
            <a:r>
              <a:rPr lang="en-US" sz="1800" b="0" i="0" u="none" strike="noStrike" baseline="0" dirty="0">
                <a:latin typeface="NewBaskerville-Roman"/>
              </a:rPr>
              <a:t>your own clock-checking code to schedule your programs.</a:t>
            </a:r>
            <a:endParaRPr lang="tr-TR" sz="1800" b="0" i="0" u="none" strike="noStrike" baseline="0" dirty="0">
              <a:latin typeface="NewBaskerville-Roman"/>
            </a:endParaRP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However, use</a:t>
            </a:r>
            <a:r>
              <a:rPr lang="tr-TR" sz="1800" b="0" i="0" u="none" strike="noStrike" baseline="0" dirty="0">
                <a:latin typeface="NewBaskerville-Roman"/>
              </a:rPr>
              <a:t> </a:t>
            </a:r>
            <a:r>
              <a:rPr lang="en-US" sz="1800" b="0" i="0" u="none" strike="noStrike" baseline="0" dirty="0">
                <a:latin typeface="NewBaskerville-Roman"/>
              </a:rPr>
              <a:t>the </a:t>
            </a:r>
            <a:r>
              <a:rPr lang="en-US" sz="1800" b="0" i="0" u="none" strike="noStrike" baseline="0" dirty="0" err="1">
                <a:latin typeface="NewBaskerville-Roman"/>
              </a:rPr>
              <a:t>time.sleep</a:t>
            </a:r>
            <a:r>
              <a:rPr lang="en-US" sz="1800" b="0" i="0" u="none" strike="noStrike" baseline="0" dirty="0">
                <a:latin typeface="NewBaskerville-Roman"/>
              </a:rPr>
              <a:t>() function if you just need your program to pause briefly. </a:t>
            </a:r>
            <a:endParaRPr lang="tr-TR" sz="1800" b="0" i="0" u="none" strike="noStrike" baseline="0" dirty="0">
              <a:latin typeface="NewBaskerville-Roman"/>
            </a:endParaRP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Or</a:t>
            </a:r>
            <a:r>
              <a:rPr lang="tr-TR" sz="1800" b="0" i="0" u="none" strike="noStrike" baseline="0" dirty="0">
                <a:latin typeface="NewBaskerville-Roman"/>
              </a:rPr>
              <a:t> </a:t>
            </a:r>
            <a:r>
              <a:rPr lang="en-US" sz="1800" b="0" i="0" u="none" strike="noStrike" baseline="0" dirty="0">
                <a:latin typeface="NewBaskerville-Roman"/>
              </a:rPr>
              <a:t>instead of using the operating system’s scheduler, your code can loop until</a:t>
            </a:r>
            <a:r>
              <a:rPr lang="tr-TR" sz="1800" b="0" i="0" u="none" strike="noStrike" baseline="0" dirty="0">
                <a:latin typeface="NewBaskerville-Roman"/>
              </a:rPr>
              <a:t> </a:t>
            </a:r>
            <a:r>
              <a:rPr lang="en-US" sz="1800" b="0" i="0" u="none" strike="noStrike" baseline="0" dirty="0">
                <a:latin typeface="NewBaskerville-Roman"/>
              </a:rPr>
              <a:t>a certain date and time, calling </a:t>
            </a:r>
            <a:r>
              <a:rPr lang="en-US" sz="1800" b="0" i="0" u="none" strike="noStrike" baseline="0" dirty="0" err="1">
                <a:latin typeface="NewBaskerville-Roman"/>
              </a:rPr>
              <a:t>time.sleep</a:t>
            </a:r>
            <a:r>
              <a:rPr lang="en-US" sz="1800" b="0" i="0" u="none" strike="noStrike" baseline="0" dirty="0">
                <a:latin typeface="NewBaskerville-Roman"/>
              </a:rPr>
              <a:t>(1) each time through the loop.</a:t>
            </a:r>
            <a:endParaRPr lang="tr-TR" sz="1200" dirty="0"/>
          </a:p>
        </p:txBody>
      </p:sp>
    </p:spTree>
    <p:extLst>
      <p:ext uri="{BB962C8B-B14F-4D97-AF65-F5344CB8AC3E}">
        <p14:creationId xmlns:p14="http://schemas.microsoft.com/office/powerpoint/2010/main" val="28720641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Opening Websites with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D864-D4B7-4B59-AA76-A335D3447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791" y="1774000"/>
            <a:ext cx="10951535" cy="4839870"/>
          </a:xfrm>
        </p:spPr>
        <p:txBody>
          <a:bodyPr>
            <a:normAutofit/>
          </a:bodyPr>
          <a:lstStyle/>
          <a:p>
            <a:pPr algn="l"/>
            <a:r>
              <a:rPr lang="en-US" sz="1800" b="0" i="0" u="none" strike="noStrike" baseline="0" dirty="0">
                <a:latin typeface="NewBaskerville-Roman"/>
              </a:rPr>
              <a:t>The </a:t>
            </a:r>
            <a:r>
              <a:rPr lang="en-US" sz="1800" b="0" i="0" u="none" strike="noStrike" baseline="0" dirty="0" err="1">
                <a:latin typeface="NewBaskerville-Roman"/>
              </a:rPr>
              <a:t>webbrowser.open</a:t>
            </a:r>
            <a:r>
              <a:rPr lang="en-US" sz="1800" b="0" i="0" u="none" strike="noStrike" baseline="0" dirty="0">
                <a:latin typeface="NewBaskerville-Roman"/>
              </a:rPr>
              <a:t>() function</a:t>
            </a:r>
            <a:endParaRPr lang="tr-TR" sz="1800" b="0" i="0" u="none" strike="noStrike" baseline="0" dirty="0">
              <a:latin typeface="NewBaskerville-Roman"/>
            </a:endParaRPr>
          </a:p>
          <a:p>
            <a:pPr lvl="1"/>
            <a:r>
              <a:rPr lang="en-US" sz="1400" b="0" i="0" u="none" strike="noStrike" baseline="0" dirty="0">
                <a:latin typeface="NewBaskerville-Roman"/>
              </a:rPr>
              <a:t>can launch a web browser </a:t>
            </a:r>
            <a:endParaRPr lang="tr-TR" sz="1400" b="0" i="0" u="none" strike="noStrike" baseline="0" dirty="0">
              <a:latin typeface="NewBaskerville-Roman"/>
            </a:endParaRPr>
          </a:p>
          <a:p>
            <a:pPr lvl="1"/>
            <a:r>
              <a:rPr lang="en-US" sz="1400" b="0" i="0" u="none" strike="noStrike" baseline="0" dirty="0">
                <a:latin typeface="NewBaskerville-Roman"/>
              </a:rPr>
              <a:t>from your program</a:t>
            </a: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to a specific website</a:t>
            </a:r>
            <a:endParaRPr lang="tr-TR" sz="1800" b="0" i="0" u="none" strike="noStrike" baseline="0" dirty="0">
              <a:latin typeface="NewBaskerville-Roman"/>
            </a:endParaRPr>
          </a:p>
          <a:p>
            <a:pPr lvl="1"/>
            <a:r>
              <a:rPr lang="en-US" sz="1400" b="0" i="0" u="none" strike="noStrike" baseline="0" dirty="0">
                <a:latin typeface="NewBaskerville-Roman"/>
              </a:rPr>
              <a:t>rather than opening the browser application</a:t>
            </a:r>
          </a:p>
          <a:p>
            <a:pPr lvl="1"/>
            <a:r>
              <a:rPr lang="en-US" sz="1400" b="0" i="0" u="none" strike="noStrike" baseline="0" dirty="0">
                <a:latin typeface="NewBaskerville-Roman"/>
              </a:rPr>
              <a:t>with </a:t>
            </a:r>
            <a:r>
              <a:rPr lang="en-US" sz="1400" b="0" i="0" u="none" strike="noStrike" baseline="0" dirty="0" err="1">
                <a:latin typeface="NewBaskerville-Roman"/>
              </a:rPr>
              <a:t>subprocess.Popen</a:t>
            </a:r>
            <a:r>
              <a:rPr lang="en-US" sz="1400" b="0" i="0" u="none" strike="noStrike" baseline="0" dirty="0">
                <a:latin typeface="NewBaskerville-Roman"/>
              </a:rPr>
              <a:t>().</a:t>
            </a:r>
            <a:endParaRPr lang="tr-TR" sz="800" dirty="0"/>
          </a:p>
        </p:txBody>
      </p:sp>
    </p:spTree>
    <p:extLst>
      <p:ext uri="{BB962C8B-B14F-4D97-AF65-F5344CB8AC3E}">
        <p14:creationId xmlns:p14="http://schemas.microsoft.com/office/powerpoint/2010/main" val="26116499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Running Other Python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D864-D4B7-4B59-AA76-A335D3447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791" y="1774000"/>
            <a:ext cx="7527851" cy="4839870"/>
          </a:xfrm>
        </p:spPr>
        <p:txBody>
          <a:bodyPr>
            <a:normAutofit/>
          </a:bodyPr>
          <a:lstStyle/>
          <a:p>
            <a:pPr algn="l"/>
            <a:r>
              <a:rPr lang="en-US" sz="1800" b="0" i="0" u="none" strike="noStrike" baseline="0" dirty="0">
                <a:latin typeface="NewBaskerville-Roman"/>
              </a:rPr>
              <a:t>You can launch a Python script </a:t>
            </a:r>
            <a:endParaRPr lang="tr-TR" sz="1800" b="0" i="0" u="none" strike="noStrike" baseline="0" dirty="0">
              <a:latin typeface="NewBaskerville-Roman"/>
            </a:endParaRPr>
          </a:p>
          <a:p>
            <a:pPr lvl="1"/>
            <a:r>
              <a:rPr lang="en-US" sz="1400" b="0" i="0" u="none" strike="noStrike" baseline="0" dirty="0">
                <a:latin typeface="NewBaskerville-Roman"/>
              </a:rPr>
              <a:t>from Python just like any other application.</a:t>
            </a: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You just have to pass </a:t>
            </a:r>
            <a:endParaRPr lang="tr-TR" sz="1800" b="0" i="0" u="none" strike="noStrike" baseline="0" dirty="0">
              <a:latin typeface="NewBaskerville-Roman"/>
            </a:endParaRPr>
          </a:p>
          <a:p>
            <a:pPr lvl="1"/>
            <a:r>
              <a:rPr lang="en-US" sz="1400" b="0" i="0" u="none" strike="noStrike" baseline="0" dirty="0">
                <a:latin typeface="NewBaskerville-Roman"/>
              </a:rPr>
              <a:t>the python.exe executable to </a:t>
            </a:r>
            <a:r>
              <a:rPr lang="en-US" sz="1400" b="0" i="0" u="none" strike="noStrike" baseline="0" dirty="0" err="1">
                <a:latin typeface="NewBaskerville-Roman"/>
              </a:rPr>
              <a:t>Popen</a:t>
            </a:r>
            <a:r>
              <a:rPr lang="en-US" sz="1400" b="0" i="0" u="none" strike="noStrike" baseline="0" dirty="0">
                <a:latin typeface="NewBaskerville-Roman"/>
              </a:rPr>
              <a:t>()</a:t>
            </a:r>
            <a:endParaRPr lang="tr-TR" sz="1400" b="0" i="0" u="none" strike="noStrike" baseline="0" dirty="0">
              <a:latin typeface="NewBaskerville-Roman"/>
            </a:endParaRPr>
          </a:p>
          <a:p>
            <a:pPr lvl="1"/>
            <a:r>
              <a:rPr lang="en-US" sz="1400" b="0" i="0" u="none" strike="noStrike" baseline="0" dirty="0">
                <a:latin typeface="NewBaskerville-Roman"/>
              </a:rPr>
              <a:t> and the filename</a:t>
            </a:r>
            <a:r>
              <a:rPr lang="tr-TR" sz="1400" b="0" i="0" u="none" strike="noStrike" baseline="0" dirty="0">
                <a:latin typeface="NewBaskerville-Roman"/>
              </a:rPr>
              <a:t> </a:t>
            </a:r>
            <a:r>
              <a:rPr lang="en-US" sz="1400" b="0" i="0" u="none" strike="noStrike" baseline="0" dirty="0">
                <a:latin typeface="NewBaskerville-Roman"/>
              </a:rPr>
              <a:t>of the .</a:t>
            </a:r>
            <a:r>
              <a:rPr lang="en-US" sz="1400" b="0" i="0" u="none" strike="noStrike" baseline="0" dirty="0" err="1">
                <a:latin typeface="NewBaskerville-Roman"/>
              </a:rPr>
              <a:t>py</a:t>
            </a:r>
            <a:r>
              <a:rPr lang="en-US" sz="1400" b="0" i="0" u="none" strike="noStrike" baseline="0" dirty="0">
                <a:latin typeface="NewBaskerville-Roman"/>
              </a:rPr>
              <a:t> script you want to run as its argument.</a:t>
            </a:r>
            <a:endParaRPr lang="tr-TR" sz="1400" b="0" i="0" u="none" strike="noStrike" baseline="0" dirty="0">
              <a:latin typeface="NewBaskerville-Roman"/>
            </a:endParaRP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Pass </a:t>
            </a:r>
            <a:r>
              <a:rPr lang="en-US" sz="1800" b="0" i="0" u="none" strike="noStrike" baseline="0" dirty="0" err="1">
                <a:latin typeface="TheSansMonoCondensed-Plain"/>
              </a:rPr>
              <a:t>Popen</a:t>
            </a:r>
            <a:r>
              <a:rPr lang="en-US" sz="1800" b="0" i="0" u="none" strike="noStrike" baseline="0" dirty="0">
                <a:latin typeface="TheSansMonoCondensed-Plain"/>
              </a:rPr>
              <a:t>() </a:t>
            </a:r>
            <a:r>
              <a:rPr lang="en-US" sz="1800" b="0" i="0" u="none" strike="noStrike" baseline="0" dirty="0">
                <a:latin typeface="NewBaskerville-Roman"/>
              </a:rPr>
              <a:t>a list </a:t>
            </a:r>
            <a:endParaRPr lang="tr-TR" sz="1800" b="0" i="0" u="none" strike="noStrike" baseline="0" dirty="0">
              <a:latin typeface="NewBaskerville-Roman"/>
            </a:endParaRPr>
          </a:p>
          <a:p>
            <a:pPr lvl="1"/>
            <a:r>
              <a:rPr lang="en-US" sz="1400" b="0" i="0" u="none" strike="noStrike" baseline="0" dirty="0">
                <a:latin typeface="NewBaskerville-Roman"/>
              </a:rPr>
              <a:t>containing a string of the Python executable’s path</a:t>
            </a:r>
            <a:endParaRPr lang="tr-TR" sz="1400" b="0" i="0" u="none" strike="noStrike" baseline="0" dirty="0">
              <a:latin typeface="NewBaskerville-Roman"/>
            </a:endParaRPr>
          </a:p>
          <a:p>
            <a:pPr lvl="1"/>
            <a:r>
              <a:rPr lang="en-US" sz="1400" b="0" i="0" u="none" strike="noStrike" baseline="0" dirty="0">
                <a:latin typeface="NewBaskerville-Roman"/>
              </a:rPr>
              <a:t>and a string of the script’s filename.</a:t>
            </a:r>
            <a:endParaRPr lang="tr-TR" sz="1400" b="0" i="0" u="none" strike="noStrike" baseline="0" dirty="0">
              <a:latin typeface="NewBaskerville-Roman"/>
            </a:endParaRP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If the script you’re launching </a:t>
            </a:r>
            <a:endParaRPr lang="tr-TR" sz="1800" b="0" i="0" u="none" strike="noStrike" baseline="0" dirty="0">
              <a:latin typeface="NewBaskerville-Roman"/>
            </a:endParaRPr>
          </a:p>
          <a:p>
            <a:pPr lvl="1"/>
            <a:r>
              <a:rPr lang="en-US" sz="1400" b="0" i="0" u="none" strike="noStrike" baseline="0" dirty="0">
                <a:latin typeface="NewBaskerville-Roman"/>
              </a:rPr>
              <a:t>needs</a:t>
            </a:r>
            <a:r>
              <a:rPr lang="tr-TR" sz="1400" b="0" i="0" u="none" strike="noStrike" baseline="0" dirty="0">
                <a:latin typeface="NewBaskerville-Roman"/>
              </a:rPr>
              <a:t> </a:t>
            </a:r>
            <a:r>
              <a:rPr lang="en-US" sz="1400" b="0" i="0" u="none" strike="noStrike" baseline="0" dirty="0">
                <a:latin typeface="NewBaskerville-Roman"/>
              </a:rPr>
              <a:t>command line arguments, </a:t>
            </a:r>
            <a:endParaRPr lang="tr-TR" sz="1400" b="0" i="0" u="none" strike="noStrike" baseline="0" dirty="0">
              <a:latin typeface="NewBaskerville-Roman"/>
            </a:endParaRPr>
          </a:p>
          <a:p>
            <a:pPr lvl="1"/>
            <a:r>
              <a:rPr lang="en-US" sz="1400" b="0" i="0" u="none" strike="noStrike" baseline="0" dirty="0">
                <a:latin typeface="NewBaskerville-Roman"/>
              </a:rPr>
              <a:t>add them to the list after the script’s filename</a:t>
            </a:r>
            <a:endParaRPr lang="tr-TR" sz="1400" b="0" i="0" u="none" strike="noStrike" baseline="0" dirty="0">
              <a:latin typeface="NewBaskerville-Roman"/>
            </a:endParaRP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Unlike importing the Python program as a module</a:t>
            </a:r>
            <a:endParaRPr lang="tr-TR" sz="1800" b="0" i="0" u="none" strike="noStrike" baseline="0" dirty="0">
              <a:latin typeface="NewBaskerville-Roman"/>
            </a:endParaRPr>
          </a:p>
          <a:p>
            <a:pPr lvl="1"/>
            <a:r>
              <a:rPr lang="en-US" sz="1400" b="0" i="0" u="none" strike="noStrike" baseline="0" dirty="0">
                <a:latin typeface="NewBaskerville-Roman"/>
              </a:rPr>
              <a:t>when your Python</a:t>
            </a:r>
            <a:r>
              <a:rPr lang="tr-TR" sz="1400" b="0" i="0" u="none" strike="noStrike" baseline="0" dirty="0">
                <a:latin typeface="NewBaskerville-Roman"/>
              </a:rPr>
              <a:t> </a:t>
            </a:r>
            <a:r>
              <a:rPr lang="en-US" sz="1400" b="0" i="0" u="none" strike="noStrike" baseline="0" dirty="0">
                <a:latin typeface="NewBaskerville-Roman"/>
              </a:rPr>
              <a:t>program launches another Python program,</a:t>
            </a:r>
            <a:endParaRPr lang="tr-TR" sz="1400" b="0" i="0" u="none" strike="noStrike" baseline="0" dirty="0">
              <a:latin typeface="NewBaskerville-Roman"/>
            </a:endParaRPr>
          </a:p>
          <a:p>
            <a:pPr lvl="1"/>
            <a:r>
              <a:rPr lang="en-US" sz="1400" b="0" i="0" u="none" strike="noStrike" baseline="0" dirty="0">
                <a:latin typeface="NewBaskerville-Roman"/>
              </a:rPr>
              <a:t>the two are run in separate</a:t>
            </a:r>
            <a:r>
              <a:rPr lang="tr-TR" sz="1400" b="0" i="0" u="none" strike="noStrike" baseline="0" dirty="0">
                <a:latin typeface="NewBaskerville-Roman"/>
              </a:rPr>
              <a:t> </a:t>
            </a:r>
            <a:r>
              <a:rPr lang="en-US" sz="1400" b="0" i="0" u="none" strike="noStrike" baseline="0" dirty="0">
                <a:latin typeface="NewBaskerville-Roman"/>
              </a:rPr>
              <a:t>processes</a:t>
            </a:r>
            <a:endParaRPr lang="tr-TR" sz="1400" b="0" i="0" u="none" strike="noStrike" baseline="0" dirty="0">
              <a:latin typeface="NewBaskerville-Roman"/>
            </a:endParaRPr>
          </a:p>
          <a:p>
            <a:pPr lvl="1"/>
            <a:r>
              <a:rPr lang="en-US" sz="1400" b="0" i="0" u="none" strike="noStrike" baseline="0" dirty="0">
                <a:latin typeface="NewBaskerville-Roman"/>
              </a:rPr>
              <a:t>and will not be able to share each other’s variables.</a:t>
            </a:r>
            <a:endParaRPr lang="tr-TR" sz="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BEED41-F45C-42C1-8FDE-0E78C45B7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0288" y="1646521"/>
            <a:ext cx="5173404" cy="12003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#execute a python application file from source code</a:t>
            </a:r>
            <a:br>
              <a:rPr kumimoji="0" lang="en-US" altLang="en-US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openPyApp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hello = subprocess.Popen([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'python.exe'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'hello.py'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])</a:t>
            </a: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JetBrains Mono"/>
              </a:rPr>
              <a:t>print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(hello.pid)</a:t>
            </a:r>
            <a:endParaRPr kumimoji="0" lang="en-US" altLang="en-US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6963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236C-650A-4346-A15B-EFCE58AA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Opening Files with Default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D864-D4B7-4B59-AA76-A335D3447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791" y="1774000"/>
            <a:ext cx="10951535" cy="4839870"/>
          </a:xfrm>
        </p:spPr>
        <p:txBody>
          <a:bodyPr>
            <a:normAutofit/>
          </a:bodyPr>
          <a:lstStyle/>
          <a:p>
            <a:pPr algn="l"/>
            <a:r>
              <a:rPr lang="en-US" sz="1800" b="0" i="0" u="none" strike="noStrike" baseline="0" dirty="0">
                <a:latin typeface="NewBaskerville-Roman"/>
              </a:rPr>
              <a:t>Double-clicking a .txt file on your computer will automatically launch the</a:t>
            </a:r>
            <a:r>
              <a:rPr lang="tr-TR" sz="1800" b="0" i="0" u="none" strike="noStrike" baseline="0" dirty="0">
                <a:latin typeface="NewBaskerville-Roman"/>
              </a:rPr>
              <a:t> </a:t>
            </a:r>
            <a:r>
              <a:rPr lang="en-US" sz="1800" b="0" i="0" u="none" strike="noStrike" baseline="0" dirty="0">
                <a:latin typeface="NewBaskerville-Roman"/>
              </a:rPr>
              <a:t>application associated with the .txt file extension. </a:t>
            </a:r>
            <a:endParaRPr lang="tr-TR" sz="1800" b="0" i="0" u="none" strike="noStrike" baseline="0" dirty="0">
              <a:latin typeface="NewBaskerville-Roman"/>
            </a:endParaRP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Your computer will have</a:t>
            </a:r>
            <a:r>
              <a:rPr lang="tr-TR" sz="1800" b="0" i="0" u="none" strike="noStrike" baseline="0" dirty="0">
                <a:latin typeface="NewBaskerville-Roman"/>
              </a:rPr>
              <a:t> </a:t>
            </a:r>
            <a:r>
              <a:rPr lang="en-US" sz="1800" b="0" i="0" u="none" strike="noStrike" baseline="0" dirty="0">
                <a:latin typeface="NewBaskerville-Roman"/>
              </a:rPr>
              <a:t>several of these file extension associations set up already. </a:t>
            </a:r>
            <a:endParaRPr lang="tr-TR" sz="1800" b="0" i="0" u="none" strike="noStrike" baseline="0" dirty="0">
              <a:latin typeface="NewBaskerville-Roman"/>
            </a:endParaRP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Python can also</a:t>
            </a:r>
            <a:r>
              <a:rPr lang="tr-TR" sz="1800" b="0" i="0" u="none" strike="noStrike" baseline="0" dirty="0">
                <a:latin typeface="NewBaskerville-Roman"/>
              </a:rPr>
              <a:t> </a:t>
            </a:r>
            <a:r>
              <a:rPr lang="en-US" sz="1800" b="0" i="0" u="none" strike="noStrike" baseline="0" dirty="0">
                <a:latin typeface="NewBaskerville-Roman"/>
              </a:rPr>
              <a:t>open files this way with </a:t>
            </a:r>
            <a:r>
              <a:rPr lang="en-US" sz="1800" b="0" i="0" u="none" strike="noStrike" baseline="0" dirty="0" err="1">
                <a:latin typeface="NewBaskerville-Roman"/>
              </a:rPr>
              <a:t>Popen</a:t>
            </a:r>
            <a:r>
              <a:rPr lang="en-US" sz="1800" b="0" i="0" u="none" strike="noStrike" baseline="0" dirty="0">
                <a:latin typeface="NewBaskerville-Roman"/>
              </a:rPr>
              <a:t>().</a:t>
            </a: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Each operating system has a program that performs the equivalent of</a:t>
            </a:r>
            <a:r>
              <a:rPr lang="tr-TR" sz="1800" b="0" i="0" u="none" strike="noStrike" baseline="0" dirty="0">
                <a:latin typeface="NewBaskerville-Roman"/>
              </a:rPr>
              <a:t> </a:t>
            </a:r>
            <a:r>
              <a:rPr lang="en-US" sz="1800" b="0" i="0" u="none" strike="noStrike" baseline="0" dirty="0">
                <a:latin typeface="NewBaskerville-Roman"/>
              </a:rPr>
              <a:t>double-clicking a document file to open it. </a:t>
            </a:r>
            <a:endParaRPr lang="tr-TR" sz="1800" b="0" i="0" u="none" strike="noStrike" baseline="0" dirty="0">
              <a:latin typeface="NewBaskerville-Roman"/>
            </a:endParaRP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On Windows, this is the start</a:t>
            </a:r>
            <a:r>
              <a:rPr lang="tr-TR" sz="1800" b="0" i="0" u="none" strike="noStrike" baseline="0" dirty="0">
                <a:latin typeface="NewBaskerville-Roman"/>
              </a:rPr>
              <a:t> </a:t>
            </a:r>
            <a:r>
              <a:rPr lang="en-US" sz="1800" b="0" i="0" u="none" strike="noStrike" baseline="0" dirty="0">
                <a:latin typeface="NewBaskerville-Roman"/>
              </a:rPr>
              <a:t>program. </a:t>
            </a:r>
            <a:endParaRPr lang="tr-TR" sz="1800" b="0" i="0" u="none" strike="noStrike" baseline="0" dirty="0">
              <a:latin typeface="NewBaskerville-Roman"/>
            </a:endParaRP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On OS X, this is the open program.</a:t>
            </a:r>
            <a:endParaRPr lang="tr-TR" sz="1800" b="0" i="0" u="none" strike="noStrike" baseline="0" dirty="0">
              <a:latin typeface="NewBaskerville-Roman"/>
            </a:endParaRPr>
          </a:p>
          <a:p>
            <a:pPr algn="l"/>
            <a:r>
              <a:rPr lang="en-US" sz="1800" b="0" i="0" u="none" strike="noStrike" baseline="0" dirty="0">
                <a:latin typeface="NewBaskerville-Roman"/>
              </a:rPr>
              <a:t>On Ubuntu Linux, this is the</a:t>
            </a:r>
            <a:r>
              <a:rPr lang="tr-TR" sz="1800" b="0" i="0" u="none" strike="noStrike" baseline="0">
                <a:latin typeface="NewBaskerville-Roman"/>
              </a:rPr>
              <a:t> </a:t>
            </a:r>
            <a:r>
              <a:rPr lang="en-US" sz="1800" b="0" i="0" u="none" strike="noStrike" baseline="0">
                <a:latin typeface="NewBaskerville-Roman"/>
              </a:rPr>
              <a:t>see </a:t>
            </a:r>
            <a:r>
              <a:rPr lang="en-US" sz="1800" b="0" i="0" u="none" strike="noStrike" baseline="0" dirty="0">
                <a:latin typeface="NewBaskerville-Roman"/>
              </a:rPr>
              <a:t>program.</a:t>
            </a:r>
            <a:endParaRPr lang="tr-TR" sz="800" dirty="0"/>
          </a:p>
        </p:txBody>
      </p:sp>
    </p:spTree>
    <p:extLst>
      <p:ext uri="{BB962C8B-B14F-4D97-AF65-F5344CB8AC3E}">
        <p14:creationId xmlns:p14="http://schemas.microsoft.com/office/powerpoint/2010/main" val="225831080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512D-0624-4C29-85CC-2F18FDD92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runExternalApp</a:t>
            </a:r>
            <a:r>
              <a:rPr lang="en-US" dirty="0"/>
              <a:t>(</a:t>
            </a:r>
            <a:r>
              <a:rPr lang="tr-TR" dirty="0"/>
              <a:t>)</a:t>
            </a: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1ECA2CD-D37E-44F5-833B-AB1390880A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3696" y="1897667"/>
            <a:ext cx="10628294" cy="2677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#Run external applications as external processes</a:t>
            </a:r>
            <a:b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#uses import subprocess to run external applications &amp; platform to get the OS name</a:t>
            </a:r>
            <a:b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runExternalApp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platform.system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==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"Windows"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#for windows</a:t>
            </a:r>
            <a:b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subprocess.Popen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'C: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\\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Windows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\\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System32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\\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calc.exe'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platform.system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==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"Ubuntu"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#for Ubuntu Linux</a:t>
            </a:r>
            <a:b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subprocess.Popen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usr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/bin/gnome-calculator'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420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3739</TotalTime>
  <Words>7400</Words>
  <Application>Microsoft Office PowerPoint</Application>
  <PresentationFormat>Widescreen</PresentationFormat>
  <Paragraphs>498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6" baseType="lpstr">
      <vt:lpstr>Arial</vt:lpstr>
      <vt:lpstr>Calibri</vt:lpstr>
      <vt:lpstr>Calibri Light</vt:lpstr>
      <vt:lpstr>Futura-Bold</vt:lpstr>
      <vt:lpstr>Futura-BookOblique</vt:lpstr>
      <vt:lpstr>Futura-CondensedBoldOblique</vt:lpstr>
      <vt:lpstr>JetBrains Mono</vt:lpstr>
      <vt:lpstr>NewBaskerville-Italic</vt:lpstr>
      <vt:lpstr>NewBaskerville-Roman</vt:lpstr>
      <vt:lpstr>NewBaskerville-Roman-SC750</vt:lpstr>
      <vt:lpstr>TheSansMonoCondensed-Bold</vt:lpstr>
      <vt:lpstr>TheSansMonoCondensed-Plain</vt:lpstr>
      <vt:lpstr>Wingdings2</vt:lpstr>
      <vt:lpstr>Office Theme</vt:lpstr>
      <vt:lpstr>Chapter-15 Keeping Time, Scheduling Tasks, &amp; Launching Programs</vt:lpstr>
      <vt:lpstr>The time Module</vt:lpstr>
      <vt:lpstr>The time.time() Function</vt:lpstr>
      <vt:lpstr>The time.time() Function</vt:lpstr>
      <vt:lpstr>The time.sleep() Function</vt:lpstr>
      <vt:lpstr>PowerPoint Presentation</vt:lpstr>
      <vt:lpstr>Rounding Numbers</vt:lpstr>
      <vt:lpstr>Rounding Numbers</vt:lpstr>
      <vt:lpstr>Using round()</vt:lpstr>
      <vt:lpstr>Project: Super Stopwatch</vt:lpstr>
      <vt:lpstr>Project: stopwatch.py</vt:lpstr>
      <vt:lpstr>stopwatch.py: Step 1: Set Up the Program to Track Times</vt:lpstr>
      <vt:lpstr>stopwatch.py: Step 2: Track and Print Lap Times</vt:lpstr>
      <vt:lpstr>Write Similar Programs</vt:lpstr>
      <vt:lpstr>The datetime Module</vt:lpstr>
      <vt:lpstr>Using datetime() values</vt:lpstr>
      <vt:lpstr>Unix epoch timestamp</vt:lpstr>
      <vt:lpstr>displayUnixEpocTime()</vt:lpstr>
      <vt:lpstr>Comparing datetime objects</vt:lpstr>
      <vt:lpstr>compareSomeSpecialDates()</vt:lpstr>
      <vt:lpstr>The timedelta Data Type</vt:lpstr>
      <vt:lpstr>compareSomeSpecialDates()</vt:lpstr>
      <vt:lpstr>The timedelta Data Type</vt:lpstr>
      <vt:lpstr>compareSomeSpecialDates()</vt:lpstr>
      <vt:lpstr>Finding Days Passing from a Date</vt:lpstr>
      <vt:lpstr>findDaysAfterNow()</vt:lpstr>
      <vt:lpstr>Operators</vt:lpstr>
      <vt:lpstr>findYearsAfter()</vt:lpstr>
      <vt:lpstr>Pausing Until a Specific Date</vt:lpstr>
      <vt:lpstr>findYearsAfter()</vt:lpstr>
      <vt:lpstr>Converting datetime Objects into Strings</vt:lpstr>
      <vt:lpstr>Table 15-1: strftime() Directives</vt:lpstr>
      <vt:lpstr>Pausing Until a Specific Date</vt:lpstr>
      <vt:lpstr>printDateTimeInFormats()</vt:lpstr>
      <vt:lpstr>Converting Strings into datetime Objects</vt:lpstr>
      <vt:lpstr>printDateTimeInFormats()</vt:lpstr>
      <vt:lpstr>Multithreading</vt:lpstr>
      <vt:lpstr>Converting Strings into datetime Objects</vt:lpstr>
      <vt:lpstr>waitForFun()</vt:lpstr>
      <vt:lpstr>Multithreaded Program Flow</vt:lpstr>
      <vt:lpstr>Example: 2 Concurrent Threads</vt:lpstr>
      <vt:lpstr>Passing Arguments to the Thread’s Target Function</vt:lpstr>
      <vt:lpstr>Example: Passing Arguments to Thread</vt:lpstr>
      <vt:lpstr>Example: sleepWakeup using Arguments</vt:lpstr>
      <vt:lpstr>Concurrency Issues</vt:lpstr>
      <vt:lpstr>Concurrency Issues</vt:lpstr>
      <vt:lpstr>Example: Passing Arguments to Thread</vt:lpstr>
      <vt:lpstr>Launching Other Programs from Python</vt:lpstr>
      <vt:lpstr>Converting Strings into datetime Objects</vt:lpstr>
      <vt:lpstr>Converting Strings into datetime Objects</vt:lpstr>
      <vt:lpstr>Run External Application</vt:lpstr>
      <vt:lpstr>runExternalApp()</vt:lpstr>
      <vt:lpstr>Run External Application</vt:lpstr>
      <vt:lpstr>Run External Application</vt:lpstr>
      <vt:lpstr>runExternalApp()</vt:lpstr>
      <vt:lpstr>Passing Command Line Arguments to Popen()</vt:lpstr>
      <vt:lpstr>Passing Command Line Arguments to Popen()</vt:lpstr>
      <vt:lpstr>Task Scheduler, launchd, and cron</vt:lpstr>
      <vt:lpstr>Opening Websites with Python</vt:lpstr>
      <vt:lpstr>Running Other Python Scripts</vt:lpstr>
      <vt:lpstr>Opening Files with Default Applications</vt:lpstr>
      <vt:lpstr>runExternalApp()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YUSUF ALTUNEL</dc:creator>
  <cp:lastModifiedBy>YUSUF ALTUNEL</cp:lastModifiedBy>
  <cp:revision>94</cp:revision>
  <dcterms:created xsi:type="dcterms:W3CDTF">2022-12-19T07:54:56Z</dcterms:created>
  <dcterms:modified xsi:type="dcterms:W3CDTF">2022-12-22T14:40:27Z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6f6488-6f7b-4340-b880-828136ff7811_Enabled">
    <vt:lpwstr>true</vt:lpwstr>
  </property>
  <property fmtid="{D5CDD505-2E9C-101B-9397-08002B2CF9AE}" pid="3" name="MSIP_Label_c66f6488-6f7b-4340-b880-828136ff7811_SetDate">
    <vt:lpwstr>2022-12-19T07:55:11Z</vt:lpwstr>
  </property>
  <property fmtid="{D5CDD505-2E9C-101B-9397-08002B2CF9AE}" pid="4" name="MSIP_Label_c66f6488-6f7b-4340-b880-828136ff7811_Method">
    <vt:lpwstr>Privileged</vt:lpwstr>
  </property>
  <property fmtid="{D5CDD505-2E9C-101B-9397-08002B2CF9AE}" pid="5" name="MSIP_Label_c66f6488-6f7b-4340-b880-828136ff7811_Name">
    <vt:lpwstr>c66f6488-6f7b-4340-b880-828136ff7811</vt:lpwstr>
  </property>
  <property fmtid="{D5CDD505-2E9C-101B-9397-08002B2CF9AE}" pid="6" name="MSIP_Label_c66f6488-6f7b-4340-b880-828136ff7811_SiteId">
    <vt:lpwstr>832c1bc9-1e43-4f93-a086-708d36b0c95d</vt:lpwstr>
  </property>
  <property fmtid="{D5CDD505-2E9C-101B-9397-08002B2CF9AE}" pid="7" name="MSIP_Label_c66f6488-6f7b-4340-b880-828136ff7811_ActionId">
    <vt:lpwstr>9a9d3374-a9dc-4d93-a920-00cc018f2b46</vt:lpwstr>
  </property>
  <property fmtid="{D5CDD505-2E9C-101B-9397-08002B2CF9AE}" pid="8" name="MSIP_Label_c66f6488-6f7b-4340-b880-828136ff7811_ContentBits">
    <vt:lpwstr>0</vt:lpwstr>
  </property>
</Properties>
</file>