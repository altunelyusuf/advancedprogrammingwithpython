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requests</c:v>
                </c:pt>
              </c:strCache>
            </c:strRef>
          </c:tx>
          <c:spPr>
            <a:solidFill>
              <a:srgbClr val="0E7C86"/>
            </a:solidFill>
          </c:spPr>
          <c:cat>
            <c:strRef>
              <c:f>Sheet1!$A$2:$A$3</c:f>
              <c:strCache>
                <c:ptCount val="2"/>
                <c:pt idx="0">
                  <c:v>cell by cell</c:v>
                </c:pt>
                <c:pt idx="1">
                  <c:v>updateColumn</c:v>
                </c:pt>
              </c:strCache>
            </c:strRef>
          </c:cat>
          <c:val>
            <c:numRef>
              <c:f>Sheet1!$B$2:$B$3</c:f>
              <c:numCache>
                <c:formatCode>General</c:formatCode>
                <c:ptCount val="2"/>
                <c:pt idx="0">
                  <c:v>8</c:v>
                </c:pt>
                <c:pt idx="1">
                  <c:v>1</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10.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2.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seconds waited</c:v>
                </c:pt>
              </c:strCache>
            </c:strRef>
          </c:tx>
          <c:spPr>
            <a:solidFill>
              <a:srgbClr val="0E7C86"/>
            </a:solidFill>
          </c:spPr>
          <c:cat>
            <c:strRef>
              <c:f>Sheet1!$A$2:$A$9</c:f>
              <c:strCache>
                <c:ptCount val="8"/>
                <c:pt idx="0">
                  <c:v>after try 1</c:v>
                </c:pt>
                <c:pt idx="1">
                  <c:v>after try 2</c:v>
                </c:pt>
                <c:pt idx="2">
                  <c:v>after try 3</c:v>
                </c:pt>
                <c:pt idx="3">
                  <c:v>after try 4</c:v>
                </c:pt>
                <c:pt idx="4">
                  <c:v>after try 5</c:v>
                </c:pt>
                <c:pt idx="5">
                  <c:v>after try 6</c:v>
                </c:pt>
                <c:pt idx="6">
                  <c:v>after try 7</c:v>
                </c:pt>
                <c:pt idx="7">
                  <c:v>after try 8</c:v>
                </c:pt>
              </c:strCache>
            </c:strRef>
          </c:cat>
          <c:val>
            <c:numRef>
              <c:f>Sheet1!$B$2:$B$9</c:f>
              <c:numCache>
                <c:formatCode>General</c:formatCode>
                <c:ptCount val="8"/>
                <c:pt idx="0">
                  <c:v>10</c:v>
                </c:pt>
                <c:pt idx="1">
                  <c:v>15</c:v>
                </c:pt>
                <c:pt idx="2">
                  <c:v>20</c:v>
                </c:pt>
                <c:pt idx="3">
                  <c:v>25</c:v>
                </c:pt>
                <c:pt idx="4">
                  <c:v>30</c:v>
                </c:pt>
                <c:pt idx="5">
                  <c:v>35</c:v>
                </c:pt>
                <c:pt idx="6">
                  <c:v>40</c:v>
                </c:pt>
                <c:pt idx="7">
                  <c:v>45</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50.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balance</c:v>
                </c:pt>
              </c:strCache>
            </c:strRef>
          </c:tx>
          <c:spPr>
            <a:solidFill>
              <a:srgbClr val="0E7C86"/>
            </a:solidFill>
          </c:spPr>
          <c:cat>
            <c:strRef>
              <c:f>Sheet1!$A$2:$A$4</c:f>
              <c:strCache>
                <c:ptCount val="3"/>
                <c:pt idx="0">
                  <c:v>Alice</c:v>
                </c:pt>
                <c:pt idx="1">
                  <c:v>Bob</c:v>
                </c:pt>
                <c:pt idx="2">
                  <c:v>Carol</c:v>
                </c:pt>
              </c:strCache>
            </c:strRef>
          </c:cat>
          <c:val>
            <c:numRef>
              <c:f>Sheet1!$B$2:$B$4</c:f>
              <c:numCache>
                <c:formatCode>General</c:formatCode>
                <c:ptCount val="3"/>
                <c:pt idx="0">
                  <c:v>800</c:v>
                </c:pt>
                <c:pt idx="1">
                  <c:v>550</c:v>
                </c:pt>
                <c:pt idx="2">
                  <c:v>150</c:v>
                </c:pt>
              </c:numCache>
            </c:numRef>
          </c:val>
        </c:ser>
        <c:dLbls>
          <c:numFmt formatCode="#,##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1000.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250.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requests</c:v>
                </c:pt>
              </c:strCache>
            </c:strRef>
          </c:tx>
          <c:spPr>
            <a:solidFill>
              <a:srgbClr val="0E7C86"/>
            </a:solidFill>
          </c:spPr>
          <c:cat>
            <c:strRef>
              <c:f>Sheet1!$A$2:$A$4</c:f>
              <c:strCache>
                <c:ptCount val="3"/>
                <c:pt idx="0">
                  <c:v>GET</c:v>
                </c:pt>
                <c:pt idx="1">
                  <c:v>POST</c:v>
                </c:pt>
                <c:pt idx="2">
                  <c:v>PUT</c:v>
                </c:pt>
              </c:strCache>
            </c:strRef>
          </c:cat>
          <c:val>
            <c:numRef>
              <c:f>Sheet1!$B$2:$B$4</c:f>
              <c:numCache>
                <c:formatCode>General</c:formatCode>
                <c:ptCount val="3"/>
                <c:pt idx="0">
                  <c:v>2</c:v>
                </c:pt>
                <c:pt idx="1">
                  <c:v>1</c:v>
                </c:pt>
                <c:pt idx="2">
                  <c:v>3</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4.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1.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examples</c:v>
                </c:pt>
              </c:strCache>
            </c:strRef>
          </c:tx>
          <c:spPr>
            <a:solidFill>
              <a:srgbClr val="0E7C86"/>
            </a:solidFill>
          </c:spPr>
          <c:cat>
            <c:strRef>
              <c:f>Sheet1!$A$2:$A$6</c:f>
              <c:strCache>
                <c:ptCount val="5"/>
                <c:pt idx="0">
                  <c:v>Part 1</c:v>
                </c:pt>
                <c:pt idx="1">
                  <c:v>Part 2</c:v>
                </c:pt>
                <c:pt idx="2">
                  <c:v>Part 3</c:v>
                </c:pt>
                <c:pt idx="3">
                  <c:v>Part 4</c:v>
                </c:pt>
                <c:pt idx="4">
                  <c:v>Part 5</c:v>
                </c:pt>
              </c:strCache>
            </c:strRef>
          </c:cat>
          <c:val>
            <c:numRef>
              <c:f>Sheet1!$B$2:$B$6</c:f>
              <c:numCache>
                <c:formatCode>General</c:formatCode>
                <c:ptCount val="5"/>
                <c:pt idx="0">
                  <c:v>6</c:v>
                </c:pt>
                <c:pt idx="1">
                  <c:v>5</c:v>
                </c:pt>
                <c:pt idx="2">
                  <c:v>7</c:v>
                </c:pt>
                <c:pt idx="3">
                  <c:v>2</c:v>
                </c:pt>
                <c:pt idx="4">
                  <c:v>5</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10.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2.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chapter reads and writes Google Sheets from Python with EZSheets. Google was never reached: every result comes from the real library talking to a stand-in for Google, and each slide says so. The same examples stand in the chapter-code tab of the page.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access and sign-in, spreadsheet objects, sheet objects, forms and quotas, and Project 11. Each range is a run of slides. The code slides have their place in the chapter-code tab of the page, in the same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to carry through the chapter. Which object of EZSheets stands for which part of a Google account, and which request does each call send? And which outputs and programs of the book differ today?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Before any request, the program must be let in: a cloud project, a credentials file, a sign-in, and token files. We look at the pieces that run without an account: the address, the challenge, and the token as a pickle.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library card picture carries the setup. Each step in the Google console has a counterpart at the bank counter. Ask students which step they would do last.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token is a key card. The refresh token gets new key cards. A scope lists the doors. Pickle is the parcel that the token file is made of; we open one on a later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lines run without any account. The release is 2026.4.28. IS_INITIALIZED is False until a sign-in has worked. The two scopes are the whole spreadsheets scope and the whole drive scope.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made-up token with the fields of a real one. The access token is short-lived; the refresh token asks for a new one. EZSheets pickles this object into token-sheets.pickle.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OAuth began in November 2006 when Blaine Cook, working on Twitter's OpenID, met Chris Messina and others. The photograph is Blaine Cook at a later talk. Your token files exist so that a script never learns your password.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network is used. The flow builds the address the browser would open: a code is asked for, offline access, a return to localhost 8080, and a hashed challenge. Compare with the sign-in described by RFC 8252.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EZSheets is thin. Google's client library builds each request. Two standard modules, http.client and shlex, and sys appear in the chapter's projects.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verifier stays in the program. Only its SHA-256 hash, the challenge, is sent. This is the example of RFC 7636. Someone who steals the address cannot finish the sign-in without the verifier.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pickle can run code when it is loaded. This one only prints a line. EZSheets loads token-sheets.pickle at import, so a token file from someone else is a program, not data.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library compares the expiry with the clock. An expired token is renewed with the refresh token. In Testing status the refresh token dies after seven days; this was played against a local server, not Google.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Spreadsheet objects: create, list, open by id or address, read attributes, upload and download, and delete. Each call is a request to Google; here a stand-in answers.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Spreadsheet object is a label for a binder in the cloud. Every look inside is a request. Only the title can be rewritten; id, url and sheetTitles are read-only.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stand-in plays Google. Spreadsheet() creates, listSpreadsheets lists. The table counts the requests the library sent; a real quota counts the same requests.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spreadsheet, opened by id and by address. getIdFromUrl cuts the id by position, so an address that ends right after the id loses its last character.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can be set and is sent at once. The other three attributes are properties without a setter, so setting them raises an AttributeError.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Sheets began as XL2Web by 2Web Technologies. Google bought it in 2006 and opened a limited test on 6 June 2006. The photograph is Jonathan Rochelle. A browser spreadsheet is a service you call, not a file.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Downloading asks Google to export; the file name is made safe. Delete moves to the Trash first. Ask what a user expects from the word delete.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Upload turns a file into a spreadsheet. Each downloadAs method asks for an export. The default file name replaces every character except letters, digits, underscore and dot. The book prints a different name.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delete() only moves to the Trash; listSpreadsheets does not leave it out. delete(permanent=True) removes it for good. Check your own Trash before you trust a list.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Sheet objects: cells in A1 notation, rows and columns, batching, creating, moving, copying and clearing sheets. Count the requests: they are what the quota counts.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 notation: letter first, then the row. Both numbering systems start at 1. Column letters count like digits without a zero: 27 is AA.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cell by name or by column and row, both from 1. Reading from a loaded sheet costs no request; a write is one PUT, typed as if by a person. The book prints the text 30; the current library shows the number until refresh.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Pure functions, no account needed. 27 is AA, 999 is ALK, ZZZ is 18278. The book prints the same values.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and columns are lists of text. A row or column is read from the local copy and written with one request.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and columns are lists of text. updateRow and updateColumn replace a whole line with one request. All values are strings.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Cell by cell, eight requests; one column, one request. Google limits requests per minute, so batching is the cure for slow programs.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turned down Sheets API v3 on 2 August 2021. EZSheets speaks v4. The picture is a screenshot of the Google Sheets add-ons page, not of the API; say so. A library is only as stable as the service behind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Sheet() hands nothing back; createSheet hands the sheet. The last sheet of a spreadsheet cannot be deleted. Copy puts a sheet into another spreadsheet.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Spreadsheet.Sheet() returns None; createSheet returns the Sheet. The book's listings print Sheet objects with the old behaviour. Index moves a sheet; delete removes one.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copyTo puts a copy in another spreadsheet and names it Copy of. clear() empties every cell but keeps the size. Refresh to see what Google now holds.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surprises of the library. Two sheets are equal when their ids are equal, and the first sheet of every spreadsheet has id 0. The in operator searches coordinates. Empty cells are empty strings.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Google Forms, whose answers are rows; and the quotas. The book's numbers differ from Google's page, and the library retries a limited way.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form saves its answers as rows. The quota is a turnstile; IGNORE_QUOTA switches off the library's own throttle only. Practice programs follow the finger exercises.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form saves answers as rows. Column 3 holds the addresses; the heading is cut off. A set removes the address that answered twice. The real response sheet is made by Google Forms.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Forms was introduced in 2008; the pages we could open give the year, not the day. The picture is a web page with the Forms icon and a link to a form. A form is a front door that writes rows for your script.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answers 429 and the library waits 10, 15, up to 45 seconds, nine tries and 220 seconds in all, then raises HttpError. IGNORE_QUOTA does not change this retry. Google advises exponential backoff.</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Project 11, a spreadsheet that pretends to be a blockchain: audit it, add a transaction, see a lost update, and check the totals of the practice sheet.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11 is a ledger: easy to add up, easy to forge. Checking a sheet against a rule, as the Bean Count program does, is the same skill.</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of Project 11. PRE-MINE invents money; every other row moves it. If the ledger is honest, the balances add up to what was created. The real sheet has 1,000 rows; this one has six.</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real sheet is a grid of 1,000 rows, so getRows also returns the empty rows. int of an empty string raises ValueError. A guard for an empty first cell fixes the audit.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of Project 11. A change of size costs three requests, and each cell one more: six requests for one transaction. Quote a name with a space on the command line, or sys.argv has four items.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programs each count the next row from their own copy, so both write to row 3, and the second overwrites the first. No error is raised. A guard or a lock is needed.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31 October 2008 Satoshi Nakamoto announced the paper bitcoin.pdf to a mailing list. No photograph of the author exists, so the picture is the first page of the paper. A ledger of rows is easy to audit and easy to forge.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practice program: check each total against quantity times price. The sheet's row numbers count the heading. Two totals are wrong in this stand-in.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object stands for which part of the account, and the request each call sends. Our first question answered. Spreadsheet is the binder, Sheet the page, a cell a seat, the token file the key card.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differs today, from the chapter research: the return of Sheet(), the number after a write, the download name, Google's quota page, the seven-day limit of Testing, the console pages, the cell limit, and pickles.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to keep. The chart counts the code examples in each part of this deck.</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drills and a program. Predict first, then run what you can on the page. Ask students to explain each answer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book chapter and the EZSheets documentation, then Google's quota page and the standards behind the sign-in. Choose one link and read it before the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hyperlink" Target="https://oauth.net/about/introducti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hyperlink" Target="https://en.wikipedia.org/wiki/Google_Sheet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chart" Target="../charts/char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png"/><Relationship Id="rId4" Type="http://schemas.openxmlformats.org/officeDocument/2006/relationships/hyperlink" Target="https://developers.google.com/workspace/sheets/api/guides/migration"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4.png"/><Relationship Id="rId4" Type="http://schemas.openxmlformats.org/officeDocument/2006/relationships/hyperlink" Target="https://en.wikipedia.org/wiki/Google_Forms"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chart" Target="../charts/char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chart" Target="../charts/char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chart" Target="../charts/char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png"/><Relationship Id="rId4" Type="http://schemas.openxmlformats.org/officeDocument/2006/relationships/hyperlink" Target="https://www.metzdowd.com/pipermail/cryptography/2008-October/014810.html"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chart" Target="../charts/char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hyperlink" Target="https://automatetheboringstuff.com/3e/chapter15.html" TargetMode="External"/><Relationship Id="rId4" Type="http://schemas.openxmlformats.org/officeDocument/2006/relationships/hyperlink" Target="https://ezsheets.readthedocs.io/en/latest/" TargetMode="External"/><Relationship Id="rId5" Type="http://schemas.openxmlformats.org/officeDocument/2006/relationships/hyperlink" Target="https://pypi.org/project/ezsheets/" TargetMode="External"/><Relationship Id="rId6" Type="http://schemas.openxmlformats.org/officeDocument/2006/relationships/hyperlink" Target="https://developers.google.com/workspace/sheets/api/limits" TargetMode="External"/><Relationship Id="rId7" Type="http://schemas.openxmlformats.org/officeDocument/2006/relationships/hyperlink" Target="https://developers.google.com/workspace/sheets/api/guides/values" TargetMode="External"/><Relationship Id="rId8" Type="http://schemas.openxmlformats.org/officeDocument/2006/relationships/hyperlink" Target="https://developers.google.com/workspace/sheets/api/scopes" TargetMode="External"/><Relationship Id="rId9" Type="http://schemas.openxmlformats.org/officeDocument/2006/relationships/hyperlink" Target="https://developers.google.com/workspace/sheets/api/guides/migration" TargetMode="External"/><Relationship Id="rId10" Type="http://schemas.openxmlformats.org/officeDocument/2006/relationships/hyperlink" Target="https://developers.google.com/identity/protocols/oauth2/native-app" TargetMode="External"/><Relationship Id="rId11" Type="http://schemas.openxmlformats.org/officeDocument/2006/relationships/hyperlink" Target="https://www.rfc-editor.org/rfc/rfc7636.txt" TargetMode="External"/><Relationship Id="rId12" Type="http://schemas.openxmlformats.org/officeDocument/2006/relationships/hyperlink" Target="https://docs.python.org/3/library/pickle.html" TargetMode="External"/><Relationship Id="rId13" Type="http://schemas.openxmlformats.org/officeDocument/2006/relationships/hyperlink" Target="https://cheatsheetseries.owasp.org/cheatsheets/Deserialization_Cheat_Sheet.html" TargetMode="External"/><Relationship Id="rId14" Type="http://schemas.openxmlformats.org/officeDocument/2006/relationships/hyperlink" Target="https://docs.gspread.org/en/latest/" TargetMode="External"/><Relationship Id="rId15" Type="http://schemas.openxmlformats.org/officeDocument/2006/relationships/hyperlink" Target="https://oauth.net/about/introduction/" TargetMode="External"/><Relationship Id="rId16" Type="http://schemas.openxmlformats.org/officeDocument/2006/relationships/hyperlink" Target="https://bitcoin.org/bitcoin.pdf"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548640" y="1554480"/>
            <a:ext cx="8046720" cy="822960"/>
          </a:xfrm>
          <a:prstGeom prst="rect">
            <a:avLst/>
          </a:prstGeom>
          <a:noFill/>
        </p:spPr>
        <p:txBody>
          <a:bodyPr wrap="square" lIns="45720" rIns="45720" tIns="27432" bIns="27432" anchor="ctr">
            <a:spAutoFit/>
          </a:bodyPr>
          <a:lstStyle/>
          <a:p>
            <a:r>
              <a:rPr sz="3800" b="1" i="0">
                <a:solidFill>
                  <a:srgbClr val="1F2933"/>
                </a:solidFill>
                <a:latin typeface="Calibri"/>
              </a:rPr>
              <a:t>Google Sheets</a:t>
            </a:r>
          </a:p>
        </p:txBody>
      </p:sp>
      <p:sp>
        <p:nvSpPr>
          <p:cNvPr id="4" name="subtitle"/>
          <p:cNvSpPr txBox="1"/>
          <p:nvPr/>
        </p:nvSpPr>
        <p:spPr>
          <a:xfrm>
            <a:off x="548640" y="2423160"/>
            <a:ext cx="8046720" cy="640080"/>
          </a:xfrm>
          <a:prstGeom prst="rect">
            <a:avLst/>
          </a:prstGeom>
          <a:noFill/>
        </p:spPr>
        <p:txBody>
          <a:bodyPr wrap="square" lIns="45720" rIns="45720" tIns="27432" bIns="27432" anchor="t">
            <a:spAutoFit/>
          </a:bodyPr>
          <a:lstStyle/>
          <a:p>
            <a:r>
              <a:rPr sz="1600" b="0" i="0">
                <a:solidFill>
                  <a:srgbClr val="5B6773"/>
                </a:solidFill>
                <a:latin typeface="Calibri"/>
              </a:rPr>
              <a:t>Chapter 15 of Automate the Boring Stuff with Python, 3rd edition, for an advanced course</a:t>
            </a:r>
          </a:p>
        </p:txBody>
      </p:sp>
      <p:sp>
        <p:nvSpPr>
          <p:cNvPr id="5" name="card"/>
          <p:cNvSpPr/>
          <p:nvPr/>
        </p:nvSpPr>
        <p:spPr>
          <a:xfrm>
            <a:off x="5486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6400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25</a:t>
            </a:r>
          </a:p>
        </p:txBody>
      </p:sp>
      <p:sp>
        <p:nvSpPr>
          <p:cNvPr id="7" name="stat label"/>
          <p:cNvSpPr txBox="1"/>
          <p:nvPr/>
        </p:nvSpPr>
        <p:spPr>
          <a:xfrm>
            <a:off x="6400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code examples that run on the chapter page</a:t>
            </a:r>
          </a:p>
        </p:txBody>
      </p:sp>
      <p:sp>
        <p:nvSpPr>
          <p:cNvPr id="8" name="card"/>
          <p:cNvSpPr/>
          <p:nvPr/>
        </p:nvSpPr>
        <p:spPr>
          <a:xfrm>
            <a:off x="32918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p:cNvSpPr txBox="1"/>
          <p:nvPr/>
        </p:nvSpPr>
        <p:spPr>
          <a:xfrm>
            <a:off x="33832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5</a:t>
            </a:r>
          </a:p>
        </p:txBody>
      </p:sp>
      <p:sp>
        <p:nvSpPr>
          <p:cNvPr id="10" name="stat label"/>
          <p:cNvSpPr txBox="1"/>
          <p:nvPr/>
        </p:nvSpPr>
        <p:spPr>
          <a:xfrm>
            <a:off x="33832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true stories with who, what, when, where, why and how</a:t>
            </a:r>
          </a:p>
        </p:txBody>
      </p:sp>
      <p:sp>
        <p:nvSpPr>
          <p:cNvPr id="11" name="card"/>
          <p:cNvSpPr/>
          <p:nvPr/>
        </p:nvSpPr>
        <p:spPr>
          <a:xfrm>
            <a:off x="60350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p:cNvSpPr txBox="1"/>
          <p:nvPr/>
        </p:nvSpPr>
        <p:spPr>
          <a:xfrm>
            <a:off x="6126479"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64</a:t>
            </a:r>
          </a:p>
        </p:txBody>
      </p:sp>
      <p:sp>
        <p:nvSpPr>
          <p:cNvPr id="13" name="stat label"/>
          <p:cNvSpPr txBox="1"/>
          <p:nvPr/>
        </p:nvSpPr>
        <p:spPr>
          <a:xfrm>
            <a:off x="6126479"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distinct chapter concepts, each with an everyday picture</a:t>
            </a:r>
          </a:p>
        </p:txBody>
      </p:sp>
      <p:sp>
        <p:nvSpPr>
          <p:cNvPr id="14" name="author"/>
          <p:cNvSpPr txBox="1"/>
          <p:nvPr/>
        </p:nvSpPr>
        <p:spPr>
          <a:xfrm>
            <a:off x="548640" y="4434840"/>
            <a:ext cx="7315200" cy="274320"/>
          </a:xfrm>
          <a:prstGeom prst="rect">
            <a:avLst/>
          </a:prstGeom>
          <a:noFill/>
        </p:spPr>
        <p:txBody>
          <a:bodyPr wrap="square" lIns="45720" rIns="45720" tIns="27432" bIns="27432" anchor="t">
            <a:spAutoFit/>
          </a:bodyPr>
          <a:lstStyle/>
          <a:p>
            <a:r>
              <a:rPr sz="1100" b="0" i="0">
                <a:solidFill>
                  <a:srgbClr val="5B6773"/>
                </a:solidFill>
                <a:latin typeface="Calibri"/>
              </a:rPr>
              <a:t>SEN0414 Advanced Programming, Fall 2026. Yusuf Altunel, İstanbul Kültür Üniversitesi</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 / 53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Today's route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Five parts; every range is a run of slides you can jump to</a:t>
            </a:r>
          </a:p>
        </p:txBody>
      </p:sp>
      <p:graphicFrame>
        <p:nvGraphicFramePr>
          <p:cNvPr id="5" name="table"/>
          <p:cNvGraphicFramePr>
            <a:graphicFrameLocks noGrp="1"/>
          </p:cNvGraphicFramePr>
          <p:nvPr/>
        </p:nvGraphicFramePr>
        <p:xfrm>
          <a:off x="457200" y="1097280"/>
          <a:ext cx="8229598" cy="3520440"/>
        </p:xfrm>
        <a:graphic>
          <a:graphicData uri="http://schemas.openxmlformats.org/drawingml/2006/table">
            <a:tbl>
              <a:tblPr firstRow="0" bandRow="0"/>
              <a:tblGrid>
                <a:gridCol w="2683565"/>
                <a:gridCol w="983973"/>
                <a:gridCol w="1162878"/>
                <a:gridCol w="3399182"/>
              </a:tblGrid>
              <a:tr h="502920">
                <a:tc>
                  <a:txBody>
                    <a:bodyPr wrap="square"/>
                    <a:lstStyle/>
                    <a:p>
                      <a:r>
                        <a:rPr sz="130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Code examples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You will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300" b="1" i="0">
                          <a:solidFill>
                            <a:srgbClr val="1F2933"/>
                          </a:solidFill>
                          <a:latin typeface="Calibri"/>
                        </a:rPr>
                        <a:t>Access, sign-in and token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4 - 14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the scopes, a token file, the sign-in address, a pickle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Spreadsheet objects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15 - 23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create, open, attributes, download, delete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00" b="1" i="0">
                          <a:solidFill>
                            <a:srgbClr val="1F2933"/>
                          </a:solidFill>
                          <a:latin typeface="Calibri"/>
                        </a:rPr>
                        <a:t>Sheet objects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24 - 35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cells, rows, batching, sheets, copy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Forms and quotas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36 - 40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form answers and the quota retry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00" b="1" i="0">
                          <a:solidFill>
                            <a:srgbClr val="1F2933"/>
                          </a:solidFill>
                          <a:latin typeface="Calibri"/>
                        </a:rPr>
                        <a:t>Project 11, a fake blockchain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41 - 48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audit, add a transaction, a lost update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Tools, changes, summary, practice, resources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49 - 53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what each object sends, and what differs today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the chapter-code tab of the page: the same 25 examples, in this order.</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 / 53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questions this chapter answers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Carry them through every part; the answers come back at the end</a:t>
            </a:r>
          </a:p>
        </p:txBody>
      </p:sp>
      <p:sp>
        <p:nvSpPr>
          <p:cNvPr id="5" name="card"/>
          <p:cNvSpPr/>
          <p:nvPr/>
        </p:nvSpPr>
        <p:spPr>
          <a:xfrm>
            <a:off x="457200" y="11887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1</a:t>
            </a:r>
          </a:p>
        </p:txBody>
      </p:sp>
      <p:sp>
        <p:nvSpPr>
          <p:cNvPr id="7" name="question"/>
          <p:cNvSpPr txBox="1"/>
          <p:nvPr/>
        </p:nvSpPr>
        <p:spPr>
          <a:xfrm>
            <a:off x="1280160" y="12984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object of EZSheets stands for which part of a Google account, and which request does each call send to Google?</a:t>
            </a:r>
          </a:p>
        </p:txBody>
      </p:sp>
      <p:sp>
        <p:nvSpPr>
          <p:cNvPr id="8" name="answer"/>
          <p:cNvSpPr txBox="1"/>
          <p:nvPr/>
        </p:nvSpPr>
        <p:spPr>
          <a:xfrm>
            <a:off x="1280160" y="20574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49: the objects, and the request each one sends.</a:t>
            </a:r>
          </a:p>
        </p:txBody>
      </p:sp>
      <p:sp>
        <p:nvSpPr>
          <p:cNvPr id="9" name="card"/>
          <p:cNvSpPr/>
          <p:nvPr/>
        </p:nvSpPr>
        <p:spPr>
          <a:xfrm>
            <a:off x="457200" y="27889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9718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2</a:t>
            </a:r>
          </a:p>
        </p:txBody>
      </p:sp>
      <p:sp>
        <p:nvSpPr>
          <p:cNvPr id="11" name="question"/>
          <p:cNvSpPr txBox="1"/>
          <p:nvPr/>
        </p:nvSpPr>
        <p:spPr>
          <a:xfrm>
            <a:off x="1280160" y="28986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printed outputs, programs and numbers of the book differ in current Python, the current library and Google's pages?</a:t>
            </a:r>
          </a:p>
        </p:txBody>
      </p:sp>
      <p:sp>
        <p:nvSpPr>
          <p:cNvPr id="12" name="answer"/>
          <p:cNvSpPr txBox="1"/>
          <p:nvPr/>
        </p:nvSpPr>
        <p:spPr>
          <a:xfrm>
            <a:off x="1280160" y="36576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50: the changes, from the chapter research.</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Every call of EZSheets is a request to Google, and a request is counted.</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 / 53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1: Access, sign-in and token files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Sign in first; the pieces that need no account run here</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Credentials file</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client card that names your program.</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Token file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saved key card, kept as a pickle.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Scope</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list of the permissions the program asks for.</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Refresh token</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Renews a key card without a new sign-in.</a:t>
            </a:r>
          </a:p>
        </p:txBody>
      </p:sp>
      <p:graphicFrame>
        <p:nvGraphicFramePr>
          <p:cNvPr id="13" name="table"/>
          <p:cNvGraphicFramePr>
            <a:graphicFrameLocks noGrp="1"/>
          </p:cNvGraphicFramePr>
          <p:nvPr/>
        </p:nvGraphicFramePr>
        <p:xfrm>
          <a:off x="5303520" y="1417320"/>
          <a:ext cx="3474719" cy="3200395"/>
        </p:xfrm>
        <a:graphic>
          <a:graphicData uri="http://schemas.openxmlformats.org/drawingml/2006/table">
            <a:tbl>
              <a:tblPr firstRow="0" bandRow="0"/>
              <a:tblGrid>
                <a:gridCol w="507543"/>
                <a:gridCol w="2967176"/>
              </a:tblGrid>
              <a:tr h="290945">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0945">
                <a:tc>
                  <a:txBody>
                    <a:bodyPr wrap="square"/>
                    <a:lstStyle/>
                    <a:p>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setting up the account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Everyday pictures: signing in and tokens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Before the sign-in: what EZSheets knows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 token file holds a credentials object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Story: OAuth began in 2006 to end passwor...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The sign-in address: code, offline access...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the libraries underneath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The challenge is a hash of a secret the 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A token file is a pickle, and a pickle ca...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 token has a lifetime; the refresh token...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 / 53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setting up the account</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Setting up is like getting a library card: you prove who you are once, and then the library lets your program borrow.</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566160"/>
                <a:gridCol w="4846320"/>
              </a:tblGrid>
              <a:tr h="34544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100" b="1" i="0">
                          <a:solidFill>
                            <a:srgbClr val="1F2933"/>
                          </a:solidFill>
                          <a:latin typeface="Calibri"/>
                        </a:rPr>
                        <a:t>Installing and Setting Up EZSheets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Buying the key-cutting machine before any key is cut.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Creating a New Google Cloud Project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Opening a customer account at the bank for your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Google Cloud project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customer account: every key and every bill belongs to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Enabling the Sheets and Drive APIs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Telling the bank which counters your program may use: sheets and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Configuring the OAuth Consent Screen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form the bank shows you: this program asks for these permissions.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OAuth consent screen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sign at the counter that says what the visitor wants to do.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Creating Credentials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bank printing a client card for your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credentials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client card itself: it names the program, but does not open your safe.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 / 53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signing in and tokens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token is like a hotel key card: it opens one door for a limited time, and the desk can cancel it.</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566160"/>
                <a:gridCol w="4846320"/>
              </a:tblGrid>
              <a:tr h="34544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100" b="1" i="0">
                          <a:solidFill>
                            <a:srgbClr val="1F2933"/>
                          </a:solidFill>
                          <a:latin typeface="Calibri"/>
                        </a:rPr>
                        <a:t>Logging In with the Credentials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Showing the client card at the desk, once, while you stand there.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ezsheets.init()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first walk to the desk, when the program asks to be let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token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key card in your pocket: whoever holds it can open the door.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refresh token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slip that lets you ask the desk for a new key card without queueing again.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scope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list of doors on the key card: only the rooms you asked for.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Revoking the Credentials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Telling the desk to cancel the client card; every old key card stops working.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pickle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sealed parcel that holds a Python object; opening it can do what the sender wrote.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webbrowser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messenger who opens the page where you click Allow.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 / 53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Before the sign-in: what EZSheets knows</a:t>
            </a:r>
          </a:p>
        </p:txBody>
      </p:sp>
      <p:sp>
        <p:nvSpPr>
          <p:cNvPr id="4" name="code"/>
          <p:cNvSpPr/>
          <p:nvPr/>
        </p:nvSpPr>
        <p:spPr>
          <a:xfrm>
            <a:off x="365760" y="786384"/>
            <a:ext cx="5506212" cy="112020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import</a:t>
            </a:r>
            <a:r>
              <a:rPr sz="1300" b="0" i="0">
                <a:solidFill>
                  <a:srgbClr val="E6EDF3"/>
                </a:solidFill>
                <a:latin typeface="Courier New"/>
              </a:rPr>
              <a:t> </a:t>
            </a:r>
            <a:r>
              <a:rPr sz="1300" b="0" i="0">
                <a:solidFill>
                  <a:srgbClr val="E6EDF3"/>
                </a:solidFill>
                <a:latin typeface="Courier New"/>
              </a:rPr>
              <a:t>ezsheets</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google_standin</a:t>
            </a:r>
          </a:p>
          <a:p>
            <a:pPr algn="l"/>
            <a:r>
              <a:rPr sz="1300" b="0" i="0">
                <a:solidFill>
                  <a:srgbClr val="8FA3B8"/>
                </a:solidFill>
                <a:latin typeface="Courier New"/>
              </a:rPr>
              <a:t>&gt;&gt;&gt; </a:t>
            </a:r>
            <a:r>
              <a:rPr sz="1300" b="0" i="0">
                <a:solidFill>
                  <a:srgbClr val="E6EDF3"/>
                </a:solidFill>
                <a:latin typeface="Courier New"/>
              </a:rPr>
              <a:t>google_standin</a:t>
            </a:r>
            <a:r>
              <a:rPr sz="1300" b="0" i="0">
                <a:solidFill>
                  <a:srgbClr val="E6EDF3"/>
                </a:solidFill>
                <a:latin typeface="Courier New"/>
              </a:rPr>
              <a:t>.</a:t>
            </a:r>
            <a:r>
              <a:rPr sz="1300" b="0" i="0">
                <a:solidFill>
                  <a:srgbClr val="E6EDF3"/>
                </a:solidFill>
                <a:latin typeface="Courier New"/>
              </a:rPr>
              <a:t>uninstall</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'ezsheets'</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ezsheets</a:t>
            </a:r>
            <a:r>
              <a:rPr sz="1300" b="0" i="0">
                <a:solidFill>
                  <a:srgbClr val="E6EDF3"/>
                </a:solidFill>
                <a:latin typeface="Courier New"/>
              </a:rPr>
              <a:t>.</a:t>
            </a:r>
            <a:r>
              <a:rPr sz="1300" b="0" i="0">
                <a:solidFill>
                  <a:srgbClr val="E6EDF3"/>
                </a:solidFill>
                <a:latin typeface="Courier New"/>
              </a:rPr>
              <a:t>__version__</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'signed in:'</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ezsheets</a:t>
            </a:r>
            <a:r>
              <a:rPr sz="1300" b="0" i="0">
                <a:solidFill>
                  <a:srgbClr val="E6EDF3"/>
                </a:solidFill>
                <a:latin typeface="Courier New"/>
              </a:rPr>
              <a:t>.</a:t>
            </a:r>
            <a:r>
              <a:rPr sz="1300" b="0" i="0">
                <a:solidFill>
                  <a:srgbClr val="E6EDF3"/>
                </a:solidFill>
                <a:latin typeface="Courier New"/>
              </a:rPr>
              <a:t>IS_INITIALIZED</a:t>
            </a:r>
            <a:r>
              <a:rPr sz="1300" b="0" i="0">
                <a:solidFill>
                  <a:srgbClr val="E6EDF3"/>
                </a:solidFill>
                <a:latin typeface="Courier New"/>
              </a:rPr>
              <a:t>)</a:t>
            </a:r>
          </a:p>
        </p:txBody>
      </p:sp>
      <p:sp>
        <p:nvSpPr>
          <p:cNvPr id="5" name="explanation"/>
          <p:cNvSpPr txBox="1"/>
          <p:nvPr/>
        </p:nvSpPr>
        <p:spPr>
          <a:xfrm>
            <a:off x="5853684" y="786384"/>
            <a:ext cx="2924555" cy="1120203"/>
          </a:xfrm>
          <a:prstGeom prst="rect">
            <a:avLst/>
          </a:prstGeom>
          <a:noFill/>
        </p:spPr>
        <p:txBody>
          <a:bodyPr wrap="square" lIns="128016" rIns="128016" tIns="18288" bIns="18288" anchor="ctr">
            <a:spAutoFit/>
          </a:bodyPr>
          <a:lstStyle/>
          <a:p>
            <a:r>
              <a:rPr sz="1250" b="0" i="0">
                <a:solidFill>
                  <a:srgbClr val="1F2933"/>
                </a:solidFill>
                <a:latin typeface="Calibri"/>
              </a:rPr>
              <a:t>uninstall() takes the stand-in for Google out, so the library is as it is before any sign-in. IS_INITIALIZED stays False until a sign-in has worked.</a:t>
            </a:r>
          </a:p>
        </p:txBody>
      </p:sp>
      <p:sp>
        <p:nvSpPr>
          <p:cNvPr id="6" name="code"/>
          <p:cNvSpPr/>
          <p:nvPr/>
        </p:nvSpPr>
        <p:spPr>
          <a:xfrm>
            <a:off x="365760" y="1952307"/>
            <a:ext cx="5506212"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'sheets scope:'</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ezsheets</a:t>
            </a:r>
            <a:r>
              <a:rPr sz="1300" b="0" i="0">
                <a:solidFill>
                  <a:srgbClr val="E6EDF3"/>
                </a:solidFill>
                <a:latin typeface="Courier New"/>
              </a:rPr>
              <a:t>.</a:t>
            </a:r>
            <a:r>
              <a:rPr sz="1300" b="0" i="0">
                <a:solidFill>
                  <a:srgbClr val="E6EDF3"/>
                </a:solidFill>
                <a:latin typeface="Courier New"/>
              </a:rPr>
              <a:t>SCOPES_SHEETS</a:t>
            </a:r>
            <a:r>
              <a:rPr sz="1300" b="0" i="0">
                <a:solidFill>
                  <a:srgbClr val="E6EDF3"/>
                </a:solidFill>
                <a:latin typeface="Courier New"/>
              </a:rPr>
              <a:t>[</a:t>
            </a:r>
            <a:r>
              <a:rPr sz="1300" b="0" i="0">
                <a:solidFill>
                  <a:srgbClr val="7CC4FF"/>
                </a:solidFill>
                <a:latin typeface="Courier New"/>
              </a:rPr>
              <a:t>0</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9BE3A8"/>
                </a:solidFill>
                <a:latin typeface="Courier New"/>
              </a:rPr>
              <a:t>'drive scope:'</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ezsheets</a:t>
            </a:r>
            <a:r>
              <a:rPr sz="1300" b="0" i="0">
                <a:solidFill>
                  <a:srgbClr val="E6EDF3"/>
                </a:solidFill>
                <a:latin typeface="Courier New"/>
              </a:rPr>
              <a:t>.</a:t>
            </a:r>
            <a:r>
              <a:rPr sz="1300" b="0" i="0">
                <a:solidFill>
                  <a:srgbClr val="E6EDF3"/>
                </a:solidFill>
                <a:latin typeface="Courier New"/>
              </a:rPr>
              <a:t>SCOPES_DRIVE</a:t>
            </a:r>
            <a:r>
              <a:rPr sz="1300" b="0" i="0">
                <a:solidFill>
                  <a:srgbClr val="E6EDF3"/>
                </a:solidFill>
                <a:latin typeface="Courier New"/>
              </a:rPr>
              <a:t>[</a:t>
            </a:r>
            <a:r>
              <a:rPr sz="1300" b="0" i="0">
                <a:solidFill>
                  <a:srgbClr val="7CC4FF"/>
                </a:solidFill>
                <a:latin typeface="Courier New"/>
              </a:rPr>
              <a:t>0</a:t>
            </a:r>
            <a:r>
              <a:rPr sz="1300" b="0" i="0">
                <a:solidFill>
                  <a:srgbClr val="E6EDF3"/>
                </a:solidFill>
                <a:latin typeface="Courier New"/>
              </a:rPr>
              <a:t>]</a:t>
            </a:r>
            <a:r>
              <a:rPr sz="1300" b="0" i="0">
                <a:solidFill>
                  <a:srgbClr val="E6EDF3"/>
                </a:solidFill>
                <a:latin typeface="Courier New"/>
              </a:rPr>
              <a:t>)</a:t>
            </a:r>
          </a:p>
        </p:txBody>
      </p:sp>
      <p:sp>
        <p:nvSpPr>
          <p:cNvPr id="7" name="explanation"/>
          <p:cNvSpPr txBox="1"/>
          <p:nvPr/>
        </p:nvSpPr>
        <p:spPr>
          <a:xfrm>
            <a:off x="5853684" y="1952307"/>
            <a:ext cx="2924555" cy="921765"/>
          </a:xfrm>
          <a:prstGeom prst="rect">
            <a:avLst/>
          </a:prstGeom>
          <a:noFill/>
        </p:spPr>
        <p:txBody>
          <a:bodyPr wrap="square" lIns="128016" rIns="128016" tIns="18288" bIns="18288" anchor="ctr">
            <a:spAutoFit/>
          </a:bodyPr>
          <a:lstStyle/>
          <a:p>
            <a:r>
              <a:rPr sz="1250" b="0" i="0">
                <a:solidFill>
                  <a:srgbClr val="1F2933"/>
                </a:solidFill>
                <a:latin typeface="Calibri"/>
              </a:rPr>
              <a:t>A scope is a permission the program asks for. EZSheets asks for the whole spreadsheets scope and the whole drive scope.</a:t>
            </a:r>
          </a:p>
        </p:txBody>
      </p:sp>
      <p:sp>
        <p:nvSpPr>
          <p:cNvPr id="8" name="result label"/>
          <p:cNvSpPr txBox="1"/>
          <p:nvPr/>
        </p:nvSpPr>
        <p:spPr>
          <a:xfrm>
            <a:off x="365760" y="2947225"/>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221545"/>
          <a:ext cx="4879237" cy="1371600"/>
        </p:xfrm>
        <a:graphic>
          <a:graphicData uri="http://schemas.openxmlformats.org/drawingml/2006/table">
            <a:tbl>
              <a:tblPr firstRow="0" bandRow="0"/>
              <a:tblGrid>
                <a:gridCol w="2060122"/>
                <a:gridCol w="2819115"/>
              </a:tblGrid>
              <a:tr h="274320">
                <a:tc>
                  <a:txBody>
                    <a:bodyPr wrap="square"/>
                    <a:lstStyle/>
                    <a:p>
                      <a:r>
                        <a:rPr sz="950" b="1" i="0">
                          <a:solidFill>
                            <a:srgbClr val="FFFFFF"/>
                          </a:solidFill>
                          <a:latin typeface="Calibri"/>
                        </a:rPr>
                        <a:t>What EZSheets reports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Value from the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50" b="0" i="0">
                          <a:solidFill>
                            <a:srgbClr val="1F2933"/>
                          </a:solidFill>
                          <a:latin typeface="Calibri"/>
                        </a:rPr>
                        <a:t>release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ezsheets 2026.4.28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alibri"/>
                        </a:rPr>
                        <a:t>signed in (IS_INITIALIZED)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74320">
                <a:tc>
                  <a:txBody>
                    <a:bodyPr wrap="square"/>
                    <a:lstStyle/>
                    <a:p>
                      <a:r>
                        <a:rPr sz="950" b="0" i="0">
                          <a:solidFill>
                            <a:srgbClr val="1F2933"/>
                          </a:solidFill>
                          <a:latin typeface="Calibri"/>
                        </a:rPr>
                        <a:t>sheets scope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.../auth/spreadsheets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alibri"/>
                        </a:rPr>
                        <a:t>drive scope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.../auth/drive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Rounded Rectangle 9"/>
          <p:cNvSpPr/>
          <p:nvPr/>
        </p:nvSpPr>
        <p:spPr>
          <a:xfrm>
            <a:off x="5749747" y="3221545"/>
            <a:ext cx="3028492" cy="347472"/>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import ezsheets</a:t>
            </a:r>
          </a:p>
        </p:txBody>
      </p:sp>
      <p:cxnSp>
        <p:nvCxnSpPr>
          <p:cNvPr id="11" name="arrow"/>
          <p:cNvCxnSpPr/>
          <p:nvPr/>
        </p:nvCxnSpPr>
        <p:spPr>
          <a:xfrm>
            <a:off x="7263993" y="3587305"/>
            <a:ext cx="0" cy="164592"/>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749747" y="3770185"/>
            <a:ext cx="3028492" cy="347472"/>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signed in: False</a:t>
            </a:r>
          </a:p>
        </p:txBody>
      </p:sp>
      <p:cxnSp>
        <p:nvCxnSpPr>
          <p:cNvPr id="13" name="arrow"/>
          <p:cNvCxnSpPr/>
          <p:nvPr/>
        </p:nvCxnSpPr>
        <p:spPr>
          <a:xfrm>
            <a:off x="7263993" y="4135945"/>
            <a:ext cx="0" cy="164592"/>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749747" y="4318825"/>
            <a:ext cx="3028492" cy="274320"/>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5B6773"/>
                </a:solidFill>
                <a:latin typeface="Calibri"/>
              </a:rPr>
              <a:t>no request leaves yet</a:t>
            </a:r>
          </a:p>
        </p:txBody>
      </p:sp>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Before the sign-in, no request can leave.</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 / 53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token file holds a credentials object</a:t>
            </a:r>
          </a:p>
        </p:txBody>
      </p:sp>
      <p:sp>
        <p:nvSpPr>
          <p:cNvPr id="4" name="code"/>
          <p:cNvSpPr/>
          <p:nvPr/>
        </p:nvSpPr>
        <p:spPr>
          <a:xfrm>
            <a:off x="365760" y="786384"/>
            <a:ext cx="5612892" cy="87312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json</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pickle</a:t>
            </a:r>
          </a:p>
          <a:p>
            <a:pPr algn="l"/>
            <a:r>
              <a:rPr sz="950" b="0" i="0">
                <a:solidFill>
                  <a:srgbClr val="8FA3B8"/>
                </a:solidFill>
                <a:latin typeface="Courier New"/>
              </a:rPr>
              <a:t>&gt;&gt;&gt; </a:t>
            </a:r>
            <a:r>
              <a:rPr sz="950" b="0" i="0">
                <a:solidFill>
                  <a:srgbClr val="E6EDF3"/>
                </a:solidFill>
                <a:latin typeface="Courier New"/>
              </a:rPr>
              <a:t>from</a:t>
            </a:r>
            <a:r>
              <a:rPr sz="950" b="0" i="0">
                <a:solidFill>
                  <a:srgbClr val="E6EDF3"/>
                </a:solidFill>
                <a:latin typeface="Courier New"/>
              </a:rPr>
              <a:t> </a:t>
            </a:r>
            <a:r>
              <a:rPr sz="950" b="0" i="0">
                <a:solidFill>
                  <a:srgbClr val="E6EDF3"/>
                </a:solidFill>
                <a:latin typeface="Courier New"/>
              </a:rPr>
              <a:t>google</a:t>
            </a:r>
            <a:r>
              <a:rPr sz="950" b="0" i="0">
                <a:solidFill>
                  <a:srgbClr val="E6EDF3"/>
                </a:solidFill>
                <a:latin typeface="Courier New"/>
              </a:rPr>
              <a:t>.</a:t>
            </a:r>
            <a:r>
              <a:rPr sz="950" b="0" i="0">
                <a:solidFill>
                  <a:srgbClr val="E6EDF3"/>
                </a:solidFill>
                <a:latin typeface="Courier New"/>
              </a:rPr>
              <a:t>oauth2</a:t>
            </a:r>
            <a:r>
              <a:rPr sz="950" b="0" i="0">
                <a:solidFill>
                  <a:srgbClr val="E6EDF3"/>
                </a:solidFill>
                <a:latin typeface="Courier New"/>
              </a:rPr>
              <a:t>.</a:t>
            </a:r>
            <a:r>
              <a:rPr sz="950" b="0" i="0">
                <a:solidFill>
                  <a:srgbClr val="E6EDF3"/>
                </a:solidFill>
                <a:latin typeface="Courier New"/>
              </a:rPr>
              <a:t>credentials</a:t>
            </a:r>
            <a:r>
              <a:rPr sz="950" b="0" i="0">
                <a:solidFill>
                  <a:srgbClr val="E6EDF3"/>
                </a:solidFill>
                <a:latin typeface="Courier New"/>
              </a:rPr>
              <a: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Credentials</a:t>
            </a:r>
          </a:p>
          <a:p>
            <a:pPr algn="l"/>
            <a:r>
              <a:rPr sz="950" b="0" i="0">
                <a:solidFill>
                  <a:srgbClr val="8FA3B8"/>
                </a:solidFill>
                <a:latin typeface="Courier New"/>
              </a:rPr>
              <a:t>&gt;&gt;&gt; </a:t>
            </a:r>
            <a:r>
              <a:rPr sz="950" b="0" i="0">
                <a:solidFill>
                  <a:srgbClr val="E6EDF3"/>
                </a:solidFill>
                <a:latin typeface="Courier New"/>
              </a:rPr>
              <a:t>creds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Credentials</a:t>
            </a:r>
            <a:r>
              <a:rPr sz="950" b="0" i="0">
                <a:solidFill>
                  <a:srgbClr val="E6EDF3"/>
                </a:solidFill>
                <a:latin typeface="Courier New"/>
              </a:rPr>
              <a:t>(</a:t>
            </a:r>
            <a:r>
              <a:rPr sz="950" b="0" i="0">
                <a:solidFill>
                  <a:srgbClr val="E6EDF3"/>
                </a:solidFill>
                <a:latin typeface="Courier New"/>
              </a:rPr>
              <a:t>token</a:t>
            </a:r>
            <a:r>
              <a:rPr sz="950" b="0" i="0">
                <a:solidFill>
                  <a:srgbClr val="E6EDF3"/>
                </a:solidFill>
                <a:latin typeface="Courier New"/>
              </a:rPr>
              <a:t>=</a:t>
            </a:r>
            <a:r>
              <a:rPr sz="950" b="0" i="0">
                <a:solidFill>
                  <a:srgbClr val="9BE3A8"/>
                </a:solidFill>
                <a:latin typeface="Courier New"/>
              </a:rPr>
              <a:t>'FAKE-access'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refresh_token</a:t>
            </a:r>
            <a:r>
              <a:rPr sz="950" b="0" i="0">
                <a:solidFill>
                  <a:srgbClr val="E6EDF3"/>
                </a:solidFill>
                <a:latin typeface="Courier New"/>
              </a:rPr>
              <a:t>=</a:t>
            </a:r>
            <a:r>
              <a:rPr sz="950" b="0" i="0">
                <a:solidFill>
                  <a:srgbClr val="9BE3A8"/>
                </a:solidFill>
                <a:latin typeface="Courier New"/>
              </a:rPr>
              <a:t>'FAKE-refresh'</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token_uri</a:t>
            </a:r>
            <a:r>
              <a:rPr sz="950" b="0" i="0">
                <a:solidFill>
                  <a:srgbClr val="E6EDF3"/>
                </a:solidFill>
                <a:latin typeface="Courier New"/>
              </a:rPr>
              <a:t>=</a:t>
            </a:r>
            <a:r>
              <a:rPr sz="950" b="0" i="0">
                <a:solidFill>
                  <a:srgbClr val="9BE3A8"/>
                </a:solidFill>
                <a:latin typeface="Courier New"/>
              </a:rPr>
              <a:t>'https://oauth2.googleapis.com/token'</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scopes</a:t>
            </a:r>
            <a:r>
              <a:rPr sz="950" b="0" i="0">
                <a:solidFill>
                  <a:srgbClr val="E6EDF3"/>
                </a:solidFill>
                <a:latin typeface="Courier New"/>
              </a:rPr>
              <a:t>=</a:t>
            </a:r>
            <a:r>
              <a:rPr sz="950" b="0" i="0">
                <a:solidFill>
                  <a:srgbClr val="E6EDF3"/>
                </a:solidFill>
                <a:latin typeface="Courier New"/>
              </a:rPr>
              <a:t>[</a:t>
            </a:r>
            <a:r>
              <a:rPr sz="950" b="0" i="0">
                <a:solidFill>
                  <a:srgbClr val="9BE3A8"/>
                </a:solidFill>
                <a:latin typeface="Courier New"/>
              </a:rPr>
              <a:t>'https://www.googleapis.com/auth/spreadsheets'</a:t>
            </a:r>
            <a:r>
              <a:rPr sz="950" b="0" i="0">
                <a:solidFill>
                  <a:srgbClr val="E6EDF3"/>
                </a:solidFill>
                <a:latin typeface="Courier New"/>
              </a:rPr>
              <a:t>]</a:t>
            </a:r>
            <a:r>
              <a:rPr sz="950" b="0" i="0">
                <a:solidFill>
                  <a:srgbClr val="E6EDF3"/>
                </a:solidFill>
                <a:latin typeface="Courier New"/>
              </a:rPr>
              <a:t>)</a:t>
            </a:r>
          </a:p>
        </p:txBody>
      </p:sp>
      <p:sp>
        <p:nvSpPr>
          <p:cNvPr id="5" name="explanation"/>
          <p:cNvSpPr txBox="1"/>
          <p:nvPr/>
        </p:nvSpPr>
        <p:spPr>
          <a:xfrm>
            <a:off x="5960364" y="786384"/>
            <a:ext cx="2817875" cy="873125"/>
          </a:xfrm>
          <a:prstGeom prst="rect">
            <a:avLst/>
          </a:prstGeom>
          <a:noFill/>
        </p:spPr>
        <p:txBody>
          <a:bodyPr wrap="square" lIns="128016" rIns="128016" tIns="18288" bIns="18288" anchor="ctr">
            <a:spAutoFit/>
          </a:bodyPr>
          <a:lstStyle/>
          <a:p>
            <a:r>
              <a:rPr sz="1100" b="0" i="0">
                <a:solidFill>
                  <a:srgbClr val="1F2933"/>
                </a:solidFill>
                <a:latin typeface="Calibri"/>
              </a:rPr>
              <a:t>A made-up token with the fields of a real one: access token, refresh token, scopes.</a:t>
            </a:r>
          </a:p>
        </p:txBody>
      </p:sp>
      <p:sp>
        <p:nvSpPr>
          <p:cNvPr id="6" name="code"/>
          <p:cNvSpPr/>
          <p:nvPr/>
        </p:nvSpPr>
        <p:spPr>
          <a:xfrm>
            <a:off x="365760" y="1705228"/>
            <a:ext cx="561289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key</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value</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json</a:t>
            </a:r>
            <a:r>
              <a:rPr sz="950" b="0" i="0">
                <a:solidFill>
                  <a:srgbClr val="E6EDF3"/>
                </a:solidFill>
                <a:latin typeface="Courier New"/>
              </a:rPr>
              <a:t>.</a:t>
            </a:r>
            <a:r>
              <a:rPr sz="950" b="0" i="0">
                <a:solidFill>
                  <a:srgbClr val="E6EDF3"/>
                </a:solidFill>
                <a:latin typeface="Courier New"/>
              </a:rPr>
              <a:t>loads</a:t>
            </a:r>
            <a:r>
              <a:rPr sz="950" b="0" i="0">
                <a:solidFill>
                  <a:srgbClr val="E6EDF3"/>
                </a:solidFill>
                <a:latin typeface="Courier New"/>
              </a:rPr>
              <a:t>(</a:t>
            </a:r>
            <a:r>
              <a:rPr sz="950" b="0" i="0">
                <a:solidFill>
                  <a:srgbClr val="E6EDF3"/>
                </a:solidFill>
                <a:latin typeface="Courier New"/>
              </a:rPr>
              <a:t>creds</a:t>
            </a:r>
            <a:r>
              <a:rPr sz="950" b="0" i="0">
                <a:solidFill>
                  <a:srgbClr val="E6EDF3"/>
                </a:solidFill>
                <a:latin typeface="Courier New"/>
              </a:rPr>
              <a:t>.</a:t>
            </a:r>
            <a:r>
              <a:rPr sz="950" b="0" i="0">
                <a:solidFill>
                  <a:srgbClr val="E6EDF3"/>
                </a:solidFill>
                <a:latin typeface="Courier New"/>
              </a:rPr>
              <a:t>to_json</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items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key</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value</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type</a:t>
            </a:r>
            <a:r>
              <a:rPr sz="950" b="0" i="0">
                <a:solidFill>
                  <a:srgbClr val="E6EDF3"/>
                </a:solidFill>
                <a:latin typeface="Courier New"/>
              </a:rPr>
              <a:t>(</a:t>
            </a:r>
            <a:r>
              <a:rPr sz="950" b="0" i="0">
                <a:solidFill>
                  <a:srgbClr val="E6EDF3"/>
                </a:solidFill>
                <a:latin typeface="Courier New"/>
              </a:rPr>
              <a:t>pickle</a:t>
            </a:r>
            <a:r>
              <a:rPr sz="950" b="0" i="0">
                <a:solidFill>
                  <a:srgbClr val="E6EDF3"/>
                </a:solidFill>
                <a:latin typeface="Courier New"/>
              </a:rPr>
              <a:t>.</a:t>
            </a:r>
            <a:r>
              <a:rPr sz="950" b="0" i="0">
                <a:solidFill>
                  <a:srgbClr val="E6EDF3"/>
                </a:solidFill>
                <a:latin typeface="Courier New"/>
              </a:rPr>
              <a:t>loads</a:t>
            </a:r>
            <a:r>
              <a:rPr sz="950" b="0" i="0">
                <a:solidFill>
                  <a:srgbClr val="E6EDF3"/>
                </a:solidFill>
                <a:latin typeface="Courier New"/>
              </a:rPr>
              <a:t>(</a:t>
            </a:r>
            <a:r>
              <a:rPr sz="950" b="0" i="0">
                <a:solidFill>
                  <a:srgbClr val="E6EDF3"/>
                </a:solidFill>
                <a:latin typeface="Courier New"/>
              </a:rPr>
              <a:t>pickle</a:t>
            </a:r>
            <a:r>
              <a:rPr sz="950" b="0" i="0">
                <a:solidFill>
                  <a:srgbClr val="E6EDF3"/>
                </a:solidFill>
                <a:latin typeface="Courier New"/>
              </a:rPr>
              <a:t>.</a:t>
            </a:r>
            <a:r>
              <a:rPr sz="950" b="0" i="0">
                <a:solidFill>
                  <a:srgbClr val="E6EDF3"/>
                </a:solidFill>
                <a:latin typeface="Courier New"/>
              </a:rPr>
              <a:t>dumps</a:t>
            </a:r>
            <a:r>
              <a:rPr sz="950" b="0" i="0">
                <a:solidFill>
                  <a:srgbClr val="E6EDF3"/>
                </a:solidFill>
                <a:latin typeface="Courier New"/>
              </a:rPr>
              <a:t>(</a:t>
            </a:r>
            <a:r>
              <a:rPr sz="950" b="0" i="0">
                <a:solidFill>
                  <a:srgbClr val="E6EDF3"/>
                </a:solidFill>
                <a:latin typeface="Courier New"/>
              </a:rPr>
              <a:t>creds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__name__</a:t>
            </a:r>
            <a:r>
              <a:rPr sz="950" b="0" i="0">
                <a:solidFill>
                  <a:srgbClr val="E6EDF3"/>
                </a:solidFill>
                <a:latin typeface="Courier New"/>
              </a:rPr>
              <a:t>)</a:t>
            </a:r>
          </a:p>
        </p:txBody>
      </p:sp>
      <p:sp>
        <p:nvSpPr>
          <p:cNvPr id="7" name="explanation"/>
          <p:cNvSpPr txBox="1"/>
          <p:nvPr/>
        </p:nvSpPr>
        <p:spPr>
          <a:xfrm>
            <a:off x="5960364" y="1705228"/>
            <a:ext cx="2817875" cy="651891"/>
          </a:xfrm>
          <a:prstGeom prst="rect">
            <a:avLst/>
          </a:prstGeom>
          <a:noFill/>
        </p:spPr>
        <p:txBody>
          <a:bodyPr wrap="square" lIns="128016" rIns="128016" tIns="18288" bIns="18288" anchor="ctr">
            <a:spAutoFit/>
          </a:bodyPr>
          <a:lstStyle/>
          <a:p>
            <a:r>
              <a:rPr sz="1100" b="0" i="0">
                <a:solidFill>
                  <a:srgbClr val="1F2933"/>
                </a:solidFill>
                <a:latin typeface="Calibri"/>
              </a:rPr>
              <a:t>to_json lists the fields. EZSheets saves the object with pickle in token-sheets.pickle.</a:t>
            </a:r>
          </a:p>
        </p:txBody>
      </p:sp>
      <p:sp>
        <p:nvSpPr>
          <p:cNvPr id="8" name="result label"/>
          <p:cNvSpPr txBox="1"/>
          <p:nvPr/>
        </p:nvSpPr>
        <p:spPr>
          <a:xfrm>
            <a:off x="365760" y="243027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704592"/>
          <a:ext cx="5215737" cy="1536192"/>
        </p:xfrm>
        <a:graphic>
          <a:graphicData uri="http://schemas.openxmlformats.org/drawingml/2006/table">
            <a:tbl>
              <a:tblPr firstRow="0" bandRow="0"/>
              <a:tblGrid>
                <a:gridCol w="2086295"/>
                <a:gridCol w="3129442"/>
              </a:tblGrid>
              <a:tr h="219456">
                <a:tc>
                  <a:txBody>
                    <a:bodyPr wrap="square"/>
                    <a:lstStyle/>
                    <a:p>
                      <a:r>
                        <a:rPr sz="900" b="1" i="0">
                          <a:solidFill>
                            <a:srgbClr val="FFFFFF"/>
                          </a:solidFill>
                          <a:latin typeface="Calibri"/>
                        </a:rPr>
                        <a:t>Field of the token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Value (made up for this 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r>
                        <a:rPr sz="900" b="0" i="0">
                          <a:solidFill>
                            <a:srgbClr val="1F2933"/>
                          </a:solidFill>
                          <a:latin typeface="Courier New"/>
                        </a:rPr>
                        <a:t>token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900" b="0" i="0">
                          <a:solidFill>
                            <a:srgbClr val="1F2933"/>
                          </a:solidFill>
                          <a:latin typeface="Courier New"/>
                        </a:rPr>
                        <a:t>FAKE-access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19456">
                <a:tc>
                  <a:txBody>
                    <a:bodyPr wrap="square"/>
                    <a:lstStyle/>
                    <a:p>
                      <a:r>
                        <a:rPr sz="900" b="0" i="0">
                          <a:solidFill>
                            <a:srgbClr val="1F2933"/>
                          </a:solidFill>
                          <a:latin typeface="Courier New"/>
                        </a:rPr>
                        <a:t>refresh_token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900" b="0" i="0">
                          <a:solidFill>
                            <a:srgbClr val="1F2933"/>
                          </a:solidFill>
                          <a:latin typeface="Courier New"/>
                        </a:rPr>
                        <a:t>FAKE-refresh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19456">
                <a:tc>
                  <a:txBody>
                    <a:bodyPr wrap="square"/>
                    <a:lstStyle/>
                    <a:p>
                      <a:r>
                        <a:rPr sz="900" b="0" i="0">
                          <a:solidFill>
                            <a:srgbClr val="1F2933"/>
                          </a:solidFill>
                          <a:latin typeface="Courier New"/>
                        </a:rPr>
                        <a:t>token_uri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https://oauth2.googleapis.com/token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900" b="0" i="0">
                          <a:solidFill>
                            <a:srgbClr val="1F2933"/>
                          </a:solidFill>
                          <a:latin typeface="Courier New"/>
                        </a:rPr>
                        <a:t>scopes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.../auth/spreadsheets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9456">
                <a:tc>
                  <a:txBody>
                    <a:bodyPr wrap="square"/>
                    <a:lstStyle/>
                    <a:p>
                      <a:r>
                        <a:rPr sz="900" b="0" i="0">
                          <a:solidFill>
                            <a:srgbClr val="1F2933"/>
                          </a:solidFill>
                          <a:latin typeface="Courier New"/>
                        </a:rPr>
                        <a:t>universe_domain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googleapis.com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900" b="0" i="0">
                          <a:solidFill>
                            <a:srgbClr val="1F2933"/>
                          </a:solidFill>
                          <a:latin typeface="Courier New"/>
                        </a:rPr>
                        <a:t>account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(empty)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Rounded Rectangle 9"/>
          <p:cNvSpPr/>
          <p:nvPr/>
        </p:nvSpPr>
        <p:spPr>
          <a:xfrm>
            <a:off x="6002121" y="2704592"/>
            <a:ext cx="2776118" cy="384048"/>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Credentials object</a:t>
            </a:r>
          </a:p>
        </p:txBody>
      </p:sp>
      <p:cxnSp>
        <p:nvCxnSpPr>
          <p:cNvPr id="11" name="arrow"/>
          <p:cNvCxnSpPr/>
          <p:nvPr/>
        </p:nvCxnSpPr>
        <p:spPr>
          <a:xfrm>
            <a:off x="7390180" y="3106928"/>
            <a:ext cx="0" cy="201168"/>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002121" y="3326384"/>
            <a:ext cx="2776118" cy="38404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pickle.dumps</a:t>
            </a:r>
          </a:p>
        </p:txBody>
      </p:sp>
      <p:cxnSp>
        <p:nvCxnSpPr>
          <p:cNvPr id="13" name="arrow"/>
          <p:cNvCxnSpPr/>
          <p:nvPr/>
        </p:nvCxnSpPr>
        <p:spPr>
          <a:xfrm>
            <a:off x="7390180" y="3728719"/>
            <a:ext cx="0" cy="201169"/>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002121" y="3948176"/>
            <a:ext cx="2776118" cy="384048"/>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token-sheets.pickle</a:t>
            </a:r>
          </a:p>
        </p:txBody>
      </p:sp>
      <p:sp>
        <p:nvSpPr>
          <p:cNvPr id="15" name="visual note"/>
          <p:cNvSpPr txBox="1"/>
          <p:nvPr/>
        </p:nvSpPr>
        <p:spPr>
          <a:xfrm>
            <a:off x="365760" y="4425696"/>
            <a:ext cx="5215737" cy="219456"/>
          </a:xfrm>
          <a:prstGeom prst="rect">
            <a:avLst/>
          </a:prstGeom>
          <a:noFill/>
        </p:spPr>
        <p:txBody>
          <a:bodyPr wrap="square" lIns="45720" rIns="45720" tIns="27432" bIns="27432" anchor="t">
            <a:spAutoFit/>
          </a:bodyPr>
          <a:lstStyle/>
          <a:p>
            <a:r>
              <a:rPr sz="900" b="0" i="1">
                <a:solidFill>
                  <a:srgbClr val="5B6773"/>
                </a:solidFill>
                <a:latin typeface="Calibri"/>
              </a:rPr>
              <a:t>amber: the two secrets; whoever holds them can open your sheets</a:t>
            </a:r>
          </a:p>
        </p:txBody>
      </p:sp>
      <p:sp>
        <p:nvSpPr>
          <p:cNvPr id="1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token file holds two secrets and the scopes.</a:t>
            </a:r>
          </a:p>
        </p:txBody>
      </p:sp>
      <p:sp>
        <p:nvSpPr>
          <p:cNvPr id="1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8 / 53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OAuth began in 2006 to end password sharing</a:t>
            </a:r>
          </a:p>
        </p:txBody>
      </p:sp>
      <p:pic>
        <p:nvPicPr>
          <p:cNvPr id="4" name="photo oauth" descr="Picture for the story: OAuth began in 2006 to end password sharing"/>
          <p:cNvPicPr>
            <a:picLocks noChangeAspect="1"/>
          </p:cNvPicPr>
          <p:nvPr/>
        </p:nvPicPr>
        <p:blipFill>
          <a:blip r:embed="rId3"/>
          <a:stretch>
            <a:fillRect/>
          </a:stretch>
        </p:blipFill>
        <p:spPr>
          <a:xfrm>
            <a:off x="365840" y="868680"/>
            <a:ext cx="2651598"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Blaine Cook, who began OAuth in 2006. Photo: steve-uk, CC BY 2.0, Flickr.</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Blaine Cook, Chris Messina, David Recordon and Larry Halff.</a:t>
            </a:r>
          </a:p>
        </p:txBody>
      </p:sp>
      <p:sp>
        <p:nvSpPr>
          <p:cNvPr id="8" name="card"/>
          <p:cNvSpPr/>
          <p:nvPr/>
        </p:nvSpPr>
        <p:spPr>
          <a:xfrm>
            <a:off x="3200400" y="130759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30759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OAuth, an open standard that lets a program act for you without ever learning your password.</a:t>
            </a:r>
          </a:p>
        </p:txBody>
      </p:sp>
      <p:sp>
        <p:nvSpPr>
          <p:cNvPr id="10" name="card"/>
          <p:cNvSpPr/>
          <p:nvPr/>
        </p:nvSpPr>
        <p:spPr>
          <a:xfrm>
            <a:off x="3200400" y="1874520"/>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874520"/>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From November 2006; a Google group in April 2007; RFC 6749 in October 2012.</a:t>
            </a:r>
          </a:p>
        </p:txBody>
      </p:sp>
      <p:sp>
        <p:nvSpPr>
          <p:cNvPr id="12" name="card"/>
          <p:cNvSpPr/>
          <p:nvPr/>
        </p:nvSpPr>
        <p:spPr>
          <a:xfrm>
            <a:off x="3200400" y="24414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A CitizenSpace OpenID meeting, then an online Google group.</a:t>
            </a:r>
          </a:p>
        </p:txBody>
      </p:sp>
      <p:sp>
        <p:nvSpPr>
          <p:cNvPr id="14" name="card"/>
          <p:cNvSpPr/>
          <p:nvPr/>
        </p:nvSpPr>
        <p:spPr>
          <a:xfrm>
            <a:off x="3200400" y="290779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290779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Twitter and OpenID needed a way to share access without sharing passwords; no open standard existed.</a:t>
            </a:r>
          </a:p>
        </p:txBody>
      </p:sp>
      <p:sp>
        <p:nvSpPr>
          <p:cNvPr id="16" name="card"/>
          <p:cNvSpPr/>
          <p:nvPr/>
        </p:nvSpPr>
        <p:spPr>
          <a:xfrm>
            <a:off x="3200400" y="3474720"/>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474720"/>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They wrote a proposal in the group, drafted a specification in July 2007, and the IETF published it. Your token files are its result.</a:t>
            </a:r>
          </a:p>
        </p:txBody>
      </p:sp>
      <p:sp>
        <p:nvSpPr>
          <p:cNvPr id="18" name="read"/>
          <p:cNvSpPr txBox="1"/>
          <p:nvPr/>
        </p:nvSpPr>
        <p:spPr>
          <a:xfrm>
            <a:off x="3200400" y="4059936"/>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Introduction to OAuth (oauth.net)</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9 / 53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The sign-in address: code, offline access and a challenge</a:t>
            </a:r>
          </a:p>
        </p:txBody>
      </p:sp>
      <p:sp>
        <p:nvSpPr>
          <p:cNvPr id="4" name="code"/>
          <p:cNvSpPr/>
          <p:nvPr/>
        </p:nvSpPr>
        <p:spPr>
          <a:xfrm>
            <a:off x="365760" y="786384"/>
            <a:ext cx="5125212" cy="83439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from</a:t>
            </a:r>
            <a:r>
              <a:rPr sz="900" b="0" i="0">
                <a:solidFill>
                  <a:srgbClr val="E6EDF3"/>
                </a:solidFill>
                <a:latin typeface="Courier New"/>
              </a:rPr>
              <a:t> </a:t>
            </a:r>
            <a:r>
              <a:rPr sz="900" b="0" i="0">
                <a:solidFill>
                  <a:srgbClr val="E6EDF3"/>
                </a:solidFill>
                <a:latin typeface="Courier New"/>
              </a:rPr>
              <a:t>google_auth_oauthlib</a:t>
            </a:r>
            <a:r>
              <a:rPr sz="900" b="0" i="0">
                <a:solidFill>
                  <a:srgbClr val="E6EDF3"/>
                </a:solidFill>
                <a:latin typeface="Courier New"/>
              </a:rPr>
              <a:t>.</a:t>
            </a:r>
            <a:r>
              <a:rPr sz="900" b="0" i="0">
                <a:solidFill>
                  <a:srgbClr val="E6EDF3"/>
                </a:solidFill>
                <a:latin typeface="Courier New"/>
              </a:rPr>
              <a:t>flow</a:t>
            </a:r>
            <a:r>
              <a:rPr sz="900" b="0" i="0">
                <a:solidFill>
                  <a:srgbClr val="E6EDF3"/>
                </a:solidFill>
                <a:latin typeface="Courier New"/>
              </a:rPr>
              <a: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Flow</a:t>
            </a:r>
          </a:p>
          <a:p>
            <a:pPr algn="l"/>
            <a:r>
              <a:rPr sz="900" b="0" i="0">
                <a:solidFill>
                  <a:srgbClr val="8FA3B8"/>
                </a:solidFill>
                <a:latin typeface="Courier New"/>
              </a:rPr>
              <a:t>&gt;&gt;&gt; </a:t>
            </a:r>
            <a:r>
              <a:rPr sz="900" b="0" i="0">
                <a:solidFill>
                  <a:srgbClr val="E6EDF3"/>
                </a:solidFill>
                <a:latin typeface="Courier New"/>
              </a:rPr>
              <a:t>SCOPE</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'https://www.googleapis.com/auth/spreadsheets'</a:t>
            </a:r>
          </a:p>
          <a:p>
            <a:pPr algn="l"/>
            <a:r>
              <a:rPr sz="900" b="0" i="0">
                <a:solidFill>
                  <a:srgbClr val="8FA3B8"/>
                </a:solidFill>
                <a:latin typeface="Courier New"/>
              </a:rPr>
              <a:t>&gt;&gt;&gt; </a:t>
            </a:r>
            <a:r>
              <a:rPr sz="900" b="0" i="0">
                <a:solidFill>
                  <a:srgbClr val="E6EDF3"/>
                </a:solidFill>
                <a:latin typeface="Courier New"/>
              </a:rPr>
              <a:t>cfg</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'installed'</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'client_id'</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'FAKE'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'client_secret'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'FAKE'</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'auth_uri'</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'https://accounts.google.com/o/oauth2/auth'</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'token_uri'</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'https://oauth2.googleapis.com/token'</a:t>
            </a:r>
            <a:r>
              <a:rPr sz="900" b="0" i="0">
                <a:solidFill>
                  <a:srgbClr val="E6EDF3"/>
                </a:solidFill>
                <a:latin typeface="Courier New"/>
              </a:rPr>
              <a:t>}</a:t>
            </a:r>
            <a:r>
              <a:rPr sz="900" b="0" i="0">
                <a:solidFill>
                  <a:srgbClr val="E6EDF3"/>
                </a:solidFill>
                <a:latin typeface="Courier New"/>
              </a:rPr>
              <a:t>}</a:t>
            </a:r>
          </a:p>
        </p:txBody>
      </p:sp>
      <p:sp>
        <p:nvSpPr>
          <p:cNvPr id="5" name="explanation"/>
          <p:cNvSpPr txBox="1"/>
          <p:nvPr/>
        </p:nvSpPr>
        <p:spPr>
          <a:xfrm>
            <a:off x="5472684" y="786384"/>
            <a:ext cx="3305555" cy="834390"/>
          </a:xfrm>
          <a:prstGeom prst="rect">
            <a:avLst/>
          </a:prstGeom>
          <a:noFill/>
        </p:spPr>
        <p:txBody>
          <a:bodyPr wrap="square" lIns="128016" rIns="128016" tIns="18288" bIns="18288" anchor="ctr">
            <a:spAutoFit/>
          </a:bodyPr>
          <a:lstStyle/>
          <a:p>
            <a:r>
              <a:rPr sz="1100" b="0" i="0">
                <a:solidFill>
                  <a:srgbClr val="1F2933"/>
                </a:solidFill>
                <a:latin typeface="Calibri"/>
              </a:rPr>
              <a:t>The credentials file as a dictionary: an id and a secret, here made up, and Google's two addresses.</a:t>
            </a:r>
          </a:p>
        </p:txBody>
      </p:sp>
      <p:sp>
        <p:nvSpPr>
          <p:cNvPr id="6" name="code"/>
          <p:cNvSpPr/>
          <p:nvPr/>
        </p:nvSpPr>
        <p:spPr>
          <a:xfrm>
            <a:off x="365760" y="1666494"/>
            <a:ext cx="5125212" cy="55549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flow</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Flow</a:t>
            </a:r>
            <a:r>
              <a:rPr sz="900" b="0" i="0">
                <a:solidFill>
                  <a:srgbClr val="E6EDF3"/>
                </a:solidFill>
                <a:latin typeface="Courier New"/>
              </a:rPr>
              <a:t>.</a:t>
            </a:r>
            <a:r>
              <a:rPr sz="900" b="0" i="0">
                <a:solidFill>
                  <a:srgbClr val="E6EDF3"/>
                </a:solidFill>
                <a:latin typeface="Courier New"/>
              </a:rPr>
              <a:t>from_client_config</a:t>
            </a:r>
            <a:r>
              <a:rPr sz="900" b="0" i="0">
                <a:solidFill>
                  <a:srgbClr val="E6EDF3"/>
                </a:solidFill>
                <a:latin typeface="Courier New"/>
              </a:rPr>
              <a:t>(</a:t>
            </a:r>
            <a:r>
              <a:rPr sz="900" b="0" i="0">
                <a:solidFill>
                  <a:srgbClr val="E6EDF3"/>
                </a:solidFill>
                <a:latin typeface="Courier New"/>
              </a:rPr>
              <a:t>cfg</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SCOPE</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redirect_uri</a:t>
            </a:r>
            <a:r>
              <a:rPr sz="900" b="0" i="0">
                <a:solidFill>
                  <a:srgbClr val="E6EDF3"/>
                </a:solidFill>
                <a:latin typeface="Courier New"/>
              </a:rPr>
              <a:t>=</a:t>
            </a:r>
            <a:r>
              <a:rPr sz="900" b="0" i="0">
                <a:solidFill>
                  <a:srgbClr val="9BE3A8"/>
                </a:solidFill>
                <a:latin typeface="Courier New"/>
              </a:rPr>
              <a:t>'http://localhost:8080/'</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url</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state</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flow</a:t>
            </a:r>
            <a:r>
              <a:rPr sz="900" b="0" i="0">
                <a:solidFill>
                  <a:srgbClr val="E6EDF3"/>
                </a:solidFill>
                <a:latin typeface="Courier New"/>
              </a:rPr>
              <a:t>.</a:t>
            </a:r>
            <a:r>
              <a:rPr sz="900" b="0" i="0">
                <a:solidFill>
                  <a:srgbClr val="E6EDF3"/>
                </a:solidFill>
                <a:latin typeface="Courier New"/>
              </a:rPr>
              <a:t>authorization_url</a:t>
            </a:r>
            <a:r>
              <a:rPr sz="900" b="0" i="0">
                <a:solidFill>
                  <a:srgbClr val="E6EDF3"/>
                </a:solidFill>
                <a:latin typeface="Courier New"/>
              </a:rPr>
              <a:t>(</a:t>
            </a:r>
            <a:r>
              <a:rPr sz="900" b="0" i="0">
                <a:solidFill>
                  <a:srgbClr val="E6EDF3"/>
                </a:solidFill>
                <a:latin typeface="Courier New"/>
              </a:rPr>
              <a:t>access_type</a:t>
            </a:r>
            <a:r>
              <a:rPr sz="900" b="0" i="0">
                <a:solidFill>
                  <a:srgbClr val="E6EDF3"/>
                </a:solidFill>
                <a:latin typeface="Courier New"/>
              </a:rPr>
              <a:t>=</a:t>
            </a:r>
            <a:r>
              <a:rPr sz="900" b="0" i="0">
                <a:solidFill>
                  <a:srgbClr val="9BE3A8"/>
                </a:solidFill>
                <a:latin typeface="Courier New"/>
              </a:rPr>
              <a:t>'offline'</a:t>
            </a:r>
            <a:r>
              <a:rPr sz="900" b="0" i="0">
                <a:solidFill>
                  <a:srgbClr val="E6EDF3"/>
                </a:solidFill>
                <a:latin typeface="Courier New"/>
              </a:rPr>
              <a:t>)</a:t>
            </a:r>
          </a:p>
        </p:txBody>
      </p:sp>
      <p:sp>
        <p:nvSpPr>
          <p:cNvPr id="7" name="explanation"/>
          <p:cNvSpPr txBox="1"/>
          <p:nvPr/>
        </p:nvSpPr>
        <p:spPr>
          <a:xfrm>
            <a:off x="5472684" y="1666494"/>
            <a:ext cx="3305555" cy="555498"/>
          </a:xfrm>
          <a:prstGeom prst="rect">
            <a:avLst/>
          </a:prstGeom>
          <a:noFill/>
        </p:spPr>
        <p:txBody>
          <a:bodyPr wrap="square" lIns="128016" rIns="128016" tIns="18288" bIns="18288" anchor="ctr">
            <a:spAutoFit/>
          </a:bodyPr>
          <a:lstStyle/>
          <a:p>
            <a:r>
              <a:rPr sz="1100" b="0" i="0">
                <a:solidFill>
                  <a:srgbClr val="1F2933"/>
                </a:solidFill>
                <a:latin typeface="Calibri"/>
              </a:rPr>
              <a:t>No network is used: the flow only builds the address the browser would open.</a:t>
            </a:r>
          </a:p>
        </p:txBody>
      </p:sp>
      <p:sp>
        <p:nvSpPr>
          <p:cNvPr id="8" name="code"/>
          <p:cNvSpPr/>
          <p:nvPr/>
        </p:nvSpPr>
        <p:spPr>
          <a:xfrm>
            <a:off x="365760" y="2267712"/>
            <a:ext cx="5125212" cy="55549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q</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dict</a:t>
            </a:r>
            <a:r>
              <a:rPr sz="900" b="0" i="0">
                <a:solidFill>
                  <a:srgbClr val="E6EDF3"/>
                </a:solidFill>
                <a:latin typeface="Courier New"/>
              </a:rPr>
              <a:t>(</a:t>
            </a:r>
            <a:r>
              <a:rPr sz="900" b="0" i="0">
                <a:solidFill>
                  <a:srgbClr val="E6EDF3"/>
                </a:solidFill>
                <a:latin typeface="Courier New"/>
              </a:rPr>
              <a:t>p</a:t>
            </a:r>
            <a:r>
              <a:rPr sz="900" b="0" i="0">
                <a:solidFill>
                  <a:srgbClr val="E6EDF3"/>
                </a:solidFill>
                <a:latin typeface="Courier New"/>
              </a:rPr>
              <a:t>.</a:t>
            </a:r>
            <a:r>
              <a:rPr sz="900" b="0" i="0">
                <a:solidFill>
                  <a:srgbClr val="E6EDF3"/>
                </a:solidFill>
                <a:latin typeface="Courier New"/>
              </a:rPr>
              <a:t>split</a:t>
            </a:r>
            <a:r>
              <a:rPr sz="900" b="0" i="0">
                <a:solidFill>
                  <a:srgbClr val="E6EDF3"/>
                </a:solidFill>
                <a:latin typeface="Courier New"/>
              </a:rPr>
              <a:t>(</a:t>
            </a:r>
            <a:r>
              <a:rPr sz="900" b="0" i="0">
                <a:solidFill>
                  <a:srgbClr val="9BE3A8"/>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p</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url</a:t>
            </a:r>
            <a:r>
              <a:rPr sz="900" b="0" i="0">
                <a:solidFill>
                  <a:srgbClr val="E6EDF3"/>
                </a:solidFill>
                <a:latin typeface="Courier New"/>
              </a:rPr>
              <a:t>.</a:t>
            </a:r>
            <a:r>
              <a:rPr sz="900" b="0" i="0">
                <a:solidFill>
                  <a:srgbClr val="E6EDF3"/>
                </a:solidFill>
                <a:latin typeface="Courier New"/>
              </a:rPr>
              <a:t>split</a:t>
            </a:r>
            <a:r>
              <a:rPr sz="900" b="0" i="0">
                <a:solidFill>
                  <a:srgbClr val="E6EDF3"/>
                </a:solidFill>
                <a:latin typeface="Courier New"/>
              </a:rPr>
              <a:t>(</a:t>
            </a:r>
            <a:r>
              <a:rPr sz="900" b="0" i="0">
                <a:solidFill>
                  <a:srgbClr val="9BE3A8"/>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split</a:t>
            </a:r>
            <a:r>
              <a:rPr sz="900" b="0" i="0">
                <a:solidFill>
                  <a:srgbClr val="E6EDF3"/>
                </a:solidFill>
                <a:latin typeface="Courier New"/>
              </a:rPr>
              <a:t>(</a:t>
            </a:r>
            <a:r>
              <a:rPr sz="900" b="0" i="0">
                <a:solidFill>
                  <a:srgbClr val="9BE3A8"/>
                </a:solidFill>
                <a:latin typeface="Courier New"/>
              </a:rPr>
              <a:t>'&amp;'</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k</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'response_type'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'access_type'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'code_challenge_method'</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k</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q</a:t>
            </a:r>
            <a:r>
              <a:rPr sz="900" b="0" i="0">
                <a:solidFill>
                  <a:srgbClr val="E6EDF3"/>
                </a:solidFill>
                <a:latin typeface="Courier New"/>
              </a:rPr>
              <a:t>[</a:t>
            </a:r>
            <a:r>
              <a:rPr sz="900" b="0" i="0">
                <a:solidFill>
                  <a:srgbClr val="E6EDF3"/>
                </a:solidFill>
                <a:latin typeface="Courier New"/>
              </a:rPr>
              <a:t>k</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472684" y="2267712"/>
            <a:ext cx="3305555" cy="555498"/>
          </a:xfrm>
          <a:prstGeom prst="rect">
            <a:avLst/>
          </a:prstGeom>
          <a:noFill/>
        </p:spPr>
        <p:txBody>
          <a:bodyPr wrap="square" lIns="128016" rIns="128016" tIns="18288" bIns="18288" anchor="ctr">
            <a:spAutoFit/>
          </a:bodyPr>
          <a:lstStyle/>
          <a:p>
            <a:r>
              <a:rPr sz="1100" b="0" i="0">
                <a:solidFill>
                  <a:srgbClr val="1F2933"/>
                </a:solidFill>
                <a:latin typeface="Calibri"/>
              </a:rPr>
              <a:t>Three parts of the address: a code, offline access and a SHA-256 challenge.</a:t>
            </a:r>
          </a:p>
        </p:txBody>
      </p:sp>
      <p:sp>
        <p:nvSpPr>
          <p:cNvPr id="10" name="result label"/>
          <p:cNvSpPr txBox="1"/>
          <p:nvPr/>
        </p:nvSpPr>
        <p:spPr>
          <a:xfrm>
            <a:off x="365760" y="289636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170682"/>
          <a:ext cx="6225233" cy="1437891"/>
        </p:xfrm>
        <a:graphic>
          <a:graphicData uri="http://schemas.openxmlformats.org/drawingml/2006/table">
            <a:tbl>
              <a:tblPr firstRow="0" bandRow="0"/>
              <a:tblGrid>
                <a:gridCol w="1886434"/>
                <a:gridCol w="1886434"/>
                <a:gridCol w="2452365"/>
              </a:tblGrid>
              <a:tr h="205413">
                <a:tc>
                  <a:txBody>
                    <a:bodyPr wrap="square"/>
                    <a:lstStyle/>
                    <a:p>
                      <a:r>
                        <a:rPr sz="900" b="1" i="0">
                          <a:solidFill>
                            <a:srgbClr val="FFFFFF"/>
                          </a:solidFill>
                          <a:latin typeface="Calibri"/>
                        </a:rPr>
                        <a:t>Part of the address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Plain meaning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05413">
                <a:tc>
                  <a:txBody>
                    <a:bodyPr wrap="square"/>
                    <a:lstStyle/>
                    <a:p>
                      <a:r>
                        <a:rPr sz="900" b="0" i="0">
                          <a:solidFill>
                            <a:srgbClr val="1F2933"/>
                          </a:solidFill>
                          <a:latin typeface="Courier New"/>
                        </a:rPr>
                        <a:t>response_type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code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alibri"/>
                        </a:rPr>
                        <a:t>ask for a one-time code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05413">
                <a:tc>
                  <a:txBody>
                    <a:bodyPr wrap="square"/>
                    <a:lstStyle/>
                    <a:p>
                      <a:r>
                        <a:rPr sz="900" b="0" i="0">
                          <a:solidFill>
                            <a:srgbClr val="1F2933"/>
                          </a:solidFill>
                          <a:latin typeface="Courier New"/>
                        </a:rPr>
                        <a:t>access_type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offline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alibri"/>
                        </a:rPr>
                        <a:t>also give a refresh token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05413">
                <a:tc>
                  <a:txBody>
                    <a:bodyPr wrap="square"/>
                    <a:lstStyle/>
                    <a:p>
                      <a:r>
                        <a:rPr sz="900" b="0" i="0">
                          <a:solidFill>
                            <a:srgbClr val="1F2933"/>
                          </a:solidFill>
                          <a:latin typeface="Courier New"/>
                        </a:rPr>
                        <a:t>redirect_uri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http%3A%2F%2Floca...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alibri"/>
                        </a:rPr>
                        <a:t>come back to this computer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05413">
                <a:tc>
                  <a:txBody>
                    <a:bodyPr wrap="square"/>
                    <a:lstStyle/>
                    <a:p>
                      <a:r>
                        <a:rPr sz="900" b="0" i="0">
                          <a:solidFill>
                            <a:srgbClr val="1F2933"/>
                          </a:solidFill>
                          <a:latin typeface="Courier New"/>
                        </a:rPr>
                        <a:t>code_challenge_method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S256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alibri"/>
                        </a:rPr>
                        <a:t>the challenge is a SHA-256 hash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05413">
                <a:tc>
                  <a:txBody>
                    <a:bodyPr wrap="square"/>
                    <a:lstStyle/>
                    <a:p>
                      <a:r>
                        <a:rPr sz="900" b="0" i="0">
                          <a:solidFill>
                            <a:srgbClr val="1F2933"/>
                          </a:solidFill>
                          <a:latin typeface="Courier New"/>
                        </a:rPr>
                        <a:t>code_challenge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(43 chars)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alibri"/>
                        </a:rPr>
                        <a:t>43 characters, a hash of the secret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05413">
                <a:tc>
                  <a:txBody>
                    <a:bodyPr wrap="square"/>
                    <a:lstStyle/>
                    <a:p>
                      <a:r>
                        <a:rPr sz="900" b="0" i="0">
                          <a:solidFill>
                            <a:srgbClr val="1F2933"/>
                          </a:solidFill>
                          <a:latin typeface="Courier New"/>
                        </a:rPr>
                        <a:t>scope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https%3A%2F%2Fwww...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alibri"/>
                        </a:rPr>
                        <a:t>the permission asked for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Rounded Rectangle 11"/>
          <p:cNvSpPr/>
          <p:nvPr/>
        </p:nvSpPr>
        <p:spPr>
          <a:xfrm>
            <a:off x="7011619" y="3170682"/>
            <a:ext cx="1766620" cy="36576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program</a:t>
            </a:r>
          </a:p>
        </p:txBody>
      </p:sp>
      <p:cxnSp>
        <p:nvCxnSpPr>
          <p:cNvPr id="13" name="arrow"/>
          <p:cNvCxnSpPr/>
          <p:nvPr/>
        </p:nvCxnSpPr>
        <p:spPr>
          <a:xfrm>
            <a:off x="7894929" y="3554729"/>
            <a:ext cx="0" cy="182880"/>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011619" y="3755898"/>
            <a:ext cx="1766620" cy="36576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browser opens</a:t>
            </a:r>
          </a:p>
          <a:p>
            <a:pPr algn="ctr"/>
            <a:r>
              <a:rPr sz="900" b="0" i="0">
                <a:solidFill>
                  <a:srgbClr val="1F2933"/>
                </a:solidFill>
                <a:latin typeface="Calibri"/>
              </a:rPr>
              <a:t>this address</a:t>
            </a:r>
          </a:p>
        </p:txBody>
      </p:sp>
      <p:cxnSp>
        <p:nvCxnSpPr>
          <p:cNvPr id="15" name="arrow"/>
          <p:cNvCxnSpPr/>
          <p:nvPr/>
        </p:nvCxnSpPr>
        <p:spPr>
          <a:xfrm>
            <a:off x="7894929" y="4139946"/>
            <a:ext cx="0" cy="182880"/>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011619" y="4341114"/>
            <a:ext cx="1766620" cy="36576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Google asks</a:t>
            </a:r>
          </a:p>
          <a:p>
            <a:pPr algn="ctr"/>
            <a:r>
              <a:rPr sz="900" b="0" i="0">
                <a:solidFill>
                  <a:srgbClr val="1F2933"/>
                </a:solidFill>
                <a:latin typeface="Calibri"/>
              </a:rPr>
              <a:t>you to agree</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sign-in address asks for a code, offline.</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10 / 53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the libraries underneath</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EZSheets is like a taxi booking app: the app is simple, and the big phone network sits underneath.</a:t>
            </a:r>
          </a:p>
        </p:txBody>
      </p:sp>
      <p:graphicFrame>
        <p:nvGraphicFramePr>
          <p:cNvPr id="6" name="table"/>
          <p:cNvGraphicFramePr>
            <a:graphicFrameLocks noGrp="1"/>
          </p:cNvGraphicFramePr>
          <p:nvPr/>
        </p:nvGraphicFramePr>
        <p:xfrm>
          <a:off x="365760" y="1417320"/>
          <a:ext cx="8412480" cy="3108959"/>
        </p:xfrm>
        <a:graphic>
          <a:graphicData uri="http://schemas.openxmlformats.org/drawingml/2006/table">
            <a:tbl>
              <a:tblPr firstRow="0" bandRow="0"/>
              <a:tblGrid>
                <a:gridCol w="3566160"/>
                <a:gridCol w="4846320"/>
              </a:tblGrid>
              <a:tr h="444137">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44137">
                <a:tc>
                  <a:txBody>
                    <a:bodyPr wrap="square"/>
                    <a:lstStyle/>
                    <a:p>
                      <a:r>
                        <a:rPr sz="1100" b="1" i="0">
                          <a:solidFill>
                            <a:srgbClr val="1F2933"/>
                          </a:solidFill>
                          <a:latin typeface="Calibri"/>
                        </a:rPr>
                        <a:t>ezsheets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app on your phone: short calls, such as getRow.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googleapiclient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phone network under the app: it builds every request.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google_auth_oauthlib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identity check at the door of the network.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http.client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plain post office the library uses for a short link.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shlex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careful reader that keeps a quoted name in one piece.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sys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notice board by the door: it shows what was typed after the program's 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11 / 53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The challenge is a hash of a secret the program keeps</a:t>
            </a:r>
          </a:p>
        </p:txBody>
      </p:sp>
      <p:sp>
        <p:nvSpPr>
          <p:cNvPr id="4" name="code"/>
          <p:cNvSpPr/>
          <p:nvPr/>
        </p:nvSpPr>
        <p:spPr>
          <a:xfrm>
            <a:off x="365760" y="786384"/>
            <a:ext cx="5369052"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hashlib</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base64</a:t>
            </a:r>
          </a:p>
          <a:p>
            <a:pPr algn="l"/>
            <a:r>
              <a:rPr sz="1100" b="0" i="0">
                <a:solidFill>
                  <a:srgbClr val="8FA3B8"/>
                </a:solidFill>
                <a:latin typeface="Courier New"/>
              </a:rPr>
              <a:t>&gt;&gt;&gt; </a:t>
            </a:r>
            <a:r>
              <a:rPr sz="1100" b="0" i="0">
                <a:solidFill>
                  <a:srgbClr val="E6EDF3"/>
                </a:solidFill>
                <a:latin typeface="Courier New"/>
              </a:rPr>
              <a:t>verifier</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b</a:t>
            </a:r>
            <a:r>
              <a:rPr sz="1100" b="0" i="0">
                <a:solidFill>
                  <a:srgbClr val="9BE3A8"/>
                </a:solidFill>
                <a:latin typeface="Courier New"/>
              </a:rPr>
              <a:t>'dBjftJeZ4CVP-mB92K27uhbUJU1p1r_wW1gFWFOEjXk'</a:t>
            </a:r>
          </a:p>
        </p:txBody>
      </p:sp>
      <p:sp>
        <p:nvSpPr>
          <p:cNvPr id="5" name="explanation"/>
          <p:cNvSpPr txBox="1"/>
          <p:nvPr/>
        </p:nvSpPr>
        <p:spPr>
          <a:xfrm>
            <a:off x="5716524" y="786384"/>
            <a:ext cx="3061715" cy="890016"/>
          </a:xfrm>
          <a:prstGeom prst="rect">
            <a:avLst/>
          </a:prstGeom>
          <a:noFill/>
        </p:spPr>
        <p:txBody>
          <a:bodyPr wrap="square" lIns="128016" rIns="128016" tIns="18288" bIns="18288" anchor="ctr">
            <a:spAutoFit/>
          </a:bodyPr>
          <a:lstStyle/>
          <a:p>
            <a:r>
              <a:rPr sz="1200" b="0" i="0">
                <a:solidFill>
                  <a:srgbClr val="1F2933"/>
                </a:solidFill>
                <a:latin typeface="Calibri"/>
              </a:rPr>
              <a:t>The program makes a random secret, the verifier, and keeps it. This one is the example of RFC 7636, the standard behind the challenge.</a:t>
            </a:r>
          </a:p>
        </p:txBody>
      </p:sp>
      <p:sp>
        <p:nvSpPr>
          <p:cNvPr id="6" name="code"/>
          <p:cNvSpPr/>
          <p:nvPr/>
        </p:nvSpPr>
        <p:spPr>
          <a:xfrm>
            <a:off x="365760" y="1722120"/>
            <a:ext cx="5369052"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digest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hashlib</a:t>
            </a:r>
            <a:r>
              <a:rPr sz="1100" b="0" i="0">
                <a:solidFill>
                  <a:srgbClr val="E6EDF3"/>
                </a:solidFill>
                <a:latin typeface="Courier New"/>
              </a:rPr>
              <a:t>.</a:t>
            </a:r>
            <a:r>
              <a:rPr sz="1100" b="0" i="0">
                <a:solidFill>
                  <a:srgbClr val="E6EDF3"/>
                </a:solidFill>
                <a:latin typeface="Courier New"/>
              </a:rPr>
              <a:t>sha256</a:t>
            </a:r>
            <a:r>
              <a:rPr sz="1100" b="0" i="0">
                <a:solidFill>
                  <a:srgbClr val="E6EDF3"/>
                </a:solidFill>
                <a:latin typeface="Courier New"/>
              </a:rPr>
              <a:t>(</a:t>
            </a:r>
            <a:r>
              <a:rPr sz="1100" b="0" i="0">
                <a:solidFill>
                  <a:srgbClr val="E6EDF3"/>
                </a:solidFill>
                <a:latin typeface="Courier New"/>
              </a:rPr>
              <a:t>verifier</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digest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challenge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base64</a:t>
            </a:r>
            <a:r>
              <a:rPr sz="1100" b="0" i="0">
                <a:solidFill>
                  <a:srgbClr val="E6EDF3"/>
                </a:solidFill>
                <a:latin typeface="Courier New"/>
              </a:rPr>
              <a:t>.</a:t>
            </a:r>
            <a:r>
              <a:rPr sz="1100" b="0" i="0">
                <a:solidFill>
                  <a:srgbClr val="E6EDF3"/>
                </a:solidFill>
                <a:latin typeface="Courier New"/>
              </a:rPr>
              <a:t>urlsafe_b64encode</a:t>
            </a:r>
            <a:r>
              <a:rPr sz="1100" b="0" i="0">
                <a:solidFill>
                  <a:srgbClr val="E6EDF3"/>
                </a:solidFill>
                <a:latin typeface="Courier New"/>
              </a:rPr>
              <a:t>(</a:t>
            </a:r>
            <a:r>
              <a:rPr sz="1100" b="0" i="0">
                <a:solidFill>
                  <a:srgbClr val="E6EDF3"/>
                </a:solidFill>
                <a:latin typeface="Courier New"/>
              </a:rPr>
              <a:t>digest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rstrip</a:t>
            </a:r>
            <a:r>
              <a:rPr sz="1100" b="0" i="0">
                <a:solidFill>
                  <a:srgbClr val="E6EDF3"/>
                </a:solidFill>
                <a:latin typeface="Courier New"/>
              </a:rPr>
              <a:t>(</a:t>
            </a:r>
            <a:r>
              <a:rPr sz="1100" b="0" i="0">
                <a:solidFill>
                  <a:srgbClr val="E6EDF3"/>
                </a:solidFill>
                <a:latin typeface="Courier New"/>
              </a:rPr>
              <a:t>b</a:t>
            </a:r>
            <a:r>
              <a:rPr sz="1100" b="0" i="0">
                <a:solidFill>
                  <a:srgbClr val="9BE3A8"/>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'verifier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verifier</a:t>
            </a:r>
            <a:r>
              <a:rPr sz="1100" b="0" i="0">
                <a:solidFill>
                  <a:srgbClr val="E6EDF3"/>
                </a:solidFill>
                <a:latin typeface="Courier New"/>
              </a:rPr>
              <a:t>.</a:t>
            </a:r>
            <a:r>
              <a:rPr sz="1100" b="0" i="0">
                <a:solidFill>
                  <a:srgbClr val="E6EDF3"/>
                </a:solidFill>
                <a:latin typeface="Courier New"/>
              </a:rPr>
              <a:t>decode</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'challenge:'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challenge</a:t>
            </a:r>
            <a:r>
              <a:rPr sz="1100" b="0" i="0">
                <a:solidFill>
                  <a:srgbClr val="E6EDF3"/>
                </a:solidFill>
                <a:latin typeface="Courier New"/>
              </a:rPr>
              <a:t>.</a:t>
            </a:r>
            <a:r>
              <a:rPr sz="1100" b="0" i="0">
                <a:solidFill>
                  <a:srgbClr val="E6EDF3"/>
                </a:solidFill>
                <a:latin typeface="Courier New"/>
              </a:rPr>
              <a:t>decode</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716524" y="1722120"/>
            <a:ext cx="3061715" cy="890016"/>
          </a:xfrm>
          <a:prstGeom prst="rect">
            <a:avLst/>
          </a:prstGeom>
          <a:noFill/>
        </p:spPr>
        <p:txBody>
          <a:bodyPr wrap="square" lIns="128016" rIns="128016" tIns="18288" bIns="18288" anchor="ctr">
            <a:spAutoFit/>
          </a:bodyPr>
          <a:lstStyle/>
          <a:p>
            <a:r>
              <a:rPr sz="1200" b="0" i="0">
                <a:solidFill>
                  <a:srgbClr val="1F2933"/>
                </a:solidFill>
                <a:latin typeface="Calibri"/>
              </a:rPr>
              <a:t>Only the hash, the challenge, goes into the address. Later the program shows the verifier; Google hashes it again and compares.</a:t>
            </a:r>
          </a:p>
        </p:txBody>
      </p:sp>
      <p:sp>
        <p:nvSpPr>
          <p:cNvPr id="8" name="result label"/>
          <p:cNvSpPr txBox="1"/>
          <p:nvPr/>
        </p:nvSpPr>
        <p:spPr>
          <a:xfrm>
            <a:off x="365760" y="26852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051048"/>
            <a:ext cx="1794510" cy="77724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verifier</a:t>
            </a:r>
          </a:p>
          <a:p>
            <a:pPr algn="ctr"/>
            <a:r>
              <a:rPr sz="1000" b="0" i="0">
                <a:solidFill>
                  <a:srgbClr val="1F2933"/>
                </a:solidFill>
                <a:latin typeface="Calibri"/>
              </a:rPr>
              <a:t>(kept secret)</a:t>
            </a:r>
          </a:p>
          <a:p>
            <a:pPr algn="ctr"/>
            <a:r>
              <a:rPr sz="1000" b="0" i="0">
                <a:solidFill>
                  <a:srgbClr val="1F2933"/>
                </a:solidFill>
                <a:latin typeface="Calibri"/>
              </a:rPr>
              <a:t>dBjftJeZ4C...</a:t>
            </a:r>
          </a:p>
        </p:txBody>
      </p:sp>
      <p:cxnSp>
        <p:nvCxnSpPr>
          <p:cNvPr id="10" name="arrow"/>
          <p:cNvCxnSpPr/>
          <p:nvPr/>
        </p:nvCxnSpPr>
        <p:spPr>
          <a:xfrm>
            <a:off x="2178558" y="3439668"/>
            <a:ext cx="37490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71750" y="3051048"/>
            <a:ext cx="1794510" cy="77724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SHA-256</a:t>
            </a:r>
          </a:p>
          <a:p>
            <a:pPr algn="ctr"/>
            <a:r>
              <a:rPr sz="1000" b="0" i="0">
                <a:solidFill>
                  <a:srgbClr val="1F2933"/>
                </a:solidFill>
                <a:latin typeface="Calibri"/>
              </a:rPr>
              <a:t>then base64url</a:t>
            </a:r>
          </a:p>
        </p:txBody>
      </p:sp>
      <p:cxnSp>
        <p:nvCxnSpPr>
          <p:cNvPr id="12" name="arrow"/>
          <p:cNvCxnSpPr/>
          <p:nvPr/>
        </p:nvCxnSpPr>
        <p:spPr>
          <a:xfrm>
            <a:off x="4384548" y="3439668"/>
            <a:ext cx="37490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7740" y="3051048"/>
            <a:ext cx="1794510" cy="77724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challenge</a:t>
            </a:r>
          </a:p>
          <a:p>
            <a:pPr algn="ctr"/>
            <a:r>
              <a:rPr sz="1000" b="0" i="0">
                <a:solidFill>
                  <a:srgbClr val="1F2933"/>
                </a:solidFill>
                <a:latin typeface="Calibri"/>
              </a:rPr>
              <a:t>(sent in the address)</a:t>
            </a:r>
          </a:p>
          <a:p>
            <a:pPr algn="ctr"/>
            <a:r>
              <a:rPr sz="1000" b="0" i="0">
                <a:solidFill>
                  <a:srgbClr val="1F2933"/>
                </a:solidFill>
                <a:latin typeface="Calibri"/>
              </a:rPr>
              <a:t>E9Melhoa2O...</a:t>
            </a:r>
          </a:p>
        </p:txBody>
      </p:sp>
      <p:cxnSp>
        <p:nvCxnSpPr>
          <p:cNvPr id="14" name="arrow"/>
          <p:cNvCxnSpPr/>
          <p:nvPr/>
        </p:nvCxnSpPr>
        <p:spPr>
          <a:xfrm>
            <a:off x="6590538" y="3439668"/>
            <a:ext cx="37490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983730" y="3051048"/>
            <a:ext cx="1794510" cy="77724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Google keeps</a:t>
            </a:r>
          </a:p>
          <a:p>
            <a:pPr algn="ctr"/>
            <a:r>
              <a:rPr sz="1000" b="0" i="0">
                <a:solidFill>
                  <a:srgbClr val="1F2933"/>
                </a:solidFill>
                <a:latin typeface="Calibri"/>
              </a:rPr>
              <a:t>the challenge</a:t>
            </a:r>
          </a:p>
        </p:txBody>
      </p:sp>
      <p:sp>
        <p:nvSpPr>
          <p:cNvPr id="16" name="visual note"/>
          <p:cNvSpPr txBox="1"/>
          <p:nvPr/>
        </p:nvSpPr>
        <p:spPr>
          <a:xfrm>
            <a:off x="365760" y="3919728"/>
            <a:ext cx="8412480" cy="219456"/>
          </a:xfrm>
          <a:prstGeom prst="rect">
            <a:avLst/>
          </a:prstGeom>
          <a:noFill/>
        </p:spPr>
        <p:txBody>
          <a:bodyPr wrap="square" lIns="45720" rIns="45720" tIns="27432" bIns="27432" anchor="t">
            <a:spAutoFit/>
          </a:bodyPr>
          <a:lstStyle/>
          <a:p>
            <a:r>
              <a:rPr sz="950" b="0" i="1">
                <a:solidFill>
                  <a:srgbClr val="5B6773"/>
                </a:solidFill>
                <a:latin typeface="Calibri"/>
              </a:rPr>
              <a:t>later: the program shows the verifier; Google hashes it again, and only the same program can match the challenge</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challenge is a hash of a secret kept at home.</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12 / 53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token file is a pickle, and a pickle can run code</a:t>
            </a:r>
          </a:p>
        </p:txBody>
      </p:sp>
      <p:sp>
        <p:nvSpPr>
          <p:cNvPr id="4" name="code"/>
          <p:cNvSpPr/>
          <p:nvPr/>
        </p:nvSpPr>
        <p:spPr>
          <a:xfrm>
            <a:off x="365760" y="786384"/>
            <a:ext cx="528523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pickle</a:t>
            </a:r>
          </a:p>
          <a:p>
            <a:pPr algn="l"/>
            <a:r>
              <a:rPr sz="1100" b="0" i="0">
                <a:solidFill>
                  <a:srgbClr val="8FA3B8"/>
                </a:solidFill>
                <a:latin typeface="Courier New"/>
              </a:rPr>
              <a:t>&gt;&gt;&gt; </a:t>
            </a:r>
            <a:r>
              <a:rPr sz="1100" b="0" i="0">
                <a:solidFill>
                  <a:srgbClr val="E6EDF3"/>
                </a:solidFill>
                <a:latin typeface="Courier New"/>
              </a:rPr>
              <a:t>class</a:t>
            </a:r>
            <a:r>
              <a:rPr sz="1100" b="0" i="0">
                <a:solidFill>
                  <a:srgbClr val="E6EDF3"/>
                </a:solidFill>
                <a:latin typeface="Courier New"/>
              </a:rPr>
              <a:t> </a:t>
            </a:r>
            <a:r>
              <a:rPr sz="1100" b="0" i="0">
                <a:solidFill>
                  <a:srgbClr val="E6EDF3"/>
                </a:solidFill>
                <a:latin typeface="Courier New"/>
              </a:rPr>
              <a:t>Trap</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__reduce__</a:t>
            </a:r>
            <a:r>
              <a:rPr sz="1100" b="0" i="0">
                <a:solidFill>
                  <a:srgbClr val="E6EDF3"/>
                </a:solidFill>
                <a:latin typeface="Courier New"/>
              </a:rPr>
              <a:t>(</a:t>
            </a:r>
            <a:r>
              <a:rPr sz="1100" b="0" i="0">
                <a:solidFill>
                  <a:srgbClr val="E6EDF3"/>
                </a:solidFill>
                <a:latin typeface="Courier New"/>
              </a:rPr>
              <a:t>self</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E6EDF3"/>
                </a:solidFill>
                <a:latin typeface="Courier New"/>
              </a:rPr>
              <a:t>(</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'this line ran while loading'</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5632704" y="786384"/>
            <a:ext cx="3145536" cy="890016"/>
          </a:xfrm>
          <a:prstGeom prst="rect">
            <a:avLst/>
          </a:prstGeom>
          <a:noFill/>
        </p:spPr>
        <p:txBody>
          <a:bodyPr wrap="square" lIns="128016" rIns="128016" tIns="18288" bIns="18288" anchor="ctr">
            <a:spAutoFit/>
          </a:bodyPr>
          <a:lstStyle/>
          <a:p>
            <a:r>
              <a:rPr sz="1200" b="0" i="0">
                <a:solidFill>
                  <a:srgbClr val="1F2933"/>
                </a:solidFill>
                <a:latin typeface="Calibri"/>
              </a:rPr>
              <a:t>A class can tell pickle what to call when it is loaded. Here the call is harmless: it prints a line. In an attack it would be any code.</a:t>
            </a:r>
          </a:p>
        </p:txBody>
      </p:sp>
      <p:sp>
        <p:nvSpPr>
          <p:cNvPr id="6" name="code"/>
          <p:cNvSpPr/>
          <p:nvPr/>
        </p:nvSpPr>
        <p:spPr>
          <a:xfrm>
            <a:off x="365760" y="1722120"/>
            <a:ext cx="528523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data</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pickle</a:t>
            </a:r>
            <a:r>
              <a:rPr sz="1100" b="0" i="0">
                <a:solidFill>
                  <a:srgbClr val="E6EDF3"/>
                </a:solidFill>
                <a:latin typeface="Courier New"/>
              </a:rPr>
              <a:t>.</a:t>
            </a:r>
            <a:r>
              <a:rPr sz="1100" b="0" i="0">
                <a:solidFill>
                  <a:srgbClr val="E6EDF3"/>
                </a:solidFill>
                <a:latin typeface="Courier New"/>
              </a:rPr>
              <a:t>dumps</a:t>
            </a:r>
            <a:r>
              <a:rPr sz="1100" b="0" i="0">
                <a:solidFill>
                  <a:srgbClr val="E6EDF3"/>
                </a:solidFill>
                <a:latin typeface="Courier New"/>
              </a:rPr>
              <a:t>(</a:t>
            </a:r>
            <a:r>
              <a:rPr sz="1100" b="0" i="0">
                <a:solidFill>
                  <a:srgbClr val="E6EDF3"/>
                </a:solidFill>
                <a:latin typeface="Courier New"/>
              </a:rPr>
              <a:t>Trap</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'file written:'</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len</a:t>
            </a:r>
            <a:r>
              <a:rPr sz="1100" b="0" i="0">
                <a:solidFill>
                  <a:srgbClr val="E6EDF3"/>
                </a:solidFill>
                <a:latin typeface="Courier New"/>
              </a:rPr>
              <a:t>(</a:t>
            </a:r>
            <a:r>
              <a:rPr sz="1100" b="0" i="0">
                <a:solidFill>
                  <a:srgbClr val="E6EDF3"/>
                </a:solidFill>
                <a:latin typeface="Courier New"/>
              </a:rPr>
              <a:t>data</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'bytes'</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pickle</a:t>
            </a:r>
            <a:r>
              <a:rPr sz="1100" b="0" i="0">
                <a:solidFill>
                  <a:srgbClr val="E6EDF3"/>
                </a:solidFill>
                <a:latin typeface="Courier New"/>
              </a:rPr>
              <a:t>.</a:t>
            </a:r>
            <a:r>
              <a:rPr sz="1100" b="0" i="0">
                <a:solidFill>
                  <a:srgbClr val="E6EDF3"/>
                </a:solidFill>
                <a:latin typeface="Courier New"/>
              </a:rPr>
              <a:t>loads</a:t>
            </a:r>
            <a:r>
              <a:rPr sz="1100" b="0" i="0">
                <a:solidFill>
                  <a:srgbClr val="E6EDF3"/>
                </a:solidFill>
                <a:latin typeface="Courier New"/>
              </a:rPr>
              <a:t>(</a:t>
            </a:r>
            <a:r>
              <a:rPr sz="1100" b="0" i="0">
                <a:solidFill>
                  <a:srgbClr val="E6EDF3"/>
                </a:solidFill>
                <a:latin typeface="Courier New"/>
              </a:rPr>
              <a:t>data</a:t>
            </a:r>
            <a:r>
              <a:rPr sz="1100" b="0" i="0">
                <a:solidFill>
                  <a:srgbClr val="E6EDF3"/>
                </a:solidFill>
                <a:latin typeface="Courier New"/>
              </a:rPr>
              <a:t>)</a:t>
            </a:r>
          </a:p>
        </p:txBody>
      </p:sp>
      <p:sp>
        <p:nvSpPr>
          <p:cNvPr id="7" name="explanation"/>
          <p:cNvSpPr txBox="1"/>
          <p:nvPr/>
        </p:nvSpPr>
        <p:spPr>
          <a:xfrm>
            <a:off x="5632704" y="1722120"/>
            <a:ext cx="3145536" cy="890016"/>
          </a:xfrm>
          <a:prstGeom prst="rect">
            <a:avLst/>
          </a:prstGeom>
          <a:noFill/>
        </p:spPr>
        <p:txBody>
          <a:bodyPr wrap="square" lIns="128016" rIns="128016" tIns="18288" bIns="18288" anchor="ctr">
            <a:spAutoFit/>
          </a:bodyPr>
          <a:lstStyle/>
          <a:p>
            <a:r>
              <a:rPr sz="1200" b="0" i="0">
                <a:solidFill>
                  <a:srgbClr val="1F2933"/>
                </a:solidFill>
                <a:latin typeface="Calibri"/>
              </a:rPr>
              <a:t>Loading the bytes runs the call. EZSheets loads token-sheets.pickle when it is imported, so never use a token file from someone else.</a:t>
            </a:r>
          </a:p>
        </p:txBody>
      </p:sp>
      <p:sp>
        <p:nvSpPr>
          <p:cNvPr id="8" name="result label"/>
          <p:cNvSpPr txBox="1"/>
          <p:nvPr/>
        </p:nvSpPr>
        <p:spPr>
          <a:xfrm>
            <a:off x="365760" y="26852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051048"/>
            <a:ext cx="1828799" cy="73152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token-sheets.pickle</a:t>
            </a:r>
          </a:p>
          <a:p>
            <a:pPr algn="ctr"/>
            <a:r>
              <a:rPr sz="950" b="0" i="0">
                <a:solidFill>
                  <a:srgbClr val="1F2933"/>
                </a:solidFill>
                <a:latin typeface="Calibri"/>
              </a:rPr>
              <a:t>(67 bytes)</a:t>
            </a:r>
          </a:p>
        </p:txBody>
      </p:sp>
      <p:cxnSp>
        <p:nvCxnSpPr>
          <p:cNvPr id="10" name="arrow"/>
          <p:cNvCxnSpPr/>
          <p:nvPr/>
        </p:nvCxnSpPr>
        <p:spPr>
          <a:xfrm>
            <a:off x="2212848" y="3416808"/>
            <a:ext cx="32918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60320" y="3051048"/>
            <a:ext cx="1828799" cy="7315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import ezsheets</a:t>
            </a:r>
          </a:p>
          <a:p>
            <a:pPr algn="ctr"/>
            <a:r>
              <a:rPr sz="950" b="0" i="0">
                <a:solidFill>
                  <a:srgbClr val="1F2933"/>
                </a:solidFill>
                <a:latin typeface="Calibri"/>
              </a:rPr>
              <a:t>calls pickle.load</a:t>
            </a:r>
          </a:p>
        </p:txBody>
      </p:sp>
      <p:cxnSp>
        <p:nvCxnSpPr>
          <p:cNvPr id="12" name="arrow"/>
          <p:cNvCxnSpPr/>
          <p:nvPr/>
        </p:nvCxnSpPr>
        <p:spPr>
          <a:xfrm>
            <a:off x="4407407" y="3416808"/>
            <a:ext cx="32918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54880" y="3051048"/>
            <a:ext cx="1828799" cy="73152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the file's own call</a:t>
            </a:r>
          </a:p>
          <a:p>
            <a:pPr algn="ctr"/>
            <a:r>
              <a:rPr sz="950" b="0" i="0">
                <a:solidFill>
                  <a:srgbClr val="1F2933"/>
                </a:solidFill>
                <a:latin typeface="Calibri"/>
              </a:rPr>
              <a:t>is made at once</a:t>
            </a:r>
          </a:p>
        </p:txBody>
      </p:sp>
      <p:cxnSp>
        <p:nvCxnSpPr>
          <p:cNvPr id="14" name="arrow"/>
          <p:cNvCxnSpPr/>
          <p:nvPr/>
        </p:nvCxnSpPr>
        <p:spPr>
          <a:xfrm>
            <a:off x="6601968" y="3416808"/>
            <a:ext cx="32918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949440" y="3051048"/>
            <a:ext cx="1828799" cy="73152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printed: this line ran while loading</a:t>
            </a:r>
          </a:p>
        </p:txBody>
      </p:sp>
      <p:sp>
        <p:nvSpPr>
          <p:cNvPr id="16" name="visual note"/>
          <p:cNvSpPr txBox="1"/>
          <p:nvPr/>
        </p:nvSpPr>
        <p:spPr>
          <a:xfrm>
            <a:off x="365760" y="3919728"/>
            <a:ext cx="8412480" cy="219456"/>
          </a:xfrm>
          <a:prstGeom prst="rect">
            <a:avLst/>
          </a:prstGeom>
          <a:noFill/>
        </p:spPr>
        <p:txBody>
          <a:bodyPr wrap="square" lIns="45720" rIns="45720" tIns="27432" bIns="27432" anchor="t">
            <a:spAutoFit/>
          </a:bodyPr>
          <a:lstStyle/>
          <a:p>
            <a:r>
              <a:rPr sz="950" b="0" i="1">
                <a:solidFill>
                  <a:srgbClr val="5B6773"/>
                </a:solidFill>
                <a:latin typeface="Calibri"/>
              </a:rPr>
              <a:t>here the call only prints a line; in an attack it could be any code, with your rights</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token file from someone else is a program.</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13 / 53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token has a lifetime; the refresh token renews it</a:t>
            </a:r>
          </a:p>
        </p:txBody>
      </p:sp>
      <p:sp>
        <p:nvSpPr>
          <p:cNvPr id="4" name="code"/>
          <p:cNvSpPr/>
          <p:nvPr/>
        </p:nvSpPr>
        <p:spPr>
          <a:xfrm>
            <a:off x="365760" y="786384"/>
            <a:ext cx="5513831"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datetime</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dt</a:t>
            </a:r>
          </a:p>
          <a:p>
            <a:pPr algn="l"/>
            <a:r>
              <a:rPr sz="1000" b="0" i="0">
                <a:solidFill>
                  <a:srgbClr val="8FA3B8"/>
                </a:solidFill>
                <a:latin typeface="Courier New"/>
              </a:rPr>
              <a:t>&gt;&gt;&gt; </a:t>
            </a:r>
            <a:r>
              <a:rPr sz="1000" b="0" i="0">
                <a:solidFill>
                  <a:srgbClr val="E6EDF3"/>
                </a:solidFill>
                <a:latin typeface="Courier New"/>
              </a:rPr>
              <a:t>from</a:t>
            </a:r>
            <a:r>
              <a:rPr sz="1000" b="0" i="0">
                <a:solidFill>
                  <a:srgbClr val="E6EDF3"/>
                </a:solidFill>
                <a:latin typeface="Courier New"/>
              </a:rPr>
              <a:t> </a:t>
            </a:r>
            <a:r>
              <a:rPr sz="1000" b="0" i="0">
                <a:solidFill>
                  <a:srgbClr val="E6EDF3"/>
                </a:solidFill>
                <a:latin typeface="Courier New"/>
              </a:rPr>
              <a:t>google</a:t>
            </a:r>
            <a:r>
              <a:rPr sz="1000" b="0" i="0">
                <a:solidFill>
                  <a:srgbClr val="E6EDF3"/>
                </a:solidFill>
                <a:latin typeface="Courier New"/>
              </a:rPr>
              <a:t>.</a:t>
            </a:r>
            <a:r>
              <a:rPr sz="1000" b="0" i="0">
                <a:solidFill>
                  <a:srgbClr val="E6EDF3"/>
                </a:solidFill>
                <a:latin typeface="Courier New"/>
              </a:rPr>
              <a:t>oauth2</a:t>
            </a:r>
            <a:r>
              <a:rPr sz="1000" b="0" i="0">
                <a:solidFill>
                  <a:srgbClr val="E6EDF3"/>
                </a:solidFill>
                <a:latin typeface="Courier New"/>
              </a:rPr>
              <a:t>.</a:t>
            </a:r>
            <a:r>
              <a:rPr sz="1000" b="0" i="0">
                <a:solidFill>
                  <a:srgbClr val="E6EDF3"/>
                </a:solidFill>
                <a:latin typeface="Courier New"/>
              </a:rPr>
              <a:t>credentials</a:t>
            </a:r>
            <a:r>
              <a:rPr sz="1000" b="0" i="0">
                <a:solidFill>
                  <a:srgbClr val="E6EDF3"/>
                </a:solidFill>
                <a:latin typeface="Courier New"/>
              </a:rPr>
              <a: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Credentials</a:t>
            </a:r>
          </a:p>
          <a:p>
            <a:pPr algn="l"/>
            <a:r>
              <a:rPr sz="1000" b="0" i="0">
                <a:solidFill>
                  <a:srgbClr val="8FA3B8"/>
                </a:solidFill>
                <a:latin typeface="Courier New"/>
              </a:rPr>
              <a:t>&gt;&gt;&gt; </a:t>
            </a:r>
            <a:r>
              <a:rPr sz="1000" b="0" i="0">
                <a:solidFill>
                  <a:srgbClr val="E6EDF3"/>
                </a:solidFill>
                <a:latin typeface="Courier New"/>
              </a:rPr>
              <a:t>now</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dt</a:t>
            </a:r>
            <a:r>
              <a:rPr sz="1000" b="0" i="0">
                <a:solidFill>
                  <a:srgbClr val="E6EDF3"/>
                </a:solidFill>
                <a:latin typeface="Courier New"/>
              </a:rPr>
              <a:t>.</a:t>
            </a:r>
            <a:r>
              <a:rPr sz="1000" b="0" i="0">
                <a:solidFill>
                  <a:srgbClr val="E6EDF3"/>
                </a:solidFill>
                <a:latin typeface="Courier New"/>
              </a:rPr>
              <a:t>datetime</a:t>
            </a:r>
            <a:r>
              <a:rPr sz="1000" b="0" i="0">
                <a:solidFill>
                  <a:srgbClr val="E6EDF3"/>
                </a:solidFill>
                <a:latin typeface="Courier New"/>
              </a:rPr>
              <a:t>.</a:t>
            </a:r>
            <a:r>
              <a:rPr sz="1000" b="0" i="0">
                <a:solidFill>
                  <a:srgbClr val="E6EDF3"/>
                </a:solidFill>
                <a:latin typeface="Courier New"/>
              </a:rPr>
              <a:t>now</a:t>
            </a:r>
            <a:r>
              <a:rPr sz="1000" b="0" i="0">
                <a:solidFill>
                  <a:srgbClr val="E6EDF3"/>
                </a:solidFill>
                <a:latin typeface="Courier New"/>
              </a:rPr>
              <a:t>(</a:t>
            </a:r>
            <a:r>
              <a:rPr sz="1000" b="0" i="0">
                <a:solidFill>
                  <a:srgbClr val="E6EDF3"/>
                </a:solidFill>
                <a:latin typeface="Courier New"/>
              </a:rPr>
              <a:t>dt</a:t>
            </a:r>
            <a:r>
              <a:rPr sz="1000" b="0" i="0">
                <a:solidFill>
                  <a:srgbClr val="E6EDF3"/>
                </a:solidFill>
                <a:latin typeface="Courier New"/>
              </a:rPr>
              <a:t>.</a:t>
            </a:r>
            <a:r>
              <a:rPr sz="1000" b="0" i="0">
                <a:solidFill>
                  <a:srgbClr val="E6EDF3"/>
                </a:solidFill>
                <a:latin typeface="Courier New"/>
              </a:rPr>
              <a:t>timezone</a:t>
            </a:r>
            <a:r>
              <a:rPr sz="1000" b="0" i="0">
                <a:solidFill>
                  <a:srgbClr val="E6EDF3"/>
                </a:solidFill>
                <a:latin typeface="Courier New"/>
              </a:rPr>
              <a:t>.</a:t>
            </a:r>
            <a:r>
              <a:rPr sz="1000" b="0" i="0">
                <a:solidFill>
                  <a:srgbClr val="E6EDF3"/>
                </a:solidFill>
                <a:latin typeface="Courier New"/>
              </a:rPr>
              <a:t>utc</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replace</a:t>
            </a:r>
            <a:r>
              <a:rPr sz="1000" b="0" i="0">
                <a:solidFill>
                  <a:srgbClr val="E6EDF3"/>
                </a:solidFill>
                <a:latin typeface="Courier New"/>
              </a:rPr>
              <a:t>(</a:t>
            </a:r>
            <a:r>
              <a:rPr sz="1000" b="0" i="0">
                <a:solidFill>
                  <a:srgbClr val="E6EDF3"/>
                </a:solidFill>
                <a:latin typeface="Courier New"/>
              </a:rPr>
              <a:t>tzinfo</a:t>
            </a:r>
            <a:r>
              <a:rPr sz="1000" b="0" i="0">
                <a:solidFill>
                  <a:srgbClr val="E6EDF3"/>
                </a:solidFill>
                <a:latin typeface="Courier New"/>
              </a:rPr>
              <a:t>=</a:t>
            </a:r>
            <a:r>
              <a:rPr sz="1000" b="0" i="0">
                <a:solidFill>
                  <a:srgbClr val="E6EDF3"/>
                </a:solidFill>
                <a:latin typeface="Courier New"/>
              </a:rPr>
              <a:t>None</a:t>
            </a:r>
            <a:r>
              <a:rPr sz="1000" b="0" i="0">
                <a:solidFill>
                  <a:srgbClr val="E6EDF3"/>
                </a:solidFill>
                <a:latin typeface="Courier New"/>
              </a:rPr>
              <a:t>)</a:t>
            </a:r>
          </a:p>
        </p:txBody>
      </p:sp>
      <p:sp>
        <p:nvSpPr>
          <p:cNvPr id="5" name="explanation"/>
          <p:cNvSpPr txBox="1"/>
          <p:nvPr/>
        </p:nvSpPr>
        <p:spPr>
          <a:xfrm>
            <a:off x="5861304" y="786384"/>
            <a:ext cx="2916936" cy="826516"/>
          </a:xfrm>
          <a:prstGeom prst="rect">
            <a:avLst/>
          </a:prstGeom>
          <a:noFill/>
        </p:spPr>
        <p:txBody>
          <a:bodyPr wrap="square" lIns="128016" rIns="128016" tIns="18288" bIns="18288" anchor="ctr">
            <a:spAutoFit/>
          </a:bodyPr>
          <a:lstStyle/>
          <a:p>
            <a:r>
              <a:rPr sz="1100" b="0" i="0">
                <a:solidFill>
                  <a:srgbClr val="1F2933"/>
                </a:solidFill>
                <a:latin typeface="Calibri"/>
              </a:rPr>
              <a:t>The library compares a token's expiry with the clock. Times are in UTC without a time zone, as the library keeps them.</a:t>
            </a:r>
          </a:p>
        </p:txBody>
      </p:sp>
      <p:sp>
        <p:nvSpPr>
          <p:cNvPr id="6" name="code"/>
          <p:cNvSpPr/>
          <p:nvPr/>
        </p:nvSpPr>
        <p:spPr>
          <a:xfrm>
            <a:off x="365760" y="1658620"/>
            <a:ext cx="5513831"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name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h</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'fresh'</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'stale'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'week old'</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CC4FF"/>
                </a:solidFill>
                <a:latin typeface="Courier New"/>
              </a:rPr>
              <a:t>168</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c</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Credentials</a:t>
            </a:r>
            <a:r>
              <a:rPr sz="1000" b="0" i="0">
                <a:solidFill>
                  <a:srgbClr val="E6EDF3"/>
                </a:solidFill>
                <a:latin typeface="Courier New"/>
              </a:rPr>
              <a:t>(</a:t>
            </a:r>
            <a:r>
              <a:rPr sz="1000" b="0" i="0">
                <a:solidFill>
                  <a:srgbClr val="9BE3A8"/>
                </a:solidFill>
                <a:latin typeface="Courier New"/>
              </a:rPr>
              <a:t>'X'</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'X'</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expiry</a:t>
            </a:r>
            <a:r>
              <a:rPr sz="1000" b="0" i="0">
                <a:solidFill>
                  <a:srgbClr val="E6EDF3"/>
                </a:solidFill>
                <a:latin typeface="Courier New"/>
              </a:rPr>
              <a:t>=</a:t>
            </a:r>
            <a:r>
              <a:rPr sz="1000" b="0" i="0">
                <a:solidFill>
                  <a:srgbClr val="E6EDF3"/>
                </a:solidFill>
                <a:latin typeface="Courier New"/>
              </a:rPr>
              <a:t>now</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dt</a:t>
            </a:r>
            <a:r>
              <a:rPr sz="1000" b="0" i="0">
                <a:solidFill>
                  <a:srgbClr val="E6EDF3"/>
                </a:solidFill>
                <a:latin typeface="Courier New"/>
              </a:rPr>
              <a:t>.</a:t>
            </a:r>
            <a:r>
              <a:rPr sz="1000" b="0" i="0">
                <a:solidFill>
                  <a:srgbClr val="E6EDF3"/>
                </a:solidFill>
                <a:latin typeface="Courier New"/>
              </a:rPr>
              <a:t>timedelta</a:t>
            </a:r>
            <a:r>
              <a:rPr sz="1000" b="0" i="0">
                <a:solidFill>
                  <a:srgbClr val="E6EDF3"/>
                </a:solidFill>
                <a:latin typeface="Courier New"/>
              </a:rPr>
              <a:t>(</a:t>
            </a:r>
            <a:r>
              <a:rPr sz="1000" b="0" i="0">
                <a:solidFill>
                  <a:srgbClr val="E6EDF3"/>
                </a:solidFill>
                <a:latin typeface="Courier New"/>
              </a:rPr>
              <a:t>hours</a:t>
            </a:r>
            <a:r>
              <a:rPr sz="1000" b="0" i="0">
                <a:solidFill>
                  <a:srgbClr val="E6EDF3"/>
                </a:solidFill>
                <a:latin typeface="Courier New"/>
              </a:rPr>
              <a:t>=</a:t>
            </a:r>
            <a:r>
              <a:rPr sz="1000" b="0" i="0">
                <a:solidFill>
                  <a:srgbClr val="E6EDF3"/>
                </a:solidFill>
                <a:latin typeface="Courier New"/>
              </a:rPr>
              <a:t>h</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name</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 valid:'</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a:t>
            </a:r>
            <a:r>
              <a:rPr sz="1000" b="0" i="0">
                <a:solidFill>
                  <a:srgbClr val="E6EDF3"/>
                </a:solidFill>
                <a:latin typeface="Courier New"/>
              </a:rPr>
              <a:t>.</a:t>
            </a:r>
            <a:r>
              <a:rPr sz="1000" b="0" i="0">
                <a:solidFill>
                  <a:srgbClr val="E6EDF3"/>
                </a:solidFill>
                <a:latin typeface="Courier New"/>
              </a:rPr>
              <a:t>valid</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 expired:'</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a:t>
            </a:r>
            <a:r>
              <a:rPr sz="1000" b="0" i="0">
                <a:solidFill>
                  <a:srgbClr val="E6EDF3"/>
                </a:solidFill>
                <a:latin typeface="Courier New"/>
              </a:rPr>
              <a:t>.</a:t>
            </a:r>
            <a:r>
              <a:rPr sz="1000" b="0" i="0">
                <a:solidFill>
                  <a:srgbClr val="E6EDF3"/>
                </a:solidFill>
                <a:latin typeface="Courier New"/>
              </a:rPr>
              <a:t>expired</a:t>
            </a:r>
            <a:r>
              <a:rPr sz="1000" b="0" i="0">
                <a:solidFill>
                  <a:srgbClr val="E6EDF3"/>
                </a:solidFill>
                <a:latin typeface="Courier New"/>
              </a:rPr>
              <a:t>)</a:t>
            </a:r>
          </a:p>
        </p:txBody>
      </p:sp>
      <p:sp>
        <p:nvSpPr>
          <p:cNvPr id="7" name="explanation"/>
          <p:cNvSpPr txBox="1"/>
          <p:nvPr/>
        </p:nvSpPr>
        <p:spPr>
          <a:xfrm>
            <a:off x="5861304" y="1658620"/>
            <a:ext cx="2916936" cy="826516"/>
          </a:xfrm>
          <a:prstGeom prst="rect">
            <a:avLst/>
          </a:prstGeom>
          <a:noFill/>
        </p:spPr>
        <p:txBody>
          <a:bodyPr wrap="square" lIns="128016" rIns="128016" tIns="18288" bIns="18288" anchor="ctr">
            <a:spAutoFit/>
          </a:bodyPr>
          <a:lstStyle/>
          <a:p>
            <a:r>
              <a:rPr sz="1100" b="0" i="0">
                <a:solidFill>
                  <a:srgbClr val="1F2933"/>
                </a:solidFill>
                <a:latin typeface="Calibri"/>
              </a:rPr>
              <a:t>An expired token is renewed with the refresh token. In an app in Testing status the refresh token itself dies after seven days.</a:t>
            </a:r>
          </a:p>
        </p:txBody>
      </p:sp>
      <p:sp>
        <p:nvSpPr>
          <p:cNvPr id="8" name="result label"/>
          <p:cNvSpPr txBox="1"/>
          <p:nvPr/>
        </p:nvSpPr>
        <p:spPr>
          <a:xfrm>
            <a:off x="365760" y="25582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832607"/>
          <a:ext cx="6561731" cy="1097280"/>
        </p:xfrm>
        <a:graphic>
          <a:graphicData uri="http://schemas.openxmlformats.org/drawingml/2006/table">
            <a:tbl>
              <a:tblPr firstRow="0" bandRow="0"/>
              <a:tblGrid>
                <a:gridCol w="1124868"/>
                <a:gridCol w="1031129"/>
                <a:gridCol w="749912"/>
                <a:gridCol w="843651"/>
                <a:gridCol w="2812171"/>
              </a:tblGrid>
              <a:tr h="274320">
                <a:tc>
                  <a:txBody>
                    <a:bodyPr wrap="square"/>
                    <a:lstStyle/>
                    <a:p>
                      <a:r>
                        <a:rPr sz="1000" b="1" i="0">
                          <a:solidFill>
                            <a:srgbClr val="FFFFFF"/>
                          </a:solidFill>
                          <a:latin typeface="Calibri"/>
                        </a:rPr>
                        <a:t>Token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Expires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valid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expired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What the library 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alibri"/>
                        </a:rPr>
                        <a:t>fresh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in 1 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alibri"/>
                        </a:rPr>
                        <a:t>sends it as it is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alibri"/>
                        </a:rPr>
                        <a:t>stale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1 h ago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r>
                        <a:rPr sz="100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r>
                        <a:rPr sz="1000" b="0" i="0">
                          <a:solidFill>
                            <a:srgbClr val="1F2933"/>
                          </a:solidFill>
                          <a:latin typeface="Calibri"/>
                        </a:rPr>
                        <a:t>renews it with the refresh token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alibri"/>
                        </a:rPr>
                        <a:t>week old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168 h ago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r>
                        <a:rPr sz="100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r>
                        <a:rPr sz="1000" b="0" i="0">
                          <a:solidFill>
                            <a:srgbClr val="1F2933"/>
                          </a:solidFill>
                          <a:latin typeface="Calibri"/>
                        </a:rPr>
                        <a:t>renews it with the refresh token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visual note"/>
          <p:cNvSpPr txBox="1"/>
          <p:nvPr/>
        </p:nvSpPr>
        <p:spPr>
          <a:xfrm>
            <a:off x="365760" y="4021328"/>
            <a:ext cx="8412480" cy="219456"/>
          </a:xfrm>
          <a:prstGeom prst="rect">
            <a:avLst/>
          </a:prstGeom>
          <a:noFill/>
        </p:spPr>
        <p:txBody>
          <a:bodyPr wrap="square" lIns="45720" rIns="45720" tIns="27432" bIns="27432" anchor="t">
            <a:spAutoFit/>
          </a:bodyPr>
          <a:lstStyle/>
          <a:p>
            <a:r>
              <a:rPr sz="950" b="0" i="1">
                <a:solidFill>
                  <a:srgbClr val="5B6773"/>
                </a:solidFill>
                <a:latin typeface="Calibri"/>
              </a:rPr>
              <a:t>Testing status of the app: the refresh token itself dies after seven days (Google's identity page, finding F7)</a:t>
            </a:r>
          </a:p>
        </p:txBody>
      </p:sp>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token has a lifetime; the refresh token renews it.</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14 / 53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2: Spreadsheet objects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Each call here is one request to Google</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Spreadsheet</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One spreadsheet, held by its id.</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Attributes</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Only the title can be rewritten.</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downloadAs</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Asks Google to export the spreadsheet as a file.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Trash</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Where delete() sends a spreadsheet first.</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35560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55600">
                <a:tc>
                  <a:txBody>
                    <a:bodyPr wrap="square"/>
                    <a:lstStyle/>
                    <a:p>
                      <a:r>
                        <a:rPr sz="105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spreadsheet objects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Create a spreadsheet, list the spreadshee...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Open a spreadsheet: id, address and getId...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Spreadsheet attributes: title, sheetTitle...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Story: Google Sheets began as a small web...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Everyday pictures: downloading and deleting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Upload a file, download a spreadsheet in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Delete moves a spreadsheet to the Trash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15 / 53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spreadsheet objects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spreadsheet is like a ring binder in a cloud cupboard: you hold a label, and every look inside is a trip to the cupboard.</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566160"/>
                <a:gridCol w="4846320"/>
              </a:tblGrid>
              <a:tr h="34544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100" b="1" i="0">
                          <a:solidFill>
                            <a:srgbClr val="1F2933"/>
                          </a:solidFill>
                          <a:latin typeface="Calibri"/>
                        </a:rPr>
                        <a:t>Spreadsheet Objects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label on the binder, held in your hand.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Spreadsheet object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One binder: it knows its title, its pages and its address.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ezsheets.Spreadsheet()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Asking the cupboard for a binder, or for a new 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Creating, Uploading, and Listing Spreadsheets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Buying a binder, posting a paper file into one, and reading the shelf 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ezsheets.upload()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Posting a paper file; the cupboard turns it into a binder.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ezsheets.listSpreadsheets()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Reading the shelf list: id and title, nothing more.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Accessing Spreadsheet Attributes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Reading the label of a binder; only the title can be rewritten.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Spreadsheet.refresh()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Going back to the cupboard to see what changed since you looked.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16 / 53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Create a spreadsheet, list the spreadsheets of the account</a:t>
            </a:r>
          </a:p>
        </p:txBody>
      </p:sp>
      <p:sp>
        <p:nvSpPr>
          <p:cNvPr id="4" name="code"/>
          <p:cNvSpPr/>
          <p:nvPr/>
        </p:nvSpPr>
        <p:spPr>
          <a:xfrm>
            <a:off x="365760" y="786384"/>
            <a:ext cx="5407151" cy="114426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import</a:t>
            </a:r>
            <a:r>
              <a:rPr sz="1300" b="0" i="0">
                <a:solidFill>
                  <a:srgbClr val="E6EDF3"/>
                </a:solidFill>
                <a:latin typeface="Courier New"/>
              </a:rPr>
              <a:t> </a:t>
            </a:r>
            <a:r>
              <a:rPr sz="1300" b="0" i="0">
                <a:solidFill>
                  <a:srgbClr val="E6EDF3"/>
                </a:solidFill>
                <a:latin typeface="Courier New"/>
              </a:rPr>
              <a:t>ezsheets</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google_standin</a:t>
            </a:r>
          </a:p>
          <a:p>
            <a:pPr algn="l"/>
            <a:r>
              <a:rPr sz="1300" b="0" i="0">
                <a:solidFill>
                  <a:srgbClr val="8FA3B8"/>
                </a:solidFill>
                <a:latin typeface="Courier New"/>
              </a:rPr>
              <a:t>&gt;&gt;&gt; </a:t>
            </a:r>
            <a:r>
              <a:rPr sz="1300" b="0" i="0">
                <a:solidFill>
                  <a:srgbClr val="E6EDF3"/>
                </a:solidFill>
                <a:latin typeface="Courier New"/>
              </a:rPr>
              <a:t>g</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google_standin</a:t>
            </a:r>
            <a:r>
              <a:rPr sz="1300" b="0" i="0">
                <a:solidFill>
                  <a:srgbClr val="E6EDF3"/>
                </a:solidFill>
                <a:latin typeface="Courier New"/>
              </a:rPr>
              <a:t>.</a:t>
            </a:r>
            <a:r>
              <a:rPr sz="1300" b="0" i="0">
                <a:solidFill>
                  <a:srgbClr val="E6EDF3"/>
                </a:solidFill>
                <a:latin typeface="Courier New"/>
              </a:rPr>
              <a:t>install</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ss</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ezsheets</a:t>
            </a:r>
            <a:r>
              <a:rPr sz="1300" b="0" i="0">
                <a:solidFill>
                  <a:srgbClr val="E6EDF3"/>
                </a:solidFill>
                <a:latin typeface="Courier New"/>
              </a:rPr>
              <a:t>.</a:t>
            </a:r>
            <a:r>
              <a:rPr sz="1300" b="0" i="0">
                <a:solidFill>
                  <a:srgbClr val="E6EDF3"/>
                </a:solidFill>
                <a:latin typeface="Courier New"/>
              </a:rPr>
              <a:t>Spreadsheet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other</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ezsheets</a:t>
            </a:r>
            <a:r>
              <a:rPr sz="1300" b="0" i="0">
                <a:solidFill>
                  <a:srgbClr val="E6EDF3"/>
                </a:solidFill>
                <a:latin typeface="Courier New"/>
              </a:rPr>
              <a:t>.</a:t>
            </a:r>
            <a:r>
              <a:rPr sz="1300" b="0" i="0">
                <a:solidFill>
                  <a:srgbClr val="E6EDF3"/>
                </a:solidFill>
                <a:latin typeface="Courier New"/>
              </a:rPr>
              <a:t>createSpreadsheet</a:t>
            </a:r>
            <a:r>
              <a:rPr sz="1300" b="0" i="0">
                <a:solidFill>
                  <a:srgbClr val="E6EDF3"/>
                </a:solidFill>
                <a:latin typeface="Courier New"/>
              </a:rPr>
              <a:t>(</a:t>
            </a:r>
            <a:r>
              <a:rPr sz="1300" b="0" i="0">
                <a:solidFill>
                  <a:srgbClr val="9BE3A8"/>
                </a:solidFill>
                <a:latin typeface="Courier New"/>
              </a:rPr>
              <a:t>'Boringcoin'</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ss</a:t>
            </a:r>
            <a:r>
              <a:rPr sz="1300" b="0" i="0">
                <a:solidFill>
                  <a:srgbClr val="E6EDF3"/>
                </a:solidFill>
                <a:latin typeface="Courier New"/>
              </a:rPr>
              <a:t>.</a:t>
            </a:r>
            <a:r>
              <a:rPr sz="1300" b="0" i="0">
                <a:solidFill>
                  <a:srgbClr val="E6EDF3"/>
                </a:solidFill>
                <a:latin typeface="Courier New"/>
              </a:rPr>
              <a:t>title</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other</a:t>
            </a:r>
            <a:r>
              <a:rPr sz="1300" b="0" i="0">
                <a:solidFill>
                  <a:srgbClr val="E6EDF3"/>
                </a:solidFill>
                <a:latin typeface="Courier New"/>
              </a:rPr>
              <a:t>.</a:t>
            </a:r>
            <a:r>
              <a:rPr sz="1300" b="0" i="0">
                <a:solidFill>
                  <a:srgbClr val="E6EDF3"/>
                </a:solidFill>
                <a:latin typeface="Courier New"/>
              </a:rPr>
              <a:t>title</a:t>
            </a:r>
            <a:r>
              <a:rPr sz="1300" b="0" i="0">
                <a:solidFill>
                  <a:srgbClr val="E6EDF3"/>
                </a:solidFill>
                <a:latin typeface="Courier New"/>
              </a:rPr>
              <a:t>)</a:t>
            </a:r>
          </a:p>
        </p:txBody>
      </p:sp>
      <p:sp>
        <p:nvSpPr>
          <p:cNvPr id="5" name="explanation"/>
          <p:cNvSpPr txBox="1"/>
          <p:nvPr/>
        </p:nvSpPr>
        <p:spPr>
          <a:xfrm>
            <a:off x="5754624" y="786384"/>
            <a:ext cx="3023616" cy="1144269"/>
          </a:xfrm>
          <a:prstGeom prst="rect">
            <a:avLst/>
          </a:prstGeom>
          <a:noFill/>
        </p:spPr>
        <p:txBody>
          <a:bodyPr wrap="square" lIns="128016" rIns="128016" tIns="18288" bIns="18288" anchor="ctr">
            <a:spAutoFit/>
          </a:bodyPr>
          <a:lstStyle/>
          <a:p>
            <a:r>
              <a:rPr sz="1250" b="0" i="0">
                <a:solidFill>
                  <a:srgbClr val="1F2933"/>
                </a:solidFill>
                <a:latin typeface="Calibri"/>
              </a:rPr>
              <a:t>install() plugs the stand-in for Google into ezsheets. Spreadsheet() makes a spreadsheet; createSpreadsheet gives it a title.</a:t>
            </a:r>
          </a:p>
        </p:txBody>
      </p:sp>
      <p:sp>
        <p:nvSpPr>
          <p:cNvPr id="6" name="code"/>
          <p:cNvSpPr/>
          <p:nvPr/>
        </p:nvSpPr>
        <p:spPr>
          <a:xfrm>
            <a:off x="365760" y="1976374"/>
            <a:ext cx="540715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ezsheets</a:t>
            </a:r>
            <a:r>
              <a:rPr sz="1300" b="0" i="0">
                <a:solidFill>
                  <a:srgbClr val="E6EDF3"/>
                </a:solidFill>
                <a:latin typeface="Courier New"/>
              </a:rPr>
              <a:t>.</a:t>
            </a:r>
            <a:r>
              <a:rPr sz="1300" b="0" i="0">
                <a:solidFill>
                  <a:srgbClr val="E6EDF3"/>
                </a:solidFill>
                <a:latin typeface="Courier New"/>
              </a:rPr>
              <a:t>listSpreadsheets</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len</a:t>
            </a:r>
            <a:r>
              <a:rPr sz="1300" b="0" i="0">
                <a:solidFill>
                  <a:srgbClr val="E6EDF3"/>
                </a:solidFill>
                <a:latin typeface="Courier New"/>
              </a:rPr>
              <a:t>(</a:t>
            </a:r>
            <a:r>
              <a:rPr sz="1300" b="0" i="0">
                <a:solidFill>
                  <a:srgbClr val="E6EDF3"/>
                </a:solidFill>
                <a:latin typeface="Courier New"/>
              </a:rPr>
              <a:t>g</a:t>
            </a:r>
            <a:r>
              <a:rPr sz="1300" b="0" i="0">
                <a:solidFill>
                  <a:srgbClr val="E6EDF3"/>
                </a:solidFill>
                <a:latin typeface="Courier New"/>
              </a:rPr>
              <a:t>.</a:t>
            </a:r>
            <a:r>
              <a:rPr sz="1300" b="0" i="0">
                <a:solidFill>
                  <a:srgbClr val="E6EDF3"/>
                </a:solidFill>
                <a:latin typeface="Courier New"/>
              </a:rPr>
              <a:t>log</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'requests so far'</a:t>
            </a:r>
            <a:r>
              <a:rPr sz="1300" b="0" i="0">
                <a:solidFill>
                  <a:srgbClr val="E6EDF3"/>
                </a:solidFill>
                <a:latin typeface="Courier New"/>
              </a:rPr>
              <a:t>)</a:t>
            </a:r>
          </a:p>
        </p:txBody>
      </p:sp>
      <p:sp>
        <p:nvSpPr>
          <p:cNvPr id="7" name="explanation"/>
          <p:cNvSpPr txBox="1"/>
          <p:nvPr/>
        </p:nvSpPr>
        <p:spPr>
          <a:xfrm>
            <a:off x="5754624" y="1976374"/>
            <a:ext cx="3023616" cy="723328"/>
          </a:xfrm>
          <a:prstGeom prst="rect">
            <a:avLst/>
          </a:prstGeom>
          <a:noFill/>
        </p:spPr>
        <p:txBody>
          <a:bodyPr wrap="square" lIns="128016" rIns="128016" tIns="18288" bIns="18288" anchor="ctr">
            <a:spAutoFit/>
          </a:bodyPr>
          <a:lstStyle/>
          <a:p>
            <a:r>
              <a:rPr sz="1250" b="0" i="0">
                <a:solidFill>
                  <a:srgbClr val="1F2933"/>
                </a:solidFill>
                <a:latin typeface="Calibri"/>
              </a:rPr>
              <a:t>listSpreadsheets returns a dictionary from id to title. The recorder counts the requests.</a:t>
            </a:r>
          </a:p>
        </p:txBody>
      </p:sp>
      <p:sp>
        <p:nvSpPr>
          <p:cNvPr id="8" name="result label"/>
          <p:cNvSpPr txBox="1"/>
          <p:nvPr/>
        </p:nvSpPr>
        <p:spPr>
          <a:xfrm>
            <a:off x="365760" y="277285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047174"/>
          <a:ext cx="3364991" cy="822960"/>
        </p:xfrm>
        <a:graphic>
          <a:graphicData uri="http://schemas.openxmlformats.org/drawingml/2006/table">
            <a:tbl>
              <a:tblPr firstRow="0" bandRow="0"/>
              <a:tblGrid>
                <a:gridCol w="1261871"/>
                <a:gridCol w="2103120"/>
              </a:tblGrid>
              <a:tr h="274320">
                <a:tc>
                  <a:txBody>
                    <a:bodyPr wrap="square"/>
                    <a:lstStyle/>
                    <a:p>
                      <a:r>
                        <a:rPr sz="1000" b="1" i="0">
                          <a:solidFill>
                            <a:srgbClr val="FFFFFF"/>
                          </a:solidFill>
                          <a:latin typeface="Calibri"/>
                        </a:rPr>
                        <a:t>Spreadsheet 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Title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ID001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Untitled spreadsheet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ID002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Boringcoin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0" name="table"/>
          <p:cNvGraphicFramePr>
            <a:graphicFrameLocks noGrp="1"/>
          </p:cNvGraphicFramePr>
          <p:nvPr/>
        </p:nvGraphicFramePr>
        <p:xfrm>
          <a:off x="4151376" y="3047174"/>
          <a:ext cx="4626863" cy="1371600"/>
        </p:xfrm>
        <a:graphic>
          <a:graphicData uri="http://schemas.openxmlformats.org/drawingml/2006/table">
            <a:tbl>
              <a:tblPr firstRow="0" bandRow="0"/>
              <a:tblGrid>
                <a:gridCol w="3836911"/>
                <a:gridCol w="789952"/>
              </a:tblGrid>
              <a:tr h="274320">
                <a:tc>
                  <a:txBody>
                    <a:bodyPr wrap="square"/>
                    <a:lstStyle/>
                    <a:p>
                      <a:r>
                        <a:rPr sz="950" b="1" i="0">
                          <a:solidFill>
                            <a:srgbClr val="FFFFFF"/>
                          </a:solidFill>
                          <a:latin typeface="Calibri"/>
                        </a:rPr>
                        <a:t>Requests the library sent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950" b="1" i="0">
                          <a:solidFill>
                            <a:srgbClr val="FFFFFF"/>
                          </a:solidFill>
                          <a:latin typeface="Calibri"/>
                        </a:rPr>
                        <a:t>Times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50" b="0" i="0">
                          <a:solidFill>
                            <a:srgbClr val="1F2933"/>
                          </a:solidFill>
                          <a:latin typeface="Calibri"/>
                        </a:rPr>
                        <a:t>POST create spreadsheet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5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alibri"/>
                        </a:rPr>
                        <a:t>GET  spreadsheet properties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95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50" b="0" i="0">
                          <a:solidFill>
                            <a:srgbClr val="1F2933"/>
                          </a:solidFill>
                          <a:latin typeface="Calibri"/>
                        </a:rPr>
                        <a:t>GET  cell values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5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alibri"/>
                        </a:rPr>
                        <a:t>GET  drive files (list or export)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95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1" name="visual note"/>
          <p:cNvSpPr txBox="1"/>
          <p:nvPr/>
        </p:nvSpPr>
        <p:spPr>
          <a:xfrm>
            <a:off x="365760" y="4007294"/>
            <a:ext cx="3364991" cy="219456"/>
          </a:xfrm>
          <a:prstGeom prst="rect">
            <a:avLst/>
          </a:prstGeom>
          <a:noFill/>
        </p:spPr>
        <p:txBody>
          <a:bodyPr wrap="square" lIns="45720" rIns="45720" tIns="27432" bIns="27432" anchor="t">
            <a:spAutoFit/>
          </a:bodyPr>
          <a:lstStyle/>
          <a:p>
            <a:r>
              <a:rPr sz="900" b="0" i="1">
                <a:solidFill>
                  <a:srgbClr val="5B6773"/>
                </a:solidFill>
                <a:latin typeface="Calibri"/>
              </a:rPr>
              <a:t>list of the stand-in account</a:t>
            </a:r>
          </a:p>
        </p:txBody>
      </p:sp>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Every call is a request to Google.</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17 / 53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Open a spreadsheet: id, address and getIdFromUrl</a:t>
            </a:r>
          </a:p>
        </p:txBody>
      </p:sp>
      <p:sp>
        <p:nvSpPr>
          <p:cNvPr id="4" name="code"/>
          <p:cNvSpPr/>
          <p:nvPr/>
        </p:nvSpPr>
        <p:spPr>
          <a:xfrm>
            <a:off x="365760" y="786384"/>
            <a:ext cx="8412480" cy="72593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ezsheets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google_standin</a:t>
            </a:r>
          </a:p>
          <a:p>
            <a:pPr algn="l"/>
            <a:r>
              <a:rPr sz="950" b="0" i="0">
                <a:solidFill>
                  <a:srgbClr val="8FA3B8"/>
                </a:solidFill>
                <a:latin typeface="Courier New"/>
              </a:rPr>
              <a:t>&gt;&gt;&gt; </a:t>
            </a:r>
            <a:r>
              <a:rPr sz="950" b="0" i="0">
                <a:solidFill>
                  <a:srgbClr val="E6EDF3"/>
                </a:solidFill>
                <a:latin typeface="Courier New"/>
              </a:rPr>
              <a:t>g</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google_standin</a:t>
            </a:r>
            <a:r>
              <a:rPr sz="950" b="0" i="0">
                <a:solidFill>
                  <a:srgbClr val="E6EDF3"/>
                </a:solidFill>
                <a:latin typeface="Courier New"/>
              </a:rPr>
              <a:t>.</a:t>
            </a:r>
            <a:r>
              <a:rPr sz="950" b="0" i="0">
                <a:solidFill>
                  <a:srgbClr val="E6EDF3"/>
                </a:solidFill>
                <a:latin typeface="Courier New"/>
              </a:rPr>
              <a:t>install</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ss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ezsheets</a:t>
            </a:r>
            <a:r>
              <a:rPr sz="950" b="0" i="0">
                <a:solidFill>
                  <a:srgbClr val="E6EDF3"/>
                </a:solidFill>
                <a:latin typeface="Courier New"/>
              </a:rPr>
              <a:t>.</a:t>
            </a:r>
            <a:r>
              <a:rPr sz="950" b="0" i="0">
                <a:solidFill>
                  <a:srgbClr val="E6EDF3"/>
                </a:solidFill>
                <a:latin typeface="Courier New"/>
              </a:rPr>
              <a:t>Spreadsheet</a:t>
            </a:r>
            <a:r>
              <a:rPr sz="950" b="0" i="0">
                <a:solidFill>
                  <a:srgbClr val="E6EDF3"/>
                </a:solidFill>
                <a:latin typeface="Courier New"/>
              </a:rPr>
              <a:t>(</a:t>
            </a:r>
            <a:r>
              <a:rPr sz="950" b="0" i="0">
                <a:solidFill>
                  <a:srgbClr val="E6EDF3"/>
                </a:solidFill>
                <a:latin typeface="Courier New"/>
              </a:rPr>
              <a:t>g</a:t>
            </a:r>
            <a:r>
              <a:rPr sz="950" b="0" i="0">
                <a:solidFill>
                  <a:srgbClr val="E6EDF3"/>
                </a:solidFill>
                <a:latin typeface="Courier New"/>
              </a:rPr>
              <a:t>.</a:t>
            </a:r>
            <a:r>
              <a:rPr sz="950" b="0" i="0">
                <a:solidFill>
                  <a:srgbClr val="E6EDF3"/>
                </a:solidFill>
                <a:latin typeface="Courier New"/>
              </a:rPr>
              <a:t>load</a:t>
            </a:r>
            <a:r>
              <a:rPr sz="950" b="0" i="0">
                <a:solidFill>
                  <a:srgbClr val="E6EDF3"/>
                </a:solidFill>
                <a:latin typeface="Courier New"/>
              </a:rPr>
              <a:t>(</a:t>
            </a:r>
            <a:r>
              <a:rPr sz="950" b="0" i="0">
                <a:solidFill>
                  <a:srgbClr val="9BE3A8"/>
                </a:solidFill>
                <a:latin typeface="Courier New"/>
              </a:rPr>
              <a:t>'SHEET123'</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'Boringcoin'</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9BE3A8"/>
                </a:solidFill>
                <a:latin typeface="Courier New"/>
              </a:rPr>
              <a:t>'A'</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url</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'https://docs.google.com/spreadsheets/d/SHEET123/edit#gid=0'</a:t>
            </a:r>
          </a:p>
        </p:txBody>
      </p:sp>
      <p:sp>
        <p:nvSpPr>
          <p:cNvPr id="5" name="explanation"/>
          <p:cNvSpPr txBox="1"/>
          <p:nvPr/>
        </p:nvSpPr>
        <p:spPr>
          <a:xfrm>
            <a:off x="365760" y="1521460"/>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A stand-in for the public Boringcoin sheet is loaded under a made-up id.</a:t>
            </a:r>
          </a:p>
        </p:txBody>
      </p:sp>
      <p:sp>
        <p:nvSpPr>
          <p:cNvPr id="6" name="code"/>
          <p:cNvSpPr/>
          <p:nvPr/>
        </p:nvSpPr>
        <p:spPr>
          <a:xfrm>
            <a:off x="365760" y="1860677"/>
            <a:ext cx="8412480" cy="72593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ezsheets</a:t>
            </a:r>
            <a:r>
              <a:rPr sz="950" b="0" i="0">
                <a:solidFill>
                  <a:srgbClr val="E6EDF3"/>
                </a:solidFill>
                <a:latin typeface="Courier New"/>
              </a:rPr>
              <a:t>.</a:t>
            </a:r>
            <a:r>
              <a:rPr sz="950" b="0" i="0">
                <a:solidFill>
                  <a:srgbClr val="E6EDF3"/>
                </a:solidFill>
                <a:latin typeface="Courier New"/>
              </a:rPr>
              <a:t>Spreadsheet</a:t>
            </a:r>
            <a:r>
              <a:rPr sz="950" b="0" i="0">
                <a:solidFill>
                  <a:srgbClr val="E6EDF3"/>
                </a:solidFill>
                <a:latin typeface="Courier New"/>
              </a:rPr>
              <a:t>(</a:t>
            </a:r>
            <a:r>
              <a:rPr sz="950" b="0" i="0">
                <a:solidFill>
                  <a:srgbClr val="9BE3A8"/>
                </a:solidFill>
                <a:latin typeface="Courier New"/>
              </a:rPr>
              <a:t>'SHEET123'</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title</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ezsheets</a:t>
            </a:r>
            <a:r>
              <a:rPr sz="950" b="0" i="0">
                <a:solidFill>
                  <a:srgbClr val="E6EDF3"/>
                </a:solidFill>
                <a:latin typeface="Courier New"/>
              </a:rPr>
              <a:t>.</a:t>
            </a:r>
            <a:r>
              <a:rPr sz="950" b="0" i="0">
                <a:solidFill>
                  <a:srgbClr val="E6EDF3"/>
                </a:solidFill>
                <a:latin typeface="Courier New"/>
              </a:rPr>
              <a:t>Spreadsheet</a:t>
            </a:r>
            <a:r>
              <a:rPr sz="950" b="0" i="0">
                <a:solidFill>
                  <a:srgbClr val="E6EDF3"/>
                </a:solidFill>
                <a:latin typeface="Courier New"/>
              </a:rPr>
              <a:t>(</a:t>
            </a:r>
            <a:r>
              <a:rPr sz="950" b="0" i="0">
                <a:solidFill>
                  <a:srgbClr val="E6EDF3"/>
                </a:solidFill>
                <a:latin typeface="Courier New"/>
              </a:rPr>
              <a:t>url</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title</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ezsheets</a:t>
            </a:r>
            <a:r>
              <a:rPr sz="950" b="0" i="0">
                <a:solidFill>
                  <a:srgbClr val="E6EDF3"/>
                </a:solidFill>
                <a:latin typeface="Courier New"/>
              </a:rPr>
              <a:t>.</a:t>
            </a:r>
            <a:r>
              <a:rPr sz="950" b="0" i="0">
                <a:solidFill>
                  <a:srgbClr val="E6EDF3"/>
                </a:solidFill>
                <a:latin typeface="Courier New"/>
              </a:rPr>
              <a:t>getIdFromUrl</a:t>
            </a:r>
            <a:r>
              <a:rPr sz="950" b="0" i="0">
                <a:solidFill>
                  <a:srgbClr val="E6EDF3"/>
                </a:solidFill>
                <a:latin typeface="Courier New"/>
              </a:rPr>
              <a:t>(</a:t>
            </a:r>
            <a:r>
              <a:rPr sz="950" b="0" i="0">
                <a:solidFill>
                  <a:srgbClr val="E6EDF3"/>
                </a:solidFill>
                <a:latin typeface="Courier New"/>
              </a:rPr>
              <a:t>url</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ezsheets</a:t>
            </a:r>
            <a:r>
              <a:rPr sz="950" b="0" i="0">
                <a:solidFill>
                  <a:srgbClr val="E6EDF3"/>
                </a:solidFill>
                <a:latin typeface="Courier New"/>
              </a:rPr>
              <a:t>.</a:t>
            </a:r>
            <a:r>
              <a:rPr sz="950" b="0" i="0">
                <a:solidFill>
                  <a:srgbClr val="E6EDF3"/>
                </a:solidFill>
                <a:latin typeface="Courier New"/>
              </a:rPr>
              <a:t>getIdFromUrl</a:t>
            </a:r>
            <a:r>
              <a:rPr sz="950" b="0" i="0">
                <a:solidFill>
                  <a:srgbClr val="E6EDF3"/>
                </a:solidFill>
                <a:latin typeface="Courier New"/>
              </a:rPr>
              <a:t>(</a:t>
            </a:r>
            <a:r>
              <a:rPr sz="950" b="0" i="0">
                <a:solidFill>
                  <a:srgbClr val="9BE3A8"/>
                </a:solidFill>
                <a:latin typeface="Courier New"/>
              </a:rPr>
              <a:t>'https://docs.google.com/spreadsheets/d/SHEET123'</a:t>
            </a:r>
            <a:r>
              <a:rPr sz="950" b="0" i="0">
                <a:solidFill>
                  <a:srgbClr val="E6EDF3"/>
                </a:solidFill>
                <a:latin typeface="Courier New"/>
              </a:rPr>
              <a:t>)</a:t>
            </a:r>
            <a:r>
              <a:rPr sz="950" b="0" i="0">
                <a:solidFill>
                  <a:srgbClr val="E6EDF3"/>
                </a:solidFill>
                <a:latin typeface="Courier New"/>
              </a:rPr>
              <a:t>)</a:t>
            </a:r>
          </a:p>
        </p:txBody>
      </p:sp>
      <p:sp>
        <p:nvSpPr>
          <p:cNvPr id="7" name="explanation"/>
          <p:cNvSpPr txBox="1"/>
          <p:nvPr/>
        </p:nvSpPr>
        <p:spPr>
          <a:xfrm>
            <a:off x="365760" y="2595753"/>
            <a:ext cx="8412480" cy="477266"/>
          </a:xfrm>
          <a:prstGeom prst="rect">
            <a:avLst/>
          </a:prstGeom>
          <a:noFill/>
        </p:spPr>
        <p:txBody>
          <a:bodyPr wrap="square" lIns="109728" rIns="109728" tIns="18288" bIns="18288" anchor="ctr">
            <a:spAutoFit/>
          </a:bodyPr>
          <a:lstStyle/>
          <a:p>
            <a:r>
              <a:rPr sz="1100" b="0" i="0">
                <a:solidFill>
                  <a:srgbClr val="1F2933"/>
                </a:solidFill>
                <a:latin typeface="Calibri"/>
              </a:rPr>
              <a:t>An id or an address opens the same spreadsheet. getIdFromUrl cuts by position, so an address ending after the id loses a character.</a:t>
            </a:r>
          </a:p>
        </p:txBody>
      </p:sp>
      <p:sp>
        <p:nvSpPr>
          <p:cNvPr id="8" name="result label"/>
          <p:cNvSpPr txBox="1"/>
          <p:nvPr/>
        </p:nvSpPr>
        <p:spPr>
          <a:xfrm>
            <a:off x="365760" y="3137027"/>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411346"/>
          <a:ext cx="5215737" cy="1371600"/>
        </p:xfrm>
        <a:graphic>
          <a:graphicData uri="http://schemas.openxmlformats.org/drawingml/2006/table">
            <a:tbl>
              <a:tblPr firstRow="0" bandRow="0"/>
              <a:tblGrid>
                <a:gridCol w="2794145"/>
                <a:gridCol w="2421592"/>
              </a:tblGrid>
              <a:tr h="274320">
                <a:tc>
                  <a:txBody>
                    <a:bodyPr wrap="square"/>
                    <a:lstStyle/>
                    <a:p>
                      <a:r>
                        <a:rPr sz="9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50" b="0" i="0">
                          <a:solidFill>
                            <a:srgbClr val="1F2933"/>
                          </a:solidFill>
                          <a:latin typeface="Courier New"/>
                        </a:rPr>
                        <a:t>Spreadsheet('SHEET123')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Boringcoin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Spreadsheet(url) with .../edit#gid=0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Boringcoin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50" b="0" i="0">
                          <a:solidFill>
                            <a:srgbClr val="1F2933"/>
                          </a:solidFill>
                          <a:latin typeface="Courier New"/>
                        </a:rPr>
                        <a:t>getIdFromUrl(url)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SHEET123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getIdFromUrl('.../d/SHEET123')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r>
                        <a:rPr sz="950" b="0" i="0">
                          <a:solidFill>
                            <a:srgbClr val="1F2933"/>
                          </a:solidFill>
                          <a:latin typeface="Courier New"/>
                        </a:rPr>
                        <a:t>SHEET12   (last character lost)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bl>
          </a:graphicData>
        </a:graphic>
      </p:graphicFrame>
      <p:sp>
        <p:nvSpPr>
          <p:cNvPr id="10" name="Rounded Rectangle 9"/>
          <p:cNvSpPr/>
          <p:nvPr/>
        </p:nvSpPr>
        <p:spPr>
          <a:xfrm>
            <a:off x="6002121" y="3411346"/>
            <a:ext cx="2776118" cy="329184"/>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id or address</a:t>
            </a:r>
          </a:p>
        </p:txBody>
      </p:sp>
      <p:cxnSp>
        <p:nvCxnSpPr>
          <p:cNvPr id="11" name="arrow"/>
          <p:cNvCxnSpPr/>
          <p:nvPr/>
        </p:nvCxnSpPr>
        <p:spPr>
          <a:xfrm>
            <a:off x="7390180" y="3758819"/>
            <a:ext cx="0" cy="164591"/>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002121" y="3941698"/>
            <a:ext cx="2776118" cy="329184"/>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ezsheets.Spreadsheet</a:t>
            </a:r>
          </a:p>
        </p:txBody>
      </p:sp>
      <p:cxnSp>
        <p:nvCxnSpPr>
          <p:cNvPr id="13" name="arrow"/>
          <p:cNvCxnSpPr/>
          <p:nvPr/>
        </p:nvCxnSpPr>
        <p:spPr>
          <a:xfrm>
            <a:off x="7390180" y="4289171"/>
            <a:ext cx="0" cy="164592"/>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002121" y="4472050"/>
            <a:ext cx="2776118" cy="310896"/>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the same sheet: Boringcoin</a:t>
            </a:r>
          </a:p>
        </p:txBody>
      </p:sp>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An id or an address opens the same spreadsheet.</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18 / 53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Spreadsheet attributes: title, sheetTitles, id and url</a:t>
            </a:r>
          </a:p>
        </p:txBody>
      </p:sp>
      <p:sp>
        <p:nvSpPr>
          <p:cNvPr id="4" name="code"/>
          <p:cNvSpPr/>
          <p:nvPr/>
        </p:nvSpPr>
        <p:spPr>
          <a:xfrm>
            <a:off x="365760" y="786384"/>
            <a:ext cx="5376672" cy="106679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import</a:t>
            </a:r>
            <a:r>
              <a:rPr sz="1200" b="0" i="0">
                <a:solidFill>
                  <a:srgbClr val="E6EDF3"/>
                </a:solidFill>
                <a:latin typeface="Courier New"/>
              </a:rPr>
              <a:t> </a:t>
            </a:r>
            <a:r>
              <a:rPr sz="1200" b="0" i="0">
                <a:solidFill>
                  <a:srgbClr val="E6EDF3"/>
                </a:solidFill>
                <a:latin typeface="Courier New"/>
              </a:rPr>
              <a:t>ezsheets</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google_standin</a:t>
            </a:r>
          </a:p>
          <a:p>
            <a:pPr algn="l"/>
            <a:r>
              <a:rPr sz="1200" b="0" i="0">
                <a:solidFill>
                  <a:srgbClr val="8FA3B8"/>
                </a:solidFill>
                <a:latin typeface="Courier New"/>
              </a:rPr>
              <a:t>&gt;&gt;&gt; </a:t>
            </a:r>
            <a:r>
              <a:rPr sz="1200" b="0" i="0">
                <a:solidFill>
                  <a:srgbClr val="E6EDF3"/>
                </a:solidFill>
                <a:latin typeface="Courier New"/>
              </a:rPr>
              <a:t>g</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google_standin</a:t>
            </a:r>
            <a:r>
              <a:rPr sz="1200" b="0" i="0">
                <a:solidFill>
                  <a:srgbClr val="E6EDF3"/>
                </a:solidFill>
                <a:latin typeface="Courier New"/>
              </a:rPr>
              <a:t>.</a:t>
            </a:r>
            <a:r>
              <a:rPr sz="1200" b="0" i="0">
                <a:solidFill>
                  <a:srgbClr val="E6EDF3"/>
                </a:solidFill>
                <a:latin typeface="Courier New"/>
              </a:rPr>
              <a:t>install</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ss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ezsheets</a:t>
            </a:r>
            <a:r>
              <a:rPr sz="1200" b="0" i="0">
                <a:solidFill>
                  <a:srgbClr val="E6EDF3"/>
                </a:solidFill>
                <a:latin typeface="Courier New"/>
              </a:rPr>
              <a:t>.</a:t>
            </a:r>
            <a:r>
              <a:rPr sz="1200" b="0" i="0">
                <a:solidFill>
                  <a:srgbClr val="E6EDF3"/>
                </a:solidFill>
                <a:latin typeface="Courier New"/>
              </a:rPr>
              <a:t>Spreadsheet</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ss</a:t>
            </a:r>
            <a:r>
              <a:rPr sz="1200" b="0" i="0">
                <a:solidFill>
                  <a:srgbClr val="E6EDF3"/>
                </a:solidFill>
                <a:latin typeface="Courier New"/>
              </a:rPr>
              <a:t>.</a:t>
            </a:r>
            <a:r>
              <a:rPr sz="1200" b="0" i="0">
                <a:solidFill>
                  <a:srgbClr val="E6EDF3"/>
                </a:solidFill>
                <a:latin typeface="Courier New"/>
              </a:rPr>
              <a:t>title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'Sweigart Books'</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ss</a:t>
            </a:r>
            <a:r>
              <a:rPr sz="1200" b="0" i="0">
                <a:solidFill>
                  <a:srgbClr val="E6EDF3"/>
                </a:solidFill>
                <a:latin typeface="Courier New"/>
              </a:rPr>
              <a:t>.</a:t>
            </a:r>
            <a:r>
              <a:rPr sz="1200" b="0" i="0">
                <a:solidFill>
                  <a:srgbClr val="E6EDF3"/>
                </a:solidFill>
                <a:latin typeface="Courier New"/>
              </a:rPr>
              <a:t>title</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ss</a:t>
            </a:r>
            <a:r>
              <a:rPr sz="1200" b="0" i="0">
                <a:solidFill>
                  <a:srgbClr val="E6EDF3"/>
                </a:solidFill>
                <a:latin typeface="Courier New"/>
              </a:rPr>
              <a:t>.</a:t>
            </a:r>
            <a:r>
              <a:rPr sz="1200" b="0" i="0">
                <a:solidFill>
                  <a:srgbClr val="E6EDF3"/>
                </a:solidFill>
                <a:latin typeface="Courier New"/>
              </a:rPr>
              <a:t>sheetTitles</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ss</a:t>
            </a:r>
            <a:r>
              <a:rPr sz="1200" b="0" i="0">
                <a:solidFill>
                  <a:srgbClr val="E6EDF3"/>
                </a:solidFill>
                <a:latin typeface="Courier New"/>
              </a:rPr>
              <a:t>.</a:t>
            </a:r>
            <a:r>
              <a:rPr sz="1200" b="0" i="0">
                <a:solidFill>
                  <a:srgbClr val="E6EDF3"/>
                </a:solidFill>
                <a:latin typeface="Courier New"/>
              </a:rPr>
              <a:t>id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ss</a:t>
            </a:r>
            <a:r>
              <a:rPr sz="1200" b="0" i="0">
                <a:solidFill>
                  <a:srgbClr val="E6EDF3"/>
                </a:solidFill>
                <a:latin typeface="Courier New"/>
              </a:rPr>
              <a:t>.</a:t>
            </a:r>
            <a:r>
              <a:rPr sz="1200" b="0" i="0">
                <a:solidFill>
                  <a:srgbClr val="E6EDF3"/>
                </a:solidFill>
                <a:latin typeface="Courier New"/>
              </a:rPr>
              <a:t>url</a:t>
            </a:r>
            <a:r>
              <a:rPr sz="1200" b="0" i="0">
                <a:solidFill>
                  <a:srgbClr val="E6EDF3"/>
                </a:solidFill>
                <a:latin typeface="Courier New"/>
              </a:rPr>
              <a:t>)</a:t>
            </a:r>
          </a:p>
        </p:txBody>
      </p:sp>
      <p:sp>
        <p:nvSpPr>
          <p:cNvPr id="5" name="explanation"/>
          <p:cNvSpPr txBox="1"/>
          <p:nvPr/>
        </p:nvSpPr>
        <p:spPr>
          <a:xfrm>
            <a:off x="5724144" y="786384"/>
            <a:ext cx="3054095" cy="1066799"/>
          </a:xfrm>
          <a:prstGeom prst="rect">
            <a:avLst/>
          </a:prstGeom>
          <a:noFill/>
        </p:spPr>
        <p:txBody>
          <a:bodyPr wrap="square" lIns="128016" rIns="128016" tIns="18288" bIns="18288" anchor="ctr">
            <a:spAutoFit/>
          </a:bodyPr>
          <a:lstStyle/>
          <a:p>
            <a:r>
              <a:rPr sz="1250" b="0" i="0">
                <a:solidFill>
                  <a:srgbClr val="1F2933"/>
                </a:solidFill>
                <a:latin typeface="Calibri"/>
              </a:rPr>
              <a:t>The title is the only attribute you can change; the new title is sent to Google at once. The others describe the spreadsheet.</a:t>
            </a:r>
          </a:p>
        </p:txBody>
      </p:sp>
      <p:sp>
        <p:nvSpPr>
          <p:cNvPr id="6" name="code"/>
          <p:cNvSpPr/>
          <p:nvPr/>
        </p:nvSpPr>
        <p:spPr>
          <a:xfrm>
            <a:off x="365760" y="1898904"/>
            <a:ext cx="5376672"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for</a:t>
            </a:r>
            <a:r>
              <a:rPr sz="1200" b="0" i="0">
                <a:solidFill>
                  <a:srgbClr val="E6EDF3"/>
                </a:solidFill>
                <a:latin typeface="Courier New"/>
              </a:rPr>
              <a:t> </a:t>
            </a:r>
            <a:r>
              <a:rPr sz="1200" b="0" i="0">
                <a:solidFill>
                  <a:srgbClr val="E6EDF3"/>
                </a:solidFill>
                <a:latin typeface="Courier New"/>
              </a:rPr>
              <a:t>name</a:t>
            </a:r>
            <a:r>
              <a:rPr sz="1200" b="0" i="0">
                <a:solidFill>
                  <a:srgbClr val="E6EDF3"/>
                </a:solidFill>
                <a:latin typeface="Courier New"/>
              </a:rPr>
              <a:t> </a:t>
            </a:r>
            <a:r>
              <a:rPr sz="1200" b="0" i="0">
                <a:solidFill>
                  <a:srgbClr val="C9A0FF"/>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9BE3A8"/>
                </a:solidFill>
                <a:latin typeface="Courier New"/>
              </a:rPr>
              <a:t>'id'</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'url'</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'sheetTitles'</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try</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setattr</a:t>
            </a:r>
            <a:r>
              <a:rPr sz="1200" b="0" i="0">
                <a:solidFill>
                  <a:srgbClr val="E6EDF3"/>
                </a:solidFill>
                <a:latin typeface="Courier New"/>
              </a:rPr>
              <a:t>(</a:t>
            </a:r>
            <a:r>
              <a:rPr sz="1200" b="0" i="0">
                <a:solidFill>
                  <a:srgbClr val="E6EDF3"/>
                </a:solidFill>
                <a:latin typeface="Courier New"/>
              </a:rPr>
              <a:t>ss</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name</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'x'</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except</a:t>
            </a:r>
            <a:r>
              <a:rPr sz="1200" b="0" i="0">
                <a:solidFill>
                  <a:srgbClr val="E6EDF3"/>
                </a:solidFill>
                <a:latin typeface="Courier New"/>
              </a:rPr>
              <a:t> </a:t>
            </a:r>
            <a:r>
              <a:rPr sz="1200" b="0" i="0">
                <a:solidFill>
                  <a:srgbClr val="E6EDF3"/>
                </a:solidFill>
                <a:latin typeface="Courier New"/>
              </a:rPr>
              <a:t>AttributeError</a:t>
            </a:r>
            <a:r>
              <a:rPr sz="1200" b="0" i="0">
                <a:solidFill>
                  <a:srgbClr val="E6EDF3"/>
                </a:solidFill>
                <a:latin typeface="Courier New"/>
              </a:rPr>
              <a:t> </a:t>
            </a:r>
            <a:r>
              <a:rPr sz="1200" b="0" i="0">
                <a:solidFill>
                  <a:srgbClr val="E6EDF3"/>
                </a:solidFill>
                <a:latin typeface="Courier New"/>
              </a:rPr>
              <a:t>as</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name</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'-&gt;'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p>
        </p:txBody>
      </p:sp>
      <p:sp>
        <p:nvSpPr>
          <p:cNvPr id="7" name="explanation"/>
          <p:cNvSpPr txBox="1"/>
          <p:nvPr/>
        </p:nvSpPr>
        <p:spPr>
          <a:xfrm>
            <a:off x="5724144" y="1898904"/>
            <a:ext cx="3054095" cy="921765"/>
          </a:xfrm>
          <a:prstGeom prst="rect">
            <a:avLst/>
          </a:prstGeom>
          <a:noFill/>
        </p:spPr>
        <p:txBody>
          <a:bodyPr wrap="square" lIns="128016" rIns="128016" tIns="18288" bIns="18288" anchor="ctr">
            <a:spAutoFit/>
          </a:bodyPr>
          <a:lstStyle/>
          <a:p>
            <a:r>
              <a:rPr sz="1250" b="0" i="0">
                <a:solidFill>
                  <a:srgbClr val="1F2933"/>
                </a:solidFill>
                <a:latin typeface="Calibri"/>
              </a:rPr>
              <a:t>The other three are read-only: setting one raises an AttributeError, which the program catches and prints.</a:t>
            </a:r>
          </a:p>
        </p:txBody>
      </p:sp>
      <p:sp>
        <p:nvSpPr>
          <p:cNvPr id="8" name="result label"/>
          <p:cNvSpPr txBox="1"/>
          <p:nvPr/>
        </p:nvSpPr>
        <p:spPr>
          <a:xfrm>
            <a:off x="365760" y="289382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168141"/>
          <a:ext cx="8412478" cy="1371600"/>
        </p:xfrm>
        <a:graphic>
          <a:graphicData uri="http://schemas.openxmlformats.org/drawingml/2006/table">
            <a:tbl>
              <a:tblPr firstRow="0" bandRow="0"/>
              <a:tblGrid>
                <a:gridCol w="1242752"/>
                <a:gridCol w="2867890"/>
                <a:gridCol w="4301836"/>
              </a:tblGrid>
              <a:tr h="274320">
                <a:tc>
                  <a:txBody>
                    <a:bodyPr wrap="square"/>
                    <a:lstStyle/>
                    <a:p>
                      <a:r>
                        <a:rPr sz="950" b="1" i="0">
                          <a:solidFill>
                            <a:srgbClr val="FFFFFF"/>
                          </a:solidFill>
                          <a:latin typeface="Calibri"/>
                        </a:rPr>
                        <a:t>Attribute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Can you set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50" b="0" i="0">
                          <a:solidFill>
                            <a:srgbClr val="1F2933"/>
                          </a:solidFill>
                          <a:latin typeface="Courier New"/>
                        </a:rPr>
                        <a:t>title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Sweigart Books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yes: a request is sent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74320">
                <a:tc>
                  <a:txBody>
                    <a:bodyPr wrap="square"/>
                    <a:lstStyle/>
                    <a:p>
                      <a:r>
                        <a:rPr sz="950" b="0" i="0">
                          <a:solidFill>
                            <a:srgbClr val="1F2933"/>
                          </a:solidFill>
                          <a:latin typeface="Courier New"/>
                        </a:rPr>
                        <a:t>sheetTitles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('Sheet1',)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alibri"/>
                        </a:rPr>
                        <a:t>property 'sheetTitles' of 'Spreads...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74320">
                <a:tc>
                  <a:txBody>
                    <a:bodyPr wrap="square"/>
                    <a:lstStyle/>
                    <a:p>
                      <a:r>
                        <a:rPr sz="950" b="0" i="0">
                          <a:solidFill>
                            <a:srgbClr val="1F2933"/>
                          </a:solidFill>
                          <a:latin typeface="Courier New"/>
                        </a:rPr>
                        <a:t>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ID001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no: property 'id' of 'Spreadsheet'...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74320">
                <a:tc>
                  <a:txBody>
                    <a:bodyPr wrap="square"/>
                    <a:lstStyle/>
                    <a:p>
                      <a:r>
                        <a:rPr sz="950" b="0" i="0">
                          <a:solidFill>
                            <a:srgbClr val="1F2933"/>
                          </a:solidFill>
                          <a:latin typeface="Courier New"/>
                        </a:rPr>
                        <a:t>url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docs.google.com/spreadsheets/...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alibri"/>
                        </a:rPr>
                        <a:t>no: property 'url' of 'Spreadsheet...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bl>
          </a:graphicData>
        </a:graphic>
      </p:graphicFrame>
      <p:sp>
        <p:nvSpPr>
          <p:cNvPr id="10" name="visual note"/>
          <p:cNvSpPr txBox="1"/>
          <p:nvPr/>
        </p:nvSpPr>
        <p:spPr>
          <a:xfrm>
            <a:off x="365760" y="4585462"/>
            <a:ext cx="8412480" cy="219456"/>
          </a:xfrm>
          <a:prstGeom prst="rect">
            <a:avLst/>
          </a:prstGeom>
          <a:noFill/>
        </p:spPr>
        <p:txBody>
          <a:bodyPr wrap="square" lIns="45720" rIns="45720" tIns="27432" bIns="27432" anchor="t">
            <a:spAutoFit/>
          </a:bodyPr>
          <a:lstStyle/>
          <a:p>
            <a:r>
              <a:rPr sz="900" b="0" i="1">
                <a:solidFill>
                  <a:srgbClr val="5B6773"/>
                </a:solidFill>
                <a:latin typeface="Calibri"/>
              </a:rPr>
              <a:t>the error text is the one printed by the run: a property without a setter</a:t>
            </a:r>
          </a:p>
        </p:txBody>
      </p:sp>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Only the title can be set.</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19 / 53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Story: Google Sheets began as a small web spreadsheet</a:t>
            </a:r>
          </a:p>
        </p:txBody>
      </p:sp>
      <p:pic>
        <p:nvPicPr>
          <p:cNvPr id="4" name="photo sheets2006" descr="Picture for the story: Google Sheets began as a small web spreadsheet"/>
          <p:cNvPicPr>
            <a:picLocks noChangeAspect="1"/>
          </p:cNvPicPr>
          <p:nvPr/>
        </p:nvPicPr>
        <p:blipFill>
          <a:blip r:embed="rId3"/>
          <a:stretch>
            <a:fillRect/>
          </a:stretch>
        </p:blipFill>
        <p:spPr>
          <a:xfrm>
            <a:off x="365760" y="868680"/>
            <a:ext cx="2651760" cy="2926079"/>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Jonathan Rochelle of Google. Photo: adactio, CC BY 2.0, Flickr.</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Jonathan Rochelle and Farzad Khosrowshahi of 2Web Technologies, then Google.</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XL2Web, a spreadsheet in a web browser, became Google Labs Spreadsheets and then Google Sheets.</a:t>
            </a:r>
          </a:p>
        </p:txBody>
      </p:sp>
      <p:sp>
        <p:nvSpPr>
          <p:cNvPr id="10" name="card"/>
          <p:cNvSpPr/>
          <p:nvPr/>
        </p:nvSpPr>
        <p:spPr>
          <a:xfrm>
            <a:off x="3200400" y="19751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Google bought it in 2006; the limited test began on 6 June 2006.</a:t>
            </a:r>
          </a:p>
        </p:txBody>
      </p:sp>
      <p:sp>
        <p:nvSpPr>
          <p:cNvPr id="12" name="card"/>
          <p:cNvSpPr/>
          <p:nvPr/>
        </p:nvSpPr>
        <p:spPr>
          <a:xfrm>
            <a:off x="3200400" y="2542032"/>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42032"/>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On the web, at Google Labs.</a:t>
            </a:r>
          </a:p>
        </p:txBody>
      </p:sp>
      <p:sp>
        <p:nvSpPr>
          <p:cNvPr id="14" name="card"/>
          <p:cNvSpPr/>
          <p:nvPr/>
        </p:nvSpPr>
        <p:spPr>
          <a:xfrm>
            <a:off x="3200400" y="30083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083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A spreadsheet in a browser can be shared, with no file to send around; Rochelle's post is titled 'It's nice to share'.</a:t>
            </a:r>
          </a:p>
        </p:txBody>
      </p:sp>
      <p:sp>
        <p:nvSpPr>
          <p:cNvPr id="16" name="card"/>
          <p:cNvSpPr/>
          <p:nvPr/>
        </p:nvSpPr>
        <p:spPr>
          <a:xfrm>
            <a:off x="3200400" y="35753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5753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A limited number of users could try it, first come first served; a beta for all Google Account holders replaced the test.</a:t>
            </a:r>
          </a:p>
        </p:txBody>
      </p:sp>
      <p:sp>
        <p:nvSpPr>
          <p:cNvPr id="18" name="read"/>
          <p:cNvSpPr txBox="1"/>
          <p:nvPr/>
        </p:nvSpPr>
        <p:spPr>
          <a:xfrm>
            <a:off x="3200400" y="4160520"/>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Google Sheets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20 / 53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downloading and deleting</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Deleting is like moving a binder to the recycling box: it is gone from the shelf, but not from the building.</a:t>
            </a:r>
          </a:p>
        </p:txBody>
      </p:sp>
      <p:graphicFrame>
        <p:nvGraphicFramePr>
          <p:cNvPr id="6" name="table"/>
          <p:cNvGraphicFramePr>
            <a:graphicFrameLocks noGrp="1"/>
          </p:cNvGraphicFramePr>
          <p:nvPr/>
        </p:nvGraphicFramePr>
        <p:xfrm>
          <a:off x="365760" y="1417320"/>
          <a:ext cx="8412480" cy="3108959"/>
        </p:xfrm>
        <a:graphic>
          <a:graphicData uri="http://schemas.openxmlformats.org/drawingml/2006/table">
            <a:tbl>
              <a:tblPr firstRow="0" bandRow="0"/>
              <a:tblGrid>
                <a:gridCol w="3566160"/>
                <a:gridCol w="4846320"/>
              </a:tblGrid>
              <a:tr h="444137">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44137">
                <a:tc>
                  <a:txBody>
                    <a:bodyPr wrap="square"/>
                    <a:lstStyle/>
                    <a:p>
                      <a:r>
                        <a:rPr sz="1100" b="1" i="0">
                          <a:solidFill>
                            <a:srgbClr val="1F2933"/>
                          </a:solidFill>
                          <a:latin typeface="Calibri"/>
                        </a:rPr>
                        <a:t>Downloading and Uploading Spreadsheets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Photocopying a binder to take home, or bringing a paper copy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Spreadsheet.downloadAsExcel()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Asking for the copy as a loose Excel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Converting Spreadsheets to Other Formats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Asking for the same pages as PDF, CSV or ODS.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Deleting Spreadsheets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Clearing the shelf.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Spreadsheet.delete()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Moving the binder to the recycling box; delete for good empties the 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Trash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recycling box: the library still counts what is inside.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21 / 53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Upload a file, download a spreadsheet in six formats</a:t>
            </a:r>
          </a:p>
        </p:txBody>
      </p:sp>
      <p:sp>
        <p:nvSpPr>
          <p:cNvPr id="4" name="code"/>
          <p:cNvSpPr/>
          <p:nvPr/>
        </p:nvSpPr>
        <p:spPr>
          <a:xfrm>
            <a:off x="365760" y="786384"/>
            <a:ext cx="8412480"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tempfile</a:t>
            </a:r>
          </a:p>
          <a:p>
            <a:pPr algn="l"/>
            <a:r>
              <a:rPr sz="900" b="0" i="0">
                <a:solidFill>
                  <a:srgbClr val="8FA3B8"/>
                </a:solidFill>
                <a:latin typeface="Courier New"/>
              </a:rPr>
              <a:t>&gt;&gt;&gt; </a:t>
            </a:r>
            <a:r>
              <a:rPr sz="900" b="0" i="0">
                <a:solidFill>
                  <a:srgbClr val="E6EDF3"/>
                </a:solidFill>
                <a:latin typeface="Courier New"/>
              </a:rPr>
              <a:t>g</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r>
              <a:rPr sz="900" b="0" i="0">
                <a:solidFill>
                  <a:srgbClr val="E6EDF3"/>
                </a:solidFill>
                <a:latin typeface="Courier New"/>
              </a:rPr>
              <a:t>.</a:t>
            </a:r>
            <a:r>
              <a:rPr sz="900" b="0" i="0">
                <a:solidFill>
                  <a:srgbClr val="E6EDF3"/>
                </a:solidFill>
                <a:latin typeface="Courier New"/>
              </a:rPr>
              <a:t>install</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chdir</a:t>
            </a:r>
            <a:r>
              <a:rPr sz="900" b="0" i="0">
                <a:solidFill>
                  <a:srgbClr val="E6EDF3"/>
                </a:solidFill>
                <a:latin typeface="Courier New"/>
              </a:rPr>
              <a:t>(</a:t>
            </a:r>
            <a:r>
              <a:rPr sz="900" b="0" i="0">
                <a:solidFill>
                  <a:srgbClr val="E6EDF3"/>
                </a:solidFill>
                <a:latin typeface="Courier New"/>
              </a:rPr>
              <a:t>tempfile</a:t>
            </a:r>
            <a:r>
              <a:rPr sz="900" b="0" i="0">
                <a:solidFill>
                  <a:srgbClr val="E6EDF3"/>
                </a:solidFill>
                <a:latin typeface="Courier New"/>
              </a:rPr>
              <a:t>.</a:t>
            </a:r>
            <a:r>
              <a:rPr sz="900" b="0" i="0">
                <a:solidFill>
                  <a:srgbClr val="E6EDF3"/>
                </a:solidFill>
                <a:latin typeface="Courier New"/>
              </a:rPr>
              <a:t>mkdtemp</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open</a:t>
            </a:r>
            <a:r>
              <a:rPr sz="900" b="0" i="0">
                <a:solidFill>
                  <a:srgbClr val="E6EDF3"/>
                </a:solidFill>
                <a:latin typeface="Courier New"/>
              </a:rPr>
              <a:t>(</a:t>
            </a:r>
            <a:r>
              <a:rPr sz="900" b="0" i="0">
                <a:solidFill>
                  <a:srgbClr val="9BE3A8"/>
                </a:solidFill>
                <a:latin typeface="Courier New"/>
              </a:rPr>
              <a:t>'data.csv'</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'w'</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write</a:t>
            </a:r>
            <a:r>
              <a:rPr sz="900" b="0" i="0">
                <a:solidFill>
                  <a:srgbClr val="E6EDF3"/>
                </a:solidFill>
                <a:latin typeface="Courier New"/>
              </a:rPr>
              <a:t>(</a:t>
            </a:r>
            <a:r>
              <a:rPr sz="900" b="0" i="0">
                <a:solidFill>
                  <a:srgbClr val="9BE3A8"/>
                </a:solidFill>
                <a:latin typeface="Courier New"/>
              </a:rPr>
              <a:t>'a,b\n1,2\n'</a:t>
            </a:r>
            <a:r>
              <a:rPr sz="900" b="0" i="0">
                <a:solidFill>
                  <a:srgbClr val="E6EDF3"/>
                </a:solidFill>
                <a:latin typeface="Courier New"/>
              </a:rPr>
              <a:t>)</a:t>
            </a:r>
          </a:p>
        </p:txBody>
      </p:sp>
      <p:sp>
        <p:nvSpPr>
          <p:cNvPr id="5" name="explanation"/>
          <p:cNvSpPr txBox="1"/>
          <p:nvPr/>
        </p:nvSpPr>
        <p:spPr>
          <a:xfrm>
            <a:off x="365760" y="1490472"/>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A small file is made in a temporary folder. upload() turns it into a spreadsheet.</a:t>
            </a:r>
          </a:p>
        </p:txBody>
      </p:sp>
      <p:sp>
        <p:nvSpPr>
          <p:cNvPr id="6" name="code"/>
          <p:cNvSpPr/>
          <p:nvPr/>
        </p:nvSpPr>
        <p:spPr>
          <a:xfrm>
            <a:off x="365760" y="1829689"/>
            <a:ext cx="8412480"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upload</a:t>
            </a:r>
            <a:r>
              <a:rPr sz="900" b="0" i="0">
                <a:solidFill>
                  <a:srgbClr val="E6EDF3"/>
                </a:solidFill>
                <a:latin typeface="Courier New"/>
              </a:rPr>
              <a:t>(</a:t>
            </a:r>
            <a:r>
              <a:rPr sz="900" b="0" i="0">
                <a:solidFill>
                  <a:srgbClr val="9BE3A8"/>
                </a:solidFill>
                <a:latin typeface="Courier New"/>
              </a:rPr>
              <a:t>'data.csv'</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title</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ss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Spreadsheet</a:t>
            </a:r>
            <a:r>
              <a:rPr sz="900" b="0" i="0">
                <a:solidFill>
                  <a:srgbClr val="E6EDF3"/>
                </a:solidFill>
                <a:latin typeface="Courier New"/>
              </a:rPr>
              <a:t>(</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load</a:t>
            </a:r>
            <a:r>
              <a:rPr sz="900" b="0" i="0">
                <a:solidFill>
                  <a:srgbClr val="E6EDF3"/>
                </a:solidFill>
                <a:latin typeface="Courier New"/>
              </a:rPr>
              <a:t>(</a:t>
            </a:r>
            <a:r>
              <a:rPr sz="900" b="0" i="0">
                <a:solidFill>
                  <a:srgbClr val="9BE3A8"/>
                </a:solidFill>
                <a:latin typeface="Courier New"/>
              </a:rPr>
              <a:t>'X'</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'Sweigart Books (DO NOT DELETE)'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fmt</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'Excel'</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'CSV'</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'TSV'</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'PDF'</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'ODS'</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'HTML'</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fmt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'-&gt;'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getattr</a:t>
            </a:r>
            <a:r>
              <a:rPr sz="900" b="0" i="0">
                <a:solidFill>
                  <a:srgbClr val="E6EDF3"/>
                </a:solidFill>
                <a:latin typeface="Courier New"/>
              </a:rPr>
              <a:t>(</a:t>
            </a:r>
            <a:r>
              <a:rPr sz="900" b="0" i="0">
                <a:solidFill>
                  <a:srgbClr val="E6EDF3"/>
                </a:solidFill>
                <a:latin typeface="Courier New"/>
              </a:rPr>
              <a:t>ss</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'downloadAs'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fmt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365760" y="2533777"/>
            <a:ext cx="8412480" cy="477266"/>
          </a:xfrm>
          <a:prstGeom prst="rect">
            <a:avLst/>
          </a:prstGeom>
          <a:noFill/>
        </p:spPr>
        <p:txBody>
          <a:bodyPr wrap="square" lIns="109728" rIns="109728" tIns="18288" bIns="18288" anchor="ctr">
            <a:spAutoFit/>
          </a:bodyPr>
          <a:lstStyle/>
          <a:p>
            <a:r>
              <a:rPr sz="1100" b="0" i="0">
                <a:solidFill>
                  <a:srgbClr val="1F2933"/>
                </a:solidFill>
                <a:latin typeface="Calibri"/>
              </a:rPr>
              <a:t>Each downloadAs method exports the spreadsheet and saves a file. Odd characters in the title become underscores.</a:t>
            </a:r>
          </a:p>
        </p:txBody>
      </p:sp>
      <p:sp>
        <p:nvSpPr>
          <p:cNvPr id="8" name="result label"/>
          <p:cNvSpPr txBox="1"/>
          <p:nvPr/>
        </p:nvSpPr>
        <p:spPr>
          <a:xfrm>
            <a:off x="365760" y="307505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349370"/>
          <a:ext cx="6729983" cy="1259202"/>
        </p:xfrm>
        <a:graphic>
          <a:graphicData uri="http://schemas.openxmlformats.org/drawingml/2006/table">
            <a:tbl>
              <a:tblPr firstRow="0" bandRow="0"/>
              <a:tblGrid>
                <a:gridCol w="1380509"/>
                <a:gridCol w="3106146"/>
                <a:gridCol w="2243328"/>
              </a:tblGrid>
              <a:tr h="179886">
                <a:tc>
                  <a:txBody>
                    <a:bodyPr wrap="square"/>
                    <a:lstStyle/>
                    <a:p>
                      <a:r>
                        <a:rPr sz="900" b="1" i="0">
                          <a:solidFill>
                            <a:srgbClr val="FFFFFF"/>
                          </a:solidFill>
                          <a:latin typeface="Calibri"/>
                        </a:rPr>
                        <a:t>Method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File saved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Title of the spreadsheet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179886">
                <a:tc>
                  <a:txBody>
                    <a:bodyPr wrap="square"/>
                    <a:lstStyle/>
                    <a:p>
                      <a:r>
                        <a:rPr sz="900" b="0" i="0">
                          <a:solidFill>
                            <a:srgbClr val="1F2933"/>
                          </a:solidFill>
                          <a:latin typeface="Courier New"/>
                        </a:rPr>
                        <a:t>downloadAsExcel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Sweigart_Books_(DO_NOT_DELETE).xlsx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900" b="0" i="0">
                          <a:solidFill>
                            <a:srgbClr val="1F2933"/>
                          </a:solidFill>
                          <a:latin typeface="Calibri"/>
                        </a:rPr>
                        <a:t>Sweigart Books (DO NOT DELETE)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179886">
                <a:tc>
                  <a:txBody>
                    <a:bodyPr wrap="square"/>
                    <a:lstStyle/>
                    <a:p>
                      <a:r>
                        <a:rPr sz="900" b="0" i="0">
                          <a:solidFill>
                            <a:srgbClr val="1F2933"/>
                          </a:solidFill>
                          <a:latin typeface="Courier New"/>
                        </a:rPr>
                        <a:t>downloadAsCSV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Sweigart_Books_(DO_NOT_DELETE).csv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900" b="0" i="0">
                          <a:solidFill>
                            <a:srgbClr val="1F2933"/>
                          </a:solidFill>
                          <a:latin typeface="Calibri"/>
                        </a:rPr>
                        <a:t>same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179886">
                <a:tc>
                  <a:txBody>
                    <a:bodyPr wrap="square"/>
                    <a:lstStyle/>
                    <a:p>
                      <a:r>
                        <a:rPr sz="900" b="0" i="0">
                          <a:solidFill>
                            <a:srgbClr val="1F2933"/>
                          </a:solidFill>
                          <a:latin typeface="Courier New"/>
                        </a:rPr>
                        <a:t>downloadAsTSV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Sweigart_Books_(DO_NOT_DELETE).tsv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900" b="0" i="0">
                          <a:solidFill>
                            <a:srgbClr val="1F2933"/>
                          </a:solidFill>
                          <a:latin typeface="Calibri"/>
                        </a:rPr>
                        <a:t>same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179886">
                <a:tc>
                  <a:txBody>
                    <a:bodyPr wrap="square"/>
                    <a:lstStyle/>
                    <a:p>
                      <a:r>
                        <a:rPr sz="900" b="0" i="0">
                          <a:solidFill>
                            <a:srgbClr val="1F2933"/>
                          </a:solidFill>
                          <a:latin typeface="Courier New"/>
                        </a:rPr>
                        <a:t>downloadAsPDF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Sweigart_Books_(DO_NOT_DELETE).pdf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900" b="0" i="0">
                          <a:solidFill>
                            <a:srgbClr val="1F2933"/>
                          </a:solidFill>
                          <a:latin typeface="Calibri"/>
                        </a:rPr>
                        <a:t>same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179886">
                <a:tc>
                  <a:txBody>
                    <a:bodyPr wrap="square"/>
                    <a:lstStyle/>
                    <a:p>
                      <a:r>
                        <a:rPr sz="900" b="0" i="0">
                          <a:solidFill>
                            <a:srgbClr val="1F2933"/>
                          </a:solidFill>
                          <a:latin typeface="Courier New"/>
                        </a:rPr>
                        <a:t>downloadAsODS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Sweigart_Books_(DO_NOT_DELETE).ods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900" b="0" i="0">
                          <a:solidFill>
                            <a:srgbClr val="1F2933"/>
                          </a:solidFill>
                          <a:latin typeface="Calibri"/>
                        </a:rPr>
                        <a:t>same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179886">
                <a:tc>
                  <a:txBody>
                    <a:bodyPr wrap="square"/>
                    <a:lstStyle/>
                    <a:p>
                      <a:r>
                        <a:rPr sz="900" b="0" i="0">
                          <a:solidFill>
                            <a:srgbClr val="1F2933"/>
                          </a:solidFill>
                          <a:latin typeface="Courier New"/>
                        </a:rPr>
                        <a:t>downloadAsHTML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Sweigart_Books_(DO_NOT_DELETE).zip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900" b="0" i="0">
                          <a:solidFill>
                            <a:srgbClr val="1F2933"/>
                          </a:solidFill>
                          <a:latin typeface="Calibri"/>
                        </a:rPr>
                        <a:t>same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visual note"/>
          <p:cNvSpPr txBox="1"/>
          <p:nvPr/>
        </p:nvSpPr>
        <p:spPr>
          <a:xfrm>
            <a:off x="7263993" y="3349370"/>
            <a:ext cx="1514246" cy="914400"/>
          </a:xfrm>
          <a:prstGeom prst="rect">
            <a:avLst/>
          </a:prstGeom>
          <a:noFill/>
        </p:spPr>
        <p:txBody>
          <a:bodyPr wrap="square" lIns="45720" rIns="45720" tIns="27432" bIns="27432" anchor="t">
            <a:spAutoFit/>
          </a:bodyPr>
          <a:lstStyle/>
          <a:p>
            <a:r>
              <a:rPr sz="900" b="0" i="1">
                <a:solidFill>
                  <a:srgbClr val="5B6773"/>
                </a:solidFill>
                <a:latin typeface="Calibri"/>
              </a:rPr>
              <a:t>upload made the spreadsheet 'data.csv'; spaces and brackets became underscores</a:t>
            </a:r>
          </a:p>
        </p:txBody>
      </p:sp>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download name is made safe, not kept.</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22 / 53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Delete moves a spreadsheet to the Trash</a:t>
            </a:r>
          </a:p>
        </p:txBody>
      </p:sp>
      <p:sp>
        <p:nvSpPr>
          <p:cNvPr id="4" name="code"/>
          <p:cNvSpPr/>
          <p:nvPr/>
        </p:nvSpPr>
        <p:spPr>
          <a:xfrm>
            <a:off x="365760" y="786384"/>
            <a:ext cx="8412480" cy="116751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ezsheets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google_standin</a:t>
            </a:r>
          </a:p>
          <a:p>
            <a:pPr algn="l"/>
            <a:r>
              <a:rPr sz="950" b="0" i="0">
                <a:solidFill>
                  <a:srgbClr val="8FA3B8"/>
                </a:solidFill>
                <a:latin typeface="Courier New"/>
              </a:rPr>
              <a:t>&gt;&gt;&gt; </a:t>
            </a:r>
            <a:r>
              <a:rPr sz="950" b="0" i="0">
                <a:solidFill>
                  <a:srgbClr val="E6EDF3"/>
                </a:solidFill>
                <a:latin typeface="Courier New"/>
              </a:rPr>
              <a:t>g</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google_standin</a:t>
            </a:r>
            <a:r>
              <a:rPr sz="950" b="0" i="0">
                <a:solidFill>
                  <a:srgbClr val="E6EDF3"/>
                </a:solidFill>
                <a:latin typeface="Courier New"/>
              </a:rPr>
              <a:t>.</a:t>
            </a:r>
            <a:r>
              <a:rPr sz="950" b="0" i="0">
                <a:solidFill>
                  <a:srgbClr val="E6EDF3"/>
                </a:solidFill>
                <a:latin typeface="Courier New"/>
              </a:rPr>
              <a:t>install</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ss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ezsheets</a:t>
            </a:r>
            <a:r>
              <a:rPr sz="950" b="0" i="0">
                <a:solidFill>
                  <a:srgbClr val="E6EDF3"/>
                </a:solidFill>
                <a:latin typeface="Courier New"/>
              </a:rPr>
              <a:t>.</a:t>
            </a:r>
            <a:r>
              <a:rPr sz="950" b="0" i="0">
                <a:solidFill>
                  <a:srgbClr val="E6EDF3"/>
                </a:solidFill>
                <a:latin typeface="Courier New"/>
              </a:rPr>
              <a:t>Spreadsheet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keep</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ezsheets</a:t>
            </a:r>
            <a:r>
              <a:rPr sz="950" b="0" i="0">
                <a:solidFill>
                  <a:srgbClr val="E6EDF3"/>
                </a:solidFill>
                <a:latin typeface="Courier New"/>
              </a:rPr>
              <a:t>.</a:t>
            </a:r>
            <a:r>
              <a:rPr sz="950" b="0" i="0">
                <a:solidFill>
                  <a:srgbClr val="E6EDF3"/>
                </a:solidFill>
                <a:latin typeface="Courier New"/>
              </a:rPr>
              <a:t>createSpreadsheet</a:t>
            </a:r>
            <a:r>
              <a:rPr sz="950" b="0" i="0">
                <a:solidFill>
                  <a:srgbClr val="E6EDF3"/>
                </a:solidFill>
                <a:latin typeface="Courier New"/>
              </a:rPr>
              <a:t>(</a:t>
            </a:r>
            <a:r>
              <a:rPr sz="950" b="0" i="0">
                <a:solidFill>
                  <a:srgbClr val="9BE3A8"/>
                </a:solidFill>
                <a:latin typeface="Courier New"/>
              </a:rPr>
              <a:t>'Keep me'</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ss</a:t>
            </a:r>
            <a:r>
              <a:rPr sz="950" b="0" i="0">
                <a:solidFill>
                  <a:srgbClr val="E6EDF3"/>
                </a:solidFill>
                <a:latin typeface="Courier New"/>
              </a:rPr>
              <a:t>.</a:t>
            </a:r>
            <a:r>
              <a:rPr sz="950" b="0" i="0">
                <a:solidFill>
                  <a:srgbClr val="E6EDF3"/>
                </a:solidFill>
                <a:latin typeface="Courier New"/>
              </a:rPr>
              <a:t>delete</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g</a:t>
            </a:r>
            <a:r>
              <a:rPr sz="950" b="0" i="0">
                <a:solidFill>
                  <a:srgbClr val="E6EDF3"/>
                </a:solidFill>
                <a:latin typeface="Courier New"/>
              </a:rPr>
              <a:t>.</a:t>
            </a:r>
            <a:r>
              <a:rPr sz="950" b="0" i="0">
                <a:solidFill>
                  <a:srgbClr val="E6EDF3"/>
                </a:solidFill>
                <a:latin typeface="Courier New"/>
              </a:rPr>
              <a:t>log</a:t>
            </a:r>
            <a:r>
              <a:rPr sz="950" b="0" i="0">
                <a:solidFill>
                  <a:srgbClr val="E6EDF3"/>
                </a:solidFill>
                <a:latin typeface="Courier New"/>
              </a:rPr>
              <a:t>[</a:t>
            </a:r>
            <a:r>
              <a:rPr sz="950" b="0" i="0">
                <a:solidFill>
                  <a:srgbClr val="E6EDF3"/>
                </a:solidFill>
                <a:latin typeface="Courier New"/>
              </a:rPr>
              <a:t>-</a:t>
            </a:r>
            <a:r>
              <a:rPr sz="950" b="0" i="0">
                <a:solidFill>
                  <a:srgbClr val="7CC4FF"/>
                </a:solidFill>
                <a:latin typeface="Courier New"/>
              </a:rPr>
              <a:t>1</a:t>
            </a:r>
            <a:r>
              <a:rPr sz="950" b="0" i="0">
                <a:solidFill>
                  <a:srgbClr val="E6EDF3"/>
                </a:solidFill>
                <a:latin typeface="Courier New"/>
              </a:rPr>
              <a:t>]</a:t>
            </a:r>
            <a:r>
              <a:rPr sz="950" b="0" i="0">
                <a:solidFill>
                  <a:srgbClr val="E6EDF3"/>
                </a:solidFill>
                <a:latin typeface="Courier New"/>
              </a:rPr>
              <a:t>[</a:t>
            </a:r>
            <a:r>
              <a:rPr sz="950" b="0" i="0">
                <a:solidFill>
                  <a:srgbClr val="7CC4FF"/>
                </a:solidFill>
                <a:latin typeface="Courier New"/>
              </a:rPr>
              <a:t>0</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g</a:t>
            </a:r>
            <a:r>
              <a:rPr sz="950" b="0" i="0">
                <a:solidFill>
                  <a:srgbClr val="E6EDF3"/>
                </a:solidFill>
                <a:latin typeface="Courier New"/>
              </a:rPr>
              <a:t>.</a:t>
            </a:r>
            <a:r>
              <a:rPr sz="950" b="0" i="0">
                <a:solidFill>
                  <a:srgbClr val="E6EDF3"/>
                </a:solidFill>
                <a:latin typeface="Courier New"/>
              </a:rPr>
              <a:t>log</a:t>
            </a:r>
            <a:r>
              <a:rPr sz="950" b="0" i="0">
                <a:solidFill>
                  <a:srgbClr val="E6EDF3"/>
                </a:solidFill>
                <a:latin typeface="Courier New"/>
              </a:rPr>
              <a:t>[</a:t>
            </a:r>
            <a:r>
              <a:rPr sz="950" b="0" i="0">
                <a:solidFill>
                  <a:srgbClr val="E6EDF3"/>
                </a:solidFill>
                <a:latin typeface="Courier New"/>
              </a:rPr>
              <a:t>-</a:t>
            </a:r>
            <a:r>
              <a:rPr sz="950" b="0" i="0">
                <a:solidFill>
                  <a:srgbClr val="7CC4FF"/>
                </a:solidFill>
                <a:latin typeface="Courier New"/>
              </a:rPr>
              <a:t>1</a:t>
            </a:r>
            <a:r>
              <a:rPr sz="950" b="0" i="0">
                <a:solidFill>
                  <a:srgbClr val="E6EDF3"/>
                </a:solidFill>
                <a:latin typeface="Courier New"/>
              </a:rPr>
              <a:t>]</a:t>
            </a:r>
            <a:r>
              <a:rPr sz="950" b="0" i="0">
                <a:solidFill>
                  <a:srgbClr val="E6EDF3"/>
                </a:solidFill>
                <a:latin typeface="Courier New"/>
              </a:rPr>
              <a:t>[</a:t>
            </a:r>
            <a:r>
              <a:rPr sz="950" b="0" i="0">
                <a:solidFill>
                  <a:srgbClr val="7CC4FF"/>
                </a:solidFill>
                <a:latin typeface="Courier New"/>
              </a:rPr>
              <a:t>3</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ezsheets</a:t>
            </a:r>
            <a:r>
              <a:rPr sz="950" b="0" i="0">
                <a:solidFill>
                  <a:srgbClr val="E6EDF3"/>
                </a:solidFill>
                <a:latin typeface="Courier New"/>
              </a:rPr>
              <a:t>.</a:t>
            </a:r>
            <a:r>
              <a:rPr sz="950" b="0" i="0">
                <a:solidFill>
                  <a:srgbClr val="E6EDF3"/>
                </a:solidFill>
                <a:latin typeface="Courier New"/>
              </a:rPr>
              <a:t>listSpreadsheets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5" name="explanation"/>
          <p:cNvSpPr txBox="1"/>
          <p:nvPr/>
        </p:nvSpPr>
        <p:spPr>
          <a:xfrm>
            <a:off x="365760" y="1963038"/>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delete() only moves the spreadsheet to the Trash: a PATCH sets trashed to True. It is still listed.</a:t>
            </a:r>
          </a:p>
        </p:txBody>
      </p:sp>
      <p:sp>
        <p:nvSpPr>
          <p:cNvPr id="6" name="code"/>
          <p:cNvSpPr/>
          <p:nvPr/>
        </p:nvSpPr>
        <p:spPr>
          <a:xfrm>
            <a:off x="365760" y="2302255"/>
            <a:ext cx="8412480" cy="43154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ss</a:t>
            </a:r>
            <a:r>
              <a:rPr sz="950" b="0" i="0">
                <a:solidFill>
                  <a:srgbClr val="E6EDF3"/>
                </a:solidFill>
                <a:latin typeface="Courier New"/>
              </a:rPr>
              <a:t>.</a:t>
            </a:r>
            <a:r>
              <a:rPr sz="950" b="0" i="0">
                <a:solidFill>
                  <a:srgbClr val="E6EDF3"/>
                </a:solidFill>
                <a:latin typeface="Courier New"/>
              </a:rPr>
              <a:t>delete</a:t>
            </a:r>
            <a:r>
              <a:rPr sz="950" b="0" i="0">
                <a:solidFill>
                  <a:srgbClr val="E6EDF3"/>
                </a:solidFill>
                <a:latin typeface="Courier New"/>
              </a:rPr>
              <a:t>(</a:t>
            </a:r>
            <a:r>
              <a:rPr sz="950" b="0" i="0">
                <a:solidFill>
                  <a:srgbClr val="E6EDF3"/>
                </a:solidFill>
                <a:latin typeface="Courier New"/>
              </a:rPr>
              <a:t>permanent</a:t>
            </a:r>
            <a:r>
              <a:rPr sz="950" b="0" i="0">
                <a:solidFill>
                  <a:srgbClr val="E6EDF3"/>
                </a:solidFill>
                <a:latin typeface="Courier New"/>
              </a:rPr>
              <a:t>=</a:t>
            </a:r>
            <a:r>
              <a:rPr sz="950" b="0" i="0">
                <a:solidFill>
                  <a:srgbClr val="E6EDF3"/>
                </a:solidFill>
                <a:latin typeface="Courier New"/>
              </a:rPr>
              <a:t>True</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g</a:t>
            </a:r>
            <a:r>
              <a:rPr sz="950" b="0" i="0">
                <a:solidFill>
                  <a:srgbClr val="E6EDF3"/>
                </a:solidFill>
                <a:latin typeface="Courier New"/>
              </a:rPr>
              <a:t>.</a:t>
            </a:r>
            <a:r>
              <a:rPr sz="950" b="0" i="0">
                <a:solidFill>
                  <a:srgbClr val="E6EDF3"/>
                </a:solidFill>
                <a:latin typeface="Courier New"/>
              </a:rPr>
              <a:t>log</a:t>
            </a:r>
            <a:r>
              <a:rPr sz="950" b="0" i="0">
                <a:solidFill>
                  <a:srgbClr val="E6EDF3"/>
                </a:solidFill>
                <a:latin typeface="Courier New"/>
              </a:rPr>
              <a:t>[</a:t>
            </a:r>
            <a:r>
              <a:rPr sz="950" b="0" i="0">
                <a:solidFill>
                  <a:srgbClr val="E6EDF3"/>
                </a:solidFill>
                <a:latin typeface="Courier New"/>
              </a:rPr>
              <a:t>-</a:t>
            </a:r>
            <a:r>
              <a:rPr sz="950" b="0" i="0">
                <a:solidFill>
                  <a:srgbClr val="7CC4FF"/>
                </a:solidFill>
                <a:latin typeface="Courier New"/>
              </a:rPr>
              <a:t>1</a:t>
            </a:r>
            <a:r>
              <a:rPr sz="950" b="0" i="0">
                <a:solidFill>
                  <a:srgbClr val="E6EDF3"/>
                </a:solidFill>
                <a:latin typeface="Courier New"/>
              </a:rPr>
              <a:t>]</a:t>
            </a:r>
            <a:r>
              <a:rPr sz="950" b="0" i="0">
                <a:solidFill>
                  <a:srgbClr val="E6EDF3"/>
                </a:solidFill>
                <a:latin typeface="Courier New"/>
              </a:rPr>
              <a:t>[</a:t>
            </a:r>
            <a:r>
              <a:rPr sz="950" b="0" i="0">
                <a:solidFill>
                  <a:srgbClr val="7CC4FF"/>
                </a:solidFill>
                <a:latin typeface="Courier New"/>
              </a:rPr>
              <a:t>0</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'then'</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list</a:t>
            </a:r>
            <a:r>
              <a:rPr sz="950" b="0" i="0">
                <a:solidFill>
                  <a:srgbClr val="E6EDF3"/>
                </a:solidFill>
                <a:latin typeface="Courier New"/>
              </a:rPr>
              <a:t>(</a:t>
            </a:r>
            <a:r>
              <a:rPr sz="950" b="0" i="0">
                <a:solidFill>
                  <a:srgbClr val="E6EDF3"/>
                </a:solidFill>
                <a:latin typeface="Courier New"/>
              </a:rPr>
              <a:t>ezsheets</a:t>
            </a:r>
            <a:r>
              <a:rPr sz="950" b="0" i="0">
                <a:solidFill>
                  <a:srgbClr val="E6EDF3"/>
                </a:solidFill>
                <a:latin typeface="Courier New"/>
              </a:rPr>
              <a:t>.</a:t>
            </a:r>
            <a:r>
              <a:rPr sz="950" b="0" i="0">
                <a:solidFill>
                  <a:srgbClr val="E6EDF3"/>
                </a:solidFill>
                <a:latin typeface="Courier New"/>
              </a:rPr>
              <a:t>listSpreadsheets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values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7" name="explanation"/>
          <p:cNvSpPr txBox="1"/>
          <p:nvPr/>
        </p:nvSpPr>
        <p:spPr>
          <a:xfrm>
            <a:off x="365760" y="2742945"/>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delete(permanent=True) sends a DELETE request. Only now is it gone from the list.</a:t>
            </a:r>
          </a:p>
        </p:txBody>
      </p:sp>
      <p:sp>
        <p:nvSpPr>
          <p:cNvPr id="8" name="result label"/>
          <p:cNvSpPr txBox="1"/>
          <p:nvPr/>
        </p:nvSpPr>
        <p:spPr>
          <a:xfrm>
            <a:off x="365760" y="310959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383914"/>
            <a:ext cx="1521561" cy="68580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ss.delete()</a:t>
            </a:r>
          </a:p>
        </p:txBody>
      </p:sp>
      <p:cxnSp>
        <p:nvCxnSpPr>
          <p:cNvPr id="10" name="arrow"/>
          <p:cNvCxnSpPr/>
          <p:nvPr/>
        </p:nvCxnSpPr>
        <p:spPr>
          <a:xfrm>
            <a:off x="1905609" y="3726815"/>
            <a:ext cx="16459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088489" y="3383914"/>
            <a:ext cx="1521561" cy="68580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request: PATCH {'trashed': True}</a:t>
            </a:r>
          </a:p>
        </p:txBody>
      </p:sp>
      <p:cxnSp>
        <p:nvCxnSpPr>
          <p:cNvPr id="12" name="arrow"/>
          <p:cNvCxnSpPr/>
          <p:nvPr/>
        </p:nvCxnSpPr>
        <p:spPr>
          <a:xfrm>
            <a:off x="3628339" y="3726815"/>
            <a:ext cx="16459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811219" y="3383914"/>
            <a:ext cx="1521561" cy="68580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still listed: 2 spreadsheets</a:t>
            </a:r>
          </a:p>
        </p:txBody>
      </p:sp>
      <p:cxnSp>
        <p:nvCxnSpPr>
          <p:cNvPr id="14" name="arrow"/>
          <p:cNvCxnSpPr/>
          <p:nvPr/>
        </p:nvCxnSpPr>
        <p:spPr>
          <a:xfrm>
            <a:off x="5351068" y="3726815"/>
            <a:ext cx="16459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533948" y="3383914"/>
            <a:ext cx="1521561" cy="68580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delete(permanent=True)</a:t>
            </a:r>
          </a:p>
        </p:txBody>
      </p:sp>
      <p:cxnSp>
        <p:nvCxnSpPr>
          <p:cNvPr id="16" name="arrow"/>
          <p:cNvCxnSpPr/>
          <p:nvPr/>
        </p:nvCxnSpPr>
        <p:spPr>
          <a:xfrm>
            <a:off x="7073798" y="3726815"/>
            <a:ext cx="16459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256678" y="3383914"/>
            <a:ext cx="1521561" cy="6858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request: DELETE</a:t>
            </a:r>
          </a:p>
          <a:p>
            <a:pPr algn="ctr"/>
            <a:r>
              <a:rPr sz="900" b="0" i="0">
                <a:solidFill>
                  <a:srgbClr val="1F2933"/>
                </a:solidFill>
                <a:latin typeface="Calibri"/>
              </a:rPr>
              <a:t>listed now: 1</a:t>
            </a:r>
          </a:p>
        </p:txBody>
      </p:sp>
      <p:sp>
        <p:nvSpPr>
          <p:cNvPr id="18" name="visual note"/>
          <p:cNvSpPr txBox="1"/>
          <p:nvPr/>
        </p:nvSpPr>
        <p:spPr>
          <a:xfrm>
            <a:off x="365760" y="4206874"/>
            <a:ext cx="8412480" cy="219456"/>
          </a:xfrm>
          <a:prstGeom prst="rect">
            <a:avLst/>
          </a:prstGeom>
          <a:noFill/>
        </p:spPr>
        <p:txBody>
          <a:bodyPr wrap="square" lIns="45720" rIns="45720" tIns="27432" bIns="27432" anchor="t">
            <a:spAutoFit/>
          </a:bodyPr>
          <a:lstStyle/>
          <a:p>
            <a:r>
              <a:rPr sz="950" b="0" i="1">
                <a:solidFill>
                  <a:srgbClr val="5B6773"/>
                </a:solidFill>
                <a:latin typeface="Calibri"/>
              </a:rPr>
              <a:t>the Trash is a second life: listSpreadsheets does not leave a trashed spreadsheet out</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delete() moves to the Trash.</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23 / 53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3: Sheet objects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Read from a local copy, write with requests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A1 notation</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letter first, then the row number.</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getRow, getColumn</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Read a whole line as a list of text.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updateColumn</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Writes a whole column with one request.</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copyTo</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Copies a sheet into another spreadsheet.</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266700">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66700">
                <a:tc>
                  <a:txBody>
                    <a:bodyPr wrap="square"/>
                    <a:lstStyle/>
                    <a:p>
                      <a:r>
                        <a:rPr sz="100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sheets, cells and addr...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Read and write a cell: A1 notation and co...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Addresses and column letters: convertAddr...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Everyday pictures: rows and columns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Rows and columns: get and update whole li...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Cell by cell costs a request each; a colu...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Story: Google turned off the old Sheets 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Everyday pictures: more sheets in a sprea...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Create, move and delete the sheets of a 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34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Copy a sheet to another spreadsheet, and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Surprises: equal sheets, the in operator,...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24 / 53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sheets, cells and addresses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sheet is like a cinema floor plan: every seat has a letter and a number, and the numbers start at 1.</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566160"/>
                <a:gridCol w="4846320"/>
              </a:tblGrid>
              <a:tr h="34544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100" b="1" i="0">
                          <a:solidFill>
                            <a:srgbClr val="1F2933"/>
                          </a:solidFill>
                          <a:latin typeface="Calibri"/>
                        </a:rPr>
                        <a:t>Sheet Objects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floor plan of one hall.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Sheet object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One page of the binder, with its own rows and columns.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Reading and Writing Data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Reading a seat's name tag, or writing a new 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A1 notation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Seat B2: the letter first, then the 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1-based index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Seat numbers start at 1, not at 0 like a 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ezsheets.convertAddress()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Turning 'seat B2' into 'column 2, row 2' and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ezsheets.getColumnLetterOf()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Reading the sign of column 27: AA.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ezsheets.getColumnNumberOf()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Counting the seats from the sign: ZZZ is column 18278.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25 / 53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Read and write a cell: A1 notation and column, row</a:t>
            </a:r>
          </a:p>
        </p:txBody>
      </p:sp>
      <p:sp>
        <p:nvSpPr>
          <p:cNvPr id="4" name="code"/>
          <p:cNvSpPr/>
          <p:nvPr/>
        </p:nvSpPr>
        <p:spPr>
          <a:xfrm>
            <a:off x="365760" y="786384"/>
            <a:ext cx="5399531"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p>
          <a:p>
            <a:pPr algn="l"/>
            <a:r>
              <a:rPr sz="900" b="0" i="0">
                <a:solidFill>
                  <a:srgbClr val="8FA3B8"/>
                </a:solidFill>
                <a:latin typeface="Courier New"/>
              </a:rPr>
              <a:t>&gt;&gt;&gt; </a:t>
            </a:r>
            <a:r>
              <a:rPr sz="900" b="0" i="0">
                <a:solidFill>
                  <a:srgbClr val="E6EDF3"/>
                </a:solidFill>
                <a:latin typeface="Courier New"/>
              </a:rPr>
              <a:t>g</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r>
              <a:rPr sz="900" b="0" i="0">
                <a:solidFill>
                  <a:srgbClr val="E6EDF3"/>
                </a:solidFill>
                <a:latin typeface="Courier New"/>
              </a:rPr>
              <a:t>.</a:t>
            </a:r>
            <a:r>
              <a:rPr sz="900" b="0" i="0">
                <a:solidFill>
                  <a:srgbClr val="E6EDF3"/>
                </a:solidFill>
                <a:latin typeface="Courier New"/>
              </a:rPr>
              <a:t>install</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rows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'PRODUCE'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'COST'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'POUNDS'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'Okra'</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'2.26'</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'38.6'</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sheet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Spreadsheet</a:t>
            </a:r>
            <a:r>
              <a:rPr sz="900" b="0" i="0">
                <a:solidFill>
                  <a:srgbClr val="E6EDF3"/>
                </a:solidFill>
                <a:latin typeface="Courier New"/>
              </a:rPr>
              <a:t>(</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load</a:t>
            </a:r>
            <a:r>
              <a:rPr sz="900" b="0" i="0">
                <a:solidFill>
                  <a:srgbClr val="E6EDF3"/>
                </a:solidFill>
                <a:latin typeface="Courier New"/>
              </a:rPr>
              <a:t>(</a:t>
            </a:r>
            <a:r>
              <a:rPr sz="900" b="0" i="0">
                <a:solidFill>
                  <a:srgbClr val="9BE3A8"/>
                </a:solidFill>
                <a:latin typeface="Courier New"/>
              </a:rPr>
              <a:t>'P'</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'produce'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rows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sheets</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p>
        </p:txBody>
      </p:sp>
      <p:sp>
        <p:nvSpPr>
          <p:cNvPr id="5" name="explanation"/>
          <p:cNvSpPr txBox="1"/>
          <p:nvPr/>
        </p:nvSpPr>
        <p:spPr>
          <a:xfrm>
            <a:off x="5747004" y="786384"/>
            <a:ext cx="3031236" cy="694944"/>
          </a:xfrm>
          <a:prstGeom prst="rect">
            <a:avLst/>
          </a:prstGeom>
          <a:noFill/>
        </p:spPr>
        <p:txBody>
          <a:bodyPr wrap="square" lIns="128016" rIns="128016" tIns="18288" bIns="18288" anchor="ctr">
            <a:spAutoFit/>
          </a:bodyPr>
          <a:lstStyle/>
          <a:p>
            <a:r>
              <a:rPr sz="1100" b="0" i="0">
                <a:solidFill>
                  <a:srgbClr val="1F2933"/>
                </a:solidFill>
                <a:latin typeface="Calibri"/>
              </a:rPr>
              <a:t>A stand-in for the chapter's produce sheet: three columns and one row of data.</a:t>
            </a:r>
          </a:p>
        </p:txBody>
      </p:sp>
      <p:sp>
        <p:nvSpPr>
          <p:cNvPr id="6" name="code"/>
          <p:cNvSpPr/>
          <p:nvPr/>
        </p:nvSpPr>
        <p:spPr>
          <a:xfrm>
            <a:off x="365760" y="1527048"/>
            <a:ext cx="53995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log</a:t>
            </a:r>
            <a:r>
              <a:rPr sz="900" b="0" i="0">
                <a:solidFill>
                  <a:srgbClr val="E6EDF3"/>
                </a:solidFill>
                <a:latin typeface="Courier New"/>
              </a:rPr>
              <a:t>.</a:t>
            </a:r>
            <a:r>
              <a:rPr sz="900" b="0" i="0">
                <a:solidFill>
                  <a:srgbClr val="E6EDF3"/>
                </a:solidFill>
                <a:latin typeface="Courier New"/>
              </a:rPr>
              <a:t>clear</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sheet</a:t>
            </a:r>
            <a:r>
              <a:rPr sz="900" b="0" i="0">
                <a:solidFill>
                  <a:srgbClr val="E6EDF3"/>
                </a:solidFill>
                <a:latin typeface="Courier New"/>
              </a:rPr>
              <a:t>[</a:t>
            </a:r>
            <a:r>
              <a:rPr sz="900" b="0" i="0">
                <a:solidFill>
                  <a:srgbClr val="9BE3A8"/>
                </a:solidFill>
                <a:latin typeface="Courier New"/>
              </a:rPr>
              <a:t>'A1'</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sheet</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sheet</a:t>
            </a:r>
            <a:r>
              <a:rPr sz="900" b="0" i="0">
                <a:solidFill>
                  <a:srgbClr val="E6EDF3"/>
                </a:solidFill>
                <a:latin typeface="Courier New"/>
              </a:rPr>
              <a:t>[</a:t>
            </a:r>
            <a:r>
              <a:rPr sz="900" b="0" i="0">
                <a:solidFill>
                  <a:srgbClr val="9BE3A8"/>
                </a:solidFill>
                <a:latin typeface="Courier New"/>
              </a:rPr>
              <a:t>'B2'</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sheet</a:t>
            </a:r>
            <a:r>
              <a:rPr sz="900" b="0" i="0">
                <a:solidFill>
                  <a:srgbClr val="E6EDF3"/>
                </a:solidFill>
                <a:latin typeface="Courier New"/>
              </a:rPr>
              <a:t>[</a:t>
            </a:r>
            <a:r>
              <a:rPr sz="900" b="0" i="0">
                <a:solidFill>
                  <a:srgbClr val="7CC4FF"/>
                </a:solidFill>
                <a:latin typeface="Courier New"/>
              </a:rPr>
              <a:t>2</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2</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len</a:t>
            </a:r>
            <a:r>
              <a:rPr sz="900" b="0" i="0">
                <a:solidFill>
                  <a:srgbClr val="E6EDF3"/>
                </a:solidFill>
                <a:latin typeface="Courier New"/>
              </a:rPr>
              <a:t>(</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log</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'requests to read four cells'</a:t>
            </a:r>
            <a:r>
              <a:rPr sz="900" b="0" i="0">
                <a:solidFill>
                  <a:srgbClr val="E6EDF3"/>
                </a:solidFill>
                <a:latin typeface="Courier New"/>
              </a:rPr>
              <a:t>)</a:t>
            </a:r>
          </a:p>
        </p:txBody>
      </p:sp>
      <p:sp>
        <p:nvSpPr>
          <p:cNvPr id="7" name="explanation"/>
          <p:cNvSpPr txBox="1"/>
          <p:nvPr/>
        </p:nvSpPr>
        <p:spPr>
          <a:xfrm>
            <a:off x="5747004" y="1527048"/>
            <a:ext cx="3031236" cy="651891"/>
          </a:xfrm>
          <a:prstGeom prst="rect">
            <a:avLst/>
          </a:prstGeom>
          <a:noFill/>
        </p:spPr>
        <p:txBody>
          <a:bodyPr wrap="square" lIns="128016" rIns="128016" tIns="18288" bIns="18288" anchor="ctr">
            <a:spAutoFit/>
          </a:bodyPr>
          <a:lstStyle/>
          <a:p>
            <a:r>
              <a:rPr sz="1100" b="0" i="0">
                <a:solidFill>
                  <a:srgbClr val="1F2933"/>
                </a:solidFill>
                <a:latin typeface="Calibri"/>
              </a:rPr>
              <a:t>A cell is 'B2' or (2, 2): letter or column first, counting from 1. Reading a loaded sheet sends nothing.</a:t>
            </a:r>
          </a:p>
        </p:txBody>
      </p:sp>
      <p:sp>
        <p:nvSpPr>
          <p:cNvPr id="8" name="code"/>
          <p:cNvSpPr/>
          <p:nvPr/>
        </p:nvSpPr>
        <p:spPr>
          <a:xfrm>
            <a:off x="365760" y="2224658"/>
            <a:ext cx="5399531"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sheet</a:t>
            </a:r>
            <a:r>
              <a:rPr sz="900" b="0" i="0">
                <a:solidFill>
                  <a:srgbClr val="E6EDF3"/>
                </a:solidFill>
                <a:latin typeface="Courier New"/>
              </a:rPr>
              <a:t>[</a:t>
            </a:r>
            <a:r>
              <a:rPr sz="900" b="0" i="0">
                <a:solidFill>
                  <a:srgbClr val="9BE3A8"/>
                </a:solidFill>
                <a:latin typeface="Courier New"/>
              </a:rPr>
              <a:t>'B2'</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30</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repr</a:t>
            </a:r>
            <a:r>
              <a:rPr sz="900" b="0" i="0">
                <a:solidFill>
                  <a:srgbClr val="E6EDF3"/>
                </a:solidFill>
                <a:latin typeface="Courier New"/>
              </a:rPr>
              <a:t>(</a:t>
            </a:r>
            <a:r>
              <a:rPr sz="900" b="0" i="0">
                <a:solidFill>
                  <a:srgbClr val="E6EDF3"/>
                </a:solidFill>
                <a:latin typeface="Courier New"/>
              </a:rPr>
              <a:t>sheet</a:t>
            </a:r>
            <a:r>
              <a:rPr sz="900" b="0" i="0">
                <a:solidFill>
                  <a:srgbClr val="E6EDF3"/>
                </a:solidFill>
                <a:latin typeface="Courier New"/>
              </a:rPr>
              <a:t>[</a:t>
            </a:r>
            <a:r>
              <a:rPr sz="900" b="0" i="0">
                <a:solidFill>
                  <a:srgbClr val="9BE3A8"/>
                </a:solidFill>
                <a:latin typeface="Courier New"/>
              </a:rPr>
              <a:t>'B2'</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log</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log</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2</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split</a:t>
            </a:r>
            <a:r>
              <a:rPr sz="900" b="0" i="0">
                <a:solidFill>
                  <a:srgbClr val="E6EDF3"/>
                </a:solidFill>
                <a:latin typeface="Courier New"/>
              </a:rPr>
              <a:t>(</a:t>
            </a:r>
            <a:r>
              <a:rPr sz="900" b="0" i="0">
                <a:solidFill>
                  <a:srgbClr val="9BE3A8"/>
                </a:solidFill>
                <a:latin typeface="Courier New"/>
              </a:rPr>
              <a:t>'&amp;'</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refresh</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repr</a:t>
            </a:r>
            <a:r>
              <a:rPr sz="900" b="0" i="0">
                <a:solidFill>
                  <a:srgbClr val="E6EDF3"/>
                </a:solidFill>
                <a:latin typeface="Courier New"/>
              </a:rPr>
              <a:t>(</a:t>
            </a:r>
            <a:r>
              <a:rPr sz="900" b="0" i="0">
                <a:solidFill>
                  <a:srgbClr val="E6EDF3"/>
                </a:solidFill>
                <a:latin typeface="Courier New"/>
              </a:rPr>
              <a:t>sheet</a:t>
            </a:r>
            <a:r>
              <a:rPr sz="900" b="0" i="0">
                <a:solidFill>
                  <a:srgbClr val="E6EDF3"/>
                </a:solidFill>
                <a:latin typeface="Courier New"/>
              </a:rPr>
              <a:t>[</a:t>
            </a:r>
            <a:r>
              <a:rPr sz="900" b="0" i="0">
                <a:solidFill>
                  <a:srgbClr val="9BE3A8"/>
                </a:solidFill>
                <a:latin typeface="Courier New"/>
              </a:rPr>
              <a:t>'B2'</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747004" y="2224658"/>
            <a:ext cx="3031236" cy="694944"/>
          </a:xfrm>
          <a:prstGeom prst="rect">
            <a:avLst/>
          </a:prstGeom>
          <a:noFill/>
        </p:spPr>
        <p:txBody>
          <a:bodyPr wrap="square" lIns="128016" rIns="128016" tIns="18288" bIns="18288" anchor="ctr">
            <a:spAutoFit/>
          </a:bodyPr>
          <a:lstStyle/>
          <a:p>
            <a:r>
              <a:rPr sz="1100" b="0" i="0">
                <a:solidFill>
                  <a:srgbClr val="1F2933"/>
                </a:solidFill>
                <a:latin typeface="Calibri"/>
              </a:rPr>
              <a:t>A write is one PUT request. The local copy shows 30 until refresh() reads the text Google holds.</a:t>
            </a:r>
          </a:p>
        </p:txBody>
      </p:sp>
      <p:sp>
        <p:nvSpPr>
          <p:cNvPr id="10" name="result label"/>
          <p:cNvSpPr txBox="1"/>
          <p:nvPr/>
        </p:nvSpPr>
        <p:spPr>
          <a:xfrm>
            <a:off x="365760" y="2992755"/>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sheet grid"/>
          <p:cNvGraphicFramePr>
            <a:graphicFrameLocks noGrp="1"/>
          </p:cNvGraphicFramePr>
          <p:nvPr/>
        </p:nvGraphicFramePr>
        <p:xfrm>
          <a:off x="365760" y="3267075"/>
          <a:ext cx="3869739" cy="740664"/>
        </p:xfrm>
        <a:graphic>
          <a:graphicData uri="http://schemas.openxmlformats.org/drawingml/2006/table">
            <a:tbl>
              <a:tblPr firstRow="0" bandRow="0"/>
              <a:tblGrid>
                <a:gridCol w="318684"/>
                <a:gridCol w="1183685"/>
                <a:gridCol w="1183685"/>
                <a:gridCol w="1183685"/>
              </a:tblGrid>
              <a:tr h="246888">
                <a:tc>
                  <a:txBody>
                    <a:bodyPr wrap="square"/>
                    <a:lstStyle/>
                    <a:p>
                      <a:pPr algn="ctr"/>
                      <a:r>
                        <a:rPr sz="900" b="1" i="0">
                          <a:solidFill>
                            <a:srgbClr val="FFFFFF"/>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900" b="1" i="0">
                          <a:solidFill>
                            <a:srgbClr val="FFFFFF"/>
                          </a:solidFill>
                          <a:latin typeface="Calibri"/>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900" b="1" i="0">
                          <a:solidFill>
                            <a:srgbClr val="FFFFFF"/>
                          </a:solidFill>
                          <a:latin typeface="Calibri"/>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900" b="1" i="0">
                          <a:solidFill>
                            <a:srgbClr val="FFFFFF"/>
                          </a:solidFill>
                          <a:latin typeface="Calibri"/>
                        </a:rPr>
                        <a:t>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pPr algn="ctr"/>
                      <a:r>
                        <a:rPr sz="900" b="1"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pPr algn="ctr"/>
                      <a:r>
                        <a:rPr sz="900" b="0" i="0">
                          <a:solidFill>
                            <a:srgbClr val="1F2933"/>
                          </a:solidFill>
                          <a:latin typeface="Calibri"/>
                        </a:rPr>
                        <a:t>PRODUCE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00" b="0" i="0">
                          <a:solidFill>
                            <a:srgbClr val="1F2933"/>
                          </a:solidFill>
                          <a:latin typeface="Calibri"/>
                        </a:rPr>
                        <a:t>COST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00" b="0" i="0">
                          <a:solidFill>
                            <a:srgbClr val="1F2933"/>
                          </a:solidFill>
                          <a:latin typeface="Calibri"/>
                        </a:rPr>
                        <a:t>POUNDS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pPr algn="ctr"/>
                      <a:r>
                        <a:rPr sz="900" b="1"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pPr algn="ctr"/>
                      <a:r>
                        <a:rPr sz="900" b="0" i="0">
                          <a:solidFill>
                            <a:srgbClr val="1F2933"/>
                          </a:solidFill>
                          <a:latin typeface="Calibri"/>
                        </a:rPr>
                        <a:t>Okra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90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pPr algn="ctr"/>
                      <a:r>
                        <a:rPr sz="900" b="0" i="0">
                          <a:solidFill>
                            <a:srgbClr val="1F2933"/>
                          </a:solidFill>
                          <a:latin typeface="Calibri"/>
                        </a:rPr>
                        <a:t>38.6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Rounded Rectangle 11"/>
          <p:cNvSpPr/>
          <p:nvPr/>
        </p:nvSpPr>
        <p:spPr>
          <a:xfrm>
            <a:off x="4572000" y="3267075"/>
            <a:ext cx="4206240" cy="256032"/>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reading four cells: 0 requests</a:t>
            </a:r>
          </a:p>
        </p:txBody>
      </p:sp>
      <p:sp>
        <p:nvSpPr>
          <p:cNvPr id="13" name="Rounded Rectangle 12"/>
          <p:cNvSpPr/>
          <p:nvPr/>
        </p:nvSpPr>
        <p:spPr>
          <a:xfrm>
            <a:off x="4572000" y="3587115"/>
            <a:ext cx="4206240" cy="256032"/>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write: PUT valueInputOption=USER_ENTERED</a:t>
            </a:r>
          </a:p>
        </p:txBody>
      </p:sp>
      <p:sp>
        <p:nvSpPr>
          <p:cNvPr id="14" name="Rounded Rectangle 13"/>
          <p:cNvSpPr/>
          <p:nvPr/>
        </p:nvSpPr>
        <p:spPr>
          <a:xfrm>
            <a:off x="4572000" y="3907154"/>
            <a:ext cx="4206240" cy="25603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local copy after the write: 30 (a number)</a:t>
            </a:r>
          </a:p>
        </p:txBody>
      </p:sp>
      <p:sp>
        <p:nvSpPr>
          <p:cNvPr id="15" name="Rounded Rectangle 14"/>
          <p:cNvSpPr/>
          <p:nvPr/>
        </p:nvSpPr>
        <p:spPr>
          <a:xfrm>
            <a:off x="4572000" y="4227195"/>
            <a:ext cx="4206240" cy="256032"/>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after refresh(): '30' (text)</a:t>
            </a:r>
          </a:p>
        </p:txBody>
      </p:sp>
      <p:sp>
        <p:nvSpPr>
          <p:cNvPr id="1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write is one request; a read is none.</a:t>
            </a:r>
          </a:p>
        </p:txBody>
      </p:sp>
      <p:sp>
        <p:nvSpPr>
          <p:cNvPr id="1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26 / 53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Addresses and column letters: convertAddress and friends</a:t>
            </a:r>
          </a:p>
        </p:txBody>
      </p:sp>
      <p:sp>
        <p:nvSpPr>
          <p:cNvPr id="4" name="code"/>
          <p:cNvSpPr/>
          <p:nvPr/>
        </p:nvSpPr>
        <p:spPr>
          <a:xfrm>
            <a:off x="365760" y="786384"/>
            <a:ext cx="8412480" cy="64846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ezsheets</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ezsheets</a:t>
            </a:r>
            <a:r>
              <a:rPr sz="1100" b="0" i="0">
                <a:solidFill>
                  <a:srgbClr val="E6EDF3"/>
                </a:solidFill>
                <a:latin typeface="Courier New"/>
              </a:rPr>
              <a:t>.</a:t>
            </a:r>
            <a:r>
              <a:rPr sz="1100" b="0" i="0">
                <a:solidFill>
                  <a:srgbClr val="E6EDF3"/>
                </a:solidFill>
                <a:latin typeface="Courier New"/>
              </a:rPr>
              <a:t>convertAddress</a:t>
            </a:r>
            <a:r>
              <a:rPr sz="1100" b="0" i="0">
                <a:solidFill>
                  <a:srgbClr val="E6EDF3"/>
                </a:solidFill>
                <a:latin typeface="Courier New"/>
              </a:rPr>
              <a:t>(</a:t>
            </a:r>
            <a:r>
              <a:rPr sz="1100" b="0" i="0">
                <a:solidFill>
                  <a:srgbClr val="9BE3A8"/>
                </a:solidFill>
                <a:latin typeface="Courier New"/>
              </a:rPr>
              <a:t>'A2'</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ezsheets</a:t>
            </a:r>
            <a:r>
              <a:rPr sz="1100" b="0" i="0">
                <a:solidFill>
                  <a:srgbClr val="E6EDF3"/>
                </a:solidFill>
                <a:latin typeface="Courier New"/>
              </a:rPr>
              <a:t>.</a:t>
            </a:r>
            <a:r>
              <a:rPr sz="1100" b="0" i="0">
                <a:solidFill>
                  <a:srgbClr val="E6EDF3"/>
                </a:solidFill>
                <a:latin typeface="Courier New"/>
              </a:rPr>
              <a:t>convertAddress</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2</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ezsheets</a:t>
            </a:r>
            <a:r>
              <a:rPr sz="1100" b="0" i="0">
                <a:solidFill>
                  <a:srgbClr val="E6EDF3"/>
                </a:solidFill>
                <a:latin typeface="Courier New"/>
              </a:rPr>
              <a:t>.</a:t>
            </a:r>
            <a:r>
              <a:rPr sz="1100" b="0" i="0">
                <a:solidFill>
                  <a:srgbClr val="E6EDF3"/>
                </a:solidFill>
                <a:latin typeface="Courier New"/>
              </a:rPr>
              <a:t>convertAddress</a:t>
            </a:r>
            <a:r>
              <a:rPr sz="1100" b="0" i="0">
                <a:solidFill>
                  <a:srgbClr val="E6EDF3"/>
                </a:solidFill>
                <a:latin typeface="Courier New"/>
              </a:rPr>
              <a:t>(</a:t>
            </a:r>
            <a:r>
              <a:rPr sz="1100" b="0" i="0">
                <a:solidFill>
                  <a:srgbClr val="E6EDF3"/>
                </a:solidFill>
                <a:latin typeface="Courier New"/>
              </a:rPr>
              <a:t>(</a:t>
            </a:r>
            <a:r>
              <a:rPr sz="1100" b="0" i="0">
                <a:solidFill>
                  <a:srgbClr val="7CC4FF"/>
                </a:solidFill>
                <a:latin typeface="Courier New"/>
              </a:rPr>
              <a:t>2</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5</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365760" y="1443990"/>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convertAddress turns a name such as 'A2' into a (column, row) pair, and a pair back into a name.</a:t>
            </a:r>
          </a:p>
        </p:txBody>
      </p:sp>
      <p:sp>
        <p:nvSpPr>
          <p:cNvPr id="6" name="code"/>
          <p:cNvSpPr/>
          <p:nvPr/>
        </p:nvSpPr>
        <p:spPr>
          <a:xfrm>
            <a:off x="365760" y="1799082"/>
            <a:ext cx="8412480" cy="64846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L</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ezsheets</a:t>
            </a:r>
            <a:r>
              <a:rPr sz="1100" b="0" i="0">
                <a:solidFill>
                  <a:srgbClr val="E6EDF3"/>
                </a:solidFill>
                <a:latin typeface="Courier New"/>
              </a:rPr>
              <a:t>.</a:t>
            </a:r>
            <a:r>
              <a:rPr sz="1100" b="0" i="0">
                <a:solidFill>
                  <a:srgbClr val="E6EDF3"/>
                </a:solidFill>
                <a:latin typeface="Courier New"/>
              </a:rPr>
              <a:t>getColumnLetterOf</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ezsheets</a:t>
            </a:r>
            <a:r>
              <a:rPr sz="1100" b="0" i="0">
                <a:solidFill>
                  <a:srgbClr val="E6EDF3"/>
                </a:solidFill>
                <a:latin typeface="Courier New"/>
              </a:rPr>
              <a:t>.</a:t>
            </a:r>
            <a:r>
              <a:rPr sz="1100" b="0" i="0">
                <a:solidFill>
                  <a:srgbClr val="E6EDF3"/>
                </a:solidFill>
                <a:latin typeface="Courier New"/>
              </a:rPr>
              <a:t>getColumnNumberOf</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L</a:t>
            </a:r>
            <a:r>
              <a:rPr sz="1100" b="0" i="0">
                <a:solidFill>
                  <a:srgbClr val="E6EDF3"/>
                </a:solidFill>
                <a:latin typeface="Courier New"/>
              </a:rPr>
              <a:t>(</a:t>
            </a:r>
            <a:r>
              <a:rPr sz="1100" b="0" i="0">
                <a:solidFill>
                  <a:srgbClr val="7CC4FF"/>
                </a:solidFill>
                <a:latin typeface="Courier New"/>
              </a:rPr>
              <a:t>2</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a:t>
            </a:r>
            <a:r>
              <a:rPr sz="1100" b="0" i="0">
                <a:solidFill>
                  <a:srgbClr val="E6EDF3"/>
                </a:solidFill>
                <a:latin typeface="Courier New"/>
              </a:rPr>
              <a:t>(</a:t>
            </a:r>
            <a:r>
              <a:rPr sz="1100" b="0" i="0">
                <a:solidFill>
                  <a:srgbClr val="7CC4FF"/>
                </a:solidFill>
                <a:latin typeface="Courier New"/>
              </a:rPr>
              <a:t>27</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a:t>
            </a:r>
            <a:r>
              <a:rPr sz="1100" b="0" i="0">
                <a:solidFill>
                  <a:srgbClr val="E6EDF3"/>
                </a:solidFill>
                <a:latin typeface="Courier New"/>
              </a:rPr>
              <a:t>(</a:t>
            </a:r>
            <a:r>
              <a:rPr sz="1100" b="0" i="0">
                <a:solidFill>
                  <a:srgbClr val="7CC4FF"/>
                </a:solidFill>
                <a:latin typeface="Courier New"/>
              </a:rPr>
              <a:t>999</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N</a:t>
            </a:r>
            <a:r>
              <a:rPr sz="1100" b="0" i="0">
                <a:solidFill>
                  <a:srgbClr val="E6EDF3"/>
                </a:solidFill>
                <a:latin typeface="Courier New"/>
              </a:rPr>
              <a:t>(</a:t>
            </a:r>
            <a:r>
              <a:rPr sz="1100" b="0" i="0">
                <a:solidFill>
                  <a:srgbClr val="9BE3A8"/>
                </a:solidFill>
                <a:latin typeface="Courier New"/>
              </a:rPr>
              <a:t>'B'</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a:t>
            </a:r>
            <a:r>
              <a:rPr sz="1100" b="0" i="0">
                <a:solidFill>
                  <a:srgbClr val="E6EDF3"/>
                </a:solidFill>
                <a:latin typeface="Courier New"/>
              </a:rPr>
              <a:t>(</a:t>
            </a:r>
            <a:r>
              <a:rPr sz="1100" b="0" i="0">
                <a:solidFill>
                  <a:srgbClr val="9BE3A8"/>
                </a:solidFill>
                <a:latin typeface="Courier New"/>
              </a:rPr>
              <a:t>'ZZZ'</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365760" y="2456688"/>
            <a:ext cx="8412480" cy="509016"/>
          </a:xfrm>
          <a:prstGeom prst="rect">
            <a:avLst/>
          </a:prstGeom>
          <a:noFill/>
        </p:spPr>
        <p:txBody>
          <a:bodyPr wrap="square" lIns="109728" rIns="109728" tIns="18288" bIns="18288" anchor="ctr">
            <a:spAutoFit/>
          </a:bodyPr>
          <a:lstStyle/>
          <a:p>
            <a:r>
              <a:rPr sz="1200" b="0" i="0">
                <a:solidFill>
                  <a:srgbClr val="1F2933"/>
                </a:solidFill>
                <a:latin typeface="Calibri"/>
              </a:rPr>
              <a:t>Column letters count like digits without a zero: 27 is AA, 999 is ALK and ZZZ is column 18278, the last one a sheet can have.</a:t>
            </a:r>
          </a:p>
        </p:txBody>
      </p:sp>
      <p:sp>
        <p:nvSpPr>
          <p:cNvPr id="8" name="result label"/>
          <p:cNvSpPr txBox="1"/>
          <p:nvPr/>
        </p:nvSpPr>
        <p:spPr>
          <a:xfrm>
            <a:off x="365760" y="302971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304031"/>
          <a:ext cx="4037989" cy="1234440"/>
        </p:xfrm>
        <a:graphic>
          <a:graphicData uri="http://schemas.openxmlformats.org/drawingml/2006/table">
            <a:tbl>
              <a:tblPr firstRow="0" bandRow="0"/>
              <a:tblGrid>
                <a:gridCol w="2691993"/>
                <a:gridCol w="1345996"/>
              </a:tblGrid>
              <a:tr h="246888">
                <a:tc>
                  <a:txBody>
                    <a:bodyPr wrap="square"/>
                    <a:lstStyle/>
                    <a:p>
                      <a:r>
                        <a:rPr sz="9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950" b="0" i="0">
                          <a:solidFill>
                            <a:srgbClr val="1F2933"/>
                          </a:solidFill>
                          <a:latin typeface="Courier New"/>
                        </a:rPr>
                        <a:t>convertAddress('A2')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(1, 2)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950" b="0" i="0">
                          <a:solidFill>
                            <a:srgbClr val="1F2933"/>
                          </a:solidFill>
                          <a:latin typeface="Courier New"/>
                        </a:rPr>
                        <a:t>convertAddress(1,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'A2'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950" b="0" i="0">
                          <a:solidFill>
                            <a:srgbClr val="1F2933"/>
                          </a:solidFill>
                          <a:latin typeface="Courier New"/>
                        </a:rPr>
                        <a:t>convertAddress((2, 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'B5'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950" b="0" i="0">
                          <a:solidFill>
                            <a:srgbClr val="1F2933"/>
                          </a:solidFill>
                          <a:latin typeface="Courier New"/>
                        </a:rPr>
                        <a:t>getColumnLetterOf(2)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0" name="table"/>
          <p:cNvGraphicFramePr>
            <a:graphicFrameLocks noGrp="1"/>
          </p:cNvGraphicFramePr>
          <p:nvPr/>
        </p:nvGraphicFramePr>
        <p:xfrm>
          <a:off x="4740249" y="3304031"/>
          <a:ext cx="4037989" cy="1234440"/>
        </p:xfrm>
        <a:graphic>
          <a:graphicData uri="http://schemas.openxmlformats.org/drawingml/2006/table">
            <a:tbl>
              <a:tblPr firstRow="0" bandRow="0"/>
              <a:tblGrid>
                <a:gridCol w="2691993"/>
                <a:gridCol w="1345996"/>
              </a:tblGrid>
              <a:tr h="246888">
                <a:tc>
                  <a:txBody>
                    <a:bodyPr wrap="square"/>
                    <a:lstStyle/>
                    <a:p>
                      <a:r>
                        <a:rPr sz="9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950" b="0" i="0">
                          <a:solidFill>
                            <a:srgbClr val="1F2933"/>
                          </a:solidFill>
                          <a:latin typeface="Courier New"/>
                        </a:rPr>
                        <a:t>getColumnLetterOf(27)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'AA'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950" b="0" i="0">
                          <a:solidFill>
                            <a:srgbClr val="1F2933"/>
                          </a:solidFill>
                          <a:latin typeface="Courier New"/>
                        </a:rPr>
                        <a:t>getColumnLetterOf(999)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'ALK'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950" b="0" i="0">
                          <a:solidFill>
                            <a:srgbClr val="1F2933"/>
                          </a:solidFill>
                          <a:latin typeface="Courier New"/>
                        </a:rPr>
                        <a:t>getColumnNumberOf('B')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950" b="0" i="0">
                          <a:solidFill>
                            <a:srgbClr val="1F2933"/>
                          </a:solidFill>
                          <a:latin typeface="Courier New"/>
                        </a:rPr>
                        <a:t>getColumnNumberOf('ZZZ')</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18278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sp>
        <p:nvSpPr>
          <p:cNvPr id="11" name="visual note"/>
          <p:cNvSpPr txBox="1"/>
          <p:nvPr/>
        </p:nvSpPr>
        <p:spPr>
          <a:xfrm>
            <a:off x="365760" y="4584191"/>
            <a:ext cx="8412480" cy="219456"/>
          </a:xfrm>
          <a:prstGeom prst="rect">
            <a:avLst/>
          </a:prstGeom>
          <a:noFill/>
        </p:spPr>
        <p:txBody>
          <a:bodyPr wrap="square" lIns="45720" rIns="45720" tIns="27432" bIns="27432" anchor="t">
            <a:spAutoFit/>
          </a:bodyPr>
          <a:lstStyle/>
          <a:p>
            <a:r>
              <a:rPr sz="900" b="0" i="1">
                <a:solidFill>
                  <a:srgbClr val="5B6773"/>
                </a:solidFill>
                <a:latin typeface="Calibri"/>
              </a:rPr>
              <a:t>the results come from calling the library again with the same arguments; amber: the last column of a sheet</a:t>
            </a:r>
          </a:p>
        </p:txBody>
      </p:sp>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Letters count like digits without a zero.</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27 / 53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rows and columns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row or a column is like a row of seats: you can ask for the whole row at once, or change it with one announcement.</a:t>
            </a:r>
          </a:p>
        </p:txBody>
      </p:sp>
      <p:graphicFrame>
        <p:nvGraphicFramePr>
          <p:cNvPr id="6" name="table"/>
          <p:cNvGraphicFramePr>
            <a:graphicFrameLocks noGrp="1"/>
          </p:cNvGraphicFramePr>
          <p:nvPr/>
        </p:nvGraphicFramePr>
        <p:xfrm>
          <a:off x="365760" y="1417320"/>
          <a:ext cx="8412480" cy="3108959"/>
        </p:xfrm>
        <a:graphic>
          <a:graphicData uri="http://schemas.openxmlformats.org/drawingml/2006/table">
            <a:tbl>
              <a:tblPr firstRow="0" bandRow="0"/>
              <a:tblGrid>
                <a:gridCol w="3566160"/>
                <a:gridCol w="4846320"/>
              </a:tblGrid>
              <a:tr h="444137">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44137">
                <a:tc>
                  <a:txBody>
                    <a:bodyPr wrap="square"/>
                    <a:lstStyle/>
                    <a:p>
                      <a:r>
                        <a:rPr sz="1100" b="1" i="0">
                          <a:solidFill>
                            <a:srgbClr val="1F2933"/>
                          </a:solidFill>
                          <a:latin typeface="Calibri"/>
                        </a:rPr>
                        <a:t>Sheet.getRow()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Reading out one whole row of seats.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Sheet.getRows()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Reading out the whole hall.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Sheet.getColumn()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Reading out the seats of one letter, from front to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Sheet.updateRow()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Replacing the name tags of one row with one announcement.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Sheet.updateRows()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Replacing several rows with one announcement.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Sheet.updateColumn()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Replacing the name tags of one column at once.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28 / 53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Rows and columns: get and update whole lines</a:t>
            </a:r>
          </a:p>
        </p:txBody>
      </p:sp>
      <p:sp>
        <p:nvSpPr>
          <p:cNvPr id="4" name="code"/>
          <p:cNvSpPr/>
          <p:nvPr/>
        </p:nvSpPr>
        <p:spPr>
          <a:xfrm>
            <a:off x="365760" y="786384"/>
            <a:ext cx="5536691" cy="83439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p>
          <a:p>
            <a:pPr algn="l"/>
            <a:r>
              <a:rPr sz="900" b="0" i="0">
                <a:solidFill>
                  <a:srgbClr val="8FA3B8"/>
                </a:solidFill>
                <a:latin typeface="Courier New"/>
              </a:rPr>
              <a:t>&gt;&gt;&gt; </a:t>
            </a:r>
            <a:r>
              <a:rPr sz="900" b="0" i="0">
                <a:solidFill>
                  <a:srgbClr val="E6EDF3"/>
                </a:solidFill>
                <a:latin typeface="Courier New"/>
              </a:rPr>
              <a:t>g</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r>
              <a:rPr sz="900" b="0" i="0">
                <a:solidFill>
                  <a:srgbClr val="E6EDF3"/>
                </a:solidFill>
                <a:latin typeface="Courier New"/>
              </a:rPr>
              <a:t>.</a:t>
            </a:r>
            <a:r>
              <a:rPr sz="900" b="0" i="0">
                <a:solidFill>
                  <a:srgbClr val="E6EDF3"/>
                </a:solidFill>
                <a:latin typeface="Courier New"/>
              </a:rPr>
              <a:t>install</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rows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'PRODUCE'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'COST'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'POUNDS'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'Okra'</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'2.26'</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'38.6'</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'Garlic'</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'1.19'</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'10'</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sheet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Spreadsheet</a:t>
            </a:r>
            <a:r>
              <a:rPr sz="900" b="0" i="0">
                <a:solidFill>
                  <a:srgbClr val="E6EDF3"/>
                </a:solidFill>
                <a:latin typeface="Courier New"/>
              </a:rPr>
              <a:t>(</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load</a:t>
            </a:r>
            <a:r>
              <a:rPr sz="900" b="0" i="0">
                <a:solidFill>
                  <a:srgbClr val="E6EDF3"/>
                </a:solidFill>
                <a:latin typeface="Courier New"/>
              </a:rPr>
              <a:t>(</a:t>
            </a:r>
            <a:r>
              <a:rPr sz="900" b="0" i="0">
                <a:solidFill>
                  <a:srgbClr val="9BE3A8"/>
                </a:solidFill>
                <a:latin typeface="Courier New"/>
              </a:rPr>
              <a:t>'P'</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'produce'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rows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sheets</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p>
        </p:txBody>
      </p:sp>
      <p:sp>
        <p:nvSpPr>
          <p:cNvPr id="5" name="explanation"/>
          <p:cNvSpPr txBox="1"/>
          <p:nvPr/>
        </p:nvSpPr>
        <p:spPr>
          <a:xfrm>
            <a:off x="5884164" y="786384"/>
            <a:ext cx="2894076" cy="834390"/>
          </a:xfrm>
          <a:prstGeom prst="rect">
            <a:avLst/>
          </a:prstGeom>
          <a:noFill/>
        </p:spPr>
        <p:txBody>
          <a:bodyPr wrap="square" lIns="128016" rIns="128016" tIns="18288" bIns="18288" anchor="ctr">
            <a:spAutoFit/>
          </a:bodyPr>
          <a:lstStyle/>
          <a:p>
            <a:r>
              <a:rPr sz="1100" b="0" i="0">
                <a:solidFill>
                  <a:srgbClr val="1F2933"/>
                </a:solidFill>
                <a:latin typeface="Calibri"/>
              </a:rPr>
              <a:t>The stand-in produce sheet: a heading and two rows.</a:t>
            </a:r>
          </a:p>
        </p:txBody>
      </p:sp>
      <p:sp>
        <p:nvSpPr>
          <p:cNvPr id="6" name="code"/>
          <p:cNvSpPr/>
          <p:nvPr/>
        </p:nvSpPr>
        <p:spPr>
          <a:xfrm>
            <a:off x="365760" y="1666494"/>
            <a:ext cx="553669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getRow</a:t>
            </a:r>
            <a:r>
              <a:rPr sz="900" b="0" i="0">
                <a:solidFill>
                  <a:srgbClr val="E6EDF3"/>
                </a:solidFill>
                <a:latin typeface="Courier New"/>
              </a:rPr>
              <a:t>(</a:t>
            </a:r>
            <a:r>
              <a:rPr sz="900" b="0" i="0">
                <a:solidFill>
                  <a:srgbClr val="7CC4FF"/>
                </a:solidFill>
                <a:latin typeface="Courier New"/>
              </a:rPr>
              <a:t>2</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getColumn</a:t>
            </a:r>
            <a:r>
              <a:rPr sz="900" b="0" i="0">
                <a:solidFill>
                  <a:srgbClr val="E6EDF3"/>
                </a:solidFill>
                <a:latin typeface="Courier New"/>
              </a:rPr>
              <a:t>(</a:t>
            </a:r>
            <a:r>
              <a:rPr sz="900" b="0" i="0">
                <a:solidFill>
                  <a:srgbClr val="9BE3A8"/>
                </a:solidFill>
                <a:latin typeface="Courier New"/>
              </a:rPr>
              <a:t>'A'</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getColumn</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getColumn</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3</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884164" y="1666494"/>
            <a:ext cx="2894076" cy="651891"/>
          </a:xfrm>
          <a:prstGeom prst="rect">
            <a:avLst/>
          </a:prstGeom>
          <a:noFill/>
        </p:spPr>
        <p:txBody>
          <a:bodyPr wrap="square" lIns="128016" rIns="128016" tIns="18288" bIns="18288" anchor="ctr">
            <a:spAutoFit/>
          </a:bodyPr>
          <a:lstStyle/>
          <a:p>
            <a:r>
              <a:rPr sz="1100" b="0" i="0">
                <a:solidFill>
                  <a:srgbClr val="1F2933"/>
                </a:solidFill>
                <a:latin typeface="Calibri"/>
              </a:rPr>
              <a:t>getRow and getColumn return lists of text. A column is a letter or a number.</a:t>
            </a:r>
          </a:p>
        </p:txBody>
      </p:sp>
      <p:sp>
        <p:nvSpPr>
          <p:cNvPr id="8" name="code"/>
          <p:cNvSpPr/>
          <p:nvPr/>
        </p:nvSpPr>
        <p:spPr>
          <a:xfrm>
            <a:off x="365760" y="2364105"/>
            <a:ext cx="5536691" cy="55549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updateRow</a:t>
            </a:r>
            <a:r>
              <a:rPr sz="900" b="0" i="0">
                <a:solidFill>
                  <a:srgbClr val="E6EDF3"/>
                </a:solidFill>
                <a:latin typeface="Courier New"/>
              </a:rPr>
              <a:t>(</a:t>
            </a:r>
            <a:r>
              <a:rPr sz="900" b="0" i="0">
                <a:solidFill>
                  <a:srgbClr val="7CC4FF"/>
                </a:solidFill>
                <a:latin typeface="Courier New"/>
              </a:rPr>
              <a:t>3</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'Pumpkin'</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'11.50'</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'20'</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updateColumn</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v</a:t>
            </a:r>
            <a:r>
              <a:rPr sz="900" b="0" i="0">
                <a:solidFill>
                  <a:srgbClr val="E6EDF3"/>
                </a:solidFill>
                <a:latin typeface="Courier New"/>
              </a:rPr>
              <a:t>.</a:t>
            </a:r>
            <a:r>
              <a:rPr sz="900" b="0" i="0">
                <a:solidFill>
                  <a:srgbClr val="E6EDF3"/>
                </a:solidFill>
                <a:latin typeface="Courier New"/>
              </a:rPr>
              <a:t>upper</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v</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getColumn</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getRows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884164" y="2364105"/>
            <a:ext cx="2894076" cy="555498"/>
          </a:xfrm>
          <a:prstGeom prst="rect">
            <a:avLst/>
          </a:prstGeom>
          <a:noFill/>
        </p:spPr>
        <p:txBody>
          <a:bodyPr wrap="square" lIns="128016" rIns="128016" tIns="18288" bIns="18288" anchor="ctr">
            <a:spAutoFit/>
          </a:bodyPr>
          <a:lstStyle/>
          <a:p>
            <a:r>
              <a:rPr sz="1100" b="0" i="0">
                <a:solidFill>
                  <a:srgbClr val="1F2933"/>
                </a:solidFill>
                <a:latin typeface="Calibri"/>
              </a:rPr>
              <a:t>Each update replaces a whole line with one request.</a:t>
            </a:r>
          </a:p>
        </p:txBody>
      </p:sp>
      <p:sp>
        <p:nvSpPr>
          <p:cNvPr id="10" name="result label"/>
          <p:cNvSpPr txBox="1"/>
          <p:nvPr/>
        </p:nvSpPr>
        <p:spPr>
          <a:xfrm>
            <a:off x="365760" y="2992755"/>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sheet grid"/>
          <p:cNvGraphicFramePr>
            <a:graphicFrameLocks noGrp="1"/>
          </p:cNvGraphicFramePr>
          <p:nvPr/>
        </p:nvGraphicFramePr>
        <p:xfrm>
          <a:off x="365760" y="3267075"/>
          <a:ext cx="4206237" cy="1024128"/>
        </p:xfrm>
        <a:graphic>
          <a:graphicData uri="http://schemas.openxmlformats.org/drawingml/2006/table">
            <a:tbl>
              <a:tblPr firstRow="0" bandRow="0"/>
              <a:tblGrid>
                <a:gridCol w="323556"/>
                <a:gridCol w="1294227"/>
                <a:gridCol w="1294227"/>
                <a:gridCol w="1294227"/>
              </a:tblGrid>
              <a:tr h="256032">
                <a:tc>
                  <a:txBody>
                    <a:bodyPr wrap="square"/>
                    <a:lstStyle/>
                    <a:p>
                      <a:pPr algn="ctr"/>
                      <a:r>
                        <a:rPr sz="950" b="1" i="0">
                          <a:solidFill>
                            <a:srgbClr val="FFFFFF"/>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950" b="1" i="0">
                          <a:solidFill>
                            <a:srgbClr val="FFFFFF"/>
                          </a:solidFill>
                          <a:latin typeface="Calibri"/>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950" b="1" i="0">
                          <a:solidFill>
                            <a:srgbClr val="FFFFFF"/>
                          </a:solidFill>
                          <a:latin typeface="Calibri"/>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950" b="1" i="0">
                          <a:solidFill>
                            <a:srgbClr val="FFFFFF"/>
                          </a:solidFill>
                          <a:latin typeface="Calibri"/>
                        </a:rPr>
                        <a:t>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56032">
                <a:tc>
                  <a:txBody>
                    <a:bodyPr wrap="square"/>
                    <a:lstStyle/>
                    <a:p>
                      <a:pPr algn="ctr"/>
                      <a:r>
                        <a:rPr sz="950" b="1"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pPr algn="ctr"/>
                      <a:r>
                        <a:rPr sz="950" b="0" i="0">
                          <a:solidFill>
                            <a:srgbClr val="1F2933"/>
                          </a:solidFill>
                          <a:latin typeface="Calibri"/>
                        </a:rPr>
                        <a:t>PRODUCE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7EEF0"/>
                    </a:solidFill>
                  </a:tcPr>
                </a:tc>
                <a:tc>
                  <a:txBody>
                    <a:bodyPr wrap="square"/>
                    <a:lstStyle/>
                    <a:p>
                      <a:pPr algn="ctr"/>
                      <a:r>
                        <a:rPr sz="950" b="0" i="0">
                          <a:solidFill>
                            <a:srgbClr val="1F2933"/>
                          </a:solidFill>
                          <a:latin typeface="Calibri"/>
                        </a:rPr>
                        <a:t>COST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50" b="0" i="0">
                          <a:solidFill>
                            <a:srgbClr val="1F2933"/>
                          </a:solidFill>
                          <a:latin typeface="Calibri"/>
                        </a:rPr>
                        <a:t>POUNDS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6032">
                <a:tc>
                  <a:txBody>
                    <a:bodyPr wrap="square"/>
                    <a:lstStyle/>
                    <a:p>
                      <a:pPr algn="ctr"/>
                      <a:r>
                        <a:rPr sz="950" b="1"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pPr algn="ctr"/>
                      <a:r>
                        <a:rPr sz="950" b="0" i="0">
                          <a:solidFill>
                            <a:srgbClr val="1F2933"/>
                          </a:solidFill>
                          <a:latin typeface="Calibri"/>
                        </a:rPr>
                        <a:t>OKRA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7EEF0"/>
                    </a:solidFill>
                  </a:tcPr>
                </a:tc>
                <a:tc>
                  <a:txBody>
                    <a:bodyPr wrap="square"/>
                    <a:lstStyle/>
                    <a:p>
                      <a:pPr algn="ctr"/>
                      <a:r>
                        <a:rPr sz="950" b="0" i="0">
                          <a:solidFill>
                            <a:srgbClr val="1F2933"/>
                          </a:solidFill>
                          <a:latin typeface="Calibri"/>
                        </a:rPr>
                        <a:t>2.26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950" b="0" i="0">
                          <a:solidFill>
                            <a:srgbClr val="1F2933"/>
                          </a:solidFill>
                          <a:latin typeface="Calibri"/>
                        </a:rPr>
                        <a:t>38.6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56032">
                <a:tc>
                  <a:txBody>
                    <a:bodyPr wrap="square"/>
                    <a:lstStyle/>
                    <a:p>
                      <a:pPr algn="ctr"/>
                      <a:r>
                        <a:rPr sz="950" b="1"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pPr algn="ctr"/>
                      <a:r>
                        <a:rPr sz="950" b="0" i="0">
                          <a:solidFill>
                            <a:srgbClr val="1F2933"/>
                          </a:solidFill>
                          <a:latin typeface="Calibri"/>
                        </a:rPr>
                        <a:t>PUMPKIN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pPr algn="ctr"/>
                      <a:r>
                        <a:rPr sz="950" b="0" i="0">
                          <a:solidFill>
                            <a:srgbClr val="1F2933"/>
                          </a:solidFill>
                          <a:latin typeface="Calibri"/>
                        </a:rPr>
                        <a:t>11.50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pPr algn="ctr"/>
                      <a:r>
                        <a:rPr sz="950" b="0" i="0">
                          <a:solidFill>
                            <a:srgbClr val="1F2933"/>
                          </a:solidFill>
                          <a:latin typeface="Calibri"/>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sp>
        <p:nvSpPr>
          <p:cNvPr id="12" name="Rounded Rectangle 11"/>
          <p:cNvSpPr/>
          <p:nvPr/>
        </p:nvSpPr>
        <p:spPr>
          <a:xfrm>
            <a:off x="4992624" y="3267075"/>
            <a:ext cx="3785615"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amber: updateRow(3, [...]) replaced row 3</a:t>
            </a:r>
          </a:p>
        </p:txBody>
      </p:sp>
      <p:sp>
        <p:nvSpPr>
          <p:cNvPr id="13" name="Rounded Rectangle 12"/>
          <p:cNvSpPr/>
          <p:nvPr/>
        </p:nvSpPr>
        <p:spPr>
          <a:xfrm>
            <a:off x="4992624" y="3632835"/>
            <a:ext cx="3785615"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teal: updateColumn(1, ...) wrote column A</a:t>
            </a:r>
          </a:p>
        </p:txBody>
      </p:sp>
      <p:sp>
        <p:nvSpPr>
          <p:cNvPr id="14" name="visual note"/>
          <p:cNvSpPr txBox="1"/>
          <p:nvPr/>
        </p:nvSpPr>
        <p:spPr>
          <a:xfrm>
            <a:off x="4992624" y="3998595"/>
            <a:ext cx="3785615" cy="219456"/>
          </a:xfrm>
          <a:prstGeom prst="rect">
            <a:avLst/>
          </a:prstGeom>
          <a:noFill/>
        </p:spPr>
        <p:txBody>
          <a:bodyPr wrap="square" lIns="45720" rIns="45720" tIns="27432" bIns="27432" anchor="t">
            <a:spAutoFit/>
          </a:bodyPr>
          <a:lstStyle/>
          <a:p>
            <a:r>
              <a:rPr sz="900" b="0" i="1">
                <a:solidFill>
                  <a:srgbClr val="5B6773"/>
                </a:solidFill>
                <a:latin typeface="Calibri"/>
              </a:rPr>
              <a:t>one request each; the values are text</a:t>
            </a:r>
          </a:p>
        </p:txBody>
      </p:sp>
      <p:sp>
        <p:nvSpPr>
          <p:cNvPr id="15" name="visual note"/>
          <p:cNvSpPr txBox="1"/>
          <p:nvPr/>
        </p:nvSpPr>
        <p:spPr>
          <a:xfrm>
            <a:off x="4992624" y="4227195"/>
            <a:ext cx="3785615" cy="219456"/>
          </a:xfrm>
          <a:prstGeom prst="rect">
            <a:avLst/>
          </a:prstGeom>
          <a:noFill/>
        </p:spPr>
        <p:txBody>
          <a:bodyPr wrap="square" lIns="45720" rIns="45720" tIns="27432" bIns="27432" anchor="t">
            <a:spAutoFit/>
          </a:bodyPr>
          <a:lstStyle/>
          <a:p>
            <a:r>
              <a:rPr sz="900" b="0" i="1">
                <a:solidFill>
                  <a:srgbClr val="5B6773"/>
                </a:solidFill>
                <a:latin typeface="Calibri"/>
              </a:rPr>
              <a:t>first run: ['Okra', '2.26', '38.6']</a:t>
            </a:r>
          </a:p>
        </p:txBody>
      </p:sp>
      <p:sp>
        <p:nvSpPr>
          <p:cNvPr id="1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row or a column is a list of text.</a:t>
            </a:r>
          </a:p>
        </p:txBody>
      </p:sp>
      <p:sp>
        <p:nvSpPr>
          <p:cNvPr id="1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29 / 53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Cell by cell costs a request each; a column costs one</a:t>
            </a:r>
          </a:p>
        </p:txBody>
      </p:sp>
      <p:sp>
        <p:nvSpPr>
          <p:cNvPr id="4" name="code"/>
          <p:cNvSpPr/>
          <p:nvPr/>
        </p:nvSpPr>
        <p:spPr>
          <a:xfrm>
            <a:off x="365760" y="786384"/>
            <a:ext cx="5536691"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p>
          <a:p>
            <a:pPr algn="l"/>
            <a:r>
              <a:rPr sz="900" b="0" i="0">
                <a:solidFill>
                  <a:srgbClr val="8FA3B8"/>
                </a:solidFill>
                <a:latin typeface="Courier New"/>
              </a:rPr>
              <a:t>&gt;&gt;&gt; </a:t>
            </a:r>
            <a:r>
              <a:rPr sz="900" b="0" i="0">
                <a:solidFill>
                  <a:srgbClr val="E6EDF3"/>
                </a:solidFill>
                <a:latin typeface="Courier New"/>
              </a:rPr>
              <a:t>g</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r>
              <a:rPr sz="900" b="0" i="0">
                <a:solidFill>
                  <a:srgbClr val="E6EDF3"/>
                </a:solidFill>
                <a:latin typeface="Courier New"/>
              </a:rPr>
              <a:t>.</a:t>
            </a:r>
            <a:r>
              <a:rPr sz="900" b="0" i="0">
                <a:solidFill>
                  <a:srgbClr val="E6EDF3"/>
                </a:solidFill>
                <a:latin typeface="Courier New"/>
              </a:rPr>
              <a:t>install</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values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str</a:t>
            </a:r>
            <a:r>
              <a:rPr sz="900" b="0" i="0">
                <a:solidFill>
                  <a:srgbClr val="E6EDF3"/>
                </a:solidFill>
                <a:latin typeface="Courier New"/>
              </a:rPr>
              <a:t>(</a:t>
            </a:r>
            <a:r>
              <a:rPr sz="900" b="0" i="0">
                <a:solidFill>
                  <a:srgbClr val="E6EDF3"/>
                </a:solidFill>
                <a:latin typeface="Courier New"/>
              </a:rPr>
              <a:t>n</a:t>
            </a:r>
            <a:r>
              <a:rPr sz="900" b="0" i="0">
                <a:solidFill>
                  <a:srgbClr val="E6EDF3"/>
                </a:solidFill>
                <a:latin typeface="Courier New"/>
              </a:rPr>
              <a:t>)</a:t>
            </a:r>
            <a:r>
              <a:rPr sz="900" b="0" i="0">
                <a:solidFill>
                  <a:srgbClr val="E6EDF3"/>
                </a:solidFill>
                <a:latin typeface="Courier New"/>
              </a:rPr>
              <a: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n</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range</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9</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sheet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Spreadsheet</a:t>
            </a:r>
            <a:r>
              <a:rPr sz="900" b="0" i="0">
                <a:solidFill>
                  <a:srgbClr val="E6EDF3"/>
                </a:solidFill>
                <a:latin typeface="Courier New"/>
              </a:rPr>
              <a:t>(</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load</a:t>
            </a:r>
            <a:r>
              <a:rPr sz="900" b="0" i="0">
                <a:solidFill>
                  <a:srgbClr val="E6EDF3"/>
                </a:solidFill>
                <a:latin typeface="Courier New"/>
              </a:rPr>
              <a:t>(</a:t>
            </a:r>
            <a:r>
              <a:rPr sz="900" b="0" i="0">
                <a:solidFill>
                  <a:srgbClr val="9BE3A8"/>
                </a:solidFill>
                <a:latin typeface="Courier New"/>
              </a:rPr>
              <a:t>'S'</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'Counts'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8</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sheets</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p>
        </p:txBody>
      </p:sp>
      <p:sp>
        <p:nvSpPr>
          <p:cNvPr id="5" name="explanation"/>
          <p:cNvSpPr txBox="1"/>
          <p:nvPr/>
        </p:nvSpPr>
        <p:spPr>
          <a:xfrm>
            <a:off x="5884164" y="786384"/>
            <a:ext cx="2894076" cy="694944"/>
          </a:xfrm>
          <a:prstGeom prst="rect">
            <a:avLst/>
          </a:prstGeom>
          <a:noFill/>
        </p:spPr>
        <p:txBody>
          <a:bodyPr wrap="square" lIns="128016" rIns="128016" tIns="18288" bIns="18288" anchor="ctr">
            <a:spAutoFit/>
          </a:bodyPr>
          <a:lstStyle/>
          <a:p>
            <a:r>
              <a:rPr sz="1100" b="0" i="0">
                <a:solidFill>
                  <a:srgbClr val="1F2933"/>
                </a:solidFill>
                <a:latin typeface="Calibri"/>
              </a:rPr>
              <a:t>A stand-in sheet of one column and eight empty rows, and eight values.</a:t>
            </a:r>
          </a:p>
        </p:txBody>
      </p:sp>
      <p:sp>
        <p:nvSpPr>
          <p:cNvPr id="6" name="code"/>
          <p:cNvSpPr/>
          <p:nvPr/>
        </p:nvSpPr>
        <p:spPr>
          <a:xfrm>
            <a:off x="365760" y="1527048"/>
            <a:ext cx="5536691" cy="55549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log</a:t>
            </a:r>
            <a:r>
              <a:rPr sz="900" b="0" i="0">
                <a:solidFill>
                  <a:srgbClr val="E6EDF3"/>
                </a:solidFill>
                <a:latin typeface="Courier New"/>
              </a:rPr>
              <a:t>.</a:t>
            </a:r>
            <a:r>
              <a:rPr sz="900" b="0" i="0">
                <a:solidFill>
                  <a:srgbClr val="E6EDF3"/>
                </a:solidFill>
                <a:latin typeface="Courier New"/>
              </a:rPr>
              <a:t>clear</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row</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value</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enumerate</a:t>
            </a:r>
            <a:r>
              <a:rPr sz="900" b="0" i="0">
                <a:solidFill>
                  <a:srgbClr val="E6EDF3"/>
                </a:solidFill>
                <a:latin typeface="Courier New"/>
              </a:rPr>
              <a:t>(</a:t>
            </a:r>
            <a:r>
              <a:rPr sz="900" b="0" i="0">
                <a:solidFill>
                  <a:srgbClr val="E6EDF3"/>
                </a:solidFill>
                <a:latin typeface="Courier New"/>
              </a:rPr>
              <a:t>values</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sheet</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row</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value</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'cell by cell:'</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len</a:t>
            </a:r>
            <a:r>
              <a:rPr sz="900" b="0" i="0">
                <a:solidFill>
                  <a:srgbClr val="E6EDF3"/>
                </a:solidFill>
                <a:latin typeface="Courier New"/>
              </a:rPr>
              <a:t>(</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log</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'requests'</a:t>
            </a:r>
            <a:r>
              <a:rPr sz="900" b="0" i="0">
                <a:solidFill>
                  <a:srgbClr val="E6EDF3"/>
                </a:solidFill>
                <a:latin typeface="Courier New"/>
              </a:rPr>
              <a:t>)</a:t>
            </a:r>
          </a:p>
        </p:txBody>
      </p:sp>
      <p:sp>
        <p:nvSpPr>
          <p:cNvPr id="7" name="explanation"/>
          <p:cNvSpPr txBox="1"/>
          <p:nvPr/>
        </p:nvSpPr>
        <p:spPr>
          <a:xfrm>
            <a:off x="5884164" y="1527048"/>
            <a:ext cx="2894076" cy="555498"/>
          </a:xfrm>
          <a:prstGeom prst="rect">
            <a:avLst/>
          </a:prstGeom>
          <a:noFill/>
        </p:spPr>
        <p:txBody>
          <a:bodyPr wrap="square" lIns="128016" rIns="128016" tIns="18288" bIns="18288" anchor="ctr">
            <a:spAutoFit/>
          </a:bodyPr>
          <a:lstStyle/>
          <a:p>
            <a:r>
              <a:rPr sz="1100" b="0" i="0">
                <a:solidFill>
                  <a:srgbClr val="1F2933"/>
                </a:solidFill>
                <a:latin typeface="Calibri"/>
              </a:rPr>
              <a:t>Writing cell by cell sends one PUT request for each value.</a:t>
            </a:r>
          </a:p>
        </p:txBody>
      </p:sp>
      <p:sp>
        <p:nvSpPr>
          <p:cNvPr id="8" name="code"/>
          <p:cNvSpPr/>
          <p:nvPr/>
        </p:nvSpPr>
        <p:spPr>
          <a:xfrm>
            <a:off x="365760" y="2128266"/>
            <a:ext cx="553669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log</a:t>
            </a:r>
            <a:r>
              <a:rPr sz="900" b="0" i="0">
                <a:solidFill>
                  <a:srgbClr val="E6EDF3"/>
                </a:solidFill>
                <a:latin typeface="Courier New"/>
              </a:rPr>
              <a:t>.</a:t>
            </a:r>
            <a:r>
              <a:rPr sz="900" b="0" i="0">
                <a:solidFill>
                  <a:srgbClr val="E6EDF3"/>
                </a:solidFill>
                <a:latin typeface="Courier New"/>
              </a:rPr>
              <a:t>clear</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updateColumn</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values</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'whole column:'</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len</a:t>
            </a:r>
            <a:r>
              <a:rPr sz="900" b="0" i="0">
                <a:solidFill>
                  <a:srgbClr val="E6EDF3"/>
                </a:solidFill>
                <a:latin typeface="Courier New"/>
              </a:rPr>
              <a:t>(</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log</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'request'</a:t>
            </a:r>
            <a:r>
              <a:rPr sz="900" b="0" i="0">
                <a:solidFill>
                  <a:srgbClr val="E6EDF3"/>
                </a:solidFill>
                <a:latin typeface="Courier New"/>
              </a:rPr>
              <a:t>)</a:t>
            </a:r>
          </a:p>
        </p:txBody>
      </p:sp>
      <p:sp>
        <p:nvSpPr>
          <p:cNvPr id="9" name="explanation"/>
          <p:cNvSpPr txBox="1"/>
          <p:nvPr/>
        </p:nvSpPr>
        <p:spPr>
          <a:xfrm>
            <a:off x="5884164" y="2128266"/>
            <a:ext cx="2894076" cy="651891"/>
          </a:xfrm>
          <a:prstGeom prst="rect">
            <a:avLst/>
          </a:prstGeom>
          <a:noFill/>
        </p:spPr>
        <p:txBody>
          <a:bodyPr wrap="square" lIns="128016" rIns="128016" tIns="18288" bIns="18288" anchor="ctr">
            <a:spAutoFit/>
          </a:bodyPr>
          <a:lstStyle/>
          <a:p>
            <a:r>
              <a:rPr sz="1100" b="0" i="0">
                <a:solidFill>
                  <a:srgbClr val="1F2933"/>
                </a:solidFill>
                <a:latin typeface="Calibri"/>
              </a:rPr>
              <a:t>updateColumn sends all eight in one request. Google limits requests, not values.</a:t>
            </a:r>
          </a:p>
        </p:txBody>
      </p:sp>
      <p:sp>
        <p:nvSpPr>
          <p:cNvPr id="10" name="result label"/>
          <p:cNvSpPr txBox="1"/>
          <p:nvPr/>
        </p:nvSpPr>
        <p:spPr>
          <a:xfrm>
            <a:off x="365760" y="2853309"/>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127629"/>
          <a:ext cx="4626864" cy="1480947"/>
        </p:xfrm>
        <a:graphic>
          <a:graphicData uri="http://schemas.openxmlformats.org/drawingml/2006/chart">
            <c:chart xmlns:c="http://schemas.openxmlformats.org/drawingml/2006/chart" r:id="rId3"/>
          </a:graphicData>
        </a:graphic>
      </p:graphicFrame>
      <p:sp>
        <p:nvSpPr>
          <p:cNvPr id="12" name="Rounded Rectangle 11"/>
          <p:cNvSpPr/>
          <p:nvPr/>
        </p:nvSpPr>
        <p:spPr>
          <a:xfrm>
            <a:off x="5413248" y="3264789"/>
            <a:ext cx="3364991"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8 values, 8 vs 1 requests</a:t>
            </a:r>
          </a:p>
        </p:txBody>
      </p:sp>
      <p:sp>
        <p:nvSpPr>
          <p:cNvPr id="13" name="visual note"/>
          <p:cNvSpPr txBox="1"/>
          <p:nvPr/>
        </p:nvSpPr>
        <p:spPr>
          <a:xfrm>
            <a:off x="5413248" y="3676269"/>
            <a:ext cx="3364991" cy="457200"/>
          </a:xfrm>
          <a:prstGeom prst="rect">
            <a:avLst/>
          </a:prstGeom>
          <a:noFill/>
        </p:spPr>
        <p:txBody>
          <a:bodyPr wrap="square" lIns="45720" rIns="45720" tIns="27432" bIns="27432" anchor="t">
            <a:spAutoFit/>
          </a:bodyPr>
          <a:lstStyle/>
          <a:p>
            <a:r>
              <a:rPr sz="950" b="0" i="1">
                <a:solidFill>
                  <a:srgbClr val="5B6773"/>
                </a:solidFill>
                <a:latin typeface="Calibri"/>
              </a:rPr>
              <a:t>Google counts requests per minute, not values: batch your writes</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Batch: one request for many values.</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30 / 53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Google turned off the old Sheets API in 2021</a:t>
            </a:r>
          </a:p>
        </p:txBody>
      </p:sp>
      <p:pic>
        <p:nvPicPr>
          <p:cNvPr id="4" name="photo apiv3" descr="Picture for the story: Google turned off the old Sheets API in 2021"/>
          <p:cNvPicPr>
            <a:picLocks noChangeAspect="1"/>
          </p:cNvPicPr>
          <p:nvPr/>
        </p:nvPicPr>
        <p:blipFill>
          <a:blip r:embed="rId3"/>
          <a:stretch>
            <a:fillRect/>
          </a:stretch>
        </p:blipFill>
        <p:spPr>
          <a:xfrm>
            <a:off x="365840" y="868680"/>
            <a:ext cx="2651598"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The Google Sheets add-ons page. Screenshot: Wesley Fryer, CC BY 2.0, Flickr.</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The Google Sheets API team, and every developer with an app on version 3.</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Sheets API v3 was turned down; v4, JSON-based, is the version that EZSheets and every current client use.</a:t>
            </a:r>
          </a:p>
        </p:txBody>
      </p:sp>
      <p:sp>
        <p:nvSpPr>
          <p:cNvPr id="10" name="card"/>
          <p:cNvSpPr/>
          <p:nvPr/>
        </p:nvSpPr>
        <p:spPr>
          <a:xfrm>
            <a:off x="3200400" y="197510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2 August 2021.</a:t>
            </a:r>
          </a:p>
        </p:txBody>
      </p:sp>
      <p:sp>
        <p:nvSpPr>
          <p:cNvPr id="12" name="card"/>
          <p:cNvSpPr/>
          <p:nvPr/>
        </p:nvSpPr>
        <p:spPr>
          <a:xfrm>
            <a:off x="3200400" y="24414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Google for Developers, the Sheets API migration guide; v4 lives at sheets.googleapis.com.</a:t>
            </a:r>
          </a:p>
        </p:txBody>
      </p:sp>
      <p:sp>
        <p:nvSpPr>
          <p:cNvPr id="14" name="card"/>
          <p:cNvSpPr/>
          <p:nvPr/>
        </p:nvSpPr>
        <p:spPr>
          <a:xfrm>
            <a:off x="3200400" y="30083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083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v4 has a simpler JSON interface and much functionality that v3 lacked.</a:t>
            </a:r>
          </a:p>
        </p:txBody>
      </p:sp>
      <p:sp>
        <p:nvSpPr>
          <p:cNvPr id="16" name="card"/>
          <p:cNvSpPr/>
          <p:nvPr/>
        </p:nvSpPr>
        <p:spPr>
          <a:xfrm>
            <a:off x="3200400" y="35753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5753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Google published a migration guide and a turn-down date. A program must follow the service when its address and version change.</a:t>
            </a:r>
          </a:p>
        </p:txBody>
      </p:sp>
      <p:sp>
        <p:nvSpPr>
          <p:cNvPr id="18" name="read"/>
          <p:cNvSpPr txBox="1"/>
          <p:nvPr/>
        </p:nvSpPr>
        <p:spPr>
          <a:xfrm>
            <a:off x="3200400" y="4160520"/>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Migrate from the Sheets API v3 (Google for Developers)</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31 / 53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more sheets in a spreadsheet</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Sheets are like the pages of a binder: you can add a page, move it, copy it to another binder or tear it out.</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566160"/>
                <a:gridCol w="48463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Creating, Moving, and Deleting Sheets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Adding, reordering and tearing out pages.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Spreadsheet.Sheet()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button that looks like 'new page' but hands nothing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Spreadsheet.createSheet()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button that hands you the new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Sheet.delete()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Tearing one page out; the last page cannot be torn out.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Copying Sheets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Photocopying a page into another binder.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Sheet.copyTo()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photocopier: the copy is called 'Copy of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Sheet.clear()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Rubbing out every name tag but keeping the floor plan.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32 / 53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Create, move and delete the sheets of a spreadsheet</a:t>
            </a:r>
          </a:p>
        </p:txBody>
      </p:sp>
      <p:sp>
        <p:nvSpPr>
          <p:cNvPr id="4" name="code"/>
          <p:cNvSpPr/>
          <p:nvPr/>
        </p:nvSpPr>
        <p:spPr>
          <a:xfrm>
            <a:off x="365760" y="786384"/>
            <a:ext cx="2926080" cy="122173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ezsheets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google_standin</a:t>
            </a:r>
          </a:p>
          <a:p>
            <a:pPr algn="l"/>
            <a:r>
              <a:rPr sz="1000" b="0" i="0">
                <a:solidFill>
                  <a:srgbClr val="8FA3B8"/>
                </a:solidFill>
                <a:latin typeface="Courier New"/>
              </a:rPr>
              <a:t>&gt;&gt;&gt; </a:t>
            </a:r>
            <a:r>
              <a:rPr sz="1000" b="0" i="0">
                <a:solidFill>
                  <a:srgbClr val="E6EDF3"/>
                </a:solidFill>
                <a:latin typeface="Courier New"/>
              </a:rPr>
              <a:t>g</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google_standin</a:t>
            </a:r>
            <a:r>
              <a:rPr sz="1000" b="0" i="0">
                <a:solidFill>
                  <a:srgbClr val="E6EDF3"/>
                </a:solidFill>
                <a:latin typeface="Courier New"/>
              </a:rPr>
              <a:t>.</a:t>
            </a:r>
            <a:r>
              <a:rPr sz="1000" b="0" i="0">
                <a:solidFill>
                  <a:srgbClr val="E6EDF3"/>
                </a:solidFill>
                <a:latin typeface="Courier New"/>
              </a:rPr>
              <a:t>install</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ss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ezsheets</a:t>
            </a:r>
            <a:r>
              <a:rPr sz="1000" b="0" i="0">
                <a:solidFill>
                  <a:srgbClr val="E6EDF3"/>
                </a:solidFill>
                <a:latin typeface="Courier New"/>
              </a:rPr>
              <a:t>.</a:t>
            </a:r>
            <a:r>
              <a:rPr sz="1000" b="0" i="0">
                <a:solidFill>
                  <a:srgbClr val="E6EDF3"/>
                </a:solidFill>
                <a:latin typeface="Courier New"/>
              </a:rPr>
              <a:t>Spreadsheet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ss</a:t>
            </a:r>
            <a:r>
              <a:rPr sz="1000" b="0" i="0">
                <a:solidFill>
                  <a:srgbClr val="E6EDF3"/>
                </a:solidFill>
                <a:latin typeface="Courier New"/>
              </a:rPr>
              <a:t>.</a:t>
            </a:r>
            <a:r>
              <a:rPr sz="1000" b="0" i="0">
                <a:solidFill>
                  <a:srgbClr val="E6EDF3"/>
                </a:solidFill>
                <a:latin typeface="Courier New"/>
              </a:rPr>
              <a:t>Sheet</a:t>
            </a:r>
            <a:r>
              <a:rPr sz="1000" b="0" i="0">
                <a:solidFill>
                  <a:srgbClr val="E6EDF3"/>
                </a:solidFill>
                <a:latin typeface="Courier New"/>
              </a:rPr>
              <a:t>(</a:t>
            </a:r>
            <a:r>
              <a:rPr sz="1000" b="0" i="0">
                <a:solidFill>
                  <a:srgbClr val="9BE3A8"/>
                </a:solidFill>
                <a:latin typeface="Courier New"/>
              </a:rPr>
              <a:t>'Spam'</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ss</a:t>
            </a:r>
            <a:r>
              <a:rPr sz="1000" b="0" i="0">
                <a:solidFill>
                  <a:srgbClr val="E6EDF3"/>
                </a:solidFill>
                <a:latin typeface="Courier New"/>
              </a:rPr>
              <a:t>.</a:t>
            </a:r>
            <a:r>
              <a:rPr sz="1000" b="0" i="0">
                <a:solidFill>
                  <a:srgbClr val="E6EDF3"/>
                </a:solidFill>
                <a:latin typeface="Courier New"/>
              </a:rPr>
              <a:t>createSheet</a:t>
            </a:r>
            <a:r>
              <a:rPr sz="1000" b="0" i="0">
                <a:solidFill>
                  <a:srgbClr val="E6EDF3"/>
                </a:solidFill>
                <a:latin typeface="Courier New"/>
              </a:rPr>
              <a:t>(</a:t>
            </a:r>
            <a:r>
              <a:rPr sz="1000" b="0" i="0">
                <a:solidFill>
                  <a:srgbClr val="9BE3A8"/>
                </a:solidFill>
                <a:latin typeface="Courier New"/>
              </a:rPr>
              <a:t>'Eggs'</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ss</a:t>
            </a:r>
            <a:r>
              <a:rPr sz="1000" b="0" i="0">
                <a:solidFill>
                  <a:srgbClr val="E6EDF3"/>
                </a:solidFill>
                <a:latin typeface="Courier New"/>
              </a:rPr>
              <a:t>.</a:t>
            </a:r>
            <a:r>
              <a:rPr sz="1000" b="0" i="0">
                <a:solidFill>
                  <a:srgbClr val="E6EDF3"/>
                </a:solidFill>
                <a:latin typeface="Courier New"/>
              </a:rPr>
              <a:t>createSheet</a:t>
            </a:r>
            <a:r>
              <a:rPr sz="1000" b="0" i="0">
                <a:solidFill>
                  <a:srgbClr val="E6EDF3"/>
                </a:solidFill>
                <a:latin typeface="Courier New"/>
              </a:rPr>
              <a:t>(</a:t>
            </a:r>
            <a:r>
              <a:rPr sz="1000" b="0" i="0">
                <a:solidFill>
                  <a:srgbClr val="9BE3A8"/>
                </a:solidFill>
                <a:latin typeface="Courier New"/>
              </a:rPr>
              <a:t>'Bacon'</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0</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ss</a:t>
            </a:r>
            <a:r>
              <a:rPr sz="1000" b="0" i="0">
                <a:solidFill>
                  <a:srgbClr val="E6EDF3"/>
                </a:solidFill>
                <a:latin typeface="Courier New"/>
              </a:rPr>
              <a:t>.</a:t>
            </a:r>
            <a:r>
              <a:rPr sz="1000" b="0" i="0">
                <a:solidFill>
                  <a:srgbClr val="E6EDF3"/>
                </a:solidFill>
                <a:latin typeface="Courier New"/>
              </a:rPr>
              <a:t>sheetTitles</a:t>
            </a:r>
            <a:r>
              <a:rPr sz="1000" b="0" i="0">
                <a:solidFill>
                  <a:srgbClr val="E6EDF3"/>
                </a:solidFill>
                <a:latin typeface="Courier New"/>
              </a:rPr>
              <a:t>)</a:t>
            </a:r>
          </a:p>
        </p:txBody>
      </p:sp>
      <p:sp>
        <p:nvSpPr>
          <p:cNvPr id="5" name="explanation"/>
          <p:cNvSpPr txBox="1"/>
          <p:nvPr/>
        </p:nvSpPr>
        <p:spPr>
          <a:xfrm>
            <a:off x="3273552" y="786384"/>
            <a:ext cx="5504687" cy="1221739"/>
          </a:xfrm>
          <a:prstGeom prst="rect">
            <a:avLst/>
          </a:prstGeom>
          <a:noFill/>
        </p:spPr>
        <p:txBody>
          <a:bodyPr wrap="square" lIns="128016" rIns="128016" tIns="18288" bIns="18288" anchor="ctr">
            <a:spAutoFit/>
          </a:bodyPr>
          <a:lstStyle/>
          <a:p>
            <a:r>
              <a:rPr sz="1100" b="0" i="0">
                <a:solidFill>
                  <a:srgbClr val="1F2933"/>
                </a:solidFill>
                <a:latin typeface="Calibri"/>
              </a:rPr>
              <a:t>Spreadsheet.Sheet() returns nothing in the current library, so it prints None. createSheet returns the Sheet, and a second argument chooses its place.</a:t>
            </a:r>
          </a:p>
        </p:txBody>
      </p:sp>
      <p:sp>
        <p:nvSpPr>
          <p:cNvPr id="6" name="code"/>
          <p:cNvSpPr/>
          <p:nvPr/>
        </p:nvSpPr>
        <p:spPr>
          <a:xfrm>
            <a:off x="365760" y="2053843"/>
            <a:ext cx="2926080"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ss</a:t>
            </a:r>
            <a:r>
              <a:rPr sz="1000" b="0" i="0">
                <a:solidFill>
                  <a:srgbClr val="E6EDF3"/>
                </a:solidFill>
                <a:latin typeface="Courier New"/>
              </a:rPr>
              <a:t>.</a:t>
            </a:r>
            <a:r>
              <a:rPr sz="1000" b="0" i="0">
                <a:solidFill>
                  <a:srgbClr val="E6EDF3"/>
                </a:solidFill>
                <a:latin typeface="Courier New"/>
              </a:rPr>
              <a:t>sheets</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index</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2</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ss</a:t>
            </a:r>
            <a:r>
              <a:rPr sz="1000" b="0" i="0">
                <a:solidFill>
                  <a:srgbClr val="E6EDF3"/>
                </a:solidFill>
                <a:latin typeface="Courier New"/>
              </a:rPr>
              <a:t>.</a:t>
            </a:r>
            <a:r>
              <a:rPr sz="1000" b="0" i="0">
                <a:solidFill>
                  <a:srgbClr val="E6EDF3"/>
                </a:solidFill>
                <a:latin typeface="Courier New"/>
              </a:rPr>
              <a:t>sheetTitles</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ss</a:t>
            </a:r>
            <a:r>
              <a:rPr sz="1000" b="0" i="0">
                <a:solidFill>
                  <a:srgbClr val="E6EDF3"/>
                </a:solidFill>
                <a:latin typeface="Courier New"/>
              </a:rPr>
              <a:t>.</a:t>
            </a:r>
            <a:r>
              <a:rPr sz="1000" b="0" i="0">
                <a:solidFill>
                  <a:srgbClr val="E6EDF3"/>
                </a:solidFill>
                <a:latin typeface="Courier New"/>
              </a:rPr>
              <a:t>sheets</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delete</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ss</a:t>
            </a:r>
            <a:r>
              <a:rPr sz="1000" b="0" i="0">
                <a:solidFill>
                  <a:srgbClr val="E6EDF3"/>
                </a:solidFill>
                <a:latin typeface="Courier New"/>
              </a:rPr>
              <a:t>.</a:t>
            </a:r>
            <a:r>
              <a:rPr sz="1000" b="0" i="0">
                <a:solidFill>
                  <a:srgbClr val="E6EDF3"/>
                </a:solidFill>
                <a:latin typeface="Courier New"/>
              </a:rPr>
              <a:t>sheetTitles</a:t>
            </a:r>
            <a:r>
              <a:rPr sz="1000" b="0" i="0">
                <a:solidFill>
                  <a:srgbClr val="E6EDF3"/>
                </a:solidFill>
                <a:latin typeface="Courier New"/>
              </a:rPr>
              <a:t>)</a:t>
            </a:r>
          </a:p>
        </p:txBody>
      </p:sp>
      <p:sp>
        <p:nvSpPr>
          <p:cNvPr id="7" name="explanation"/>
          <p:cNvSpPr txBox="1"/>
          <p:nvPr/>
        </p:nvSpPr>
        <p:spPr>
          <a:xfrm>
            <a:off x="3273552" y="2053843"/>
            <a:ext cx="5504687" cy="756920"/>
          </a:xfrm>
          <a:prstGeom prst="rect">
            <a:avLst/>
          </a:prstGeom>
          <a:noFill/>
        </p:spPr>
        <p:txBody>
          <a:bodyPr wrap="square" lIns="128016" rIns="128016" tIns="18288" bIns="18288" anchor="ctr">
            <a:spAutoFit/>
          </a:bodyPr>
          <a:lstStyle/>
          <a:p>
            <a:r>
              <a:rPr sz="1100" b="0" i="0">
                <a:solidFill>
                  <a:srgbClr val="1F2933"/>
                </a:solidFill>
                <a:latin typeface="Calibri"/>
              </a:rPr>
              <a:t>Setting index moves a sheet to a new place; delete() removes one. Sheets are counted from 0, like list items.</a:t>
            </a:r>
          </a:p>
        </p:txBody>
      </p:sp>
      <p:sp>
        <p:nvSpPr>
          <p:cNvPr id="8" name="result label"/>
          <p:cNvSpPr txBox="1"/>
          <p:nvPr/>
        </p:nvSpPr>
        <p:spPr>
          <a:xfrm>
            <a:off x="365760" y="2883915"/>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step"/>
          <p:cNvSpPr txBox="1"/>
          <p:nvPr/>
        </p:nvSpPr>
        <p:spPr>
          <a:xfrm>
            <a:off x="365760" y="3158235"/>
            <a:ext cx="3533241" cy="384048"/>
          </a:xfrm>
          <a:prstGeom prst="rect">
            <a:avLst/>
          </a:prstGeom>
          <a:noFill/>
        </p:spPr>
        <p:txBody>
          <a:bodyPr wrap="square" lIns="45720" rIns="45720" tIns="27432" bIns="27432" anchor="ctr">
            <a:spAutoFit/>
          </a:bodyPr>
          <a:lstStyle/>
          <a:p>
            <a:r>
              <a:rPr sz="950" b="0" i="0">
                <a:solidFill>
                  <a:srgbClr val="1F2933"/>
                </a:solidFill>
                <a:latin typeface="Calibri"/>
              </a:rPr>
              <a:t>after createSheet('Eggs') and createSheet('Bacon', 0)</a:t>
            </a:r>
          </a:p>
        </p:txBody>
      </p:sp>
      <p:sp>
        <p:nvSpPr>
          <p:cNvPr id="10" name="Rounded Rectangle 9"/>
          <p:cNvSpPr/>
          <p:nvPr/>
        </p:nvSpPr>
        <p:spPr>
          <a:xfrm>
            <a:off x="4067251" y="3158235"/>
            <a:ext cx="1109167" cy="384048"/>
          </a:xfrm>
          <a:prstGeom prst="roundRect">
            <a:avLst>
              <a:gd name="adj" fmla="val 2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0</a:t>
            </a:r>
          </a:p>
          <a:p>
            <a:pPr algn="ctr"/>
            <a:r>
              <a:rPr sz="900" b="0" i="0">
                <a:solidFill>
                  <a:srgbClr val="1F2933"/>
                </a:solidFill>
                <a:latin typeface="Calibri"/>
              </a:rPr>
              <a:t>Bacon</a:t>
            </a:r>
          </a:p>
        </p:txBody>
      </p:sp>
      <p:sp>
        <p:nvSpPr>
          <p:cNvPr id="11" name="Rounded Rectangle 10"/>
          <p:cNvSpPr/>
          <p:nvPr/>
        </p:nvSpPr>
        <p:spPr>
          <a:xfrm>
            <a:off x="5267858" y="3158235"/>
            <a:ext cx="1109167" cy="384048"/>
          </a:xfrm>
          <a:prstGeom prst="roundRect">
            <a:avLst>
              <a:gd name="adj" fmla="val 2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1</a:t>
            </a:r>
          </a:p>
          <a:p>
            <a:pPr algn="ctr"/>
            <a:r>
              <a:rPr sz="900" b="0" i="0">
                <a:solidFill>
                  <a:srgbClr val="1F2933"/>
                </a:solidFill>
                <a:latin typeface="Calibri"/>
              </a:rPr>
              <a:t>Sheet1</a:t>
            </a:r>
          </a:p>
        </p:txBody>
      </p:sp>
      <p:sp>
        <p:nvSpPr>
          <p:cNvPr id="12" name="Rounded Rectangle 11"/>
          <p:cNvSpPr/>
          <p:nvPr/>
        </p:nvSpPr>
        <p:spPr>
          <a:xfrm>
            <a:off x="6468465" y="3158235"/>
            <a:ext cx="1109167" cy="384048"/>
          </a:xfrm>
          <a:prstGeom prst="roundRect">
            <a:avLst>
              <a:gd name="adj" fmla="val 2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2</a:t>
            </a:r>
          </a:p>
          <a:p>
            <a:pPr algn="ctr"/>
            <a:r>
              <a:rPr sz="900" b="0" i="0">
                <a:solidFill>
                  <a:srgbClr val="1F2933"/>
                </a:solidFill>
                <a:latin typeface="Calibri"/>
              </a:rPr>
              <a:t>Spam</a:t>
            </a:r>
          </a:p>
        </p:txBody>
      </p:sp>
      <p:sp>
        <p:nvSpPr>
          <p:cNvPr id="13" name="Rounded Rectangle 12"/>
          <p:cNvSpPr/>
          <p:nvPr/>
        </p:nvSpPr>
        <p:spPr>
          <a:xfrm>
            <a:off x="7669072" y="3158235"/>
            <a:ext cx="1109167" cy="384048"/>
          </a:xfrm>
          <a:prstGeom prst="roundRect">
            <a:avLst>
              <a:gd name="adj" fmla="val 2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3</a:t>
            </a:r>
          </a:p>
          <a:p>
            <a:pPr algn="ctr"/>
            <a:r>
              <a:rPr sz="900" b="0" i="0">
                <a:solidFill>
                  <a:srgbClr val="1F2933"/>
                </a:solidFill>
                <a:latin typeface="Calibri"/>
              </a:rPr>
              <a:t>Eggs</a:t>
            </a:r>
          </a:p>
        </p:txBody>
      </p:sp>
      <p:cxnSp>
        <p:nvCxnSpPr>
          <p:cNvPr id="14" name="arrow"/>
          <p:cNvCxnSpPr/>
          <p:nvPr/>
        </p:nvCxnSpPr>
        <p:spPr>
          <a:xfrm>
            <a:off x="3856939" y="3350259"/>
            <a:ext cx="168249"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step"/>
          <p:cNvSpPr txBox="1"/>
          <p:nvPr/>
        </p:nvSpPr>
        <p:spPr>
          <a:xfrm>
            <a:off x="365760" y="3615435"/>
            <a:ext cx="3533241" cy="384048"/>
          </a:xfrm>
          <a:prstGeom prst="rect">
            <a:avLst/>
          </a:prstGeom>
          <a:noFill/>
        </p:spPr>
        <p:txBody>
          <a:bodyPr wrap="square" lIns="45720" rIns="45720" tIns="27432" bIns="27432" anchor="ctr">
            <a:spAutoFit/>
          </a:bodyPr>
          <a:lstStyle/>
          <a:p>
            <a:r>
              <a:rPr sz="950" b="0" i="0">
                <a:solidFill>
                  <a:srgbClr val="1F2933"/>
                </a:solidFill>
                <a:latin typeface="Calibri"/>
              </a:rPr>
              <a:t>after sheets[0].index = 2</a:t>
            </a:r>
          </a:p>
        </p:txBody>
      </p:sp>
      <p:sp>
        <p:nvSpPr>
          <p:cNvPr id="16" name="Rounded Rectangle 15"/>
          <p:cNvSpPr/>
          <p:nvPr/>
        </p:nvSpPr>
        <p:spPr>
          <a:xfrm>
            <a:off x="4067251" y="3615435"/>
            <a:ext cx="1109167" cy="384048"/>
          </a:xfrm>
          <a:prstGeom prst="roundRect">
            <a:avLst>
              <a:gd name="adj" fmla="val 2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0</a:t>
            </a:r>
          </a:p>
          <a:p>
            <a:pPr algn="ctr"/>
            <a:r>
              <a:rPr sz="900" b="0" i="0">
                <a:solidFill>
                  <a:srgbClr val="1F2933"/>
                </a:solidFill>
                <a:latin typeface="Calibri"/>
              </a:rPr>
              <a:t>Sheet1</a:t>
            </a:r>
          </a:p>
        </p:txBody>
      </p:sp>
      <p:sp>
        <p:nvSpPr>
          <p:cNvPr id="17" name="Rounded Rectangle 16"/>
          <p:cNvSpPr/>
          <p:nvPr/>
        </p:nvSpPr>
        <p:spPr>
          <a:xfrm>
            <a:off x="5267858" y="3615435"/>
            <a:ext cx="1109167" cy="384048"/>
          </a:xfrm>
          <a:prstGeom prst="roundRect">
            <a:avLst>
              <a:gd name="adj" fmla="val 2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1</a:t>
            </a:r>
          </a:p>
          <a:p>
            <a:pPr algn="ctr"/>
            <a:r>
              <a:rPr sz="900" b="0" i="0">
                <a:solidFill>
                  <a:srgbClr val="1F2933"/>
                </a:solidFill>
                <a:latin typeface="Calibri"/>
              </a:rPr>
              <a:t>Spam</a:t>
            </a:r>
          </a:p>
        </p:txBody>
      </p:sp>
      <p:sp>
        <p:nvSpPr>
          <p:cNvPr id="18" name="Rounded Rectangle 17"/>
          <p:cNvSpPr/>
          <p:nvPr/>
        </p:nvSpPr>
        <p:spPr>
          <a:xfrm>
            <a:off x="6468465" y="3615435"/>
            <a:ext cx="1109167" cy="384048"/>
          </a:xfrm>
          <a:prstGeom prst="roundRect">
            <a:avLst>
              <a:gd name="adj" fmla="val 2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2</a:t>
            </a:r>
          </a:p>
          <a:p>
            <a:pPr algn="ctr"/>
            <a:r>
              <a:rPr sz="900" b="0" i="0">
                <a:solidFill>
                  <a:srgbClr val="1F2933"/>
                </a:solidFill>
                <a:latin typeface="Calibri"/>
              </a:rPr>
              <a:t>Bacon</a:t>
            </a:r>
          </a:p>
        </p:txBody>
      </p:sp>
      <p:sp>
        <p:nvSpPr>
          <p:cNvPr id="19" name="Rounded Rectangle 18"/>
          <p:cNvSpPr/>
          <p:nvPr/>
        </p:nvSpPr>
        <p:spPr>
          <a:xfrm>
            <a:off x="7669072" y="3615435"/>
            <a:ext cx="1109167" cy="384048"/>
          </a:xfrm>
          <a:prstGeom prst="roundRect">
            <a:avLst>
              <a:gd name="adj" fmla="val 2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3</a:t>
            </a:r>
          </a:p>
          <a:p>
            <a:pPr algn="ctr"/>
            <a:r>
              <a:rPr sz="900" b="0" i="0">
                <a:solidFill>
                  <a:srgbClr val="1F2933"/>
                </a:solidFill>
                <a:latin typeface="Calibri"/>
              </a:rPr>
              <a:t>Eggs</a:t>
            </a:r>
          </a:p>
        </p:txBody>
      </p:sp>
      <p:cxnSp>
        <p:nvCxnSpPr>
          <p:cNvPr id="20" name="arrow"/>
          <p:cNvCxnSpPr/>
          <p:nvPr/>
        </p:nvCxnSpPr>
        <p:spPr>
          <a:xfrm>
            <a:off x="3856939" y="3807460"/>
            <a:ext cx="168249"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step"/>
          <p:cNvSpPr txBox="1"/>
          <p:nvPr/>
        </p:nvSpPr>
        <p:spPr>
          <a:xfrm>
            <a:off x="365760" y="4072636"/>
            <a:ext cx="3533241" cy="384048"/>
          </a:xfrm>
          <a:prstGeom prst="rect">
            <a:avLst/>
          </a:prstGeom>
          <a:noFill/>
        </p:spPr>
        <p:txBody>
          <a:bodyPr wrap="square" lIns="45720" rIns="45720" tIns="27432" bIns="27432" anchor="ctr">
            <a:spAutoFit/>
          </a:bodyPr>
          <a:lstStyle/>
          <a:p>
            <a:r>
              <a:rPr sz="950" b="0" i="0">
                <a:solidFill>
                  <a:srgbClr val="1F2933"/>
                </a:solidFill>
                <a:latin typeface="Calibri"/>
              </a:rPr>
              <a:t>after sheets[1].delete()</a:t>
            </a:r>
          </a:p>
        </p:txBody>
      </p:sp>
      <p:sp>
        <p:nvSpPr>
          <p:cNvPr id="22" name="Rounded Rectangle 21"/>
          <p:cNvSpPr/>
          <p:nvPr/>
        </p:nvSpPr>
        <p:spPr>
          <a:xfrm>
            <a:off x="4067251" y="4072636"/>
            <a:ext cx="1509369" cy="384048"/>
          </a:xfrm>
          <a:prstGeom prst="roundRect">
            <a:avLst>
              <a:gd name="adj" fmla="val 2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0</a:t>
            </a:r>
          </a:p>
          <a:p>
            <a:pPr algn="ctr"/>
            <a:r>
              <a:rPr sz="900" b="0" i="0">
                <a:solidFill>
                  <a:srgbClr val="1F2933"/>
                </a:solidFill>
                <a:latin typeface="Calibri"/>
              </a:rPr>
              <a:t>Sheet1</a:t>
            </a:r>
          </a:p>
        </p:txBody>
      </p:sp>
      <p:sp>
        <p:nvSpPr>
          <p:cNvPr id="23" name="Rounded Rectangle 22"/>
          <p:cNvSpPr/>
          <p:nvPr/>
        </p:nvSpPr>
        <p:spPr>
          <a:xfrm>
            <a:off x="5668060" y="4072636"/>
            <a:ext cx="1509369" cy="384048"/>
          </a:xfrm>
          <a:prstGeom prst="roundRect">
            <a:avLst>
              <a:gd name="adj" fmla="val 2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1</a:t>
            </a:r>
          </a:p>
          <a:p>
            <a:pPr algn="ctr"/>
            <a:r>
              <a:rPr sz="900" b="0" i="0">
                <a:solidFill>
                  <a:srgbClr val="1F2933"/>
                </a:solidFill>
                <a:latin typeface="Calibri"/>
              </a:rPr>
              <a:t>Bacon</a:t>
            </a:r>
          </a:p>
        </p:txBody>
      </p:sp>
      <p:sp>
        <p:nvSpPr>
          <p:cNvPr id="24" name="Rounded Rectangle 23"/>
          <p:cNvSpPr/>
          <p:nvPr/>
        </p:nvSpPr>
        <p:spPr>
          <a:xfrm>
            <a:off x="7268870" y="4072636"/>
            <a:ext cx="1509369" cy="384048"/>
          </a:xfrm>
          <a:prstGeom prst="roundRect">
            <a:avLst>
              <a:gd name="adj" fmla="val 2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2</a:t>
            </a:r>
          </a:p>
          <a:p>
            <a:pPr algn="ctr"/>
            <a:r>
              <a:rPr sz="900" b="0" i="0">
                <a:solidFill>
                  <a:srgbClr val="1F2933"/>
                </a:solidFill>
                <a:latin typeface="Calibri"/>
              </a:rPr>
              <a:t>Eggs</a:t>
            </a:r>
          </a:p>
        </p:txBody>
      </p:sp>
      <p:cxnSp>
        <p:nvCxnSpPr>
          <p:cNvPr id="25" name="arrow"/>
          <p:cNvCxnSpPr/>
          <p:nvPr/>
        </p:nvCxnSpPr>
        <p:spPr>
          <a:xfrm>
            <a:off x="3856939" y="4264660"/>
            <a:ext cx="168249"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visual note"/>
          <p:cNvSpPr txBox="1"/>
          <p:nvPr/>
        </p:nvSpPr>
        <p:spPr>
          <a:xfrm>
            <a:off x="365760" y="4529836"/>
            <a:ext cx="8412480" cy="219456"/>
          </a:xfrm>
          <a:prstGeom prst="rect">
            <a:avLst/>
          </a:prstGeom>
          <a:noFill/>
        </p:spPr>
        <p:txBody>
          <a:bodyPr wrap="square" lIns="45720" rIns="45720" tIns="27432" bIns="27432" anchor="t">
            <a:spAutoFit/>
          </a:bodyPr>
          <a:lstStyle/>
          <a:p>
            <a:r>
              <a:rPr sz="950" b="0" i="1">
                <a:solidFill>
                  <a:srgbClr val="5B6773"/>
                </a:solidFill>
                <a:latin typeface="Calibri"/>
              </a:rPr>
              <a:t>the first print was None: Spreadsheet.Sheet() returns nothing; createSheet returns the Sheet</a:t>
            </a:r>
          </a:p>
        </p:txBody>
      </p:sp>
      <p:sp>
        <p:nvSpPr>
          <p:cNvPr id="2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createSheet returns the Sheet; Sheet() does not.</a:t>
            </a:r>
          </a:p>
        </p:txBody>
      </p:sp>
      <p:sp>
        <p:nvSpPr>
          <p:cNvPr id="2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33 / 53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Copy a sheet to another spreadsheet, and clear one</a:t>
            </a:r>
          </a:p>
        </p:txBody>
      </p:sp>
      <p:sp>
        <p:nvSpPr>
          <p:cNvPr id="4" name="code"/>
          <p:cNvSpPr/>
          <p:nvPr/>
        </p:nvSpPr>
        <p:spPr>
          <a:xfrm>
            <a:off x="365760" y="786384"/>
            <a:ext cx="5540501" cy="87312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ezsheets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google_standin</a:t>
            </a:r>
          </a:p>
          <a:p>
            <a:pPr algn="l"/>
            <a:r>
              <a:rPr sz="950" b="0" i="0">
                <a:solidFill>
                  <a:srgbClr val="8FA3B8"/>
                </a:solidFill>
                <a:latin typeface="Courier New"/>
              </a:rPr>
              <a:t>&gt;&gt;&gt; </a:t>
            </a:r>
            <a:r>
              <a:rPr sz="950" b="0" i="0">
                <a:solidFill>
                  <a:srgbClr val="E6EDF3"/>
                </a:solidFill>
                <a:latin typeface="Courier New"/>
              </a:rPr>
              <a:t>g</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google_standin</a:t>
            </a:r>
            <a:r>
              <a:rPr sz="950" b="0" i="0">
                <a:solidFill>
                  <a:srgbClr val="E6EDF3"/>
                </a:solidFill>
                <a:latin typeface="Courier New"/>
              </a:rPr>
              <a:t>.</a:t>
            </a:r>
            <a:r>
              <a:rPr sz="950" b="0" i="0">
                <a:solidFill>
                  <a:srgbClr val="E6EDF3"/>
                </a:solidFill>
                <a:latin typeface="Courier New"/>
              </a:rPr>
              <a:t>install</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rows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9BE3A8"/>
                </a:solidFill>
                <a:latin typeface="Courier New"/>
              </a:rPr>
              <a:t>'PRODUCE'</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'COST'</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'POUNDS'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'Okra'</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'2.26'</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'38.6'</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source</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ezsheets</a:t>
            </a:r>
            <a:r>
              <a:rPr sz="950" b="0" i="0">
                <a:solidFill>
                  <a:srgbClr val="E6EDF3"/>
                </a:solidFill>
                <a:latin typeface="Courier New"/>
              </a:rPr>
              <a:t>.</a:t>
            </a:r>
            <a:r>
              <a:rPr sz="950" b="0" i="0">
                <a:solidFill>
                  <a:srgbClr val="E6EDF3"/>
                </a:solidFill>
                <a:latin typeface="Courier New"/>
              </a:rPr>
              <a:t>Spreadsheet</a:t>
            </a:r>
            <a:r>
              <a:rPr sz="950" b="0" i="0">
                <a:solidFill>
                  <a:srgbClr val="E6EDF3"/>
                </a:solidFill>
                <a:latin typeface="Courier New"/>
              </a:rPr>
              <a:t>(</a:t>
            </a:r>
            <a:r>
              <a:rPr sz="950" b="0" i="0">
                <a:solidFill>
                  <a:srgbClr val="E6EDF3"/>
                </a:solidFill>
                <a:latin typeface="Courier New"/>
              </a:rPr>
              <a:t>g</a:t>
            </a:r>
            <a:r>
              <a:rPr sz="950" b="0" i="0">
                <a:solidFill>
                  <a:srgbClr val="E6EDF3"/>
                </a:solidFill>
                <a:latin typeface="Courier New"/>
              </a:rPr>
              <a:t>.</a:t>
            </a:r>
            <a:r>
              <a:rPr sz="950" b="0" i="0">
                <a:solidFill>
                  <a:srgbClr val="E6EDF3"/>
                </a:solidFill>
                <a:latin typeface="Courier New"/>
              </a:rPr>
              <a:t>load</a:t>
            </a:r>
            <a:r>
              <a:rPr sz="950" b="0" i="0">
                <a:solidFill>
                  <a:srgbClr val="E6EDF3"/>
                </a:solidFill>
                <a:latin typeface="Courier New"/>
              </a:rPr>
              <a:t>(</a:t>
            </a:r>
            <a:r>
              <a:rPr sz="950" b="0" i="0">
                <a:solidFill>
                  <a:srgbClr val="9BE3A8"/>
                </a:solidFill>
                <a:latin typeface="Courier New"/>
              </a:rPr>
              <a:t>'P'</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'produce'</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rows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sheets</a:t>
            </a:r>
            <a:r>
              <a:rPr sz="950" b="0" i="0">
                <a:solidFill>
                  <a:srgbClr val="E6EDF3"/>
                </a:solidFill>
                <a:latin typeface="Courier New"/>
              </a:rPr>
              <a:t>[</a:t>
            </a:r>
            <a:r>
              <a:rPr sz="950" b="0" i="0">
                <a:solidFill>
                  <a:srgbClr val="7CC4FF"/>
                </a:solidFill>
                <a:latin typeface="Courier New"/>
              </a:rPr>
              <a:t>0</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target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ezsheets</a:t>
            </a:r>
            <a:r>
              <a:rPr sz="950" b="0" i="0">
                <a:solidFill>
                  <a:srgbClr val="E6EDF3"/>
                </a:solidFill>
                <a:latin typeface="Courier New"/>
              </a:rPr>
              <a:t>.</a:t>
            </a:r>
            <a:r>
              <a:rPr sz="950" b="0" i="0">
                <a:solidFill>
                  <a:srgbClr val="E6EDF3"/>
                </a:solidFill>
                <a:latin typeface="Courier New"/>
              </a:rPr>
              <a:t>Spreadsheet</a:t>
            </a:r>
            <a:r>
              <a:rPr sz="950" b="0" i="0">
                <a:solidFill>
                  <a:srgbClr val="E6EDF3"/>
                </a:solidFill>
                <a:latin typeface="Courier New"/>
              </a:rPr>
              <a:t>(</a:t>
            </a:r>
            <a:r>
              <a:rPr sz="950" b="0" i="0">
                <a:solidFill>
                  <a:srgbClr val="E6EDF3"/>
                </a:solidFill>
                <a:latin typeface="Courier New"/>
              </a:rPr>
              <a:t>)</a:t>
            </a:r>
          </a:p>
        </p:txBody>
      </p:sp>
      <p:sp>
        <p:nvSpPr>
          <p:cNvPr id="5" name="explanation"/>
          <p:cNvSpPr txBox="1"/>
          <p:nvPr/>
        </p:nvSpPr>
        <p:spPr>
          <a:xfrm>
            <a:off x="5887974" y="786384"/>
            <a:ext cx="2890266" cy="873125"/>
          </a:xfrm>
          <a:prstGeom prst="rect">
            <a:avLst/>
          </a:prstGeom>
          <a:noFill/>
        </p:spPr>
        <p:txBody>
          <a:bodyPr wrap="square" lIns="128016" rIns="128016" tIns="18288" bIns="18288" anchor="ctr">
            <a:spAutoFit/>
          </a:bodyPr>
          <a:lstStyle/>
          <a:p>
            <a:r>
              <a:rPr sz="1100" b="0" i="0">
                <a:solidFill>
                  <a:srgbClr val="1F2933"/>
                </a:solidFill>
                <a:latin typeface="Calibri"/>
              </a:rPr>
              <a:t>A source sheet with data, and a new empty spreadsheet for the copy.</a:t>
            </a:r>
          </a:p>
        </p:txBody>
      </p:sp>
      <p:sp>
        <p:nvSpPr>
          <p:cNvPr id="6" name="code"/>
          <p:cNvSpPr/>
          <p:nvPr/>
        </p:nvSpPr>
        <p:spPr>
          <a:xfrm>
            <a:off x="365760" y="1705228"/>
            <a:ext cx="554050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source</a:t>
            </a:r>
            <a:r>
              <a:rPr sz="950" b="0" i="0">
                <a:solidFill>
                  <a:srgbClr val="E6EDF3"/>
                </a:solidFill>
                <a:latin typeface="Courier New"/>
              </a:rPr>
              <a:t>.</a:t>
            </a:r>
            <a:r>
              <a:rPr sz="950" b="0" i="0">
                <a:solidFill>
                  <a:srgbClr val="E6EDF3"/>
                </a:solidFill>
                <a:latin typeface="Courier New"/>
              </a:rPr>
              <a:t>copyTo</a:t>
            </a:r>
            <a:r>
              <a:rPr sz="950" b="0" i="0">
                <a:solidFill>
                  <a:srgbClr val="E6EDF3"/>
                </a:solidFill>
                <a:latin typeface="Courier New"/>
              </a:rPr>
              <a:t>(</a:t>
            </a:r>
            <a:r>
              <a:rPr sz="950" b="0" i="0">
                <a:solidFill>
                  <a:srgbClr val="E6EDF3"/>
                </a:solidFill>
                <a:latin typeface="Courier New"/>
              </a:rPr>
              <a:t>target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target</a:t>
            </a:r>
            <a:r>
              <a:rPr sz="950" b="0" i="0">
                <a:solidFill>
                  <a:srgbClr val="E6EDF3"/>
                </a:solidFill>
                <a:latin typeface="Courier New"/>
              </a:rPr>
              <a:t>.</a:t>
            </a:r>
            <a:r>
              <a:rPr sz="950" b="0" i="0">
                <a:solidFill>
                  <a:srgbClr val="E6EDF3"/>
                </a:solidFill>
                <a:latin typeface="Courier New"/>
              </a:rPr>
              <a:t>refresh</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target</a:t>
            </a:r>
            <a:r>
              <a:rPr sz="950" b="0" i="0">
                <a:solidFill>
                  <a:srgbClr val="E6EDF3"/>
                </a:solidFill>
                <a:latin typeface="Courier New"/>
              </a:rPr>
              <a:t>.</a:t>
            </a:r>
            <a:r>
              <a:rPr sz="950" b="0" i="0">
                <a:solidFill>
                  <a:srgbClr val="E6EDF3"/>
                </a:solidFill>
                <a:latin typeface="Courier New"/>
              </a:rPr>
              <a:t>sheetTitles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target</a:t>
            </a:r>
            <a:r>
              <a:rPr sz="950" b="0" i="0">
                <a:solidFill>
                  <a:srgbClr val="E6EDF3"/>
                </a:solidFill>
                <a:latin typeface="Courier New"/>
              </a:rPr>
              <a:t>.</a:t>
            </a:r>
            <a:r>
              <a:rPr sz="950" b="0" i="0">
                <a:solidFill>
                  <a:srgbClr val="E6EDF3"/>
                </a:solidFill>
                <a:latin typeface="Courier New"/>
              </a:rPr>
              <a:t>sheets</a:t>
            </a:r>
            <a:r>
              <a:rPr sz="950" b="0" i="0">
                <a:solidFill>
                  <a:srgbClr val="E6EDF3"/>
                </a:solidFill>
                <a:latin typeface="Courier New"/>
              </a:rPr>
              <a:t>[</a:t>
            </a:r>
            <a:r>
              <a:rPr sz="950" b="0" i="0">
                <a:solidFill>
                  <a:srgbClr val="7CC4FF"/>
                </a:solidFill>
                <a:latin typeface="Courier New"/>
              </a:rPr>
              <a:t>1</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getRows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7" name="explanation"/>
          <p:cNvSpPr txBox="1"/>
          <p:nvPr/>
        </p:nvSpPr>
        <p:spPr>
          <a:xfrm>
            <a:off x="5887974" y="1705228"/>
            <a:ext cx="2890266" cy="651891"/>
          </a:xfrm>
          <a:prstGeom prst="rect">
            <a:avLst/>
          </a:prstGeom>
          <a:noFill/>
        </p:spPr>
        <p:txBody>
          <a:bodyPr wrap="square" lIns="128016" rIns="128016" tIns="18288" bIns="18288" anchor="ctr">
            <a:spAutoFit/>
          </a:bodyPr>
          <a:lstStyle/>
          <a:p>
            <a:r>
              <a:rPr sz="1100" b="0" i="0">
                <a:solidFill>
                  <a:srgbClr val="1F2933"/>
                </a:solidFill>
                <a:latin typeface="Calibri"/>
              </a:rPr>
              <a:t>copyTo adds a 'Copy of ...' sheet to the other spreadsheet. refresh() reads it.</a:t>
            </a:r>
          </a:p>
        </p:txBody>
      </p:sp>
      <p:sp>
        <p:nvSpPr>
          <p:cNvPr id="8" name="code"/>
          <p:cNvSpPr/>
          <p:nvPr/>
        </p:nvSpPr>
        <p:spPr>
          <a:xfrm>
            <a:off x="365760" y="2402839"/>
            <a:ext cx="5540501"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source</a:t>
            </a:r>
            <a:r>
              <a:rPr sz="950" b="0" i="0">
                <a:solidFill>
                  <a:srgbClr val="E6EDF3"/>
                </a:solidFill>
                <a:latin typeface="Courier New"/>
              </a:rPr>
              <a:t>.</a:t>
            </a:r>
            <a:r>
              <a:rPr sz="950" b="0" i="0">
                <a:solidFill>
                  <a:srgbClr val="E6EDF3"/>
                </a:solidFill>
                <a:latin typeface="Courier New"/>
              </a:rPr>
              <a:t>clear</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source</a:t>
            </a:r>
            <a:r>
              <a:rPr sz="950" b="0" i="0">
                <a:solidFill>
                  <a:srgbClr val="E6EDF3"/>
                </a:solidFill>
                <a:latin typeface="Courier New"/>
              </a:rPr>
              <a:t>.</a:t>
            </a:r>
            <a:r>
              <a:rPr sz="950" b="0" i="0">
                <a:solidFill>
                  <a:srgbClr val="E6EDF3"/>
                </a:solidFill>
                <a:latin typeface="Courier New"/>
              </a:rPr>
              <a:t>getRows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source</a:t>
            </a:r>
            <a:r>
              <a:rPr sz="950" b="0" i="0">
                <a:solidFill>
                  <a:srgbClr val="E6EDF3"/>
                </a:solidFill>
                <a:latin typeface="Courier New"/>
              </a:rPr>
              <a:t>.</a:t>
            </a:r>
            <a:r>
              <a:rPr sz="950" b="0" i="0">
                <a:solidFill>
                  <a:srgbClr val="E6EDF3"/>
                </a:solidFill>
                <a:latin typeface="Courier New"/>
              </a:rPr>
              <a:t>rowCount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source</a:t>
            </a:r>
            <a:r>
              <a:rPr sz="950" b="0" i="0">
                <a:solidFill>
                  <a:srgbClr val="E6EDF3"/>
                </a:solidFill>
                <a:latin typeface="Courier New"/>
              </a:rPr>
              <a:t>.</a:t>
            </a:r>
            <a:r>
              <a:rPr sz="950" b="0" i="0">
                <a:solidFill>
                  <a:srgbClr val="E6EDF3"/>
                </a:solidFill>
                <a:latin typeface="Courier New"/>
              </a:rPr>
              <a:t>columnCount</a:t>
            </a:r>
            <a:r>
              <a:rPr sz="950" b="0" i="0">
                <a:solidFill>
                  <a:srgbClr val="E6EDF3"/>
                </a:solidFill>
                <a:latin typeface="Courier New"/>
              </a:rPr>
              <a:t>)</a:t>
            </a:r>
          </a:p>
        </p:txBody>
      </p:sp>
      <p:sp>
        <p:nvSpPr>
          <p:cNvPr id="9" name="explanation"/>
          <p:cNvSpPr txBox="1"/>
          <p:nvPr/>
        </p:nvSpPr>
        <p:spPr>
          <a:xfrm>
            <a:off x="5887974" y="2402839"/>
            <a:ext cx="2890266" cy="477266"/>
          </a:xfrm>
          <a:prstGeom prst="rect">
            <a:avLst/>
          </a:prstGeom>
          <a:noFill/>
        </p:spPr>
        <p:txBody>
          <a:bodyPr wrap="square" lIns="128016" rIns="128016" tIns="18288" bIns="18288" anchor="ctr">
            <a:spAutoFit/>
          </a:bodyPr>
          <a:lstStyle/>
          <a:p>
            <a:r>
              <a:rPr sz="1100" b="0" i="0">
                <a:solidFill>
                  <a:srgbClr val="1F2933"/>
                </a:solidFill>
                <a:latin typeface="Calibri"/>
              </a:rPr>
              <a:t>clear() empties every cell; the sheet keeps its size.</a:t>
            </a:r>
          </a:p>
        </p:txBody>
      </p:sp>
      <p:sp>
        <p:nvSpPr>
          <p:cNvPr id="10" name="result label"/>
          <p:cNvSpPr txBox="1"/>
          <p:nvPr/>
        </p:nvSpPr>
        <p:spPr>
          <a:xfrm>
            <a:off x="365760" y="295325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TextBox 10"/>
          <p:cNvSpPr txBox="1"/>
          <p:nvPr/>
        </p:nvSpPr>
        <p:spPr>
          <a:xfrm>
            <a:off x="365760" y="3200146"/>
            <a:ext cx="3533241" cy="201168"/>
          </a:xfrm>
          <a:prstGeom prst="rect">
            <a:avLst/>
          </a:prstGeom>
          <a:noFill/>
        </p:spPr>
        <p:txBody>
          <a:bodyPr wrap="square" lIns="45720" rIns="45720" tIns="27432" bIns="27432" anchor="t">
            <a:spAutoFit/>
          </a:bodyPr>
          <a:lstStyle/>
          <a:p>
            <a:r>
              <a:rPr sz="950" b="0" i="1">
                <a:solidFill>
                  <a:srgbClr val="5B6773"/>
                </a:solidFill>
                <a:latin typeface="Calibri"/>
              </a:rPr>
              <a:t>the copy in the other spreadsheet</a:t>
            </a:r>
          </a:p>
        </p:txBody>
      </p:sp>
      <p:graphicFrame>
        <p:nvGraphicFramePr>
          <p:cNvPr id="12" name="sheet grid"/>
          <p:cNvGraphicFramePr>
            <a:graphicFrameLocks noGrp="1"/>
          </p:cNvGraphicFramePr>
          <p:nvPr/>
        </p:nvGraphicFramePr>
        <p:xfrm>
          <a:off x="365760" y="3410458"/>
          <a:ext cx="3533240" cy="658368"/>
        </p:xfrm>
        <a:graphic>
          <a:graphicData uri="http://schemas.openxmlformats.org/drawingml/2006/table">
            <a:tbl>
              <a:tblPr firstRow="0" bandRow="0"/>
              <a:tblGrid>
                <a:gridCol w="321203"/>
                <a:gridCol w="1070679"/>
                <a:gridCol w="1070679"/>
                <a:gridCol w="1070679"/>
              </a:tblGrid>
              <a:tr h="219456">
                <a:tc>
                  <a:txBody>
                    <a:bodyPr wrap="square"/>
                    <a:lstStyle/>
                    <a:p>
                      <a:pPr algn="ctr"/>
                      <a:r>
                        <a:rPr sz="850" b="1" i="0">
                          <a:solidFill>
                            <a:srgbClr val="FFFFFF"/>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850" b="1" i="0">
                          <a:solidFill>
                            <a:srgbClr val="FFFFFF"/>
                          </a:solidFill>
                          <a:latin typeface="Calibri"/>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850" b="1" i="0">
                          <a:solidFill>
                            <a:srgbClr val="FFFFFF"/>
                          </a:solidFill>
                          <a:latin typeface="Calibri"/>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850" b="1" i="0">
                          <a:solidFill>
                            <a:srgbClr val="FFFFFF"/>
                          </a:solidFill>
                          <a:latin typeface="Calibri"/>
                        </a:rPr>
                        <a:t>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pPr algn="ctr"/>
                      <a:r>
                        <a:rPr sz="850" b="1"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pPr algn="ctr"/>
                      <a:r>
                        <a:rPr sz="850" b="0" i="0">
                          <a:solidFill>
                            <a:srgbClr val="1F2933"/>
                          </a:solidFill>
                          <a:latin typeface="Calibri"/>
                        </a:rPr>
                        <a:t>PRODUCE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7EEF0"/>
                    </a:solidFill>
                  </a:tcPr>
                </a:tc>
                <a:tc>
                  <a:txBody>
                    <a:bodyPr wrap="square"/>
                    <a:lstStyle/>
                    <a:p>
                      <a:pPr algn="ctr"/>
                      <a:r>
                        <a:rPr sz="850" b="0" i="0">
                          <a:solidFill>
                            <a:srgbClr val="1F2933"/>
                          </a:solidFill>
                          <a:latin typeface="Calibri"/>
                        </a:rPr>
                        <a:t>COST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850" b="0" i="0">
                          <a:solidFill>
                            <a:srgbClr val="1F2933"/>
                          </a:solidFill>
                          <a:latin typeface="Calibri"/>
                        </a:rPr>
                        <a:t>POUNDS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pPr algn="ctr"/>
                      <a:r>
                        <a:rPr sz="850" b="1"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pPr algn="ctr"/>
                      <a:r>
                        <a:rPr sz="850" b="0" i="0">
                          <a:solidFill>
                            <a:srgbClr val="1F2933"/>
                          </a:solidFill>
                          <a:latin typeface="Calibri"/>
                        </a:rPr>
                        <a:t>Okra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850" b="0" i="0">
                          <a:solidFill>
                            <a:srgbClr val="1F2933"/>
                          </a:solidFill>
                          <a:latin typeface="Calibri"/>
                        </a:rPr>
                        <a:t>2.26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850" b="0" i="0">
                          <a:solidFill>
                            <a:srgbClr val="1F2933"/>
                          </a:solidFill>
                          <a:latin typeface="Calibri"/>
                        </a:rPr>
                        <a:t>38.6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cxnSp>
        <p:nvCxnSpPr>
          <p:cNvPr id="13" name="arrow"/>
          <p:cNvCxnSpPr/>
          <p:nvPr/>
        </p:nvCxnSpPr>
        <p:spPr>
          <a:xfrm>
            <a:off x="4151376" y="3867657"/>
            <a:ext cx="588873"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908499" y="3200146"/>
            <a:ext cx="3869740" cy="201168"/>
          </a:xfrm>
          <a:prstGeom prst="rect">
            <a:avLst/>
          </a:prstGeom>
          <a:noFill/>
        </p:spPr>
        <p:txBody>
          <a:bodyPr wrap="square" lIns="45720" rIns="45720" tIns="27432" bIns="27432" anchor="t">
            <a:spAutoFit/>
          </a:bodyPr>
          <a:lstStyle/>
          <a:p>
            <a:r>
              <a:rPr sz="950" b="0" i="1">
                <a:solidFill>
                  <a:srgbClr val="5B6773"/>
                </a:solidFill>
                <a:latin typeface="Calibri"/>
              </a:rPr>
              <a:t>the source after clear()</a:t>
            </a:r>
          </a:p>
        </p:txBody>
      </p:sp>
      <p:graphicFrame>
        <p:nvGraphicFramePr>
          <p:cNvPr id="15" name="sheet grid"/>
          <p:cNvGraphicFramePr>
            <a:graphicFrameLocks noGrp="1"/>
          </p:cNvGraphicFramePr>
          <p:nvPr/>
        </p:nvGraphicFramePr>
        <p:xfrm>
          <a:off x="4908499" y="3410458"/>
          <a:ext cx="3533240" cy="658368"/>
        </p:xfrm>
        <a:graphic>
          <a:graphicData uri="http://schemas.openxmlformats.org/drawingml/2006/table">
            <a:tbl>
              <a:tblPr firstRow="0" bandRow="0"/>
              <a:tblGrid>
                <a:gridCol w="321203"/>
                <a:gridCol w="1070679"/>
                <a:gridCol w="1070679"/>
                <a:gridCol w="1070679"/>
              </a:tblGrid>
              <a:tr h="219456">
                <a:tc>
                  <a:txBody>
                    <a:bodyPr wrap="square"/>
                    <a:lstStyle/>
                    <a:p>
                      <a:pPr algn="ctr"/>
                      <a:r>
                        <a:rPr sz="850" b="1" i="0">
                          <a:solidFill>
                            <a:srgbClr val="FFFFFF"/>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850" b="1" i="0">
                          <a:solidFill>
                            <a:srgbClr val="FFFFFF"/>
                          </a:solidFill>
                          <a:latin typeface="Calibri"/>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850" b="1" i="0">
                          <a:solidFill>
                            <a:srgbClr val="FFFFFF"/>
                          </a:solidFill>
                          <a:latin typeface="Calibri"/>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850" b="1" i="0">
                          <a:solidFill>
                            <a:srgbClr val="FFFFFF"/>
                          </a:solidFill>
                          <a:latin typeface="Calibri"/>
                        </a:rPr>
                        <a:t>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pPr algn="ctr"/>
                      <a:r>
                        <a:rPr sz="850" b="1"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pPr algn="ctr"/>
                      <a:r>
                        <a:rPr sz="850" b="0" i="0">
                          <a:solidFill>
                            <a:srgbClr val="1F2933"/>
                          </a:solidFill>
                          <a:latin typeface="Calibri"/>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850" b="0" i="0">
                          <a:solidFill>
                            <a:srgbClr val="1F2933"/>
                          </a:solidFill>
                          <a:latin typeface="Calibri"/>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850" b="0" i="0">
                          <a:solidFill>
                            <a:srgbClr val="1F2933"/>
                          </a:solidFill>
                          <a:latin typeface="Calibri"/>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pPr algn="ctr"/>
                      <a:r>
                        <a:rPr sz="850" b="1"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pPr algn="ctr"/>
                      <a:r>
                        <a:rPr sz="850" b="0" i="0">
                          <a:solidFill>
                            <a:srgbClr val="1F2933"/>
                          </a:solidFill>
                          <a:latin typeface="Calibri"/>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850" b="0" i="0">
                          <a:solidFill>
                            <a:srgbClr val="1F2933"/>
                          </a:solidFill>
                          <a:latin typeface="Calibri"/>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850" b="0" i="0">
                          <a:solidFill>
                            <a:srgbClr val="1F2933"/>
                          </a:solidFill>
                          <a:latin typeface="Calibri"/>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6" name="visual note"/>
          <p:cNvSpPr txBox="1"/>
          <p:nvPr/>
        </p:nvSpPr>
        <p:spPr>
          <a:xfrm>
            <a:off x="365760" y="4599178"/>
            <a:ext cx="8412480" cy="219456"/>
          </a:xfrm>
          <a:prstGeom prst="rect">
            <a:avLst/>
          </a:prstGeom>
          <a:noFill/>
        </p:spPr>
        <p:txBody>
          <a:bodyPr wrap="square" lIns="45720" rIns="45720" tIns="27432" bIns="27432" anchor="t">
            <a:spAutoFit/>
          </a:bodyPr>
          <a:lstStyle/>
          <a:p>
            <a:r>
              <a:rPr sz="900" b="0" i="1">
                <a:solidFill>
                  <a:srgbClr val="5B6773"/>
                </a:solidFill>
                <a:latin typeface="Calibri"/>
              </a:rPr>
              <a:t>titles: ('Sheet1', 'Copy of Sheet1'); the cleared sheet keeps its size (rows, columns): 2 3</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copyTo copies; clear() keeps the size.</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34 / 53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Surprises: equal sheets, the in operator, an empty cell</a:t>
            </a:r>
          </a:p>
        </p:txBody>
      </p:sp>
      <p:sp>
        <p:nvSpPr>
          <p:cNvPr id="4" name="code"/>
          <p:cNvSpPr/>
          <p:nvPr/>
        </p:nvSpPr>
        <p:spPr>
          <a:xfrm>
            <a:off x="365760" y="786384"/>
            <a:ext cx="5605272" cy="100114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p>
          <a:p>
            <a:pPr algn="l"/>
            <a:r>
              <a:rPr sz="900" b="0" i="0">
                <a:solidFill>
                  <a:srgbClr val="8FA3B8"/>
                </a:solidFill>
                <a:latin typeface="Courier New"/>
              </a:rPr>
              <a:t>&gt;&gt;&gt; </a:t>
            </a:r>
            <a:r>
              <a:rPr sz="900" b="0" i="0">
                <a:solidFill>
                  <a:srgbClr val="E6EDF3"/>
                </a:solidFill>
                <a:latin typeface="Courier New"/>
              </a:rPr>
              <a:t>g</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r>
              <a:rPr sz="900" b="0" i="0">
                <a:solidFill>
                  <a:srgbClr val="E6EDF3"/>
                </a:solidFill>
                <a:latin typeface="Courier New"/>
              </a:rPr>
              <a:t>.</a:t>
            </a:r>
            <a:r>
              <a:rPr sz="900" b="0" i="0">
                <a:solidFill>
                  <a:srgbClr val="E6EDF3"/>
                </a:solidFill>
                <a:latin typeface="Courier New"/>
              </a:rPr>
              <a:t>install</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a</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Spreadsheet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sheets</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b</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Spreadsheet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sheets</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'equal:'</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b</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 ids'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a:t>
            </a:r>
            <a:r>
              <a:rPr sz="900" b="0" i="0">
                <a:solidFill>
                  <a:srgbClr val="E6EDF3"/>
                </a:solidFill>
                <a:latin typeface="Courier New"/>
              </a:rPr>
              <a:t>.</a:t>
            </a:r>
            <a:r>
              <a:rPr sz="900" b="0" i="0">
                <a:solidFill>
                  <a:srgbClr val="E6EDF3"/>
                </a:solidFill>
                <a:latin typeface="Courier New"/>
              </a:rPr>
              <a:t>sheetId</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b</a:t>
            </a:r>
            <a:r>
              <a:rPr sz="900" b="0" i="0">
                <a:solidFill>
                  <a:srgbClr val="E6EDF3"/>
                </a:solidFill>
                <a:latin typeface="Courier New"/>
              </a:rPr>
              <a:t>.</a:t>
            </a:r>
            <a:r>
              <a:rPr sz="900" b="0" i="0">
                <a:solidFill>
                  <a:srgbClr val="E6EDF3"/>
                </a:solidFill>
                <a:latin typeface="Courier New"/>
              </a:rPr>
              <a:t>sheetId</a:t>
            </a:r>
            <a:r>
              <a:rPr sz="900" b="0" i="0">
                <a:solidFill>
                  <a:srgbClr val="E6EDF3"/>
                </a:solidFill>
                <a:latin typeface="Courier New"/>
              </a:rPr>
              <a:t>)</a:t>
            </a:r>
          </a:p>
        </p:txBody>
      </p:sp>
      <p:sp>
        <p:nvSpPr>
          <p:cNvPr id="5" name="explanation"/>
          <p:cNvSpPr txBox="1"/>
          <p:nvPr/>
        </p:nvSpPr>
        <p:spPr>
          <a:xfrm>
            <a:off x="5952744" y="786384"/>
            <a:ext cx="2825495" cy="1001141"/>
          </a:xfrm>
          <a:prstGeom prst="rect">
            <a:avLst/>
          </a:prstGeom>
          <a:noFill/>
        </p:spPr>
        <p:txBody>
          <a:bodyPr wrap="square" lIns="128016" rIns="128016" tIns="18288" bIns="18288" anchor="ctr">
            <a:spAutoFit/>
          </a:bodyPr>
          <a:lstStyle/>
          <a:p>
            <a:r>
              <a:rPr sz="1100" b="0" i="0">
                <a:solidFill>
                  <a:srgbClr val="1F2933"/>
                </a:solidFill>
                <a:latin typeface="Calibri"/>
              </a:rPr>
              <a:t>Two sheets are equal when their sheet ids are equal. The first sheet of every new spreadsheet has the id 0, so unrelated sheets compare equal.</a:t>
            </a:r>
          </a:p>
        </p:txBody>
      </p:sp>
      <p:sp>
        <p:nvSpPr>
          <p:cNvPr id="6" name="code"/>
          <p:cNvSpPr/>
          <p:nvPr/>
        </p:nvSpPr>
        <p:spPr>
          <a:xfrm>
            <a:off x="365760" y="1833245"/>
            <a:ext cx="5605272" cy="100114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names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Spreadsheet</a:t>
            </a:r>
            <a:r>
              <a:rPr sz="900" b="0" i="0">
                <a:solidFill>
                  <a:srgbClr val="E6EDF3"/>
                </a:solidFill>
                <a:latin typeface="Courier New"/>
              </a:rPr>
              <a:t>(</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load</a:t>
            </a:r>
            <a:r>
              <a:rPr sz="900" b="0" i="0">
                <a:solidFill>
                  <a:srgbClr val="E6EDF3"/>
                </a:solidFill>
                <a:latin typeface="Courier New"/>
              </a:rPr>
              <a:t>(</a:t>
            </a:r>
            <a:r>
              <a:rPr sz="900" b="0" i="0">
                <a:solidFill>
                  <a:srgbClr val="9BE3A8"/>
                </a:solidFill>
                <a:latin typeface="Courier New"/>
              </a:rPr>
              <a:t>'Q'</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'Q'</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'Alice'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'1'</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sheets</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'Alice in sheet:'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'Alice'</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names</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'empty cell is'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repr</a:t>
            </a:r>
            <a:r>
              <a:rPr sz="900" b="0" i="0">
                <a:solidFill>
                  <a:srgbClr val="E6EDF3"/>
                </a:solidFill>
                <a:latin typeface="Courier New"/>
              </a:rPr>
              <a:t>(</a:t>
            </a:r>
            <a:r>
              <a:rPr sz="900" b="0" i="0">
                <a:solidFill>
                  <a:srgbClr val="E6EDF3"/>
                </a:solidFill>
                <a:latin typeface="Courier New"/>
              </a:rPr>
              <a:t>names</a:t>
            </a:r>
            <a:r>
              <a:rPr sz="900" b="0" i="0">
                <a:solidFill>
                  <a:srgbClr val="E6EDF3"/>
                </a:solidFill>
                <a:latin typeface="Courier New"/>
              </a:rPr>
              <a:t>[</a:t>
            </a:r>
            <a:r>
              <a:rPr sz="900" b="0" i="0">
                <a:solidFill>
                  <a:srgbClr val="9BE3A8"/>
                </a:solidFill>
                <a:latin typeface="Courier New"/>
              </a:rPr>
              <a:t>'C1'</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952744" y="1833245"/>
            <a:ext cx="2825495" cy="1001141"/>
          </a:xfrm>
          <a:prstGeom prst="rect">
            <a:avLst/>
          </a:prstGeom>
          <a:noFill/>
        </p:spPr>
        <p:txBody>
          <a:bodyPr wrap="square" lIns="128016" rIns="128016" tIns="18288" bIns="18288" anchor="ctr">
            <a:spAutoFit/>
          </a:bodyPr>
          <a:lstStyle/>
          <a:p>
            <a:r>
              <a:rPr sz="1100" b="0" i="0">
                <a:solidFill>
                  <a:srgbClr val="1F2933"/>
                </a:solidFill>
                <a:latin typeface="Calibri"/>
              </a:rPr>
              <a:t>The in operator searches the coordinates, not the values, so a name in a cell is not found. An empty cell is an empty string, never None.</a:t>
            </a:r>
          </a:p>
        </p:txBody>
      </p:sp>
      <p:sp>
        <p:nvSpPr>
          <p:cNvPr id="8" name="result label"/>
          <p:cNvSpPr txBox="1"/>
          <p:nvPr/>
        </p:nvSpPr>
        <p:spPr>
          <a:xfrm>
            <a:off x="365760" y="290753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181858"/>
          <a:ext cx="8412479" cy="1243584"/>
        </p:xfrm>
        <a:graphic>
          <a:graphicData uri="http://schemas.openxmlformats.org/drawingml/2006/table">
            <a:tbl>
              <a:tblPr firstRow="0" bandRow="0"/>
              <a:tblGrid>
                <a:gridCol w="3250276"/>
                <a:gridCol w="1147156"/>
                <a:gridCol w="4015047"/>
              </a:tblGrid>
              <a:tr h="310896">
                <a:tc>
                  <a:txBody>
                    <a:bodyPr wrap="square"/>
                    <a:lstStyle/>
                    <a:p>
                      <a:r>
                        <a:rPr sz="1000" b="1" i="0">
                          <a:solidFill>
                            <a:srgbClr val="FFFFFF"/>
                          </a:solidFill>
                          <a:latin typeface="Calibri"/>
                        </a:rPr>
                        <a:t>Statement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Why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00" b="0" i="0">
                          <a:solidFill>
                            <a:srgbClr val="1F2933"/>
                          </a:solidFill>
                          <a:latin typeface="Courier New"/>
                        </a:rPr>
                        <a:t>a == b for sheets of two spreadsheets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r>
                        <a:rPr sz="1000" b="0" i="0">
                          <a:solidFill>
                            <a:srgbClr val="1F2933"/>
                          </a:solidFill>
                          <a:latin typeface="Calibri"/>
                        </a:rPr>
                        <a:t>equal when sheetId is equal; both are 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00" b="0" i="0">
                          <a:solidFill>
                            <a:srgbClr val="1F2933"/>
                          </a:solidFill>
                          <a:latin typeface="Courier New"/>
                        </a:rPr>
                        <a:t>'Alice' in sheet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r>
                        <a:rPr sz="1000" b="0" i="0">
                          <a:solidFill>
                            <a:srgbClr val="1F2933"/>
                          </a:solidFill>
                          <a:latin typeface="Calibri"/>
                        </a:rPr>
                        <a:t>in searches the coordinates, not the values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1000" b="0" i="0">
                          <a:solidFill>
                            <a:srgbClr val="1F2933"/>
                          </a:solidFill>
                          <a:latin typeface="Courier New"/>
                        </a:rPr>
                        <a:t>sheet['C1'] for an empty cell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an empty string, never 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visual note"/>
          <p:cNvSpPr txBox="1"/>
          <p:nvPr/>
        </p:nvSpPr>
        <p:spPr>
          <a:xfrm>
            <a:off x="365760" y="4507738"/>
            <a:ext cx="8412480" cy="219456"/>
          </a:xfrm>
          <a:prstGeom prst="rect">
            <a:avLst/>
          </a:prstGeom>
          <a:noFill/>
        </p:spPr>
        <p:txBody>
          <a:bodyPr wrap="square" lIns="45720" rIns="45720" tIns="27432" bIns="27432" anchor="t">
            <a:spAutoFit/>
          </a:bodyPr>
          <a:lstStyle/>
          <a:p>
            <a:r>
              <a:rPr sz="900" b="0" i="1">
                <a:solidFill>
                  <a:srgbClr val="5B6773"/>
                </a:solidFill>
                <a:latin typeface="Calibri"/>
              </a:rPr>
              <a:t>ids shown in the run: ids 0 0</a:t>
            </a:r>
          </a:p>
        </p:txBody>
      </p:sp>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Equal ids make equal sheets.</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35 / 53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4: Forms and quotas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Forms save answers as rows; Google limits requests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Google Forms</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Its answers arrive as rows of a sheet.</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Quota</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How many requests Google allows each minute.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IGNORE_QUOTA</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Switches off the library's own throttle only.</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Backoff</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Wait longer after each refusal, then try again.</a:t>
            </a:r>
          </a:p>
        </p:txBody>
      </p:sp>
      <p:graphicFrame>
        <p:nvGraphicFramePr>
          <p:cNvPr id="13" name="table"/>
          <p:cNvGraphicFramePr>
            <a:graphicFrameLocks noGrp="1"/>
          </p:cNvGraphicFramePr>
          <p:nvPr/>
        </p:nvGraphicFramePr>
        <p:xfrm>
          <a:off x="5303520" y="1417320"/>
          <a:ext cx="3474719" cy="182880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forms and quotas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Google Forms answers are rows: collect 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Story: Google Forms arrived in 2008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Quota: the library waits 10 to 45 seconds...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36 / 53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forms and quotas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quota is like a turnstile: only so many people pass each minute, and the rest wait their turn.</a:t>
            </a:r>
          </a:p>
        </p:txBody>
      </p:sp>
      <p:graphicFrame>
        <p:nvGraphicFramePr>
          <p:cNvPr id="6" name="table"/>
          <p:cNvGraphicFramePr>
            <a:graphicFrameLocks noGrp="1"/>
          </p:cNvGraphicFramePr>
          <p:nvPr/>
        </p:nvGraphicFramePr>
        <p:xfrm>
          <a:off x="365760" y="1417320"/>
          <a:ext cx="8412480" cy="3108959"/>
        </p:xfrm>
        <a:graphic>
          <a:graphicData uri="http://schemas.openxmlformats.org/drawingml/2006/table">
            <a:tbl>
              <a:tblPr firstRow="0" bandRow="0"/>
              <a:tblGrid>
                <a:gridCol w="3566160"/>
                <a:gridCol w="4846320"/>
              </a:tblGrid>
              <a:tr h="444137">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44137">
                <a:tc>
                  <a:txBody>
                    <a:bodyPr wrap="square"/>
                    <a:lstStyle/>
                    <a:p>
                      <a:r>
                        <a:rPr sz="1100" b="1" i="0">
                          <a:solidFill>
                            <a:srgbClr val="1F2933"/>
                          </a:solidFill>
                          <a:latin typeface="Calibri"/>
                        </a:rPr>
                        <a:t>Google Forms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paper questionnaire box whose slips are copied into a binder.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Downloading Google Forms Data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Reading the slips from the binder instead of from the 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Working with Google Sheets Quotas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Learning how many people the turnstile lets through.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quota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number of people the turnstile lets through each minute.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IGNORE_QUOTA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switch that stops the library's own counting, not the turnstile.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Practice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Small recital pieces after the finger exercises.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37 / 53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Google Forms answers are rows: collect the e-mail addresses</a:t>
            </a:r>
          </a:p>
        </p:txBody>
      </p:sp>
      <p:sp>
        <p:nvSpPr>
          <p:cNvPr id="4" name="code"/>
          <p:cNvSpPr/>
          <p:nvPr/>
        </p:nvSpPr>
        <p:spPr>
          <a:xfrm>
            <a:off x="365760" y="786384"/>
            <a:ext cx="5536691" cy="97383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p>
          <a:p>
            <a:pPr algn="l"/>
            <a:r>
              <a:rPr sz="900" b="0" i="0">
                <a:solidFill>
                  <a:srgbClr val="8FA3B8"/>
                </a:solidFill>
                <a:latin typeface="Courier New"/>
              </a:rPr>
              <a:t>&gt;&gt;&gt; </a:t>
            </a:r>
            <a:r>
              <a:rPr sz="900" b="0" i="0">
                <a:solidFill>
                  <a:srgbClr val="E6EDF3"/>
                </a:solidFill>
                <a:latin typeface="Courier New"/>
              </a:rPr>
              <a:t>g</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r>
              <a:rPr sz="900" b="0" i="0">
                <a:solidFill>
                  <a:srgbClr val="E6EDF3"/>
                </a:solidFill>
                <a:latin typeface="Courier New"/>
              </a:rPr>
              <a:t>.</a:t>
            </a:r>
            <a:r>
              <a:rPr sz="900" b="0" i="0">
                <a:solidFill>
                  <a:srgbClr val="E6EDF3"/>
                </a:solidFill>
                <a:latin typeface="Courier New"/>
              </a:rPr>
              <a:t>install</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answers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'Timestamp'</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'Name'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'Email address'</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'10:00'</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'Ada'</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'ada@example.org'</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'10:05'</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'Alan'</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'alan@example.org'</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'10:09'</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'Ada'</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'ada@example.org'</a:t>
            </a:r>
            <a:r>
              <a:rPr sz="900" b="0" i="0">
                <a:solidFill>
                  <a:srgbClr val="E6EDF3"/>
                </a:solidFill>
                <a:latin typeface="Courier New"/>
              </a:rPr>
              <a:t>]</a:t>
            </a:r>
            <a:r>
              <a:rPr sz="900" b="0" i="0">
                <a:solidFill>
                  <a:srgbClr val="E6EDF3"/>
                </a:solidFill>
                <a:latin typeface="Courier New"/>
              </a:rPr>
              <a:t>]</a:t>
            </a:r>
          </a:p>
        </p:txBody>
      </p:sp>
      <p:sp>
        <p:nvSpPr>
          <p:cNvPr id="5" name="explanation"/>
          <p:cNvSpPr txBox="1"/>
          <p:nvPr/>
        </p:nvSpPr>
        <p:spPr>
          <a:xfrm>
            <a:off x="5884164" y="786384"/>
            <a:ext cx="2894076" cy="973836"/>
          </a:xfrm>
          <a:prstGeom prst="rect">
            <a:avLst/>
          </a:prstGeom>
          <a:noFill/>
        </p:spPr>
        <p:txBody>
          <a:bodyPr wrap="square" lIns="128016" rIns="128016" tIns="18288" bIns="18288" anchor="ctr">
            <a:spAutoFit/>
          </a:bodyPr>
          <a:lstStyle/>
          <a:p>
            <a:r>
              <a:rPr sz="1100" b="0" i="0">
                <a:solidFill>
                  <a:srgbClr val="1F2933"/>
                </a:solidFill>
                <a:latin typeface="Calibri"/>
              </a:rPr>
              <a:t>A form saves each answer as a row of a spreadsheet. These three answers stand in for the response sheet of a real form.</a:t>
            </a:r>
          </a:p>
        </p:txBody>
      </p:sp>
      <p:sp>
        <p:nvSpPr>
          <p:cNvPr id="6" name="code"/>
          <p:cNvSpPr/>
          <p:nvPr/>
        </p:nvSpPr>
        <p:spPr>
          <a:xfrm>
            <a:off x="365760" y="1805940"/>
            <a:ext cx="5536691"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sheet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Spreadsheet</a:t>
            </a:r>
            <a:r>
              <a:rPr sz="900" b="0" i="0">
                <a:solidFill>
                  <a:srgbClr val="E6EDF3"/>
                </a:solidFill>
                <a:latin typeface="Courier New"/>
              </a:rPr>
              <a:t>(</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load</a:t>
            </a:r>
            <a:r>
              <a:rPr sz="900" b="0" i="0">
                <a:solidFill>
                  <a:srgbClr val="E6EDF3"/>
                </a:solidFill>
                <a:latin typeface="Courier New"/>
              </a:rPr>
              <a:t>(</a:t>
            </a:r>
            <a:r>
              <a:rPr sz="900" b="0" i="0">
                <a:solidFill>
                  <a:srgbClr val="9BE3A8"/>
                </a:solidFill>
                <a:latin typeface="Courier New"/>
              </a:rPr>
              <a:t>'F'</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'Responses'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answers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sheets</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emails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getColumn</a:t>
            </a:r>
            <a:r>
              <a:rPr sz="900" b="0" i="0">
                <a:solidFill>
                  <a:srgbClr val="E6EDF3"/>
                </a:solidFill>
                <a:latin typeface="Courier New"/>
              </a:rPr>
              <a:t>(</a:t>
            </a:r>
            <a:r>
              <a:rPr sz="900" b="0" i="0">
                <a:solidFill>
                  <a:srgbClr val="7CC4FF"/>
                </a:solidFill>
                <a:latin typeface="Courier New"/>
              </a:rPr>
              <a:t>3</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emails</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sorted</a:t>
            </a:r>
            <a:r>
              <a:rPr sz="900" b="0" i="0">
                <a:solidFill>
                  <a:srgbClr val="E6EDF3"/>
                </a:solidFill>
                <a:latin typeface="Courier New"/>
              </a:rPr>
              <a:t>(</a:t>
            </a:r>
            <a:r>
              <a:rPr sz="900" b="0" i="0">
                <a:solidFill>
                  <a:srgbClr val="E6EDF3"/>
                </a:solidFill>
                <a:latin typeface="Courier New"/>
              </a:rPr>
              <a:t>set</a:t>
            </a:r>
            <a:r>
              <a:rPr sz="900" b="0" i="0">
                <a:solidFill>
                  <a:srgbClr val="E6EDF3"/>
                </a:solidFill>
                <a:latin typeface="Courier New"/>
              </a:rPr>
              <a:t>(</a:t>
            </a:r>
            <a:r>
              <a:rPr sz="900" b="0" i="0">
                <a:solidFill>
                  <a:srgbClr val="E6EDF3"/>
                </a:solidFill>
                <a:latin typeface="Courier New"/>
              </a:rPr>
              <a:t>emails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884164" y="1805940"/>
            <a:ext cx="2894076" cy="826516"/>
          </a:xfrm>
          <a:prstGeom prst="rect">
            <a:avLst/>
          </a:prstGeom>
          <a:noFill/>
        </p:spPr>
        <p:txBody>
          <a:bodyPr wrap="square" lIns="128016" rIns="128016" tIns="18288" bIns="18288" anchor="ctr">
            <a:spAutoFit/>
          </a:bodyPr>
          <a:lstStyle/>
          <a:p>
            <a:r>
              <a:rPr sz="1100" b="0" i="0">
                <a:solidFill>
                  <a:srgbClr val="1F2933"/>
                </a:solidFill>
                <a:latin typeface="Calibri"/>
              </a:rPr>
              <a:t>Column 3 holds the addresses; the first item is the heading, so it is cut off. A set removes the address that answered twice.</a:t>
            </a:r>
          </a:p>
        </p:txBody>
      </p:sp>
      <p:sp>
        <p:nvSpPr>
          <p:cNvPr id="8" name="result label"/>
          <p:cNvSpPr txBox="1"/>
          <p:nvPr/>
        </p:nvSpPr>
        <p:spPr>
          <a:xfrm>
            <a:off x="365760" y="270560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979927"/>
          <a:ext cx="5552234" cy="1097280"/>
        </p:xfrm>
        <a:graphic>
          <a:graphicData uri="http://schemas.openxmlformats.org/drawingml/2006/table">
            <a:tbl>
              <a:tblPr firstRow="0" bandRow="0"/>
              <a:tblGrid>
                <a:gridCol w="2056383"/>
                <a:gridCol w="1028191"/>
                <a:gridCol w="2467660"/>
              </a:tblGrid>
              <a:tr h="274320">
                <a:tc>
                  <a:txBody>
                    <a:bodyPr wrap="square"/>
                    <a:lstStyle/>
                    <a:p>
                      <a:r>
                        <a:rPr sz="1000" b="1" i="0">
                          <a:solidFill>
                            <a:srgbClr val="FFFFFF"/>
                          </a:solidFill>
                          <a:latin typeface="Calibri"/>
                        </a:rPr>
                        <a:t>Timestamp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Email address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alibri"/>
                        </a:rPr>
                        <a:t>10:00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Ada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ada@example.org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alibri"/>
                        </a:rPr>
                        <a:t>10:05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Alan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alan@example.org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alibri"/>
                        </a:rPr>
                        <a:t>10:09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alibri"/>
                        </a:rPr>
                        <a:t>Ada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alibri"/>
                        </a:rPr>
                        <a:t>ada@example.org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sp>
        <p:nvSpPr>
          <p:cNvPr id="10" name="Rounded Rectangle 9"/>
          <p:cNvSpPr/>
          <p:nvPr/>
        </p:nvSpPr>
        <p:spPr>
          <a:xfrm>
            <a:off x="6254496" y="2979927"/>
            <a:ext cx="2523744"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3 answers</a:t>
            </a:r>
          </a:p>
        </p:txBody>
      </p:sp>
      <p:sp>
        <p:nvSpPr>
          <p:cNvPr id="11" name="Rounded Rectangle 10"/>
          <p:cNvSpPr/>
          <p:nvPr/>
        </p:nvSpPr>
        <p:spPr>
          <a:xfrm>
            <a:off x="6254496" y="3345687"/>
            <a:ext cx="2523744" cy="27432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2 different addresses</a:t>
            </a:r>
          </a:p>
        </p:txBody>
      </p:sp>
      <p:sp>
        <p:nvSpPr>
          <p:cNvPr id="12" name="visual note"/>
          <p:cNvSpPr txBox="1"/>
          <p:nvPr/>
        </p:nvSpPr>
        <p:spPr>
          <a:xfrm>
            <a:off x="6254496" y="3711447"/>
            <a:ext cx="2523744" cy="219456"/>
          </a:xfrm>
          <a:prstGeom prst="rect">
            <a:avLst/>
          </a:prstGeom>
          <a:noFill/>
        </p:spPr>
        <p:txBody>
          <a:bodyPr wrap="square" lIns="45720" rIns="45720" tIns="27432" bIns="27432" anchor="t">
            <a:spAutoFit/>
          </a:bodyPr>
          <a:lstStyle/>
          <a:p>
            <a:r>
              <a:rPr sz="950" b="0" i="1">
                <a:solidFill>
                  <a:srgbClr val="5B6773"/>
                </a:solidFill>
                <a:latin typeface="Calibri"/>
              </a:rPr>
              <a:t>amber: answered twice</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form's answers are rows.</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38 / 53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Google Forms arrived in 2008</a:t>
            </a:r>
          </a:p>
        </p:txBody>
      </p:sp>
      <p:pic>
        <p:nvPicPr>
          <p:cNvPr id="4" name="photo forms2008" descr="Picture for the story: Google Forms arrived in 2008"/>
          <p:cNvPicPr>
            <a:picLocks noChangeAspect="1"/>
          </p:cNvPicPr>
          <p:nvPr/>
        </p:nvPicPr>
        <p:blipFill>
          <a:blip r:embed="rId3"/>
          <a:stretch>
            <a:fillRect/>
          </a:stretch>
        </p:blipFill>
        <p:spPr>
          <a:xfrm>
            <a:off x="366422" y="868680"/>
            <a:ext cx="2650434"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A web page that links to a Google Form. Screenshot: Wesley Fryer, CC BY 2.0, Flickr.</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Google, as part of the Google Docs suite.</a:t>
            </a:r>
          </a:p>
        </p:txBody>
      </p:sp>
      <p:sp>
        <p:nvSpPr>
          <p:cNvPr id="8" name="card"/>
          <p:cNvSpPr/>
          <p:nvPr/>
        </p:nvSpPr>
        <p:spPr>
          <a:xfrm>
            <a:off x="3200400" y="130759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30759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Google Forms, a web application for making surveys. The answers can fill a spreadsheet automatically.</a:t>
            </a:r>
          </a:p>
        </p:txBody>
      </p:sp>
      <p:sp>
        <p:nvSpPr>
          <p:cNvPr id="10" name="card"/>
          <p:cNvSpPr/>
          <p:nvPr/>
        </p:nvSpPr>
        <p:spPr>
          <a:xfrm>
            <a:off x="3200400" y="1874520"/>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874520"/>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2008; the pages that could be opened give the year only, not the day.</a:t>
            </a:r>
          </a:p>
        </p:txBody>
      </p:sp>
      <p:sp>
        <p:nvSpPr>
          <p:cNvPr id="12" name="card"/>
          <p:cNvSpPr/>
          <p:nvPr/>
        </p:nvSpPr>
        <p:spPr>
          <a:xfrm>
            <a:off x="3200400" y="24414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On the web, in Google Docs.</a:t>
            </a:r>
          </a:p>
        </p:txBody>
      </p:sp>
      <p:sp>
        <p:nvSpPr>
          <p:cNvPr id="14" name="card"/>
          <p:cNvSpPr/>
          <p:nvPr/>
        </p:nvSpPr>
        <p:spPr>
          <a:xfrm>
            <a:off x="3200400" y="290779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290779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So that answers arrive as rows that a program can read, which is the first practice program of the chapter.</a:t>
            </a:r>
          </a:p>
        </p:txBody>
      </p:sp>
      <p:sp>
        <p:nvSpPr>
          <p:cNvPr id="16" name="card"/>
          <p:cNvSpPr/>
          <p:nvPr/>
        </p:nvSpPr>
        <p:spPr>
          <a:xfrm>
            <a:off x="3200400" y="3474720"/>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474720"/>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The owner picks a new or an existing spreadsheet as the place for the responses; EZSheets then opens it like any other.</a:t>
            </a:r>
          </a:p>
        </p:txBody>
      </p:sp>
      <p:sp>
        <p:nvSpPr>
          <p:cNvPr id="18" name="read"/>
          <p:cNvSpPr txBox="1"/>
          <p:nvPr/>
        </p:nvSpPr>
        <p:spPr>
          <a:xfrm>
            <a:off x="3200400" y="4059936"/>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Google Forms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39 / 53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Quota: the library waits 10 to 45 seconds and retries</a:t>
            </a:r>
          </a:p>
        </p:txBody>
      </p:sp>
      <p:sp>
        <p:nvSpPr>
          <p:cNvPr id="4" name="code"/>
          <p:cNvSpPr/>
          <p:nvPr/>
        </p:nvSpPr>
        <p:spPr>
          <a:xfrm>
            <a:off x="365760" y="786384"/>
            <a:ext cx="5605272"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time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types</a:t>
            </a:r>
          </a:p>
          <a:p>
            <a:pPr algn="l"/>
            <a:r>
              <a:rPr sz="900" b="0" i="0">
                <a:solidFill>
                  <a:srgbClr val="8FA3B8"/>
                </a:solidFill>
                <a:latin typeface="Courier New"/>
              </a:rPr>
              <a:t>&gt;&gt;&gt; </a:t>
            </a:r>
            <a:r>
              <a:rPr sz="900" b="0" i="0">
                <a:solidFill>
                  <a:srgbClr val="E6EDF3"/>
                </a:solidFill>
                <a:latin typeface="Courier New"/>
              </a:rPr>
              <a:t>g</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r>
              <a:rPr sz="900" b="0" i="0">
                <a:solidFill>
                  <a:srgbClr val="E6EDF3"/>
                </a:solidFill>
                <a:latin typeface="Courier New"/>
              </a:rPr>
              <a:t>.</a:t>
            </a:r>
            <a:r>
              <a:rPr sz="900" b="0" i="0">
                <a:solidFill>
                  <a:srgbClr val="E6EDF3"/>
                </a:solidFill>
                <a:latin typeface="Courier New"/>
              </a:rPr>
              <a:t>install</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pauses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time</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types</a:t>
            </a:r>
            <a:r>
              <a:rPr sz="900" b="0" i="0">
                <a:solidFill>
                  <a:srgbClr val="E6EDF3"/>
                </a:solidFill>
                <a:latin typeface="Courier New"/>
              </a:rPr>
              <a:t>.</a:t>
            </a:r>
            <a:r>
              <a:rPr sz="900" b="0" i="0">
                <a:solidFill>
                  <a:srgbClr val="E6EDF3"/>
                </a:solidFill>
                <a:latin typeface="Courier New"/>
              </a:rPr>
              <a:t>SimpleNamespace</a:t>
            </a:r>
            <a:r>
              <a:rPr sz="900" b="0" i="0">
                <a:solidFill>
                  <a:srgbClr val="E6EDF3"/>
                </a:solidFill>
                <a:latin typeface="Courier New"/>
              </a:rPr>
              <a:t>(</a:t>
            </a:r>
            <a:r>
              <a:rPr sz="900" b="0" i="0">
                <a:solidFill>
                  <a:srgbClr val="E6EDF3"/>
                </a:solidFill>
                <a:latin typeface="Courier New"/>
              </a:rPr>
              <a:t>sleep</a:t>
            </a:r>
            <a:r>
              <a:rPr sz="900" b="0" i="0">
                <a:solidFill>
                  <a:srgbClr val="E6EDF3"/>
                </a:solidFill>
                <a:latin typeface="Courier New"/>
              </a:rPr>
              <a:t>=</a:t>
            </a:r>
            <a:r>
              <a:rPr sz="900" b="0" i="0">
                <a:solidFill>
                  <a:srgbClr val="E6EDF3"/>
                </a:solidFill>
                <a:latin typeface="Courier New"/>
              </a:rPr>
              <a:t>pauses</a:t>
            </a:r>
            <a:r>
              <a:rPr sz="900" b="0" i="0">
                <a:solidFill>
                  <a:srgbClr val="E6EDF3"/>
                </a:solidFill>
                <a:latin typeface="Courier New"/>
              </a:rPr>
              <a:t>.</a:t>
            </a:r>
            <a:r>
              <a:rPr sz="900" b="0" i="0">
                <a:solidFill>
                  <a:srgbClr val="E6EDF3"/>
                </a:solidFill>
                <a:latin typeface="Courier New"/>
              </a:rPr>
              <a:t>append</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time</a:t>
            </a:r>
            <a:r>
              <a:rPr sz="900" b="0" i="0">
                <a:solidFill>
                  <a:srgbClr val="E6EDF3"/>
                </a:solidFill>
                <a:latin typeface="Courier New"/>
              </a:rPr>
              <a:t>=</a:t>
            </a:r>
            <a:r>
              <a:rPr sz="900" b="0" i="0">
                <a:solidFill>
                  <a:srgbClr val="E6EDF3"/>
                </a:solidFill>
                <a:latin typeface="Courier New"/>
              </a:rPr>
              <a:t>time</a:t>
            </a:r>
            <a:r>
              <a:rPr sz="900" b="0" i="0">
                <a:solidFill>
                  <a:srgbClr val="E6EDF3"/>
                </a:solidFill>
                <a:latin typeface="Courier New"/>
              </a:rPr>
              <a:t>.</a:t>
            </a:r>
            <a:r>
              <a:rPr sz="900" b="0" i="0">
                <a:solidFill>
                  <a:srgbClr val="E6EDF3"/>
                </a:solidFill>
                <a:latin typeface="Courier New"/>
              </a:rPr>
              <a:t>time</a:t>
            </a:r>
            <a:r>
              <a:rPr sz="900" b="0" i="0">
                <a:solidFill>
                  <a:srgbClr val="E6EDF3"/>
                </a:solidFill>
                <a:latin typeface="Courier New"/>
              </a:rPr>
              <a:t>)</a:t>
            </a:r>
          </a:p>
        </p:txBody>
      </p:sp>
      <p:sp>
        <p:nvSpPr>
          <p:cNvPr id="5" name="explanation"/>
          <p:cNvSpPr txBox="1"/>
          <p:nvPr/>
        </p:nvSpPr>
        <p:spPr>
          <a:xfrm>
            <a:off x="5952744" y="786384"/>
            <a:ext cx="2825495" cy="826516"/>
          </a:xfrm>
          <a:prstGeom prst="rect">
            <a:avLst/>
          </a:prstGeom>
          <a:noFill/>
        </p:spPr>
        <p:txBody>
          <a:bodyPr wrap="square" lIns="128016" rIns="128016" tIns="18288" bIns="18288" anchor="ctr">
            <a:spAutoFit/>
          </a:bodyPr>
          <a:lstStyle/>
          <a:p>
            <a:r>
              <a:rPr sz="1100" b="0" i="0">
                <a:solidFill>
                  <a:srgbClr val="1F2933"/>
                </a:solidFill>
                <a:latin typeface="Calibri"/>
              </a:rPr>
              <a:t>The pauses are recorded instead of slept, so the example needs no waiting. The library's clock is put back at the end.</a:t>
            </a:r>
          </a:p>
        </p:txBody>
      </p:sp>
      <p:sp>
        <p:nvSpPr>
          <p:cNvPr id="6" name="code"/>
          <p:cNvSpPr/>
          <p:nvPr/>
        </p:nvSpPr>
        <p:spPr>
          <a:xfrm>
            <a:off x="365760" y="1658620"/>
            <a:ext cx="5605272" cy="100114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fail</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429</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'RESOURCE_EXHAUSTED'</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20</a:t>
            </a:r>
          </a:p>
          <a:p>
            <a:pPr algn="l"/>
            <a:r>
              <a:rPr sz="900" b="0" i="0">
                <a:solidFill>
                  <a:srgbClr val="8FA3B8"/>
                </a:solidFill>
                <a:latin typeface="Courier New"/>
              </a:rPr>
              <a:t>&gt;&gt;&gt; </a:t>
            </a:r>
            <a:r>
              <a:rPr sz="900" b="0" i="0">
                <a:solidFill>
                  <a:srgbClr val="E6EDF3"/>
                </a:solidFill>
                <a:latin typeface="Courier New"/>
              </a:rPr>
              <a:t>try</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Spreadsheet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except</a:t>
            </a:r>
            <a:r>
              <a:rPr sz="900" b="0" i="0">
                <a:solidFill>
                  <a:srgbClr val="E6EDF3"/>
                </a:solidFill>
                <a:latin typeface="Courier New"/>
              </a:rPr>
              <a:t> </a:t>
            </a:r>
            <a:r>
              <a:rPr sz="900" b="0" i="0">
                <a:solidFill>
                  <a:srgbClr val="E6EDF3"/>
                </a:solidFill>
                <a:latin typeface="Courier New"/>
              </a:rPr>
              <a:t>Exception</a:t>
            </a:r>
            <a:r>
              <a:rPr sz="900" b="0" i="0">
                <a:solidFill>
                  <a:srgbClr val="E6EDF3"/>
                </a:solidFill>
                <a:latin typeface="Courier New"/>
              </a:rPr>
              <a:t> </a:t>
            </a:r>
            <a:r>
              <a:rPr sz="900" b="0" i="0">
                <a:solidFill>
                  <a:srgbClr val="E6EDF3"/>
                </a:solidFill>
                <a:latin typeface="Courier New"/>
              </a:rPr>
              <a:t>as</a:t>
            </a:r>
            <a:r>
              <a:rPr sz="900" b="0" i="0">
                <a:solidFill>
                  <a:srgbClr val="E6EDF3"/>
                </a:solidFill>
                <a:latin typeface="Courier New"/>
              </a:rPr>
              <a:t> </a:t>
            </a:r>
            <a:r>
              <a:rPr sz="900" b="0" i="0">
                <a:solidFill>
                  <a:srgbClr val="E6EDF3"/>
                </a:solidFill>
                <a:latin typeface="Courier New"/>
              </a:rPr>
              <a:t>e</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len</a:t>
            </a:r>
            <a:r>
              <a:rPr sz="900" b="0" i="0">
                <a:solidFill>
                  <a:srgbClr val="E6EDF3"/>
                </a:solidFill>
                <a:latin typeface="Courier New"/>
              </a:rPr>
              <a:t>(</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log</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'tries,'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sum</a:t>
            </a:r>
            <a:r>
              <a:rPr sz="900" b="0" i="0">
                <a:solidFill>
                  <a:srgbClr val="E6EDF3"/>
                </a:solidFill>
                <a:latin typeface="Courier New"/>
              </a:rPr>
              <a:t>(</a:t>
            </a:r>
            <a:r>
              <a:rPr sz="900" b="0" i="0">
                <a:solidFill>
                  <a:srgbClr val="E6EDF3"/>
                </a:solidFill>
                <a:latin typeface="Courier New"/>
              </a:rPr>
              <a:t>pauses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'seconds,'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type</a:t>
            </a:r>
            <a:r>
              <a:rPr sz="900" b="0" i="0">
                <a:solidFill>
                  <a:srgbClr val="E6EDF3"/>
                </a:solidFill>
                <a:latin typeface="Courier New"/>
              </a:rPr>
              <a:t>(</a:t>
            </a:r>
            <a:r>
              <a:rPr sz="900" b="0" i="0">
                <a:solidFill>
                  <a:srgbClr val="E6EDF3"/>
                </a:solidFill>
                <a:latin typeface="Courier New"/>
              </a:rPr>
              <a:t>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__name__</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time</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time</a:t>
            </a:r>
          </a:p>
        </p:txBody>
      </p:sp>
      <p:sp>
        <p:nvSpPr>
          <p:cNvPr id="7" name="explanation"/>
          <p:cNvSpPr txBox="1"/>
          <p:nvPr/>
        </p:nvSpPr>
        <p:spPr>
          <a:xfrm>
            <a:off x="5952744" y="1658620"/>
            <a:ext cx="2825495" cy="1001141"/>
          </a:xfrm>
          <a:prstGeom prst="rect">
            <a:avLst/>
          </a:prstGeom>
          <a:noFill/>
        </p:spPr>
        <p:txBody>
          <a:bodyPr wrap="square" lIns="128016" rIns="128016" tIns="18288" bIns="18288" anchor="ctr">
            <a:spAutoFit/>
          </a:bodyPr>
          <a:lstStyle/>
          <a:p>
            <a:r>
              <a:rPr sz="1100" b="0" i="0">
                <a:solidFill>
                  <a:srgbClr val="1F2933"/>
                </a:solidFill>
                <a:latin typeface="Calibri"/>
              </a:rPr>
              <a:t>Google answers 429 again and again. The library pauses 10, 15, ... 45 seconds, tries nine times and gives up. Any other error stops it at once.</a:t>
            </a:r>
          </a:p>
        </p:txBody>
      </p:sp>
      <p:sp>
        <p:nvSpPr>
          <p:cNvPr id="8" name="result label"/>
          <p:cNvSpPr txBox="1"/>
          <p:nvPr/>
        </p:nvSpPr>
        <p:spPr>
          <a:xfrm>
            <a:off x="365760" y="2732913"/>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3007233"/>
          <a:ext cx="5047488" cy="1601343"/>
        </p:xfrm>
        <a:graphic>
          <a:graphicData uri="http://schemas.openxmlformats.org/drawingml/2006/chart">
            <c:chart xmlns:c="http://schemas.openxmlformats.org/drawingml/2006/chart" r:id="rId3"/>
          </a:graphicData>
        </a:graphic>
      </p:graphicFrame>
      <p:sp>
        <p:nvSpPr>
          <p:cNvPr id="10" name="Rounded Rectangle 9"/>
          <p:cNvSpPr/>
          <p:nvPr/>
        </p:nvSpPr>
        <p:spPr>
          <a:xfrm>
            <a:off x="5749747" y="3098673"/>
            <a:ext cx="3028492"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9 tries in all</a:t>
            </a:r>
          </a:p>
        </p:txBody>
      </p:sp>
      <p:sp>
        <p:nvSpPr>
          <p:cNvPr id="11" name="Rounded Rectangle 10"/>
          <p:cNvSpPr/>
          <p:nvPr/>
        </p:nvSpPr>
        <p:spPr>
          <a:xfrm>
            <a:off x="5749747" y="3464433"/>
            <a:ext cx="3028492"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waited 220 seconds in total</a:t>
            </a:r>
          </a:p>
        </p:txBody>
      </p:sp>
      <p:sp>
        <p:nvSpPr>
          <p:cNvPr id="12" name="Rounded Rectangle 11"/>
          <p:cNvSpPr/>
          <p:nvPr/>
        </p:nvSpPr>
        <p:spPr>
          <a:xfrm>
            <a:off x="5749747" y="3830193"/>
            <a:ext cx="3028492" cy="27432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then: HttpError</a:t>
            </a:r>
          </a:p>
        </p:txBody>
      </p:sp>
      <p:sp>
        <p:nvSpPr>
          <p:cNvPr id="13" name="visual note"/>
          <p:cNvSpPr txBox="1"/>
          <p:nvPr/>
        </p:nvSpPr>
        <p:spPr>
          <a:xfrm>
            <a:off x="5749747" y="4195953"/>
            <a:ext cx="3028492" cy="219456"/>
          </a:xfrm>
          <a:prstGeom prst="rect">
            <a:avLst/>
          </a:prstGeom>
          <a:noFill/>
        </p:spPr>
        <p:txBody>
          <a:bodyPr wrap="square" lIns="45720" rIns="45720" tIns="27432" bIns="27432" anchor="t">
            <a:spAutoFit/>
          </a:bodyPr>
          <a:lstStyle/>
          <a:p>
            <a:r>
              <a:rPr sz="900" b="0" i="1">
                <a:solidFill>
                  <a:srgbClr val="5B6773"/>
                </a:solidFill>
                <a:latin typeface="Calibri"/>
              </a:rPr>
              <a:t>seconds shown: the pause before the next try</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library waits 220 seconds, then gives up.</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40 / 53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5: Project 11, a fake blockchain</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 sheet that pretends to be a ledger: audit it, extend it</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Project 11</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shared sheet of who paid whom.</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Audit</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Add up what each account holds.</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Lost update</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Two writers use the same row number.</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Bean Count</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Check each total against a rule.</a:t>
            </a:r>
          </a:p>
        </p:txBody>
      </p:sp>
      <p:graphicFrame>
        <p:nvGraphicFramePr>
          <p:cNvPr id="13" name="table"/>
          <p:cNvGraphicFramePr>
            <a:graphicFrameLocks noGrp="1"/>
          </p:cNvGraphicFramePr>
          <p:nvPr/>
        </p:nvGraphicFramePr>
        <p:xfrm>
          <a:off x="5303520" y="1417320"/>
          <a:ext cx="3474719" cy="292608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the project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Project 11, step 1: audit the Boringcoin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44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The audit meets an empty row of the grid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Project 11, step 2: add one transaction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46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Two programs add a row: one transaction 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a 2008 message announced the cash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48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Finding mistakes in a spreadsheet: quanti...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41 / 53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the project</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ledger is like a notebook at a corner shop: easy to add up, and just as easy to forge with a pencil.</a:t>
            </a:r>
          </a:p>
        </p:txBody>
      </p:sp>
      <p:graphicFrame>
        <p:nvGraphicFramePr>
          <p:cNvPr id="6" name="table"/>
          <p:cNvGraphicFramePr>
            <a:graphicFrameLocks noGrp="1"/>
          </p:cNvGraphicFramePr>
          <p:nvPr/>
        </p:nvGraphicFramePr>
        <p:xfrm>
          <a:off x="365760" y="1417320"/>
          <a:ext cx="8412480" cy="1828800"/>
        </p:xfrm>
        <a:graphic>
          <a:graphicData uri="http://schemas.openxmlformats.org/drawingml/2006/table">
            <a:tbl>
              <a:tblPr firstRow="0" bandRow="0"/>
              <a:tblGrid>
                <a:gridCol w="3566160"/>
                <a:gridCol w="484632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Project 11: Fake Blockchain Cryptocurrency Scam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shop notebook that pretends to be a bank.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fake blockchain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notebook with an honest look and no guard at the door.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Finding Mistakes in a Spreadsheet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Checking the till slip against the price tags.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42 / 53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Project 11, step 1: audit the Boringcoin ledger</a:t>
            </a:r>
          </a:p>
        </p:txBody>
      </p:sp>
      <p:sp>
        <p:nvSpPr>
          <p:cNvPr id="4" name="code"/>
          <p:cNvSpPr/>
          <p:nvPr/>
        </p:nvSpPr>
        <p:spPr>
          <a:xfrm>
            <a:off x="365760" y="786384"/>
            <a:ext cx="5536691" cy="83439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p>
          <a:p>
            <a:pPr algn="l"/>
            <a:r>
              <a:rPr sz="900" b="0" i="0">
                <a:solidFill>
                  <a:srgbClr val="8FA3B8"/>
                </a:solidFill>
                <a:latin typeface="Courier New"/>
              </a:rPr>
              <a:t>&gt;&gt;&gt; </a:t>
            </a:r>
            <a:r>
              <a:rPr sz="900" b="0" i="0">
                <a:solidFill>
                  <a:srgbClr val="E6EDF3"/>
                </a:solidFill>
                <a:latin typeface="Courier New"/>
              </a:rPr>
              <a:t>g</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r>
              <a:rPr sz="900" b="0" i="0">
                <a:solidFill>
                  <a:srgbClr val="E6EDF3"/>
                </a:solidFill>
                <a:latin typeface="Courier New"/>
              </a:rPr>
              <a:t>.</a:t>
            </a:r>
            <a:r>
              <a:rPr sz="900" b="0" i="0">
                <a:solidFill>
                  <a:srgbClr val="E6EDF3"/>
                </a:solidFill>
                <a:latin typeface="Courier New"/>
              </a:rPr>
              <a:t>install</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ledger</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'PRE-MINE'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'Alice'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'1000'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'PRE-MINE'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'Bob'</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'500'</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'Alice'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'Bob'</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'200'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'Bob'</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'Carol'</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'150'</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sheet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Spreadsheet</a:t>
            </a:r>
            <a:r>
              <a:rPr sz="900" b="0" i="0">
                <a:solidFill>
                  <a:srgbClr val="E6EDF3"/>
                </a:solidFill>
                <a:latin typeface="Courier New"/>
              </a:rPr>
              <a:t>(</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load</a:t>
            </a:r>
            <a:r>
              <a:rPr sz="900" b="0" i="0">
                <a:solidFill>
                  <a:srgbClr val="E6EDF3"/>
                </a:solidFill>
                <a:latin typeface="Courier New"/>
              </a:rPr>
              <a:t>(</a:t>
            </a:r>
            <a:r>
              <a:rPr sz="900" b="0" i="0">
                <a:solidFill>
                  <a:srgbClr val="9BE3A8"/>
                </a:solidFill>
                <a:latin typeface="Courier New"/>
              </a:rPr>
              <a:t>'B'</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'Boringcoin'</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ledger</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sheets</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p>
        </p:txBody>
      </p:sp>
      <p:sp>
        <p:nvSpPr>
          <p:cNvPr id="5" name="explanation"/>
          <p:cNvSpPr txBox="1"/>
          <p:nvPr/>
        </p:nvSpPr>
        <p:spPr>
          <a:xfrm>
            <a:off x="5884164" y="786384"/>
            <a:ext cx="2894076" cy="834390"/>
          </a:xfrm>
          <a:prstGeom prst="rect">
            <a:avLst/>
          </a:prstGeom>
          <a:noFill/>
        </p:spPr>
        <p:txBody>
          <a:bodyPr wrap="square" lIns="128016" rIns="128016" tIns="18288" bIns="18288" anchor="ctr">
            <a:spAutoFit/>
          </a:bodyPr>
          <a:lstStyle/>
          <a:p>
            <a:r>
              <a:rPr sz="1100" b="0" i="0">
                <a:solidFill>
                  <a:srgbClr val="1F2933"/>
                </a:solidFill>
                <a:latin typeface="Calibri"/>
              </a:rPr>
              <a:t>A stand-in for the Boringcoin sheet: sender, recipient, amount. PRE-MINE invents money.</a:t>
            </a:r>
          </a:p>
        </p:txBody>
      </p:sp>
      <p:sp>
        <p:nvSpPr>
          <p:cNvPr id="6" name="code"/>
          <p:cNvSpPr/>
          <p:nvPr/>
        </p:nvSpPr>
        <p:spPr>
          <a:xfrm>
            <a:off x="365760" y="1666494"/>
            <a:ext cx="5536691" cy="83439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accounts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sender</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recipient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amount</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getRows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if</a:t>
            </a:r>
            <a:r>
              <a:rPr sz="900" b="0" i="0">
                <a:solidFill>
                  <a:srgbClr val="E6EDF3"/>
                </a:solidFill>
                <a:latin typeface="Courier New"/>
              </a:rPr>
              <a:t> </a:t>
            </a:r>
            <a:r>
              <a:rPr sz="900" b="0" i="0">
                <a:solidFill>
                  <a:srgbClr val="E6EDF3"/>
                </a:solidFill>
                <a:latin typeface="Courier New"/>
              </a:rPr>
              <a:t>sender</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'PRE-MINE'</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accounts</a:t>
            </a:r>
            <a:r>
              <a:rPr sz="900" b="0" i="0">
                <a:solidFill>
                  <a:srgbClr val="E6EDF3"/>
                </a:solidFill>
                <a:latin typeface="Courier New"/>
              </a:rPr>
              <a:t>[</a:t>
            </a:r>
            <a:r>
              <a:rPr sz="900" b="0" i="0">
                <a:solidFill>
                  <a:srgbClr val="E6EDF3"/>
                </a:solidFill>
                <a:latin typeface="Courier New"/>
              </a:rPr>
              <a:t>sender</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accounts</a:t>
            </a:r>
            <a:r>
              <a:rPr sz="900" b="0" i="0">
                <a:solidFill>
                  <a:srgbClr val="E6EDF3"/>
                </a:solidFill>
                <a:latin typeface="Courier New"/>
              </a:rPr>
              <a:t>.</a:t>
            </a:r>
            <a:r>
              <a:rPr sz="900" b="0" i="0">
                <a:solidFill>
                  <a:srgbClr val="E6EDF3"/>
                </a:solidFill>
                <a:latin typeface="Courier New"/>
              </a:rPr>
              <a:t>get</a:t>
            </a:r>
            <a:r>
              <a:rPr sz="900" b="0" i="0">
                <a:solidFill>
                  <a:srgbClr val="E6EDF3"/>
                </a:solidFill>
                <a:latin typeface="Courier New"/>
              </a:rPr>
              <a:t>(</a:t>
            </a:r>
            <a:r>
              <a:rPr sz="900" b="0" i="0">
                <a:solidFill>
                  <a:srgbClr val="E6EDF3"/>
                </a:solidFill>
                <a:latin typeface="Courier New"/>
              </a:rPr>
              <a:t>sender</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0</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int</a:t>
            </a:r>
            <a:r>
              <a:rPr sz="900" b="0" i="0">
                <a:solidFill>
                  <a:srgbClr val="E6EDF3"/>
                </a:solidFill>
                <a:latin typeface="Courier New"/>
              </a:rPr>
              <a:t>(</a:t>
            </a:r>
            <a:r>
              <a:rPr sz="900" b="0" i="0">
                <a:solidFill>
                  <a:srgbClr val="E6EDF3"/>
                </a:solidFill>
                <a:latin typeface="Courier New"/>
              </a:rPr>
              <a:t>amount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accounts</a:t>
            </a:r>
            <a:r>
              <a:rPr sz="900" b="0" i="0">
                <a:solidFill>
                  <a:srgbClr val="E6EDF3"/>
                </a:solidFill>
                <a:latin typeface="Courier New"/>
              </a:rPr>
              <a:t>[</a:t>
            </a:r>
            <a:r>
              <a:rPr sz="900" b="0" i="0">
                <a:solidFill>
                  <a:srgbClr val="E6EDF3"/>
                </a:solidFill>
                <a:latin typeface="Courier New"/>
              </a:rPr>
              <a:t>recipient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accounts</a:t>
            </a:r>
            <a:r>
              <a:rPr sz="900" b="0" i="0">
                <a:solidFill>
                  <a:srgbClr val="E6EDF3"/>
                </a:solidFill>
                <a:latin typeface="Courier New"/>
              </a:rPr>
              <a:t>.</a:t>
            </a:r>
            <a:r>
              <a:rPr sz="900" b="0" i="0">
                <a:solidFill>
                  <a:srgbClr val="E6EDF3"/>
                </a:solidFill>
                <a:latin typeface="Courier New"/>
              </a:rPr>
              <a:t>get</a:t>
            </a:r>
            <a:r>
              <a:rPr sz="900" b="0" i="0">
                <a:solidFill>
                  <a:srgbClr val="E6EDF3"/>
                </a:solidFill>
                <a:latin typeface="Courier New"/>
              </a:rPr>
              <a:t>(</a:t>
            </a:r>
            <a:r>
              <a:rPr sz="900" b="0" i="0">
                <a:solidFill>
                  <a:srgbClr val="E6EDF3"/>
                </a:solidFill>
                <a:latin typeface="Courier New"/>
              </a:rPr>
              <a:t>recipient</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0</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int</a:t>
            </a:r>
            <a:r>
              <a:rPr sz="900" b="0" i="0">
                <a:solidFill>
                  <a:srgbClr val="E6EDF3"/>
                </a:solidFill>
                <a:latin typeface="Courier New"/>
              </a:rPr>
              <a:t>(</a:t>
            </a:r>
            <a:r>
              <a:rPr sz="900" b="0" i="0">
                <a:solidFill>
                  <a:srgbClr val="E6EDF3"/>
                </a:solidFill>
                <a:latin typeface="Courier New"/>
              </a:rPr>
              <a:t>amount</a:t>
            </a:r>
            <a:r>
              <a:rPr sz="900" b="0" i="0">
                <a:solidFill>
                  <a:srgbClr val="E6EDF3"/>
                </a:solidFill>
                <a:latin typeface="Courier New"/>
              </a:rPr>
              <a:t>)</a:t>
            </a:r>
          </a:p>
        </p:txBody>
      </p:sp>
      <p:sp>
        <p:nvSpPr>
          <p:cNvPr id="7" name="explanation"/>
          <p:cNvSpPr txBox="1"/>
          <p:nvPr/>
        </p:nvSpPr>
        <p:spPr>
          <a:xfrm>
            <a:off x="5884164" y="1666494"/>
            <a:ext cx="2894076" cy="834390"/>
          </a:xfrm>
          <a:prstGeom prst="rect">
            <a:avLst/>
          </a:prstGeom>
          <a:noFill/>
        </p:spPr>
        <p:txBody>
          <a:bodyPr wrap="square" lIns="128016" rIns="128016" tIns="18288" bIns="18288" anchor="ctr">
            <a:spAutoFit/>
          </a:bodyPr>
          <a:lstStyle/>
          <a:p>
            <a:r>
              <a:rPr sz="1100" b="0" i="0">
                <a:solidFill>
                  <a:srgbClr val="1F2933"/>
                </a:solidFill>
                <a:latin typeface="Calibri"/>
              </a:rPr>
              <a:t>One walk over the rows: the sender loses the amount, the recipient gains it.</a:t>
            </a:r>
          </a:p>
        </p:txBody>
      </p:sp>
      <p:sp>
        <p:nvSpPr>
          <p:cNvPr id="8" name="code"/>
          <p:cNvSpPr/>
          <p:nvPr/>
        </p:nvSpPr>
        <p:spPr>
          <a:xfrm>
            <a:off x="365760" y="2546604"/>
            <a:ext cx="5536691"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accounts</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'Total Boringcoins:'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sum</a:t>
            </a:r>
            <a:r>
              <a:rPr sz="900" b="0" i="0">
                <a:solidFill>
                  <a:srgbClr val="E6EDF3"/>
                </a:solidFill>
                <a:latin typeface="Courier New"/>
              </a:rPr>
              <a:t>(</a:t>
            </a:r>
            <a:r>
              <a:rPr sz="900" b="0" i="0">
                <a:solidFill>
                  <a:srgbClr val="E6EDF3"/>
                </a:solidFill>
                <a:latin typeface="Courier New"/>
              </a:rPr>
              <a:t>accounts</a:t>
            </a:r>
            <a:r>
              <a:rPr sz="900" b="0" i="0">
                <a:solidFill>
                  <a:srgbClr val="E6EDF3"/>
                </a:solidFill>
                <a:latin typeface="Courier New"/>
              </a:rPr>
              <a:t>.</a:t>
            </a:r>
            <a:r>
              <a:rPr sz="900" b="0" i="0">
                <a:solidFill>
                  <a:srgbClr val="E6EDF3"/>
                </a:solidFill>
                <a:latin typeface="Courier New"/>
              </a:rPr>
              <a:t>values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884164" y="2546604"/>
            <a:ext cx="2894076" cy="477266"/>
          </a:xfrm>
          <a:prstGeom prst="rect">
            <a:avLst/>
          </a:prstGeom>
          <a:noFill/>
        </p:spPr>
        <p:txBody>
          <a:bodyPr wrap="square" lIns="128016" rIns="128016" tIns="18288" bIns="18288" anchor="ctr">
            <a:spAutoFit/>
          </a:bodyPr>
          <a:lstStyle/>
          <a:p>
            <a:r>
              <a:rPr sz="1100" b="0" i="0">
                <a:solidFill>
                  <a:srgbClr val="1F2933"/>
                </a:solidFill>
                <a:latin typeface="Calibri"/>
              </a:rPr>
              <a:t>An honest ledger adds up to the money PRE-MINE created.</a:t>
            </a:r>
          </a:p>
        </p:txBody>
      </p:sp>
      <p:sp>
        <p:nvSpPr>
          <p:cNvPr id="10" name="result label"/>
          <p:cNvSpPr txBox="1"/>
          <p:nvPr/>
        </p:nvSpPr>
        <p:spPr>
          <a:xfrm>
            <a:off x="365760" y="309702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371342"/>
          <a:ext cx="5047488" cy="1463040"/>
        </p:xfrm>
        <a:graphic>
          <a:graphicData uri="http://schemas.openxmlformats.org/drawingml/2006/chart">
            <c:chart xmlns:c="http://schemas.openxmlformats.org/drawingml/2006/chart" r:id="rId3"/>
          </a:graphicData>
        </a:graphic>
      </p:graphicFrame>
      <p:sp>
        <p:nvSpPr>
          <p:cNvPr id="12" name="Rounded Rectangle 11"/>
          <p:cNvSpPr/>
          <p:nvPr/>
        </p:nvSpPr>
        <p:spPr>
          <a:xfrm>
            <a:off x="5833872" y="3462782"/>
            <a:ext cx="2944368" cy="27432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Total Boringcoins: 1500</a:t>
            </a:r>
          </a:p>
        </p:txBody>
      </p:sp>
      <p:sp>
        <p:nvSpPr>
          <p:cNvPr id="13" name="Rounded Rectangle 12"/>
          <p:cNvSpPr/>
          <p:nvPr/>
        </p:nvSpPr>
        <p:spPr>
          <a:xfrm>
            <a:off x="5833872" y="3828542"/>
            <a:ext cx="2944368"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PRE-MINE created 1500</a:t>
            </a:r>
          </a:p>
        </p:txBody>
      </p:sp>
      <p:sp>
        <p:nvSpPr>
          <p:cNvPr id="14" name="visual note"/>
          <p:cNvSpPr txBox="1"/>
          <p:nvPr/>
        </p:nvSpPr>
        <p:spPr>
          <a:xfrm>
            <a:off x="5833872" y="4194302"/>
            <a:ext cx="2944368" cy="365760"/>
          </a:xfrm>
          <a:prstGeom prst="rect">
            <a:avLst/>
          </a:prstGeom>
          <a:noFill/>
        </p:spPr>
        <p:txBody>
          <a:bodyPr wrap="square" lIns="45720" rIns="45720" tIns="27432" bIns="27432" anchor="t">
            <a:spAutoFit/>
          </a:bodyPr>
          <a:lstStyle/>
          <a:p>
            <a:r>
              <a:rPr sz="950" b="0" i="1">
                <a:solidFill>
                  <a:srgbClr val="5B6773"/>
                </a:solidFill>
                <a:latin typeface="Calibri"/>
              </a:rPr>
              <a:t>an honest ledger adds up to what was created</a:t>
            </a:r>
          </a:p>
        </p:txBody>
      </p:sp>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An honest ledger adds up.</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43 / 53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audit meets an empty row of the grid</a:t>
            </a:r>
          </a:p>
        </p:txBody>
      </p:sp>
      <p:sp>
        <p:nvSpPr>
          <p:cNvPr id="4" name="code"/>
          <p:cNvSpPr/>
          <p:nvPr/>
        </p:nvSpPr>
        <p:spPr>
          <a:xfrm>
            <a:off x="365760" y="786384"/>
            <a:ext cx="5536691" cy="83439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p>
          <a:p>
            <a:pPr algn="l"/>
            <a:r>
              <a:rPr sz="900" b="0" i="0">
                <a:solidFill>
                  <a:srgbClr val="8FA3B8"/>
                </a:solidFill>
                <a:latin typeface="Courier New"/>
              </a:rPr>
              <a:t>&gt;&gt;&gt; </a:t>
            </a:r>
            <a:r>
              <a:rPr sz="900" b="0" i="0">
                <a:solidFill>
                  <a:srgbClr val="E6EDF3"/>
                </a:solidFill>
                <a:latin typeface="Courier New"/>
              </a:rPr>
              <a:t>g</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r>
              <a:rPr sz="900" b="0" i="0">
                <a:solidFill>
                  <a:srgbClr val="E6EDF3"/>
                </a:solidFill>
                <a:latin typeface="Courier New"/>
              </a:rPr>
              <a:t>.</a:t>
            </a:r>
            <a:r>
              <a:rPr sz="900" b="0" i="0">
                <a:solidFill>
                  <a:srgbClr val="E6EDF3"/>
                </a:solidFill>
                <a:latin typeface="Courier New"/>
              </a:rPr>
              <a:t>install</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ledger</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'PRE-MINE'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'Alice'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'1000'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'Alice'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'Bob'</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'200'</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sheet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Spreadsheet</a:t>
            </a:r>
            <a:r>
              <a:rPr sz="900" b="0" i="0">
                <a:solidFill>
                  <a:srgbClr val="E6EDF3"/>
                </a:solidFill>
                <a:latin typeface="Courier New"/>
              </a:rPr>
              <a:t>(</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load</a:t>
            </a:r>
            <a:r>
              <a:rPr sz="900" b="0" i="0">
                <a:solidFill>
                  <a:srgbClr val="E6EDF3"/>
                </a:solidFill>
                <a:latin typeface="Courier New"/>
              </a:rPr>
              <a:t>(</a:t>
            </a:r>
            <a:r>
              <a:rPr sz="900" b="0" i="0">
                <a:solidFill>
                  <a:srgbClr val="9BE3A8"/>
                </a:solidFill>
                <a:latin typeface="Courier New"/>
              </a:rPr>
              <a:t>'B'</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'Boringcoin'</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ledger</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sheets</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rowCount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1</a:t>
            </a:r>
          </a:p>
        </p:txBody>
      </p:sp>
      <p:sp>
        <p:nvSpPr>
          <p:cNvPr id="5" name="explanation"/>
          <p:cNvSpPr txBox="1"/>
          <p:nvPr/>
        </p:nvSpPr>
        <p:spPr>
          <a:xfrm>
            <a:off x="5884164" y="786384"/>
            <a:ext cx="2894076" cy="834390"/>
          </a:xfrm>
          <a:prstGeom prst="rect">
            <a:avLst/>
          </a:prstGeom>
          <a:noFill/>
        </p:spPr>
        <p:txBody>
          <a:bodyPr wrap="square" lIns="128016" rIns="128016" tIns="18288" bIns="18288" anchor="ctr">
            <a:spAutoFit/>
          </a:bodyPr>
          <a:lstStyle/>
          <a:p>
            <a:r>
              <a:rPr sz="1100" b="0" i="0">
                <a:solidFill>
                  <a:srgbClr val="1F2933"/>
                </a:solidFill>
                <a:latin typeface="Calibri"/>
              </a:rPr>
              <a:t>The real sheet is a grid of 1,000 rows, so getRows also returns the empty ones. One added row shows what an empty row looks like.</a:t>
            </a:r>
          </a:p>
        </p:txBody>
      </p:sp>
      <p:sp>
        <p:nvSpPr>
          <p:cNvPr id="6" name="code"/>
          <p:cNvSpPr/>
          <p:nvPr/>
        </p:nvSpPr>
        <p:spPr>
          <a:xfrm>
            <a:off x="365760" y="1666494"/>
            <a:ext cx="5536691"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'audit of'</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len</a:t>
            </a:r>
            <a:r>
              <a:rPr sz="900" b="0" i="0">
                <a:solidFill>
                  <a:srgbClr val="E6EDF3"/>
                </a:solidFill>
                <a:latin typeface="Courier New"/>
              </a:rPr>
              <a:t>(</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getRows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'rows'</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try</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total</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sum</a:t>
            </a:r>
            <a:r>
              <a:rPr sz="900" b="0" i="0">
                <a:solidFill>
                  <a:srgbClr val="E6EDF3"/>
                </a:solidFill>
                <a:latin typeface="Courier New"/>
              </a:rPr>
              <a:t>(</a:t>
            </a:r>
            <a:r>
              <a:rPr sz="900" b="0" i="0">
                <a:solidFill>
                  <a:srgbClr val="E6EDF3"/>
                </a:solidFill>
                <a:latin typeface="Courier New"/>
              </a:rPr>
              <a:t>int</a:t>
            </a:r>
            <a:r>
              <a:rPr sz="900" b="0" i="0">
                <a:solidFill>
                  <a:srgbClr val="E6EDF3"/>
                </a:solidFill>
                <a:latin typeface="Courier New"/>
              </a:rPr>
              <a:t>(</a:t>
            </a:r>
            <a:r>
              <a:rPr sz="900" b="0" i="0">
                <a:solidFill>
                  <a:srgbClr val="E6EDF3"/>
                </a:solidFill>
                <a:latin typeface="Courier New"/>
              </a:rPr>
              <a:t>row</a:t>
            </a:r>
            <a:r>
              <a:rPr sz="900" b="0" i="0">
                <a:solidFill>
                  <a:srgbClr val="E6EDF3"/>
                </a:solidFill>
                <a:latin typeface="Courier New"/>
              </a:rPr>
              <a:t>[</a:t>
            </a:r>
            <a:r>
              <a:rPr sz="900" b="0" i="0">
                <a:solidFill>
                  <a:srgbClr val="7CC4FF"/>
                </a:solidFill>
                <a:latin typeface="Courier New"/>
              </a:rPr>
              <a:t>2</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row</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getRows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except</a:t>
            </a:r>
            <a:r>
              <a:rPr sz="900" b="0" i="0">
                <a:solidFill>
                  <a:srgbClr val="E6EDF3"/>
                </a:solidFill>
                <a:latin typeface="Courier New"/>
              </a:rPr>
              <a:t> </a:t>
            </a:r>
            <a:r>
              <a:rPr sz="900" b="0" i="0">
                <a:solidFill>
                  <a:srgbClr val="E6EDF3"/>
                </a:solidFill>
                <a:latin typeface="Courier New"/>
              </a:rPr>
              <a:t>ValueError</a:t>
            </a:r>
            <a:r>
              <a:rPr sz="900" b="0" i="0">
                <a:solidFill>
                  <a:srgbClr val="E6EDF3"/>
                </a:solidFill>
                <a:latin typeface="Courier New"/>
              </a:rPr>
              <a:t> </a:t>
            </a:r>
            <a:r>
              <a:rPr sz="900" b="0" i="0">
                <a:solidFill>
                  <a:srgbClr val="E6EDF3"/>
                </a:solidFill>
                <a:latin typeface="Courier New"/>
              </a:rPr>
              <a:t>as</a:t>
            </a:r>
            <a:r>
              <a:rPr sz="900" b="0" i="0">
                <a:solidFill>
                  <a:srgbClr val="E6EDF3"/>
                </a:solidFill>
                <a:latin typeface="Courier New"/>
              </a:rPr>
              <a:t> </a:t>
            </a:r>
            <a:r>
              <a:rPr sz="900" b="0" i="0">
                <a:solidFill>
                  <a:srgbClr val="E6EDF3"/>
                </a:solidFill>
                <a:latin typeface="Courier New"/>
              </a:rPr>
              <a:t>e</a:t>
            </a:r>
            <a:r>
              <a:rPr sz="900" b="0" i="0">
                <a:solidFill>
                  <a:srgbClr val="E6EDF3"/>
                </a:solidFill>
                <a:latin typeface="Courier New"/>
              </a:rPr>
              <a:t>:</a:t>
            </a:r>
            <a:r>
              <a:rPr sz="900" b="0" i="0">
                <a:solidFill>
                  <a:srgbClr val="E6EDF3"/>
                </a:solidFill>
                <a:latin typeface="Courier New"/>
              </a:rPr>
              <a: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'stopped:'</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a:t>
            </a:r>
            <a:r>
              <a:rPr sz="900" b="0" i="0">
                <a:solidFill>
                  <a:srgbClr val="E6EDF3"/>
                </a:solidFill>
                <a:latin typeface="Courier New"/>
              </a:rPr>
              <a:t>)</a:t>
            </a:r>
          </a:p>
        </p:txBody>
      </p:sp>
      <p:sp>
        <p:nvSpPr>
          <p:cNvPr id="7" name="explanation"/>
          <p:cNvSpPr txBox="1"/>
          <p:nvPr/>
        </p:nvSpPr>
        <p:spPr>
          <a:xfrm>
            <a:off x="5884164" y="1666494"/>
            <a:ext cx="2894076" cy="826516"/>
          </a:xfrm>
          <a:prstGeom prst="rect">
            <a:avLst/>
          </a:prstGeom>
          <a:noFill/>
        </p:spPr>
        <p:txBody>
          <a:bodyPr wrap="square" lIns="128016" rIns="128016" tIns="18288" bIns="18288" anchor="ctr">
            <a:spAutoFit/>
          </a:bodyPr>
          <a:lstStyle/>
          <a:p>
            <a:r>
              <a:rPr sz="1100" b="0" i="0">
                <a:solidFill>
                  <a:srgbClr val="1F2933"/>
                </a:solidFill>
                <a:latin typeface="Calibri"/>
              </a:rPr>
              <a:t>int('') cannot read an empty amount, so the loop of Step 1 stops with a ValueError. A guard for an empty first cell avoids it.</a:t>
            </a:r>
          </a:p>
        </p:txBody>
      </p:sp>
      <p:sp>
        <p:nvSpPr>
          <p:cNvPr id="8" name="result label"/>
          <p:cNvSpPr txBox="1"/>
          <p:nvPr/>
        </p:nvSpPr>
        <p:spPr>
          <a:xfrm>
            <a:off x="365760" y="256616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sheet grid"/>
          <p:cNvGraphicFramePr>
            <a:graphicFrameLocks noGrp="1"/>
          </p:cNvGraphicFramePr>
          <p:nvPr/>
        </p:nvGraphicFramePr>
        <p:xfrm>
          <a:off x="365760" y="2840482"/>
          <a:ext cx="3785614" cy="1097280"/>
        </p:xfrm>
        <a:graphic>
          <a:graphicData uri="http://schemas.openxmlformats.org/drawingml/2006/table">
            <a:tbl>
              <a:tblPr firstRow="0" bandRow="0"/>
              <a:tblGrid>
                <a:gridCol w="335434"/>
                <a:gridCol w="1150060"/>
                <a:gridCol w="1150060"/>
                <a:gridCol w="1150060"/>
              </a:tblGrid>
              <a:tr h="274320">
                <a:tc>
                  <a:txBody>
                    <a:bodyPr wrap="square"/>
                    <a:lstStyle/>
                    <a:p>
                      <a:pPr algn="ctr"/>
                      <a:r>
                        <a:rPr sz="1000" b="1" i="0">
                          <a:solidFill>
                            <a:srgbClr val="FFFFFF"/>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pPr algn="ctr"/>
                      <a:r>
                        <a:rPr sz="1000" b="1"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pPr algn="ctr"/>
                      <a:r>
                        <a:rPr sz="1000" b="0" i="0">
                          <a:solidFill>
                            <a:srgbClr val="1F2933"/>
                          </a:solidFill>
                          <a:latin typeface="Calibri"/>
                        </a:rPr>
                        <a:t>PRE-MINE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1000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pPr algn="ctr"/>
                      <a:r>
                        <a:rPr sz="1000" b="1"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pPr algn="ctr"/>
                      <a:r>
                        <a:rPr sz="1000" b="0" i="0">
                          <a:solidFill>
                            <a:srgbClr val="1F2933"/>
                          </a:solidFill>
                          <a:latin typeface="Calibri"/>
                        </a:rPr>
                        <a:t>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Bob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200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pPr algn="ctr"/>
                      <a:r>
                        <a:rPr sz="1000" b="1"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pPr algn="ctr"/>
                      <a:r>
                        <a:rPr sz="1000" b="0" i="0">
                          <a:solidFill>
                            <a:srgbClr val="1F2933"/>
                          </a:solidFill>
                          <a:latin typeface="Calibri"/>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pPr algn="ctr"/>
                      <a:r>
                        <a:rPr sz="1000" b="0" i="0">
                          <a:solidFill>
                            <a:srgbClr val="1F2933"/>
                          </a:solidFill>
                          <a:latin typeface="Calibri"/>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pPr algn="ctr"/>
                      <a:r>
                        <a:rPr sz="1000" b="0" i="0">
                          <a:solidFill>
                            <a:srgbClr val="1F2933"/>
                          </a:solidFill>
                          <a:latin typeface="Calibri"/>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bl>
          </a:graphicData>
        </a:graphic>
      </p:graphicFrame>
      <p:sp>
        <p:nvSpPr>
          <p:cNvPr id="10" name="Rounded Rectangle 9"/>
          <p:cNvSpPr/>
          <p:nvPr/>
        </p:nvSpPr>
        <p:spPr>
          <a:xfrm>
            <a:off x="4572000" y="2840482"/>
            <a:ext cx="4206240" cy="27432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audit of 3 rows</a:t>
            </a:r>
          </a:p>
        </p:txBody>
      </p:sp>
      <p:sp>
        <p:nvSpPr>
          <p:cNvPr id="11" name="Rounded Rectangle 10"/>
          <p:cNvSpPr/>
          <p:nvPr/>
        </p:nvSpPr>
        <p:spPr>
          <a:xfrm>
            <a:off x="4572000" y="3206241"/>
            <a:ext cx="4206240" cy="45720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stopped: invalid literal for int() with base 10: ''</a:t>
            </a:r>
          </a:p>
        </p:txBody>
      </p:sp>
      <p:sp>
        <p:nvSpPr>
          <p:cNvPr id="12" name="visual note"/>
          <p:cNvSpPr txBox="1"/>
          <p:nvPr/>
        </p:nvSpPr>
        <p:spPr>
          <a:xfrm>
            <a:off x="4572000" y="3754882"/>
            <a:ext cx="4206240" cy="219456"/>
          </a:xfrm>
          <a:prstGeom prst="rect">
            <a:avLst/>
          </a:prstGeom>
          <a:noFill/>
        </p:spPr>
        <p:txBody>
          <a:bodyPr wrap="square" lIns="45720" rIns="45720" tIns="27432" bIns="27432" anchor="t">
            <a:spAutoFit/>
          </a:bodyPr>
          <a:lstStyle/>
          <a:p>
            <a:r>
              <a:rPr sz="950" b="0" i="1">
                <a:solidFill>
                  <a:srgbClr val="5B6773"/>
                </a:solidFill>
                <a:latin typeface="Calibri"/>
              </a:rPr>
              <a:t>red: the empty row that stopped the loop</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getRows also returns the empty rows.</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44 / 53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Project 11, step 2: add one transaction</a:t>
            </a:r>
          </a:p>
        </p:txBody>
      </p:sp>
      <p:sp>
        <p:nvSpPr>
          <p:cNvPr id="4" name="code"/>
          <p:cNvSpPr/>
          <p:nvPr/>
        </p:nvSpPr>
        <p:spPr>
          <a:xfrm>
            <a:off x="365760" y="786384"/>
            <a:ext cx="5536691"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sys</a:t>
            </a:r>
          </a:p>
          <a:p>
            <a:pPr algn="l"/>
            <a:r>
              <a:rPr sz="900" b="0" i="0">
                <a:solidFill>
                  <a:srgbClr val="8FA3B8"/>
                </a:solidFill>
                <a:latin typeface="Courier New"/>
              </a:rPr>
              <a:t>&gt;&gt;&gt; </a:t>
            </a:r>
            <a:r>
              <a:rPr sz="900" b="0" i="0">
                <a:solidFill>
                  <a:srgbClr val="E6EDF3"/>
                </a:solidFill>
                <a:latin typeface="Courier New"/>
              </a:rPr>
              <a:t>g</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r>
              <a:rPr sz="900" b="0" i="0">
                <a:solidFill>
                  <a:srgbClr val="E6EDF3"/>
                </a:solidFill>
                <a:latin typeface="Courier New"/>
              </a:rPr>
              <a:t>.</a:t>
            </a:r>
            <a:r>
              <a:rPr sz="900" b="0" i="0">
                <a:solidFill>
                  <a:srgbClr val="E6EDF3"/>
                </a:solidFill>
                <a:latin typeface="Courier New"/>
              </a:rPr>
              <a:t>install</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sys</a:t>
            </a:r>
            <a:r>
              <a:rPr sz="900" b="0" i="0">
                <a:solidFill>
                  <a:srgbClr val="E6EDF3"/>
                </a:solidFill>
                <a:latin typeface="Courier New"/>
              </a:rPr>
              <a:t>.</a:t>
            </a:r>
            <a:r>
              <a:rPr sz="900" b="0" i="0">
                <a:solidFill>
                  <a:srgbClr val="E6EDF3"/>
                </a:solidFill>
                <a:latin typeface="Courier New"/>
              </a:rPr>
              <a:t>argv</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'add.py'</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'Al Sweigart'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'Eve'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'2000'</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sender</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recipient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amount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sys</a:t>
            </a:r>
            <a:r>
              <a:rPr sz="900" b="0" i="0">
                <a:solidFill>
                  <a:srgbClr val="E6EDF3"/>
                </a:solidFill>
                <a:latin typeface="Courier New"/>
              </a:rPr>
              <a:t>.</a:t>
            </a:r>
            <a:r>
              <a:rPr sz="900" b="0" i="0">
                <a:solidFill>
                  <a:srgbClr val="E6EDF3"/>
                </a:solidFill>
                <a:latin typeface="Courier New"/>
              </a:rPr>
              <a:t>argv</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a:t>
            </a:r>
          </a:p>
        </p:txBody>
      </p:sp>
      <p:sp>
        <p:nvSpPr>
          <p:cNvPr id="5" name="explanation"/>
          <p:cNvSpPr txBox="1"/>
          <p:nvPr/>
        </p:nvSpPr>
        <p:spPr>
          <a:xfrm>
            <a:off x="5884164" y="786384"/>
            <a:ext cx="2894076" cy="694944"/>
          </a:xfrm>
          <a:prstGeom prst="rect">
            <a:avLst/>
          </a:prstGeom>
          <a:noFill/>
        </p:spPr>
        <p:txBody>
          <a:bodyPr wrap="square" lIns="128016" rIns="128016" tIns="18288" bIns="18288" anchor="ctr">
            <a:spAutoFit/>
          </a:bodyPr>
          <a:lstStyle/>
          <a:p>
            <a:r>
              <a:rPr sz="1100" b="0" i="0">
                <a:solidFill>
                  <a:srgbClr val="1F2933"/>
                </a:solidFill>
                <a:latin typeface="Calibri"/>
              </a:rPr>
              <a:t>The program reads sender, recipient and amount from the command line, here set by hand.</a:t>
            </a:r>
          </a:p>
        </p:txBody>
      </p:sp>
      <p:sp>
        <p:nvSpPr>
          <p:cNvPr id="6" name="code"/>
          <p:cNvSpPr/>
          <p:nvPr/>
        </p:nvSpPr>
        <p:spPr>
          <a:xfrm>
            <a:off x="365760" y="1527048"/>
            <a:ext cx="5536691"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ledger</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'PRE-MINE'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'Alice'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'1000'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'Alice'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'Bob'</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'200'</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sheet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Spreadsheet</a:t>
            </a:r>
            <a:r>
              <a:rPr sz="900" b="0" i="0">
                <a:solidFill>
                  <a:srgbClr val="E6EDF3"/>
                </a:solidFill>
                <a:latin typeface="Courier New"/>
              </a:rPr>
              <a:t>(</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load</a:t>
            </a:r>
            <a:r>
              <a:rPr sz="900" b="0" i="0">
                <a:solidFill>
                  <a:srgbClr val="E6EDF3"/>
                </a:solidFill>
                <a:latin typeface="Courier New"/>
              </a:rPr>
              <a:t>(</a:t>
            </a:r>
            <a:r>
              <a:rPr sz="900" b="0" i="0">
                <a:solidFill>
                  <a:srgbClr val="9BE3A8"/>
                </a:solidFill>
                <a:latin typeface="Courier New"/>
              </a:rPr>
              <a:t>'B'</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'Boringcoin'</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ledger</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sheets</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log</a:t>
            </a:r>
            <a:r>
              <a:rPr sz="900" b="0" i="0">
                <a:solidFill>
                  <a:srgbClr val="E6EDF3"/>
                </a:solidFill>
                <a:latin typeface="Courier New"/>
              </a:rPr>
              <a:t>.</a:t>
            </a:r>
            <a:r>
              <a:rPr sz="900" b="0" i="0">
                <a:solidFill>
                  <a:srgbClr val="E6EDF3"/>
                </a:solidFill>
                <a:latin typeface="Courier New"/>
              </a:rPr>
              <a:t>clear</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rowCount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1</a:t>
            </a:r>
          </a:p>
        </p:txBody>
      </p:sp>
      <p:sp>
        <p:nvSpPr>
          <p:cNvPr id="7" name="explanation"/>
          <p:cNvSpPr txBox="1"/>
          <p:nvPr/>
        </p:nvSpPr>
        <p:spPr>
          <a:xfrm>
            <a:off x="5884164" y="1527048"/>
            <a:ext cx="2894076" cy="694944"/>
          </a:xfrm>
          <a:prstGeom prst="rect">
            <a:avLst/>
          </a:prstGeom>
          <a:noFill/>
        </p:spPr>
        <p:txBody>
          <a:bodyPr wrap="square" lIns="128016" rIns="128016" tIns="18288" bIns="18288" anchor="ctr">
            <a:spAutoFit/>
          </a:bodyPr>
          <a:lstStyle/>
          <a:p>
            <a:r>
              <a:rPr sz="1100" b="0" i="0">
                <a:solidFill>
                  <a:srgbClr val="1F2933"/>
                </a:solidFill>
                <a:latin typeface="Calibri"/>
              </a:rPr>
              <a:t>Adding a row changes the sheet's size, which costs three requests.</a:t>
            </a:r>
          </a:p>
        </p:txBody>
      </p:sp>
      <p:sp>
        <p:nvSpPr>
          <p:cNvPr id="8" name="code"/>
          <p:cNvSpPr/>
          <p:nvPr/>
        </p:nvSpPr>
        <p:spPr>
          <a:xfrm>
            <a:off x="365760" y="2267712"/>
            <a:ext cx="553669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col</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value</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enumerate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sender</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recipient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amount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col</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rowCount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value</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getRow</a:t>
            </a:r>
            <a:r>
              <a:rPr sz="900" b="0" i="0">
                <a:solidFill>
                  <a:srgbClr val="E6EDF3"/>
                </a:solidFill>
                <a:latin typeface="Courier New"/>
              </a:rPr>
              <a:t>(</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rowCount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len</a:t>
            </a:r>
            <a:r>
              <a:rPr sz="900" b="0" i="0">
                <a:solidFill>
                  <a:srgbClr val="E6EDF3"/>
                </a:solidFill>
                <a:latin typeface="Courier New"/>
              </a:rPr>
              <a:t>(</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log</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'requests'</a:t>
            </a:r>
            <a:r>
              <a:rPr sz="900" b="0" i="0">
                <a:solidFill>
                  <a:srgbClr val="E6EDF3"/>
                </a:solidFill>
                <a:latin typeface="Courier New"/>
              </a:rPr>
              <a:t>)</a:t>
            </a:r>
          </a:p>
        </p:txBody>
      </p:sp>
      <p:sp>
        <p:nvSpPr>
          <p:cNvPr id="9" name="explanation"/>
          <p:cNvSpPr txBox="1"/>
          <p:nvPr/>
        </p:nvSpPr>
        <p:spPr>
          <a:xfrm>
            <a:off x="5884164" y="2267712"/>
            <a:ext cx="2894076" cy="651891"/>
          </a:xfrm>
          <a:prstGeom prst="rect">
            <a:avLst/>
          </a:prstGeom>
          <a:noFill/>
        </p:spPr>
        <p:txBody>
          <a:bodyPr wrap="square" lIns="128016" rIns="128016" tIns="18288" bIns="18288" anchor="ctr">
            <a:spAutoFit/>
          </a:bodyPr>
          <a:lstStyle/>
          <a:p>
            <a:r>
              <a:rPr sz="1100" b="0" i="0">
                <a:solidFill>
                  <a:srgbClr val="1F2933"/>
                </a:solidFill>
                <a:latin typeface="Calibri"/>
              </a:rPr>
              <a:t>Each cell is one more request: six in all. A name with a space needs quotes.</a:t>
            </a:r>
          </a:p>
        </p:txBody>
      </p:sp>
      <p:sp>
        <p:nvSpPr>
          <p:cNvPr id="10" name="result label"/>
          <p:cNvSpPr txBox="1"/>
          <p:nvPr/>
        </p:nvSpPr>
        <p:spPr>
          <a:xfrm>
            <a:off x="365760" y="2992755"/>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267075"/>
          <a:ext cx="3785615" cy="1463040"/>
        </p:xfrm>
        <a:graphic>
          <a:graphicData uri="http://schemas.openxmlformats.org/drawingml/2006/chart">
            <c:chart xmlns:c="http://schemas.openxmlformats.org/drawingml/2006/chart" r:id="rId3"/>
          </a:graphicData>
        </a:graphic>
      </p:graphicFrame>
      <p:graphicFrame>
        <p:nvGraphicFramePr>
          <p:cNvPr id="12" name="table"/>
          <p:cNvGraphicFramePr>
            <a:graphicFrameLocks noGrp="1"/>
          </p:cNvGraphicFramePr>
          <p:nvPr/>
        </p:nvGraphicFramePr>
        <p:xfrm>
          <a:off x="4572000" y="3267075"/>
          <a:ext cx="4206239" cy="1097280"/>
        </p:xfrm>
        <a:graphic>
          <a:graphicData uri="http://schemas.openxmlformats.org/drawingml/2006/table">
            <a:tbl>
              <a:tblPr firstRow="0" bandRow="0"/>
              <a:tblGrid>
                <a:gridCol w="1081604"/>
                <a:gridCol w="3124635"/>
              </a:tblGrid>
              <a:tr h="274320">
                <a:tc>
                  <a:txBody>
                    <a:bodyPr wrap="square"/>
                    <a:lstStyle/>
                    <a:p>
                      <a:r>
                        <a:rPr sz="950" b="1" i="0">
                          <a:solidFill>
                            <a:srgbClr val="FFFFFF"/>
                          </a:solidFill>
                          <a:latin typeface="Calibri"/>
                        </a:rPr>
                        <a:t>Request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Why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50" b="0" i="0">
                          <a:solidFill>
                            <a:srgbClr val="1F2933"/>
                          </a:solidFill>
                          <a:latin typeface="Courier New"/>
                        </a:rPr>
                        <a:t>GET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size of the sheet, its values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POST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alibri"/>
                        </a:rPr>
                        <a:t>batchUpdate: one row more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50" b="0" i="0">
                          <a:solidFill>
                            <a:srgbClr val="1F2933"/>
                          </a:solidFill>
                          <a:latin typeface="Courier New"/>
                        </a:rPr>
                        <a:t>PUT x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sender, recipient, amount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3" name="Rounded Rectangle 12"/>
          <p:cNvSpPr/>
          <p:nvPr/>
        </p:nvSpPr>
        <p:spPr>
          <a:xfrm>
            <a:off x="4572000" y="4455795"/>
            <a:ext cx="420624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new row: ['Al Sweigart', 'Eve', '2000']</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One transaction costs six requests.</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45 / 53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programs add a row: one transaction is lost</a:t>
            </a:r>
          </a:p>
        </p:txBody>
      </p:sp>
      <p:sp>
        <p:nvSpPr>
          <p:cNvPr id="4" name="code"/>
          <p:cNvSpPr/>
          <p:nvPr/>
        </p:nvSpPr>
        <p:spPr>
          <a:xfrm>
            <a:off x="365760" y="786384"/>
            <a:ext cx="5536691" cy="83439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p>
          <a:p>
            <a:pPr algn="l"/>
            <a:r>
              <a:rPr sz="900" b="0" i="0">
                <a:solidFill>
                  <a:srgbClr val="8FA3B8"/>
                </a:solidFill>
                <a:latin typeface="Courier New"/>
              </a:rPr>
              <a:t>&gt;&gt;&gt; </a:t>
            </a:r>
            <a:r>
              <a:rPr sz="900" b="0" i="0">
                <a:solidFill>
                  <a:srgbClr val="E6EDF3"/>
                </a:solidFill>
                <a:latin typeface="Courier New"/>
              </a:rPr>
              <a:t>g</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google_standin</a:t>
            </a:r>
            <a:r>
              <a:rPr sz="900" b="0" i="0">
                <a:solidFill>
                  <a:srgbClr val="E6EDF3"/>
                </a:solidFill>
                <a:latin typeface="Courier New"/>
              </a:rPr>
              <a:t>.</a:t>
            </a:r>
            <a:r>
              <a:rPr sz="900" b="0" i="0">
                <a:solidFill>
                  <a:srgbClr val="E6EDF3"/>
                </a:solidFill>
                <a:latin typeface="Courier New"/>
              </a:rPr>
              <a:t>install</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ledger</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'PRE-MINE'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'Alice'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'1000'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'Alice'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'Bob'</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'200'</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first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Spreadsheet</a:t>
            </a:r>
            <a:r>
              <a:rPr sz="900" b="0" i="0">
                <a:solidFill>
                  <a:srgbClr val="E6EDF3"/>
                </a:solidFill>
                <a:latin typeface="Courier New"/>
              </a:rPr>
              <a:t>(</a:t>
            </a:r>
            <a:r>
              <a:rPr sz="900" b="0" i="0">
                <a:solidFill>
                  <a:srgbClr val="E6EDF3"/>
                </a:solidFill>
                <a:latin typeface="Courier New"/>
              </a:rPr>
              <a:t>g</a:t>
            </a:r>
            <a:r>
              <a:rPr sz="900" b="0" i="0">
                <a:solidFill>
                  <a:srgbClr val="E6EDF3"/>
                </a:solidFill>
                <a:latin typeface="Courier New"/>
              </a:rPr>
              <a:t>.</a:t>
            </a:r>
            <a:r>
              <a:rPr sz="900" b="0" i="0">
                <a:solidFill>
                  <a:srgbClr val="E6EDF3"/>
                </a:solidFill>
                <a:latin typeface="Courier New"/>
              </a:rPr>
              <a:t>load</a:t>
            </a:r>
            <a:r>
              <a:rPr sz="900" b="0" i="0">
                <a:solidFill>
                  <a:srgbClr val="E6EDF3"/>
                </a:solidFill>
                <a:latin typeface="Courier New"/>
              </a:rPr>
              <a:t>(</a:t>
            </a:r>
            <a:r>
              <a:rPr sz="900" b="0" i="0">
                <a:solidFill>
                  <a:srgbClr val="9BE3A8"/>
                </a:solidFill>
                <a:latin typeface="Courier New"/>
              </a:rPr>
              <a:t>'B'</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'Boringcoin'</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ledger</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sheets</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second</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ezsheets</a:t>
            </a:r>
            <a:r>
              <a:rPr sz="900" b="0" i="0">
                <a:solidFill>
                  <a:srgbClr val="E6EDF3"/>
                </a:solidFill>
                <a:latin typeface="Courier New"/>
              </a:rPr>
              <a:t>.</a:t>
            </a:r>
            <a:r>
              <a:rPr sz="900" b="0" i="0">
                <a:solidFill>
                  <a:srgbClr val="E6EDF3"/>
                </a:solidFill>
                <a:latin typeface="Courier New"/>
              </a:rPr>
              <a:t>Spreadsheet</a:t>
            </a:r>
            <a:r>
              <a:rPr sz="900" b="0" i="0">
                <a:solidFill>
                  <a:srgbClr val="E6EDF3"/>
                </a:solidFill>
                <a:latin typeface="Courier New"/>
              </a:rPr>
              <a:t>(</a:t>
            </a:r>
            <a:r>
              <a:rPr sz="900" b="0" i="0">
                <a:solidFill>
                  <a:srgbClr val="9BE3A8"/>
                </a:solidFill>
                <a:latin typeface="Courier New"/>
              </a:rPr>
              <a:t>'B'</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sheets</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p>
        </p:txBody>
      </p:sp>
      <p:sp>
        <p:nvSpPr>
          <p:cNvPr id="5" name="explanation"/>
          <p:cNvSpPr txBox="1"/>
          <p:nvPr/>
        </p:nvSpPr>
        <p:spPr>
          <a:xfrm>
            <a:off x="5884164" y="786384"/>
            <a:ext cx="2894076" cy="834390"/>
          </a:xfrm>
          <a:prstGeom prst="rect">
            <a:avLst/>
          </a:prstGeom>
          <a:noFill/>
        </p:spPr>
        <p:txBody>
          <a:bodyPr wrap="square" lIns="128016" rIns="128016" tIns="18288" bIns="18288" anchor="ctr">
            <a:spAutoFit/>
          </a:bodyPr>
          <a:lstStyle/>
          <a:p>
            <a:r>
              <a:rPr sz="1100" b="0" i="0">
                <a:solidFill>
                  <a:srgbClr val="1F2933"/>
                </a:solidFill>
                <a:latin typeface="Calibri"/>
              </a:rPr>
              <a:t>Two programs open the same spreadsheet. Each keeps its own copy of the row count.</a:t>
            </a:r>
          </a:p>
        </p:txBody>
      </p:sp>
      <p:sp>
        <p:nvSpPr>
          <p:cNvPr id="6" name="code"/>
          <p:cNvSpPr/>
          <p:nvPr/>
        </p:nvSpPr>
        <p:spPr>
          <a:xfrm>
            <a:off x="365760" y="1666494"/>
            <a:ext cx="5536691" cy="83439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who</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sheet</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'first'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first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'second'</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second</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rowCount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sheet</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rowCount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who</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who</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'writes to row'</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sheet</a:t>
            </a:r>
            <a:r>
              <a:rPr sz="900" b="0" i="0">
                <a:solidFill>
                  <a:srgbClr val="E6EDF3"/>
                </a:solidFill>
                <a:latin typeface="Courier New"/>
              </a:rPr>
              <a:t>.</a:t>
            </a:r>
            <a:r>
              <a:rPr sz="900" b="0" i="0">
                <a:solidFill>
                  <a:srgbClr val="E6EDF3"/>
                </a:solidFill>
                <a:latin typeface="Courier New"/>
              </a:rPr>
              <a:t>rowCount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first</a:t>
            </a:r>
            <a:r>
              <a:rPr sz="900" b="0" i="0">
                <a:solidFill>
                  <a:srgbClr val="E6EDF3"/>
                </a:solidFill>
                <a:latin typeface="Courier New"/>
              </a:rPr>
              <a:t>.</a:t>
            </a:r>
            <a:r>
              <a:rPr sz="900" b="0" i="0">
                <a:solidFill>
                  <a:srgbClr val="E6EDF3"/>
                </a:solidFill>
                <a:latin typeface="Courier New"/>
              </a:rPr>
              <a:t>refresh</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first</a:t>
            </a:r>
            <a:r>
              <a:rPr sz="900" b="0" i="0">
                <a:solidFill>
                  <a:srgbClr val="E6EDF3"/>
                </a:solidFill>
                <a:latin typeface="Courier New"/>
              </a:rPr>
              <a:t>.</a:t>
            </a:r>
            <a:r>
              <a:rPr sz="900" b="0" i="0">
                <a:solidFill>
                  <a:srgbClr val="E6EDF3"/>
                </a:solidFill>
                <a:latin typeface="Courier New"/>
              </a:rPr>
              <a:t>rowCount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first</a:t>
            </a:r>
            <a:r>
              <a:rPr sz="900" b="0" i="0">
                <a:solidFill>
                  <a:srgbClr val="E6EDF3"/>
                </a:solidFill>
                <a:latin typeface="Courier New"/>
              </a:rPr>
              <a:t>.</a:t>
            </a:r>
            <a:r>
              <a:rPr sz="900" b="0" i="0">
                <a:solidFill>
                  <a:srgbClr val="E6EDF3"/>
                </a:solidFill>
                <a:latin typeface="Courier New"/>
              </a:rPr>
              <a:t>getRow</a:t>
            </a:r>
            <a:r>
              <a:rPr sz="900" b="0" i="0">
                <a:solidFill>
                  <a:srgbClr val="E6EDF3"/>
                </a:solidFill>
                <a:latin typeface="Courier New"/>
              </a:rPr>
              <a:t>(</a:t>
            </a:r>
            <a:r>
              <a:rPr sz="900" b="0" i="0">
                <a:solidFill>
                  <a:srgbClr val="7CC4FF"/>
                </a:solidFill>
                <a:latin typeface="Courier New"/>
              </a:rPr>
              <a:t>3</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884164" y="1666494"/>
            <a:ext cx="2894076" cy="834390"/>
          </a:xfrm>
          <a:prstGeom prst="rect">
            <a:avLst/>
          </a:prstGeom>
          <a:noFill/>
        </p:spPr>
        <p:txBody>
          <a:bodyPr wrap="square" lIns="128016" rIns="128016" tIns="18288" bIns="18288" anchor="ctr">
            <a:spAutoFit/>
          </a:bodyPr>
          <a:lstStyle/>
          <a:p>
            <a:r>
              <a:rPr sz="1100" b="0" i="0">
                <a:solidFill>
                  <a:srgbClr val="1F2933"/>
                </a:solidFill>
                <a:latin typeface="Calibri"/>
              </a:rPr>
              <a:t>Both count the next row from their own copy, so both write to row 3 and the second silently replaces the first. No error is raised.</a:t>
            </a:r>
          </a:p>
        </p:txBody>
      </p:sp>
      <p:sp>
        <p:nvSpPr>
          <p:cNvPr id="8" name="result label"/>
          <p:cNvSpPr txBox="1"/>
          <p:nvPr/>
        </p:nvSpPr>
        <p:spPr>
          <a:xfrm>
            <a:off x="365760" y="257403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sheet grid"/>
          <p:cNvGraphicFramePr>
            <a:graphicFrameLocks noGrp="1"/>
          </p:cNvGraphicFramePr>
          <p:nvPr/>
        </p:nvGraphicFramePr>
        <p:xfrm>
          <a:off x="3562502" y="2848356"/>
          <a:ext cx="2860240" cy="1097280"/>
        </p:xfrm>
        <a:graphic>
          <a:graphicData uri="http://schemas.openxmlformats.org/drawingml/2006/table">
            <a:tbl>
              <a:tblPr firstRow="0" bandRow="0"/>
              <a:tblGrid>
                <a:gridCol w="298831"/>
                <a:gridCol w="853803"/>
                <a:gridCol w="853803"/>
                <a:gridCol w="853803"/>
              </a:tblGrid>
              <a:tr h="274320">
                <a:tc>
                  <a:txBody>
                    <a:bodyPr wrap="square"/>
                    <a:lstStyle/>
                    <a:p>
                      <a:pPr algn="ctr"/>
                      <a:r>
                        <a:rPr sz="1000" b="1" i="0">
                          <a:solidFill>
                            <a:srgbClr val="FFFFFF"/>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pPr algn="ctr"/>
                      <a:r>
                        <a:rPr sz="1000" b="1"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pPr algn="ctr"/>
                      <a:r>
                        <a:rPr sz="1000" b="0" i="0">
                          <a:solidFill>
                            <a:srgbClr val="1F2933"/>
                          </a:solidFill>
                          <a:latin typeface="Calibri"/>
                        </a:rPr>
                        <a:t>PRE-MINE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1000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pPr algn="ctr"/>
                      <a:r>
                        <a:rPr sz="1000" b="1"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pPr algn="ctr"/>
                      <a:r>
                        <a:rPr sz="1000" b="0" i="0">
                          <a:solidFill>
                            <a:srgbClr val="1F2933"/>
                          </a:solidFill>
                          <a:latin typeface="Calibri"/>
                        </a:rPr>
                        <a:t>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Bob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200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pPr algn="ctr"/>
                      <a:r>
                        <a:rPr sz="1000" b="1"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pPr algn="ctr"/>
                      <a:r>
                        <a:rPr sz="1000" b="0" i="0">
                          <a:solidFill>
                            <a:srgbClr val="1F2933"/>
                          </a:solidFill>
                          <a:latin typeface="Calibri"/>
                        </a:rPr>
                        <a:t>second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pPr algn="ctr"/>
                      <a:r>
                        <a:rPr sz="1000" b="0" i="0">
                          <a:solidFill>
                            <a:srgbClr val="1F2933"/>
                          </a:solidFill>
                          <a:latin typeface="Calibri"/>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Rounded Rectangle 9"/>
          <p:cNvSpPr/>
          <p:nvPr/>
        </p:nvSpPr>
        <p:spPr>
          <a:xfrm>
            <a:off x="365760" y="2848356"/>
            <a:ext cx="2523744" cy="36576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first program</a:t>
            </a:r>
          </a:p>
          <a:p>
            <a:pPr algn="ctr"/>
            <a:r>
              <a:rPr sz="950" b="0" i="0">
                <a:solidFill>
                  <a:srgbClr val="1F2933"/>
                </a:solidFill>
                <a:latin typeface="Calibri"/>
              </a:rPr>
              <a:t>writes 'first'</a:t>
            </a:r>
          </a:p>
        </p:txBody>
      </p:sp>
      <p:sp>
        <p:nvSpPr>
          <p:cNvPr id="11" name="Rounded Rectangle 10"/>
          <p:cNvSpPr/>
          <p:nvPr/>
        </p:nvSpPr>
        <p:spPr>
          <a:xfrm>
            <a:off x="365760" y="3534156"/>
            <a:ext cx="2523744" cy="36576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second program</a:t>
            </a:r>
          </a:p>
          <a:p>
            <a:pPr algn="ctr"/>
            <a:r>
              <a:rPr sz="950" b="0" i="0">
                <a:solidFill>
                  <a:srgbClr val="1F2933"/>
                </a:solidFill>
                <a:latin typeface="Calibri"/>
              </a:rPr>
              <a:t>writes 'second'</a:t>
            </a:r>
          </a:p>
        </p:txBody>
      </p:sp>
      <p:cxnSp>
        <p:nvCxnSpPr>
          <p:cNvPr id="12" name="arrow"/>
          <p:cNvCxnSpPr/>
          <p:nvPr/>
        </p:nvCxnSpPr>
        <p:spPr>
          <a:xfrm>
            <a:off x="2889503" y="3031236"/>
            <a:ext cx="672999" cy="621791"/>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arrow"/>
          <p:cNvCxnSpPr/>
          <p:nvPr/>
        </p:nvCxnSpPr>
        <p:spPr>
          <a:xfrm flipV="1">
            <a:off x="2889503" y="3671315"/>
            <a:ext cx="672999" cy="45720"/>
          </a:xfrm>
          <a:prstGeom prst="line">
            <a:avLst/>
          </a:prstGeom>
          <a:ln w="22860">
            <a:solidFill>
              <a:srgbClr val="B83A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759244" y="2848356"/>
            <a:ext cx="2018995"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both: row 3</a:t>
            </a:r>
          </a:p>
        </p:txBody>
      </p:sp>
      <p:sp>
        <p:nvSpPr>
          <p:cNvPr id="15" name="Rounded Rectangle 14"/>
          <p:cNvSpPr/>
          <p:nvPr/>
        </p:nvSpPr>
        <p:spPr>
          <a:xfrm>
            <a:off x="6759244" y="3214115"/>
            <a:ext cx="2018995" cy="45720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row 3 holds 'second'</a:t>
            </a:r>
          </a:p>
        </p:txBody>
      </p:sp>
      <p:sp>
        <p:nvSpPr>
          <p:cNvPr id="16" name="visual note"/>
          <p:cNvSpPr txBox="1"/>
          <p:nvPr/>
        </p:nvSpPr>
        <p:spPr>
          <a:xfrm>
            <a:off x="6759244" y="3762756"/>
            <a:ext cx="2018995" cy="219456"/>
          </a:xfrm>
          <a:prstGeom prst="rect">
            <a:avLst/>
          </a:prstGeom>
          <a:noFill/>
        </p:spPr>
        <p:txBody>
          <a:bodyPr wrap="square" lIns="45720" rIns="45720" tIns="27432" bIns="27432" anchor="t">
            <a:spAutoFit/>
          </a:bodyPr>
          <a:lstStyle/>
          <a:p>
            <a:r>
              <a:rPr sz="900" b="0" i="1">
                <a:solidFill>
                  <a:srgbClr val="5B6773"/>
                </a:solidFill>
                <a:latin typeface="Calibri"/>
              </a:rPr>
              <a:t>'first' is gone; no error</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Two writers can lose a row.</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46 / 53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Story: a 2008 message announced the cash Boringcoin copies</a:t>
            </a:r>
          </a:p>
        </p:txBody>
      </p:sp>
      <p:pic>
        <p:nvPicPr>
          <p:cNvPr id="4" name="photo nakamoto" descr="Picture for the story: a 2008 message announced the cash Boringcoin copies"/>
          <p:cNvPicPr>
            <a:picLocks noChangeAspect="1"/>
          </p:cNvPicPr>
          <p:nvPr/>
        </p:nvPicPr>
        <p:blipFill>
          <a:blip r:embed="rId3"/>
          <a:stretch>
            <a:fillRect/>
          </a:stretch>
        </p:blipFill>
        <p:spPr>
          <a:xfrm>
            <a:off x="365759" y="868832"/>
            <a:ext cx="2651760" cy="2925775"/>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The first page of bitcoin.pdf, the paper the message announced. Wikimedia Commons, CC BY 4.0.</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Satoshi Nakamoto, the name of the unknown author, writing to a cryptography mailing list.</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A message that announced a peer-to-peer electronic cash system and the paper bitcoin.pdf.</a:t>
            </a:r>
          </a:p>
        </p:txBody>
      </p:sp>
      <p:sp>
        <p:nvSpPr>
          <p:cNvPr id="10" name="card"/>
          <p:cNvSpPr/>
          <p:nvPr/>
        </p:nvSpPr>
        <p:spPr>
          <a:xfrm>
            <a:off x="3200400" y="197510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Friday 31 October 2008, 14:10 Eastern time.</a:t>
            </a:r>
          </a:p>
        </p:txBody>
      </p:sp>
      <p:sp>
        <p:nvSpPr>
          <p:cNvPr id="12" name="card"/>
          <p:cNvSpPr/>
          <p:nvPr/>
        </p:nvSpPr>
        <p:spPr>
          <a:xfrm>
            <a:off x="3200400" y="24414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The cryptography mailing list hosted at metzdowd.com.</a:t>
            </a:r>
          </a:p>
        </p:txBody>
      </p:sp>
      <p:sp>
        <p:nvSpPr>
          <p:cNvPr id="14" name="card"/>
          <p:cNvSpPr/>
          <p:nvPr/>
        </p:nvSpPr>
        <p:spPr>
          <a:xfrm>
            <a:off x="3200400" y="2907791"/>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2907791"/>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Electronic cash with no trusted third party. The chapter's Boringcoin ledger is a joke copy of the idea.</a:t>
            </a:r>
          </a:p>
        </p:txBody>
      </p:sp>
      <p:sp>
        <p:nvSpPr>
          <p:cNvPr id="16" name="card"/>
          <p:cNvSpPr/>
          <p:nvPr/>
        </p:nvSpPr>
        <p:spPr>
          <a:xfrm>
            <a:off x="3200400" y="3474720"/>
            <a:ext cx="5577840" cy="69951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474720"/>
            <a:ext cx="5486400" cy="699516"/>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The message lists the properties: a peer-to-peer network prevents double spending, there is no mint, new coins come from proof of work.</a:t>
            </a:r>
          </a:p>
        </p:txBody>
      </p:sp>
      <p:sp>
        <p:nvSpPr>
          <p:cNvPr id="18" name="read"/>
          <p:cNvSpPr txBox="1"/>
          <p:nvPr/>
        </p:nvSpPr>
        <p:spPr>
          <a:xfrm>
            <a:off x="3200400" y="4256531"/>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The message of 31 October 2008 (metzdowd.com)</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47 / 53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Finding mistakes in a spreadsheet: quantity times price</a:t>
            </a:r>
          </a:p>
        </p:txBody>
      </p:sp>
      <p:sp>
        <p:nvSpPr>
          <p:cNvPr id="4" name="code"/>
          <p:cNvSpPr/>
          <p:nvPr/>
        </p:nvSpPr>
        <p:spPr>
          <a:xfrm>
            <a:off x="365760" y="786384"/>
            <a:ext cx="8412480" cy="95059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ezsheets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google_standin</a:t>
            </a:r>
          </a:p>
          <a:p>
            <a:pPr algn="l"/>
            <a:r>
              <a:rPr sz="1050" b="0" i="0">
                <a:solidFill>
                  <a:srgbClr val="8FA3B8"/>
                </a:solidFill>
                <a:latin typeface="Courier New"/>
              </a:rPr>
              <a:t>&gt;&gt;&gt; </a:t>
            </a:r>
            <a:r>
              <a:rPr sz="1050" b="0" i="0">
                <a:solidFill>
                  <a:srgbClr val="E6EDF3"/>
                </a:solidFill>
                <a:latin typeface="Courier New"/>
              </a:rPr>
              <a:t>g</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google_standin</a:t>
            </a:r>
            <a:r>
              <a:rPr sz="1050" b="0" i="0">
                <a:solidFill>
                  <a:srgbClr val="E6EDF3"/>
                </a:solidFill>
                <a:latin typeface="Courier New"/>
              </a:rPr>
              <a:t>.</a:t>
            </a:r>
            <a:r>
              <a:rPr sz="1050" b="0" i="0">
                <a:solidFill>
                  <a:srgbClr val="E6EDF3"/>
                </a:solidFill>
                <a:latin typeface="Courier New"/>
              </a:rPr>
              <a:t>install</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beans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9BE3A8"/>
                </a:solidFill>
                <a:latin typeface="Courier New"/>
              </a:rPr>
              <a:t>'Qty'</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'Price'</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'Total'</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'4'</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'25'</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'100'</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'3'</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'40'</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'130'</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'10'</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'12'</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'120'</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rows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ezsheets</a:t>
            </a:r>
            <a:r>
              <a:rPr sz="1050" b="0" i="0">
                <a:solidFill>
                  <a:srgbClr val="E6EDF3"/>
                </a:solidFill>
                <a:latin typeface="Courier New"/>
              </a:rPr>
              <a:t>.</a:t>
            </a:r>
            <a:r>
              <a:rPr sz="1050" b="0" i="0">
                <a:solidFill>
                  <a:srgbClr val="E6EDF3"/>
                </a:solidFill>
                <a:latin typeface="Courier New"/>
              </a:rPr>
              <a:t>Spreadsheet</a:t>
            </a:r>
            <a:r>
              <a:rPr sz="1050" b="0" i="0">
                <a:solidFill>
                  <a:srgbClr val="E6EDF3"/>
                </a:solidFill>
                <a:latin typeface="Courier New"/>
              </a:rPr>
              <a:t>(</a:t>
            </a:r>
            <a:r>
              <a:rPr sz="1050" b="0" i="0">
                <a:solidFill>
                  <a:srgbClr val="E6EDF3"/>
                </a:solidFill>
                <a:latin typeface="Courier New"/>
              </a:rPr>
              <a:t>g</a:t>
            </a:r>
            <a:r>
              <a:rPr sz="1050" b="0" i="0">
                <a:solidFill>
                  <a:srgbClr val="E6EDF3"/>
                </a:solidFill>
                <a:latin typeface="Courier New"/>
              </a:rPr>
              <a:t>.</a:t>
            </a:r>
            <a:r>
              <a:rPr sz="1050" b="0" i="0">
                <a:solidFill>
                  <a:srgbClr val="E6EDF3"/>
                </a:solidFill>
                <a:latin typeface="Courier New"/>
              </a:rPr>
              <a:t>load</a:t>
            </a:r>
            <a:r>
              <a:rPr sz="1050" b="0" i="0">
                <a:solidFill>
                  <a:srgbClr val="E6EDF3"/>
                </a:solidFill>
                <a:latin typeface="Courier New"/>
              </a:rPr>
              <a:t>(</a:t>
            </a:r>
            <a:r>
              <a:rPr sz="1050" b="0" i="0">
                <a:solidFill>
                  <a:srgbClr val="9BE3A8"/>
                </a:solidFill>
                <a:latin typeface="Courier New"/>
              </a:rPr>
              <a:t>'BEAN'</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'Beans'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beans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sheets</a:t>
            </a:r>
            <a:r>
              <a:rPr sz="1050" b="0" i="0">
                <a:solidFill>
                  <a:srgbClr val="E6EDF3"/>
                </a:solidFill>
                <a:latin typeface="Courier New"/>
              </a:rPr>
              <a:t>[</a:t>
            </a:r>
            <a:r>
              <a:rPr sz="1050" b="0" i="0">
                <a:solidFill>
                  <a:srgbClr val="7CC4FF"/>
                </a:solidFill>
                <a:latin typeface="Courier New"/>
              </a:rPr>
              <a:t>0</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getRows</a:t>
            </a:r>
            <a:r>
              <a:rPr sz="1050" b="0" i="0">
                <a:solidFill>
                  <a:srgbClr val="E6EDF3"/>
                </a:solidFill>
                <a:latin typeface="Courier New"/>
              </a:rPr>
              <a:t>(</a:t>
            </a:r>
            <a:r>
              <a:rPr sz="1050" b="0" i="0">
                <a:solidFill>
                  <a:srgbClr val="E6EDF3"/>
                </a:solidFill>
                <a:latin typeface="Courier New"/>
              </a:rPr>
              <a:t>)</a:t>
            </a:r>
          </a:p>
        </p:txBody>
      </p:sp>
      <p:sp>
        <p:nvSpPr>
          <p:cNvPr id="5" name="explanation"/>
          <p:cNvSpPr txBox="1"/>
          <p:nvPr/>
        </p:nvSpPr>
        <p:spPr>
          <a:xfrm>
            <a:off x="365760" y="1746122"/>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A stand-in for the Bean Count sheet: quantity, price and a typed total. One total is wrong.</a:t>
            </a:r>
          </a:p>
        </p:txBody>
      </p:sp>
      <p:sp>
        <p:nvSpPr>
          <p:cNvPr id="6" name="code"/>
          <p:cNvSpPr/>
          <p:nvPr/>
        </p:nvSpPr>
        <p:spPr>
          <a:xfrm>
            <a:off x="365760" y="2101215"/>
            <a:ext cx="8412480" cy="62522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for</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qty</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price</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total</a:t>
            </a:r>
            <a:r>
              <a:rPr sz="1050" b="0" i="0">
                <a:solidFill>
                  <a:srgbClr val="E6EDF3"/>
                </a:solidFill>
                <a:latin typeface="Courier New"/>
              </a:rPr>
              <a:t>)</a:t>
            </a:r>
            <a:r>
              <a:rPr sz="1050" b="0" i="0">
                <a:solidFill>
                  <a:srgbClr val="E6EDF3"/>
                </a:solidFill>
                <a:latin typeface="Courier New"/>
              </a:rPr>
              <a:t> </a:t>
            </a:r>
            <a:r>
              <a:rPr sz="1050" b="0" i="0">
                <a:solidFill>
                  <a:srgbClr val="C9A0FF"/>
                </a:solidFill>
                <a:latin typeface="Courier New"/>
              </a:rPr>
              <a:t>in</a:t>
            </a:r>
            <a:r>
              <a:rPr sz="1050" b="0" i="0">
                <a:solidFill>
                  <a:srgbClr val="E6EDF3"/>
                </a:solidFill>
                <a:latin typeface="Courier New"/>
              </a:rPr>
              <a:t> </a:t>
            </a:r>
            <a:r>
              <a:rPr sz="1050" b="0" i="0">
                <a:solidFill>
                  <a:srgbClr val="E6EDF3"/>
                </a:solidFill>
                <a:latin typeface="Courier New"/>
              </a:rPr>
              <a:t>enumerate</a:t>
            </a:r>
            <a:r>
              <a:rPr sz="1050" b="0" i="0">
                <a:solidFill>
                  <a:srgbClr val="E6EDF3"/>
                </a:solidFill>
                <a:latin typeface="Courier New"/>
              </a:rPr>
              <a:t>(</a:t>
            </a:r>
            <a:r>
              <a:rPr sz="1050" b="0" i="0">
                <a:solidFill>
                  <a:srgbClr val="E6EDF3"/>
                </a:solidFill>
                <a:latin typeface="Courier New"/>
              </a:rPr>
              <a:t>rows</a:t>
            </a:r>
            <a:r>
              <a:rPr sz="1050" b="0" i="0">
                <a:solidFill>
                  <a:srgbClr val="E6EDF3"/>
                </a:solidFill>
                <a:latin typeface="Courier New"/>
              </a:rPr>
              <a:t>[</a:t>
            </a:r>
            <a:r>
              <a:rPr sz="1050" b="0" i="0">
                <a:solidFill>
                  <a:srgbClr val="7CC4FF"/>
                </a:solidFill>
                <a:latin typeface="Courier New"/>
              </a:rPr>
              <a:t>1</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2</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if</a:t>
            </a:r>
            <a:r>
              <a:rPr sz="1050" b="0" i="0">
                <a:solidFill>
                  <a:srgbClr val="E6EDF3"/>
                </a:solidFill>
                <a:latin typeface="Courier New"/>
              </a:rPr>
              <a:t> </a:t>
            </a:r>
            <a:r>
              <a:rPr sz="1050" b="0" i="0">
                <a:solidFill>
                  <a:srgbClr val="E6EDF3"/>
                </a:solidFill>
                <a:latin typeface="Courier New"/>
              </a:rPr>
              <a:t>int</a:t>
            </a:r>
            <a:r>
              <a:rPr sz="1050" b="0" i="0">
                <a:solidFill>
                  <a:srgbClr val="E6EDF3"/>
                </a:solidFill>
                <a:latin typeface="Courier New"/>
              </a:rPr>
              <a:t>(</a:t>
            </a:r>
            <a:r>
              <a:rPr sz="1050" b="0" i="0">
                <a:solidFill>
                  <a:srgbClr val="E6EDF3"/>
                </a:solidFill>
                <a:latin typeface="Courier New"/>
              </a:rPr>
              <a:t>qty</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int</a:t>
            </a:r>
            <a:r>
              <a:rPr sz="1050" b="0" i="0">
                <a:solidFill>
                  <a:srgbClr val="E6EDF3"/>
                </a:solidFill>
                <a:latin typeface="Courier New"/>
              </a:rPr>
              <a:t>(</a:t>
            </a:r>
            <a:r>
              <a:rPr sz="1050" b="0" i="0">
                <a:solidFill>
                  <a:srgbClr val="E6EDF3"/>
                </a:solidFill>
                <a:latin typeface="Courier New"/>
              </a:rPr>
              <a:t>price</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int</a:t>
            </a:r>
            <a:r>
              <a:rPr sz="1050" b="0" i="0">
                <a:solidFill>
                  <a:srgbClr val="E6EDF3"/>
                </a:solidFill>
                <a:latin typeface="Courier New"/>
              </a:rPr>
              <a:t>(</a:t>
            </a:r>
            <a:r>
              <a:rPr sz="1050" b="0" i="0">
                <a:solidFill>
                  <a:srgbClr val="E6EDF3"/>
                </a:solidFill>
                <a:latin typeface="Courier New"/>
              </a:rPr>
              <a:t>total</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'row'</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'says'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total</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'is'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int</a:t>
            </a:r>
            <a:r>
              <a:rPr sz="1050" b="0" i="0">
                <a:solidFill>
                  <a:srgbClr val="E6EDF3"/>
                </a:solidFill>
                <a:latin typeface="Courier New"/>
              </a:rPr>
              <a:t>(</a:t>
            </a:r>
            <a:r>
              <a:rPr sz="1050" b="0" i="0">
                <a:solidFill>
                  <a:srgbClr val="E6EDF3"/>
                </a:solidFill>
                <a:latin typeface="Courier New"/>
              </a:rPr>
              <a:t>qty</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int</a:t>
            </a:r>
            <a:r>
              <a:rPr sz="1050" b="0" i="0">
                <a:solidFill>
                  <a:srgbClr val="E6EDF3"/>
                </a:solidFill>
                <a:latin typeface="Courier New"/>
              </a:rPr>
              <a:t>(</a:t>
            </a:r>
            <a:r>
              <a:rPr sz="1050" b="0" i="0">
                <a:solidFill>
                  <a:srgbClr val="E6EDF3"/>
                </a:solidFill>
                <a:latin typeface="Courier New"/>
              </a:rPr>
              <a:t>price</a:t>
            </a:r>
            <a:r>
              <a:rPr sz="1050" b="0" i="0">
                <a:solidFill>
                  <a:srgbClr val="E6EDF3"/>
                </a:solidFill>
                <a:latin typeface="Courier New"/>
              </a:rPr>
              <a:t>)</a:t>
            </a:r>
            <a:r>
              <a:rPr sz="1050" b="0" i="0">
                <a:solidFill>
                  <a:srgbClr val="E6EDF3"/>
                </a:solidFill>
                <a:latin typeface="Courier New"/>
              </a:rPr>
              <a:t>)</a:t>
            </a:r>
          </a:p>
        </p:txBody>
      </p:sp>
      <p:sp>
        <p:nvSpPr>
          <p:cNvPr id="7" name="explanation"/>
          <p:cNvSpPr txBox="1"/>
          <p:nvPr/>
        </p:nvSpPr>
        <p:spPr>
          <a:xfrm>
            <a:off x="365760" y="2735579"/>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Check every row against quantity times price. The heading is row 1, so data starts at row 2.</a:t>
            </a:r>
          </a:p>
        </p:txBody>
      </p:sp>
      <p:sp>
        <p:nvSpPr>
          <p:cNvPr id="8" name="result label"/>
          <p:cNvSpPr txBox="1"/>
          <p:nvPr/>
        </p:nvSpPr>
        <p:spPr>
          <a:xfrm>
            <a:off x="365760" y="3118103"/>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392423"/>
          <a:ext cx="6056983" cy="987552"/>
        </p:xfrm>
        <a:graphic>
          <a:graphicData uri="http://schemas.openxmlformats.org/drawingml/2006/table">
            <a:tbl>
              <a:tblPr firstRow="0" bandRow="0"/>
              <a:tblGrid>
                <a:gridCol w="595769"/>
                <a:gridCol w="992948"/>
                <a:gridCol w="893653"/>
                <a:gridCol w="1191538"/>
                <a:gridCol w="1489422"/>
                <a:gridCol w="893653"/>
              </a:tblGrid>
              <a:tr h="246888">
                <a:tc>
                  <a:txBody>
                    <a:bodyPr wrap="square"/>
                    <a:lstStyle/>
                    <a:p>
                      <a:pPr algn="ctr"/>
                      <a:r>
                        <a:rPr sz="1000" b="1" i="0">
                          <a:solidFill>
                            <a:srgbClr val="FFFFFF"/>
                          </a:solidFill>
                          <a:latin typeface="Calibri"/>
                        </a:rPr>
                        <a:t>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Quantity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Price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Total typed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Quantity x price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Check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pPr algn="ctr"/>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100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100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pPr algn="ctr"/>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pPr algn="ctr"/>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pPr algn="ctr"/>
                      <a:r>
                        <a:rPr sz="1000" b="0" i="0">
                          <a:solidFill>
                            <a:srgbClr val="1F2933"/>
                          </a:solidFill>
                          <a:latin typeface="Calibri"/>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pPr algn="ctr"/>
                      <a:r>
                        <a:rPr sz="1000" b="0" i="0">
                          <a:solidFill>
                            <a:srgbClr val="1F2933"/>
                          </a:solidFill>
                          <a:latin typeface="Calibri"/>
                        </a:rPr>
                        <a:t>130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pPr algn="ctr"/>
                      <a:r>
                        <a:rPr sz="1000" b="0" i="0">
                          <a:solidFill>
                            <a:srgbClr val="1F2933"/>
                          </a:solidFill>
                          <a:latin typeface="Calibri"/>
                        </a:rPr>
                        <a:t>120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pPr algn="ctr"/>
                      <a:r>
                        <a:rPr sz="1000" b="0" i="0">
                          <a:solidFill>
                            <a:srgbClr val="1F2933"/>
                          </a:solidFill>
                          <a:latin typeface="Calibri"/>
                        </a:rPr>
                        <a:t>wrong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46888">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120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120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visual note"/>
          <p:cNvSpPr txBox="1"/>
          <p:nvPr/>
        </p:nvSpPr>
        <p:spPr>
          <a:xfrm>
            <a:off x="6675120" y="3392423"/>
            <a:ext cx="2103120" cy="457200"/>
          </a:xfrm>
          <a:prstGeom prst="rect">
            <a:avLst/>
          </a:prstGeom>
          <a:noFill/>
        </p:spPr>
        <p:txBody>
          <a:bodyPr wrap="square" lIns="45720" rIns="45720" tIns="27432" bIns="27432" anchor="t">
            <a:spAutoFit/>
          </a:bodyPr>
          <a:lstStyle/>
          <a:p>
            <a:r>
              <a:rPr sz="1000" b="0" i="1">
                <a:solidFill>
                  <a:srgbClr val="5B6773"/>
                </a:solidFill>
                <a:latin typeface="Calibri"/>
              </a:rPr>
              <a:t>red: 1 of 3 totals are wrong</a:t>
            </a:r>
          </a:p>
        </p:txBody>
      </p:sp>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Check a total with a rule.</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48 / 53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Which object sends which request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From the chapter research; each answer has its code slide</a:t>
            </a:r>
          </a:p>
        </p:txBody>
      </p:sp>
      <p:graphicFrame>
        <p:nvGraphicFramePr>
          <p:cNvPr id="5" name="table"/>
          <p:cNvGraphicFramePr>
            <a:graphicFrameLocks noGrp="1"/>
          </p:cNvGraphicFramePr>
          <p:nvPr/>
        </p:nvGraphicFramePr>
        <p:xfrm>
          <a:off x="457200" y="1051560"/>
          <a:ext cx="8229600" cy="3127248"/>
        </p:xfrm>
        <a:graphic>
          <a:graphicData uri="http://schemas.openxmlformats.org/drawingml/2006/table">
            <a:tbl>
              <a:tblPr firstRow="0" bandRow="0"/>
              <a:tblGrid>
                <a:gridCol w="2194560"/>
                <a:gridCol w="2651760"/>
                <a:gridCol w="2651760"/>
                <a:gridCol w="731520"/>
              </a:tblGrid>
              <a:tr h="347472">
                <a:tc>
                  <a:txBody>
                    <a:bodyPr wrap="square"/>
                    <a:lstStyle/>
                    <a:p>
                      <a:r>
                        <a:rPr sz="1200" b="1" i="0">
                          <a:solidFill>
                            <a:srgbClr val="FFFFFF"/>
                          </a:solidFill>
                          <a:latin typeface="Calibri"/>
                        </a:rPr>
                        <a:t>EZSheets object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Stands for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Request it sends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200" b="1" i="0">
                          <a:solidFill>
                            <a:srgbClr val="FFFFFF"/>
                          </a:solidFill>
                          <a:latin typeface="Calibri"/>
                        </a:rPr>
                        <a:t>See 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7472">
                <a:tc>
                  <a:txBody>
                    <a:bodyPr wrap="square"/>
                    <a:lstStyle/>
                    <a:p>
                      <a:r>
                        <a:rPr sz="1200" b="1" i="0">
                          <a:solidFill>
                            <a:srgbClr val="1F2933"/>
                          </a:solidFill>
                          <a:latin typeface="Courier New"/>
                        </a:rPr>
                        <a:t>Spreadsheet()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one spreadsheet of the account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POST to create; GET to open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200" b="1" i="0">
                          <a:solidFill>
                            <a:srgbClr val="1F2933"/>
                          </a:solidFill>
                          <a:latin typeface="Courier New"/>
                        </a:rPr>
                        <a:t>Sheet, sheet['B2']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one tab, and one cell of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GET values; PUT one cell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1F2933"/>
                          </a:solidFill>
                          <a:latin typeface="Calibri"/>
                        </a:rPr>
                        <a:t>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200" b="1" i="0">
                          <a:solidFill>
                            <a:srgbClr val="1F2933"/>
                          </a:solidFill>
                          <a:latin typeface="Courier New"/>
                        </a:rPr>
                        <a:t>getRow, getColumn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line of text values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none after the first load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1F2933"/>
                          </a:solidFill>
                          <a:latin typeface="Calibri"/>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200" b="1" i="0">
                          <a:solidFill>
                            <a:srgbClr val="1F2933"/>
                          </a:solidFill>
                          <a:latin typeface="Courier New"/>
                        </a:rPr>
                        <a:t>updateColumn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whole column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one PUT for all values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200" b="1" i="0">
                          <a:solidFill>
                            <a:srgbClr val="1F2933"/>
                          </a:solidFill>
                          <a:latin typeface="Courier New"/>
                        </a:rPr>
                        <a:t>rowCount +=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size of the grid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GET, GET, POST: three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1F2933"/>
                          </a:solidFill>
                          <a:latin typeface="Calibri"/>
                        </a:rPr>
                        <a:t>45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200" b="1" i="0">
                          <a:solidFill>
                            <a:srgbClr val="1F2933"/>
                          </a:solidFill>
                          <a:latin typeface="Courier New"/>
                        </a:rPr>
                        <a:t>delete()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Trash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PATCH trashed: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200" b="1" i="0">
                          <a:solidFill>
                            <a:srgbClr val="1F2933"/>
                          </a:solidFill>
                          <a:latin typeface="Courier New"/>
                        </a:rPr>
                        <a:t>downloadAsExcel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file on your disk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GET export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200" b="1" i="0">
                          <a:solidFill>
                            <a:srgbClr val="1F2933"/>
                          </a:solidFill>
                          <a:latin typeface="Courier New"/>
                        </a:rPr>
                        <a:t>token-sheets.pickle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your sign-in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none: a local pickle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note"/>
          <p:cNvSpPr txBox="1"/>
          <p:nvPr/>
        </p:nvSpPr>
        <p:spPr>
          <a:xfrm>
            <a:off x="457200" y="4315968"/>
            <a:ext cx="7315200" cy="274320"/>
          </a:xfrm>
          <a:prstGeom prst="rect">
            <a:avLst/>
          </a:prstGeom>
          <a:noFill/>
        </p:spPr>
        <p:txBody>
          <a:bodyPr wrap="square" lIns="45720" rIns="45720" tIns="27432" bIns="27432" anchor="t">
            <a:spAutoFit/>
          </a:bodyPr>
          <a:lstStyle/>
          <a:p>
            <a:r>
              <a:rPr sz="1100" b="0" i="1">
                <a:solidFill>
                  <a:srgbClr val="5B6773"/>
                </a:solidFill>
                <a:latin typeface="Calibri"/>
              </a:rPr>
              <a:t>Requests counted on the stand-in for Google; Google itself was never reached.</a:t>
            </a:r>
          </a:p>
        </p:txBody>
      </p:sp>
      <p:sp>
        <p:nvSpPr>
          <p:cNvPr id="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Spreadsheet is the binder, Sheet the page, a cell a seat, the token file the key card.</a:t>
            </a:r>
          </a:p>
        </p:txBody>
      </p:sp>
      <p:sp>
        <p:nvSpPr>
          <p:cNvPr id="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49 / 53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What differs from the book today</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From the chapter research, checked on 12 October 2026</a:t>
            </a:r>
          </a:p>
        </p:txBody>
      </p:sp>
      <p:graphicFrame>
        <p:nvGraphicFramePr>
          <p:cNvPr id="5" name="table"/>
          <p:cNvGraphicFramePr>
            <a:graphicFrameLocks noGrp="1"/>
          </p:cNvGraphicFramePr>
          <p:nvPr/>
        </p:nvGraphicFramePr>
        <p:xfrm>
          <a:off x="457200" y="960120"/>
          <a:ext cx="8229600" cy="3721608"/>
        </p:xfrm>
        <a:graphic>
          <a:graphicData uri="http://schemas.openxmlformats.org/drawingml/2006/table">
            <a:tbl>
              <a:tblPr firstRow="0" bandRow="0"/>
              <a:tblGrid>
                <a:gridCol w="3200400"/>
                <a:gridCol w="4297680"/>
                <a:gridCol w="731520"/>
              </a:tblGrid>
              <a:tr h="338328">
                <a:tc>
                  <a:txBody>
                    <a:bodyPr wrap="square"/>
                    <a:lstStyle/>
                    <a:p>
                      <a:r>
                        <a:rPr sz="1000" b="1" i="0">
                          <a:solidFill>
                            <a:srgbClr val="FFFFFF"/>
                          </a:solidFill>
                          <a:latin typeface="Calibri"/>
                        </a:rPr>
                        <a:t>What the book says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Today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See 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38328">
                <a:tc>
                  <a:txBody>
                    <a:bodyPr wrap="square"/>
                    <a:lstStyle/>
                    <a:p>
                      <a:r>
                        <a:rPr sz="1000" b="1" i="0">
                          <a:solidFill>
                            <a:srgbClr val="1F2933"/>
                          </a:solidFill>
                          <a:latin typeface="Calibri"/>
                        </a:rPr>
                        <a:t>ss.Sheet('Spam') returns the new Sheet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Sheet() returns None; use createSheet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38328">
                <a:tc>
                  <a:txBody>
                    <a:bodyPr wrap="square"/>
                    <a:lstStyle/>
                    <a:p>
                      <a:r>
                        <a:rPr sz="1000" b="1" i="0">
                          <a:solidFill>
                            <a:srgbClr val="1F2933"/>
                          </a:solidFill>
                          <a:latin typeface="Calibri"/>
                        </a:rPr>
                        <a:t>sheet['B2'] = 30 prints '30'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prints the number 30 until refresh()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38328">
                <a:tc>
                  <a:txBody>
                    <a:bodyPr wrap="square"/>
                    <a:lstStyle/>
                    <a:p>
                      <a:r>
                        <a:rPr sz="1000" b="1" i="0">
                          <a:solidFill>
                            <a:srgbClr val="1F2933"/>
                          </a:solidFill>
                          <a:latin typeface="Calibri"/>
                        </a:rPr>
                        <a:t>Downloads are named Sweigart_Books.xlsx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named Sweigart_Books_(DO_NOT_DELETE).xlsx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38328">
                <a:tc>
                  <a:txBody>
                    <a:bodyPr wrap="square"/>
                    <a:lstStyle/>
                    <a:p>
                      <a:r>
                        <a:rPr sz="1000" b="1" i="0">
                          <a:solidFill>
                            <a:srgbClr val="1F2933"/>
                          </a:solidFill>
                          <a:latin typeface="Calibri"/>
                        </a:rPr>
                        <a:t>250 new spreadsheets a day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no such figure; 300 reads and 300 writes a minute per project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38328">
                <a:tc>
                  <a:txBody>
                    <a:bodyPr wrap="square"/>
                    <a:lstStyle/>
                    <a:p>
                      <a:r>
                        <a:rPr sz="1000" b="1" i="0">
                          <a:solidFill>
                            <a:srgbClr val="1F2933"/>
                          </a:solidFill>
                          <a:latin typeface="Calibri"/>
                        </a:rPr>
                        <a:t>The setup is done once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in Testing status the sign-in expires every seven days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38328">
                <a:tc>
                  <a:txBody>
                    <a:bodyPr wrap="square"/>
                    <a:lstStyle/>
                    <a:p>
                      <a:r>
                        <a:rPr sz="1000" b="1" i="0">
                          <a:solidFill>
                            <a:srgbClr val="1F2933"/>
                          </a:solidFill>
                          <a:latin typeface="Calibri"/>
                        </a:rPr>
                        <a:t>Token files are JSON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they are pickles, and a pickle can run code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38328">
                <a:tc>
                  <a:txBody>
                    <a:bodyPr wrap="square"/>
                    <a:lstStyle/>
                    <a:p>
                      <a:r>
                        <a:rPr sz="1000" b="1" i="0">
                          <a:solidFill>
                            <a:srgbClr val="1F2933"/>
                          </a:solidFill>
                          <a:latin typeface="Calibri"/>
                        </a:rPr>
                        <a:t>The consent screen wizard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now the pages Branding, Audience, Data Access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38328">
                <a:tc>
                  <a:txBody>
                    <a:bodyPr wrap="square"/>
                    <a:lstStyle/>
                    <a:p>
                      <a:r>
                        <a:rPr sz="1000" b="1" i="0">
                          <a:solidFill>
                            <a:srgbClr val="1F2933"/>
                          </a:solidFill>
                          <a:latin typeface="Calibri"/>
                        </a:rPr>
                        <a:t>Up to 10 million cells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Google's help says 20 million cells or 100 MB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38328">
                <a:tc>
                  <a:txBody>
                    <a:bodyPr wrap="square"/>
                    <a:lstStyle/>
                    <a:p>
                      <a:r>
                        <a:rPr sz="1000" b="1" i="0">
                          <a:solidFill>
                            <a:srgbClr val="1F2933"/>
                          </a:solidFill>
                          <a:latin typeface="Calibri"/>
                        </a:rPr>
                        <a:t>Step 2 adds one 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it sends six requests, and two writers can collide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46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38328">
                <a:tc>
                  <a:txBody>
                    <a:bodyPr wrap="square"/>
                    <a:lstStyle/>
                    <a:p>
                      <a:r>
                        <a:rPr sz="1000" b="1" i="0">
                          <a:solidFill>
                            <a:srgbClr val="1F2933"/>
                          </a:solidFill>
                          <a:latin typeface="Calibri"/>
                        </a:rPr>
                        <a:t>The book opens sheets by short links (autbor.com)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some requests were answered 403; open by 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what the book printed; then check what changed.</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50 / 53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Summary</a:t>
            </a:r>
          </a:p>
        </p:txBody>
      </p:sp>
      <p:sp>
        <p:nvSpPr>
          <p:cNvPr id="4" name="card"/>
          <p:cNvSpPr/>
          <p:nvPr/>
        </p:nvSpPr>
        <p:spPr>
          <a:xfrm>
            <a:off x="365760" y="749808"/>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summary is a packing list: only what you really need goes into the bag.</a:t>
            </a:r>
          </a:p>
        </p:txBody>
      </p:sp>
      <p:sp>
        <p:nvSpPr>
          <p:cNvPr id="6" name="Rounded Rectangle 5"/>
          <p:cNvSpPr/>
          <p:nvPr/>
        </p:nvSpPr>
        <p:spPr>
          <a:xfrm>
            <a:off x="365760" y="14081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7" name="point"/>
          <p:cNvSpPr txBox="1"/>
          <p:nvPr/>
        </p:nvSpPr>
        <p:spPr>
          <a:xfrm>
            <a:off x="822960" y="1371600"/>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program must be let in: a cloud project, a credentials file, token files.</a:t>
            </a:r>
          </a:p>
        </p:txBody>
      </p:sp>
      <p:sp>
        <p:nvSpPr>
          <p:cNvPr id="8" name="Rounded Rectangle 7"/>
          <p:cNvSpPr/>
          <p:nvPr/>
        </p:nvSpPr>
        <p:spPr>
          <a:xfrm>
            <a:off x="365760" y="19751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9" name="point"/>
          <p:cNvSpPr txBox="1"/>
          <p:nvPr/>
        </p:nvSpPr>
        <p:spPr>
          <a:xfrm>
            <a:off x="822960" y="1938528"/>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token file is a pickle: never load one you did not make.</a:t>
            </a:r>
          </a:p>
        </p:txBody>
      </p:sp>
      <p:sp>
        <p:nvSpPr>
          <p:cNvPr id="10" name="Rounded Rectangle 9"/>
          <p:cNvSpPr/>
          <p:nvPr/>
        </p:nvSpPr>
        <p:spPr>
          <a:xfrm>
            <a:off x="365760" y="254203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1" name="point"/>
          <p:cNvSpPr txBox="1"/>
          <p:nvPr/>
        </p:nvSpPr>
        <p:spPr>
          <a:xfrm>
            <a:off x="822960" y="2505456"/>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Spreadsheet is a binder, Sheet a page; each call is a request.</a:t>
            </a:r>
          </a:p>
        </p:txBody>
      </p:sp>
      <p:sp>
        <p:nvSpPr>
          <p:cNvPr id="12" name="Rounded Rectangle 11"/>
          <p:cNvSpPr/>
          <p:nvPr/>
        </p:nvSpPr>
        <p:spPr>
          <a:xfrm>
            <a:off x="365760" y="310896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3" name="point"/>
          <p:cNvSpPr txBox="1"/>
          <p:nvPr/>
        </p:nvSpPr>
        <p:spPr>
          <a:xfrm>
            <a:off x="822960" y="3072384"/>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Batch your writes: Google limits requests, not values.</a:t>
            </a:r>
          </a:p>
        </p:txBody>
      </p:sp>
      <p:sp>
        <p:nvSpPr>
          <p:cNvPr id="14" name="Rounded Rectangle 13"/>
          <p:cNvSpPr/>
          <p:nvPr/>
        </p:nvSpPr>
        <p:spPr>
          <a:xfrm>
            <a:off x="365760" y="3675887"/>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15" name="point"/>
          <p:cNvSpPr txBox="1"/>
          <p:nvPr/>
        </p:nvSpPr>
        <p:spPr>
          <a:xfrm>
            <a:off x="822960" y="3639312"/>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ledger of rows is easy to audit and just as easy to forge.</a:t>
            </a:r>
          </a:p>
        </p:txBody>
      </p:sp>
      <p:sp>
        <p:nvSpPr>
          <p:cNvPr id="16" name="chart label"/>
          <p:cNvSpPr txBox="1"/>
          <p:nvPr/>
        </p:nvSpPr>
        <p:spPr>
          <a:xfrm>
            <a:off x="5212080" y="1280160"/>
            <a:ext cx="3566160" cy="457200"/>
          </a:xfrm>
          <a:prstGeom prst="rect">
            <a:avLst/>
          </a:prstGeom>
          <a:noFill/>
        </p:spPr>
        <p:txBody>
          <a:bodyPr wrap="square" lIns="45720" rIns="45720" tIns="27432" bIns="27432" anchor="t">
            <a:spAutoFit/>
          </a:bodyPr>
          <a:lstStyle/>
          <a:p>
            <a:r>
              <a:rPr sz="1050" b="1" i="0">
                <a:solidFill>
                  <a:srgbClr val="0E7C86"/>
                </a:solidFill>
                <a:latin typeface="Calibri"/>
              </a:rPr>
              <a:t>code examples in each part of this deck</a:t>
            </a:r>
          </a:p>
        </p:txBody>
      </p:sp>
      <p:graphicFrame>
        <p:nvGraphicFramePr>
          <p:cNvPr id="17" name="chart"/>
          <p:cNvGraphicFramePr>
            <a:graphicFrameLocks noGrp="1"/>
          </p:cNvGraphicFramePr>
          <p:nvPr/>
        </p:nvGraphicFramePr>
        <p:xfrm>
          <a:off x="5120640" y="1783080"/>
          <a:ext cx="3657600" cy="2743200"/>
        </p:xfrm>
        <a:graphic>
          <a:graphicData uri="http://schemas.openxmlformats.org/drawingml/2006/chart">
            <c:chart xmlns:c="http://schemas.openxmlformats.org/drawingml/2006/chart" r:id="rId3"/>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binder in the cloud: every look inside is a request.</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51 / 53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Questions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Predict first, then run what you can on the chapter page</a:t>
            </a:r>
          </a:p>
        </p:txBody>
      </p:sp>
      <p:sp>
        <p:nvSpPr>
          <p:cNvPr id="5" name="card"/>
          <p:cNvSpPr/>
          <p:nvPr/>
        </p:nvSpPr>
        <p:spPr>
          <a:xfrm>
            <a:off x="365760" y="96012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96926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Practice questions are finger scales for a pianist; the practice programs are the small recital pieces.</a:t>
            </a:r>
          </a:p>
        </p:txBody>
      </p:sp>
      <p:sp>
        <p:nvSpPr>
          <p:cNvPr id="7" name="card"/>
          <p:cNvSpPr/>
          <p:nvPr/>
        </p:nvSpPr>
        <p:spPr>
          <a:xfrm>
            <a:off x="365760" y="160020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72821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9" name="question"/>
          <p:cNvSpPr txBox="1"/>
          <p:nvPr/>
        </p:nvSpPr>
        <p:spPr>
          <a:xfrm>
            <a:off x="1005840" y="163677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Which column letters name column 703, and which number has the name ZZ? Use the code of the addresses slide.</a:t>
            </a:r>
          </a:p>
        </p:txBody>
      </p:sp>
      <p:sp>
        <p:nvSpPr>
          <p:cNvPr id="10" name="card"/>
          <p:cNvSpPr/>
          <p:nvPr/>
        </p:nvSpPr>
        <p:spPr>
          <a:xfrm>
            <a:off x="365760" y="233172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45973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12" name="question"/>
          <p:cNvSpPr txBox="1"/>
          <p:nvPr/>
        </p:nvSpPr>
        <p:spPr>
          <a:xfrm>
            <a:off x="1005840" y="236829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A program writes 100 cells one at a time. How many requests are sent, and how many with updateColumn?</a:t>
            </a:r>
          </a:p>
        </p:txBody>
      </p:sp>
      <p:sp>
        <p:nvSpPr>
          <p:cNvPr id="13" name="card"/>
          <p:cNvSpPr/>
          <p:nvPr/>
        </p:nvSpPr>
        <p:spPr>
          <a:xfrm>
            <a:off x="365760" y="306324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31912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5" name="question"/>
          <p:cNvSpPr txBox="1"/>
          <p:nvPr/>
        </p:nvSpPr>
        <p:spPr>
          <a:xfrm>
            <a:off x="1005840" y="309981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Two programs open the same ledger and each adds a row. What do you see in the sheet, and why?</a:t>
            </a:r>
          </a:p>
        </p:txBody>
      </p:sp>
      <p:sp>
        <p:nvSpPr>
          <p:cNvPr id="16" name="card"/>
          <p:cNvSpPr/>
          <p:nvPr/>
        </p:nvSpPr>
        <p:spPr>
          <a:xfrm>
            <a:off x="365760" y="379476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9227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8" name="question"/>
          <p:cNvSpPr txBox="1"/>
          <p:nvPr/>
        </p:nvSpPr>
        <p:spPr>
          <a:xfrm>
            <a:off x="1005840" y="383133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Practice program: write a Bean Count check that also prints the correct total next to each wrong one.</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Each answer fits in a few lines you can run.</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52 / 53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Resources: where to go next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Reading and watching, chosen for this chapter; every link is live</a:t>
            </a:r>
          </a:p>
        </p:txBody>
      </p:sp>
      <p:sp>
        <p:nvSpPr>
          <p:cNvPr id="5" name="card"/>
          <p:cNvSpPr/>
          <p:nvPr/>
        </p:nvSpPr>
        <p:spPr>
          <a:xfrm>
            <a:off x="36576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
          <p:cNvSpPr txBox="1"/>
          <p:nvPr/>
        </p:nvSpPr>
        <p:spPr>
          <a:xfrm>
            <a:off x="43891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Book: Automate the Boring Stuff, 3rd edition, chapter 15</a:t>
            </a:r>
          </a:p>
          <a:p>
            <a:r>
              <a:rPr sz="900" b="0" i="0">
                <a:solidFill>
                  <a:srgbClr val="0E7C86"/>
                </a:solidFill>
                <a:latin typeface="Calibri"/>
                <a:hlinkClick r:id="rId3"/>
              </a:rPr>
              <a:t>https://automatetheboringstuff.com/3e/chapter15.html</a:t>
            </a:r>
          </a:p>
        </p:txBody>
      </p:sp>
      <p:sp>
        <p:nvSpPr>
          <p:cNvPr id="7" name="card"/>
          <p:cNvSpPr/>
          <p:nvPr/>
        </p:nvSpPr>
        <p:spPr>
          <a:xfrm>
            <a:off x="36576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ource"/>
          <p:cNvSpPr txBox="1"/>
          <p:nvPr/>
        </p:nvSpPr>
        <p:spPr>
          <a:xfrm>
            <a:off x="43891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EZSheets documentation (Read the Docs)</a:t>
            </a:r>
          </a:p>
          <a:p>
            <a:r>
              <a:rPr sz="900" b="0" i="0">
                <a:solidFill>
                  <a:srgbClr val="0E7C86"/>
                </a:solidFill>
                <a:latin typeface="Calibri"/>
                <a:hlinkClick r:id="rId4"/>
              </a:rPr>
              <a:t>https://ezsheets.readthedocs.io/en/latest/</a:t>
            </a:r>
          </a:p>
        </p:txBody>
      </p:sp>
      <p:sp>
        <p:nvSpPr>
          <p:cNvPr id="9" name="card"/>
          <p:cNvSpPr/>
          <p:nvPr/>
        </p:nvSpPr>
        <p:spPr>
          <a:xfrm>
            <a:off x="36576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ource"/>
          <p:cNvSpPr txBox="1"/>
          <p:nvPr/>
        </p:nvSpPr>
        <p:spPr>
          <a:xfrm>
            <a:off x="43891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EZSheets on the Python Package Index</a:t>
            </a:r>
          </a:p>
          <a:p>
            <a:r>
              <a:rPr sz="900" b="0" i="0">
                <a:solidFill>
                  <a:srgbClr val="0E7C86"/>
                </a:solidFill>
                <a:latin typeface="Calibri"/>
                <a:hlinkClick r:id="rId5"/>
              </a:rPr>
              <a:t>https://pypi.org/project/ezsheets/</a:t>
            </a:r>
          </a:p>
        </p:txBody>
      </p:sp>
      <p:sp>
        <p:nvSpPr>
          <p:cNvPr id="11" name="card"/>
          <p:cNvSpPr/>
          <p:nvPr/>
        </p:nvSpPr>
        <p:spPr>
          <a:xfrm>
            <a:off x="36576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ource"/>
          <p:cNvSpPr txBox="1"/>
          <p:nvPr/>
        </p:nvSpPr>
        <p:spPr>
          <a:xfrm>
            <a:off x="43891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Google Sheets API: usage limits</a:t>
            </a:r>
          </a:p>
          <a:p>
            <a:r>
              <a:rPr sz="900" b="0" i="0">
                <a:solidFill>
                  <a:srgbClr val="0E7C86"/>
                </a:solidFill>
                <a:latin typeface="Calibri"/>
                <a:hlinkClick r:id="rId6"/>
              </a:rPr>
              <a:t>https://developers.google.com/workspace/sheets/api/limits</a:t>
            </a:r>
          </a:p>
        </p:txBody>
      </p:sp>
      <p:sp>
        <p:nvSpPr>
          <p:cNvPr id="13" name="card"/>
          <p:cNvSpPr/>
          <p:nvPr/>
        </p:nvSpPr>
        <p:spPr>
          <a:xfrm>
            <a:off x="36576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ource"/>
          <p:cNvSpPr txBox="1"/>
          <p:nvPr/>
        </p:nvSpPr>
        <p:spPr>
          <a:xfrm>
            <a:off x="43891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Google Sheets API: reading and writing values</a:t>
            </a:r>
          </a:p>
          <a:p>
            <a:r>
              <a:rPr sz="900" b="0" i="0">
                <a:solidFill>
                  <a:srgbClr val="0E7C86"/>
                </a:solidFill>
                <a:latin typeface="Calibri"/>
                <a:hlinkClick r:id="rId7"/>
              </a:rPr>
              <a:t>developers.google.com</a:t>
            </a:r>
          </a:p>
        </p:txBody>
      </p:sp>
      <p:sp>
        <p:nvSpPr>
          <p:cNvPr id="15" name="card"/>
          <p:cNvSpPr/>
          <p:nvPr/>
        </p:nvSpPr>
        <p:spPr>
          <a:xfrm>
            <a:off x="36576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ource"/>
          <p:cNvSpPr txBox="1"/>
          <p:nvPr/>
        </p:nvSpPr>
        <p:spPr>
          <a:xfrm>
            <a:off x="43891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Google Sheets API: choose scopes</a:t>
            </a:r>
          </a:p>
          <a:p>
            <a:r>
              <a:rPr sz="900" b="0" i="0">
                <a:solidFill>
                  <a:srgbClr val="0E7C86"/>
                </a:solidFill>
                <a:latin typeface="Calibri"/>
                <a:hlinkClick r:id="rId8"/>
              </a:rPr>
              <a:t>https://developers.google.com/workspace/sheets/api/scopes</a:t>
            </a:r>
          </a:p>
        </p:txBody>
      </p:sp>
      <p:sp>
        <p:nvSpPr>
          <p:cNvPr id="17" name="card"/>
          <p:cNvSpPr/>
          <p:nvPr/>
        </p:nvSpPr>
        <p:spPr>
          <a:xfrm>
            <a:off x="36576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ource"/>
          <p:cNvSpPr txBox="1"/>
          <p:nvPr/>
        </p:nvSpPr>
        <p:spPr>
          <a:xfrm>
            <a:off x="43891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Google Sheets API: migrate from v3</a:t>
            </a:r>
          </a:p>
          <a:p>
            <a:r>
              <a:rPr sz="900" b="0" i="0">
                <a:solidFill>
                  <a:srgbClr val="0E7C86"/>
                </a:solidFill>
                <a:latin typeface="Calibri"/>
                <a:hlinkClick r:id="rId9"/>
              </a:rPr>
              <a:t>developers.google.com</a:t>
            </a:r>
          </a:p>
        </p:txBody>
      </p:sp>
      <p:sp>
        <p:nvSpPr>
          <p:cNvPr id="19" name="card"/>
          <p:cNvSpPr/>
          <p:nvPr/>
        </p:nvSpPr>
        <p:spPr>
          <a:xfrm>
            <a:off x="466344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ource"/>
          <p:cNvSpPr txBox="1"/>
          <p:nvPr/>
        </p:nvSpPr>
        <p:spPr>
          <a:xfrm>
            <a:off x="473659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Google Identity: OAuth 2.0 for desktop apps</a:t>
            </a:r>
          </a:p>
          <a:p>
            <a:r>
              <a:rPr sz="900" b="0" i="0">
                <a:solidFill>
                  <a:srgbClr val="0E7C86"/>
                </a:solidFill>
                <a:latin typeface="Calibri"/>
                <a:hlinkClick r:id="rId10"/>
              </a:rPr>
              <a:t>developers.google.com</a:t>
            </a:r>
          </a:p>
        </p:txBody>
      </p:sp>
      <p:sp>
        <p:nvSpPr>
          <p:cNvPr id="21" name="card"/>
          <p:cNvSpPr/>
          <p:nvPr/>
        </p:nvSpPr>
        <p:spPr>
          <a:xfrm>
            <a:off x="466344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source"/>
          <p:cNvSpPr txBox="1"/>
          <p:nvPr/>
        </p:nvSpPr>
        <p:spPr>
          <a:xfrm>
            <a:off x="473659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RFC 7636: Proof Key for Code Exchange</a:t>
            </a:r>
          </a:p>
          <a:p>
            <a:r>
              <a:rPr sz="900" b="0" i="0">
                <a:solidFill>
                  <a:srgbClr val="0E7C86"/>
                </a:solidFill>
                <a:latin typeface="Calibri"/>
                <a:hlinkClick r:id="rId11"/>
              </a:rPr>
              <a:t>https://www.rfc-editor.org/rfc/rfc7636.txt</a:t>
            </a:r>
          </a:p>
        </p:txBody>
      </p:sp>
      <p:sp>
        <p:nvSpPr>
          <p:cNvPr id="23" name="card"/>
          <p:cNvSpPr/>
          <p:nvPr/>
        </p:nvSpPr>
        <p:spPr>
          <a:xfrm>
            <a:off x="466344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ource"/>
          <p:cNvSpPr txBox="1"/>
          <p:nvPr/>
        </p:nvSpPr>
        <p:spPr>
          <a:xfrm>
            <a:off x="473659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pickle</a:t>
            </a:r>
          </a:p>
          <a:p>
            <a:r>
              <a:rPr sz="900" b="0" i="0">
                <a:solidFill>
                  <a:srgbClr val="0E7C86"/>
                </a:solidFill>
                <a:latin typeface="Calibri"/>
                <a:hlinkClick r:id="rId12"/>
              </a:rPr>
              <a:t>https://docs.python.org/3/library/pickle.html</a:t>
            </a:r>
          </a:p>
        </p:txBody>
      </p:sp>
      <p:sp>
        <p:nvSpPr>
          <p:cNvPr id="25" name="card"/>
          <p:cNvSpPr/>
          <p:nvPr/>
        </p:nvSpPr>
        <p:spPr>
          <a:xfrm>
            <a:off x="466344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ource"/>
          <p:cNvSpPr txBox="1"/>
          <p:nvPr/>
        </p:nvSpPr>
        <p:spPr>
          <a:xfrm>
            <a:off x="473659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OWASP: Deserialization Cheat Sheet</a:t>
            </a:r>
          </a:p>
          <a:p>
            <a:r>
              <a:rPr sz="900" b="0" i="0">
                <a:solidFill>
                  <a:srgbClr val="0E7C86"/>
                </a:solidFill>
                <a:latin typeface="Calibri"/>
                <a:hlinkClick r:id="rId13"/>
              </a:rPr>
              <a:t>cheatsheetseries.owasp.org</a:t>
            </a:r>
          </a:p>
        </p:txBody>
      </p:sp>
      <p:sp>
        <p:nvSpPr>
          <p:cNvPr id="27" name="card"/>
          <p:cNvSpPr/>
          <p:nvPr/>
        </p:nvSpPr>
        <p:spPr>
          <a:xfrm>
            <a:off x="466344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source"/>
          <p:cNvSpPr txBox="1"/>
          <p:nvPr/>
        </p:nvSpPr>
        <p:spPr>
          <a:xfrm>
            <a:off x="473659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gspread documentation: the other library</a:t>
            </a:r>
          </a:p>
          <a:p>
            <a:r>
              <a:rPr sz="900" b="0" i="0">
                <a:solidFill>
                  <a:srgbClr val="0E7C86"/>
                </a:solidFill>
                <a:latin typeface="Calibri"/>
                <a:hlinkClick r:id="rId14"/>
              </a:rPr>
              <a:t>https://docs.gspread.org/en/latest/</a:t>
            </a:r>
          </a:p>
        </p:txBody>
      </p:sp>
      <p:sp>
        <p:nvSpPr>
          <p:cNvPr id="29" name="card"/>
          <p:cNvSpPr/>
          <p:nvPr/>
        </p:nvSpPr>
        <p:spPr>
          <a:xfrm>
            <a:off x="466344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ource"/>
          <p:cNvSpPr txBox="1"/>
          <p:nvPr/>
        </p:nvSpPr>
        <p:spPr>
          <a:xfrm>
            <a:off x="473659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Introduction to OAuth (oauth.net)</a:t>
            </a:r>
          </a:p>
          <a:p>
            <a:r>
              <a:rPr sz="900" b="0" i="0">
                <a:solidFill>
                  <a:srgbClr val="0E7C86"/>
                </a:solidFill>
                <a:latin typeface="Calibri"/>
                <a:hlinkClick r:id="rId15"/>
              </a:rPr>
              <a:t>https://oauth.net/about/introduction/</a:t>
            </a:r>
          </a:p>
        </p:txBody>
      </p:sp>
      <p:sp>
        <p:nvSpPr>
          <p:cNvPr id="31" name="card"/>
          <p:cNvSpPr/>
          <p:nvPr/>
        </p:nvSpPr>
        <p:spPr>
          <a:xfrm>
            <a:off x="466344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source"/>
          <p:cNvSpPr txBox="1"/>
          <p:nvPr/>
        </p:nvSpPr>
        <p:spPr>
          <a:xfrm>
            <a:off x="473659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Bitcoin: A Peer-to-Peer Electronic Cash System</a:t>
            </a:r>
          </a:p>
          <a:p>
            <a:r>
              <a:rPr sz="900" b="0" i="0">
                <a:solidFill>
                  <a:srgbClr val="0E7C86"/>
                </a:solidFill>
                <a:latin typeface="Calibri"/>
                <a:hlinkClick r:id="rId16"/>
              </a:rPr>
              <a:t>https://bitcoin.org/bitcoin.pdf</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Pick one link and read it before the next class.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53 / 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15: Google Sheets (lecture deck 2.0.0)</dc:title>
  <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